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2.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3.xml" ContentType="application/vnd.openxmlformats-officedocument.theme+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80" r:id="rId4"/>
    <p:sldMasterId id="2147483779" r:id="rId5"/>
    <p:sldMasterId id="2147483799" r:id="rId6"/>
    <p:sldMasterId id="2147483819" r:id="rId7"/>
  </p:sldMasterIdLst>
  <p:notesMasterIdLst>
    <p:notesMasterId r:id="rId66"/>
  </p:notesMasterIdLst>
  <p:sldIdLst>
    <p:sldId id="329" r:id="rId8"/>
    <p:sldId id="300" r:id="rId9"/>
    <p:sldId id="363" r:id="rId10"/>
    <p:sldId id="365" r:id="rId11"/>
    <p:sldId id="366" r:id="rId12"/>
    <p:sldId id="360" r:id="rId13"/>
    <p:sldId id="378" r:id="rId14"/>
    <p:sldId id="334" r:id="rId15"/>
    <p:sldId id="425" r:id="rId16"/>
    <p:sldId id="333" r:id="rId17"/>
    <p:sldId id="367" r:id="rId18"/>
    <p:sldId id="352" r:id="rId19"/>
    <p:sldId id="359" r:id="rId20"/>
    <p:sldId id="368" r:id="rId21"/>
    <p:sldId id="383" r:id="rId22"/>
    <p:sldId id="385" r:id="rId23"/>
    <p:sldId id="387" r:id="rId24"/>
    <p:sldId id="386" r:id="rId25"/>
    <p:sldId id="388" r:id="rId26"/>
    <p:sldId id="389" r:id="rId27"/>
    <p:sldId id="390" r:id="rId28"/>
    <p:sldId id="391" r:id="rId29"/>
    <p:sldId id="392" r:id="rId30"/>
    <p:sldId id="393" r:id="rId31"/>
    <p:sldId id="396" r:id="rId32"/>
    <p:sldId id="397" r:id="rId33"/>
    <p:sldId id="427" r:id="rId34"/>
    <p:sldId id="428" r:id="rId35"/>
    <p:sldId id="394" r:id="rId36"/>
    <p:sldId id="398" r:id="rId37"/>
    <p:sldId id="399" r:id="rId38"/>
    <p:sldId id="404" r:id="rId39"/>
    <p:sldId id="400" r:id="rId40"/>
    <p:sldId id="401" r:id="rId41"/>
    <p:sldId id="402" r:id="rId42"/>
    <p:sldId id="426" r:id="rId43"/>
    <p:sldId id="403" r:id="rId44"/>
    <p:sldId id="405" r:id="rId45"/>
    <p:sldId id="406" r:id="rId46"/>
    <p:sldId id="407" r:id="rId47"/>
    <p:sldId id="408" r:id="rId48"/>
    <p:sldId id="409" r:id="rId49"/>
    <p:sldId id="410" r:id="rId50"/>
    <p:sldId id="411" r:id="rId51"/>
    <p:sldId id="412" r:id="rId52"/>
    <p:sldId id="413" r:id="rId53"/>
    <p:sldId id="414" r:id="rId54"/>
    <p:sldId id="415" r:id="rId55"/>
    <p:sldId id="416" r:id="rId56"/>
    <p:sldId id="417" r:id="rId57"/>
    <p:sldId id="418" r:id="rId58"/>
    <p:sldId id="419" r:id="rId59"/>
    <p:sldId id="373" r:id="rId60"/>
    <p:sldId id="356" r:id="rId61"/>
    <p:sldId id="422" r:id="rId62"/>
    <p:sldId id="423" r:id="rId63"/>
    <p:sldId id="357" r:id="rId64"/>
    <p:sldId id="294" r:id="rId65"/>
  </p:sldIdLst>
  <p:sldSz cx="12190413"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 id="{4C325DA1-0459-4F8C-ADD2-2F71BA12DE8E}">
          <p14:sldIdLst>
            <p14:sldId id="329"/>
            <p14:sldId id="300"/>
            <p14:sldId id="363"/>
            <p14:sldId id="365"/>
            <p14:sldId id="366"/>
            <p14:sldId id="360"/>
            <p14:sldId id="378"/>
            <p14:sldId id="334"/>
            <p14:sldId id="425"/>
            <p14:sldId id="333"/>
            <p14:sldId id="367"/>
            <p14:sldId id="352"/>
            <p14:sldId id="359"/>
            <p14:sldId id="368"/>
            <p14:sldId id="383"/>
            <p14:sldId id="385"/>
            <p14:sldId id="387"/>
            <p14:sldId id="386"/>
            <p14:sldId id="388"/>
            <p14:sldId id="389"/>
            <p14:sldId id="390"/>
            <p14:sldId id="391"/>
            <p14:sldId id="392"/>
            <p14:sldId id="393"/>
            <p14:sldId id="396"/>
            <p14:sldId id="397"/>
            <p14:sldId id="427"/>
            <p14:sldId id="428"/>
            <p14:sldId id="394"/>
            <p14:sldId id="398"/>
            <p14:sldId id="399"/>
            <p14:sldId id="404"/>
            <p14:sldId id="400"/>
            <p14:sldId id="401"/>
            <p14:sldId id="402"/>
            <p14:sldId id="426"/>
            <p14:sldId id="403"/>
            <p14:sldId id="405"/>
            <p14:sldId id="406"/>
            <p14:sldId id="407"/>
            <p14:sldId id="408"/>
            <p14:sldId id="409"/>
            <p14:sldId id="410"/>
            <p14:sldId id="411"/>
            <p14:sldId id="412"/>
            <p14:sldId id="413"/>
            <p14:sldId id="414"/>
            <p14:sldId id="415"/>
            <p14:sldId id="416"/>
            <p14:sldId id="417"/>
            <p14:sldId id="418"/>
            <p14:sldId id="419"/>
            <p14:sldId id="373"/>
            <p14:sldId id="356"/>
            <p14:sldId id="422"/>
            <p14:sldId id="423"/>
            <p14:sldId id="357"/>
            <p14:sldId id="294"/>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28DC81B-4C28-527E-885E-9B2AED89ECFE}" name="Melissa Elias" initials="ME" userId="S::Melissa.Elias@greatminds.org::e7d7a35f-474b-4e63-8079-946b19bb5503" providerId="AD"/>
  <p188:author id="{C99B7E20-C849-7B22-A7A7-103B5A04F691}" name="Seidman, Peter" initials="PS" userId="S::pseidman@pcgus.com::ff44f5d8-e3d0-428b-b9dd-4e94c9627a04" providerId="AD"/>
  <p188:author id="{86DFD92F-4DE3-A83D-6DF7-63FE6F0E1BD1}" name="Hanna, Whitney" initials="HW" userId="S::whanna@pcgus.com::3c096e95-afb8-40fa-be4f-086ecf1c96e8" providerId="AD"/>
  <p188:author id="{D9382532-E0D8-1FFA-47B6-DA50BC81D150}" name="Johnson, Todd" initials="TJ" userId="S::tjohnson@carnegielearning.com::1d57ac6d-5688-4915-9324-719f9ae41858" providerId="AD"/>
  <p188:author id="{065EFF33-37C5-A205-D5AA-889922E9D811}" name="Amanda Roose" initials="" userId="S::amanda.roose@greatminds.org::7db39d93-b694-49c7-b4bd-248f45df22ce" providerId="AD"/>
  <p188:author id="{988EB554-08BA-14AA-D6CF-C08243099DC1}" name="Gomez1, Lauren" initials="GL" userId="S::lauren.gomez1@tea.texas.gov::a90766d5-07f7-4ca5-8968-79b6619a6150" providerId="AD"/>
  <p188:author id="{002C6C79-BE9A-0D70-2E77-61ECDD33941B}" name="Hammock, Jenny" initials="JH" userId="S::jhammock@pcgus.com::15029899-d5e2-409a-961b-cfbdbd993f94" providerId="AD"/>
  <p188:author id="{C7BE2D7E-998E-A4E0-AD02-4BBA80009BAC}" name="Christina Ducoing" initials="CD" userId="S::Christina.Ducoing@greatminds.org::81b6c2ec-3d44-4fb5-ae4f-fe9b81a5cc7a" providerId="AD"/>
  <p188:author id="{94FF968A-DC53-8678-529B-6C704B5A2CA3}" name="Hanna, Whitney" initials="WH" userId="S::WHanna@pcgus.com::3c096e95-afb8-40fa-be4f-086ecf1c96e8" providerId="AD"/>
  <p188:author id="{11B319B1-D9A7-B492-301D-12240F429F30}" name="Hanna, Whitney" initials="HW" userId="S::whanna_pcgus.com#ext#@texasedu.onmicrosoft.com::7f18c26a-2264-4c3d-9f52-29dc121134d3" providerId="AD"/>
  <p188:author id="{B79159B2-0C77-EFD3-021B-B4143BBE19B1}" name="Christina Ducoing" initials="CD" userId="S::christina.ducoing@greatminds.org::81b6c2ec-3d44-4fb5-ae4f-fe9b81a5cc7a" providerId="AD"/>
  <p188:author id="{66455CB8-CF59-3D20-181D-433FF248BDED}" name="Smart, Martha" initials="SM" userId="S::martha.smart@tea.texas.gov::f37755a5-ea91-4589-9c56-edd64412883a" providerId="AD"/>
  <p188:author id="{D3473FEC-4EDE-E801-D969-22C5DB952E2C}" name="Bala, Kelly" initials="BK" userId="S::kelly.bala@tea.texas.gov::ca818e28-acbd-4039-adec-acd623c9d087"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36739"/>
    <a:srgbClr val="000000"/>
    <a:srgbClr val="2B8147"/>
    <a:srgbClr val="0084AC"/>
    <a:srgbClr val="61449B"/>
    <a:srgbClr val="143965"/>
    <a:srgbClr val="008F4C"/>
    <a:srgbClr val="242E61"/>
    <a:srgbClr val="1449B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616E69F-A243-EC78-A7A7-6955DABBD750}" v="10" dt="2025-09-08T18:29:21.42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4863" autoAdjust="0"/>
    <p:restoredTop sz="79644" autoAdjust="0"/>
  </p:normalViewPr>
  <p:slideViewPr>
    <p:cSldViewPr snapToGrid="0">
      <p:cViewPr varScale="1">
        <p:scale>
          <a:sx n="125" d="100"/>
          <a:sy n="125" d="100"/>
        </p:scale>
        <p:origin x="1074" y="114"/>
      </p:cViewPr>
      <p:guideLst>
        <p:guide orient="horz" pos="2160"/>
        <p:guide pos="3840"/>
      </p:guideLst>
    </p:cSldViewPr>
  </p:slideViewPr>
  <p:outlineViewPr>
    <p:cViewPr>
      <p:scale>
        <a:sx n="33" d="100"/>
        <a:sy n="33" d="100"/>
      </p:scale>
      <p:origin x="0" y="-3006"/>
    </p:cViewPr>
  </p:outlineViewPr>
  <p:notesTextViewPr>
    <p:cViewPr>
      <p:scale>
        <a:sx n="100" d="100"/>
        <a:sy n="100" d="100"/>
      </p:scale>
      <p:origin x="0" y="0"/>
    </p:cViewPr>
  </p:notesTextViewPr>
  <p:notesViewPr>
    <p:cSldViewPr snapToGrid="0">
      <p:cViewPr>
        <p:scale>
          <a:sx n="1" d="2"/>
          <a:sy n="1" d="2"/>
        </p:scale>
        <p:origin x="0" y="0"/>
      </p:cViewPr>
      <p:guideLst/>
    </p:cSldViewPr>
  </p:notesViewPr>
  <p:gridSpacing cx="38100" cy="38100"/>
</p:viewPr>
</file>

<file path=ppt/_rels/presentation.xml.rels><?xml version="1.0" encoding="UTF-8" standalone="yes"?>
<Relationships xmlns="http://schemas.openxmlformats.org/package/2006/relationships"><Relationship Id="rId26" Type="http://schemas.openxmlformats.org/officeDocument/2006/relationships/slide" Target="slides/slide19.xml"/><Relationship Id="rId21" Type="http://schemas.openxmlformats.org/officeDocument/2006/relationships/slide" Target="slides/slide14.xml"/><Relationship Id="rId42" Type="http://schemas.openxmlformats.org/officeDocument/2006/relationships/slide" Target="slides/slide35.xml"/><Relationship Id="rId47" Type="http://schemas.openxmlformats.org/officeDocument/2006/relationships/slide" Target="slides/slide40.xml"/><Relationship Id="rId63" Type="http://schemas.openxmlformats.org/officeDocument/2006/relationships/slide" Target="slides/slide56.xml"/><Relationship Id="rId68"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9.xml"/><Relationship Id="rId29" Type="http://schemas.openxmlformats.org/officeDocument/2006/relationships/slide" Target="slides/slide22.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slide" Target="slides/slide33.xml"/><Relationship Id="rId45" Type="http://schemas.openxmlformats.org/officeDocument/2006/relationships/slide" Target="slides/slide38.xml"/><Relationship Id="rId53" Type="http://schemas.openxmlformats.org/officeDocument/2006/relationships/slide" Target="slides/slide46.xml"/><Relationship Id="rId58" Type="http://schemas.openxmlformats.org/officeDocument/2006/relationships/slide" Target="slides/slide51.xml"/><Relationship Id="rId66" Type="http://schemas.openxmlformats.org/officeDocument/2006/relationships/notesMaster" Target="notesMasters/notesMaster1.xml"/><Relationship Id="rId5" Type="http://schemas.openxmlformats.org/officeDocument/2006/relationships/slideMaster" Target="slideMasters/slideMaster2.xml"/><Relationship Id="rId61" Type="http://schemas.openxmlformats.org/officeDocument/2006/relationships/slide" Target="slides/slide54.xml"/><Relationship Id="rId19" Type="http://schemas.openxmlformats.org/officeDocument/2006/relationships/slide" Target="slides/slide1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slide" Target="slides/slide36.xml"/><Relationship Id="rId48" Type="http://schemas.openxmlformats.org/officeDocument/2006/relationships/slide" Target="slides/slide41.xml"/><Relationship Id="rId56" Type="http://schemas.openxmlformats.org/officeDocument/2006/relationships/slide" Target="slides/slide49.xml"/><Relationship Id="rId64" Type="http://schemas.openxmlformats.org/officeDocument/2006/relationships/slide" Target="slides/slide57.xml"/><Relationship Id="rId69" Type="http://schemas.openxmlformats.org/officeDocument/2006/relationships/theme" Target="theme/theme1.xml"/><Relationship Id="rId8" Type="http://schemas.openxmlformats.org/officeDocument/2006/relationships/slide" Target="slides/slide1.xml"/><Relationship Id="rId51" Type="http://schemas.openxmlformats.org/officeDocument/2006/relationships/slide" Target="slides/slide44.xml"/><Relationship Id="rId72" Type="http://schemas.microsoft.com/office/2015/10/relationships/revisionInfo" Target="revisionInfo.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slide" Target="slides/slide39.xml"/><Relationship Id="rId59" Type="http://schemas.openxmlformats.org/officeDocument/2006/relationships/slide" Target="slides/slide52.xml"/><Relationship Id="rId67" Type="http://schemas.openxmlformats.org/officeDocument/2006/relationships/presProps" Target="presProps.xml"/><Relationship Id="rId20" Type="http://schemas.openxmlformats.org/officeDocument/2006/relationships/slide" Target="slides/slide13.xml"/><Relationship Id="rId41" Type="http://schemas.openxmlformats.org/officeDocument/2006/relationships/slide" Target="slides/slide34.xml"/><Relationship Id="rId54" Type="http://schemas.openxmlformats.org/officeDocument/2006/relationships/slide" Target="slides/slide47.xml"/><Relationship Id="rId62" Type="http://schemas.openxmlformats.org/officeDocument/2006/relationships/slide" Target="slides/slide55.xml"/><Relationship Id="rId7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slide" Target="slides/slide42.xml"/><Relationship Id="rId57" Type="http://schemas.openxmlformats.org/officeDocument/2006/relationships/slide" Target="slides/slide50.xml"/><Relationship Id="rId10" Type="http://schemas.openxmlformats.org/officeDocument/2006/relationships/slide" Target="slides/slide3.xml"/><Relationship Id="rId31" Type="http://schemas.openxmlformats.org/officeDocument/2006/relationships/slide" Target="slides/slide24.xml"/><Relationship Id="rId44" Type="http://schemas.openxmlformats.org/officeDocument/2006/relationships/slide" Target="slides/slide37.xml"/><Relationship Id="rId52" Type="http://schemas.openxmlformats.org/officeDocument/2006/relationships/slide" Target="slides/slide45.xml"/><Relationship Id="rId60" Type="http://schemas.openxmlformats.org/officeDocument/2006/relationships/slide" Target="slides/slide53.xml"/><Relationship Id="rId65" Type="http://schemas.openxmlformats.org/officeDocument/2006/relationships/slide" Target="slides/slide58.xml"/><Relationship Id="rId73"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2.xml"/><Relationship Id="rId13" Type="http://schemas.openxmlformats.org/officeDocument/2006/relationships/slide" Target="slides/slide6.xml"/><Relationship Id="rId18" Type="http://schemas.openxmlformats.org/officeDocument/2006/relationships/slide" Target="slides/slide11.xml"/><Relationship Id="rId39" Type="http://schemas.openxmlformats.org/officeDocument/2006/relationships/slide" Target="slides/slide32.xml"/><Relationship Id="rId34" Type="http://schemas.openxmlformats.org/officeDocument/2006/relationships/slide" Target="slides/slide27.xml"/><Relationship Id="rId50" Type="http://schemas.openxmlformats.org/officeDocument/2006/relationships/slide" Target="slides/slide43.xml"/><Relationship Id="rId55" Type="http://schemas.openxmlformats.org/officeDocument/2006/relationships/slide" Target="slides/slide48.xml"/><Relationship Id="rId7" Type="http://schemas.openxmlformats.org/officeDocument/2006/relationships/slideMaster" Target="slideMasters/slideMaster4.xml"/><Relationship Id="rId71"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yer Montague, Kristina" userId="63c103e5-6141-480e-825f-260f173eba02" providerId="ADAL" clId="{990BD007-1F34-4A88-92C7-DB76D5B50485}"/>
    <pc:docChg chg="modSld">
      <pc:chgData name="Moyer Montague, Kristina" userId="63c103e5-6141-480e-825f-260f173eba02" providerId="ADAL" clId="{990BD007-1F34-4A88-92C7-DB76D5B50485}" dt="2025-07-29T22:08:45.978" v="66" actId="20577"/>
      <pc:docMkLst>
        <pc:docMk/>
      </pc:docMkLst>
      <pc:sldChg chg="modNotesTx">
        <pc:chgData name="Moyer Montague, Kristina" userId="63c103e5-6141-480e-825f-260f173eba02" providerId="ADAL" clId="{990BD007-1F34-4A88-92C7-DB76D5B50485}" dt="2025-07-29T21:50:08.373" v="1" actId="20577"/>
        <pc:sldMkLst>
          <pc:docMk/>
          <pc:sldMk cId="3398606512" sldId="300"/>
        </pc:sldMkLst>
      </pc:sldChg>
      <pc:sldChg chg="modNotesTx">
        <pc:chgData name="Moyer Montague, Kristina" userId="63c103e5-6141-480e-825f-260f173eba02" providerId="ADAL" clId="{990BD007-1F34-4A88-92C7-DB76D5B50485}" dt="2025-07-29T21:49:34.303" v="0" actId="20577"/>
        <pc:sldMkLst>
          <pc:docMk/>
          <pc:sldMk cId="2181925416" sldId="329"/>
        </pc:sldMkLst>
      </pc:sldChg>
      <pc:sldChg chg="modNotesTx">
        <pc:chgData name="Moyer Montague, Kristina" userId="63c103e5-6141-480e-825f-260f173eba02" providerId="ADAL" clId="{990BD007-1F34-4A88-92C7-DB76D5B50485}" dt="2025-07-29T21:51:30.193" v="2" actId="114"/>
        <pc:sldMkLst>
          <pc:docMk/>
          <pc:sldMk cId="1617016214" sldId="385"/>
        </pc:sldMkLst>
      </pc:sldChg>
      <pc:sldChg chg="modNotesTx">
        <pc:chgData name="Moyer Montague, Kristina" userId="63c103e5-6141-480e-825f-260f173eba02" providerId="ADAL" clId="{990BD007-1F34-4A88-92C7-DB76D5B50485}" dt="2025-07-29T21:51:33.972" v="3" actId="114"/>
        <pc:sldMkLst>
          <pc:docMk/>
          <pc:sldMk cId="461620243" sldId="387"/>
        </pc:sldMkLst>
      </pc:sldChg>
      <pc:sldChg chg="modSp mod">
        <pc:chgData name="Moyer Montague, Kristina" userId="63c103e5-6141-480e-825f-260f173eba02" providerId="ADAL" clId="{990BD007-1F34-4A88-92C7-DB76D5B50485}" dt="2025-07-29T21:53:49.561" v="15" actId="1037"/>
        <pc:sldMkLst>
          <pc:docMk/>
          <pc:sldMk cId="3407190411" sldId="389"/>
        </pc:sldMkLst>
      </pc:sldChg>
      <pc:sldChg chg="modSp modNotesTx">
        <pc:chgData name="Moyer Montague, Kristina" userId="63c103e5-6141-480e-825f-260f173eba02" providerId="ADAL" clId="{990BD007-1F34-4A88-92C7-DB76D5B50485}" dt="2025-07-29T21:57:11.419" v="18" actId="114"/>
        <pc:sldMkLst>
          <pc:docMk/>
          <pc:sldMk cId="3988566783" sldId="390"/>
        </pc:sldMkLst>
      </pc:sldChg>
      <pc:sldChg chg="modNotesTx">
        <pc:chgData name="Moyer Montague, Kristina" userId="63c103e5-6141-480e-825f-260f173eba02" providerId="ADAL" clId="{990BD007-1F34-4A88-92C7-DB76D5B50485}" dt="2025-07-29T21:57:15.603" v="19"/>
        <pc:sldMkLst>
          <pc:docMk/>
          <pc:sldMk cId="3419735411" sldId="391"/>
        </pc:sldMkLst>
      </pc:sldChg>
      <pc:sldChg chg="modSp modNotesTx">
        <pc:chgData name="Moyer Montague, Kristina" userId="63c103e5-6141-480e-825f-260f173eba02" providerId="ADAL" clId="{990BD007-1F34-4A88-92C7-DB76D5B50485}" dt="2025-07-29T21:58:05.310" v="23" actId="20577"/>
        <pc:sldMkLst>
          <pc:docMk/>
          <pc:sldMk cId="2054295092" sldId="392"/>
        </pc:sldMkLst>
      </pc:sldChg>
      <pc:sldChg chg="modSp mod modNotesTx">
        <pc:chgData name="Moyer Montague, Kristina" userId="63c103e5-6141-480e-825f-260f173eba02" providerId="ADAL" clId="{990BD007-1F34-4A88-92C7-DB76D5B50485}" dt="2025-07-29T21:58:27.492" v="31" actId="20577"/>
        <pc:sldMkLst>
          <pc:docMk/>
          <pc:sldMk cId="2303286866" sldId="393"/>
        </pc:sldMkLst>
      </pc:sldChg>
      <pc:sldChg chg="modNotesTx">
        <pc:chgData name="Moyer Montague, Kristina" userId="63c103e5-6141-480e-825f-260f173eba02" providerId="ADAL" clId="{990BD007-1F34-4A88-92C7-DB76D5B50485}" dt="2025-07-29T21:59:03.346" v="35" actId="20577"/>
        <pc:sldMkLst>
          <pc:docMk/>
          <pc:sldMk cId="1043974012" sldId="396"/>
        </pc:sldMkLst>
      </pc:sldChg>
      <pc:sldChg chg="modNotesTx">
        <pc:chgData name="Moyer Montague, Kristina" userId="63c103e5-6141-480e-825f-260f173eba02" providerId="ADAL" clId="{990BD007-1F34-4A88-92C7-DB76D5B50485}" dt="2025-07-29T22:01:56.353" v="38"/>
        <pc:sldMkLst>
          <pc:docMk/>
          <pc:sldMk cId="3759711435" sldId="400"/>
        </pc:sldMkLst>
      </pc:sldChg>
      <pc:sldChg chg="modNotesTx">
        <pc:chgData name="Moyer Montague, Kristina" userId="63c103e5-6141-480e-825f-260f173eba02" providerId="ADAL" clId="{990BD007-1F34-4A88-92C7-DB76D5B50485}" dt="2025-07-29T22:02:00.943" v="39"/>
        <pc:sldMkLst>
          <pc:docMk/>
          <pc:sldMk cId="653775348" sldId="401"/>
        </pc:sldMkLst>
      </pc:sldChg>
      <pc:sldChg chg="modNotesTx">
        <pc:chgData name="Moyer Montague, Kristina" userId="63c103e5-6141-480e-825f-260f173eba02" providerId="ADAL" clId="{990BD007-1F34-4A88-92C7-DB76D5B50485}" dt="2025-07-29T22:02:07.820" v="40"/>
        <pc:sldMkLst>
          <pc:docMk/>
          <pc:sldMk cId="239483934" sldId="402"/>
        </pc:sldMkLst>
      </pc:sldChg>
      <pc:sldChg chg="modSp mod">
        <pc:chgData name="Moyer Montague, Kristina" userId="63c103e5-6141-480e-825f-260f173eba02" providerId="ADAL" clId="{990BD007-1F34-4A88-92C7-DB76D5B50485}" dt="2025-07-29T22:04:03.405" v="50" actId="1076"/>
        <pc:sldMkLst>
          <pc:docMk/>
          <pc:sldMk cId="2753956985" sldId="403"/>
        </pc:sldMkLst>
      </pc:sldChg>
      <pc:sldChg chg="modNotesTx">
        <pc:chgData name="Moyer Montague, Kristina" userId="63c103e5-6141-480e-825f-260f173eba02" providerId="ADAL" clId="{990BD007-1F34-4A88-92C7-DB76D5B50485}" dt="2025-07-29T22:01:43.587" v="37" actId="114"/>
        <pc:sldMkLst>
          <pc:docMk/>
          <pc:sldMk cId="2727826793" sldId="404"/>
        </pc:sldMkLst>
      </pc:sldChg>
      <pc:sldChg chg="modSp mod">
        <pc:chgData name="Moyer Montague, Kristina" userId="63c103e5-6141-480e-825f-260f173eba02" providerId="ADAL" clId="{990BD007-1F34-4A88-92C7-DB76D5B50485}" dt="2025-07-29T22:05:06.816" v="52" actId="20577"/>
        <pc:sldMkLst>
          <pc:docMk/>
          <pc:sldMk cId="1665544468" sldId="405"/>
        </pc:sldMkLst>
      </pc:sldChg>
      <pc:sldChg chg="modNotesTx">
        <pc:chgData name="Moyer Montague, Kristina" userId="63c103e5-6141-480e-825f-260f173eba02" providerId="ADAL" clId="{990BD007-1F34-4A88-92C7-DB76D5B50485}" dt="2025-07-29T22:06:31.775" v="54" actId="114"/>
        <pc:sldMkLst>
          <pc:docMk/>
          <pc:sldMk cId="3622178335" sldId="409"/>
        </pc:sldMkLst>
      </pc:sldChg>
      <pc:sldChg chg="modNotesTx">
        <pc:chgData name="Moyer Montague, Kristina" userId="63c103e5-6141-480e-825f-260f173eba02" providerId="ADAL" clId="{990BD007-1F34-4A88-92C7-DB76D5B50485}" dt="2025-07-29T22:06:37.894" v="55"/>
        <pc:sldMkLst>
          <pc:docMk/>
          <pc:sldMk cId="671425901" sldId="410"/>
        </pc:sldMkLst>
      </pc:sldChg>
      <pc:sldChg chg="modNotesTx">
        <pc:chgData name="Moyer Montague, Kristina" userId="63c103e5-6141-480e-825f-260f173eba02" providerId="ADAL" clId="{990BD007-1F34-4A88-92C7-DB76D5B50485}" dt="2025-07-29T22:06:42.785" v="56"/>
        <pc:sldMkLst>
          <pc:docMk/>
          <pc:sldMk cId="919238700" sldId="411"/>
        </pc:sldMkLst>
      </pc:sldChg>
      <pc:sldChg chg="modNotesTx">
        <pc:chgData name="Moyer Montague, Kristina" userId="63c103e5-6141-480e-825f-260f173eba02" providerId="ADAL" clId="{990BD007-1F34-4A88-92C7-DB76D5B50485}" dt="2025-07-29T22:06:44.938" v="57"/>
        <pc:sldMkLst>
          <pc:docMk/>
          <pc:sldMk cId="2095787018" sldId="412"/>
        </pc:sldMkLst>
      </pc:sldChg>
      <pc:sldChg chg="modNotesTx">
        <pc:chgData name="Moyer Montague, Kristina" userId="63c103e5-6141-480e-825f-260f173eba02" providerId="ADAL" clId="{990BD007-1F34-4A88-92C7-DB76D5B50485}" dt="2025-07-29T22:06:53.083" v="59" actId="114"/>
        <pc:sldMkLst>
          <pc:docMk/>
          <pc:sldMk cId="837479521" sldId="413"/>
        </pc:sldMkLst>
      </pc:sldChg>
      <pc:sldChg chg="modNotesTx">
        <pc:chgData name="Moyer Montague, Kristina" userId="63c103e5-6141-480e-825f-260f173eba02" providerId="ADAL" clId="{990BD007-1F34-4A88-92C7-DB76D5B50485}" dt="2025-07-29T22:07:07.281" v="60" actId="114"/>
        <pc:sldMkLst>
          <pc:docMk/>
          <pc:sldMk cId="3273807513" sldId="414"/>
        </pc:sldMkLst>
      </pc:sldChg>
      <pc:sldChg chg="modNotesTx">
        <pc:chgData name="Moyer Montague, Kristina" userId="63c103e5-6141-480e-825f-260f173eba02" providerId="ADAL" clId="{990BD007-1F34-4A88-92C7-DB76D5B50485}" dt="2025-07-29T22:07:43.553" v="62" actId="114"/>
        <pc:sldMkLst>
          <pc:docMk/>
          <pc:sldMk cId="4036458852" sldId="418"/>
        </pc:sldMkLst>
      </pc:sldChg>
      <pc:sldChg chg="modSp modNotesTx">
        <pc:chgData name="Moyer Montague, Kristina" userId="63c103e5-6141-480e-825f-260f173eba02" providerId="ADAL" clId="{990BD007-1F34-4A88-92C7-DB76D5B50485}" dt="2025-07-29T22:08:22.269" v="64"/>
        <pc:sldMkLst>
          <pc:docMk/>
          <pc:sldMk cId="1902278926" sldId="419"/>
        </pc:sldMkLst>
      </pc:sldChg>
      <pc:sldChg chg="modSp">
        <pc:chgData name="Moyer Montague, Kristina" userId="63c103e5-6141-480e-825f-260f173eba02" providerId="ADAL" clId="{990BD007-1F34-4A88-92C7-DB76D5B50485}" dt="2025-07-29T22:08:45.978" v="66" actId="20577"/>
        <pc:sldMkLst>
          <pc:docMk/>
          <pc:sldMk cId="3186086813" sldId="423"/>
        </pc:sldMkLst>
      </pc:sldChg>
      <pc:sldChg chg="modNotesTx">
        <pc:chgData name="Moyer Montague, Kristina" userId="63c103e5-6141-480e-825f-260f173eba02" providerId="ADAL" clId="{990BD007-1F34-4A88-92C7-DB76D5B50485}" dt="2025-07-29T22:02:10.899" v="41"/>
        <pc:sldMkLst>
          <pc:docMk/>
          <pc:sldMk cId="3286640500" sldId="426"/>
        </pc:sldMkLst>
      </pc:sldChg>
    </pc:docChg>
  </pc:docChgLst>
  <pc:docChgLst>
    <pc:chgData name="Goodroe, Hunter" userId="S::matthew.goodroe@tea.texas.gov::2596e579-e8cb-48d7-bceb-d5f26f88144e" providerId="AD" clId="Web-{5616E69F-A243-EC78-A7A7-6955DABBD750}"/>
    <pc:docChg chg="modSld">
      <pc:chgData name="Goodroe, Hunter" userId="S::matthew.goodroe@tea.texas.gov::2596e579-e8cb-48d7-bceb-d5f26f88144e" providerId="AD" clId="Web-{5616E69F-A243-EC78-A7A7-6955DABBD750}" dt="2025-09-08T18:29:21.428" v="9" actId="1076"/>
      <pc:docMkLst>
        <pc:docMk/>
      </pc:docMkLst>
      <pc:sldChg chg="modSp">
        <pc:chgData name="Goodroe, Hunter" userId="S::matthew.goodroe@tea.texas.gov::2596e579-e8cb-48d7-bceb-d5f26f88144e" providerId="AD" clId="Web-{5616E69F-A243-EC78-A7A7-6955DABBD750}" dt="2025-09-08T18:29:21.428" v="9" actId="1076"/>
        <pc:sldMkLst>
          <pc:docMk/>
          <pc:sldMk cId="1636545958" sldId="415"/>
        </pc:sldMkLst>
        <pc:spChg chg="mod">
          <ac:chgData name="Goodroe, Hunter" userId="S::matthew.goodroe@tea.texas.gov::2596e579-e8cb-48d7-bceb-d5f26f88144e" providerId="AD" clId="Web-{5616E69F-A243-EC78-A7A7-6955DABBD750}" dt="2025-09-08T18:28:11.949" v="7" actId="1076"/>
          <ac:spMkLst>
            <pc:docMk/>
            <pc:sldMk cId="1636545958" sldId="415"/>
            <ac:spMk id="4" creationId="{9FB96E88-BB2E-CCCC-A8DB-844709AE19B8}"/>
          </ac:spMkLst>
        </pc:spChg>
        <pc:picChg chg="mod">
          <ac:chgData name="Goodroe, Hunter" userId="S::matthew.goodroe@tea.texas.gov::2596e579-e8cb-48d7-bceb-d5f26f88144e" providerId="AD" clId="Web-{5616E69F-A243-EC78-A7A7-6955DABBD750}" dt="2025-09-08T18:29:21.428" v="9" actId="1076"/>
          <ac:picMkLst>
            <pc:docMk/>
            <pc:sldMk cId="1636545958" sldId="415"/>
            <ac:picMk id="3" creationId="{ED191E3C-F915-873D-627B-FE0FCB70ED39}"/>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9/8/2025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23DE13-B41D-3707-0F63-98FF6B547A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E90164-D8B6-9B96-17F1-E4BEEAECC00F}"/>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801B017C-0EB2-59BB-93AF-C7FDDD863E9B}"/>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Total suggested pacing for this lesson is two 45-minute sessions.</a:t>
            </a:r>
          </a:p>
        </p:txBody>
      </p:sp>
      <p:sp>
        <p:nvSpPr>
          <p:cNvPr id="4" name="Slide Number Placeholder 3">
            <a:extLst>
              <a:ext uri="{FF2B5EF4-FFF2-40B4-BE49-F238E27FC236}">
                <a16:creationId xmlns:a16="http://schemas.microsoft.com/office/drawing/2014/main" id="{3B0F8F5D-2E1F-DFCE-F030-3FF9914FEF64}"/>
              </a:ext>
            </a:extLst>
          </p:cNvPr>
          <p:cNvSpPr>
            <a:spLocks noGrp="1"/>
          </p:cNvSpPr>
          <p:nvPr>
            <p:ph type="sldNum" sz="quarter" idx="5"/>
          </p:nvPr>
        </p:nvSpPr>
        <p:spPr/>
        <p:txBody>
          <a:bodyPr/>
          <a:lstStyle/>
          <a:p>
            <a:fld id="{BB5E49A5-4136-284D-997B-48E1D791AD67}" type="slidenum">
              <a:rPr lang="en-US" smtClean="0"/>
              <a:t>1</a:t>
            </a:fld>
            <a:endParaRPr lang="en-US"/>
          </a:p>
        </p:txBody>
      </p:sp>
    </p:spTree>
    <p:extLst>
      <p:ext uri="{BB962C8B-B14F-4D97-AF65-F5344CB8AC3E}">
        <p14:creationId xmlns:p14="http://schemas.microsoft.com/office/powerpoint/2010/main" val="26910892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TEKS:</a:t>
                </a:r>
              </a:p>
              <a:p>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A.1A: apply mathematics to problems arising in everyday life, society, and the workplace.</a:t>
                </a:r>
              </a:p>
              <a:p>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A.1D: communicate mathematical ideas, reasoning, and their implications using multiple representations, including symbols, diagrams, graphs, and language as appropriate.</a:t>
                </a:r>
              </a:p>
              <a:p>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A.2B: write linear equations in two variables in various forms, including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mx</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b</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Ax</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By</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C</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and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b="0" i="0" u="none" strike="noStrike" baseline="-25000" dirty="0">
                    <a:solidFill>
                      <a:srgbClr val="000000"/>
                    </a:solidFill>
                    <a:latin typeface="Calibri" panose="020F0502020204030204" pitchFamily="34" charset="0"/>
                    <a:ea typeface="Calibri" panose="020F0502020204030204" pitchFamily="34" charset="0"/>
                    <a:cs typeface="Calibri" panose="020F0502020204030204" pitchFamily="34" charset="0"/>
                  </a:rPr>
                  <a:t>1</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m</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b="0" i="0" u="none" strike="noStrike" baseline="-25000" dirty="0">
                    <a:solidFill>
                      <a:srgbClr val="000000"/>
                    </a:solidFill>
                    <a:latin typeface="Calibri" panose="020F0502020204030204" pitchFamily="34" charset="0"/>
                    <a:ea typeface="Calibri" panose="020F0502020204030204" pitchFamily="34" charset="0"/>
                    <a:cs typeface="Calibri" panose="020F0502020204030204" pitchFamily="34" charset="0"/>
                  </a:rPr>
                  <a:t>1</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given one point and the slope and given two points.</a:t>
                </a:r>
              </a:p>
              <a:p>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A.3A: determine the slope of a line given a table of values, a graph, two points on the line, and an equation written in various forms, including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mx </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b</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Ax</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By</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C</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and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US" sz="1200" b="0" i="0" u="none" strike="noStrike" baseline="-25000" dirty="0">
                    <a:solidFill>
                      <a:srgbClr val="000000"/>
                    </a:solidFill>
                    <a:latin typeface="Calibri" panose="020F0502020204030204" pitchFamily="34" charset="0"/>
                    <a:ea typeface="Calibri" panose="020F0502020204030204" pitchFamily="34" charset="0"/>
                    <a:cs typeface="Calibri" panose="020F0502020204030204" pitchFamily="34" charset="0"/>
                  </a:rPr>
                  <a:t>1</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m</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b="0" i="0" u="none" strike="noStrike" baseline="-25000" dirty="0">
                    <a:solidFill>
                      <a:srgbClr val="000000"/>
                    </a:solidFill>
                    <a:latin typeface="Calibri" panose="020F0502020204030204" pitchFamily="34" charset="0"/>
                    <a:ea typeface="Calibri" panose="020F0502020204030204" pitchFamily="34" charset="0"/>
                    <a:cs typeface="Calibri" panose="020F0502020204030204" pitchFamily="34" charset="0"/>
                  </a:rPr>
                  <a:t>1</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t>
                </a:r>
              </a:p>
              <a:p>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A.12E: solve mathematic and scientific formulas, and other literal equations, for a specified variable.</a:t>
                </a:r>
              </a:p>
              <a:p>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algn="l"/>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ELPS:</a:t>
                </a:r>
              </a:p>
              <a:p>
                <a:pPr algn="l"/>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3A: practice producing sounds of newly acquired vocabulary such as long and short vowels, silent letters, and consonant clusters to pronounce English words in a manner that is increasingly comprehensible.</a:t>
                </a:r>
              </a:p>
              <a:p>
                <a:pPr algn="l"/>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4D: use prereading supports such as graphic organizers, illustrations, and </a:t>
                </a:r>
                <a:r>
                  <a:rPr lang="en-US" sz="1200" b="0" i="0" u="none" strike="noStrike" baseline="0" dirty="0" err="1">
                    <a:solidFill>
                      <a:srgbClr val="000000"/>
                    </a:solidFill>
                    <a:latin typeface="Calibri" panose="020F0502020204030204" pitchFamily="34" charset="0"/>
                    <a:ea typeface="Calibri" panose="020F0502020204030204" pitchFamily="34" charset="0"/>
                    <a:cs typeface="Calibri" panose="020F0502020204030204" pitchFamily="34" charset="0"/>
                  </a:rPr>
                  <a:t>pretaught</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topic-related vocabulary and other prereading activities to enhance comprehension of written text.</a:t>
                </a:r>
              </a:p>
              <a:p>
                <a:pPr algn="l"/>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4J: demonstrate English comprehension and expand reading skills by employing inferential skills such as predicting, making connections between ideas, drawing inferences and conclusions from text and graphic sources, and finding supporting text evidence commensurate with content area needs.</a:t>
                </a:r>
              </a:p>
            </p:txBody>
          </p:sp>
        </mc:Choice>
        <mc:Fallback xmlns="">
          <p:sp>
            <p:nvSpPr>
              <p:cNvPr id="3" name="Notes Placeholder 2"/>
              <p:cNvSpPr>
                <a:spLocks noGrp="1"/>
              </p:cNvSpPr>
              <p:nvPr>
                <p:ph type="body" idx="1"/>
              </p:nvPr>
            </p:nvSpPr>
            <p:spPr/>
            <p:txBody>
              <a:bodyPr/>
              <a:lstStyle/>
              <a:p>
                <a:r>
                  <a:rPr lang="en-US" sz="1200" b="1" dirty="0">
                    <a:latin typeface="Calibri" panose="020F0502020204030204" pitchFamily="34" charset="0"/>
                    <a:ea typeface="Calibri" panose="020F0502020204030204" pitchFamily="34" charset="0"/>
                    <a:cs typeface="Calibri" panose="020F0502020204030204" pitchFamily="34" charset="0"/>
                  </a:rPr>
                  <a:t>TEKS:</a:t>
                </a:r>
              </a:p>
              <a:p>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A.1E: create and use representations to organize, record, and communicate mathematical ideas.</a:t>
                </a:r>
              </a:p>
              <a:p>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A.1G: display, explain, and justify mathematical ideas and arguments using precise mathematical language in written or oral communication.</a:t>
                </a:r>
              </a:p>
              <a:p>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A.3C: graph linear functions on the coordinate plane and identify key features, including </a:t>
                </a:r>
                <a:r>
                  <a:rPr lang="en-US" sz="1200" b="0" i="0" u="none" strike="noStrike" baseline="0" dirty="0">
                    <a:latin typeface="Cambria Math" panose="02040503050406030204" pitchFamily="18" charset="0"/>
                    <a:ea typeface="Calibri" panose="020F0502020204030204" pitchFamily="34" charset="0"/>
                    <a:cs typeface="Calibri" panose="020F0502020204030204" pitchFamily="34" charset="0"/>
                  </a:rPr>
                  <a:t>𝑥</a:t>
                </a:r>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-intercept, </a:t>
                </a:r>
                <a:r>
                  <a:rPr lang="en-US" sz="1200" b="0" i="0" u="none" strike="noStrike" baseline="0" dirty="0">
                    <a:latin typeface="Cambria Math" panose="02040503050406030204" pitchFamily="18" charset="0"/>
                    <a:ea typeface="Calibri" panose="020F0502020204030204" pitchFamily="34" charset="0"/>
                    <a:cs typeface="Calibri" panose="020F0502020204030204" pitchFamily="34" charset="0"/>
                  </a:rPr>
                  <a:t>𝑦</a:t>
                </a:r>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-intercept, zeros, and slope, in mathematical and real-world problems.</a:t>
                </a:r>
                <a:endParaRPr lang="en-US" sz="1200" b="0" i="0" u="sng" strike="noStrike" baseline="0" dirty="0">
                  <a:latin typeface="Calibri" panose="020F0502020204030204" pitchFamily="34" charset="0"/>
                  <a:ea typeface="Calibri" panose="020F0502020204030204" pitchFamily="34" charset="0"/>
                  <a:cs typeface="Calibri" panose="020F0502020204030204" pitchFamily="34" charset="0"/>
                </a:endParaRPr>
              </a:p>
              <a:p>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A.7A: graph quadratic functions on the coordinate plane and use the graph to identify key attributes, if possible, including </a:t>
                </a:r>
                <a:r>
                  <a:rPr lang="en-US" sz="1200" b="0" i="0" u="none" strike="noStrike" baseline="0" dirty="0">
                    <a:latin typeface="Cambria Math" panose="02040503050406030204" pitchFamily="18" charset="0"/>
                    <a:ea typeface="Calibri" panose="020F0502020204030204" pitchFamily="34" charset="0"/>
                    <a:cs typeface="Calibri" panose="020F0502020204030204" pitchFamily="34" charset="0"/>
                  </a:rPr>
                  <a:t>𝑥</a:t>
                </a:r>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-intercept, </a:t>
                </a:r>
                <a:r>
                  <a:rPr lang="en-US" sz="1200" b="0" i="0" u="none" strike="noStrike" baseline="0" dirty="0">
                    <a:latin typeface="Cambria Math" panose="02040503050406030204" pitchFamily="18" charset="0"/>
                    <a:ea typeface="Calibri" panose="020F0502020204030204" pitchFamily="34" charset="0"/>
                    <a:cs typeface="Calibri" panose="020F0502020204030204" pitchFamily="34" charset="0"/>
                  </a:rPr>
                  <a:t>𝑦</a:t>
                </a:r>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-intercept, zeros, maximum value, minimum values, vertex, and the equation of the axis of symmetry.</a:t>
                </a:r>
                <a:endParaRPr lang="en-US" sz="1200" b="0" i="0" u="sng" strike="noStrike" baseline="0" dirty="0">
                  <a:latin typeface="Calibri" panose="020F0502020204030204" pitchFamily="34" charset="0"/>
                  <a:ea typeface="Calibri" panose="020F0502020204030204" pitchFamily="34" charset="0"/>
                  <a:cs typeface="Calibri" panose="020F0502020204030204" pitchFamily="34" charset="0"/>
                </a:endParaRPr>
              </a:p>
              <a:p>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A.9D: graph exponential functions that model growth and decay and identify key features, including </a:t>
                </a:r>
                <a:r>
                  <a:rPr lang="en-US" sz="1200" b="0" i="0" u="none" strike="noStrike" baseline="0" dirty="0">
                    <a:latin typeface="Cambria Math" panose="02040503050406030204" pitchFamily="18" charset="0"/>
                    <a:ea typeface="Calibri" panose="020F0502020204030204" pitchFamily="34" charset="0"/>
                    <a:cs typeface="Calibri" panose="020F0502020204030204" pitchFamily="34" charset="0"/>
                  </a:rPr>
                  <a:t>𝑦</a:t>
                </a:r>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-intercept and asymptote, in mathematical and real-world problems.</a:t>
                </a:r>
              </a:p>
              <a:p>
                <a:endParaRPr lang="en-US" sz="1200" b="0" i="0" u="none" strike="noStrike" baseline="0" dirty="0">
                  <a:latin typeface="Calibri" panose="020F0502020204030204" pitchFamily="34" charset="0"/>
                  <a:ea typeface="Calibri" panose="020F0502020204030204" pitchFamily="34" charset="0"/>
                  <a:cs typeface="Calibri" panose="020F0502020204030204" pitchFamily="34" charset="0"/>
                </a:endParaRPr>
              </a:p>
              <a:p>
                <a:pPr algn="l"/>
                <a:r>
                  <a:rPr lang="en-US" sz="1200" b="1" i="0" u="none" strike="noStrike" baseline="0" dirty="0">
                    <a:latin typeface="Calibri" panose="020F0502020204030204" pitchFamily="34" charset="0"/>
                    <a:ea typeface="Calibri" panose="020F0502020204030204" pitchFamily="34" charset="0"/>
                    <a:cs typeface="Calibri" panose="020F0502020204030204" pitchFamily="34" charset="0"/>
                  </a:rPr>
                  <a:t>ELPS:</a:t>
                </a:r>
              </a:p>
              <a:p>
                <a:pPr algn="l"/>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1A: use prior knowledge and experiences to understand meanings in English.</a:t>
                </a:r>
              </a:p>
              <a:p>
                <a:pPr algn="l"/>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1B: monitor oral and written language production and employ self-corrective techniques or other resources.</a:t>
                </a:r>
              </a:p>
              <a:p>
                <a:pPr algn="l"/>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1F: use accessible language and learn new and essential language in the process.</a:t>
                </a:r>
              </a:p>
              <a:p>
                <a:pPr algn="l"/>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3D: speak using grade-level content area vocabulary in context to internalize new English words and build academic language proficiency.</a:t>
                </a:r>
              </a:p>
              <a:p>
                <a:pPr algn="l"/>
                <a:r>
                  <a:rPr lang="en-US" sz="1200" b="0" i="0" u="none" strike="noStrike" baseline="0" dirty="0">
                    <a:latin typeface="Calibri" panose="020F0502020204030204" pitchFamily="34" charset="0"/>
                    <a:ea typeface="Calibri" panose="020F0502020204030204" pitchFamily="34" charset="0"/>
                    <a:cs typeface="Calibri" panose="020F0502020204030204" pitchFamily="34" charset="0"/>
                  </a:rPr>
                  <a:t>3E: share information in cooperative learning interactions.</a:t>
                </a:r>
              </a:p>
              <a:p>
                <a:pPr algn="l"/>
                <a:endParaRPr lang="en-US" sz="1200" b="1" i="0" u="none" strike="noStrike" baseline="0" dirty="0">
                  <a:latin typeface="Calibri" panose="020F0502020204030204" pitchFamily="34" charset="0"/>
                  <a:ea typeface="Calibri" panose="020F0502020204030204" pitchFamily="34" charset="0"/>
                  <a:cs typeface="Calibri" panose="020F0502020204030204" pitchFamily="34" charset="0"/>
                </a:endParaRPr>
              </a:p>
            </p:txBody>
          </p:sp>
        </mc:Fallback>
      </mc:AlternateContent>
      <p:sp>
        <p:nvSpPr>
          <p:cNvPr id="4" name="Slide Number Placeholder 3"/>
          <p:cNvSpPr>
            <a:spLocks noGrp="1"/>
          </p:cNvSpPr>
          <p:nvPr>
            <p:ph type="sldNum" sz="quarter" idx="5"/>
          </p:nvPr>
        </p:nvSpPr>
        <p:spPr/>
        <p:txBody>
          <a:bodyPr/>
          <a:lstStyle/>
          <a:p>
            <a:fld id="{BB5E49A5-4136-284D-997B-48E1D791AD67}" type="slidenum">
              <a:rPr lang="en-US" smtClean="0"/>
              <a:t>2</a:t>
            </a:fld>
            <a:endParaRPr lang="en-US"/>
          </a:p>
        </p:txBody>
      </p:sp>
    </p:spTree>
    <p:extLst>
      <p:ext uri="{BB962C8B-B14F-4D97-AF65-F5344CB8AC3E}">
        <p14:creationId xmlns:p14="http://schemas.microsoft.com/office/powerpoint/2010/main" val="3158077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Literal equation is introduced on Day 1.</a:t>
            </a:r>
          </a:p>
        </p:txBody>
      </p:sp>
      <p:sp>
        <p:nvSpPr>
          <p:cNvPr id="4" name="Slide Number Placeholder 3"/>
          <p:cNvSpPr>
            <a:spLocks noGrp="1"/>
          </p:cNvSpPr>
          <p:nvPr>
            <p:ph type="sldNum" sz="quarter" idx="5"/>
          </p:nvPr>
        </p:nvSpPr>
        <p:spPr/>
        <p:txBody>
          <a:bodyPr/>
          <a:lstStyle/>
          <a:p>
            <a:fld id="{BB5E49A5-4136-284D-997B-48E1D791AD67}" type="slidenum">
              <a:rPr lang="en-US" smtClean="0"/>
              <a:t>3</a:t>
            </a:fld>
            <a:endParaRPr lang="en-US"/>
          </a:p>
        </p:txBody>
      </p:sp>
    </p:spTree>
    <p:extLst>
      <p:ext uri="{BB962C8B-B14F-4D97-AF65-F5344CB8AC3E}">
        <p14:creationId xmlns:p14="http://schemas.microsoft.com/office/powerpoint/2010/main" val="5862470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Setting the Stage:</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Tap into your student’s prior learning by reading the narrative statement.</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Provide a sense of direction by reading the Essential Question.</a:t>
            </a: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p:cNvSpPr>
            <a:spLocks noGrp="1"/>
          </p:cNvSpPr>
          <p:nvPr>
            <p:ph type="sldNum" sz="quarter" idx="5"/>
          </p:nvPr>
        </p:nvSpPr>
        <p:spPr/>
        <p:txBody>
          <a:bodyPr/>
          <a:lstStyle/>
          <a:p>
            <a:fld id="{BB5E49A5-4136-284D-997B-48E1D791AD67}" type="slidenum">
              <a:rPr lang="en-US" smtClean="0"/>
              <a:t>4</a:t>
            </a:fld>
            <a:endParaRPr lang="en-US"/>
          </a:p>
        </p:txBody>
      </p:sp>
    </p:spTree>
    <p:extLst>
      <p:ext uri="{BB962C8B-B14F-4D97-AF65-F5344CB8AC3E}">
        <p14:creationId xmlns:p14="http://schemas.microsoft.com/office/powerpoint/2010/main" val="40617252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Total suggested pacing for Day 1 is 45 minutes.</a:t>
            </a:r>
          </a:p>
        </p:txBody>
      </p:sp>
      <p:sp>
        <p:nvSpPr>
          <p:cNvPr id="4" name="Slide Number Placeholder 3"/>
          <p:cNvSpPr>
            <a:spLocks noGrp="1"/>
          </p:cNvSpPr>
          <p:nvPr>
            <p:ph type="sldNum" sz="quarter" idx="5"/>
          </p:nvPr>
        </p:nvSpPr>
        <p:spPr/>
        <p:txBody>
          <a:bodyPr/>
          <a:lstStyle/>
          <a:p>
            <a:fld id="{BB5E49A5-4136-284D-997B-48E1D791AD67}" type="slidenum">
              <a:rPr lang="en-US" smtClean="0"/>
              <a:t>5</a:t>
            </a:fld>
            <a:endParaRPr lang="en-US"/>
          </a:p>
        </p:txBody>
      </p:sp>
    </p:spTree>
    <p:extLst>
      <p:ext uri="{BB962C8B-B14F-4D97-AF65-F5344CB8AC3E}">
        <p14:creationId xmlns:p14="http://schemas.microsoft.com/office/powerpoint/2010/main" val="33887377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Total time of 15 minutes allotted for the Getting Started.</a:t>
            </a:r>
          </a:p>
        </p:txBody>
      </p:sp>
      <p:sp>
        <p:nvSpPr>
          <p:cNvPr id="4" name="Slide Number Placeholder 3"/>
          <p:cNvSpPr>
            <a:spLocks noGrp="1"/>
          </p:cNvSpPr>
          <p:nvPr>
            <p:ph type="sldNum" sz="quarter" idx="5"/>
          </p:nvPr>
        </p:nvSpPr>
        <p:spPr/>
        <p:txBody>
          <a:bodyPr/>
          <a:lstStyle/>
          <a:p>
            <a:fld id="{BB5E49A5-4136-284D-997B-48E1D791AD67}" type="slidenum">
              <a:rPr lang="en-US" smtClean="0"/>
              <a:t>6</a:t>
            </a:fld>
            <a:endParaRPr lang="en-US"/>
          </a:p>
        </p:txBody>
      </p:sp>
    </p:spTree>
    <p:extLst>
      <p:ext uri="{BB962C8B-B14F-4D97-AF65-F5344CB8AC3E}">
        <p14:creationId xmlns:p14="http://schemas.microsoft.com/office/powerpoint/2010/main" val="31575870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p:cNvSpPr>
            <a:spLocks noGrp="1"/>
          </p:cNvSpPr>
          <p:nvPr>
            <p:ph type="sldNum" sz="quarter" idx="5"/>
          </p:nvPr>
        </p:nvSpPr>
        <p:spPr/>
        <p:txBody>
          <a:bodyPr/>
          <a:lstStyle/>
          <a:p>
            <a:fld id="{BB5E49A5-4136-284D-997B-48E1D791AD67}" type="slidenum">
              <a:rPr lang="en-US" smtClean="0"/>
              <a:t>7</a:t>
            </a:fld>
            <a:endParaRPr lang="en-US"/>
          </a:p>
        </p:txBody>
      </p:sp>
    </p:spTree>
    <p:extLst>
      <p:ext uri="{BB962C8B-B14F-4D97-AF65-F5344CB8AC3E}">
        <p14:creationId xmlns:p14="http://schemas.microsoft.com/office/powerpoint/2010/main" val="18336194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endParaRPr lang="en-US"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p:cNvSpPr>
            <a:spLocks noGrp="1"/>
          </p:cNvSpPr>
          <p:nvPr>
            <p:ph type="sldNum" sz="quarter" idx="5"/>
          </p:nvPr>
        </p:nvSpPr>
        <p:spPr/>
        <p:txBody>
          <a:bodyPr/>
          <a:lstStyle/>
          <a:p>
            <a:fld id="{BB5E49A5-4136-284D-997B-48E1D791AD67}" type="slidenum">
              <a:rPr lang="en-US" smtClean="0"/>
              <a:t>8</a:t>
            </a:fld>
            <a:endParaRPr lang="en-US"/>
          </a:p>
        </p:txBody>
      </p:sp>
    </p:spTree>
    <p:extLst>
      <p:ext uri="{BB962C8B-B14F-4D97-AF65-F5344CB8AC3E}">
        <p14:creationId xmlns:p14="http://schemas.microsoft.com/office/powerpoint/2010/main" val="36119870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AC32C5-E280-39EA-ED8D-6BE64498CD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CC651C-C956-B236-C5A1-EB4125360FB6}"/>
              </a:ext>
            </a:extLst>
          </p:cNvPr>
          <p:cNvSpPr>
            <a:spLocks noGrp="1" noRot="1" noChangeAspect="1"/>
          </p:cNvSpPr>
          <p:nvPr>
            <p:ph type="sldImg"/>
          </p:nvPr>
        </p:nvSpPr>
        <p:spPr>
          <a:xfrm>
            <a:off x="382588" y="685800"/>
            <a:ext cx="6092825" cy="3429000"/>
          </a:xfrm>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694251A6-ABFA-7C7A-63D9-A4C5FE243A00}"/>
                  </a:ext>
                </a:extLst>
              </p:cNvPr>
              <p:cNvSpPr>
                <a:spLocks noGrp="1"/>
              </p:cNvSpPr>
              <p:nvPr>
                <p:ph type="body" idx="1"/>
              </p:nvPr>
            </p:nvSpPr>
            <p:spPr/>
            <p:txBody>
              <a:bodyPr/>
              <a:lstStyle/>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Why does Juan need to determine the park’s width?</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Was it more difficult to solve this equation than previous equations? Why or why not?</a:t>
                </a: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 </a:t>
                </a:r>
              </a:p>
              <a:p>
                <a:endParaRPr lang="en-US"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Explain your steps to isolate the variable w.</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What properties did you apply to solve for w?</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can you show both equations are equivalent to the perimeter equation?</a:t>
                </a: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 </a:t>
                </a:r>
              </a:p>
              <a:p>
                <a:endParaRPr lang="en-US"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does the expression </a:t>
                </a:r>
                <a14:m>
                  <m:oMath xmlns:m="http://schemas.openxmlformats.org/officeDocument/2006/math">
                    <m:f>
                      <m:fPr>
                        <m:ctrlP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ctrlPr>
                      </m:fPr>
                      <m:num>
                        <m:r>
                          <a:rPr lang="en-IN"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1</m:t>
                        </m:r>
                      </m:num>
                      <m:den>
                        <m:r>
                          <a:rPr lang="en-IN"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2</m:t>
                        </m:r>
                      </m:den>
                    </m:f>
                  </m:oMath>
                </a14:m>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P</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l</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relate to the diagram?</a:t>
                </a: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 </a:t>
                </a:r>
              </a:p>
              <a:p>
                <a:endParaRPr lang="en-US"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Reflecting and Justifying:</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Why does it make sense to show both equations are equivalent to the perimeter equation?</a:t>
                </a:r>
                <a:endParaRPr lang="en-US"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endParaRPr lang="en-US"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 name="Notes Placeholder 2">
                <a:extLst>
                  <a:ext uri="{FF2B5EF4-FFF2-40B4-BE49-F238E27FC236}">
                    <a16:creationId xmlns:a16="http://schemas.microsoft.com/office/drawing/2014/main" id="{694251A6-ABFA-7C7A-63D9-A4C5FE243A00}"/>
                  </a:ext>
                </a:extLst>
              </p:cNvPr>
              <p:cNvSpPr>
                <a:spLocks noGrp="1"/>
              </p:cNvSpPr>
              <p:nvPr>
                <p:ph type="body" idx="1"/>
              </p:nvPr>
            </p:nvSpPr>
            <p:spPr/>
            <p:txBody>
              <a:bodyPr/>
              <a:lstStyle/>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Why does Juan need to determine the park’s width?</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Was it more difficult to solve this equation than previous equations? Why or why not?</a:t>
                </a: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 </a:t>
                </a:r>
              </a:p>
              <a:p>
                <a:endParaRPr lang="en-US"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Explain your steps to isolate the variable w.</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What properties did you apply to solve for w?</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can you show both equations are equivalent to the perimeter equation?</a:t>
                </a: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 </a:t>
                </a:r>
              </a:p>
              <a:p>
                <a:endParaRPr lang="en-US"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does the expression </a:t>
                </a:r>
                <a:r>
                  <a:rPr lang="en-IN" sz="1200" b="0" i="0" u="none" strike="noStrike" baseline="0">
                    <a:solidFill>
                      <a:srgbClr val="000000"/>
                    </a:solidFill>
                    <a:latin typeface="Cambria Math" panose="02040503050406030204" pitchFamily="18" charset="0"/>
                    <a:ea typeface="Calibri" panose="020F0502020204030204" pitchFamily="34" charset="0"/>
                    <a:cs typeface="Calibri" panose="020F0502020204030204" pitchFamily="34" charset="0"/>
                  </a:rPr>
                  <a:t>1</a:t>
                </a:r>
                <a:r>
                  <a:rPr lang="en-US" sz="1200" b="0" i="0" u="none" strike="noStrike" baseline="0">
                    <a:solidFill>
                      <a:srgbClr val="000000"/>
                    </a:solidFill>
                    <a:latin typeface="Cambria Math" panose="02040503050406030204" pitchFamily="18" charset="0"/>
                    <a:ea typeface="Calibri" panose="020F0502020204030204" pitchFamily="34" charset="0"/>
                    <a:cs typeface="Calibri" panose="020F0502020204030204" pitchFamily="34" charset="0"/>
                  </a:rPr>
                  <a:t>/</a:t>
                </a:r>
                <a:r>
                  <a:rPr lang="en-IN" sz="1200" b="0" i="0" u="none" strike="noStrike" baseline="0">
                    <a:solidFill>
                      <a:srgbClr val="000000"/>
                    </a:solidFill>
                    <a:latin typeface="Cambria Math" panose="02040503050406030204" pitchFamily="18" charset="0"/>
                    <a:ea typeface="Calibri" panose="020F0502020204030204" pitchFamily="34" charset="0"/>
                    <a:cs typeface="Calibri" panose="020F0502020204030204" pitchFamily="34" charset="0"/>
                  </a:rPr>
                  <a:t>2</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P</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 l relate to the diagram?</a:t>
                </a: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 </a:t>
                </a:r>
              </a:p>
              <a:p>
                <a:endParaRPr lang="en-US"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Reflecting and justifying:</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Why does it make sense to show both equations are equivalent to the perimeter equation?</a:t>
                </a: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 </a:t>
                </a:r>
              </a:p>
              <a:p>
                <a:endParaRPr lang="en-US"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endParaRPr lang="en-US"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mc:Fallback>
      </mc:AlternateContent>
      <p:sp>
        <p:nvSpPr>
          <p:cNvPr id="4" name="Slide Number Placeholder 3">
            <a:extLst>
              <a:ext uri="{FF2B5EF4-FFF2-40B4-BE49-F238E27FC236}">
                <a16:creationId xmlns:a16="http://schemas.microsoft.com/office/drawing/2014/main" id="{F2B227FC-DE83-37BD-459E-77B640B4F93C}"/>
              </a:ext>
            </a:extLst>
          </p:cNvPr>
          <p:cNvSpPr>
            <a:spLocks noGrp="1"/>
          </p:cNvSpPr>
          <p:nvPr>
            <p:ph type="sldNum" sz="quarter" idx="5"/>
          </p:nvPr>
        </p:nvSpPr>
        <p:spPr/>
        <p:txBody>
          <a:bodyPr/>
          <a:lstStyle/>
          <a:p>
            <a:fld id="{BB5E49A5-4136-284D-997B-48E1D791AD67}" type="slidenum">
              <a:rPr lang="en-US" smtClean="0"/>
              <a:t>9</a:t>
            </a:fld>
            <a:endParaRPr lang="en-US"/>
          </a:p>
        </p:txBody>
      </p:sp>
    </p:spTree>
    <p:extLst>
      <p:ext uri="{BB962C8B-B14F-4D97-AF65-F5344CB8AC3E}">
        <p14:creationId xmlns:p14="http://schemas.microsoft.com/office/powerpoint/2010/main" val="38445601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Why does Juan need to determine the park’s width?</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Was it more difficult to solve this equation than previous equations? Why or why not?</a:t>
                </a: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 </a:t>
                </a:r>
              </a:p>
              <a:p>
                <a:endParaRPr lang="en-US"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Explain your steps to isolate the variable w.</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What properties did you apply to solve for w?</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can you show both equations are equivalent to the perimeter equation?</a:t>
                </a: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 </a:t>
                </a:r>
              </a:p>
              <a:p>
                <a:endParaRPr lang="en-US"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does the expression </a:t>
                </a:r>
                <a14:m>
                  <m:oMath xmlns:m="http://schemas.openxmlformats.org/officeDocument/2006/math">
                    <m:f>
                      <m:fPr>
                        <m:ctrlPr>
                          <a:rPr lang="en-US"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ctrlPr>
                      </m:fPr>
                      <m:num>
                        <m:r>
                          <a:rPr lang="en-IN"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1</m:t>
                        </m:r>
                      </m:num>
                      <m:den>
                        <m:r>
                          <a:rPr lang="en-IN" sz="1200" b="0" i="1" u="none" strike="noStrike"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2</m:t>
                        </m:r>
                      </m:den>
                    </m:f>
                  </m:oMath>
                </a14:m>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P</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l</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relate to the diagram?</a:t>
                </a: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 </a:t>
                </a:r>
              </a:p>
              <a:p>
                <a:endParaRPr lang="en-US"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Reflecting and Justifying:</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Why does it make sense to show both equations are equivalent to the perimeter equation?</a:t>
                </a: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 </a:t>
                </a:r>
              </a:p>
            </p:txBody>
          </p:sp>
        </mc:Choice>
        <mc:Fallback xmlns="">
          <p:sp>
            <p:nvSpPr>
              <p:cNvPr id="3" name="Notes Placeholder 2"/>
              <p:cNvSpPr>
                <a:spLocks noGrp="1"/>
              </p:cNvSpPr>
              <p:nvPr>
                <p:ph type="body" idx="1"/>
              </p:nvPr>
            </p:nvSpPr>
            <p:spPr/>
            <p:txBody>
              <a:bodyPr/>
              <a:lstStyle/>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Why does Juan need to determine the park’s width?</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Was it more difficult to solve this equation than previous equations? Why or why not?</a:t>
                </a: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 </a:t>
                </a:r>
              </a:p>
              <a:p>
                <a:endParaRPr lang="en-US"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Explain your steps to isolate the variable w.</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What properties did you apply to solve for w?</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can you show both equations are equivalent to the perimeter equation?</a:t>
                </a: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 </a:t>
                </a:r>
              </a:p>
              <a:p>
                <a:endParaRPr lang="en-US"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does the expression </a:t>
                </a:r>
                <a:r>
                  <a:rPr lang="en-IN" sz="1200" b="0" i="0" u="none" strike="noStrike" baseline="0">
                    <a:solidFill>
                      <a:srgbClr val="000000"/>
                    </a:solidFill>
                    <a:latin typeface="Cambria Math" panose="02040503050406030204" pitchFamily="18" charset="0"/>
                    <a:ea typeface="Calibri" panose="020F0502020204030204" pitchFamily="34" charset="0"/>
                    <a:cs typeface="Calibri" panose="020F0502020204030204" pitchFamily="34" charset="0"/>
                  </a:rPr>
                  <a:t>1</a:t>
                </a:r>
                <a:r>
                  <a:rPr lang="en-US" sz="1200" b="0" i="0" u="none" strike="noStrike" baseline="0">
                    <a:solidFill>
                      <a:srgbClr val="000000"/>
                    </a:solidFill>
                    <a:latin typeface="Cambria Math" panose="02040503050406030204" pitchFamily="18" charset="0"/>
                    <a:ea typeface="Calibri" panose="020F0502020204030204" pitchFamily="34" charset="0"/>
                    <a:cs typeface="Calibri" panose="020F0502020204030204" pitchFamily="34" charset="0"/>
                  </a:rPr>
                  <a:t>/</a:t>
                </a:r>
                <a:r>
                  <a:rPr lang="en-IN" sz="1200" b="0" i="0" u="none" strike="noStrike" baseline="0">
                    <a:solidFill>
                      <a:srgbClr val="000000"/>
                    </a:solidFill>
                    <a:latin typeface="Cambria Math" panose="02040503050406030204" pitchFamily="18" charset="0"/>
                    <a:ea typeface="Calibri" panose="020F0502020204030204" pitchFamily="34" charset="0"/>
                    <a:cs typeface="Calibri" panose="020F0502020204030204" pitchFamily="34" charset="0"/>
                  </a:rPr>
                  <a:t>2</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P</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 l relate to the diagram?</a:t>
                </a: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 </a:t>
                </a:r>
              </a:p>
              <a:p>
                <a:endParaRPr lang="en-US"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Reflecting and justifying:</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Why does it make sense to show both equations are equivalent to the perimeter equation?</a:t>
                </a: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 </a:t>
                </a:r>
              </a:p>
              <a:p>
                <a:endParaRPr lang="en-US"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endParaRPr lang="en-US"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mc:Fallback>
      </mc:AlternateContent>
      <p:sp>
        <p:nvSpPr>
          <p:cNvPr id="4" name="Slide Number Placeholder 3"/>
          <p:cNvSpPr>
            <a:spLocks noGrp="1"/>
          </p:cNvSpPr>
          <p:nvPr>
            <p:ph type="sldNum" sz="quarter" idx="5"/>
          </p:nvPr>
        </p:nvSpPr>
        <p:spPr/>
        <p:txBody>
          <a:bodyPr/>
          <a:lstStyle/>
          <a:p>
            <a:fld id="{BB5E49A5-4136-284D-997B-48E1D791AD67}" type="slidenum">
              <a:rPr lang="en-US" smtClean="0"/>
              <a:t>10</a:t>
            </a:fld>
            <a:endParaRPr lang="en-US"/>
          </a:p>
        </p:txBody>
      </p:sp>
    </p:spTree>
    <p:extLst>
      <p:ext uri="{BB962C8B-B14F-4D97-AF65-F5344CB8AC3E}">
        <p14:creationId xmlns:p14="http://schemas.microsoft.com/office/powerpoint/2010/main" val="27160640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DC1D36-0789-3A0E-01C8-9D7EC0A8C7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FC599B-63DB-96F3-9A12-595FDD25DEF9}"/>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E6CEF502-D210-4B34-43CE-0DD79F40C669}"/>
              </a:ext>
            </a:extLst>
          </p:cNvPr>
          <p:cNvSpPr>
            <a:spLocks noGrp="1"/>
          </p:cNvSpPr>
          <p:nvPr>
            <p:ph type="body" idx="1"/>
          </p:nvPr>
        </p:nvSpPr>
        <p:spPr/>
        <p:txBody>
          <a:bodyPr/>
          <a:lstStyle/>
          <a:p>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Getting Started Summary:</a:t>
            </a:r>
          </a:p>
          <a:p>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A formula involving more than one variable can be rewritten in an equivalent form to solve a problem situation.</a:t>
            </a:r>
          </a:p>
        </p:txBody>
      </p:sp>
      <p:sp>
        <p:nvSpPr>
          <p:cNvPr id="4" name="Slide Number Placeholder 3">
            <a:extLst>
              <a:ext uri="{FF2B5EF4-FFF2-40B4-BE49-F238E27FC236}">
                <a16:creationId xmlns:a16="http://schemas.microsoft.com/office/drawing/2014/main" id="{D3722ED9-DB10-E304-420A-518C05FC0F0A}"/>
              </a:ext>
            </a:extLst>
          </p:cNvPr>
          <p:cNvSpPr>
            <a:spLocks noGrp="1"/>
          </p:cNvSpPr>
          <p:nvPr>
            <p:ph type="sldNum" sz="quarter" idx="5"/>
          </p:nvPr>
        </p:nvSpPr>
        <p:spPr/>
        <p:txBody>
          <a:bodyPr/>
          <a:lstStyle/>
          <a:p>
            <a:fld id="{BB5E49A5-4136-284D-997B-48E1D791AD67}" type="slidenum">
              <a:rPr lang="en-US" smtClean="0"/>
              <a:t>11</a:t>
            </a:fld>
            <a:endParaRPr lang="en-US"/>
          </a:p>
        </p:txBody>
      </p:sp>
    </p:spTree>
    <p:extLst>
      <p:ext uri="{BB962C8B-B14F-4D97-AF65-F5344CB8AC3E}">
        <p14:creationId xmlns:p14="http://schemas.microsoft.com/office/powerpoint/2010/main" val="260155040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DC1D36-0789-3A0E-01C8-9D7EC0A8C7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FC599B-63DB-96F3-9A12-595FDD25DEF9}"/>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E6CEF502-D210-4B34-43CE-0DD79F40C669}"/>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 </a:t>
            </a:r>
            <a:r>
              <a:rPr lang="en-US" b="0" dirty="0">
                <a:solidFill>
                  <a:srgbClr val="000000"/>
                </a:solidFill>
                <a:latin typeface="Calibri" panose="020F0502020204030204" pitchFamily="34" charset="0"/>
                <a:ea typeface="Calibri" panose="020F0502020204030204" pitchFamily="34" charset="0"/>
                <a:cs typeface="Calibri" panose="020F0502020204030204" pitchFamily="34" charset="0"/>
              </a:rPr>
              <a:t>This slide is blank for optional use with displaying work.</a:t>
            </a:r>
            <a:endParaRPr lang="en-US"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D3722ED9-DB10-E304-420A-518C05FC0F0A}"/>
              </a:ext>
            </a:extLst>
          </p:cNvPr>
          <p:cNvSpPr>
            <a:spLocks noGrp="1"/>
          </p:cNvSpPr>
          <p:nvPr>
            <p:ph type="sldNum" sz="quarter" idx="5"/>
          </p:nvPr>
        </p:nvSpPr>
        <p:spPr/>
        <p:txBody>
          <a:bodyPr/>
          <a:lstStyle/>
          <a:p>
            <a:fld id="{BB5E49A5-4136-284D-997B-48E1D791AD67}" type="slidenum">
              <a:rPr lang="en-US" smtClean="0"/>
              <a:t>12</a:t>
            </a:fld>
            <a:endParaRPr lang="en-US"/>
          </a:p>
        </p:txBody>
      </p:sp>
    </p:spTree>
    <p:extLst>
      <p:ext uri="{BB962C8B-B14F-4D97-AF65-F5344CB8AC3E}">
        <p14:creationId xmlns:p14="http://schemas.microsoft.com/office/powerpoint/2010/main" val="260155040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Total time of 25-30 minutes allotted for Activity 2.1.</a:t>
            </a:r>
          </a:p>
        </p:txBody>
      </p:sp>
      <p:sp>
        <p:nvSpPr>
          <p:cNvPr id="4" name="Slide Number Placeholder 3"/>
          <p:cNvSpPr>
            <a:spLocks noGrp="1"/>
          </p:cNvSpPr>
          <p:nvPr>
            <p:ph type="sldNum" sz="quarter" idx="5"/>
          </p:nvPr>
        </p:nvSpPr>
        <p:spPr/>
        <p:txBody>
          <a:bodyPr/>
          <a:lstStyle/>
          <a:p>
            <a:fld id="{BB5E49A5-4136-284D-997B-48E1D791AD67}" type="slidenum">
              <a:rPr lang="en-US" smtClean="0"/>
              <a:t>13</a:t>
            </a:fld>
            <a:endParaRPr lang="en-US"/>
          </a:p>
        </p:txBody>
      </p:sp>
    </p:spTree>
    <p:extLst>
      <p:ext uri="{BB962C8B-B14F-4D97-AF65-F5344CB8AC3E}">
        <p14:creationId xmlns:p14="http://schemas.microsoft.com/office/powerpoint/2010/main" val="16146531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Which characteristics of the linear function were apparent from the equation?</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determine the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-intercept? How was your strategy related to the meaning of the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-intercept?</a:t>
            </a: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 </a:t>
            </a:r>
          </a:p>
        </p:txBody>
      </p:sp>
      <p:sp>
        <p:nvSpPr>
          <p:cNvPr id="4" name="Slide Number Placeholder 3"/>
          <p:cNvSpPr>
            <a:spLocks noGrp="1"/>
          </p:cNvSpPr>
          <p:nvPr>
            <p:ph type="sldNum" sz="quarter" idx="5"/>
          </p:nvPr>
        </p:nvSpPr>
        <p:spPr/>
        <p:txBody>
          <a:bodyPr/>
          <a:lstStyle/>
          <a:p>
            <a:fld id="{BB5E49A5-4136-284D-997B-48E1D791AD67}" type="slidenum">
              <a:rPr lang="en-US" smtClean="0"/>
              <a:t>14</a:t>
            </a:fld>
            <a:endParaRPr lang="en-US"/>
          </a:p>
        </p:txBody>
      </p:sp>
    </p:spTree>
    <p:extLst>
      <p:ext uri="{BB962C8B-B14F-4D97-AF65-F5344CB8AC3E}">
        <p14:creationId xmlns:p14="http://schemas.microsoft.com/office/powerpoint/2010/main" val="18336194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54FE19-66B9-E7BC-8738-B8E6D992C9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B045C4-D5BC-1825-7552-72D52B3C5BA9}"/>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F963CCAD-DA51-DFDD-CB3D-8B1F3DDE45BC}"/>
              </a:ext>
            </a:extLst>
          </p:cNvPr>
          <p:cNvSpPr>
            <a:spLocks noGrp="1"/>
          </p:cNvSpPr>
          <p:nvPr>
            <p:ph type="body" idx="1"/>
          </p:nvPr>
        </p:nvSpPr>
        <p:spPr/>
        <p:txBody>
          <a:bodyPr/>
          <a:lstStyle/>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Which characteristics of the linear function were apparent from the equation?</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determine the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-intercept? How was your strategy related to the meaning of the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-intercept?</a:t>
            </a: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 </a:t>
            </a:r>
          </a:p>
        </p:txBody>
      </p:sp>
      <p:sp>
        <p:nvSpPr>
          <p:cNvPr id="4" name="Slide Number Placeholder 3">
            <a:extLst>
              <a:ext uri="{FF2B5EF4-FFF2-40B4-BE49-F238E27FC236}">
                <a16:creationId xmlns:a16="http://schemas.microsoft.com/office/drawing/2014/main" id="{F40874FD-D687-602B-70AC-1DCB9A7DCA9C}"/>
              </a:ext>
            </a:extLst>
          </p:cNvPr>
          <p:cNvSpPr>
            <a:spLocks noGrp="1"/>
          </p:cNvSpPr>
          <p:nvPr>
            <p:ph type="sldNum" sz="quarter" idx="5"/>
          </p:nvPr>
        </p:nvSpPr>
        <p:spPr/>
        <p:txBody>
          <a:bodyPr/>
          <a:lstStyle/>
          <a:p>
            <a:fld id="{BB5E49A5-4136-284D-997B-48E1D791AD67}" type="slidenum">
              <a:rPr lang="en-US" smtClean="0"/>
              <a:t>15</a:t>
            </a:fld>
            <a:endParaRPr lang="en-US"/>
          </a:p>
        </p:txBody>
      </p:sp>
    </p:spTree>
    <p:extLst>
      <p:ext uri="{BB962C8B-B14F-4D97-AF65-F5344CB8AC3E}">
        <p14:creationId xmlns:p14="http://schemas.microsoft.com/office/powerpoint/2010/main" val="83488753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B39759-DBBA-C841-ACBB-06074C8F28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46AC73-60AF-7CE4-07AD-E87D4571C6D6}"/>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26FFECA6-76A7-4E9F-68CE-982373719295}"/>
              </a:ext>
            </a:extLst>
          </p:cNvPr>
          <p:cNvSpPr>
            <a:spLocks noGrp="1"/>
          </p:cNvSpPr>
          <p:nvPr>
            <p:ph type="body" idx="1"/>
          </p:nvPr>
        </p:nvSpPr>
        <p:spPr/>
        <p:txBody>
          <a:bodyPr/>
          <a:lstStyle/>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Explain how you determined the value of each characteristic.</a:t>
            </a:r>
            <a:endPar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algn="l"/>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Use substitution to show why the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-intercept is (2, 0).</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can you use the structure of the equation to identify the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-intercept?</a:t>
            </a:r>
            <a:endPar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algn="l"/>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68EDEFDF-9DC2-6CA0-B237-D6F5E393C265}"/>
              </a:ext>
            </a:extLst>
          </p:cNvPr>
          <p:cNvSpPr>
            <a:spLocks noGrp="1"/>
          </p:cNvSpPr>
          <p:nvPr>
            <p:ph type="sldNum" sz="quarter" idx="5"/>
          </p:nvPr>
        </p:nvSpPr>
        <p:spPr/>
        <p:txBody>
          <a:bodyPr/>
          <a:lstStyle/>
          <a:p>
            <a:fld id="{BB5E49A5-4136-284D-997B-48E1D791AD67}" type="slidenum">
              <a:rPr lang="en-US" smtClean="0"/>
              <a:t>16</a:t>
            </a:fld>
            <a:endParaRPr lang="en-US"/>
          </a:p>
        </p:txBody>
      </p:sp>
    </p:spTree>
    <p:extLst>
      <p:ext uri="{BB962C8B-B14F-4D97-AF65-F5344CB8AC3E}">
        <p14:creationId xmlns:p14="http://schemas.microsoft.com/office/powerpoint/2010/main" val="211561452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C61552-35B4-44D6-372E-82196E51E4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870247-BD3A-F230-AB7B-648AD27D7CDB}"/>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C13EED3C-C07F-6716-A88C-EBDAF37441F8}"/>
              </a:ext>
            </a:extLst>
          </p:cNvPr>
          <p:cNvSpPr>
            <a:spLocks noGrp="1"/>
          </p:cNvSpPr>
          <p:nvPr>
            <p:ph type="body" idx="1"/>
          </p:nvPr>
        </p:nvSpPr>
        <p:spPr/>
        <p:txBody>
          <a:bodyPr/>
          <a:lstStyle/>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Explain how you determined the value of each characteristic.</a:t>
            </a:r>
            <a:endPar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algn="l"/>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Use substitution to show why the x-intercept is (2, 0).</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can you use the structure of the equation to identify the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-intercept?</a:t>
            </a:r>
            <a:endPar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algn="l"/>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901C1CDC-197B-9A39-74F1-58EC57585777}"/>
              </a:ext>
            </a:extLst>
          </p:cNvPr>
          <p:cNvSpPr>
            <a:spLocks noGrp="1"/>
          </p:cNvSpPr>
          <p:nvPr>
            <p:ph type="sldNum" sz="quarter" idx="5"/>
          </p:nvPr>
        </p:nvSpPr>
        <p:spPr/>
        <p:txBody>
          <a:bodyPr/>
          <a:lstStyle/>
          <a:p>
            <a:fld id="{BB5E49A5-4136-284D-997B-48E1D791AD67}" type="slidenum">
              <a:rPr lang="en-US" smtClean="0"/>
              <a:t>17</a:t>
            </a:fld>
            <a:endParaRPr lang="en-US"/>
          </a:p>
        </p:txBody>
      </p:sp>
    </p:spTree>
    <p:extLst>
      <p:ext uri="{BB962C8B-B14F-4D97-AF65-F5344CB8AC3E}">
        <p14:creationId xmlns:p14="http://schemas.microsoft.com/office/powerpoint/2010/main" val="145763767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6CB019-B8C8-E533-CE99-03972AC6DE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07ECB0-34F5-91BB-300D-5155C1955DC8}"/>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CB2FD550-8173-C40B-B719-795CD7CF0639}"/>
              </a:ext>
            </a:extLst>
          </p:cNvPr>
          <p:cNvSpPr>
            <a:spLocks noGrp="1"/>
          </p:cNvSpPr>
          <p:nvPr>
            <p:ph type="body" idx="1"/>
          </p:nvPr>
        </p:nvSpPr>
        <p:spPr/>
        <p:txBody>
          <a:bodyPr/>
          <a:lstStyle/>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identify the intercepts? The slope?</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Which characteristics of the graph are obvious when the equation is written in this form?</a:t>
            </a:r>
            <a:endPar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A97109F5-861A-97C1-E893-4E8486E5B1CD}"/>
              </a:ext>
            </a:extLst>
          </p:cNvPr>
          <p:cNvSpPr>
            <a:spLocks noGrp="1"/>
          </p:cNvSpPr>
          <p:nvPr>
            <p:ph type="sldNum" sz="quarter" idx="5"/>
          </p:nvPr>
        </p:nvSpPr>
        <p:spPr/>
        <p:txBody>
          <a:bodyPr/>
          <a:lstStyle/>
          <a:p>
            <a:fld id="{BB5E49A5-4136-284D-997B-48E1D791AD67}" type="slidenum">
              <a:rPr lang="en-US" smtClean="0"/>
              <a:t>18</a:t>
            </a:fld>
            <a:endParaRPr lang="en-US"/>
          </a:p>
        </p:txBody>
      </p:sp>
    </p:spTree>
    <p:extLst>
      <p:ext uri="{BB962C8B-B14F-4D97-AF65-F5344CB8AC3E}">
        <p14:creationId xmlns:p14="http://schemas.microsoft.com/office/powerpoint/2010/main" val="363925561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BAB2B6-FE94-BDC0-4B9D-95F92F132D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201FAC-DD88-C7AF-CED2-8EE1A30046B0}"/>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61B3BF9B-745B-7511-02A9-5104FD4F79EE}"/>
              </a:ext>
            </a:extLst>
          </p:cNvPr>
          <p:cNvSpPr>
            <a:spLocks noGrp="1"/>
          </p:cNvSpPr>
          <p:nvPr>
            <p:ph type="body" idx="1"/>
          </p:nvPr>
        </p:nvSpPr>
        <p:spPr/>
        <p:txBody>
          <a:bodyPr/>
          <a:lstStyle/>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identify the intercepts? The slope?</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Which characteristics of the graph are obvious when the equation is written in this form?</a:t>
            </a:r>
            <a:endPar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D0B56976-C360-26CD-3416-9B6AA97EE5C8}"/>
              </a:ext>
            </a:extLst>
          </p:cNvPr>
          <p:cNvSpPr>
            <a:spLocks noGrp="1"/>
          </p:cNvSpPr>
          <p:nvPr>
            <p:ph type="sldNum" sz="quarter" idx="5"/>
          </p:nvPr>
        </p:nvSpPr>
        <p:spPr/>
        <p:txBody>
          <a:bodyPr/>
          <a:lstStyle/>
          <a:p>
            <a:fld id="{BB5E49A5-4136-284D-997B-48E1D791AD67}" type="slidenum">
              <a:rPr lang="en-US" smtClean="0"/>
              <a:t>19</a:t>
            </a:fld>
            <a:endParaRPr lang="en-US"/>
          </a:p>
        </p:txBody>
      </p:sp>
    </p:spTree>
    <p:extLst>
      <p:ext uri="{BB962C8B-B14F-4D97-AF65-F5344CB8AC3E}">
        <p14:creationId xmlns:p14="http://schemas.microsoft.com/office/powerpoint/2010/main" val="75726864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7148B0-0A97-689A-EA46-C388D2FC34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17EC3C-AF65-19F6-6CC8-8ED444D18CE6}"/>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9ABB586A-FA42-CCCF-007A-305396ECC1B2}"/>
              </a:ext>
            </a:extLst>
          </p:cNvPr>
          <p:cNvSpPr>
            <a:spLocks noGrp="1"/>
          </p:cNvSpPr>
          <p:nvPr>
            <p:ph type="body" idx="1"/>
          </p:nvPr>
        </p:nvSpPr>
        <p:spPr/>
        <p:txBody>
          <a:bodyPr/>
          <a:lstStyle/>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What do slope-intercept form and point-slope form have in common?</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Which form can you also refer to as the slope-intercept form? Why?</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can you easily identify the point-slope form of a linear equation?</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Describe the structure of a linear equation in standard form.</a:t>
            </a:r>
            <a:endPar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0374B448-69BC-9E26-EF9A-EA5B353F4D63}"/>
              </a:ext>
            </a:extLst>
          </p:cNvPr>
          <p:cNvSpPr>
            <a:spLocks noGrp="1"/>
          </p:cNvSpPr>
          <p:nvPr>
            <p:ph type="sldNum" sz="quarter" idx="5"/>
          </p:nvPr>
        </p:nvSpPr>
        <p:spPr/>
        <p:txBody>
          <a:bodyPr/>
          <a:lstStyle/>
          <a:p>
            <a:fld id="{BB5E49A5-4136-284D-997B-48E1D791AD67}" type="slidenum">
              <a:rPr lang="en-US" smtClean="0"/>
              <a:t>20</a:t>
            </a:fld>
            <a:endParaRPr lang="en-US"/>
          </a:p>
        </p:txBody>
      </p:sp>
    </p:spTree>
    <p:extLst>
      <p:ext uri="{BB962C8B-B14F-4D97-AF65-F5344CB8AC3E}">
        <p14:creationId xmlns:p14="http://schemas.microsoft.com/office/powerpoint/2010/main" val="21709205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BD3AF8-D892-DB5E-CD60-76DA151302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DDCC418-CFA7-3F0F-D491-62D640EA2FD9}"/>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DCD7A878-A1FF-4D36-2D7C-18D887CD533F}"/>
              </a:ext>
            </a:extLst>
          </p:cNvPr>
          <p:cNvSpPr>
            <a:spLocks noGrp="1"/>
          </p:cNvSpPr>
          <p:nvPr>
            <p:ph type="body" idx="1"/>
          </p:nvPr>
        </p:nvSpPr>
        <p:spPr/>
        <p:txBody>
          <a:bodyPr/>
          <a:lstStyle/>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Show how you applied the same thinking you used in Question 3 to solve for these characteristics.</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can you identify the slope and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-intercept from point-slope form?</a:t>
            </a:r>
          </a:p>
          <a:p>
            <a:pPr algn="l"/>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Reflecting and Justifying:</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For any of these purposes, are there multiple forms of the equation that are equally efficient? Explain your reasoning.</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Which form do you prefer to start with when rewriting an equation in slope-intercept form? point-slope form? standard form?</a:t>
            </a: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1D8D4C66-279F-D0EB-B5AF-D146CED4B4DB}"/>
              </a:ext>
            </a:extLst>
          </p:cNvPr>
          <p:cNvSpPr>
            <a:spLocks noGrp="1"/>
          </p:cNvSpPr>
          <p:nvPr>
            <p:ph type="sldNum" sz="quarter" idx="5"/>
          </p:nvPr>
        </p:nvSpPr>
        <p:spPr/>
        <p:txBody>
          <a:bodyPr/>
          <a:lstStyle/>
          <a:p>
            <a:fld id="{BB5E49A5-4136-284D-997B-48E1D791AD67}" type="slidenum">
              <a:rPr lang="en-US" smtClean="0"/>
              <a:t>21</a:t>
            </a:fld>
            <a:endParaRPr lang="en-US"/>
          </a:p>
        </p:txBody>
      </p:sp>
    </p:spTree>
    <p:extLst>
      <p:ext uri="{BB962C8B-B14F-4D97-AF65-F5344CB8AC3E}">
        <p14:creationId xmlns:p14="http://schemas.microsoft.com/office/powerpoint/2010/main" val="238278945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A4079E-23ED-1D79-0005-7DCEC4FE35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918899-187F-4EE3-CC53-B85C63410E19}"/>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F546BDF9-66EB-8F2F-BAC8-C8B7110CBD07}"/>
              </a:ext>
            </a:extLst>
          </p:cNvPr>
          <p:cNvSpPr>
            <a:spLocks noGrp="1"/>
          </p:cNvSpPr>
          <p:nvPr>
            <p:ph type="body" idx="1"/>
          </p:nvPr>
        </p:nvSpPr>
        <p:spPr/>
        <p:txBody>
          <a:bodyPr/>
          <a:lstStyle/>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Show how you applied the same thinking you used in Question 3 to solve for these characteristics.</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can you identify the slope and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-intercept from point-slope form?</a:t>
            </a:r>
          </a:p>
          <a:p>
            <a:pPr algn="l"/>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Reflecting and Justifying:</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For any of these purposes, are there multiple forms of the equation that are equally efficient? Explain your reasoning.</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Which form do you prefer to start with when rewriting an equation in slope-intercept form? point-slope form? standard form?</a:t>
            </a: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A0748861-217F-C8BC-DD6A-8C5CB9482D51}"/>
              </a:ext>
            </a:extLst>
          </p:cNvPr>
          <p:cNvSpPr>
            <a:spLocks noGrp="1"/>
          </p:cNvSpPr>
          <p:nvPr>
            <p:ph type="sldNum" sz="quarter" idx="5"/>
          </p:nvPr>
        </p:nvSpPr>
        <p:spPr/>
        <p:txBody>
          <a:bodyPr/>
          <a:lstStyle/>
          <a:p>
            <a:fld id="{BB5E49A5-4136-284D-997B-48E1D791AD67}" type="slidenum">
              <a:rPr lang="en-US" smtClean="0"/>
              <a:t>22</a:t>
            </a:fld>
            <a:endParaRPr lang="en-US"/>
          </a:p>
        </p:txBody>
      </p:sp>
    </p:spTree>
    <p:extLst>
      <p:ext uri="{BB962C8B-B14F-4D97-AF65-F5344CB8AC3E}">
        <p14:creationId xmlns:p14="http://schemas.microsoft.com/office/powerpoint/2010/main" val="65973663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874C8B-DD98-6065-D483-8ACA44DB10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4BF4BA-944E-67D8-0130-8A05E61172BF}"/>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22524B0B-D5F4-F893-A3D9-4F477642BE86}"/>
              </a:ext>
            </a:extLst>
          </p:cNvPr>
          <p:cNvSpPr>
            <a:spLocks noGrp="1"/>
          </p:cNvSpPr>
          <p:nvPr>
            <p:ph type="body" idx="1"/>
          </p:nvPr>
        </p:nvSpPr>
        <p:spPr/>
        <p:txBody>
          <a:bodyPr/>
          <a:lstStyle/>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Show how you applied the same thinking you used in Question 3 to solve for these characteristics.</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can you identify the slope and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-intercept from point-slope form?</a:t>
            </a:r>
          </a:p>
          <a:p>
            <a:pPr algn="l"/>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Reflecting and Justifying:</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For any of these purposes, are there multiple forms of the equation that are equally efficient? Explain your reasoning.</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Which form do you prefer to start with when rewriting an equation in slope-intercept form? point-slope form? standard form?</a:t>
            </a: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0A2C0443-5E47-9DA0-6A7B-C78F1D738C1A}"/>
              </a:ext>
            </a:extLst>
          </p:cNvPr>
          <p:cNvSpPr>
            <a:spLocks noGrp="1"/>
          </p:cNvSpPr>
          <p:nvPr>
            <p:ph type="sldNum" sz="quarter" idx="5"/>
          </p:nvPr>
        </p:nvSpPr>
        <p:spPr/>
        <p:txBody>
          <a:bodyPr/>
          <a:lstStyle/>
          <a:p>
            <a:fld id="{BB5E49A5-4136-284D-997B-48E1D791AD67}" type="slidenum">
              <a:rPr lang="en-US" smtClean="0"/>
              <a:t>23</a:t>
            </a:fld>
            <a:endParaRPr lang="en-US"/>
          </a:p>
        </p:txBody>
      </p:sp>
    </p:spTree>
    <p:extLst>
      <p:ext uri="{BB962C8B-B14F-4D97-AF65-F5344CB8AC3E}">
        <p14:creationId xmlns:p14="http://schemas.microsoft.com/office/powerpoint/2010/main" val="58194985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07ABBA-906B-58DE-9348-026EA0B0AD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628CC8-8821-6FC0-6A5B-2F5E7133F5CB}"/>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ECDEC877-F12D-ED56-8455-5EAEEB352E70}"/>
              </a:ext>
            </a:extLst>
          </p:cNvPr>
          <p:cNvSpPr>
            <a:spLocks noGrp="1"/>
          </p:cNvSpPr>
          <p:nvPr>
            <p:ph type="body" idx="1"/>
          </p:nvPr>
        </p:nvSpPr>
        <p:spPr/>
        <p:txBody>
          <a:bodyPr/>
          <a:lstStyle/>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Show how you applied the same thinking you used in Question 3 to solve for these characteristics.</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can you identify the slope and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x</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-intercept from point-slope form?</a:t>
            </a:r>
          </a:p>
          <a:p>
            <a:pPr algn="l"/>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Reflecting and Justifying:</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For any of these purposes, are there multiple forms of the equation that are equally efficient? Explain your reasoning.</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Which form do you prefer to start with when rewriting an equation in slope-intercept form? point-slope form? standard form?</a:t>
            </a: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3D413D1C-1D1F-4269-BE5F-CD9E168F4436}"/>
              </a:ext>
            </a:extLst>
          </p:cNvPr>
          <p:cNvSpPr>
            <a:spLocks noGrp="1"/>
          </p:cNvSpPr>
          <p:nvPr>
            <p:ph type="sldNum" sz="quarter" idx="5"/>
          </p:nvPr>
        </p:nvSpPr>
        <p:spPr/>
        <p:txBody>
          <a:bodyPr/>
          <a:lstStyle/>
          <a:p>
            <a:fld id="{BB5E49A5-4136-284D-997B-48E1D791AD67}" type="slidenum">
              <a:rPr lang="en-US" smtClean="0"/>
              <a:t>24</a:t>
            </a:fld>
            <a:endParaRPr lang="en-US"/>
          </a:p>
        </p:txBody>
      </p:sp>
    </p:spTree>
    <p:extLst>
      <p:ext uri="{BB962C8B-B14F-4D97-AF65-F5344CB8AC3E}">
        <p14:creationId xmlns:p14="http://schemas.microsoft.com/office/powerpoint/2010/main" val="216072414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D5FEDD-2C87-812F-2696-D8F4A3F9DB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33CE13-23C4-C287-9DA9-0097D3016EB7}"/>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D412F287-1A28-0BAE-3F41-374493CD4AEC}"/>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GB" sz="1200" b="1"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Note:</a:t>
            </a:r>
            <a:r>
              <a:rPr lang="en-GB" sz="1200" b="0" dirty="0">
                <a:solidFill>
                  <a:srgbClr val="000000"/>
                </a:solidFill>
                <a:latin typeface="Calibri" panose="020F0502020204030204" pitchFamily="34" charset="0"/>
                <a:ea typeface="Calibri" panose="020F0502020204030204" pitchFamily="34" charset="0"/>
                <a:cs typeface="Calibri" panose="020F0502020204030204" pitchFamily="34" charset="0"/>
                <a:sym typeface="Calibri"/>
              </a:rPr>
              <a:t> To close Day 1 session, have students reread the Essential Question and read the activity summaries to the class.</a:t>
            </a:r>
            <a:endParaRPr lang="en-GB"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Activity 2.1 Summary:</a:t>
            </a:r>
          </a:p>
          <a:p>
            <a:pPr algn="l"/>
            <a:r>
              <a:rPr lang="en-GB"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Slope-intercept form of a linear equation is the most useful form to identify the slope and </a:t>
            </a:r>
            <a:r>
              <a:rPr lang="en-GB"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y</a:t>
            </a:r>
            <a:r>
              <a:rPr lang="en-GB"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-intercept. Point-slope form of a linear equation is the most useful form to identify the slope and a point on the line.</a:t>
            </a:r>
            <a:endPar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48F2803A-B38C-6F69-5BB0-DCEAC411E746}"/>
              </a:ext>
            </a:extLst>
          </p:cNvPr>
          <p:cNvSpPr>
            <a:spLocks noGrp="1"/>
          </p:cNvSpPr>
          <p:nvPr>
            <p:ph type="sldNum" sz="quarter" idx="5"/>
          </p:nvPr>
        </p:nvSpPr>
        <p:spPr/>
        <p:txBody>
          <a:bodyPr/>
          <a:lstStyle/>
          <a:p>
            <a:fld id="{BB5E49A5-4136-284D-997B-48E1D791AD67}" type="slidenum">
              <a:rPr lang="en-US" smtClean="0"/>
              <a:t>25</a:t>
            </a:fld>
            <a:endParaRPr lang="en-US"/>
          </a:p>
        </p:txBody>
      </p:sp>
    </p:spTree>
    <p:extLst>
      <p:ext uri="{BB962C8B-B14F-4D97-AF65-F5344CB8AC3E}">
        <p14:creationId xmlns:p14="http://schemas.microsoft.com/office/powerpoint/2010/main" val="376640119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185C07-9732-2469-0BBC-5BC067DADC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A47D47-CC05-FF4A-A4CA-026F8764DCB4}"/>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3CD531B4-E116-674C-4407-93CEB142AC60}"/>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 </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This slide is blank for optional use with displaying work.</a:t>
            </a:r>
            <a:endParaRPr lang="en-US"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58173702-30E0-8CAD-2D93-F80B5C8EBD41}"/>
              </a:ext>
            </a:extLst>
          </p:cNvPr>
          <p:cNvSpPr>
            <a:spLocks noGrp="1"/>
          </p:cNvSpPr>
          <p:nvPr>
            <p:ph type="sldNum" sz="quarter" idx="5"/>
          </p:nvPr>
        </p:nvSpPr>
        <p:spPr/>
        <p:txBody>
          <a:bodyPr/>
          <a:lstStyle/>
          <a:p>
            <a:fld id="{BB5E49A5-4136-284D-997B-48E1D791AD67}" type="slidenum">
              <a:rPr lang="en-US" smtClean="0"/>
              <a:t>26</a:t>
            </a:fld>
            <a:endParaRPr lang="en-US"/>
          </a:p>
        </p:txBody>
      </p:sp>
    </p:spTree>
    <p:extLst>
      <p:ext uri="{BB962C8B-B14F-4D97-AF65-F5344CB8AC3E}">
        <p14:creationId xmlns:p14="http://schemas.microsoft.com/office/powerpoint/2010/main" val="190489320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Total suggested pacing for Day 2 is 45 minutes.</a:t>
            </a:r>
          </a:p>
        </p:txBody>
      </p:sp>
      <p:sp>
        <p:nvSpPr>
          <p:cNvPr id="4" name="Slide Number Placeholder 3"/>
          <p:cNvSpPr>
            <a:spLocks noGrp="1"/>
          </p:cNvSpPr>
          <p:nvPr>
            <p:ph type="sldNum" sz="quarter" idx="5"/>
          </p:nvPr>
        </p:nvSpPr>
        <p:spPr/>
        <p:txBody>
          <a:bodyPr/>
          <a:lstStyle/>
          <a:p>
            <a:fld id="{BB5E49A5-4136-284D-997B-48E1D791AD67}" type="slidenum">
              <a:rPr lang="en-US" smtClean="0"/>
              <a:t>27</a:t>
            </a:fld>
            <a:endParaRPr lang="en-US"/>
          </a:p>
        </p:txBody>
      </p:sp>
    </p:spTree>
    <p:extLst>
      <p:ext uri="{BB962C8B-B14F-4D97-AF65-F5344CB8AC3E}">
        <p14:creationId xmlns:p14="http://schemas.microsoft.com/office/powerpoint/2010/main" val="338873776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A0F87E-C244-77D8-8B0A-0C8023A6E6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151F0A-D8CB-C977-66AC-DEB6468031FC}"/>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0B8E7409-B6E2-A8C9-C574-5AC4F16313FE}"/>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Note: </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To begin Day 2, have a student read the Essential Question aloud.</a:t>
            </a: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E71F6118-D9CF-08BA-24FA-A78D94EA3E1D}"/>
              </a:ext>
            </a:extLst>
          </p:cNvPr>
          <p:cNvSpPr>
            <a:spLocks noGrp="1"/>
          </p:cNvSpPr>
          <p:nvPr>
            <p:ph type="sldNum" sz="quarter" idx="5"/>
          </p:nvPr>
        </p:nvSpPr>
        <p:spPr/>
        <p:txBody>
          <a:bodyPr/>
          <a:lstStyle/>
          <a:p>
            <a:fld id="{BB5E49A5-4136-284D-997B-48E1D791AD67}" type="slidenum">
              <a:rPr lang="en-US" smtClean="0"/>
              <a:t>28</a:t>
            </a:fld>
            <a:endParaRPr lang="en-US"/>
          </a:p>
        </p:txBody>
      </p:sp>
    </p:spTree>
    <p:extLst>
      <p:ext uri="{BB962C8B-B14F-4D97-AF65-F5344CB8AC3E}">
        <p14:creationId xmlns:p14="http://schemas.microsoft.com/office/powerpoint/2010/main" val="203839308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2EB811-6DC3-20CA-0007-CE7494B737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27FB0C-D583-FB7B-0235-7FA7F06797CE}"/>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DFA8D000-B9D7-29CC-1C97-21315B523876}"/>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Total time of 15-20 minutes allotted for Activity 2.2.</a:t>
            </a:r>
          </a:p>
        </p:txBody>
      </p:sp>
      <p:sp>
        <p:nvSpPr>
          <p:cNvPr id="4" name="Slide Number Placeholder 3">
            <a:extLst>
              <a:ext uri="{FF2B5EF4-FFF2-40B4-BE49-F238E27FC236}">
                <a16:creationId xmlns:a16="http://schemas.microsoft.com/office/drawing/2014/main" id="{84A62837-C1C5-CBA5-1157-16E1C0B3E479}"/>
              </a:ext>
            </a:extLst>
          </p:cNvPr>
          <p:cNvSpPr>
            <a:spLocks noGrp="1"/>
          </p:cNvSpPr>
          <p:nvPr>
            <p:ph type="sldNum" sz="quarter" idx="5"/>
          </p:nvPr>
        </p:nvSpPr>
        <p:spPr/>
        <p:txBody>
          <a:bodyPr/>
          <a:lstStyle/>
          <a:p>
            <a:fld id="{BB5E49A5-4136-284D-997B-48E1D791AD67}" type="slidenum">
              <a:rPr lang="en-US" smtClean="0"/>
              <a:t>29</a:t>
            </a:fld>
            <a:endParaRPr lang="en-US"/>
          </a:p>
        </p:txBody>
      </p:sp>
    </p:spTree>
    <p:extLst>
      <p:ext uri="{BB962C8B-B14F-4D97-AF65-F5344CB8AC3E}">
        <p14:creationId xmlns:p14="http://schemas.microsoft.com/office/powerpoint/2010/main" val="320397870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ADD4BD-3139-C769-4FD3-2F41C3812D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55E484-56DE-5E75-10E1-620E8D5CCE7B}"/>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BB700DC0-BA38-8540-EFC2-9125C527EF0F}"/>
              </a:ext>
            </a:extLst>
          </p:cNvPr>
          <p:cNvSpPr>
            <a:spLocks noGrp="1"/>
          </p:cNvSpPr>
          <p:nvPr>
            <p:ph type="body" idx="1"/>
          </p:nvPr>
        </p:nvSpPr>
        <p:spPr/>
        <p:txBody>
          <a:bodyPr/>
          <a:lstStyle/>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What part of the world measures temperatures using degrees Celsius? Degrees Fahrenheit?</a:t>
            </a:r>
          </a:p>
          <a:p>
            <a:pPr algn="l"/>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can you tell whether an equation is set up to convert from Celsius to Fahrenheit or Fahrenheit to Celsius?</a:t>
            </a: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F1E79CE2-5071-1995-A839-B027AFBA66D8}"/>
              </a:ext>
            </a:extLst>
          </p:cNvPr>
          <p:cNvSpPr>
            <a:spLocks noGrp="1"/>
          </p:cNvSpPr>
          <p:nvPr>
            <p:ph type="sldNum" sz="quarter" idx="5"/>
          </p:nvPr>
        </p:nvSpPr>
        <p:spPr/>
        <p:txBody>
          <a:bodyPr/>
          <a:lstStyle/>
          <a:p>
            <a:fld id="{BB5E49A5-4136-284D-997B-48E1D791AD67}" type="slidenum">
              <a:rPr lang="en-US" smtClean="0"/>
              <a:t>30</a:t>
            </a:fld>
            <a:endParaRPr lang="en-US"/>
          </a:p>
        </p:txBody>
      </p:sp>
    </p:spTree>
    <p:extLst>
      <p:ext uri="{BB962C8B-B14F-4D97-AF65-F5344CB8AC3E}">
        <p14:creationId xmlns:p14="http://schemas.microsoft.com/office/powerpoint/2010/main" val="284525202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7579C3-7CC5-48E4-C0A8-DFA04D8322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3541C4-EB0B-38C4-3E70-D404FE4ECE15}"/>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DB277B01-C91A-F40B-0705-8022051DFE28}"/>
              </a:ext>
            </a:extLst>
          </p:cNvPr>
          <p:cNvSpPr>
            <a:spLocks noGrp="1"/>
          </p:cNvSpPr>
          <p:nvPr>
            <p:ph type="body" idx="1"/>
          </p:nvPr>
        </p:nvSpPr>
        <p:spPr/>
        <p:txBody>
          <a:bodyPr/>
          <a:lstStyle/>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What part of the world measures temperatures using degrees Celsius? Degrees Fahrenheit?</a:t>
            </a:r>
          </a:p>
          <a:p>
            <a:pPr algn="l"/>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can you tell whether an equation is set up to convert from Celsius to Fahrenheit or Fahrenheit to Celsius?</a:t>
            </a: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032166A2-7850-E9ED-322F-E29A0BD71DD0}"/>
              </a:ext>
            </a:extLst>
          </p:cNvPr>
          <p:cNvSpPr>
            <a:spLocks noGrp="1"/>
          </p:cNvSpPr>
          <p:nvPr>
            <p:ph type="sldNum" sz="quarter" idx="5"/>
          </p:nvPr>
        </p:nvSpPr>
        <p:spPr/>
        <p:txBody>
          <a:bodyPr/>
          <a:lstStyle/>
          <a:p>
            <a:fld id="{BB5E49A5-4136-284D-997B-48E1D791AD67}" type="slidenum">
              <a:rPr lang="en-US" smtClean="0"/>
              <a:t>31</a:t>
            </a:fld>
            <a:endParaRPr lang="en-US"/>
          </a:p>
        </p:txBody>
      </p:sp>
    </p:spTree>
    <p:extLst>
      <p:ext uri="{BB962C8B-B14F-4D97-AF65-F5344CB8AC3E}">
        <p14:creationId xmlns:p14="http://schemas.microsoft.com/office/powerpoint/2010/main" val="124049151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848FA9-5C88-3CEE-0424-12F61489DF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C2E861-6E60-94BC-26FA-5726B21233F9}"/>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0753A770-4CBC-F71D-A43B-70241AAE644F}"/>
              </a:ext>
            </a:extLst>
          </p:cNvPr>
          <p:cNvSpPr>
            <a:spLocks noGrp="1"/>
          </p:cNvSpPr>
          <p:nvPr>
            <p:ph type="body" idx="1"/>
          </p:nvPr>
        </p:nvSpPr>
        <p:spPr/>
        <p:txBody>
          <a:bodyPr/>
          <a:lstStyle/>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Explain how you solved for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What is another way?</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What would Jayden’s steps be if he substituted 77 in the original formula?</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Which method do you prefer, substituting the 77 in the original formula and solving the equation or isolating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first and using substitution? Why?</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Why did Isabella multiply both sides by 9?</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Which term did Isabella add to both sides?</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Compare your strategy to Isabella’s strategy.</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Explain the difference in the errors Ethan and Minh made when using the distributive property.</a:t>
            </a:r>
          </a:p>
          <a:p>
            <a:pPr algn="l"/>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Explain how the rewritten formula relates to the original formula.</a:t>
            </a: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Which property did Isabella apply first?</a:t>
            </a: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494A0226-027B-D4C1-4F1D-FF7CCE0399AD}"/>
              </a:ext>
            </a:extLst>
          </p:cNvPr>
          <p:cNvSpPr>
            <a:spLocks noGrp="1"/>
          </p:cNvSpPr>
          <p:nvPr>
            <p:ph type="sldNum" sz="quarter" idx="5"/>
          </p:nvPr>
        </p:nvSpPr>
        <p:spPr/>
        <p:txBody>
          <a:bodyPr/>
          <a:lstStyle/>
          <a:p>
            <a:fld id="{BB5E49A5-4136-284D-997B-48E1D791AD67}" type="slidenum">
              <a:rPr lang="en-US" smtClean="0"/>
              <a:t>32</a:t>
            </a:fld>
            <a:endParaRPr lang="en-US"/>
          </a:p>
        </p:txBody>
      </p:sp>
    </p:spTree>
    <p:extLst>
      <p:ext uri="{BB962C8B-B14F-4D97-AF65-F5344CB8AC3E}">
        <p14:creationId xmlns:p14="http://schemas.microsoft.com/office/powerpoint/2010/main" val="148671034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5C84B5-6DB3-3A06-0BBC-524DB3A0E5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33956C-C300-F356-49DD-E14D3D6260C5}"/>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D33E28C8-4787-E53A-E009-22D1AE51D8FD}"/>
              </a:ext>
            </a:extLst>
          </p:cNvPr>
          <p:cNvSpPr>
            <a:spLocks noGrp="1"/>
          </p:cNvSpPr>
          <p:nvPr>
            <p:ph type="body" idx="1"/>
          </p:nvPr>
        </p:nvSpPr>
        <p:spPr/>
        <p:txBody>
          <a:bodyPr/>
          <a:lstStyle/>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Explain how you solved for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What is another way?</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What would Jayden’s steps be if he substituted 77 in the original formula?</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Which method do you prefer, substituting the 77 in the original formula and solving the equation or isolating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first and using substitution? Why?</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Why did Isabella multiply both sides by 9?</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Which term did Isabella add to both sides?</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Compare your strategy to Isabella’s strategy.</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Explain the difference in the errors Ethan and Minh made when using the distributive property.</a:t>
            </a:r>
          </a:p>
          <a:p>
            <a:pPr algn="l"/>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Explain how the rewritten formula relates to the original formula.</a:t>
            </a: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Which property did Isabella apply first?</a:t>
            </a: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9250FC7D-503B-EED5-3774-539B51851B8B}"/>
              </a:ext>
            </a:extLst>
          </p:cNvPr>
          <p:cNvSpPr>
            <a:spLocks noGrp="1"/>
          </p:cNvSpPr>
          <p:nvPr>
            <p:ph type="sldNum" sz="quarter" idx="5"/>
          </p:nvPr>
        </p:nvSpPr>
        <p:spPr/>
        <p:txBody>
          <a:bodyPr/>
          <a:lstStyle/>
          <a:p>
            <a:fld id="{BB5E49A5-4136-284D-997B-48E1D791AD67}" type="slidenum">
              <a:rPr lang="en-US" smtClean="0"/>
              <a:t>33</a:t>
            </a:fld>
            <a:endParaRPr lang="en-US"/>
          </a:p>
        </p:txBody>
      </p:sp>
    </p:spTree>
    <p:extLst>
      <p:ext uri="{BB962C8B-B14F-4D97-AF65-F5344CB8AC3E}">
        <p14:creationId xmlns:p14="http://schemas.microsoft.com/office/powerpoint/2010/main" val="140106481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694418-DC05-BAB8-C109-A7C875BCF8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96A1F9-C6B2-4715-02D3-F340894F2DB7}"/>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78766C37-66CE-27B2-6444-A613AEAB8CE7}"/>
              </a:ext>
            </a:extLst>
          </p:cNvPr>
          <p:cNvSpPr>
            <a:spLocks noGrp="1"/>
          </p:cNvSpPr>
          <p:nvPr>
            <p:ph type="body" idx="1"/>
          </p:nvPr>
        </p:nvSpPr>
        <p:spPr/>
        <p:txBody>
          <a:bodyPr/>
          <a:lstStyle/>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Explain how you solved for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What is another way?</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What would Jayden’s steps be if he substituted 77 in the original formula?</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Which method do you prefer, substituting the 77 in the original formula and solving the equation or isolating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first and using substitution? Why?</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Why did Isabella multiply both sides by 9?</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Which term did Isabella add to both sides?</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Compare your strategy to Isabella’s strategy.</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Explain the difference in the errors Ethan and Minh made when using the distributive property.</a:t>
            </a:r>
          </a:p>
          <a:p>
            <a:pPr algn="l"/>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Explain how the rewritten formula relates to the original formula.</a:t>
            </a: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Which property did Isabella apply first?</a:t>
            </a: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AD83AB8B-A474-75AA-E76C-8D25141778A8}"/>
              </a:ext>
            </a:extLst>
          </p:cNvPr>
          <p:cNvSpPr>
            <a:spLocks noGrp="1"/>
          </p:cNvSpPr>
          <p:nvPr>
            <p:ph type="sldNum" sz="quarter" idx="5"/>
          </p:nvPr>
        </p:nvSpPr>
        <p:spPr/>
        <p:txBody>
          <a:bodyPr/>
          <a:lstStyle/>
          <a:p>
            <a:fld id="{BB5E49A5-4136-284D-997B-48E1D791AD67}" type="slidenum">
              <a:rPr lang="en-US" smtClean="0"/>
              <a:t>34</a:t>
            </a:fld>
            <a:endParaRPr lang="en-US"/>
          </a:p>
        </p:txBody>
      </p:sp>
    </p:spTree>
    <p:extLst>
      <p:ext uri="{BB962C8B-B14F-4D97-AF65-F5344CB8AC3E}">
        <p14:creationId xmlns:p14="http://schemas.microsoft.com/office/powerpoint/2010/main" val="120178600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AC8E55-9C4E-4300-486B-ECA6C3C2F1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F57A34-8BF0-7E5A-53C5-80ECC8DE389C}"/>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1E6C4400-779C-D57A-E756-742FDD918A80}"/>
              </a:ext>
            </a:extLst>
          </p:cNvPr>
          <p:cNvSpPr>
            <a:spLocks noGrp="1"/>
          </p:cNvSpPr>
          <p:nvPr>
            <p:ph type="body" idx="1"/>
          </p:nvPr>
        </p:nvSpPr>
        <p:spPr/>
        <p:txBody>
          <a:bodyPr/>
          <a:lstStyle/>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Explain how you solved for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What is another way?</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What would Jayden’s steps be if he substituted 77 in the original formula?</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Which method do you prefer, substituting the 77 in the original formula and solving the equation or isolating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first and using substitution? Why?</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Why did Isabella multiply both sides by 9?</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Which term did Isabella add to both sides?</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Compare your strategy to Isabella’s strategy.</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Explain the difference in the errors Ethan and Minh made when using the distributive property.</a:t>
            </a:r>
          </a:p>
          <a:p>
            <a:pPr algn="l"/>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Explain how the rewritten formula relates to the original formula.</a:t>
            </a: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Which property did Isabella apply first?</a:t>
            </a: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E3855461-A84C-A38B-38A0-C9813A6FAFED}"/>
              </a:ext>
            </a:extLst>
          </p:cNvPr>
          <p:cNvSpPr>
            <a:spLocks noGrp="1"/>
          </p:cNvSpPr>
          <p:nvPr>
            <p:ph type="sldNum" sz="quarter" idx="5"/>
          </p:nvPr>
        </p:nvSpPr>
        <p:spPr/>
        <p:txBody>
          <a:bodyPr/>
          <a:lstStyle/>
          <a:p>
            <a:fld id="{BB5E49A5-4136-284D-997B-48E1D791AD67}" type="slidenum">
              <a:rPr lang="en-US" smtClean="0"/>
              <a:t>35</a:t>
            </a:fld>
            <a:endParaRPr lang="en-US"/>
          </a:p>
        </p:txBody>
      </p:sp>
    </p:spTree>
    <p:extLst>
      <p:ext uri="{BB962C8B-B14F-4D97-AF65-F5344CB8AC3E}">
        <p14:creationId xmlns:p14="http://schemas.microsoft.com/office/powerpoint/2010/main" val="32093357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CD2F95-BE61-B164-47AA-049CEB6A44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2807BB-83F6-7070-295C-527C641614A6}"/>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B06567AD-C61E-C52B-2E65-E1EAB325649A}"/>
              </a:ext>
            </a:extLst>
          </p:cNvPr>
          <p:cNvSpPr>
            <a:spLocks noGrp="1"/>
          </p:cNvSpPr>
          <p:nvPr>
            <p:ph type="body" idx="1"/>
          </p:nvPr>
        </p:nvSpPr>
        <p:spPr/>
        <p:txBody>
          <a:bodyPr/>
          <a:lstStyle/>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Explain how you solved for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What is another way?</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What would Jayden’s steps be if he substituted 77 in the original formula?</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Which method do you prefer, substituting the 77 in the original formula and solving the equation or isolating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F</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first and using substitution? Why?</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Why did Isabella multiply both sides by 9?</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Which term did Isabella add to both sides?</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Compare your strategy to Isabella’s strategy.</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Explain the difference in the errors Ethan and Minh made when using the distributive property.</a:t>
            </a:r>
          </a:p>
          <a:p>
            <a:pPr algn="l"/>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Explain how the rewritten formula relates to the original formula.</a:t>
            </a: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Which property did Isabella apply first?</a:t>
            </a: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B4C856F7-470E-DFB6-FA06-A3F5F3EF466A}"/>
              </a:ext>
            </a:extLst>
          </p:cNvPr>
          <p:cNvSpPr>
            <a:spLocks noGrp="1"/>
          </p:cNvSpPr>
          <p:nvPr>
            <p:ph type="sldNum" sz="quarter" idx="5"/>
          </p:nvPr>
        </p:nvSpPr>
        <p:spPr/>
        <p:txBody>
          <a:bodyPr/>
          <a:lstStyle/>
          <a:p>
            <a:fld id="{BB5E49A5-4136-284D-997B-48E1D791AD67}" type="slidenum">
              <a:rPr lang="en-US" smtClean="0"/>
              <a:t>36</a:t>
            </a:fld>
            <a:endParaRPr lang="en-US"/>
          </a:p>
        </p:txBody>
      </p:sp>
    </p:spTree>
    <p:extLst>
      <p:ext uri="{BB962C8B-B14F-4D97-AF65-F5344CB8AC3E}">
        <p14:creationId xmlns:p14="http://schemas.microsoft.com/office/powerpoint/2010/main" val="32860291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101269-A9A8-2726-5BC4-35B4E7625F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6B835F-AC1E-040A-C050-B95DC5D21FB3}"/>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63C732EF-EC33-5FAA-ABC3-537084BC832D}"/>
              </a:ext>
            </a:extLst>
          </p:cNvPr>
          <p:cNvSpPr>
            <a:spLocks noGrp="1"/>
          </p:cNvSpPr>
          <p:nvPr>
            <p:ph type="body" idx="1"/>
          </p:nvPr>
        </p:nvSpPr>
        <p:spPr/>
        <p:txBody>
          <a:bodyPr/>
          <a:lstStyle/>
          <a:p>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DE99792A-295F-2074-C3AA-7CF4DFEEBEFC}"/>
              </a:ext>
            </a:extLst>
          </p:cNvPr>
          <p:cNvSpPr>
            <a:spLocks noGrp="1"/>
          </p:cNvSpPr>
          <p:nvPr>
            <p:ph type="sldNum" sz="quarter" idx="5"/>
          </p:nvPr>
        </p:nvSpPr>
        <p:spPr/>
        <p:txBody>
          <a:bodyPr/>
          <a:lstStyle/>
          <a:p>
            <a:fld id="{BB5E49A5-4136-284D-997B-48E1D791AD67}" type="slidenum">
              <a:rPr lang="en-US" smtClean="0"/>
              <a:t>37</a:t>
            </a:fld>
            <a:endParaRPr lang="en-US"/>
          </a:p>
        </p:txBody>
      </p:sp>
    </p:spTree>
    <p:extLst>
      <p:ext uri="{BB962C8B-B14F-4D97-AF65-F5344CB8AC3E}">
        <p14:creationId xmlns:p14="http://schemas.microsoft.com/office/powerpoint/2010/main" val="105760313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51509C-0B90-194E-1AA9-36D0EFD012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C6400A-AA4D-AD52-6937-2D8A0B01FB79}"/>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0E1645DE-E5FB-6DC3-C9CF-F7B7F4E594DE}"/>
              </a:ext>
            </a:extLst>
          </p:cNvPr>
          <p:cNvSpPr>
            <a:spLocks noGrp="1"/>
          </p:cNvSpPr>
          <p:nvPr>
            <p:ph type="body" idx="1"/>
          </p:nvPr>
        </p:nvSpPr>
        <p:spPr/>
        <p:txBody>
          <a:bodyPr/>
          <a:lstStyle/>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Determine the forms of the equations.</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What is the form of this equation?</a:t>
            </a:r>
          </a:p>
          <a:p>
            <a:pPr algn="l"/>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Are the equations in the Worked Example and what you wrote in Question 4 equivalent?</a:t>
            </a: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DEC4766D-AFF7-36E8-ABE0-105DEB9C6ADA}"/>
              </a:ext>
            </a:extLst>
          </p:cNvPr>
          <p:cNvSpPr>
            <a:spLocks noGrp="1"/>
          </p:cNvSpPr>
          <p:nvPr>
            <p:ph type="sldNum" sz="quarter" idx="5"/>
          </p:nvPr>
        </p:nvSpPr>
        <p:spPr/>
        <p:txBody>
          <a:bodyPr/>
          <a:lstStyle/>
          <a:p>
            <a:fld id="{BB5E49A5-4136-284D-997B-48E1D791AD67}" type="slidenum">
              <a:rPr lang="en-US" smtClean="0"/>
              <a:t>38</a:t>
            </a:fld>
            <a:endParaRPr lang="en-US"/>
          </a:p>
        </p:txBody>
      </p:sp>
    </p:spTree>
    <p:extLst>
      <p:ext uri="{BB962C8B-B14F-4D97-AF65-F5344CB8AC3E}">
        <p14:creationId xmlns:p14="http://schemas.microsoft.com/office/powerpoint/2010/main" val="157925331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0EA691-2F89-A81B-7A67-8938DAAC27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7E12E7-279D-79F8-DF0B-A32BBD16B65C}"/>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C4254B2A-785A-B3FD-7C05-89F548C56143}"/>
              </a:ext>
            </a:extLst>
          </p:cNvPr>
          <p:cNvSpPr>
            <a:spLocks noGrp="1"/>
          </p:cNvSpPr>
          <p:nvPr>
            <p:ph type="body" idx="1"/>
          </p:nvPr>
        </p:nvSpPr>
        <p:spPr/>
        <p:txBody>
          <a:bodyPr/>
          <a:lstStyle/>
          <a:p>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Activity 2.2 Summary:</a:t>
            </a:r>
          </a:p>
          <a:p>
            <a:pPr algn="l"/>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 formula that includes more than one variable may be rewritten to isolate a different variable in the formula for efficiency in solving problems.</a:t>
            </a:r>
            <a:endPar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9FA98976-EB83-8832-DF70-35DA7377D3B1}"/>
              </a:ext>
            </a:extLst>
          </p:cNvPr>
          <p:cNvSpPr>
            <a:spLocks noGrp="1"/>
          </p:cNvSpPr>
          <p:nvPr>
            <p:ph type="sldNum" sz="quarter" idx="5"/>
          </p:nvPr>
        </p:nvSpPr>
        <p:spPr/>
        <p:txBody>
          <a:bodyPr/>
          <a:lstStyle/>
          <a:p>
            <a:fld id="{BB5E49A5-4136-284D-997B-48E1D791AD67}" type="slidenum">
              <a:rPr lang="en-US" smtClean="0"/>
              <a:t>39</a:t>
            </a:fld>
            <a:endParaRPr lang="en-US"/>
          </a:p>
        </p:txBody>
      </p:sp>
    </p:spTree>
    <p:extLst>
      <p:ext uri="{BB962C8B-B14F-4D97-AF65-F5344CB8AC3E}">
        <p14:creationId xmlns:p14="http://schemas.microsoft.com/office/powerpoint/2010/main" val="260660818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7E675E-FE57-06AF-033A-09D267261E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9DB9E1-6E66-9A66-65BA-2799F8299023}"/>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A8ED38E6-2EEC-4220-90D1-8DFA9FA728BA}"/>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 </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This slide is blank for optional use with displaying work.</a:t>
            </a:r>
            <a:endParaRPr lang="en-US"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59A261C2-F75B-2F1E-9A13-A1E2EA72A74B}"/>
              </a:ext>
            </a:extLst>
          </p:cNvPr>
          <p:cNvSpPr>
            <a:spLocks noGrp="1"/>
          </p:cNvSpPr>
          <p:nvPr>
            <p:ph type="sldNum" sz="quarter" idx="5"/>
          </p:nvPr>
        </p:nvSpPr>
        <p:spPr/>
        <p:txBody>
          <a:bodyPr/>
          <a:lstStyle/>
          <a:p>
            <a:fld id="{BB5E49A5-4136-284D-997B-48E1D791AD67}" type="slidenum">
              <a:rPr lang="en-US" smtClean="0"/>
              <a:t>40</a:t>
            </a:fld>
            <a:endParaRPr lang="en-US"/>
          </a:p>
        </p:txBody>
      </p:sp>
    </p:spTree>
    <p:extLst>
      <p:ext uri="{BB962C8B-B14F-4D97-AF65-F5344CB8AC3E}">
        <p14:creationId xmlns:p14="http://schemas.microsoft.com/office/powerpoint/2010/main" val="351750944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9C29BE-DA97-11A0-3EB1-6C005A7A5D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DB7427-B48E-D0CA-1EA0-3A5DA566B587}"/>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868C0DBF-F75A-266F-1F38-1EB672C1ACB2}"/>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Total time of 15-20 minutes allotted for Activity 2.3.</a:t>
            </a:r>
          </a:p>
        </p:txBody>
      </p:sp>
      <p:sp>
        <p:nvSpPr>
          <p:cNvPr id="4" name="Slide Number Placeholder 3">
            <a:extLst>
              <a:ext uri="{FF2B5EF4-FFF2-40B4-BE49-F238E27FC236}">
                <a16:creationId xmlns:a16="http://schemas.microsoft.com/office/drawing/2014/main" id="{96CF6A8B-1442-11F9-C260-990C90C552ED}"/>
              </a:ext>
            </a:extLst>
          </p:cNvPr>
          <p:cNvSpPr>
            <a:spLocks noGrp="1"/>
          </p:cNvSpPr>
          <p:nvPr>
            <p:ph type="sldNum" sz="quarter" idx="5"/>
          </p:nvPr>
        </p:nvSpPr>
        <p:spPr/>
        <p:txBody>
          <a:bodyPr/>
          <a:lstStyle/>
          <a:p>
            <a:fld id="{BB5E49A5-4136-284D-997B-48E1D791AD67}" type="slidenum">
              <a:rPr lang="en-US" smtClean="0"/>
              <a:t>41</a:t>
            </a:fld>
            <a:endParaRPr lang="en-US"/>
          </a:p>
        </p:txBody>
      </p:sp>
    </p:spTree>
    <p:extLst>
      <p:ext uri="{BB962C8B-B14F-4D97-AF65-F5344CB8AC3E}">
        <p14:creationId xmlns:p14="http://schemas.microsoft.com/office/powerpoint/2010/main" val="290611585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A53B9A-7F7B-309F-4B6E-541EA58037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B890CF-CD23-953D-597A-EF1A7CE02B31}"/>
              </a:ext>
            </a:extLst>
          </p:cNvPr>
          <p:cNvSpPr>
            <a:spLocks noGrp="1" noRot="1" noChangeAspect="1"/>
          </p:cNvSpPr>
          <p:nvPr>
            <p:ph type="sldImg"/>
          </p:nvPr>
        </p:nvSpPr>
        <p:spPr>
          <a:xfrm>
            <a:off x="382588" y="685800"/>
            <a:ext cx="6092825" cy="3429000"/>
          </a:xfrm>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16AB98C5-0378-312A-2A33-D85A270849F4}"/>
                  </a:ext>
                </a:extLst>
              </p:cNvPr>
              <p:cNvSpPr>
                <a:spLocks noGrp="1"/>
              </p:cNvSpPr>
              <p:nvPr>
                <p:ph type="body" idx="1"/>
              </p:nvPr>
            </p:nvSpPr>
            <p:spPr/>
            <p:txBody>
              <a:bodyPr/>
              <a:lstStyle/>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Explain how you solved for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What variables represent the area of the base?</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solve for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What is the result of </a:t>
                </a:r>
                <a14:m>
                  <m:oMath xmlns:m="http://schemas.openxmlformats.org/officeDocument/2006/math">
                    <m:f>
                      <m:fPr>
                        <m:ctrlPr>
                          <a:rPr lang="en-US" sz="1200" b="0" i="1" u="none" strike="noStrike" kern="1200"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ctrlPr>
                      </m:fPr>
                      <m:num>
                        <m:r>
                          <m:rPr>
                            <m:sty m:val="p"/>
                          </m:rPr>
                          <a:rPr lang="en-US" sz="1200" b="0" i="0" u="none" strike="noStrike" kern="1200"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units</m:t>
                        </m:r>
                        <m:r>
                          <a:rPr lang="en-US" sz="1200" b="0" i="0" u="none" strike="noStrike" kern="1200" baseline="30000" smtClean="0">
                            <a:solidFill>
                              <a:srgbClr val="000000"/>
                            </a:solidFill>
                            <a:latin typeface="Cambria Math" panose="02040503050406030204" pitchFamily="18" charset="0"/>
                            <a:ea typeface="Calibri" panose="020F0502020204030204" pitchFamily="34" charset="0"/>
                            <a:cs typeface="Calibri" panose="020F0502020204030204" pitchFamily="34" charset="0"/>
                          </a:rPr>
                          <m:t>3</m:t>
                        </m:r>
                      </m:num>
                      <m:den>
                        <m:r>
                          <m:rPr>
                            <m:sty m:val="p"/>
                          </m:rPr>
                          <a:rPr lang="en-IN" sz="1200" b="0" i="0" u="none" strike="noStrike" kern="1200"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units</m:t>
                        </m:r>
                        <m:r>
                          <a:rPr lang="en-IN" sz="1200" b="0" i="0" u="none" strike="noStrike" kern="1200" baseline="30000" smtClean="0">
                            <a:solidFill>
                              <a:srgbClr val="000000"/>
                            </a:solidFill>
                            <a:latin typeface="Cambria Math" panose="02040503050406030204" pitchFamily="18" charset="0"/>
                            <a:ea typeface="Calibri" panose="020F0502020204030204" pitchFamily="34" charset="0"/>
                            <a:cs typeface="Calibri" panose="020F0502020204030204" pitchFamily="34" charset="0"/>
                          </a:rPr>
                          <m:t>2</m:t>
                        </m:r>
                      </m:den>
                    </m:f>
                  </m:oMath>
                </a14:m>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t>
                </a:r>
              </a:p>
              <a:p>
                <a:pPr algn="l"/>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What are the units for the volume?</a:t>
                </a: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 name="Notes Placeholder 2">
                <a:extLst>
                  <a:ext uri="{FF2B5EF4-FFF2-40B4-BE49-F238E27FC236}">
                    <a16:creationId xmlns:a16="http://schemas.microsoft.com/office/drawing/2014/main" id="{16AB98C5-0378-312A-2A33-D85A270849F4}"/>
                  </a:ext>
                </a:extLst>
              </p:cNvPr>
              <p:cNvSpPr>
                <a:spLocks noGrp="1"/>
              </p:cNvSpPr>
              <p:nvPr>
                <p:ph type="body" idx="1"/>
              </p:nvPr>
            </p:nvSpPr>
            <p:spPr/>
            <p:txBody>
              <a:bodyPr/>
              <a:lstStyle/>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Explain how you solved for h.</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What variables represent the area of the base?</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solve for h?</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What is the result of </a:t>
                </a:r>
                <a:r>
                  <a:rPr lang="en-US" sz="1200" b="0" i="0" u="none" strike="noStrike" kern="1200" baseline="0">
                    <a:solidFill>
                      <a:srgbClr val="000000"/>
                    </a:solidFill>
                    <a:latin typeface="Cambria Math" panose="02040503050406030204" pitchFamily="18" charset="0"/>
                    <a:ea typeface="Calibri" panose="020F0502020204030204" pitchFamily="34" charset="0"/>
                    <a:cs typeface="Calibri" panose="020F0502020204030204" pitchFamily="34" charset="0"/>
                  </a:rPr>
                  <a:t>units</a:t>
                </a:r>
                <a:r>
                  <a:rPr lang="en-US" sz="1200" b="0" i="0" u="none" strike="noStrike" kern="1200" baseline="30000">
                    <a:solidFill>
                      <a:srgbClr val="000000"/>
                    </a:solidFill>
                    <a:latin typeface="Cambria Math" panose="02040503050406030204" pitchFamily="18" charset="0"/>
                    <a:ea typeface="Calibri" panose="020F0502020204030204" pitchFamily="34" charset="0"/>
                    <a:cs typeface="Calibri" panose="020F0502020204030204" pitchFamily="34" charset="0"/>
                  </a:rPr>
                  <a:t>3</a:t>
                </a:r>
                <a:r>
                  <a:rPr lang="en-US" sz="1200" b="0" i="0" u="none" strike="noStrike" kern="1200" baseline="0">
                    <a:solidFill>
                      <a:srgbClr val="000000"/>
                    </a:solidFill>
                    <a:latin typeface="Cambria Math" panose="02040503050406030204" pitchFamily="18" charset="0"/>
                    <a:ea typeface="Calibri" panose="020F0502020204030204" pitchFamily="34" charset="0"/>
                    <a:cs typeface="Calibri" panose="020F0502020204030204" pitchFamily="34" charset="0"/>
                  </a:rPr>
                  <a:t>/</a:t>
                </a:r>
                <a:r>
                  <a:rPr lang="en-IN" sz="1200" b="0" i="0" u="none" strike="noStrike" kern="1200" baseline="0">
                    <a:solidFill>
                      <a:srgbClr val="000000"/>
                    </a:solidFill>
                    <a:latin typeface="Cambria Math" panose="02040503050406030204" pitchFamily="18" charset="0"/>
                    <a:ea typeface="Calibri" panose="020F0502020204030204" pitchFamily="34" charset="0"/>
                    <a:cs typeface="Calibri" panose="020F0502020204030204" pitchFamily="34" charset="0"/>
                  </a:rPr>
                  <a:t>units</a:t>
                </a:r>
                <a:r>
                  <a:rPr lang="en-IN" sz="1200" b="0" i="0" u="none" strike="noStrike" kern="1200" baseline="30000">
                    <a:solidFill>
                      <a:srgbClr val="000000"/>
                    </a:solidFill>
                    <a:latin typeface="Cambria Math" panose="02040503050406030204" pitchFamily="18" charset="0"/>
                    <a:ea typeface="Calibri" panose="020F0502020204030204" pitchFamily="34" charset="0"/>
                    <a:cs typeface="Calibri" panose="020F0502020204030204" pitchFamily="34" charset="0"/>
                  </a:rPr>
                  <a:t>2</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t>
                </a:r>
              </a:p>
              <a:p>
                <a:pPr algn="l"/>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What are the units for the volume?</a:t>
                </a: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mc:Fallback>
      </mc:AlternateContent>
      <p:sp>
        <p:nvSpPr>
          <p:cNvPr id="4" name="Slide Number Placeholder 3">
            <a:extLst>
              <a:ext uri="{FF2B5EF4-FFF2-40B4-BE49-F238E27FC236}">
                <a16:creationId xmlns:a16="http://schemas.microsoft.com/office/drawing/2014/main" id="{DFA10A11-FF05-4B3E-53BC-2736189589C2}"/>
              </a:ext>
            </a:extLst>
          </p:cNvPr>
          <p:cNvSpPr>
            <a:spLocks noGrp="1"/>
          </p:cNvSpPr>
          <p:nvPr>
            <p:ph type="sldNum" sz="quarter" idx="5"/>
          </p:nvPr>
        </p:nvSpPr>
        <p:spPr/>
        <p:txBody>
          <a:bodyPr/>
          <a:lstStyle/>
          <a:p>
            <a:fld id="{BB5E49A5-4136-284D-997B-48E1D791AD67}" type="slidenum">
              <a:rPr lang="en-US" smtClean="0"/>
              <a:t>42</a:t>
            </a:fld>
            <a:endParaRPr lang="en-US"/>
          </a:p>
        </p:txBody>
      </p:sp>
    </p:spTree>
    <p:extLst>
      <p:ext uri="{BB962C8B-B14F-4D97-AF65-F5344CB8AC3E}">
        <p14:creationId xmlns:p14="http://schemas.microsoft.com/office/powerpoint/2010/main" val="319855128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660265-86AE-34AC-9AC9-FFCFFDDFD6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D23895-CDC0-2BC6-9188-80E8AC090C77}"/>
              </a:ext>
            </a:extLst>
          </p:cNvPr>
          <p:cNvSpPr>
            <a:spLocks noGrp="1" noRot="1" noChangeAspect="1"/>
          </p:cNvSpPr>
          <p:nvPr>
            <p:ph type="sldImg"/>
          </p:nvPr>
        </p:nvSpPr>
        <p:spPr>
          <a:xfrm>
            <a:off x="382588" y="685800"/>
            <a:ext cx="6092825" cy="3429000"/>
          </a:xfrm>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8426DDA0-D267-D467-46BA-1713E9F06787}"/>
                  </a:ext>
                </a:extLst>
              </p:cNvPr>
              <p:cNvSpPr>
                <a:spLocks noGrp="1"/>
              </p:cNvSpPr>
              <p:nvPr>
                <p:ph type="body" idx="1"/>
              </p:nvPr>
            </p:nvSpPr>
            <p:spPr/>
            <p:txBody>
              <a:bodyPr/>
              <a:lstStyle/>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Explain how you solved for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What variables represent the area of the base?</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solve for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What is the result of </a:t>
                </a:r>
                <a14:m>
                  <m:oMath xmlns:m="http://schemas.openxmlformats.org/officeDocument/2006/math">
                    <m:f>
                      <m:fPr>
                        <m:ctrlPr>
                          <a:rPr lang="en-US" sz="1200" b="0" i="1" u="none" strike="noStrike" kern="1200"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ctrlPr>
                      </m:fPr>
                      <m:num>
                        <m:r>
                          <m:rPr>
                            <m:sty m:val="p"/>
                          </m:rPr>
                          <a:rPr lang="en-US" sz="1200" b="0" i="0" u="none" strike="noStrike" kern="1200"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units</m:t>
                        </m:r>
                        <m:r>
                          <a:rPr lang="en-US" sz="1200" b="0" i="0" u="none" strike="noStrike" kern="1200" baseline="30000" smtClean="0">
                            <a:solidFill>
                              <a:srgbClr val="000000"/>
                            </a:solidFill>
                            <a:latin typeface="Cambria Math" panose="02040503050406030204" pitchFamily="18" charset="0"/>
                            <a:ea typeface="Calibri" panose="020F0502020204030204" pitchFamily="34" charset="0"/>
                            <a:cs typeface="Calibri" panose="020F0502020204030204" pitchFamily="34" charset="0"/>
                          </a:rPr>
                          <m:t>3</m:t>
                        </m:r>
                      </m:num>
                      <m:den>
                        <m:r>
                          <m:rPr>
                            <m:sty m:val="p"/>
                          </m:rPr>
                          <a:rPr lang="en-IN" sz="1200" b="0" i="0" u="none" strike="noStrike" kern="1200"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units</m:t>
                        </m:r>
                        <m:r>
                          <a:rPr lang="en-IN" sz="1200" b="0" i="0" u="none" strike="noStrike" kern="1200" baseline="30000" smtClean="0">
                            <a:solidFill>
                              <a:srgbClr val="000000"/>
                            </a:solidFill>
                            <a:latin typeface="Cambria Math" panose="02040503050406030204" pitchFamily="18" charset="0"/>
                            <a:ea typeface="Calibri" panose="020F0502020204030204" pitchFamily="34" charset="0"/>
                            <a:cs typeface="Calibri" panose="020F0502020204030204" pitchFamily="34" charset="0"/>
                          </a:rPr>
                          <m:t>2</m:t>
                        </m:r>
                      </m:den>
                    </m:f>
                  </m:oMath>
                </a14:m>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t>
                </a:r>
              </a:p>
              <a:p>
                <a:pPr algn="l"/>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What are the units for the volume?</a:t>
                </a: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 name="Notes Placeholder 2">
                <a:extLst>
                  <a:ext uri="{FF2B5EF4-FFF2-40B4-BE49-F238E27FC236}">
                    <a16:creationId xmlns:a16="http://schemas.microsoft.com/office/drawing/2014/main" id="{8426DDA0-D267-D467-46BA-1713E9F06787}"/>
                  </a:ext>
                </a:extLst>
              </p:cNvPr>
              <p:cNvSpPr>
                <a:spLocks noGrp="1"/>
              </p:cNvSpPr>
              <p:nvPr>
                <p:ph type="body" idx="1"/>
              </p:nvPr>
            </p:nvSpPr>
            <p:spPr/>
            <p:txBody>
              <a:bodyPr/>
              <a:lstStyle/>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Explain how you solved for h.</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What variables represent the area of the base?</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solve for h?</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What is the result of </a:t>
                </a:r>
                <a:r>
                  <a:rPr lang="en-US" sz="1200" b="0" i="0" u="none" strike="noStrike" kern="1200" baseline="0">
                    <a:solidFill>
                      <a:srgbClr val="000000"/>
                    </a:solidFill>
                    <a:latin typeface="Cambria Math" panose="02040503050406030204" pitchFamily="18" charset="0"/>
                    <a:ea typeface="Calibri" panose="020F0502020204030204" pitchFamily="34" charset="0"/>
                    <a:cs typeface="Calibri" panose="020F0502020204030204" pitchFamily="34" charset="0"/>
                  </a:rPr>
                  <a:t>units</a:t>
                </a:r>
                <a:r>
                  <a:rPr lang="en-US" sz="1200" b="0" i="0" u="none" strike="noStrike" kern="1200" baseline="30000">
                    <a:solidFill>
                      <a:srgbClr val="000000"/>
                    </a:solidFill>
                    <a:latin typeface="Cambria Math" panose="02040503050406030204" pitchFamily="18" charset="0"/>
                    <a:ea typeface="Calibri" panose="020F0502020204030204" pitchFamily="34" charset="0"/>
                    <a:cs typeface="Calibri" panose="020F0502020204030204" pitchFamily="34" charset="0"/>
                  </a:rPr>
                  <a:t>3</a:t>
                </a:r>
                <a:r>
                  <a:rPr lang="en-US" sz="1200" b="0" i="0" u="none" strike="noStrike" kern="1200" baseline="0">
                    <a:solidFill>
                      <a:srgbClr val="000000"/>
                    </a:solidFill>
                    <a:latin typeface="Cambria Math" panose="02040503050406030204" pitchFamily="18" charset="0"/>
                    <a:ea typeface="Calibri" panose="020F0502020204030204" pitchFamily="34" charset="0"/>
                    <a:cs typeface="Calibri" panose="020F0502020204030204" pitchFamily="34" charset="0"/>
                  </a:rPr>
                  <a:t>/</a:t>
                </a:r>
                <a:r>
                  <a:rPr lang="en-IN" sz="1200" b="0" i="0" u="none" strike="noStrike" kern="1200" baseline="0">
                    <a:solidFill>
                      <a:srgbClr val="000000"/>
                    </a:solidFill>
                    <a:latin typeface="Cambria Math" panose="02040503050406030204" pitchFamily="18" charset="0"/>
                    <a:ea typeface="Calibri" panose="020F0502020204030204" pitchFamily="34" charset="0"/>
                    <a:cs typeface="Calibri" panose="020F0502020204030204" pitchFamily="34" charset="0"/>
                  </a:rPr>
                  <a:t>units</a:t>
                </a:r>
                <a:r>
                  <a:rPr lang="en-IN" sz="1200" b="0" i="0" u="none" strike="noStrike" kern="1200" baseline="30000">
                    <a:solidFill>
                      <a:srgbClr val="000000"/>
                    </a:solidFill>
                    <a:latin typeface="Cambria Math" panose="02040503050406030204" pitchFamily="18" charset="0"/>
                    <a:ea typeface="Calibri" panose="020F0502020204030204" pitchFamily="34" charset="0"/>
                    <a:cs typeface="Calibri" panose="020F0502020204030204" pitchFamily="34" charset="0"/>
                  </a:rPr>
                  <a:t>2</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t>
                </a:r>
              </a:p>
              <a:p>
                <a:pPr algn="l"/>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What are the units for the volume?</a:t>
                </a: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mc:Fallback>
      </mc:AlternateContent>
      <p:sp>
        <p:nvSpPr>
          <p:cNvPr id="4" name="Slide Number Placeholder 3">
            <a:extLst>
              <a:ext uri="{FF2B5EF4-FFF2-40B4-BE49-F238E27FC236}">
                <a16:creationId xmlns:a16="http://schemas.microsoft.com/office/drawing/2014/main" id="{60A8F7C5-D0B4-704D-5CFA-9545596EBA03}"/>
              </a:ext>
            </a:extLst>
          </p:cNvPr>
          <p:cNvSpPr>
            <a:spLocks noGrp="1"/>
          </p:cNvSpPr>
          <p:nvPr>
            <p:ph type="sldNum" sz="quarter" idx="5"/>
          </p:nvPr>
        </p:nvSpPr>
        <p:spPr/>
        <p:txBody>
          <a:bodyPr/>
          <a:lstStyle/>
          <a:p>
            <a:fld id="{BB5E49A5-4136-284D-997B-48E1D791AD67}" type="slidenum">
              <a:rPr lang="en-US" smtClean="0"/>
              <a:t>43</a:t>
            </a:fld>
            <a:endParaRPr lang="en-US"/>
          </a:p>
        </p:txBody>
      </p:sp>
    </p:spTree>
    <p:extLst>
      <p:ext uri="{BB962C8B-B14F-4D97-AF65-F5344CB8AC3E}">
        <p14:creationId xmlns:p14="http://schemas.microsoft.com/office/powerpoint/2010/main" val="407396034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5C43F7-1B82-C037-36E3-B3A4E62F2C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5C5E5F-85A5-D2AE-B33C-E6C5524EF0EE}"/>
              </a:ext>
            </a:extLst>
          </p:cNvPr>
          <p:cNvSpPr>
            <a:spLocks noGrp="1" noRot="1" noChangeAspect="1"/>
          </p:cNvSpPr>
          <p:nvPr>
            <p:ph type="sldImg"/>
          </p:nvPr>
        </p:nvSpPr>
        <p:spPr>
          <a:xfrm>
            <a:off x="382588" y="685800"/>
            <a:ext cx="6092825" cy="3429000"/>
          </a:xfrm>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3262FCCC-BCBD-366F-053A-C765E223D445}"/>
                  </a:ext>
                </a:extLst>
              </p:cNvPr>
              <p:cNvSpPr>
                <a:spLocks noGrp="1"/>
              </p:cNvSpPr>
              <p:nvPr>
                <p:ph type="body" idx="1"/>
              </p:nvPr>
            </p:nvSpPr>
            <p:spPr/>
            <p:txBody>
              <a:bodyPr/>
              <a:lstStyle/>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Explain how you solved for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What variables represent the area of the base?</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solve for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What is the result of </a:t>
                </a:r>
                <a14:m>
                  <m:oMath xmlns:m="http://schemas.openxmlformats.org/officeDocument/2006/math">
                    <m:f>
                      <m:fPr>
                        <m:ctrlPr>
                          <a:rPr lang="en-US" sz="1200" b="0" i="1" u="none" strike="noStrike" kern="1200"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ctrlPr>
                      </m:fPr>
                      <m:num>
                        <m:r>
                          <m:rPr>
                            <m:sty m:val="p"/>
                          </m:rPr>
                          <a:rPr lang="en-US" sz="1200" b="0" i="0" u="none" strike="noStrike" kern="1200"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units</m:t>
                        </m:r>
                        <m:r>
                          <a:rPr lang="en-US" sz="1200" b="0" i="0" u="none" strike="noStrike" kern="1200" baseline="30000" smtClean="0">
                            <a:solidFill>
                              <a:srgbClr val="000000"/>
                            </a:solidFill>
                            <a:latin typeface="Cambria Math" panose="02040503050406030204" pitchFamily="18" charset="0"/>
                            <a:ea typeface="Calibri" panose="020F0502020204030204" pitchFamily="34" charset="0"/>
                            <a:cs typeface="Calibri" panose="020F0502020204030204" pitchFamily="34" charset="0"/>
                          </a:rPr>
                          <m:t>3</m:t>
                        </m:r>
                      </m:num>
                      <m:den>
                        <m:r>
                          <m:rPr>
                            <m:sty m:val="p"/>
                          </m:rPr>
                          <a:rPr lang="en-IN" sz="1200" b="0" i="0" u="none" strike="noStrike" kern="1200"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units</m:t>
                        </m:r>
                        <m:r>
                          <a:rPr lang="en-IN" sz="1200" b="0" i="0" u="none" strike="noStrike" kern="1200" baseline="30000" smtClean="0">
                            <a:solidFill>
                              <a:srgbClr val="000000"/>
                            </a:solidFill>
                            <a:latin typeface="Cambria Math" panose="02040503050406030204" pitchFamily="18" charset="0"/>
                            <a:ea typeface="Calibri" panose="020F0502020204030204" pitchFamily="34" charset="0"/>
                            <a:cs typeface="Calibri" panose="020F0502020204030204" pitchFamily="34" charset="0"/>
                          </a:rPr>
                          <m:t>2</m:t>
                        </m:r>
                      </m:den>
                    </m:f>
                  </m:oMath>
                </a14:m>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t>
                </a:r>
              </a:p>
              <a:p>
                <a:pPr algn="l"/>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What are the units for the volume?</a:t>
                </a: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 name="Notes Placeholder 2">
                <a:extLst>
                  <a:ext uri="{FF2B5EF4-FFF2-40B4-BE49-F238E27FC236}">
                    <a16:creationId xmlns:a16="http://schemas.microsoft.com/office/drawing/2014/main" id="{3262FCCC-BCBD-366F-053A-C765E223D445}"/>
                  </a:ext>
                </a:extLst>
              </p:cNvPr>
              <p:cNvSpPr>
                <a:spLocks noGrp="1"/>
              </p:cNvSpPr>
              <p:nvPr>
                <p:ph type="body" idx="1"/>
              </p:nvPr>
            </p:nvSpPr>
            <p:spPr/>
            <p:txBody>
              <a:bodyPr/>
              <a:lstStyle/>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Explain how you solved for h.</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What variables represent the area of the base?</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solve for h?</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What is the result of </a:t>
                </a:r>
                <a:r>
                  <a:rPr lang="en-US" sz="1200" b="0" i="0" u="none" strike="noStrike" kern="1200" baseline="0">
                    <a:solidFill>
                      <a:srgbClr val="000000"/>
                    </a:solidFill>
                    <a:latin typeface="Cambria Math" panose="02040503050406030204" pitchFamily="18" charset="0"/>
                    <a:ea typeface="Calibri" panose="020F0502020204030204" pitchFamily="34" charset="0"/>
                    <a:cs typeface="Calibri" panose="020F0502020204030204" pitchFamily="34" charset="0"/>
                  </a:rPr>
                  <a:t>units</a:t>
                </a:r>
                <a:r>
                  <a:rPr lang="en-US" sz="1200" b="0" i="0" u="none" strike="noStrike" kern="1200" baseline="30000">
                    <a:solidFill>
                      <a:srgbClr val="000000"/>
                    </a:solidFill>
                    <a:latin typeface="Cambria Math" panose="02040503050406030204" pitchFamily="18" charset="0"/>
                    <a:ea typeface="Calibri" panose="020F0502020204030204" pitchFamily="34" charset="0"/>
                    <a:cs typeface="Calibri" panose="020F0502020204030204" pitchFamily="34" charset="0"/>
                  </a:rPr>
                  <a:t>3</a:t>
                </a:r>
                <a:r>
                  <a:rPr lang="en-US" sz="1200" b="0" i="0" u="none" strike="noStrike" kern="1200" baseline="0">
                    <a:solidFill>
                      <a:srgbClr val="000000"/>
                    </a:solidFill>
                    <a:latin typeface="Cambria Math" panose="02040503050406030204" pitchFamily="18" charset="0"/>
                    <a:ea typeface="Calibri" panose="020F0502020204030204" pitchFamily="34" charset="0"/>
                    <a:cs typeface="Calibri" panose="020F0502020204030204" pitchFamily="34" charset="0"/>
                  </a:rPr>
                  <a:t>/</a:t>
                </a:r>
                <a:r>
                  <a:rPr lang="en-IN" sz="1200" b="0" i="0" u="none" strike="noStrike" kern="1200" baseline="0">
                    <a:solidFill>
                      <a:srgbClr val="000000"/>
                    </a:solidFill>
                    <a:latin typeface="Cambria Math" panose="02040503050406030204" pitchFamily="18" charset="0"/>
                    <a:ea typeface="Calibri" panose="020F0502020204030204" pitchFamily="34" charset="0"/>
                    <a:cs typeface="Calibri" panose="020F0502020204030204" pitchFamily="34" charset="0"/>
                  </a:rPr>
                  <a:t>units</a:t>
                </a:r>
                <a:r>
                  <a:rPr lang="en-IN" sz="1200" b="0" i="0" u="none" strike="noStrike" kern="1200" baseline="30000">
                    <a:solidFill>
                      <a:srgbClr val="000000"/>
                    </a:solidFill>
                    <a:latin typeface="Cambria Math" panose="02040503050406030204" pitchFamily="18" charset="0"/>
                    <a:ea typeface="Calibri" panose="020F0502020204030204" pitchFamily="34" charset="0"/>
                    <a:cs typeface="Calibri" panose="020F0502020204030204" pitchFamily="34" charset="0"/>
                  </a:rPr>
                  <a:t>2</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t>
                </a:r>
              </a:p>
              <a:p>
                <a:pPr algn="l"/>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What are the units for the volume?</a:t>
                </a: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mc:Fallback>
      </mc:AlternateContent>
      <p:sp>
        <p:nvSpPr>
          <p:cNvPr id="4" name="Slide Number Placeholder 3">
            <a:extLst>
              <a:ext uri="{FF2B5EF4-FFF2-40B4-BE49-F238E27FC236}">
                <a16:creationId xmlns:a16="http://schemas.microsoft.com/office/drawing/2014/main" id="{E0635B2C-92EC-D99F-2D52-46FD7CD82D62}"/>
              </a:ext>
            </a:extLst>
          </p:cNvPr>
          <p:cNvSpPr>
            <a:spLocks noGrp="1"/>
          </p:cNvSpPr>
          <p:nvPr>
            <p:ph type="sldNum" sz="quarter" idx="5"/>
          </p:nvPr>
        </p:nvSpPr>
        <p:spPr/>
        <p:txBody>
          <a:bodyPr/>
          <a:lstStyle/>
          <a:p>
            <a:fld id="{BB5E49A5-4136-284D-997B-48E1D791AD67}" type="slidenum">
              <a:rPr lang="en-US" smtClean="0"/>
              <a:t>44</a:t>
            </a:fld>
            <a:endParaRPr lang="en-US"/>
          </a:p>
        </p:txBody>
      </p:sp>
    </p:spTree>
    <p:extLst>
      <p:ext uri="{BB962C8B-B14F-4D97-AF65-F5344CB8AC3E}">
        <p14:creationId xmlns:p14="http://schemas.microsoft.com/office/powerpoint/2010/main" val="1705096615"/>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769606-A922-ACE1-91D9-443ECCDF83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726C28-1270-9D69-0F49-6F4AC74CC261}"/>
              </a:ext>
            </a:extLst>
          </p:cNvPr>
          <p:cNvSpPr>
            <a:spLocks noGrp="1" noRot="1" noChangeAspect="1"/>
          </p:cNvSpPr>
          <p:nvPr>
            <p:ph type="sldImg"/>
          </p:nvPr>
        </p:nvSpPr>
        <p:spPr>
          <a:xfrm>
            <a:off x="382588" y="685800"/>
            <a:ext cx="6092825" cy="3429000"/>
          </a:xfrm>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0BE34753-5C09-8298-A365-C08A65603479}"/>
                  </a:ext>
                </a:extLst>
              </p:cNvPr>
              <p:cNvSpPr>
                <a:spLocks noGrp="1"/>
              </p:cNvSpPr>
              <p:nvPr>
                <p:ph type="body" idx="1"/>
              </p:nvPr>
            </p:nvSpPr>
            <p:spPr/>
            <p:txBody>
              <a:bodyPr/>
              <a:lstStyle/>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Explain how you solved for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What variables represent the area of the base?</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solve for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What is the result of </a:t>
                </a:r>
                <a14:m>
                  <m:oMath xmlns:m="http://schemas.openxmlformats.org/officeDocument/2006/math">
                    <m:f>
                      <m:fPr>
                        <m:ctrlPr>
                          <a:rPr lang="en-US" sz="1200" b="0" i="1" u="none" strike="noStrike" kern="1200"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ctrlPr>
                      </m:fPr>
                      <m:num>
                        <m:r>
                          <m:rPr>
                            <m:sty m:val="p"/>
                          </m:rPr>
                          <a:rPr lang="en-US" sz="1200" b="0" i="0" u="none" strike="noStrike" kern="1200"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units</m:t>
                        </m:r>
                        <m:r>
                          <a:rPr lang="en-US" sz="1200" b="0" i="0" u="none" strike="noStrike" kern="1200" baseline="30000" smtClean="0">
                            <a:solidFill>
                              <a:srgbClr val="000000"/>
                            </a:solidFill>
                            <a:latin typeface="Cambria Math" panose="02040503050406030204" pitchFamily="18" charset="0"/>
                            <a:ea typeface="Calibri" panose="020F0502020204030204" pitchFamily="34" charset="0"/>
                            <a:cs typeface="Calibri" panose="020F0502020204030204" pitchFamily="34" charset="0"/>
                          </a:rPr>
                          <m:t>3</m:t>
                        </m:r>
                      </m:num>
                      <m:den>
                        <m:r>
                          <m:rPr>
                            <m:sty m:val="p"/>
                          </m:rPr>
                          <a:rPr lang="en-IN" sz="1200" b="0" i="0" u="none" strike="noStrike" kern="1200" baseline="0" smtClean="0">
                            <a:solidFill>
                              <a:srgbClr val="000000"/>
                            </a:solidFill>
                            <a:latin typeface="Cambria Math" panose="02040503050406030204" pitchFamily="18" charset="0"/>
                            <a:ea typeface="Calibri" panose="020F0502020204030204" pitchFamily="34" charset="0"/>
                            <a:cs typeface="Calibri" panose="020F0502020204030204" pitchFamily="34" charset="0"/>
                          </a:rPr>
                          <m:t>units</m:t>
                        </m:r>
                        <m:r>
                          <a:rPr lang="en-IN" sz="1200" b="0" i="0" u="none" strike="noStrike" kern="1200" baseline="30000" smtClean="0">
                            <a:solidFill>
                              <a:srgbClr val="000000"/>
                            </a:solidFill>
                            <a:latin typeface="Cambria Math" panose="02040503050406030204" pitchFamily="18" charset="0"/>
                            <a:ea typeface="Calibri" panose="020F0502020204030204" pitchFamily="34" charset="0"/>
                            <a:cs typeface="Calibri" panose="020F0502020204030204" pitchFamily="34" charset="0"/>
                          </a:rPr>
                          <m:t>2</m:t>
                        </m:r>
                      </m:den>
                    </m:f>
                  </m:oMath>
                </a14:m>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t>
                </a:r>
              </a:p>
              <a:p>
                <a:pPr algn="l"/>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What are the units for the volume?</a:t>
                </a: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3" name="Notes Placeholder 2">
                <a:extLst>
                  <a:ext uri="{FF2B5EF4-FFF2-40B4-BE49-F238E27FC236}">
                    <a16:creationId xmlns:a16="http://schemas.microsoft.com/office/drawing/2014/main" id="{0BE34753-5C09-8298-A365-C08A65603479}"/>
                  </a:ext>
                </a:extLst>
              </p:cNvPr>
              <p:cNvSpPr>
                <a:spLocks noGrp="1"/>
              </p:cNvSpPr>
              <p:nvPr>
                <p:ph type="body" idx="1"/>
              </p:nvPr>
            </p:nvSpPr>
            <p:spPr/>
            <p:txBody>
              <a:bodyPr/>
              <a:lstStyle/>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Explain how you solved for h.</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What variables represent the area of the base?</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did you solve for h?</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What is the result of </a:t>
                </a:r>
                <a:r>
                  <a:rPr lang="en-US" sz="1200" b="0" i="0" u="none" strike="noStrike" kern="1200" baseline="0">
                    <a:solidFill>
                      <a:srgbClr val="000000"/>
                    </a:solidFill>
                    <a:latin typeface="Cambria Math" panose="02040503050406030204" pitchFamily="18" charset="0"/>
                    <a:ea typeface="Calibri" panose="020F0502020204030204" pitchFamily="34" charset="0"/>
                    <a:cs typeface="Calibri" panose="020F0502020204030204" pitchFamily="34" charset="0"/>
                  </a:rPr>
                  <a:t>units</a:t>
                </a:r>
                <a:r>
                  <a:rPr lang="en-US" sz="1200" b="0" i="0" u="none" strike="noStrike" kern="1200" baseline="30000">
                    <a:solidFill>
                      <a:srgbClr val="000000"/>
                    </a:solidFill>
                    <a:latin typeface="Cambria Math" panose="02040503050406030204" pitchFamily="18" charset="0"/>
                    <a:ea typeface="Calibri" panose="020F0502020204030204" pitchFamily="34" charset="0"/>
                    <a:cs typeface="Calibri" panose="020F0502020204030204" pitchFamily="34" charset="0"/>
                  </a:rPr>
                  <a:t>3</a:t>
                </a:r>
                <a:r>
                  <a:rPr lang="en-US" sz="1200" b="0" i="0" u="none" strike="noStrike" kern="1200" baseline="0">
                    <a:solidFill>
                      <a:srgbClr val="000000"/>
                    </a:solidFill>
                    <a:latin typeface="Cambria Math" panose="02040503050406030204" pitchFamily="18" charset="0"/>
                    <a:ea typeface="Calibri" panose="020F0502020204030204" pitchFamily="34" charset="0"/>
                    <a:cs typeface="Calibri" panose="020F0502020204030204" pitchFamily="34" charset="0"/>
                  </a:rPr>
                  <a:t>/</a:t>
                </a:r>
                <a:r>
                  <a:rPr lang="en-IN" sz="1200" b="0" i="0" u="none" strike="noStrike" kern="1200" baseline="0">
                    <a:solidFill>
                      <a:srgbClr val="000000"/>
                    </a:solidFill>
                    <a:latin typeface="Cambria Math" panose="02040503050406030204" pitchFamily="18" charset="0"/>
                    <a:ea typeface="Calibri" panose="020F0502020204030204" pitchFamily="34" charset="0"/>
                    <a:cs typeface="Calibri" panose="020F0502020204030204" pitchFamily="34" charset="0"/>
                  </a:rPr>
                  <a:t>units</a:t>
                </a:r>
                <a:r>
                  <a:rPr lang="en-IN" sz="1200" b="0" i="0" u="none" strike="noStrike" kern="1200" baseline="30000">
                    <a:solidFill>
                      <a:srgbClr val="000000"/>
                    </a:solidFill>
                    <a:latin typeface="Cambria Math" panose="02040503050406030204" pitchFamily="18" charset="0"/>
                    <a:ea typeface="Calibri" panose="020F0502020204030204" pitchFamily="34" charset="0"/>
                    <a:cs typeface="Calibri" panose="020F0502020204030204" pitchFamily="34" charset="0"/>
                  </a:rPr>
                  <a:t>2</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t>
                </a:r>
              </a:p>
              <a:p>
                <a:pPr algn="l"/>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Gathering:</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What are the units for the volume?</a:t>
                </a: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mc:Fallback>
      </mc:AlternateContent>
      <p:sp>
        <p:nvSpPr>
          <p:cNvPr id="4" name="Slide Number Placeholder 3">
            <a:extLst>
              <a:ext uri="{FF2B5EF4-FFF2-40B4-BE49-F238E27FC236}">
                <a16:creationId xmlns:a16="http://schemas.microsoft.com/office/drawing/2014/main" id="{BBC1232F-99D1-C11A-CC68-DAC3CD17BCEE}"/>
              </a:ext>
            </a:extLst>
          </p:cNvPr>
          <p:cNvSpPr>
            <a:spLocks noGrp="1"/>
          </p:cNvSpPr>
          <p:nvPr>
            <p:ph type="sldNum" sz="quarter" idx="5"/>
          </p:nvPr>
        </p:nvSpPr>
        <p:spPr/>
        <p:txBody>
          <a:bodyPr/>
          <a:lstStyle/>
          <a:p>
            <a:fld id="{BB5E49A5-4136-284D-997B-48E1D791AD67}" type="slidenum">
              <a:rPr lang="en-US" smtClean="0"/>
              <a:t>45</a:t>
            </a:fld>
            <a:endParaRPr lang="en-US"/>
          </a:p>
        </p:txBody>
      </p:sp>
    </p:spTree>
    <p:extLst>
      <p:ext uri="{BB962C8B-B14F-4D97-AF65-F5344CB8AC3E}">
        <p14:creationId xmlns:p14="http://schemas.microsoft.com/office/powerpoint/2010/main" val="364731647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F8CC13-44E4-24F7-6EB3-643C2F1F61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134765-DC67-3C20-A482-D959E07354D2}"/>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89D40D38-CDE9-04A5-E4B4-9A06A1202DF7}"/>
              </a:ext>
            </a:extLst>
          </p:cNvPr>
          <p:cNvSpPr>
            <a:spLocks noGrp="1"/>
          </p:cNvSpPr>
          <p:nvPr>
            <p:ph type="body" idx="1"/>
          </p:nvPr>
        </p:nvSpPr>
        <p:spPr/>
        <p:txBody>
          <a:bodyPr/>
          <a:lstStyle/>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Did you apply the distributive property to solve for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How could you solve for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without applying the distributive property?</a:t>
            </a:r>
          </a:p>
        </p:txBody>
      </p:sp>
      <p:sp>
        <p:nvSpPr>
          <p:cNvPr id="4" name="Slide Number Placeholder 3">
            <a:extLst>
              <a:ext uri="{FF2B5EF4-FFF2-40B4-BE49-F238E27FC236}">
                <a16:creationId xmlns:a16="http://schemas.microsoft.com/office/drawing/2014/main" id="{4EC9358E-EE2A-6C80-F9FE-78580391C70A}"/>
              </a:ext>
            </a:extLst>
          </p:cNvPr>
          <p:cNvSpPr>
            <a:spLocks noGrp="1"/>
          </p:cNvSpPr>
          <p:nvPr>
            <p:ph type="sldNum" sz="quarter" idx="5"/>
          </p:nvPr>
        </p:nvSpPr>
        <p:spPr/>
        <p:txBody>
          <a:bodyPr/>
          <a:lstStyle/>
          <a:p>
            <a:fld id="{BB5E49A5-4136-284D-997B-48E1D791AD67}" type="slidenum">
              <a:rPr lang="en-US" smtClean="0"/>
              <a:t>46</a:t>
            </a:fld>
            <a:endParaRPr lang="en-US"/>
          </a:p>
        </p:txBody>
      </p:sp>
    </p:spTree>
    <p:extLst>
      <p:ext uri="{BB962C8B-B14F-4D97-AF65-F5344CB8AC3E}">
        <p14:creationId xmlns:p14="http://schemas.microsoft.com/office/powerpoint/2010/main" val="263936405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3E7BB8-05EB-72FD-0178-0F06519C2C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9E1367-3370-E280-42B7-736C242402A6}"/>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E442B2AA-0D46-EED2-7D99-BE1A5093F456}"/>
              </a:ext>
            </a:extLst>
          </p:cNvPr>
          <p:cNvSpPr>
            <a:spLocks noGrp="1"/>
          </p:cNvSpPr>
          <p:nvPr>
            <p:ph type="body" idx="1"/>
          </p:nvPr>
        </p:nvSpPr>
        <p:spPr/>
        <p:txBody>
          <a:bodyPr/>
          <a:lstStyle/>
          <a:p>
            <a:pPr algn="l"/>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What is another way to express the equation in part (a)?</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What operation did you use so that</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D </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was no longer in the denominator?</a:t>
            </a:r>
          </a:p>
        </p:txBody>
      </p:sp>
      <p:sp>
        <p:nvSpPr>
          <p:cNvPr id="4" name="Slide Number Placeholder 3">
            <a:extLst>
              <a:ext uri="{FF2B5EF4-FFF2-40B4-BE49-F238E27FC236}">
                <a16:creationId xmlns:a16="http://schemas.microsoft.com/office/drawing/2014/main" id="{4CCB4668-7810-FF41-8513-E32D7933EF4D}"/>
              </a:ext>
            </a:extLst>
          </p:cNvPr>
          <p:cNvSpPr>
            <a:spLocks noGrp="1"/>
          </p:cNvSpPr>
          <p:nvPr>
            <p:ph type="sldNum" sz="quarter" idx="5"/>
          </p:nvPr>
        </p:nvSpPr>
        <p:spPr/>
        <p:txBody>
          <a:bodyPr/>
          <a:lstStyle/>
          <a:p>
            <a:fld id="{BB5E49A5-4136-284D-997B-48E1D791AD67}" type="slidenum">
              <a:rPr lang="en-US" smtClean="0"/>
              <a:t>47</a:t>
            </a:fld>
            <a:endParaRPr lang="en-US"/>
          </a:p>
        </p:txBody>
      </p:sp>
    </p:spTree>
    <p:extLst>
      <p:ext uri="{BB962C8B-B14F-4D97-AF65-F5344CB8AC3E}">
        <p14:creationId xmlns:p14="http://schemas.microsoft.com/office/powerpoint/2010/main" val="170489532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3ABAEB-0EDA-1447-3E76-C71332D888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6DFEC5-5999-8974-A7E8-FA4A4104C96A}"/>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A9FB5DAA-E53B-029C-8773-F19155173662}"/>
              </a:ext>
            </a:extLst>
          </p:cNvPr>
          <p:cNvSpPr>
            <a:spLocks noGrp="1"/>
          </p:cNvSpPr>
          <p:nvPr>
            <p:ph type="body" idx="1"/>
          </p:nvPr>
        </p:nvSpPr>
        <p:spPr/>
        <p:txBody>
          <a:bodyPr/>
          <a:lstStyle/>
          <a:p>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Activity 2.3 Summary:</a:t>
            </a:r>
          </a:p>
          <a:p>
            <a:pPr algn="l"/>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 formula that includes more than one variable may be rewritten to isolate any variable contained in the formula by applying properties of equality and number properties.</a:t>
            </a:r>
            <a:endPar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A67E9CCE-8C9A-A885-B0D1-49BD655DDD9C}"/>
              </a:ext>
            </a:extLst>
          </p:cNvPr>
          <p:cNvSpPr>
            <a:spLocks noGrp="1"/>
          </p:cNvSpPr>
          <p:nvPr>
            <p:ph type="sldNum" sz="quarter" idx="5"/>
          </p:nvPr>
        </p:nvSpPr>
        <p:spPr/>
        <p:txBody>
          <a:bodyPr/>
          <a:lstStyle/>
          <a:p>
            <a:fld id="{BB5E49A5-4136-284D-997B-48E1D791AD67}" type="slidenum">
              <a:rPr lang="en-US" smtClean="0"/>
              <a:t>48</a:t>
            </a:fld>
            <a:endParaRPr lang="en-US"/>
          </a:p>
        </p:txBody>
      </p:sp>
    </p:spTree>
    <p:extLst>
      <p:ext uri="{BB962C8B-B14F-4D97-AF65-F5344CB8AC3E}">
        <p14:creationId xmlns:p14="http://schemas.microsoft.com/office/powerpoint/2010/main" val="190856979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5C48B7-27D9-FA8D-F2EB-D46D003238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3B77CC-6665-BFF7-957E-B244F60D8DB8}"/>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AC6FCF2A-44B4-D635-AAEB-560A4983D3A2}"/>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 </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This slide is blank for optional use with displaying work.</a:t>
            </a:r>
            <a:endParaRPr lang="en-US"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D868F491-9B12-F110-4AA7-B2332D6B2998}"/>
              </a:ext>
            </a:extLst>
          </p:cNvPr>
          <p:cNvSpPr>
            <a:spLocks noGrp="1"/>
          </p:cNvSpPr>
          <p:nvPr>
            <p:ph type="sldNum" sz="quarter" idx="5"/>
          </p:nvPr>
        </p:nvSpPr>
        <p:spPr/>
        <p:txBody>
          <a:bodyPr/>
          <a:lstStyle/>
          <a:p>
            <a:fld id="{BB5E49A5-4136-284D-997B-48E1D791AD67}" type="slidenum">
              <a:rPr lang="en-US" smtClean="0"/>
              <a:t>49</a:t>
            </a:fld>
            <a:endParaRPr lang="en-US"/>
          </a:p>
        </p:txBody>
      </p:sp>
    </p:spTree>
    <p:extLst>
      <p:ext uri="{BB962C8B-B14F-4D97-AF65-F5344CB8AC3E}">
        <p14:creationId xmlns:p14="http://schemas.microsoft.com/office/powerpoint/2010/main" val="409716053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D6A79E-DB44-58EB-64D4-958D7BE338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CCEA1F-B549-9853-4B85-82771413360C}"/>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D8042ABC-5B30-4EE6-2539-82F737149B7B}"/>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dirty="0">
                <a:solidFill>
                  <a:srgbClr val="000000"/>
                </a:solidFill>
                <a:latin typeface="Calibri" panose="020F0502020204030204" pitchFamily="34" charset="0"/>
                <a:ea typeface="Calibri" panose="020F0502020204030204" pitchFamily="34" charset="0"/>
                <a:cs typeface="Calibri" panose="020F0502020204030204" pitchFamily="34" charset="0"/>
              </a:rPr>
              <a:t> Total time of 5-10 minutes allotted for the Talk the Talk.</a:t>
            </a:r>
          </a:p>
        </p:txBody>
      </p:sp>
      <p:sp>
        <p:nvSpPr>
          <p:cNvPr id="4" name="Slide Number Placeholder 3">
            <a:extLst>
              <a:ext uri="{FF2B5EF4-FFF2-40B4-BE49-F238E27FC236}">
                <a16:creationId xmlns:a16="http://schemas.microsoft.com/office/drawing/2014/main" id="{1FB335AC-7087-2B8B-2120-DEC8D13E4D07}"/>
              </a:ext>
            </a:extLst>
          </p:cNvPr>
          <p:cNvSpPr>
            <a:spLocks noGrp="1"/>
          </p:cNvSpPr>
          <p:nvPr>
            <p:ph type="sldNum" sz="quarter" idx="5"/>
          </p:nvPr>
        </p:nvSpPr>
        <p:spPr/>
        <p:txBody>
          <a:bodyPr/>
          <a:lstStyle/>
          <a:p>
            <a:fld id="{BB5E49A5-4136-284D-997B-48E1D791AD67}" type="slidenum">
              <a:rPr lang="en-US" smtClean="0"/>
              <a:t>50</a:t>
            </a:fld>
            <a:endParaRPr lang="en-US"/>
          </a:p>
        </p:txBody>
      </p:sp>
    </p:spTree>
    <p:extLst>
      <p:ext uri="{BB962C8B-B14F-4D97-AF65-F5344CB8AC3E}">
        <p14:creationId xmlns:p14="http://schemas.microsoft.com/office/powerpoint/2010/main" val="417994701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046B4D-A5B0-B103-B738-29FAF74827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A45024-865F-3050-327C-2E3BC8468471}"/>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1407F9C5-0896-0FE5-0566-56ED3C2EFA29}"/>
              </a:ext>
            </a:extLst>
          </p:cNvPr>
          <p:cNvSpPr>
            <a:spLocks noGrp="1"/>
          </p:cNvSpPr>
          <p:nvPr>
            <p:ph type="body" idx="1"/>
          </p:nvPr>
        </p:nvSpPr>
        <p:spPr/>
        <p:txBody>
          <a:bodyPr/>
          <a:lstStyle/>
          <a:p>
            <a:pPr marL="0" indent="0" algn="l">
              <a:buFont typeface="Arial" panose="020B0604020202020204" pitchFamily="34" charset="0"/>
              <a:buNone/>
            </a:pPr>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What is the most efficient way to solve for</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h</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Why is it easier to use your response in Question 1 rather than the original formula to calculate the value of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t>
            </a:r>
          </a:p>
          <a:p>
            <a:pPr marL="0" indent="0" algn="l">
              <a:buFont typeface="Arial" panose="020B0604020202020204" pitchFamily="34" charset="0"/>
              <a:buNone/>
            </a:pP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indent="0" algn="l">
              <a:buFont typeface="Arial" panose="020B0604020202020204" pitchFamily="34" charset="0"/>
              <a:buNone/>
            </a:pPr>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What is the relationship between your steps to solve the equation in Question 3 and those to solve a twostep equation?</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Would you rather substitute the value of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in the original formula and then solve the resulting equation or solve the literal equation first and then evaluate the resulting expression? Why?</a:t>
            </a:r>
          </a:p>
        </p:txBody>
      </p:sp>
      <p:sp>
        <p:nvSpPr>
          <p:cNvPr id="4" name="Slide Number Placeholder 3">
            <a:extLst>
              <a:ext uri="{FF2B5EF4-FFF2-40B4-BE49-F238E27FC236}">
                <a16:creationId xmlns:a16="http://schemas.microsoft.com/office/drawing/2014/main" id="{2C9AC8E3-23AB-ED9D-2447-28B3A934C123}"/>
              </a:ext>
            </a:extLst>
          </p:cNvPr>
          <p:cNvSpPr>
            <a:spLocks noGrp="1"/>
          </p:cNvSpPr>
          <p:nvPr>
            <p:ph type="sldNum" sz="quarter" idx="5"/>
          </p:nvPr>
        </p:nvSpPr>
        <p:spPr/>
        <p:txBody>
          <a:bodyPr/>
          <a:lstStyle/>
          <a:p>
            <a:fld id="{BB5E49A5-4136-284D-997B-48E1D791AD67}" type="slidenum">
              <a:rPr lang="en-US" smtClean="0"/>
              <a:t>51</a:t>
            </a:fld>
            <a:endParaRPr lang="en-US"/>
          </a:p>
        </p:txBody>
      </p:sp>
    </p:spTree>
    <p:extLst>
      <p:ext uri="{BB962C8B-B14F-4D97-AF65-F5344CB8AC3E}">
        <p14:creationId xmlns:p14="http://schemas.microsoft.com/office/powerpoint/2010/main" val="3843707440"/>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C768B1-BC24-A456-FACA-376E870F71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0F5925-5D5B-AC8B-2E07-207A4405D26B}"/>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525564D0-ED02-622B-00D0-E7CB83338C40}"/>
              </a:ext>
            </a:extLst>
          </p:cNvPr>
          <p:cNvSpPr>
            <a:spLocks noGrp="1"/>
          </p:cNvSpPr>
          <p:nvPr>
            <p:ph type="body" idx="1"/>
          </p:nvPr>
        </p:nvSpPr>
        <p:spPr/>
        <p:txBody>
          <a:bodyPr/>
          <a:lstStyle/>
          <a:p>
            <a:pPr marL="0" indent="0" algn="l">
              <a:buFont typeface="Arial" panose="020B0604020202020204" pitchFamily="34" charset="0"/>
              <a:buNone/>
            </a:pPr>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Probing:</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What is the most efficient way to solve for</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h</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Why is it easier to use your response in Question 1 rather than the original formula to calculate the value of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a:t>
            </a:r>
          </a:p>
          <a:p>
            <a:pPr marL="0" indent="0" algn="l">
              <a:buFont typeface="Arial" panose="020B0604020202020204" pitchFamily="34" charset="0"/>
              <a:buNone/>
            </a:pPr>
            <a:endPar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pPr marL="0" indent="0" algn="l">
              <a:buFont typeface="Arial" panose="020B0604020202020204" pitchFamily="34" charset="0"/>
              <a:buNone/>
            </a:pPr>
            <a:r>
              <a:rPr lang="en-US" sz="1200" b="1"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Questions to Support Discourse – Seeing Structure:</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What is the relationship between your steps to solve the equation in Question 3 and those to solve a twostep equation?</a:t>
            </a:r>
          </a:p>
          <a:p>
            <a:pPr marL="171450" indent="-171450" algn="l">
              <a:buFont typeface="Arial" panose="020B0604020202020204" pitchFamily="34" charset="0"/>
              <a:buChar char="•"/>
            </a:pP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Would you rather substitute the value of </a:t>
            </a:r>
            <a:r>
              <a:rPr lang="en-US" sz="1200" b="0" i="1"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h</a:t>
            </a:r>
            <a:r>
              <a:rPr lang="en-US" sz="1200" b="0" i="0" u="none" strike="noStrike" baseline="0" dirty="0">
                <a:solidFill>
                  <a:srgbClr val="000000"/>
                </a:solidFill>
                <a:latin typeface="Calibri" panose="020F0502020204030204" pitchFamily="34" charset="0"/>
                <a:ea typeface="Calibri" panose="020F0502020204030204" pitchFamily="34" charset="0"/>
                <a:cs typeface="Calibri" panose="020F0502020204030204" pitchFamily="34" charset="0"/>
              </a:rPr>
              <a:t> in the original formula and then solve the resulting equation or solve the literal equation first and then evaluate the resulting expression? Why?</a:t>
            </a:r>
          </a:p>
        </p:txBody>
      </p:sp>
      <p:sp>
        <p:nvSpPr>
          <p:cNvPr id="4" name="Slide Number Placeholder 3">
            <a:extLst>
              <a:ext uri="{FF2B5EF4-FFF2-40B4-BE49-F238E27FC236}">
                <a16:creationId xmlns:a16="http://schemas.microsoft.com/office/drawing/2014/main" id="{3225A19E-BE42-29F1-F0A8-D6B3B8E85B51}"/>
              </a:ext>
            </a:extLst>
          </p:cNvPr>
          <p:cNvSpPr>
            <a:spLocks noGrp="1"/>
          </p:cNvSpPr>
          <p:nvPr>
            <p:ph type="sldNum" sz="quarter" idx="5"/>
          </p:nvPr>
        </p:nvSpPr>
        <p:spPr/>
        <p:txBody>
          <a:bodyPr/>
          <a:lstStyle/>
          <a:p>
            <a:fld id="{BB5E49A5-4136-284D-997B-48E1D791AD67}" type="slidenum">
              <a:rPr lang="en-US" smtClean="0"/>
              <a:t>52</a:t>
            </a:fld>
            <a:endParaRPr lang="en-US"/>
          </a:p>
        </p:txBody>
      </p:sp>
    </p:spTree>
    <p:extLst>
      <p:ext uri="{BB962C8B-B14F-4D97-AF65-F5344CB8AC3E}">
        <p14:creationId xmlns:p14="http://schemas.microsoft.com/office/powerpoint/2010/main" val="5182759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F28368-F317-A887-843E-3ACC4FB266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38422F-26E9-F6D8-0CC8-39EC34AFE9B6}"/>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A64E94A4-122B-7DC0-338A-02E293BE2FC4}"/>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Note:</a:t>
            </a:r>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 To close Day 2, have students read and answer the Essential Question and then read the Stamp the Learning summary aloud.</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Essential Question:</a:t>
            </a:r>
          </a:p>
          <a:p>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Sample answer: I can use the properties to isolate one specific variable on one side of the equation with all other terms on the other side.</a:t>
            </a:r>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endPar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endParaRPr>
          </a:p>
          <a:p>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Talk the Talk Summary:</a:t>
            </a:r>
          </a:p>
          <a:p>
            <a:r>
              <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rPr>
              <a:t>A formula that includes more than one variable may be rewritten to isolate any variable contained in the formula by applying properties of equality and number properties.</a:t>
            </a:r>
          </a:p>
        </p:txBody>
      </p:sp>
      <p:sp>
        <p:nvSpPr>
          <p:cNvPr id="4" name="Slide Number Placeholder 3">
            <a:extLst>
              <a:ext uri="{FF2B5EF4-FFF2-40B4-BE49-F238E27FC236}">
                <a16:creationId xmlns:a16="http://schemas.microsoft.com/office/drawing/2014/main" id="{E10B20E8-800C-2EB5-D153-CC5CEB9A8585}"/>
              </a:ext>
            </a:extLst>
          </p:cNvPr>
          <p:cNvSpPr>
            <a:spLocks noGrp="1"/>
          </p:cNvSpPr>
          <p:nvPr>
            <p:ph type="sldNum" sz="quarter" idx="5"/>
          </p:nvPr>
        </p:nvSpPr>
        <p:spPr/>
        <p:txBody>
          <a:bodyPr/>
          <a:lstStyle/>
          <a:p>
            <a:fld id="{BB5E49A5-4136-284D-997B-48E1D791AD67}" type="slidenum">
              <a:rPr lang="en-US" smtClean="0"/>
              <a:t>53</a:t>
            </a:fld>
            <a:endParaRPr lang="en-US"/>
          </a:p>
        </p:txBody>
      </p:sp>
    </p:spTree>
    <p:extLst>
      <p:ext uri="{BB962C8B-B14F-4D97-AF65-F5344CB8AC3E}">
        <p14:creationId xmlns:p14="http://schemas.microsoft.com/office/powerpoint/2010/main" val="2685902533"/>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F28368-F317-A887-843E-3ACC4FB266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38422F-26E9-F6D8-0CC8-39EC34AFE9B6}"/>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A64E94A4-122B-7DC0-338A-02E293BE2FC4}"/>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1" dirty="0">
                <a:solidFill>
                  <a:srgbClr val="000000"/>
                </a:solidFill>
                <a:latin typeface="Calibri" panose="020F0502020204030204" pitchFamily="34" charset="0"/>
                <a:ea typeface="Calibri" panose="020F0502020204030204" pitchFamily="34" charset="0"/>
                <a:cs typeface="Calibri" panose="020F0502020204030204" pitchFamily="34" charset="0"/>
              </a:rPr>
              <a:t>Note: </a:t>
            </a:r>
            <a:r>
              <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rPr>
              <a:t>This slide is blank for optional use with displaying work.</a:t>
            </a:r>
            <a:endParaRPr lang="en-US" sz="1200" b="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E10B20E8-800C-2EB5-D153-CC5CEB9A8585}"/>
              </a:ext>
            </a:extLst>
          </p:cNvPr>
          <p:cNvSpPr>
            <a:spLocks noGrp="1"/>
          </p:cNvSpPr>
          <p:nvPr>
            <p:ph type="sldNum" sz="quarter" idx="5"/>
          </p:nvPr>
        </p:nvSpPr>
        <p:spPr/>
        <p:txBody>
          <a:bodyPr/>
          <a:lstStyle/>
          <a:p>
            <a:fld id="{BB5E49A5-4136-284D-997B-48E1D791AD67}" type="slidenum">
              <a:rPr lang="en-US" smtClean="0"/>
              <a:t>54</a:t>
            </a:fld>
            <a:endParaRPr lang="en-US"/>
          </a:p>
        </p:txBody>
      </p:sp>
    </p:spTree>
    <p:extLst>
      <p:ext uri="{BB962C8B-B14F-4D97-AF65-F5344CB8AC3E}">
        <p14:creationId xmlns:p14="http://schemas.microsoft.com/office/powerpoint/2010/main" val="268590253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FEE008-9FDD-1CEE-0E4D-74C0586D0C0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4C880C-DA8A-D38F-27A4-CDAD8349A507}"/>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D2E66CE0-5F80-250B-FD73-62D5BE67096B}"/>
              </a:ext>
            </a:extLst>
          </p:cNvPr>
          <p:cNvSpPr>
            <a:spLocks noGrp="1"/>
          </p:cNvSpPr>
          <p:nvPr>
            <p:ph type="body" idx="1"/>
          </p:nvPr>
        </p:nvSpPr>
        <p:spPr/>
        <p:txBody>
          <a:bodyPr/>
          <a:lstStyle/>
          <a:p>
            <a:pPr algn="l" rtl="0" fontAlgn="base"/>
            <a:r>
              <a:rPr lang="en-US" sz="12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How can you identify whether students are ready for new learning?</a:t>
            </a:r>
            <a:r>
              <a:rPr lang="en-US" sz="12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US" sz="1200" b="0" i="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t>
            </a:r>
          </a:p>
          <a:p>
            <a:pPr algn="l" rtl="0" fontAlgn="base"/>
            <a:r>
              <a:rPr lang="en-US" sz="12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Depending on available time, you can assign the Prepare section of the Lesson Assignments as homework or as a warm-up to identify students' prior knowledge for the upcoming lesson's activities.</a:t>
            </a: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383804D7-97D5-D30F-92A6-0B417175DB68}"/>
              </a:ext>
            </a:extLst>
          </p:cNvPr>
          <p:cNvSpPr>
            <a:spLocks noGrp="1"/>
          </p:cNvSpPr>
          <p:nvPr>
            <p:ph type="sldNum" sz="quarter" idx="5"/>
          </p:nvPr>
        </p:nvSpPr>
        <p:spPr/>
        <p:txBody>
          <a:bodyPr/>
          <a:lstStyle/>
          <a:p>
            <a:fld id="{BB5E49A5-4136-284D-997B-48E1D791AD67}" type="slidenum">
              <a:rPr lang="en-US" smtClean="0"/>
              <a:t>55</a:t>
            </a:fld>
            <a:endParaRPr lang="en-US"/>
          </a:p>
        </p:txBody>
      </p:sp>
    </p:spTree>
    <p:extLst>
      <p:ext uri="{BB962C8B-B14F-4D97-AF65-F5344CB8AC3E}">
        <p14:creationId xmlns:p14="http://schemas.microsoft.com/office/powerpoint/2010/main" val="2472806719"/>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D7A192-55B3-2194-D98E-1D75F615B4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86020C-79AA-C230-D4A2-5941DB52258F}"/>
              </a:ext>
            </a:extLst>
          </p:cNvPr>
          <p:cNvSpPr>
            <a:spLocks noGrp="1" noRot="1" noChangeAspect="1"/>
          </p:cNvSpPr>
          <p:nvPr>
            <p:ph type="sldImg"/>
          </p:nvPr>
        </p:nvSpPr>
        <p:spPr>
          <a:xfrm>
            <a:off x="382588" y="685800"/>
            <a:ext cx="6092825" cy="3429000"/>
          </a:xfrm>
        </p:spPr>
      </p:sp>
      <p:sp>
        <p:nvSpPr>
          <p:cNvPr id="3" name="Notes Placeholder 2">
            <a:extLst>
              <a:ext uri="{FF2B5EF4-FFF2-40B4-BE49-F238E27FC236}">
                <a16:creationId xmlns:a16="http://schemas.microsoft.com/office/drawing/2014/main" id="{8C94E1D2-F92D-F9A8-2D71-0A13D6CE8F79}"/>
              </a:ext>
            </a:extLst>
          </p:cNvPr>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lang="en-US" sz="1200"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C6040F09-933B-80FA-8043-D84D67BB3FCB}"/>
              </a:ext>
            </a:extLst>
          </p:cNvPr>
          <p:cNvSpPr>
            <a:spLocks noGrp="1"/>
          </p:cNvSpPr>
          <p:nvPr>
            <p:ph type="sldNum" sz="quarter" idx="5"/>
          </p:nvPr>
        </p:nvSpPr>
        <p:spPr/>
        <p:txBody>
          <a:bodyPr/>
          <a:lstStyle/>
          <a:p>
            <a:fld id="{BB5E49A5-4136-284D-997B-48E1D791AD67}" type="slidenum">
              <a:rPr lang="en-US" smtClean="0"/>
              <a:t>56</a:t>
            </a:fld>
            <a:endParaRPr lang="en-US"/>
          </a:p>
        </p:txBody>
      </p:sp>
    </p:spTree>
    <p:extLst>
      <p:ext uri="{BB962C8B-B14F-4D97-AF65-F5344CB8AC3E}">
        <p14:creationId xmlns:p14="http://schemas.microsoft.com/office/powerpoint/2010/main" val="207240994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endParaRPr lang="en-US"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p:cNvSpPr>
            <a:spLocks noGrp="1"/>
          </p:cNvSpPr>
          <p:nvPr>
            <p:ph type="sldNum" sz="quarter" idx="5"/>
          </p:nvPr>
        </p:nvSpPr>
        <p:spPr/>
        <p:txBody>
          <a:bodyPr/>
          <a:lstStyle/>
          <a:p>
            <a:fld id="{BB5E49A5-4136-284D-997B-48E1D791AD67}" type="slidenum">
              <a:rPr lang="en-US" smtClean="0"/>
              <a:t>57</a:t>
            </a:fld>
            <a:endParaRPr lang="en-US"/>
          </a:p>
        </p:txBody>
      </p:sp>
    </p:spTree>
    <p:extLst>
      <p:ext uri="{BB962C8B-B14F-4D97-AF65-F5344CB8AC3E}">
        <p14:creationId xmlns:p14="http://schemas.microsoft.com/office/powerpoint/2010/main" val="650252939"/>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2588" y="685800"/>
            <a:ext cx="6092825" cy="3429000"/>
          </a:xfrm>
        </p:spPr>
      </p:sp>
      <p:sp>
        <p:nvSpPr>
          <p:cNvPr id="3" name="Notes Placeholder 2"/>
          <p:cNvSpPr>
            <a:spLocks noGrp="1"/>
          </p:cNvSpPr>
          <p:nvPr>
            <p:ph type="body" idx="1"/>
          </p:nvPr>
        </p:nvSpPr>
        <p:spPr/>
        <p:txBody>
          <a:bodyPr/>
          <a:lstStyle/>
          <a:p>
            <a:endParaRPr lang="en-US"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p:cNvSpPr>
            <a:spLocks noGrp="1"/>
          </p:cNvSpPr>
          <p:nvPr>
            <p:ph type="sldNum" sz="quarter" idx="5"/>
          </p:nvPr>
        </p:nvSpPr>
        <p:spPr/>
        <p:txBody>
          <a:bodyPr/>
          <a:lstStyle/>
          <a:p>
            <a:fld id="{BB5E49A5-4136-284D-997B-48E1D791AD67}" type="slidenum">
              <a:rPr lang="en-US" smtClean="0"/>
              <a:t>58</a:t>
            </a:fld>
            <a:endParaRPr lang="en-US"/>
          </a:p>
        </p:txBody>
      </p:sp>
    </p:spTree>
    <p:extLst>
      <p:ext uri="{BB962C8B-B14F-4D97-AF65-F5344CB8AC3E}">
        <p14:creationId xmlns:p14="http://schemas.microsoft.com/office/powerpoint/2010/main" val="109631083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mailto:openeducationresources@tea.Texas.gov" TargetMode="External"/><Relationship Id="rId2" Type="http://schemas.openxmlformats.org/officeDocument/2006/relationships/image" Target="../media/image3.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hyperlink" Target="https://creativecommons.org/licenses/by-nc/4.0" TargetMode="Externa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hyperlink" Target="mailto:openeducationresources@tea.Texas.gov" TargetMode="External"/><Relationship Id="rId2" Type="http://schemas.openxmlformats.org/officeDocument/2006/relationships/image" Target="../media/image11.png"/><Relationship Id="rId1" Type="http://schemas.openxmlformats.org/officeDocument/2006/relationships/slideMaster" Target="../slideMasters/slideMaster2.xml"/><Relationship Id="rId5" Type="http://schemas.openxmlformats.org/officeDocument/2006/relationships/image" Target="../media/image4.png"/><Relationship Id="rId4" Type="http://schemas.openxmlformats.org/officeDocument/2006/relationships/hyperlink" Target="https://tea.texas.gov/K-5Math" TargetMode="Externa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3" Type="http://schemas.openxmlformats.org/officeDocument/2006/relationships/hyperlink" Target="mailto:openeducationresources@tea.Texas.gov" TargetMode="External"/><Relationship Id="rId2" Type="http://schemas.openxmlformats.org/officeDocument/2006/relationships/image" Target="../media/image16.png"/><Relationship Id="rId1" Type="http://schemas.openxmlformats.org/officeDocument/2006/relationships/slideMaster" Target="../slideMasters/slideMaster3.xml"/><Relationship Id="rId5" Type="http://schemas.openxmlformats.org/officeDocument/2006/relationships/image" Target="../media/image4.png"/><Relationship Id="rId4" Type="http://schemas.openxmlformats.org/officeDocument/2006/relationships/hyperlink" Target="https://tea.texas.gov/K-5Math" TargetMode="Externa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7.png"/><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7.png"/><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7.png"/><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5.png"/><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3" Type="http://schemas.openxmlformats.org/officeDocument/2006/relationships/hyperlink" Target="mailto:openeducationresources@tea.Texas.gov" TargetMode="External"/><Relationship Id="rId2" Type="http://schemas.openxmlformats.org/officeDocument/2006/relationships/image" Target="../media/image21.png"/><Relationship Id="rId1" Type="http://schemas.openxmlformats.org/officeDocument/2006/relationships/slideMaster" Target="../slideMasters/slideMaster4.xml"/><Relationship Id="rId5" Type="http://schemas.openxmlformats.org/officeDocument/2006/relationships/image" Target="../media/image4.png"/><Relationship Id="rId4" Type="http://schemas.openxmlformats.org/officeDocument/2006/relationships/hyperlink" Target="https://tea.texas.gov/K-5Math" TargetMode="Externa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2.png"/><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2.png"/><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2.png"/><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2_Alg I_Title Slide">
    <p:bg>
      <p:bgPr>
        <a:solidFill>
          <a:schemeClr val="bg1"/>
        </a:solidFill>
        <a:effectLst/>
      </p:bgPr>
    </p:bg>
    <p:spTree>
      <p:nvGrpSpPr>
        <p:cNvPr id="1" name=""/>
        <p:cNvGrpSpPr/>
        <p:nvPr/>
      </p:nvGrpSpPr>
      <p:grpSpPr>
        <a:xfrm>
          <a:off x="0" y="0"/>
          <a:ext cx="0" cy="0"/>
          <a:chOff x="0" y="0"/>
          <a:chExt cx="0" cy="0"/>
        </a:xfrm>
      </p:grpSpPr>
      <p:sp>
        <p:nvSpPr>
          <p:cNvPr id="3" name="Text Placeholder 3">
            <a:extLst>
              <a:ext uri="{FF2B5EF4-FFF2-40B4-BE49-F238E27FC236}">
                <a16:creationId xmlns:a16="http://schemas.microsoft.com/office/drawing/2014/main" id="{F992793D-996B-68F1-CC42-4A64BF66E531}"/>
              </a:ext>
            </a:extLst>
          </p:cNvPr>
          <p:cNvSpPr>
            <a:spLocks noGrp="1"/>
          </p:cNvSpPr>
          <p:nvPr>
            <p:ph type="body" sz="quarter" idx="10" hasCustomPrompt="1"/>
          </p:nvPr>
        </p:nvSpPr>
        <p:spPr>
          <a:xfrm>
            <a:off x="-1590" y="1622759"/>
            <a:ext cx="12192003" cy="1819137"/>
          </a:xfrm>
          <a:prstGeom prst="rect">
            <a:avLst/>
          </a:prstGeom>
        </p:spPr>
        <p:txBody>
          <a:bodyPr/>
          <a:lstStyle>
            <a:lvl1pPr marL="0" indent="0" algn="ctr">
              <a:buNone/>
              <a:defRPr sz="6000" b="1">
                <a:solidFill>
                  <a:srgbClr val="236739"/>
                </a:solidFill>
              </a:defRPr>
            </a:lvl1pPr>
          </a:lstStyle>
          <a:p>
            <a:pPr lvl="0"/>
            <a:r>
              <a:rPr lang="en-US" sz="6000" dirty="0"/>
              <a:t>Module Name</a:t>
            </a:r>
          </a:p>
          <a:p>
            <a:pPr lvl="0"/>
            <a:r>
              <a:rPr lang="en-US" sz="6000" dirty="0"/>
              <a:t>Name</a:t>
            </a:r>
          </a:p>
          <a:p>
            <a:pPr lvl="0"/>
            <a:endParaRPr lang="en-US" dirty="0"/>
          </a:p>
        </p:txBody>
      </p:sp>
      <p:sp>
        <p:nvSpPr>
          <p:cNvPr id="5" name="Text Placeholder 5">
            <a:extLst>
              <a:ext uri="{FF2B5EF4-FFF2-40B4-BE49-F238E27FC236}">
                <a16:creationId xmlns:a16="http://schemas.microsoft.com/office/drawing/2014/main" id="{74F0E467-86F1-F51B-377D-DE8A5155B5E1}"/>
              </a:ext>
            </a:extLst>
          </p:cNvPr>
          <p:cNvSpPr>
            <a:spLocks noGrp="1"/>
          </p:cNvSpPr>
          <p:nvPr>
            <p:ph type="body" sz="quarter" idx="13" hasCustomPrompt="1"/>
          </p:nvPr>
        </p:nvSpPr>
        <p:spPr>
          <a:xfrm>
            <a:off x="-1590" y="3641189"/>
            <a:ext cx="12190413" cy="822457"/>
          </a:xfrm>
          <a:prstGeom prst="rect">
            <a:avLst/>
          </a:prstGeom>
        </p:spPr>
        <p:txBody>
          <a:bodyPr anchor="ctr"/>
          <a:lstStyle>
            <a:lvl1pPr marL="0" indent="0" algn="ctr">
              <a:buNone/>
              <a:defRPr sz="4400" b="0">
                <a:solidFill>
                  <a:srgbClr val="236739"/>
                </a:solidFill>
              </a:defRPr>
            </a:lvl1pPr>
          </a:lstStyle>
          <a:p>
            <a:pPr lvl="0"/>
            <a:r>
              <a:rPr lang="en-US" dirty="0"/>
              <a:t>Grade # | Module # | Topic X | Lesson #</a:t>
            </a:r>
          </a:p>
        </p:txBody>
      </p:sp>
      <p:sp>
        <p:nvSpPr>
          <p:cNvPr id="2" name="Round Single Corner Rectangle 1">
            <a:extLst>
              <a:ext uri="{FF2B5EF4-FFF2-40B4-BE49-F238E27FC236}">
                <a16:creationId xmlns:a16="http://schemas.microsoft.com/office/drawing/2014/main" id="{7D24360F-9CDE-6F31-8095-CEDD386A0B5F}"/>
              </a:ext>
            </a:extLst>
          </p:cNvPr>
          <p:cNvSpPr/>
          <p:nvPr userDrawn="1"/>
        </p:nvSpPr>
        <p:spPr>
          <a:xfrm rot="10800000" flipH="1">
            <a:off x="0" y="0"/>
            <a:ext cx="2467555" cy="954942"/>
          </a:xfrm>
          <a:prstGeom prst="round1Rect">
            <a:avLst/>
          </a:prstGeom>
          <a:solidFill>
            <a:srgbClr val="2B814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6706451E-BBBC-107B-E631-3F63997BE9D6}"/>
              </a:ext>
            </a:extLst>
          </p:cNvPr>
          <p:cNvSpPr txBox="1"/>
          <p:nvPr userDrawn="1"/>
        </p:nvSpPr>
        <p:spPr>
          <a:xfrm>
            <a:off x="0" y="280732"/>
            <a:ext cx="2467555" cy="461665"/>
          </a:xfrm>
          <a:prstGeom prst="rect">
            <a:avLst/>
          </a:prstGeom>
          <a:noFill/>
        </p:spPr>
        <p:txBody>
          <a:bodyPr wrap="square" rtlCol="0">
            <a:spAutoFit/>
          </a:bodyPr>
          <a:lstStyle/>
          <a:p>
            <a:pPr algn="ctr"/>
            <a:r>
              <a:rPr lang="en-US" sz="2400" dirty="0">
                <a:solidFill>
                  <a:schemeClr val="bg1"/>
                </a:solidFill>
              </a:rPr>
              <a:t>ENGLISH</a:t>
            </a:r>
          </a:p>
        </p:txBody>
      </p:sp>
      <p:pic>
        <p:nvPicPr>
          <p:cNvPr id="18" name="Picture 17" descr="A blue and black logo&#10;&#10;AI-generated content may be incorrect.">
            <a:extLst>
              <a:ext uri="{FF2B5EF4-FFF2-40B4-BE49-F238E27FC236}">
                <a16:creationId xmlns:a16="http://schemas.microsoft.com/office/drawing/2014/main" id="{B203EADC-2DB3-1EE5-60AF-D1787BEEC07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940726" y="132485"/>
            <a:ext cx="2910578" cy="954944"/>
          </a:xfrm>
          <a:prstGeom prst="rect">
            <a:avLst/>
          </a:prstGeom>
        </p:spPr>
      </p:pic>
      <p:sp>
        <p:nvSpPr>
          <p:cNvPr id="19" name="TextBox 18">
            <a:extLst>
              <a:ext uri="{FF2B5EF4-FFF2-40B4-BE49-F238E27FC236}">
                <a16:creationId xmlns:a16="http://schemas.microsoft.com/office/drawing/2014/main" id="{2804B40F-0DA7-E0E3-162C-E301ABDD7551}"/>
              </a:ext>
            </a:extLst>
          </p:cNvPr>
          <p:cNvSpPr txBox="1"/>
          <p:nvPr userDrawn="1"/>
        </p:nvSpPr>
        <p:spPr>
          <a:xfrm>
            <a:off x="10111407" y="1007699"/>
            <a:ext cx="1643271" cy="267288"/>
          </a:xfrm>
          <a:prstGeom prst="rect">
            <a:avLst/>
          </a:prstGeom>
          <a:noFill/>
        </p:spPr>
        <p:txBody>
          <a:bodyPr wrap="square" rtlCol="0">
            <a:spAutoFit/>
          </a:bodyPr>
          <a:lstStyle/>
          <a:p>
            <a:pPr algn="ctr"/>
            <a:r>
              <a:rPr lang="en-US" sz="1100" b="1" dirty="0">
                <a:solidFill>
                  <a:srgbClr val="000000"/>
                </a:solidFill>
              </a:rPr>
              <a:t>Secondary Mathematics</a:t>
            </a:r>
          </a:p>
        </p:txBody>
      </p:sp>
      <p:sp>
        <p:nvSpPr>
          <p:cNvPr id="20" name="Rounded Rectangle 19">
            <a:extLst>
              <a:ext uri="{FF2B5EF4-FFF2-40B4-BE49-F238E27FC236}">
                <a16:creationId xmlns:a16="http://schemas.microsoft.com/office/drawing/2014/main" id="{A6542DB2-F324-40CF-3B49-6D031A4E64E1}"/>
              </a:ext>
            </a:extLst>
          </p:cNvPr>
          <p:cNvSpPr/>
          <p:nvPr userDrawn="1"/>
        </p:nvSpPr>
        <p:spPr>
          <a:xfrm>
            <a:off x="10236991" y="1306046"/>
            <a:ext cx="907774" cy="298608"/>
          </a:xfrm>
          <a:prstGeom prst="round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E0930552-3750-2EC0-AA03-FF31F6332588}"/>
              </a:ext>
            </a:extLst>
          </p:cNvPr>
          <p:cNvSpPr txBox="1"/>
          <p:nvPr userDrawn="1"/>
        </p:nvSpPr>
        <p:spPr>
          <a:xfrm>
            <a:off x="10252484" y="1335768"/>
            <a:ext cx="868018" cy="237827"/>
          </a:xfrm>
          <a:prstGeom prst="rect">
            <a:avLst/>
          </a:prstGeom>
          <a:noFill/>
        </p:spPr>
        <p:txBody>
          <a:bodyPr wrap="square" rtlCol="0">
            <a:spAutoFit/>
          </a:bodyPr>
          <a:lstStyle/>
          <a:p>
            <a:pPr algn="ctr"/>
            <a:r>
              <a:rPr lang="en-US" sz="1100" b="1" i="0" dirty="0">
                <a:solidFill>
                  <a:schemeClr val="bg2">
                    <a:lumMod val="50000"/>
                  </a:schemeClr>
                </a:solidFill>
                <a:latin typeface="Calibri" panose="020F0502020204030204" pitchFamily="34" charset="0"/>
                <a:cs typeface="Calibri" panose="020F0502020204030204" pitchFamily="34" charset="0"/>
              </a:rPr>
              <a:t>EDITION 1</a:t>
            </a:r>
          </a:p>
        </p:txBody>
      </p:sp>
      <p:pic>
        <p:nvPicPr>
          <p:cNvPr id="7" name="Picture 6">
            <a:extLst>
              <a:ext uri="{FF2B5EF4-FFF2-40B4-BE49-F238E27FC236}">
                <a16:creationId xmlns:a16="http://schemas.microsoft.com/office/drawing/2014/main" id="{F3AD9D6D-E5B1-9F4C-296E-9D558E47F581}"/>
              </a:ext>
              <a:ext uri="{C183D7F6-B498-43B3-948B-1728B52AA6E4}">
                <adec:decorative xmlns:adec="http://schemas.microsoft.com/office/drawing/2017/decorative" val="1"/>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4663225"/>
            <a:ext cx="12190413" cy="2194775"/>
          </a:xfrm>
          <a:prstGeom prst="rect">
            <a:avLst/>
          </a:prstGeom>
        </p:spPr>
      </p:pic>
    </p:spTree>
    <p:extLst>
      <p:ext uri="{BB962C8B-B14F-4D97-AF65-F5344CB8AC3E}">
        <p14:creationId xmlns:p14="http://schemas.microsoft.com/office/powerpoint/2010/main" val="244819002"/>
      </p:ext>
    </p:extLst>
  </p:cSld>
  <p:clrMapOvr>
    <a:masterClrMapping/>
  </p:clrMapOvr>
  <p:extLst>
    <p:ext uri="{DCECCB84-F9BA-43D5-87BE-67443E8EF086}">
      <p15:sldGuideLst xmlns:p15="http://schemas.microsoft.com/office/powerpoint/2012/main">
        <p15:guide id="1" orient="horz" pos="2160">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9_G2 Copyright">
    <p:bg>
      <p:bgPr>
        <a:solidFill>
          <a:schemeClr val="bg1"/>
        </a:solidFill>
        <a:effectLst/>
      </p:bgPr>
    </p:bg>
    <p:spTree>
      <p:nvGrpSpPr>
        <p:cNvPr id="1" name=""/>
        <p:cNvGrpSpPr/>
        <p:nvPr/>
      </p:nvGrpSpPr>
      <p:grpSpPr>
        <a:xfrm>
          <a:off x="0" y="0"/>
          <a:ext cx="0" cy="0"/>
          <a:chOff x="0" y="0"/>
          <a:chExt cx="0" cy="0"/>
        </a:xfrm>
      </p:grpSpPr>
      <p:pic>
        <p:nvPicPr>
          <p:cNvPr id="18" name="Picture 17" descr="A pattern with circles and lines&#10;&#10;AI-generated content may be incorrect.">
            <a:extLst>
              <a:ext uri="{FF2B5EF4-FFF2-40B4-BE49-F238E27FC236}">
                <a16:creationId xmlns:a16="http://schemas.microsoft.com/office/drawing/2014/main" id="{72307BBC-7B87-E2A3-8D37-F3412D1BA5D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932192"/>
            <a:ext cx="12190413" cy="5925808"/>
          </a:xfrm>
          <a:prstGeom prst="rect">
            <a:avLst/>
          </a:prstGeom>
        </p:spPr>
      </p:pic>
      <p:sp>
        <p:nvSpPr>
          <p:cNvPr id="4" name="Oval 3">
            <a:extLst>
              <a:ext uri="{FF2B5EF4-FFF2-40B4-BE49-F238E27FC236}">
                <a16:creationId xmlns:a16="http://schemas.microsoft.com/office/drawing/2014/main" id="{ABB595A4-9EBD-188A-EC7D-0AAB0001E823}"/>
              </a:ext>
            </a:extLst>
          </p:cNvPr>
          <p:cNvSpPr/>
          <p:nvPr userDrawn="1"/>
        </p:nvSpPr>
        <p:spPr>
          <a:xfrm>
            <a:off x="1668545" y="2356700"/>
            <a:ext cx="1715678" cy="2648931"/>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E5165B0B-BFFB-F8AF-28CB-AB06CD2FE816}"/>
              </a:ext>
            </a:extLst>
          </p:cNvPr>
          <p:cNvSpPr/>
          <p:nvPr userDrawn="1"/>
        </p:nvSpPr>
        <p:spPr>
          <a:xfrm>
            <a:off x="1310326" y="4873659"/>
            <a:ext cx="2073897" cy="6790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FE5A3C38-7B14-ED97-6C60-8F0EC5C9B272}"/>
              </a:ext>
            </a:extLst>
          </p:cNvPr>
          <p:cNvSpPr txBox="1"/>
          <p:nvPr userDrawn="1"/>
        </p:nvSpPr>
        <p:spPr>
          <a:xfrm>
            <a:off x="1023907" y="1792363"/>
            <a:ext cx="10141011" cy="4247317"/>
          </a:xfrm>
          <a:prstGeom prst="rect">
            <a:avLst/>
          </a:prstGeom>
          <a:solidFill>
            <a:schemeClr val="bg1"/>
          </a:solidFill>
          <a:ln w="38100">
            <a:solidFill>
              <a:schemeClr val="bg1"/>
            </a:solidFill>
          </a:ln>
        </p:spPr>
        <p:txBody>
          <a:bodyPr wrap="square" lIns="91440" tIns="45720" rIns="91440" bIns="45720" rtlCol="0" anchor="t">
            <a:spAutoFit/>
          </a:bodyPr>
          <a:lstStyle/>
          <a:p>
            <a:r>
              <a:rPr lang="en-US" b="1" dirty="0">
                <a:solidFill>
                  <a:srgbClr val="000000"/>
                </a:solidFill>
              </a:rPr>
              <a:t>Acknowledgment</a:t>
            </a:r>
          </a:p>
          <a:p>
            <a:r>
              <a:rPr lang="en-US" dirty="0">
                <a:solidFill>
                  <a:srgbClr val="000000"/>
                </a:solidFill>
              </a:rPr>
              <a:t>Thank you to all the Texas educators and stakeholders who supported the review process and provided feedback. These materials are the result of the work of numerous individuals, and we are deeply grateful for their contributions.</a:t>
            </a:r>
            <a:endParaRPr lang="en-US" dirty="0">
              <a:solidFill>
                <a:srgbClr val="000000"/>
              </a:solidFill>
              <a:cs typeface="Calibri"/>
            </a:endParaRPr>
          </a:p>
          <a:p>
            <a:endParaRPr lang="en-US" dirty="0">
              <a:solidFill>
                <a:srgbClr val="000000"/>
              </a:solidFill>
            </a:endParaRPr>
          </a:p>
          <a:p>
            <a:r>
              <a:rPr lang="en-US" b="1" dirty="0">
                <a:solidFill>
                  <a:srgbClr val="000000"/>
                </a:solidFill>
              </a:rPr>
              <a:t>Notice</a:t>
            </a:r>
            <a:endParaRPr lang="en-US" b="1" dirty="0">
              <a:solidFill>
                <a:srgbClr val="000000"/>
              </a:solidFill>
              <a:cs typeface="Calibri"/>
            </a:endParaRPr>
          </a:p>
          <a:p>
            <a:r>
              <a:rPr lang="en-US" dirty="0">
                <a:solidFill>
                  <a:srgbClr val="000000"/>
                </a:solidFill>
              </a:rPr>
              <a:t>These learning resources have been built for Texas students, aligned to the Texas Essential Knowledge and Skills, and are made available pursuant to Chapter 31, Subchapter B-1 of the Texas Education Code.</a:t>
            </a:r>
            <a:endParaRPr lang="en-US" dirty="0">
              <a:solidFill>
                <a:srgbClr val="000000"/>
              </a:solidFill>
              <a:cs typeface="Calibri"/>
            </a:endParaRPr>
          </a:p>
          <a:p>
            <a:r>
              <a:rPr lang="en-US" dirty="0">
                <a:solidFill>
                  <a:srgbClr val="000000"/>
                </a:solidFill>
              </a:rPr>
              <a:t>If you have further questions or to report an error, please email </a:t>
            </a:r>
            <a:r>
              <a:rPr lang="en-US" dirty="0">
                <a:solidFill>
                  <a:srgbClr val="000000"/>
                </a:solidFill>
                <a:hlinkClick r:id="rId3">
                  <a:extLst>
                    <a:ext uri="{A12FA001-AC4F-418D-AE19-62706E023703}">
                      <ahyp:hlinkClr xmlns:ahyp="http://schemas.microsoft.com/office/drawing/2018/hyperlinkcolor" val="tx"/>
                    </a:ext>
                  </a:extLst>
                </a:hlinkClick>
              </a:rPr>
              <a:t>openeducationresources@tea.texas.gov</a:t>
            </a:r>
            <a:r>
              <a:rPr lang="en-US" dirty="0">
                <a:solidFill>
                  <a:srgbClr val="000000"/>
                </a:solidFill>
              </a:rPr>
              <a:t>.</a:t>
            </a:r>
          </a:p>
          <a:p>
            <a:endParaRPr lang="en-US" dirty="0">
              <a:solidFill>
                <a:srgbClr val="000000"/>
              </a:solidFill>
              <a:cs typeface="Calibri"/>
            </a:endParaRPr>
          </a:p>
          <a:p>
            <a:r>
              <a:rPr lang="en-US" dirty="0">
                <a:solidFill>
                  <a:srgbClr val="000000"/>
                </a:solidFill>
                <a:cs typeface="Calibri"/>
              </a:rPr>
              <a:t>©2024-2025 Texas Education Agency. Portions of this work are adapted, with permission, from the originals created by and copyright ©2021 Carnegie Learning, Inc. </a:t>
            </a:r>
          </a:p>
          <a:p>
            <a:endParaRPr lang="en-US" dirty="0">
              <a:solidFill>
                <a:srgbClr val="000000"/>
              </a:solidFill>
              <a:cs typeface="Calibri"/>
            </a:endParaRPr>
          </a:p>
          <a:p>
            <a:r>
              <a:rPr lang="en-US" dirty="0">
                <a:solidFill>
                  <a:srgbClr val="000000"/>
                </a:solidFill>
                <a:cs typeface="Calibri"/>
              </a:rPr>
              <a:t>This work is licensed under a Creative Commons Attribution-Non-Commercial-4.0 International License. For information, visit: </a:t>
            </a:r>
            <a:r>
              <a:rPr lang="en-US" u="none" dirty="0">
                <a:solidFill>
                  <a:srgbClr val="000000"/>
                </a:solidFill>
                <a:cs typeface="Calibri"/>
                <a:hlinkClick r:id="rId4">
                  <a:extLst>
                    <a:ext uri="{A12FA001-AC4F-418D-AE19-62706E023703}">
                      <ahyp:hlinkClr xmlns:ahyp="http://schemas.microsoft.com/office/drawing/2018/hyperlinkcolor" val="tx"/>
                    </a:ext>
                  </a:extLst>
                </a:hlinkClick>
              </a:rPr>
              <a:t>https://creativecommons.org/licenses/by-nc/4.0</a:t>
            </a:r>
            <a:r>
              <a:rPr lang="en-US" dirty="0">
                <a:solidFill>
                  <a:srgbClr val="000000"/>
                </a:solidFill>
                <a:cs typeface="Calibri"/>
              </a:rPr>
              <a:t>. </a:t>
            </a:r>
          </a:p>
        </p:txBody>
      </p:sp>
      <p:pic>
        <p:nvPicPr>
          <p:cNvPr id="3" name="Picture 2" descr="A blue and black logo&#10;&#10;AI-generated content may be incorrect.">
            <a:extLst>
              <a:ext uri="{FF2B5EF4-FFF2-40B4-BE49-F238E27FC236}">
                <a16:creationId xmlns:a16="http://schemas.microsoft.com/office/drawing/2014/main" id="{8A2CBEDA-4313-4320-C727-637FCF5AEF98}"/>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84963" y="101527"/>
            <a:ext cx="2080268" cy="682524"/>
          </a:xfrm>
          <a:prstGeom prst="rect">
            <a:avLst/>
          </a:prstGeom>
        </p:spPr>
      </p:pic>
      <p:sp>
        <p:nvSpPr>
          <p:cNvPr id="8" name="TextBox 7">
            <a:extLst>
              <a:ext uri="{FF2B5EF4-FFF2-40B4-BE49-F238E27FC236}">
                <a16:creationId xmlns:a16="http://schemas.microsoft.com/office/drawing/2014/main" id="{AC3E9A39-7598-7D98-AC32-2789E161EFE4}"/>
              </a:ext>
            </a:extLst>
          </p:cNvPr>
          <p:cNvSpPr txBox="1"/>
          <p:nvPr userDrawn="1"/>
        </p:nvSpPr>
        <p:spPr>
          <a:xfrm>
            <a:off x="862304" y="692389"/>
            <a:ext cx="1643271" cy="267288"/>
          </a:xfrm>
          <a:prstGeom prst="rect">
            <a:avLst/>
          </a:prstGeom>
          <a:noFill/>
        </p:spPr>
        <p:txBody>
          <a:bodyPr wrap="square" rtlCol="0">
            <a:spAutoFit/>
          </a:bodyPr>
          <a:lstStyle/>
          <a:p>
            <a:pPr algn="ctr"/>
            <a:r>
              <a:rPr lang="en-US" sz="1100" b="1" dirty="0">
                <a:solidFill>
                  <a:srgbClr val="000000"/>
                </a:solidFill>
              </a:rPr>
              <a:t>Secondary Mathematics</a:t>
            </a:r>
          </a:p>
        </p:txBody>
      </p:sp>
    </p:spTree>
    <p:extLst>
      <p:ext uri="{BB962C8B-B14F-4D97-AF65-F5344CB8AC3E}">
        <p14:creationId xmlns:p14="http://schemas.microsoft.com/office/powerpoint/2010/main" val="2866715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lg I_Activity">
    <p:bg>
      <p:bgPr>
        <a:solidFill>
          <a:schemeClr val="bg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C7DDC4C-990F-1B63-3B21-F01BAF7FCDF9}"/>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 y="2316529"/>
            <a:ext cx="12190413" cy="2682142"/>
          </a:xfrm>
          <a:prstGeom prst="rect">
            <a:avLst/>
          </a:prstGeom>
        </p:spPr>
      </p:pic>
      <p:sp>
        <p:nvSpPr>
          <p:cNvPr id="6" name="Google Shape;61;g28e21d7ade9_0_16">
            <a:extLst>
              <a:ext uri="{FF2B5EF4-FFF2-40B4-BE49-F238E27FC236}">
                <a16:creationId xmlns:a16="http://schemas.microsoft.com/office/drawing/2014/main" id="{F6D852E4-016A-EA34-8A0F-CD386348DEB3}"/>
              </a:ext>
              <a:ext uri="{C183D7F6-B498-43B3-948B-1728B52AA6E4}">
                <adec:decorative xmlns:adec="http://schemas.microsoft.com/office/drawing/2017/decorative" val="1"/>
              </a:ext>
            </a:extLst>
          </p:cNvPr>
          <p:cNvSpPr txBox="1"/>
          <p:nvPr userDrawn="1"/>
        </p:nvSpPr>
        <p:spPr>
          <a:xfrm>
            <a:off x="3352800" y="2984501"/>
            <a:ext cx="5499100" cy="1143000"/>
          </a:xfrm>
          <a:prstGeom prst="rect">
            <a:avLst/>
          </a:prstGeom>
          <a:solidFill>
            <a:srgbClr val="2B8147"/>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endParaRPr baseline="0" dirty="0">
              <a:solidFill>
                <a:schemeClr val="bg1"/>
              </a:solidFill>
              <a:latin typeface="Calibri" panose="020F0502020204030204" pitchFamily="34" charset="0"/>
            </a:endParaRPr>
          </a:p>
        </p:txBody>
      </p:sp>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3340100" y="3136900"/>
            <a:ext cx="3302000" cy="946413"/>
          </a:xfrm>
          <a:prstGeom prst="rect">
            <a:avLst/>
          </a:prstGeom>
          <a:ln w="12700">
            <a:miter lim="400000"/>
          </a:ln>
        </p:spPr>
        <p:txBody>
          <a:bodyPr wrap="square" lIns="0" tIns="0" rIns="0" bIns="0">
            <a:sp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r"/>
            <a:r>
              <a:rPr lang="en-US" baseline="0" dirty="0">
                <a:solidFill>
                  <a:schemeClr val="bg1"/>
                </a:solidFill>
                <a:latin typeface="Calibri" panose="020F0502020204030204" pitchFamily="34" charset="0"/>
              </a:rPr>
              <a:t>Activity </a:t>
            </a:r>
            <a:endParaRPr baseline="0" dirty="0">
              <a:solidFill>
                <a:schemeClr val="bg1"/>
              </a:solidFill>
              <a:latin typeface="Calibri" panose="020F0502020204030204" pitchFamily="34" charset="0"/>
            </a:endParaRPr>
          </a:p>
        </p:txBody>
      </p:sp>
      <p:sp>
        <p:nvSpPr>
          <p:cNvPr id="7" name="Text Placeholder 6">
            <a:extLst>
              <a:ext uri="{FF2B5EF4-FFF2-40B4-BE49-F238E27FC236}">
                <a16:creationId xmlns:a16="http://schemas.microsoft.com/office/drawing/2014/main" id="{D2068F8D-A07F-AA10-7BDF-A0C4AF8C7BFF}"/>
              </a:ext>
            </a:extLst>
          </p:cNvPr>
          <p:cNvSpPr>
            <a:spLocks noGrp="1"/>
          </p:cNvSpPr>
          <p:nvPr>
            <p:ph type="body" sz="quarter" idx="11" hasCustomPrompt="1"/>
          </p:nvPr>
        </p:nvSpPr>
        <p:spPr>
          <a:xfrm>
            <a:off x="6769100" y="2957776"/>
            <a:ext cx="2025986" cy="1125537"/>
          </a:xfrm>
          <a:prstGeom prst="rect">
            <a:avLst/>
          </a:prstGeom>
        </p:spPr>
        <p:txBody>
          <a:bodyPr/>
          <a:lstStyle>
            <a:lvl1pPr marL="0" indent="0" algn="l">
              <a:buNone/>
              <a:defRPr sz="7500" b="1">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lvl="0"/>
            <a:r>
              <a:rPr lang="en-US" dirty="0"/>
              <a:t>##</a:t>
            </a:r>
          </a:p>
        </p:txBody>
      </p:sp>
      <p:pic>
        <p:nvPicPr>
          <p:cNvPr id="4" name="Picture 3" descr="A black and white image of a stopwatch&#10;&#10;Description automatically generated">
            <a:extLst>
              <a:ext uri="{FF2B5EF4-FFF2-40B4-BE49-F238E27FC236}">
                <a16:creationId xmlns:a16="http://schemas.microsoft.com/office/drawing/2014/main" id="{D534F636-9377-D630-3F35-5D038B245C6E}"/>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585174" y="5576768"/>
            <a:ext cx="1746598" cy="1130153"/>
          </a:xfrm>
          <a:prstGeom prst="rect">
            <a:avLst/>
          </a:prstGeom>
        </p:spPr>
      </p:pic>
      <p:sp>
        <p:nvSpPr>
          <p:cNvPr id="11" name="Text Placeholder 10">
            <a:extLst>
              <a:ext uri="{FF2B5EF4-FFF2-40B4-BE49-F238E27FC236}">
                <a16:creationId xmlns:a16="http://schemas.microsoft.com/office/drawing/2014/main" id="{DAE8B7F8-6AC2-B8A4-640E-8FE90B678918}"/>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dirty="0"/>
              <a:t>x</a:t>
            </a:r>
          </a:p>
        </p:txBody>
      </p:sp>
    </p:spTree>
    <p:extLst>
      <p:ext uri="{BB962C8B-B14F-4D97-AF65-F5344CB8AC3E}">
        <p14:creationId xmlns:p14="http://schemas.microsoft.com/office/powerpoint/2010/main" val="30219804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lg I_Talk the Talk">
    <p:bg>
      <p:bgPr>
        <a:solidFill>
          <a:schemeClr val="bg1"/>
        </a:solidFill>
        <a:effectLst/>
      </p:bgPr>
    </p:bg>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5A4A51F5-E78D-80F2-C30C-54D8CE7AD7E0}"/>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 y="2316529"/>
            <a:ext cx="12190413" cy="2682142"/>
          </a:xfrm>
          <a:prstGeom prst="rect">
            <a:avLst/>
          </a:prstGeom>
        </p:spPr>
      </p:pic>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3352800" y="2984501"/>
            <a:ext cx="5499100" cy="1143000"/>
          </a:xfrm>
          <a:prstGeom prst="rect">
            <a:avLst/>
          </a:prstGeom>
          <a:solidFill>
            <a:srgbClr val="2B8147"/>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dirty="0">
                <a:solidFill>
                  <a:schemeClr val="bg1"/>
                </a:solidFill>
                <a:latin typeface="Calibri" panose="020F0502020204030204" pitchFamily="34" charset="0"/>
              </a:rPr>
              <a:t>Talk the Talk</a:t>
            </a:r>
            <a:endParaRPr baseline="0" dirty="0">
              <a:solidFill>
                <a:schemeClr val="bg1"/>
              </a:solidFill>
              <a:latin typeface="Calibri" panose="020F0502020204030204" pitchFamily="34" charset="0"/>
            </a:endParaRPr>
          </a:p>
        </p:txBody>
      </p:sp>
      <p:pic>
        <p:nvPicPr>
          <p:cNvPr id="10" name="Picture 9" descr="A black and white image of a stopwatch&#10;&#10;Description automatically generated">
            <a:extLst>
              <a:ext uri="{FF2B5EF4-FFF2-40B4-BE49-F238E27FC236}">
                <a16:creationId xmlns:a16="http://schemas.microsoft.com/office/drawing/2014/main" id="{CE73D4F7-C35E-90BA-B80C-E6CB2DC880F5}"/>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585174" y="5576768"/>
            <a:ext cx="1746598" cy="1130153"/>
          </a:xfrm>
          <a:prstGeom prst="rect">
            <a:avLst/>
          </a:prstGeom>
        </p:spPr>
      </p:pic>
      <p:sp>
        <p:nvSpPr>
          <p:cNvPr id="11" name="Text Placeholder 10">
            <a:extLst>
              <a:ext uri="{FF2B5EF4-FFF2-40B4-BE49-F238E27FC236}">
                <a16:creationId xmlns:a16="http://schemas.microsoft.com/office/drawing/2014/main" id="{1AA23D1B-1B3F-0CA6-C43C-BA9AEE12E5DF}"/>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dirty="0"/>
              <a:t>x</a:t>
            </a:r>
          </a:p>
        </p:txBody>
      </p:sp>
    </p:spTree>
    <p:extLst>
      <p:ext uri="{BB962C8B-B14F-4D97-AF65-F5344CB8AC3E}">
        <p14:creationId xmlns:p14="http://schemas.microsoft.com/office/powerpoint/2010/main" val="17754358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lg I_Getting Started">
    <p:bg>
      <p:bgPr>
        <a:solidFill>
          <a:schemeClr val="bg1"/>
        </a:solidFill>
        <a:effectLst/>
      </p:bgPr>
    </p:bg>
    <p:spTree>
      <p:nvGrpSpPr>
        <p:cNvPr id="1" name=""/>
        <p:cNvGrpSpPr/>
        <p:nvPr/>
      </p:nvGrpSpPr>
      <p:grpSpPr>
        <a:xfrm>
          <a:off x="0" y="0"/>
          <a:ext cx="0" cy="0"/>
          <a:chOff x="0" y="0"/>
          <a:chExt cx="0" cy="0"/>
        </a:xfrm>
      </p:grpSpPr>
      <p:pic>
        <p:nvPicPr>
          <p:cNvPr id="4" name="Picture 3" descr="A green and black pattern&#10;&#10;AI-generated content may be incorrect.">
            <a:extLst>
              <a:ext uri="{FF2B5EF4-FFF2-40B4-BE49-F238E27FC236}">
                <a16:creationId xmlns:a16="http://schemas.microsoft.com/office/drawing/2014/main" id="{D1D8FC0F-F66E-E7A9-B361-E6E0B4BE09B2}"/>
              </a:ext>
              <a:ext uri="{C183D7F6-B498-43B3-948B-1728B52AA6E4}">
                <adec:decorative xmlns:adec="http://schemas.microsoft.com/office/drawing/2017/decorative" val="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2316529"/>
            <a:ext cx="12190415" cy="2682142"/>
          </a:xfrm>
          <a:prstGeom prst="rect">
            <a:avLst/>
          </a:prstGeom>
        </p:spPr>
      </p:pic>
      <p:sp>
        <p:nvSpPr>
          <p:cNvPr id="6" name="Google Shape;61;g28e21d7ade9_0_16" descr="A green and black pattern&#10;&#10;AI-generated content may be incorrect.">
            <a:extLst>
              <a:ext uri="{FF2B5EF4-FFF2-40B4-BE49-F238E27FC236}">
                <a16:creationId xmlns:a16="http://schemas.microsoft.com/office/drawing/2014/main" id="{C2C1BA0A-E3ED-D685-26AE-3EC8940B8BC7}"/>
              </a:ext>
              <a:ext uri="{C183D7F6-B498-43B3-948B-1728B52AA6E4}">
                <adec:decorative xmlns:adec="http://schemas.microsoft.com/office/drawing/2017/decorative" val="0"/>
              </a:ext>
            </a:extLst>
          </p:cNvPr>
          <p:cNvSpPr txBox="1"/>
          <p:nvPr userDrawn="1"/>
        </p:nvSpPr>
        <p:spPr>
          <a:xfrm>
            <a:off x="2767915" y="2984501"/>
            <a:ext cx="6660292" cy="1143000"/>
          </a:xfrm>
          <a:prstGeom prst="rect">
            <a:avLst/>
          </a:prstGeom>
          <a:solidFill>
            <a:srgbClr val="2B8147"/>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dirty="0">
                <a:solidFill>
                  <a:schemeClr val="bg1"/>
                </a:solidFill>
                <a:latin typeface="Calibri" panose="020F0502020204030204" pitchFamily="34" charset="0"/>
              </a:rPr>
              <a:t>Getting Started</a:t>
            </a:r>
            <a:endParaRPr baseline="0" dirty="0">
              <a:solidFill>
                <a:schemeClr val="bg1"/>
              </a:solidFill>
              <a:latin typeface="Calibri" panose="020F0502020204030204" pitchFamily="34" charset="0"/>
            </a:endParaRPr>
          </a:p>
        </p:txBody>
      </p:sp>
      <p:pic>
        <p:nvPicPr>
          <p:cNvPr id="8" name="Picture 7" descr="A black and white image of a stopwatch&#10;&#10;Description automatically generated">
            <a:extLst>
              <a:ext uri="{FF2B5EF4-FFF2-40B4-BE49-F238E27FC236}">
                <a16:creationId xmlns:a16="http://schemas.microsoft.com/office/drawing/2014/main" id="{D0B206A4-53F8-1A55-3AAC-FA344E665088}"/>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585174" y="5576768"/>
            <a:ext cx="1746598" cy="1130153"/>
          </a:xfrm>
          <a:prstGeom prst="rect">
            <a:avLst/>
          </a:prstGeom>
        </p:spPr>
      </p:pic>
      <p:sp>
        <p:nvSpPr>
          <p:cNvPr id="9" name="Text Placeholder 10">
            <a:extLst>
              <a:ext uri="{FF2B5EF4-FFF2-40B4-BE49-F238E27FC236}">
                <a16:creationId xmlns:a16="http://schemas.microsoft.com/office/drawing/2014/main" id="{B0FE485E-9F70-BE82-8FD9-400E2BFB5CAC}"/>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dirty="0"/>
              <a:t>x</a:t>
            </a:r>
          </a:p>
        </p:txBody>
      </p:sp>
    </p:spTree>
    <p:extLst>
      <p:ext uri="{BB962C8B-B14F-4D97-AF65-F5344CB8AC3E}">
        <p14:creationId xmlns:p14="http://schemas.microsoft.com/office/powerpoint/2010/main" val="41336155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Alg I_Getting Started">
    <p:bg>
      <p:bgPr>
        <a:solidFill>
          <a:schemeClr val="bg1"/>
        </a:solidFill>
        <a:effectLst/>
      </p:bgPr>
    </p:bg>
    <p:spTree>
      <p:nvGrpSpPr>
        <p:cNvPr id="1" name=""/>
        <p:cNvGrpSpPr/>
        <p:nvPr/>
      </p:nvGrpSpPr>
      <p:grpSpPr>
        <a:xfrm>
          <a:off x="0" y="0"/>
          <a:ext cx="0" cy="0"/>
          <a:chOff x="0" y="0"/>
          <a:chExt cx="0" cy="0"/>
        </a:xfrm>
      </p:grpSpPr>
      <p:pic>
        <p:nvPicPr>
          <p:cNvPr id="4" name="Picture 3" descr="A green and black pattern&#10;&#10;AI-generated content may be incorrect.">
            <a:extLst>
              <a:ext uri="{FF2B5EF4-FFF2-40B4-BE49-F238E27FC236}">
                <a16:creationId xmlns:a16="http://schemas.microsoft.com/office/drawing/2014/main" id="{D1D8FC0F-F66E-E7A9-B361-E6E0B4BE09B2}"/>
              </a:ext>
              <a:ext uri="{C183D7F6-B498-43B3-948B-1728B52AA6E4}">
                <adec:decorative xmlns:adec="http://schemas.microsoft.com/office/drawing/2017/decorative" val="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2316529"/>
            <a:ext cx="12190415" cy="2682142"/>
          </a:xfrm>
          <a:prstGeom prst="rect">
            <a:avLst/>
          </a:prstGeom>
        </p:spPr>
      </p:pic>
      <p:sp>
        <p:nvSpPr>
          <p:cNvPr id="6" name="Google Shape;61;g28e21d7ade9_0_16" descr="A green and black pattern&#10;&#10;AI-generated content may be incorrect.">
            <a:extLst>
              <a:ext uri="{FF2B5EF4-FFF2-40B4-BE49-F238E27FC236}">
                <a16:creationId xmlns:a16="http://schemas.microsoft.com/office/drawing/2014/main" id="{C2C1BA0A-E3ED-D685-26AE-3EC8940B8BC7}"/>
              </a:ext>
              <a:ext uri="{C183D7F6-B498-43B3-948B-1728B52AA6E4}">
                <adec:decorative xmlns:adec="http://schemas.microsoft.com/office/drawing/2017/decorative" val="0"/>
              </a:ext>
            </a:extLst>
          </p:cNvPr>
          <p:cNvSpPr txBox="1"/>
          <p:nvPr userDrawn="1"/>
        </p:nvSpPr>
        <p:spPr>
          <a:xfrm>
            <a:off x="3866323" y="2984501"/>
            <a:ext cx="4432852" cy="1143000"/>
          </a:xfrm>
          <a:prstGeom prst="rect">
            <a:avLst/>
          </a:prstGeom>
          <a:solidFill>
            <a:srgbClr val="2B8147"/>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dirty="0">
                <a:solidFill>
                  <a:schemeClr val="bg1"/>
                </a:solidFill>
                <a:latin typeface="Calibri" panose="020F0502020204030204" pitchFamily="34" charset="0"/>
              </a:rPr>
              <a:t>Prepare</a:t>
            </a:r>
            <a:endParaRPr baseline="0" dirty="0">
              <a:solidFill>
                <a:schemeClr val="bg1"/>
              </a:solidFill>
              <a:latin typeface="Calibri" panose="020F0502020204030204" pitchFamily="34" charset="0"/>
            </a:endParaRPr>
          </a:p>
        </p:txBody>
      </p:sp>
    </p:spTree>
    <p:extLst>
      <p:ext uri="{BB962C8B-B14F-4D97-AF65-F5344CB8AC3E}">
        <p14:creationId xmlns:p14="http://schemas.microsoft.com/office/powerpoint/2010/main" val="39292980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lg I_Session Divider">
    <p:bg>
      <p:bgPr>
        <a:solidFill>
          <a:schemeClr val="bg1"/>
        </a:solidFill>
        <a:effectLst/>
      </p:bgPr>
    </p:bg>
    <p:spTree>
      <p:nvGrpSpPr>
        <p:cNvPr id="1" name=""/>
        <p:cNvGrpSpPr/>
        <p:nvPr/>
      </p:nvGrpSpPr>
      <p:grpSpPr>
        <a:xfrm>
          <a:off x="0" y="0"/>
          <a:ext cx="0" cy="0"/>
          <a:chOff x="0" y="0"/>
          <a:chExt cx="0" cy="0"/>
        </a:xfrm>
      </p:grpSpPr>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4918157" y="2955793"/>
            <a:ext cx="1512037" cy="946413"/>
          </a:xfrm>
          <a:prstGeom prst="rect">
            <a:avLst/>
          </a:prstGeom>
          <a:ln w="12700">
            <a:miter lim="400000"/>
          </a:ln>
        </p:spPr>
        <p:txBody>
          <a:bodyPr wrap="square" lIns="0" tIns="0" rIns="0" bIns="0">
            <a:sp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r>
              <a:rPr lang="en-US" baseline="0" dirty="0">
                <a:solidFill>
                  <a:schemeClr val="bg2">
                    <a:lumMod val="10000"/>
                  </a:schemeClr>
                </a:solidFill>
                <a:latin typeface="Calibri" panose="020F0502020204030204" pitchFamily="34" charset="0"/>
              </a:rPr>
              <a:t>Day</a:t>
            </a:r>
            <a:endParaRPr baseline="0" dirty="0">
              <a:solidFill>
                <a:schemeClr val="bg2">
                  <a:lumMod val="10000"/>
                </a:schemeClr>
              </a:solidFill>
              <a:latin typeface="Calibri" panose="020F0502020204030204" pitchFamily="34" charset="0"/>
            </a:endParaRPr>
          </a:p>
        </p:txBody>
      </p:sp>
      <p:sp>
        <p:nvSpPr>
          <p:cNvPr id="6" name="Text Placeholder 5">
            <a:extLst>
              <a:ext uri="{FF2B5EF4-FFF2-40B4-BE49-F238E27FC236}">
                <a16:creationId xmlns:a16="http://schemas.microsoft.com/office/drawing/2014/main" id="{387DC733-57F9-7B5A-186D-1BA8C44555D4}"/>
              </a:ext>
            </a:extLst>
          </p:cNvPr>
          <p:cNvSpPr>
            <a:spLocks noGrp="1"/>
          </p:cNvSpPr>
          <p:nvPr>
            <p:ph type="body" sz="quarter" idx="11" hasCustomPrompt="1"/>
          </p:nvPr>
        </p:nvSpPr>
        <p:spPr>
          <a:xfrm>
            <a:off x="5578106" y="2843523"/>
            <a:ext cx="1061883" cy="1071562"/>
          </a:xfrm>
          <a:prstGeom prst="rect">
            <a:avLst/>
          </a:prstGeom>
        </p:spPr>
        <p:txBody>
          <a:bodyPr/>
          <a:lstStyle>
            <a:lvl5pPr marL="1828800" indent="0" algn="ctr">
              <a:buNone/>
              <a:defRPr sz="7500" b="1">
                <a:solidFill>
                  <a:srgbClr val="000000"/>
                </a:solidFill>
                <a:latin typeface="Calibri" panose="020F0502020204030204" pitchFamily="34" charset="0"/>
                <a:ea typeface="Calibri" panose="020F0502020204030204" pitchFamily="34" charset="0"/>
                <a:cs typeface="Calibri" panose="020F0502020204030204" pitchFamily="34" charset="0"/>
              </a:defRPr>
            </a:lvl5pPr>
          </a:lstStyle>
          <a:p>
            <a:pPr lvl="4"/>
            <a:r>
              <a:rPr lang="en-US" dirty="0"/>
              <a:t>#</a:t>
            </a:r>
          </a:p>
        </p:txBody>
      </p:sp>
      <p:pic>
        <p:nvPicPr>
          <p:cNvPr id="2" name="Picture 1">
            <a:extLst>
              <a:ext uri="{FF2B5EF4-FFF2-40B4-BE49-F238E27FC236}">
                <a16:creationId xmlns:a16="http://schemas.microsoft.com/office/drawing/2014/main" id="{B9C392F0-D9CA-045E-DC33-AD0DC6B7D521}"/>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4663225"/>
            <a:ext cx="12190413" cy="2194775"/>
          </a:xfrm>
          <a:prstGeom prst="rect">
            <a:avLst/>
          </a:prstGeom>
        </p:spPr>
      </p:pic>
      <p:pic>
        <p:nvPicPr>
          <p:cNvPr id="4" name="Picture 3">
            <a:extLst>
              <a:ext uri="{FF2B5EF4-FFF2-40B4-BE49-F238E27FC236}">
                <a16:creationId xmlns:a16="http://schemas.microsoft.com/office/drawing/2014/main" id="{CB26F559-C57E-C96A-5BDB-3214E7F526F9}"/>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rot="10800000">
            <a:off x="-794" y="-12700"/>
            <a:ext cx="12190413" cy="2194775"/>
          </a:xfrm>
          <a:prstGeom prst="rect">
            <a:avLst/>
          </a:prstGeom>
        </p:spPr>
      </p:pic>
    </p:spTree>
    <p:extLst>
      <p:ext uri="{BB962C8B-B14F-4D97-AF65-F5344CB8AC3E}">
        <p14:creationId xmlns:p14="http://schemas.microsoft.com/office/powerpoint/2010/main" val="24094552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lg I_Cutouts Divider">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0DF6CF-F4AD-69B3-86F7-6B8955E3F2B1}"/>
              </a:ext>
            </a:extLst>
          </p:cNvPr>
          <p:cNvSpPr>
            <a:spLocks noGrp="1"/>
          </p:cNvSpPr>
          <p:nvPr>
            <p:ph type="body" sz="quarter" idx="10"/>
          </p:nvPr>
        </p:nvSpPr>
        <p:spPr>
          <a:xfrm>
            <a:off x="5171005" y="2395538"/>
            <a:ext cx="1848402" cy="1033462"/>
          </a:xfrm>
          <a:prstGeom prst="rect">
            <a:avLst/>
          </a:prstGeom>
        </p:spPr>
        <p:txBody>
          <a:bodyPr/>
          <a:lstStyle>
            <a:lvl1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1pPr>
            <a:lvl2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2pPr>
            <a:lvl3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3pPr>
            <a:lvl4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4pPr>
            <a:lvl5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3" name="Picture 2">
            <a:extLst>
              <a:ext uri="{FF2B5EF4-FFF2-40B4-BE49-F238E27FC236}">
                <a16:creationId xmlns:a16="http://schemas.microsoft.com/office/drawing/2014/main" id="{737A2645-EE86-77F8-BA51-02B334B382F3}"/>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4663225"/>
            <a:ext cx="12190413" cy="2194775"/>
          </a:xfrm>
          <a:prstGeom prst="rect">
            <a:avLst/>
          </a:prstGeom>
        </p:spPr>
      </p:pic>
    </p:spTree>
    <p:extLst>
      <p:ext uri="{BB962C8B-B14F-4D97-AF65-F5344CB8AC3E}">
        <p14:creationId xmlns:p14="http://schemas.microsoft.com/office/powerpoint/2010/main" val="12250357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Alg I_Back Cover">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73E638D-838D-E791-FA97-DF1E0C1C5B05}"/>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4663225"/>
            <a:ext cx="12190413" cy="2194775"/>
          </a:xfrm>
          <a:prstGeom prst="rect">
            <a:avLst/>
          </a:prstGeom>
        </p:spPr>
      </p:pic>
      <p:sp>
        <p:nvSpPr>
          <p:cNvPr id="4" name="Text Placeholder 3">
            <a:extLst>
              <a:ext uri="{FF2B5EF4-FFF2-40B4-BE49-F238E27FC236}">
                <a16:creationId xmlns:a16="http://schemas.microsoft.com/office/drawing/2014/main" id="{9C323EF9-0FCF-481F-97C8-ABBEA6C0F486}"/>
              </a:ext>
            </a:extLst>
          </p:cNvPr>
          <p:cNvSpPr>
            <a:spLocks noGrp="1"/>
          </p:cNvSpPr>
          <p:nvPr>
            <p:ph type="body" sz="quarter" idx="10" hasCustomPrompt="1"/>
          </p:nvPr>
        </p:nvSpPr>
        <p:spPr>
          <a:xfrm>
            <a:off x="8155889" y="4975063"/>
            <a:ext cx="3431356" cy="414778"/>
          </a:xfrm>
          <a:prstGeom prst="rect">
            <a:avLst/>
          </a:prstGeom>
          <a:solidFill>
            <a:srgbClr val="2B8147"/>
          </a:solidFill>
        </p:spPr>
        <p:txBody>
          <a:bodyPr lIns="0" rIns="0" anchor="ctr"/>
          <a:lstStyle>
            <a:lvl1pPr marL="0" indent="0" algn="ctr">
              <a:buNone/>
              <a:defRPr sz="1800">
                <a:solidFill>
                  <a:schemeClr val="bg1"/>
                </a:solidFill>
              </a:defRPr>
            </a:lvl1pPr>
            <a:lvl4pPr marL="1371600" indent="0">
              <a:buNone/>
              <a:defRPr/>
            </a:lvl4pPr>
          </a:lstStyle>
          <a:p>
            <a:pPr lvl="0"/>
            <a:r>
              <a:rPr lang="en-US" dirty="0"/>
              <a:t>UNIQUE ID</a:t>
            </a:r>
          </a:p>
        </p:txBody>
      </p:sp>
      <p:grpSp>
        <p:nvGrpSpPr>
          <p:cNvPr id="5" name="Group 4">
            <a:extLst>
              <a:ext uri="{FF2B5EF4-FFF2-40B4-BE49-F238E27FC236}">
                <a16:creationId xmlns:a16="http://schemas.microsoft.com/office/drawing/2014/main" id="{CB4B7E3B-5741-B70F-3A0A-3E11BCF38FEB}"/>
              </a:ext>
            </a:extLst>
          </p:cNvPr>
          <p:cNvGrpSpPr/>
          <p:nvPr userDrawn="1"/>
        </p:nvGrpSpPr>
        <p:grpSpPr>
          <a:xfrm>
            <a:off x="9053008" y="227306"/>
            <a:ext cx="2910578" cy="1472169"/>
            <a:chOff x="8940726" y="132485"/>
            <a:chExt cx="2910578" cy="1472169"/>
          </a:xfrm>
        </p:grpSpPr>
        <p:pic>
          <p:nvPicPr>
            <p:cNvPr id="6" name="Picture 5" descr="A blue and black logo&#10;&#10;AI-generated content may be incorrect.">
              <a:extLst>
                <a:ext uri="{FF2B5EF4-FFF2-40B4-BE49-F238E27FC236}">
                  <a16:creationId xmlns:a16="http://schemas.microsoft.com/office/drawing/2014/main" id="{E7939853-80EF-C461-0365-6353B33278A2}"/>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940726" y="132485"/>
              <a:ext cx="2910578" cy="954944"/>
            </a:xfrm>
            <a:prstGeom prst="rect">
              <a:avLst/>
            </a:prstGeom>
          </p:spPr>
        </p:pic>
        <p:sp>
          <p:nvSpPr>
            <p:cNvPr id="7" name="TextBox 6">
              <a:extLst>
                <a:ext uri="{FF2B5EF4-FFF2-40B4-BE49-F238E27FC236}">
                  <a16:creationId xmlns:a16="http://schemas.microsoft.com/office/drawing/2014/main" id="{580B98D7-A8B1-479E-0522-2C0BC59CE093}"/>
                </a:ext>
              </a:extLst>
            </p:cNvPr>
            <p:cNvSpPr txBox="1"/>
            <p:nvPr userDrawn="1"/>
          </p:nvSpPr>
          <p:spPr>
            <a:xfrm>
              <a:off x="10111407" y="1007699"/>
              <a:ext cx="1643271" cy="267288"/>
            </a:xfrm>
            <a:prstGeom prst="rect">
              <a:avLst/>
            </a:prstGeom>
            <a:noFill/>
          </p:spPr>
          <p:txBody>
            <a:bodyPr wrap="square" rtlCol="0">
              <a:spAutoFit/>
            </a:bodyPr>
            <a:lstStyle/>
            <a:p>
              <a:pPr algn="ctr"/>
              <a:r>
                <a:rPr lang="en-US" sz="1100" b="1" dirty="0">
                  <a:solidFill>
                    <a:srgbClr val="000000"/>
                  </a:solidFill>
                </a:rPr>
                <a:t>Secondary Mathematics</a:t>
              </a:r>
            </a:p>
          </p:txBody>
        </p:sp>
        <p:sp>
          <p:nvSpPr>
            <p:cNvPr id="8" name="Rounded Rectangle 7">
              <a:extLst>
                <a:ext uri="{FF2B5EF4-FFF2-40B4-BE49-F238E27FC236}">
                  <a16:creationId xmlns:a16="http://schemas.microsoft.com/office/drawing/2014/main" id="{DAAFCF8B-077A-7325-2A07-02B9BADACB35}"/>
                </a:ext>
              </a:extLst>
            </p:cNvPr>
            <p:cNvSpPr/>
            <p:nvPr userDrawn="1"/>
          </p:nvSpPr>
          <p:spPr>
            <a:xfrm>
              <a:off x="10236991" y="1306046"/>
              <a:ext cx="907774" cy="298608"/>
            </a:xfrm>
            <a:prstGeom prst="round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A4C6EED1-1022-7E70-EA88-6CC6F479360D}"/>
                </a:ext>
              </a:extLst>
            </p:cNvPr>
            <p:cNvSpPr txBox="1"/>
            <p:nvPr userDrawn="1"/>
          </p:nvSpPr>
          <p:spPr>
            <a:xfrm>
              <a:off x="10252484" y="1335768"/>
              <a:ext cx="868018" cy="237827"/>
            </a:xfrm>
            <a:prstGeom prst="rect">
              <a:avLst/>
            </a:prstGeom>
            <a:noFill/>
          </p:spPr>
          <p:txBody>
            <a:bodyPr wrap="square" rtlCol="0">
              <a:spAutoFit/>
            </a:bodyPr>
            <a:lstStyle/>
            <a:p>
              <a:pPr algn="ctr"/>
              <a:r>
                <a:rPr lang="en-US" sz="1100" b="1" i="0" dirty="0">
                  <a:solidFill>
                    <a:schemeClr val="bg2">
                      <a:lumMod val="50000"/>
                    </a:schemeClr>
                  </a:solidFill>
                  <a:latin typeface="Calibri" panose="020F0502020204030204" pitchFamily="34" charset="0"/>
                  <a:cs typeface="Calibri" panose="020F0502020204030204" pitchFamily="34" charset="0"/>
                </a:rPr>
                <a:t>EDITION 1</a:t>
              </a:r>
            </a:p>
          </p:txBody>
        </p:sp>
      </p:grpSp>
      <p:sp>
        <p:nvSpPr>
          <p:cNvPr id="10" name="Round Single Corner Rectangle 9">
            <a:extLst>
              <a:ext uri="{FF2B5EF4-FFF2-40B4-BE49-F238E27FC236}">
                <a16:creationId xmlns:a16="http://schemas.microsoft.com/office/drawing/2014/main" id="{93823D53-B128-B4F8-9323-2DE21A5AC48C}"/>
              </a:ext>
            </a:extLst>
          </p:cNvPr>
          <p:cNvSpPr/>
          <p:nvPr userDrawn="1"/>
        </p:nvSpPr>
        <p:spPr>
          <a:xfrm rot="10800000" flipH="1">
            <a:off x="0" y="0"/>
            <a:ext cx="2467555" cy="954942"/>
          </a:xfrm>
          <a:prstGeom prst="round1Rect">
            <a:avLst/>
          </a:prstGeom>
          <a:solidFill>
            <a:srgbClr val="2B814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61ED4D92-107A-5626-60FD-8669F753FD4A}"/>
              </a:ext>
            </a:extLst>
          </p:cNvPr>
          <p:cNvSpPr txBox="1"/>
          <p:nvPr userDrawn="1"/>
        </p:nvSpPr>
        <p:spPr>
          <a:xfrm>
            <a:off x="0" y="280732"/>
            <a:ext cx="2467555" cy="461665"/>
          </a:xfrm>
          <a:prstGeom prst="rect">
            <a:avLst/>
          </a:prstGeom>
          <a:noFill/>
        </p:spPr>
        <p:txBody>
          <a:bodyPr wrap="square" rtlCol="0">
            <a:spAutoFit/>
          </a:bodyPr>
          <a:lstStyle/>
          <a:p>
            <a:pPr algn="ctr"/>
            <a:r>
              <a:rPr lang="en-US" sz="2400" dirty="0">
                <a:solidFill>
                  <a:schemeClr val="bg1"/>
                </a:solidFill>
              </a:rPr>
              <a:t>ENGLISH</a:t>
            </a:r>
          </a:p>
        </p:txBody>
      </p:sp>
    </p:spTree>
    <p:extLst>
      <p:ext uri="{BB962C8B-B14F-4D97-AF65-F5344CB8AC3E}">
        <p14:creationId xmlns:p14="http://schemas.microsoft.com/office/powerpoint/2010/main" val="3392555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Objectiv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1829944-32A0-A52A-BF8F-4735C4809687}"/>
              </a:ext>
            </a:extLst>
          </p:cNvPr>
          <p:cNvSpPr/>
          <p:nvPr userDrawn="1"/>
        </p:nvSpPr>
        <p:spPr>
          <a:xfrm>
            <a:off x="-1586" y="1392600"/>
            <a:ext cx="12192000" cy="549097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a:extLst>
              <a:ext uri="{FF2B5EF4-FFF2-40B4-BE49-F238E27FC236}">
                <a16:creationId xmlns:a16="http://schemas.microsoft.com/office/drawing/2014/main" id="{D79E0344-0011-1E90-A995-632330E63EB5}"/>
              </a:ext>
            </a:extLst>
          </p:cNvPr>
          <p:cNvSpPr>
            <a:spLocks noGrp="1"/>
          </p:cNvSpPr>
          <p:nvPr>
            <p:ph type="body" sz="quarter" idx="10"/>
          </p:nvPr>
        </p:nvSpPr>
        <p:spPr>
          <a:xfrm>
            <a:off x="836614" y="2159879"/>
            <a:ext cx="10515599" cy="3956418"/>
          </a:xfrm>
          <a:prstGeom prst="rect">
            <a:avLst/>
          </a:prstGeom>
        </p:spPr>
        <p:txBody>
          <a:bodyPr/>
          <a:lstStyle>
            <a:lvl1pPr marL="0" indent="0" algn="ctr">
              <a:buNone/>
              <a:defRPr sz="4400">
                <a:solidFill>
                  <a:schemeClr val="bg2">
                    <a:lumMod val="25000"/>
                  </a:schemeClr>
                </a:solidFill>
              </a:defRPr>
            </a:lvl1pPr>
            <a:lvl2pPr marL="457200" indent="0" algn="ctr">
              <a:buNone/>
              <a:defRPr sz="4400"/>
            </a:lvl2pPr>
            <a:lvl3pPr marL="914400" indent="0" algn="ctr">
              <a:buNone/>
              <a:defRPr sz="4400"/>
            </a:lvl3pPr>
            <a:lvl4pPr marL="1371600" indent="0" algn="ctr">
              <a:buNone/>
              <a:defRPr sz="4400"/>
            </a:lvl4pPr>
            <a:lvl5pPr marL="1828800" indent="0" algn="ctr">
              <a:buNone/>
              <a:defRPr sz="4400"/>
            </a:lvl5pPr>
          </a:lstStyle>
          <a:p>
            <a:pPr lvl="0"/>
            <a:r>
              <a:rPr lang="en-US" dirty="0"/>
              <a:t>Click to edit Master text styles</a:t>
            </a:r>
          </a:p>
        </p:txBody>
      </p:sp>
      <p:sp>
        <p:nvSpPr>
          <p:cNvPr id="2" name="Rectangle 1">
            <a:extLst>
              <a:ext uri="{FF2B5EF4-FFF2-40B4-BE49-F238E27FC236}">
                <a16:creationId xmlns:a16="http://schemas.microsoft.com/office/drawing/2014/main" id="{EAD99D76-9E3B-F682-01E8-888F253831AF}"/>
              </a:ext>
            </a:extLst>
          </p:cNvPr>
          <p:cNvSpPr/>
          <p:nvPr userDrawn="1"/>
        </p:nvSpPr>
        <p:spPr>
          <a:xfrm>
            <a:off x="0" y="0"/>
            <a:ext cx="7575442" cy="927652"/>
          </a:xfrm>
          <a:prstGeom prst="rect">
            <a:avLst/>
          </a:prstGeom>
          <a:solidFill>
            <a:srgbClr val="23673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28B98FEA-D4C0-8394-EFDC-1E0F624AD0AF}"/>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575441" y="0"/>
            <a:ext cx="4614971" cy="931321"/>
          </a:xfrm>
          <a:prstGeom prst="rect">
            <a:avLst/>
          </a:prstGeom>
        </p:spPr>
      </p:pic>
      <p:sp>
        <p:nvSpPr>
          <p:cNvPr id="6" name="Title 5">
            <a:extLst>
              <a:ext uri="{FF2B5EF4-FFF2-40B4-BE49-F238E27FC236}">
                <a16:creationId xmlns:a16="http://schemas.microsoft.com/office/drawing/2014/main" id="{BD8B91BD-71BF-8DE9-CC35-80883F08DEDC}"/>
              </a:ext>
            </a:extLst>
          </p:cNvPr>
          <p:cNvSpPr>
            <a:spLocks noGrp="1"/>
          </p:cNvSpPr>
          <p:nvPr>
            <p:ph type="title" hasCustomPrompt="1"/>
          </p:nvPr>
        </p:nvSpPr>
        <p:spPr>
          <a:xfrm>
            <a:off x="0" y="0"/>
            <a:ext cx="6094413" cy="926757"/>
          </a:xfrm>
          <a:prstGeom prst="rect">
            <a:avLst/>
          </a:prstGeom>
          <a:noFill/>
        </p:spPr>
        <p:txBody>
          <a:bodyPr lIns="457200" anchor="ctr"/>
          <a:lstStyle>
            <a:lvl1pPr>
              <a:defRPr sz="4000" b="1">
                <a:solidFill>
                  <a:schemeClr val="bg1"/>
                </a:solidFill>
              </a:defRPr>
            </a:lvl1pPr>
          </a:lstStyle>
          <a:p>
            <a:r>
              <a:rPr lang="en-US" dirty="0"/>
              <a:t>Objectives</a:t>
            </a:r>
          </a:p>
        </p:txBody>
      </p:sp>
    </p:spTree>
    <p:extLst>
      <p:ext uri="{BB962C8B-B14F-4D97-AF65-F5344CB8AC3E}">
        <p14:creationId xmlns:p14="http://schemas.microsoft.com/office/powerpoint/2010/main" val="32669505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Terminology">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23B0928-1D5C-86AC-B6D2-6C4246A897D0}"/>
              </a:ext>
            </a:extLst>
          </p:cNvPr>
          <p:cNvSpPr>
            <a:spLocks noGrp="1"/>
          </p:cNvSpPr>
          <p:nvPr>
            <p:ph type="body" sz="quarter" idx="10" hasCustomPrompt="1"/>
          </p:nvPr>
        </p:nvSpPr>
        <p:spPr>
          <a:xfrm>
            <a:off x="852488" y="1652588"/>
            <a:ext cx="10515600" cy="1169743"/>
          </a:xfrm>
          <a:prstGeom prst="rect">
            <a:avLst/>
          </a:prstGeom>
        </p:spPr>
        <p:txBody>
          <a:bodyPr/>
          <a:lstStyle>
            <a:lvl1pPr marL="0" indent="0">
              <a:buNone/>
              <a:defRPr>
                <a:solidFill>
                  <a:schemeClr val="bg2">
                    <a:lumMod val="25000"/>
                  </a:schemeClr>
                </a:solidFill>
              </a:defRPr>
            </a:lvl1pPr>
          </a:lstStyle>
          <a:p>
            <a:pPr lvl="0"/>
            <a:r>
              <a:rPr lang="en-US" dirty="0"/>
              <a:t>Click to add text</a:t>
            </a:r>
          </a:p>
        </p:txBody>
      </p:sp>
      <p:sp>
        <p:nvSpPr>
          <p:cNvPr id="5" name="Picture Placeholder 4">
            <a:extLst>
              <a:ext uri="{FF2B5EF4-FFF2-40B4-BE49-F238E27FC236}">
                <a16:creationId xmlns:a16="http://schemas.microsoft.com/office/drawing/2014/main" id="{C3DA5AEB-614E-452B-EDEF-80B18EE3E858}"/>
              </a:ext>
            </a:extLst>
          </p:cNvPr>
          <p:cNvSpPr>
            <a:spLocks noGrp="1"/>
          </p:cNvSpPr>
          <p:nvPr>
            <p:ph type="pic" sz="quarter" idx="11"/>
          </p:nvPr>
        </p:nvSpPr>
        <p:spPr>
          <a:xfrm>
            <a:off x="3427412" y="3217943"/>
            <a:ext cx="5335588" cy="2505075"/>
          </a:xfrm>
          <a:prstGeom prst="rect">
            <a:avLst/>
          </a:prstGeom>
        </p:spPr>
        <p:txBody>
          <a:bodyPr/>
          <a:lstStyle>
            <a:lvl1pPr marL="0" indent="0">
              <a:buNone/>
              <a:defRPr/>
            </a:lvl1pPr>
          </a:lstStyle>
          <a:p>
            <a:endParaRPr lang="en-US" dirty="0"/>
          </a:p>
        </p:txBody>
      </p:sp>
      <p:sp>
        <p:nvSpPr>
          <p:cNvPr id="4" name="Title 1">
            <a:extLst>
              <a:ext uri="{FF2B5EF4-FFF2-40B4-BE49-F238E27FC236}">
                <a16:creationId xmlns:a16="http://schemas.microsoft.com/office/drawing/2014/main" id="{CD7B4969-F122-3811-0A1A-DDA09AF4AB50}"/>
              </a:ext>
            </a:extLst>
          </p:cNvPr>
          <p:cNvSpPr>
            <a:spLocks noGrp="1"/>
          </p:cNvSpPr>
          <p:nvPr>
            <p:ph type="title" hasCustomPrompt="1"/>
          </p:nvPr>
        </p:nvSpPr>
        <p:spPr>
          <a:xfrm>
            <a:off x="777240" y="1"/>
            <a:ext cx="11425482" cy="1263192"/>
          </a:xfrm>
          <a:prstGeom prst="rect">
            <a:avLst/>
          </a:prstGeom>
        </p:spPr>
        <p:txBody>
          <a:bodyPr anchor="ctr"/>
          <a:lstStyle>
            <a:lvl1pPr>
              <a:defRPr sz="4000">
                <a:solidFill>
                  <a:srgbClr val="2B8147"/>
                </a:solidFill>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dirty="0">
                <a:solidFill>
                  <a:srgbClr val="000000"/>
                </a:solidFill>
                <a:latin typeface="Calibri" panose="020F0502020204030204"/>
                <a:ea typeface="Calibri" panose="020F0502020204030204"/>
                <a:cs typeface="Calibri" panose="020F0502020204030204"/>
                <a:sym typeface="Calibri" panose="020F0502020204030204"/>
              </a:rPr>
              <a:t>Key Terms</a:t>
            </a:r>
          </a:p>
        </p:txBody>
      </p:sp>
      <p:pic>
        <p:nvPicPr>
          <p:cNvPr id="6" name="Picture 5">
            <a:extLst>
              <a:ext uri="{FF2B5EF4-FFF2-40B4-BE49-F238E27FC236}">
                <a16:creationId xmlns:a16="http://schemas.microsoft.com/office/drawing/2014/main" id="{5CDE9F74-7CE7-793B-B90F-365B5F549D7A}"/>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322983" cy="6858000"/>
          </a:xfrm>
          <a:prstGeom prst="rect">
            <a:avLst/>
          </a:prstGeom>
        </p:spPr>
      </p:pic>
    </p:spTree>
    <p:extLst>
      <p:ext uri="{BB962C8B-B14F-4D97-AF65-F5344CB8AC3E}">
        <p14:creationId xmlns:p14="http://schemas.microsoft.com/office/powerpoint/2010/main" val="218384781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pplication Problem Text">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AED5C8A3-5037-99DF-15E1-2833226D35D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40002" y="5935775"/>
            <a:ext cx="1191770" cy="771146"/>
          </a:xfrm>
          <a:prstGeom prst="rect">
            <a:avLst/>
          </a:prstGeom>
        </p:spPr>
      </p:pic>
      <p:sp>
        <p:nvSpPr>
          <p:cNvPr id="12" name="Google Shape;36;g295eeb86cda_3_40"/>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18" name="Text Placeholder 16"/>
          <p:cNvSpPr>
            <a:spLocks noGrp="1"/>
          </p:cNvSpPr>
          <p:nvPr>
            <p:ph type="body" sz="quarter" idx="10" hasCustomPrompt="1"/>
          </p:nvPr>
        </p:nvSpPr>
        <p:spPr>
          <a:xfrm>
            <a:off x="11127476" y="6036181"/>
            <a:ext cx="654216"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2" name="Title 1">
            <a:extLst>
              <a:ext uri="{FF2B5EF4-FFF2-40B4-BE49-F238E27FC236}">
                <a16:creationId xmlns:a16="http://schemas.microsoft.com/office/drawing/2014/main" id="{0331744C-9446-EF32-247E-53D724128298}"/>
              </a:ext>
            </a:extLst>
          </p:cNvPr>
          <p:cNvSpPr>
            <a:spLocks noGrp="1"/>
          </p:cNvSpPr>
          <p:nvPr>
            <p:ph type="title" hasCustomPrompt="1"/>
          </p:nvPr>
        </p:nvSpPr>
        <p:spPr>
          <a:xfrm>
            <a:off x="777240" y="0"/>
            <a:ext cx="11389135" cy="1253765"/>
          </a:xfrm>
          <a:prstGeom prst="rect">
            <a:avLst/>
          </a:prstGeom>
        </p:spPr>
        <p:txBody>
          <a:bodyPr anchor="ctr"/>
          <a:lstStyle/>
          <a:p>
            <a:pPr marL="0" marR="0" lvl="0" indent="0" algn="l" defTabSz="914400" rtl="0" eaLnBrk="1" fontAlgn="auto" latinLnBrk="0" hangingPunct="1">
              <a:lnSpc>
                <a:spcPct val="100000"/>
              </a:lnSpc>
              <a:spcBef>
                <a:spcPts val="0"/>
              </a:spcBef>
              <a:spcAft>
                <a:spcPts val="0"/>
              </a:spcAft>
              <a:buClr>
                <a:srgbClr val="000000"/>
              </a:buClr>
              <a:buSzPts val="4400"/>
              <a:buFont typeface="Arial" panose="020B0604020202020204"/>
              <a:buNone/>
              <a:tabLst/>
              <a:defRPr/>
            </a:pPr>
            <a:r>
              <a:rPr kumimoji="0" lang="en-US" sz="4400" b="1" i="0" u="none" strike="noStrike" kern="1200" cap="none" spc="0" normalizeH="0" baseline="0" noProof="0">
                <a:ln>
                  <a:noFill/>
                </a:ln>
                <a:solidFill>
                  <a:srgbClr val="000000"/>
                </a:solidFill>
                <a:effectLst/>
                <a:uLnTx/>
                <a:uFillTx/>
                <a:latin typeface="Calibri" panose="020F0502020204030204"/>
                <a:ea typeface="Calibri" panose="020F0502020204030204"/>
                <a:cs typeface="Calibri" panose="020F0502020204030204"/>
                <a:sym typeface="Calibri" panose="020F0502020204030204"/>
              </a:rPr>
              <a:t>Application Problem</a:t>
            </a:r>
          </a:p>
        </p:txBody>
      </p:sp>
      <p:pic>
        <p:nvPicPr>
          <p:cNvPr id="5" name="Picture 4">
            <a:extLst>
              <a:ext uri="{FF2B5EF4-FFF2-40B4-BE49-F238E27FC236}">
                <a16:creationId xmlns:a16="http://schemas.microsoft.com/office/drawing/2014/main" id="{839BE6FA-B7B5-A88C-E18F-876B4ED3DA8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0"/>
            <a:ext cx="322983" cy="6858000"/>
          </a:xfrm>
          <a:prstGeom prst="rect">
            <a:avLst/>
          </a:prstGeom>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RDW_Horizontal">
    <p:spTree>
      <p:nvGrpSpPr>
        <p:cNvPr id="1" name=""/>
        <p:cNvGrpSpPr/>
        <p:nvPr/>
      </p:nvGrpSpPr>
      <p:grpSpPr>
        <a:xfrm>
          <a:off x="0" y="0"/>
          <a:ext cx="0" cy="0"/>
          <a:chOff x="0" y="0"/>
          <a:chExt cx="0" cy="0"/>
        </a:xfrm>
      </p:grpSpPr>
      <p:graphicFrame>
        <p:nvGraphicFramePr>
          <p:cNvPr id="14" name="Google Shape;42;g2960a169545_3_34"/>
          <p:cNvGraphicFramePr/>
          <p:nvPr userDrawn="1">
            <p:extLst>
              <p:ext uri="{D42A27DB-BD31-4B8C-83A1-F6EECF244321}">
                <p14:modId xmlns:p14="http://schemas.microsoft.com/office/powerpoint/2010/main" val="147912415"/>
              </p:ext>
            </p:extLst>
          </p:nvPr>
        </p:nvGraphicFramePr>
        <p:xfrm>
          <a:off x="775252" y="3783769"/>
          <a:ext cx="11082132" cy="2888103"/>
        </p:xfrm>
        <a:graphic>
          <a:graphicData uri="http://schemas.openxmlformats.org/drawingml/2006/table">
            <a:tbl>
              <a:tblPr firstRow="1" bandRow="1">
                <a:noFill/>
              </a:tblPr>
              <a:tblGrid>
                <a:gridCol w="3694044">
                  <a:extLst>
                    <a:ext uri="{9D8B030D-6E8A-4147-A177-3AD203B41FA5}">
                      <a16:colId xmlns:a16="http://schemas.microsoft.com/office/drawing/2014/main" val="20000"/>
                    </a:ext>
                  </a:extLst>
                </a:gridCol>
                <a:gridCol w="3694044">
                  <a:extLst>
                    <a:ext uri="{9D8B030D-6E8A-4147-A177-3AD203B41FA5}">
                      <a16:colId xmlns:a16="http://schemas.microsoft.com/office/drawing/2014/main" val="20001"/>
                    </a:ext>
                  </a:extLst>
                </a:gridCol>
                <a:gridCol w="3694044">
                  <a:extLst>
                    <a:ext uri="{9D8B030D-6E8A-4147-A177-3AD203B41FA5}">
                      <a16:colId xmlns:a16="http://schemas.microsoft.com/office/drawing/2014/main" val="20002"/>
                    </a:ext>
                  </a:extLst>
                </a:gridCol>
              </a:tblGrid>
              <a:tr h="244012">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dirty="0">
                          <a:solidFill>
                            <a:schemeClr val="bg2">
                              <a:lumMod val="25000"/>
                            </a:schemeClr>
                          </a:solidFill>
                        </a:rPr>
                        <a:t>Read</a:t>
                      </a:r>
                      <a:endParaRPr sz="1800" b="1" u="none" strike="noStrike" cap="none" dirty="0">
                        <a:solidFill>
                          <a:schemeClr val="bg2">
                            <a:lumMod val="25000"/>
                          </a:schemeClr>
                        </a:solidFill>
                      </a:endParaRPr>
                    </a:p>
                  </a:txBody>
                  <a:tcPr marL="91450" marR="91450" marT="45725" marB="457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dirty="0">
                          <a:solidFill>
                            <a:schemeClr val="bg2">
                              <a:lumMod val="25000"/>
                            </a:schemeClr>
                          </a:solidFill>
                        </a:rPr>
                        <a:t>Draw</a:t>
                      </a:r>
                      <a:endParaRPr sz="1800" b="1" u="none" strike="noStrike" cap="none" dirty="0">
                        <a:solidFill>
                          <a:schemeClr val="bg2">
                            <a:lumMod val="25000"/>
                          </a:schemeClr>
                        </a:solidFill>
                      </a:endParaRPr>
                    </a:p>
                  </a:txBody>
                  <a:tcPr marL="91450" marR="9145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dirty="0">
                          <a:solidFill>
                            <a:schemeClr val="bg2">
                              <a:lumMod val="25000"/>
                            </a:schemeClr>
                          </a:solidFill>
                        </a:rPr>
                        <a:t>Write</a:t>
                      </a:r>
                      <a:endParaRPr sz="1800" b="1" u="none" strike="noStrike" cap="none" dirty="0">
                        <a:solidFill>
                          <a:schemeClr val="bg2">
                            <a:lumMod val="25000"/>
                          </a:schemeClr>
                        </a:solidFill>
                      </a:endParaRPr>
                    </a:p>
                  </a:txBody>
                  <a:tcPr marL="91450" marR="91450" marT="45725" marB="457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430893">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dirty="0"/>
                    </a:p>
                  </a:txBody>
                  <a:tcPr marL="91450" marR="91450" marT="45725" marB="457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a:p>
                  </a:txBody>
                  <a:tcPr marL="91450" marR="9145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dirty="0"/>
                    </a:p>
                  </a:txBody>
                  <a:tcPr marL="91450" marR="91450" marT="45725" marB="457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3" name="Text Placeholder 2">
            <a:extLst>
              <a:ext uri="{FF2B5EF4-FFF2-40B4-BE49-F238E27FC236}">
                <a16:creationId xmlns:a16="http://schemas.microsoft.com/office/drawing/2014/main" id="{F5DB9EBA-92A2-D9BE-5A55-8378E259446A}"/>
              </a:ext>
            </a:extLst>
          </p:cNvPr>
          <p:cNvSpPr>
            <a:spLocks noGrp="1"/>
          </p:cNvSpPr>
          <p:nvPr>
            <p:ph type="body" sz="quarter" idx="10" hasCustomPrompt="1"/>
          </p:nvPr>
        </p:nvSpPr>
        <p:spPr>
          <a:xfrm>
            <a:off x="765313" y="1479938"/>
            <a:ext cx="11060341" cy="2072153"/>
          </a:xfrm>
          <a:prstGeom prst="rect">
            <a:avLst/>
          </a:prstGeom>
        </p:spPr>
        <p:txBody>
          <a:bodyPr/>
          <a:lstStyle>
            <a:lvl1pPr marL="0" indent="0">
              <a:buNone/>
              <a:defRPr sz="2200">
                <a:solidFill>
                  <a:schemeClr val="bg2">
                    <a:lumMod val="25000"/>
                  </a:schemeClr>
                </a:solidFill>
              </a:defRPr>
            </a:lvl1pPr>
          </a:lstStyle>
          <a:p>
            <a:pPr lvl="0"/>
            <a:r>
              <a:rPr lang="en-US" dirty="0"/>
              <a:t>Click to add text</a:t>
            </a:r>
          </a:p>
        </p:txBody>
      </p:sp>
      <p:sp>
        <p:nvSpPr>
          <p:cNvPr id="2" name="Title 1">
            <a:extLst>
              <a:ext uri="{FF2B5EF4-FFF2-40B4-BE49-F238E27FC236}">
                <a16:creationId xmlns:a16="http://schemas.microsoft.com/office/drawing/2014/main" id="{100D03EF-224B-F87A-5FAF-CA8E423C3783}"/>
              </a:ext>
            </a:extLst>
          </p:cNvPr>
          <p:cNvSpPr>
            <a:spLocks noGrp="1"/>
          </p:cNvSpPr>
          <p:nvPr>
            <p:ph type="title" hasCustomPrompt="1"/>
          </p:nvPr>
        </p:nvSpPr>
        <p:spPr>
          <a:xfrm>
            <a:off x="772211" y="0"/>
            <a:ext cx="11418202" cy="1263192"/>
          </a:xfrm>
          <a:prstGeom prst="rect">
            <a:avLst/>
          </a:prstGeom>
        </p:spPr>
        <p:txBody>
          <a:bodyPr anchor="ctr"/>
          <a:lstStyle/>
          <a:p>
            <a:pPr marL="0" marR="0" lvl="0" indent="0" algn="l" defTabSz="914400" rtl="0" eaLnBrk="1" fontAlgn="auto" latinLnBrk="0" hangingPunct="1">
              <a:lnSpc>
                <a:spcPct val="90000"/>
              </a:lnSpc>
              <a:spcBef>
                <a:spcPts val="0"/>
              </a:spcBef>
              <a:spcAft>
                <a:spcPts val="0"/>
              </a:spcAft>
              <a:buClr>
                <a:srgbClr val="000000"/>
              </a:buClr>
              <a:buSzPts val="4400"/>
              <a:buFont typeface="Arial" panose="020B0604020202020204"/>
              <a:buNone/>
              <a:tabLst/>
              <a:defRPr/>
            </a:pPr>
            <a:r>
              <a:rPr kumimoji="0" lang="en-US" sz="4400" b="1" i="0" u="none" strike="noStrike" kern="1200" cap="none" spc="0" normalizeH="0" baseline="0" noProof="0">
                <a:ln>
                  <a:noFill/>
                </a:ln>
                <a:solidFill>
                  <a:srgbClr val="000000"/>
                </a:solidFill>
                <a:effectLst/>
                <a:uLnTx/>
                <a:uFillTx/>
                <a:latin typeface="Calibri" panose="020F0502020204030204"/>
                <a:ea typeface="Calibri" panose="020F0502020204030204"/>
                <a:cs typeface="Calibri" panose="020F0502020204030204"/>
                <a:sym typeface="Calibri" panose="020F0502020204030204"/>
              </a:rPr>
              <a:t>Read-Draw-Write for Application Problem</a:t>
            </a:r>
          </a:p>
        </p:txBody>
      </p:sp>
      <p:pic>
        <p:nvPicPr>
          <p:cNvPr id="4" name="Picture 3">
            <a:extLst>
              <a:ext uri="{FF2B5EF4-FFF2-40B4-BE49-F238E27FC236}">
                <a16:creationId xmlns:a16="http://schemas.microsoft.com/office/drawing/2014/main" id="{82D8885F-4E7F-EF80-4D84-7E5D7142994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322983" cy="6858000"/>
          </a:xfrm>
          <a:prstGeom prst="rect">
            <a:avLst/>
          </a:prstGeom>
        </p:spPr>
      </p:pic>
    </p:spTree>
    <p:extLst>
      <p:ext uri="{BB962C8B-B14F-4D97-AF65-F5344CB8AC3E}">
        <p14:creationId xmlns:p14="http://schemas.microsoft.com/office/powerpoint/2010/main" val="36393183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Fluency w/Timer">
    <p:spTree>
      <p:nvGrpSpPr>
        <p:cNvPr id="1" name=""/>
        <p:cNvGrpSpPr/>
        <p:nvPr/>
      </p:nvGrpSpPr>
      <p:grpSpPr>
        <a:xfrm>
          <a:off x="0" y="0"/>
          <a:ext cx="0" cy="0"/>
          <a:chOff x="0" y="0"/>
          <a:chExt cx="0" cy="0"/>
        </a:xfrm>
      </p:grpSpPr>
      <p:pic>
        <p:nvPicPr>
          <p:cNvPr id="2" name="Picture 1" descr="A black and white image of a stopwatch&#10;&#10;Description automatically generated">
            <a:extLst>
              <a:ext uri="{FF2B5EF4-FFF2-40B4-BE49-F238E27FC236}">
                <a16:creationId xmlns:a16="http://schemas.microsoft.com/office/drawing/2014/main" id="{45C93455-7637-1C42-D775-87043FDE14A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40002" y="5935775"/>
            <a:ext cx="1191770" cy="771146"/>
          </a:xfrm>
          <a:prstGeom prst="rect">
            <a:avLst/>
          </a:prstGeom>
        </p:spPr>
      </p:pic>
      <p:sp>
        <p:nvSpPr>
          <p:cNvPr id="4" name="Google Shape;36;g295eeb86cda_3_40">
            <a:extLst>
              <a:ext uri="{FF2B5EF4-FFF2-40B4-BE49-F238E27FC236}">
                <a16:creationId xmlns:a16="http://schemas.microsoft.com/office/drawing/2014/main" id="{4B2B0557-EE61-8CF4-6E2D-B3BB9A4164D6}"/>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3" name="Text Placeholder 16">
            <a:extLst>
              <a:ext uri="{FF2B5EF4-FFF2-40B4-BE49-F238E27FC236}">
                <a16:creationId xmlns:a16="http://schemas.microsoft.com/office/drawing/2014/main" id="{2C85C328-7F49-71B9-5668-70282DB97885}"/>
              </a:ext>
            </a:extLst>
          </p:cNvPr>
          <p:cNvSpPr>
            <a:spLocks noGrp="1"/>
          </p:cNvSpPr>
          <p:nvPr>
            <p:ph type="body" sz="quarter" idx="10" hasCustomPrompt="1"/>
          </p:nvPr>
        </p:nvSpPr>
        <p:spPr>
          <a:xfrm>
            <a:off x="11127476" y="6036181"/>
            <a:ext cx="654216"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5" name="Title 3">
            <a:extLst>
              <a:ext uri="{FF2B5EF4-FFF2-40B4-BE49-F238E27FC236}">
                <a16:creationId xmlns:a16="http://schemas.microsoft.com/office/drawing/2014/main" id="{BABD6038-9E2A-9278-C4F2-299A1A34E59F}"/>
              </a:ext>
            </a:extLst>
          </p:cNvPr>
          <p:cNvSpPr>
            <a:spLocks noGrp="1"/>
          </p:cNvSpPr>
          <p:nvPr>
            <p:ph type="title" hasCustomPrompt="1"/>
          </p:nvPr>
        </p:nvSpPr>
        <p:spPr>
          <a:xfrm>
            <a:off x="777240" y="7968"/>
            <a:ext cx="11413173" cy="1269462"/>
          </a:xfrm>
          <a:prstGeom prst="rect">
            <a:avLst/>
          </a:prstGeom>
        </p:spPr>
        <p:txBody>
          <a:bodyPr anchor="ctr"/>
          <a:lstStyle>
            <a:lvl1pPr>
              <a:defRPr b="1">
                <a:solidFill>
                  <a:schemeClr val="bg2">
                    <a:lumMod val="2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Fluency: </a:t>
            </a:r>
            <a:r>
              <a:rPr kumimoji="0" lang="en-US" b="0" i="0" u="none" strike="noStrike" kern="1200" cap="none" spc="0" normalizeH="0" baseline="0" noProof="0" dirty="0">
                <a:ln>
                  <a:noFill/>
                </a:ln>
                <a:solidFill>
                  <a:srgbClr val="000000"/>
                </a:solidFill>
                <a:effectLst/>
                <a:uLnTx/>
                <a:uFillTx/>
                <a:latin typeface="Calibri"/>
                <a:ea typeface="+mn-ea"/>
                <a:cs typeface="+mn-cs"/>
              </a:rPr>
              <a:t>Title (# of #)</a:t>
            </a:r>
            <a:endParaRPr lang="en-US" dirty="0"/>
          </a:p>
        </p:txBody>
      </p:sp>
      <p:pic>
        <p:nvPicPr>
          <p:cNvPr id="7" name="Picture 6">
            <a:extLst>
              <a:ext uri="{FF2B5EF4-FFF2-40B4-BE49-F238E27FC236}">
                <a16:creationId xmlns:a16="http://schemas.microsoft.com/office/drawing/2014/main" id="{792E169A-E915-E3DE-BA92-93C09B36D4A4}"/>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0"/>
            <a:ext cx="322983" cy="6858000"/>
          </a:xfrm>
          <a:prstGeom prst="rect">
            <a:avLst/>
          </a:prstGeom>
        </p:spPr>
      </p:pic>
    </p:spTree>
    <p:extLst>
      <p:ext uri="{BB962C8B-B14F-4D97-AF65-F5344CB8AC3E}">
        <p14:creationId xmlns:p14="http://schemas.microsoft.com/office/powerpoint/2010/main" val="148376288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cept Development">
    <p:spTree>
      <p:nvGrpSpPr>
        <p:cNvPr id="1" name=""/>
        <p:cNvGrpSpPr/>
        <p:nvPr/>
      </p:nvGrpSpPr>
      <p:grpSpPr>
        <a:xfrm>
          <a:off x="0" y="0"/>
          <a:ext cx="0" cy="0"/>
          <a:chOff x="0" y="0"/>
          <a:chExt cx="0" cy="0"/>
        </a:xfrm>
      </p:grpSpPr>
      <p:sp>
        <p:nvSpPr>
          <p:cNvPr id="12" name="Google Shape;69;g2950041fd6d_0_282"/>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5" name="Title 1">
            <a:extLst>
              <a:ext uri="{FF2B5EF4-FFF2-40B4-BE49-F238E27FC236}">
                <a16:creationId xmlns:a16="http://schemas.microsoft.com/office/drawing/2014/main" id="{8EA13153-BB2D-5421-7418-44B5425F9E51}"/>
              </a:ext>
            </a:extLst>
          </p:cNvPr>
          <p:cNvSpPr>
            <a:spLocks noGrp="1"/>
          </p:cNvSpPr>
          <p:nvPr>
            <p:ph type="title" hasCustomPrompt="1"/>
          </p:nvPr>
        </p:nvSpPr>
        <p:spPr>
          <a:xfrm>
            <a:off x="777240" y="1"/>
            <a:ext cx="11390313" cy="1263192"/>
          </a:xfrm>
          <a:prstGeom prst="rect">
            <a:avLst/>
          </a:prstGeom>
        </p:spPr>
        <p:txBody>
          <a:bodyPr anchor="ct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Concept Development</a:t>
            </a:r>
          </a:p>
        </p:txBody>
      </p:sp>
      <p:pic>
        <p:nvPicPr>
          <p:cNvPr id="3" name="Picture 2">
            <a:extLst>
              <a:ext uri="{FF2B5EF4-FFF2-40B4-BE49-F238E27FC236}">
                <a16:creationId xmlns:a16="http://schemas.microsoft.com/office/drawing/2014/main" id="{6D9F641A-4A14-37E2-75D5-B878BE1C5C4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322983" cy="6858000"/>
          </a:xfrm>
          <a:prstGeom prst="rect">
            <a:avLst/>
          </a:prstGeom>
        </p:spPr>
      </p:pic>
    </p:spTree>
    <p:extLst>
      <p:ext uri="{BB962C8B-B14F-4D97-AF65-F5344CB8AC3E}">
        <p14:creationId xmlns:p14="http://schemas.microsoft.com/office/powerpoint/2010/main" val="263194971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cept Development with Timer">
    <p:spTree>
      <p:nvGrpSpPr>
        <p:cNvPr id="1" name=""/>
        <p:cNvGrpSpPr/>
        <p:nvPr/>
      </p:nvGrpSpPr>
      <p:grpSpPr>
        <a:xfrm>
          <a:off x="0" y="0"/>
          <a:ext cx="0" cy="0"/>
          <a:chOff x="0" y="0"/>
          <a:chExt cx="0" cy="0"/>
        </a:xfrm>
      </p:grpSpPr>
      <p:pic>
        <p:nvPicPr>
          <p:cNvPr id="6" name="Picture 5" descr="A black and white image of a stopwatch&#10;&#10;Description automatically generated">
            <a:extLst>
              <a:ext uri="{FF2B5EF4-FFF2-40B4-BE49-F238E27FC236}">
                <a16:creationId xmlns:a16="http://schemas.microsoft.com/office/drawing/2014/main" id="{C120155D-CE40-03A5-821E-66ED1B28D63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40002" y="5935775"/>
            <a:ext cx="1191770" cy="771146"/>
          </a:xfrm>
          <a:prstGeom prst="rect">
            <a:avLst/>
          </a:prstGeom>
        </p:spPr>
      </p:pic>
      <p:sp>
        <p:nvSpPr>
          <p:cNvPr id="12" name="Google Shape;69;g2950041fd6d_0_282"/>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3" name="Text Placeholder 16">
            <a:extLst>
              <a:ext uri="{FF2B5EF4-FFF2-40B4-BE49-F238E27FC236}">
                <a16:creationId xmlns:a16="http://schemas.microsoft.com/office/drawing/2014/main" id="{25782E0A-0BD4-715B-C55F-BBA8190C333D}"/>
              </a:ext>
            </a:extLst>
          </p:cNvPr>
          <p:cNvSpPr>
            <a:spLocks noGrp="1"/>
          </p:cNvSpPr>
          <p:nvPr>
            <p:ph type="body" sz="quarter" idx="10" hasCustomPrompt="1"/>
          </p:nvPr>
        </p:nvSpPr>
        <p:spPr>
          <a:xfrm>
            <a:off x="11127570" y="6036181"/>
            <a:ext cx="654121"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5" name="Title 1">
            <a:extLst>
              <a:ext uri="{FF2B5EF4-FFF2-40B4-BE49-F238E27FC236}">
                <a16:creationId xmlns:a16="http://schemas.microsoft.com/office/drawing/2014/main" id="{8EA13153-BB2D-5421-7418-44B5425F9E51}"/>
              </a:ext>
            </a:extLst>
          </p:cNvPr>
          <p:cNvSpPr>
            <a:spLocks noGrp="1"/>
          </p:cNvSpPr>
          <p:nvPr>
            <p:ph type="title" hasCustomPrompt="1"/>
          </p:nvPr>
        </p:nvSpPr>
        <p:spPr>
          <a:xfrm>
            <a:off x="777240" y="1"/>
            <a:ext cx="11390313" cy="1263192"/>
          </a:xfrm>
          <a:prstGeom prst="rect">
            <a:avLst/>
          </a:prstGeom>
        </p:spPr>
        <p:txBody>
          <a:bodyPr anchor="ct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Concept Development</a:t>
            </a:r>
          </a:p>
        </p:txBody>
      </p:sp>
      <p:pic>
        <p:nvPicPr>
          <p:cNvPr id="4" name="Picture 3">
            <a:extLst>
              <a:ext uri="{FF2B5EF4-FFF2-40B4-BE49-F238E27FC236}">
                <a16:creationId xmlns:a16="http://schemas.microsoft.com/office/drawing/2014/main" id="{06F759EE-3C87-F94D-DE8B-C1F8F6267F4E}"/>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0"/>
            <a:ext cx="322983" cy="6858000"/>
          </a:xfrm>
          <a:prstGeom prst="rect">
            <a:avLst/>
          </a:prstGeom>
        </p:spPr>
      </p:pic>
    </p:spTree>
    <p:extLst>
      <p:ext uri="{BB962C8B-B14F-4D97-AF65-F5344CB8AC3E}">
        <p14:creationId xmlns:p14="http://schemas.microsoft.com/office/powerpoint/2010/main" val="333111559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Problem Set with Text">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54725ABB-3358-BA78-ED3F-EE574662422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40002" y="5935775"/>
            <a:ext cx="1191770" cy="771146"/>
          </a:xfrm>
          <a:prstGeom prst="rect">
            <a:avLst/>
          </a:prstGeom>
        </p:spPr>
      </p:pic>
      <p:sp>
        <p:nvSpPr>
          <p:cNvPr id="14" name="Text Placeholder 16"/>
          <p:cNvSpPr>
            <a:spLocks noGrp="1"/>
          </p:cNvSpPr>
          <p:nvPr>
            <p:ph type="body" sz="quarter" idx="10" hasCustomPrompt="1"/>
          </p:nvPr>
        </p:nvSpPr>
        <p:spPr>
          <a:xfrm>
            <a:off x="11140001" y="6036181"/>
            <a:ext cx="622969"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2" name="Title 1">
            <a:extLst>
              <a:ext uri="{FF2B5EF4-FFF2-40B4-BE49-F238E27FC236}">
                <a16:creationId xmlns:a16="http://schemas.microsoft.com/office/drawing/2014/main" id="{0C16ECBB-77EB-0635-C9C3-E4F98B5337AC}"/>
              </a:ext>
            </a:extLst>
          </p:cNvPr>
          <p:cNvSpPr>
            <a:spLocks noGrp="1"/>
          </p:cNvSpPr>
          <p:nvPr>
            <p:ph type="title" hasCustomPrompt="1"/>
          </p:nvPr>
        </p:nvSpPr>
        <p:spPr>
          <a:xfrm>
            <a:off x="777240" y="1"/>
            <a:ext cx="11407898"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Problem Set</a:t>
            </a:r>
          </a:p>
        </p:txBody>
      </p:sp>
      <p:sp>
        <p:nvSpPr>
          <p:cNvPr id="4" name="Google Shape;69;g2950041fd6d_0_282">
            <a:extLst>
              <a:ext uri="{FF2B5EF4-FFF2-40B4-BE49-F238E27FC236}">
                <a16:creationId xmlns:a16="http://schemas.microsoft.com/office/drawing/2014/main" id="{9D7369C9-C599-CE95-CCD3-2B81A765581C}"/>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pic>
        <p:nvPicPr>
          <p:cNvPr id="6" name="Picture 5">
            <a:extLst>
              <a:ext uri="{FF2B5EF4-FFF2-40B4-BE49-F238E27FC236}">
                <a16:creationId xmlns:a16="http://schemas.microsoft.com/office/drawing/2014/main" id="{4B87CF12-0B39-5309-9556-C2A61354510E}"/>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0"/>
            <a:ext cx="322983" cy="6858000"/>
          </a:xfrm>
          <a:prstGeom prst="rect">
            <a:avLst/>
          </a:prstGeom>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tudent Debrief">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DAC79665-DA63-6390-C217-C3166216C1B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40002" y="5935775"/>
            <a:ext cx="1191770" cy="771146"/>
          </a:xfrm>
          <a:prstGeom prst="rect">
            <a:avLst/>
          </a:prstGeom>
        </p:spPr>
      </p:pic>
      <p:sp>
        <p:nvSpPr>
          <p:cNvPr id="11" name="Google Shape;80;g295eeb86cda_3_104"/>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rmAutofit/>
          </a:bodyPr>
          <a:lstStyle>
            <a:lvl1pPr marL="571500" lvl="0" indent="-457200" algn="l">
              <a:lnSpc>
                <a:spcPct val="100000"/>
              </a:lnSpc>
              <a:spcBef>
                <a:spcPts val="1000"/>
              </a:spcBef>
              <a:spcAft>
                <a:spcPts val="0"/>
              </a:spcAft>
              <a:buClr>
                <a:schemeClr val="dk1"/>
              </a:buClr>
              <a:buSzPct val="100000"/>
              <a:buFont typeface="Arial" panose="020B0604020202020204" pitchFamily="34" charset="0"/>
              <a:buChar char="•"/>
              <a:defRPr sz="2800">
                <a:solidFill>
                  <a:schemeClr val="bg2">
                    <a:lumMod val="25000"/>
                  </a:schemeClr>
                </a:solidFill>
              </a:defRPr>
            </a:lvl1pPr>
            <a:lvl2pPr marL="914400" lvl="1" indent="-342900" algn="l">
              <a:lnSpc>
                <a:spcPct val="100000"/>
              </a:lnSpc>
              <a:spcBef>
                <a:spcPts val="1000"/>
              </a:spcBef>
              <a:spcAft>
                <a:spcPts val="0"/>
              </a:spcAft>
              <a:buClr>
                <a:schemeClr val="dk1"/>
              </a:buClr>
              <a:buSzPts val="1800"/>
              <a:buChar char="•"/>
              <a:defRPr/>
            </a:lvl2pPr>
            <a:lvl3pPr marL="1371600" lvl="2" indent="-342900" algn="l">
              <a:lnSpc>
                <a:spcPct val="100000"/>
              </a:lnSpc>
              <a:spcBef>
                <a:spcPts val="1000"/>
              </a:spcBef>
              <a:spcAft>
                <a:spcPts val="0"/>
              </a:spcAft>
              <a:buClr>
                <a:schemeClr val="dk1"/>
              </a:buClr>
              <a:buSzPts val="1800"/>
              <a:buChar char="•"/>
              <a:defRPr/>
            </a:lvl3pPr>
            <a:lvl4pPr marL="1828800" lvl="3" indent="-342900" algn="l">
              <a:lnSpc>
                <a:spcPct val="100000"/>
              </a:lnSpc>
              <a:spcBef>
                <a:spcPts val="1000"/>
              </a:spcBef>
              <a:spcAft>
                <a:spcPts val="0"/>
              </a:spcAft>
              <a:buClr>
                <a:schemeClr val="dk1"/>
              </a:buClr>
              <a:buSzPts val="1800"/>
              <a:buChar char="•"/>
              <a:defRPr/>
            </a:lvl4pPr>
            <a:lvl5pPr marL="2286000" lvl="4" indent="-342900" algn="l">
              <a:lnSpc>
                <a:spcPct val="100000"/>
              </a:lnSpc>
              <a:spcBef>
                <a:spcPts val="1000"/>
              </a:spcBef>
              <a:spcAft>
                <a:spcPts val="0"/>
              </a:spcAft>
              <a:buClr>
                <a:schemeClr val="dk1"/>
              </a:buClr>
              <a:buSzPts val="1800"/>
              <a:buChar char="•"/>
              <a:defRPr/>
            </a:lvl5pPr>
            <a:lvl6pPr marL="2743200" lvl="5" indent="-342900" algn="l">
              <a:lnSpc>
                <a:spcPct val="100000"/>
              </a:lnSpc>
              <a:spcBef>
                <a:spcPts val="1000"/>
              </a:spcBef>
              <a:spcAft>
                <a:spcPts val="0"/>
              </a:spcAft>
              <a:buClr>
                <a:schemeClr val="dk1"/>
              </a:buClr>
              <a:buSzPts val="1800"/>
              <a:buChar char="•"/>
              <a:defRPr/>
            </a:lvl6pPr>
            <a:lvl7pPr marL="3200400" lvl="6" indent="-342900" algn="l">
              <a:lnSpc>
                <a:spcPct val="100000"/>
              </a:lnSpc>
              <a:spcBef>
                <a:spcPts val="1000"/>
              </a:spcBef>
              <a:spcAft>
                <a:spcPts val="0"/>
              </a:spcAft>
              <a:buClr>
                <a:schemeClr val="dk1"/>
              </a:buClr>
              <a:buSzPts val="1800"/>
              <a:buChar char="•"/>
              <a:defRPr/>
            </a:lvl7pPr>
            <a:lvl8pPr marL="3657600" lvl="7" indent="-342900" algn="l">
              <a:lnSpc>
                <a:spcPct val="100000"/>
              </a:lnSpc>
              <a:spcBef>
                <a:spcPts val="1000"/>
              </a:spcBef>
              <a:spcAft>
                <a:spcPts val="0"/>
              </a:spcAft>
              <a:buClr>
                <a:schemeClr val="dk1"/>
              </a:buClr>
              <a:buSzPts val="1800"/>
              <a:buChar char="•"/>
              <a:defRPr/>
            </a:lvl8pPr>
            <a:lvl9pPr marL="4114800" lvl="8" indent="-342900" algn="l">
              <a:lnSpc>
                <a:spcPct val="100000"/>
              </a:lnSpc>
              <a:spcBef>
                <a:spcPts val="1000"/>
              </a:spcBef>
              <a:spcAft>
                <a:spcPts val="1000"/>
              </a:spcAft>
              <a:buClr>
                <a:schemeClr val="dk1"/>
              </a:buClr>
              <a:buSzPts val="1800"/>
              <a:buChar char="•"/>
              <a:defRPr/>
            </a:lvl9pPr>
          </a:lstStyle>
          <a:p>
            <a:endParaRPr dirty="0"/>
          </a:p>
        </p:txBody>
      </p:sp>
      <p:sp>
        <p:nvSpPr>
          <p:cNvPr id="14" name="Text Placeholder 16"/>
          <p:cNvSpPr>
            <a:spLocks noGrp="1"/>
          </p:cNvSpPr>
          <p:nvPr>
            <p:ph type="body" sz="quarter" idx="10" hasCustomPrompt="1"/>
          </p:nvPr>
        </p:nvSpPr>
        <p:spPr>
          <a:xfrm>
            <a:off x="11127570" y="6036181"/>
            <a:ext cx="645330"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2" name="Title 1">
            <a:extLst>
              <a:ext uri="{FF2B5EF4-FFF2-40B4-BE49-F238E27FC236}">
                <a16:creationId xmlns:a16="http://schemas.microsoft.com/office/drawing/2014/main" id="{FB0B6DF2-911F-E608-84A0-0D6E6AF4BF7B}"/>
              </a:ext>
            </a:extLst>
          </p:cNvPr>
          <p:cNvSpPr>
            <a:spLocks noGrp="1"/>
          </p:cNvSpPr>
          <p:nvPr>
            <p:ph type="title" hasCustomPrompt="1"/>
          </p:nvPr>
        </p:nvSpPr>
        <p:spPr>
          <a:xfrm>
            <a:off x="777240" y="1"/>
            <a:ext cx="11390313"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Student Debrief</a:t>
            </a:r>
          </a:p>
        </p:txBody>
      </p:sp>
      <p:pic>
        <p:nvPicPr>
          <p:cNvPr id="5" name="Picture 4">
            <a:extLst>
              <a:ext uri="{FF2B5EF4-FFF2-40B4-BE49-F238E27FC236}">
                <a16:creationId xmlns:a16="http://schemas.microsoft.com/office/drawing/2014/main" id="{E6E2F58D-FAE6-FF3D-033D-1E9A7E4431C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0"/>
            <a:ext cx="322983" cy="6858000"/>
          </a:xfrm>
          <a:prstGeom prst="rect">
            <a:avLst/>
          </a:prstGeom>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Exit Ticket">
    <p:spTree>
      <p:nvGrpSpPr>
        <p:cNvPr id="1" name=""/>
        <p:cNvGrpSpPr/>
        <p:nvPr/>
      </p:nvGrpSpPr>
      <p:grpSpPr>
        <a:xfrm>
          <a:off x="0" y="0"/>
          <a:ext cx="0" cy="0"/>
          <a:chOff x="0" y="0"/>
          <a:chExt cx="0" cy="0"/>
        </a:xfrm>
      </p:grpSpPr>
      <p:pic>
        <p:nvPicPr>
          <p:cNvPr id="6" name="Picture 5" descr="A black and white image of a stopwatch&#10;&#10;Description automatically generated">
            <a:extLst>
              <a:ext uri="{FF2B5EF4-FFF2-40B4-BE49-F238E27FC236}">
                <a16:creationId xmlns:a16="http://schemas.microsoft.com/office/drawing/2014/main" id="{87BF7481-2AB1-1F79-65F6-B47BE9EECE0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40002" y="5935775"/>
            <a:ext cx="1191770" cy="771146"/>
          </a:xfrm>
          <a:prstGeom prst="rect">
            <a:avLst/>
          </a:prstGeom>
        </p:spPr>
      </p:pic>
      <p:sp>
        <p:nvSpPr>
          <p:cNvPr id="3" name="Text Placeholder 16">
            <a:extLst>
              <a:ext uri="{FF2B5EF4-FFF2-40B4-BE49-F238E27FC236}">
                <a16:creationId xmlns:a16="http://schemas.microsoft.com/office/drawing/2014/main" id="{BC6A2CE5-7968-8B98-9B39-FF49F2E9FD9A}"/>
              </a:ext>
            </a:extLst>
          </p:cNvPr>
          <p:cNvSpPr>
            <a:spLocks noGrp="1"/>
          </p:cNvSpPr>
          <p:nvPr>
            <p:ph type="body" sz="quarter" idx="11" hasCustomPrompt="1"/>
          </p:nvPr>
        </p:nvSpPr>
        <p:spPr>
          <a:xfrm>
            <a:off x="11127571" y="6036181"/>
            <a:ext cx="635400"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5" name="Google Shape;80;g295eeb86cda_3_104">
            <a:extLst>
              <a:ext uri="{FF2B5EF4-FFF2-40B4-BE49-F238E27FC236}">
                <a16:creationId xmlns:a16="http://schemas.microsoft.com/office/drawing/2014/main" id="{E879CF37-D19C-8989-9D60-7E089D9CFD43}"/>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rmAutofit/>
          </a:bodyPr>
          <a:lstStyle>
            <a:lvl1pPr marL="114300" lvl="0" indent="0" algn="l">
              <a:lnSpc>
                <a:spcPct val="100000"/>
              </a:lnSpc>
              <a:spcBef>
                <a:spcPts val="1000"/>
              </a:spcBef>
              <a:spcAft>
                <a:spcPts val="0"/>
              </a:spcAft>
              <a:buClr>
                <a:schemeClr val="dk1"/>
              </a:buClr>
              <a:buSzPct val="100000"/>
              <a:buFont typeface="Arial" panose="020B0604020202020204" pitchFamily="34" charset="0"/>
              <a:buNone/>
              <a:defRPr sz="2800">
                <a:solidFill>
                  <a:schemeClr val="bg2">
                    <a:lumMod val="25000"/>
                  </a:schemeClr>
                </a:solidFill>
              </a:defRPr>
            </a:lvl1pPr>
            <a:lvl2pPr marL="914400" lvl="1" indent="-342900" algn="l">
              <a:lnSpc>
                <a:spcPct val="100000"/>
              </a:lnSpc>
              <a:spcBef>
                <a:spcPts val="1000"/>
              </a:spcBef>
              <a:spcAft>
                <a:spcPts val="0"/>
              </a:spcAft>
              <a:buClr>
                <a:schemeClr val="dk1"/>
              </a:buClr>
              <a:buSzPts val="1800"/>
              <a:buChar char="•"/>
              <a:defRPr/>
            </a:lvl2pPr>
            <a:lvl3pPr marL="1371600" lvl="2" indent="-342900" algn="l">
              <a:lnSpc>
                <a:spcPct val="100000"/>
              </a:lnSpc>
              <a:spcBef>
                <a:spcPts val="1000"/>
              </a:spcBef>
              <a:spcAft>
                <a:spcPts val="0"/>
              </a:spcAft>
              <a:buClr>
                <a:schemeClr val="dk1"/>
              </a:buClr>
              <a:buSzPts val="1800"/>
              <a:buChar char="•"/>
              <a:defRPr/>
            </a:lvl3pPr>
            <a:lvl4pPr marL="1828800" lvl="3" indent="-342900" algn="l">
              <a:lnSpc>
                <a:spcPct val="100000"/>
              </a:lnSpc>
              <a:spcBef>
                <a:spcPts val="1000"/>
              </a:spcBef>
              <a:spcAft>
                <a:spcPts val="0"/>
              </a:spcAft>
              <a:buClr>
                <a:schemeClr val="dk1"/>
              </a:buClr>
              <a:buSzPts val="1800"/>
              <a:buChar char="•"/>
              <a:defRPr/>
            </a:lvl4pPr>
            <a:lvl5pPr marL="2286000" lvl="4" indent="-342900" algn="l">
              <a:lnSpc>
                <a:spcPct val="100000"/>
              </a:lnSpc>
              <a:spcBef>
                <a:spcPts val="1000"/>
              </a:spcBef>
              <a:spcAft>
                <a:spcPts val="0"/>
              </a:spcAft>
              <a:buClr>
                <a:schemeClr val="dk1"/>
              </a:buClr>
              <a:buSzPts val="1800"/>
              <a:buChar char="•"/>
              <a:defRPr/>
            </a:lvl5pPr>
            <a:lvl6pPr marL="2743200" lvl="5" indent="-342900" algn="l">
              <a:lnSpc>
                <a:spcPct val="100000"/>
              </a:lnSpc>
              <a:spcBef>
                <a:spcPts val="1000"/>
              </a:spcBef>
              <a:spcAft>
                <a:spcPts val="0"/>
              </a:spcAft>
              <a:buClr>
                <a:schemeClr val="dk1"/>
              </a:buClr>
              <a:buSzPts val="1800"/>
              <a:buChar char="•"/>
              <a:defRPr/>
            </a:lvl6pPr>
            <a:lvl7pPr marL="3200400" lvl="6" indent="-342900" algn="l">
              <a:lnSpc>
                <a:spcPct val="100000"/>
              </a:lnSpc>
              <a:spcBef>
                <a:spcPts val="1000"/>
              </a:spcBef>
              <a:spcAft>
                <a:spcPts val="0"/>
              </a:spcAft>
              <a:buClr>
                <a:schemeClr val="dk1"/>
              </a:buClr>
              <a:buSzPts val="1800"/>
              <a:buChar char="•"/>
              <a:defRPr/>
            </a:lvl7pPr>
            <a:lvl8pPr marL="3657600" lvl="7" indent="-342900" algn="l">
              <a:lnSpc>
                <a:spcPct val="100000"/>
              </a:lnSpc>
              <a:spcBef>
                <a:spcPts val="1000"/>
              </a:spcBef>
              <a:spcAft>
                <a:spcPts val="0"/>
              </a:spcAft>
              <a:buClr>
                <a:schemeClr val="dk1"/>
              </a:buClr>
              <a:buSzPts val="1800"/>
              <a:buChar char="•"/>
              <a:defRPr/>
            </a:lvl8pPr>
            <a:lvl9pPr marL="4114800" lvl="8" indent="-342900" algn="l">
              <a:lnSpc>
                <a:spcPct val="100000"/>
              </a:lnSpc>
              <a:spcBef>
                <a:spcPts val="1000"/>
              </a:spcBef>
              <a:spcAft>
                <a:spcPts val="1000"/>
              </a:spcAft>
              <a:buClr>
                <a:schemeClr val="dk1"/>
              </a:buClr>
              <a:buSzPts val="1800"/>
              <a:buChar char="•"/>
              <a:defRPr/>
            </a:lvl9pPr>
          </a:lstStyle>
          <a:p>
            <a:endParaRPr dirty="0"/>
          </a:p>
        </p:txBody>
      </p:sp>
      <p:sp>
        <p:nvSpPr>
          <p:cNvPr id="7" name="Title 1">
            <a:extLst>
              <a:ext uri="{FF2B5EF4-FFF2-40B4-BE49-F238E27FC236}">
                <a16:creationId xmlns:a16="http://schemas.microsoft.com/office/drawing/2014/main" id="{3820E38D-87BF-6F8F-072E-A0D77CD81A20}"/>
              </a:ext>
            </a:extLst>
          </p:cNvPr>
          <p:cNvSpPr>
            <a:spLocks noGrp="1"/>
          </p:cNvSpPr>
          <p:nvPr>
            <p:ph type="title" hasCustomPrompt="1"/>
          </p:nvPr>
        </p:nvSpPr>
        <p:spPr>
          <a:xfrm>
            <a:off x="777240" y="1"/>
            <a:ext cx="11425482"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Exit Ticket</a:t>
            </a:r>
          </a:p>
        </p:txBody>
      </p:sp>
      <p:pic>
        <p:nvPicPr>
          <p:cNvPr id="4" name="Picture 3">
            <a:extLst>
              <a:ext uri="{FF2B5EF4-FFF2-40B4-BE49-F238E27FC236}">
                <a16:creationId xmlns:a16="http://schemas.microsoft.com/office/drawing/2014/main" id="{60755373-B3E7-9C1B-E82F-11A7F4765EC9}"/>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0"/>
            <a:ext cx="322983" cy="6858000"/>
          </a:xfrm>
          <a:prstGeom prst="rect">
            <a:avLst/>
          </a:prstGeom>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_Alg I_Title Slide">
    <p:bg>
      <p:bgPr>
        <a:solidFill>
          <a:schemeClr val="bg1"/>
        </a:solidFill>
        <a:effectLst/>
      </p:bgPr>
    </p:bg>
    <p:spTree>
      <p:nvGrpSpPr>
        <p:cNvPr id="1" name=""/>
        <p:cNvGrpSpPr/>
        <p:nvPr/>
      </p:nvGrpSpPr>
      <p:grpSpPr>
        <a:xfrm>
          <a:off x="0" y="0"/>
          <a:ext cx="0" cy="0"/>
          <a:chOff x="0" y="0"/>
          <a:chExt cx="0" cy="0"/>
        </a:xfrm>
      </p:grpSpPr>
      <p:sp>
        <p:nvSpPr>
          <p:cNvPr id="3" name="Text Placeholder 3">
            <a:extLst>
              <a:ext uri="{FF2B5EF4-FFF2-40B4-BE49-F238E27FC236}">
                <a16:creationId xmlns:a16="http://schemas.microsoft.com/office/drawing/2014/main" id="{F992793D-996B-68F1-CC42-4A64BF66E531}"/>
              </a:ext>
            </a:extLst>
          </p:cNvPr>
          <p:cNvSpPr>
            <a:spLocks noGrp="1"/>
          </p:cNvSpPr>
          <p:nvPr>
            <p:ph type="body" sz="quarter" idx="10" hasCustomPrompt="1"/>
          </p:nvPr>
        </p:nvSpPr>
        <p:spPr>
          <a:xfrm>
            <a:off x="-1590" y="1622759"/>
            <a:ext cx="12192003" cy="1819137"/>
          </a:xfrm>
          <a:prstGeom prst="rect">
            <a:avLst/>
          </a:prstGeom>
        </p:spPr>
        <p:txBody>
          <a:bodyPr/>
          <a:lstStyle>
            <a:lvl1pPr marL="0" indent="0" algn="ctr">
              <a:buNone/>
              <a:defRPr sz="6000" b="1">
                <a:solidFill>
                  <a:srgbClr val="143965"/>
                </a:solidFill>
              </a:defRPr>
            </a:lvl1pPr>
          </a:lstStyle>
          <a:p>
            <a:pPr lvl="0"/>
            <a:r>
              <a:rPr lang="en-US" sz="6000" dirty="0"/>
              <a:t>Module Name</a:t>
            </a:r>
          </a:p>
          <a:p>
            <a:pPr lvl="0"/>
            <a:r>
              <a:rPr lang="en-US" sz="6000" dirty="0"/>
              <a:t>Name</a:t>
            </a:r>
          </a:p>
          <a:p>
            <a:pPr lvl="0"/>
            <a:endParaRPr lang="en-US" dirty="0"/>
          </a:p>
        </p:txBody>
      </p:sp>
      <p:sp>
        <p:nvSpPr>
          <p:cNvPr id="5" name="Text Placeholder 5">
            <a:extLst>
              <a:ext uri="{FF2B5EF4-FFF2-40B4-BE49-F238E27FC236}">
                <a16:creationId xmlns:a16="http://schemas.microsoft.com/office/drawing/2014/main" id="{74F0E467-86F1-F51B-377D-DE8A5155B5E1}"/>
              </a:ext>
            </a:extLst>
          </p:cNvPr>
          <p:cNvSpPr>
            <a:spLocks noGrp="1"/>
          </p:cNvSpPr>
          <p:nvPr>
            <p:ph type="body" sz="quarter" idx="13" hasCustomPrompt="1"/>
          </p:nvPr>
        </p:nvSpPr>
        <p:spPr>
          <a:xfrm>
            <a:off x="-1590" y="3641189"/>
            <a:ext cx="12190413" cy="822457"/>
          </a:xfrm>
          <a:prstGeom prst="rect">
            <a:avLst/>
          </a:prstGeom>
        </p:spPr>
        <p:txBody>
          <a:bodyPr anchor="ctr"/>
          <a:lstStyle>
            <a:lvl1pPr marL="0" indent="0" algn="ctr">
              <a:buNone/>
              <a:defRPr sz="4400" b="0">
                <a:solidFill>
                  <a:srgbClr val="143965"/>
                </a:solidFill>
              </a:defRPr>
            </a:lvl1pPr>
          </a:lstStyle>
          <a:p>
            <a:pPr lvl="0"/>
            <a:r>
              <a:rPr lang="en-US" dirty="0"/>
              <a:t>Grade # | Module # | Topic X | Lesson #</a:t>
            </a:r>
          </a:p>
        </p:txBody>
      </p:sp>
      <p:sp>
        <p:nvSpPr>
          <p:cNvPr id="2" name="Round Single Corner Rectangle 1">
            <a:extLst>
              <a:ext uri="{FF2B5EF4-FFF2-40B4-BE49-F238E27FC236}">
                <a16:creationId xmlns:a16="http://schemas.microsoft.com/office/drawing/2014/main" id="{7D24360F-9CDE-6F31-8095-CEDD386A0B5F}"/>
              </a:ext>
            </a:extLst>
          </p:cNvPr>
          <p:cNvSpPr/>
          <p:nvPr userDrawn="1"/>
        </p:nvSpPr>
        <p:spPr>
          <a:xfrm rot="10800000" flipH="1">
            <a:off x="0" y="0"/>
            <a:ext cx="2467555" cy="954942"/>
          </a:xfrm>
          <a:prstGeom prst="round1Rect">
            <a:avLst/>
          </a:prstGeom>
          <a:solidFill>
            <a:srgbClr val="14396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6706451E-BBBC-107B-E631-3F63997BE9D6}"/>
              </a:ext>
            </a:extLst>
          </p:cNvPr>
          <p:cNvSpPr txBox="1"/>
          <p:nvPr userDrawn="1"/>
        </p:nvSpPr>
        <p:spPr>
          <a:xfrm>
            <a:off x="0" y="280732"/>
            <a:ext cx="2467555" cy="461665"/>
          </a:xfrm>
          <a:prstGeom prst="rect">
            <a:avLst/>
          </a:prstGeom>
          <a:noFill/>
        </p:spPr>
        <p:txBody>
          <a:bodyPr wrap="square" rtlCol="0">
            <a:spAutoFit/>
          </a:bodyPr>
          <a:lstStyle/>
          <a:p>
            <a:pPr algn="ctr"/>
            <a:r>
              <a:rPr lang="en-US" sz="2400" dirty="0">
                <a:solidFill>
                  <a:schemeClr val="bg1"/>
                </a:solidFill>
              </a:rPr>
              <a:t>ENGLISH</a:t>
            </a:r>
          </a:p>
        </p:txBody>
      </p:sp>
      <p:pic>
        <p:nvPicPr>
          <p:cNvPr id="18" name="Picture 17" descr="A blue and black logo&#10;&#10;AI-generated content may be incorrect.">
            <a:extLst>
              <a:ext uri="{FF2B5EF4-FFF2-40B4-BE49-F238E27FC236}">
                <a16:creationId xmlns:a16="http://schemas.microsoft.com/office/drawing/2014/main" id="{B203EADC-2DB3-1EE5-60AF-D1787BEEC07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940726" y="132485"/>
            <a:ext cx="2910578" cy="954944"/>
          </a:xfrm>
          <a:prstGeom prst="rect">
            <a:avLst/>
          </a:prstGeom>
        </p:spPr>
      </p:pic>
      <p:sp>
        <p:nvSpPr>
          <p:cNvPr id="19" name="TextBox 18">
            <a:extLst>
              <a:ext uri="{FF2B5EF4-FFF2-40B4-BE49-F238E27FC236}">
                <a16:creationId xmlns:a16="http://schemas.microsoft.com/office/drawing/2014/main" id="{2804B40F-0DA7-E0E3-162C-E301ABDD7551}"/>
              </a:ext>
            </a:extLst>
          </p:cNvPr>
          <p:cNvSpPr txBox="1"/>
          <p:nvPr userDrawn="1"/>
        </p:nvSpPr>
        <p:spPr>
          <a:xfrm>
            <a:off x="10111407" y="1007699"/>
            <a:ext cx="1643271" cy="267288"/>
          </a:xfrm>
          <a:prstGeom prst="rect">
            <a:avLst/>
          </a:prstGeom>
          <a:noFill/>
        </p:spPr>
        <p:txBody>
          <a:bodyPr wrap="square" rtlCol="0">
            <a:spAutoFit/>
          </a:bodyPr>
          <a:lstStyle/>
          <a:p>
            <a:pPr algn="ctr"/>
            <a:r>
              <a:rPr lang="en-US" sz="1100" b="1" dirty="0">
                <a:solidFill>
                  <a:srgbClr val="000000"/>
                </a:solidFill>
              </a:rPr>
              <a:t>Secondary Mathematics</a:t>
            </a:r>
          </a:p>
        </p:txBody>
      </p:sp>
      <p:sp>
        <p:nvSpPr>
          <p:cNvPr id="20" name="Rounded Rectangle 19">
            <a:extLst>
              <a:ext uri="{FF2B5EF4-FFF2-40B4-BE49-F238E27FC236}">
                <a16:creationId xmlns:a16="http://schemas.microsoft.com/office/drawing/2014/main" id="{A6542DB2-F324-40CF-3B49-6D031A4E64E1}"/>
              </a:ext>
            </a:extLst>
          </p:cNvPr>
          <p:cNvSpPr/>
          <p:nvPr userDrawn="1"/>
        </p:nvSpPr>
        <p:spPr>
          <a:xfrm>
            <a:off x="10236991" y="1306046"/>
            <a:ext cx="907774" cy="298608"/>
          </a:xfrm>
          <a:prstGeom prst="round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E0930552-3750-2EC0-AA03-FF31F6332588}"/>
              </a:ext>
            </a:extLst>
          </p:cNvPr>
          <p:cNvSpPr txBox="1"/>
          <p:nvPr userDrawn="1"/>
        </p:nvSpPr>
        <p:spPr>
          <a:xfrm>
            <a:off x="10252484" y="1335768"/>
            <a:ext cx="868018" cy="237827"/>
          </a:xfrm>
          <a:prstGeom prst="rect">
            <a:avLst/>
          </a:prstGeom>
          <a:noFill/>
        </p:spPr>
        <p:txBody>
          <a:bodyPr wrap="square" rtlCol="0">
            <a:spAutoFit/>
          </a:bodyPr>
          <a:lstStyle/>
          <a:p>
            <a:pPr algn="ctr"/>
            <a:r>
              <a:rPr lang="en-US" sz="1100" b="1" i="0" dirty="0">
                <a:solidFill>
                  <a:schemeClr val="bg2">
                    <a:lumMod val="50000"/>
                  </a:schemeClr>
                </a:solidFill>
                <a:latin typeface="Calibri" panose="020F0502020204030204" pitchFamily="34" charset="0"/>
                <a:cs typeface="Calibri" panose="020F0502020204030204" pitchFamily="34" charset="0"/>
              </a:rPr>
              <a:t>EDITION 1</a:t>
            </a:r>
          </a:p>
        </p:txBody>
      </p:sp>
      <p:pic>
        <p:nvPicPr>
          <p:cNvPr id="8" name="Picture 7" descr="A blue and white pattern&#10;&#10;AI-generated content may be incorrect.">
            <a:extLst>
              <a:ext uri="{FF2B5EF4-FFF2-40B4-BE49-F238E27FC236}">
                <a16:creationId xmlns:a16="http://schemas.microsoft.com/office/drawing/2014/main" id="{F8551CF0-DABA-0FFF-DE83-145FA6143FA8}"/>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 y="4663225"/>
            <a:ext cx="12190413" cy="2194775"/>
          </a:xfrm>
          <a:prstGeom prst="rect">
            <a:avLst/>
          </a:prstGeom>
        </p:spPr>
      </p:pic>
    </p:spTree>
    <p:extLst>
      <p:ext uri="{BB962C8B-B14F-4D97-AF65-F5344CB8AC3E}">
        <p14:creationId xmlns:p14="http://schemas.microsoft.com/office/powerpoint/2010/main" val="108433096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9_G2 Copyright">
    <p:bg>
      <p:bgPr>
        <a:solidFill>
          <a:schemeClr val="bg1"/>
        </a:solidFill>
        <a:effectLst/>
      </p:bgPr>
    </p:bg>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72307BBC-7B87-E2A3-8D37-F3412D1BA5D0}"/>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 y="932192"/>
            <a:ext cx="12190412" cy="5925808"/>
          </a:xfrm>
          <a:prstGeom prst="rect">
            <a:avLst/>
          </a:prstGeom>
        </p:spPr>
      </p:pic>
      <p:sp>
        <p:nvSpPr>
          <p:cNvPr id="4" name="Oval 3">
            <a:extLst>
              <a:ext uri="{FF2B5EF4-FFF2-40B4-BE49-F238E27FC236}">
                <a16:creationId xmlns:a16="http://schemas.microsoft.com/office/drawing/2014/main" id="{ABB595A4-9EBD-188A-EC7D-0AAB0001E823}"/>
              </a:ext>
            </a:extLst>
          </p:cNvPr>
          <p:cNvSpPr/>
          <p:nvPr userDrawn="1"/>
        </p:nvSpPr>
        <p:spPr>
          <a:xfrm>
            <a:off x="1668545" y="2356700"/>
            <a:ext cx="1715678" cy="2648931"/>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E5165B0B-BFFB-F8AF-28CB-AB06CD2FE816}"/>
              </a:ext>
            </a:extLst>
          </p:cNvPr>
          <p:cNvSpPr/>
          <p:nvPr userDrawn="1"/>
        </p:nvSpPr>
        <p:spPr>
          <a:xfrm>
            <a:off x="1310326" y="4873659"/>
            <a:ext cx="2073897" cy="6790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FE5A3C38-7B14-ED97-6C60-8F0EC5C9B272}"/>
              </a:ext>
            </a:extLst>
          </p:cNvPr>
          <p:cNvSpPr txBox="1"/>
          <p:nvPr userDrawn="1"/>
        </p:nvSpPr>
        <p:spPr>
          <a:xfrm>
            <a:off x="1023907" y="1792363"/>
            <a:ext cx="10141011" cy="4247317"/>
          </a:xfrm>
          <a:prstGeom prst="rect">
            <a:avLst/>
          </a:prstGeom>
          <a:solidFill>
            <a:schemeClr val="bg1"/>
          </a:solidFill>
          <a:ln w="38100">
            <a:solidFill>
              <a:schemeClr val="bg1"/>
            </a:solidFill>
          </a:ln>
        </p:spPr>
        <p:txBody>
          <a:bodyPr wrap="square" lIns="91440" tIns="45720" rIns="91440" bIns="45720" rtlCol="0" anchor="t">
            <a:spAutoFit/>
          </a:bodyPr>
          <a:lstStyle/>
          <a:p>
            <a:r>
              <a:rPr lang="en-US" b="1" dirty="0">
                <a:solidFill>
                  <a:schemeClr val="bg2">
                    <a:lumMod val="25000"/>
                  </a:schemeClr>
                </a:solidFill>
              </a:rPr>
              <a:t>Acknowledgment</a:t>
            </a:r>
          </a:p>
          <a:p>
            <a:r>
              <a:rPr lang="en-US" dirty="0">
                <a:solidFill>
                  <a:schemeClr val="bg2">
                    <a:lumMod val="25000"/>
                  </a:schemeClr>
                </a:solidFill>
              </a:rPr>
              <a:t>Thank you to all the Texas educators and stakeholders who supported the review process and provided feedback. These materials are the result of the work of numerous individuals, and we are deeply grateful for their contributions.</a:t>
            </a:r>
            <a:endParaRPr lang="en-US" dirty="0">
              <a:solidFill>
                <a:schemeClr val="bg2">
                  <a:lumMod val="25000"/>
                </a:schemeClr>
              </a:solidFill>
              <a:cs typeface="Calibri"/>
            </a:endParaRPr>
          </a:p>
          <a:p>
            <a:endParaRPr lang="en-US" dirty="0">
              <a:solidFill>
                <a:schemeClr val="bg2">
                  <a:lumMod val="25000"/>
                </a:schemeClr>
              </a:solidFill>
            </a:endParaRPr>
          </a:p>
          <a:p>
            <a:r>
              <a:rPr lang="en-US" b="1" dirty="0">
                <a:solidFill>
                  <a:schemeClr val="bg2">
                    <a:lumMod val="25000"/>
                  </a:schemeClr>
                </a:solidFill>
              </a:rPr>
              <a:t>Notice</a:t>
            </a:r>
            <a:endParaRPr lang="en-US" b="1" dirty="0">
              <a:solidFill>
                <a:schemeClr val="bg2">
                  <a:lumMod val="25000"/>
                </a:schemeClr>
              </a:solidFill>
              <a:cs typeface="Calibri"/>
            </a:endParaRPr>
          </a:p>
          <a:p>
            <a:r>
              <a:rPr lang="en-US" dirty="0">
                <a:solidFill>
                  <a:schemeClr val="bg2">
                    <a:lumMod val="25000"/>
                  </a:schemeClr>
                </a:solidFill>
              </a:rPr>
              <a:t>These learning resources have been built for Texas students, aligned to the Texas Essential Knowledge and Skills, and are made available pursuant to Chapter 31, Subchapter B-1 of the Texas Education Code.</a:t>
            </a:r>
            <a:endParaRPr lang="en-US" dirty="0">
              <a:solidFill>
                <a:schemeClr val="bg2">
                  <a:lumMod val="25000"/>
                </a:schemeClr>
              </a:solidFill>
              <a:cs typeface="Calibri"/>
            </a:endParaRPr>
          </a:p>
          <a:p>
            <a:r>
              <a:rPr lang="en-US" dirty="0">
                <a:solidFill>
                  <a:schemeClr val="bg2">
                    <a:lumMod val="25000"/>
                  </a:schemeClr>
                </a:solidFill>
              </a:rPr>
              <a:t>If you have further questions or to report an error, please email </a:t>
            </a:r>
            <a:r>
              <a:rPr lang="en-US" dirty="0">
                <a:solidFill>
                  <a:schemeClr val="bg2">
                    <a:lumMod val="25000"/>
                  </a:schemeClr>
                </a:solidFill>
                <a:hlinkClick r:id="rId3">
                  <a:extLst>
                    <a:ext uri="{A12FA001-AC4F-418D-AE19-62706E023703}">
                      <ahyp:hlinkClr xmlns:ahyp="http://schemas.microsoft.com/office/drawing/2018/hyperlinkcolor" val="tx"/>
                    </a:ext>
                  </a:extLst>
                </a:hlinkClick>
              </a:rPr>
              <a:t>openeducationresources@tea.texas.gov</a:t>
            </a:r>
            <a:r>
              <a:rPr lang="en-US" dirty="0">
                <a:solidFill>
                  <a:schemeClr val="bg2">
                    <a:lumMod val="25000"/>
                  </a:schemeClr>
                </a:solidFill>
              </a:rPr>
              <a:t>.</a:t>
            </a:r>
          </a:p>
          <a:p>
            <a:endParaRPr lang="en-US" dirty="0">
              <a:solidFill>
                <a:schemeClr val="bg2">
                  <a:lumMod val="25000"/>
                </a:schemeClr>
              </a:solidFill>
              <a:cs typeface="Calibri"/>
            </a:endParaRPr>
          </a:p>
          <a:p>
            <a:r>
              <a:rPr lang="en-US" dirty="0">
                <a:solidFill>
                  <a:schemeClr val="bg2">
                    <a:lumMod val="25000"/>
                  </a:schemeClr>
                </a:solidFill>
                <a:cs typeface="Calibri"/>
              </a:rPr>
              <a:t>Copyright ©2024 Texas Education Agency. This work based on or adapted from materials contained in Great Minds' Eureka Math® K-5 PDF files. </a:t>
            </a:r>
          </a:p>
          <a:p>
            <a:endParaRPr lang="en-US" dirty="0">
              <a:solidFill>
                <a:schemeClr val="bg2">
                  <a:lumMod val="25000"/>
                </a:schemeClr>
              </a:solidFill>
              <a:cs typeface="Calibri"/>
            </a:endParaRPr>
          </a:p>
          <a:p>
            <a:r>
              <a:rPr lang="en-US" dirty="0">
                <a:solidFill>
                  <a:schemeClr val="bg2">
                    <a:lumMod val="25000"/>
                  </a:schemeClr>
                </a:solidFill>
                <a:cs typeface="Calibri"/>
              </a:rPr>
              <a:t>These materials are made available by the Texas Education Agency under an open license. For information about the license and your rights to use the materials, visit: </a:t>
            </a:r>
            <a:r>
              <a:rPr lang="en-US" dirty="0">
                <a:solidFill>
                  <a:schemeClr val="bg2">
                    <a:lumMod val="25000"/>
                  </a:schemeClr>
                </a:solidFill>
                <a:cs typeface="Calibri"/>
                <a:hlinkClick r:id="rId4">
                  <a:extLst>
                    <a:ext uri="{A12FA001-AC4F-418D-AE19-62706E023703}">
                      <ahyp:hlinkClr xmlns:ahyp="http://schemas.microsoft.com/office/drawing/2018/hyperlinkcolor" val="tx"/>
                    </a:ext>
                  </a:extLst>
                </a:hlinkClick>
              </a:rPr>
              <a:t>https://tea.texas.gov/K-5Math</a:t>
            </a:r>
            <a:r>
              <a:rPr lang="en-US" dirty="0">
                <a:solidFill>
                  <a:schemeClr val="bg2">
                    <a:lumMod val="25000"/>
                  </a:schemeClr>
                </a:solidFill>
                <a:cs typeface="Calibri"/>
              </a:rPr>
              <a:t>. </a:t>
            </a:r>
          </a:p>
        </p:txBody>
      </p:sp>
      <p:pic>
        <p:nvPicPr>
          <p:cNvPr id="3" name="Picture 2" descr="A blue and black logo&#10;&#10;AI-generated content may be incorrect.">
            <a:extLst>
              <a:ext uri="{FF2B5EF4-FFF2-40B4-BE49-F238E27FC236}">
                <a16:creationId xmlns:a16="http://schemas.microsoft.com/office/drawing/2014/main" id="{8A2CBEDA-4313-4320-C727-637FCF5AEF98}"/>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84963" y="101527"/>
            <a:ext cx="2080268" cy="682524"/>
          </a:xfrm>
          <a:prstGeom prst="rect">
            <a:avLst/>
          </a:prstGeom>
        </p:spPr>
      </p:pic>
      <p:sp>
        <p:nvSpPr>
          <p:cNvPr id="8" name="TextBox 7">
            <a:extLst>
              <a:ext uri="{FF2B5EF4-FFF2-40B4-BE49-F238E27FC236}">
                <a16:creationId xmlns:a16="http://schemas.microsoft.com/office/drawing/2014/main" id="{AC3E9A39-7598-7D98-AC32-2789E161EFE4}"/>
              </a:ext>
            </a:extLst>
          </p:cNvPr>
          <p:cNvSpPr txBox="1"/>
          <p:nvPr userDrawn="1"/>
        </p:nvSpPr>
        <p:spPr>
          <a:xfrm>
            <a:off x="862304" y="692389"/>
            <a:ext cx="1643271" cy="267288"/>
          </a:xfrm>
          <a:prstGeom prst="rect">
            <a:avLst/>
          </a:prstGeom>
          <a:noFill/>
        </p:spPr>
        <p:txBody>
          <a:bodyPr wrap="square" rtlCol="0">
            <a:spAutoFit/>
          </a:bodyPr>
          <a:lstStyle/>
          <a:p>
            <a:pPr algn="ctr"/>
            <a:r>
              <a:rPr lang="en-US" sz="1100" b="1" dirty="0">
                <a:solidFill>
                  <a:srgbClr val="000000"/>
                </a:solidFill>
              </a:rPr>
              <a:t>Secondary Mathematics</a:t>
            </a:r>
          </a:p>
        </p:txBody>
      </p:sp>
    </p:spTree>
    <p:extLst>
      <p:ext uri="{BB962C8B-B14F-4D97-AF65-F5344CB8AC3E}">
        <p14:creationId xmlns:p14="http://schemas.microsoft.com/office/powerpoint/2010/main" val="249442392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Alg I_Activity">
    <p:bg>
      <p:bgPr>
        <a:solidFill>
          <a:schemeClr val="bg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C7DDC4C-990F-1B63-3B21-F01BAF7FCDF9}"/>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 y="2316529"/>
            <a:ext cx="12190413" cy="2682141"/>
          </a:xfrm>
          <a:prstGeom prst="rect">
            <a:avLst/>
          </a:prstGeom>
        </p:spPr>
      </p:pic>
      <p:sp>
        <p:nvSpPr>
          <p:cNvPr id="6" name="Google Shape;61;g28e21d7ade9_0_16">
            <a:extLst>
              <a:ext uri="{FF2B5EF4-FFF2-40B4-BE49-F238E27FC236}">
                <a16:creationId xmlns:a16="http://schemas.microsoft.com/office/drawing/2014/main" id="{F6D852E4-016A-EA34-8A0F-CD386348DEB3}"/>
              </a:ext>
              <a:ext uri="{C183D7F6-B498-43B3-948B-1728B52AA6E4}">
                <adec:decorative xmlns:adec="http://schemas.microsoft.com/office/drawing/2017/decorative" val="1"/>
              </a:ext>
            </a:extLst>
          </p:cNvPr>
          <p:cNvSpPr txBox="1"/>
          <p:nvPr userDrawn="1"/>
        </p:nvSpPr>
        <p:spPr>
          <a:xfrm>
            <a:off x="3352800" y="2984501"/>
            <a:ext cx="5499100" cy="1143000"/>
          </a:xfrm>
          <a:prstGeom prst="rect">
            <a:avLst/>
          </a:prstGeom>
          <a:solidFill>
            <a:srgbClr val="143965"/>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endParaRPr baseline="0" dirty="0">
              <a:solidFill>
                <a:schemeClr val="bg1"/>
              </a:solidFill>
              <a:latin typeface="Calibri" panose="020F0502020204030204" pitchFamily="34" charset="0"/>
            </a:endParaRPr>
          </a:p>
        </p:txBody>
      </p:sp>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3340100" y="3136900"/>
            <a:ext cx="3302000" cy="946413"/>
          </a:xfrm>
          <a:prstGeom prst="rect">
            <a:avLst/>
          </a:prstGeom>
          <a:ln w="12700">
            <a:miter lim="400000"/>
          </a:ln>
        </p:spPr>
        <p:txBody>
          <a:bodyPr wrap="square" lIns="0" tIns="0" rIns="0" bIns="0">
            <a:sp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r"/>
            <a:r>
              <a:rPr lang="en-US" baseline="0" dirty="0">
                <a:solidFill>
                  <a:schemeClr val="bg1"/>
                </a:solidFill>
                <a:latin typeface="Calibri" panose="020F0502020204030204" pitchFamily="34" charset="0"/>
              </a:rPr>
              <a:t>Activity </a:t>
            </a:r>
            <a:endParaRPr baseline="0" dirty="0">
              <a:solidFill>
                <a:schemeClr val="bg1"/>
              </a:solidFill>
              <a:latin typeface="Calibri" panose="020F0502020204030204" pitchFamily="34" charset="0"/>
            </a:endParaRPr>
          </a:p>
        </p:txBody>
      </p:sp>
      <p:sp>
        <p:nvSpPr>
          <p:cNvPr id="7" name="Text Placeholder 6">
            <a:extLst>
              <a:ext uri="{FF2B5EF4-FFF2-40B4-BE49-F238E27FC236}">
                <a16:creationId xmlns:a16="http://schemas.microsoft.com/office/drawing/2014/main" id="{D2068F8D-A07F-AA10-7BDF-A0C4AF8C7BFF}"/>
              </a:ext>
            </a:extLst>
          </p:cNvPr>
          <p:cNvSpPr>
            <a:spLocks noGrp="1"/>
          </p:cNvSpPr>
          <p:nvPr>
            <p:ph type="body" sz="quarter" idx="11" hasCustomPrompt="1"/>
          </p:nvPr>
        </p:nvSpPr>
        <p:spPr>
          <a:xfrm>
            <a:off x="6769100" y="2957776"/>
            <a:ext cx="2025986" cy="1125537"/>
          </a:xfrm>
          <a:prstGeom prst="rect">
            <a:avLst/>
          </a:prstGeom>
        </p:spPr>
        <p:txBody>
          <a:bodyPr/>
          <a:lstStyle>
            <a:lvl1pPr marL="0" indent="0" algn="l">
              <a:buNone/>
              <a:defRPr sz="7500" b="1">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lvl="0"/>
            <a:r>
              <a:rPr lang="en-US" dirty="0"/>
              <a:t>##</a:t>
            </a:r>
          </a:p>
        </p:txBody>
      </p:sp>
      <p:pic>
        <p:nvPicPr>
          <p:cNvPr id="4" name="Picture 3" descr="A black and white image of a stopwatch&#10;&#10;Description automatically generated">
            <a:extLst>
              <a:ext uri="{FF2B5EF4-FFF2-40B4-BE49-F238E27FC236}">
                <a16:creationId xmlns:a16="http://schemas.microsoft.com/office/drawing/2014/main" id="{D534F636-9377-D630-3F35-5D038B245C6E}"/>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585174" y="5576768"/>
            <a:ext cx="1746598" cy="1130153"/>
          </a:xfrm>
          <a:prstGeom prst="rect">
            <a:avLst/>
          </a:prstGeom>
        </p:spPr>
      </p:pic>
      <p:sp>
        <p:nvSpPr>
          <p:cNvPr id="11" name="Text Placeholder 10">
            <a:extLst>
              <a:ext uri="{FF2B5EF4-FFF2-40B4-BE49-F238E27FC236}">
                <a16:creationId xmlns:a16="http://schemas.microsoft.com/office/drawing/2014/main" id="{DAE8B7F8-6AC2-B8A4-640E-8FE90B678918}"/>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dirty="0"/>
              <a:t>x</a:t>
            </a:r>
          </a:p>
        </p:txBody>
      </p:sp>
    </p:spTree>
    <p:extLst>
      <p:ext uri="{BB962C8B-B14F-4D97-AF65-F5344CB8AC3E}">
        <p14:creationId xmlns:p14="http://schemas.microsoft.com/office/powerpoint/2010/main" val="134191535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Alg I_Talk the Talk">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AB40DD2-1F97-577C-F238-A8F3D80AC38B}"/>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 y="2316529"/>
            <a:ext cx="12190413" cy="2682141"/>
          </a:xfrm>
          <a:prstGeom prst="rect">
            <a:avLst/>
          </a:prstGeom>
        </p:spPr>
      </p:pic>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3352800" y="2984501"/>
            <a:ext cx="5499100" cy="1143000"/>
          </a:xfrm>
          <a:prstGeom prst="rect">
            <a:avLst/>
          </a:prstGeom>
          <a:solidFill>
            <a:srgbClr val="143965"/>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dirty="0">
                <a:solidFill>
                  <a:schemeClr val="bg1"/>
                </a:solidFill>
                <a:latin typeface="Calibri" panose="020F0502020204030204" pitchFamily="34" charset="0"/>
              </a:rPr>
              <a:t>Talk the Talk</a:t>
            </a:r>
            <a:endParaRPr baseline="0" dirty="0">
              <a:solidFill>
                <a:schemeClr val="bg1"/>
              </a:solidFill>
              <a:latin typeface="Calibri" panose="020F0502020204030204" pitchFamily="34" charset="0"/>
            </a:endParaRPr>
          </a:p>
        </p:txBody>
      </p:sp>
      <p:pic>
        <p:nvPicPr>
          <p:cNvPr id="10" name="Picture 9" descr="A black and white image of a stopwatch&#10;&#10;Description automatically generated">
            <a:extLst>
              <a:ext uri="{FF2B5EF4-FFF2-40B4-BE49-F238E27FC236}">
                <a16:creationId xmlns:a16="http://schemas.microsoft.com/office/drawing/2014/main" id="{CE73D4F7-C35E-90BA-B80C-E6CB2DC880F5}"/>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585174" y="5576768"/>
            <a:ext cx="1746598" cy="1130153"/>
          </a:xfrm>
          <a:prstGeom prst="rect">
            <a:avLst/>
          </a:prstGeom>
        </p:spPr>
      </p:pic>
      <p:sp>
        <p:nvSpPr>
          <p:cNvPr id="11" name="Text Placeholder 10">
            <a:extLst>
              <a:ext uri="{FF2B5EF4-FFF2-40B4-BE49-F238E27FC236}">
                <a16:creationId xmlns:a16="http://schemas.microsoft.com/office/drawing/2014/main" id="{1AA23D1B-1B3F-0CA6-C43C-BA9AEE12E5DF}"/>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dirty="0"/>
              <a:t>x</a:t>
            </a:r>
          </a:p>
        </p:txBody>
      </p:sp>
    </p:spTree>
    <p:extLst>
      <p:ext uri="{BB962C8B-B14F-4D97-AF65-F5344CB8AC3E}">
        <p14:creationId xmlns:p14="http://schemas.microsoft.com/office/powerpoint/2010/main" val="83186373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Alg I_Getting Started">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33183D7-68B4-CBF0-CC42-25ECAFF9E402}"/>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 y="2316529"/>
            <a:ext cx="12190413" cy="2682141"/>
          </a:xfrm>
          <a:prstGeom prst="rect">
            <a:avLst/>
          </a:prstGeom>
        </p:spPr>
      </p:pic>
      <p:sp>
        <p:nvSpPr>
          <p:cNvPr id="6" name="Google Shape;61;g28e21d7ade9_0_16" descr="A green and black pattern&#10;&#10;AI-generated content may be incorrect.">
            <a:extLst>
              <a:ext uri="{FF2B5EF4-FFF2-40B4-BE49-F238E27FC236}">
                <a16:creationId xmlns:a16="http://schemas.microsoft.com/office/drawing/2014/main" id="{C2C1BA0A-E3ED-D685-26AE-3EC8940B8BC7}"/>
              </a:ext>
              <a:ext uri="{C183D7F6-B498-43B3-948B-1728B52AA6E4}">
                <adec:decorative xmlns:adec="http://schemas.microsoft.com/office/drawing/2017/decorative" val="0"/>
              </a:ext>
            </a:extLst>
          </p:cNvPr>
          <p:cNvSpPr txBox="1"/>
          <p:nvPr userDrawn="1"/>
        </p:nvSpPr>
        <p:spPr>
          <a:xfrm>
            <a:off x="2767915" y="2984501"/>
            <a:ext cx="6660292" cy="1143000"/>
          </a:xfrm>
          <a:prstGeom prst="rect">
            <a:avLst/>
          </a:prstGeom>
          <a:solidFill>
            <a:srgbClr val="143965"/>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dirty="0">
                <a:solidFill>
                  <a:schemeClr val="bg1"/>
                </a:solidFill>
                <a:latin typeface="Calibri" panose="020F0502020204030204" pitchFamily="34" charset="0"/>
              </a:rPr>
              <a:t>Getting Started</a:t>
            </a:r>
            <a:endParaRPr baseline="0" dirty="0">
              <a:solidFill>
                <a:schemeClr val="bg1"/>
              </a:solidFill>
              <a:latin typeface="Calibri" panose="020F0502020204030204" pitchFamily="34" charset="0"/>
            </a:endParaRPr>
          </a:p>
        </p:txBody>
      </p:sp>
      <p:pic>
        <p:nvPicPr>
          <p:cNvPr id="8" name="Picture 7" descr="A black and white image of a stopwatch&#10;&#10;Description automatically generated">
            <a:extLst>
              <a:ext uri="{FF2B5EF4-FFF2-40B4-BE49-F238E27FC236}">
                <a16:creationId xmlns:a16="http://schemas.microsoft.com/office/drawing/2014/main" id="{D0B206A4-53F8-1A55-3AAC-FA344E665088}"/>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585174" y="5576768"/>
            <a:ext cx="1746598" cy="1130153"/>
          </a:xfrm>
          <a:prstGeom prst="rect">
            <a:avLst/>
          </a:prstGeom>
        </p:spPr>
      </p:pic>
      <p:sp>
        <p:nvSpPr>
          <p:cNvPr id="9" name="Text Placeholder 10">
            <a:extLst>
              <a:ext uri="{FF2B5EF4-FFF2-40B4-BE49-F238E27FC236}">
                <a16:creationId xmlns:a16="http://schemas.microsoft.com/office/drawing/2014/main" id="{B0FE485E-9F70-BE82-8FD9-400E2BFB5CAC}"/>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dirty="0"/>
              <a:t>x</a:t>
            </a:r>
          </a:p>
        </p:txBody>
      </p:sp>
    </p:spTree>
    <p:extLst>
      <p:ext uri="{BB962C8B-B14F-4D97-AF65-F5344CB8AC3E}">
        <p14:creationId xmlns:p14="http://schemas.microsoft.com/office/powerpoint/2010/main" val="150159317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Alg I_Getting Started">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FC1395B-02F4-8526-B036-AE6FDC3AA60F}"/>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 y="2316529"/>
            <a:ext cx="12190413" cy="2682141"/>
          </a:xfrm>
          <a:prstGeom prst="rect">
            <a:avLst/>
          </a:prstGeom>
        </p:spPr>
      </p:pic>
      <p:sp>
        <p:nvSpPr>
          <p:cNvPr id="6" name="Google Shape;61;g28e21d7ade9_0_16" descr="A green and black pattern&#10;&#10;AI-generated content may be incorrect.">
            <a:extLst>
              <a:ext uri="{FF2B5EF4-FFF2-40B4-BE49-F238E27FC236}">
                <a16:creationId xmlns:a16="http://schemas.microsoft.com/office/drawing/2014/main" id="{C2C1BA0A-E3ED-D685-26AE-3EC8940B8BC7}"/>
              </a:ext>
              <a:ext uri="{C183D7F6-B498-43B3-948B-1728B52AA6E4}">
                <adec:decorative xmlns:adec="http://schemas.microsoft.com/office/drawing/2017/decorative" val="0"/>
              </a:ext>
            </a:extLst>
          </p:cNvPr>
          <p:cNvSpPr txBox="1"/>
          <p:nvPr userDrawn="1"/>
        </p:nvSpPr>
        <p:spPr>
          <a:xfrm>
            <a:off x="3866323" y="2984501"/>
            <a:ext cx="4432852" cy="1143000"/>
          </a:xfrm>
          <a:prstGeom prst="rect">
            <a:avLst/>
          </a:prstGeom>
          <a:solidFill>
            <a:srgbClr val="143965"/>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dirty="0">
                <a:solidFill>
                  <a:schemeClr val="bg1"/>
                </a:solidFill>
                <a:latin typeface="Calibri" panose="020F0502020204030204" pitchFamily="34" charset="0"/>
              </a:rPr>
              <a:t>Prepare</a:t>
            </a:r>
            <a:endParaRPr baseline="0" dirty="0">
              <a:solidFill>
                <a:schemeClr val="bg1"/>
              </a:solidFill>
              <a:latin typeface="Calibri" panose="020F0502020204030204" pitchFamily="34" charset="0"/>
            </a:endParaRPr>
          </a:p>
        </p:txBody>
      </p:sp>
    </p:spTree>
    <p:extLst>
      <p:ext uri="{BB962C8B-B14F-4D97-AF65-F5344CB8AC3E}">
        <p14:creationId xmlns:p14="http://schemas.microsoft.com/office/powerpoint/2010/main" val="149422019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Alg I_Session Divider">
    <p:bg>
      <p:bgPr>
        <a:solidFill>
          <a:schemeClr val="bg1"/>
        </a:solidFill>
        <a:effectLst/>
      </p:bgPr>
    </p:bg>
    <p:spTree>
      <p:nvGrpSpPr>
        <p:cNvPr id="1" name=""/>
        <p:cNvGrpSpPr/>
        <p:nvPr/>
      </p:nvGrpSpPr>
      <p:grpSpPr>
        <a:xfrm>
          <a:off x="0" y="0"/>
          <a:ext cx="0" cy="0"/>
          <a:chOff x="0" y="0"/>
          <a:chExt cx="0" cy="0"/>
        </a:xfrm>
      </p:grpSpPr>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4918157" y="2955793"/>
            <a:ext cx="1512037" cy="946413"/>
          </a:xfrm>
          <a:prstGeom prst="rect">
            <a:avLst/>
          </a:prstGeom>
          <a:ln w="12700">
            <a:miter lim="400000"/>
          </a:ln>
        </p:spPr>
        <p:txBody>
          <a:bodyPr wrap="square" lIns="0" tIns="0" rIns="0" bIns="0">
            <a:sp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r>
              <a:rPr lang="en-US" baseline="0" dirty="0">
                <a:solidFill>
                  <a:schemeClr val="bg2">
                    <a:lumMod val="10000"/>
                  </a:schemeClr>
                </a:solidFill>
                <a:latin typeface="Calibri" panose="020F0502020204030204" pitchFamily="34" charset="0"/>
              </a:rPr>
              <a:t>Day</a:t>
            </a:r>
            <a:endParaRPr baseline="0" dirty="0">
              <a:solidFill>
                <a:schemeClr val="bg2">
                  <a:lumMod val="10000"/>
                </a:schemeClr>
              </a:solidFill>
              <a:latin typeface="Calibri" panose="020F0502020204030204" pitchFamily="34" charset="0"/>
            </a:endParaRPr>
          </a:p>
        </p:txBody>
      </p:sp>
      <p:sp>
        <p:nvSpPr>
          <p:cNvPr id="6" name="Text Placeholder 5">
            <a:extLst>
              <a:ext uri="{FF2B5EF4-FFF2-40B4-BE49-F238E27FC236}">
                <a16:creationId xmlns:a16="http://schemas.microsoft.com/office/drawing/2014/main" id="{387DC733-57F9-7B5A-186D-1BA8C44555D4}"/>
              </a:ext>
            </a:extLst>
          </p:cNvPr>
          <p:cNvSpPr>
            <a:spLocks noGrp="1"/>
          </p:cNvSpPr>
          <p:nvPr>
            <p:ph type="body" sz="quarter" idx="11" hasCustomPrompt="1"/>
          </p:nvPr>
        </p:nvSpPr>
        <p:spPr>
          <a:xfrm>
            <a:off x="5578106" y="2843523"/>
            <a:ext cx="1061883" cy="1071562"/>
          </a:xfrm>
          <a:prstGeom prst="rect">
            <a:avLst/>
          </a:prstGeom>
        </p:spPr>
        <p:txBody>
          <a:bodyPr/>
          <a:lstStyle>
            <a:lvl5pPr marL="1828800" indent="0" algn="ctr">
              <a:buNone/>
              <a:defRPr sz="7500" b="1">
                <a:solidFill>
                  <a:srgbClr val="000000"/>
                </a:solidFill>
                <a:latin typeface="Calibri" panose="020F0502020204030204" pitchFamily="34" charset="0"/>
                <a:ea typeface="Calibri" panose="020F0502020204030204" pitchFamily="34" charset="0"/>
                <a:cs typeface="Calibri" panose="020F0502020204030204" pitchFamily="34" charset="0"/>
              </a:defRPr>
            </a:lvl5pPr>
          </a:lstStyle>
          <a:p>
            <a:pPr lvl="4"/>
            <a:r>
              <a:rPr lang="en-US" dirty="0"/>
              <a:t>#</a:t>
            </a:r>
          </a:p>
        </p:txBody>
      </p:sp>
      <p:pic>
        <p:nvPicPr>
          <p:cNvPr id="5" name="Picture 4" descr="A blue and white pattern&#10;&#10;AI-generated content may be incorrect.">
            <a:extLst>
              <a:ext uri="{FF2B5EF4-FFF2-40B4-BE49-F238E27FC236}">
                <a16:creationId xmlns:a16="http://schemas.microsoft.com/office/drawing/2014/main" id="{5B5A1052-DF6F-F0CD-A7AF-D701A097127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4663225"/>
            <a:ext cx="12190413" cy="2194775"/>
          </a:xfrm>
          <a:prstGeom prst="rect">
            <a:avLst/>
          </a:prstGeom>
        </p:spPr>
      </p:pic>
      <p:pic>
        <p:nvPicPr>
          <p:cNvPr id="7" name="Picture 6" descr="A blue and white pattern&#10;&#10;AI-generated content may be incorrect.">
            <a:extLst>
              <a:ext uri="{FF2B5EF4-FFF2-40B4-BE49-F238E27FC236}">
                <a16:creationId xmlns:a16="http://schemas.microsoft.com/office/drawing/2014/main" id="{B958C75F-ADDF-4683-07D9-8A46AFB8C4C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rot="10800000">
            <a:off x="-794" y="0"/>
            <a:ext cx="12190413" cy="2194775"/>
          </a:xfrm>
          <a:prstGeom prst="rect">
            <a:avLst/>
          </a:prstGeom>
        </p:spPr>
      </p:pic>
    </p:spTree>
    <p:extLst>
      <p:ext uri="{BB962C8B-B14F-4D97-AF65-F5344CB8AC3E}">
        <p14:creationId xmlns:p14="http://schemas.microsoft.com/office/powerpoint/2010/main" val="40243553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Alg I_Cutouts Divider">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0DF6CF-F4AD-69B3-86F7-6B8955E3F2B1}"/>
              </a:ext>
            </a:extLst>
          </p:cNvPr>
          <p:cNvSpPr>
            <a:spLocks noGrp="1"/>
          </p:cNvSpPr>
          <p:nvPr>
            <p:ph type="body" sz="quarter" idx="10"/>
          </p:nvPr>
        </p:nvSpPr>
        <p:spPr>
          <a:xfrm>
            <a:off x="5171005" y="2395538"/>
            <a:ext cx="1848402" cy="1033462"/>
          </a:xfrm>
          <a:prstGeom prst="rect">
            <a:avLst/>
          </a:prstGeom>
        </p:spPr>
        <p:txBody>
          <a:bodyPr/>
          <a:lstStyle>
            <a:lvl1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1pPr>
            <a:lvl2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2pPr>
            <a:lvl3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3pPr>
            <a:lvl4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4pPr>
            <a:lvl5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 name="Picture 1" descr="A blue and white pattern&#10;&#10;AI-generated content may be incorrect.">
            <a:extLst>
              <a:ext uri="{FF2B5EF4-FFF2-40B4-BE49-F238E27FC236}">
                <a16:creationId xmlns:a16="http://schemas.microsoft.com/office/drawing/2014/main" id="{26C4D152-DE0B-2942-C2AB-74253AD7094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4663225"/>
            <a:ext cx="12190413" cy="2194775"/>
          </a:xfrm>
          <a:prstGeom prst="rect">
            <a:avLst/>
          </a:prstGeom>
        </p:spPr>
      </p:pic>
    </p:spTree>
    <p:extLst>
      <p:ext uri="{BB962C8B-B14F-4D97-AF65-F5344CB8AC3E}">
        <p14:creationId xmlns:p14="http://schemas.microsoft.com/office/powerpoint/2010/main" val="252552595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Alg I_Back Cover">
    <p:bg>
      <p:bgPr>
        <a:solidFill>
          <a:schemeClr val="bg1"/>
        </a:solidFill>
        <a:effectLst/>
      </p:bgPr>
    </p:bg>
    <p:spTree>
      <p:nvGrpSpPr>
        <p:cNvPr id="1" name=""/>
        <p:cNvGrpSpPr/>
        <p:nvPr/>
      </p:nvGrpSpPr>
      <p:grpSpPr>
        <a:xfrm>
          <a:off x="0" y="0"/>
          <a:ext cx="0" cy="0"/>
          <a:chOff x="0" y="0"/>
          <a:chExt cx="0" cy="0"/>
        </a:xfrm>
      </p:grpSpPr>
      <p:pic>
        <p:nvPicPr>
          <p:cNvPr id="2" name="Picture 1" descr="A blue and white pattern&#10;&#10;AI-generated content may be incorrect.">
            <a:extLst>
              <a:ext uri="{FF2B5EF4-FFF2-40B4-BE49-F238E27FC236}">
                <a16:creationId xmlns:a16="http://schemas.microsoft.com/office/drawing/2014/main" id="{EFD95E81-EE85-94A2-01EB-DDD35923FA5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 y="4663225"/>
            <a:ext cx="12190413" cy="2194775"/>
          </a:xfrm>
          <a:prstGeom prst="rect">
            <a:avLst/>
          </a:prstGeom>
        </p:spPr>
      </p:pic>
      <p:sp>
        <p:nvSpPr>
          <p:cNvPr id="4" name="Text Placeholder 3">
            <a:extLst>
              <a:ext uri="{FF2B5EF4-FFF2-40B4-BE49-F238E27FC236}">
                <a16:creationId xmlns:a16="http://schemas.microsoft.com/office/drawing/2014/main" id="{9C323EF9-0FCF-481F-97C8-ABBEA6C0F486}"/>
              </a:ext>
            </a:extLst>
          </p:cNvPr>
          <p:cNvSpPr>
            <a:spLocks noGrp="1"/>
          </p:cNvSpPr>
          <p:nvPr>
            <p:ph type="body" sz="quarter" idx="10" hasCustomPrompt="1"/>
          </p:nvPr>
        </p:nvSpPr>
        <p:spPr>
          <a:xfrm>
            <a:off x="8155889" y="4975063"/>
            <a:ext cx="3431356" cy="414778"/>
          </a:xfrm>
          <a:prstGeom prst="rect">
            <a:avLst/>
          </a:prstGeom>
          <a:solidFill>
            <a:srgbClr val="143965"/>
          </a:solidFill>
        </p:spPr>
        <p:txBody>
          <a:bodyPr lIns="0" rIns="0" anchor="ctr"/>
          <a:lstStyle>
            <a:lvl1pPr marL="0" indent="0" algn="ctr">
              <a:buNone/>
              <a:defRPr sz="1800">
                <a:solidFill>
                  <a:schemeClr val="bg1"/>
                </a:solidFill>
              </a:defRPr>
            </a:lvl1pPr>
            <a:lvl4pPr marL="1371600" indent="0">
              <a:buNone/>
              <a:defRPr/>
            </a:lvl4pPr>
          </a:lstStyle>
          <a:p>
            <a:pPr lvl="0"/>
            <a:r>
              <a:rPr lang="en-US" dirty="0"/>
              <a:t>UNIQUE ID</a:t>
            </a:r>
          </a:p>
        </p:txBody>
      </p:sp>
      <p:grpSp>
        <p:nvGrpSpPr>
          <p:cNvPr id="5" name="Group 4">
            <a:extLst>
              <a:ext uri="{FF2B5EF4-FFF2-40B4-BE49-F238E27FC236}">
                <a16:creationId xmlns:a16="http://schemas.microsoft.com/office/drawing/2014/main" id="{CB4B7E3B-5741-B70F-3A0A-3E11BCF38FEB}"/>
              </a:ext>
            </a:extLst>
          </p:cNvPr>
          <p:cNvGrpSpPr/>
          <p:nvPr userDrawn="1"/>
        </p:nvGrpSpPr>
        <p:grpSpPr>
          <a:xfrm>
            <a:off x="9053008" y="227306"/>
            <a:ext cx="2910578" cy="1472169"/>
            <a:chOff x="8940726" y="132485"/>
            <a:chExt cx="2910578" cy="1472169"/>
          </a:xfrm>
        </p:grpSpPr>
        <p:pic>
          <p:nvPicPr>
            <p:cNvPr id="6" name="Picture 5" descr="A blue and black logo&#10;&#10;AI-generated content may be incorrect.">
              <a:extLst>
                <a:ext uri="{FF2B5EF4-FFF2-40B4-BE49-F238E27FC236}">
                  <a16:creationId xmlns:a16="http://schemas.microsoft.com/office/drawing/2014/main" id="{E7939853-80EF-C461-0365-6353B33278A2}"/>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940726" y="132485"/>
              <a:ext cx="2910578" cy="954944"/>
            </a:xfrm>
            <a:prstGeom prst="rect">
              <a:avLst/>
            </a:prstGeom>
          </p:spPr>
        </p:pic>
        <p:sp>
          <p:nvSpPr>
            <p:cNvPr id="7" name="TextBox 6">
              <a:extLst>
                <a:ext uri="{FF2B5EF4-FFF2-40B4-BE49-F238E27FC236}">
                  <a16:creationId xmlns:a16="http://schemas.microsoft.com/office/drawing/2014/main" id="{580B98D7-A8B1-479E-0522-2C0BC59CE093}"/>
                </a:ext>
              </a:extLst>
            </p:cNvPr>
            <p:cNvSpPr txBox="1"/>
            <p:nvPr userDrawn="1"/>
          </p:nvSpPr>
          <p:spPr>
            <a:xfrm>
              <a:off x="10111407" y="1007699"/>
              <a:ext cx="1643271" cy="267288"/>
            </a:xfrm>
            <a:prstGeom prst="rect">
              <a:avLst/>
            </a:prstGeom>
            <a:noFill/>
          </p:spPr>
          <p:txBody>
            <a:bodyPr wrap="square" rtlCol="0">
              <a:spAutoFit/>
            </a:bodyPr>
            <a:lstStyle/>
            <a:p>
              <a:pPr algn="ctr"/>
              <a:r>
                <a:rPr lang="en-US" sz="1100" b="1" dirty="0">
                  <a:solidFill>
                    <a:srgbClr val="000000"/>
                  </a:solidFill>
                </a:rPr>
                <a:t>Secondary Mathematics</a:t>
              </a:r>
            </a:p>
          </p:txBody>
        </p:sp>
        <p:sp>
          <p:nvSpPr>
            <p:cNvPr id="8" name="Rounded Rectangle 7">
              <a:extLst>
                <a:ext uri="{FF2B5EF4-FFF2-40B4-BE49-F238E27FC236}">
                  <a16:creationId xmlns:a16="http://schemas.microsoft.com/office/drawing/2014/main" id="{DAAFCF8B-077A-7325-2A07-02B9BADACB35}"/>
                </a:ext>
              </a:extLst>
            </p:cNvPr>
            <p:cNvSpPr/>
            <p:nvPr userDrawn="1"/>
          </p:nvSpPr>
          <p:spPr>
            <a:xfrm>
              <a:off x="10236991" y="1306046"/>
              <a:ext cx="907774" cy="298608"/>
            </a:xfrm>
            <a:prstGeom prst="round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A4C6EED1-1022-7E70-EA88-6CC6F479360D}"/>
                </a:ext>
              </a:extLst>
            </p:cNvPr>
            <p:cNvSpPr txBox="1"/>
            <p:nvPr userDrawn="1"/>
          </p:nvSpPr>
          <p:spPr>
            <a:xfrm>
              <a:off x="10252484" y="1335768"/>
              <a:ext cx="868018" cy="237827"/>
            </a:xfrm>
            <a:prstGeom prst="rect">
              <a:avLst/>
            </a:prstGeom>
            <a:noFill/>
          </p:spPr>
          <p:txBody>
            <a:bodyPr wrap="square" rtlCol="0">
              <a:spAutoFit/>
            </a:bodyPr>
            <a:lstStyle/>
            <a:p>
              <a:pPr algn="ctr"/>
              <a:r>
                <a:rPr lang="en-US" sz="1100" b="1" i="0" dirty="0">
                  <a:solidFill>
                    <a:schemeClr val="bg2">
                      <a:lumMod val="50000"/>
                    </a:schemeClr>
                  </a:solidFill>
                  <a:latin typeface="Calibri" panose="020F0502020204030204" pitchFamily="34" charset="0"/>
                  <a:cs typeface="Calibri" panose="020F0502020204030204" pitchFamily="34" charset="0"/>
                </a:rPr>
                <a:t>EDITION 1</a:t>
              </a:r>
            </a:p>
          </p:txBody>
        </p:sp>
      </p:grpSp>
      <p:sp>
        <p:nvSpPr>
          <p:cNvPr id="10" name="Round Single Corner Rectangle 9">
            <a:extLst>
              <a:ext uri="{FF2B5EF4-FFF2-40B4-BE49-F238E27FC236}">
                <a16:creationId xmlns:a16="http://schemas.microsoft.com/office/drawing/2014/main" id="{93823D53-B128-B4F8-9323-2DE21A5AC48C}"/>
              </a:ext>
            </a:extLst>
          </p:cNvPr>
          <p:cNvSpPr/>
          <p:nvPr userDrawn="1"/>
        </p:nvSpPr>
        <p:spPr>
          <a:xfrm rot="10800000" flipH="1">
            <a:off x="0" y="0"/>
            <a:ext cx="2467555" cy="954942"/>
          </a:xfrm>
          <a:prstGeom prst="round1Rect">
            <a:avLst/>
          </a:prstGeom>
          <a:solidFill>
            <a:srgbClr val="14396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61ED4D92-107A-5626-60FD-8669F753FD4A}"/>
              </a:ext>
            </a:extLst>
          </p:cNvPr>
          <p:cNvSpPr txBox="1"/>
          <p:nvPr userDrawn="1"/>
        </p:nvSpPr>
        <p:spPr>
          <a:xfrm>
            <a:off x="0" y="280732"/>
            <a:ext cx="2467555" cy="461665"/>
          </a:xfrm>
          <a:prstGeom prst="rect">
            <a:avLst/>
          </a:prstGeom>
          <a:noFill/>
        </p:spPr>
        <p:txBody>
          <a:bodyPr wrap="square" rtlCol="0">
            <a:spAutoFit/>
          </a:bodyPr>
          <a:lstStyle/>
          <a:p>
            <a:pPr algn="ctr"/>
            <a:r>
              <a:rPr lang="en-US" sz="2400" dirty="0">
                <a:solidFill>
                  <a:schemeClr val="bg1"/>
                </a:solidFill>
              </a:rPr>
              <a:t>ENGLISH</a:t>
            </a:r>
          </a:p>
        </p:txBody>
      </p:sp>
    </p:spTree>
    <p:extLst>
      <p:ext uri="{BB962C8B-B14F-4D97-AF65-F5344CB8AC3E}">
        <p14:creationId xmlns:p14="http://schemas.microsoft.com/office/powerpoint/2010/main" val="398683789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Objectiv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1829944-32A0-A52A-BF8F-4735C4809687}"/>
              </a:ext>
            </a:extLst>
          </p:cNvPr>
          <p:cNvSpPr/>
          <p:nvPr userDrawn="1"/>
        </p:nvSpPr>
        <p:spPr>
          <a:xfrm>
            <a:off x="-1586" y="1392600"/>
            <a:ext cx="12192000" cy="549097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a:extLst>
              <a:ext uri="{FF2B5EF4-FFF2-40B4-BE49-F238E27FC236}">
                <a16:creationId xmlns:a16="http://schemas.microsoft.com/office/drawing/2014/main" id="{D79E0344-0011-1E90-A995-632330E63EB5}"/>
              </a:ext>
            </a:extLst>
          </p:cNvPr>
          <p:cNvSpPr>
            <a:spLocks noGrp="1"/>
          </p:cNvSpPr>
          <p:nvPr>
            <p:ph type="body" sz="quarter" idx="10"/>
          </p:nvPr>
        </p:nvSpPr>
        <p:spPr>
          <a:xfrm>
            <a:off x="836614" y="2159879"/>
            <a:ext cx="10515599" cy="3956418"/>
          </a:xfrm>
          <a:prstGeom prst="rect">
            <a:avLst/>
          </a:prstGeom>
        </p:spPr>
        <p:txBody>
          <a:bodyPr/>
          <a:lstStyle>
            <a:lvl1pPr marL="0" indent="0" algn="ctr">
              <a:buNone/>
              <a:defRPr sz="4400">
                <a:solidFill>
                  <a:schemeClr val="bg2">
                    <a:lumMod val="25000"/>
                  </a:schemeClr>
                </a:solidFill>
              </a:defRPr>
            </a:lvl1pPr>
            <a:lvl2pPr marL="457200" indent="0" algn="ctr">
              <a:buNone/>
              <a:defRPr sz="4400"/>
            </a:lvl2pPr>
            <a:lvl3pPr marL="914400" indent="0" algn="ctr">
              <a:buNone/>
              <a:defRPr sz="4400"/>
            </a:lvl3pPr>
            <a:lvl4pPr marL="1371600" indent="0" algn="ctr">
              <a:buNone/>
              <a:defRPr sz="4400"/>
            </a:lvl4pPr>
            <a:lvl5pPr marL="1828800" indent="0" algn="ctr">
              <a:buNone/>
              <a:defRPr sz="4400"/>
            </a:lvl5pPr>
          </a:lstStyle>
          <a:p>
            <a:pPr lvl="0"/>
            <a:r>
              <a:rPr lang="en-US" dirty="0"/>
              <a:t>Click to edit Master text styles</a:t>
            </a:r>
          </a:p>
        </p:txBody>
      </p:sp>
      <p:sp>
        <p:nvSpPr>
          <p:cNvPr id="2" name="Rectangle 1">
            <a:extLst>
              <a:ext uri="{FF2B5EF4-FFF2-40B4-BE49-F238E27FC236}">
                <a16:creationId xmlns:a16="http://schemas.microsoft.com/office/drawing/2014/main" id="{EAD99D76-9E3B-F682-01E8-888F253831AF}"/>
              </a:ext>
            </a:extLst>
          </p:cNvPr>
          <p:cNvSpPr/>
          <p:nvPr userDrawn="1"/>
        </p:nvSpPr>
        <p:spPr>
          <a:xfrm>
            <a:off x="0" y="0"/>
            <a:ext cx="7575442" cy="927652"/>
          </a:xfrm>
          <a:prstGeom prst="rect">
            <a:avLst/>
          </a:prstGeom>
          <a:solidFill>
            <a:srgbClr val="14396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28B98FEA-D4C0-8394-EFDC-1E0F624AD0AF}"/>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7575442" y="0"/>
            <a:ext cx="4614969" cy="931321"/>
          </a:xfrm>
          <a:prstGeom prst="rect">
            <a:avLst/>
          </a:prstGeom>
        </p:spPr>
      </p:pic>
      <p:sp>
        <p:nvSpPr>
          <p:cNvPr id="6" name="Title 5">
            <a:extLst>
              <a:ext uri="{FF2B5EF4-FFF2-40B4-BE49-F238E27FC236}">
                <a16:creationId xmlns:a16="http://schemas.microsoft.com/office/drawing/2014/main" id="{BD8B91BD-71BF-8DE9-CC35-80883F08DEDC}"/>
              </a:ext>
            </a:extLst>
          </p:cNvPr>
          <p:cNvSpPr>
            <a:spLocks noGrp="1"/>
          </p:cNvSpPr>
          <p:nvPr>
            <p:ph type="title" hasCustomPrompt="1"/>
          </p:nvPr>
        </p:nvSpPr>
        <p:spPr>
          <a:xfrm>
            <a:off x="0" y="0"/>
            <a:ext cx="6094413" cy="926757"/>
          </a:xfrm>
          <a:prstGeom prst="rect">
            <a:avLst/>
          </a:prstGeom>
          <a:noFill/>
        </p:spPr>
        <p:txBody>
          <a:bodyPr lIns="457200" anchor="ctr"/>
          <a:lstStyle>
            <a:lvl1pPr>
              <a:defRPr sz="4000" b="1">
                <a:solidFill>
                  <a:schemeClr val="bg1"/>
                </a:solidFill>
              </a:defRPr>
            </a:lvl1pPr>
          </a:lstStyle>
          <a:p>
            <a:r>
              <a:rPr lang="en-US" dirty="0"/>
              <a:t>Objectives</a:t>
            </a:r>
          </a:p>
        </p:txBody>
      </p:sp>
    </p:spTree>
    <p:extLst>
      <p:ext uri="{BB962C8B-B14F-4D97-AF65-F5344CB8AC3E}">
        <p14:creationId xmlns:p14="http://schemas.microsoft.com/office/powerpoint/2010/main" val="316491620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erminology">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23B0928-1D5C-86AC-B6D2-6C4246A897D0}"/>
              </a:ext>
            </a:extLst>
          </p:cNvPr>
          <p:cNvSpPr>
            <a:spLocks noGrp="1"/>
          </p:cNvSpPr>
          <p:nvPr>
            <p:ph type="body" sz="quarter" idx="10" hasCustomPrompt="1"/>
          </p:nvPr>
        </p:nvSpPr>
        <p:spPr>
          <a:xfrm>
            <a:off x="852488" y="1652588"/>
            <a:ext cx="10515600" cy="1169743"/>
          </a:xfrm>
          <a:prstGeom prst="rect">
            <a:avLst/>
          </a:prstGeom>
        </p:spPr>
        <p:txBody>
          <a:bodyPr/>
          <a:lstStyle>
            <a:lvl1pPr marL="0" indent="0">
              <a:buNone/>
              <a:defRPr>
                <a:solidFill>
                  <a:schemeClr val="bg2">
                    <a:lumMod val="25000"/>
                  </a:schemeClr>
                </a:solidFill>
              </a:defRPr>
            </a:lvl1pPr>
          </a:lstStyle>
          <a:p>
            <a:pPr lvl="0"/>
            <a:r>
              <a:rPr lang="en-US" dirty="0"/>
              <a:t>Click to add text</a:t>
            </a:r>
          </a:p>
        </p:txBody>
      </p:sp>
      <p:sp>
        <p:nvSpPr>
          <p:cNvPr id="5" name="Picture Placeholder 4">
            <a:extLst>
              <a:ext uri="{FF2B5EF4-FFF2-40B4-BE49-F238E27FC236}">
                <a16:creationId xmlns:a16="http://schemas.microsoft.com/office/drawing/2014/main" id="{C3DA5AEB-614E-452B-EDEF-80B18EE3E858}"/>
              </a:ext>
            </a:extLst>
          </p:cNvPr>
          <p:cNvSpPr>
            <a:spLocks noGrp="1"/>
          </p:cNvSpPr>
          <p:nvPr>
            <p:ph type="pic" sz="quarter" idx="11"/>
          </p:nvPr>
        </p:nvSpPr>
        <p:spPr>
          <a:xfrm>
            <a:off x="3427412" y="3217943"/>
            <a:ext cx="5335588" cy="2505075"/>
          </a:xfrm>
          <a:prstGeom prst="rect">
            <a:avLst/>
          </a:prstGeom>
        </p:spPr>
        <p:txBody>
          <a:bodyPr/>
          <a:lstStyle>
            <a:lvl1pPr marL="0" indent="0">
              <a:buNone/>
              <a:defRPr/>
            </a:lvl1pPr>
          </a:lstStyle>
          <a:p>
            <a:endParaRPr lang="en-US" dirty="0"/>
          </a:p>
        </p:txBody>
      </p:sp>
      <p:sp>
        <p:nvSpPr>
          <p:cNvPr id="4" name="Title 1">
            <a:extLst>
              <a:ext uri="{FF2B5EF4-FFF2-40B4-BE49-F238E27FC236}">
                <a16:creationId xmlns:a16="http://schemas.microsoft.com/office/drawing/2014/main" id="{CD7B4969-F122-3811-0A1A-DDA09AF4AB50}"/>
              </a:ext>
            </a:extLst>
          </p:cNvPr>
          <p:cNvSpPr>
            <a:spLocks noGrp="1"/>
          </p:cNvSpPr>
          <p:nvPr>
            <p:ph type="title" hasCustomPrompt="1"/>
          </p:nvPr>
        </p:nvSpPr>
        <p:spPr>
          <a:xfrm>
            <a:off x="777240" y="1"/>
            <a:ext cx="11425482" cy="1263192"/>
          </a:xfrm>
          <a:prstGeom prst="rect">
            <a:avLst/>
          </a:prstGeom>
        </p:spPr>
        <p:txBody>
          <a:bodyPr anchor="ctr"/>
          <a:lstStyle>
            <a:lvl1pPr>
              <a:defRPr sz="4000">
                <a:solidFill>
                  <a:srgbClr val="2B8147"/>
                </a:solidFill>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dirty="0">
                <a:solidFill>
                  <a:srgbClr val="000000"/>
                </a:solidFill>
                <a:latin typeface="Calibri" panose="020F0502020204030204"/>
                <a:ea typeface="Calibri" panose="020F0502020204030204"/>
                <a:cs typeface="Calibri" panose="020F0502020204030204"/>
                <a:sym typeface="Calibri" panose="020F0502020204030204"/>
              </a:rPr>
              <a:t>Key Terms</a:t>
            </a:r>
          </a:p>
        </p:txBody>
      </p:sp>
      <p:pic>
        <p:nvPicPr>
          <p:cNvPr id="6" name="Picture 5">
            <a:extLst>
              <a:ext uri="{FF2B5EF4-FFF2-40B4-BE49-F238E27FC236}">
                <a16:creationId xmlns:a16="http://schemas.microsoft.com/office/drawing/2014/main" id="{5CDE9F74-7CE7-793B-B90F-365B5F549D7A}"/>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0" y="0"/>
            <a:ext cx="322982" cy="6858000"/>
          </a:xfrm>
          <a:prstGeom prst="rect">
            <a:avLst/>
          </a:prstGeom>
        </p:spPr>
      </p:pic>
    </p:spTree>
    <p:extLst>
      <p:ext uri="{BB962C8B-B14F-4D97-AF65-F5344CB8AC3E}">
        <p14:creationId xmlns:p14="http://schemas.microsoft.com/office/powerpoint/2010/main" val="104978364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Application Problem Text">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AED5C8A3-5037-99DF-15E1-2833226D35D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40002" y="5935775"/>
            <a:ext cx="1191770" cy="771146"/>
          </a:xfrm>
          <a:prstGeom prst="rect">
            <a:avLst/>
          </a:prstGeom>
        </p:spPr>
      </p:pic>
      <p:sp>
        <p:nvSpPr>
          <p:cNvPr id="12" name="Google Shape;36;g295eeb86cda_3_40"/>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18" name="Text Placeholder 16"/>
          <p:cNvSpPr>
            <a:spLocks noGrp="1"/>
          </p:cNvSpPr>
          <p:nvPr>
            <p:ph type="body" sz="quarter" idx="10" hasCustomPrompt="1"/>
          </p:nvPr>
        </p:nvSpPr>
        <p:spPr>
          <a:xfrm>
            <a:off x="11127476" y="6036181"/>
            <a:ext cx="654216"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2" name="Title 1">
            <a:extLst>
              <a:ext uri="{FF2B5EF4-FFF2-40B4-BE49-F238E27FC236}">
                <a16:creationId xmlns:a16="http://schemas.microsoft.com/office/drawing/2014/main" id="{0331744C-9446-EF32-247E-53D724128298}"/>
              </a:ext>
            </a:extLst>
          </p:cNvPr>
          <p:cNvSpPr>
            <a:spLocks noGrp="1"/>
          </p:cNvSpPr>
          <p:nvPr>
            <p:ph type="title" hasCustomPrompt="1"/>
          </p:nvPr>
        </p:nvSpPr>
        <p:spPr>
          <a:xfrm>
            <a:off x="777240" y="0"/>
            <a:ext cx="11389135" cy="1253765"/>
          </a:xfrm>
          <a:prstGeom prst="rect">
            <a:avLst/>
          </a:prstGeom>
        </p:spPr>
        <p:txBody>
          <a:bodyPr anchor="ctr"/>
          <a:lstStyle/>
          <a:p>
            <a:pPr marL="0" marR="0" lvl="0" indent="0" algn="l" defTabSz="914400" rtl="0" eaLnBrk="1" fontAlgn="auto" latinLnBrk="0" hangingPunct="1">
              <a:lnSpc>
                <a:spcPct val="100000"/>
              </a:lnSpc>
              <a:spcBef>
                <a:spcPts val="0"/>
              </a:spcBef>
              <a:spcAft>
                <a:spcPts val="0"/>
              </a:spcAft>
              <a:buClr>
                <a:srgbClr val="000000"/>
              </a:buClr>
              <a:buSzPts val="4400"/>
              <a:buFont typeface="Arial" panose="020B0604020202020204"/>
              <a:buNone/>
              <a:tabLst/>
              <a:defRPr/>
            </a:pPr>
            <a:r>
              <a:rPr kumimoji="0" lang="en-US" sz="4400" b="1" i="0" u="none" strike="noStrike" kern="1200" cap="none" spc="0" normalizeH="0" baseline="0" noProof="0">
                <a:ln>
                  <a:noFill/>
                </a:ln>
                <a:solidFill>
                  <a:srgbClr val="000000"/>
                </a:solidFill>
                <a:effectLst/>
                <a:uLnTx/>
                <a:uFillTx/>
                <a:latin typeface="Calibri" panose="020F0502020204030204"/>
                <a:ea typeface="Calibri" panose="020F0502020204030204"/>
                <a:cs typeface="Calibri" panose="020F0502020204030204"/>
                <a:sym typeface="Calibri" panose="020F0502020204030204"/>
              </a:rPr>
              <a:t>Application Problem</a:t>
            </a:r>
          </a:p>
        </p:txBody>
      </p:sp>
      <p:pic>
        <p:nvPicPr>
          <p:cNvPr id="4" name="Picture 3">
            <a:extLst>
              <a:ext uri="{FF2B5EF4-FFF2-40B4-BE49-F238E27FC236}">
                <a16:creationId xmlns:a16="http://schemas.microsoft.com/office/drawing/2014/main" id="{323D0D43-B8FF-1B82-5425-940CCCC8FE26}"/>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0" y="0"/>
            <a:ext cx="322982" cy="6858000"/>
          </a:xfrm>
          <a:prstGeom prst="rect">
            <a:avLst/>
          </a:prstGeom>
        </p:spPr>
      </p:pic>
    </p:spTree>
    <p:extLst>
      <p:ext uri="{BB962C8B-B14F-4D97-AF65-F5344CB8AC3E}">
        <p14:creationId xmlns:p14="http://schemas.microsoft.com/office/powerpoint/2010/main" val="398756691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_RDW_Horizontal">
    <p:spTree>
      <p:nvGrpSpPr>
        <p:cNvPr id="1" name=""/>
        <p:cNvGrpSpPr/>
        <p:nvPr/>
      </p:nvGrpSpPr>
      <p:grpSpPr>
        <a:xfrm>
          <a:off x="0" y="0"/>
          <a:ext cx="0" cy="0"/>
          <a:chOff x="0" y="0"/>
          <a:chExt cx="0" cy="0"/>
        </a:xfrm>
      </p:grpSpPr>
      <p:graphicFrame>
        <p:nvGraphicFramePr>
          <p:cNvPr id="14" name="Google Shape;42;g2960a169545_3_34"/>
          <p:cNvGraphicFramePr/>
          <p:nvPr userDrawn="1">
            <p:extLst>
              <p:ext uri="{D42A27DB-BD31-4B8C-83A1-F6EECF244321}">
                <p14:modId xmlns:p14="http://schemas.microsoft.com/office/powerpoint/2010/main" val="147912415"/>
              </p:ext>
            </p:extLst>
          </p:nvPr>
        </p:nvGraphicFramePr>
        <p:xfrm>
          <a:off x="775252" y="3783769"/>
          <a:ext cx="11082132" cy="2888103"/>
        </p:xfrm>
        <a:graphic>
          <a:graphicData uri="http://schemas.openxmlformats.org/drawingml/2006/table">
            <a:tbl>
              <a:tblPr firstRow="1" bandRow="1">
                <a:noFill/>
              </a:tblPr>
              <a:tblGrid>
                <a:gridCol w="3694044">
                  <a:extLst>
                    <a:ext uri="{9D8B030D-6E8A-4147-A177-3AD203B41FA5}">
                      <a16:colId xmlns:a16="http://schemas.microsoft.com/office/drawing/2014/main" val="20000"/>
                    </a:ext>
                  </a:extLst>
                </a:gridCol>
                <a:gridCol w="3694044">
                  <a:extLst>
                    <a:ext uri="{9D8B030D-6E8A-4147-A177-3AD203B41FA5}">
                      <a16:colId xmlns:a16="http://schemas.microsoft.com/office/drawing/2014/main" val="20001"/>
                    </a:ext>
                  </a:extLst>
                </a:gridCol>
                <a:gridCol w="3694044">
                  <a:extLst>
                    <a:ext uri="{9D8B030D-6E8A-4147-A177-3AD203B41FA5}">
                      <a16:colId xmlns:a16="http://schemas.microsoft.com/office/drawing/2014/main" val="20002"/>
                    </a:ext>
                  </a:extLst>
                </a:gridCol>
              </a:tblGrid>
              <a:tr h="244012">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dirty="0">
                          <a:solidFill>
                            <a:schemeClr val="bg2">
                              <a:lumMod val="25000"/>
                            </a:schemeClr>
                          </a:solidFill>
                        </a:rPr>
                        <a:t>Read</a:t>
                      </a:r>
                      <a:endParaRPr sz="1800" b="1" u="none" strike="noStrike" cap="none" dirty="0">
                        <a:solidFill>
                          <a:schemeClr val="bg2">
                            <a:lumMod val="25000"/>
                          </a:schemeClr>
                        </a:solidFill>
                      </a:endParaRPr>
                    </a:p>
                  </a:txBody>
                  <a:tcPr marL="91450" marR="91450" marT="45725" marB="457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dirty="0">
                          <a:solidFill>
                            <a:schemeClr val="bg2">
                              <a:lumMod val="25000"/>
                            </a:schemeClr>
                          </a:solidFill>
                        </a:rPr>
                        <a:t>Draw</a:t>
                      </a:r>
                      <a:endParaRPr sz="1800" b="1" u="none" strike="noStrike" cap="none" dirty="0">
                        <a:solidFill>
                          <a:schemeClr val="bg2">
                            <a:lumMod val="25000"/>
                          </a:schemeClr>
                        </a:solidFill>
                      </a:endParaRPr>
                    </a:p>
                  </a:txBody>
                  <a:tcPr marL="91450" marR="9145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dirty="0">
                          <a:solidFill>
                            <a:schemeClr val="bg2">
                              <a:lumMod val="25000"/>
                            </a:schemeClr>
                          </a:solidFill>
                        </a:rPr>
                        <a:t>Write</a:t>
                      </a:r>
                      <a:endParaRPr sz="1800" b="1" u="none" strike="noStrike" cap="none" dirty="0">
                        <a:solidFill>
                          <a:schemeClr val="bg2">
                            <a:lumMod val="25000"/>
                          </a:schemeClr>
                        </a:solidFill>
                      </a:endParaRPr>
                    </a:p>
                  </a:txBody>
                  <a:tcPr marL="91450" marR="91450" marT="45725" marB="457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430893">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dirty="0"/>
                    </a:p>
                  </a:txBody>
                  <a:tcPr marL="91450" marR="91450" marT="45725" marB="457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a:p>
                  </a:txBody>
                  <a:tcPr marL="91450" marR="9145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dirty="0"/>
                    </a:p>
                  </a:txBody>
                  <a:tcPr marL="91450" marR="91450" marT="45725" marB="457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3" name="Text Placeholder 2">
            <a:extLst>
              <a:ext uri="{FF2B5EF4-FFF2-40B4-BE49-F238E27FC236}">
                <a16:creationId xmlns:a16="http://schemas.microsoft.com/office/drawing/2014/main" id="{F5DB9EBA-92A2-D9BE-5A55-8378E259446A}"/>
              </a:ext>
            </a:extLst>
          </p:cNvPr>
          <p:cNvSpPr>
            <a:spLocks noGrp="1"/>
          </p:cNvSpPr>
          <p:nvPr>
            <p:ph type="body" sz="quarter" idx="10" hasCustomPrompt="1"/>
          </p:nvPr>
        </p:nvSpPr>
        <p:spPr>
          <a:xfrm>
            <a:off x="765313" y="1479938"/>
            <a:ext cx="11060341" cy="2072153"/>
          </a:xfrm>
          <a:prstGeom prst="rect">
            <a:avLst/>
          </a:prstGeom>
        </p:spPr>
        <p:txBody>
          <a:bodyPr/>
          <a:lstStyle>
            <a:lvl1pPr marL="0" indent="0">
              <a:buNone/>
              <a:defRPr sz="2200">
                <a:solidFill>
                  <a:schemeClr val="bg2">
                    <a:lumMod val="25000"/>
                  </a:schemeClr>
                </a:solidFill>
              </a:defRPr>
            </a:lvl1pPr>
          </a:lstStyle>
          <a:p>
            <a:pPr lvl="0"/>
            <a:r>
              <a:rPr lang="en-US" dirty="0"/>
              <a:t>Click to add text</a:t>
            </a:r>
          </a:p>
        </p:txBody>
      </p:sp>
      <p:sp>
        <p:nvSpPr>
          <p:cNvPr id="2" name="Title 1">
            <a:extLst>
              <a:ext uri="{FF2B5EF4-FFF2-40B4-BE49-F238E27FC236}">
                <a16:creationId xmlns:a16="http://schemas.microsoft.com/office/drawing/2014/main" id="{100D03EF-224B-F87A-5FAF-CA8E423C3783}"/>
              </a:ext>
            </a:extLst>
          </p:cNvPr>
          <p:cNvSpPr>
            <a:spLocks noGrp="1"/>
          </p:cNvSpPr>
          <p:nvPr>
            <p:ph type="title" hasCustomPrompt="1"/>
          </p:nvPr>
        </p:nvSpPr>
        <p:spPr>
          <a:xfrm>
            <a:off x="772211" y="0"/>
            <a:ext cx="11418202" cy="1263192"/>
          </a:xfrm>
          <a:prstGeom prst="rect">
            <a:avLst/>
          </a:prstGeom>
        </p:spPr>
        <p:txBody>
          <a:bodyPr anchor="ctr"/>
          <a:lstStyle/>
          <a:p>
            <a:pPr marL="0" marR="0" lvl="0" indent="0" algn="l" defTabSz="914400" rtl="0" eaLnBrk="1" fontAlgn="auto" latinLnBrk="0" hangingPunct="1">
              <a:lnSpc>
                <a:spcPct val="90000"/>
              </a:lnSpc>
              <a:spcBef>
                <a:spcPts val="0"/>
              </a:spcBef>
              <a:spcAft>
                <a:spcPts val="0"/>
              </a:spcAft>
              <a:buClr>
                <a:srgbClr val="000000"/>
              </a:buClr>
              <a:buSzPts val="4400"/>
              <a:buFont typeface="Arial" panose="020B0604020202020204"/>
              <a:buNone/>
              <a:tabLst/>
              <a:defRPr/>
            </a:pPr>
            <a:r>
              <a:rPr kumimoji="0" lang="en-US" sz="4400" b="1" i="0" u="none" strike="noStrike" kern="1200" cap="none" spc="0" normalizeH="0" baseline="0" noProof="0">
                <a:ln>
                  <a:noFill/>
                </a:ln>
                <a:solidFill>
                  <a:srgbClr val="000000"/>
                </a:solidFill>
                <a:effectLst/>
                <a:uLnTx/>
                <a:uFillTx/>
                <a:latin typeface="Calibri" panose="020F0502020204030204"/>
                <a:ea typeface="Calibri" panose="020F0502020204030204"/>
                <a:cs typeface="Calibri" panose="020F0502020204030204"/>
                <a:sym typeface="Calibri" panose="020F0502020204030204"/>
              </a:rPr>
              <a:t>Read-Draw-Write for Application Problem</a:t>
            </a:r>
          </a:p>
        </p:txBody>
      </p:sp>
      <p:pic>
        <p:nvPicPr>
          <p:cNvPr id="5" name="Picture 4">
            <a:extLst>
              <a:ext uri="{FF2B5EF4-FFF2-40B4-BE49-F238E27FC236}">
                <a16:creationId xmlns:a16="http://schemas.microsoft.com/office/drawing/2014/main" id="{A2207E90-1B20-894B-22B8-12466116766A}"/>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0" y="0"/>
            <a:ext cx="322982" cy="6858000"/>
          </a:xfrm>
          <a:prstGeom prst="rect">
            <a:avLst/>
          </a:prstGeom>
        </p:spPr>
      </p:pic>
    </p:spTree>
    <p:extLst>
      <p:ext uri="{BB962C8B-B14F-4D97-AF65-F5344CB8AC3E}">
        <p14:creationId xmlns:p14="http://schemas.microsoft.com/office/powerpoint/2010/main" val="321962606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Fluency w/Timer">
    <p:spTree>
      <p:nvGrpSpPr>
        <p:cNvPr id="1" name=""/>
        <p:cNvGrpSpPr/>
        <p:nvPr/>
      </p:nvGrpSpPr>
      <p:grpSpPr>
        <a:xfrm>
          <a:off x="0" y="0"/>
          <a:ext cx="0" cy="0"/>
          <a:chOff x="0" y="0"/>
          <a:chExt cx="0" cy="0"/>
        </a:xfrm>
      </p:grpSpPr>
      <p:pic>
        <p:nvPicPr>
          <p:cNvPr id="2" name="Picture 1" descr="A black and white image of a stopwatch&#10;&#10;Description automatically generated">
            <a:extLst>
              <a:ext uri="{FF2B5EF4-FFF2-40B4-BE49-F238E27FC236}">
                <a16:creationId xmlns:a16="http://schemas.microsoft.com/office/drawing/2014/main" id="{45C93455-7637-1C42-D775-87043FDE14A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40002" y="5935775"/>
            <a:ext cx="1191770" cy="771146"/>
          </a:xfrm>
          <a:prstGeom prst="rect">
            <a:avLst/>
          </a:prstGeom>
        </p:spPr>
      </p:pic>
      <p:sp>
        <p:nvSpPr>
          <p:cNvPr id="4" name="Google Shape;36;g295eeb86cda_3_40">
            <a:extLst>
              <a:ext uri="{FF2B5EF4-FFF2-40B4-BE49-F238E27FC236}">
                <a16:creationId xmlns:a16="http://schemas.microsoft.com/office/drawing/2014/main" id="{4B2B0557-EE61-8CF4-6E2D-B3BB9A4164D6}"/>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3" name="Text Placeholder 16">
            <a:extLst>
              <a:ext uri="{FF2B5EF4-FFF2-40B4-BE49-F238E27FC236}">
                <a16:creationId xmlns:a16="http://schemas.microsoft.com/office/drawing/2014/main" id="{2C85C328-7F49-71B9-5668-70282DB97885}"/>
              </a:ext>
            </a:extLst>
          </p:cNvPr>
          <p:cNvSpPr>
            <a:spLocks noGrp="1"/>
          </p:cNvSpPr>
          <p:nvPr>
            <p:ph type="body" sz="quarter" idx="10" hasCustomPrompt="1"/>
          </p:nvPr>
        </p:nvSpPr>
        <p:spPr>
          <a:xfrm>
            <a:off x="11127476" y="6036181"/>
            <a:ext cx="654216"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5" name="Title 3">
            <a:extLst>
              <a:ext uri="{FF2B5EF4-FFF2-40B4-BE49-F238E27FC236}">
                <a16:creationId xmlns:a16="http://schemas.microsoft.com/office/drawing/2014/main" id="{BABD6038-9E2A-9278-C4F2-299A1A34E59F}"/>
              </a:ext>
            </a:extLst>
          </p:cNvPr>
          <p:cNvSpPr>
            <a:spLocks noGrp="1"/>
          </p:cNvSpPr>
          <p:nvPr>
            <p:ph type="title" hasCustomPrompt="1"/>
          </p:nvPr>
        </p:nvSpPr>
        <p:spPr>
          <a:xfrm>
            <a:off x="777240" y="7968"/>
            <a:ext cx="11413173" cy="1269462"/>
          </a:xfrm>
          <a:prstGeom prst="rect">
            <a:avLst/>
          </a:prstGeom>
        </p:spPr>
        <p:txBody>
          <a:bodyPr anchor="ctr"/>
          <a:lstStyle>
            <a:lvl1pPr>
              <a:defRPr b="1">
                <a:solidFill>
                  <a:schemeClr val="bg2">
                    <a:lumMod val="2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Fluency: </a:t>
            </a:r>
            <a:r>
              <a:rPr kumimoji="0" lang="en-US" b="0" i="0" u="none" strike="noStrike" kern="1200" cap="none" spc="0" normalizeH="0" baseline="0" noProof="0" dirty="0">
                <a:ln>
                  <a:noFill/>
                </a:ln>
                <a:solidFill>
                  <a:srgbClr val="000000"/>
                </a:solidFill>
                <a:effectLst/>
                <a:uLnTx/>
                <a:uFillTx/>
                <a:latin typeface="Calibri"/>
                <a:ea typeface="+mn-ea"/>
                <a:cs typeface="+mn-cs"/>
              </a:rPr>
              <a:t>Title (# of #)</a:t>
            </a:r>
            <a:endParaRPr lang="en-US" dirty="0"/>
          </a:p>
        </p:txBody>
      </p:sp>
      <p:pic>
        <p:nvPicPr>
          <p:cNvPr id="6" name="Picture 5">
            <a:extLst>
              <a:ext uri="{FF2B5EF4-FFF2-40B4-BE49-F238E27FC236}">
                <a16:creationId xmlns:a16="http://schemas.microsoft.com/office/drawing/2014/main" id="{37B0BDED-D83D-FD4E-94F0-3B2616AA53F4}"/>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0" y="0"/>
            <a:ext cx="322982" cy="6858000"/>
          </a:xfrm>
          <a:prstGeom prst="rect">
            <a:avLst/>
          </a:prstGeom>
        </p:spPr>
      </p:pic>
    </p:spTree>
    <p:extLst>
      <p:ext uri="{BB962C8B-B14F-4D97-AF65-F5344CB8AC3E}">
        <p14:creationId xmlns:p14="http://schemas.microsoft.com/office/powerpoint/2010/main" val="4087480992"/>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cept Development">
    <p:spTree>
      <p:nvGrpSpPr>
        <p:cNvPr id="1" name=""/>
        <p:cNvGrpSpPr/>
        <p:nvPr/>
      </p:nvGrpSpPr>
      <p:grpSpPr>
        <a:xfrm>
          <a:off x="0" y="0"/>
          <a:ext cx="0" cy="0"/>
          <a:chOff x="0" y="0"/>
          <a:chExt cx="0" cy="0"/>
        </a:xfrm>
      </p:grpSpPr>
      <p:sp>
        <p:nvSpPr>
          <p:cNvPr id="12" name="Google Shape;69;g2950041fd6d_0_282"/>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5" name="Title 1">
            <a:extLst>
              <a:ext uri="{FF2B5EF4-FFF2-40B4-BE49-F238E27FC236}">
                <a16:creationId xmlns:a16="http://schemas.microsoft.com/office/drawing/2014/main" id="{8EA13153-BB2D-5421-7418-44B5425F9E51}"/>
              </a:ext>
            </a:extLst>
          </p:cNvPr>
          <p:cNvSpPr>
            <a:spLocks noGrp="1"/>
          </p:cNvSpPr>
          <p:nvPr>
            <p:ph type="title" hasCustomPrompt="1"/>
          </p:nvPr>
        </p:nvSpPr>
        <p:spPr>
          <a:xfrm>
            <a:off x="777240" y="1"/>
            <a:ext cx="11390313" cy="1263192"/>
          </a:xfrm>
          <a:prstGeom prst="rect">
            <a:avLst/>
          </a:prstGeom>
        </p:spPr>
        <p:txBody>
          <a:bodyPr anchor="ct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Concept Development</a:t>
            </a:r>
          </a:p>
        </p:txBody>
      </p:sp>
      <p:pic>
        <p:nvPicPr>
          <p:cNvPr id="2" name="Picture 1">
            <a:extLst>
              <a:ext uri="{FF2B5EF4-FFF2-40B4-BE49-F238E27FC236}">
                <a16:creationId xmlns:a16="http://schemas.microsoft.com/office/drawing/2014/main" id="{F8B88EEA-3A54-4860-556B-D6A6A0166F25}"/>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0" y="0"/>
            <a:ext cx="322982" cy="6858000"/>
          </a:xfrm>
          <a:prstGeom prst="rect">
            <a:avLst/>
          </a:prstGeom>
        </p:spPr>
      </p:pic>
    </p:spTree>
    <p:extLst>
      <p:ext uri="{BB962C8B-B14F-4D97-AF65-F5344CB8AC3E}">
        <p14:creationId xmlns:p14="http://schemas.microsoft.com/office/powerpoint/2010/main" val="357215125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cept Development with Timer">
    <p:spTree>
      <p:nvGrpSpPr>
        <p:cNvPr id="1" name=""/>
        <p:cNvGrpSpPr/>
        <p:nvPr/>
      </p:nvGrpSpPr>
      <p:grpSpPr>
        <a:xfrm>
          <a:off x="0" y="0"/>
          <a:ext cx="0" cy="0"/>
          <a:chOff x="0" y="0"/>
          <a:chExt cx="0" cy="0"/>
        </a:xfrm>
      </p:grpSpPr>
      <p:pic>
        <p:nvPicPr>
          <p:cNvPr id="6" name="Picture 5" descr="A black and white image of a stopwatch&#10;&#10;Description automatically generated">
            <a:extLst>
              <a:ext uri="{FF2B5EF4-FFF2-40B4-BE49-F238E27FC236}">
                <a16:creationId xmlns:a16="http://schemas.microsoft.com/office/drawing/2014/main" id="{C120155D-CE40-03A5-821E-66ED1B28D63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40002" y="5935775"/>
            <a:ext cx="1191770" cy="771146"/>
          </a:xfrm>
          <a:prstGeom prst="rect">
            <a:avLst/>
          </a:prstGeom>
        </p:spPr>
      </p:pic>
      <p:sp>
        <p:nvSpPr>
          <p:cNvPr id="12" name="Google Shape;69;g2950041fd6d_0_282"/>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3" name="Text Placeholder 16">
            <a:extLst>
              <a:ext uri="{FF2B5EF4-FFF2-40B4-BE49-F238E27FC236}">
                <a16:creationId xmlns:a16="http://schemas.microsoft.com/office/drawing/2014/main" id="{25782E0A-0BD4-715B-C55F-BBA8190C333D}"/>
              </a:ext>
            </a:extLst>
          </p:cNvPr>
          <p:cNvSpPr>
            <a:spLocks noGrp="1"/>
          </p:cNvSpPr>
          <p:nvPr>
            <p:ph type="body" sz="quarter" idx="10" hasCustomPrompt="1"/>
          </p:nvPr>
        </p:nvSpPr>
        <p:spPr>
          <a:xfrm>
            <a:off x="11127570" y="6036181"/>
            <a:ext cx="654121"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5" name="Title 1">
            <a:extLst>
              <a:ext uri="{FF2B5EF4-FFF2-40B4-BE49-F238E27FC236}">
                <a16:creationId xmlns:a16="http://schemas.microsoft.com/office/drawing/2014/main" id="{8EA13153-BB2D-5421-7418-44B5425F9E51}"/>
              </a:ext>
            </a:extLst>
          </p:cNvPr>
          <p:cNvSpPr>
            <a:spLocks noGrp="1"/>
          </p:cNvSpPr>
          <p:nvPr>
            <p:ph type="title" hasCustomPrompt="1"/>
          </p:nvPr>
        </p:nvSpPr>
        <p:spPr>
          <a:xfrm>
            <a:off x="777240" y="1"/>
            <a:ext cx="11390313" cy="1263192"/>
          </a:xfrm>
          <a:prstGeom prst="rect">
            <a:avLst/>
          </a:prstGeom>
        </p:spPr>
        <p:txBody>
          <a:bodyPr anchor="ct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Concept Development</a:t>
            </a:r>
          </a:p>
        </p:txBody>
      </p:sp>
      <p:pic>
        <p:nvPicPr>
          <p:cNvPr id="2" name="Picture 1">
            <a:extLst>
              <a:ext uri="{FF2B5EF4-FFF2-40B4-BE49-F238E27FC236}">
                <a16:creationId xmlns:a16="http://schemas.microsoft.com/office/drawing/2014/main" id="{5C37EC70-3A95-9848-5065-7C7A9E822BC9}"/>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0" y="0"/>
            <a:ext cx="322982" cy="6858000"/>
          </a:xfrm>
          <a:prstGeom prst="rect">
            <a:avLst/>
          </a:prstGeom>
        </p:spPr>
      </p:pic>
    </p:spTree>
    <p:extLst>
      <p:ext uri="{BB962C8B-B14F-4D97-AF65-F5344CB8AC3E}">
        <p14:creationId xmlns:p14="http://schemas.microsoft.com/office/powerpoint/2010/main" val="160629240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Problem Set with Text">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54725ABB-3358-BA78-ED3F-EE574662422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40002" y="5935775"/>
            <a:ext cx="1191770" cy="771146"/>
          </a:xfrm>
          <a:prstGeom prst="rect">
            <a:avLst/>
          </a:prstGeom>
        </p:spPr>
      </p:pic>
      <p:sp>
        <p:nvSpPr>
          <p:cNvPr id="14" name="Text Placeholder 16"/>
          <p:cNvSpPr>
            <a:spLocks noGrp="1"/>
          </p:cNvSpPr>
          <p:nvPr>
            <p:ph type="body" sz="quarter" idx="10" hasCustomPrompt="1"/>
          </p:nvPr>
        </p:nvSpPr>
        <p:spPr>
          <a:xfrm>
            <a:off x="11140001" y="6036181"/>
            <a:ext cx="622969"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2" name="Title 1">
            <a:extLst>
              <a:ext uri="{FF2B5EF4-FFF2-40B4-BE49-F238E27FC236}">
                <a16:creationId xmlns:a16="http://schemas.microsoft.com/office/drawing/2014/main" id="{0C16ECBB-77EB-0635-C9C3-E4F98B5337AC}"/>
              </a:ext>
            </a:extLst>
          </p:cNvPr>
          <p:cNvSpPr>
            <a:spLocks noGrp="1"/>
          </p:cNvSpPr>
          <p:nvPr>
            <p:ph type="title" hasCustomPrompt="1"/>
          </p:nvPr>
        </p:nvSpPr>
        <p:spPr>
          <a:xfrm>
            <a:off x="777240" y="1"/>
            <a:ext cx="11407898"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Problem Set</a:t>
            </a:r>
          </a:p>
        </p:txBody>
      </p:sp>
      <p:sp>
        <p:nvSpPr>
          <p:cNvPr id="4" name="Google Shape;69;g2950041fd6d_0_282">
            <a:extLst>
              <a:ext uri="{FF2B5EF4-FFF2-40B4-BE49-F238E27FC236}">
                <a16:creationId xmlns:a16="http://schemas.microsoft.com/office/drawing/2014/main" id="{9D7369C9-C599-CE95-CCD3-2B81A765581C}"/>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pic>
        <p:nvPicPr>
          <p:cNvPr id="5" name="Picture 4">
            <a:extLst>
              <a:ext uri="{FF2B5EF4-FFF2-40B4-BE49-F238E27FC236}">
                <a16:creationId xmlns:a16="http://schemas.microsoft.com/office/drawing/2014/main" id="{C1E68608-310E-87E2-6084-F27D1E68B5CF}"/>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0" y="0"/>
            <a:ext cx="322982" cy="6858000"/>
          </a:xfrm>
          <a:prstGeom prst="rect">
            <a:avLst/>
          </a:prstGeom>
        </p:spPr>
      </p:pic>
    </p:spTree>
    <p:extLst>
      <p:ext uri="{BB962C8B-B14F-4D97-AF65-F5344CB8AC3E}">
        <p14:creationId xmlns:p14="http://schemas.microsoft.com/office/powerpoint/2010/main" val="365791475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Student Debrief">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DAC79665-DA63-6390-C217-C3166216C1B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40002" y="5935775"/>
            <a:ext cx="1191770" cy="771146"/>
          </a:xfrm>
          <a:prstGeom prst="rect">
            <a:avLst/>
          </a:prstGeom>
        </p:spPr>
      </p:pic>
      <p:sp>
        <p:nvSpPr>
          <p:cNvPr id="11" name="Google Shape;80;g295eeb86cda_3_104"/>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rmAutofit/>
          </a:bodyPr>
          <a:lstStyle>
            <a:lvl1pPr marL="571500" lvl="0" indent="-457200" algn="l">
              <a:lnSpc>
                <a:spcPct val="100000"/>
              </a:lnSpc>
              <a:spcBef>
                <a:spcPts val="1000"/>
              </a:spcBef>
              <a:spcAft>
                <a:spcPts val="0"/>
              </a:spcAft>
              <a:buClr>
                <a:schemeClr val="dk1"/>
              </a:buClr>
              <a:buSzPct val="100000"/>
              <a:buFont typeface="Arial" panose="020B0604020202020204" pitchFamily="34" charset="0"/>
              <a:buChar char="•"/>
              <a:defRPr sz="2800">
                <a:solidFill>
                  <a:schemeClr val="bg2">
                    <a:lumMod val="25000"/>
                  </a:schemeClr>
                </a:solidFill>
              </a:defRPr>
            </a:lvl1pPr>
            <a:lvl2pPr marL="914400" lvl="1" indent="-342900" algn="l">
              <a:lnSpc>
                <a:spcPct val="100000"/>
              </a:lnSpc>
              <a:spcBef>
                <a:spcPts val="1000"/>
              </a:spcBef>
              <a:spcAft>
                <a:spcPts val="0"/>
              </a:spcAft>
              <a:buClr>
                <a:schemeClr val="dk1"/>
              </a:buClr>
              <a:buSzPts val="1800"/>
              <a:buChar char="•"/>
              <a:defRPr/>
            </a:lvl2pPr>
            <a:lvl3pPr marL="1371600" lvl="2" indent="-342900" algn="l">
              <a:lnSpc>
                <a:spcPct val="100000"/>
              </a:lnSpc>
              <a:spcBef>
                <a:spcPts val="1000"/>
              </a:spcBef>
              <a:spcAft>
                <a:spcPts val="0"/>
              </a:spcAft>
              <a:buClr>
                <a:schemeClr val="dk1"/>
              </a:buClr>
              <a:buSzPts val="1800"/>
              <a:buChar char="•"/>
              <a:defRPr/>
            </a:lvl3pPr>
            <a:lvl4pPr marL="1828800" lvl="3" indent="-342900" algn="l">
              <a:lnSpc>
                <a:spcPct val="100000"/>
              </a:lnSpc>
              <a:spcBef>
                <a:spcPts val="1000"/>
              </a:spcBef>
              <a:spcAft>
                <a:spcPts val="0"/>
              </a:spcAft>
              <a:buClr>
                <a:schemeClr val="dk1"/>
              </a:buClr>
              <a:buSzPts val="1800"/>
              <a:buChar char="•"/>
              <a:defRPr/>
            </a:lvl4pPr>
            <a:lvl5pPr marL="2286000" lvl="4" indent="-342900" algn="l">
              <a:lnSpc>
                <a:spcPct val="100000"/>
              </a:lnSpc>
              <a:spcBef>
                <a:spcPts val="1000"/>
              </a:spcBef>
              <a:spcAft>
                <a:spcPts val="0"/>
              </a:spcAft>
              <a:buClr>
                <a:schemeClr val="dk1"/>
              </a:buClr>
              <a:buSzPts val="1800"/>
              <a:buChar char="•"/>
              <a:defRPr/>
            </a:lvl5pPr>
            <a:lvl6pPr marL="2743200" lvl="5" indent="-342900" algn="l">
              <a:lnSpc>
                <a:spcPct val="100000"/>
              </a:lnSpc>
              <a:spcBef>
                <a:spcPts val="1000"/>
              </a:spcBef>
              <a:spcAft>
                <a:spcPts val="0"/>
              </a:spcAft>
              <a:buClr>
                <a:schemeClr val="dk1"/>
              </a:buClr>
              <a:buSzPts val="1800"/>
              <a:buChar char="•"/>
              <a:defRPr/>
            </a:lvl6pPr>
            <a:lvl7pPr marL="3200400" lvl="6" indent="-342900" algn="l">
              <a:lnSpc>
                <a:spcPct val="100000"/>
              </a:lnSpc>
              <a:spcBef>
                <a:spcPts val="1000"/>
              </a:spcBef>
              <a:spcAft>
                <a:spcPts val="0"/>
              </a:spcAft>
              <a:buClr>
                <a:schemeClr val="dk1"/>
              </a:buClr>
              <a:buSzPts val="1800"/>
              <a:buChar char="•"/>
              <a:defRPr/>
            </a:lvl7pPr>
            <a:lvl8pPr marL="3657600" lvl="7" indent="-342900" algn="l">
              <a:lnSpc>
                <a:spcPct val="100000"/>
              </a:lnSpc>
              <a:spcBef>
                <a:spcPts val="1000"/>
              </a:spcBef>
              <a:spcAft>
                <a:spcPts val="0"/>
              </a:spcAft>
              <a:buClr>
                <a:schemeClr val="dk1"/>
              </a:buClr>
              <a:buSzPts val="1800"/>
              <a:buChar char="•"/>
              <a:defRPr/>
            </a:lvl8pPr>
            <a:lvl9pPr marL="4114800" lvl="8" indent="-342900" algn="l">
              <a:lnSpc>
                <a:spcPct val="100000"/>
              </a:lnSpc>
              <a:spcBef>
                <a:spcPts val="1000"/>
              </a:spcBef>
              <a:spcAft>
                <a:spcPts val="1000"/>
              </a:spcAft>
              <a:buClr>
                <a:schemeClr val="dk1"/>
              </a:buClr>
              <a:buSzPts val="1800"/>
              <a:buChar char="•"/>
              <a:defRPr/>
            </a:lvl9pPr>
          </a:lstStyle>
          <a:p>
            <a:endParaRPr dirty="0"/>
          </a:p>
        </p:txBody>
      </p:sp>
      <p:sp>
        <p:nvSpPr>
          <p:cNvPr id="14" name="Text Placeholder 16"/>
          <p:cNvSpPr>
            <a:spLocks noGrp="1"/>
          </p:cNvSpPr>
          <p:nvPr>
            <p:ph type="body" sz="quarter" idx="10" hasCustomPrompt="1"/>
          </p:nvPr>
        </p:nvSpPr>
        <p:spPr>
          <a:xfrm>
            <a:off x="11127570" y="6036181"/>
            <a:ext cx="645330"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2" name="Title 1">
            <a:extLst>
              <a:ext uri="{FF2B5EF4-FFF2-40B4-BE49-F238E27FC236}">
                <a16:creationId xmlns:a16="http://schemas.microsoft.com/office/drawing/2014/main" id="{FB0B6DF2-911F-E608-84A0-0D6E6AF4BF7B}"/>
              </a:ext>
            </a:extLst>
          </p:cNvPr>
          <p:cNvSpPr>
            <a:spLocks noGrp="1"/>
          </p:cNvSpPr>
          <p:nvPr>
            <p:ph type="title" hasCustomPrompt="1"/>
          </p:nvPr>
        </p:nvSpPr>
        <p:spPr>
          <a:xfrm>
            <a:off x="777240" y="1"/>
            <a:ext cx="11390313"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Student Debrief</a:t>
            </a:r>
          </a:p>
        </p:txBody>
      </p:sp>
      <p:pic>
        <p:nvPicPr>
          <p:cNvPr id="4" name="Picture 3">
            <a:extLst>
              <a:ext uri="{FF2B5EF4-FFF2-40B4-BE49-F238E27FC236}">
                <a16:creationId xmlns:a16="http://schemas.microsoft.com/office/drawing/2014/main" id="{88EBEE1F-D893-3AC1-EA24-B31DCC787854}"/>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0" y="0"/>
            <a:ext cx="322982" cy="6858000"/>
          </a:xfrm>
          <a:prstGeom prst="rect">
            <a:avLst/>
          </a:prstGeom>
        </p:spPr>
      </p:pic>
    </p:spTree>
    <p:extLst>
      <p:ext uri="{BB962C8B-B14F-4D97-AF65-F5344CB8AC3E}">
        <p14:creationId xmlns:p14="http://schemas.microsoft.com/office/powerpoint/2010/main" val="325671368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Exit Ticket">
    <p:spTree>
      <p:nvGrpSpPr>
        <p:cNvPr id="1" name=""/>
        <p:cNvGrpSpPr/>
        <p:nvPr/>
      </p:nvGrpSpPr>
      <p:grpSpPr>
        <a:xfrm>
          <a:off x="0" y="0"/>
          <a:ext cx="0" cy="0"/>
          <a:chOff x="0" y="0"/>
          <a:chExt cx="0" cy="0"/>
        </a:xfrm>
      </p:grpSpPr>
      <p:pic>
        <p:nvPicPr>
          <p:cNvPr id="6" name="Picture 5" descr="A black and white image of a stopwatch&#10;&#10;Description automatically generated">
            <a:extLst>
              <a:ext uri="{FF2B5EF4-FFF2-40B4-BE49-F238E27FC236}">
                <a16:creationId xmlns:a16="http://schemas.microsoft.com/office/drawing/2014/main" id="{87BF7481-2AB1-1F79-65F6-B47BE9EECE0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40002" y="5935775"/>
            <a:ext cx="1191770" cy="771146"/>
          </a:xfrm>
          <a:prstGeom prst="rect">
            <a:avLst/>
          </a:prstGeom>
        </p:spPr>
      </p:pic>
      <p:sp>
        <p:nvSpPr>
          <p:cNvPr id="3" name="Text Placeholder 16">
            <a:extLst>
              <a:ext uri="{FF2B5EF4-FFF2-40B4-BE49-F238E27FC236}">
                <a16:creationId xmlns:a16="http://schemas.microsoft.com/office/drawing/2014/main" id="{BC6A2CE5-7968-8B98-9B39-FF49F2E9FD9A}"/>
              </a:ext>
            </a:extLst>
          </p:cNvPr>
          <p:cNvSpPr>
            <a:spLocks noGrp="1"/>
          </p:cNvSpPr>
          <p:nvPr>
            <p:ph type="body" sz="quarter" idx="11" hasCustomPrompt="1"/>
          </p:nvPr>
        </p:nvSpPr>
        <p:spPr>
          <a:xfrm>
            <a:off x="11127571" y="6036181"/>
            <a:ext cx="635400"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5" name="Google Shape;80;g295eeb86cda_3_104">
            <a:extLst>
              <a:ext uri="{FF2B5EF4-FFF2-40B4-BE49-F238E27FC236}">
                <a16:creationId xmlns:a16="http://schemas.microsoft.com/office/drawing/2014/main" id="{E879CF37-D19C-8989-9D60-7E089D9CFD43}"/>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rmAutofit/>
          </a:bodyPr>
          <a:lstStyle>
            <a:lvl1pPr marL="114300" lvl="0" indent="0" algn="l">
              <a:lnSpc>
                <a:spcPct val="100000"/>
              </a:lnSpc>
              <a:spcBef>
                <a:spcPts val="1000"/>
              </a:spcBef>
              <a:spcAft>
                <a:spcPts val="0"/>
              </a:spcAft>
              <a:buClr>
                <a:schemeClr val="dk1"/>
              </a:buClr>
              <a:buSzPct val="100000"/>
              <a:buFont typeface="Arial" panose="020B0604020202020204" pitchFamily="34" charset="0"/>
              <a:buNone/>
              <a:defRPr sz="2800">
                <a:solidFill>
                  <a:schemeClr val="bg2">
                    <a:lumMod val="25000"/>
                  </a:schemeClr>
                </a:solidFill>
              </a:defRPr>
            </a:lvl1pPr>
            <a:lvl2pPr marL="914400" lvl="1" indent="-342900" algn="l">
              <a:lnSpc>
                <a:spcPct val="100000"/>
              </a:lnSpc>
              <a:spcBef>
                <a:spcPts val="1000"/>
              </a:spcBef>
              <a:spcAft>
                <a:spcPts val="0"/>
              </a:spcAft>
              <a:buClr>
                <a:schemeClr val="dk1"/>
              </a:buClr>
              <a:buSzPts val="1800"/>
              <a:buChar char="•"/>
              <a:defRPr/>
            </a:lvl2pPr>
            <a:lvl3pPr marL="1371600" lvl="2" indent="-342900" algn="l">
              <a:lnSpc>
                <a:spcPct val="100000"/>
              </a:lnSpc>
              <a:spcBef>
                <a:spcPts val="1000"/>
              </a:spcBef>
              <a:spcAft>
                <a:spcPts val="0"/>
              </a:spcAft>
              <a:buClr>
                <a:schemeClr val="dk1"/>
              </a:buClr>
              <a:buSzPts val="1800"/>
              <a:buChar char="•"/>
              <a:defRPr/>
            </a:lvl3pPr>
            <a:lvl4pPr marL="1828800" lvl="3" indent="-342900" algn="l">
              <a:lnSpc>
                <a:spcPct val="100000"/>
              </a:lnSpc>
              <a:spcBef>
                <a:spcPts val="1000"/>
              </a:spcBef>
              <a:spcAft>
                <a:spcPts val="0"/>
              </a:spcAft>
              <a:buClr>
                <a:schemeClr val="dk1"/>
              </a:buClr>
              <a:buSzPts val="1800"/>
              <a:buChar char="•"/>
              <a:defRPr/>
            </a:lvl4pPr>
            <a:lvl5pPr marL="2286000" lvl="4" indent="-342900" algn="l">
              <a:lnSpc>
                <a:spcPct val="100000"/>
              </a:lnSpc>
              <a:spcBef>
                <a:spcPts val="1000"/>
              </a:spcBef>
              <a:spcAft>
                <a:spcPts val="0"/>
              </a:spcAft>
              <a:buClr>
                <a:schemeClr val="dk1"/>
              </a:buClr>
              <a:buSzPts val="1800"/>
              <a:buChar char="•"/>
              <a:defRPr/>
            </a:lvl5pPr>
            <a:lvl6pPr marL="2743200" lvl="5" indent="-342900" algn="l">
              <a:lnSpc>
                <a:spcPct val="100000"/>
              </a:lnSpc>
              <a:spcBef>
                <a:spcPts val="1000"/>
              </a:spcBef>
              <a:spcAft>
                <a:spcPts val="0"/>
              </a:spcAft>
              <a:buClr>
                <a:schemeClr val="dk1"/>
              </a:buClr>
              <a:buSzPts val="1800"/>
              <a:buChar char="•"/>
              <a:defRPr/>
            </a:lvl6pPr>
            <a:lvl7pPr marL="3200400" lvl="6" indent="-342900" algn="l">
              <a:lnSpc>
                <a:spcPct val="100000"/>
              </a:lnSpc>
              <a:spcBef>
                <a:spcPts val="1000"/>
              </a:spcBef>
              <a:spcAft>
                <a:spcPts val="0"/>
              </a:spcAft>
              <a:buClr>
                <a:schemeClr val="dk1"/>
              </a:buClr>
              <a:buSzPts val="1800"/>
              <a:buChar char="•"/>
              <a:defRPr/>
            </a:lvl7pPr>
            <a:lvl8pPr marL="3657600" lvl="7" indent="-342900" algn="l">
              <a:lnSpc>
                <a:spcPct val="100000"/>
              </a:lnSpc>
              <a:spcBef>
                <a:spcPts val="1000"/>
              </a:spcBef>
              <a:spcAft>
                <a:spcPts val="0"/>
              </a:spcAft>
              <a:buClr>
                <a:schemeClr val="dk1"/>
              </a:buClr>
              <a:buSzPts val="1800"/>
              <a:buChar char="•"/>
              <a:defRPr/>
            </a:lvl8pPr>
            <a:lvl9pPr marL="4114800" lvl="8" indent="-342900" algn="l">
              <a:lnSpc>
                <a:spcPct val="100000"/>
              </a:lnSpc>
              <a:spcBef>
                <a:spcPts val="1000"/>
              </a:spcBef>
              <a:spcAft>
                <a:spcPts val="1000"/>
              </a:spcAft>
              <a:buClr>
                <a:schemeClr val="dk1"/>
              </a:buClr>
              <a:buSzPts val="1800"/>
              <a:buChar char="•"/>
              <a:defRPr/>
            </a:lvl9pPr>
          </a:lstStyle>
          <a:p>
            <a:endParaRPr dirty="0"/>
          </a:p>
        </p:txBody>
      </p:sp>
      <p:sp>
        <p:nvSpPr>
          <p:cNvPr id="7" name="Title 1">
            <a:extLst>
              <a:ext uri="{FF2B5EF4-FFF2-40B4-BE49-F238E27FC236}">
                <a16:creationId xmlns:a16="http://schemas.microsoft.com/office/drawing/2014/main" id="{3820E38D-87BF-6F8F-072E-A0D77CD81A20}"/>
              </a:ext>
            </a:extLst>
          </p:cNvPr>
          <p:cNvSpPr>
            <a:spLocks noGrp="1"/>
          </p:cNvSpPr>
          <p:nvPr>
            <p:ph type="title" hasCustomPrompt="1"/>
          </p:nvPr>
        </p:nvSpPr>
        <p:spPr>
          <a:xfrm>
            <a:off x="777240" y="1"/>
            <a:ext cx="11425482"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Exit Ticket</a:t>
            </a:r>
          </a:p>
        </p:txBody>
      </p:sp>
      <p:pic>
        <p:nvPicPr>
          <p:cNvPr id="2" name="Picture 1">
            <a:extLst>
              <a:ext uri="{FF2B5EF4-FFF2-40B4-BE49-F238E27FC236}">
                <a16:creationId xmlns:a16="http://schemas.microsoft.com/office/drawing/2014/main" id="{6EEE28E3-A4D4-3431-633F-B27968B18E9C}"/>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0" y="0"/>
            <a:ext cx="322982" cy="6858000"/>
          </a:xfrm>
          <a:prstGeom prst="rect">
            <a:avLst/>
          </a:prstGeom>
        </p:spPr>
      </p:pic>
    </p:spTree>
    <p:extLst>
      <p:ext uri="{BB962C8B-B14F-4D97-AF65-F5344CB8AC3E}">
        <p14:creationId xmlns:p14="http://schemas.microsoft.com/office/powerpoint/2010/main" val="90382453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2_Alg I_Title Slide">
    <p:bg>
      <p:bgPr>
        <a:solidFill>
          <a:schemeClr val="bg1"/>
        </a:solidFill>
        <a:effectLst/>
      </p:bgPr>
    </p:bg>
    <p:spTree>
      <p:nvGrpSpPr>
        <p:cNvPr id="1" name=""/>
        <p:cNvGrpSpPr/>
        <p:nvPr/>
      </p:nvGrpSpPr>
      <p:grpSpPr>
        <a:xfrm>
          <a:off x="0" y="0"/>
          <a:ext cx="0" cy="0"/>
          <a:chOff x="0" y="0"/>
          <a:chExt cx="0" cy="0"/>
        </a:xfrm>
      </p:grpSpPr>
      <p:sp>
        <p:nvSpPr>
          <p:cNvPr id="3" name="Text Placeholder 3">
            <a:extLst>
              <a:ext uri="{FF2B5EF4-FFF2-40B4-BE49-F238E27FC236}">
                <a16:creationId xmlns:a16="http://schemas.microsoft.com/office/drawing/2014/main" id="{F992793D-996B-68F1-CC42-4A64BF66E531}"/>
              </a:ext>
            </a:extLst>
          </p:cNvPr>
          <p:cNvSpPr>
            <a:spLocks noGrp="1"/>
          </p:cNvSpPr>
          <p:nvPr>
            <p:ph type="body" sz="quarter" idx="10" hasCustomPrompt="1"/>
          </p:nvPr>
        </p:nvSpPr>
        <p:spPr>
          <a:xfrm>
            <a:off x="-1590" y="1622759"/>
            <a:ext cx="12192003" cy="1819137"/>
          </a:xfrm>
          <a:prstGeom prst="rect">
            <a:avLst/>
          </a:prstGeom>
        </p:spPr>
        <p:txBody>
          <a:bodyPr/>
          <a:lstStyle>
            <a:lvl1pPr marL="0" indent="0" algn="ctr">
              <a:buNone/>
              <a:defRPr sz="6000" b="1">
                <a:solidFill>
                  <a:srgbClr val="61449B"/>
                </a:solidFill>
              </a:defRPr>
            </a:lvl1pPr>
          </a:lstStyle>
          <a:p>
            <a:pPr lvl="0"/>
            <a:r>
              <a:rPr lang="en-US" sz="6000" dirty="0"/>
              <a:t>Module Name</a:t>
            </a:r>
          </a:p>
          <a:p>
            <a:pPr lvl="0"/>
            <a:r>
              <a:rPr lang="en-US" sz="6000" dirty="0"/>
              <a:t>Name</a:t>
            </a:r>
          </a:p>
          <a:p>
            <a:pPr lvl="0"/>
            <a:endParaRPr lang="en-US" dirty="0"/>
          </a:p>
        </p:txBody>
      </p:sp>
      <p:sp>
        <p:nvSpPr>
          <p:cNvPr id="5" name="Text Placeholder 5">
            <a:extLst>
              <a:ext uri="{FF2B5EF4-FFF2-40B4-BE49-F238E27FC236}">
                <a16:creationId xmlns:a16="http://schemas.microsoft.com/office/drawing/2014/main" id="{74F0E467-86F1-F51B-377D-DE8A5155B5E1}"/>
              </a:ext>
            </a:extLst>
          </p:cNvPr>
          <p:cNvSpPr>
            <a:spLocks noGrp="1"/>
          </p:cNvSpPr>
          <p:nvPr>
            <p:ph type="body" sz="quarter" idx="13" hasCustomPrompt="1"/>
          </p:nvPr>
        </p:nvSpPr>
        <p:spPr>
          <a:xfrm>
            <a:off x="-1590" y="3641189"/>
            <a:ext cx="12190413" cy="822457"/>
          </a:xfrm>
          <a:prstGeom prst="rect">
            <a:avLst/>
          </a:prstGeom>
        </p:spPr>
        <p:txBody>
          <a:bodyPr anchor="ctr"/>
          <a:lstStyle>
            <a:lvl1pPr marL="0" indent="0" algn="ctr">
              <a:buNone/>
              <a:defRPr sz="4400" b="0">
                <a:solidFill>
                  <a:srgbClr val="143965"/>
                </a:solidFill>
              </a:defRPr>
            </a:lvl1pPr>
          </a:lstStyle>
          <a:p>
            <a:pPr lvl="0"/>
            <a:r>
              <a:rPr lang="en-US" dirty="0"/>
              <a:t>Grade # | Module # | Topic X | Lesson #</a:t>
            </a:r>
          </a:p>
        </p:txBody>
      </p:sp>
      <p:sp>
        <p:nvSpPr>
          <p:cNvPr id="2" name="Round Single Corner Rectangle 1">
            <a:extLst>
              <a:ext uri="{FF2B5EF4-FFF2-40B4-BE49-F238E27FC236}">
                <a16:creationId xmlns:a16="http://schemas.microsoft.com/office/drawing/2014/main" id="{7D24360F-9CDE-6F31-8095-CEDD386A0B5F}"/>
              </a:ext>
            </a:extLst>
          </p:cNvPr>
          <p:cNvSpPr/>
          <p:nvPr userDrawn="1"/>
        </p:nvSpPr>
        <p:spPr>
          <a:xfrm rot="10800000" flipH="1">
            <a:off x="0" y="0"/>
            <a:ext cx="2467555" cy="954942"/>
          </a:xfrm>
          <a:prstGeom prst="round1Rect">
            <a:avLst/>
          </a:prstGeom>
          <a:solidFill>
            <a:srgbClr val="6144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6706451E-BBBC-107B-E631-3F63997BE9D6}"/>
              </a:ext>
            </a:extLst>
          </p:cNvPr>
          <p:cNvSpPr txBox="1"/>
          <p:nvPr userDrawn="1"/>
        </p:nvSpPr>
        <p:spPr>
          <a:xfrm>
            <a:off x="0" y="280732"/>
            <a:ext cx="2467555" cy="461665"/>
          </a:xfrm>
          <a:prstGeom prst="rect">
            <a:avLst/>
          </a:prstGeom>
          <a:noFill/>
        </p:spPr>
        <p:txBody>
          <a:bodyPr wrap="square" rtlCol="0">
            <a:spAutoFit/>
          </a:bodyPr>
          <a:lstStyle/>
          <a:p>
            <a:pPr algn="ctr"/>
            <a:r>
              <a:rPr lang="en-US" sz="2400" dirty="0">
                <a:solidFill>
                  <a:schemeClr val="bg1"/>
                </a:solidFill>
              </a:rPr>
              <a:t>ENGLISH</a:t>
            </a:r>
          </a:p>
        </p:txBody>
      </p:sp>
      <p:pic>
        <p:nvPicPr>
          <p:cNvPr id="18" name="Picture 17" descr="A blue and black logo&#10;&#10;AI-generated content may be incorrect.">
            <a:extLst>
              <a:ext uri="{FF2B5EF4-FFF2-40B4-BE49-F238E27FC236}">
                <a16:creationId xmlns:a16="http://schemas.microsoft.com/office/drawing/2014/main" id="{B203EADC-2DB3-1EE5-60AF-D1787BEEC07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940726" y="132485"/>
            <a:ext cx="2910578" cy="954944"/>
          </a:xfrm>
          <a:prstGeom prst="rect">
            <a:avLst/>
          </a:prstGeom>
        </p:spPr>
      </p:pic>
      <p:sp>
        <p:nvSpPr>
          <p:cNvPr id="19" name="TextBox 18">
            <a:extLst>
              <a:ext uri="{FF2B5EF4-FFF2-40B4-BE49-F238E27FC236}">
                <a16:creationId xmlns:a16="http://schemas.microsoft.com/office/drawing/2014/main" id="{2804B40F-0DA7-E0E3-162C-E301ABDD7551}"/>
              </a:ext>
            </a:extLst>
          </p:cNvPr>
          <p:cNvSpPr txBox="1"/>
          <p:nvPr userDrawn="1"/>
        </p:nvSpPr>
        <p:spPr>
          <a:xfrm>
            <a:off x="10111407" y="1007699"/>
            <a:ext cx="1643271" cy="267288"/>
          </a:xfrm>
          <a:prstGeom prst="rect">
            <a:avLst/>
          </a:prstGeom>
          <a:noFill/>
        </p:spPr>
        <p:txBody>
          <a:bodyPr wrap="square" rtlCol="0">
            <a:spAutoFit/>
          </a:bodyPr>
          <a:lstStyle/>
          <a:p>
            <a:pPr algn="ctr"/>
            <a:r>
              <a:rPr lang="en-US" sz="1100" b="1" dirty="0">
                <a:solidFill>
                  <a:srgbClr val="000000"/>
                </a:solidFill>
              </a:rPr>
              <a:t>Secondary Mathematics</a:t>
            </a:r>
          </a:p>
        </p:txBody>
      </p:sp>
      <p:sp>
        <p:nvSpPr>
          <p:cNvPr id="20" name="Rounded Rectangle 19">
            <a:extLst>
              <a:ext uri="{FF2B5EF4-FFF2-40B4-BE49-F238E27FC236}">
                <a16:creationId xmlns:a16="http://schemas.microsoft.com/office/drawing/2014/main" id="{A6542DB2-F324-40CF-3B49-6D031A4E64E1}"/>
              </a:ext>
            </a:extLst>
          </p:cNvPr>
          <p:cNvSpPr/>
          <p:nvPr userDrawn="1"/>
        </p:nvSpPr>
        <p:spPr>
          <a:xfrm>
            <a:off x="10236991" y="1306046"/>
            <a:ext cx="907774" cy="298608"/>
          </a:xfrm>
          <a:prstGeom prst="round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E0930552-3750-2EC0-AA03-FF31F6332588}"/>
              </a:ext>
            </a:extLst>
          </p:cNvPr>
          <p:cNvSpPr txBox="1"/>
          <p:nvPr userDrawn="1"/>
        </p:nvSpPr>
        <p:spPr>
          <a:xfrm>
            <a:off x="10252484" y="1335768"/>
            <a:ext cx="868018" cy="237827"/>
          </a:xfrm>
          <a:prstGeom prst="rect">
            <a:avLst/>
          </a:prstGeom>
          <a:noFill/>
        </p:spPr>
        <p:txBody>
          <a:bodyPr wrap="square" rtlCol="0">
            <a:spAutoFit/>
          </a:bodyPr>
          <a:lstStyle/>
          <a:p>
            <a:pPr algn="ctr"/>
            <a:r>
              <a:rPr lang="en-US" sz="1100" b="1" i="0" dirty="0">
                <a:solidFill>
                  <a:schemeClr val="bg2">
                    <a:lumMod val="50000"/>
                  </a:schemeClr>
                </a:solidFill>
                <a:latin typeface="Calibri" panose="020F0502020204030204" pitchFamily="34" charset="0"/>
                <a:cs typeface="Calibri" panose="020F0502020204030204" pitchFamily="34" charset="0"/>
              </a:rPr>
              <a:t>EDITION 1</a:t>
            </a:r>
          </a:p>
        </p:txBody>
      </p:sp>
      <p:pic>
        <p:nvPicPr>
          <p:cNvPr id="8" name="Picture 7">
            <a:extLst>
              <a:ext uri="{FF2B5EF4-FFF2-40B4-BE49-F238E27FC236}">
                <a16:creationId xmlns:a16="http://schemas.microsoft.com/office/drawing/2014/main" id="{F8551CF0-DABA-0FFF-DE83-145FA6143FA8}"/>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2" y="4663225"/>
            <a:ext cx="12190407" cy="2194775"/>
          </a:xfrm>
          <a:prstGeom prst="rect">
            <a:avLst/>
          </a:prstGeom>
        </p:spPr>
      </p:pic>
    </p:spTree>
    <p:extLst>
      <p:ext uri="{BB962C8B-B14F-4D97-AF65-F5344CB8AC3E}">
        <p14:creationId xmlns:p14="http://schemas.microsoft.com/office/powerpoint/2010/main" val="228490340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9_G2 Copyright">
    <p:bg>
      <p:bgPr>
        <a:solidFill>
          <a:schemeClr val="bg1"/>
        </a:solidFill>
        <a:effectLst/>
      </p:bgPr>
    </p:bg>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72307BBC-7B87-E2A3-8D37-F3412D1BA5D0}"/>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 y="932192"/>
            <a:ext cx="12190412" cy="5925807"/>
          </a:xfrm>
          <a:prstGeom prst="rect">
            <a:avLst/>
          </a:prstGeom>
        </p:spPr>
      </p:pic>
      <p:sp>
        <p:nvSpPr>
          <p:cNvPr id="4" name="Oval 3">
            <a:extLst>
              <a:ext uri="{FF2B5EF4-FFF2-40B4-BE49-F238E27FC236}">
                <a16:creationId xmlns:a16="http://schemas.microsoft.com/office/drawing/2014/main" id="{ABB595A4-9EBD-188A-EC7D-0AAB0001E823}"/>
              </a:ext>
            </a:extLst>
          </p:cNvPr>
          <p:cNvSpPr/>
          <p:nvPr userDrawn="1"/>
        </p:nvSpPr>
        <p:spPr>
          <a:xfrm>
            <a:off x="1668545" y="2356700"/>
            <a:ext cx="1715678" cy="2648931"/>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E5165B0B-BFFB-F8AF-28CB-AB06CD2FE816}"/>
              </a:ext>
            </a:extLst>
          </p:cNvPr>
          <p:cNvSpPr/>
          <p:nvPr userDrawn="1"/>
        </p:nvSpPr>
        <p:spPr>
          <a:xfrm>
            <a:off x="1310326" y="4873659"/>
            <a:ext cx="2073897" cy="6790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FE5A3C38-7B14-ED97-6C60-8F0EC5C9B272}"/>
              </a:ext>
            </a:extLst>
          </p:cNvPr>
          <p:cNvSpPr txBox="1"/>
          <p:nvPr userDrawn="1"/>
        </p:nvSpPr>
        <p:spPr>
          <a:xfrm>
            <a:off x="1023907" y="1792363"/>
            <a:ext cx="10141011" cy="4247317"/>
          </a:xfrm>
          <a:prstGeom prst="rect">
            <a:avLst/>
          </a:prstGeom>
          <a:solidFill>
            <a:schemeClr val="bg1"/>
          </a:solidFill>
          <a:ln w="38100">
            <a:solidFill>
              <a:schemeClr val="bg1"/>
            </a:solidFill>
          </a:ln>
        </p:spPr>
        <p:txBody>
          <a:bodyPr wrap="square" lIns="91440" tIns="45720" rIns="91440" bIns="45720" rtlCol="0" anchor="t">
            <a:spAutoFit/>
          </a:bodyPr>
          <a:lstStyle/>
          <a:p>
            <a:r>
              <a:rPr lang="en-US" b="1" dirty="0">
                <a:solidFill>
                  <a:schemeClr val="bg2">
                    <a:lumMod val="25000"/>
                  </a:schemeClr>
                </a:solidFill>
              </a:rPr>
              <a:t>Acknowledgment</a:t>
            </a:r>
          </a:p>
          <a:p>
            <a:r>
              <a:rPr lang="en-US" dirty="0">
                <a:solidFill>
                  <a:schemeClr val="bg2">
                    <a:lumMod val="25000"/>
                  </a:schemeClr>
                </a:solidFill>
              </a:rPr>
              <a:t>Thank you to all the Texas educators and stakeholders who supported the review process and provided feedback. These materials are the result of the work of numerous individuals, and we are deeply grateful for their contributions.</a:t>
            </a:r>
            <a:endParaRPr lang="en-US" dirty="0">
              <a:solidFill>
                <a:schemeClr val="bg2">
                  <a:lumMod val="25000"/>
                </a:schemeClr>
              </a:solidFill>
              <a:cs typeface="Calibri"/>
            </a:endParaRPr>
          </a:p>
          <a:p>
            <a:endParaRPr lang="en-US" dirty="0">
              <a:solidFill>
                <a:schemeClr val="bg2">
                  <a:lumMod val="25000"/>
                </a:schemeClr>
              </a:solidFill>
            </a:endParaRPr>
          </a:p>
          <a:p>
            <a:r>
              <a:rPr lang="en-US" b="1" dirty="0">
                <a:solidFill>
                  <a:schemeClr val="bg2">
                    <a:lumMod val="25000"/>
                  </a:schemeClr>
                </a:solidFill>
              </a:rPr>
              <a:t>Notice</a:t>
            </a:r>
            <a:endParaRPr lang="en-US" b="1" dirty="0">
              <a:solidFill>
                <a:schemeClr val="bg2">
                  <a:lumMod val="25000"/>
                </a:schemeClr>
              </a:solidFill>
              <a:cs typeface="Calibri"/>
            </a:endParaRPr>
          </a:p>
          <a:p>
            <a:r>
              <a:rPr lang="en-US" dirty="0">
                <a:solidFill>
                  <a:schemeClr val="bg2">
                    <a:lumMod val="25000"/>
                  </a:schemeClr>
                </a:solidFill>
              </a:rPr>
              <a:t>These learning resources have been built for Texas students, aligned to the Texas Essential Knowledge and Skills, and are made available pursuant to Chapter 31, Subchapter B-1 of the Texas Education Code.</a:t>
            </a:r>
            <a:endParaRPr lang="en-US" dirty="0">
              <a:solidFill>
                <a:schemeClr val="bg2">
                  <a:lumMod val="25000"/>
                </a:schemeClr>
              </a:solidFill>
              <a:cs typeface="Calibri"/>
            </a:endParaRPr>
          </a:p>
          <a:p>
            <a:r>
              <a:rPr lang="en-US" dirty="0">
                <a:solidFill>
                  <a:schemeClr val="bg2">
                    <a:lumMod val="25000"/>
                  </a:schemeClr>
                </a:solidFill>
              </a:rPr>
              <a:t>If you have further questions or to report an error, please email </a:t>
            </a:r>
            <a:r>
              <a:rPr lang="en-US" dirty="0">
                <a:solidFill>
                  <a:schemeClr val="bg2">
                    <a:lumMod val="25000"/>
                  </a:schemeClr>
                </a:solidFill>
                <a:hlinkClick r:id="rId3">
                  <a:extLst>
                    <a:ext uri="{A12FA001-AC4F-418D-AE19-62706E023703}">
                      <ahyp:hlinkClr xmlns:ahyp="http://schemas.microsoft.com/office/drawing/2018/hyperlinkcolor" val="tx"/>
                    </a:ext>
                  </a:extLst>
                </a:hlinkClick>
              </a:rPr>
              <a:t>openeducationresources@tea.texas.gov</a:t>
            </a:r>
            <a:r>
              <a:rPr lang="en-US" dirty="0">
                <a:solidFill>
                  <a:schemeClr val="bg2">
                    <a:lumMod val="25000"/>
                  </a:schemeClr>
                </a:solidFill>
              </a:rPr>
              <a:t>.</a:t>
            </a:r>
          </a:p>
          <a:p>
            <a:endParaRPr lang="en-US" dirty="0">
              <a:solidFill>
                <a:schemeClr val="bg2">
                  <a:lumMod val="25000"/>
                </a:schemeClr>
              </a:solidFill>
              <a:cs typeface="Calibri"/>
            </a:endParaRPr>
          </a:p>
          <a:p>
            <a:r>
              <a:rPr lang="en-US" dirty="0">
                <a:solidFill>
                  <a:schemeClr val="bg2">
                    <a:lumMod val="25000"/>
                  </a:schemeClr>
                </a:solidFill>
                <a:cs typeface="Calibri"/>
              </a:rPr>
              <a:t>Copyright ©2024 Texas Education Agency. This work based on or adapted from materials contained in Great Minds' Eureka Math® K-5 PDF files. </a:t>
            </a:r>
          </a:p>
          <a:p>
            <a:endParaRPr lang="en-US" dirty="0">
              <a:solidFill>
                <a:schemeClr val="bg2">
                  <a:lumMod val="25000"/>
                </a:schemeClr>
              </a:solidFill>
              <a:cs typeface="Calibri"/>
            </a:endParaRPr>
          </a:p>
          <a:p>
            <a:r>
              <a:rPr lang="en-US" dirty="0">
                <a:solidFill>
                  <a:schemeClr val="bg2">
                    <a:lumMod val="25000"/>
                  </a:schemeClr>
                </a:solidFill>
                <a:cs typeface="Calibri"/>
              </a:rPr>
              <a:t>These materials are made available by the Texas Education Agency under an open license. For information about the license and your rights to use the materials, visit: </a:t>
            </a:r>
            <a:r>
              <a:rPr lang="en-US" dirty="0">
                <a:solidFill>
                  <a:schemeClr val="bg2">
                    <a:lumMod val="25000"/>
                  </a:schemeClr>
                </a:solidFill>
                <a:cs typeface="Calibri"/>
                <a:hlinkClick r:id="rId4">
                  <a:extLst>
                    <a:ext uri="{A12FA001-AC4F-418D-AE19-62706E023703}">
                      <ahyp:hlinkClr xmlns:ahyp="http://schemas.microsoft.com/office/drawing/2018/hyperlinkcolor" val="tx"/>
                    </a:ext>
                  </a:extLst>
                </a:hlinkClick>
              </a:rPr>
              <a:t>https://tea.texas.gov/K-5Math</a:t>
            </a:r>
            <a:r>
              <a:rPr lang="en-US" dirty="0">
                <a:solidFill>
                  <a:schemeClr val="bg2">
                    <a:lumMod val="25000"/>
                  </a:schemeClr>
                </a:solidFill>
                <a:cs typeface="Calibri"/>
              </a:rPr>
              <a:t>. </a:t>
            </a:r>
          </a:p>
        </p:txBody>
      </p:sp>
      <p:pic>
        <p:nvPicPr>
          <p:cNvPr id="3" name="Picture 2" descr="A blue and black logo&#10;&#10;AI-generated content may be incorrect.">
            <a:extLst>
              <a:ext uri="{FF2B5EF4-FFF2-40B4-BE49-F238E27FC236}">
                <a16:creationId xmlns:a16="http://schemas.microsoft.com/office/drawing/2014/main" id="{8A2CBEDA-4313-4320-C727-637FCF5AEF98}"/>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84963" y="101527"/>
            <a:ext cx="2080268" cy="682524"/>
          </a:xfrm>
          <a:prstGeom prst="rect">
            <a:avLst/>
          </a:prstGeom>
        </p:spPr>
      </p:pic>
      <p:sp>
        <p:nvSpPr>
          <p:cNvPr id="8" name="TextBox 7">
            <a:extLst>
              <a:ext uri="{FF2B5EF4-FFF2-40B4-BE49-F238E27FC236}">
                <a16:creationId xmlns:a16="http://schemas.microsoft.com/office/drawing/2014/main" id="{AC3E9A39-7598-7D98-AC32-2789E161EFE4}"/>
              </a:ext>
            </a:extLst>
          </p:cNvPr>
          <p:cNvSpPr txBox="1"/>
          <p:nvPr userDrawn="1"/>
        </p:nvSpPr>
        <p:spPr>
          <a:xfrm>
            <a:off x="862304" y="692389"/>
            <a:ext cx="1643271" cy="267288"/>
          </a:xfrm>
          <a:prstGeom prst="rect">
            <a:avLst/>
          </a:prstGeom>
          <a:noFill/>
        </p:spPr>
        <p:txBody>
          <a:bodyPr wrap="square" rtlCol="0">
            <a:spAutoFit/>
          </a:bodyPr>
          <a:lstStyle/>
          <a:p>
            <a:pPr algn="ctr"/>
            <a:r>
              <a:rPr lang="en-US" sz="1100" b="1" dirty="0">
                <a:solidFill>
                  <a:srgbClr val="000000"/>
                </a:solidFill>
              </a:rPr>
              <a:t>Secondary Mathematics</a:t>
            </a:r>
          </a:p>
        </p:txBody>
      </p:sp>
    </p:spTree>
    <p:extLst>
      <p:ext uri="{BB962C8B-B14F-4D97-AF65-F5344CB8AC3E}">
        <p14:creationId xmlns:p14="http://schemas.microsoft.com/office/powerpoint/2010/main" val="399747416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Alg I_Activity">
    <p:bg>
      <p:bgPr>
        <a:solidFill>
          <a:schemeClr val="bg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C7DDC4C-990F-1B63-3B21-F01BAF7FCDF9}"/>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3" y="2316529"/>
            <a:ext cx="12190409" cy="2682141"/>
          </a:xfrm>
          <a:prstGeom prst="rect">
            <a:avLst/>
          </a:prstGeom>
        </p:spPr>
      </p:pic>
      <p:sp>
        <p:nvSpPr>
          <p:cNvPr id="6" name="Google Shape;61;g28e21d7ade9_0_16">
            <a:extLst>
              <a:ext uri="{FF2B5EF4-FFF2-40B4-BE49-F238E27FC236}">
                <a16:creationId xmlns:a16="http://schemas.microsoft.com/office/drawing/2014/main" id="{F6D852E4-016A-EA34-8A0F-CD386348DEB3}"/>
              </a:ext>
              <a:ext uri="{C183D7F6-B498-43B3-948B-1728B52AA6E4}">
                <adec:decorative xmlns:adec="http://schemas.microsoft.com/office/drawing/2017/decorative" val="1"/>
              </a:ext>
            </a:extLst>
          </p:cNvPr>
          <p:cNvSpPr txBox="1"/>
          <p:nvPr userDrawn="1"/>
        </p:nvSpPr>
        <p:spPr>
          <a:xfrm>
            <a:off x="3352800" y="2984501"/>
            <a:ext cx="5499100" cy="1143000"/>
          </a:xfrm>
          <a:prstGeom prst="rect">
            <a:avLst/>
          </a:prstGeom>
          <a:solidFill>
            <a:srgbClr val="61449B"/>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endParaRPr baseline="0" dirty="0">
              <a:solidFill>
                <a:schemeClr val="bg1"/>
              </a:solidFill>
              <a:latin typeface="Calibri" panose="020F0502020204030204" pitchFamily="34" charset="0"/>
            </a:endParaRPr>
          </a:p>
        </p:txBody>
      </p:sp>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3340100" y="3136900"/>
            <a:ext cx="3302000" cy="946413"/>
          </a:xfrm>
          <a:prstGeom prst="rect">
            <a:avLst/>
          </a:prstGeom>
          <a:ln w="12700">
            <a:miter lim="400000"/>
          </a:ln>
        </p:spPr>
        <p:txBody>
          <a:bodyPr wrap="square" lIns="0" tIns="0" rIns="0" bIns="0">
            <a:sp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r"/>
            <a:r>
              <a:rPr lang="en-US" baseline="0" dirty="0">
                <a:solidFill>
                  <a:schemeClr val="bg1"/>
                </a:solidFill>
                <a:latin typeface="Calibri" panose="020F0502020204030204" pitchFamily="34" charset="0"/>
              </a:rPr>
              <a:t>Activity </a:t>
            </a:r>
            <a:endParaRPr baseline="0" dirty="0">
              <a:solidFill>
                <a:schemeClr val="bg1"/>
              </a:solidFill>
              <a:latin typeface="Calibri" panose="020F0502020204030204" pitchFamily="34" charset="0"/>
            </a:endParaRPr>
          </a:p>
        </p:txBody>
      </p:sp>
      <p:sp>
        <p:nvSpPr>
          <p:cNvPr id="7" name="Text Placeholder 6">
            <a:extLst>
              <a:ext uri="{FF2B5EF4-FFF2-40B4-BE49-F238E27FC236}">
                <a16:creationId xmlns:a16="http://schemas.microsoft.com/office/drawing/2014/main" id="{D2068F8D-A07F-AA10-7BDF-A0C4AF8C7BFF}"/>
              </a:ext>
            </a:extLst>
          </p:cNvPr>
          <p:cNvSpPr>
            <a:spLocks noGrp="1"/>
          </p:cNvSpPr>
          <p:nvPr>
            <p:ph type="body" sz="quarter" idx="11" hasCustomPrompt="1"/>
          </p:nvPr>
        </p:nvSpPr>
        <p:spPr>
          <a:xfrm>
            <a:off x="6769100" y="2957776"/>
            <a:ext cx="2025986" cy="1125537"/>
          </a:xfrm>
          <a:prstGeom prst="rect">
            <a:avLst/>
          </a:prstGeom>
        </p:spPr>
        <p:txBody>
          <a:bodyPr/>
          <a:lstStyle>
            <a:lvl1pPr marL="0" indent="0" algn="l">
              <a:buNone/>
              <a:defRPr sz="7500" b="1">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lvl="0"/>
            <a:r>
              <a:rPr lang="en-US" dirty="0"/>
              <a:t>##</a:t>
            </a:r>
          </a:p>
        </p:txBody>
      </p:sp>
      <p:pic>
        <p:nvPicPr>
          <p:cNvPr id="4" name="Picture 3" descr="A black and white image of a stopwatch&#10;&#10;Description automatically generated">
            <a:extLst>
              <a:ext uri="{FF2B5EF4-FFF2-40B4-BE49-F238E27FC236}">
                <a16:creationId xmlns:a16="http://schemas.microsoft.com/office/drawing/2014/main" id="{D534F636-9377-D630-3F35-5D038B245C6E}"/>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585174" y="5576768"/>
            <a:ext cx="1746598" cy="1130153"/>
          </a:xfrm>
          <a:prstGeom prst="rect">
            <a:avLst/>
          </a:prstGeom>
        </p:spPr>
      </p:pic>
      <p:sp>
        <p:nvSpPr>
          <p:cNvPr id="11" name="Text Placeholder 10">
            <a:extLst>
              <a:ext uri="{FF2B5EF4-FFF2-40B4-BE49-F238E27FC236}">
                <a16:creationId xmlns:a16="http://schemas.microsoft.com/office/drawing/2014/main" id="{DAE8B7F8-6AC2-B8A4-640E-8FE90B678918}"/>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dirty="0"/>
              <a:t>x</a:t>
            </a:r>
          </a:p>
        </p:txBody>
      </p:sp>
    </p:spTree>
    <p:extLst>
      <p:ext uri="{BB962C8B-B14F-4D97-AF65-F5344CB8AC3E}">
        <p14:creationId xmlns:p14="http://schemas.microsoft.com/office/powerpoint/2010/main" val="163847949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Alg I_Talk the Talk">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F47A7CF-FA6E-9D63-4999-01B9A163DA21}"/>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3" y="2316529"/>
            <a:ext cx="12190409" cy="2682141"/>
          </a:xfrm>
          <a:prstGeom prst="rect">
            <a:avLst/>
          </a:prstGeom>
        </p:spPr>
      </p:pic>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3352800" y="2984501"/>
            <a:ext cx="5499100" cy="1143000"/>
          </a:xfrm>
          <a:prstGeom prst="rect">
            <a:avLst/>
          </a:prstGeom>
          <a:solidFill>
            <a:srgbClr val="61449B"/>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dirty="0">
                <a:solidFill>
                  <a:schemeClr val="bg1"/>
                </a:solidFill>
                <a:latin typeface="Calibri" panose="020F0502020204030204" pitchFamily="34" charset="0"/>
              </a:rPr>
              <a:t>Talk the Talk</a:t>
            </a:r>
            <a:endParaRPr baseline="0" dirty="0">
              <a:solidFill>
                <a:schemeClr val="bg1"/>
              </a:solidFill>
              <a:latin typeface="Calibri" panose="020F0502020204030204" pitchFamily="34" charset="0"/>
            </a:endParaRPr>
          </a:p>
        </p:txBody>
      </p:sp>
      <p:pic>
        <p:nvPicPr>
          <p:cNvPr id="10" name="Picture 9" descr="A black and white image of a stopwatch&#10;&#10;Description automatically generated">
            <a:extLst>
              <a:ext uri="{FF2B5EF4-FFF2-40B4-BE49-F238E27FC236}">
                <a16:creationId xmlns:a16="http://schemas.microsoft.com/office/drawing/2014/main" id="{CE73D4F7-C35E-90BA-B80C-E6CB2DC880F5}"/>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585174" y="5576768"/>
            <a:ext cx="1746598" cy="1130153"/>
          </a:xfrm>
          <a:prstGeom prst="rect">
            <a:avLst/>
          </a:prstGeom>
        </p:spPr>
      </p:pic>
      <p:sp>
        <p:nvSpPr>
          <p:cNvPr id="11" name="Text Placeholder 10">
            <a:extLst>
              <a:ext uri="{FF2B5EF4-FFF2-40B4-BE49-F238E27FC236}">
                <a16:creationId xmlns:a16="http://schemas.microsoft.com/office/drawing/2014/main" id="{1AA23D1B-1B3F-0CA6-C43C-BA9AEE12E5DF}"/>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dirty="0"/>
              <a:t>x</a:t>
            </a:r>
          </a:p>
        </p:txBody>
      </p:sp>
    </p:spTree>
    <p:extLst>
      <p:ext uri="{BB962C8B-B14F-4D97-AF65-F5344CB8AC3E}">
        <p14:creationId xmlns:p14="http://schemas.microsoft.com/office/powerpoint/2010/main" val="384321305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Alg I_Getting Started">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68B0634-51E2-A394-6F7B-F27A1B40C705}"/>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3" y="2316529"/>
            <a:ext cx="12190409" cy="2682141"/>
          </a:xfrm>
          <a:prstGeom prst="rect">
            <a:avLst/>
          </a:prstGeom>
        </p:spPr>
      </p:pic>
      <p:sp>
        <p:nvSpPr>
          <p:cNvPr id="6" name="Google Shape;61;g28e21d7ade9_0_16" descr="A green and black pattern&#10;&#10;AI-generated content may be incorrect.">
            <a:extLst>
              <a:ext uri="{FF2B5EF4-FFF2-40B4-BE49-F238E27FC236}">
                <a16:creationId xmlns:a16="http://schemas.microsoft.com/office/drawing/2014/main" id="{C2C1BA0A-E3ED-D685-26AE-3EC8940B8BC7}"/>
              </a:ext>
              <a:ext uri="{C183D7F6-B498-43B3-948B-1728B52AA6E4}">
                <adec:decorative xmlns:adec="http://schemas.microsoft.com/office/drawing/2017/decorative" val="0"/>
              </a:ext>
            </a:extLst>
          </p:cNvPr>
          <p:cNvSpPr txBox="1"/>
          <p:nvPr userDrawn="1"/>
        </p:nvSpPr>
        <p:spPr>
          <a:xfrm>
            <a:off x="2767915" y="2984501"/>
            <a:ext cx="6660292" cy="1143000"/>
          </a:xfrm>
          <a:prstGeom prst="rect">
            <a:avLst/>
          </a:prstGeom>
          <a:solidFill>
            <a:srgbClr val="61449B"/>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dirty="0">
                <a:solidFill>
                  <a:schemeClr val="bg1"/>
                </a:solidFill>
                <a:latin typeface="Calibri" panose="020F0502020204030204" pitchFamily="34" charset="0"/>
              </a:rPr>
              <a:t>Getting Started</a:t>
            </a:r>
            <a:endParaRPr baseline="0" dirty="0">
              <a:solidFill>
                <a:schemeClr val="bg1"/>
              </a:solidFill>
              <a:latin typeface="Calibri" panose="020F0502020204030204" pitchFamily="34" charset="0"/>
            </a:endParaRPr>
          </a:p>
        </p:txBody>
      </p:sp>
      <p:pic>
        <p:nvPicPr>
          <p:cNvPr id="8" name="Picture 7" descr="A black and white image of a stopwatch&#10;&#10;Description automatically generated">
            <a:extLst>
              <a:ext uri="{FF2B5EF4-FFF2-40B4-BE49-F238E27FC236}">
                <a16:creationId xmlns:a16="http://schemas.microsoft.com/office/drawing/2014/main" id="{D0B206A4-53F8-1A55-3AAC-FA344E665088}"/>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585174" y="5576768"/>
            <a:ext cx="1746598" cy="1130153"/>
          </a:xfrm>
          <a:prstGeom prst="rect">
            <a:avLst/>
          </a:prstGeom>
        </p:spPr>
      </p:pic>
      <p:sp>
        <p:nvSpPr>
          <p:cNvPr id="9" name="Text Placeholder 10">
            <a:extLst>
              <a:ext uri="{FF2B5EF4-FFF2-40B4-BE49-F238E27FC236}">
                <a16:creationId xmlns:a16="http://schemas.microsoft.com/office/drawing/2014/main" id="{B0FE485E-9F70-BE82-8FD9-400E2BFB5CAC}"/>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dirty="0"/>
              <a:t>x</a:t>
            </a:r>
          </a:p>
        </p:txBody>
      </p:sp>
    </p:spTree>
    <p:extLst>
      <p:ext uri="{BB962C8B-B14F-4D97-AF65-F5344CB8AC3E}">
        <p14:creationId xmlns:p14="http://schemas.microsoft.com/office/powerpoint/2010/main" val="352838829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1_Alg I_Getting Started">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E506744-2E5F-1C5E-C83C-024AB6A1E91D}"/>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3" y="2316529"/>
            <a:ext cx="12190409" cy="2682141"/>
          </a:xfrm>
          <a:prstGeom prst="rect">
            <a:avLst/>
          </a:prstGeom>
        </p:spPr>
      </p:pic>
      <p:sp>
        <p:nvSpPr>
          <p:cNvPr id="6" name="Google Shape;61;g28e21d7ade9_0_16" descr="A green and black pattern&#10;&#10;AI-generated content may be incorrect.">
            <a:extLst>
              <a:ext uri="{FF2B5EF4-FFF2-40B4-BE49-F238E27FC236}">
                <a16:creationId xmlns:a16="http://schemas.microsoft.com/office/drawing/2014/main" id="{C2C1BA0A-E3ED-D685-26AE-3EC8940B8BC7}"/>
              </a:ext>
              <a:ext uri="{C183D7F6-B498-43B3-948B-1728B52AA6E4}">
                <adec:decorative xmlns:adec="http://schemas.microsoft.com/office/drawing/2017/decorative" val="0"/>
              </a:ext>
            </a:extLst>
          </p:cNvPr>
          <p:cNvSpPr txBox="1"/>
          <p:nvPr userDrawn="1"/>
        </p:nvSpPr>
        <p:spPr>
          <a:xfrm>
            <a:off x="3866323" y="2984501"/>
            <a:ext cx="4432852" cy="1143000"/>
          </a:xfrm>
          <a:prstGeom prst="rect">
            <a:avLst/>
          </a:prstGeom>
          <a:solidFill>
            <a:srgbClr val="61449B"/>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dirty="0">
                <a:solidFill>
                  <a:schemeClr val="bg1"/>
                </a:solidFill>
                <a:latin typeface="Calibri" panose="020F0502020204030204" pitchFamily="34" charset="0"/>
              </a:rPr>
              <a:t>Prepare</a:t>
            </a:r>
            <a:endParaRPr baseline="0" dirty="0">
              <a:solidFill>
                <a:schemeClr val="bg1"/>
              </a:solidFill>
              <a:latin typeface="Calibri" panose="020F0502020204030204" pitchFamily="34" charset="0"/>
            </a:endParaRPr>
          </a:p>
        </p:txBody>
      </p:sp>
    </p:spTree>
    <p:extLst>
      <p:ext uri="{BB962C8B-B14F-4D97-AF65-F5344CB8AC3E}">
        <p14:creationId xmlns:p14="http://schemas.microsoft.com/office/powerpoint/2010/main" val="422871311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Alg I_Session Divider">
    <p:bg>
      <p:bgPr>
        <a:solidFill>
          <a:schemeClr val="bg1"/>
        </a:solidFill>
        <a:effectLst/>
      </p:bgPr>
    </p:bg>
    <p:spTree>
      <p:nvGrpSpPr>
        <p:cNvPr id="1" name=""/>
        <p:cNvGrpSpPr/>
        <p:nvPr/>
      </p:nvGrpSpPr>
      <p:grpSpPr>
        <a:xfrm>
          <a:off x="0" y="0"/>
          <a:ext cx="0" cy="0"/>
          <a:chOff x="0" y="0"/>
          <a:chExt cx="0" cy="0"/>
        </a:xfrm>
      </p:grpSpPr>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4918157" y="2955793"/>
            <a:ext cx="1512037" cy="946413"/>
          </a:xfrm>
          <a:prstGeom prst="rect">
            <a:avLst/>
          </a:prstGeom>
          <a:ln w="12700">
            <a:miter lim="400000"/>
          </a:ln>
        </p:spPr>
        <p:txBody>
          <a:bodyPr wrap="square" lIns="0" tIns="0" rIns="0" bIns="0">
            <a:sp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r>
              <a:rPr lang="en-US" baseline="0" dirty="0">
                <a:solidFill>
                  <a:schemeClr val="bg2">
                    <a:lumMod val="10000"/>
                  </a:schemeClr>
                </a:solidFill>
                <a:latin typeface="Calibri" panose="020F0502020204030204" pitchFamily="34" charset="0"/>
              </a:rPr>
              <a:t>Day</a:t>
            </a:r>
            <a:endParaRPr baseline="0" dirty="0">
              <a:solidFill>
                <a:schemeClr val="bg2">
                  <a:lumMod val="10000"/>
                </a:schemeClr>
              </a:solidFill>
              <a:latin typeface="Calibri" panose="020F0502020204030204" pitchFamily="34" charset="0"/>
            </a:endParaRPr>
          </a:p>
        </p:txBody>
      </p:sp>
      <p:sp>
        <p:nvSpPr>
          <p:cNvPr id="6" name="Text Placeholder 5">
            <a:extLst>
              <a:ext uri="{FF2B5EF4-FFF2-40B4-BE49-F238E27FC236}">
                <a16:creationId xmlns:a16="http://schemas.microsoft.com/office/drawing/2014/main" id="{387DC733-57F9-7B5A-186D-1BA8C44555D4}"/>
              </a:ext>
            </a:extLst>
          </p:cNvPr>
          <p:cNvSpPr>
            <a:spLocks noGrp="1"/>
          </p:cNvSpPr>
          <p:nvPr>
            <p:ph type="body" sz="quarter" idx="11" hasCustomPrompt="1"/>
          </p:nvPr>
        </p:nvSpPr>
        <p:spPr>
          <a:xfrm>
            <a:off x="5578106" y="2843523"/>
            <a:ext cx="1061883" cy="1071562"/>
          </a:xfrm>
          <a:prstGeom prst="rect">
            <a:avLst/>
          </a:prstGeom>
        </p:spPr>
        <p:txBody>
          <a:bodyPr/>
          <a:lstStyle>
            <a:lvl5pPr marL="1828800" indent="0" algn="ctr">
              <a:buNone/>
              <a:defRPr sz="7500" b="1">
                <a:solidFill>
                  <a:srgbClr val="000000"/>
                </a:solidFill>
                <a:latin typeface="Calibri" panose="020F0502020204030204" pitchFamily="34" charset="0"/>
                <a:ea typeface="Calibri" panose="020F0502020204030204" pitchFamily="34" charset="0"/>
                <a:cs typeface="Calibri" panose="020F0502020204030204" pitchFamily="34" charset="0"/>
              </a:defRPr>
            </a:lvl5pPr>
          </a:lstStyle>
          <a:p>
            <a:pPr lvl="4"/>
            <a:r>
              <a:rPr lang="en-US" dirty="0"/>
              <a:t>#</a:t>
            </a:r>
          </a:p>
        </p:txBody>
      </p:sp>
      <p:pic>
        <p:nvPicPr>
          <p:cNvPr id="5" name="Picture 4">
            <a:extLst>
              <a:ext uri="{FF2B5EF4-FFF2-40B4-BE49-F238E27FC236}">
                <a16:creationId xmlns:a16="http://schemas.microsoft.com/office/drawing/2014/main" id="{5B5A1052-DF6F-F0CD-A7AF-D701A097127D}"/>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2" y="4663225"/>
            <a:ext cx="12190407" cy="2194775"/>
          </a:xfrm>
          <a:prstGeom prst="rect">
            <a:avLst/>
          </a:prstGeom>
        </p:spPr>
      </p:pic>
      <p:pic>
        <p:nvPicPr>
          <p:cNvPr id="2" name="Picture 1">
            <a:extLst>
              <a:ext uri="{FF2B5EF4-FFF2-40B4-BE49-F238E27FC236}">
                <a16:creationId xmlns:a16="http://schemas.microsoft.com/office/drawing/2014/main" id="{E083018B-9E78-94F8-9F15-923743DC0976}"/>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rot="10800000">
            <a:off x="6" y="0"/>
            <a:ext cx="12190407" cy="2194775"/>
          </a:xfrm>
          <a:prstGeom prst="rect">
            <a:avLst/>
          </a:prstGeom>
        </p:spPr>
      </p:pic>
    </p:spTree>
    <p:extLst>
      <p:ext uri="{BB962C8B-B14F-4D97-AF65-F5344CB8AC3E}">
        <p14:creationId xmlns:p14="http://schemas.microsoft.com/office/powerpoint/2010/main" val="149629488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Alg I_Cutouts Divider">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0DF6CF-F4AD-69B3-86F7-6B8955E3F2B1}"/>
              </a:ext>
            </a:extLst>
          </p:cNvPr>
          <p:cNvSpPr>
            <a:spLocks noGrp="1"/>
          </p:cNvSpPr>
          <p:nvPr>
            <p:ph type="body" sz="quarter" idx="10"/>
          </p:nvPr>
        </p:nvSpPr>
        <p:spPr>
          <a:xfrm>
            <a:off x="5171005" y="2395538"/>
            <a:ext cx="1848402" cy="1033462"/>
          </a:xfrm>
          <a:prstGeom prst="rect">
            <a:avLst/>
          </a:prstGeom>
        </p:spPr>
        <p:txBody>
          <a:bodyPr/>
          <a:lstStyle>
            <a:lvl1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1pPr>
            <a:lvl2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2pPr>
            <a:lvl3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3pPr>
            <a:lvl4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4pPr>
            <a:lvl5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3" name="Picture 2">
            <a:extLst>
              <a:ext uri="{FF2B5EF4-FFF2-40B4-BE49-F238E27FC236}">
                <a16:creationId xmlns:a16="http://schemas.microsoft.com/office/drawing/2014/main" id="{04EF9367-6309-BD09-F10A-FF6AF59B6262}"/>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2" y="4663225"/>
            <a:ext cx="12190407" cy="2194775"/>
          </a:xfrm>
          <a:prstGeom prst="rect">
            <a:avLst/>
          </a:prstGeom>
        </p:spPr>
      </p:pic>
    </p:spTree>
    <p:extLst>
      <p:ext uri="{BB962C8B-B14F-4D97-AF65-F5344CB8AC3E}">
        <p14:creationId xmlns:p14="http://schemas.microsoft.com/office/powerpoint/2010/main" val="427414636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Alg I_Back Cover">
    <p:bg>
      <p:bgPr>
        <a:solidFill>
          <a:schemeClr val="bg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51AE3BF-9E99-B24F-E743-EB1A42651CB3}"/>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2" y="4663225"/>
            <a:ext cx="12190407" cy="2194775"/>
          </a:xfrm>
          <a:prstGeom prst="rect">
            <a:avLst/>
          </a:prstGeom>
        </p:spPr>
      </p:pic>
      <p:sp>
        <p:nvSpPr>
          <p:cNvPr id="4" name="Text Placeholder 3">
            <a:extLst>
              <a:ext uri="{FF2B5EF4-FFF2-40B4-BE49-F238E27FC236}">
                <a16:creationId xmlns:a16="http://schemas.microsoft.com/office/drawing/2014/main" id="{9C323EF9-0FCF-481F-97C8-ABBEA6C0F486}"/>
              </a:ext>
            </a:extLst>
          </p:cNvPr>
          <p:cNvSpPr>
            <a:spLocks noGrp="1"/>
          </p:cNvSpPr>
          <p:nvPr>
            <p:ph type="body" sz="quarter" idx="10" hasCustomPrompt="1"/>
          </p:nvPr>
        </p:nvSpPr>
        <p:spPr>
          <a:xfrm>
            <a:off x="8155889" y="4975063"/>
            <a:ext cx="3431356" cy="414778"/>
          </a:xfrm>
          <a:prstGeom prst="rect">
            <a:avLst/>
          </a:prstGeom>
          <a:solidFill>
            <a:srgbClr val="61449B"/>
          </a:solidFill>
        </p:spPr>
        <p:txBody>
          <a:bodyPr lIns="0" rIns="0" anchor="ctr"/>
          <a:lstStyle>
            <a:lvl1pPr marL="0" indent="0" algn="ctr">
              <a:buNone/>
              <a:defRPr sz="1800">
                <a:solidFill>
                  <a:schemeClr val="bg1"/>
                </a:solidFill>
              </a:defRPr>
            </a:lvl1pPr>
            <a:lvl4pPr marL="1371600" indent="0">
              <a:buNone/>
              <a:defRPr/>
            </a:lvl4pPr>
          </a:lstStyle>
          <a:p>
            <a:pPr lvl="0"/>
            <a:r>
              <a:rPr lang="en-US" dirty="0"/>
              <a:t>UNIQUE ID</a:t>
            </a:r>
          </a:p>
        </p:txBody>
      </p:sp>
      <p:grpSp>
        <p:nvGrpSpPr>
          <p:cNvPr id="5" name="Group 4">
            <a:extLst>
              <a:ext uri="{FF2B5EF4-FFF2-40B4-BE49-F238E27FC236}">
                <a16:creationId xmlns:a16="http://schemas.microsoft.com/office/drawing/2014/main" id="{CB4B7E3B-5741-B70F-3A0A-3E11BCF38FEB}"/>
              </a:ext>
            </a:extLst>
          </p:cNvPr>
          <p:cNvGrpSpPr/>
          <p:nvPr userDrawn="1"/>
        </p:nvGrpSpPr>
        <p:grpSpPr>
          <a:xfrm>
            <a:off x="9053008" y="227306"/>
            <a:ext cx="2910578" cy="1472169"/>
            <a:chOff x="8940726" y="132485"/>
            <a:chExt cx="2910578" cy="1472169"/>
          </a:xfrm>
        </p:grpSpPr>
        <p:pic>
          <p:nvPicPr>
            <p:cNvPr id="6" name="Picture 5" descr="A blue and black logo&#10;&#10;AI-generated content may be incorrect.">
              <a:extLst>
                <a:ext uri="{FF2B5EF4-FFF2-40B4-BE49-F238E27FC236}">
                  <a16:creationId xmlns:a16="http://schemas.microsoft.com/office/drawing/2014/main" id="{E7939853-80EF-C461-0365-6353B33278A2}"/>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8940726" y="132485"/>
              <a:ext cx="2910578" cy="954944"/>
            </a:xfrm>
            <a:prstGeom prst="rect">
              <a:avLst/>
            </a:prstGeom>
          </p:spPr>
        </p:pic>
        <p:sp>
          <p:nvSpPr>
            <p:cNvPr id="7" name="TextBox 6">
              <a:extLst>
                <a:ext uri="{FF2B5EF4-FFF2-40B4-BE49-F238E27FC236}">
                  <a16:creationId xmlns:a16="http://schemas.microsoft.com/office/drawing/2014/main" id="{580B98D7-A8B1-479E-0522-2C0BC59CE093}"/>
                </a:ext>
              </a:extLst>
            </p:cNvPr>
            <p:cNvSpPr txBox="1"/>
            <p:nvPr userDrawn="1"/>
          </p:nvSpPr>
          <p:spPr>
            <a:xfrm>
              <a:off x="10111407" y="1007699"/>
              <a:ext cx="1643271" cy="267288"/>
            </a:xfrm>
            <a:prstGeom prst="rect">
              <a:avLst/>
            </a:prstGeom>
            <a:noFill/>
          </p:spPr>
          <p:txBody>
            <a:bodyPr wrap="square" rtlCol="0">
              <a:spAutoFit/>
            </a:bodyPr>
            <a:lstStyle/>
            <a:p>
              <a:pPr algn="ctr"/>
              <a:r>
                <a:rPr lang="en-US" sz="1100" b="1" dirty="0">
                  <a:solidFill>
                    <a:srgbClr val="000000"/>
                  </a:solidFill>
                </a:rPr>
                <a:t>Secondary Mathematics</a:t>
              </a:r>
            </a:p>
          </p:txBody>
        </p:sp>
        <p:sp>
          <p:nvSpPr>
            <p:cNvPr id="8" name="Rounded Rectangle 7">
              <a:extLst>
                <a:ext uri="{FF2B5EF4-FFF2-40B4-BE49-F238E27FC236}">
                  <a16:creationId xmlns:a16="http://schemas.microsoft.com/office/drawing/2014/main" id="{DAAFCF8B-077A-7325-2A07-02B9BADACB35}"/>
                </a:ext>
              </a:extLst>
            </p:cNvPr>
            <p:cNvSpPr/>
            <p:nvPr userDrawn="1"/>
          </p:nvSpPr>
          <p:spPr>
            <a:xfrm>
              <a:off x="10236991" y="1306046"/>
              <a:ext cx="907774" cy="298608"/>
            </a:xfrm>
            <a:prstGeom prst="round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A4C6EED1-1022-7E70-EA88-6CC6F479360D}"/>
                </a:ext>
              </a:extLst>
            </p:cNvPr>
            <p:cNvSpPr txBox="1"/>
            <p:nvPr userDrawn="1"/>
          </p:nvSpPr>
          <p:spPr>
            <a:xfrm>
              <a:off x="10252484" y="1335768"/>
              <a:ext cx="868018" cy="237827"/>
            </a:xfrm>
            <a:prstGeom prst="rect">
              <a:avLst/>
            </a:prstGeom>
            <a:noFill/>
          </p:spPr>
          <p:txBody>
            <a:bodyPr wrap="square" rtlCol="0">
              <a:spAutoFit/>
            </a:bodyPr>
            <a:lstStyle/>
            <a:p>
              <a:pPr algn="ctr"/>
              <a:r>
                <a:rPr lang="en-US" sz="1100" b="1" i="0" dirty="0">
                  <a:solidFill>
                    <a:schemeClr val="bg2">
                      <a:lumMod val="50000"/>
                    </a:schemeClr>
                  </a:solidFill>
                  <a:latin typeface="Calibri" panose="020F0502020204030204" pitchFamily="34" charset="0"/>
                  <a:cs typeface="Calibri" panose="020F0502020204030204" pitchFamily="34" charset="0"/>
                </a:rPr>
                <a:t>EDITION 1</a:t>
              </a:r>
            </a:p>
          </p:txBody>
        </p:sp>
      </p:grpSp>
      <p:sp>
        <p:nvSpPr>
          <p:cNvPr id="10" name="Round Single Corner Rectangle 9">
            <a:extLst>
              <a:ext uri="{FF2B5EF4-FFF2-40B4-BE49-F238E27FC236}">
                <a16:creationId xmlns:a16="http://schemas.microsoft.com/office/drawing/2014/main" id="{93823D53-B128-B4F8-9323-2DE21A5AC48C}"/>
              </a:ext>
            </a:extLst>
          </p:cNvPr>
          <p:cNvSpPr/>
          <p:nvPr userDrawn="1"/>
        </p:nvSpPr>
        <p:spPr>
          <a:xfrm rot="10800000" flipH="1">
            <a:off x="0" y="0"/>
            <a:ext cx="2467555" cy="954942"/>
          </a:xfrm>
          <a:prstGeom prst="round1Rect">
            <a:avLst/>
          </a:prstGeom>
          <a:solidFill>
            <a:srgbClr val="6144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61ED4D92-107A-5626-60FD-8669F753FD4A}"/>
              </a:ext>
            </a:extLst>
          </p:cNvPr>
          <p:cNvSpPr txBox="1"/>
          <p:nvPr userDrawn="1"/>
        </p:nvSpPr>
        <p:spPr>
          <a:xfrm>
            <a:off x="0" y="280732"/>
            <a:ext cx="2467555" cy="461665"/>
          </a:xfrm>
          <a:prstGeom prst="rect">
            <a:avLst/>
          </a:prstGeom>
          <a:noFill/>
        </p:spPr>
        <p:txBody>
          <a:bodyPr wrap="square" rtlCol="0">
            <a:spAutoFit/>
          </a:bodyPr>
          <a:lstStyle/>
          <a:p>
            <a:pPr algn="ctr"/>
            <a:r>
              <a:rPr lang="en-US" sz="2400" dirty="0">
                <a:solidFill>
                  <a:schemeClr val="bg1"/>
                </a:solidFill>
              </a:rPr>
              <a:t>ENGLISH</a:t>
            </a:r>
          </a:p>
        </p:txBody>
      </p:sp>
    </p:spTree>
    <p:extLst>
      <p:ext uri="{BB962C8B-B14F-4D97-AF65-F5344CB8AC3E}">
        <p14:creationId xmlns:p14="http://schemas.microsoft.com/office/powerpoint/2010/main" val="210943389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Objectiv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1829944-32A0-A52A-BF8F-4735C4809687}"/>
              </a:ext>
            </a:extLst>
          </p:cNvPr>
          <p:cNvSpPr/>
          <p:nvPr userDrawn="1"/>
        </p:nvSpPr>
        <p:spPr>
          <a:xfrm>
            <a:off x="-1586" y="1392600"/>
            <a:ext cx="12192000" cy="549097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a:extLst>
              <a:ext uri="{FF2B5EF4-FFF2-40B4-BE49-F238E27FC236}">
                <a16:creationId xmlns:a16="http://schemas.microsoft.com/office/drawing/2014/main" id="{D79E0344-0011-1E90-A995-632330E63EB5}"/>
              </a:ext>
            </a:extLst>
          </p:cNvPr>
          <p:cNvSpPr>
            <a:spLocks noGrp="1"/>
          </p:cNvSpPr>
          <p:nvPr>
            <p:ph type="body" sz="quarter" idx="10"/>
          </p:nvPr>
        </p:nvSpPr>
        <p:spPr>
          <a:xfrm>
            <a:off x="836614" y="2159879"/>
            <a:ext cx="10515599" cy="3956418"/>
          </a:xfrm>
          <a:prstGeom prst="rect">
            <a:avLst/>
          </a:prstGeom>
        </p:spPr>
        <p:txBody>
          <a:bodyPr/>
          <a:lstStyle>
            <a:lvl1pPr marL="0" indent="0" algn="ctr">
              <a:buNone/>
              <a:defRPr sz="4400">
                <a:solidFill>
                  <a:schemeClr val="bg2">
                    <a:lumMod val="25000"/>
                  </a:schemeClr>
                </a:solidFill>
              </a:defRPr>
            </a:lvl1pPr>
            <a:lvl2pPr marL="457200" indent="0" algn="ctr">
              <a:buNone/>
              <a:defRPr sz="4400"/>
            </a:lvl2pPr>
            <a:lvl3pPr marL="914400" indent="0" algn="ctr">
              <a:buNone/>
              <a:defRPr sz="4400"/>
            </a:lvl3pPr>
            <a:lvl4pPr marL="1371600" indent="0" algn="ctr">
              <a:buNone/>
              <a:defRPr sz="4400"/>
            </a:lvl4pPr>
            <a:lvl5pPr marL="1828800" indent="0" algn="ctr">
              <a:buNone/>
              <a:defRPr sz="4400"/>
            </a:lvl5pPr>
          </a:lstStyle>
          <a:p>
            <a:pPr lvl="0"/>
            <a:r>
              <a:rPr lang="en-US" dirty="0"/>
              <a:t>Click to edit Master text styles</a:t>
            </a:r>
          </a:p>
        </p:txBody>
      </p:sp>
      <p:sp>
        <p:nvSpPr>
          <p:cNvPr id="2" name="Rectangle 1">
            <a:extLst>
              <a:ext uri="{FF2B5EF4-FFF2-40B4-BE49-F238E27FC236}">
                <a16:creationId xmlns:a16="http://schemas.microsoft.com/office/drawing/2014/main" id="{EAD99D76-9E3B-F682-01E8-888F253831AF}"/>
              </a:ext>
            </a:extLst>
          </p:cNvPr>
          <p:cNvSpPr/>
          <p:nvPr userDrawn="1"/>
        </p:nvSpPr>
        <p:spPr>
          <a:xfrm>
            <a:off x="0" y="0"/>
            <a:ext cx="7575442" cy="927652"/>
          </a:xfrm>
          <a:prstGeom prst="rect">
            <a:avLst/>
          </a:prstGeom>
          <a:solidFill>
            <a:srgbClr val="61449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28B98FEA-D4C0-8394-EFDC-1E0F624AD0AF}"/>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7575442" y="0"/>
            <a:ext cx="4614969" cy="931320"/>
          </a:xfrm>
          <a:prstGeom prst="rect">
            <a:avLst/>
          </a:prstGeom>
        </p:spPr>
      </p:pic>
      <p:sp>
        <p:nvSpPr>
          <p:cNvPr id="6" name="Title 5">
            <a:extLst>
              <a:ext uri="{FF2B5EF4-FFF2-40B4-BE49-F238E27FC236}">
                <a16:creationId xmlns:a16="http://schemas.microsoft.com/office/drawing/2014/main" id="{BD8B91BD-71BF-8DE9-CC35-80883F08DEDC}"/>
              </a:ext>
            </a:extLst>
          </p:cNvPr>
          <p:cNvSpPr>
            <a:spLocks noGrp="1"/>
          </p:cNvSpPr>
          <p:nvPr>
            <p:ph type="title" hasCustomPrompt="1"/>
          </p:nvPr>
        </p:nvSpPr>
        <p:spPr>
          <a:xfrm>
            <a:off x="0" y="0"/>
            <a:ext cx="6094413" cy="926757"/>
          </a:xfrm>
          <a:prstGeom prst="rect">
            <a:avLst/>
          </a:prstGeom>
          <a:noFill/>
        </p:spPr>
        <p:txBody>
          <a:bodyPr lIns="457200" anchor="ctr"/>
          <a:lstStyle>
            <a:lvl1pPr>
              <a:defRPr sz="4000" b="1">
                <a:solidFill>
                  <a:schemeClr val="bg1"/>
                </a:solidFill>
              </a:defRPr>
            </a:lvl1pPr>
          </a:lstStyle>
          <a:p>
            <a:r>
              <a:rPr lang="en-US" dirty="0"/>
              <a:t>Objectives</a:t>
            </a:r>
          </a:p>
        </p:txBody>
      </p:sp>
    </p:spTree>
    <p:extLst>
      <p:ext uri="{BB962C8B-B14F-4D97-AF65-F5344CB8AC3E}">
        <p14:creationId xmlns:p14="http://schemas.microsoft.com/office/powerpoint/2010/main" val="9023295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erminology">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23B0928-1D5C-86AC-B6D2-6C4246A897D0}"/>
              </a:ext>
            </a:extLst>
          </p:cNvPr>
          <p:cNvSpPr>
            <a:spLocks noGrp="1"/>
          </p:cNvSpPr>
          <p:nvPr>
            <p:ph type="body" sz="quarter" idx="10" hasCustomPrompt="1"/>
          </p:nvPr>
        </p:nvSpPr>
        <p:spPr>
          <a:xfrm>
            <a:off x="852488" y="1652588"/>
            <a:ext cx="10515600" cy="1169743"/>
          </a:xfrm>
          <a:prstGeom prst="rect">
            <a:avLst/>
          </a:prstGeom>
        </p:spPr>
        <p:txBody>
          <a:bodyPr/>
          <a:lstStyle>
            <a:lvl1pPr marL="0" indent="0">
              <a:buNone/>
              <a:defRPr>
                <a:solidFill>
                  <a:schemeClr val="bg2">
                    <a:lumMod val="25000"/>
                  </a:schemeClr>
                </a:solidFill>
              </a:defRPr>
            </a:lvl1pPr>
          </a:lstStyle>
          <a:p>
            <a:pPr lvl="0"/>
            <a:r>
              <a:rPr lang="en-US" dirty="0"/>
              <a:t>Click to add text</a:t>
            </a:r>
          </a:p>
        </p:txBody>
      </p:sp>
      <p:sp>
        <p:nvSpPr>
          <p:cNvPr id="5" name="Picture Placeholder 4">
            <a:extLst>
              <a:ext uri="{FF2B5EF4-FFF2-40B4-BE49-F238E27FC236}">
                <a16:creationId xmlns:a16="http://schemas.microsoft.com/office/drawing/2014/main" id="{C3DA5AEB-614E-452B-EDEF-80B18EE3E858}"/>
              </a:ext>
            </a:extLst>
          </p:cNvPr>
          <p:cNvSpPr>
            <a:spLocks noGrp="1"/>
          </p:cNvSpPr>
          <p:nvPr>
            <p:ph type="pic" sz="quarter" idx="11"/>
          </p:nvPr>
        </p:nvSpPr>
        <p:spPr>
          <a:xfrm>
            <a:off x="3427412" y="3217943"/>
            <a:ext cx="5335588" cy="2505075"/>
          </a:xfrm>
          <a:prstGeom prst="rect">
            <a:avLst/>
          </a:prstGeom>
        </p:spPr>
        <p:txBody>
          <a:bodyPr/>
          <a:lstStyle>
            <a:lvl1pPr marL="0" indent="0">
              <a:buNone/>
              <a:defRPr/>
            </a:lvl1pPr>
          </a:lstStyle>
          <a:p>
            <a:endParaRPr lang="en-US" dirty="0"/>
          </a:p>
        </p:txBody>
      </p:sp>
      <p:sp>
        <p:nvSpPr>
          <p:cNvPr id="4" name="Title 1">
            <a:extLst>
              <a:ext uri="{FF2B5EF4-FFF2-40B4-BE49-F238E27FC236}">
                <a16:creationId xmlns:a16="http://schemas.microsoft.com/office/drawing/2014/main" id="{CD7B4969-F122-3811-0A1A-DDA09AF4AB50}"/>
              </a:ext>
            </a:extLst>
          </p:cNvPr>
          <p:cNvSpPr>
            <a:spLocks noGrp="1"/>
          </p:cNvSpPr>
          <p:nvPr>
            <p:ph type="title" hasCustomPrompt="1"/>
          </p:nvPr>
        </p:nvSpPr>
        <p:spPr>
          <a:xfrm>
            <a:off x="777240" y="1"/>
            <a:ext cx="11425482" cy="1263192"/>
          </a:xfrm>
          <a:prstGeom prst="rect">
            <a:avLst/>
          </a:prstGeom>
        </p:spPr>
        <p:txBody>
          <a:bodyPr anchor="ctr"/>
          <a:lstStyle>
            <a:lvl1pPr>
              <a:defRPr sz="4000">
                <a:solidFill>
                  <a:srgbClr val="2B8147"/>
                </a:solidFill>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dirty="0">
                <a:solidFill>
                  <a:srgbClr val="000000"/>
                </a:solidFill>
                <a:latin typeface="Calibri" panose="020F0502020204030204"/>
                <a:ea typeface="Calibri" panose="020F0502020204030204"/>
                <a:cs typeface="Calibri" panose="020F0502020204030204"/>
                <a:sym typeface="Calibri" panose="020F0502020204030204"/>
              </a:rPr>
              <a:t>Key Terms</a:t>
            </a:r>
          </a:p>
        </p:txBody>
      </p:sp>
      <p:pic>
        <p:nvPicPr>
          <p:cNvPr id="6" name="Picture 5">
            <a:extLst>
              <a:ext uri="{FF2B5EF4-FFF2-40B4-BE49-F238E27FC236}">
                <a16:creationId xmlns:a16="http://schemas.microsoft.com/office/drawing/2014/main" id="{5CDE9F74-7CE7-793B-B90F-365B5F549D7A}"/>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0" y="8"/>
            <a:ext cx="322982" cy="6857984"/>
          </a:xfrm>
          <a:prstGeom prst="rect">
            <a:avLst/>
          </a:prstGeom>
        </p:spPr>
      </p:pic>
    </p:spTree>
    <p:extLst>
      <p:ext uri="{BB962C8B-B14F-4D97-AF65-F5344CB8AC3E}">
        <p14:creationId xmlns:p14="http://schemas.microsoft.com/office/powerpoint/2010/main" val="409727746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Application Problem Text">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AED5C8A3-5037-99DF-15E1-2833226D35D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40002" y="5935775"/>
            <a:ext cx="1191770" cy="771146"/>
          </a:xfrm>
          <a:prstGeom prst="rect">
            <a:avLst/>
          </a:prstGeom>
        </p:spPr>
      </p:pic>
      <p:sp>
        <p:nvSpPr>
          <p:cNvPr id="12" name="Google Shape;36;g295eeb86cda_3_40"/>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18" name="Text Placeholder 16"/>
          <p:cNvSpPr>
            <a:spLocks noGrp="1"/>
          </p:cNvSpPr>
          <p:nvPr>
            <p:ph type="body" sz="quarter" idx="10" hasCustomPrompt="1"/>
          </p:nvPr>
        </p:nvSpPr>
        <p:spPr>
          <a:xfrm>
            <a:off x="11127476" y="6036181"/>
            <a:ext cx="654216"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2" name="Title 1">
            <a:extLst>
              <a:ext uri="{FF2B5EF4-FFF2-40B4-BE49-F238E27FC236}">
                <a16:creationId xmlns:a16="http://schemas.microsoft.com/office/drawing/2014/main" id="{0331744C-9446-EF32-247E-53D724128298}"/>
              </a:ext>
            </a:extLst>
          </p:cNvPr>
          <p:cNvSpPr>
            <a:spLocks noGrp="1"/>
          </p:cNvSpPr>
          <p:nvPr>
            <p:ph type="title" hasCustomPrompt="1"/>
          </p:nvPr>
        </p:nvSpPr>
        <p:spPr>
          <a:xfrm>
            <a:off x="777240" y="0"/>
            <a:ext cx="11389135" cy="1253765"/>
          </a:xfrm>
          <a:prstGeom prst="rect">
            <a:avLst/>
          </a:prstGeom>
        </p:spPr>
        <p:txBody>
          <a:bodyPr anchor="ctr"/>
          <a:lstStyle/>
          <a:p>
            <a:pPr marL="0" marR="0" lvl="0" indent="0" algn="l" defTabSz="914400" rtl="0" eaLnBrk="1" fontAlgn="auto" latinLnBrk="0" hangingPunct="1">
              <a:lnSpc>
                <a:spcPct val="100000"/>
              </a:lnSpc>
              <a:spcBef>
                <a:spcPts val="0"/>
              </a:spcBef>
              <a:spcAft>
                <a:spcPts val="0"/>
              </a:spcAft>
              <a:buClr>
                <a:srgbClr val="000000"/>
              </a:buClr>
              <a:buSzPts val="4400"/>
              <a:buFont typeface="Arial" panose="020B0604020202020204"/>
              <a:buNone/>
              <a:tabLst/>
              <a:defRPr/>
            </a:pPr>
            <a:r>
              <a:rPr kumimoji="0" lang="en-US" sz="4400" b="1" i="0" u="none" strike="noStrike" kern="1200" cap="none" spc="0" normalizeH="0" baseline="0" noProof="0">
                <a:ln>
                  <a:noFill/>
                </a:ln>
                <a:solidFill>
                  <a:srgbClr val="000000"/>
                </a:solidFill>
                <a:effectLst/>
                <a:uLnTx/>
                <a:uFillTx/>
                <a:latin typeface="Calibri" panose="020F0502020204030204"/>
                <a:ea typeface="Calibri" panose="020F0502020204030204"/>
                <a:cs typeface="Calibri" panose="020F0502020204030204"/>
                <a:sym typeface="Calibri" panose="020F0502020204030204"/>
              </a:rPr>
              <a:t>Application Problem</a:t>
            </a:r>
          </a:p>
        </p:txBody>
      </p:sp>
      <p:pic>
        <p:nvPicPr>
          <p:cNvPr id="5" name="Picture 4">
            <a:extLst>
              <a:ext uri="{FF2B5EF4-FFF2-40B4-BE49-F238E27FC236}">
                <a16:creationId xmlns:a16="http://schemas.microsoft.com/office/drawing/2014/main" id="{16C20936-BAEF-0860-376C-E62AEA172F37}"/>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0" y="8"/>
            <a:ext cx="322982" cy="6857984"/>
          </a:xfrm>
          <a:prstGeom prst="rect">
            <a:avLst/>
          </a:prstGeom>
        </p:spPr>
      </p:pic>
    </p:spTree>
    <p:extLst>
      <p:ext uri="{BB962C8B-B14F-4D97-AF65-F5344CB8AC3E}">
        <p14:creationId xmlns:p14="http://schemas.microsoft.com/office/powerpoint/2010/main" val="234069875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1_RDW_Horizontal">
    <p:spTree>
      <p:nvGrpSpPr>
        <p:cNvPr id="1" name=""/>
        <p:cNvGrpSpPr/>
        <p:nvPr/>
      </p:nvGrpSpPr>
      <p:grpSpPr>
        <a:xfrm>
          <a:off x="0" y="0"/>
          <a:ext cx="0" cy="0"/>
          <a:chOff x="0" y="0"/>
          <a:chExt cx="0" cy="0"/>
        </a:xfrm>
      </p:grpSpPr>
      <p:graphicFrame>
        <p:nvGraphicFramePr>
          <p:cNvPr id="14" name="Google Shape;42;g2960a169545_3_34"/>
          <p:cNvGraphicFramePr/>
          <p:nvPr userDrawn="1">
            <p:extLst>
              <p:ext uri="{D42A27DB-BD31-4B8C-83A1-F6EECF244321}">
                <p14:modId xmlns:p14="http://schemas.microsoft.com/office/powerpoint/2010/main" val="147912415"/>
              </p:ext>
            </p:extLst>
          </p:nvPr>
        </p:nvGraphicFramePr>
        <p:xfrm>
          <a:off x="775252" y="3783769"/>
          <a:ext cx="11082132" cy="2888103"/>
        </p:xfrm>
        <a:graphic>
          <a:graphicData uri="http://schemas.openxmlformats.org/drawingml/2006/table">
            <a:tbl>
              <a:tblPr firstRow="1" bandRow="1">
                <a:noFill/>
              </a:tblPr>
              <a:tblGrid>
                <a:gridCol w="3694044">
                  <a:extLst>
                    <a:ext uri="{9D8B030D-6E8A-4147-A177-3AD203B41FA5}">
                      <a16:colId xmlns:a16="http://schemas.microsoft.com/office/drawing/2014/main" val="20000"/>
                    </a:ext>
                  </a:extLst>
                </a:gridCol>
                <a:gridCol w="3694044">
                  <a:extLst>
                    <a:ext uri="{9D8B030D-6E8A-4147-A177-3AD203B41FA5}">
                      <a16:colId xmlns:a16="http://schemas.microsoft.com/office/drawing/2014/main" val="20001"/>
                    </a:ext>
                  </a:extLst>
                </a:gridCol>
                <a:gridCol w="3694044">
                  <a:extLst>
                    <a:ext uri="{9D8B030D-6E8A-4147-A177-3AD203B41FA5}">
                      <a16:colId xmlns:a16="http://schemas.microsoft.com/office/drawing/2014/main" val="20002"/>
                    </a:ext>
                  </a:extLst>
                </a:gridCol>
              </a:tblGrid>
              <a:tr h="244012">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dirty="0">
                          <a:solidFill>
                            <a:schemeClr val="bg2">
                              <a:lumMod val="25000"/>
                            </a:schemeClr>
                          </a:solidFill>
                        </a:rPr>
                        <a:t>Read</a:t>
                      </a:r>
                      <a:endParaRPr sz="1800" b="1" u="none" strike="noStrike" cap="none" dirty="0">
                        <a:solidFill>
                          <a:schemeClr val="bg2">
                            <a:lumMod val="25000"/>
                          </a:schemeClr>
                        </a:solidFill>
                      </a:endParaRPr>
                    </a:p>
                  </a:txBody>
                  <a:tcPr marL="91450" marR="91450" marT="45725" marB="457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dirty="0">
                          <a:solidFill>
                            <a:schemeClr val="bg2">
                              <a:lumMod val="25000"/>
                            </a:schemeClr>
                          </a:solidFill>
                        </a:rPr>
                        <a:t>Draw</a:t>
                      </a:r>
                      <a:endParaRPr sz="1800" b="1" u="none" strike="noStrike" cap="none" dirty="0">
                        <a:solidFill>
                          <a:schemeClr val="bg2">
                            <a:lumMod val="25000"/>
                          </a:schemeClr>
                        </a:solidFill>
                      </a:endParaRPr>
                    </a:p>
                  </a:txBody>
                  <a:tcPr marL="91450" marR="9145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dirty="0">
                          <a:solidFill>
                            <a:schemeClr val="bg2">
                              <a:lumMod val="25000"/>
                            </a:schemeClr>
                          </a:solidFill>
                        </a:rPr>
                        <a:t>Write</a:t>
                      </a:r>
                      <a:endParaRPr sz="1800" b="1" u="none" strike="noStrike" cap="none" dirty="0">
                        <a:solidFill>
                          <a:schemeClr val="bg2">
                            <a:lumMod val="25000"/>
                          </a:schemeClr>
                        </a:solidFill>
                      </a:endParaRPr>
                    </a:p>
                  </a:txBody>
                  <a:tcPr marL="91450" marR="91450" marT="45725" marB="457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430893">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dirty="0"/>
                    </a:p>
                  </a:txBody>
                  <a:tcPr marL="91450" marR="91450" marT="45725" marB="457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a:p>
                  </a:txBody>
                  <a:tcPr marL="91450" marR="9145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dirty="0"/>
                    </a:p>
                  </a:txBody>
                  <a:tcPr marL="91450" marR="91450" marT="45725" marB="457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3" name="Text Placeholder 2">
            <a:extLst>
              <a:ext uri="{FF2B5EF4-FFF2-40B4-BE49-F238E27FC236}">
                <a16:creationId xmlns:a16="http://schemas.microsoft.com/office/drawing/2014/main" id="{F5DB9EBA-92A2-D9BE-5A55-8378E259446A}"/>
              </a:ext>
            </a:extLst>
          </p:cNvPr>
          <p:cNvSpPr>
            <a:spLocks noGrp="1"/>
          </p:cNvSpPr>
          <p:nvPr>
            <p:ph type="body" sz="quarter" idx="10" hasCustomPrompt="1"/>
          </p:nvPr>
        </p:nvSpPr>
        <p:spPr>
          <a:xfrm>
            <a:off x="765313" y="1479938"/>
            <a:ext cx="11060341" cy="2072153"/>
          </a:xfrm>
          <a:prstGeom prst="rect">
            <a:avLst/>
          </a:prstGeom>
        </p:spPr>
        <p:txBody>
          <a:bodyPr/>
          <a:lstStyle>
            <a:lvl1pPr marL="0" indent="0">
              <a:buNone/>
              <a:defRPr sz="2200">
                <a:solidFill>
                  <a:schemeClr val="bg2">
                    <a:lumMod val="25000"/>
                  </a:schemeClr>
                </a:solidFill>
              </a:defRPr>
            </a:lvl1pPr>
          </a:lstStyle>
          <a:p>
            <a:pPr lvl="0"/>
            <a:r>
              <a:rPr lang="en-US" dirty="0"/>
              <a:t>Click to add text</a:t>
            </a:r>
          </a:p>
        </p:txBody>
      </p:sp>
      <p:sp>
        <p:nvSpPr>
          <p:cNvPr id="2" name="Title 1">
            <a:extLst>
              <a:ext uri="{FF2B5EF4-FFF2-40B4-BE49-F238E27FC236}">
                <a16:creationId xmlns:a16="http://schemas.microsoft.com/office/drawing/2014/main" id="{100D03EF-224B-F87A-5FAF-CA8E423C3783}"/>
              </a:ext>
            </a:extLst>
          </p:cNvPr>
          <p:cNvSpPr>
            <a:spLocks noGrp="1"/>
          </p:cNvSpPr>
          <p:nvPr>
            <p:ph type="title" hasCustomPrompt="1"/>
          </p:nvPr>
        </p:nvSpPr>
        <p:spPr>
          <a:xfrm>
            <a:off x="772211" y="0"/>
            <a:ext cx="11418202" cy="1263192"/>
          </a:xfrm>
          <a:prstGeom prst="rect">
            <a:avLst/>
          </a:prstGeom>
        </p:spPr>
        <p:txBody>
          <a:bodyPr anchor="ctr"/>
          <a:lstStyle/>
          <a:p>
            <a:pPr marL="0" marR="0" lvl="0" indent="0" algn="l" defTabSz="914400" rtl="0" eaLnBrk="1" fontAlgn="auto" latinLnBrk="0" hangingPunct="1">
              <a:lnSpc>
                <a:spcPct val="90000"/>
              </a:lnSpc>
              <a:spcBef>
                <a:spcPts val="0"/>
              </a:spcBef>
              <a:spcAft>
                <a:spcPts val="0"/>
              </a:spcAft>
              <a:buClr>
                <a:srgbClr val="000000"/>
              </a:buClr>
              <a:buSzPts val="4400"/>
              <a:buFont typeface="Arial" panose="020B0604020202020204"/>
              <a:buNone/>
              <a:tabLst/>
              <a:defRPr/>
            </a:pPr>
            <a:r>
              <a:rPr kumimoji="0" lang="en-US" sz="4400" b="1" i="0" u="none" strike="noStrike" kern="1200" cap="none" spc="0" normalizeH="0" baseline="0" noProof="0">
                <a:ln>
                  <a:noFill/>
                </a:ln>
                <a:solidFill>
                  <a:srgbClr val="000000"/>
                </a:solidFill>
                <a:effectLst/>
                <a:uLnTx/>
                <a:uFillTx/>
                <a:latin typeface="Calibri" panose="020F0502020204030204"/>
                <a:ea typeface="Calibri" panose="020F0502020204030204"/>
                <a:cs typeface="Calibri" panose="020F0502020204030204"/>
                <a:sym typeface="Calibri" panose="020F0502020204030204"/>
              </a:rPr>
              <a:t>Read-Draw-Write for Application Problem</a:t>
            </a:r>
          </a:p>
        </p:txBody>
      </p:sp>
      <p:pic>
        <p:nvPicPr>
          <p:cNvPr id="4" name="Picture 3">
            <a:extLst>
              <a:ext uri="{FF2B5EF4-FFF2-40B4-BE49-F238E27FC236}">
                <a16:creationId xmlns:a16="http://schemas.microsoft.com/office/drawing/2014/main" id="{BCE33224-DA35-0C93-D411-F621BA6DFD2E}"/>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0" y="8"/>
            <a:ext cx="322982" cy="6857984"/>
          </a:xfrm>
          <a:prstGeom prst="rect">
            <a:avLst/>
          </a:prstGeom>
        </p:spPr>
      </p:pic>
    </p:spTree>
    <p:extLst>
      <p:ext uri="{BB962C8B-B14F-4D97-AF65-F5344CB8AC3E}">
        <p14:creationId xmlns:p14="http://schemas.microsoft.com/office/powerpoint/2010/main" val="175900964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Fluency w/Timer">
    <p:spTree>
      <p:nvGrpSpPr>
        <p:cNvPr id="1" name=""/>
        <p:cNvGrpSpPr/>
        <p:nvPr/>
      </p:nvGrpSpPr>
      <p:grpSpPr>
        <a:xfrm>
          <a:off x="0" y="0"/>
          <a:ext cx="0" cy="0"/>
          <a:chOff x="0" y="0"/>
          <a:chExt cx="0" cy="0"/>
        </a:xfrm>
      </p:grpSpPr>
      <p:pic>
        <p:nvPicPr>
          <p:cNvPr id="2" name="Picture 1" descr="A black and white image of a stopwatch&#10;&#10;Description automatically generated">
            <a:extLst>
              <a:ext uri="{FF2B5EF4-FFF2-40B4-BE49-F238E27FC236}">
                <a16:creationId xmlns:a16="http://schemas.microsoft.com/office/drawing/2014/main" id="{45C93455-7637-1C42-D775-87043FDE14A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40002" y="5935775"/>
            <a:ext cx="1191770" cy="771146"/>
          </a:xfrm>
          <a:prstGeom prst="rect">
            <a:avLst/>
          </a:prstGeom>
        </p:spPr>
      </p:pic>
      <p:sp>
        <p:nvSpPr>
          <p:cNvPr id="4" name="Google Shape;36;g295eeb86cda_3_40">
            <a:extLst>
              <a:ext uri="{FF2B5EF4-FFF2-40B4-BE49-F238E27FC236}">
                <a16:creationId xmlns:a16="http://schemas.microsoft.com/office/drawing/2014/main" id="{4B2B0557-EE61-8CF4-6E2D-B3BB9A4164D6}"/>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3" name="Text Placeholder 16">
            <a:extLst>
              <a:ext uri="{FF2B5EF4-FFF2-40B4-BE49-F238E27FC236}">
                <a16:creationId xmlns:a16="http://schemas.microsoft.com/office/drawing/2014/main" id="{2C85C328-7F49-71B9-5668-70282DB97885}"/>
              </a:ext>
            </a:extLst>
          </p:cNvPr>
          <p:cNvSpPr>
            <a:spLocks noGrp="1"/>
          </p:cNvSpPr>
          <p:nvPr>
            <p:ph type="body" sz="quarter" idx="10" hasCustomPrompt="1"/>
          </p:nvPr>
        </p:nvSpPr>
        <p:spPr>
          <a:xfrm>
            <a:off x="11127476" y="6036181"/>
            <a:ext cx="654216"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5" name="Title 3">
            <a:extLst>
              <a:ext uri="{FF2B5EF4-FFF2-40B4-BE49-F238E27FC236}">
                <a16:creationId xmlns:a16="http://schemas.microsoft.com/office/drawing/2014/main" id="{BABD6038-9E2A-9278-C4F2-299A1A34E59F}"/>
              </a:ext>
            </a:extLst>
          </p:cNvPr>
          <p:cNvSpPr>
            <a:spLocks noGrp="1"/>
          </p:cNvSpPr>
          <p:nvPr>
            <p:ph type="title" hasCustomPrompt="1"/>
          </p:nvPr>
        </p:nvSpPr>
        <p:spPr>
          <a:xfrm>
            <a:off x="777240" y="7968"/>
            <a:ext cx="11413173" cy="1269462"/>
          </a:xfrm>
          <a:prstGeom prst="rect">
            <a:avLst/>
          </a:prstGeom>
        </p:spPr>
        <p:txBody>
          <a:bodyPr anchor="ctr"/>
          <a:lstStyle>
            <a:lvl1pPr>
              <a:defRPr b="1">
                <a:solidFill>
                  <a:schemeClr val="bg2">
                    <a:lumMod val="2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Fluency: </a:t>
            </a:r>
            <a:r>
              <a:rPr kumimoji="0" lang="en-US" b="0" i="0" u="none" strike="noStrike" kern="1200" cap="none" spc="0" normalizeH="0" baseline="0" noProof="0" dirty="0">
                <a:ln>
                  <a:noFill/>
                </a:ln>
                <a:solidFill>
                  <a:srgbClr val="000000"/>
                </a:solidFill>
                <a:effectLst/>
                <a:uLnTx/>
                <a:uFillTx/>
                <a:latin typeface="Calibri"/>
                <a:ea typeface="+mn-ea"/>
                <a:cs typeface="+mn-cs"/>
              </a:rPr>
              <a:t>Title (# of #)</a:t>
            </a:r>
            <a:endParaRPr lang="en-US" dirty="0"/>
          </a:p>
        </p:txBody>
      </p:sp>
      <p:pic>
        <p:nvPicPr>
          <p:cNvPr id="7" name="Picture 6">
            <a:extLst>
              <a:ext uri="{FF2B5EF4-FFF2-40B4-BE49-F238E27FC236}">
                <a16:creationId xmlns:a16="http://schemas.microsoft.com/office/drawing/2014/main" id="{1F38F35C-E1EA-7E26-CFA2-D2EABDFABD4E}"/>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0" y="8"/>
            <a:ext cx="322982" cy="6857984"/>
          </a:xfrm>
          <a:prstGeom prst="rect">
            <a:avLst/>
          </a:prstGeom>
        </p:spPr>
      </p:pic>
    </p:spTree>
    <p:extLst>
      <p:ext uri="{BB962C8B-B14F-4D97-AF65-F5344CB8AC3E}">
        <p14:creationId xmlns:p14="http://schemas.microsoft.com/office/powerpoint/2010/main" val="571256340"/>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Concept Development">
    <p:spTree>
      <p:nvGrpSpPr>
        <p:cNvPr id="1" name=""/>
        <p:cNvGrpSpPr/>
        <p:nvPr/>
      </p:nvGrpSpPr>
      <p:grpSpPr>
        <a:xfrm>
          <a:off x="0" y="0"/>
          <a:ext cx="0" cy="0"/>
          <a:chOff x="0" y="0"/>
          <a:chExt cx="0" cy="0"/>
        </a:xfrm>
      </p:grpSpPr>
      <p:sp>
        <p:nvSpPr>
          <p:cNvPr id="12" name="Google Shape;69;g2950041fd6d_0_282"/>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5" name="Title 1">
            <a:extLst>
              <a:ext uri="{FF2B5EF4-FFF2-40B4-BE49-F238E27FC236}">
                <a16:creationId xmlns:a16="http://schemas.microsoft.com/office/drawing/2014/main" id="{8EA13153-BB2D-5421-7418-44B5425F9E51}"/>
              </a:ext>
            </a:extLst>
          </p:cNvPr>
          <p:cNvSpPr>
            <a:spLocks noGrp="1"/>
          </p:cNvSpPr>
          <p:nvPr>
            <p:ph type="title" hasCustomPrompt="1"/>
          </p:nvPr>
        </p:nvSpPr>
        <p:spPr>
          <a:xfrm>
            <a:off x="777240" y="1"/>
            <a:ext cx="11390313" cy="1263192"/>
          </a:xfrm>
          <a:prstGeom prst="rect">
            <a:avLst/>
          </a:prstGeom>
        </p:spPr>
        <p:txBody>
          <a:bodyPr anchor="ct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Concept Development</a:t>
            </a:r>
          </a:p>
        </p:txBody>
      </p:sp>
      <p:pic>
        <p:nvPicPr>
          <p:cNvPr id="3" name="Picture 2">
            <a:extLst>
              <a:ext uri="{FF2B5EF4-FFF2-40B4-BE49-F238E27FC236}">
                <a16:creationId xmlns:a16="http://schemas.microsoft.com/office/drawing/2014/main" id="{E9096B68-4A77-76B9-2D56-7D11D872FDE0}"/>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0" y="8"/>
            <a:ext cx="322982" cy="6857984"/>
          </a:xfrm>
          <a:prstGeom prst="rect">
            <a:avLst/>
          </a:prstGeom>
        </p:spPr>
      </p:pic>
    </p:spTree>
    <p:extLst>
      <p:ext uri="{BB962C8B-B14F-4D97-AF65-F5344CB8AC3E}">
        <p14:creationId xmlns:p14="http://schemas.microsoft.com/office/powerpoint/2010/main" val="2101545927"/>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Concept Development with Timer">
    <p:spTree>
      <p:nvGrpSpPr>
        <p:cNvPr id="1" name=""/>
        <p:cNvGrpSpPr/>
        <p:nvPr/>
      </p:nvGrpSpPr>
      <p:grpSpPr>
        <a:xfrm>
          <a:off x="0" y="0"/>
          <a:ext cx="0" cy="0"/>
          <a:chOff x="0" y="0"/>
          <a:chExt cx="0" cy="0"/>
        </a:xfrm>
      </p:grpSpPr>
      <p:pic>
        <p:nvPicPr>
          <p:cNvPr id="6" name="Picture 5" descr="A black and white image of a stopwatch&#10;&#10;Description automatically generated">
            <a:extLst>
              <a:ext uri="{FF2B5EF4-FFF2-40B4-BE49-F238E27FC236}">
                <a16:creationId xmlns:a16="http://schemas.microsoft.com/office/drawing/2014/main" id="{C120155D-CE40-03A5-821E-66ED1B28D63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40002" y="5935775"/>
            <a:ext cx="1191770" cy="771146"/>
          </a:xfrm>
          <a:prstGeom prst="rect">
            <a:avLst/>
          </a:prstGeom>
        </p:spPr>
      </p:pic>
      <p:sp>
        <p:nvSpPr>
          <p:cNvPr id="12" name="Google Shape;69;g2950041fd6d_0_282"/>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3" name="Text Placeholder 16">
            <a:extLst>
              <a:ext uri="{FF2B5EF4-FFF2-40B4-BE49-F238E27FC236}">
                <a16:creationId xmlns:a16="http://schemas.microsoft.com/office/drawing/2014/main" id="{25782E0A-0BD4-715B-C55F-BBA8190C333D}"/>
              </a:ext>
            </a:extLst>
          </p:cNvPr>
          <p:cNvSpPr>
            <a:spLocks noGrp="1"/>
          </p:cNvSpPr>
          <p:nvPr>
            <p:ph type="body" sz="quarter" idx="10" hasCustomPrompt="1"/>
          </p:nvPr>
        </p:nvSpPr>
        <p:spPr>
          <a:xfrm>
            <a:off x="11127570" y="6036181"/>
            <a:ext cx="654121"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5" name="Title 1">
            <a:extLst>
              <a:ext uri="{FF2B5EF4-FFF2-40B4-BE49-F238E27FC236}">
                <a16:creationId xmlns:a16="http://schemas.microsoft.com/office/drawing/2014/main" id="{8EA13153-BB2D-5421-7418-44B5425F9E51}"/>
              </a:ext>
            </a:extLst>
          </p:cNvPr>
          <p:cNvSpPr>
            <a:spLocks noGrp="1"/>
          </p:cNvSpPr>
          <p:nvPr>
            <p:ph type="title" hasCustomPrompt="1"/>
          </p:nvPr>
        </p:nvSpPr>
        <p:spPr>
          <a:xfrm>
            <a:off x="777240" y="1"/>
            <a:ext cx="11390313" cy="1263192"/>
          </a:xfrm>
          <a:prstGeom prst="rect">
            <a:avLst/>
          </a:prstGeom>
        </p:spPr>
        <p:txBody>
          <a:bodyPr anchor="ct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Concept Development</a:t>
            </a:r>
          </a:p>
        </p:txBody>
      </p:sp>
      <p:pic>
        <p:nvPicPr>
          <p:cNvPr id="4" name="Picture 3">
            <a:extLst>
              <a:ext uri="{FF2B5EF4-FFF2-40B4-BE49-F238E27FC236}">
                <a16:creationId xmlns:a16="http://schemas.microsoft.com/office/drawing/2014/main" id="{DA82E847-E70E-3A6A-CC65-DAD8C5174886}"/>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0" y="8"/>
            <a:ext cx="322982" cy="6857984"/>
          </a:xfrm>
          <a:prstGeom prst="rect">
            <a:avLst/>
          </a:prstGeom>
        </p:spPr>
      </p:pic>
    </p:spTree>
    <p:extLst>
      <p:ext uri="{BB962C8B-B14F-4D97-AF65-F5344CB8AC3E}">
        <p14:creationId xmlns:p14="http://schemas.microsoft.com/office/powerpoint/2010/main" val="2963580817"/>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Problem Set with Text">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54725ABB-3358-BA78-ED3F-EE574662422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40002" y="5935775"/>
            <a:ext cx="1191770" cy="771146"/>
          </a:xfrm>
          <a:prstGeom prst="rect">
            <a:avLst/>
          </a:prstGeom>
        </p:spPr>
      </p:pic>
      <p:sp>
        <p:nvSpPr>
          <p:cNvPr id="14" name="Text Placeholder 16"/>
          <p:cNvSpPr>
            <a:spLocks noGrp="1"/>
          </p:cNvSpPr>
          <p:nvPr>
            <p:ph type="body" sz="quarter" idx="10" hasCustomPrompt="1"/>
          </p:nvPr>
        </p:nvSpPr>
        <p:spPr>
          <a:xfrm>
            <a:off x="11140001" y="6036181"/>
            <a:ext cx="622969"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2" name="Title 1">
            <a:extLst>
              <a:ext uri="{FF2B5EF4-FFF2-40B4-BE49-F238E27FC236}">
                <a16:creationId xmlns:a16="http://schemas.microsoft.com/office/drawing/2014/main" id="{0C16ECBB-77EB-0635-C9C3-E4F98B5337AC}"/>
              </a:ext>
            </a:extLst>
          </p:cNvPr>
          <p:cNvSpPr>
            <a:spLocks noGrp="1"/>
          </p:cNvSpPr>
          <p:nvPr>
            <p:ph type="title" hasCustomPrompt="1"/>
          </p:nvPr>
        </p:nvSpPr>
        <p:spPr>
          <a:xfrm>
            <a:off x="777240" y="1"/>
            <a:ext cx="11407898"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Problem Set</a:t>
            </a:r>
          </a:p>
        </p:txBody>
      </p:sp>
      <p:sp>
        <p:nvSpPr>
          <p:cNvPr id="4" name="Google Shape;69;g2950041fd6d_0_282">
            <a:extLst>
              <a:ext uri="{FF2B5EF4-FFF2-40B4-BE49-F238E27FC236}">
                <a16:creationId xmlns:a16="http://schemas.microsoft.com/office/drawing/2014/main" id="{9D7369C9-C599-CE95-CCD3-2B81A765581C}"/>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pic>
        <p:nvPicPr>
          <p:cNvPr id="6" name="Picture 5">
            <a:extLst>
              <a:ext uri="{FF2B5EF4-FFF2-40B4-BE49-F238E27FC236}">
                <a16:creationId xmlns:a16="http://schemas.microsoft.com/office/drawing/2014/main" id="{E929BE76-65BC-6165-2E99-A58E49A36F95}"/>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0" y="8"/>
            <a:ext cx="322982" cy="6857984"/>
          </a:xfrm>
          <a:prstGeom prst="rect">
            <a:avLst/>
          </a:prstGeom>
        </p:spPr>
      </p:pic>
    </p:spTree>
    <p:extLst>
      <p:ext uri="{BB962C8B-B14F-4D97-AF65-F5344CB8AC3E}">
        <p14:creationId xmlns:p14="http://schemas.microsoft.com/office/powerpoint/2010/main" val="4013431962"/>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Student Debrief">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DAC79665-DA63-6390-C217-C3166216C1B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40002" y="5935775"/>
            <a:ext cx="1191770" cy="771146"/>
          </a:xfrm>
          <a:prstGeom prst="rect">
            <a:avLst/>
          </a:prstGeom>
        </p:spPr>
      </p:pic>
      <p:sp>
        <p:nvSpPr>
          <p:cNvPr id="11" name="Google Shape;80;g295eeb86cda_3_104"/>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rmAutofit/>
          </a:bodyPr>
          <a:lstStyle>
            <a:lvl1pPr marL="571500" lvl="0" indent="-457200" algn="l">
              <a:lnSpc>
                <a:spcPct val="100000"/>
              </a:lnSpc>
              <a:spcBef>
                <a:spcPts val="1000"/>
              </a:spcBef>
              <a:spcAft>
                <a:spcPts val="0"/>
              </a:spcAft>
              <a:buClr>
                <a:schemeClr val="dk1"/>
              </a:buClr>
              <a:buSzPct val="100000"/>
              <a:buFont typeface="Arial" panose="020B0604020202020204" pitchFamily="34" charset="0"/>
              <a:buChar char="•"/>
              <a:defRPr sz="2800">
                <a:solidFill>
                  <a:schemeClr val="bg2">
                    <a:lumMod val="25000"/>
                  </a:schemeClr>
                </a:solidFill>
              </a:defRPr>
            </a:lvl1pPr>
            <a:lvl2pPr marL="914400" lvl="1" indent="-342900" algn="l">
              <a:lnSpc>
                <a:spcPct val="100000"/>
              </a:lnSpc>
              <a:spcBef>
                <a:spcPts val="1000"/>
              </a:spcBef>
              <a:spcAft>
                <a:spcPts val="0"/>
              </a:spcAft>
              <a:buClr>
                <a:schemeClr val="dk1"/>
              </a:buClr>
              <a:buSzPts val="1800"/>
              <a:buChar char="•"/>
              <a:defRPr/>
            </a:lvl2pPr>
            <a:lvl3pPr marL="1371600" lvl="2" indent="-342900" algn="l">
              <a:lnSpc>
                <a:spcPct val="100000"/>
              </a:lnSpc>
              <a:spcBef>
                <a:spcPts val="1000"/>
              </a:spcBef>
              <a:spcAft>
                <a:spcPts val="0"/>
              </a:spcAft>
              <a:buClr>
                <a:schemeClr val="dk1"/>
              </a:buClr>
              <a:buSzPts val="1800"/>
              <a:buChar char="•"/>
              <a:defRPr/>
            </a:lvl3pPr>
            <a:lvl4pPr marL="1828800" lvl="3" indent="-342900" algn="l">
              <a:lnSpc>
                <a:spcPct val="100000"/>
              </a:lnSpc>
              <a:spcBef>
                <a:spcPts val="1000"/>
              </a:spcBef>
              <a:spcAft>
                <a:spcPts val="0"/>
              </a:spcAft>
              <a:buClr>
                <a:schemeClr val="dk1"/>
              </a:buClr>
              <a:buSzPts val="1800"/>
              <a:buChar char="•"/>
              <a:defRPr/>
            </a:lvl4pPr>
            <a:lvl5pPr marL="2286000" lvl="4" indent="-342900" algn="l">
              <a:lnSpc>
                <a:spcPct val="100000"/>
              </a:lnSpc>
              <a:spcBef>
                <a:spcPts val="1000"/>
              </a:spcBef>
              <a:spcAft>
                <a:spcPts val="0"/>
              </a:spcAft>
              <a:buClr>
                <a:schemeClr val="dk1"/>
              </a:buClr>
              <a:buSzPts val="1800"/>
              <a:buChar char="•"/>
              <a:defRPr/>
            </a:lvl5pPr>
            <a:lvl6pPr marL="2743200" lvl="5" indent="-342900" algn="l">
              <a:lnSpc>
                <a:spcPct val="100000"/>
              </a:lnSpc>
              <a:spcBef>
                <a:spcPts val="1000"/>
              </a:spcBef>
              <a:spcAft>
                <a:spcPts val="0"/>
              </a:spcAft>
              <a:buClr>
                <a:schemeClr val="dk1"/>
              </a:buClr>
              <a:buSzPts val="1800"/>
              <a:buChar char="•"/>
              <a:defRPr/>
            </a:lvl6pPr>
            <a:lvl7pPr marL="3200400" lvl="6" indent="-342900" algn="l">
              <a:lnSpc>
                <a:spcPct val="100000"/>
              </a:lnSpc>
              <a:spcBef>
                <a:spcPts val="1000"/>
              </a:spcBef>
              <a:spcAft>
                <a:spcPts val="0"/>
              </a:spcAft>
              <a:buClr>
                <a:schemeClr val="dk1"/>
              </a:buClr>
              <a:buSzPts val="1800"/>
              <a:buChar char="•"/>
              <a:defRPr/>
            </a:lvl7pPr>
            <a:lvl8pPr marL="3657600" lvl="7" indent="-342900" algn="l">
              <a:lnSpc>
                <a:spcPct val="100000"/>
              </a:lnSpc>
              <a:spcBef>
                <a:spcPts val="1000"/>
              </a:spcBef>
              <a:spcAft>
                <a:spcPts val="0"/>
              </a:spcAft>
              <a:buClr>
                <a:schemeClr val="dk1"/>
              </a:buClr>
              <a:buSzPts val="1800"/>
              <a:buChar char="•"/>
              <a:defRPr/>
            </a:lvl8pPr>
            <a:lvl9pPr marL="4114800" lvl="8" indent="-342900" algn="l">
              <a:lnSpc>
                <a:spcPct val="100000"/>
              </a:lnSpc>
              <a:spcBef>
                <a:spcPts val="1000"/>
              </a:spcBef>
              <a:spcAft>
                <a:spcPts val="1000"/>
              </a:spcAft>
              <a:buClr>
                <a:schemeClr val="dk1"/>
              </a:buClr>
              <a:buSzPts val="1800"/>
              <a:buChar char="•"/>
              <a:defRPr/>
            </a:lvl9pPr>
          </a:lstStyle>
          <a:p>
            <a:endParaRPr dirty="0"/>
          </a:p>
        </p:txBody>
      </p:sp>
      <p:sp>
        <p:nvSpPr>
          <p:cNvPr id="14" name="Text Placeholder 16"/>
          <p:cNvSpPr>
            <a:spLocks noGrp="1"/>
          </p:cNvSpPr>
          <p:nvPr>
            <p:ph type="body" sz="quarter" idx="10" hasCustomPrompt="1"/>
          </p:nvPr>
        </p:nvSpPr>
        <p:spPr>
          <a:xfrm>
            <a:off x="11127570" y="6036181"/>
            <a:ext cx="645330"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2" name="Title 1">
            <a:extLst>
              <a:ext uri="{FF2B5EF4-FFF2-40B4-BE49-F238E27FC236}">
                <a16:creationId xmlns:a16="http://schemas.microsoft.com/office/drawing/2014/main" id="{FB0B6DF2-911F-E608-84A0-0D6E6AF4BF7B}"/>
              </a:ext>
            </a:extLst>
          </p:cNvPr>
          <p:cNvSpPr>
            <a:spLocks noGrp="1"/>
          </p:cNvSpPr>
          <p:nvPr>
            <p:ph type="title" hasCustomPrompt="1"/>
          </p:nvPr>
        </p:nvSpPr>
        <p:spPr>
          <a:xfrm>
            <a:off x="777240" y="1"/>
            <a:ext cx="11390313"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Student Debrief</a:t>
            </a:r>
          </a:p>
        </p:txBody>
      </p:sp>
      <p:pic>
        <p:nvPicPr>
          <p:cNvPr id="5" name="Picture 4">
            <a:extLst>
              <a:ext uri="{FF2B5EF4-FFF2-40B4-BE49-F238E27FC236}">
                <a16:creationId xmlns:a16="http://schemas.microsoft.com/office/drawing/2014/main" id="{2D8527D9-6738-140E-CAE9-854D12AA994F}"/>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0" y="8"/>
            <a:ext cx="322982" cy="6857984"/>
          </a:xfrm>
          <a:prstGeom prst="rect">
            <a:avLst/>
          </a:prstGeom>
        </p:spPr>
      </p:pic>
    </p:spTree>
    <p:extLst>
      <p:ext uri="{BB962C8B-B14F-4D97-AF65-F5344CB8AC3E}">
        <p14:creationId xmlns:p14="http://schemas.microsoft.com/office/powerpoint/2010/main" val="18228953"/>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Exit Ticket">
    <p:spTree>
      <p:nvGrpSpPr>
        <p:cNvPr id="1" name=""/>
        <p:cNvGrpSpPr/>
        <p:nvPr/>
      </p:nvGrpSpPr>
      <p:grpSpPr>
        <a:xfrm>
          <a:off x="0" y="0"/>
          <a:ext cx="0" cy="0"/>
          <a:chOff x="0" y="0"/>
          <a:chExt cx="0" cy="0"/>
        </a:xfrm>
      </p:grpSpPr>
      <p:pic>
        <p:nvPicPr>
          <p:cNvPr id="6" name="Picture 5" descr="A black and white image of a stopwatch&#10;&#10;Description automatically generated">
            <a:extLst>
              <a:ext uri="{FF2B5EF4-FFF2-40B4-BE49-F238E27FC236}">
                <a16:creationId xmlns:a16="http://schemas.microsoft.com/office/drawing/2014/main" id="{87BF7481-2AB1-1F79-65F6-B47BE9EECE0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40002" y="5935775"/>
            <a:ext cx="1191770" cy="771146"/>
          </a:xfrm>
          <a:prstGeom prst="rect">
            <a:avLst/>
          </a:prstGeom>
        </p:spPr>
      </p:pic>
      <p:sp>
        <p:nvSpPr>
          <p:cNvPr id="3" name="Text Placeholder 16">
            <a:extLst>
              <a:ext uri="{FF2B5EF4-FFF2-40B4-BE49-F238E27FC236}">
                <a16:creationId xmlns:a16="http://schemas.microsoft.com/office/drawing/2014/main" id="{BC6A2CE5-7968-8B98-9B39-FF49F2E9FD9A}"/>
              </a:ext>
            </a:extLst>
          </p:cNvPr>
          <p:cNvSpPr>
            <a:spLocks noGrp="1"/>
          </p:cNvSpPr>
          <p:nvPr>
            <p:ph type="body" sz="quarter" idx="11" hasCustomPrompt="1"/>
          </p:nvPr>
        </p:nvSpPr>
        <p:spPr>
          <a:xfrm>
            <a:off x="11127571" y="6036181"/>
            <a:ext cx="635400"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5" name="Google Shape;80;g295eeb86cda_3_104">
            <a:extLst>
              <a:ext uri="{FF2B5EF4-FFF2-40B4-BE49-F238E27FC236}">
                <a16:creationId xmlns:a16="http://schemas.microsoft.com/office/drawing/2014/main" id="{E879CF37-D19C-8989-9D60-7E089D9CFD43}"/>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rmAutofit/>
          </a:bodyPr>
          <a:lstStyle>
            <a:lvl1pPr marL="114300" lvl="0" indent="0" algn="l">
              <a:lnSpc>
                <a:spcPct val="100000"/>
              </a:lnSpc>
              <a:spcBef>
                <a:spcPts val="1000"/>
              </a:spcBef>
              <a:spcAft>
                <a:spcPts val="0"/>
              </a:spcAft>
              <a:buClr>
                <a:schemeClr val="dk1"/>
              </a:buClr>
              <a:buSzPct val="100000"/>
              <a:buFont typeface="Arial" panose="020B0604020202020204" pitchFamily="34" charset="0"/>
              <a:buNone/>
              <a:defRPr sz="2800">
                <a:solidFill>
                  <a:schemeClr val="bg2">
                    <a:lumMod val="25000"/>
                  </a:schemeClr>
                </a:solidFill>
              </a:defRPr>
            </a:lvl1pPr>
            <a:lvl2pPr marL="914400" lvl="1" indent="-342900" algn="l">
              <a:lnSpc>
                <a:spcPct val="100000"/>
              </a:lnSpc>
              <a:spcBef>
                <a:spcPts val="1000"/>
              </a:spcBef>
              <a:spcAft>
                <a:spcPts val="0"/>
              </a:spcAft>
              <a:buClr>
                <a:schemeClr val="dk1"/>
              </a:buClr>
              <a:buSzPts val="1800"/>
              <a:buChar char="•"/>
              <a:defRPr/>
            </a:lvl2pPr>
            <a:lvl3pPr marL="1371600" lvl="2" indent="-342900" algn="l">
              <a:lnSpc>
                <a:spcPct val="100000"/>
              </a:lnSpc>
              <a:spcBef>
                <a:spcPts val="1000"/>
              </a:spcBef>
              <a:spcAft>
                <a:spcPts val="0"/>
              </a:spcAft>
              <a:buClr>
                <a:schemeClr val="dk1"/>
              </a:buClr>
              <a:buSzPts val="1800"/>
              <a:buChar char="•"/>
              <a:defRPr/>
            </a:lvl3pPr>
            <a:lvl4pPr marL="1828800" lvl="3" indent="-342900" algn="l">
              <a:lnSpc>
                <a:spcPct val="100000"/>
              </a:lnSpc>
              <a:spcBef>
                <a:spcPts val="1000"/>
              </a:spcBef>
              <a:spcAft>
                <a:spcPts val="0"/>
              </a:spcAft>
              <a:buClr>
                <a:schemeClr val="dk1"/>
              </a:buClr>
              <a:buSzPts val="1800"/>
              <a:buChar char="•"/>
              <a:defRPr/>
            </a:lvl4pPr>
            <a:lvl5pPr marL="2286000" lvl="4" indent="-342900" algn="l">
              <a:lnSpc>
                <a:spcPct val="100000"/>
              </a:lnSpc>
              <a:spcBef>
                <a:spcPts val="1000"/>
              </a:spcBef>
              <a:spcAft>
                <a:spcPts val="0"/>
              </a:spcAft>
              <a:buClr>
                <a:schemeClr val="dk1"/>
              </a:buClr>
              <a:buSzPts val="1800"/>
              <a:buChar char="•"/>
              <a:defRPr/>
            </a:lvl5pPr>
            <a:lvl6pPr marL="2743200" lvl="5" indent="-342900" algn="l">
              <a:lnSpc>
                <a:spcPct val="100000"/>
              </a:lnSpc>
              <a:spcBef>
                <a:spcPts val="1000"/>
              </a:spcBef>
              <a:spcAft>
                <a:spcPts val="0"/>
              </a:spcAft>
              <a:buClr>
                <a:schemeClr val="dk1"/>
              </a:buClr>
              <a:buSzPts val="1800"/>
              <a:buChar char="•"/>
              <a:defRPr/>
            </a:lvl6pPr>
            <a:lvl7pPr marL="3200400" lvl="6" indent="-342900" algn="l">
              <a:lnSpc>
                <a:spcPct val="100000"/>
              </a:lnSpc>
              <a:spcBef>
                <a:spcPts val="1000"/>
              </a:spcBef>
              <a:spcAft>
                <a:spcPts val="0"/>
              </a:spcAft>
              <a:buClr>
                <a:schemeClr val="dk1"/>
              </a:buClr>
              <a:buSzPts val="1800"/>
              <a:buChar char="•"/>
              <a:defRPr/>
            </a:lvl7pPr>
            <a:lvl8pPr marL="3657600" lvl="7" indent="-342900" algn="l">
              <a:lnSpc>
                <a:spcPct val="100000"/>
              </a:lnSpc>
              <a:spcBef>
                <a:spcPts val="1000"/>
              </a:spcBef>
              <a:spcAft>
                <a:spcPts val="0"/>
              </a:spcAft>
              <a:buClr>
                <a:schemeClr val="dk1"/>
              </a:buClr>
              <a:buSzPts val="1800"/>
              <a:buChar char="•"/>
              <a:defRPr/>
            </a:lvl8pPr>
            <a:lvl9pPr marL="4114800" lvl="8" indent="-342900" algn="l">
              <a:lnSpc>
                <a:spcPct val="100000"/>
              </a:lnSpc>
              <a:spcBef>
                <a:spcPts val="1000"/>
              </a:spcBef>
              <a:spcAft>
                <a:spcPts val="1000"/>
              </a:spcAft>
              <a:buClr>
                <a:schemeClr val="dk1"/>
              </a:buClr>
              <a:buSzPts val="1800"/>
              <a:buChar char="•"/>
              <a:defRPr/>
            </a:lvl9pPr>
          </a:lstStyle>
          <a:p>
            <a:endParaRPr dirty="0"/>
          </a:p>
        </p:txBody>
      </p:sp>
      <p:sp>
        <p:nvSpPr>
          <p:cNvPr id="7" name="Title 1">
            <a:extLst>
              <a:ext uri="{FF2B5EF4-FFF2-40B4-BE49-F238E27FC236}">
                <a16:creationId xmlns:a16="http://schemas.microsoft.com/office/drawing/2014/main" id="{3820E38D-87BF-6F8F-072E-A0D77CD81A20}"/>
              </a:ext>
            </a:extLst>
          </p:cNvPr>
          <p:cNvSpPr>
            <a:spLocks noGrp="1"/>
          </p:cNvSpPr>
          <p:nvPr>
            <p:ph type="title" hasCustomPrompt="1"/>
          </p:nvPr>
        </p:nvSpPr>
        <p:spPr>
          <a:xfrm>
            <a:off x="777240" y="1"/>
            <a:ext cx="11425482"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Exit Ticket</a:t>
            </a:r>
          </a:p>
        </p:txBody>
      </p:sp>
      <p:pic>
        <p:nvPicPr>
          <p:cNvPr id="4" name="Picture 3">
            <a:extLst>
              <a:ext uri="{FF2B5EF4-FFF2-40B4-BE49-F238E27FC236}">
                <a16:creationId xmlns:a16="http://schemas.microsoft.com/office/drawing/2014/main" id="{90177C41-8A77-B2A7-EC04-03F37364BC9D}"/>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0" y="8"/>
            <a:ext cx="322982" cy="6857984"/>
          </a:xfrm>
          <a:prstGeom prst="rect">
            <a:avLst/>
          </a:prstGeom>
        </p:spPr>
      </p:pic>
    </p:spTree>
    <p:extLst>
      <p:ext uri="{BB962C8B-B14F-4D97-AF65-F5344CB8AC3E}">
        <p14:creationId xmlns:p14="http://schemas.microsoft.com/office/powerpoint/2010/main" val="2062348260"/>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2_Alg I_Title Slide">
    <p:bg>
      <p:bgPr>
        <a:solidFill>
          <a:schemeClr val="bg1"/>
        </a:solidFill>
        <a:effectLst/>
      </p:bgPr>
    </p:bg>
    <p:spTree>
      <p:nvGrpSpPr>
        <p:cNvPr id="1" name=""/>
        <p:cNvGrpSpPr/>
        <p:nvPr/>
      </p:nvGrpSpPr>
      <p:grpSpPr>
        <a:xfrm>
          <a:off x="0" y="0"/>
          <a:ext cx="0" cy="0"/>
          <a:chOff x="0" y="0"/>
          <a:chExt cx="0" cy="0"/>
        </a:xfrm>
      </p:grpSpPr>
      <p:sp>
        <p:nvSpPr>
          <p:cNvPr id="3" name="Text Placeholder 3">
            <a:extLst>
              <a:ext uri="{FF2B5EF4-FFF2-40B4-BE49-F238E27FC236}">
                <a16:creationId xmlns:a16="http://schemas.microsoft.com/office/drawing/2014/main" id="{F992793D-996B-68F1-CC42-4A64BF66E531}"/>
              </a:ext>
            </a:extLst>
          </p:cNvPr>
          <p:cNvSpPr>
            <a:spLocks noGrp="1"/>
          </p:cNvSpPr>
          <p:nvPr>
            <p:ph type="body" sz="quarter" idx="10" hasCustomPrompt="1"/>
          </p:nvPr>
        </p:nvSpPr>
        <p:spPr>
          <a:xfrm>
            <a:off x="-1590" y="1622759"/>
            <a:ext cx="12192003" cy="1819137"/>
          </a:xfrm>
          <a:prstGeom prst="rect">
            <a:avLst/>
          </a:prstGeom>
        </p:spPr>
        <p:txBody>
          <a:bodyPr/>
          <a:lstStyle>
            <a:lvl1pPr marL="0" indent="0" algn="ctr">
              <a:buNone/>
              <a:defRPr sz="6000" b="1">
                <a:solidFill>
                  <a:srgbClr val="0084AC"/>
                </a:solidFill>
              </a:defRPr>
            </a:lvl1pPr>
          </a:lstStyle>
          <a:p>
            <a:pPr lvl="0"/>
            <a:r>
              <a:rPr lang="en-US" sz="6000" dirty="0"/>
              <a:t>Module Name</a:t>
            </a:r>
          </a:p>
          <a:p>
            <a:pPr lvl="0"/>
            <a:r>
              <a:rPr lang="en-US" sz="6000" dirty="0"/>
              <a:t>Name</a:t>
            </a:r>
          </a:p>
          <a:p>
            <a:pPr lvl="0"/>
            <a:endParaRPr lang="en-US" dirty="0"/>
          </a:p>
        </p:txBody>
      </p:sp>
      <p:sp>
        <p:nvSpPr>
          <p:cNvPr id="5" name="Text Placeholder 5">
            <a:extLst>
              <a:ext uri="{FF2B5EF4-FFF2-40B4-BE49-F238E27FC236}">
                <a16:creationId xmlns:a16="http://schemas.microsoft.com/office/drawing/2014/main" id="{74F0E467-86F1-F51B-377D-DE8A5155B5E1}"/>
              </a:ext>
            </a:extLst>
          </p:cNvPr>
          <p:cNvSpPr>
            <a:spLocks noGrp="1"/>
          </p:cNvSpPr>
          <p:nvPr>
            <p:ph type="body" sz="quarter" idx="13" hasCustomPrompt="1"/>
          </p:nvPr>
        </p:nvSpPr>
        <p:spPr>
          <a:xfrm>
            <a:off x="-1590" y="3641189"/>
            <a:ext cx="12190413" cy="822457"/>
          </a:xfrm>
          <a:prstGeom prst="rect">
            <a:avLst/>
          </a:prstGeom>
        </p:spPr>
        <p:txBody>
          <a:bodyPr anchor="ctr"/>
          <a:lstStyle>
            <a:lvl1pPr marL="0" indent="0" algn="ctr">
              <a:buNone/>
              <a:defRPr sz="4400" b="0">
                <a:solidFill>
                  <a:srgbClr val="143965"/>
                </a:solidFill>
              </a:defRPr>
            </a:lvl1pPr>
          </a:lstStyle>
          <a:p>
            <a:pPr lvl="0"/>
            <a:r>
              <a:rPr lang="en-US" dirty="0"/>
              <a:t>Grade # | Module # | Topic X | Lesson #</a:t>
            </a:r>
          </a:p>
        </p:txBody>
      </p:sp>
      <p:sp>
        <p:nvSpPr>
          <p:cNvPr id="2" name="Round Single Corner Rectangle 1">
            <a:extLst>
              <a:ext uri="{FF2B5EF4-FFF2-40B4-BE49-F238E27FC236}">
                <a16:creationId xmlns:a16="http://schemas.microsoft.com/office/drawing/2014/main" id="{7D24360F-9CDE-6F31-8095-CEDD386A0B5F}"/>
              </a:ext>
            </a:extLst>
          </p:cNvPr>
          <p:cNvSpPr/>
          <p:nvPr userDrawn="1"/>
        </p:nvSpPr>
        <p:spPr>
          <a:xfrm rot="10800000" flipH="1">
            <a:off x="0" y="0"/>
            <a:ext cx="2467555" cy="954942"/>
          </a:xfrm>
          <a:prstGeom prst="round1Rect">
            <a:avLst/>
          </a:prstGeom>
          <a:solidFill>
            <a:srgbClr val="0084A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6706451E-BBBC-107B-E631-3F63997BE9D6}"/>
              </a:ext>
            </a:extLst>
          </p:cNvPr>
          <p:cNvSpPr txBox="1"/>
          <p:nvPr userDrawn="1"/>
        </p:nvSpPr>
        <p:spPr>
          <a:xfrm>
            <a:off x="0" y="280732"/>
            <a:ext cx="2467555" cy="461665"/>
          </a:xfrm>
          <a:prstGeom prst="rect">
            <a:avLst/>
          </a:prstGeom>
          <a:noFill/>
        </p:spPr>
        <p:txBody>
          <a:bodyPr wrap="square" rtlCol="0">
            <a:spAutoFit/>
          </a:bodyPr>
          <a:lstStyle/>
          <a:p>
            <a:pPr algn="ctr"/>
            <a:r>
              <a:rPr lang="en-US" sz="2400" dirty="0">
                <a:solidFill>
                  <a:schemeClr val="bg1"/>
                </a:solidFill>
              </a:rPr>
              <a:t>ENGLISH</a:t>
            </a:r>
          </a:p>
        </p:txBody>
      </p:sp>
      <p:pic>
        <p:nvPicPr>
          <p:cNvPr id="18" name="Picture 17" descr="A blue and black logo&#10;&#10;AI-generated content may be incorrect.">
            <a:extLst>
              <a:ext uri="{FF2B5EF4-FFF2-40B4-BE49-F238E27FC236}">
                <a16:creationId xmlns:a16="http://schemas.microsoft.com/office/drawing/2014/main" id="{B203EADC-2DB3-1EE5-60AF-D1787BEEC07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940726" y="132485"/>
            <a:ext cx="2910578" cy="954944"/>
          </a:xfrm>
          <a:prstGeom prst="rect">
            <a:avLst/>
          </a:prstGeom>
        </p:spPr>
      </p:pic>
      <p:sp>
        <p:nvSpPr>
          <p:cNvPr id="19" name="TextBox 18">
            <a:extLst>
              <a:ext uri="{FF2B5EF4-FFF2-40B4-BE49-F238E27FC236}">
                <a16:creationId xmlns:a16="http://schemas.microsoft.com/office/drawing/2014/main" id="{2804B40F-0DA7-E0E3-162C-E301ABDD7551}"/>
              </a:ext>
            </a:extLst>
          </p:cNvPr>
          <p:cNvSpPr txBox="1"/>
          <p:nvPr userDrawn="1"/>
        </p:nvSpPr>
        <p:spPr>
          <a:xfrm>
            <a:off x="10111407" y="1007699"/>
            <a:ext cx="1643271" cy="267288"/>
          </a:xfrm>
          <a:prstGeom prst="rect">
            <a:avLst/>
          </a:prstGeom>
          <a:noFill/>
        </p:spPr>
        <p:txBody>
          <a:bodyPr wrap="square" rtlCol="0">
            <a:spAutoFit/>
          </a:bodyPr>
          <a:lstStyle/>
          <a:p>
            <a:pPr algn="ctr"/>
            <a:r>
              <a:rPr lang="en-US" sz="1100" b="1" dirty="0">
                <a:solidFill>
                  <a:srgbClr val="000000"/>
                </a:solidFill>
              </a:rPr>
              <a:t>Secondary Mathematics</a:t>
            </a:r>
          </a:p>
        </p:txBody>
      </p:sp>
      <p:sp>
        <p:nvSpPr>
          <p:cNvPr id="20" name="Rounded Rectangle 19">
            <a:extLst>
              <a:ext uri="{FF2B5EF4-FFF2-40B4-BE49-F238E27FC236}">
                <a16:creationId xmlns:a16="http://schemas.microsoft.com/office/drawing/2014/main" id="{A6542DB2-F324-40CF-3B49-6D031A4E64E1}"/>
              </a:ext>
            </a:extLst>
          </p:cNvPr>
          <p:cNvSpPr/>
          <p:nvPr userDrawn="1"/>
        </p:nvSpPr>
        <p:spPr>
          <a:xfrm>
            <a:off x="10236991" y="1306046"/>
            <a:ext cx="907774" cy="298608"/>
          </a:xfrm>
          <a:prstGeom prst="round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E0930552-3750-2EC0-AA03-FF31F6332588}"/>
              </a:ext>
            </a:extLst>
          </p:cNvPr>
          <p:cNvSpPr txBox="1"/>
          <p:nvPr userDrawn="1"/>
        </p:nvSpPr>
        <p:spPr>
          <a:xfrm>
            <a:off x="10252484" y="1335768"/>
            <a:ext cx="868018" cy="237827"/>
          </a:xfrm>
          <a:prstGeom prst="rect">
            <a:avLst/>
          </a:prstGeom>
          <a:noFill/>
        </p:spPr>
        <p:txBody>
          <a:bodyPr wrap="square" rtlCol="0">
            <a:spAutoFit/>
          </a:bodyPr>
          <a:lstStyle/>
          <a:p>
            <a:pPr algn="ctr"/>
            <a:r>
              <a:rPr lang="en-US" sz="1100" b="1" i="0" dirty="0">
                <a:solidFill>
                  <a:schemeClr val="bg2">
                    <a:lumMod val="50000"/>
                  </a:schemeClr>
                </a:solidFill>
                <a:latin typeface="Calibri" panose="020F0502020204030204" pitchFamily="34" charset="0"/>
                <a:cs typeface="Calibri" panose="020F0502020204030204" pitchFamily="34" charset="0"/>
              </a:rPr>
              <a:t>EDITION 1</a:t>
            </a:r>
          </a:p>
        </p:txBody>
      </p:sp>
      <p:pic>
        <p:nvPicPr>
          <p:cNvPr id="8" name="Picture 7">
            <a:extLst>
              <a:ext uri="{FF2B5EF4-FFF2-40B4-BE49-F238E27FC236}">
                <a16:creationId xmlns:a16="http://schemas.microsoft.com/office/drawing/2014/main" id="{F8551CF0-DABA-0FFF-DE83-145FA6143FA8}"/>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2" y="4663225"/>
            <a:ext cx="12190407" cy="2194774"/>
          </a:xfrm>
          <a:prstGeom prst="rect">
            <a:avLst/>
          </a:prstGeom>
        </p:spPr>
      </p:pic>
    </p:spTree>
    <p:extLst>
      <p:ext uri="{BB962C8B-B14F-4D97-AF65-F5344CB8AC3E}">
        <p14:creationId xmlns:p14="http://schemas.microsoft.com/office/powerpoint/2010/main" val="259259962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9_G2 Copyright">
    <p:bg>
      <p:bgPr>
        <a:solidFill>
          <a:schemeClr val="bg1"/>
        </a:solidFill>
        <a:effectLst/>
      </p:bgPr>
    </p:bg>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72307BBC-7B87-E2A3-8D37-F3412D1BA5D0}"/>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0" y="932192"/>
            <a:ext cx="12190410" cy="5925807"/>
          </a:xfrm>
          <a:prstGeom prst="rect">
            <a:avLst/>
          </a:prstGeom>
        </p:spPr>
      </p:pic>
      <p:sp>
        <p:nvSpPr>
          <p:cNvPr id="4" name="Oval 3">
            <a:extLst>
              <a:ext uri="{FF2B5EF4-FFF2-40B4-BE49-F238E27FC236}">
                <a16:creationId xmlns:a16="http://schemas.microsoft.com/office/drawing/2014/main" id="{ABB595A4-9EBD-188A-EC7D-0AAB0001E823}"/>
              </a:ext>
            </a:extLst>
          </p:cNvPr>
          <p:cNvSpPr/>
          <p:nvPr userDrawn="1"/>
        </p:nvSpPr>
        <p:spPr>
          <a:xfrm>
            <a:off x="1668545" y="2356700"/>
            <a:ext cx="1715678" cy="2648931"/>
          </a:xfrm>
          <a:prstGeom prst="ellipse">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E5165B0B-BFFB-F8AF-28CB-AB06CD2FE816}"/>
              </a:ext>
            </a:extLst>
          </p:cNvPr>
          <p:cNvSpPr/>
          <p:nvPr userDrawn="1"/>
        </p:nvSpPr>
        <p:spPr>
          <a:xfrm>
            <a:off x="1310326" y="4873659"/>
            <a:ext cx="2073897" cy="6790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FE5A3C38-7B14-ED97-6C60-8F0EC5C9B272}"/>
              </a:ext>
            </a:extLst>
          </p:cNvPr>
          <p:cNvSpPr txBox="1"/>
          <p:nvPr userDrawn="1"/>
        </p:nvSpPr>
        <p:spPr>
          <a:xfrm>
            <a:off x="1023907" y="1792363"/>
            <a:ext cx="10141011" cy="4247317"/>
          </a:xfrm>
          <a:prstGeom prst="rect">
            <a:avLst/>
          </a:prstGeom>
          <a:solidFill>
            <a:schemeClr val="bg1"/>
          </a:solidFill>
          <a:ln w="38100">
            <a:solidFill>
              <a:schemeClr val="bg1"/>
            </a:solidFill>
          </a:ln>
        </p:spPr>
        <p:txBody>
          <a:bodyPr wrap="square" lIns="91440" tIns="45720" rIns="91440" bIns="45720" rtlCol="0" anchor="t">
            <a:spAutoFit/>
          </a:bodyPr>
          <a:lstStyle/>
          <a:p>
            <a:r>
              <a:rPr lang="en-US" b="1" dirty="0">
                <a:solidFill>
                  <a:schemeClr val="bg2">
                    <a:lumMod val="25000"/>
                  </a:schemeClr>
                </a:solidFill>
              </a:rPr>
              <a:t>Acknowledgment</a:t>
            </a:r>
          </a:p>
          <a:p>
            <a:r>
              <a:rPr lang="en-US" dirty="0">
                <a:solidFill>
                  <a:schemeClr val="bg2">
                    <a:lumMod val="25000"/>
                  </a:schemeClr>
                </a:solidFill>
              </a:rPr>
              <a:t>Thank you to all the Texas educators and stakeholders who supported the review process and provided feedback. These materials are the result of the work of numerous individuals, and we are deeply grateful for their contributions.</a:t>
            </a:r>
            <a:endParaRPr lang="en-US" dirty="0">
              <a:solidFill>
                <a:schemeClr val="bg2">
                  <a:lumMod val="25000"/>
                </a:schemeClr>
              </a:solidFill>
              <a:cs typeface="Calibri"/>
            </a:endParaRPr>
          </a:p>
          <a:p>
            <a:endParaRPr lang="en-US" dirty="0">
              <a:solidFill>
                <a:schemeClr val="bg2">
                  <a:lumMod val="25000"/>
                </a:schemeClr>
              </a:solidFill>
            </a:endParaRPr>
          </a:p>
          <a:p>
            <a:r>
              <a:rPr lang="en-US" b="1" dirty="0">
                <a:solidFill>
                  <a:schemeClr val="bg2">
                    <a:lumMod val="25000"/>
                  </a:schemeClr>
                </a:solidFill>
              </a:rPr>
              <a:t>Notice</a:t>
            </a:r>
            <a:endParaRPr lang="en-US" b="1" dirty="0">
              <a:solidFill>
                <a:schemeClr val="bg2">
                  <a:lumMod val="25000"/>
                </a:schemeClr>
              </a:solidFill>
              <a:cs typeface="Calibri"/>
            </a:endParaRPr>
          </a:p>
          <a:p>
            <a:r>
              <a:rPr lang="en-US" dirty="0">
                <a:solidFill>
                  <a:schemeClr val="bg2">
                    <a:lumMod val="25000"/>
                  </a:schemeClr>
                </a:solidFill>
              </a:rPr>
              <a:t>These learning resources have been built for Texas students, aligned to the Texas Essential Knowledge and Skills, and are made available pursuant to Chapter 31, Subchapter B-1 of the Texas Education Code.</a:t>
            </a:r>
            <a:endParaRPr lang="en-US" dirty="0">
              <a:solidFill>
                <a:schemeClr val="bg2">
                  <a:lumMod val="25000"/>
                </a:schemeClr>
              </a:solidFill>
              <a:cs typeface="Calibri"/>
            </a:endParaRPr>
          </a:p>
          <a:p>
            <a:r>
              <a:rPr lang="en-US" dirty="0">
                <a:solidFill>
                  <a:schemeClr val="bg2">
                    <a:lumMod val="25000"/>
                  </a:schemeClr>
                </a:solidFill>
              </a:rPr>
              <a:t>If you have further questions or to report an error, please email </a:t>
            </a:r>
            <a:r>
              <a:rPr lang="en-US" dirty="0">
                <a:solidFill>
                  <a:schemeClr val="bg2">
                    <a:lumMod val="25000"/>
                  </a:schemeClr>
                </a:solidFill>
                <a:hlinkClick r:id="rId3">
                  <a:extLst>
                    <a:ext uri="{A12FA001-AC4F-418D-AE19-62706E023703}">
                      <ahyp:hlinkClr xmlns:ahyp="http://schemas.microsoft.com/office/drawing/2018/hyperlinkcolor" val="tx"/>
                    </a:ext>
                  </a:extLst>
                </a:hlinkClick>
              </a:rPr>
              <a:t>openeducationresources@tea.texas.gov</a:t>
            </a:r>
            <a:r>
              <a:rPr lang="en-US" dirty="0">
                <a:solidFill>
                  <a:schemeClr val="bg2">
                    <a:lumMod val="25000"/>
                  </a:schemeClr>
                </a:solidFill>
              </a:rPr>
              <a:t>.</a:t>
            </a:r>
          </a:p>
          <a:p>
            <a:endParaRPr lang="en-US" dirty="0">
              <a:solidFill>
                <a:schemeClr val="bg2">
                  <a:lumMod val="25000"/>
                </a:schemeClr>
              </a:solidFill>
              <a:cs typeface="Calibri"/>
            </a:endParaRPr>
          </a:p>
          <a:p>
            <a:r>
              <a:rPr lang="en-US" dirty="0">
                <a:solidFill>
                  <a:schemeClr val="bg2">
                    <a:lumMod val="25000"/>
                  </a:schemeClr>
                </a:solidFill>
                <a:cs typeface="Calibri"/>
              </a:rPr>
              <a:t>Copyright ©2024 Texas Education Agency. This work based on or adapted from materials contained in Great Minds' Eureka Math® K-5 PDF files. </a:t>
            </a:r>
          </a:p>
          <a:p>
            <a:endParaRPr lang="en-US" dirty="0">
              <a:solidFill>
                <a:schemeClr val="bg2">
                  <a:lumMod val="25000"/>
                </a:schemeClr>
              </a:solidFill>
              <a:cs typeface="Calibri"/>
            </a:endParaRPr>
          </a:p>
          <a:p>
            <a:r>
              <a:rPr lang="en-US" dirty="0">
                <a:solidFill>
                  <a:schemeClr val="bg2">
                    <a:lumMod val="25000"/>
                  </a:schemeClr>
                </a:solidFill>
                <a:cs typeface="Calibri"/>
              </a:rPr>
              <a:t>These materials are made available by the Texas Education Agency under an open license. For information about the license and your rights to use the materials, visit: </a:t>
            </a:r>
            <a:r>
              <a:rPr lang="en-US" dirty="0">
                <a:solidFill>
                  <a:schemeClr val="bg2">
                    <a:lumMod val="25000"/>
                  </a:schemeClr>
                </a:solidFill>
                <a:cs typeface="Calibri"/>
                <a:hlinkClick r:id="rId4">
                  <a:extLst>
                    <a:ext uri="{A12FA001-AC4F-418D-AE19-62706E023703}">
                      <ahyp:hlinkClr xmlns:ahyp="http://schemas.microsoft.com/office/drawing/2018/hyperlinkcolor" val="tx"/>
                    </a:ext>
                  </a:extLst>
                </a:hlinkClick>
              </a:rPr>
              <a:t>https://tea.texas.gov/K-5Math</a:t>
            </a:r>
            <a:r>
              <a:rPr lang="en-US" dirty="0">
                <a:solidFill>
                  <a:schemeClr val="bg2">
                    <a:lumMod val="25000"/>
                  </a:schemeClr>
                </a:solidFill>
                <a:cs typeface="Calibri"/>
              </a:rPr>
              <a:t>. </a:t>
            </a:r>
          </a:p>
        </p:txBody>
      </p:sp>
      <p:pic>
        <p:nvPicPr>
          <p:cNvPr id="3" name="Picture 2" descr="A blue and black logo&#10;&#10;AI-generated content may be incorrect.">
            <a:extLst>
              <a:ext uri="{FF2B5EF4-FFF2-40B4-BE49-F238E27FC236}">
                <a16:creationId xmlns:a16="http://schemas.microsoft.com/office/drawing/2014/main" id="{8A2CBEDA-4313-4320-C727-637FCF5AEF98}"/>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84963" y="101527"/>
            <a:ext cx="2080268" cy="682524"/>
          </a:xfrm>
          <a:prstGeom prst="rect">
            <a:avLst/>
          </a:prstGeom>
        </p:spPr>
      </p:pic>
      <p:sp>
        <p:nvSpPr>
          <p:cNvPr id="8" name="TextBox 7">
            <a:extLst>
              <a:ext uri="{FF2B5EF4-FFF2-40B4-BE49-F238E27FC236}">
                <a16:creationId xmlns:a16="http://schemas.microsoft.com/office/drawing/2014/main" id="{AC3E9A39-7598-7D98-AC32-2789E161EFE4}"/>
              </a:ext>
            </a:extLst>
          </p:cNvPr>
          <p:cNvSpPr txBox="1"/>
          <p:nvPr userDrawn="1"/>
        </p:nvSpPr>
        <p:spPr>
          <a:xfrm>
            <a:off x="862304" y="692389"/>
            <a:ext cx="1643271" cy="267288"/>
          </a:xfrm>
          <a:prstGeom prst="rect">
            <a:avLst/>
          </a:prstGeom>
          <a:noFill/>
        </p:spPr>
        <p:txBody>
          <a:bodyPr wrap="square" rtlCol="0">
            <a:spAutoFit/>
          </a:bodyPr>
          <a:lstStyle/>
          <a:p>
            <a:pPr algn="ctr"/>
            <a:r>
              <a:rPr lang="en-US" sz="1100" b="1" dirty="0">
                <a:solidFill>
                  <a:srgbClr val="000000"/>
                </a:solidFill>
              </a:rPr>
              <a:t>Secondary Mathematics</a:t>
            </a:r>
          </a:p>
        </p:txBody>
      </p:sp>
    </p:spTree>
    <p:extLst>
      <p:ext uri="{BB962C8B-B14F-4D97-AF65-F5344CB8AC3E}">
        <p14:creationId xmlns:p14="http://schemas.microsoft.com/office/powerpoint/2010/main" val="1663740677"/>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Alg I_Activity">
    <p:bg>
      <p:bgPr>
        <a:solidFill>
          <a:schemeClr val="bg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C7DDC4C-990F-1B63-3B21-F01BAF7FCDF9}"/>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3" y="2316529"/>
            <a:ext cx="12190409" cy="2682140"/>
          </a:xfrm>
          <a:prstGeom prst="rect">
            <a:avLst/>
          </a:prstGeom>
        </p:spPr>
      </p:pic>
      <p:sp>
        <p:nvSpPr>
          <p:cNvPr id="6" name="Google Shape;61;g28e21d7ade9_0_16">
            <a:extLst>
              <a:ext uri="{FF2B5EF4-FFF2-40B4-BE49-F238E27FC236}">
                <a16:creationId xmlns:a16="http://schemas.microsoft.com/office/drawing/2014/main" id="{F6D852E4-016A-EA34-8A0F-CD386348DEB3}"/>
              </a:ext>
              <a:ext uri="{C183D7F6-B498-43B3-948B-1728B52AA6E4}">
                <adec:decorative xmlns:adec="http://schemas.microsoft.com/office/drawing/2017/decorative" val="1"/>
              </a:ext>
            </a:extLst>
          </p:cNvPr>
          <p:cNvSpPr txBox="1"/>
          <p:nvPr userDrawn="1"/>
        </p:nvSpPr>
        <p:spPr>
          <a:xfrm>
            <a:off x="3352800" y="2984501"/>
            <a:ext cx="5499100" cy="1143000"/>
          </a:xfrm>
          <a:prstGeom prst="rect">
            <a:avLst/>
          </a:prstGeom>
          <a:solidFill>
            <a:srgbClr val="0084AC"/>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endParaRPr baseline="0" dirty="0">
              <a:solidFill>
                <a:schemeClr val="bg1"/>
              </a:solidFill>
              <a:latin typeface="Calibri" panose="020F0502020204030204" pitchFamily="34" charset="0"/>
            </a:endParaRPr>
          </a:p>
        </p:txBody>
      </p:sp>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3340100" y="3136900"/>
            <a:ext cx="3302000" cy="946413"/>
          </a:xfrm>
          <a:prstGeom prst="rect">
            <a:avLst/>
          </a:prstGeom>
          <a:ln w="12700">
            <a:miter lim="400000"/>
          </a:ln>
        </p:spPr>
        <p:txBody>
          <a:bodyPr wrap="square" lIns="0" tIns="0" rIns="0" bIns="0">
            <a:sp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r"/>
            <a:r>
              <a:rPr lang="en-US" baseline="0" dirty="0">
                <a:solidFill>
                  <a:schemeClr val="bg1"/>
                </a:solidFill>
                <a:latin typeface="Calibri" panose="020F0502020204030204" pitchFamily="34" charset="0"/>
              </a:rPr>
              <a:t>Activity </a:t>
            </a:r>
            <a:endParaRPr baseline="0" dirty="0">
              <a:solidFill>
                <a:schemeClr val="bg1"/>
              </a:solidFill>
              <a:latin typeface="Calibri" panose="020F0502020204030204" pitchFamily="34" charset="0"/>
            </a:endParaRPr>
          </a:p>
        </p:txBody>
      </p:sp>
      <p:sp>
        <p:nvSpPr>
          <p:cNvPr id="7" name="Text Placeholder 6">
            <a:extLst>
              <a:ext uri="{FF2B5EF4-FFF2-40B4-BE49-F238E27FC236}">
                <a16:creationId xmlns:a16="http://schemas.microsoft.com/office/drawing/2014/main" id="{D2068F8D-A07F-AA10-7BDF-A0C4AF8C7BFF}"/>
              </a:ext>
            </a:extLst>
          </p:cNvPr>
          <p:cNvSpPr>
            <a:spLocks noGrp="1"/>
          </p:cNvSpPr>
          <p:nvPr>
            <p:ph type="body" sz="quarter" idx="11" hasCustomPrompt="1"/>
          </p:nvPr>
        </p:nvSpPr>
        <p:spPr>
          <a:xfrm>
            <a:off x="6769100" y="2957776"/>
            <a:ext cx="2025986" cy="1125537"/>
          </a:xfrm>
          <a:prstGeom prst="rect">
            <a:avLst/>
          </a:prstGeom>
        </p:spPr>
        <p:txBody>
          <a:bodyPr/>
          <a:lstStyle>
            <a:lvl1pPr marL="0" indent="0" algn="l">
              <a:buNone/>
              <a:defRPr sz="7500" b="1">
                <a:solidFill>
                  <a:schemeClr val="bg1"/>
                </a:solidFill>
                <a:latin typeface="Calibri" panose="020F0502020204030204" pitchFamily="34" charset="0"/>
                <a:ea typeface="Calibri" panose="020F0502020204030204" pitchFamily="34" charset="0"/>
                <a:cs typeface="Calibri" panose="020F0502020204030204" pitchFamily="34" charset="0"/>
              </a:defRPr>
            </a:lvl1pPr>
          </a:lstStyle>
          <a:p>
            <a:pPr lvl="0"/>
            <a:r>
              <a:rPr lang="en-US" dirty="0"/>
              <a:t>##</a:t>
            </a:r>
          </a:p>
        </p:txBody>
      </p:sp>
      <p:pic>
        <p:nvPicPr>
          <p:cNvPr id="4" name="Picture 3" descr="A black and white image of a stopwatch&#10;&#10;Description automatically generated">
            <a:extLst>
              <a:ext uri="{FF2B5EF4-FFF2-40B4-BE49-F238E27FC236}">
                <a16:creationId xmlns:a16="http://schemas.microsoft.com/office/drawing/2014/main" id="{D534F636-9377-D630-3F35-5D038B245C6E}"/>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585174" y="5576768"/>
            <a:ext cx="1746598" cy="1130153"/>
          </a:xfrm>
          <a:prstGeom prst="rect">
            <a:avLst/>
          </a:prstGeom>
        </p:spPr>
      </p:pic>
      <p:sp>
        <p:nvSpPr>
          <p:cNvPr id="11" name="Text Placeholder 10">
            <a:extLst>
              <a:ext uri="{FF2B5EF4-FFF2-40B4-BE49-F238E27FC236}">
                <a16:creationId xmlns:a16="http://schemas.microsoft.com/office/drawing/2014/main" id="{DAE8B7F8-6AC2-B8A4-640E-8FE90B678918}"/>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dirty="0"/>
              <a:t>x</a:t>
            </a:r>
          </a:p>
        </p:txBody>
      </p:sp>
    </p:spTree>
    <p:extLst>
      <p:ext uri="{BB962C8B-B14F-4D97-AF65-F5344CB8AC3E}">
        <p14:creationId xmlns:p14="http://schemas.microsoft.com/office/powerpoint/2010/main" val="348514393"/>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Alg I_Talk the Talk">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401893B-1034-6084-9BBE-7D15B94B1E1D}"/>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3" y="2316529"/>
            <a:ext cx="12190409" cy="2682140"/>
          </a:xfrm>
          <a:prstGeom prst="rect">
            <a:avLst/>
          </a:prstGeom>
        </p:spPr>
      </p:pic>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3352800" y="2984501"/>
            <a:ext cx="5499100" cy="1143000"/>
          </a:xfrm>
          <a:prstGeom prst="rect">
            <a:avLst/>
          </a:prstGeom>
          <a:solidFill>
            <a:srgbClr val="0084AC"/>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dirty="0">
                <a:solidFill>
                  <a:schemeClr val="bg1"/>
                </a:solidFill>
                <a:latin typeface="Calibri" panose="020F0502020204030204" pitchFamily="34" charset="0"/>
              </a:rPr>
              <a:t>Talk the Talk</a:t>
            </a:r>
            <a:endParaRPr baseline="0" dirty="0">
              <a:solidFill>
                <a:schemeClr val="bg1"/>
              </a:solidFill>
              <a:latin typeface="Calibri" panose="020F0502020204030204" pitchFamily="34" charset="0"/>
            </a:endParaRPr>
          </a:p>
        </p:txBody>
      </p:sp>
      <p:pic>
        <p:nvPicPr>
          <p:cNvPr id="10" name="Picture 9" descr="A black and white image of a stopwatch&#10;&#10;Description automatically generated">
            <a:extLst>
              <a:ext uri="{FF2B5EF4-FFF2-40B4-BE49-F238E27FC236}">
                <a16:creationId xmlns:a16="http://schemas.microsoft.com/office/drawing/2014/main" id="{CE73D4F7-C35E-90BA-B80C-E6CB2DC880F5}"/>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585174" y="5576768"/>
            <a:ext cx="1746598" cy="1130153"/>
          </a:xfrm>
          <a:prstGeom prst="rect">
            <a:avLst/>
          </a:prstGeom>
        </p:spPr>
      </p:pic>
      <p:sp>
        <p:nvSpPr>
          <p:cNvPr id="11" name="Text Placeholder 10">
            <a:extLst>
              <a:ext uri="{FF2B5EF4-FFF2-40B4-BE49-F238E27FC236}">
                <a16:creationId xmlns:a16="http://schemas.microsoft.com/office/drawing/2014/main" id="{1AA23D1B-1B3F-0CA6-C43C-BA9AEE12E5DF}"/>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dirty="0"/>
              <a:t>x</a:t>
            </a:r>
          </a:p>
        </p:txBody>
      </p:sp>
    </p:spTree>
    <p:extLst>
      <p:ext uri="{BB962C8B-B14F-4D97-AF65-F5344CB8AC3E}">
        <p14:creationId xmlns:p14="http://schemas.microsoft.com/office/powerpoint/2010/main" val="2167221881"/>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Alg I_Getting Started">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CF9BCCF-AB16-EB3C-7687-F7D6FB68E7AD}"/>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3" y="2316529"/>
            <a:ext cx="12190409" cy="2682140"/>
          </a:xfrm>
          <a:prstGeom prst="rect">
            <a:avLst/>
          </a:prstGeom>
        </p:spPr>
      </p:pic>
      <p:sp>
        <p:nvSpPr>
          <p:cNvPr id="6" name="Google Shape;61;g28e21d7ade9_0_16" descr="A green and black pattern&#10;&#10;AI-generated content may be incorrect.">
            <a:extLst>
              <a:ext uri="{FF2B5EF4-FFF2-40B4-BE49-F238E27FC236}">
                <a16:creationId xmlns:a16="http://schemas.microsoft.com/office/drawing/2014/main" id="{C2C1BA0A-E3ED-D685-26AE-3EC8940B8BC7}"/>
              </a:ext>
              <a:ext uri="{C183D7F6-B498-43B3-948B-1728B52AA6E4}">
                <adec:decorative xmlns:adec="http://schemas.microsoft.com/office/drawing/2017/decorative" val="0"/>
              </a:ext>
            </a:extLst>
          </p:cNvPr>
          <p:cNvSpPr txBox="1"/>
          <p:nvPr userDrawn="1"/>
        </p:nvSpPr>
        <p:spPr>
          <a:xfrm>
            <a:off x="2767915" y="2984501"/>
            <a:ext cx="6660292" cy="1143000"/>
          </a:xfrm>
          <a:prstGeom prst="rect">
            <a:avLst/>
          </a:prstGeom>
          <a:solidFill>
            <a:srgbClr val="0084AC"/>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dirty="0">
                <a:solidFill>
                  <a:schemeClr val="bg1"/>
                </a:solidFill>
                <a:latin typeface="Calibri" panose="020F0502020204030204" pitchFamily="34" charset="0"/>
              </a:rPr>
              <a:t>Getting Started</a:t>
            </a:r>
            <a:endParaRPr baseline="0" dirty="0">
              <a:solidFill>
                <a:schemeClr val="bg1"/>
              </a:solidFill>
              <a:latin typeface="Calibri" panose="020F0502020204030204" pitchFamily="34" charset="0"/>
            </a:endParaRPr>
          </a:p>
        </p:txBody>
      </p:sp>
      <p:pic>
        <p:nvPicPr>
          <p:cNvPr id="8" name="Picture 7" descr="A black and white image of a stopwatch&#10;&#10;Description automatically generated">
            <a:extLst>
              <a:ext uri="{FF2B5EF4-FFF2-40B4-BE49-F238E27FC236}">
                <a16:creationId xmlns:a16="http://schemas.microsoft.com/office/drawing/2014/main" id="{D0B206A4-53F8-1A55-3AAC-FA344E665088}"/>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585174" y="5576768"/>
            <a:ext cx="1746598" cy="1130153"/>
          </a:xfrm>
          <a:prstGeom prst="rect">
            <a:avLst/>
          </a:prstGeom>
        </p:spPr>
      </p:pic>
      <p:sp>
        <p:nvSpPr>
          <p:cNvPr id="9" name="Text Placeholder 10">
            <a:extLst>
              <a:ext uri="{FF2B5EF4-FFF2-40B4-BE49-F238E27FC236}">
                <a16:creationId xmlns:a16="http://schemas.microsoft.com/office/drawing/2014/main" id="{B0FE485E-9F70-BE82-8FD9-400E2BFB5CAC}"/>
              </a:ext>
            </a:extLst>
          </p:cNvPr>
          <p:cNvSpPr>
            <a:spLocks noGrp="1"/>
          </p:cNvSpPr>
          <p:nvPr>
            <p:ph type="body" sz="quarter" idx="12" hasCustomPrompt="1"/>
          </p:nvPr>
        </p:nvSpPr>
        <p:spPr>
          <a:xfrm>
            <a:off x="10614990" y="5814529"/>
            <a:ext cx="863947" cy="795338"/>
          </a:xfrm>
          <a:prstGeom prst="rect">
            <a:avLst/>
          </a:prstGeom>
        </p:spPr>
        <p:txBody>
          <a:bodyPr anchor="ctr"/>
          <a:lstStyle>
            <a:lvl1pPr marL="0" indent="0" algn="ctr">
              <a:buNone/>
              <a:defRPr sz="2000">
                <a:solidFill>
                  <a:schemeClr val="bg2">
                    <a:lumMod val="10000"/>
                  </a:schemeClr>
                </a:solidFill>
              </a:defRPr>
            </a:lvl1pPr>
            <a:lvl2pPr marL="457200" indent="0" algn="ctr">
              <a:buNone/>
              <a:defRPr sz="2000">
                <a:solidFill>
                  <a:schemeClr val="bg2">
                    <a:lumMod val="10000"/>
                  </a:schemeClr>
                </a:solidFill>
              </a:defRPr>
            </a:lvl2pPr>
            <a:lvl3pPr marL="914400" indent="0" algn="ctr">
              <a:buNone/>
              <a:defRPr sz="2000">
                <a:solidFill>
                  <a:schemeClr val="bg2">
                    <a:lumMod val="10000"/>
                  </a:schemeClr>
                </a:solidFill>
              </a:defRPr>
            </a:lvl3pPr>
            <a:lvl4pPr marL="1371600" indent="0" algn="ctr">
              <a:buNone/>
              <a:defRPr sz="2000">
                <a:solidFill>
                  <a:schemeClr val="bg2">
                    <a:lumMod val="10000"/>
                  </a:schemeClr>
                </a:solidFill>
              </a:defRPr>
            </a:lvl4pPr>
            <a:lvl5pPr marL="1828800" indent="0" algn="ctr">
              <a:buNone/>
              <a:defRPr sz="2000">
                <a:solidFill>
                  <a:schemeClr val="bg2">
                    <a:lumMod val="10000"/>
                  </a:schemeClr>
                </a:solidFill>
              </a:defRPr>
            </a:lvl5pPr>
          </a:lstStyle>
          <a:p>
            <a:pPr lvl="0"/>
            <a:r>
              <a:rPr lang="en-US" dirty="0"/>
              <a:t>x</a:t>
            </a:r>
          </a:p>
        </p:txBody>
      </p:sp>
    </p:spTree>
    <p:extLst>
      <p:ext uri="{BB962C8B-B14F-4D97-AF65-F5344CB8AC3E}">
        <p14:creationId xmlns:p14="http://schemas.microsoft.com/office/powerpoint/2010/main" val="790280880"/>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1_Alg I_Getting Started">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771D682-097A-FF63-0838-13F3C038ED8F}"/>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3" y="2316529"/>
            <a:ext cx="12190409" cy="2682140"/>
          </a:xfrm>
          <a:prstGeom prst="rect">
            <a:avLst/>
          </a:prstGeom>
        </p:spPr>
      </p:pic>
      <p:sp>
        <p:nvSpPr>
          <p:cNvPr id="6" name="Google Shape;61;g28e21d7ade9_0_16" descr="A green and black pattern&#10;&#10;AI-generated content may be incorrect.">
            <a:extLst>
              <a:ext uri="{FF2B5EF4-FFF2-40B4-BE49-F238E27FC236}">
                <a16:creationId xmlns:a16="http://schemas.microsoft.com/office/drawing/2014/main" id="{C2C1BA0A-E3ED-D685-26AE-3EC8940B8BC7}"/>
              </a:ext>
              <a:ext uri="{C183D7F6-B498-43B3-948B-1728B52AA6E4}">
                <adec:decorative xmlns:adec="http://schemas.microsoft.com/office/drawing/2017/decorative" val="0"/>
              </a:ext>
            </a:extLst>
          </p:cNvPr>
          <p:cNvSpPr txBox="1"/>
          <p:nvPr userDrawn="1"/>
        </p:nvSpPr>
        <p:spPr>
          <a:xfrm>
            <a:off x="3866323" y="2984501"/>
            <a:ext cx="4432852" cy="1143000"/>
          </a:xfrm>
          <a:prstGeom prst="rect">
            <a:avLst/>
          </a:prstGeom>
          <a:solidFill>
            <a:srgbClr val="0084AC"/>
          </a:solidFill>
          <a:ln w="12700">
            <a:miter lim="400000"/>
          </a:ln>
        </p:spPr>
        <p:txBody>
          <a:bodyPr wrap="square" lIns="0" tIns="0" rIns="0" bIns="0" anchor="b" anchorCtr="0">
            <a:no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pPr algn="ctr"/>
            <a:r>
              <a:rPr lang="en-US" baseline="0" dirty="0">
                <a:solidFill>
                  <a:schemeClr val="bg1"/>
                </a:solidFill>
                <a:latin typeface="Calibri" panose="020F0502020204030204" pitchFamily="34" charset="0"/>
              </a:rPr>
              <a:t>Prepare</a:t>
            </a:r>
            <a:endParaRPr baseline="0" dirty="0">
              <a:solidFill>
                <a:schemeClr val="bg1"/>
              </a:solidFill>
              <a:latin typeface="Calibri" panose="020F0502020204030204" pitchFamily="34" charset="0"/>
            </a:endParaRPr>
          </a:p>
        </p:txBody>
      </p:sp>
    </p:spTree>
    <p:extLst>
      <p:ext uri="{BB962C8B-B14F-4D97-AF65-F5344CB8AC3E}">
        <p14:creationId xmlns:p14="http://schemas.microsoft.com/office/powerpoint/2010/main" val="3688723455"/>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Alg I_Session Divider">
    <p:bg>
      <p:bgPr>
        <a:solidFill>
          <a:schemeClr val="bg1"/>
        </a:solidFill>
        <a:effectLst/>
      </p:bgPr>
    </p:bg>
    <p:spTree>
      <p:nvGrpSpPr>
        <p:cNvPr id="1" name=""/>
        <p:cNvGrpSpPr/>
        <p:nvPr/>
      </p:nvGrpSpPr>
      <p:grpSpPr>
        <a:xfrm>
          <a:off x="0" y="0"/>
          <a:ext cx="0" cy="0"/>
          <a:chOff x="0" y="0"/>
          <a:chExt cx="0" cy="0"/>
        </a:xfrm>
      </p:grpSpPr>
      <p:sp>
        <p:nvSpPr>
          <p:cNvPr id="3" name="Google Shape;61;g28e21d7ade9_0_16">
            <a:extLst>
              <a:ext uri="{FF2B5EF4-FFF2-40B4-BE49-F238E27FC236}">
                <a16:creationId xmlns:a16="http://schemas.microsoft.com/office/drawing/2014/main" id="{C468208C-9EFA-7DAE-9428-FDDC1F6DDA5F}"/>
              </a:ext>
            </a:extLst>
          </p:cNvPr>
          <p:cNvSpPr txBox="1"/>
          <p:nvPr userDrawn="1"/>
        </p:nvSpPr>
        <p:spPr>
          <a:xfrm>
            <a:off x="4918157" y="2955793"/>
            <a:ext cx="1512037" cy="946413"/>
          </a:xfrm>
          <a:prstGeom prst="rect">
            <a:avLst/>
          </a:prstGeom>
          <a:ln w="12700">
            <a:miter lim="400000"/>
          </a:ln>
        </p:spPr>
        <p:txBody>
          <a:bodyPr wrap="square" lIns="0" tIns="0" rIns="0" bIns="0">
            <a:spAutoFit/>
          </a:bodyPr>
          <a:lstStyle>
            <a:lvl1pPr>
              <a:lnSpc>
                <a:spcPct val="80000"/>
              </a:lnSpc>
              <a:defRPr sz="7500" b="1">
                <a:solidFill>
                  <a:srgbClr val="242D60"/>
                </a:solidFill>
                <a:latin typeface="Century Gothic" panose="020B0502020202020204"/>
                <a:ea typeface="Century Gothic" panose="020B0502020202020204"/>
                <a:cs typeface="Century Gothic" panose="020B0502020202020204"/>
                <a:sym typeface="Century Gothic" panose="020B0502020202020204"/>
              </a:defRPr>
            </a:lvl1pPr>
          </a:lstStyle>
          <a:p>
            <a:r>
              <a:rPr lang="en-US" baseline="0" dirty="0">
                <a:solidFill>
                  <a:schemeClr val="bg2">
                    <a:lumMod val="10000"/>
                  </a:schemeClr>
                </a:solidFill>
                <a:latin typeface="Calibri" panose="020F0502020204030204" pitchFamily="34" charset="0"/>
              </a:rPr>
              <a:t>Day</a:t>
            </a:r>
            <a:endParaRPr baseline="0" dirty="0">
              <a:solidFill>
                <a:schemeClr val="bg2">
                  <a:lumMod val="10000"/>
                </a:schemeClr>
              </a:solidFill>
              <a:latin typeface="Calibri" panose="020F0502020204030204" pitchFamily="34" charset="0"/>
            </a:endParaRPr>
          </a:p>
        </p:txBody>
      </p:sp>
      <p:sp>
        <p:nvSpPr>
          <p:cNvPr id="6" name="Text Placeholder 5">
            <a:extLst>
              <a:ext uri="{FF2B5EF4-FFF2-40B4-BE49-F238E27FC236}">
                <a16:creationId xmlns:a16="http://schemas.microsoft.com/office/drawing/2014/main" id="{387DC733-57F9-7B5A-186D-1BA8C44555D4}"/>
              </a:ext>
            </a:extLst>
          </p:cNvPr>
          <p:cNvSpPr>
            <a:spLocks noGrp="1"/>
          </p:cNvSpPr>
          <p:nvPr>
            <p:ph type="body" sz="quarter" idx="11" hasCustomPrompt="1"/>
          </p:nvPr>
        </p:nvSpPr>
        <p:spPr>
          <a:xfrm>
            <a:off x="5578106" y="2843523"/>
            <a:ext cx="1061883" cy="1071562"/>
          </a:xfrm>
          <a:prstGeom prst="rect">
            <a:avLst/>
          </a:prstGeom>
        </p:spPr>
        <p:txBody>
          <a:bodyPr/>
          <a:lstStyle>
            <a:lvl5pPr marL="1828800" indent="0" algn="ctr">
              <a:buNone/>
              <a:defRPr sz="7500" b="1">
                <a:solidFill>
                  <a:srgbClr val="000000"/>
                </a:solidFill>
                <a:latin typeface="Calibri" panose="020F0502020204030204" pitchFamily="34" charset="0"/>
                <a:ea typeface="Calibri" panose="020F0502020204030204" pitchFamily="34" charset="0"/>
                <a:cs typeface="Calibri" panose="020F0502020204030204" pitchFamily="34" charset="0"/>
              </a:defRPr>
            </a:lvl5pPr>
          </a:lstStyle>
          <a:p>
            <a:pPr lvl="4"/>
            <a:r>
              <a:rPr lang="en-US" dirty="0"/>
              <a:t>#</a:t>
            </a:r>
          </a:p>
        </p:txBody>
      </p:sp>
      <p:pic>
        <p:nvPicPr>
          <p:cNvPr id="4" name="Picture 3">
            <a:extLst>
              <a:ext uri="{FF2B5EF4-FFF2-40B4-BE49-F238E27FC236}">
                <a16:creationId xmlns:a16="http://schemas.microsoft.com/office/drawing/2014/main" id="{2AF4CA13-B3B2-4BA4-7193-B4133FC2D709}"/>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2" y="4663225"/>
            <a:ext cx="12190407" cy="2194774"/>
          </a:xfrm>
          <a:prstGeom prst="rect">
            <a:avLst/>
          </a:prstGeom>
        </p:spPr>
      </p:pic>
      <p:pic>
        <p:nvPicPr>
          <p:cNvPr id="7" name="Picture 6">
            <a:extLst>
              <a:ext uri="{FF2B5EF4-FFF2-40B4-BE49-F238E27FC236}">
                <a16:creationId xmlns:a16="http://schemas.microsoft.com/office/drawing/2014/main" id="{7B57EC7F-8C07-36E7-51B3-4FA22CB8F052}"/>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rot="10800000">
            <a:off x="-791" y="0"/>
            <a:ext cx="12190407" cy="2194774"/>
          </a:xfrm>
          <a:prstGeom prst="rect">
            <a:avLst/>
          </a:prstGeom>
        </p:spPr>
      </p:pic>
    </p:spTree>
    <p:extLst>
      <p:ext uri="{BB962C8B-B14F-4D97-AF65-F5344CB8AC3E}">
        <p14:creationId xmlns:p14="http://schemas.microsoft.com/office/powerpoint/2010/main" val="1648889569"/>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Alg I_Cutouts Divider">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0DF6CF-F4AD-69B3-86F7-6B8955E3F2B1}"/>
              </a:ext>
            </a:extLst>
          </p:cNvPr>
          <p:cNvSpPr>
            <a:spLocks noGrp="1"/>
          </p:cNvSpPr>
          <p:nvPr>
            <p:ph type="body" sz="quarter" idx="10"/>
          </p:nvPr>
        </p:nvSpPr>
        <p:spPr>
          <a:xfrm>
            <a:off x="5171005" y="2395538"/>
            <a:ext cx="1848402" cy="1033462"/>
          </a:xfrm>
          <a:prstGeom prst="rect">
            <a:avLst/>
          </a:prstGeom>
        </p:spPr>
        <p:txBody>
          <a:bodyPr/>
          <a:lstStyle>
            <a:lvl1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1pPr>
            <a:lvl2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2pPr>
            <a:lvl3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3pPr>
            <a:lvl4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4pPr>
            <a:lvl5pPr>
              <a:defRPr sz="7500" b="1">
                <a:solidFill>
                  <a:schemeClr val="bg2">
                    <a:lumMod val="25000"/>
                  </a:schemeClr>
                </a:solidFill>
                <a:latin typeface="Calibri" panose="020F0502020204030204" pitchFamily="34" charset="0"/>
                <a:ea typeface="Calibri" panose="020F0502020204030204" pitchFamily="34" charset="0"/>
                <a:cs typeface="Calibri" panose="020F0502020204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 name="Picture 1">
            <a:extLst>
              <a:ext uri="{FF2B5EF4-FFF2-40B4-BE49-F238E27FC236}">
                <a16:creationId xmlns:a16="http://schemas.microsoft.com/office/drawing/2014/main" id="{2F258156-D89E-4D80-5BE1-77691C6E7C97}"/>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2" y="4663225"/>
            <a:ext cx="12190407" cy="2194774"/>
          </a:xfrm>
          <a:prstGeom prst="rect">
            <a:avLst/>
          </a:prstGeom>
        </p:spPr>
      </p:pic>
    </p:spTree>
    <p:extLst>
      <p:ext uri="{BB962C8B-B14F-4D97-AF65-F5344CB8AC3E}">
        <p14:creationId xmlns:p14="http://schemas.microsoft.com/office/powerpoint/2010/main" val="1231675931"/>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Alg I_Back Cover">
    <p:bg>
      <p:bgPr>
        <a:solidFill>
          <a:schemeClr val="bg1"/>
        </a:solid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9C323EF9-0FCF-481F-97C8-ABBEA6C0F486}"/>
              </a:ext>
            </a:extLst>
          </p:cNvPr>
          <p:cNvSpPr>
            <a:spLocks noGrp="1"/>
          </p:cNvSpPr>
          <p:nvPr>
            <p:ph type="body" sz="quarter" idx="10" hasCustomPrompt="1"/>
          </p:nvPr>
        </p:nvSpPr>
        <p:spPr>
          <a:xfrm>
            <a:off x="8155889" y="4975063"/>
            <a:ext cx="3431356" cy="414778"/>
          </a:xfrm>
          <a:prstGeom prst="rect">
            <a:avLst/>
          </a:prstGeom>
          <a:solidFill>
            <a:srgbClr val="61449B"/>
          </a:solidFill>
        </p:spPr>
        <p:txBody>
          <a:bodyPr lIns="0" rIns="0" anchor="ctr"/>
          <a:lstStyle>
            <a:lvl1pPr marL="0" indent="0" algn="ctr">
              <a:buNone/>
              <a:defRPr sz="1800">
                <a:solidFill>
                  <a:schemeClr val="bg1"/>
                </a:solidFill>
              </a:defRPr>
            </a:lvl1pPr>
            <a:lvl4pPr marL="1371600" indent="0">
              <a:buNone/>
              <a:defRPr/>
            </a:lvl4pPr>
          </a:lstStyle>
          <a:p>
            <a:pPr lvl="0"/>
            <a:r>
              <a:rPr lang="en-US" dirty="0"/>
              <a:t>UNIQUE ID</a:t>
            </a:r>
          </a:p>
        </p:txBody>
      </p:sp>
      <p:grpSp>
        <p:nvGrpSpPr>
          <p:cNvPr id="5" name="Group 4">
            <a:extLst>
              <a:ext uri="{FF2B5EF4-FFF2-40B4-BE49-F238E27FC236}">
                <a16:creationId xmlns:a16="http://schemas.microsoft.com/office/drawing/2014/main" id="{CB4B7E3B-5741-B70F-3A0A-3E11BCF38FEB}"/>
              </a:ext>
            </a:extLst>
          </p:cNvPr>
          <p:cNvGrpSpPr/>
          <p:nvPr userDrawn="1"/>
        </p:nvGrpSpPr>
        <p:grpSpPr>
          <a:xfrm>
            <a:off x="9053008" y="227306"/>
            <a:ext cx="2910578" cy="1472169"/>
            <a:chOff x="8940726" y="132485"/>
            <a:chExt cx="2910578" cy="1472169"/>
          </a:xfrm>
        </p:grpSpPr>
        <p:pic>
          <p:nvPicPr>
            <p:cNvPr id="6" name="Picture 5" descr="A blue and black logo&#10;&#10;AI-generated content may be incorrect.">
              <a:extLst>
                <a:ext uri="{FF2B5EF4-FFF2-40B4-BE49-F238E27FC236}">
                  <a16:creationId xmlns:a16="http://schemas.microsoft.com/office/drawing/2014/main" id="{E7939853-80EF-C461-0365-6353B33278A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940726" y="132485"/>
              <a:ext cx="2910578" cy="954944"/>
            </a:xfrm>
            <a:prstGeom prst="rect">
              <a:avLst/>
            </a:prstGeom>
          </p:spPr>
        </p:pic>
        <p:sp>
          <p:nvSpPr>
            <p:cNvPr id="7" name="TextBox 6">
              <a:extLst>
                <a:ext uri="{FF2B5EF4-FFF2-40B4-BE49-F238E27FC236}">
                  <a16:creationId xmlns:a16="http://schemas.microsoft.com/office/drawing/2014/main" id="{580B98D7-A8B1-479E-0522-2C0BC59CE093}"/>
                </a:ext>
              </a:extLst>
            </p:cNvPr>
            <p:cNvSpPr txBox="1"/>
            <p:nvPr userDrawn="1"/>
          </p:nvSpPr>
          <p:spPr>
            <a:xfrm>
              <a:off x="10111407" y="1007699"/>
              <a:ext cx="1643271" cy="267288"/>
            </a:xfrm>
            <a:prstGeom prst="rect">
              <a:avLst/>
            </a:prstGeom>
            <a:noFill/>
          </p:spPr>
          <p:txBody>
            <a:bodyPr wrap="square" rtlCol="0">
              <a:spAutoFit/>
            </a:bodyPr>
            <a:lstStyle/>
            <a:p>
              <a:pPr algn="ctr"/>
              <a:r>
                <a:rPr lang="en-US" sz="1100" b="1" dirty="0">
                  <a:solidFill>
                    <a:srgbClr val="000000"/>
                  </a:solidFill>
                </a:rPr>
                <a:t>Secondary Mathematics</a:t>
              </a:r>
            </a:p>
          </p:txBody>
        </p:sp>
        <p:sp>
          <p:nvSpPr>
            <p:cNvPr id="8" name="Rounded Rectangle 7">
              <a:extLst>
                <a:ext uri="{FF2B5EF4-FFF2-40B4-BE49-F238E27FC236}">
                  <a16:creationId xmlns:a16="http://schemas.microsoft.com/office/drawing/2014/main" id="{DAAFCF8B-077A-7325-2A07-02B9BADACB35}"/>
                </a:ext>
              </a:extLst>
            </p:cNvPr>
            <p:cNvSpPr/>
            <p:nvPr userDrawn="1"/>
          </p:nvSpPr>
          <p:spPr>
            <a:xfrm>
              <a:off x="10236991" y="1306046"/>
              <a:ext cx="907774" cy="298608"/>
            </a:xfrm>
            <a:prstGeom prst="round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A4C6EED1-1022-7E70-EA88-6CC6F479360D}"/>
                </a:ext>
              </a:extLst>
            </p:cNvPr>
            <p:cNvSpPr txBox="1"/>
            <p:nvPr userDrawn="1"/>
          </p:nvSpPr>
          <p:spPr>
            <a:xfrm>
              <a:off x="10252484" y="1335768"/>
              <a:ext cx="868018" cy="237827"/>
            </a:xfrm>
            <a:prstGeom prst="rect">
              <a:avLst/>
            </a:prstGeom>
            <a:noFill/>
          </p:spPr>
          <p:txBody>
            <a:bodyPr wrap="square" rtlCol="0">
              <a:spAutoFit/>
            </a:bodyPr>
            <a:lstStyle/>
            <a:p>
              <a:pPr algn="ctr"/>
              <a:r>
                <a:rPr lang="en-US" sz="1100" b="1" i="0" dirty="0">
                  <a:solidFill>
                    <a:schemeClr val="bg2">
                      <a:lumMod val="50000"/>
                    </a:schemeClr>
                  </a:solidFill>
                  <a:latin typeface="Calibri" panose="020F0502020204030204" pitchFamily="34" charset="0"/>
                  <a:cs typeface="Calibri" panose="020F0502020204030204" pitchFamily="34" charset="0"/>
                </a:rPr>
                <a:t>EDITION 1</a:t>
              </a:r>
            </a:p>
          </p:txBody>
        </p:sp>
      </p:grpSp>
      <p:sp>
        <p:nvSpPr>
          <p:cNvPr id="10" name="Round Single Corner Rectangle 9">
            <a:extLst>
              <a:ext uri="{FF2B5EF4-FFF2-40B4-BE49-F238E27FC236}">
                <a16:creationId xmlns:a16="http://schemas.microsoft.com/office/drawing/2014/main" id="{93823D53-B128-B4F8-9323-2DE21A5AC48C}"/>
              </a:ext>
            </a:extLst>
          </p:cNvPr>
          <p:cNvSpPr/>
          <p:nvPr userDrawn="1"/>
        </p:nvSpPr>
        <p:spPr>
          <a:xfrm rot="10800000" flipH="1">
            <a:off x="0" y="0"/>
            <a:ext cx="2467555" cy="954942"/>
          </a:xfrm>
          <a:prstGeom prst="round1Rect">
            <a:avLst/>
          </a:prstGeom>
          <a:solidFill>
            <a:srgbClr val="0084A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61ED4D92-107A-5626-60FD-8669F753FD4A}"/>
              </a:ext>
            </a:extLst>
          </p:cNvPr>
          <p:cNvSpPr txBox="1"/>
          <p:nvPr userDrawn="1"/>
        </p:nvSpPr>
        <p:spPr>
          <a:xfrm>
            <a:off x="0" y="280732"/>
            <a:ext cx="2467555" cy="461665"/>
          </a:xfrm>
          <a:prstGeom prst="rect">
            <a:avLst/>
          </a:prstGeom>
          <a:noFill/>
        </p:spPr>
        <p:txBody>
          <a:bodyPr wrap="square" rtlCol="0">
            <a:spAutoFit/>
          </a:bodyPr>
          <a:lstStyle/>
          <a:p>
            <a:pPr algn="ctr"/>
            <a:r>
              <a:rPr lang="en-US" sz="2400" dirty="0">
                <a:solidFill>
                  <a:schemeClr val="bg1"/>
                </a:solidFill>
              </a:rPr>
              <a:t>ENGLISH</a:t>
            </a:r>
          </a:p>
        </p:txBody>
      </p:sp>
      <p:pic>
        <p:nvPicPr>
          <p:cNvPr id="2" name="Picture 1">
            <a:extLst>
              <a:ext uri="{FF2B5EF4-FFF2-40B4-BE49-F238E27FC236}">
                <a16:creationId xmlns:a16="http://schemas.microsoft.com/office/drawing/2014/main" id="{54470327-EAA5-821F-E3D6-48241C357F0D}"/>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2" y="4663225"/>
            <a:ext cx="12190407" cy="2194774"/>
          </a:xfrm>
          <a:prstGeom prst="rect">
            <a:avLst/>
          </a:prstGeom>
        </p:spPr>
      </p:pic>
    </p:spTree>
    <p:extLst>
      <p:ext uri="{BB962C8B-B14F-4D97-AF65-F5344CB8AC3E}">
        <p14:creationId xmlns:p14="http://schemas.microsoft.com/office/powerpoint/2010/main" val="2613188992"/>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Objectiv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1829944-32A0-A52A-BF8F-4735C4809687}"/>
              </a:ext>
            </a:extLst>
          </p:cNvPr>
          <p:cNvSpPr/>
          <p:nvPr userDrawn="1"/>
        </p:nvSpPr>
        <p:spPr>
          <a:xfrm>
            <a:off x="-1586" y="1392600"/>
            <a:ext cx="12192000" cy="549097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a:extLst>
              <a:ext uri="{FF2B5EF4-FFF2-40B4-BE49-F238E27FC236}">
                <a16:creationId xmlns:a16="http://schemas.microsoft.com/office/drawing/2014/main" id="{D79E0344-0011-1E90-A995-632330E63EB5}"/>
              </a:ext>
            </a:extLst>
          </p:cNvPr>
          <p:cNvSpPr>
            <a:spLocks noGrp="1"/>
          </p:cNvSpPr>
          <p:nvPr>
            <p:ph type="body" sz="quarter" idx="10"/>
          </p:nvPr>
        </p:nvSpPr>
        <p:spPr>
          <a:xfrm>
            <a:off x="836614" y="2159879"/>
            <a:ext cx="10515599" cy="3956418"/>
          </a:xfrm>
          <a:prstGeom prst="rect">
            <a:avLst/>
          </a:prstGeom>
        </p:spPr>
        <p:txBody>
          <a:bodyPr/>
          <a:lstStyle>
            <a:lvl1pPr marL="0" indent="0" algn="ctr">
              <a:buNone/>
              <a:defRPr sz="4400">
                <a:solidFill>
                  <a:schemeClr val="bg2">
                    <a:lumMod val="25000"/>
                  </a:schemeClr>
                </a:solidFill>
              </a:defRPr>
            </a:lvl1pPr>
            <a:lvl2pPr marL="457200" indent="0" algn="ctr">
              <a:buNone/>
              <a:defRPr sz="4400"/>
            </a:lvl2pPr>
            <a:lvl3pPr marL="914400" indent="0" algn="ctr">
              <a:buNone/>
              <a:defRPr sz="4400"/>
            </a:lvl3pPr>
            <a:lvl4pPr marL="1371600" indent="0" algn="ctr">
              <a:buNone/>
              <a:defRPr sz="4400"/>
            </a:lvl4pPr>
            <a:lvl5pPr marL="1828800" indent="0" algn="ctr">
              <a:buNone/>
              <a:defRPr sz="4400"/>
            </a:lvl5pPr>
          </a:lstStyle>
          <a:p>
            <a:pPr lvl="0"/>
            <a:r>
              <a:rPr lang="en-US" dirty="0"/>
              <a:t>Click to edit Master text styles</a:t>
            </a:r>
          </a:p>
        </p:txBody>
      </p:sp>
      <p:sp>
        <p:nvSpPr>
          <p:cNvPr id="2" name="Rectangle 1">
            <a:extLst>
              <a:ext uri="{FF2B5EF4-FFF2-40B4-BE49-F238E27FC236}">
                <a16:creationId xmlns:a16="http://schemas.microsoft.com/office/drawing/2014/main" id="{EAD99D76-9E3B-F682-01E8-888F253831AF}"/>
              </a:ext>
            </a:extLst>
          </p:cNvPr>
          <p:cNvSpPr/>
          <p:nvPr userDrawn="1"/>
        </p:nvSpPr>
        <p:spPr>
          <a:xfrm>
            <a:off x="0" y="0"/>
            <a:ext cx="7575442" cy="927652"/>
          </a:xfrm>
          <a:prstGeom prst="rect">
            <a:avLst/>
          </a:prstGeom>
          <a:solidFill>
            <a:srgbClr val="0084A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28B98FEA-D4C0-8394-EFDC-1E0F624AD0AF}"/>
              </a:ex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7575444" y="0"/>
            <a:ext cx="4614964" cy="931320"/>
          </a:xfrm>
          <a:prstGeom prst="rect">
            <a:avLst/>
          </a:prstGeom>
        </p:spPr>
      </p:pic>
      <p:sp>
        <p:nvSpPr>
          <p:cNvPr id="6" name="Title 5">
            <a:extLst>
              <a:ext uri="{FF2B5EF4-FFF2-40B4-BE49-F238E27FC236}">
                <a16:creationId xmlns:a16="http://schemas.microsoft.com/office/drawing/2014/main" id="{BD8B91BD-71BF-8DE9-CC35-80883F08DEDC}"/>
              </a:ext>
            </a:extLst>
          </p:cNvPr>
          <p:cNvSpPr>
            <a:spLocks noGrp="1"/>
          </p:cNvSpPr>
          <p:nvPr>
            <p:ph type="title" hasCustomPrompt="1"/>
          </p:nvPr>
        </p:nvSpPr>
        <p:spPr>
          <a:xfrm>
            <a:off x="0" y="0"/>
            <a:ext cx="6094413" cy="926757"/>
          </a:xfrm>
          <a:prstGeom prst="rect">
            <a:avLst/>
          </a:prstGeom>
          <a:noFill/>
        </p:spPr>
        <p:txBody>
          <a:bodyPr lIns="457200" anchor="ctr"/>
          <a:lstStyle>
            <a:lvl1pPr>
              <a:defRPr sz="4000" b="1">
                <a:solidFill>
                  <a:schemeClr val="bg1"/>
                </a:solidFill>
              </a:defRPr>
            </a:lvl1pPr>
          </a:lstStyle>
          <a:p>
            <a:r>
              <a:rPr lang="en-US" dirty="0"/>
              <a:t>Objectives</a:t>
            </a:r>
          </a:p>
        </p:txBody>
      </p:sp>
    </p:spTree>
    <p:extLst>
      <p:ext uri="{BB962C8B-B14F-4D97-AF65-F5344CB8AC3E}">
        <p14:creationId xmlns:p14="http://schemas.microsoft.com/office/powerpoint/2010/main" val="2343018901"/>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Terminology">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23B0928-1D5C-86AC-B6D2-6C4246A897D0}"/>
              </a:ext>
            </a:extLst>
          </p:cNvPr>
          <p:cNvSpPr>
            <a:spLocks noGrp="1"/>
          </p:cNvSpPr>
          <p:nvPr>
            <p:ph type="body" sz="quarter" idx="10" hasCustomPrompt="1"/>
          </p:nvPr>
        </p:nvSpPr>
        <p:spPr>
          <a:xfrm>
            <a:off x="852488" y="1652588"/>
            <a:ext cx="10515600" cy="1169743"/>
          </a:xfrm>
          <a:prstGeom prst="rect">
            <a:avLst/>
          </a:prstGeom>
        </p:spPr>
        <p:txBody>
          <a:bodyPr/>
          <a:lstStyle>
            <a:lvl1pPr marL="0" indent="0">
              <a:buNone/>
              <a:defRPr>
                <a:solidFill>
                  <a:schemeClr val="bg2">
                    <a:lumMod val="25000"/>
                  </a:schemeClr>
                </a:solidFill>
              </a:defRPr>
            </a:lvl1pPr>
          </a:lstStyle>
          <a:p>
            <a:pPr lvl="0"/>
            <a:r>
              <a:rPr lang="en-US" dirty="0"/>
              <a:t>Click to add text</a:t>
            </a:r>
          </a:p>
        </p:txBody>
      </p:sp>
      <p:sp>
        <p:nvSpPr>
          <p:cNvPr id="5" name="Picture Placeholder 4">
            <a:extLst>
              <a:ext uri="{FF2B5EF4-FFF2-40B4-BE49-F238E27FC236}">
                <a16:creationId xmlns:a16="http://schemas.microsoft.com/office/drawing/2014/main" id="{C3DA5AEB-614E-452B-EDEF-80B18EE3E858}"/>
              </a:ext>
            </a:extLst>
          </p:cNvPr>
          <p:cNvSpPr>
            <a:spLocks noGrp="1"/>
          </p:cNvSpPr>
          <p:nvPr>
            <p:ph type="pic" sz="quarter" idx="11"/>
          </p:nvPr>
        </p:nvSpPr>
        <p:spPr>
          <a:xfrm>
            <a:off x="3427412" y="3217943"/>
            <a:ext cx="5335588" cy="2505075"/>
          </a:xfrm>
          <a:prstGeom prst="rect">
            <a:avLst/>
          </a:prstGeom>
        </p:spPr>
        <p:txBody>
          <a:bodyPr/>
          <a:lstStyle>
            <a:lvl1pPr marL="0" indent="0">
              <a:buNone/>
              <a:defRPr/>
            </a:lvl1pPr>
          </a:lstStyle>
          <a:p>
            <a:endParaRPr lang="en-US" dirty="0"/>
          </a:p>
        </p:txBody>
      </p:sp>
      <p:sp>
        <p:nvSpPr>
          <p:cNvPr id="4" name="Title 1">
            <a:extLst>
              <a:ext uri="{FF2B5EF4-FFF2-40B4-BE49-F238E27FC236}">
                <a16:creationId xmlns:a16="http://schemas.microsoft.com/office/drawing/2014/main" id="{CD7B4969-F122-3811-0A1A-DDA09AF4AB50}"/>
              </a:ext>
            </a:extLst>
          </p:cNvPr>
          <p:cNvSpPr>
            <a:spLocks noGrp="1"/>
          </p:cNvSpPr>
          <p:nvPr>
            <p:ph type="title" hasCustomPrompt="1"/>
          </p:nvPr>
        </p:nvSpPr>
        <p:spPr>
          <a:xfrm>
            <a:off x="777240" y="1"/>
            <a:ext cx="11425482" cy="1263192"/>
          </a:xfrm>
          <a:prstGeom prst="rect">
            <a:avLst/>
          </a:prstGeom>
        </p:spPr>
        <p:txBody>
          <a:bodyPr anchor="ctr"/>
          <a:lstStyle>
            <a:lvl1pPr>
              <a:defRPr sz="4000">
                <a:solidFill>
                  <a:srgbClr val="2B8147"/>
                </a:solidFill>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dirty="0">
                <a:solidFill>
                  <a:srgbClr val="000000"/>
                </a:solidFill>
                <a:latin typeface="Calibri" panose="020F0502020204030204"/>
                <a:ea typeface="Calibri" panose="020F0502020204030204"/>
                <a:cs typeface="Calibri" panose="020F0502020204030204"/>
                <a:sym typeface="Calibri" panose="020F0502020204030204"/>
              </a:rPr>
              <a:t>Key Terms</a:t>
            </a:r>
          </a:p>
        </p:txBody>
      </p:sp>
      <p:pic>
        <p:nvPicPr>
          <p:cNvPr id="6" name="Picture 5">
            <a:extLst>
              <a:ext uri="{FF2B5EF4-FFF2-40B4-BE49-F238E27FC236}">
                <a16:creationId xmlns:a16="http://schemas.microsoft.com/office/drawing/2014/main" id="{5CDE9F74-7CE7-793B-B90F-365B5F549D7A}"/>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0" y="8"/>
            <a:ext cx="322981" cy="6857984"/>
          </a:xfrm>
          <a:prstGeom prst="rect">
            <a:avLst/>
          </a:prstGeom>
        </p:spPr>
      </p:pic>
    </p:spTree>
    <p:extLst>
      <p:ext uri="{BB962C8B-B14F-4D97-AF65-F5344CB8AC3E}">
        <p14:creationId xmlns:p14="http://schemas.microsoft.com/office/powerpoint/2010/main" val="2432733151"/>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Application Problem Text">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AED5C8A3-5037-99DF-15E1-2833226D35D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40002" y="5935775"/>
            <a:ext cx="1191770" cy="771146"/>
          </a:xfrm>
          <a:prstGeom prst="rect">
            <a:avLst/>
          </a:prstGeom>
        </p:spPr>
      </p:pic>
      <p:sp>
        <p:nvSpPr>
          <p:cNvPr id="12" name="Google Shape;36;g295eeb86cda_3_40"/>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18" name="Text Placeholder 16"/>
          <p:cNvSpPr>
            <a:spLocks noGrp="1"/>
          </p:cNvSpPr>
          <p:nvPr>
            <p:ph type="body" sz="quarter" idx="10" hasCustomPrompt="1"/>
          </p:nvPr>
        </p:nvSpPr>
        <p:spPr>
          <a:xfrm>
            <a:off x="11127476" y="6036181"/>
            <a:ext cx="654216"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2" name="Title 1">
            <a:extLst>
              <a:ext uri="{FF2B5EF4-FFF2-40B4-BE49-F238E27FC236}">
                <a16:creationId xmlns:a16="http://schemas.microsoft.com/office/drawing/2014/main" id="{0331744C-9446-EF32-247E-53D724128298}"/>
              </a:ext>
            </a:extLst>
          </p:cNvPr>
          <p:cNvSpPr>
            <a:spLocks noGrp="1"/>
          </p:cNvSpPr>
          <p:nvPr>
            <p:ph type="title" hasCustomPrompt="1"/>
          </p:nvPr>
        </p:nvSpPr>
        <p:spPr>
          <a:xfrm>
            <a:off x="777240" y="0"/>
            <a:ext cx="11389135" cy="1253765"/>
          </a:xfrm>
          <a:prstGeom prst="rect">
            <a:avLst/>
          </a:prstGeom>
        </p:spPr>
        <p:txBody>
          <a:bodyPr anchor="ctr"/>
          <a:lstStyle/>
          <a:p>
            <a:pPr marL="0" marR="0" lvl="0" indent="0" algn="l" defTabSz="914400" rtl="0" eaLnBrk="1" fontAlgn="auto" latinLnBrk="0" hangingPunct="1">
              <a:lnSpc>
                <a:spcPct val="100000"/>
              </a:lnSpc>
              <a:spcBef>
                <a:spcPts val="0"/>
              </a:spcBef>
              <a:spcAft>
                <a:spcPts val="0"/>
              </a:spcAft>
              <a:buClr>
                <a:srgbClr val="000000"/>
              </a:buClr>
              <a:buSzPts val="4400"/>
              <a:buFont typeface="Arial" panose="020B0604020202020204"/>
              <a:buNone/>
              <a:tabLst/>
              <a:defRPr/>
            </a:pPr>
            <a:r>
              <a:rPr kumimoji="0" lang="en-US" sz="4400" b="1" i="0" u="none" strike="noStrike" kern="1200" cap="none" spc="0" normalizeH="0" baseline="0" noProof="0">
                <a:ln>
                  <a:noFill/>
                </a:ln>
                <a:solidFill>
                  <a:srgbClr val="000000"/>
                </a:solidFill>
                <a:effectLst/>
                <a:uLnTx/>
                <a:uFillTx/>
                <a:latin typeface="Calibri" panose="020F0502020204030204"/>
                <a:ea typeface="Calibri" panose="020F0502020204030204"/>
                <a:cs typeface="Calibri" panose="020F0502020204030204"/>
                <a:sym typeface="Calibri" panose="020F0502020204030204"/>
              </a:rPr>
              <a:t>Application Problem</a:t>
            </a:r>
          </a:p>
        </p:txBody>
      </p:sp>
      <p:pic>
        <p:nvPicPr>
          <p:cNvPr id="4" name="Picture 3">
            <a:extLst>
              <a:ext uri="{FF2B5EF4-FFF2-40B4-BE49-F238E27FC236}">
                <a16:creationId xmlns:a16="http://schemas.microsoft.com/office/drawing/2014/main" id="{ED2E1254-4CBF-B3B8-A0FA-52C76A42152E}"/>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0" y="8"/>
            <a:ext cx="322981" cy="6857984"/>
          </a:xfrm>
          <a:prstGeom prst="rect">
            <a:avLst/>
          </a:prstGeom>
        </p:spPr>
      </p:pic>
    </p:spTree>
    <p:extLst>
      <p:ext uri="{BB962C8B-B14F-4D97-AF65-F5344CB8AC3E}">
        <p14:creationId xmlns:p14="http://schemas.microsoft.com/office/powerpoint/2010/main" val="407121262"/>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1_RDW_Horizontal">
    <p:spTree>
      <p:nvGrpSpPr>
        <p:cNvPr id="1" name=""/>
        <p:cNvGrpSpPr/>
        <p:nvPr/>
      </p:nvGrpSpPr>
      <p:grpSpPr>
        <a:xfrm>
          <a:off x="0" y="0"/>
          <a:ext cx="0" cy="0"/>
          <a:chOff x="0" y="0"/>
          <a:chExt cx="0" cy="0"/>
        </a:xfrm>
      </p:grpSpPr>
      <p:graphicFrame>
        <p:nvGraphicFramePr>
          <p:cNvPr id="14" name="Google Shape;42;g2960a169545_3_34"/>
          <p:cNvGraphicFramePr/>
          <p:nvPr userDrawn="1">
            <p:extLst>
              <p:ext uri="{D42A27DB-BD31-4B8C-83A1-F6EECF244321}">
                <p14:modId xmlns:p14="http://schemas.microsoft.com/office/powerpoint/2010/main" val="147912415"/>
              </p:ext>
            </p:extLst>
          </p:nvPr>
        </p:nvGraphicFramePr>
        <p:xfrm>
          <a:off x="775252" y="3783769"/>
          <a:ext cx="11082132" cy="2888103"/>
        </p:xfrm>
        <a:graphic>
          <a:graphicData uri="http://schemas.openxmlformats.org/drawingml/2006/table">
            <a:tbl>
              <a:tblPr firstRow="1" bandRow="1">
                <a:noFill/>
              </a:tblPr>
              <a:tblGrid>
                <a:gridCol w="3694044">
                  <a:extLst>
                    <a:ext uri="{9D8B030D-6E8A-4147-A177-3AD203B41FA5}">
                      <a16:colId xmlns:a16="http://schemas.microsoft.com/office/drawing/2014/main" val="20000"/>
                    </a:ext>
                  </a:extLst>
                </a:gridCol>
                <a:gridCol w="3694044">
                  <a:extLst>
                    <a:ext uri="{9D8B030D-6E8A-4147-A177-3AD203B41FA5}">
                      <a16:colId xmlns:a16="http://schemas.microsoft.com/office/drawing/2014/main" val="20001"/>
                    </a:ext>
                  </a:extLst>
                </a:gridCol>
                <a:gridCol w="3694044">
                  <a:extLst>
                    <a:ext uri="{9D8B030D-6E8A-4147-A177-3AD203B41FA5}">
                      <a16:colId xmlns:a16="http://schemas.microsoft.com/office/drawing/2014/main" val="20002"/>
                    </a:ext>
                  </a:extLst>
                </a:gridCol>
              </a:tblGrid>
              <a:tr h="244012">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dirty="0">
                          <a:solidFill>
                            <a:schemeClr val="bg2">
                              <a:lumMod val="25000"/>
                            </a:schemeClr>
                          </a:solidFill>
                        </a:rPr>
                        <a:t>Read</a:t>
                      </a:r>
                      <a:endParaRPr sz="1800" b="1" u="none" strike="noStrike" cap="none" dirty="0">
                        <a:solidFill>
                          <a:schemeClr val="bg2">
                            <a:lumMod val="25000"/>
                          </a:schemeClr>
                        </a:solidFill>
                      </a:endParaRPr>
                    </a:p>
                  </a:txBody>
                  <a:tcPr marL="91450" marR="91450" marT="45725" marB="457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dirty="0">
                          <a:solidFill>
                            <a:schemeClr val="bg2">
                              <a:lumMod val="25000"/>
                            </a:schemeClr>
                          </a:solidFill>
                        </a:rPr>
                        <a:t>Draw</a:t>
                      </a:r>
                      <a:endParaRPr sz="1800" b="1" u="none" strike="noStrike" cap="none" dirty="0">
                        <a:solidFill>
                          <a:schemeClr val="bg2">
                            <a:lumMod val="25000"/>
                          </a:schemeClr>
                        </a:solidFill>
                      </a:endParaRPr>
                    </a:p>
                  </a:txBody>
                  <a:tcPr marL="91450" marR="9145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rtl="0">
                        <a:lnSpc>
                          <a:spcPct val="100000"/>
                        </a:lnSpc>
                        <a:spcBef>
                          <a:spcPts val="0"/>
                        </a:spcBef>
                        <a:spcAft>
                          <a:spcPts val="0"/>
                        </a:spcAft>
                        <a:buClr>
                          <a:srgbClr val="000000"/>
                        </a:buClr>
                        <a:buSzPts val="2400"/>
                        <a:buFont typeface="Arial" panose="020B0604020202020204"/>
                        <a:buNone/>
                      </a:pPr>
                      <a:r>
                        <a:rPr lang="en-US" sz="2400" b="1" u="none" strike="noStrike" cap="none" dirty="0">
                          <a:solidFill>
                            <a:schemeClr val="bg2">
                              <a:lumMod val="25000"/>
                            </a:schemeClr>
                          </a:solidFill>
                        </a:rPr>
                        <a:t>Write</a:t>
                      </a:r>
                      <a:endParaRPr sz="1800" b="1" u="none" strike="noStrike" cap="none" dirty="0">
                        <a:solidFill>
                          <a:schemeClr val="bg2">
                            <a:lumMod val="25000"/>
                          </a:schemeClr>
                        </a:solidFill>
                      </a:endParaRPr>
                    </a:p>
                  </a:txBody>
                  <a:tcPr marL="91450" marR="91450" marT="45725" marB="457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430893">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dirty="0"/>
                    </a:p>
                  </a:txBody>
                  <a:tcPr marL="91450" marR="91450" marT="45725" marB="45725">
                    <a:lnL w="12700" cap="flat" cmpd="sng" algn="ctr">
                      <a:no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a:p>
                  </a:txBody>
                  <a:tcPr marL="91450" marR="91450" marT="45725" marB="45725">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tc>
                  <a:txBody>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u="none" strike="noStrike" cap="none" dirty="0"/>
                    </a:p>
                  </a:txBody>
                  <a:tcPr marL="91450" marR="91450" marT="45725" marB="45725">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3" name="Text Placeholder 2">
            <a:extLst>
              <a:ext uri="{FF2B5EF4-FFF2-40B4-BE49-F238E27FC236}">
                <a16:creationId xmlns:a16="http://schemas.microsoft.com/office/drawing/2014/main" id="{F5DB9EBA-92A2-D9BE-5A55-8378E259446A}"/>
              </a:ext>
            </a:extLst>
          </p:cNvPr>
          <p:cNvSpPr>
            <a:spLocks noGrp="1"/>
          </p:cNvSpPr>
          <p:nvPr>
            <p:ph type="body" sz="quarter" idx="10" hasCustomPrompt="1"/>
          </p:nvPr>
        </p:nvSpPr>
        <p:spPr>
          <a:xfrm>
            <a:off x="765313" y="1479938"/>
            <a:ext cx="11060341" cy="2072153"/>
          </a:xfrm>
          <a:prstGeom prst="rect">
            <a:avLst/>
          </a:prstGeom>
        </p:spPr>
        <p:txBody>
          <a:bodyPr/>
          <a:lstStyle>
            <a:lvl1pPr marL="0" indent="0">
              <a:buNone/>
              <a:defRPr sz="2200">
                <a:solidFill>
                  <a:schemeClr val="bg2">
                    <a:lumMod val="25000"/>
                  </a:schemeClr>
                </a:solidFill>
              </a:defRPr>
            </a:lvl1pPr>
          </a:lstStyle>
          <a:p>
            <a:pPr lvl="0"/>
            <a:r>
              <a:rPr lang="en-US" dirty="0"/>
              <a:t>Click to add text</a:t>
            </a:r>
          </a:p>
        </p:txBody>
      </p:sp>
      <p:sp>
        <p:nvSpPr>
          <p:cNvPr id="2" name="Title 1">
            <a:extLst>
              <a:ext uri="{FF2B5EF4-FFF2-40B4-BE49-F238E27FC236}">
                <a16:creationId xmlns:a16="http://schemas.microsoft.com/office/drawing/2014/main" id="{100D03EF-224B-F87A-5FAF-CA8E423C3783}"/>
              </a:ext>
            </a:extLst>
          </p:cNvPr>
          <p:cNvSpPr>
            <a:spLocks noGrp="1"/>
          </p:cNvSpPr>
          <p:nvPr>
            <p:ph type="title" hasCustomPrompt="1"/>
          </p:nvPr>
        </p:nvSpPr>
        <p:spPr>
          <a:xfrm>
            <a:off x="772211" y="0"/>
            <a:ext cx="11418202" cy="1263192"/>
          </a:xfrm>
          <a:prstGeom prst="rect">
            <a:avLst/>
          </a:prstGeom>
        </p:spPr>
        <p:txBody>
          <a:bodyPr anchor="ctr"/>
          <a:lstStyle/>
          <a:p>
            <a:pPr marL="0" marR="0" lvl="0" indent="0" algn="l" defTabSz="914400" rtl="0" eaLnBrk="1" fontAlgn="auto" latinLnBrk="0" hangingPunct="1">
              <a:lnSpc>
                <a:spcPct val="90000"/>
              </a:lnSpc>
              <a:spcBef>
                <a:spcPts val="0"/>
              </a:spcBef>
              <a:spcAft>
                <a:spcPts val="0"/>
              </a:spcAft>
              <a:buClr>
                <a:srgbClr val="000000"/>
              </a:buClr>
              <a:buSzPts val="4400"/>
              <a:buFont typeface="Arial" panose="020B0604020202020204"/>
              <a:buNone/>
              <a:tabLst/>
              <a:defRPr/>
            </a:pPr>
            <a:r>
              <a:rPr kumimoji="0" lang="en-US" sz="4400" b="1" i="0" u="none" strike="noStrike" kern="1200" cap="none" spc="0" normalizeH="0" baseline="0" noProof="0">
                <a:ln>
                  <a:noFill/>
                </a:ln>
                <a:solidFill>
                  <a:srgbClr val="000000"/>
                </a:solidFill>
                <a:effectLst/>
                <a:uLnTx/>
                <a:uFillTx/>
                <a:latin typeface="Calibri" panose="020F0502020204030204"/>
                <a:ea typeface="Calibri" panose="020F0502020204030204"/>
                <a:cs typeface="Calibri" panose="020F0502020204030204"/>
                <a:sym typeface="Calibri" panose="020F0502020204030204"/>
              </a:rPr>
              <a:t>Read-Draw-Write for Application Problem</a:t>
            </a:r>
          </a:p>
        </p:txBody>
      </p:sp>
      <p:pic>
        <p:nvPicPr>
          <p:cNvPr id="5" name="Picture 4">
            <a:extLst>
              <a:ext uri="{FF2B5EF4-FFF2-40B4-BE49-F238E27FC236}">
                <a16:creationId xmlns:a16="http://schemas.microsoft.com/office/drawing/2014/main" id="{E121D3C0-2E42-5D5F-22BD-412584AA83AA}"/>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0" y="8"/>
            <a:ext cx="322981" cy="6857984"/>
          </a:xfrm>
          <a:prstGeom prst="rect">
            <a:avLst/>
          </a:prstGeom>
        </p:spPr>
      </p:pic>
    </p:spTree>
    <p:extLst>
      <p:ext uri="{BB962C8B-B14F-4D97-AF65-F5344CB8AC3E}">
        <p14:creationId xmlns:p14="http://schemas.microsoft.com/office/powerpoint/2010/main" val="3615913504"/>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Fluency w/Timer">
    <p:spTree>
      <p:nvGrpSpPr>
        <p:cNvPr id="1" name=""/>
        <p:cNvGrpSpPr/>
        <p:nvPr/>
      </p:nvGrpSpPr>
      <p:grpSpPr>
        <a:xfrm>
          <a:off x="0" y="0"/>
          <a:ext cx="0" cy="0"/>
          <a:chOff x="0" y="0"/>
          <a:chExt cx="0" cy="0"/>
        </a:xfrm>
      </p:grpSpPr>
      <p:pic>
        <p:nvPicPr>
          <p:cNvPr id="2" name="Picture 1" descr="A black and white image of a stopwatch&#10;&#10;Description automatically generated">
            <a:extLst>
              <a:ext uri="{FF2B5EF4-FFF2-40B4-BE49-F238E27FC236}">
                <a16:creationId xmlns:a16="http://schemas.microsoft.com/office/drawing/2014/main" id="{45C93455-7637-1C42-D775-87043FDE14A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40002" y="5935775"/>
            <a:ext cx="1191770" cy="771146"/>
          </a:xfrm>
          <a:prstGeom prst="rect">
            <a:avLst/>
          </a:prstGeom>
        </p:spPr>
      </p:pic>
      <p:sp>
        <p:nvSpPr>
          <p:cNvPr id="4" name="Google Shape;36;g295eeb86cda_3_40">
            <a:extLst>
              <a:ext uri="{FF2B5EF4-FFF2-40B4-BE49-F238E27FC236}">
                <a16:creationId xmlns:a16="http://schemas.microsoft.com/office/drawing/2014/main" id="{4B2B0557-EE61-8CF4-6E2D-B3BB9A4164D6}"/>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3" name="Text Placeholder 16">
            <a:extLst>
              <a:ext uri="{FF2B5EF4-FFF2-40B4-BE49-F238E27FC236}">
                <a16:creationId xmlns:a16="http://schemas.microsoft.com/office/drawing/2014/main" id="{2C85C328-7F49-71B9-5668-70282DB97885}"/>
              </a:ext>
            </a:extLst>
          </p:cNvPr>
          <p:cNvSpPr>
            <a:spLocks noGrp="1"/>
          </p:cNvSpPr>
          <p:nvPr>
            <p:ph type="body" sz="quarter" idx="10" hasCustomPrompt="1"/>
          </p:nvPr>
        </p:nvSpPr>
        <p:spPr>
          <a:xfrm>
            <a:off x="11127476" y="6036181"/>
            <a:ext cx="654216"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5" name="Title 3">
            <a:extLst>
              <a:ext uri="{FF2B5EF4-FFF2-40B4-BE49-F238E27FC236}">
                <a16:creationId xmlns:a16="http://schemas.microsoft.com/office/drawing/2014/main" id="{BABD6038-9E2A-9278-C4F2-299A1A34E59F}"/>
              </a:ext>
            </a:extLst>
          </p:cNvPr>
          <p:cNvSpPr>
            <a:spLocks noGrp="1"/>
          </p:cNvSpPr>
          <p:nvPr>
            <p:ph type="title" hasCustomPrompt="1"/>
          </p:nvPr>
        </p:nvSpPr>
        <p:spPr>
          <a:xfrm>
            <a:off x="777240" y="7968"/>
            <a:ext cx="11413173" cy="1269462"/>
          </a:xfrm>
          <a:prstGeom prst="rect">
            <a:avLst/>
          </a:prstGeom>
        </p:spPr>
        <p:txBody>
          <a:bodyPr anchor="ctr"/>
          <a:lstStyle>
            <a:lvl1pPr>
              <a:defRPr b="1">
                <a:solidFill>
                  <a:schemeClr val="bg2">
                    <a:lumMod val="2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Fluency: </a:t>
            </a:r>
            <a:r>
              <a:rPr kumimoji="0" lang="en-US" b="0" i="0" u="none" strike="noStrike" kern="1200" cap="none" spc="0" normalizeH="0" baseline="0" noProof="0" dirty="0">
                <a:ln>
                  <a:noFill/>
                </a:ln>
                <a:solidFill>
                  <a:srgbClr val="000000"/>
                </a:solidFill>
                <a:effectLst/>
                <a:uLnTx/>
                <a:uFillTx/>
                <a:latin typeface="Calibri"/>
                <a:ea typeface="+mn-ea"/>
                <a:cs typeface="+mn-cs"/>
              </a:rPr>
              <a:t>Title (# of #)</a:t>
            </a:r>
            <a:endParaRPr lang="en-US" dirty="0"/>
          </a:p>
        </p:txBody>
      </p:sp>
      <p:pic>
        <p:nvPicPr>
          <p:cNvPr id="6" name="Picture 5">
            <a:extLst>
              <a:ext uri="{FF2B5EF4-FFF2-40B4-BE49-F238E27FC236}">
                <a16:creationId xmlns:a16="http://schemas.microsoft.com/office/drawing/2014/main" id="{41A4ACEA-4667-3962-B002-3BD86CD9C6A5}"/>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0" y="8"/>
            <a:ext cx="322981" cy="6857984"/>
          </a:xfrm>
          <a:prstGeom prst="rect">
            <a:avLst/>
          </a:prstGeom>
        </p:spPr>
      </p:pic>
    </p:spTree>
    <p:extLst>
      <p:ext uri="{BB962C8B-B14F-4D97-AF65-F5344CB8AC3E}">
        <p14:creationId xmlns:p14="http://schemas.microsoft.com/office/powerpoint/2010/main" val="1132782889"/>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Concept Development">
    <p:spTree>
      <p:nvGrpSpPr>
        <p:cNvPr id="1" name=""/>
        <p:cNvGrpSpPr/>
        <p:nvPr/>
      </p:nvGrpSpPr>
      <p:grpSpPr>
        <a:xfrm>
          <a:off x="0" y="0"/>
          <a:ext cx="0" cy="0"/>
          <a:chOff x="0" y="0"/>
          <a:chExt cx="0" cy="0"/>
        </a:xfrm>
      </p:grpSpPr>
      <p:sp>
        <p:nvSpPr>
          <p:cNvPr id="12" name="Google Shape;69;g2950041fd6d_0_282"/>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5" name="Title 1">
            <a:extLst>
              <a:ext uri="{FF2B5EF4-FFF2-40B4-BE49-F238E27FC236}">
                <a16:creationId xmlns:a16="http://schemas.microsoft.com/office/drawing/2014/main" id="{8EA13153-BB2D-5421-7418-44B5425F9E51}"/>
              </a:ext>
            </a:extLst>
          </p:cNvPr>
          <p:cNvSpPr>
            <a:spLocks noGrp="1"/>
          </p:cNvSpPr>
          <p:nvPr>
            <p:ph type="title" hasCustomPrompt="1"/>
          </p:nvPr>
        </p:nvSpPr>
        <p:spPr>
          <a:xfrm>
            <a:off x="777240" y="1"/>
            <a:ext cx="11390313" cy="1263192"/>
          </a:xfrm>
          <a:prstGeom prst="rect">
            <a:avLst/>
          </a:prstGeom>
        </p:spPr>
        <p:txBody>
          <a:bodyPr anchor="ct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Concept Development</a:t>
            </a:r>
          </a:p>
        </p:txBody>
      </p:sp>
      <p:pic>
        <p:nvPicPr>
          <p:cNvPr id="2" name="Picture 1">
            <a:extLst>
              <a:ext uri="{FF2B5EF4-FFF2-40B4-BE49-F238E27FC236}">
                <a16:creationId xmlns:a16="http://schemas.microsoft.com/office/drawing/2014/main" id="{CACF947A-00B8-B4E6-8437-40F83AFF958F}"/>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0" y="8"/>
            <a:ext cx="322981" cy="6857984"/>
          </a:xfrm>
          <a:prstGeom prst="rect">
            <a:avLst/>
          </a:prstGeom>
        </p:spPr>
      </p:pic>
    </p:spTree>
    <p:extLst>
      <p:ext uri="{BB962C8B-B14F-4D97-AF65-F5344CB8AC3E}">
        <p14:creationId xmlns:p14="http://schemas.microsoft.com/office/powerpoint/2010/main" val="3149236035"/>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Concept Development with Timer">
    <p:spTree>
      <p:nvGrpSpPr>
        <p:cNvPr id="1" name=""/>
        <p:cNvGrpSpPr/>
        <p:nvPr/>
      </p:nvGrpSpPr>
      <p:grpSpPr>
        <a:xfrm>
          <a:off x="0" y="0"/>
          <a:ext cx="0" cy="0"/>
          <a:chOff x="0" y="0"/>
          <a:chExt cx="0" cy="0"/>
        </a:xfrm>
      </p:grpSpPr>
      <p:pic>
        <p:nvPicPr>
          <p:cNvPr id="6" name="Picture 5" descr="A black and white image of a stopwatch&#10;&#10;Description automatically generated">
            <a:extLst>
              <a:ext uri="{FF2B5EF4-FFF2-40B4-BE49-F238E27FC236}">
                <a16:creationId xmlns:a16="http://schemas.microsoft.com/office/drawing/2014/main" id="{C120155D-CE40-03A5-821E-66ED1B28D635}"/>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40002" y="5935775"/>
            <a:ext cx="1191770" cy="771146"/>
          </a:xfrm>
          <a:prstGeom prst="rect">
            <a:avLst/>
          </a:prstGeom>
        </p:spPr>
      </p:pic>
      <p:sp>
        <p:nvSpPr>
          <p:cNvPr id="12" name="Google Shape;69;g2950041fd6d_0_282"/>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sp>
        <p:nvSpPr>
          <p:cNvPr id="3" name="Text Placeholder 16">
            <a:extLst>
              <a:ext uri="{FF2B5EF4-FFF2-40B4-BE49-F238E27FC236}">
                <a16:creationId xmlns:a16="http://schemas.microsoft.com/office/drawing/2014/main" id="{25782E0A-0BD4-715B-C55F-BBA8190C333D}"/>
              </a:ext>
            </a:extLst>
          </p:cNvPr>
          <p:cNvSpPr>
            <a:spLocks noGrp="1"/>
          </p:cNvSpPr>
          <p:nvPr>
            <p:ph type="body" sz="quarter" idx="10" hasCustomPrompt="1"/>
          </p:nvPr>
        </p:nvSpPr>
        <p:spPr>
          <a:xfrm>
            <a:off x="11127570" y="6036181"/>
            <a:ext cx="654121"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5" name="Title 1">
            <a:extLst>
              <a:ext uri="{FF2B5EF4-FFF2-40B4-BE49-F238E27FC236}">
                <a16:creationId xmlns:a16="http://schemas.microsoft.com/office/drawing/2014/main" id="{8EA13153-BB2D-5421-7418-44B5425F9E51}"/>
              </a:ext>
            </a:extLst>
          </p:cNvPr>
          <p:cNvSpPr>
            <a:spLocks noGrp="1"/>
          </p:cNvSpPr>
          <p:nvPr>
            <p:ph type="title" hasCustomPrompt="1"/>
          </p:nvPr>
        </p:nvSpPr>
        <p:spPr>
          <a:xfrm>
            <a:off x="777240" y="1"/>
            <a:ext cx="11390313" cy="1263192"/>
          </a:xfrm>
          <a:prstGeom prst="rect">
            <a:avLst/>
          </a:prstGeom>
        </p:spPr>
        <p:txBody>
          <a:bodyPr anchor="ct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Concept Development</a:t>
            </a:r>
          </a:p>
        </p:txBody>
      </p:sp>
      <p:pic>
        <p:nvPicPr>
          <p:cNvPr id="2" name="Picture 1">
            <a:extLst>
              <a:ext uri="{FF2B5EF4-FFF2-40B4-BE49-F238E27FC236}">
                <a16:creationId xmlns:a16="http://schemas.microsoft.com/office/drawing/2014/main" id="{0C4ADE8B-E120-4425-CAA6-828BBE47E800}"/>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0" y="8"/>
            <a:ext cx="322981" cy="6857984"/>
          </a:xfrm>
          <a:prstGeom prst="rect">
            <a:avLst/>
          </a:prstGeom>
        </p:spPr>
      </p:pic>
    </p:spTree>
    <p:extLst>
      <p:ext uri="{BB962C8B-B14F-4D97-AF65-F5344CB8AC3E}">
        <p14:creationId xmlns:p14="http://schemas.microsoft.com/office/powerpoint/2010/main" val="3290449247"/>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Problem Set with Text">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54725ABB-3358-BA78-ED3F-EE574662422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40002" y="5935775"/>
            <a:ext cx="1191770" cy="771146"/>
          </a:xfrm>
          <a:prstGeom prst="rect">
            <a:avLst/>
          </a:prstGeom>
        </p:spPr>
      </p:pic>
      <p:sp>
        <p:nvSpPr>
          <p:cNvPr id="14" name="Text Placeholder 16"/>
          <p:cNvSpPr>
            <a:spLocks noGrp="1"/>
          </p:cNvSpPr>
          <p:nvPr>
            <p:ph type="body" sz="quarter" idx="10" hasCustomPrompt="1"/>
          </p:nvPr>
        </p:nvSpPr>
        <p:spPr>
          <a:xfrm>
            <a:off x="11140001" y="6036181"/>
            <a:ext cx="622969"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2" name="Title 1">
            <a:extLst>
              <a:ext uri="{FF2B5EF4-FFF2-40B4-BE49-F238E27FC236}">
                <a16:creationId xmlns:a16="http://schemas.microsoft.com/office/drawing/2014/main" id="{0C16ECBB-77EB-0635-C9C3-E4F98B5337AC}"/>
              </a:ext>
            </a:extLst>
          </p:cNvPr>
          <p:cNvSpPr>
            <a:spLocks noGrp="1"/>
          </p:cNvSpPr>
          <p:nvPr>
            <p:ph type="title" hasCustomPrompt="1"/>
          </p:nvPr>
        </p:nvSpPr>
        <p:spPr>
          <a:xfrm>
            <a:off x="777240" y="1"/>
            <a:ext cx="11407898"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Problem Set</a:t>
            </a:r>
          </a:p>
        </p:txBody>
      </p:sp>
      <p:sp>
        <p:nvSpPr>
          <p:cNvPr id="4" name="Google Shape;69;g2950041fd6d_0_282">
            <a:extLst>
              <a:ext uri="{FF2B5EF4-FFF2-40B4-BE49-F238E27FC236}">
                <a16:creationId xmlns:a16="http://schemas.microsoft.com/office/drawing/2014/main" id="{9D7369C9-C599-CE95-CCD3-2B81A765581C}"/>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Autofit/>
          </a:bodyPr>
          <a:lstStyle>
            <a:lvl1pPr marL="114300" lvl="0" indent="0" algn="l">
              <a:lnSpc>
                <a:spcPct val="100000"/>
              </a:lnSpc>
              <a:spcBef>
                <a:spcPts val="1000"/>
              </a:spcBef>
              <a:spcAft>
                <a:spcPts val="0"/>
              </a:spcAft>
              <a:buClr>
                <a:schemeClr val="dk1"/>
              </a:buClr>
              <a:buSzPts val="1800"/>
              <a:buFont typeface="Wingdings" panose="05000000000000000000" pitchFamily="2" charset="2"/>
              <a:buNone/>
              <a:defRPr sz="2800">
                <a:solidFill>
                  <a:schemeClr val="bg2">
                    <a:lumMod val="25000"/>
                  </a:schemeClr>
                </a:solidFill>
              </a:defRPr>
            </a:lvl1pPr>
            <a:lvl2pPr marL="914400" lvl="1" indent="-342900" algn="l">
              <a:lnSpc>
                <a:spcPct val="100000"/>
              </a:lnSpc>
              <a:spcBef>
                <a:spcPts val="500"/>
              </a:spcBef>
              <a:spcAft>
                <a:spcPts val="0"/>
              </a:spcAft>
              <a:buClr>
                <a:schemeClr val="dk1"/>
              </a:buClr>
              <a:buSzPts val="1800"/>
              <a:buChar char="•"/>
              <a:defRPr/>
            </a:lvl2pPr>
            <a:lvl3pPr marL="1371600" lvl="2" indent="-342900" algn="l">
              <a:lnSpc>
                <a:spcPct val="100000"/>
              </a:lnSpc>
              <a:spcBef>
                <a:spcPts val="500"/>
              </a:spcBef>
              <a:spcAft>
                <a:spcPts val="0"/>
              </a:spcAft>
              <a:buClr>
                <a:schemeClr val="dk1"/>
              </a:buClr>
              <a:buSzPts val="1800"/>
              <a:buChar char="•"/>
              <a:defRPr/>
            </a:lvl3pPr>
            <a:lvl4pPr marL="1828800" lvl="3" indent="-342900" algn="l">
              <a:lnSpc>
                <a:spcPct val="100000"/>
              </a:lnSpc>
              <a:spcBef>
                <a:spcPts val="500"/>
              </a:spcBef>
              <a:spcAft>
                <a:spcPts val="0"/>
              </a:spcAft>
              <a:buClr>
                <a:schemeClr val="dk1"/>
              </a:buClr>
              <a:buSzPts val="1800"/>
              <a:buChar char="•"/>
              <a:defRPr/>
            </a:lvl4pPr>
            <a:lvl5pPr marL="2286000" lvl="4" indent="-342900" algn="l">
              <a:lnSpc>
                <a:spcPct val="100000"/>
              </a:lnSpc>
              <a:spcBef>
                <a:spcPts val="500"/>
              </a:spcBef>
              <a:spcAft>
                <a:spcPts val="0"/>
              </a:spcAft>
              <a:buClr>
                <a:schemeClr val="dk1"/>
              </a:buClr>
              <a:buSzPts val="1800"/>
              <a:buChar char="•"/>
              <a:defRPr/>
            </a:lvl5pPr>
            <a:lvl6pPr marL="2743200" lvl="5" indent="-342900" algn="l">
              <a:lnSpc>
                <a:spcPct val="100000"/>
              </a:lnSpc>
              <a:spcBef>
                <a:spcPts val="500"/>
              </a:spcBef>
              <a:spcAft>
                <a:spcPts val="0"/>
              </a:spcAft>
              <a:buClr>
                <a:schemeClr val="dk1"/>
              </a:buClr>
              <a:buSzPts val="1800"/>
              <a:buChar char="•"/>
              <a:defRPr/>
            </a:lvl6pPr>
            <a:lvl7pPr marL="3200400" lvl="6" indent="-342900" algn="l">
              <a:lnSpc>
                <a:spcPct val="100000"/>
              </a:lnSpc>
              <a:spcBef>
                <a:spcPts val="500"/>
              </a:spcBef>
              <a:spcAft>
                <a:spcPts val="0"/>
              </a:spcAft>
              <a:buClr>
                <a:schemeClr val="dk1"/>
              </a:buClr>
              <a:buSzPts val="1800"/>
              <a:buChar char="•"/>
              <a:defRPr/>
            </a:lvl7pPr>
            <a:lvl8pPr marL="3657600" lvl="7" indent="-342900" algn="l">
              <a:lnSpc>
                <a:spcPct val="100000"/>
              </a:lnSpc>
              <a:spcBef>
                <a:spcPts val="500"/>
              </a:spcBef>
              <a:spcAft>
                <a:spcPts val="0"/>
              </a:spcAft>
              <a:buClr>
                <a:schemeClr val="dk1"/>
              </a:buClr>
              <a:buSzPts val="1800"/>
              <a:buChar char="•"/>
              <a:defRPr/>
            </a:lvl8pPr>
            <a:lvl9pPr marL="4114800" lvl="8" indent="-342900" algn="l">
              <a:lnSpc>
                <a:spcPct val="100000"/>
              </a:lnSpc>
              <a:spcBef>
                <a:spcPts val="500"/>
              </a:spcBef>
              <a:spcAft>
                <a:spcPts val="0"/>
              </a:spcAft>
              <a:buClr>
                <a:schemeClr val="dk1"/>
              </a:buClr>
              <a:buSzPts val="1800"/>
              <a:buChar char="•"/>
              <a:defRPr/>
            </a:lvl9pPr>
          </a:lstStyle>
          <a:p>
            <a:endParaRPr dirty="0"/>
          </a:p>
        </p:txBody>
      </p:sp>
      <p:pic>
        <p:nvPicPr>
          <p:cNvPr id="5" name="Picture 4">
            <a:extLst>
              <a:ext uri="{FF2B5EF4-FFF2-40B4-BE49-F238E27FC236}">
                <a16:creationId xmlns:a16="http://schemas.microsoft.com/office/drawing/2014/main" id="{24CC20CC-020F-E41D-34BB-D60790E85A95}"/>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0" y="8"/>
            <a:ext cx="322981" cy="6857984"/>
          </a:xfrm>
          <a:prstGeom prst="rect">
            <a:avLst/>
          </a:prstGeom>
        </p:spPr>
      </p:pic>
    </p:spTree>
    <p:extLst>
      <p:ext uri="{BB962C8B-B14F-4D97-AF65-F5344CB8AC3E}">
        <p14:creationId xmlns:p14="http://schemas.microsoft.com/office/powerpoint/2010/main" val="349755440"/>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Student Debrief">
    <p:spTree>
      <p:nvGrpSpPr>
        <p:cNvPr id="1" name=""/>
        <p:cNvGrpSpPr/>
        <p:nvPr/>
      </p:nvGrpSpPr>
      <p:grpSpPr>
        <a:xfrm>
          <a:off x="0" y="0"/>
          <a:ext cx="0" cy="0"/>
          <a:chOff x="0" y="0"/>
          <a:chExt cx="0" cy="0"/>
        </a:xfrm>
      </p:grpSpPr>
      <p:pic>
        <p:nvPicPr>
          <p:cNvPr id="3" name="Picture 2" descr="A black and white image of a stopwatch&#10;&#10;Description automatically generated">
            <a:extLst>
              <a:ext uri="{FF2B5EF4-FFF2-40B4-BE49-F238E27FC236}">
                <a16:creationId xmlns:a16="http://schemas.microsoft.com/office/drawing/2014/main" id="{DAC79665-DA63-6390-C217-C3166216C1B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40002" y="5935775"/>
            <a:ext cx="1191770" cy="771146"/>
          </a:xfrm>
          <a:prstGeom prst="rect">
            <a:avLst/>
          </a:prstGeom>
        </p:spPr>
      </p:pic>
      <p:sp>
        <p:nvSpPr>
          <p:cNvPr id="11" name="Google Shape;80;g295eeb86cda_3_104"/>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rmAutofit/>
          </a:bodyPr>
          <a:lstStyle>
            <a:lvl1pPr marL="571500" lvl="0" indent="-457200" algn="l">
              <a:lnSpc>
                <a:spcPct val="100000"/>
              </a:lnSpc>
              <a:spcBef>
                <a:spcPts val="1000"/>
              </a:spcBef>
              <a:spcAft>
                <a:spcPts val="0"/>
              </a:spcAft>
              <a:buClr>
                <a:schemeClr val="dk1"/>
              </a:buClr>
              <a:buSzPct val="100000"/>
              <a:buFont typeface="Arial" panose="020B0604020202020204" pitchFamily="34" charset="0"/>
              <a:buChar char="•"/>
              <a:defRPr sz="2800">
                <a:solidFill>
                  <a:schemeClr val="bg2">
                    <a:lumMod val="25000"/>
                  </a:schemeClr>
                </a:solidFill>
              </a:defRPr>
            </a:lvl1pPr>
            <a:lvl2pPr marL="914400" lvl="1" indent="-342900" algn="l">
              <a:lnSpc>
                <a:spcPct val="100000"/>
              </a:lnSpc>
              <a:spcBef>
                <a:spcPts val="1000"/>
              </a:spcBef>
              <a:spcAft>
                <a:spcPts val="0"/>
              </a:spcAft>
              <a:buClr>
                <a:schemeClr val="dk1"/>
              </a:buClr>
              <a:buSzPts val="1800"/>
              <a:buChar char="•"/>
              <a:defRPr/>
            </a:lvl2pPr>
            <a:lvl3pPr marL="1371600" lvl="2" indent="-342900" algn="l">
              <a:lnSpc>
                <a:spcPct val="100000"/>
              </a:lnSpc>
              <a:spcBef>
                <a:spcPts val="1000"/>
              </a:spcBef>
              <a:spcAft>
                <a:spcPts val="0"/>
              </a:spcAft>
              <a:buClr>
                <a:schemeClr val="dk1"/>
              </a:buClr>
              <a:buSzPts val="1800"/>
              <a:buChar char="•"/>
              <a:defRPr/>
            </a:lvl3pPr>
            <a:lvl4pPr marL="1828800" lvl="3" indent="-342900" algn="l">
              <a:lnSpc>
                <a:spcPct val="100000"/>
              </a:lnSpc>
              <a:spcBef>
                <a:spcPts val="1000"/>
              </a:spcBef>
              <a:spcAft>
                <a:spcPts val="0"/>
              </a:spcAft>
              <a:buClr>
                <a:schemeClr val="dk1"/>
              </a:buClr>
              <a:buSzPts val="1800"/>
              <a:buChar char="•"/>
              <a:defRPr/>
            </a:lvl4pPr>
            <a:lvl5pPr marL="2286000" lvl="4" indent="-342900" algn="l">
              <a:lnSpc>
                <a:spcPct val="100000"/>
              </a:lnSpc>
              <a:spcBef>
                <a:spcPts val="1000"/>
              </a:spcBef>
              <a:spcAft>
                <a:spcPts val="0"/>
              </a:spcAft>
              <a:buClr>
                <a:schemeClr val="dk1"/>
              </a:buClr>
              <a:buSzPts val="1800"/>
              <a:buChar char="•"/>
              <a:defRPr/>
            </a:lvl5pPr>
            <a:lvl6pPr marL="2743200" lvl="5" indent="-342900" algn="l">
              <a:lnSpc>
                <a:spcPct val="100000"/>
              </a:lnSpc>
              <a:spcBef>
                <a:spcPts val="1000"/>
              </a:spcBef>
              <a:spcAft>
                <a:spcPts val="0"/>
              </a:spcAft>
              <a:buClr>
                <a:schemeClr val="dk1"/>
              </a:buClr>
              <a:buSzPts val="1800"/>
              <a:buChar char="•"/>
              <a:defRPr/>
            </a:lvl6pPr>
            <a:lvl7pPr marL="3200400" lvl="6" indent="-342900" algn="l">
              <a:lnSpc>
                <a:spcPct val="100000"/>
              </a:lnSpc>
              <a:spcBef>
                <a:spcPts val="1000"/>
              </a:spcBef>
              <a:spcAft>
                <a:spcPts val="0"/>
              </a:spcAft>
              <a:buClr>
                <a:schemeClr val="dk1"/>
              </a:buClr>
              <a:buSzPts val="1800"/>
              <a:buChar char="•"/>
              <a:defRPr/>
            </a:lvl7pPr>
            <a:lvl8pPr marL="3657600" lvl="7" indent="-342900" algn="l">
              <a:lnSpc>
                <a:spcPct val="100000"/>
              </a:lnSpc>
              <a:spcBef>
                <a:spcPts val="1000"/>
              </a:spcBef>
              <a:spcAft>
                <a:spcPts val="0"/>
              </a:spcAft>
              <a:buClr>
                <a:schemeClr val="dk1"/>
              </a:buClr>
              <a:buSzPts val="1800"/>
              <a:buChar char="•"/>
              <a:defRPr/>
            </a:lvl8pPr>
            <a:lvl9pPr marL="4114800" lvl="8" indent="-342900" algn="l">
              <a:lnSpc>
                <a:spcPct val="100000"/>
              </a:lnSpc>
              <a:spcBef>
                <a:spcPts val="1000"/>
              </a:spcBef>
              <a:spcAft>
                <a:spcPts val="1000"/>
              </a:spcAft>
              <a:buClr>
                <a:schemeClr val="dk1"/>
              </a:buClr>
              <a:buSzPts val="1800"/>
              <a:buChar char="•"/>
              <a:defRPr/>
            </a:lvl9pPr>
          </a:lstStyle>
          <a:p>
            <a:endParaRPr dirty="0"/>
          </a:p>
        </p:txBody>
      </p:sp>
      <p:sp>
        <p:nvSpPr>
          <p:cNvPr id="14" name="Text Placeholder 16"/>
          <p:cNvSpPr>
            <a:spLocks noGrp="1"/>
          </p:cNvSpPr>
          <p:nvPr>
            <p:ph type="body" sz="quarter" idx="10" hasCustomPrompt="1"/>
          </p:nvPr>
        </p:nvSpPr>
        <p:spPr>
          <a:xfrm>
            <a:off x="11127570" y="6036181"/>
            <a:ext cx="645330"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2" name="Title 1">
            <a:extLst>
              <a:ext uri="{FF2B5EF4-FFF2-40B4-BE49-F238E27FC236}">
                <a16:creationId xmlns:a16="http://schemas.microsoft.com/office/drawing/2014/main" id="{FB0B6DF2-911F-E608-84A0-0D6E6AF4BF7B}"/>
              </a:ext>
            </a:extLst>
          </p:cNvPr>
          <p:cNvSpPr>
            <a:spLocks noGrp="1"/>
          </p:cNvSpPr>
          <p:nvPr>
            <p:ph type="title" hasCustomPrompt="1"/>
          </p:nvPr>
        </p:nvSpPr>
        <p:spPr>
          <a:xfrm>
            <a:off x="777240" y="1"/>
            <a:ext cx="11390313"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Student Debrief</a:t>
            </a:r>
          </a:p>
        </p:txBody>
      </p:sp>
      <p:pic>
        <p:nvPicPr>
          <p:cNvPr id="4" name="Picture 3">
            <a:extLst>
              <a:ext uri="{FF2B5EF4-FFF2-40B4-BE49-F238E27FC236}">
                <a16:creationId xmlns:a16="http://schemas.microsoft.com/office/drawing/2014/main" id="{5FCA9C5B-9241-83A6-BF90-D80A2C82D82A}"/>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0" y="8"/>
            <a:ext cx="322981" cy="6857984"/>
          </a:xfrm>
          <a:prstGeom prst="rect">
            <a:avLst/>
          </a:prstGeom>
        </p:spPr>
      </p:pic>
    </p:spTree>
    <p:extLst>
      <p:ext uri="{BB962C8B-B14F-4D97-AF65-F5344CB8AC3E}">
        <p14:creationId xmlns:p14="http://schemas.microsoft.com/office/powerpoint/2010/main" val="1370315863"/>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Exit Ticket">
    <p:spTree>
      <p:nvGrpSpPr>
        <p:cNvPr id="1" name=""/>
        <p:cNvGrpSpPr/>
        <p:nvPr/>
      </p:nvGrpSpPr>
      <p:grpSpPr>
        <a:xfrm>
          <a:off x="0" y="0"/>
          <a:ext cx="0" cy="0"/>
          <a:chOff x="0" y="0"/>
          <a:chExt cx="0" cy="0"/>
        </a:xfrm>
      </p:grpSpPr>
      <p:pic>
        <p:nvPicPr>
          <p:cNvPr id="6" name="Picture 5" descr="A black and white image of a stopwatch&#10;&#10;Description automatically generated">
            <a:extLst>
              <a:ext uri="{FF2B5EF4-FFF2-40B4-BE49-F238E27FC236}">
                <a16:creationId xmlns:a16="http://schemas.microsoft.com/office/drawing/2014/main" id="{87BF7481-2AB1-1F79-65F6-B47BE9EECE0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1140002" y="5935775"/>
            <a:ext cx="1191770" cy="771146"/>
          </a:xfrm>
          <a:prstGeom prst="rect">
            <a:avLst/>
          </a:prstGeom>
        </p:spPr>
      </p:pic>
      <p:sp>
        <p:nvSpPr>
          <p:cNvPr id="3" name="Text Placeholder 16">
            <a:extLst>
              <a:ext uri="{FF2B5EF4-FFF2-40B4-BE49-F238E27FC236}">
                <a16:creationId xmlns:a16="http://schemas.microsoft.com/office/drawing/2014/main" id="{BC6A2CE5-7968-8B98-9B39-FF49F2E9FD9A}"/>
              </a:ext>
            </a:extLst>
          </p:cNvPr>
          <p:cNvSpPr>
            <a:spLocks noGrp="1"/>
          </p:cNvSpPr>
          <p:nvPr>
            <p:ph type="body" sz="quarter" idx="11" hasCustomPrompt="1"/>
          </p:nvPr>
        </p:nvSpPr>
        <p:spPr>
          <a:xfrm>
            <a:off x="11127571" y="6036181"/>
            <a:ext cx="635400" cy="648543"/>
          </a:xfrm>
          <a:prstGeom prst="rect">
            <a:avLst/>
          </a:prstGeom>
        </p:spPr>
        <p:txBody>
          <a:bodyPr anchor="ctr">
            <a:normAutofit/>
          </a:bodyPr>
          <a:lstStyle>
            <a:lvl1pPr marL="0" indent="0" algn="ctr">
              <a:buNone/>
              <a:defRPr sz="2800" b="1">
                <a:latin typeface="+mj-lt"/>
              </a:defRPr>
            </a:lvl1pPr>
          </a:lstStyle>
          <a:p>
            <a:pPr lvl="0"/>
            <a:r>
              <a:rPr lang="en-US" dirty="0"/>
              <a:t>X</a:t>
            </a:r>
            <a:endParaRPr lang="en-IN" dirty="0"/>
          </a:p>
        </p:txBody>
      </p:sp>
      <p:sp>
        <p:nvSpPr>
          <p:cNvPr id="5" name="Google Shape;80;g295eeb86cda_3_104">
            <a:extLst>
              <a:ext uri="{FF2B5EF4-FFF2-40B4-BE49-F238E27FC236}">
                <a16:creationId xmlns:a16="http://schemas.microsoft.com/office/drawing/2014/main" id="{E879CF37-D19C-8989-9D60-7E089D9CFD43}"/>
              </a:ext>
            </a:extLst>
          </p:cNvPr>
          <p:cNvSpPr txBox="1">
            <a:spLocks noGrp="1"/>
          </p:cNvSpPr>
          <p:nvPr>
            <p:ph type="body" idx="1"/>
          </p:nvPr>
        </p:nvSpPr>
        <p:spPr>
          <a:xfrm>
            <a:off x="733400" y="1584575"/>
            <a:ext cx="10515600" cy="4351200"/>
          </a:xfrm>
          <a:prstGeom prst="rect">
            <a:avLst/>
          </a:prstGeom>
          <a:noFill/>
          <a:ln>
            <a:noFill/>
          </a:ln>
        </p:spPr>
        <p:txBody>
          <a:bodyPr spcFirstLastPara="1" wrap="square" lIns="91425" tIns="45700" rIns="91425" bIns="45700" anchor="t" anchorCtr="0">
            <a:normAutofit/>
          </a:bodyPr>
          <a:lstStyle>
            <a:lvl1pPr marL="114300" lvl="0" indent="0" algn="l">
              <a:lnSpc>
                <a:spcPct val="100000"/>
              </a:lnSpc>
              <a:spcBef>
                <a:spcPts val="1000"/>
              </a:spcBef>
              <a:spcAft>
                <a:spcPts val="0"/>
              </a:spcAft>
              <a:buClr>
                <a:schemeClr val="dk1"/>
              </a:buClr>
              <a:buSzPct val="100000"/>
              <a:buFont typeface="Arial" panose="020B0604020202020204" pitchFamily="34" charset="0"/>
              <a:buNone/>
              <a:defRPr sz="2800">
                <a:solidFill>
                  <a:schemeClr val="bg2">
                    <a:lumMod val="25000"/>
                  </a:schemeClr>
                </a:solidFill>
              </a:defRPr>
            </a:lvl1pPr>
            <a:lvl2pPr marL="914400" lvl="1" indent="-342900" algn="l">
              <a:lnSpc>
                <a:spcPct val="100000"/>
              </a:lnSpc>
              <a:spcBef>
                <a:spcPts val="1000"/>
              </a:spcBef>
              <a:spcAft>
                <a:spcPts val="0"/>
              </a:spcAft>
              <a:buClr>
                <a:schemeClr val="dk1"/>
              </a:buClr>
              <a:buSzPts val="1800"/>
              <a:buChar char="•"/>
              <a:defRPr/>
            </a:lvl2pPr>
            <a:lvl3pPr marL="1371600" lvl="2" indent="-342900" algn="l">
              <a:lnSpc>
                <a:spcPct val="100000"/>
              </a:lnSpc>
              <a:spcBef>
                <a:spcPts val="1000"/>
              </a:spcBef>
              <a:spcAft>
                <a:spcPts val="0"/>
              </a:spcAft>
              <a:buClr>
                <a:schemeClr val="dk1"/>
              </a:buClr>
              <a:buSzPts val="1800"/>
              <a:buChar char="•"/>
              <a:defRPr/>
            </a:lvl3pPr>
            <a:lvl4pPr marL="1828800" lvl="3" indent="-342900" algn="l">
              <a:lnSpc>
                <a:spcPct val="100000"/>
              </a:lnSpc>
              <a:spcBef>
                <a:spcPts val="1000"/>
              </a:spcBef>
              <a:spcAft>
                <a:spcPts val="0"/>
              </a:spcAft>
              <a:buClr>
                <a:schemeClr val="dk1"/>
              </a:buClr>
              <a:buSzPts val="1800"/>
              <a:buChar char="•"/>
              <a:defRPr/>
            </a:lvl4pPr>
            <a:lvl5pPr marL="2286000" lvl="4" indent="-342900" algn="l">
              <a:lnSpc>
                <a:spcPct val="100000"/>
              </a:lnSpc>
              <a:spcBef>
                <a:spcPts val="1000"/>
              </a:spcBef>
              <a:spcAft>
                <a:spcPts val="0"/>
              </a:spcAft>
              <a:buClr>
                <a:schemeClr val="dk1"/>
              </a:buClr>
              <a:buSzPts val="1800"/>
              <a:buChar char="•"/>
              <a:defRPr/>
            </a:lvl5pPr>
            <a:lvl6pPr marL="2743200" lvl="5" indent="-342900" algn="l">
              <a:lnSpc>
                <a:spcPct val="100000"/>
              </a:lnSpc>
              <a:spcBef>
                <a:spcPts val="1000"/>
              </a:spcBef>
              <a:spcAft>
                <a:spcPts val="0"/>
              </a:spcAft>
              <a:buClr>
                <a:schemeClr val="dk1"/>
              </a:buClr>
              <a:buSzPts val="1800"/>
              <a:buChar char="•"/>
              <a:defRPr/>
            </a:lvl6pPr>
            <a:lvl7pPr marL="3200400" lvl="6" indent="-342900" algn="l">
              <a:lnSpc>
                <a:spcPct val="100000"/>
              </a:lnSpc>
              <a:spcBef>
                <a:spcPts val="1000"/>
              </a:spcBef>
              <a:spcAft>
                <a:spcPts val="0"/>
              </a:spcAft>
              <a:buClr>
                <a:schemeClr val="dk1"/>
              </a:buClr>
              <a:buSzPts val="1800"/>
              <a:buChar char="•"/>
              <a:defRPr/>
            </a:lvl7pPr>
            <a:lvl8pPr marL="3657600" lvl="7" indent="-342900" algn="l">
              <a:lnSpc>
                <a:spcPct val="100000"/>
              </a:lnSpc>
              <a:spcBef>
                <a:spcPts val="1000"/>
              </a:spcBef>
              <a:spcAft>
                <a:spcPts val="0"/>
              </a:spcAft>
              <a:buClr>
                <a:schemeClr val="dk1"/>
              </a:buClr>
              <a:buSzPts val="1800"/>
              <a:buChar char="•"/>
              <a:defRPr/>
            </a:lvl8pPr>
            <a:lvl9pPr marL="4114800" lvl="8" indent="-342900" algn="l">
              <a:lnSpc>
                <a:spcPct val="100000"/>
              </a:lnSpc>
              <a:spcBef>
                <a:spcPts val="1000"/>
              </a:spcBef>
              <a:spcAft>
                <a:spcPts val="1000"/>
              </a:spcAft>
              <a:buClr>
                <a:schemeClr val="dk1"/>
              </a:buClr>
              <a:buSzPts val="1800"/>
              <a:buChar char="•"/>
              <a:defRPr/>
            </a:lvl9pPr>
          </a:lstStyle>
          <a:p>
            <a:endParaRPr dirty="0"/>
          </a:p>
        </p:txBody>
      </p:sp>
      <p:sp>
        <p:nvSpPr>
          <p:cNvPr id="7" name="Title 1">
            <a:extLst>
              <a:ext uri="{FF2B5EF4-FFF2-40B4-BE49-F238E27FC236}">
                <a16:creationId xmlns:a16="http://schemas.microsoft.com/office/drawing/2014/main" id="{3820E38D-87BF-6F8F-072E-A0D77CD81A20}"/>
              </a:ext>
            </a:extLst>
          </p:cNvPr>
          <p:cNvSpPr>
            <a:spLocks noGrp="1"/>
          </p:cNvSpPr>
          <p:nvPr>
            <p:ph type="title" hasCustomPrompt="1"/>
          </p:nvPr>
        </p:nvSpPr>
        <p:spPr>
          <a:xfrm>
            <a:off x="777240" y="1"/>
            <a:ext cx="11425482" cy="1263192"/>
          </a:xfrm>
          <a:prstGeom prst="rect">
            <a:avLst/>
          </a:prstGeom>
        </p:spPr>
        <p:txBody>
          <a:bodyPr anchor="ctr"/>
          <a:lstStyle>
            <a:lvl1pPr>
              <a:defRPr/>
            </a:lvl1pPr>
          </a:lstStyle>
          <a:p>
            <a:pPr marL="0" marR="0" lvl="0" indent="0" algn="l" rtl="0">
              <a:lnSpc>
                <a:spcPct val="100000"/>
              </a:lnSpc>
              <a:spcBef>
                <a:spcPts val="0"/>
              </a:spcBef>
              <a:spcAft>
                <a:spcPts val="0"/>
              </a:spcAft>
              <a:buClr>
                <a:srgbClr val="000000"/>
              </a:buClr>
              <a:buSzPts val="4400"/>
              <a:buFont typeface="Arial" panose="020B0604020202020204"/>
              <a:buNone/>
            </a:pPr>
            <a:r>
              <a:rPr lang="en-US" sz="4400" b="1" i="0" u="none" strike="noStrike" cap="none">
                <a:solidFill>
                  <a:srgbClr val="000000"/>
                </a:solidFill>
                <a:latin typeface="Calibri" panose="020F0502020204030204"/>
                <a:ea typeface="Calibri" panose="020F0502020204030204"/>
                <a:cs typeface="Calibri" panose="020F0502020204030204"/>
                <a:sym typeface="Calibri" panose="020F0502020204030204"/>
              </a:rPr>
              <a:t>Exit Ticket</a:t>
            </a:r>
          </a:p>
        </p:txBody>
      </p:sp>
      <p:pic>
        <p:nvPicPr>
          <p:cNvPr id="2" name="Picture 1">
            <a:extLst>
              <a:ext uri="{FF2B5EF4-FFF2-40B4-BE49-F238E27FC236}">
                <a16:creationId xmlns:a16="http://schemas.microsoft.com/office/drawing/2014/main" id="{187C8F92-FBD4-BA03-506E-C3D26BFEEC79}"/>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0" y="8"/>
            <a:ext cx="322981" cy="6857984"/>
          </a:xfrm>
          <a:prstGeom prst="rect">
            <a:avLst/>
          </a:prstGeom>
        </p:spPr>
      </p:pic>
    </p:spTree>
    <p:extLst>
      <p:ext uri="{BB962C8B-B14F-4D97-AF65-F5344CB8AC3E}">
        <p14:creationId xmlns:p14="http://schemas.microsoft.com/office/powerpoint/2010/main" val="40923304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7.xml"/><Relationship Id="rId13" Type="http://schemas.openxmlformats.org/officeDocument/2006/relationships/slideLayout" Target="../slideLayouts/slideLayout32.xml"/><Relationship Id="rId18" Type="http://schemas.openxmlformats.org/officeDocument/2006/relationships/slideLayout" Target="../slideLayouts/slideLayout37.xml"/><Relationship Id="rId3" Type="http://schemas.openxmlformats.org/officeDocument/2006/relationships/slideLayout" Target="../slideLayouts/slideLayout22.xml"/><Relationship Id="rId7" Type="http://schemas.openxmlformats.org/officeDocument/2006/relationships/slideLayout" Target="../slideLayouts/slideLayout26.xml"/><Relationship Id="rId12" Type="http://schemas.openxmlformats.org/officeDocument/2006/relationships/slideLayout" Target="../slideLayouts/slideLayout31.xml"/><Relationship Id="rId17" Type="http://schemas.openxmlformats.org/officeDocument/2006/relationships/slideLayout" Target="../slideLayouts/slideLayout36.xml"/><Relationship Id="rId2" Type="http://schemas.openxmlformats.org/officeDocument/2006/relationships/slideLayout" Target="../slideLayouts/slideLayout21.xml"/><Relationship Id="rId16" Type="http://schemas.openxmlformats.org/officeDocument/2006/relationships/slideLayout" Target="../slideLayouts/slideLayout35.xml"/><Relationship Id="rId20" Type="http://schemas.openxmlformats.org/officeDocument/2006/relationships/theme" Target="../theme/theme2.xml"/><Relationship Id="rId1" Type="http://schemas.openxmlformats.org/officeDocument/2006/relationships/slideLayout" Target="../slideLayouts/slideLayout20.xml"/><Relationship Id="rId6" Type="http://schemas.openxmlformats.org/officeDocument/2006/relationships/slideLayout" Target="../slideLayouts/slideLayout25.xml"/><Relationship Id="rId11" Type="http://schemas.openxmlformats.org/officeDocument/2006/relationships/slideLayout" Target="../slideLayouts/slideLayout30.xml"/><Relationship Id="rId5" Type="http://schemas.openxmlformats.org/officeDocument/2006/relationships/slideLayout" Target="../slideLayouts/slideLayout24.xml"/><Relationship Id="rId15" Type="http://schemas.openxmlformats.org/officeDocument/2006/relationships/slideLayout" Target="../slideLayouts/slideLayout34.xml"/><Relationship Id="rId10" Type="http://schemas.openxmlformats.org/officeDocument/2006/relationships/slideLayout" Target="../slideLayouts/slideLayout29.xml"/><Relationship Id="rId19" Type="http://schemas.openxmlformats.org/officeDocument/2006/relationships/slideLayout" Target="../slideLayouts/slideLayout38.xml"/><Relationship Id="rId4" Type="http://schemas.openxmlformats.org/officeDocument/2006/relationships/slideLayout" Target="../slideLayouts/slideLayout23.xml"/><Relationship Id="rId9" Type="http://schemas.openxmlformats.org/officeDocument/2006/relationships/slideLayout" Target="../slideLayouts/slideLayout28.xml"/><Relationship Id="rId14" Type="http://schemas.openxmlformats.org/officeDocument/2006/relationships/slideLayout" Target="../slideLayouts/slideLayout33.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6.xml"/><Relationship Id="rId13" Type="http://schemas.openxmlformats.org/officeDocument/2006/relationships/slideLayout" Target="../slideLayouts/slideLayout51.xml"/><Relationship Id="rId18" Type="http://schemas.openxmlformats.org/officeDocument/2006/relationships/slideLayout" Target="../slideLayouts/slideLayout56.xml"/><Relationship Id="rId3" Type="http://schemas.openxmlformats.org/officeDocument/2006/relationships/slideLayout" Target="../slideLayouts/slideLayout41.xml"/><Relationship Id="rId7" Type="http://schemas.openxmlformats.org/officeDocument/2006/relationships/slideLayout" Target="../slideLayouts/slideLayout45.xml"/><Relationship Id="rId12" Type="http://schemas.openxmlformats.org/officeDocument/2006/relationships/slideLayout" Target="../slideLayouts/slideLayout50.xml"/><Relationship Id="rId17" Type="http://schemas.openxmlformats.org/officeDocument/2006/relationships/slideLayout" Target="../slideLayouts/slideLayout55.xml"/><Relationship Id="rId2" Type="http://schemas.openxmlformats.org/officeDocument/2006/relationships/slideLayout" Target="../slideLayouts/slideLayout40.xml"/><Relationship Id="rId16" Type="http://schemas.openxmlformats.org/officeDocument/2006/relationships/slideLayout" Target="../slideLayouts/slideLayout54.xml"/><Relationship Id="rId20" Type="http://schemas.openxmlformats.org/officeDocument/2006/relationships/theme" Target="../theme/theme3.xml"/><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5" Type="http://schemas.openxmlformats.org/officeDocument/2006/relationships/slideLayout" Target="../slideLayouts/slideLayout43.xml"/><Relationship Id="rId15" Type="http://schemas.openxmlformats.org/officeDocument/2006/relationships/slideLayout" Target="../slideLayouts/slideLayout53.xml"/><Relationship Id="rId10" Type="http://schemas.openxmlformats.org/officeDocument/2006/relationships/slideLayout" Target="../slideLayouts/slideLayout48.xml"/><Relationship Id="rId19" Type="http://schemas.openxmlformats.org/officeDocument/2006/relationships/slideLayout" Target="../slideLayouts/slideLayout57.xml"/><Relationship Id="rId4" Type="http://schemas.openxmlformats.org/officeDocument/2006/relationships/slideLayout" Target="../slideLayouts/slideLayout42.xml"/><Relationship Id="rId9" Type="http://schemas.openxmlformats.org/officeDocument/2006/relationships/slideLayout" Target="../slideLayouts/slideLayout47.xml"/><Relationship Id="rId14" Type="http://schemas.openxmlformats.org/officeDocument/2006/relationships/slideLayout" Target="../slideLayouts/slideLayout52.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65.xml"/><Relationship Id="rId13" Type="http://schemas.openxmlformats.org/officeDocument/2006/relationships/slideLayout" Target="../slideLayouts/slideLayout70.xml"/><Relationship Id="rId18" Type="http://schemas.openxmlformats.org/officeDocument/2006/relationships/slideLayout" Target="../slideLayouts/slideLayout75.xml"/><Relationship Id="rId3" Type="http://schemas.openxmlformats.org/officeDocument/2006/relationships/slideLayout" Target="../slideLayouts/slideLayout60.xml"/><Relationship Id="rId7" Type="http://schemas.openxmlformats.org/officeDocument/2006/relationships/slideLayout" Target="../slideLayouts/slideLayout64.xml"/><Relationship Id="rId12" Type="http://schemas.openxmlformats.org/officeDocument/2006/relationships/slideLayout" Target="../slideLayouts/slideLayout69.xml"/><Relationship Id="rId17" Type="http://schemas.openxmlformats.org/officeDocument/2006/relationships/slideLayout" Target="../slideLayouts/slideLayout74.xml"/><Relationship Id="rId2" Type="http://schemas.openxmlformats.org/officeDocument/2006/relationships/slideLayout" Target="../slideLayouts/slideLayout59.xml"/><Relationship Id="rId16" Type="http://schemas.openxmlformats.org/officeDocument/2006/relationships/slideLayout" Target="../slideLayouts/slideLayout73.xml"/><Relationship Id="rId20" Type="http://schemas.openxmlformats.org/officeDocument/2006/relationships/theme" Target="../theme/theme4.xml"/><Relationship Id="rId1" Type="http://schemas.openxmlformats.org/officeDocument/2006/relationships/slideLayout" Target="../slideLayouts/slideLayout58.xml"/><Relationship Id="rId6" Type="http://schemas.openxmlformats.org/officeDocument/2006/relationships/slideLayout" Target="../slideLayouts/slideLayout63.xml"/><Relationship Id="rId11" Type="http://schemas.openxmlformats.org/officeDocument/2006/relationships/slideLayout" Target="../slideLayouts/slideLayout68.xml"/><Relationship Id="rId5" Type="http://schemas.openxmlformats.org/officeDocument/2006/relationships/slideLayout" Target="../slideLayouts/slideLayout62.xml"/><Relationship Id="rId15" Type="http://schemas.openxmlformats.org/officeDocument/2006/relationships/slideLayout" Target="../slideLayouts/slideLayout72.xml"/><Relationship Id="rId10" Type="http://schemas.openxmlformats.org/officeDocument/2006/relationships/slideLayout" Target="../slideLayouts/slideLayout67.xml"/><Relationship Id="rId19" Type="http://schemas.openxmlformats.org/officeDocument/2006/relationships/slideLayout" Target="../slideLayouts/slideLayout76.xml"/><Relationship Id="rId4" Type="http://schemas.openxmlformats.org/officeDocument/2006/relationships/slideLayout" Target="../slideLayouts/slideLayout61.xml"/><Relationship Id="rId9" Type="http://schemas.openxmlformats.org/officeDocument/2006/relationships/slideLayout" Target="../slideLayouts/slideLayout66.xml"/><Relationship Id="rId14" Type="http://schemas.openxmlformats.org/officeDocument/2006/relationships/slideLayout" Target="../slideLayouts/slideLayout7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19548417"/>
      </p:ext>
    </p:extLst>
  </p:cSld>
  <p:clrMap bg1="lt1" tx1="dk1" bg2="lt2" tx2="dk2" accent1="accent1" accent2="accent2" accent3="accent3" accent4="accent4" accent5="accent5" accent6="accent6" hlink="hlink" folHlink="folHlink"/>
  <p:sldLayoutIdLst>
    <p:sldLayoutId id="2147483755" r:id="rId1"/>
    <p:sldLayoutId id="2147483777" r:id="rId2"/>
    <p:sldLayoutId id="2147483745" r:id="rId3"/>
    <p:sldLayoutId id="2147483747" r:id="rId4"/>
    <p:sldLayoutId id="2147483744" r:id="rId5"/>
    <p:sldLayoutId id="2147483778" r:id="rId6"/>
    <p:sldLayoutId id="2147483743" r:id="rId7"/>
    <p:sldLayoutId id="2147483746" r:id="rId8"/>
    <p:sldLayoutId id="2147483749" r:id="rId9"/>
    <p:sldLayoutId id="2147483753" r:id="rId10"/>
    <p:sldLayoutId id="2147483754" r:id="rId11"/>
    <p:sldLayoutId id="2147483653" r:id="rId12"/>
    <p:sldLayoutId id="2147483776" r:id="rId13"/>
    <p:sldLayoutId id="2147483670" r:id="rId14"/>
    <p:sldLayoutId id="2147483673" r:id="rId15"/>
    <p:sldLayoutId id="2147483672" r:id="rId16"/>
    <p:sldLayoutId id="2147483660" r:id="rId17"/>
    <p:sldLayoutId id="2147483661" r:id="rId18"/>
    <p:sldLayoutId id="2147483663" r:id="rId1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00728010"/>
      </p:ext>
    </p:extLst>
  </p:cSld>
  <p:clrMap bg1="lt1" tx1="dk1" bg2="lt2" tx2="dk2" accent1="accent1" accent2="accent2" accent3="accent3" accent4="accent4" accent5="accent5" accent6="accent6" hlink="hlink" folHlink="folHlink"/>
  <p:sldLayoutIdLst>
    <p:sldLayoutId id="2147483780" r:id="rId1"/>
    <p:sldLayoutId id="2147483781" r:id="rId2"/>
    <p:sldLayoutId id="2147483782" r:id="rId3"/>
    <p:sldLayoutId id="2147483783" r:id="rId4"/>
    <p:sldLayoutId id="2147483784" r:id="rId5"/>
    <p:sldLayoutId id="2147483785" r:id="rId6"/>
    <p:sldLayoutId id="2147483786" r:id="rId7"/>
    <p:sldLayoutId id="2147483787" r:id="rId8"/>
    <p:sldLayoutId id="2147483788" r:id="rId9"/>
    <p:sldLayoutId id="2147483789" r:id="rId10"/>
    <p:sldLayoutId id="2147483790" r:id="rId11"/>
    <p:sldLayoutId id="2147483791" r:id="rId12"/>
    <p:sldLayoutId id="2147483792" r:id="rId13"/>
    <p:sldLayoutId id="2147483793" r:id="rId14"/>
    <p:sldLayoutId id="2147483794" r:id="rId15"/>
    <p:sldLayoutId id="2147483795" r:id="rId16"/>
    <p:sldLayoutId id="2147483796" r:id="rId17"/>
    <p:sldLayoutId id="2147483797" r:id="rId18"/>
    <p:sldLayoutId id="2147483798" r:id="rId1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39">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4352628"/>
      </p:ext>
    </p:extLst>
  </p:cSld>
  <p:clrMap bg1="lt1" tx1="dk1" bg2="lt2" tx2="dk2" accent1="accent1" accent2="accent2" accent3="accent3" accent4="accent4" accent5="accent5" accent6="accent6" hlink="hlink" folHlink="folHlink"/>
  <p:sldLayoutIdLst>
    <p:sldLayoutId id="2147483800" r:id="rId1"/>
    <p:sldLayoutId id="2147483801" r:id="rId2"/>
    <p:sldLayoutId id="2147483802" r:id="rId3"/>
    <p:sldLayoutId id="2147483803" r:id="rId4"/>
    <p:sldLayoutId id="2147483804" r:id="rId5"/>
    <p:sldLayoutId id="2147483805" r:id="rId6"/>
    <p:sldLayoutId id="2147483806" r:id="rId7"/>
    <p:sldLayoutId id="2147483807" r:id="rId8"/>
    <p:sldLayoutId id="2147483808" r:id="rId9"/>
    <p:sldLayoutId id="2147483809" r:id="rId10"/>
    <p:sldLayoutId id="2147483810" r:id="rId11"/>
    <p:sldLayoutId id="2147483811" r:id="rId12"/>
    <p:sldLayoutId id="2147483812" r:id="rId13"/>
    <p:sldLayoutId id="2147483813" r:id="rId14"/>
    <p:sldLayoutId id="2147483814" r:id="rId15"/>
    <p:sldLayoutId id="2147483815" r:id="rId16"/>
    <p:sldLayoutId id="2147483816" r:id="rId17"/>
    <p:sldLayoutId id="2147483817" r:id="rId18"/>
    <p:sldLayoutId id="2147483818" r:id="rId1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39">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16063271"/>
      </p:ext>
    </p:extLst>
  </p:cSld>
  <p:clrMap bg1="lt1" tx1="dk1" bg2="lt2" tx2="dk2" accent1="accent1" accent2="accent2" accent3="accent3" accent4="accent4" accent5="accent5" accent6="accent6" hlink="hlink" folHlink="folHlink"/>
  <p:sldLayoutIdLst>
    <p:sldLayoutId id="2147483820" r:id="rId1"/>
    <p:sldLayoutId id="2147483821" r:id="rId2"/>
    <p:sldLayoutId id="2147483822" r:id="rId3"/>
    <p:sldLayoutId id="2147483823" r:id="rId4"/>
    <p:sldLayoutId id="2147483824" r:id="rId5"/>
    <p:sldLayoutId id="2147483825" r:id="rId6"/>
    <p:sldLayoutId id="2147483826" r:id="rId7"/>
    <p:sldLayoutId id="2147483827" r:id="rId8"/>
    <p:sldLayoutId id="2147483828" r:id="rId9"/>
    <p:sldLayoutId id="2147483829" r:id="rId10"/>
    <p:sldLayoutId id="2147483830" r:id="rId11"/>
    <p:sldLayoutId id="2147483831" r:id="rId12"/>
    <p:sldLayoutId id="2147483832" r:id="rId13"/>
    <p:sldLayoutId id="2147483833" r:id="rId14"/>
    <p:sldLayoutId id="2147483834" r:id="rId15"/>
    <p:sldLayoutId id="2147483835" r:id="rId16"/>
    <p:sldLayoutId id="2147483836" r:id="rId17"/>
    <p:sldLayoutId id="2147483837" r:id="rId18"/>
    <p:sldLayoutId id="2147483838" r:id="rId1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39">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5.xml"/><Relationship Id="rId1" Type="http://schemas.openxmlformats.org/officeDocument/2006/relationships/slideLayout" Target="../slideLayouts/slideLayout11.xml"/><Relationship Id="rId4" Type="http://schemas.openxmlformats.org/officeDocument/2006/relationships/image" Target="../media/image30.png"/></Relationships>
</file>

<file path=ppt/slides/_rels/slide1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6.xml"/><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7.xml"/><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8.xml"/><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9.xml"/><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0.xml"/><Relationship Id="rId1" Type="http://schemas.openxmlformats.org/officeDocument/2006/relationships/slideLayout" Target="../slideLayouts/slideLayout11.xml"/><Relationship Id="rId4" Type="http://schemas.openxmlformats.org/officeDocument/2006/relationships/image" Target="../media/image36.png"/></Relationships>
</file>

<file path=ppt/slides/_rels/slide2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1.xml"/><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2.xml"/><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3.xml"/><Relationship Id="rId1" Type="http://schemas.openxmlformats.org/officeDocument/2006/relationships/slideLayout" Target="../slideLayouts/slideLayout11.xml"/><Relationship Id="rId4" Type="http://schemas.openxmlformats.org/officeDocument/2006/relationships/image" Target="../media/image40.png"/></Relationships>
</file>

<file path=ppt/slides/_rels/slide2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24.xml"/><Relationship Id="rId1" Type="http://schemas.openxmlformats.org/officeDocument/2006/relationships/slideLayout" Target="../slideLayouts/slideLayout11.xml"/><Relationship Id="rId5" Type="http://schemas.openxmlformats.org/officeDocument/2006/relationships/image" Target="../media/image43.png"/><Relationship Id="rId4" Type="http://schemas.openxmlformats.org/officeDocument/2006/relationships/image" Target="../media/image42.png"/></Relationships>
</file>

<file path=ppt/slides/_rels/slide2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5.xml"/><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0.xml"/><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1.xml"/></Relationships>
</file>

<file path=ppt/slides/_rels/slide3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33.xml"/><Relationship Id="rId1" Type="http://schemas.openxmlformats.org/officeDocument/2006/relationships/slideLayout" Target="../slideLayouts/slideLayout11.xml"/></Relationships>
</file>

<file path=ppt/slides/_rels/slide3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4.xml"/><Relationship Id="rId1" Type="http://schemas.openxmlformats.org/officeDocument/2006/relationships/slideLayout" Target="../slideLayouts/slideLayout11.xml"/></Relationships>
</file>

<file path=ppt/slides/_rels/slide3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5.xml"/><Relationship Id="rId1" Type="http://schemas.openxmlformats.org/officeDocument/2006/relationships/slideLayout" Target="../slideLayouts/slideLayout11.xml"/><Relationship Id="rId4" Type="http://schemas.openxmlformats.org/officeDocument/2006/relationships/image" Target="../media/image48.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1.xml"/></Relationships>
</file>

<file path=ppt/slides/_rels/slide37.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7.xml"/><Relationship Id="rId1" Type="http://schemas.openxmlformats.org/officeDocument/2006/relationships/slideLayout" Target="../slideLayouts/slideLayout11.xml"/><Relationship Id="rId4" Type="http://schemas.openxmlformats.org/officeDocument/2006/relationships/image" Target="../media/image50.png"/></Relationships>
</file>

<file path=ppt/slides/_rels/slide38.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38.xml"/><Relationship Id="rId1" Type="http://schemas.openxmlformats.org/officeDocument/2006/relationships/slideLayout" Target="../slideLayouts/slideLayout11.xml"/></Relationships>
</file>

<file path=ppt/slides/_rels/slide3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9.xml"/><Relationship Id="rId1" Type="http://schemas.openxmlformats.org/officeDocument/2006/relationships/slideLayout" Target="../slideLayouts/slideLayout1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1.xml"/></Relationships>
</file>

<file path=ppt/slides/_rels/slide44.xml.rels><?xml version="1.0" encoding="UTF-8" standalone="yes"?>
<Relationships xmlns="http://schemas.openxmlformats.org/package/2006/relationships"><Relationship Id="rId3" Type="http://schemas.openxmlformats.org/officeDocument/2006/relationships/image" Target="../media/image500.png"/><Relationship Id="rId2" Type="http://schemas.openxmlformats.org/officeDocument/2006/relationships/notesSlide" Target="../notesSlides/notesSlide44.xml"/><Relationship Id="rId1" Type="http://schemas.openxmlformats.org/officeDocument/2006/relationships/slideLayout" Target="../slideLayouts/slideLayout1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1.xml"/></Relationships>
</file>

<file path=ppt/slides/_rels/slide46.xml.rels><?xml version="1.0" encoding="UTF-8" standalone="yes"?>
<Relationships xmlns="http://schemas.openxmlformats.org/package/2006/relationships"><Relationship Id="rId3" Type="http://schemas.openxmlformats.org/officeDocument/2006/relationships/image" Target="../media/image510.png"/><Relationship Id="rId2" Type="http://schemas.openxmlformats.org/officeDocument/2006/relationships/notesSlide" Target="../notesSlides/notesSlide46.xml"/><Relationship Id="rId1" Type="http://schemas.openxmlformats.org/officeDocument/2006/relationships/slideLayout" Target="../slideLayouts/slideLayout11.xml"/></Relationships>
</file>

<file path=ppt/slides/_rels/slide47.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47.xml"/><Relationship Id="rId1" Type="http://schemas.openxmlformats.org/officeDocument/2006/relationships/slideLayout" Target="../slideLayouts/slideLayout11.xml"/></Relationships>
</file>

<file path=ppt/slides/_rels/slide4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8.xml"/><Relationship Id="rId1" Type="http://schemas.openxmlformats.org/officeDocument/2006/relationships/slideLayout" Target="../slideLayouts/slideLayout1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51.xml"/><Relationship Id="rId1" Type="http://schemas.openxmlformats.org/officeDocument/2006/relationships/slideLayout" Target="../slideLayouts/slideLayout11.xml"/></Relationships>
</file>

<file path=ppt/slides/_rels/slide52.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52.xml"/><Relationship Id="rId1" Type="http://schemas.openxmlformats.org/officeDocument/2006/relationships/slideLayout" Target="../slideLayouts/slideLayout11.xml"/></Relationships>
</file>

<file path=ppt/slides/_rels/slide5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53.xml"/><Relationship Id="rId1" Type="http://schemas.openxmlformats.org/officeDocument/2006/relationships/slideLayout" Target="../slideLayouts/slideLayout1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56.xml"/><Relationship Id="rId1" Type="http://schemas.openxmlformats.org/officeDocument/2006/relationships/slideLayout" Target="../slideLayouts/slideLayout1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BE6FC3-E137-F9C8-0911-3C626A34090C}"/>
            </a:ext>
          </a:extLst>
        </p:cNvPr>
        <p:cNvGrpSpPr/>
        <p:nvPr/>
      </p:nvGrpSpPr>
      <p:grpSpPr>
        <a:xfrm>
          <a:off x="0" y="0"/>
          <a:ext cx="0" cy="0"/>
          <a:chOff x="0" y="0"/>
          <a:chExt cx="0" cy="0"/>
        </a:xfrm>
      </p:grpSpPr>
      <p:sp>
        <p:nvSpPr>
          <p:cNvPr id="9" name="Text Placeholder 8">
            <a:extLst>
              <a:ext uri="{FF2B5EF4-FFF2-40B4-BE49-F238E27FC236}">
                <a16:creationId xmlns:a16="http://schemas.microsoft.com/office/drawing/2014/main" id="{9F3F9AB4-72EE-E557-D442-1A774A8F85C1}"/>
              </a:ext>
            </a:extLst>
          </p:cNvPr>
          <p:cNvSpPr>
            <a:spLocks noGrp="1"/>
          </p:cNvSpPr>
          <p:nvPr>
            <p:ph type="title" idx="4294967295"/>
          </p:nvPr>
        </p:nvSpPr>
        <p:spPr>
          <a:xfrm>
            <a:off x="-1590" y="1624693"/>
            <a:ext cx="12192003" cy="1817203"/>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6000" b="1" i="0" u="none" strike="noStrike" kern="1200" cap="none" spc="0" normalizeH="0" baseline="0" noProof="0" dirty="0">
                <a:ln>
                  <a:noFill/>
                </a:ln>
                <a:solidFill>
                  <a:srgbClr val="236739"/>
                </a:solidFill>
                <a:effectLst/>
                <a:uLnTx/>
                <a:uFillTx/>
                <a:latin typeface="+mn-lt"/>
                <a:ea typeface="+mn-ea"/>
                <a:cs typeface="+mn-cs"/>
              </a:rPr>
              <a:t>Literal Equations</a:t>
            </a:r>
          </a:p>
        </p:txBody>
      </p:sp>
      <p:sp>
        <p:nvSpPr>
          <p:cNvPr id="4" name="Text Placeholder 3">
            <a:extLst>
              <a:ext uri="{FF2B5EF4-FFF2-40B4-BE49-F238E27FC236}">
                <a16:creationId xmlns:a16="http://schemas.microsoft.com/office/drawing/2014/main" id="{C4BC507F-0143-6704-9C2B-18134FD88522}"/>
              </a:ext>
            </a:extLst>
          </p:cNvPr>
          <p:cNvSpPr>
            <a:spLocks noGrp="1"/>
          </p:cNvSpPr>
          <p:nvPr>
            <p:ph type="body" sz="quarter" idx="13"/>
          </p:nvPr>
        </p:nvSpPr>
        <p:spPr/>
        <p:txBody>
          <a:bodyPr/>
          <a:lstStyle/>
          <a:p>
            <a:r>
              <a:rPr lang="en-US" dirty="0"/>
              <a:t>Algebra I | Module 3 | Topic 1 | Lesson 2</a:t>
            </a:r>
          </a:p>
        </p:txBody>
      </p:sp>
    </p:spTree>
    <p:extLst>
      <p:ext uri="{BB962C8B-B14F-4D97-AF65-F5344CB8AC3E}">
        <p14:creationId xmlns:p14="http://schemas.microsoft.com/office/powerpoint/2010/main" val="21819254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AB788BD-5AC8-F66E-ABEF-AD5339EB2C99}"/>
              </a:ext>
            </a:extLst>
          </p:cNvPr>
          <p:cNvSpPr>
            <a:spLocks noGrp="1"/>
          </p:cNvSpPr>
          <p:nvPr>
            <p:ph type="title"/>
          </p:nvPr>
        </p:nvSpPr>
        <p:spPr>
          <a:xfrm>
            <a:off x="1587" y="13855"/>
            <a:ext cx="6094413" cy="926757"/>
          </a:xfrm>
          <a:noFill/>
        </p:spPr>
        <p:txBody>
          <a:bodyPr/>
          <a:lstStyle/>
          <a:p>
            <a:r>
              <a:rPr lang="en-US" sz="4000" dirty="0"/>
              <a:t>Objectives</a:t>
            </a:r>
          </a:p>
        </p:txBody>
      </p:sp>
      <p:sp>
        <p:nvSpPr>
          <p:cNvPr id="4" name="Text Placeholder 3">
            <a:extLst>
              <a:ext uri="{FF2B5EF4-FFF2-40B4-BE49-F238E27FC236}">
                <a16:creationId xmlns:a16="http://schemas.microsoft.com/office/drawing/2014/main" id="{7B3EF6D6-21DA-06B8-522B-BDF27854BF2C}"/>
              </a:ext>
            </a:extLst>
          </p:cNvPr>
          <p:cNvSpPr>
            <a:spLocks noGrp="1"/>
          </p:cNvSpPr>
          <p:nvPr>
            <p:ph type="body" sz="quarter" idx="10"/>
          </p:nvPr>
        </p:nvSpPr>
        <p:spPr>
          <a:xfrm>
            <a:off x="836614" y="1830256"/>
            <a:ext cx="10515599" cy="3956418"/>
          </a:xfrm>
        </p:spPr>
        <p:txBody>
          <a:bodyPr/>
          <a:lstStyle/>
          <a:p>
            <a:pPr marL="457200" indent="-457200" algn="l">
              <a:buFont typeface="Arial" panose="020B0604020202020204" pitchFamily="34" charset="0"/>
              <a:buChar char="•"/>
            </a:pPr>
            <a:r>
              <a:rPr lang="en-US" sz="2800" dirty="0"/>
              <a:t>Rewrite linear equations in different forms.</a:t>
            </a:r>
          </a:p>
          <a:p>
            <a:pPr marL="457200" indent="-457200" algn="l">
              <a:buFont typeface="Arial" panose="020B0604020202020204" pitchFamily="34" charset="0"/>
              <a:buChar char="•"/>
            </a:pPr>
            <a:r>
              <a:rPr lang="en-US" sz="2800" dirty="0"/>
              <a:t>Analyze the structure of different forms of linear equations.</a:t>
            </a:r>
          </a:p>
          <a:p>
            <a:pPr marL="457200" indent="-457200" algn="l">
              <a:buFont typeface="Arial" panose="020B0604020202020204" pitchFamily="34" charset="0"/>
              <a:buChar char="•"/>
            </a:pPr>
            <a:r>
              <a:rPr lang="en-US" sz="2800" dirty="0"/>
              <a:t>Recognize and use literal equations.</a:t>
            </a:r>
          </a:p>
          <a:p>
            <a:pPr marL="457200" indent="-457200" algn="l">
              <a:buFont typeface="Arial" panose="020B0604020202020204" pitchFamily="34" charset="0"/>
              <a:buChar char="•"/>
            </a:pPr>
            <a:r>
              <a:rPr lang="en-US" sz="2800" dirty="0"/>
              <a:t>Rearrange literal equations to highlight quantities of interest. </a:t>
            </a:r>
          </a:p>
          <a:p>
            <a:pPr algn="l"/>
            <a:endParaRPr lang="en-US" sz="2800" dirty="0">
              <a:solidFill>
                <a:srgbClr val="000000"/>
              </a:solidFill>
            </a:endParaRPr>
          </a:p>
        </p:txBody>
      </p:sp>
    </p:spTree>
    <p:extLst>
      <p:ext uri="{BB962C8B-B14F-4D97-AF65-F5344CB8AC3E}">
        <p14:creationId xmlns:p14="http://schemas.microsoft.com/office/powerpoint/2010/main" val="33986065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A70F2F3-8205-D13B-F2FC-C7F18E6181C0}"/>
              </a:ext>
            </a:extLst>
          </p:cNvPr>
          <p:cNvSpPr>
            <a:spLocks noGrp="1"/>
          </p:cNvSpPr>
          <p:nvPr>
            <p:ph type="title"/>
          </p:nvPr>
        </p:nvSpPr>
        <p:spPr/>
        <p:txBody>
          <a:bodyPr/>
          <a:lstStyle/>
          <a:p>
            <a:pPr algn="l"/>
            <a:r>
              <a:rPr lang="en-US" b="1" dirty="0"/>
              <a:t>Key Terms </a:t>
            </a:r>
            <a:r>
              <a:rPr lang="en-US" sz="2000" b="1" dirty="0">
                <a:solidFill>
                  <a:schemeClr val="bg1"/>
                </a:solidFill>
              </a:rPr>
              <a:t>(1 of 1)</a:t>
            </a:r>
          </a:p>
        </p:txBody>
      </p:sp>
      <p:sp>
        <p:nvSpPr>
          <p:cNvPr id="10" name="Text Placeholder 1">
            <a:extLst>
              <a:ext uri="{FF2B5EF4-FFF2-40B4-BE49-F238E27FC236}">
                <a16:creationId xmlns:a16="http://schemas.microsoft.com/office/drawing/2014/main" id="{F7EC44D6-1E06-D576-D850-80AC0AC8A2DD}"/>
              </a:ext>
            </a:extLst>
          </p:cNvPr>
          <p:cNvSpPr txBox="1">
            <a:spLocks/>
          </p:cNvSpPr>
          <p:nvPr/>
        </p:nvSpPr>
        <p:spPr>
          <a:xfrm>
            <a:off x="777240" y="1600201"/>
            <a:ext cx="9885315" cy="996243"/>
          </a:xfrm>
          <a:prstGeom prst="rect">
            <a:avLst/>
          </a:prstGeom>
        </p:spPr>
        <p:txBody>
          <a:bodyPr>
            <a:normAutofit/>
          </a:bodyPr>
          <a:lstStyle>
            <a:lvl1pPr marL="0" indent="0" algn="l" defTabSz="914400" rtl="0" eaLnBrk="1" latinLnBrk="0" hangingPunct="1">
              <a:lnSpc>
                <a:spcPct val="90000"/>
              </a:lnSpc>
              <a:spcBef>
                <a:spcPts val="1000"/>
              </a:spcBef>
              <a:buFont typeface="Arial" panose="020B0604020202020204" pitchFamily="34" charset="0"/>
              <a:buNone/>
              <a:defRPr sz="2800" kern="1200">
                <a:solidFill>
                  <a:schemeClr val="bg2">
                    <a:lumMod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b="1" dirty="0">
                <a:solidFill>
                  <a:srgbClr val="000000"/>
                </a:solidFill>
              </a:rPr>
              <a:t>literal equation </a:t>
            </a:r>
            <a:r>
              <a:rPr lang="en-US" b="0" i="0" u="none" strike="noStrike" baseline="0" dirty="0"/>
              <a:t>[</a:t>
            </a:r>
            <a:r>
              <a:rPr lang="en-US" b="0" i="0" u="none" strike="noStrike" baseline="0" dirty="0" err="1"/>
              <a:t>ecuación</a:t>
            </a:r>
            <a:r>
              <a:rPr lang="en-US" b="0" i="0" u="none" strike="noStrike" baseline="0" dirty="0"/>
              <a:t> literal]</a:t>
            </a:r>
            <a:r>
              <a:rPr lang="en-US" dirty="0">
                <a:solidFill>
                  <a:srgbClr val="000000"/>
                </a:solidFill>
              </a:rPr>
              <a:t>: Literal equations are equations in which the variables represent specific measures</a:t>
            </a:r>
          </a:p>
          <a:p>
            <a:endParaRPr lang="en-US" i="1" dirty="0">
              <a:solidFill>
                <a:srgbClr val="000000"/>
              </a:solidFill>
            </a:endParaRPr>
          </a:p>
        </p:txBody>
      </p:sp>
      <p:sp>
        <p:nvSpPr>
          <p:cNvPr id="2" name="Text Placeholder 1">
            <a:extLst>
              <a:ext uri="{FF2B5EF4-FFF2-40B4-BE49-F238E27FC236}">
                <a16:creationId xmlns:a16="http://schemas.microsoft.com/office/drawing/2014/main" id="{760E26A2-942A-B4EC-C20E-342940C66B16}"/>
              </a:ext>
            </a:extLst>
          </p:cNvPr>
          <p:cNvSpPr txBox="1">
            <a:spLocks/>
          </p:cNvSpPr>
          <p:nvPr/>
        </p:nvSpPr>
        <p:spPr>
          <a:xfrm>
            <a:off x="777238" y="3429000"/>
            <a:ext cx="9885317" cy="1785256"/>
          </a:xfrm>
          <a:prstGeom prst="rect">
            <a:avLst/>
          </a:prstGeom>
        </p:spPr>
        <p:txBody>
          <a:bodyPr>
            <a:normAutofit/>
          </a:bodyPr>
          <a:lstStyle>
            <a:lvl1pPr marL="0" indent="0" algn="l" defTabSz="914400" rtl="0" eaLnBrk="1" latinLnBrk="0" hangingPunct="1">
              <a:lnSpc>
                <a:spcPct val="90000"/>
              </a:lnSpc>
              <a:spcBef>
                <a:spcPts val="1000"/>
              </a:spcBef>
              <a:buFont typeface="Arial" panose="020B0604020202020204" pitchFamily="34" charset="0"/>
              <a:buNone/>
              <a:defRPr sz="2800" kern="1200">
                <a:solidFill>
                  <a:schemeClr val="bg2">
                    <a:lumMod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spcAft>
                <a:spcPts val="1200"/>
              </a:spcAft>
            </a:pPr>
            <a:r>
              <a:rPr lang="en-US" b="1" dirty="0">
                <a:solidFill>
                  <a:srgbClr val="000000"/>
                </a:solidFill>
              </a:rPr>
              <a:t>Example</a:t>
            </a:r>
          </a:p>
          <a:p>
            <a:pPr marL="457200" lvl="1" indent="0">
              <a:buNone/>
            </a:pPr>
            <a:r>
              <a:rPr lang="en-US" sz="2800" dirty="0">
                <a:solidFill>
                  <a:srgbClr val="000000"/>
                </a:solidFill>
              </a:rPr>
              <a:t>The equations </a:t>
            </a:r>
            <a:r>
              <a:rPr lang="en-US" sz="2800" i="1" dirty="0">
                <a:solidFill>
                  <a:srgbClr val="000000"/>
                </a:solidFill>
              </a:rPr>
              <a:t>I</a:t>
            </a:r>
            <a:r>
              <a:rPr lang="en-US" sz="2800" dirty="0">
                <a:solidFill>
                  <a:srgbClr val="000000"/>
                </a:solidFill>
              </a:rPr>
              <a:t> = </a:t>
            </a:r>
            <a:r>
              <a:rPr lang="en-US" sz="2800" i="1" dirty="0" err="1">
                <a:solidFill>
                  <a:srgbClr val="000000"/>
                </a:solidFill>
              </a:rPr>
              <a:t>Prt</a:t>
            </a:r>
            <a:r>
              <a:rPr lang="en-US" sz="2800" dirty="0">
                <a:solidFill>
                  <a:srgbClr val="000000"/>
                </a:solidFill>
              </a:rPr>
              <a:t> and </a:t>
            </a:r>
            <a:r>
              <a:rPr lang="en-US" sz="2800" i="1" dirty="0">
                <a:solidFill>
                  <a:srgbClr val="000000"/>
                </a:solidFill>
              </a:rPr>
              <a:t>A</a:t>
            </a:r>
            <a:r>
              <a:rPr lang="en-US" sz="2800" dirty="0">
                <a:solidFill>
                  <a:srgbClr val="000000"/>
                </a:solidFill>
              </a:rPr>
              <a:t> = </a:t>
            </a:r>
            <a:r>
              <a:rPr lang="en-US" sz="2800" i="1" dirty="0" err="1">
                <a:solidFill>
                  <a:srgbClr val="000000"/>
                </a:solidFill>
              </a:rPr>
              <a:t>lw</a:t>
            </a:r>
            <a:r>
              <a:rPr lang="en-US" sz="2800" dirty="0">
                <a:solidFill>
                  <a:srgbClr val="000000"/>
                </a:solidFill>
              </a:rPr>
              <a:t> are literal equations.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8A3AC8-B56F-47DA-AEF2-F3F1E9E2CDA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EB9966A-6415-B35F-AC87-062F5FC26C5C}"/>
              </a:ext>
            </a:extLst>
          </p:cNvPr>
          <p:cNvSpPr>
            <a:spLocks noGrp="1"/>
          </p:cNvSpPr>
          <p:nvPr>
            <p:ph type="title"/>
          </p:nvPr>
        </p:nvSpPr>
        <p:spPr>
          <a:xfrm>
            <a:off x="734787" y="10892"/>
            <a:ext cx="10123714" cy="1263192"/>
          </a:xfrm>
        </p:spPr>
        <p:txBody>
          <a:bodyPr/>
          <a:lstStyle/>
          <a:p>
            <a:pPr algn="l"/>
            <a:r>
              <a:rPr lang="en-US" b="1" dirty="0"/>
              <a:t>Essential Question </a:t>
            </a:r>
            <a:r>
              <a:rPr lang="en-US" sz="2000" b="1" kern="1200" dirty="0">
                <a:solidFill>
                  <a:schemeClr val="bg1"/>
                </a:solidFill>
                <a:latin typeface="+mj-lt"/>
                <a:ea typeface="+mj-ea"/>
                <a:cs typeface="+mj-cs"/>
              </a:rPr>
              <a:t>(1 of 2)</a:t>
            </a:r>
          </a:p>
        </p:txBody>
      </p:sp>
      <p:sp>
        <p:nvSpPr>
          <p:cNvPr id="9" name="Text Placeholder 2">
            <a:extLst>
              <a:ext uri="{FF2B5EF4-FFF2-40B4-BE49-F238E27FC236}">
                <a16:creationId xmlns:a16="http://schemas.microsoft.com/office/drawing/2014/main" id="{325B2EA2-DB03-43C5-FC66-7B772EA97525}"/>
              </a:ext>
            </a:extLst>
          </p:cNvPr>
          <p:cNvSpPr txBox="1">
            <a:spLocks/>
          </p:cNvSpPr>
          <p:nvPr/>
        </p:nvSpPr>
        <p:spPr>
          <a:xfrm>
            <a:off x="734787" y="1616529"/>
            <a:ext cx="9935934" cy="418836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spcBef>
                <a:spcPts val="24"/>
              </a:spcBef>
              <a:buNone/>
            </a:pPr>
            <a:r>
              <a:rPr lang="en-US" sz="2800" dirty="0">
                <a:solidFill>
                  <a:srgbClr val="000000"/>
                </a:solidFill>
              </a:rPr>
              <a:t>You have used different properties to solve linear equations to determine which value makes the equation true.</a:t>
            </a:r>
          </a:p>
          <a:p>
            <a:pPr marL="0" indent="0">
              <a:spcBef>
                <a:spcPts val="24"/>
              </a:spcBef>
              <a:buNone/>
            </a:pPr>
            <a:br>
              <a:rPr lang="en-US" sz="2800" dirty="0">
                <a:solidFill>
                  <a:srgbClr val="000000"/>
                </a:solidFill>
              </a:rPr>
            </a:br>
            <a:endParaRPr lang="en-US" sz="2800" dirty="0">
              <a:solidFill>
                <a:srgbClr val="000000"/>
              </a:solidFill>
            </a:endParaRPr>
          </a:p>
          <a:p>
            <a:pPr marL="0" indent="0">
              <a:spcBef>
                <a:spcPts val="24"/>
              </a:spcBef>
              <a:buNone/>
            </a:pPr>
            <a:endParaRPr lang="en-US" sz="2800" dirty="0">
              <a:solidFill>
                <a:srgbClr val="000000"/>
              </a:solidFill>
            </a:endParaRPr>
          </a:p>
          <a:p>
            <a:pPr marL="0" indent="0">
              <a:spcBef>
                <a:spcPts val="24"/>
              </a:spcBef>
              <a:buNone/>
            </a:pPr>
            <a:r>
              <a:rPr lang="en-US" sz="2800" dirty="0">
                <a:solidFill>
                  <a:srgbClr val="000000"/>
                </a:solidFill>
              </a:rPr>
              <a:t>How can you use those same properties to solve for one specific variable in an equation that has multiple variables?</a:t>
            </a:r>
          </a:p>
        </p:txBody>
      </p:sp>
    </p:spTree>
    <p:extLst>
      <p:ext uri="{BB962C8B-B14F-4D97-AF65-F5344CB8AC3E}">
        <p14:creationId xmlns:p14="http://schemas.microsoft.com/office/powerpoint/2010/main" val="24930832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84E7D1-4EEC-73C8-A8B1-25799A77981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CFA90BF-E127-672C-DE36-C0738BC656D8}"/>
              </a:ext>
            </a:extLst>
          </p:cNvPr>
          <p:cNvSpPr>
            <a:spLocks noGrp="1"/>
          </p:cNvSpPr>
          <p:nvPr>
            <p:ph type="title" idx="4294967295"/>
          </p:nvPr>
        </p:nvSpPr>
        <p:spPr>
          <a:xfrm>
            <a:off x="838200" y="-457200"/>
            <a:ext cx="10514013" cy="457200"/>
          </a:xfrm>
          <a:prstGeom prst="rect">
            <a:avLst/>
          </a:prstGeom>
        </p:spPr>
        <p:txBody>
          <a:bodyPr anchor="b"/>
          <a:lstStyle/>
          <a:p>
            <a:r>
              <a:rPr lang="en-US" sz="2000" dirty="0">
                <a:solidFill>
                  <a:schemeClr val="bg2"/>
                </a:solidFill>
              </a:rPr>
              <a:t>Day 1</a:t>
            </a:r>
          </a:p>
        </p:txBody>
      </p:sp>
      <p:sp>
        <p:nvSpPr>
          <p:cNvPr id="4" name="Text Placeholder 3">
            <a:extLst>
              <a:ext uri="{FF2B5EF4-FFF2-40B4-BE49-F238E27FC236}">
                <a16:creationId xmlns:a16="http://schemas.microsoft.com/office/drawing/2014/main" id="{1586B9D5-0714-C453-BF23-634EFB6E39F7}"/>
              </a:ext>
              <a:ext uri="{C183D7F6-B498-43B3-948B-1728B52AA6E4}">
                <adec:decorative xmlns:adec="http://schemas.microsoft.com/office/drawing/2017/decorative" val="1"/>
              </a:ext>
            </a:extLst>
          </p:cNvPr>
          <p:cNvSpPr>
            <a:spLocks noGrp="1"/>
          </p:cNvSpPr>
          <p:nvPr>
            <p:ph type="body" sz="quarter" idx="11"/>
          </p:nvPr>
        </p:nvSpPr>
        <p:spPr>
          <a:xfrm>
            <a:off x="6658975" y="2832927"/>
            <a:ext cx="1061883" cy="1071562"/>
          </a:xfrm>
        </p:spPr>
        <p:txBody>
          <a:bodyPr/>
          <a:lstStyle/>
          <a:p>
            <a:pPr marL="0" indent="0">
              <a:buNone/>
            </a:pPr>
            <a:r>
              <a:rPr lang="en-US" sz="7500" b="1" dirty="0">
                <a:solidFill>
                  <a:srgbClr val="000000"/>
                </a:solidFill>
                <a:latin typeface="Calibri" panose="020F0502020204030204" pitchFamily="34" charset="0"/>
                <a:ea typeface="Calibri" panose="020F0502020204030204" pitchFamily="34" charset="0"/>
                <a:cs typeface="Calibri" panose="020F0502020204030204" pitchFamily="34" charset="0"/>
              </a:rPr>
              <a:t>1</a:t>
            </a:r>
          </a:p>
        </p:txBody>
      </p:sp>
    </p:spTree>
    <p:extLst>
      <p:ext uri="{BB962C8B-B14F-4D97-AF65-F5344CB8AC3E}">
        <p14:creationId xmlns:p14="http://schemas.microsoft.com/office/powerpoint/2010/main" val="35450964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73B6511-319C-24C4-E798-AB7E16128256}"/>
              </a:ext>
            </a:extLst>
          </p:cNvPr>
          <p:cNvSpPr>
            <a:spLocks noGrp="1"/>
          </p:cNvSpPr>
          <p:nvPr>
            <p:ph type="title" idx="4294967295"/>
          </p:nvPr>
        </p:nvSpPr>
        <p:spPr>
          <a:xfrm>
            <a:off x="838200" y="-506186"/>
            <a:ext cx="10514013" cy="506186"/>
          </a:xfrm>
          <a:prstGeom prst="rect">
            <a:avLst/>
          </a:prstGeom>
        </p:spPr>
        <p:txBody>
          <a:bodyPr anchor="b"/>
          <a:lstStyle/>
          <a:p>
            <a:r>
              <a:rPr lang="en-US" sz="2000" dirty="0">
                <a:solidFill>
                  <a:schemeClr val="bg2"/>
                </a:solidFill>
              </a:rPr>
              <a:t>Getting Started</a:t>
            </a:r>
          </a:p>
        </p:txBody>
      </p:sp>
      <p:sp>
        <p:nvSpPr>
          <p:cNvPr id="2" name="Text Placeholder 1" descr="15 to 20 minutes">
            <a:extLst>
              <a:ext uri="{FF2B5EF4-FFF2-40B4-BE49-F238E27FC236}">
                <a16:creationId xmlns:a16="http://schemas.microsoft.com/office/drawing/2014/main" id="{461C201E-12AD-57EF-47E5-2D96E6063E25}"/>
              </a:ext>
            </a:extLst>
          </p:cNvPr>
          <p:cNvSpPr>
            <a:spLocks noGrp="1"/>
          </p:cNvSpPr>
          <p:nvPr>
            <p:ph type="body" sz="quarter" idx="12"/>
          </p:nvPr>
        </p:nvSpPr>
        <p:spPr>
          <a:xfrm>
            <a:off x="10614990" y="5781873"/>
            <a:ext cx="863947" cy="795338"/>
          </a:xfrm>
        </p:spPr>
        <p:txBody>
          <a:bodyPr/>
          <a:lstStyle/>
          <a:p>
            <a:r>
              <a:rPr lang="en-US" b="1" dirty="0"/>
              <a:t>15</a:t>
            </a:r>
          </a:p>
        </p:txBody>
      </p:sp>
    </p:spTree>
    <p:extLst>
      <p:ext uri="{BB962C8B-B14F-4D97-AF65-F5344CB8AC3E}">
        <p14:creationId xmlns:p14="http://schemas.microsoft.com/office/powerpoint/2010/main" val="37196198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D9FB43-679B-E397-30E3-50A521E99FC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49FA50D-5DB0-765E-2A80-183E705A899F}"/>
              </a:ext>
            </a:extLst>
          </p:cNvPr>
          <p:cNvSpPr>
            <a:spLocks noGrp="1"/>
          </p:cNvSpPr>
          <p:nvPr>
            <p:ph type="title"/>
          </p:nvPr>
        </p:nvSpPr>
        <p:spPr/>
        <p:txBody>
          <a:bodyPr/>
          <a:lstStyle/>
          <a:p>
            <a:pPr algn="l"/>
            <a:r>
              <a:rPr lang="en-US" b="1" dirty="0"/>
              <a:t>Perimeter Perspectives</a:t>
            </a:r>
            <a:r>
              <a:rPr lang="en-US" sz="4000" b="1" kern="1200" dirty="0">
                <a:solidFill>
                  <a:srgbClr val="2B8147"/>
                </a:solidFill>
                <a:effectLst/>
                <a:latin typeface="+mj-lt"/>
                <a:ea typeface="+mj-ea"/>
                <a:cs typeface="+mj-cs"/>
              </a:rPr>
              <a:t> </a:t>
            </a:r>
            <a:r>
              <a:rPr lang="en-US" sz="2000" b="1" kern="1200" dirty="0">
                <a:solidFill>
                  <a:schemeClr val="bg1"/>
                </a:solidFill>
                <a:latin typeface="+mj-lt"/>
                <a:ea typeface="+mj-ea"/>
                <a:cs typeface="+mj-cs"/>
              </a:rPr>
              <a:t>(1 of 6)</a:t>
            </a:r>
          </a:p>
        </p:txBody>
      </p:sp>
      <p:sp>
        <p:nvSpPr>
          <p:cNvPr id="2" name="Text Placeholder 2">
            <a:extLst>
              <a:ext uri="{FF2B5EF4-FFF2-40B4-BE49-F238E27FC236}">
                <a16:creationId xmlns:a16="http://schemas.microsoft.com/office/drawing/2014/main" id="{70C1E34C-7E62-1005-A795-8E05218D3CB1}"/>
              </a:ext>
            </a:extLst>
          </p:cNvPr>
          <p:cNvSpPr txBox="1">
            <a:spLocks/>
          </p:cNvSpPr>
          <p:nvPr/>
        </p:nvSpPr>
        <p:spPr>
          <a:xfrm>
            <a:off x="777240" y="1608364"/>
            <a:ext cx="9890759" cy="1642836"/>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sz="2800" dirty="0">
                <a:solidFill>
                  <a:srgbClr val="000000"/>
                </a:solidFill>
              </a:rPr>
              <a:t>Juan and Mia have rectangular backyards that each share a side with a neighborhood park. The sides shared with the park are adjacent to each other as shown.</a:t>
            </a:r>
          </a:p>
          <a:p>
            <a:pPr marL="0" indent="0">
              <a:buNone/>
            </a:pPr>
            <a:endParaRPr lang="en-US" sz="2800" dirty="0">
              <a:solidFill>
                <a:srgbClr val="000000"/>
              </a:solidFill>
            </a:endParaRPr>
          </a:p>
        </p:txBody>
      </p:sp>
      <p:pic>
        <p:nvPicPr>
          <p:cNvPr id="6" name="Picture 5" descr="A diagram of the 2 backyards and the park. The park is a rectangle with length l and width w. Juan's backyard shares the left width side of the park. Mia's backyard shares the bottom length side of the park.">
            <a:extLst>
              <a:ext uri="{FF2B5EF4-FFF2-40B4-BE49-F238E27FC236}">
                <a16:creationId xmlns:a16="http://schemas.microsoft.com/office/drawing/2014/main" id="{3EE76978-574B-E4AF-2221-3ADCFFBCD0AD}"/>
              </a:ext>
            </a:extLst>
          </p:cNvPr>
          <p:cNvPicPr>
            <a:picLocks noChangeAspect="1"/>
          </p:cNvPicPr>
          <p:nvPr/>
        </p:nvPicPr>
        <p:blipFill>
          <a:blip r:embed="rId3"/>
          <a:stretch>
            <a:fillRect/>
          </a:stretch>
        </p:blipFill>
        <p:spPr>
          <a:xfrm>
            <a:off x="3388995" y="3293533"/>
            <a:ext cx="3706868" cy="1956103"/>
          </a:xfrm>
          <a:prstGeom prst="rect">
            <a:avLst/>
          </a:prstGeom>
        </p:spPr>
      </p:pic>
    </p:spTree>
    <p:extLst>
      <p:ext uri="{BB962C8B-B14F-4D97-AF65-F5344CB8AC3E}">
        <p14:creationId xmlns:p14="http://schemas.microsoft.com/office/powerpoint/2010/main" val="26787716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9FD0B2-A9E7-0A4C-CC80-65AF82D6DF2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962E77F-B1D6-40AE-592B-5BAB37399846}"/>
              </a:ext>
            </a:extLst>
          </p:cNvPr>
          <p:cNvSpPr>
            <a:spLocks noGrp="1"/>
          </p:cNvSpPr>
          <p:nvPr>
            <p:ph type="title"/>
          </p:nvPr>
        </p:nvSpPr>
        <p:spPr>
          <a:xfrm>
            <a:off x="777240" y="1"/>
            <a:ext cx="11425482" cy="1263192"/>
          </a:xfrm>
        </p:spPr>
        <p:txBody>
          <a:bodyPr/>
          <a:lstStyle/>
          <a:p>
            <a:pPr algn="l" defTabSz="914400" rtl="0" eaLnBrk="1" latinLnBrk="0" hangingPunct="1">
              <a:lnSpc>
                <a:spcPct val="90000"/>
              </a:lnSpc>
              <a:spcBef>
                <a:spcPct val="0"/>
              </a:spcBef>
              <a:buNone/>
            </a:pPr>
            <a:r>
              <a:rPr lang="en-US" b="1" dirty="0"/>
              <a:t>Perimeter Perspectives</a:t>
            </a:r>
            <a:r>
              <a:rPr lang="en-US" sz="4000" b="1" kern="1200" dirty="0">
                <a:solidFill>
                  <a:srgbClr val="2B8147"/>
                </a:solidFill>
                <a:effectLst/>
                <a:latin typeface="+mj-lt"/>
                <a:ea typeface="+mj-ea"/>
                <a:cs typeface="+mj-cs"/>
              </a:rPr>
              <a:t> </a:t>
            </a:r>
            <a:r>
              <a:rPr lang="en-US" sz="2000" b="1" kern="1200" dirty="0">
                <a:solidFill>
                  <a:schemeClr val="bg1"/>
                </a:solidFill>
                <a:latin typeface="+mj-lt"/>
                <a:ea typeface="+mj-ea"/>
                <a:cs typeface="+mj-cs"/>
              </a:rPr>
              <a:t>(2 of 6)</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BFA83B29-9DEA-CBCC-B3E2-32D4ACF98923}"/>
                  </a:ext>
                </a:extLst>
              </p:cNvPr>
              <p:cNvSpPr txBox="1"/>
              <p:nvPr/>
            </p:nvSpPr>
            <p:spPr>
              <a:xfrm>
                <a:off x="777239" y="1765166"/>
                <a:ext cx="2914227" cy="1663834"/>
              </a:xfrm>
              <a:prstGeom prst="rect">
                <a:avLst/>
              </a:prstGeom>
              <a:noFill/>
              <a:ln w="31750">
                <a:solidFill>
                  <a:srgbClr val="008F4C"/>
                </a:solidFill>
                <a:prstDash val="sysDot"/>
              </a:ln>
            </p:spPr>
            <p:txBody>
              <a:bodyPr wrap="square" lIns="182880" rtlCol="0" anchor="ctr" anchorCtr="0">
                <a:noAutofit/>
              </a:bodyPr>
              <a:lstStyle/>
              <a:p>
                <a:r>
                  <a:rPr lang="en-US" sz="2000" b="1" dirty="0">
                    <a:solidFill>
                      <a:srgbClr val="2B8147"/>
                    </a:solidFill>
                  </a:rPr>
                  <a:t>Remember…</a:t>
                </a:r>
                <a:endParaRPr lang="en-US" sz="2000" dirty="0">
                  <a:solidFill>
                    <a:schemeClr val="bg2">
                      <a:lumMod val="25000"/>
                    </a:schemeClr>
                  </a:solidFill>
                </a:endParaRPr>
              </a:p>
              <a:p>
                <a:r>
                  <a:rPr lang="en-US" sz="2000" dirty="0">
                    <a:solidFill>
                      <a:schemeClr val="bg2">
                        <a:lumMod val="25000"/>
                      </a:schemeClr>
                    </a:solidFill>
                  </a:rPr>
                  <a:t>The formula for the</a:t>
                </a:r>
              </a:p>
              <a:p>
                <a:r>
                  <a:rPr lang="en-US" sz="2000" dirty="0">
                    <a:solidFill>
                      <a:schemeClr val="bg2">
                        <a:lumMod val="25000"/>
                      </a:schemeClr>
                    </a:solidFill>
                  </a:rPr>
                  <a:t>perimeter of a rectangle</a:t>
                </a:r>
              </a:p>
              <a:p>
                <a:r>
                  <a:rPr lang="en-US" sz="2000" dirty="0">
                    <a:solidFill>
                      <a:schemeClr val="bg2">
                        <a:lumMod val="25000"/>
                      </a:schemeClr>
                    </a:solidFill>
                  </a:rPr>
                  <a:t>is </a:t>
                </a:r>
                <a14:m>
                  <m:oMath xmlns:m="http://schemas.openxmlformats.org/officeDocument/2006/math">
                    <m:r>
                      <a:rPr lang="en-US" sz="2000" i="1" dirty="0" smtClean="0">
                        <a:solidFill>
                          <a:schemeClr val="bg2">
                            <a:lumMod val="25000"/>
                          </a:schemeClr>
                        </a:solidFill>
                        <a:latin typeface="Cambria Math" panose="02040503050406030204" pitchFamily="18" charset="0"/>
                      </a:rPr>
                      <m:t>𝑃</m:t>
                    </m:r>
                    <m:r>
                      <a:rPr lang="en-US" sz="2000" i="1" dirty="0" smtClean="0">
                        <a:solidFill>
                          <a:schemeClr val="bg2">
                            <a:lumMod val="25000"/>
                          </a:schemeClr>
                        </a:solidFill>
                        <a:latin typeface="Cambria Math" panose="02040503050406030204" pitchFamily="18" charset="0"/>
                      </a:rPr>
                      <m:t>=2ℓ+ 2</m:t>
                    </m:r>
                    <m:r>
                      <a:rPr lang="en-US" sz="2000" i="1" dirty="0" smtClean="0">
                        <a:solidFill>
                          <a:schemeClr val="bg2">
                            <a:lumMod val="25000"/>
                          </a:schemeClr>
                        </a:solidFill>
                        <a:latin typeface="Cambria Math" panose="02040503050406030204" pitchFamily="18" charset="0"/>
                      </a:rPr>
                      <m:t>𝑤</m:t>
                    </m:r>
                  </m:oMath>
                </a14:m>
                <a:r>
                  <a:rPr lang="en-US" sz="2000" dirty="0">
                    <a:solidFill>
                      <a:schemeClr val="bg2">
                        <a:lumMod val="25000"/>
                      </a:schemeClr>
                    </a:solidFill>
                  </a:rPr>
                  <a:t>.</a:t>
                </a:r>
              </a:p>
            </p:txBody>
          </p:sp>
        </mc:Choice>
        <mc:Fallback xmlns="">
          <p:sp>
            <p:nvSpPr>
              <p:cNvPr id="2" name="TextBox 1">
                <a:extLst>
                  <a:ext uri="{FF2B5EF4-FFF2-40B4-BE49-F238E27FC236}">
                    <a16:creationId xmlns:a16="http://schemas.microsoft.com/office/drawing/2014/main" id="{BFA83B29-9DEA-CBCC-B3E2-32D4ACF98923}"/>
                  </a:ext>
                </a:extLst>
              </p:cNvPr>
              <p:cNvSpPr txBox="1">
                <a:spLocks noRot="1" noChangeAspect="1" noMove="1" noResize="1" noEditPoints="1" noAdjustHandles="1" noChangeArrowheads="1" noChangeShapeType="1" noTextEdit="1"/>
              </p:cNvSpPr>
              <p:nvPr/>
            </p:nvSpPr>
            <p:spPr>
              <a:xfrm>
                <a:off x="777239" y="1765166"/>
                <a:ext cx="2914227" cy="1663834"/>
              </a:xfrm>
              <a:prstGeom prst="rect">
                <a:avLst/>
              </a:prstGeom>
              <a:blipFill>
                <a:blip r:embed="rId3"/>
                <a:stretch>
                  <a:fillRect/>
                </a:stretch>
              </a:blipFill>
              <a:ln w="31750">
                <a:solidFill>
                  <a:srgbClr val="008F4C"/>
                </a:solidFill>
                <a:prstDash val="sysDot"/>
              </a:ln>
            </p:spPr>
            <p:txBody>
              <a:bodyPr/>
              <a:lstStyle/>
              <a:p>
                <a:r>
                  <a:rPr lang="en-US">
                    <a:noFill/>
                  </a:rPr>
                  <a:t> </a:t>
                </a:r>
              </a:p>
            </p:txBody>
          </p:sp>
        </mc:Fallback>
      </mc:AlternateContent>
      <p:sp>
        <p:nvSpPr>
          <p:cNvPr id="9" name="Text Placeholder 2">
            <a:extLst>
              <a:ext uri="{FF2B5EF4-FFF2-40B4-BE49-F238E27FC236}">
                <a16:creationId xmlns:a16="http://schemas.microsoft.com/office/drawing/2014/main" id="{88A40426-95CC-EF9E-540F-D1B1DE38C8D6}"/>
              </a:ext>
            </a:extLst>
          </p:cNvPr>
          <p:cNvSpPr txBox="1">
            <a:spLocks/>
          </p:cNvSpPr>
          <p:nvPr/>
        </p:nvSpPr>
        <p:spPr>
          <a:xfrm>
            <a:off x="3928533" y="1608364"/>
            <a:ext cx="7225020" cy="4521503"/>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sz="2800" dirty="0">
                <a:solidFill>
                  <a:schemeClr val="bg2">
                    <a:lumMod val="25000"/>
                  </a:schemeClr>
                </a:solidFill>
              </a:rPr>
              <a:t>Juan and Mia are each responsible for constructing their own fence to separate their yard from the park. The city gives them the measure of the perimeter of the park in feet. So that each knows how much fencing to buy, Juan needs to determine the width of the park, and Mia needs to determine the length of the park.</a:t>
            </a:r>
          </a:p>
        </p:txBody>
      </p:sp>
    </p:spTree>
    <p:extLst>
      <p:ext uri="{BB962C8B-B14F-4D97-AF65-F5344CB8AC3E}">
        <p14:creationId xmlns:p14="http://schemas.microsoft.com/office/powerpoint/2010/main" val="25823097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FF1BFF-14F4-BEA8-59A2-6CBE93CFE7B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3BA6A1A-FA89-DD6A-EFFC-03853B84F64A}"/>
              </a:ext>
            </a:extLst>
          </p:cNvPr>
          <p:cNvSpPr>
            <a:spLocks noGrp="1"/>
          </p:cNvSpPr>
          <p:nvPr>
            <p:ph type="title"/>
          </p:nvPr>
        </p:nvSpPr>
        <p:spPr>
          <a:xfrm>
            <a:off x="777240" y="1"/>
            <a:ext cx="11425482" cy="1263192"/>
          </a:xfrm>
        </p:spPr>
        <p:txBody>
          <a:bodyPr/>
          <a:lstStyle/>
          <a:p>
            <a:pPr algn="l" defTabSz="914400" rtl="0" eaLnBrk="1" latinLnBrk="0" hangingPunct="1">
              <a:lnSpc>
                <a:spcPct val="90000"/>
              </a:lnSpc>
              <a:spcBef>
                <a:spcPct val="0"/>
              </a:spcBef>
              <a:buNone/>
            </a:pPr>
            <a:r>
              <a:rPr lang="en-US" b="1" dirty="0"/>
              <a:t>Perimeter Perspectives</a:t>
            </a:r>
            <a:r>
              <a:rPr lang="en-US" sz="4000" b="1" kern="1200" dirty="0">
                <a:solidFill>
                  <a:srgbClr val="2B8147"/>
                </a:solidFill>
                <a:effectLst/>
                <a:latin typeface="+mj-lt"/>
                <a:ea typeface="+mj-ea"/>
                <a:cs typeface="+mj-cs"/>
              </a:rPr>
              <a:t> </a:t>
            </a:r>
            <a:r>
              <a:rPr lang="en-US" sz="2000" b="1" kern="1200" dirty="0">
                <a:solidFill>
                  <a:schemeClr val="bg1"/>
                </a:solidFill>
                <a:latin typeface="+mj-lt"/>
                <a:ea typeface="+mj-ea"/>
                <a:cs typeface="+mj-cs"/>
              </a:rPr>
              <a:t>(3 of 6)</a:t>
            </a:r>
          </a:p>
        </p:txBody>
      </p:sp>
      <p:sp>
        <p:nvSpPr>
          <p:cNvPr id="9" name="Text Placeholder 2">
            <a:extLst>
              <a:ext uri="{FF2B5EF4-FFF2-40B4-BE49-F238E27FC236}">
                <a16:creationId xmlns:a16="http://schemas.microsoft.com/office/drawing/2014/main" id="{A99AA9CB-A5EE-DECF-B298-6DD9E7A44C05}"/>
              </a:ext>
            </a:extLst>
          </p:cNvPr>
          <p:cNvSpPr txBox="1">
            <a:spLocks/>
          </p:cNvSpPr>
          <p:nvPr/>
        </p:nvSpPr>
        <p:spPr>
          <a:xfrm>
            <a:off x="722489" y="1608364"/>
            <a:ext cx="10792178" cy="4521503"/>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buFont typeface="+mj-lt"/>
              <a:buAutoNum type="arabicPeriod"/>
            </a:pPr>
            <a:r>
              <a:rPr lang="en-US" sz="2800" dirty="0">
                <a:solidFill>
                  <a:schemeClr val="bg2">
                    <a:lumMod val="25000"/>
                  </a:schemeClr>
                </a:solidFill>
              </a:rPr>
              <a:t>How can you write an equation for the perimeter of the park from each person’s perspective to help them determine the information they need?</a:t>
            </a:r>
          </a:p>
        </p:txBody>
      </p:sp>
    </p:spTree>
    <p:extLst>
      <p:ext uri="{BB962C8B-B14F-4D97-AF65-F5344CB8AC3E}">
        <p14:creationId xmlns:p14="http://schemas.microsoft.com/office/powerpoint/2010/main" val="17758055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403BC3-0910-50A8-9745-83599954E1C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1A00DA2-53A3-69D8-9F1F-AB5EE1C786E0}"/>
              </a:ext>
            </a:extLst>
          </p:cNvPr>
          <p:cNvSpPr>
            <a:spLocks noGrp="1"/>
          </p:cNvSpPr>
          <p:nvPr>
            <p:ph type="title"/>
          </p:nvPr>
        </p:nvSpPr>
        <p:spPr/>
        <p:txBody>
          <a:bodyPr/>
          <a:lstStyle/>
          <a:p>
            <a:pPr algn="l"/>
            <a:r>
              <a:rPr lang="en-US" b="1" dirty="0"/>
              <a:t>Perimeter Perspectives </a:t>
            </a:r>
            <a:r>
              <a:rPr lang="en-US" sz="2000" b="1" dirty="0">
                <a:solidFill>
                  <a:schemeClr val="bg1"/>
                </a:solidFill>
              </a:rPr>
              <a:t>(4 of 6)</a:t>
            </a:r>
          </a:p>
        </p:txBody>
      </p:sp>
      <p:sp>
        <p:nvSpPr>
          <p:cNvPr id="3" name="TextBox 2">
            <a:extLst>
              <a:ext uri="{FF2B5EF4-FFF2-40B4-BE49-F238E27FC236}">
                <a16:creationId xmlns:a16="http://schemas.microsoft.com/office/drawing/2014/main" id="{9CCAA1A5-2471-9470-FEF0-7EA26DBD9090}"/>
              </a:ext>
            </a:extLst>
          </p:cNvPr>
          <p:cNvSpPr txBox="1"/>
          <p:nvPr/>
        </p:nvSpPr>
        <p:spPr>
          <a:xfrm>
            <a:off x="745062" y="1617674"/>
            <a:ext cx="7901820" cy="1384995"/>
          </a:xfrm>
          <a:prstGeom prst="rect">
            <a:avLst/>
          </a:prstGeom>
          <a:noFill/>
        </p:spPr>
        <p:txBody>
          <a:bodyPr wrap="square" rtlCol="0">
            <a:spAutoFit/>
          </a:bodyPr>
          <a:lstStyle/>
          <a:p>
            <a:pPr marL="514350" indent="-514350">
              <a:buFont typeface="+mj-lt"/>
              <a:buAutoNum type="arabicPeriod" startAt="2"/>
            </a:pPr>
            <a:r>
              <a:rPr lang="en-US" sz="2800" dirty="0">
                <a:solidFill>
                  <a:srgbClr val="000000"/>
                </a:solidFill>
              </a:rPr>
              <a:t>Show that the two equations are equivalent.</a:t>
            </a:r>
            <a:br>
              <a:rPr lang="en-US" sz="2800" dirty="0">
                <a:solidFill>
                  <a:srgbClr val="000000"/>
                </a:solidFill>
              </a:rPr>
            </a:br>
            <a:br>
              <a:rPr lang="en-US" sz="2800" dirty="0">
                <a:solidFill>
                  <a:srgbClr val="000000"/>
                </a:solidFill>
              </a:rPr>
            </a:br>
            <a:endParaRPr lang="en-US" sz="2800" dirty="0">
              <a:solidFill>
                <a:srgbClr val="000000"/>
              </a:solidFill>
            </a:endParaRPr>
          </a:p>
        </p:txBody>
      </p:sp>
    </p:spTree>
    <p:extLst>
      <p:ext uri="{BB962C8B-B14F-4D97-AF65-F5344CB8AC3E}">
        <p14:creationId xmlns:p14="http://schemas.microsoft.com/office/powerpoint/2010/main" val="40473951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C64592-7F7B-1973-FE4F-D5A02DADEC2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FA00826-C6A3-00C8-7B57-63206214E632}"/>
              </a:ext>
            </a:extLst>
          </p:cNvPr>
          <p:cNvSpPr>
            <a:spLocks noGrp="1"/>
          </p:cNvSpPr>
          <p:nvPr>
            <p:ph type="title"/>
          </p:nvPr>
        </p:nvSpPr>
        <p:spPr/>
        <p:txBody>
          <a:bodyPr/>
          <a:lstStyle/>
          <a:p>
            <a:pPr algn="l"/>
            <a:r>
              <a:rPr lang="en-US" b="1" dirty="0"/>
              <a:t>Perimeter Perspectives </a:t>
            </a:r>
            <a:r>
              <a:rPr lang="en-US" sz="2000" b="1" dirty="0">
                <a:solidFill>
                  <a:schemeClr val="bg1"/>
                </a:solidFill>
              </a:rPr>
              <a:t>(5 of 6) </a:t>
            </a:r>
          </a:p>
        </p:txBody>
      </p:sp>
      <p:sp>
        <p:nvSpPr>
          <p:cNvPr id="9" name="Text Placeholder 2">
            <a:extLst>
              <a:ext uri="{FF2B5EF4-FFF2-40B4-BE49-F238E27FC236}">
                <a16:creationId xmlns:a16="http://schemas.microsoft.com/office/drawing/2014/main" id="{0224E92D-72C0-6DF3-2985-6F8E2D67E2FE}"/>
              </a:ext>
            </a:extLst>
          </p:cNvPr>
          <p:cNvSpPr txBox="1">
            <a:spLocks/>
          </p:cNvSpPr>
          <p:nvPr/>
        </p:nvSpPr>
        <p:spPr>
          <a:xfrm>
            <a:off x="777240" y="1616140"/>
            <a:ext cx="9902597" cy="402191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r>
              <a:rPr lang="en-US" sz="2800" b="0" i="0" u="none" strike="noStrike" baseline="0" dirty="0">
                <a:solidFill>
                  <a:srgbClr val="000000"/>
                </a:solidFill>
              </a:rPr>
              <a:t>Let’s summarize our learning from the Getting Started!</a:t>
            </a:r>
          </a:p>
        </p:txBody>
      </p:sp>
      <p:pic>
        <p:nvPicPr>
          <p:cNvPr id="3" name="Picture 2">
            <a:extLst>
              <a:ext uri="{FF2B5EF4-FFF2-40B4-BE49-F238E27FC236}">
                <a16:creationId xmlns:a16="http://schemas.microsoft.com/office/drawing/2014/main" id="{83CFE51C-FECE-9C46-8848-6BF918D18E27}"/>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74023" y="372494"/>
            <a:ext cx="1501270" cy="518205"/>
          </a:xfrm>
          <a:prstGeom prst="rect">
            <a:avLst/>
          </a:prstGeom>
        </p:spPr>
      </p:pic>
    </p:spTree>
    <p:extLst>
      <p:ext uri="{BB962C8B-B14F-4D97-AF65-F5344CB8AC3E}">
        <p14:creationId xmlns:p14="http://schemas.microsoft.com/office/powerpoint/2010/main" val="29812041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C64592-7F7B-1973-FE4F-D5A02DADEC2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FA00826-C6A3-00C8-7B57-63206214E632}"/>
              </a:ext>
            </a:extLst>
          </p:cNvPr>
          <p:cNvSpPr>
            <a:spLocks noGrp="1"/>
          </p:cNvSpPr>
          <p:nvPr>
            <p:ph type="title"/>
          </p:nvPr>
        </p:nvSpPr>
        <p:spPr/>
        <p:txBody>
          <a:bodyPr/>
          <a:lstStyle/>
          <a:p>
            <a:pPr algn="l"/>
            <a:r>
              <a:rPr lang="en-US" b="1" dirty="0"/>
              <a:t>Perimeter Perspectives </a:t>
            </a:r>
            <a:r>
              <a:rPr lang="en-US" sz="2000" b="1" dirty="0">
                <a:solidFill>
                  <a:schemeClr val="bg1"/>
                </a:solidFill>
              </a:rPr>
              <a:t>(6 of 6) </a:t>
            </a:r>
          </a:p>
        </p:txBody>
      </p:sp>
      <p:sp>
        <p:nvSpPr>
          <p:cNvPr id="9" name="Text Placeholder 2">
            <a:extLst>
              <a:ext uri="{FF2B5EF4-FFF2-40B4-BE49-F238E27FC236}">
                <a16:creationId xmlns:a16="http://schemas.microsoft.com/office/drawing/2014/main" id="{0224E92D-72C0-6DF3-2985-6F8E2D67E2FE}"/>
              </a:ext>
              <a:ext uri="{C183D7F6-B498-43B3-948B-1728B52AA6E4}">
                <adec:decorative xmlns:adec="http://schemas.microsoft.com/office/drawing/2017/decorative" val="1"/>
              </a:ext>
            </a:extLst>
          </p:cNvPr>
          <p:cNvSpPr txBox="1">
            <a:spLocks/>
          </p:cNvSpPr>
          <p:nvPr/>
        </p:nvSpPr>
        <p:spPr>
          <a:xfrm>
            <a:off x="777240" y="1616140"/>
            <a:ext cx="9900285" cy="402191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endParaRPr lang="en-US" sz="2800" b="0" i="0" u="none" strike="noStrike" baseline="0" dirty="0">
              <a:solidFill>
                <a:schemeClr val="bg2">
                  <a:lumMod val="25000"/>
                </a:schemeClr>
              </a:solidFill>
            </a:endParaRPr>
          </a:p>
          <a:p>
            <a:pPr marL="0" indent="0" algn="ctr">
              <a:buNone/>
            </a:pPr>
            <a:endParaRPr lang="en-US" sz="2800" dirty="0">
              <a:solidFill>
                <a:schemeClr val="bg2">
                  <a:lumMod val="25000"/>
                </a:schemeClr>
              </a:solidFill>
            </a:endParaRPr>
          </a:p>
        </p:txBody>
      </p:sp>
    </p:spTree>
    <p:extLst>
      <p:ext uri="{BB962C8B-B14F-4D97-AF65-F5344CB8AC3E}">
        <p14:creationId xmlns:p14="http://schemas.microsoft.com/office/powerpoint/2010/main" val="27434752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E5F7022-D266-6CB6-8FDC-29242A2ED071}"/>
              </a:ext>
            </a:extLst>
          </p:cNvPr>
          <p:cNvSpPr>
            <a:spLocks noGrp="1"/>
          </p:cNvSpPr>
          <p:nvPr>
            <p:ph type="title" idx="4294967295"/>
          </p:nvPr>
        </p:nvSpPr>
        <p:spPr>
          <a:xfrm>
            <a:off x="838200" y="-530679"/>
            <a:ext cx="10514013" cy="530679"/>
          </a:xfrm>
          <a:prstGeom prst="rect">
            <a:avLst/>
          </a:prstGeom>
        </p:spPr>
        <p:txBody>
          <a:bodyPr anchor="b"/>
          <a:lstStyle/>
          <a:p>
            <a:r>
              <a:rPr lang="en-US" sz="2000" dirty="0">
                <a:solidFill>
                  <a:schemeClr val="bg2"/>
                </a:solidFill>
              </a:rPr>
              <a:t>Activity 2.1</a:t>
            </a:r>
          </a:p>
        </p:txBody>
      </p:sp>
      <p:sp>
        <p:nvSpPr>
          <p:cNvPr id="3" name="Text Placeholder 2" descr="10 to 15 minutes">
            <a:extLst>
              <a:ext uri="{FF2B5EF4-FFF2-40B4-BE49-F238E27FC236}">
                <a16:creationId xmlns:a16="http://schemas.microsoft.com/office/drawing/2014/main" id="{BA063AF9-8F8B-5444-6AEC-5E8501EC7698}"/>
              </a:ext>
            </a:extLst>
          </p:cNvPr>
          <p:cNvSpPr>
            <a:spLocks noGrp="1"/>
          </p:cNvSpPr>
          <p:nvPr>
            <p:ph type="body" sz="quarter" idx="12"/>
          </p:nvPr>
        </p:nvSpPr>
        <p:spPr>
          <a:xfrm>
            <a:off x="10614990" y="5781873"/>
            <a:ext cx="863947" cy="795338"/>
          </a:xfrm>
        </p:spPr>
        <p:txBody>
          <a:bodyPr/>
          <a:lstStyle/>
          <a:p>
            <a:r>
              <a:rPr lang="en-US" b="1" dirty="0"/>
              <a:t>25–30</a:t>
            </a:r>
          </a:p>
        </p:txBody>
      </p:sp>
      <p:sp>
        <p:nvSpPr>
          <p:cNvPr id="2" name="Text Placeholder 1">
            <a:extLst>
              <a:ext uri="{FF2B5EF4-FFF2-40B4-BE49-F238E27FC236}">
                <a16:creationId xmlns:a16="http://schemas.microsoft.com/office/drawing/2014/main" id="{3D1465A3-2914-1151-1A78-CFD3B2A423BE}"/>
              </a:ext>
              <a:ext uri="{C183D7F6-B498-43B3-948B-1728B52AA6E4}">
                <adec:decorative xmlns:adec="http://schemas.microsoft.com/office/drawing/2017/decorative" val="1"/>
              </a:ext>
            </a:extLst>
          </p:cNvPr>
          <p:cNvSpPr>
            <a:spLocks noGrp="1"/>
          </p:cNvSpPr>
          <p:nvPr>
            <p:ph type="body" sz="quarter" idx="11"/>
          </p:nvPr>
        </p:nvSpPr>
        <p:spPr/>
        <p:txBody>
          <a:bodyPr/>
          <a:lstStyle/>
          <a:p>
            <a:r>
              <a:rPr lang="en-US" dirty="0"/>
              <a:t>2.1</a:t>
            </a:r>
          </a:p>
        </p:txBody>
      </p:sp>
    </p:spTree>
    <p:extLst>
      <p:ext uri="{BB962C8B-B14F-4D97-AF65-F5344CB8AC3E}">
        <p14:creationId xmlns:p14="http://schemas.microsoft.com/office/powerpoint/2010/main" val="42504594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D9FB43-679B-E397-30E3-50A521E99FC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49FA50D-5DB0-765E-2A80-183E705A899F}"/>
              </a:ext>
            </a:extLst>
          </p:cNvPr>
          <p:cNvSpPr>
            <a:spLocks noGrp="1"/>
          </p:cNvSpPr>
          <p:nvPr>
            <p:ph type="title"/>
          </p:nvPr>
        </p:nvSpPr>
        <p:spPr/>
        <p:txBody>
          <a:bodyPr/>
          <a:lstStyle/>
          <a:p>
            <a:pPr algn="l"/>
            <a:r>
              <a:rPr lang="en-US" b="1" dirty="0"/>
              <a:t>Equations in Different Forms </a:t>
            </a:r>
            <a:r>
              <a:rPr lang="en-US" sz="2000" b="1" dirty="0">
                <a:solidFill>
                  <a:schemeClr val="bg1"/>
                </a:solidFill>
              </a:rPr>
              <a:t>(1 of 13)</a:t>
            </a:r>
          </a:p>
        </p:txBody>
      </p:sp>
      <mc:AlternateContent xmlns:mc="http://schemas.openxmlformats.org/markup-compatibility/2006" xmlns:a14="http://schemas.microsoft.com/office/drawing/2010/main">
        <mc:Choice Requires="a14">
          <p:sp>
            <p:nvSpPr>
              <p:cNvPr id="2" name="Text Placeholder 2">
                <a:extLst>
                  <a:ext uri="{FF2B5EF4-FFF2-40B4-BE49-F238E27FC236}">
                    <a16:creationId xmlns:a16="http://schemas.microsoft.com/office/drawing/2014/main" id="{70C1E34C-7E62-1005-A795-8E05218D3CB1}"/>
                  </a:ext>
                </a:extLst>
              </p:cNvPr>
              <p:cNvSpPr txBox="1">
                <a:spLocks/>
              </p:cNvSpPr>
              <p:nvPr/>
            </p:nvSpPr>
            <p:spPr>
              <a:xfrm>
                <a:off x="777240" y="1600200"/>
                <a:ext cx="9518227" cy="3937280"/>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sz="2800" dirty="0">
                    <a:solidFill>
                      <a:srgbClr val="000000"/>
                    </a:solidFill>
                  </a:rPr>
                  <a:t>The slope, </a:t>
                </a:r>
                <a14:m>
                  <m:oMath xmlns:m="http://schemas.openxmlformats.org/officeDocument/2006/math">
                    <m:r>
                      <a:rPr lang="en-US" sz="2800" i="1" dirty="0" smtClean="0">
                        <a:solidFill>
                          <a:srgbClr val="000000"/>
                        </a:solidFill>
                        <a:latin typeface="Cambria Math" panose="02040503050406030204" pitchFamily="18" charset="0"/>
                      </a:rPr>
                      <m:t>𝑥</m:t>
                    </m:r>
                  </m:oMath>
                </a14:m>
                <a:r>
                  <a:rPr lang="en-US" sz="2800" dirty="0">
                    <a:solidFill>
                      <a:srgbClr val="000000"/>
                    </a:solidFill>
                  </a:rPr>
                  <a:t>-intercept, and </a:t>
                </a:r>
                <a14:m>
                  <m:oMath xmlns:m="http://schemas.openxmlformats.org/officeDocument/2006/math">
                    <m:r>
                      <a:rPr lang="en-US" sz="2800" i="1" dirty="0" smtClean="0">
                        <a:solidFill>
                          <a:srgbClr val="000000"/>
                        </a:solidFill>
                        <a:latin typeface="Cambria Math" panose="02040503050406030204" pitchFamily="18" charset="0"/>
                      </a:rPr>
                      <m:t>𝑦</m:t>
                    </m:r>
                  </m:oMath>
                </a14:m>
                <a:r>
                  <a:rPr lang="en-US" sz="2800" dirty="0">
                    <a:solidFill>
                      <a:srgbClr val="000000"/>
                    </a:solidFill>
                  </a:rPr>
                  <a:t>-intercept are each important characteristics of linear functions. The structure of equations can reveal these characteristics of a function.</a:t>
                </a:r>
              </a:p>
              <a:p>
                <a:pPr marL="514350" indent="-514350">
                  <a:buFont typeface="+mj-lt"/>
                  <a:buAutoNum type="arabicPeriod"/>
                </a:pPr>
                <a:r>
                  <a:rPr lang="en-US" sz="2800" dirty="0">
                    <a:solidFill>
                      <a:srgbClr val="000000"/>
                    </a:solidFill>
                  </a:rPr>
                  <a:t>Consider the equation </a:t>
                </a:r>
                <a14:m>
                  <m:oMath xmlns:m="http://schemas.openxmlformats.org/officeDocument/2006/math">
                    <m:r>
                      <a:rPr lang="en-US" sz="2800" i="1" dirty="0" smtClean="0">
                        <a:solidFill>
                          <a:srgbClr val="000000"/>
                        </a:solidFill>
                        <a:latin typeface="Cambria Math" panose="02040503050406030204" pitchFamily="18" charset="0"/>
                      </a:rPr>
                      <m:t>𝑦</m:t>
                    </m:r>
                    <m:r>
                      <a:rPr lang="en-US" sz="2800" b="0" i="1" dirty="0" smtClean="0">
                        <a:solidFill>
                          <a:srgbClr val="000000"/>
                        </a:solidFill>
                        <a:latin typeface="Cambria Math" panose="02040503050406030204" pitchFamily="18" charset="0"/>
                      </a:rPr>
                      <m:t>= </m:t>
                    </m:r>
                    <m:r>
                      <a:rPr lang="en-US" sz="2800" i="1" dirty="0" smtClean="0">
                        <a:solidFill>
                          <a:srgbClr val="000000"/>
                        </a:solidFill>
                        <a:latin typeface="Cambria Math" panose="02040503050406030204" pitchFamily="18" charset="0"/>
                      </a:rPr>
                      <m:t>‒</m:t>
                    </m:r>
                    <m:f>
                      <m:fPr>
                        <m:ctrlPr>
                          <a:rPr lang="en-US" sz="2800" i="1" dirty="0" smtClean="0">
                            <a:solidFill>
                              <a:srgbClr val="000000"/>
                            </a:solidFill>
                            <a:latin typeface="Cambria Math" panose="02040503050406030204" pitchFamily="18" charset="0"/>
                          </a:rPr>
                        </m:ctrlPr>
                      </m:fPr>
                      <m:num>
                        <m:r>
                          <a:rPr lang="en-IN" sz="2800" b="0" i="1" dirty="0" smtClean="0">
                            <a:solidFill>
                              <a:srgbClr val="000000"/>
                            </a:solidFill>
                            <a:latin typeface="Cambria Math" panose="02040503050406030204" pitchFamily="18" charset="0"/>
                          </a:rPr>
                          <m:t>2</m:t>
                        </m:r>
                      </m:num>
                      <m:den>
                        <m:r>
                          <a:rPr lang="en-IN" sz="2800" b="0" i="1" dirty="0" smtClean="0">
                            <a:solidFill>
                              <a:srgbClr val="000000"/>
                            </a:solidFill>
                            <a:latin typeface="Cambria Math" panose="02040503050406030204" pitchFamily="18" charset="0"/>
                          </a:rPr>
                          <m:t>3</m:t>
                        </m:r>
                      </m:den>
                    </m:f>
                    <m:r>
                      <a:rPr lang="en-US" sz="2800" i="1" dirty="0" smtClean="0">
                        <a:solidFill>
                          <a:srgbClr val="000000"/>
                        </a:solidFill>
                        <a:latin typeface="Cambria Math" panose="02040503050406030204" pitchFamily="18" charset="0"/>
                      </a:rPr>
                      <m:t>𝑥</m:t>
                    </m:r>
                    <m:r>
                      <a:rPr lang="en-US" sz="2800" b="0" i="1" dirty="0" smtClean="0">
                        <a:solidFill>
                          <a:srgbClr val="000000"/>
                        </a:solidFill>
                        <a:latin typeface="Cambria Math" panose="02040503050406030204" pitchFamily="18" charset="0"/>
                      </a:rPr>
                      <m:t>+</m:t>
                    </m:r>
                    <m:r>
                      <a:rPr lang="en-US" sz="2800" i="1" dirty="0" smtClean="0">
                        <a:solidFill>
                          <a:srgbClr val="000000"/>
                        </a:solidFill>
                        <a:latin typeface="Cambria Math" panose="02040503050406030204" pitchFamily="18" charset="0"/>
                      </a:rPr>
                      <m:t>4</m:t>
                    </m:r>
                  </m:oMath>
                </a14:m>
                <a:r>
                  <a:rPr lang="en-US" sz="2800" dirty="0">
                    <a:solidFill>
                      <a:srgbClr val="000000"/>
                    </a:solidFill>
                  </a:rPr>
                  <a:t>. Determine each characteristic and then explain your work.</a:t>
                </a:r>
              </a:p>
              <a:p>
                <a:pPr marL="982663" lvl="1" indent="-441325">
                  <a:buFont typeface="+mj-lt"/>
                  <a:buAutoNum type="alphaLcPeriod"/>
                </a:pPr>
                <a:r>
                  <a:rPr lang="en-US" dirty="0">
                    <a:solidFill>
                      <a:srgbClr val="000000"/>
                    </a:solidFill>
                  </a:rPr>
                  <a:t>Slope</a:t>
                </a:r>
              </a:p>
            </p:txBody>
          </p:sp>
        </mc:Choice>
        <mc:Fallback xmlns="">
          <p:sp>
            <p:nvSpPr>
              <p:cNvPr id="2" name="Text Placeholder 2">
                <a:extLst>
                  <a:ext uri="{FF2B5EF4-FFF2-40B4-BE49-F238E27FC236}">
                    <a16:creationId xmlns:a16="http://schemas.microsoft.com/office/drawing/2014/main" id="{70C1E34C-7E62-1005-A795-8E05218D3CB1}"/>
                  </a:ext>
                </a:extLst>
              </p:cNvPr>
              <p:cNvSpPr txBox="1">
                <a:spLocks noRot="1" noChangeAspect="1" noMove="1" noResize="1" noEditPoints="1" noAdjustHandles="1" noChangeArrowheads="1" noChangeShapeType="1" noTextEdit="1"/>
              </p:cNvSpPr>
              <p:nvPr/>
            </p:nvSpPr>
            <p:spPr>
              <a:xfrm>
                <a:off x="777240" y="1600200"/>
                <a:ext cx="9518227" cy="3937280"/>
              </a:xfrm>
              <a:prstGeom prst="rect">
                <a:avLst/>
              </a:prstGeom>
              <a:blipFill>
                <a:blip r:embed="rId3"/>
                <a:stretch>
                  <a:fillRect l="-1345" t="-1550"/>
                </a:stretch>
              </a:blipFill>
            </p:spPr>
            <p:txBody>
              <a:bodyPr/>
              <a:lstStyle/>
              <a:p>
                <a:r>
                  <a:rPr lang="en-IN">
                    <a:noFill/>
                  </a:rPr>
                  <a:t> </a:t>
                </a:r>
              </a:p>
            </p:txBody>
          </p:sp>
        </mc:Fallback>
      </mc:AlternateContent>
    </p:spTree>
    <p:extLst>
      <p:ext uri="{BB962C8B-B14F-4D97-AF65-F5344CB8AC3E}">
        <p14:creationId xmlns:p14="http://schemas.microsoft.com/office/powerpoint/2010/main" val="20643674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8A95E3-2D75-186A-8DEA-CCEC34DDD49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DB613C3-558C-60C1-5578-980EFF51B25C}"/>
              </a:ext>
            </a:extLst>
          </p:cNvPr>
          <p:cNvSpPr>
            <a:spLocks noGrp="1"/>
          </p:cNvSpPr>
          <p:nvPr>
            <p:ph type="title"/>
          </p:nvPr>
        </p:nvSpPr>
        <p:spPr/>
        <p:txBody>
          <a:bodyPr/>
          <a:lstStyle/>
          <a:p>
            <a:pPr algn="l"/>
            <a:r>
              <a:rPr lang="en-US" b="1" dirty="0"/>
              <a:t>Equations in Different Forms </a:t>
            </a:r>
            <a:r>
              <a:rPr lang="en-US" sz="2000" b="1" dirty="0">
                <a:solidFill>
                  <a:schemeClr val="bg1"/>
                </a:solidFill>
              </a:rPr>
              <a:t>(2 of 13)</a:t>
            </a:r>
          </a:p>
        </p:txBody>
      </p:sp>
      <mc:AlternateContent xmlns:mc="http://schemas.openxmlformats.org/markup-compatibility/2006" xmlns:a14="http://schemas.microsoft.com/office/drawing/2010/main">
        <mc:Choice Requires="a14">
          <p:sp>
            <p:nvSpPr>
              <p:cNvPr id="2" name="Text Placeholder 2">
                <a:extLst>
                  <a:ext uri="{FF2B5EF4-FFF2-40B4-BE49-F238E27FC236}">
                    <a16:creationId xmlns:a16="http://schemas.microsoft.com/office/drawing/2014/main" id="{8A93CF99-A97C-021B-6965-B94643642869}"/>
                  </a:ext>
                </a:extLst>
              </p:cNvPr>
              <p:cNvSpPr txBox="1">
                <a:spLocks/>
              </p:cNvSpPr>
              <p:nvPr/>
            </p:nvSpPr>
            <p:spPr>
              <a:xfrm>
                <a:off x="777240" y="1600200"/>
                <a:ext cx="9890759" cy="3937280"/>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buFont typeface="+mj-lt"/>
                  <a:buAutoNum type="alphaLcPeriod" startAt="2"/>
                </a:pPr>
                <a:r>
                  <a:rPr lang="en-US" sz="2800" dirty="0">
                    <a:solidFill>
                      <a:srgbClr val="000000"/>
                    </a:solidFill>
                  </a:rPr>
                  <a:t> </a:t>
                </a:r>
                <a14:m>
                  <m:oMath xmlns:m="http://schemas.openxmlformats.org/officeDocument/2006/math">
                    <m:r>
                      <a:rPr lang="en-US" sz="2800" i="1" dirty="0" smtClean="0">
                        <a:solidFill>
                          <a:srgbClr val="000000"/>
                        </a:solidFill>
                        <a:latin typeface="Cambria Math" panose="02040503050406030204" pitchFamily="18" charset="0"/>
                      </a:rPr>
                      <m:t>𝑦</m:t>
                    </m:r>
                  </m:oMath>
                </a14:m>
                <a:r>
                  <a:rPr lang="en-US" sz="2800" dirty="0">
                    <a:solidFill>
                      <a:srgbClr val="000000"/>
                    </a:solidFill>
                  </a:rPr>
                  <a:t>-intercept</a:t>
                </a:r>
              </a:p>
              <a:p>
                <a:pPr marL="514350" indent="-514350">
                  <a:buFont typeface="+mj-lt"/>
                  <a:buAutoNum type="alphaLcPeriod" startAt="2"/>
                </a:pPr>
                <a:endParaRPr lang="en-US" sz="2800" dirty="0">
                  <a:solidFill>
                    <a:srgbClr val="000000"/>
                  </a:solidFill>
                </a:endParaRPr>
              </a:p>
              <a:p>
                <a:pPr marL="514350" indent="-514350">
                  <a:buFont typeface="+mj-lt"/>
                  <a:buAutoNum type="alphaLcPeriod" startAt="2"/>
                </a:pPr>
                <a:endParaRPr lang="en-US" sz="2800" dirty="0">
                  <a:solidFill>
                    <a:srgbClr val="000000"/>
                  </a:solidFill>
                </a:endParaRPr>
              </a:p>
              <a:p>
                <a:pPr marL="514350" indent="-514350">
                  <a:buFont typeface="+mj-lt"/>
                  <a:buAutoNum type="alphaLcPeriod" startAt="2"/>
                </a:pPr>
                <a:r>
                  <a:rPr lang="en-US" sz="2800" dirty="0">
                    <a:solidFill>
                      <a:srgbClr val="000000"/>
                    </a:solidFill>
                  </a:rPr>
                  <a:t> </a:t>
                </a:r>
                <a14:m>
                  <m:oMath xmlns:m="http://schemas.openxmlformats.org/officeDocument/2006/math">
                    <m:r>
                      <a:rPr lang="en-US" sz="2800" i="1" dirty="0" smtClean="0">
                        <a:solidFill>
                          <a:srgbClr val="000000"/>
                        </a:solidFill>
                        <a:latin typeface="Cambria Math" panose="02040503050406030204" pitchFamily="18" charset="0"/>
                      </a:rPr>
                      <m:t>𝑥</m:t>
                    </m:r>
                  </m:oMath>
                </a14:m>
                <a:r>
                  <a:rPr lang="en-US" sz="2800" dirty="0">
                    <a:solidFill>
                      <a:srgbClr val="000000"/>
                    </a:solidFill>
                  </a:rPr>
                  <a:t>-intercept</a:t>
                </a:r>
              </a:p>
              <a:p>
                <a:pPr marL="514350" indent="-514350">
                  <a:buFont typeface="+mj-lt"/>
                  <a:buAutoNum type="alphaLcPeriod" startAt="2"/>
                </a:pPr>
                <a:endParaRPr lang="en-US" sz="2800" dirty="0">
                  <a:solidFill>
                    <a:srgbClr val="000000"/>
                  </a:solidFill>
                </a:endParaRPr>
              </a:p>
              <a:p>
                <a:pPr marL="514350" indent="-514350">
                  <a:buFont typeface="+mj-lt"/>
                  <a:buAutoNum type="alphaLcPeriod" startAt="2"/>
                </a:pPr>
                <a:endParaRPr lang="en-US" sz="2800" dirty="0">
                  <a:solidFill>
                    <a:srgbClr val="000000"/>
                  </a:solidFill>
                </a:endParaRPr>
              </a:p>
              <a:p>
                <a:pPr marL="514350" indent="-514350">
                  <a:buFont typeface="+mj-lt"/>
                  <a:buAutoNum type="alphaLcPeriod" startAt="2"/>
                </a:pPr>
                <a:r>
                  <a:rPr lang="en-US" sz="2800" dirty="0">
                    <a:solidFill>
                      <a:srgbClr val="000000"/>
                    </a:solidFill>
                  </a:rPr>
                  <a:t> How did you determine each characteristic?</a:t>
                </a:r>
              </a:p>
              <a:p>
                <a:pPr marL="514350" indent="-514350">
                  <a:buFont typeface="+mj-lt"/>
                  <a:buAutoNum type="alphaLcPeriod" startAt="2"/>
                </a:pPr>
                <a:endParaRPr lang="en-US" sz="2800" dirty="0">
                  <a:solidFill>
                    <a:srgbClr val="000000"/>
                  </a:solidFill>
                </a:endParaRPr>
              </a:p>
            </p:txBody>
          </p:sp>
        </mc:Choice>
        <mc:Fallback xmlns="">
          <p:sp>
            <p:nvSpPr>
              <p:cNvPr id="2" name="Text Placeholder 2">
                <a:extLst>
                  <a:ext uri="{FF2B5EF4-FFF2-40B4-BE49-F238E27FC236}">
                    <a16:creationId xmlns:a16="http://schemas.microsoft.com/office/drawing/2014/main" id="{8A93CF99-A97C-021B-6965-B94643642869}"/>
                  </a:ext>
                </a:extLst>
              </p:cNvPr>
              <p:cNvSpPr txBox="1">
                <a:spLocks noRot="1" noChangeAspect="1" noMove="1" noResize="1" noEditPoints="1" noAdjustHandles="1" noChangeArrowheads="1" noChangeShapeType="1" noTextEdit="1"/>
              </p:cNvSpPr>
              <p:nvPr/>
            </p:nvSpPr>
            <p:spPr>
              <a:xfrm>
                <a:off x="777240" y="1600200"/>
                <a:ext cx="9890759" cy="3937280"/>
              </a:xfrm>
              <a:prstGeom prst="rect">
                <a:avLst/>
              </a:prstGeom>
              <a:blipFill>
                <a:blip r:embed="rId3"/>
                <a:stretch>
                  <a:fillRect l="-1295" t="-170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DD3A9493-EA65-D943-6D35-F27F123D5CBA}"/>
                  </a:ext>
                </a:extLst>
              </p:cNvPr>
              <p:cNvSpPr txBox="1"/>
              <p:nvPr/>
            </p:nvSpPr>
            <p:spPr>
              <a:xfrm>
                <a:off x="8284350" y="1765167"/>
                <a:ext cx="3004539" cy="3766390"/>
              </a:xfrm>
              <a:prstGeom prst="rect">
                <a:avLst/>
              </a:prstGeom>
              <a:noFill/>
              <a:ln w="31750">
                <a:solidFill>
                  <a:srgbClr val="008F4C"/>
                </a:solidFill>
                <a:prstDash val="sysDot"/>
              </a:ln>
            </p:spPr>
            <p:txBody>
              <a:bodyPr wrap="square" lIns="182880" rtlCol="0" anchor="ctr" anchorCtr="0">
                <a:noAutofit/>
              </a:bodyPr>
              <a:lstStyle/>
              <a:p>
                <a:r>
                  <a:rPr lang="en-US" sz="2000" b="1" dirty="0">
                    <a:solidFill>
                      <a:srgbClr val="2B8147"/>
                    </a:solidFill>
                  </a:rPr>
                  <a:t>Remember…</a:t>
                </a:r>
                <a:endParaRPr lang="en-US" sz="2000" dirty="0">
                  <a:solidFill>
                    <a:schemeClr val="bg2">
                      <a:lumMod val="25000"/>
                    </a:schemeClr>
                  </a:solidFill>
                </a:endParaRPr>
              </a:p>
              <a:p>
                <a:pPr marL="342900" indent="-342900">
                  <a:buFont typeface="Arial" panose="020B0604020202020204" pitchFamily="34" charset="0"/>
                  <a:buChar char="•"/>
                </a:pPr>
                <a:r>
                  <a:rPr lang="en-US" sz="2000" dirty="0">
                    <a:solidFill>
                      <a:schemeClr val="bg2">
                        <a:lumMod val="25000"/>
                      </a:schemeClr>
                    </a:solidFill>
                  </a:rPr>
                  <a:t>You can calculate slope using </a:t>
                </a:r>
                <a14:m>
                  <m:oMath xmlns:m="http://schemas.openxmlformats.org/officeDocument/2006/math">
                    <m:f>
                      <m:fPr>
                        <m:ctrlPr>
                          <a:rPr lang="en-US" sz="2000" i="1" smtClean="0">
                            <a:solidFill>
                              <a:schemeClr val="bg2">
                                <a:lumMod val="25000"/>
                              </a:schemeClr>
                            </a:solidFill>
                            <a:latin typeface="Cambria Math" panose="02040503050406030204" pitchFamily="18" charset="0"/>
                          </a:rPr>
                        </m:ctrlPr>
                      </m:fPr>
                      <m:num>
                        <m:sSub>
                          <m:sSubPr>
                            <m:ctrlPr>
                              <a:rPr lang="en-US" sz="2000" i="1" smtClean="0">
                                <a:solidFill>
                                  <a:schemeClr val="bg2">
                                    <a:lumMod val="25000"/>
                                  </a:schemeClr>
                                </a:solidFill>
                                <a:latin typeface="Cambria Math" panose="02040503050406030204" pitchFamily="18" charset="0"/>
                              </a:rPr>
                            </m:ctrlPr>
                          </m:sSubPr>
                          <m:e>
                            <m:r>
                              <a:rPr lang="en-US" sz="2000" b="0" i="1" smtClean="0">
                                <a:solidFill>
                                  <a:schemeClr val="bg2">
                                    <a:lumMod val="25000"/>
                                  </a:schemeClr>
                                </a:solidFill>
                                <a:latin typeface="Cambria Math" panose="02040503050406030204" pitchFamily="18" charset="0"/>
                              </a:rPr>
                              <m:t>𝑦</m:t>
                            </m:r>
                          </m:e>
                          <m:sub>
                            <m:r>
                              <a:rPr lang="en-US" sz="2000" b="0" i="1" smtClean="0">
                                <a:solidFill>
                                  <a:schemeClr val="bg2">
                                    <a:lumMod val="25000"/>
                                  </a:schemeClr>
                                </a:solidFill>
                                <a:latin typeface="Cambria Math" panose="02040503050406030204" pitchFamily="18" charset="0"/>
                              </a:rPr>
                              <m:t>2 −</m:t>
                            </m:r>
                          </m:sub>
                        </m:sSub>
                        <m:sSub>
                          <m:sSubPr>
                            <m:ctrlPr>
                              <a:rPr lang="en-US" sz="2000" i="1">
                                <a:solidFill>
                                  <a:schemeClr val="bg2">
                                    <a:lumMod val="25000"/>
                                  </a:schemeClr>
                                </a:solidFill>
                                <a:latin typeface="Cambria Math" panose="02040503050406030204" pitchFamily="18" charset="0"/>
                              </a:rPr>
                            </m:ctrlPr>
                          </m:sSubPr>
                          <m:e>
                            <m:r>
                              <a:rPr lang="en-IN" sz="2000" b="0" i="1" smtClean="0">
                                <a:solidFill>
                                  <a:schemeClr val="bg2">
                                    <a:lumMod val="25000"/>
                                  </a:schemeClr>
                                </a:solidFill>
                                <a:latin typeface="Cambria Math" panose="02040503050406030204" pitchFamily="18" charset="0"/>
                              </a:rPr>
                              <m:t>𝑦</m:t>
                            </m:r>
                          </m:e>
                          <m:sub>
                            <m:r>
                              <a:rPr lang="en-US" sz="2000" b="0" i="1" smtClean="0">
                                <a:solidFill>
                                  <a:schemeClr val="bg2">
                                    <a:lumMod val="25000"/>
                                  </a:schemeClr>
                                </a:solidFill>
                                <a:latin typeface="Cambria Math" panose="02040503050406030204" pitchFamily="18" charset="0"/>
                              </a:rPr>
                              <m:t>1</m:t>
                            </m:r>
                            <m:r>
                              <a:rPr lang="en-US" sz="2000" i="1">
                                <a:solidFill>
                                  <a:schemeClr val="bg2">
                                    <a:lumMod val="25000"/>
                                  </a:schemeClr>
                                </a:solidFill>
                                <a:latin typeface="Cambria Math" panose="02040503050406030204" pitchFamily="18" charset="0"/>
                              </a:rPr>
                              <m:t> </m:t>
                            </m:r>
                          </m:sub>
                        </m:sSub>
                      </m:num>
                      <m:den>
                        <m:sSub>
                          <m:sSubPr>
                            <m:ctrlPr>
                              <a:rPr lang="en-US" sz="2000" i="1" smtClean="0">
                                <a:solidFill>
                                  <a:schemeClr val="bg2">
                                    <a:lumMod val="25000"/>
                                  </a:schemeClr>
                                </a:solidFill>
                                <a:latin typeface="Cambria Math" panose="02040503050406030204" pitchFamily="18" charset="0"/>
                              </a:rPr>
                            </m:ctrlPr>
                          </m:sSubPr>
                          <m:e>
                            <m:r>
                              <a:rPr lang="en-US" sz="2000" b="0" i="1" smtClean="0">
                                <a:solidFill>
                                  <a:schemeClr val="bg2">
                                    <a:lumMod val="25000"/>
                                  </a:schemeClr>
                                </a:solidFill>
                                <a:latin typeface="Cambria Math" panose="02040503050406030204" pitchFamily="18" charset="0"/>
                              </a:rPr>
                              <m:t>𝑥</m:t>
                            </m:r>
                          </m:e>
                          <m:sub>
                            <m:r>
                              <a:rPr lang="en-US" sz="2000" b="0" i="1" smtClean="0">
                                <a:solidFill>
                                  <a:schemeClr val="bg2">
                                    <a:lumMod val="25000"/>
                                  </a:schemeClr>
                                </a:solidFill>
                                <a:latin typeface="Cambria Math" panose="02040503050406030204" pitchFamily="18" charset="0"/>
                              </a:rPr>
                              <m:t>2</m:t>
                            </m:r>
                          </m:sub>
                        </m:sSub>
                        <m:r>
                          <a:rPr lang="en-US" sz="2000" b="0" i="1" smtClean="0">
                            <a:solidFill>
                              <a:schemeClr val="bg2">
                                <a:lumMod val="25000"/>
                              </a:schemeClr>
                            </a:solidFill>
                            <a:latin typeface="Cambria Math" panose="02040503050406030204" pitchFamily="18" charset="0"/>
                          </a:rPr>
                          <m:t>−</m:t>
                        </m:r>
                        <m:sSub>
                          <m:sSubPr>
                            <m:ctrlPr>
                              <a:rPr lang="en-US" sz="2000" i="1">
                                <a:solidFill>
                                  <a:schemeClr val="bg2">
                                    <a:lumMod val="25000"/>
                                  </a:schemeClr>
                                </a:solidFill>
                                <a:latin typeface="Cambria Math" panose="02040503050406030204" pitchFamily="18" charset="0"/>
                              </a:rPr>
                            </m:ctrlPr>
                          </m:sSubPr>
                          <m:e>
                            <m:r>
                              <a:rPr lang="en-US" sz="2000" b="0" i="1" smtClean="0">
                                <a:solidFill>
                                  <a:schemeClr val="bg2">
                                    <a:lumMod val="25000"/>
                                  </a:schemeClr>
                                </a:solidFill>
                                <a:latin typeface="Cambria Math" panose="02040503050406030204" pitchFamily="18" charset="0"/>
                              </a:rPr>
                              <m:t>𝑥</m:t>
                            </m:r>
                          </m:e>
                          <m:sub>
                            <m:r>
                              <a:rPr lang="en-US" sz="2000" b="0" i="1" smtClean="0">
                                <a:solidFill>
                                  <a:schemeClr val="bg2">
                                    <a:lumMod val="25000"/>
                                  </a:schemeClr>
                                </a:solidFill>
                                <a:latin typeface="Cambria Math" panose="02040503050406030204" pitchFamily="18" charset="0"/>
                              </a:rPr>
                              <m:t>1</m:t>
                            </m:r>
                            <m:r>
                              <a:rPr lang="en-US" sz="2000" i="1">
                                <a:solidFill>
                                  <a:schemeClr val="bg2">
                                    <a:lumMod val="25000"/>
                                  </a:schemeClr>
                                </a:solidFill>
                                <a:latin typeface="Cambria Math" panose="02040503050406030204" pitchFamily="18" charset="0"/>
                              </a:rPr>
                              <m:t> </m:t>
                            </m:r>
                          </m:sub>
                        </m:sSub>
                      </m:den>
                    </m:f>
                  </m:oMath>
                </a14:m>
                <a:r>
                  <a:rPr lang="en-US" sz="2000" dirty="0">
                    <a:solidFill>
                      <a:schemeClr val="bg2">
                        <a:lumMod val="25000"/>
                      </a:schemeClr>
                    </a:solidFill>
                  </a:rPr>
                  <a:t>.</a:t>
                </a:r>
              </a:p>
              <a:p>
                <a:pPr marL="342900" indent="-342900">
                  <a:buFont typeface="Arial" panose="020B0604020202020204" pitchFamily="34" charset="0"/>
                  <a:buChar char="•"/>
                </a:pPr>
                <a:r>
                  <a:rPr lang="en-US" sz="2000" dirty="0">
                    <a:solidFill>
                      <a:schemeClr val="bg2">
                        <a:lumMod val="25000"/>
                      </a:schemeClr>
                    </a:solidFill>
                  </a:rPr>
                  <a:t>You can determine the </a:t>
                </a:r>
                <a14:m>
                  <m:oMath xmlns:m="http://schemas.openxmlformats.org/officeDocument/2006/math">
                    <m:r>
                      <a:rPr lang="en-IN" sz="2000" b="0" i="1" smtClean="0">
                        <a:solidFill>
                          <a:schemeClr val="bg2">
                            <a:lumMod val="25000"/>
                          </a:schemeClr>
                        </a:solidFill>
                        <a:latin typeface="Cambria Math" panose="02040503050406030204" pitchFamily="18" charset="0"/>
                      </a:rPr>
                      <m:t>𝑦</m:t>
                    </m:r>
                  </m:oMath>
                </a14:m>
                <a:r>
                  <a:rPr lang="en-US" sz="2000" dirty="0">
                    <a:solidFill>
                      <a:schemeClr val="bg2">
                        <a:lumMod val="25000"/>
                      </a:schemeClr>
                    </a:solidFill>
                  </a:rPr>
                  <a:t>-intercept by substituting 0 for </a:t>
                </a:r>
                <a14:m>
                  <m:oMath xmlns:m="http://schemas.openxmlformats.org/officeDocument/2006/math">
                    <m:r>
                      <a:rPr lang="en-US" sz="2000" i="1" dirty="0" smtClean="0">
                        <a:solidFill>
                          <a:schemeClr val="bg2">
                            <a:lumMod val="25000"/>
                          </a:schemeClr>
                        </a:solidFill>
                        <a:latin typeface="Cambria Math" panose="02040503050406030204" pitchFamily="18" charset="0"/>
                      </a:rPr>
                      <m:t>𝑥</m:t>
                    </m:r>
                  </m:oMath>
                </a14:m>
                <a:r>
                  <a:rPr lang="en-US" sz="2000" dirty="0">
                    <a:solidFill>
                      <a:schemeClr val="bg2">
                        <a:lumMod val="25000"/>
                      </a:schemeClr>
                    </a:solidFill>
                  </a:rPr>
                  <a:t> and solving for </a:t>
                </a:r>
                <a14:m>
                  <m:oMath xmlns:m="http://schemas.openxmlformats.org/officeDocument/2006/math">
                    <m:r>
                      <a:rPr lang="en-US" sz="2000" i="1" dirty="0" smtClean="0">
                        <a:solidFill>
                          <a:schemeClr val="bg2">
                            <a:lumMod val="25000"/>
                          </a:schemeClr>
                        </a:solidFill>
                        <a:latin typeface="Cambria Math" panose="02040503050406030204" pitchFamily="18" charset="0"/>
                      </a:rPr>
                      <m:t>𝑦</m:t>
                    </m:r>
                  </m:oMath>
                </a14:m>
                <a:r>
                  <a:rPr lang="en-US" sz="2000" dirty="0">
                    <a:solidFill>
                      <a:schemeClr val="bg2">
                        <a:lumMod val="25000"/>
                      </a:schemeClr>
                    </a:solidFill>
                  </a:rPr>
                  <a:t>.</a:t>
                </a:r>
              </a:p>
              <a:p>
                <a:pPr marL="342900" indent="-342900">
                  <a:buFont typeface="Arial" panose="020B0604020202020204" pitchFamily="34" charset="0"/>
                  <a:buChar char="•"/>
                </a:pPr>
                <a:r>
                  <a:rPr lang="en-US" sz="2000" dirty="0">
                    <a:solidFill>
                      <a:schemeClr val="bg2">
                        <a:lumMod val="25000"/>
                      </a:schemeClr>
                    </a:solidFill>
                  </a:rPr>
                  <a:t>You can determine the </a:t>
                </a:r>
                <a14:m>
                  <m:oMath xmlns:m="http://schemas.openxmlformats.org/officeDocument/2006/math">
                    <m:r>
                      <a:rPr lang="en-US" sz="2000" i="1" dirty="0" smtClean="0">
                        <a:solidFill>
                          <a:schemeClr val="bg2">
                            <a:lumMod val="25000"/>
                          </a:schemeClr>
                        </a:solidFill>
                        <a:latin typeface="Cambria Math" panose="02040503050406030204" pitchFamily="18" charset="0"/>
                      </a:rPr>
                      <m:t>𝑥</m:t>
                    </m:r>
                  </m:oMath>
                </a14:m>
                <a:r>
                  <a:rPr lang="en-US" sz="2000" dirty="0">
                    <a:solidFill>
                      <a:schemeClr val="bg2">
                        <a:lumMod val="25000"/>
                      </a:schemeClr>
                    </a:solidFill>
                  </a:rPr>
                  <a:t>-intercept by substituting 0 for </a:t>
                </a:r>
                <a14:m>
                  <m:oMath xmlns:m="http://schemas.openxmlformats.org/officeDocument/2006/math">
                    <m:r>
                      <a:rPr lang="en-US" sz="2000" i="1" dirty="0" smtClean="0">
                        <a:solidFill>
                          <a:schemeClr val="bg2">
                            <a:lumMod val="25000"/>
                          </a:schemeClr>
                        </a:solidFill>
                        <a:latin typeface="Cambria Math" panose="02040503050406030204" pitchFamily="18" charset="0"/>
                      </a:rPr>
                      <m:t>𝑦</m:t>
                    </m:r>
                  </m:oMath>
                </a14:m>
                <a:r>
                  <a:rPr lang="en-US" sz="2000" dirty="0">
                    <a:solidFill>
                      <a:schemeClr val="bg2">
                        <a:lumMod val="25000"/>
                      </a:schemeClr>
                    </a:solidFill>
                  </a:rPr>
                  <a:t> and solving for </a:t>
                </a:r>
                <a14:m>
                  <m:oMath xmlns:m="http://schemas.openxmlformats.org/officeDocument/2006/math">
                    <m:r>
                      <a:rPr lang="en-US" sz="2000" i="1" dirty="0" smtClean="0">
                        <a:solidFill>
                          <a:schemeClr val="bg2">
                            <a:lumMod val="25000"/>
                          </a:schemeClr>
                        </a:solidFill>
                        <a:latin typeface="Cambria Math" panose="02040503050406030204" pitchFamily="18" charset="0"/>
                      </a:rPr>
                      <m:t>𝑥</m:t>
                    </m:r>
                  </m:oMath>
                </a14:m>
                <a:r>
                  <a:rPr lang="en-US" sz="2000" dirty="0">
                    <a:solidFill>
                      <a:schemeClr val="bg2">
                        <a:lumMod val="25000"/>
                      </a:schemeClr>
                    </a:solidFill>
                  </a:rPr>
                  <a:t>.</a:t>
                </a:r>
              </a:p>
            </p:txBody>
          </p:sp>
        </mc:Choice>
        <mc:Fallback xmlns="">
          <p:sp>
            <p:nvSpPr>
              <p:cNvPr id="3" name="TextBox 2">
                <a:extLst>
                  <a:ext uri="{FF2B5EF4-FFF2-40B4-BE49-F238E27FC236}">
                    <a16:creationId xmlns:a16="http://schemas.microsoft.com/office/drawing/2014/main" id="{DD3A9493-EA65-D943-6D35-F27F123D5CBA}"/>
                  </a:ext>
                </a:extLst>
              </p:cNvPr>
              <p:cNvSpPr txBox="1">
                <a:spLocks noRot="1" noChangeAspect="1" noMove="1" noResize="1" noEditPoints="1" noAdjustHandles="1" noChangeArrowheads="1" noChangeShapeType="1" noTextEdit="1"/>
              </p:cNvSpPr>
              <p:nvPr/>
            </p:nvSpPr>
            <p:spPr>
              <a:xfrm>
                <a:off x="8284350" y="1765167"/>
                <a:ext cx="3004539" cy="3766390"/>
              </a:xfrm>
              <a:prstGeom prst="rect">
                <a:avLst/>
              </a:prstGeom>
              <a:blipFill>
                <a:blip r:embed="rId4"/>
                <a:stretch>
                  <a:fillRect r="-2811" b="-161"/>
                </a:stretch>
              </a:blipFill>
              <a:ln w="31750">
                <a:solidFill>
                  <a:srgbClr val="008F4C"/>
                </a:solidFill>
                <a:prstDash val="sysDot"/>
              </a:ln>
            </p:spPr>
            <p:txBody>
              <a:bodyPr/>
              <a:lstStyle/>
              <a:p>
                <a:r>
                  <a:rPr lang="en-IN">
                    <a:noFill/>
                  </a:rPr>
                  <a:t> </a:t>
                </a:r>
              </a:p>
            </p:txBody>
          </p:sp>
        </mc:Fallback>
      </mc:AlternateContent>
    </p:spTree>
    <p:extLst>
      <p:ext uri="{BB962C8B-B14F-4D97-AF65-F5344CB8AC3E}">
        <p14:creationId xmlns:p14="http://schemas.microsoft.com/office/powerpoint/2010/main" val="36338623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5DE8B1-D666-BADD-607F-6E8CAD4D28A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AE418961-05D8-C7E5-2078-FBF626780E7E}"/>
              </a:ext>
            </a:extLst>
          </p:cNvPr>
          <p:cNvSpPr>
            <a:spLocks noGrp="1"/>
          </p:cNvSpPr>
          <p:nvPr>
            <p:ph type="title"/>
          </p:nvPr>
        </p:nvSpPr>
        <p:spPr/>
        <p:txBody>
          <a:bodyPr/>
          <a:lstStyle/>
          <a:p>
            <a:pPr algn="l"/>
            <a:r>
              <a:rPr lang="en-US" b="1" dirty="0"/>
              <a:t>Equations in Different Forms </a:t>
            </a:r>
            <a:r>
              <a:rPr lang="en-US" sz="2000" b="1" dirty="0">
                <a:solidFill>
                  <a:schemeClr val="bg1"/>
                </a:solidFill>
              </a:rPr>
              <a:t>(3 of 13)</a:t>
            </a:r>
          </a:p>
        </p:txBody>
      </p:sp>
      <mc:AlternateContent xmlns:mc="http://schemas.openxmlformats.org/markup-compatibility/2006" xmlns:a14="http://schemas.microsoft.com/office/drawing/2010/main">
        <mc:Choice Requires="a14">
          <p:sp>
            <p:nvSpPr>
              <p:cNvPr id="2" name="Text Placeholder 2">
                <a:extLst>
                  <a:ext uri="{FF2B5EF4-FFF2-40B4-BE49-F238E27FC236}">
                    <a16:creationId xmlns:a16="http://schemas.microsoft.com/office/drawing/2014/main" id="{42FE1B45-3C54-594E-19F9-60D011B8C1E5}"/>
                  </a:ext>
                </a:extLst>
              </p:cNvPr>
              <p:cNvSpPr txBox="1">
                <a:spLocks/>
              </p:cNvSpPr>
              <p:nvPr/>
            </p:nvSpPr>
            <p:spPr>
              <a:xfrm>
                <a:off x="777240" y="1600200"/>
                <a:ext cx="10703560" cy="3937280"/>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463550" indent="-463550">
                  <a:buFont typeface="+mj-lt"/>
                  <a:buAutoNum type="arabicPeriod" startAt="2"/>
                </a:pPr>
                <a:r>
                  <a:rPr lang="en-US" sz="2800" dirty="0">
                    <a:solidFill>
                      <a:srgbClr val="000000"/>
                    </a:solidFill>
                  </a:rPr>
                  <a:t>Consider the equation </a:t>
                </a:r>
                <a14:m>
                  <m:oMath xmlns:m="http://schemas.openxmlformats.org/officeDocument/2006/math">
                    <m:r>
                      <a:rPr lang="en-US" sz="2800" i="1" dirty="0" smtClean="0">
                        <a:solidFill>
                          <a:srgbClr val="000000"/>
                        </a:solidFill>
                        <a:latin typeface="Cambria Math" panose="02040503050406030204" pitchFamily="18" charset="0"/>
                      </a:rPr>
                      <m:t>𝑦</m:t>
                    </m:r>
                    <m:r>
                      <a:rPr lang="en-US" sz="2800" b="0" i="1" dirty="0" smtClean="0">
                        <a:solidFill>
                          <a:srgbClr val="000000"/>
                        </a:solidFill>
                        <a:latin typeface="Cambria Math" panose="02040503050406030204" pitchFamily="18" charset="0"/>
                      </a:rPr>
                      <m:t>=</m:t>
                    </m:r>
                    <m:r>
                      <a:rPr lang="en-US" sz="2800" i="1" dirty="0" smtClean="0">
                        <a:solidFill>
                          <a:srgbClr val="000000"/>
                        </a:solidFill>
                        <a:latin typeface="Cambria Math" panose="02040503050406030204" pitchFamily="18" charset="0"/>
                      </a:rPr>
                      <m:t>4(</m:t>
                    </m:r>
                    <m:r>
                      <a:rPr lang="en-US" sz="2800" i="1" dirty="0" smtClean="0">
                        <a:solidFill>
                          <a:srgbClr val="000000"/>
                        </a:solidFill>
                        <a:latin typeface="Cambria Math" panose="02040503050406030204" pitchFamily="18" charset="0"/>
                      </a:rPr>
                      <m:t>𝑥</m:t>
                    </m:r>
                    <m:r>
                      <a:rPr lang="en-US" sz="2800" i="1" dirty="0" smtClean="0">
                        <a:solidFill>
                          <a:srgbClr val="000000"/>
                        </a:solidFill>
                        <a:latin typeface="Cambria Math" panose="02040503050406030204" pitchFamily="18" charset="0"/>
                      </a:rPr>
                      <m:t> –2)</m:t>
                    </m:r>
                  </m:oMath>
                </a14:m>
                <a:r>
                  <a:rPr lang="en-US" sz="2800" dirty="0">
                    <a:solidFill>
                      <a:srgbClr val="000000"/>
                    </a:solidFill>
                  </a:rPr>
                  <a:t>. Determine each characteristic and then explain your work.</a:t>
                </a:r>
              </a:p>
              <a:p>
                <a:pPr marL="977900" indent="-514350">
                  <a:buFont typeface="+mj-lt"/>
                  <a:buAutoNum type="alphaLcPeriod"/>
                </a:pPr>
                <a:r>
                  <a:rPr lang="en-US" sz="2800" dirty="0">
                    <a:solidFill>
                      <a:srgbClr val="000000"/>
                    </a:solidFill>
                  </a:rPr>
                  <a:t> Slope</a:t>
                </a:r>
              </a:p>
              <a:p>
                <a:pPr marL="977900" indent="-514350">
                  <a:buFont typeface="+mj-lt"/>
                  <a:buAutoNum type="alphaLcPeriod"/>
                </a:pPr>
                <a:endParaRPr lang="en-US" sz="2800" dirty="0">
                  <a:solidFill>
                    <a:srgbClr val="000000"/>
                  </a:solidFill>
                </a:endParaRPr>
              </a:p>
              <a:p>
                <a:pPr marL="977900" indent="-514350">
                  <a:buFont typeface="+mj-lt"/>
                  <a:buAutoNum type="alphaLcPeriod"/>
                </a:pPr>
                <a:endParaRPr lang="en-US" sz="2800" dirty="0">
                  <a:solidFill>
                    <a:srgbClr val="000000"/>
                  </a:solidFill>
                </a:endParaRPr>
              </a:p>
              <a:p>
                <a:pPr marL="980694" indent="-514350">
                  <a:buFont typeface="+mj-lt"/>
                  <a:buAutoNum type="alphaLcPeriod"/>
                </a:pPr>
                <a:r>
                  <a:rPr lang="en-US" sz="2800" b="0" dirty="0">
                    <a:solidFill>
                      <a:srgbClr val="000000"/>
                    </a:solidFill>
                  </a:rPr>
                  <a:t> </a:t>
                </a:r>
                <a14:m>
                  <m:oMath xmlns:m="http://schemas.openxmlformats.org/officeDocument/2006/math">
                    <m:r>
                      <a:rPr lang="en-US" sz="2800" b="0" i="1" dirty="0" smtClean="0">
                        <a:solidFill>
                          <a:srgbClr val="000000"/>
                        </a:solidFill>
                        <a:latin typeface="Cambria Math" panose="02040503050406030204" pitchFamily="18" charset="0"/>
                      </a:rPr>
                      <m:t>𝑦</m:t>
                    </m:r>
                  </m:oMath>
                </a14:m>
                <a:r>
                  <a:rPr lang="en-US" sz="2800" dirty="0">
                    <a:solidFill>
                      <a:srgbClr val="000000"/>
                    </a:solidFill>
                  </a:rPr>
                  <a:t>-intercept</a:t>
                </a:r>
              </a:p>
              <a:p>
                <a:pPr marL="0" indent="0">
                  <a:buNone/>
                </a:pPr>
                <a:endParaRPr lang="en-US" sz="2800" dirty="0">
                  <a:solidFill>
                    <a:srgbClr val="000000"/>
                  </a:solidFill>
                </a:endParaRPr>
              </a:p>
              <a:p>
                <a:pPr marL="0" indent="0">
                  <a:buNone/>
                </a:pPr>
                <a:endParaRPr lang="en-US" sz="2800" dirty="0">
                  <a:solidFill>
                    <a:srgbClr val="000000"/>
                  </a:solidFill>
                </a:endParaRPr>
              </a:p>
            </p:txBody>
          </p:sp>
        </mc:Choice>
        <mc:Fallback xmlns="">
          <p:sp>
            <p:nvSpPr>
              <p:cNvPr id="2" name="Text Placeholder 2">
                <a:extLst>
                  <a:ext uri="{FF2B5EF4-FFF2-40B4-BE49-F238E27FC236}">
                    <a16:creationId xmlns:a16="http://schemas.microsoft.com/office/drawing/2014/main" id="{42FE1B45-3C54-594E-19F9-60D011B8C1E5}"/>
                  </a:ext>
                </a:extLst>
              </p:cNvPr>
              <p:cNvSpPr txBox="1">
                <a:spLocks noRot="1" noChangeAspect="1" noMove="1" noResize="1" noEditPoints="1" noAdjustHandles="1" noChangeArrowheads="1" noChangeShapeType="1" noTextEdit="1"/>
              </p:cNvSpPr>
              <p:nvPr/>
            </p:nvSpPr>
            <p:spPr>
              <a:xfrm>
                <a:off x="777240" y="1600200"/>
                <a:ext cx="10703560" cy="3937280"/>
              </a:xfrm>
              <a:prstGeom prst="rect">
                <a:avLst/>
              </a:prstGeom>
              <a:blipFill>
                <a:blip r:embed="rId3"/>
                <a:stretch>
                  <a:fillRect l="-1197" t="-1705"/>
                </a:stretch>
              </a:blipFill>
            </p:spPr>
            <p:txBody>
              <a:bodyPr/>
              <a:lstStyle/>
              <a:p>
                <a:r>
                  <a:rPr lang="en-US">
                    <a:noFill/>
                  </a:rPr>
                  <a:t> </a:t>
                </a:r>
              </a:p>
            </p:txBody>
          </p:sp>
        </mc:Fallback>
      </mc:AlternateContent>
    </p:spTree>
    <p:extLst>
      <p:ext uri="{BB962C8B-B14F-4D97-AF65-F5344CB8AC3E}">
        <p14:creationId xmlns:p14="http://schemas.microsoft.com/office/powerpoint/2010/main" val="16170162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6E9297-9DE4-D91C-64CA-F3484BE5E28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C734F769-B8CA-89EE-D36A-F6E6466517AF}"/>
              </a:ext>
            </a:extLst>
          </p:cNvPr>
          <p:cNvSpPr>
            <a:spLocks noGrp="1"/>
          </p:cNvSpPr>
          <p:nvPr>
            <p:ph type="title"/>
          </p:nvPr>
        </p:nvSpPr>
        <p:spPr/>
        <p:txBody>
          <a:bodyPr/>
          <a:lstStyle/>
          <a:p>
            <a:pPr algn="l"/>
            <a:r>
              <a:rPr lang="en-US" b="1" dirty="0"/>
              <a:t>Equations in Different Forms </a:t>
            </a:r>
            <a:r>
              <a:rPr lang="en-US" sz="2000" b="1" dirty="0">
                <a:solidFill>
                  <a:schemeClr val="bg1"/>
                </a:solidFill>
              </a:rPr>
              <a:t>(4 of 13)</a:t>
            </a:r>
          </a:p>
        </p:txBody>
      </p:sp>
      <mc:AlternateContent xmlns:mc="http://schemas.openxmlformats.org/markup-compatibility/2006" xmlns:a14="http://schemas.microsoft.com/office/drawing/2010/main">
        <mc:Choice Requires="a14">
          <p:sp>
            <p:nvSpPr>
              <p:cNvPr id="2" name="Text Placeholder 2">
                <a:extLst>
                  <a:ext uri="{FF2B5EF4-FFF2-40B4-BE49-F238E27FC236}">
                    <a16:creationId xmlns:a16="http://schemas.microsoft.com/office/drawing/2014/main" id="{BDB316B8-955E-CF22-A67A-DCB2D8D19D83}"/>
                  </a:ext>
                </a:extLst>
              </p:cNvPr>
              <p:cNvSpPr txBox="1">
                <a:spLocks/>
              </p:cNvSpPr>
              <p:nvPr/>
            </p:nvSpPr>
            <p:spPr>
              <a:xfrm>
                <a:off x="777240" y="1600200"/>
                <a:ext cx="9890759" cy="3937280"/>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466344" indent="-466344">
                  <a:buFont typeface="+mj-lt"/>
                  <a:buAutoNum type="alphaLcPeriod" startAt="3"/>
                </a:pPr>
                <a14:m>
                  <m:oMath xmlns:m="http://schemas.openxmlformats.org/officeDocument/2006/math">
                    <m:r>
                      <a:rPr lang="en-US" sz="2800" dirty="0">
                        <a:solidFill>
                          <a:srgbClr val="000000"/>
                        </a:solidFill>
                        <a:latin typeface="Cambria Math" panose="02040503050406030204" pitchFamily="18" charset="0"/>
                      </a:rPr>
                      <m:t>𝑥</m:t>
                    </m:r>
                  </m:oMath>
                </a14:m>
                <a:r>
                  <a:rPr lang="en-US" sz="2800" dirty="0">
                    <a:solidFill>
                      <a:srgbClr val="000000"/>
                    </a:solidFill>
                  </a:rPr>
                  <a:t>-intercept</a:t>
                </a:r>
              </a:p>
              <a:p>
                <a:pPr marL="514350" indent="-514350">
                  <a:buFont typeface="+mj-lt"/>
                  <a:buAutoNum type="alphaLcPeriod" startAt="3"/>
                </a:pPr>
                <a:endParaRPr lang="en-US" sz="2800" dirty="0">
                  <a:solidFill>
                    <a:srgbClr val="000000"/>
                  </a:solidFill>
                </a:endParaRPr>
              </a:p>
              <a:p>
                <a:pPr marL="514350" indent="-514350">
                  <a:buFont typeface="+mj-lt"/>
                  <a:buAutoNum type="alphaLcPeriod" startAt="3"/>
                </a:pPr>
                <a:endParaRPr lang="en-US" sz="2800" dirty="0">
                  <a:solidFill>
                    <a:srgbClr val="000000"/>
                  </a:solidFill>
                </a:endParaRPr>
              </a:p>
              <a:p>
                <a:pPr marL="466344" indent="-466344">
                  <a:buFont typeface="+mj-lt"/>
                  <a:buAutoNum type="alphaLcPeriod" startAt="3"/>
                </a:pPr>
                <a:r>
                  <a:rPr lang="en-US" sz="2800" dirty="0">
                    <a:solidFill>
                      <a:srgbClr val="000000"/>
                    </a:solidFill>
                  </a:rPr>
                  <a:t>How did you determine each characteristic?</a:t>
                </a:r>
              </a:p>
              <a:p>
                <a:pPr marL="0" indent="0">
                  <a:buNone/>
                </a:pPr>
                <a:endParaRPr lang="en-US" sz="2800" dirty="0">
                  <a:solidFill>
                    <a:srgbClr val="000000"/>
                  </a:solidFill>
                </a:endParaRPr>
              </a:p>
            </p:txBody>
          </p:sp>
        </mc:Choice>
        <mc:Fallback xmlns="">
          <p:sp>
            <p:nvSpPr>
              <p:cNvPr id="2" name="Text Placeholder 2">
                <a:extLst>
                  <a:ext uri="{FF2B5EF4-FFF2-40B4-BE49-F238E27FC236}">
                    <a16:creationId xmlns:a16="http://schemas.microsoft.com/office/drawing/2014/main" id="{BDB316B8-955E-CF22-A67A-DCB2D8D19D83}"/>
                  </a:ext>
                </a:extLst>
              </p:cNvPr>
              <p:cNvSpPr txBox="1">
                <a:spLocks noRot="1" noChangeAspect="1" noMove="1" noResize="1" noEditPoints="1" noAdjustHandles="1" noChangeArrowheads="1" noChangeShapeType="1" noTextEdit="1"/>
              </p:cNvSpPr>
              <p:nvPr/>
            </p:nvSpPr>
            <p:spPr>
              <a:xfrm>
                <a:off x="777240" y="1600200"/>
                <a:ext cx="9890759" cy="3937280"/>
              </a:xfrm>
              <a:prstGeom prst="rect">
                <a:avLst/>
              </a:prstGeom>
              <a:blipFill>
                <a:blip r:embed="rId3"/>
                <a:stretch>
                  <a:fillRect l="-1295" t="-1550"/>
                </a:stretch>
              </a:blipFill>
            </p:spPr>
            <p:txBody>
              <a:bodyPr/>
              <a:lstStyle/>
              <a:p>
                <a:r>
                  <a:rPr lang="en-US">
                    <a:noFill/>
                  </a:rPr>
                  <a:t> </a:t>
                </a:r>
              </a:p>
            </p:txBody>
          </p:sp>
        </mc:Fallback>
      </mc:AlternateContent>
    </p:spTree>
    <p:extLst>
      <p:ext uri="{BB962C8B-B14F-4D97-AF65-F5344CB8AC3E}">
        <p14:creationId xmlns:p14="http://schemas.microsoft.com/office/powerpoint/2010/main" val="4616202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6427F7-D16B-F8B6-7241-C30FCED2954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7C5457D-4753-81BD-214D-6D319806F8BD}"/>
              </a:ext>
            </a:extLst>
          </p:cNvPr>
          <p:cNvSpPr>
            <a:spLocks noGrp="1"/>
          </p:cNvSpPr>
          <p:nvPr>
            <p:ph type="title"/>
          </p:nvPr>
        </p:nvSpPr>
        <p:spPr/>
        <p:txBody>
          <a:bodyPr/>
          <a:lstStyle/>
          <a:p>
            <a:pPr algn="l"/>
            <a:r>
              <a:rPr lang="en-US" b="1" dirty="0"/>
              <a:t>Equations in Different Forms </a:t>
            </a:r>
            <a:r>
              <a:rPr lang="en-US" sz="2000" b="1" dirty="0">
                <a:solidFill>
                  <a:schemeClr val="bg1"/>
                </a:solidFill>
              </a:rPr>
              <a:t>(5 of 13)</a:t>
            </a:r>
          </a:p>
        </p:txBody>
      </p:sp>
      <mc:AlternateContent xmlns:mc="http://schemas.openxmlformats.org/markup-compatibility/2006" xmlns:a14="http://schemas.microsoft.com/office/drawing/2010/main">
        <mc:Choice Requires="a14">
          <p:sp>
            <p:nvSpPr>
              <p:cNvPr id="2" name="Text Placeholder 2">
                <a:extLst>
                  <a:ext uri="{FF2B5EF4-FFF2-40B4-BE49-F238E27FC236}">
                    <a16:creationId xmlns:a16="http://schemas.microsoft.com/office/drawing/2014/main" id="{11657AE2-50AC-AE8E-C088-629BCB172685}"/>
                  </a:ext>
                </a:extLst>
              </p:cNvPr>
              <p:cNvSpPr txBox="1">
                <a:spLocks/>
              </p:cNvSpPr>
              <p:nvPr/>
            </p:nvSpPr>
            <p:spPr>
              <a:xfrm>
                <a:off x="777240" y="1600200"/>
                <a:ext cx="10206849" cy="3937280"/>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466344" indent="-466344">
                  <a:buFont typeface="+mj-lt"/>
                  <a:buAutoNum type="arabicPeriod" startAt="3"/>
                </a:pPr>
                <a:r>
                  <a:rPr lang="en-US" sz="2800" dirty="0">
                    <a:solidFill>
                      <a:srgbClr val="000000"/>
                    </a:solidFill>
                  </a:rPr>
                  <a:t>Consider the equation </a:t>
                </a:r>
                <a14:m>
                  <m:oMath xmlns:m="http://schemas.openxmlformats.org/officeDocument/2006/math">
                    <m:r>
                      <a:rPr lang="en-US" sz="2800" b="0" i="0" dirty="0" smtClean="0">
                        <a:solidFill>
                          <a:srgbClr val="000000"/>
                        </a:solidFill>
                        <a:latin typeface="Cambria Math" panose="02040503050406030204" pitchFamily="18" charset="0"/>
                      </a:rPr>
                      <m:t>3</m:t>
                    </m:r>
                    <m:r>
                      <a:rPr lang="en-US" sz="2800" b="0" i="1" dirty="0" smtClean="0">
                        <a:solidFill>
                          <a:srgbClr val="000000"/>
                        </a:solidFill>
                        <a:latin typeface="Cambria Math" panose="02040503050406030204" pitchFamily="18" charset="0"/>
                      </a:rPr>
                      <m:t>𝑥</m:t>
                    </m:r>
                    <m:r>
                      <a:rPr lang="en-IN" sz="2800" b="0" i="1" dirty="0" smtClean="0">
                        <a:solidFill>
                          <a:srgbClr val="000000"/>
                        </a:solidFill>
                        <a:latin typeface="Cambria Math" panose="02040503050406030204" pitchFamily="18" charset="0"/>
                      </a:rPr>
                      <m:t> </m:t>
                    </m:r>
                    <m:r>
                      <a:rPr lang="en-US" sz="2800" b="0" i="1" dirty="0" smtClean="0">
                        <a:solidFill>
                          <a:srgbClr val="000000"/>
                        </a:solidFill>
                        <a:latin typeface="Cambria Math" panose="02040503050406030204" pitchFamily="18" charset="0"/>
                      </a:rPr>
                      <m:t>–2</m:t>
                    </m:r>
                    <m:r>
                      <a:rPr lang="en-US" sz="2800" b="0" i="1" dirty="0" smtClean="0">
                        <a:solidFill>
                          <a:srgbClr val="000000"/>
                        </a:solidFill>
                        <a:latin typeface="Cambria Math" panose="02040503050406030204" pitchFamily="18" charset="0"/>
                      </a:rPr>
                      <m:t>𝑦</m:t>
                    </m:r>
                    <m:r>
                      <a:rPr lang="en-US" sz="2800" b="0" i="1" dirty="0" smtClean="0">
                        <a:solidFill>
                          <a:srgbClr val="000000"/>
                        </a:solidFill>
                        <a:latin typeface="Cambria Math" panose="02040503050406030204" pitchFamily="18" charset="0"/>
                      </a:rPr>
                      <m:t>=8</m:t>
                    </m:r>
                  </m:oMath>
                </a14:m>
                <a:r>
                  <a:rPr lang="en-US" sz="2800" dirty="0">
                    <a:solidFill>
                      <a:srgbClr val="000000"/>
                    </a:solidFill>
                  </a:rPr>
                  <a:t>. Determine each characteristic and then explain your work.</a:t>
                </a:r>
              </a:p>
              <a:p>
                <a:pPr marL="980694" indent="-514350">
                  <a:buFont typeface="+mj-lt"/>
                  <a:buAutoNum type="alphaLcPeriod"/>
                </a:pPr>
                <a:r>
                  <a:rPr lang="en-US" sz="2800" dirty="0">
                    <a:solidFill>
                      <a:srgbClr val="000000"/>
                    </a:solidFill>
                  </a:rPr>
                  <a:t>Slope</a:t>
                </a:r>
              </a:p>
              <a:p>
                <a:pPr marL="0" indent="0">
                  <a:buNone/>
                </a:pPr>
                <a:endParaRPr lang="en-US" sz="2800" dirty="0">
                  <a:solidFill>
                    <a:srgbClr val="000000"/>
                  </a:solidFill>
                </a:endParaRPr>
              </a:p>
              <a:p>
                <a:pPr marL="0" indent="0">
                  <a:buNone/>
                </a:pPr>
                <a:endParaRPr lang="en-US" sz="2800" dirty="0">
                  <a:solidFill>
                    <a:srgbClr val="000000"/>
                  </a:solidFill>
                </a:endParaRPr>
              </a:p>
              <a:p>
                <a:pPr marL="466344" indent="0">
                  <a:buNone/>
                </a:pPr>
                <a:r>
                  <a:rPr lang="en-US" sz="2800" dirty="0">
                    <a:solidFill>
                      <a:srgbClr val="000000"/>
                    </a:solidFill>
                  </a:rPr>
                  <a:t>b.   </a:t>
                </a:r>
                <a14:m>
                  <m:oMath xmlns:m="http://schemas.openxmlformats.org/officeDocument/2006/math">
                    <m:r>
                      <a:rPr lang="en-US" sz="2800" i="1" dirty="0" smtClean="0">
                        <a:solidFill>
                          <a:srgbClr val="000000"/>
                        </a:solidFill>
                        <a:latin typeface="Cambria Math" panose="02040503050406030204" pitchFamily="18" charset="0"/>
                      </a:rPr>
                      <m:t>𝑦</m:t>
                    </m:r>
                  </m:oMath>
                </a14:m>
                <a:r>
                  <a:rPr lang="en-US" sz="2800" dirty="0">
                    <a:solidFill>
                      <a:srgbClr val="000000"/>
                    </a:solidFill>
                  </a:rPr>
                  <a:t>-intercept</a:t>
                </a:r>
              </a:p>
              <a:p>
                <a:pPr marL="0" indent="0">
                  <a:buNone/>
                </a:pPr>
                <a:endParaRPr lang="en-US" sz="2800" dirty="0">
                  <a:solidFill>
                    <a:srgbClr val="000000"/>
                  </a:solidFill>
                </a:endParaRPr>
              </a:p>
              <a:p>
                <a:pPr marL="0" indent="0">
                  <a:buNone/>
                </a:pPr>
                <a:endParaRPr lang="en-US" sz="2800" dirty="0">
                  <a:solidFill>
                    <a:srgbClr val="000000"/>
                  </a:solidFill>
                </a:endParaRPr>
              </a:p>
            </p:txBody>
          </p:sp>
        </mc:Choice>
        <mc:Fallback xmlns="">
          <p:sp>
            <p:nvSpPr>
              <p:cNvPr id="2" name="Text Placeholder 2">
                <a:extLst>
                  <a:ext uri="{FF2B5EF4-FFF2-40B4-BE49-F238E27FC236}">
                    <a16:creationId xmlns:a16="http://schemas.microsoft.com/office/drawing/2014/main" id="{11657AE2-50AC-AE8E-C088-629BCB172685}"/>
                  </a:ext>
                </a:extLst>
              </p:cNvPr>
              <p:cNvSpPr txBox="1">
                <a:spLocks noRot="1" noChangeAspect="1" noMove="1" noResize="1" noEditPoints="1" noAdjustHandles="1" noChangeArrowheads="1" noChangeShapeType="1" noTextEdit="1"/>
              </p:cNvSpPr>
              <p:nvPr/>
            </p:nvSpPr>
            <p:spPr>
              <a:xfrm>
                <a:off x="777240" y="1600200"/>
                <a:ext cx="10206849" cy="3937280"/>
              </a:xfrm>
              <a:prstGeom prst="rect">
                <a:avLst/>
              </a:prstGeom>
              <a:blipFill>
                <a:blip r:embed="rId3"/>
                <a:stretch>
                  <a:fillRect l="-1254" t="-1705" r="-1852"/>
                </a:stretch>
              </a:blipFill>
            </p:spPr>
            <p:txBody>
              <a:bodyPr/>
              <a:lstStyle/>
              <a:p>
                <a:r>
                  <a:rPr lang="en-US">
                    <a:noFill/>
                  </a:rPr>
                  <a:t> </a:t>
                </a:r>
              </a:p>
            </p:txBody>
          </p:sp>
        </mc:Fallback>
      </mc:AlternateContent>
    </p:spTree>
    <p:extLst>
      <p:ext uri="{BB962C8B-B14F-4D97-AF65-F5344CB8AC3E}">
        <p14:creationId xmlns:p14="http://schemas.microsoft.com/office/powerpoint/2010/main" val="271024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7E81D4-ECAF-9926-B7F1-1B9EE042950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FCB7027-D700-5D32-357F-CAB926D3BD9B}"/>
              </a:ext>
            </a:extLst>
          </p:cNvPr>
          <p:cNvSpPr>
            <a:spLocks noGrp="1"/>
          </p:cNvSpPr>
          <p:nvPr>
            <p:ph type="title"/>
          </p:nvPr>
        </p:nvSpPr>
        <p:spPr/>
        <p:txBody>
          <a:bodyPr/>
          <a:lstStyle/>
          <a:p>
            <a:pPr algn="l"/>
            <a:r>
              <a:rPr lang="en-US" b="1" dirty="0"/>
              <a:t>Equations in Different Forms </a:t>
            </a:r>
            <a:r>
              <a:rPr lang="en-US" sz="2000" b="1" dirty="0">
                <a:solidFill>
                  <a:schemeClr val="bg1"/>
                </a:solidFill>
              </a:rPr>
              <a:t>(6 of 13)</a:t>
            </a:r>
          </a:p>
        </p:txBody>
      </p:sp>
      <mc:AlternateContent xmlns:mc="http://schemas.openxmlformats.org/markup-compatibility/2006" xmlns:a14="http://schemas.microsoft.com/office/drawing/2010/main">
        <mc:Choice Requires="a14">
          <p:sp>
            <p:nvSpPr>
              <p:cNvPr id="2" name="Text Placeholder 2">
                <a:extLst>
                  <a:ext uri="{FF2B5EF4-FFF2-40B4-BE49-F238E27FC236}">
                    <a16:creationId xmlns:a16="http://schemas.microsoft.com/office/drawing/2014/main" id="{AA39235C-DBE9-7005-9AFD-871FE626692D}"/>
                  </a:ext>
                </a:extLst>
              </p:cNvPr>
              <p:cNvSpPr txBox="1">
                <a:spLocks/>
              </p:cNvSpPr>
              <p:nvPr/>
            </p:nvSpPr>
            <p:spPr>
              <a:xfrm>
                <a:off x="777240" y="1600200"/>
                <a:ext cx="9890759" cy="3937280"/>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466344" indent="-466344">
                  <a:buFont typeface="+mj-lt"/>
                  <a:buAutoNum type="alphaLcPeriod" startAt="3"/>
                </a:pPr>
                <a14:m>
                  <m:oMath xmlns:m="http://schemas.openxmlformats.org/officeDocument/2006/math">
                    <m:r>
                      <a:rPr lang="en-US" sz="2800" dirty="0">
                        <a:solidFill>
                          <a:srgbClr val="000000"/>
                        </a:solidFill>
                        <a:latin typeface="Cambria Math" panose="02040503050406030204" pitchFamily="18" charset="0"/>
                      </a:rPr>
                      <m:t>𝑥</m:t>
                    </m:r>
                  </m:oMath>
                </a14:m>
                <a:r>
                  <a:rPr lang="en-US" sz="2800" dirty="0">
                    <a:solidFill>
                      <a:srgbClr val="000000"/>
                    </a:solidFill>
                  </a:rPr>
                  <a:t>-intercept</a:t>
                </a:r>
              </a:p>
              <a:p>
                <a:pPr marL="514350" indent="-514350">
                  <a:buFont typeface="+mj-lt"/>
                  <a:buAutoNum type="alphaLcPeriod" startAt="3"/>
                </a:pPr>
                <a:endParaRPr lang="en-US" sz="2800" dirty="0">
                  <a:solidFill>
                    <a:srgbClr val="000000"/>
                  </a:solidFill>
                </a:endParaRPr>
              </a:p>
              <a:p>
                <a:pPr marL="514350" indent="-514350">
                  <a:buFont typeface="+mj-lt"/>
                  <a:buAutoNum type="alphaLcPeriod" startAt="3"/>
                </a:pPr>
                <a:endParaRPr lang="en-US" sz="2800" dirty="0">
                  <a:solidFill>
                    <a:srgbClr val="000000"/>
                  </a:solidFill>
                </a:endParaRPr>
              </a:p>
              <a:p>
                <a:pPr marL="466344" indent="-466344">
                  <a:buFont typeface="+mj-lt"/>
                  <a:buAutoNum type="alphaLcPeriod" startAt="3"/>
                </a:pPr>
                <a:r>
                  <a:rPr lang="en-US" sz="2800" dirty="0">
                    <a:solidFill>
                      <a:srgbClr val="000000"/>
                    </a:solidFill>
                  </a:rPr>
                  <a:t>How did you determine each characteristic?</a:t>
                </a:r>
              </a:p>
              <a:p>
                <a:pPr marL="0" indent="0">
                  <a:buNone/>
                </a:pPr>
                <a:endParaRPr lang="en-US" sz="2800" dirty="0">
                  <a:solidFill>
                    <a:srgbClr val="000000"/>
                  </a:solidFill>
                </a:endParaRPr>
              </a:p>
            </p:txBody>
          </p:sp>
        </mc:Choice>
        <mc:Fallback xmlns="">
          <p:sp>
            <p:nvSpPr>
              <p:cNvPr id="2" name="Text Placeholder 2">
                <a:extLst>
                  <a:ext uri="{FF2B5EF4-FFF2-40B4-BE49-F238E27FC236}">
                    <a16:creationId xmlns:a16="http://schemas.microsoft.com/office/drawing/2014/main" id="{AA39235C-DBE9-7005-9AFD-871FE626692D}"/>
                  </a:ext>
                </a:extLst>
              </p:cNvPr>
              <p:cNvSpPr txBox="1">
                <a:spLocks noRot="1" noChangeAspect="1" noMove="1" noResize="1" noEditPoints="1" noAdjustHandles="1" noChangeArrowheads="1" noChangeShapeType="1" noTextEdit="1"/>
              </p:cNvSpPr>
              <p:nvPr/>
            </p:nvSpPr>
            <p:spPr>
              <a:xfrm>
                <a:off x="777240" y="1600200"/>
                <a:ext cx="9890759" cy="3937280"/>
              </a:xfrm>
              <a:prstGeom prst="rect">
                <a:avLst/>
              </a:prstGeom>
              <a:blipFill>
                <a:blip r:embed="rId3"/>
                <a:stretch>
                  <a:fillRect l="-1295" t="-1550"/>
                </a:stretch>
              </a:blipFill>
            </p:spPr>
            <p:txBody>
              <a:bodyPr/>
              <a:lstStyle/>
              <a:p>
                <a:r>
                  <a:rPr lang="en-US">
                    <a:noFill/>
                  </a:rPr>
                  <a:t> </a:t>
                </a:r>
              </a:p>
            </p:txBody>
          </p:sp>
        </mc:Fallback>
      </mc:AlternateContent>
    </p:spTree>
    <p:extLst>
      <p:ext uri="{BB962C8B-B14F-4D97-AF65-F5344CB8AC3E}">
        <p14:creationId xmlns:p14="http://schemas.microsoft.com/office/powerpoint/2010/main" val="8596935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9BA0A2-B924-7836-D9A8-71B2FC605A0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13FCED0-6DA7-C9C6-2782-D75DAC9CF645}"/>
              </a:ext>
            </a:extLst>
          </p:cNvPr>
          <p:cNvSpPr>
            <a:spLocks noGrp="1"/>
          </p:cNvSpPr>
          <p:nvPr>
            <p:ph type="title"/>
          </p:nvPr>
        </p:nvSpPr>
        <p:spPr/>
        <p:txBody>
          <a:bodyPr/>
          <a:lstStyle/>
          <a:p>
            <a:pPr algn="l"/>
            <a:r>
              <a:rPr lang="en-US" b="1" dirty="0"/>
              <a:t>Equations in Different Forms </a:t>
            </a:r>
            <a:r>
              <a:rPr lang="en-US" sz="2000" b="1" dirty="0">
                <a:solidFill>
                  <a:schemeClr val="bg1"/>
                </a:solidFill>
              </a:rPr>
              <a:t>(7 of 13)</a:t>
            </a:r>
          </a:p>
        </p:txBody>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08CF15ED-F7FD-D671-EF2B-2C23B71A5094}"/>
                  </a:ext>
                </a:extLst>
              </p:cNvPr>
              <p:cNvSpPr txBox="1"/>
              <p:nvPr/>
            </p:nvSpPr>
            <p:spPr>
              <a:xfrm>
                <a:off x="788529" y="1713089"/>
                <a:ext cx="2167321" cy="4942891"/>
              </a:xfrm>
              <a:prstGeom prst="rect">
                <a:avLst/>
              </a:prstGeom>
              <a:noFill/>
              <a:ln w="31750">
                <a:solidFill>
                  <a:srgbClr val="008F4C"/>
                </a:solidFill>
                <a:prstDash val="sysDot"/>
              </a:ln>
            </p:spPr>
            <p:txBody>
              <a:bodyPr wrap="square" lIns="182880" rtlCol="0" anchor="ctr" anchorCtr="0">
                <a:noAutofit/>
              </a:bodyPr>
              <a:lstStyle/>
              <a:p>
                <a:r>
                  <a:rPr lang="en-US" sz="2000" dirty="0">
                    <a:solidFill>
                      <a:schemeClr val="bg2">
                        <a:lumMod val="25000"/>
                      </a:schemeClr>
                    </a:solidFill>
                  </a:rPr>
                  <a:t>In slope-intercept and point-slope form, the values of </a:t>
                </a:r>
                <a14:m>
                  <m:oMath xmlns:m="http://schemas.openxmlformats.org/officeDocument/2006/math">
                    <m:r>
                      <a:rPr lang="en-US" sz="2000" i="1" dirty="0" smtClean="0">
                        <a:solidFill>
                          <a:schemeClr val="bg2">
                            <a:lumMod val="25000"/>
                          </a:schemeClr>
                        </a:solidFill>
                        <a:latin typeface="Cambria Math" panose="02040503050406030204" pitchFamily="18" charset="0"/>
                      </a:rPr>
                      <m:t>𝑚</m:t>
                    </m:r>
                  </m:oMath>
                </a14:m>
                <a:r>
                  <a:rPr lang="en-US" sz="2000" dirty="0">
                    <a:solidFill>
                      <a:schemeClr val="bg2">
                        <a:lumMod val="25000"/>
                      </a:schemeClr>
                    </a:solidFill>
                  </a:rPr>
                  <a:t>, </a:t>
                </a:r>
                <a14:m>
                  <m:oMath xmlns:m="http://schemas.openxmlformats.org/officeDocument/2006/math">
                    <m:r>
                      <a:rPr lang="en-US" sz="2000" i="1" dirty="0" smtClean="0">
                        <a:solidFill>
                          <a:schemeClr val="bg2">
                            <a:lumMod val="25000"/>
                          </a:schemeClr>
                        </a:solidFill>
                        <a:latin typeface="Cambria Math" panose="02040503050406030204" pitchFamily="18" charset="0"/>
                      </a:rPr>
                      <m:t>𝑥</m:t>
                    </m:r>
                    <m:r>
                      <a:rPr lang="en-US" sz="2000" i="1" baseline="-25000" dirty="0" smtClean="0">
                        <a:solidFill>
                          <a:schemeClr val="bg2">
                            <a:lumMod val="25000"/>
                          </a:schemeClr>
                        </a:solidFill>
                        <a:latin typeface="Cambria Math" panose="02040503050406030204" pitchFamily="18" charset="0"/>
                      </a:rPr>
                      <m:t>1</m:t>
                    </m:r>
                  </m:oMath>
                </a14:m>
                <a:r>
                  <a:rPr lang="en-US" sz="2000" dirty="0">
                    <a:solidFill>
                      <a:schemeClr val="bg2">
                        <a:lumMod val="25000"/>
                      </a:schemeClr>
                    </a:solidFill>
                  </a:rPr>
                  <a:t>, and </a:t>
                </a:r>
                <a14:m>
                  <m:oMath xmlns:m="http://schemas.openxmlformats.org/officeDocument/2006/math">
                    <m:r>
                      <a:rPr lang="en-US" sz="2000" i="1" dirty="0" smtClean="0">
                        <a:solidFill>
                          <a:schemeClr val="bg2">
                            <a:lumMod val="25000"/>
                          </a:schemeClr>
                        </a:solidFill>
                        <a:latin typeface="Cambria Math" panose="02040503050406030204" pitchFamily="18" charset="0"/>
                      </a:rPr>
                      <m:t>𝑦</m:t>
                    </m:r>
                    <m:r>
                      <a:rPr lang="en-US" sz="2000" i="1" baseline="-25000" dirty="0" smtClean="0">
                        <a:solidFill>
                          <a:schemeClr val="bg2">
                            <a:lumMod val="25000"/>
                          </a:schemeClr>
                        </a:solidFill>
                        <a:latin typeface="Cambria Math" panose="02040503050406030204" pitchFamily="18" charset="0"/>
                      </a:rPr>
                      <m:t>1</m:t>
                    </m:r>
                  </m:oMath>
                </a14:m>
                <a:r>
                  <a:rPr lang="en-US" sz="2000" dirty="0">
                    <a:solidFill>
                      <a:schemeClr val="bg2">
                        <a:lumMod val="25000"/>
                      </a:schemeClr>
                    </a:solidFill>
                  </a:rPr>
                  <a:t> can be any real numbers. In standard form, however, there are constraints on the variables: </a:t>
                </a:r>
                <a14:m>
                  <m:oMath xmlns:m="http://schemas.openxmlformats.org/officeDocument/2006/math">
                    <m:r>
                      <a:rPr lang="en-US" sz="2000" i="1" dirty="0" smtClean="0">
                        <a:solidFill>
                          <a:schemeClr val="bg2">
                            <a:lumMod val="25000"/>
                          </a:schemeClr>
                        </a:solidFill>
                        <a:latin typeface="Cambria Math" panose="02040503050406030204" pitchFamily="18" charset="0"/>
                      </a:rPr>
                      <m:t>𝐴</m:t>
                    </m:r>
                  </m:oMath>
                </a14:m>
                <a:r>
                  <a:rPr lang="en-US" sz="2000" dirty="0">
                    <a:solidFill>
                      <a:schemeClr val="bg2">
                        <a:lumMod val="25000"/>
                      </a:schemeClr>
                    </a:solidFill>
                  </a:rPr>
                  <a:t>, </a:t>
                </a:r>
                <a14:m>
                  <m:oMath xmlns:m="http://schemas.openxmlformats.org/officeDocument/2006/math">
                    <m:r>
                      <a:rPr lang="en-US" sz="2000" i="1" dirty="0" smtClean="0">
                        <a:solidFill>
                          <a:schemeClr val="bg2">
                            <a:lumMod val="25000"/>
                          </a:schemeClr>
                        </a:solidFill>
                        <a:latin typeface="Cambria Math" panose="02040503050406030204" pitchFamily="18" charset="0"/>
                      </a:rPr>
                      <m:t>𝐵</m:t>
                    </m:r>
                  </m:oMath>
                </a14:m>
                <a:r>
                  <a:rPr lang="en-US" sz="2000" dirty="0">
                    <a:solidFill>
                      <a:schemeClr val="bg2">
                        <a:lumMod val="25000"/>
                      </a:schemeClr>
                    </a:solidFill>
                  </a:rPr>
                  <a:t>, and </a:t>
                </a:r>
                <a14:m>
                  <m:oMath xmlns:m="http://schemas.openxmlformats.org/officeDocument/2006/math">
                    <m:r>
                      <a:rPr lang="en-US" sz="2000" i="1" dirty="0" smtClean="0">
                        <a:solidFill>
                          <a:schemeClr val="bg2">
                            <a:lumMod val="25000"/>
                          </a:schemeClr>
                        </a:solidFill>
                        <a:latin typeface="Cambria Math" panose="02040503050406030204" pitchFamily="18" charset="0"/>
                      </a:rPr>
                      <m:t>𝐶</m:t>
                    </m:r>
                  </m:oMath>
                </a14:m>
                <a:r>
                  <a:rPr lang="en-US" sz="2000" dirty="0">
                    <a:solidFill>
                      <a:schemeClr val="bg2">
                        <a:lumMod val="25000"/>
                      </a:schemeClr>
                    </a:solidFill>
                  </a:rPr>
                  <a:t> must be integers, and </a:t>
                </a:r>
                <a14:m>
                  <m:oMath xmlns:m="http://schemas.openxmlformats.org/officeDocument/2006/math">
                    <m:r>
                      <a:rPr lang="en-US" sz="2000" i="1" dirty="0" smtClean="0">
                        <a:solidFill>
                          <a:schemeClr val="bg2">
                            <a:lumMod val="25000"/>
                          </a:schemeClr>
                        </a:solidFill>
                        <a:latin typeface="Cambria Math" panose="02040503050406030204" pitchFamily="18" charset="0"/>
                      </a:rPr>
                      <m:t>𝐴</m:t>
                    </m:r>
                  </m:oMath>
                </a14:m>
                <a:r>
                  <a:rPr lang="en-US" sz="2000" dirty="0">
                    <a:solidFill>
                      <a:schemeClr val="bg2">
                        <a:lumMod val="25000"/>
                      </a:schemeClr>
                    </a:solidFill>
                  </a:rPr>
                  <a:t> and </a:t>
                </a:r>
                <a14:m>
                  <m:oMath xmlns:m="http://schemas.openxmlformats.org/officeDocument/2006/math">
                    <m:r>
                      <a:rPr lang="en-US" sz="2000" i="1" dirty="0" smtClean="0">
                        <a:solidFill>
                          <a:schemeClr val="bg2">
                            <a:lumMod val="25000"/>
                          </a:schemeClr>
                        </a:solidFill>
                        <a:latin typeface="Cambria Math" panose="02040503050406030204" pitchFamily="18" charset="0"/>
                      </a:rPr>
                      <m:t>𝐵</m:t>
                    </m:r>
                  </m:oMath>
                </a14:m>
                <a:r>
                  <a:rPr lang="en-US" sz="2000" dirty="0">
                    <a:solidFill>
                      <a:schemeClr val="bg2">
                        <a:lumMod val="25000"/>
                      </a:schemeClr>
                    </a:solidFill>
                  </a:rPr>
                  <a:t> cannot both be 0.</a:t>
                </a:r>
              </a:p>
            </p:txBody>
          </p:sp>
        </mc:Choice>
        <mc:Fallback xmlns="">
          <p:sp>
            <p:nvSpPr>
              <p:cNvPr id="3" name="TextBox 2">
                <a:extLst>
                  <a:ext uri="{FF2B5EF4-FFF2-40B4-BE49-F238E27FC236}">
                    <a16:creationId xmlns:a16="http://schemas.microsoft.com/office/drawing/2014/main" id="{08CF15ED-F7FD-D671-EF2B-2C23B71A5094}"/>
                  </a:ext>
                </a:extLst>
              </p:cNvPr>
              <p:cNvSpPr txBox="1">
                <a:spLocks noRot="1" noChangeAspect="1" noMove="1" noResize="1" noEditPoints="1" noAdjustHandles="1" noChangeArrowheads="1" noChangeShapeType="1" noTextEdit="1"/>
              </p:cNvSpPr>
              <p:nvPr/>
            </p:nvSpPr>
            <p:spPr>
              <a:xfrm>
                <a:off x="788529" y="1713089"/>
                <a:ext cx="2167321" cy="4942891"/>
              </a:xfrm>
              <a:prstGeom prst="rect">
                <a:avLst/>
              </a:prstGeom>
              <a:blipFill>
                <a:blip r:embed="rId3"/>
                <a:stretch>
                  <a:fillRect r="-2770"/>
                </a:stretch>
              </a:blipFill>
              <a:ln w="31750">
                <a:solidFill>
                  <a:srgbClr val="008F4C"/>
                </a:solidFill>
                <a:prstDash val="sysDot"/>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 name="Text Placeholder 2">
                <a:extLst>
                  <a:ext uri="{FF2B5EF4-FFF2-40B4-BE49-F238E27FC236}">
                    <a16:creationId xmlns:a16="http://schemas.microsoft.com/office/drawing/2014/main" id="{DAF002AC-C767-1FA6-F81B-97589C510030}"/>
                  </a:ext>
                </a:extLst>
              </p:cNvPr>
              <p:cNvSpPr txBox="1">
                <a:spLocks/>
              </p:cNvSpPr>
              <p:nvPr/>
            </p:nvSpPr>
            <p:spPr>
              <a:xfrm>
                <a:off x="3318369" y="1600200"/>
                <a:ext cx="8826324" cy="1515140"/>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sz="2800" dirty="0">
                    <a:solidFill>
                      <a:srgbClr val="000000"/>
                    </a:solidFill>
                  </a:rPr>
                  <a:t>Recall that there are three useful forms of linear equations.</a:t>
                </a:r>
              </a:p>
              <a:p>
                <a:pPr marL="0" indent="0">
                  <a:buNone/>
                </a:pPr>
                <a:r>
                  <a:rPr lang="en-US" sz="2600" b="1" dirty="0">
                    <a:solidFill>
                      <a:srgbClr val="000000"/>
                    </a:solidFill>
                  </a:rPr>
                  <a:t>Slope-Intercept Form</a:t>
                </a:r>
                <a:r>
                  <a:rPr lang="en-US" sz="2600" dirty="0">
                    <a:solidFill>
                      <a:srgbClr val="000000"/>
                    </a:solidFill>
                  </a:rPr>
                  <a:t>   </a:t>
                </a:r>
                <a:r>
                  <a:rPr lang="en-US" sz="2600" b="1" dirty="0">
                    <a:solidFill>
                      <a:srgbClr val="000000"/>
                    </a:solidFill>
                  </a:rPr>
                  <a:t>Point-Slope Form</a:t>
                </a:r>
                <a:r>
                  <a:rPr lang="en-US" sz="2600" dirty="0">
                    <a:solidFill>
                      <a:srgbClr val="000000"/>
                    </a:solidFill>
                  </a:rPr>
                  <a:t>         </a:t>
                </a:r>
                <a:r>
                  <a:rPr lang="en-US" sz="2600" b="1" dirty="0">
                    <a:solidFill>
                      <a:srgbClr val="000000"/>
                    </a:solidFill>
                  </a:rPr>
                  <a:t>Standard Form</a:t>
                </a:r>
              </a:p>
              <a:p>
                <a:pPr marL="0" indent="0">
                  <a:buNone/>
                </a:pPr>
                <a14:m>
                  <m:oMath xmlns:m="http://schemas.openxmlformats.org/officeDocument/2006/math">
                    <m:r>
                      <a:rPr lang="es-ES" sz="2600" i="1" dirty="0" smtClean="0">
                        <a:solidFill>
                          <a:srgbClr val="000000"/>
                        </a:solidFill>
                        <a:latin typeface="Cambria Math" panose="02040503050406030204" pitchFamily="18" charset="0"/>
                      </a:rPr>
                      <m:t>𝑦</m:t>
                    </m:r>
                    <m:r>
                      <a:rPr lang="en-US" sz="2600" b="0" i="1" dirty="0" smtClean="0">
                        <a:solidFill>
                          <a:srgbClr val="000000"/>
                        </a:solidFill>
                        <a:latin typeface="Cambria Math" panose="02040503050406030204" pitchFamily="18" charset="0"/>
                      </a:rPr>
                      <m:t>=</m:t>
                    </m:r>
                    <m:r>
                      <a:rPr lang="es-ES" sz="2600" i="1" dirty="0" err="1" smtClean="0">
                        <a:solidFill>
                          <a:srgbClr val="000000"/>
                        </a:solidFill>
                        <a:latin typeface="Cambria Math" panose="02040503050406030204" pitchFamily="18" charset="0"/>
                      </a:rPr>
                      <m:t>𝑚𝑥</m:t>
                    </m:r>
                    <m:r>
                      <a:rPr lang="en-US" sz="2600" b="0" i="1" dirty="0" smtClean="0">
                        <a:solidFill>
                          <a:srgbClr val="000000"/>
                        </a:solidFill>
                        <a:latin typeface="Cambria Math" panose="02040503050406030204" pitchFamily="18" charset="0"/>
                      </a:rPr>
                      <m:t>+</m:t>
                    </m:r>
                    <m:r>
                      <a:rPr lang="es-ES" sz="2600" i="1" dirty="0" smtClean="0">
                        <a:solidFill>
                          <a:srgbClr val="000000"/>
                        </a:solidFill>
                        <a:latin typeface="Cambria Math" panose="02040503050406030204" pitchFamily="18" charset="0"/>
                      </a:rPr>
                      <m:t>𝑏</m:t>
                    </m:r>
                  </m:oMath>
                </a14:m>
                <a:r>
                  <a:rPr lang="es-ES" sz="2600" dirty="0">
                    <a:solidFill>
                      <a:srgbClr val="000000"/>
                    </a:solidFill>
                  </a:rPr>
                  <a:t>	                 </a:t>
                </a:r>
                <a14:m>
                  <m:oMath xmlns:m="http://schemas.openxmlformats.org/officeDocument/2006/math">
                    <m:r>
                      <a:rPr lang="es-ES" sz="2600" i="1" dirty="0" smtClean="0">
                        <a:solidFill>
                          <a:srgbClr val="000000"/>
                        </a:solidFill>
                        <a:latin typeface="Cambria Math" panose="02040503050406030204" pitchFamily="18" charset="0"/>
                      </a:rPr>
                      <m:t>𝑦</m:t>
                    </m:r>
                    <m:r>
                      <a:rPr lang="es-ES" sz="2600" i="1" dirty="0" smtClean="0">
                        <a:solidFill>
                          <a:srgbClr val="000000"/>
                        </a:solidFill>
                        <a:latin typeface="Cambria Math" panose="02040503050406030204" pitchFamily="18" charset="0"/>
                      </a:rPr>
                      <m:t> – </m:t>
                    </m:r>
                    <m:r>
                      <a:rPr lang="es-ES" sz="2600" i="1" dirty="0" smtClean="0">
                        <a:solidFill>
                          <a:srgbClr val="000000"/>
                        </a:solidFill>
                        <a:latin typeface="Cambria Math" panose="02040503050406030204" pitchFamily="18" charset="0"/>
                      </a:rPr>
                      <m:t>𝑦</m:t>
                    </m:r>
                    <m:r>
                      <a:rPr lang="es-ES" sz="2600" i="1" baseline="-25000" dirty="0" smtClean="0">
                        <a:solidFill>
                          <a:srgbClr val="000000"/>
                        </a:solidFill>
                        <a:latin typeface="Cambria Math" panose="02040503050406030204" pitchFamily="18" charset="0"/>
                      </a:rPr>
                      <m:t>1</m:t>
                    </m:r>
                    <m:r>
                      <a:rPr lang="es-ES" sz="2600" i="1" dirty="0" smtClean="0">
                        <a:solidFill>
                          <a:srgbClr val="000000"/>
                        </a:solidFill>
                        <a:latin typeface="Cambria Math" panose="02040503050406030204" pitchFamily="18" charset="0"/>
                      </a:rPr>
                      <m:t>=</m:t>
                    </m:r>
                    <m:r>
                      <a:rPr lang="es-ES" sz="2600" i="1" dirty="0" smtClean="0">
                        <a:solidFill>
                          <a:srgbClr val="000000"/>
                        </a:solidFill>
                        <a:latin typeface="Cambria Math" panose="02040503050406030204" pitchFamily="18" charset="0"/>
                      </a:rPr>
                      <m:t>𝑚</m:t>
                    </m:r>
                    <m:r>
                      <a:rPr lang="es-ES" sz="2600" i="1" dirty="0" smtClean="0">
                        <a:solidFill>
                          <a:srgbClr val="000000"/>
                        </a:solidFill>
                        <a:latin typeface="Cambria Math" panose="02040503050406030204" pitchFamily="18" charset="0"/>
                      </a:rPr>
                      <m:t>(</m:t>
                    </m:r>
                    <m:r>
                      <a:rPr lang="es-ES" sz="2600" i="1" dirty="0" smtClean="0">
                        <a:solidFill>
                          <a:srgbClr val="000000"/>
                        </a:solidFill>
                        <a:latin typeface="Cambria Math" panose="02040503050406030204" pitchFamily="18" charset="0"/>
                      </a:rPr>
                      <m:t>𝑥</m:t>
                    </m:r>
                    <m:r>
                      <a:rPr lang="en-US" sz="2600" b="0" i="1" dirty="0" smtClean="0">
                        <a:solidFill>
                          <a:srgbClr val="000000"/>
                        </a:solidFill>
                        <a:latin typeface="Cambria Math" panose="02040503050406030204" pitchFamily="18" charset="0"/>
                      </a:rPr>
                      <m:t>–</m:t>
                    </m:r>
                    <m:r>
                      <a:rPr lang="es-ES" sz="2600" i="1" dirty="0" smtClean="0">
                        <a:solidFill>
                          <a:srgbClr val="000000"/>
                        </a:solidFill>
                        <a:latin typeface="Cambria Math" panose="02040503050406030204" pitchFamily="18" charset="0"/>
                      </a:rPr>
                      <m:t>𝑥</m:t>
                    </m:r>
                    <m:r>
                      <a:rPr lang="es-ES" sz="2600" i="1" baseline="-25000" dirty="0" smtClean="0">
                        <a:solidFill>
                          <a:srgbClr val="000000"/>
                        </a:solidFill>
                        <a:latin typeface="Cambria Math" panose="02040503050406030204" pitchFamily="18" charset="0"/>
                      </a:rPr>
                      <m:t>1</m:t>
                    </m:r>
                    <m:r>
                      <a:rPr lang="es-ES" sz="2600" i="1" dirty="0" smtClean="0">
                        <a:solidFill>
                          <a:srgbClr val="000000"/>
                        </a:solidFill>
                        <a:latin typeface="Cambria Math" panose="02040503050406030204" pitchFamily="18" charset="0"/>
                      </a:rPr>
                      <m:t>)</m:t>
                    </m:r>
                  </m:oMath>
                </a14:m>
                <a:r>
                  <a:rPr lang="es-ES" sz="2600" dirty="0">
                    <a:solidFill>
                      <a:srgbClr val="000000"/>
                    </a:solidFill>
                  </a:rPr>
                  <a:t>     </a:t>
                </a:r>
                <a14:m>
                  <m:oMath xmlns:m="http://schemas.openxmlformats.org/officeDocument/2006/math">
                    <m:r>
                      <a:rPr lang="en-US" sz="2600" b="0" i="0" dirty="0" smtClean="0">
                        <a:solidFill>
                          <a:srgbClr val="000000"/>
                        </a:solidFill>
                        <a:latin typeface="Cambria Math" panose="02040503050406030204" pitchFamily="18" charset="0"/>
                      </a:rPr>
                      <m:t> </m:t>
                    </m:r>
                    <m:r>
                      <a:rPr lang="en-US" sz="2600" i="1" dirty="0" smtClean="0">
                        <a:solidFill>
                          <a:srgbClr val="000000"/>
                        </a:solidFill>
                        <a:latin typeface="Cambria Math" panose="02040503050406030204" pitchFamily="18" charset="0"/>
                      </a:rPr>
                      <m:t>𝐴𝑥</m:t>
                    </m:r>
                    <m:r>
                      <a:rPr lang="en-US" sz="2600" b="0" i="1" dirty="0" smtClean="0">
                        <a:solidFill>
                          <a:srgbClr val="000000"/>
                        </a:solidFill>
                        <a:latin typeface="Cambria Math" panose="02040503050406030204" pitchFamily="18" charset="0"/>
                      </a:rPr>
                      <m:t>+</m:t>
                    </m:r>
                    <m:r>
                      <a:rPr lang="en-US" sz="2600" i="1" dirty="0" smtClean="0">
                        <a:solidFill>
                          <a:srgbClr val="000000"/>
                        </a:solidFill>
                        <a:latin typeface="Cambria Math" panose="02040503050406030204" pitchFamily="18" charset="0"/>
                      </a:rPr>
                      <m:t>𝐵𝑦</m:t>
                    </m:r>
                    <m:r>
                      <a:rPr lang="en-US" sz="2600" b="0" i="1" dirty="0" smtClean="0">
                        <a:solidFill>
                          <a:srgbClr val="000000"/>
                        </a:solidFill>
                        <a:latin typeface="Cambria Math" panose="02040503050406030204" pitchFamily="18" charset="0"/>
                      </a:rPr>
                      <m:t>=</m:t>
                    </m:r>
                    <m:r>
                      <a:rPr lang="en-US" sz="2600" i="1" dirty="0" smtClean="0">
                        <a:solidFill>
                          <a:srgbClr val="000000"/>
                        </a:solidFill>
                        <a:latin typeface="Cambria Math" panose="02040503050406030204" pitchFamily="18" charset="0"/>
                      </a:rPr>
                      <m:t>𝐶</m:t>
                    </m:r>
                    <m:r>
                      <a:rPr lang="en-US" sz="2600" b="0" i="1" dirty="0" smtClean="0">
                        <a:solidFill>
                          <a:srgbClr val="000000"/>
                        </a:solidFill>
                        <a:latin typeface="Cambria Math" panose="02040503050406030204" pitchFamily="18" charset="0"/>
                      </a:rPr>
                      <m:t> </m:t>
                    </m:r>
                  </m:oMath>
                </a14:m>
                <a:endParaRPr lang="en-US" sz="2600" dirty="0">
                  <a:solidFill>
                    <a:srgbClr val="000000"/>
                  </a:solidFill>
                </a:endParaRPr>
              </a:p>
              <a:p>
                <a:pPr marL="0" indent="0">
                  <a:buNone/>
                </a:pPr>
                <a:endParaRPr lang="en-US" sz="2800" dirty="0">
                  <a:solidFill>
                    <a:srgbClr val="000000"/>
                  </a:solidFill>
                </a:endParaRPr>
              </a:p>
            </p:txBody>
          </p:sp>
        </mc:Choice>
        <mc:Fallback xmlns="">
          <p:sp>
            <p:nvSpPr>
              <p:cNvPr id="2" name="Text Placeholder 2">
                <a:extLst>
                  <a:ext uri="{FF2B5EF4-FFF2-40B4-BE49-F238E27FC236}">
                    <a16:creationId xmlns:a16="http://schemas.microsoft.com/office/drawing/2014/main" id="{DAF002AC-C767-1FA6-F81B-97589C510030}"/>
                  </a:ext>
                </a:extLst>
              </p:cNvPr>
              <p:cNvSpPr txBox="1">
                <a:spLocks noRot="1" noChangeAspect="1" noMove="1" noResize="1" noEditPoints="1" noAdjustHandles="1" noChangeArrowheads="1" noChangeShapeType="1" noTextEdit="1"/>
              </p:cNvSpPr>
              <p:nvPr/>
            </p:nvSpPr>
            <p:spPr>
              <a:xfrm>
                <a:off x="3318369" y="1600200"/>
                <a:ext cx="8826324" cy="1515140"/>
              </a:xfrm>
              <a:prstGeom prst="rect">
                <a:avLst/>
              </a:prstGeom>
              <a:blipFill>
                <a:blip r:embed="rId4"/>
                <a:stretch>
                  <a:fillRect l="-1381" t="-4032"/>
                </a:stretch>
              </a:blipFill>
            </p:spPr>
            <p:txBody>
              <a:bodyPr/>
              <a:lstStyle/>
              <a:p>
                <a:r>
                  <a:rPr lang="en-US">
                    <a:noFill/>
                  </a:rPr>
                  <a:t> </a:t>
                </a:r>
              </a:p>
            </p:txBody>
          </p:sp>
        </mc:Fallback>
      </mc:AlternateContent>
      <p:sp>
        <p:nvSpPr>
          <p:cNvPr id="5" name="Text Placeholder 2">
            <a:extLst>
              <a:ext uri="{FF2B5EF4-FFF2-40B4-BE49-F238E27FC236}">
                <a16:creationId xmlns:a16="http://schemas.microsoft.com/office/drawing/2014/main" id="{EB710443-9F63-5BAE-27A4-6FC3D69A2085}"/>
              </a:ext>
            </a:extLst>
          </p:cNvPr>
          <p:cNvSpPr txBox="1">
            <a:spLocks/>
          </p:cNvSpPr>
          <p:nvPr/>
        </p:nvSpPr>
        <p:spPr>
          <a:xfrm>
            <a:off x="3364089" y="3742661"/>
            <a:ext cx="8107116" cy="1967089"/>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466344" indent="-466344">
              <a:buFont typeface="+mj-lt"/>
              <a:buAutoNum type="arabicPeriod" startAt="4"/>
            </a:pPr>
            <a:r>
              <a:rPr lang="en-US" sz="2800" dirty="0">
                <a:solidFill>
                  <a:srgbClr val="000000"/>
                </a:solidFill>
              </a:rPr>
              <a:t>Identify the form for each equation in Questions 1 through 3.</a:t>
            </a:r>
          </a:p>
        </p:txBody>
      </p:sp>
    </p:spTree>
    <p:extLst>
      <p:ext uri="{BB962C8B-B14F-4D97-AF65-F5344CB8AC3E}">
        <p14:creationId xmlns:p14="http://schemas.microsoft.com/office/powerpoint/2010/main" val="34071904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D8040E-E5C2-8287-4DD7-CEFB44E3C9F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AE2D66D-716A-CA1E-71C4-0645EFFC46E0}"/>
              </a:ext>
            </a:extLst>
          </p:cNvPr>
          <p:cNvSpPr>
            <a:spLocks noGrp="1"/>
          </p:cNvSpPr>
          <p:nvPr>
            <p:ph type="title"/>
          </p:nvPr>
        </p:nvSpPr>
        <p:spPr/>
        <p:txBody>
          <a:bodyPr/>
          <a:lstStyle/>
          <a:p>
            <a:pPr algn="l"/>
            <a:r>
              <a:rPr lang="en-US" b="1" dirty="0"/>
              <a:t>Equations in Different Forms </a:t>
            </a:r>
            <a:r>
              <a:rPr lang="en-US" sz="2000" b="1" dirty="0">
                <a:solidFill>
                  <a:schemeClr val="bg1"/>
                </a:solidFill>
              </a:rPr>
              <a:t>(8 of 13)</a:t>
            </a:r>
          </a:p>
        </p:txBody>
      </p:sp>
      <mc:AlternateContent xmlns:mc="http://schemas.openxmlformats.org/markup-compatibility/2006" xmlns:a14="http://schemas.microsoft.com/office/drawing/2010/main">
        <mc:Choice Requires="a14">
          <p:sp>
            <p:nvSpPr>
              <p:cNvPr id="2" name="Text Placeholder 2">
                <a:extLst>
                  <a:ext uri="{FF2B5EF4-FFF2-40B4-BE49-F238E27FC236}">
                    <a16:creationId xmlns:a16="http://schemas.microsoft.com/office/drawing/2014/main" id="{91BBFCE1-D966-4D39-315C-018317D0BAF9}"/>
                  </a:ext>
                </a:extLst>
              </p:cNvPr>
              <p:cNvSpPr txBox="1">
                <a:spLocks/>
              </p:cNvSpPr>
              <p:nvPr/>
            </p:nvSpPr>
            <p:spPr>
              <a:xfrm>
                <a:off x="777240" y="1600200"/>
                <a:ext cx="10534227" cy="5003800"/>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sz="2800" dirty="0">
                    <a:solidFill>
                      <a:srgbClr val="000000"/>
                    </a:solidFill>
                  </a:rPr>
                  <a:t>Consider how the structure of the standard form of a linear function reveals its key characteristics.</a:t>
                </a:r>
              </a:p>
              <a:p>
                <a:pPr marL="514350" indent="-514350">
                  <a:buFont typeface="+mj-lt"/>
                  <a:buAutoNum type="alphaLcPeriod" startAt="3"/>
                </a:pPr>
                <a:endParaRPr lang="en-US" sz="1200" dirty="0">
                  <a:solidFill>
                    <a:srgbClr val="000000"/>
                  </a:solidFill>
                </a:endParaRPr>
              </a:p>
              <a:p>
                <a:pPr marL="466344" indent="-466344">
                  <a:buFont typeface="+mj-lt"/>
                  <a:buAutoNum type="arabicPeriod" startAt="5"/>
                </a:pPr>
                <a:r>
                  <a:rPr lang="en-US" sz="2800" dirty="0">
                    <a:solidFill>
                      <a:srgbClr val="000000"/>
                    </a:solidFill>
                  </a:rPr>
                  <a:t>For the equation </a:t>
                </a:r>
                <a14:m>
                  <m:oMath xmlns:m="http://schemas.openxmlformats.org/officeDocument/2006/math">
                    <m:r>
                      <a:rPr lang="en-US" sz="2800" i="1" dirty="0" smtClean="0">
                        <a:solidFill>
                          <a:srgbClr val="000000"/>
                        </a:solidFill>
                        <a:latin typeface="Cambria Math" panose="02040503050406030204" pitchFamily="18" charset="0"/>
                      </a:rPr>
                      <m:t>𝐴𝑥</m:t>
                    </m:r>
                    <m:r>
                      <a:rPr lang="en-US" sz="2800" b="0" i="1" dirty="0" smtClean="0">
                        <a:solidFill>
                          <a:srgbClr val="000000"/>
                        </a:solidFill>
                        <a:latin typeface="Cambria Math" panose="02040503050406030204" pitchFamily="18" charset="0"/>
                      </a:rPr>
                      <m:t>+</m:t>
                    </m:r>
                    <m:r>
                      <a:rPr lang="en-US" sz="2800" i="1" dirty="0" smtClean="0">
                        <a:solidFill>
                          <a:srgbClr val="000000"/>
                        </a:solidFill>
                        <a:latin typeface="Cambria Math" panose="02040503050406030204" pitchFamily="18" charset="0"/>
                      </a:rPr>
                      <m:t>𝐵𝑦</m:t>
                    </m:r>
                    <m:r>
                      <a:rPr lang="en-US" sz="2800" b="0" i="1" dirty="0" smtClean="0">
                        <a:solidFill>
                          <a:srgbClr val="000000"/>
                        </a:solidFill>
                        <a:latin typeface="Cambria Math" panose="02040503050406030204" pitchFamily="18" charset="0"/>
                      </a:rPr>
                      <m:t>=</m:t>
                    </m:r>
                    <m:r>
                      <a:rPr lang="en-US" sz="2800" i="1" dirty="0" smtClean="0">
                        <a:solidFill>
                          <a:srgbClr val="000000"/>
                        </a:solidFill>
                        <a:latin typeface="Cambria Math" panose="02040503050406030204" pitchFamily="18" charset="0"/>
                      </a:rPr>
                      <m:t>𝐶</m:t>
                    </m:r>
                  </m:oMath>
                </a14:m>
                <a:r>
                  <a:rPr lang="en-US" sz="2800" dirty="0">
                    <a:solidFill>
                      <a:srgbClr val="000000"/>
                    </a:solidFill>
                  </a:rPr>
                  <a:t>, determine the slope, </a:t>
                </a:r>
                <a14:m>
                  <m:oMath xmlns:m="http://schemas.openxmlformats.org/officeDocument/2006/math">
                    <m:r>
                      <a:rPr lang="en-US" sz="2800" i="1" dirty="0" smtClean="0">
                        <a:solidFill>
                          <a:srgbClr val="000000"/>
                        </a:solidFill>
                        <a:latin typeface="Cambria Math" panose="02040503050406030204" pitchFamily="18" charset="0"/>
                      </a:rPr>
                      <m:t>𝑥</m:t>
                    </m:r>
                  </m:oMath>
                </a14:m>
                <a:r>
                  <a:rPr lang="en-US" sz="2800" dirty="0">
                    <a:solidFill>
                      <a:srgbClr val="000000"/>
                    </a:solidFill>
                  </a:rPr>
                  <a:t>-intercept, and </a:t>
                </a:r>
                <a14:m>
                  <m:oMath xmlns:m="http://schemas.openxmlformats.org/officeDocument/2006/math">
                    <m:r>
                      <a:rPr lang="en-US" sz="2800" i="1" dirty="0" smtClean="0">
                        <a:solidFill>
                          <a:srgbClr val="000000"/>
                        </a:solidFill>
                        <a:latin typeface="Cambria Math" panose="02040503050406030204" pitchFamily="18" charset="0"/>
                      </a:rPr>
                      <m:t>𝑦</m:t>
                    </m:r>
                  </m:oMath>
                </a14:m>
                <a:r>
                  <a:rPr lang="en-US" sz="2800" dirty="0">
                    <a:solidFill>
                      <a:srgbClr val="000000"/>
                    </a:solidFill>
                  </a:rPr>
                  <a:t>-intercept.</a:t>
                </a:r>
              </a:p>
            </p:txBody>
          </p:sp>
        </mc:Choice>
        <mc:Fallback xmlns="">
          <p:sp>
            <p:nvSpPr>
              <p:cNvPr id="2" name="Text Placeholder 2">
                <a:extLst>
                  <a:ext uri="{FF2B5EF4-FFF2-40B4-BE49-F238E27FC236}">
                    <a16:creationId xmlns:a16="http://schemas.microsoft.com/office/drawing/2014/main" id="{91BBFCE1-D966-4D39-315C-018317D0BAF9}"/>
                  </a:ext>
                </a:extLst>
              </p:cNvPr>
              <p:cNvSpPr txBox="1">
                <a:spLocks noRot="1" noChangeAspect="1" noMove="1" noResize="1" noEditPoints="1" noAdjustHandles="1" noChangeArrowheads="1" noChangeShapeType="1" noTextEdit="1"/>
              </p:cNvSpPr>
              <p:nvPr/>
            </p:nvSpPr>
            <p:spPr>
              <a:xfrm>
                <a:off x="777240" y="1600200"/>
                <a:ext cx="10534227" cy="5003800"/>
              </a:xfrm>
              <a:prstGeom prst="rect">
                <a:avLst/>
              </a:prstGeom>
              <a:blipFill>
                <a:blip r:embed="rId3"/>
                <a:stretch>
                  <a:fillRect l="-1215" t="-1220"/>
                </a:stretch>
              </a:blipFill>
            </p:spPr>
            <p:txBody>
              <a:bodyPr/>
              <a:lstStyle/>
              <a:p>
                <a:r>
                  <a:rPr lang="en-US">
                    <a:noFill/>
                  </a:rPr>
                  <a:t> </a:t>
                </a:r>
              </a:p>
            </p:txBody>
          </p:sp>
        </mc:Fallback>
      </mc:AlternateContent>
    </p:spTree>
    <p:extLst>
      <p:ext uri="{BB962C8B-B14F-4D97-AF65-F5344CB8AC3E}">
        <p14:creationId xmlns:p14="http://schemas.microsoft.com/office/powerpoint/2010/main" val="39885667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8FA550-5626-738C-4269-3684B4A0AFC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2C8A7FD-E8D9-BFE4-E781-8D905249A40C}"/>
              </a:ext>
            </a:extLst>
          </p:cNvPr>
          <p:cNvSpPr>
            <a:spLocks noGrp="1"/>
          </p:cNvSpPr>
          <p:nvPr>
            <p:ph type="title"/>
          </p:nvPr>
        </p:nvSpPr>
        <p:spPr/>
        <p:txBody>
          <a:bodyPr/>
          <a:lstStyle/>
          <a:p>
            <a:pPr algn="l"/>
            <a:r>
              <a:rPr lang="en-US" b="1" dirty="0"/>
              <a:t>Equations in Different Forms </a:t>
            </a:r>
            <a:r>
              <a:rPr lang="en-US" sz="2000" b="1" dirty="0">
                <a:solidFill>
                  <a:schemeClr val="bg1"/>
                </a:solidFill>
              </a:rPr>
              <a:t>(9 of 13)</a:t>
            </a:r>
          </a:p>
        </p:txBody>
      </p:sp>
      <mc:AlternateContent xmlns:mc="http://schemas.openxmlformats.org/markup-compatibility/2006" xmlns:a14="http://schemas.microsoft.com/office/drawing/2010/main">
        <mc:Choice Requires="a14">
          <p:sp>
            <p:nvSpPr>
              <p:cNvPr id="2" name="Text Placeholder 2">
                <a:extLst>
                  <a:ext uri="{FF2B5EF4-FFF2-40B4-BE49-F238E27FC236}">
                    <a16:creationId xmlns:a16="http://schemas.microsoft.com/office/drawing/2014/main" id="{3D3DC473-2F1B-20C6-74AB-F87DC0DC4376}"/>
                  </a:ext>
                </a:extLst>
              </p:cNvPr>
              <p:cNvSpPr txBox="1">
                <a:spLocks/>
              </p:cNvSpPr>
              <p:nvPr/>
            </p:nvSpPr>
            <p:spPr>
              <a:xfrm>
                <a:off x="777240" y="1600200"/>
                <a:ext cx="10658404" cy="5105400"/>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466344" indent="-466344">
                  <a:buFont typeface="+mj-lt"/>
                  <a:buAutoNum type="arabicPeriod" startAt="6"/>
                </a:pPr>
                <a:r>
                  <a:rPr lang="en-US" sz="2800" dirty="0">
                    <a:solidFill>
                      <a:srgbClr val="000000"/>
                    </a:solidFill>
                  </a:rPr>
                  <a:t>Which form of a linear equation is more efficient for determining each characteristic?</a:t>
                </a:r>
              </a:p>
              <a:p>
                <a:pPr marL="466344" indent="0">
                  <a:buFont typeface="+mj-lt"/>
                  <a:buAutoNum type="alphaLcPeriod"/>
                </a:pPr>
                <a:r>
                  <a:rPr lang="en-US" sz="2800" dirty="0">
                    <a:solidFill>
                      <a:srgbClr val="000000"/>
                    </a:solidFill>
                  </a:rPr>
                  <a:t> Slope</a:t>
                </a:r>
              </a:p>
              <a:p>
                <a:pPr marL="466344" indent="0">
                  <a:buNone/>
                </a:pPr>
                <a:endParaRPr lang="en-US" sz="4000" dirty="0">
                  <a:solidFill>
                    <a:srgbClr val="000000"/>
                  </a:solidFill>
                </a:endParaRPr>
              </a:p>
              <a:p>
                <a:pPr marL="466344" indent="0">
                  <a:buAutoNum type="alphaLcPeriod" startAt="2"/>
                </a:pPr>
                <a:r>
                  <a:rPr lang="en-US" sz="2800" dirty="0">
                    <a:solidFill>
                      <a:srgbClr val="000000"/>
                    </a:solidFill>
                  </a:rPr>
                  <a:t> a point on the line</a:t>
                </a:r>
              </a:p>
              <a:p>
                <a:pPr marL="514350" indent="-514350">
                  <a:buAutoNum type="alphaLcPeriod" startAt="2"/>
                </a:pPr>
                <a:endParaRPr lang="en-US" sz="4000" dirty="0">
                  <a:solidFill>
                    <a:srgbClr val="000000"/>
                  </a:solidFill>
                </a:endParaRPr>
              </a:p>
              <a:p>
                <a:pPr marL="466344" indent="0">
                  <a:buFont typeface="+mj-lt"/>
                  <a:buAutoNum type="alphaLcPeriod" startAt="3"/>
                </a:pPr>
                <a:r>
                  <a:rPr lang="en-US" sz="2800" dirty="0">
                    <a:solidFill>
                      <a:srgbClr val="000000"/>
                    </a:solidFill>
                  </a:rPr>
                  <a:t> </a:t>
                </a:r>
                <a14:m>
                  <m:oMath xmlns:m="http://schemas.openxmlformats.org/officeDocument/2006/math">
                    <m:r>
                      <a:rPr lang="en-US" sz="2800" i="1" dirty="0" smtClean="0">
                        <a:solidFill>
                          <a:srgbClr val="000000"/>
                        </a:solidFill>
                        <a:latin typeface="Cambria Math" panose="02040503050406030204" pitchFamily="18" charset="0"/>
                      </a:rPr>
                      <m:t>𝑦</m:t>
                    </m:r>
                  </m:oMath>
                </a14:m>
                <a:r>
                  <a:rPr lang="en-US" sz="2800" dirty="0">
                    <a:solidFill>
                      <a:srgbClr val="000000"/>
                    </a:solidFill>
                  </a:rPr>
                  <a:t>-intercept</a:t>
                </a:r>
              </a:p>
              <a:p>
                <a:pPr marL="0" indent="0">
                  <a:buNone/>
                </a:pPr>
                <a:endParaRPr lang="en-US" sz="2800" dirty="0">
                  <a:solidFill>
                    <a:srgbClr val="000000"/>
                  </a:solidFill>
                </a:endParaRPr>
              </a:p>
            </p:txBody>
          </p:sp>
        </mc:Choice>
        <mc:Fallback xmlns="">
          <p:sp>
            <p:nvSpPr>
              <p:cNvPr id="2" name="Text Placeholder 2">
                <a:extLst>
                  <a:ext uri="{FF2B5EF4-FFF2-40B4-BE49-F238E27FC236}">
                    <a16:creationId xmlns:a16="http://schemas.microsoft.com/office/drawing/2014/main" id="{3D3DC473-2F1B-20C6-74AB-F87DC0DC4376}"/>
                  </a:ext>
                </a:extLst>
              </p:cNvPr>
              <p:cNvSpPr txBox="1">
                <a:spLocks noRot="1" noChangeAspect="1" noMove="1" noResize="1" noEditPoints="1" noAdjustHandles="1" noChangeArrowheads="1" noChangeShapeType="1" noTextEdit="1"/>
              </p:cNvSpPr>
              <p:nvPr/>
            </p:nvSpPr>
            <p:spPr>
              <a:xfrm>
                <a:off x="777240" y="1600200"/>
                <a:ext cx="10658404" cy="5105400"/>
              </a:xfrm>
              <a:prstGeom prst="rect">
                <a:avLst/>
              </a:prstGeom>
              <a:blipFill>
                <a:blip r:embed="rId3"/>
                <a:stretch>
                  <a:fillRect l="-1201" t="-1314"/>
                </a:stretch>
              </a:blipFill>
            </p:spPr>
            <p:txBody>
              <a:bodyPr/>
              <a:lstStyle/>
              <a:p>
                <a:r>
                  <a:rPr lang="en-US">
                    <a:noFill/>
                  </a:rPr>
                  <a:t> </a:t>
                </a:r>
              </a:p>
            </p:txBody>
          </p:sp>
        </mc:Fallback>
      </mc:AlternateContent>
    </p:spTree>
    <p:extLst>
      <p:ext uri="{BB962C8B-B14F-4D97-AF65-F5344CB8AC3E}">
        <p14:creationId xmlns:p14="http://schemas.microsoft.com/office/powerpoint/2010/main" val="34197354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0DF978-719A-5652-FEF6-538E7E035D51}"/>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7013869-2C5A-FAE7-BD91-6F48FD2C405B}"/>
              </a:ext>
            </a:extLst>
          </p:cNvPr>
          <p:cNvSpPr>
            <a:spLocks noGrp="1"/>
          </p:cNvSpPr>
          <p:nvPr>
            <p:ph type="title"/>
          </p:nvPr>
        </p:nvSpPr>
        <p:spPr/>
        <p:txBody>
          <a:bodyPr/>
          <a:lstStyle/>
          <a:p>
            <a:pPr algn="l"/>
            <a:r>
              <a:rPr lang="en-US" b="1" dirty="0"/>
              <a:t>Equations in Different Forms </a:t>
            </a:r>
            <a:r>
              <a:rPr lang="en-US" sz="2000" b="1" dirty="0">
                <a:solidFill>
                  <a:schemeClr val="bg1"/>
                </a:solidFill>
              </a:rPr>
              <a:t>(10 of 13)</a:t>
            </a:r>
          </a:p>
        </p:txBody>
      </p:sp>
      <mc:AlternateContent xmlns:mc="http://schemas.openxmlformats.org/markup-compatibility/2006" xmlns:a14="http://schemas.microsoft.com/office/drawing/2010/main">
        <mc:Choice Requires="a14">
          <p:sp>
            <p:nvSpPr>
              <p:cNvPr id="2" name="Text Placeholder 2">
                <a:extLst>
                  <a:ext uri="{FF2B5EF4-FFF2-40B4-BE49-F238E27FC236}">
                    <a16:creationId xmlns:a16="http://schemas.microsoft.com/office/drawing/2014/main" id="{8ED76EC6-0A71-F567-F64D-D750673255FF}"/>
                  </a:ext>
                </a:extLst>
              </p:cNvPr>
              <p:cNvSpPr txBox="1">
                <a:spLocks/>
              </p:cNvSpPr>
              <p:nvPr/>
            </p:nvSpPr>
            <p:spPr>
              <a:xfrm>
                <a:off x="777240" y="1600200"/>
                <a:ext cx="9890759" cy="4202289"/>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466344" indent="-466344">
                  <a:buFont typeface="+mj-lt"/>
                  <a:buAutoNum type="arabicPeriod" startAt="7"/>
                </a:pPr>
                <a:r>
                  <a:rPr lang="en-US" sz="2800" dirty="0">
                    <a:solidFill>
                      <a:srgbClr val="000000"/>
                    </a:solidFill>
                  </a:rPr>
                  <a:t>If you want to graph an equation using technology, which form is more efficient? Explain your reasoning.</a:t>
                </a:r>
              </a:p>
              <a:p>
                <a:pPr marL="514350" indent="-514350">
                  <a:buFont typeface="+mj-lt"/>
                  <a:buAutoNum type="arabicPeriod" startAt="7"/>
                </a:pPr>
                <a:endParaRPr lang="en-US" sz="2800" dirty="0">
                  <a:solidFill>
                    <a:srgbClr val="000000"/>
                  </a:solidFill>
                </a:endParaRPr>
              </a:p>
              <a:p>
                <a:pPr marL="514350" indent="-514350">
                  <a:buFont typeface="+mj-lt"/>
                  <a:buAutoNum type="arabicPeriod" startAt="7"/>
                </a:pPr>
                <a:endParaRPr lang="en-US" sz="2800" dirty="0">
                  <a:solidFill>
                    <a:srgbClr val="000000"/>
                  </a:solidFill>
                </a:endParaRPr>
              </a:p>
              <a:p>
                <a:pPr marL="466344" indent="-466344">
                  <a:buFont typeface="+mj-lt"/>
                  <a:buAutoNum type="arabicPeriod" startAt="7"/>
                </a:pPr>
                <a:r>
                  <a:rPr lang="en-US" sz="2800" dirty="0">
                    <a:solidFill>
                      <a:srgbClr val="000000"/>
                    </a:solidFill>
                  </a:rPr>
                  <a:t>Rewrite each equation in slope-intercept form.</a:t>
                </a:r>
              </a:p>
              <a:p>
                <a:pPr marL="866394" lvl="1" indent="-457200">
                  <a:buFont typeface="+mj-lt"/>
                  <a:buAutoNum type="alphaLcPeriod"/>
                </a:pPr>
                <a:r>
                  <a:rPr lang="es-ES" dirty="0">
                    <a:solidFill>
                      <a:srgbClr val="000000"/>
                    </a:solidFill>
                  </a:rPr>
                  <a:t> </a:t>
                </a:r>
                <a14:m>
                  <m:oMath xmlns:m="http://schemas.openxmlformats.org/officeDocument/2006/math">
                    <m:r>
                      <a:rPr lang="es-ES" i="1" dirty="0" smtClean="0">
                        <a:solidFill>
                          <a:srgbClr val="000000"/>
                        </a:solidFill>
                        <a:latin typeface="Cambria Math" panose="02040503050406030204" pitchFamily="18" charset="0"/>
                      </a:rPr>
                      <m:t>𝑦</m:t>
                    </m:r>
                    <m:r>
                      <a:rPr lang="en-US" b="0" i="1" dirty="0" smtClean="0">
                        <a:solidFill>
                          <a:srgbClr val="000000"/>
                        </a:solidFill>
                        <a:latin typeface="Cambria Math" panose="02040503050406030204" pitchFamily="18" charset="0"/>
                      </a:rPr>
                      <m:t>–</m:t>
                    </m:r>
                    <m:r>
                      <a:rPr lang="es-ES" i="1" dirty="0" smtClean="0">
                        <a:solidFill>
                          <a:srgbClr val="000000"/>
                        </a:solidFill>
                        <a:latin typeface="Cambria Math" panose="02040503050406030204" pitchFamily="18" charset="0"/>
                      </a:rPr>
                      <m:t>2</m:t>
                    </m:r>
                    <m:r>
                      <a:rPr lang="en-US" b="0" i="1" dirty="0" smtClean="0">
                        <a:solidFill>
                          <a:srgbClr val="000000"/>
                        </a:solidFill>
                        <a:latin typeface="Cambria Math" panose="02040503050406030204" pitchFamily="18" charset="0"/>
                      </a:rPr>
                      <m:t>=</m:t>
                    </m:r>
                    <m:r>
                      <a:rPr lang="es-ES" i="1" dirty="0" smtClean="0">
                        <a:solidFill>
                          <a:srgbClr val="000000"/>
                        </a:solidFill>
                        <a:latin typeface="Cambria Math" panose="02040503050406030204" pitchFamily="18" charset="0"/>
                      </a:rPr>
                      <m:t>5(</m:t>
                    </m:r>
                    <m:r>
                      <a:rPr lang="es-ES" i="1" dirty="0" smtClean="0">
                        <a:solidFill>
                          <a:srgbClr val="000000"/>
                        </a:solidFill>
                        <a:latin typeface="Cambria Math" panose="02040503050406030204" pitchFamily="18" charset="0"/>
                      </a:rPr>
                      <m:t>𝑥</m:t>
                    </m:r>
                    <m:r>
                      <a:rPr lang="en-US" b="0" i="1" dirty="0" smtClean="0">
                        <a:solidFill>
                          <a:srgbClr val="000000"/>
                        </a:solidFill>
                        <a:latin typeface="Cambria Math" panose="02040503050406030204" pitchFamily="18" charset="0"/>
                      </a:rPr>
                      <m:t> –</m:t>
                    </m:r>
                    <m:r>
                      <a:rPr lang="es-ES" i="1" dirty="0" smtClean="0">
                        <a:solidFill>
                          <a:srgbClr val="000000"/>
                        </a:solidFill>
                        <a:latin typeface="Cambria Math" panose="02040503050406030204" pitchFamily="18" charset="0"/>
                      </a:rPr>
                      <m:t>7)</m:t>
                    </m:r>
                  </m:oMath>
                </a14:m>
                <a:endParaRPr lang="en-US" dirty="0">
                  <a:solidFill>
                    <a:srgbClr val="000000"/>
                  </a:solidFill>
                </a:endParaRPr>
              </a:p>
            </p:txBody>
          </p:sp>
        </mc:Choice>
        <mc:Fallback xmlns="">
          <p:sp>
            <p:nvSpPr>
              <p:cNvPr id="2" name="Text Placeholder 2">
                <a:extLst>
                  <a:ext uri="{FF2B5EF4-FFF2-40B4-BE49-F238E27FC236}">
                    <a16:creationId xmlns:a16="http://schemas.microsoft.com/office/drawing/2014/main" id="{8ED76EC6-0A71-F567-F64D-D750673255FF}"/>
                  </a:ext>
                </a:extLst>
              </p:cNvPr>
              <p:cNvSpPr txBox="1">
                <a:spLocks noRot="1" noChangeAspect="1" noMove="1" noResize="1" noEditPoints="1" noAdjustHandles="1" noChangeArrowheads="1" noChangeShapeType="1" noTextEdit="1"/>
              </p:cNvSpPr>
              <p:nvPr/>
            </p:nvSpPr>
            <p:spPr>
              <a:xfrm>
                <a:off x="777240" y="1600200"/>
                <a:ext cx="9890759" cy="4202289"/>
              </a:xfrm>
              <a:prstGeom prst="rect">
                <a:avLst/>
              </a:prstGeom>
              <a:blipFill>
                <a:blip r:embed="rId3"/>
                <a:stretch>
                  <a:fillRect l="-1295" t="-1597"/>
                </a:stretch>
              </a:blipFill>
            </p:spPr>
            <p:txBody>
              <a:bodyPr/>
              <a:lstStyle/>
              <a:p>
                <a:r>
                  <a:rPr lang="en-US">
                    <a:noFill/>
                  </a:rPr>
                  <a:t> </a:t>
                </a:r>
              </a:p>
            </p:txBody>
          </p:sp>
        </mc:Fallback>
      </mc:AlternateContent>
      <p:cxnSp>
        <p:nvCxnSpPr>
          <p:cNvPr id="3" name="Straight Connector 2">
            <a:extLst>
              <a:ext uri="{FF2B5EF4-FFF2-40B4-BE49-F238E27FC236}">
                <a16:creationId xmlns:a16="http://schemas.microsoft.com/office/drawing/2014/main" id="{DD43CD07-9CD9-E217-FD92-7EFFF5E42D74}"/>
              </a:ext>
              <a:ext uri="{C183D7F6-B498-43B3-948B-1728B52AA6E4}">
                <adec:decorative xmlns:adec="http://schemas.microsoft.com/office/drawing/2017/decorative" val="1"/>
              </a:ext>
            </a:extLst>
          </p:cNvPr>
          <p:cNvCxnSpPr>
            <a:cxnSpLocks/>
          </p:cNvCxnSpPr>
          <p:nvPr/>
        </p:nvCxnSpPr>
        <p:spPr>
          <a:xfrm>
            <a:off x="5863000" y="4242859"/>
            <a:ext cx="0" cy="2016000"/>
          </a:xfrm>
          <a:prstGeom prst="line">
            <a:avLst/>
          </a:prstGeom>
          <a:ln w="31750">
            <a:solidFill>
              <a:srgbClr val="236739"/>
            </a:solidFill>
            <a:prstDash val="sysDot"/>
          </a:ln>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5" name="Text Placeholder 2">
                <a:extLst>
                  <a:ext uri="{FF2B5EF4-FFF2-40B4-BE49-F238E27FC236}">
                    <a16:creationId xmlns:a16="http://schemas.microsoft.com/office/drawing/2014/main" id="{D7C14196-ACAD-F85C-51A9-3365FD7A26FF}"/>
                  </a:ext>
                </a:extLst>
              </p:cNvPr>
              <p:cNvSpPr txBox="1">
                <a:spLocks/>
              </p:cNvSpPr>
              <p:nvPr/>
            </p:nvSpPr>
            <p:spPr>
              <a:xfrm>
                <a:off x="6146801" y="4089401"/>
                <a:ext cx="3683000" cy="723900"/>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buFont typeface="+mj-lt"/>
                  <a:buAutoNum type="alphaLcPeriod" startAt="2"/>
                </a:pPr>
                <a:r>
                  <a:rPr lang="es-ES" dirty="0">
                    <a:solidFill>
                      <a:srgbClr val="000000"/>
                    </a:solidFill>
                  </a:rPr>
                  <a:t> </a:t>
                </a:r>
                <a14:m>
                  <m:oMath xmlns:m="http://schemas.openxmlformats.org/officeDocument/2006/math">
                    <m:r>
                      <a:rPr lang="es-ES" i="1" dirty="0" smtClean="0">
                        <a:solidFill>
                          <a:srgbClr val="000000"/>
                        </a:solidFill>
                        <a:latin typeface="Cambria Math" panose="02040503050406030204" pitchFamily="18" charset="0"/>
                      </a:rPr>
                      <m:t>8</m:t>
                    </m:r>
                    <m:r>
                      <a:rPr lang="es-ES" i="1" dirty="0" smtClean="0">
                        <a:solidFill>
                          <a:srgbClr val="000000"/>
                        </a:solidFill>
                        <a:latin typeface="Cambria Math" panose="02040503050406030204" pitchFamily="18" charset="0"/>
                      </a:rPr>
                      <m:t>𝑥</m:t>
                    </m:r>
                    <m:r>
                      <a:rPr lang="en-US" b="0" i="1" dirty="0" smtClean="0">
                        <a:solidFill>
                          <a:srgbClr val="000000"/>
                        </a:solidFill>
                        <a:latin typeface="Cambria Math" panose="02040503050406030204" pitchFamily="18" charset="0"/>
                      </a:rPr>
                      <m:t> –</m:t>
                    </m:r>
                    <m:r>
                      <a:rPr lang="es-ES" i="1" dirty="0" smtClean="0">
                        <a:solidFill>
                          <a:srgbClr val="000000"/>
                        </a:solidFill>
                        <a:latin typeface="Cambria Math" panose="02040503050406030204" pitchFamily="18" charset="0"/>
                      </a:rPr>
                      <m:t>2</m:t>
                    </m:r>
                    <m:r>
                      <a:rPr lang="es-ES" i="1" dirty="0" smtClean="0">
                        <a:solidFill>
                          <a:srgbClr val="000000"/>
                        </a:solidFill>
                        <a:latin typeface="Cambria Math" panose="02040503050406030204" pitchFamily="18" charset="0"/>
                      </a:rPr>
                      <m:t>𝑦</m:t>
                    </m:r>
                    <m:r>
                      <a:rPr lang="en-US" b="0" i="1" dirty="0" smtClean="0">
                        <a:solidFill>
                          <a:srgbClr val="000000"/>
                        </a:solidFill>
                        <a:latin typeface="Cambria Math" panose="02040503050406030204" pitchFamily="18" charset="0"/>
                      </a:rPr>
                      <m:t>=</m:t>
                    </m:r>
                    <m:r>
                      <a:rPr lang="es-ES" i="1" dirty="0" smtClean="0">
                        <a:solidFill>
                          <a:srgbClr val="000000"/>
                        </a:solidFill>
                        <a:latin typeface="Cambria Math" panose="02040503050406030204" pitchFamily="18" charset="0"/>
                      </a:rPr>
                      <m:t>12</m:t>
                    </m:r>
                  </m:oMath>
                </a14:m>
                <a:endParaRPr lang="es-ES" dirty="0">
                  <a:solidFill>
                    <a:srgbClr val="000000"/>
                  </a:solidFill>
                </a:endParaRPr>
              </a:p>
              <a:p>
                <a:pPr marL="466344" indent="0">
                  <a:buFont typeface="+mj-lt"/>
                  <a:buAutoNum type="alphaLcPeriod"/>
                </a:pPr>
                <a:endParaRPr lang="es-ES" sz="2800" dirty="0">
                  <a:solidFill>
                    <a:srgbClr val="000000"/>
                  </a:solidFill>
                </a:endParaRPr>
              </a:p>
              <a:p>
                <a:pPr marL="0" indent="0">
                  <a:buNone/>
                </a:pPr>
                <a:endParaRPr lang="en-US" sz="2800" dirty="0">
                  <a:solidFill>
                    <a:srgbClr val="000000"/>
                  </a:solidFill>
                </a:endParaRPr>
              </a:p>
            </p:txBody>
          </p:sp>
        </mc:Choice>
        <mc:Fallback xmlns="">
          <p:sp>
            <p:nvSpPr>
              <p:cNvPr id="5" name="Text Placeholder 2">
                <a:extLst>
                  <a:ext uri="{FF2B5EF4-FFF2-40B4-BE49-F238E27FC236}">
                    <a16:creationId xmlns:a16="http://schemas.microsoft.com/office/drawing/2014/main" id="{D7C14196-ACAD-F85C-51A9-3365FD7A26FF}"/>
                  </a:ext>
                </a:extLst>
              </p:cNvPr>
              <p:cNvSpPr txBox="1">
                <a:spLocks noRot="1" noChangeAspect="1" noMove="1" noResize="1" noEditPoints="1" noAdjustHandles="1" noChangeArrowheads="1" noChangeShapeType="1" noTextEdit="1"/>
              </p:cNvSpPr>
              <p:nvPr/>
            </p:nvSpPr>
            <p:spPr>
              <a:xfrm>
                <a:off x="6146801" y="4089401"/>
                <a:ext cx="3683000" cy="723900"/>
              </a:xfrm>
              <a:prstGeom prst="rect">
                <a:avLst/>
              </a:prstGeom>
              <a:blipFill>
                <a:blip r:embed="rId4"/>
                <a:stretch>
                  <a:fillRect l="-4298" t="-12605" b="-9244"/>
                </a:stretch>
              </a:blipFill>
            </p:spPr>
            <p:txBody>
              <a:bodyPr/>
              <a:lstStyle/>
              <a:p>
                <a:r>
                  <a:rPr lang="en-US">
                    <a:noFill/>
                  </a:rPr>
                  <a:t> </a:t>
                </a:r>
              </a:p>
            </p:txBody>
          </p:sp>
        </mc:Fallback>
      </mc:AlternateContent>
    </p:spTree>
    <p:extLst>
      <p:ext uri="{BB962C8B-B14F-4D97-AF65-F5344CB8AC3E}">
        <p14:creationId xmlns:p14="http://schemas.microsoft.com/office/powerpoint/2010/main" val="20542950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3E3CCF-72A8-D472-A922-43D7A127E44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8CFAD9D-C076-5B9C-BFFC-465BCB320CD7}"/>
              </a:ext>
            </a:extLst>
          </p:cNvPr>
          <p:cNvSpPr>
            <a:spLocks noGrp="1"/>
          </p:cNvSpPr>
          <p:nvPr>
            <p:ph type="title"/>
          </p:nvPr>
        </p:nvSpPr>
        <p:spPr/>
        <p:txBody>
          <a:bodyPr/>
          <a:lstStyle/>
          <a:p>
            <a:pPr algn="l"/>
            <a:r>
              <a:rPr lang="en-US" b="1" dirty="0"/>
              <a:t>Equations in Different Forms </a:t>
            </a:r>
            <a:r>
              <a:rPr lang="en-US" sz="2000" b="1" dirty="0">
                <a:solidFill>
                  <a:schemeClr val="bg1"/>
                </a:solidFill>
              </a:rPr>
              <a:t>(11 of 13)</a:t>
            </a:r>
          </a:p>
        </p:txBody>
      </p:sp>
      <mc:AlternateContent xmlns:mc="http://schemas.openxmlformats.org/markup-compatibility/2006" xmlns:a14="http://schemas.microsoft.com/office/drawing/2010/main">
        <mc:Choice Requires="a14">
          <p:sp>
            <p:nvSpPr>
              <p:cNvPr id="2" name="Text Placeholder 2">
                <a:extLst>
                  <a:ext uri="{FF2B5EF4-FFF2-40B4-BE49-F238E27FC236}">
                    <a16:creationId xmlns:a16="http://schemas.microsoft.com/office/drawing/2014/main" id="{EC72BA6F-6982-97AE-5BFF-3C36D43D0DC4}"/>
                  </a:ext>
                </a:extLst>
              </p:cNvPr>
              <p:cNvSpPr txBox="1">
                <a:spLocks/>
              </p:cNvSpPr>
              <p:nvPr/>
            </p:nvSpPr>
            <p:spPr>
              <a:xfrm>
                <a:off x="777240" y="1600200"/>
                <a:ext cx="10640060" cy="5150556"/>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33400" indent="-533400">
                  <a:buNone/>
                </a:pPr>
                <a:r>
                  <a:rPr lang="en-US" sz="2800" dirty="0">
                    <a:solidFill>
                      <a:srgbClr val="000000"/>
                    </a:solidFill>
                  </a:rPr>
                  <a:t>9.	Rewrite each equation in standard form.</a:t>
                </a:r>
              </a:p>
              <a:p>
                <a:pPr marL="990600" lvl="1" indent="-457200">
                  <a:buFont typeface="+mj-lt"/>
                  <a:buAutoNum type="alphaLcPeriod"/>
                </a:pPr>
                <a:r>
                  <a:rPr lang="es-ES" dirty="0">
                    <a:solidFill>
                      <a:srgbClr val="000000"/>
                    </a:solidFill>
                  </a:rPr>
                  <a:t> </a:t>
                </a:r>
                <a14:m>
                  <m:oMath xmlns:m="http://schemas.openxmlformats.org/officeDocument/2006/math">
                    <m:r>
                      <a:rPr lang="es-ES" i="1" dirty="0" smtClean="0">
                        <a:solidFill>
                          <a:srgbClr val="000000"/>
                        </a:solidFill>
                        <a:latin typeface="Cambria Math" panose="02040503050406030204" pitchFamily="18" charset="0"/>
                      </a:rPr>
                      <m:t>𝑦</m:t>
                    </m:r>
                    <m:r>
                      <a:rPr lang="en-US" b="0" i="1" dirty="0" smtClean="0">
                        <a:solidFill>
                          <a:srgbClr val="000000"/>
                        </a:solidFill>
                        <a:latin typeface="Cambria Math" panose="02040503050406030204" pitchFamily="18" charset="0"/>
                      </a:rPr>
                      <m:t>+</m:t>
                    </m:r>
                    <m:r>
                      <a:rPr lang="es-ES" i="1" dirty="0" smtClean="0">
                        <a:solidFill>
                          <a:srgbClr val="000000"/>
                        </a:solidFill>
                        <a:latin typeface="Cambria Math" panose="02040503050406030204" pitchFamily="18" charset="0"/>
                      </a:rPr>
                      <m:t>7</m:t>
                    </m:r>
                    <m:r>
                      <a:rPr lang="en-US" b="0" i="1" dirty="0" smtClean="0">
                        <a:solidFill>
                          <a:srgbClr val="000000"/>
                        </a:solidFill>
                        <a:latin typeface="Cambria Math" panose="02040503050406030204" pitchFamily="18" charset="0"/>
                      </a:rPr>
                      <m:t>=</m:t>
                    </m:r>
                    <m:r>
                      <a:rPr lang="es-ES" i="1" dirty="0" smtClean="0">
                        <a:solidFill>
                          <a:srgbClr val="000000"/>
                        </a:solidFill>
                        <a:latin typeface="Cambria Math" panose="02040503050406030204" pitchFamily="18" charset="0"/>
                      </a:rPr>
                      <m:t>0.5(</m:t>
                    </m:r>
                    <m:r>
                      <a:rPr lang="es-ES" i="1" dirty="0" smtClean="0">
                        <a:solidFill>
                          <a:srgbClr val="000000"/>
                        </a:solidFill>
                        <a:latin typeface="Cambria Math" panose="02040503050406030204" pitchFamily="18" charset="0"/>
                      </a:rPr>
                      <m:t>𝑥</m:t>
                    </m:r>
                    <m:r>
                      <a:rPr lang="es-ES" i="1" dirty="0" smtClean="0">
                        <a:solidFill>
                          <a:srgbClr val="000000"/>
                        </a:solidFill>
                        <a:latin typeface="Cambria Math" panose="02040503050406030204" pitchFamily="18" charset="0"/>
                      </a:rPr>
                      <m:t> –1)</m:t>
                    </m:r>
                  </m:oMath>
                </a14:m>
                <a:endParaRPr lang="es-ES" dirty="0">
                  <a:solidFill>
                    <a:srgbClr val="000000"/>
                  </a:solidFill>
                </a:endParaRPr>
              </a:p>
              <a:p>
                <a:pPr marL="466344" indent="0">
                  <a:buFont typeface="+mj-lt"/>
                  <a:buAutoNum type="alphaLcPeriod"/>
                </a:pPr>
                <a:endParaRPr lang="es-ES" sz="2800" dirty="0">
                  <a:solidFill>
                    <a:srgbClr val="000000"/>
                  </a:solidFill>
                </a:endParaRPr>
              </a:p>
              <a:p>
                <a:pPr marL="466344" indent="0">
                  <a:buFont typeface="+mj-lt"/>
                  <a:buAutoNum type="alphaLcPeriod"/>
                </a:pPr>
                <a:endParaRPr lang="es-ES" sz="2800" dirty="0">
                  <a:solidFill>
                    <a:srgbClr val="000000"/>
                  </a:solidFill>
                </a:endParaRPr>
              </a:p>
              <a:p>
                <a:pPr marL="533400" indent="-533400">
                  <a:buFont typeface="+mj-lt"/>
                  <a:buAutoNum type="arabicPeriod" startAt="10"/>
                </a:pPr>
                <a:r>
                  <a:rPr lang="en-US" sz="2800" dirty="0">
                    <a:solidFill>
                      <a:srgbClr val="000000"/>
                    </a:solidFill>
                  </a:rPr>
                  <a:t>Write the equation for a line in standard form that passes through the given point with the identified slope.</a:t>
                </a:r>
                <a:endParaRPr lang="en-US" dirty="0">
                  <a:solidFill>
                    <a:srgbClr val="000000"/>
                  </a:solidFill>
                </a:endParaRPr>
              </a:p>
              <a:p>
                <a:pPr marL="990600" lvl="1" indent="-457200">
                  <a:buFont typeface="+mj-lt"/>
                  <a:buAutoNum type="alphaLcPeriod"/>
                </a:pPr>
                <a:r>
                  <a:rPr lang="es-ES" dirty="0" err="1">
                    <a:solidFill>
                      <a:srgbClr val="000000"/>
                    </a:solidFill>
                  </a:rPr>
                  <a:t>Slope</a:t>
                </a:r>
                <a:r>
                  <a:rPr lang="es-ES" dirty="0">
                    <a:solidFill>
                      <a:srgbClr val="000000"/>
                    </a:solidFill>
                  </a:rPr>
                  <a:t> </a:t>
                </a:r>
                <a14:m>
                  <m:oMath xmlns:m="http://schemas.openxmlformats.org/officeDocument/2006/math">
                    <m:r>
                      <a:rPr lang="en-US" b="0" i="1" dirty="0" smtClean="0">
                        <a:solidFill>
                          <a:srgbClr val="000000"/>
                        </a:solidFill>
                        <a:latin typeface="Cambria Math" panose="02040503050406030204" pitchFamily="18" charset="0"/>
                      </a:rPr>
                      <m:t>=</m:t>
                    </m:r>
                    <m:f>
                      <m:fPr>
                        <m:ctrlPr>
                          <a:rPr lang="en-US" b="0" i="1" dirty="0" smtClean="0">
                            <a:solidFill>
                              <a:srgbClr val="000000"/>
                            </a:solidFill>
                            <a:latin typeface="Cambria Math" panose="02040503050406030204" pitchFamily="18" charset="0"/>
                          </a:rPr>
                        </m:ctrlPr>
                      </m:fPr>
                      <m:num>
                        <m:r>
                          <a:rPr lang="en-US" b="0" i="1" dirty="0" smtClean="0">
                            <a:solidFill>
                              <a:srgbClr val="000000"/>
                            </a:solidFill>
                            <a:latin typeface="Cambria Math" panose="02040503050406030204" pitchFamily="18" charset="0"/>
                          </a:rPr>
                          <m:t>1</m:t>
                        </m:r>
                      </m:num>
                      <m:den>
                        <m:r>
                          <a:rPr lang="en-US" b="0" i="1" dirty="0" smtClean="0">
                            <a:solidFill>
                              <a:srgbClr val="000000"/>
                            </a:solidFill>
                            <a:latin typeface="Cambria Math" panose="02040503050406030204" pitchFamily="18" charset="0"/>
                          </a:rPr>
                          <m:t>2</m:t>
                        </m:r>
                      </m:den>
                    </m:f>
                  </m:oMath>
                </a14:m>
                <a:r>
                  <a:rPr lang="es-ES" dirty="0">
                    <a:solidFill>
                      <a:srgbClr val="000000"/>
                    </a:solidFill>
                  </a:rPr>
                  <a:t> </a:t>
                </a:r>
              </a:p>
              <a:p>
                <a:pPr marL="88900" lvl="1" indent="0">
                  <a:buNone/>
                </a:pPr>
                <a:r>
                  <a:rPr lang="es-ES" sz="2800" dirty="0">
                    <a:solidFill>
                      <a:srgbClr val="000000"/>
                    </a:solidFill>
                  </a:rPr>
                  <a:t>	 </a:t>
                </a:r>
                <a:r>
                  <a:rPr lang="en-US" sz="2800" dirty="0">
                    <a:solidFill>
                      <a:srgbClr val="000000"/>
                    </a:solidFill>
                  </a:rPr>
                  <a:t>Passes through </a:t>
                </a:r>
                <a14:m>
                  <m:oMath xmlns:m="http://schemas.openxmlformats.org/officeDocument/2006/math">
                    <m:r>
                      <a:rPr lang="en-US" sz="2800" i="1" dirty="0" smtClean="0">
                        <a:solidFill>
                          <a:srgbClr val="000000"/>
                        </a:solidFill>
                        <a:latin typeface="Cambria Math" panose="02040503050406030204" pitchFamily="18" charset="0"/>
                      </a:rPr>
                      <m:t>(</m:t>
                    </m:r>
                    <m:r>
                      <a:rPr lang="en-US" sz="2800" b="0" i="1" dirty="0" smtClean="0">
                        <a:solidFill>
                          <a:srgbClr val="000000"/>
                        </a:solidFill>
                        <a:latin typeface="Cambria Math" panose="02040503050406030204" pitchFamily="18" charset="0"/>
                      </a:rPr>
                      <m:t>–</m:t>
                    </m:r>
                    <m:r>
                      <a:rPr lang="en-US" sz="2800" i="1" dirty="0" smtClean="0">
                        <a:solidFill>
                          <a:srgbClr val="000000"/>
                        </a:solidFill>
                        <a:latin typeface="Cambria Math" panose="02040503050406030204" pitchFamily="18" charset="0"/>
                      </a:rPr>
                      <m:t>3, 5)</m:t>
                    </m:r>
                  </m:oMath>
                </a14:m>
                <a:r>
                  <a:rPr lang="en-US" sz="2800" dirty="0">
                    <a:solidFill>
                      <a:srgbClr val="000000"/>
                    </a:solidFill>
                  </a:rPr>
                  <a:t>	</a:t>
                </a:r>
              </a:p>
            </p:txBody>
          </p:sp>
        </mc:Choice>
        <mc:Fallback xmlns="">
          <p:sp>
            <p:nvSpPr>
              <p:cNvPr id="2" name="Text Placeholder 2">
                <a:extLst>
                  <a:ext uri="{FF2B5EF4-FFF2-40B4-BE49-F238E27FC236}">
                    <a16:creationId xmlns:a16="http://schemas.microsoft.com/office/drawing/2014/main" id="{EC72BA6F-6982-97AE-5BFF-3C36D43D0DC4}"/>
                  </a:ext>
                </a:extLst>
              </p:cNvPr>
              <p:cNvSpPr txBox="1">
                <a:spLocks noRot="1" noChangeAspect="1" noMove="1" noResize="1" noEditPoints="1" noAdjustHandles="1" noChangeArrowheads="1" noChangeShapeType="1" noTextEdit="1"/>
              </p:cNvSpPr>
              <p:nvPr/>
            </p:nvSpPr>
            <p:spPr>
              <a:xfrm>
                <a:off x="777240" y="1600200"/>
                <a:ext cx="10640060" cy="5150556"/>
              </a:xfrm>
              <a:prstGeom prst="rect">
                <a:avLst/>
              </a:prstGeom>
              <a:blipFill>
                <a:blip r:embed="rId3"/>
                <a:stretch>
                  <a:fillRect l="-1203" t="-1185"/>
                </a:stretch>
              </a:blipFill>
            </p:spPr>
            <p:txBody>
              <a:bodyPr/>
              <a:lstStyle/>
              <a:p>
                <a:r>
                  <a:rPr lang="en-US">
                    <a:noFill/>
                  </a:rPr>
                  <a:t> </a:t>
                </a:r>
              </a:p>
            </p:txBody>
          </p:sp>
        </mc:Fallback>
      </mc:AlternateContent>
      <p:cxnSp>
        <p:nvCxnSpPr>
          <p:cNvPr id="3" name="Straight Connector 2">
            <a:extLst>
              <a:ext uri="{FF2B5EF4-FFF2-40B4-BE49-F238E27FC236}">
                <a16:creationId xmlns:a16="http://schemas.microsoft.com/office/drawing/2014/main" id="{899B1FE7-D825-8052-A897-74C70BD63F78}"/>
              </a:ext>
              <a:ext uri="{C183D7F6-B498-43B3-948B-1728B52AA6E4}">
                <adec:decorative xmlns:adec="http://schemas.microsoft.com/office/drawing/2017/decorative" val="1"/>
              </a:ext>
            </a:extLst>
          </p:cNvPr>
          <p:cNvCxnSpPr>
            <a:cxnSpLocks/>
          </p:cNvCxnSpPr>
          <p:nvPr/>
        </p:nvCxnSpPr>
        <p:spPr>
          <a:xfrm>
            <a:off x="5863000" y="2185459"/>
            <a:ext cx="0" cy="1296000"/>
          </a:xfrm>
          <a:prstGeom prst="line">
            <a:avLst/>
          </a:prstGeom>
          <a:ln w="31750">
            <a:solidFill>
              <a:srgbClr val="236739"/>
            </a:solidFill>
            <a:prstDash val="sysDot"/>
          </a:ln>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5" name="Text Placeholder 2">
                <a:extLst>
                  <a:ext uri="{FF2B5EF4-FFF2-40B4-BE49-F238E27FC236}">
                    <a16:creationId xmlns:a16="http://schemas.microsoft.com/office/drawing/2014/main" id="{0AF51DA5-E38B-118B-F696-2A8ACD729DB4}"/>
                  </a:ext>
                </a:extLst>
              </p:cNvPr>
              <p:cNvSpPr txBox="1">
                <a:spLocks/>
              </p:cNvSpPr>
              <p:nvPr/>
            </p:nvSpPr>
            <p:spPr>
              <a:xfrm>
                <a:off x="6108701" y="2108201"/>
                <a:ext cx="3683000" cy="723900"/>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buFont typeface="+mj-lt"/>
                  <a:buAutoNum type="alphaLcPeriod" startAt="2"/>
                </a:pPr>
                <a:r>
                  <a:rPr lang="en-US" dirty="0">
                    <a:solidFill>
                      <a:srgbClr val="000000"/>
                    </a:solidFill>
                  </a:rPr>
                  <a:t> </a:t>
                </a:r>
                <a14:m>
                  <m:oMath xmlns:m="http://schemas.openxmlformats.org/officeDocument/2006/math">
                    <m:r>
                      <a:rPr lang="en-US" i="1" dirty="0">
                        <a:solidFill>
                          <a:srgbClr val="000000"/>
                        </a:solidFill>
                        <a:latin typeface="Cambria Math" panose="02040503050406030204" pitchFamily="18" charset="0"/>
                      </a:rPr>
                      <m:t>𝑦</m:t>
                    </m:r>
                    <m:r>
                      <a:rPr lang="en-US" i="1" dirty="0">
                        <a:solidFill>
                          <a:srgbClr val="000000"/>
                        </a:solidFill>
                        <a:latin typeface="Cambria Math" panose="02040503050406030204" pitchFamily="18" charset="0"/>
                      </a:rPr>
                      <m:t>=–4</m:t>
                    </m:r>
                    <m:r>
                      <a:rPr lang="en-US" i="1" dirty="0">
                        <a:solidFill>
                          <a:srgbClr val="000000"/>
                        </a:solidFill>
                        <a:latin typeface="Cambria Math" panose="02040503050406030204" pitchFamily="18" charset="0"/>
                      </a:rPr>
                      <m:t>𝑥</m:t>
                    </m:r>
                    <m:r>
                      <a:rPr lang="en-US" i="1" dirty="0">
                        <a:solidFill>
                          <a:srgbClr val="000000"/>
                        </a:solidFill>
                        <a:latin typeface="Cambria Math" panose="02040503050406030204" pitchFamily="18" charset="0"/>
                      </a:rPr>
                      <m:t>+3</m:t>
                    </m:r>
                  </m:oMath>
                </a14:m>
                <a:endParaRPr lang="es-ES" dirty="0">
                  <a:solidFill>
                    <a:srgbClr val="000000"/>
                  </a:solidFill>
                </a:endParaRPr>
              </a:p>
              <a:p>
                <a:pPr marL="466344" indent="0">
                  <a:buFont typeface="+mj-lt"/>
                  <a:buAutoNum type="alphaLcPeriod"/>
                </a:pPr>
                <a:endParaRPr lang="es-ES" sz="2800" dirty="0">
                  <a:solidFill>
                    <a:srgbClr val="000000"/>
                  </a:solidFill>
                </a:endParaRPr>
              </a:p>
              <a:p>
                <a:pPr marL="0" indent="0">
                  <a:buNone/>
                </a:pPr>
                <a:endParaRPr lang="en-US" sz="2800" dirty="0">
                  <a:solidFill>
                    <a:srgbClr val="000000"/>
                  </a:solidFill>
                </a:endParaRPr>
              </a:p>
            </p:txBody>
          </p:sp>
        </mc:Choice>
        <mc:Fallback xmlns="">
          <p:sp>
            <p:nvSpPr>
              <p:cNvPr id="5" name="Text Placeholder 2">
                <a:extLst>
                  <a:ext uri="{FF2B5EF4-FFF2-40B4-BE49-F238E27FC236}">
                    <a16:creationId xmlns:a16="http://schemas.microsoft.com/office/drawing/2014/main" id="{0AF51DA5-E38B-118B-F696-2A8ACD729DB4}"/>
                  </a:ext>
                </a:extLst>
              </p:cNvPr>
              <p:cNvSpPr txBox="1">
                <a:spLocks noRot="1" noChangeAspect="1" noMove="1" noResize="1" noEditPoints="1" noAdjustHandles="1" noChangeArrowheads="1" noChangeShapeType="1" noTextEdit="1"/>
              </p:cNvSpPr>
              <p:nvPr/>
            </p:nvSpPr>
            <p:spPr>
              <a:xfrm>
                <a:off x="6108701" y="2108201"/>
                <a:ext cx="3683000" cy="723900"/>
              </a:xfrm>
              <a:prstGeom prst="rect">
                <a:avLst/>
              </a:prstGeom>
              <a:blipFill>
                <a:blip r:embed="rId4"/>
                <a:stretch>
                  <a:fillRect l="-4305" t="-12605" b="-9244"/>
                </a:stretch>
              </a:blipFill>
            </p:spPr>
            <p:txBody>
              <a:bodyPr/>
              <a:lstStyle/>
              <a:p>
                <a:r>
                  <a:rPr lang="en-US">
                    <a:noFill/>
                  </a:rPr>
                  <a:t> </a:t>
                </a:r>
              </a:p>
            </p:txBody>
          </p:sp>
        </mc:Fallback>
      </mc:AlternateContent>
      <p:cxnSp>
        <p:nvCxnSpPr>
          <p:cNvPr id="6" name="Straight Connector 5">
            <a:extLst>
              <a:ext uri="{FF2B5EF4-FFF2-40B4-BE49-F238E27FC236}">
                <a16:creationId xmlns:a16="http://schemas.microsoft.com/office/drawing/2014/main" id="{D0FF0F23-56A1-844E-5D15-D83C1AD20675}"/>
              </a:ext>
              <a:ext uri="{C183D7F6-B498-43B3-948B-1728B52AA6E4}">
                <adec:decorative xmlns:adec="http://schemas.microsoft.com/office/drawing/2017/decorative" val="1"/>
              </a:ext>
            </a:extLst>
          </p:cNvPr>
          <p:cNvCxnSpPr>
            <a:cxnSpLocks/>
          </p:cNvCxnSpPr>
          <p:nvPr/>
        </p:nvCxnSpPr>
        <p:spPr>
          <a:xfrm>
            <a:off x="5863000" y="4827059"/>
            <a:ext cx="0" cy="1296000"/>
          </a:xfrm>
          <a:prstGeom prst="line">
            <a:avLst/>
          </a:prstGeom>
          <a:ln w="31750">
            <a:solidFill>
              <a:srgbClr val="236739"/>
            </a:solidFill>
            <a:prstDash val="sysDot"/>
          </a:ln>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sp>
            <p:nvSpPr>
              <p:cNvPr id="7" name="Text Placeholder 2">
                <a:extLst>
                  <a:ext uri="{FF2B5EF4-FFF2-40B4-BE49-F238E27FC236}">
                    <a16:creationId xmlns:a16="http://schemas.microsoft.com/office/drawing/2014/main" id="{6A5EE599-EC20-1699-4BB6-8DD276034F61}"/>
                  </a:ext>
                </a:extLst>
              </p:cNvPr>
              <p:cNvSpPr txBox="1">
                <a:spLocks/>
              </p:cNvSpPr>
              <p:nvPr/>
            </p:nvSpPr>
            <p:spPr>
              <a:xfrm>
                <a:off x="6261100" y="4699000"/>
                <a:ext cx="3949699" cy="1435099"/>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buFont typeface="+mj-lt"/>
                  <a:buAutoNum type="alphaLcPeriod" startAt="2"/>
                </a:pPr>
                <a:r>
                  <a:rPr lang="es-ES" sz="2800" dirty="0">
                    <a:solidFill>
                      <a:srgbClr val="000000"/>
                    </a:solidFill>
                  </a:rPr>
                  <a:t>Slope </a:t>
                </a:r>
                <a14:m>
                  <m:oMath xmlns:m="http://schemas.openxmlformats.org/officeDocument/2006/math">
                    <m:r>
                      <a:rPr lang="en-US" sz="2800" i="1" dirty="0">
                        <a:solidFill>
                          <a:srgbClr val="000000"/>
                        </a:solidFill>
                        <a:latin typeface="Cambria Math" panose="02040503050406030204" pitchFamily="18" charset="0"/>
                      </a:rPr>
                      <m:t>=</m:t>
                    </m:r>
                    <m:r>
                      <a:rPr lang="en-IN" sz="2800" b="0" i="1" dirty="0" smtClean="0">
                        <a:solidFill>
                          <a:srgbClr val="000000"/>
                        </a:solidFill>
                        <a:latin typeface="Cambria Math" panose="02040503050406030204" pitchFamily="18" charset="0"/>
                      </a:rPr>
                      <m:t> </m:t>
                    </m:r>
                    <m:r>
                      <a:rPr lang="en-US" sz="2800" i="1" dirty="0">
                        <a:solidFill>
                          <a:srgbClr val="000000"/>
                        </a:solidFill>
                        <a:latin typeface="Cambria Math" panose="02040503050406030204" pitchFamily="18" charset="0"/>
                      </a:rPr>
                      <m:t>–4</m:t>
                    </m:r>
                  </m:oMath>
                </a14:m>
                <a:endParaRPr lang="es-ES" sz="2800" dirty="0">
                  <a:solidFill>
                    <a:srgbClr val="000000"/>
                  </a:solidFill>
                </a:endParaRPr>
              </a:p>
              <a:p>
                <a:pPr marL="466344" indent="0">
                  <a:buNone/>
                </a:pPr>
                <a:r>
                  <a:rPr lang="en-US" sz="2800" dirty="0">
                    <a:solidFill>
                      <a:srgbClr val="000000"/>
                    </a:solidFill>
                  </a:rPr>
                  <a:t>Passes through </a:t>
                </a:r>
                <a14:m>
                  <m:oMath xmlns:m="http://schemas.openxmlformats.org/officeDocument/2006/math">
                    <m:r>
                      <a:rPr lang="en-US" sz="2800" i="1" dirty="0" smtClean="0">
                        <a:solidFill>
                          <a:srgbClr val="000000"/>
                        </a:solidFill>
                        <a:latin typeface="Cambria Math" panose="02040503050406030204" pitchFamily="18" charset="0"/>
                      </a:rPr>
                      <m:t>(2, 1)</m:t>
                    </m:r>
                  </m:oMath>
                </a14:m>
                <a:endParaRPr lang="es-ES" sz="2800" dirty="0">
                  <a:solidFill>
                    <a:srgbClr val="000000"/>
                  </a:solidFill>
                </a:endParaRPr>
              </a:p>
              <a:p>
                <a:pPr marL="0" indent="0">
                  <a:buNone/>
                </a:pPr>
                <a:endParaRPr lang="en-US" sz="2800" dirty="0">
                  <a:solidFill>
                    <a:srgbClr val="000000"/>
                  </a:solidFill>
                </a:endParaRPr>
              </a:p>
            </p:txBody>
          </p:sp>
        </mc:Choice>
        <mc:Fallback xmlns="">
          <p:sp>
            <p:nvSpPr>
              <p:cNvPr id="7" name="Text Placeholder 2">
                <a:extLst>
                  <a:ext uri="{FF2B5EF4-FFF2-40B4-BE49-F238E27FC236}">
                    <a16:creationId xmlns:a16="http://schemas.microsoft.com/office/drawing/2014/main" id="{6A5EE599-EC20-1699-4BB6-8DD276034F61}"/>
                  </a:ext>
                </a:extLst>
              </p:cNvPr>
              <p:cNvSpPr txBox="1">
                <a:spLocks noRot="1" noChangeAspect="1" noMove="1" noResize="1" noEditPoints="1" noAdjustHandles="1" noChangeArrowheads="1" noChangeShapeType="1" noTextEdit="1"/>
              </p:cNvSpPr>
              <p:nvPr/>
            </p:nvSpPr>
            <p:spPr>
              <a:xfrm>
                <a:off x="6261100" y="4699000"/>
                <a:ext cx="3949699" cy="1435099"/>
              </a:xfrm>
              <a:prstGeom prst="rect">
                <a:avLst/>
              </a:prstGeom>
              <a:blipFill>
                <a:blip r:embed="rId5"/>
                <a:stretch>
                  <a:fillRect l="-3241" t="-4681"/>
                </a:stretch>
              </a:blipFill>
            </p:spPr>
            <p:txBody>
              <a:bodyPr/>
              <a:lstStyle/>
              <a:p>
                <a:r>
                  <a:rPr lang="en-IN">
                    <a:noFill/>
                  </a:rPr>
                  <a:t> </a:t>
                </a:r>
              </a:p>
            </p:txBody>
          </p:sp>
        </mc:Fallback>
      </mc:AlternateContent>
    </p:spTree>
    <p:extLst>
      <p:ext uri="{BB962C8B-B14F-4D97-AF65-F5344CB8AC3E}">
        <p14:creationId xmlns:p14="http://schemas.microsoft.com/office/powerpoint/2010/main" val="230328686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16A4C3-D7E8-8DEB-BC59-B0E18B53FD89}"/>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CC96222-60F7-42C3-E50A-374C0D97686A}"/>
              </a:ext>
            </a:extLst>
          </p:cNvPr>
          <p:cNvSpPr>
            <a:spLocks noGrp="1"/>
          </p:cNvSpPr>
          <p:nvPr>
            <p:ph type="title"/>
          </p:nvPr>
        </p:nvSpPr>
        <p:spPr/>
        <p:txBody>
          <a:bodyPr/>
          <a:lstStyle/>
          <a:p>
            <a:pPr algn="l"/>
            <a:r>
              <a:rPr lang="en-US" b="1" dirty="0"/>
              <a:t>Equations in Different Forms </a:t>
            </a:r>
            <a:r>
              <a:rPr lang="en-US" sz="2000" b="1" dirty="0">
                <a:solidFill>
                  <a:schemeClr val="bg1"/>
                </a:solidFill>
              </a:rPr>
              <a:t>(12 of 13)</a:t>
            </a:r>
          </a:p>
        </p:txBody>
      </p:sp>
      <p:sp>
        <p:nvSpPr>
          <p:cNvPr id="9" name="Text Placeholder 2">
            <a:extLst>
              <a:ext uri="{FF2B5EF4-FFF2-40B4-BE49-F238E27FC236}">
                <a16:creationId xmlns:a16="http://schemas.microsoft.com/office/drawing/2014/main" id="{23C10AAC-6AAD-E0CF-9435-A082A9C401FB}"/>
              </a:ext>
            </a:extLst>
          </p:cNvPr>
          <p:cNvSpPr txBox="1">
            <a:spLocks/>
          </p:cNvSpPr>
          <p:nvPr/>
        </p:nvSpPr>
        <p:spPr>
          <a:xfrm>
            <a:off x="777240" y="1616140"/>
            <a:ext cx="10259060" cy="402191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r>
              <a:rPr lang="en-US" sz="2800" b="0" i="0" u="none" strike="noStrike" baseline="0" dirty="0">
                <a:solidFill>
                  <a:srgbClr val="000000"/>
                </a:solidFill>
              </a:rPr>
              <a:t>Let’s revisit the Essential Question and summarize our learning from Activity 2.1!</a:t>
            </a:r>
          </a:p>
          <a:p>
            <a:pPr marL="0" indent="0" algn="l">
              <a:buNone/>
            </a:pPr>
            <a:endParaRPr lang="en-US" sz="2800" dirty="0">
              <a:solidFill>
                <a:srgbClr val="000000"/>
              </a:solidFill>
            </a:endParaRPr>
          </a:p>
          <a:p>
            <a:pPr marL="0" indent="0" algn="l">
              <a:buNone/>
            </a:pPr>
            <a:endParaRPr lang="en-US" sz="2800" b="0" i="0" u="none" strike="noStrike" baseline="0" dirty="0">
              <a:solidFill>
                <a:srgbClr val="000000"/>
              </a:solidFill>
            </a:endParaRPr>
          </a:p>
          <a:p>
            <a:pPr marL="0" indent="0" algn="l">
              <a:buNone/>
            </a:pPr>
            <a:endParaRPr lang="en-US" sz="2800" dirty="0">
              <a:solidFill>
                <a:srgbClr val="000000"/>
              </a:solidFill>
            </a:endParaRPr>
          </a:p>
          <a:p>
            <a:pPr marL="0" indent="0">
              <a:buNone/>
            </a:pPr>
            <a:r>
              <a:rPr lang="en-US" sz="2800" b="1" dirty="0">
                <a:solidFill>
                  <a:srgbClr val="000000"/>
                </a:solidFill>
              </a:rPr>
              <a:t>Essential Question: </a:t>
            </a:r>
            <a:r>
              <a:rPr lang="en-US" sz="2800" dirty="0">
                <a:solidFill>
                  <a:srgbClr val="000000"/>
                </a:solidFill>
              </a:rPr>
              <a:t>How can you use those same properties to solve for one specific variable in an equation that has multiple variables?</a:t>
            </a:r>
          </a:p>
          <a:p>
            <a:pPr marL="0" indent="0" algn="l">
              <a:buNone/>
            </a:pPr>
            <a:endParaRPr lang="en-US" sz="2800" b="0" i="0" u="none" strike="noStrike" baseline="0" dirty="0">
              <a:solidFill>
                <a:srgbClr val="000000"/>
              </a:solidFill>
            </a:endParaRPr>
          </a:p>
        </p:txBody>
      </p:sp>
      <p:pic>
        <p:nvPicPr>
          <p:cNvPr id="2" name="Picture 1">
            <a:extLst>
              <a:ext uri="{FF2B5EF4-FFF2-40B4-BE49-F238E27FC236}">
                <a16:creationId xmlns:a16="http://schemas.microsoft.com/office/drawing/2014/main" id="{D9208D25-C9B4-85AE-96E3-FEED0B1ED42E}"/>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74023" y="372494"/>
            <a:ext cx="1501270" cy="518205"/>
          </a:xfrm>
          <a:prstGeom prst="rect">
            <a:avLst/>
          </a:prstGeom>
        </p:spPr>
      </p:pic>
    </p:spTree>
    <p:extLst>
      <p:ext uri="{BB962C8B-B14F-4D97-AF65-F5344CB8AC3E}">
        <p14:creationId xmlns:p14="http://schemas.microsoft.com/office/powerpoint/2010/main" val="104397401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54E86F-B27E-7898-4546-3A7CD196AD0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CA2FDD4-A704-2847-E793-56E0BD4C19E7}"/>
              </a:ext>
            </a:extLst>
          </p:cNvPr>
          <p:cNvSpPr>
            <a:spLocks noGrp="1"/>
          </p:cNvSpPr>
          <p:nvPr>
            <p:ph type="title"/>
          </p:nvPr>
        </p:nvSpPr>
        <p:spPr/>
        <p:txBody>
          <a:bodyPr/>
          <a:lstStyle/>
          <a:p>
            <a:pPr algn="l"/>
            <a:r>
              <a:rPr lang="en-US" b="1" dirty="0"/>
              <a:t>Equations in Different Forms </a:t>
            </a:r>
            <a:r>
              <a:rPr lang="en-US" sz="2000" b="1" dirty="0">
                <a:solidFill>
                  <a:schemeClr val="bg1"/>
                </a:solidFill>
              </a:rPr>
              <a:t>(13 of 13)</a:t>
            </a:r>
          </a:p>
        </p:txBody>
      </p:sp>
      <p:sp>
        <p:nvSpPr>
          <p:cNvPr id="9" name="Text Placeholder 2">
            <a:extLst>
              <a:ext uri="{FF2B5EF4-FFF2-40B4-BE49-F238E27FC236}">
                <a16:creationId xmlns:a16="http://schemas.microsoft.com/office/drawing/2014/main" id="{C9C7CA46-0412-6865-D5CE-79D44C387F0B}"/>
              </a:ext>
              <a:ext uri="{C183D7F6-B498-43B3-948B-1728B52AA6E4}">
                <adec:decorative xmlns:adec="http://schemas.microsoft.com/office/drawing/2017/decorative" val="1"/>
              </a:ext>
            </a:extLst>
          </p:cNvPr>
          <p:cNvSpPr txBox="1">
            <a:spLocks/>
          </p:cNvSpPr>
          <p:nvPr/>
        </p:nvSpPr>
        <p:spPr>
          <a:xfrm>
            <a:off x="777240" y="1616140"/>
            <a:ext cx="10471759" cy="402191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endParaRPr lang="en-US" sz="2800" dirty="0">
              <a:solidFill>
                <a:schemeClr val="bg2">
                  <a:lumMod val="25000"/>
                </a:schemeClr>
              </a:solidFill>
            </a:endParaRPr>
          </a:p>
        </p:txBody>
      </p:sp>
    </p:spTree>
    <p:extLst>
      <p:ext uri="{BB962C8B-B14F-4D97-AF65-F5344CB8AC3E}">
        <p14:creationId xmlns:p14="http://schemas.microsoft.com/office/powerpoint/2010/main" val="316223275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84E7D1-4EEC-73C8-A8B1-25799A77981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CFA90BF-E127-672C-DE36-C0738BC656D8}"/>
              </a:ext>
            </a:extLst>
          </p:cNvPr>
          <p:cNvSpPr>
            <a:spLocks noGrp="1"/>
          </p:cNvSpPr>
          <p:nvPr>
            <p:ph type="title" idx="4294967295"/>
          </p:nvPr>
        </p:nvSpPr>
        <p:spPr>
          <a:xfrm>
            <a:off x="838200" y="-457200"/>
            <a:ext cx="10514013" cy="457200"/>
          </a:xfrm>
          <a:prstGeom prst="rect">
            <a:avLst/>
          </a:prstGeom>
        </p:spPr>
        <p:txBody>
          <a:bodyPr anchor="b"/>
          <a:lstStyle/>
          <a:p>
            <a:r>
              <a:rPr lang="en-US" sz="2000" dirty="0">
                <a:solidFill>
                  <a:schemeClr val="bg2"/>
                </a:solidFill>
              </a:rPr>
              <a:t>Day 2</a:t>
            </a:r>
          </a:p>
        </p:txBody>
      </p:sp>
      <p:sp>
        <p:nvSpPr>
          <p:cNvPr id="4" name="Text Placeholder 3">
            <a:extLst>
              <a:ext uri="{FF2B5EF4-FFF2-40B4-BE49-F238E27FC236}">
                <a16:creationId xmlns:a16="http://schemas.microsoft.com/office/drawing/2014/main" id="{1586B9D5-0714-C453-BF23-634EFB6E39F7}"/>
              </a:ext>
              <a:ext uri="{C183D7F6-B498-43B3-948B-1728B52AA6E4}">
                <adec:decorative xmlns:adec="http://schemas.microsoft.com/office/drawing/2017/decorative" val="1"/>
              </a:ext>
            </a:extLst>
          </p:cNvPr>
          <p:cNvSpPr>
            <a:spLocks noGrp="1"/>
          </p:cNvSpPr>
          <p:nvPr>
            <p:ph type="body" sz="quarter" idx="11"/>
          </p:nvPr>
        </p:nvSpPr>
        <p:spPr>
          <a:xfrm>
            <a:off x="6658975" y="2832927"/>
            <a:ext cx="1061883" cy="1071562"/>
          </a:xfrm>
        </p:spPr>
        <p:txBody>
          <a:bodyPr/>
          <a:lstStyle/>
          <a:p>
            <a:pPr marL="0" indent="0">
              <a:buNone/>
            </a:pPr>
            <a:r>
              <a:rPr lang="en-US" sz="7500" b="1" dirty="0">
                <a:solidFill>
                  <a:srgbClr val="000000"/>
                </a:solidFill>
                <a:latin typeface="Calibri" panose="020F0502020204030204" pitchFamily="34" charset="0"/>
                <a:ea typeface="Calibri" panose="020F0502020204030204" pitchFamily="34" charset="0"/>
                <a:cs typeface="Calibri" panose="020F0502020204030204" pitchFamily="34" charset="0"/>
              </a:rPr>
              <a:t>2</a:t>
            </a:r>
          </a:p>
        </p:txBody>
      </p:sp>
    </p:spTree>
    <p:extLst>
      <p:ext uri="{BB962C8B-B14F-4D97-AF65-F5344CB8AC3E}">
        <p14:creationId xmlns:p14="http://schemas.microsoft.com/office/powerpoint/2010/main" val="380538932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039303-CF51-4B38-A43B-20645011341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AC0F160-2B3C-CD78-9454-F6D334741728}"/>
              </a:ext>
            </a:extLst>
          </p:cNvPr>
          <p:cNvSpPr>
            <a:spLocks noGrp="1"/>
          </p:cNvSpPr>
          <p:nvPr>
            <p:ph type="title"/>
          </p:nvPr>
        </p:nvSpPr>
        <p:spPr>
          <a:xfrm>
            <a:off x="734787" y="10892"/>
            <a:ext cx="10123714" cy="1263192"/>
          </a:xfrm>
        </p:spPr>
        <p:txBody>
          <a:bodyPr/>
          <a:lstStyle/>
          <a:p>
            <a:pPr algn="l"/>
            <a:r>
              <a:rPr lang="en-US" b="1" dirty="0"/>
              <a:t>Essential Question</a:t>
            </a:r>
            <a:r>
              <a:rPr lang="en-US" sz="4000" b="1" kern="1200" dirty="0">
                <a:solidFill>
                  <a:srgbClr val="2B8147"/>
                </a:solidFill>
                <a:effectLst/>
                <a:latin typeface="+mj-lt"/>
                <a:ea typeface="+mj-ea"/>
                <a:cs typeface="+mj-cs"/>
              </a:rPr>
              <a:t> </a:t>
            </a:r>
            <a:r>
              <a:rPr lang="en-US" sz="2000" b="1" kern="1200" dirty="0">
                <a:solidFill>
                  <a:schemeClr val="bg1"/>
                </a:solidFill>
                <a:latin typeface="+mj-lt"/>
                <a:ea typeface="+mj-ea"/>
                <a:cs typeface="+mj-cs"/>
              </a:rPr>
              <a:t>(2 of 2)</a:t>
            </a:r>
          </a:p>
        </p:txBody>
      </p:sp>
      <p:sp>
        <p:nvSpPr>
          <p:cNvPr id="9" name="Text Placeholder 2">
            <a:extLst>
              <a:ext uri="{FF2B5EF4-FFF2-40B4-BE49-F238E27FC236}">
                <a16:creationId xmlns:a16="http://schemas.microsoft.com/office/drawing/2014/main" id="{3857AF43-116F-2EEC-CBD1-E0CECFFBB808}"/>
              </a:ext>
            </a:extLst>
          </p:cNvPr>
          <p:cNvSpPr txBox="1">
            <a:spLocks/>
          </p:cNvSpPr>
          <p:nvPr/>
        </p:nvSpPr>
        <p:spPr>
          <a:xfrm>
            <a:off x="734787" y="1616529"/>
            <a:ext cx="9935934" cy="418836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spcBef>
                <a:spcPts val="24"/>
              </a:spcBef>
              <a:buNone/>
            </a:pPr>
            <a:r>
              <a:rPr lang="en-US" sz="2800" dirty="0">
                <a:solidFill>
                  <a:srgbClr val="000000"/>
                </a:solidFill>
              </a:rPr>
              <a:t>How can you use those same properties to solve for one specific variable in an equation that has multiple variables?</a:t>
            </a:r>
          </a:p>
        </p:txBody>
      </p:sp>
    </p:spTree>
    <p:extLst>
      <p:ext uri="{BB962C8B-B14F-4D97-AF65-F5344CB8AC3E}">
        <p14:creationId xmlns:p14="http://schemas.microsoft.com/office/powerpoint/2010/main" val="99645906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EDE78-11DD-0A45-609B-FD8BD60BB2B9}"/>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630D5E1F-9692-EDA3-9A8A-A335142E25DC}"/>
              </a:ext>
            </a:extLst>
          </p:cNvPr>
          <p:cNvSpPr>
            <a:spLocks noGrp="1"/>
          </p:cNvSpPr>
          <p:nvPr>
            <p:ph type="title" idx="4294967295"/>
          </p:nvPr>
        </p:nvSpPr>
        <p:spPr>
          <a:xfrm>
            <a:off x="838200" y="-530679"/>
            <a:ext cx="10514013" cy="530679"/>
          </a:xfrm>
          <a:prstGeom prst="rect">
            <a:avLst/>
          </a:prstGeom>
        </p:spPr>
        <p:txBody>
          <a:bodyPr anchor="b"/>
          <a:lstStyle/>
          <a:p>
            <a:r>
              <a:rPr lang="en-US" sz="2000" dirty="0">
                <a:solidFill>
                  <a:schemeClr val="bg2"/>
                </a:solidFill>
              </a:rPr>
              <a:t>Activity 2.2</a:t>
            </a:r>
          </a:p>
        </p:txBody>
      </p:sp>
      <p:sp>
        <p:nvSpPr>
          <p:cNvPr id="3" name="Text Placeholder 2" descr="10 to 15 minutes">
            <a:extLst>
              <a:ext uri="{FF2B5EF4-FFF2-40B4-BE49-F238E27FC236}">
                <a16:creationId xmlns:a16="http://schemas.microsoft.com/office/drawing/2014/main" id="{685D4BDD-EA9C-DAD5-09C7-6128E3D1D7CE}"/>
              </a:ext>
            </a:extLst>
          </p:cNvPr>
          <p:cNvSpPr>
            <a:spLocks noGrp="1"/>
          </p:cNvSpPr>
          <p:nvPr>
            <p:ph type="body" sz="quarter" idx="12"/>
          </p:nvPr>
        </p:nvSpPr>
        <p:spPr>
          <a:xfrm>
            <a:off x="10614990" y="5781873"/>
            <a:ext cx="863947" cy="795338"/>
          </a:xfrm>
        </p:spPr>
        <p:txBody>
          <a:bodyPr/>
          <a:lstStyle/>
          <a:p>
            <a:r>
              <a:rPr lang="en-US" b="1" dirty="0"/>
              <a:t>15–20</a:t>
            </a:r>
          </a:p>
        </p:txBody>
      </p:sp>
      <p:sp>
        <p:nvSpPr>
          <p:cNvPr id="2" name="Text Placeholder 1">
            <a:extLst>
              <a:ext uri="{FF2B5EF4-FFF2-40B4-BE49-F238E27FC236}">
                <a16:creationId xmlns:a16="http://schemas.microsoft.com/office/drawing/2014/main" id="{03486D40-03F6-C342-CD02-C9125C1A0AD8}"/>
              </a:ext>
              <a:ext uri="{C183D7F6-B498-43B3-948B-1728B52AA6E4}">
                <adec:decorative xmlns:adec="http://schemas.microsoft.com/office/drawing/2017/decorative" val="1"/>
              </a:ext>
            </a:extLst>
          </p:cNvPr>
          <p:cNvSpPr>
            <a:spLocks noGrp="1"/>
          </p:cNvSpPr>
          <p:nvPr>
            <p:ph type="body" sz="quarter" idx="11"/>
          </p:nvPr>
        </p:nvSpPr>
        <p:spPr/>
        <p:txBody>
          <a:bodyPr/>
          <a:lstStyle/>
          <a:p>
            <a:r>
              <a:rPr lang="en-US" dirty="0"/>
              <a:t>2.2</a:t>
            </a:r>
          </a:p>
        </p:txBody>
      </p:sp>
    </p:spTree>
    <p:extLst>
      <p:ext uri="{BB962C8B-B14F-4D97-AF65-F5344CB8AC3E}">
        <p14:creationId xmlns:p14="http://schemas.microsoft.com/office/powerpoint/2010/main" val="419983735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4F119E-B381-8948-5734-B2FA9DB19F6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E165B7A-4943-6D97-5409-548CB83FD387}"/>
              </a:ext>
            </a:extLst>
          </p:cNvPr>
          <p:cNvSpPr>
            <a:spLocks noGrp="1"/>
          </p:cNvSpPr>
          <p:nvPr>
            <p:ph type="title"/>
          </p:nvPr>
        </p:nvSpPr>
        <p:spPr/>
        <p:txBody>
          <a:bodyPr/>
          <a:lstStyle/>
          <a:p>
            <a:r>
              <a:rPr lang="en-US" b="1" dirty="0"/>
              <a:t>Rewriting Literal Equations</a:t>
            </a:r>
            <a:r>
              <a:rPr lang="en-US" sz="4000" b="1" kern="1200" dirty="0">
                <a:solidFill>
                  <a:srgbClr val="2B8147"/>
                </a:solidFill>
                <a:effectLst/>
                <a:latin typeface="+mj-lt"/>
                <a:ea typeface="+mj-ea"/>
                <a:cs typeface="+mj-cs"/>
              </a:rPr>
              <a:t> </a:t>
            </a:r>
            <a:r>
              <a:rPr lang="en-US" sz="2000" b="1" kern="1200" dirty="0">
                <a:solidFill>
                  <a:schemeClr val="bg1"/>
                </a:solidFill>
                <a:latin typeface="+mj-lt"/>
                <a:ea typeface="+mj-ea"/>
                <a:cs typeface="+mj-cs"/>
              </a:rPr>
              <a:t>(1 of 11)</a:t>
            </a:r>
          </a:p>
        </p:txBody>
      </p:sp>
      <mc:AlternateContent xmlns:mc="http://schemas.openxmlformats.org/markup-compatibility/2006" xmlns:a14="http://schemas.microsoft.com/office/drawing/2010/main">
        <mc:Choice Requires="a14">
          <p:sp>
            <p:nvSpPr>
              <p:cNvPr id="9" name="Text Placeholder 2">
                <a:extLst>
                  <a:ext uri="{FF2B5EF4-FFF2-40B4-BE49-F238E27FC236}">
                    <a16:creationId xmlns:a16="http://schemas.microsoft.com/office/drawing/2014/main" id="{BE588C40-188C-A6E0-2294-FB8598D53039}"/>
                  </a:ext>
                </a:extLst>
              </p:cNvPr>
              <p:cNvSpPr txBox="1">
                <a:spLocks/>
              </p:cNvSpPr>
              <p:nvPr/>
            </p:nvSpPr>
            <p:spPr>
              <a:xfrm>
                <a:off x="734787" y="1616529"/>
                <a:ext cx="9935934" cy="4716538"/>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spcBef>
                    <a:spcPts val="24"/>
                  </a:spcBef>
                  <a:buNone/>
                </a:pPr>
                <a:r>
                  <a:rPr lang="en-US" sz="2800" b="1" dirty="0">
                    <a:solidFill>
                      <a:srgbClr val="000000"/>
                    </a:solidFill>
                  </a:rPr>
                  <a:t>Literal equations</a:t>
                </a:r>
                <a:r>
                  <a:rPr lang="en-US" sz="2800" dirty="0">
                    <a:solidFill>
                      <a:srgbClr val="000000"/>
                    </a:solidFill>
                  </a:rPr>
                  <a:t> are equations in which the variables represent</a:t>
                </a:r>
              </a:p>
              <a:p>
                <a:pPr marL="0" indent="0">
                  <a:spcBef>
                    <a:spcPts val="24"/>
                  </a:spcBef>
                  <a:buNone/>
                </a:pPr>
                <a:r>
                  <a:rPr lang="en-US" sz="2800" dirty="0">
                    <a:solidFill>
                      <a:srgbClr val="000000"/>
                    </a:solidFill>
                  </a:rPr>
                  <a:t>specific measures. You most often see literal equations when you study formulas. These literal equations can be manipulated in order to allow you to solve for one specific variable.</a:t>
                </a:r>
                <a:br>
                  <a:rPr lang="en-US" sz="2800" dirty="0">
                    <a:solidFill>
                      <a:srgbClr val="000000"/>
                    </a:solidFill>
                  </a:rPr>
                </a:br>
                <a:endParaRPr lang="en-US" sz="2800" dirty="0">
                  <a:solidFill>
                    <a:srgbClr val="000000"/>
                  </a:solidFill>
                </a:endParaRPr>
              </a:p>
              <a:p>
                <a:pPr marL="0" indent="0">
                  <a:spcBef>
                    <a:spcPts val="24"/>
                  </a:spcBef>
                  <a:buNone/>
                </a:pPr>
                <a:r>
                  <a:rPr lang="en-US" sz="2800" dirty="0">
                    <a:solidFill>
                      <a:srgbClr val="000000"/>
                    </a:solidFill>
                  </a:rPr>
                  <a:t>You have used a common literal equation, the formula for converting degrees Fahrenheit to degrees Celsius.</a:t>
                </a:r>
              </a:p>
              <a:p>
                <a:pPr marL="0" indent="0">
                  <a:spcBef>
                    <a:spcPts val="24"/>
                  </a:spcBef>
                  <a:buNone/>
                </a:pPr>
                <a:endParaRPr lang="en-US" sz="2800" dirty="0">
                  <a:solidFill>
                    <a:srgbClr val="000000"/>
                  </a:solidFill>
                </a:endParaRPr>
              </a:p>
              <a:p>
                <a:pPr marL="0" indent="0">
                  <a:spcBef>
                    <a:spcPts val="24"/>
                  </a:spcBef>
                  <a:buNone/>
                </a:pPr>
                <a14:m>
                  <m:oMathPara xmlns:m="http://schemas.openxmlformats.org/officeDocument/2006/math">
                    <m:oMathParaPr>
                      <m:jc m:val="centerGroup"/>
                    </m:oMathParaPr>
                    <m:oMath xmlns:m="http://schemas.openxmlformats.org/officeDocument/2006/math">
                      <m:r>
                        <a:rPr lang="en-US" sz="2800" b="0" i="1" dirty="0" smtClean="0">
                          <a:solidFill>
                            <a:srgbClr val="000000"/>
                          </a:solidFill>
                          <a:latin typeface="Cambria Math" panose="02040503050406030204" pitchFamily="18" charset="0"/>
                        </a:rPr>
                        <m:t>𝐶</m:t>
                      </m:r>
                      <m:r>
                        <a:rPr lang="en-US" sz="2800" b="0" i="1" dirty="0" smtClean="0">
                          <a:solidFill>
                            <a:srgbClr val="000000"/>
                          </a:solidFill>
                          <a:latin typeface="Cambria Math" panose="02040503050406030204" pitchFamily="18" charset="0"/>
                        </a:rPr>
                        <m:t>= ‒</m:t>
                      </m:r>
                      <m:f>
                        <m:fPr>
                          <m:ctrlPr>
                            <a:rPr lang="en-US" sz="2800" i="1" dirty="0" smtClean="0">
                              <a:solidFill>
                                <a:srgbClr val="000000"/>
                              </a:solidFill>
                              <a:latin typeface="Cambria Math" panose="02040503050406030204" pitchFamily="18" charset="0"/>
                            </a:rPr>
                          </m:ctrlPr>
                        </m:fPr>
                        <m:num>
                          <m:r>
                            <a:rPr lang="en-US" sz="2800" b="0" i="1" dirty="0" smtClean="0">
                              <a:solidFill>
                                <a:srgbClr val="000000"/>
                              </a:solidFill>
                              <a:latin typeface="Cambria Math" panose="02040503050406030204" pitchFamily="18" charset="0"/>
                            </a:rPr>
                            <m:t>5</m:t>
                          </m:r>
                        </m:num>
                        <m:den>
                          <m:r>
                            <a:rPr lang="en-US" sz="2800" b="0" i="1" dirty="0" smtClean="0">
                              <a:solidFill>
                                <a:srgbClr val="000000"/>
                              </a:solidFill>
                              <a:latin typeface="Cambria Math" panose="02040503050406030204" pitchFamily="18" charset="0"/>
                            </a:rPr>
                            <m:t>9</m:t>
                          </m:r>
                        </m:den>
                      </m:f>
                      <m:r>
                        <a:rPr lang="en-IN" sz="2800" b="0" i="1" dirty="0" smtClean="0">
                          <a:solidFill>
                            <a:srgbClr val="000000"/>
                          </a:solidFill>
                          <a:latin typeface="Cambria Math" panose="02040503050406030204" pitchFamily="18" charset="0"/>
                        </a:rPr>
                        <m:t>(</m:t>
                      </m:r>
                      <m:r>
                        <a:rPr lang="en-US" sz="2800" b="0" i="1" dirty="0" smtClean="0">
                          <a:solidFill>
                            <a:srgbClr val="000000"/>
                          </a:solidFill>
                          <a:latin typeface="Cambria Math" panose="02040503050406030204" pitchFamily="18" charset="0"/>
                        </a:rPr>
                        <m:t>𝐹</m:t>
                      </m:r>
                      <m:r>
                        <a:rPr lang="en-US" sz="2800" b="0" i="1" dirty="0" smtClean="0">
                          <a:solidFill>
                            <a:srgbClr val="000000"/>
                          </a:solidFill>
                          <a:latin typeface="Cambria Math" panose="02040503050406030204" pitchFamily="18" charset="0"/>
                        </a:rPr>
                        <m:t>–32)</m:t>
                      </m:r>
                    </m:oMath>
                  </m:oMathPara>
                </a14:m>
                <a:endParaRPr lang="en-US" sz="2800" dirty="0">
                  <a:solidFill>
                    <a:srgbClr val="000000"/>
                  </a:solidFill>
                </a:endParaRPr>
              </a:p>
            </p:txBody>
          </p:sp>
        </mc:Choice>
        <mc:Fallback xmlns="">
          <p:sp>
            <p:nvSpPr>
              <p:cNvPr id="9" name="Text Placeholder 2">
                <a:extLst>
                  <a:ext uri="{FF2B5EF4-FFF2-40B4-BE49-F238E27FC236}">
                    <a16:creationId xmlns:a16="http://schemas.microsoft.com/office/drawing/2014/main" id="{BE588C40-188C-A6E0-2294-FB8598D53039}"/>
                  </a:ext>
                </a:extLst>
              </p:cNvPr>
              <p:cNvSpPr txBox="1">
                <a:spLocks noRot="1" noChangeAspect="1" noMove="1" noResize="1" noEditPoints="1" noAdjustHandles="1" noChangeArrowheads="1" noChangeShapeType="1" noTextEdit="1"/>
              </p:cNvSpPr>
              <p:nvPr/>
            </p:nvSpPr>
            <p:spPr>
              <a:xfrm>
                <a:off x="734787" y="1616529"/>
                <a:ext cx="9935934" cy="4716538"/>
              </a:xfrm>
              <a:prstGeom prst="rect">
                <a:avLst/>
              </a:prstGeom>
              <a:blipFill>
                <a:blip r:embed="rId3"/>
                <a:stretch>
                  <a:fillRect l="-1289" t="-1163" r="-1964"/>
                </a:stretch>
              </a:blipFill>
            </p:spPr>
            <p:txBody>
              <a:bodyPr/>
              <a:lstStyle/>
              <a:p>
                <a:r>
                  <a:rPr lang="en-IN">
                    <a:noFill/>
                  </a:rPr>
                  <a:t> </a:t>
                </a:r>
              </a:p>
            </p:txBody>
          </p:sp>
        </mc:Fallback>
      </mc:AlternateContent>
    </p:spTree>
    <p:extLst>
      <p:ext uri="{BB962C8B-B14F-4D97-AF65-F5344CB8AC3E}">
        <p14:creationId xmlns:p14="http://schemas.microsoft.com/office/powerpoint/2010/main" val="140567829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36FE54-7B45-132D-8987-028A851D78B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BD7BA13-00A7-97E6-EF83-C747CFD72720}"/>
              </a:ext>
            </a:extLst>
          </p:cNvPr>
          <p:cNvSpPr>
            <a:spLocks noGrp="1"/>
          </p:cNvSpPr>
          <p:nvPr>
            <p:ph type="title"/>
          </p:nvPr>
        </p:nvSpPr>
        <p:spPr/>
        <p:txBody>
          <a:bodyPr/>
          <a:lstStyle/>
          <a:p>
            <a:pPr algn="l" defTabSz="914400" rtl="0" eaLnBrk="1" latinLnBrk="0" hangingPunct="1">
              <a:lnSpc>
                <a:spcPct val="90000"/>
              </a:lnSpc>
              <a:spcBef>
                <a:spcPct val="0"/>
              </a:spcBef>
              <a:buNone/>
            </a:pPr>
            <a:r>
              <a:rPr lang="en-US" b="1" dirty="0"/>
              <a:t>Rewriting Literal Equations</a:t>
            </a:r>
            <a:r>
              <a:rPr lang="en-US" sz="4000" b="1" kern="1200" dirty="0">
                <a:solidFill>
                  <a:srgbClr val="2B8147"/>
                </a:solidFill>
                <a:effectLst/>
                <a:latin typeface="+mj-lt"/>
                <a:ea typeface="+mj-ea"/>
                <a:cs typeface="+mj-cs"/>
              </a:rPr>
              <a:t> </a:t>
            </a:r>
            <a:r>
              <a:rPr lang="en-US" sz="2000" b="1" kern="1200" dirty="0">
                <a:solidFill>
                  <a:schemeClr val="bg1"/>
                </a:solidFill>
                <a:latin typeface="+mj-lt"/>
                <a:ea typeface="+mj-ea"/>
                <a:cs typeface="+mj-cs"/>
              </a:rPr>
              <a:t>(2 of 11)</a:t>
            </a:r>
          </a:p>
        </p:txBody>
      </p:sp>
      <p:sp>
        <p:nvSpPr>
          <p:cNvPr id="9" name="Text Placeholder 2">
            <a:extLst>
              <a:ext uri="{FF2B5EF4-FFF2-40B4-BE49-F238E27FC236}">
                <a16:creationId xmlns:a16="http://schemas.microsoft.com/office/drawing/2014/main" id="{42B4ECAB-E37A-5933-BC37-EAA155FFAFAB}"/>
              </a:ext>
            </a:extLst>
          </p:cNvPr>
          <p:cNvSpPr txBox="1">
            <a:spLocks/>
          </p:cNvSpPr>
          <p:nvPr/>
        </p:nvSpPr>
        <p:spPr>
          <a:xfrm>
            <a:off x="734786" y="1616529"/>
            <a:ext cx="9972199" cy="3045782"/>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spcBef>
                <a:spcPts val="24"/>
              </a:spcBef>
              <a:buNone/>
            </a:pPr>
            <a:r>
              <a:rPr lang="en-US" sz="2800" dirty="0">
                <a:solidFill>
                  <a:srgbClr val="000000"/>
                </a:solidFill>
              </a:rPr>
              <a:t>Jayden is talking on the phone to his friend Mateo who lives in Europe. Mateo is used to describing temperatures in °C, while Jayden is used to describing temperatures in °F. Mateo can use the formula above to quickly convert the temperatures Jayden describes to °C.</a:t>
            </a:r>
            <a:br>
              <a:rPr lang="en-US" sz="2800" dirty="0">
                <a:solidFill>
                  <a:srgbClr val="000000"/>
                </a:solidFill>
              </a:rPr>
            </a:br>
            <a:endParaRPr lang="en-US" sz="2800" dirty="0">
              <a:solidFill>
                <a:srgbClr val="000000"/>
              </a:solidFill>
            </a:endParaRPr>
          </a:p>
          <a:p>
            <a:pPr marL="0" indent="0">
              <a:spcBef>
                <a:spcPts val="24"/>
              </a:spcBef>
              <a:buNone/>
            </a:pPr>
            <a:endParaRPr lang="en-US" sz="2800" dirty="0">
              <a:solidFill>
                <a:srgbClr val="000000"/>
              </a:solidFill>
            </a:endParaRPr>
          </a:p>
        </p:txBody>
      </p:sp>
    </p:spTree>
    <p:extLst>
      <p:ext uri="{BB962C8B-B14F-4D97-AF65-F5344CB8AC3E}">
        <p14:creationId xmlns:p14="http://schemas.microsoft.com/office/powerpoint/2010/main" val="396043127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548B9C-F6C9-E2D5-1DA1-DE25880D301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487B2F7-87F9-C357-40B8-6E8B5AC8B18A}"/>
              </a:ext>
            </a:extLst>
          </p:cNvPr>
          <p:cNvSpPr>
            <a:spLocks noGrp="1"/>
          </p:cNvSpPr>
          <p:nvPr>
            <p:ph type="title"/>
          </p:nvPr>
        </p:nvSpPr>
        <p:spPr/>
        <p:txBody>
          <a:bodyPr/>
          <a:lstStyle/>
          <a:p>
            <a:pPr algn="l" defTabSz="914400" rtl="0" eaLnBrk="1" latinLnBrk="0" hangingPunct="1">
              <a:lnSpc>
                <a:spcPct val="90000"/>
              </a:lnSpc>
              <a:spcBef>
                <a:spcPct val="0"/>
              </a:spcBef>
              <a:buNone/>
            </a:pPr>
            <a:r>
              <a:rPr lang="en-US" b="1" dirty="0"/>
              <a:t>Rewriting Literal Equations</a:t>
            </a:r>
            <a:r>
              <a:rPr lang="en-US" sz="4000" b="1" kern="1200" dirty="0">
                <a:solidFill>
                  <a:srgbClr val="2B8147"/>
                </a:solidFill>
                <a:effectLst/>
                <a:latin typeface="+mj-lt"/>
                <a:ea typeface="+mj-ea"/>
                <a:cs typeface="+mj-cs"/>
              </a:rPr>
              <a:t> </a:t>
            </a:r>
            <a:r>
              <a:rPr lang="en-US" sz="2000" b="1" kern="1200" dirty="0">
                <a:solidFill>
                  <a:schemeClr val="bg1"/>
                </a:solidFill>
                <a:latin typeface="+mj-lt"/>
                <a:ea typeface="+mj-ea"/>
                <a:cs typeface="+mj-cs"/>
              </a:rPr>
              <a:t>(3 of 11)</a:t>
            </a:r>
          </a:p>
        </p:txBody>
      </p:sp>
      <p:sp>
        <p:nvSpPr>
          <p:cNvPr id="9" name="Text Placeholder 2">
            <a:extLst>
              <a:ext uri="{FF2B5EF4-FFF2-40B4-BE49-F238E27FC236}">
                <a16:creationId xmlns:a16="http://schemas.microsoft.com/office/drawing/2014/main" id="{23861A58-7978-5C6A-EDED-3A1E45D43B80}"/>
              </a:ext>
            </a:extLst>
          </p:cNvPr>
          <p:cNvSpPr txBox="1">
            <a:spLocks/>
          </p:cNvSpPr>
          <p:nvPr/>
        </p:nvSpPr>
        <p:spPr>
          <a:xfrm>
            <a:off x="734787" y="1616529"/>
            <a:ext cx="9935934" cy="4716538"/>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466344" indent="-466344">
              <a:spcBef>
                <a:spcPts val="24"/>
              </a:spcBef>
              <a:buFont typeface="+mj-lt"/>
              <a:buAutoNum type="arabicPeriod"/>
            </a:pPr>
            <a:r>
              <a:rPr lang="en-US" sz="2800" dirty="0">
                <a:solidFill>
                  <a:srgbClr val="000000"/>
                </a:solidFill>
              </a:rPr>
              <a:t>How can you rewrite the formula so that Jayden can quickly convert the temperatures that Mateo describes to °F? Justify your solution method.</a:t>
            </a:r>
          </a:p>
          <a:p>
            <a:pPr marL="0" indent="0">
              <a:spcBef>
                <a:spcPts val="24"/>
              </a:spcBef>
              <a:buNone/>
            </a:pPr>
            <a:endParaRPr lang="en-US" sz="2800" dirty="0">
              <a:solidFill>
                <a:srgbClr val="000000"/>
              </a:solidFill>
            </a:endParaRPr>
          </a:p>
        </p:txBody>
      </p:sp>
    </p:spTree>
    <p:extLst>
      <p:ext uri="{BB962C8B-B14F-4D97-AF65-F5344CB8AC3E}">
        <p14:creationId xmlns:p14="http://schemas.microsoft.com/office/powerpoint/2010/main" val="272782679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2D5AF5-DEEF-3AA4-4C63-F8E35F357B7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3D459820-7CCA-92E4-4059-296E8F7C7477}"/>
              </a:ext>
            </a:extLst>
          </p:cNvPr>
          <p:cNvSpPr>
            <a:spLocks noGrp="1"/>
          </p:cNvSpPr>
          <p:nvPr>
            <p:ph type="title"/>
          </p:nvPr>
        </p:nvSpPr>
        <p:spPr/>
        <p:txBody>
          <a:bodyPr/>
          <a:lstStyle/>
          <a:p>
            <a:pPr algn="l" defTabSz="914400" rtl="0" eaLnBrk="1" latinLnBrk="0" hangingPunct="1">
              <a:lnSpc>
                <a:spcPct val="90000"/>
              </a:lnSpc>
              <a:spcBef>
                <a:spcPct val="0"/>
              </a:spcBef>
              <a:buNone/>
            </a:pPr>
            <a:r>
              <a:rPr lang="en-US" b="1" dirty="0"/>
              <a:t>Rewriting Literal Equations</a:t>
            </a:r>
            <a:r>
              <a:rPr lang="en-US" sz="4000" b="1" kern="1200" dirty="0">
                <a:solidFill>
                  <a:srgbClr val="2B8147"/>
                </a:solidFill>
                <a:effectLst/>
                <a:latin typeface="+mj-lt"/>
                <a:ea typeface="+mj-ea"/>
                <a:cs typeface="+mj-cs"/>
              </a:rPr>
              <a:t> </a:t>
            </a:r>
            <a:r>
              <a:rPr lang="en-US" sz="2000" b="1" kern="1200" dirty="0">
                <a:solidFill>
                  <a:schemeClr val="bg1"/>
                </a:solidFill>
                <a:latin typeface="+mj-lt"/>
                <a:ea typeface="+mj-ea"/>
                <a:cs typeface="+mj-cs"/>
              </a:rPr>
              <a:t>(4 of 11)</a:t>
            </a:r>
          </a:p>
        </p:txBody>
      </p:sp>
      <p:pic>
        <p:nvPicPr>
          <p:cNvPr id="3" name="Picture 2" descr="Who's correct problem.">
            <a:extLst>
              <a:ext uri="{FF2B5EF4-FFF2-40B4-BE49-F238E27FC236}">
                <a16:creationId xmlns:a16="http://schemas.microsoft.com/office/drawing/2014/main" id="{36543AF1-AD5B-A941-C050-D5AB39450E61}"/>
              </a:ext>
              <a:ext uri="{C183D7F6-B498-43B3-948B-1728B52AA6E4}">
                <adec:decorative xmlns:adec="http://schemas.microsoft.com/office/drawing/2017/decorative" val="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35668" y="1392865"/>
            <a:ext cx="9412177" cy="5172399"/>
          </a:xfrm>
          <a:prstGeom prst="rect">
            <a:avLst/>
          </a:prstGeom>
        </p:spPr>
      </p:pic>
      <p:sp>
        <p:nvSpPr>
          <p:cNvPr id="5" name="TextBox 4">
            <a:extLst>
              <a:ext uri="{FF2B5EF4-FFF2-40B4-BE49-F238E27FC236}">
                <a16:creationId xmlns:a16="http://schemas.microsoft.com/office/drawing/2014/main" id="{78ACAFFE-4F7E-711C-4E55-ED4077390CA7}"/>
              </a:ext>
            </a:extLst>
          </p:cNvPr>
          <p:cNvSpPr txBox="1"/>
          <p:nvPr/>
        </p:nvSpPr>
        <p:spPr>
          <a:xfrm>
            <a:off x="2442694" y="1937955"/>
            <a:ext cx="7498748" cy="2492990"/>
          </a:xfrm>
          <a:prstGeom prst="rect">
            <a:avLst/>
          </a:prstGeom>
          <a:noFill/>
        </p:spPr>
        <p:txBody>
          <a:bodyPr wrap="square" rtlCol="0">
            <a:spAutoFit/>
          </a:bodyPr>
          <a:lstStyle/>
          <a:p>
            <a:pPr marL="514350" indent="-514350" algn="l">
              <a:buFont typeface="+mj-lt"/>
              <a:buAutoNum type="arabicPeriod" startAt="2"/>
            </a:pPr>
            <a:r>
              <a:rPr lang="en-US" sz="2600" dirty="0">
                <a:solidFill>
                  <a:srgbClr val="000000"/>
                </a:solidFill>
              </a:rPr>
              <a:t>Jayden tells Mateo that the temperature where he lives is currently 77°F. Mateo tells Jayden that the temperature where he lives is currently 30°C. Jayden says it is warmer where he lives and Mateo says it is warmer where he lives. Who is correct? Explain your reasoning.</a:t>
            </a:r>
          </a:p>
        </p:txBody>
      </p:sp>
    </p:spTree>
    <p:extLst>
      <p:ext uri="{BB962C8B-B14F-4D97-AF65-F5344CB8AC3E}">
        <p14:creationId xmlns:p14="http://schemas.microsoft.com/office/powerpoint/2010/main" val="375971143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7EC432-76F7-2E24-19DE-429C8A13C10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53C8A9A8-5046-2D2E-FDD9-D8EB2B1FAF52}"/>
              </a:ext>
            </a:extLst>
          </p:cNvPr>
          <p:cNvSpPr>
            <a:spLocks noGrp="1"/>
          </p:cNvSpPr>
          <p:nvPr>
            <p:ph type="title"/>
          </p:nvPr>
        </p:nvSpPr>
        <p:spPr/>
        <p:txBody>
          <a:bodyPr/>
          <a:lstStyle/>
          <a:p>
            <a:pPr algn="l" defTabSz="914400" rtl="0" eaLnBrk="1" latinLnBrk="0" hangingPunct="1">
              <a:lnSpc>
                <a:spcPct val="90000"/>
              </a:lnSpc>
              <a:spcBef>
                <a:spcPct val="0"/>
              </a:spcBef>
              <a:buNone/>
            </a:pPr>
            <a:r>
              <a:rPr lang="en-US" b="1" dirty="0"/>
              <a:t>Rewriting Literal Equations</a:t>
            </a:r>
            <a:r>
              <a:rPr lang="en-US" sz="4000" b="1" kern="1200" dirty="0">
                <a:solidFill>
                  <a:srgbClr val="2B8147"/>
                </a:solidFill>
                <a:effectLst/>
                <a:latin typeface="+mj-lt"/>
                <a:ea typeface="+mj-ea"/>
                <a:cs typeface="+mj-cs"/>
              </a:rPr>
              <a:t> </a:t>
            </a:r>
            <a:r>
              <a:rPr lang="en-US" sz="2000" b="1" kern="1200" dirty="0">
                <a:solidFill>
                  <a:schemeClr val="bg1"/>
                </a:solidFill>
                <a:latin typeface="+mj-lt"/>
                <a:ea typeface="+mj-ea"/>
                <a:cs typeface="+mj-cs"/>
              </a:rPr>
              <a:t>(5 of 11)</a:t>
            </a:r>
          </a:p>
        </p:txBody>
      </p:sp>
      <p:sp>
        <p:nvSpPr>
          <p:cNvPr id="9" name="Text Placeholder 2">
            <a:extLst>
              <a:ext uri="{FF2B5EF4-FFF2-40B4-BE49-F238E27FC236}">
                <a16:creationId xmlns:a16="http://schemas.microsoft.com/office/drawing/2014/main" id="{25F15941-0591-0AF7-BF0C-DFBA5784E314}"/>
              </a:ext>
            </a:extLst>
          </p:cNvPr>
          <p:cNvSpPr txBox="1">
            <a:spLocks/>
          </p:cNvSpPr>
          <p:nvPr/>
        </p:nvSpPr>
        <p:spPr>
          <a:xfrm>
            <a:off x="734787" y="1616529"/>
            <a:ext cx="10466613" cy="1174882"/>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spcBef>
                <a:spcPts val="24"/>
              </a:spcBef>
              <a:buFont typeface="+mj-lt"/>
              <a:buAutoNum type="arabicPeriod" startAt="3"/>
            </a:pPr>
            <a:r>
              <a:rPr lang="en-US" sz="2800" dirty="0">
                <a:solidFill>
                  <a:srgbClr val="000000"/>
                </a:solidFill>
              </a:rPr>
              <a:t>Isabella, Ethan, and Minh each convert the given formula to degrees Fahrenheit.</a:t>
            </a:r>
          </a:p>
        </p:txBody>
      </p:sp>
      <p:pic>
        <p:nvPicPr>
          <p:cNvPr id="3" name="Picture 2" descr="Thumbs up problem.">
            <a:extLst>
              <a:ext uri="{FF2B5EF4-FFF2-40B4-BE49-F238E27FC236}">
                <a16:creationId xmlns:a16="http://schemas.microsoft.com/office/drawing/2014/main" id="{C1288FB0-25FC-1702-A41E-3C19EC04E60F}"/>
              </a:ext>
            </a:extLst>
          </p:cNvPr>
          <p:cNvPicPr>
            <a:picLocks noChangeAspect="1"/>
          </p:cNvPicPr>
          <p:nvPr/>
        </p:nvPicPr>
        <p:blipFill>
          <a:blip r:embed="rId3"/>
          <a:stretch>
            <a:fillRect/>
          </a:stretch>
        </p:blipFill>
        <p:spPr>
          <a:xfrm>
            <a:off x="1375568" y="2791411"/>
            <a:ext cx="3280539" cy="3295762"/>
          </a:xfrm>
          <a:prstGeom prst="rect">
            <a:avLst/>
          </a:prstGeom>
        </p:spPr>
      </p:pic>
      <p:sp>
        <p:nvSpPr>
          <p:cNvPr id="4" name="TextBox 3">
            <a:extLst>
              <a:ext uri="{FF2B5EF4-FFF2-40B4-BE49-F238E27FC236}">
                <a16:creationId xmlns:a16="http://schemas.microsoft.com/office/drawing/2014/main" id="{59438BA2-D049-66B8-C8B9-FE9A5CD51581}"/>
              </a:ext>
            </a:extLst>
          </p:cNvPr>
          <p:cNvSpPr txBox="1"/>
          <p:nvPr/>
        </p:nvSpPr>
        <p:spPr>
          <a:xfrm>
            <a:off x="5178056" y="2892056"/>
            <a:ext cx="5252484" cy="800219"/>
          </a:xfrm>
          <a:prstGeom prst="rect">
            <a:avLst/>
          </a:prstGeom>
          <a:noFill/>
        </p:spPr>
        <p:txBody>
          <a:bodyPr wrap="square" rtlCol="0">
            <a:spAutoFit/>
          </a:bodyPr>
          <a:lstStyle/>
          <a:p>
            <a:pPr marL="342900" indent="-342900">
              <a:buFont typeface="+mj-lt"/>
              <a:buAutoNum type="alphaLcPeriod"/>
            </a:pPr>
            <a:r>
              <a:rPr lang="en-US" sz="2800" dirty="0">
                <a:solidFill>
                  <a:srgbClr val="000000"/>
                </a:solidFill>
              </a:rPr>
              <a:t>Explain Isabella’s reasoning.</a:t>
            </a:r>
          </a:p>
          <a:p>
            <a:endParaRPr lang="en-US" dirty="0"/>
          </a:p>
        </p:txBody>
      </p:sp>
    </p:spTree>
    <p:extLst>
      <p:ext uri="{BB962C8B-B14F-4D97-AF65-F5344CB8AC3E}">
        <p14:creationId xmlns:p14="http://schemas.microsoft.com/office/powerpoint/2010/main" val="65377534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52C664-509A-1561-4C15-AE1A1E6BC54F}"/>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4CAD04DD-A495-50C0-0AAD-6BFA8F9BB6E9}"/>
              </a:ext>
            </a:extLst>
          </p:cNvPr>
          <p:cNvSpPr>
            <a:spLocks noGrp="1"/>
          </p:cNvSpPr>
          <p:nvPr>
            <p:ph type="title"/>
          </p:nvPr>
        </p:nvSpPr>
        <p:spPr/>
        <p:txBody>
          <a:bodyPr/>
          <a:lstStyle/>
          <a:p>
            <a:pPr algn="l" defTabSz="914400" rtl="0" eaLnBrk="1" latinLnBrk="0" hangingPunct="1">
              <a:lnSpc>
                <a:spcPct val="90000"/>
              </a:lnSpc>
              <a:spcBef>
                <a:spcPct val="0"/>
              </a:spcBef>
              <a:buNone/>
            </a:pPr>
            <a:r>
              <a:rPr lang="en-US" b="1" dirty="0"/>
              <a:t>Rewriting Literal Equations</a:t>
            </a:r>
            <a:r>
              <a:rPr lang="en-US" sz="4000" b="1" kern="1200" dirty="0">
                <a:solidFill>
                  <a:srgbClr val="2B8147"/>
                </a:solidFill>
                <a:effectLst/>
                <a:latin typeface="+mj-lt"/>
                <a:ea typeface="+mj-ea"/>
                <a:cs typeface="+mj-cs"/>
              </a:rPr>
              <a:t> </a:t>
            </a:r>
            <a:r>
              <a:rPr lang="en-US" sz="2000" b="1" kern="1200" dirty="0">
                <a:solidFill>
                  <a:schemeClr val="bg1"/>
                </a:solidFill>
                <a:latin typeface="+mj-lt"/>
                <a:ea typeface="+mj-ea"/>
                <a:cs typeface="+mj-cs"/>
              </a:rPr>
              <a:t>(6 of 11)</a:t>
            </a:r>
          </a:p>
        </p:txBody>
      </p:sp>
      <p:pic>
        <p:nvPicPr>
          <p:cNvPr id="3" name="Picture 2" descr="Thumbs down problem.">
            <a:extLst>
              <a:ext uri="{FF2B5EF4-FFF2-40B4-BE49-F238E27FC236}">
                <a16:creationId xmlns:a16="http://schemas.microsoft.com/office/drawing/2014/main" id="{7EF9DE5A-5DC7-324B-DD47-5DF0F436CD67}"/>
              </a:ext>
            </a:extLst>
          </p:cNvPr>
          <p:cNvPicPr>
            <a:picLocks noChangeAspect="1"/>
          </p:cNvPicPr>
          <p:nvPr/>
        </p:nvPicPr>
        <p:blipFill>
          <a:blip r:embed="rId3"/>
          <a:stretch>
            <a:fillRect/>
          </a:stretch>
        </p:blipFill>
        <p:spPr>
          <a:xfrm>
            <a:off x="2302446" y="1741250"/>
            <a:ext cx="3191320" cy="3400900"/>
          </a:xfrm>
          <a:prstGeom prst="rect">
            <a:avLst/>
          </a:prstGeom>
        </p:spPr>
      </p:pic>
      <p:cxnSp>
        <p:nvCxnSpPr>
          <p:cNvPr id="6" name="Straight Connector 5">
            <a:extLst>
              <a:ext uri="{FF2B5EF4-FFF2-40B4-BE49-F238E27FC236}">
                <a16:creationId xmlns:a16="http://schemas.microsoft.com/office/drawing/2014/main" id="{101A04E2-D059-4BCB-5D6C-CCFD122D4BA5}"/>
              </a:ext>
              <a:ext uri="{C183D7F6-B498-43B3-948B-1728B52AA6E4}">
                <adec:decorative xmlns:adec="http://schemas.microsoft.com/office/drawing/2017/decorative" val="1"/>
              </a:ext>
            </a:extLst>
          </p:cNvPr>
          <p:cNvCxnSpPr>
            <a:cxnSpLocks/>
          </p:cNvCxnSpPr>
          <p:nvPr/>
        </p:nvCxnSpPr>
        <p:spPr>
          <a:xfrm>
            <a:off x="5864224" y="1791759"/>
            <a:ext cx="0" cy="4572000"/>
          </a:xfrm>
          <a:prstGeom prst="line">
            <a:avLst/>
          </a:prstGeom>
          <a:ln w="31750">
            <a:solidFill>
              <a:srgbClr val="236739"/>
            </a:solidFill>
            <a:prstDash val="sysDot"/>
          </a:ln>
        </p:spPr>
        <p:style>
          <a:lnRef idx="2">
            <a:schemeClr val="dk1"/>
          </a:lnRef>
          <a:fillRef idx="0">
            <a:schemeClr val="dk1"/>
          </a:fillRef>
          <a:effectRef idx="1">
            <a:schemeClr val="dk1"/>
          </a:effectRef>
          <a:fontRef idx="minor">
            <a:schemeClr val="tx1"/>
          </a:fontRef>
        </p:style>
      </p:cxnSp>
      <p:pic>
        <p:nvPicPr>
          <p:cNvPr id="5" name="Picture 4" descr="Thumbs down problem.">
            <a:extLst>
              <a:ext uri="{FF2B5EF4-FFF2-40B4-BE49-F238E27FC236}">
                <a16:creationId xmlns:a16="http://schemas.microsoft.com/office/drawing/2014/main" id="{29AB9BF1-5F44-4633-2C75-B8AE7466B19B}"/>
              </a:ext>
            </a:extLst>
          </p:cNvPr>
          <p:cNvPicPr>
            <a:picLocks noChangeAspect="1"/>
          </p:cNvPicPr>
          <p:nvPr/>
        </p:nvPicPr>
        <p:blipFill>
          <a:blip r:embed="rId4"/>
          <a:stretch>
            <a:fillRect/>
          </a:stretch>
        </p:blipFill>
        <p:spPr>
          <a:xfrm>
            <a:off x="6234682" y="1742839"/>
            <a:ext cx="3200847" cy="3372321"/>
          </a:xfrm>
          <a:prstGeom prst="rect">
            <a:avLst/>
          </a:prstGeom>
        </p:spPr>
      </p:pic>
    </p:spTree>
    <p:extLst>
      <p:ext uri="{BB962C8B-B14F-4D97-AF65-F5344CB8AC3E}">
        <p14:creationId xmlns:p14="http://schemas.microsoft.com/office/powerpoint/2010/main" val="23948393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D81AE3-50F6-1309-C0D3-656D4E7B4AAC}"/>
            </a:ext>
          </a:extLst>
        </p:cNvPr>
        <p:cNvGrpSpPr/>
        <p:nvPr/>
      </p:nvGrpSpPr>
      <p:grpSpPr>
        <a:xfrm>
          <a:off x="0" y="0"/>
          <a:ext cx="0" cy="0"/>
          <a:chOff x="0" y="0"/>
          <a:chExt cx="0" cy="0"/>
        </a:xfrm>
      </p:grpSpPr>
      <p:sp>
        <p:nvSpPr>
          <p:cNvPr id="15" name="Title 2">
            <a:extLst>
              <a:ext uri="{FF2B5EF4-FFF2-40B4-BE49-F238E27FC236}">
                <a16:creationId xmlns:a16="http://schemas.microsoft.com/office/drawing/2014/main" id="{5E0394C5-6646-5BD9-4192-48D0705EA6E0}"/>
              </a:ext>
            </a:extLst>
          </p:cNvPr>
          <p:cNvSpPr>
            <a:spLocks noGrp="1"/>
          </p:cNvSpPr>
          <p:nvPr>
            <p:ph type="title"/>
          </p:nvPr>
        </p:nvSpPr>
        <p:spPr>
          <a:xfrm>
            <a:off x="777240" y="1"/>
            <a:ext cx="11425482" cy="1263192"/>
          </a:xfrm>
        </p:spPr>
        <p:txBody>
          <a:bodyPr/>
          <a:lstStyle/>
          <a:p>
            <a:pPr algn="l" defTabSz="914400" rtl="0" eaLnBrk="1" latinLnBrk="0" hangingPunct="1">
              <a:lnSpc>
                <a:spcPct val="90000"/>
              </a:lnSpc>
              <a:spcBef>
                <a:spcPct val="0"/>
              </a:spcBef>
              <a:buNone/>
            </a:pPr>
            <a:r>
              <a:rPr lang="en-US" b="1" dirty="0"/>
              <a:t>Rewriting Literal Equations</a:t>
            </a:r>
            <a:r>
              <a:rPr lang="en-US" sz="4000" b="1" kern="1200" dirty="0">
                <a:solidFill>
                  <a:srgbClr val="2B8147"/>
                </a:solidFill>
                <a:effectLst/>
                <a:latin typeface="+mj-lt"/>
                <a:ea typeface="+mj-ea"/>
                <a:cs typeface="+mj-cs"/>
              </a:rPr>
              <a:t> </a:t>
            </a:r>
            <a:r>
              <a:rPr lang="en-US" sz="2000" b="1" kern="1200" dirty="0">
                <a:solidFill>
                  <a:schemeClr val="bg1"/>
                </a:solidFill>
                <a:latin typeface="+mj-lt"/>
                <a:ea typeface="+mj-ea"/>
                <a:cs typeface="+mj-cs"/>
              </a:rPr>
              <a:t>(7 of 11)</a:t>
            </a:r>
          </a:p>
        </p:txBody>
      </p:sp>
      <p:sp>
        <p:nvSpPr>
          <p:cNvPr id="6" name="Text Placeholder 2">
            <a:extLst>
              <a:ext uri="{FF2B5EF4-FFF2-40B4-BE49-F238E27FC236}">
                <a16:creationId xmlns:a16="http://schemas.microsoft.com/office/drawing/2014/main" id="{419D49B1-881A-ACB7-B72F-6D9AB4A1EBCB}"/>
              </a:ext>
            </a:extLst>
          </p:cNvPr>
          <p:cNvSpPr txBox="1">
            <a:spLocks/>
          </p:cNvSpPr>
          <p:nvPr/>
        </p:nvSpPr>
        <p:spPr>
          <a:xfrm>
            <a:off x="734788" y="1616529"/>
            <a:ext cx="4517695" cy="4716538"/>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spcBef>
                <a:spcPts val="24"/>
              </a:spcBef>
              <a:buFont typeface="+mj-lt"/>
              <a:buAutoNum type="alphaLcPeriod" startAt="2"/>
            </a:pPr>
            <a:r>
              <a:rPr lang="en-US" sz="2800" dirty="0">
                <a:solidFill>
                  <a:srgbClr val="000000"/>
                </a:solidFill>
              </a:rPr>
              <a:t>Explain the error in Ethan’s work.</a:t>
            </a:r>
          </a:p>
        </p:txBody>
      </p:sp>
      <p:cxnSp>
        <p:nvCxnSpPr>
          <p:cNvPr id="10" name="Straight Connector 9">
            <a:extLst>
              <a:ext uri="{FF2B5EF4-FFF2-40B4-BE49-F238E27FC236}">
                <a16:creationId xmlns:a16="http://schemas.microsoft.com/office/drawing/2014/main" id="{FF60B01C-E5C5-F257-A1B7-5F9BB092720D}"/>
              </a:ext>
              <a:ext uri="{C183D7F6-B498-43B3-948B-1728B52AA6E4}">
                <adec:decorative xmlns:adec="http://schemas.microsoft.com/office/drawing/2017/decorative" val="1"/>
              </a:ext>
            </a:extLst>
          </p:cNvPr>
          <p:cNvCxnSpPr>
            <a:cxnSpLocks/>
          </p:cNvCxnSpPr>
          <p:nvPr/>
        </p:nvCxnSpPr>
        <p:spPr>
          <a:xfrm>
            <a:off x="5575921" y="1855555"/>
            <a:ext cx="0" cy="1296000"/>
          </a:xfrm>
          <a:prstGeom prst="line">
            <a:avLst/>
          </a:prstGeom>
          <a:ln w="31750">
            <a:solidFill>
              <a:srgbClr val="236739"/>
            </a:solidFill>
            <a:prstDash val="sysDot"/>
          </a:ln>
        </p:spPr>
        <p:style>
          <a:lnRef idx="2">
            <a:schemeClr val="dk1"/>
          </a:lnRef>
          <a:fillRef idx="0">
            <a:schemeClr val="dk1"/>
          </a:fillRef>
          <a:effectRef idx="1">
            <a:schemeClr val="dk1"/>
          </a:effectRef>
          <a:fontRef idx="minor">
            <a:schemeClr val="tx1"/>
          </a:fontRef>
        </p:style>
      </p:cxnSp>
      <p:sp>
        <p:nvSpPr>
          <p:cNvPr id="11" name="Text Placeholder 2">
            <a:extLst>
              <a:ext uri="{FF2B5EF4-FFF2-40B4-BE49-F238E27FC236}">
                <a16:creationId xmlns:a16="http://schemas.microsoft.com/office/drawing/2014/main" id="{2834C263-86F8-AA33-C159-EFAE5CF7A0DB}"/>
              </a:ext>
            </a:extLst>
          </p:cNvPr>
          <p:cNvSpPr txBox="1">
            <a:spLocks/>
          </p:cNvSpPr>
          <p:nvPr/>
        </p:nvSpPr>
        <p:spPr>
          <a:xfrm>
            <a:off x="6121400" y="1587500"/>
            <a:ext cx="4341036" cy="1244599"/>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buFont typeface="+mj-lt"/>
              <a:buAutoNum type="alphaLcPeriod" startAt="3"/>
            </a:pPr>
            <a:r>
              <a:rPr lang="en-US" sz="2800" dirty="0">
                <a:solidFill>
                  <a:srgbClr val="000000"/>
                </a:solidFill>
              </a:rPr>
              <a:t>Explain the error in Minh’s work.</a:t>
            </a:r>
            <a:endParaRPr lang="es-ES" sz="2800" dirty="0">
              <a:solidFill>
                <a:srgbClr val="000000"/>
              </a:solidFill>
            </a:endParaRPr>
          </a:p>
          <a:p>
            <a:pPr marL="466344" indent="0">
              <a:buFont typeface="+mj-lt"/>
              <a:buAutoNum type="alphaLcPeriod"/>
            </a:pPr>
            <a:endParaRPr lang="es-ES" sz="2800" dirty="0">
              <a:solidFill>
                <a:srgbClr val="000000"/>
              </a:solidFill>
            </a:endParaRPr>
          </a:p>
          <a:p>
            <a:pPr marL="0" indent="0">
              <a:buNone/>
            </a:pPr>
            <a:endParaRPr lang="en-US" sz="2800" dirty="0">
              <a:solidFill>
                <a:srgbClr val="000000"/>
              </a:solidFill>
            </a:endParaRPr>
          </a:p>
        </p:txBody>
      </p:sp>
    </p:spTree>
    <p:extLst>
      <p:ext uri="{BB962C8B-B14F-4D97-AF65-F5344CB8AC3E}">
        <p14:creationId xmlns:p14="http://schemas.microsoft.com/office/powerpoint/2010/main" val="328664050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2334C5-CE38-1005-45F6-E049077EB357}"/>
            </a:ext>
          </a:extLst>
        </p:cNvPr>
        <p:cNvGrpSpPr/>
        <p:nvPr/>
      </p:nvGrpSpPr>
      <p:grpSpPr>
        <a:xfrm>
          <a:off x="0" y="0"/>
          <a:ext cx="0" cy="0"/>
          <a:chOff x="0" y="0"/>
          <a:chExt cx="0" cy="0"/>
        </a:xfrm>
      </p:grpSpPr>
      <p:sp>
        <p:nvSpPr>
          <p:cNvPr id="7" name="Title 2">
            <a:extLst>
              <a:ext uri="{FF2B5EF4-FFF2-40B4-BE49-F238E27FC236}">
                <a16:creationId xmlns:a16="http://schemas.microsoft.com/office/drawing/2014/main" id="{D840211E-09AD-1861-54BE-D1244060903E}"/>
              </a:ext>
            </a:extLst>
          </p:cNvPr>
          <p:cNvSpPr>
            <a:spLocks noGrp="1"/>
          </p:cNvSpPr>
          <p:nvPr>
            <p:ph type="title"/>
          </p:nvPr>
        </p:nvSpPr>
        <p:spPr>
          <a:xfrm>
            <a:off x="777240" y="1"/>
            <a:ext cx="11425482" cy="1263192"/>
          </a:xfrm>
        </p:spPr>
        <p:txBody>
          <a:bodyPr/>
          <a:lstStyle/>
          <a:p>
            <a:pPr algn="l" defTabSz="914400" rtl="0" eaLnBrk="1" latinLnBrk="0" hangingPunct="1">
              <a:lnSpc>
                <a:spcPct val="90000"/>
              </a:lnSpc>
              <a:spcBef>
                <a:spcPct val="0"/>
              </a:spcBef>
              <a:buNone/>
            </a:pPr>
            <a:r>
              <a:rPr lang="en-US" b="1" dirty="0"/>
              <a:t>Rewriting Literal Equations</a:t>
            </a:r>
            <a:r>
              <a:rPr lang="en-US" sz="4000" b="1" kern="1200" dirty="0">
                <a:solidFill>
                  <a:srgbClr val="2B8147"/>
                </a:solidFill>
                <a:effectLst/>
                <a:latin typeface="+mj-lt"/>
                <a:ea typeface="+mj-ea"/>
                <a:cs typeface="+mj-cs"/>
              </a:rPr>
              <a:t> </a:t>
            </a:r>
            <a:r>
              <a:rPr lang="en-US" sz="2000" b="1" kern="1200" dirty="0">
                <a:solidFill>
                  <a:schemeClr val="bg1"/>
                </a:solidFill>
                <a:latin typeface="+mj-lt"/>
                <a:ea typeface="+mj-ea"/>
                <a:cs typeface="+mj-cs"/>
              </a:rPr>
              <a:t>(8 of 11)</a:t>
            </a:r>
          </a:p>
        </p:txBody>
      </p:sp>
      <p:sp>
        <p:nvSpPr>
          <p:cNvPr id="2" name="Rectangle: Rounded Corners 1">
            <a:extLst>
              <a:ext uri="{FF2B5EF4-FFF2-40B4-BE49-F238E27FC236}">
                <a16:creationId xmlns:a16="http://schemas.microsoft.com/office/drawing/2014/main" id="{07ED3D1B-11F7-DBF1-06B0-9D8E7B0EDF5E}"/>
              </a:ext>
              <a:ext uri="{C183D7F6-B498-43B3-948B-1728B52AA6E4}">
                <adec:decorative xmlns:adec="http://schemas.microsoft.com/office/drawing/2017/decorative" val="1"/>
              </a:ext>
            </a:extLst>
          </p:cNvPr>
          <p:cNvSpPr/>
          <p:nvPr/>
        </p:nvSpPr>
        <p:spPr>
          <a:xfrm>
            <a:off x="888999" y="1420585"/>
            <a:ext cx="10693401" cy="4929415"/>
          </a:xfrm>
          <a:prstGeom prst="roundRect">
            <a:avLst/>
          </a:prstGeom>
          <a:noFill/>
          <a:ln w="50800" cmpd="dbl">
            <a:solidFill>
              <a:schemeClr val="bg2">
                <a:lumMod val="50000"/>
              </a:schemeClr>
            </a:solidFill>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Worked Example">
            <a:extLst>
              <a:ext uri="{FF2B5EF4-FFF2-40B4-BE49-F238E27FC236}">
                <a16:creationId xmlns:a16="http://schemas.microsoft.com/office/drawing/2014/main" id="{E4807412-FB7B-CA86-FF95-B44B4A0803E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15466" y="1207206"/>
            <a:ext cx="2758679" cy="426757"/>
          </a:xfrm>
          <a:prstGeom prst="rect">
            <a:avLst/>
          </a:prstGeom>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DE318706-D06A-867A-E1AB-A68A91AF0320}"/>
                  </a:ext>
                </a:extLst>
              </p:cNvPr>
              <p:cNvSpPr txBox="1"/>
              <p:nvPr/>
            </p:nvSpPr>
            <p:spPr>
              <a:xfrm>
                <a:off x="1339845" y="1649198"/>
                <a:ext cx="10166355" cy="4688656"/>
              </a:xfrm>
              <a:prstGeom prst="rect">
                <a:avLst/>
              </a:prstGeom>
              <a:noFill/>
            </p:spPr>
            <p:txBody>
              <a:bodyPr wrap="square" rtlCol="0">
                <a:spAutoFit/>
              </a:bodyPr>
              <a:lstStyle/>
              <a:p>
                <a:pPr algn="l"/>
                <a:r>
                  <a:rPr lang="en-US" sz="2800" b="0" i="0" u="none" strike="noStrike" baseline="0" dirty="0">
                    <a:solidFill>
                      <a:srgbClr val="000000"/>
                    </a:solidFill>
                  </a:rPr>
                  <a:t>You can use multiplication to rewrite an equation without fractions.</a:t>
                </a:r>
              </a:p>
              <a:p>
                <a:pPr algn="l"/>
                <a:r>
                  <a:rPr lang="en-US" sz="2800" b="0" i="0" u="none" strike="noStrike" baseline="0" dirty="0">
                    <a:solidFill>
                      <a:srgbClr val="000000"/>
                    </a:solidFill>
                  </a:rPr>
                  <a:t>Consider the final equation from Isabella’s work.</a:t>
                </a:r>
              </a:p>
              <a:p>
                <a:pPr algn="l"/>
                <a:endParaRPr lang="en-US" sz="2800" dirty="0">
                  <a:solidFill>
                    <a:srgbClr val="000000"/>
                  </a:solidFill>
                </a:endParaRPr>
              </a:p>
              <a:p>
                <a:pPr algn="l"/>
                <a14:m>
                  <m:oMath xmlns:m="http://schemas.openxmlformats.org/officeDocument/2006/math">
                    <m:f>
                      <m:fPr>
                        <m:ctrlPr>
                          <a:rPr lang="en-US" sz="2800" i="1" dirty="0" smtClean="0">
                            <a:solidFill>
                              <a:srgbClr val="000000"/>
                            </a:solidFill>
                            <a:latin typeface="Cambria Math" panose="02040503050406030204" pitchFamily="18" charset="0"/>
                          </a:rPr>
                        </m:ctrlPr>
                      </m:fPr>
                      <m:num>
                        <m:r>
                          <a:rPr lang="en-IN" sz="2800" b="0" i="1" dirty="0" smtClean="0">
                            <a:solidFill>
                              <a:srgbClr val="000000"/>
                            </a:solidFill>
                            <a:latin typeface="Cambria Math" panose="02040503050406030204" pitchFamily="18" charset="0"/>
                          </a:rPr>
                          <m:t>9</m:t>
                        </m:r>
                      </m:num>
                      <m:den>
                        <m:r>
                          <a:rPr lang="en-IN" sz="2800" b="0" i="1" dirty="0" smtClean="0">
                            <a:solidFill>
                              <a:srgbClr val="000000"/>
                            </a:solidFill>
                            <a:latin typeface="Cambria Math" panose="02040503050406030204" pitchFamily="18" charset="0"/>
                          </a:rPr>
                          <m:t>5</m:t>
                        </m:r>
                      </m:den>
                    </m:f>
                    <m:r>
                      <a:rPr lang="en-US" sz="2800" b="0" i="1" dirty="0" smtClean="0">
                        <a:solidFill>
                          <a:srgbClr val="000000"/>
                        </a:solidFill>
                        <a:latin typeface="Cambria Math" panose="02040503050406030204" pitchFamily="18" charset="0"/>
                      </a:rPr>
                      <m:t>𝐶</m:t>
                    </m:r>
                    <m:r>
                      <a:rPr lang="en-US" sz="2800" b="0" i="1" dirty="0" smtClean="0">
                        <a:solidFill>
                          <a:srgbClr val="000000"/>
                        </a:solidFill>
                        <a:latin typeface="Cambria Math" panose="02040503050406030204" pitchFamily="18" charset="0"/>
                      </a:rPr>
                      <m:t>+32</m:t>
                    </m:r>
                    <m:r>
                      <a:rPr lang="en-US" sz="2800" b="0" i="0" dirty="0" smtClean="0">
                        <a:solidFill>
                          <a:srgbClr val="000000"/>
                        </a:solidFill>
                        <a:latin typeface="Cambria Math" panose="02040503050406030204" pitchFamily="18" charset="0"/>
                      </a:rPr>
                      <m:t>=</m:t>
                    </m:r>
                    <m:r>
                      <a:rPr lang="en-US" sz="2800" b="0" i="1" dirty="0" smtClean="0">
                        <a:solidFill>
                          <a:srgbClr val="000000"/>
                        </a:solidFill>
                        <a:latin typeface="Cambria Math" panose="02040503050406030204" pitchFamily="18" charset="0"/>
                      </a:rPr>
                      <m:t>𝐹</m:t>
                    </m:r>
                  </m:oMath>
                </a14:m>
                <a:r>
                  <a:rPr lang="en-US" sz="2800" dirty="0">
                    <a:solidFill>
                      <a:srgbClr val="000000"/>
                    </a:solidFill>
                  </a:rPr>
                  <a:t>  </a:t>
                </a:r>
              </a:p>
              <a:p>
                <a:pPr/>
                <a14:m>
                  <m:oMathPara xmlns:m="http://schemas.openxmlformats.org/officeDocument/2006/math">
                    <m:oMathParaPr>
                      <m:jc m:val="left"/>
                    </m:oMathParaPr>
                    <m:oMath xmlns:m="http://schemas.openxmlformats.org/officeDocument/2006/math">
                      <m:r>
                        <a:rPr lang="en-US" sz="2800" b="0" i="0" smtClean="0">
                          <a:solidFill>
                            <a:srgbClr val="000000"/>
                          </a:solidFill>
                          <a:latin typeface="Cambria Math" panose="02040503050406030204" pitchFamily="18" charset="0"/>
                        </a:rPr>
                        <m:t>5</m:t>
                      </m:r>
                      <m:d>
                        <m:dPr>
                          <m:ctrlPr>
                            <a:rPr lang="en-US" sz="2800" i="1" smtClean="0">
                              <a:solidFill>
                                <a:srgbClr val="000000"/>
                              </a:solidFill>
                              <a:latin typeface="Cambria Math" panose="02040503050406030204" pitchFamily="18" charset="0"/>
                            </a:rPr>
                          </m:ctrlPr>
                        </m:dPr>
                        <m:e>
                          <m:f>
                            <m:fPr>
                              <m:ctrlPr>
                                <a:rPr lang="en-US" sz="2800" i="1" dirty="0">
                                  <a:solidFill>
                                    <a:srgbClr val="000000"/>
                                  </a:solidFill>
                                  <a:latin typeface="Cambria Math" panose="02040503050406030204" pitchFamily="18" charset="0"/>
                                </a:rPr>
                              </m:ctrlPr>
                            </m:fPr>
                            <m:num>
                              <m:r>
                                <a:rPr lang="en-IN" sz="2800" b="0" i="1" dirty="0" smtClean="0">
                                  <a:solidFill>
                                    <a:srgbClr val="000000"/>
                                  </a:solidFill>
                                  <a:latin typeface="Cambria Math" panose="02040503050406030204" pitchFamily="18" charset="0"/>
                                </a:rPr>
                                <m:t>9</m:t>
                              </m:r>
                            </m:num>
                            <m:den>
                              <m:r>
                                <a:rPr lang="en-IN" sz="2800" b="0" i="1" dirty="0" smtClean="0">
                                  <a:solidFill>
                                    <a:srgbClr val="000000"/>
                                  </a:solidFill>
                                  <a:latin typeface="Cambria Math" panose="02040503050406030204" pitchFamily="18" charset="0"/>
                                </a:rPr>
                                <m:t>5</m:t>
                              </m:r>
                            </m:den>
                          </m:f>
                          <m:r>
                            <a:rPr lang="en-US" sz="2800" i="1" dirty="0">
                              <a:solidFill>
                                <a:srgbClr val="000000"/>
                              </a:solidFill>
                              <a:latin typeface="Cambria Math" panose="02040503050406030204" pitchFamily="18" charset="0"/>
                            </a:rPr>
                            <m:t>𝐶</m:t>
                          </m:r>
                          <m:r>
                            <a:rPr lang="en-US" sz="2800" i="1" dirty="0">
                              <a:solidFill>
                                <a:srgbClr val="000000"/>
                              </a:solidFill>
                              <a:latin typeface="Cambria Math" panose="02040503050406030204" pitchFamily="18" charset="0"/>
                            </a:rPr>
                            <m:t>+32</m:t>
                          </m:r>
                        </m:e>
                      </m:d>
                      <m:r>
                        <a:rPr lang="en-US" sz="2800" dirty="0">
                          <a:solidFill>
                            <a:srgbClr val="000000"/>
                          </a:solidFill>
                          <a:latin typeface="Cambria Math" panose="02040503050406030204" pitchFamily="18" charset="0"/>
                        </a:rPr>
                        <m:t>=</m:t>
                      </m:r>
                      <m:r>
                        <a:rPr lang="en-US" sz="2800" b="0" i="0" dirty="0" smtClean="0">
                          <a:solidFill>
                            <a:srgbClr val="000000"/>
                          </a:solidFill>
                          <a:latin typeface="Cambria Math" panose="02040503050406030204" pitchFamily="18" charset="0"/>
                        </a:rPr>
                        <m:t>(5)</m:t>
                      </m:r>
                      <m:r>
                        <a:rPr lang="en-US" sz="2800" i="1" dirty="0">
                          <a:solidFill>
                            <a:srgbClr val="000000"/>
                          </a:solidFill>
                          <a:latin typeface="Cambria Math" panose="02040503050406030204" pitchFamily="18" charset="0"/>
                        </a:rPr>
                        <m:t>𝐹</m:t>
                      </m:r>
                    </m:oMath>
                  </m:oMathPara>
                </a14:m>
                <a:endParaRPr lang="en-US" sz="2800" i="1" dirty="0">
                  <a:solidFill>
                    <a:srgbClr val="000000"/>
                  </a:solidFill>
                </a:endParaRPr>
              </a:p>
              <a:p>
                <a:endParaRPr lang="en-US" sz="2800" dirty="0">
                  <a:solidFill>
                    <a:srgbClr val="000000"/>
                  </a:solidFill>
                </a:endParaRPr>
              </a:p>
              <a:p>
                <a:pPr/>
                <a14:m>
                  <m:oMathPara xmlns:m="http://schemas.openxmlformats.org/officeDocument/2006/math">
                    <m:oMathParaPr>
                      <m:jc m:val="left"/>
                    </m:oMathParaPr>
                    <m:oMath xmlns:m="http://schemas.openxmlformats.org/officeDocument/2006/math">
                      <m:r>
                        <a:rPr lang="en-US" sz="2800" i="1" dirty="0" smtClean="0">
                          <a:solidFill>
                            <a:srgbClr val="000000"/>
                          </a:solidFill>
                          <a:latin typeface="Cambria Math" panose="02040503050406030204" pitchFamily="18" charset="0"/>
                        </a:rPr>
                        <m:t>9</m:t>
                      </m:r>
                      <m:r>
                        <a:rPr lang="en-US" sz="2800" i="1" dirty="0" smtClean="0">
                          <a:solidFill>
                            <a:srgbClr val="000000"/>
                          </a:solidFill>
                          <a:latin typeface="Cambria Math" panose="02040503050406030204" pitchFamily="18" charset="0"/>
                        </a:rPr>
                        <m:t>𝐶</m:t>
                      </m:r>
                      <m:r>
                        <a:rPr lang="en-US" sz="2800" b="0" i="1" dirty="0" smtClean="0">
                          <a:solidFill>
                            <a:srgbClr val="000000"/>
                          </a:solidFill>
                          <a:latin typeface="Cambria Math" panose="02040503050406030204" pitchFamily="18" charset="0"/>
                        </a:rPr>
                        <m:t>+160=</m:t>
                      </m:r>
                      <m:r>
                        <a:rPr lang="en-IN" sz="2800" b="0" i="1" dirty="0" smtClean="0">
                          <a:solidFill>
                            <a:srgbClr val="000000"/>
                          </a:solidFill>
                          <a:latin typeface="Cambria Math" panose="02040503050406030204" pitchFamily="18" charset="0"/>
                        </a:rPr>
                        <m:t>5</m:t>
                      </m:r>
                      <m:r>
                        <a:rPr lang="en-US" sz="2800" i="1" dirty="0" smtClean="0">
                          <a:solidFill>
                            <a:srgbClr val="000000"/>
                          </a:solidFill>
                          <a:latin typeface="Cambria Math" panose="02040503050406030204" pitchFamily="18" charset="0"/>
                        </a:rPr>
                        <m:t>𝐹</m:t>
                      </m:r>
                    </m:oMath>
                  </m:oMathPara>
                </a14:m>
                <a:endParaRPr lang="en-US" sz="2800" dirty="0">
                  <a:solidFill>
                    <a:srgbClr val="000000"/>
                  </a:solidFill>
                </a:endParaRPr>
              </a:p>
              <a:p>
                <a:pPr/>
                <a14:m>
                  <m:oMathPara xmlns:m="http://schemas.openxmlformats.org/officeDocument/2006/math">
                    <m:oMathParaPr>
                      <m:jc m:val="left"/>
                    </m:oMathParaPr>
                    <m:oMath xmlns:m="http://schemas.openxmlformats.org/officeDocument/2006/math">
                      <m:r>
                        <a:rPr lang="en-US" sz="2800" i="1" dirty="0" smtClean="0">
                          <a:solidFill>
                            <a:srgbClr val="000000"/>
                          </a:solidFill>
                          <a:latin typeface="Cambria Math" panose="02040503050406030204" pitchFamily="18" charset="0"/>
                        </a:rPr>
                        <m:t>160</m:t>
                      </m:r>
                      <m:r>
                        <a:rPr lang="en-US" sz="2800" b="0" i="1" dirty="0" smtClean="0">
                          <a:solidFill>
                            <a:srgbClr val="000000"/>
                          </a:solidFill>
                          <a:latin typeface="Cambria Math" panose="02040503050406030204" pitchFamily="18" charset="0"/>
                        </a:rPr>
                        <m:t>=</m:t>
                      </m:r>
                      <m:r>
                        <a:rPr lang="en-US" sz="2800" i="1" dirty="0" smtClean="0">
                          <a:solidFill>
                            <a:srgbClr val="000000"/>
                          </a:solidFill>
                          <a:latin typeface="Cambria Math" panose="02040503050406030204" pitchFamily="18" charset="0"/>
                        </a:rPr>
                        <m:t>5</m:t>
                      </m:r>
                      <m:r>
                        <a:rPr lang="en-US" sz="2800" i="1" dirty="0" smtClean="0">
                          <a:solidFill>
                            <a:srgbClr val="000000"/>
                          </a:solidFill>
                          <a:latin typeface="Cambria Math" panose="02040503050406030204" pitchFamily="18" charset="0"/>
                        </a:rPr>
                        <m:t>𝐹</m:t>
                      </m:r>
                      <m:r>
                        <a:rPr lang="en-US" sz="2800" b="0" i="1" dirty="0" smtClean="0">
                          <a:solidFill>
                            <a:srgbClr val="000000"/>
                          </a:solidFill>
                          <a:latin typeface="Cambria Math" panose="02040503050406030204" pitchFamily="18" charset="0"/>
                        </a:rPr>
                        <m:t>–</m:t>
                      </m:r>
                      <m:r>
                        <a:rPr lang="en-US" sz="2800" i="1" dirty="0" smtClean="0">
                          <a:solidFill>
                            <a:srgbClr val="000000"/>
                          </a:solidFill>
                          <a:latin typeface="Cambria Math" panose="02040503050406030204" pitchFamily="18" charset="0"/>
                        </a:rPr>
                        <m:t>9</m:t>
                      </m:r>
                      <m:r>
                        <a:rPr lang="en-US" sz="2800" i="1" dirty="0" smtClean="0">
                          <a:solidFill>
                            <a:srgbClr val="000000"/>
                          </a:solidFill>
                          <a:latin typeface="Cambria Math" panose="02040503050406030204" pitchFamily="18" charset="0"/>
                        </a:rPr>
                        <m:t>𝐶</m:t>
                      </m:r>
                    </m:oMath>
                  </m:oMathPara>
                </a14:m>
                <a:endParaRPr lang="en-US" sz="2800" dirty="0">
                  <a:solidFill>
                    <a:srgbClr val="000000"/>
                  </a:solidFill>
                </a:endParaRPr>
              </a:p>
              <a:p>
                <a:endParaRPr lang="en-US" sz="2800" dirty="0">
                  <a:solidFill>
                    <a:srgbClr val="000000"/>
                  </a:solidFill>
                </a:endParaRPr>
              </a:p>
            </p:txBody>
          </p:sp>
        </mc:Choice>
        <mc:Fallback xmlns="">
          <p:sp>
            <p:nvSpPr>
              <p:cNvPr id="5" name="TextBox 4">
                <a:extLst>
                  <a:ext uri="{FF2B5EF4-FFF2-40B4-BE49-F238E27FC236}">
                    <a16:creationId xmlns:a16="http://schemas.microsoft.com/office/drawing/2014/main" id="{DE318706-D06A-867A-E1AB-A68A91AF0320}"/>
                  </a:ext>
                </a:extLst>
              </p:cNvPr>
              <p:cNvSpPr txBox="1">
                <a:spLocks noRot="1" noChangeAspect="1" noMove="1" noResize="1" noEditPoints="1" noAdjustHandles="1" noChangeArrowheads="1" noChangeShapeType="1" noTextEdit="1"/>
              </p:cNvSpPr>
              <p:nvPr/>
            </p:nvSpPr>
            <p:spPr>
              <a:xfrm>
                <a:off x="1339845" y="1649198"/>
                <a:ext cx="10166355" cy="4688656"/>
              </a:xfrm>
              <a:prstGeom prst="rect">
                <a:avLst/>
              </a:prstGeom>
              <a:blipFill>
                <a:blip r:embed="rId4"/>
                <a:stretch>
                  <a:fillRect l="-1259" t="-1300"/>
                </a:stretch>
              </a:blipFill>
            </p:spPr>
            <p:txBody>
              <a:bodyPr/>
              <a:lstStyle/>
              <a:p>
                <a:r>
                  <a:rPr lang="en-US">
                    <a:noFill/>
                  </a:rPr>
                  <a:t> </a:t>
                </a:r>
              </a:p>
            </p:txBody>
          </p:sp>
        </mc:Fallback>
      </mc:AlternateContent>
      <p:sp>
        <p:nvSpPr>
          <p:cNvPr id="6" name="Text Placeholder 2">
            <a:extLst>
              <a:ext uri="{FF2B5EF4-FFF2-40B4-BE49-F238E27FC236}">
                <a16:creationId xmlns:a16="http://schemas.microsoft.com/office/drawing/2014/main" id="{F88DD73F-369B-7995-29CE-05C0543DDF8D}"/>
              </a:ext>
            </a:extLst>
          </p:cNvPr>
          <p:cNvSpPr txBox="1">
            <a:spLocks/>
          </p:cNvSpPr>
          <p:nvPr/>
        </p:nvSpPr>
        <p:spPr>
          <a:xfrm>
            <a:off x="4769127" y="3627663"/>
            <a:ext cx="6737073" cy="2346981"/>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spcBef>
                <a:spcPts val="24"/>
              </a:spcBef>
              <a:buNone/>
            </a:pPr>
            <a:r>
              <a:rPr lang="en-US" sz="2800" dirty="0">
                <a:solidFill>
                  <a:srgbClr val="000000"/>
                </a:solidFill>
              </a:rPr>
              <a:t>Multiply both sides of the equation by 5 to</a:t>
            </a:r>
          </a:p>
          <a:p>
            <a:pPr marL="0" indent="0">
              <a:spcBef>
                <a:spcPts val="24"/>
              </a:spcBef>
              <a:buNone/>
            </a:pPr>
            <a:r>
              <a:rPr lang="en-US" sz="2800" dirty="0">
                <a:solidFill>
                  <a:srgbClr val="000000"/>
                </a:solidFill>
              </a:rPr>
              <a:t>eliminate the fraction.</a:t>
            </a:r>
          </a:p>
          <a:p>
            <a:pPr marL="0" indent="0">
              <a:spcBef>
                <a:spcPts val="24"/>
              </a:spcBef>
              <a:buNone/>
            </a:pPr>
            <a:endParaRPr lang="en-US" sz="2800" dirty="0">
              <a:solidFill>
                <a:srgbClr val="000000"/>
              </a:solidFill>
            </a:endParaRPr>
          </a:p>
          <a:p>
            <a:pPr marL="0" indent="0">
              <a:spcBef>
                <a:spcPts val="24"/>
              </a:spcBef>
              <a:buNone/>
            </a:pPr>
            <a:r>
              <a:rPr lang="en-US" sz="2800" dirty="0">
                <a:solidFill>
                  <a:srgbClr val="000000"/>
                </a:solidFill>
              </a:rPr>
              <a:t>Subtract 9</a:t>
            </a:r>
            <a:r>
              <a:rPr lang="en-US" sz="2800" i="1" dirty="0">
                <a:solidFill>
                  <a:srgbClr val="000000"/>
                </a:solidFill>
              </a:rPr>
              <a:t>C</a:t>
            </a:r>
            <a:r>
              <a:rPr lang="en-US" sz="2800" dirty="0">
                <a:solidFill>
                  <a:srgbClr val="000000"/>
                </a:solidFill>
              </a:rPr>
              <a:t> from both sides of the equation.</a:t>
            </a:r>
            <a:br>
              <a:rPr lang="en-US" sz="2800" dirty="0">
                <a:solidFill>
                  <a:srgbClr val="000000"/>
                </a:solidFill>
              </a:rPr>
            </a:br>
            <a:endParaRPr lang="en-US" sz="2800" dirty="0">
              <a:solidFill>
                <a:srgbClr val="000000"/>
              </a:solidFill>
            </a:endParaRPr>
          </a:p>
          <a:p>
            <a:pPr marL="0" indent="0">
              <a:spcBef>
                <a:spcPts val="24"/>
              </a:spcBef>
              <a:buNone/>
            </a:pPr>
            <a:endParaRPr lang="en-US" sz="2800" dirty="0">
              <a:solidFill>
                <a:srgbClr val="000000"/>
              </a:solidFill>
            </a:endParaRPr>
          </a:p>
        </p:txBody>
      </p:sp>
    </p:spTree>
    <p:extLst>
      <p:ext uri="{BB962C8B-B14F-4D97-AF65-F5344CB8AC3E}">
        <p14:creationId xmlns:p14="http://schemas.microsoft.com/office/powerpoint/2010/main" val="275395698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D3B6A5-00A4-DE63-328A-FC4C9EA5ADA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CB12C08-F09E-0A0B-B38A-6E5B9037BAB6}"/>
              </a:ext>
            </a:extLst>
          </p:cNvPr>
          <p:cNvSpPr>
            <a:spLocks noGrp="1"/>
          </p:cNvSpPr>
          <p:nvPr>
            <p:ph type="title"/>
          </p:nvPr>
        </p:nvSpPr>
        <p:spPr/>
        <p:txBody>
          <a:bodyPr/>
          <a:lstStyle/>
          <a:p>
            <a:pPr algn="l" defTabSz="914400" rtl="0" eaLnBrk="1" latinLnBrk="0" hangingPunct="1">
              <a:lnSpc>
                <a:spcPct val="90000"/>
              </a:lnSpc>
              <a:spcBef>
                <a:spcPct val="0"/>
              </a:spcBef>
              <a:buNone/>
            </a:pPr>
            <a:r>
              <a:rPr lang="en-US" b="1" dirty="0"/>
              <a:t>Rewriting Literal Equations</a:t>
            </a:r>
            <a:r>
              <a:rPr lang="en-US" sz="4000" b="1" kern="1200" dirty="0">
                <a:solidFill>
                  <a:srgbClr val="2B8147"/>
                </a:solidFill>
                <a:effectLst/>
                <a:latin typeface="+mj-lt"/>
                <a:ea typeface="+mj-ea"/>
                <a:cs typeface="+mj-cs"/>
              </a:rPr>
              <a:t> </a:t>
            </a:r>
            <a:r>
              <a:rPr lang="en-US" sz="2000" b="1" kern="1200" dirty="0">
                <a:solidFill>
                  <a:schemeClr val="bg1"/>
                </a:solidFill>
                <a:latin typeface="+mj-lt"/>
                <a:ea typeface="+mj-ea"/>
                <a:cs typeface="+mj-cs"/>
              </a:rPr>
              <a:t>(9 of 11)</a:t>
            </a:r>
          </a:p>
        </p:txBody>
      </p:sp>
      <mc:AlternateContent xmlns:mc="http://schemas.openxmlformats.org/markup-compatibility/2006" xmlns:a14="http://schemas.microsoft.com/office/drawing/2010/main">
        <mc:Choice Requires="a14">
          <p:sp>
            <p:nvSpPr>
              <p:cNvPr id="9" name="Text Placeholder 2">
                <a:extLst>
                  <a:ext uri="{FF2B5EF4-FFF2-40B4-BE49-F238E27FC236}">
                    <a16:creationId xmlns:a16="http://schemas.microsoft.com/office/drawing/2014/main" id="{B33759ED-4865-0C05-63DE-D01107317A76}"/>
                  </a:ext>
                </a:extLst>
              </p:cNvPr>
              <p:cNvSpPr txBox="1">
                <a:spLocks/>
              </p:cNvSpPr>
              <p:nvPr/>
            </p:nvSpPr>
            <p:spPr>
              <a:xfrm>
                <a:off x="734787" y="1616529"/>
                <a:ext cx="9935934" cy="4716538"/>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466344" indent="-466344">
                  <a:spcBef>
                    <a:spcPts val="24"/>
                  </a:spcBef>
                  <a:buFont typeface="+mj-lt"/>
                  <a:buAutoNum type="arabicPeriod" startAt="4"/>
                </a:pPr>
                <a:r>
                  <a:rPr lang="en-US" sz="2800" dirty="0">
                    <a:solidFill>
                      <a:srgbClr val="000000"/>
                    </a:solidFill>
                  </a:rPr>
                  <a:t>Use the strategy from the Worked Example to rewrite Isabella’s</a:t>
                </a:r>
              </a:p>
              <a:p>
                <a:pPr marL="0" indent="0">
                  <a:spcBef>
                    <a:spcPts val="24"/>
                  </a:spcBef>
                  <a:buNone/>
                </a:pPr>
                <a:r>
                  <a:rPr lang="en-US" sz="2800" dirty="0">
                    <a:solidFill>
                      <a:srgbClr val="000000"/>
                    </a:solidFill>
                  </a:rPr>
                  <a:t>      original equation </a:t>
                </a:r>
                <a14:m>
                  <m:oMath xmlns:m="http://schemas.openxmlformats.org/officeDocument/2006/math">
                    <m:r>
                      <a:rPr lang="en-US" sz="2800" b="0" i="1" dirty="0" smtClean="0">
                        <a:solidFill>
                          <a:srgbClr val="000000"/>
                        </a:solidFill>
                        <a:latin typeface="Cambria Math" panose="02040503050406030204" pitchFamily="18" charset="0"/>
                      </a:rPr>
                      <m:t>𝐶</m:t>
                    </m:r>
                    <m:r>
                      <a:rPr lang="en-US" sz="2800" b="0" i="0" dirty="0" smtClean="0">
                        <a:solidFill>
                          <a:srgbClr val="000000"/>
                        </a:solidFill>
                        <a:latin typeface="Cambria Math" panose="02040503050406030204" pitchFamily="18" charset="0"/>
                      </a:rPr>
                      <m:t>=</m:t>
                    </m:r>
                    <m:f>
                      <m:fPr>
                        <m:ctrlPr>
                          <a:rPr lang="en-US" sz="2800" i="1" dirty="0" smtClean="0">
                            <a:solidFill>
                              <a:srgbClr val="000000"/>
                            </a:solidFill>
                            <a:latin typeface="Cambria Math" panose="02040503050406030204" pitchFamily="18" charset="0"/>
                          </a:rPr>
                        </m:ctrlPr>
                      </m:fPr>
                      <m:num>
                        <m:r>
                          <a:rPr lang="en-US" sz="2800" b="0" i="1" dirty="0" smtClean="0">
                            <a:solidFill>
                              <a:srgbClr val="000000"/>
                            </a:solidFill>
                            <a:latin typeface="Cambria Math" panose="02040503050406030204" pitchFamily="18" charset="0"/>
                          </a:rPr>
                          <m:t>5</m:t>
                        </m:r>
                      </m:num>
                      <m:den>
                        <m:r>
                          <a:rPr lang="en-US" sz="2800" b="0" i="1" dirty="0" smtClean="0">
                            <a:solidFill>
                              <a:srgbClr val="000000"/>
                            </a:solidFill>
                            <a:latin typeface="Cambria Math" panose="02040503050406030204" pitchFamily="18" charset="0"/>
                          </a:rPr>
                          <m:t>9</m:t>
                        </m:r>
                      </m:den>
                    </m:f>
                    <m:r>
                      <a:rPr lang="en-US" sz="2800" b="0" i="1" dirty="0" smtClean="0">
                        <a:solidFill>
                          <a:srgbClr val="000000"/>
                        </a:solidFill>
                        <a:latin typeface="Cambria Math" panose="02040503050406030204" pitchFamily="18" charset="0"/>
                      </a:rPr>
                      <m:t>(</m:t>
                    </m:r>
                    <m:r>
                      <a:rPr lang="en-US" sz="2800" b="0" i="1" dirty="0" smtClean="0">
                        <a:solidFill>
                          <a:srgbClr val="000000"/>
                        </a:solidFill>
                        <a:latin typeface="Cambria Math" panose="02040503050406030204" pitchFamily="18" charset="0"/>
                      </a:rPr>
                      <m:t>𝐹</m:t>
                    </m:r>
                    <m:r>
                      <a:rPr lang="en-US" sz="2800" b="0" i="1" dirty="0" smtClean="0">
                        <a:solidFill>
                          <a:srgbClr val="000000"/>
                        </a:solidFill>
                        <a:latin typeface="Cambria Math" panose="02040503050406030204" pitchFamily="18" charset="0"/>
                      </a:rPr>
                      <m:t>–32)</m:t>
                    </m:r>
                  </m:oMath>
                </a14:m>
                <a:r>
                  <a:rPr lang="en-US" sz="2800" dirty="0">
                    <a:solidFill>
                      <a:srgbClr val="000000"/>
                    </a:solidFill>
                  </a:rPr>
                  <a:t> without fractions.</a:t>
                </a:r>
              </a:p>
            </p:txBody>
          </p:sp>
        </mc:Choice>
        <mc:Fallback xmlns="">
          <p:sp>
            <p:nvSpPr>
              <p:cNvPr id="9" name="Text Placeholder 2">
                <a:extLst>
                  <a:ext uri="{FF2B5EF4-FFF2-40B4-BE49-F238E27FC236}">
                    <a16:creationId xmlns:a16="http://schemas.microsoft.com/office/drawing/2014/main" id="{B33759ED-4865-0C05-63DE-D01107317A76}"/>
                  </a:ext>
                </a:extLst>
              </p:cNvPr>
              <p:cNvSpPr txBox="1">
                <a:spLocks noRot="1" noChangeAspect="1" noMove="1" noResize="1" noEditPoints="1" noAdjustHandles="1" noChangeArrowheads="1" noChangeShapeType="1" noTextEdit="1"/>
              </p:cNvSpPr>
              <p:nvPr/>
            </p:nvSpPr>
            <p:spPr>
              <a:xfrm>
                <a:off x="734787" y="1616529"/>
                <a:ext cx="9935934" cy="4716538"/>
              </a:xfrm>
              <a:prstGeom prst="rect">
                <a:avLst/>
              </a:prstGeom>
              <a:blipFill>
                <a:blip r:embed="rId3"/>
                <a:stretch>
                  <a:fillRect l="-1289" t="-1421"/>
                </a:stretch>
              </a:blipFill>
            </p:spPr>
            <p:txBody>
              <a:bodyPr/>
              <a:lstStyle/>
              <a:p>
                <a:r>
                  <a:rPr lang="en-US">
                    <a:noFill/>
                  </a:rPr>
                  <a:t> </a:t>
                </a:r>
              </a:p>
            </p:txBody>
          </p:sp>
        </mc:Fallback>
      </mc:AlternateContent>
    </p:spTree>
    <p:extLst>
      <p:ext uri="{BB962C8B-B14F-4D97-AF65-F5344CB8AC3E}">
        <p14:creationId xmlns:p14="http://schemas.microsoft.com/office/powerpoint/2010/main" val="166554446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B8D126-920B-9EB3-EA3C-CD9F4D43324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63B6174-E48E-031A-23DD-2266341FF809}"/>
              </a:ext>
            </a:extLst>
          </p:cNvPr>
          <p:cNvSpPr>
            <a:spLocks noGrp="1"/>
          </p:cNvSpPr>
          <p:nvPr>
            <p:ph type="title"/>
          </p:nvPr>
        </p:nvSpPr>
        <p:spPr/>
        <p:txBody>
          <a:bodyPr/>
          <a:lstStyle/>
          <a:p>
            <a:pPr algn="l" defTabSz="914400" rtl="0" eaLnBrk="1" latinLnBrk="0" hangingPunct="1">
              <a:lnSpc>
                <a:spcPct val="90000"/>
              </a:lnSpc>
              <a:spcBef>
                <a:spcPct val="0"/>
              </a:spcBef>
              <a:buNone/>
            </a:pPr>
            <a:r>
              <a:rPr lang="en-US" b="1" dirty="0"/>
              <a:t>Rewriting Literal Equations </a:t>
            </a:r>
            <a:r>
              <a:rPr lang="en-US" sz="2000" b="1" kern="1200" dirty="0">
                <a:solidFill>
                  <a:schemeClr val="bg1"/>
                </a:solidFill>
                <a:latin typeface="+mj-lt"/>
                <a:ea typeface="+mj-ea"/>
                <a:cs typeface="+mj-cs"/>
              </a:rPr>
              <a:t>(10 of 11)</a:t>
            </a:r>
          </a:p>
        </p:txBody>
      </p:sp>
      <p:sp>
        <p:nvSpPr>
          <p:cNvPr id="9" name="Text Placeholder 2">
            <a:extLst>
              <a:ext uri="{FF2B5EF4-FFF2-40B4-BE49-F238E27FC236}">
                <a16:creationId xmlns:a16="http://schemas.microsoft.com/office/drawing/2014/main" id="{56ABB7E8-72A8-C1F9-5B94-04A97A1755AE}"/>
              </a:ext>
            </a:extLst>
          </p:cNvPr>
          <p:cNvSpPr txBox="1">
            <a:spLocks/>
          </p:cNvSpPr>
          <p:nvPr/>
        </p:nvSpPr>
        <p:spPr>
          <a:xfrm>
            <a:off x="777240" y="1616140"/>
            <a:ext cx="9893719" cy="402191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r>
              <a:rPr lang="en-US" sz="2800" b="0" i="0" u="none" strike="noStrike" baseline="0" dirty="0">
                <a:solidFill>
                  <a:srgbClr val="000000"/>
                </a:solidFill>
              </a:rPr>
              <a:t>Let’s summarize our learning from Activity 2.2!</a:t>
            </a:r>
          </a:p>
        </p:txBody>
      </p:sp>
      <p:pic>
        <p:nvPicPr>
          <p:cNvPr id="2" name="Picture 1">
            <a:extLst>
              <a:ext uri="{FF2B5EF4-FFF2-40B4-BE49-F238E27FC236}">
                <a16:creationId xmlns:a16="http://schemas.microsoft.com/office/drawing/2014/main" id="{D2173AB5-9DAF-694F-EC3E-CF36EE34984B}"/>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74023" y="372494"/>
            <a:ext cx="1501270" cy="518205"/>
          </a:xfrm>
          <a:prstGeom prst="rect">
            <a:avLst/>
          </a:prstGeom>
        </p:spPr>
      </p:pic>
    </p:spTree>
    <p:extLst>
      <p:ext uri="{BB962C8B-B14F-4D97-AF65-F5344CB8AC3E}">
        <p14:creationId xmlns:p14="http://schemas.microsoft.com/office/powerpoint/2010/main" val="58873923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4C0A3C-2C1A-1605-5674-4D6F1DD8FA1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5518275-4322-35C9-4A5A-13E4F79646B5}"/>
              </a:ext>
            </a:extLst>
          </p:cNvPr>
          <p:cNvSpPr>
            <a:spLocks noGrp="1"/>
          </p:cNvSpPr>
          <p:nvPr>
            <p:ph type="title"/>
          </p:nvPr>
        </p:nvSpPr>
        <p:spPr/>
        <p:txBody>
          <a:bodyPr/>
          <a:lstStyle/>
          <a:p>
            <a:pPr algn="l"/>
            <a:r>
              <a:rPr lang="en-US" b="1" dirty="0"/>
              <a:t>Rewriting Literal Equations </a:t>
            </a:r>
            <a:r>
              <a:rPr lang="en-US" sz="2000" b="1" dirty="0">
                <a:solidFill>
                  <a:schemeClr val="bg1"/>
                </a:solidFill>
              </a:rPr>
              <a:t>(11 of 11)</a:t>
            </a:r>
          </a:p>
        </p:txBody>
      </p:sp>
      <p:sp>
        <p:nvSpPr>
          <p:cNvPr id="9" name="Text Placeholder 2">
            <a:extLst>
              <a:ext uri="{FF2B5EF4-FFF2-40B4-BE49-F238E27FC236}">
                <a16:creationId xmlns:a16="http://schemas.microsoft.com/office/drawing/2014/main" id="{0BB9CE28-05B7-86DA-219F-D43DAD7A4564}"/>
              </a:ext>
              <a:ext uri="{C183D7F6-B498-43B3-948B-1728B52AA6E4}">
                <adec:decorative xmlns:adec="http://schemas.microsoft.com/office/drawing/2017/decorative" val="1"/>
              </a:ext>
            </a:extLst>
          </p:cNvPr>
          <p:cNvSpPr txBox="1">
            <a:spLocks/>
          </p:cNvSpPr>
          <p:nvPr/>
        </p:nvSpPr>
        <p:spPr>
          <a:xfrm>
            <a:off x="777240" y="1616140"/>
            <a:ext cx="10471759" cy="402191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endParaRPr lang="en-US" sz="2800" dirty="0">
              <a:solidFill>
                <a:schemeClr val="bg2">
                  <a:lumMod val="25000"/>
                </a:schemeClr>
              </a:solidFill>
            </a:endParaRPr>
          </a:p>
        </p:txBody>
      </p:sp>
    </p:spTree>
    <p:extLst>
      <p:ext uri="{BB962C8B-B14F-4D97-AF65-F5344CB8AC3E}">
        <p14:creationId xmlns:p14="http://schemas.microsoft.com/office/powerpoint/2010/main" val="236703455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56BB5F-B442-7625-0F8A-0EC57B41C3AB}"/>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2AE3279C-DA17-605E-5119-E993D2AE2AA1}"/>
              </a:ext>
            </a:extLst>
          </p:cNvPr>
          <p:cNvSpPr>
            <a:spLocks noGrp="1"/>
          </p:cNvSpPr>
          <p:nvPr>
            <p:ph type="title" idx="4294967295"/>
          </p:nvPr>
        </p:nvSpPr>
        <p:spPr>
          <a:xfrm>
            <a:off x="838200" y="-530679"/>
            <a:ext cx="10514013" cy="530679"/>
          </a:xfrm>
          <a:prstGeom prst="rect">
            <a:avLst/>
          </a:prstGeom>
        </p:spPr>
        <p:txBody>
          <a:bodyPr anchor="b"/>
          <a:lstStyle/>
          <a:p>
            <a:r>
              <a:rPr lang="en-US" sz="2000" dirty="0">
                <a:solidFill>
                  <a:schemeClr val="bg2"/>
                </a:solidFill>
              </a:rPr>
              <a:t>Activity 2.3</a:t>
            </a:r>
          </a:p>
        </p:txBody>
      </p:sp>
      <p:sp>
        <p:nvSpPr>
          <p:cNvPr id="3" name="Text Placeholder 2" descr="10 to 15 minutes">
            <a:extLst>
              <a:ext uri="{FF2B5EF4-FFF2-40B4-BE49-F238E27FC236}">
                <a16:creationId xmlns:a16="http://schemas.microsoft.com/office/drawing/2014/main" id="{4D3AC88B-2CC4-95A0-D044-4D320724EE01}"/>
              </a:ext>
            </a:extLst>
          </p:cNvPr>
          <p:cNvSpPr>
            <a:spLocks noGrp="1"/>
          </p:cNvSpPr>
          <p:nvPr>
            <p:ph type="body" sz="quarter" idx="12"/>
          </p:nvPr>
        </p:nvSpPr>
        <p:spPr>
          <a:xfrm>
            <a:off x="10614990" y="5781873"/>
            <a:ext cx="863947" cy="795338"/>
          </a:xfrm>
        </p:spPr>
        <p:txBody>
          <a:bodyPr/>
          <a:lstStyle/>
          <a:p>
            <a:r>
              <a:rPr lang="en-US" b="1" dirty="0"/>
              <a:t>15–20</a:t>
            </a:r>
          </a:p>
        </p:txBody>
      </p:sp>
      <p:sp>
        <p:nvSpPr>
          <p:cNvPr id="2" name="Text Placeholder 1">
            <a:extLst>
              <a:ext uri="{FF2B5EF4-FFF2-40B4-BE49-F238E27FC236}">
                <a16:creationId xmlns:a16="http://schemas.microsoft.com/office/drawing/2014/main" id="{0C0898FA-549A-D73D-0F57-46E3FD452FC5}"/>
              </a:ext>
              <a:ext uri="{C183D7F6-B498-43B3-948B-1728B52AA6E4}">
                <adec:decorative xmlns:adec="http://schemas.microsoft.com/office/drawing/2017/decorative" val="1"/>
              </a:ext>
            </a:extLst>
          </p:cNvPr>
          <p:cNvSpPr>
            <a:spLocks noGrp="1"/>
          </p:cNvSpPr>
          <p:nvPr>
            <p:ph type="body" sz="quarter" idx="11"/>
          </p:nvPr>
        </p:nvSpPr>
        <p:spPr/>
        <p:txBody>
          <a:bodyPr/>
          <a:lstStyle/>
          <a:p>
            <a:r>
              <a:rPr lang="en-US" dirty="0"/>
              <a:t>2.3</a:t>
            </a:r>
          </a:p>
        </p:txBody>
      </p:sp>
    </p:spTree>
    <p:extLst>
      <p:ext uri="{BB962C8B-B14F-4D97-AF65-F5344CB8AC3E}">
        <p14:creationId xmlns:p14="http://schemas.microsoft.com/office/powerpoint/2010/main" val="43122532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6B9112-D879-AE3B-D3CB-10D456160B5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92AD06A-5CBC-4CDF-7294-927A83492ABA}"/>
              </a:ext>
            </a:extLst>
          </p:cNvPr>
          <p:cNvSpPr>
            <a:spLocks noGrp="1"/>
          </p:cNvSpPr>
          <p:nvPr>
            <p:ph type="title"/>
          </p:nvPr>
        </p:nvSpPr>
        <p:spPr>
          <a:xfrm>
            <a:off x="734787" y="10892"/>
            <a:ext cx="10123714" cy="1263192"/>
          </a:xfrm>
        </p:spPr>
        <p:txBody>
          <a:bodyPr/>
          <a:lstStyle/>
          <a:p>
            <a:pPr algn="l" defTabSz="914400" rtl="0" eaLnBrk="1" latinLnBrk="0" hangingPunct="1">
              <a:lnSpc>
                <a:spcPct val="90000"/>
              </a:lnSpc>
              <a:spcBef>
                <a:spcPct val="0"/>
              </a:spcBef>
              <a:buNone/>
            </a:pPr>
            <a:r>
              <a:rPr lang="en-US" sz="3800" b="1" dirty="0"/>
              <a:t>Solving Literal Equations for Specific Variables</a:t>
            </a:r>
            <a:r>
              <a:rPr lang="en-US" sz="4000" b="1" kern="1200" dirty="0">
                <a:solidFill>
                  <a:srgbClr val="2B8147"/>
                </a:solidFill>
                <a:effectLst/>
                <a:latin typeface="+mj-lt"/>
                <a:ea typeface="+mj-ea"/>
                <a:cs typeface="+mj-cs"/>
              </a:rPr>
              <a:t> </a:t>
            </a:r>
            <a:r>
              <a:rPr lang="en-US" sz="2000" b="1" kern="1200" dirty="0">
                <a:solidFill>
                  <a:schemeClr val="bg1"/>
                </a:solidFill>
                <a:latin typeface="+mj-lt"/>
                <a:ea typeface="+mj-ea"/>
                <a:cs typeface="+mj-cs"/>
              </a:rPr>
              <a:t>(1 of 8)</a:t>
            </a:r>
          </a:p>
        </p:txBody>
      </p:sp>
      <p:sp>
        <p:nvSpPr>
          <p:cNvPr id="9" name="Text Placeholder 2">
            <a:extLst>
              <a:ext uri="{FF2B5EF4-FFF2-40B4-BE49-F238E27FC236}">
                <a16:creationId xmlns:a16="http://schemas.microsoft.com/office/drawing/2014/main" id="{740E04C3-8F39-5E6F-34CD-8435FBAE7B0E}"/>
              </a:ext>
            </a:extLst>
          </p:cNvPr>
          <p:cNvSpPr txBox="1">
            <a:spLocks/>
          </p:cNvSpPr>
          <p:nvPr/>
        </p:nvSpPr>
        <p:spPr>
          <a:xfrm>
            <a:off x="734787" y="1616529"/>
            <a:ext cx="8129813" cy="4716538"/>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spcBef>
                <a:spcPts val="24"/>
              </a:spcBef>
              <a:buNone/>
            </a:pPr>
            <a:r>
              <a:rPr lang="en-US" sz="2800" dirty="0">
                <a:solidFill>
                  <a:srgbClr val="000000"/>
                </a:solidFill>
              </a:rPr>
              <a:t>Convert each literal equation to solve for the given variable.</a:t>
            </a:r>
            <a:br>
              <a:rPr lang="en-US" sz="2800" dirty="0">
                <a:solidFill>
                  <a:srgbClr val="000000"/>
                </a:solidFill>
              </a:rPr>
            </a:br>
            <a:endParaRPr lang="en-US" sz="2000" dirty="0">
              <a:solidFill>
                <a:srgbClr val="000000"/>
              </a:solidFill>
            </a:endParaRPr>
          </a:p>
          <a:p>
            <a:pPr marL="466344" indent="-466344">
              <a:spcBef>
                <a:spcPts val="24"/>
              </a:spcBef>
              <a:buFont typeface="+mj-lt"/>
              <a:buAutoNum type="arabicPeriod"/>
            </a:pPr>
            <a:r>
              <a:rPr lang="en-US" sz="2800" dirty="0">
                <a:solidFill>
                  <a:srgbClr val="000000"/>
                </a:solidFill>
              </a:rPr>
              <a:t>Think Inside the Box is manufacturing new boxes for Pack-n-Ship. Pack-n-Ship told Think Inside the Box that the boxes must have a specific volume and area of the base. However, Pack-n-Ship did not specify a height for the boxes.</a:t>
            </a:r>
          </a:p>
          <a:p>
            <a:pPr marL="0" indent="0">
              <a:spcBef>
                <a:spcPts val="24"/>
              </a:spcBef>
              <a:buNone/>
            </a:pPr>
            <a:r>
              <a:rPr lang="en-US" sz="2800" dirty="0">
                <a:solidFill>
                  <a:srgbClr val="000000"/>
                </a:solidFill>
              </a:rPr>
              <a:t> </a:t>
            </a:r>
          </a:p>
        </p:txBody>
      </p:sp>
      <p:sp>
        <p:nvSpPr>
          <p:cNvPr id="2" name="TextBox 1">
            <a:extLst>
              <a:ext uri="{FF2B5EF4-FFF2-40B4-BE49-F238E27FC236}">
                <a16:creationId xmlns:a16="http://schemas.microsoft.com/office/drawing/2014/main" id="{EC06DF4C-CDDC-0338-69BF-530BBCADBE72}"/>
              </a:ext>
            </a:extLst>
          </p:cNvPr>
          <p:cNvSpPr txBox="1"/>
          <p:nvPr/>
        </p:nvSpPr>
        <p:spPr>
          <a:xfrm>
            <a:off x="9093199" y="1824524"/>
            <a:ext cx="2476501" cy="2486461"/>
          </a:xfrm>
          <a:prstGeom prst="rect">
            <a:avLst/>
          </a:prstGeom>
          <a:noFill/>
          <a:ln w="31750">
            <a:solidFill>
              <a:srgbClr val="008F4C"/>
            </a:solidFill>
            <a:prstDash val="sysDot"/>
          </a:ln>
        </p:spPr>
        <p:txBody>
          <a:bodyPr wrap="square" lIns="182880" rtlCol="0" anchor="ctr" anchorCtr="0">
            <a:noAutofit/>
          </a:bodyPr>
          <a:lstStyle/>
          <a:p>
            <a:r>
              <a:rPr lang="en-US" sz="2000" b="1" dirty="0">
                <a:solidFill>
                  <a:srgbClr val="2B8147"/>
                </a:solidFill>
              </a:rPr>
              <a:t>Remember…</a:t>
            </a:r>
            <a:endParaRPr lang="en-US" sz="2000" dirty="0">
              <a:solidFill>
                <a:schemeClr val="bg2">
                  <a:lumMod val="25000"/>
                </a:schemeClr>
              </a:solidFill>
            </a:endParaRPr>
          </a:p>
          <a:p>
            <a:r>
              <a:rPr lang="en-US" sz="2000" dirty="0">
                <a:solidFill>
                  <a:schemeClr val="bg2">
                    <a:lumMod val="25000"/>
                  </a:schemeClr>
                </a:solidFill>
              </a:rPr>
              <a:t>Volume is measured in cubic units since it’s calculated using three dimensions. </a:t>
            </a:r>
          </a:p>
          <a:p>
            <a:r>
              <a:rPr lang="en-US" sz="2000" dirty="0">
                <a:solidFill>
                  <a:schemeClr val="bg2">
                    <a:lumMod val="25000"/>
                  </a:schemeClr>
                </a:solidFill>
              </a:rPr>
              <a:t>Height measures only one dimension.</a:t>
            </a:r>
          </a:p>
        </p:txBody>
      </p:sp>
    </p:spTree>
    <p:extLst>
      <p:ext uri="{BB962C8B-B14F-4D97-AF65-F5344CB8AC3E}">
        <p14:creationId xmlns:p14="http://schemas.microsoft.com/office/powerpoint/2010/main" val="362217833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279F44-7381-47E6-CE53-1D839F676C4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4E69945-2A48-FCCE-A0EB-0D471003833F}"/>
              </a:ext>
            </a:extLst>
          </p:cNvPr>
          <p:cNvSpPr>
            <a:spLocks noGrp="1"/>
          </p:cNvSpPr>
          <p:nvPr>
            <p:ph type="title"/>
          </p:nvPr>
        </p:nvSpPr>
        <p:spPr>
          <a:xfrm>
            <a:off x="734787" y="10892"/>
            <a:ext cx="10123714" cy="1263192"/>
          </a:xfrm>
        </p:spPr>
        <p:txBody>
          <a:bodyPr/>
          <a:lstStyle/>
          <a:p>
            <a:pPr algn="l" defTabSz="914400" rtl="0" eaLnBrk="1" latinLnBrk="0" hangingPunct="1">
              <a:lnSpc>
                <a:spcPct val="90000"/>
              </a:lnSpc>
              <a:spcBef>
                <a:spcPct val="0"/>
              </a:spcBef>
              <a:buNone/>
            </a:pPr>
            <a:r>
              <a:rPr lang="en-US" sz="3800" b="1" dirty="0"/>
              <a:t>Solving Literal Equations for Specific Variables</a:t>
            </a:r>
            <a:r>
              <a:rPr lang="en-US" sz="4000" b="1" kern="1200" dirty="0">
                <a:solidFill>
                  <a:srgbClr val="2B8147"/>
                </a:solidFill>
                <a:effectLst/>
                <a:latin typeface="+mj-lt"/>
                <a:ea typeface="+mj-ea"/>
                <a:cs typeface="+mj-cs"/>
              </a:rPr>
              <a:t> </a:t>
            </a:r>
            <a:r>
              <a:rPr lang="en-US" sz="2000" b="1" kern="1200" dirty="0">
                <a:solidFill>
                  <a:schemeClr val="bg1"/>
                </a:solidFill>
                <a:latin typeface="+mj-lt"/>
                <a:ea typeface="+mj-ea"/>
                <a:cs typeface="+mj-cs"/>
              </a:rPr>
              <a:t>(2 of 8)</a:t>
            </a:r>
          </a:p>
        </p:txBody>
      </p:sp>
      <p:sp>
        <p:nvSpPr>
          <p:cNvPr id="9" name="Text Placeholder 2">
            <a:extLst>
              <a:ext uri="{FF2B5EF4-FFF2-40B4-BE49-F238E27FC236}">
                <a16:creationId xmlns:a16="http://schemas.microsoft.com/office/drawing/2014/main" id="{BE363466-9D25-1FC1-660C-98AC1397F737}"/>
              </a:ext>
            </a:extLst>
          </p:cNvPr>
          <p:cNvSpPr txBox="1">
            <a:spLocks/>
          </p:cNvSpPr>
          <p:nvPr/>
        </p:nvSpPr>
        <p:spPr>
          <a:xfrm>
            <a:off x="734787" y="1616529"/>
            <a:ext cx="9935934" cy="4716538"/>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spcBef>
                <a:spcPts val="24"/>
              </a:spcBef>
              <a:buFont typeface="+mj-lt"/>
              <a:buAutoNum type="alphaLcPeriod"/>
            </a:pPr>
            <a:r>
              <a:rPr lang="en-US" sz="2800" dirty="0">
                <a:solidFill>
                  <a:srgbClr val="000000"/>
                </a:solidFill>
              </a:rPr>
              <a:t>Write a literal equation to calculate the volume of a box. Then,</a:t>
            </a:r>
          </a:p>
          <a:p>
            <a:pPr marL="0" indent="0">
              <a:spcBef>
                <a:spcPts val="24"/>
              </a:spcBef>
              <a:buNone/>
            </a:pPr>
            <a:r>
              <a:rPr lang="en-US" sz="2800" dirty="0">
                <a:solidFill>
                  <a:srgbClr val="000000"/>
                </a:solidFill>
              </a:rPr>
              <a:t>      convert the volume formula to solve for height.</a:t>
            </a:r>
          </a:p>
          <a:p>
            <a:pPr marL="466344" indent="-466344">
              <a:spcBef>
                <a:spcPts val="24"/>
              </a:spcBef>
              <a:buFont typeface="+mj-lt"/>
              <a:buAutoNum type="alphaLcPeriod" startAt="2"/>
            </a:pPr>
            <a:endParaRPr lang="en-US" sz="2800" dirty="0">
              <a:solidFill>
                <a:srgbClr val="000000"/>
              </a:solidFill>
            </a:endParaRPr>
          </a:p>
          <a:p>
            <a:pPr marL="0" indent="0">
              <a:spcBef>
                <a:spcPts val="24"/>
              </a:spcBef>
              <a:buNone/>
            </a:pPr>
            <a:endParaRPr lang="en-US" sz="2800" dirty="0">
              <a:solidFill>
                <a:srgbClr val="000000"/>
              </a:solidFill>
            </a:endParaRPr>
          </a:p>
          <a:p>
            <a:pPr marL="466344" indent="-466344">
              <a:spcBef>
                <a:spcPts val="24"/>
              </a:spcBef>
              <a:buFont typeface="+mj-lt"/>
              <a:buAutoNum type="alphaLcPeriod" startAt="2"/>
            </a:pPr>
            <a:r>
              <a:rPr lang="en-US" sz="2800" dirty="0">
                <a:solidFill>
                  <a:srgbClr val="000000"/>
                </a:solidFill>
              </a:rPr>
              <a:t>Pack-n-Ship specified the volume of the box must be 450 cubic</a:t>
            </a:r>
          </a:p>
          <a:p>
            <a:pPr marL="0" indent="0">
              <a:spcBef>
                <a:spcPts val="24"/>
              </a:spcBef>
              <a:buNone/>
            </a:pPr>
            <a:r>
              <a:rPr lang="en-US" sz="2800" dirty="0">
                <a:solidFill>
                  <a:srgbClr val="000000"/>
                </a:solidFill>
              </a:rPr>
              <a:t>      inches and the area of the base must be 75 square inches. Use</a:t>
            </a:r>
          </a:p>
          <a:p>
            <a:pPr marL="0" indent="0">
              <a:spcBef>
                <a:spcPts val="24"/>
              </a:spcBef>
              <a:buNone/>
            </a:pPr>
            <a:r>
              <a:rPr lang="en-US" sz="2800" dirty="0">
                <a:solidFill>
                  <a:srgbClr val="000000"/>
                </a:solidFill>
              </a:rPr>
              <a:t>      your formula to determine the height of the new boxes.</a:t>
            </a:r>
          </a:p>
          <a:p>
            <a:pPr marL="0" indent="0">
              <a:spcBef>
                <a:spcPts val="24"/>
              </a:spcBef>
              <a:buNone/>
            </a:pPr>
            <a:endParaRPr lang="en-US" sz="2800" dirty="0">
              <a:solidFill>
                <a:srgbClr val="000000"/>
              </a:solidFill>
            </a:endParaRPr>
          </a:p>
          <a:p>
            <a:pPr marL="0" indent="0">
              <a:spcBef>
                <a:spcPts val="24"/>
              </a:spcBef>
              <a:buNone/>
            </a:pPr>
            <a:r>
              <a:rPr lang="en-US" sz="2800" dirty="0">
                <a:solidFill>
                  <a:srgbClr val="000000"/>
                </a:solidFill>
              </a:rPr>
              <a:t> </a:t>
            </a:r>
          </a:p>
        </p:txBody>
      </p:sp>
    </p:spTree>
    <p:extLst>
      <p:ext uri="{BB962C8B-B14F-4D97-AF65-F5344CB8AC3E}">
        <p14:creationId xmlns:p14="http://schemas.microsoft.com/office/powerpoint/2010/main" val="67142590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9F46AC-903A-73F4-143E-EF4325EEF78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BD2CB92E-7B8E-B8B5-6280-D2DA447383EB}"/>
              </a:ext>
            </a:extLst>
          </p:cNvPr>
          <p:cNvSpPr>
            <a:spLocks noGrp="1"/>
          </p:cNvSpPr>
          <p:nvPr>
            <p:ph type="title"/>
          </p:nvPr>
        </p:nvSpPr>
        <p:spPr>
          <a:xfrm>
            <a:off x="734787" y="10892"/>
            <a:ext cx="10123714" cy="1263192"/>
          </a:xfrm>
        </p:spPr>
        <p:txBody>
          <a:bodyPr/>
          <a:lstStyle/>
          <a:p>
            <a:pPr algn="l" defTabSz="914400" rtl="0" eaLnBrk="1" latinLnBrk="0" hangingPunct="1">
              <a:lnSpc>
                <a:spcPct val="90000"/>
              </a:lnSpc>
              <a:spcBef>
                <a:spcPct val="0"/>
              </a:spcBef>
              <a:buNone/>
            </a:pPr>
            <a:r>
              <a:rPr lang="en-US" sz="3800" b="1" dirty="0"/>
              <a:t>Solving Literal Equations for Specific Variables</a:t>
            </a:r>
            <a:r>
              <a:rPr lang="en-US" sz="4000" b="1" kern="1200" dirty="0">
                <a:solidFill>
                  <a:srgbClr val="2B8147"/>
                </a:solidFill>
                <a:effectLst/>
                <a:latin typeface="+mj-lt"/>
                <a:ea typeface="+mj-ea"/>
                <a:cs typeface="+mj-cs"/>
              </a:rPr>
              <a:t> </a:t>
            </a:r>
            <a:r>
              <a:rPr lang="en-US" sz="2000" b="1" kern="1200" dirty="0">
                <a:solidFill>
                  <a:schemeClr val="bg1"/>
                </a:solidFill>
                <a:latin typeface="+mj-lt"/>
                <a:ea typeface="+mj-ea"/>
                <a:cs typeface="+mj-cs"/>
              </a:rPr>
              <a:t>(3 of 8)</a:t>
            </a:r>
          </a:p>
        </p:txBody>
      </p:sp>
      <p:sp>
        <p:nvSpPr>
          <p:cNvPr id="9" name="Text Placeholder 2">
            <a:extLst>
              <a:ext uri="{FF2B5EF4-FFF2-40B4-BE49-F238E27FC236}">
                <a16:creationId xmlns:a16="http://schemas.microsoft.com/office/drawing/2014/main" id="{DA5D3B78-DDAA-5F55-2A17-2DB87DB2698D}"/>
              </a:ext>
            </a:extLst>
          </p:cNvPr>
          <p:cNvSpPr txBox="1">
            <a:spLocks/>
          </p:cNvSpPr>
          <p:nvPr/>
        </p:nvSpPr>
        <p:spPr>
          <a:xfrm>
            <a:off x="734787" y="1616529"/>
            <a:ext cx="8066313" cy="4716538"/>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466344" indent="-466344">
              <a:spcBef>
                <a:spcPts val="24"/>
              </a:spcBef>
              <a:buFont typeface="+mj-lt"/>
              <a:buAutoNum type="arabicPeriod" startAt="2"/>
            </a:pPr>
            <a:r>
              <a:rPr lang="en-US" sz="2800" dirty="0">
                <a:solidFill>
                  <a:srgbClr val="000000"/>
                </a:solidFill>
              </a:rPr>
              <a:t>The volume of an ice cream cone is the measure </a:t>
            </a:r>
            <a:br>
              <a:rPr lang="en-US" sz="2800" dirty="0">
                <a:solidFill>
                  <a:srgbClr val="000000"/>
                </a:solidFill>
              </a:rPr>
            </a:br>
            <a:r>
              <a:rPr lang="en-US" sz="2800" dirty="0">
                <a:solidFill>
                  <a:srgbClr val="000000"/>
                </a:solidFill>
              </a:rPr>
              <a:t>of how much ice cream fits inside the cone. An ice cream cone company wants to make an ice cream cone with a greater height that still holds the same amount of ice cream.</a:t>
            </a:r>
          </a:p>
          <a:p>
            <a:pPr marL="866394" lvl="1" indent="-457200">
              <a:spcBef>
                <a:spcPts val="24"/>
              </a:spcBef>
              <a:buFont typeface="+mj-lt"/>
              <a:buAutoNum type="alphaLcPeriod"/>
            </a:pPr>
            <a:r>
              <a:rPr lang="en-US" dirty="0">
                <a:solidFill>
                  <a:srgbClr val="000000"/>
                </a:solidFill>
              </a:rPr>
              <a:t>Write an equation to calculate the volume of a cone. Then, convert the equation to solve for the height.</a:t>
            </a:r>
          </a:p>
          <a:p>
            <a:pPr marL="0" indent="0">
              <a:spcBef>
                <a:spcPts val="24"/>
              </a:spcBef>
              <a:buNone/>
            </a:pPr>
            <a:r>
              <a:rPr lang="en-US" sz="2800" dirty="0">
                <a:solidFill>
                  <a:srgbClr val="000000"/>
                </a:solidFill>
              </a:rPr>
              <a:t> </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EC2DF804-3024-7BFE-8DC9-BA655389FE8A}"/>
                  </a:ext>
                </a:extLst>
              </p:cNvPr>
              <p:cNvSpPr txBox="1"/>
              <p:nvPr/>
            </p:nvSpPr>
            <p:spPr>
              <a:xfrm>
                <a:off x="9112801" y="1700347"/>
                <a:ext cx="2619130" cy="2706553"/>
              </a:xfrm>
              <a:prstGeom prst="rect">
                <a:avLst/>
              </a:prstGeom>
              <a:noFill/>
              <a:ln w="31750">
                <a:solidFill>
                  <a:srgbClr val="008F4C"/>
                </a:solidFill>
                <a:prstDash val="sysDot"/>
              </a:ln>
            </p:spPr>
            <p:txBody>
              <a:bodyPr wrap="square" lIns="182880" rtlCol="0" anchor="ctr" anchorCtr="0">
                <a:noAutofit/>
              </a:bodyPr>
              <a:lstStyle/>
              <a:p>
                <a:r>
                  <a:rPr lang="en-US" sz="2000" dirty="0">
                    <a:solidFill>
                      <a:schemeClr val="bg2">
                        <a:lumMod val="25000"/>
                      </a:schemeClr>
                    </a:solidFill>
                  </a:rPr>
                  <a:t>The formula for the</a:t>
                </a:r>
              </a:p>
              <a:p>
                <a:r>
                  <a:rPr lang="en-US" sz="2000" dirty="0">
                    <a:solidFill>
                      <a:schemeClr val="bg2">
                        <a:lumMod val="25000"/>
                      </a:schemeClr>
                    </a:solidFill>
                  </a:rPr>
                  <a:t>volume of a cone is </a:t>
                </a:r>
                <a14:m>
                  <m:oMath xmlns:m="http://schemas.openxmlformats.org/officeDocument/2006/math">
                    <m:r>
                      <a:rPr lang="en-US" sz="2000" i="1" dirty="0" smtClean="0">
                        <a:solidFill>
                          <a:schemeClr val="bg2">
                            <a:lumMod val="25000"/>
                          </a:schemeClr>
                        </a:solidFill>
                        <a:latin typeface="Cambria Math" panose="02040503050406030204" pitchFamily="18" charset="0"/>
                      </a:rPr>
                      <m:t>𝑉</m:t>
                    </m:r>
                    <m:r>
                      <a:rPr lang="en-US" sz="2000" i="1" dirty="0" smtClean="0">
                        <a:solidFill>
                          <a:schemeClr val="bg2">
                            <a:lumMod val="25000"/>
                          </a:schemeClr>
                        </a:solidFill>
                        <a:latin typeface="Cambria Math" panose="02040503050406030204" pitchFamily="18" charset="0"/>
                      </a:rPr>
                      <m:t>=</m:t>
                    </m:r>
                    <m:f>
                      <m:fPr>
                        <m:ctrlPr>
                          <a:rPr lang="en-US" sz="2000" i="1" smtClean="0">
                            <a:solidFill>
                              <a:schemeClr val="bg2">
                                <a:lumMod val="25000"/>
                              </a:schemeClr>
                            </a:solidFill>
                            <a:latin typeface="Cambria Math" panose="02040503050406030204" pitchFamily="18" charset="0"/>
                          </a:rPr>
                        </m:ctrlPr>
                      </m:fPr>
                      <m:num>
                        <m:r>
                          <a:rPr lang="en-US" sz="2000" b="0" i="1" smtClean="0">
                            <a:solidFill>
                              <a:schemeClr val="bg2">
                                <a:lumMod val="25000"/>
                              </a:schemeClr>
                            </a:solidFill>
                            <a:latin typeface="Cambria Math" panose="02040503050406030204" pitchFamily="18" charset="0"/>
                          </a:rPr>
                          <m:t>1</m:t>
                        </m:r>
                      </m:num>
                      <m:den>
                        <m:r>
                          <a:rPr lang="en-US" sz="2000" b="0" i="1" smtClean="0">
                            <a:solidFill>
                              <a:schemeClr val="bg2">
                                <a:lumMod val="25000"/>
                              </a:schemeClr>
                            </a:solidFill>
                            <a:latin typeface="Cambria Math" panose="02040503050406030204" pitchFamily="18" charset="0"/>
                          </a:rPr>
                          <m:t>3</m:t>
                        </m:r>
                      </m:den>
                    </m:f>
                    <m:r>
                      <a:rPr lang="en-US" sz="2000" i="1" dirty="0" smtClean="0">
                        <a:solidFill>
                          <a:schemeClr val="bg2">
                            <a:lumMod val="25000"/>
                          </a:schemeClr>
                        </a:solidFill>
                        <a:latin typeface="Cambria Math" panose="02040503050406030204" pitchFamily="18" charset="0"/>
                      </a:rPr>
                      <m:t>𝐵h</m:t>
                    </m:r>
                    <m:r>
                      <a:rPr lang="en-US" sz="2000" i="1" dirty="0" smtClean="0">
                        <a:solidFill>
                          <a:schemeClr val="bg2">
                            <a:lumMod val="25000"/>
                          </a:schemeClr>
                        </a:solidFill>
                        <a:latin typeface="Cambria Math" panose="02040503050406030204" pitchFamily="18" charset="0"/>
                      </a:rPr>
                      <m:t>= </m:t>
                    </m:r>
                    <m:f>
                      <m:fPr>
                        <m:ctrlPr>
                          <a:rPr lang="en-US" sz="2000" i="1">
                            <a:solidFill>
                              <a:schemeClr val="bg2">
                                <a:lumMod val="25000"/>
                              </a:schemeClr>
                            </a:solidFill>
                            <a:latin typeface="Cambria Math" panose="02040503050406030204" pitchFamily="18" charset="0"/>
                          </a:rPr>
                        </m:ctrlPr>
                      </m:fPr>
                      <m:num>
                        <m:r>
                          <a:rPr lang="en-US" sz="2000" i="1">
                            <a:solidFill>
                              <a:schemeClr val="bg2">
                                <a:lumMod val="25000"/>
                              </a:schemeClr>
                            </a:solidFill>
                            <a:latin typeface="Cambria Math" panose="02040503050406030204" pitchFamily="18" charset="0"/>
                          </a:rPr>
                          <m:t>1</m:t>
                        </m:r>
                      </m:num>
                      <m:den>
                        <m:r>
                          <a:rPr lang="en-US" sz="2000" i="1">
                            <a:solidFill>
                              <a:schemeClr val="bg2">
                                <a:lumMod val="25000"/>
                              </a:schemeClr>
                            </a:solidFill>
                            <a:latin typeface="Cambria Math" panose="02040503050406030204" pitchFamily="18" charset="0"/>
                          </a:rPr>
                          <m:t>3</m:t>
                        </m:r>
                      </m:den>
                    </m:f>
                    <m:r>
                      <m:rPr>
                        <m:sty m:val="p"/>
                      </m:rPr>
                      <a:rPr lang="el-GR" sz="2000" i="1" dirty="0" smtClean="0">
                        <a:solidFill>
                          <a:srgbClr val="000000"/>
                        </a:solidFill>
                        <a:latin typeface="Cambria Math" panose="02040503050406030204" pitchFamily="18" charset="0"/>
                      </a:rPr>
                      <m:t>π</m:t>
                    </m:r>
                    <m:r>
                      <a:rPr lang="en-US" sz="2000" i="1" dirty="0" smtClean="0">
                        <a:solidFill>
                          <a:srgbClr val="000000"/>
                        </a:solidFill>
                        <a:latin typeface="Cambria Math" panose="02040503050406030204" pitchFamily="18" charset="0"/>
                      </a:rPr>
                      <m:t>𝑟</m:t>
                    </m:r>
                    <m:r>
                      <a:rPr lang="en-US" sz="2000" i="1" baseline="30000" dirty="0" smtClean="0">
                        <a:solidFill>
                          <a:srgbClr val="000000"/>
                        </a:solidFill>
                        <a:latin typeface="Cambria Math" panose="02040503050406030204" pitchFamily="18" charset="0"/>
                      </a:rPr>
                      <m:t>2</m:t>
                    </m:r>
                    <m:r>
                      <a:rPr lang="en-US" sz="2000" i="1" dirty="0" smtClean="0">
                        <a:solidFill>
                          <a:srgbClr val="000000"/>
                        </a:solidFill>
                        <a:latin typeface="Cambria Math" panose="02040503050406030204" pitchFamily="18" charset="0"/>
                      </a:rPr>
                      <m:t>h</m:t>
                    </m:r>
                    <m:r>
                      <a:rPr lang="en-US" sz="2000" i="1" dirty="0" smtClean="0">
                        <a:solidFill>
                          <a:srgbClr val="000000"/>
                        </a:solidFill>
                        <a:latin typeface="Cambria Math" panose="02040503050406030204" pitchFamily="18" charset="0"/>
                      </a:rPr>
                      <m:t>, </m:t>
                    </m:r>
                  </m:oMath>
                </a14:m>
                <a:endParaRPr lang="en-US" sz="2000" dirty="0">
                  <a:solidFill>
                    <a:schemeClr val="bg2">
                      <a:lumMod val="25000"/>
                    </a:schemeClr>
                  </a:solidFill>
                </a:endParaRPr>
              </a:p>
              <a:p>
                <a:r>
                  <a:rPr lang="en-US" sz="2000" dirty="0">
                    <a:solidFill>
                      <a:schemeClr val="bg2">
                        <a:lumMod val="25000"/>
                      </a:schemeClr>
                    </a:solidFill>
                  </a:rPr>
                  <a:t>where </a:t>
                </a:r>
                <a14:m>
                  <m:oMath xmlns:m="http://schemas.openxmlformats.org/officeDocument/2006/math">
                    <m:r>
                      <a:rPr lang="en-US" sz="2000" i="1" dirty="0" smtClean="0">
                        <a:solidFill>
                          <a:schemeClr val="bg2">
                            <a:lumMod val="25000"/>
                          </a:schemeClr>
                        </a:solidFill>
                        <a:latin typeface="Cambria Math" panose="02040503050406030204" pitchFamily="18" charset="0"/>
                      </a:rPr>
                      <m:t>𝐵</m:t>
                    </m:r>
                  </m:oMath>
                </a14:m>
                <a:r>
                  <a:rPr lang="en-US" sz="2000" dirty="0">
                    <a:solidFill>
                      <a:schemeClr val="bg2">
                        <a:lumMod val="25000"/>
                      </a:schemeClr>
                    </a:solidFill>
                  </a:rPr>
                  <a:t> is the area of</a:t>
                </a:r>
              </a:p>
              <a:p>
                <a:r>
                  <a:rPr lang="en-US" sz="2000" dirty="0">
                    <a:solidFill>
                      <a:schemeClr val="bg2">
                        <a:lumMod val="25000"/>
                      </a:schemeClr>
                    </a:solidFill>
                  </a:rPr>
                  <a:t>the base of the cone,</a:t>
                </a:r>
              </a:p>
              <a:p>
                <a14:m>
                  <m:oMath xmlns:m="http://schemas.openxmlformats.org/officeDocument/2006/math">
                    <m:r>
                      <a:rPr lang="en-US" sz="2000" i="1" dirty="0" smtClean="0">
                        <a:solidFill>
                          <a:schemeClr val="bg2">
                            <a:lumMod val="25000"/>
                          </a:schemeClr>
                        </a:solidFill>
                        <a:latin typeface="Cambria Math" panose="02040503050406030204" pitchFamily="18" charset="0"/>
                      </a:rPr>
                      <m:t>𝑟</m:t>
                    </m:r>
                  </m:oMath>
                </a14:m>
                <a:r>
                  <a:rPr lang="en-US" sz="2000" dirty="0">
                    <a:solidFill>
                      <a:schemeClr val="bg2">
                        <a:lumMod val="25000"/>
                      </a:schemeClr>
                    </a:solidFill>
                  </a:rPr>
                  <a:t> is the radius and </a:t>
                </a:r>
                <a14:m>
                  <m:oMath xmlns:m="http://schemas.openxmlformats.org/officeDocument/2006/math">
                    <m:r>
                      <a:rPr lang="en-US" sz="2000" i="1" dirty="0" smtClean="0">
                        <a:solidFill>
                          <a:schemeClr val="bg2">
                            <a:lumMod val="25000"/>
                          </a:schemeClr>
                        </a:solidFill>
                        <a:latin typeface="Cambria Math" panose="02040503050406030204" pitchFamily="18" charset="0"/>
                      </a:rPr>
                      <m:t>h</m:t>
                    </m:r>
                  </m:oMath>
                </a14:m>
                <a:r>
                  <a:rPr lang="en-US" sz="2000" dirty="0">
                    <a:solidFill>
                      <a:schemeClr val="bg2">
                        <a:lumMod val="25000"/>
                      </a:schemeClr>
                    </a:solidFill>
                  </a:rPr>
                  <a:t> is</a:t>
                </a:r>
              </a:p>
              <a:p>
                <a:r>
                  <a:rPr lang="en-US" sz="2000" dirty="0">
                    <a:solidFill>
                      <a:schemeClr val="bg2">
                        <a:lumMod val="25000"/>
                      </a:schemeClr>
                    </a:solidFill>
                  </a:rPr>
                  <a:t>the height.</a:t>
                </a:r>
                <a:r>
                  <a:rPr lang="en-US" sz="1800" b="0" i="0" u="none" strike="noStrike" baseline="0" dirty="0">
                    <a:latin typeface="MathematicalPiLTStd-1" panose="02000500000000000000" pitchFamily="50" charset="0"/>
                  </a:rPr>
                  <a:t> </a:t>
                </a:r>
                <a:endParaRPr lang="en-US" sz="2000" dirty="0">
                  <a:solidFill>
                    <a:schemeClr val="bg2">
                      <a:lumMod val="25000"/>
                    </a:schemeClr>
                  </a:solidFill>
                </a:endParaRPr>
              </a:p>
            </p:txBody>
          </p:sp>
        </mc:Choice>
        <mc:Fallback xmlns="">
          <p:sp>
            <p:nvSpPr>
              <p:cNvPr id="2" name="TextBox 1">
                <a:extLst>
                  <a:ext uri="{FF2B5EF4-FFF2-40B4-BE49-F238E27FC236}">
                    <a16:creationId xmlns:a16="http://schemas.microsoft.com/office/drawing/2014/main" id="{EC2DF804-3024-7BFE-8DC9-BA655389FE8A}"/>
                  </a:ext>
                </a:extLst>
              </p:cNvPr>
              <p:cNvSpPr txBox="1">
                <a:spLocks noRot="1" noChangeAspect="1" noMove="1" noResize="1" noEditPoints="1" noAdjustHandles="1" noChangeArrowheads="1" noChangeShapeType="1" noTextEdit="1"/>
              </p:cNvSpPr>
              <p:nvPr/>
            </p:nvSpPr>
            <p:spPr>
              <a:xfrm>
                <a:off x="9112801" y="1700347"/>
                <a:ext cx="2619130" cy="2706553"/>
              </a:xfrm>
              <a:prstGeom prst="rect">
                <a:avLst/>
              </a:prstGeom>
              <a:blipFill>
                <a:blip r:embed="rId3"/>
                <a:stretch>
                  <a:fillRect/>
                </a:stretch>
              </a:blipFill>
              <a:ln w="31750">
                <a:solidFill>
                  <a:srgbClr val="008F4C"/>
                </a:solidFill>
                <a:prstDash val="sysDot"/>
              </a:ln>
            </p:spPr>
            <p:txBody>
              <a:bodyPr/>
              <a:lstStyle/>
              <a:p>
                <a:r>
                  <a:rPr lang="en-US">
                    <a:noFill/>
                  </a:rPr>
                  <a:t> </a:t>
                </a:r>
              </a:p>
            </p:txBody>
          </p:sp>
        </mc:Fallback>
      </mc:AlternateContent>
    </p:spTree>
    <p:extLst>
      <p:ext uri="{BB962C8B-B14F-4D97-AF65-F5344CB8AC3E}">
        <p14:creationId xmlns:p14="http://schemas.microsoft.com/office/powerpoint/2010/main" val="91923870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FB021E-0CB3-248F-BCF2-10848C3C1F0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79F76DC-F2E3-FAF6-9433-21DF10DC3F16}"/>
              </a:ext>
            </a:extLst>
          </p:cNvPr>
          <p:cNvSpPr>
            <a:spLocks noGrp="1"/>
          </p:cNvSpPr>
          <p:nvPr>
            <p:ph type="title"/>
          </p:nvPr>
        </p:nvSpPr>
        <p:spPr>
          <a:xfrm>
            <a:off x="734787" y="10892"/>
            <a:ext cx="10123714" cy="1263192"/>
          </a:xfrm>
        </p:spPr>
        <p:txBody>
          <a:bodyPr/>
          <a:lstStyle/>
          <a:p>
            <a:pPr algn="l"/>
            <a:r>
              <a:rPr lang="en-US" sz="3800" b="1" dirty="0"/>
              <a:t>Solving Literal Equations for Specific Variables</a:t>
            </a:r>
            <a:r>
              <a:rPr lang="en-US" sz="4000" b="1" kern="1200" dirty="0">
                <a:solidFill>
                  <a:srgbClr val="2B8147"/>
                </a:solidFill>
                <a:effectLst/>
                <a:latin typeface="+mj-lt"/>
                <a:ea typeface="+mj-ea"/>
                <a:cs typeface="+mj-cs"/>
              </a:rPr>
              <a:t> </a:t>
            </a:r>
            <a:r>
              <a:rPr lang="en-US" sz="2000" b="1" kern="1200" dirty="0">
                <a:solidFill>
                  <a:schemeClr val="bg1"/>
                </a:solidFill>
                <a:latin typeface="+mj-lt"/>
                <a:ea typeface="+mj-ea"/>
                <a:cs typeface="+mj-cs"/>
              </a:rPr>
              <a:t>(4 of 8)</a:t>
            </a:r>
          </a:p>
        </p:txBody>
      </p:sp>
      <p:sp>
        <p:nvSpPr>
          <p:cNvPr id="9" name="Text Placeholder 2">
            <a:extLst>
              <a:ext uri="{FF2B5EF4-FFF2-40B4-BE49-F238E27FC236}">
                <a16:creationId xmlns:a16="http://schemas.microsoft.com/office/drawing/2014/main" id="{F5D305E9-386F-7525-46DB-F9424F739560}"/>
              </a:ext>
            </a:extLst>
          </p:cNvPr>
          <p:cNvSpPr txBox="1">
            <a:spLocks/>
          </p:cNvSpPr>
          <p:nvPr/>
        </p:nvSpPr>
        <p:spPr>
          <a:xfrm>
            <a:off x="734786" y="1616529"/>
            <a:ext cx="10530114" cy="4716538"/>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457200" indent="-457200">
              <a:spcBef>
                <a:spcPts val="24"/>
              </a:spcBef>
              <a:buFont typeface="+mj-lt"/>
              <a:buAutoNum type="alphaLcPeriod" startAt="2"/>
            </a:pPr>
            <a:r>
              <a:rPr lang="en-GB" sz="2800" dirty="0">
                <a:solidFill>
                  <a:srgbClr val="000000"/>
                </a:solidFill>
              </a:rPr>
              <a:t>Explain how your equation determines a linear measurement when the original equation determined a cubic measurement.</a:t>
            </a:r>
            <a:endParaRPr lang="en-US" sz="2800" dirty="0">
              <a:solidFill>
                <a:srgbClr val="000000"/>
              </a:solidFill>
            </a:endParaRPr>
          </a:p>
          <a:p>
            <a:pPr marL="0" indent="0">
              <a:spcBef>
                <a:spcPts val="24"/>
              </a:spcBef>
              <a:buNone/>
            </a:pPr>
            <a:endParaRPr lang="en-US" sz="2800" dirty="0">
              <a:solidFill>
                <a:srgbClr val="000000"/>
              </a:solidFill>
            </a:endParaRPr>
          </a:p>
          <a:p>
            <a:pPr marL="0" indent="0">
              <a:spcBef>
                <a:spcPts val="24"/>
              </a:spcBef>
              <a:buNone/>
            </a:pPr>
            <a:endParaRPr lang="en-US" sz="2800" dirty="0">
              <a:solidFill>
                <a:srgbClr val="000000"/>
              </a:solidFill>
            </a:endParaRPr>
          </a:p>
          <a:p>
            <a:pPr marL="0" indent="0">
              <a:spcBef>
                <a:spcPts val="24"/>
              </a:spcBef>
              <a:buNone/>
            </a:pPr>
            <a:endParaRPr lang="en-US" sz="2800" dirty="0">
              <a:solidFill>
                <a:srgbClr val="000000"/>
              </a:solidFill>
            </a:endParaRPr>
          </a:p>
          <a:p>
            <a:pPr marL="0" indent="0">
              <a:spcBef>
                <a:spcPts val="24"/>
              </a:spcBef>
              <a:buNone/>
            </a:pPr>
            <a:endParaRPr lang="en-US" sz="2800" dirty="0">
              <a:solidFill>
                <a:srgbClr val="000000"/>
              </a:solidFill>
            </a:endParaRPr>
          </a:p>
          <a:p>
            <a:pPr marL="0" indent="0">
              <a:spcBef>
                <a:spcPts val="24"/>
              </a:spcBef>
              <a:buNone/>
            </a:pPr>
            <a:endParaRPr lang="en-US" sz="2800" dirty="0">
              <a:solidFill>
                <a:srgbClr val="000000"/>
              </a:solidFill>
            </a:endParaRPr>
          </a:p>
          <a:p>
            <a:pPr marL="0" indent="0">
              <a:spcBef>
                <a:spcPts val="24"/>
              </a:spcBef>
              <a:buNone/>
            </a:pPr>
            <a:endParaRPr lang="en-US" sz="2800" dirty="0">
              <a:solidFill>
                <a:srgbClr val="000000"/>
              </a:solidFill>
            </a:endParaRPr>
          </a:p>
          <a:p>
            <a:pPr marL="0" indent="0">
              <a:spcBef>
                <a:spcPts val="24"/>
              </a:spcBef>
              <a:buNone/>
            </a:pPr>
            <a:r>
              <a:rPr lang="en-US" sz="2800" dirty="0">
                <a:solidFill>
                  <a:srgbClr val="000000"/>
                </a:solidFill>
              </a:rPr>
              <a:t> </a:t>
            </a:r>
          </a:p>
        </p:txBody>
      </p:sp>
    </p:spTree>
    <p:extLst>
      <p:ext uri="{BB962C8B-B14F-4D97-AF65-F5344CB8AC3E}">
        <p14:creationId xmlns:p14="http://schemas.microsoft.com/office/powerpoint/2010/main" val="209578701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F0675A-6DB2-5D71-F362-408B8C96FA2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9A71AD9-9E77-7B74-E2C0-7557110E7F01}"/>
              </a:ext>
            </a:extLst>
          </p:cNvPr>
          <p:cNvSpPr>
            <a:spLocks noGrp="1"/>
          </p:cNvSpPr>
          <p:nvPr>
            <p:ph type="title"/>
          </p:nvPr>
        </p:nvSpPr>
        <p:spPr/>
        <p:txBody>
          <a:bodyPr/>
          <a:lstStyle/>
          <a:p>
            <a:pPr algn="l"/>
            <a:r>
              <a:rPr lang="en-US" sz="3800" b="1" dirty="0"/>
              <a:t>Solving Literal Equations for Specific Variables </a:t>
            </a:r>
            <a:r>
              <a:rPr lang="en-US" sz="2000" b="1" dirty="0">
                <a:solidFill>
                  <a:schemeClr val="bg1"/>
                </a:solidFill>
              </a:rPr>
              <a:t>(5 of 8)</a:t>
            </a:r>
          </a:p>
        </p:txBody>
      </p:sp>
      <mc:AlternateContent xmlns:mc="http://schemas.openxmlformats.org/markup-compatibility/2006" xmlns:a14="http://schemas.microsoft.com/office/drawing/2010/main">
        <mc:Choice Requires="a14">
          <p:sp>
            <p:nvSpPr>
              <p:cNvPr id="2" name="Text Placeholder 2">
                <a:extLst>
                  <a:ext uri="{FF2B5EF4-FFF2-40B4-BE49-F238E27FC236}">
                    <a16:creationId xmlns:a16="http://schemas.microsoft.com/office/drawing/2014/main" id="{981BF970-1B19-F1F2-A5B2-705E52E6944D}"/>
                  </a:ext>
                </a:extLst>
              </p:cNvPr>
              <p:cNvSpPr txBox="1">
                <a:spLocks/>
              </p:cNvSpPr>
              <p:nvPr/>
            </p:nvSpPr>
            <p:spPr>
              <a:xfrm>
                <a:off x="777240" y="1600200"/>
                <a:ext cx="10589260" cy="4914900"/>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buFont typeface="+mj-lt"/>
                  <a:buAutoNum type="arabicPeriod" startAt="3"/>
                </a:pPr>
                <a:r>
                  <a:rPr lang="en-US" sz="2800" dirty="0">
                    <a:solidFill>
                      <a:srgbClr val="000000"/>
                    </a:solidFill>
                  </a:rPr>
                  <a:t>The formula for the area of a trapezoid is </a:t>
                </a:r>
                <a14:m>
                  <m:oMath xmlns:m="http://schemas.openxmlformats.org/officeDocument/2006/math">
                    <m:r>
                      <a:rPr lang="en-US" sz="2800" i="1" dirty="0" smtClean="0">
                        <a:solidFill>
                          <a:srgbClr val="000000"/>
                        </a:solidFill>
                        <a:latin typeface="Cambria Math" panose="02040503050406030204" pitchFamily="18" charset="0"/>
                      </a:rPr>
                      <m:t>𝐴</m:t>
                    </m:r>
                    <m:r>
                      <a:rPr lang="en-US" sz="2800" i="1" dirty="0" smtClean="0">
                        <a:solidFill>
                          <a:srgbClr val="000000"/>
                        </a:solidFill>
                        <a:latin typeface="Cambria Math" panose="02040503050406030204" pitchFamily="18" charset="0"/>
                      </a:rPr>
                      <m:t>=</m:t>
                    </m:r>
                  </m:oMath>
                </a14:m>
                <a:r>
                  <a:rPr lang="en-US" sz="2800" dirty="0">
                    <a:solidFill>
                      <a:srgbClr val="000000"/>
                    </a:solidFill>
                  </a:rPr>
                  <a:t> </a:t>
                </a:r>
                <a14:m>
                  <m:oMath xmlns:m="http://schemas.openxmlformats.org/officeDocument/2006/math">
                    <m:f>
                      <m:fPr>
                        <m:ctrlPr>
                          <a:rPr lang="en-US" sz="2800" i="1" smtClean="0">
                            <a:solidFill>
                              <a:srgbClr val="000000"/>
                            </a:solidFill>
                            <a:latin typeface="Cambria Math" panose="02040503050406030204" pitchFamily="18" charset="0"/>
                          </a:rPr>
                        </m:ctrlPr>
                      </m:fPr>
                      <m:num>
                        <m:r>
                          <a:rPr lang="en-US" sz="2800" b="0" i="1" smtClean="0">
                            <a:solidFill>
                              <a:srgbClr val="000000"/>
                            </a:solidFill>
                            <a:latin typeface="Cambria Math" panose="02040503050406030204" pitchFamily="18" charset="0"/>
                          </a:rPr>
                          <m:t>1</m:t>
                        </m:r>
                      </m:num>
                      <m:den>
                        <m:r>
                          <a:rPr lang="en-US" sz="2800" b="0" i="1" smtClean="0">
                            <a:solidFill>
                              <a:srgbClr val="000000"/>
                            </a:solidFill>
                            <a:latin typeface="Cambria Math" panose="02040503050406030204" pitchFamily="18" charset="0"/>
                          </a:rPr>
                          <m:t>2</m:t>
                        </m:r>
                      </m:den>
                    </m:f>
                    <m:r>
                      <a:rPr lang="en-US" sz="2800" b="0" i="1" smtClean="0">
                        <a:solidFill>
                          <a:srgbClr val="000000"/>
                        </a:solidFill>
                        <a:latin typeface="Cambria Math" panose="02040503050406030204" pitchFamily="18" charset="0"/>
                      </a:rPr>
                      <m:t>h</m:t>
                    </m:r>
                    <m:r>
                      <a:rPr lang="en-US" sz="2800" b="0" i="1" smtClean="0">
                        <a:solidFill>
                          <a:srgbClr val="000000"/>
                        </a:solidFill>
                        <a:latin typeface="Cambria Math" panose="02040503050406030204" pitchFamily="18" charset="0"/>
                      </a:rPr>
                      <m:t>(</m:t>
                    </m:r>
                    <m:r>
                      <a:rPr lang="en-US" sz="2800" b="0" i="1" smtClean="0">
                        <a:solidFill>
                          <a:srgbClr val="000000"/>
                        </a:solidFill>
                        <a:latin typeface="Cambria Math" panose="02040503050406030204" pitchFamily="18" charset="0"/>
                      </a:rPr>
                      <m:t>𝑏</m:t>
                    </m:r>
                    <m:r>
                      <a:rPr lang="en-US" sz="2800" b="0" i="1" baseline="-25000" smtClean="0">
                        <a:solidFill>
                          <a:srgbClr val="000000"/>
                        </a:solidFill>
                        <a:latin typeface="Cambria Math" panose="02040503050406030204" pitchFamily="18" charset="0"/>
                      </a:rPr>
                      <m:t>1</m:t>
                    </m:r>
                    <m:r>
                      <a:rPr lang="en-US" sz="2800" i="1" dirty="0" smtClean="0">
                        <a:solidFill>
                          <a:srgbClr val="000000"/>
                        </a:solidFill>
                        <a:latin typeface="Cambria Math" panose="02040503050406030204" pitchFamily="18" charset="0"/>
                      </a:rPr>
                      <m:t>+</m:t>
                    </m:r>
                    <m:r>
                      <a:rPr lang="en-US" sz="2800" b="0" i="1" dirty="0" smtClean="0">
                        <a:solidFill>
                          <a:srgbClr val="000000"/>
                        </a:solidFill>
                        <a:latin typeface="Cambria Math" panose="02040503050406030204" pitchFamily="18" charset="0"/>
                      </a:rPr>
                      <m:t>𝑏</m:t>
                    </m:r>
                    <m:r>
                      <a:rPr lang="en-US" sz="2800" b="0" i="1" baseline="-25000" dirty="0" smtClean="0">
                        <a:solidFill>
                          <a:srgbClr val="000000"/>
                        </a:solidFill>
                        <a:latin typeface="Cambria Math" panose="02040503050406030204" pitchFamily="18" charset="0"/>
                      </a:rPr>
                      <m:t>2</m:t>
                    </m:r>
                    <m:r>
                      <a:rPr lang="en-US" sz="2800" i="1" dirty="0" smtClean="0">
                        <a:solidFill>
                          <a:srgbClr val="000000"/>
                        </a:solidFill>
                        <a:latin typeface="Cambria Math" panose="02040503050406030204" pitchFamily="18" charset="0"/>
                      </a:rPr>
                      <m:t>)</m:t>
                    </m:r>
                  </m:oMath>
                </a14:m>
                <a:r>
                  <a:rPr lang="en-US" sz="2800" dirty="0">
                    <a:solidFill>
                      <a:srgbClr val="000000"/>
                    </a:solidFill>
                  </a:rPr>
                  <a:t> , where </a:t>
                </a:r>
                <a14:m>
                  <m:oMath xmlns:m="http://schemas.openxmlformats.org/officeDocument/2006/math">
                    <m:r>
                      <a:rPr lang="en-US" sz="2800" i="1" dirty="0" smtClean="0">
                        <a:solidFill>
                          <a:srgbClr val="000000"/>
                        </a:solidFill>
                        <a:latin typeface="Cambria Math" panose="02040503050406030204" pitchFamily="18" charset="0"/>
                      </a:rPr>
                      <m:t>h</m:t>
                    </m:r>
                  </m:oMath>
                </a14:m>
                <a:r>
                  <a:rPr lang="en-US" sz="2800" dirty="0">
                    <a:solidFill>
                      <a:srgbClr val="000000"/>
                    </a:solidFill>
                  </a:rPr>
                  <a:t> is the height and </a:t>
                </a:r>
                <a14:m>
                  <m:oMath xmlns:m="http://schemas.openxmlformats.org/officeDocument/2006/math">
                    <m:r>
                      <a:rPr lang="en-US" sz="2800" i="1" dirty="0" smtClean="0">
                        <a:solidFill>
                          <a:srgbClr val="000000"/>
                        </a:solidFill>
                        <a:latin typeface="Cambria Math" panose="02040503050406030204" pitchFamily="18" charset="0"/>
                      </a:rPr>
                      <m:t>𝑏</m:t>
                    </m:r>
                    <m:r>
                      <a:rPr lang="en-US" sz="2800" i="1" baseline="-25000" dirty="0" smtClean="0">
                        <a:solidFill>
                          <a:srgbClr val="000000"/>
                        </a:solidFill>
                        <a:latin typeface="Cambria Math" panose="02040503050406030204" pitchFamily="18" charset="0"/>
                      </a:rPr>
                      <m:t>1</m:t>
                    </m:r>
                  </m:oMath>
                </a14:m>
                <a:r>
                  <a:rPr lang="en-US" sz="2800" dirty="0">
                    <a:solidFill>
                      <a:srgbClr val="000000"/>
                    </a:solidFill>
                  </a:rPr>
                  <a:t> and </a:t>
                </a:r>
                <a14:m>
                  <m:oMath xmlns:m="http://schemas.openxmlformats.org/officeDocument/2006/math">
                    <m:r>
                      <a:rPr lang="en-US" sz="2800" i="1" dirty="0" smtClean="0">
                        <a:solidFill>
                          <a:srgbClr val="000000"/>
                        </a:solidFill>
                        <a:latin typeface="Cambria Math" panose="02040503050406030204" pitchFamily="18" charset="0"/>
                      </a:rPr>
                      <m:t>𝑏</m:t>
                    </m:r>
                    <m:r>
                      <a:rPr lang="en-US" sz="2800" i="1" baseline="-25000" dirty="0" smtClean="0">
                        <a:solidFill>
                          <a:srgbClr val="000000"/>
                        </a:solidFill>
                        <a:latin typeface="Cambria Math" panose="02040503050406030204" pitchFamily="18" charset="0"/>
                      </a:rPr>
                      <m:t>2</m:t>
                    </m:r>
                  </m:oMath>
                </a14:m>
                <a:r>
                  <a:rPr lang="en-US" sz="2800" dirty="0">
                    <a:solidFill>
                      <a:srgbClr val="000000"/>
                    </a:solidFill>
                  </a:rPr>
                  <a:t> are the lengths of each base.</a:t>
                </a:r>
              </a:p>
              <a:p>
                <a:pPr marL="914400" indent="-449263">
                  <a:buFont typeface="+mj-lt"/>
                  <a:buAutoNum type="alphaLcPeriod"/>
                </a:pPr>
                <a:r>
                  <a:rPr lang="en-GB" sz="2800" dirty="0">
                    <a:solidFill>
                      <a:srgbClr val="000000"/>
                    </a:solidFill>
                  </a:rPr>
                  <a:t>Convert the area formula to solve for the height.</a:t>
                </a:r>
                <a:endParaRPr lang="en-US" sz="2800" dirty="0">
                  <a:solidFill>
                    <a:srgbClr val="000000"/>
                  </a:solidFill>
                </a:endParaRPr>
              </a:p>
              <a:p>
                <a:pPr marL="514350" indent="-514350">
                  <a:buFont typeface="+mj-lt"/>
                  <a:buAutoNum type="alphaLcPeriod"/>
                </a:pPr>
                <a:endParaRPr lang="en-US" sz="2800" dirty="0">
                  <a:solidFill>
                    <a:srgbClr val="000000"/>
                  </a:solidFill>
                </a:endParaRPr>
              </a:p>
              <a:p>
                <a:pPr marL="514350" indent="-514350">
                  <a:buFont typeface="+mj-lt"/>
                  <a:buAutoNum type="alphaLcPeriod"/>
                </a:pPr>
                <a:endParaRPr lang="en-US" sz="2800" dirty="0">
                  <a:solidFill>
                    <a:srgbClr val="000000"/>
                  </a:solidFill>
                </a:endParaRPr>
              </a:p>
              <a:p>
                <a:pPr marL="914400" indent="-449263">
                  <a:buFont typeface="+mj-lt"/>
                  <a:buAutoNum type="alphaLcPeriod"/>
                </a:pPr>
                <a:r>
                  <a:rPr lang="en-US" sz="2800" dirty="0">
                    <a:solidFill>
                      <a:srgbClr val="000000"/>
                    </a:solidFill>
                  </a:rPr>
                  <a:t>Use your formula to determine the height of a trapezoid with an area of 24 square centimeters and base lengths of 9 cm and 7 cm.</a:t>
                </a:r>
              </a:p>
            </p:txBody>
          </p:sp>
        </mc:Choice>
        <mc:Fallback xmlns="">
          <p:sp>
            <p:nvSpPr>
              <p:cNvPr id="2" name="Text Placeholder 2">
                <a:extLst>
                  <a:ext uri="{FF2B5EF4-FFF2-40B4-BE49-F238E27FC236}">
                    <a16:creationId xmlns:a16="http://schemas.microsoft.com/office/drawing/2014/main" id="{981BF970-1B19-F1F2-A5B2-705E52E6944D}"/>
                  </a:ext>
                </a:extLst>
              </p:cNvPr>
              <p:cNvSpPr txBox="1">
                <a:spLocks noRot="1" noChangeAspect="1" noMove="1" noResize="1" noEditPoints="1" noAdjustHandles="1" noChangeArrowheads="1" noChangeShapeType="1" noTextEdit="1"/>
              </p:cNvSpPr>
              <p:nvPr/>
            </p:nvSpPr>
            <p:spPr>
              <a:xfrm>
                <a:off x="777240" y="1600200"/>
                <a:ext cx="10589260" cy="4914900"/>
              </a:xfrm>
              <a:prstGeom prst="rect">
                <a:avLst/>
              </a:prstGeom>
              <a:blipFill>
                <a:blip r:embed="rId3"/>
                <a:stretch>
                  <a:fillRect l="-1209" r="-979"/>
                </a:stretch>
              </a:blipFill>
            </p:spPr>
            <p:txBody>
              <a:bodyPr/>
              <a:lstStyle/>
              <a:p>
                <a:r>
                  <a:rPr lang="en-IN">
                    <a:noFill/>
                  </a:rPr>
                  <a:t> </a:t>
                </a:r>
              </a:p>
            </p:txBody>
          </p:sp>
        </mc:Fallback>
      </mc:AlternateContent>
    </p:spTree>
    <p:extLst>
      <p:ext uri="{BB962C8B-B14F-4D97-AF65-F5344CB8AC3E}">
        <p14:creationId xmlns:p14="http://schemas.microsoft.com/office/powerpoint/2010/main" val="83747952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5E3CB1-74D9-7052-8D14-1416F2960F88}"/>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A47DA22-9F67-DCA3-EE24-A348DE7D3ADF}"/>
              </a:ext>
            </a:extLst>
          </p:cNvPr>
          <p:cNvSpPr>
            <a:spLocks noGrp="1"/>
          </p:cNvSpPr>
          <p:nvPr>
            <p:ph type="title"/>
          </p:nvPr>
        </p:nvSpPr>
        <p:spPr/>
        <p:txBody>
          <a:bodyPr/>
          <a:lstStyle/>
          <a:p>
            <a:pPr algn="l"/>
            <a:r>
              <a:rPr lang="en-US" sz="3800" b="1" dirty="0"/>
              <a:t>Solving Literal Equations for Specific Variables </a:t>
            </a:r>
            <a:r>
              <a:rPr lang="en-US" sz="2000" b="1" dirty="0">
                <a:solidFill>
                  <a:schemeClr val="bg1"/>
                </a:solidFill>
              </a:rPr>
              <a:t>(6 of 8)</a:t>
            </a:r>
          </a:p>
        </p:txBody>
      </p:sp>
      <mc:AlternateContent xmlns:mc="http://schemas.openxmlformats.org/markup-compatibility/2006" xmlns:a14="http://schemas.microsoft.com/office/drawing/2010/main">
        <mc:Choice Requires="a14">
          <p:sp>
            <p:nvSpPr>
              <p:cNvPr id="2" name="Text Placeholder 2">
                <a:extLst>
                  <a:ext uri="{FF2B5EF4-FFF2-40B4-BE49-F238E27FC236}">
                    <a16:creationId xmlns:a16="http://schemas.microsoft.com/office/drawing/2014/main" id="{841DE675-3A77-526F-5848-8D915B7B1C38}"/>
                  </a:ext>
                </a:extLst>
              </p:cNvPr>
              <p:cNvSpPr txBox="1">
                <a:spLocks/>
              </p:cNvSpPr>
              <p:nvPr/>
            </p:nvSpPr>
            <p:spPr>
              <a:xfrm>
                <a:off x="777240" y="1562100"/>
                <a:ext cx="9890759" cy="4432300"/>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466344" indent="-466344">
                  <a:buFont typeface="+mj-lt"/>
                  <a:buAutoNum type="arabicPeriod" startAt="4"/>
                </a:pPr>
                <a:r>
                  <a:rPr lang="en-US" sz="2800" dirty="0">
                    <a:solidFill>
                      <a:srgbClr val="000000"/>
                    </a:solidFill>
                  </a:rPr>
                  <a:t>For the given literal equation </a:t>
                </a:r>
                <a14:m>
                  <m:oMath xmlns:m="http://schemas.openxmlformats.org/officeDocument/2006/math">
                    <m:r>
                      <a:rPr lang="en-US" sz="2800" i="1" dirty="0" smtClean="0">
                        <a:solidFill>
                          <a:srgbClr val="000000"/>
                        </a:solidFill>
                        <a:latin typeface="Cambria Math" panose="02040503050406030204" pitchFamily="18" charset="0"/>
                      </a:rPr>
                      <m:t>𝑍</m:t>
                    </m:r>
                    <m:r>
                      <a:rPr lang="en-US" sz="2800" i="1" dirty="0" smtClean="0">
                        <a:solidFill>
                          <a:srgbClr val="000000"/>
                        </a:solidFill>
                        <a:latin typeface="Cambria Math" panose="02040503050406030204" pitchFamily="18" charset="0"/>
                      </a:rPr>
                      <m:t>=</m:t>
                    </m:r>
                    <m:f>
                      <m:fPr>
                        <m:ctrlPr>
                          <a:rPr lang="en-US" sz="2800" i="1" dirty="0" smtClean="0">
                            <a:solidFill>
                              <a:srgbClr val="000000"/>
                            </a:solidFill>
                            <a:latin typeface="Cambria Math" panose="02040503050406030204" pitchFamily="18" charset="0"/>
                          </a:rPr>
                        </m:ctrlPr>
                      </m:fPr>
                      <m:num>
                        <m:r>
                          <a:rPr lang="en-US" sz="2800" b="0" i="1" dirty="0" smtClean="0">
                            <a:solidFill>
                              <a:srgbClr val="000000"/>
                            </a:solidFill>
                            <a:latin typeface="Cambria Math" panose="02040503050406030204" pitchFamily="18" charset="0"/>
                          </a:rPr>
                          <m:t>𝐴</m:t>
                        </m:r>
                      </m:num>
                      <m:den>
                        <m:r>
                          <a:rPr lang="en-US" sz="2800" b="0" i="1" dirty="0" smtClean="0">
                            <a:solidFill>
                              <a:srgbClr val="000000"/>
                            </a:solidFill>
                            <a:latin typeface="Cambria Math" panose="02040503050406030204" pitchFamily="18" charset="0"/>
                          </a:rPr>
                          <m:t>𝐵</m:t>
                        </m:r>
                      </m:den>
                    </m:f>
                    <m:r>
                      <a:rPr lang="en-US" sz="2800" b="0" i="1" dirty="0" smtClean="0">
                        <a:solidFill>
                          <a:srgbClr val="000000"/>
                        </a:solidFill>
                        <a:latin typeface="Cambria Math" panose="02040503050406030204" pitchFamily="18" charset="0"/>
                      </a:rPr>
                      <m:t>+</m:t>
                    </m:r>
                    <m:f>
                      <m:fPr>
                        <m:ctrlPr>
                          <a:rPr lang="en-US" sz="2800" i="1" dirty="0">
                            <a:solidFill>
                              <a:srgbClr val="000000"/>
                            </a:solidFill>
                            <a:latin typeface="Cambria Math" panose="02040503050406030204" pitchFamily="18" charset="0"/>
                          </a:rPr>
                        </m:ctrlPr>
                      </m:fPr>
                      <m:num>
                        <m:r>
                          <a:rPr lang="en-US" sz="2800" b="0" i="1" dirty="0" smtClean="0">
                            <a:solidFill>
                              <a:srgbClr val="000000"/>
                            </a:solidFill>
                            <a:latin typeface="Cambria Math" panose="02040503050406030204" pitchFamily="18" charset="0"/>
                          </a:rPr>
                          <m:t>𝐶</m:t>
                        </m:r>
                      </m:num>
                      <m:den>
                        <m:r>
                          <a:rPr lang="en-US" sz="2800" b="0" i="1" dirty="0" smtClean="0">
                            <a:solidFill>
                              <a:srgbClr val="000000"/>
                            </a:solidFill>
                            <a:latin typeface="Cambria Math" panose="02040503050406030204" pitchFamily="18" charset="0"/>
                          </a:rPr>
                          <m:t>𝐷</m:t>
                        </m:r>
                      </m:den>
                    </m:f>
                  </m:oMath>
                </a14:m>
                <a:r>
                  <a:rPr lang="en-US" sz="2800" dirty="0">
                    <a:solidFill>
                      <a:srgbClr val="000000"/>
                    </a:solidFill>
                  </a:rPr>
                  <a:t>, solve for each variable given. Justify your solution method.</a:t>
                </a:r>
              </a:p>
              <a:p>
                <a:pPr marL="865188" lvl="1" indent="-420688">
                  <a:buFont typeface="+mj-lt"/>
                  <a:buAutoNum type="alphaLcPeriod"/>
                </a:pPr>
                <a:r>
                  <a:rPr lang="en-US" dirty="0">
                    <a:solidFill>
                      <a:srgbClr val="000000"/>
                    </a:solidFill>
                  </a:rPr>
                  <a:t> </a:t>
                </a:r>
                <a:r>
                  <a:rPr lang="en-US" i="1" dirty="0">
                    <a:solidFill>
                      <a:srgbClr val="000000"/>
                    </a:solidFill>
                  </a:rPr>
                  <a:t>A</a:t>
                </a:r>
              </a:p>
              <a:p>
                <a:pPr marL="866394" lvl="1" indent="-466344">
                  <a:buFont typeface="+mj-lt"/>
                  <a:buAutoNum type="alphaLcPeriod"/>
                </a:pPr>
                <a:endParaRPr lang="en-US" sz="2800" i="1" dirty="0">
                  <a:solidFill>
                    <a:srgbClr val="000000"/>
                  </a:solidFill>
                </a:endParaRPr>
              </a:p>
              <a:p>
                <a:pPr marL="866394" lvl="1" indent="-466344">
                  <a:buFont typeface="+mj-lt"/>
                  <a:buAutoNum type="alphaLcPeriod"/>
                </a:pPr>
                <a:endParaRPr lang="en-US" i="1" dirty="0">
                  <a:solidFill>
                    <a:srgbClr val="000000"/>
                  </a:solidFill>
                </a:endParaRPr>
              </a:p>
              <a:p>
                <a:pPr marL="866394" lvl="1" indent="-466344">
                  <a:buFont typeface="+mj-lt"/>
                  <a:buAutoNum type="alphaLcPeriod"/>
                </a:pPr>
                <a:endParaRPr lang="en-US" sz="2800" i="1" dirty="0">
                  <a:solidFill>
                    <a:srgbClr val="000000"/>
                  </a:solidFill>
                </a:endParaRPr>
              </a:p>
              <a:p>
                <a:pPr marL="865188" lvl="1" indent="-420688">
                  <a:buFont typeface="+mj-lt"/>
                  <a:buAutoNum type="alphaLcPeriod"/>
                </a:pPr>
                <a:r>
                  <a:rPr lang="en-US" sz="2800" dirty="0">
                    <a:solidFill>
                      <a:srgbClr val="000000"/>
                    </a:solidFill>
                  </a:rPr>
                  <a:t> </a:t>
                </a:r>
                <a:r>
                  <a:rPr lang="en-US" sz="2800" i="1" dirty="0">
                    <a:solidFill>
                      <a:srgbClr val="000000"/>
                    </a:solidFill>
                  </a:rPr>
                  <a:t>D</a:t>
                </a:r>
              </a:p>
              <a:p>
                <a:pPr marL="466344" indent="0">
                  <a:buFont typeface="+mj-lt"/>
                  <a:buAutoNum type="alphaLcPeriod"/>
                </a:pPr>
                <a:endParaRPr lang="es-ES" sz="2800" dirty="0">
                  <a:solidFill>
                    <a:srgbClr val="000000"/>
                  </a:solidFill>
                </a:endParaRPr>
              </a:p>
              <a:p>
                <a:pPr marL="0" indent="0">
                  <a:buNone/>
                </a:pPr>
                <a:endParaRPr lang="en-US" sz="2800" dirty="0">
                  <a:solidFill>
                    <a:srgbClr val="000000"/>
                  </a:solidFill>
                </a:endParaRPr>
              </a:p>
            </p:txBody>
          </p:sp>
        </mc:Choice>
        <mc:Fallback xmlns="">
          <p:sp>
            <p:nvSpPr>
              <p:cNvPr id="2" name="Text Placeholder 2">
                <a:extLst>
                  <a:ext uri="{FF2B5EF4-FFF2-40B4-BE49-F238E27FC236}">
                    <a16:creationId xmlns:a16="http://schemas.microsoft.com/office/drawing/2014/main" id="{841DE675-3A77-526F-5848-8D915B7B1C38}"/>
                  </a:ext>
                </a:extLst>
              </p:cNvPr>
              <p:cNvSpPr txBox="1">
                <a:spLocks noRot="1" noChangeAspect="1" noMove="1" noResize="1" noEditPoints="1" noAdjustHandles="1" noChangeArrowheads="1" noChangeShapeType="1" noTextEdit="1"/>
              </p:cNvSpPr>
              <p:nvPr/>
            </p:nvSpPr>
            <p:spPr>
              <a:xfrm>
                <a:off x="777240" y="1562100"/>
                <a:ext cx="9890759" cy="4432300"/>
              </a:xfrm>
              <a:prstGeom prst="rect">
                <a:avLst/>
              </a:prstGeom>
              <a:blipFill>
                <a:blip r:embed="rId3"/>
                <a:stretch>
                  <a:fillRect l="-1295" r="-740"/>
                </a:stretch>
              </a:blipFill>
            </p:spPr>
            <p:txBody>
              <a:bodyPr/>
              <a:lstStyle/>
              <a:p>
                <a:r>
                  <a:rPr lang="en-US">
                    <a:noFill/>
                  </a:rPr>
                  <a:t> </a:t>
                </a:r>
              </a:p>
            </p:txBody>
          </p:sp>
        </mc:Fallback>
      </mc:AlternateContent>
    </p:spTree>
    <p:extLst>
      <p:ext uri="{BB962C8B-B14F-4D97-AF65-F5344CB8AC3E}">
        <p14:creationId xmlns:p14="http://schemas.microsoft.com/office/powerpoint/2010/main" val="327380751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6E680C-687E-ADE3-3B99-3A67A183D06C}"/>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9FB96E88-BB2E-CCCC-A8DB-844709AE19B8}"/>
              </a:ext>
            </a:extLst>
          </p:cNvPr>
          <p:cNvSpPr>
            <a:spLocks noGrp="1"/>
          </p:cNvSpPr>
          <p:nvPr>
            <p:ph type="title"/>
          </p:nvPr>
        </p:nvSpPr>
        <p:spPr/>
        <p:txBody>
          <a:bodyPr/>
          <a:lstStyle/>
          <a:p>
            <a:pPr algn="l"/>
            <a:r>
              <a:rPr lang="en-US" sz="3800" b="1" dirty="0"/>
              <a:t>Solving Literal Equations for Specific Variables </a:t>
            </a:r>
            <a:r>
              <a:rPr lang="en-US" sz="2000" b="1" dirty="0">
                <a:solidFill>
                  <a:schemeClr val="bg1"/>
                </a:solidFill>
              </a:rPr>
              <a:t>(7 of 8)</a:t>
            </a:r>
          </a:p>
        </p:txBody>
      </p:sp>
      <p:sp>
        <p:nvSpPr>
          <p:cNvPr id="9" name="Text Placeholder 2">
            <a:extLst>
              <a:ext uri="{FF2B5EF4-FFF2-40B4-BE49-F238E27FC236}">
                <a16:creationId xmlns:a16="http://schemas.microsoft.com/office/drawing/2014/main" id="{71BF5C85-DFDF-480D-3B0C-5ACB78A2EDF7}"/>
              </a:ext>
            </a:extLst>
          </p:cNvPr>
          <p:cNvSpPr txBox="1">
            <a:spLocks/>
          </p:cNvSpPr>
          <p:nvPr/>
        </p:nvSpPr>
        <p:spPr>
          <a:xfrm>
            <a:off x="777240" y="1616140"/>
            <a:ext cx="9893719" cy="402191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r>
              <a:rPr lang="en-US" sz="2800" b="0" i="0" u="none" strike="noStrike" baseline="0" dirty="0">
                <a:solidFill>
                  <a:srgbClr val="000000"/>
                </a:solidFill>
              </a:rPr>
              <a:t>Let’s summarize our learning from Activity 2.3!</a:t>
            </a:r>
          </a:p>
        </p:txBody>
      </p:sp>
      <p:pic>
        <p:nvPicPr>
          <p:cNvPr id="3" name="Picture 2">
            <a:extLst>
              <a:ext uri="{FF2B5EF4-FFF2-40B4-BE49-F238E27FC236}">
                <a16:creationId xmlns:a16="http://schemas.microsoft.com/office/drawing/2014/main" id="{ED191E3C-F915-873D-627B-FE0FCB70ED39}"/>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74023" y="372494"/>
            <a:ext cx="1501270" cy="518205"/>
          </a:xfrm>
          <a:prstGeom prst="rect">
            <a:avLst/>
          </a:prstGeom>
        </p:spPr>
      </p:pic>
    </p:spTree>
    <p:extLst>
      <p:ext uri="{BB962C8B-B14F-4D97-AF65-F5344CB8AC3E}">
        <p14:creationId xmlns:p14="http://schemas.microsoft.com/office/powerpoint/2010/main" val="163654595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6B83FC-1328-5286-4D58-7A5939A5592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1394877-95B0-0EA2-F5D2-F2B383DB4A33}"/>
              </a:ext>
            </a:extLst>
          </p:cNvPr>
          <p:cNvSpPr>
            <a:spLocks noGrp="1"/>
          </p:cNvSpPr>
          <p:nvPr>
            <p:ph type="title"/>
          </p:nvPr>
        </p:nvSpPr>
        <p:spPr/>
        <p:txBody>
          <a:bodyPr/>
          <a:lstStyle/>
          <a:p>
            <a:pPr algn="l"/>
            <a:r>
              <a:rPr lang="en-US" sz="3800" b="1" dirty="0"/>
              <a:t>Solving Literal Equations for Specific Variables </a:t>
            </a:r>
            <a:r>
              <a:rPr lang="en-US" sz="2000" b="1" dirty="0">
                <a:solidFill>
                  <a:schemeClr val="bg1"/>
                </a:solidFill>
              </a:rPr>
              <a:t>(8 of 8)</a:t>
            </a:r>
          </a:p>
        </p:txBody>
      </p:sp>
      <p:sp>
        <p:nvSpPr>
          <p:cNvPr id="9" name="Text Placeholder 2">
            <a:extLst>
              <a:ext uri="{FF2B5EF4-FFF2-40B4-BE49-F238E27FC236}">
                <a16:creationId xmlns:a16="http://schemas.microsoft.com/office/drawing/2014/main" id="{8BAA74F2-A56A-99BB-CC00-B0FCF17FAAC8}"/>
              </a:ext>
              <a:ext uri="{C183D7F6-B498-43B3-948B-1728B52AA6E4}">
                <adec:decorative xmlns:adec="http://schemas.microsoft.com/office/drawing/2017/decorative" val="1"/>
              </a:ext>
            </a:extLst>
          </p:cNvPr>
          <p:cNvSpPr txBox="1">
            <a:spLocks/>
          </p:cNvSpPr>
          <p:nvPr/>
        </p:nvSpPr>
        <p:spPr>
          <a:xfrm>
            <a:off x="777240" y="1616140"/>
            <a:ext cx="10471759" cy="402191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endParaRPr lang="en-US" sz="2800" dirty="0">
              <a:solidFill>
                <a:schemeClr val="bg2">
                  <a:lumMod val="25000"/>
                </a:schemeClr>
              </a:solidFill>
            </a:endParaRPr>
          </a:p>
        </p:txBody>
      </p:sp>
    </p:spTree>
    <p:extLst>
      <p:ext uri="{BB962C8B-B14F-4D97-AF65-F5344CB8AC3E}">
        <p14:creationId xmlns:p14="http://schemas.microsoft.com/office/powerpoint/2010/main" val="102330941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3EAD63-4C4E-2061-9958-31BD7F29442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A08FFB5-D2FB-D2B3-04E1-6A986A718A76}"/>
              </a:ext>
            </a:extLst>
          </p:cNvPr>
          <p:cNvSpPr>
            <a:spLocks noGrp="1"/>
          </p:cNvSpPr>
          <p:nvPr>
            <p:ph type="title" idx="4294967295"/>
          </p:nvPr>
        </p:nvSpPr>
        <p:spPr>
          <a:xfrm>
            <a:off x="838200" y="-465364"/>
            <a:ext cx="10514013" cy="465364"/>
          </a:xfrm>
          <a:prstGeom prst="rect">
            <a:avLst/>
          </a:prstGeom>
        </p:spPr>
        <p:txBody>
          <a:bodyPr anchor="b"/>
          <a:lstStyle/>
          <a:p>
            <a:r>
              <a:rPr lang="en-US" sz="2000" dirty="0">
                <a:solidFill>
                  <a:schemeClr val="bg2"/>
                </a:solidFill>
              </a:rPr>
              <a:t>Talk the Talk</a:t>
            </a:r>
          </a:p>
        </p:txBody>
      </p:sp>
      <p:sp>
        <p:nvSpPr>
          <p:cNvPr id="2" name="Text Placeholder 1" descr="10 minutes">
            <a:extLst>
              <a:ext uri="{FF2B5EF4-FFF2-40B4-BE49-F238E27FC236}">
                <a16:creationId xmlns:a16="http://schemas.microsoft.com/office/drawing/2014/main" id="{BD57B785-5750-9E46-B9C6-10A79E0561EC}"/>
              </a:ext>
            </a:extLst>
          </p:cNvPr>
          <p:cNvSpPr>
            <a:spLocks noGrp="1"/>
          </p:cNvSpPr>
          <p:nvPr>
            <p:ph type="body" sz="quarter" idx="12"/>
          </p:nvPr>
        </p:nvSpPr>
        <p:spPr>
          <a:xfrm>
            <a:off x="10614990" y="5781873"/>
            <a:ext cx="863947" cy="795338"/>
          </a:xfrm>
        </p:spPr>
        <p:txBody>
          <a:bodyPr/>
          <a:lstStyle/>
          <a:p>
            <a:r>
              <a:rPr lang="en-US" b="1" dirty="0"/>
              <a:t>5–10</a:t>
            </a:r>
          </a:p>
        </p:txBody>
      </p:sp>
    </p:spTree>
    <p:extLst>
      <p:ext uri="{BB962C8B-B14F-4D97-AF65-F5344CB8AC3E}">
        <p14:creationId xmlns:p14="http://schemas.microsoft.com/office/powerpoint/2010/main" val="94663325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667D09-547F-BA76-F921-EACDC00E3FF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08B2D93-5465-C64B-8A99-7F9667A85C11}"/>
              </a:ext>
            </a:extLst>
          </p:cNvPr>
          <p:cNvSpPr>
            <a:spLocks noGrp="1"/>
          </p:cNvSpPr>
          <p:nvPr>
            <p:ph type="title"/>
          </p:nvPr>
        </p:nvSpPr>
        <p:spPr/>
        <p:txBody>
          <a:bodyPr/>
          <a:lstStyle/>
          <a:p>
            <a:pPr algn="l"/>
            <a:r>
              <a:rPr lang="en-US" b="1" dirty="0"/>
              <a:t>Rearrange It </a:t>
            </a:r>
            <a:r>
              <a:rPr lang="en-US" sz="2000" b="1" dirty="0">
                <a:solidFill>
                  <a:schemeClr val="bg1"/>
                </a:solidFill>
              </a:rPr>
              <a:t>(1 of 4)</a:t>
            </a:r>
          </a:p>
        </p:txBody>
      </p:sp>
      <mc:AlternateContent xmlns:mc="http://schemas.openxmlformats.org/markup-compatibility/2006" xmlns:a14="http://schemas.microsoft.com/office/drawing/2010/main">
        <mc:Choice Requires="a14">
          <p:sp>
            <p:nvSpPr>
              <p:cNvPr id="9" name="Text Placeholder 2">
                <a:extLst>
                  <a:ext uri="{FF2B5EF4-FFF2-40B4-BE49-F238E27FC236}">
                    <a16:creationId xmlns:a16="http://schemas.microsoft.com/office/drawing/2014/main" id="{DC1CADD1-83AF-A351-D7D5-CC9F7586B036}"/>
                  </a:ext>
                </a:extLst>
              </p:cNvPr>
              <p:cNvSpPr txBox="1">
                <a:spLocks/>
              </p:cNvSpPr>
              <p:nvPr/>
            </p:nvSpPr>
            <p:spPr>
              <a:xfrm>
                <a:off x="777240" y="1634519"/>
                <a:ext cx="9865951" cy="4675970"/>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buFont typeface="+mj-lt"/>
                  <a:buAutoNum type="arabicPeriod"/>
                </a:pPr>
                <a:r>
                  <a:rPr lang="en-US" sz="2800" dirty="0">
                    <a:solidFill>
                      <a:schemeClr val="bg2">
                        <a:lumMod val="25000"/>
                      </a:schemeClr>
                    </a:solidFill>
                  </a:rPr>
                  <a:t>The formula for the lateral surface area of a cylinder is  </a:t>
                </a:r>
                <a14:m>
                  <m:oMath xmlns:m="http://schemas.openxmlformats.org/officeDocument/2006/math">
                    <m:r>
                      <a:rPr lang="en-US" sz="2800" dirty="0">
                        <a:solidFill>
                          <a:schemeClr val="bg2">
                            <a:lumMod val="25000"/>
                          </a:schemeClr>
                        </a:solidFill>
                        <a:latin typeface="Cambria Math" panose="02040503050406030204" pitchFamily="18" charset="0"/>
                      </a:rPr>
                      <m:t>𝑆</m:t>
                    </m:r>
                    <m:r>
                      <a:rPr lang="en-US" sz="2800" dirty="0">
                        <a:solidFill>
                          <a:schemeClr val="bg2">
                            <a:lumMod val="25000"/>
                          </a:schemeClr>
                        </a:solidFill>
                        <a:latin typeface="Cambria Math" panose="02040503050406030204" pitchFamily="18" charset="0"/>
                      </a:rPr>
                      <m:t>=2</m:t>
                    </m:r>
                    <m:r>
                      <a:rPr lang="en-US" sz="2800" dirty="0">
                        <a:solidFill>
                          <a:schemeClr val="bg2">
                            <a:lumMod val="25000"/>
                          </a:schemeClr>
                        </a:solidFill>
                        <a:latin typeface="Cambria Math" panose="02040503050406030204" pitchFamily="18" charset="0"/>
                      </a:rPr>
                      <m:t>𝜋</m:t>
                    </m:r>
                    <m:r>
                      <a:rPr lang="en-US" sz="2800" dirty="0">
                        <a:solidFill>
                          <a:schemeClr val="bg2">
                            <a:lumMod val="25000"/>
                          </a:schemeClr>
                        </a:solidFill>
                        <a:latin typeface="Cambria Math" panose="02040503050406030204" pitchFamily="18" charset="0"/>
                      </a:rPr>
                      <m:t>𝑟h</m:t>
                    </m:r>
                  </m:oMath>
                </a14:m>
                <a:r>
                  <a:rPr lang="en-US" sz="2800" dirty="0">
                    <a:solidFill>
                      <a:schemeClr val="bg2">
                        <a:lumMod val="25000"/>
                      </a:schemeClr>
                    </a:solidFill>
                  </a:rPr>
                  <a:t>, where </a:t>
                </a:r>
                <a14:m>
                  <m:oMath xmlns:m="http://schemas.openxmlformats.org/officeDocument/2006/math">
                    <m:r>
                      <a:rPr lang="en-US" sz="2800" dirty="0">
                        <a:solidFill>
                          <a:schemeClr val="bg2">
                            <a:lumMod val="25000"/>
                          </a:schemeClr>
                        </a:solidFill>
                        <a:latin typeface="Cambria Math" panose="02040503050406030204" pitchFamily="18" charset="0"/>
                      </a:rPr>
                      <m:t>𝑆</m:t>
                    </m:r>
                  </m:oMath>
                </a14:m>
                <a:r>
                  <a:rPr lang="en-US" sz="2800" dirty="0">
                    <a:solidFill>
                      <a:schemeClr val="bg2">
                        <a:lumMod val="25000"/>
                      </a:schemeClr>
                    </a:solidFill>
                  </a:rPr>
                  <a:t> is the lateral surface area, </a:t>
                </a:r>
                <a14:m>
                  <m:oMath xmlns:m="http://schemas.openxmlformats.org/officeDocument/2006/math">
                    <m:r>
                      <a:rPr lang="en-US" sz="2800" dirty="0">
                        <a:solidFill>
                          <a:schemeClr val="bg2">
                            <a:lumMod val="25000"/>
                          </a:schemeClr>
                        </a:solidFill>
                        <a:latin typeface="Cambria Math" panose="02040503050406030204" pitchFamily="18" charset="0"/>
                      </a:rPr>
                      <m:t>𝑟</m:t>
                    </m:r>
                  </m:oMath>
                </a14:m>
                <a:r>
                  <a:rPr lang="en-US" sz="2800" dirty="0">
                    <a:solidFill>
                      <a:schemeClr val="bg2">
                        <a:lumMod val="25000"/>
                      </a:schemeClr>
                    </a:solidFill>
                  </a:rPr>
                  <a:t> is the length of the radius of the base, and </a:t>
                </a:r>
                <a14:m>
                  <m:oMath xmlns:m="http://schemas.openxmlformats.org/officeDocument/2006/math">
                    <m:r>
                      <a:rPr lang="en-US" sz="2800" dirty="0">
                        <a:solidFill>
                          <a:schemeClr val="bg2">
                            <a:lumMod val="25000"/>
                          </a:schemeClr>
                        </a:solidFill>
                        <a:latin typeface="Cambria Math" panose="02040503050406030204" pitchFamily="18" charset="0"/>
                      </a:rPr>
                      <m:t>h</m:t>
                    </m:r>
                  </m:oMath>
                </a14:m>
                <a:r>
                  <a:rPr lang="en-US" sz="2800" dirty="0">
                    <a:solidFill>
                      <a:schemeClr val="bg2">
                        <a:lumMod val="25000"/>
                      </a:schemeClr>
                    </a:solidFill>
                  </a:rPr>
                  <a:t> is the height. Convert the formula to solve for the height.</a:t>
                </a:r>
              </a:p>
              <a:p>
                <a:pPr marL="514350" indent="-514350">
                  <a:buFont typeface="+mj-lt"/>
                  <a:buAutoNum type="arabicPeriod"/>
                </a:pPr>
                <a:endParaRPr lang="en-US" sz="2800" dirty="0">
                  <a:solidFill>
                    <a:schemeClr val="bg2">
                      <a:lumMod val="25000"/>
                    </a:schemeClr>
                  </a:solidFill>
                </a:endParaRPr>
              </a:p>
              <a:p>
                <a:pPr marL="514350" indent="-514350">
                  <a:buFont typeface="+mj-lt"/>
                  <a:buAutoNum type="arabicPeriod"/>
                </a:pPr>
                <a:endParaRPr lang="en-US" sz="2800" dirty="0">
                  <a:solidFill>
                    <a:schemeClr val="bg2">
                      <a:lumMod val="25000"/>
                    </a:schemeClr>
                  </a:solidFill>
                </a:endParaRPr>
              </a:p>
              <a:p>
                <a:pPr marL="514350" indent="-514350">
                  <a:buFont typeface="+mj-lt"/>
                  <a:buAutoNum type="arabicPeriod"/>
                </a:pPr>
                <a:r>
                  <a:rPr lang="en-US" sz="2800" dirty="0">
                    <a:solidFill>
                      <a:schemeClr val="bg2">
                        <a:lumMod val="25000"/>
                      </a:schemeClr>
                    </a:solidFill>
                  </a:rPr>
                  <a:t>The lateral surface area of a can of soup is 37.68 square inches, and the length of the radius of the base of the can is 1.5 inches. Use your formula to determine the height of the can of soup. Use 3.14 for </a:t>
                </a:r>
                <a14:m>
                  <m:oMath xmlns:m="http://schemas.openxmlformats.org/officeDocument/2006/math">
                    <m:r>
                      <a:rPr lang="en-US" sz="2800" b="0" i="1" u="none" strike="noStrike" baseline="0" dirty="0" smtClean="0">
                        <a:solidFill>
                          <a:schemeClr val="bg2">
                            <a:lumMod val="25000"/>
                          </a:schemeClr>
                        </a:solidFill>
                        <a:latin typeface="Cambria Math" panose="02040503050406030204" pitchFamily="18" charset="0"/>
                        <a:ea typeface="Cambria Math" panose="02040503050406030204" pitchFamily="18" charset="0"/>
                      </a:rPr>
                      <m:t>𝜋</m:t>
                    </m:r>
                  </m:oMath>
                </a14:m>
                <a:r>
                  <a:rPr lang="en-US" sz="2800" dirty="0">
                    <a:solidFill>
                      <a:schemeClr val="bg2">
                        <a:lumMod val="25000"/>
                      </a:schemeClr>
                    </a:solidFill>
                  </a:rPr>
                  <a:t>.</a:t>
                </a:r>
                <a:endParaRPr lang="en-US" sz="2800" b="0" i="0" u="none" strike="noStrike" baseline="0" dirty="0">
                  <a:solidFill>
                    <a:schemeClr val="bg2">
                      <a:lumMod val="25000"/>
                    </a:schemeClr>
                  </a:solidFill>
                </a:endParaRPr>
              </a:p>
              <a:p>
                <a:pPr marL="0" indent="0" algn="ctr">
                  <a:buNone/>
                </a:pPr>
                <a:endParaRPr lang="en-US" sz="2800" dirty="0">
                  <a:solidFill>
                    <a:schemeClr val="bg2">
                      <a:lumMod val="25000"/>
                    </a:schemeClr>
                  </a:solidFill>
                </a:endParaRPr>
              </a:p>
            </p:txBody>
          </p:sp>
        </mc:Choice>
        <mc:Fallback xmlns="">
          <p:sp>
            <p:nvSpPr>
              <p:cNvPr id="9" name="Text Placeholder 2">
                <a:extLst>
                  <a:ext uri="{FF2B5EF4-FFF2-40B4-BE49-F238E27FC236}">
                    <a16:creationId xmlns:a16="http://schemas.microsoft.com/office/drawing/2014/main" id="{DC1CADD1-83AF-A351-D7D5-CC9F7586B036}"/>
                  </a:ext>
                </a:extLst>
              </p:cNvPr>
              <p:cNvSpPr txBox="1">
                <a:spLocks noRot="1" noChangeAspect="1" noMove="1" noResize="1" noEditPoints="1" noAdjustHandles="1" noChangeArrowheads="1" noChangeShapeType="1" noTextEdit="1"/>
              </p:cNvSpPr>
              <p:nvPr/>
            </p:nvSpPr>
            <p:spPr>
              <a:xfrm>
                <a:off x="777240" y="1634519"/>
                <a:ext cx="9865951" cy="4675970"/>
              </a:xfrm>
              <a:prstGeom prst="rect">
                <a:avLst/>
              </a:prstGeom>
              <a:blipFill>
                <a:blip r:embed="rId3"/>
                <a:stretch>
                  <a:fillRect l="-1298" t="-1434" r="-1916" b="-2477"/>
                </a:stretch>
              </a:blipFill>
            </p:spPr>
            <p:txBody>
              <a:bodyPr/>
              <a:lstStyle/>
              <a:p>
                <a:r>
                  <a:rPr lang="en-US">
                    <a:noFill/>
                  </a:rPr>
                  <a:t> </a:t>
                </a:r>
              </a:p>
            </p:txBody>
          </p:sp>
        </mc:Fallback>
      </mc:AlternateContent>
    </p:spTree>
    <p:extLst>
      <p:ext uri="{BB962C8B-B14F-4D97-AF65-F5344CB8AC3E}">
        <p14:creationId xmlns:p14="http://schemas.microsoft.com/office/powerpoint/2010/main" val="403645885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84E479-2C4E-BBAF-A6F8-C7A1FBBA43D2}"/>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D89E467-3BB7-0CFC-0479-9092878AADB3}"/>
              </a:ext>
            </a:extLst>
          </p:cNvPr>
          <p:cNvSpPr>
            <a:spLocks noGrp="1"/>
          </p:cNvSpPr>
          <p:nvPr>
            <p:ph type="title"/>
          </p:nvPr>
        </p:nvSpPr>
        <p:spPr/>
        <p:txBody>
          <a:bodyPr/>
          <a:lstStyle/>
          <a:p>
            <a:pPr algn="l"/>
            <a:r>
              <a:rPr lang="en-US" b="1" dirty="0"/>
              <a:t>Rearrange It </a:t>
            </a:r>
            <a:r>
              <a:rPr lang="en-US" sz="2000" b="1" dirty="0">
                <a:solidFill>
                  <a:schemeClr val="bg1"/>
                </a:solidFill>
              </a:rPr>
              <a:t>(2 of 4)</a:t>
            </a:r>
          </a:p>
        </p:txBody>
      </p:sp>
      <mc:AlternateContent xmlns:mc="http://schemas.openxmlformats.org/markup-compatibility/2006" xmlns:a14="http://schemas.microsoft.com/office/drawing/2010/main">
        <mc:Choice Requires="a14">
          <p:sp>
            <p:nvSpPr>
              <p:cNvPr id="9" name="Text Placeholder 2">
                <a:extLst>
                  <a:ext uri="{FF2B5EF4-FFF2-40B4-BE49-F238E27FC236}">
                    <a16:creationId xmlns:a16="http://schemas.microsoft.com/office/drawing/2014/main" id="{139F9077-105C-DEC6-97B6-CB32368DFBA9}"/>
                  </a:ext>
                </a:extLst>
              </p:cNvPr>
              <p:cNvSpPr txBox="1">
                <a:spLocks/>
              </p:cNvSpPr>
              <p:nvPr/>
            </p:nvSpPr>
            <p:spPr>
              <a:xfrm>
                <a:off x="777240" y="1634519"/>
                <a:ext cx="10493272" cy="4675970"/>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514350" indent="-514350">
                  <a:buFont typeface="+mj-lt"/>
                  <a:buAutoNum type="arabicPeriod" startAt="3"/>
                </a:pPr>
                <a:r>
                  <a:rPr lang="en-US" sz="2800" dirty="0">
                    <a:solidFill>
                      <a:srgbClr val="000000"/>
                    </a:solidFill>
                  </a:rPr>
                  <a:t>The formula for the surface area of a cylinder is </a:t>
                </a:r>
                <a14:m>
                  <m:oMath xmlns:m="http://schemas.openxmlformats.org/officeDocument/2006/math">
                    <m:r>
                      <a:rPr lang="en-US" sz="2800" dirty="0">
                        <a:solidFill>
                          <a:srgbClr val="000000"/>
                        </a:solidFill>
                        <a:latin typeface="Cambria Math" panose="02040503050406030204" pitchFamily="18" charset="0"/>
                      </a:rPr>
                      <m:t>𝑆</m:t>
                    </m:r>
                    <m:r>
                      <a:rPr lang="en-US" sz="2800" dirty="0">
                        <a:solidFill>
                          <a:srgbClr val="000000"/>
                        </a:solidFill>
                        <a:latin typeface="Cambria Math" panose="02040503050406030204" pitchFamily="18" charset="0"/>
                      </a:rPr>
                      <m:t>=2</m:t>
                    </m:r>
                    <m:r>
                      <a:rPr lang="en-US" sz="2800" dirty="0">
                        <a:solidFill>
                          <a:srgbClr val="000000"/>
                        </a:solidFill>
                        <a:latin typeface="Cambria Math" panose="02040503050406030204" pitchFamily="18" charset="0"/>
                      </a:rPr>
                      <m:t>𝜋</m:t>
                    </m:r>
                    <m:r>
                      <a:rPr lang="en-US" sz="2800" dirty="0">
                        <a:solidFill>
                          <a:srgbClr val="000000"/>
                        </a:solidFill>
                        <a:latin typeface="Cambria Math" panose="02040503050406030204" pitchFamily="18" charset="0"/>
                      </a:rPr>
                      <m:t>𝑟</m:t>
                    </m:r>
                    <m:r>
                      <a:rPr lang="en-US" sz="2800" baseline="30000" dirty="0">
                        <a:solidFill>
                          <a:srgbClr val="000000"/>
                        </a:solidFill>
                        <a:latin typeface="Cambria Math" panose="02040503050406030204" pitchFamily="18" charset="0"/>
                      </a:rPr>
                      <m:t>2</m:t>
                    </m:r>
                    <m:r>
                      <a:rPr lang="en-US" sz="2800" dirty="0">
                        <a:solidFill>
                          <a:srgbClr val="000000"/>
                        </a:solidFill>
                        <a:latin typeface="Cambria Math" panose="02040503050406030204" pitchFamily="18" charset="0"/>
                      </a:rPr>
                      <m:t>+2</m:t>
                    </m:r>
                    <m:r>
                      <a:rPr lang="en-US" sz="2800" dirty="0">
                        <a:solidFill>
                          <a:srgbClr val="000000"/>
                        </a:solidFill>
                        <a:latin typeface="Cambria Math" panose="02040503050406030204" pitchFamily="18" charset="0"/>
                      </a:rPr>
                      <m:t>𝜋</m:t>
                    </m:r>
                    <m:r>
                      <a:rPr lang="en-US" sz="2800" dirty="0">
                        <a:solidFill>
                          <a:srgbClr val="000000"/>
                        </a:solidFill>
                        <a:latin typeface="Cambria Math" panose="02040503050406030204" pitchFamily="18" charset="0"/>
                      </a:rPr>
                      <m:t>𝑟</m:t>
                    </m:r>
                    <m:r>
                      <m:rPr>
                        <m:sty m:val="p"/>
                      </m:rPr>
                      <a:rPr lang="en-IN" sz="2800" b="0" i="0" dirty="0" smtClean="0">
                        <a:solidFill>
                          <a:srgbClr val="000000"/>
                        </a:solidFill>
                        <a:latin typeface="Cambria Math" panose="02040503050406030204" pitchFamily="18" charset="0"/>
                      </a:rPr>
                      <m:t>h</m:t>
                    </m:r>
                  </m:oMath>
                </a14:m>
                <a:r>
                  <a:rPr lang="en-US" sz="2800" dirty="0">
                    <a:solidFill>
                      <a:srgbClr val="000000"/>
                    </a:solidFill>
                  </a:rPr>
                  <a:t>, where </a:t>
                </a:r>
                <a14:m>
                  <m:oMath xmlns:m="http://schemas.openxmlformats.org/officeDocument/2006/math">
                    <m:r>
                      <a:rPr lang="en-US" sz="2800" dirty="0">
                        <a:solidFill>
                          <a:srgbClr val="000000"/>
                        </a:solidFill>
                        <a:latin typeface="Cambria Math" panose="02040503050406030204" pitchFamily="18" charset="0"/>
                      </a:rPr>
                      <m:t>𝑆</m:t>
                    </m:r>
                  </m:oMath>
                </a14:m>
                <a:r>
                  <a:rPr lang="en-US" sz="2800" dirty="0">
                    <a:solidFill>
                      <a:srgbClr val="000000"/>
                    </a:solidFill>
                  </a:rPr>
                  <a:t> is the surface area, </a:t>
                </a:r>
                <a14:m>
                  <m:oMath xmlns:m="http://schemas.openxmlformats.org/officeDocument/2006/math">
                    <m:r>
                      <a:rPr lang="en-US" sz="2800" i="1" dirty="0" smtClean="0">
                        <a:solidFill>
                          <a:srgbClr val="000000"/>
                        </a:solidFill>
                        <a:latin typeface="Cambria Math" panose="02040503050406030204" pitchFamily="18" charset="0"/>
                      </a:rPr>
                      <m:t>𝑟</m:t>
                    </m:r>
                  </m:oMath>
                </a14:m>
                <a:r>
                  <a:rPr lang="en-US" sz="2800" dirty="0">
                    <a:solidFill>
                      <a:srgbClr val="000000"/>
                    </a:solidFill>
                  </a:rPr>
                  <a:t> is the length of the radius of the base, and </a:t>
                </a:r>
                <a14:m>
                  <m:oMath xmlns:m="http://schemas.openxmlformats.org/officeDocument/2006/math">
                    <m:r>
                      <a:rPr lang="en-US" sz="2800" i="1" dirty="0" smtClean="0">
                        <a:solidFill>
                          <a:srgbClr val="000000"/>
                        </a:solidFill>
                        <a:latin typeface="Cambria Math" panose="02040503050406030204" pitchFamily="18" charset="0"/>
                      </a:rPr>
                      <m:t>h</m:t>
                    </m:r>
                  </m:oMath>
                </a14:m>
                <a:r>
                  <a:rPr lang="en-US" sz="2800" dirty="0">
                    <a:solidFill>
                      <a:srgbClr val="000000"/>
                    </a:solidFill>
                  </a:rPr>
                  <a:t> is the height. Convert the formula to solve for the height.</a:t>
                </a:r>
              </a:p>
              <a:p>
                <a:pPr marL="514350" indent="-514350">
                  <a:buFont typeface="+mj-lt"/>
                  <a:buAutoNum type="arabicPeriod" startAt="3"/>
                </a:pPr>
                <a:endParaRPr lang="en-US" sz="2800" dirty="0">
                  <a:solidFill>
                    <a:schemeClr val="bg2">
                      <a:lumMod val="25000"/>
                    </a:schemeClr>
                  </a:solidFill>
                </a:endParaRPr>
              </a:p>
              <a:p>
                <a:pPr marL="514350" indent="-514350">
                  <a:buFont typeface="+mj-lt"/>
                  <a:buAutoNum type="arabicPeriod" startAt="3"/>
                </a:pPr>
                <a:endParaRPr lang="en-US" sz="2800" dirty="0">
                  <a:solidFill>
                    <a:schemeClr val="bg2">
                      <a:lumMod val="25000"/>
                    </a:schemeClr>
                  </a:solidFill>
                </a:endParaRPr>
              </a:p>
              <a:p>
                <a:pPr marL="514350" indent="-514350">
                  <a:buFont typeface="+mj-lt"/>
                  <a:buAutoNum type="arabicPeriod" startAt="3"/>
                </a:pPr>
                <a:r>
                  <a:rPr lang="en-US" sz="2800" dirty="0">
                    <a:solidFill>
                      <a:schemeClr val="bg2">
                        <a:lumMod val="25000"/>
                      </a:schemeClr>
                    </a:solidFill>
                  </a:rPr>
                  <a:t>The surface area of a can of soup is 51.81 square inches, and the length of the radius of the base is 1.5 inches. Use your formula to determine the height of the can of soup. Use 3.14 for </a:t>
                </a:r>
                <a14:m>
                  <m:oMath xmlns:m="http://schemas.openxmlformats.org/officeDocument/2006/math">
                    <m:r>
                      <a:rPr lang="en-US" sz="2800" b="0" i="1" u="none" strike="noStrike" baseline="0" dirty="0" smtClean="0">
                        <a:solidFill>
                          <a:schemeClr val="bg2">
                            <a:lumMod val="25000"/>
                          </a:schemeClr>
                        </a:solidFill>
                        <a:latin typeface="Cambria Math" panose="02040503050406030204" pitchFamily="18" charset="0"/>
                        <a:ea typeface="Cambria Math" panose="02040503050406030204" pitchFamily="18" charset="0"/>
                      </a:rPr>
                      <m:t>𝜋</m:t>
                    </m:r>
                  </m:oMath>
                </a14:m>
                <a:r>
                  <a:rPr lang="en-US" sz="2800" dirty="0">
                    <a:solidFill>
                      <a:schemeClr val="bg2">
                        <a:lumMod val="25000"/>
                      </a:schemeClr>
                    </a:solidFill>
                  </a:rPr>
                  <a:t>.</a:t>
                </a:r>
              </a:p>
            </p:txBody>
          </p:sp>
        </mc:Choice>
        <mc:Fallback xmlns="">
          <p:sp>
            <p:nvSpPr>
              <p:cNvPr id="9" name="Text Placeholder 2">
                <a:extLst>
                  <a:ext uri="{FF2B5EF4-FFF2-40B4-BE49-F238E27FC236}">
                    <a16:creationId xmlns:a16="http://schemas.microsoft.com/office/drawing/2014/main" id="{139F9077-105C-DEC6-97B6-CB32368DFBA9}"/>
                  </a:ext>
                </a:extLst>
              </p:cNvPr>
              <p:cNvSpPr txBox="1">
                <a:spLocks noRot="1" noChangeAspect="1" noMove="1" noResize="1" noEditPoints="1" noAdjustHandles="1" noChangeArrowheads="1" noChangeShapeType="1" noTextEdit="1"/>
              </p:cNvSpPr>
              <p:nvPr/>
            </p:nvSpPr>
            <p:spPr>
              <a:xfrm>
                <a:off x="777240" y="1634519"/>
                <a:ext cx="10493272" cy="4675970"/>
              </a:xfrm>
              <a:prstGeom prst="rect">
                <a:avLst/>
              </a:prstGeom>
              <a:blipFill>
                <a:blip r:embed="rId3"/>
                <a:stretch>
                  <a:fillRect l="-1220" t="-1434" r="-1859"/>
                </a:stretch>
              </a:blipFill>
            </p:spPr>
            <p:txBody>
              <a:bodyPr/>
              <a:lstStyle/>
              <a:p>
                <a:r>
                  <a:rPr lang="en-US">
                    <a:noFill/>
                  </a:rPr>
                  <a:t> </a:t>
                </a:r>
              </a:p>
            </p:txBody>
          </p:sp>
        </mc:Fallback>
      </mc:AlternateContent>
    </p:spTree>
    <p:extLst>
      <p:ext uri="{BB962C8B-B14F-4D97-AF65-F5344CB8AC3E}">
        <p14:creationId xmlns:p14="http://schemas.microsoft.com/office/powerpoint/2010/main" val="190227892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01872C-523C-E659-D1F9-B674B725EF6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3B829B5-6836-78EE-82BD-288EBC559C6E}"/>
              </a:ext>
            </a:extLst>
          </p:cNvPr>
          <p:cNvSpPr>
            <a:spLocks noGrp="1"/>
          </p:cNvSpPr>
          <p:nvPr>
            <p:ph type="title"/>
          </p:nvPr>
        </p:nvSpPr>
        <p:spPr/>
        <p:txBody>
          <a:bodyPr/>
          <a:lstStyle/>
          <a:p>
            <a:pPr algn="l"/>
            <a:r>
              <a:rPr lang="en-US" b="1" dirty="0"/>
              <a:t>Rearrange It </a:t>
            </a:r>
            <a:r>
              <a:rPr lang="en-US" sz="2000" b="1" dirty="0">
                <a:solidFill>
                  <a:schemeClr val="bg1"/>
                </a:solidFill>
              </a:rPr>
              <a:t>(3 of 4)</a:t>
            </a:r>
            <a:endParaRPr lang="en-US" b="1" dirty="0">
              <a:solidFill>
                <a:schemeClr val="bg1"/>
              </a:solidFill>
            </a:endParaRPr>
          </a:p>
        </p:txBody>
      </p:sp>
      <p:sp>
        <p:nvSpPr>
          <p:cNvPr id="9" name="Text Placeholder 2">
            <a:extLst>
              <a:ext uri="{FF2B5EF4-FFF2-40B4-BE49-F238E27FC236}">
                <a16:creationId xmlns:a16="http://schemas.microsoft.com/office/drawing/2014/main" id="{65F72D48-161D-34EA-1092-F01297B5BAE2}"/>
              </a:ext>
            </a:extLst>
          </p:cNvPr>
          <p:cNvSpPr txBox="1">
            <a:spLocks/>
          </p:cNvSpPr>
          <p:nvPr/>
        </p:nvSpPr>
        <p:spPr>
          <a:xfrm>
            <a:off x="777240" y="1616140"/>
            <a:ext cx="10195560" cy="402191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r>
              <a:rPr lang="en-US" sz="2800" b="0" i="0" u="none" strike="noStrike" baseline="0" dirty="0">
                <a:solidFill>
                  <a:srgbClr val="000000"/>
                </a:solidFill>
              </a:rPr>
              <a:t>Let’s answer the Essential Question and summarize our learning from the Talk the Talk!</a:t>
            </a:r>
          </a:p>
          <a:p>
            <a:pPr marL="0" indent="0" algn="l">
              <a:buNone/>
            </a:pPr>
            <a:endParaRPr lang="en-US" sz="2800" dirty="0">
              <a:solidFill>
                <a:srgbClr val="000000"/>
              </a:solidFill>
            </a:endParaRPr>
          </a:p>
          <a:p>
            <a:pPr marL="0" indent="0" algn="l">
              <a:buNone/>
            </a:pPr>
            <a:endParaRPr lang="en-US" sz="2800" dirty="0">
              <a:solidFill>
                <a:srgbClr val="000000"/>
              </a:solidFill>
            </a:endParaRPr>
          </a:p>
          <a:p>
            <a:pPr marL="0" indent="0">
              <a:spcBef>
                <a:spcPts val="24"/>
              </a:spcBef>
              <a:buNone/>
            </a:pPr>
            <a:r>
              <a:rPr lang="en-US" sz="2800" b="1" dirty="0">
                <a:solidFill>
                  <a:srgbClr val="000000"/>
                </a:solidFill>
              </a:rPr>
              <a:t>Essential Question: </a:t>
            </a:r>
            <a:r>
              <a:rPr lang="en-US" sz="2800" dirty="0">
                <a:solidFill>
                  <a:srgbClr val="000000"/>
                </a:solidFill>
              </a:rPr>
              <a:t>How can you use those same properties to solve for one specific variable in an equation that has multiple variables?</a:t>
            </a:r>
          </a:p>
          <a:p>
            <a:pPr marL="0" indent="0">
              <a:buNone/>
            </a:pPr>
            <a:endParaRPr lang="en-US" sz="2800" b="0" i="0" u="none" strike="noStrike" baseline="0" dirty="0">
              <a:solidFill>
                <a:srgbClr val="000000"/>
              </a:solidFill>
            </a:endParaRPr>
          </a:p>
        </p:txBody>
      </p:sp>
      <p:pic>
        <p:nvPicPr>
          <p:cNvPr id="2" name="Picture 1">
            <a:extLst>
              <a:ext uri="{FF2B5EF4-FFF2-40B4-BE49-F238E27FC236}">
                <a16:creationId xmlns:a16="http://schemas.microsoft.com/office/drawing/2014/main" id="{0F1413F2-FA04-568B-DA09-D35AB0EC72C2}"/>
              </a:ext>
              <a:ext uri="{C183D7F6-B498-43B3-948B-1728B52AA6E4}">
                <adec:decorative xmlns:adec="http://schemas.microsoft.com/office/drawing/2017/decorative" val="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74023" y="372494"/>
            <a:ext cx="1501270" cy="518205"/>
          </a:xfrm>
          <a:prstGeom prst="rect">
            <a:avLst/>
          </a:prstGeom>
        </p:spPr>
      </p:pic>
    </p:spTree>
    <p:extLst>
      <p:ext uri="{BB962C8B-B14F-4D97-AF65-F5344CB8AC3E}">
        <p14:creationId xmlns:p14="http://schemas.microsoft.com/office/powerpoint/2010/main" val="58301444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01872C-523C-E659-D1F9-B674B725EF6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3B829B5-6836-78EE-82BD-288EBC559C6E}"/>
              </a:ext>
            </a:extLst>
          </p:cNvPr>
          <p:cNvSpPr>
            <a:spLocks noGrp="1"/>
          </p:cNvSpPr>
          <p:nvPr>
            <p:ph type="title"/>
          </p:nvPr>
        </p:nvSpPr>
        <p:spPr/>
        <p:txBody>
          <a:bodyPr/>
          <a:lstStyle/>
          <a:p>
            <a:pPr algn="l"/>
            <a:r>
              <a:rPr lang="en-US" b="1" dirty="0"/>
              <a:t>Rearrange It </a:t>
            </a:r>
            <a:r>
              <a:rPr lang="en-US" sz="2000" b="1" dirty="0">
                <a:solidFill>
                  <a:schemeClr val="bg1"/>
                </a:solidFill>
              </a:rPr>
              <a:t>(4 of 4)</a:t>
            </a:r>
            <a:endParaRPr lang="en-US" b="1" dirty="0">
              <a:solidFill>
                <a:schemeClr val="bg1"/>
              </a:solidFill>
            </a:endParaRPr>
          </a:p>
        </p:txBody>
      </p:sp>
      <p:sp>
        <p:nvSpPr>
          <p:cNvPr id="9" name="Text Placeholder 2">
            <a:extLst>
              <a:ext uri="{FF2B5EF4-FFF2-40B4-BE49-F238E27FC236}">
                <a16:creationId xmlns:a16="http://schemas.microsoft.com/office/drawing/2014/main" id="{65F72D48-161D-34EA-1092-F01297B5BAE2}"/>
              </a:ext>
              <a:ext uri="{C183D7F6-B498-43B3-948B-1728B52AA6E4}">
                <adec:decorative xmlns:adec="http://schemas.microsoft.com/office/drawing/2017/decorative" val="1"/>
              </a:ext>
            </a:extLst>
          </p:cNvPr>
          <p:cNvSpPr txBox="1">
            <a:spLocks/>
          </p:cNvSpPr>
          <p:nvPr/>
        </p:nvSpPr>
        <p:spPr>
          <a:xfrm>
            <a:off x="777240" y="1616140"/>
            <a:ext cx="10471759" cy="4021914"/>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l">
              <a:buNone/>
            </a:pPr>
            <a:endParaRPr lang="en-US" sz="2800" b="0" i="0" u="none" strike="noStrike" baseline="0" dirty="0">
              <a:solidFill>
                <a:schemeClr val="bg2">
                  <a:lumMod val="25000"/>
                </a:schemeClr>
              </a:solidFill>
            </a:endParaRPr>
          </a:p>
        </p:txBody>
      </p:sp>
    </p:spTree>
    <p:extLst>
      <p:ext uri="{BB962C8B-B14F-4D97-AF65-F5344CB8AC3E}">
        <p14:creationId xmlns:p14="http://schemas.microsoft.com/office/powerpoint/2010/main" val="396640048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6E1C33-24D1-529C-DE6E-F8E8ED46DA1A}"/>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64C3ED9B-4ACF-E7ED-D95F-81E3C03375E6}"/>
              </a:ext>
            </a:extLst>
          </p:cNvPr>
          <p:cNvSpPr>
            <a:spLocks noGrp="1"/>
          </p:cNvSpPr>
          <p:nvPr>
            <p:ph type="title" idx="4294967295"/>
          </p:nvPr>
        </p:nvSpPr>
        <p:spPr>
          <a:xfrm>
            <a:off x="838200" y="-334736"/>
            <a:ext cx="10514013" cy="334736"/>
          </a:xfrm>
          <a:prstGeom prst="rect">
            <a:avLst/>
          </a:prstGeom>
        </p:spPr>
        <p:txBody>
          <a:bodyPr anchor="b"/>
          <a:lstStyle/>
          <a:p>
            <a:r>
              <a:rPr lang="en-US" sz="2000" dirty="0">
                <a:solidFill>
                  <a:schemeClr val="bg2"/>
                </a:solidFill>
              </a:rPr>
              <a:t>Prepare</a:t>
            </a:r>
          </a:p>
        </p:txBody>
      </p:sp>
    </p:spTree>
    <p:extLst>
      <p:ext uri="{BB962C8B-B14F-4D97-AF65-F5344CB8AC3E}">
        <p14:creationId xmlns:p14="http://schemas.microsoft.com/office/powerpoint/2010/main" val="388400566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2F34DC-540F-DD6E-4454-ACAECB21B86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5916504-D971-8F3E-A4DD-694DE0336C22}"/>
              </a:ext>
            </a:extLst>
          </p:cNvPr>
          <p:cNvSpPr>
            <a:spLocks noGrp="1"/>
          </p:cNvSpPr>
          <p:nvPr>
            <p:ph type="title"/>
          </p:nvPr>
        </p:nvSpPr>
        <p:spPr/>
        <p:txBody>
          <a:bodyPr/>
          <a:lstStyle/>
          <a:p>
            <a:pPr algn="l"/>
            <a:r>
              <a:rPr lang="en-US" b="1" dirty="0"/>
              <a:t>Prepare for Module 3 Topic 1 Lesson 3</a:t>
            </a:r>
          </a:p>
        </p:txBody>
      </p:sp>
      <mc:AlternateContent xmlns:mc="http://schemas.openxmlformats.org/markup-compatibility/2006" xmlns:a14="http://schemas.microsoft.com/office/drawing/2010/main">
        <mc:Choice Requires="a14">
          <p:sp>
            <p:nvSpPr>
              <p:cNvPr id="2" name="Text Placeholder 2">
                <a:extLst>
                  <a:ext uri="{FF2B5EF4-FFF2-40B4-BE49-F238E27FC236}">
                    <a16:creationId xmlns:a16="http://schemas.microsoft.com/office/drawing/2014/main" id="{3237D0C3-0B1D-2A16-535D-FCBFEB28D717}"/>
                  </a:ext>
                </a:extLst>
              </p:cNvPr>
              <p:cNvSpPr txBox="1">
                <a:spLocks/>
              </p:cNvSpPr>
              <p:nvPr/>
            </p:nvSpPr>
            <p:spPr>
              <a:xfrm>
                <a:off x="777240" y="1600200"/>
                <a:ext cx="10054239" cy="4829174"/>
              </a:xfrm>
              <a:prstGeom prst="rect">
                <a:avLst/>
              </a:prstGeom>
            </p:spPr>
            <p:txBody>
              <a:bodyPr lIns="91440" tIns="45720" rIns="91440" bIns="45720" anchor="t"/>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en-US" sz="2800" dirty="0">
                    <a:solidFill>
                      <a:srgbClr val="000000"/>
                    </a:solidFill>
                  </a:rPr>
                  <a:t>Solve each statement for </a:t>
                </a:r>
                <a14:m>
                  <m:oMath xmlns:m="http://schemas.openxmlformats.org/officeDocument/2006/math">
                    <m:r>
                      <a:rPr lang="en-US" sz="2800" i="1" dirty="0" smtClean="0">
                        <a:solidFill>
                          <a:srgbClr val="000000"/>
                        </a:solidFill>
                        <a:latin typeface="Cambria Math" panose="02040503050406030204" pitchFamily="18" charset="0"/>
                      </a:rPr>
                      <m:t>𝑥</m:t>
                    </m:r>
                  </m:oMath>
                </a14:m>
                <a:r>
                  <a:rPr lang="en-US" sz="2800" dirty="0">
                    <a:solidFill>
                      <a:srgbClr val="000000"/>
                    </a:solidFill>
                  </a:rPr>
                  <a:t>. </a:t>
                </a:r>
              </a:p>
              <a:p>
                <a:pPr marL="514350" indent="-514350">
                  <a:buFont typeface="+mj-lt"/>
                  <a:buAutoNum type="arabicPeriod"/>
                </a:pPr>
                <a:r>
                  <a:rPr lang="en-US" sz="2800" dirty="0">
                    <a:solidFill>
                      <a:srgbClr val="000000"/>
                    </a:solidFill>
                  </a:rPr>
                  <a:t> </a:t>
                </a:r>
                <a14:m>
                  <m:oMath xmlns:m="http://schemas.openxmlformats.org/officeDocument/2006/math">
                    <m:r>
                      <a:rPr lang="en-US" sz="2800" i="1" dirty="0" smtClean="0">
                        <a:solidFill>
                          <a:srgbClr val="000000"/>
                        </a:solidFill>
                        <a:latin typeface="Cambria Math" panose="02040503050406030204" pitchFamily="18" charset="0"/>
                      </a:rPr>
                      <m:t>𝑥</m:t>
                    </m:r>
                    <m:r>
                      <a:rPr lang="en-US" sz="2800" b="0" i="1" dirty="0" smtClean="0">
                        <a:solidFill>
                          <a:srgbClr val="000000"/>
                        </a:solidFill>
                        <a:latin typeface="Cambria Math" panose="02040503050406030204" pitchFamily="18" charset="0"/>
                      </a:rPr>
                      <m:t>+</m:t>
                    </m:r>
                    <m:r>
                      <a:rPr lang="en-US" sz="2800" i="1" dirty="0" smtClean="0">
                        <a:solidFill>
                          <a:srgbClr val="000000"/>
                        </a:solidFill>
                        <a:latin typeface="Cambria Math" panose="02040503050406030204" pitchFamily="18" charset="0"/>
                      </a:rPr>
                      <m:t>1</m:t>
                    </m:r>
                    <m:r>
                      <a:rPr lang="en-US" sz="2800" b="0" i="1" dirty="0" smtClean="0">
                        <a:solidFill>
                          <a:srgbClr val="000000"/>
                        </a:solidFill>
                        <a:latin typeface="Cambria Math" panose="02040503050406030204" pitchFamily="18" charset="0"/>
                      </a:rPr>
                      <m:t>=</m:t>
                    </m:r>
                    <m:r>
                      <a:rPr lang="en-US" sz="2800" i="1" dirty="0" smtClean="0">
                        <a:solidFill>
                          <a:srgbClr val="000000"/>
                        </a:solidFill>
                        <a:latin typeface="Cambria Math" panose="02040503050406030204" pitchFamily="18" charset="0"/>
                      </a:rPr>
                      <m:t>6</m:t>
                    </m:r>
                  </m:oMath>
                </a14:m>
                <a:r>
                  <a:rPr lang="en-US" sz="2800" dirty="0">
                    <a:solidFill>
                      <a:srgbClr val="000000"/>
                    </a:solidFill>
                  </a:rPr>
                  <a:t>	  		          3.   </a:t>
                </a:r>
                <a14:m>
                  <m:oMath xmlns:m="http://schemas.openxmlformats.org/officeDocument/2006/math">
                    <m:f>
                      <m:fPr>
                        <m:ctrlPr>
                          <a:rPr lang="en-US" sz="2800" i="1" dirty="0" smtClean="0">
                            <a:solidFill>
                              <a:srgbClr val="000000"/>
                            </a:solidFill>
                            <a:latin typeface="Cambria Math" panose="02040503050406030204" pitchFamily="18" charset="0"/>
                          </a:rPr>
                        </m:ctrlPr>
                      </m:fPr>
                      <m:num>
                        <m:r>
                          <a:rPr lang="en-US" sz="2800" b="0" i="1" dirty="0" smtClean="0">
                            <a:solidFill>
                              <a:srgbClr val="000000"/>
                            </a:solidFill>
                            <a:latin typeface="Cambria Math" panose="02040503050406030204" pitchFamily="18" charset="0"/>
                          </a:rPr>
                          <m:t>𝑥</m:t>
                        </m:r>
                      </m:num>
                      <m:den>
                        <m:r>
                          <a:rPr lang="en-US" sz="2800" b="0" i="1" dirty="0" smtClean="0">
                            <a:solidFill>
                              <a:srgbClr val="000000"/>
                            </a:solidFill>
                            <a:latin typeface="Cambria Math" panose="02040503050406030204" pitchFamily="18" charset="0"/>
                          </a:rPr>
                          <m:t>3</m:t>
                        </m:r>
                      </m:den>
                    </m:f>
                    <m:r>
                      <a:rPr lang="en-US" sz="2800" i="1" dirty="0" smtClean="0">
                        <a:solidFill>
                          <a:srgbClr val="000000"/>
                        </a:solidFill>
                        <a:latin typeface="Cambria Math" panose="02040503050406030204" pitchFamily="18" charset="0"/>
                        <a:ea typeface="Cambria Math" panose="02040503050406030204" pitchFamily="18" charset="0"/>
                      </a:rPr>
                      <m:t>≤</m:t>
                    </m:r>
                    <m:r>
                      <a:rPr lang="en-US" sz="2800" b="0" i="1" dirty="0" smtClean="0">
                        <a:solidFill>
                          <a:srgbClr val="000000"/>
                        </a:solidFill>
                        <a:latin typeface="Cambria Math" panose="02040503050406030204" pitchFamily="18" charset="0"/>
                        <a:ea typeface="Cambria Math" panose="02040503050406030204" pitchFamily="18" charset="0"/>
                      </a:rPr>
                      <m:t> –1</m:t>
                    </m:r>
                  </m:oMath>
                </a14:m>
                <a:endParaRPr lang="en-US" sz="2800" dirty="0">
                  <a:solidFill>
                    <a:srgbClr val="000000"/>
                  </a:solidFill>
                </a:endParaRPr>
              </a:p>
              <a:p>
                <a:pPr marL="514350" indent="-514350">
                  <a:buFont typeface="+mj-lt"/>
                  <a:buAutoNum type="arabicPeriod"/>
                </a:pPr>
                <a:endParaRPr lang="en-US" sz="2800" dirty="0">
                  <a:solidFill>
                    <a:srgbClr val="000000"/>
                  </a:solidFill>
                </a:endParaRPr>
              </a:p>
              <a:p>
                <a:pPr marL="0" indent="0">
                  <a:buNone/>
                </a:pPr>
                <a:endParaRPr lang="en-US" sz="2800" dirty="0">
                  <a:solidFill>
                    <a:srgbClr val="000000"/>
                  </a:solidFill>
                </a:endParaRPr>
              </a:p>
              <a:p>
                <a:pPr marL="514350" indent="-514350">
                  <a:buFont typeface="+mj-lt"/>
                  <a:buAutoNum type="arabicPeriod" startAt="2"/>
                </a:pPr>
                <a:r>
                  <a:rPr lang="en-US" sz="2800" dirty="0">
                    <a:solidFill>
                      <a:srgbClr val="000000"/>
                    </a:solidFill>
                  </a:rPr>
                  <a:t> </a:t>
                </a:r>
                <a14:m>
                  <m:oMath xmlns:m="http://schemas.openxmlformats.org/officeDocument/2006/math">
                    <m:r>
                      <a:rPr lang="en-US" sz="2800" i="1" dirty="0" smtClean="0">
                        <a:solidFill>
                          <a:srgbClr val="000000"/>
                        </a:solidFill>
                        <a:latin typeface="Cambria Math" panose="02040503050406030204" pitchFamily="18" charset="0"/>
                      </a:rPr>
                      <m:t>𝑥</m:t>
                    </m:r>
                    <m:r>
                      <a:rPr lang="en-US" sz="2800" b="0" i="1" dirty="0" smtClean="0">
                        <a:solidFill>
                          <a:srgbClr val="000000"/>
                        </a:solidFill>
                        <a:latin typeface="Cambria Math" panose="02040503050406030204" pitchFamily="18" charset="0"/>
                      </a:rPr>
                      <m:t> –</m:t>
                    </m:r>
                    <m:r>
                      <a:rPr lang="en-US" sz="2800" i="1" dirty="0" smtClean="0">
                        <a:solidFill>
                          <a:srgbClr val="000000"/>
                        </a:solidFill>
                        <a:latin typeface="Cambria Math" panose="02040503050406030204" pitchFamily="18" charset="0"/>
                      </a:rPr>
                      <m:t>2</m:t>
                    </m:r>
                    <m:r>
                      <a:rPr lang="en-US" sz="2800" b="0" i="1" dirty="0" smtClean="0">
                        <a:solidFill>
                          <a:srgbClr val="000000"/>
                        </a:solidFill>
                        <a:latin typeface="Cambria Math" panose="02040503050406030204" pitchFamily="18" charset="0"/>
                      </a:rPr>
                      <m:t>&gt;</m:t>
                    </m:r>
                    <m:r>
                      <a:rPr lang="en-US" sz="2800" i="1" dirty="0" smtClean="0">
                        <a:solidFill>
                          <a:srgbClr val="000000"/>
                        </a:solidFill>
                        <a:latin typeface="Cambria Math" panose="02040503050406030204" pitchFamily="18" charset="0"/>
                      </a:rPr>
                      <m:t>5</m:t>
                    </m:r>
                  </m:oMath>
                </a14:m>
                <a:r>
                  <a:rPr lang="en-US" sz="2800" dirty="0">
                    <a:solidFill>
                      <a:srgbClr val="000000"/>
                    </a:solidFill>
                  </a:rPr>
                  <a:t>				4.  –</a:t>
                </a:r>
                <a14:m>
                  <m:oMath xmlns:m="http://schemas.openxmlformats.org/officeDocument/2006/math">
                    <m:r>
                      <a:rPr lang="en-US" sz="2800" i="1" dirty="0">
                        <a:solidFill>
                          <a:srgbClr val="000000"/>
                        </a:solidFill>
                        <a:latin typeface="Cambria Math" panose="02040503050406030204" pitchFamily="18" charset="0"/>
                      </a:rPr>
                      <m:t>𝑥</m:t>
                    </m:r>
                    <m:r>
                      <a:rPr lang="en-US" sz="2800" i="1" dirty="0">
                        <a:solidFill>
                          <a:srgbClr val="000000"/>
                        </a:solidFill>
                        <a:latin typeface="Cambria Math" panose="02040503050406030204" pitchFamily="18" charset="0"/>
                      </a:rPr>
                      <m:t>&gt;4</m:t>
                    </m:r>
                  </m:oMath>
                </a14:m>
                <a:endParaRPr lang="en-US" sz="2800" dirty="0">
                  <a:solidFill>
                    <a:srgbClr val="000000"/>
                  </a:solidFill>
                </a:endParaRPr>
              </a:p>
              <a:p>
                <a:pPr marL="0" indent="0">
                  <a:buNone/>
                </a:pPr>
                <a:endParaRPr lang="en-US" sz="2800" dirty="0">
                  <a:solidFill>
                    <a:srgbClr val="000000"/>
                  </a:solidFill>
                </a:endParaRPr>
              </a:p>
              <a:p>
                <a:pPr marL="514350" indent="-514350">
                  <a:buFont typeface="+mj-lt"/>
                  <a:buAutoNum type="arabicPeriod" startAt="2"/>
                </a:pPr>
                <a:endParaRPr lang="en-US" sz="2800" dirty="0">
                  <a:solidFill>
                    <a:srgbClr val="000000"/>
                  </a:solidFill>
                </a:endParaRPr>
              </a:p>
            </p:txBody>
          </p:sp>
        </mc:Choice>
        <mc:Fallback xmlns="">
          <p:sp>
            <p:nvSpPr>
              <p:cNvPr id="2" name="Text Placeholder 2">
                <a:extLst>
                  <a:ext uri="{FF2B5EF4-FFF2-40B4-BE49-F238E27FC236}">
                    <a16:creationId xmlns:a16="http://schemas.microsoft.com/office/drawing/2014/main" id="{3237D0C3-0B1D-2A16-535D-FCBFEB28D717}"/>
                  </a:ext>
                </a:extLst>
              </p:cNvPr>
              <p:cNvSpPr txBox="1">
                <a:spLocks noRot="1" noChangeAspect="1" noMove="1" noResize="1" noEditPoints="1" noAdjustHandles="1" noChangeArrowheads="1" noChangeShapeType="1" noTextEdit="1"/>
              </p:cNvSpPr>
              <p:nvPr/>
            </p:nvSpPr>
            <p:spPr>
              <a:xfrm>
                <a:off x="777240" y="1600200"/>
                <a:ext cx="10054239" cy="4829174"/>
              </a:xfrm>
              <a:prstGeom prst="rect">
                <a:avLst/>
              </a:prstGeom>
              <a:blipFill>
                <a:blip r:embed="rId3"/>
                <a:stretch>
                  <a:fillRect l="-1273" t="-1263"/>
                </a:stretch>
              </a:blipFill>
            </p:spPr>
            <p:txBody>
              <a:bodyPr/>
              <a:lstStyle/>
              <a:p>
                <a:r>
                  <a:rPr lang="en-US">
                    <a:noFill/>
                  </a:rPr>
                  <a:t> </a:t>
                </a:r>
              </a:p>
            </p:txBody>
          </p:sp>
        </mc:Fallback>
      </mc:AlternateContent>
    </p:spTree>
    <p:extLst>
      <p:ext uri="{BB962C8B-B14F-4D97-AF65-F5344CB8AC3E}">
        <p14:creationId xmlns:p14="http://schemas.microsoft.com/office/powerpoint/2010/main" val="318608681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7AF44A-A2BF-5213-0768-B06DA52229A6}"/>
              </a:ext>
            </a:extLst>
          </p:cNvPr>
          <p:cNvSpPr>
            <a:spLocks noGrp="1"/>
          </p:cNvSpPr>
          <p:nvPr>
            <p:ph type="title" idx="4294967295"/>
          </p:nvPr>
        </p:nvSpPr>
        <p:spPr>
          <a:xfrm>
            <a:off x="838200" y="-351064"/>
            <a:ext cx="10514013" cy="351064"/>
          </a:xfrm>
          <a:prstGeom prst="rect">
            <a:avLst/>
          </a:prstGeom>
        </p:spPr>
        <p:txBody>
          <a:bodyPr anchor="b"/>
          <a:lstStyle/>
          <a:p>
            <a:r>
              <a:rPr lang="en-US" sz="2000" dirty="0">
                <a:solidFill>
                  <a:schemeClr val="bg2"/>
                </a:solidFill>
              </a:rPr>
              <a:t>Acknowledgment and Notice</a:t>
            </a:r>
          </a:p>
        </p:txBody>
      </p:sp>
    </p:spTree>
    <p:extLst>
      <p:ext uri="{BB962C8B-B14F-4D97-AF65-F5344CB8AC3E}">
        <p14:creationId xmlns:p14="http://schemas.microsoft.com/office/powerpoint/2010/main" val="363287788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405E585-903C-AE75-891E-98E899BA927D}"/>
              </a:ext>
            </a:extLst>
          </p:cNvPr>
          <p:cNvSpPr>
            <a:spLocks noGrp="1"/>
          </p:cNvSpPr>
          <p:nvPr>
            <p:ph type="title" idx="4294967295"/>
          </p:nvPr>
        </p:nvSpPr>
        <p:spPr>
          <a:xfrm>
            <a:off x="6095206" y="4975063"/>
            <a:ext cx="5492039" cy="414778"/>
          </a:xfrm>
          <a:prstGeom prst="rect">
            <a:avLst/>
          </a:prstGeom>
          <a:solidFill>
            <a:srgbClr val="2B8147"/>
          </a:solidFill>
          <a:ln>
            <a:noFill/>
            <a:prstDash/>
          </a:ln>
          <a:effectLst/>
        </p:spPr>
        <p:txBody>
          <a:bodyPr rot="0" spcFirstLastPara="0" vertOverflow="overflow" horzOverflow="overflow" vert="horz" wrap="square" lIns="0" tIns="45720" rIns="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0" i="0" u="none" strike="noStrike" kern="1200" cap="none" spc="0" normalizeH="0" baseline="0" noProof="0" dirty="0">
                <a:ln>
                  <a:noFill/>
                </a:ln>
                <a:solidFill>
                  <a:schemeClr val="bg1"/>
                </a:solidFill>
                <a:effectLst/>
                <a:uLnTx/>
                <a:uFillTx/>
                <a:latin typeface="+mn-lt"/>
                <a:ea typeface="+mn-ea"/>
                <a:cs typeface="+mn-cs"/>
              </a:rPr>
              <a:t>BLMathematics_AlgI_M3_T1_</a:t>
            </a:r>
            <a:r>
              <a:rPr kumimoji="0" lang="en-US" sz="1800" b="0" i="0" u="none" strike="noStrike" kern="1200" cap="none" spc="0" normalizeH="0" baseline="0" noProof="0">
                <a:ln>
                  <a:noFill/>
                </a:ln>
                <a:solidFill>
                  <a:schemeClr val="bg1"/>
                </a:solidFill>
                <a:effectLst/>
                <a:uLnTx/>
                <a:uFillTx/>
                <a:latin typeface="+mn-lt"/>
                <a:ea typeface="+mn-ea"/>
                <a:cs typeface="+mn-cs"/>
              </a:rPr>
              <a:t>L2_LessonSlides_ENG_2025</a:t>
            </a:r>
            <a:endParaRPr kumimoji="0" lang="en-US" sz="1800" b="0" i="0" u="none" strike="noStrike" kern="1200" cap="none" spc="0" normalizeH="0" baseline="0" noProof="0" dirty="0">
              <a:ln>
                <a:noFill/>
              </a:ln>
              <a:solidFill>
                <a:schemeClr val="bg1"/>
              </a:solidFill>
              <a:effectLst/>
              <a:uLnTx/>
              <a:uFillTx/>
              <a:latin typeface="+mn-lt"/>
              <a:ea typeface="Calibri"/>
              <a:cs typeface="Calibri"/>
            </a:endParaRPr>
          </a:p>
        </p:txBody>
      </p:sp>
    </p:spTree>
    <p:extLst>
      <p:ext uri="{BB962C8B-B14F-4D97-AF65-F5344CB8AC3E}">
        <p14:creationId xmlns:p14="http://schemas.microsoft.com/office/powerpoint/2010/main" val="1308572728"/>
      </p:ext>
    </p:extLst>
  </p:cSld>
  <p:clrMapOvr>
    <a:masterClrMapping/>
  </p:clrMapOvr>
</p:sld>
</file>

<file path=ppt/theme/theme1.xml><?xml version="1.0" encoding="utf-8"?>
<a:theme xmlns:a="http://schemas.openxmlformats.org/drawingml/2006/main" name="A1_green">
  <a:themeElements>
    <a:clrScheme name="TEA K-5">
      <a:dk1>
        <a:srgbClr val="002060"/>
      </a:dk1>
      <a:lt1>
        <a:sysClr val="window" lastClr="FFFFFF"/>
      </a:lt1>
      <a:dk2>
        <a:srgbClr val="44546A"/>
      </a:dk2>
      <a:lt2>
        <a:srgbClr val="E7E6E6"/>
      </a:lt2>
      <a:accent1>
        <a:srgbClr val="35BDB4"/>
      </a:accent1>
      <a:accent2>
        <a:srgbClr val="F47D52"/>
      </a:accent2>
      <a:accent3>
        <a:srgbClr val="41B653"/>
      </a:accent3>
      <a:accent4>
        <a:srgbClr val="FCC616"/>
      </a:accent4>
      <a:accent5>
        <a:srgbClr val="B75BA3"/>
      </a:accent5>
      <a:accent6>
        <a:srgbClr val="F05174"/>
      </a:accent6>
      <a:hlink>
        <a:srgbClr val="0563C1"/>
      </a:hlink>
      <a:folHlink>
        <a:srgbClr val="954F72"/>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G7_navy">
  <a:themeElements>
    <a:clrScheme name="TEA K-5">
      <a:dk1>
        <a:srgbClr val="002060"/>
      </a:dk1>
      <a:lt1>
        <a:sysClr val="window" lastClr="FFFFFF"/>
      </a:lt1>
      <a:dk2>
        <a:srgbClr val="44546A"/>
      </a:dk2>
      <a:lt2>
        <a:srgbClr val="E7E6E6"/>
      </a:lt2>
      <a:accent1>
        <a:srgbClr val="35BDB4"/>
      </a:accent1>
      <a:accent2>
        <a:srgbClr val="F47D52"/>
      </a:accent2>
      <a:accent3>
        <a:srgbClr val="41B653"/>
      </a:accent3>
      <a:accent4>
        <a:srgbClr val="FCC616"/>
      </a:accent4>
      <a:accent5>
        <a:srgbClr val="B75BA3"/>
      </a:accent5>
      <a:accent6>
        <a:srgbClr val="F05174"/>
      </a:accent6>
      <a:hlink>
        <a:srgbClr val="0563C1"/>
      </a:hlink>
      <a:folHlink>
        <a:srgbClr val="954F72"/>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G8_purple">
  <a:themeElements>
    <a:clrScheme name="TEA K-5">
      <a:dk1>
        <a:srgbClr val="002060"/>
      </a:dk1>
      <a:lt1>
        <a:sysClr val="window" lastClr="FFFFFF"/>
      </a:lt1>
      <a:dk2>
        <a:srgbClr val="44546A"/>
      </a:dk2>
      <a:lt2>
        <a:srgbClr val="E7E6E6"/>
      </a:lt2>
      <a:accent1>
        <a:srgbClr val="35BDB4"/>
      </a:accent1>
      <a:accent2>
        <a:srgbClr val="F47D52"/>
      </a:accent2>
      <a:accent3>
        <a:srgbClr val="41B653"/>
      </a:accent3>
      <a:accent4>
        <a:srgbClr val="FCC616"/>
      </a:accent4>
      <a:accent5>
        <a:srgbClr val="B75BA3"/>
      </a:accent5>
      <a:accent6>
        <a:srgbClr val="F05174"/>
      </a:accent6>
      <a:hlink>
        <a:srgbClr val="0563C1"/>
      </a:hlink>
      <a:folHlink>
        <a:srgbClr val="954F72"/>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G6_teal">
  <a:themeElements>
    <a:clrScheme name="TEA K-5">
      <a:dk1>
        <a:srgbClr val="002060"/>
      </a:dk1>
      <a:lt1>
        <a:sysClr val="window" lastClr="FFFFFF"/>
      </a:lt1>
      <a:dk2>
        <a:srgbClr val="44546A"/>
      </a:dk2>
      <a:lt2>
        <a:srgbClr val="E7E6E6"/>
      </a:lt2>
      <a:accent1>
        <a:srgbClr val="35BDB4"/>
      </a:accent1>
      <a:accent2>
        <a:srgbClr val="F47D52"/>
      </a:accent2>
      <a:accent3>
        <a:srgbClr val="41B653"/>
      </a:accent3>
      <a:accent4>
        <a:srgbClr val="FCC616"/>
      </a:accent4>
      <a:accent5>
        <a:srgbClr val="B75BA3"/>
      </a:accent5>
      <a:accent6>
        <a:srgbClr val="F05174"/>
      </a:accent6>
      <a:hlink>
        <a:srgbClr val="0563C1"/>
      </a:hlink>
      <a:folHlink>
        <a:srgbClr val="954F72"/>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5aa991ed-cfdb-45f0-90fe-74f6c83d7f1e" xsi:nil="true"/>
    <lcf76f155ced4ddcb4097134ff3c332f xmlns="33e0dbe9-2ee3-4e40-8d2a-c14405aa398e">
      <Terms xmlns="http://schemas.microsoft.com/office/infopath/2007/PartnerControls"/>
    </lcf76f155ced4ddcb4097134ff3c332f>
    <Uploaded xmlns="33e0dbe9-2ee3-4e40-8d2a-c14405aa398e">true</Uploaded>
    <SharedWithUsers xmlns="5aa991ed-cfdb-45f0-90fe-74f6c83d7f1e">
      <UserInfo>
        <DisplayName/>
        <AccountId xsi:nil="true"/>
        <AccountType/>
      </UserInfo>
    </SharedWithUser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9AE0C664B4FDA64F8529B02C06F03698" ma:contentTypeVersion="15" ma:contentTypeDescription="Create a new document." ma:contentTypeScope="" ma:versionID="4bf8706da78cd0fcda70025af99f6a26">
  <xsd:schema xmlns:xsd="http://www.w3.org/2001/XMLSchema" xmlns:xs="http://www.w3.org/2001/XMLSchema" xmlns:p="http://schemas.microsoft.com/office/2006/metadata/properties" xmlns:ns2="33e0dbe9-2ee3-4e40-8d2a-c14405aa398e" xmlns:ns3="5aa991ed-cfdb-45f0-90fe-74f6c83d7f1e" targetNamespace="http://schemas.microsoft.com/office/2006/metadata/properties" ma:root="true" ma:fieldsID="aff2f77c8a19f3557e1e9d39b143470b" ns2:_="" ns3:_="">
    <xsd:import namespace="33e0dbe9-2ee3-4e40-8d2a-c14405aa398e"/>
    <xsd:import namespace="5aa991ed-cfdb-45f0-90fe-74f6c83d7f1e"/>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LengthInSeconds"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SearchProperties" minOccurs="0"/>
                <xsd:element ref="ns2:Uploade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3e0dbe9-2ee3-4e40-8d2a-c14405aa398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internalName="MediaServiceDateTaken"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MediaServiceObjectDetectorVersions" ma:index="14" nillable="true" ma:displayName="MediaServiceObjectDetectorVersions" ma:hidden="true" ma:indexed="true" ma:internalName="MediaServiceObjectDetectorVersions" ma:readOnly="true">
      <xsd:simpleType>
        <xsd:restriction base="dms:Text"/>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3b7a77b5-e59d-49f3-97a2-3dde868dbe2d"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Uploaded" ma:index="22" nillable="true" ma:displayName="Uploaded" ma:default="1" ma:description="Check for uploaded into Sharefile" ma:format="Dropdown" ma:internalName="Uploaded">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5aa991ed-cfdb-45f0-90fe-74f6c83d7f1e"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7" nillable="true" ma:displayName="Taxonomy Catch All Column" ma:hidden="true" ma:list="{57405ce4-92a5-4ced-b4fb-968b1592fafc}" ma:internalName="TaxCatchAll" ma:showField="CatchAllData" ma:web="5aa991ed-cfdb-45f0-90fe-74f6c83d7f1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4C40A32-31E8-4858-87A9-973F15D55D2C}">
  <ds:schemaRefs>
    <ds:schemaRef ds:uri="http://schemas.microsoft.com/sharepoint/v3/contenttype/forms"/>
  </ds:schemaRefs>
</ds:datastoreItem>
</file>

<file path=customXml/itemProps2.xml><?xml version="1.0" encoding="utf-8"?>
<ds:datastoreItem xmlns:ds="http://schemas.openxmlformats.org/officeDocument/2006/customXml" ds:itemID="{788DFB36-FBAE-42FF-A732-AA8F5E6D15D5}">
  <ds:schemaRefs>
    <ds:schemaRef ds:uri="5aa991ed-cfdb-45f0-90fe-74f6c83d7f1e"/>
    <ds:schemaRef ds:uri="http://purl.org/dc/terms/"/>
    <ds:schemaRef ds:uri="33e0dbe9-2ee3-4e40-8d2a-c14405aa398e"/>
    <ds:schemaRef ds:uri="http://schemas.microsoft.com/office/infopath/2007/PartnerControls"/>
    <ds:schemaRef ds:uri="http://schemas.microsoft.com/office/2006/documentManagement/types"/>
    <ds:schemaRef ds:uri="http://schemas.microsoft.com/office/2006/metadata/properties"/>
    <ds:schemaRef ds:uri="http://purl.org/dc/elements/1.1/"/>
    <ds:schemaRef ds:uri="http://schemas.openxmlformats.org/package/2006/metadata/core-properties"/>
    <ds:schemaRef ds:uri="http://www.w3.org/XML/1998/namespace"/>
    <ds:schemaRef ds:uri="http://purl.org/dc/dcmitype/"/>
  </ds:schemaRefs>
</ds:datastoreItem>
</file>

<file path=customXml/itemProps3.xml><?xml version="1.0" encoding="utf-8"?>
<ds:datastoreItem xmlns:ds="http://schemas.openxmlformats.org/officeDocument/2006/customXml" ds:itemID="{E94E78E5-0154-4C1E-9E02-E002822E6AD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3e0dbe9-2ee3-4e40-8d2a-c14405aa398e"/>
    <ds:schemaRef ds:uri="5aa991ed-cfdb-45f0-90fe-74f6c83d7f1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12231</TotalTime>
  <Words>5267</Words>
  <Application>Microsoft Office PowerPoint</Application>
  <PresentationFormat>Custom</PresentationFormat>
  <Paragraphs>574</Paragraphs>
  <Slides>58</Slides>
  <Notes>58</Notes>
  <HiddenSlides>0</HiddenSlides>
  <MMClips>0</MMClips>
  <ScaleCrop>false</ScaleCrop>
  <HeadingPairs>
    <vt:vector size="4" baseType="variant">
      <vt:variant>
        <vt:lpstr>Theme</vt:lpstr>
      </vt:variant>
      <vt:variant>
        <vt:i4>4</vt:i4>
      </vt:variant>
      <vt:variant>
        <vt:lpstr>Slide Titles</vt:lpstr>
      </vt:variant>
      <vt:variant>
        <vt:i4>58</vt:i4>
      </vt:variant>
    </vt:vector>
  </HeadingPairs>
  <TitlesOfParts>
    <vt:vector size="62" baseType="lpstr">
      <vt:lpstr>A1_green</vt:lpstr>
      <vt:lpstr>G7_navy</vt:lpstr>
      <vt:lpstr>G8_purple</vt:lpstr>
      <vt:lpstr>G6_teal</vt:lpstr>
      <vt:lpstr>Literal Equations</vt:lpstr>
      <vt:lpstr>Objectives</vt:lpstr>
      <vt:lpstr>Key Terms (1 of 1)</vt:lpstr>
      <vt:lpstr>Essential Question (1 of 2)</vt:lpstr>
      <vt:lpstr>Day 1</vt:lpstr>
      <vt:lpstr>Getting Started</vt:lpstr>
      <vt:lpstr>Perimeter Perspectives (1 of 6)</vt:lpstr>
      <vt:lpstr>Perimeter Perspectives (2 of 6)</vt:lpstr>
      <vt:lpstr>Perimeter Perspectives (3 of 6)</vt:lpstr>
      <vt:lpstr>Perimeter Perspectives (4 of 6)</vt:lpstr>
      <vt:lpstr>Perimeter Perspectives (5 of 6) </vt:lpstr>
      <vt:lpstr>Perimeter Perspectives (6 of 6) </vt:lpstr>
      <vt:lpstr>Activity 2.1</vt:lpstr>
      <vt:lpstr>Equations in Different Forms (1 of 13)</vt:lpstr>
      <vt:lpstr>Equations in Different Forms (2 of 13)</vt:lpstr>
      <vt:lpstr>Equations in Different Forms (3 of 13)</vt:lpstr>
      <vt:lpstr>Equations in Different Forms (4 of 13)</vt:lpstr>
      <vt:lpstr>Equations in Different Forms (5 of 13)</vt:lpstr>
      <vt:lpstr>Equations in Different Forms (6 of 13)</vt:lpstr>
      <vt:lpstr>Equations in Different Forms (7 of 13)</vt:lpstr>
      <vt:lpstr>Equations in Different Forms (8 of 13)</vt:lpstr>
      <vt:lpstr>Equations in Different Forms (9 of 13)</vt:lpstr>
      <vt:lpstr>Equations in Different Forms (10 of 13)</vt:lpstr>
      <vt:lpstr>Equations in Different Forms (11 of 13)</vt:lpstr>
      <vt:lpstr>Equations in Different Forms (12 of 13)</vt:lpstr>
      <vt:lpstr>Equations in Different Forms (13 of 13)</vt:lpstr>
      <vt:lpstr>Day 2</vt:lpstr>
      <vt:lpstr>Essential Question (2 of 2)</vt:lpstr>
      <vt:lpstr>Activity 2.2</vt:lpstr>
      <vt:lpstr>Rewriting Literal Equations (1 of 11)</vt:lpstr>
      <vt:lpstr>Rewriting Literal Equations (2 of 11)</vt:lpstr>
      <vt:lpstr>Rewriting Literal Equations (3 of 11)</vt:lpstr>
      <vt:lpstr>Rewriting Literal Equations (4 of 11)</vt:lpstr>
      <vt:lpstr>Rewriting Literal Equations (5 of 11)</vt:lpstr>
      <vt:lpstr>Rewriting Literal Equations (6 of 11)</vt:lpstr>
      <vt:lpstr>Rewriting Literal Equations (7 of 11)</vt:lpstr>
      <vt:lpstr>Rewriting Literal Equations (8 of 11)</vt:lpstr>
      <vt:lpstr>Rewriting Literal Equations (9 of 11)</vt:lpstr>
      <vt:lpstr>Rewriting Literal Equations (10 of 11)</vt:lpstr>
      <vt:lpstr>Rewriting Literal Equations (11 of 11)</vt:lpstr>
      <vt:lpstr>Activity 2.3</vt:lpstr>
      <vt:lpstr>Solving Literal Equations for Specific Variables (1 of 8)</vt:lpstr>
      <vt:lpstr>Solving Literal Equations for Specific Variables (2 of 8)</vt:lpstr>
      <vt:lpstr>Solving Literal Equations for Specific Variables (3 of 8)</vt:lpstr>
      <vt:lpstr>Solving Literal Equations for Specific Variables (4 of 8)</vt:lpstr>
      <vt:lpstr>Solving Literal Equations for Specific Variables (5 of 8)</vt:lpstr>
      <vt:lpstr>Solving Literal Equations for Specific Variables (6 of 8)</vt:lpstr>
      <vt:lpstr>Solving Literal Equations for Specific Variables (7 of 8)</vt:lpstr>
      <vt:lpstr>Solving Literal Equations for Specific Variables (8 of 8)</vt:lpstr>
      <vt:lpstr>Talk the Talk</vt:lpstr>
      <vt:lpstr>Rearrange It (1 of 4)</vt:lpstr>
      <vt:lpstr>Rearrange It (2 of 4)</vt:lpstr>
      <vt:lpstr>Rearrange It (3 of 4)</vt:lpstr>
      <vt:lpstr>Rearrange It (4 of 4)</vt:lpstr>
      <vt:lpstr>Prepare</vt:lpstr>
      <vt:lpstr>Prepare for Module 3 Topic 1 Lesson 3</vt:lpstr>
      <vt:lpstr>Acknowledgment and Notice</vt:lpstr>
      <vt:lpstr>BLMathematics_AlgI_M3_T1_L2_LessonSlides_ENG_2025</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Singh Amandeep</dc:creator>
  <cp:lastModifiedBy>Moyer Montague, Kristina</cp:lastModifiedBy>
  <cp:revision>428</cp:revision>
  <dcterms:created xsi:type="dcterms:W3CDTF">2024-02-22T09:58:00Z</dcterms:created>
  <dcterms:modified xsi:type="dcterms:W3CDTF">2025-09-08T18:29:30Z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A7190AC9080C4877A6E26CA982D6CC88_12</vt:lpwstr>
  </property>
  <property fmtid="{D5CDD505-2E9C-101B-9397-08002B2CF9AE}" pid="3" name="KSOProductBuildVer">
    <vt:lpwstr>1033-12.2.0.16731</vt:lpwstr>
  </property>
  <property fmtid="{D5CDD505-2E9C-101B-9397-08002B2CF9AE}" pid="4" name="ContentTypeId">
    <vt:lpwstr>0x0101009AE0C664B4FDA64F8529B02C06F03698</vt:lpwstr>
  </property>
  <property fmtid="{D5CDD505-2E9C-101B-9397-08002B2CF9AE}" pid="5" name="MediaServiceImageTags">
    <vt:lpwstr/>
  </property>
  <property fmtid="{D5CDD505-2E9C-101B-9397-08002B2CF9AE}" pid="6" name="Order">
    <vt:r8>3629600</vt:r8>
  </property>
  <property fmtid="{D5CDD505-2E9C-101B-9397-08002B2CF9AE}" pid="7" name="xd_Signature">
    <vt:bool>false</vt:bool>
  </property>
  <property fmtid="{D5CDD505-2E9C-101B-9397-08002B2CF9AE}" pid="8" name="xd_ProgID">
    <vt:lpwstr/>
  </property>
  <property fmtid="{D5CDD505-2E9C-101B-9397-08002B2CF9AE}" pid="9" name="ComplianceAssetId">
    <vt:lpwstr/>
  </property>
  <property fmtid="{D5CDD505-2E9C-101B-9397-08002B2CF9AE}" pid="10" name="TemplateUrl">
    <vt:lpwstr/>
  </property>
  <property fmtid="{D5CDD505-2E9C-101B-9397-08002B2CF9AE}" pid="11" name="_ExtendedDescription">
    <vt:lpwstr/>
  </property>
  <property fmtid="{D5CDD505-2E9C-101B-9397-08002B2CF9AE}" pid="12" name="TriggerFlowInfo">
    <vt:lpwstr/>
  </property>
</Properties>
</file>