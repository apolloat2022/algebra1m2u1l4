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5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62"/>
  </p:notesMasterIdLst>
  <p:sldIdLst>
    <p:sldId id="329" r:id="rId8"/>
    <p:sldId id="300" r:id="rId9"/>
    <p:sldId id="363" r:id="rId10"/>
    <p:sldId id="364" r:id="rId11"/>
    <p:sldId id="376" r:id="rId12"/>
    <p:sldId id="365" r:id="rId13"/>
    <p:sldId id="366" r:id="rId14"/>
    <p:sldId id="360" r:id="rId15"/>
    <p:sldId id="334" r:id="rId16"/>
    <p:sldId id="377" r:id="rId17"/>
    <p:sldId id="378" r:id="rId18"/>
    <p:sldId id="379" r:id="rId19"/>
    <p:sldId id="380" r:id="rId20"/>
    <p:sldId id="367" r:id="rId21"/>
    <p:sldId id="352" r:id="rId22"/>
    <p:sldId id="359" r:id="rId23"/>
    <p:sldId id="368" r:id="rId24"/>
    <p:sldId id="381" r:id="rId25"/>
    <p:sldId id="382" r:id="rId26"/>
    <p:sldId id="383" r:id="rId27"/>
    <p:sldId id="384" r:id="rId28"/>
    <p:sldId id="385" r:id="rId29"/>
    <p:sldId id="386" r:id="rId30"/>
    <p:sldId id="369" r:id="rId31"/>
    <p:sldId id="353" r:id="rId32"/>
    <p:sldId id="361" r:id="rId33"/>
    <p:sldId id="371" r:id="rId34"/>
    <p:sldId id="401" r:id="rId35"/>
    <p:sldId id="387" r:id="rId36"/>
    <p:sldId id="388" r:id="rId37"/>
    <p:sldId id="389" r:id="rId38"/>
    <p:sldId id="390" r:id="rId39"/>
    <p:sldId id="372" r:id="rId40"/>
    <p:sldId id="355" r:id="rId41"/>
    <p:sldId id="402" r:id="rId42"/>
    <p:sldId id="370" r:id="rId43"/>
    <p:sldId id="391" r:id="rId44"/>
    <p:sldId id="392" r:id="rId45"/>
    <p:sldId id="394" r:id="rId46"/>
    <p:sldId id="395" r:id="rId47"/>
    <p:sldId id="396" r:id="rId48"/>
    <p:sldId id="397" r:id="rId49"/>
    <p:sldId id="362" r:id="rId50"/>
    <p:sldId id="328" r:id="rId51"/>
    <p:sldId id="399" r:id="rId52"/>
    <p:sldId id="356" r:id="rId53"/>
    <p:sldId id="403" r:id="rId54"/>
    <p:sldId id="398" r:id="rId55"/>
    <p:sldId id="404" r:id="rId56"/>
    <p:sldId id="405" r:id="rId57"/>
    <p:sldId id="374" r:id="rId58"/>
    <p:sldId id="375" r:id="rId59"/>
    <p:sldId id="406" r:id="rId70"/>
    <p:sldId id="357" r:id="rId60"/>
    <p:sldId id="294" r:id="rId61"/>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63"/>
            <p14:sldId id="364"/>
            <p14:sldId id="376"/>
            <p14:sldId id="365"/>
            <p14:sldId id="366"/>
            <p14:sldId id="360"/>
            <p14:sldId id="334"/>
            <p14:sldId id="377"/>
            <p14:sldId id="378"/>
            <p14:sldId id="379"/>
            <p14:sldId id="380"/>
            <p14:sldId id="367"/>
            <p14:sldId id="352"/>
            <p14:sldId id="359"/>
            <p14:sldId id="368"/>
            <p14:sldId id="381"/>
            <p14:sldId id="382"/>
            <p14:sldId id="383"/>
            <p14:sldId id="384"/>
            <p14:sldId id="385"/>
            <p14:sldId id="386"/>
            <p14:sldId id="369"/>
            <p14:sldId id="353"/>
            <p14:sldId id="361"/>
            <p14:sldId id="371"/>
            <p14:sldId id="401"/>
            <p14:sldId id="387"/>
            <p14:sldId id="388"/>
            <p14:sldId id="389"/>
            <p14:sldId id="390"/>
            <p14:sldId id="372"/>
            <p14:sldId id="355"/>
            <p14:sldId id="402"/>
            <p14:sldId id="370"/>
            <p14:sldId id="391"/>
            <p14:sldId id="392"/>
            <p14:sldId id="394"/>
            <p14:sldId id="395"/>
            <p14:sldId id="396"/>
            <p14:sldId id="397"/>
            <p14:sldId id="362"/>
            <p14:sldId id="328"/>
            <p14:sldId id="399"/>
            <p14:sldId id="356"/>
            <p14:sldId id="403"/>
            <p14:sldId id="398"/>
            <p14:sldId id="404"/>
            <p14:sldId id="405"/>
            <p14:sldId id="374"/>
            <p14:sldId id="375"/>
            <p14:sldId id="357"/>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B8147"/>
    <a:srgbClr val="CADCCD"/>
    <a:srgbClr val="0084AC"/>
    <a:srgbClr val="61449B"/>
    <a:srgbClr val="143965"/>
    <a:srgbClr val="008F4C"/>
    <a:srgbClr val="242E61"/>
    <a:srgbClr val="236739"/>
    <a:srgbClr val="14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966B92-C99C-4A44-AEF8-4C90CBC6E7E6}" v="152" dt="2025-07-29T21:25:07.8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67" autoAdjust="0"/>
    <p:restoredTop sz="78133" autoAdjust="0"/>
  </p:normalViewPr>
  <p:slideViewPr>
    <p:cSldViewPr snapToGrid="0">
      <p:cViewPr varScale="1">
        <p:scale>
          <a:sx n="123" d="100"/>
          <a:sy n="123" d="100"/>
        </p:scale>
        <p:origin x="1152" y="102"/>
      </p:cViewPr>
      <p:guideLst>
        <p:guide orient="horz" pos="2160"/>
        <p:guide pos="3840"/>
      </p:guideLst>
    </p:cSldViewPr>
  </p:slideViewPr>
  <p:outlineViewPr>
    <p:cViewPr>
      <p:scale>
        <a:sx n="33" d="100"/>
        <a:sy n="33" d="100"/>
      </p:scale>
      <p:origin x="0" y="-5250"/>
    </p:cViewPr>
  </p:outlineViewPr>
  <p:notesTextViewPr>
    <p:cViewPr>
      <p:scale>
        <a:sx n="1" d="1"/>
        <a:sy n="1" d="1"/>
      </p:scale>
      <p:origin x="0" y="0"/>
    </p:cViewPr>
  </p:notesTextViewPr>
  <p:sorterViewPr>
    <p:cViewPr>
      <p:scale>
        <a:sx n="100" d="100"/>
        <a:sy n="100" d="100"/>
      </p:scale>
      <p:origin x="0" y="-3702"/>
    </p:cViewPr>
  </p:sorterViewPr>
  <p:notesViewPr>
    <p:cSldViewPr snapToGrid="0">
      <p:cViewPr>
        <p:scale>
          <a:sx n="1" d="2"/>
          <a:sy n="1" d="2"/>
        </p:scale>
        <p:origin x="0" y="0"/>
      </p:cViewPr>
      <p:guideLst/>
    </p:cSldViewPr>
  </p:notes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61" Type="http://schemas.openxmlformats.org/officeDocument/2006/relationships/slide" Target="slides/slide54.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viewProps" Target="viewProps.xml"/><Relationship Id="rId69" Type="http://schemas.microsoft.com/office/2018/10/relationships/authors" Target="author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microsoft.com/office/2016/11/relationships/changesInfo" Target="changesInfos/changesInfo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notesMaster" Target="notesMasters/notesMaster1.xml"/><Relationship Id="rId70" Type="http://schemas.openxmlformats.org/officeDocument/2006/relationships/slide" Target="slides/slide5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7C966B92-C99C-4A44-AEF8-4C90CBC6E7E6}"/>
    <pc:docChg chg="undo custSel modSld">
      <pc:chgData name="Moyer Montague, Kristina" userId="63c103e5-6141-480e-825f-260f173eba02" providerId="ADAL" clId="{7C966B92-C99C-4A44-AEF8-4C90CBC6E7E6}" dt="2025-07-29T21:25:15.510" v="178" actId="14100"/>
      <pc:docMkLst>
        <pc:docMk/>
      </pc:docMkLst>
      <pc:sldChg chg="modNotesTx">
        <pc:chgData name="Moyer Montague, Kristina" userId="63c103e5-6141-480e-825f-260f173eba02" providerId="ADAL" clId="{7C966B92-C99C-4A44-AEF8-4C90CBC6E7E6}" dt="2025-07-29T21:17:29.857" v="2" actId="20577"/>
        <pc:sldMkLst>
          <pc:docMk/>
          <pc:sldMk cId="3398606512" sldId="300"/>
        </pc:sldMkLst>
      </pc:sldChg>
      <pc:sldChg chg="modSp mod">
        <pc:chgData name="Moyer Montague, Kristina" userId="63c103e5-6141-480e-825f-260f173eba02" providerId="ADAL" clId="{7C966B92-C99C-4A44-AEF8-4C90CBC6E7E6}" dt="2025-07-29T21:18:12.456" v="4" actId="20577"/>
        <pc:sldMkLst>
          <pc:docMk/>
          <pc:sldMk cId="3505785169" sldId="385"/>
        </pc:sldMkLst>
        <pc:spChg chg="mod">
          <ac:chgData name="Moyer Montague, Kristina" userId="63c103e5-6141-480e-825f-260f173eba02" providerId="ADAL" clId="{7C966B92-C99C-4A44-AEF8-4C90CBC6E7E6}" dt="2025-07-29T21:18:12.456" v="4" actId="20577"/>
          <ac:spMkLst>
            <pc:docMk/>
            <pc:sldMk cId="3505785169" sldId="385"/>
            <ac:spMk id="3" creationId="{58D1FC1A-892B-9EA6-6F37-0D6A7B25FBB3}"/>
          </ac:spMkLst>
        </pc:spChg>
      </pc:sldChg>
      <pc:sldChg chg="modSp mod">
        <pc:chgData name="Moyer Montague, Kristina" userId="63c103e5-6141-480e-825f-260f173eba02" providerId="ADAL" clId="{7C966B92-C99C-4A44-AEF8-4C90CBC6E7E6}" dt="2025-07-29T21:25:15.510" v="178" actId="14100"/>
        <pc:sldMkLst>
          <pc:docMk/>
          <pc:sldMk cId="3163561769" sldId="405"/>
        </pc:sldMkLst>
        <pc:graphicFrameChg chg="mod modGraphic">
          <ac:chgData name="Moyer Montague, Kristina" userId="63c103e5-6141-480e-825f-260f173eba02" providerId="ADAL" clId="{7C966B92-C99C-4A44-AEF8-4C90CBC6E7E6}" dt="2025-07-29T21:25:15.510" v="178" actId="14100"/>
          <ac:graphicFrameMkLst>
            <pc:docMk/>
            <pc:sldMk cId="3163561769" sldId="405"/>
            <ac:graphicFrameMk id="6" creationId="{65489984-213C-356E-7515-ADB575CAF6A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7/29/2025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two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TEKS:</a:t>
            </a:r>
          </a:p>
          <a:p>
            <a:pPr algn="l"/>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A.1D: communicate mathematical ideas, reasoning, and their implications using multiple representations, including symbols, diagrams, graphs, and language as appropriate.</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A.1F: </a:t>
            </a:r>
            <a:r>
              <a:rPr lang="en-GB" sz="1200" b="0" i="0" u="none" strike="noStrike" baseline="0" dirty="0" err="1">
                <a:solidFill>
                  <a:srgbClr val="000000"/>
                </a:solidFill>
                <a:latin typeface="Calibri" panose="020F0502020204030204" pitchFamily="34" charset="0"/>
                <a:ea typeface="Calibri" panose="020F0502020204030204" pitchFamily="34" charset="0"/>
                <a:cs typeface="Calibri" panose="020F0502020204030204" pitchFamily="34" charset="0"/>
              </a:rPr>
              <a:t>analyze</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mathematical relationships to connect and communicate mathematical ideas.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A.1G: display, explain, and justify mathematical ideas and arguments using precise mathematical language in written or oral communication.</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A.5A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solve linear equations in one variable, including those for which the application of the distributive property is necessary and for which variables are included on both sides.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1.H: </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develop and expand repertoire of learning strategies such as reasoning inductively or deductively, looking for patterns in language, and </a:t>
            </a:r>
            <a:r>
              <a:rPr lang="en-GB" sz="1200" b="0" i="0" u="none" strike="noStrike" baseline="0" dirty="0" err="1">
                <a:solidFill>
                  <a:srgbClr val="000000"/>
                </a:solidFill>
                <a:latin typeface="Calibri" panose="020F0502020204030204" pitchFamily="34" charset="0"/>
                <a:ea typeface="Calibri" panose="020F0502020204030204" pitchFamily="34" charset="0"/>
                <a:cs typeface="Calibri" panose="020F0502020204030204" pitchFamily="34" charset="0"/>
              </a:rPr>
              <a:t>analyzing</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sayings and expressions commensurate with grade-level learning expectations.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2.B: </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recognize elements of the English sound system in newly acquired vocabulary such as long and short vowels, silent letters, and consonant clusters.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2.H: </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understand implicit ideas and information in increasingly complex spoken language commensurate with grade-level learning expectations.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4.B: </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recognize directionality of English reading such as left to right and top to bottom.</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Solution is introduced on Day 1.</a:t>
            </a:r>
          </a:p>
        </p:txBody>
      </p:sp>
      <p:sp>
        <p:nvSpPr>
          <p:cNvPr id="4" name="Slide Number Placeholder 3"/>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58624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No solution is introduced on Day 1.</a:t>
            </a:r>
          </a:p>
        </p:txBody>
      </p:sp>
      <p:sp>
        <p:nvSpPr>
          <p:cNvPr id="4" name="Slide Number Placeholder 3"/>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2741704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6C9DE-7F6E-66DE-B203-CD6EA3867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637D22-2C8B-9DA7-F948-CCB30A48FEF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8BE427F-4D28-3E8B-AA07-37A11605B7A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Infinite solutions is introduced on Day 1.</a:t>
            </a:r>
          </a:p>
        </p:txBody>
      </p:sp>
      <p:sp>
        <p:nvSpPr>
          <p:cNvPr id="4" name="Slide Number Placeholder 3">
            <a:extLst>
              <a:ext uri="{FF2B5EF4-FFF2-40B4-BE49-F238E27FC236}">
                <a16:creationId xmlns:a16="http://schemas.microsoft.com/office/drawing/2014/main" id="{CB5E6FA8-ECC6-7A32-C34F-865961E2ACB5}"/>
              </a:ext>
            </a:extLst>
          </p:cNvPr>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799141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7F940-C472-4166-74CE-0A9169CF1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D1EAA-C236-14DC-5DF8-C1F8887F6D4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08B7CB8-378C-A095-011E-4099A25BBF79}"/>
              </a:ext>
            </a:extLst>
          </p:cNvPr>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162AEE7-BB24-7D34-4EDF-F505D9AB5137}"/>
              </a:ext>
            </a:extLst>
          </p:cNvPr>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1881958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1BE5C-BCE1-7516-8EA4-22B5261312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31D33-B555-72C8-1491-6627B67E065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772AD19-C00B-AE07-8231-49DE8EDA33EA}"/>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use when you multiplied by a constant on the side of the equation with two terms?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another possible equation?</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Demonstrate how you divided each side of the equation by a constant.</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8E6D513-CF26-B466-254D-A17722966612}"/>
              </a:ext>
            </a:extLst>
          </p:cNvPr>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1577076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7BD86-5732-2BFE-C419-C7712C301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0932D9-BC47-D883-A62D-4DC51E71958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A887617-AA8E-A90E-679E-C83000DA8BFF}"/>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use when you multiplied by a constant on the side of the equation with two terms?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another possible equation?</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Demonstrate how you divided each side of the equation by a constant.</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Slide typo: the second part is labeled c.; it is part d.</a:t>
            </a:r>
          </a:p>
        </p:txBody>
      </p:sp>
      <p:sp>
        <p:nvSpPr>
          <p:cNvPr id="4" name="Slide Number Placeholder 3">
            <a:extLst>
              <a:ext uri="{FF2B5EF4-FFF2-40B4-BE49-F238E27FC236}">
                <a16:creationId xmlns:a16="http://schemas.microsoft.com/office/drawing/2014/main" id="{6935BF22-678B-EEE6-0906-EB13F4194E45}"/>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2973276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8D169-1DCA-652C-F014-92C6653DA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5E8D1-9AE6-F27E-86A8-1969B1A8F98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0D4A9BD-FBA2-99CA-3211-27D4ED637A1C}"/>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use when you multiplied by a constant on the side of the equation with two terms?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another possible equation?</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Demonstrate how you divided each side of the equation by a constant.</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37C016A-3994-32B2-0DCF-3D8B47F2620A}"/>
              </a:ext>
            </a:extLst>
          </p:cNvPr>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2516797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Getting Started Summary: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An equation created by performing the same operation on each side of a solution statement will have the same solution as the starting statement.</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1.1.</a:t>
            </a:r>
          </a:p>
        </p:txBody>
      </p:sp>
      <p:sp>
        <p:nvSpPr>
          <p:cNvPr id="4" name="Slide Number Placeholder 3"/>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90FCD-6097-57D9-5EB9-6E5F71A78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1ED86-86D8-FDB6-94AD-3E81BC0B5A0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8957530-E85D-175C-56F3-09AAA116C9B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72BE4B8-68F0-9504-DA59-A10A3964F534}"/>
              </a:ext>
            </a:extLst>
          </p:cNvPr>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4238919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C5AA3-8534-00B2-39C1-CAFA71EBF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F0969-5C58-AEBD-C3A0-0D4F07AEA46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16348D-2AF5-3A9C-4B16-7EAD08A15BCD}"/>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each property means in your own words.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Show how you applied each property in the Getting Started activity.</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When using substitution, what result will verify that 2 is the solution?</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you used to verify the solution using the properties of equality.</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What is another way to apply the properties of equality and arrive at the same solution?</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30880DB-D2E6-33CE-2401-202D341F570A}"/>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7324683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5DC4D-C4C5-DC1B-B48E-B492B8D19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D1DDC-2EFF-37FE-A546-06E52F76CC9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DEAE870-97E7-A27C-F3A4-1490770ABE5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A8394EA-68F9-2164-37E6-8D8F07DD0F3A}"/>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8812505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68535-B2CC-EE45-E30B-7194976684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E52806-8663-AE4B-141B-DE046B35FB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A88534B-4250-D5DC-3F96-E8A9C5B3ED91}"/>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Create an example with numbers for each number property.</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the commutative and associative properties?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will your steps look like if you add 4</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both sides of the equation in part (a)?</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strategy did you apply to address the fraction in part (c)?</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Why might someone multiply both sides of the equation by 2?</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Chloe chose 4 as the divisor?</a:t>
            </a:r>
          </a:p>
          <a:p>
            <a:pPr marL="171450" indent="-171450" algn="l">
              <a:buFont typeface="Arial" panose="020B0604020202020204" pitchFamily="34" charset="0"/>
              <a:buChar char="•"/>
            </a:pPr>
            <a:r>
              <a:rPr lang="en-GB" sz="1200" dirty="0">
                <a:solidFill>
                  <a:srgbClr val="000000"/>
                </a:solidFill>
                <a:latin typeface="Calibri" panose="020F0502020204030204" pitchFamily="34" charset="0"/>
                <a:ea typeface="Calibri" panose="020F0502020204030204" pitchFamily="34" charset="0"/>
                <a:cs typeface="Calibri" panose="020F0502020204030204" pitchFamily="34" charset="0"/>
              </a:rPr>
              <a:t>Whose method do you prefer? Why?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Check: 24(−¼) + 7 = 1 and −4(−¼) = 1.</a:t>
            </a:r>
          </a:p>
        </p:txBody>
      </p:sp>
      <p:sp>
        <p:nvSpPr>
          <p:cNvPr id="4" name="Slide Number Placeholder 3">
            <a:extLst>
              <a:ext uri="{FF2B5EF4-FFF2-40B4-BE49-F238E27FC236}">
                <a16:creationId xmlns:a16="http://schemas.microsoft.com/office/drawing/2014/main" id="{A52FE244-ECCA-7AF7-30EF-8550423EC5D4}"/>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16045177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9B67C-C6D8-5249-5017-9ADB8E68F6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1325C-9C8A-4197-B5DC-542322FF320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6A62815-566E-103D-C8CE-9008502FE3B3}"/>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Create an example with numbers for each number property.</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the commutative and associative properties?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will your steps look like if you add 4</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both sides of the equation in part (a)?</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strategy did you apply to address the fraction in part (c)?</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Why might someone multiply both sides of the equation by 2?</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Chloe chose 4 as the divisor?</a:t>
            </a:r>
          </a:p>
          <a:p>
            <a:pPr marL="171450" indent="-171450" algn="l">
              <a:buFont typeface="Arial" panose="020B0604020202020204" pitchFamily="34" charset="0"/>
              <a:buChar char="•"/>
            </a:pPr>
            <a:r>
              <a:rPr lang="en-GB" sz="1200" dirty="0">
                <a:solidFill>
                  <a:srgbClr val="000000"/>
                </a:solidFill>
                <a:latin typeface="Calibri" panose="020F0502020204030204" pitchFamily="34" charset="0"/>
                <a:ea typeface="Calibri" panose="020F0502020204030204" pitchFamily="34" charset="0"/>
                <a:cs typeface="Calibri" panose="020F0502020204030204" pitchFamily="34" charset="0"/>
              </a:rPr>
              <a:t>Whose method do you prefer? Why?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37DEA6D-95AA-D501-C756-649C8272CABE}"/>
              </a:ext>
            </a:extLst>
          </p:cNvPr>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3373601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03F9D-5E2A-A4CF-1CD0-2E22AE35A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7B600-0050-2A38-9291-E1DE0AE8842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3CBB7B9-4AF7-5E87-960B-E5486166029F}"/>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Create an example with numbers for each number property.</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the commutative and associative properties?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will your steps look like if you add 4</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both sides of the equation in part (a)?</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strategy did you apply to address the fraction in part (c)?</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Why might someone multiply both sides of the equation by 2?</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Chloe chose 4 as the divisor?</a:t>
            </a:r>
          </a:p>
          <a:p>
            <a:pPr marL="171450" indent="-171450" algn="l">
              <a:buFont typeface="Arial" panose="020B0604020202020204" pitchFamily="34" charset="0"/>
              <a:buChar char="•"/>
            </a:pPr>
            <a:r>
              <a:rPr lang="en-GB" sz="1200" dirty="0">
                <a:solidFill>
                  <a:srgbClr val="000000"/>
                </a:solidFill>
                <a:latin typeface="Calibri" panose="020F0502020204030204" pitchFamily="34" charset="0"/>
                <a:ea typeface="Calibri" panose="020F0502020204030204" pitchFamily="34" charset="0"/>
                <a:cs typeface="Calibri" panose="020F0502020204030204" pitchFamily="34" charset="0"/>
              </a:rPr>
              <a:t>Whose method do you prefer? Why?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8EDC75F-7B65-FEB5-641B-0D2E3DB35D4C}"/>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40216670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1.1 Summary: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The properties of equality as well as basic number properties are useful in solving equations and justifying the solution.</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Activity 1.2.</a:t>
            </a:r>
          </a:p>
        </p:txBody>
      </p:sp>
      <p:sp>
        <p:nvSpPr>
          <p:cNvPr id="4" name="Slide Number Placeholder 3"/>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27793328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39992721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31C66-2E61-EA46-755C-BC22B54C7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93EBB-21FE-6E95-041C-B4B07A6B37D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69552FA-A0AE-91C2-7C94-C3A48F2CFFB1}"/>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Demonstrate the results of applying each property of equality.</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this question demonstrates.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13EAEF2-0F3B-834C-4899-20938FA69F9C}"/>
              </a:ext>
            </a:extLst>
          </p:cNvPr>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33961281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B466E-74AE-E2FC-DB25-43B2934D5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178E14-D6D8-E0A3-3CB7-2FDB19ACB42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F16E86B-33AB-F9D3-EEB9-4B0C1143C0F6}"/>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Demonstrate the results of applying each property of equality.</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this question demonstrates.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6FAAE82-0921-A2CE-B086-0F84C7C64177}"/>
              </a:ext>
            </a:extLst>
          </p:cNvPr>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24030020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A227-AE40-3A14-76B0-318CD510A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9D8E1-B37A-53B3-9678-B4BDB947D36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E6E33C8-9504-1B0C-C5C9-14AF61F32F4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1E6C36E-85D5-8DED-F9D3-2E3EB2B38247}"/>
              </a:ext>
            </a:extLst>
          </p:cNvPr>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28777484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38B40-35B0-D3BE-77C1-96F1BEB2C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F6E8D-90F3-ECCC-7179-A4BEB8485AD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1E63882-A1C1-4A67-E968-BF7089120128}"/>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examples to support your conclusion.</a:t>
            </a:r>
          </a:p>
          <a:p>
            <a:pPr marL="171450" indent="-171450" algn="l">
              <a:buFont typeface="Arial" panose="020B0604020202020204" pitchFamily="34" charset="0"/>
              <a:buChar char="•"/>
            </a:pPr>
            <a:r>
              <a:rPr lang="en-GB" sz="1200" dirty="0">
                <a:solidFill>
                  <a:srgbClr val="000000"/>
                </a:solidFill>
                <a:latin typeface="Calibri" panose="020F0502020204030204" pitchFamily="34" charset="0"/>
                <a:ea typeface="Calibri" panose="020F0502020204030204" pitchFamily="34" charset="0"/>
                <a:cs typeface="Calibri" panose="020F0502020204030204" pitchFamily="34" charset="0"/>
              </a:rPr>
              <a:t>Use substitution to verify your solution.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028FC9A-D0CA-094E-760E-773BFEE49252}"/>
              </a:ext>
            </a:extLst>
          </p:cNvPr>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3552892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84446-3DC2-B374-9B01-143AD929E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D2C7F-F6F8-43D8-6504-DA6B000BEBB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B5E41EF-87DD-7486-94D6-46D2F84A1053}"/>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examples to support your conclusion.</a:t>
            </a:r>
          </a:p>
          <a:p>
            <a:pPr marL="171450" indent="-171450" algn="l">
              <a:buFont typeface="Arial" panose="020B0604020202020204" pitchFamily="34" charset="0"/>
              <a:buChar char="•"/>
            </a:pPr>
            <a:r>
              <a:rPr lang="en-GB" sz="1200" dirty="0">
                <a:solidFill>
                  <a:srgbClr val="000000"/>
                </a:solidFill>
                <a:latin typeface="Calibri" panose="020F0502020204030204" pitchFamily="34" charset="0"/>
                <a:ea typeface="Calibri" panose="020F0502020204030204" pitchFamily="34" charset="0"/>
                <a:cs typeface="Calibri" panose="020F0502020204030204" pitchFamily="34" charset="0"/>
              </a:rPr>
              <a:t>Use substitution to verify your solution.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4335607-273F-F22A-19E4-0F44479F1621}"/>
              </a:ext>
            </a:extLst>
          </p:cNvPr>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11201805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To close Day 1, have students reread the Essential Question and then read the Stamp the Learning summary aloud</a:t>
            </a:r>
            <a:r>
              <a:rPr lang="en-GB"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1.2 Summary: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 linear equation can have one solution, no solution, or infinite solutions.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7E63E-90EC-221D-C2D0-3C7DAC8115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09CD6-F490-F9C9-D5D4-8257C323EBB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65844F2-BC1C-067B-9BA3-F6B5FE53FCD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2 is 45 minutes.</a:t>
            </a:r>
          </a:p>
        </p:txBody>
      </p:sp>
      <p:sp>
        <p:nvSpPr>
          <p:cNvPr id="4" name="Slide Number Placeholder 3">
            <a:extLst>
              <a:ext uri="{FF2B5EF4-FFF2-40B4-BE49-F238E27FC236}">
                <a16:creationId xmlns:a16="http://schemas.microsoft.com/office/drawing/2014/main" id="{E9C6B101-9CAE-E6E7-5BC4-10E5546EFE04}"/>
              </a:ext>
            </a:extLst>
          </p:cNvPr>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31803670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5138F-F920-DB13-FC8B-0EF42AA83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9DEDD-4D85-A025-391F-60461AFDEDC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91E5142-ABD4-3319-BA49-1262D1D331F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E36C624-50D6-EB4F-3897-DC49AF2E4786}"/>
              </a:ext>
            </a:extLst>
          </p:cNvPr>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18681941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A7B2F-D2A8-019A-CB08-8985B4B5A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38690-37FD-23F0-91BC-7E0EC186338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D5C8744-E451-D1C6-DE74-97CB436849A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35-40 minutes allotted for Activity 1.3.</a:t>
            </a:r>
          </a:p>
          <a:p>
            <a:r>
              <a:rPr lang="en-US" b="1" dirty="0"/>
              <a:t>Not essential on the 150-day calendar (one day for this lesson). Save Tic-Tac-Bingo for the Nov 19 retake day.</a:t>
            </a:r>
          </a:p>
        </p:txBody>
      </p:sp>
      <p:sp>
        <p:nvSpPr>
          <p:cNvPr id="4" name="Slide Number Placeholder 3">
            <a:extLst>
              <a:ext uri="{FF2B5EF4-FFF2-40B4-BE49-F238E27FC236}">
                <a16:creationId xmlns:a16="http://schemas.microsoft.com/office/drawing/2014/main" id="{FC0FFA89-84BA-E1A4-E72D-88BBCE99A047}"/>
              </a:ext>
            </a:extLst>
          </p:cNvPr>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24676636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94805-A942-08F6-3276-BC9AF9B1E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5C5F3-9DB9-E515-42C9-99AE6701993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CD632DA-DC7D-2776-E664-0F822FD983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Tic-Tac-Bingo sheet and Expression Cards are located on slides toward the end of the deck.</a:t>
            </a:r>
          </a:p>
        </p:txBody>
      </p:sp>
      <p:sp>
        <p:nvSpPr>
          <p:cNvPr id="4" name="Slide Number Placeholder 3">
            <a:extLst>
              <a:ext uri="{FF2B5EF4-FFF2-40B4-BE49-F238E27FC236}">
                <a16:creationId xmlns:a16="http://schemas.microsoft.com/office/drawing/2014/main" id="{D5E04A2A-2CBC-57FA-C503-98273C647842}"/>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41664506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64E96-3D41-73B6-D86E-0B1202AC1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9C906-713A-585A-A993-CEAD8AB1951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A33E8A0-29B8-C05D-F67E-ADAD16A8162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19220C0-2CCE-C7B5-17B0-2312EB4569B2}"/>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31028700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E91CF-FFB1-8292-5C1C-06BB110A8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E392E-40D2-1739-2E16-EAB86A40A62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8B89779-AC63-43A1-EAA0-8A9A9C6FA9A4}"/>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an example of a nonzero integer solution? A positive rational solution that is not an integer?</a:t>
            </a:r>
          </a:p>
          <a:p>
            <a:pPr marL="171450" indent="-171450" algn="l">
              <a:buFont typeface="Arial" panose="020B0604020202020204" pitchFamily="34" charset="0"/>
              <a:buChar char="•"/>
            </a:pPr>
            <a:endPar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strategy did you use to locate matches for your game card efficiently?</a:t>
            </a:r>
          </a:p>
          <a:p>
            <a:pPr marL="171450" indent="-171450" algn="l">
              <a:buFont typeface="Arial" panose="020B0604020202020204" pitchFamily="34" charset="0"/>
              <a:buChar char="•"/>
            </a:pPr>
            <a:endPar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type of solution will each of these equations have? Why?</a:t>
            </a:r>
          </a:p>
          <a:p>
            <a:pPr marL="172800" indent="0" algn="l">
              <a:buFont typeface="Arial" panose="020B0604020202020204" pitchFamily="34" charset="0"/>
              <a:buNone/>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+ 5 = 2</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+ 5</a:t>
            </a:r>
          </a:p>
          <a:p>
            <a:pPr marL="172800" indent="0" algn="l">
              <a:buFont typeface="Arial" panose="020B0604020202020204" pitchFamily="34" charset="0"/>
              <a:buNone/>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+ 5 = 2</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+ 7</a:t>
            </a:r>
          </a:p>
          <a:p>
            <a:pPr marL="172800" indent="0" algn="l">
              <a:buFont typeface="Arial" panose="020B0604020202020204" pitchFamily="34" charset="0"/>
              <a:buNone/>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+ 5 = 3</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+ 5</a:t>
            </a:r>
          </a:p>
          <a:p>
            <a:pPr marL="172800" indent="0" algn="l">
              <a:buFont typeface="Arial" panose="020B0604020202020204" pitchFamily="34" charset="0"/>
              <a:buNone/>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+ 5 = 3x + 7</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generalize the structure of these equation types and their type of solution?</a:t>
            </a:r>
          </a:p>
        </p:txBody>
      </p:sp>
      <p:sp>
        <p:nvSpPr>
          <p:cNvPr id="4" name="Slide Number Placeholder 3">
            <a:extLst>
              <a:ext uri="{FF2B5EF4-FFF2-40B4-BE49-F238E27FC236}">
                <a16:creationId xmlns:a16="http://schemas.microsoft.com/office/drawing/2014/main" id="{DEEC9AD0-F662-DB83-CE4D-E5F86A901DE5}"/>
              </a:ext>
            </a:extLst>
          </p:cNvPr>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28244745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A3BCC-33D6-B558-215F-B0971A6CB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2E23E7-1870-18AE-7C48-C37F63AAE95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4767EDD-6C96-7DF2-FAD8-28A75FA53081}"/>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1.3 Summary: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 linear equation can have one solution, no solution, or infinite solutions.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DD3E7D6-AC3E-FBF0-924F-9530DF5E646A}"/>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16091408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A6764-44CE-D5DD-CE31-BC99CB4A7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51AE1F-5732-A273-1CE7-F63A50978A7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9876EB7-3610-FF69-043A-AE0E6D126F7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E043F50A-CB23-3D52-B958-B98B48AB75E3}"/>
              </a:ext>
            </a:extLst>
          </p:cNvPr>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30163763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5-10 minutes allotted for the Talk the Talk.</a:t>
            </a:r>
          </a:p>
          <a:p>
            <a:r>
              <a:rPr lang="en-US" b="1" dirty="0"/>
              <a:t>Optional: not starred, but it matches End of Topic question 11 (equal areas).</a:t>
            </a:r>
          </a:p>
        </p:txBody>
      </p:sp>
      <p:sp>
        <p:nvSpPr>
          <p:cNvPr id="4" name="Slide Number Placeholder 3"/>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4533257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when to apply the distributive property?</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When did you use the division property of equality?</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Did everyone use the same properties regardless of how they solved the equation? Explain why or why not.</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44</a:t>
            </a:fld>
            <a:endParaRPr lang="en-US"/>
          </a:p>
        </p:txBody>
      </p:sp>
    </p:spTree>
    <p:extLst>
      <p:ext uri="{BB962C8B-B14F-4D97-AF65-F5344CB8AC3E}">
        <p14:creationId xmlns:p14="http://schemas.microsoft.com/office/powerpoint/2010/main" val="25124483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F3936-E8E4-6ED0-DEC5-5DDE3CDE8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19C6A-007E-FAE5-629F-1AAA83AE36F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6F10899-A44A-35B7-5E32-7E660122AC5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pPr algn="l"/>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I </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can substitute a known output value into an equation representing a linear function. Then, I can solve the equation to find the unknown input value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The properties of equality as well as basic number properties are useful in solving equations and justifying the solution.</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88D55FF-7B75-EAF7-B48B-654616519A11}"/>
              </a:ext>
            </a:extLst>
          </p:cNvPr>
          <p:cNvSpPr>
            <a:spLocks noGrp="1"/>
          </p:cNvSpPr>
          <p:nvPr>
            <p:ph type="sldNum" sz="quarter" idx="5"/>
          </p:nvPr>
        </p:nvSpPr>
        <p:spPr/>
        <p:txBody>
          <a:bodyPr/>
          <a:lstStyle/>
          <a:p>
            <a:fld id="{BB5E49A5-4136-284D-997B-48E1D791AD67}" type="slidenum">
              <a:rPr lang="en-US" smtClean="0"/>
              <a:t>45</a:t>
            </a:fld>
            <a:endParaRPr lang="en-US"/>
          </a:p>
        </p:txBody>
      </p:sp>
    </p:spTree>
    <p:extLst>
      <p:ext uri="{BB962C8B-B14F-4D97-AF65-F5344CB8AC3E}">
        <p14:creationId xmlns:p14="http://schemas.microsoft.com/office/powerpoint/2010/main" val="20474266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46</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47</a:t>
            </a:fld>
            <a:endParaRPr lang="en-US"/>
          </a:p>
        </p:txBody>
      </p:sp>
    </p:spTree>
    <p:extLst>
      <p:ext uri="{BB962C8B-B14F-4D97-AF65-F5344CB8AC3E}">
        <p14:creationId xmlns:p14="http://schemas.microsoft.com/office/powerpoint/2010/main" val="26412160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AA33C-584D-9E04-DB55-2A5A50EF0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D9DD5-6EB6-9DC9-2315-B95DEC10751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A03B55E-B4EE-507A-1990-827BB44A83EA}"/>
              </a:ext>
            </a:extLst>
          </p:cNvPr>
          <p:cNvSpPr>
            <a:spLocks noGrp="1"/>
          </p:cNvSpPr>
          <p:nvPr>
            <p:ph type="body" idx="1"/>
          </p:nvPr>
        </p:nvSpPr>
        <p:spPr/>
        <p:txBody>
          <a:bodyPr/>
          <a:lstStyle/>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BC1FBA1-A52C-AD6A-1883-903C43C2D10E}"/>
              </a:ext>
            </a:extLst>
          </p:cNvPr>
          <p:cNvSpPr>
            <a:spLocks noGrp="1"/>
          </p:cNvSpPr>
          <p:nvPr>
            <p:ph type="sldNum" sz="quarter" idx="5"/>
          </p:nvPr>
        </p:nvSpPr>
        <p:spPr/>
        <p:txBody>
          <a:bodyPr/>
          <a:lstStyle/>
          <a:p>
            <a:fld id="{BB5E49A5-4136-284D-997B-48E1D791AD67}" type="slidenum">
              <a:rPr lang="en-US" smtClean="0"/>
              <a:t>48</a:t>
            </a:fld>
            <a:endParaRPr lang="en-US"/>
          </a:p>
        </p:txBody>
      </p:sp>
    </p:spTree>
    <p:extLst>
      <p:ext uri="{BB962C8B-B14F-4D97-AF65-F5344CB8AC3E}">
        <p14:creationId xmlns:p14="http://schemas.microsoft.com/office/powerpoint/2010/main" val="24384281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D9E7D-857D-D125-0A6D-696777ECDB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309F5-01EC-5118-58BA-714436E6350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0318D11-25BF-9BCF-2BF8-84CED2FDDEFC}"/>
              </a:ext>
            </a:extLst>
          </p:cNvPr>
          <p:cNvSpPr>
            <a:spLocks noGrp="1"/>
          </p:cNvSpPr>
          <p:nvPr>
            <p:ph type="body" idx="1"/>
          </p:nvPr>
        </p:nvSpPr>
        <p:spPr/>
        <p:txBody>
          <a:bodyPr/>
          <a:lstStyle/>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C533727-9947-D750-CCD7-8F2289278D25}"/>
              </a:ext>
            </a:extLst>
          </p:cNvPr>
          <p:cNvSpPr>
            <a:spLocks noGrp="1"/>
          </p:cNvSpPr>
          <p:nvPr>
            <p:ph type="sldNum" sz="quarter" idx="5"/>
          </p:nvPr>
        </p:nvSpPr>
        <p:spPr/>
        <p:txBody>
          <a:bodyPr/>
          <a:lstStyle/>
          <a:p>
            <a:fld id="{BB5E49A5-4136-284D-997B-48E1D791AD67}" type="slidenum">
              <a:rPr lang="en-US" smtClean="0"/>
              <a:t>49</a:t>
            </a:fld>
            <a:endParaRPr lang="en-US"/>
          </a:p>
        </p:txBody>
      </p:sp>
    </p:spTree>
    <p:extLst>
      <p:ext uri="{BB962C8B-B14F-4D97-AF65-F5344CB8AC3E}">
        <p14:creationId xmlns:p14="http://schemas.microsoft.com/office/powerpoint/2010/main" val="8347198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4578A-8473-D8E2-68D2-F6F30C5BA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F0867C-8B82-4287-45E2-D9C5A520584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FD6AF94-362D-A169-BBE4-56D3796B37A2}"/>
              </a:ext>
            </a:extLst>
          </p:cNvPr>
          <p:cNvSpPr>
            <a:spLocks noGrp="1"/>
          </p:cNvSpPr>
          <p:nvPr>
            <p:ph type="body" idx="1"/>
          </p:nvPr>
        </p:nvSpPr>
        <p:spPr/>
        <p:txBody>
          <a:bodyPr/>
          <a:lstStyle/>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4589601-2862-DF80-1A29-4BFC7C61BB54}"/>
              </a:ext>
            </a:extLst>
          </p:cNvPr>
          <p:cNvSpPr>
            <a:spLocks noGrp="1"/>
          </p:cNvSpPr>
          <p:nvPr>
            <p:ph type="sldNum" sz="quarter" idx="5"/>
          </p:nvPr>
        </p:nvSpPr>
        <p:spPr/>
        <p:txBody>
          <a:bodyPr/>
          <a:lstStyle/>
          <a:p>
            <a:fld id="{BB5E49A5-4136-284D-997B-48E1D791AD67}" type="slidenum">
              <a:rPr lang="en-US" smtClean="0"/>
              <a:t>50</a:t>
            </a:fld>
            <a:endParaRPr lang="en-US"/>
          </a:p>
        </p:txBody>
      </p:sp>
    </p:spTree>
    <p:extLst>
      <p:ext uri="{BB962C8B-B14F-4D97-AF65-F5344CB8AC3E}">
        <p14:creationId xmlns:p14="http://schemas.microsoft.com/office/powerpoint/2010/main" val="13212069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51</a:t>
            </a:fld>
            <a:endParaRPr lang="en-US"/>
          </a:p>
        </p:txBody>
      </p:sp>
    </p:spTree>
    <p:extLst>
      <p:ext uri="{BB962C8B-B14F-4D97-AF65-F5344CB8AC3E}">
        <p14:creationId xmlns:p14="http://schemas.microsoft.com/office/powerpoint/2010/main" val="11947931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5294-F897-70EF-D10E-AF9CFE14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65B6-500E-9C24-23DA-5854FF62C8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5F22DD-FFA2-9C87-4A7D-F7CA29096C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B2A398D-9730-D1C3-AAF7-0F03D4B776E7}"/>
              </a:ext>
            </a:extLst>
          </p:cNvPr>
          <p:cNvSpPr>
            <a:spLocks noGrp="1"/>
          </p:cNvSpPr>
          <p:nvPr>
            <p:ph type="sldNum" sz="quarter" idx="5"/>
          </p:nvPr>
        </p:nvSpPr>
        <p:spPr/>
        <p:txBody>
          <a:bodyPr/>
          <a:lstStyle/>
          <a:p>
            <a:fld id="{BB5E49A5-4136-284D-997B-48E1D791AD67}" type="slidenum">
              <a:rPr lang="en-US" smtClean="0"/>
              <a:t>52</a:t>
            </a:fld>
            <a:endParaRPr lang="en-US"/>
          </a:p>
        </p:txBody>
      </p:sp>
    </p:spTree>
    <p:extLst>
      <p:ext uri="{BB962C8B-B14F-4D97-AF65-F5344CB8AC3E}">
        <p14:creationId xmlns:p14="http://schemas.microsoft.com/office/powerpoint/2010/main" val="35813901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53</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54</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6.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rgbClr val="000000"/>
                </a:solidFill>
              </a:rPr>
              <a:t>Acknowledgment</a:t>
            </a:r>
          </a:p>
          <a:p>
            <a:r>
              <a:rPr lang="en-US" dirty="0">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rgbClr val="000000"/>
              </a:solidFill>
              <a:cs typeface="Calibri"/>
            </a:endParaRPr>
          </a:p>
          <a:p>
            <a:endParaRPr lang="en-US" dirty="0">
              <a:solidFill>
                <a:srgbClr val="000000"/>
              </a:solidFill>
            </a:endParaRPr>
          </a:p>
          <a:p>
            <a:r>
              <a:rPr lang="en-US" b="1" dirty="0">
                <a:solidFill>
                  <a:srgbClr val="000000"/>
                </a:solidFill>
              </a:rPr>
              <a:t>Notice</a:t>
            </a:r>
            <a:endParaRPr lang="en-US" b="1" dirty="0">
              <a:solidFill>
                <a:srgbClr val="000000"/>
              </a:solidFill>
              <a:cs typeface="Calibri"/>
            </a:endParaRPr>
          </a:p>
          <a:p>
            <a:r>
              <a:rPr lang="en-US" dirty="0">
                <a:solidFill>
                  <a:srgbClr val="000000"/>
                </a:solidFill>
              </a:rPr>
              <a:t>These learning resources have been built for Texas students, aligned to the Texas Essential Knowledge and Skills, and are made available pursuant to Chapter 31, Subchapter B-1 of the Texas Education Code.</a:t>
            </a:r>
            <a:endParaRPr lang="en-US" dirty="0">
              <a:solidFill>
                <a:srgbClr val="000000"/>
              </a:solidFill>
              <a:cs typeface="Calibri"/>
            </a:endParaRPr>
          </a:p>
          <a:p>
            <a:r>
              <a:rPr lang="en-US" dirty="0">
                <a:solidFill>
                  <a:srgbClr val="000000"/>
                </a:solidFill>
              </a:rPr>
              <a:t>If you have further questions or to report an error, please email </a:t>
            </a:r>
            <a:r>
              <a:rPr lang="en-US" dirty="0">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dirty="0">
                <a:solidFill>
                  <a:srgbClr val="000000"/>
                </a:solidFill>
              </a:rPr>
              <a:t>.</a:t>
            </a:r>
          </a:p>
          <a:p>
            <a:endParaRPr lang="en-US" dirty="0">
              <a:solidFill>
                <a:srgbClr val="000000"/>
              </a:solidFill>
              <a:cs typeface="Calibri"/>
            </a:endParaRPr>
          </a:p>
          <a:p>
            <a:r>
              <a:rPr lang="en-US" dirty="0">
                <a:solidFill>
                  <a:srgbClr val="000000"/>
                </a:solidFill>
                <a:cs typeface="Calibri"/>
              </a:rPr>
              <a:t>©2024-2025 Texas Education Agency. Portions of this work are adapted, with permission, from the originals created by and copyright ©2021 Carnegie Learning, Inc. </a:t>
            </a:r>
          </a:p>
          <a:p>
            <a:endParaRPr lang="en-US" dirty="0">
              <a:solidFill>
                <a:srgbClr val="000000"/>
              </a:solidFill>
              <a:cs typeface="Calibri"/>
            </a:endParaRPr>
          </a:p>
          <a:p>
            <a:r>
              <a:rPr lang="en-US" dirty="0">
                <a:solidFill>
                  <a:srgbClr val="000000"/>
                </a:solidFill>
                <a:cs typeface="Calibri"/>
              </a:rPr>
              <a:t>This work is licensed under a Creative Commons Attribution-Non-Commercial-4.0 International License. For information, visit: </a:t>
            </a:r>
            <a:r>
              <a:rPr lang="en-US" u="none" dirty="0">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dirty="0">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1590" y="1622760"/>
            <a:ext cx="12192003" cy="1806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6000" b="1" i="0" u="none" strike="noStrike" kern="1200" cap="none" spc="0" normalizeH="0" baseline="0" noProof="0" dirty="0">
                <a:ln>
                  <a:noFill/>
                </a:ln>
                <a:solidFill>
                  <a:srgbClr val="236739"/>
                </a:solidFill>
                <a:effectLst/>
                <a:uLnTx/>
                <a:uFillTx/>
                <a:latin typeface="+mn-lt"/>
                <a:ea typeface="+mn-ea"/>
                <a:cs typeface="+mn-cs"/>
              </a:rPr>
              <a:t>Solving Linear Equations</a:t>
            </a: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dirty="0"/>
              <a:t>Algebra I | Module 3 | Topic 1 | Lesson 1</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dirty="0"/>
              <a:t>Objectives</a:t>
            </a:r>
          </a:p>
        </p:txBody>
      </p:sp>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6614" y="1830256"/>
            <a:ext cx="10515599" cy="3956418"/>
          </a:xfrm>
        </p:spPr>
        <p:txBody>
          <a:bodyPr/>
          <a:lstStyle/>
          <a:p>
            <a:pPr marL="457200" indent="-457200" algn="l">
              <a:buFont typeface="Arial" panose="020B0604020202020204" pitchFamily="34" charset="0"/>
              <a:buChar char="•"/>
            </a:pPr>
            <a:r>
              <a:rPr lang="en-GB" sz="2800" b="0" i="0" u="none" strike="noStrike" baseline="0" dirty="0">
                <a:solidFill>
                  <a:srgbClr val="000000"/>
                </a:solidFill>
              </a:rPr>
              <a:t>Write equivalent equations using properties of equality.</a:t>
            </a:r>
            <a:endParaRPr lang="en-US" sz="2800" b="0" i="0" u="none" strike="noStrike" baseline="0" dirty="0">
              <a:solidFill>
                <a:srgbClr val="000000"/>
              </a:solidFill>
            </a:endParaRPr>
          </a:p>
          <a:p>
            <a:pPr marL="457200" indent="-457200" algn="l">
              <a:buFont typeface="Arial" panose="020B0604020202020204" pitchFamily="34" charset="0"/>
              <a:buChar char="•"/>
            </a:pPr>
            <a:r>
              <a:rPr lang="en-GB" sz="2800" b="0" i="0" u="none" strike="noStrike" baseline="0" dirty="0">
                <a:solidFill>
                  <a:srgbClr val="000000"/>
                </a:solidFill>
              </a:rPr>
              <a:t>Use properties of equality to solve linear equations and justify a solution method.</a:t>
            </a:r>
            <a:endParaRPr lang="en-US" sz="2800" b="0" i="0" u="none" strike="noStrike" baseline="0" dirty="0">
              <a:solidFill>
                <a:srgbClr val="000000"/>
              </a:solidFill>
            </a:endParaRPr>
          </a:p>
          <a:p>
            <a:pPr marL="457200" indent="-457200" algn="l">
              <a:buFont typeface="Arial" panose="020B0604020202020204" pitchFamily="34" charset="0"/>
              <a:buChar char="•"/>
            </a:pPr>
            <a:r>
              <a:rPr lang="en-GB" sz="2800" dirty="0">
                <a:solidFill>
                  <a:srgbClr val="000000"/>
                </a:solidFill>
              </a:rPr>
              <a:t>Determine whether an equation has one solution, no solution, or infinite solutions.</a:t>
            </a:r>
            <a:endParaRPr lang="en-US" sz="2800" dirty="0">
              <a:solidFill>
                <a:srgbClr val="000000"/>
              </a:solidFill>
            </a:endParaRPr>
          </a:p>
          <a:p>
            <a:pPr marL="457200" indent="-457200" algn="l">
              <a:buFont typeface="Arial" panose="020B0604020202020204" pitchFamily="34" charset="0"/>
              <a:buChar char="•"/>
            </a:pPr>
            <a:r>
              <a:rPr lang="en-GB" sz="2800" b="0" i="0" u="none" strike="noStrike" baseline="0" dirty="0">
                <a:solidFill>
                  <a:srgbClr val="000000"/>
                </a:solidFill>
              </a:rPr>
              <a:t>Solve linear equations with variables on both sides.</a:t>
            </a:r>
            <a:endParaRPr lang="en-US" sz="2800" b="0" i="0" u="none" strike="noStrike" baseline="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345</a:t>
            </a: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70F2F3-8205-D13B-F2FC-C7F18E6181C0}"/>
              </a:ext>
            </a:extLst>
          </p:cNvPr>
          <p:cNvSpPr>
            <a:spLocks noGrp="1"/>
          </p:cNvSpPr>
          <p:nvPr>
            <p:ph type="title"/>
          </p:nvPr>
        </p:nvSpPr>
        <p:spPr/>
        <p:txBody>
          <a:bodyPr/>
          <a:lstStyle/>
          <a:p>
            <a:pPr algn="l"/>
            <a:r>
              <a:rPr lang="en-US" b="1" dirty="0"/>
              <a:t>Key Terms </a:t>
            </a:r>
            <a:r>
              <a:rPr lang="en-US" sz="2000" b="1" dirty="0">
                <a:solidFill>
                  <a:schemeClr val="bg1"/>
                </a:solidFill>
              </a:rPr>
              <a:t>(1 of 3)</a:t>
            </a:r>
          </a:p>
        </p:txBody>
      </p:sp>
      <p:sp>
        <p:nvSpPr>
          <p:cNvPr id="2" name="Text Placeholder 1"/>
          <p:cNvSpPr>
            <a:spLocks noGrp="1"/>
          </p:cNvSpPr>
          <p:nvPr>
            <p:ph type="body" sz="quarter" idx="10"/>
          </p:nvPr>
        </p:nvSpPr>
        <p:spPr>
          <a:xfrm>
            <a:off x="852488" y="1652588"/>
            <a:ext cx="9809594" cy="1422208"/>
          </a:xfrm>
          <a:prstGeom prst="rect">
            <a:avLst/>
          </a:prstGeom>
        </p:spPr>
        <p:txBody>
          <a:bodyPr>
            <a:normAutofit/>
          </a:bodyPr>
          <a:lstStyle/>
          <a:p>
            <a:pPr marL="0" indent="0">
              <a:buNone/>
            </a:pPr>
            <a:r>
              <a:rPr lang="en-US" b="1" dirty="0">
                <a:solidFill>
                  <a:srgbClr val="000000"/>
                </a:solidFill>
              </a:rPr>
              <a:t>solution</a:t>
            </a:r>
            <a:r>
              <a:rPr b="0" i="0" u="none" dirty="0">
                <a:solidFill>
                  <a:srgbClr val="000000"/>
                </a:solidFill>
              </a:rPr>
              <a:t> </a:t>
            </a:r>
            <a:r>
              <a:rPr lang="en-IN" b="0" i="0" u="none" dirty="0">
                <a:solidFill>
                  <a:srgbClr val="000000"/>
                </a:solidFill>
              </a:rPr>
              <a:t>[</a:t>
            </a:r>
            <a:r>
              <a:rPr lang="en-IN" b="0" i="0" u="none" dirty="0" err="1">
                <a:solidFill>
                  <a:srgbClr val="000000"/>
                </a:solidFill>
              </a:rPr>
              <a:t>solución</a:t>
            </a:r>
            <a:r>
              <a:rPr lang="en-IN" b="0" i="0" u="none" dirty="0">
                <a:solidFill>
                  <a:srgbClr val="000000"/>
                </a:solidFill>
              </a:rPr>
              <a:t>]: </a:t>
            </a:r>
            <a:r>
              <a:rPr lang="en-GB" dirty="0">
                <a:solidFill>
                  <a:srgbClr val="000000"/>
                </a:solidFill>
              </a:rPr>
              <a:t>t</a:t>
            </a:r>
            <a:r>
              <a:rPr lang="en-GB" b="0" i="0" u="none" dirty="0">
                <a:solidFill>
                  <a:srgbClr val="000000"/>
                </a:solidFill>
              </a:rPr>
              <a:t>he solution to an equation is any value for the variable that makes the equation a true statement</a:t>
            </a:r>
            <a:r>
              <a:rPr lang="en-US" b="0" i="0" u="none" dirty="0">
                <a:solidFill>
                  <a:srgbClr val="000000"/>
                </a:solidFill>
              </a:rPr>
              <a:t>                                       </a:t>
            </a:r>
            <a:r>
              <a:rPr lang="en-US" dirty="0">
                <a:solidFill>
                  <a:srgbClr val="000000"/>
                </a:solidFill>
                <a:sym typeface="+mn-ea"/>
              </a:rPr>
              <a:t>  </a:t>
            </a:r>
            <a:endParaRPr lang="en-US" b="0" i="0" u="none" dirty="0">
              <a:solidFill>
                <a:srgbClr val="000000"/>
              </a:solidFill>
            </a:endParaRPr>
          </a:p>
        </p:txBody>
      </p:sp>
      <p:sp>
        <p:nvSpPr>
          <p:cNvPr id="3" name="Picture Placeholder 4">
            <a:extLst>
              <a:ext uri="{FF2B5EF4-FFF2-40B4-BE49-F238E27FC236}">
                <a16:creationId xmlns:a16="http://schemas.microsoft.com/office/drawing/2014/main" id="{BBC03BBE-95CB-DCDC-4CC1-E48783198449}"/>
              </a:ext>
            </a:extLst>
          </p:cNvPr>
          <p:cNvSpPr>
            <a:spLocks noGrp="1"/>
          </p:cNvSpPr>
          <p:nvPr>
            <p:ph type="pic" sz="quarter" idx="11"/>
          </p:nvPr>
        </p:nvSpPr>
        <p:spPr>
          <a:xfrm>
            <a:off x="852488" y="3429000"/>
            <a:ext cx="9809594" cy="2505075"/>
          </a:xfrm>
        </p:spPr>
        <p:txBody>
          <a:bodyPr/>
          <a:lstStyle/>
          <a:p>
            <a:pPr>
              <a:spcAft>
                <a:spcPts val="1800"/>
              </a:spcAft>
            </a:pPr>
            <a:r>
              <a:rPr lang="en-US" b="1" dirty="0">
                <a:solidFill>
                  <a:srgbClr val="000000"/>
                </a:solidFill>
              </a:rPr>
              <a:t>Example</a:t>
            </a:r>
          </a:p>
          <a:p>
            <a:pPr marL="457200" lvl="1" indent="0">
              <a:buNone/>
            </a:pPr>
            <a:r>
              <a:rPr lang="en-GB" sz="2800" dirty="0">
                <a:solidFill>
                  <a:srgbClr val="000000"/>
                </a:solidFill>
              </a:rPr>
              <a:t>The solution of the equation 3</a:t>
            </a:r>
            <a:r>
              <a:rPr lang="en-GB" sz="2800" i="1" dirty="0">
                <a:solidFill>
                  <a:srgbClr val="000000"/>
                </a:solidFill>
              </a:rPr>
              <a:t>x</a:t>
            </a:r>
            <a:r>
              <a:rPr lang="en-GB" sz="2800" dirty="0">
                <a:solidFill>
                  <a:srgbClr val="000000"/>
                </a:solidFill>
              </a:rPr>
              <a:t> + 4 = 25 is 7 because 7 makes the equation true: 3(7) + 4 = 25, or 25 = 25.</a:t>
            </a:r>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345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CD2E3-FB23-0AB4-E27A-34C14475EE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F9D761-C089-838B-6D7F-A6A396CF5E97}"/>
              </a:ext>
            </a:extLst>
          </p:cNvPr>
          <p:cNvSpPr>
            <a:spLocks noGrp="1"/>
          </p:cNvSpPr>
          <p:nvPr>
            <p:ph type="title"/>
          </p:nvPr>
        </p:nvSpPr>
        <p:spPr/>
        <p:txBody>
          <a:bodyPr/>
          <a:lstStyle/>
          <a:p>
            <a:pPr algn="l"/>
            <a:r>
              <a:rPr lang="en-US" b="1" dirty="0"/>
              <a:t>Key Terms </a:t>
            </a:r>
            <a:r>
              <a:rPr lang="en-US" sz="2000" b="1" dirty="0">
                <a:solidFill>
                  <a:schemeClr val="bg1"/>
                </a:solidFill>
              </a:rPr>
              <a:t>(2 of 3)</a:t>
            </a:r>
          </a:p>
        </p:txBody>
      </p:sp>
      <p:sp>
        <p:nvSpPr>
          <p:cNvPr id="2" name="Text Placeholder 1">
            <a:extLst>
              <a:ext uri="{FF2B5EF4-FFF2-40B4-BE49-F238E27FC236}">
                <a16:creationId xmlns:a16="http://schemas.microsoft.com/office/drawing/2014/main" id="{54950DCA-0D55-B606-394F-1126DCF2CDC0}"/>
              </a:ext>
            </a:extLst>
          </p:cNvPr>
          <p:cNvSpPr>
            <a:spLocks noGrp="1"/>
          </p:cNvSpPr>
          <p:nvPr>
            <p:ph type="body" sz="quarter" idx="10"/>
          </p:nvPr>
        </p:nvSpPr>
        <p:spPr>
          <a:xfrm>
            <a:off x="852488" y="1652588"/>
            <a:ext cx="9870930" cy="1422208"/>
          </a:xfrm>
          <a:prstGeom prst="rect">
            <a:avLst/>
          </a:prstGeom>
        </p:spPr>
        <p:txBody>
          <a:bodyPr>
            <a:normAutofit/>
          </a:bodyPr>
          <a:lstStyle/>
          <a:p>
            <a:pPr algn="l"/>
            <a:r>
              <a:rPr lang="en-US" b="1" dirty="0">
                <a:solidFill>
                  <a:srgbClr val="000000"/>
                </a:solidFill>
              </a:rPr>
              <a:t>no solution</a:t>
            </a:r>
            <a:r>
              <a:rPr b="0" i="0" u="none" dirty="0">
                <a:solidFill>
                  <a:srgbClr val="000000"/>
                </a:solidFill>
              </a:rPr>
              <a:t> </a:t>
            </a:r>
            <a:r>
              <a:rPr lang="en-IN" b="0" i="0" u="none" dirty="0">
                <a:solidFill>
                  <a:srgbClr val="000000"/>
                </a:solidFill>
              </a:rPr>
              <a:t>[sin </a:t>
            </a:r>
            <a:r>
              <a:rPr lang="en-IN" b="0" i="0" u="none" dirty="0" err="1">
                <a:solidFill>
                  <a:srgbClr val="000000"/>
                </a:solidFill>
              </a:rPr>
              <a:t>solución</a:t>
            </a:r>
            <a:r>
              <a:rPr lang="en-IN" b="0" i="0" u="none" dirty="0">
                <a:solidFill>
                  <a:srgbClr val="000000"/>
                </a:solidFill>
              </a:rPr>
              <a:t>]: </a:t>
            </a:r>
            <a:r>
              <a:rPr lang="en-GB" dirty="0">
                <a:solidFill>
                  <a:srgbClr val="000000"/>
                </a:solidFill>
              </a:rPr>
              <a:t>a</a:t>
            </a:r>
            <a:r>
              <a:rPr lang="en-GB" b="0" i="0" u="none" dirty="0">
                <a:solidFill>
                  <a:srgbClr val="000000"/>
                </a:solidFill>
              </a:rPr>
              <a:t>n equation with no solution means that there is no value for the variable that makes the equation true</a:t>
            </a:r>
            <a:r>
              <a:rPr lang="en-US" b="0" i="0" u="none" dirty="0">
                <a:solidFill>
                  <a:srgbClr val="000000"/>
                </a:solidFill>
              </a:rPr>
              <a:t>                                        </a:t>
            </a:r>
            <a:r>
              <a:rPr lang="en-US" dirty="0">
                <a:solidFill>
                  <a:srgbClr val="000000"/>
                </a:solidFill>
                <a:sym typeface="+mn-ea"/>
              </a:rPr>
              <a:t>  </a:t>
            </a:r>
            <a:endParaRPr lang="en-US" b="0" i="0" u="none" dirty="0">
              <a:solidFill>
                <a:srgbClr val="000000"/>
              </a:solidFill>
            </a:endParaRPr>
          </a:p>
        </p:txBody>
      </p:sp>
      <p:sp>
        <p:nvSpPr>
          <p:cNvPr id="3" name="Picture Placeholder 4">
            <a:extLst>
              <a:ext uri="{FF2B5EF4-FFF2-40B4-BE49-F238E27FC236}">
                <a16:creationId xmlns:a16="http://schemas.microsoft.com/office/drawing/2014/main" id="{2AEA844A-3F1D-1C60-3A0F-1AAE5D3B8CDE}"/>
              </a:ext>
            </a:extLst>
          </p:cNvPr>
          <p:cNvSpPr>
            <a:spLocks noGrp="1"/>
          </p:cNvSpPr>
          <p:nvPr>
            <p:ph type="pic" sz="quarter" idx="11"/>
          </p:nvPr>
        </p:nvSpPr>
        <p:spPr>
          <a:xfrm>
            <a:off x="852488" y="3429000"/>
            <a:ext cx="9939690" cy="2505075"/>
          </a:xfrm>
        </p:spPr>
        <p:txBody>
          <a:bodyPr/>
          <a:lstStyle/>
          <a:p>
            <a:pPr>
              <a:spcAft>
                <a:spcPts val="1800"/>
              </a:spcAft>
            </a:pPr>
            <a:r>
              <a:rPr lang="en-US" b="1" dirty="0">
                <a:solidFill>
                  <a:srgbClr val="000000"/>
                </a:solidFill>
              </a:rPr>
              <a:t>Example</a:t>
            </a:r>
          </a:p>
          <a:p>
            <a:pPr marL="457200" lvl="1" indent="0">
              <a:buNone/>
            </a:pPr>
            <a:r>
              <a:rPr lang="en-GB" sz="2800" dirty="0">
                <a:solidFill>
                  <a:srgbClr val="000000"/>
                </a:solidFill>
              </a:rPr>
              <a:t>The equation 2</a:t>
            </a:r>
            <a:r>
              <a:rPr lang="en-GB" sz="2800" i="1" dirty="0">
                <a:solidFill>
                  <a:srgbClr val="000000"/>
                </a:solidFill>
              </a:rPr>
              <a:t>x </a:t>
            </a:r>
            <a:r>
              <a:rPr lang="en-GB" sz="2800" dirty="0">
                <a:solidFill>
                  <a:srgbClr val="000000"/>
                </a:solidFill>
              </a:rPr>
              <a:t>+ 1 = 2</a:t>
            </a:r>
            <a:r>
              <a:rPr lang="en-GB" sz="2800" i="1" dirty="0">
                <a:solidFill>
                  <a:srgbClr val="000000"/>
                </a:solidFill>
              </a:rPr>
              <a:t>x</a:t>
            </a:r>
            <a:r>
              <a:rPr lang="en-GB" sz="2800" dirty="0">
                <a:solidFill>
                  <a:srgbClr val="000000"/>
                </a:solidFill>
              </a:rPr>
              <a:t> + 3 has no solution.</a:t>
            </a:r>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345</a:t>
            </a:r>
          </a:p>
        </p:txBody>
      </p:sp>
    </p:spTree>
    <p:extLst>
      <p:ext uri="{BB962C8B-B14F-4D97-AF65-F5344CB8AC3E}">
        <p14:creationId xmlns:p14="http://schemas.microsoft.com/office/powerpoint/2010/main" val="4033212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B9F33-4C1A-2752-7886-5D8A997F7E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5DB3CB-255D-1833-620A-43A16FA42F16}"/>
              </a:ext>
            </a:extLst>
          </p:cNvPr>
          <p:cNvSpPr>
            <a:spLocks noGrp="1"/>
          </p:cNvSpPr>
          <p:nvPr>
            <p:ph type="title"/>
          </p:nvPr>
        </p:nvSpPr>
        <p:spPr/>
        <p:txBody>
          <a:bodyPr/>
          <a:lstStyle/>
          <a:p>
            <a:pPr algn="l"/>
            <a:r>
              <a:rPr lang="en-US" b="1" dirty="0"/>
              <a:t>Key Terms </a:t>
            </a:r>
            <a:r>
              <a:rPr lang="en-US" sz="2000" b="1" dirty="0">
                <a:solidFill>
                  <a:schemeClr val="bg1"/>
                </a:solidFill>
              </a:rPr>
              <a:t>(3 of 3) </a:t>
            </a:r>
          </a:p>
        </p:txBody>
      </p:sp>
      <p:sp>
        <p:nvSpPr>
          <p:cNvPr id="2" name="Text Placeholder 1">
            <a:extLst>
              <a:ext uri="{FF2B5EF4-FFF2-40B4-BE49-F238E27FC236}">
                <a16:creationId xmlns:a16="http://schemas.microsoft.com/office/drawing/2014/main" id="{9B60AF29-4BF6-C866-5019-706964BCC757}"/>
              </a:ext>
            </a:extLst>
          </p:cNvPr>
          <p:cNvSpPr>
            <a:spLocks noGrp="1"/>
          </p:cNvSpPr>
          <p:nvPr>
            <p:ph type="body" sz="quarter" idx="10"/>
          </p:nvPr>
        </p:nvSpPr>
        <p:spPr>
          <a:xfrm>
            <a:off x="852488" y="1652588"/>
            <a:ext cx="9729695" cy="1422208"/>
          </a:xfrm>
          <a:prstGeom prst="rect">
            <a:avLst/>
          </a:prstGeom>
        </p:spPr>
        <p:txBody>
          <a:bodyPr>
            <a:normAutofit/>
          </a:bodyPr>
          <a:lstStyle/>
          <a:p>
            <a:pPr algn="l"/>
            <a:r>
              <a:rPr lang="en-US" b="1" dirty="0">
                <a:solidFill>
                  <a:srgbClr val="000000"/>
                </a:solidFill>
              </a:rPr>
              <a:t>infinite solutions</a:t>
            </a:r>
            <a:r>
              <a:rPr b="0" i="0" u="none" dirty="0">
                <a:solidFill>
                  <a:srgbClr val="000000"/>
                </a:solidFill>
              </a:rPr>
              <a:t> </a:t>
            </a:r>
            <a:r>
              <a:rPr lang="en-IN" b="0" i="0" u="none" dirty="0">
                <a:solidFill>
                  <a:srgbClr val="000000"/>
                </a:solidFill>
              </a:rPr>
              <a:t>[</a:t>
            </a:r>
            <a:r>
              <a:rPr lang="en-IN" b="0" i="0" u="none" dirty="0" err="1">
                <a:solidFill>
                  <a:srgbClr val="000000"/>
                </a:solidFill>
              </a:rPr>
              <a:t>soluciones</a:t>
            </a:r>
            <a:r>
              <a:rPr lang="en-IN" b="0" i="0" u="none" dirty="0">
                <a:solidFill>
                  <a:srgbClr val="000000"/>
                </a:solidFill>
              </a:rPr>
              <a:t> </a:t>
            </a:r>
            <a:r>
              <a:rPr lang="en-IN" b="0" i="0" u="none" dirty="0" err="1">
                <a:solidFill>
                  <a:srgbClr val="000000"/>
                </a:solidFill>
              </a:rPr>
              <a:t>infinitas</a:t>
            </a:r>
            <a:r>
              <a:rPr lang="en-IN" b="0" i="0" u="none" dirty="0">
                <a:solidFill>
                  <a:srgbClr val="000000"/>
                </a:solidFill>
              </a:rPr>
              <a:t>]: </a:t>
            </a:r>
            <a:r>
              <a:rPr lang="en-GB" dirty="0">
                <a:solidFill>
                  <a:srgbClr val="000000"/>
                </a:solidFill>
              </a:rPr>
              <a:t>a</a:t>
            </a:r>
            <a:r>
              <a:rPr lang="en-GB" b="0" i="0" u="none" dirty="0">
                <a:solidFill>
                  <a:srgbClr val="000000"/>
                </a:solidFill>
              </a:rPr>
              <a:t>n equation with infinite solutions means that any value for the variable makes the equation true</a:t>
            </a:r>
            <a:r>
              <a:rPr lang="en-US" b="0" i="0" u="none" dirty="0">
                <a:solidFill>
                  <a:srgbClr val="000000"/>
                </a:solidFill>
              </a:rPr>
              <a:t>                                 </a:t>
            </a:r>
            <a:r>
              <a:rPr lang="en-US" dirty="0">
                <a:solidFill>
                  <a:srgbClr val="000000"/>
                </a:solidFill>
                <a:sym typeface="+mn-ea"/>
              </a:rPr>
              <a:t>  </a:t>
            </a:r>
            <a:endParaRPr lang="en-US" b="0" i="0" u="none" dirty="0">
              <a:solidFill>
                <a:srgbClr val="000000"/>
              </a:solidFill>
            </a:endParaRPr>
          </a:p>
        </p:txBody>
      </p:sp>
      <p:sp>
        <p:nvSpPr>
          <p:cNvPr id="3" name="Picture Placeholder 4">
            <a:extLst>
              <a:ext uri="{FF2B5EF4-FFF2-40B4-BE49-F238E27FC236}">
                <a16:creationId xmlns:a16="http://schemas.microsoft.com/office/drawing/2014/main" id="{D8D4A269-D9CF-1C98-C6C2-2B100F2A2167}"/>
              </a:ext>
            </a:extLst>
          </p:cNvPr>
          <p:cNvSpPr>
            <a:spLocks noGrp="1"/>
          </p:cNvSpPr>
          <p:nvPr>
            <p:ph type="pic" sz="quarter" idx="11"/>
          </p:nvPr>
        </p:nvSpPr>
        <p:spPr>
          <a:xfrm>
            <a:off x="852488" y="3429001"/>
            <a:ext cx="9905823" cy="1422208"/>
          </a:xfrm>
        </p:spPr>
        <p:txBody>
          <a:bodyPr/>
          <a:lstStyle/>
          <a:p>
            <a:pPr>
              <a:spcAft>
                <a:spcPts val="1800"/>
              </a:spcAft>
            </a:pPr>
            <a:r>
              <a:rPr lang="en-US" b="1" dirty="0">
                <a:solidFill>
                  <a:srgbClr val="000000"/>
                </a:solidFill>
              </a:rPr>
              <a:t>Example</a:t>
            </a:r>
          </a:p>
          <a:p>
            <a:pPr marL="457200" lvl="1" indent="0">
              <a:buNone/>
            </a:pPr>
            <a:r>
              <a:rPr lang="en-GB" sz="2800" dirty="0">
                <a:solidFill>
                  <a:srgbClr val="000000"/>
                </a:solidFill>
              </a:rPr>
              <a:t>The equation 2</a:t>
            </a:r>
            <a:r>
              <a:rPr lang="en-GB" sz="2800" i="1" dirty="0">
                <a:solidFill>
                  <a:srgbClr val="000000"/>
                </a:solidFill>
              </a:rPr>
              <a:t>x</a:t>
            </a:r>
            <a:r>
              <a:rPr lang="en-GB" sz="2800" dirty="0">
                <a:solidFill>
                  <a:srgbClr val="000000"/>
                </a:solidFill>
              </a:rPr>
              <a:t> + 1 = 2</a:t>
            </a:r>
            <a:r>
              <a:rPr lang="en-GB" sz="2800" i="1" dirty="0">
                <a:solidFill>
                  <a:srgbClr val="000000"/>
                </a:solidFill>
              </a:rPr>
              <a:t>x</a:t>
            </a:r>
            <a:r>
              <a:rPr lang="en-GB" sz="2800" dirty="0">
                <a:solidFill>
                  <a:srgbClr val="000000"/>
                </a:solidFill>
              </a:rPr>
              <a:t> + 1 has infinite solutions.</a:t>
            </a:r>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345</a:t>
            </a:r>
          </a:p>
        </p:txBody>
      </p:sp>
    </p:spTree>
    <p:extLst>
      <p:ext uri="{BB962C8B-B14F-4D97-AF65-F5344CB8AC3E}">
        <p14:creationId xmlns:p14="http://schemas.microsoft.com/office/powerpoint/2010/main" val="2800131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p:txBody>
          <a:bodyPr/>
          <a:lstStyle/>
          <a:p>
            <a:pPr algn="l"/>
            <a:r>
              <a:rPr lang="en-US" b="1" dirty="0"/>
              <a:t>Essential Question </a:t>
            </a:r>
            <a:r>
              <a:rPr lang="en-US" sz="2000" b="1" dirty="0">
                <a:solidFill>
                  <a:schemeClr val="bg1"/>
                </a:solidFill>
              </a:rPr>
              <a:t>(1 of 2)</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33400" y="1584575"/>
            <a:ext cx="9928682"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GB" sz="2800" dirty="0">
                <a:solidFill>
                  <a:srgbClr val="000000"/>
                </a:solidFill>
              </a:rPr>
              <a:t>You know that equations are one way to represent a linear function, and you have used equations to evaluate linear functions for a given input value.</a:t>
            </a: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GB" sz="2800" dirty="0">
                <a:solidFill>
                  <a:srgbClr val="000000"/>
                </a:solidFill>
              </a:rPr>
              <a:t>How can you use equations to solve for unknown input values</a:t>
            </a:r>
          </a:p>
          <a:p>
            <a:pPr marL="0" indent="0">
              <a:spcBef>
                <a:spcPts val="24"/>
              </a:spcBef>
              <a:buNone/>
            </a:pPr>
            <a:r>
              <a:rPr lang="en-GB" sz="2800" dirty="0">
                <a:solidFill>
                  <a:srgbClr val="000000"/>
                </a:solidFill>
              </a:rPr>
              <a:t>of a function?</a:t>
            </a:r>
            <a:endParaRPr lang="en-US" sz="28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345</a:t>
            </a:r>
          </a:p>
        </p:txBody>
      </p:sp>
    </p:spTree>
    <p:extLst>
      <p:ext uri="{BB962C8B-B14F-4D97-AF65-F5344CB8AC3E}">
        <p14:creationId xmlns:p14="http://schemas.microsoft.com/office/powerpoint/2010/main" val="2493083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extLst>
      <p:ext uri="{BB962C8B-B14F-4D97-AF65-F5344CB8AC3E}">
        <p14:creationId xmlns:p14="http://schemas.microsoft.com/office/powerpoint/2010/main" val="3545096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Getting Started</a:t>
            </a:r>
          </a:p>
        </p:txBody>
      </p:sp>
      <p:sp>
        <p:nvSpPr>
          <p:cNvPr id="2" name="Text Placeholder 1" descr="15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23154" y="5781873"/>
            <a:ext cx="863947" cy="795338"/>
          </a:xfrm>
        </p:spPr>
        <p:txBody>
          <a:bodyPr/>
          <a:lstStyle/>
          <a:p>
            <a:r>
              <a:rPr lang="en-US" b="1" dirty="0"/>
              <a:t>15</a:t>
            </a:r>
          </a:p>
        </p:txBody>
      </p:sp>
      <p:sp>
        <p:nvSpPr>
          <p:cNvPr id="1003" name="Slide Number 10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
        <p:nvSpPr>
          <p:cNvPr id="1005" name="Answer 1005"/>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3719619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p:txBody>
          <a:bodyPr/>
          <a:lstStyle/>
          <a:p>
            <a:pPr algn="l"/>
            <a:r>
              <a:rPr lang="en-US" b="1" dirty="0"/>
              <a:t>Equation Creation </a:t>
            </a:r>
            <a:r>
              <a:rPr lang="en-US" sz="2000" b="1" dirty="0">
                <a:solidFill>
                  <a:schemeClr val="bg1"/>
                </a:solidFill>
              </a:rPr>
              <a:t>(1 of 7)</a:t>
            </a:r>
          </a:p>
        </p:txBody>
      </p:sp>
      <p:sp>
        <p:nvSpPr>
          <p:cNvPr id="9" name="Text Placeholder 2">
            <a:extLst>
              <a:ext uri="{FF2B5EF4-FFF2-40B4-BE49-F238E27FC236}">
                <a16:creationId xmlns:a16="http://schemas.microsoft.com/office/drawing/2014/main" id="{88A40426-95CC-EF9E-540F-D1B1DE38C8D6}"/>
              </a:ext>
            </a:extLst>
          </p:cNvPr>
          <p:cNvSpPr txBox="1">
            <a:spLocks/>
          </p:cNvSpPr>
          <p:nvPr/>
        </p:nvSpPr>
        <p:spPr>
          <a:xfrm>
            <a:off x="777241" y="1616140"/>
            <a:ext cx="10371728" cy="433310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spcBef>
                <a:spcPts val="0"/>
              </a:spcBef>
              <a:buNone/>
            </a:pPr>
            <a:r>
              <a:rPr lang="en-GB" sz="2800" b="0" i="0" u="none" strike="noStrike" baseline="0" dirty="0">
                <a:solidFill>
                  <a:srgbClr val="000000"/>
                </a:solidFill>
              </a:rPr>
              <a:t>An </a:t>
            </a:r>
            <a:r>
              <a:rPr lang="en-GB" sz="2800" b="0" i="1" u="none" strike="noStrike" baseline="0" dirty="0">
                <a:solidFill>
                  <a:srgbClr val="000000"/>
                </a:solidFill>
              </a:rPr>
              <a:t>equation</a:t>
            </a:r>
            <a:r>
              <a:rPr lang="en-GB" sz="2800" b="0" i="0" u="none" strike="noStrike" baseline="0" dirty="0">
                <a:solidFill>
                  <a:srgbClr val="000000"/>
                </a:solidFill>
              </a:rPr>
              <a:t> is a mathematical sentence that uses an equals sign</a:t>
            </a:r>
            <a:br>
              <a:rPr lang="en-GB" sz="2800" b="0" i="0" u="none" strike="noStrike" baseline="0" dirty="0">
                <a:solidFill>
                  <a:srgbClr val="000000"/>
                </a:solidFill>
              </a:rPr>
            </a:br>
            <a:r>
              <a:rPr lang="en-GB" sz="2800" b="0" i="0" u="none" strike="noStrike" baseline="0" dirty="0">
                <a:solidFill>
                  <a:srgbClr val="000000"/>
                </a:solidFill>
              </a:rPr>
              <a:t>to show that two expressions are equivalent. When one of those expressions contains a variable, you can solve the equation.</a:t>
            </a:r>
          </a:p>
          <a:p>
            <a:pPr marL="0" indent="0" algn="l">
              <a:buNone/>
            </a:pPr>
            <a:endParaRPr lang="en-GB" sz="2800" b="0" i="0" u="none" strike="noStrike" baseline="0" dirty="0">
              <a:solidFill>
                <a:srgbClr val="000000"/>
              </a:solidFill>
            </a:endParaRPr>
          </a:p>
          <a:p>
            <a:pPr marL="0" indent="0" algn="l">
              <a:spcBef>
                <a:spcPts val="0"/>
              </a:spcBef>
              <a:buNone/>
            </a:pPr>
            <a:r>
              <a:rPr lang="en-GB" sz="2800" b="0" i="0" u="none" strike="noStrike" baseline="0" dirty="0">
                <a:solidFill>
                  <a:srgbClr val="000000"/>
                </a:solidFill>
              </a:rPr>
              <a:t>Consider the equation </a:t>
            </a:r>
            <a:r>
              <a:rPr lang="en-GB" sz="2800" b="0" i="1" u="none" strike="noStrike" baseline="0" dirty="0">
                <a:solidFill>
                  <a:srgbClr val="000000"/>
                </a:solidFill>
              </a:rPr>
              <a:t>x</a:t>
            </a:r>
            <a:r>
              <a:rPr lang="en-GB" sz="2800" b="0" i="0" u="none" strike="noStrike" baseline="0" dirty="0">
                <a:solidFill>
                  <a:srgbClr val="000000"/>
                </a:solidFill>
              </a:rPr>
              <a:t> = 2. You can substitute the value 2 for </a:t>
            </a:r>
            <a:r>
              <a:rPr lang="en-GB" sz="2800" b="0" i="1" u="none" strike="noStrike" baseline="0" dirty="0">
                <a:solidFill>
                  <a:srgbClr val="000000"/>
                </a:solidFill>
              </a:rPr>
              <a:t>x</a:t>
            </a:r>
            <a:r>
              <a:rPr lang="en-GB" sz="2800" b="0" i="0" u="none" strike="noStrike" baseline="0" dirty="0">
                <a:solidFill>
                  <a:srgbClr val="000000"/>
                </a:solidFill>
              </a:rPr>
              <a:t> to</a:t>
            </a:r>
          </a:p>
          <a:p>
            <a:pPr marL="0" indent="0" algn="l">
              <a:spcBef>
                <a:spcPts val="0"/>
              </a:spcBef>
              <a:buNone/>
            </a:pPr>
            <a:r>
              <a:rPr lang="en-GB" sz="2800" b="0" i="0" u="none" strike="noStrike" baseline="0" dirty="0">
                <a:solidFill>
                  <a:srgbClr val="000000"/>
                </a:solidFill>
              </a:rPr>
              <a:t>create the true statement 2 = 2. Because this is the only value that</a:t>
            </a:r>
          </a:p>
          <a:p>
            <a:pPr marL="0" indent="0" algn="l">
              <a:spcBef>
                <a:spcPts val="0"/>
              </a:spcBef>
              <a:buNone/>
            </a:pPr>
            <a:r>
              <a:rPr lang="en-GB" sz="2800" b="0" i="0" u="none" strike="noStrike" baseline="0" dirty="0">
                <a:solidFill>
                  <a:srgbClr val="000000"/>
                </a:solidFill>
              </a:rPr>
              <a:t>makes the statement true, 2 is the only solution to the equation </a:t>
            </a:r>
            <a:r>
              <a:rPr lang="en-GB" sz="2800" b="0" i="1" u="none" strike="noStrike" baseline="0" dirty="0">
                <a:solidFill>
                  <a:srgbClr val="000000"/>
                </a:solidFill>
              </a:rPr>
              <a:t>x</a:t>
            </a:r>
            <a:r>
              <a:rPr lang="en-GB" sz="2800" b="0" i="0" u="none" strike="noStrike" baseline="0" dirty="0">
                <a:solidFill>
                  <a:srgbClr val="000000"/>
                </a:solidFill>
              </a:rPr>
              <a:t> = 2.</a:t>
            </a: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346</a:t>
            </a:r>
          </a:p>
        </p:txBody>
      </p:sp>
    </p:spTree>
    <p:extLst>
      <p:ext uri="{BB962C8B-B14F-4D97-AF65-F5344CB8AC3E}">
        <p14:creationId xmlns:p14="http://schemas.microsoft.com/office/powerpoint/2010/main" val="2582309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7AC40-1F68-D001-B6A3-D5B59F62F9E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A224A9-DD5C-9194-B6B7-266DE2F845F7}"/>
              </a:ext>
            </a:extLst>
          </p:cNvPr>
          <p:cNvSpPr>
            <a:spLocks noGrp="1"/>
          </p:cNvSpPr>
          <p:nvPr>
            <p:ph type="title"/>
          </p:nvPr>
        </p:nvSpPr>
        <p:spPr/>
        <p:txBody>
          <a:bodyPr/>
          <a:lstStyle/>
          <a:p>
            <a:pPr algn="l"/>
            <a:r>
              <a:rPr lang="en-US" b="1" dirty="0"/>
              <a:t>Equation Creation </a:t>
            </a:r>
            <a:r>
              <a:rPr lang="en-US" sz="2000" b="1" dirty="0">
                <a:solidFill>
                  <a:schemeClr val="bg1"/>
                </a:solidFill>
              </a:rPr>
              <a:t>(2 of 7) </a:t>
            </a:r>
          </a:p>
        </p:txBody>
      </p:sp>
      <p:sp>
        <p:nvSpPr>
          <p:cNvPr id="9" name="Text Placeholder 2">
            <a:extLst>
              <a:ext uri="{FF2B5EF4-FFF2-40B4-BE49-F238E27FC236}">
                <a16:creationId xmlns:a16="http://schemas.microsoft.com/office/drawing/2014/main" id="{F3913A66-7981-B6FB-D8FF-B2068E9AB832}"/>
              </a:ext>
            </a:extLst>
          </p:cNvPr>
          <p:cNvSpPr txBox="1">
            <a:spLocks/>
          </p:cNvSpPr>
          <p:nvPr/>
        </p:nvSpPr>
        <p:spPr>
          <a:xfrm>
            <a:off x="777241" y="1635896"/>
            <a:ext cx="7328182" cy="181286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GB" sz="2800" b="0" i="0" u="none" strike="noStrike" baseline="0" dirty="0">
                <a:solidFill>
                  <a:srgbClr val="000000"/>
                </a:solidFill>
              </a:rPr>
              <a:t>By performing the same operation on each side of an equation, you can create more complex equations that have the same solution.</a:t>
            </a:r>
          </a:p>
        </p:txBody>
      </p:sp>
      <p:sp>
        <p:nvSpPr>
          <p:cNvPr id="2" name="TextBox 1">
            <a:extLst>
              <a:ext uri="{FF2B5EF4-FFF2-40B4-BE49-F238E27FC236}">
                <a16:creationId xmlns:a16="http://schemas.microsoft.com/office/drawing/2014/main" id="{BB55ADB7-1B46-E44F-0AAD-7DE81F49D326}"/>
              </a:ext>
            </a:extLst>
          </p:cNvPr>
          <p:cNvSpPr txBox="1"/>
          <p:nvPr/>
        </p:nvSpPr>
        <p:spPr>
          <a:xfrm>
            <a:off x="8952919" y="1797784"/>
            <a:ext cx="2460253" cy="1631216"/>
          </a:xfrm>
          <a:prstGeom prst="rect">
            <a:avLst/>
          </a:prstGeom>
          <a:noFill/>
          <a:ln w="31750">
            <a:solidFill>
              <a:srgbClr val="008F4C"/>
            </a:solidFill>
            <a:prstDash val="sysDot"/>
          </a:ln>
        </p:spPr>
        <p:txBody>
          <a:bodyPr wrap="square" rtlCol="0">
            <a:spAutoFit/>
          </a:bodyPr>
          <a:lstStyle/>
          <a:p>
            <a:r>
              <a:rPr lang="en-GB" sz="2000" dirty="0">
                <a:solidFill>
                  <a:srgbClr val="000000"/>
                </a:solidFill>
              </a:rPr>
              <a:t>A </a:t>
            </a:r>
            <a:r>
              <a:rPr lang="en-GB" sz="2000" b="1" dirty="0">
                <a:solidFill>
                  <a:srgbClr val="000000"/>
                </a:solidFill>
              </a:rPr>
              <a:t>solution</a:t>
            </a:r>
            <a:r>
              <a:rPr lang="en-GB" sz="2000" dirty="0">
                <a:solidFill>
                  <a:srgbClr val="000000"/>
                </a:solidFill>
              </a:rPr>
              <a:t> to an equation is a value for the variable that makes the equation a true statement.</a:t>
            </a:r>
            <a:endParaRPr lang="en-US" sz="20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346</a:t>
            </a:r>
          </a:p>
        </p:txBody>
      </p:sp>
    </p:spTree>
    <p:extLst>
      <p:ext uri="{BB962C8B-B14F-4D97-AF65-F5344CB8AC3E}">
        <p14:creationId xmlns:p14="http://schemas.microsoft.com/office/powerpoint/2010/main" val="310027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B0797-44B2-5817-36E8-5BC89AE7A0D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D5DB7A-C3EA-BA0F-0C92-E2A3A145F351}"/>
              </a:ext>
            </a:extLst>
          </p:cNvPr>
          <p:cNvSpPr>
            <a:spLocks noGrp="1"/>
          </p:cNvSpPr>
          <p:nvPr>
            <p:ph type="title"/>
          </p:nvPr>
        </p:nvSpPr>
        <p:spPr/>
        <p:txBody>
          <a:bodyPr/>
          <a:lstStyle/>
          <a:p>
            <a:pPr algn="l"/>
            <a:r>
              <a:rPr lang="en-US" b="1" dirty="0"/>
              <a:t>Equation Creation </a:t>
            </a:r>
            <a:r>
              <a:rPr lang="en-US" sz="2000" b="1" dirty="0">
                <a:solidFill>
                  <a:schemeClr val="bg1"/>
                </a:solidFill>
              </a:rPr>
              <a:t>(3 of 7)</a:t>
            </a:r>
          </a:p>
        </p:txBody>
      </p:sp>
      <p:sp>
        <p:nvSpPr>
          <p:cNvPr id="9" name="Text Placeholder 2">
            <a:extLst>
              <a:ext uri="{FF2B5EF4-FFF2-40B4-BE49-F238E27FC236}">
                <a16:creationId xmlns:a16="http://schemas.microsoft.com/office/drawing/2014/main" id="{240588B4-7195-1AFD-2B2F-279026231BC4}"/>
              </a:ext>
            </a:extLst>
          </p:cNvPr>
          <p:cNvSpPr txBox="1">
            <a:spLocks/>
          </p:cNvSpPr>
          <p:nvPr/>
        </p:nvSpPr>
        <p:spPr>
          <a:xfrm>
            <a:off x="777241" y="1635895"/>
            <a:ext cx="10635826" cy="378277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a:pPr>
            <a:r>
              <a:rPr lang="en-GB" sz="2800" b="0" i="0" u="none" strike="noStrike" baseline="0" dirty="0">
                <a:solidFill>
                  <a:srgbClr val="000000"/>
                </a:solidFill>
              </a:rPr>
              <a:t>Consider the equation </a:t>
            </a:r>
            <a:r>
              <a:rPr lang="en-GB" sz="2800" b="0" i="1" u="none" strike="noStrike" baseline="0" dirty="0">
                <a:solidFill>
                  <a:srgbClr val="000000"/>
                </a:solidFill>
              </a:rPr>
              <a:t>x</a:t>
            </a:r>
            <a:r>
              <a:rPr lang="en-GB" sz="2800" b="0" i="0" u="none" strike="noStrike" baseline="0" dirty="0">
                <a:solidFill>
                  <a:srgbClr val="000000"/>
                </a:solidFill>
              </a:rPr>
              <a:t> = 2.</a:t>
            </a:r>
          </a:p>
          <a:p>
            <a:pPr marL="1036800" indent="-514350" algn="l">
              <a:buFont typeface="+mj-lt"/>
              <a:buAutoNum type="alphaLcPeriod"/>
            </a:pPr>
            <a:r>
              <a:rPr lang="en-GB" sz="2800" b="0" i="0" u="none" strike="noStrike" baseline="0" dirty="0">
                <a:solidFill>
                  <a:srgbClr val="000000"/>
                </a:solidFill>
              </a:rPr>
              <a:t>Choose any constant. Add that constant to each side of the equation and simplify.</a:t>
            </a:r>
          </a:p>
          <a:p>
            <a:pPr marL="1036800" lvl="1" indent="0">
              <a:lnSpc>
                <a:spcPct val="100000"/>
              </a:lnSpc>
              <a:spcBef>
                <a:spcPts val="200"/>
              </a:spcBef>
              <a:spcAft>
                <a:spcPts val="600"/>
              </a:spcAft>
              <a:buNone/>
            </a:pPr>
            <a:r>
              <a:rPr lang="en-US" sz="2000" dirty="0">
                <a:solidFill>
                  <a:srgbClr val="FF0000"/>
                </a:solidFill>
              </a:rPr>
              <a:t>Sample: x + 3 = 5</a:t>
            </a:r>
          </a:p>
          <a:p>
            <a:pPr marL="1036800" indent="-514350" algn="l">
              <a:buFont typeface="+mj-lt"/>
              <a:buAutoNum type="alphaLcPeriod"/>
            </a:pPr>
            <a:endParaRPr lang="en-GB" sz="2800" dirty="0">
              <a:solidFill>
                <a:srgbClr val="000000"/>
              </a:solidFill>
            </a:endParaRPr>
          </a:p>
          <a:p>
            <a:pPr marL="1036800" indent="-514350" algn="l">
              <a:buFont typeface="+mj-lt"/>
              <a:buAutoNum type="alphaLcPeriod"/>
            </a:pPr>
            <a:endParaRPr lang="en-GB" sz="2800" b="0" i="0" u="none" strike="noStrike" baseline="0" dirty="0">
              <a:solidFill>
                <a:srgbClr val="000000"/>
              </a:solidFill>
            </a:endParaRPr>
          </a:p>
          <a:p>
            <a:pPr marL="1036800" indent="-514350" algn="l">
              <a:buFont typeface="+mj-lt"/>
              <a:buAutoNum type="alphaLcPeriod"/>
            </a:pPr>
            <a:r>
              <a:rPr lang="en-GB" sz="2800" b="0" i="0" u="none" strike="noStrike" baseline="0" dirty="0">
                <a:solidFill>
                  <a:srgbClr val="000000"/>
                </a:solidFill>
              </a:rPr>
              <a:t>Choose any constant other than 0. Multiply each side of the equation you created in part (a) by that constant and simplify.</a:t>
            </a:r>
          </a:p>
          <a:p>
            <a:pPr marL="1036800" lvl="1" indent="0">
              <a:lnSpc>
                <a:spcPct val="100000"/>
              </a:lnSpc>
              <a:spcBef>
                <a:spcPts val="200"/>
              </a:spcBef>
              <a:spcAft>
                <a:spcPts val="600"/>
              </a:spcAft>
              <a:buNone/>
            </a:pPr>
            <a:r>
              <a:rPr lang="en-US" sz="2000" dirty="0">
                <a:solidFill>
                  <a:srgbClr val="FF0000"/>
                </a:solidFill>
              </a:rPr>
              <a:t>Sample: 4x + 12 = 20</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346</a:t>
            </a:r>
          </a:p>
        </p:txBody>
      </p:sp>
    </p:spTree>
    <p:extLst>
      <p:ext uri="{BB962C8B-B14F-4D97-AF65-F5344CB8AC3E}">
        <p14:creationId xmlns:p14="http://schemas.microsoft.com/office/powerpoint/2010/main" val="190055928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2A821-7E3A-53B5-B0CD-6B157C1382E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2591FFB-17B9-021C-0CBC-C9D916F2BFC7}"/>
              </a:ext>
            </a:extLst>
          </p:cNvPr>
          <p:cNvSpPr>
            <a:spLocks noGrp="1"/>
          </p:cNvSpPr>
          <p:nvPr>
            <p:ph type="title"/>
          </p:nvPr>
        </p:nvSpPr>
        <p:spPr/>
        <p:txBody>
          <a:bodyPr/>
          <a:lstStyle/>
          <a:p>
            <a:pPr algn="l"/>
            <a:r>
              <a:rPr lang="en-US" b="1" dirty="0"/>
              <a:t>Equation Creation </a:t>
            </a:r>
            <a:r>
              <a:rPr lang="en-US" sz="2000" b="1" dirty="0">
                <a:solidFill>
                  <a:schemeClr val="bg1"/>
                </a:solidFill>
              </a:rPr>
              <a:t>(4 of 7)</a:t>
            </a:r>
          </a:p>
        </p:txBody>
      </p:sp>
      <p:sp>
        <p:nvSpPr>
          <p:cNvPr id="9" name="Text Placeholder 2">
            <a:extLst>
              <a:ext uri="{FF2B5EF4-FFF2-40B4-BE49-F238E27FC236}">
                <a16:creationId xmlns:a16="http://schemas.microsoft.com/office/drawing/2014/main" id="{14832A34-27C7-93FA-4ECE-1814E9F2C819}"/>
              </a:ext>
            </a:extLst>
          </p:cNvPr>
          <p:cNvSpPr txBox="1">
            <a:spLocks/>
          </p:cNvSpPr>
          <p:nvPr/>
        </p:nvSpPr>
        <p:spPr>
          <a:xfrm>
            <a:off x="777241" y="1635895"/>
            <a:ext cx="10245894" cy="378277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lphaLcPeriod" startAt="3"/>
            </a:pPr>
            <a:r>
              <a:rPr lang="en-GB" sz="2800" b="0" i="0" u="none" strike="noStrike" baseline="0" dirty="0">
                <a:solidFill>
                  <a:srgbClr val="000000"/>
                </a:solidFill>
              </a:rPr>
              <a:t>Choose any number other than 0 to represent </a:t>
            </a:r>
            <a:r>
              <a:rPr lang="en-GB" sz="2800" b="0" i="1" u="none" strike="noStrike" baseline="0" dirty="0">
                <a:solidFill>
                  <a:srgbClr val="000000"/>
                </a:solidFill>
              </a:rPr>
              <a:t>a</a:t>
            </a:r>
            <a:r>
              <a:rPr lang="en-GB" sz="2800" b="0" i="0" u="none" strike="noStrike" baseline="0" dirty="0">
                <a:solidFill>
                  <a:srgbClr val="000000"/>
                </a:solidFill>
              </a:rPr>
              <a:t> in the expression </a:t>
            </a:r>
            <a:r>
              <a:rPr lang="en-GB" sz="2800" b="0" i="1" u="none" strike="noStrike" baseline="0" dirty="0" err="1">
                <a:solidFill>
                  <a:srgbClr val="000000"/>
                </a:solidFill>
              </a:rPr>
              <a:t>ax</a:t>
            </a:r>
            <a:r>
              <a:rPr lang="en-GB" sz="2800" b="0" i="0" u="none" strike="noStrike" baseline="0" dirty="0">
                <a:solidFill>
                  <a:srgbClr val="000000"/>
                </a:solidFill>
              </a:rPr>
              <a:t>. Subtract the term </a:t>
            </a:r>
            <a:r>
              <a:rPr lang="en-GB" sz="2800" b="0" i="1" u="none" strike="noStrike" baseline="0" dirty="0" err="1">
                <a:solidFill>
                  <a:srgbClr val="000000"/>
                </a:solidFill>
              </a:rPr>
              <a:t>ax</a:t>
            </a:r>
            <a:r>
              <a:rPr lang="en-GB" sz="2800" b="0" i="0" u="none" strike="noStrike" baseline="0" dirty="0">
                <a:solidFill>
                  <a:srgbClr val="000000"/>
                </a:solidFill>
              </a:rPr>
              <a:t> from each side of the equation you created in part (b) and simplify.</a:t>
            </a:r>
          </a:p>
          <a:p>
            <a:pPr marL="514350" lvl="1" indent="0">
              <a:lnSpc>
                <a:spcPct val="100000"/>
              </a:lnSpc>
              <a:spcBef>
                <a:spcPts val="200"/>
              </a:spcBef>
              <a:spcAft>
                <a:spcPts val="600"/>
              </a:spcAft>
              <a:buNone/>
            </a:pPr>
            <a:r>
              <a:rPr lang="en-US" sz="2000" dirty="0">
                <a:solidFill>
                  <a:srgbClr val="FF0000"/>
                </a:solidFill>
              </a:rPr>
              <a:t>Sample (a = 2): 2x + 12 = −2x + 20</a:t>
            </a:r>
          </a:p>
          <a:p>
            <a:pPr marL="514350" indent="-514350" algn="l">
              <a:buFont typeface="+mj-lt"/>
              <a:buAutoNum type="alphaLcPeriod" startAt="3"/>
            </a:pPr>
            <a:endParaRPr lang="en-GB" sz="2800" dirty="0">
              <a:solidFill>
                <a:srgbClr val="000000"/>
              </a:solidFill>
            </a:endParaRPr>
          </a:p>
          <a:p>
            <a:pPr marL="514350" indent="-514350" algn="l">
              <a:buFont typeface="+mj-lt"/>
              <a:buAutoNum type="alphaLcPeriod" startAt="3"/>
            </a:pPr>
            <a:endParaRPr lang="en-GB" sz="2800" b="0" i="0" u="none" strike="noStrike" baseline="0" dirty="0">
              <a:solidFill>
                <a:srgbClr val="000000"/>
              </a:solidFill>
            </a:endParaRPr>
          </a:p>
          <a:p>
            <a:pPr marL="514350" indent="-514350" algn="l">
              <a:buFont typeface="+mj-lt"/>
              <a:buAutoNum type="alphaLcPeriod" startAt="3"/>
            </a:pPr>
            <a:r>
              <a:rPr lang="en-GB" sz="2800" b="0" i="0" u="none" strike="noStrike" baseline="0" dirty="0">
                <a:solidFill>
                  <a:srgbClr val="000000"/>
                </a:solidFill>
              </a:rPr>
              <a:t>Choose any constant other than 0. Divide each side of the equation you created in part (c) by that constant and simplify.</a:t>
            </a:r>
          </a:p>
          <a:p>
            <a:pPr marL="514350" lvl="1" indent="0">
              <a:lnSpc>
                <a:spcPct val="100000"/>
              </a:lnSpc>
              <a:spcBef>
                <a:spcPts val="200"/>
              </a:spcBef>
              <a:spcAft>
                <a:spcPts val="600"/>
              </a:spcAft>
              <a:buNone/>
            </a:pPr>
            <a:r>
              <a:rPr lang="en-US" sz="2000" dirty="0">
                <a:solidFill>
                  <a:srgbClr val="FF0000"/>
                </a:solidFill>
              </a:rPr>
              <a:t>d. Sample (divide by 2): x + 6 = 10 − x</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346</a:t>
            </a:r>
          </a:p>
        </p:txBody>
      </p:sp>
    </p:spTree>
    <p:extLst>
      <p:ext uri="{BB962C8B-B14F-4D97-AF65-F5344CB8AC3E}">
        <p14:creationId xmlns:p14="http://schemas.microsoft.com/office/powerpoint/2010/main" val="376245573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9E57D-BEB3-1696-0A1F-75CF4B07688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AE3791-9DC7-1948-A0DD-4236E5A07BB3}"/>
              </a:ext>
            </a:extLst>
          </p:cNvPr>
          <p:cNvSpPr>
            <a:spLocks noGrp="1"/>
          </p:cNvSpPr>
          <p:nvPr>
            <p:ph type="title"/>
          </p:nvPr>
        </p:nvSpPr>
        <p:spPr/>
        <p:txBody>
          <a:bodyPr/>
          <a:lstStyle/>
          <a:p>
            <a:pPr algn="l"/>
            <a:r>
              <a:rPr lang="en-US" b="1" dirty="0"/>
              <a:t>Equation Creation </a:t>
            </a:r>
            <a:r>
              <a:rPr lang="en-US" sz="2000" b="1" dirty="0">
                <a:solidFill>
                  <a:schemeClr val="bg1"/>
                </a:solidFill>
              </a:rPr>
              <a:t>(5 of 7)</a:t>
            </a:r>
          </a:p>
        </p:txBody>
      </p:sp>
      <p:sp>
        <p:nvSpPr>
          <p:cNvPr id="2" name="TextBox 1">
            <a:extLst>
              <a:ext uri="{FF2B5EF4-FFF2-40B4-BE49-F238E27FC236}">
                <a16:creationId xmlns:a16="http://schemas.microsoft.com/office/drawing/2014/main" id="{AD80A016-7CB2-E234-7638-2E8F58E13B90}"/>
              </a:ext>
            </a:extLst>
          </p:cNvPr>
          <p:cNvSpPr txBox="1"/>
          <p:nvPr/>
        </p:nvSpPr>
        <p:spPr>
          <a:xfrm>
            <a:off x="777240" y="1741247"/>
            <a:ext cx="2402277" cy="1323439"/>
          </a:xfrm>
          <a:prstGeom prst="rect">
            <a:avLst/>
          </a:prstGeom>
          <a:noFill/>
          <a:ln w="31750">
            <a:solidFill>
              <a:srgbClr val="008F4C"/>
            </a:solidFill>
            <a:prstDash val="sysDot"/>
          </a:ln>
        </p:spPr>
        <p:txBody>
          <a:bodyPr wrap="square" rtlCol="0">
            <a:spAutoFit/>
          </a:bodyPr>
          <a:lstStyle/>
          <a:p>
            <a:r>
              <a:rPr lang="en-GB" sz="2000" b="1" dirty="0">
                <a:solidFill>
                  <a:srgbClr val="2B8147"/>
                </a:solidFill>
              </a:rPr>
              <a:t>Think about . . .</a:t>
            </a:r>
          </a:p>
          <a:p>
            <a:r>
              <a:rPr lang="en-GB" sz="2000" dirty="0">
                <a:solidFill>
                  <a:srgbClr val="000000"/>
                </a:solidFill>
              </a:rPr>
              <a:t>What strategies can you use to verify a solution?</a:t>
            </a:r>
            <a:endParaRPr lang="en-US" sz="2000" dirty="0">
              <a:solidFill>
                <a:srgbClr val="000000"/>
              </a:solidFill>
            </a:endParaRPr>
          </a:p>
        </p:txBody>
      </p:sp>
      <p:sp>
        <p:nvSpPr>
          <p:cNvPr id="9" name="Text Placeholder 2">
            <a:extLst>
              <a:ext uri="{FF2B5EF4-FFF2-40B4-BE49-F238E27FC236}">
                <a16:creationId xmlns:a16="http://schemas.microsoft.com/office/drawing/2014/main" id="{F04FC1F3-5894-FE3C-70E3-25FEBA4E227E}"/>
              </a:ext>
            </a:extLst>
          </p:cNvPr>
          <p:cNvSpPr txBox="1">
            <a:spLocks/>
          </p:cNvSpPr>
          <p:nvPr/>
        </p:nvSpPr>
        <p:spPr>
          <a:xfrm>
            <a:off x="3623732" y="1579452"/>
            <a:ext cx="8286045" cy="11750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startAt="2"/>
            </a:pPr>
            <a:r>
              <a:rPr lang="en-GB" sz="2800" b="0" i="0" u="none" strike="noStrike" baseline="0" dirty="0">
                <a:solidFill>
                  <a:srgbClr val="000000"/>
                </a:solidFill>
              </a:rPr>
              <a:t>Have a partner solve the equation you created in Question 1 to verify that </a:t>
            </a:r>
            <a:r>
              <a:rPr lang="en-GB" sz="2800" b="0" i="1" u="none" strike="noStrike" baseline="0" dirty="0">
                <a:solidFill>
                  <a:srgbClr val="000000"/>
                </a:solidFill>
              </a:rPr>
              <a:t>x</a:t>
            </a:r>
            <a:r>
              <a:rPr lang="en-GB" sz="2800" b="0" i="0" u="none" strike="noStrike" baseline="0" dirty="0">
                <a:solidFill>
                  <a:srgbClr val="000000"/>
                </a:solidFill>
              </a:rPr>
              <a:t> = 2 is the solution.</a:t>
            </a:r>
          </a:p>
          <a:p>
            <a:pPr marL="514350" lvl="1" indent="0">
              <a:lnSpc>
                <a:spcPct val="100000"/>
              </a:lnSpc>
              <a:spcBef>
                <a:spcPts val="200"/>
              </a:spcBef>
              <a:spcAft>
                <a:spcPts val="600"/>
              </a:spcAft>
              <a:buNone/>
            </a:pPr>
            <a:r>
              <a:rPr lang="en-US" sz="2000" dirty="0">
                <a:solidFill>
                  <a:srgbClr val="FF0000"/>
                </a:solidFill>
              </a:rPr>
              <a:t>Substitute 2 for x (or solve): 2 + 6 = 10 − 2, so 8 = 8, a true statement.</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346</a:t>
            </a:r>
          </a:p>
        </p:txBody>
      </p:sp>
    </p:spTree>
    <p:extLst>
      <p:ext uri="{BB962C8B-B14F-4D97-AF65-F5344CB8AC3E}">
        <p14:creationId xmlns:p14="http://schemas.microsoft.com/office/powerpoint/2010/main" val="252634067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sz="4000" b="1" dirty="0"/>
              <a:t>Equation Creation </a:t>
            </a:r>
            <a:r>
              <a:rPr lang="en-US" sz="2000" b="1" dirty="0">
                <a:solidFill>
                  <a:schemeClr val="bg1"/>
                </a:solidFill>
              </a:rPr>
              <a:t>(6 of 7)</a:t>
            </a:r>
          </a:p>
        </p:txBody>
      </p:sp>
      <p:sp>
        <p:nvSpPr>
          <p:cNvPr id="9" name="Text Placeholder 2">
            <a:extLst>
              <a:ext uri="{FF2B5EF4-FFF2-40B4-BE49-F238E27FC236}">
                <a16:creationId xmlns:a16="http://schemas.microsoft.com/office/drawing/2014/main" id="{0224E92D-72C0-6DF3-2985-6F8E2D67E2FE}"/>
              </a:ext>
            </a:extLst>
          </p:cNvPr>
          <p:cNvSpPr txBox="1">
            <a:spLocks/>
          </p:cNvSpPr>
          <p:nvPr/>
        </p:nvSpPr>
        <p:spPr>
          <a:xfrm>
            <a:off x="777240" y="1616140"/>
            <a:ext cx="990259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the Getting Started!</a:t>
            </a:r>
          </a:p>
        </p:txBody>
      </p:sp>
      <p:pic>
        <p:nvPicPr>
          <p:cNvPr id="3" name="Picture 2">
            <a:extLst>
              <a:ext uri="{FF2B5EF4-FFF2-40B4-BE49-F238E27FC236}">
                <a16:creationId xmlns:a16="http://schemas.microsoft.com/office/drawing/2014/main" id="{83CFE51C-FECE-9C46-8848-6BF918D18E2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346</a:t>
            </a:r>
          </a:p>
        </p:txBody>
      </p:sp>
    </p:spTree>
    <p:extLst>
      <p:ext uri="{BB962C8B-B14F-4D97-AF65-F5344CB8AC3E}">
        <p14:creationId xmlns:p14="http://schemas.microsoft.com/office/powerpoint/2010/main" val="2981204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sz="4000" b="1" dirty="0"/>
              <a:t>Equation Creation </a:t>
            </a:r>
            <a:r>
              <a:rPr lang="en-US" sz="2000" b="1" dirty="0">
                <a:solidFill>
                  <a:schemeClr val="bg1"/>
                </a:solidFill>
              </a:rPr>
              <a:t>(7 of 7)</a:t>
            </a:r>
          </a:p>
        </p:txBody>
      </p:sp>
      <p:sp>
        <p:nvSpPr>
          <p:cNvPr id="9" name="Text Placeholder 2">
            <a:extLst>
              <a:ext uri="{FF2B5EF4-FFF2-40B4-BE49-F238E27FC236}">
                <a16:creationId xmlns:a16="http://schemas.microsoft.com/office/drawing/2014/main" id="{0224E92D-72C0-6DF3-2985-6F8E2D67E2FE}"/>
              </a:ext>
              <a:ext uri="{C183D7F6-B498-43B3-948B-1728B52AA6E4}">
                <adec:decorative xmlns:adec="http://schemas.microsoft.com/office/drawing/2017/decorative" val="1"/>
              </a:ext>
            </a:extLst>
          </p:cNvPr>
          <p:cNvSpPr txBox="1">
            <a:spLocks/>
          </p:cNvSpPr>
          <p:nvPr/>
        </p:nvSpPr>
        <p:spPr>
          <a:xfrm>
            <a:off x="777240" y="1616140"/>
            <a:ext cx="9900285"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346</a:t>
            </a:r>
          </a:p>
        </p:txBody>
      </p:sp>
    </p:spTree>
    <p:extLst>
      <p:ext uri="{BB962C8B-B14F-4D97-AF65-F5344CB8AC3E}">
        <p14:creationId xmlns:p14="http://schemas.microsoft.com/office/powerpoint/2010/main" val="2743475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7022-D266-6CB6-8FDC-29242A2ED071}"/>
              </a:ext>
            </a:extLst>
          </p:cNvPr>
          <p:cNvSpPr>
            <a:spLocks noGrp="1"/>
          </p:cNvSpPr>
          <p:nvPr>
            <p:ph type="title" idx="4294967295"/>
          </p:nvPr>
        </p:nvSpPr>
        <p:spPr>
          <a:xfrm>
            <a:off x="838200" y="-473529"/>
            <a:ext cx="10514013" cy="473529"/>
          </a:xfrm>
          <a:prstGeom prst="rect">
            <a:avLst/>
          </a:prstGeom>
        </p:spPr>
        <p:txBody>
          <a:bodyPr anchor="b"/>
          <a:lstStyle/>
          <a:p>
            <a:r>
              <a:rPr lang="en-US" sz="2000" dirty="0">
                <a:solidFill>
                  <a:schemeClr val="bg2"/>
                </a:solidFill>
              </a:rPr>
              <a:t>Activity 1.1</a:t>
            </a:r>
          </a:p>
        </p:txBody>
      </p:sp>
      <p:sp>
        <p:nvSpPr>
          <p:cNvPr id="3" name="Text Placeholder 2" descr="15 to 20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81873"/>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1.1</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
        <p:nvSpPr>
          <p:cNvPr id="1007" name="Answer 1007"/>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4250459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(1 of 9) </a:t>
            </a:r>
          </a:p>
        </p:txBody>
      </p:sp>
      <p:sp>
        <p:nvSpPr>
          <p:cNvPr id="2" name="Text Placeholder 2">
            <a:extLst>
              <a:ext uri="{FF2B5EF4-FFF2-40B4-BE49-F238E27FC236}">
                <a16:creationId xmlns:a16="http://schemas.microsoft.com/office/drawing/2014/main" id="{70C1E34C-7E62-1005-A795-8E05218D3CB1}"/>
              </a:ext>
            </a:extLst>
          </p:cNvPr>
          <p:cNvSpPr txBox="1">
            <a:spLocks/>
          </p:cNvSpPr>
          <p:nvPr/>
        </p:nvSpPr>
        <p:spPr>
          <a:xfrm>
            <a:off x="777240" y="1598753"/>
            <a:ext cx="9890759" cy="106894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rPr>
              <a:t>Recall that the properties of equality are rules that allow you to maintain balance and rewrite equations to isolate the variable.</a:t>
            </a:r>
          </a:p>
          <a:p>
            <a:pPr marL="0" indent="0">
              <a:buNone/>
            </a:pPr>
            <a:endParaRPr lang="en-US" sz="2800" dirty="0">
              <a:solidFill>
                <a:srgbClr val="000000"/>
              </a:solidFill>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507B7960-A011-59EA-9B7C-B10C12F64BC1}"/>
                  </a:ext>
                </a:extLst>
              </p:cNvPr>
              <p:cNvGraphicFramePr>
                <a:graphicFrameLocks noGrp="1"/>
              </p:cNvGraphicFramePr>
              <p:nvPr>
                <p:extLst>
                  <p:ext uri="{D42A27DB-BD31-4B8C-83A1-F6EECF244321}">
                    <p14:modId xmlns:p14="http://schemas.microsoft.com/office/powerpoint/2010/main" val="3124992691"/>
                  </p:ext>
                </p:extLst>
              </p:nvPr>
            </p:nvGraphicFramePr>
            <p:xfrm>
              <a:off x="2093135" y="3003259"/>
              <a:ext cx="8004142" cy="2491781"/>
            </p:xfrm>
            <a:graphic>
              <a:graphicData uri="http://schemas.openxmlformats.org/drawingml/2006/table">
                <a:tbl>
                  <a:tblPr firstRow="1" bandRow="1">
                    <a:tableStyleId>{5C22544A-7EE6-4342-B048-85BDC9FD1C3A}</a:tableStyleId>
                  </a:tblPr>
                  <a:tblGrid>
                    <a:gridCol w="4002071">
                      <a:extLst>
                        <a:ext uri="{9D8B030D-6E8A-4147-A177-3AD203B41FA5}">
                          <a16:colId xmlns:a16="http://schemas.microsoft.com/office/drawing/2014/main" val="633936936"/>
                        </a:ext>
                      </a:extLst>
                    </a:gridCol>
                    <a:gridCol w="4002071">
                      <a:extLst>
                        <a:ext uri="{9D8B030D-6E8A-4147-A177-3AD203B41FA5}">
                          <a16:colId xmlns:a16="http://schemas.microsoft.com/office/drawing/2014/main" val="809099677"/>
                        </a:ext>
                      </a:extLst>
                    </a:gridCol>
                  </a:tblGrid>
                  <a:tr h="478248">
                    <a:tc>
                      <a:txBody>
                        <a:bodyPr/>
                        <a:lstStyle/>
                        <a:p>
                          <a:pPr algn="ctr"/>
                          <a:r>
                            <a:rPr lang="en-IN" dirty="0">
                              <a:solidFill>
                                <a:srgbClr val="000000"/>
                              </a:solidFill>
                            </a:rPr>
                            <a:t>Properties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DCCD"/>
                        </a:solidFill>
                      </a:tcPr>
                    </a:tc>
                    <a:tc>
                      <a:txBody>
                        <a:bodyPr/>
                        <a:lstStyle/>
                        <a:p>
                          <a:pPr algn="ctr"/>
                          <a:r>
                            <a:rPr lang="en-GB" dirty="0">
                              <a:solidFill>
                                <a:srgbClr val="000000"/>
                              </a:solidFill>
                            </a:rPr>
                            <a:t>For all numbers </a:t>
                          </a:r>
                          <a:r>
                            <a:rPr lang="en-GB" i="1" dirty="0">
                              <a:solidFill>
                                <a:srgbClr val="000000"/>
                              </a:solidFill>
                            </a:rPr>
                            <a:t>a</a:t>
                          </a:r>
                          <a:r>
                            <a:rPr lang="en-GB" dirty="0">
                              <a:solidFill>
                                <a:srgbClr val="000000"/>
                              </a:solidFill>
                            </a:rPr>
                            <a:t>, </a:t>
                          </a:r>
                          <a:r>
                            <a:rPr lang="en-GB" i="1" dirty="0">
                              <a:solidFill>
                                <a:srgbClr val="000000"/>
                              </a:solidFill>
                            </a:rPr>
                            <a:t>b</a:t>
                          </a:r>
                          <a:r>
                            <a:rPr lang="en-GB" dirty="0">
                              <a:solidFill>
                                <a:srgbClr val="000000"/>
                              </a:solidFill>
                            </a:rPr>
                            <a:t>, and </a:t>
                          </a:r>
                          <a:r>
                            <a:rPr lang="en-GB" i="1" dirty="0">
                              <a:solidFill>
                                <a:srgbClr val="000000"/>
                              </a:solidFill>
                            </a:rPr>
                            <a:t>c</a:t>
                          </a:r>
                          <a:endParaRPr lang="en-IN" i="1"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DCCD"/>
                        </a:solidFill>
                      </a:tcPr>
                    </a:tc>
                    <a:extLst>
                      <a:ext uri="{0D108BD9-81ED-4DB2-BD59-A6C34878D82A}">
                        <a16:rowId xmlns:a16="http://schemas.microsoft.com/office/drawing/2014/main" val="3941110779"/>
                      </a:ext>
                    </a:extLst>
                  </a:tr>
                  <a:tr h="478248">
                    <a:tc>
                      <a:txBody>
                        <a:bodyPr/>
                        <a:lstStyle/>
                        <a:p>
                          <a:pPr algn="ctr"/>
                          <a:r>
                            <a:rPr lang="en-IN" sz="2000" dirty="0">
                              <a:solidFill>
                                <a:srgbClr val="000000"/>
                              </a:solidFill>
                            </a:rPr>
                            <a:t>addition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then </a:t>
                          </a:r>
                          <a:r>
                            <a:rPr lang="en-GB" sz="2000" i="1" dirty="0">
                              <a:solidFill>
                                <a:srgbClr val="000000"/>
                              </a:solidFill>
                            </a:rPr>
                            <a:t>a</a:t>
                          </a:r>
                          <a:r>
                            <a:rPr lang="en-GB" sz="2000" dirty="0">
                              <a:solidFill>
                                <a:srgbClr val="000000"/>
                              </a:solidFill>
                            </a:rPr>
                            <a:t> + </a:t>
                          </a:r>
                          <a:r>
                            <a:rPr lang="en-GB" sz="2000" i="1" dirty="0">
                              <a:solidFill>
                                <a:srgbClr val="000000"/>
                              </a:solidFill>
                            </a:rPr>
                            <a:t>c</a:t>
                          </a:r>
                          <a:r>
                            <a:rPr lang="en-GB" sz="2000" dirty="0">
                              <a:solidFill>
                                <a:srgbClr val="000000"/>
                              </a:solidFill>
                            </a:rPr>
                            <a:t> = </a:t>
                          </a:r>
                          <a:r>
                            <a:rPr lang="en-GB" sz="2000" i="1" dirty="0">
                              <a:solidFill>
                                <a:srgbClr val="000000"/>
                              </a:solidFill>
                            </a:rPr>
                            <a:t>b</a:t>
                          </a:r>
                          <a:r>
                            <a:rPr lang="en-GB" sz="2000" dirty="0">
                              <a:solidFill>
                                <a:srgbClr val="000000"/>
                              </a:solidFill>
                            </a:rPr>
                            <a:t> + </a:t>
                          </a:r>
                          <a:r>
                            <a:rPr lang="en-GB" sz="2000" i="1" dirty="0">
                              <a:solidFill>
                                <a:srgbClr val="000000"/>
                              </a:solidFill>
                            </a:rPr>
                            <a:t>c</a:t>
                          </a:r>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114372"/>
                      </a:ext>
                    </a:extLst>
                  </a:tr>
                  <a:tr h="478248">
                    <a:tc>
                      <a:txBody>
                        <a:bodyPr/>
                        <a:lstStyle/>
                        <a:p>
                          <a:pPr algn="ctr"/>
                          <a:r>
                            <a:rPr lang="en-IN" sz="2000" dirty="0">
                              <a:solidFill>
                                <a:srgbClr val="000000"/>
                              </a:solidFill>
                            </a:rPr>
                            <a:t>subtraction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then </a:t>
                          </a:r>
                          <a:r>
                            <a:rPr lang="en-GB" sz="2000" i="1" dirty="0">
                              <a:solidFill>
                                <a:srgbClr val="000000"/>
                              </a:solidFill>
                            </a:rPr>
                            <a:t>a</a:t>
                          </a:r>
                          <a:r>
                            <a:rPr lang="en-GB" sz="2000" dirty="0">
                              <a:solidFill>
                                <a:srgbClr val="000000"/>
                              </a:solidFill>
                            </a:rPr>
                            <a:t> – </a:t>
                          </a:r>
                          <a:r>
                            <a:rPr lang="en-GB" sz="2000" i="1" dirty="0">
                              <a:solidFill>
                                <a:srgbClr val="000000"/>
                              </a:solidFill>
                            </a:rPr>
                            <a:t>c</a:t>
                          </a:r>
                          <a:r>
                            <a:rPr lang="en-GB" sz="2000" dirty="0">
                              <a:solidFill>
                                <a:srgbClr val="000000"/>
                              </a:solidFill>
                            </a:rPr>
                            <a:t> = </a:t>
                          </a:r>
                          <a:r>
                            <a:rPr lang="en-GB" sz="2000" i="1" dirty="0">
                              <a:solidFill>
                                <a:srgbClr val="000000"/>
                              </a:solidFill>
                            </a:rPr>
                            <a:t>b</a:t>
                          </a:r>
                          <a:r>
                            <a:rPr lang="en-GB" sz="2000" dirty="0">
                              <a:solidFill>
                                <a:srgbClr val="000000"/>
                              </a:solidFill>
                            </a:rPr>
                            <a:t> – </a:t>
                          </a:r>
                          <a:r>
                            <a:rPr lang="en-GB" sz="2000" i="1" dirty="0">
                              <a:solidFill>
                                <a:srgbClr val="000000"/>
                              </a:solidFill>
                            </a:rPr>
                            <a:t>c</a:t>
                          </a:r>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9819095"/>
                      </a:ext>
                    </a:extLst>
                  </a:tr>
                  <a:tr h="451899">
                    <a:tc>
                      <a:txBody>
                        <a:bodyPr/>
                        <a:lstStyle/>
                        <a:p>
                          <a:pPr algn="ctr"/>
                          <a:r>
                            <a:rPr lang="en-IN" sz="2000" dirty="0">
                              <a:solidFill>
                                <a:srgbClr val="000000"/>
                              </a:solidFill>
                            </a:rPr>
                            <a:t>multiplication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then </a:t>
                          </a:r>
                          <a:r>
                            <a:rPr lang="en-GB" sz="2000" i="1" dirty="0">
                              <a:solidFill>
                                <a:srgbClr val="000000"/>
                              </a:solidFill>
                            </a:rPr>
                            <a:t>ac</a:t>
                          </a:r>
                          <a:r>
                            <a:rPr lang="en-GB" sz="2000" dirty="0">
                              <a:solidFill>
                                <a:srgbClr val="000000"/>
                              </a:solidFill>
                            </a:rPr>
                            <a:t> = </a:t>
                          </a:r>
                          <a:r>
                            <a:rPr lang="en-GB" sz="2000" i="1" dirty="0" err="1">
                              <a:solidFill>
                                <a:srgbClr val="000000"/>
                              </a:solidFill>
                            </a:rPr>
                            <a:t>bc</a:t>
                          </a:r>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3382655"/>
                      </a:ext>
                    </a:extLst>
                  </a:tr>
                  <a:tr h="605138">
                    <a:tc>
                      <a:txBody>
                        <a:bodyPr/>
                        <a:lstStyle/>
                        <a:p>
                          <a:pPr algn="ctr"/>
                          <a:r>
                            <a:rPr lang="en-IN" sz="2000" dirty="0">
                              <a:solidFill>
                                <a:srgbClr val="000000"/>
                              </a:solidFill>
                            </a:rPr>
                            <a:t>division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and </a:t>
                          </a:r>
                          <a:r>
                            <a:rPr lang="en-GB" sz="2000" i="1" dirty="0">
                              <a:solidFill>
                                <a:srgbClr val="000000"/>
                              </a:solidFill>
                            </a:rPr>
                            <a:t>c</a:t>
                          </a:r>
                          <a:r>
                            <a:rPr lang="en-GB" sz="2000" dirty="0">
                              <a:solidFill>
                                <a:srgbClr val="000000"/>
                              </a:solidFill>
                            </a:rPr>
                            <a:t> </a:t>
                          </a:r>
                          <a:r>
                            <a:rPr lang="en-GB" sz="2000" dirty="0">
                              <a:solidFill>
                                <a:srgbClr val="000000"/>
                              </a:solidFill>
                              <a:latin typeface="Times New Roman" panose="02020603050405020304" pitchFamily="18" charset="0"/>
                              <a:cs typeface="Times New Roman" panose="02020603050405020304" pitchFamily="18" charset="0"/>
                            </a:rPr>
                            <a:t>≠</a:t>
                          </a:r>
                          <a:r>
                            <a:rPr lang="en-GB" sz="2000" dirty="0">
                              <a:solidFill>
                                <a:srgbClr val="000000"/>
                              </a:solidFill>
                            </a:rPr>
                            <a:t> 0, then </a:t>
                          </a:r>
                          <a14:m>
                            <m:oMath xmlns:m="http://schemas.openxmlformats.org/officeDocument/2006/math">
                              <m:f>
                                <m:fPr>
                                  <m:ctrlPr>
                                    <a:rPr lang="en-GB" sz="2000" i="1" smtClean="0">
                                      <a:solidFill>
                                        <a:srgbClr val="000000"/>
                                      </a:solidFill>
                                      <a:latin typeface="Cambria Math" panose="02040503050406030204" pitchFamily="18" charset="0"/>
                                    </a:rPr>
                                  </m:ctrlPr>
                                </m:fPr>
                                <m:num>
                                  <m:r>
                                    <a:rPr lang="en-IN" sz="2000" b="0" i="1" smtClean="0">
                                      <a:solidFill>
                                        <a:srgbClr val="000000"/>
                                      </a:solidFill>
                                      <a:latin typeface="Cambria Math" panose="02040503050406030204" pitchFamily="18" charset="0"/>
                                    </a:rPr>
                                    <m:t>𝑎</m:t>
                                  </m:r>
                                </m:num>
                                <m:den>
                                  <m:r>
                                    <a:rPr lang="en-IN" sz="2000" b="0" i="1" smtClean="0">
                                      <a:solidFill>
                                        <a:srgbClr val="000000"/>
                                      </a:solidFill>
                                      <a:latin typeface="Cambria Math" panose="02040503050406030204" pitchFamily="18" charset="0"/>
                                    </a:rPr>
                                    <m:t>𝑐</m:t>
                                  </m:r>
                                </m:den>
                              </m:f>
                              <m:r>
                                <a:rPr lang="en-IN" sz="2000" b="0" i="1" smtClean="0">
                                  <a:solidFill>
                                    <a:srgbClr val="000000"/>
                                  </a:solidFill>
                                  <a:latin typeface="Cambria Math" panose="02040503050406030204" pitchFamily="18" charset="0"/>
                                </a:rPr>
                                <m:t>=</m:t>
                              </m:r>
                              <m:f>
                                <m:fPr>
                                  <m:ctrlPr>
                                    <a:rPr lang="en-IN" sz="2000" b="0" i="1" smtClean="0">
                                      <a:solidFill>
                                        <a:srgbClr val="000000"/>
                                      </a:solidFill>
                                      <a:latin typeface="Cambria Math" panose="02040503050406030204" pitchFamily="18" charset="0"/>
                                    </a:rPr>
                                  </m:ctrlPr>
                                </m:fPr>
                                <m:num>
                                  <m:r>
                                    <a:rPr lang="en-IN" sz="2000" b="0" i="1" smtClean="0">
                                      <a:solidFill>
                                        <a:srgbClr val="000000"/>
                                      </a:solidFill>
                                      <a:latin typeface="Cambria Math" panose="02040503050406030204" pitchFamily="18" charset="0"/>
                                    </a:rPr>
                                    <m:t>𝑏</m:t>
                                  </m:r>
                                </m:num>
                                <m:den>
                                  <m:r>
                                    <a:rPr lang="en-IN" sz="2000" b="0" i="1" smtClean="0">
                                      <a:solidFill>
                                        <a:srgbClr val="000000"/>
                                      </a:solidFill>
                                      <a:latin typeface="Cambria Math" panose="02040503050406030204" pitchFamily="18" charset="0"/>
                                    </a:rPr>
                                    <m:t>𝑐</m:t>
                                  </m:r>
                                </m:den>
                              </m:f>
                            </m:oMath>
                          </a14:m>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5867636"/>
                      </a:ext>
                    </a:extLst>
                  </a:tr>
                </a:tbl>
              </a:graphicData>
            </a:graphic>
          </p:graphicFrame>
        </mc:Choice>
        <mc:Fallback xmlns="">
          <p:graphicFrame>
            <p:nvGraphicFramePr>
              <p:cNvPr id="3" name="Table 2">
                <a:extLst>
                  <a:ext uri="{FF2B5EF4-FFF2-40B4-BE49-F238E27FC236}">
                    <a16:creationId xmlns:a16="http://schemas.microsoft.com/office/drawing/2014/main" id="{507B7960-A011-59EA-9B7C-B10C12F64BC1}"/>
                  </a:ext>
                </a:extLst>
              </p:cNvPr>
              <p:cNvGraphicFramePr>
                <a:graphicFrameLocks noGrp="1"/>
              </p:cNvGraphicFramePr>
              <p:nvPr>
                <p:extLst>
                  <p:ext uri="{D42A27DB-BD31-4B8C-83A1-F6EECF244321}">
                    <p14:modId xmlns:p14="http://schemas.microsoft.com/office/powerpoint/2010/main" val="3124992691"/>
                  </p:ext>
                </p:extLst>
              </p:nvPr>
            </p:nvGraphicFramePr>
            <p:xfrm>
              <a:off x="2093135" y="3003259"/>
              <a:ext cx="8004142" cy="2491781"/>
            </p:xfrm>
            <a:graphic>
              <a:graphicData uri="http://schemas.openxmlformats.org/drawingml/2006/table">
                <a:tbl>
                  <a:tblPr firstRow="1" bandRow="1">
                    <a:tableStyleId>{5C22544A-7EE6-4342-B048-85BDC9FD1C3A}</a:tableStyleId>
                  </a:tblPr>
                  <a:tblGrid>
                    <a:gridCol w="4002071">
                      <a:extLst>
                        <a:ext uri="{9D8B030D-6E8A-4147-A177-3AD203B41FA5}">
                          <a16:colId xmlns:a16="http://schemas.microsoft.com/office/drawing/2014/main" val="633936936"/>
                        </a:ext>
                      </a:extLst>
                    </a:gridCol>
                    <a:gridCol w="4002071">
                      <a:extLst>
                        <a:ext uri="{9D8B030D-6E8A-4147-A177-3AD203B41FA5}">
                          <a16:colId xmlns:a16="http://schemas.microsoft.com/office/drawing/2014/main" val="809099677"/>
                        </a:ext>
                      </a:extLst>
                    </a:gridCol>
                  </a:tblGrid>
                  <a:tr h="478248">
                    <a:tc>
                      <a:txBody>
                        <a:bodyPr/>
                        <a:lstStyle/>
                        <a:p>
                          <a:pPr algn="ctr"/>
                          <a:r>
                            <a:rPr lang="en-IN" dirty="0">
                              <a:solidFill>
                                <a:srgbClr val="000000"/>
                              </a:solidFill>
                            </a:rPr>
                            <a:t>Properties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DCCD"/>
                        </a:solidFill>
                      </a:tcPr>
                    </a:tc>
                    <a:tc>
                      <a:txBody>
                        <a:bodyPr/>
                        <a:lstStyle/>
                        <a:p>
                          <a:pPr algn="ctr"/>
                          <a:r>
                            <a:rPr lang="en-GB" dirty="0">
                              <a:solidFill>
                                <a:srgbClr val="000000"/>
                              </a:solidFill>
                            </a:rPr>
                            <a:t>For all numbers </a:t>
                          </a:r>
                          <a:r>
                            <a:rPr lang="en-GB" i="1" dirty="0">
                              <a:solidFill>
                                <a:srgbClr val="000000"/>
                              </a:solidFill>
                            </a:rPr>
                            <a:t>a</a:t>
                          </a:r>
                          <a:r>
                            <a:rPr lang="en-GB" dirty="0">
                              <a:solidFill>
                                <a:srgbClr val="000000"/>
                              </a:solidFill>
                            </a:rPr>
                            <a:t>, </a:t>
                          </a:r>
                          <a:r>
                            <a:rPr lang="en-GB" i="1" dirty="0">
                              <a:solidFill>
                                <a:srgbClr val="000000"/>
                              </a:solidFill>
                            </a:rPr>
                            <a:t>b</a:t>
                          </a:r>
                          <a:r>
                            <a:rPr lang="en-GB" dirty="0">
                              <a:solidFill>
                                <a:srgbClr val="000000"/>
                              </a:solidFill>
                            </a:rPr>
                            <a:t>, and </a:t>
                          </a:r>
                          <a:r>
                            <a:rPr lang="en-GB" i="1" dirty="0">
                              <a:solidFill>
                                <a:srgbClr val="000000"/>
                              </a:solidFill>
                            </a:rPr>
                            <a:t>c</a:t>
                          </a:r>
                          <a:endParaRPr lang="en-IN" i="1"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DCCD"/>
                        </a:solidFill>
                      </a:tcPr>
                    </a:tc>
                    <a:extLst>
                      <a:ext uri="{0D108BD9-81ED-4DB2-BD59-A6C34878D82A}">
                        <a16:rowId xmlns:a16="http://schemas.microsoft.com/office/drawing/2014/main" val="3941110779"/>
                      </a:ext>
                    </a:extLst>
                  </a:tr>
                  <a:tr h="478248">
                    <a:tc>
                      <a:txBody>
                        <a:bodyPr/>
                        <a:lstStyle/>
                        <a:p>
                          <a:pPr algn="ctr"/>
                          <a:r>
                            <a:rPr lang="en-IN" sz="2000" dirty="0">
                              <a:solidFill>
                                <a:srgbClr val="000000"/>
                              </a:solidFill>
                            </a:rPr>
                            <a:t>addition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then </a:t>
                          </a:r>
                          <a:r>
                            <a:rPr lang="en-GB" sz="2000" i="1" dirty="0">
                              <a:solidFill>
                                <a:srgbClr val="000000"/>
                              </a:solidFill>
                            </a:rPr>
                            <a:t>a</a:t>
                          </a:r>
                          <a:r>
                            <a:rPr lang="en-GB" sz="2000" dirty="0">
                              <a:solidFill>
                                <a:srgbClr val="000000"/>
                              </a:solidFill>
                            </a:rPr>
                            <a:t> + </a:t>
                          </a:r>
                          <a:r>
                            <a:rPr lang="en-GB" sz="2000" i="1" dirty="0">
                              <a:solidFill>
                                <a:srgbClr val="000000"/>
                              </a:solidFill>
                            </a:rPr>
                            <a:t>c</a:t>
                          </a:r>
                          <a:r>
                            <a:rPr lang="en-GB" sz="2000" dirty="0">
                              <a:solidFill>
                                <a:srgbClr val="000000"/>
                              </a:solidFill>
                            </a:rPr>
                            <a:t> = </a:t>
                          </a:r>
                          <a:r>
                            <a:rPr lang="en-GB" sz="2000" i="1" dirty="0">
                              <a:solidFill>
                                <a:srgbClr val="000000"/>
                              </a:solidFill>
                            </a:rPr>
                            <a:t>b</a:t>
                          </a:r>
                          <a:r>
                            <a:rPr lang="en-GB" sz="2000" dirty="0">
                              <a:solidFill>
                                <a:srgbClr val="000000"/>
                              </a:solidFill>
                            </a:rPr>
                            <a:t> + </a:t>
                          </a:r>
                          <a:r>
                            <a:rPr lang="en-GB" sz="2000" i="1" dirty="0">
                              <a:solidFill>
                                <a:srgbClr val="000000"/>
                              </a:solidFill>
                            </a:rPr>
                            <a:t>c</a:t>
                          </a:r>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114372"/>
                      </a:ext>
                    </a:extLst>
                  </a:tr>
                  <a:tr h="478248">
                    <a:tc>
                      <a:txBody>
                        <a:bodyPr/>
                        <a:lstStyle/>
                        <a:p>
                          <a:pPr algn="ctr"/>
                          <a:r>
                            <a:rPr lang="en-IN" sz="2000" dirty="0">
                              <a:solidFill>
                                <a:srgbClr val="000000"/>
                              </a:solidFill>
                            </a:rPr>
                            <a:t>subtraction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then </a:t>
                          </a:r>
                          <a:r>
                            <a:rPr lang="en-GB" sz="2000" i="1" dirty="0">
                              <a:solidFill>
                                <a:srgbClr val="000000"/>
                              </a:solidFill>
                            </a:rPr>
                            <a:t>a</a:t>
                          </a:r>
                          <a:r>
                            <a:rPr lang="en-GB" sz="2000" dirty="0">
                              <a:solidFill>
                                <a:srgbClr val="000000"/>
                              </a:solidFill>
                            </a:rPr>
                            <a:t> – </a:t>
                          </a:r>
                          <a:r>
                            <a:rPr lang="en-GB" sz="2000" i="1" dirty="0">
                              <a:solidFill>
                                <a:srgbClr val="000000"/>
                              </a:solidFill>
                            </a:rPr>
                            <a:t>c</a:t>
                          </a:r>
                          <a:r>
                            <a:rPr lang="en-GB" sz="2000" dirty="0">
                              <a:solidFill>
                                <a:srgbClr val="000000"/>
                              </a:solidFill>
                            </a:rPr>
                            <a:t> = </a:t>
                          </a:r>
                          <a:r>
                            <a:rPr lang="en-GB" sz="2000" i="1" dirty="0">
                              <a:solidFill>
                                <a:srgbClr val="000000"/>
                              </a:solidFill>
                            </a:rPr>
                            <a:t>b</a:t>
                          </a:r>
                          <a:r>
                            <a:rPr lang="en-GB" sz="2000" dirty="0">
                              <a:solidFill>
                                <a:srgbClr val="000000"/>
                              </a:solidFill>
                            </a:rPr>
                            <a:t> – </a:t>
                          </a:r>
                          <a:r>
                            <a:rPr lang="en-GB" sz="2000" i="1" dirty="0">
                              <a:solidFill>
                                <a:srgbClr val="000000"/>
                              </a:solidFill>
                            </a:rPr>
                            <a:t>c</a:t>
                          </a:r>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9819095"/>
                      </a:ext>
                    </a:extLst>
                  </a:tr>
                  <a:tr h="451899">
                    <a:tc>
                      <a:txBody>
                        <a:bodyPr/>
                        <a:lstStyle/>
                        <a:p>
                          <a:pPr algn="ctr"/>
                          <a:r>
                            <a:rPr lang="en-IN" sz="2000" dirty="0">
                              <a:solidFill>
                                <a:srgbClr val="000000"/>
                              </a:solidFill>
                            </a:rPr>
                            <a:t>multiplication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then </a:t>
                          </a:r>
                          <a:r>
                            <a:rPr lang="en-GB" sz="2000" i="1" dirty="0">
                              <a:solidFill>
                                <a:srgbClr val="000000"/>
                              </a:solidFill>
                            </a:rPr>
                            <a:t>ac</a:t>
                          </a:r>
                          <a:r>
                            <a:rPr lang="en-GB" sz="2000" dirty="0">
                              <a:solidFill>
                                <a:srgbClr val="000000"/>
                              </a:solidFill>
                            </a:rPr>
                            <a:t> = </a:t>
                          </a:r>
                          <a:r>
                            <a:rPr lang="en-GB" sz="2000" i="1" dirty="0" err="1">
                              <a:solidFill>
                                <a:srgbClr val="000000"/>
                              </a:solidFill>
                            </a:rPr>
                            <a:t>bc</a:t>
                          </a:r>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3382655"/>
                      </a:ext>
                    </a:extLst>
                  </a:tr>
                  <a:tr h="605138">
                    <a:tc>
                      <a:txBody>
                        <a:bodyPr/>
                        <a:lstStyle/>
                        <a:p>
                          <a:pPr algn="ctr"/>
                          <a:r>
                            <a:rPr lang="en-IN" sz="2000" dirty="0">
                              <a:solidFill>
                                <a:srgbClr val="000000"/>
                              </a:solidFill>
                            </a:rPr>
                            <a:t>division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152" t="-311000" r="-304" b="-2000"/>
                          </a:stretch>
                        </a:blipFill>
                      </a:tcPr>
                    </a:tc>
                    <a:extLst>
                      <a:ext uri="{0D108BD9-81ED-4DB2-BD59-A6C34878D82A}">
                        <a16:rowId xmlns:a16="http://schemas.microsoft.com/office/drawing/2014/main" val="2085867636"/>
                      </a:ext>
                    </a:extLst>
                  </a:tr>
                </a:tbl>
              </a:graphicData>
            </a:graphic>
          </p:graphicFrame>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347</a:t>
            </a:r>
          </a:p>
        </p:txBody>
      </p:sp>
    </p:spTree>
    <p:extLst>
      <p:ext uri="{BB962C8B-B14F-4D97-AF65-F5344CB8AC3E}">
        <p14:creationId xmlns:p14="http://schemas.microsoft.com/office/powerpoint/2010/main" val="2064367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BC0D9-A028-7352-2174-7987CCB8EC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3774C5-BDD9-BF2C-2254-85EB79D3DF08}"/>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(2 of 9)</a:t>
            </a:r>
          </a:p>
        </p:txBody>
      </p:sp>
      <p:sp>
        <p:nvSpPr>
          <p:cNvPr id="2" name="Text Placeholder 2">
            <a:extLst>
              <a:ext uri="{FF2B5EF4-FFF2-40B4-BE49-F238E27FC236}">
                <a16:creationId xmlns:a16="http://schemas.microsoft.com/office/drawing/2014/main" id="{10296D85-483E-19A7-C491-BCA9C654364E}"/>
              </a:ext>
            </a:extLst>
          </p:cNvPr>
          <p:cNvSpPr txBox="1">
            <a:spLocks/>
          </p:cNvSpPr>
          <p:nvPr/>
        </p:nvSpPr>
        <p:spPr>
          <a:xfrm>
            <a:off x="777240" y="1590363"/>
            <a:ext cx="9890759" cy="12099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rPr>
              <a:t>Harper and Sofia both created new equations starting from the solution statement </a:t>
            </a:r>
            <a:r>
              <a:rPr lang="en-GB" sz="2800" i="1" dirty="0">
                <a:solidFill>
                  <a:srgbClr val="000000"/>
                </a:solidFill>
              </a:rPr>
              <a:t>x</a:t>
            </a:r>
            <a:r>
              <a:rPr lang="en-GB" sz="2800" dirty="0">
                <a:solidFill>
                  <a:srgbClr val="000000"/>
                </a:solidFill>
              </a:rPr>
              <a:t> = 2.</a:t>
            </a:r>
            <a:endParaRPr lang="en-US" sz="2800" dirty="0">
              <a:solidFill>
                <a:srgbClr val="000000"/>
              </a:solidFill>
            </a:endParaRPr>
          </a:p>
        </p:txBody>
      </p:sp>
      <p:pic>
        <p:nvPicPr>
          <p:cNvPr id="5" name="Picture 4" descr="Thumbs up.&#10;Harper.&#10;Negative 3 x plus 14 equals 18 minus 5 x.">
            <a:extLst>
              <a:ext uri="{FF2B5EF4-FFF2-40B4-BE49-F238E27FC236}">
                <a16:creationId xmlns:a16="http://schemas.microsoft.com/office/drawing/2014/main" id="{6008B1AC-E502-74FB-545C-73AB3125FA03}"/>
              </a:ext>
              <a:ext uri="{C183D7F6-B498-43B3-948B-1728B52AA6E4}">
                <adec:decorative xmlns:adec="http://schemas.microsoft.com/office/drawing/2017/decorative" val="0"/>
              </a:ext>
            </a:extLst>
          </p:cNvPr>
          <p:cNvPicPr>
            <a:picLocks noChangeAspect="1"/>
          </p:cNvPicPr>
          <p:nvPr/>
        </p:nvPicPr>
        <p:blipFill>
          <a:blip r:embed="rId3"/>
          <a:srcRect l="1562" t="6665" r="52625" b="5128"/>
          <a:stretch/>
        </p:blipFill>
        <p:spPr>
          <a:xfrm>
            <a:off x="1652631" y="2927758"/>
            <a:ext cx="3816992" cy="1686187"/>
          </a:xfrm>
          <a:prstGeom prst="rect">
            <a:avLst/>
          </a:prstGeom>
        </p:spPr>
      </p:pic>
      <p:pic>
        <p:nvPicPr>
          <p:cNvPr id="3" name="Picture 2" descr="Thumbs up.&#10;Sofia.&#10;2 x equals 5 minus one-half x.">
            <a:extLst>
              <a:ext uri="{FF2B5EF4-FFF2-40B4-BE49-F238E27FC236}">
                <a16:creationId xmlns:a16="http://schemas.microsoft.com/office/drawing/2014/main" id="{4FA4090D-62CF-2AA4-D7F3-0091A28DB9B6}"/>
              </a:ext>
              <a:ext uri="{C183D7F6-B498-43B3-948B-1728B52AA6E4}">
                <adec:decorative xmlns:adec="http://schemas.microsoft.com/office/drawing/2017/decorative" val="0"/>
              </a:ext>
            </a:extLst>
          </p:cNvPr>
          <p:cNvPicPr>
            <a:picLocks noChangeAspect="1"/>
          </p:cNvPicPr>
          <p:nvPr/>
        </p:nvPicPr>
        <p:blipFill>
          <a:blip r:embed="rId3"/>
          <a:srcRect l="52914" t="6664" r="1274" b="5129"/>
          <a:stretch/>
        </p:blipFill>
        <p:spPr>
          <a:xfrm>
            <a:off x="5931018" y="2927758"/>
            <a:ext cx="3816992" cy="1686187"/>
          </a:xfrm>
          <a:prstGeom prst="rect">
            <a:avLst/>
          </a:prstGeom>
        </p:spPr>
      </p:pic>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
        <p:nvSpPr>
          <p:cNvPr id="1006" name="Answer 100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347</a:t>
            </a:r>
          </a:p>
        </p:txBody>
      </p:sp>
    </p:spTree>
    <p:extLst>
      <p:ext uri="{BB962C8B-B14F-4D97-AF65-F5344CB8AC3E}">
        <p14:creationId xmlns:p14="http://schemas.microsoft.com/office/powerpoint/2010/main" val="3584781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804D6-CF0A-8843-ACEC-C365A48FDF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CBEDC1-30E5-9EFA-0385-913C724C84DE}"/>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(3 of 9)</a:t>
            </a:r>
          </a:p>
        </p:txBody>
      </p:sp>
      <p:sp>
        <p:nvSpPr>
          <p:cNvPr id="2" name="Text Placeholder 2">
            <a:extLst>
              <a:ext uri="{FF2B5EF4-FFF2-40B4-BE49-F238E27FC236}">
                <a16:creationId xmlns:a16="http://schemas.microsoft.com/office/drawing/2014/main" id="{404540B5-9213-3FC7-1FC6-05937BF26383}"/>
              </a:ext>
            </a:extLst>
          </p:cNvPr>
          <p:cNvSpPr txBox="1">
            <a:spLocks/>
          </p:cNvSpPr>
          <p:nvPr/>
        </p:nvSpPr>
        <p:spPr>
          <a:xfrm>
            <a:off x="777240" y="1610686"/>
            <a:ext cx="9653693" cy="392679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GB" sz="2800" dirty="0">
                <a:solidFill>
                  <a:srgbClr val="000000"/>
                </a:solidFill>
              </a:rPr>
              <a:t>Verify that both equations are equivalent to </a:t>
            </a:r>
            <a:r>
              <a:rPr lang="en-GB" sz="2800" i="1" dirty="0">
                <a:solidFill>
                  <a:srgbClr val="000000"/>
                </a:solidFill>
              </a:rPr>
              <a:t>x</a:t>
            </a:r>
            <a:r>
              <a:rPr lang="en-GB" sz="2800" dirty="0">
                <a:solidFill>
                  <a:srgbClr val="000000"/>
                </a:solidFill>
              </a:rPr>
              <a:t> = 2 using the given strategy.</a:t>
            </a:r>
          </a:p>
          <a:p>
            <a:pPr marL="1036800" indent="-514350">
              <a:buFont typeface="+mj-lt"/>
              <a:buAutoNum type="alphaLcPeriod"/>
            </a:pPr>
            <a:r>
              <a:rPr lang="en-GB" sz="2800" dirty="0">
                <a:solidFill>
                  <a:srgbClr val="000000"/>
                </a:solidFill>
              </a:rPr>
              <a:t>substitution			b.   properties of equality</a:t>
            </a:r>
          </a:p>
          <a:p>
            <a:pPr marL="0" indent="0">
              <a:buNone/>
            </a:pPr>
            <a:endParaRPr lang="en-GB" sz="2800" dirty="0">
              <a:solidFill>
                <a:srgbClr val="000000"/>
              </a:solidFill>
            </a:endParaRPr>
          </a:p>
          <a:p>
            <a:pPr marL="0" indent="0">
              <a:buNone/>
            </a:pPr>
            <a:endParaRPr lang="en-US" sz="2800" dirty="0">
              <a:solidFill>
                <a:srgbClr val="000000"/>
              </a:solidFill>
            </a:endParaRPr>
          </a:p>
          <a:p>
            <a:pPr marL="0" indent="0">
              <a:buNone/>
            </a:pPr>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347</a:t>
            </a:r>
          </a:p>
        </p:txBody>
      </p:sp>
      <p:sp>
        <p:nvSpPr>
          <p:cNvPr id="1006" name="Answer 1006"/>
          <p:cNvSpPr txBox="1"/>
          <p:nvPr/>
        </p:nvSpPr>
        <p:spPr>
          <a:xfrm>
            <a:off x="1301750" y="3175000"/>
            <a:ext cx="4699000" cy="209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a. Harper: −3(2) + 14 = 18 − 5(2) → 8 = 8</a:t>
            </a:r>
          </a:p>
          <a:p>
            <a:pPr marL="0" indent="0" algn="l">
              <a:spcBef>
                <a:spcPts val="0"/>
              </a:spcBef>
              <a:spcAft>
                <a:spcPts val="300"/>
              </a:spcAft>
              <a:buNone/>
            </a:pPr>
            <a:r>
              <a:rPr lang="en-US" sz="1800" dirty="0">
                <a:solidFill>
                  <a:srgbClr val="FF0000"/>
                </a:solidFill>
              </a:rPr>
              <a:t>Sofia: 2(2) = 5 − ½(2) → 4 = 4</a:t>
            </a:r>
          </a:p>
        </p:txBody>
      </p:sp>
      <p:sp>
        <p:nvSpPr>
          <p:cNvPr id="1007" name="Answer 1007"/>
          <p:cNvSpPr txBox="1"/>
          <p:nvPr/>
        </p:nvSpPr>
        <p:spPr>
          <a:xfrm>
            <a:off x="6261100" y="3175000"/>
            <a:ext cx="5270500" cy="209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b. Harper: subtract 14, add 5x: 2x = 4, so x = 2</a:t>
            </a:r>
          </a:p>
          <a:p>
            <a:pPr marL="0" indent="0" algn="l">
              <a:spcBef>
                <a:spcPts val="0"/>
              </a:spcBef>
              <a:spcAft>
                <a:spcPts val="300"/>
              </a:spcAft>
              <a:buNone/>
            </a:pPr>
            <a:r>
              <a:rPr lang="en-US" sz="1800" dirty="0">
                <a:solidFill>
                  <a:srgbClr val="FF0000"/>
                </a:solidFill>
              </a:rPr>
              <a:t>Sofia: add ½x: (5/2)x = 5, multiply by 2/5: x = 2</a:t>
            </a:r>
          </a:p>
        </p:txBody>
      </p:sp>
    </p:spTree>
    <p:extLst>
      <p:ext uri="{BB962C8B-B14F-4D97-AF65-F5344CB8AC3E}">
        <p14:creationId xmlns:p14="http://schemas.microsoft.com/office/powerpoint/2010/main" val="88655951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E6C53-FEB0-6A20-3C71-88B261640C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FA9C363-71FF-9182-D019-D70B87BCC1E6}"/>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(4 of 9)</a:t>
            </a:r>
          </a:p>
        </p:txBody>
      </p:sp>
      <p:sp>
        <p:nvSpPr>
          <p:cNvPr id="3" name="Text Placeholder 2">
            <a:extLst>
              <a:ext uri="{FF2B5EF4-FFF2-40B4-BE49-F238E27FC236}">
                <a16:creationId xmlns:a16="http://schemas.microsoft.com/office/drawing/2014/main" id="{B24AB720-F018-9905-A58C-B9BAB7F0C84D}"/>
              </a:ext>
            </a:extLst>
          </p:cNvPr>
          <p:cNvSpPr txBox="1">
            <a:spLocks/>
          </p:cNvSpPr>
          <p:nvPr/>
        </p:nvSpPr>
        <p:spPr>
          <a:xfrm>
            <a:off x="777240" y="1614367"/>
            <a:ext cx="10354951" cy="153989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rPr>
              <a:t>There are also basic number properties that you are already familiar with that can be used to justify your steps when solving equations.</a:t>
            </a:r>
            <a:endParaRPr lang="en-US" sz="2800" dirty="0">
              <a:solidFill>
                <a:srgbClr val="000000"/>
              </a:solidFill>
            </a:endParaRPr>
          </a:p>
        </p:txBody>
      </p:sp>
      <p:graphicFrame>
        <p:nvGraphicFramePr>
          <p:cNvPr id="5" name="Table 4">
            <a:extLst>
              <a:ext uri="{FF2B5EF4-FFF2-40B4-BE49-F238E27FC236}">
                <a16:creationId xmlns:a16="http://schemas.microsoft.com/office/drawing/2014/main" id="{1F393DB6-A81F-BA5C-EDB5-120C13C57FA0}"/>
              </a:ext>
            </a:extLst>
          </p:cNvPr>
          <p:cNvGraphicFramePr>
            <a:graphicFrameLocks noGrp="1"/>
          </p:cNvGraphicFramePr>
          <p:nvPr>
            <p:extLst>
              <p:ext uri="{D42A27DB-BD31-4B8C-83A1-F6EECF244321}">
                <p14:modId xmlns:p14="http://schemas.microsoft.com/office/powerpoint/2010/main" val="3695640678"/>
              </p:ext>
            </p:extLst>
          </p:nvPr>
        </p:nvGraphicFramePr>
        <p:xfrm>
          <a:off x="2596135" y="3003165"/>
          <a:ext cx="6998142" cy="2240468"/>
        </p:xfrm>
        <a:graphic>
          <a:graphicData uri="http://schemas.openxmlformats.org/drawingml/2006/table">
            <a:tbl>
              <a:tblPr firstRow="1" bandRow="1">
                <a:tableStyleId>{5C22544A-7EE6-4342-B048-85BDC9FD1C3A}</a:tableStyleId>
              </a:tblPr>
              <a:tblGrid>
                <a:gridCol w="3499071">
                  <a:extLst>
                    <a:ext uri="{9D8B030D-6E8A-4147-A177-3AD203B41FA5}">
                      <a16:colId xmlns:a16="http://schemas.microsoft.com/office/drawing/2014/main" val="633936936"/>
                    </a:ext>
                  </a:extLst>
                </a:gridCol>
                <a:gridCol w="3499071">
                  <a:extLst>
                    <a:ext uri="{9D8B030D-6E8A-4147-A177-3AD203B41FA5}">
                      <a16:colId xmlns:a16="http://schemas.microsoft.com/office/drawing/2014/main" val="809099677"/>
                    </a:ext>
                  </a:extLst>
                </a:gridCol>
              </a:tblGrid>
              <a:tr h="419194">
                <a:tc>
                  <a:txBody>
                    <a:bodyPr/>
                    <a:lstStyle/>
                    <a:p>
                      <a:pPr algn="ctr"/>
                      <a:r>
                        <a:rPr lang="en-IN" sz="2000" dirty="0">
                          <a:solidFill>
                            <a:srgbClr val="000000"/>
                          </a:solidFill>
                        </a:rPr>
                        <a:t>Number Properties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DCCD"/>
                    </a:solidFill>
                  </a:tcPr>
                </a:tc>
                <a:tc>
                  <a:txBody>
                    <a:bodyPr/>
                    <a:lstStyle/>
                    <a:p>
                      <a:pPr algn="ctr"/>
                      <a:r>
                        <a:rPr lang="en-GB" sz="2000" dirty="0">
                          <a:solidFill>
                            <a:srgbClr val="000000"/>
                          </a:solidFill>
                        </a:rPr>
                        <a:t>For all numbers </a:t>
                      </a:r>
                      <a:r>
                        <a:rPr lang="en-GB" sz="2000" i="1" dirty="0">
                          <a:solidFill>
                            <a:srgbClr val="000000"/>
                          </a:solidFill>
                        </a:rPr>
                        <a:t>a</a:t>
                      </a:r>
                      <a:r>
                        <a:rPr lang="en-GB" sz="2000" dirty="0">
                          <a:solidFill>
                            <a:srgbClr val="000000"/>
                          </a:solidFill>
                        </a:rPr>
                        <a:t>, </a:t>
                      </a:r>
                      <a:r>
                        <a:rPr lang="en-GB" sz="2000" i="1" dirty="0">
                          <a:solidFill>
                            <a:srgbClr val="000000"/>
                          </a:solidFill>
                        </a:rPr>
                        <a:t>b</a:t>
                      </a:r>
                      <a:r>
                        <a:rPr lang="en-GB" sz="2000" dirty="0">
                          <a:solidFill>
                            <a:srgbClr val="000000"/>
                          </a:solidFill>
                        </a:rPr>
                        <a:t>, and </a:t>
                      </a:r>
                      <a:r>
                        <a:rPr lang="en-GB" sz="2000" i="1" dirty="0">
                          <a:solidFill>
                            <a:srgbClr val="000000"/>
                          </a:solidFill>
                        </a:rPr>
                        <a:t>c</a:t>
                      </a:r>
                      <a:endParaRPr lang="en-IN" sz="2000" i="1"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DCCD"/>
                    </a:solidFill>
                  </a:tcPr>
                </a:tc>
                <a:extLst>
                  <a:ext uri="{0D108BD9-81ED-4DB2-BD59-A6C34878D82A}">
                    <a16:rowId xmlns:a16="http://schemas.microsoft.com/office/drawing/2014/main" val="3941110779"/>
                  </a:ext>
                </a:extLst>
              </a:tr>
              <a:tr h="419194">
                <a:tc>
                  <a:txBody>
                    <a:bodyPr/>
                    <a:lstStyle/>
                    <a:p>
                      <a:r>
                        <a:rPr lang="en-IN" sz="2000" dirty="0">
                          <a:solidFill>
                            <a:srgbClr val="000000"/>
                          </a:solidFill>
                        </a:rPr>
                        <a:t>commutative property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 </a:t>
                      </a:r>
                      <a:r>
                        <a:rPr lang="en-GB" sz="2000" i="1" dirty="0">
                          <a:solidFill>
                            <a:srgbClr val="000000"/>
                          </a:solidFill>
                        </a:rPr>
                        <a:t>b</a:t>
                      </a:r>
                      <a:r>
                        <a:rPr lang="en-GB" sz="2000" dirty="0">
                          <a:solidFill>
                            <a:srgbClr val="000000"/>
                          </a:solidFill>
                        </a:rPr>
                        <a:t> + </a:t>
                      </a:r>
                      <a:r>
                        <a:rPr lang="en-GB" sz="2000" i="1" dirty="0">
                          <a:solidFill>
                            <a:srgbClr val="000000"/>
                          </a:solidFill>
                        </a:rPr>
                        <a:t>a</a:t>
                      </a:r>
                    </a:p>
                    <a:p>
                      <a:pPr algn="ctr"/>
                      <a:r>
                        <a:rPr lang="en-GB" sz="2000" i="1" dirty="0">
                          <a:solidFill>
                            <a:srgbClr val="000000"/>
                          </a:solidFill>
                        </a:rPr>
                        <a:t>ab = </a:t>
                      </a:r>
                      <a:r>
                        <a:rPr lang="en-GB" sz="2000" i="1" dirty="0" err="1">
                          <a:solidFill>
                            <a:srgbClr val="000000"/>
                          </a:solidFill>
                        </a:rPr>
                        <a:t>ba</a:t>
                      </a:r>
                      <a:r>
                        <a:rPr lang="en-GB" sz="2000" i="1" dirty="0">
                          <a:solidFill>
                            <a:srgbClr val="000000"/>
                          </a:solidFill>
                        </a:rPr>
                        <a:t> </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114372"/>
                  </a:ext>
                </a:extLst>
              </a:tr>
              <a:tr h="419194">
                <a:tc>
                  <a:txBody>
                    <a:bodyPr/>
                    <a:lstStyle/>
                    <a:p>
                      <a:r>
                        <a:rPr lang="en-IN" sz="2000" dirty="0">
                          <a:solidFill>
                            <a:srgbClr val="000000"/>
                          </a:solidFill>
                        </a:rPr>
                        <a:t>associative property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i="1" dirty="0">
                          <a:solidFill>
                            <a:srgbClr val="000000"/>
                          </a:solidFill>
                        </a:rPr>
                        <a:t>a</a:t>
                      </a:r>
                      <a:r>
                        <a:rPr lang="pt-BR" sz="2000" dirty="0">
                          <a:solidFill>
                            <a:srgbClr val="000000"/>
                          </a:solidFill>
                        </a:rPr>
                        <a:t> + (</a:t>
                      </a:r>
                      <a:r>
                        <a:rPr lang="pt-BR" sz="2000" i="1" dirty="0">
                          <a:solidFill>
                            <a:srgbClr val="000000"/>
                          </a:solidFill>
                        </a:rPr>
                        <a:t>b</a:t>
                      </a:r>
                      <a:r>
                        <a:rPr lang="pt-BR" sz="2000" dirty="0">
                          <a:solidFill>
                            <a:srgbClr val="000000"/>
                          </a:solidFill>
                        </a:rPr>
                        <a:t> + </a:t>
                      </a:r>
                      <a:r>
                        <a:rPr lang="pt-BR" sz="2000" i="1" dirty="0">
                          <a:solidFill>
                            <a:srgbClr val="000000"/>
                          </a:solidFill>
                        </a:rPr>
                        <a:t>c</a:t>
                      </a:r>
                      <a:r>
                        <a:rPr lang="pt-BR" sz="2000" dirty="0">
                          <a:solidFill>
                            <a:srgbClr val="000000"/>
                          </a:solidFill>
                        </a:rPr>
                        <a:t>) = (</a:t>
                      </a:r>
                      <a:r>
                        <a:rPr lang="pt-BR" sz="2000" i="1" dirty="0">
                          <a:solidFill>
                            <a:srgbClr val="000000"/>
                          </a:solidFill>
                        </a:rPr>
                        <a:t>a</a:t>
                      </a:r>
                      <a:r>
                        <a:rPr lang="pt-BR" sz="2000" dirty="0">
                          <a:solidFill>
                            <a:srgbClr val="000000"/>
                          </a:solidFill>
                        </a:rPr>
                        <a:t> + </a:t>
                      </a:r>
                      <a:r>
                        <a:rPr lang="pt-BR" sz="2000" i="1" dirty="0">
                          <a:solidFill>
                            <a:srgbClr val="000000"/>
                          </a:solidFill>
                        </a:rPr>
                        <a:t>b</a:t>
                      </a:r>
                      <a:r>
                        <a:rPr lang="pt-BR" sz="2000" dirty="0">
                          <a:solidFill>
                            <a:srgbClr val="000000"/>
                          </a:solidFill>
                        </a:rPr>
                        <a:t>) + </a:t>
                      </a:r>
                      <a:r>
                        <a:rPr lang="pt-BR" sz="2000" i="1" dirty="0">
                          <a:solidFill>
                            <a:srgbClr val="000000"/>
                          </a:solidFill>
                        </a:rPr>
                        <a:t>c</a:t>
                      </a:r>
                    </a:p>
                    <a:p>
                      <a:pPr algn="ctr"/>
                      <a:r>
                        <a:rPr lang="pt-BR" sz="2000" i="1" dirty="0">
                          <a:solidFill>
                            <a:srgbClr val="000000"/>
                          </a:solidFill>
                        </a:rPr>
                        <a:t>a</a:t>
                      </a:r>
                      <a:r>
                        <a:rPr lang="pt-BR" sz="2000" dirty="0">
                          <a:solidFill>
                            <a:srgbClr val="000000"/>
                          </a:solidFill>
                        </a:rPr>
                        <a:t>(</a:t>
                      </a:r>
                      <a:r>
                        <a:rPr lang="pt-BR" sz="2000" i="1" dirty="0">
                          <a:solidFill>
                            <a:srgbClr val="000000"/>
                          </a:solidFill>
                        </a:rPr>
                        <a:t>bc</a:t>
                      </a:r>
                      <a:r>
                        <a:rPr lang="pt-BR" sz="2000" dirty="0">
                          <a:solidFill>
                            <a:srgbClr val="000000"/>
                          </a:solidFill>
                        </a:rPr>
                        <a:t>) = (</a:t>
                      </a:r>
                      <a:r>
                        <a:rPr lang="pt-BR" sz="2000" i="1" dirty="0">
                          <a:solidFill>
                            <a:srgbClr val="000000"/>
                          </a:solidFill>
                        </a:rPr>
                        <a:t>ab</a:t>
                      </a:r>
                      <a:r>
                        <a:rPr lang="pt-BR" sz="2000" dirty="0">
                          <a:solidFill>
                            <a:srgbClr val="000000"/>
                          </a:solidFill>
                        </a:rPr>
                        <a:t>)</a:t>
                      </a:r>
                      <a:r>
                        <a:rPr lang="pt-BR" sz="2000" i="1" dirty="0">
                          <a:solidFill>
                            <a:srgbClr val="000000"/>
                          </a:solidFill>
                        </a:rPr>
                        <a:t>c</a:t>
                      </a:r>
                      <a:endParaRPr lang="en-IN" sz="2000" i="1"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9819095"/>
                  </a:ext>
                </a:extLst>
              </a:tr>
              <a:tr h="419194">
                <a:tc>
                  <a:txBody>
                    <a:bodyPr/>
                    <a:lstStyle/>
                    <a:p>
                      <a:r>
                        <a:rPr lang="en-IN" sz="2000" dirty="0">
                          <a:solidFill>
                            <a:srgbClr val="000000"/>
                          </a:solidFill>
                        </a:rPr>
                        <a:t>distributive property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i="1" dirty="0">
                          <a:solidFill>
                            <a:srgbClr val="000000"/>
                          </a:solidFill>
                        </a:rPr>
                        <a:t>a</a:t>
                      </a:r>
                      <a:r>
                        <a:rPr lang="pt-BR" sz="2000" dirty="0">
                          <a:solidFill>
                            <a:srgbClr val="000000"/>
                          </a:solidFill>
                        </a:rPr>
                        <a:t>(</a:t>
                      </a:r>
                      <a:r>
                        <a:rPr lang="pt-BR" sz="2000" i="1" dirty="0">
                          <a:solidFill>
                            <a:srgbClr val="000000"/>
                          </a:solidFill>
                        </a:rPr>
                        <a:t>b</a:t>
                      </a:r>
                      <a:r>
                        <a:rPr lang="pt-BR" sz="2000" dirty="0">
                          <a:solidFill>
                            <a:srgbClr val="000000"/>
                          </a:solidFill>
                        </a:rPr>
                        <a:t> + </a:t>
                      </a:r>
                      <a:r>
                        <a:rPr lang="pt-BR" sz="2000" i="1" dirty="0">
                          <a:solidFill>
                            <a:srgbClr val="000000"/>
                          </a:solidFill>
                        </a:rPr>
                        <a:t>c</a:t>
                      </a:r>
                      <a:r>
                        <a:rPr lang="pt-BR" sz="2000" dirty="0">
                          <a:solidFill>
                            <a:srgbClr val="000000"/>
                          </a:solidFill>
                        </a:rPr>
                        <a:t>) = </a:t>
                      </a:r>
                      <a:r>
                        <a:rPr lang="pt-BR" sz="2000" i="1" dirty="0">
                          <a:solidFill>
                            <a:srgbClr val="000000"/>
                          </a:solidFill>
                        </a:rPr>
                        <a:t>ab</a:t>
                      </a:r>
                      <a:r>
                        <a:rPr lang="pt-BR" sz="2000" dirty="0">
                          <a:solidFill>
                            <a:srgbClr val="000000"/>
                          </a:solidFill>
                        </a:rPr>
                        <a:t> + </a:t>
                      </a:r>
                      <a:r>
                        <a:rPr lang="pt-BR" sz="2000" i="1" dirty="0">
                          <a:solidFill>
                            <a:srgbClr val="000000"/>
                          </a:solidFill>
                        </a:rPr>
                        <a:t>ac</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3382655"/>
                  </a:ext>
                </a:extLst>
              </a:tr>
            </a:tbl>
          </a:graphicData>
        </a:graphic>
      </p:graphicFrame>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
        <p:nvSpPr>
          <p:cNvPr id="1006" name="Answer 100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348</a:t>
            </a:r>
          </a:p>
        </p:txBody>
      </p:sp>
    </p:spTree>
    <p:extLst>
      <p:ext uri="{BB962C8B-B14F-4D97-AF65-F5344CB8AC3E}">
        <p14:creationId xmlns:p14="http://schemas.microsoft.com/office/powerpoint/2010/main" val="3151751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4E675-47F9-CD15-B950-975947AEE3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9A371E-F997-7466-AA15-58383A3CDBAC}"/>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(5 of 9)</a:t>
            </a:r>
          </a:p>
        </p:txBody>
      </p:sp>
      <p:sp>
        <p:nvSpPr>
          <p:cNvPr id="2" name="TextBox 1">
            <a:extLst>
              <a:ext uri="{FF2B5EF4-FFF2-40B4-BE49-F238E27FC236}">
                <a16:creationId xmlns:a16="http://schemas.microsoft.com/office/drawing/2014/main" id="{6455E960-8679-CE24-ECBE-44693170C287}"/>
              </a:ext>
            </a:extLst>
          </p:cNvPr>
          <p:cNvSpPr txBox="1"/>
          <p:nvPr/>
        </p:nvSpPr>
        <p:spPr>
          <a:xfrm>
            <a:off x="777240" y="1599154"/>
            <a:ext cx="2363328" cy="2246769"/>
          </a:xfrm>
          <a:prstGeom prst="rect">
            <a:avLst/>
          </a:prstGeom>
          <a:noFill/>
          <a:ln w="31750">
            <a:solidFill>
              <a:srgbClr val="008F4C"/>
            </a:solidFill>
            <a:prstDash val="sysDot"/>
          </a:ln>
        </p:spPr>
        <p:txBody>
          <a:bodyPr wrap="square" rtlCol="0">
            <a:spAutoFit/>
          </a:bodyPr>
          <a:lstStyle/>
          <a:p>
            <a:r>
              <a:rPr lang="en-GB" sz="2000" dirty="0">
                <a:solidFill>
                  <a:srgbClr val="000000"/>
                </a:solidFill>
              </a:rPr>
              <a:t>Justifying your steps with the properties  of equality will better prepare</a:t>
            </a:r>
            <a:br>
              <a:rPr lang="en-GB" sz="2000" dirty="0">
                <a:solidFill>
                  <a:srgbClr val="000000"/>
                </a:solidFill>
              </a:rPr>
            </a:br>
            <a:r>
              <a:rPr lang="en-GB" sz="2000" dirty="0">
                <a:solidFill>
                  <a:srgbClr val="000000"/>
                </a:solidFill>
              </a:rPr>
              <a:t>you for writing geometrical proofs in future courses.</a:t>
            </a:r>
            <a:endParaRPr lang="en-US" sz="2000" dirty="0">
              <a:solidFill>
                <a:srgbClr val="000000"/>
              </a:solidFill>
            </a:endParaRPr>
          </a:p>
        </p:txBody>
      </p:sp>
      <p:sp>
        <p:nvSpPr>
          <p:cNvPr id="3" name="Text Placeholder 2">
            <a:extLst>
              <a:ext uri="{FF2B5EF4-FFF2-40B4-BE49-F238E27FC236}">
                <a16:creationId xmlns:a16="http://schemas.microsoft.com/office/drawing/2014/main" id="{02871090-19F4-6FBF-51AD-DD2D31FBE27D}"/>
              </a:ext>
            </a:extLst>
          </p:cNvPr>
          <p:cNvSpPr txBox="1">
            <a:spLocks/>
          </p:cNvSpPr>
          <p:nvPr/>
        </p:nvSpPr>
        <p:spPr>
          <a:xfrm>
            <a:off x="3582099" y="1599154"/>
            <a:ext cx="7550092" cy="427428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GB" sz="2800" dirty="0">
                <a:solidFill>
                  <a:srgbClr val="000000"/>
                </a:solidFill>
              </a:rPr>
              <a:t>Solve each equation and check your solution. Write the properties that justify each step of your solving strategy.</a:t>
            </a:r>
          </a:p>
          <a:p>
            <a:pPr marL="1036800" indent="-514350">
              <a:buFont typeface="+mj-lt"/>
              <a:buAutoNum type="alphaLcPeriod"/>
            </a:pPr>
            <a:r>
              <a:rPr lang="en-GB" sz="2800" dirty="0">
                <a:solidFill>
                  <a:srgbClr val="000000"/>
                </a:solidFill>
              </a:rPr>
              <a:t>24</a:t>
            </a:r>
            <a:r>
              <a:rPr lang="en-GB" sz="2800" i="1" dirty="0">
                <a:solidFill>
                  <a:srgbClr val="000000"/>
                </a:solidFill>
              </a:rPr>
              <a:t>x</a:t>
            </a:r>
            <a:r>
              <a:rPr lang="en-GB" sz="2800" dirty="0">
                <a:solidFill>
                  <a:srgbClr val="000000"/>
                </a:solidFill>
              </a:rPr>
              <a:t> + 7 = –4</a:t>
            </a:r>
            <a:r>
              <a:rPr lang="en-GB" sz="2800" i="1" dirty="0">
                <a:solidFill>
                  <a:srgbClr val="000000"/>
                </a:solidFill>
              </a:rPr>
              <a:t>x</a:t>
            </a:r>
          </a:p>
          <a:p>
            <a:pPr marL="1036800" lvl="1" indent="0">
              <a:lnSpc>
                <a:spcPct val="100000"/>
              </a:lnSpc>
              <a:spcBef>
                <a:spcPts val="200"/>
              </a:spcBef>
              <a:spcAft>
                <a:spcPts val="600"/>
              </a:spcAft>
              <a:buNone/>
            </a:pPr>
            <a:r>
              <a:rPr lang="en-US" sz="1800" dirty="0">
                <a:solidFill>
                  <a:srgbClr val="FF0000"/>
                </a:solidFill>
              </a:rPr>
              <a:t>Add 4x (addition property): 28x + 7 = 0. Subtract 7 (subtraction property): 28x = −7. Divide by 28 (division property): x = −¼.</a:t>
            </a:r>
          </a:p>
          <a:p>
            <a:pPr marL="0" indent="0">
              <a:buNone/>
            </a:pPr>
            <a:endParaRPr lang="en-US" sz="2800" dirty="0">
              <a:solidFill>
                <a:srgbClr val="000000"/>
              </a:solidFill>
            </a:endParaRPr>
          </a:p>
          <a:p>
            <a:pPr marL="0" indent="0">
              <a:buNone/>
            </a:pPr>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348</a:t>
            </a:r>
          </a:p>
        </p:txBody>
      </p:sp>
    </p:spTree>
    <p:extLst>
      <p:ext uri="{BB962C8B-B14F-4D97-AF65-F5344CB8AC3E}">
        <p14:creationId xmlns:p14="http://schemas.microsoft.com/office/powerpoint/2010/main" val="257860665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A1A92-CDC2-BD24-0870-927F762A20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881AFB5-8DF6-A94F-A18D-1FA022D902EE}"/>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(6 of 9)</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58D1FC1A-892B-9EA6-6F37-0D6A7B25FBB3}"/>
                  </a:ext>
                </a:extLst>
              </p:cNvPr>
              <p:cNvSpPr txBox="1">
                <a:spLocks/>
              </p:cNvSpPr>
              <p:nvPr/>
            </p:nvSpPr>
            <p:spPr>
              <a:xfrm>
                <a:off x="777240" y="1616335"/>
                <a:ext cx="10026227" cy="427428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GB" sz="2800" dirty="0">
                    <a:solidFill>
                      <a:srgbClr val="000000"/>
                    </a:solidFill>
                  </a:rPr>
                  <a:t> 0.6(2</a:t>
                </a:r>
                <a:r>
                  <a:rPr lang="en-GB" sz="2800" i="1" dirty="0">
                    <a:solidFill>
                      <a:srgbClr val="000000"/>
                    </a:solidFill>
                  </a:rPr>
                  <a:t>x</a:t>
                </a:r>
                <a:r>
                  <a:rPr lang="en-GB" sz="2800" dirty="0">
                    <a:solidFill>
                      <a:srgbClr val="000000"/>
                    </a:solidFill>
                  </a:rPr>
                  <a:t> + 1) = 4</a:t>
                </a:r>
                <a:r>
                  <a:rPr lang="en-GB" sz="2800" i="1" dirty="0">
                    <a:solidFill>
                      <a:srgbClr val="000000"/>
                    </a:solidFill>
                  </a:rPr>
                  <a:t>x</a:t>
                </a:r>
                <a:r>
                  <a:rPr lang="en-GB" sz="2800" dirty="0">
                    <a:solidFill>
                      <a:srgbClr val="000000"/>
                    </a:solidFill>
                  </a:rPr>
                  <a:t> + 6.2</a:t>
                </a:r>
              </a:p>
              <a:p>
                <a:pPr marL="514350" lvl="1" indent="0">
                  <a:lnSpc>
                    <a:spcPct val="100000"/>
                  </a:lnSpc>
                  <a:spcBef>
                    <a:spcPts val="200"/>
                  </a:spcBef>
                  <a:spcAft>
                    <a:spcPts val="600"/>
                  </a:spcAft>
                  <a:buNone/>
                </a:pPr>
                <a:r>
                  <a:rPr lang="en-US" sz="1800" dirty="0">
                    <a:solidFill>
                      <a:srgbClr val="FF0000"/>
                    </a:solidFill>
                  </a:rPr>
                  <a:t>1.2x + 0.6 = 4x + 6.2 (distributive) → −2.8x + 0.6 = 6.2 (subtraction) → −2.8x = 5.6 (subtraction) → x = −2 (division)</a:t>
                </a:r>
              </a:p>
              <a:p>
                <a:pPr marL="514350" indent="-514350">
                  <a:buFont typeface="+mj-lt"/>
                  <a:buAutoNum type="alphaLcPeriod" startAt="2"/>
                </a:pPr>
                <a:endParaRPr lang="en-GB" sz="2800" dirty="0">
                  <a:solidFill>
                    <a:srgbClr val="000000"/>
                  </a:solidFill>
                </a:endParaRPr>
              </a:p>
              <a:p>
                <a:pPr marL="514350" indent="-514350">
                  <a:buFont typeface="+mj-lt"/>
                  <a:buAutoNum type="alphaLcPeriod" startAt="2"/>
                </a:pPr>
                <a:endParaRPr lang="en-GB" sz="2800" dirty="0">
                  <a:solidFill>
                    <a:srgbClr val="000000"/>
                  </a:solidFill>
                </a:endParaRPr>
              </a:p>
              <a:p>
                <a:pPr marL="514350" indent="-514350">
                  <a:buFont typeface="+mj-lt"/>
                  <a:buAutoNum type="alphaLcPeriod" startAt="2"/>
                </a:pPr>
                <a:endParaRPr lang="en-GB" sz="2800" dirty="0">
                  <a:solidFill>
                    <a:srgbClr val="000000"/>
                  </a:solidFill>
                </a:endParaRPr>
              </a:p>
              <a:p>
                <a:pPr marL="514350" indent="-514350">
                  <a:buFont typeface="+mj-lt"/>
                  <a:buAutoNum type="alphaLcPeriod" startAt="2"/>
                </a:pPr>
                <a:endParaRPr lang="en-GB" sz="2800" dirty="0">
                  <a:solidFill>
                    <a:srgbClr val="000000"/>
                  </a:solidFill>
                </a:endParaRPr>
              </a:p>
              <a:p>
                <a:pPr marL="514350" indent="-514350">
                  <a:buFont typeface="+mj-lt"/>
                  <a:buAutoNum type="alphaLcPeriod" startAt="2"/>
                </a:pPr>
                <a:r>
                  <a:rPr lang="en-US" sz="2800" dirty="0">
                    <a:solidFill>
                      <a:srgbClr val="000000"/>
                    </a:solidFill>
                  </a:rPr>
                  <a:t>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IN" sz="2800" b="0" i="1" smtClean="0">
                            <a:solidFill>
                              <a:srgbClr val="000000"/>
                            </a:solidFill>
                            <a:latin typeface="Cambria Math" panose="02040503050406030204" pitchFamily="18" charset="0"/>
                          </a:rPr>
                          <m:t>1</m:t>
                        </m:r>
                      </m:num>
                      <m:den>
                        <m:r>
                          <a:rPr lang="en-IN" sz="2800" b="0" i="1" smtClean="0">
                            <a:solidFill>
                              <a:srgbClr val="000000"/>
                            </a:solidFill>
                            <a:latin typeface="Cambria Math" panose="02040503050406030204" pitchFamily="18" charset="0"/>
                          </a:rPr>
                          <m:t>2</m:t>
                        </m:r>
                      </m:den>
                    </m:f>
                  </m:oMath>
                </a14:m>
                <a:r>
                  <a:rPr lang="en-US" sz="2800" i="1" dirty="0">
                    <a:solidFill>
                      <a:srgbClr val="000000"/>
                    </a:solidFill>
                  </a:rPr>
                  <a:t>x</a:t>
                </a:r>
                <a:r>
                  <a:rPr lang="en-US" sz="2800" dirty="0">
                    <a:solidFill>
                      <a:srgbClr val="000000"/>
                    </a:solidFill>
                  </a:rPr>
                  <a:t> ‒ 6 = 2 + (2</a:t>
                </a:r>
                <a:r>
                  <a:rPr lang="en-US" sz="2800" i="1" dirty="0">
                    <a:solidFill>
                      <a:srgbClr val="000000"/>
                    </a:solidFill>
                  </a:rPr>
                  <a:t>x</a:t>
                </a:r>
                <a:r>
                  <a:rPr lang="en-US" sz="2800" dirty="0">
                    <a:solidFill>
                      <a:srgbClr val="000000"/>
                    </a:solidFill>
                  </a:rPr>
                  <a:t> + 1)</a:t>
                </a:r>
              </a:p>
              <a:p>
                <a:pPr marL="514350" lvl="1" indent="0">
                  <a:lnSpc>
                    <a:spcPct val="100000"/>
                  </a:lnSpc>
                  <a:spcBef>
                    <a:spcPts val="200"/>
                  </a:spcBef>
                  <a:spcAft>
                    <a:spcPts val="600"/>
                  </a:spcAft>
                  <a:buNone/>
                </a:pPr>
                <a:r>
                  <a:rPr lang="en-US" sz="1800" dirty="0">
                    <a:solidFill>
                      <a:srgbClr val="FF0000"/>
                    </a:solidFill>
                  </a:rPr>
                  <a:t>½x − 6 = 3 + 2x (commutative, associative) → −9 = (3/2)x (subtraction) → x = −6 (multiplication by 2/3)</a:t>
                </a:r>
              </a:p>
              <a:p>
                <a:pPr marL="0" indent="0">
                  <a:buNone/>
                </a:pPr>
                <a:endParaRPr lang="en-US" sz="2800" dirty="0">
                  <a:solidFill>
                    <a:srgbClr val="000000"/>
                  </a:solidFill>
                </a:endParaRPr>
              </a:p>
            </p:txBody>
          </p:sp>
        </mc:Choice>
        <mc:Fallback>
          <p:sp>
            <p:nvSpPr>
              <p:cNvPr id="3" name="Text Placeholder 2">
                <a:extLst>
                  <a:ext uri="{FF2B5EF4-FFF2-40B4-BE49-F238E27FC236}">
                    <a16:creationId xmlns:a16="http://schemas.microsoft.com/office/drawing/2014/main" id="{58D1FC1A-892B-9EA6-6F37-0D6A7B25FBB3}"/>
                  </a:ext>
                </a:extLst>
              </p:cNvPr>
              <p:cNvSpPr txBox="1">
                <a:spLocks noRot="1" noChangeAspect="1" noMove="1" noResize="1" noEditPoints="1" noAdjustHandles="1" noChangeArrowheads="1" noChangeShapeType="1" noTextEdit="1"/>
              </p:cNvSpPr>
              <p:nvPr/>
            </p:nvSpPr>
            <p:spPr>
              <a:xfrm>
                <a:off x="777240" y="1616335"/>
                <a:ext cx="10026227" cy="4274287"/>
              </a:xfrm>
              <a:prstGeom prst="rect">
                <a:avLst/>
              </a:prstGeom>
              <a:blipFill>
                <a:blip r:embed="rId3"/>
                <a:stretch>
                  <a:fillRect l="-1277" t="-1569"/>
                </a:stretch>
              </a:blipFill>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348</a:t>
            </a:r>
          </a:p>
        </p:txBody>
      </p:sp>
    </p:spTree>
    <p:extLst>
      <p:ext uri="{BB962C8B-B14F-4D97-AF65-F5344CB8AC3E}">
        <p14:creationId xmlns:p14="http://schemas.microsoft.com/office/powerpoint/2010/main" val="350578516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7E10A-D512-0516-B567-329480F646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20D62A-212D-641F-B53B-82F190EAA182}"/>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(7 of 9)</a:t>
            </a:r>
          </a:p>
        </p:txBody>
      </p:sp>
      <p:sp>
        <p:nvSpPr>
          <p:cNvPr id="3" name="Text Placeholder 2">
            <a:extLst>
              <a:ext uri="{FF2B5EF4-FFF2-40B4-BE49-F238E27FC236}">
                <a16:creationId xmlns:a16="http://schemas.microsoft.com/office/drawing/2014/main" id="{E679D114-7565-B8AF-F74E-1A0C49E2E6B2}"/>
              </a:ext>
            </a:extLst>
          </p:cNvPr>
          <p:cNvSpPr txBox="1">
            <a:spLocks/>
          </p:cNvSpPr>
          <p:nvPr/>
        </p:nvSpPr>
        <p:spPr>
          <a:xfrm>
            <a:off x="777240" y="1602248"/>
            <a:ext cx="8985956" cy="138361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GB" sz="2800" dirty="0">
                <a:solidFill>
                  <a:srgbClr val="000000"/>
                </a:solidFill>
              </a:rPr>
              <a:t>Compare the solution strategies used by Daniel and Chloe. What do you notice about the properties each student used?</a:t>
            </a:r>
            <a:endParaRPr lang="en-US" sz="2800" dirty="0">
              <a:solidFill>
                <a:srgbClr val="000000"/>
              </a:solidFill>
            </a:endParaRPr>
          </a:p>
        </p:txBody>
      </p:sp>
      <p:pic>
        <p:nvPicPr>
          <p:cNvPr id="5" name="Picture 4" descr="Thumbs up.&#10;Daniel.&#10;4 times the sum of 3 x plus 2 equals 8 x plus 4.&#10;12 x plus 8 = 8 x plus 4.&#10;4 x = negative 4.&#10;x equals negative 1.">
            <a:extLst>
              <a:ext uri="{FF2B5EF4-FFF2-40B4-BE49-F238E27FC236}">
                <a16:creationId xmlns:a16="http://schemas.microsoft.com/office/drawing/2014/main" id="{DD0002D2-D1A9-9171-73A1-8E18C1041337}"/>
              </a:ext>
              <a:ext uri="{C183D7F6-B498-43B3-948B-1728B52AA6E4}">
                <adec:decorative xmlns:adec="http://schemas.microsoft.com/office/drawing/2017/decorative" val="0"/>
              </a:ext>
            </a:extLst>
          </p:cNvPr>
          <p:cNvPicPr>
            <a:picLocks noChangeAspect="1"/>
          </p:cNvPicPr>
          <p:nvPr/>
        </p:nvPicPr>
        <p:blipFill>
          <a:blip r:embed="rId3"/>
          <a:srcRect l="1814" t="4683" r="52969" b="1258"/>
          <a:stretch/>
        </p:blipFill>
        <p:spPr>
          <a:xfrm>
            <a:off x="2119790" y="3288484"/>
            <a:ext cx="3087148" cy="2499919"/>
          </a:xfrm>
          <a:prstGeom prst="rect">
            <a:avLst/>
          </a:prstGeom>
        </p:spPr>
      </p:pic>
      <p:pic>
        <p:nvPicPr>
          <p:cNvPr id="2" name="Picture 1" descr="Thumbs up.&#10;Chloe.&#10;4 times the sum of 3 x plus 2 equals 8 x plus 4.&#10;4 times the sum of 3 x plus 2, divided by 4 equals 8 x plus 4, divided by 4.&#10;3 x plus 2 equals 2 x plus 1.&#10;x equals negative 1.">
            <a:extLst>
              <a:ext uri="{FF2B5EF4-FFF2-40B4-BE49-F238E27FC236}">
                <a16:creationId xmlns:a16="http://schemas.microsoft.com/office/drawing/2014/main" id="{C3AC6E6F-4E2C-D757-5B3A-506DB4F82082}"/>
              </a:ext>
              <a:ext uri="{C183D7F6-B498-43B3-948B-1728B52AA6E4}">
                <adec:decorative xmlns:adec="http://schemas.microsoft.com/office/drawing/2017/decorative" val="0"/>
              </a:ext>
            </a:extLst>
          </p:cNvPr>
          <p:cNvPicPr>
            <a:picLocks noChangeAspect="1"/>
          </p:cNvPicPr>
          <p:nvPr/>
        </p:nvPicPr>
        <p:blipFill>
          <a:blip r:embed="rId3"/>
          <a:srcRect l="54782" t="4683" r="1116" b="1258"/>
          <a:stretch/>
        </p:blipFill>
        <p:spPr>
          <a:xfrm>
            <a:off x="5736129" y="3288484"/>
            <a:ext cx="3010963" cy="2499919"/>
          </a:xfrm>
          <a:prstGeom prst="rect">
            <a:avLst/>
          </a:prstGeom>
        </p:spPr>
      </p:pic>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
        <p:nvSpPr>
          <p:cNvPr id="1006" name="Answer 100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349</a:t>
            </a:r>
          </a:p>
        </p:txBody>
      </p:sp>
      <p:sp>
        <p:nvSpPr>
          <p:cNvPr id="1007" name="Answer 1007"/>
          <p:cNvSpPr txBox="1"/>
          <p:nvPr/>
        </p:nvSpPr>
        <p:spPr>
          <a:xfrm>
            <a:off x="9017000" y="3302000"/>
            <a:ext cx="2921000" cy="2794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Daniel used the distributive property first; Chloe divided both sides by 4 first (division property). Both then used the subtraction and division properties and got x = −1.</a:t>
            </a:r>
          </a:p>
        </p:txBody>
      </p:sp>
    </p:spTree>
    <p:extLst>
      <p:ext uri="{BB962C8B-B14F-4D97-AF65-F5344CB8AC3E}">
        <p14:creationId xmlns:p14="http://schemas.microsoft.com/office/powerpoint/2010/main" val="120372067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GB" b="1" dirty="0"/>
              <a:t>Using Properties to Justify Solutions</a:t>
            </a:r>
            <a:r>
              <a:rPr lang="en-US" sz="3200" b="1" dirty="0"/>
              <a:t> </a:t>
            </a:r>
            <a:r>
              <a:rPr lang="en-US" sz="2000" b="1" dirty="0">
                <a:solidFill>
                  <a:schemeClr val="bg1"/>
                </a:solidFill>
              </a:rPr>
              <a:t>(8 of 9)</a:t>
            </a:r>
          </a:p>
        </p:txBody>
      </p:sp>
      <p:sp>
        <p:nvSpPr>
          <p:cNvPr id="9" name="Text Placeholder 2">
            <a:extLst>
              <a:ext uri="{FF2B5EF4-FFF2-40B4-BE49-F238E27FC236}">
                <a16:creationId xmlns:a16="http://schemas.microsoft.com/office/drawing/2014/main" id="{1E3F3D64-7D3E-6B78-AAE0-10266D78BD13}"/>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1.1!</a:t>
            </a:r>
            <a:endParaRPr lang="en-US" sz="2800" dirty="0">
              <a:solidFill>
                <a:srgbClr val="000000"/>
              </a:solidFill>
            </a:endParaRPr>
          </a:p>
        </p:txBody>
      </p:sp>
      <p:pic>
        <p:nvPicPr>
          <p:cNvPr id="2" name="Picture 1">
            <a:extLst>
              <a:ext uri="{FF2B5EF4-FFF2-40B4-BE49-F238E27FC236}">
                <a16:creationId xmlns:a16="http://schemas.microsoft.com/office/drawing/2014/main" id="{98440FB1-39B9-061D-40CB-0A334D9564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349</a:t>
            </a:r>
          </a:p>
        </p:txBody>
      </p:sp>
    </p:spTree>
    <p:extLst>
      <p:ext uri="{BB962C8B-B14F-4D97-AF65-F5344CB8AC3E}">
        <p14:creationId xmlns:p14="http://schemas.microsoft.com/office/powerpoint/2010/main" val="4005883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GB" b="1" dirty="0"/>
              <a:t>Using Properties to Justify Solutions</a:t>
            </a:r>
            <a:r>
              <a:rPr lang="en-US" sz="3200" b="1" dirty="0"/>
              <a:t> </a:t>
            </a:r>
            <a:r>
              <a:rPr lang="en-US" sz="2000" b="1" dirty="0">
                <a:solidFill>
                  <a:schemeClr val="bg1"/>
                </a:solidFill>
              </a:rPr>
              <a:t>(9 of 9)</a:t>
            </a:r>
          </a:p>
        </p:txBody>
      </p:sp>
      <p:sp>
        <p:nvSpPr>
          <p:cNvPr id="9" name="Text Placeholder 2">
            <a:extLst>
              <a:ext uri="{FF2B5EF4-FFF2-40B4-BE49-F238E27FC236}">
                <a16:creationId xmlns:a16="http://schemas.microsoft.com/office/drawing/2014/main" id="{1E3F3D64-7D3E-6B78-AAE0-10266D78BD13}"/>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349</a:t>
            </a:r>
          </a:p>
        </p:txBody>
      </p:sp>
    </p:spTree>
    <p:extLst>
      <p:ext uri="{BB962C8B-B14F-4D97-AF65-F5344CB8AC3E}">
        <p14:creationId xmlns:p14="http://schemas.microsoft.com/office/powerpoint/2010/main" val="288807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A8CAF8-33A1-73A0-1DF9-85DF59BD096A}"/>
              </a:ext>
            </a:extLst>
          </p:cNvPr>
          <p:cNvSpPr>
            <a:spLocks noGrp="1"/>
          </p:cNvSpPr>
          <p:nvPr>
            <p:ph type="title" idx="4294967295"/>
          </p:nvPr>
        </p:nvSpPr>
        <p:spPr>
          <a:xfrm>
            <a:off x="838200" y="-440871"/>
            <a:ext cx="10514013" cy="440871"/>
          </a:xfrm>
          <a:prstGeom prst="rect">
            <a:avLst/>
          </a:prstGeom>
        </p:spPr>
        <p:txBody>
          <a:bodyPr anchor="b"/>
          <a:lstStyle/>
          <a:p>
            <a:r>
              <a:rPr lang="en-US" sz="2000" dirty="0">
                <a:solidFill>
                  <a:schemeClr val="bg2"/>
                </a:solidFill>
              </a:rPr>
              <a:t>Activity 1.2</a:t>
            </a:r>
          </a:p>
        </p:txBody>
      </p:sp>
      <p:sp>
        <p:nvSpPr>
          <p:cNvPr id="3" name="Text Placeholder 2" descr="10 to 15 minutes">
            <a:extLst>
              <a:ext uri="{FF2B5EF4-FFF2-40B4-BE49-F238E27FC236}">
                <a16:creationId xmlns:a16="http://schemas.microsoft.com/office/drawing/2014/main" id="{3CD62AF3-8219-7AEB-1717-BB4B2CD0985B}"/>
              </a:ext>
            </a:extLst>
          </p:cNvPr>
          <p:cNvSpPr>
            <a:spLocks noGrp="1"/>
          </p:cNvSpPr>
          <p:nvPr>
            <p:ph type="body" sz="quarter" idx="12"/>
          </p:nvPr>
        </p:nvSpPr>
        <p:spPr>
          <a:xfrm>
            <a:off x="10614990" y="5781873"/>
            <a:ext cx="863947" cy="795338"/>
          </a:xfrm>
        </p:spPr>
        <p:txBody>
          <a:bodyPr/>
          <a:lstStyle/>
          <a:p>
            <a:r>
              <a:rPr lang="en-US" b="1" dirty="0"/>
              <a:t>10–15</a:t>
            </a:r>
          </a:p>
        </p:txBody>
      </p:sp>
      <p:sp>
        <p:nvSpPr>
          <p:cNvPr id="2" name="Text Placeholder 1">
            <a:extLst>
              <a:ext uri="{FF2B5EF4-FFF2-40B4-BE49-F238E27FC236}">
                <a16:creationId xmlns:a16="http://schemas.microsoft.com/office/drawing/2014/main" id="{7EB81C6C-A8E6-CE4C-2D52-7AD639B7578C}"/>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1.2</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
        <p:nvSpPr>
          <p:cNvPr id="1006" name="Answer 1006"/>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219159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983A4-8492-2C9C-D996-B3BFF1B99F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877F1F-DE5E-2323-C42F-CE4647D83A89}"/>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(1 of 8)</a:t>
            </a:r>
          </a:p>
        </p:txBody>
      </p:sp>
      <p:sp>
        <p:nvSpPr>
          <p:cNvPr id="9" name="Text Placeholder 2">
            <a:extLst>
              <a:ext uri="{FF2B5EF4-FFF2-40B4-BE49-F238E27FC236}">
                <a16:creationId xmlns:a16="http://schemas.microsoft.com/office/drawing/2014/main" id="{D28EB160-9377-ACC1-A928-EF37BD5EBB9D}"/>
              </a:ext>
            </a:extLst>
          </p:cNvPr>
          <p:cNvSpPr txBox="1">
            <a:spLocks/>
          </p:cNvSpPr>
          <p:nvPr/>
        </p:nvSpPr>
        <p:spPr>
          <a:xfrm>
            <a:off x="777241" y="1605516"/>
            <a:ext cx="10036168" cy="463812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rPr>
              <a:t>In the Getting Started, you built equations from </a:t>
            </a:r>
            <a:r>
              <a:rPr lang="en-GB" sz="2800" i="1" dirty="0">
                <a:solidFill>
                  <a:srgbClr val="000000"/>
                </a:solidFill>
              </a:rPr>
              <a:t>x</a:t>
            </a:r>
            <a:r>
              <a:rPr lang="en-GB" sz="2800" dirty="0">
                <a:solidFill>
                  <a:srgbClr val="000000"/>
                </a:solidFill>
              </a:rPr>
              <a:t> = 2. In this activity, you will build equations from two mathematical sentences and compare your results.</a:t>
            </a:r>
          </a:p>
          <a:p>
            <a:pPr marL="0" indent="0">
              <a:buNone/>
            </a:pPr>
            <a:endParaRPr lang="en-US" sz="28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349</a:t>
            </a:r>
          </a:p>
        </p:txBody>
      </p:sp>
    </p:spTree>
    <p:extLst>
      <p:ext uri="{BB962C8B-B14F-4D97-AF65-F5344CB8AC3E}">
        <p14:creationId xmlns:p14="http://schemas.microsoft.com/office/powerpoint/2010/main" val="1300832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1C979-4799-AA99-70F3-6BA8B4CF4A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CF79F1-9D71-06B7-E522-64769EECA75E}"/>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(2 of 8)</a:t>
            </a:r>
          </a:p>
        </p:txBody>
      </p:sp>
      <p:sp>
        <p:nvSpPr>
          <p:cNvPr id="9" name="Text Placeholder 2">
            <a:extLst>
              <a:ext uri="{FF2B5EF4-FFF2-40B4-BE49-F238E27FC236}">
                <a16:creationId xmlns:a16="http://schemas.microsoft.com/office/drawing/2014/main" id="{98B1156D-5D66-5CC3-8427-5B96FE5BA02F}"/>
              </a:ext>
            </a:extLst>
          </p:cNvPr>
          <p:cNvSpPr txBox="1">
            <a:spLocks/>
          </p:cNvSpPr>
          <p:nvPr/>
        </p:nvSpPr>
        <p:spPr>
          <a:xfrm>
            <a:off x="777241" y="1605516"/>
            <a:ext cx="10103280" cy="463812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GB" sz="2800" dirty="0">
                <a:solidFill>
                  <a:srgbClr val="000000"/>
                </a:solidFill>
              </a:rPr>
              <a:t>Consider the mathematical sentence 2 = 2.</a:t>
            </a:r>
          </a:p>
          <a:p>
            <a:pPr marL="518400" indent="0">
              <a:buNone/>
            </a:pPr>
            <a:r>
              <a:rPr lang="en-GB" sz="2800" dirty="0">
                <a:solidFill>
                  <a:srgbClr val="000000"/>
                </a:solidFill>
              </a:rPr>
              <a:t>Is there any variable or constant that you could add, subtract, multiply, or divide to both sides using the properties of equality to make this true sentence false? Choose variables and constants to create new mathematical sentences to justify your conclusion.</a:t>
            </a:r>
            <a:endParaRPr lang="en-US" sz="2800" dirty="0">
              <a:solidFill>
                <a:srgbClr val="000000"/>
              </a:solidFill>
            </a:endParaRPr>
          </a:p>
          <a:p>
            <a:pPr marL="518400" lvl="1" indent="0">
              <a:lnSpc>
                <a:spcPct val="100000"/>
              </a:lnSpc>
              <a:spcBef>
                <a:spcPts val="200"/>
              </a:spcBef>
              <a:spcAft>
                <a:spcPts val="600"/>
              </a:spcAft>
              <a:buNone/>
            </a:pPr>
            <a:r>
              <a:rPr lang="en-US" sz="2000" dirty="0">
                <a:solidFill>
                  <a:srgbClr val="FF0000"/>
                </a:solidFill>
              </a:rPr>
              <a:t>Sample: 2x = 2x and 2x + 5 = 2x + 5. No: using the properties of equality, the sentence stays true.</a:t>
            </a:r>
          </a:p>
          <a:p>
            <a:pPr marL="0" indent="0">
              <a:buNone/>
            </a:pPr>
            <a:endParaRPr lang="en-US" sz="28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349</a:t>
            </a:r>
          </a:p>
        </p:txBody>
      </p:sp>
    </p:spTree>
    <p:extLst>
      <p:ext uri="{BB962C8B-B14F-4D97-AF65-F5344CB8AC3E}">
        <p14:creationId xmlns:p14="http://schemas.microsoft.com/office/powerpoint/2010/main" val="332999456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AD182-C8D9-7745-08E8-06F78910BBC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CBD84B-0786-46D3-0347-98B1986E7E12}"/>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(3 of 8) </a:t>
            </a:r>
          </a:p>
        </p:txBody>
      </p:sp>
      <p:sp>
        <p:nvSpPr>
          <p:cNvPr id="9" name="Text Placeholder 2">
            <a:extLst>
              <a:ext uri="{FF2B5EF4-FFF2-40B4-BE49-F238E27FC236}">
                <a16:creationId xmlns:a16="http://schemas.microsoft.com/office/drawing/2014/main" id="{070DCCC9-472A-A644-9B7E-43903D17E009}"/>
              </a:ext>
            </a:extLst>
          </p:cNvPr>
          <p:cNvSpPr txBox="1">
            <a:spLocks/>
          </p:cNvSpPr>
          <p:nvPr/>
        </p:nvSpPr>
        <p:spPr>
          <a:xfrm>
            <a:off x="777240" y="1605516"/>
            <a:ext cx="10111669" cy="463812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GB" sz="2800" dirty="0">
                <a:solidFill>
                  <a:srgbClr val="000000"/>
                </a:solidFill>
              </a:rPr>
              <a:t>Consider the mathematical sentence 2 = 3.</a:t>
            </a:r>
          </a:p>
          <a:p>
            <a:pPr marL="518400" indent="0">
              <a:buNone/>
            </a:pPr>
            <a:r>
              <a:rPr lang="en-GB" sz="2800" dirty="0">
                <a:solidFill>
                  <a:srgbClr val="000000"/>
                </a:solidFill>
              </a:rPr>
              <a:t>Is there any variable or constant that you could add, subtract, multiply, or divide to both sides using the properties of equality to make this false sentence true? Choose variables and constants to create new mathematical sentences to justify your conclusion.</a:t>
            </a:r>
            <a:endParaRPr lang="en-US" sz="2800" dirty="0">
              <a:solidFill>
                <a:srgbClr val="000000"/>
              </a:solidFill>
            </a:endParaRPr>
          </a:p>
          <a:p>
            <a:pPr marL="518400" lvl="1" indent="0">
              <a:lnSpc>
                <a:spcPct val="100000"/>
              </a:lnSpc>
              <a:spcBef>
                <a:spcPts val="200"/>
              </a:spcBef>
              <a:spcAft>
                <a:spcPts val="600"/>
              </a:spcAft>
              <a:buNone/>
            </a:pPr>
            <a:r>
              <a:rPr lang="en-US" sz="2000" dirty="0">
                <a:solidFill>
                  <a:srgbClr val="FF0000"/>
                </a:solidFill>
              </a:rPr>
              <a:t>Sample: 2 + x = 3 + x and 5(2 + x) = 5(3 + x). No: using the properties of equality, the sentence stays false.</a:t>
            </a:r>
          </a:p>
          <a:p>
            <a:pPr marL="0" indent="0">
              <a:buNone/>
            </a:pPr>
            <a:endParaRPr lang="en-US" sz="28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350</a:t>
            </a:r>
          </a:p>
        </p:txBody>
      </p:sp>
    </p:spTree>
    <p:extLst>
      <p:ext uri="{BB962C8B-B14F-4D97-AF65-F5344CB8AC3E}">
        <p14:creationId xmlns:p14="http://schemas.microsoft.com/office/powerpoint/2010/main" val="178468730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DFF9A-A936-7AC4-DFFD-B083B7D5E8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7FCBC4-B327-964E-B4FA-60956A1B6DA0}"/>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(4 of 8)</a:t>
            </a:r>
          </a:p>
        </p:txBody>
      </p:sp>
      <p:sp>
        <p:nvSpPr>
          <p:cNvPr id="9" name="Text Placeholder 2">
            <a:extLst>
              <a:ext uri="{FF2B5EF4-FFF2-40B4-BE49-F238E27FC236}">
                <a16:creationId xmlns:a16="http://schemas.microsoft.com/office/drawing/2014/main" id="{A6A29B38-0F8B-C981-E425-990E5D328C85}"/>
              </a:ext>
            </a:extLst>
          </p:cNvPr>
          <p:cNvSpPr txBox="1">
            <a:spLocks/>
          </p:cNvSpPr>
          <p:nvPr/>
        </p:nvSpPr>
        <p:spPr>
          <a:xfrm>
            <a:off x="777240" y="1612042"/>
            <a:ext cx="9893718" cy="276328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rPr>
              <a:t>A linear equation can have </a:t>
            </a:r>
            <a:r>
              <a:rPr lang="en-GB" sz="2800" i="1" dirty="0">
                <a:solidFill>
                  <a:srgbClr val="000000"/>
                </a:solidFill>
              </a:rPr>
              <a:t>one solution</a:t>
            </a:r>
            <a:r>
              <a:rPr lang="en-GB" sz="2800" dirty="0">
                <a:solidFill>
                  <a:srgbClr val="000000"/>
                </a:solidFill>
              </a:rPr>
              <a:t>, </a:t>
            </a:r>
            <a:r>
              <a:rPr lang="en-GB" sz="2800" i="1" dirty="0">
                <a:solidFill>
                  <a:srgbClr val="000000"/>
                </a:solidFill>
              </a:rPr>
              <a:t>no solution</a:t>
            </a:r>
            <a:r>
              <a:rPr lang="en-GB" sz="2800" dirty="0">
                <a:solidFill>
                  <a:srgbClr val="000000"/>
                </a:solidFill>
              </a:rPr>
              <a:t>, or </a:t>
            </a:r>
            <a:r>
              <a:rPr lang="en-GB" sz="2800" i="1" dirty="0">
                <a:solidFill>
                  <a:srgbClr val="000000"/>
                </a:solidFill>
              </a:rPr>
              <a:t>infinite solutions</a:t>
            </a:r>
            <a:r>
              <a:rPr lang="en-GB" sz="2800" dirty="0">
                <a:solidFill>
                  <a:srgbClr val="000000"/>
                </a:solidFill>
              </a:rPr>
              <a:t>. The equations you solved in the previous activity are examples of linear equations with one solution. A linear equation with </a:t>
            </a:r>
            <a:r>
              <a:rPr lang="en-GB" sz="2800" b="1" dirty="0">
                <a:solidFill>
                  <a:srgbClr val="000000"/>
                </a:solidFill>
              </a:rPr>
              <a:t>no solution</a:t>
            </a:r>
            <a:r>
              <a:rPr lang="en-GB" sz="2800" dirty="0">
                <a:solidFill>
                  <a:srgbClr val="000000"/>
                </a:solidFill>
              </a:rPr>
              <a:t> means that there is no value for the variable that makes the equation true. A linear equation with </a:t>
            </a:r>
            <a:r>
              <a:rPr lang="en-GB" sz="2800" b="1" dirty="0">
                <a:solidFill>
                  <a:srgbClr val="000000"/>
                </a:solidFill>
              </a:rPr>
              <a:t>infinite solutions</a:t>
            </a:r>
            <a:r>
              <a:rPr lang="en-GB" sz="2800" dirty="0">
                <a:solidFill>
                  <a:srgbClr val="000000"/>
                </a:solidFill>
              </a:rPr>
              <a:t> means that any value for the variable makes the equation true.</a:t>
            </a:r>
            <a:endParaRPr lang="en-US" sz="28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350</a:t>
            </a:r>
          </a:p>
        </p:txBody>
      </p:sp>
    </p:spTree>
    <p:extLst>
      <p:ext uri="{BB962C8B-B14F-4D97-AF65-F5344CB8AC3E}">
        <p14:creationId xmlns:p14="http://schemas.microsoft.com/office/powerpoint/2010/main" val="1172488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0903D-FC5B-E5B3-3E1A-68EA370500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2A315D-D4A5-1847-32CB-D40D82680780}"/>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(5 of 8)</a:t>
            </a:r>
          </a:p>
        </p:txBody>
      </p:sp>
      <p:sp>
        <p:nvSpPr>
          <p:cNvPr id="9" name="Text Placeholder 2">
            <a:extLst>
              <a:ext uri="{FF2B5EF4-FFF2-40B4-BE49-F238E27FC236}">
                <a16:creationId xmlns:a16="http://schemas.microsoft.com/office/drawing/2014/main" id="{AFC4BE26-27D2-D36C-C4B9-422429901BFE}"/>
              </a:ext>
            </a:extLst>
          </p:cNvPr>
          <p:cNvSpPr txBox="1">
            <a:spLocks/>
          </p:cNvSpPr>
          <p:nvPr/>
        </p:nvSpPr>
        <p:spPr>
          <a:xfrm>
            <a:off x="777240" y="1628819"/>
            <a:ext cx="9893718" cy="47971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GB" sz="2800" dirty="0">
                <a:solidFill>
                  <a:srgbClr val="000000"/>
                </a:solidFill>
              </a:rPr>
              <a:t>Consider the equations you created in this activity.</a:t>
            </a:r>
          </a:p>
          <a:p>
            <a:pPr marL="1036800" indent="-514350">
              <a:buFont typeface="+mj-lt"/>
              <a:buAutoNum type="alphaLcPeriod"/>
            </a:pPr>
            <a:r>
              <a:rPr lang="en-GB" sz="2800" dirty="0">
                <a:solidFill>
                  <a:srgbClr val="000000"/>
                </a:solidFill>
              </a:rPr>
              <a:t>Explain whether the equation(s) you created in Question 1 have one solution, no solution, or infinite solutions.</a:t>
            </a:r>
          </a:p>
          <a:p>
            <a:pPr marL="1036800" lvl="1" indent="0">
              <a:lnSpc>
                <a:spcPct val="100000"/>
              </a:lnSpc>
              <a:spcBef>
                <a:spcPts val="200"/>
              </a:spcBef>
              <a:spcAft>
                <a:spcPts val="600"/>
              </a:spcAft>
              <a:buNone/>
            </a:pPr>
            <a:r>
              <a:rPr lang="en-US" sz="2000" dirty="0">
                <a:solidFill>
                  <a:srgbClr val="FF0000"/>
                </a:solidFill>
              </a:rPr>
              <a:t>Infinite solutions: any value of the variable makes them true.</a:t>
            </a:r>
          </a:p>
          <a:p>
            <a:pPr marL="1036800" indent="-514350">
              <a:buFont typeface="+mj-lt"/>
              <a:buAutoNum type="alphaLcPeriod"/>
            </a:pPr>
            <a:endParaRPr lang="en-GB" sz="2800" dirty="0">
              <a:solidFill>
                <a:srgbClr val="000000"/>
              </a:solidFill>
            </a:endParaRPr>
          </a:p>
          <a:p>
            <a:pPr marL="522450" indent="0">
              <a:buNone/>
            </a:pPr>
            <a:endParaRPr lang="en-GB" sz="2800" dirty="0">
              <a:solidFill>
                <a:srgbClr val="000000"/>
              </a:solidFill>
            </a:endParaRPr>
          </a:p>
          <a:p>
            <a:pPr marL="1036800" indent="-514350">
              <a:buFont typeface="+mj-lt"/>
              <a:buAutoNum type="alphaLcPeriod" startAt="2"/>
            </a:pPr>
            <a:r>
              <a:rPr lang="en-GB" sz="2800" dirty="0">
                <a:solidFill>
                  <a:srgbClr val="000000"/>
                </a:solidFill>
              </a:rPr>
              <a:t>Explain whether the equation(s) you created in Question 2 have one solution, no solution, or infinite solutions.</a:t>
            </a:r>
            <a:endParaRPr lang="en-US" sz="2800" dirty="0">
              <a:solidFill>
                <a:srgbClr val="000000"/>
              </a:solidFill>
            </a:endParaRPr>
          </a:p>
          <a:p>
            <a:pPr marL="1036800" lvl="1" indent="0">
              <a:lnSpc>
                <a:spcPct val="100000"/>
              </a:lnSpc>
              <a:spcBef>
                <a:spcPts val="200"/>
              </a:spcBef>
              <a:spcAft>
                <a:spcPts val="600"/>
              </a:spcAft>
              <a:buNone/>
            </a:pPr>
            <a:r>
              <a:rPr lang="en-US" sz="2000" dirty="0">
                <a:solidFill>
                  <a:srgbClr val="FF0000"/>
                </a:solidFill>
              </a:rPr>
              <a:t>No solution: no value of the variable makes them true.</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350</a:t>
            </a:r>
          </a:p>
        </p:txBody>
      </p:sp>
    </p:spTree>
    <p:extLst>
      <p:ext uri="{BB962C8B-B14F-4D97-AF65-F5344CB8AC3E}">
        <p14:creationId xmlns:p14="http://schemas.microsoft.com/office/powerpoint/2010/main" val="166269263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3607D-9C33-C630-ABEB-72F1D6283E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74698F-31E8-36C2-8584-3748EB47031D}"/>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(6 of 8)</a:t>
            </a:r>
          </a:p>
        </p:txBody>
      </p:sp>
      <p:sp>
        <p:nvSpPr>
          <p:cNvPr id="9" name="Text Placeholder 2">
            <a:extLst>
              <a:ext uri="{FF2B5EF4-FFF2-40B4-BE49-F238E27FC236}">
                <a16:creationId xmlns:a16="http://schemas.microsoft.com/office/drawing/2014/main" id="{2EE1BAAC-272B-0DDA-C142-85728D480AB6}"/>
              </a:ext>
            </a:extLst>
          </p:cNvPr>
          <p:cNvSpPr txBox="1">
            <a:spLocks/>
          </p:cNvSpPr>
          <p:nvPr/>
        </p:nvSpPr>
        <p:spPr>
          <a:xfrm>
            <a:off x="777240" y="1620431"/>
            <a:ext cx="10346562" cy="152150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4"/>
            </a:pPr>
            <a:r>
              <a:rPr lang="en-GB" sz="2800" dirty="0">
                <a:solidFill>
                  <a:srgbClr val="000000"/>
                </a:solidFill>
              </a:rPr>
              <a:t>Consider the equation 2</a:t>
            </a:r>
            <a:r>
              <a:rPr lang="en-GB" sz="2800" i="1" dirty="0">
                <a:solidFill>
                  <a:srgbClr val="000000"/>
                </a:solidFill>
              </a:rPr>
              <a:t>x</a:t>
            </a:r>
            <a:r>
              <a:rPr lang="en-GB" sz="2800" dirty="0">
                <a:solidFill>
                  <a:srgbClr val="000000"/>
                </a:solidFill>
              </a:rPr>
              <a:t> = 3</a:t>
            </a:r>
            <a:r>
              <a:rPr lang="en-GB" sz="2800" i="1" dirty="0">
                <a:solidFill>
                  <a:srgbClr val="000000"/>
                </a:solidFill>
              </a:rPr>
              <a:t>x</a:t>
            </a:r>
            <a:r>
              <a:rPr lang="en-GB" sz="2800" dirty="0">
                <a:solidFill>
                  <a:srgbClr val="000000"/>
                </a:solidFill>
              </a:rPr>
              <a:t>. Does this equation have one solution, no solution, or infinite solutions? Explain your reasoning.</a:t>
            </a:r>
          </a:p>
          <a:p>
            <a:pPr marL="514350" lvl="1" indent="0">
              <a:lnSpc>
                <a:spcPct val="100000"/>
              </a:lnSpc>
              <a:spcBef>
                <a:spcPts val="200"/>
              </a:spcBef>
              <a:spcAft>
                <a:spcPts val="600"/>
              </a:spcAft>
              <a:buNone/>
            </a:pPr>
            <a:r>
              <a:rPr lang="en-US" sz="2000" dirty="0">
                <a:solidFill>
                  <a:srgbClr val="FF0000"/>
                </a:solidFill>
              </a:rPr>
              <a:t>One solution, x = 0: the coefficients of x are different, and only 0 makes 2x = 3x true (0 = 0).</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350</a:t>
            </a:r>
          </a:p>
        </p:txBody>
      </p:sp>
    </p:spTree>
    <p:extLst>
      <p:ext uri="{BB962C8B-B14F-4D97-AF65-F5344CB8AC3E}">
        <p14:creationId xmlns:p14="http://schemas.microsoft.com/office/powerpoint/2010/main" val="340897648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(7 of 8)</a:t>
            </a:r>
          </a:p>
        </p:txBody>
      </p:sp>
      <p:sp>
        <p:nvSpPr>
          <p:cNvPr id="9" name="Text Placeholder 2">
            <a:extLst>
              <a:ext uri="{FF2B5EF4-FFF2-40B4-BE49-F238E27FC236}">
                <a16:creationId xmlns:a16="http://schemas.microsoft.com/office/drawing/2014/main" id="{9F9E8E2B-B0E8-EF16-E503-9ECCF4F164D5}"/>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Question and summarize our learning from Activity 1.2!</a:t>
            </a:r>
          </a:p>
        </p:txBody>
      </p:sp>
      <p:pic>
        <p:nvPicPr>
          <p:cNvPr id="2" name="Picture 1">
            <a:extLst>
              <a:ext uri="{FF2B5EF4-FFF2-40B4-BE49-F238E27FC236}">
                <a16:creationId xmlns:a16="http://schemas.microsoft.com/office/drawing/2014/main" id="{412BAF3C-C3E1-4231-B8AF-8D51322A576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350</a:t>
            </a:r>
          </a:p>
        </p:txBody>
      </p:sp>
    </p:spTree>
    <p:extLst>
      <p:ext uri="{BB962C8B-B14F-4D97-AF65-F5344CB8AC3E}">
        <p14:creationId xmlns:p14="http://schemas.microsoft.com/office/powerpoint/2010/main" val="13935781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(8 of 8)</a:t>
            </a:r>
          </a:p>
        </p:txBody>
      </p:sp>
      <p:sp>
        <p:nvSpPr>
          <p:cNvPr id="9" name="Text Placeholder 2">
            <a:extLst>
              <a:ext uri="{FF2B5EF4-FFF2-40B4-BE49-F238E27FC236}">
                <a16:creationId xmlns:a16="http://schemas.microsoft.com/office/drawing/2014/main" id="{9F9E8E2B-B0E8-EF16-E503-9ECCF4F164D5}"/>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350</a:t>
            </a:r>
          </a:p>
        </p:txBody>
      </p:sp>
    </p:spTree>
    <p:extLst>
      <p:ext uri="{BB962C8B-B14F-4D97-AF65-F5344CB8AC3E}">
        <p14:creationId xmlns:p14="http://schemas.microsoft.com/office/powerpoint/2010/main" val="25551480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1A711-7354-AB77-C697-C558B269C2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5F902D2-52E1-2FDB-91A0-C182E6870D80}"/>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Day 1 </a:t>
            </a:r>
          </a:p>
        </p:txBody>
      </p:sp>
      <p:sp>
        <p:nvSpPr>
          <p:cNvPr id="4" name="Text Placeholder 3">
            <a:extLst>
              <a:ext uri="{FF2B5EF4-FFF2-40B4-BE49-F238E27FC236}">
                <a16:creationId xmlns:a16="http://schemas.microsoft.com/office/drawing/2014/main" id="{89412893-3B17-9B27-7BD8-D81A234DE6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35</a:t>
            </a:fld>
          </a:p>
        </p:txBody>
      </p:sp>
    </p:spTree>
    <p:extLst>
      <p:ext uri="{BB962C8B-B14F-4D97-AF65-F5344CB8AC3E}">
        <p14:creationId xmlns:p14="http://schemas.microsoft.com/office/powerpoint/2010/main" val="9029045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9297-DC1A-EE1B-1BCD-85B926A062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B73218-8467-BB46-14F9-C712C34E5D9D}"/>
              </a:ext>
            </a:extLst>
          </p:cNvPr>
          <p:cNvSpPr>
            <a:spLocks noGrp="1"/>
          </p:cNvSpPr>
          <p:nvPr>
            <p:ph type="title"/>
          </p:nvPr>
        </p:nvSpPr>
        <p:spPr/>
        <p:txBody>
          <a:bodyPr/>
          <a:lstStyle/>
          <a:p>
            <a:pPr algn="l"/>
            <a:r>
              <a:rPr lang="en-US" b="1" dirty="0"/>
              <a:t>Essential Question </a:t>
            </a:r>
            <a:r>
              <a:rPr lang="en-US" sz="2000" b="1" dirty="0">
                <a:solidFill>
                  <a:schemeClr val="bg1"/>
                </a:solidFill>
              </a:rPr>
              <a:t>(2 of 2)</a:t>
            </a:r>
          </a:p>
        </p:txBody>
      </p:sp>
      <p:sp>
        <p:nvSpPr>
          <p:cNvPr id="2" name="Text Placeholder 2">
            <a:extLst>
              <a:ext uri="{FF2B5EF4-FFF2-40B4-BE49-F238E27FC236}">
                <a16:creationId xmlns:a16="http://schemas.microsoft.com/office/drawing/2014/main" id="{92FDB5BD-B6FE-FA4D-9B15-7B3949553616}"/>
              </a:ext>
            </a:extLst>
          </p:cNvPr>
          <p:cNvSpPr txBox="1">
            <a:spLocks/>
          </p:cNvSpPr>
          <p:nvPr/>
        </p:nvSpPr>
        <p:spPr>
          <a:xfrm>
            <a:off x="777240" y="1616140"/>
            <a:ext cx="10515600"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GB" sz="2800" dirty="0">
                <a:solidFill>
                  <a:srgbClr val="000000"/>
                </a:solidFill>
              </a:rPr>
              <a:t>How can you use equations to solve for unknown input values</a:t>
            </a:r>
          </a:p>
          <a:p>
            <a:pPr marL="0" indent="0">
              <a:spcBef>
                <a:spcPts val="24"/>
              </a:spcBef>
              <a:buNone/>
            </a:pPr>
            <a:r>
              <a:rPr lang="en-GB" sz="2800" dirty="0">
                <a:solidFill>
                  <a:srgbClr val="000000"/>
                </a:solidFill>
              </a:rPr>
              <a:t>of a function?</a:t>
            </a:r>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36</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345</a:t>
            </a:r>
          </a:p>
        </p:txBody>
      </p:sp>
    </p:spTree>
    <p:extLst>
      <p:ext uri="{BB962C8B-B14F-4D97-AF65-F5344CB8AC3E}">
        <p14:creationId xmlns:p14="http://schemas.microsoft.com/office/powerpoint/2010/main" val="28149694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19C84-49A8-45E7-361F-A9E2D86F5A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3EAE766-90ED-8ACF-A80E-C45EBD0B5CFA}"/>
              </a:ext>
            </a:extLst>
          </p:cNvPr>
          <p:cNvSpPr>
            <a:spLocks noGrp="1"/>
          </p:cNvSpPr>
          <p:nvPr>
            <p:ph type="title" idx="4294967295"/>
          </p:nvPr>
        </p:nvSpPr>
        <p:spPr>
          <a:xfrm>
            <a:off x="838200" y="-440871"/>
            <a:ext cx="10514013" cy="440871"/>
          </a:xfrm>
          <a:prstGeom prst="rect">
            <a:avLst/>
          </a:prstGeom>
        </p:spPr>
        <p:txBody>
          <a:bodyPr anchor="b"/>
          <a:lstStyle/>
          <a:p>
            <a:r>
              <a:rPr lang="en-US" sz="2000" dirty="0">
                <a:solidFill>
                  <a:schemeClr val="bg2"/>
                </a:solidFill>
              </a:rPr>
              <a:t>Activity 1.3 </a:t>
            </a:r>
          </a:p>
        </p:txBody>
      </p:sp>
      <p:sp>
        <p:nvSpPr>
          <p:cNvPr id="3" name="Text Placeholder 2" descr="35 to 40 minutes">
            <a:extLst>
              <a:ext uri="{FF2B5EF4-FFF2-40B4-BE49-F238E27FC236}">
                <a16:creationId xmlns:a16="http://schemas.microsoft.com/office/drawing/2014/main" id="{16A3BD67-CA2F-6851-F35A-1A6B06BC3297}"/>
              </a:ext>
            </a:extLst>
          </p:cNvPr>
          <p:cNvSpPr>
            <a:spLocks noGrp="1"/>
          </p:cNvSpPr>
          <p:nvPr>
            <p:ph type="body" sz="quarter" idx="12"/>
          </p:nvPr>
        </p:nvSpPr>
        <p:spPr>
          <a:xfrm>
            <a:off x="10614990" y="5781873"/>
            <a:ext cx="863947" cy="795338"/>
          </a:xfrm>
        </p:spPr>
        <p:txBody>
          <a:bodyPr/>
          <a:lstStyle/>
          <a:p>
            <a:r>
              <a:rPr lang="en-US" b="1" dirty="0"/>
              <a:t>35–40</a:t>
            </a:r>
          </a:p>
        </p:txBody>
      </p:sp>
      <p:sp>
        <p:nvSpPr>
          <p:cNvPr id="2" name="Text Placeholder 1">
            <a:extLst>
              <a:ext uri="{FF2B5EF4-FFF2-40B4-BE49-F238E27FC236}">
                <a16:creationId xmlns:a16="http://schemas.microsoft.com/office/drawing/2014/main" id="{7B8A01AF-A6B1-8FC3-8118-2415346FC006}"/>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1.3</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37</a:t>
            </a:fld>
          </a:p>
        </p:txBody>
      </p:sp>
      <p:sp>
        <p:nvSpPr>
          <p:cNvPr id="1007" name="Answer 1007"/>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000" b="1" dirty="0">
                <a:solidFill>
                  <a:srgbClr val="8A1C1C"/>
                </a:solidFill>
              </a:rPr>
              <a:t>Skip today: not essential (save Tic-Tac-Bingo for the retake day)</a:t>
            </a:r>
          </a:p>
        </p:txBody>
      </p:sp>
    </p:spTree>
    <p:extLst>
      <p:ext uri="{BB962C8B-B14F-4D97-AF65-F5344CB8AC3E}">
        <p14:creationId xmlns:p14="http://schemas.microsoft.com/office/powerpoint/2010/main" val="33793749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109CC-D01D-046B-223D-E809D34EAB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1C2FDE-EDE1-698C-44C8-8E46C9FFE6D8}"/>
              </a:ext>
            </a:extLst>
          </p:cNvPr>
          <p:cNvSpPr>
            <a:spLocks noGrp="1"/>
          </p:cNvSpPr>
          <p:nvPr>
            <p:ph type="title"/>
          </p:nvPr>
        </p:nvSpPr>
        <p:spPr/>
        <p:txBody>
          <a:bodyPr/>
          <a:lstStyle/>
          <a:p>
            <a:pPr algn="l"/>
            <a:r>
              <a:rPr lang="en-US" b="1" dirty="0"/>
              <a:t>Tic-Tac-Bingo </a:t>
            </a:r>
            <a:r>
              <a:rPr lang="en-US" sz="2000" b="1" dirty="0">
                <a:solidFill>
                  <a:schemeClr val="bg1"/>
                </a:solidFill>
              </a:rPr>
              <a:t>(1 of 5)</a:t>
            </a:r>
          </a:p>
        </p:txBody>
      </p:sp>
      <p:sp>
        <p:nvSpPr>
          <p:cNvPr id="9" name="Text Placeholder 2">
            <a:extLst>
              <a:ext uri="{FF2B5EF4-FFF2-40B4-BE49-F238E27FC236}">
                <a16:creationId xmlns:a16="http://schemas.microsoft.com/office/drawing/2014/main" id="{5A45A5C0-EC0B-728D-4449-F47D423CF650}"/>
              </a:ext>
            </a:extLst>
          </p:cNvPr>
          <p:cNvSpPr txBox="1">
            <a:spLocks/>
          </p:cNvSpPr>
          <p:nvPr/>
        </p:nvSpPr>
        <p:spPr>
          <a:xfrm>
            <a:off x="777241" y="1605516"/>
            <a:ext cx="9876778" cy="32035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rPr>
              <a:t>In this activity, you are going to play a game called Tic-Tac-Bingo. The object of the game is to match two expressions to create an equation with specific solution types. Use the Tic-Tac-Bingo sheet located at the end of the lesson.</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Skip · SE p. 351</a:t>
            </a:r>
          </a:p>
        </p:txBody>
      </p:sp>
    </p:spTree>
    <p:extLst>
      <p:ext uri="{BB962C8B-B14F-4D97-AF65-F5344CB8AC3E}">
        <p14:creationId xmlns:p14="http://schemas.microsoft.com/office/powerpoint/2010/main" val="733761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9D438-A575-3830-AF57-92EF5113D5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E6735D-916F-18B6-D9D8-4275D2A6627A}"/>
              </a:ext>
            </a:extLst>
          </p:cNvPr>
          <p:cNvSpPr>
            <a:spLocks noGrp="1"/>
          </p:cNvSpPr>
          <p:nvPr>
            <p:ph type="title"/>
          </p:nvPr>
        </p:nvSpPr>
        <p:spPr/>
        <p:txBody>
          <a:bodyPr/>
          <a:lstStyle/>
          <a:p>
            <a:pPr algn="l"/>
            <a:r>
              <a:rPr lang="en-US" b="1" dirty="0"/>
              <a:t>Tic-Tac-Bingo </a:t>
            </a:r>
            <a:r>
              <a:rPr lang="en-US" sz="2000" b="1" dirty="0">
                <a:solidFill>
                  <a:schemeClr val="bg1"/>
                </a:solidFill>
              </a:rPr>
              <a:t>(2 of 5) </a:t>
            </a:r>
          </a:p>
        </p:txBody>
      </p:sp>
      <p:sp>
        <p:nvSpPr>
          <p:cNvPr id="9" name="Text Placeholder 2">
            <a:extLst>
              <a:ext uri="{FF2B5EF4-FFF2-40B4-BE49-F238E27FC236}">
                <a16:creationId xmlns:a16="http://schemas.microsoft.com/office/drawing/2014/main" id="{964FF1BB-693C-8429-025A-EDD27A0980E7}"/>
              </a:ext>
            </a:extLst>
          </p:cNvPr>
          <p:cNvSpPr txBox="1">
            <a:spLocks/>
          </p:cNvSpPr>
          <p:nvPr/>
        </p:nvSpPr>
        <p:spPr>
          <a:xfrm>
            <a:off x="777240" y="1630682"/>
            <a:ext cx="7410415" cy="46598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b="1" dirty="0">
                <a:solidFill>
                  <a:srgbClr val="000000"/>
                </a:solidFill>
              </a:rPr>
              <a:t>Prepare the board.</a:t>
            </a:r>
          </a:p>
          <a:p>
            <a:pPr marL="352800" indent="0">
              <a:spcAft>
                <a:spcPts val="1200"/>
              </a:spcAft>
              <a:buNone/>
            </a:pPr>
            <a:r>
              <a:rPr lang="en-GB" sz="2800" dirty="0">
                <a:solidFill>
                  <a:srgbClr val="000000"/>
                </a:solidFill>
              </a:rPr>
              <a:t>The board has 9 spaces. Three spaces are already designated. Fill each remaining space with one of the solution types listed. Each option must be used at least once.</a:t>
            </a:r>
          </a:p>
          <a:p>
            <a:pPr marL="0" indent="0">
              <a:buNone/>
            </a:pPr>
            <a:r>
              <a:rPr lang="en-GB" sz="2800" b="1" dirty="0">
                <a:solidFill>
                  <a:srgbClr val="000000"/>
                </a:solidFill>
              </a:rPr>
              <a:t>Play the game.</a:t>
            </a:r>
          </a:p>
          <a:p>
            <a:pPr marL="352800" indent="0">
              <a:buNone/>
            </a:pPr>
            <a:r>
              <a:rPr lang="en-GB" sz="2800" dirty="0">
                <a:solidFill>
                  <a:srgbClr val="000000"/>
                </a:solidFill>
              </a:rPr>
              <a:t>Your teacher will assign you an expression. When you and a classmate have created an equation with one of the solution types, write your equation in the corresponding box.</a:t>
            </a:r>
          </a:p>
        </p:txBody>
      </p:sp>
      <p:sp>
        <p:nvSpPr>
          <p:cNvPr id="2" name="TextBox 1">
            <a:extLst>
              <a:ext uri="{FF2B5EF4-FFF2-40B4-BE49-F238E27FC236}">
                <a16:creationId xmlns:a16="http://schemas.microsoft.com/office/drawing/2014/main" id="{0D413FA2-B997-92A1-BBD7-01CF9E20F7CC}"/>
              </a:ext>
            </a:extLst>
          </p:cNvPr>
          <p:cNvSpPr txBox="1"/>
          <p:nvPr/>
        </p:nvSpPr>
        <p:spPr>
          <a:xfrm>
            <a:off x="8286150" y="1736445"/>
            <a:ext cx="3127023" cy="1323439"/>
          </a:xfrm>
          <a:prstGeom prst="rect">
            <a:avLst/>
          </a:prstGeom>
          <a:noFill/>
          <a:ln w="31750">
            <a:solidFill>
              <a:srgbClr val="2B8147"/>
            </a:solidFill>
            <a:prstDash val="solid"/>
            <a:extLst>
              <a:ext uri="{C807C97D-BFC1-408E-A445-0C87EB9F89A2}">
                <ask:lineSketchStyleProps xmlns:ask="http://schemas.microsoft.com/office/drawing/2018/sketchyshapes">
                  <ask:type>
                    <ask:lineSketchNone/>
                  </ask:type>
                </ask:lineSketchStyleProps>
              </a:ext>
            </a:extLst>
          </a:ln>
        </p:spPr>
        <p:txBody>
          <a:bodyPr wrap="square" rtlCol="0">
            <a:spAutoFit/>
          </a:bodyPr>
          <a:lstStyle/>
          <a:p>
            <a:r>
              <a:rPr lang="fr-FR" sz="2000" dirty="0">
                <a:solidFill>
                  <a:srgbClr val="000000"/>
                </a:solidFill>
              </a:rPr>
              <a:t>Solution Types</a:t>
            </a:r>
          </a:p>
          <a:p>
            <a:r>
              <a:rPr lang="fr-FR" sz="2000" dirty="0">
                <a:solidFill>
                  <a:srgbClr val="000000"/>
                </a:solidFill>
              </a:rPr>
              <a:t>• positive rational solution</a:t>
            </a:r>
          </a:p>
          <a:p>
            <a:r>
              <a:rPr lang="fr-FR" sz="2000" dirty="0">
                <a:solidFill>
                  <a:srgbClr val="000000"/>
                </a:solidFill>
              </a:rPr>
              <a:t>• </a:t>
            </a:r>
            <a:r>
              <a:rPr lang="fr-FR" sz="2000" dirty="0" err="1">
                <a:solidFill>
                  <a:srgbClr val="000000"/>
                </a:solidFill>
              </a:rPr>
              <a:t>negative</a:t>
            </a:r>
            <a:r>
              <a:rPr lang="fr-FR" sz="2000" dirty="0">
                <a:solidFill>
                  <a:srgbClr val="000000"/>
                </a:solidFill>
              </a:rPr>
              <a:t> rational solution</a:t>
            </a:r>
          </a:p>
          <a:p>
            <a:r>
              <a:rPr lang="fr-FR" sz="2000" dirty="0">
                <a:solidFill>
                  <a:srgbClr val="000000"/>
                </a:solidFill>
              </a:rPr>
              <a:t>• non-</a:t>
            </a:r>
            <a:r>
              <a:rPr lang="fr-FR" sz="2000" dirty="0" err="1">
                <a:solidFill>
                  <a:srgbClr val="000000"/>
                </a:solidFill>
              </a:rPr>
              <a:t>zero</a:t>
            </a:r>
            <a:r>
              <a:rPr lang="fr-FR" sz="2000" dirty="0">
                <a:solidFill>
                  <a:srgbClr val="000000"/>
                </a:solidFill>
              </a:rPr>
              <a:t> </a:t>
            </a:r>
            <a:r>
              <a:rPr lang="fr-FR" sz="2000" dirty="0" err="1">
                <a:solidFill>
                  <a:srgbClr val="000000"/>
                </a:solidFill>
              </a:rPr>
              <a:t>integer</a:t>
            </a:r>
            <a:r>
              <a:rPr lang="fr-FR" sz="2000" dirty="0">
                <a:solidFill>
                  <a:srgbClr val="000000"/>
                </a:solidFill>
              </a:rPr>
              <a:t> solution</a:t>
            </a:r>
            <a:endParaRPr lang="en-US" sz="20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Skip · SE p. 351</a:t>
            </a:r>
          </a:p>
        </p:txBody>
      </p:sp>
    </p:spTree>
    <p:extLst>
      <p:ext uri="{BB962C8B-B14F-4D97-AF65-F5344CB8AC3E}">
        <p14:creationId xmlns:p14="http://schemas.microsoft.com/office/powerpoint/2010/main" val="38437791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A4185-42D5-C36C-9EA5-E9A7B189CD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017EFA6-F38E-6F9D-7B3A-F467DEF7DE0D}"/>
              </a:ext>
            </a:extLst>
          </p:cNvPr>
          <p:cNvSpPr>
            <a:spLocks noGrp="1"/>
          </p:cNvSpPr>
          <p:nvPr>
            <p:ph type="title"/>
          </p:nvPr>
        </p:nvSpPr>
        <p:spPr/>
        <p:txBody>
          <a:bodyPr/>
          <a:lstStyle/>
          <a:p>
            <a:pPr algn="l"/>
            <a:r>
              <a:rPr lang="en-US" b="1" dirty="0"/>
              <a:t>Tic-Tac-Bingo </a:t>
            </a:r>
            <a:r>
              <a:rPr lang="en-US" sz="2000" b="1" dirty="0">
                <a:solidFill>
                  <a:schemeClr val="bg1"/>
                </a:solidFill>
              </a:rPr>
              <a:t>(3 of 5)  </a:t>
            </a:r>
          </a:p>
        </p:txBody>
      </p:sp>
      <p:sp>
        <p:nvSpPr>
          <p:cNvPr id="9" name="Text Placeholder 2">
            <a:extLst>
              <a:ext uri="{FF2B5EF4-FFF2-40B4-BE49-F238E27FC236}">
                <a16:creationId xmlns:a16="http://schemas.microsoft.com/office/drawing/2014/main" id="{03E49D05-2FBD-69C4-8219-A373E5A62D1D}"/>
              </a:ext>
            </a:extLst>
          </p:cNvPr>
          <p:cNvSpPr txBox="1">
            <a:spLocks/>
          </p:cNvSpPr>
          <p:nvPr/>
        </p:nvSpPr>
        <p:spPr>
          <a:xfrm>
            <a:off x="777240" y="1375794"/>
            <a:ext cx="9885167" cy="523949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GB" sz="2800" dirty="0">
                <a:solidFill>
                  <a:srgbClr val="000000"/>
                </a:solidFill>
              </a:rPr>
              <a:t>Try to be the first person to fill three spaces in a row. Then, try to be the first person to completely fill your board with equations.</a:t>
            </a:r>
          </a:p>
          <a:p>
            <a:pPr marL="514350" indent="-514350">
              <a:spcAft>
                <a:spcPts val="600"/>
              </a:spcAft>
              <a:buFont typeface="+mj-lt"/>
              <a:buAutoNum type="arabicPeriod"/>
            </a:pPr>
            <a:r>
              <a:rPr lang="en-GB" sz="2800" dirty="0">
                <a:solidFill>
                  <a:srgbClr val="000000"/>
                </a:solidFill>
              </a:rPr>
              <a:t>Reflect on the equations you created.</a:t>
            </a:r>
          </a:p>
          <a:p>
            <a:pPr marL="1036800" indent="-514350">
              <a:buFont typeface="+mj-lt"/>
              <a:buAutoNum type="alphaLcPeriod"/>
            </a:pPr>
            <a:r>
              <a:rPr lang="en-GB" sz="2800" dirty="0">
                <a:solidFill>
                  <a:srgbClr val="000000"/>
                </a:solidFill>
              </a:rPr>
              <a:t>How can you look at an equation and determine that it has no solution?</a:t>
            </a:r>
          </a:p>
          <a:p>
            <a:pPr marL="1036800" lvl="1" indent="0">
              <a:lnSpc>
                <a:spcPct val="100000"/>
              </a:lnSpc>
              <a:spcBef>
                <a:spcPts val="200"/>
              </a:spcBef>
              <a:spcAft>
                <a:spcPts val="600"/>
              </a:spcAft>
              <a:buNone/>
            </a:pPr>
            <a:r>
              <a:rPr lang="en-US" sz="2000" dirty="0">
                <a:solidFill>
                  <a:srgbClr val="FF0000"/>
                </a:solidFill>
              </a:rPr>
              <a:t>In fewest terms, the x-coefficients are the same but the constants are different.</a:t>
            </a:r>
          </a:p>
          <a:p>
            <a:pPr marL="522450" indent="0">
              <a:buNone/>
            </a:pPr>
            <a:br>
              <a:rPr lang="en-GB" sz="2800" dirty="0">
                <a:solidFill>
                  <a:srgbClr val="000000"/>
                </a:solidFill>
              </a:rPr>
            </a:br>
            <a:endParaRPr lang="en-GB" sz="2800" dirty="0">
              <a:solidFill>
                <a:srgbClr val="000000"/>
              </a:solidFill>
            </a:endParaRPr>
          </a:p>
          <a:p>
            <a:pPr marL="1036800" indent="-514350">
              <a:buFont typeface="+mj-lt"/>
              <a:buAutoNum type="alphaLcPeriod" startAt="2"/>
            </a:pPr>
            <a:r>
              <a:rPr lang="en-GB" sz="2800" dirty="0">
                <a:solidFill>
                  <a:srgbClr val="000000"/>
                </a:solidFill>
              </a:rPr>
              <a:t>How can you look at an equation and determine that it has infinite solutions?</a:t>
            </a:r>
          </a:p>
          <a:p>
            <a:pPr marL="1036800" lvl="1" indent="0">
              <a:lnSpc>
                <a:spcPct val="100000"/>
              </a:lnSpc>
              <a:spcBef>
                <a:spcPts val="200"/>
              </a:spcBef>
              <a:spcAft>
                <a:spcPts val="600"/>
              </a:spcAft>
              <a:buNone/>
            </a:pPr>
            <a:r>
              <a:rPr lang="en-US" sz="2000" dirty="0">
                <a:solidFill>
                  <a:srgbClr val="FF0000"/>
                </a:solidFill>
              </a:rPr>
              <a:t>In fewest terms, the x-coefficients and the constants are both the same (the two expressions are equivalent).</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40</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Skip · SE p. 351</a:t>
            </a:r>
          </a:p>
        </p:txBody>
      </p:sp>
    </p:spTree>
    <p:extLst>
      <p:ext uri="{BB962C8B-B14F-4D97-AF65-F5344CB8AC3E}">
        <p14:creationId xmlns:p14="http://schemas.microsoft.com/office/powerpoint/2010/main" val="340246633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A73B3-C120-28F2-699E-57605858EE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B23B51A-CAB3-5629-34FB-6C4D011479D5}"/>
              </a:ext>
            </a:extLst>
          </p:cNvPr>
          <p:cNvSpPr>
            <a:spLocks noGrp="1"/>
          </p:cNvSpPr>
          <p:nvPr>
            <p:ph type="title"/>
          </p:nvPr>
        </p:nvSpPr>
        <p:spPr/>
        <p:txBody>
          <a:bodyPr/>
          <a:lstStyle/>
          <a:p>
            <a:pPr algn="l"/>
            <a:r>
              <a:rPr lang="en-US" b="1" dirty="0"/>
              <a:t>Tic-Tac-Bingo </a:t>
            </a:r>
            <a:r>
              <a:rPr lang="en-US" sz="2000" b="1" dirty="0">
                <a:solidFill>
                  <a:schemeClr val="bg1"/>
                </a:solidFill>
              </a:rPr>
              <a:t>(4 of 5)</a:t>
            </a:r>
          </a:p>
        </p:txBody>
      </p:sp>
      <p:sp>
        <p:nvSpPr>
          <p:cNvPr id="9" name="Text Placeholder 2">
            <a:extLst>
              <a:ext uri="{FF2B5EF4-FFF2-40B4-BE49-F238E27FC236}">
                <a16:creationId xmlns:a16="http://schemas.microsoft.com/office/drawing/2014/main" id="{0F4B6059-D6A9-FA28-E9AF-55D189EB7DF5}"/>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1.3!</a:t>
            </a:r>
          </a:p>
        </p:txBody>
      </p:sp>
      <p:pic>
        <p:nvPicPr>
          <p:cNvPr id="2" name="Picture 1">
            <a:extLst>
              <a:ext uri="{FF2B5EF4-FFF2-40B4-BE49-F238E27FC236}">
                <a16:creationId xmlns:a16="http://schemas.microsoft.com/office/drawing/2014/main" id="{8215FD51-FAC4-D7CB-6A95-390626A212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Skip · SE p. 351</a:t>
            </a:r>
          </a:p>
        </p:txBody>
      </p:sp>
    </p:spTree>
    <p:extLst>
      <p:ext uri="{BB962C8B-B14F-4D97-AF65-F5344CB8AC3E}">
        <p14:creationId xmlns:p14="http://schemas.microsoft.com/office/powerpoint/2010/main" val="29625779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C9CEA-F8AB-6545-1D1B-9831FCACAA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3A54AA4-466E-85DA-01FB-9B7E73258573}"/>
              </a:ext>
            </a:extLst>
          </p:cNvPr>
          <p:cNvSpPr>
            <a:spLocks noGrp="1"/>
          </p:cNvSpPr>
          <p:nvPr>
            <p:ph type="title"/>
          </p:nvPr>
        </p:nvSpPr>
        <p:spPr/>
        <p:txBody>
          <a:bodyPr/>
          <a:lstStyle/>
          <a:p>
            <a:pPr algn="l"/>
            <a:r>
              <a:rPr lang="en-US" b="1" dirty="0"/>
              <a:t>Tic-Tac-Bingo </a:t>
            </a:r>
            <a:r>
              <a:rPr lang="en-US" sz="2000" b="1" dirty="0">
                <a:solidFill>
                  <a:schemeClr val="bg1"/>
                </a:solidFill>
              </a:rPr>
              <a:t>(5 of 5)</a:t>
            </a:r>
          </a:p>
        </p:txBody>
      </p:sp>
      <p:sp>
        <p:nvSpPr>
          <p:cNvPr id="9" name="Text Placeholder 2">
            <a:extLst>
              <a:ext uri="{FF2B5EF4-FFF2-40B4-BE49-F238E27FC236}">
                <a16:creationId xmlns:a16="http://schemas.microsoft.com/office/drawing/2014/main" id="{8A060837-F25A-87ED-8B3E-AACB6F19901E}"/>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Skip · SE p. 351</a:t>
            </a:r>
          </a:p>
        </p:txBody>
      </p:sp>
    </p:spTree>
    <p:extLst>
      <p:ext uri="{BB962C8B-B14F-4D97-AF65-F5344CB8AC3E}">
        <p14:creationId xmlns:p14="http://schemas.microsoft.com/office/powerpoint/2010/main" val="37494754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7B6D8E-F178-63BB-4647-BBEE59CD62FD}"/>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Talk the Talk</a:t>
            </a:r>
          </a:p>
        </p:txBody>
      </p:sp>
      <p:sp>
        <p:nvSpPr>
          <p:cNvPr id="2" name="Text Placeholder 1" descr="5 to 10 minutes">
            <a:extLst>
              <a:ext uri="{FF2B5EF4-FFF2-40B4-BE49-F238E27FC236}">
                <a16:creationId xmlns:a16="http://schemas.microsoft.com/office/drawing/2014/main" id="{FC210BF6-188A-C9CF-0312-B6DC4E6EE108}"/>
              </a:ext>
            </a:extLst>
          </p:cNvPr>
          <p:cNvSpPr>
            <a:spLocks noGrp="1"/>
          </p:cNvSpPr>
          <p:nvPr>
            <p:ph type="body" sz="quarter" idx="12"/>
          </p:nvPr>
        </p:nvSpPr>
        <p:spPr>
          <a:xfrm>
            <a:off x="10614990" y="5781873"/>
            <a:ext cx="863947" cy="795338"/>
          </a:xfrm>
        </p:spPr>
        <p:txBody>
          <a:bodyPr/>
          <a:lstStyle/>
          <a:p>
            <a:r>
              <a:rPr lang="en-US" b="1" dirty="0"/>
              <a:t>5–10</a:t>
            </a:r>
          </a:p>
        </p:txBody>
      </p:sp>
      <p:sp>
        <p:nvSpPr>
          <p:cNvPr id="1003" name="Slide Number 10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43</a:t>
            </a:fld>
          </a:p>
        </p:txBody>
      </p:sp>
      <p:sp>
        <p:nvSpPr>
          <p:cNvPr id="1006" name="Answer 1006"/>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000" b="1" dirty="0">
                <a:solidFill>
                  <a:srgbClr val="8A1C1C"/>
                </a:solidFill>
              </a:rPr>
              <a:t>Optional: like End of Topic question 11</a:t>
            </a:r>
          </a:p>
        </p:txBody>
      </p:sp>
    </p:spTree>
    <p:extLst>
      <p:ext uri="{BB962C8B-B14F-4D97-AF65-F5344CB8AC3E}">
        <p14:creationId xmlns:p14="http://schemas.microsoft.com/office/powerpoint/2010/main" val="33522238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AD9A1-EF00-2824-80BA-7958E44682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450E22-BA7A-1EB0-C485-009C18ABD8EA}"/>
              </a:ext>
            </a:extLst>
          </p:cNvPr>
          <p:cNvSpPr>
            <a:spLocks noGrp="1"/>
          </p:cNvSpPr>
          <p:nvPr>
            <p:ph type="title"/>
          </p:nvPr>
        </p:nvSpPr>
        <p:spPr/>
        <p:txBody>
          <a:bodyPr/>
          <a:lstStyle/>
          <a:p>
            <a:pPr algn="l"/>
            <a:r>
              <a:rPr lang="en-GB" b="1" dirty="0"/>
              <a:t>One Step at a Time</a:t>
            </a:r>
            <a:r>
              <a:rPr lang="en-US" b="1" dirty="0"/>
              <a:t> </a:t>
            </a:r>
            <a:r>
              <a:rPr lang="en-US" sz="2000" b="1" dirty="0">
                <a:solidFill>
                  <a:schemeClr val="bg1"/>
                </a:solidFill>
              </a:rPr>
              <a:t>(1 of 3)</a:t>
            </a:r>
          </a:p>
        </p:txBody>
      </p:sp>
      <p:sp>
        <p:nvSpPr>
          <p:cNvPr id="9" name="Text Placeholder 2">
            <a:extLst>
              <a:ext uri="{FF2B5EF4-FFF2-40B4-BE49-F238E27FC236}">
                <a16:creationId xmlns:a16="http://schemas.microsoft.com/office/drawing/2014/main" id="{55FC3408-36F1-2592-27C5-DCE179EDDB16}"/>
              </a:ext>
            </a:extLst>
          </p:cNvPr>
          <p:cNvSpPr txBox="1">
            <a:spLocks/>
          </p:cNvSpPr>
          <p:nvPr/>
        </p:nvSpPr>
        <p:spPr>
          <a:xfrm>
            <a:off x="777240" y="1616149"/>
            <a:ext cx="10274582" cy="39041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buFont typeface="+mj-lt"/>
              <a:buAutoNum type="arabicPeriod"/>
            </a:pPr>
            <a:r>
              <a:rPr lang="en-GB" sz="2800" b="0" i="0" u="none" strike="noStrike" baseline="0" dirty="0">
                <a:solidFill>
                  <a:srgbClr val="000000"/>
                </a:solidFill>
              </a:rPr>
              <a:t>Rectangle A has a width of (5 + 2</a:t>
            </a:r>
            <a:r>
              <a:rPr lang="en-GB" sz="2800" b="0" i="1" u="none" strike="noStrike" baseline="0" dirty="0">
                <a:solidFill>
                  <a:srgbClr val="000000"/>
                </a:solidFill>
              </a:rPr>
              <a:t>x</a:t>
            </a:r>
            <a:r>
              <a:rPr lang="en-GB" sz="2800" b="0" i="0" u="none" strike="noStrike" baseline="0" dirty="0">
                <a:solidFill>
                  <a:srgbClr val="000000"/>
                </a:solidFill>
              </a:rPr>
              <a:t>) inches and a length of 6 inches. Rectangle B has a width of 8 inches and a length of (</a:t>
            </a:r>
            <a:r>
              <a:rPr lang="en-GB" sz="2800" b="0" i="1" u="none" strike="noStrike" baseline="0" dirty="0">
                <a:solidFill>
                  <a:srgbClr val="000000"/>
                </a:solidFill>
              </a:rPr>
              <a:t>x</a:t>
            </a:r>
            <a:r>
              <a:rPr lang="en-GB" sz="2800" b="0" i="0" u="none" strike="noStrike" baseline="0" dirty="0">
                <a:solidFill>
                  <a:srgbClr val="000000"/>
                </a:solidFill>
              </a:rPr>
              <a:t> + 5) inches. Write and solve an equation to determine the length of </a:t>
            </a:r>
            <a:r>
              <a:rPr lang="en-GB" sz="2800" b="0" i="1" u="none" strike="noStrike" baseline="0" dirty="0">
                <a:solidFill>
                  <a:srgbClr val="000000"/>
                </a:solidFill>
              </a:rPr>
              <a:t>x</a:t>
            </a:r>
            <a:r>
              <a:rPr lang="en-GB" sz="2800" b="0" i="0" u="none" strike="noStrike" baseline="0" dirty="0">
                <a:solidFill>
                  <a:srgbClr val="000000"/>
                </a:solidFill>
              </a:rPr>
              <a:t> when both rectangles have the same area. Write the property that justifies each step to solve the equation.</a:t>
            </a:r>
            <a:endParaRPr lang="en-US" sz="2800" dirty="0">
              <a:solidFill>
                <a:srgbClr val="000000"/>
              </a:solidFill>
            </a:endParaRPr>
          </a:p>
          <a:p>
            <a:pPr marL="457200" lvl="1" indent="0">
              <a:lnSpc>
                <a:spcPct val="100000"/>
              </a:lnSpc>
              <a:spcBef>
                <a:spcPts val="200"/>
              </a:spcBef>
              <a:spcAft>
                <a:spcPts val="600"/>
              </a:spcAft>
              <a:buNone/>
            </a:pPr>
            <a:r>
              <a:rPr lang="en-US" sz="1800" dirty="0">
                <a:solidFill>
                  <a:srgbClr val="FF0000"/>
                </a:solidFill>
              </a:rPr>
              <a:t>6(5 + 2x) = 8(x + 5) → 30 + 12x = 8x + 40 (distributive) → 4x + 30 = 40 (subtraction) → 4x = 10 (subtraction) → x = 2.5 (division)</a:t>
            </a:r>
          </a:p>
          <a:p>
            <a:pPr marL="457200" indent="-457200">
              <a:buFont typeface="+mj-lt"/>
              <a:buAutoNum type="arabicPeriod"/>
            </a:pPr>
            <a:endParaRPr lang="en-US" sz="2800" b="0" i="0" u="none" strike="noStrike" baseline="0" dirty="0">
              <a:solidFill>
                <a:schemeClr val="bg2">
                  <a:lumMod val="25000"/>
                </a:schemeClr>
              </a:solidFill>
            </a:endParaRPr>
          </a:p>
          <a:p>
            <a:pPr marL="0" indent="0">
              <a:buNone/>
            </a:pP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Optional · SE p. 352</a:t>
            </a:r>
          </a:p>
        </p:txBody>
      </p:sp>
    </p:spTree>
    <p:extLst>
      <p:ext uri="{BB962C8B-B14F-4D97-AF65-F5344CB8AC3E}">
        <p14:creationId xmlns:p14="http://schemas.microsoft.com/office/powerpoint/2010/main" val="104330198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885AE-4B0D-52FA-A1D2-2219D7DD41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B0D5D4F-59F3-0D12-F13D-88F649439AB7}"/>
              </a:ext>
            </a:extLst>
          </p:cNvPr>
          <p:cNvSpPr>
            <a:spLocks noGrp="1"/>
          </p:cNvSpPr>
          <p:nvPr>
            <p:ph type="title"/>
          </p:nvPr>
        </p:nvSpPr>
        <p:spPr/>
        <p:txBody>
          <a:bodyPr/>
          <a:lstStyle/>
          <a:p>
            <a:pPr algn="l"/>
            <a:r>
              <a:rPr lang="en-GB" b="1" dirty="0"/>
              <a:t>One Step at a Time</a:t>
            </a:r>
            <a:r>
              <a:rPr lang="en-US" b="1" dirty="0"/>
              <a:t> </a:t>
            </a:r>
            <a:r>
              <a:rPr lang="en-US" sz="2000" b="1" dirty="0">
                <a:solidFill>
                  <a:schemeClr val="bg1"/>
                </a:solidFill>
              </a:rPr>
              <a:t>(2 of 3)  </a:t>
            </a:r>
          </a:p>
        </p:txBody>
      </p:sp>
      <p:sp>
        <p:nvSpPr>
          <p:cNvPr id="2" name="Text Placeholder 2">
            <a:extLst>
              <a:ext uri="{FF2B5EF4-FFF2-40B4-BE49-F238E27FC236}">
                <a16:creationId xmlns:a16="http://schemas.microsoft.com/office/drawing/2014/main" id="{12E117B6-4641-11AC-3AE8-1B5DED9CD3FC}"/>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answer the Essential Question and summarize our learning from the Talk the Talk!</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How can you use equations to solve for unknown input values of a function?</a:t>
            </a:r>
            <a:endParaRPr lang="en-US" sz="2800" b="0" i="0" u="none" strike="noStrike" baseline="0" dirty="0">
              <a:solidFill>
                <a:srgbClr val="000000"/>
              </a:solidFill>
            </a:endParaRPr>
          </a:p>
          <a:p>
            <a:pPr marL="0" lvl="1" indent="0">
              <a:lnSpc>
                <a:spcPct val="100000"/>
              </a:lnSpc>
              <a:spcBef>
                <a:spcPts val="200"/>
              </a:spcBef>
              <a:spcAft>
                <a:spcPts val="600"/>
              </a:spcAft>
              <a:buNone/>
            </a:pPr>
            <a:r>
              <a:rPr lang="en-US" sz="1800" dirty="0">
                <a:solidFill>
                  <a:srgbClr val="FF0000"/>
                </a:solidFill>
              </a:rPr>
              <a:t>Sample: Substitute the known output for the dependent variable, then use the properties of equality to isolate the variable. That value is the unknown input.</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45</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Optional · SE p. 352</a:t>
            </a:r>
          </a:p>
        </p:txBody>
      </p:sp>
    </p:spTree>
    <p:extLst>
      <p:ext uri="{BB962C8B-B14F-4D97-AF65-F5344CB8AC3E}">
        <p14:creationId xmlns:p14="http://schemas.microsoft.com/office/powerpoint/2010/main" val="183016815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GB" b="1" dirty="0"/>
              <a:t>One Step at a Time</a:t>
            </a:r>
            <a:r>
              <a:rPr lang="en-US" b="1" dirty="0"/>
              <a:t> </a:t>
            </a:r>
            <a:r>
              <a:rPr lang="en-US" sz="2000" b="1" dirty="0">
                <a:solidFill>
                  <a:schemeClr val="bg1"/>
                </a:solidFill>
              </a:rPr>
              <a:t>(3 of 3)</a:t>
            </a: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46</a:t>
            </a:fld>
          </a:p>
        </p:txBody>
      </p:sp>
    </p:spTree>
    <p:extLst>
      <p:ext uri="{BB962C8B-B14F-4D97-AF65-F5344CB8AC3E}">
        <p14:creationId xmlns:p14="http://schemas.microsoft.com/office/powerpoint/2010/main" val="3966400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9D4BB53-4DB0-9911-F228-6F2F5099313A}"/>
              </a:ext>
            </a:extLst>
          </p:cNvPr>
          <p:cNvSpPr>
            <a:spLocks noGrp="1"/>
          </p:cNvSpPr>
          <p:nvPr>
            <p:ph type="body" sz="quarter" idx="10"/>
          </p:nvPr>
        </p:nvSpPr>
        <p:spPr>
          <a:xfrm>
            <a:off x="1980406" y="2395538"/>
            <a:ext cx="8229600" cy="1033462"/>
          </a:xfrm>
        </p:spPr>
        <p:txBody>
          <a:bodyPr/>
          <a:lstStyle/>
          <a:p>
            <a:pPr marL="0" indent="0" algn="ctr">
              <a:buNone/>
            </a:pPr>
            <a:r>
              <a:rPr lang="en-US" dirty="0"/>
              <a:t>Tic-Tac-Bingo Board</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47</a:t>
            </a:fld>
          </a:p>
        </p:txBody>
      </p:sp>
      <p:sp>
        <p:nvSpPr>
          <p:cNvPr id="1008" name="Answer 1008"/>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000" b="1" dirty="0">
                <a:solidFill>
                  <a:srgbClr val="8A1C1C"/>
                </a:solidFill>
              </a:rPr>
              <a:t>Skip today: Tic-Tac-Bingo materials</a:t>
            </a:r>
          </a:p>
        </p:txBody>
      </p:sp>
      <p:sp>
        <p:nvSpPr>
          <p:cNvPr id="1006" name="Answer 100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Skip · SE p. 353</a:t>
            </a:r>
          </a:p>
        </p:txBody>
      </p:sp>
    </p:spTree>
    <p:extLst>
      <p:ext uri="{BB962C8B-B14F-4D97-AF65-F5344CB8AC3E}">
        <p14:creationId xmlns:p14="http://schemas.microsoft.com/office/powerpoint/2010/main" val="19436874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2155B-2115-246F-CA33-7199D88EE3D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886AE6-D754-0789-CFBF-F51A9CF0F41B}"/>
              </a:ext>
            </a:extLst>
          </p:cNvPr>
          <p:cNvSpPr>
            <a:spLocks noGrp="1"/>
          </p:cNvSpPr>
          <p:nvPr>
            <p:ph type="title"/>
          </p:nvPr>
        </p:nvSpPr>
        <p:spPr/>
        <p:txBody>
          <a:bodyPr/>
          <a:lstStyle/>
          <a:p>
            <a:pPr algn="l"/>
            <a:r>
              <a:rPr lang="en-GB" b="1" dirty="0"/>
              <a:t>Tic-Tac-Bingo Board</a:t>
            </a:r>
            <a:r>
              <a:rPr lang="en-US" b="1" dirty="0"/>
              <a:t> </a:t>
            </a:r>
            <a:r>
              <a:rPr lang="en-US" sz="2000" b="1" dirty="0">
                <a:solidFill>
                  <a:schemeClr val="bg1"/>
                </a:solidFill>
              </a:rPr>
              <a:t>(1 of 1) </a:t>
            </a:r>
          </a:p>
        </p:txBody>
      </p:sp>
      <p:pic>
        <p:nvPicPr>
          <p:cNvPr id="5" name="Picture 4" descr="A 3 row by 3 column tic-tac-bingo board.&#10;Free Space in the middle box.&#10;All other boxes show Equation, Solution.&#10;The middle box in the top row is labeled Solution is neither positive nor negative.&#10;The first box in the second row is labeled No solution.&#10;The last box in the third row is labeled Infinite solutions.">
            <a:extLst>
              <a:ext uri="{FF2B5EF4-FFF2-40B4-BE49-F238E27FC236}">
                <a16:creationId xmlns:a16="http://schemas.microsoft.com/office/drawing/2014/main" id="{CE77156F-40DF-5788-104A-28DAD1D6E3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9981" y="56858"/>
            <a:ext cx="5540220" cy="6744284"/>
          </a:xfrm>
          <a:prstGeom prst="rect">
            <a:avLst/>
          </a:prstGeom>
        </p:spPr>
      </p:pic>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48</a:t>
            </a:fld>
          </a:p>
        </p:txBody>
      </p:sp>
      <p:sp>
        <p:nvSpPr>
          <p:cNvPr id="1006" name="Answer 100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Skip · SE p. 353</a:t>
            </a:r>
          </a:p>
        </p:txBody>
      </p:sp>
    </p:spTree>
    <p:extLst>
      <p:ext uri="{BB962C8B-B14F-4D97-AF65-F5344CB8AC3E}">
        <p14:creationId xmlns:p14="http://schemas.microsoft.com/office/powerpoint/2010/main" val="37517754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7DD0D-9BBF-5650-5A22-421EB0447134}"/>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0243F69-A9CA-1F8F-816B-C0C7D85DAF17}"/>
              </a:ext>
            </a:extLst>
          </p:cNvPr>
          <p:cNvSpPr>
            <a:spLocks noGrp="1"/>
          </p:cNvSpPr>
          <p:nvPr>
            <p:ph type="body" sz="quarter" idx="10"/>
          </p:nvPr>
        </p:nvSpPr>
        <p:spPr>
          <a:xfrm>
            <a:off x="1980406" y="2395538"/>
            <a:ext cx="8229600" cy="1033462"/>
          </a:xfrm>
        </p:spPr>
        <p:txBody>
          <a:bodyPr/>
          <a:lstStyle/>
          <a:p>
            <a:pPr marL="0" indent="0" algn="ctr">
              <a:buNone/>
            </a:pPr>
            <a:r>
              <a:rPr lang="en-US" dirty="0"/>
              <a:t>Expression Cards</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49</a:t>
            </a:fld>
          </a:p>
        </p:txBody>
      </p:sp>
    </p:spTree>
    <p:extLst>
      <p:ext uri="{BB962C8B-B14F-4D97-AF65-F5344CB8AC3E}">
        <p14:creationId xmlns:p14="http://schemas.microsoft.com/office/powerpoint/2010/main" val="14414444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98261-F5FD-FA7E-82E2-4B8EC80FEA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91BD30-AB6C-825C-B7BA-7E96059EB405}"/>
              </a:ext>
            </a:extLst>
          </p:cNvPr>
          <p:cNvSpPr>
            <a:spLocks noGrp="1"/>
          </p:cNvSpPr>
          <p:nvPr>
            <p:ph type="title"/>
          </p:nvPr>
        </p:nvSpPr>
        <p:spPr/>
        <p:txBody>
          <a:bodyPr/>
          <a:lstStyle/>
          <a:p>
            <a:pPr algn="l"/>
            <a:r>
              <a:rPr lang="en-US" b="1" dirty="0"/>
              <a:t>Expression Cards </a:t>
            </a:r>
            <a:r>
              <a:rPr lang="en-US" sz="2000" b="1" dirty="0">
                <a:solidFill>
                  <a:schemeClr val="bg1"/>
                </a:solidFill>
              </a:rPr>
              <a:t>(1 of 1) </a:t>
            </a:r>
          </a:p>
        </p:txBody>
      </p:sp>
      <mc:AlternateContent xmlns:mc="http://schemas.openxmlformats.org/markup-compatibility/2006">
        <mc:Choice xmlns:a14="http://schemas.microsoft.com/office/drawing/2010/main" Requires="a14">
          <p:graphicFrame>
            <p:nvGraphicFramePr>
              <p:cNvPr id="6" name="Table 5" descr="A six-column table with columns labeled 1, 2, 3, 4, 5, 6. Four row labeled capital A, capital B, lowercase A, lowercase B. Each row has a series of expressions.">
                <a:extLst>
                  <a:ext uri="{FF2B5EF4-FFF2-40B4-BE49-F238E27FC236}">
                    <a16:creationId xmlns:a16="http://schemas.microsoft.com/office/drawing/2014/main" id="{65489984-213C-356E-7515-ADB575CAF6AB}"/>
                  </a:ext>
                </a:extLst>
              </p:cNvPr>
              <p:cNvGraphicFramePr>
                <a:graphicFrameLocks noGrp="1"/>
              </p:cNvGraphicFramePr>
              <p:nvPr>
                <p:extLst>
                  <p:ext uri="{D42A27DB-BD31-4B8C-83A1-F6EECF244321}">
                    <p14:modId xmlns:p14="http://schemas.microsoft.com/office/powerpoint/2010/main" val="2768397218"/>
                  </p:ext>
                </p:extLst>
              </p:nvPr>
            </p:nvGraphicFramePr>
            <p:xfrm>
              <a:off x="777240" y="1574799"/>
              <a:ext cx="11213404" cy="4754880"/>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780593117"/>
                        </a:ext>
                      </a:extLst>
                    </a:gridCol>
                    <a:gridCol w="1205294">
                      <a:extLst>
                        <a:ext uri="{9D8B030D-6E8A-4147-A177-3AD203B41FA5}">
                          <a16:colId xmlns:a16="http://schemas.microsoft.com/office/drawing/2014/main" val="3150086030"/>
                        </a:ext>
                      </a:extLst>
                    </a:gridCol>
                    <a:gridCol w="1854298">
                      <a:extLst>
                        <a:ext uri="{9D8B030D-6E8A-4147-A177-3AD203B41FA5}">
                          <a16:colId xmlns:a16="http://schemas.microsoft.com/office/drawing/2014/main" val="1632184595"/>
                        </a:ext>
                      </a:extLst>
                    </a:gridCol>
                    <a:gridCol w="2132443">
                      <a:extLst>
                        <a:ext uri="{9D8B030D-6E8A-4147-A177-3AD203B41FA5}">
                          <a16:colId xmlns:a16="http://schemas.microsoft.com/office/drawing/2014/main" val="1978269349"/>
                        </a:ext>
                      </a:extLst>
                    </a:gridCol>
                    <a:gridCol w="1854298">
                      <a:extLst>
                        <a:ext uri="{9D8B030D-6E8A-4147-A177-3AD203B41FA5}">
                          <a16:colId xmlns:a16="http://schemas.microsoft.com/office/drawing/2014/main" val="1020820929"/>
                        </a:ext>
                      </a:extLst>
                    </a:gridCol>
                    <a:gridCol w="1761583">
                      <a:extLst>
                        <a:ext uri="{9D8B030D-6E8A-4147-A177-3AD203B41FA5}">
                          <a16:colId xmlns:a16="http://schemas.microsoft.com/office/drawing/2014/main" val="3826028649"/>
                        </a:ext>
                      </a:extLst>
                    </a:gridCol>
                    <a:gridCol w="2039728">
                      <a:extLst>
                        <a:ext uri="{9D8B030D-6E8A-4147-A177-3AD203B41FA5}">
                          <a16:colId xmlns:a16="http://schemas.microsoft.com/office/drawing/2014/main" val="2775482858"/>
                        </a:ext>
                      </a:extLst>
                    </a:gridCol>
                  </a:tblGrid>
                  <a:tr h="365760">
                    <a:tc>
                      <a:txBody>
                        <a:bodyPr/>
                        <a:lstStyle/>
                        <a:p>
                          <a:pPr algn="ctr"/>
                          <a:endParaRPr lang="en-US" sz="1800" dirty="0">
                            <a:solidFill>
                              <a:srgbClr val="000000"/>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solidFill>
                                <a:srgbClr val="000000"/>
                              </a:solidFill>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443149759"/>
                      </a:ext>
                    </a:extLst>
                  </a:tr>
                  <a:tr h="1097280">
                    <a:tc>
                      <a:txBody>
                        <a:bodyPr/>
                        <a:lstStyle/>
                        <a:p>
                          <a:pPr algn="ctr"/>
                          <a:r>
                            <a:rPr lang="en-US" sz="1800" dirty="0">
                              <a:solidFill>
                                <a:srgbClr val="000000"/>
                              </a:solidFill>
                              <a:latin typeface="+mn-lt"/>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i="1" dirty="0">
                              <a:solidFill>
                                <a:srgbClr val="000000"/>
                              </a:solidFill>
                              <a:latin typeface="+mn-lt"/>
                            </a:rPr>
                            <a:t>x</a:t>
                          </a:r>
                          <a:r>
                            <a:rPr lang="en-US" sz="1700" dirty="0">
                              <a:solidFill>
                                <a:srgbClr val="000000"/>
                              </a:solidFill>
                              <a:latin typeface="+mn-lt"/>
                            </a:rPr>
                            <a:t> + 3(</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a:t>
                          </a:r>
                          <a:r>
                            <a:rPr lang="en-US" sz="1700" i="1" dirty="0">
                              <a:solidFill>
                                <a:srgbClr val="000000"/>
                              </a:solidFill>
                              <a:latin typeface="+mn-lt"/>
                            </a:rPr>
                            <a:t>x</a:t>
                          </a:r>
                          <a:r>
                            <a:rPr lang="en-US" sz="1700" dirty="0">
                              <a:solidFill>
                                <a:srgbClr val="000000"/>
                              </a:solidFill>
                              <a:latin typeface="+mn-lt"/>
                            </a:rPr>
                            <a:t> + 2(</a:t>
                          </a:r>
                          <a:r>
                            <a:rPr lang="en-US" sz="1700" i="1" dirty="0">
                              <a:solidFill>
                                <a:srgbClr val="000000"/>
                              </a:solidFill>
                              <a:latin typeface="+mn-lt"/>
                            </a:rPr>
                            <a:t>x</a:t>
                          </a:r>
                          <a:r>
                            <a:rPr lang="en-US" sz="1700" dirty="0">
                              <a:solidFill>
                                <a:srgbClr val="000000"/>
                              </a:solidFill>
                              <a:latin typeface="+mn-lt"/>
                            </a:rPr>
                            <a:t> + 2) – 5</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–2(3</a:t>
                          </a:r>
                          <a:r>
                            <a:rPr lang="en-US" sz="1700" i="1" dirty="0">
                              <a:solidFill>
                                <a:srgbClr val="000000"/>
                              </a:solidFill>
                              <a:latin typeface="+mn-lt"/>
                            </a:rPr>
                            <a:t>x</a:t>
                          </a:r>
                          <a:r>
                            <a:rPr lang="en-US" sz="1700" dirty="0">
                              <a:solidFill>
                                <a:srgbClr val="000000"/>
                              </a:solidFill>
                              <a:latin typeface="+mn-lt"/>
                            </a:rPr>
                            <a:t> – 1) + 3</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2(1 – 3</a:t>
                          </a:r>
                          <a:r>
                            <a:rPr lang="en-US" sz="1700" i="1" dirty="0">
                              <a:solidFill>
                                <a:srgbClr val="000000"/>
                              </a:solidFill>
                              <a:latin typeface="+mn-lt"/>
                            </a:rPr>
                            <a:t>x</a:t>
                          </a:r>
                          <a:r>
                            <a:rPr lang="en-US" sz="1700" dirty="0">
                              <a:solidFill>
                                <a:srgbClr val="000000"/>
                              </a:solidFill>
                              <a:latin typeface="+mn-lt"/>
                            </a:rPr>
                            <a:t>)</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8</a:t>
                          </a:r>
                          <a:r>
                            <a:rPr lang="en-US" sz="1700" i="1" dirty="0">
                              <a:solidFill>
                                <a:srgbClr val="000000"/>
                              </a:solidFill>
                              <a:latin typeface="+mn-lt"/>
                            </a:rPr>
                            <a:t>x</a:t>
                          </a:r>
                          <a:r>
                            <a:rPr lang="en-US" sz="1700" dirty="0">
                              <a:solidFill>
                                <a:srgbClr val="000000"/>
                              </a:solidFill>
                              <a:latin typeface="+mn-lt"/>
                            </a:rPr>
                            <a:t> – 3(2</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1700" i="1" smtClean="0">
                                        <a:solidFill>
                                          <a:srgbClr val="000000"/>
                                        </a:solidFill>
                                        <a:latin typeface="Cambria Math" panose="02040503050406030204" pitchFamily="18" charset="0"/>
                                      </a:rPr>
                                    </m:ctrlPr>
                                  </m:fPr>
                                  <m:num>
                                    <m:d>
                                      <m:dPr>
                                        <m:ctrlPr>
                                          <a:rPr lang="en-US" sz="1700" i="1" smtClean="0">
                                            <a:solidFill>
                                              <a:srgbClr val="000000"/>
                                            </a:solidFill>
                                            <a:latin typeface="Cambria Math" panose="02040503050406030204" pitchFamily="18" charset="0"/>
                                          </a:rPr>
                                        </m:ctrlPr>
                                      </m:dPr>
                                      <m:e>
                                        <m:r>
                                          <a:rPr lang="en-US" sz="1700" b="0" i="1" smtClean="0">
                                            <a:solidFill>
                                              <a:srgbClr val="000000"/>
                                            </a:solidFill>
                                            <a:latin typeface="Cambria Math" panose="02040503050406030204" pitchFamily="18" charset="0"/>
                                          </a:rPr>
                                          <m:t>2</m:t>
                                        </m:r>
                                        <m:r>
                                          <a:rPr lang="en-US" sz="1700" b="0" i="1" smtClean="0">
                                            <a:solidFill>
                                              <a:srgbClr val="000000"/>
                                            </a:solidFill>
                                            <a:latin typeface="Cambria Math" panose="02040503050406030204" pitchFamily="18" charset="0"/>
                                          </a:rPr>
                                          <m:t>𝑥</m:t>
                                        </m:r>
                                        <m:r>
                                          <a:rPr lang="en-US" sz="1700" b="0" i="1" smtClean="0">
                                            <a:solidFill>
                                              <a:srgbClr val="000000"/>
                                            </a:solidFill>
                                            <a:latin typeface="Cambria Math" panose="02040503050406030204" pitchFamily="18" charset="0"/>
                                          </a:rPr>
                                          <m:t>−7</m:t>
                                        </m:r>
                                      </m:e>
                                    </m:d>
                                  </m:num>
                                  <m:den>
                                    <m:r>
                                      <a:rPr lang="en-US" sz="1700" b="0" i="1" smtClean="0">
                                        <a:solidFill>
                                          <a:srgbClr val="000000"/>
                                        </a:solidFill>
                                        <a:latin typeface="Cambria Math" panose="02040503050406030204" pitchFamily="18" charset="0"/>
                                      </a:rPr>
                                      <m:t>2</m:t>
                                    </m:r>
                                  </m:den>
                                </m:f>
                                <m:r>
                                  <a:rPr lang="en-US" sz="1700" b="0" i="1" smtClean="0">
                                    <a:solidFill>
                                      <a:srgbClr val="000000"/>
                                    </a:solidFill>
                                    <a:latin typeface="Cambria Math" panose="02040503050406030204" pitchFamily="18" charset="0"/>
                                  </a:rPr>
                                  <m:t>+</m:t>
                                </m:r>
                                <m:f>
                                  <m:fPr>
                                    <m:ctrlPr>
                                      <a:rPr lang="en-US" sz="1700" b="0" i="1" smtClean="0">
                                        <a:solidFill>
                                          <a:srgbClr val="000000"/>
                                        </a:solidFill>
                                        <a:latin typeface="Cambria Math" panose="02040503050406030204" pitchFamily="18" charset="0"/>
                                      </a:rPr>
                                    </m:ctrlPr>
                                  </m:fPr>
                                  <m:num>
                                    <m:d>
                                      <m:dPr>
                                        <m:ctrlPr>
                                          <a:rPr lang="en-US" sz="1700" b="0" i="1" smtClean="0">
                                            <a:solidFill>
                                              <a:srgbClr val="000000"/>
                                            </a:solidFill>
                                            <a:latin typeface="Cambria Math" panose="02040503050406030204" pitchFamily="18" charset="0"/>
                                          </a:rPr>
                                        </m:ctrlPr>
                                      </m:dPr>
                                      <m:e>
                                        <m:r>
                                          <a:rPr lang="en-US" sz="1700" b="0" i="1" smtClean="0">
                                            <a:solidFill>
                                              <a:srgbClr val="000000"/>
                                            </a:solidFill>
                                            <a:latin typeface="Cambria Math" panose="02040503050406030204" pitchFamily="18" charset="0"/>
                                          </a:rPr>
                                          <m:t>2</m:t>
                                        </m:r>
                                        <m:r>
                                          <a:rPr lang="en-US" sz="1700" b="0" i="1" smtClean="0">
                                            <a:solidFill>
                                              <a:srgbClr val="000000"/>
                                            </a:solidFill>
                                            <a:latin typeface="Cambria Math" panose="02040503050406030204" pitchFamily="18" charset="0"/>
                                          </a:rPr>
                                          <m:t>𝑥</m:t>
                                        </m:r>
                                        <m:r>
                                          <a:rPr lang="en-US" sz="1700" b="0" i="1" smtClean="0">
                                            <a:solidFill>
                                              <a:srgbClr val="000000"/>
                                            </a:solidFill>
                                            <a:latin typeface="Cambria Math" panose="02040503050406030204" pitchFamily="18" charset="0"/>
                                          </a:rPr>
                                          <m:t>−3</m:t>
                                        </m:r>
                                      </m:e>
                                    </m:d>
                                  </m:num>
                                  <m:den>
                                    <m:r>
                                      <a:rPr lang="en-US" sz="1700" b="0" i="1" smtClean="0">
                                        <a:solidFill>
                                          <a:srgbClr val="000000"/>
                                        </a:solidFill>
                                        <a:latin typeface="Cambria Math" panose="02040503050406030204" pitchFamily="18" charset="0"/>
                                      </a:rPr>
                                      <m:t>2</m:t>
                                    </m:r>
                                  </m:den>
                                </m:f>
                              </m:oMath>
                            </m:oMathPara>
                          </a14:m>
                          <a:endParaRPr lang="en-US" sz="1700" dirty="0">
                            <a:solidFill>
                              <a:srgbClr val="000000"/>
                            </a:solidFill>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31286983"/>
                      </a:ext>
                    </a:extLst>
                  </a:tr>
                  <a:tr h="1097280">
                    <a:tc>
                      <a:txBody>
                        <a:bodyPr/>
                        <a:lstStyle/>
                        <a:p>
                          <a:pPr algn="ctr"/>
                          <a:r>
                            <a:rPr lang="en-US" sz="1800" dirty="0">
                              <a:solidFill>
                                <a:srgbClr val="000000"/>
                              </a:solidFill>
                              <a:latin typeface="+mn-lt"/>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dirty="0">
                              <a:solidFill>
                                <a:srgbClr val="000000"/>
                              </a:solidFill>
                              <a:latin typeface="+mn-lt"/>
                            </a:rPr>
                            <a:t>3(</a:t>
                          </a:r>
                          <a:r>
                            <a:rPr lang="en-US" sz="1700" i="1" dirty="0">
                              <a:solidFill>
                                <a:srgbClr val="000000"/>
                              </a:solidFill>
                              <a:latin typeface="+mn-lt"/>
                            </a:rPr>
                            <a:t>x</a:t>
                          </a:r>
                          <a:r>
                            <a:rPr lang="en-US" sz="1700" dirty="0">
                              <a:solidFill>
                                <a:srgbClr val="000000"/>
                              </a:solidFill>
                              <a:latin typeface="+mn-lt"/>
                            </a:rPr>
                            <a:t> – 2) + 2</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9</a:t>
                          </a:r>
                          <a:r>
                            <a:rPr lang="en-US" sz="1700" i="1" dirty="0">
                              <a:solidFill>
                                <a:srgbClr val="000000"/>
                              </a:solidFill>
                              <a:latin typeface="+mn-lt"/>
                            </a:rPr>
                            <a:t>x</a:t>
                          </a:r>
                          <a:r>
                            <a:rPr lang="en-US" sz="1700" dirty="0">
                              <a:solidFill>
                                <a:srgbClr val="000000"/>
                              </a:solidFill>
                              <a:latin typeface="+mn-lt"/>
                            </a:rPr>
                            <a:t> – 2(3</a:t>
                          </a:r>
                          <a:r>
                            <a:rPr lang="en-US" sz="1700" i="1" dirty="0">
                              <a:solidFill>
                                <a:srgbClr val="000000"/>
                              </a:solidFill>
                              <a:latin typeface="+mn-lt"/>
                            </a:rPr>
                            <a:t>x</a:t>
                          </a:r>
                          <a:r>
                            <a:rPr lang="en-US" sz="1700" dirty="0">
                              <a:solidFill>
                                <a:srgbClr val="000000"/>
                              </a:solidFill>
                              <a:latin typeface="+mn-lt"/>
                            </a:rPr>
                            <a:t> + 1) + 7</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–4(2</a:t>
                          </a:r>
                          <a:r>
                            <a:rPr lang="en-US" sz="1700" i="1" dirty="0">
                              <a:solidFill>
                                <a:srgbClr val="000000"/>
                              </a:solidFill>
                              <a:latin typeface="+mn-lt"/>
                            </a:rPr>
                            <a:t>x</a:t>
                          </a:r>
                          <a:r>
                            <a:rPr lang="en-US" sz="1700" dirty="0">
                              <a:solidFill>
                                <a:srgbClr val="000000"/>
                              </a:solidFill>
                              <a:latin typeface="+mn-lt"/>
                            </a:rPr>
                            <a:t> – 2) + 2(2</a:t>
                          </a:r>
                          <a:r>
                            <a:rPr lang="en-US" sz="1700" i="1" dirty="0">
                              <a:solidFill>
                                <a:srgbClr val="000000"/>
                              </a:solidFill>
                              <a:latin typeface="+mn-lt"/>
                            </a:rPr>
                            <a:t>x</a:t>
                          </a:r>
                          <a:r>
                            <a:rPr lang="en-US" sz="1700" dirty="0">
                              <a:solidFill>
                                <a:srgbClr val="000000"/>
                              </a:solidFill>
                              <a:latin typeface="+mn-lt"/>
                            </a:rPr>
                            <a:t> – 3)</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–2(2</a:t>
                          </a:r>
                          <a:r>
                            <a:rPr lang="en-US" sz="1700" i="1" dirty="0">
                              <a:solidFill>
                                <a:srgbClr val="000000"/>
                              </a:solidFill>
                              <a:latin typeface="+mn-lt"/>
                            </a:rPr>
                            <a:t>x</a:t>
                          </a:r>
                          <a:r>
                            <a:rPr lang="en-US" sz="1700" dirty="0">
                              <a:solidFill>
                                <a:srgbClr val="000000"/>
                              </a:solidFill>
                              <a:latin typeface="+mn-lt"/>
                            </a:rPr>
                            <a:t> + 3)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a:t>
                          </a:r>
                          <a:r>
                            <a:rPr lang="en-US" sz="1700" i="1" dirty="0">
                              <a:solidFill>
                                <a:srgbClr val="000000"/>
                              </a:solidFill>
                              <a:latin typeface="+mn-lt"/>
                            </a:rPr>
                            <a:t>x</a:t>
                          </a:r>
                          <a:r>
                            <a:rPr lang="en-US" sz="1700" dirty="0">
                              <a:solidFill>
                                <a:srgbClr val="000000"/>
                              </a:solidFill>
                              <a:latin typeface="+mn-lt"/>
                            </a:rPr>
                            <a:t> – 2) + 3(</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5(</a:t>
                          </a:r>
                          <a:r>
                            <a:rPr lang="en-US" sz="1700" i="1" dirty="0">
                              <a:solidFill>
                                <a:srgbClr val="000000"/>
                              </a:solidFill>
                              <a:latin typeface="+mn-lt"/>
                            </a:rPr>
                            <a:t>x</a:t>
                          </a:r>
                          <a:r>
                            <a:rPr lang="en-US" sz="1700" dirty="0">
                              <a:solidFill>
                                <a:srgbClr val="000000"/>
                              </a:solidFill>
                              <a:latin typeface="+mn-lt"/>
                            </a:rPr>
                            <a:t> – 1)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22017880"/>
                      </a:ext>
                    </a:extLst>
                  </a:tr>
                  <a:tr h="1097280">
                    <a:tc>
                      <a:txBody>
                        <a:bodyPr/>
                        <a:lstStyle/>
                        <a:p>
                          <a:pPr algn="ctr"/>
                          <a:r>
                            <a:rPr lang="en-US" sz="1800" dirty="0">
                              <a:solidFill>
                                <a:srgbClr val="000000"/>
                              </a:solidFill>
                              <a:latin typeface="+mn-lt"/>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1700" i="1" smtClean="0">
                                        <a:solidFill>
                                          <a:srgbClr val="000000"/>
                                        </a:solidFill>
                                        <a:latin typeface="Cambria Math" panose="02040503050406030204" pitchFamily="18" charset="0"/>
                                      </a:rPr>
                                    </m:ctrlPr>
                                  </m:fPr>
                                  <m:num>
                                    <m:d>
                                      <m:dPr>
                                        <m:ctrlPr>
                                          <a:rPr lang="en-US" sz="1700" i="1" smtClean="0">
                                            <a:solidFill>
                                              <a:srgbClr val="000000"/>
                                            </a:solidFill>
                                            <a:latin typeface="Cambria Math" panose="02040503050406030204" pitchFamily="18" charset="0"/>
                                          </a:rPr>
                                        </m:ctrlPr>
                                      </m:dPr>
                                      <m:e>
                                        <m:r>
                                          <a:rPr lang="en-US" sz="1700" b="0" i="1" smtClean="0">
                                            <a:solidFill>
                                              <a:srgbClr val="000000"/>
                                            </a:solidFill>
                                            <a:latin typeface="Cambria Math" panose="02040503050406030204" pitchFamily="18" charset="0"/>
                                          </a:rPr>
                                          <m:t>12</m:t>
                                        </m:r>
                                        <m:r>
                                          <a:rPr lang="en-US" sz="1700" b="0" i="1" smtClean="0">
                                            <a:solidFill>
                                              <a:srgbClr val="000000"/>
                                            </a:solidFill>
                                            <a:latin typeface="Cambria Math" panose="02040503050406030204" pitchFamily="18" charset="0"/>
                                          </a:rPr>
                                          <m:t>𝑥</m:t>
                                        </m:r>
                                        <m:r>
                                          <a:rPr lang="en-US" sz="1700" b="0" i="1" smtClean="0">
                                            <a:solidFill>
                                              <a:srgbClr val="000000"/>
                                            </a:solidFill>
                                            <a:latin typeface="Cambria Math" panose="02040503050406030204" pitchFamily="18" charset="0"/>
                                          </a:rPr>
                                          <m:t>+9</m:t>
                                        </m:r>
                                      </m:e>
                                    </m:d>
                                  </m:num>
                                  <m:den>
                                    <m:r>
                                      <a:rPr lang="en-US" sz="1700" b="0" i="1" smtClean="0">
                                        <a:solidFill>
                                          <a:srgbClr val="000000"/>
                                        </a:solidFill>
                                        <a:latin typeface="Cambria Math" panose="02040503050406030204" pitchFamily="18" charset="0"/>
                                      </a:rPr>
                                      <m:t>3</m:t>
                                    </m:r>
                                  </m:den>
                                </m:f>
                              </m:oMath>
                            </m:oMathPara>
                          </a14:m>
                          <a:endParaRPr lang="en-US" sz="1700" dirty="0">
                            <a:solidFill>
                              <a:srgbClr val="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3(</a:t>
                          </a:r>
                          <a:r>
                            <a:rPr lang="en-US" sz="1700" i="1" dirty="0">
                              <a:solidFill>
                                <a:srgbClr val="000000"/>
                              </a:solidFill>
                              <a:latin typeface="+mn-lt"/>
                            </a:rPr>
                            <a:t>x</a:t>
                          </a:r>
                          <a:r>
                            <a:rPr lang="en-US" sz="1700" dirty="0">
                              <a:solidFill>
                                <a:srgbClr val="000000"/>
                              </a:solidFill>
                              <a:latin typeface="+mn-lt"/>
                            </a:rPr>
                            <a:t> – 1) + (</a:t>
                          </a:r>
                          <a:r>
                            <a:rPr lang="en-US" sz="1700" i="1" dirty="0">
                              <a:solidFill>
                                <a:srgbClr val="000000"/>
                              </a:solidFill>
                              <a:latin typeface="+mn-lt"/>
                            </a:rPr>
                            <a:t>x</a:t>
                          </a:r>
                          <a:r>
                            <a:rPr lang="en-US" sz="1700" dirty="0">
                              <a:solidFill>
                                <a:srgbClr val="000000"/>
                              </a:solidFill>
                              <a:latin typeface="+mn-lt"/>
                            </a:rPr>
                            <a:t> + 2)</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3(2</a:t>
                          </a:r>
                          <a:r>
                            <a:rPr lang="en-US" sz="1700" i="1" dirty="0">
                              <a:solidFill>
                                <a:srgbClr val="000000"/>
                              </a:solidFill>
                              <a:latin typeface="+mn-lt"/>
                            </a:rPr>
                            <a:t>x</a:t>
                          </a:r>
                          <a:r>
                            <a:rPr lang="en-US" sz="1700" dirty="0">
                              <a:solidFill>
                                <a:srgbClr val="000000"/>
                              </a:solidFill>
                              <a:latin typeface="+mn-lt"/>
                            </a:rPr>
                            <a:t> + 2) – 4(3</a:t>
                          </a:r>
                          <a:r>
                            <a:rPr lang="en-US" sz="1700" i="1" dirty="0">
                              <a:solidFill>
                                <a:srgbClr val="000000"/>
                              </a:solidFill>
                              <a:latin typeface="+mn-lt"/>
                            </a:rPr>
                            <a:t>x</a:t>
                          </a:r>
                          <a:r>
                            <a:rPr lang="en-US" sz="1700" dirty="0">
                              <a:solidFill>
                                <a:srgbClr val="000000"/>
                              </a:solidFill>
                              <a:latin typeface="+mn-lt"/>
                            </a:rPr>
                            <a:t> + </a:t>
                          </a:r>
                          <a14:m>
                            <m:oMath xmlns:m="http://schemas.openxmlformats.org/officeDocument/2006/math">
                              <m:f>
                                <m:fPr>
                                  <m:ctrlPr>
                                    <a:rPr lang="en-US" sz="1700" i="1" smtClean="0">
                                      <a:solidFill>
                                        <a:srgbClr val="000000"/>
                                      </a:solidFill>
                                      <a:latin typeface="Cambria Math" panose="02040503050406030204" pitchFamily="18" charset="0"/>
                                    </a:rPr>
                                  </m:ctrlPr>
                                </m:fPr>
                                <m:num>
                                  <m:r>
                                    <a:rPr lang="en-US" sz="1700" b="0" i="1" smtClean="0">
                                      <a:solidFill>
                                        <a:srgbClr val="000000"/>
                                      </a:solidFill>
                                      <a:latin typeface="Cambria Math" panose="02040503050406030204" pitchFamily="18" charset="0"/>
                                    </a:rPr>
                                    <m:t>1</m:t>
                                  </m:r>
                                </m:num>
                                <m:den>
                                  <m:r>
                                    <a:rPr lang="en-US" sz="1700" b="0" i="1" smtClean="0">
                                      <a:solidFill>
                                        <a:srgbClr val="000000"/>
                                      </a:solidFill>
                                      <a:latin typeface="Cambria Math" panose="02040503050406030204" pitchFamily="18" charset="0"/>
                                    </a:rPr>
                                    <m:t>4</m:t>
                                  </m:r>
                                </m:den>
                              </m:f>
                            </m:oMath>
                          </a14:m>
                          <a:r>
                            <a:rPr lang="en-US" sz="1700" dirty="0">
                              <a:solidFill>
                                <a:srgbClr val="000000"/>
                              </a:solidFill>
                              <a:latin typeface="+mn-lt"/>
                            </a:rPr>
                            <a:t>)</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a:t>
                          </a:r>
                          <a:r>
                            <a:rPr lang="en-US" sz="1700" i="1" dirty="0">
                              <a:solidFill>
                                <a:srgbClr val="000000"/>
                              </a:solidFill>
                              <a:latin typeface="+mn-lt"/>
                            </a:rPr>
                            <a:t>x</a:t>
                          </a:r>
                          <a:r>
                            <a:rPr lang="en-US" sz="1700" dirty="0">
                              <a:solidFill>
                                <a:srgbClr val="000000"/>
                              </a:solidFill>
                              <a:latin typeface="+mn-lt"/>
                            </a:rPr>
                            <a:t> – 2(4</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1700" i="1" smtClean="0">
                                        <a:solidFill>
                                          <a:srgbClr val="000000"/>
                                        </a:solidFill>
                                        <a:latin typeface="Cambria Math" panose="02040503050406030204" pitchFamily="18" charset="0"/>
                                      </a:rPr>
                                    </m:ctrlPr>
                                  </m:fPr>
                                  <m:num>
                                    <m:r>
                                      <a:rPr lang="en-US" sz="1700" b="0" i="1" smtClean="0">
                                        <a:solidFill>
                                          <a:srgbClr val="000000"/>
                                        </a:solidFill>
                                        <a:latin typeface="Cambria Math" panose="02040503050406030204" pitchFamily="18" charset="0"/>
                                      </a:rPr>
                                      <m:t>4</m:t>
                                    </m:r>
                                    <m:r>
                                      <a:rPr lang="en-US" sz="1700" b="0" i="1" smtClean="0">
                                        <a:solidFill>
                                          <a:srgbClr val="000000"/>
                                        </a:solidFill>
                                        <a:latin typeface="Cambria Math" panose="02040503050406030204" pitchFamily="18" charset="0"/>
                                      </a:rPr>
                                      <m:t>𝑥</m:t>
                                    </m:r>
                                    <m:r>
                                      <a:rPr lang="en-US" sz="1700" b="0" i="1" smtClean="0">
                                        <a:solidFill>
                                          <a:srgbClr val="000000"/>
                                        </a:solidFill>
                                        <a:latin typeface="Cambria Math" panose="02040503050406030204" pitchFamily="18" charset="0"/>
                                      </a:rPr>
                                      <m:t>+5</m:t>
                                    </m:r>
                                  </m:num>
                                  <m:den>
                                    <m:r>
                                      <a:rPr lang="en-US" sz="1700" b="0" i="1" smtClean="0">
                                        <a:solidFill>
                                          <a:srgbClr val="000000"/>
                                        </a:solidFill>
                                        <a:latin typeface="Cambria Math" panose="02040503050406030204" pitchFamily="18" charset="0"/>
                                      </a:rPr>
                                      <m:t>2</m:t>
                                    </m:r>
                                  </m:den>
                                </m:f>
                                <m:r>
                                  <a:rPr lang="en-US" sz="1700" b="0" i="1" smtClean="0">
                                    <a:solidFill>
                                      <a:srgbClr val="000000"/>
                                    </a:solidFill>
                                    <a:latin typeface="Cambria Math" panose="02040503050406030204" pitchFamily="18" charset="0"/>
                                  </a:rPr>
                                  <m:t>+</m:t>
                                </m:r>
                                <m:f>
                                  <m:fPr>
                                    <m:ctrlPr>
                                      <a:rPr lang="en-US" sz="1700" b="0" i="1" smtClean="0">
                                        <a:solidFill>
                                          <a:srgbClr val="000000"/>
                                        </a:solidFill>
                                        <a:latin typeface="Cambria Math" panose="02040503050406030204" pitchFamily="18" charset="0"/>
                                      </a:rPr>
                                    </m:ctrlPr>
                                  </m:fPr>
                                  <m:num>
                                    <m:r>
                                      <a:rPr lang="en-US" sz="1700" b="0" i="1" smtClean="0">
                                        <a:solidFill>
                                          <a:srgbClr val="000000"/>
                                        </a:solidFill>
                                        <a:latin typeface="Cambria Math" panose="02040503050406030204" pitchFamily="18" charset="0"/>
                                      </a:rPr>
                                      <m:t>1</m:t>
                                    </m:r>
                                  </m:num>
                                  <m:den>
                                    <m:r>
                                      <a:rPr lang="en-US" sz="1700" b="0" i="1" smtClean="0">
                                        <a:solidFill>
                                          <a:srgbClr val="000000"/>
                                        </a:solidFill>
                                        <a:latin typeface="Cambria Math" panose="02040503050406030204" pitchFamily="18" charset="0"/>
                                      </a:rPr>
                                      <m:t>2</m:t>
                                    </m:r>
                                  </m:den>
                                </m:f>
                              </m:oMath>
                            </m:oMathPara>
                          </a14:m>
                          <a:endParaRPr lang="en-US" sz="1700" dirty="0">
                            <a:solidFill>
                              <a:srgbClr val="000000"/>
                            </a:solidFill>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3 + 2(</a:t>
                          </a:r>
                          <a:r>
                            <a:rPr lang="en-US" sz="1700" i="1" dirty="0">
                              <a:solidFill>
                                <a:srgbClr val="000000"/>
                              </a:solidFill>
                              <a:latin typeface="+mn-lt"/>
                            </a:rPr>
                            <a:t>x</a:t>
                          </a:r>
                          <a:r>
                            <a:rPr lang="en-US" sz="1700" dirty="0">
                              <a:solidFill>
                                <a:srgbClr val="000000"/>
                              </a:solidFill>
                              <a:latin typeface="+mn-lt"/>
                            </a:rPr>
                            <a:t> – 4)</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3970347795"/>
                      </a:ext>
                    </a:extLst>
                  </a:tr>
                  <a:tr h="1097280">
                    <a:tc>
                      <a:txBody>
                        <a:bodyPr/>
                        <a:lstStyle/>
                        <a:p>
                          <a:pPr algn="ctr"/>
                          <a:r>
                            <a:rPr lang="en-US" sz="1800" dirty="0">
                              <a:solidFill>
                                <a:srgbClr val="000000"/>
                              </a:solidFill>
                              <a:latin typeface="+mn-lt"/>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i="1" dirty="0">
                              <a:solidFill>
                                <a:srgbClr val="000000"/>
                              </a:solidFill>
                              <a:latin typeface="+mn-lt"/>
                            </a:rPr>
                            <a:t>x</a:t>
                          </a:r>
                          <a:r>
                            <a:rPr lang="en-US" sz="1700" dirty="0">
                              <a:solidFill>
                                <a:srgbClr val="000000"/>
                              </a:solidFill>
                              <a:latin typeface="+mn-lt"/>
                            </a:rPr>
                            <a:t> + 2(</a:t>
                          </a:r>
                          <a:r>
                            <a:rPr lang="en-US" sz="1700" i="1" dirty="0">
                              <a:solidFill>
                                <a:srgbClr val="000000"/>
                              </a:solidFill>
                              <a:latin typeface="+mn-lt"/>
                            </a:rPr>
                            <a:t>x</a:t>
                          </a:r>
                          <a:r>
                            <a:rPr lang="en-US" sz="1700" dirty="0">
                              <a:solidFill>
                                <a:srgbClr val="000000"/>
                              </a:solidFill>
                              <a:latin typeface="+mn-lt"/>
                            </a:rPr>
                            <a:t> – 2)</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2(4</a:t>
                          </a:r>
                          <a:r>
                            <a:rPr lang="en-US" sz="1700" i="1" dirty="0">
                              <a:solidFill>
                                <a:srgbClr val="000000"/>
                              </a:solidFill>
                              <a:latin typeface="+mn-lt"/>
                            </a:rPr>
                            <a:t>x</a:t>
                          </a:r>
                          <a:r>
                            <a:rPr lang="en-US" sz="1700" dirty="0">
                              <a:solidFill>
                                <a:srgbClr val="000000"/>
                              </a:solidFill>
                              <a:latin typeface="+mn-lt"/>
                            </a:rPr>
                            <a:t> + 5) – 5(</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–2(2</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(4</a:t>
                          </a:r>
                          <a:r>
                            <a:rPr lang="en-US" sz="1700" i="1" dirty="0">
                              <a:solidFill>
                                <a:srgbClr val="000000"/>
                              </a:solidFill>
                              <a:latin typeface="+mn-lt"/>
                            </a:rPr>
                            <a:t>x</a:t>
                          </a:r>
                          <a:r>
                            <a:rPr lang="en-US" sz="1700" dirty="0">
                              <a:solidFill>
                                <a:srgbClr val="000000"/>
                              </a:solidFill>
                              <a:latin typeface="+mn-lt"/>
                            </a:rPr>
                            <a:t> + 1) – 2(4</a:t>
                          </a:r>
                          <a:r>
                            <a:rPr lang="en-US" sz="1700" i="1" dirty="0">
                              <a:solidFill>
                                <a:srgbClr val="000000"/>
                              </a:solidFill>
                              <a:latin typeface="+mn-lt"/>
                            </a:rPr>
                            <a:t>x</a:t>
                          </a:r>
                          <a:r>
                            <a:rPr lang="en-US" sz="1700" dirty="0">
                              <a:solidFill>
                                <a:srgbClr val="000000"/>
                              </a:solidFill>
                              <a:latin typeface="+mn-lt"/>
                            </a:rPr>
                            <a:t> + 3)</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5(</a:t>
                          </a:r>
                          <a:r>
                            <a:rPr lang="en-US" sz="1700" i="1" dirty="0">
                              <a:solidFill>
                                <a:srgbClr val="000000"/>
                              </a:solidFill>
                              <a:latin typeface="+mn-lt"/>
                            </a:rPr>
                            <a:t>x</a:t>
                          </a:r>
                          <a:r>
                            <a:rPr lang="en-US" sz="1700" dirty="0">
                              <a:solidFill>
                                <a:srgbClr val="000000"/>
                              </a:solidFill>
                              <a:latin typeface="+mn-lt"/>
                            </a:rPr>
                            <a:t> – </a:t>
                          </a:r>
                          <a14:m>
                            <m:oMath xmlns:m="http://schemas.openxmlformats.org/officeDocument/2006/math">
                              <m:f>
                                <m:fPr>
                                  <m:ctrlPr>
                                    <a:rPr lang="en-US" sz="1700" i="1" smtClean="0">
                                      <a:solidFill>
                                        <a:srgbClr val="000000"/>
                                      </a:solidFill>
                                      <a:latin typeface="Cambria Math" panose="02040503050406030204" pitchFamily="18" charset="0"/>
                                    </a:rPr>
                                  </m:ctrlPr>
                                </m:fPr>
                                <m:num>
                                  <m:r>
                                    <a:rPr lang="en-US" sz="1700" b="0" i="1" smtClean="0">
                                      <a:solidFill>
                                        <a:srgbClr val="000000"/>
                                      </a:solidFill>
                                      <a:latin typeface="Cambria Math" panose="02040503050406030204" pitchFamily="18" charset="0"/>
                                    </a:rPr>
                                    <m:t>1</m:t>
                                  </m:r>
                                </m:num>
                                <m:den>
                                  <m:r>
                                    <a:rPr lang="en-US" sz="1700" b="0" i="1" smtClean="0">
                                      <a:solidFill>
                                        <a:srgbClr val="000000"/>
                                      </a:solidFill>
                                      <a:latin typeface="Cambria Math" panose="02040503050406030204" pitchFamily="18" charset="0"/>
                                    </a:rPr>
                                    <m:t>5</m:t>
                                  </m:r>
                                </m:den>
                              </m:f>
                            </m:oMath>
                          </a14:m>
                          <a:r>
                            <a:rPr lang="en-US" sz="1700" dirty="0">
                              <a:solidFill>
                                <a:srgbClr val="000000"/>
                              </a:solidFill>
                              <a:latin typeface="+mn-lt"/>
                            </a:rPr>
                            <a:t>)</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600" dirty="0">
                              <a:solidFill>
                                <a:srgbClr val="000000"/>
                              </a:solidFill>
                              <a:latin typeface="+mn-lt"/>
                            </a:rPr>
                            <a:t>–2(</a:t>
                          </a:r>
                          <a:r>
                            <a:rPr lang="en-US" sz="1600" i="1" dirty="0">
                              <a:solidFill>
                                <a:srgbClr val="000000"/>
                              </a:solidFill>
                              <a:latin typeface="+mn-lt"/>
                            </a:rPr>
                            <a:t>x</a:t>
                          </a:r>
                          <a:r>
                            <a:rPr lang="en-US" sz="1600" dirty="0">
                              <a:solidFill>
                                <a:srgbClr val="000000"/>
                              </a:solidFill>
                              <a:latin typeface="+mn-lt"/>
                            </a:rPr>
                            <a:t> + 2) + 7</a:t>
                          </a:r>
                          <a:r>
                            <a:rPr lang="en-US" sz="1600" i="1" dirty="0">
                              <a:solidFill>
                                <a:srgbClr val="000000"/>
                              </a:solidFill>
                              <a:latin typeface="+mn-lt"/>
                            </a:rPr>
                            <a:t>x</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280809786"/>
                      </a:ext>
                    </a:extLst>
                  </a:tr>
                </a:tbl>
              </a:graphicData>
            </a:graphic>
          </p:graphicFrame>
        </mc:Choice>
        <mc:Fallback>
          <p:graphicFrame>
            <p:nvGraphicFramePr>
              <p:cNvPr id="6" name="Table 5" descr="A six-column table with columns labeled 1, 2, 3, 4, 5, 6. Four row labeled capital A, capital B, lowercase A, lowercase B. Each row has a series of expressions.">
                <a:extLst>
                  <a:ext uri="{FF2B5EF4-FFF2-40B4-BE49-F238E27FC236}">
                    <a16:creationId xmlns:a16="http://schemas.microsoft.com/office/drawing/2014/main" id="{65489984-213C-356E-7515-ADB575CAF6AB}"/>
                  </a:ext>
                </a:extLst>
              </p:cNvPr>
              <p:cNvGraphicFramePr>
                <a:graphicFrameLocks noGrp="1"/>
              </p:cNvGraphicFramePr>
              <p:nvPr>
                <p:extLst>
                  <p:ext uri="{D42A27DB-BD31-4B8C-83A1-F6EECF244321}">
                    <p14:modId xmlns:p14="http://schemas.microsoft.com/office/powerpoint/2010/main" val="2768397218"/>
                  </p:ext>
                </p:extLst>
              </p:nvPr>
            </p:nvGraphicFramePr>
            <p:xfrm>
              <a:off x="777240" y="1574799"/>
              <a:ext cx="11213404" cy="4754880"/>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780593117"/>
                        </a:ext>
                      </a:extLst>
                    </a:gridCol>
                    <a:gridCol w="1205294">
                      <a:extLst>
                        <a:ext uri="{9D8B030D-6E8A-4147-A177-3AD203B41FA5}">
                          <a16:colId xmlns:a16="http://schemas.microsoft.com/office/drawing/2014/main" val="3150086030"/>
                        </a:ext>
                      </a:extLst>
                    </a:gridCol>
                    <a:gridCol w="1854298">
                      <a:extLst>
                        <a:ext uri="{9D8B030D-6E8A-4147-A177-3AD203B41FA5}">
                          <a16:colId xmlns:a16="http://schemas.microsoft.com/office/drawing/2014/main" val="1632184595"/>
                        </a:ext>
                      </a:extLst>
                    </a:gridCol>
                    <a:gridCol w="2132443">
                      <a:extLst>
                        <a:ext uri="{9D8B030D-6E8A-4147-A177-3AD203B41FA5}">
                          <a16:colId xmlns:a16="http://schemas.microsoft.com/office/drawing/2014/main" val="1978269349"/>
                        </a:ext>
                      </a:extLst>
                    </a:gridCol>
                    <a:gridCol w="1854298">
                      <a:extLst>
                        <a:ext uri="{9D8B030D-6E8A-4147-A177-3AD203B41FA5}">
                          <a16:colId xmlns:a16="http://schemas.microsoft.com/office/drawing/2014/main" val="1020820929"/>
                        </a:ext>
                      </a:extLst>
                    </a:gridCol>
                    <a:gridCol w="1761583">
                      <a:extLst>
                        <a:ext uri="{9D8B030D-6E8A-4147-A177-3AD203B41FA5}">
                          <a16:colId xmlns:a16="http://schemas.microsoft.com/office/drawing/2014/main" val="3826028649"/>
                        </a:ext>
                      </a:extLst>
                    </a:gridCol>
                    <a:gridCol w="2039728">
                      <a:extLst>
                        <a:ext uri="{9D8B030D-6E8A-4147-A177-3AD203B41FA5}">
                          <a16:colId xmlns:a16="http://schemas.microsoft.com/office/drawing/2014/main" val="2775482858"/>
                        </a:ext>
                      </a:extLst>
                    </a:gridCol>
                  </a:tblGrid>
                  <a:tr h="365760">
                    <a:tc>
                      <a:txBody>
                        <a:bodyPr/>
                        <a:lstStyle/>
                        <a:p>
                          <a:pPr algn="ctr"/>
                          <a:endParaRPr lang="en-US" sz="1800" dirty="0">
                            <a:solidFill>
                              <a:srgbClr val="000000"/>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solidFill>
                                <a:srgbClr val="000000"/>
                              </a:solidFill>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443149759"/>
                      </a:ext>
                    </a:extLst>
                  </a:tr>
                  <a:tr h="1097280">
                    <a:tc>
                      <a:txBody>
                        <a:bodyPr/>
                        <a:lstStyle/>
                        <a:p>
                          <a:pPr algn="ctr"/>
                          <a:r>
                            <a:rPr lang="en-US" sz="1800" dirty="0">
                              <a:solidFill>
                                <a:srgbClr val="000000"/>
                              </a:solidFill>
                              <a:latin typeface="+mn-lt"/>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i="1" dirty="0">
                              <a:solidFill>
                                <a:srgbClr val="000000"/>
                              </a:solidFill>
                              <a:latin typeface="+mn-lt"/>
                            </a:rPr>
                            <a:t>x</a:t>
                          </a:r>
                          <a:r>
                            <a:rPr lang="en-US" sz="1700" dirty="0">
                              <a:solidFill>
                                <a:srgbClr val="000000"/>
                              </a:solidFill>
                              <a:latin typeface="+mn-lt"/>
                            </a:rPr>
                            <a:t> + 3(</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a:t>
                          </a:r>
                          <a:r>
                            <a:rPr lang="en-US" sz="1700" i="1" dirty="0">
                              <a:solidFill>
                                <a:srgbClr val="000000"/>
                              </a:solidFill>
                              <a:latin typeface="+mn-lt"/>
                            </a:rPr>
                            <a:t>x</a:t>
                          </a:r>
                          <a:r>
                            <a:rPr lang="en-US" sz="1700" dirty="0">
                              <a:solidFill>
                                <a:srgbClr val="000000"/>
                              </a:solidFill>
                              <a:latin typeface="+mn-lt"/>
                            </a:rPr>
                            <a:t> + 2(</a:t>
                          </a:r>
                          <a:r>
                            <a:rPr lang="en-US" sz="1700" i="1" dirty="0">
                              <a:solidFill>
                                <a:srgbClr val="000000"/>
                              </a:solidFill>
                              <a:latin typeface="+mn-lt"/>
                            </a:rPr>
                            <a:t>x</a:t>
                          </a:r>
                          <a:r>
                            <a:rPr lang="en-US" sz="1700" dirty="0">
                              <a:solidFill>
                                <a:srgbClr val="000000"/>
                              </a:solidFill>
                              <a:latin typeface="+mn-lt"/>
                            </a:rPr>
                            <a:t> + 2) – 5</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–2(3</a:t>
                          </a:r>
                          <a:r>
                            <a:rPr lang="en-US" sz="1700" i="1" dirty="0">
                              <a:solidFill>
                                <a:srgbClr val="000000"/>
                              </a:solidFill>
                              <a:latin typeface="+mn-lt"/>
                            </a:rPr>
                            <a:t>x</a:t>
                          </a:r>
                          <a:r>
                            <a:rPr lang="en-US" sz="1700" dirty="0">
                              <a:solidFill>
                                <a:srgbClr val="000000"/>
                              </a:solidFill>
                              <a:latin typeface="+mn-lt"/>
                            </a:rPr>
                            <a:t> – 1) + 3</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2(1 – 3</a:t>
                          </a:r>
                          <a:r>
                            <a:rPr lang="en-US" sz="1700" i="1" dirty="0">
                              <a:solidFill>
                                <a:srgbClr val="000000"/>
                              </a:solidFill>
                              <a:latin typeface="+mn-lt"/>
                            </a:rPr>
                            <a:t>x</a:t>
                          </a:r>
                          <a:r>
                            <a:rPr lang="en-US" sz="1700" dirty="0">
                              <a:solidFill>
                                <a:srgbClr val="000000"/>
                              </a:solidFill>
                              <a:latin typeface="+mn-lt"/>
                            </a:rPr>
                            <a:t>)</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8</a:t>
                          </a:r>
                          <a:r>
                            <a:rPr lang="en-US" sz="1700" i="1" dirty="0">
                              <a:solidFill>
                                <a:srgbClr val="000000"/>
                              </a:solidFill>
                              <a:latin typeface="+mn-lt"/>
                            </a:rPr>
                            <a:t>x</a:t>
                          </a:r>
                          <a:r>
                            <a:rPr lang="en-US" sz="1700" dirty="0">
                              <a:solidFill>
                                <a:srgbClr val="000000"/>
                              </a:solidFill>
                              <a:latin typeface="+mn-lt"/>
                            </a:rPr>
                            <a:t> – 3(2</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endParaRPr lang="en-US"/>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blipFill>
                          <a:blip r:embed="rId3"/>
                          <a:stretch>
                            <a:fillRect l="-449552" t="-36111" r="-896" b="-301667"/>
                          </a:stretch>
                        </a:blipFill>
                      </a:tcPr>
                    </a:tc>
                    <a:extLst>
                      <a:ext uri="{0D108BD9-81ED-4DB2-BD59-A6C34878D82A}">
                        <a16:rowId xmlns:a16="http://schemas.microsoft.com/office/drawing/2014/main" val="1031286983"/>
                      </a:ext>
                    </a:extLst>
                  </a:tr>
                  <a:tr h="1097280">
                    <a:tc>
                      <a:txBody>
                        <a:bodyPr/>
                        <a:lstStyle/>
                        <a:p>
                          <a:pPr algn="ctr"/>
                          <a:r>
                            <a:rPr lang="en-US" sz="1800" dirty="0">
                              <a:solidFill>
                                <a:srgbClr val="000000"/>
                              </a:solidFill>
                              <a:latin typeface="+mn-lt"/>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dirty="0">
                              <a:solidFill>
                                <a:srgbClr val="000000"/>
                              </a:solidFill>
                              <a:latin typeface="+mn-lt"/>
                            </a:rPr>
                            <a:t>3(</a:t>
                          </a:r>
                          <a:r>
                            <a:rPr lang="en-US" sz="1700" i="1" dirty="0">
                              <a:solidFill>
                                <a:srgbClr val="000000"/>
                              </a:solidFill>
                              <a:latin typeface="+mn-lt"/>
                            </a:rPr>
                            <a:t>x</a:t>
                          </a:r>
                          <a:r>
                            <a:rPr lang="en-US" sz="1700" dirty="0">
                              <a:solidFill>
                                <a:srgbClr val="000000"/>
                              </a:solidFill>
                              <a:latin typeface="+mn-lt"/>
                            </a:rPr>
                            <a:t> – 2) + 2</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9</a:t>
                          </a:r>
                          <a:r>
                            <a:rPr lang="en-US" sz="1700" i="1" dirty="0">
                              <a:solidFill>
                                <a:srgbClr val="000000"/>
                              </a:solidFill>
                              <a:latin typeface="+mn-lt"/>
                            </a:rPr>
                            <a:t>x</a:t>
                          </a:r>
                          <a:r>
                            <a:rPr lang="en-US" sz="1700" dirty="0">
                              <a:solidFill>
                                <a:srgbClr val="000000"/>
                              </a:solidFill>
                              <a:latin typeface="+mn-lt"/>
                            </a:rPr>
                            <a:t> – 2(3</a:t>
                          </a:r>
                          <a:r>
                            <a:rPr lang="en-US" sz="1700" i="1" dirty="0">
                              <a:solidFill>
                                <a:srgbClr val="000000"/>
                              </a:solidFill>
                              <a:latin typeface="+mn-lt"/>
                            </a:rPr>
                            <a:t>x</a:t>
                          </a:r>
                          <a:r>
                            <a:rPr lang="en-US" sz="1700" dirty="0">
                              <a:solidFill>
                                <a:srgbClr val="000000"/>
                              </a:solidFill>
                              <a:latin typeface="+mn-lt"/>
                            </a:rPr>
                            <a:t> + 1) + 7</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–4(2</a:t>
                          </a:r>
                          <a:r>
                            <a:rPr lang="en-US" sz="1700" i="1" dirty="0">
                              <a:solidFill>
                                <a:srgbClr val="000000"/>
                              </a:solidFill>
                              <a:latin typeface="+mn-lt"/>
                            </a:rPr>
                            <a:t>x</a:t>
                          </a:r>
                          <a:r>
                            <a:rPr lang="en-US" sz="1700" dirty="0">
                              <a:solidFill>
                                <a:srgbClr val="000000"/>
                              </a:solidFill>
                              <a:latin typeface="+mn-lt"/>
                            </a:rPr>
                            <a:t> – 2) + 2(2</a:t>
                          </a:r>
                          <a:r>
                            <a:rPr lang="en-US" sz="1700" i="1" dirty="0">
                              <a:solidFill>
                                <a:srgbClr val="000000"/>
                              </a:solidFill>
                              <a:latin typeface="+mn-lt"/>
                            </a:rPr>
                            <a:t>x</a:t>
                          </a:r>
                          <a:r>
                            <a:rPr lang="en-US" sz="1700" dirty="0">
                              <a:solidFill>
                                <a:srgbClr val="000000"/>
                              </a:solidFill>
                              <a:latin typeface="+mn-lt"/>
                            </a:rPr>
                            <a:t> – 3)</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–2(2</a:t>
                          </a:r>
                          <a:r>
                            <a:rPr lang="en-US" sz="1700" i="1" dirty="0">
                              <a:solidFill>
                                <a:srgbClr val="000000"/>
                              </a:solidFill>
                              <a:latin typeface="+mn-lt"/>
                            </a:rPr>
                            <a:t>x</a:t>
                          </a:r>
                          <a:r>
                            <a:rPr lang="en-US" sz="1700" dirty="0">
                              <a:solidFill>
                                <a:srgbClr val="000000"/>
                              </a:solidFill>
                              <a:latin typeface="+mn-lt"/>
                            </a:rPr>
                            <a:t> + 3)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a:t>
                          </a:r>
                          <a:r>
                            <a:rPr lang="en-US" sz="1700" i="1" dirty="0">
                              <a:solidFill>
                                <a:srgbClr val="000000"/>
                              </a:solidFill>
                              <a:latin typeface="+mn-lt"/>
                            </a:rPr>
                            <a:t>x</a:t>
                          </a:r>
                          <a:r>
                            <a:rPr lang="en-US" sz="1700" dirty="0">
                              <a:solidFill>
                                <a:srgbClr val="000000"/>
                              </a:solidFill>
                              <a:latin typeface="+mn-lt"/>
                            </a:rPr>
                            <a:t> – 2) + 3(</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5(</a:t>
                          </a:r>
                          <a:r>
                            <a:rPr lang="en-US" sz="1700" i="1" dirty="0">
                              <a:solidFill>
                                <a:srgbClr val="000000"/>
                              </a:solidFill>
                              <a:latin typeface="+mn-lt"/>
                            </a:rPr>
                            <a:t>x</a:t>
                          </a:r>
                          <a:r>
                            <a:rPr lang="en-US" sz="1700" dirty="0">
                              <a:solidFill>
                                <a:srgbClr val="000000"/>
                              </a:solidFill>
                              <a:latin typeface="+mn-lt"/>
                            </a:rPr>
                            <a:t> – 1)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22017880"/>
                      </a:ext>
                    </a:extLst>
                  </a:tr>
                  <a:tr h="1097280">
                    <a:tc>
                      <a:txBody>
                        <a:bodyPr/>
                        <a:lstStyle/>
                        <a:p>
                          <a:pPr algn="ctr"/>
                          <a:r>
                            <a:rPr lang="en-US" sz="1800" dirty="0">
                              <a:solidFill>
                                <a:srgbClr val="000000"/>
                              </a:solidFill>
                              <a:latin typeface="+mn-lt"/>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blipFill>
                          <a:blip r:embed="rId3"/>
                          <a:stretch>
                            <a:fillRect l="-30808" t="-236667" r="-800505" b="-101111"/>
                          </a:stretch>
                        </a:blipFill>
                      </a:tcPr>
                    </a:tc>
                    <a:tc>
                      <a:txBody>
                        <a:bodyPr/>
                        <a:lstStyle/>
                        <a:p>
                          <a:pPr algn="ctr"/>
                          <a:r>
                            <a:rPr lang="en-US" sz="1700" dirty="0">
                              <a:solidFill>
                                <a:srgbClr val="000000"/>
                              </a:solidFill>
                              <a:latin typeface="+mn-lt"/>
                            </a:rPr>
                            <a:t>3(</a:t>
                          </a:r>
                          <a:r>
                            <a:rPr lang="en-US" sz="1700" i="1" dirty="0">
                              <a:solidFill>
                                <a:srgbClr val="000000"/>
                              </a:solidFill>
                              <a:latin typeface="+mn-lt"/>
                            </a:rPr>
                            <a:t>x</a:t>
                          </a:r>
                          <a:r>
                            <a:rPr lang="en-US" sz="1700" dirty="0">
                              <a:solidFill>
                                <a:srgbClr val="000000"/>
                              </a:solidFill>
                              <a:latin typeface="+mn-lt"/>
                            </a:rPr>
                            <a:t> – 1) + (</a:t>
                          </a:r>
                          <a:r>
                            <a:rPr lang="en-US" sz="1700" i="1" dirty="0">
                              <a:solidFill>
                                <a:srgbClr val="000000"/>
                              </a:solidFill>
                              <a:latin typeface="+mn-lt"/>
                            </a:rPr>
                            <a:t>x</a:t>
                          </a:r>
                          <a:r>
                            <a:rPr lang="en-US" sz="1700" dirty="0">
                              <a:solidFill>
                                <a:srgbClr val="000000"/>
                              </a:solidFill>
                              <a:latin typeface="+mn-lt"/>
                            </a:rPr>
                            <a:t> + 2)</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endParaRPr lang="en-US"/>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blipFill>
                          <a:blip r:embed="rId3"/>
                          <a:stretch>
                            <a:fillRect l="-160857" t="-236667" r="-266000" b="-101111"/>
                          </a:stretch>
                        </a:blipFill>
                      </a:tcPr>
                    </a:tc>
                    <a:tc>
                      <a:txBody>
                        <a:bodyPr/>
                        <a:lstStyle/>
                        <a:p>
                          <a:pPr algn="ctr"/>
                          <a:r>
                            <a:rPr lang="en-US" sz="1700" dirty="0">
                              <a:solidFill>
                                <a:srgbClr val="000000"/>
                              </a:solidFill>
                              <a:latin typeface="+mn-lt"/>
                            </a:rPr>
                            <a:t>2</a:t>
                          </a:r>
                          <a:r>
                            <a:rPr lang="en-US" sz="1700" i="1" dirty="0">
                              <a:solidFill>
                                <a:srgbClr val="000000"/>
                              </a:solidFill>
                              <a:latin typeface="+mn-lt"/>
                            </a:rPr>
                            <a:t>x</a:t>
                          </a:r>
                          <a:r>
                            <a:rPr lang="en-US" sz="1700" dirty="0">
                              <a:solidFill>
                                <a:srgbClr val="000000"/>
                              </a:solidFill>
                              <a:latin typeface="+mn-lt"/>
                            </a:rPr>
                            <a:t> – 2(4</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endParaRPr lang="en-US"/>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blipFill>
                          <a:blip r:embed="rId3"/>
                          <a:stretch>
                            <a:fillRect l="-421107" t="-236667" r="-116955" b="-101111"/>
                          </a:stretch>
                        </a:blipFill>
                      </a:tcPr>
                    </a:tc>
                    <a:tc>
                      <a:txBody>
                        <a:bodyPr/>
                        <a:lstStyle/>
                        <a:p>
                          <a:pPr algn="ctr"/>
                          <a:r>
                            <a:rPr lang="en-US" sz="1700" dirty="0">
                              <a:solidFill>
                                <a:srgbClr val="000000"/>
                              </a:solidFill>
                              <a:latin typeface="+mn-lt"/>
                            </a:rPr>
                            <a:t>3 + 2(</a:t>
                          </a:r>
                          <a:r>
                            <a:rPr lang="en-US" sz="1700" i="1" dirty="0">
                              <a:solidFill>
                                <a:srgbClr val="000000"/>
                              </a:solidFill>
                              <a:latin typeface="+mn-lt"/>
                            </a:rPr>
                            <a:t>x</a:t>
                          </a:r>
                          <a:r>
                            <a:rPr lang="en-US" sz="1700" dirty="0">
                              <a:solidFill>
                                <a:srgbClr val="000000"/>
                              </a:solidFill>
                              <a:latin typeface="+mn-lt"/>
                            </a:rPr>
                            <a:t> – 4)</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3970347795"/>
                      </a:ext>
                    </a:extLst>
                  </a:tr>
                  <a:tr h="1097280">
                    <a:tc>
                      <a:txBody>
                        <a:bodyPr/>
                        <a:lstStyle/>
                        <a:p>
                          <a:pPr algn="ctr"/>
                          <a:r>
                            <a:rPr lang="en-US" sz="1800" dirty="0">
                              <a:solidFill>
                                <a:srgbClr val="000000"/>
                              </a:solidFill>
                              <a:latin typeface="+mn-lt"/>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i="1" dirty="0">
                              <a:solidFill>
                                <a:srgbClr val="000000"/>
                              </a:solidFill>
                              <a:latin typeface="+mn-lt"/>
                            </a:rPr>
                            <a:t>x</a:t>
                          </a:r>
                          <a:r>
                            <a:rPr lang="en-US" sz="1700" dirty="0">
                              <a:solidFill>
                                <a:srgbClr val="000000"/>
                              </a:solidFill>
                              <a:latin typeface="+mn-lt"/>
                            </a:rPr>
                            <a:t> + 2(</a:t>
                          </a:r>
                          <a:r>
                            <a:rPr lang="en-US" sz="1700" i="1" dirty="0">
                              <a:solidFill>
                                <a:srgbClr val="000000"/>
                              </a:solidFill>
                              <a:latin typeface="+mn-lt"/>
                            </a:rPr>
                            <a:t>x</a:t>
                          </a:r>
                          <a:r>
                            <a:rPr lang="en-US" sz="1700" dirty="0">
                              <a:solidFill>
                                <a:srgbClr val="000000"/>
                              </a:solidFill>
                              <a:latin typeface="+mn-lt"/>
                            </a:rPr>
                            <a:t> – 2)</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2(4</a:t>
                          </a:r>
                          <a:r>
                            <a:rPr lang="en-US" sz="1700" i="1" dirty="0">
                              <a:solidFill>
                                <a:srgbClr val="000000"/>
                              </a:solidFill>
                              <a:latin typeface="+mn-lt"/>
                            </a:rPr>
                            <a:t>x</a:t>
                          </a:r>
                          <a:r>
                            <a:rPr lang="en-US" sz="1700" dirty="0">
                              <a:solidFill>
                                <a:srgbClr val="000000"/>
                              </a:solidFill>
                              <a:latin typeface="+mn-lt"/>
                            </a:rPr>
                            <a:t> + 5) – 5(</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–2(2</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(4</a:t>
                          </a:r>
                          <a:r>
                            <a:rPr lang="en-US" sz="1700" i="1" dirty="0">
                              <a:solidFill>
                                <a:srgbClr val="000000"/>
                              </a:solidFill>
                              <a:latin typeface="+mn-lt"/>
                            </a:rPr>
                            <a:t>x</a:t>
                          </a:r>
                          <a:r>
                            <a:rPr lang="en-US" sz="1700" dirty="0">
                              <a:solidFill>
                                <a:srgbClr val="000000"/>
                              </a:solidFill>
                              <a:latin typeface="+mn-lt"/>
                            </a:rPr>
                            <a:t> + 1) – 2(4</a:t>
                          </a:r>
                          <a:r>
                            <a:rPr lang="en-US" sz="1700" i="1" dirty="0">
                              <a:solidFill>
                                <a:srgbClr val="000000"/>
                              </a:solidFill>
                              <a:latin typeface="+mn-lt"/>
                            </a:rPr>
                            <a:t>x</a:t>
                          </a:r>
                          <a:r>
                            <a:rPr lang="en-US" sz="1700" dirty="0">
                              <a:solidFill>
                                <a:srgbClr val="000000"/>
                              </a:solidFill>
                              <a:latin typeface="+mn-lt"/>
                            </a:rPr>
                            <a:t> + 3)</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endParaRPr lang="en-US"/>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blipFill>
                          <a:blip r:embed="rId3"/>
                          <a:stretch>
                            <a:fillRect l="-421107" t="-336667" r="-116955" b="-1111"/>
                          </a:stretch>
                        </a:blipFill>
                      </a:tcPr>
                    </a:tc>
                    <a:tc>
                      <a:txBody>
                        <a:bodyPr/>
                        <a:lstStyle/>
                        <a:p>
                          <a:pPr algn="ctr"/>
                          <a:r>
                            <a:rPr lang="en-US" sz="1600" dirty="0">
                              <a:solidFill>
                                <a:srgbClr val="000000"/>
                              </a:solidFill>
                              <a:latin typeface="+mn-lt"/>
                            </a:rPr>
                            <a:t>–2(</a:t>
                          </a:r>
                          <a:r>
                            <a:rPr lang="en-US" sz="1600" i="1" dirty="0">
                              <a:solidFill>
                                <a:srgbClr val="000000"/>
                              </a:solidFill>
                              <a:latin typeface="+mn-lt"/>
                            </a:rPr>
                            <a:t>x</a:t>
                          </a:r>
                          <a:r>
                            <a:rPr lang="en-US" sz="1600" dirty="0">
                              <a:solidFill>
                                <a:srgbClr val="000000"/>
                              </a:solidFill>
                              <a:latin typeface="+mn-lt"/>
                            </a:rPr>
                            <a:t> + 2) + 7</a:t>
                          </a:r>
                          <a:r>
                            <a:rPr lang="en-US" sz="1600" i="1" dirty="0">
                              <a:solidFill>
                                <a:srgbClr val="000000"/>
                              </a:solidFill>
                              <a:latin typeface="+mn-lt"/>
                            </a:rPr>
                            <a:t>x</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280809786"/>
                      </a:ext>
                    </a:extLst>
                  </a:tr>
                </a:tbl>
              </a:graphicData>
            </a:graphic>
          </p:graphicFrame>
        </mc:Fallback>
      </mc:AlternateContent>
      <p:sp>
        <p:nvSpPr>
          <p:cNvPr id="1006" name="Slide Number 10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50</a:t>
            </a:fld>
          </a:p>
        </p:txBody>
      </p:sp>
    </p:spTree>
    <p:extLst>
      <p:ext uri="{BB962C8B-B14F-4D97-AF65-F5344CB8AC3E}">
        <p14:creationId xmlns:p14="http://schemas.microsoft.com/office/powerpoint/2010/main" val="31635617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526A4E-430A-7F6C-63B6-E74740858B16}"/>
              </a:ext>
            </a:extLst>
          </p:cNvPr>
          <p:cNvSpPr>
            <a:spLocks noGrp="1"/>
          </p:cNvSpPr>
          <p:nvPr>
            <p:ph type="title" idx="4294967295"/>
          </p:nvPr>
        </p:nvSpPr>
        <p:spPr>
          <a:xfrm>
            <a:off x="838200" y="-293914"/>
            <a:ext cx="10514013" cy="293914"/>
          </a:xfrm>
          <a:prstGeom prst="rect">
            <a:avLst/>
          </a:prstGeom>
        </p:spPr>
        <p:txBody>
          <a:bodyPr anchor="b"/>
          <a:lstStyle/>
          <a:p>
            <a:r>
              <a:rPr lang="en-US" sz="2000" dirty="0">
                <a:solidFill>
                  <a:schemeClr val="bg2"/>
                </a:solidFill>
              </a:rPr>
              <a:t>Prepare</a:t>
            </a:r>
          </a:p>
        </p:txBody>
      </p:sp>
      <p:sp>
        <p:nvSpPr>
          <p:cNvPr id="1006" name="Slide Number 10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51</a:t>
            </a:fld>
          </a:p>
        </p:txBody>
      </p:sp>
    </p:spTree>
    <p:extLst>
      <p:ext uri="{BB962C8B-B14F-4D97-AF65-F5344CB8AC3E}">
        <p14:creationId xmlns:p14="http://schemas.microsoft.com/office/powerpoint/2010/main" val="7845629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C6DF-139C-D914-CA27-404349037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9A76E7-5405-452B-A5DD-6B559DABE30F}"/>
              </a:ext>
            </a:extLst>
          </p:cNvPr>
          <p:cNvSpPr>
            <a:spLocks noGrp="1"/>
          </p:cNvSpPr>
          <p:nvPr>
            <p:ph type="title"/>
          </p:nvPr>
        </p:nvSpPr>
        <p:spPr/>
        <p:txBody>
          <a:bodyPr/>
          <a:lstStyle/>
          <a:p>
            <a:pPr algn="l"/>
            <a:r>
              <a:rPr lang="en-US" b="1" dirty="0"/>
              <a:t>Prepare for Module 3 Topic 1 Lesson 2</a:t>
            </a:r>
          </a:p>
        </p:txBody>
      </p:sp>
      <p:sp>
        <p:nvSpPr>
          <p:cNvPr id="2" name="Text Placeholder 2">
            <a:extLst>
              <a:ext uri="{FF2B5EF4-FFF2-40B4-BE49-F238E27FC236}">
                <a16:creationId xmlns:a16="http://schemas.microsoft.com/office/drawing/2014/main" id="{06890774-7848-58D0-0262-B11B4D8F7BE9}"/>
              </a:ext>
            </a:extLst>
          </p:cNvPr>
          <p:cNvSpPr txBox="1">
            <a:spLocks/>
          </p:cNvSpPr>
          <p:nvPr/>
        </p:nvSpPr>
        <p:spPr>
          <a:xfrm>
            <a:off x="777240" y="1616140"/>
            <a:ext cx="10421338" cy="4274287"/>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ea typeface="+mn-lt"/>
                <a:cs typeface="+mn-lt"/>
              </a:rPr>
              <a:t>The formula for the circumference of a circle is </a:t>
            </a:r>
            <a:r>
              <a:rPr lang="en-GB" sz="2800" i="1" dirty="0">
                <a:solidFill>
                  <a:srgbClr val="000000"/>
                </a:solidFill>
                <a:ea typeface="+mn-lt"/>
                <a:cs typeface="+mn-lt"/>
              </a:rPr>
              <a:t>C</a:t>
            </a:r>
            <a:r>
              <a:rPr lang="en-GB" sz="2800" dirty="0">
                <a:solidFill>
                  <a:srgbClr val="000000"/>
                </a:solidFill>
                <a:ea typeface="+mn-lt"/>
                <a:cs typeface="+mn-lt"/>
              </a:rPr>
              <a:t> = 2</a:t>
            </a:r>
            <a:r>
              <a:rPr lang="el-GR" sz="2800" i="1" dirty="0">
                <a:solidFill>
                  <a:srgbClr val="000000"/>
                </a:solidFill>
                <a:latin typeface="Times New Roman" panose="02020603050405020304" pitchFamily="18" charset="0"/>
                <a:ea typeface="+mn-lt"/>
                <a:cs typeface="Times New Roman" panose="02020603050405020304" pitchFamily="18" charset="0"/>
              </a:rPr>
              <a:t>π</a:t>
            </a:r>
            <a:r>
              <a:rPr lang="en-GB" sz="2800" i="1" dirty="0">
                <a:solidFill>
                  <a:srgbClr val="000000"/>
                </a:solidFill>
                <a:ea typeface="+mn-lt"/>
                <a:cs typeface="+mn-lt"/>
              </a:rPr>
              <a:t>r</a:t>
            </a:r>
            <a:r>
              <a:rPr lang="en-GB" sz="2800" dirty="0">
                <a:solidFill>
                  <a:srgbClr val="000000"/>
                </a:solidFill>
                <a:ea typeface="+mn-lt"/>
                <a:cs typeface="+mn-lt"/>
              </a:rPr>
              <a:t>. Determine the radius for each circle with the given circumference. Use 3.14 for </a:t>
            </a:r>
            <a:r>
              <a:rPr lang="el-GR" sz="2800" i="1" dirty="0">
                <a:solidFill>
                  <a:srgbClr val="000000"/>
                </a:solidFill>
                <a:latin typeface="Times New Roman" panose="02020603050405020304" pitchFamily="18" charset="0"/>
                <a:ea typeface="+mn-lt"/>
                <a:cs typeface="Times New Roman" panose="02020603050405020304" pitchFamily="18" charset="0"/>
              </a:rPr>
              <a:t>π</a:t>
            </a:r>
            <a:r>
              <a:rPr lang="en-GB" sz="2800" dirty="0">
                <a:solidFill>
                  <a:srgbClr val="000000"/>
                </a:solidFill>
                <a:ea typeface="+mn-lt"/>
                <a:cs typeface="+mn-lt"/>
              </a:rPr>
              <a:t> and round to the nearest tenth of a unit, if necessary.</a:t>
            </a:r>
          </a:p>
          <a:p>
            <a:pPr marL="0" indent="0">
              <a:buNone/>
            </a:pPr>
            <a:endParaRPr lang="en-GB" sz="2800" dirty="0">
              <a:solidFill>
                <a:srgbClr val="000000"/>
              </a:solidFill>
              <a:ea typeface="+mn-lt"/>
              <a:cs typeface="+mn-lt"/>
            </a:endParaRPr>
          </a:p>
          <a:p>
            <a:pPr marL="514350" indent="-514350">
              <a:buAutoNum type="arabicPeriod"/>
            </a:pPr>
            <a:r>
              <a:rPr lang="en-GB" sz="2800" dirty="0">
                <a:solidFill>
                  <a:srgbClr val="000000"/>
                </a:solidFill>
                <a:ea typeface="+mn-lt"/>
                <a:cs typeface="+mn-lt"/>
              </a:rPr>
              <a:t> </a:t>
            </a:r>
            <a:r>
              <a:rPr lang="en-GB" sz="2800" i="1" dirty="0">
                <a:solidFill>
                  <a:srgbClr val="000000"/>
                </a:solidFill>
                <a:ea typeface="+mn-lt"/>
                <a:cs typeface="+mn-lt"/>
              </a:rPr>
              <a:t>C</a:t>
            </a:r>
            <a:r>
              <a:rPr lang="en-GB" sz="2800" dirty="0">
                <a:solidFill>
                  <a:srgbClr val="000000"/>
                </a:solidFill>
                <a:ea typeface="+mn-lt"/>
                <a:cs typeface="+mn-lt"/>
              </a:rPr>
              <a:t> = 62.8 in.				3.    </a:t>
            </a:r>
            <a:r>
              <a:rPr lang="en-GB" sz="2800" i="1" dirty="0">
                <a:solidFill>
                  <a:srgbClr val="000000"/>
                </a:solidFill>
                <a:ea typeface="+mn-lt"/>
                <a:cs typeface="+mn-lt"/>
              </a:rPr>
              <a:t>C</a:t>
            </a:r>
            <a:r>
              <a:rPr lang="en-GB" sz="2800" dirty="0">
                <a:solidFill>
                  <a:srgbClr val="000000"/>
                </a:solidFill>
                <a:ea typeface="+mn-lt"/>
                <a:cs typeface="+mn-lt"/>
              </a:rPr>
              <a:t> = 15.7 ft </a:t>
            </a:r>
          </a:p>
          <a:p>
            <a:pPr marL="514350" indent="-514350">
              <a:buAutoNum type="arabicPeriod"/>
            </a:pPr>
            <a:endParaRPr lang="en-GB" sz="2800" dirty="0">
              <a:solidFill>
                <a:srgbClr val="000000"/>
              </a:solidFill>
              <a:ea typeface="+mn-lt"/>
              <a:cs typeface="+mn-lt"/>
            </a:endParaRPr>
          </a:p>
          <a:p>
            <a:pPr marL="514350" indent="-514350">
              <a:buAutoNum type="arabicPeriod"/>
            </a:pPr>
            <a:endParaRPr lang="en-GB" sz="2800" dirty="0">
              <a:solidFill>
                <a:srgbClr val="000000"/>
              </a:solidFill>
              <a:ea typeface="+mn-lt"/>
              <a:cs typeface="+mn-lt"/>
            </a:endParaRPr>
          </a:p>
          <a:p>
            <a:pPr marL="514350" indent="-514350">
              <a:buAutoNum type="arabicPeriod"/>
            </a:pPr>
            <a:r>
              <a:rPr lang="en-GB" sz="2800" dirty="0">
                <a:solidFill>
                  <a:srgbClr val="000000"/>
                </a:solidFill>
                <a:ea typeface="+mn-lt"/>
                <a:cs typeface="+mn-lt"/>
              </a:rPr>
              <a:t> </a:t>
            </a:r>
            <a:r>
              <a:rPr lang="en-GB" sz="2800" i="1" dirty="0">
                <a:solidFill>
                  <a:srgbClr val="000000"/>
                </a:solidFill>
                <a:ea typeface="+mn-lt"/>
                <a:cs typeface="+mn-lt"/>
              </a:rPr>
              <a:t>C</a:t>
            </a:r>
            <a:r>
              <a:rPr lang="en-GB" sz="2800" dirty="0">
                <a:solidFill>
                  <a:srgbClr val="000000"/>
                </a:solidFill>
                <a:ea typeface="+mn-lt"/>
                <a:cs typeface="+mn-lt"/>
              </a:rPr>
              <a:t> = 10 cm				4.    </a:t>
            </a:r>
            <a:r>
              <a:rPr lang="en-GB" sz="2800" i="1" dirty="0">
                <a:solidFill>
                  <a:srgbClr val="000000"/>
                </a:solidFill>
                <a:ea typeface="+mn-lt"/>
                <a:cs typeface="+mn-lt"/>
              </a:rPr>
              <a:t>C</a:t>
            </a:r>
            <a:r>
              <a:rPr lang="en-GB" sz="2800" dirty="0">
                <a:solidFill>
                  <a:srgbClr val="000000"/>
                </a:solidFill>
                <a:ea typeface="+mn-lt"/>
                <a:cs typeface="+mn-lt"/>
              </a:rPr>
              <a:t> = 48 mm   </a:t>
            </a:r>
          </a:p>
          <a:p>
            <a:pPr marL="0" indent="0">
              <a:buNone/>
            </a:pPr>
            <a:r>
              <a:rPr lang="en-GB" sz="2800" dirty="0">
                <a:solidFill>
                  <a:srgbClr val="000000"/>
                </a:solidFill>
                <a:ea typeface="+mn-lt"/>
                <a:cs typeface="+mn-lt"/>
              </a:rPr>
              <a:t>	</a:t>
            </a:r>
            <a:endParaRPr lang="en-US" sz="2800" dirty="0">
              <a:solidFill>
                <a:srgbClr val="000000"/>
              </a:solidFill>
              <a:ea typeface="+mn-lt"/>
              <a:cs typeface="+mn-lt"/>
            </a:endParaRPr>
          </a:p>
          <a:p>
            <a:pPr marL="457200" indent="-457200">
              <a:buFont typeface="+mj-lt"/>
              <a:buAutoNum type="arabicPeriod" startAt="2"/>
            </a:pPr>
            <a:endParaRPr lang="en-US" sz="2800" b="0" i="0" u="none" strike="noStrike" baseline="0" dirty="0"/>
          </a:p>
          <a:p>
            <a:pPr marL="0" indent="0">
              <a:buNone/>
            </a:pPr>
            <a:endParaRPr lang="en-US" sz="2800" b="0" i="0" u="none" strike="noStrike" baseline="0" dirty="0"/>
          </a:p>
          <a:p>
            <a:pPr marL="0" indent="0" algn="ctr">
              <a:buNone/>
            </a:pPr>
            <a:endParaRPr lang="en-US" sz="2800" dirty="0"/>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52</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356</a:t>
            </a:r>
          </a:p>
        </p:txBody>
      </p:sp>
      <p:sp>
        <p:nvSpPr>
          <p:cNvPr id="1006" name="Answer 1006"/>
          <p:cNvSpPr txBox="1"/>
          <p:nvPr/>
        </p:nvSpPr>
        <p:spPr>
          <a:xfrm>
            <a:off x="3556000" y="3524250"/>
            <a:ext cx="2413000" cy="4064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r = 10 in.</a:t>
            </a:r>
          </a:p>
        </p:txBody>
      </p:sp>
      <p:sp>
        <p:nvSpPr>
          <p:cNvPr id="1007" name="Answer 1007"/>
          <p:cNvSpPr txBox="1"/>
          <p:nvPr/>
        </p:nvSpPr>
        <p:spPr>
          <a:xfrm>
            <a:off x="8890000" y="3524250"/>
            <a:ext cx="2667000" cy="4064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r = 2.5 ft</a:t>
            </a:r>
          </a:p>
        </p:txBody>
      </p:sp>
      <p:sp>
        <p:nvSpPr>
          <p:cNvPr id="1008" name="Answer 1008"/>
          <p:cNvSpPr txBox="1"/>
          <p:nvPr/>
        </p:nvSpPr>
        <p:spPr>
          <a:xfrm>
            <a:off x="3556000" y="5016500"/>
            <a:ext cx="2413000" cy="4064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r ≈ 1.6 cm</a:t>
            </a:r>
          </a:p>
        </p:txBody>
      </p:sp>
      <p:sp>
        <p:nvSpPr>
          <p:cNvPr id="1009" name="Answer 1009"/>
          <p:cNvSpPr txBox="1"/>
          <p:nvPr/>
        </p:nvSpPr>
        <p:spPr>
          <a:xfrm>
            <a:off x="8890000" y="5016500"/>
            <a:ext cx="2667000" cy="4064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r ≈ 7.6 mm</a:t>
            </a:r>
          </a:p>
        </p:txBody>
      </p:sp>
    </p:spTree>
    <p:extLst>
      <p:ext uri="{BB962C8B-B14F-4D97-AF65-F5344CB8AC3E}">
        <p14:creationId xmlns:p14="http://schemas.microsoft.com/office/powerpoint/2010/main" val="3492781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0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42900"/>
            <a:ext cx="10514013" cy="342900"/>
          </a:xfrm>
          <a:prstGeom prst="rect">
            <a:avLst/>
          </a:prstGeom>
        </p:spPr>
        <p:txBody>
          <a:bodyPr anchor="b"/>
          <a:lstStyle/>
          <a:p>
            <a:r>
              <a:rPr lang="en-US" sz="2000" dirty="0">
                <a:solidFill>
                  <a:schemeClr val="bg2"/>
                </a:solidFill>
              </a:rPr>
              <a:t>Acknowledgment and Notice</a:t>
            </a:r>
          </a:p>
        </p:txBody>
      </p:sp>
      <p:sp>
        <p:nvSpPr>
          <p:cNvPr id="1002" name="Slide Number 100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54</a:t>
            </a:fld>
          </a:p>
        </p:txBody>
      </p:sp>
    </p:spTree>
    <p:extLst>
      <p:ext uri="{BB962C8B-B14F-4D97-AF65-F5344CB8AC3E}">
        <p14:creationId xmlns:p14="http://schemas.microsoft.com/office/powerpoint/2010/main" val="36328778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6095206" y="4975063"/>
            <a:ext cx="5492039"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BLMathematics_AlgI_M3_T1_</a:t>
            </a:r>
            <a:r>
              <a:rPr kumimoji="0" lang="en-US" sz="1800" b="0" i="0" u="none" strike="noStrike" kern="1200" cap="none" spc="0" normalizeH="0" baseline="0" noProof="0">
                <a:ln>
                  <a:noFill/>
                </a:ln>
                <a:solidFill>
                  <a:schemeClr val="bg1"/>
                </a:solidFill>
                <a:effectLst/>
                <a:uLnTx/>
                <a:uFillTx/>
                <a:latin typeface="+mn-lt"/>
                <a:ea typeface="+mn-ea"/>
                <a:cs typeface="+mn-cs"/>
              </a:rPr>
              <a:t>L1_LessonSlides_ENG_2025</a:t>
            </a:r>
            <a:endParaRPr kumimoji="0" lang="en-US" sz="1800" b="0" i="0" u="none" strike="noStrike" kern="1200" cap="none" spc="0" normalizeH="0" baseline="0" noProof="0" dirty="0">
              <a:ln>
                <a:noFill/>
              </a:ln>
              <a:solidFill>
                <a:schemeClr val="bg1"/>
              </a:solidFill>
              <a:effectLst/>
              <a:uLnTx/>
              <a:uFillTx/>
              <a:latin typeface="+mn-lt"/>
              <a:ea typeface="Calibri"/>
              <a:cs typeface="Calibri"/>
            </a:endParaRPr>
          </a:p>
        </p:txBody>
      </p:sp>
      <p:sp>
        <p:nvSpPr>
          <p:cNvPr id="1002" name="Slide Number 100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55</a:t>
            </a:fld>
          </a:p>
        </p:txBody>
      </p:sp>
    </p:spTree>
    <p:extLst>
      <p:ext uri="{BB962C8B-B14F-4D97-AF65-F5344CB8AC3E}">
        <p14:creationId xmlns:p14="http://schemas.microsoft.com/office/powerpoint/2010/main" val="13085727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nswer 2"/>
          <p:cNvSpPr txBox="1"/>
          <p:nvPr/>
        </p:nvSpPr>
        <p:spPr>
          <a:xfrm>
            <a:off x="869950" y="571500"/>
            <a:ext cx="10795000" cy="20701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3400" b="1" dirty="0">
                <a:solidFill>
                  <a:srgbClr val="2E7D4F"/>
                </a:solidFill>
              </a:rPr>
              <a:t>Notes for this deck</a:t>
            </a:r>
          </a:p>
        </p:txBody>
      </p:sp>
      <p:sp>
        <p:nvSpPr>
          <p:cNvPr id="3" name="Answer 3"/>
          <p:cNvSpPr txBox="1"/>
          <p:nvPr/>
        </p:nvSpPr>
        <p:spPr>
          <a:xfrm>
            <a:off x="869950" y="2641600"/>
            <a:ext cx="10795000" cy="20701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Slide 12: two parts are labeled c.; the second is d.</a:t>
            </a:r>
          </a:p>
        </p:txBody>
      </p:sp>
      <p:sp>
        <p:nvSpPr>
          <p:cNvPr id="4" name="Answer 4"/>
          <p:cNvSpPr txBox="1"/>
          <p:nvPr/>
        </p:nvSpPr>
        <p:spPr>
          <a:xfrm>
            <a:off x="869950" y="4711700"/>
            <a:ext cx="10795000" cy="20701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16171D"/>
                </a:solidFill>
              </a:rPr>
              <a:t>• Every Teacher Edition answer was re-solved and is correct, including Prepare (C = 2πr).</a:t>
            </a:r>
          </a:p>
        </p:txBody>
      </p:sp>
      <p:sp>
        <p:nvSpPr>
          <p:cNvPr id="999" name="Slide Number 99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53</a:t>
            </a:fld>
          </a:p>
        </p:txBody>
      </p:sp>
    </p:spTree>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4E78E5-0154-4C1E-9E02-E002822E6A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8DFB36-FBAE-42FF-A732-AA8F5E6D15D5}">
  <ds:schemaRefs>
    <ds:schemaRef ds:uri="http://purl.org/dc/terms/"/>
    <ds:schemaRef ds:uri="33e0dbe9-2ee3-4e40-8d2a-c14405aa398e"/>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5aa991ed-cfdb-45f0-90fe-74f6c83d7f1e"/>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04C40A32-31E8-4858-87A9-973F15D55D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6618</TotalTime>
  <Words>3685</Words>
  <Application>Microsoft Office PowerPoint</Application>
  <PresentationFormat>Custom</PresentationFormat>
  <Paragraphs>413</Paragraphs>
  <Slides>54</Slides>
  <Notes>54</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54</vt:i4>
      </vt:variant>
    </vt:vector>
  </HeadingPairs>
  <TitlesOfParts>
    <vt:vector size="64" baseType="lpstr">
      <vt:lpstr>Arial</vt:lpstr>
      <vt:lpstr>Calibri</vt:lpstr>
      <vt:lpstr>Cambria</vt:lpstr>
      <vt:lpstr>Cambria Math</vt:lpstr>
      <vt:lpstr>Times New Roman</vt:lpstr>
      <vt:lpstr>Wingdings</vt:lpstr>
      <vt:lpstr>A1_green</vt:lpstr>
      <vt:lpstr>G7_navy</vt:lpstr>
      <vt:lpstr>G8_purple</vt:lpstr>
      <vt:lpstr>G6_teal</vt:lpstr>
      <vt:lpstr>Solving Linear Equations</vt:lpstr>
      <vt:lpstr>Objectives</vt:lpstr>
      <vt:lpstr>Key Terms (1 of 3)</vt:lpstr>
      <vt:lpstr>Key Terms (2 of 3)</vt:lpstr>
      <vt:lpstr>Key Terms (3 of 3) </vt:lpstr>
      <vt:lpstr>Essential Question (1 of 2)</vt:lpstr>
      <vt:lpstr>Day 1</vt:lpstr>
      <vt:lpstr>Getting Started</vt:lpstr>
      <vt:lpstr>Equation Creation (1 of 7)</vt:lpstr>
      <vt:lpstr>Equation Creation (2 of 7) </vt:lpstr>
      <vt:lpstr>Equation Creation (3 of 7)</vt:lpstr>
      <vt:lpstr>Equation Creation (4 of 7)</vt:lpstr>
      <vt:lpstr>Equation Creation (5 of 7)</vt:lpstr>
      <vt:lpstr>Equation Creation (6 of 7)</vt:lpstr>
      <vt:lpstr>Equation Creation (7 of 7)</vt:lpstr>
      <vt:lpstr>Activity 1.1</vt:lpstr>
      <vt:lpstr>Using Properties to Justify Solutions (1 of 9) </vt:lpstr>
      <vt:lpstr>Using Properties to Justify Solutions (2 of 9)</vt:lpstr>
      <vt:lpstr>Using Properties to Justify Solutions (3 of 9)</vt:lpstr>
      <vt:lpstr>Using Properties to Justify Solutions (4 of 9)</vt:lpstr>
      <vt:lpstr>Using Properties to Justify Solutions (5 of 9)</vt:lpstr>
      <vt:lpstr>Using Properties to Justify Solutions (6 of 9)</vt:lpstr>
      <vt:lpstr>Using Properties to Justify Solutions (7 of 9)</vt:lpstr>
      <vt:lpstr>Using Properties to Justify Solutions (8 of 9)</vt:lpstr>
      <vt:lpstr>Using Properties to Justify Solutions (9 of 9)</vt:lpstr>
      <vt:lpstr>Activity 1.2</vt:lpstr>
      <vt:lpstr>Solutions to Linear Equations (1 of 8)</vt:lpstr>
      <vt:lpstr>Solutions to Linear Equations (2 of 8)</vt:lpstr>
      <vt:lpstr>Solutions to Linear Equations (3 of 8) </vt:lpstr>
      <vt:lpstr>Solutions to Linear Equations (4 of 8)</vt:lpstr>
      <vt:lpstr>Solutions to Linear Equations (5 of 8)</vt:lpstr>
      <vt:lpstr>Solutions to Linear Equations (6 of 8)</vt:lpstr>
      <vt:lpstr>Solutions to Linear Equations (7 of 8)</vt:lpstr>
      <vt:lpstr>Solutions to Linear Equations (8 of 8)</vt:lpstr>
      <vt:lpstr>Day 1 </vt:lpstr>
      <vt:lpstr>Essential Question (2 of 2)</vt:lpstr>
      <vt:lpstr>Activity 1.3 </vt:lpstr>
      <vt:lpstr>Tic-Tac-Bingo (1 of 5)</vt:lpstr>
      <vt:lpstr>Tic-Tac-Bingo (2 of 5) </vt:lpstr>
      <vt:lpstr>Tic-Tac-Bingo (3 of 5)  </vt:lpstr>
      <vt:lpstr>Tic-Tac-Bingo (4 of 5)</vt:lpstr>
      <vt:lpstr>Tic-Tac-Bingo (5 of 5)</vt:lpstr>
      <vt:lpstr>Talk the Talk</vt:lpstr>
      <vt:lpstr>One Step at a Time (1 of 3)</vt:lpstr>
      <vt:lpstr>One Step at a Time (2 of 3)  </vt:lpstr>
      <vt:lpstr>One Step at a Time (3 of 3)</vt:lpstr>
      <vt:lpstr>PowerPoint Presentation</vt:lpstr>
      <vt:lpstr>Tic-Tac-Bingo Board (1 of 1) </vt:lpstr>
      <vt:lpstr>PowerPoint Presentation</vt:lpstr>
      <vt:lpstr>Expression Cards (1 of 1) </vt:lpstr>
      <vt:lpstr>Prepare</vt:lpstr>
      <vt:lpstr>Prepare for Module 3 Topic 1 Lesson 2</vt:lpstr>
      <vt:lpstr>Acknowledgment and Notice</vt:lpstr>
      <vt:lpstr>BLMathematics_AlgI_M3_T1_L1_LessonSlides_ENG_2025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Moyer Montague, Kristina</cp:lastModifiedBy>
  <cp:revision>141</cp:revision>
  <dcterms:created xsi:type="dcterms:W3CDTF">2024-02-22T09:58:00Z</dcterms:created>
  <dcterms:modified xsi:type="dcterms:W3CDTF">2025-07-29T21:25:21Z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