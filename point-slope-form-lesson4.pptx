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(SE p. 207): "In a horizontal line there is no change in the y-values as the x-values change. Therefore, the slope is 0. A horizontal line has zero steepness. In a vertical line there is no change in the x-values as the y-values change. Therefore, the slope is undefined. A vertical line has an undefined steepness." Offer HOY VUX as a memory aid. Return to the Essential Question and have students answer it in their notes. End of Day 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Day 2 by rereading the Essential Question. Ask two or three students to summarize Day 1: What is point-slope form? What do the equations of horizontal and vertical lines look like?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Assign the homework after Day 1 or Day 2;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hyperlink" Target="https://algebra1m2u1l4.vercel.app/lesson4-homework.html" TargetMode="External"/><Relationship Id="rId4" Type="http://schemas.openxmlformats.org/officeDocument/2006/relationships/hyperlink" Target="https://algebra1m2u1l4.vercel.app/lesson4-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46565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51572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7" name="Shape 7"/>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3"/>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958366"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br>
              <a:rPr lang="en-US" sz="1575" dirty="0">
                <a:solidFill>
                  <a:srgbClr val="16171D"/>
                </a:solidFill>
                <a:latin typeface="Segoe UI"/>
                <a:cs typeface="Segoe UI"/>
              </a:rPr>
            </a:b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 = Horizontal line · </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 zer</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slope ·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br>
              <a:rPr lang="en-US" sz="1575" dirty="0">
                <a:solidFill>
                  <a:srgbClr val="16171D"/>
                </a:solidFill>
                <a:latin typeface="Segoe UI"/>
                <a:cs typeface="Segoe UI"/>
              </a:rPr>
            </a:b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 = Vertical line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slope ·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Homework and Quiz</a:t>
            </a:r>
            <a:endParaRPr lang="en-US" sz="3450" dirty="0"/>
          </a:p>
        </p:txBody>
      </p:sp>
      <p:sp>
        <p:nvSpPr>
          <p:cNvPr id="6" name="Shape 6"/>
          <p:cNvSpPr txBox="1"/>
          <p:nvPr/>
        </p:nvSpPr>
        <p:spPr>
          <a:xfrm>
            <a:off x="685800"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3"/>
              </a:rPr>
              <a:t xml:space="preserve">Homework →</a:t>
            </a:r>
            <a:endParaRPr lang="en-US" sz="2100" dirty="0"/>
          </a:p>
        </p:txBody>
      </p:sp>
      <p:sp>
        <p:nvSpPr>
          <p:cNvPr id="5" name="Shape 5"/>
          <p:cNvSpPr txBox="1"/>
          <p:nvPr/>
        </p:nvSpPr>
        <p:spPr>
          <a:xfrm>
            <a:off x="895350"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9" name="Shape 9"/>
          <p:cNvSpPr txBox="1"/>
          <p:nvPr/>
        </p:nvSpPr>
        <p:spPr>
          <a:xfrm>
            <a:off x="6267298"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76848"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4"/>
              </a:rPr>
              <a:t xml:space="preserve">Quiz →</a:t>
            </a:r>
            <a:endParaRPr lang="en-US" sz="2100" dirty="0"/>
          </a:p>
        </p:txBody>
      </p:sp>
      <p:sp>
        <p:nvSpPr>
          <p:cNvPr id="8" name="Shape 8"/>
          <p:cNvSpPr txBox="1"/>
          <p:nvPr/>
        </p:nvSpPr>
        <p:spPr>
          <a:xfrm>
            <a:off x="6476848"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0" name="Shape 10"/>
          <p:cNvSpPr txBox="1"/>
          <p:nvPr/>
        </p:nvSpPr>
        <p:spPr>
          <a:xfrm>
            <a:off x="685800" y="338556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Both are multiple choice and cover SE pp. 203–207 and the Lesson 4 Assignment (SE p. 215).</a:t>
            </a:r>
            <a:endParaRPr lang="en-US" sz="1575" dirty="0"/>
          </a:p>
        </p:txBody>
      </p:sp>
    </p:spTree>
  </p:cSld>
  <p:clrMapOvr>
    <a:masterClrMapping/>
  </p:clrMapOvr>
  <p:transition spd="med">
    <p:fade/>
  </p:transition>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32</Slides>
  <Notes>32</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