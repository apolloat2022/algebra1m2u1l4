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a horizontal line has zero steepness; a vertical line has undefined steepness. Offer HOY VUX as a memory aid. Return to the Essential Question and have students answer it in their notes. End of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Day 2 by rereading the Essential Question. Ask two or three students to summarize Day 1: What is point-slope form? What do the equations of horizontal and vertical lines look like?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DFE7F1"/>
          </a:fgClr>
          <a:bgClr>
            <a:srgbClr val="F5F8FC"/>
          </a:bgClr>
        </a:patt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Algebra I · Module 2 · Topic 1 · Lesson 4</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223A"/>
                </a:solidFill>
                <a:latin typeface="Calibri"/>
                <a:cs typeface="Calibri"/>
              </a:rPr>
              <a:t xml:space="preserve">Point-Slope Form</a:t>
            </a:r>
            <a:br>
              <a:rPr lang="en-US" sz="5700" dirty="0" b="1">
                <a:solidFill>
                  <a:srgbClr val="16223A"/>
                </a:solidFill>
                <a:latin typeface="Calibri"/>
                <a:cs typeface="Calibri"/>
              </a:rPr>
            </a:br>
            <a:r>
              <a:rPr lang="en-US" sz="5700" dirty="0" b="1">
                <a:solidFill>
                  <a:srgbClr val="16223A"/>
                </a:solidFill>
                <a:latin typeface="Calibri"/>
                <a:cs typeface="Calibr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223A"/>
                </a:solidFill>
                <a:latin typeface="Cambria"/>
                <a:cs typeface="Cambria"/>
              </a:rPr>
              <a:t xml:space="preserve">y</a:t>
            </a:r>
            <a:r>
              <a:rPr lang="en-US" sz="4500" dirty="0">
                <a:solidFill>
                  <a:srgbClr val="16223A"/>
                </a:solidFill>
                <a:latin typeface="Cambria"/>
                <a:cs typeface="Cambria"/>
              </a:rPr>
              <a:t xml:space="preserve"> − </a:t>
            </a:r>
            <a:r>
              <a:rPr lang="en-US" sz="4500" dirty="0" b="1" i="1">
                <a:solidFill>
                  <a:srgbClr val="1D64C4"/>
                </a:solidFill>
                <a:latin typeface="Cambria"/>
                <a:cs typeface="Cambria"/>
              </a:rPr>
              <a:t xml:space="preserve">y</a:t>
            </a:r>
            <a:r>
              <a:rPr lang="en-US" sz="3825" dirty="0" b="1" baseline="-25000">
                <a:solidFill>
                  <a:srgbClr val="1D64C4"/>
                </a:solidFill>
                <a:latin typeface="Cambria"/>
                <a:cs typeface="Cambria"/>
              </a:rPr>
              <a:t xml:space="preserve">1</a:t>
            </a:r>
            <a:r>
              <a:rPr lang="en-US" sz="4500" dirty="0">
                <a:solidFill>
                  <a:srgbClr val="16223A"/>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223A"/>
                </a:solidFill>
                <a:latin typeface="Cambria"/>
                <a:cs typeface="Cambria"/>
              </a:rPr>
              <a:t xml:space="preserve">(</a:t>
            </a:r>
            <a:r>
              <a:rPr lang="en-US" sz="4500" dirty="0" i="1">
                <a:solidFill>
                  <a:srgbClr val="16223A"/>
                </a:solidFill>
                <a:latin typeface="Cambria"/>
                <a:cs typeface="Cambria"/>
              </a:rPr>
              <a:t xml:space="preserve">x</a:t>
            </a:r>
            <a:r>
              <a:rPr lang="en-US" sz="4500" dirty="0">
                <a:solidFill>
                  <a:srgbClr val="16223A"/>
                </a:solidFill>
                <a:latin typeface="Cambria"/>
                <a:cs typeface="Cambria"/>
              </a:rPr>
              <a:t xml:space="preserve"> − </a:t>
            </a:r>
            <a:r>
              <a:rPr lang="en-US" sz="4500" dirty="0" b="1" i="1">
                <a:solidFill>
                  <a:srgbClr val="1D64C4"/>
                </a:solidFill>
                <a:latin typeface="Cambria"/>
                <a:cs typeface="Cambria"/>
              </a:rPr>
              <a:t xml:space="preserve">x</a:t>
            </a:r>
            <a:r>
              <a:rPr lang="en-US" sz="3825" dirty="0" b="1" baseline="-25000">
                <a:solidFill>
                  <a:srgbClr val="1D64C4"/>
                </a:solidFill>
                <a:latin typeface="Cambria"/>
                <a:cs typeface="Cambria"/>
              </a:rPr>
              <a:t xml:space="preserve">1</a:t>
            </a:r>
            <a:r>
              <a:rPr lang="en-US" sz="4500" dirty="0">
                <a:solidFill>
                  <a:srgbClr val="16223A"/>
                </a:solidFill>
                <a:latin typeface="Cambria"/>
                <a:cs typeface="Cambria"/>
              </a:rPr>
              <a:t xml:space="preserve">)</a:t>
            </a:r>
            <a:endParaRPr lang="en-US" sz="4500" dirty="0"/>
          </a:p>
        </p:txBody>
      </p:sp>
      <p:sp>
        <p:nvSpPr>
          <p:cNvPr id="5" name="Shape 5"/>
          <p:cNvSpPr txBox="1"/>
          <p:nvPr/>
        </p:nvSpPr>
        <p:spPr>
          <a:xfrm>
            <a:off x="685800" y="459943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Click, or press → / Space, to reveal each step. ← goes back. F = full screen.</a:t>
            </a:r>
            <a:endParaRPr lang="en-US" sz="1575" dirty="0"/>
          </a:p>
        </p:txBody>
      </p:sp>
      <p:sp>
        <p:nvSpPr>
          <p:cNvPr id="6" name="Shape 6"/>
          <p:cNvSpPr txBox="1"/>
          <p:nvPr/>
        </p:nvSpPr>
        <p:spPr>
          <a:xfrm>
            <a:off x="685800" y="6355080"/>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6647D"/>
                </a:solidFill>
                <a:latin typeface="Calibri"/>
                <a:cs typeface="Calibri"/>
              </a:rPr>
              <a:t xml:space="preserve">Adapted from Texas Bluebonnet Learning, Secondary Mathematics Algebra I (©2024–2025 Texas Education Agency, portions ©2021 Carnegie Learning), CC BY-NC 4.0.</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Lesson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223A"/>
                </a:solidFill>
                <a:latin typeface="Calibri"/>
                <a:cs typeface="Calibri"/>
              </a:rPr>
              <a:t xml:space="preserve">1. Use the </a:t>
            </a:r>
            <a:r>
              <a:rPr lang="en-US" sz="2250" dirty="0" b="1">
                <a:solidFill>
                  <a:srgbClr val="16223A"/>
                </a:solidFill>
                <a:latin typeface="Calibri"/>
                <a:cs typeface="Calibri"/>
              </a:rPr>
              <a:t xml:space="preserve">slope formula</a:t>
            </a:r>
            <a:r>
              <a:rPr lang="en-US" sz="2250" dirty="0">
                <a:solidFill>
                  <a:srgbClr val="16223A"/>
                </a:solidFill>
                <a:latin typeface="Calibri"/>
                <a:cs typeface="Calibr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223A"/>
                </a:solidFill>
                <a:latin typeface="Calibri"/>
                <a:cs typeface="Calibri"/>
              </a:rPr>
              <a:t xml:space="preserve">2. Write an equation in </a:t>
            </a:r>
            <a:r>
              <a:rPr lang="en-US" sz="2250" dirty="0" b="1">
                <a:solidFill>
                  <a:srgbClr val="16223A"/>
                </a:solidFill>
                <a:latin typeface="Calibri"/>
                <a:cs typeface="Calibri"/>
              </a:rPr>
              <a:t xml:space="preserve">point-slope form</a:t>
            </a:r>
            <a:r>
              <a:rPr lang="en-US" sz="2250" dirty="0">
                <a:solidFill>
                  <a:srgbClr val="16223A"/>
                </a:solidFill>
                <a:latin typeface="Calibri"/>
                <a:cs typeface="Calibr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223A"/>
                </a:solidFill>
                <a:latin typeface="Calibri"/>
                <a:cs typeface="Calibri"/>
              </a:rPr>
              <a:t xml:space="preserve">3. Write equations for </a:t>
            </a:r>
            <a:r>
              <a:rPr lang="en-US" sz="2250" dirty="0" b="1">
                <a:solidFill>
                  <a:srgbClr val="16223A"/>
                </a:solidFill>
                <a:latin typeface="Calibri"/>
                <a:cs typeface="Calibri"/>
              </a:rPr>
              <a:t xml:space="preserve">vertical</a:t>
            </a:r>
            <a:r>
              <a:rPr lang="en-US" sz="2250" dirty="0">
                <a:solidFill>
                  <a:srgbClr val="16223A"/>
                </a:solidFill>
                <a:latin typeface="Calibri"/>
                <a:cs typeface="Calibri"/>
              </a:rPr>
              <a:t xml:space="preserve"> and </a:t>
            </a:r>
            <a:r>
              <a:rPr lang="en-US" sz="2250" dirty="0" b="1">
                <a:solidFill>
                  <a:srgbClr val="16223A"/>
                </a:solidFill>
                <a:latin typeface="Calibri"/>
                <a:cs typeface="Calibri"/>
              </a:rPr>
              <a:t xml:space="preserve">horizontal</a:t>
            </a:r>
            <a:r>
              <a:rPr lang="en-US" sz="2250" dirty="0">
                <a:solidFill>
                  <a:srgbClr val="16223A"/>
                </a:solidFill>
                <a:latin typeface="Calibri"/>
                <a:cs typeface="Calibr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Essential Question</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You already know slope-intercept form, </a:t>
            </a:r>
            <a:r>
              <a:rPr lang="en-US" sz="3450" dirty="0" b="1" i="1">
                <a:solidFill>
                  <a:srgbClr val="16223A"/>
                </a:solidFill>
                <a:latin typeface="Cambria"/>
                <a:cs typeface="Cambria"/>
              </a:rPr>
              <a:t xml:space="preserve">y</a:t>
            </a:r>
            <a:r>
              <a:rPr lang="en-US" sz="3450" dirty="0" b="1">
                <a:solidFill>
                  <a:srgbClr val="16223A"/>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223A"/>
                </a:solidFill>
                <a:latin typeface="Cambria"/>
                <a:cs typeface="Cambria"/>
              </a:rPr>
              <a:t xml:space="preserve">x</a:t>
            </a:r>
            <a:r>
              <a:rPr lang="en-US" sz="3450" dirty="0" b="1">
                <a:solidFill>
                  <a:srgbClr val="16223A"/>
                </a:solidFill>
                <a:latin typeface="Cambria"/>
                <a:cs typeface="Cambria"/>
              </a:rPr>
              <a:t xml:space="preserve"> + </a:t>
            </a:r>
            <a:r>
              <a:rPr lang="en-US" sz="3450" dirty="0" b="1" i="1">
                <a:solidFill>
                  <a:srgbClr val="16223A"/>
                </a:solidFill>
                <a:latin typeface="Cambria"/>
                <a:cs typeface="Cambria"/>
              </a:rPr>
              <a:t xml:space="preserve">b</a:t>
            </a:r>
            <a:r>
              <a:rPr lang="en-US" sz="3450" dirty="0" b="1">
                <a:solidFill>
                  <a:srgbClr val="16223A"/>
                </a:solidFill>
                <a:latin typeface="Calibri"/>
                <a:cs typeface="Calibr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223A"/>
                </a:solidFill>
                <a:latin typeface="Calibri"/>
                <a:cs typeface="Calibri"/>
              </a:rPr>
              <a:t xml:space="preserve">Are there </a:t>
            </a:r>
            <a:r>
              <a:rPr lang="en-US" sz="2700" dirty="0" b="1">
                <a:solidFill>
                  <a:srgbClr val="16223A"/>
                </a:solidFill>
                <a:latin typeface="Calibri"/>
                <a:cs typeface="Calibri"/>
              </a:rPr>
              <a:t xml:space="preserve">other forms</a:t>
            </a:r>
            <a:r>
              <a:rPr lang="en-US" sz="2700" dirty="0">
                <a:solidFill>
                  <a:srgbClr val="16223A"/>
                </a:solidFill>
                <a:latin typeface="Calibri"/>
                <a:cs typeface="Calibr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223A"/>
                </a:solidFill>
                <a:latin typeface="Calibri"/>
                <a:cs typeface="Calibri"/>
              </a:rPr>
              <a:t xml:space="preserve">How do you write equations for </a:t>
            </a:r>
            <a:r>
              <a:rPr lang="en-US" sz="2700" dirty="0" b="1">
                <a:solidFill>
                  <a:srgbClr val="16223A"/>
                </a:solidFill>
                <a:latin typeface="Calibri"/>
                <a:cs typeface="Calibri"/>
              </a:rPr>
              <a:t xml:space="preserve">horizontal</a:t>
            </a:r>
            <a:r>
              <a:rPr lang="en-US" sz="2700" dirty="0">
                <a:solidFill>
                  <a:srgbClr val="16223A"/>
                </a:solidFill>
                <a:latin typeface="Calibri"/>
                <a:cs typeface="Calibri"/>
              </a:rPr>
              <a:t xml:space="preserve"> and </a:t>
            </a:r>
            <a:r>
              <a:rPr lang="en-US" sz="2700" dirty="0" b="1">
                <a:solidFill>
                  <a:srgbClr val="16223A"/>
                </a:solidFill>
                <a:latin typeface="Calibri"/>
                <a:cs typeface="Calibri"/>
              </a:rPr>
              <a:t xml:space="preserve">vertical</a:t>
            </a:r>
            <a:r>
              <a:rPr lang="en-US" sz="2700" dirty="0">
                <a:solidFill>
                  <a:srgbClr val="16223A"/>
                </a:solidFill>
                <a:latin typeface="Calibri"/>
                <a:cs typeface="Calibr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Miguel and Nia drain the community pools. Write each equation in slope-intercept form, </a:t>
            </a:r>
            <a:r>
              <a:rPr lang="en-US" sz="1575" dirty="0" i="1">
                <a:solidFill>
                  <a:srgbClr val="56647D"/>
                </a:solidFill>
                <a:latin typeface="Cambria"/>
                <a:cs typeface="Cambria"/>
              </a:rPr>
              <a:t xml:space="preserve">y</a:t>
            </a:r>
            <a:r>
              <a:rPr lang="en-US" sz="1575" dirty="0">
                <a:solidFill>
                  <a:srgbClr val="56647D"/>
                </a:solidFill>
                <a:latin typeface="Cambria"/>
                <a:cs typeface="Cambria"/>
              </a:rPr>
              <a:t xml:space="preserve"> = </a:t>
            </a:r>
            <a:r>
              <a:rPr lang="en-US" sz="1575" dirty="0" i="1">
                <a:solidFill>
                  <a:srgbClr val="56647D"/>
                </a:solidFill>
                <a:latin typeface="Cambria"/>
                <a:cs typeface="Cambria"/>
              </a:rPr>
              <a:t xml:space="preserve">mx</a:t>
            </a:r>
            <a:r>
              <a:rPr lang="en-US" sz="1575" dirty="0">
                <a:solidFill>
                  <a:srgbClr val="56647D"/>
                </a:solidFill>
                <a:latin typeface="Cambria"/>
                <a:cs typeface="Cambria"/>
              </a:rPr>
              <a:t xml:space="preserve"> + </a:t>
            </a:r>
            <a:r>
              <a:rPr lang="en-US" sz="1575" dirty="0" i="1">
                <a:solidFill>
                  <a:srgbClr val="56647D"/>
                </a:solidFill>
                <a:latin typeface="Cambria"/>
                <a:cs typeface="Cambria"/>
              </a:rPr>
              <a:t xml:space="preserve">b</a:t>
            </a:r>
            <a:r>
              <a:rPr lang="en-US" sz="1575" dirty="0">
                <a:solidFill>
                  <a:srgbClr val="56647D"/>
                </a:solidFill>
                <a:latin typeface="Calibri"/>
                <a:cs typeface="Calibr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223A"/>
                </a:solidFill>
                <a:latin typeface="Calibri"/>
                <a:cs typeface="Calibri"/>
              </a:rPr>
              <a:t xml:space="preserve">Pool A is at a water level of </a:t>
            </a:r>
            <a:r>
              <a:rPr lang="en-US" sz="2250" dirty="0" b="1">
                <a:solidFill>
                  <a:srgbClr val="16223A"/>
                </a:solidFill>
                <a:latin typeface="Calibri"/>
                <a:cs typeface="Calibri"/>
              </a:rPr>
              <a:t xml:space="preserve">14 feet</a:t>
            </a:r>
            <a:r>
              <a:rPr lang="en-US" sz="2250" dirty="0">
                <a:solidFill>
                  <a:srgbClr val="16223A"/>
                </a:solidFill>
                <a:latin typeface="Calibri"/>
                <a:cs typeface="Calibri"/>
              </a:rPr>
              <a:t xml:space="preserve"> and drains at a rate of </a:t>
            </a:r>
            <a:r>
              <a:rPr lang="en-US" sz="2250" dirty="0" b="1">
                <a:solidFill>
                  <a:srgbClr val="16223A"/>
                </a:solidFill>
                <a:latin typeface="Calibri"/>
                <a:cs typeface="Calibri"/>
              </a:rPr>
              <a:t xml:space="preserve">3 feet per hour</a:t>
            </a:r>
            <a:r>
              <a:rPr lang="en-US" sz="2250" dirty="0">
                <a:solidFill>
                  <a:srgbClr val="16223A"/>
                </a:solidFill>
                <a:latin typeface="Calibri"/>
                <a:cs typeface="Calibr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Let </a:t>
            </a:r>
            <a:r>
              <a:rPr lang="en-US" sz="1575" dirty="0" i="1">
                <a:solidFill>
                  <a:srgbClr val="56647D"/>
                </a:solidFill>
                <a:latin typeface="Cambria"/>
                <a:cs typeface="Cambria"/>
              </a:rPr>
              <a:t xml:space="preserve">x</a:t>
            </a:r>
            <a:r>
              <a:rPr lang="en-US" sz="1575" dirty="0">
                <a:solidFill>
                  <a:srgbClr val="56647D"/>
                </a:solidFill>
                <a:latin typeface="Calibri"/>
                <a:cs typeface="Calibri"/>
              </a:rPr>
              <a:t xml:space="preserve"> = hours of draining and </a:t>
            </a:r>
            <a:r>
              <a:rPr lang="en-US" sz="1575" dirty="0" i="1">
                <a:solidFill>
                  <a:srgbClr val="56647D"/>
                </a:solidFill>
                <a:latin typeface="Cambria"/>
                <a:cs typeface="Cambria"/>
              </a:rPr>
              <a:t xml:space="preserve">y</a:t>
            </a:r>
            <a:r>
              <a:rPr lang="en-US" sz="1575" dirty="0">
                <a:solidFill>
                  <a:srgbClr val="56647D"/>
                </a:solidFill>
                <a:latin typeface="Calibri"/>
                <a:cs typeface="Calibr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It starts at 14 feet, so the </a:t>
            </a:r>
            <a:r>
              <a:rPr lang="en-US" sz="1950" dirty="0" i="1">
                <a:solidFill>
                  <a:srgbClr val="16223A"/>
                </a:solidFill>
                <a:latin typeface="Calibri"/>
                <a:cs typeface="Calibri"/>
              </a:rPr>
              <a:t xml:space="preserve">y</a:t>
            </a:r>
            <a:r>
              <a:rPr lang="en-US" sz="1950" dirty="0">
                <a:solidFill>
                  <a:srgbClr val="16223A"/>
                </a:solidFill>
                <a:latin typeface="Calibri"/>
                <a:cs typeface="Calibri"/>
              </a:rPr>
              <a:t xml:space="preserve">-intercept is </a:t>
            </a:r>
            <a:r>
              <a:rPr lang="en-US" sz="2325" dirty="0" i="1">
                <a:solidFill>
                  <a:srgbClr val="16223A"/>
                </a:solidFill>
                <a:latin typeface="Cambria"/>
                <a:cs typeface="Cambria"/>
              </a:rPr>
              <a:t xml:space="preserve">b</a:t>
            </a:r>
            <a:r>
              <a:rPr lang="en-US" sz="2325" dirty="0">
                <a:solidFill>
                  <a:srgbClr val="16223A"/>
                </a:solidFill>
                <a:latin typeface="Cambria"/>
                <a:cs typeface="Cambria"/>
              </a:rPr>
              <a:t xml:space="preserve"> = 14</a:t>
            </a:r>
            <a:r>
              <a:rPr lang="en-US" sz="1950" dirty="0">
                <a:solidFill>
                  <a:srgbClr val="16223A"/>
                </a:solidFill>
                <a:latin typeface="Calibri"/>
                <a:cs typeface="Calibr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The level goes </a:t>
            </a:r>
            <a:r>
              <a:rPr lang="en-US" sz="1950" dirty="0" b="1">
                <a:solidFill>
                  <a:srgbClr val="16223A"/>
                </a:solidFill>
                <a:latin typeface="Calibri"/>
                <a:cs typeface="Calibri"/>
              </a:rPr>
              <a:t xml:space="preserve">down</a:t>
            </a:r>
            <a:r>
              <a:rPr lang="en-US" sz="1950" dirty="0">
                <a:solidFill>
                  <a:srgbClr val="16223A"/>
                </a:solidFill>
                <a:latin typeface="Calibri"/>
                <a:cs typeface="Calibr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223A"/>
                </a:solidFill>
                <a:latin typeface="Calibri"/>
                <a:cs typeface="Calibr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DFE7F1"/>
            </a:solidFill>
          </a:ln>
        </p:spPr>
      </p:cxnSp>
      <p:cxnSp>
        <p:nvCxnSpPr>
          <p:cNvPr id="12" name="Line 12"/>
          <p:cNvCxnSpPr/>
          <p:nvPr/>
        </p:nvCxnSpPr>
        <p:spPr>
          <a:xfrm>
            <a:off x="9173858" y="3111246"/>
            <a:ext cx="0" cy="2781300"/>
          </a:xfrm>
          <a:prstGeom prst="line">
            <a:avLst/>
          </a:prstGeom>
          <a:ln w="9525" cap="flat">
            <a:solidFill>
              <a:srgbClr val="DFE7F1"/>
            </a:solidFill>
          </a:ln>
        </p:spPr>
      </p:cxnSp>
      <p:cxnSp>
        <p:nvCxnSpPr>
          <p:cNvPr id="13" name="Line 13"/>
          <p:cNvCxnSpPr/>
          <p:nvPr/>
        </p:nvCxnSpPr>
        <p:spPr>
          <a:xfrm>
            <a:off x="9375470" y="3111246"/>
            <a:ext cx="0" cy="2781300"/>
          </a:xfrm>
          <a:prstGeom prst="line">
            <a:avLst/>
          </a:prstGeom>
          <a:ln w="9525" cap="flat">
            <a:solidFill>
              <a:srgbClr val="DFE7F1"/>
            </a:solidFill>
          </a:ln>
        </p:spPr>
      </p:cxnSp>
      <p:cxnSp>
        <p:nvCxnSpPr>
          <p:cNvPr id="14" name="Line 14"/>
          <p:cNvCxnSpPr/>
          <p:nvPr/>
        </p:nvCxnSpPr>
        <p:spPr>
          <a:xfrm>
            <a:off x="9577083" y="3111246"/>
            <a:ext cx="0" cy="2781300"/>
          </a:xfrm>
          <a:prstGeom prst="line">
            <a:avLst/>
          </a:prstGeom>
          <a:ln w="9525" cap="flat">
            <a:solidFill>
              <a:srgbClr val="DFE7F1"/>
            </a:solidFill>
          </a:ln>
        </p:spPr>
      </p:cxnSp>
      <p:cxnSp>
        <p:nvCxnSpPr>
          <p:cNvPr id="15" name="Line 15"/>
          <p:cNvCxnSpPr/>
          <p:nvPr/>
        </p:nvCxnSpPr>
        <p:spPr>
          <a:xfrm>
            <a:off x="9778695" y="3111246"/>
            <a:ext cx="0" cy="2781300"/>
          </a:xfrm>
          <a:prstGeom prst="line">
            <a:avLst/>
          </a:prstGeom>
          <a:ln w="9525" cap="flat">
            <a:solidFill>
              <a:srgbClr val="DFE7F1"/>
            </a:solidFill>
          </a:ln>
        </p:spPr>
      </p:cxnSp>
      <p:cxnSp>
        <p:nvCxnSpPr>
          <p:cNvPr id="16" name="Line 16"/>
          <p:cNvCxnSpPr/>
          <p:nvPr/>
        </p:nvCxnSpPr>
        <p:spPr>
          <a:xfrm>
            <a:off x="9980308" y="3111246"/>
            <a:ext cx="0" cy="2781300"/>
          </a:xfrm>
          <a:prstGeom prst="line">
            <a:avLst/>
          </a:prstGeom>
          <a:ln w="9525" cap="flat">
            <a:solidFill>
              <a:srgbClr val="DFE7F1"/>
            </a:solidFill>
          </a:ln>
        </p:spPr>
      </p:cxnSp>
      <p:cxnSp>
        <p:nvCxnSpPr>
          <p:cNvPr id="17" name="Line 17"/>
          <p:cNvCxnSpPr/>
          <p:nvPr/>
        </p:nvCxnSpPr>
        <p:spPr>
          <a:xfrm>
            <a:off x="10181920" y="3111246"/>
            <a:ext cx="0" cy="2781300"/>
          </a:xfrm>
          <a:prstGeom prst="line">
            <a:avLst/>
          </a:prstGeom>
          <a:ln w="9525" cap="flat">
            <a:solidFill>
              <a:srgbClr val="DFE7F1"/>
            </a:solidFill>
          </a:ln>
        </p:spPr>
      </p:cxnSp>
      <p:cxnSp>
        <p:nvCxnSpPr>
          <p:cNvPr id="18" name="Line 18"/>
          <p:cNvCxnSpPr/>
          <p:nvPr/>
        </p:nvCxnSpPr>
        <p:spPr>
          <a:xfrm>
            <a:off x="10383533" y="3111246"/>
            <a:ext cx="0" cy="2781300"/>
          </a:xfrm>
          <a:prstGeom prst="line">
            <a:avLst/>
          </a:prstGeom>
          <a:ln w="9525" cap="flat">
            <a:solidFill>
              <a:srgbClr val="DFE7F1"/>
            </a:solidFill>
          </a:ln>
        </p:spPr>
      </p:cxnSp>
      <p:cxnSp>
        <p:nvCxnSpPr>
          <p:cNvPr id="19" name="Line 19"/>
          <p:cNvCxnSpPr/>
          <p:nvPr/>
        </p:nvCxnSpPr>
        <p:spPr>
          <a:xfrm>
            <a:off x="10585145" y="3111246"/>
            <a:ext cx="0" cy="2781300"/>
          </a:xfrm>
          <a:prstGeom prst="line">
            <a:avLst/>
          </a:prstGeom>
          <a:ln w="9525" cap="flat">
            <a:solidFill>
              <a:srgbClr val="DFE7F1"/>
            </a:solidFill>
          </a:ln>
        </p:spPr>
      </p:cxnSp>
      <p:cxnSp>
        <p:nvCxnSpPr>
          <p:cNvPr id="20" name="Line 20"/>
          <p:cNvCxnSpPr/>
          <p:nvPr/>
        </p:nvCxnSpPr>
        <p:spPr>
          <a:xfrm>
            <a:off x="10786758" y="3111246"/>
            <a:ext cx="0" cy="2781300"/>
          </a:xfrm>
          <a:prstGeom prst="line">
            <a:avLst/>
          </a:prstGeom>
          <a:ln w="9525" cap="flat">
            <a:solidFill>
              <a:srgbClr val="DFE7F1"/>
            </a:solidFill>
          </a:ln>
        </p:spPr>
      </p:cxnSp>
      <p:cxnSp>
        <p:nvCxnSpPr>
          <p:cNvPr id="21" name="Line 21"/>
          <p:cNvCxnSpPr/>
          <p:nvPr/>
        </p:nvCxnSpPr>
        <p:spPr>
          <a:xfrm>
            <a:off x="10988370" y="3111246"/>
            <a:ext cx="0" cy="2781300"/>
          </a:xfrm>
          <a:prstGeom prst="line">
            <a:avLst/>
          </a:prstGeom>
          <a:ln w="9525" cap="flat">
            <a:solidFill>
              <a:srgbClr val="DFE7F1"/>
            </a:solidFill>
          </a:ln>
        </p:spPr>
      </p:cxnSp>
      <p:cxnSp>
        <p:nvCxnSpPr>
          <p:cNvPr id="22" name="Line 22"/>
          <p:cNvCxnSpPr/>
          <p:nvPr/>
        </p:nvCxnSpPr>
        <p:spPr>
          <a:xfrm>
            <a:off x="11189983" y="3111246"/>
            <a:ext cx="0" cy="2781300"/>
          </a:xfrm>
          <a:prstGeom prst="line">
            <a:avLst/>
          </a:prstGeom>
          <a:ln w="9525" cap="flat">
            <a:solidFill>
              <a:srgbClr val="DFE7F1"/>
            </a:solidFill>
          </a:ln>
        </p:spPr>
      </p:cxnSp>
      <p:cxnSp>
        <p:nvCxnSpPr>
          <p:cNvPr id="23" name="Line 23"/>
          <p:cNvCxnSpPr/>
          <p:nvPr/>
        </p:nvCxnSpPr>
        <p:spPr>
          <a:xfrm>
            <a:off x="11391595" y="3111246"/>
            <a:ext cx="0" cy="2781300"/>
          </a:xfrm>
          <a:prstGeom prst="line">
            <a:avLst/>
          </a:prstGeom>
          <a:ln w="9525" cap="flat">
            <a:solidFill>
              <a:srgbClr val="DFE7F1"/>
            </a:solidFill>
          </a:ln>
        </p:spPr>
      </p:cxnSp>
      <p:cxnSp>
        <p:nvCxnSpPr>
          <p:cNvPr id="24" name="Line 24"/>
          <p:cNvCxnSpPr/>
          <p:nvPr/>
        </p:nvCxnSpPr>
        <p:spPr>
          <a:xfrm>
            <a:off x="8972245" y="5892546"/>
            <a:ext cx="2419350" cy="0"/>
          </a:xfrm>
          <a:prstGeom prst="line">
            <a:avLst/>
          </a:prstGeom>
          <a:ln w="9525" cap="flat">
            <a:solidFill>
              <a:srgbClr val="DFE7F1"/>
            </a:solidFill>
          </a:ln>
        </p:spPr>
      </p:cxnSp>
      <p:cxnSp>
        <p:nvCxnSpPr>
          <p:cNvPr id="25" name="Line 25"/>
          <p:cNvCxnSpPr/>
          <p:nvPr/>
        </p:nvCxnSpPr>
        <p:spPr>
          <a:xfrm>
            <a:off x="8972245" y="5614416"/>
            <a:ext cx="2419350" cy="0"/>
          </a:xfrm>
          <a:prstGeom prst="line">
            <a:avLst/>
          </a:prstGeom>
          <a:ln w="9525" cap="flat">
            <a:solidFill>
              <a:srgbClr val="DFE7F1"/>
            </a:solidFill>
          </a:ln>
        </p:spPr>
      </p:cxnSp>
      <p:cxnSp>
        <p:nvCxnSpPr>
          <p:cNvPr id="26" name="Line 26"/>
          <p:cNvCxnSpPr/>
          <p:nvPr/>
        </p:nvCxnSpPr>
        <p:spPr>
          <a:xfrm>
            <a:off x="8972245" y="5336286"/>
            <a:ext cx="2419350" cy="0"/>
          </a:xfrm>
          <a:prstGeom prst="line">
            <a:avLst/>
          </a:prstGeom>
          <a:ln w="9525" cap="flat">
            <a:solidFill>
              <a:srgbClr val="DFE7F1"/>
            </a:solidFill>
          </a:ln>
        </p:spPr>
      </p:cxnSp>
      <p:cxnSp>
        <p:nvCxnSpPr>
          <p:cNvPr id="27" name="Line 27"/>
          <p:cNvCxnSpPr/>
          <p:nvPr/>
        </p:nvCxnSpPr>
        <p:spPr>
          <a:xfrm>
            <a:off x="8972245" y="5058156"/>
            <a:ext cx="2419350" cy="0"/>
          </a:xfrm>
          <a:prstGeom prst="line">
            <a:avLst/>
          </a:prstGeom>
          <a:ln w="9525" cap="flat">
            <a:solidFill>
              <a:srgbClr val="DFE7F1"/>
            </a:solidFill>
          </a:ln>
        </p:spPr>
      </p:cxnSp>
      <p:cxnSp>
        <p:nvCxnSpPr>
          <p:cNvPr id="28" name="Line 28"/>
          <p:cNvCxnSpPr/>
          <p:nvPr/>
        </p:nvCxnSpPr>
        <p:spPr>
          <a:xfrm>
            <a:off x="8972245" y="4780026"/>
            <a:ext cx="2419350" cy="0"/>
          </a:xfrm>
          <a:prstGeom prst="line">
            <a:avLst/>
          </a:prstGeom>
          <a:ln w="9525" cap="flat">
            <a:solidFill>
              <a:srgbClr val="DFE7F1"/>
            </a:solidFill>
          </a:ln>
        </p:spPr>
      </p:cxnSp>
      <p:cxnSp>
        <p:nvCxnSpPr>
          <p:cNvPr id="29" name="Line 29"/>
          <p:cNvCxnSpPr/>
          <p:nvPr/>
        </p:nvCxnSpPr>
        <p:spPr>
          <a:xfrm>
            <a:off x="8972245" y="4501896"/>
            <a:ext cx="2419350" cy="0"/>
          </a:xfrm>
          <a:prstGeom prst="line">
            <a:avLst/>
          </a:prstGeom>
          <a:ln w="9525" cap="flat">
            <a:solidFill>
              <a:srgbClr val="DFE7F1"/>
            </a:solidFill>
          </a:ln>
        </p:spPr>
      </p:cxnSp>
      <p:cxnSp>
        <p:nvCxnSpPr>
          <p:cNvPr id="30" name="Line 30"/>
          <p:cNvCxnSpPr/>
          <p:nvPr/>
        </p:nvCxnSpPr>
        <p:spPr>
          <a:xfrm>
            <a:off x="8972245" y="4223766"/>
            <a:ext cx="2419350" cy="0"/>
          </a:xfrm>
          <a:prstGeom prst="line">
            <a:avLst/>
          </a:prstGeom>
          <a:ln w="9525" cap="flat">
            <a:solidFill>
              <a:srgbClr val="DFE7F1"/>
            </a:solidFill>
          </a:ln>
        </p:spPr>
      </p:cxnSp>
      <p:cxnSp>
        <p:nvCxnSpPr>
          <p:cNvPr id="31" name="Line 31"/>
          <p:cNvCxnSpPr/>
          <p:nvPr/>
        </p:nvCxnSpPr>
        <p:spPr>
          <a:xfrm>
            <a:off x="8972245" y="3945636"/>
            <a:ext cx="2419350" cy="0"/>
          </a:xfrm>
          <a:prstGeom prst="line">
            <a:avLst/>
          </a:prstGeom>
          <a:ln w="9525" cap="flat">
            <a:solidFill>
              <a:srgbClr val="DFE7F1"/>
            </a:solidFill>
          </a:ln>
        </p:spPr>
      </p:cxnSp>
      <p:cxnSp>
        <p:nvCxnSpPr>
          <p:cNvPr id="32" name="Line 32"/>
          <p:cNvCxnSpPr/>
          <p:nvPr/>
        </p:nvCxnSpPr>
        <p:spPr>
          <a:xfrm>
            <a:off x="8972245" y="3667506"/>
            <a:ext cx="2419350" cy="0"/>
          </a:xfrm>
          <a:prstGeom prst="line">
            <a:avLst/>
          </a:prstGeom>
          <a:ln w="9525" cap="flat">
            <a:solidFill>
              <a:srgbClr val="DFE7F1"/>
            </a:solidFill>
          </a:ln>
        </p:spPr>
      </p:cxnSp>
      <p:cxnSp>
        <p:nvCxnSpPr>
          <p:cNvPr id="33" name="Line 33"/>
          <p:cNvCxnSpPr/>
          <p:nvPr/>
        </p:nvCxnSpPr>
        <p:spPr>
          <a:xfrm>
            <a:off x="8972245" y="3389376"/>
            <a:ext cx="2419350" cy="0"/>
          </a:xfrm>
          <a:prstGeom prst="line">
            <a:avLst/>
          </a:prstGeom>
          <a:ln w="9525" cap="flat">
            <a:solidFill>
              <a:srgbClr val="DFE7F1"/>
            </a:solidFill>
          </a:ln>
        </p:spPr>
      </p:cxnSp>
      <p:cxnSp>
        <p:nvCxnSpPr>
          <p:cNvPr id="34" name="Line 34"/>
          <p:cNvCxnSpPr/>
          <p:nvPr/>
        </p:nvCxnSpPr>
        <p:spPr>
          <a:xfrm>
            <a:off x="8972245" y="3111246"/>
            <a:ext cx="2419350" cy="0"/>
          </a:xfrm>
          <a:prstGeom prst="line">
            <a:avLst/>
          </a:prstGeom>
          <a:ln w="9525" cap="flat">
            <a:solidFill>
              <a:srgbClr val="DFE7F1"/>
            </a:solidFill>
          </a:ln>
        </p:spPr>
      </p:cxnSp>
      <p:cxnSp>
        <p:nvCxnSpPr>
          <p:cNvPr id="35" name="Line 35"/>
          <p:cNvCxnSpPr/>
          <p:nvPr/>
        </p:nvCxnSpPr>
        <p:spPr>
          <a:xfrm>
            <a:off x="8972245" y="3111246"/>
            <a:ext cx="0" cy="2781300"/>
          </a:xfrm>
          <a:prstGeom prst="line">
            <a:avLst/>
          </a:prstGeom>
          <a:ln w="19050" cap="flat">
            <a:solidFill>
              <a:srgbClr val="56647D"/>
            </a:solidFill>
          </a:ln>
        </p:spPr>
      </p:cxnSp>
      <p:cxnSp>
        <p:nvCxnSpPr>
          <p:cNvPr id="36" name="Line 36"/>
          <p:cNvCxnSpPr/>
          <p:nvPr/>
        </p:nvCxnSpPr>
        <p:spPr>
          <a:xfrm>
            <a:off x="8972245" y="5892546"/>
            <a:ext cx="2419350" cy="0"/>
          </a:xfrm>
          <a:prstGeom prst="line">
            <a:avLst/>
          </a:prstGeom>
          <a:ln w="19050" cap="flat">
            <a:solidFill>
              <a:srgbClr val="56647D"/>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223A"/>
            </a:solidFill>
          </a:ln>
        </p:spPr>
      </p:cxnSp>
      <p:sp>
        <p:nvSpPr>
          <p:cNvPr id="51" name="Shape 51"/>
          <p:cNvSpPr/>
          <p:nvPr/>
        </p:nvSpPr>
        <p:spPr>
          <a:xfrm>
            <a:off x="8919858" y="3893248"/>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1D64C4"/>
                </a:solidFill>
                <a:latin typeface="Calibri"/>
                <a:cs typeface="Calibr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223A"/>
                </a:solidFill>
                <a:latin typeface="Calibri"/>
                <a:cs typeface="Calibri"/>
              </a:rPr>
              <a:t xml:space="preserve">Pool B is at a water level of </a:t>
            </a:r>
            <a:r>
              <a:rPr lang="en-US" sz="2250" dirty="0" b="1">
                <a:solidFill>
                  <a:srgbClr val="16223A"/>
                </a:solidFill>
                <a:latin typeface="Calibri"/>
                <a:cs typeface="Calibri"/>
              </a:rPr>
              <a:t xml:space="preserve">10 feet after draining for 3 hours</a:t>
            </a:r>
            <a:r>
              <a:rPr lang="en-US" sz="2250" dirty="0">
                <a:solidFill>
                  <a:srgbClr val="16223A"/>
                </a:solidFill>
                <a:latin typeface="Calibri"/>
                <a:cs typeface="Calibri"/>
              </a:rPr>
              <a:t xml:space="preserve"> and drains at a rate of </a:t>
            </a:r>
            <a:r>
              <a:rPr lang="en-US" sz="2250" dirty="0" b="1">
                <a:solidFill>
                  <a:srgbClr val="16223A"/>
                </a:solidFill>
                <a:latin typeface="Calibri"/>
                <a:cs typeface="Calibri"/>
              </a:rPr>
              <a:t xml:space="preserve">2 feet per hour</a:t>
            </a:r>
            <a:r>
              <a:rPr lang="en-US" sz="2250" dirty="0">
                <a:solidFill>
                  <a:srgbClr val="16223A"/>
                </a:solidFill>
                <a:latin typeface="Calibri"/>
                <a:cs typeface="Calibr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We know a point: </a:t>
            </a:r>
            <a:r>
              <a:rPr lang="en-US" sz="2325" dirty="0" b="1">
                <a:solidFill>
                  <a:srgbClr val="1D64C4"/>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We </a:t>
            </a:r>
            <a:r>
              <a:rPr lang="en-US" sz="1950" dirty="0" b="1">
                <a:solidFill>
                  <a:srgbClr val="16223A"/>
                </a:solidFill>
                <a:latin typeface="Calibri"/>
                <a:cs typeface="Calibri"/>
              </a:rPr>
              <a:t xml:space="preserve">don't</a:t>
            </a:r>
            <a:r>
              <a:rPr lang="en-US" sz="1950" dirty="0">
                <a:solidFill>
                  <a:srgbClr val="16223A"/>
                </a:solidFill>
                <a:latin typeface="Calibri"/>
                <a:cs typeface="Calibri"/>
              </a:rPr>
              <a:t xml:space="preserve"> know </a:t>
            </a:r>
            <a:r>
              <a:rPr lang="en-US" sz="1950" dirty="0" i="1">
                <a:solidFill>
                  <a:srgbClr val="16223A"/>
                </a:solidFill>
                <a:latin typeface="Cambria"/>
                <a:cs typeface="Cambria"/>
              </a:rPr>
              <a:t xml:space="preserve">b</a:t>
            </a:r>
            <a:r>
              <a:rPr lang="en-US" sz="1950" dirty="0">
                <a:solidFill>
                  <a:srgbClr val="16223A"/>
                </a:solidFill>
                <a:latin typeface="Calibri"/>
                <a:cs typeface="Calibri"/>
              </a:rPr>
              <a:t xml:space="preserve">. Substitute into </a:t>
            </a:r>
            <a:r>
              <a:rPr lang="en-US" sz="1950" dirty="0" i="1">
                <a:solidFill>
                  <a:srgbClr val="16223A"/>
                </a:solidFill>
                <a:latin typeface="Cambria"/>
                <a:cs typeface="Cambria"/>
              </a:rPr>
              <a:t xml:space="preserve">y</a:t>
            </a:r>
            <a:r>
              <a:rPr lang="en-US" sz="1950" dirty="0">
                <a:solidFill>
                  <a:srgbClr val="16223A"/>
                </a:solidFill>
                <a:latin typeface="Cambria"/>
                <a:cs typeface="Cambria"/>
              </a:rPr>
              <a:t xml:space="preserve"> = </a:t>
            </a:r>
            <a:r>
              <a:rPr lang="en-US" sz="1950" dirty="0" i="1">
                <a:solidFill>
                  <a:srgbClr val="16223A"/>
                </a:solidFill>
                <a:latin typeface="Cambria"/>
                <a:cs typeface="Cambria"/>
              </a:rPr>
              <a:t xml:space="preserve">mx</a:t>
            </a:r>
            <a:r>
              <a:rPr lang="en-US" sz="1950" dirty="0">
                <a:solidFill>
                  <a:srgbClr val="16223A"/>
                </a:solidFill>
                <a:latin typeface="Cambria"/>
                <a:cs typeface="Cambria"/>
              </a:rPr>
              <a:t xml:space="preserve"> + </a:t>
            </a:r>
            <a:r>
              <a:rPr lang="en-US" sz="1950" dirty="0" i="1">
                <a:solidFill>
                  <a:srgbClr val="16223A"/>
                </a:solidFill>
                <a:latin typeface="Cambria"/>
                <a:cs typeface="Cambria"/>
              </a:rPr>
              <a:t xml:space="preserve">b</a:t>
            </a:r>
            <a:r>
              <a:rPr lang="en-US" sz="1950" dirty="0">
                <a:solidFill>
                  <a:srgbClr val="16223A"/>
                </a:solidFill>
                <a:latin typeface="Calibri"/>
                <a:cs typeface="Calibr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1D64C4"/>
                </a:solidFill>
                <a:latin typeface="Cambria"/>
                <a:cs typeface="Cambria"/>
              </a:rPr>
              <a:t xml:space="preserve">10</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223A"/>
                </a:solidFill>
                <a:latin typeface="Cambria"/>
                <a:cs typeface="Cambria"/>
              </a:rPr>
              <a:t xml:space="preserve">(</a:t>
            </a:r>
            <a:r>
              <a:rPr lang="en-US" sz="2850" dirty="0" b="1">
                <a:solidFill>
                  <a:srgbClr val="1D64C4"/>
                </a:solidFill>
                <a:latin typeface="Cambria"/>
                <a:cs typeface="Cambria"/>
              </a:rPr>
              <a:t xml:space="preserve">3</a:t>
            </a:r>
            <a:r>
              <a:rPr lang="en-US" sz="2850" dirty="0">
                <a:solidFill>
                  <a:srgbClr val="16223A"/>
                </a:solidFill>
                <a:latin typeface="Cambria"/>
                <a:cs typeface="Cambria"/>
              </a:rPr>
              <a:t xml:space="preserve">) + </a:t>
            </a:r>
            <a:r>
              <a:rPr lang="en-US" sz="2850" dirty="0" i="1">
                <a:solidFill>
                  <a:srgbClr val="16223A"/>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223A"/>
                </a:solidFill>
                <a:latin typeface="Cambria"/>
                <a:cs typeface="Cambria"/>
              </a:rPr>
              <a:t xml:space="preserve">10 = −6 + </a:t>
            </a:r>
            <a:r>
              <a:rPr lang="en-US" sz="2850" dirty="0" i="1">
                <a:solidFill>
                  <a:srgbClr val="16223A"/>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223A"/>
                </a:solidFill>
                <a:latin typeface="Cambria"/>
                <a:cs typeface="Cambria"/>
              </a:rPr>
              <a:t xml:space="preserve">b</a:t>
            </a:r>
            <a:r>
              <a:rPr lang="en-US" sz="2850" dirty="0">
                <a:solidFill>
                  <a:srgbClr val="16223A"/>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DFE7F1"/>
            </a:solidFill>
          </a:ln>
        </p:spPr>
      </p:cxnSp>
      <p:cxnSp>
        <p:nvCxnSpPr>
          <p:cNvPr id="14" name="Line 14"/>
          <p:cNvCxnSpPr/>
          <p:nvPr/>
        </p:nvCxnSpPr>
        <p:spPr>
          <a:xfrm>
            <a:off x="9173858" y="2644902"/>
            <a:ext cx="0" cy="2781300"/>
          </a:xfrm>
          <a:prstGeom prst="line">
            <a:avLst/>
          </a:prstGeom>
          <a:ln w="9525" cap="flat">
            <a:solidFill>
              <a:srgbClr val="DFE7F1"/>
            </a:solidFill>
          </a:ln>
        </p:spPr>
      </p:cxnSp>
      <p:cxnSp>
        <p:nvCxnSpPr>
          <p:cNvPr id="15" name="Line 15"/>
          <p:cNvCxnSpPr/>
          <p:nvPr/>
        </p:nvCxnSpPr>
        <p:spPr>
          <a:xfrm>
            <a:off x="9375470" y="2644902"/>
            <a:ext cx="0" cy="2781300"/>
          </a:xfrm>
          <a:prstGeom prst="line">
            <a:avLst/>
          </a:prstGeom>
          <a:ln w="9525" cap="flat">
            <a:solidFill>
              <a:srgbClr val="DFE7F1"/>
            </a:solidFill>
          </a:ln>
        </p:spPr>
      </p:cxnSp>
      <p:cxnSp>
        <p:nvCxnSpPr>
          <p:cNvPr id="16" name="Line 16"/>
          <p:cNvCxnSpPr/>
          <p:nvPr/>
        </p:nvCxnSpPr>
        <p:spPr>
          <a:xfrm>
            <a:off x="9577083" y="2644902"/>
            <a:ext cx="0" cy="2781300"/>
          </a:xfrm>
          <a:prstGeom prst="line">
            <a:avLst/>
          </a:prstGeom>
          <a:ln w="9525" cap="flat">
            <a:solidFill>
              <a:srgbClr val="DFE7F1"/>
            </a:solidFill>
          </a:ln>
        </p:spPr>
      </p:cxnSp>
      <p:cxnSp>
        <p:nvCxnSpPr>
          <p:cNvPr id="17" name="Line 17"/>
          <p:cNvCxnSpPr/>
          <p:nvPr/>
        </p:nvCxnSpPr>
        <p:spPr>
          <a:xfrm>
            <a:off x="9778695" y="2644902"/>
            <a:ext cx="0" cy="2781300"/>
          </a:xfrm>
          <a:prstGeom prst="line">
            <a:avLst/>
          </a:prstGeom>
          <a:ln w="9525" cap="flat">
            <a:solidFill>
              <a:srgbClr val="DFE7F1"/>
            </a:solidFill>
          </a:ln>
        </p:spPr>
      </p:cxnSp>
      <p:cxnSp>
        <p:nvCxnSpPr>
          <p:cNvPr id="18" name="Line 18"/>
          <p:cNvCxnSpPr/>
          <p:nvPr/>
        </p:nvCxnSpPr>
        <p:spPr>
          <a:xfrm>
            <a:off x="9980308" y="2644902"/>
            <a:ext cx="0" cy="2781300"/>
          </a:xfrm>
          <a:prstGeom prst="line">
            <a:avLst/>
          </a:prstGeom>
          <a:ln w="9525" cap="flat">
            <a:solidFill>
              <a:srgbClr val="DFE7F1"/>
            </a:solidFill>
          </a:ln>
        </p:spPr>
      </p:cxnSp>
      <p:cxnSp>
        <p:nvCxnSpPr>
          <p:cNvPr id="19" name="Line 19"/>
          <p:cNvCxnSpPr/>
          <p:nvPr/>
        </p:nvCxnSpPr>
        <p:spPr>
          <a:xfrm>
            <a:off x="10181920" y="2644902"/>
            <a:ext cx="0" cy="2781300"/>
          </a:xfrm>
          <a:prstGeom prst="line">
            <a:avLst/>
          </a:prstGeom>
          <a:ln w="9525" cap="flat">
            <a:solidFill>
              <a:srgbClr val="DFE7F1"/>
            </a:solidFill>
          </a:ln>
        </p:spPr>
      </p:cxnSp>
      <p:cxnSp>
        <p:nvCxnSpPr>
          <p:cNvPr id="20" name="Line 20"/>
          <p:cNvCxnSpPr/>
          <p:nvPr/>
        </p:nvCxnSpPr>
        <p:spPr>
          <a:xfrm>
            <a:off x="10383533" y="2644902"/>
            <a:ext cx="0" cy="2781300"/>
          </a:xfrm>
          <a:prstGeom prst="line">
            <a:avLst/>
          </a:prstGeom>
          <a:ln w="9525" cap="flat">
            <a:solidFill>
              <a:srgbClr val="DFE7F1"/>
            </a:solidFill>
          </a:ln>
        </p:spPr>
      </p:cxnSp>
      <p:cxnSp>
        <p:nvCxnSpPr>
          <p:cNvPr id="21" name="Line 21"/>
          <p:cNvCxnSpPr/>
          <p:nvPr/>
        </p:nvCxnSpPr>
        <p:spPr>
          <a:xfrm>
            <a:off x="10585145" y="2644902"/>
            <a:ext cx="0" cy="2781300"/>
          </a:xfrm>
          <a:prstGeom prst="line">
            <a:avLst/>
          </a:prstGeom>
          <a:ln w="9525" cap="flat">
            <a:solidFill>
              <a:srgbClr val="DFE7F1"/>
            </a:solidFill>
          </a:ln>
        </p:spPr>
      </p:cxnSp>
      <p:cxnSp>
        <p:nvCxnSpPr>
          <p:cNvPr id="22" name="Line 22"/>
          <p:cNvCxnSpPr/>
          <p:nvPr/>
        </p:nvCxnSpPr>
        <p:spPr>
          <a:xfrm>
            <a:off x="10786758" y="2644902"/>
            <a:ext cx="0" cy="2781300"/>
          </a:xfrm>
          <a:prstGeom prst="line">
            <a:avLst/>
          </a:prstGeom>
          <a:ln w="9525" cap="flat">
            <a:solidFill>
              <a:srgbClr val="DFE7F1"/>
            </a:solidFill>
          </a:ln>
        </p:spPr>
      </p:cxnSp>
      <p:cxnSp>
        <p:nvCxnSpPr>
          <p:cNvPr id="23" name="Line 23"/>
          <p:cNvCxnSpPr/>
          <p:nvPr/>
        </p:nvCxnSpPr>
        <p:spPr>
          <a:xfrm>
            <a:off x="10988370" y="2644902"/>
            <a:ext cx="0" cy="2781300"/>
          </a:xfrm>
          <a:prstGeom prst="line">
            <a:avLst/>
          </a:prstGeom>
          <a:ln w="9525" cap="flat">
            <a:solidFill>
              <a:srgbClr val="DFE7F1"/>
            </a:solidFill>
          </a:ln>
        </p:spPr>
      </p:cxnSp>
      <p:cxnSp>
        <p:nvCxnSpPr>
          <p:cNvPr id="24" name="Line 24"/>
          <p:cNvCxnSpPr/>
          <p:nvPr/>
        </p:nvCxnSpPr>
        <p:spPr>
          <a:xfrm>
            <a:off x="11189983" y="2644902"/>
            <a:ext cx="0" cy="2781300"/>
          </a:xfrm>
          <a:prstGeom prst="line">
            <a:avLst/>
          </a:prstGeom>
          <a:ln w="9525" cap="flat">
            <a:solidFill>
              <a:srgbClr val="DFE7F1"/>
            </a:solidFill>
          </a:ln>
        </p:spPr>
      </p:cxnSp>
      <p:cxnSp>
        <p:nvCxnSpPr>
          <p:cNvPr id="25" name="Line 25"/>
          <p:cNvCxnSpPr/>
          <p:nvPr/>
        </p:nvCxnSpPr>
        <p:spPr>
          <a:xfrm>
            <a:off x="11391595" y="2644902"/>
            <a:ext cx="0" cy="2781300"/>
          </a:xfrm>
          <a:prstGeom prst="line">
            <a:avLst/>
          </a:prstGeom>
          <a:ln w="9525" cap="flat">
            <a:solidFill>
              <a:srgbClr val="DFE7F1"/>
            </a:solidFill>
          </a:ln>
        </p:spPr>
      </p:cxnSp>
      <p:cxnSp>
        <p:nvCxnSpPr>
          <p:cNvPr id="26" name="Line 26"/>
          <p:cNvCxnSpPr/>
          <p:nvPr/>
        </p:nvCxnSpPr>
        <p:spPr>
          <a:xfrm>
            <a:off x="8972245" y="5426202"/>
            <a:ext cx="2419350" cy="0"/>
          </a:xfrm>
          <a:prstGeom prst="line">
            <a:avLst/>
          </a:prstGeom>
          <a:ln w="9525" cap="flat">
            <a:solidFill>
              <a:srgbClr val="DFE7F1"/>
            </a:solidFill>
          </a:ln>
        </p:spPr>
      </p:cxnSp>
      <p:cxnSp>
        <p:nvCxnSpPr>
          <p:cNvPr id="27" name="Line 27"/>
          <p:cNvCxnSpPr/>
          <p:nvPr/>
        </p:nvCxnSpPr>
        <p:spPr>
          <a:xfrm>
            <a:off x="8972245" y="5148072"/>
            <a:ext cx="2419350" cy="0"/>
          </a:xfrm>
          <a:prstGeom prst="line">
            <a:avLst/>
          </a:prstGeom>
          <a:ln w="9525" cap="flat">
            <a:solidFill>
              <a:srgbClr val="DFE7F1"/>
            </a:solidFill>
          </a:ln>
        </p:spPr>
      </p:cxnSp>
      <p:cxnSp>
        <p:nvCxnSpPr>
          <p:cNvPr id="28" name="Line 28"/>
          <p:cNvCxnSpPr/>
          <p:nvPr/>
        </p:nvCxnSpPr>
        <p:spPr>
          <a:xfrm>
            <a:off x="8972245" y="4869942"/>
            <a:ext cx="2419350" cy="0"/>
          </a:xfrm>
          <a:prstGeom prst="line">
            <a:avLst/>
          </a:prstGeom>
          <a:ln w="9525" cap="flat">
            <a:solidFill>
              <a:srgbClr val="DFE7F1"/>
            </a:solidFill>
          </a:ln>
        </p:spPr>
      </p:cxnSp>
      <p:cxnSp>
        <p:nvCxnSpPr>
          <p:cNvPr id="29" name="Line 29"/>
          <p:cNvCxnSpPr/>
          <p:nvPr/>
        </p:nvCxnSpPr>
        <p:spPr>
          <a:xfrm>
            <a:off x="8972245" y="4591812"/>
            <a:ext cx="2419350" cy="0"/>
          </a:xfrm>
          <a:prstGeom prst="line">
            <a:avLst/>
          </a:prstGeom>
          <a:ln w="9525" cap="flat">
            <a:solidFill>
              <a:srgbClr val="DFE7F1"/>
            </a:solidFill>
          </a:ln>
        </p:spPr>
      </p:cxnSp>
      <p:cxnSp>
        <p:nvCxnSpPr>
          <p:cNvPr id="30" name="Line 30"/>
          <p:cNvCxnSpPr/>
          <p:nvPr/>
        </p:nvCxnSpPr>
        <p:spPr>
          <a:xfrm>
            <a:off x="8972245" y="4313682"/>
            <a:ext cx="2419350" cy="0"/>
          </a:xfrm>
          <a:prstGeom prst="line">
            <a:avLst/>
          </a:prstGeom>
          <a:ln w="9525" cap="flat">
            <a:solidFill>
              <a:srgbClr val="DFE7F1"/>
            </a:solidFill>
          </a:ln>
        </p:spPr>
      </p:cxnSp>
      <p:cxnSp>
        <p:nvCxnSpPr>
          <p:cNvPr id="31" name="Line 31"/>
          <p:cNvCxnSpPr/>
          <p:nvPr/>
        </p:nvCxnSpPr>
        <p:spPr>
          <a:xfrm>
            <a:off x="8972245" y="4035552"/>
            <a:ext cx="2419350" cy="0"/>
          </a:xfrm>
          <a:prstGeom prst="line">
            <a:avLst/>
          </a:prstGeom>
          <a:ln w="9525" cap="flat">
            <a:solidFill>
              <a:srgbClr val="DFE7F1"/>
            </a:solidFill>
          </a:ln>
        </p:spPr>
      </p:cxnSp>
      <p:cxnSp>
        <p:nvCxnSpPr>
          <p:cNvPr id="32" name="Line 32"/>
          <p:cNvCxnSpPr/>
          <p:nvPr/>
        </p:nvCxnSpPr>
        <p:spPr>
          <a:xfrm>
            <a:off x="8972245" y="3757422"/>
            <a:ext cx="2419350" cy="0"/>
          </a:xfrm>
          <a:prstGeom prst="line">
            <a:avLst/>
          </a:prstGeom>
          <a:ln w="9525" cap="flat">
            <a:solidFill>
              <a:srgbClr val="DFE7F1"/>
            </a:solidFill>
          </a:ln>
        </p:spPr>
      </p:cxnSp>
      <p:cxnSp>
        <p:nvCxnSpPr>
          <p:cNvPr id="33" name="Line 33"/>
          <p:cNvCxnSpPr/>
          <p:nvPr/>
        </p:nvCxnSpPr>
        <p:spPr>
          <a:xfrm>
            <a:off x="8972245" y="3479292"/>
            <a:ext cx="2419350" cy="0"/>
          </a:xfrm>
          <a:prstGeom prst="line">
            <a:avLst/>
          </a:prstGeom>
          <a:ln w="9525" cap="flat">
            <a:solidFill>
              <a:srgbClr val="DFE7F1"/>
            </a:solidFill>
          </a:ln>
        </p:spPr>
      </p:cxnSp>
      <p:cxnSp>
        <p:nvCxnSpPr>
          <p:cNvPr id="34" name="Line 34"/>
          <p:cNvCxnSpPr/>
          <p:nvPr/>
        </p:nvCxnSpPr>
        <p:spPr>
          <a:xfrm>
            <a:off x="8972245" y="3201162"/>
            <a:ext cx="2419350" cy="0"/>
          </a:xfrm>
          <a:prstGeom prst="line">
            <a:avLst/>
          </a:prstGeom>
          <a:ln w="9525" cap="flat">
            <a:solidFill>
              <a:srgbClr val="DFE7F1"/>
            </a:solidFill>
          </a:ln>
        </p:spPr>
      </p:cxnSp>
      <p:cxnSp>
        <p:nvCxnSpPr>
          <p:cNvPr id="35" name="Line 35"/>
          <p:cNvCxnSpPr/>
          <p:nvPr/>
        </p:nvCxnSpPr>
        <p:spPr>
          <a:xfrm>
            <a:off x="8972245" y="2923032"/>
            <a:ext cx="2419350" cy="0"/>
          </a:xfrm>
          <a:prstGeom prst="line">
            <a:avLst/>
          </a:prstGeom>
          <a:ln w="9525" cap="flat">
            <a:solidFill>
              <a:srgbClr val="DFE7F1"/>
            </a:solidFill>
          </a:ln>
        </p:spPr>
      </p:cxnSp>
      <p:cxnSp>
        <p:nvCxnSpPr>
          <p:cNvPr id="36" name="Line 36"/>
          <p:cNvCxnSpPr/>
          <p:nvPr/>
        </p:nvCxnSpPr>
        <p:spPr>
          <a:xfrm>
            <a:off x="8972245" y="2644902"/>
            <a:ext cx="2419350" cy="0"/>
          </a:xfrm>
          <a:prstGeom prst="line">
            <a:avLst/>
          </a:prstGeom>
          <a:ln w="9525" cap="flat">
            <a:solidFill>
              <a:srgbClr val="DFE7F1"/>
            </a:solidFill>
          </a:ln>
        </p:spPr>
      </p:cxnSp>
      <p:cxnSp>
        <p:nvCxnSpPr>
          <p:cNvPr id="37" name="Line 37"/>
          <p:cNvCxnSpPr/>
          <p:nvPr/>
        </p:nvCxnSpPr>
        <p:spPr>
          <a:xfrm>
            <a:off x="8972245" y="2644902"/>
            <a:ext cx="0" cy="2781300"/>
          </a:xfrm>
          <a:prstGeom prst="line">
            <a:avLst/>
          </a:prstGeom>
          <a:ln w="19050" cap="flat">
            <a:solidFill>
              <a:srgbClr val="56647D"/>
            </a:solidFill>
          </a:ln>
        </p:spPr>
      </p:cxnSp>
      <p:cxnSp>
        <p:nvCxnSpPr>
          <p:cNvPr id="38" name="Line 38"/>
          <p:cNvCxnSpPr/>
          <p:nvPr/>
        </p:nvCxnSpPr>
        <p:spPr>
          <a:xfrm>
            <a:off x="8972245" y="5426202"/>
            <a:ext cx="2419350" cy="0"/>
          </a:xfrm>
          <a:prstGeom prst="line">
            <a:avLst/>
          </a:prstGeom>
          <a:ln w="19050" cap="flat">
            <a:solidFill>
              <a:srgbClr val="56647D"/>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223A"/>
            </a:solidFill>
          </a:ln>
        </p:spPr>
      </p:cxnSp>
      <p:sp>
        <p:nvSpPr>
          <p:cNvPr id="53" name="Shape 53"/>
          <p:cNvSpPr/>
          <p:nvPr/>
        </p:nvSpPr>
        <p:spPr>
          <a:xfrm>
            <a:off x="8919858" y="3148775"/>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1D64C4"/>
                </a:solidFill>
                <a:latin typeface="Calibri"/>
                <a:cs typeface="Calibri"/>
              </a:rPr>
              <a:t xml:space="preserve">(0, 16)</a:t>
            </a:r>
            <a:endParaRPr lang="en-US" sz="1125" dirty="0"/>
          </a:p>
        </p:txBody>
      </p:sp>
      <p:sp>
        <p:nvSpPr>
          <p:cNvPr id="55" name="Shape 55"/>
          <p:cNvSpPr/>
          <p:nvPr/>
        </p:nvSpPr>
        <p:spPr>
          <a:xfrm>
            <a:off x="9524695" y="3983164"/>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1D64C4"/>
                </a:solidFill>
                <a:latin typeface="Calibri"/>
                <a:cs typeface="Calibr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223A"/>
                </a:solidFill>
                <a:latin typeface="Calibri"/>
                <a:cs typeface="Calibri"/>
              </a:rPr>
              <a:t xml:space="preserve">Pool C is at </a:t>
            </a:r>
            <a:r>
              <a:rPr lang="en-US" sz="2250" dirty="0" b="1">
                <a:solidFill>
                  <a:srgbClr val="16223A"/>
                </a:solidFill>
                <a:latin typeface="Calibri"/>
                <a:cs typeface="Calibri"/>
              </a:rPr>
              <a:t xml:space="preserve">15 feet after 2 hours</a:t>
            </a:r>
            <a:r>
              <a:rPr lang="en-US" sz="2250" dirty="0">
                <a:solidFill>
                  <a:srgbClr val="16223A"/>
                </a:solidFill>
                <a:latin typeface="Calibri"/>
                <a:cs typeface="Calibri"/>
              </a:rPr>
              <a:t xml:space="preserve"> and at </a:t>
            </a:r>
            <a:r>
              <a:rPr lang="en-US" sz="2250" dirty="0" b="1">
                <a:solidFill>
                  <a:srgbClr val="16223A"/>
                </a:solidFill>
                <a:latin typeface="Calibri"/>
                <a:cs typeface="Calibri"/>
              </a:rPr>
              <a:t xml:space="preserve">12 feet after 4 hours</a:t>
            </a:r>
            <a:r>
              <a:rPr lang="en-US" sz="2250" dirty="0">
                <a:solidFill>
                  <a:srgbClr val="16223A"/>
                </a:solidFill>
                <a:latin typeface="Calibri"/>
                <a:cs typeface="Calibr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Two points: </a:t>
            </a:r>
            <a:r>
              <a:rPr lang="en-US" sz="2325" dirty="0" b="1">
                <a:solidFill>
                  <a:srgbClr val="1D64C4"/>
                </a:solidFill>
                <a:latin typeface="Cambria"/>
                <a:cs typeface="Cambria"/>
              </a:rPr>
              <a:t xml:space="preserve">(2, 15)</a:t>
            </a:r>
            <a:r>
              <a:rPr lang="en-US" sz="1950" dirty="0">
                <a:solidFill>
                  <a:srgbClr val="16223A"/>
                </a:solidFill>
                <a:latin typeface="Calibri"/>
                <a:cs typeface="Calibri"/>
              </a:rPr>
              <a:t xml:space="preserve"> and </a:t>
            </a:r>
            <a:r>
              <a:rPr lang="en-US" sz="2325" dirty="0" b="1">
                <a:solidFill>
                  <a:srgbClr val="1D64C4"/>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223A"/>
                </a:solidFill>
                <a:latin typeface="Cambria"/>
                <a:cs typeface="Cambria"/>
              </a:rPr>
              <a:t xml:space="preserve"> = </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12 − 15</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4 − 2</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Step 2: find </a:t>
            </a:r>
            <a:r>
              <a:rPr lang="en-US" sz="1950" dirty="0" i="1">
                <a:solidFill>
                  <a:srgbClr val="16223A"/>
                </a:solidFill>
                <a:latin typeface="Cambria"/>
                <a:cs typeface="Cambria"/>
              </a:rPr>
              <a:t xml:space="preserve">b</a:t>
            </a:r>
            <a:r>
              <a:rPr lang="en-US" sz="1950" dirty="0">
                <a:solidFill>
                  <a:srgbClr val="16223A"/>
                </a:solidFill>
                <a:latin typeface="Calibri"/>
                <a:cs typeface="Calibr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223A"/>
                </a:solidFill>
                <a:latin typeface="Cambria"/>
                <a:cs typeface="Cambria"/>
              </a:rPr>
              <a:t xml:space="preserve">15 = −</a:t>
            </a:r>
            <a:r>
              <a:rPr lang="en-US" sz="2850" dirty="0">
                <a:solidFill>
                  <a:srgbClr val="16223A"/>
                </a:solidFill>
                <a:latin typeface="Cambria"/>
                <a:cs typeface="Cambria"/>
              </a:rPr>
              <a:t xml:space="preserve">3</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2</a:t>
            </a:r>
            <a:r>
              <a:rPr lang="en-US" sz="2850" dirty="0">
                <a:solidFill>
                  <a:srgbClr val="16223A"/>
                </a:solidFill>
                <a:latin typeface="Cambria"/>
                <a:cs typeface="Cambria"/>
              </a:rPr>
              <a:t xml:space="preserve">(2) + </a:t>
            </a:r>
            <a:r>
              <a:rPr lang="en-US" sz="2850" dirty="0" i="1">
                <a:solidFill>
                  <a:srgbClr val="16223A"/>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223A"/>
                </a:solidFill>
                <a:latin typeface="Cambria"/>
                <a:cs typeface="Cambria"/>
              </a:rPr>
              <a:t xml:space="preserve">15 = −3 + </a:t>
            </a:r>
            <a:r>
              <a:rPr lang="en-US" sz="2850" dirty="0" i="1">
                <a:solidFill>
                  <a:srgbClr val="16223A"/>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223A"/>
                </a:solidFill>
                <a:latin typeface="Cambria"/>
                <a:cs typeface="Cambria"/>
              </a:rPr>
              <a:t xml:space="preserve">b</a:t>
            </a:r>
            <a:r>
              <a:rPr lang="en-US" sz="2850" dirty="0">
                <a:solidFill>
                  <a:srgbClr val="16223A"/>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DFE7F1"/>
            </a:solidFill>
          </a:ln>
        </p:spPr>
      </p:cxnSp>
      <p:cxnSp>
        <p:nvCxnSpPr>
          <p:cNvPr id="15" name="Line 15"/>
          <p:cNvCxnSpPr/>
          <p:nvPr/>
        </p:nvCxnSpPr>
        <p:spPr>
          <a:xfrm>
            <a:off x="9173858" y="2302002"/>
            <a:ext cx="0" cy="2781300"/>
          </a:xfrm>
          <a:prstGeom prst="line">
            <a:avLst/>
          </a:prstGeom>
          <a:ln w="9525" cap="flat">
            <a:solidFill>
              <a:srgbClr val="DFE7F1"/>
            </a:solidFill>
          </a:ln>
        </p:spPr>
      </p:cxnSp>
      <p:cxnSp>
        <p:nvCxnSpPr>
          <p:cNvPr id="16" name="Line 16"/>
          <p:cNvCxnSpPr/>
          <p:nvPr/>
        </p:nvCxnSpPr>
        <p:spPr>
          <a:xfrm>
            <a:off x="9375470" y="2302002"/>
            <a:ext cx="0" cy="2781300"/>
          </a:xfrm>
          <a:prstGeom prst="line">
            <a:avLst/>
          </a:prstGeom>
          <a:ln w="9525" cap="flat">
            <a:solidFill>
              <a:srgbClr val="DFE7F1"/>
            </a:solidFill>
          </a:ln>
        </p:spPr>
      </p:cxnSp>
      <p:cxnSp>
        <p:nvCxnSpPr>
          <p:cNvPr id="17" name="Line 17"/>
          <p:cNvCxnSpPr/>
          <p:nvPr/>
        </p:nvCxnSpPr>
        <p:spPr>
          <a:xfrm>
            <a:off x="9577083" y="2302002"/>
            <a:ext cx="0" cy="2781300"/>
          </a:xfrm>
          <a:prstGeom prst="line">
            <a:avLst/>
          </a:prstGeom>
          <a:ln w="9525" cap="flat">
            <a:solidFill>
              <a:srgbClr val="DFE7F1"/>
            </a:solidFill>
          </a:ln>
        </p:spPr>
      </p:cxnSp>
      <p:cxnSp>
        <p:nvCxnSpPr>
          <p:cNvPr id="18" name="Line 18"/>
          <p:cNvCxnSpPr/>
          <p:nvPr/>
        </p:nvCxnSpPr>
        <p:spPr>
          <a:xfrm>
            <a:off x="9778695" y="2302002"/>
            <a:ext cx="0" cy="2781300"/>
          </a:xfrm>
          <a:prstGeom prst="line">
            <a:avLst/>
          </a:prstGeom>
          <a:ln w="9525" cap="flat">
            <a:solidFill>
              <a:srgbClr val="DFE7F1"/>
            </a:solidFill>
          </a:ln>
        </p:spPr>
      </p:cxnSp>
      <p:cxnSp>
        <p:nvCxnSpPr>
          <p:cNvPr id="19" name="Line 19"/>
          <p:cNvCxnSpPr/>
          <p:nvPr/>
        </p:nvCxnSpPr>
        <p:spPr>
          <a:xfrm>
            <a:off x="9980308" y="2302002"/>
            <a:ext cx="0" cy="2781300"/>
          </a:xfrm>
          <a:prstGeom prst="line">
            <a:avLst/>
          </a:prstGeom>
          <a:ln w="9525" cap="flat">
            <a:solidFill>
              <a:srgbClr val="DFE7F1"/>
            </a:solidFill>
          </a:ln>
        </p:spPr>
      </p:cxnSp>
      <p:cxnSp>
        <p:nvCxnSpPr>
          <p:cNvPr id="20" name="Line 20"/>
          <p:cNvCxnSpPr/>
          <p:nvPr/>
        </p:nvCxnSpPr>
        <p:spPr>
          <a:xfrm>
            <a:off x="10181920" y="2302002"/>
            <a:ext cx="0" cy="2781300"/>
          </a:xfrm>
          <a:prstGeom prst="line">
            <a:avLst/>
          </a:prstGeom>
          <a:ln w="9525" cap="flat">
            <a:solidFill>
              <a:srgbClr val="DFE7F1"/>
            </a:solidFill>
          </a:ln>
        </p:spPr>
      </p:cxnSp>
      <p:cxnSp>
        <p:nvCxnSpPr>
          <p:cNvPr id="21" name="Line 21"/>
          <p:cNvCxnSpPr/>
          <p:nvPr/>
        </p:nvCxnSpPr>
        <p:spPr>
          <a:xfrm>
            <a:off x="10383533" y="2302002"/>
            <a:ext cx="0" cy="2781300"/>
          </a:xfrm>
          <a:prstGeom prst="line">
            <a:avLst/>
          </a:prstGeom>
          <a:ln w="9525" cap="flat">
            <a:solidFill>
              <a:srgbClr val="DFE7F1"/>
            </a:solidFill>
          </a:ln>
        </p:spPr>
      </p:cxnSp>
      <p:cxnSp>
        <p:nvCxnSpPr>
          <p:cNvPr id="22" name="Line 22"/>
          <p:cNvCxnSpPr/>
          <p:nvPr/>
        </p:nvCxnSpPr>
        <p:spPr>
          <a:xfrm>
            <a:off x="10585145" y="2302002"/>
            <a:ext cx="0" cy="2781300"/>
          </a:xfrm>
          <a:prstGeom prst="line">
            <a:avLst/>
          </a:prstGeom>
          <a:ln w="9525" cap="flat">
            <a:solidFill>
              <a:srgbClr val="DFE7F1"/>
            </a:solidFill>
          </a:ln>
        </p:spPr>
      </p:cxnSp>
      <p:cxnSp>
        <p:nvCxnSpPr>
          <p:cNvPr id="23" name="Line 23"/>
          <p:cNvCxnSpPr/>
          <p:nvPr/>
        </p:nvCxnSpPr>
        <p:spPr>
          <a:xfrm>
            <a:off x="10786758" y="2302002"/>
            <a:ext cx="0" cy="2781300"/>
          </a:xfrm>
          <a:prstGeom prst="line">
            <a:avLst/>
          </a:prstGeom>
          <a:ln w="9525" cap="flat">
            <a:solidFill>
              <a:srgbClr val="DFE7F1"/>
            </a:solidFill>
          </a:ln>
        </p:spPr>
      </p:cxnSp>
      <p:cxnSp>
        <p:nvCxnSpPr>
          <p:cNvPr id="24" name="Line 24"/>
          <p:cNvCxnSpPr/>
          <p:nvPr/>
        </p:nvCxnSpPr>
        <p:spPr>
          <a:xfrm>
            <a:off x="10988370" y="2302002"/>
            <a:ext cx="0" cy="2781300"/>
          </a:xfrm>
          <a:prstGeom prst="line">
            <a:avLst/>
          </a:prstGeom>
          <a:ln w="9525" cap="flat">
            <a:solidFill>
              <a:srgbClr val="DFE7F1"/>
            </a:solidFill>
          </a:ln>
        </p:spPr>
      </p:cxnSp>
      <p:cxnSp>
        <p:nvCxnSpPr>
          <p:cNvPr id="25" name="Line 25"/>
          <p:cNvCxnSpPr/>
          <p:nvPr/>
        </p:nvCxnSpPr>
        <p:spPr>
          <a:xfrm>
            <a:off x="11189983" y="2302002"/>
            <a:ext cx="0" cy="2781300"/>
          </a:xfrm>
          <a:prstGeom prst="line">
            <a:avLst/>
          </a:prstGeom>
          <a:ln w="9525" cap="flat">
            <a:solidFill>
              <a:srgbClr val="DFE7F1"/>
            </a:solidFill>
          </a:ln>
        </p:spPr>
      </p:cxnSp>
      <p:cxnSp>
        <p:nvCxnSpPr>
          <p:cNvPr id="26" name="Line 26"/>
          <p:cNvCxnSpPr/>
          <p:nvPr/>
        </p:nvCxnSpPr>
        <p:spPr>
          <a:xfrm>
            <a:off x="11391595" y="2302002"/>
            <a:ext cx="0" cy="2781300"/>
          </a:xfrm>
          <a:prstGeom prst="line">
            <a:avLst/>
          </a:prstGeom>
          <a:ln w="9525" cap="flat">
            <a:solidFill>
              <a:srgbClr val="DFE7F1"/>
            </a:solidFill>
          </a:ln>
        </p:spPr>
      </p:cxnSp>
      <p:cxnSp>
        <p:nvCxnSpPr>
          <p:cNvPr id="27" name="Line 27"/>
          <p:cNvCxnSpPr/>
          <p:nvPr/>
        </p:nvCxnSpPr>
        <p:spPr>
          <a:xfrm>
            <a:off x="8972245" y="5083302"/>
            <a:ext cx="2419350" cy="0"/>
          </a:xfrm>
          <a:prstGeom prst="line">
            <a:avLst/>
          </a:prstGeom>
          <a:ln w="9525" cap="flat">
            <a:solidFill>
              <a:srgbClr val="DFE7F1"/>
            </a:solidFill>
          </a:ln>
        </p:spPr>
      </p:cxnSp>
      <p:cxnSp>
        <p:nvCxnSpPr>
          <p:cNvPr id="28" name="Line 28"/>
          <p:cNvCxnSpPr/>
          <p:nvPr/>
        </p:nvCxnSpPr>
        <p:spPr>
          <a:xfrm>
            <a:off x="8972245" y="4805172"/>
            <a:ext cx="2419350" cy="0"/>
          </a:xfrm>
          <a:prstGeom prst="line">
            <a:avLst/>
          </a:prstGeom>
          <a:ln w="9525" cap="flat">
            <a:solidFill>
              <a:srgbClr val="DFE7F1"/>
            </a:solidFill>
          </a:ln>
        </p:spPr>
      </p:cxnSp>
      <p:cxnSp>
        <p:nvCxnSpPr>
          <p:cNvPr id="29" name="Line 29"/>
          <p:cNvCxnSpPr/>
          <p:nvPr/>
        </p:nvCxnSpPr>
        <p:spPr>
          <a:xfrm>
            <a:off x="8972245" y="4527042"/>
            <a:ext cx="2419350" cy="0"/>
          </a:xfrm>
          <a:prstGeom prst="line">
            <a:avLst/>
          </a:prstGeom>
          <a:ln w="9525" cap="flat">
            <a:solidFill>
              <a:srgbClr val="DFE7F1"/>
            </a:solidFill>
          </a:ln>
        </p:spPr>
      </p:cxnSp>
      <p:cxnSp>
        <p:nvCxnSpPr>
          <p:cNvPr id="30" name="Line 30"/>
          <p:cNvCxnSpPr/>
          <p:nvPr/>
        </p:nvCxnSpPr>
        <p:spPr>
          <a:xfrm>
            <a:off x="8972245" y="4248912"/>
            <a:ext cx="2419350" cy="0"/>
          </a:xfrm>
          <a:prstGeom prst="line">
            <a:avLst/>
          </a:prstGeom>
          <a:ln w="9525" cap="flat">
            <a:solidFill>
              <a:srgbClr val="DFE7F1"/>
            </a:solidFill>
          </a:ln>
        </p:spPr>
      </p:cxnSp>
      <p:cxnSp>
        <p:nvCxnSpPr>
          <p:cNvPr id="31" name="Line 31"/>
          <p:cNvCxnSpPr/>
          <p:nvPr/>
        </p:nvCxnSpPr>
        <p:spPr>
          <a:xfrm>
            <a:off x="8972245" y="3970782"/>
            <a:ext cx="2419350" cy="0"/>
          </a:xfrm>
          <a:prstGeom prst="line">
            <a:avLst/>
          </a:prstGeom>
          <a:ln w="9525" cap="flat">
            <a:solidFill>
              <a:srgbClr val="DFE7F1"/>
            </a:solidFill>
          </a:ln>
        </p:spPr>
      </p:cxnSp>
      <p:cxnSp>
        <p:nvCxnSpPr>
          <p:cNvPr id="32" name="Line 32"/>
          <p:cNvCxnSpPr/>
          <p:nvPr/>
        </p:nvCxnSpPr>
        <p:spPr>
          <a:xfrm>
            <a:off x="8972245" y="3692652"/>
            <a:ext cx="2419350" cy="0"/>
          </a:xfrm>
          <a:prstGeom prst="line">
            <a:avLst/>
          </a:prstGeom>
          <a:ln w="9525" cap="flat">
            <a:solidFill>
              <a:srgbClr val="DFE7F1"/>
            </a:solidFill>
          </a:ln>
        </p:spPr>
      </p:cxnSp>
      <p:cxnSp>
        <p:nvCxnSpPr>
          <p:cNvPr id="33" name="Line 33"/>
          <p:cNvCxnSpPr/>
          <p:nvPr/>
        </p:nvCxnSpPr>
        <p:spPr>
          <a:xfrm>
            <a:off x="8972245" y="3414522"/>
            <a:ext cx="2419350" cy="0"/>
          </a:xfrm>
          <a:prstGeom prst="line">
            <a:avLst/>
          </a:prstGeom>
          <a:ln w="9525" cap="flat">
            <a:solidFill>
              <a:srgbClr val="DFE7F1"/>
            </a:solidFill>
          </a:ln>
        </p:spPr>
      </p:cxnSp>
      <p:cxnSp>
        <p:nvCxnSpPr>
          <p:cNvPr id="34" name="Line 34"/>
          <p:cNvCxnSpPr/>
          <p:nvPr/>
        </p:nvCxnSpPr>
        <p:spPr>
          <a:xfrm>
            <a:off x="8972245" y="3136392"/>
            <a:ext cx="2419350" cy="0"/>
          </a:xfrm>
          <a:prstGeom prst="line">
            <a:avLst/>
          </a:prstGeom>
          <a:ln w="9525" cap="flat">
            <a:solidFill>
              <a:srgbClr val="DFE7F1"/>
            </a:solidFill>
          </a:ln>
        </p:spPr>
      </p:cxnSp>
      <p:cxnSp>
        <p:nvCxnSpPr>
          <p:cNvPr id="35" name="Line 35"/>
          <p:cNvCxnSpPr/>
          <p:nvPr/>
        </p:nvCxnSpPr>
        <p:spPr>
          <a:xfrm>
            <a:off x="8972245" y="2858262"/>
            <a:ext cx="2419350" cy="0"/>
          </a:xfrm>
          <a:prstGeom prst="line">
            <a:avLst/>
          </a:prstGeom>
          <a:ln w="9525" cap="flat">
            <a:solidFill>
              <a:srgbClr val="DFE7F1"/>
            </a:solidFill>
          </a:ln>
        </p:spPr>
      </p:cxnSp>
      <p:cxnSp>
        <p:nvCxnSpPr>
          <p:cNvPr id="36" name="Line 36"/>
          <p:cNvCxnSpPr/>
          <p:nvPr/>
        </p:nvCxnSpPr>
        <p:spPr>
          <a:xfrm>
            <a:off x="8972245" y="2580132"/>
            <a:ext cx="2419350" cy="0"/>
          </a:xfrm>
          <a:prstGeom prst="line">
            <a:avLst/>
          </a:prstGeom>
          <a:ln w="9525" cap="flat">
            <a:solidFill>
              <a:srgbClr val="DFE7F1"/>
            </a:solidFill>
          </a:ln>
        </p:spPr>
      </p:cxnSp>
      <p:cxnSp>
        <p:nvCxnSpPr>
          <p:cNvPr id="37" name="Line 37"/>
          <p:cNvCxnSpPr/>
          <p:nvPr/>
        </p:nvCxnSpPr>
        <p:spPr>
          <a:xfrm>
            <a:off x="8972245" y="2302002"/>
            <a:ext cx="2419350" cy="0"/>
          </a:xfrm>
          <a:prstGeom prst="line">
            <a:avLst/>
          </a:prstGeom>
          <a:ln w="9525" cap="flat">
            <a:solidFill>
              <a:srgbClr val="DFE7F1"/>
            </a:solidFill>
          </a:ln>
        </p:spPr>
      </p:cxnSp>
      <p:cxnSp>
        <p:nvCxnSpPr>
          <p:cNvPr id="38" name="Line 38"/>
          <p:cNvCxnSpPr/>
          <p:nvPr/>
        </p:nvCxnSpPr>
        <p:spPr>
          <a:xfrm>
            <a:off x="8972245" y="2302002"/>
            <a:ext cx="0" cy="2781300"/>
          </a:xfrm>
          <a:prstGeom prst="line">
            <a:avLst/>
          </a:prstGeom>
          <a:ln w="19050" cap="flat">
            <a:solidFill>
              <a:srgbClr val="56647D"/>
            </a:solidFill>
          </a:ln>
        </p:spPr>
      </p:cxnSp>
      <p:cxnSp>
        <p:nvCxnSpPr>
          <p:cNvPr id="39" name="Line 39"/>
          <p:cNvCxnSpPr/>
          <p:nvPr/>
        </p:nvCxnSpPr>
        <p:spPr>
          <a:xfrm>
            <a:off x="8972245" y="5083302"/>
            <a:ext cx="2419350" cy="0"/>
          </a:xfrm>
          <a:prstGeom prst="line">
            <a:avLst/>
          </a:prstGeom>
          <a:ln w="19050" cap="flat">
            <a:solidFill>
              <a:srgbClr val="56647D"/>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223A"/>
            </a:solidFill>
          </a:ln>
        </p:spPr>
      </p:cxnSp>
      <p:sp>
        <p:nvSpPr>
          <p:cNvPr id="54" name="Shape 54"/>
          <p:cNvSpPr/>
          <p:nvPr/>
        </p:nvSpPr>
        <p:spPr>
          <a:xfrm>
            <a:off x="8919858" y="2527744"/>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1D64C4"/>
                </a:solidFill>
                <a:latin typeface="Calibri"/>
                <a:cs typeface="Calibri"/>
              </a:rPr>
              <a:t xml:space="preserve">(0, 18)</a:t>
            </a:r>
            <a:endParaRPr lang="en-US" sz="1125" dirty="0"/>
          </a:p>
        </p:txBody>
      </p:sp>
      <p:sp>
        <p:nvSpPr>
          <p:cNvPr id="56" name="Shape 56"/>
          <p:cNvSpPr/>
          <p:nvPr/>
        </p:nvSpPr>
        <p:spPr>
          <a:xfrm>
            <a:off x="9323083" y="2944940"/>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1D64C4"/>
                </a:solidFill>
                <a:latin typeface="Calibri"/>
                <a:cs typeface="Calibri"/>
              </a:rPr>
              <a:t xml:space="preserve">(2, 15)</a:t>
            </a:r>
            <a:endParaRPr lang="en-US" sz="1125" dirty="0"/>
          </a:p>
        </p:txBody>
      </p:sp>
      <p:sp>
        <p:nvSpPr>
          <p:cNvPr id="58" name="Shape 58"/>
          <p:cNvSpPr/>
          <p:nvPr/>
        </p:nvSpPr>
        <p:spPr>
          <a:xfrm>
            <a:off x="9726308" y="3362135"/>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1D64C4"/>
                </a:solidFill>
                <a:latin typeface="Calibri"/>
                <a:cs typeface="Calibr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DFE7F1"/>
            </a:solidFill>
          </a:ln>
        </p:spPr>
      </p:cxnSp>
      <p:cxnSp>
        <p:nvCxnSpPr>
          <p:cNvPr id="6" name="Line 6"/>
          <p:cNvCxnSpPr/>
          <p:nvPr/>
        </p:nvCxnSpPr>
        <p:spPr>
          <a:xfrm>
            <a:off x="1385888" y="1732788"/>
            <a:ext cx="0" cy="3638550"/>
          </a:xfrm>
          <a:prstGeom prst="line">
            <a:avLst/>
          </a:prstGeom>
          <a:ln w="9525" cap="flat">
            <a:solidFill>
              <a:srgbClr val="DFE7F1"/>
            </a:solidFill>
          </a:ln>
        </p:spPr>
      </p:cxnSp>
      <p:cxnSp>
        <p:nvCxnSpPr>
          <p:cNvPr id="7" name="Line 7"/>
          <p:cNvCxnSpPr/>
          <p:nvPr/>
        </p:nvCxnSpPr>
        <p:spPr>
          <a:xfrm>
            <a:off x="1762125" y="1732788"/>
            <a:ext cx="0" cy="3638550"/>
          </a:xfrm>
          <a:prstGeom prst="line">
            <a:avLst/>
          </a:prstGeom>
          <a:ln w="9525" cap="flat">
            <a:solidFill>
              <a:srgbClr val="DFE7F1"/>
            </a:solidFill>
          </a:ln>
        </p:spPr>
      </p:cxnSp>
      <p:cxnSp>
        <p:nvCxnSpPr>
          <p:cNvPr id="8" name="Line 8"/>
          <p:cNvCxnSpPr/>
          <p:nvPr/>
        </p:nvCxnSpPr>
        <p:spPr>
          <a:xfrm>
            <a:off x="2138362" y="1732788"/>
            <a:ext cx="0" cy="3638550"/>
          </a:xfrm>
          <a:prstGeom prst="line">
            <a:avLst/>
          </a:prstGeom>
          <a:ln w="9525" cap="flat">
            <a:solidFill>
              <a:srgbClr val="DFE7F1"/>
            </a:solidFill>
          </a:ln>
        </p:spPr>
      </p:cxnSp>
      <p:cxnSp>
        <p:nvCxnSpPr>
          <p:cNvPr id="9" name="Line 9"/>
          <p:cNvCxnSpPr/>
          <p:nvPr/>
        </p:nvCxnSpPr>
        <p:spPr>
          <a:xfrm>
            <a:off x="2514600" y="1732788"/>
            <a:ext cx="0" cy="3638550"/>
          </a:xfrm>
          <a:prstGeom prst="line">
            <a:avLst/>
          </a:prstGeom>
          <a:ln w="9525" cap="flat">
            <a:solidFill>
              <a:srgbClr val="DFE7F1"/>
            </a:solidFill>
          </a:ln>
        </p:spPr>
      </p:cxnSp>
      <p:cxnSp>
        <p:nvCxnSpPr>
          <p:cNvPr id="10" name="Line 10"/>
          <p:cNvCxnSpPr/>
          <p:nvPr/>
        </p:nvCxnSpPr>
        <p:spPr>
          <a:xfrm>
            <a:off x="2890837" y="1732788"/>
            <a:ext cx="0" cy="3638550"/>
          </a:xfrm>
          <a:prstGeom prst="line">
            <a:avLst/>
          </a:prstGeom>
          <a:ln w="9525" cap="flat">
            <a:solidFill>
              <a:srgbClr val="DFE7F1"/>
            </a:solidFill>
          </a:ln>
        </p:spPr>
      </p:cxnSp>
      <p:cxnSp>
        <p:nvCxnSpPr>
          <p:cNvPr id="11" name="Line 11"/>
          <p:cNvCxnSpPr/>
          <p:nvPr/>
        </p:nvCxnSpPr>
        <p:spPr>
          <a:xfrm>
            <a:off x="3267075" y="1732788"/>
            <a:ext cx="0" cy="3638550"/>
          </a:xfrm>
          <a:prstGeom prst="line">
            <a:avLst/>
          </a:prstGeom>
          <a:ln w="9525" cap="flat">
            <a:solidFill>
              <a:srgbClr val="DFE7F1"/>
            </a:solidFill>
          </a:ln>
        </p:spPr>
      </p:cxnSp>
      <p:cxnSp>
        <p:nvCxnSpPr>
          <p:cNvPr id="12" name="Line 12"/>
          <p:cNvCxnSpPr/>
          <p:nvPr/>
        </p:nvCxnSpPr>
        <p:spPr>
          <a:xfrm>
            <a:off x="3643312" y="1732788"/>
            <a:ext cx="0" cy="3638550"/>
          </a:xfrm>
          <a:prstGeom prst="line">
            <a:avLst/>
          </a:prstGeom>
          <a:ln w="9525" cap="flat">
            <a:solidFill>
              <a:srgbClr val="DFE7F1"/>
            </a:solidFill>
          </a:ln>
        </p:spPr>
      </p:cxnSp>
      <p:cxnSp>
        <p:nvCxnSpPr>
          <p:cNvPr id="13" name="Line 13"/>
          <p:cNvCxnSpPr/>
          <p:nvPr/>
        </p:nvCxnSpPr>
        <p:spPr>
          <a:xfrm>
            <a:off x="4019550" y="1732788"/>
            <a:ext cx="0" cy="3638550"/>
          </a:xfrm>
          <a:prstGeom prst="line">
            <a:avLst/>
          </a:prstGeom>
          <a:ln w="9525" cap="flat">
            <a:solidFill>
              <a:srgbClr val="DFE7F1"/>
            </a:solidFill>
          </a:ln>
        </p:spPr>
      </p:cxnSp>
      <p:cxnSp>
        <p:nvCxnSpPr>
          <p:cNvPr id="14" name="Line 14"/>
          <p:cNvCxnSpPr/>
          <p:nvPr/>
        </p:nvCxnSpPr>
        <p:spPr>
          <a:xfrm>
            <a:off x="4395787" y="1732788"/>
            <a:ext cx="0" cy="3638550"/>
          </a:xfrm>
          <a:prstGeom prst="line">
            <a:avLst/>
          </a:prstGeom>
          <a:ln w="9525" cap="flat">
            <a:solidFill>
              <a:srgbClr val="DFE7F1"/>
            </a:solidFill>
          </a:ln>
        </p:spPr>
      </p:cxnSp>
      <p:cxnSp>
        <p:nvCxnSpPr>
          <p:cNvPr id="15" name="Line 15"/>
          <p:cNvCxnSpPr/>
          <p:nvPr/>
        </p:nvCxnSpPr>
        <p:spPr>
          <a:xfrm>
            <a:off x="4772025" y="1732788"/>
            <a:ext cx="0" cy="3638550"/>
          </a:xfrm>
          <a:prstGeom prst="line">
            <a:avLst/>
          </a:prstGeom>
          <a:ln w="9525" cap="flat">
            <a:solidFill>
              <a:srgbClr val="DFE7F1"/>
            </a:solidFill>
          </a:ln>
        </p:spPr>
      </p:cxnSp>
      <p:cxnSp>
        <p:nvCxnSpPr>
          <p:cNvPr id="16" name="Line 16"/>
          <p:cNvCxnSpPr/>
          <p:nvPr/>
        </p:nvCxnSpPr>
        <p:spPr>
          <a:xfrm>
            <a:off x="5148262" y="1732788"/>
            <a:ext cx="0" cy="3638550"/>
          </a:xfrm>
          <a:prstGeom prst="line">
            <a:avLst/>
          </a:prstGeom>
          <a:ln w="9525" cap="flat">
            <a:solidFill>
              <a:srgbClr val="DFE7F1"/>
            </a:solidFill>
          </a:ln>
        </p:spPr>
      </p:cxnSp>
      <p:cxnSp>
        <p:nvCxnSpPr>
          <p:cNvPr id="17" name="Line 17"/>
          <p:cNvCxnSpPr/>
          <p:nvPr/>
        </p:nvCxnSpPr>
        <p:spPr>
          <a:xfrm>
            <a:off x="5524500" y="1732788"/>
            <a:ext cx="0" cy="3638550"/>
          </a:xfrm>
          <a:prstGeom prst="line">
            <a:avLst/>
          </a:prstGeom>
          <a:ln w="9525" cap="flat">
            <a:solidFill>
              <a:srgbClr val="DFE7F1"/>
            </a:solidFill>
          </a:ln>
        </p:spPr>
      </p:cxnSp>
      <p:cxnSp>
        <p:nvCxnSpPr>
          <p:cNvPr id="18" name="Line 18"/>
          <p:cNvCxnSpPr/>
          <p:nvPr/>
        </p:nvCxnSpPr>
        <p:spPr>
          <a:xfrm>
            <a:off x="1009650" y="5371338"/>
            <a:ext cx="4514850" cy="0"/>
          </a:xfrm>
          <a:prstGeom prst="line">
            <a:avLst/>
          </a:prstGeom>
          <a:ln w="9525" cap="flat">
            <a:solidFill>
              <a:srgbClr val="DFE7F1"/>
            </a:solidFill>
          </a:ln>
        </p:spPr>
      </p:cxnSp>
      <p:cxnSp>
        <p:nvCxnSpPr>
          <p:cNvPr id="19" name="Line 19"/>
          <p:cNvCxnSpPr/>
          <p:nvPr/>
        </p:nvCxnSpPr>
        <p:spPr>
          <a:xfrm>
            <a:off x="1009650" y="5007483"/>
            <a:ext cx="4514850" cy="0"/>
          </a:xfrm>
          <a:prstGeom prst="line">
            <a:avLst/>
          </a:prstGeom>
          <a:ln w="9525" cap="flat">
            <a:solidFill>
              <a:srgbClr val="DFE7F1"/>
            </a:solidFill>
          </a:ln>
        </p:spPr>
      </p:cxnSp>
      <p:cxnSp>
        <p:nvCxnSpPr>
          <p:cNvPr id="20" name="Line 20"/>
          <p:cNvCxnSpPr/>
          <p:nvPr/>
        </p:nvCxnSpPr>
        <p:spPr>
          <a:xfrm>
            <a:off x="1009650" y="4643628"/>
            <a:ext cx="4514850" cy="0"/>
          </a:xfrm>
          <a:prstGeom prst="line">
            <a:avLst/>
          </a:prstGeom>
          <a:ln w="9525" cap="flat">
            <a:solidFill>
              <a:srgbClr val="DFE7F1"/>
            </a:solidFill>
          </a:ln>
        </p:spPr>
      </p:cxnSp>
      <p:cxnSp>
        <p:nvCxnSpPr>
          <p:cNvPr id="21" name="Line 21"/>
          <p:cNvCxnSpPr/>
          <p:nvPr/>
        </p:nvCxnSpPr>
        <p:spPr>
          <a:xfrm>
            <a:off x="1009650" y="4279773"/>
            <a:ext cx="4514850" cy="0"/>
          </a:xfrm>
          <a:prstGeom prst="line">
            <a:avLst/>
          </a:prstGeom>
          <a:ln w="9525" cap="flat">
            <a:solidFill>
              <a:srgbClr val="DFE7F1"/>
            </a:solidFill>
          </a:ln>
        </p:spPr>
      </p:cxnSp>
      <p:cxnSp>
        <p:nvCxnSpPr>
          <p:cNvPr id="22" name="Line 22"/>
          <p:cNvCxnSpPr/>
          <p:nvPr/>
        </p:nvCxnSpPr>
        <p:spPr>
          <a:xfrm>
            <a:off x="1009650" y="3915918"/>
            <a:ext cx="4514850" cy="0"/>
          </a:xfrm>
          <a:prstGeom prst="line">
            <a:avLst/>
          </a:prstGeom>
          <a:ln w="9525" cap="flat">
            <a:solidFill>
              <a:srgbClr val="DFE7F1"/>
            </a:solidFill>
          </a:ln>
        </p:spPr>
      </p:cxnSp>
      <p:cxnSp>
        <p:nvCxnSpPr>
          <p:cNvPr id="23" name="Line 23"/>
          <p:cNvCxnSpPr/>
          <p:nvPr/>
        </p:nvCxnSpPr>
        <p:spPr>
          <a:xfrm>
            <a:off x="1009650" y="3552063"/>
            <a:ext cx="4514850" cy="0"/>
          </a:xfrm>
          <a:prstGeom prst="line">
            <a:avLst/>
          </a:prstGeom>
          <a:ln w="9525" cap="flat">
            <a:solidFill>
              <a:srgbClr val="DFE7F1"/>
            </a:solidFill>
          </a:ln>
        </p:spPr>
      </p:cxnSp>
      <p:cxnSp>
        <p:nvCxnSpPr>
          <p:cNvPr id="24" name="Line 24"/>
          <p:cNvCxnSpPr/>
          <p:nvPr/>
        </p:nvCxnSpPr>
        <p:spPr>
          <a:xfrm>
            <a:off x="1009650" y="3188208"/>
            <a:ext cx="4514850" cy="0"/>
          </a:xfrm>
          <a:prstGeom prst="line">
            <a:avLst/>
          </a:prstGeom>
          <a:ln w="9525" cap="flat">
            <a:solidFill>
              <a:srgbClr val="DFE7F1"/>
            </a:solidFill>
          </a:ln>
        </p:spPr>
      </p:cxnSp>
      <p:cxnSp>
        <p:nvCxnSpPr>
          <p:cNvPr id="25" name="Line 25"/>
          <p:cNvCxnSpPr/>
          <p:nvPr/>
        </p:nvCxnSpPr>
        <p:spPr>
          <a:xfrm>
            <a:off x="1009650" y="2824353"/>
            <a:ext cx="4514850" cy="0"/>
          </a:xfrm>
          <a:prstGeom prst="line">
            <a:avLst/>
          </a:prstGeom>
          <a:ln w="9525" cap="flat">
            <a:solidFill>
              <a:srgbClr val="DFE7F1"/>
            </a:solidFill>
          </a:ln>
        </p:spPr>
      </p:cxnSp>
      <p:cxnSp>
        <p:nvCxnSpPr>
          <p:cNvPr id="26" name="Line 26"/>
          <p:cNvCxnSpPr/>
          <p:nvPr/>
        </p:nvCxnSpPr>
        <p:spPr>
          <a:xfrm>
            <a:off x="1009650" y="2460498"/>
            <a:ext cx="4514850" cy="0"/>
          </a:xfrm>
          <a:prstGeom prst="line">
            <a:avLst/>
          </a:prstGeom>
          <a:ln w="9525" cap="flat">
            <a:solidFill>
              <a:srgbClr val="DFE7F1"/>
            </a:solidFill>
          </a:ln>
        </p:spPr>
      </p:cxnSp>
      <p:cxnSp>
        <p:nvCxnSpPr>
          <p:cNvPr id="27" name="Line 27"/>
          <p:cNvCxnSpPr/>
          <p:nvPr/>
        </p:nvCxnSpPr>
        <p:spPr>
          <a:xfrm>
            <a:off x="1009650" y="2096643"/>
            <a:ext cx="4514850" cy="0"/>
          </a:xfrm>
          <a:prstGeom prst="line">
            <a:avLst/>
          </a:prstGeom>
          <a:ln w="9525" cap="flat">
            <a:solidFill>
              <a:srgbClr val="DFE7F1"/>
            </a:solidFill>
          </a:ln>
        </p:spPr>
      </p:cxnSp>
      <p:cxnSp>
        <p:nvCxnSpPr>
          <p:cNvPr id="28" name="Line 28"/>
          <p:cNvCxnSpPr/>
          <p:nvPr/>
        </p:nvCxnSpPr>
        <p:spPr>
          <a:xfrm>
            <a:off x="1009650" y="1732788"/>
            <a:ext cx="4514850" cy="0"/>
          </a:xfrm>
          <a:prstGeom prst="line">
            <a:avLst/>
          </a:prstGeom>
          <a:ln w="9525" cap="flat">
            <a:solidFill>
              <a:srgbClr val="DFE7F1"/>
            </a:solidFill>
          </a:ln>
        </p:spPr>
      </p:cxnSp>
      <p:cxnSp>
        <p:nvCxnSpPr>
          <p:cNvPr id="29" name="Line 29"/>
          <p:cNvCxnSpPr/>
          <p:nvPr/>
        </p:nvCxnSpPr>
        <p:spPr>
          <a:xfrm>
            <a:off x="1009650" y="1732788"/>
            <a:ext cx="0" cy="3638550"/>
          </a:xfrm>
          <a:prstGeom prst="line">
            <a:avLst/>
          </a:prstGeom>
          <a:ln w="19050" cap="flat">
            <a:solidFill>
              <a:srgbClr val="56647D"/>
            </a:solidFill>
          </a:ln>
        </p:spPr>
      </p:cxnSp>
      <p:cxnSp>
        <p:nvCxnSpPr>
          <p:cNvPr id="30" name="Line 30"/>
          <p:cNvCxnSpPr/>
          <p:nvPr/>
        </p:nvCxnSpPr>
        <p:spPr>
          <a:xfrm>
            <a:off x="1009650" y="5371338"/>
            <a:ext cx="4514850" cy="0"/>
          </a:xfrm>
          <a:prstGeom prst="line">
            <a:avLst/>
          </a:prstGeom>
          <a:ln w="19050" cap="flat">
            <a:solidFill>
              <a:srgbClr val="56647D"/>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0D7A63"/>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223A"/>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0D7A63"/>
                </a:solidFill>
                <a:latin typeface="Calibri"/>
                <a:cs typeface="Calibri"/>
              </a:rPr>
              <a:t xml:space="preserve">━━ Pool A</a:t>
            </a:r>
            <a:r>
              <a:rPr lang="en-US" sz="1950" dirty="0">
                <a:solidFill>
                  <a:srgbClr val="16223A"/>
                </a:solidFill>
                <a:latin typeface="Calibri"/>
                <a:cs typeface="Calibri"/>
              </a:rPr>
              <a:t xml:space="preserve"> </a:t>
            </a:r>
            <a:r>
              <a:rPr lang="en-US" sz="1950" dirty="0" i="1">
                <a:solidFill>
                  <a:srgbClr val="16223A"/>
                </a:solidFill>
                <a:latin typeface="Cambria"/>
                <a:cs typeface="Cambria"/>
              </a:rPr>
              <a:t xml:space="preserve">y</a:t>
            </a:r>
            <a:r>
              <a:rPr lang="en-US" sz="1950" dirty="0">
                <a:solidFill>
                  <a:srgbClr val="16223A"/>
                </a:solidFill>
                <a:latin typeface="Cambria"/>
                <a:cs typeface="Cambria"/>
              </a:rPr>
              <a:t xml:space="preserve"> = −3</a:t>
            </a:r>
            <a:r>
              <a:rPr lang="en-US" sz="1950" dirty="0" i="1">
                <a:solidFill>
                  <a:srgbClr val="16223A"/>
                </a:solidFill>
                <a:latin typeface="Cambria"/>
                <a:cs typeface="Cambria"/>
              </a:rPr>
              <a:t xml:space="preserve">x</a:t>
            </a:r>
            <a:r>
              <a:rPr lang="en-US" sz="1950" dirty="0">
                <a:solidFill>
                  <a:srgbClr val="16223A"/>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Calibri"/>
                <a:cs typeface="Calibri"/>
              </a:rPr>
              <a:t xml:space="preserve">- - - Pool B</a:t>
            </a:r>
            <a:r>
              <a:rPr lang="en-US" sz="1950" dirty="0">
                <a:solidFill>
                  <a:srgbClr val="16223A"/>
                </a:solidFill>
                <a:latin typeface="Calibri"/>
                <a:cs typeface="Calibri"/>
              </a:rPr>
              <a:t xml:space="preserve"> </a:t>
            </a:r>
            <a:r>
              <a:rPr lang="en-US" sz="1950" dirty="0" i="1">
                <a:solidFill>
                  <a:srgbClr val="16223A"/>
                </a:solidFill>
                <a:latin typeface="Cambria"/>
                <a:cs typeface="Cambria"/>
              </a:rPr>
              <a:t xml:space="preserve">y</a:t>
            </a:r>
            <a:r>
              <a:rPr lang="en-US" sz="1950" dirty="0">
                <a:solidFill>
                  <a:srgbClr val="16223A"/>
                </a:solidFill>
                <a:latin typeface="Cambria"/>
                <a:cs typeface="Cambria"/>
              </a:rPr>
              <a:t xml:space="preserve"> = −2</a:t>
            </a:r>
            <a:r>
              <a:rPr lang="en-US" sz="1950" dirty="0" i="1">
                <a:solidFill>
                  <a:srgbClr val="16223A"/>
                </a:solidFill>
                <a:latin typeface="Cambria"/>
                <a:cs typeface="Cambria"/>
              </a:rPr>
              <a:t xml:space="preserve">x</a:t>
            </a:r>
            <a:r>
              <a:rPr lang="en-US" sz="1950" dirty="0">
                <a:solidFill>
                  <a:srgbClr val="16223A"/>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223A"/>
                </a:solidFill>
                <a:latin typeface="Calibri"/>
                <a:cs typeface="Calibri"/>
              </a:rPr>
              <a:t xml:space="preserve">━━ Pool C</a:t>
            </a:r>
            <a:r>
              <a:rPr lang="en-US" sz="1950" dirty="0">
                <a:solidFill>
                  <a:srgbClr val="16223A"/>
                </a:solidFill>
                <a:latin typeface="Calibri"/>
                <a:cs typeface="Calibri"/>
              </a:rPr>
              <a:t xml:space="preserve"> </a:t>
            </a:r>
            <a:r>
              <a:rPr lang="en-US" sz="1950" dirty="0" i="1">
                <a:solidFill>
                  <a:srgbClr val="16223A"/>
                </a:solidFill>
                <a:latin typeface="Cambria"/>
                <a:cs typeface="Cambria"/>
              </a:rPr>
              <a:t xml:space="preserve">y</a:t>
            </a:r>
            <a:r>
              <a:rPr lang="en-US" sz="1950" dirty="0">
                <a:solidFill>
                  <a:srgbClr val="16223A"/>
                </a:solidFill>
                <a:latin typeface="Cambria"/>
                <a:cs typeface="Cambria"/>
              </a:rPr>
              <a:t xml:space="preserve"> = −</a:t>
            </a:r>
            <a:r>
              <a:rPr lang="en-US" sz="1950" dirty="0">
                <a:solidFill>
                  <a:srgbClr val="16223A"/>
                </a:solidFill>
                <a:latin typeface="Cambria"/>
                <a:cs typeface="Cambria"/>
              </a:rPr>
              <a:t xml:space="preserve">3</a:t>
            </a:r>
            <a:r>
              <a:rPr lang="en-US" sz="1950" dirty="0">
                <a:solidFill>
                  <a:srgbClr val="16223A"/>
                </a:solidFill>
                <a:latin typeface="Cambria"/>
                <a:cs typeface="Cambria"/>
              </a:rPr>
              <a:t xml:space="preserve">/</a:t>
            </a:r>
            <a:r>
              <a:rPr lang="en-US" sz="1950" dirty="0">
                <a:solidFill>
                  <a:srgbClr val="16223A"/>
                </a:solidFill>
                <a:latin typeface="Cambria"/>
                <a:cs typeface="Cambria"/>
              </a:rPr>
              <a:t xml:space="preserve">2</a:t>
            </a:r>
            <a:r>
              <a:rPr lang="en-US" sz="1950" dirty="0" i="1">
                <a:solidFill>
                  <a:srgbClr val="16223A"/>
                </a:solidFill>
                <a:latin typeface="Cambria"/>
                <a:cs typeface="Cambria"/>
              </a:rPr>
              <a:t xml:space="preserve">x</a:t>
            </a:r>
            <a:r>
              <a:rPr lang="en-US" sz="1950" dirty="0">
                <a:solidFill>
                  <a:srgbClr val="16223A"/>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223A"/>
                </a:solidFill>
                <a:latin typeface="Calibri"/>
                <a:cs typeface="Calibri"/>
              </a:rPr>
              <a:t xml:space="preserve">Where each line starts</a:t>
            </a:r>
            <a:r>
              <a:rPr lang="en-US" sz="1575" dirty="0">
                <a:solidFill>
                  <a:srgbClr val="16223A"/>
                </a:solidFill>
                <a:latin typeface="Calibri"/>
                <a:cs typeface="Calibri"/>
              </a:rPr>
              <a:t xml:space="preserve"> is </a:t>
            </a:r>
            <a:r>
              <a:rPr lang="en-US" sz="1575" dirty="0" i="1">
                <a:solidFill>
                  <a:srgbClr val="16223A"/>
                </a:solidFill>
                <a:latin typeface="Calibri"/>
                <a:cs typeface="Calibri"/>
              </a:rPr>
              <a:t xml:space="preserve">b</a:t>
            </a:r>
            <a:r>
              <a:rPr lang="en-US" sz="1575" dirty="0">
                <a:solidFill>
                  <a:srgbClr val="16223A"/>
                </a:solidFill>
                <a:latin typeface="Calibri"/>
                <a:cs typeface="Calibr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223A"/>
                </a:solidFill>
                <a:latin typeface="Calibri"/>
                <a:cs typeface="Calibri"/>
              </a:rPr>
              <a:t xml:space="preserve">The steepest line</a:t>
            </a:r>
            <a:r>
              <a:rPr lang="en-US" sz="1575" dirty="0">
                <a:solidFill>
                  <a:srgbClr val="16223A"/>
                </a:solidFill>
                <a:latin typeface="Calibri"/>
                <a:cs typeface="Calibr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223A"/>
                </a:solidFill>
                <a:latin typeface="Calibri"/>
                <a:cs typeface="Calibri"/>
              </a:rPr>
              <a:t xml:space="preserve">Where each line hits 0</a:t>
            </a:r>
            <a:r>
              <a:rPr lang="en-US" sz="1575" dirty="0">
                <a:solidFill>
                  <a:srgbClr val="16223A"/>
                </a:solidFill>
                <a:latin typeface="Calibri"/>
                <a:cs typeface="Calibr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Slope </a:t>
            </a:r>
            <a:r>
              <a:rPr lang="en-US" sz="1575" dirty="0" b="1">
                <a:solidFill>
                  <a:srgbClr val="16223A"/>
                </a:solidFill>
                <a:latin typeface="Calibri"/>
                <a:cs typeface="Calibri"/>
              </a:rPr>
              <a:t xml:space="preserve">and</a:t>
            </a:r>
            <a:r>
              <a:rPr lang="en-US" sz="1575" dirty="0">
                <a:solidFill>
                  <a:srgbClr val="16223A"/>
                </a:solidFill>
                <a:latin typeface="Calibri"/>
                <a:cs typeface="Calibri"/>
              </a:rPr>
              <a:t xml:space="preserve"> </a:t>
            </a:r>
            <a:r>
              <a:rPr lang="en-US" sz="1575" dirty="0" i="1">
                <a:solidFill>
                  <a:srgbClr val="16223A"/>
                </a:solidFill>
                <a:latin typeface="Calibri"/>
                <a:cs typeface="Calibri"/>
              </a:rPr>
              <a:t xml:space="preserve">y</a:t>
            </a:r>
            <a:r>
              <a:rPr lang="en-US" sz="1575" dirty="0">
                <a:solidFill>
                  <a:srgbClr val="16223A"/>
                </a:solidFill>
                <a:latin typeface="Calibri"/>
                <a:cs typeface="Calibr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Had to calculate </a:t>
            </a:r>
            <a:r>
              <a:rPr lang="en-US" sz="1575" dirty="0" i="1">
                <a:solidFill>
                  <a:srgbClr val="56647D"/>
                </a:solidFill>
                <a:latin typeface="Calibri"/>
                <a:cs typeface="Calibri"/>
              </a:rPr>
              <a:t xml:space="preserve">b</a:t>
            </a:r>
            <a:r>
              <a:rPr lang="en-US" sz="1575" dirty="0">
                <a:solidFill>
                  <a:srgbClr val="56647D"/>
                </a:solidFill>
                <a:latin typeface="Calibri"/>
                <a:cs typeface="Calibr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Had to calculate </a:t>
            </a:r>
            <a:r>
              <a:rPr lang="en-US" sz="1575" dirty="0" i="1">
                <a:solidFill>
                  <a:srgbClr val="56647D"/>
                </a:solidFill>
                <a:latin typeface="Calibri"/>
                <a:cs typeface="Calibri"/>
              </a:rPr>
              <a:t xml:space="preserve">m</a:t>
            </a:r>
            <a:r>
              <a:rPr lang="en-US" sz="1575" dirty="0">
                <a:solidFill>
                  <a:srgbClr val="56647D"/>
                </a:solidFill>
                <a:latin typeface="Calibri"/>
                <a:cs typeface="Calibri"/>
              </a:rPr>
              <a:t xml:space="preserve"> </a:t>
            </a:r>
            <a:r>
              <a:rPr lang="en-US" sz="1575" dirty="0" b="1">
                <a:solidFill>
                  <a:srgbClr val="56647D"/>
                </a:solidFill>
                <a:latin typeface="Calibri"/>
                <a:cs typeface="Calibri"/>
              </a:rPr>
              <a:t xml:space="preserve">and</a:t>
            </a:r>
            <a:r>
              <a:rPr lang="en-US" sz="1575" dirty="0">
                <a:solidFill>
                  <a:srgbClr val="56647D"/>
                </a:solidFill>
                <a:latin typeface="Calibri"/>
                <a:cs typeface="Calibri"/>
              </a:rPr>
              <a:t xml:space="preserve"> </a:t>
            </a:r>
            <a:r>
              <a:rPr lang="en-US" sz="1575" dirty="0" i="1">
                <a:solidFill>
                  <a:srgbClr val="56647D"/>
                </a:solidFill>
                <a:latin typeface="Calibri"/>
                <a:cs typeface="Calibri"/>
              </a:rPr>
              <a:t xml:space="preserve">b</a:t>
            </a:r>
            <a:r>
              <a:rPr lang="en-US" sz="1575" dirty="0">
                <a:solidFill>
                  <a:srgbClr val="56647D"/>
                </a:solidFill>
                <a:latin typeface="Calibri"/>
                <a:cs typeface="Calibr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1D64C4"/>
            </a:solidFill>
            <a:prstDash val="dash"/>
          </a:ln>
        </p:spPr>
        <p:txBody>
          <a:bodyPr wrap="square" lIns="228600" tIns="109728" rIns="228600" bIns="109728" anchor="ctr">
            <a:noAutofit/>
          </a:bodyPr>
          <a:lstStyle/>
          <a:p>
            <a:pPr algn="l">
              <a:lnSpc>
                <a:spcPct val="100000"/>
              </a:lnSpc>
            </a:pPr>
            <a:r>
              <a:rPr lang="en-US" sz="1875" dirty="0">
                <a:solidFill>
                  <a:srgbClr val="16223A"/>
                </a:solidFill>
                <a:latin typeface="Calibri"/>
                <a:cs typeface="Calibr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223A"/>
                </a:solidFill>
                <a:latin typeface="Calibri"/>
                <a:cs typeface="Calibri"/>
              </a:rPr>
              <a:t xml:space="preserve">There is. You don't always need the </a:t>
            </a:r>
            <a:r>
              <a:rPr lang="en-US" sz="2400" dirty="0" i="1">
                <a:solidFill>
                  <a:srgbClr val="16223A"/>
                </a:solidFill>
                <a:latin typeface="Calibri"/>
                <a:cs typeface="Calibri"/>
              </a:rPr>
              <a:t xml:space="preserve">y</a:t>
            </a:r>
            <a:r>
              <a:rPr lang="en-US" sz="2400" dirty="0">
                <a:solidFill>
                  <a:srgbClr val="16223A"/>
                </a:solidFill>
                <a:latin typeface="Calibri"/>
                <a:cs typeface="Calibri"/>
              </a:rPr>
              <a:t xml:space="preserve">-intercept. Meet </a:t>
            </a:r>
            <a:r>
              <a:rPr lang="en-US" sz="2400" dirty="0" b="1">
                <a:solidFill>
                  <a:srgbClr val="16223A"/>
                </a:solidFill>
                <a:latin typeface="Calibri"/>
                <a:cs typeface="Calibri"/>
              </a:rPr>
              <a:t xml:space="preserve">point-slope form</a:t>
            </a:r>
            <a:r>
              <a:rPr lang="en-US" sz="2400" dirty="0">
                <a:solidFill>
                  <a:srgbClr val="16223A"/>
                </a:solidFill>
                <a:latin typeface="Calibri"/>
                <a:cs typeface="Calibr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Activity 4.1 · Worked Example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DFE7F1"/>
          </a:solidFill>
          <a:ln w="12700">
            <a:solidFill>
              <a:srgbClr val="CDD8E6"/>
            </a:solidFill>
          </a:ln>
        </p:spPr>
        <p:txBody>
          <a:bodyPr wrap="square" lIns="109728" tIns="45720" rIns="109728" bIns="45720" anchor="ctr">
            <a:noAutofit/>
          </a:bodyPr>
          <a:lstStyle/>
          <a:p>
            <a:pPr algn="ctr">
              <a:lnSpc>
                <a:spcPct val="100000"/>
              </a:lnSpc>
            </a:pPr>
            <a:r>
              <a:rPr lang="en-US" sz="2250" dirty="0" i="1">
                <a:solidFill>
                  <a:srgbClr val="16223A"/>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DFE7F1"/>
          </a:solidFill>
          <a:ln w="12700">
            <a:solidFill>
              <a:srgbClr val="CDD8E6"/>
            </a:solidFill>
          </a:ln>
        </p:spPr>
        <p:txBody>
          <a:bodyPr wrap="square" lIns="109728" tIns="45720" rIns="109728" bIns="45720" anchor="ctr">
            <a:noAutofit/>
          </a:bodyPr>
          <a:lstStyle/>
          <a:p>
            <a:pPr algn="ctr">
              <a:lnSpc>
                <a:spcPct val="100000"/>
              </a:lnSpc>
            </a:pPr>
            <a:r>
              <a:rPr lang="en-US" sz="2250" dirty="0" i="1">
                <a:solidFill>
                  <a:srgbClr val="16223A"/>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223A"/>
                </a:solidFill>
                <a:latin typeface="Calibri"/>
                <a:cs typeface="Calibri"/>
              </a:rPr>
              <a:t xml:space="preserve">First,</a:t>
            </a:r>
            <a:r>
              <a:rPr lang="en-US" sz="1575" dirty="0">
                <a:solidFill>
                  <a:srgbClr val="16223A"/>
                </a:solidFill>
                <a:latin typeface="Calibri"/>
                <a:cs typeface="Calibr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a:t>
            </a:r>
            <a:r>
              <a:rPr lang="en-US" sz="2325" dirty="0" i="1">
                <a:solidFill>
                  <a:srgbClr val="16223A"/>
                </a:solidFill>
                <a:latin typeface="Cambria"/>
                <a:cs typeface="Cambria"/>
              </a:rPr>
              <a:t xml:space="preserve">y</a:t>
            </a:r>
            <a:r>
              <a:rPr lang="en-US" sz="1976" dirty="0" baseline="-25000">
                <a:solidFill>
                  <a:srgbClr val="16223A"/>
                </a:solidFill>
                <a:latin typeface="Cambria"/>
                <a:cs typeface="Cambria"/>
              </a:rPr>
              <a:t xml:space="preserve">2</a:t>
            </a:r>
            <a:r>
              <a:rPr lang="en-US" sz="2325" dirty="0">
                <a:solidFill>
                  <a:srgbClr val="16223A"/>
                </a:solidFill>
                <a:latin typeface="Cambria"/>
                <a:cs typeface="Cambria"/>
              </a:rPr>
              <a:t xml:space="preserve"> − </a:t>
            </a:r>
            <a:r>
              <a:rPr lang="en-US" sz="2325" dirty="0" i="1">
                <a:solidFill>
                  <a:srgbClr val="16223A"/>
                </a:solidFill>
                <a:latin typeface="Cambria"/>
                <a:cs typeface="Cambria"/>
              </a:rPr>
              <a:t xml:space="preserve">y</a:t>
            </a:r>
            <a:r>
              <a:rPr lang="en-US" sz="1976" dirty="0" baseline="-25000">
                <a:solidFill>
                  <a:srgbClr val="16223A"/>
                </a:solidFill>
                <a:latin typeface="Cambria"/>
                <a:cs typeface="Cambria"/>
              </a:rPr>
              <a:t xml:space="preserve">1</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a:t>
            </a:r>
            <a:r>
              <a:rPr lang="en-US" sz="2325" dirty="0" i="1">
                <a:solidFill>
                  <a:srgbClr val="16223A"/>
                </a:solidFill>
                <a:latin typeface="Cambria"/>
                <a:cs typeface="Cambria"/>
              </a:rPr>
              <a:t xml:space="preserve">x</a:t>
            </a:r>
            <a:r>
              <a:rPr lang="en-US" sz="1976" dirty="0" baseline="-25000">
                <a:solidFill>
                  <a:srgbClr val="16223A"/>
                </a:solidFill>
                <a:latin typeface="Cambria"/>
                <a:cs typeface="Cambria"/>
              </a:rPr>
              <a:t xml:space="preserve">2</a:t>
            </a:r>
            <a:r>
              <a:rPr lang="en-US" sz="2325" dirty="0">
                <a:solidFill>
                  <a:srgbClr val="16223A"/>
                </a:solidFill>
                <a:latin typeface="Cambria"/>
                <a:cs typeface="Cambria"/>
              </a:rPr>
              <a:t xml:space="preserve"> − </a:t>
            </a:r>
            <a:r>
              <a:rPr lang="en-US" sz="2325" dirty="0" i="1">
                <a:solidFill>
                  <a:srgbClr val="16223A"/>
                </a:solidFill>
                <a:latin typeface="Cambria"/>
                <a:cs typeface="Cambria"/>
              </a:rPr>
              <a:t xml:space="preserve">x</a:t>
            </a:r>
            <a:r>
              <a:rPr lang="en-US" sz="1976" dirty="0" baseline="-25000">
                <a:solidFill>
                  <a:srgbClr val="16223A"/>
                </a:solidFill>
                <a:latin typeface="Cambria"/>
                <a:cs typeface="Cambria"/>
              </a:rPr>
              <a:t xml:space="preserve">1</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5 − 6</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4 − 2</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223A"/>
                </a:solidFill>
                <a:latin typeface="Calibri"/>
                <a:cs typeface="Calibri"/>
              </a:rPr>
              <a:t xml:space="preserve">Next,</a:t>
            </a:r>
            <a:r>
              <a:rPr lang="en-US" sz="1575" dirty="0">
                <a:solidFill>
                  <a:srgbClr val="16223A"/>
                </a:solidFill>
                <a:latin typeface="Calibri"/>
                <a:cs typeface="Calibri"/>
              </a:rPr>
              <a:t xml:space="preserve"> choose any point from the table: </a:t>
            </a:r>
            <a:r>
              <a:rPr lang="en-US" sz="2325" dirty="0" b="1">
                <a:solidFill>
                  <a:srgbClr val="1D64C4"/>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223A"/>
                </a:solidFill>
                <a:latin typeface="Calibri"/>
                <a:cs typeface="Calibri"/>
              </a:rPr>
              <a:t xml:space="preserve">Then,</a:t>
            </a:r>
            <a:r>
              <a:rPr lang="en-US" sz="1575" dirty="0">
                <a:solidFill>
                  <a:srgbClr val="16223A"/>
                </a:solidFill>
                <a:latin typeface="Calibri"/>
                <a:cs typeface="Calibri"/>
              </a:rPr>
              <a:t xml:space="preserve"> substitute the slope, (2, 6), and an unknown point (</a:t>
            </a:r>
            <a:r>
              <a:rPr lang="en-US" sz="1575" dirty="0" i="1">
                <a:solidFill>
                  <a:srgbClr val="16223A"/>
                </a:solidFill>
                <a:latin typeface="Calibri"/>
                <a:cs typeface="Calibri"/>
              </a:rPr>
              <a:t xml:space="preserve">x</a:t>
            </a:r>
            <a:r>
              <a:rPr lang="en-US" sz="1575" dirty="0">
                <a:solidFill>
                  <a:srgbClr val="16223A"/>
                </a:solidFill>
                <a:latin typeface="Calibri"/>
                <a:cs typeface="Calibri"/>
              </a:rPr>
              <a:t xml:space="preserve">, </a:t>
            </a:r>
            <a:r>
              <a:rPr lang="en-US" sz="1575" dirty="0" i="1">
                <a:solidFill>
                  <a:srgbClr val="16223A"/>
                </a:solidFill>
                <a:latin typeface="Calibri"/>
                <a:cs typeface="Calibri"/>
              </a:rPr>
              <a:t xml:space="preserve">y</a:t>
            </a:r>
            <a:r>
              <a:rPr lang="en-US" sz="1575" dirty="0">
                <a:solidFill>
                  <a:srgbClr val="16223A"/>
                </a:solidFill>
                <a:latin typeface="Calibri"/>
                <a:cs typeface="Calibr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b="1">
                <a:solidFill>
                  <a:srgbClr val="1D64C4"/>
                </a:solidFill>
                <a:latin typeface="Cambria"/>
                <a:cs typeface="Cambria"/>
              </a:rPr>
              <a:t xml:space="preserve">6</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a:t>
            </a:r>
            <a:r>
              <a:rPr lang="en-US" sz="2325" dirty="0" b="1">
                <a:solidFill>
                  <a:srgbClr val="1D64C4"/>
                </a:solidFill>
                <a:latin typeface="Cambria"/>
                <a:cs typeface="Cambria"/>
              </a:rPr>
              <a:t xml:space="preserve">2</a:t>
            </a:r>
            <a:r>
              <a:rPr lang="en-US" sz="2325" dirty="0">
                <a:solidFill>
                  <a:srgbClr val="16223A"/>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223A"/>
                </a:solidFill>
                <a:latin typeface="Calibri"/>
                <a:cs typeface="Calibri"/>
              </a:rPr>
              <a:t xml:space="preserve">Finally,</a:t>
            </a:r>
            <a:r>
              <a:rPr lang="en-US" sz="1575" dirty="0">
                <a:solidFill>
                  <a:srgbClr val="16223A"/>
                </a:solidFill>
                <a:latin typeface="Calibri"/>
                <a:cs typeface="Calibri"/>
              </a:rPr>
              <a:t xml:space="preserve"> multiply both sides by (</a:t>
            </a:r>
            <a:r>
              <a:rPr lang="en-US" sz="1575" dirty="0" i="1">
                <a:solidFill>
                  <a:srgbClr val="16223A"/>
                </a:solidFill>
                <a:latin typeface="Calibri"/>
                <a:cs typeface="Calibri"/>
              </a:rPr>
              <a:t xml:space="preserve">x</a:t>
            </a:r>
            <a:r>
              <a:rPr lang="en-US" sz="1575" dirty="0">
                <a:solidFill>
                  <a:srgbClr val="16223A"/>
                </a:solidFill>
                <a:latin typeface="Calibri"/>
                <a:cs typeface="Calibr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b="1">
                <a:solidFill>
                  <a:srgbClr val="1D64C4"/>
                </a:solidFill>
                <a:latin typeface="Cambria"/>
                <a:cs typeface="Cambria"/>
              </a:rPr>
              <a:t xml:space="preserve">6</a:t>
            </a:r>
            <a:r>
              <a:rPr lang="en-US" sz="2325" dirty="0">
                <a:solidFill>
                  <a:srgbClr val="16223A"/>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223A"/>
                </a:solidFill>
                <a:latin typeface="Cambria"/>
                <a:cs typeface="Cambria"/>
              </a:rPr>
              <a:t xml:space="preserve">(</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a:t>
            </a:r>
            <a:r>
              <a:rPr lang="en-US" sz="2325" dirty="0" b="1">
                <a:solidFill>
                  <a:srgbClr val="1D64C4"/>
                </a:solidFill>
                <a:latin typeface="Cambria"/>
                <a:cs typeface="Cambria"/>
              </a:rPr>
              <a:t xml:space="preserve">2</a:t>
            </a:r>
            <a:r>
              <a:rPr lang="en-US" sz="2325" dirty="0">
                <a:solidFill>
                  <a:srgbClr val="16223A"/>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Key Term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223A"/>
                </a:solidFill>
                <a:latin typeface="Cambria"/>
                <a:cs typeface="Cambria"/>
              </a:rPr>
              <a:t xml:space="preserve">y</a:t>
            </a:r>
            <a:r>
              <a:rPr lang="en-US" sz="4500" dirty="0">
                <a:solidFill>
                  <a:srgbClr val="16223A"/>
                </a:solidFill>
                <a:latin typeface="Cambria"/>
                <a:cs typeface="Cambria"/>
              </a:rPr>
              <a:t xml:space="preserve"> − </a:t>
            </a:r>
            <a:r>
              <a:rPr lang="en-US" sz="4500" dirty="0" b="1" i="1">
                <a:solidFill>
                  <a:srgbClr val="1D64C4"/>
                </a:solidFill>
                <a:latin typeface="Cambria"/>
                <a:cs typeface="Cambria"/>
              </a:rPr>
              <a:t xml:space="preserve">y</a:t>
            </a:r>
            <a:r>
              <a:rPr lang="en-US" sz="3825" dirty="0" b="1" baseline="-25000">
                <a:solidFill>
                  <a:srgbClr val="1D64C4"/>
                </a:solidFill>
                <a:latin typeface="Cambria"/>
                <a:cs typeface="Cambria"/>
              </a:rPr>
              <a:t xml:space="preserve">1</a:t>
            </a:r>
            <a:r>
              <a:rPr lang="en-US" sz="4500" dirty="0">
                <a:solidFill>
                  <a:srgbClr val="16223A"/>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223A"/>
                </a:solidFill>
                <a:latin typeface="Cambria"/>
                <a:cs typeface="Cambria"/>
              </a:rPr>
              <a:t xml:space="preserve">(</a:t>
            </a:r>
            <a:r>
              <a:rPr lang="en-US" sz="4500" dirty="0" i="1">
                <a:solidFill>
                  <a:srgbClr val="16223A"/>
                </a:solidFill>
                <a:latin typeface="Cambria"/>
                <a:cs typeface="Cambria"/>
              </a:rPr>
              <a:t xml:space="preserve">x</a:t>
            </a:r>
            <a:r>
              <a:rPr lang="en-US" sz="4500" dirty="0">
                <a:solidFill>
                  <a:srgbClr val="16223A"/>
                </a:solidFill>
                <a:latin typeface="Cambria"/>
                <a:cs typeface="Cambria"/>
              </a:rPr>
              <a:t xml:space="preserve"> − </a:t>
            </a:r>
            <a:r>
              <a:rPr lang="en-US" sz="4500" dirty="0" b="1" i="1">
                <a:solidFill>
                  <a:srgbClr val="1D64C4"/>
                </a:solidFill>
                <a:latin typeface="Cambria"/>
                <a:cs typeface="Cambria"/>
              </a:rPr>
              <a:t xml:space="preserve">x</a:t>
            </a:r>
            <a:r>
              <a:rPr lang="en-US" sz="3825" dirty="0" b="1" baseline="-25000">
                <a:solidFill>
                  <a:srgbClr val="1D64C4"/>
                </a:solidFill>
                <a:latin typeface="Cambria"/>
                <a:cs typeface="Cambria"/>
              </a:rPr>
              <a:t xml:space="preserve">1</a:t>
            </a:r>
            <a:r>
              <a:rPr lang="en-US" sz="4500" dirty="0">
                <a:solidFill>
                  <a:srgbClr val="16223A"/>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223A"/>
                </a:solidFill>
                <a:latin typeface="Calibri"/>
                <a:cs typeface="Calibri"/>
              </a:rPr>
              <a:t xml:space="preserve"> is the </a:t>
            </a:r>
            <a:r>
              <a:rPr lang="en-US" sz="1950" dirty="0" b="1">
                <a:solidFill>
                  <a:srgbClr val="16223A"/>
                </a:solidFill>
                <a:latin typeface="Calibri"/>
                <a:cs typeface="Calibri"/>
              </a:rPr>
              <a:t xml:space="preserve">slope</a:t>
            </a:r>
            <a:r>
              <a:rPr lang="en-US" sz="1950" dirty="0">
                <a:solidFill>
                  <a:srgbClr val="16223A"/>
                </a:solidFill>
                <a:latin typeface="Calibri"/>
                <a:cs typeface="Calibr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D64C4"/>
                </a:solidFill>
                <a:latin typeface="Cambria"/>
                <a:cs typeface="Cambria"/>
              </a:rPr>
              <a:t xml:space="preserve">(</a:t>
            </a:r>
            <a:r>
              <a:rPr lang="en-US" sz="2325" dirty="0" b="1" i="1">
                <a:solidFill>
                  <a:srgbClr val="1D64C4"/>
                </a:solidFill>
                <a:latin typeface="Cambria"/>
                <a:cs typeface="Cambria"/>
              </a:rPr>
              <a:t xml:space="preserve">x</a:t>
            </a:r>
            <a:r>
              <a:rPr lang="en-US" sz="1976" dirty="0" b="1" baseline="-25000">
                <a:solidFill>
                  <a:srgbClr val="1D64C4"/>
                </a:solidFill>
                <a:latin typeface="Cambria"/>
                <a:cs typeface="Cambria"/>
              </a:rPr>
              <a:t xml:space="preserve">1</a:t>
            </a:r>
            <a:r>
              <a:rPr lang="en-US" sz="2325" dirty="0" b="1">
                <a:solidFill>
                  <a:srgbClr val="1D64C4"/>
                </a:solidFill>
                <a:latin typeface="Cambria"/>
                <a:cs typeface="Cambria"/>
              </a:rPr>
              <a:t xml:space="preserve">, </a:t>
            </a:r>
            <a:r>
              <a:rPr lang="en-US" sz="2325" dirty="0" b="1" i="1">
                <a:solidFill>
                  <a:srgbClr val="1D64C4"/>
                </a:solidFill>
                <a:latin typeface="Cambria"/>
                <a:cs typeface="Cambria"/>
              </a:rPr>
              <a:t xml:space="preserve">y</a:t>
            </a:r>
            <a:r>
              <a:rPr lang="en-US" sz="1976" dirty="0" b="1" baseline="-25000">
                <a:solidFill>
                  <a:srgbClr val="1D64C4"/>
                </a:solidFill>
                <a:latin typeface="Cambria"/>
                <a:cs typeface="Cambria"/>
              </a:rPr>
              <a:t xml:space="preserve">1</a:t>
            </a:r>
            <a:r>
              <a:rPr lang="en-US" sz="2325" dirty="0" b="1">
                <a:solidFill>
                  <a:srgbClr val="1D64C4"/>
                </a:solidFill>
                <a:latin typeface="Cambria"/>
                <a:cs typeface="Cambria"/>
              </a:rPr>
              <a:t xml:space="preserve">)</a:t>
            </a:r>
            <a:r>
              <a:rPr lang="en-US" sz="1950" dirty="0">
                <a:solidFill>
                  <a:srgbClr val="16223A"/>
                </a:solidFill>
                <a:latin typeface="Calibri"/>
                <a:cs typeface="Calibri"/>
              </a:rPr>
              <a:t xml:space="preserve"> is </a:t>
            </a:r>
            <a:r>
              <a:rPr lang="en-US" sz="1950" dirty="0" b="1">
                <a:solidFill>
                  <a:srgbClr val="16223A"/>
                </a:solidFill>
                <a:latin typeface="Calibri"/>
                <a:cs typeface="Calibri"/>
              </a:rPr>
              <a:t xml:space="preserve">any point</a:t>
            </a:r>
            <a:r>
              <a:rPr lang="en-US" sz="1950" dirty="0">
                <a:solidFill>
                  <a:srgbClr val="16223A"/>
                </a:solidFill>
                <a:latin typeface="Calibri"/>
                <a:cs typeface="Calibri"/>
              </a:rPr>
              <a:t xml:space="preserve"> on the line. It does not have to be the </a:t>
            </a:r>
            <a:r>
              <a:rPr lang="en-US" sz="1950" dirty="0" i="1">
                <a:solidFill>
                  <a:srgbClr val="16223A"/>
                </a:solidFill>
                <a:latin typeface="Calibri"/>
                <a:cs typeface="Calibri"/>
              </a:rPr>
              <a:t xml:space="preserve">y</a:t>
            </a:r>
            <a:r>
              <a:rPr lang="en-US" sz="1950" dirty="0">
                <a:solidFill>
                  <a:srgbClr val="16223A"/>
                </a:solidFill>
                <a:latin typeface="Calibri"/>
                <a:cs typeface="Calibr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223A"/>
                </a:solidFill>
                <a:latin typeface="Calibri"/>
                <a:cs typeface="Calibri"/>
              </a:rPr>
              <a:t xml:space="preserve">Example:</a:t>
            </a:r>
            <a:r>
              <a:rPr lang="en-US" sz="1950" dirty="0">
                <a:solidFill>
                  <a:srgbClr val="16223A"/>
                </a:solidFill>
                <a:latin typeface="Calibri"/>
                <a:cs typeface="Calibri"/>
              </a:rPr>
              <a:t xml:space="preserve"> slope </a:t>
            </a:r>
            <a:r>
              <a:rPr lang="en-US" sz="1950" dirty="0" b="1">
                <a:solidFill>
                  <a:srgbClr val="C9561F"/>
                </a:solidFill>
                <a:latin typeface="Cambria"/>
                <a:cs typeface="Cambria"/>
              </a:rPr>
              <a:t xml:space="preserve">3</a:t>
            </a:r>
            <a:r>
              <a:rPr lang="en-US" sz="1950" dirty="0">
                <a:solidFill>
                  <a:srgbClr val="16223A"/>
                </a:solidFill>
                <a:latin typeface="Calibri"/>
                <a:cs typeface="Calibri"/>
              </a:rPr>
              <a:t xml:space="preserve"> and point </a:t>
            </a:r>
            <a:r>
              <a:rPr lang="en-US" sz="1950" dirty="0" b="1">
                <a:solidFill>
                  <a:srgbClr val="1D64C4"/>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4</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1</a:t>
            </a:r>
            <a:r>
              <a:rPr lang="en-US" sz="2850" dirty="0">
                <a:solidFill>
                  <a:srgbClr val="16223A"/>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DFE7F1"/>
            </a:solidFill>
          </a:ln>
        </p:spPr>
      </p:cxnSp>
      <p:cxnSp>
        <p:nvCxnSpPr>
          <p:cNvPr id="12" name="Line 12"/>
          <p:cNvCxnSpPr/>
          <p:nvPr/>
        </p:nvCxnSpPr>
        <p:spPr>
          <a:xfrm>
            <a:off x="8899220" y="1732788"/>
            <a:ext cx="0" cy="3448050"/>
          </a:xfrm>
          <a:prstGeom prst="line">
            <a:avLst/>
          </a:prstGeom>
          <a:ln w="9525" cap="flat">
            <a:solidFill>
              <a:srgbClr val="DFE7F1"/>
            </a:solidFill>
          </a:ln>
        </p:spPr>
      </p:cxnSp>
      <p:cxnSp>
        <p:nvCxnSpPr>
          <p:cNvPr id="13" name="Line 13"/>
          <p:cNvCxnSpPr/>
          <p:nvPr/>
        </p:nvCxnSpPr>
        <p:spPr>
          <a:xfrm>
            <a:off x="9397695" y="1732788"/>
            <a:ext cx="0" cy="3448050"/>
          </a:xfrm>
          <a:prstGeom prst="line">
            <a:avLst/>
          </a:prstGeom>
          <a:ln w="9525" cap="flat">
            <a:solidFill>
              <a:srgbClr val="DFE7F1"/>
            </a:solidFill>
          </a:ln>
        </p:spPr>
      </p:cxnSp>
      <p:cxnSp>
        <p:nvCxnSpPr>
          <p:cNvPr id="14" name="Line 14"/>
          <p:cNvCxnSpPr/>
          <p:nvPr/>
        </p:nvCxnSpPr>
        <p:spPr>
          <a:xfrm>
            <a:off x="9896170" y="1732788"/>
            <a:ext cx="0" cy="3448050"/>
          </a:xfrm>
          <a:prstGeom prst="line">
            <a:avLst/>
          </a:prstGeom>
          <a:ln w="9525" cap="flat">
            <a:solidFill>
              <a:srgbClr val="DFE7F1"/>
            </a:solidFill>
          </a:ln>
        </p:spPr>
      </p:cxnSp>
      <p:cxnSp>
        <p:nvCxnSpPr>
          <p:cNvPr id="15" name="Line 15"/>
          <p:cNvCxnSpPr/>
          <p:nvPr/>
        </p:nvCxnSpPr>
        <p:spPr>
          <a:xfrm>
            <a:off x="10394645" y="1732788"/>
            <a:ext cx="0" cy="3448050"/>
          </a:xfrm>
          <a:prstGeom prst="line">
            <a:avLst/>
          </a:prstGeom>
          <a:ln w="9525" cap="flat">
            <a:solidFill>
              <a:srgbClr val="DFE7F1"/>
            </a:solidFill>
          </a:ln>
        </p:spPr>
      </p:cxnSp>
      <p:cxnSp>
        <p:nvCxnSpPr>
          <p:cNvPr id="16" name="Line 16"/>
          <p:cNvCxnSpPr/>
          <p:nvPr/>
        </p:nvCxnSpPr>
        <p:spPr>
          <a:xfrm>
            <a:off x="10893120" y="1732788"/>
            <a:ext cx="0" cy="3448050"/>
          </a:xfrm>
          <a:prstGeom prst="line">
            <a:avLst/>
          </a:prstGeom>
          <a:ln w="9525" cap="flat">
            <a:solidFill>
              <a:srgbClr val="DFE7F1"/>
            </a:solidFill>
          </a:ln>
        </p:spPr>
      </p:cxnSp>
      <p:cxnSp>
        <p:nvCxnSpPr>
          <p:cNvPr id="17" name="Line 17"/>
          <p:cNvCxnSpPr/>
          <p:nvPr/>
        </p:nvCxnSpPr>
        <p:spPr>
          <a:xfrm>
            <a:off x="11391595" y="1732788"/>
            <a:ext cx="0" cy="3448050"/>
          </a:xfrm>
          <a:prstGeom prst="line">
            <a:avLst/>
          </a:prstGeom>
          <a:ln w="9525" cap="flat">
            <a:solidFill>
              <a:srgbClr val="DFE7F1"/>
            </a:solidFill>
          </a:ln>
        </p:spPr>
      </p:cxnSp>
      <p:cxnSp>
        <p:nvCxnSpPr>
          <p:cNvPr id="18" name="Line 18"/>
          <p:cNvCxnSpPr/>
          <p:nvPr/>
        </p:nvCxnSpPr>
        <p:spPr>
          <a:xfrm>
            <a:off x="8400745" y="5180838"/>
            <a:ext cx="2990850" cy="0"/>
          </a:xfrm>
          <a:prstGeom prst="line">
            <a:avLst/>
          </a:prstGeom>
          <a:ln w="9525" cap="flat">
            <a:solidFill>
              <a:srgbClr val="DFE7F1"/>
            </a:solidFill>
          </a:ln>
        </p:spPr>
      </p:cxnSp>
      <p:cxnSp>
        <p:nvCxnSpPr>
          <p:cNvPr id="19" name="Line 19"/>
          <p:cNvCxnSpPr/>
          <p:nvPr/>
        </p:nvCxnSpPr>
        <p:spPr>
          <a:xfrm>
            <a:off x="8400745" y="4934549"/>
            <a:ext cx="2990850" cy="0"/>
          </a:xfrm>
          <a:prstGeom prst="line">
            <a:avLst/>
          </a:prstGeom>
          <a:ln w="9525" cap="flat">
            <a:solidFill>
              <a:srgbClr val="DFE7F1"/>
            </a:solidFill>
          </a:ln>
        </p:spPr>
      </p:cxnSp>
      <p:cxnSp>
        <p:nvCxnSpPr>
          <p:cNvPr id="20" name="Line 20"/>
          <p:cNvCxnSpPr/>
          <p:nvPr/>
        </p:nvCxnSpPr>
        <p:spPr>
          <a:xfrm>
            <a:off x="8400745" y="4688259"/>
            <a:ext cx="2990850" cy="0"/>
          </a:xfrm>
          <a:prstGeom prst="line">
            <a:avLst/>
          </a:prstGeom>
          <a:ln w="9525" cap="flat">
            <a:solidFill>
              <a:srgbClr val="DFE7F1"/>
            </a:solidFill>
          </a:ln>
        </p:spPr>
      </p:cxnSp>
      <p:cxnSp>
        <p:nvCxnSpPr>
          <p:cNvPr id="21" name="Line 21"/>
          <p:cNvCxnSpPr/>
          <p:nvPr/>
        </p:nvCxnSpPr>
        <p:spPr>
          <a:xfrm>
            <a:off x="8400745" y="4441970"/>
            <a:ext cx="2990850" cy="0"/>
          </a:xfrm>
          <a:prstGeom prst="line">
            <a:avLst/>
          </a:prstGeom>
          <a:ln w="9525" cap="flat">
            <a:solidFill>
              <a:srgbClr val="DFE7F1"/>
            </a:solidFill>
          </a:ln>
        </p:spPr>
      </p:cxnSp>
      <p:cxnSp>
        <p:nvCxnSpPr>
          <p:cNvPr id="22" name="Line 22"/>
          <p:cNvCxnSpPr/>
          <p:nvPr/>
        </p:nvCxnSpPr>
        <p:spPr>
          <a:xfrm>
            <a:off x="8400745" y="4195681"/>
            <a:ext cx="2990850" cy="0"/>
          </a:xfrm>
          <a:prstGeom prst="line">
            <a:avLst/>
          </a:prstGeom>
          <a:ln w="9525" cap="flat">
            <a:solidFill>
              <a:srgbClr val="DFE7F1"/>
            </a:solidFill>
          </a:ln>
        </p:spPr>
      </p:cxnSp>
      <p:cxnSp>
        <p:nvCxnSpPr>
          <p:cNvPr id="23" name="Line 23"/>
          <p:cNvCxnSpPr/>
          <p:nvPr/>
        </p:nvCxnSpPr>
        <p:spPr>
          <a:xfrm>
            <a:off x="8400745" y="3949392"/>
            <a:ext cx="2990850" cy="0"/>
          </a:xfrm>
          <a:prstGeom prst="line">
            <a:avLst/>
          </a:prstGeom>
          <a:ln w="9525" cap="flat">
            <a:solidFill>
              <a:srgbClr val="DFE7F1"/>
            </a:solidFill>
          </a:ln>
        </p:spPr>
      </p:cxnSp>
      <p:cxnSp>
        <p:nvCxnSpPr>
          <p:cNvPr id="24" name="Line 24"/>
          <p:cNvCxnSpPr/>
          <p:nvPr/>
        </p:nvCxnSpPr>
        <p:spPr>
          <a:xfrm>
            <a:off x="8400745" y="3703102"/>
            <a:ext cx="2990850" cy="0"/>
          </a:xfrm>
          <a:prstGeom prst="line">
            <a:avLst/>
          </a:prstGeom>
          <a:ln w="9525" cap="flat">
            <a:solidFill>
              <a:srgbClr val="DFE7F1"/>
            </a:solidFill>
          </a:ln>
        </p:spPr>
      </p:cxnSp>
      <p:cxnSp>
        <p:nvCxnSpPr>
          <p:cNvPr id="25" name="Line 25"/>
          <p:cNvCxnSpPr/>
          <p:nvPr/>
        </p:nvCxnSpPr>
        <p:spPr>
          <a:xfrm>
            <a:off x="8400745" y="3456813"/>
            <a:ext cx="2990850" cy="0"/>
          </a:xfrm>
          <a:prstGeom prst="line">
            <a:avLst/>
          </a:prstGeom>
          <a:ln w="9525" cap="flat">
            <a:solidFill>
              <a:srgbClr val="DFE7F1"/>
            </a:solidFill>
          </a:ln>
        </p:spPr>
      </p:cxnSp>
      <p:cxnSp>
        <p:nvCxnSpPr>
          <p:cNvPr id="26" name="Line 26"/>
          <p:cNvCxnSpPr/>
          <p:nvPr/>
        </p:nvCxnSpPr>
        <p:spPr>
          <a:xfrm>
            <a:off x="8400745" y="3210524"/>
            <a:ext cx="2990850" cy="0"/>
          </a:xfrm>
          <a:prstGeom prst="line">
            <a:avLst/>
          </a:prstGeom>
          <a:ln w="9525" cap="flat">
            <a:solidFill>
              <a:srgbClr val="DFE7F1"/>
            </a:solidFill>
          </a:ln>
        </p:spPr>
      </p:cxnSp>
      <p:cxnSp>
        <p:nvCxnSpPr>
          <p:cNvPr id="27" name="Line 27"/>
          <p:cNvCxnSpPr/>
          <p:nvPr/>
        </p:nvCxnSpPr>
        <p:spPr>
          <a:xfrm>
            <a:off x="8400745" y="2964234"/>
            <a:ext cx="2990850" cy="0"/>
          </a:xfrm>
          <a:prstGeom prst="line">
            <a:avLst/>
          </a:prstGeom>
          <a:ln w="9525" cap="flat">
            <a:solidFill>
              <a:srgbClr val="DFE7F1"/>
            </a:solidFill>
          </a:ln>
        </p:spPr>
      </p:cxnSp>
      <p:cxnSp>
        <p:nvCxnSpPr>
          <p:cNvPr id="28" name="Line 28"/>
          <p:cNvCxnSpPr/>
          <p:nvPr/>
        </p:nvCxnSpPr>
        <p:spPr>
          <a:xfrm>
            <a:off x="8400745" y="2717945"/>
            <a:ext cx="2990850" cy="0"/>
          </a:xfrm>
          <a:prstGeom prst="line">
            <a:avLst/>
          </a:prstGeom>
          <a:ln w="9525" cap="flat">
            <a:solidFill>
              <a:srgbClr val="DFE7F1"/>
            </a:solidFill>
          </a:ln>
        </p:spPr>
      </p:cxnSp>
      <p:cxnSp>
        <p:nvCxnSpPr>
          <p:cNvPr id="29" name="Line 29"/>
          <p:cNvCxnSpPr/>
          <p:nvPr/>
        </p:nvCxnSpPr>
        <p:spPr>
          <a:xfrm>
            <a:off x="8400745" y="2471656"/>
            <a:ext cx="2990850" cy="0"/>
          </a:xfrm>
          <a:prstGeom prst="line">
            <a:avLst/>
          </a:prstGeom>
          <a:ln w="9525" cap="flat">
            <a:solidFill>
              <a:srgbClr val="DFE7F1"/>
            </a:solidFill>
          </a:ln>
        </p:spPr>
      </p:cxnSp>
      <p:cxnSp>
        <p:nvCxnSpPr>
          <p:cNvPr id="30" name="Line 30"/>
          <p:cNvCxnSpPr/>
          <p:nvPr/>
        </p:nvCxnSpPr>
        <p:spPr>
          <a:xfrm>
            <a:off x="8400745" y="2225367"/>
            <a:ext cx="2990850" cy="0"/>
          </a:xfrm>
          <a:prstGeom prst="line">
            <a:avLst/>
          </a:prstGeom>
          <a:ln w="9525" cap="flat">
            <a:solidFill>
              <a:srgbClr val="DFE7F1"/>
            </a:solidFill>
          </a:ln>
        </p:spPr>
      </p:cxnSp>
      <p:cxnSp>
        <p:nvCxnSpPr>
          <p:cNvPr id="31" name="Line 31"/>
          <p:cNvCxnSpPr/>
          <p:nvPr/>
        </p:nvCxnSpPr>
        <p:spPr>
          <a:xfrm>
            <a:off x="8400745" y="1979077"/>
            <a:ext cx="2990850" cy="0"/>
          </a:xfrm>
          <a:prstGeom prst="line">
            <a:avLst/>
          </a:prstGeom>
          <a:ln w="9525" cap="flat">
            <a:solidFill>
              <a:srgbClr val="DFE7F1"/>
            </a:solidFill>
          </a:ln>
        </p:spPr>
      </p:cxnSp>
      <p:cxnSp>
        <p:nvCxnSpPr>
          <p:cNvPr id="32" name="Line 32"/>
          <p:cNvCxnSpPr/>
          <p:nvPr/>
        </p:nvCxnSpPr>
        <p:spPr>
          <a:xfrm>
            <a:off x="8400745" y="1732788"/>
            <a:ext cx="2990850" cy="0"/>
          </a:xfrm>
          <a:prstGeom prst="line">
            <a:avLst/>
          </a:prstGeom>
          <a:ln w="9525" cap="flat">
            <a:solidFill>
              <a:srgbClr val="DFE7F1"/>
            </a:solidFill>
          </a:ln>
        </p:spPr>
      </p:cxnSp>
      <p:cxnSp>
        <p:nvCxnSpPr>
          <p:cNvPr id="33" name="Line 33"/>
          <p:cNvCxnSpPr/>
          <p:nvPr/>
        </p:nvCxnSpPr>
        <p:spPr>
          <a:xfrm>
            <a:off x="9397695" y="1732788"/>
            <a:ext cx="0" cy="3448050"/>
          </a:xfrm>
          <a:prstGeom prst="line">
            <a:avLst/>
          </a:prstGeom>
          <a:ln w="19050" cap="flat">
            <a:solidFill>
              <a:srgbClr val="56647D"/>
            </a:solidFill>
          </a:ln>
        </p:spPr>
      </p:cxnSp>
      <p:cxnSp>
        <p:nvCxnSpPr>
          <p:cNvPr id="34" name="Line 34"/>
          <p:cNvCxnSpPr/>
          <p:nvPr/>
        </p:nvCxnSpPr>
        <p:spPr>
          <a:xfrm>
            <a:off x="8400745" y="4195681"/>
            <a:ext cx="2990850" cy="0"/>
          </a:xfrm>
          <a:prstGeom prst="line">
            <a:avLst/>
          </a:prstGeom>
          <a:ln w="19050" cap="flat">
            <a:solidFill>
              <a:srgbClr val="56647D"/>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223A"/>
            </a:solidFill>
          </a:ln>
        </p:spPr>
      </p:cxnSp>
      <p:sp>
        <p:nvSpPr>
          <p:cNvPr id="51" name="Shape 51"/>
          <p:cNvSpPr/>
          <p:nvPr/>
        </p:nvSpPr>
        <p:spPr>
          <a:xfrm>
            <a:off x="9843783" y="3158136"/>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1D64C4"/>
                </a:solidFill>
                <a:latin typeface="Calibri"/>
                <a:cs typeface="Calibr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Activity 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Start with the slope formula. Use a known point (</a:t>
            </a:r>
            <a:r>
              <a:rPr lang="en-US" sz="1950" dirty="0" i="1">
                <a:solidFill>
                  <a:srgbClr val="16223A"/>
                </a:solidFill>
                <a:latin typeface="Calibri"/>
                <a:cs typeface="Calibri"/>
              </a:rPr>
              <a:t xml:space="preserve">x</a:t>
            </a:r>
            <a:r>
              <a:rPr lang="en-US" sz="1658" dirty="0" baseline="-25000">
                <a:solidFill>
                  <a:srgbClr val="16223A"/>
                </a:solidFill>
                <a:latin typeface="Calibri"/>
                <a:cs typeface="Calibri"/>
              </a:rPr>
              <a:t xml:space="preserve">1</a:t>
            </a:r>
            <a:r>
              <a:rPr lang="en-US" sz="1950" dirty="0">
                <a:solidFill>
                  <a:srgbClr val="16223A"/>
                </a:solidFill>
                <a:latin typeface="Calibri"/>
                <a:cs typeface="Calibri"/>
              </a:rPr>
              <a:t xml:space="preserve">, </a:t>
            </a:r>
            <a:r>
              <a:rPr lang="en-US" sz="1950" dirty="0" i="1">
                <a:solidFill>
                  <a:srgbClr val="16223A"/>
                </a:solidFill>
                <a:latin typeface="Calibri"/>
                <a:cs typeface="Calibri"/>
              </a:rPr>
              <a:t xml:space="preserve">y</a:t>
            </a:r>
            <a:r>
              <a:rPr lang="en-US" sz="1658" dirty="0" baseline="-25000">
                <a:solidFill>
                  <a:srgbClr val="16223A"/>
                </a:solidFill>
                <a:latin typeface="Calibri"/>
                <a:cs typeface="Calibri"/>
              </a:rPr>
              <a:t xml:space="preserve">1</a:t>
            </a:r>
            <a:r>
              <a:rPr lang="en-US" sz="1950" dirty="0">
                <a:solidFill>
                  <a:srgbClr val="16223A"/>
                </a:solidFill>
                <a:latin typeface="Calibri"/>
                <a:cs typeface="Calibri"/>
              </a:rPr>
              <a:t xml:space="preserve">) and any point (</a:t>
            </a:r>
            <a:r>
              <a:rPr lang="en-US" sz="1950" dirty="0" i="1">
                <a:solidFill>
                  <a:srgbClr val="16223A"/>
                </a:solidFill>
                <a:latin typeface="Calibri"/>
                <a:cs typeface="Calibri"/>
              </a:rPr>
              <a:t xml:space="preserve">x</a:t>
            </a:r>
            <a:r>
              <a:rPr lang="en-US" sz="1950" dirty="0">
                <a:solidFill>
                  <a:srgbClr val="16223A"/>
                </a:solidFill>
                <a:latin typeface="Calibri"/>
                <a:cs typeface="Calibri"/>
              </a:rPr>
              <a:t xml:space="preserve">, </a:t>
            </a:r>
            <a:r>
              <a:rPr lang="en-US" sz="1950" dirty="0" i="1">
                <a:solidFill>
                  <a:srgbClr val="16223A"/>
                </a:solidFill>
                <a:latin typeface="Calibri"/>
                <a:cs typeface="Calibri"/>
              </a:rPr>
              <a:t xml:space="preserve">y</a:t>
            </a:r>
            <a:r>
              <a:rPr lang="en-US" sz="1950" dirty="0">
                <a:solidFill>
                  <a:srgbClr val="16223A"/>
                </a:solidFill>
                <a:latin typeface="Calibri"/>
                <a:cs typeface="Calibr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223A"/>
                </a:solidFill>
                <a:latin typeface="Cambria"/>
                <a:cs typeface="Cambria"/>
              </a:rPr>
              <a:t xml:space="preserve"> = </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i="1">
                <a:solidFill>
                  <a:srgbClr val="1D64C4"/>
                </a:solidFill>
                <a:latin typeface="Cambria"/>
                <a:cs typeface="Cambria"/>
              </a:rPr>
              <a:t xml:space="preserve">y</a:t>
            </a:r>
            <a:r>
              <a:rPr lang="en-US" sz="2422" dirty="0" b="1" baseline="-25000">
                <a:solidFill>
                  <a:srgbClr val="1D64C4"/>
                </a:solidFill>
                <a:latin typeface="Cambria"/>
                <a:cs typeface="Cambria"/>
              </a:rPr>
              <a:t xml:space="preserve">1</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a:t>
            </a:r>
            <a:r>
              <a:rPr lang="en-US" sz="2850" dirty="0" b="1" i="1">
                <a:solidFill>
                  <a:srgbClr val="1D64C4"/>
                </a:solidFill>
                <a:latin typeface="Cambria"/>
                <a:cs typeface="Cambria"/>
              </a:rPr>
              <a:t xml:space="preserve">x</a:t>
            </a:r>
            <a:r>
              <a:rPr lang="en-US" sz="2422" dirty="0" b="1" baseline="-25000">
                <a:solidFill>
                  <a:srgbClr val="1D64C4"/>
                </a:solidFill>
                <a:latin typeface="Cambria"/>
                <a:cs typeface="Cambria"/>
              </a:rPr>
              <a:t xml:space="preserve">1</a:t>
            </a:r>
            <a:r>
              <a:rPr lang="en-US" sz="2850" dirty="0">
                <a:solidFill>
                  <a:srgbClr val="16223A"/>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Multiply both sides by (</a:t>
            </a:r>
            <a:r>
              <a:rPr lang="en-US" sz="1950" dirty="0" i="1">
                <a:solidFill>
                  <a:srgbClr val="16223A"/>
                </a:solidFill>
                <a:latin typeface="Calibri"/>
                <a:cs typeface="Calibri"/>
              </a:rPr>
              <a:t xml:space="preserve">x</a:t>
            </a:r>
            <a:r>
              <a:rPr lang="en-US" sz="1950" dirty="0">
                <a:solidFill>
                  <a:srgbClr val="16223A"/>
                </a:solidFill>
                <a:latin typeface="Calibri"/>
                <a:cs typeface="Calibri"/>
              </a:rPr>
              <a:t xml:space="preserve"> − </a:t>
            </a:r>
            <a:r>
              <a:rPr lang="en-US" sz="1950" dirty="0" i="1">
                <a:solidFill>
                  <a:srgbClr val="16223A"/>
                </a:solidFill>
                <a:latin typeface="Calibri"/>
                <a:cs typeface="Calibri"/>
              </a:rPr>
              <a:t xml:space="preserve">x</a:t>
            </a:r>
            <a:r>
              <a:rPr lang="en-US" sz="1658" dirty="0" baseline="-25000">
                <a:solidFill>
                  <a:srgbClr val="16223A"/>
                </a:solidFill>
                <a:latin typeface="Calibri"/>
                <a:cs typeface="Calibri"/>
              </a:rPr>
              <a:t xml:space="preserve">1</a:t>
            </a:r>
            <a:r>
              <a:rPr lang="en-US" sz="1950" dirty="0">
                <a:solidFill>
                  <a:srgbClr val="16223A"/>
                </a:solidFill>
                <a:latin typeface="Calibri"/>
                <a:cs typeface="Calibr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a:t>
            </a:r>
            <a:r>
              <a:rPr lang="en-US" sz="2850" dirty="0" b="1" i="1">
                <a:solidFill>
                  <a:srgbClr val="1D64C4"/>
                </a:solidFill>
                <a:latin typeface="Cambria"/>
                <a:cs typeface="Cambria"/>
              </a:rPr>
              <a:t xml:space="preserve">x</a:t>
            </a:r>
            <a:r>
              <a:rPr lang="en-US" sz="2422" dirty="0" b="1" baseline="-25000">
                <a:solidFill>
                  <a:srgbClr val="1D64C4"/>
                </a:solidFill>
                <a:latin typeface="Cambria"/>
                <a:cs typeface="Cambria"/>
              </a:rPr>
              <a:t xml:space="preserve">1</a:t>
            </a:r>
            <a:r>
              <a:rPr lang="en-US" sz="2850" dirty="0">
                <a:solidFill>
                  <a:srgbClr val="16223A"/>
                </a:solidFill>
                <a:latin typeface="Cambria"/>
                <a:cs typeface="Cambria"/>
              </a:rPr>
              <a:t xml:space="preserve">) =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i="1">
                <a:solidFill>
                  <a:srgbClr val="1D64C4"/>
                </a:solidFill>
                <a:latin typeface="Cambria"/>
                <a:cs typeface="Cambria"/>
              </a:rPr>
              <a:t xml:space="preserve">y</a:t>
            </a:r>
            <a:r>
              <a:rPr lang="en-US" sz="2422" dirty="0" b="1" baseline="-25000">
                <a:solidFill>
                  <a:srgbClr val="1D64C4"/>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i="1">
                <a:solidFill>
                  <a:srgbClr val="1D64C4"/>
                </a:solidFill>
                <a:latin typeface="Cambria"/>
                <a:cs typeface="Cambria"/>
              </a:rPr>
              <a:t xml:space="preserve">y</a:t>
            </a:r>
            <a:r>
              <a:rPr lang="en-US" sz="2422" dirty="0" b="1" baseline="-25000">
                <a:solidFill>
                  <a:srgbClr val="1D64C4"/>
                </a:solidFill>
                <a:latin typeface="Cambria"/>
                <a:cs typeface="Cambria"/>
              </a:rPr>
              <a:t xml:space="preserve">1</a:t>
            </a:r>
            <a:r>
              <a:rPr lang="en-US" sz="2850" dirty="0">
                <a:solidFill>
                  <a:srgbClr val="16223A"/>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a:t>
            </a:r>
            <a:r>
              <a:rPr lang="en-US" sz="2850" dirty="0" b="1" i="1">
                <a:solidFill>
                  <a:srgbClr val="1D64C4"/>
                </a:solidFill>
                <a:latin typeface="Cambria"/>
                <a:cs typeface="Cambria"/>
              </a:rPr>
              <a:t xml:space="preserve">x</a:t>
            </a:r>
            <a:r>
              <a:rPr lang="en-US" sz="2422" dirty="0" b="1" baseline="-25000">
                <a:solidFill>
                  <a:srgbClr val="1D64C4"/>
                </a:solidFill>
                <a:latin typeface="Cambria"/>
                <a:cs typeface="Cambria"/>
              </a:rPr>
              <a:t xml:space="preserve">1</a:t>
            </a:r>
            <a:r>
              <a:rPr lang="en-US" sz="2850" dirty="0">
                <a:solidFill>
                  <a:srgbClr val="16223A"/>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Activity 4.1 · Question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Solve the Worked Example equation for </a:t>
            </a:r>
            <a:r>
              <a:rPr lang="en-US" sz="1575" dirty="0" i="1">
                <a:solidFill>
                  <a:srgbClr val="56647D"/>
                </a:solidFill>
                <a:latin typeface="Calibri"/>
                <a:cs typeface="Calibri"/>
              </a:rPr>
              <a:t xml:space="preserve">y</a:t>
            </a:r>
            <a:r>
              <a:rPr lang="en-US" sz="1575" dirty="0">
                <a:solidFill>
                  <a:srgbClr val="56647D"/>
                </a:solidFill>
                <a:latin typeface="Calibri"/>
                <a:cs typeface="Calibr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− 6 = −</a:t>
            </a:r>
            <a:r>
              <a:rPr lang="en-US" sz="2850" dirty="0">
                <a:solidFill>
                  <a:srgbClr val="16223A"/>
                </a:solidFill>
                <a:latin typeface="Cambria"/>
                <a:cs typeface="Cambria"/>
              </a:rPr>
              <a:t xml:space="preserve">1</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2</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Distribute −</a:t>
            </a:r>
            <a:r>
              <a:rPr lang="en-US" sz="1575" dirty="0">
                <a:solidFill>
                  <a:srgbClr val="16223A"/>
                </a:solidFill>
                <a:latin typeface="Calibri"/>
                <a:cs typeface="Calibri"/>
              </a:rPr>
              <a:t xml:space="preserve">1</a:t>
            </a:r>
            <a:r>
              <a:rPr lang="en-US" sz="1575" dirty="0">
                <a:solidFill>
                  <a:srgbClr val="16223A"/>
                </a:solidFill>
                <a:latin typeface="Calibri"/>
                <a:cs typeface="Calibri"/>
              </a:rPr>
              <a:t xml:space="preserve">/</a:t>
            </a:r>
            <a:r>
              <a:rPr lang="en-US" sz="1575" dirty="0">
                <a:solidFill>
                  <a:srgbClr val="16223A"/>
                </a:solidFill>
                <a:latin typeface="Calibri"/>
                <a:cs typeface="Calibri"/>
              </a:rPr>
              <a:t xml:space="preserve">2</a:t>
            </a:r>
            <a:r>
              <a:rPr lang="en-US" sz="1575" dirty="0">
                <a:solidFill>
                  <a:srgbClr val="16223A"/>
                </a:solidFill>
                <a:latin typeface="Calibri"/>
                <a:cs typeface="Calibr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− 6 = −</a:t>
            </a:r>
            <a:r>
              <a:rPr lang="en-US" sz="2850" dirty="0">
                <a:solidFill>
                  <a:srgbClr val="16223A"/>
                </a:solidFill>
                <a:latin typeface="Cambria"/>
                <a:cs typeface="Cambria"/>
              </a:rPr>
              <a:t xml:space="preserve">1</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2</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a:solidFill>
                  <a:srgbClr val="16223A"/>
                </a:solidFill>
                <a:latin typeface="Cambria"/>
                <a:cs typeface="Cambria"/>
              </a:rPr>
              <a:t xml:space="preserve">1</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2</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the slope and </a:t>
            </a:r>
            <a:r>
              <a:rPr lang="en-US" sz="1575" dirty="0" b="1">
                <a:solidFill>
                  <a:srgbClr val="16223A"/>
                </a:solidFill>
                <a:latin typeface="Calibri"/>
                <a:cs typeface="Calibri"/>
              </a:rPr>
              <a:t xml:space="preserve">a point</a:t>
            </a:r>
            <a:r>
              <a:rPr lang="en-US" sz="1575" dirty="0">
                <a:solidFill>
                  <a:srgbClr val="16223A"/>
                </a:solidFill>
                <a:latin typeface="Calibri"/>
                <a:cs typeface="Calibri"/>
              </a:rPr>
              <a:t xml:space="preserve">, which may not be the </a:t>
            </a:r>
            <a:r>
              <a:rPr lang="en-US" sz="1575" dirty="0" i="1">
                <a:solidFill>
                  <a:srgbClr val="16223A"/>
                </a:solidFill>
                <a:latin typeface="Calibri"/>
                <a:cs typeface="Calibri"/>
              </a:rPr>
              <a:t xml:space="preserve">y</a:t>
            </a:r>
            <a:r>
              <a:rPr lang="en-US" sz="1575" dirty="0">
                <a:solidFill>
                  <a:srgbClr val="16223A"/>
                </a:solidFill>
                <a:latin typeface="Calibri"/>
                <a:cs typeface="Calibr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the slope and </a:t>
            </a:r>
            <a:r>
              <a:rPr lang="en-US" sz="1575" dirty="0" b="1">
                <a:solidFill>
                  <a:srgbClr val="16223A"/>
                </a:solidFill>
                <a:latin typeface="Calibri"/>
                <a:cs typeface="Calibri"/>
              </a:rPr>
              <a:t xml:space="preserve">the </a:t>
            </a:r>
            <a:r>
              <a:rPr lang="en-US" sz="1575" dirty="0" b="1" i="1">
                <a:solidFill>
                  <a:srgbClr val="16223A"/>
                </a:solidFill>
                <a:latin typeface="Calibri"/>
                <a:cs typeface="Calibri"/>
              </a:rPr>
              <a:t xml:space="preserve">y</a:t>
            </a:r>
            <a:r>
              <a:rPr lang="en-US" sz="1575" dirty="0" b="1">
                <a:solidFill>
                  <a:srgbClr val="16223A"/>
                </a:solidFill>
                <a:latin typeface="Calibri"/>
                <a:cs typeface="Calibri"/>
              </a:rPr>
              <a:t xml:space="preserve">-intercept</a:t>
            </a:r>
            <a:r>
              <a:rPr lang="en-US" sz="1575" dirty="0">
                <a:solidFill>
                  <a:srgbClr val="16223A"/>
                </a:solidFill>
                <a:latin typeface="Calibri"/>
                <a:cs typeface="Calibr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223A"/>
                </a:solidFill>
                <a:latin typeface="Calibri"/>
                <a:cs typeface="Calibri"/>
              </a:rPr>
              <a:t xml:space="preserve">Same:</a:t>
            </a:r>
            <a:r>
              <a:rPr lang="en-US" sz="1575" dirty="0">
                <a:solidFill>
                  <a:srgbClr val="16223A"/>
                </a:solidFill>
                <a:latin typeface="Calibri"/>
                <a:cs typeface="Calibr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Activity 4.1 · Questions 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Calibri"/>
                <a:cs typeface="Calibri"/>
              </a:rPr>
              <a:t xml:space="preserve">m = −8</a:t>
            </a:r>
            <a:r>
              <a:rPr lang="en-US" sz="1575" dirty="0">
                <a:solidFill>
                  <a:srgbClr val="16223A"/>
                </a:solidFill>
                <a:latin typeface="Calibri"/>
                <a:cs typeface="Calibri"/>
              </a:rPr>
              <a:t xml:space="preserve">, </a:t>
            </a:r>
            <a:r>
              <a:rPr lang="en-US" sz="1575" dirty="0" b="1">
                <a:solidFill>
                  <a:srgbClr val="1D64C4"/>
                </a:solidFill>
                <a:latin typeface="Calibri"/>
                <a:cs typeface="Calibri"/>
              </a:rPr>
              <a:t xml:space="preserve">x</a:t>
            </a:r>
            <a:r>
              <a:rPr lang="en-US" sz="1339" dirty="0" b="1" baseline="-25000">
                <a:solidFill>
                  <a:srgbClr val="1D64C4"/>
                </a:solidFill>
                <a:latin typeface="Calibri"/>
                <a:cs typeface="Calibri"/>
              </a:rPr>
              <a:t xml:space="preserve">1</a:t>
            </a:r>
            <a:r>
              <a:rPr lang="en-US" sz="1575" dirty="0" b="1">
                <a:solidFill>
                  <a:srgbClr val="1D64C4"/>
                </a:solidFill>
                <a:latin typeface="Calibri"/>
                <a:cs typeface="Calibri"/>
              </a:rPr>
              <a:t xml:space="preserve"> = 3</a:t>
            </a:r>
            <a:r>
              <a:rPr lang="en-US" sz="1575" dirty="0">
                <a:solidFill>
                  <a:srgbClr val="16223A"/>
                </a:solidFill>
                <a:latin typeface="Calibri"/>
                <a:cs typeface="Calibri"/>
              </a:rPr>
              <a:t xml:space="preserve">, </a:t>
            </a:r>
            <a:r>
              <a:rPr lang="en-US" sz="1575" dirty="0" b="1">
                <a:solidFill>
                  <a:srgbClr val="1D64C4"/>
                </a:solidFill>
                <a:latin typeface="Calibri"/>
                <a:cs typeface="Calibri"/>
              </a:rPr>
              <a:t xml:space="preserve">y</a:t>
            </a:r>
            <a:r>
              <a:rPr lang="en-US" sz="1339" dirty="0" b="1" baseline="-25000">
                <a:solidFill>
                  <a:srgbClr val="1D64C4"/>
                </a:solidFill>
                <a:latin typeface="Calibri"/>
                <a:cs typeface="Calibri"/>
              </a:rPr>
              <a:t xml:space="preserve">1</a:t>
            </a:r>
            <a:r>
              <a:rPr lang="en-US" sz="1575" dirty="0" b="1">
                <a:solidFill>
                  <a:srgbClr val="1D64C4"/>
                </a:solidFill>
                <a:latin typeface="Calibri"/>
                <a:cs typeface="Calibr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12</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3</a:t>
            </a:r>
            <a:r>
              <a:rPr lang="en-US" sz="2850" dirty="0">
                <a:solidFill>
                  <a:srgbClr val="16223A"/>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3. Slope </a:t>
            </a:r>
            <a:r>
              <a:rPr lang="en-US" sz="2100" dirty="0" b="1">
                <a:solidFill>
                  <a:srgbClr val="16223A"/>
                </a:solidFill>
                <a:latin typeface="Calibri"/>
                <a:cs typeface="Calibri"/>
              </a:rPr>
              <a:t xml:space="preserve">2</a:t>
            </a:r>
            <a:r>
              <a:rPr lang="en-US" sz="2100" dirty="0" b="1">
                <a:solidFill>
                  <a:srgbClr val="16223A"/>
                </a:solidFill>
                <a:latin typeface="Calibri"/>
                <a:cs typeface="Calibri"/>
              </a:rPr>
              <a:t xml:space="preserve">/</a:t>
            </a:r>
            <a:r>
              <a:rPr lang="en-US" sz="2100" dirty="0" b="1">
                <a:solidFill>
                  <a:srgbClr val="16223A"/>
                </a:solidFill>
                <a:latin typeface="Calibri"/>
                <a:cs typeface="Calibri"/>
              </a:rPr>
              <a:t xml:space="preserve">3</a:t>
            </a:r>
            <a:r>
              <a:rPr lang="en-US" sz="2100" dirty="0" b="1">
                <a:solidFill>
                  <a:srgbClr val="16223A"/>
                </a:solidFill>
                <a:latin typeface="Calibri"/>
                <a:cs typeface="Calibr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Calibri"/>
                <a:cs typeface="Calibri"/>
              </a:rPr>
              <a:t xml:space="preserve">m = </a:t>
            </a:r>
            <a:r>
              <a:rPr lang="en-US" sz="1575" dirty="0" b="1">
                <a:solidFill>
                  <a:srgbClr val="C9561F"/>
                </a:solidFill>
                <a:latin typeface="Calibri"/>
                <a:cs typeface="Calibri"/>
              </a:rPr>
              <a:t xml:space="preserve">2</a:t>
            </a:r>
            <a:r>
              <a:rPr lang="en-US" sz="1575" dirty="0" b="1">
                <a:solidFill>
                  <a:srgbClr val="C9561F"/>
                </a:solidFill>
                <a:latin typeface="Calibri"/>
                <a:cs typeface="Calibri"/>
              </a:rPr>
              <a:t xml:space="preserve">/</a:t>
            </a:r>
            <a:r>
              <a:rPr lang="en-US" sz="1575" dirty="0" b="1">
                <a:solidFill>
                  <a:srgbClr val="C9561F"/>
                </a:solidFill>
                <a:latin typeface="Calibri"/>
                <a:cs typeface="Calibri"/>
              </a:rPr>
              <a:t xml:space="preserve">3</a:t>
            </a:r>
            <a:r>
              <a:rPr lang="en-US" sz="1575" dirty="0">
                <a:solidFill>
                  <a:srgbClr val="16223A"/>
                </a:solidFill>
                <a:latin typeface="Calibri"/>
                <a:cs typeface="Calibri"/>
              </a:rPr>
              <a:t xml:space="preserve">, </a:t>
            </a:r>
            <a:r>
              <a:rPr lang="en-US" sz="1575" dirty="0" b="1">
                <a:solidFill>
                  <a:srgbClr val="1D64C4"/>
                </a:solidFill>
                <a:latin typeface="Calibri"/>
                <a:cs typeface="Calibri"/>
              </a:rPr>
              <a:t xml:space="preserve">x</a:t>
            </a:r>
            <a:r>
              <a:rPr lang="en-US" sz="1339" dirty="0" b="1" baseline="-25000">
                <a:solidFill>
                  <a:srgbClr val="1D64C4"/>
                </a:solidFill>
                <a:latin typeface="Calibri"/>
                <a:cs typeface="Calibri"/>
              </a:rPr>
              <a:t xml:space="preserve">1</a:t>
            </a:r>
            <a:r>
              <a:rPr lang="en-US" sz="1575" dirty="0" b="1">
                <a:solidFill>
                  <a:srgbClr val="1D64C4"/>
                </a:solidFill>
                <a:latin typeface="Calibri"/>
                <a:cs typeface="Calibri"/>
              </a:rPr>
              <a:t xml:space="preserve"> = −4</a:t>
            </a:r>
            <a:r>
              <a:rPr lang="en-US" sz="1575" dirty="0">
                <a:solidFill>
                  <a:srgbClr val="16223A"/>
                </a:solidFill>
                <a:latin typeface="Calibri"/>
                <a:cs typeface="Calibri"/>
              </a:rPr>
              <a:t xml:space="preserve">, </a:t>
            </a:r>
            <a:r>
              <a:rPr lang="en-US" sz="1575" dirty="0" b="1">
                <a:solidFill>
                  <a:srgbClr val="1D64C4"/>
                </a:solidFill>
                <a:latin typeface="Calibri"/>
                <a:cs typeface="Calibri"/>
              </a:rPr>
              <a:t xml:space="preserve">y</a:t>
            </a:r>
            <a:r>
              <a:rPr lang="en-US" sz="1339" dirty="0" b="1" baseline="-25000">
                <a:solidFill>
                  <a:srgbClr val="1D64C4"/>
                </a:solidFill>
                <a:latin typeface="Calibri"/>
                <a:cs typeface="Calibri"/>
              </a:rPr>
              <a:t xml:space="preserve">1</a:t>
            </a:r>
            <a:r>
              <a:rPr lang="en-US" sz="1575" dirty="0" b="1">
                <a:solidFill>
                  <a:srgbClr val="1D64C4"/>
                </a:solidFill>
                <a:latin typeface="Calibri"/>
                <a:cs typeface="Calibr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5</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−4</a:t>
            </a:r>
            <a:r>
              <a:rPr lang="en-US" sz="2850" dirty="0">
                <a:solidFill>
                  <a:srgbClr val="16223A"/>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5</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4</a:t>
            </a:r>
            <a:r>
              <a:rPr lang="en-US" sz="2850" dirty="0">
                <a:solidFill>
                  <a:srgbClr val="16223A"/>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FF1E6"/>
          </a:solidFill>
          <a:ln>
            <a:noFill/>
          </a:ln>
        </p:spPr>
        <p:txBody>
          <a:bodyPr wrap="square" lIns="164592" tIns="73152" rIns="164592" bIns="73152" anchor="ctr">
            <a:noAutofit/>
          </a:bodyPr>
          <a:lstStyle/>
          <a:p>
            <a:pPr algn="l">
              <a:lnSpc>
                <a:spcPct val="100000"/>
              </a:lnSpc>
            </a:pPr>
            <a:r>
              <a:rPr lang="en-US" sz="1650" dirty="0">
                <a:solidFill>
                  <a:srgbClr val="16223A"/>
                </a:solidFill>
                <a:latin typeface="Calibri"/>
                <a:cs typeface="Calibri"/>
              </a:rPr>
              <a:t xml:space="preserve">Watch the signs: subtracting a negative becomes </a:t>
            </a:r>
            <a:r>
              <a:rPr lang="en-US" sz="1650" dirty="0" b="1">
                <a:solidFill>
                  <a:srgbClr val="16223A"/>
                </a:solidFill>
                <a:latin typeface="Calibri"/>
                <a:cs typeface="Calibri"/>
              </a:rPr>
              <a:t xml:space="preserve">+</a:t>
            </a:r>
            <a:r>
              <a:rPr lang="en-US" sz="1650" dirty="0">
                <a:solidFill>
                  <a:srgbClr val="16223A"/>
                </a:solidFill>
                <a:latin typeface="Calibri"/>
                <a:cs typeface="Calibr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Activity 4.1 · Questions 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Rate per pound → </a:t>
            </a:r>
            <a:r>
              <a:rPr lang="en-US" sz="1575" dirty="0" b="1">
                <a:solidFill>
                  <a:srgbClr val="C9561F"/>
                </a:solidFill>
                <a:latin typeface="Calibri"/>
                <a:cs typeface="Calibr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10 pounds costs $14 → </a:t>
            </a:r>
            <a:r>
              <a:rPr lang="en-US" sz="1575" dirty="0" b="1">
                <a:solidFill>
                  <a:srgbClr val="1D64C4"/>
                </a:solidFill>
                <a:latin typeface="Calibri"/>
                <a:cs typeface="Calibr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14</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10</a:t>
            </a:r>
            <a:r>
              <a:rPr lang="en-US" sz="2850" dirty="0">
                <a:solidFill>
                  <a:srgbClr val="16223A"/>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5. </a:t>
            </a:r>
            <a:r>
              <a:rPr lang="en-US" sz="2100" dirty="0" b="1" i="1">
                <a:solidFill>
                  <a:srgbClr val="16223A"/>
                </a:solidFill>
                <a:latin typeface="Cambria"/>
                <a:cs typeface="Cambria"/>
              </a:rPr>
              <a:t xml:space="preserve">m</a:t>
            </a:r>
            <a:r>
              <a:rPr lang="en-US" sz="2100" dirty="0" b="1">
                <a:solidFill>
                  <a:srgbClr val="16223A"/>
                </a:solidFill>
                <a:latin typeface="Cambria"/>
                <a:cs typeface="Cambria"/>
              </a:rPr>
              <a:t xml:space="preserve"> = −</a:t>
            </a:r>
            <a:r>
              <a:rPr lang="en-US" sz="2100" dirty="0" b="1">
                <a:solidFill>
                  <a:srgbClr val="16223A"/>
                </a:solidFill>
                <a:latin typeface="Cambria"/>
                <a:cs typeface="Cambria"/>
              </a:rPr>
              <a:t xml:space="preserve">3</a:t>
            </a:r>
            <a:r>
              <a:rPr lang="en-US" sz="2100" dirty="0" b="1">
                <a:solidFill>
                  <a:srgbClr val="16223A"/>
                </a:solidFill>
                <a:latin typeface="Cambria"/>
                <a:cs typeface="Cambria"/>
              </a:rPr>
              <a:t xml:space="preserve">/</a:t>
            </a:r>
            <a:r>
              <a:rPr lang="en-US" sz="2100" dirty="0" b="1">
                <a:solidFill>
                  <a:srgbClr val="16223A"/>
                </a:solidFill>
                <a:latin typeface="Cambria"/>
                <a:cs typeface="Cambria"/>
              </a:rPr>
              <a:t xml:space="preserve">8</a:t>
            </a:r>
            <a:r>
              <a:rPr lang="en-US" sz="2100" dirty="0" b="1">
                <a:solidFill>
                  <a:srgbClr val="16223A"/>
                </a:solidFill>
                <a:latin typeface="Calibri"/>
                <a:cs typeface="Calibr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Calibri"/>
                <a:cs typeface="Calibri"/>
              </a:rPr>
              <a:t xml:space="preserve">m = −</a:t>
            </a:r>
            <a:r>
              <a:rPr lang="en-US" sz="1575" dirty="0" b="1">
                <a:solidFill>
                  <a:srgbClr val="C9561F"/>
                </a:solidFill>
                <a:latin typeface="Calibri"/>
                <a:cs typeface="Calibri"/>
              </a:rPr>
              <a:t xml:space="preserve">3</a:t>
            </a:r>
            <a:r>
              <a:rPr lang="en-US" sz="1575" dirty="0" b="1">
                <a:solidFill>
                  <a:srgbClr val="C9561F"/>
                </a:solidFill>
                <a:latin typeface="Calibri"/>
                <a:cs typeface="Calibri"/>
              </a:rPr>
              <a:t xml:space="preserve">/</a:t>
            </a:r>
            <a:r>
              <a:rPr lang="en-US" sz="1575" dirty="0" b="1">
                <a:solidFill>
                  <a:srgbClr val="C9561F"/>
                </a:solidFill>
                <a:latin typeface="Calibri"/>
                <a:cs typeface="Calibri"/>
              </a:rPr>
              <a:t xml:space="preserve">8</a:t>
            </a:r>
            <a:r>
              <a:rPr lang="en-US" sz="1575" dirty="0">
                <a:solidFill>
                  <a:srgbClr val="16223A"/>
                </a:solidFill>
                <a:latin typeface="Calibri"/>
                <a:cs typeface="Calibri"/>
              </a:rPr>
              <a:t xml:space="preserve">, </a:t>
            </a:r>
            <a:r>
              <a:rPr lang="en-US" sz="1575" dirty="0" b="1">
                <a:solidFill>
                  <a:srgbClr val="1D64C4"/>
                </a:solidFill>
                <a:latin typeface="Calibri"/>
                <a:cs typeface="Calibri"/>
              </a:rPr>
              <a:t xml:space="preserve">x</a:t>
            </a:r>
            <a:r>
              <a:rPr lang="en-US" sz="1339" dirty="0" b="1" baseline="-25000">
                <a:solidFill>
                  <a:srgbClr val="1D64C4"/>
                </a:solidFill>
                <a:latin typeface="Calibri"/>
                <a:cs typeface="Calibri"/>
              </a:rPr>
              <a:t xml:space="preserve">1</a:t>
            </a:r>
            <a:r>
              <a:rPr lang="en-US" sz="1575" dirty="0" b="1">
                <a:solidFill>
                  <a:srgbClr val="1D64C4"/>
                </a:solidFill>
                <a:latin typeface="Calibri"/>
                <a:cs typeface="Calibri"/>
              </a:rPr>
              <a:t xml:space="preserve"> = 50</a:t>
            </a:r>
            <a:r>
              <a:rPr lang="en-US" sz="1575" dirty="0">
                <a:solidFill>
                  <a:srgbClr val="16223A"/>
                </a:solidFill>
                <a:latin typeface="Calibri"/>
                <a:cs typeface="Calibri"/>
              </a:rPr>
              <a:t xml:space="preserve">, </a:t>
            </a:r>
            <a:r>
              <a:rPr lang="en-US" sz="1575" dirty="0" b="1">
                <a:solidFill>
                  <a:srgbClr val="1D64C4"/>
                </a:solidFill>
                <a:latin typeface="Calibri"/>
                <a:cs typeface="Calibri"/>
              </a:rPr>
              <a:t xml:space="preserve">y</a:t>
            </a:r>
            <a:r>
              <a:rPr lang="en-US" sz="1339" dirty="0" b="1" baseline="-25000">
                <a:solidFill>
                  <a:srgbClr val="1D64C4"/>
                </a:solidFill>
                <a:latin typeface="Calibri"/>
                <a:cs typeface="Calibri"/>
              </a:rPr>
              <a:t xml:space="preserve">1</a:t>
            </a:r>
            <a:r>
              <a:rPr lang="en-US" sz="1575" dirty="0" b="1">
                <a:solidFill>
                  <a:srgbClr val="1D64C4"/>
                </a:solidFill>
                <a:latin typeface="Calibri"/>
                <a:cs typeface="Calibr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7</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50</a:t>
            </a:r>
            <a:r>
              <a:rPr lang="en-US" sz="2850" dirty="0">
                <a:solidFill>
                  <a:srgbClr val="16223A"/>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Activity 4.1 · Question 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On the graph in your book, the </a:t>
            </a:r>
            <a:r>
              <a:rPr lang="en-US" sz="1575" dirty="0" i="1">
                <a:solidFill>
                  <a:srgbClr val="56647D"/>
                </a:solidFill>
                <a:latin typeface="Calibri"/>
                <a:cs typeface="Calibri"/>
              </a:rPr>
              <a:t xml:space="preserve">y</a:t>
            </a:r>
            <a:r>
              <a:rPr lang="en-US" sz="1575" dirty="0">
                <a:solidFill>
                  <a:srgbClr val="56647D"/>
                </a:solidFill>
                <a:latin typeface="Calibri"/>
                <a:cs typeface="Calibr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223A"/>
                </a:solidFill>
                <a:latin typeface="Cambria"/>
                <a:cs typeface="Cambria"/>
              </a:rPr>
              <a:t xml:space="preserve"> = </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20 − 102</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42 − 35</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Step 2: choose either point. Using </a:t>
            </a:r>
            <a:r>
              <a:rPr lang="en-US" sz="1950" dirty="0" b="1">
                <a:solidFill>
                  <a:srgbClr val="1D64C4"/>
                </a:solidFill>
                <a:latin typeface="Cambria"/>
                <a:cs typeface="Cambria"/>
              </a:rPr>
              <a:t xml:space="preserve">(42, 20)</a:t>
            </a:r>
            <a:r>
              <a:rPr lang="en-US" sz="1950" dirty="0">
                <a:solidFill>
                  <a:srgbClr val="16223A"/>
                </a:solidFill>
                <a:latin typeface="Calibri"/>
                <a:cs typeface="Calibr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20</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42</a:t>
            </a:r>
            <a:r>
              <a:rPr lang="en-US" sz="2850" dirty="0">
                <a:solidFill>
                  <a:srgbClr val="16223A"/>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Using (35, 102) also works: </a:t>
            </a:r>
            <a:r>
              <a:rPr lang="en-US" sz="1575" dirty="0" i="1">
                <a:solidFill>
                  <a:srgbClr val="56647D"/>
                </a:solidFill>
                <a:latin typeface="Cambria"/>
                <a:cs typeface="Cambria"/>
              </a:rPr>
              <a:t xml:space="preserve">y</a:t>
            </a:r>
            <a:r>
              <a:rPr lang="en-US" sz="1575" dirty="0">
                <a:solidFill>
                  <a:srgbClr val="56647D"/>
                </a:solidFill>
                <a:latin typeface="Cambria"/>
                <a:cs typeface="Cambria"/>
              </a:rPr>
              <a:t xml:space="preserve"> − 102 = −</a:t>
            </a:r>
            <a:r>
              <a:rPr lang="en-US" sz="1575" dirty="0">
                <a:solidFill>
                  <a:srgbClr val="56647D"/>
                </a:solidFill>
                <a:latin typeface="Cambria"/>
                <a:cs typeface="Cambria"/>
              </a:rPr>
              <a:t xml:space="preserve">82</a:t>
            </a:r>
            <a:r>
              <a:rPr lang="en-US" sz="1575" dirty="0">
                <a:solidFill>
                  <a:srgbClr val="56647D"/>
                </a:solidFill>
                <a:latin typeface="Cambria"/>
                <a:cs typeface="Cambria"/>
              </a:rPr>
              <a:t xml:space="preserve">/</a:t>
            </a:r>
            <a:r>
              <a:rPr lang="en-US" sz="1575" dirty="0">
                <a:solidFill>
                  <a:srgbClr val="56647D"/>
                </a:solidFill>
                <a:latin typeface="Cambria"/>
                <a:cs typeface="Cambria"/>
              </a:rPr>
              <a:t xml:space="preserve">7</a:t>
            </a:r>
            <a:r>
              <a:rPr lang="en-US" sz="1575" dirty="0">
                <a:solidFill>
                  <a:srgbClr val="56647D"/>
                </a:solidFill>
                <a:latin typeface="Cambria"/>
                <a:cs typeface="Cambria"/>
              </a:rPr>
              <a:t xml:space="preserve">(</a:t>
            </a:r>
            <a:r>
              <a:rPr lang="en-US" sz="1575" dirty="0" i="1">
                <a:solidFill>
                  <a:srgbClr val="56647D"/>
                </a:solidFill>
                <a:latin typeface="Cambria"/>
                <a:cs typeface="Cambria"/>
              </a:rPr>
              <a:t xml:space="preserve">x</a:t>
            </a:r>
            <a:r>
              <a:rPr lang="en-US" sz="1575" dirty="0">
                <a:solidFill>
                  <a:srgbClr val="56647D"/>
                </a:solidFill>
                <a:latin typeface="Cambria"/>
                <a:cs typeface="Cambria"/>
              </a:rPr>
              <a:t xml:space="preserve"> − 35)</a:t>
            </a:r>
            <a:r>
              <a:rPr lang="en-US" sz="1575" dirty="0">
                <a:solidFill>
                  <a:srgbClr val="56647D"/>
                </a:solidFill>
                <a:latin typeface="Calibri"/>
                <a:cs typeface="Calibr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DFE7F1"/>
            </a:solidFill>
          </a:ln>
        </p:spPr>
      </p:cxnSp>
      <p:cxnSp>
        <p:nvCxnSpPr>
          <p:cNvPr id="12" name="Line 12"/>
          <p:cNvCxnSpPr/>
          <p:nvPr/>
        </p:nvCxnSpPr>
        <p:spPr>
          <a:xfrm>
            <a:off x="8563729" y="2199132"/>
            <a:ext cx="0" cy="3352800"/>
          </a:xfrm>
          <a:prstGeom prst="line">
            <a:avLst/>
          </a:prstGeom>
          <a:ln w="9525" cap="flat">
            <a:solidFill>
              <a:srgbClr val="DFE7F1"/>
            </a:solidFill>
          </a:ln>
        </p:spPr>
      </p:cxnSp>
      <p:cxnSp>
        <p:nvCxnSpPr>
          <p:cNvPr id="13" name="Line 13"/>
          <p:cNvCxnSpPr/>
          <p:nvPr/>
        </p:nvCxnSpPr>
        <p:spPr>
          <a:xfrm>
            <a:off x="8917212" y="2199132"/>
            <a:ext cx="0" cy="3352800"/>
          </a:xfrm>
          <a:prstGeom prst="line">
            <a:avLst/>
          </a:prstGeom>
          <a:ln w="9525" cap="flat">
            <a:solidFill>
              <a:srgbClr val="DFE7F1"/>
            </a:solidFill>
          </a:ln>
        </p:spPr>
      </p:cxnSp>
      <p:cxnSp>
        <p:nvCxnSpPr>
          <p:cNvPr id="14" name="Line 14"/>
          <p:cNvCxnSpPr/>
          <p:nvPr/>
        </p:nvCxnSpPr>
        <p:spPr>
          <a:xfrm>
            <a:off x="9270695" y="2199132"/>
            <a:ext cx="0" cy="3352800"/>
          </a:xfrm>
          <a:prstGeom prst="line">
            <a:avLst/>
          </a:prstGeom>
          <a:ln w="9525" cap="flat">
            <a:solidFill>
              <a:srgbClr val="DFE7F1"/>
            </a:solidFill>
          </a:ln>
        </p:spPr>
      </p:cxnSp>
      <p:cxnSp>
        <p:nvCxnSpPr>
          <p:cNvPr id="15" name="Line 15"/>
          <p:cNvCxnSpPr/>
          <p:nvPr/>
        </p:nvCxnSpPr>
        <p:spPr>
          <a:xfrm>
            <a:off x="9624179" y="2199132"/>
            <a:ext cx="0" cy="3352800"/>
          </a:xfrm>
          <a:prstGeom prst="line">
            <a:avLst/>
          </a:prstGeom>
          <a:ln w="9525" cap="flat">
            <a:solidFill>
              <a:srgbClr val="DFE7F1"/>
            </a:solidFill>
          </a:ln>
        </p:spPr>
      </p:cxnSp>
      <p:cxnSp>
        <p:nvCxnSpPr>
          <p:cNvPr id="16" name="Line 16"/>
          <p:cNvCxnSpPr/>
          <p:nvPr/>
        </p:nvCxnSpPr>
        <p:spPr>
          <a:xfrm>
            <a:off x="9977662" y="2199132"/>
            <a:ext cx="0" cy="3352800"/>
          </a:xfrm>
          <a:prstGeom prst="line">
            <a:avLst/>
          </a:prstGeom>
          <a:ln w="9525" cap="flat">
            <a:solidFill>
              <a:srgbClr val="DFE7F1"/>
            </a:solidFill>
          </a:ln>
        </p:spPr>
      </p:cxnSp>
      <p:cxnSp>
        <p:nvCxnSpPr>
          <p:cNvPr id="17" name="Line 17"/>
          <p:cNvCxnSpPr/>
          <p:nvPr/>
        </p:nvCxnSpPr>
        <p:spPr>
          <a:xfrm>
            <a:off x="10331145" y="2199132"/>
            <a:ext cx="0" cy="3352800"/>
          </a:xfrm>
          <a:prstGeom prst="line">
            <a:avLst/>
          </a:prstGeom>
          <a:ln w="9525" cap="flat">
            <a:solidFill>
              <a:srgbClr val="DFE7F1"/>
            </a:solidFill>
          </a:ln>
        </p:spPr>
      </p:cxnSp>
      <p:cxnSp>
        <p:nvCxnSpPr>
          <p:cNvPr id="18" name="Line 18"/>
          <p:cNvCxnSpPr/>
          <p:nvPr/>
        </p:nvCxnSpPr>
        <p:spPr>
          <a:xfrm>
            <a:off x="10684629" y="2199132"/>
            <a:ext cx="0" cy="3352800"/>
          </a:xfrm>
          <a:prstGeom prst="line">
            <a:avLst/>
          </a:prstGeom>
          <a:ln w="9525" cap="flat">
            <a:solidFill>
              <a:srgbClr val="DFE7F1"/>
            </a:solidFill>
          </a:ln>
        </p:spPr>
      </p:cxnSp>
      <p:cxnSp>
        <p:nvCxnSpPr>
          <p:cNvPr id="19" name="Line 19"/>
          <p:cNvCxnSpPr/>
          <p:nvPr/>
        </p:nvCxnSpPr>
        <p:spPr>
          <a:xfrm>
            <a:off x="11038112" y="2199132"/>
            <a:ext cx="0" cy="3352800"/>
          </a:xfrm>
          <a:prstGeom prst="line">
            <a:avLst/>
          </a:prstGeom>
          <a:ln w="9525" cap="flat">
            <a:solidFill>
              <a:srgbClr val="DFE7F1"/>
            </a:solidFill>
          </a:ln>
        </p:spPr>
      </p:cxnSp>
      <p:cxnSp>
        <p:nvCxnSpPr>
          <p:cNvPr id="20" name="Line 20"/>
          <p:cNvCxnSpPr/>
          <p:nvPr/>
        </p:nvCxnSpPr>
        <p:spPr>
          <a:xfrm>
            <a:off x="11391595" y="2199132"/>
            <a:ext cx="0" cy="3352800"/>
          </a:xfrm>
          <a:prstGeom prst="line">
            <a:avLst/>
          </a:prstGeom>
          <a:ln w="9525" cap="flat">
            <a:solidFill>
              <a:srgbClr val="DFE7F1"/>
            </a:solidFill>
          </a:ln>
        </p:spPr>
      </p:cxnSp>
      <p:cxnSp>
        <p:nvCxnSpPr>
          <p:cNvPr id="21" name="Line 21"/>
          <p:cNvCxnSpPr/>
          <p:nvPr/>
        </p:nvCxnSpPr>
        <p:spPr>
          <a:xfrm>
            <a:off x="8210245" y="5551932"/>
            <a:ext cx="3181350" cy="0"/>
          </a:xfrm>
          <a:prstGeom prst="line">
            <a:avLst/>
          </a:prstGeom>
          <a:ln w="9525" cap="flat">
            <a:solidFill>
              <a:srgbClr val="DFE7F1"/>
            </a:solidFill>
          </a:ln>
        </p:spPr>
      </p:cxnSp>
      <p:cxnSp>
        <p:nvCxnSpPr>
          <p:cNvPr id="22" name="Line 22"/>
          <p:cNvCxnSpPr/>
          <p:nvPr/>
        </p:nvCxnSpPr>
        <p:spPr>
          <a:xfrm>
            <a:off x="8210245" y="5179399"/>
            <a:ext cx="3181350" cy="0"/>
          </a:xfrm>
          <a:prstGeom prst="line">
            <a:avLst/>
          </a:prstGeom>
          <a:ln w="9525" cap="flat">
            <a:solidFill>
              <a:srgbClr val="DFE7F1"/>
            </a:solidFill>
          </a:ln>
        </p:spPr>
      </p:cxnSp>
      <p:cxnSp>
        <p:nvCxnSpPr>
          <p:cNvPr id="23" name="Line 23"/>
          <p:cNvCxnSpPr/>
          <p:nvPr/>
        </p:nvCxnSpPr>
        <p:spPr>
          <a:xfrm>
            <a:off x="8210245" y="4806865"/>
            <a:ext cx="3181350" cy="0"/>
          </a:xfrm>
          <a:prstGeom prst="line">
            <a:avLst/>
          </a:prstGeom>
          <a:ln w="9525" cap="flat">
            <a:solidFill>
              <a:srgbClr val="DFE7F1"/>
            </a:solidFill>
          </a:ln>
        </p:spPr>
      </p:cxnSp>
      <p:cxnSp>
        <p:nvCxnSpPr>
          <p:cNvPr id="24" name="Line 24"/>
          <p:cNvCxnSpPr/>
          <p:nvPr/>
        </p:nvCxnSpPr>
        <p:spPr>
          <a:xfrm>
            <a:off x="8210245" y="4434332"/>
            <a:ext cx="3181350" cy="0"/>
          </a:xfrm>
          <a:prstGeom prst="line">
            <a:avLst/>
          </a:prstGeom>
          <a:ln w="9525" cap="flat">
            <a:solidFill>
              <a:srgbClr val="DFE7F1"/>
            </a:solidFill>
          </a:ln>
        </p:spPr>
      </p:cxnSp>
      <p:cxnSp>
        <p:nvCxnSpPr>
          <p:cNvPr id="25" name="Line 25"/>
          <p:cNvCxnSpPr/>
          <p:nvPr/>
        </p:nvCxnSpPr>
        <p:spPr>
          <a:xfrm>
            <a:off x="8210245" y="4061799"/>
            <a:ext cx="3181350" cy="0"/>
          </a:xfrm>
          <a:prstGeom prst="line">
            <a:avLst/>
          </a:prstGeom>
          <a:ln w="9525" cap="flat">
            <a:solidFill>
              <a:srgbClr val="DFE7F1"/>
            </a:solidFill>
          </a:ln>
        </p:spPr>
      </p:cxnSp>
      <p:cxnSp>
        <p:nvCxnSpPr>
          <p:cNvPr id="26" name="Line 26"/>
          <p:cNvCxnSpPr/>
          <p:nvPr/>
        </p:nvCxnSpPr>
        <p:spPr>
          <a:xfrm>
            <a:off x="8210245" y="3689265"/>
            <a:ext cx="3181350" cy="0"/>
          </a:xfrm>
          <a:prstGeom prst="line">
            <a:avLst/>
          </a:prstGeom>
          <a:ln w="9525" cap="flat">
            <a:solidFill>
              <a:srgbClr val="DFE7F1"/>
            </a:solidFill>
          </a:ln>
        </p:spPr>
      </p:cxnSp>
      <p:cxnSp>
        <p:nvCxnSpPr>
          <p:cNvPr id="27" name="Line 27"/>
          <p:cNvCxnSpPr/>
          <p:nvPr/>
        </p:nvCxnSpPr>
        <p:spPr>
          <a:xfrm>
            <a:off x="8210245" y="3316732"/>
            <a:ext cx="3181350" cy="0"/>
          </a:xfrm>
          <a:prstGeom prst="line">
            <a:avLst/>
          </a:prstGeom>
          <a:ln w="9525" cap="flat">
            <a:solidFill>
              <a:srgbClr val="DFE7F1"/>
            </a:solidFill>
          </a:ln>
        </p:spPr>
      </p:cxnSp>
      <p:cxnSp>
        <p:nvCxnSpPr>
          <p:cNvPr id="28" name="Line 28"/>
          <p:cNvCxnSpPr/>
          <p:nvPr/>
        </p:nvCxnSpPr>
        <p:spPr>
          <a:xfrm>
            <a:off x="8210245" y="2944199"/>
            <a:ext cx="3181350" cy="0"/>
          </a:xfrm>
          <a:prstGeom prst="line">
            <a:avLst/>
          </a:prstGeom>
          <a:ln w="9525" cap="flat">
            <a:solidFill>
              <a:srgbClr val="DFE7F1"/>
            </a:solidFill>
          </a:ln>
        </p:spPr>
      </p:cxnSp>
      <p:cxnSp>
        <p:nvCxnSpPr>
          <p:cNvPr id="29" name="Line 29"/>
          <p:cNvCxnSpPr/>
          <p:nvPr/>
        </p:nvCxnSpPr>
        <p:spPr>
          <a:xfrm>
            <a:off x="8210245" y="2571665"/>
            <a:ext cx="3181350" cy="0"/>
          </a:xfrm>
          <a:prstGeom prst="line">
            <a:avLst/>
          </a:prstGeom>
          <a:ln w="9525" cap="flat">
            <a:solidFill>
              <a:srgbClr val="DFE7F1"/>
            </a:solidFill>
          </a:ln>
        </p:spPr>
      </p:cxnSp>
      <p:cxnSp>
        <p:nvCxnSpPr>
          <p:cNvPr id="30" name="Line 30"/>
          <p:cNvCxnSpPr/>
          <p:nvPr/>
        </p:nvCxnSpPr>
        <p:spPr>
          <a:xfrm>
            <a:off x="8210245" y="2199132"/>
            <a:ext cx="3181350" cy="0"/>
          </a:xfrm>
          <a:prstGeom prst="line">
            <a:avLst/>
          </a:prstGeom>
          <a:ln w="9525" cap="flat">
            <a:solidFill>
              <a:srgbClr val="DFE7F1"/>
            </a:solidFill>
          </a:ln>
        </p:spPr>
      </p:cxnSp>
      <p:cxnSp>
        <p:nvCxnSpPr>
          <p:cNvPr id="31" name="Line 31"/>
          <p:cNvCxnSpPr/>
          <p:nvPr/>
        </p:nvCxnSpPr>
        <p:spPr>
          <a:xfrm>
            <a:off x="8210245" y="2199132"/>
            <a:ext cx="0" cy="3352800"/>
          </a:xfrm>
          <a:prstGeom prst="line">
            <a:avLst/>
          </a:prstGeom>
          <a:ln w="19050" cap="flat">
            <a:solidFill>
              <a:srgbClr val="56647D"/>
            </a:solidFill>
          </a:ln>
        </p:spPr>
      </p:cxnSp>
      <p:cxnSp>
        <p:nvCxnSpPr>
          <p:cNvPr id="32" name="Line 32"/>
          <p:cNvCxnSpPr/>
          <p:nvPr/>
        </p:nvCxnSpPr>
        <p:spPr>
          <a:xfrm>
            <a:off x="8210245" y="5551932"/>
            <a:ext cx="3181350" cy="0"/>
          </a:xfrm>
          <a:prstGeom prst="line">
            <a:avLst/>
          </a:prstGeom>
          <a:ln w="19050" cap="flat">
            <a:solidFill>
              <a:srgbClr val="56647D"/>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223A"/>
            </a:solidFill>
          </a:ln>
        </p:spPr>
      </p:cxnSp>
      <p:sp>
        <p:nvSpPr>
          <p:cNvPr id="44" name="Shape 44"/>
          <p:cNvSpPr/>
          <p:nvPr/>
        </p:nvSpPr>
        <p:spPr>
          <a:xfrm>
            <a:off x="10219844" y="2333011"/>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1D64C4"/>
                </a:solidFill>
                <a:latin typeface="Calibri"/>
                <a:cs typeface="Calibri"/>
              </a:rPr>
              <a:t xml:space="preserve">(35, 102)</a:t>
            </a:r>
            <a:endParaRPr lang="en-US" sz="1125" dirty="0"/>
          </a:p>
        </p:txBody>
      </p:sp>
      <p:sp>
        <p:nvSpPr>
          <p:cNvPr id="46" name="Shape 46"/>
          <p:cNvSpPr/>
          <p:nvPr/>
        </p:nvSpPr>
        <p:spPr>
          <a:xfrm>
            <a:off x="10632241" y="4878656"/>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1D64C4"/>
                </a:solidFill>
                <a:latin typeface="Calibri"/>
                <a:cs typeface="Calibr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Activity 4.1 · Questions 7–8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DFE7F1"/>
          </a:solidFill>
          <a:ln w="12700">
            <a:solidFill>
              <a:srgbClr val="CDD8E6"/>
            </a:solidFill>
          </a:ln>
        </p:spPr>
        <p:txBody>
          <a:bodyPr wrap="square" lIns="109728" tIns="45720" rIns="109728" bIns="45720" anchor="ctr">
            <a:noAutofit/>
          </a:bodyPr>
          <a:lstStyle/>
          <a:p>
            <a:pPr algn="ctr">
              <a:lnSpc>
                <a:spcPct val="100000"/>
              </a:lnSpc>
            </a:pPr>
            <a:r>
              <a:rPr lang="en-US" sz="2250" dirty="0" i="1">
                <a:solidFill>
                  <a:srgbClr val="16223A"/>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DFE7F1"/>
          </a:solidFill>
          <a:ln w="12700">
            <a:solidFill>
              <a:srgbClr val="CDD8E6"/>
            </a:solidFill>
          </a:ln>
        </p:spPr>
        <p:txBody>
          <a:bodyPr wrap="square" lIns="109728" tIns="45720" rIns="109728" bIns="45720" anchor="ctr">
            <a:noAutofit/>
          </a:bodyPr>
          <a:lstStyle/>
          <a:p>
            <a:pPr algn="ctr">
              <a:lnSpc>
                <a:spcPct val="100000"/>
              </a:lnSpc>
            </a:pPr>
            <a:r>
              <a:rPr lang="en-US" sz="2250" dirty="0" i="1">
                <a:solidFill>
                  <a:srgbClr val="16223A"/>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−6 − (−6)</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1 − (−5)</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0</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6</a:t>
            </a:r>
            <a:r>
              <a:rPr lang="en-US" sz="2325" dirty="0">
                <a:solidFill>
                  <a:srgbClr val="16223A"/>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223A"/>
                </a:solidFill>
                <a:latin typeface="Cambria"/>
                <a:cs typeface="Cambria"/>
              </a:rPr>
              <a:t xml:space="preserve">(</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There is </a:t>
            </a:r>
            <a:r>
              <a:rPr lang="en-US" sz="1575" dirty="0" b="1">
                <a:solidFill>
                  <a:srgbClr val="16223A"/>
                </a:solidFill>
                <a:latin typeface="Calibri"/>
                <a:cs typeface="Calibri"/>
              </a:rPr>
              <a:t xml:space="preserve">no </a:t>
            </a:r>
            <a:r>
              <a:rPr lang="en-US" sz="1575" dirty="0" b="1" i="1">
                <a:solidFill>
                  <a:srgbClr val="16223A"/>
                </a:solidFill>
                <a:latin typeface="Calibri"/>
                <a:cs typeface="Calibri"/>
              </a:rPr>
              <a:t xml:space="preserve">x</a:t>
            </a:r>
            <a:r>
              <a:rPr lang="en-US" sz="1575" dirty="0" b="1">
                <a:solidFill>
                  <a:srgbClr val="16223A"/>
                </a:solidFill>
                <a:latin typeface="Calibri"/>
                <a:cs typeface="Calibri"/>
              </a:rPr>
              <a:t xml:space="preserve">-term</a:t>
            </a:r>
            <a:r>
              <a:rPr lang="en-US" sz="1575" dirty="0">
                <a:solidFill>
                  <a:srgbClr val="16223A"/>
                </a:solidFill>
                <a:latin typeface="Calibri"/>
                <a:cs typeface="Calibri"/>
              </a:rPr>
              <a:t xml:space="preserve">. </a:t>
            </a:r>
            <a:r>
              <a:rPr lang="en-US" sz="1575" dirty="0" i="1">
                <a:solidFill>
                  <a:srgbClr val="16223A"/>
                </a:solidFill>
                <a:latin typeface="Calibri"/>
                <a:cs typeface="Calibri"/>
              </a:rPr>
              <a:t xml:space="preserve">y</a:t>
            </a:r>
            <a:r>
              <a:rPr lang="en-US" sz="1575" dirty="0">
                <a:solidFill>
                  <a:srgbClr val="16223A"/>
                </a:solidFill>
                <a:latin typeface="Calibri"/>
                <a:cs typeface="Calibri"/>
              </a:rPr>
              <a:t xml:space="preserve"> is always −6, whatever </a:t>
            </a:r>
            <a:r>
              <a:rPr lang="en-US" sz="1575" dirty="0" i="1">
                <a:solidFill>
                  <a:srgbClr val="16223A"/>
                </a:solidFill>
                <a:latin typeface="Calibri"/>
                <a:cs typeface="Calibri"/>
              </a:rPr>
              <a:t xml:space="preserve">x</a:t>
            </a:r>
            <a:r>
              <a:rPr lang="en-US" sz="1575" dirty="0">
                <a:solidFill>
                  <a:srgbClr val="16223A"/>
                </a:solidFill>
                <a:latin typeface="Calibri"/>
                <a:cs typeface="Calibri"/>
              </a:rPr>
              <a:t xml:space="preserve"> is. This is a </a:t>
            </a:r>
            <a:r>
              <a:rPr lang="en-US" sz="1575" dirty="0" b="1">
                <a:solidFill>
                  <a:srgbClr val="16223A"/>
                </a:solidFill>
                <a:latin typeface="Calibri"/>
                <a:cs typeface="Calibri"/>
              </a:rPr>
              <a:t xml:space="preserve">constant function</a:t>
            </a:r>
            <a:r>
              <a:rPr lang="en-US" sz="1575" dirty="0">
                <a:solidFill>
                  <a:srgbClr val="16223A"/>
                </a:solidFill>
                <a:latin typeface="Calibri"/>
                <a:cs typeface="Calibr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DFE7F1"/>
            </a:solidFill>
          </a:ln>
        </p:spPr>
      </p:cxnSp>
      <p:cxnSp>
        <p:nvCxnSpPr>
          <p:cNvPr id="21" name="Line 21"/>
          <p:cNvCxnSpPr/>
          <p:nvPr/>
        </p:nvCxnSpPr>
        <p:spPr>
          <a:xfrm>
            <a:off x="9214180" y="1732788"/>
            <a:ext cx="0" cy="2686050"/>
          </a:xfrm>
          <a:prstGeom prst="line">
            <a:avLst/>
          </a:prstGeom>
          <a:ln w="9525" cap="flat">
            <a:solidFill>
              <a:srgbClr val="DFE7F1"/>
            </a:solidFill>
          </a:ln>
        </p:spPr>
      </p:cxnSp>
      <p:cxnSp>
        <p:nvCxnSpPr>
          <p:cNvPr id="22" name="Line 22"/>
          <p:cNvCxnSpPr/>
          <p:nvPr/>
        </p:nvCxnSpPr>
        <p:spPr>
          <a:xfrm>
            <a:off x="9456115" y="1732788"/>
            <a:ext cx="0" cy="2686050"/>
          </a:xfrm>
          <a:prstGeom prst="line">
            <a:avLst/>
          </a:prstGeom>
          <a:ln w="9525" cap="flat">
            <a:solidFill>
              <a:srgbClr val="DFE7F1"/>
            </a:solidFill>
          </a:ln>
        </p:spPr>
      </p:cxnSp>
      <p:cxnSp>
        <p:nvCxnSpPr>
          <p:cNvPr id="23" name="Line 23"/>
          <p:cNvCxnSpPr/>
          <p:nvPr/>
        </p:nvCxnSpPr>
        <p:spPr>
          <a:xfrm>
            <a:off x="9698050" y="1732788"/>
            <a:ext cx="0" cy="2686050"/>
          </a:xfrm>
          <a:prstGeom prst="line">
            <a:avLst/>
          </a:prstGeom>
          <a:ln w="9525" cap="flat">
            <a:solidFill>
              <a:srgbClr val="DFE7F1"/>
            </a:solidFill>
          </a:ln>
        </p:spPr>
      </p:cxnSp>
      <p:cxnSp>
        <p:nvCxnSpPr>
          <p:cNvPr id="24" name="Line 24"/>
          <p:cNvCxnSpPr/>
          <p:nvPr/>
        </p:nvCxnSpPr>
        <p:spPr>
          <a:xfrm>
            <a:off x="9939985" y="1732788"/>
            <a:ext cx="0" cy="2686050"/>
          </a:xfrm>
          <a:prstGeom prst="line">
            <a:avLst/>
          </a:prstGeom>
          <a:ln w="9525" cap="flat">
            <a:solidFill>
              <a:srgbClr val="DFE7F1"/>
            </a:solidFill>
          </a:ln>
        </p:spPr>
      </p:cxnSp>
      <p:cxnSp>
        <p:nvCxnSpPr>
          <p:cNvPr id="25" name="Line 25"/>
          <p:cNvCxnSpPr/>
          <p:nvPr/>
        </p:nvCxnSpPr>
        <p:spPr>
          <a:xfrm>
            <a:off x="10181920" y="1732788"/>
            <a:ext cx="0" cy="2686050"/>
          </a:xfrm>
          <a:prstGeom prst="line">
            <a:avLst/>
          </a:prstGeom>
          <a:ln w="9525" cap="flat">
            <a:solidFill>
              <a:srgbClr val="DFE7F1"/>
            </a:solidFill>
          </a:ln>
        </p:spPr>
      </p:cxnSp>
      <p:cxnSp>
        <p:nvCxnSpPr>
          <p:cNvPr id="26" name="Line 26"/>
          <p:cNvCxnSpPr/>
          <p:nvPr/>
        </p:nvCxnSpPr>
        <p:spPr>
          <a:xfrm>
            <a:off x="10423855" y="1732788"/>
            <a:ext cx="0" cy="2686050"/>
          </a:xfrm>
          <a:prstGeom prst="line">
            <a:avLst/>
          </a:prstGeom>
          <a:ln w="9525" cap="flat">
            <a:solidFill>
              <a:srgbClr val="DFE7F1"/>
            </a:solidFill>
          </a:ln>
        </p:spPr>
      </p:cxnSp>
      <p:cxnSp>
        <p:nvCxnSpPr>
          <p:cNvPr id="27" name="Line 27"/>
          <p:cNvCxnSpPr/>
          <p:nvPr/>
        </p:nvCxnSpPr>
        <p:spPr>
          <a:xfrm>
            <a:off x="10665790" y="1732788"/>
            <a:ext cx="0" cy="2686050"/>
          </a:xfrm>
          <a:prstGeom prst="line">
            <a:avLst/>
          </a:prstGeom>
          <a:ln w="9525" cap="flat">
            <a:solidFill>
              <a:srgbClr val="DFE7F1"/>
            </a:solidFill>
          </a:ln>
        </p:spPr>
      </p:cxnSp>
      <p:cxnSp>
        <p:nvCxnSpPr>
          <p:cNvPr id="28" name="Line 28"/>
          <p:cNvCxnSpPr/>
          <p:nvPr/>
        </p:nvCxnSpPr>
        <p:spPr>
          <a:xfrm>
            <a:off x="10907725" y="1732788"/>
            <a:ext cx="0" cy="2686050"/>
          </a:xfrm>
          <a:prstGeom prst="line">
            <a:avLst/>
          </a:prstGeom>
          <a:ln w="9525" cap="flat">
            <a:solidFill>
              <a:srgbClr val="DFE7F1"/>
            </a:solidFill>
          </a:ln>
        </p:spPr>
      </p:cxnSp>
      <p:cxnSp>
        <p:nvCxnSpPr>
          <p:cNvPr id="29" name="Line 29"/>
          <p:cNvCxnSpPr/>
          <p:nvPr/>
        </p:nvCxnSpPr>
        <p:spPr>
          <a:xfrm>
            <a:off x="11149660" y="1732788"/>
            <a:ext cx="0" cy="2686050"/>
          </a:xfrm>
          <a:prstGeom prst="line">
            <a:avLst/>
          </a:prstGeom>
          <a:ln w="9525" cap="flat">
            <a:solidFill>
              <a:srgbClr val="DFE7F1"/>
            </a:solidFill>
          </a:ln>
        </p:spPr>
      </p:cxnSp>
      <p:cxnSp>
        <p:nvCxnSpPr>
          <p:cNvPr id="30" name="Line 30"/>
          <p:cNvCxnSpPr/>
          <p:nvPr/>
        </p:nvCxnSpPr>
        <p:spPr>
          <a:xfrm>
            <a:off x="11391595" y="1732788"/>
            <a:ext cx="0" cy="2686050"/>
          </a:xfrm>
          <a:prstGeom prst="line">
            <a:avLst/>
          </a:prstGeom>
          <a:ln w="9525" cap="flat">
            <a:solidFill>
              <a:srgbClr val="DFE7F1"/>
            </a:solidFill>
          </a:ln>
        </p:spPr>
      </p:cxnSp>
      <p:cxnSp>
        <p:nvCxnSpPr>
          <p:cNvPr id="31" name="Line 31"/>
          <p:cNvCxnSpPr/>
          <p:nvPr/>
        </p:nvCxnSpPr>
        <p:spPr>
          <a:xfrm>
            <a:off x="8972245" y="4418838"/>
            <a:ext cx="2419350" cy="0"/>
          </a:xfrm>
          <a:prstGeom prst="line">
            <a:avLst/>
          </a:prstGeom>
          <a:ln w="9525" cap="flat">
            <a:solidFill>
              <a:srgbClr val="DFE7F1"/>
            </a:solidFill>
          </a:ln>
        </p:spPr>
      </p:cxnSp>
      <p:cxnSp>
        <p:nvCxnSpPr>
          <p:cNvPr id="32" name="Line 32"/>
          <p:cNvCxnSpPr/>
          <p:nvPr/>
        </p:nvCxnSpPr>
        <p:spPr>
          <a:xfrm>
            <a:off x="8972245" y="4150233"/>
            <a:ext cx="2419350" cy="0"/>
          </a:xfrm>
          <a:prstGeom prst="line">
            <a:avLst/>
          </a:prstGeom>
          <a:ln w="9525" cap="flat">
            <a:solidFill>
              <a:srgbClr val="DFE7F1"/>
            </a:solidFill>
          </a:ln>
        </p:spPr>
      </p:cxnSp>
      <p:cxnSp>
        <p:nvCxnSpPr>
          <p:cNvPr id="33" name="Line 33"/>
          <p:cNvCxnSpPr/>
          <p:nvPr/>
        </p:nvCxnSpPr>
        <p:spPr>
          <a:xfrm>
            <a:off x="8972245" y="3881628"/>
            <a:ext cx="2419350" cy="0"/>
          </a:xfrm>
          <a:prstGeom prst="line">
            <a:avLst/>
          </a:prstGeom>
          <a:ln w="9525" cap="flat">
            <a:solidFill>
              <a:srgbClr val="DFE7F1"/>
            </a:solidFill>
          </a:ln>
        </p:spPr>
      </p:cxnSp>
      <p:cxnSp>
        <p:nvCxnSpPr>
          <p:cNvPr id="34" name="Line 34"/>
          <p:cNvCxnSpPr/>
          <p:nvPr/>
        </p:nvCxnSpPr>
        <p:spPr>
          <a:xfrm>
            <a:off x="8972245" y="3613023"/>
            <a:ext cx="2419350" cy="0"/>
          </a:xfrm>
          <a:prstGeom prst="line">
            <a:avLst/>
          </a:prstGeom>
          <a:ln w="9525" cap="flat">
            <a:solidFill>
              <a:srgbClr val="DFE7F1"/>
            </a:solidFill>
          </a:ln>
        </p:spPr>
      </p:cxnSp>
      <p:cxnSp>
        <p:nvCxnSpPr>
          <p:cNvPr id="35" name="Line 35"/>
          <p:cNvCxnSpPr/>
          <p:nvPr/>
        </p:nvCxnSpPr>
        <p:spPr>
          <a:xfrm>
            <a:off x="8972245" y="3344418"/>
            <a:ext cx="2419350" cy="0"/>
          </a:xfrm>
          <a:prstGeom prst="line">
            <a:avLst/>
          </a:prstGeom>
          <a:ln w="9525" cap="flat">
            <a:solidFill>
              <a:srgbClr val="DFE7F1"/>
            </a:solidFill>
          </a:ln>
        </p:spPr>
      </p:cxnSp>
      <p:cxnSp>
        <p:nvCxnSpPr>
          <p:cNvPr id="36" name="Line 36"/>
          <p:cNvCxnSpPr/>
          <p:nvPr/>
        </p:nvCxnSpPr>
        <p:spPr>
          <a:xfrm>
            <a:off x="8972245" y="3075813"/>
            <a:ext cx="2419350" cy="0"/>
          </a:xfrm>
          <a:prstGeom prst="line">
            <a:avLst/>
          </a:prstGeom>
          <a:ln w="9525" cap="flat">
            <a:solidFill>
              <a:srgbClr val="DFE7F1"/>
            </a:solidFill>
          </a:ln>
        </p:spPr>
      </p:cxnSp>
      <p:cxnSp>
        <p:nvCxnSpPr>
          <p:cNvPr id="37" name="Line 37"/>
          <p:cNvCxnSpPr/>
          <p:nvPr/>
        </p:nvCxnSpPr>
        <p:spPr>
          <a:xfrm>
            <a:off x="8972245" y="2807208"/>
            <a:ext cx="2419350" cy="0"/>
          </a:xfrm>
          <a:prstGeom prst="line">
            <a:avLst/>
          </a:prstGeom>
          <a:ln w="9525" cap="flat">
            <a:solidFill>
              <a:srgbClr val="DFE7F1"/>
            </a:solidFill>
          </a:ln>
        </p:spPr>
      </p:cxnSp>
      <p:cxnSp>
        <p:nvCxnSpPr>
          <p:cNvPr id="38" name="Line 38"/>
          <p:cNvCxnSpPr/>
          <p:nvPr/>
        </p:nvCxnSpPr>
        <p:spPr>
          <a:xfrm>
            <a:off x="8972245" y="2538603"/>
            <a:ext cx="2419350" cy="0"/>
          </a:xfrm>
          <a:prstGeom prst="line">
            <a:avLst/>
          </a:prstGeom>
          <a:ln w="9525" cap="flat">
            <a:solidFill>
              <a:srgbClr val="DFE7F1"/>
            </a:solidFill>
          </a:ln>
        </p:spPr>
      </p:cxnSp>
      <p:cxnSp>
        <p:nvCxnSpPr>
          <p:cNvPr id="39" name="Line 39"/>
          <p:cNvCxnSpPr/>
          <p:nvPr/>
        </p:nvCxnSpPr>
        <p:spPr>
          <a:xfrm>
            <a:off x="8972245" y="2269998"/>
            <a:ext cx="2419350" cy="0"/>
          </a:xfrm>
          <a:prstGeom prst="line">
            <a:avLst/>
          </a:prstGeom>
          <a:ln w="9525" cap="flat">
            <a:solidFill>
              <a:srgbClr val="DFE7F1"/>
            </a:solidFill>
          </a:ln>
        </p:spPr>
      </p:cxnSp>
      <p:cxnSp>
        <p:nvCxnSpPr>
          <p:cNvPr id="40" name="Line 40"/>
          <p:cNvCxnSpPr/>
          <p:nvPr/>
        </p:nvCxnSpPr>
        <p:spPr>
          <a:xfrm>
            <a:off x="8972245" y="2001393"/>
            <a:ext cx="2419350" cy="0"/>
          </a:xfrm>
          <a:prstGeom prst="line">
            <a:avLst/>
          </a:prstGeom>
          <a:ln w="9525" cap="flat">
            <a:solidFill>
              <a:srgbClr val="DFE7F1"/>
            </a:solidFill>
          </a:ln>
        </p:spPr>
      </p:cxnSp>
      <p:cxnSp>
        <p:nvCxnSpPr>
          <p:cNvPr id="41" name="Line 41"/>
          <p:cNvCxnSpPr/>
          <p:nvPr/>
        </p:nvCxnSpPr>
        <p:spPr>
          <a:xfrm>
            <a:off x="8972245" y="1732788"/>
            <a:ext cx="2419350" cy="0"/>
          </a:xfrm>
          <a:prstGeom prst="line">
            <a:avLst/>
          </a:prstGeom>
          <a:ln w="9525" cap="flat">
            <a:solidFill>
              <a:srgbClr val="DFE7F1"/>
            </a:solidFill>
          </a:ln>
        </p:spPr>
      </p:cxnSp>
      <p:cxnSp>
        <p:nvCxnSpPr>
          <p:cNvPr id="42" name="Line 42"/>
          <p:cNvCxnSpPr/>
          <p:nvPr/>
        </p:nvCxnSpPr>
        <p:spPr>
          <a:xfrm>
            <a:off x="10423855" y="1732788"/>
            <a:ext cx="0" cy="2686050"/>
          </a:xfrm>
          <a:prstGeom prst="line">
            <a:avLst/>
          </a:prstGeom>
          <a:ln w="19050" cap="flat">
            <a:solidFill>
              <a:srgbClr val="56647D"/>
            </a:solidFill>
          </a:ln>
        </p:spPr>
      </p:cxnSp>
      <p:cxnSp>
        <p:nvCxnSpPr>
          <p:cNvPr id="43" name="Line 43"/>
          <p:cNvCxnSpPr/>
          <p:nvPr/>
        </p:nvCxnSpPr>
        <p:spPr>
          <a:xfrm>
            <a:off x="8972245" y="2269998"/>
            <a:ext cx="2419350" cy="0"/>
          </a:xfrm>
          <a:prstGeom prst="line">
            <a:avLst/>
          </a:prstGeom>
          <a:ln w="19050" cap="flat">
            <a:solidFill>
              <a:srgbClr val="56647D"/>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a:t>
            </a:r>
            <a:endParaRPr lang="en-US" sz="975" dirty="0"/>
          </a:p>
        </p:txBody>
      </p:sp>
      <p:sp>
        <p:nvSpPr>
          <p:cNvPr id="56" name="Shape 56"/>
          <p:cNvSpPr/>
          <p:nvPr/>
        </p:nvSpPr>
        <p:spPr>
          <a:xfrm>
            <a:off x="9161793" y="3829240"/>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223A"/>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223A"/>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Activity 4.1 · Question 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223A"/>
                </a:solidFill>
                <a:latin typeface="Calibri"/>
                <a:cs typeface="Calibr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223A"/>
                </a:solidFill>
                <a:latin typeface="Calibri"/>
                <a:cs typeface="Calibr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CDD8E6"/>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223A"/>
                </a:solidFill>
                <a:latin typeface="Calibri"/>
                <a:cs typeface="Calibri"/>
              </a:rPr>
              <a:t xml:space="preserve">the slope and the </a:t>
            </a:r>
            <a:r>
              <a:rPr lang="en-US" sz="1800" dirty="0" i="1">
                <a:solidFill>
                  <a:srgbClr val="16223A"/>
                </a:solidFill>
                <a:latin typeface="Calibri"/>
                <a:cs typeface="Calibri"/>
              </a:rPr>
              <a:t xml:space="preserve">y</a:t>
            </a:r>
            <a:r>
              <a:rPr lang="en-US" sz="1800" dirty="0">
                <a:solidFill>
                  <a:srgbClr val="16223A"/>
                </a:solidFill>
                <a:latin typeface="Calibri"/>
                <a:cs typeface="Calibr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223A"/>
                </a:solidFill>
                <a:latin typeface="Calibri"/>
                <a:cs typeface="Calibri"/>
              </a:rPr>
              <a:t xml:space="preserve">Slope-intercept form</a:t>
            </a:r>
            <a:r>
              <a:rPr lang="en-US" sz="1800" dirty="0">
                <a:solidFill>
                  <a:srgbClr val="16223A"/>
                </a:solidFill>
                <a:latin typeface="Calibri"/>
                <a:cs typeface="Calibri"/>
              </a:rPr>
              <a:t xml:space="preserve">. Plug in </a:t>
            </a:r>
            <a:r>
              <a:rPr lang="en-US" sz="1800" dirty="0" i="1">
                <a:solidFill>
                  <a:srgbClr val="16223A"/>
                </a:solidFill>
                <a:latin typeface="Calibri"/>
                <a:cs typeface="Calibri"/>
              </a:rPr>
              <a:t xml:space="preserve">m</a:t>
            </a:r>
            <a:r>
              <a:rPr lang="en-US" sz="1800" dirty="0">
                <a:solidFill>
                  <a:srgbClr val="16223A"/>
                </a:solidFill>
                <a:latin typeface="Calibri"/>
                <a:cs typeface="Calibri"/>
              </a:rPr>
              <a:t xml:space="preserve"> and </a:t>
            </a:r>
            <a:r>
              <a:rPr lang="en-US" sz="1800" dirty="0" i="1">
                <a:solidFill>
                  <a:srgbClr val="16223A"/>
                </a:solidFill>
                <a:latin typeface="Calibri"/>
                <a:cs typeface="Calibri"/>
              </a:rPr>
              <a:t xml:space="preserve">b</a:t>
            </a:r>
            <a:r>
              <a:rPr lang="en-US" sz="1800" dirty="0">
                <a:solidFill>
                  <a:srgbClr val="16223A"/>
                </a:solidFill>
                <a:latin typeface="Calibri"/>
                <a:cs typeface="Calibr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CDD8E6"/>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223A"/>
                </a:solidFill>
                <a:latin typeface="Calibri"/>
                <a:cs typeface="Calibr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223A"/>
                </a:solidFill>
                <a:latin typeface="Calibri"/>
                <a:cs typeface="Calibri"/>
              </a:rPr>
              <a:t xml:space="preserve">Find the slope first, then use </a:t>
            </a:r>
            <a:r>
              <a:rPr lang="en-US" sz="1800" dirty="0" b="1">
                <a:solidFill>
                  <a:srgbClr val="16223A"/>
                </a:solidFill>
                <a:latin typeface="Calibri"/>
                <a:cs typeface="Calibri"/>
              </a:rPr>
              <a:t xml:space="preserve">point-slope form</a:t>
            </a:r>
            <a:r>
              <a:rPr lang="en-US" sz="1800" dirty="0">
                <a:solidFill>
                  <a:srgbClr val="16223A"/>
                </a:solidFill>
                <a:latin typeface="Calibri"/>
                <a:cs typeface="Calibr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CDD8E6"/>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223A"/>
                </a:solidFill>
                <a:latin typeface="Calibri"/>
                <a:cs typeface="Calibri"/>
              </a:rPr>
              <a:t xml:space="preserve">the slope and a point that is not the </a:t>
            </a:r>
            <a:r>
              <a:rPr lang="en-US" sz="1800" dirty="0" i="1">
                <a:solidFill>
                  <a:srgbClr val="16223A"/>
                </a:solidFill>
                <a:latin typeface="Calibri"/>
                <a:cs typeface="Calibri"/>
              </a:rPr>
              <a:t xml:space="preserve">y</a:t>
            </a:r>
            <a:r>
              <a:rPr lang="en-US" sz="1800" dirty="0">
                <a:solidFill>
                  <a:srgbClr val="16223A"/>
                </a:solidFill>
                <a:latin typeface="Calibri"/>
                <a:cs typeface="Calibr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223A"/>
                </a:solidFill>
                <a:latin typeface="Calibri"/>
                <a:cs typeface="Calibri"/>
              </a:rPr>
              <a:t xml:space="preserve">Point-slope form</a:t>
            </a:r>
            <a:r>
              <a:rPr lang="en-US" sz="1800" dirty="0">
                <a:solidFill>
                  <a:srgbClr val="16223A"/>
                </a:solidFill>
                <a:latin typeface="Calibri"/>
                <a:cs typeface="Calibri"/>
              </a:rPr>
              <a:t xml:space="preserve">. Plug in </a:t>
            </a:r>
            <a:r>
              <a:rPr lang="en-US" sz="1800" dirty="0" i="1">
                <a:solidFill>
                  <a:srgbClr val="16223A"/>
                </a:solidFill>
                <a:latin typeface="Calibri"/>
                <a:cs typeface="Calibri"/>
              </a:rPr>
              <a:t xml:space="preserve">m</a:t>
            </a:r>
            <a:r>
              <a:rPr lang="en-US" sz="1800" dirty="0">
                <a:solidFill>
                  <a:srgbClr val="16223A"/>
                </a:solidFill>
                <a:latin typeface="Calibri"/>
                <a:cs typeface="Calibri"/>
              </a:rPr>
              <a:t xml:space="preserve">, </a:t>
            </a:r>
            <a:r>
              <a:rPr lang="en-US" sz="1800" dirty="0" i="1">
                <a:solidFill>
                  <a:srgbClr val="16223A"/>
                </a:solidFill>
                <a:latin typeface="Calibri"/>
                <a:cs typeface="Calibri"/>
              </a:rPr>
              <a:t xml:space="preserve">x</a:t>
            </a:r>
            <a:r>
              <a:rPr lang="en-US" sz="1530" dirty="0" baseline="-25000">
                <a:solidFill>
                  <a:srgbClr val="16223A"/>
                </a:solidFill>
                <a:latin typeface="Calibri"/>
                <a:cs typeface="Calibri"/>
              </a:rPr>
              <a:t xml:space="preserve">1</a:t>
            </a:r>
            <a:r>
              <a:rPr lang="en-US" sz="1800" dirty="0">
                <a:solidFill>
                  <a:srgbClr val="16223A"/>
                </a:solidFill>
                <a:latin typeface="Calibri"/>
                <a:cs typeface="Calibri"/>
              </a:rPr>
              <a:t xml:space="preserve">, </a:t>
            </a:r>
            <a:r>
              <a:rPr lang="en-US" sz="1800" dirty="0" i="1">
                <a:solidFill>
                  <a:srgbClr val="16223A"/>
                </a:solidFill>
                <a:latin typeface="Calibri"/>
                <a:cs typeface="Calibri"/>
              </a:rPr>
              <a:t xml:space="preserve">y</a:t>
            </a:r>
            <a:r>
              <a:rPr lang="en-US" sz="1530" dirty="0" baseline="-25000">
                <a:solidFill>
                  <a:srgbClr val="16223A"/>
                </a:solidFill>
                <a:latin typeface="Calibri"/>
                <a:cs typeface="Calibri"/>
              </a:rPr>
              <a:t xml:space="preserve">1</a:t>
            </a:r>
            <a:r>
              <a:rPr lang="en-US" sz="1800" dirty="0">
                <a:solidFill>
                  <a:srgbClr val="16223A"/>
                </a:solidFill>
                <a:latin typeface="Calibri"/>
                <a:cs typeface="Calibr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CDD8E6"/>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Activity 4.2 · Questions 1–2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The equation </a:t>
            </a:r>
            <a:r>
              <a:rPr lang="en-US" sz="1950" dirty="0" i="1">
                <a:solidFill>
                  <a:srgbClr val="16223A"/>
                </a:solidFill>
                <a:latin typeface="Cambria"/>
                <a:cs typeface="Cambria"/>
              </a:rPr>
              <a:t xml:space="preserve">y</a:t>
            </a:r>
            <a:r>
              <a:rPr lang="en-US" sz="1950" dirty="0">
                <a:solidFill>
                  <a:srgbClr val="16223A"/>
                </a:solidFill>
                <a:latin typeface="Cambria"/>
                <a:cs typeface="Cambria"/>
              </a:rPr>
              <a:t xml:space="preserve"> = −6</a:t>
            </a:r>
            <a:r>
              <a:rPr lang="en-US" sz="1950" dirty="0">
                <a:solidFill>
                  <a:srgbClr val="16223A"/>
                </a:solidFill>
                <a:latin typeface="Calibri"/>
                <a:cs typeface="Calibri"/>
              </a:rPr>
              <a:t xml:space="preserve"> has no </a:t>
            </a:r>
            <a:r>
              <a:rPr lang="en-US" sz="1950" dirty="0" i="1">
                <a:solidFill>
                  <a:srgbClr val="16223A"/>
                </a:solidFill>
                <a:latin typeface="Calibri"/>
                <a:cs typeface="Calibri"/>
              </a:rPr>
              <a:t xml:space="preserve">x</a:t>
            </a:r>
            <a:r>
              <a:rPr lang="en-US" sz="1950" dirty="0">
                <a:solidFill>
                  <a:srgbClr val="16223A"/>
                </a:solidFill>
                <a:latin typeface="Calibri"/>
                <a:cs typeface="Calibri"/>
              </a:rPr>
              <a:t xml:space="preserve">. Its slope is </a:t>
            </a:r>
            <a:r>
              <a:rPr lang="en-US" sz="1950" dirty="0" b="1">
                <a:solidFill>
                  <a:srgbClr val="C9561F"/>
                </a:solidFill>
                <a:latin typeface="Cambria"/>
                <a:cs typeface="Cambria"/>
              </a:rPr>
              <a:t xml:space="preserve">0</a:t>
            </a:r>
            <a:r>
              <a:rPr lang="en-US" sz="1950" dirty="0">
                <a:solidFill>
                  <a:srgbClr val="16223A"/>
                </a:solidFill>
                <a:latin typeface="Calibri"/>
                <a:cs typeface="Calibr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Its graph is a </a:t>
            </a:r>
            <a:r>
              <a:rPr lang="en-US" sz="1950" dirty="0" b="1">
                <a:solidFill>
                  <a:srgbClr val="16223A"/>
                </a:solidFill>
                <a:latin typeface="Calibri"/>
                <a:cs typeface="Calibri"/>
              </a:rPr>
              <a:t xml:space="preserve">horizontal line</a:t>
            </a:r>
            <a:r>
              <a:rPr lang="en-US" sz="1950" dirty="0">
                <a:solidFill>
                  <a:srgbClr val="16223A"/>
                </a:solidFill>
                <a:latin typeface="Calibri"/>
                <a:cs typeface="Calibri"/>
              </a:rPr>
              <a:t xml:space="preserve"> through (0, −6). The </a:t>
            </a:r>
            <a:r>
              <a:rPr lang="en-US" sz="1950" dirty="0" i="1">
                <a:solidFill>
                  <a:srgbClr val="16223A"/>
                </a:solidFill>
                <a:latin typeface="Calibri"/>
                <a:cs typeface="Calibri"/>
              </a:rPr>
              <a:t xml:space="preserve">y</a:t>
            </a:r>
            <a:r>
              <a:rPr lang="en-US" sz="1950" dirty="0">
                <a:solidFill>
                  <a:srgbClr val="16223A"/>
                </a:solidFill>
                <a:latin typeface="Calibri"/>
                <a:cs typeface="Calibr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2a.</a:t>
            </a:r>
            <a:endParaRPr lang="en-US" sz="2100" dirty="0"/>
          </a:p>
        </p:txBody>
      </p:sp>
      <p:sp>
        <p:nvSpPr>
          <p:cNvPr id="7" name="Shape 7"/>
          <p:cNvSpPr txBox="1"/>
          <p:nvPr/>
        </p:nvSpPr>
        <p:spPr>
          <a:xfrm>
            <a:off x="685800" y="3528060"/>
            <a:ext cx="1143000" cy="489204"/>
          </a:xfrm>
          <a:prstGeom prst="rect">
            <a:avLst/>
          </a:prstGeom>
          <a:solidFill>
            <a:srgbClr val="DFE7F1"/>
          </a:solidFill>
          <a:ln w="12700">
            <a:solidFill>
              <a:srgbClr val="CDD8E6"/>
            </a:solidFill>
          </a:ln>
        </p:spPr>
        <p:txBody>
          <a:bodyPr wrap="square" lIns="109728" tIns="45720" rIns="109728" bIns="45720" anchor="ctr">
            <a:noAutofit/>
          </a:bodyPr>
          <a:lstStyle/>
          <a:p>
            <a:pPr algn="ctr">
              <a:lnSpc>
                <a:spcPct val="100000"/>
              </a:lnSpc>
            </a:pPr>
            <a:r>
              <a:rPr lang="en-US" sz="2250" dirty="0" i="1">
                <a:solidFill>
                  <a:srgbClr val="16223A"/>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DFE7F1"/>
          </a:solidFill>
          <a:ln w="12700">
            <a:solidFill>
              <a:srgbClr val="CDD8E6"/>
            </a:solidFill>
          </a:ln>
        </p:spPr>
        <p:txBody>
          <a:bodyPr wrap="square" lIns="109728" tIns="45720" rIns="109728" bIns="45720" anchor="ctr">
            <a:noAutofit/>
          </a:bodyPr>
          <a:lstStyle/>
          <a:p>
            <a:pPr algn="ctr">
              <a:lnSpc>
                <a:spcPct val="100000"/>
              </a:lnSpc>
            </a:pPr>
            <a:r>
              <a:rPr lang="en-US" sz="2250" dirty="0" i="1">
                <a:solidFill>
                  <a:srgbClr val="16223A"/>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Horizontal · slope 0 · </a:t>
            </a:r>
            <a:r>
              <a:rPr lang="en-US" sz="1575" dirty="0" i="1">
                <a:solidFill>
                  <a:srgbClr val="16223A"/>
                </a:solidFill>
                <a:latin typeface="Calibri"/>
                <a:cs typeface="Calibri"/>
              </a:rPr>
              <a:t xml:space="preserve">y</a:t>
            </a:r>
            <a:r>
              <a:rPr lang="en-US" sz="1575" dirty="0">
                <a:solidFill>
                  <a:srgbClr val="16223A"/>
                </a:solidFill>
                <a:latin typeface="Calibri"/>
                <a:cs typeface="Calibr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Both </a:t>
            </a:r>
            <a:r>
              <a:rPr lang="en-US" sz="1575" dirty="0" i="1">
                <a:solidFill>
                  <a:srgbClr val="16223A"/>
                </a:solidFill>
                <a:latin typeface="Calibri"/>
                <a:cs typeface="Calibri"/>
              </a:rPr>
              <a:t xml:space="preserve">y</a:t>
            </a:r>
            <a:r>
              <a:rPr lang="en-US" sz="1575" dirty="0">
                <a:solidFill>
                  <a:srgbClr val="16223A"/>
                </a:solidFill>
                <a:latin typeface="Calibri"/>
                <a:cs typeface="Calibr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Horizontal · slope 0 · </a:t>
            </a:r>
            <a:r>
              <a:rPr lang="en-US" sz="1575" dirty="0" i="1">
                <a:solidFill>
                  <a:srgbClr val="16223A"/>
                </a:solidFill>
                <a:latin typeface="Calibri"/>
                <a:cs typeface="Calibri"/>
              </a:rPr>
              <a:t xml:space="preserve">y</a:t>
            </a:r>
            <a:r>
              <a:rPr lang="en-US" sz="1575" dirty="0">
                <a:solidFill>
                  <a:srgbClr val="16223A"/>
                </a:solidFill>
                <a:latin typeface="Calibri"/>
                <a:cs typeface="Calibr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Activity 4.2 · Question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DFE7F1"/>
          </a:solidFill>
          <a:ln w="12700">
            <a:solidFill>
              <a:srgbClr val="CDD8E6"/>
            </a:solidFill>
          </a:ln>
        </p:spPr>
        <p:txBody>
          <a:bodyPr wrap="square" lIns="109728" tIns="45720" rIns="109728" bIns="45720" anchor="ctr">
            <a:noAutofit/>
          </a:bodyPr>
          <a:lstStyle/>
          <a:p>
            <a:pPr algn="ctr">
              <a:lnSpc>
                <a:spcPct val="100000"/>
              </a:lnSpc>
            </a:pPr>
            <a:r>
              <a:rPr lang="en-US" sz="2250" dirty="0" i="1">
                <a:solidFill>
                  <a:srgbClr val="16223A"/>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DFE7F1"/>
          </a:solidFill>
          <a:ln w="12700">
            <a:solidFill>
              <a:srgbClr val="CDD8E6"/>
            </a:solidFill>
          </a:ln>
        </p:spPr>
        <p:txBody>
          <a:bodyPr wrap="square" lIns="109728" tIns="45720" rIns="109728" bIns="45720" anchor="ctr">
            <a:noAutofit/>
          </a:bodyPr>
          <a:lstStyle/>
          <a:p>
            <a:pPr algn="ctr">
              <a:lnSpc>
                <a:spcPct val="100000"/>
              </a:lnSpc>
            </a:pPr>
            <a:r>
              <a:rPr lang="en-US" sz="2250" dirty="0" i="1">
                <a:solidFill>
                  <a:srgbClr val="16223A"/>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223A"/>
                </a:solidFill>
                <a:latin typeface="Calibri"/>
                <a:cs typeface="Calibri"/>
              </a:rPr>
              <a:t xml:space="preserve">Similar:</a:t>
            </a:r>
            <a:r>
              <a:rPr lang="en-US" sz="1575" dirty="0">
                <a:solidFill>
                  <a:srgbClr val="16223A"/>
                </a:solidFill>
                <a:latin typeface="Calibri"/>
                <a:cs typeface="Calibri"/>
              </a:rPr>
              <a:t xml:space="preserve"> one column repeats. </a:t>
            </a:r>
            <a:r>
              <a:rPr lang="en-US" sz="1575" dirty="0" b="1">
                <a:solidFill>
                  <a:srgbClr val="16223A"/>
                </a:solidFill>
                <a:latin typeface="Calibri"/>
                <a:cs typeface="Calibri"/>
              </a:rPr>
              <a:t xml:space="preserve">Different:</a:t>
            </a:r>
            <a:r>
              <a:rPr lang="en-US" sz="1575" dirty="0">
                <a:solidFill>
                  <a:srgbClr val="16223A"/>
                </a:solidFill>
                <a:latin typeface="Calibri"/>
                <a:cs typeface="Calibri"/>
              </a:rPr>
              <a:t xml:space="preserve"> this time it's the </a:t>
            </a:r>
            <a:r>
              <a:rPr lang="en-US" sz="1575" dirty="0" b="1" i="1">
                <a:solidFill>
                  <a:srgbClr val="16223A"/>
                </a:solidFill>
                <a:latin typeface="Calibri"/>
                <a:cs typeface="Calibri"/>
              </a:rPr>
              <a:t xml:space="preserve">x</a:t>
            </a:r>
            <a:r>
              <a:rPr lang="en-US" sz="1575" dirty="0">
                <a:solidFill>
                  <a:srgbClr val="16223A"/>
                </a:solidFill>
                <a:latin typeface="Calibri"/>
                <a:cs typeface="Calibr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Graph: a </a:t>
            </a:r>
            <a:r>
              <a:rPr lang="en-US" sz="1575" dirty="0" b="1">
                <a:solidFill>
                  <a:srgbClr val="16223A"/>
                </a:solidFill>
                <a:latin typeface="Calibri"/>
                <a:cs typeface="Calibri"/>
              </a:rPr>
              <a:t xml:space="preserve">vertical line</a:t>
            </a:r>
            <a:r>
              <a:rPr lang="en-US" sz="1575" dirty="0">
                <a:solidFill>
                  <a:srgbClr val="16223A"/>
                </a:solidFill>
                <a:latin typeface="Calibri"/>
                <a:cs typeface="Calibr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14 − 5</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−2 − (−2)</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9</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You can't divide by 0, so the slope is </a:t>
            </a:r>
            <a:r>
              <a:rPr lang="en-US" sz="1575" dirty="0" b="1">
                <a:solidFill>
                  <a:srgbClr val="C9561F"/>
                </a:solidFill>
                <a:latin typeface="Calibri"/>
                <a:cs typeface="Calibri"/>
              </a:rPr>
              <a:t xml:space="preserve">undefined</a:t>
            </a:r>
            <a:r>
              <a:rPr lang="en-US" sz="1575" dirty="0">
                <a:solidFill>
                  <a:srgbClr val="16223A"/>
                </a:solidFill>
                <a:latin typeface="Calibri"/>
                <a:cs typeface="Calibr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There is </a:t>
            </a:r>
            <a:r>
              <a:rPr lang="en-US" sz="1575" dirty="0" b="1">
                <a:solidFill>
                  <a:srgbClr val="16223A"/>
                </a:solidFill>
                <a:latin typeface="Calibri"/>
                <a:cs typeface="Calibri"/>
              </a:rPr>
              <a:t xml:space="preserve">no </a:t>
            </a:r>
            <a:r>
              <a:rPr lang="en-US" sz="1575" dirty="0" b="1" i="1">
                <a:solidFill>
                  <a:srgbClr val="16223A"/>
                </a:solidFill>
                <a:latin typeface="Calibri"/>
                <a:cs typeface="Calibri"/>
              </a:rPr>
              <a:t xml:space="preserve">y</a:t>
            </a:r>
            <a:r>
              <a:rPr lang="en-US" sz="1575" dirty="0" b="1">
                <a:solidFill>
                  <a:srgbClr val="16223A"/>
                </a:solidFill>
                <a:latin typeface="Calibri"/>
                <a:cs typeface="Calibri"/>
              </a:rPr>
              <a:t xml:space="preserve">-intercept</a:t>
            </a:r>
            <a:r>
              <a:rPr lang="en-US" sz="1575" dirty="0">
                <a:solidFill>
                  <a:srgbClr val="16223A"/>
                </a:solidFill>
                <a:latin typeface="Calibri"/>
                <a:cs typeface="Calibri"/>
              </a:rPr>
              <a:t xml:space="preserve">. The line runs straight up and down and never crosses the </a:t>
            </a:r>
            <a:r>
              <a:rPr lang="en-US" sz="1575" dirty="0" i="1">
                <a:solidFill>
                  <a:srgbClr val="16223A"/>
                </a:solidFill>
                <a:latin typeface="Calibri"/>
                <a:cs typeface="Calibri"/>
              </a:rPr>
              <a:t xml:space="preserve">y</a:t>
            </a:r>
            <a:r>
              <a:rPr lang="en-US" sz="1575" dirty="0">
                <a:solidFill>
                  <a:srgbClr val="16223A"/>
                </a:solidFill>
                <a:latin typeface="Calibri"/>
                <a:cs typeface="Calibr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DFE7F1"/>
            </a:solidFill>
          </a:ln>
        </p:spPr>
      </p:cxnSp>
      <p:cxnSp>
        <p:nvCxnSpPr>
          <p:cNvPr id="20" name="Line 20"/>
          <p:cNvCxnSpPr/>
          <p:nvPr/>
        </p:nvCxnSpPr>
        <p:spPr>
          <a:xfrm>
            <a:off x="9274664" y="1732788"/>
            <a:ext cx="0" cy="3067050"/>
          </a:xfrm>
          <a:prstGeom prst="line">
            <a:avLst/>
          </a:prstGeom>
          <a:ln w="9525" cap="flat">
            <a:solidFill>
              <a:srgbClr val="DFE7F1"/>
            </a:solidFill>
          </a:ln>
        </p:spPr>
      </p:cxnSp>
      <p:cxnSp>
        <p:nvCxnSpPr>
          <p:cNvPr id="21" name="Line 21"/>
          <p:cNvCxnSpPr/>
          <p:nvPr/>
        </p:nvCxnSpPr>
        <p:spPr>
          <a:xfrm>
            <a:off x="9577083" y="1732788"/>
            <a:ext cx="0" cy="3067050"/>
          </a:xfrm>
          <a:prstGeom prst="line">
            <a:avLst/>
          </a:prstGeom>
          <a:ln w="9525" cap="flat">
            <a:solidFill>
              <a:srgbClr val="DFE7F1"/>
            </a:solidFill>
          </a:ln>
        </p:spPr>
      </p:cxnSp>
      <p:cxnSp>
        <p:nvCxnSpPr>
          <p:cNvPr id="22" name="Line 22"/>
          <p:cNvCxnSpPr/>
          <p:nvPr/>
        </p:nvCxnSpPr>
        <p:spPr>
          <a:xfrm>
            <a:off x="9879501" y="1732788"/>
            <a:ext cx="0" cy="3067050"/>
          </a:xfrm>
          <a:prstGeom prst="line">
            <a:avLst/>
          </a:prstGeom>
          <a:ln w="9525" cap="flat">
            <a:solidFill>
              <a:srgbClr val="DFE7F1"/>
            </a:solidFill>
          </a:ln>
        </p:spPr>
      </p:cxnSp>
      <p:cxnSp>
        <p:nvCxnSpPr>
          <p:cNvPr id="23" name="Line 23"/>
          <p:cNvCxnSpPr/>
          <p:nvPr/>
        </p:nvCxnSpPr>
        <p:spPr>
          <a:xfrm>
            <a:off x="10181920" y="1732788"/>
            <a:ext cx="0" cy="3067050"/>
          </a:xfrm>
          <a:prstGeom prst="line">
            <a:avLst/>
          </a:prstGeom>
          <a:ln w="9525" cap="flat">
            <a:solidFill>
              <a:srgbClr val="DFE7F1"/>
            </a:solidFill>
          </a:ln>
        </p:spPr>
      </p:cxnSp>
      <p:cxnSp>
        <p:nvCxnSpPr>
          <p:cNvPr id="24" name="Line 24"/>
          <p:cNvCxnSpPr/>
          <p:nvPr/>
        </p:nvCxnSpPr>
        <p:spPr>
          <a:xfrm>
            <a:off x="10484339" y="1732788"/>
            <a:ext cx="0" cy="3067050"/>
          </a:xfrm>
          <a:prstGeom prst="line">
            <a:avLst/>
          </a:prstGeom>
          <a:ln w="9525" cap="flat">
            <a:solidFill>
              <a:srgbClr val="DFE7F1"/>
            </a:solidFill>
          </a:ln>
        </p:spPr>
      </p:cxnSp>
      <p:cxnSp>
        <p:nvCxnSpPr>
          <p:cNvPr id="25" name="Line 25"/>
          <p:cNvCxnSpPr/>
          <p:nvPr/>
        </p:nvCxnSpPr>
        <p:spPr>
          <a:xfrm>
            <a:off x="10786758" y="1732788"/>
            <a:ext cx="0" cy="3067050"/>
          </a:xfrm>
          <a:prstGeom prst="line">
            <a:avLst/>
          </a:prstGeom>
          <a:ln w="9525" cap="flat">
            <a:solidFill>
              <a:srgbClr val="DFE7F1"/>
            </a:solidFill>
          </a:ln>
        </p:spPr>
      </p:cxnSp>
      <p:cxnSp>
        <p:nvCxnSpPr>
          <p:cNvPr id="26" name="Line 26"/>
          <p:cNvCxnSpPr/>
          <p:nvPr/>
        </p:nvCxnSpPr>
        <p:spPr>
          <a:xfrm>
            <a:off x="11089176" y="1732788"/>
            <a:ext cx="0" cy="3067050"/>
          </a:xfrm>
          <a:prstGeom prst="line">
            <a:avLst/>
          </a:prstGeom>
          <a:ln w="9525" cap="flat">
            <a:solidFill>
              <a:srgbClr val="DFE7F1"/>
            </a:solidFill>
          </a:ln>
        </p:spPr>
      </p:cxnSp>
      <p:cxnSp>
        <p:nvCxnSpPr>
          <p:cNvPr id="27" name="Line 27"/>
          <p:cNvCxnSpPr/>
          <p:nvPr/>
        </p:nvCxnSpPr>
        <p:spPr>
          <a:xfrm>
            <a:off x="11391595" y="1732788"/>
            <a:ext cx="0" cy="3067050"/>
          </a:xfrm>
          <a:prstGeom prst="line">
            <a:avLst/>
          </a:prstGeom>
          <a:ln w="9525" cap="flat">
            <a:solidFill>
              <a:srgbClr val="DFE7F1"/>
            </a:solidFill>
          </a:ln>
        </p:spPr>
      </p:cxnSp>
      <p:cxnSp>
        <p:nvCxnSpPr>
          <p:cNvPr id="28" name="Line 28"/>
          <p:cNvCxnSpPr/>
          <p:nvPr/>
        </p:nvCxnSpPr>
        <p:spPr>
          <a:xfrm>
            <a:off x="8972245" y="4799838"/>
            <a:ext cx="2419350" cy="0"/>
          </a:xfrm>
          <a:prstGeom prst="line">
            <a:avLst/>
          </a:prstGeom>
          <a:ln w="9525" cap="flat">
            <a:solidFill>
              <a:srgbClr val="DFE7F1"/>
            </a:solidFill>
          </a:ln>
        </p:spPr>
      </p:cxnSp>
      <p:cxnSp>
        <p:nvCxnSpPr>
          <p:cNvPr id="29" name="Line 29"/>
          <p:cNvCxnSpPr/>
          <p:nvPr/>
        </p:nvCxnSpPr>
        <p:spPr>
          <a:xfrm>
            <a:off x="8972245" y="4416457"/>
            <a:ext cx="2419350" cy="0"/>
          </a:xfrm>
          <a:prstGeom prst="line">
            <a:avLst/>
          </a:prstGeom>
          <a:ln w="9525" cap="flat">
            <a:solidFill>
              <a:srgbClr val="DFE7F1"/>
            </a:solidFill>
          </a:ln>
        </p:spPr>
      </p:cxnSp>
      <p:cxnSp>
        <p:nvCxnSpPr>
          <p:cNvPr id="30" name="Line 30"/>
          <p:cNvCxnSpPr/>
          <p:nvPr/>
        </p:nvCxnSpPr>
        <p:spPr>
          <a:xfrm>
            <a:off x="8972245" y="4033075"/>
            <a:ext cx="2419350" cy="0"/>
          </a:xfrm>
          <a:prstGeom prst="line">
            <a:avLst/>
          </a:prstGeom>
          <a:ln w="9525" cap="flat">
            <a:solidFill>
              <a:srgbClr val="DFE7F1"/>
            </a:solidFill>
          </a:ln>
        </p:spPr>
      </p:cxnSp>
      <p:cxnSp>
        <p:nvCxnSpPr>
          <p:cNvPr id="31" name="Line 31"/>
          <p:cNvCxnSpPr/>
          <p:nvPr/>
        </p:nvCxnSpPr>
        <p:spPr>
          <a:xfrm>
            <a:off x="8972245" y="3649694"/>
            <a:ext cx="2419350" cy="0"/>
          </a:xfrm>
          <a:prstGeom prst="line">
            <a:avLst/>
          </a:prstGeom>
          <a:ln w="9525" cap="flat">
            <a:solidFill>
              <a:srgbClr val="DFE7F1"/>
            </a:solidFill>
          </a:ln>
        </p:spPr>
      </p:cxnSp>
      <p:cxnSp>
        <p:nvCxnSpPr>
          <p:cNvPr id="32" name="Line 32"/>
          <p:cNvCxnSpPr/>
          <p:nvPr/>
        </p:nvCxnSpPr>
        <p:spPr>
          <a:xfrm>
            <a:off x="8972245" y="3266313"/>
            <a:ext cx="2419350" cy="0"/>
          </a:xfrm>
          <a:prstGeom prst="line">
            <a:avLst/>
          </a:prstGeom>
          <a:ln w="9525" cap="flat">
            <a:solidFill>
              <a:srgbClr val="DFE7F1"/>
            </a:solidFill>
          </a:ln>
        </p:spPr>
      </p:cxnSp>
      <p:cxnSp>
        <p:nvCxnSpPr>
          <p:cNvPr id="33" name="Line 33"/>
          <p:cNvCxnSpPr/>
          <p:nvPr/>
        </p:nvCxnSpPr>
        <p:spPr>
          <a:xfrm>
            <a:off x="8972245" y="2882932"/>
            <a:ext cx="2419350" cy="0"/>
          </a:xfrm>
          <a:prstGeom prst="line">
            <a:avLst/>
          </a:prstGeom>
          <a:ln w="9525" cap="flat">
            <a:solidFill>
              <a:srgbClr val="DFE7F1"/>
            </a:solidFill>
          </a:ln>
        </p:spPr>
      </p:cxnSp>
      <p:cxnSp>
        <p:nvCxnSpPr>
          <p:cNvPr id="34" name="Line 34"/>
          <p:cNvCxnSpPr/>
          <p:nvPr/>
        </p:nvCxnSpPr>
        <p:spPr>
          <a:xfrm>
            <a:off x="8972245" y="2499550"/>
            <a:ext cx="2419350" cy="0"/>
          </a:xfrm>
          <a:prstGeom prst="line">
            <a:avLst/>
          </a:prstGeom>
          <a:ln w="9525" cap="flat">
            <a:solidFill>
              <a:srgbClr val="DFE7F1"/>
            </a:solidFill>
          </a:ln>
        </p:spPr>
      </p:cxnSp>
      <p:cxnSp>
        <p:nvCxnSpPr>
          <p:cNvPr id="35" name="Line 35"/>
          <p:cNvCxnSpPr/>
          <p:nvPr/>
        </p:nvCxnSpPr>
        <p:spPr>
          <a:xfrm>
            <a:off x="8972245" y="2116169"/>
            <a:ext cx="2419350" cy="0"/>
          </a:xfrm>
          <a:prstGeom prst="line">
            <a:avLst/>
          </a:prstGeom>
          <a:ln w="9525" cap="flat">
            <a:solidFill>
              <a:srgbClr val="DFE7F1"/>
            </a:solidFill>
          </a:ln>
        </p:spPr>
      </p:cxnSp>
      <p:cxnSp>
        <p:nvCxnSpPr>
          <p:cNvPr id="36" name="Line 36"/>
          <p:cNvCxnSpPr/>
          <p:nvPr/>
        </p:nvCxnSpPr>
        <p:spPr>
          <a:xfrm>
            <a:off x="8972245" y="1732788"/>
            <a:ext cx="2419350" cy="0"/>
          </a:xfrm>
          <a:prstGeom prst="line">
            <a:avLst/>
          </a:prstGeom>
          <a:ln w="9525" cap="flat">
            <a:solidFill>
              <a:srgbClr val="DFE7F1"/>
            </a:solidFill>
          </a:ln>
        </p:spPr>
      </p:cxnSp>
      <p:cxnSp>
        <p:nvCxnSpPr>
          <p:cNvPr id="37" name="Line 37"/>
          <p:cNvCxnSpPr/>
          <p:nvPr/>
        </p:nvCxnSpPr>
        <p:spPr>
          <a:xfrm>
            <a:off x="10484339" y="1732788"/>
            <a:ext cx="0" cy="3067050"/>
          </a:xfrm>
          <a:prstGeom prst="line">
            <a:avLst/>
          </a:prstGeom>
          <a:ln w="19050" cap="flat">
            <a:solidFill>
              <a:srgbClr val="56647D"/>
            </a:solidFill>
          </a:ln>
        </p:spPr>
      </p:cxnSp>
      <p:cxnSp>
        <p:nvCxnSpPr>
          <p:cNvPr id="38" name="Line 38"/>
          <p:cNvCxnSpPr/>
          <p:nvPr/>
        </p:nvCxnSpPr>
        <p:spPr>
          <a:xfrm>
            <a:off x="8972245" y="4799838"/>
            <a:ext cx="2419350" cy="0"/>
          </a:xfrm>
          <a:prstGeom prst="line">
            <a:avLst/>
          </a:prstGeom>
          <a:ln w="19050" cap="flat">
            <a:solidFill>
              <a:srgbClr val="56647D"/>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32</a:t>
            </a:r>
            <a:endParaRPr lang="en-US" sz="975" dirty="0"/>
          </a:p>
        </p:txBody>
      </p:sp>
      <p:sp>
        <p:nvSpPr>
          <p:cNvPr id="53" name="Shape 53"/>
          <p:cNvSpPr/>
          <p:nvPr/>
        </p:nvSpPr>
        <p:spPr>
          <a:xfrm>
            <a:off x="9827114" y="4268224"/>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1D64C4"/>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223A"/>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223A"/>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Activity 4.2 · Question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4a.</a:t>
            </a:r>
            <a:endParaRPr lang="en-US" sz="2100" dirty="0"/>
          </a:p>
        </p:txBody>
      </p:sp>
      <p:sp>
        <p:nvSpPr>
          <p:cNvPr id="5" name="Shape 5"/>
          <p:cNvSpPr txBox="1"/>
          <p:nvPr/>
        </p:nvSpPr>
        <p:spPr>
          <a:xfrm>
            <a:off x="685800" y="2183892"/>
            <a:ext cx="1143000" cy="489204"/>
          </a:xfrm>
          <a:prstGeom prst="rect">
            <a:avLst/>
          </a:prstGeom>
          <a:solidFill>
            <a:srgbClr val="DFE7F1"/>
          </a:solidFill>
          <a:ln w="12700">
            <a:solidFill>
              <a:srgbClr val="CDD8E6"/>
            </a:solidFill>
          </a:ln>
        </p:spPr>
        <p:txBody>
          <a:bodyPr wrap="square" lIns="109728" tIns="45720" rIns="109728" bIns="45720" anchor="ctr">
            <a:noAutofit/>
          </a:bodyPr>
          <a:lstStyle/>
          <a:p>
            <a:pPr algn="ctr">
              <a:lnSpc>
                <a:spcPct val="100000"/>
              </a:lnSpc>
            </a:pPr>
            <a:r>
              <a:rPr lang="en-US" sz="2250" dirty="0" i="1">
                <a:solidFill>
                  <a:srgbClr val="16223A"/>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DFE7F1"/>
          </a:solidFill>
          <a:ln w="12700">
            <a:solidFill>
              <a:srgbClr val="CDD8E6"/>
            </a:solidFill>
          </a:ln>
        </p:spPr>
        <p:txBody>
          <a:bodyPr wrap="square" lIns="109728" tIns="45720" rIns="109728" bIns="45720" anchor="ctr">
            <a:noAutofit/>
          </a:bodyPr>
          <a:lstStyle/>
          <a:p>
            <a:pPr algn="ctr">
              <a:lnSpc>
                <a:spcPct val="100000"/>
              </a:lnSpc>
            </a:pPr>
            <a:r>
              <a:rPr lang="en-US" sz="2250" dirty="0" i="1">
                <a:solidFill>
                  <a:srgbClr val="16223A"/>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17</a:t>
            </a:r>
            <a:r>
              <a:rPr lang="en-US" sz="2250" dirty="0">
                <a:solidFill>
                  <a:srgbClr val="16223A"/>
                </a:solidFill>
                <a:latin typeface="Cambria"/>
                <a:cs typeface="Cambria"/>
              </a:rPr>
              <a:t xml:space="preserve">/</a:t>
            </a:r>
            <a:r>
              <a:rPr lang="en-US" sz="2250" dirty="0">
                <a:solidFill>
                  <a:srgbClr val="16223A"/>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17</a:t>
            </a:r>
            <a:r>
              <a:rPr lang="en-US" sz="2250" dirty="0">
                <a:solidFill>
                  <a:srgbClr val="16223A"/>
                </a:solidFill>
                <a:latin typeface="Cambria"/>
                <a:cs typeface="Cambria"/>
              </a:rPr>
              <a:t xml:space="preserve">/</a:t>
            </a:r>
            <a:r>
              <a:rPr lang="en-US" sz="2250" dirty="0">
                <a:solidFill>
                  <a:srgbClr val="16223A"/>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17</a:t>
            </a:r>
            <a:r>
              <a:rPr lang="en-US" sz="2250" dirty="0">
                <a:solidFill>
                  <a:srgbClr val="16223A"/>
                </a:solidFill>
                <a:latin typeface="Cambria"/>
                <a:cs typeface="Cambria"/>
              </a:rPr>
              <a:t xml:space="preserve">/</a:t>
            </a:r>
            <a:r>
              <a:rPr lang="en-US" sz="2250" dirty="0">
                <a:solidFill>
                  <a:srgbClr val="16223A"/>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CDD8E6"/>
            </a:solidFill>
          </a:ln>
        </p:spPr>
        <p:txBody>
          <a:bodyPr wrap="square" lIns="109728" tIns="45720" rIns="109728" bIns="45720" anchor="ctr">
            <a:noAutofit/>
          </a:bodyPr>
          <a:lstStyle/>
          <a:p>
            <a:pPr algn="ctr">
              <a:lnSpc>
                <a:spcPct val="100000"/>
              </a:lnSpc>
            </a:pPr>
            <a:r>
              <a:rPr lang="en-US" sz="2250" dirty="0">
                <a:solidFill>
                  <a:srgbClr val="16223A"/>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17</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Vertical line through (</a:t>
            </a:r>
            <a:r>
              <a:rPr lang="en-US" sz="1575" dirty="0">
                <a:solidFill>
                  <a:srgbClr val="16223A"/>
                </a:solidFill>
                <a:latin typeface="Calibri"/>
                <a:cs typeface="Calibri"/>
              </a:rPr>
              <a:t xml:space="preserve">17</a:t>
            </a:r>
            <a:r>
              <a:rPr lang="en-US" sz="1575" dirty="0">
                <a:solidFill>
                  <a:srgbClr val="16223A"/>
                </a:solidFill>
                <a:latin typeface="Calibri"/>
                <a:cs typeface="Calibri"/>
              </a:rPr>
              <a:t xml:space="preserve">/</a:t>
            </a:r>
            <a:r>
              <a:rPr lang="en-US" sz="1575" dirty="0">
                <a:solidFill>
                  <a:srgbClr val="16223A"/>
                </a:solidFill>
                <a:latin typeface="Calibri"/>
                <a:cs typeface="Calibri"/>
              </a:rPr>
              <a:t xml:space="preserve">2</a:t>
            </a:r>
            <a:r>
              <a:rPr lang="en-US" sz="1575" dirty="0">
                <a:solidFill>
                  <a:srgbClr val="16223A"/>
                </a:solidFill>
                <a:latin typeface="Calibri"/>
                <a:cs typeface="Calibr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Pick </a:t>
            </a:r>
            <a:r>
              <a:rPr lang="en-US" sz="1575" dirty="0" b="1">
                <a:solidFill>
                  <a:srgbClr val="16223A"/>
                </a:solidFill>
                <a:latin typeface="Calibri"/>
                <a:cs typeface="Calibri"/>
              </a:rPr>
              <a:t xml:space="preserve">one</a:t>
            </a:r>
            <a:r>
              <a:rPr lang="en-US" sz="1575" dirty="0">
                <a:solidFill>
                  <a:srgbClr val="16223A"/>
                </a:solidFill>
                <a:latin typeface="Calibri"/>
                <a:cs typeface="Calibri"/>
              </a:rPr>
              <a:t xml:space="preserve"> </a:t>
            </a:r>
            <a:r>
              <a:rPr lang="en-US" sz="1575" dirty="0" i="1">
                <a:solidFill>
                  <a:srgbClr val="16223A"/>
                </a:solidFill>
                <a:latin typeface="Calibri"/>
                <a:cs typeface="Calibri"/>
              </a:rPr>
              <a:t xml:space="preserve">x</a:t>
            </a:r>
            <a:r>
              <a:rPr lang="en-US" sz="1575" dirty="0">
                <a:solidFill>
                  <a:srgbClr val="16223A"/>
                </a:solidFill>
                <a:latin typeface="Calibri"/>
                <a:cs typeface="Calibri"/>
              </a:rPr>
              <a:t xml:space="preserve">-value and use it for every row, with any </a:t>
            </a:r>
            <a:r>
              <a:rPr lang="en-US" sz="1575" dirty="0" i="1">
                <a:solidFill>
                  <a:srgbClr val="16223A"/>
                </a:solidFill>
                <a:latin typeface="Calibri"/>
                <a:cs typeface="Calibri"/>
              </a:rPr>
              <a:t xml:space="preserve">y</a:t>
            </a:r>
            <a:r>
              <a:rPr lang="en-US" sz="1575" dirty="0">
                <a:solidFill>
                  <a:srgbClr val="16223A"/>
                </a:solidFill>
                <a:latin typeface="Calibri"/>
                <a:cs typeface="Calibri"/>
              </a:rPr>
              <a:t xml:space="preserve">-values. Then the equation is </a:t>
            </a:r>
            <a:r>
              <a:rPr lang="en-US" sz="1575" dirty="0" i="1">
                <a:solidFill>
                  <a:srgbClr val="16223A"/>
                </a:solidFill>
                <a:latin typeface="Cambria"/>
                <a:cs typeface="Cambria"/>
              </a:rPr>
              <a:t xml:space="preserve">x</a:t>
            </a:r>
            <a:r>
              <a:rPr lang="en-US" sz="1575" dirty="0">
                <a:solidFill>
                  <a:srgbClr val="16223A"/>
                </a:solidFill>
                <a:latin typeface="Cambria"/>
                <a:cs typeface="Cambria"/>
              </a:rPr>
              <a:t xml:space="preserve"> = </a:t>
            </a:r>
            <a:r>
              <a:rPr lang="en-US" sz="1575" dirty="0">
                <a:solidFill>
                  <a:srgbClr val="16223A"/>
                </a:solidFill>
                <a:latin typeface="Calibri"/>
                <a:cs typeface="Calibr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1 · Activity 4.2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223A"/>
                </a:solidFill>
                <a:latin typeface="Calibri"/>
                <a:cs typeface="Calibr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223A"/>
                </a:solidFill>
                <a:latin typeface="Calibri"/>
                <a:cs typeface="Calibr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CDD8E6"/>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6647D"/>
                </a:solidFill>
                <a:latin typeface="Calibri"/>
                <a:cs typeface="Calibr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223A"/>
                </a:solidFill>
                <a:latin typeface="Calibri"/>
                <a:cs typeface="Calibri"/>
              </a:rPr>
              <a:t xml:space="preserve">x</a:t>
            </a:r>
            <a:r>
              <a:rPr lang="en-US" sz="1800" dirty="0">
                <a:solidFill>
                  <a:srgbClr val="16223A"/>
                </a:solidFill>
                <a:latin typeface="Calibri"/>
                <a:cs typeface="Calibri"/>
              </a:rPr>
              <a:t xml:space="preserve"> changes, </a:t>
            </a:r>
            <a:r>
              <a:rPr lang="en-US" sz="1800" dirty="0" i="1">
                <a:solidFill>
                  <a:srgbClr val="16223A"/>
                </a:solidFill>
                <a:latin typeface="Calibri"/>
                <a:cs typeface="Calibri"/>
              </a:rPr>
              <a:t xml:space="preserve">y</a:t>
            </a:r>
            <a:r>
              <a:rPr lang="en-US" sz="1800" dirty="0">
                <a:solidFill>
                  <a:srgbClr val="16223A"/>
                </a:solidFill>
                <a:latin typeface="Calibri"/>
                <a:cs typeface="Calibr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223A"/>
                </a:solidFill>
                <a:latin typeface="Calibri"/>
                <a:cs typeface="Calibri"/>
              </a:rPr>
              <a:t xml:space="preserve">y</a:t>
            </a:r>
            <a:r>
              <a:rPr lang="en-US" sz="1800" dirty="0">
                <a:solidFill>
                  <a:srgbClr val="16223A"/>
                </a:solidFill>
                <a:latin typeface="Calibri"/>
                <a:cs typeface="Calibri"/>
              </a:rPr>
              <a:t xml:space="preserve"> changes, </a:t>
            </a:r>
            <a:r>
              <a:rPr lang="en-US" sz="1800" dirty="0" i="1">
                <a:solidFill>
                  <a:srgbClr val="16223A"/>
                </a:solidFill>
                <a:latin typeface="Calibri"/>
                <a:cs typeface="Calibri"/>
              </a:rPr>
              <a:t xml:space="preserve">x</a:t>
            </a:r>
            <a:r>
              <a:rPr lang="en-US" sz="1800" dirty="0">
                <a:solidFill>
                  <a:srgbClr val="16223A"/>
                </a:solidFill>
                <a:latin typeface="Calibri"/>
                <a:cs typeface="Calibr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CDD8E6"/>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6647D"/>
                </a:solidFill>
                <a:latin typeface="Calibri"/>
                <a:cs typeface="Calibr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Calibri"/>
                <a:cs typeface="Calibri"/>
              </a:rPr>
              <a:t xml:space="preserve">0</a:t>
            </a:r>
            <a:r>
              <a:rPr lang="en-US" sz="1800" dirty="0">
                <a:solidFill>
                  <a:srgbClr val="16223A"/>
                </a:solidFill>
                <a:latin typeface="Calibri"/>
                <a:cs typeface="Calibr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Calibri"/>
                <a:cs typeface="Calibr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CDD8E6"/>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6647D"/>
                </a:solidFill>
                <a:latin typeface="Calibri"/>
                <a:cs typeface="Calibr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223A"/>
                </a:solidFill>
                <a:latin typeface="Cambria"/>
                <a:cs typeface="Cambria"/>
              </a:rPr>
              <a:t xml:space="preserve">y</a:t>
            </a:r>
            <a:r>
              <a:rPr lang="en-US" sz="1800" dirty="0">
                <a:solidFill>
                  <a:srgbClr val="16223A"/>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223A"/>
                </a:solidFill>
                <a:latin typeface="Cambria"/>
                <a:cs typeface="Cambria"/>
              </a:rPr>
              <a:t xml:space="preserve">x</a:t>
            </a:r>
            <a:r>
              <a:rPr lang="en-US" sz="1800" dirty="0">
                <a:solidFill>
                  <a:srgbClr val="16223A"/>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CDD8E6"/>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6647D"/>
                </a:solidFill>
                <a:latin typeface="Calibri"/>
                <a:cs typeface="Calibr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223A"/>
                </a:solidFill>
                <a:latin typeface="Cambria"/>
                <a:cs typeface="Cambria"/>
              </a:rPr>
              <a:t xml:space="preserve">y</a:t>
            </a:r>
            <a:r>
              <a:rPr lang="en-US" sz="1800" dirty="0">
                <a:solidFill>
                  <a:srgbClr val="16223A"/>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223A"/>
                </a:solidFill>
                <a:latin typeface="Cambria"/>
                <a:cs typeface="Cambria"/>
              </a:rPr>
              <a:t xml:space="preserve">x</a:t>
            </a:r>
            <a:r>
              <a:rPr lang="en-US" sz="1800" dirty="0">
                <a:solidFill>
                  <a:srgbClr val="16223A"/>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CDD8E6"/>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6647D"/>
                </a:solidFill>
                <a:latin typeface="Calibri"/>
                <a:cs typeface="Calibri"/>
              </a:rPr>
              <a:t xml:space="preserve">y</a:t>
            </a:r>
            <a:r>
              <a:rPr lang="en-US" sz="1800" dirty="0">
                <a:solidFill>
                  <a:srgbClr val="56647D"/>
                </a:solidFill>
                <a:latin typeface="Calibri"/>
                <a:cs typeface="Calibr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223A"/>
                </a:solidFill>
                <a:latin typeface="Calibri"/>
                <a:cs typeface="Calibr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223A"/>
                </a:solidFill>
                <a:latin typeface="Calibri"/>
                <a:cs typeface="Calibri"/>
              </a:rPr>
              <a:t xml:space="preserve">none (unless it's </a:t>
            </a:r>
            <a:r>
              <a:rPr lang="en-US" sz="1800" dirty="0" i="1">
                <a:solidFill>
                  <a:srgbClr val="16223A"/>
                </a:solidFill>
                <a:latin typeface="Calibri"/>
                <a:cs typeface="Calibri"/>
              </a:rPr>
              <a:t xml:space="preserve">x</a:t>
            </a:r>
            <a:r>
              <a:rPr lang="en-US" sz="1800" dirty="0">
                <a:solidFill>
                  <a:srgbClr val="16223A"/>
                </a:solidFill>
                <a:latin typeface="Calibri"/>
                <a:cs typeface="Calibr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CDD8E6"/>
            </a:solidFill>
          </a:ln>
        </p:spPr>
      </p:cxnSp>
      <p:sp>
        <p:nvSpPr>
          <p:cNvPr id="28" name="Shape 28"/>
          <p:cNvSpPr txBox="1"/>
          <p:nvPr/>
        </p:nvSpPr>
        <p:spPr>
          <a:xfrm>
            <a:off x="685800" y="4665726"/>
            <a:ext cx="7239000" cy="699516"/>
          </a:xfrm>
          <a:prstGeom prst="roundRect">
            <a:avLst>
              <a:gd name="adj" fmla="val 8000"/>
            </a:avLst>
          </a:prstGeom>
          <a:noFill/>
          <a:ln w="19050">
            <a:solidFill>
              <a:srgbClr val="1D64C4"/>
            </a:solidFill>
            <a:prstDash val="dash"/>
          </a:ln>
        </p:spPr>
        <p:txBody>
          <a:bodyPr wrap="square" lIns="228600" tIns="109728" rIns="228600" bIns="109728" anchor="ctr">
            <a:noAutofit/>
          </a:bodyPr>
          <a:lstStyle/>
          <a:p>
            <a:pPr algn="l">
              <a:lnSpc>
                <a:spcPct val="100000"/>
              </a:lnSpc>
            </a:pPr>
            <a:r>
              <a:rPr lang="en-US" sz="1575" dirty="0">
                <a:solidFill>
                  <a:srgbClr val="16223A"/>
                </a:solidFill>
                <a:latin typeface="Calibri"/>
                <a:cs typeface="Calibri"/>
              </a:rPr>
              <a:t xml:space="preserve">Memory trick: </a:t>
            </a:r>
            <a:r>
              <a:rPr lang="en-US" sz="1575" dirty="0" b="1">
                <a:solidFill>
                  <a:srgbClr val="16223A"/>
                </a:solidFill>
                <a:latin typeface="Calibri"/>
                <a:cs typeface="Calibri"/>
              </a:rPr>
              <a:t xml:space="preserve">HOY VUX</a:t>
            </a:r>
            <a:r>
              <a:rPr lang="en-US" sz="1575" dirty="0">
                <a:solidFill>
                  <a:srgbClr val="16223A"/>
                </a:solidFill>
                <a:latin typeface="Calibri"/>
                <a:cs typeface="Calibri"/>
              </a:rPr>
              <a:t xml:space="preserve">. </a:t>
            </a:r>
            <a:r>
              <a:rPr lang="en-US" sz="1575" dirty="0" b="1">
                <a:solidFill>
                  <a:srgbClr val="16223A"/>
                </a:solidFill>
                <a:latin typeface="Calibri"/>
                <a:cs typeface="Calibri"/>
              </a:rPr>
              <a:t xml:space="preserve">H</a:t>
            </a:r>
            <a:r>
              <a:rPr lang="en-US" sz="1575" dirty="0">
                <a:solidFill>
                  <a:srgbClr val="16223A"/>
                </a:solidFill>
                <a:latin typeface="Calibri"/>
                <a:cs typeface="Calibri"/>
              </a:rPr>
              <a:t xml:space="preserve">orizontal: slope </a:t>
            </a:r>
            <a:r>
              <a:rPr lang="en-US" sz="1575" dirty="0" b="1">
                <a:solidFill>
                  <a:srgbClr val="16223A"/>
                </a:solidFill>
                <a:latin typeface="Calibri"/>
                <a:cs typeface="Calibri"/>
              </a:rPr>
              <a:t xml:space="preserve">0</a:t>
            </a:r>
            <a:r>
              <a:rPr lang="en-US" sz="1575" dirty="0">
                <a:solidFill>
                  <a:srgbClr val="16223A"/>
                </a:solidFill>
                <a:latin typeface="Calibri"/>
                <a:cs typeface="Calibri"/>
              </a:rPr>
              <a:t xml:space="preserve">, </a:t>
            </a:r>
            <a:r>
              <a:rPr lang="en-US" sz="1575" dirty="0" b="1">
                <a:solidFill>
                  <a:srgbClr val="16223A"/>
                </a:solidFill>
                <a:latin typeface="Calibri"/>
                <a:cs typeface="Calibri"/>
              </a:rPr>
              <a:t xml:space="preserve">y</a:t>
            </a:r>
            <a:r>
              <a:rPr lang="en-US" sz="1575" dirty="0">
                <a:solidFill>
                  <a:srgbClr val="16223A"/>
                </a:solidFill>
                <a:latin typeface="Calibri"/>
                <a:cs typeface="Calibri"/>
              </a:rPr>
              <a:t xml:space="preserve"> = ___. </a:t>
            </a:r>
            <a:r>
              <a:rPr lang="en-US" sz="1575" dirty="0" b="1">
                <a:solidFill>
                  <a:srgbClr val="16223A"/>
                </a:solidFill>
                <a:latin typeface="Calibri"/>
                <a:cs typeface="Calibri"/>
              </a:rPr>
              <a:t xml:space="preserve">V</a:t>
            </a:r>
            <a:r>
              <a:rPr lang="en-US" sz="1575" dirty="0">
                <a:solidFill>
                  <a:srgbClr val="16223A"/>
                </a:solidFill>
                <a:latin typeface="Calibri"/>
                <a:cs typeface="Calibri"/>
              </a:rPr>
              <a:t xml:space="preserve">ertical: slope </a:t>
            </a:r>
            <a:r>
              <a:rPr lang="en-US" sz="1575" dirty="0" b="1">
                <a:solidFill>
                  <a:srgbClr val="16223A"/>
                </a:solidFill>
                <a:latin typeface="Calibri"/>
                <a:cs typeface="Calibri"/>
              </a:rPr>
              <a:t xml:space="preserve">U</a:t>
            </a:r>
            <a:r>
              <a:rPr lang="en-US" sz="1575" dirty="0">
                <a:solidFill>
                  <a:srgbClr val="16223A"/>
                </a:solidFill>
                <a:latin typeface="Calibri"/>
                <a:cs typeface="Calibri"/>
              </a:rPr>
              <a:t xml:space="preserve">ndefined, </a:t>
            </a:r>
            <a:r>
              <a:rPr lang="en-US" sz="1575" dirty="0" b="1">
                <a:solidFill>
                  <a:srgbClr val="16223A"/>
                </a:solidFill>
                <a:latin typeface="Calibri"/>
                <a:cs typeface="Calibri"/>
              </a:rPr>
              <a:t xml:space="preserve">x</a:t>
            </a:r>
            <a:r>
              <a:rPr lang="en-US" sz="1575" dirty="0">
                <a:solidFill>
                  <a:srgbClr val="16223A"/>
                </a:solidFill>
                <a:latin typeface="Calibri"/>
                <a:cs typeface="Calibri"/>
              </a:rPr>
              <a:t xml:space="preserve"> = ___.</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223A"/>
                </a:solidFill>
                <a:latin typeface="Calibri"/>
                <a:cs typeface="Calibr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223A"/>
                </a:solidFill>
                <a:latin typeface="Calibri"/>
                <a:cs typeface="Calibr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2 · Activity 4.3 · Matching Representations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223A"/>
                </a:solidFill>
                <a:latin typeface="Cambria"/>
                <a:cs typeface="Cambria"/>
              </a:rPr>
              <a:t xml:space="preserve">A:</a:t>
            </a:r>
            <a:r>
              <a:rPr lang="en-US" sz="2325" dirty="0">
                <a:solidFill>
                  <a:srgbClr val="16223A"/>
                </a:solidFill>
                <a:latin typeface="Cambria"/>
                <a:cs typeface="Cambria"/>
              </a:rPr>
              <a:t xml:space="preserve">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− 200 = −5(</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223A"/>
                </a:solidFill>
                <a:latin typeface="Cambria"/>
                <a:cs typeface="Cambria"/>
              </a:rPr>
              <a:t xml:space="preserve">B:</a:t>
            </a:r>
            <a:r>
              <a:rPr lang="en-US" sz="2325" dirty="0">
                <a:solidFill>
                  <a:srgbClr val="16223A"/>
                </a:solidFill>
                <a:latin typeface="Cambria"/>
                <a:cs typeface="Cambria"/>
              </a:rPr>
              <a:t xml:space="preserve">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1</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2</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223A"/>
                </a:solidFill>
                <a:latin typeface="Cambria"/>
                <a:cs typeface="Cambria"/>
              </a:rPr>
              <a:t xml:space="preserve">C:</a:t>
            </a:r>
            <a:r>
              <a:rPr lang="en-US" sz="2325" dirty="0">
                <a:solidFill>
                  <a:srgbClr val="16223A"/>
                </a:solidFill>
                <a:latin typeface="Cambria"/>
                <a:cs typeface="Cambria"/>
              </a:rPr>
              <a:t xml:space="preserve">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223A"/>
                </a:solidFill>
                <a:latin typeface="Cambria"/>
                <a:cs typeface="Cambria"/>
              </a:rPr>
              <a:t xml:space="preserve">D:</a:t>
            </a:r>
            <a:r>
              <a:rPr lang="en-US" sz="2325" dirty="0">
                <a:solidFill>
                  <a:srgbClr val="16223A"/>
                </a:solidFill>
                <a:latin typeface="Cambria"/>
                <a:cs typeface="Cambria"/>
              </a:rPr>
              <a:t xml:space="preserve">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3</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4</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33</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223A"/>
                </a:solidFill>
                <a:latin typeface="Cambria"/>
                <a:cs typeface="Cambria"/>
              </a:rPr>
              <a:t xml:space="preserve">E:</a:t>
            </a:r>
            <a:r>
              <a:rPr lang="en-US" sz="2325" dirty="0">
                <a:solidFill>
                  <a:srgbClr val="16223A"/>
                </a:solidFill>
                <a:latin typeface="Cambria"/>
                <a:cs typeface="Cambria"/>
              </a:rPr>
              <a:t xml:space="preserve">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8</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223A"/>
                </a:solidFill>
                <a:latin typeface="Cambria"/>
                <a:cs typeface="Cambria"/>
              </a:rPr>
              <a:t xml:space="preserve">F:</a:t>
            </a:r>
            <a:r>
              <a:rPr lang="en-US" sz="2325" dirty="0">
                <a:solidFill>
                  <a:srgbClr val="16223A"/>
                </a:solidFill>
                <a:latin typeface="Cambria"/>
                <a:cs typeface="Cambria"/>
              </a:rPr>
              <a:t xml:space="preserve">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1.2</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2 · Activity 4.3 · Question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DFE7F1"/>
            </a:solidFill>
          </a:ln>
        </p:spPr>
      </p:cxnSp>
      <p:cxnSp>
        <p:nvCxnSpPr>
          <p:cNvPr id="7" name="Line 7"/>
          <p:cNvCxnSpPr/>
          <p:nvPr/>
        </p:nvCxnSpPr>
        <p:spPr>
          <a:xfrm>
            <a:off x="1371600" y="2431542"/>
            <a:ext cx="0" cy="1066800"/>
          </a:xfrm>
          <a:prstGeom prst="line">
            <a:avLst/>
          </a:prstGeom>
          <a:ln w="9525" cap="flat">
            <a:solidFill>
              <a:srgbClr val="DFE7F1"/>
            </a:solidFill>
          </a:ln>
        </p:spPr>
      </p:cxnSp>
      <p:cxnSp>
        <p:nvCxnSpPr>
          <p:cNvPr id="8" name="Line 8"/>
          <p:cNvCxnSpPr/>
          <p:nvPr/>
        </p:nvCxnSpPr>
        <p:spPr>
          <a:xfrm>
            <a:off x="1524000" y="2431542"/>
            <a:ext cx="0" cy="1066800"/>
          </a:xfrm>
          <a:prstGeom prst="line">
            <a:avLst/>
          </a:prstGeom>
          <a:ln w="9525" cap="flat">
            <a:solidFill>
              <a:srgbClr val="DFE7F1"/>
            </a:solidFill>
          </a:ln>
        </p:spPr>
      </p:cxnSp>
      <p:cxnSp>
        <p:nvCxnSpPr>
          <p:cNvPr id="9" name="Line 9"/>
          <p:cNvCxnSpPr/>
          <p:nvPr/>
        </p:nvCxnSpPr>
        <p:spPr>
          <a:xfrm>
            <a:off x="1676400" y="2431542"/>
            <a:ext cx="0" cy="1066800"/>
          </a:xfrm>
          <a:prstGeom prst="line">
            <a:avLst/>
          </a:prstGeom>
          <a:ln w="9525" cap="flat">
            <a:solidFill>
              <a:srgbClr val="DFE7F1"/>
            </a:solidFill>
          </a:ln>
        </p:spPr>
      </p:cxnSp>
      <p:cxnSp>
        <p:nvCxnSpPr>
          <p:cNvPr id="10" name="Line 10"/>
          <p:cNvCxnSpPr/>
          <p:nvPr/>
        </p:nvCxnSpPr>
        <p:spPr>
          <a:xfrm>
            <a:off x="1828800" y="2431542"/>
            <a:ext cx="0" cy="1066800"/>
          </a:xfrm>
          <a:prstGeom prst="line">
            <a:avLst/>
          </a:prstGeom>
          <a:ln w="9525" cap="flat">
            <a:solidFill>
              <a:srgbClr val="DFE7F1"/>
            </a:solidFill>
          </a:ln>
        </p:spPr>
      </p:cxnSp>
      <p:cxnSp>
        <p:nvCxnSpPr>
          <p:cNvPr id="11" name="Line 11"/>
          <p:cNvCxnSpPr/>
          <p:nvPr/>
        </p:nvCxnSpPr>
        <p:spPr>
          <a:xfrm>
            <a:off x="1981200" y="2431542"/>
            <a:ext cx="0" cy="1066800"/>
          </a:xfrm>
          <a:prstGeom prst="line">
            <a:avLst/>
          </a:prstGeom>
          <a:ln w="9525" cap="flat">
            <a:solidFill>
              <a:srgbClr val="DFE7F1"/>
            </a:solidFill>
          </a:ln>
        </p:spPr>
      </p:cxnSp>
      <p:cxnSp>
        <p:nvCxnSpPr>
          <p:cNvPr id="12" name="Line 12"/>
          <p:cNvCxnSpPr/>
          <p:nvPr/>
        </p:nvCxnSpPr>
        <p:spPr>
          <a:xfrm>
            <a:off x="2133600" y="2431542"/>
            <a:ext cx="0" cy="1066800"/>
          </a:xfrm>
          <a:prstGeom prst="line">
            <a:avLst/>
          </a:prstGeom>
          <a:ln w="9525" cap="flat">
            <a:solidFill>
              <a:srgbClr val="DFE7F1"/>
            </a:solidFill>
          </a:ln>
        </p:spPr>
      </p:cxnSp>
      <p:cxnSp>
        <p:nvCxnSpPr>
          <p:cNvPr id="13" name="Line 13"/>
          <p:cNvCxnSpPr/>
          <p:nvPr/>
        </p:nvCxnSpPr>
        <p:spPr>
          <a:xfrm>
            <a:off x="2286000" y="2431542"/>
            <a:ext cx="0" cy="1066800"/>
          </a:xfrm>
          <a:prstGeom prst="line">
            <a:avLst/>
          </a:prstGeom>
          <a:ln w="9525" cap="flat">
            <a:solidFill>
              <a:srgbClr val="DFE7F1"/>
            </a:solidFill>
          </a:ln>
        </p:spPr>
      </p:cxnSp>
      <p:cxnSp>
        <p:nvCxnSpPr>
          <p:cNvPr id="14" name="Line 14"/>
          <p:cNvCxnSpPr/>
          <p:nvPr/>
        </p:nvCxnSpPr>
        <p:spPr>
          <a:xfrm>
            <a:off x="2438400" y="2431542"/>
            <a:ext cx="0" cy="1066800"/>
          </a:xfrm>
          <a:prstGeom prst="line">
            <a:avLst/>
          </a:prstGeom>
          <a:ln w="9525" cap="flat">
            <a:solidFill>
              <a:srgbClr val="DFE7F1"/>
            </a:solidFill>
          </a:ln>
        </p:spPr>
      </p:cxnSp>
      <p:cxnSp>
        <p:nvCxnSpPr>
          <p:cNvPr id="15" name="Line 15"/>
          <p:cNvCxnSpPr/>
          <p:nvPr/>
        </p:nvCxnSpPr>
        <p:spPr>
          <a:xfrm>
            <a:off x="2590800" y="2431542"/>
            <a:ext cx="0" cy="1066800"/>
          </a:xfrm>
          <a:prstGeom prst="line">
            <a:avLst/>
          </a:prstGeom>
          <a:ln w="9525" cap="flat">
            <a:solidFill>
              <a:srgbClr val="DFE7F1"/>
            </a:solidFill>
          </a:ln>
        </p:spPr>
      </p:cxnSp>
      <p:cxnSp>
        <p:nvCxnSpPr>
          <p:cNvPr id="16" name="Line 16"/>
          <p:cNvCxnSpPr/>
          <p:nvPr/>
        </p:nvCxnSpPr>
        <p:spPr>
          <a:xfrm>
            <a:off x="1219200" y="3498342"/>
            <a:ext cx="1371600" cy="0"/>
          </a:xfrm>
          <a:prstGeom prst="line">
            <a:avLst/>
          </a:prstGeom>
          <a:ln w="9525" cap="flat">
            <a:solidFill>
              <a:srgbClr val="DFE7F1"/>
            </a:solidFill>
          </a:ln>
        </p:spPr>
      </p:cxnSp>
      <p:cxnSp>
        <p:nvCxnSpPr>
          <p:cNvPr id="17" name="Line 17"/>
          <p:cNvCxnSpPr/>
          <p:nvPr/>
        </p:nvCxnSpPr>
        <p:spPr>
          <a:xfrm>
            <a:off x="1219200" y="3379809"/>
            <a:ext cx="1371600" cy="0"/>
          </a:xfrm>
          <a:prstGeom prst="line">
            <a:avLst/>
          </a:prstGeom>
          <a:ln w="9525" cap="flat">
            <a:solidFill>
              <a:srgbClr val="DFE7F1"/>
            </a:solidFill>
          </a:ln>
        </p:spPr>
      </p:cxnSp>
      <p:cxnSp>
        <p:nvCxnSpPr>
          <p:cNvPr id="18" name="Line 18"/>
          <p:cNvCxnSpPr/>
          <p:nvPr/>
        </p:nvCxnSpPr>
        <p:spPr>
          <a:xfrm>
            <a:off x="1219200" y="3261275"/>
            <a:ext cx="1371600" cy="0"/>
          </a:xfrm>
          <a:prstGeom prst="line">
            <a:avLst/>
          </a:prstGeom>
          <a:ln w="9525" cap="flat">
            <a:solidFill>
              <a:srgbClr val="DFE7F1"/>
            </a:solidFill>
          </a:ln>
        </p:spPr>
      </p:cxnSp>
      <p:cxnSp>
        <p:nvCxnSpPr>
          <p:cNvPr id="19" name="Line 19"/>
          <p:cNvCxnSpPr/>
          <p:nvPr/>
        </p:nvCxnSpPr>
        <p:spPr>
          <a:xfrm>
            <a:off x="1219200" y="3142742"/>
            <a:ext cx="1371600" cy="0"/>
          </a:xfrm>
          <a:prstGeom prst="line">
            <a:avLst/>
          </a:prstGeom>
          <a:ln w="9525" cap="flat">
            <a:solidFill>
              <a:srgbClr val="DFE7F1"/>
            </a:solidFill>
          </a:ln>
        </p:spPr>
      </p:cxnSp>
      <p:cxnSp>
        <p:nvCxnSpPr>
          <p:cNvPr id="20" name="Line 20"/>
          <p:cNvCxnSpPr/>
          <p:nvPr/>
        </p:nvCxnSpPr>
        <p:spPr>
          <a:xfrm>
            <a:off x="1219200" y="3024209"/>
            <a:ext cx="1371600" cy="0"/>
          </a:xfrm>
          <a:prstGeom prst="line">
            <a:avLst/>
          </a:prstGeom>
          <a:ln w="9525" cap="flat">
            <a:solidFill>
              <a:srgbClr val="DFE7F1"/>
            </a:solidFill>
          </a:ln>
        </p:spPr>
      </p:cxnSp>
      <p:cxnSp>
        <p:nvCxnSpPr>
          <p:cNvPr id="21" name="Line 21"/>
          <p:cNvCxnSpPr/>
          <p:nvPr/>
        </p:nvCxnSpPr>
        <p:spPr>
          <a:xfrm>
            <a:off x="1219200" y="2905675"/>
            <a:ext cx="1371600" cy="0"/>
          </a:xfrm>
          <a:prstGeom prst="line">
            <a:avLst/>
          </a:prstGeom>
          <a:ln w="9525" cap="flat">
            <a:solidFill>
              <a:srgbClr val="DFE7F1"/>
            </a:solidFill>
          </a:ln>
        </p:spPr>
      </p:cxnSp>
      <p:cxnSp>
        <p:nvCxnSpPr>
          <p:cNvPr id="22" name="Line 22"/>
          <p:cNvCxnSpPr/>
          <p:nvPr/>
        </p:nvCxnSpPr>
        <p:spPr>
          <a:xfrm>
            <a:off x="1219200" y="2787142"/>
            <a:ext cx="1371600" cy="0"/>
          </a:xfrm>
          <a:prstGeom prst="line">
            <a:avLst/>
          </a:prstGeom>
          <a:ln w="9525" cap="flat">
            <a:solidFill>
              <a:srgbClr val="DFE7F1"/>
            </a:solidFill>
          </a:ln>
        </p:spPr>
      </p:cxnSp>
      <p:cxnSp>
        <p:nvCxnSpPr>
          <p:cNvPr id="23" name="Line 23"/>
          <p:cNvCxnSpPr/>
          <p:nvPr/>
        </p:nvCxnSpPr>
        <p:spPr>
          <a:xfrm>
            <a:off x="1219200" y="2668609"/>
            <a:ext cx="1371600" cy="0"/>
          </a:xfrm>
          <a:prstGeom prst="line">
            <a:avLst/>
          </a:prstGeom>
          <a:ln w="9525" cap="flat">
            <a:solidFill>
              <a:srgbClr val="DFE7F1"/>
            </a:solidFill>
          </a:ln>
        </p:spPr>
      </p:cxnSp>
      <p:cxnSp>
        <p:nvCxnSpPr>
          <p:cNvPr id="24" name="Line 24"/>
          <p:cNvCxnSpPr/>
          <p:nvPr/>
        </p:nvCxnSpPr>
        <p:spPr>
          <a:xfrm>
            <a:off x="1219200" y="2550075"/>
            <a:ext cx="1371600" cy="0"/>
          </a:xfrm>
          <a:prstGeom prst="line">
            <a:avLst/>
          </a:prstGeom>
          <a:ln w="9525" cap="flat">
            <a:solidFill>
              <a:srgbClr val="DFE7F1"/>
            </a:solidFill>
          </a:ln>
        </p:spPr>
      </p:cxnSp>
      <p:cxnSp>
        <p:nvCxnSpPr>
          <p:cNvPr id="25" name="Line 25"/>
          <p:cNvCxnSpPr/>
          <p:nvPr/>
        </p:nvCxnSpPr>
        <p:spPr>
          <a:xfrm>
            <a:off x="1219200" y="2431542"/>
            <a:ext cx="1371600" cy="0"/>
          </a:xfrm>
          <a:prstGeom prst="line">
            <a:avLst/>
          </a:prstGeom>
          <a:ln w="9525" cap="flat">
            <a:solidFill>
              <a:srgbClr val="DFE7F1"/>
            </a:solidFill>
          </a:ln>
        </p:spPr>
      </p:cxnSp>
      <p:cxnSp>
        <p:nvCxnSpPr>
          <p:cNvPr id="26" name="Line 26"/>
          <p:cNvCxnSpPr/>
          <p:nvPr/>
        </p:nvCxnSpPr>
        <p:spPr>
          <a:xfrm>
            <a:off x="1219200" y="2431542"/>
            <a:ext cx="0" cy="1066800"/>
          </a:xfrm>
          <a:prstGeom prst="line">
            <a:avLst/>
          </a:prstGeom>
          <a:ln w="19050" cap="flat">
            <a:solidFill>
              <a:srgbClr val="56647D"/>
            </a:solidFill>
          </a:ln>
        </p:spPr>
      </p:cxnSp>
      <p:cxnSp>
        <p:nvCxnSpPr>
          <p:cNvPr id="27" name="Line 27"/>
          <p:cNvCxnSpPr/>
          <p:nvPr/>
        </p:nvCxnSpPr>
        <p:spPr>
          <a:xfrm>
            <a:off x="1219200" y="3498342"/>
            <a:ext cx="1371600" cy="0"/>
          </a:xfrm>
          <a:prstGeom prst="line">
            <a:avLst/>
          </a:prstGeom>
          <a:ln w="19050" cap="flat">
            <a:solidFill>
              <a:srgbClr val="56647D"/>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223A"/>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223A"/>
                </a:solidFill>
                <a:latin typeface="Cambria"/>
                <a:cs typeface="Cambria"/>
              </a:rPr>
              <a:t xml:space="preserve">y</a:t>
            </a:r>
            <a:r>
              <a:rPr lang="en-US" sz="2100" dirty="0">
                <a:solidFill>
                  <a:srgbClr val="16223A"/>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223A"/>
                </a:solidFill>
                <a:latin typeface="Cambria"/>
                <a:cs typeface="Cambria"/>
              </a:rPr>
              <a:t xml:space="preserve">(</a:t>
            </a:r>
            <a:r>
              <a:rPr lang="en-US" sz="2100" dirty="0" i="1">
                <a:solidFill>
                  <a:srgbClr val="16223A"/>
                </a:solidFill>
                <a:latin typeface="Cambria"/>
                <a:cs typeface="Cambria"/>
              </a:rPr>
              <a:t xml:space="preserve">x</a:t>
            </a:r>
            <a:r>
              <a:rPr lang="en-US" sz="2100" dirty="0">
                <a:solidFill>
                  <a:srgbClr val="16223A"/>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slope </a:t>
            </a:r>
            <a:r>
              <a:rPr lang="en-US" sz="1575" dirty="0" b="1">
                <a:solidFill>
                  <a:srgbClr val="C9561F"/>
                </a:solidFill>
                <a:latin typeface="Calibri"/>
                <a:cs typeface="Calibri"/>
              </a:rPr>
              <a:t xml:space="preserve">−5</a:t>
            </a:r>
            <a:r>
              <a:rPr lang="en-US" sz="1575" dirty="0">
                <a:solidFill>
                  <a:srgbClr val="16223A"/>
                </a:solidFill>
                <a:latin typeface="Calibri"/>
                <a:cs typeface="Calibr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DFE7F1"/>
            </a:solidFill>
          </a:ln>
        </p:spPr>
      </p:cxnSp>
      <p:cxnSp>
        <p:nvCxnSpPr>
          <p:cNvPr id="43" name="Line 43"/>
          <p:cNvCxnSpPr/>
          <p:nvPr/>
        </p:nvCxnSpPr>
        <p:spPr>
          <a:xfrm>
            <a:off x="6914998" y="2431542"/>
            <a:ext cx="0" cy="1066800"/>
          </a:xfrm>
          <a:prstGeom prst="line">
            <a:avLst/>
          </a:prstGeom>
          <a:ln w="9525" cap="flat">
            <a:solidFill>
              <a:srgbClr val="DFE7F1"/>
            </a:solidFill>
          </a:ln>
        </p:spPr>
      </p:cxnSp>
      <p:cxnSp>
        <p:nvCxnSpPr>
          <p:cNvPr id="44" name="Line 44"/>
          <p:cNvCxnSpPr/>
          <p:nvPr/>
        </p:nvCxnSpPr>
        <p:spPr>
          <a:xfrm>
            <a:off x="7086448" y="2431542"/>
            <a:ext cx="0" cy="1066800"/>
          </a:xfrm>
          <a:prstGeom prst="line">
            <a:avLst/>
          </a:prstGeom>
          <a:ln w="9525" cap="flat">
            <a:solidFill>
              <a:srgbClr val="DFE7F1"/>
            </a:solidFill>
          </a:ln>
        </p:spPr>
      </p:cxnSp>
      <p:cxnSp>
        <p:nvCxnSpPr>
          <p:cNvPr id="45" name="Line 45"/>
          <p:cNvCxnSpPr/>
          <p:nvPr/>
        </p:nvCxnSpPr>
        <p:spPr>
          <a:xfrm>
            <a:off x="7257898" y="2431542"/>
            <a:ext cx="0" cy="1066800"/>
          </a:xfrm>
          <a:prstGeom prst="line">
            <a:avLst/>
          </a:prstGeom>
          <a:ln w="9525" cap="flat">
            <a:solidFill>
              <a:srgbClr val="DFE7F1"/>
            </a:solidFill>
          </a:ln>
        </p:spPr>
      </p:cxnSp>
      <p:cxnSp>
        <p:nvCxnSpPr>
          <p:cNvPr id="46" name="Line 46"/>
          <p:cNvCxnSpPr/>
          <p:nvPr/>
        </p:nvCxnSpPr>
        <p:spPr>
          <a:xfrm>
            <a:off x="7429348" y="2431542"/>
            <a:ext cx="0" cy="1066800"/>
          </a:xfrm>
          <a:prstGeom prst="line">
            <a:avLst/>
          </a:prstGeom>
          <a:ln w="9525" cap="flat">
            <a:solidFill>
              <a:srgbClr val="DFE7F1"/>
            </a:solidFill>
          </a:ln>
        </p:spPr>
      </p:cxnSp>
      <p:cxnSp>
        <p:nvCxnSpPr>
          <p:cNvPr id="47" name="Line 47"/>
          <p:cNvCxnSpPr/>
          <p:nvPr/>
        </p:nvCxnSpPr>
        <p:spPr>
          <a:xfrm>
            <a:off x="7600798" y="2431542"/>
            <a:ext cx="0" cy="1066800"/>
          </a:xfrm>
          <a:prstGeom prst="line">
            <a:avLst/>
          </a:prstGeom>
          <a:ln w="9525" cap="flat">
            <a:solidFill>
              <a:srgbClr val="DFE7F1"/>
            </a:solidFill>
          </a:ln>
        </p:spPr>
      </p:cxnSp>
      <p:cxnSp>
        <p:nvCxnSpPr>
          <p:cNvPr id="48" name="Line 48"/>
          <p:cNvCxnSpPr/>
          <p:nvPr/>
        </p:nvCxnSpPr>
        <p:spPr>
          <a:xfrm>
            <a:off x="7772248" y="2431542"/>
            <a:ext cx="0" cy="1066800"/>
          </a:xfrm>
          <a:prstGeom prst="line">
            <a:avLst/>
          </a:prstGeom>
          <a:ln w="9525" cap="flat">
            <a:solidFill>
              <a:srgbClr val="DFE7F1"/>
            </a:solidFill>
          </a:ln>
        </p:spPr>
      </p:cxnSp>
      <p:cxnSp>
        <p:nvCxnSpPr>
          <p:cNvPr id="49" name="Line 49"/>
          <p:cNvCxnSpPr/>
          <p:nvPr/>
        </p:nvCxnSpPr>
        <p:spPr>
          <a:xfrm>
            <a:off x="7943698" y="2431542"/>
            <a:ext cx="0" cy="1066800"/>
          </a:xfrm>
          <a:prstGeom prst="line">
            <a:avLst/>
          </a:prstGeom>
          <a:ln w="9525" cap="flat">
            <a:solidFill>
              <a:srgbClr val="DFE7F1"/>
            </a:solidFill>
          </a:ln>
        </p:spPr>
      </p:cxnSp>
      <p:cxnSp>
        <p:nvCxnSpPr>
          <p:cNvPr id="50" name="Line 50"/>
          <p:cNvCxnSpPr/>
          <p:nvPr/>
        </p:nvCxnSpPr>
        <p:spPr>
          <a:xfrm>
            <a:off x="8115148" y="2431542"/>
            <a:ext cx="0" cy="1066800"/>
          </a:xfrm>
          <a:prstGeom prst="line">
            <a:avLst/>
          </a:prstGeom>
          <a:ln w="9525" cap="flat">
            <a:solidFill>
              <a:srgbClr val="DFE7F1"/>
            </a:solidFill>
          </a:ln>
        </p:spPr>
      </p:cxnSp>
      <p:cxnSp>
        <p:nvCxnSpPr>
          <p:cNvPr id="51" name="Line 51"/>
          <p:cNvCxnSpPr/>
          <p:nvPr/>
        </p:nvCxnSpPr>
        <p:spPr>
          <a:xfrm>
            <a:off x="6743548" y="3498342"/>
            <a:ext cx="1371600" cy="0"/>
          </a:xfrm>
          <a:prstGeom prst="line">
            <a:avLst/>
          </a:prstGeom>
          <a:ln w="9525" cap="flat">
            <a:solidFill>
              <a:srgbClr val="DFE7F1"/>
            </a:solidFill>
          </a:ln>
        </p:spPr>
      </p:cxnSp>
      <p:cxnSp>
        <p:nvCxnSpPr>
          <p:cNvPr id="52" name="Line 52"/>
          <p:cNvCxnSpPr/>
          <p:nvPr/>
        </p:nvCxnSpPr>
        <p:spPr>
          <a:xfrm>
            <a:off x="6743548" y="3364992"/>
            <a:ext cx="1371600" cy="0"/>
          </a:xfrm>
          <a:prstGeom prst="line">
            <a:avLst/>
          </a:prstGeom>
          <a:ln w="9525" cap="flat">
            <a:solidFill>
              <a:srgbClr val="DFE7F1"/>
            </a:solidFill>
          </a:ln>
        </p:spPr>
      </p:cxnSp>
      <p:cxnSp>
        <p:nvCxnSpPr>
          <p:cNvPr id="53" name="Line 53"/>
          <p:cNvCxnSpPr/>
          <p:nvPr/>
        </p:nvCxnSpPr>
        <p:spPr>
          <a:xfrm>
            <a:off x="6743548" y="3231642"/>
            <a:ext cx="1371600" cy="0"/>
          </a:xfrm>
          <a:prstGeom prst="line">
            <a:avLst/>
          </a:prstGeom>
          <a:ln w="9525" cap="flat">
            <a:solidFill>
              <a:srgbClr val="DFE7F1"/>
            </a:solidFill>
          </a:ln>
        </p:spPr>
      </p:cxnSp>
      <p:cxnSp>
        <p:nvCxnSpPr>
          <p:cNvPr id="54" name="Line 54"/>
          <p:cNvCxnSpPr/>
          <p:nvPr/>
        </p:nvCxnSpPr>
        <p:spPr>
          <a:xfrm>
            <a:off x="6743548" y="3098292"/>
            <a:ext cx="1371600" cy="0"/>
          </a:xfrm>
          <a:prstGeom prst="line">
            <a:avLst/>
          </a:prstGeom>
          <a:ln w="9525" cap="flat">
            <a:solidFill>
              <a:srgbClr val="DFE7F1"/>
            </a:solidFill>
          </a:ln>
        </p:spPr>
      </p:cxnSp>
      <p:cxnSp>
        <p:nvCxnSpPr>
          <p:cNvPr id="55" name="Line 55"/>
          <p:cNvCxnSpPr/>
          <p:nvPr/>
        </p:nvCxnSpPr>
        <p:spPr>
          <a:xfrm>
            <a:off x="6743548" y="2964942"/>
            <a:ext cx="1371600" cy="0"/>
          </a:xfrm>
          <a:prstGeom prst="line">
            <a:avLst/>
          </a:prstGeom>
          <a:ln w="9525" cap="flat">
            <a:solidFill>
              <a:srgbClr val="DFE7F1"/>
            </a:solidFill>
          </a:ln>
        </p:spPr>
      </p:cxnSp>
      <p:cxnSp>
        <p:nvCxnSpPr>
          <p:cNvPr id="56" name="Line 56"/>
          <p:cNvCxnSpPr/>
          <p:nvPr/>
        </p:nvCxnSpPr>
        <p:spPr>
          <a:xfrm>
            <a:off x="6743548" y="2831592"/>
            <a:ext cx="1371600" cy="0"/>
          </a:xfrm>
          <a:prstGeom prst="line">
            <a:avLst/>
          </a:prstGeom>
          <a:ln w="9525" cap="flat">
            <a:solidFill>
              <a:srgbClr val="DFE7F1"/>
            </a:solidFill>
          </a:ln>
        </p:spPr>
      </p:cxnSp>
      <p:cxnSp>
        <p:nvCxnSpPr>
          <p:cNvPr id="57" name="Line 57"/>
          <p:cNvCxnSpPr/>
          <p:nvPr/>
        </p:nvCxnSpPr>
        <p:spPr>
          <a:xfrm>
            <a:off x="6743548" y="2698242"/>
            <a:ext cx="1371600" cy="0"/>
          </a:xfrm>
          <a:prstGeom prst="line">
            <a:avLst/>
          </a:prstGeom>
          <a:ln w="9525" cap="flat">
            <a:solidFill>
              <a:srgbClr val="DFE7F1"/>
            </a:solidFill>
          </a:ln>
        </p:spPr>
      </p:cxnSp>
      <p:cxnSp>
        <p:nvCxnSpPr>
          <p:cNvPr id="58" name="Line 58"/>
          <p:cNvCxnSpPr/>
          <p:nvPr/>
        </p:nvCxnSpPr>
        <p:spPr>
          <a:xfrm>
            <a:off x="6743548" y="2564892"/>
            <a:ext cx="1371600" cy="0"/>
          </a:xfrm>
          <a:prstGeom prst="line">
            <a:avLst/>
          </a:prstGeom>
          <a:ln w="9525" cap="flat">
            <a:solidFill>
              <a:srgbClr val="DFE7F1"/>
            </a:solidFill>
          </a:ln>
        </p:spPr>
      </p:cxnSp>
      <p:cxnSp>
        <p:nvCxnSpPr>
          <p:cNvPr id="59" name="Line 59"/>
          <p:cNvCxnSpPr/>
          <p:nvPr/>
        </p:nvCxnSpPr>
        <p:spPr>
          <a:xfrm>
            <a:off x="6743548" y="2431542"/>
            <a:ext cx="1371600" cy="0"/>
          </a:xfrm>
          <a:prstGeom prst="line">
            <a:avLst/>
          </a:prstGeom>
          <a:ln w="9525" cap="flat">
            <a:solidFill>
              <a:srgbClr val="DFE7F1"/>
            </a:solidFill>
          </a:ln>
        </p:spPr>
      </p:cxnSp>
      <p:cxnSp>
        <p:nvCxnSpPr>
          <p:cNvPr id="60" name="Line 60"/>
          <p:cNvCxnSpPr/>
          <p:nvPr/>
        </p:nvCxnSpPr>
        <p:spPr>
          <a:xfrm>
            <a:off x="7429348" y="2431542"/>
            <a:ext cx="0" cy="1066800"/>
          </a:xfrm>
          <a:prstGeom prst="line">
            <a:avLst/>
          </a:prstGeom>
          <a:ln w="19050" cap="flat">
            <a:solidFill>
              <a:srgbClr val="56647D"/>
            </a:solidFill>
          </a:ln>
        </p:spPr>
      </p:cxnSp>
      <p:cxnSp>
        <p:nvCxnSpPr>
          <p:cNvPr id="61" name="Line 61"/>
          <p:cNvCxnSpPr/>
          <p:nvPr/>
        </p:nvCxnSpPr>
        <p:spPr>
          <a:xfrm>
            <a:off x="6743548" y="3231642"/>
            <a:ext cx="1371600" cy="0"/>
          </a:xfrm>
          <a:prstGeom prst="line">
            <a:avLst/>
          </a:prstGeom>
          <a:ln w="19050" cap="flat">
            <a:solidFill>
              <a:srgbClr val="56647D"/>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6647D"/>
                </a:solidFill>
                <a:latin typeface="Calibri"/>
                <a:cs typeface="Calibr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6647D"/>
                </a:solidFill>
                <a:latin typeface="Calibri"/>
                <a:cs typeface="Calibr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223A"/>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223A"/>
                </a:solidFill>
                <a:latin typeface="Cambria"/>
                <a:cs typeface="Cambria"/>
              </a:rPr>
              <a:t xml:space="preserve">y</a:t>
            </a:r>
            <a:r>
              <a:rPr lang="en-US" sz="2100" dirty="0">
                <a:solidFill>
                  <a:srgbClr val="16223A"/>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223A"/>
                </a:solidFill>
                <a:latin typeface="Cambria"/>
                <a:cs typeface="Cambria"/>
              </a:rPr>
              <a:t xml:space="preserve">x</a:t>
            </a:r>
            <a:r>
              <a:rPr lang="en-US" sz="2100" dirty="0">
                <a:solidFill>
                  <a:srgbClr val="16223A"/>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slope </a:t>
            </a:r>
            <a:r>
              <a:rPr lang="en-US" sz="1575" dirty="0" b="1">
                <a:solidFill>
                  <a:srgbClr val="C9561F"/>
                </a:solidFill>
                <a:latin typeface="Calibri"/>
                <a:cs typeface="Calibri"/>
              </a:rPr>
              <a:t xml:space="preserve">1</a:t>
            </a:r>
            <a:r>
              <a:rPr lang="en-US" sz="1575" dirty="0">
                <a:solidFill>
                  <a:srgbClr val="16223A"/>
                </a:solidFill>
                <a:latin typeface="Calibri"/>
                <a:cs typeface="Calibr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223A"/>
                </a:solidFill>
                <a:latin typeface="Calibri"/>
                <a:cs typeface="Calibri"/>
              </a:rPr>
              <a:t xml:space="preserve">a.</a:t>
            </a:r>
            <a:r>
              <a:rPr lang="en-US" sz="1950" dirty="0">
                <a:solidFill>
                  <a:srgbClr val="16223A"/>
                </a:solidFill>
                <a:latin typeface="Calibri"/>
                <a:cs typeface="Calibri"/>
              </a:rPr>
              <a:t xml:space="preserve"> One graph goes </a:t>
            </a:r>
            <a:r>
              <a:rPr lang="en-US" sz="1950" dirty="0" b="1">
                <a:solidFill>
                  <a:srgbClr val="16223A"/>
                </a:solidFill>
                <a:latin typeface="Calibri"/>
                <a:cs typeface="Calibri"/>
              </a:rPr>
              <a:t xml:space="preserve">down</a:t>
            </a:r>
            <a:r>
              <a:rPr lang="en-US" sz="1950" dirty="0">
                <a:solidFill>
                  <a:srgbClr val="16223A"/>
                </a:solidFill>
                <a:latin typeface="Calibri"/>
                <a:cs typeface="Calibri"/>
              </a:rPr>
              <a:t xml:space="preserve"> from left to right: </a:t>
            </a:r>
            <a:r>
              <a:rPr lang="en-US" sz="1950" dirty="0" b="1">
                <a:solidFill>
                  <a:srgbClr val="C9561F"/>
                </a:solidFill>
                <a:latin typeface="Calibri"/>
                <a:cs typeface="Calibri"/>
              </a:rPr>
              <a:t xml:space="preserve">negative slope</a:t>
            </a:r>
            <a:r>
              <a:rPr lang="en-US" sz="1950" dirty="0">
                <a:solidFill>
                  <a:srgbClr val="16223A"/>
                </a:solidFill>
                <a:latin typeface="Calibri"/>
                <a:cs typeface="Calibri"/>
              </a:rPr>
              <a:t xml:space="preserve">. The other goes </a:t>
            </a:r>
            <a:r>
              <a:rPr lang="en-US" sz="1950" dirty="0" b="1">
                <a:solidFill>
                  <a:srgbClr val="16223A"/>
                </a:solidFill>
                <a:latin typeface="Calibri"/>
                <a:cs typeface="Calibri"/>
              </a:rPr>
              <a:t xml:space="preserve">up</a:t>
            </a:r>
            <a:r>
              <a:rPr lang="en-US" sz="1950" dirty="0">
                <a:solidFill>
                  <a:srgbClr val="16223A"/>
                </a:solidFill>
                <a:latin typeface="Calibri"/>
                <a:cs typeface="Calibri"/>
              </a:rPr>
              <a:t xml:space="preserve">: </a:t>
            </a:r>
            <a:r>
              <a:rPr lang="en-US" sz="1950" dirty="0" b="1">
                <a:solidFill>
                  <a:srgbClr val="C9561F"/>
                </a:solidFill>
                <a:latin typeface="Calibri"/>
                <a:cs typeface="Calibri"/>
              </a:rPr>
              <a:t xml:space="preserve">positive slope</a:t>
            </a:r>
            <a:r>
              <a:rPr lang="en-US" sz="1950" dirty="0">
                <a:solidFill>
                  <a:srgbClr val="16223A"/>
                </a:solidFill>
                <a:latin typeface="Calibri"/>
                <a:cs typeface="Calibr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223A"/>
                </a:solidFill>
                <a:latin typeface="Calibri"/>
                <a:cs typeface="Calibri"/>
              </a:rPr>
              <a:t xml:space="preserve">b.</a:t>
            </a:r>
            <a:r>
              <a:rPr lang="en-US" sz="1950" dirty="0">
                <a:solidFill>
                  <a:srgbClr val="16223A"/>
                </a:solidFill>
                <a:latin typeface="Calibri"/>
                <a:cs typeface="Calibri"/>
              </a:rPr>
              <a:t xml:space="preserve"> In slope-intercept form, the number that is </a:t>
            </a:r>
            <a:r>
              <a:rPr lang="en-US" sz="1950" dirty="0" b="1">
                <a:solidFill>
                  <a:srgbClr val="16223A"/>
                </a:solidFill>
                <a:latin typeface="Calibri"/>
                <a:cs typeface="Calibri"/>
              </a:rPr>
              <a:t xml:space="preserve">added</a:t>
            </a:r>
            <a:r>
              <a:rPr lang="en-US" sz="1950" dirty="0">
                <a:solidFill>
                  <a:srgbClr val="16223A"/>
                </a:solidFill>
                <a:latin typeface="Calibri"/>
                <a:cs typeface="Calibri"/>
              </a:rPr>
              <a:t xml:space="preserve"> is the </a:t>
            </a:r>
            <a:r>
              <a:rPr lang="en-US" sz="1950" dirty="0" i="1">
                <a:solidFill>
                  <a:srgbClr val="16223A"/>
                </a:solidFill>
                <a:latin typeface="Calibri"/>
                <a:cs typeface="Calibri"/>
              </a:rPr>
              <a:t xml:space="preserve">y</a:t>
            </a:r>
            <a:r>
              <a:rPr lang="en-US" sz="1950" dirty="0">
                <a:solidFill>
                  <a:srgbClr val="16223A"/>
                </a:solidFill>
                <a:latin typeface="Calibri"/>
                <a:cs typeface="Calibri"/>
              </a:rPr>
              <a:t xml:space="preserve">-coordinate of the </a:t>
            </a:r>
            <a:r>
              <a:rPr lang="en-US" sz="1950" dirty="0" i="1">
                <a:solidFill>
                  <a:srgbClr val="16223A"/>
                </a:solidFill>
                <a:latin typeface="Calibri"/>
                <a:cs typeface="Calibri"/>
              </a:rPr>
              <a:t xml:space="preserve">y</a:t>
            </a:r>
            <a:r>
              <a:rPr lang="en-US" sz="1950" dirty="0">
                <a:solidFill>
                  <a:srgbClr val="16223A"/>
                </a:solidFill>
                <a:latin typeface="Calibri"/>
                <a:cs typeface="Calibr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223A"/>
                </a:solidFill>
                <a:latin typeface="Calibri"/>
                <a:cs typeface="Calibri"/>
              </a:rPr>
              <a:t xml:space="preserve">c.</a:t>
            </a:r>
            <a:r>
              <a:rPr lang="en-US" sz="1950" dirty="0">
                <a:solidFill>
                  <a:srgbClr val="16223A"/>
                </a:solidFill>
                <a:latin typeface="Calibri"/>
                <a:cs typeface="Calibri"/>
              </a:rPr>
              <a:t xml:space="preserve"> The slope is the </a:t>
            </a:r>
            <a:r>
              <a:rPr lang="en-US" sz="1950" dirty="0" b="1">
                <a:solidFill>
                  <a:srgbClr val="16223A"/>
                </a:solidFill>
                <a:latin typeface="Calibri"/>
                <a:cs typeface="Calibri"/>
              </a:rPr>
              <a:t xml:space="preserve">coefficient of </a:t>
            </a:r>
            <a:r>
              <a:rPr lang="en-US" sz="1950" dirty="0" b="1" i="1">
                <a:solidFill>
                  <a:srgbClr val="16223A"/>
                </a:solidFill>
                <a:latin typeface="Calibri"/>
                <a:cs typeface="Calibri"/>
              </a:rPr>
              <a:t xml:space="preserve">x</a:t>
            </a:r>
            <a:r>
              <a:rPr lang="en-US" sz="1950" dirty="0">
                <a:solidFill>
                  <a:srgbClr val="16223A"/>
                </a:solidFill>
                <a:latin typeface="Calibri"/>
                <a:cs typeface="Calibr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2 · Activity 4.3 · Question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a. Use the slope formula to find the coefficient of </a:t>
            </a:r>
            <a:r>
              <a:rPr lang="en-US" sz="1575" dirty="0" i="1">
                <a:solidFill>
                  <a:srgbClr val="56647D"/>
                </a:solidFill>
                <a:latin typeface="Calibri"/>
                <a:cs typeface="Calibri"/>
              </a:rPr>
              <a:t xml:space="preserve">x</a:t>
            </a:r>
            <a:r>
              <a:rPr lang="en-US" sz="1575" dirty="0">
                <a:solidFill>
                  <a:srgbClr val="56647D"/>
                </a:solidFill>
                <a:latin typeface="Calibri"/>
                <a:cs typeface="Calibr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223A"/>
                </a:solidFill>
                <a:latin typeface="Cambria"/>
                <a:cs typeface="Cambria"/>
              </a:rPr>
              <a:t xml:space="preserve"> = </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9 − 15</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10 − 2</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 = </a:t>
            </a:r>
            <a:r>
              <a:rPr lang="en-US" sz="2850" dirty="0">
                <a:solidFill>
                  <a:srgbClr val="16223A"/>
                </a:solidFill>
                <a:latin typeface="Cambria"/>
                <a:cs typeface="Cambria"/>
              </a:rPr>
              <a:t xml:space="preserve">−6</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8</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223A"/>
                </a:solidFill>
                <a:latin typeface="Cambria"/>
                <a:cs typeface="Cambria"/>
              </a:rPr>
              <a:t xml:space="preserve"> = </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264 − 216</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18 − 12</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 = </a:t>
            </a:r>
            <a:r>
              <a:rPr lang="en-US" sz="2850" dirty="0">
                <a:solidFill>
                  <a:srgbClr val="16223A"/>
                </a:solidFill>
                <a:latin typeface="Cambria"/>
                <a:cs typeface="Cambria"/>
              </a:rPr>
              <a:t xml:space="preserve">48</a:t>
            </a:r>
            <a:r>
              <a:rPr lang="en-US" sz="2850" dirty="0">
                <a:solidFill>
                  <a:srgbClr val="16223A"/>
                </a:solidFill>
                <a:latin typeface="Cambria"/>
                <a:cs typeface="Cambria"/>
              </a:rPr>
              <a:t xml:space="preserve">/</a:t>
            </a:r>
            <a:r>
              <a:rPr lang="en-US" sz="2850" dirty="0">
                <a:solidFill>
                  <a:srgbClr val="16223A"/>
                </a:solidFill>
                <a:latin typeface="Cambria"/>
                <a:cs typeface="Cambria"/>
              </a:rPr>
              <a:t xml:space="preserve">6</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It's the </a:t>
            </a:r>
            <a:r>
              <a:rPr lang="en-US" sz="1950" dirty="0" i="1">
                <a:solidFill>
                  <a:srgbClr val="16223A"/>
                </a:solidFill>
                <a:latin typeface="Calibri"/>
                <a:cs typeface="Calibri"/>
              </a:rPr>
              <a:t xml:space="preserve">y</a:t>
            </a:r>
            <a:r>
              <a:rPr lang="en-US" sz="1950" dirty="0">
                <a:solidFill>
                  <a:srgbClr val="16223A"/>
                </a:solidFill>
                <a:latin typeface="Calibri"/>
                <a:cs typeface="Calibri"/>
              </a:rPr>
              <a:t xml:space="preserve">-value when </a:t>
            </a:r>
            <a:r>
              <a:rPr lang="en-US" sz="1950" dirty="0" i="1">
                <a:solidFill>
                  <a:srgbClr val="16223A"/>
                </a:solidFill>
                <a:latin typeface="Cambria"/>
                <a:cs typeface="Cambria"/>
              </a:rPr>
              <a:t xml:space="preserve">x</a:t>
            </a:r>
            <a:r>
              <a:rPr lang="en-US" sz="1950" dirty="0">
                <a:solidFill>
                  <a:srgbClr val="16223A"/>
                </a:solidFill>
                <a:latin typeface="Cambria"/>
                <a:cs typeface="Cambria"/>
              </a:rPr>
              <a:t xml:space="preserve"> = 0</a:t>
            </a:r>
            <a:r>
              <a:rPr lang="en-US" sz="1950" dirty="0">
                <a:solidFill>
                  <a:srgbClr val="16223A"/>
                </a:solidFill>
                <a:latin typeface="Calibri"/>
                <a:cs typeface="Calibri"/>
              </a:rPr>
              <a:t xml:space="preserve">. If (0, </a:t>
            </a:r>
            <a:r>
              <a:rPr lang="en-US" sz="1950" dirty="0" i="1">
                <a:solidFill>
                  <a:srgbClr val="16223A"/>
                </a:solidFill>
                <a:latin typeface="Calibri"/>
                <a:cs typeface="Calibri"/>
              </a:rPr>
              <a:t xml:space="preserve">y</a:t>
            </a:r>
            <a:r>
              <a:rPr lang="en-US" sz="1950" dirty="0">
                <a:solidFill>
                  <a:srgbClr val="16223A"/>
                </a:solidFill>
                <a:latin typeface="Calibri"/>
                <a:cs typeface="Calibr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2 · Activity 4.3 · Question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223A"/>
                </a:solidFill>
                <a:latin typeface="Cambria"/>
                <a:cs typeface="Cambria"/>
              </a:rPr>
              <a:t xml:space="preserve"> + </a:t>
            </a:r>
            <a:r>
              <a:rPr lang="en-US" sz="2325" dirty="0" b="1">
                <a:solidFill>
                  <a:srgbClr val="1D64C4"/>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Calibri"/>
                <a:cs typeface="Calibri"/>
              </a:rPr>
              <a:t xml:space="preserve">1</a:t>
            </a:r>
            <a:r>
              <a:rPr lang="en-US" sz="1575" dirty="0" b="1">
                <a:solidFill>
                  <a:srgbClr val="C9561F"/>
                </a:solidFill>
                <a:latin typeface="Calibri"/>
                <a:cs typeface="Calibri"/>
              </a:rPr>
              <a:t xml:space="preserve">/</a:t>
            </a:r>
            <a:r>
              <a:rPr lang="en-US" sz="1575" dirty="0" b="1">
                <a:solidFill>
                  <a:srgbClr val="C9561F"/>
                </a:solidFill>
                <a:latin typeface="Calibri"/>
                <a:cs typeface="Calibri"/>
              </a:rPr>
              <a:t xml:space="preserve">2</a:t>
            </a:r>
            <a:r>
              <a:rPr lang="en-US" sz="1575" dirty="0" b="1" i="1">
                <a:solidFill>
                  <a:srgbClr val="C9561F"/>
                </a:solidFill>
                <a:latin typeface="Calibri"/>
                <a:cs typeface="Calibri"/>
              </a:rPr>
              <a:t xml:space="preserve">x</a:t>
            </a:r>
            <a:r>
              <a:rPr lang="en-US" sz="1575" dirty="0">
                <a:solidFill>
                  <a:srgbClr val="16223A"/>
                </a:solidFill>
                <a:latin typeface="Calibri"/>
                <a:cs typeface="Calibr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223A"/>
                </a:solidFill>
                <a:latin typeface="Calibri"/>
                <a:cs typeface="Calibri"/>
              </a:rPr>
              <a:t xml:space="preserve">x</a:t>
            </a:r>
            <a:r>
              <a:rPr lang="en-US" sz="1575" dirty="0">
                <a:solidFill>
                  <a:srgbClr val="16223A"/>
                </a:solidFill>
                <a:latin typeface="Calibri"/>
                <a:cs typeface="Calibr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D64C4"/>
                </a:solidFill>
                <a:latin typeface="Calibri"/>
                <a:cs typeface="Calibri"/>
              </a:rPr>
              <a:t xml:space="preserve">40</a:t>
            </a:r>
            <a:r>
              <a:rPr lang="en-US" sz="1575" dirty="0">
                <a:solidFill>
                  <a:srgbClr val="16223A"/>
                </a:solidFill>
                <a:latin typeface="Calibri"/>
                <a:cs typeface="Calibr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223A"/>
                </a:solidFill>
                <a:latin typeface="Calibri"/>
                <a:cs typeface="Calibr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223A"/>
                </a:solidFill>
                <a:latin typeface="Cambria"/>
                <a:cs typeface="Cambria"/>
              </a:rPr>
              <a:t xml:space="preserve"> + </a:t>
            </a:r>
            <a:r>
              <a:rPr lang="en-US" sz="2325" dirty="0" b="1">
                <a:solidFill>
                  <a:srgbClr val="1D64C4"/>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Calibri"/>
                <a:cs typeface="Calibri"/>
              </a:rPr>
              <a:t xml:space="preserve">1.2</a:t>
            </a:r>
            <a:r>
              <a:rPr lang="en-US" sz="1575" dirty="0" b="1" i="1">
                <a:solidFill>
                  <a:srgbClr val="C9561F"/>
                </a:solidFill>
                <a:latin typeface="Calibri"/>
                <a:cs typeface="Calibri"/>
              </a:rPr>
              <a:t xml:space="preserve">x</a:t>
            </a:r>
            <a:r>
              <a:rPr lang="en-US" sz="1575" dirty="0">
                <a:solidFill>
                  <a:srgbClr val="16223A"/>
                </a:solidFill>
                <a:latin typeface="Calibri"/>
                <a:cs typeface="Calibr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223A"/>
                </a:solidFill>
                <a:latin typeface="Calibri"/>
                <a:cs typeface="Calibri"/>
              </a:rPr>
              <a:t xml:space="preserve">x</a:t>
            </a:r>
            <a:r>
              <a:rPr lang="en-US" sz="1575" dirty="0">
                <a:solidFill>
                  <a:srgbClr val="16223A"/>
                </a:solidFill>
                <a:latin typeface="Calibri"/>
                <a:cs typeface="Calibr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D64C4"/>
                </a:solidFill>
                <a:latin typeface="Calibri"/>
                <a:cs typeface="Calibri"/>
              </a:rPr>
              <a:t xml:space="preserve">9</a:t>
            </a:r>
            <a:r>
              <a:rPr lang="en-US" sz="1575" dirty="0">
                <a:solidFill>
                  <a:srgbClr val="16223A"/>
                </a:solidFill>
                <a:latin typeface="Calibri"/>
                <a:cs typeface="Calibr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2 · Talk the Talk · Say What?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223A"/>
                </a:solidFill>
                <a:latin typeface="Cambria"/>
                <a:cs typeface="Cambria"/>
              </a:rPr>
              <a:t xml:space="preserve">a.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3</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5</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slope </a:t>
            </a:r>
            <a:r>
              <a:rPr lang="en-US" sz="1575" dirty="0" b="1">
                <a:solidFill>
                  <a:srgbClr val="C9561F"/>
                </a:solidFill>
                <a:latin typeface="Calibri"/>
                <a:cs typeface="Calibri"/>
              </a:rPr>
              <a:t xml:space="preserve">3</a:t>
            </a:r>
            <a:r>
              <a:rPr lang="en-US" sz="1575" dirty="0" b="1">
                <a:solidFill>
                  <a:srgbClr val="C9561F"/>
                </a:solidFill>
                <a:latin typeface="Calibri"/>
                <a:cs typeface="Calibri"/>
              </a:rPr>
              <a:t xml:space="preserve">/</a:t>
            </a:r>
            <a:r>
              <a:rPr lang="en-US" sz="1575" dirty="0" b="1">
                <a:solidFill>
                  <a:srgbClr val="C9561F"/>
                </a:solidFill>
                <a:latin typeface="Calibri"/>
                <a:cs typeface="Calibri"/>
              </a:rPr>
              <a:t xml:space="preserve">5</a:t>
            </a:r>
            <a:r>
              <a:rPr lang="en-US" sz="1575" dirty="0">
                <a:solidFill>
                  <a:srgbClr val="16223A"/>
                </a:solidFill>
                <a:latin typeface="Calibri"/>
                <a:cs typeface="Calibri"/>
              </a:rPr>
              <a:t xml:space="preserve">, </a:t>
            </a:r>
            <a:r>
              <a:rPr lang="en-US" sz="1575" dirty="0" i="1">
                <a:solidFill>
                  <a:srgbClr val="16223A"/>
                </a:solidFill>
                <a:latin typeface="Calibri"/>
                <a:cs typeface="Calibri"/>
              </a:rPr>
              <a:t xml:space="preserve">y</a:t>
            </a:r>
            <a:r>
              <a:rPr lang="en-US" sz="1575" dirty="0">
                <a:solidFill>
                  <a:srgbClr val="16223A"/>
                </a:solidFill>
                <a:latin typeface="Calibri"/>
                <a:cs typeface="Calibri"/>
              </a:rPr>
              <a:t xml:space="preserve">-intercept </a:t>
            </a:r>
            <a:r>
              <a:rPr lang="en-US" sz="1575" dirty="0" b="1">
                <a:solidFill>
                  <a:srgbClr val="1D64C4"/>
                </a:solidFill>
                <a:latin typeface="Calibri"/>
                <a:cs typeface="Calibr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223A"/>
                </a:solidFill>
                <a:latin typeface="Cambria"/>
                <a:cs typeface="Cambria"/>
              </a:rPr>
              <a:t xml:space="preserve">b.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− 6 = 2(</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slope </a:t>
            </a:r>
            <a:r>
              <a:rPr lang="en-US" sz="1575" dirty="0" b="1">
                <a:solidFill>
                  <a:srgbClr val="C9561F"/>
                </a:solidFill>
                <a:latin typeface="Calibri"/>
                <a:cs typeface="Calibri"/>
              </a:rPr>
              <a:t xml:space="preserve">2</a:t>
            </a:r>
            <a:r>
              <a:rPr lang="en-US" sz="1575" dirty="0">
                <a:solidFill>
                  <a:srgbClr val="16223A"/>
                </a:solidFill>
                <a:latin typeface="Calibri"/>
                <a:cs typeface="Calibri"/>
              </a:rPr>
              <a:t xml:space="preserve">, point </a:t>
            </a:r>
            <a:r>
              <a:rPr lang="en-US" sz="1575" dirty="0" b="1">
                <a:solidFill>
                  <a:srgbClr val="1D64C4"/>
                </a:solidFill>
                <a:latin typeface="Calibri"/>
                <a:cs typeface="Calibr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223A"/>
                </a:solidFill>
                <a:latin typeface="Cambria"/>
                <a:cs typeface="Cambria"/>
              </a:rPr>
              <a:t xml:space="preserve">c.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+ 4 = 2(</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slope </a:t>
            </a:r>
            <a:r>
              <a:rPr lang="en-US" sz="1575" dirty="0" b="1">
                <a:solidFill>
                  <a:srgbClr val="C9561F"/>
                </a:solidFill>
                <a:latin typeface="Calibri"/>
                <a:cs typeface="Calibri"/>
              </a:rPr>
              <a:t xml:space="preserve">2</a:t>
            </a:r>
            <a:r>
              <a:rPr lang="en-US" sz="1575" dirty="0">
                <a:solidFill>
                  <a:srgbClr val="16223A"/>
                </a:solidFill>
                <a:latin typeface="Calibri"/>
                <a:cs typeface="Calibri"/>
              </a:rPr>
              <a:t xml:space="preserve">, point </a:t>
            </a:r>
            <a:r>
              <a:rPr lang="en-US" sz="1575" dirty="0" b="1">
                <a:solidFill>
                  <a:srgbClr val="1D64C4"/>
                </a:solidFill>
                <a:latin typeface="Calibri"/>
                <a:cs typeface="Calibr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223A"/>
                </a:solidFill>
                <a:latin typeface="Cambria"/>
                <a:cs typeface="Cambria"/>
              </a:rPr>
              <a:t xml:space="preserve">d.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2</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7</a:t>
            </a:r>
            <a:r>
              <a:rPr lang="en-US" sz="2325" dirty="0" i="1">
                <a:solidFill>
                  <a:srgbClr val="16223A"/>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slope </a:t>
            </a:r>
            <a:r>
              <a:rPr lang="en-US" sz="1575" dirty="0" b="1">
                <a:solidFill>
                  <a:srgbClr val="C9561F"/>
                </a:solidFill>
                <a:latin typeface="Calibri"/>
                <a:cs typeface="Calibri"/>
              </a:rPr>
              <a:t xml:space="preserve">−</a:t>
            </a:r>
            <a:r>
              <a:rPr lang="en-US" sz="1575" dirty="0" b="1">
                <a:solidFill>
                  <a:srgbClr val="C9561F"/>
                </a:solidFill>
                <a:latin typeface="Calibri"/>
                <a:cs typeface="Calibri"/>
              </a:rPr>
              <a:t xml:space="preserve">2</a:t>
            </a:r>
            <a:r>
              <a:rPr lang="en-US" sz="1575" dirty="0" b="1">
                <a:solidFill>
                  <a:srgbClr val="C9561F"/>
                </a:solidFill>
                <a:latin typeface="Calibri"/>
                <a:cs typeface="Calibri"/>
              </a:rPr>
              <a:t xml:space="preserve">/</a:t>
            </a:r>
            <a:r>
              <a:rPr lang="en-US" sz="1575" dirty="0" b="1">
                <a:solidFill>
                  <a:srgbClr val="C9561F"/>
                </a:solidFill>
                <a:latin typeface="Calibri"/>
                <a:cs typeface="Calibri"/>
              </a:rPr>
              <a:t xml:space="preserve">7</a:t>
            </a:r>
            <a:r>
              <a:rPr lang="en-US" sz="1575" dirty="0">
                <a:solidFill>
                  <a:srgbClr val="16223A"/>
                </a:solidFill>
                <a:latin typeface="Calibri"/>
                <a:cs typeface="Calibri"/>
              </a:rPr>
              <a:t xml:space="preserve">, </a:t>
            </a:r>
            <a:r>
              <a:rPr lang="en-US" sz="1575" dirty="0" i="1">
                <a:solidFill>
                  <a:srgbClr val="16223A"/>
                </a:solidFill>
                <a:latin typeface="Calibri"/>
                <a:cs typeface="Calibri"/>
              </a:rPr>
              <a:t xml:space="preserve">y</a:t>
            </a:r>
            <a:r>
              <a:rPr lang="en-US" sz="1575" dirty="0">
                <a:solidFill>
                  <a:srgbClr val="16223A"/>
                </a:solidFill>
                <a:latin typeface="Calibri"/>
                <a:cs typeface="Calibri"/>
              </a:rPr>
              <a:t xml:space="preserve">-intercept </a:t>
            </a:r>
            <a:r>
              <a:rPr lang="en-US" sz="1575" dirty="0" b="1">
                <a:solidFill>
                  <a:srgbClr val="1D64C4"/>
                </a:solidFill>
                <a:latin typeface="Calibri"/>
                <a:cs typeface="Calibr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223A"/>
                </a:solidFill>
                <a:latin typeface="Cambria"/>
                <a:cs typeface="Cambria"/>
              </a:rPr>
              <a:t xml:space="preserve">e.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+ 5 = −(</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slope </a:t>
            </a:r>
            <a:r>
              <a:rPr lang="en-US" sz="1575" dirty="0" b="1">
                <a:solidFill>
                  <a:srgbClr val="C9561F"/>
                </a:solidFill>
                <a:latin typeface="Calibri"/>
                <a:cs typeface="Calibri"/>
              </a:rPr>
              <a:t xml:space="preserve">−1</a:t>
            </a:r>
            <a:r>
              <a:rPr lang="en-US" sz="1575" dirty="0">
                <a:solidFill>
                  <a:srgbClr val="16223A"/>
                </a:solidFill>
                <a:latin typeface="Calibri"/>
                <a:cs typeface="Calibri"/>
              </a:rPr>
              <a:t xml:space="preserve">, point </a:t>
            </a:r>
            <a:r>
              <a:rPr lang="en-US" sz="1575" dirty="0" b="1">
                <a:solidFill>
                  <a:srgbClr val="1D64C4"/>
                </a:solidFill>
                <a:latin typeface="Calibri"/>
                <a:cs typeface="Calibr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CDD8E6"/>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223A"/>
                </a:solidFill>
                <a:latin typeface="Cambria"/>
                <a:cs typeface="Cambria"/>
              </a:rPr>
              <a:t xml:space="preserve">f.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slope </a:t>
            </a:r>
            <a:r>
              <a:rPr lang="en-US" sz="1575" dirty="0" b="1">
                <a:solidFill>
                  <a:srgbClr val="C9561F"/>
                </a:solidFill>
                <a:latin typeface="Calibri"/>
                <a:cs typeface="Calibri"/>
              </a:rPr>
              <a:t xml:space="preserve">0</a:t>
            </a:r>
            <a:r>
              <a:rPr lang="en-US" sz="1575" dirty="0">
                <a:solidFill>
                  <a:srgbClr val="16223A"/>
                </a:solidFill>
                <a:latin typeface="Calibri"/>
                <a:cs typeface="Calibri"/>
              </a:rPr>
              <a:t xml:space="preserve">, </a:t>
            </a:r>
            <a:r>
              <a:rPr lang="en-US" sz="1575" dirty="0" i="1">
                <a:solidFill>
                  <a:srgbClr val="16223A"/>
                </a:solidFill>
                <a:latin typeface="Calibri"/>
                <a:cs typeface="Calibri"/>
              </a:rPr>
              <a:t xml:space="preserve">y</a:t>
            </a:r>
            <a:r>
              <a:rPr lang="en-US" sz="1575" dirty="0">
                <a:solidFill>
                  <a:srgbClr val="16223A"/>
                </a:solidFill>
                <a:latin typeface="Calibri"/>
                <a:cs typeface="Calibri"/>
              </a:rPr>
              <a:t xml:space="preserve">-intercept </a:t>
            </a:r>
            <a:r>
              <a:rPr lang="en-US" sz="1575" dirty="0" b="1">
                <a:solidFill>
                  <a:srgbClr val="1D64C4"/>
                </a:solidFill>
                <a:latin typeface="Calibri"/>
                <a:cs typeface="Calibri"/>
              </a:rPr>
              <a:t xml:space="preserve">(0, 19)</a:t>
            </a:r>
            <a:r>
              <a:rPr lang="en-US" sz="1575" dirty="0">
                <a:solidFill>
                  <a:srgbClr val="16223A"/>
                </a:solidFill>
                <a:latin typeface="Calibri"/>
                <a:cs typeface="Calibr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FF1E6"/>
          </a:solidFill>
          <a:ln>
            <a:noFill/>
          </a:ln>
        </p:spPr>
        <p:txBody>
          <a:bodyPr wrap="square" lIns="164592" tIns="73152" rIns="164592" bIns="73152" anchor="ctr">
            <a:noAutofit/>
          </a:bodyPr>
          <a:lstStyle/>
          <a:p>
            <a:pPr algn="l">
              <a:lnSpc>
                <a:spcPct val="100000"/>
              </a:lnSpc>
            </a:pPr>
            <a:r>
              <a:rPr lang="en-US" sz="1650" dirty="0">
                <a:solidFill>
                  <a:srgbClr val="16223A"/>
                </a:solidFill>
                <a:latin typeface="Calibri"/>
                <a:cs typeface="Calibri"/>
              </a:rPr>
              <a:t xml:space="preserve">Signs flip: </a:t>
            </a:r>
            <a:r>
              <a:rPr lang="en-US" sz="1650" dirty="0" i="1">
                <a:solidFill>
                  <a:srgbClr val="16223A"/>
                </a:solidFill>
                <a:latin typeface="Cambria"/>
                <a:cs typeface="Cambria"/>
              </a:rPr>
              <a:t xml:space="preserve">x</a:t>
            </a:r>
            <a:r>
              <a:rPr lang="en-US" sz="1650" dirty="0">
                <a:solidFill>
                  <a:srgbClr val="16223A"/>
                </a:solidFill>
                <a:latin typeface="Cambria"/>
                <a:cs typeface="Cambria"/>
              </a:rPr>
              <a:t xml:space="preserve"> + 1</a:t>
            </a:r>
            <a:r>
              <a:rPr lang="en-US" sz="1650" dirty="0">
                <a:solidFill>
                  <a:srgbClr val="16223A"/>
                </a:solidFill>
                <a:latin typeface="Calibri"/>
                <a:cs typeface="Calibri"/>
              </a:rPr>
              <a:t xml:space="preserve"> means </a:t>
            </a:r>
            <a:r>
              <a:rPr lang="en-US" sz="1650" dirty="0" i="1">
                <a:solidFill>
                  <a:srgbClr val="16223A"/>
                </a:solidFill>
                <a:latin typeface="Cambria"/>
                <a:cs typeface="Cambria"/>
              </a:rPr>
              <a:t xml:space="preserve">x</a:t>
            </a:r>
            <a:r>
              <a:rPr lang="en-US" sz="1402" dirty="0" baseline="-25000">
                <a:solidFill>
                  <a:srgbClr val="16223A"/>
                </a:solidFill>
                <a:latin typeface="Cambria"/>
                <a:cs typeface="Cambria"/>
              </a:rPr>
              <a:t xml:space="preserve">1</a:t>
            </a:r>
            <a:r>
              <a:rPr lang="en-US" sz="1650" dirty="0">
                <a:solidFill>
                  <a:srgbClr val="16223A"/>
                </a:solidFill>
                <a:latin typeface="Cambria"/>
                <a:cs typeface="Cambria"/>
              </a:rPr>
              <a:t xml:space="preserve"> = −1</a:t>
            </a:r>
            <a:r>
              <a:rPr lang="en-US" sz="1650" dirty="0">
                <a:solidFill>
                  <a:srgbClr val="16223A"/>
                </a:solidFill>
                <a:latin typeface="Calibri"/>
                <a:cs typeface="Calibri"/>
              </a:rPr>
              <a:t xml:space="preserve">, and </a:t>
            </a:r>
            <a:r>
              <a:rPr lang="en-US" sz="1650" dirty="0" i="1">
                <a:solidFill>
                  <a:srgbClr val="16223A"/>
                </a:solidFill>
                <a:latin typeface="Cambria"/>
                <a:cs typeface="Cambria"/>
              </a:rPr>
              <a:t xml:space="preserve">y</a:t>
            </a:r>
            <a:r>
              <a:rPr lang="en-US" sz="1650" dirty="0">
                <a:solidFill>
                  <a:srgbClr val="16223A"/>
                </a:solidFill>
                <a:latin typeface="Cambria"/>
                <a:cs typeface="Cambria"/>
              </a:rPr>
              <a:t xml:space="preserve"> + 5</a:t>
            </a:r>
            <a:r>
              <a:rPr lang="en-US" sz="1650" dirty="0">
                <a:solidFill>
                  <a:srgbClr val="16223A"/>
                </a:solidFill>
                <a:latin typeface="Calibri"/>
                <a:cs typeface="Calibri"/>
              </a:rPr>
              <a:t xml:space="preserve"> means </a:t>
            </a:r>
            <a:r>
              <a:rPr lang="en-US" sz="1650" dirty="0" i="1">
                <a:solidFill>
                  <a:srgbClr val="16223A"/>
                </a:solidFill>
                <a:latin typeface="Cambria"/>
                <a:cs typeface="Cambria"/>
              </a:rPr>
              <a:t xml:space="preserve">y</a:t>
            </a:r>
            <a:r>
              <a:rPr lang="en-US" sz="1402" dirty="0" baseline="-25000">
                <a:solidFill>
                  <a:srgbClr val="16223A"/>
                </a:solidFill>
                <a:latin typeface="Cambria"/>
                <a:cs typeface="Cambria"/>
              </a:rPr>
              <a:t xml:space="preserve">1</a:t>
            </a:r>
            <a:r>
              <a:rPr lang="en-US" sz="1650" dirty="0">
                <a:solidFill>
                  <a:srgbClr val="16223A"/>
                </a:solidFill>
                <a:latin typeface="Cambria"/>
                <a:cs typeface="Cambria"/>
              </a:rPr>
              <a:t xml:space="preserve"> = −5</a:t>
            </a:r>
            <a:r>
              <a:rPr lang="en-US" sz="1650" dirty="0">
                <a:solidFill>
                  <a:srgbClr val="16223A"/>
                </a:solidFill>
                <a:latin typeface="Calibri"/>
                <a:cs typeface="Calibr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Day 2 · Talk the Talk · Question 2</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CDD8E6"/>
            </a:solidFill>
          </a:ln>
        </p:spPr>
        <p:txBody>
          <a:bodyPr wrap="square" lIns="201168" tIns="155448" rIns="201168" bIns="155448" anchor="t">
            <a:noAutofit/>
          </a:bodyPr>
          <a:lstStyle/>
          <a:p>
            <a:pPr algn="l">
              <a:lnSpc>
                <a:spcPct val="100000"/>
              </a:lnSpc>
            </a:pPr>
            <a:r>
              <a:rPr lang="en-US" sz="1875" dirty="0" b="1">
                <a:solidFill>
                  <a:srgbClr val="16223A"/>
                </a:solidFill>
                <a:latin typeface="Calibri"/>
                <a:cs typeface="Calibri"/>
              </a:rPr>
              <a:t xml:space="preserve">Sample:</a:t>
            </a:r>
            <a:r>
              <a:rPr lang="en-US" sz="1875" dirty="0">
                <a:solidFill>
                  <a:srgbClr val="16223A"/>
                </a:solidFill>
                <a:latin typeface="Calibri"/>
                <a:cs typeface="Calibr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Calibri"/>
                <a:cs typeface="Calibri"/>
              </a:rPr>
              <a:t xml:space="preserve">4 credits per game → slope 4</a:t>
            </a:r>
            <a:r>
              <a:rPr lang="en-US" sz="1950" dirty="0">
                <a:solidFill>
                  <a:srgbClr val="16223A"/>
                </a:solidFill>
                <a:latin typeface="Calibri"/>
                <a:cs typeface="Calibri"/>
              </a:rPr>
              <a:t xml:space="preserve">. </a:t>
            </a:r>
            <a:r>
              <a:rPr lang="en-US" sz="1950" dirty="0" b="1">
                <a:solidFill>
                  <a:srgbClr val="1D64C4"/>
                </a:solidFill>
                <a:latin typeface="Calibri"/>
                <a:cs typeface="Calibr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56</a:t>
            </a:r>
            <a:r>
              <a:rPr lang="en-US" sz="2850" dirty="0">
                <a:solidFill>
                  <a:srgbClr val="16223A"/>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223A"/>
                </a:solidFill>
                <a:latin typeface="Cambria"/>
                <a:cs typeface="Cambria"/>
              </a:rPr>
              <a:t xml:space="preserve">(</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a:t>
            </a:r>
            <a:r>
              <a:rPr lang="en-US" sz="2850" dirty="0" b="1">
                <a:solidFill>
                  <a:srgbClr val="1D64C4"/>
                </a:solidFill>
                <a:latin typeface="Cambria"/>
                <a:cs typeface="Cambria"/>
              </a:rPr>
              <a:t xml:space="preserve">2</a:t>
            </a:r>
            <a:r>
              <a:rPr lang="en-US" sz="2850" dirty="0">
                <a:solidFill>
                  <a:srgbClr val="16223A"/>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223A"/>
                </a:solidFill>
                <a:latin typeface="Calibri"/>
                <a:cs typeface="Calibr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− 56 = 4</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− 8 → </a:t>
            </a:r>
            <a:r>
              <a:rPr lang="en-US" sz="2850" dirty="0" i="1">
                <a:solidFill>
                  <a:srgbClr val="16223A"/>
                </a:solidFill>
                <a:latin typeface="Cambria"/>
                <a:cs typeface="Cambria"/>
              </a:rPr>
              <a:t xml:space="preserve">y</a:t>
            </a:r>
            <a:r>
              <a:rPr lang="en-US" sz="2850" dirty="0">
                <a:solidFill>
                  <a:srgbClr val="16223A"/>
                </a:solidFill>
                <a:latin typeface="Cambria"/>
                <a:cs typeface="Cambria"/>
              </a:rPr>
              <a:t xml:space="preserve"> = 4</a:t>
            </a:r>
            <a:r>
              <a:rPr lang="en-US" sz="2850" dirty="0" i="1">
                <a:solidFill>
                  <a:srgbClr val="16223A"/>
                </a:solidFill>
                <a:latin typeface="Cambria"/>
                <a:cs typeface="Cambria"/>
              </a:rPr>
              <a:t xml:space="preserve">x</a:t>
            </a:r>
            <a:r>
              <a:rPr lang="en-US" sz="2850" dirty="0">
                <a:solidFill>
                  <a:srgbClr val="16223A"/>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6647D"/>
                </a:solidFill>
                <a:latin typeface="Calibri"/>
                <a:cs typeface="Calibr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223A"/>
                </a:solidFill>
                <a:latin typeface="Calibri"/>
                <a:cs typeface="Calibri"/>
              </a:rPr>
              <a:t xml:space="preserve">Yes, there's another form.</a:t>
            </a:r>
            <a:r>
              <a:rPr lang="en-US" sz="1950" dirty="0">
                <a:solidFill>
                  <a:srgbClr val="16223A"/>
                </a:solidFill>
                <a:latin typeface="Calibri"/>
                <a:cs typeface="Calibr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223A"/>
                </a:solidFill>
                <a:latin typeface="Cambria"/>
                <a:cs typeface="Cambria"/>
              </a:rPr>
              <a:t xml:space="preserve">y</a:t>
            </a:r>
            <a:r>
              <a:rPr lang="en-US" sz="3750" dirty="0">
                <a:solidFill>
                  <a:srgbClr val="16223A"/>
                </a:solidFill>
                <a:latin typeface="Cambria"/>
                <a:cs typeface="Cambria"/>
              </a:rPr>
              <a:t xml:space="preserve"> − </a:t>
            </a:r>
            <a:r>
              <a:rPr lang="en-US" sz="3750" dirty="0" b="1" i="1">
                <a:solidFill>
                  <a:srgbClr val="1D64C4"/>
                </a:solidFill>
                <a:latin typeface="Cambria"/>
                <a:cs typeface="Cambria"/>
              </a:rPr>
              <a:t xml:space="preserve">y</a:t>
            </a:r>
            <a:r>
              <a:rPr lang="en-US" sz="3188" dirty="0" b="1" baseline="-25000">
                <a:solidFill>
                  <a:srgbClr val="1D64C4"/>
                </a:solidFill>
                <a:latin typeface="Cambria"/>
                <a:cs typeface="Cambria"/>
              </a:rPr>
              <a:t xml:space="preserve">1</a:t>
            </a:r>
            <a:r>
              <a:rPr lang="en-US" sz="3750" dirty="0">
                <a:solidFill>
                  <a:srgbClr val="16223A"/>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223A"/>
                </a:solidFill>
                <a:latin typeface="Cambria"/>
                <a:cs typeface="Cambria"/>
              </a:rPr>
              <a:t xml:space="preserve">(</a:t>
            </a:r>
            <a:r>
              <a:rPr lang="en-US" sz="3750" dirty="0" i="1">
                <a:solidFill>
                  <a:srgbClr val="16223A"/>
                </a:solidFill>
                <a:latin typeface="Cambria"/>
                <a:cs typeface="Cambria"/>
              </a:rPr>
              <a:t xml:space="preserve">x</a:t>
            </a:r>
            <a:r>
              <a:rPr lang="en-US" sz="3750" dirty="0">
                <a:solidFill>
                  <a:srgbClr val="16223A"/>
                </a:solidFill>
                <a:latin typeface="Cambria"/>
                <a:cs typeface="Cambria"/>
              </a:rPr>
              <a:t xml:space="preserve"> − </a:t>
            </a:r>
            <a:r>
              <a:rPr lang="en-US" sz="3750" dirty="0" b="1" i="1">
                <a:solidFill>
                  <a:srgbClr val="1D64C4"/>
                </a:solidFill>
                <a:latin typeface="Cambria"/>
                <a:cs typeface="Cambria"/>
              </a:rPr>
              <a:t xml:space="preserve">x</a:t>
            </a:r>
            <a:r>
              <a:rPr lang="en-US" sz="3188" dirty="0" b="1" baseline="-25000">
                <a:solidFill>
                  <a:srgbClr val="1D64C4"/>
                </a:solidFill>
                <a:latin typeface="Cambria"/>
                <a:cs typeface="Cambria"/>
              </a:rPr>
              <a:t xml:space="preserve">1</a:t>
            </a:r>
            <a:r>
              <a:rPr lang="en-US" sz="3750" dirty="0">
                <a:solidFill>
                  <a:srgbClr val="16223A"/>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223A"/>
                </a:solidFill>
                <a:latin typeface="Calibri"/>
                <a:cs typeface="Calibri"/>
              </a:rPr>
              <a:t xml:space="preserve">Horizontal lines</a:t>
            </a:r>
            <a:r>
              <a:rPr lang="en-US" sz="1950" dirty="0">
                <a:solidFill>
                  <a:srgbClr val="16223A"/>
                </a:solidFill>
                <a:latin typeface="Calibri"/>
                <a:cs typeface="Calibri"/>
              </a:rPr>
              <a:t xml:space="preserve"> have slope 0 and equations like </a:t>
            </a:r>
            <a:r>
              <a:rPr lang="en-US" sz="1950" dirty="0" i="1">
                <a:solidFill>
                  <a:srgbClr val="16223A"/>
                </a:solidFill>
                <a:latin typeface="Cambria"/>
                <a:cs typeface="Cambria"/>
              </a:rPr>
              <a:t xml:space="preserve">y</a:t>
            </a:r>
            <a:r>
              <a:rPr lang="en-US" sz="1950" dirty="0">
                <a:solidFill>
                  <a:srgbClr val="16223A"/>
                </a:solidFill>
                <a:latin typeface="Cambria"/>
                <a:cs typeface="Cambria"/>
              </a:rPr>
              <a:t xml:space="preserve"> = 11</a:t>
            </a:r>
            <a:r>
              <a:rPr lang="en-US" sz="1950" dirty="0">
                <a:solidFill>
                  <a:srgbClr val="16223A"/>
                </a:solidFill>
                <a:latin typeface="Calibri"/>
                <a:cs typeface="Calibr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223A"/>
                </a:solidFill>
                <a:latin typeface="Calibri"/>
                <a:cs typeface="Calibri"/>
              </a:rPr>
              <a:t xml:space="preserve">Vertical lines</a:t>
            </a:r>
            <a:r>
              <a:rPr lang="en-US" sz="1950" dirty="0">
                <a:solidFill>
                  <a:srgbClr val="16223A"/>
                </a:solidFill>
                <a:latin typeface="Calibri"/>
                <a:cs typeface="Calibri"/>
              </a:rPr>
              <a:t xml:space="preserve"> have an undefined slope and equations like </a:t>
            </a:r>
            <a:r>
              <a:rPr lang="en-US" sz="1950" dirty="0" i="1">
                <a:solidFill>
                  <a:srgbClr val="16223A"/>
                </a:solidFill>
                <a:latin typeface="Cambria"/>
                <a:cs typeface="Cambria"/>
              </a:rPr>
              <a:t xml:space="preserve">x</a:t>
            </a:r>
            <a:r>
              <a:rPr lang="en-US" sz="1950" dirty="0">
                <a:solidFill>
                  <a:srgbClr val="16223A"/>
                </a:solidFill>
                <a:latin typeface="Cambria"/>
                <a:cs typeface="Cambria"/>
              </a:rPr>
              <a:t xml:space="preserve"> = −2</a:t>
            </a:r>
            <a:r>
              <a:rPr lang="en-US" sz="1950" dirty="0">
                <a:solidFill>
                  <a:srgbClr val="16223A"/>
                </a:solidFill>
                <a:latin typeface="Calibri"/>
                <a:cs typeface="Calibr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1. Write the equation in point-slope form: slope 5, through (−2, 3).</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− 3 = 5(</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2. Rewrite your answer to #1 in slope-intercept form.</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5</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223A"/>
                </a:solidFill>
                <a:latin typeface="Calibri"/>
                <a:cs typeface="Calibri"/>
              </a:rPr>
              <a:t xml:space="preserve">3. Write the equation of the line through (4, 1) and (4, −7). Is it horizontal or vertical?</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4 </a:t>
            </a:r>
            <a:r>
              <a:rPr lang="en-US" sz="1650" dirty="0">
                <a:solidFill>
                  <a:srgbClr val="16223A"/>
                </a:solidFill>
                <a:latin typeface="Calibri"/>
                <a:cs typeface="Calibr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6647D"/>
                </a:solidFill>
                <a:latin typeface="Calibri"/>
                <a:cs typeface="Calibri"/>
              </a:rPr>
              <a:t xml:space="preserve">Prepare for Lesson 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223A"/>
                </a:solidFill>
                <a:latin typeface="Calibri"/>
                <a:cs typeface="Calibri"/>
              </a:rPr>
              <a:t xml:space="preserve">Solve each equation for </a:t>
            </a:r>
            <a:r>
              <a:rPr lang="en-US" sz="3450" dirty="0" b="1" i="1">
                <a:solidFill>
                  <a:srgbClr val="16223A"/>
                </a:solidFill>
                <a:latin typeface="Calibri"/>
                <a:cs typeface="Calibr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223A"/>
                </a:solidFill>
                <a:latin typeface="Cambria"/>
                <a:cs typeface="Cambria"/>
              </a:rPr>
              <a:t xml:space="preserve">1. −2</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1</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2</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7</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223A"/>
                </a:solidFill>
                <a:latin typeface="Cambria"/>
                <a:cs typeface="Cambria"/>
              </a:rPr>
              <a:t xml:space="preserve">2. </a:t>
            </a:r>
            <a:r>
              <a:rPr lang="en-US" sz="2325" dirty="0">
                <a:solidFill>
                  <a:srgbClr val="16223A"/>
                </a:solidFill>
                <a:latin typeface="Cambria"/>
                <a:cs typeface="Cambria"/>
              </a:rPr>
              <a:t xml:space="preserve">3</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4</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4</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3</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223A"/>
                </a:solidFill>
                <a:latin typeface="Cambria"/>
                <a:cs typeface="Cambria"/>
              </a:rPr>
              <a:t xml:space="preserve">3. 2</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+ 3</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2</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3</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223A"/>
                </a:solidFill>
                <a:latin typeface="Cambria"/>
                <a:cs typeface="Cambria"/>
              </a:rPr>
              <a:t xml:space="preserve">4. </a:t>
            </a:r>
            <a:r>
              <a:rPr lang="en-US" sz="2325" dirty="0">
                <a:solidFill>
                  <a:srgbClr val="16223A"/>
                </a:solidFill>
                <a:latin typeface="Cambria"/>
                <a:cs typeface="Cambria"/>
              </a:rPr>
              <a:t xml:space="preserve">1</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2</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− 4</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3F4EF"/>
          </a:solidFill>
          <a:ln>
            <a:noFill/>
          </a:ln>
        </p:spPr>
        <p:txBody>
          <a:bodyPr wrap="square" lIns="164592" tIns="64008" rIns="164592" bIns="64008" anchor="ctr">
            <a:noAutofit/>
          </a:bodyPr>
          <a:lstStyle/>
          <a:p>
            <a:pPr algn="l">
              <a:lnSpc>
                <a:spcPct val="100000"/>
              </a:lnSpc>
            </a:pPr>
            <a:r>
              <a:rPr lang="en-US" sz="1125" dirty="0" b="1" spc="100">
                <a:solidFill>
                  <a:srgbClr val="0D7A63"/>
                </a:solidFill>
                <a:latin typeface="Calibri"/>
                <a:cs typeface="Calibri"/>
              </a:rPr>
              <a:t xml:space="preserve">ANSWER   </a:t>
            </a:r>
            <a:r>
              <a:rPr lang="en-US" sz="2325" dirty="0" i="1">
                <a:solidFill>
                  <a:srgbClr val="16223A"/>
                </a:solidFill>
                <a:latin typeface="Cambria"/>
                <a:cs typeface="Cambria"/>
              </a:rPr>
              <a:t xml:space="preserve">y</a:t>
            </a:r>
            <a:r>
              <a:rPr lang="en-US" sz="2325" dirty="0">
                <a:solidFill>
                  <a:srgbClr val="16223A"/>
                </a:solidFill>
                <a:latin typeface="Cambria"/>
                <a:cs typeface="Cambria"/>
              </a:rPr>
              <a:t xml:space="preserve"> = </a:t>
            </a:r>
            <a:r>
              <a:rPr lang="en-US" sz="2325" dirty="0">
                <a:solidFill>
                  <a:srgbClr val="16223A"/>
                </a:solidFill>
                <a:latin typeface="Cambria"/>
                <a:cs typeface="Cambria"/>
              </a:rPr>
              <a:t xml:space="preserve">1</a:t>
            </a:r>
            <a:r>
              <a:rPr lang="en-US" sz="2325" dirty="0">
                <a:solidFill>
                  <a:srgbClr val="16223A"/>
                </a:solidFill>
                <a:latin typeface="Cambria"/>
                <a:cs typeface="Cambria"/>
              </a:rPr>
              <a:t xml:space="preserve">/</a:t>
            </a:r>
            <a:r>
              <a:rPr lang="en-US" sz="2325" dirty="0">
                <a:solidFill>
                  <a:srgbClr val="16223A"/>
                </a:solidFill>
                <a:latin typeface="Cambria"/>
                <a:cs typeface="Cambria"/>
              </a:rPr>
              <a:t xml:space="preserve">8</a:t>
            </a:r>
            <a:r>
              <a:rPr lang="en-US" sz="2325" dirty="0" i="1">
                <a:solidFill>
                  <a:srgbClr val="16223A"/>
                </a:solidFill>
                <a:latin typeface="Cambria"/>
                <a:cs typeface="Cambria"/>
              </a:rPr>
              <a:t xml:space="preserve">x</a:t>
            </a:r>
            <a:r>
              <a:rPr lang="en-US" sz="2325" dirty="0">
                <a:solidFill>
                  <a:srgbClr val="16223A"/>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oint-Slope">
  <a:themeElements>
    <a:clrScheme name="Lesson">
      <a:dk1>
        <a:srgbClr val="16223A"/>
      </a:dk1>
      <a:lt1>
        <a:srgbClr val="FFFFFF"/>
      </a:lt1>
      <a:dk2>
        <a:srgbClr val="1F2A44"/>
      </a:dk2>
      <a:lt2>
        <a:srgbClr val="F5F8FC"/>
      </a:lt2>
      <a:accent1>
        <a:srgbClr val="C9561F"/>
      </a:accent1>
      <a:accent2>
        <a:srgbClr val="1D64C4"/>
      </a:accent2>
      <a:accent3>
        <a:srgbClr val="0D7A63"/>
      </a:accent3>
      <a:accent4>
        <a:srgbClr val="7A5AC8"/>
      </a:accent4>
      <a:accent5>
        <a:srgbClr val="C23B6B"/>
      </a:accent5>
      <a:accent6>
        <a:srgbClr val="5A8F29"/>
      </a:accent6>
      <a:hlink>
        <a:srgbClr val="1D64C4"/>
      </a:hlink>
      <a:folHlink>
        <a:srgbClr val="7A5AC8"/>
      </a:folHlink>
    </a:clrScheme>
    <a:fontScheme name="Lesson">
      <a:majorFont>
        <a:latin typeface="Calibri"/>
        <a:ea typeface=""/>
        <a:cs typeface=""/>
      </a:majorFont>
      <a:minorFont>
        <a:latin typeface="Calibr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223A"/>
      </a:dk1>
      <a:lt1>
        <a:srgbClr val="FFFFFF"/>
      </a:lt1>
      <a:dk2>
        <a:srgbClr val="1F2A44"/>
      </a:dk2>
      <a:lt2>
        <a:srgbClr val="F5F8FC"/>
      </a:lt2>
      <a:accent1>
        <a:srgbClr val="C9561F"/>
      </a:accent1>
      <a:accent2>
        <a:srgbClr val="1D64C4"/>
      </a:accent2>
      <a:accent3>
        <a:srgbClr val="0D7A63"/>
      </a:accent3>
      <a:accent4>
        <a:srgbClr val="7A5AC8"/>
      </a:accent4>
      <a:accent5>
        <a:srgbClr val="C23B6B"/>
      </a:accent5>
      <a:accent6>
        <a:srgbClr val="5A8F29"/>
      </a:accent6>
      <a:hlink>
        <a:srgbClr val="1D64C4"/>
      </a:hlink>
      <a:folHlink>
        <a:srgbClr val="7A5AC8"/>
      </a:folHlink>
    </a:clrScheme>
    <a:fontScheme name="Lesson">
      <a:majorFont>
        <a:latin typeface="Calibri"/>
        <a:ea typeface=""/>
        <a:cs typeface=""/>
      </a:majorFont>
      <a:minorFont>
        <a:latin typeface="Calibr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31</Slides>
  <Notes>31</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