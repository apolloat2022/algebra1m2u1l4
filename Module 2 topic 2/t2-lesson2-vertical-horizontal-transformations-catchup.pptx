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horizontal transformations f(x − c) and f(bx) with the vertical ones from Lesson 1. For f(x) = x, a horizontal translation right n matches a vertical translation down n, and a vertical dilation by n matches a horizontal dilation by 1/n, but these pairs do not match for other linear functions. Two days on the 150-day calendar: Day 1 Getting Started and Activity 2.1; Day 2 Activities 2.2, 2.3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The slope −⅔ is negative, so the line falls from left to right.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To find the x-intercept, set the function equal to 0: 3x − 8 = 0 gives x = 8/3; −(2/3)x + 5 = 0 gives x = 7.5.</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2.1, 30–35 minutes. A horizontal translation left 3 subtracts 3 from each input value; the outputs stay the same.Ask: Which values were affected? (Left 3 changed the inputs; up 3 changed the outputs.)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sign: f(x − 3) moves right 3, f(x + 3) moves left 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misconception: students expect left 4 to equal up 4 for every line. It works only for slope 1. Slide typos in the student slides: some items labeled 'a.' are b, c and 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Day 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f(2x) = 2x and 2f(x) = 2x. For the parent function they match.</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Describe why Table B is a linear function and Table A is not. (Table B is y = 1, a constant function whose graph is a horizontal line. Table A has the same input with three outputs, so it isn't a function at all; it would be part of the vertical line x = 1.) What strategy can you use for Table C? (The inputs are consecutive, so check the first differences: −15 each time.) This idea of a constant rate of change is exactly what Activity 6.1 extends to tables whose inputs are NOT consecutive.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2.2, 15–20 minutes. Changing the inputs by a factor of 1/2 is a horizontal compression: each point moves halfway to the y-axis.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are the tables different if the graphs are the same? (They list different points of the same line.)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Counterexamples will vary; any linear function other than f(x) = x works.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2.3, 15–20 minutes. Graph each g(x) on the grids in the book: plot the y-intercept and use the slope. Slide typo in the student slides: items 2, 3, 5 and 6 are numbered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5 minutes. For f(x) = x, f(x) + 8 is also f(x + 8), and f(⅓x) is also ⅓f(x).</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Adding to the input moves left. 2. 3(x − 2) + 1 = 3x − 5. 3. f(5x) = 5x = 5f(x).</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2 Assignment. TE correction: the teacher guide gives the reciprocal of −10 as 1/10; it is −1/10, since (−10)(−1/10) = 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Module 2 topic 2/t2-lesson2-bellwork-day1.html" TargetMode="External"/><Relationship Id="rId4" Type="http://schemas.openxmlformats.org/officeDocument/2006/relationships/hyperlink" Target="https://algebra1m2u1l4.vercel.app/Module 2 topic 2/t2-lesson2-bellwork-day2.html" TargetMode="External"/><Relationship Id="rId5" Type="http://schemas.openxmlformats.org/officeDocument/2006/relationships/hyperlink" Target="https://algebra1m2u1l4.vercel.app/Module 2 topic 2/t2-lesson2-homework.html" TargetMode="External"/><Relationship Id="rId6" Type="http://schemas.openxmlformats.org/officeDocument/2006/relationships/hyperlink" Target="https://algebra1m2u1l4.vercel.app/Module 2 topic 2/t2-lesson2-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lgebra1m2u1l4.vercel.app/lesson6/lesson6-homework.html" TargetMode="External"/><Relationship Id="rId4" Type="http://schemas.openxmlformats.org/officeDocument/2006/relationships/hyperlink" Target="https://algebra1m2u1l4.vercel.app/lesson6/lesson6-quiz.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hyperlink" Target="https://algebra1m2u1l4.vercel.app/Module 2 topic 2/t2-lesson2-bellwork-day1.html" TargetMode="External"/><Relationship Id="rId4" Type="http://schemas.openxmlformats.org/officeDocument/2006/relationships/hyperlink" Target="https://algebra1m2u1l4.vercel.app/Module 2 topic 2/t2-lesson2-bellwork-day2.html" TargetMode="External"/><Relationship Id="rId5" Type="http://schemas.openxmlformats.org/officeDocument/2006/relationships/hyperlink" Target="https://algebra1m2u1l4.vercel.app/Module 2 topic 2/t2-lesson2-homework.html" TargetMode="External"/><Relationship Id="rId6" Type="http://schemas.openxmlformats.org/officeDocument/2006/relationships/hyperlink" Target="https://algebra1m2u1l4.vercel.app/Module 2 topic 2/t2-lesson2-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Student Edition pp. 287–304</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Vertical and Horizontal Transformations of Linear Functions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Tue, Oct 27</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b="1" i="1">
                <a:solidFill>
                  <a:srgbClr val="C9561F"/>
                </a:solidFill>
                <a:latin typeface="Cambria"/>
                <a:cs typeface="Cambria"/>
              </a:rPr>
              <a:t xml:space="preserve">b</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43167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Is </a:t>
            </a:r>
            <a:r>
              <a:rPr lang="en-US" sz="1950" dirty="0" i="1">
                <a:solidFill>
                  <a:srgbClr val="16171D"/>
                </a:solidFill>
                <a:latin typeface="Cambria"/>
                <a:cs typeface="Cambria"/>
              </a:rPr>
              <a:t xml:space="preserve">h</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−⅔</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increasing or decreasing? </a:t>
            </a:r>
            <a:r>
              <a:rPr lang="en-US" sz="1575" dirty="0">
                <a:solidFill>
                  <a:srgbClr val="5F6272"/>
                </a:solidFill>
                <a:latin typeface="Segoe UI"/>
                <a:cs typeface="Segoe UI"/>
              </a:rPr>
              <a:t xml:space="preserve">(SE p. 288)</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Decreasing</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2 · SE p. 287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Identify key characteristics of linear functions.</a:t>
            </a:r>
            <a:endParaRPr lang="en-US" sz="1950" dirty="0"/>
          </a:p>
        </p:txBody>
      </p:sp>
      <p:sp>
        <p:nvSpPr>
          <p:cNvPr id="5" name="Shape 5"/>
          <p:cNvSpPr txBox="1"/>
          <p:nvPr/>
        </p:nvSpPr>
        <p:spPr>
          <a:xfrm>
            <a:off x="685800" y="21038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b</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287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learned the effects of vertical transformations on linear functions.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What effect do horizontal transformations have on linear functions? How do they compare to vertical transformations?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Hey, I Remember This! · SE p. 288</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each function and describe its key characteristics</a:t>
            </a:r>
            <a:endParaRPr lang="en-US" sz="3450" dirty="0"/>
          </a:p>
        </p:txBody>
      </p:sp>
      <p:sp>
        <p:nvSpPr>
          <p:cNvPr id="4" name="Shape 4"/>
          <p:cNvSpPr txBox="1"/>
          <p:nvPr/>
        </p:nvSpPr>
        <p:spPr>
          <a:xfrm>
            <a:off x="685800"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6" name="Shape 6"/>
          <p:cNvSpPr txBox="1"/>
          <p:nvPr/>
        </p:nvSpPr>
        <p:spPr>
          <a:xfrm>
            <a:off x="2194514"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7" name="Shape 7"/>
          <p:cNvSpPr txBox="1"/>
          <p:nvPr/>
        </p:nvSpPr>
        <p:spPr>
          <a:xfrm>
            <a:off x="2194514"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8" name="Line 8"/>
          <p:cNvCxnSpPr/>
          <p:nvPr/>
        </p:nvCxnSpPr>
        <p:spPr>
          <a:xfrm>
            <a:off x="685800" y="3398520"/>
            <a:ext cx="3352698" cy="0"/>
          </a:xfrm>
          <a:prstGeom prst="line">
            <a:avLst/>
          </a:prstGeom>
          <a:ln w="9525" cap="flat">
            <a:solidFill>
              <a:srgbClr val="E3E4EC"/>
            </a:solidFill>
          </a:ln>
        </p:spPr>
      </p:cxnSp>
      <p:sp>
        <p:nvSpPr>
          <p:cNvPr id="9" name="Shape 9"/>
          <p:cNvSpPr txBox="1"/>
          <p:nvPr/>
        </p:nvSpPr>
        <p:spPr>
          <a:xfrm>
            <a:off x="685800"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10" name="Shape 10"/>
          <p:cNvSpPr txBox="1"/>
          <p:nvPr/>
        </p:nvSpPr>
        <p:spPr>
          <a:xfrm>
            <a:off x="2194514"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194514"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(8/3, 0)</a:t>
            </a:r>
            <a:endParaRPr lang="en-US" sz="1800" dirty="0"/>
          </a:p>
        </p:txBody>
      </p:sp>
      <p:cxnSp>
        <p:nvCxnSpPr>
          <p:cNvPr id="12" name="Line 12"/>
          <p:cNvCxnSpPr/>
          <p:nvPr/>
        </p:nvCxnSpPr>
        <p:spPr>
          <a:xfrm>
            <a:off x="685800" y="3874008"/>
            <a:ext cx="3352698" cy="0"/>
          </a:xfrm>
          <a:prstGeom prst="line">
            <a:avLst/>
          </a:prstGeom>
          <a:ln w="9525" cap="flat">
            <a:solidFill>
              <a:srgbClr val="E3E4EC"/>
            </a:solidFill>
          </a:ln>
        </p:spPr>
      </p:cxnSp>
      <p:sp>
        <p:nvSpPr>
          <p:cNvPr id="13" name="Shape 13"/>
          <p:cNvSpPr txBox="1"/>
          <p:nvPr/>
        </p:nvSpPr>
        <p:spPr>
          <a:xfrm>
            <a:off x="685800"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2194514"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5" name="Shape 15"/>
          <p:cNvSpPr txBox="1"/>
          <p:nvPr/>
        </p:nvSpPr>
        <p:spPr>
          <a:xfrm>
            <a:off x="2194514"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−8)</a:t>
            </a:r>
            <a:endParaRPr lang="en-US" sz="1800" dirty="0"/>
          </a:p>
        </p:txBody>
      </p:sp>
      <p:cxnSp>
        <p:nvCxnSpPr>
          <p:cNvPr id="16" name="Line 16"/>
          <p:cNvCxnSpPr/>
          <p:nvPr/>
        </p:nvCxnSpPr>
        <p:spPr>
          <a:xfrm>
            <a:off x="685800" y="4349496"/>
            <a:ext cx="3352698" cy="0"/>
          </a:xfrm>
          <a:prstGeom prst="line">
            <a:avLst/>
          </a:prstGeom>
          <a:ln w="9525" cap="flat">
            <a:solidFill>
              <a:srgbClr val="E3E4EC"/>
            </a:solidFill>
          </a:ln>
        </p:spPr>
      </p:cxnSp>
      <p:sp>
        <p:nvSpPr>
          <p:cNvPr id="17" name="Shape 17"/>
          <p:cNvSpPr txBox="1"/>
          <p:nvPr/>
        </p:nvSpPr>
        <p:spPr>
          <a:xfrm>
            <a:off x="685800"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18" name="Shape 18"/>
          <p:cNvSpPr txBox="1"/>
          <p:nvPr/>
        </p:nvSpPr>
        <p:spPr>
          <a:xfrm>
            <a:off x="2194514"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2194514"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3, increasing</a:t>
            </a:r>
            <a:endParaRPr lang="en-US" sz="1800" dirty="0"/>
          </a:p>
        </p:txBody>
      </p:sp>
      <p:cxnSp>
        <p:nvCxnSpPr>
          <p:cNvPr id="20" name="Line 20"/>
          <p:cNvCxnSpPr/>
          <p:nvPr/>
        </p:nvCxnSpPr>
        <p:spPr>
          <a:xfrm>
            <a:off x="685800" y="4824984"/>
            <a:ext cx="3352698" cy="0"/>
          </a:xfrm>
          <a:prstGeom prst="line">
            <a:avLst/>
          </a:prstGeom>
          <a:ln w="9525" cap="flat">
            <a:solidFill>
              <a:srgbClr val="E3E4EC"/>
            </a:solidFill>
          </a:ln>
        </p:spPr>
      </p:cxnSp>
      <p:sp>
        <p:nvSpPr>
          <p:cNvPr id="21" name="Shape 21"/>
          <p:cNvSpPr txBox="1"/>
          <p:nvPr/>
        </p:nvSpPr>
        <p:spPr>
          <a:xfrm>
            <a:off x="4419498"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2" name="Shape 22"/>
          <p:cNvSpPr txBox="1"/>
          <p:nvPr/>
        </p:nvSpPr>
        <p:spPr>
          <a:xfrm>
            <a:off x="4419498"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23" name="Shape 23"/>
          <p:cNvSpPr txBox="1"/>
          <p:nvPr/>
        </p:nvSpPr>
        <p:spPr>
          <a:xfrm>
            <a:off x="5928213"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4" name="Shape 24"/>
          <p:cNvSpPr txBox="1"/>
          <p:nvPr/>
        </p:nvSpPr>
        <p:spPr>
          <a:xfrm>
            <a:off x="5928213"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25" name="Line 25"/>
          <p:cNvCxnSpPr/>
          <p:nvPr/>
        </p:nvCxnSpPr>
        <p:spPr>
          <a:xfrm>
            <a:off x="4419498" y="3398520"/>
            <a:ext cx="3352698" cy="0"/>
          </a:xfrm>
          <a:prstGeom prst="line">
            <a:avLst/>
          </a:prstGeom>
          <a:ln w="9525" cap="flat">
            <a:solidFill>
              <a:srgbClr val="E3E4EC"/>
            </a:solidFill>
          </a:ln>
        </p:spPr>
      </p:cxnSp>
      <p:sp>
        <p:nvSpPr>
          <p:cNvPr id="26" name="Shape 26"/>
          <p:cNvSpPr txBox="1"/>
          <p:nvPr/>
        </p:nvSpPr>
        <p:spPr>
          <a:xfrm>
            <a:off x="4419498"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27" name="Shape 27"/>
          <p:cNvSpPr txBox="1"/>
          <p:nvPr/>
        </p:nvSpPr>
        <p:spPr>
          <a:xfrm>
            <a:off x="5928213"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8" name="Shape 28"/>
          <p:cNvSpPr txBox="1"/>
          <p:nvPr/>
        </p:nvSpPr>
        <p:spPr>
          <a:xfrm>
            <a:off x="5928213"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(7.5, 0)</a:t>
            </a:r>
            <a:endParaRPr lang="en-US" sz="1800" dirty="0"/>
          </a:p>
        </p:txBody>
      </p:sp>
      <p:cxnSp>
        <p:nvCxnSpPr>
          <p:cNvPr id="29" name="Line 29"/>
          <p:cNvCxnSpPr/>
          <p:nvPr/>
        </p:nvCxnSpPr>
        <p:spPr>
          <a:xfrm>
            <a:off x="4419498" y="3874008"/>
            <a:ext cx="3352698" cy="0"/>
          </a:xfrm>
          <a:prstGeom prst="line">
            <a:avLst/>
          </a:prstGeom>
          <a:ln w="9525" cap="flat">
            <a:solidFill>
              <a:srgbClr val="E3E4EC"/>
            </a:solidFill>
          </a:ln>
        </p:spPr>
      </p:cxnSp>
      <p:sp>
        <p:nvSpPr>
          <p:cNvPr id="30" name="Shape 30"/>
          <p:cNvSpPr txBox="1"/>
          <p:nvPr/>
        </p:nvSpPr>
        <p:spPr>
          <a:xfrm>
            <a:off x="4419498"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31" name="Shape 31"/>
          <p:cNvSpPr txBox="1"/>
          <p:nvPr/>
        </p:nvSpPr>
        <p:spPr>
          <a:xfrm>
            <a:off x="5928213"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2" name="Shape 32"/>
          <p:cNvSpPr txBox="1"/>
          <p:nvPr/>
        </p:nvSpPr>
        <p:spPr>
          <a:xfrm>
            <a:off x="5928213"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(0, 5)</a:t>
            </a:r>
            <a:endParaRPr lang="en-US" sz="1800" dirty="0"/>
          </a:p>
        </p:txBody>
      </p:sp>
      <p:cxnSp>
        <p:nvCxnSpPr>
          <p:cNvPr id="33" name="Line 33"/>
          <p:cNvCxnSpPr/>
          <p:nvPr/>
        </p:nvCxnSpPr>
        <p:spPr>
          <a:xfrm>
            <a:off x="4419498" y="4349496"/>
            <a:ext cx="3352698" cy="0"/>
          </a:xfrm>
          <a:prstGeom prst="line">
            <a:avLst/>
          </a:prstGeom>
          <a:ln w="9525" cap="flat">
            <a:solidFill>
              <a:srgbClr val="E3E4EC"/>
            </a:solidFill>
          </a:ln>
        </p:spPr>
      </p:cxnSp>
      <p:sp>
        <p:nvSpPr>
          <p:cNvPr id="34" name="Shape 34"/>
          <p:cNvSpPr txBox="1"/>
          <p:nvPr/>
        </p:nvSpPr>
        <p:spPr>
          <a:xfrm>
            <a:off x="4419498"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35" name="Shape 35"/>
          <p:cNvSpPr txBox="1"/>
          <p:nvPr/>
        </p:nvSpPr>
        <p:spPr>
          <a:xfrm>
            <a:off x="5928213"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6" name="Shape 36"/>
          <p:cNvSpPr txBox="1"/>
          <p:nvPr/>
        </p:nvSpPr>
        <p:spPr>
          <a:xfrm>
            <a:off x="5928213"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−⅔, decreasing</a:t>
            </a:r>
            <a:endParaRPr lang="en-US" sz="1800" dirty="0"/>
          </a:p>
        </p:txBody>
      </p:sp>
      <p:cxnSp>
        <p:nvCxnSpPr>
          <p:cNvPr id="37" name="Line 37"/>
          <p:cNvCxnSpPr/>
          <p:nvPr/>
        </p:nvCxnSpPr>
        <p:spPr>
          <a:xfrm>
            <a:off x="4419498" y="4824984"/>
            <a:ext cx="3352698" cy="0"/>
          </a:xfrm>
          <a:prstGeom prst="line">
            <a:avLst/>
          </a:prstGeom>
          <a:ln w="9525" cap="flat">
            <a:solidFill>
              <a:srgbClr val="E3E4EC"/>
            </a:solidFill>
          </a:ln>
        </p:spPr>
      </p:cxnSp>
      <p:sp>
        <p:nvSpPr>
          <p:cNvPr id="38" name="Shape 38"/>
          <p:cNvSpPr/>
          <p:nvPr/>
        </p:nvSpPr>
        <p:spPr>
          <a:xfrm>
            <a:off x="8153197" y="214426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9" name="Line 39"/>
          <p:cNvCxnSpPr/>
          <p:nvPr/>
        </p:nvCxnSpPr>
        <p:spPr>
          <a:xfrm>
            <a:off x="8477047" y="2258568"/>
            <a:ext cx="0" cy="2686050"/>
          </a:xfrm>
          <a:prstGeom prst="line">
            <a:avLst/>
          </a:prstGeom>
          <a:ln w="9525" cap="flat">
            <a:solidFill>
              <a:srgbClr val="E6E8F2"/>
            </a:solidFill>
          </a:ln>
        </p:spPr>
      </p:cxnSp>
      <p:cxnSp>
        <p:nvCxnSpPr>
          <p:cNvPr id="40" name="Line 40"/>
          <p:cNvCxnSpPr/>
          <p:nvPr/>
        </p:nvCxnSpPr>
        <p:spPr>
          <a:xfrm>
            <a:off x="8622038" y="2258568"/>
            <a:ext cx="0" cy="2686050"/>
          </a:xfrm>
          <a:prstGeom prst="line">
            <a:avLst/>
          </a:prstGeom>
          <a:ln w="9525" cap="flat">
            <a:solidFill>
              <a:srgbClr val="E6E8F2"/>
            </a:solidFill>
          </a:ln>
        </p:spPr>
      </p:cxnSp>
      <p:cxnSp>
        <p:nvCxnSpPr>
          <p:cNvPr id="41" name="Line 41"/>
          <p:cNvCxnSpPr/>
          <p:nvPr/>
        </p:nvCxnSpPr>
        <p:spPr>
          <a:xfrm>
            <a:off x="8767030" y="2258568"/>
            <a:ext cx="0" cy="2686050"/>
          </a:xfrm>
          <a:prstGeom prst="line">
            <a:avLst/>
          </a:prstGeom>
          <a:ln w="9525" cap="flat">
            <a:solidFill>
              <a:srgbClr val="E6E8F2"/>
            </a:solidFill>
          </a:ln>
        </p:spPr>
      </p:cxnSp>
      <p:cxnSp>
        <p:nvCxnSpPr>
          <p:cNvPr id="42" name="Line 42"/>
          <p:cNvCxnSpPr/>
          <p:nvPr/>
        </p:nvCxnSpPr>
        <p:spPr>
          <a:xfrm>
            <a:off x="8912022" y="2258568"/>
            <a:ext cx="0" cy="2686050"/>
          </a:xfrm>
          <a:prstGeom prst="line">
            <a:avLst/>
          </a:prstGeom>
          <a:ln w="9525" cap="flat">
            <a:solidFill>
              <a:srgbClr val="E6E8F2"/>
            </a:solidFill>
          </a:ln>
        </p:spPr>
      </p:cxnSp>
      <p:cxnSp>
        <p:nvCxnSpPr>
          <p:cNvPr id="43" name="Line 43"/>
          <p:cNvCxnSpPr/>
          <p:nvPr/>
        </p:nvCxnSpPr>
        <p:spPr>
          <a:xfrm>
            <a:off x="9057013" y="2258568"/>
            <a:ext cx="0" cy="2686050"/>
          </a:xfrm>
          <a:prstGeom prst="line">
            <a:avLst/>
          </a:prstGeom>
          <a:ln w="9525" cap="flat">
            <a:solidFill>
              <a:srgbClr val="E6E8F2"/>
            </a:solidFill>
          </a:ln>
        </p:spPr>
      </p:cxnSp>
      <p:cxnSp>
        <p:nvCxnSpPr>
          <p:cNvPr id="44" name="Line 44"/>
          <p:cNvCxnSpPr/>
          <p:nvPr/>
        </p:nvCxnSpPr>
        <p:spPr>
          <a:xfrm>
            <a:off x="9202005" y="2258568"/>
            <a:ext cx="0" cy="2686050"/>
          </a:xfrm>
          <a:prstGeom prst="line">
            <a:avLst/>
          </a:prstGeom>
          <a:ln w="9525" cap="flat">
            <a:solidFill>
              <a:srgbClr val="E6E8F2"/>
            </a:solidFill>
          </a:ln>
        </p:spPr>
      </p:cxnSp>
      <p:cxnSp>
        <p:nvCxnSpPr>
          <p:cNvPr id="45" name="Line 45"/>
          <p:cNvCxnSpPr/>
          <p:nvPr/>
        </p:nvCxnSpPr>
        <p:spPr>
          <a:xfrm>
            <a:off x="9346997" y="2258568"/>
            <a:ext cx="0" cy="2686050"/>
          </a:xfrm>
          <a:prstGeom prst="line">
            <a:avLst/>
          </a:prstGeom>
          <a:ln w="9525" cap="flat">
            <a:solidFill>
              <a:srgbClr val="E6E8F2"/>
            </a:solidFill>
          </a:ln>
        </p:spPr>
      </p:cxnSp>
      <p:cxnSp>
        <p:nvCxnSpPr>
          <p:cNvPr id="46" name="Line 46"/>
          <p:cNvCxnSpPr/>
          <p:nvPr/>
        </p:nvCxnSpPr>
        <p:spPr>
          <a:xfrm>
            <a:off x="9491988" y="2258568"/>
            <a:ext cx="0" cy="2686050"/>
          </a:xfrm>
          <a:prstGeom prst="line">
            <a:avLst/>
          </a:prstGeom>
          <a:ln w="9525" cap="flat">
            <a:solidFill>
              <a:srgbClr val="E6E8F2"/>
            </a:solidFill>
          </a:ln>
        </p:spPr>
      </p:cxnSp>
      <p:cxnSp>
        <p:nvCxnSpPr>
          <p:cNvPr id="47" name="Line 47"/>
          <p:cNvCxnSpPr/>
          <p:nvPr/>
        </p:nvCxnSpPr>
        <p:spPr>
          <a:xfrm>
            <a:off x="9636980" y="2258568"/>
            <a:ext cx="0" cy="2686050"/>
          </a:xfrm>
          <a:prstGeom prst="line">
            <a:avLst/>
          </a:prstGeom>
          <a:ln w="9525" cap="flat">
            <a:solidFill>
              <a:srgbClr val="E6E8F2"/>
            </a:solidFill>
          </a:ln>
        </p:spPr>
      </p:cxnSp>
      <p:cxnSp>
        <p:nvCxnSpPr>
          <p:cNvPr id="48" name="Line 48"/>
          <p:cNvCxnSpPr/>
          <p:nvPr/>
        </p:nvCxnSpPr>
        <p:spPr>
          <a:xfrm>
            <a:off x="9781972" y="2258568"/>
            <a:ext cx="0" cy="2686050"/>
          </a:xfrm>
          <a:prstGeom prst="line">
            <a:avLst/>
          </a:prstGeom>
          <a:ln w="9525" cap="flat">
            <a:solidFill>
              <a:srgbClr val="E6E8F2"/>
            </a:solidFill>
          </a:ln>
        </p:spPr>
      </p:cxnSp>
      <p:cxnSp>
        <p:nvCxnSpPr>
          <p:cNvPr id="49" name="Line 49"/>
          <p:cNvCxnSpPr/>
          <p:nvPr/>
        </p:nvCxnSpPr>
        <p:spPr>
          <a:xfrm>
            <a:off x="9926963" y="2258568"/>
            <a:ext cx="0" cy="2686050"/>
          </a:xfrm>
          <a:prstGeom prst="line">
            <a:avLst/>
          </a:prstGeom>
          <a:ln w="9525" cap="flat">
            <a:solidFill>
              <a:srgbClr val="E6E8F2"/>
            </a:solidFill>
          </a:ln>
        </p:spPr>
      </p:cxnSp>
      <p:cxnSp>
        <p:nvCxnSpPr>
          <p:cNvPr id="50" name="Line 50"/>
          <p:cNvCxnSpPr/>
          <p:nvPr/>
        </p:nvCxnSpPr>
        <p:spPr>
          <a:xfrm>
            <a:off x="10071955" y="2258568"/>
            <a:ext cx="0" cy="2686050"/>
          </a:xfrm>
          <a:prstGeom prst="line">
            <a:avLst/>
          </a:prstGeom>
          <a:ln w="9525" cap="flat">
            <a:solidFill>
              <a:srgbClr val="E6E8F2"/>
            </a:solidFill>
          </a:ln>
        </p:spPr>
      </p:cxnSp>
      <p:cxnSp>
        <p:nvCxnSpPr>
          <p:cNvPr id="51" name="Line 51"/>
          <p:cNvCxnSpPr/>
          <p:nvPr/>
        </p:nvCxnSpPr>
        <p:spPr>
          <a:xfrm>
            <a:off x="10216947" y="2258568"/>
            <a:ext cx="0" cy="2686050"/>
          </a:xfrm>
          <a:prstGeom prst="line">
            <a:avLst/>
          </a:prstGeom>
          <a:ln w="9525" cap="flat">
            <a:solidFill>
              <a:srgbClr val="E6E8F2"/>
            </a:solidFill>
          </a:ln>
        </p:spPr>
      </p:cxnSp>
      <p:cxnSp>
        <p:nvCxnSpPr>
          <p:cNvPr id="52" name="Line 52"/>
          <p:cNvCxnSpPr/>
          <p:nvPr/>
        </p:nvCxnSpPr>
        <p:spPr>
          <a:xfrm>
            <a:off x="10361938" y="2258568"/>
            <a:ext cx="0" cy="2686050"/>
          </a:xfrm>
          <a:prstGeom prst="line">
            <a:avLst/>
          </a:prstGeom>
          <a:ln w="9525" cap="flat">
            <a:solidFill>
              <a:srgbClr val="E6E8F2"/>
            </a:solidFill>
          </a:ln>
        </p:spPr>
      </p:cxnSp>
      <p:cxnSp>
        <p:nvCxnSpPr>
          <p:cNvPr id="53" name="Line 53"/>
          <p:cNvCxnSpPr/>
          <p:nvPr/>
        </p:nvCxnSpPr>
        <p:spPr>
          <a:xfrm>
            <a:off x="10506930" y="2258568"/>
            <a:ext cx="0" cy="2686050"/>
          </a:xfrm>
          <a:prstGeom prst="line">
            <a:avLst/>
          </a:prstGeom>
          <a:ln w="9525" cap="flat">
            <a:solidFill>
              <a:srgbClr val="E6E8F2"/>
            </a:solidFill>
          </a:ln>
        </p:spPr>
      </p:cxnSp>
      <p:cxnSp>
        <p:nvCxnSpPr>
          <p:cNvPr id="54" name="Line 54"/>
          <p:cNvCxnSpPr/>
          <p:nvPr/>
        </p:nvCxnSpPr>
        <p:spPr>
          <a:xfrm>
            <a:off x="10651922" y="2258568"/>
            <a:ext cx="0" cy="2686050"/>
          </a:xfrm>
          <a:prstGeom prst="line">
            <a:avLst/>
          </a:prstGeom>
          <a:ln w="9525" cap="flat">
            <a:solidFill>
              <a:srgbClr val="E6E8F2"/>
            </a:solidFill>
          </a:ln>
        </p:spPr>
      </p:cxnSp>
      <p:cxnSp>
        <p:nvCxnSpPr>
          <p:cNvPr id="55" name="Line 55"/>
          <p:cNvCxnSpPr/>
          <p:nvPr/>
        </p:nvCxnSpPr>
        <p:spPr>
          <a:xfrm>
            <a:off x="10796913" y="2258568"/>
            <a:ext cx="0" cy="2686050"/>
          </a:xfrm>
          <a:prstGeom prst="line">
            <a:avLst/>
          </a:prstGeom>
          <a:ln w="9525" cap="flat">
            <a:solidFill>
              <a:srgbClr val="E6E8F2"/>
            </a:solidFill>
          </a:ln>
        </p:spPr>
      </p:cxnSp>
      <p:cxnSp>
        <p:nvCxnSpPr>
          <p:cNvPr id="56" name="Line 56"/>
          <p:cNvCxnSpPr/>
          <p:nvPr/>
        </p:nvCxnSpPr>
        <p:spPr>
          <a:xfrm>
            <a:off x="10941905" y="2258568"/>
            <a:ext cx="0" cy="2686050"/>
          </a:xfrm>
          <a:prstGeom prst="line">
            <a:avLst/>
          </a:prstGeom>
          <a:ln w="9525" cap="flat">
            <a:solidFill>
              <a:srgbClr val="E6E8F2"/>
            </a:solidFill>
          </a:ln>
        </p:spPr>
      </p:cxnSp>
      <p:cxnSp>
        <p:nvCxnSpPr>
          <p:cNvPr id="57" name="Line 57"/>
          <p:cNvCxnSpPr/>
          <p:nvPr/>
        </p:nvCxnSpPr>
        <p:spPr>
          <a:xfrm>
            <a:off x="11086897" y="2258568"/>
            <a:ext cx="0" cy="2686050"/>
          </a:xfrm>
          <a:prstGeom prst="line">
            <a:avLst/>
          </a:prstGeom>
          <a:ln w="9525" cap="flat">
            <a:solidFill>
              <a:srgbClr val="E6E8F2"/>
            </a:solidFill>
          </a:ln>
        </p:spPr>
      </p:cxnSp>
      <p:cxnSp>
        <p:nvCxnSpPr>
          <p:cNvPr id="58" name="Line 58"/>
          <p:cNvCxnSpPr/>
          <p:nvPr/>
        </p:nvCxnSpPr>
        <p:spPr>
          <a:xfrm>
            <a:off x="8477047" y="4944618"/>
            <a:ext cx="2609850" cy="0"/>
          </a:xfrm>
          <a:prstGeom prst="line">
            <a:avLst/>
          </a:prstGeom>
          <a:ln w="9525" cap="flat">
            <a:solidFill>
              <a:srgbClr val="E6E8F2"/>
            </a:solidFill>
          </a:ln>
        </p:spPr>
      </p:cxnSp>
      <p:cxnSp>
        <p:nvCxnSpPr>
          <p:cNvPr id="59" name="Line 59"/>
          <p:cNvCxnSpPr/>
          <p:nvPr/>
        </p:nvCxnSpPr>
        <p:spPr>
          <a:xfrm>
            <a:off x="8477047" y="4795393"/>
            <a:ext cx="2609850" cy="0"/>
          </a:xfrm>
          <a:prstGeom prst="line">
            <a:avLst/>
          </a:prstGeom>
          <a:ln w="9525" cap="flat">
            <a:solidFill>
              <a:srgbClr val="E6E8F2"/>
            </a:solidFill>
          </a:ln>
        </p:spPr>
      </p:cxnSp>
      <p:cxnSp>
        <p:nvCxnSpPr>
          <p:cNvPr id="60" name="Line 60"/>
          <p:cNvCxnSpPr/>
          <p:nvPr/>
        </p:nvCxnSpPr>
        <p:spPr>
          <a:xfrm>
            <a:off x="8477047" y="4646168"/>
            <a:ext cx="2609850" cy="0"/>
          </a:xfrm>
          <a:prstGeom prst="line">
            <a:avLst/>
          </a:prstGeom>
          <a:ln w="9525" cap="flat">
            <a:solidFill>
              <a:srgbClr val="E6E8F2"/>
            </a:solidFill>
          </a:ln>
        </p:spPr>
      </p:cxnSp>
      <p:cxnSp>
        <p:nvCxnSpPr>
          <p:cNvPr id="61" name="Line 61"/>
          <p:cNvCxnSpPr/>
          <p:nvPr/>
        </p:nvCxnSpPr>
        <p:spPr>
          <a:xfrm>
            <a:off x="8477047" y="4496943"/>
            <a:ext cx="2609850" cy="0"/>
          </a:xfrm>
          <a:prstGeom prst="line">
            <a:avLst/>
          </a:prstGeom>
          <a:ln w="9525" cap="flat">
            <a:solidFill>
              <a:srgbClr val="E6E8F2"/>
            </a:solidFill>
          </a:ln>
        </p:spPr>
      </p:cxnSp>
      <p:cxnSp>
        <p:nvCxnSpPr>
          <p:cNvPr id="62" name="Line 62"/>
          <p:cNvCxnSpPr/>
          <p:nvPr/>
        </p:nvCxnSpPr>
        <p:spPr>
          <a:xfrm>
            <a:off x="8477047" y="4347718"/>
            <a:ext cx="2609850" cy="0"/>
          </a:xfrm>
          <a:prstGeom prst="line">
            <a:avLst/>
          </a:prstGeom>
          <a:ln w="9525" cap="flat">
            <a:solidFill>
              <a:srgbClr val="E6E8F2"/>
            </a:solidFill>
          </a:ln>
        </p:spPr>
      </p:cxnSp>
      <p:cxnSp>
        <p:nvCxnSpPr>
          <p:cNvPr id="63" name="Line 63"/>
          <p:cNvCxnSpPr/>
          <p:nvPr/>
        </p:nvCxnSpPr>
        <p:spPr>
          <a:xfrm>
            <a:off x="8477047" y="4198493"/>
            <a:ext cx="2609850" cy="0"/>
          </a:xfrm>
          <a:prstGeom prst="line">
            <a:avLst/>
          </a:prstGeom>
          <a:ln w="9525" cap="flat">
            <a:solidFill>
              <a:srgbClr val="E6E8F2"/>
            </a:solidFill>
          </a:ln>
        </p:spPr>
      </p:cxnSp>
      <p:cxnSp>
        <p:nvCxnSpPr>
          <p:cNvPr id="64" name="Line 64"/>
          <p:cNvCxnSpPr/>
          <p:nvPr/>
        </p:nvCxnSpPr>
        <p:spPr>
          <a:xfrm>
            <a:off x="8477047" y="4049268"/>
            <a:ext cx="2609850" cy="0"/>
          </a:xfrm>
          <a:prstGeom prst="line">
            <a:avLst/>
          </a:prstGeom>
          <a:ln w="9525" cap="flat">
            <a:solidFill>
              <a:srgbClr val="E6E8F2"/>
            </a:solidFill>
          </a:ln>
        </p:spPr>
      </p:cxnSp>
      <p:cxnSp>
        <p:nvCxnSpPr>
          <p:cNvPr id="65" name="Line 65"/>
          <p:cNvCxnSpPr/>
          <p:nvPr/>
        </p:nvCxnSpPr>
        <p:spPr>
          <a:xfrm>
            <a:off x="8477047" y="3900043"/>
            <a:ext cx="2609850" cy="0"/>
          </a:xfrm>
          <a:prstGeom prst="line">
            <a:avLst/>
          </a:prstGeom>
          <a:ln w="9525" cap="flat">
            <a:solidFill>
              <a:srgbClr val="E6E8F2"/>
            </a:solidFill>
          </a:ln>
        </p:spPr>
      </p:cxnSp>
      <p:cxnSp>
        <p:nvCxnSpPr>
          <p:cNvPr id="66" name="Line 66"/>
          <p:cNvCxnSpPr/>
          <p:nvPr/>
        </p:nvCxnSpPr>
        <p:spPr>
          <a:xfrm>
            <a:off x="8477047" y="3750818"/>
            <a:ext cx="2609850" cy="0"/>
          </a:xfrm>
          <a:prstGeom prst="line">
            <a:avLst/>
          </a:prstGeom>
          <a:ln w="9525" cap="flat">
            <a:solidFill>
              <a:srgbClr val="E6E8F2"/>
            </a:solidFill>
          </a:ln>
        </p:spPr>
      </p:cxnSp>
      <p:cxnSp>
        <p:nvCxnSpPr>
          <p:cNvPr id="67" name="Line 67"/>
          <p:cNvCxnSpPr/>
          <p:nvPr/>
        </p:nvCxnSpPr>
        <p:spPr>
          <a:xfrm>
            <a:off x="8477047" y="3601593"/>
            <a:ext cx="2609850" cy="0"/>
          </a:xfrm>
          <a:prstGeom prst="line">
            <a:avLst/>
          </a:prstGeom>
          <a:ln w="9525" cap="flat">
            <a:solidFill>
              <a:srgbClr val="E6E8F2"/>
            </a:solidFill>
          </a:ln>
        </p:spPr>
      </p:cxnSp>
      <p:cxnSp>
        <p:nvCxnSpPr>
          <p:cNvPr id="68" name="Line 68"/>
          <p:cNvCxnSpPr/>
          <p:nvPr/>
        </p:nvCxnSpPr>
        <p:spPr>
          <a:xfrm>
            <a:off x="8477047" y="3452368"/>
            <a:ext cx="2609850" cy="0"/>
          </a:xfrm>
          <a:prstGeom prst="line">
            <a:avLst/>
          </a:prstGeom>
          <a:ln w="9525" cap="flat">
            <a:solidFill>
              <a:srgbClr val="E6E8F2"/>
            </a:solidFill>
          </a:ln>
        </p:spPr>
      </p:cxnSp>
      <p:cxnSp>
        <p:nvCxnSpPr>
          <p:cNvPr id="69" name="Line 69"/>
          <p:cNvCxnSpPr/>
          <p:nvPr/>
        </p:nvCxnSpPr>
        <p:spPr>
          <a:xfrm>
            <a:off x="8477047" y="3303143"/>
            <a:ext cx="2609850" cy="0"/>
          </a:xfrm>
          <a:prstGeom prst="line">
            <a:avLst/>
          </a:prstGeom>
          <a:ln w="9525" cap="flat">
            <a:solidFill>
              <a:srgbClr val="E6E8F2"/>
            </a:solidFill>
          </a:ln>
        </p:spPr>
      </p:cxnSp>
      <p:cxnSp>
        <p:nvCxnSpPr>
          <p:cNvPr id="70" name="Line 70"/>
          <p:cNvCxnSpPr/>
          <p:nvPr/>
        </p:nvCxnSpPr>
        <p:spPr>
          <a:xfrm>
            <a:off x="8477047" y="3153918"/>
            <a:ext cx="2609850" cy="0"/>
          </a:xfrm>
          <a:prstGeom prst="line">
            <a:avLst/>
          </a:prstGeom>
          <a:ln w="9525" cap="flat">
            <a:solidFill>
              <a:srgbClr val="E6E8F2"/>
            </a:solidFill>
          </a:ln>
        </p:spPr>
      </p:cxnSp>
      <p:cxnSp>
        <p:nvCxnSpPr>
          <p:cNvPr id="71" name="Line 71"/>
          <p:cNvCxnSpPr/>
          <p:nvPr/>
        </p:nvCxnSpPr>
        <p:spPr>
          <a:xfrm>
            <a:off x="8477047" y="3004693"/>
            <a:ext cx="2609850" cy="0"/>
          </a:xfrm>
          <a:prstGeom prst="line">
            <a:avLst/>
          </a:prstGeom>
          <a:ln w="9525" cap="flat">
            <a:solidFill>
              <a:srgbClr val="E6E8F2"/>
            </a:solidFill>
          </a:ln>
        </p:spPr>
      </p:cxnSp>
      <p:cxnSp>
        <p:nvCxnSpPr>
          <p:cNvPr id="72" name="Line 72"/>
          <p:cNvCxnSpPr/>
          <p:nvPr/>
        </p:nvCxnSpPr>
        <p:spPr>
          <a:xfrm>
            <a:off x="8477047" y="2855468"/>
            <a:ext cx="2609850" cy="0"/>
          </a:xfrm>
          <a:prstGeom prst="line">
            <a:avLst/>
          </a:prstGeom>
          <a:ln w="9525" cap="flat">
            <a:solidFill>
              <a:srgbClr val="E6E8F2"/>
            </a:solidFill>
          </a:ln>
        </p:spPr>
      </p:cxnSp>
      <p:cxnSp>
        <p:nvCxnSpPr>
          <p:cNvPr id="73" name="Line 73"/>
          <p:cNvCxnSpPr/>
          <p:nvPr/>
        </p:nvCxnSpPr>
        <p:spPr>
          <a:xfrm>
            <a:off x="8477047" y="2706243"/>
            <a:ext cx="2609850" cy="0"/>
          </a:xfrm>
          <a:prstGeom prst="line">
            <a:avLst/>
          </a:prstGeom>
          <a:ln w="9525" cap="flat">
            <a:solidFill>
              <a:srgbClr val="E6E8F2"/>
            </a:solidFill>
          </a:ln>
        </p:spPr>
      </p:cxnSp>
      <p:cxnSp>
        <p:nvCxnSpPr>
          <p:cNvPr id="74" name="Line 74"/>
          <p:cNvCxnSpPr/>
          <p:nvPr/>
        </p:nvCxnSpPr>
        <p:spPr>
          <a:xfrm>
            <a:off x="8477047" y="2557018"/>
            <a:ext cx="2609850" cy="0"/>
          </a:xfrm>
          <a:prstGeom prst="line">
            <a:avLst/>
          </a:prstGeom>
          <a:ln w="9525" cap="flat">
            <a:solidFill>
              <a:srgbClr val="E6E8F2"/>
            </a:solidFill>
          </a:ln>
        </p:spPr>
      </p:cxnSp>
      <p:cxnSp>
        <p:nvCxnSpPr>
          <p:cNvPr id="75" name="Line 75"/>
          <p:cNvCxnSpPr/>
          <p:nvPr/>
        </p:nvCxnSpPr>
        <p:spPr>
          <a:xfrm>
            <a:off x="8477047" y="2407793"/>
            <a:ext cx="2609850" cy="0"/>
          </a:xfrm>
          <a:prstGeom prst="line">
            <a:avLst/>
          </a:prstGeom>
          <a:ln w="9525" cap="flat">
            <a:solidFill>
              <a:srgbClr val="E6E8F2"/>
            </a:solidFill>
          </a:ln>
        </p:spPr>
      </p:cxnSp>
      <p:cxnSp>
        <p:nvCxnSpPr>
          <p:cNvPr id="76" name="Line 76"/>
          <p:cNvCxnSpPr/>
          <p:nvPr/>
        </p:nvCxnSpPr>
        <p:spPr>
          <a:xfrm>
            <a:off x="8477047" y="2258568"/>
            <a:ext cx="2609850" cy="0"/>
          </a:xfrm>
          <a:prstGeom prst="line">
            <a:avLst/>
          </a:prstGeom>
          <a:ln w="9525" cap="flat">
            <a:solidFill>
              <a:srgbClr val="E6E8F2"/>
            </a:solidFill>
          </a:ln>
        </p:spPr>
      </p:cxnSp>
      <p:cxnSp>
        <p:nvCxnSpPr>
          <p:cNvPr id="77" name="Line 77"/>
          <p:cNvCxnSpPr/>
          <p:nvPr/>
        </p:nvCxnSpPr>
        <p:spPr>
          <a:xfrm>
            <a:off x="9636980" y="2258568"/>
            <a:ext cx="0" cy="2686050"/>
          </a:xfrm>
          <a:prstGeom prst="line">
            <a:avLst/>
          </a:prstGeom>
          <a:ln w="19050" cap="flat">
            <a:solidFill>
              <a:srgbClr val="5F6272"/>
            </a:solidFill>
          </a:ln>
        </p:spPr>
      </p:cxnSp>
      <p:cxnSp>
        <p:nvCxnSpPr>
          <p:cNvPr id="78" name="Line 78"/>
          <p:cNvCxnSpPr/>
          <p:nvPr/>
        </p:nvCxnSpPr>
        <p:spPr>
          <a:xfrm>
            <a:off x="8477047" y="3452368"/>
            <a:ext cx="2609850" cy="0"/>
          </a:xfrm>
          <a:prstGeom prst="line">
            <a:avLst/>
          </a:prstGeom>
          <a:ln w="19050" cap="flat">
            <a:solidFill>
              <a:srgbClr val="5F6272"/>
            </a:solidFill>
          </a:ln>
        </p:spPr>
      </p:cxnSp>
      <p:sp>
        <p:nvSpPr>
          <p:cNvPr id="79" name="Shape 79"/>
          <p:cNvSpPr txBox="1"/>
          <p:nvPr/>
        </p:nvSpPr>
        <p:spPr>
          <a:xfrm>
            <a:off x="82027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84927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87826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90726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936266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965264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99426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102326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105225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txBox="1"/>
          <p:nvPr/>
        </p:nvSpPr>
        <p:spPr>
          <a:xfrm>
            <a:off x="108125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9" name="Shape 89"/>
          <p:cNvSpPr txBox="1"/>
          <p:nvPr/>
        </p:nvSpPr>
        <p:spPr>
          <a:xfrm>
            <a:off x="7910119" y="4853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0" name="Shape 90"/>
          <p:cNvSpPr txBox="1"/>
          <p:nvPr/>
        </p:nvSpPr>
        <p:spPr>
          <a:xfrm>
            <a:off x="7910119" y="4554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1" name="Shape 91"/>
          <p:cNvSpPr txBox="1"/>
          <p:nvPr/>
        </p:nvSpPr>
        <p:spPr>
          <a:xfrm>
            <a:off x="7910119" y="42562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2" name="Shape 92"/>
          <p:cNvSpPr txBox="1"/>
          <p:nvPr/>
        </p:nvSpPr>
        <p:spPr>
          <a:xfrm>
            <a:off x="7910119" y="3957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3" name="Shape 93"/>
          <p:cNvSpPr txBox="1"/>
          <p:nvPr/>
        </p:nvSpPr>
        <p:spPr>
          <a:xfrm>
            <a:off x="7910119" y="36593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4" name="Shape 94"/>
          <p:cNvSpPr txBox="1"/>
          <p:nvPr/>
        </p:nvSpPr>
        <p:spPr>
          <a:xfrm>
            <a:off x="7910119" y="33609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5" name="Shape 95"/>
          <p:cNvSpPr txBox="1"/>
          <p:nvPr/>
        </p:nvSpPr>
        <p:spPr>
          <a:xfrm>
            <a:off x="7910119" y="3062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6" name="Shape 96"/>
          <p:cNvSpPr txBox="1"/>
          <p:nvPr/>
        </p:nvSpPr>
        <p:spPr>
          <a:xfrm>
            <a:off x="7910119" y="27640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7" name="Shape 97"/>
          <p:cNvSpPr txBox="1"/>
          <p:nvPr/>
        </p:nvSpPr>
        <p:spPr>
          <a:xfrm>
            <a:off x="7910119" y="2465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8" name="Shape 98"/>
          <p:cNvSpPr txBox="1"/>
          <p:nvPr/>
        </p:nvSpPr>
        <p:spPr>
          <a:xfrm>
            <a:off x="7910119" y="21671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99" name="Line 99"/>
          <p:cNvCxnSpPr/>
          <p:nvPr/>
        </p:nvCxnSpPr>
        <p:spPr>
          <a:xfrm flipV="1">
            <a:off x="9540319" y="2258568"/>
            <a:ext cx="869950" cy="2686050"/>
          </a:xfrm>
          <a:prstGeom prst="line">
            <a:avLst/>
          </a:prstGeom>
          <a:ln w="38100" cap="rnd">
            <a:solidFill>
              <a:srgbClr val="4F8A3C"/>
            </a:solidFill>
          </a:ln>
        </p:spPr>
      </p:cxnSp>
      <p:sp>
        <p:nvSpPr>
          <p:cNvPr id="100" name="Shape 100"/>
          <p:cNvSpPr txBox="1"/>
          <p:nvPr/>
        </p:nvSpPr>
        <p:spPr>
          <a:xfrm>
            <a:off x="7918529" y="227761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cxnSp>
        <p:nvCxnSpPr>
          <p:cNvPr id="101" name="Line 101"/>
          <p:cNvCxnSpPr/>
          <p:nvPr/>
        </p:nvCxnSpPr>
        <p:spPr>
          <a:xfrm>
            <a:off x="8984518" y="2258568"/>
            <a:ext cx="2102379" cy="1442508"/>
          </a:xfrm>
          <a:prstGeom prst="line">
            <a:avLst/>
          </a:prstGeom>
          <a:ln w="38100" cap="rnd">
            <a:solidFill>
              <a:srgbClr val="7A4FC4"/>
            </a:solidFill>
          </a:ln>
        </p:spPr>
      </p:cxnSp>
      <p:sp>
        <p:nvSpPr>
          <p:cNvPr id="102" name="Shape 102"/>
          <p:cNvSpPr txBox="1"/>
          <p:nvPr/>
        </p:nvSpPr>
        <p:spPr>
          <a:xfrm>
            <a:off x="9060718" y="227761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h(x)</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ppt_x</p:attrName>
                                        </p:attrNameLst>
                                      </p:cBhvr>
                                      <p:tavLst>
                                        <p:tav tm="0">
                                          <p:val>
                                            <p:strVal val="#ppt_x"/>
                                          </p:val>
                                        </p:tav>
                                        <p:tav tm="100000">
                                          <p:val>
                                            <p:strVal val="#ppt_x"/>
                                          </p:val>
                                        </p:tav>
                                      </p:tavLst>
                                    </p:anim>
                                    <p:anim calcmode="lin" valueType="num">
                                      <p:cBhvr>
                                        <p:cTn id="2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anim calcmode="lin" valueType="num">
                                      <p:cBhvr>
                                        <p:cTn id="33" dur="500" fill="hold"/>
                                        <p:tgtEl>
                                          <p:spTgt spid="24"/>
                                        </p:tgtEl>
                                        <p:attrNameLst>
                                          <p:attrName>ppt_x</p:attrName>
                                        </p:attrNameLst>
                                      </p:cBhvr>
                                      <p:tavLst>
                                        <p:tav tm="0">
                                          <p:val>
                                            <p:strVal val="#ppt_x"/>
                                          </p:val>
                                        </p:tav>
                                        <p:tav tm="100000">
                                          <p:val>
                                            <p:strVal val="#ppt_x"/>
                                          </p:val>
                                        </p:tav>
                                      </p:tavLst>
                                    </p:anim>
                                    <p:anim calcmode="lin" valueType="num">
                                      <p:cBhvr>
                                        <p:cTn id="34"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ppt_x</p:attrName>
                                        </p:attrNameLst>
                                      </p:cBhvr>
                                      <p:tavLst>
                                        <p:tav tm="0">
                                          <p:val>
                                            <p:strVal val="#ppt_x"/>
                                          </p:val>
                                        </p:tav>
                                        <p:tav tm="100000">
                                          <p:val>
                                            <p:strVal val="#ppt_x"/>
                                          </p:val>
                                        </p:tav>
                                      </p:tavLst>
                                    </p:anim>
                                    <p:anim calcmode="lin" valueType="num">
                                      <p:cBhvr>
                                        <p:cTn id="41" dur="5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anim calcmode="lin" valueType="num">
                                      <p:cBhvr>
                                        <p:cTn id="47" dur="500" fill="hold"/>
                                        <p:tgtEl>
                                          <p:spTgt spid="32"/>
                                        </p:tgtEl>
                                        <p:attrNameLst>
                                          <p:attrName>ppt_x</p:attrName>
                                        </p:attrNameLst>
                                      </p:cBhvr>
                                      <p:tavLst>
                                        <p:tav tm="0">
                                          <p:val>
                                            <p:strVal val="#ppt_x"/>
                                          </p:val>
                                        </p:tav>
                                        <p:tav tm="100000">
                                          <p:val>
                                            <p:strVal val="#ppt_x"/>
                                          </p:val>
                                        </p:tav>
                                      </p:tavLst>
                                    </p:anim>
                                    <p:anim calcmode="lin" valueType="num">
                                      <p:cBhvr>
                                        <p:cTn id="48"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500"/>
                                        <p:tgtEl>
                                          <p:spTgt spid="36"/>
                                        </p:tgtEl>
                                      </p:cBhvr>
                                    </p:animEffect>
                                    <p:anim calcmode="lin" valueType="num">
                                      <p:cBhvr>
                                        <p:cTn id="54" dur="500" fill="hold"/>
                                        <p:tgtEl>
                                          <p:spTgt spid="36"/>
                                        </p:tgtEl>
                                        <p:attrNameLst>
                                          <p:attrName>ppt_x</p:attrName>
                                        </p:attrNameLst>
                                      </p:cBhvr>
                                      <p:tavLst>
                                        <p:tav tm="0">
                                          <p:val>
                                            <p:strVal val="#ppt_x"/>
                                          </p:val>
                                        </p:tav>
                                        <p:tav tm="100000">
                                          <p:val>
                                            <p:strVal val="#ppt_x"/>
                                          </p:val>
                                        </p:tav>
                                      </p:tavLst>
                                    </p:anim>
                                    <p:anim calcmode="lin" valueType="num">
                                      <p:cBhvr>
                                        <p:cTn id="55"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1" presetID="22" presetClass="entr" presetSubtype="8" fill="hold" nodeType="clickEffect">
                                  <p:stCondLst>
                                    <p:cond delay="0"/>
                                  </p:stCondLst>
                                  <p:childTnLst>
                                    <p:set>
                                      <p:cBhvr>
                                        <p:cTn id="59" dur="1" fill="hold">
                                          <p:stCondLst>
                                            <p:cond delay="0"/>
                                          </p:stCondLst>
                                        </p:cTn>
                                        <p:tgtEl>
                                          <p:spTgt spid="99"/>
                                        </p:tgtEl>
                                        <p:attrNameLst>
                                          <p:attrName>style.visibility</p:attrName>
                                        </p:attrNameLst>
                                      </p:cBhvr>
                                      <p:to>
                                        <p:strVal val="visible"/>
                                      </p:to>
                                    </p:set>
                                    <p:animEffect transition="in" filter="wipe(left)">
                                      <p:cBhvr>
                                        <p:cTn id="60" dur="700"/>
                                        <p:tgtEl>
                                          <p:spTgt spid="99"/>
                                        </p:tgtEl>
                                      </p:cBhvr>
                                    </p:animEffect>
                                  </p:childTnLst>
                                </p:cTn>
                              </p:par>
                              <p:par>
                                <p:cTn id="64" presetID="22" presetClass="entr" presetSubtype="8" fill="hold" nodeType="withEffect">
                                  <p:stCondLst>
                                    <p:cond delay="0"/>
                                  </p:stCondLst>
                                  <p:childTnLst>
                                    <p:set>
                                      <p:cBhvr>
                                        <p:cTn id="62" dur="1" fill="hold">
                                          <p:stCondLst>
                                            <p:cond delay="0"/>
                                          </p:stCondLst>
                                        </p:cTn>
                                        <p:tgtEl>
                                          <p:spTgt spid="100"/>
                                        </p:tgtEl>
                                        <p:attrNameLst>
                                          <p:attrName>style.visibility</p:attrName>
                                        </p:attrNameLst>
                                      </p:cBhvr>
                                      <p:to>
                                        <p:strVal val="visible"/>
                                      </p:to>
                                    </p:set>
                                    <p:animEffect transition="in" filter="wipe(left)">
                                      <p:cBhvr>
                                        <p:cTn id="63" dur="700"/>
                                        <p:tgtEl>
                                          <p:spTgt spid="100"/>
                                        </p:tgtEl>
                                      </p:cBhvr>
                                    </p:animEffect>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101"/>
                                        </p:tgtEl>
                                        <p:attrNameLst>
                                          <p:attrName>style.visibility</p:attrName>
                                        </p:attrNameLst>
                                      </p:cBhvr>
                                      <p:to>
                                        <p:strVal val="visible"/>
                                      </p:to>
                                    </p:set>
                                    <p:animEffect transition="in" filter="wipe(left)">
                                      <p:cBhvr>
                                        <p:cTn id="68" dur="700"/>
                                        <p:tgtEl>
                                          <p:spTgt spid="101"/>
                                        </p:tgtEl>
                                      </p:cBhvr>
                                    </p:animEffect>
                                  </p:childTnLst>
                                </p:cTn>
                              </p:par>
                              <p:par>
                                <p:cTn id="72" presetID="22" presetClass="entr" presetSubtype="8" fill="hold" nodeType="withEffect">
                                  <p:stCondLst>
                                    <p:cond delay="0"/>
                                  </p:stCondLst>
                                  <p:childTnLst>
                                    <p:set>
                                      <p:cBhvr>
                                        <p:cTn id="70" dur="1" fill="hold">
                                          <p:stCondLst>
                                            <p:cond delay="0"/>
                                          </p:stCondLst>
                                        </p:cTn>
                                        <p:tgtEl>
                                          <p:spTgt spid="102"/>
                                        </p:tgtEl>
                                        <p:attrNameLst>
                                          <p:attrName>style.visibility</p:attrName>
                                        </p:attrNameLst>
                                      </p:cBhvr>
                                      <p:to>
                                        <p:strVal val="visible"/>
                                      </p:to>
                                    </p:set>
                                    <p:animEffect transition="in" filter="wipe(left)">
                                      <p:cBhvr>
                                        <p:cTn id="71" dur="700"/>
                                        <p:tgtEl>
                                          <p:spTgt spid="1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Comparing Vertical and Horizontal Translations · SE pp. 289–290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left 3, then up 3</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3: </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t(x)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7" name="Shape 27"/>
          <p:cNvSpPr txBox="1"/>
          <p:nvPr/>
        </p:nvSpPr>
        <p:spPr>
          <a:xfrm>
            <a:off x="685800"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change.</a:t>
            </a:r>
            <a:endParaRPr lang="en-US" sz="1575" dirty="0"/>
          </a:p>
        </p:txBody>
      </p:sp>
      <p:sp>
        <p:nvSpPr>
          <p:cNvPr id="28" name="Shape 28"/>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3: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29" name="Shape 29"/>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0" name="Shape 30"/>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w(x)</a:t>
            </a:r>
            <a:endParaRPr lang="en-US" sz="1650" dirty="0"/>
          </a:p>
        </p:txBody>
      </p:sp>
      <p:sp>
        <p:nvSpPr>
          <p:cNvPr id="31" name="Shape 31"/>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2" name="Shape 32"/>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5" name="Shape 35"/>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9" name="Shape 39"/>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43" name="Shape 43"/>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47" name="Shape 47"/>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51" name="Shape 51"/>
          <p:cNvSpPr txBox="1"/>
          <p:nvPr/>
        </p:nvSpPr>
        <p:spPr>
          <a:xfrm>
            <a:off x="4419498"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change.</a:t>
            </a:r>
            <a:endParaRPr lang="en-US" sz="1575" dirty="0"/>
          </a:p>
        </p:txBody>
      </p:sp>
      <p:sp>
        <p:nvSpPr>
          <p:cNvPr id="52" name="Shape 52"/>
          <p:cNvSpPr/>
          <p:nvPr/>
        </p:nvSpPr>
        <p:spPr>
          <a:xfrm>
            <a:off x="8153197"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686050"/>
          </a:xfrm>
          <a:prstGeom prst="line">
            <a:avLst/>
          </a:prstGeom>
          <a:ln w="9525" cap="flat">
            <a:solidFill>
              <a:srgbClr val="E6E8F2"/>
            </a:solidFill>
          </a:ln>
        </p:spPr>
      </p:cxnSp>
      <p:cxnSp>
        <p:nvCxnSpPr>
          <p:cNvPr id="54" name="Line 54"/>
          <p:cNvCxnSpPr/>
          <p:nvPr/>
        </p:nvCxnSpPr>
        <p:spPr>
          <a:xfrm>
            <a:off x="8694534" y="1732788"/>
            <a:ext cx="0" cy="2686050"/>
          </a:xfrm>
          <a:prstGeom prst="line">
            <a:avLst/>
          </a:prstGeom>
          <a:ln w="9525" cap="flat">
            <a:solidFill>
              <a:srgbClr val="E6E8F2"/>
            </a:solidFill>
          </a:ln>
        </p:spPr>
      </p:cxnSp>
      <p:cxnSp>
        <p:nvCxnSpPr>
          <p:cNvPr id="55" name="Line 55"/>
          <p:cNvCxnSpPr/>
          <p:nvPr/>
        </p:nvCxnSpPr>
        <p:spPr>
          <a:xfrm>
            <a:off x="8912022" y="1732788"/>
            <a:ext cx="0" cy="2686050"/>
          </a:xfrm>
          <a:prstGeom prst="line">
            <a:avLst/>
          </a:prstGeom>
          <a:ln w="9525" cap="flat">
            <a:solidFill>
              <a:srgbClr val="E6E8F2"/>
            </a:solidFill>
          </a:ln>
        </p:spPr>
      </p:cxnSp>
      <p:cxnSp>
        <p:nvCxnSpPr>
          <p:cNvPr id="56" name="Line 56"/>
          <p:cNvCxnSpPr/>
          <p:nvPr/>
        </p:nvCxnSpPr>
        <p:spPr>
          <a:xfrm>
            <a:off x="9129509" y="1732788"/>
            <a:ext cx="0" cy="2686050"/>
          </a:xfrm>
          <a:prstGeom prst="line">
            <a:avLst/>
          </a:prstGeom>
          <a:ln w="9525" cap="flat">
            <a:solidFill>
              <a:srgbClr val="E6E8F2"/>
            </a:solidFill>
          </a:ln>
        </p:spPr>
      </p:cxnSp>
      <p:cxnSp>
        <p:nvCxnSpPr>
          <p:cNvPr id="57" name="Line 57"/>
          <p:cNvCxnSpPr/>
          <p:nvPr/>
        </p:nvCxnSpPr>
        <p:spPr>
          <a:xfrm>
            <a:off x="9346997" y="1732788"/>
            <a:ext cx="0" cy="2686050"/>
          </a:xfrm>
          <a:prstGeom prst="line">
            <a:avLst/>
          </a:prstGeom>
          <a:ln w="9525" cap="flat">
            <a:solidFill>
              <a:srgbClr val="E6E8F2"/>
            </a:solidFill>
          </a:ln>
        </p:spPr>
      </p:cxnSp>
      <p:cxnSp>
        <p:nvCxnSpPr>
          <p:cNvPr id="58" name="Line 58"/>
          <p:cNvCxnSpPr/>
          <p:nvPr/>
        </p:nvCxnSpPr>
        <p:spPr>
          <a:xfrm>
            <a:off x="9564484" y="1732788"/>
            <a:ext cx="0" cy="2686050"/>
          </a:xfrm>
          <a:prstGeom prst="line">
            <a:avLst/>
          </a:prstGeom>
          <a:ln w="9525" cap="flat">
            <a:solidFill>
              <a:srgbClr val="E6E8F2"/>
            </a:solidFill>
          </a:ln>
        </p:spPr>
      </p:cxnSp>
      <p:cxnSp>
        <p:nvCxnSpPr>
          <p:cNvPr id="59" name="Line 59"/>
          <p:cNvCxnSpPr/>
          <p:nvPr/>
        </p:nvCxnSpPr>
        <p:spPr>
          <a:xfrm>
            <a:off x="9781972" y="1732788"/>
            <a:ext cx="0" cy="2686050"/>
          </a:xfrm>
          <a:prstGeom prst="line">
            <a:avLst/>
          </a:prstGeom>
          <a:ln w="9525" cap="flat">
            <a:solidFill>
              <a:srgbClr val="E6E8F2"/>
            </a:solidFill>
          </a:ln>
        </p:spPr>
      </p:cxnSp>
      <p:cxnSp>
        <p:nvCxnSpPr>
          <p:cNvPr id="60" name="Line 60"/>
          <p:cNvCxnSpPr/>
          <p:nvPr/>
        </p:nvCxnSpPr>
        <p:spPr>
          <a:xfrm>
            <a:off x="9999459" y="1732788"/>
            <a:ext cx="0" cy="2686050"/>
          </a:xfrm>
          <a:prstGeom prst="line">
            <a:avLst/>
          </a:prstGeom>
          <a:ln w="9525" cap="flat">
            <a:solidFill>
              <a:srgbClr val="E6E8F2"/>
            </a:solidFill>
          </a:ln>
        </p:spPr>
      </p:cxnSp>
      <p:cxnSp>
        <p:nvCxnSpPr>
          <p:cNvPr id="61" name="Line 61"/>
          <p:cNvCxnSpPr/>
          <p:nvPr/>
        </p:nvCxnSpPr>
        <p:spPr>
          <a:xfrm>
            <a:off x="10216947" y="1732788"/>
            <a:ext cx="0" cy="2686050"/>
          </a:xfrm>
          <a:prstGeom prst="line">
            <a:avLst/>
          </a:prstGeom>
          <a:ln w="9525" cap="flat">
            <a:solidFill>
              <a:srgbClr val="E6E8F2"/>
            </a:solidFill>
          </a:ln>
        </p:spPr>
      </p:cxnSp>
      <p:cxnSp>
        <p:nvCxnSpPr>
          <p:cNvPr id="62" name="Line 62"/>
          <p:cNvCxnSpPr/>
          <p:nvPr/>
        </p:nvCxnSpPr>
        <p:spPr>
          <a:xfrm>
            <a:off x="10434434" y="1732788"/>
            <a:ext cx="0" cy="2686050"/>
          </a:xfrm>
          <a:prstGeom prst="line">
            <a:avLst/>
          </a:prstGeom>
          <a:ln w="9525" cap="flat">
            <a:solidFill>
              <a:srgbClr val="E6E8F2"/>
            </a:solidFill>
          </a:ln>
        </p:spPr>
      </p:cxnSp>
      <p:cxnSp>
        <p:nvCxnSpPr>
          <p:cNvPr id="63" name="Line 63"/>
          <p:cNvCxnSpPr/>
          <p:nvPr/>
        </p:nvCxnSpPr>
        <p:spPr>
          <a:xfrm>
            <a:off x="10651922" y="1732788"/>
            <a:ext cx="0" cy="2686050"/>
          </a:xfrm>
          <a:prstGeom prst="line">
            <a:avLst/>
          </a:prstGeom>
          <a:ln w="9525" cap="flat">
            <a:solidFill>
              <a:srgbClr val="E6E8F2"/>
            </a:solidFill>
          </a:ln>
        </p:spPr>
      </p:cxnSp>
      <p:cxnSp>
        <p:nvCxnSpPr>
          <p:cNvPr id="64" name="Line 64"/>
          <p:cNvCxnSpPr/>
          <p:nvPr/>
        </p:nvCxnSpPr>
        <p:spPr>
          <a:xfrm>
            <a:off x="10869409" y="1732788"/>
            <a:ext cx="0" cy="2686050"/>
          </a:xfrm>
          <a:prstGeom prst="line">
            <a:avLst/>
          </a:prstGeom>
          <a:ln w="9525" cap="flat">
            <a:solidFill>
              <a:srgbClr val="E6E8F2"/>
            </a:solidFill>
          </a:ln>
        </p:spPr>
      </p:cxnSp>
      <p:cxnSp>
        <p:nvCxnSpPr>
          <p:cNvPr id="65" name="Line 65"/>
          <p:cNvCxnSpPr/>
          <p:nvPr/>
        </p:nvCxnSpPr>
        <p:spPr>
          <a:xfrm>
            <a:off x="11086897" y="1732788"/>
            <a:ext cx="0" cy="2686050"/>
          </a:xfrm>
          <a:prstGeom prst="line">
            <a:avLst/>
          </a:prstGeom>
          <a:ln w="9525" cap="flat">
            <a:solidFill>
              <a:srgbClr val="E6E8F2"/>
            </a:solidFill>
          </a:ln>
        </p:spPr>
      </p:cxnSp>
      <p:cxnSp>
        <p:nvCxnSpPr>
          <p:cNvPr id="66" name="Line 66"/>
          <p:cNvCxnSpPr/>
          <p:nvPr/>
        </p:nvCxnSpPr>
        <p:spPr>
          <a:xfrm>
            <a:off x="8477047" y="4418838"/>
            <a:ext cx="2609850" cy="0"/>
          </a:xfrm>
          <a:prstGeom prst="line">
            <a:avLst/>
          </a:prstGeom>
          <a:ln w="9525" cap="flat">
            <a:solidFill>
              <a:srgbClr val="E6E8F2"/>
            </a:solidFill>
          </a:ln>
        </p:spPr>
      </p:cxnSp>
      <p:cxnSp>
        <p:nvCxnSpPr>
          <p:cNvPr id="67" name="Line 67"/>
          <p:cNvCxnSpPr/>
          <p:nvPr/>
        </p:nvCxnSpPr>
        <p:spPr>
          <a:xfrm>
            <a:off x="8477047" y="4195000"/>
            <a:ext cx="2609850" cy="0"/>
          </a:xfrm>
          <a:prstGeom prst="line">
            <a:avLst/>
          </a:prstGeom>
          <a:ln w="9525" cap="flat">
            <a:solidFill>
              <a:srgbClr val="E6E8F2"/>
            </a:solidFill>
          </a:ln>
        </p:spPr>
      </p:cxnSp>
      <p:cxnSp>
        <p:nvCxnSpPr>
          <p:cNvPr id="68" name="Line 68"/>
          <p:cNvCxnSpPr/>
          <p:nvPr/>
        </p:nvCxnSpPr>
        <p:spPr>
          <a:xfrm>
            <a:off x="8477047" y="3971163"/>
            <a:ext cx="2609850" cy="0"/>
          </a:xfrm>
          <a:prstGeom prst="line">
            <a:avLst/>
          </a:prstGeom>
          <a:ln w="9525" cap="flat">
            <a:solidFill>
              <a:srgbClr val="E6E8F2"/>
            </a:solidFill>
          </a:ln>
        </p:spPr>
      </p:cxnSp>
      <p:cxnSp>
        <p:nvCxnSpPr>
          <p:cNvPr id="69" name="Line 69"/>
          <p:cNvCxnSpPr/>
          <p:nvPr/>
        </p:nvCxnSpPr>
        <p:spPr>
          <a:xfrm>
            <a:off x="8477047" y="3747325"/>
            <a:ext cx="2609850" cy="0"/>
          </a:xfrm>
          <a:prstGeom prst="line">
            <a:avLst/>
          </a:prstGeom>
          <a:ln w="9525" cap="flat">
            <a:solidFill>
              <a:srgbClr val="E6E8F2"/>
            </a:solidFill>
          </a:ln>
        </p:spPr>
      </p:cxnSp>
      <p:cxnSp>
        <p:nvCxnSpPr>
          <p:cNvPr id="70" name="Line 70"/>
          <p:cNvCxnSpPr/>
          <p:nvPr/>
        </p:nvCxnSpPr>
        <p:spPr>
          <a:xfrm>
            <a:off x="8477047" y="3523488"/>
            <a:ext cx="2609850" cy="0"/>
          </a:xfrm>
          <a:prstGeom prst="line">
            <a:avLst/>
          </a:prstGeom>
          <a:ln w="9525" cap="flat">
            <a:solidFill>
              <a:srgbClr val="E6E8F2"/>
            </a:solidFill>
          </a:ln>
        </p:spPr>
      </p:cxnSp>
      <p:cxnSp>
        <p:nvCxnSpPr>
          <p:cNvPr id="71" name="Line 71"/>
          <p:cNvCxnSpPr/>
          <p:nvPr/>
        </p:nvCxnSpPr>
        <p:spPr>
          <a:xfrm>
            <a:off x="8477047" y="3299650"/>
            <a:ext cx="2609850" cy="0"/>
          </a:xfrm>
          <a:prstGeom prst="line">
            <a:avLst/>
          </a:prstGeom>
          <a:ln w="9525" cap="flat">
            <a:solidFill>
              <a:srgbClr val="E6E8F2"/>
            </a:solidFill>
          </a:ln>
        </p:spPr>
      </p:cxnSp>
      <p:cxnSp>
        <p:nvCxnSpPr>
          <p:cNvPr id="72" name="Line 72"/>
          <p:cNvCxnSpPr/>
          <p:nvPr/>
        </p:nvCxnSpPr>
        <p:spPr>
          <a:xfrm>
            <a:off x="8477047" y="3075813"/>
            <a:ext cx="2609850" cy="0"/>
          </a:xfrm>
          <a:prstGeom prst="line">
            <a:avLst/>
          </a:prstGeom>
          <a:ln w="9525" cap="flat">
            <a:solidFill>
              <a:srgbClr val="E6E8F2"/>
            </a:solidFill>
          </a:ln>
        </p:spPr>
      </p:cxnSp>
      <p:cxnSp>
        <p:nvCxnSpPr>
          <p:cNvPr id="73" name="Line 73"/>
          <p:cNvCxnSpPr/>
          <p:nvPr/>
        </p:nvCxnSpPr>
        <p:spPr>
          <a:xfrm>
            <a:off x="8477047" y="2851976"/>
            <a:ext cx="2609850" cy="0"/>
          </a:xfrm>
          <a:prstGeom prst="line">
            <a:avLst/>
          </a:prstGeom>
          <a:ln w="9525" cap="flat">
            <a:solidFill>
              <a:srgbClr val="E6E8F2"/>
            </a:solidFill>
          </a:ln>
        </p:spPr>
      </p:cxnSp>
      <p:cxnSp>
        <p:nvCxnSpPr>
          <p:cNvPr id="74" name="Line 74"/>
          <p:cNvCxnSpPr/>
          <p:nvPr/>
        </p:nvCxnSpPr>
        <p:spPr>
          <a:xfrm>
            <a:off x="8477047" y="2628138"/>
            <a:ext cx="2609850" cy="0"/>
          </a:xfrm>
          <a:prstGeom prst="line">
            <a:avLst/>
          </a:prstGeom>
          <a:ln w="9525" cap="flat">
            <a:solidFill>
              <a:srgbClr val="E6E8F2"/>
            </a:solidFill>
          </a:ln>
        </p:spPr>
      </p:cxnSp>
      <p:cxnSp>
        <p:nvCxnSpPr>
          <p:cNvPr id="75" name="Line 75"/>
          <p:cNvCxnSpPr/>
          <p:nvPr/>
        </p:nvCxnSpPr>
        <p:spPr>
          <a:xfrm>
            <a:off x="8477047" y="2404300"/>
            <a:ext cx="2609850" cy="0"/>
          </a:xfrm>
          <a:prstGeom prst="line">
            <a:avLst/>
          </a:prstGeom>
          <a:ln w="9525" cap="flat">
            <a:solidFill>
              <a:srgbClr val="E6E8F2"/>
            </a:solidFill>
          </a:ln>
        </p:spPr>
      </p:cxnSp>
      <p:cxnSp>
        <p:nvCxnSpPr>
          <p:cNvPr id="76" name="Line 76"/>
          <p:cNvCxnSpPr/>
          <p:nvPr/>
        </p:nvCxnSpPr>
        <p:spPr>
          <a:xfrm>
            <a:off x="8477047" y="2180463"/>
            <a:ext cx="2609850" cy="0"/>
          </a:xfrm>
          <a:prstGeom prst="line">
            <a:avLst/>
          </a:prstGeom>
          <a:ln w="9525" cap="flat">
            <a:solidFill>
              <a:srgbClr val="E6E8F2"/>
            </a:solidFill>
          </a:ln>
        </p:spPr>
      </p:cxnSp>
      <p:cxnSp>
        <p:nvCxnSpPr>
          <p:cNvPr id="77" name="Line 77"/>
          <p:cNvCxnSpPr/>
          <p:nvPr/>
        </p:nvCxnSpPr>
        <p:spPr>
          <a:xfrm>
            <a:off x="8477047" y="1956625"/>
            <a:ext cx="2609850" cy="0"/>
          </a:xfrm>
          <a:prstGeom prst="line">
            <a:avLst/>
          </a:prstGeom>
          <a:ln w="9525" cap="flat">
            <a:solidFill>
              <a:srgbClr val="E6E8F2"/>
            </a:solidFill>
          </a:ln>
        </p:spPr>
      </p:cxnSp>
      <p:cxnSp>
        <p:nvCxnSpPr>
          <p:cNvPr id="78" name="Line 78"/>
          <p:cNvCxnSpPr/>
          <p:nvPr/>
        </p:nvCxnSpPr>
        <p:spPr>
          <a:xfrm>
            <a:off x="8477047" y="1732788"/>
            <a:ext cx="2609850" cy="0"/>
          </a:xfrm>
          <a:prstGeom prst="line">
            <a:avLst/>
          </a:prstGeom>
          <a:ln w="9525" cap="flat">
            <a:solidFill>
              <a:srgbClr val="E6E8F2"/>
            </a:solidFill>
          </a:ln>
        </p:spPr>
      </p:cxnSp>
      <p:cxnSp>
        <p:nvCxnSpPr>
          <p:cNvPr id="79" name="Line 79"/>
          <p:cNvCxnSpPr/>
          <p:nvPr/>
        </p:nvCxnSpPr>
        <p:spPr>
          <a:xfrm>
            <a:off x="9781972" y="1732788"/>
            <a:ext cx="0" cy="2686050"/>
          </a:xfrm>
          <a:prstGeom prst="line">
            <a:avLst/>
          </a:prstGeom>
          <a:ln w="19050" cap="flat">
            <a:solidFill>
              <a:srgbClr val="5F6272"/>
            </a:solidFill>
          </a:ln>
        </p:spPr>
      </p:cxnSp>
      <p:cxnSp>
        <p:nvCxnSpPr>
          <p:cNvPr id="80" name="Line 80"/>
          <p:cNvCxnSpPr/>
          <p:nvPr/>
        </p:nvCxnSpPr>
        <p:spPr>
          <a:xfrm>
            <a:off x="8477047" y="3075813"/>
            <a:ext cx="2609850" cy="0"/>
          </a:xfrm>
          <a:prstGeom prst="line">
            <a:avLst/>
          </a:prstGeom>
          <a:ln w="19050" cap="flat">
            <a:solidFill>
              <a:srgbClr val="5F6272"/>
            </a:solidFill>
          </a:ln>
        </p:spPr>
      </p:cxnSp>
      <p:sp>
        <p:nvSpPr>
          <p:cNvPr id="81" name="Shape 81"/>
          <p:cNvSpPr txBox="1"/>
          <p:nvPr/>
        </p:nvSpPr>
        <p:spPr>
          <a:xfrm>
            <a:off x="82027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2" name="Shape 82"/>
          <p:cNvSpPr txBox="1"/>
          <p:nvPr/>
        </p:nvSpPr>
        <p:spPr>
          <a:xfrm>
            <a:off x="86377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3" name="Shape 83"/>
          <p:cNvSpPr txBox="1"/>
          <p:nvPr/>
        </p:nvSpPr>
        <p:spPr>
          <a:xfrm>
            <a:off x="90726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4" name="Shape 84"/>
          <p:cNvSpPr txBox="1"/>
          <p:nvPr/>
        </p:nvSpPr>
        <p:spPr>
          <a:xfrm>
            <a:off x="950765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5" name="Shape 85"/>
          <p:cNvSpPr txBox="1"/>
          <p:nvPr/>
        </p:nvSpPr>
        <p:spPr>
          <a:xfrm>
            <a:off x="99426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103776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7" name="Shape 87"/>
          <p:cNvSpPr txBox="1"/>
          <p:nvPr/>
        </p:nvSpPr>
        <p:spPr>
          <a:xfrm>
            <a:off x="108125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8" name="Shape 88"/>
          <p:cNvSpPr txBox="1"/>
          <p:nvPr/>
        </p:nvSpPr>
        <p:spPr>
          <a:xfrm>
            <a:off x="7910119"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9" name="Shape 89"/>
          <p:cNvSpPr txBox="1"/>
          <p:nvPr/>
        </p:nvSpPr>
        <p:spPr>
          <a:xfrm>
            <a:off x="7910119" y="3879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7910119" y="3432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1" name="Shape 91"/>
          <p:cNvSpPr txBox="1"/>
          <p:nvPr/>
        </p:nvSpPr>
        <p:spPr>
          <a:xfrm>
            <a:off x="7910119"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2" name="Shape 92"/>
          <p:cNvSpPr txBox="1"/>
          <p:nvPr/>
        </p:nvSpPr>
        <p:spPr>
          <a:xfrm>
            <a:off x="7910119" y="2536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7910119" y="2089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4" name="Shape 94"/>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95" name="Line 95"/>
          <p:cNvCxnSpPr/>
          <p:nvPr/>
        </p:nvCxnSpPr>
        <p:spPr>
          <a:xfrm flipV="1">
            <a:off x="8477047" y="1732788"/>
            <a:ext cx="2609850" cy="2686050"/>
          </a:xfrm>
          <a:prstGeom prst="line">
            <a:avLst/>
          </a:prstGeom>
          <a:ln w="38100" cap="rnd">
            <a:solidFill>
              <a:srgbClr val="16171D"/>
            </a:solidFill>
          </a:ln>
        </p:spPr>
      </p:cxnSp>
      <p:sp>
        <p:nvSpPr>
          <p:cNvPr id="96" name="Shape 96"/>
          <p:cNvSpPr txBox="1"/>
          <p:nvPr/>
        </p:nvSpPr>
        <p:spPr>
          <a:xfrm>
            <a:off x="859515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7" name="Line 97"/>
          <p:cNvCxnSpPr/>
          <p:nvPr/>
        </p:nvCxnSpPr>
        <p:spPr>
          <a:xfrm flipV="1">
            <a:off x="8477047" y="1732788"/>
            <a:ext cx="1957388" cy="2014537"/>
          </a:xfrm>
          <a:prstGeom prst="line">
            <a:avLst/>
          </a:prstGeom>
          <a:ln w="38100" cap="rnd">
            <a:solidFill>
              <a:srgbClr val="7A4FC4"/>
            </a:solidFill>
          </a:ln>
        </p:spPr>
      </p:cxnSp>
      <p:sp>
        <p:nvSpPr>
          <p:cNvPr id="98" name="Shape 98"/>
          <p:cNvSpPr txBox="1"/>
          <p:nvPr/>
        </p:nvSpPr>
        <p:spPr>
          <a:xfrm>
            <a:off x="7942694"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t(x) = w(x)</a:t>
            </a:r>
            <a:endParaRPr lang="en-US" sz="1275" dirty="0"/>
          </a:p>
        </p:txBody>
      </p:sp>
      <p:sp>
        <p:nvSpPr>
          <p:cNvPr id="99" name="Shape 99"/>
          <p:cNvSpPr txBox="1"/>
          <p:nvPr/>
        </p:nvSpPr>
        <p:spPr>
          <a:xfrm>
            <a:off x="8153197" y="47617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but different tables.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500"/>
                                        <p:tgtEl>
                                          <p:spTgt spid="27"/>
                                        </p:tgtEl>
                                      </p:cBhvr>
                                    </p:animEffect>
                                    <p:anim calcmode="lin" valueType="num">
                                      <p:cBhvr>
                                        <p:cTn id="75" dur="500" fill="hold"/>
                                        <p:tgtEl>
                                          <p:spTgt spid="27"/>
                                        </p:tgtEl>
                                        <p:attrNameLst>
                                          <p:attrName>ppt_x</p:attrName>
                                        </p:attrNameLst>
                                      </p:cBhvr>
                                      <p:tavLst>
                                        <p:tav tm="0">
                                          <p:val>
                                            <p:strVal val="#ppt_x"/>
                                          </p:val>
                                        </p:tav>
                                        <p:tav tm="100000">
                                          <p:val>
                                            <p:strVal val="#ppt_x"/>
                                          </p:val>
                                        </p:tav>
                                      </p:tavLst>
                                    </p:anim>
                                    <p:anim calcmode="lin" valueType="num">
                                      <p:cBhvr>
                                        <p:cTn id="76"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anim calcmode="lin" valueType="num">
                                      <p:cBhvr>
                                        <p:cTn id="82" dur="500" fill="hold"/>
                                        <p:tgtEl>
                                          <p:spTgt spid="32"/>
                                        </p:tgtEl>
                                        <p:attrNameLst>
                                          <p:attrName>ppt_x</p:attrName>
                                        </p:attrNameLst>
                                      </p:cBhvr>
                                      <p:tavLst>
                                        <p:tav tm="0">
                                          <p:val>
                                            <p:strVal val="#ppt_x"/>
                                          </p:val>
                                        </p:tav>
                                        <p:tav tm="100000">
                                          <p:val>
                                            <p:strVal val="#ppt_x"/>
                                          </p:val>
                                        </p:tav>
                                      </p:tavLst>
                                    </p:anim>
                                    <p:anim calcmode="lin" valueType="num">
                                      <p:cBhvr>
                                        <p:cTn id="83"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500"/>
                                        <p:tgtEl>
                                          <p:spTgt spid="34"/>
                                        </p:tgtEl>
                                      </p:cBhvr>
                                    </p:animEffect>
                                    <p:anim calcmode="lin" valueType="num">
                                      <p:cBhvr>
                                        <p:cTn id="89" dur="500" fill="hold"/>
                                        <p:tgtEl>
                                          <p:spTgt spid="34"/>
                                        </p:tgtEl>
                                        <p:attrNameLst>
                                          <p:attrName>ppt_x</p:attrName>
                                        </p:attrNameLst>
                                      </p:cBhvr>
                                      <p:tavLst>
                                        <p:tav tm="0">
                                          <p:val>
                                            <p:strVal val="#ppt_x"/>
                                          </p:val>
                                        </p:tav>
                                        <p:tav tm="100000">
                                          <p:val>
                                            <p:strVal val="#ppt_x"/>
                                          </p:val>
                                        </p:tav>
                                      </p:tavLst>
                                    </p:anim>
                                    <p:anim calcmode="lin" valueType="num">
                                      <p:cBhvr>
                                        <p:cTn id="90"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500"/>
                                        <p:tgtEl>
                                          <p:spTgt spid="36"/>
                                        </p:tgtEl>
                                      </p:cBhvr>
                                    </p:animEffect>
                                    <p:anim calcmode="lin" valueType="num">
                                      <p:cBhvr>
                                        <p:cTn id="96" dur="500" fill="hold"/>
                                        <p:tgtEl>
                                          <p:spTgt spid="36"/>
                                        </p:tgtEl>
                                        <p:attrNameLst>
                                          <p:attrName>ppt_x</p:attrName>
                                        </p:attrNameLst>
                                      </p:cBhvr>
                                      <p:tavLst>
                                        <p:tav tm="0">
                                          <p:val>
                                            <p:strVal val="#ppt_x"/>
                                          </p:val>
                                        </p:tav>
                                        <p:tav tm="100000">
                                          <p:val>
                                            <p:strVal val="#ppt_x"/>
                                          </p:val>
                                        </p:tav>
                                      </p:tavLst>
                                    </p:anim>
                                    <p:anim calcmode="lin" valueType="num">
                                      <p:cBhvr>
                                        <p:cTn id="97"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500"/>
                                        <p:tgtEl>
                                          <p:spTgt spid="38"/>
                                        </p:tgtEl>
                                      </p:cBhvr>
                                    </p:animEffect>
                                    <p:anim calcmode="lin" valueType="num">
                                      <p:cBhvr>
                                        <p:cTn id="103" dur="500" fill="hold"/>
                                        <p:tgtEl>
                                          <p:spTgt spid="38"/>
                                        </p:tgtEl>
                                        <p:attrNameLst>
                                          <p:attrName>ppt_x</p:attrName>
                                        </p:attrNameLst>
                                      </p:cBhvr>
                                      <p:tavLst>
                                        <p:tav tm="0">
                                          <p:val>
                                            <p:strVal val="#ppt_x"/>
                                          </p:val>
                                        </p:tav>
                                        <p:tav tm="100000">
                                          <p:val>
                                            <p:strVal val="#ppt_x"/>
                                          </p:val>
                                        </p:tav>
                                      </p:tavLst>
                                    </p:anim>
                                    <p:anim calcmode="lin" valueType="num">
                                      <p:cBhvr>
                                        <p:cTn id="104"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500"/>
                                        <p:tgtEl>
                                          <p:spTgt spid="40"/>
                                        </p:tgtEl>
                                      </p:cBhvr>
                                    </p:animEffect>
                                    <p:anim calcmode="lin" valueType="num">
                                      <p:cBhvr>
                                        <p:cTn id="110" dur="500" fill="hold"/>
                                        <p:tgtEl>
                                          <p:spTgt spid="40"/>
                                        </p:tgtEl>
                                        <p:attrNameLst>
                                          <p:attrName>ppt_x</p:attrName>
                                        </p:attrNameLst>
                                      </p:cBhvr>
                                      <p:tavLst>
                                        <p:tav tm="0">
                                          <p:val>
                                            <p:strVal val="#ppt_x"/>
                                          </p:val>
                                        </p:tav>
                                        <p:tav tm="100000">
                                          <p:val>
                                            <p:strVal val="#ppt_x"/>
                                          </p:val>
                                        </p:tav>
                                      </p:tavLst>
                                    </p:anim>
                                    <p:anim calcmode="lin" valueType="num">
                                      <p:cBhvr>
                                        <p:cTn id="111"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500"/>
                                        <p:tgtEl>
                                          <p:spTgt spid="42"/>
                                        </p:tgtEl>
                                      </p:cBhvr>
                                    </p:animEffect>
                                    <p:anim calcmode="lin" valueType="num">
                                      <p:cBhvr>
                                        <p:cTn id="117" dur="500" fill="hold"/>
                                        <p:tgtEl>
                                          <p:spTgt spid="42"/>
                                        </p:tgtEl>
                                        <p:attrNameLst>
                                          <p:attrName>ppt_x</p:attrName>
                                        </p:attrNameLst>
                                      </p:cBhvr>
                                      <p:tavLst>
                                        <p:tav tm="0">
                                          <p:val>
                                            <p:strVal val="#ppt_x"/>
                                          </p:val>
                                        </p:tav>
                                        <p:tav tm="100000">
                                          <p:val>
                                            <p:strVal val="#ppt_x"/>
                                          </p:val>
                                        </p:tav>
                                      </p:tavLst>
                                    </p:anim>
                                    <p:anim calcmode="lin" valueType="num">
                                      <p:cBhvr>
                                        <p:cTn id="118"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00"/>
                                        <p:tgtEl>
                                          <p:spTgt spid="44"/>
                                        </p:tgtEl>
                                      </p:cBhvr>
                                    </p:animEffect>
                                    <p:anim calcmode="lin" valueType="num">
                                      <p:cBhvr>
                                        <p:cTn id="124" dur="500" fill="hold"/>
                                        <p:tgtEl>
                                          <p:spTgt spid="44"/>
                                        </p:tgtEl>
                                        <p:attrNameLst>
                                          <p:attrName>ppt_x</p:attrName>
                                        </p:attrNameLst>
                                      </p:cBhvr>
                                      <p:tavLst>
                                        <p:tav tm="0">
                                          <p:val>
                                            <p:strVal val="#ppt_x"/>
                                          </p:val>
                                        </p:tav>
                                        <p:tav tm="100000">
                                          <p:val>
                                            <p:strVal val="#ppt_x"/>
                                          </p:val>
                                        </p:tav>
                                      </p:tavLst>
                                    </p:anim>
                                    <p:anim calcmode="lin" valueType="num">
                                      <p:cBhvr>
                                        <p:cTn id="125"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fade">
                                      <p:cBhvr>
                                        <p:cTn id="130" dur="500"/>
                                        <p:tgtEl>
                                          <p:spTgt spid="46"/>
                                        </p:tgtEl>
                                      </p:cBhvr>
                                    </p:animEffect>
                                    <p:anim calcmode="lin" valueType="num">
                                      <p:cBhvr>
                                        <p:cTn id="131" dur="500" fill="hold"/>
                                        <p:tgtEl>
                                          <p:spTgt spid="46"/>
                                        </p:tgtEl>
                                        <p:attrNameLst>
                                          <p:attrName>ppt_x</p:attrName>
                                        </p:attrNameLst>
                                      </p:cBhvr>
                                      <p:tavLst>
                                        <p:tav tm="0">
                                          <p:val>
                                            <p:strVal val="#ppt_x"/>
                                          </p:val>
                                        </p:tav>
                                        <p:tav tm="100000">
                                          <p:val>
                                            <p:strVal val="#ppt_x"/>
                                          </p:val>
                                        </p:tav>
                                      </p:tavLst>
                                    </p:anim>
                                    <p:anim calcmode="lin" valueType="num">
                                      <p:cBhvr>
                                        <p:cTn id="132"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8"/>
                                        </p:tgtEl>
                                        <p:attrNameLst>
                                          <p:attrName>style.visibility</p:attrName>
                                        </p:attrNameLst>
                                      </p:cBhvr>
                                      <p:to>
                                        <p:strVal val="visible"/>
                                      </p:to>
                                    </p:set>
                                    <p:animEffect transition="in" filter="fade">
                                      <p:cBhvr>
                                        <p:cTn id="137" dur="500"/>
                                        <p:tgtEl>
                                          <p:spTgt spid="48"/>
                                        </p:tgtEl>
                                      </p:cBhvr>
                                    </p:animEffect>
                                    <p:anim calcmode="lin" valueType="num">
                                      <p:cBhvr>
                                        <p:cTn id="138" dur="500" fill="hold"/>
                                        <p:tgtEl>
                                          <p:spTgt spid="48"/>
                                        </p:tgtEl>
                                        <p:attrNameLst>
                                          <p:attrName>ppt_x</p:attrName>
                                        </p:attrNameLst>
                                      </p:cBhvr>
                                      <p:tavLst>
                                        <p:tav tm="0">
                                          <p:val>
                                            <p:strVal val="#ppt_x"/>
                                          </p:val>
                                        </p:tav>
                                        <p:tav tm="100000">
                                          <p:val>
                                            <p:strVal val="#ppt_x"/>
                                          </p:val>
                                        </p:tav>
                                      </p:tavLst>
                                    </p:anim>
                                    <p:anim calcmode="lin" valueType="num">
                                      <p:cBhvr>
                                        <p:cTn id="13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par>
                    <p:cTn id="163" fill="hold">
                      <p:stCondLst>
                        <p:cond delay="indefinite"/>
                      </p:stCondLst>
                      <p:childTnLst>
                        <p:par>
                          <p:cTn id="164" fill="hold">
                            <p:stCondLst>
                              <p:cond delay="0"/>
                            </p:stCondLst>
                            <p:childTnLst>
                              <p:par>
                                <p:cTn id="159" presetID="22" presetClass="entr" presetSubtype="8" fill="hold" nodeType="clickEffect">
                                  <p:stCondLst>
                                    <p:cond delay="0"/>
                                  </p:stCondLst>
                                  <p:childTnLst>
                                    <p:set>
                                      <p:cBhvr>
                                        <p:cTn id="157" dur="1" fill="hold">
                                          <p:stCondLst>
                                            <p:cond delay="0"/>
                                          </p:stCondLst>
                                        </p:cTn>
                                        <p:tgtEl>
                                          <p:spTgt spid="97"/>
                                        </p:tgtEl>
                                        <p:attrNameLst>
                                          <p:attrName>style.visibility</p:attrName>
                                        </p:attrNameLst>
                                      </p:cBhvr>
                                      <p:to>
                                        <p:strVal val="visible"/>
                                      </p:to>
                                    </p:set>
                                    <p:animEffect transition="in" filter="wipe(left)">
                                      <p:cBhvr>
                                        <p:cTn id="158" dur="700"/>
                                        <p:tgtEl>
                                          <p:spTgt spid="97"/>
                                        </p:tgtEl>
                                      </p:cBhvr>
                                    </p:animEffect>
                                  </p:childTnLst>
                                </p:cTn>
                              </p:par>
                              <p:par>
                                <p:cTn id="162" presetID="22" presetClass="entr" presetSubtype="8" fill="hold" nodeType="withEffect">
                                  <p:stCondLst>
                                    <p:cond delay="0"/>
                                  </p:stCondLst>
                                  <p:childTnLst>
                                    <p:set>
                                      <p:cBhvr>
                                        <p:cTn id="160" dur="1" fill="hold">
                                          <p:stCondLst>
                                            <p:cond delay="0"/>
                                          </p:stCondLst>
                                        </p:cTn>
                                        <p:tgtEl>
                                          <p:spTgt spid="98"/>
                                        </p:tgtEl>
                                        <p:attrNameLst>
                                          <p:attrName>style.visibility</p:attrName>
                                        </p:attrNameLst>
                                      </p:cBhvr>
                                      <p:to>
                                        <p:strVal val="visible"/>
                                      </p:to>
                                    </p:set>
                                    <p:animEffect transition="in" filter="wipe(left)">
                                      <p:cBhvr>
                                        <p:cTn id="161" dur="700"/>
                                        <p:tgtEl>
                                          <p:spTgt spid="98"/>
                                        </p:tgtEl>
                                      </p:cBhvr>
                                    </p:animEffect>
                                  </p:childTnLst>
                                </p:cTn>
                              </p:par>
                            </p:childTnLst>
                          </p:cTn>
                        </p:par>
                      </p:childTnLst>
                    </p:cTn>
                  </p:par>
                  <p:par>
                    <p:cTn id="170" fill="hold">
                      <p:stCondLst>
                        <p:cond delay="indefinite"/>
                      </p:stCondLst>
                      <p:childTnLst>
                        <p:par>
                          <p:cTn id="171" fill="hold">
                            <p:stCondLst>
                              <p:cond delay="0"/>
                            </p:stCondLst>
                            <p:childTnLst>
                              <p:par>
                                <p:cTn id="169" presetID="42" presetClass="entr" presetSubtype="0" fill="hold" nodeType="clickEffect">
                                  <p:stCondLst>
                                    <p:cond delay="0"/>
                                  </p:stCondLst>
                                  <p:childTnLst>
                                    <p:set>
                                      <p:cBhvr>
                                        <p:cTn id="165" dur="1" fill="hold">
                                          <p:stCondLst>
                                            <p:cond delay="0"/>
                                          </p:stCondLst>
                                        </p:cTn>
                                        <p:tgtEl>
                                          <p:spTgt spid="99"/>
                                        </p:tgtEl>
                                        <p:attrNameLst>
                                          <p:attrName>style.visibility</p:attrName>
                                        </p:attrNameLst>
                                      </p:cBhvr>
                                      <p:to>
                                        <p:strVal val="visible"/>
                                      </p:to>
                                    </p:set>
                                    <p:animEffect transition="in" filter="fade">
                                      <p:cBhvr>
                                        <p:cTn id="166" dur="500"/>
                                        <p:tgtEl>
                                          <p:spTgt spid="99"/>
                                        </p:tgtEl>
                                      </p:cBhvr>
                                    </p:animEffect>
                                    <p:anim calcmode="lin" valueType="num">
                                      <p:cBhvr>
                                        <p:cTn id="167" dur="500" fill="hold"/>
                                        <p:tgtEl>
                                          <p:spTgt spid="99"/>
                                        </p:tgtEl>
                                        <p:attrNameLst>
                                          <p:attrName>ppt_x</p:attrName>
                                        </p:attrNameLst>
                                      </p:cBhvr>
                                      <p:tavLst>
                                        <p:tav tm="0">
                                          <p:val>
                                            <p:strVal val="#ppt_x"/>
                                          </p:val>
                                        </p:tav>
                                        <p:tav tm="100000">
                                          <p:val>
                                            <p:strVal val="#ppt_x"/>
                                          </p:val>
                                        </p:tav>
                                      </p:tavLst>
                                    </p:anim>
                                    <p:anim calcmode="lin" valueType="num">
                                      <p:cBhvr>
                                        <p:cTn id="168" dur="500" fill="hold"/>
                                        <p:tgtEl>
                                          <p:spTgt spid="9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Definitions · SE p. 291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 translations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c</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down</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and left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up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3604260"/>
            <a:ext cx="4967272"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Does that work for </a:t>
            </a:r>
            <a:r>
              <a:rPr lang="en-US" sz="1650" dirty="0" b="1">
                <a:solidFill>
                  <a:srgbClr val="16171D"/>
                </a:solidFill>
                <a:latin typeface="Segoe UI"/>
                <a:cs typeface="Segoe UI"/>
              </a:rPr>
              <a:t xml:space="preserve">every</a:t>
            </a:r>
            <a:r>
              <a:rPr lang="en-US" sz="1650" dirty="0">
                <a:solidFill>
                  <a:srgbClr val="16171D"/>
                </a:solidFill>
                <a:latin typeface="Segoe UI"/>
                <a:cs typeface="Segoe UI"/>
              </a:rPr>
              <a:t xml:space="preserve"> linear function?</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Questions 6–9 · SE pp. 292–294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Try it with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 and left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7" name="Shape 7"/>
          <p:cNvSpPr txBox="1"/>
          <p:nvPr/>
        </p:nvSpPr>
        <p:spPr>
          <a:xfrm>
            <a:off x="685800" y="394563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2 and down 2:</a:t>
            </a:r>
            <a:endParaRPr lang="en-US" sz="1575" dirty="0"/>
          </a:p>
        </p:txBody>
      </p:sp>
      <p:sp>
        <p:nvSpPr>
          <p:cNvPr id="8" name="Shape 8"/>
          <p:cNvSpPr txBox="1"/>
          <p:nvPr/>
        </p:nvSpPr>
        <p:spPr>
          <a:xfrm>
            <a:off x="685800" y="4335780"/>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hape 9"/>
          <p:cNvSpPr txBox="1"/>
          <p:nvPr/>
        </p:nvSpPr>
        <p:spPr>
          <a:xfrm>
            <a:off x="685800" y="530428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v</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85800" y="627278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the same.</a:t>
            </a:r>
            <a:r>
              <a:rPr lang="en-US" sz="1575" dirty="0">
                <a:solidFill>
                  <a:srgbClr val="16171D"/>
                </a:solidFill>
                <a:latin typeface="Segoe UI"/>
                <a:cs typeface="Segoe UI"/>
              </a:rPr>
              <a:t xml:space="preserve"> The lines are parallel with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11" name="Shape 11"/>
          <p:cNvSpPr/>
          <p:nvPr/>
        </p:nvSpPr>
        <p:spPr>
          <a:xfrm>
            <a:off x="6286348" y="1618488"/>
            <a:ext cx="314325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067050"/>
          </a:xfrm>
          <a:prstGeom prst="line">
            <a:avLst/>
          </a:prstGeom>
          <a:ln w="9525" cap="flat">
            <a:solidFill>
              <a:srgbClr val="E6E8F2"/>
            </a:solidFill>
          </a:ln>
        </p:spPr>
      </p:cxnSp>
      <p:cxnSp>
        <p:nvCxnSpPr>
          <p:cNvPr id="13" name="Line 13"/>
          <p:cNvCxnSpPr/>
          <p:nvPr/>
        </p:nvCxnSpPr>
        <p:spPr>
          <a:xfrm>
            <a:off x="6835623" y="1732788"/>
            <a:ext cx="0" cy="3067050"/>
          </a:xfrm>
          <a:prstGeom prst="line">
            <a:avLst/>
          </a:prstGeom>
          <a:ln w="9525" cap="flat">
            <a:solidFill>
              <a:srgbClr val="E6E8F2"/>
            </a:solidFill>
          </a:ln>
        </p:spPr>
      </p:cxnSp>
      <p:cxnSp>
        <p:nvCxnSpPr>
          <p:cNvPr id="14" name="Line 14"/>
          <p:cNvCxnSpPr/>
          <p:nvPr/>
        </p:nvCxnSpPr>
        <p:spPr>
          <a:xfrm>
            <a:off x="7061048" y="1732788"/>
            <a:ext cx="0" cy="3067050"/>
          </a:xfrm>
          <a:prstGeom prst="line">
            <a:avLst/>
          </a:prstGeom>
          <a:ln w="9525" cap="flat">
            <a:solidFill>
              <a:srgbClr val="E6E8F2"/>
            </a:solidFill>
          </a:ln>
        </p:spPr>
      </p:cxnSp>
      <p:cxnSp>
        <p:nvCxnSpPr>
          <p:cNvPr id="15" name="Line 15"/>
          <p:cNvCxnSpPr/>
          <p:nvPr/>
        </p:nvCxnSpPr>
        <p:spPr>
          <a:xfrm>
            <a:off x="7286473" y="1732788"/>
            <a:ext cx="0" cy="3067050"/>
          </a:xfrm>
          <a:prstGeom prst="line">
            <a:avLst/>
          </a:prstGeom>
          <a:ln w="9525" cap="flat">
            <a:solidFill>
              <a:srgbClr val="E6E8F2"/>
            </a:solidFill>
          </a:ln>
        </p:spPr>
      </p:cxnSp>
      <p:cxnSp>
        <p:nvCxnSpPr>
          <p:cNvPr id="16" name="Line 16"/>
          <p:cNvCxnSpPr/>
          <p:nvPr/>
        </p:nvCxnSpPr>
        <p:spPr>
          <a:xfrm>
            <a:off x="7511898" y="1732788"/>
            <a:ext cx="0" cy="3067050"/>
          </a:xfrm>
          <a:prstGeom prst="line">
            <a:avLst/>
          </a:prstGeom>
          <a:ln w="9525" cap="flat">
            <a:solidFill>
              <a:srgbClr val="E6E8F2"/>
            </a:solidFill>
          </a:ln>
        </p:spPr>
      </p:cxnSp>
      <p:cxnSp>
        <p:nvCxnSpPr>
          <p:cNvPr id="17" name="Line 17"/>
          <p:cNvCxnSpPr/>
          <p:nvPr/>
        </p:nvCxnSpPr>
        <p:spPr>
          <a:xfrm>
            <a:off x="7737323" y="1732788"/>
            <a:ext cx="0" cy="3067050"/>
          </a:xfrm>
          <a:prstGeom prst="line">
            <a:avLst/>
          </a:prstGeom>
          <a:ln w="9525" cap="flat">
            <a:solidFill>
              <a:srgbClr val="E6E8F2"/>
            </a:solidFill>
          </a:ln>
        </p:spPr>
      </p:cxnSp>
      <p:cxnSp>
        <p:nvCxnSpPr>
          <p:cNvPr id="18" name="Line 18"/>
          <p:cNvCxnSpPr/>
          <p:nvPr/>
        </p:nvCxnSpPr>
        <p:spPr>
          <a:xfrm>
            <a:off x="7962748" y="1732788"/>
            <a:ext cx="0" cy="3067050"/>
          </a:xfrm>
          <a:prstGeom prst="line">
            <a:avLst/>
          </a:prstGeom>
          <a:ln w="9525" cap="flat">
            <a:solidFill>
              <a:srgbClr val="E6E8F2"/>
            </a:solidFill>
          </a:ln>
        </p:spPr>
      </p:cxnSp>
      <p:cxnSp>
        <p:nvCxnSpPr>
          <p:cNvPr id="19" name="Line 19"/>
          <p:cNvCxnSpPr/>
          <p:nvPr/>
        </p:nvCxnSpPr>
        <p:spPr>
          <a:xfrm>
            <a:off x="8188173" y="1732788"/>
            <a:ext cx="0" cy="3067050"/>
          </a:xfrm>
          <a:prstGeom prst="line">
            <a:avLst/>
          </a:prstGeom>
          <a:ln w="9525" cap="flat">
            <a:solidFill>
              <a:srgbClr val="E6E8F2"/>
            </a:solidFill>
          </a:ln>
        </p:spPr>
      </p:cxnSp>
      <p:cxnSp>
        <p:nvCxnSpPr>
          <p:cNvPr id="20" name="Line 20"/>
          <p:cNvCxnSpPr/>
          <p:nvPr/>
        </p:nvCxnSpPr>
        <p:spPr>
          <a:xfrm>
            <a:off x="8413598" y="1732788"/>
            <a:ext cx="0" cy="3067050"/>
          </a:xfrm>
          <a:prstGeom prst="line">
            <a:avLst/>
          </a:prstGeom>
          <a:ln w="9525" cap="flat">
            <a:solidFill>
              <a:srgbClr val="E6E8F2"/>
            </a:solidFill>
          </a:ln>
        </p:spPr>
      </p:cxnSp>
      <p:cxnSp>
        <p:nvCxnSpPr>
          <p:cNvPr id="21" name="Line 21"/>
          <p:cNvCxnSpPr/>
          <p:nvPr/>
        </p:nvCxnSpPr>
        <p:spPr>
          <a:xfrm>
            <a:off x="8639023" y="1732788"/>
            <a:ext cx="0" cy="3067050"/>
          </a:xfrm>
          <a:prstGeom prst="line">
            <a:avLst/>
          </a:prstGeom>
          <a:ln w="9525" cap="flat">
            <a:solidFill>
              <a:srgbClr val="E6E8F2"/>
            </a:solidFill>
          </a:ln>
        </p:spPr>
      </p:cxnSp>
      <p:cxnSp>
        <p:nvCxnSpPr>
          <p:cNvPr id="22" name="Line 22"/>
          <p:cNvCxnSpPr/>
          <p:nvPr/>
        </p:nvCxnSpPr>
        <p:spPr>
          <a:xfrm>
            <a:off x="8864448" y="1732788"/>
            <a:ext cx="0" cy="3067050"/>
          </a:xfrm>
          <a:prstGeom prst="line">
            <a:avLst/>
          </a:prstGeom>
          <a:ln w="9525" cap="flat">
            <a:solidFill>
              <a:srgbClr val="E6E8F2"/>
            </a:solidFill>
          </a:ln>
        </p:spPr>
      </p:cxnSp>
      <p:cxnSp>
        <p:nvCxnSpPr>
          <p:cNvPr id="23" name="Line 23"/>
          <p:cNvCxnSpPr/>
          <p:nvPr/>
        </p:nvCxnSpPr>
        <p:spPr>
          <a:xfrm>
            <a:off x="9089873" y="1732788"/>
            <a:ext cx="0" cy="3067050"/>
          </a:xfrm>
          <a:prstGeom prst="line">
            <a:avLst/>
          </a:prstGeom>
          <a:ln w="9525" cap="flat">
            <a:solidFill>
              <a:srgbClr val="E6E8F2"/>
            </a:solidFill>
          </a:ln>
        </p:spPr>
      </p:cxnSp>
      <p:cxnSp>
        <p:nvCxnSpPr>
          <p:cNvPr id="24" name="Line 24"/>
          <p:cNvCxnSpPr/>
          <p:nvPr/>
        </p:nvCxnSpPr>
        <p:spPr>
          <a:xfrm>
            <a:off x="9315298" y="1732788"/>
            <a:ext cx="0" cy="3067050"/>
          </a:xfrm>
          <a:prstGeom prst="line">
            <a:avLst/>
          </a:prstGeom>
          <a:ln w="9525" cap="flat">
            <a:solidFill>
              <a:srgbClr val="E6E8F2"/>
            </a:solidFill>
          </a:ln>
        </p:spPr>
      </p:cxnSp>
      <p:cxnSp>
        <p:nvCxnSpPr>
          <p:cNvPr id="25" name="Line 25"/>
          <p:cNvCxnSpPr/>
          <p:nvPr/>
        </p:nvCxnSpPr>
        <p:spPr>
          <a:xfrm>
            <a:off x="6610198" y="4799838"/>
            <a:ext cx="2705100" cy="0"/>
          </a:xfrm>
          <a:prstGeom prst="line">
            <a:avLst/>
          </a:prstGeom>
          <a:ln w="9525" cap="flat">
            <a:solidFill>
              <a:srgbClr val="E6E8F2"/>
            </a:solidFill>
          </a:ln>
        </p:spPr>
      </p:cxnSp>
      <p:cxnSp>
        <p:nvCxnSpPr>
          <p:cNvPr id="26" name="Line 26"/>
          <p:cNvCxnSpPr/>
          <p:nvPr/>
        </p:nvCxnSpPr>
        <p:spPr>
          <a:xfrm>
            <a:off x="6610198" y="4608147"/>
            <a:ext cx="2705100" cy="0"/>
          </a:xfrm>
          <a:prstGeom prst="line">
            <a:avLst/>
          </a:prstGeom>
          <a:ln w="9525" cap="flat">
            <a:solidFill>
              <a:srgbClr val="E6E8F2"/>
            </a:solidFill>
          </a:ln>
        </p:spPr>
      </p:cxnSp>
      <p:cxnSp>
        <p:nvCxnSpPr>
          <p:cNvPr id="27" name="Line 27"/>
          <p:cNvCxnSpPr/>
          <p:nvPr/>
        </p:nvCxnSpPr>
        <p:spPr>
          <a:xfrm>
            <a:off x="6610198" y="4416457"/>
            <a:ext cx="2705100" cy="0"/>
          </a:xfrm>
          <a:prstGeom prst="line">
            <a:avLst/>
          </a:prstGeom>
          <a:ln w="9525" cap="flat">
            <a:solidFill>
              <a:srgbClr val="E6E8F2"/>
            </a:solidFill>
          </a:ln>
        </p:spPr>
      </p:cxnSp>
      <p:cxnSp>
        <p:nvCxnSpPr>
          <p:cNvPr id="28" name="Line 28"/>
          <p:cNvCxnSpPr/>
          <p:nvPr/>
        </p:nvCxnSpPr>
        <p:spPr>
          <a:xfrm>
            <a:off x="6610198" y="4224766"/>
            <a:ext cx="2705100" cy="0"/>
          </a:xfrm>
          <a:prstGeom prst="line">
            <a:avLst/>
          </a:prstGeom>
          <a:ln w="9525" cap="flat">
            <a:solidFill>
              <a:srgbClr val="E6E8F2"/>
            </a:solidFill>
          </a:ln>
        </p:spPr>
      </p:cxnSp>
      <p:cxnSp>
        <p:nvCxnSpPr>
          <p:cNvPr id="29" name="Line 29"/>
          <p:cNvCxnSpPr/>
          <p:nvPr/>
        </p:nvCxnSpPr>
        <p:spPr>
          <a:xfrm>
            <a:off x="6610198" y="4033075"/>
            <a:ext cx="2705100" cy="0"/>
          </a:xfrm>
          <a:prstGeom prst="line">
            <a:avLst/>
          </a:prstGeom>
          <a:ln w="9525" cap="flat">
            <a:solidFill>
              <a:srgbClr val="E6E8F2"/>
            </a:solidFill>
          </a:ln>
        </p:spPr>
      </p:cxnSp>
      <p:cxnSp>
        <p:nvCxnSpPr>
          <p:cNvPr id="30" name="Line 30"/>
          <p:cNvCxnSpPr/>
          <p:nvPr/>
        </p:nvCxnSpPr>
        <p:spPr>
          <a:xfrm>
            <a:off x="6610198" y="3841385"/>
            <a:ext cx="2705100" cy="0"/>
          </a:xfrm>
          <a:prstGeom prst="line">
            <a:avLst/>
          </a:prstGeom>
          <a:ln w="9525" cap="flat">
            <a:solidFill>
              <a:srgbClr val="E6E8F2"/>
            </a:solidFill>
          </a:ln>
        </p:spPr>
      </p:cxnSp>
      <p:cxnSp>
        <p:nvCxnSpPr>
          <p:cNvPr id="31" name="Line 31"/>
          <p:cNvCxnSpPr/>
          <p:nvPr/>
        </p:nvCxnSpPr>
        <p:spPr>
          <a:xfrm>
            <a:off x="6610198" y="3649694"/>
            <a:ext cx="2705100" cy="0"/>
          </a:xfrm>
          <a:prstGeom prst="line">
            <a:avLst/>
          </a:prstGeom>
          <a:ln w="9525" cap="flat">
            <a:solidFill>
              <a:srgbClr val="E6E8F2"/>
            </a:solidFill>
          </a:ln>
        </p:spPr>
      </p:cxnSp>
      <p:cxnSp>
        <p:nvCxnSpPr>
          <p:cNvPr id="32" name="Line 32"/>
          <p:cNvCxnSpPr/>
          <p:nvPr/>
        </p:nvCxnSpPr>
        <p:spPr>
          <a:xfrm>
            <a:off x="6610198" y="3458004"/>
            <a:ext cx="2705100" cy="0"/>
          </a:xfrm>
          <a:prstGeom prst="line">
            <a:avLst/>
          </a:prstGeom>
          <a:ln w="9525" cap="flat">
            <a:solidFill>
              <a:srgbClr val="E6E8F2"/>
            </a:solidFill>
          </a:ln>
        </p:spPr>
      </p:cxnSp>
      <p:cxnSp>
        <p:nvCxnSpPr>
          <p:cNvPr id="33" name="Line 33"/>
          <p:cNvCxnSpPr/>
          <p:nvPr/>
        </p:nvCxnSpPr>
        <p:spPr>
          <a:xfrm>
            <a:off x="6610198" y="3266313"/>
            <a:ext cx="2705100" cy="0"/>
          </a:xfrm>
          <a:prstGeom prst="line">
            <a:avLst/>
          </a:prstGeom>
          <a:ln w="9525" cap="flat">
            <a:solidFill>
              <a:srgbClr val="E6E8F2"/>
            </a:solidFill>
          </a:ln>
        </p:spPr>
      </p:cxnSp>
      <p:cxnSp>
        <p:nvCxnSpPr>
          <p:cNvPr id="34" name="Line 34"/>
          <p:cNvCxnSpPr/>
          <p:nvPr/>
        </p:nvCxnSpPr>
        <p:spPr>
          <a:xfrm>
            <a:off x="6610198" y="3074622"/>
            <a:ext cx="2705100" cy="0"/>
          </a:xfrm>
          <a:prstGeom prst="line">
            <a:avLst/>
          </a:prstGeom>
          <a:ln w="9525" cap="flat">
            <a:solidFill>
              <a:srgbClr val="E6E8F2"/>
            </a:solidFill>
          </a:ln>
        </p:spPr>
      </p:cxnSp>
      <p:cxnSp>
        <p:nvCxnSpPr>
          <p:cNvPr id="35" name="Line 35"/>
          <p:cNvCxnSpPr/>
          <p:nvPr/>
        </p:nvCxnSpPr>
        <p:spPr>
          <a:xfrm>
            <a:off x="6610198" y="2882932"/>
            <a:ext cx="2705100" cy="0"/>
          </a:xfrm>
          <a:prstGeom prst="line">
            <a:avLst/>
          </a:prstGeom>
          <a:ln w="9525" cap="flat">
            <a:solidFill>
              <a:srgbClr val="E6E8F2"/>
            </a:solidFill>
          </a:ln>
        </p:spPr>
      </p:cxnSp>
      <p:cxnSp>
        <p:nvCxnSpPr>
          <p:cNvPr id="36" name="Line 36"/>
          <p:cNvCxnSpPr/>
          <p:nvPr/>
        </p:nvCxnSpPr>
        <p:spPr>
          <a:xfrm>
            <a:off x="6610198" y="2691241"/>
            <a:ext cx="2705100" cy="0"/>
          </a:xfrm>
          <a:prstGeom prst="line">
            <a:avLst/>
          </a:prstGeom>
          <a:ln w="9525" cap="flat">
            <a:solidFill>
              <a:srgbClr val="E6E8F2"/>
            </a:solidFill>
          </a:ln>
        </p:spPr>
      </p:cxnSp>
      <p:cxnSp>
        <p:nvCxnSpPr>
          <p:cNvPr id="37" name="Line 37"/>
          <p:cNvCxnSpPr/>
          <p:nvPr/>
        </p:nvCxnSpPr>
        <p:spPr>
          <a:xfrm>
            <a:off x="6610198" y="2499550"/>
            <a:ext cx="2705100" cy="0"/>
          </a:xfrm>
          <a:prstGeom prst="line">
            <a:avLst/>
          </a:prstGeom>
          <a:ln w="9525" cap="flat">
            <a:solidFill>
              <a:srgbClr val="E6E8F2"/>
            </a:solidFill>
          </a:ln>
        </p:spPr>
      </p:cxnSp>
      <p:cxnSp>
        <p:nvCxnSpPr>
          <p:cNvPr id="38" name="Line 38"/>
          <p:cNvCxnSpPr/>
          <p:nvPr/>
        </p:nvCxnSpPr>
        <p:spPr>
          <a:xfrm>
            <a:off x="6610198" y="2307860"/>
            <a:ext cx="2705100" cy="0"/>
          </a:xfrm>
          <a:prstGeom prst="line">
            <a:avLst/>
          </a:prstGeom>
          <a:ln w="9525" cap="flat">
            <a:solidFill>
              <a:srgbClr val="E6E8F2"/>
            </a:solidFill>
          </a:ln>
        </p:spPr>
      </p:cxnSp>
      <p:cxnSp>
        <p:nvCxnSpPr>
          <p:cNvPr id="39" name="Line 39"/>
          <p:cNvCxnSpPr/>
          <p:nvPr/>
        </p:nvCxnSpPr>
        <p:spPr>
          <a:xfrm>
            <a:off x="6610198" y="2116169"/>
            <a:ext cx="2705100" cy="0"/>
          </a:xfrm>
          <a:prstGeom prst="line">
            <a:avLst/>
          </a:prstGeom>
          <a:ln w="9525" cap="flat">
            <a:solidFill>
              <a:srgbClr val="E6E8F2"/>
            </a:solidFill>
          </a:ln>
        </p:spPr>
      </p:cxnSp>
      <p:cxnSp>
        <p:nvCxnSpPr>
          <p:cNvPr id="40" name="Line 40"/>
          <p:cNvCxnSpPr/>
          <p:nvPr/>
        </p:nvCxnSpPr>
        <p:spPr>
          <a:xfrm>
            <a:off x="6610198" y="1924479"/>
            <a:ext cx="2705100" cy="0"/>
          </a:xfrm>
          <a:prstGeom prst="line">
            <a:avLst/>
          </a:prstGeom>
          <a:ln w="9525" cap="flat">
            <a:solidFill>
              <a:srgbClr val="E6E8F2"/>
            </a:solidFill>
          </a:ln>
        </p:spPr>
      </p:cxnSp>
      <p:cxnSp>
        <p:nvCxnSpPr>
          <p:cNvPr id="41" name="Line 41"/>
          <p:cNvCxnSpPr/>
          <p:nvPr/>
        </p:nvCxnSpPr>
        <p:spPr>
          <a:xfrm>
            <a:off x="6610198" y="1732788"/>
            <a:ext cx="2705100" cy="0"/>
          </a:xfrm>
          <a:prstGeom prst="line">
            <a:avLst/>
          </a:prstGeom>
          <a:ln w="9525" cap="flat">
            <a:solidFill>
              <a:srgbClr val="E6E8F2"/>
            </a:solidFill>
          </a:ln>
        </p:spPr>
      </p:cxnSp>
      <p:cxnSp>
        <p:nvCxnSpPr>
          <p:cNvPr id="42" name="Line 42"/>
          <p:cNvCxnSpPr/>
          <p:nvPr/>
        </p:nvCxnSpPr>
        <p:spPr>
          <a:xfrm>
            <a:off x="7962748" y="1732788"/>
            <a:ext cx="0" cy="3067050"/>
          </a:xfrm>
          <a:prstGeom prst="line">
            <a:avLst/>
          </a:prstGeom>
          <a:ln w="19050" cap="flat">
            <a:solidFill>
              <a:srgbClr val="5F6272"/>
            </a:solidFill>
          </a:ln>
        </p:spPr>
      </p:cxnSp>
      <p:cxnSp>
        <p:nvCxnSpPr>
          <p:cNvPr id="43" name="Line 43"/>
          <p:cNvCxnSpPr/>
          <p:nvPr/>
        </p:nvCxnSpPr>
        <p:spPr>
          <a:xfrm>
            <a:off x="6610198" y="3266313"/>
            <a:ext cx="2705100" cy="0"/>
          </a:xfrm>
          <a:prstGeom prst="line">
            <a:avLst/>
          </a:prstGeom>
          <a:ln w="19050" cap="flat">
            <a:solidFill>
              <a:srgbClr val="5F6272"/>
            </a:solidFill>
          </a:ln>
        </p:spPr>
      </p:cxnSp>
      <p:sp>
        <p:nvSpPr>
          <p:cNvPr id="44" name="Shape 44"/>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78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2375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76884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1392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85901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90409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6043270"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txBox="1"/>
          <p:nvPr/>
        </p:nvSpPr>
        <p:spPr>
          <a:xfrm>
            <a:off x="6043270"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7" name="Shape 57"/>
          <p:cNvSpPr txBox="1"/>
          <p:nvPr/>
        </p:nvSpPr>
        <p:spPr>
          <a:xfrm>
            <a:off x="6043270"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8" name="Shape 58"/>
          <p:cNvSpPr txBox="1"/>
          <p:nvPr/>
        </p:nvSpPr>
        <p:spPr>
          <a:xfrm>
            <a:off x="6043270"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0" name="Line 60"/>
          <p:cNvCxnSpPr/>
          <p:nvPr/>
        </p:nvCxnSpPr>
        <p:spPr>
          <a:xfrm flipV="1">
            <a:off x="7173760" y="1732788"/>
            <a:ext cx="1803400" cy="3067050"/>
          </a:xfrm>
          <a:prstGeom prst="line">
            <a:avLst/>
          </a:prstGeom>
          <a:ln w="38100" cap="rnd">
            <a:solidFill>
              <a:srgbClr val="16171D"/>
            </a:solidFill>
          </a:ln>
        </p:spPr>
      </p:cxnSp>
      <p:sp>
        <p:nvSpPr>
          <p:cNvPr id="61" name="Shape 61"/>
          <p:cNvSpPr txBox="1"/>
          <p:nvPr/>
        </p:nvSpPr>
        <p:spPr>
          <a:xfrm>
            <a:off x="64854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2" name="Line 62"/>
          <p:cNvCxnSpPr/>
          <p:nvPr/>
        </p:nvCxnSpPr>
        <p:spPr>
          <a:xfrm flipV="1">
            <a:off x="6722910" y="1732788"/>
            <a:ext cx="1803400" cy="3067050"/>
          </a:xfrm>
          <a:prstGeom prst="line">
            <a:avLst/>
          </a:prstGeom>
          <a:ln w="38100" cap="rnd">
            <a:solidFill>
              <a:srgbClr val="4F8A3C"/>
            </a:solidFill>
          </a:ln>
        </p:spPr>
      </p:cxnSp>
      <p:sp>
        <p:nvSpPr>
          <p:cNvPr id="63" name="Shape 63"/>
          <p:cNvSpPr txBox="1"/>
          <p:nvPr/>
        </p:nvSpPr>
        <p:spPr>
          <a:xfrm>
            <a:off x="60345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4" name="Line 64"/>
          <p:cNvCxnSpPr/>
          <p:nvPr/>
        </p:nvCxnSpPr>
        <p:spPr>
          <a:xfrm flipV="1">
            <a:off x="6610198" y="1732788"/>
            <a:ext cx="1465262" cy="2491978"/>
          </a:xfrm>
          <a:prstGeom prst="line">
            <a:avLst/>
          </a:prstGeom>
          <a:ln w="38100" cap="rnd">
            <a:solidFill>
              <a:srgbClr val="7A4FC4"/>
            </a:solidFill>
          </a:ln>
        </p:spPr>
      </p:cxnSp>
      <p:sp>
        <p:nvSpPr>
          <p:cNvPr id="65" name="Shape 65"/>
          <p:cNvSpPr txBox="1"/>
          <p:nvPr/>
        </p:nvSpPr>
        <p:spPr>
          <a:xfrm>
            <a:off x="5583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ppt_w</p:attrName>
                                        </p:attrNameLst>
                                      </p:cBhvr>
                                      <p:tavLst>
                                        <p:tav tm="0">
                                          <p:val>
                                            <p:fltVal val="0"/>
                                          </p:val>
                                        </p:tav>
                                        <p:tav tm="100000">
                                          <p:val>
                                            <p:strVal val="#ppt_w"/>
                                          </p:val>
                                        </p:tav>
                                      </p:tavLst>
                                    </p:anim>
                                    <p:anim calcmode="lin" valueType="num">
                                      <p:cBhvr>
                                        <p:cTn id="27"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p:cTn id="33" dur="500" fill="hold"/>
                                        <p:tgtEl>
                                          <p:spTgt spid="10"/>
                                        </p:tgtEl>
                                        <p:attrNameLst>
                                          <p:attrName>ppt_x</p:attrName>
                                        </p:attrNameLst>
                                      </p:cBhvr>
                                      <p:tavLst>
                                        <p:tav tm="0">
                                          <p:val>
                                            <p:strVal val="#ppt_x"/>
                                          </p:val>
                                        </p:tav>
                                        <p:tav tm="100000">
                                          <p:val>
                                            <p:strVal val="#ppt_x"/>
                                          </p:val>
                                        </p:tav>
                                      </p:tavLst>
                                    </p:anim>
                                    <p:anim calcmode="lin" valueType="num">
                                      <p:cBhvr>
                                        <p:cTn id="3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0" presetID="22" presetClass="entr" presetSubtype="8" fill="hold" nodeType="click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700"/>
                                        <p:tgtEl>
                                          <p:spTgt spid="62"/>
                                        </p:tgtEl>
                                      </p:cBhvr>
                                    </p:animEffect>
                                  </p:childTnLst>
                                </p:cTn>
                              </p:par>
                              <p:par>
                                <p:cTn id="43" presetID="22" presetClass="entr" presetSubtype="8" fill="hold" nodeType="withEffect">
                                  <p:stCondLst>
                                    <p:cond delay="0"/>
                                  </p:stCondLst>
                                  <p:childTnLst>
                                    <p:set>
                                      <p:cBhvr>
                                        <p:cTn id="41" dur="1" fill="hold">
                                          <p:stCondLst>
                                            <p:cond delay="0"/>
                                          </p:stCondLst>
                                        </p:cTn>
                                        <p:tgtEl>
                                          <p:spTgt spid="63"/>
                                        </p:tgtEl>
                                        <p:attrNameLst>
                                          <p:attrName>style.visibility</p:attrName>
                                        </p:attrNameLst>
                                      </p:cBhvr>
                                      <p:to>
                                        <p:strVal val="visible"/>
                                      </p:to>
                                    </p:set>
                                    <p:animEffect transition="in" filter="wipe(left)">
                                      <p:cBhvr>
                                        <p:cTn id="42" dur="700"/>
                                        <p:tgtEl>
                                          <p:spTgt spid="63"/>
                                        </p:tgtEl>
                                      </p:cBhvr>
                                    </p:animEffect>
                                  </p:childTnLst>
                                </p:cTn>
                              </p:par>
                            </p:childTnLst>
                          </p:cTn>
                        </p:par>
                      </p:childTnLst>
                    </p:cTn>
                  </p:par>
                  <p:par>
                    <p:cTn id="52" fill="hold">
                      <p:stCondLst>
                        <p:cond delay="indefinite"/>
                      </p:stCondLst>
                      <p:childTnLst>
                        <p:par>
                          <p:cTn id="53"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64"/>
                                        </p:tgtEl>
                                        <p:attrNameLst>
                                          <p:attrName>style.visibility</p:attrName>
                                        </p:attrNameLst>
                                      </p:cBhvr>
                                      <p:to>
                                        <p:strVal val="visible"/>
                                      </p:to>
                                    </p:set>
                                    <p:animEffect transition="in" filter="wipe(left)">
                                      <p:cBhvr>
                                        <p:cTn id="47" dur="700"/>
                                        <p:tgtEl>
                                          <p:spTgt spid="64"/>
                                        </p:tgtEl>
                                      </p:cBhvr>
                                    </p:animEffect>
                                  </p:childTnLst>
                                </p:cTn>
                              </p:par>
                              <p:par>
                                <p:cTn id="51" presetID="22" presetClass="entr" presetSubtype="8" fill="hold" nodeType="withEffect">
                                  <p:stCondLst>
                                    <p:cond delay="0"/>
                                  </p:stCondLst>
                                  <p:childTnLst>
                                    <p:set>
                                      <p:cBhvr>
                                        <p:cTn id="49" dur="1" fill="hold">
                                          <p:stCondLst>
                                            <p:cond delay="0"/>
                                          </p:stCondLst>
                                        </p:cTn>
                                        <p:tgtEl>
                                          <p:spTgt spid="65"/>
                                        </p:tgtEl>
                                        <p:attrNameLst>
                                          <p:attrName>style.visibility</p:attrName>
                                        </p:attrNameLst>
                                      </p:cBhvr>
                                      <p:to>
                                        <p:strVal val="visible"/>
                                      </p:to>
                                    </p:set>
                                    <p:animEffect transition="in" filter="wipe(left)">
                                      <p:cBhvr>
                                        <p:cTn id="50"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of linear functions</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Inside the parentheses changes the </a:t>
            </a:r>
            <a:r>
              <a:rPr lang="en-US" sz="1950" dirty="0" b="1">
                <a:solidFill>
                  <a:srgbClr val="16171D"/>
                </a:solidFill>
                <a:latin typeface="Segoe UI"/>
                <a:cs typeface="Segoe UI"/>
              </a:rPr>
              <a:t xml:space="preserve">input</a:t>
            </a:r>
            <a:r>
              <a:rPr lang="en-US" sz="1950" dirty="0">
                <a:solidFill>
                  <a:srgbClr val="16171D"/>
                </a:solidFill>
                <a:latin typeface="Segoe UI"/>
                <a:cs typeface="Segoe UI"/>
              </a:rPr>
              <a:t xml:space="preserve"> (horizontal); outside changes the </a:t>
            </a:r>
            <a:r>
              <a:rPr lang="en-US" sz="1950" dirty="0" b="1">
                <a:solidFill>
                  <a:srgbClr val="16171D"/>
                </a:solidFill>
                <a:latin typeface="Segoe UI"/>
                <a:cs typeface="Segoe UI"/>
              </a:rPr>
              <a:t xml:space="preserve">output</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moves right </a:t>
            </a:r>
            <a:r>
              <a:rPr lang="en-US" sz="1950" dirty="0" i="1">
                <a:solidFill>
                  <a:srgbClr val="16171D"/>
                </a:solidFill>
                <a:latin typeface="Cambria"/>
                <a:cs typeface="Cambria"/>
              </a:rPr>
              <a:t xml:space="preserve">c</a:t>
            </a:r>
            <a:r>
              <a:rPr lang="en-US" sz="1950" dirty="0">
                <a:solidFill>
                  <a:srgbClr val="16171D"/>
                </a:solidFill>
                <a:latin typeface="Segoe UI"/>
                <a:cs typeface="Segoe UI"/>
              </a:rPr>
              <a:t xml:space="preserve">; the sign flips.</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does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match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Start at the next slide, “Start: Tuesday, October 27.”</a:t>
            </a:r>
            <a:endParaRPr lang="en-US" sz="225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Tuesday, October 27</a:t>
            </a:r>
            <a:endParaRPr lang="en-US" sz="5700" dirty="0"/>
          </a:p>
        </p:txBody>
      </p:sp>
      <p:sp>
        <p:nvSpPr>
          <p:cNvPr id="4" name="Shape 4"/>
          <p:cNvSpPr txBox="1"/>
          <p:nvPr/>
        </p:nvSpPr>
        <p:spPr>
          <a:xfrm>
            <a:off x="685800" y="241858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hape 5"/>
          <p:cNvSpPr txBox="1"/>
          <p:nvPr/>
        </p:nvSpPr>
        <p:spPr>
          <a:xfrm>
            <a:off x="685800" y="296494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What effect do horizontal transformations have on linear functions? How do they compare to vertical transformations?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the same as the graph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295)</a:t>
            </a:r>
            <a:endParaRPr lang="en-US" sz="1950" dirty="0"/>
          </a:p>
        </p:txBody>
      </p:sp>
      <p:sp>
        <p:nvSpPr>
          <p:cNvPr id="11" name="Shape 11"/>
          <p:cNvSpPr txBox="1"/>
          <p:nvPr/>
        </p:nvSpPr>
        <p:spPr>
          <a:xfrm>
            <a:off x="6362548" y="4026408"/>
            <a:ext cx="51433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both are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Getting Started · Tables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A</a:t>
            </a:r>
            <a:endParaRPr lang="en-US" sz="2100" dirty="0"/>
          </a:p>
        </p:txBody>
      </p:sp>
      <p:sp>
        <p:nvSpPr>
          <p:cNvPr id="5" name="Shape 5"/>
          <p:cNvSpPr txBox="1"/>
          <p:nvPr/>
        </p:nvSpPr>
        <p:spPr>
          <a:xfrm>
            <a:off x="685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8" name="Shape 8"/>
          <p:cNvSpPr txBox="1"/>
          <p:nvPr/>
        </p:nvSpPr>
        <p:spPr>
          <a:xfrm>
            <a:off x="1828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9" name="Shape 9"/>
          <p:cNvSpPr txBox="1"/>
          <p:nvPr/>
        </p:nvSpPr>
        <p:spPr>
          <a:xfrm>
            <a:off x="685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0" name="Shape 10"/>
          <p:cNvSpPr txBox="1"/>
          <p:nvPr/>
        </p:nvSpPr>
        <p:spPr>
          <a:xfrm>
            <a:off x="1828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1" name="Shape 11"/>
          <p:cNvSpPr txBox="1"/>
          <p:nvPr/>
        </p:nvSpPr>
        <p:spPr>
          <a:xfrm>
            <a:off x="685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2" name="Shape 12"/>
          <p:cNvSpPr txBox="1"/>
          <p:nvPr/>
        </p:nvSpPr>
        <p:spPr>
          <a:xfrm>
            <a:off x="1828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3" name="Shape 13"/>
          <p:cNvSpPr txBox="1"/>
          <p:nvPr/>
        </p:nvSpPr>
        <p:spPr>
          <a:xfrm>
            <a:off x="685800"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The input 1 has three different outputs.</a:t>
            </a:r>
            <a:endParaRPr lang="en-US" sz="1575" dirty="0"/>
          </a:p>
        </p:txBody>
      </p:sp>
      <p:sp>
        <p:nvSpPr>
          <p:cNvPr id="14" name="Shape 14"/>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B</a:t>
            </a:r>
            <a:endParaRPr lang="en-US" sz="2100" dirty="0"/>
          </a:p>
        </p:txBody>
      </p:sp>
      <p:sp>
        <p:nvSpPr>
          <p:cNvPr id="15" name="Shape 15"/>
          <p:cNvSpPr txBox="1"/>
          <p:nvPr/>
        </p:nvSpPr>
        <p:spPr>
          <a:xfrm>
            <a:off x="4419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16" name="Shape 16"/>
          <p:cNvSpPr txBox="1"/>
          <p:nvPr/>
        </p:nvSpPr>
        <p:spPr>
          <a:xfrm>
            <a:off x="5562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17" name="Shape 17"/>
          <p:cNvSpPr txBox="1"/>
          <p:nvPr/>
        </p:nvSpPr>
        <p:spPr>
          <a:xfrm>
            <a:off x="4419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18" name="Shape 18"/>
          <p:cNvSpPr txBox="1"/>
          <p:nvPr/>
        </p:nvSpPr>
        <p:spPr>
          <a:xfrm>
            <a:off x="5562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9" name="Shape 19"/>
          <p:cNvSpPr txBox="1"/>
          <p:nvPr/>
        </p:nvSpPr>
        <p:spPr>
          <a:xfrm>
            <a:off x="4419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20" name="Shape 20"/>
          <p:cNvSpPr txBox="1"/>
          <p:nvPr/>
        </p:nvSpPr>
        <p:spPr>
          <a:xfrm>
            <a:off x="5562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1" name="Shape 21"/>
          <p:cNvSpPr txBox="1"/>
          <p:nvPr/>
        </p:nvSpPr>
        <p:spPr>
          <a:xfrm>
            <a:off x="4419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22" name="Shape 22"/>
          <p:cNvSpPr txBox="1"/>
          <p:nvPr/>
        </p:nvSpPr>
        <p:spPr>
          <a:xfrm>
            <a:off x="5562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3" name="Shape 23"/>
          <p:cNvSpPr txBox="1"/>
          <p:nvPr/>
        </p:nvSpPr>
        <p:spPr>
          <a:xfrm>
            <a:off x="4419498"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The output never changes: a horizontal line, slope 0.</a:t>
            </a:r>
            <a:endParaRPr lang="en-US" sz="1575" dirty="0"/>
          </a:p>
        </p:txBody>
      </p:sp>
      <p:sp>
        <p:nvSpPr>
          <p:cNvPr id="24" name="Shape 24"/>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C</a:t>
            </a:r>
            <a:endParaRPr lang="en-US" sz="2100" dirty="0"/>
          </a:p>
        </p:txBody>
      </p:sp>
      <p:sp>
        <p:nvSpPr>
          <p:cNvPr id="25" name="Shape 25"/>
          <p:cNvSpPr txBox="1"/>
          <p:nvPr/>
        </p:nvSpPr>
        <p:spPr>
          <a:xfrm>
            <a:off x="8153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26" name="Shape 26"/>
          <p:cNvSpPr txBox="1"/>
          <p:nvPr/>
        </p:nvSpPr>
        <p:spPr>
          <a:xfrm>
            <a:off x="9296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27" name="Shape 27"/>
          <p:cNvSpPr txBox="1"/>
          <p:nvPr/>
        </p:nvSpPr>
        <p:spPr>
          <a:xfrm>
            <a:off x="8153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−9</a:t>
            </a:r>
            <a:endParaRPr lang="en-US" sz="2250" dirty="0"/>
          </a:p>
        </p:txBody>
      </p:sp>
      <p:sp>
        <p:nvSpPr>
          <p:cNvPr id="28" name="Shape 28"/>
          <p:cNvSpPr txBox="1"/>
          <p:nvPr/>
        </p:nvSpPr>
        <p:spPr>
          <a:xfrm>
            <a:off x="9296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45</a:t>
            </a:r>
            <a:endParaRPr lang="en-US" sz="2250" dirty="0"/>
          </a:p>
        </p:txBody>
      </p:sp>
      <p:sp>
        <p:nvSpPr>
          <p:cNvPr id="29" name="Shape 29"/>
          <p:cNvSpPr txBox="1"/>
          <p:nvPr/>
        </p:nvSpPr>
        <p:spPr>
          <a:xfrm>
            <a:off x="8153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−8</a:t>
            </a:r>
            <a:endParaRPr lang="en-US" sz="2250" dirty="0"/>
          </a:p>
        </p:txBody>
      </p:sp>
      <p:sp>
        <p:nvSpPr>
          <p:cNvPr id="30" name="Shape 30"/>
          <p:cNvSpPr txBox="1"/>
          <p:nvPr/>
        </p:nvSpPr>
        <p:spPr>
          <a:xfrm>
            <a:off x="9296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30</a:t>
            </a:r>
            <a:endParaRPr lang="en-US" sz="2250" dirty="0"/>
          </a:p>
        </p:txBody>
      </p:sp>
      <p:sp>
        <p:nvSpPr>
          <p:cNvPr id="31" name="Shape 31"/>
          <p:cNvSpPr txBox="1"/>
          <p:nvPr/>
        </p:nvSpPr>
        <p:spPr>
          <a:xfrm>
            <a:off x="8153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32" name="Shape 32"/>
          <p:cNvSpPr txBox="1"/>
          <p:nvPr/>
        </p:nvSpPr>
        <p:spPr>
          <a:xfrm>
            <a:off x="9296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15</a:t>
            </a:r>
            <a:endParaRPr lang="en-US" sz="2250" dirty="0"/>
          </a:p>
        </p:txBody>
      </p:sp>
      <p:sp>
        <p:nvSpPr>
          <p:cNvPr id="33" name="Shape 33"/>
          <p:cNvSpPr txBox="1"/>
          <p:nvPr/>
        </p:nvSpPr>
        <p:spPr>
          <a:xfrm>
            <a:off x="8153197"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goes up by 1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goes down by 15 each time.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anim calcmode="lin" valueType="num">
                                      <p:cBhvr>
                                        <p:cTn id="12" dur="500" fill="hold"/>
                                        <p:tgtEl>
                                          <p:spTgt spid="23"/>
                                        </p:tgtEl>
                                        <p:attrNameLst>
                                          <p:attrName>ppt_x</p:attrName>
                                        </p:attrNameLst>
                                      </p:cBhvr>
                                      <p:tavLst>
                                        <p:tav tm="0">
                                          <p:val>
                                            <p:strVal val="#ppt_x"/>
                                          </p:val>
                                        </p:tav>
                                        <p:tav tm="100000">
                                          <p:val>
                                            <p:strVal val="#ppt_x"/>
                                          </p:val>
                                        </p:tav>
                                      </p:tavLst>
                                    </p:anim>
                                    <p:anim calcmode="lin" valueType="num">
                                      <p:cBhvr>
                                        <p:cTn id="13"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500"/>
                                        <p:tgtEl>
                                          <p:spTgt spid="33"/>
                                        </p:tgtEl>
                                      </p:cBhvr>
                                    </p:animEffect>
                                    <p:anim calcmode="lin" valueType="num">
                                      <p:cBhvr>
                                        <p:cTn id="19" dur="500" fill="hold"/>
                                        <p:tgtEl>
                                          <p:spTgt spid="33"/>
                                        </p:tgtEl>
                                        <p:attrNameLst>
                                          <p:attrName>ppt_x</p:attrName>
                                        </p:attrNameLst>
                                      </p:cBhvr>
                                      <p:tavLst>
                                        <p:tav tm="0">
                                          <p:val>
                                            <p:strVal val="#ppt_x"/>
                                          </p:val>
                                        </p:tav>
                                        <p:tav tm="100000">
                                          <p:val>
                                            <p:strVal val="#ppt_x"/>
                                          </p:val>
                                        </p:tav>
                                      </p:tavLst>
                                    </p:anim>
                                    <p:anim calcmode="lin" valueType="num">
                                      <p:cBhvr>
                                        <p:cTn id="20"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Comparing Vertical and Horizontal Dilations · SE pp. 295–296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Change the outputs or the inputs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2: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7" name="Shape 27"/>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½: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0" name="Shape 30"/>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2" name="Shape 32"/>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36" name="Shape 36"/>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44" name="Shape 44"/>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8" name="Shape 48"/>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p:nvPr/>
        </p:nvSpPr>
        <p:spPr>
          <a:xfrm>
            <a:off x="8153197"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1" name="Line 51"/>
          <p:cNvCxnSpPr/>
          <p:nvPr/>
        </p:nvCxnSpPr>
        <p:spPr>
          <a:xfrm>
            <a:off x="8477047" y="1732788"/>
            <a:ext cx="0" cy="2495550"/>
          </a:xfrm>
          <a:prstGeom prst="line">
            <a:avLst/>
          </a:prstGeom>
          <a:ln w="9525" cap="flat">
            <a:solidFill>
              <a:srgbClr val="E6E8F2"/>
            </a:solidFill>
          </a:ln>
        </p:spPr>
      </p:cxnSp>
      <p:cxnSp>
        <p:nvCxnSpPr>
          <p:cNvPr id="52" name="Line 52"/>
          <p:cNvCxnSpPr/>
          <p:nvPr/>
        </p:nvCxnSpPr>
        <p:spPr>
          <a:xfrm>
            <a:off x="8779466" y="1732788"/>
            <a:ext cx="0" cy="2495550"/>
          </a:xfrm>
          <a:prstGeom prst="line">
            <a:avLst/>
          </a:prstGeom>
          <a:ln w="9525" cap="flat">
            <a:solidFill>
              <a:srgbClr val="E6E8F2"/>
            </a:solidFill>
          </a:ln>
        </p:spPr>
      </p:cxnSp>
      <p:cxnSp>
        <p:nvCxnSpPr>
          <p:cNvPr id="53" name="Line 53"/>
          <p:cNvCxnSpPr/>
          <p:nvPr/>
        </p:nvCxnSpPr>
        <p:spPr>
          <a:xfrm>
            <a:off x="9081884" y="1732788"/>
            <a:ext cx="0" cy="2495550"/>
          </a:xfrm>
          <a:prstGeom prst="line">
            <a:avLst/>
          </a:prstGeom>
          <a:ln w="9525" cap="flat">
            <a:solidFill>
              <a:srgbClr val="E6E8F2"/>
            </a:solidFill>
          </a:ln>
        </p:spPr>
      </p:cxnSp>
      <p:cxnSp>
        <p:nvCxnSpPr>
          <p:cNvPr id="54" name="Line 54"/>
          <p:cNvCxnSpPr/>
          <p:nvPr/>
        </p:nvCxnSpPr>
        <p:spPr>
          <a:xfrm>
            <a:off x="9384303" y="1732788"/>
            <a:ext cx="0" cy="2495550"/>
          </a:xfrm>
          <a:prstGeom prst="line">
            <a:avLst/>
          </a:prstGeom>
          <a:ln w="9525" cap="flat">
            <a:solidFill>
              <a:srgbClr val="E6E8F2"/>
            </a:solidFill>
          </a:ln>
        </p:spPr>
      </p:cxnSp>
      <p:cxnSp>
        <p:nvCxnSpPr>
          <p:cNvPr id="55" name="Line 55"/>
          <p:cNvCxnSpPr/>
          <p:nvPr/>
        </p:nvCxnSpPr>
        <p:spPr>
          <a:xfrm>
            <a:off x="9686722" y="1732788"/>
            <a:ext cx="0" cy="2495550"/>
          </a:xfrm>
          <a:prstGeom prst="line">
            <a:avLst/>
          </a:prstGeom>
          <a:ln w="9525" cap="flat">
            <a:solidFill>
              <a:srgbClr val="E6E8F2"/>
            </a:solidFill>
          </a:ln>
        </p:spPr>
      </p:cxnSp>
      <p:cxnSp>
        <p:nvCxnSpPr>
          <p:cNvPr id="56" name="Line 56"/>
          <p:cNvCxnSpPr/>
          <p:nvPr/>
        </p:nvCxnSpPr>
        <p:spPr>
          <a:xfrm>
            <a:off x="9989141" y="1732788"/>
            <a:ext cx="0" cy="2495550"/>
          </a:xfrm>
          <a:prstGeom prst="line">
            <a:avLst/>
          </a:prstGeom>
          <a:ln w="9525" cap="flat">
            <a:solidFill>
              <a:srgbClr val="E6E8F2"/>
            </a:solidFill>
          </a:ln>
        </p:spPr>
      </p:cxnSp>
      <p:cxnSp>
        <p:nvCxnSpPr>
          <p:cNvPr id="57" name="Line 57"/>
          <p:cNvCxnSpPr/>
          <p:nvPr/>
        </p:nvCxnSpPr>
        <p:spPr>
          <a:xfrm>
            <a:off x="10291559" y="1732788"/>
            <a:ext cx="0" cy="2495550"/>
          </a:xfrm>
          <a:prstGeom prst="line">
            <a:avLst/>
          </a:prstGeom>
          <a:ln w="9525" cap="flat">
            <a:solidFill>
              <a:srgbClr val="E6E8F2"/>
            </a:solidFill>
          </a:ln>
        </p:spPr>
      </p:cxnSp>
      <p:cxnSp>
        <p:nvCxnSpPr>
          <p:cNvPr id="58" name="Line 58"/>
          <p:cNvCxnSpPr/>
          <p:nvPr/>
        </p:nvCxnSpPr>
        <p:spPr>
          <a:xfrm>
            <a:off x="10593978" y="1732788"/>
            <a:ext cx="0" cy="2495550"/>
          </a:xfrm>
          <a:prstGeom prst="line">
            <a:avLst/>
          </a:prstGeom>
          <a:ln w="9525" cap="flat">
            <a:solidFill>
              <a:srgbClr val="E6E8F2"/>
            </a:solidFill>
          </a:ln>
        </p:spPr>
      </p:cxnSp>
      <p:cxnSp>
        <p:nvCxnSpPr>
          <p:cNvPr id="59" name="Line 59"/>
          <p:cNvCxnSpPr/>
          <p:nvPr/>
        </p:nvCxnSpPr>
        <p:spPr>
          <a:xfrm>
            <a:off x="10896397" y="1732788"/>
            <a:ext cx="0" cy="2495550"/>
          </a:xfrm>
          <a:prstGeom prst="line">
            <a:avLst/>
          </a:prstGeom>
          <a:ln w="9525" cap="flat">
            <a:solidFill>
              <a:srgbClr val="E6E8F2"/>
            </a:solidFill>
          </a:ln>
        </p:spPr>
      </p:cxnSp>
      <p:cxnSp>
        <p:nvCxnSpPr>
          <p:cNvPr id="60" name="Line 60"/>
          <p:cNvCxnSpPr/>
          <p:nvPr/>
        </p:nvCxnSpPr>
        <p:spPr>
          <a:xfrm>
            <a:off x="8477047" y="4228338"/>
            <a:ext cx="2419350" cy="0"/>
          </a:xfrm>
          <a:prstGeom prst="line">
            <a:avLst/>
          </a:prstGeom>
          <a:ln w="9525" cap="flat">
            <a:solidFill>
              <a:srgbClr val="E6E8F2"/>
            </a:solidFill>
          </a:ln>
        </p:spPr>
      </p:cxnSp>
      <p:cxnSp>
        <p:nvCxnSpPr>
          <p:cNvPr id="61" name="Line 61"/>
          <p:cNvCxnSpPr/>
          <p:nvPr/>
        </p:nvCxnSpPr>
        <p:spPr>
          <a:xfrm>
            <a:off x="8477047" y="3978783"/>
            <a:ext cx="2419350" cy="0"/>
          </a:xfrm>
          <a:prstGeom prst="line">
            <a:avLst/>
          </a:prstGeom>
          <a:ln w="9525" cap="flat">
            <a:solidFill>
              <a:srgbClr val="E6E8F2"/>
            </a:solidFill>
          </a:ln>
        </p:spPr>
      </p:cxnSp>
      <p:cxnSp>
        <p:nvCxnSpPr>
          <p:cNvPr id="62" name="Line 62"/>
          <p:cNvCxnSpPr/>
          <p:nvPr/>
        </p:nvCxnSpPr>
        <p:spPr>
          <a:xfrm>
            <a:off x="8477047" y="3729228"/>
            <a:ext cx="2419350" cy="0"/>
          </a:xfrm>
          <a:prstGeom prst="line">
            <a:avLst/>
          </a:prstGeom>
          <a:ln w="9525" cap="flat">
            <a:solidFill>
              <a:srgbClr val="E6E8F2"/>
            </a:solidFill>
          </a:ln>
        </p:spPr>
      </p:cxnSp>
      <p:cxnSp>
        <p:nvCxnSpPr>
          <p:cNvPr id="63" name="Line 63"/>
          <p:cNvCxnSpPr/>
          <p:nvPr/>
        </p:nvCxnSpPr>
        <p:spPr>
          <a:xfrm>
            <a:off x="8477047" y="3479673"/>
            <a:ext cx="2419350" cy="0"/>
          </a:xfrm>
          <a:prstGeom prst="line">
            <a:avLst/>
          </a:prstGeom>
          <a:ln w="9525" cap="flat">
            <a:solidFill>
              <a:srgbClr val="E6E8F2"/>
            </a:solidFill>
          </a:ln>
        </p:spPr>
      </p:cxnSp>
      <p:cxnSp>
        <p:nvCxnSpPr>
          <p:cNvPr id="64" name="Line 64"/>
          <p:cNvCxnSpPr/>
          <p:nvPr/>
        </p:nvCxnSpPr>
        <p:spPr>
          <a:xfrm>
            <a:off x="8477047" y="3230118"/>
            <a:ext cx="2419350" cy="0"/>
          </a:xfrm>
          <a:prstGeom prst="line">
            <a:avLst/>
          </a:prstGeom>
          <a:ln w="9525" cap="flat">
            <a:solidFill>
              <a:srgbClr val="E6E8F2"/>
            </a:solidFill>
          </a:ln>
        </p:spPr>
      </p:cxnSp>
      <p:cxnSp>
        <p:nvCxnSpPr>
          <p:cNvPr id="65" name="Line 65"/>
          <p:cNvCxnSpPr/>
          <p:nvPr/>
        </p:nvCxnSpPr>
        <p:spPr>
          <a:xfrm>
            <a:off x="8477047" y="2980563"/>
            <a:ext cx="2419350" cy="0"/>
          </a:xfrm>
          <a:prstGeom prst="line">
            <a:avLst/>
          </a:prstGeom>
          <a:ln w="9525" cap="flat">
            <a:solidFill>
              <a:srgbClr val="E6E8F2"/>
            </a:solidFill>
          </a:ln>
        </p:spPr>
      </p:cxnSp>
      <p:cxnSp>
        <p:nvCxnSpPr>
          <p:cNvPr id="66" name="Line 66"/>
          <p:cNvCxnSpPr/>
          <p:nvPr/>
        </p:nvCxnSpPr>
        <p:spPr>
          <a:xfrm>
            <a:off x="8477047" y="2731008"/>
            <a:ext cx="2419350" cy="0"/>
          </a:xfrm>
          <a:prstGeom prst="line">
            <a:avLst/>
          </a:prstGeom>
          <a:ln w="9525" cap="flat">
            <a:solidFill>
              <a:srgbClr val="E6E8F2"/>
            </a:solidFill>
          </a:ln>
        </p:spPr>
      </p:cxnSp>
      <p:cxnSp>
        <p:nvCxnSpPr>
          <p:cNvPr id="67" name="Line 67"/>
          <p:cNvCxnSpPr/>
          <p:nvPr/>
        </p:nvCxnSpPr>
        <p:spPr>
          <a:xfrm>
            <a:off x="8477047" y="2481453"/>
            <a:ext cx="2419350" cy="0"/>
          </a:xfrm>
          <a:prstGeom prst="line">
            <a:avLst/>
          </a:prstGeom>
          <a:ln w="9525" cap="flat">
            <a:solidFill>
              <a:srgbClr val="E6E8F2"/>
            </a:solidFill>
          </a:ln>
        </p:spPr>
      </p:cxnSp>
      <p:cxnSp>
        <p:nvCxnSpPr>
          <p:cNvPr id="68" name="Line 68"/>
          <p:cNvCxnSpPr/>
          <p:nvPr/>
        </p:nvCxnSpPr>
        <p:spPr>
          <a:xfrm>
            <a:off x="8477047" y="2231898"/>
            <a:ext cx="2419350" cy="0"/>
          </a:xfrm>
          <a:prstGeom prst="line">
            <a:avLst/>
          </a:prstGeom>
          <a:ln w="9525" cap="flat">
            <a:solidFill>
              <a:srgbClr val="E6E8F2"/>
            </a:solidFill>
          </a:ln>
        </p:spPr>
      </p:cxnSp>
      <p:cxnSp>
        <p:nvCxnSpPr>
          <p:cNvPr id="69" name="Line 69"/>
          <p:cNvCxnSpPr/>
          <p:nvPr/>
        </p:nvCxnSpPr>
        <p:spPr>
          <a:xfrm>
            <a:off x="8477047" y="1982343"/>
            <a:ext cx="2419350" cy="0"/>
          </a:xfrm>
          <a:prstGeom prst="line">
            <a:avLst/>
          </a:prstGeom>
          <a:ln w="9525" cap="flat">
            <a:solidFill>
              <a:srgbClr val="E6E8F2"/>
            </a:solidFill>
          </a:ln>
        </p:spPr>
      </p:cxnSp>
      <p:cxnSp>
        <p:nvCxnSpPr>
          <p:cNvPr id="70" name="Line 70"/>
          <p:cNvCxnSpPr/>
          <p:nvPr/>
        </p:nvCxnSpPr>
        <p:spPr>
          <a:xfrm>
            <a:off x="8477047" y="1732788"/>
            <a:ext cx="2419350" cy="0"/>
          </a:xfrm>
          <a:prstGeom prst="line">
            <a:avLst/>
          </a:prstGeom>
          <a:ln w="9525" cap="flat">
            <a:solidFill>
              <a:srgbClr val="E6E8F2"/>
            </a:solidFill>
          </a:ln>
        </p:spPr>
      </p:cxnSp>
      <p:cxnSp>
        <p:nvCxnSpPr>
          <p:cNvPr id="71" name="Line 71"/>
          <p:cNvCxnSpPr/>
          <p:nvPr/>
        </p:nvCxnSpPr>
        <p:spPr>
          <a:xfrm>
            <a:off x="9686722" y="1732788"/>
            <a:ext cx="0" cy="2495550"/>
          </a:xfrm>
          <a:prstGeom prst="line">
            <a:avLst/>
          </a:prstGeom>
          <a:ln w="19050" cap="flat">
            <a:solidFill>
              <a:srgbClr val="5F6272"/>
            </a:solidFill>
          </a:ln>
        </p:spPr>
      </p:cxnSp>
      <p:cxnSp>
        <p:nvCxnSpPr>
          <p:cNvPr id="72" name="Line 72"/>
          <p:cNvCxnSpPr/>
          <p:nvPr/>
        </p:nvCxnSpPr>
        <p:spPr>
          <a:xfrm>
            <a:off x="8477047" y="2980563"/>
            <a:ext cx="2419350" cy="0"/>
          </a:xfrm>
          <a:prstGeom prst="line">
            <a:avLst/>
          </a:prstGeom>
          <a:ln w="19050" cap="flat">
            <a:solidFill>
              <a:srgbClr val="5F6272"/>
            </a:solidFill>
          </a:ln>
        </p:spPr>
      </p:cxnSp>
      <p:sp>
        <p:nvSpPr>
          <p:cNvPr id="73" name="Shape 73"/>
          <p:cNvSpPr txBox="1"/>
          <p:nvPr/>
        </p:nvSpPr>
        <p:spPr>
          <a:xfrm>
            <a:off x="820272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4" name="Shape 74"/>
          <p:cNvSpPr txBox="1"/>
          <p:nvPr/>
        </p:nvSpPr>
        <p:spPr>
          <a:xfrm>
            <a:off x="8505146"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75" name="Shape 75"/>
          <p:cNvSpPr txBox="1"/>
          <p:nvPr/>
        </p:nvSpPr>
        <p:spPr>
          <a:xfrm>
            <a:off x="880756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6" name="Shape 76"/>
          <p:cNvSpPr txBox="1"/>
          <p:nvPr/>
        </p:nvSpPr>
        <p:spPr>
          <a:xfrm>
            <a:off x="9109983"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7" name="Shape 77"/>
          <p:cNvSpPr txBox="1"/>
          <p:nvPr/>
        </p:nvSpPr>
        <p:spPr>
          <a:xfrm>
            <a:off x="9412402"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971482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9" name="Shape 79"/>
          <p:cNvSpPr txBox="1"/>
          <p:nvPr/>
        </p:nvSpPr>
        <p:spPr>
          <a:xfrm>
            <a:off x="10017239"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0" name="Shape 80"/>
          <p:cNvSpPr txBox="1"/>
          <p:nvPr/>
        </p:nvSpPr>
        <p:spPr>
          <a:xfrm>
            <a:off x="1031965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81" name="Shape 81"/>
          <p:cNvSpPr txBox="1"/>
          <p:nvPr/>
        </p:nvSpPr>
        <p:spPr>
          <a:xfrm>
            <a:off x="1062207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910119"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83" name="Shape 83"/>
          <p:cNvSpPr txBox="1"/>
          <p:nvPr/>
        </p:nvSpPr>
        <p:spPr>
          <a:xfrm>
            <a:off x="7910119" y="38873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4" name="Shape 84"/>
          <p:cNvSpPr txBox="1"/>
          <p:nvPr/>
        </p:nvSpPr>
        <p:spPr>
          <a:xfrm>
            <a:off x="7910119" y="36377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85" name="Shape 85"/>
          <p:cNvSpPr txBox="1"/>
          <p:nvPr/>
        </p:nvSpPr>
        <p:spPr>
          <a:xfrm>
            <a:off x="7910119" y="33882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7910119" y="31386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7" name="Shape 87"/>
          <p:cNvSpPr txBox="1"/>
          <p:nvPr/>
        </p:nvSpPr>
        <p:spPr>
          <a:xfrm>
            <a:off x="7910119" y="2889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7910119" y="26395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9" name="Shape 89"/>
          <p:cNvSpPr txBox="1"/>
          <p:nvPr/>
        </p:nvSpPr>
        <p:spPr>
          <a:xfrm>
            <a:off x="7910119" y="23900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0" name="Shape 90"/>
          <p:cNvSpPr txBox="1"/>
          <p:nvPr/>
        </p:nvSpPr>
        <p:spPr>
          <a:xfrm>
            <a:off x="7910119" y="21404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91" name="Shape 91"/>
          <p:cNvSpPr txBox="1"/>
          <p:nvPr/>
        </p:nvSpPr>
        <p:spPr>
          <a:xfrm>
            <a:off x="7910119" y="1890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93" name="Line 93"/>
          <p:cNvCxnSpPr/>
          <p:nvPr/>
        </p:nvCxnSpPr>
        <p:spPr>
          <a:xfrm flipV="1">
            <a:off x="8477047" y="1982343"/>
            <a:ext cx="2419350" cy="1996440"/>
          </a:xfrm>
          <a:prstGeom prst="line">
            <a:avLst/>
          </a:prstGeom>
          <a:ln w="38100" cap="rnd">
            <a:solidFill>
              <a:srgbClr val="16171D"/>
            </a:solidFill>
          </a:ln>
        </p:spPr>
      </p:cxnSp>
      <p:sp>
        <p:nvSpPr>
          <p:cNvPr id="94" name="Shape 94"/>
          <p:cNvSpPr txBox="1"/>
          <p:nvPr/>
        </p:nvSpPr>
        <p:spPr>
          <a:xfrm>
            <a:off x="8404657" y="200139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5" name="Line 95"/>
          <p:cNvCxnSpPr/>
          <p:nvPr/>
        </p:nvCxnSpPr>
        <p:spPr>
          <a:xfrm flipV="1">
            <a:off x="8930675" y="1732788"/>
            <a:ext cx="1512094" cy="2495550"/>
          </a:xfrm>
          <a:prstGeom prst="line">
            <a:avLst/>
          </a:prstGeom>
          <a:ln w="38100" cap="rnd">
            <a:solidFill>
              <a:srgbClr val="4F8A3C"/>
            </a:solidFill>
          </a:ln>
        </p:spPr>
      </p:cxnSp>
      <p:sp>
        <p:nvSpPr>
          <p:cNvPr id="96" name="Shape 96"/>
          <p:cNvSpPr txBox="1"/>
          <p:nvPr/>
        </p:nvSpPr>
        <p:spPr>
          <a:xfrm>
            <a:off x="795102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97" name="Shape 97"/>
          <p:cNvSpPr txBox="1"/>
          <p:nvPr/>
        </p:nvSpPr>
        <p:spPr>
          <a:xfrm>
            <a:off x="8153197" y="45712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the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with different tables.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45" presetID="22" presetClass="entr" presetSubtype="8" fill="hold" nodeType="clickEffect">
                                  <p:stCondLst>
                                    <p:cond delay="0"/>
                                  </p:stCondLst>
                                  <p:childTnLst>
                                    <p:set>
                                      <p:cBhvr>
                                        <p:cTn id="143" dur="1" fill="hold">
                                          <p:stCondLst>
                                            <p:cond delay="0"/>
                                          </p:stCondLst>
                                        </p:cTn>
                                        <p:tgtEl>
                                          <p:spTgt spid="95"/>
                                        </p:tgtEl>
                                        <p:attrNameLst>
                                          <p:attrName>style.visibility</p:attrName>
                                        </p:attrNameLst>
                                      </p:cBhvr>
                                      <p:to>
                                        <p:strVal val="visible"/>
                                      </p:to>
                                    </p:set>
                                    <p:animEffect transition="in" filter="wipe(left)">
                                      <p:cBhvr>
                                        <p:cTn id="144" dur="700"/>
                                        <p:tgtEl>
                                          <p:spTgt spid="95"/>
                                        </p:tgtEl>
                                      </p:cBhvr>
                                    </p:animEffect>
                                  </p:childTnLst>
                                </p:cTn>
                              </p:par>
                              <p:par>
                                <p:cTn id="148" presetID="22" presetClass="entr" presetSubtype="8" fill="hold" nodeType="withEffect">
                                  <p:stCondLst>
                                    <p:cond delay="0"/>
                                  </p:stCondLst>
                                  <p:childTnLst>
                                    <p:set>
                                      <p:cBhvr>
                                        <p:cTn id="146" dur="1" fill="hold">
                                          <p:stCondLst>
                                            <p:cond delay="0"/>
                                          </p:stCondLst>
                                        </p:cTn>
                                        <p:tgtEl>
                                          <p:spTgt spid="96"/>
                                        </p:tgtEl>
                                        <p:attrNameLst>
                                          <p:attrName>style.visibility</p:attrName>
                                        </p:attrNameLst>
                                      </p:cBhvr>
                                      <p:to>
                                        <p:strVal val="visible"/>
                                      </p:to>
                                    </p:set>
                                    <p:animEffect transition="in" filter="wipe(left)">
                                      <p:cBhvr>
                                        <p:cTn id="147" dur="700"/>
                                        <p:tgtEl>
                                          <p:spTgt spid="96"/>
                                        </p:tgtEl>
                                      </p:cBhvr>
                                    </p:animEffect>
                                  </p:childTnLst>
                                </p:cTn>
                              </p:par>
                            </p:childTnLst>
                          </p:cTn>
                        </p:par>
                      </p:childTnLst>
                    </p:cTn>
                  </p:par>
                  <p:par>
                    <p:cTn id="156" fill="hold">
                      <p:stCondLst>
                        <p:cond delay="indefinite"/>
                      </p:stCondLst>
                      <p:childTnLst>
                        <p:par>
                          <p:cTn id="157" fill="hold">
                            <p:stCondLst>
                              <p:cond delay="0"/>
                            </p:stCondLst>
                            <p:childTnLst>
                              <p:par>
                                <p:cTn id="155" presetID="42" presetClass="entr" presetSubtype="0" fill="hold" nodeType="clickEffect">
                                  <p:stCondLst>
                                    <p:cond delay="0"/>
                                  </p:stCondLst>
                                  <p:childTnLst>
                                    <p:set>
                                      <p:cBhvr>
                                        <p:cTn id="151" dur="1" fill="hold">
                                          <p:stCondLst>
                                            <p:cond delay="0"/>
                                          </p:stCondLst>
                                        </p:cTn>
                                        <p:tgtEl>
                                          <p:spTgt spid="97"/>
                                        </p:tgtEl>
                                        <p:attrNameLst>
                                          <p:attrName>style.visibility</p:attrName>
                                        </p:attrNameLst>
                                      </p:cBhvr>
                                      <p:to>
                                        <p:strVal val="visible"/>
                                      </p:to>
                                    </p:set>
                                    <p:animEffect transition="in" filter="fade">
                                      <p:cBhvr>
                                        <p:cTn id="152" dur="500"/>
                                        <p:tgtEl>
                                          <p:spTgt spid="97"/>
                                        </p:tgtEl>
                                      </p:cBhvr>
                                    </p:animEffect>
                                    <p:anim calcmode="lin" valueType="num">
                                      <p:cBhvr>
                                        <p:cTn id="153" dur="500" fill="hold"/>
                                        <p:tgtEl>
                                          <p:spTgt spid="97"/>
                                        </p:tgtEl>
                                        <p:attrNameLst>
                                          <p:attrName>ppt_x</p:attrName>
                                        </p:attrNameLst>
                                      </p:cBhvr>
                                      <p:tavLst>
                                        <p:tav tm="0">
                                          <p:val>
                                            <p:strVal val="#ppt_x"/>
                                          </p:val>
                                        </p:tav>
                                        <p:tav tm="100000">
                                          <p:val>
                                            <p:strVal val="#ppt_x"/>
                                          </p:val>
                                        </p:tav>
                                      </p:tavLst>
                                    </p:anim>
                                    <p:anim calcmode="lin" valueType="num">
                                      <p:cBhvr>
                                        <p:cTn id="154" dur="500" fill="hold"/>
                                        <p:tgtEl>
                                          <p:spTgt spid="9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Questions 2–3 · SE p. 296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Factors of ⅘ and 5/4</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⅘: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27" name="Shape 27"/>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5/4: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(⅘</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d(x)</a:t>
            </a:r>
            <a:endParaRPr lang="en-US" sz="1650" dirty="0"/>
          </a:p>
        </p:txBody>
      </p:sp>
      <p:sp>
        <p:nvSpPr>
          <p:cNvPr id="30" name="Shape 30"/>
          <p:cNvSpPr txBox="1"/>
          <p:nvPr/>
        </p:nvSpPr>
        <p:spPr>
          <a:xfrm>
            <a:off x="4381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381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32" name="Shape 32"/>
          <p:cNvSpPr txBox="1"/>
          <p:nvPr/>
        </p:nvSpPr>
        <p:spPr>
          <a:xfrm>
            <a:off x="5524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24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381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381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36" name="Shape 36"/>
          <p:cNvSpPr txBox="1"/>
          <p:nvPr/>
        </p:nvSpPr>
        <p:spPr>
          <a:xfrm>
            <a:off x="5524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24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381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381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24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24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381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381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44" name="Shape 44"/>
          <p:cNvSpPr txBox="1"/>
          <p:nvPr/>
        </p:nvSpPr>
        <p:spPr>
          <a:xfrm>
            <a:off x="5524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24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381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381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48" name="Shape 48"/>
          <p:cNvSpPr txBox="1"/>
          <p:nvPr/>
        </p:nvSpPr>
        <p:spPr>
          <a:xfrm>
            <a:off x="5524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24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51" name="Shape 51"/>
          <p:cNvSpPr txBox="1"/>
          <p:nvPr/>
        </p:nvSpPr>
        <p:spPr>
          <a:xfrm>
            <a:off x="8076997" y="2008632"/>
            <a:ext cx="34288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vertical dilation by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a horizontal dilation by </a:t>
            </a:r>
            <a:r>
              <a:rPr lang="en-US" sz="1575" dirty="0">
                <a:solidFill>
                  <a:srgbClr val="16171D"/>
                </a:solidFill>
                <a:latin typeface="Cambria"/>
                <a:cs typeface="Cambria"/>
              </a:rPr>
              <a:t xml:space="preserve">1/</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54" name="Shape 54"/>
          <p:cNvSpPr txBox="1"/>
          <p:nvPr/>
        </p:nvSpPr>
        <p:spPr>
          <a:xfrm>
            <a:off x="8076997" y="2878836"/>
            <a:ext cx="3428898" cy="23080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8286547" y="3050286"/>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Definitions</a:t>
            </a:r>
            <a:endParaRPr lang="en-US" sz="2100" dirty="0"/>
          </a:p>
        </p:txBody>
      </p:sp>
      <p:sp>
        <p:nvSpPr>
          <p:cNvPr id="53" name="Shape 53"/>
          <p:cNvSpPr txBox="1"/>
          <p:nvPr/>
        </p:nvSpPr>
        <p:spPr>
          <a:xfrm>
            <a:off x="8286547" y="3520440"/>
            <a:ext cx="3009798" cy="149504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vertical, changes outputs.</a:t>
            </a:r>
            <a:br>
              <a:rPr lang="en-US" sz="1575" dirty="0">
                <a:solidFill>
                  <a:srgbClr val="16171D"/>
                </a:solidFill>
                <a:latin typeface="Segoe UI"/>
                <a:cs typeface="Segoe UI"/>
              </a:rPr>
            </a:b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horizontal, changes inputs;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compresses,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reflects across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 4 · SE p. 297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Does this hold for any linear function?</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Counterexample: </a:t>
            </a:r>
            <a:r>
              <a:rPr lang="en-US" sz="1950" dirty="0" i="1">
                <a:solidFill>
                  <a:srgbClr val="16171D"/>
                </a:solidFill>
                <a:latin typeface="Cambria"/>
                <a:cs typeface="Cambria"/>
              </a:rPr>
              <a:t xml:space="preserve">m</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endParaRPr lang="en-US" sz="1950" dirty="0"/>
          </a:p>
        </p:txBody>
      </p:sp>
      <p:sp>
        <p:nvSpPr>
          <p:cNvPr id="5" name="Shape 5"/>
          <p:cNvSpPr txBox="1"/>
          <p:nvPr/>
        </p:nvSpPr>
        <p:spPr>
          <a:xfrm>
            <a:off x="685800" y="20657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a:solidFill>
                  <a:srgbClr val="4F8A3C"/>
                </a:solidFill>
                <a:latin typeface="Cambria"/>
                <a:cs typeface="Cambria"/>
              </a:rPr>
              <a:t xml:space="preserve">3 · </a:t>
            </a:r>
            <a:r>
              <a:rPr lang="en-US" sz="2325" dirty="0" b="1" i="1">
                <a:solidFill>
                  <a:srgbClr val="4F8A3C"/>
                </a:solidFill>
                <a:latin typeface="Cambria"/>
                <a:cs typeface="Cambria"/>
              </a:rPr>
              <a:t xml:space="preserve">m</a:t>
            </a:r>
            <a:r>
              <a:rPr lang="en-US" sz="2325" dirty="0" b="1">
                <a:solidFill>
                  <a:srgbClr val="4F8A3C"/>
                </a:solidFill>
                <a:latin typeface="Cambria"/>
                <a:cs typeface="Cambria"/>
              </a:rPr>
              <a:t xml:space="preserve">(</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6</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− 3</a:t>
            </a:r>
            <a:endParaRPr lang="en-US" sz="2325" dirty="0"/>
          </a:p>
        </p:txBody>
      </p:sp>
      <p:sp>
        <p:nvSpPr>
          <p:cNvPr id="6" name="Shape 6"/>
          <p:cNvSpPr txBox="1"/>
          <p:nvPr/>
        </p:nvSpPr>
        <p:spPr>
          <a:xfrm>
            <a:off x="685800" y="2679954"/>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i="1">
                <a:solidFill>
                  <a:srgbClr val="7A4FC4"/>
                </a:solidFill>
                <a:latin typeface="Cambria"/>
                <a:cs typeface="Cambria"/>
              </a:rPr>
              <a:t xml:space="preserve">m</a:t>
            </a:r>
            <a:r>
              <a:rPr lang="en-US" sz="2325" dirty="0" b="1">
                <a:solidFill>
                  <a:srgbClr val="7A4FC4"/>
                </a:solidFill>
                <a:latin typeface="Cambria"/>
                <a:cs typeface="Cambria"/>
              </a:rPr>
              <a:t xml:space="preserve">(3</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6</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− 1</a:t>
            </a:r>
            <a:endParaRPr lang="en-US" sz="2325" dirty="0"/>
          </a:p>
        </p:txBody>
      </p:sp>
      <p:sp>
        <p:nvSpPr>
          <p:cNvPr id="7" name="Shape 7"/>
          <p:cNvSpPr txBox="1"/>
          <p:nvPr/>
        </p:nvSpPr>
        <p:spPr>
          <a:xfrm>
            <a:off x="685800" y="329412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The graphs are parallel, not the same. It works only for the parent function.</a:t>
            </a:r>
            <a:endParaRPr lang="en-US" sz="1575" dirty="0"/>
          </a:p>
        </p:txBody>
      </p:sp>
      <p:sp>
        <p:nvSpPr>
          <p:cNvPr id="8" name="Shape 8"/>
          <p:cNvSpPr/>
          <p:nvPr/>
        </p:nvSpPr>
        <p:spPr>
          <a:xfrm>
            <a:off x="6286348" y="1618488"/>
            <a:ext cx="314325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48335" y="1732788"/>
            <a:ext cx="0" cy="2876550"/>
          </a:xfrm>
          <a:prstGeom prst="line">
            <a:avLst/>
          </a:prstGeom>
          <a:ln w="9525" cap="flat">
            <a:solidFill>
              <a:srgbClr val="E6E8F2"/>
            </a:solidFill>
          </a:ln>
        </p:spPr>
      </p:cxnSp>
      <p:cxnSp>
        <p:nvCxnSpPr>
          <p:cNvPr id="11" name="Line 11"/>
          <p:cNvCxnSpPr/>
          <p:nvPr/>
        </p:nvCxnSpPr>
        <p:spPr>
          <a:xfrm>
            <a:off x="7286473" y="1732788"/>
            <a:ext cx="0" cy="2876550"/>
          </a:xfrm>
          <a:prstGeom prst="line">
            <a:avLst/>
          </a:prstGeom>
          <a:ln w="9525" cap="flat">
            <a:solidFill>
              <a:srgbClr val="E6E8F2"/>
            </a:solidFill>
          </a:ln>
        </p:spPr>
      </p:cxnSp>
      <p:cxnSp>
        <p:nvCxnSpPr>
          <p:cNvPr id="12" name="Line 12"/>
          <p:cNvCxnSpPr/>
          <p:nvPr/>
        </p:nvCxnSpPr>
        <p:spPr>
          <a:xfrm>
            <a:off x="7624610" y="1732788"/>
            <a:ext cx="0" cy="2876550"/>
          </a:xfrm>
          <a:prstGeom prst="line">
            <a:avLst/>
          </a:prstGeom>
          <a:ln w="9525" cap="flat">
            <a:solidFill>
              <a:srgbClr val="E6E8F2"/>
            </a:solidFill>
          </a:ln>
        </p:spPr>
      </p:cxnSp>
      <p:cxnSp>
        <p:nvCxnSpPr>
          <p:cNvPr id="13" name="Line 13"/>
          <p:cNvCxnSpPr/>
          <p:nvPr/>
        </p:nvCxnSpPr>
        <p:spPr>
          <a:xfrm>
            <a:off x="7962748" y="1732788"/>
            <a:ext cx="0" cy="2876550"/>
          </a:xfrm>
          <a:prstGeom prst="line">
            <a:avLst/>
          </a:prstGeom>
          <a:ln w="9525" cap="flat">
            <a:solidFill>
              <a:srgbClr val="E6E8F2"/>
            </a:solidFill>
          </a:ln>
        </p:spPr>
      </p:cxnSp>
      <p:cxnSp>
        <p:nvCxnSpPr>
          <p:cNvPr id="14" name="Line 14"/>
          <p:cNvCxnSpPr/>
          <p:nvPr/>
        </p:nvCxnSpPr>
        <p:spPr>
          <a:xfrm>
            <a:off x="8300885" y="1732788"/>
            <a:ext cx="0" cy="2876550"/>
          </a:xfrm>
          <a:prstGeom prst="line">
            <a:avLst/>
          </a:prstGeom>
          <a:ln w="9525" cap="flat">
            <a:solidFill>
              <a:srgbClr val="E6E8F2"/>
            </a:solidFill>
          </a:ln>
        </p:spPr>
      </p:cxnSp>
      <p:cxnSp>
        <p:nvCxnSpPr>
          <p:cNvPr id="15" name="Line 15"/>
          <p:cNvCxnSpPr/>
          <p:nvPr/>
        </p:nvCxnSpPr>
        <p:spPr>
          <a:xfrm>
            <a:off x="8639023" y="1732788"/>
            <a:ext cx="0" cy="2876550"/>
          </a:xfrm>
          <a:prstGeom prst="line">
            <a:avLst/>
          </a:prstGeom>
          <a:ln w="9525" cap="flat">
            <a:solidFill>
              <a:srgbClr val="E6E8F2"/>
            </a:solidFill>
          </a:ln>
        </p:spPr>
      </p:cxnSp>
      <p:cxnSp>
        <p:nvCxnSpPr>
          <p:cNvPr id="16" name="Line 16"/>
          <p:cNvCxnSpPr/>
          <p:nvPr/>
        </p:nvCxnSpPr>
        <p:spPr>
          <a:xfrm>
            <a:off x="8977160" y="1732788"/>
            <a:ext cx="0" cy="2876550"/>
          </a:xfrm>
          <a:prstGeom prst="line">
            <a:avLst/>
          </a:prstGeom>
          <a:ln w="9525" cap="flat">
            <a:solidFill>
              <a:srgbClr val="E6E8F2"/>
            </a:solidFill>
          </a:ln>
        </p:spPr>
      </p:cxnSp>
      <p:cxnSp>
        <p:nvCxnSpPr>
          <p:cNvPr id="17" name="Line 17"/>
          <p:cNvCxnSpPr/>
          <p:nvPr/>
        </p:nvCxnSpPr>
        <p:spPr>
          <a:xfrm>
            <a:off x="9315298" y="1732788"/>
            <a:ext cx="0" cy="2876550"/>
          </a:xfrm>
          <a:prstGeom prst="line">
            <a:avLst/>
          </a:prstGeom>
          <a:ln w="9525" cap="flat">
            <a:solidFill>
              <a:srgbClr val="E6E8F2"/>
            </a:solidFill>
          </a:ln>
        </p:spPr>
      </p:cxnSp>
      <p:cxnSp>
        <p:nvCxnSpPr>
          <p:cNvPr id="18" name="Line 18"/>
          <p:cNvCxnSpPr/>
          <p:nvPr/>
        </p:nvCxnSpPr>
        <p:spPr>
          <a:xfrm>
            <a:off x="6610198" y="4609338"/>
            <a:ext cx="2705100" cy="0"/>
          </a:xfrm>
          <a:prstGeom prst="line">
            <a:avLst/>
          </a:prstGeom>
          <a:ln w="9525" cap="flat">
            <a:solidFill>
              <a:srgbClr val="E6E8F2"/>
            </a:solidFill>
          </a:ln>
        </p:spPr>
      </p:cxnSp>
      <p:cxnSp>
        <p:nvCxnSpPr>
          <p:cNvPr id="19" name="Line 19"/>
          <p:cNvCxnSpPr/>
          <p:nvPr/>
        </p:nvCxnSpPr>
        <p:spPr>
          <a:xfrm>
            <a:off x="6610198" y="4369625"/>
            <a:ext cx="2705100" cy="0"/>
          </a:xfrm>
          <a:prstGeom prst="line">
            <a:avLst/>
          </a:prstGeom>
          <a:ln w="9525" cap="flat">
            <a:solidFill>
              <a:srgbClr val="E6E8F2"/>
            </a:solidFill>
          </a:ln>
        </p:spPr>
      </p:cxnSp>
      <p:cxnSp>
        <p:nvCxnSpPr>
          <p:cNvPr id="20" name="Line 20"/>
          <p:cNvCxnSpPr/>
          <p:nvPr/>
        </p:nvCxnSpPr>
        <p:spPr>
          <a:xfrm>
            <a:off x="6610198" y="4129913"/>
            <a:ext cx="2705100" cy="0"/>
          </a:xfrm>
          <a:prstGeom prst="line">
            <a:avLst/>
          </a:prstGeom>
          <a:ln w="9525" cap="flat">
            <a:solidFill>
              <a:srgbClr val="E6E8F2"/>
            </a:solidFill>
          </a:ln>
        </p:spPr>
      </p:cxnSp>
      <p:cxnSp>
        <p:nvCxnSpPr>
          <p:cNvPr id="21" name="Line 21"/>
          <p:cNvCxnSpPr/>
          <p:nvPr/>
        </p:nvCxnSpPr>
        <p:spPr>
          <a:xfrm>
            <a:off x="6610198" y="3890200"/>
            <a:ext cx="2705100" cy="0"/>
          </a:xfrm>
          <a:prstGeom prst="line">
            <a:avLst/>
          </a:prstGeom>
          <a:ln w="9525" cap="flat">
            <a:solidFill>
              <a:srgbClr val="E6E8F2"/>
            </a:solidFill>
          </a:ln>
        </p:spPr>
      </p:cxnSp>
      <p:cxnSp>
        <p:nvCxnSpPr>
          <p:cNvPr id="22" name="Line 22"/>
          <p:cNvCxnSpPr/>
          <p:nvPr/>
        </p:nvCxnSpPr>
        <p:spPr>
          <a:xfrm>
            <a:off x="6610198" y="3650488"/>
            <a:ext cx="2705100" cy="0"/>
          </a:xfrm>
          <a:prstGeom prst="line">
            <a:avLst/>
          </a:prstGeom>
          <a:ln w="9525" cap="flat">
            <a:solidFill>
              <a:srgbClr val="E6E8F2"/>
            </a:solidFill>
          </a:ln>
        </p:spPr>
      </p:cxnSp>
      <p:cxnSp>
        <p:nvCxnSpPr>
          <p:cNvPr id="23" name="Line 23"/>
          <p:cNvCxnSpPr/>
          <p:nvPr/>
        </p:nvCxnSpPr>
        <p:spPr>
          <a:xfrm>
            <a:off x="6610198" y="3410776"/>
            <a:ext cx="2705100" cy="0"/>
          </a:xfrm>
          <a:prstGeom prst="line">
            <a:avLst/>
          </a:prstGeom>
          <a:ln w="9525" cap="flat">
            <a:solidFill>
              <a:srgbClr val="E6E8F2"/>
            </a:solidFill>
          </a:ln>
        </p:spPr>
      </p:cxnSp>
      <p:cxnSp>
        <p:nvCxnSpPr>
          <p:cNvPr id="24" name="Line 24"/>
          <p:cNvCxnSpPr/>
          <p:nvPr/>
        </p:nvCxnSpPr>
        <p:spPr>
          <a:xfrm>
            <a:off x="6610198" y="3171063"/>
            <a:ext cx="2705100" cy="0"/>
          </a:xfrm>
          <a:prstGeom prst="line">
            <a:avLst/>
          </a:prstGeom>
          <a:ln w="9525" cap="flat">
            <a:solidFill>
              <a:srgbClr val="E6E8F2"/>
            </a:solidFill>
          </a:ln>
        </p:spPr>
      </p:cxnSp>
      <p:cxnSp>
        <p:nvCxnSpPr>
          <p:cNvPr id="25" name="Line 25"/>
          <p:cNvCxnSpPr/>
          <p:nvPr/>
        </p:nvCxnSpPr>
        <p:spPr>
          <a:xfrm>
            <a:off x="6610198" y="2931350"/>
            <a:ext cx="2705100" cy="0"/>
          </a:xfrm>
          <a:prstGeom prst="line">
            <a:avLst/>
          </a:prstGeom>
          <a:ln w="9525" cap="flat">
            <a:solidFill>
              <a:srgbClr val="E6E8F2"/>
            </a:solidFill>
          </a:ln>
        </p:spPr>
      </p:cxnSp>
      <p:cxnSp>
        <p:nvCxnSpPr>
          <p:cNvPr id="26" name="Line 26"/>
          <p:cNvCxnSpPr/>
          <p:nvPr/>
        </p:nvCxnSpPr>
        <p:spPr>
          <a:xfrm>
            <a:off x="6610198" y="2691638"/>
            <a:ext cx="2705100" cy="0"/>
          </a:xfrm>
          <a:prstGeom prst="line">
            <a:avLst/>
          </a:prstGeom>
          <a:ln w="9525" cap="flat">
            <a:solidFill>
              <a:srgbClr val="E6E8F2"/>
            </a:solidFill>
          </a:ln>
        </p:spPr>
      </p:cxnSp>
      <p:cxnSp>
        <p:nvCxnSpPr>
          <p:cNvPr id="27" name="Line 27"/>
          <p:cNvCxnSpPr/>
          <p:nvPr/>
        </p:nvCxnSpPr>
        <p:spPr>
          <a:xfrm>
            <a:off x="6610198" y="2451926"/>
            <a:ext cx="2705100" cy="0"/>
          </a:xfrm>
          <a:prstGeom prst="line">
            <a:avLst/>
          </a:prstGeom>
          <a:ln w="9525" cap="flat">
            <a:solidFill>
              <a:srgbClr val="E6E8F2"/>
            </a:solidFill>
          </a:ln>
        </p:spPr>
      </p:cxnSp>
      <p:cxnSp>
        <p:nvCxnSpPr>
          <p:cNvPr id="28" name="Line 28"/>
          <p:cNvCxnSpPr/>
          <p:nvPr/>
        </p:nvCxnSpPr>
        <p:spPr>
          <a:xfrm>
            <a:off x="6610198" y="2212213"/>
            <a:ext cx="2705100" cy="0"/>
          </a:xfrm>
          <a:prstGeom prst="line">
            <a:avLst/>
          </a:prstGeom>
          <a:ln w="9525" cap="flat">
            <a:solidFill>
              <a:srgbClr val="E6E8F2"/>
            </a:solidFill>
          </a:ln>
        </p:spPr>
      </p:cxnSp>
      <p:cxnSp>
        <p:nvCxnSpPr>
          <p:cNvPr id="29" name="Line 29"/>
          <p:cNvCxnSpPr/>
          <p:nvPr/>
        </p:nvCxnSpPr>
        <p:spPr>
          <a:xfrm>
            <a:off x="6610198" y="1972500"/>
            <a:ext cx="2705100" cy="0"/>
          </a:xfrm>
          <a:prstGeom prst="line">
            <a:avLst/>
          </a:prstGeom>
          <a:ln w="9525" cap="flat">
            <a:solidFill>
              <a:srgbClr val="E6E8F2"/>
            </a:solidFill>
          </a:ln>
        </p:spPr>
      </p:cxnSp>
      <p:cxnSp>
        <p:nvCxnSpPr>
          <p:cNvPr id="30" name="Line 30"/>
          <p:cNvCxnSpPr/>
          <p:nvPr/>
        </p:nvCxnSpPr>
        <p:spPr>
          <a:xfrm>
            <a:off x="6610198" y="1732788"/>
            <a:ext cx="2705100" cy="0"/>
          </a:xfrm>
          <a:prstGeom prst="line">
            <a:avLst/>
          </a:prstGeom>
          <a:ln w="9525" cap="flat">
            <a:solidFill>
              <a:srgbClr val="E6E8F2"/>
            </a:solidFill>
          </a:ln>
        </p:spPr>
      </p:cxnSp>
      <p:cxnSp>
        <p:nvCxnSpPr>
          <p:cNvPr id="31" name="Line 31"/>
          <p:cNvCxnSpPr/>
          <p:nvPr/>
        </p:nvCxnSpPr>
        <p:spPr>
          <a:xfrm>
            <a:off x="7962748" y="1732788"/>
            <a:ext cx="0" cy="2876550"/>
          </a:xfrm>
          <a:prstGeom prst="line">
            <a:avLst/>
          </a:prstGeom>
          <a:ln w="19050" cap="flat">
            <a:solidFill>
              <a:srgbClr val="5F6272"/>
            </a:solidFill>
          </a:ln>
        </p:spPr>
      </p:cxnSp>
      <p:cxnSp>
        <p:nvCxnSpPr>
          <p:cNvPr id="32" name="Line 32"/>
          <p:cNvCxnSpPr/>
          <p:nvPr/>
        </p:nvCxnSpPr>
        <p:spPr>
          <a:xfrm>
            <a:off x="6610198" y="3171063"/>
            <a:ext cx="2705100" cy="0"/>
          </a:xfrm>
          <a:prstGeom prst="line">
            <a:avLst/>
          </a:prstGeom>
          <a:ln w="19050" cap="flat">
            <a:solidFill>
              <a:srgbClr val="5F6272"/>
            </a:solidFill>
          </a:ln>
        </p:spPr>
      </p:cxnSp>
      <p:sp>
        <p:nvSpPr>
          <p:cNvPr id="33" name="Shape 33"/>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667401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70121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5029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6884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0265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3647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87028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90409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49" name="Line 49"/>
          <p:cNvCxnSpPr/>
          <p:nvPr/>
        </p:nvCxnSpPr>
        <p:spPr>
          <a:xfrm flipV="1">
            <a:off x="7117404" y="1732788"/>
            <a:ext cx="2028825" cy="2876550"/>
          </a:xfrm>
          <a:prstGeom prst="line">
            <a:avLst/>
          </a:prstGeom>
          <a:ln w="38100" cap="rnd">
            <a:solidFill>
              <a:srgbClr val="16171D"/>
            </a:solidFill>
          </a:ln>
        </p:spPr>
      </p:cxnSp>
      <p:sp>
        <p:nvSpPr>
          <p:cNvPr id="50" name="Shape 50"/>
          <p:cNvSpPr txBox="1"/>
          <p:nvPr/>
        </p:nvSpPr>
        <p:spPr>
          <a:xfrm>
            <a:off x="665448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51" name="Line 51"/>
          <p:cNvCxnSpPr/>
          <p:nvPr/>
        </p:nvCxnSpPr>
        <p:spPr>
          <a:xfrm flipV="1">
            <a:off x="7793679" y="1732788"/>
            <a:ext cx="676275" cy="2876550"/>
          </a:xfrm>
          <a:prstGeom prst="line">
            <a:avLst/>
          </a:prstGeom>
          <a:ln w="38100" cap="rnd">
            <a:solidFill>
              <a:srgbClr val="4F8A3C"/>
            </a:solidFill>
          </a:ln>
        </p:spPr>
      </p:cxnSp>
      <p:cxnSp>
        <p:nvCxnSpPr>
          <p:cNvPr id="52" name="Line 52"/>
          <p:cNvCxnSpPr/>
          <p:nvPr/>
        </p:nvCxnSpPr>
        <p:spPr>
          <a:xfrm flipV="1">
            <a:off x="7680966" y="1732788"/>
            <a:ext cx="676275" cy="2876550"/>
          </a:xfrm>
          <a:prstGeom prst="line">
            <a:avLst/>
          </a:prstGeom>
          <a:ln w="38100" cap="rnd">
            <a:solidFill>
              <a:srgbClr val="7A4FC4"/>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1"/>
                                        </p:tgtEl>
                                        <p:attrNameLst>
                                          <p:attrName>style.visibility</p:attrName>
                                        </p:attrNameLst>
                                      </p:cBhvr>
                                      <p:to>
                                        <p:strVal val="visible"/>
                                      </p:to>
                                    </p:set>
                                    <p:animEffect transition="in" filter="wipe(left)">
                                      <p:cBhvr>
                                        <p:cTn id="25" dur="700"/>
                                        <p:tgtEl>
                                          <p:spTgt spid="51"/>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52"/>
                                        </p:tgtEl>
                                        <p:attrNameLst>
                                          <p:attrName>style.visibility</p:attrName>
                                        </p:attrNameLst>
                                      </p:cBhvr>
                                      <p:to>
                                        <p:strVal val="visible"/>
                                      </p:to>
                                    </p:set>
                                    <p:animEffect transition="in" filter="wipe(left)">
                                      <p:cBhvr>
                                        <p:cTn id="30"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2.3 · Graphing Linear Transformations · SE pp. 298–300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7" name="Shape 7"/>
          <p:cNvSpPr txBox="1"/>
          <p:nvPr/>
        </p:nvSpPr>
        <p:spPr>
          <a:xfrm>
            <a:off x="685800"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7</a:t>
            </a:r>
            <a:endParaRPr lang="en-US" sz="1575" dirty="0"/>
          </a:p>
        </p:txBody>
      </p:sp>
      <p:sp>
        <p:nvSpPr>
          <p:cNvPr id="6" name="Shape 6"/>
          <p:cNvSpPr txBox="1"/>
          <p:nvPr/>
        </p:nvSpPr>
        <p:spPr>
          <a:xfrm>
            <a:off x="895350"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stretch by 3</a:t>
            </a:r>
            <a:endParaRPr lang="en-US" sz="1575" dirty="0"/>
          </a:p>
        </p:txBody>
      </p:sp>
      <p:sp>
        <p:nvSpPr>
          <p:cNvPr id="10" name="Shape 10"/>
          <p:cNvSpPr txBox="1"/>
          <p:nvPr/>
        </p:nvSpPr>
        <p:spPr>
          <a:xfrm>
            <a:off x="4559198"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
        <p:nvSpPr>
          <p:cNvPr id="15" name="Shape 15"/>
          <p:cNvSpPr txBox="1"/>
          <p:nvPr/>
        </p:nvSpPr>
        <p:spPr>
          <a:xfrm>
            <a:off x="8013497"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2</a:t>
            </a:r>
            <a:endParaRPr lang="en-US" sz="1575" dirty="0"/>
          </a:p>
        </p:txBody>
      </p:sp>
      <p:sp>
        <p:nvSpPr>
          <p:cNvPr id="14" name="Shape 14"/>
          <p:cNvSpPr txBox="1"/>
          <p:nvPr/>
        </p:nvSpPr>
        <p:spPr>
          <a:xfrm>
            <a:off x="8223047"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(½</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stretch by 2</a:t>
            </a:r>
            <a:endParaRPr lang="en-US" sz="1575" dirty="0"/>
          </a:p>
        </p:txBody>
      </p:sp>
      <p:sp>
        <p:nvSpPr>
          <p:cNvPr id="18" name="Shape 18"/>
          <p:cNvSpPr txBox="1"/>
          <p:nvPr/>
        </p:nvSpPr>
        <p:spPr>
          <a:xfrm>
            <a:off x="895350"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4349648"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22" name="Shape 22"/>
          <p:cNvSpPr txBox="1"/>
          <p:nvPr/>
        </p:nvSpPr>
        <p:spPr>
          <a:xfrm>
            <a:off x="4559198"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6.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5</a:t>
            </a:r>
            <a:endParaRPr lang="en-US" sz="1575" dirty="0"/>
          </a:p>
        </p:txBody>
      </p:sp>
      <p:sp>
        <p:nvSpPr>
          <p:cNvPr id="26" name="Shape 26"/>
          <p:cNvSpPr txBox="1"/>
          <p:nvPr/>
        </p:nvSpPr>
        <p:spPr>
          <a:xfrm>
            <a:off x="8223047"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Show Me What You've Got · SE p. 301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6" name="Shape 6"/>
          <p:cNvSpPr txBox="1"/>
          <p:nvPr/>
        </p:nvSpPr>
        <p:spPr>
          <a:xfrm>
            <a:off x="685800"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9" name="Shape 9"/>
          <p:cNvSpPr txBox="1"/>
          <p:nvPr/>
        </p:nvSpPr>
        <p:spPr>
          <a:xfrm>
            <a:off x="4349648"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4559198"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2" name="Shape 12"/>
          <p:cNvSpPr txBox="1"/>
          <p:nvPr/>
        </p:nvSpPr>
        <p:spPr>
          <a:xfrm>
            <a:off x="8013497"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1" name="Shape 11"/>
          <p:cNvSpPr txBox="1"/>
          <p:nvPr/>
        </p:nvSpPr>
        <p:spPr>
          <a:xfrm>
            <a:off x="8223047"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5" name="Shape 15"/>
          <p:cNvSpPr txBox="1"/>
          <p:nvPr/>
        </p:nvSpPr>
        <p:spPr>
          <a:xfrm>
            <a:off x="685800" y="3083814"/>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55264"/>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4" name="Shape 14"/>
          <p:cNvSpPr txBox="1"/>
          <p:nvPr/>
        </p:nvSpPr>
        <p:spPr>
          <a:xfrm>
            <a:off x="895350" y="3725418"/>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ppt_w</p:attrName>
                                        </p:attrNameLst>
                                      </p:cBhvr>
                                      <p:tavLst>
                                        <p:tav tm="0">
                                          <p:val>
                                            <p:fltVal val="0"/>
                                          </p:val>
                                        </p:tav>
                                        <p:tav tm="100000">
                                          <p:val>
                                            <p:strVal val="#ppt_w"/>
                                          </p:val>
                                        </p:tav>
                                      </p:tavLst>
                                    </p:anim>
                                    <p:anim calcmode="lin" valueType="num">
                                      <p:cBhvr>
                                        <p:cTn id="27"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horizontal transformations do?</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b</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inputs</a:t>
            </a:r>
            <a:r>
              <a:rPr lang="en-US" sz="1950" dirty="0">
                <a:solidFill>
                  <a:srgbClr val="16171D"/>
                </a:solidFill>
                <a:latin typeface="Segoe UI"/>
                <a:cs typeface="Segoe UI"/>
              </a:rPr>
              <a:t xml:space="preserve"> (horizontal);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outputs</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and a vertical dilation by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a horizontal dilation by </a:t>
            </a:r>
            <a:r>
              <a:rPr lang="en-US" sz="1950" dirty="0">
                <a:solidFill>
                  <a:srgbClr val="16171D"/>
                </a:solidFill>
                <a:latin typeface="Cambria"/>
                <a:cs typeface="Cambria"/>
              </a:rPr>
              <a:t xml:space="preserve">1/</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other linear functions these pairs are </a:t>
            </a:r>
            <a:r>
              <a:rPr lang="en-US" sz="1950" dirty="0" b="1">
                <a:solidFill>
                  <a:srgbClr val="16171D"/>
                </a:solidFill>
                <a:latin typeface="Segoe UI"/>
                <a:cs typeface="Segoe UI"/>
              </a:rPr>
              <a:t xml:space="preserve">not</a:t>
            </a:r>
            <a:r>
              <a:rPr lang="en-US" sz="1950" dirty="0">
                <a:solidFill>
                  <a:srgbClr val="16171D"/>
                </a:solidFill>
                <a:latin typeface="Segoe UI"/>
                <a:cs typeface="Segoe UI"/>
              </a:rPr>
              <a:t xml:space="preserve"> the same.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Describe the transformation.</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6</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which vertical dilation gives the same graph as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Skills Practice day: Lesson 2 quiz and Topic 1 Lesson 5 quiz. Then Lesson 3 starts Thursday, October 29.</a:t>
            </a:r>
            <a:endParaRPr lang="en-US" sz="225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reciprocal of each value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1. 3</a:t>
            </a:r>
            <a:endParaRPr lang="en-US" sz="2325" dirty="0"/>
          </a:p>
        </p:txBody>
      </p:sp>
      <p:sp>
        <p:nvSpPr>
          <p:cNvPr id="5" name="Shape 5"/>
          <p:cNvSpPr txBox="1"/>
          <p:nvPr/>
        </p:nvSpPr>
        <p:spPr>
          <a:xfrm>
            <a:off x="685800" y="21229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1/5</a:t>
            </a:r>
            <a:endParaRPr lang="en-US" sz="2325" dirty="0"/>
          </a:p>
        </p:txBody>
      </p:sp>
      <p:sp>
        <p:nvSpPr>
          <p:cNvPr id="7" name="Shape 7"/>
          <p:cNvSpPr txBox="1"/>
          <p:nvPr/>
        </p:nvSpPr>
        <p:spPr>
          <a:xfrm>
            <a:off x="685800" y="324154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8" name="Shape 8"/>
          <p:cNvSpPr txBox="1"/>
          <p:nvPr/>
        </p:nvSpPr>
        <p:spPr>
          <a:xfrm>
            <a:off x="685800"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c</a:t>
            </a:r>
            <a:endParaRPr lang="en-US" sz="2325" dirty="0"/>
          </a:p>
        </p:txBody>
      </p:sp>
      <p:sp>
        <p:nvSpPr>
          <p:cNvPr id="9" name="Shape 9"/>
          <p:cNvSpPr txBox="1"/>
          <p:nvPr/>
        </p:nvSpPr>
        <p:spPr>
          <a:xfrm>
            <a:off x="685800" y="4360164"/>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i="1">
                <a:solidFill>
                  <a:srgbClr val="16171D"/>
                </a:solidFill>
                <a:latin typeface="Cambria"/>
                <a:cs typeface="Cambria"/>
              </a:rPr>
              <a:t xml:space="preserve">c</a:t>
            </a:r>
            <a:endParaRPr lang="en-US" sz="2325" dirty="0"/>
          </a:p>
        </p:txBody>
      </p:sp>
      <p:sp>
        <p:nvSpPr>
          <p:cNvPr id="10" name="Shape 10"/>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−10</a:t>
            </a:r>
            <a:endParaRPr lang="en-US" sz="2325" dirty="0"/>
          </a:p>
        </p:txBody>
      </p:sp>
      <p:sp>
        <p:nvSpPr>
          <p:cNvPr id="11" name="Shape 11"/>
          <p:cNvSpPr txBox="1"/>
          <p:nvPr/>
        </p:nvSpPr>
        <p:spPr>
          <a:xfrm>
            <a:off x="6286348" y="21229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−1/10</a:t>
            </a:r>
            <a:endParaRPr lang="en-US" sz="2325" dirty="0"/>
          </a:p>
        </p:txBody>
      </p:sp>
      <p:sp>
        <p:nvSpPr>
          <p:cNvPr id="12" name="Shape 12"/>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−5/4</a:t>
            </a:r>
            <a:endParaRPr lang="en-US" sz="2325" dirty="0"/>
          </a:p>
        </p:txBody>
      </p:sp>
      <p:sp>
        <p:nvSpPr>
          <p:cNvPr id="13" name="Shape 13"/>
          <p:cNvSpPr txBox="1"/>
          <p:nvPr/>
        </p:nvSpPr>
        <p:spPr>
          <a:xfrm>
            <a:off x="6286348" y="324154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14" name="Shape 14"/>
          <p:cNvSpPr txBox="1"/>
          <p:nvPr/>
        </p:nvSpPr>
        <p:spPr>
          <a:xfrm>
            <a:off x="6286348"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b</a:t>
            </a:r>
            <a:endParaRPr lang="en-US" sz="2325" dirty="0"/>
          </a:p>
        </p:txBody>
      </p:sp>
      <p:sp>
        <p:nvSpPr>
          <p:cNvPr id="15" name="Shape 15"/>
          <p:cNvSpPr txBox="1"/>
          <p:nvPr/>
        </p:nvSpPr>
        <p:spPr>
          <a:xfrm>
            <a:off x="6286348" y="436016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a</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anim calcmode="lin" valueType="num">
                                      <p:cBhvr>
                                        <p:cTn id="40" dur="500" fill="hold"/>
                                        <p:tgtEl>
                                          <p:spTgt spid="15"/>
                                        </p:tgtEl>
                                        <p:attrNameLst>
                                          <p:attrName>ppt_w</p:attrName>
                                        </p:attrNameLst>
                                      </p:cBhvr>
                                      <p:tavLst>
                                        <p:tav tm="0">
                                          <p:val>
                                            <p:fltVal val="0"/>
                                          </p:val>
                                        </p:tav>
                                        <p:tav tm="100000">
                                          <p:val>
                                            <p:strVal val="#ppt_w"/>
                                          </p:val>
                                        </p:tav>
                                      </p:tavLst>
                                    </p:anim>
                                    <p:anim calcmode="lin" valueType="num">
                                      <p:cBhvr>
                                        <p:cTn id="41" dur="500" fill="hold"/>
                                        <p:tgtEl>
                                          <p:spTgt spid="1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2 Assignment (SE pp. 303–304).</a:t>
            </a:r>
            <a:endParaRPr lang="en-US" sz="1575" dirty="0"/>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33</Slides>
  <Notes>33</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