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Topic 2. Students transform the parent function f(x) = x: vertical translations f(x) + d (blue) and vertical dilations a · f(x) (orange). They prove a line and its translation are parallel and write equations of parallel lines. Three days on the 150-day calendar: Day 1 Getting Started and Activity 1.1; Day 2 Activities 1.2 and 1.3; Day 3 Activity 1.4, Activity 1.5 and Talk the Talk. Materials: masking tape and markers for the floor coordinate plane, the Problem-Solving Model Graphic Organizer.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15–20 minutes. Tape a large coordinate plane on the floor; students stand on the points of AB and move as directed. Ask: Did anyone move left or right? (No: only the y-coordinates changed.)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point did not move? (The origin: 0 times 2 is still 0.) What does multiplying by a negative do? (It reflects across the x-axis.)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1.1, 20–25 minutes. The slide reveals each table column, then the equation, then the graph line. Ask: Which values changed, the inputs or the outputs? (Only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Stamp the learning: a vertical translation changes the y-intercept, not the slope.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Will the graphs of j(x), q(x) and r(x) ever intersect? Ask: How can you tell from the equations? (Same slope, different y-intercepts.)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1, have students reread the Essential Question and summarize Activity 1.1 in their own words. 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1.2, 15–20 minutes. The a's cancel, so the slopes are the same: the image is parallel to the pre-image. Ask: Why did the x-coordinates stay the same? (A vertical translation moves only up or down.)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has no single answer: let students defend the method they prefer. Catalina thinks in translations; James uses the slope and a point.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1.3, 20–25 minutes. All three pass through (0, 0): a dilation keeps the origin fixed. The slope becomes the factor: 4, 2/3, −4. Ask: f(−1) = −1 and c(−1) = 4. What did the dilation do to the value at x = −1? (Multiplied it by −4.)</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Watch for students who say the slope 'increases' when a = −3: it gets steeper, but the slope is −3.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2, have students reread the Essential Question. End of Day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1.4, 20 minutes. To graph g(x), start at the y-intercept (0, d) and use the slope a. Teacher-guide note: the slide numbers two items 'a.' in the student slides; they are b and e. Ask: Which number tells you the slope? Which tells you the y-intercept?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 correction: the teacher guide says the slope 'increases' or 'decreases'; it means steepness. For a = −3 the slope is −3.</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1.5, 20 minutes. Check any answer by substituting the target's x: for (−5, 1) with a = −1, d = −4: −(−5) − 4 = 1. Other Version B answers exist (for example a = 1, d = 6 for (−5, 1)). TE correction: for (−5, 1) the teacher guide's a = 1, d = 4 misses; it is d = 6. Version C's −6/4 simplifies to −3/2.</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 minutes. Students match the four transformed graphs in their book (SE p. 284) to the equations.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3x is the stretch, − 2 moves the line down 2. 2. 7 = 4(1) + b, so b = 3. 3. Multiply the output by −2: 5 · (−2) = −10.</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1 Assignment. TE correction: the teacher guide gives f(x) = (2/3)x − 5, but the plotted points give slope 2/3 and y-intercept (0, −14/3). Check: (2/3)(4) − 14/3 = 8/3 − 14/3 = −2. ✓</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1-bellwork-day1.html" TargetMode="External"/><Relationship Id="rId4" Type="http://schemas.openxmlformats.org/officeDocument/2006/relationships/hyperlink" Target="https://algebra1m2u1l4.vercel.app/Module 2 topic 2/t2-lesson1-bellwork-day2.html" TargetMode="External"/><Relationship Id="rId5" Type="http://schemas.openxmlformats.org/officeDocument/2006/relationships/hyperlink" Target="https://algebra1m2u1l4.vercel.app/Module 2 topic 2/t2-lesson1-bellwork-day3.html" TargetMode="External"/><Relationship Id="rId6" Type="http://schemas.openxmlformats.org/officeDocument/2006/relationships/hyperlink" Target="https://algebra1m2u1l4.vercel.app/Module 2 topic 2/t2-lesson1-homework.html" TargetMode="External"/><Relationship Id="rId7" Type="http://schemas.openxmlformats.org/officeDocument/2006/relationships/hyperlink" Target="https://algebra1m2u1l4.vercel.app/Module 2 topic 2/t2-lesson1-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hyperlink" Target="https://algebra1m2u1l4.vercel.app/Module 2 topic 2/t2-lesson1-bellwork-day1.html" TargetMode="External"/><Relationship Id="rId4" Type="http://schemas.openxmlformats.org/officeDocument/2006/relationships/hyperlink" Target="https://algebra1m2u1l4.vercel.app/Module 2 topic 2/t2-lesson1-bellwork-day2.html" TargetMode="External"/><Relationship Id="rId5" Type="http://schemas.openxmlformats.org/officeDocument/2006/relationships/hyperlink" Target="https://algebra1m2u1l4.vercel.app/Module 2 topic 2/t2-lesson1-bellwork-day3.html" TargetMode="External"/><Relationship Id="rId6" Type="http://schemas.openxmlformats.org/officeDocument/2006/relationships/hyperlink" Target="https://algebra1m2u1l4.vercel.app/Module 2 topic 2/t2-lesson1-homework.html" TargetMode="External"/><Relationship Id="rId7" Type="http://schemas.openxmlformats.org/officeDocument/2006/relationships/hyperlink" Target="https://algebra1m2u1l4.vercel.app/Module 2 topic 2/t2-lesson1-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Student Edition pp. 269–286</a:t>
            </a:r>
            <a:endParaRPr lang="en-US" sz="1200" dirty="0"/>
          </a:p>
        </p:txBody>
      </p:sp>
      <p:sp>
        <p:nvSpPr>
          <p:cNvPr id="3" name="Shape 3"/>
          <p:cNvSpPr txBox="1"/>
          <p:nvPr/>
        </p:nvSpPr>
        <p:spPr>
          <a:xfrm>
            <a:off x="685800" y="923544"/>
            <a:ext cx="10820095" cy="69494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Transforming Linear Functions</a:t>
            </a:r>
            <a:endParaRPr lang="en-US" sz="4200" dirty="0"/>
          </a:p>
        </p:txBody>
      </p:sp>
      <p:sp>
        <p:nvSpPr>
          <p:cNvPr id="4" name="Shape 4"/>
          <p:cNvSpPr txBox="1"/>
          <p:nvPr/>
        </p:nvSpPr>
        <p:spPr>
          <a:xfrm>
            <a:off x="685800" y="178993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68681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g</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42747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392811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1 · SE p. 269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or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Graph transformations of the parent function and describe them.</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Prove that a line and its vertical translation are parallel.</a:t>
            </a:r>
            <a:endParaRPr lang="en-US" sz="1950" dirty="0"/>
          </a:p>
        </p:txBody>
      </p:sp>
      <p:sp>
        <p:nvSpPr>
          <p:cNvPr id="7" name="Shape 7"/>
          <p:cNvSpPr txBox="1"/>
          <p:nvPr/>
        </p:nvSpPr>
        <p:spPr>
          <a:xfrm>
            <a:off x="685800" y="32956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Write the equation of a line parallel to a given line through a given point.</a:t>
            </a:r>
            <a:endParaRPr lang="en-US" sz="1950" dirty="0"/>
          </a:p>
        </p:txBody>
      </p:sp>
      <p:sp>
        <p:nvSpPr>
          <p:cNvPr id="8" name="Shape 8"/>
          <p:cNvSpPr txBox="1"/>
          <p:nvPr/>
        </p:nvSpPr>
        <p:spPr>
          <a:xfrm>
            <a:off x="685800" y="381914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Key term: </a:t>
            </a:r>
            <a:r>
              <a:rPr lang="en-US" sz="1575" dirty="0" b="1">
                <a:solidFill>
                  <a:srgbClr val="5F6272"/>
                </a:solidFill>
                <a:latin typeface="Segoe UI"/>
                <a:cs typeface="Segoe UI"/>
              </a:rPr>
              <a:t xml:space="preserve">parent function</a:t>
            </a:r>
            <a:r>
              <a:rPr lang="en-US" sz="1575" dirty="0">
                <a:solidFill>
                  <a:srgbClr val="5F6272"/>
                </a:solidFill>
                <a:latin typeface="Segoe UI"/>
                <a:cs typeface="Segoe UI"/>
              </a:rPr>
              <a:t xml:space="preserve">, the simplest function of its type. </a:t>
            </a:r>
            <a:r>
              <a:rPr lang="en-US" sz="1575" dirty="0" i="1">
                <a:solidFill>
                  <a:srgbClr val="5F6272"/>
                </a:solidFill>
                <a:latin typeface="Cambria"/>
                <a:cs typeface="Cambria"/>
              </a:rPr>
              <a:t xml:space="preserve">f</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is the parent of the linear function family.</a:t>
            </a:r>
            <a:endParaRPr lang="en-US" sz="157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269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linear functions and their slope and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transform a function? What effects do different transformations have on the characteristics of linear functions?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Returning to Transformation Station · SE p. 270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A</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 with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(−8, −8)</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B</a:t>
            </a:r>
            <a:r>
              <a:rPr lang="en-US" sz="3450" dirty="0" b="1">
                <a:solidFill>
                  <a:srgbClr val="16171D"/>
                </a:solidFill>
                <a:latin typeface="Cambria"/>
                <a:cs typeface="Cambria"/>
              </a:rPr>
              <a:t xml:space="preserve">(8, 8)</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How do translations affect the coordinates?</a:t>
            </a:r>
            <a:endParaRPr lang="en-US" sz="1950" dirty="0"/>
          </a:p>
        </p:txBody>
      </p:sp>
      <p:sp>
        <p:nvSpPr>
          <p:cNvPr id="5" name="Shape 5"/>
          <p:cNvSpPr txBox="1"/>
          <p:nvPr/>
        </p:nvSpPr>
        <p:spPr>
          <a:xfrm>
            <a:off x="685800" y="2362962"/>
            <a:ext cx="235153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Original point</a:t>
            </a:r>
            <a:endParaRPr lang="en-US" sz="1950" dirty="0"/>
          </a:p>
        </p:txBody>
      </p:sp>
      <p:sp>
        <p:nvSpPr>
          <p:cNvPr id="6" name="Shape 6"/>
          <p:cNvSpPr txBox="1"/>
          <p:nvPr/>
        </p:nvSpPr>
        <p:spPr>
          <a:xfrm>
            <a:off x="3037332" y="2362962"/>
            <a:ext cx="183642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up</a:t>
            </a:r>
            <a:endParaRPr lang="en-US" sz="1950" dirty="0"/>
          </a:p>
        </p:txBody>
      </p:sp>
      <p:sp>
        <p:nvSpPr>
          <p:cNvPr id="7" name="Shape 7"/>
          <p:cNvSpPr txBox="1"/>
          <p:nvPr/>
        </p:nvSpPr>
        <p:spPr>
          <a:xfrm>
            <a:off x="4873752" y="236296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down</a:t>
            </a:r>
            <a:endParaRPr lang="en-US" sz="1950" dirty="0"/>
          </a:p>
        </p:txBody>
      </p:sp>
      <p:sp>
        <p:nvSpPr>
          <p:cNvPr id="8" name="Shape 8"/>
          <p:cNvSpPr txBox="1"/>
          <p:nvPr/>
        </p:nvSpPr>
        <p:spPr>
          <a:xfrm>
            <a:off x="685800" y="2806446"/>
            <a:ext cx="235153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endParaRPr lang="en-US" sz="1950" dirty="0"/>
          </a:p>
        </p:txBody>
      </p:sp>
      <p:sp>
        <p:nvSpPr>
          <p:cNvPr id="9" name="Shape 9"/>
          <p:cNvSpPr txBox="1"/>
          <p:nvPr/>
        </p:nvSpPr>
        <p:spPr>
          <a:xfrm>
            <a:off x="3037332" y="2806446"/>
            <a:ext cx="183642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3037332" y="2806446"/>
            <a:ext cx="183642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1" name="Shape 11"/>
          <p:cNvSpPr txBox="1"/>
          <p:nvPr/>
        </p:nvSpPr>
        <p:spPr>
          <a:xfrm>
            <a:off x="4873752" y="2806446"/>
            <a:ext cx="2093976"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806446"/>
            <a:ext cx="2093976"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3" name="Shape 13"/>
          <p:cNvSpPr txBox="1"/>
          <p:nvPr/>
        </p:nvSpPr>
        <p:spPr>
          <a:xfrm>
            <a:off x="685800" y="33451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Draw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 translation of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up 4 units.</a:t>
            </a:r>
            <a:endParaRPr lang="en-US" sz="1575" dirty="0"/>
          </a:p>
        </p:txBody>
      </p:sp>
      <p:sp>
        <p:nvSpPr>
          <p:cNvPr id="14" name="Shape 14"/>
          <p:cNvSpPr txBox="1"/>
          <p:nvPr/>
        </p:nvSpPr>
        <p:spPr>
          <a:xfrm>
            <a:off x="685800" y="37353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(−8, −4)</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(8, 12)</a:t>
            </a:r>
            <a:r>
              <a:rPr lang="en-US" sz="1575" dirty="0">
                <a:solidFill>
                  <a:srgbClr val="16171D"/>
                </a:solidFill>
                <a:latin typeface="Segoe UI"/>
                <a:cs typeface="Segoe UI"/>
              </a:rPr>
              <a:t xml:space="preserve">. Every point moves straight up 4, so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to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15" name="Shape 15"/>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6" name="Line 16"/>
          <p:cNvCxnSpPr/>
          <p:nvPr/>
        </p:nvCxnSpPr>
        <p:spPr>
          <a:xfrm>
            <a:off x="6610198" y="1732788"/>
            <a:ext cx="0" cy="3448050"/>
          </a:xfrm>
          <a:prstGeom prst="line">
            <a:avLst/>
          </a:prstGeom>
          <a:ln w="9525" cap="flat">
            <a:solidFill>
              <a:srgbClr val="E6E8F2"/>
            </a:solidFill>
          </a:ln>
        </p:spPr>
      </p:cxnSp>
      <p:cxnSp>
        <p:nvCxnSpPr>
          <p:cNvPr id="17" name="Line 17"/>
          <p:cNvCxnSpPr/>
          <p:nvPr/>
        </p:nvCxnSpPr>
        <p:spPr>
          <a:xfrm>
            <a:off x="6891185" y="1732788"/>
            <a:ext cx="0" cy="3448050"/>
          </a:xfrm>
          <a:prstGeom prst="line">
            <a:avLst/>
          </a:prstGeom>
          <a:ln w="9525" cap="flat">
            <a:solidFill>
              <a:srgbClr val="E6E8F2"/>
            </a:solidFill>
          </a:ln>
        </p:spPr>
      </p:cxnSp>
      <p:cxnSp>
        <p:nvCxnSpPr>
          <p:cNvPr id="18" name="Line 18"/>
          <p:cNvCxnSpPr/>
          <p:nvPr/>
        </p:nvCxnSpPr>
        <p:spPr>
          <a:xfrm>
            <a:off x="7172173" y="1732788"/>
            <a:ext cx="0" cy="3448050"/>
          </a:xfrm>
          <a:prstGeom prst="line">
            <a:avLst/>
          </a:prstGeom>
          <a:ln w="9525" cap="flat">
            <a:solidFill>
              <a:srgbClr val="E6E8F2"/>
            </a:solidFill>
          </a:ln>
        </p:spPr>
      </p:cxnSp>
      <p:cxnSp>
        <p:nvCxnSpPr>
          <p:cNvPr id="19" name="Line 19"/>
          <p:cNvCxnSpPr/>
          <p:nvPr/>
        </p:nvCxnSpPr>
        <p:spPr>
          <a:xfrm>
            <a:off x="7453160" y="1732788"/>
            <a:ext cx="0" cy="3448050"/>
          </a:xfrm>
          <a:prstGeom prst="line">
            <a:avLst/>
          </a:prstGeom>
          <a:ln w="9525" cap="flat">
            <a:solidFill>
              <a:srgbClr val="E6E8F2"/>
            </a:solidFill>
          </a:ln>
        </p:spPr>
      </p:cxnSp>
      <p:cxnSp>
        <p:nvCxnSpPr>
          <p:cNvPr id="20" name="Line 20"/>
          <p:cNvCxnSpPr/>
          <p:nvPr/>
        </p:nvCxnSpPr>
        <p:spPr>
          <a:xfrm>
            <a:off x="7734148" y="1732788"/>
            <a:ext cx="0" cy="3448050"/>
          </a:xfrm>
          <a:prstGeom prst="line">
            <a:avLst/>
          </a:prstGeom>
          <a:ln w="9525" cap="flat">
            <a:solidFill>
              <a:srgbClr val="E6E8F2"/>
            </a:solidFill>
          </a:ln>
        </p:spPr>
      </p:cxnSp>
      <p:cxnSp>
        <p:nvCxnSpPr>
          <p:cNvPr id="21" name="Line 21"/>
          <p:cNvCxnSpPr/>
          <p:nvPr/>
        </p:nvCxnSpPr>
        <p:spPr>
          <a:xfrm>
            <a:off x="8015135" y="1732788"/>
            <a:ext cx="0" cy="3448050"/>
          </a:xfrm>
          <a:prstGeom prst="line">
            <a:avLst/>
          </a:prstGeom>
          <a:ln w="9525" cap="flat">
            <a:solidFill>
              <a:srgbClr val="E6E8F2"/>
            </a:solidFill>
          </a:ln>
        </p:spPr>
      </p:cxnSp>
      <p:cxnSp>
        <p:nvCxnSpPr>
          <p:cNvPr id="22" name="Line 22"/>
          <p:cNvCxnSpPr/>
          <p:nvPr/>
        </p:nvCxnSpPr>
        <p:spPr>
          <a:xfrm>
            <a:off x="8296123" y="1732788"/>
            <a:ext cx="0" cy="3448050"/>
          </a:xfrm>
          <a:prstGeom prst="line">
            <a:avLst/>
          </a:prstGeom>
          <a:ln w="9525" cap="flat">
            <a:solidFill>
              <a:srgbClr val="E6E8F2"/>
            </a:solidFill>
          </a:ln>
        </p:spPr>
      </p:cxnSp>
      <p:cxnSp>
        <p:nvCxnSpPr>
          <p:cNvPr id="23" name="Line 23"/>
          <p:cNvCxnSpPr/>
          <p:nvPr/>
        </p:nvCxnSpPr>
        <p:spPr>
          <a:xfrm>
            <a:off x="8577110" y="1732788"/>
            <a:ext cx="0" cy="3448050"/>
          </a:xfrm>
          <a:prstGeom prst="line">
            <a:avLst/>
          </a:prstGeom>
          <a:ln w="9525" cap="flat">
            <a:solidFill>
              <a:srgbClr val="E6E8F2"/>
            </a:solidFill>
          </a:ln>
        </p:spPr>
      </p:cxnSp>
      <p:cxnSp>
        <p:nvCxnSpPr>
          <p:cNvPr id="24" name="Line 24"/>
          <p:cNvCxnSpPr/>
          <p:nvPr/>
        </p:nvCxnSpPr>
        <p:spPr>
          <a:xfrm>
            <a:off x="8858098" y="1732788"/>
            <a:ext cx="0" cy="3448050"/>
          </a:xfrm>
          <a:prstGeom prst="line">
            <a:avLst/>
          </a:prstGeom>
          <a:ln w="9525" cap="flat">
            <a:solidFill>
              <a:srgbClr val="E6E8F2"/>
            </a:solidFill>
          </a:ln>
        </p:spPr>
      </p:cxnSp>
      <p:cxnSp>
        <p:nvCxnSpPr>
          <p:cNvPr id="25" name="Line 25"/>
          <p:cNvCxnSpPr/>
          <p:nvPr/>
        </p:nvCxnSpPr>
        <p:spPr>
          <a:xfrm>
            <a:off x="9139085" y="1732788"/>
            <a:ext cx="0" cy="3448050"/>
          </a:xfrm>
          <a:prstGeom prst="line">
            <a:avLst/>
          </a:prstGeom>
          <a:ln w="9525" cap="flat">
            <a:solidFill>
              <a:srgbClr val="E6E8F2"/>
            </a:solidFill>
          </a:ln>
        </p:spPr>
      </p:cxnSp>
      <p:cxnSp>
        <p:nvCxnSpPr>
          <p:cNvPr id="26" name="Line 26"/>
          <p:cNvCxnSpPr/>
          <p:nvPr/>
        </p:nvCxnSpPr>
        <p:spPr>
          <a:xfrm>
            <a:off x="9420073" y="1732788"/>
            <a:ext cx="0" cy="3448050"/>
          </a:xfrm>
          <a:prstGeom prst="line">
            <a:avLst/>
          </a:prstGeom>
          <a:ln w="9525" cap="flat">
            <a:solidFill>
              <a:srgbClr val="E6E8F2"/>
            </a:solidFill>
          </a:ln>
        </p:spPr>
      </p:cxnSp>
      <p:cxnSp>
        <p:nvCxnSpPr>
          <p:cNvPr id="27" name="Line 27"/>
          <p:cNvCxnSpPr/>
          <p:nvPr/>
        </p:nvCxnSpPr>
        <p:spPr>
          <a:xfrm>
            <a:off x="9701060" y="1732788"/>
            <a:ext cx="0" cy="3448050"/>
          </a:xfrm>
          <a:prstGeom prst="line">
            <a:avLst/>
          </a:prstGeom>
          <a:ln w="9525" cap="flat">
            <a:solidFill>
              <a:srgbClr val="E6E8F2"/>
            </a:solidFill>
          </a:ln>
        </p:spPr>
      </p:cxnSp>
      <p:cxnSp>
        <p:nvCxnSpPr>
          <p:cNvPr id="28" name="Line 28"/>
          <p:cNvCxnSpPr/>
          <p:nvPr/>
        </p:nvCxnSpPr>
        <p:spPr>
          <a:xfrm>
            <a:off x="9982048" y="1732788"/>
            <a:ext cx="0" cy="3448050"/>
          </a:xfrm>
          <a:prstGeom prst="line">
            <a:avLst/>
          </a:prstGeom>
          <a:ln w="9525" cap="flat">
            <a:solidFill>
              <a:srgbClr val="E6E8F2"/>
            </a:solidFill>
          </a:ln>
        </p:spPr>
      </p:cxnSp>
      <p:cxnSp>
        <p:nvCxnSpPr>
          <p:cNvPr id="29" name="Line 29"/>
          <p:cNvCxnSpPr/>
          <p:nvPr/>
        </p:nvCxnSpPr>
        <p:spPr>
          <a:xfrm>
            <a:off x="6610198" y="5180838"/>
            <a:ext cx="3371850" cy="0"/>
          </a:xfrm>
          <a:prstGeom prst="line">
            <a:avLst/>
          </a:prstGeom>
          <a:ln w="9525" cap="flat">
            <a:solidFill>
              <a:srgbClr val="E6E8F2"/>
            </a:solidFill>
          </a:ln>
        </p:spPr>
      </p:cxnSp>
      <p:cxnSp>
        <p:nvCxnSpPr>
          <p:cNvPr id="30" name="Line 30"/>
          <p:cNvCxnSpPr/>
          <p:nvPr/>
        </p:nvCxnSpPr>
        <p:spPr>
          <a:xfrm>
            <a:off x="6610198" y="4893500"/>
            <a:ext cx="3371850" cy="0"/>
          </a:xfrm>
          <a:prstGeom prst="line">
            <a:avLst/>
          </a:prstGeom>
          <a:ln w="9525" cap="flat">
            <a:solidFill>
              <a:srgbClr val="E6E8F2"/>
            </a:solidFill>
          </a:ln>
        </p:spPr>
      </p:cxnSp>
      <p:cxnSp>
        <p:nvCxnSpPr>
          <p:cNvPr id="31" name="Line 31"/>
          <p:cNvCxnSpPr/>
          <p:nvPr/>
        </p:nvCxnSpPr>
        <p:spPr>
          <a:xfrm>
            <a:off x="6610198" y="4606163"/>
            <a:ext cx="3371850" cy="0"/>
          </a:xfrm>
          <a:prstGeom prst="line">
            <a:avLst/>
          </a:prstGeom>
          <a:ln w="9525" cap="flat">
            <a:solidFill>
              <a:srgbClr val="E6E8F2"/>
            </a:solidFill>
          </a:ln>
        </p:spPr>
      </p:cxnSp>
      <p:cxnSp>
        <p:nvCxnSpPr>
          <p:cNvPr id="32" name="Line 32"/>
          <p:cNvCxnSpPr/>
          <p:nvPr/>
        </p:nvCxnSpPr>
        <p:spPr>
          <a:xfrm>
            <a:off x="6610198" y="4318826"/>
            <a:ext cx="3371850" cy="0"/>
          </a:xfrm>
          <a:prstGeom prst="line">
            <a:avLst/>
          </a:prstGeom>
          <a:ln w="9525" cap="flat">
            <a:solidFill>
              <a:srgbClr val="E6E8F2"/>
            </a:solidFill>
          </a:ln>
        </p:spPr>
      </p:cxnSp>
      <p:cxnSp>
        <p:nvCxnSpPr>
          <p:cNvPr id="33" name="Line 33"/>
          <p:cNvCxnSpPr/>
          <p:nvPr/>
        </p:nvCxnSpPr>
        <p:spPr>
          <a:xfrm>
            <a:off x="6610198" y="4031488"/>
            <a:ext cx="3371850" cy="0"/>
          </a:xfrm>
          <a:prstGeom prst="line">
            <a:avLst/>
          </a:prstGeom>
          <a:ln w="9525" cap="flat">
            <a:solidFill>
              <a:srgbClr val="E6E8F2"/>
            </a:solidFill>
          </a:ln>
        </p:spPr>
      </p:cxnSp>
      <p:cxnSp>
        <p:nvCxnSpPr>
          <p:cNvPr id="34" name="Line 34"/>
          <p:cNvCxnSpPr/>
          <p:nvPr/>
        </p:nvCxnSpPr>
        <p:spPr>
          <a:xfrm>
            <a:off x="6610198" y="3744151"/>
            <a:ext cx="3371850" cy="0"/>
          </a:xfrm>
          <a:prstGeom prst="line">
            <a:avLst/>
          </a:prstGeom>
          <a:ln w="9525" cap="flat">
            <a:solidFill>
              <a:srgbClr val="E6E8F2"/>
            </a:solidFill>
          </a:ln>
        </p:spPr>
      </p:cxnSp>
      <p:cxnSp>
        <p:nvCxnSpPr>
          <p:cNvPr id="35" name="Line 35"/>
          <p:cNvCxnSpPr/>
          <p:nvPr/>
        </p:nvCxnSpPr>
        <p:spPr>
          <a:xfrm>
            <a:off x="6610198" y="3456813"/>
            <a:ext cx="3371850" cy="0"/>
          </a:xfrm>
          <a:prstGeom prst="line">
            <a:avLst/>
          </a:prstGeom>
          <a:ln w="9525" cap="flat">
            <a:solidFill>
              <a:srgbClr val="E6E8F2"/>
            </a:solidFill>
          </a:ln>
        </p:spPr>
      </p:cxnSp>
      <p:cxnSp>
        <p:nvCxnSpPr>
          <p:cNvPr id="36" name="Line 36"/>
          <p:cNvCxnSpPr/>
          <p:nvPr/>
        </p:nvCxnSpPr>
        <p:spPr>
          <a:xfrm>
            <a:off x="6610198" y="3169476"/>
            <a:ext cx="3371850" cy="0"/>
          </a:xfrm>
          <a:prstGeom prst="line">
            <a:avLst/>
          </a:prstGeom>
          <a:ln w="9525" cap="flat">
            <a:solidFill>
              <a:srgbClr val="E6E8F2"/>
            </a:solidFill>
          </a:ln>
        </p:spPr>
      </p:cxnSp>
      <p:cxnSp>
        <p:nvCxnSpPr>
          <p:cNvPr id="37" name="Line 37"/>
          <p:cNvCxnSpPr/>
          <p:nvPr/>
        </p:nvCxnSpPr>
        <p:spPr>
          <a:xfrm>
            <a:off x="6610198" y="2882138"/>
            <a:ext cx="3371850" cy="0"/>
          </a:xfrm>
          <a:prstGeom prst="line">
            <a:avLst/>
          </a:prstGeom>
          <a:ln w="9525" cap="flat">
            <a:solidFill>
              <a:srgbClr val="E6E8F2"/>
            </a:solidFill>
          </a:ln>
        </p:spPr>
      </p:cxnSp>
      <p:cxnSp>
        <p:nvCxnSpPr>
          <p:cNvPr id="38" name="Line 38"/>
          <p:cNvCxnSpPr/>
          <p:nvPr/>
        </p:nvCxnSpPr>
        <p:spPr>
          <a:xfrm>
            <a:off x="6610198" y="2594800"/>
            <a:ext cx="3371850" cy="0"/>
          </a:xfrm>
          <a:prstGeom prst="line">
            <a:avLst/>
          </a:prstGeom>
          <a:ln w="9525" cap="flat">
            <a:solidFill>
              <a:srgbClr val="E6E8F2"/>
            </a:solidFill>
          </a:ln>
        </p:spPr>
      </p:cxnSp>
      <p:cxnSp>
        <p:nvCxnSpPr>
          <p:cNvPr id="39" name="Line 39"/>
          <p:cNvCxnSpPr/>
          <p:nvPr/>
        </p:nvCxnSpPr>
        <p:spPr>
          <a:xfrm>
            <a:off x="6610198" y="2307463"/>
            <a:ext cx="3371850" cy="0"/>
          </a:xfrm>
          <a:prstGeom prst="line">
            <a:avLst/>
          </a:prstGeom>
          <a:ln w="9525" cap="flat">
            <a:solidFill>
              <a:srgbClr val="E6E8F2"/>
            </a:solidFill>
          </a:ln>
        </p:spPr>
      </p:cxnSp>
      <p:cxnSp>
        <p:nvCxnSpPr>
          <p:cNvPr id="40" name="Line 40"/>
          <p:cNvCxnSpPr/>
          <p:nvPr/>
        </p:nvCxnSpPr>
        <p:spPr>
          <a:xfrm>
            <a:off x="6610198" y="2020126"/>
            <a:ext cx="3371850" cy="0"/>
          </a:xfrm>
          <a:prstGeom prst="line">
            <a:avLst/>
          </a:prstGeom>
          <a:ln w="9525" cap="flat">
            <a:solidFill>
              <a:srgbClr val="E6E8F2"/>
            </a:solidFill>
          </a:ln>
        </p:spPr>
      </p:cxnSp>
      <p:cxnSp>
        <p:nvCxnSpPr>
          <p:cNvPr id="41" name="Line 41"/>
          <p:cNvCxnSpPr/>
          <p:nvPr/>
        </p:nvCxnSpPr>
        <p:spPr>
          <a:xfrm>
            <a:off x="6610198" y="1732788"/>
            <a:ext cx="3371850" cy="0"/>
          </a:xfrm>
          <a:prstGeom prst="line">
            <a:avLst/>
          </a:prstGeom>
          <a:ln w="9525" cap="flat">
            <a:solidFill>
              <a:srgbClr val="E6E8F2"/>
            </a:solidFill>
          </a:ln>
        </p:spPr>
      </p:cxnSp>
      <p:cxnSp>
        <p:nvCxnSpPr>
          <p:cNvPr id="42" name="Line 42"/>
          <p:cNvCxnSpPr/>
          <p:nvPr/>
        </p:nvCxnSpPr>
        <p:spPr>
          <a:xfrm>
            <a:off x="8015135" y="1732788"/>
            <a:ext cx="0" cy="3448050"/>
          </a:xfrm>
          <a:prstGeom prst="line">
            <a:avLst/>
          </a:prstGeom>
          <a:ln w="19050" cap="flat">
            <a:solidFill>
              <a:srgbClr val="5F6272"/>
            </a:solidFill>
          </a:ln>
        </p:spPr>
      </p:cxnSp>
      <p:cxnSp>
        <p:nvCxnSpPr>
          <p:cNvPr id="43" name="Line 43"/>
          <p:cNvCxnSpPr/>
          <p:nvPr/>
        </p:nvCxnSpPr>
        <p:spPr>
          <a:xfrm>
            <a:off x="6610198" y="3744151"/>
            <a:ext cx="3371850" cy="0"/>
          </a:xfrm>
          <a:prstGeom prst="line">
            <a:avLst/>
          </a:prstGeom>
          <a:ln w="19050" cap="flat">
            <a:solidFill>
              <a:srgbClr val="5F6272"/>
            </a:solidFill>
          </a:ln>
        </p:spPr>
      </p:cxnSp>
      <p:sp>
        <p:nvSpPr>
          <p:cNvPr id="44" name="Shape 44"/>
          <p:cNvSpPr txBox="1"/>
          <p:nvPr/>
        </p:nvSpPr>
        <p:spPr>
          <a:xfrm>
            <a:off x="66168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71788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74081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30279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8647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94267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6043270" y="48020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6043270" y="42273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52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043270" y="3078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503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5" name="Shape 55"/>
          <p:cNvSpPr txBox="1"/>
          <p:nvPr/>
        </p:nvSpPr>
        <p:spPr>
          <a:xfrm>
            <a:off x="6043270" y="1928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cxnSp>
        <p:nvCxnSpPr>
          <p:cNvPr id="56" name="Line 56"/>
          <p:cNvCxnSpPr/>
          <p:nvPr/>
        </p:nvCxnSpPr>
        <p:spPr>
          <a:xfrm flipV="1">
            <a:off x="6891185" y="2594800"/>
            <a:ext cx="2247900" cy="2298700"/>
          </a:xfrm>
          <a:prstGeom prst="line">
            <a:avLst/>
          </a:prstGeom>
          <a:ln w="38100" cap="rnd">
            <a:solidFill>
              <a:srgbClr val="16171D"/>
            </a:solidFill>
          </a:ln>
        </p:spPr>
      </p:cxnSp>
      <p:sp>
        <p:nvSpPr>
          <p:cNvPr id="57" name="Shape 57"/>
          <p:cNvSpPr txBox="1"/>
          <p:nvPr/>
        </p:nvSpPr>
        <p:spPr>
          <a:xfrm>
            <a:off x="6647345" y="261385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8" name="Line 58"/>
          <p:cNvCxnSpPr/>
          <p:nvPr/>
        </p:nvCxnSpPr>
        <p:spPr>
          <a:xfrm flipV="1">
            <a:off x="6891185" y="2020126"/>
            <a:ext cx="2247900" cy="2298700"/>
          </a:xfrm>
          <a:prstGeom prst="line">
            <a:avLst/>
          </a:prstGeom>
          <a:ln w="38100" cap="rnd">
            <a:solidFill>
              <a:srgbClr val="7A4FC4"/>
            </a:solidFill>
          </a:ln>
        </p:spPr>
      </p:cxnSp>
      <p:sp>
        <p:nvSpPr>
          <p:cNvPr id="59" name="Shape 59"/>
          <p:cNvSpPr txBox="1"/>
          <p:nvPr/>
        </p:nvSpPr>
        <p:spPr>
          <a:xfrm>
            <a:off x="6647345" y="20391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CD</a:t>
            </a:r>
            <a:endParaRPr lang="en-US" sz="127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wipe(left)">
                                      <p:cBhvr>
                                        <p:cTn id="25" dur="700"/>
                                        <p:tgtEl>
                                          <p:spTgt spid="58"/>
                                        </p:tgtEl>
                                      </p:cBhvr>
                                    </p:animEffect>
                                  </p:childTnLst>
                                </p:cTn>
                              </p:par>
                              <p:par>
                                <p:cTn id="29" presetID="22" presetClass="entr" presetSubtype="8" fill="hold"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wipe(left)">
                                      <p:cBhvr>
                                        <p:cTn id="28"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Dilations · SE p. 271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every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-coordinate by 2, then by −2</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points move straight up or down, away from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(twice as far).</a:t>
            </a:r>
            <a:endParaRPr lang="en-US" sz="1575" dirty="0"/>
          </a:p>
        </p:txBody>
      </p:sp>
      <p:sp>
        <p:nvSpPr>
          <p:cNvPr id="5" name="Shape 5"/>
          <p:cNvSpPr txBox="1"/>
          <p:nvPr/>
        </p:nvSpPr>
        <p:spPr>
          <a:xfrm>
            <a:off x="685800" y="224866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E</a:t>
            </a:r>
            <a:r>
              <a:rPr lang="en-US" sz="1575" dirty="0" i="1">
                <a:solidFill>
                  <a:srgbClr val="16171D"/>
                </a:solidFill>
                <a:latin typeface="Cambria"/>
                <a:cs typeface="Cambria"/>
              </a:rPr>
              <a:t xml:space="preserve">F</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steeper</a:t>
            </a:r>
            <a:r>
              <a:rPr lang="en-US" sz="1575" dirty="0">
                <a:solidFill>
                  <a:srgbClr val="16171D"/>
                </a:solidFill>
                <a:latin typeface="Segoe UI"/>
                <a:cs typeface="Segoe UI"/>
              </a:rPr>
              <a:t xml:space="preserve">: a vertical stretch.</a:t>
            </a:r>
            <a:endParaRPr lang="en-US" sz="1575" dirty="0"/>
          </a:p>
        </p:txBody>
      </p:sp>
      <p:sp>
        <p:nvSpPr>
          <p:cNvPr id="6" name="Shape 6"/>
          <p:cNvSpPr txBox="1"/>
          <p:nvPr/>
        </p:nvSpPr>
        <p:spPr>
          <a:xfrm>
            <a:off x="685800"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Steeper </a:t>
            </a:r>
            <a:r>
              <a:rPr lang="en-US" sz="1575" dirty="0" b="1">
                <a:solidFill>
                  <a:srgbClr val="16171D"/>
                </a:solidFill>
                <a:latin typeface="Segoe UI"/>
                <a:cs typeface="Segoe UI"/>
              </a:rPr>
              <a:t xml:space="preserve">and reflected</a:t>
            </a:r>
            <a:r>
              <a:rPr lang="en-US" sz="1575" dirty="0">
                <a:solidFill>
                  <a:srgbClr val="16171D"/>
                </a:solidFill>
                <a:latin typeface="Segoe UI"/>
                <a:cs typeface="Segoe UI"/>
              </a:rPr>
              <a:t xml:space="preserve">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7" name="Shape 7"/>
          <p:cNvSpPr txBox="1"/>
          <p:nvPr/>
        </p:nvSpPr>
        <p:spPr>
          <a:xfrm>
            <a:off x="685800"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segments pass through the origin, which doesn't move.</a:t>
            </a:r>
            <a:endParaRPr lang="en-US" sz="1575" dirty="0"/>
          </a:p>
        </p:txBody>
      </p:sp>
      <p:sp>
        <p:nvSpPr>
          <p:cNvPr id="8" name="Shape 8"/>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448050"/>
          </a:xfrm>
          <a:prstGeom prst="line">
            <a:avLst/>
          </a:prstGeom>
          <a:ln w="9525" cap="flat">
            <a:solidFill>
              <a:srgbClr val="E6E8F2"/>
            </a:solidFill>
          </a:ln>
        </p:spPr>
      </p:cxnSp>
      <p:cxnSp>
        <p:nvCxnSpPr>
          <p:cNvPr id="10" name="Line 10"/>
          <p:cNvCxnSpPr/>
          <p:nvPr/>
        </p:nvCxnSpPr>
        <p:spPr>
          <a:xfrm>
            <a:off x="6947383" y="1732788"/>
            <a:ext cx="0" cy="3448050"/>
          </a:xfrm>
          <a:prstGeom prst="line">
            <a:avLst/>
          </a:prstGeom>
          <a:ln w="9525" cap="flat">
            <a:solidFill>
              <a:srgbClr val="E6E8F2"/>
            </a:solidFill>
          </a:ln>
        </p:spPr>
      </p:cxnSp>
      <p:cxnSp>
        <p:nvCxnSpPr>
          <p:cNvPr id="11" name="Line 11"/>
          <p:cNvCxnSpPr/>
          <p:nvPr/>
        </p:nvCxnSpPr>
        <p:spPr>
          <a:xfrm>
            <a:off x="7284568" y="1732788"/>
            <a:ext cx="0" cy="3448050"/>
          </a:xfrm>
          <a:prstGeom prst="line">
            <a:avLst/>
          </a:prstGeom>
          <a:ln w="9525" cap="flat">
            <a:solidFill>
              <a:srgbClr val="E6E8F2"/>
            </a:solidFill>
          </a:ln>
        </p:spPr>
      </p:cxnSp>
      <p:cxnSp>
        <p:nvCxnSpPr>
          <p:cNvPr id="12" name="Line 12"/>
          <p:cNvCxnSpPr/>
          <p:nvPr/>
        </p:nvCxnSpPr>
        <p:spPr>
          <a:xfrm>
            <a:off x="7621753" y="1732788"/>
            <a:ext cx="0" cy="3448050"/>
          </a:xfrm>
          <a:prstGeom prst="line">
            <a:avLst/>
          </a:prstGeom>
          <a:ln w="9525" cap="flat">
            <a:solidFill>
              <a:srgbClr val="E6E8F2"/>
            </a:solidFill>
          </a:ln>
        </p:spPr>
      </p:cxnSp>
      <p:cxnSp>
        <p:nvCxnSpPr>
          <p:cNvPr id="13" name="Line 13"/>
          <p:cNvCxnSpPr/>
          <p:nvPr/>
        </p:nvCxnSpPr>
        <p:spPr>
          <a:xfrm>
            <a:off x="7958938" y="1732788"/>
            <a:ext cx="0" cy="3448050"/>
          </a:xfrm>
          <a:prstGeom prst="line">
            <a:avLst/>
          </a:prstGeom>
          <a:ln w="9525" cap="flat">
            <a:solidFill>
              <a:srgbClr val="E6E8F2"/>
            </a:solidFill>
          </a:ln>
        </p:spPr>
      </p:cxnSp>
      <p:cxnSp>
        <p:nvCxnSpPr>
          <p:cNvPr id="14" name="Line 14"/>
          <p:cNvCxnSpPr/>
          <p:nvPr/>
        </p:nvCxnSpPr>
        <p:spPr>
          <a:xfrm>
            <a:off x="8296123" y="1732788"/>
            <a:ext cx="0" cy="3448050"/>
          </a:xfrm>
          <a:prstGeom prst="line">
            <a:avLst/>
          </a:prstGeom>
          <a:ln w="9525" cap="flat">
            <a:solidFill>
              <a:srgbClr val="E6E8F2"/>
            </a:solidFill>
          </a:ln>
        </p:spPr>
      </p:cxnSp>
      <p:cxnSp>
        <p:nvCxnSpPr>
          <p:cNvPr id="15" name="Line 15"/>
          <p:cNvCxnSpPr/>
          <p:nvPr/>
        </p:nvCxnSpPr>
        <p:spPr>
          <a:xfrm>
            <a:off x="8633308" y="1732788"/>
            <a:ext cx="0" cy="3448050"/>
          </a:xfrm>
          <a:prstGeom prst="line">
            <a:avLst/>
          </a:prstGeom>
          <a:ln w="9525" cap="flat">
            <a:solidFill>
              <a:srgbClr val="E6E8F2"/>
            </a:solidFill>
          </a:ln>
        </p:spPr>
      </p:cxnSp>
      <p:cxnSp>
        <p:nvCxnSpPr>
          <p:cNvPr id="16" name="Line 16"/>
          <p:cNvCxnSpPr/>
          <p:nvPr/>
        </p:nvCxnSpPr>
        <p:spPr>
          <a:xfrm>
            <a:off x="8970493" y="1732788"/>
            <a:ext cx="0" cy="3448050"/>
          </a:xfrm>
          <a:prstGeom prst="line">
            <a:avLst/>
          </a:prstGeom>
          <a:ln w="9525" cap="flat">
            <a:solidFill>
              <a:srgbClr val="E6E8F2"/>
            </a:solidFill>
          </a:ln>
        </p:spPr>
      </p:cxnSp>
      <p:cxnSp>
        <p:nvCxnSpPr>
          <p:cNvPr id="17" name="Line 17"/>
          <p:cNvCxnSpPr/>
          <p:nvPr/>
        </p:nvCxnSpPr>
        <p:spPr>
          <a:xfrm>
            <a:off x="9307678" y="1732788"/>
            <a:ext cx="0" cy="3448050"/>
          </a:xfrm>
          <a:prstGeom prst="line">
            <a:avLst/>
          </a:prstGeom>
          <a:ln w="9525" cap="flat">
            <a:solidFill>
              <a:srgbClr val="E6E8F2"/>
            </a:solidFill>
          </a:ln>
        </p:spPr>
      </p:cxnSp>
      <p:cxnSp>
        <p:nvCxnSpPr>
          <p:cNvPr id="18" name="Line 18"/>
          <p:cNvCxnSpPr/>
          <p:nvPr/>
        </p:nvCxnSpPr>
        <p:spPr>
          <a:xfrm>
            <a:off x="9644863" y="1732788"/>
            <a:ext cx="0" cy="3448050"/>
          </a:xfrm>
          <a:prstGeom prst="line">
            <a:avLst/>
          </a:prstGeom>
          <a:ln w="9525" cap="flat">
            <a:solidFill>
              <a:srgbClr val="E6E8F2"/>
            </a:solidFill>
          </a:ln>
        </p:spPr>
      </p:cxnSp>
      <p:cxnSp>
        <p:nvCxnSpPr>
          <p:cNvPr id="19" name="Line 19"/>
          <p:cNvCxnSpPr/>
          <p:nvPr/>
        </p:nvCxnSpPr>
        <p:spPr>
          <a:xfrm>
            <a:off x="9982048" y="1732788"/>
            <a:ext cx="0" cy="3448050"/>
          </a:xfrm>
          <a:prstGeom prst="line">
            <a:avLst/>
          </a:prstGeom>
          <a:ln w="9525" cap="flat">
            <a:solidFill>
              <a:srgbClr val="E6E8F2"/>
            </a:solidFill>
          </a:ln>
        </p:spPr>
      </p:cxnSp>
      <p:cxnSp>
        <p:nvCxnSpPr>
          <p:cNvPr id="20" name="Line 20"/>
          <p:cNvCxnSpPr/>
          <p:nvPr/>
        </p:nvCxnSpPr>
        <p:spPr>
          <a:xfrm>
            <a:off x="6610198" y="5180838"/>
            <a:ext cx="3371850" cy="0"/>
          </a:xfrm>
          <a:prstGeom prst="line">
            <a:avLst/>
          </a:prstGeom>
          <a:ln w="9525" cap="flat">
            <a:solidFill>
              <a:srgbClr val="E6E8F2"/>
            </a:solidFill>
          </a:ln>
        </p:spPr>
      </p:cxnSp>
      <p:cxnSp>
        <p:nvCxnSpPr>
          <p:cNvPr id="21" name="Line 21"/>
          <p:cNvCxnSpPr/>
          <p:nvPr/>
        </p:nvCxnSpPr>
        <p:spPr>
          <a:xfrm>
            <a:off x="6610198" y="4989280"/>
            <a:ext cx="3371850" cy="0"/>
          </a:xfrm>
          <a:prstGeom prst="line">
            <a:avLst/>
          </a:prstGeom>
          <a:ln w="9525" cap="flat">
            <a:solidFill>
              <a:srgbClr val="E6E8F2"/>
            </a:solidFill>
          </a:ln>
        </p:spPr>
      </p:cxnSp>
      <p:cxnSp>
        <p:nvCxnSpPr>
          <p:cNvPr id="22" name="Line 22"/>
          <p:cNvCxnSpPr/>
          <p:nvPr/>
        </p:nvCxnSpPr>
        <p:spPr>
          <a:xfrm>
            <a:off x="6610198" y="4797721"/>
            <a:ext cx="3371850" cy="0"/>
          </a:xfrm>
          <a:prstGeom prst="line">
            <a:avLst/>
          </a:prstGeom>
          <a:ln w="9525" cap="flat">
            <a:solidFill>
              <a:srgbClr val="E6E8F2"/>
            </a:solidFill>
          </a:ln>
        </p:spPr>
      </p:cxnSp>
      <p:cxnSp>
        <p:nvCxnSpPr>
          <p:cNvPr id="23" name="Line 23"/>
          <p:cNvCxnSpPr/>
          <p:nvPr/>
        </p:nvCxnSpPr>
        <p:spPr>
          <a:xfrm>
            <a:off x="6610198" y="4606163"/>
            <a:ext cx="3371850" cy="0"/>
          </a:xfrm>
          <a:prstGeom prst="line">
            <a:avLst/>
          </a:prstGeom>
          <a:ln w="9525" cap="flat">
            <a:solidFill>
              <a:srgbClr val="E6E8F2"/>
            </a:solidFill>
          </a:ln>
        </p:spPr>
      </p:cxnSp>
      <p:cxnSp>
        <p:nvCxnSpPr>
          <p:cNvPr id="24" name="Line 24"/>
          <p:cNvCxnSpPr/>
          <p:nvPr/>
        </p:nvCxnSpPr>
        <p:spPr>
          <a:xfrm>
            <a:off x="6610198" y="4414605"/>
            <a:ext cx="3371850" cy="0"/>
          </a:xfrm>
          <a:prstGeom prst="line">
            <a:avLst/>
          </a:prstGeom>
          <a:ln w="9525" cap="flat">
            <a:solidFill>
              <a:srgbClr val="E6E8F2"/>
            </a:solidFill>
          </a:ln>
        </p:spPr>
      </p:cxnSp>
      <p:cxnSp>
        <p:nvCxnSpPr>
          <p:cNvPr id="25" name="Line 25"/>
          <p:cNvCxnSpPr/>
          <p:nvPr/>
        </p:nvCxnSpPr>
        <p:spPr>
          <a:xfrm>
            <a:off x="6610198" y="4223046"/>
            <a:ext cx="3371850" cy="0"/>
          </a:xfrm>
          <a:prstGeom prst="line">
            <a:avLst/>
          </a:prstGeom>
          <a:ln w="9525" cap="flat">
            <a:solidFill>
              <a:srgbClr val="E6E8F2"/>
            </a:solidFill>
          </a:ln>
        </p:spPr>
      </p:cxnSp>
      <p:cxnSp>
        <p:nvCxnSpPr>
          <p:cNvPr id="26" name="Line 26"/>
          <p:cNvCxnSpPr/>
          <p:nvPr/>
        </p:nvCxnSpPr>
        <p:spPr>
          <a:xfrm>
            <a:off x="6610198" y="4031488"/>
            <a:ext cx="3371850" cy="0"/>
          </a:xfrm>
          <a:prstGeom prst="line">
            <a:avLst/>
          </a:prstGeom>
          <a:ln w="9525" cap="flat">
            <a:solidFill>
              <a:srgbClr val="E6E8F2"/>
            </a:solidFill>
          </a:ln>
        </p:spPr>
      </p:cxnSp>
      <p:cxnSp>
        <p:nvCxnSpPr>
          <p:cNvPr id="27" name="Line 27"/>
          <p:cNvCxnSpPr/>
          <p:nvPr/>
        </p:nvCxnSpPr>
        <p:spPr>
          <a:xfrm>
            <a:off x="6610198" y="3839930"/>
            <a:ext cx="3371850" cy="0"/>
          </a:xfrm>
          <a:prstGeom prst="line">
            <a:avLst/>
          </a:prstGeom>
          <a:ln w="9525" cap="flat">
            <a:solidFill>
              <a:srgbClr val="E6E8F2"/>
            </a:solidFill>
          </a:ln>
        </p:spPr>
      </p:cxnSp>
      <p:cxnSp>
        <p:nvCxnSpPr>
          <p:cNvPr id="28" name="Line 28"/>
          <p:cNvCxnSpPr/>
          <p:nvPr/>
        </p:nvCxnSpPr>
        <p:spPr>
          <a:xfrm>
            <a:off x="6610198" y="3648371"/>
            <a:ext cx="3371850" cy="0"/>
          </a:xfrm>
          <a:prstGeom prst="line">
            <a:avLst/>
          </a:prstGeom>
          <a:ln w="9525" cap="flat">
            <a:solidFill>
              <a:srgbClr val="E6E8F2"/>
            </a:solidFill>
          </a:ln>
        </p:spPr>
      </p:cxnSp>
      <p:cxnSp>
        <p:nvCxnSpPr>
          <p:cNvPr id="29" name="Line 29"/>
          <p:cNvCxnSpPr/>
          <p:nvPr/>
        </p:nvCxnSpPr>
        <p:spPr>
          <a:xfrm>
            <a:off x="6610198" y="3456813"/>
            <a:ext cx="3371850" cy="0"/>
          </a:xfrm>
          <a:prstGeom prst="line">
            <a:avLst/>
          </a:prstGeom>
          <a:ln w="9525" cap="flat">
            <a:solidFill>
              <a:srgbClr val="E6E8F2"/>
            </a:solidFill>
          </a:ln>
        </p:spPr>
      </p:cxnSp>
      <p:cxnSp>
        <p:nvCxnSpPr>
          <p:cNvPr id="30" name="Line 30"/>
          <p:cNvCxnSpPr/>
          <p:nvPr/>
        </p:nvCxnSpPr>
        <p:spPr>
          <a:xfrm>
            <a:off x="6610198" y="3265255"/>
            <a:ext cx="3371850" cy="0"/>
          </a:xfrm>
          <a:prstGeom prst="line">
            <a:avLst/>
          </a:prstGeom>
          <a:ln w="9525" cap="flat">
            <a:solidFill>
              <a:srgbClr val="E6E8F2"/>
            </a:solidFill>
          </a:ln>
        </p:spPr>
      </p:cxnSp>
      <p:cxnSp>
        <p:nvCxnSpPr>
          <p:cNvPr id="31" name="Line 31"/>
          <p:cNvCxnSpPr/>
          <p:nvPr/>
        </p:nvCxnSpPr>
        <p:spPr>
          <a:xfrm>
            <a:off x="6610198" y="3073696"/>
            <a:ext cx="3371850" cy="0"/>
          </a:xfrm>
          <a:prstGeom prst="line">
            <a:avLst/>
          </a:prstGeom>
          <a:ln w="9525" cap="flat">
            <a:solidFill>
              <a:srgbClr val="E6E8F2"/>
            </a:solidFill>
          </a:ln>
        </p:spPr>
      </p:cxnSp>
      <p:cxnSp>
        <p:nvCxnSpPr>
          <p:cNvPr id="32" name="Line 32"/>
          <p:cNvCxnSpPr/>
          <p:nvPr/>
        </p:nvCxnSpPr>
        <p:spPr>
          <a:xfrm>
            <a:off x="6610198" y="2882138"/>
            <a:ext cx="3371850" cy="0"/>
          </a:xfrm>
          <a:prstGeom prst="line">
            <a:avLst/>
          </a:prstGeom>
          <a:ln w="9525" cap="flat">
            <a:solidFill>
              <a:srgbClr val="E6E8F2"/>
            </a:solidFill>
          </a:ln>
        </p:spPr>
      </p:cxnSp>
      <p:cxnSp>
        <p:nvCxnSpPr>
          <p:cNvPr id="33" name="Line 33"/>
          <p:cNvCxnSpPr/>
          <p:nvPr/>
        </p:nvCxnSpPr>
        <p:spPr>
          <a:xfrm>
            <a:off x="6610198" y="2690580"/>
            <a:ext cx="3371850" cy="0"/>
          </a:xfrm>
          <a:prstGeom prst="line">
            <a:avLst/>
          </a:prstGeom>
          <a:ln w="9525" cap="flat">
            <a:solidFill>
              <a:srgbClr val="E6E8F2"/>
            </a:solidFill>
          </a:ln>
        </p:spPr>
      </p:cxnSp>
      <p:cxnSp>
        <p:nvCxnSpPr>
          <p:cNvPr id="34" name="Line 34"/>
          <p:cNvCxnSpPr/>
          <p:nvPr/>
        </p:nvCxnSpPr>
        <p:spPr>
          <a:xfrm>
            <a:off x="6610198" y="2499021"/>
            <a:ext cx="3371850" cy="0"/>
          </a:xfrm>
          <a:prstGeom prst="line">
            <a:avLst/>
          </a:prstGeom>
          <a:ln w="9525" cap="flat">
            <a:solidFill>
              <a:srgbClr val="E6E8F2"/>
            </a:solidFill>
          </a:ln>
        </p:spPr>
      </p:cxnSp>
      <p:cxnSp>
        <p:nvCxnSpPr>
          <p:cNvPr id="35" name="Line 35"/>
          <p:cNvCxnSpPr/>
          <p:nvPr/>
        </p:nvCxnSpPr>
        <p:spPr>
          <a:xfrm>
            <a:off x="6610198" y="2307463"/>
            <a:ext cx="3371850" cy="0"/>
          </a:xfrm>
          <a:prstGeom prst="line">
            <a:avLst/>
          </a:prstGeom>
          <a:ln w="9525" cap="flat">
            <a:solidFill>
              <a:srgbClr val="E6E8F2"/>
            </a:solidFill>
          </a:ln>
        </p:spPr>
      </p:cxnSp>
      <p:cxnSp>
        <p:nvCxnSpPr>
          <p:cNvPr id="36" name="Line 36"/>
          <p:cNvCxnSpPr/>
          <p:nvPr/>
        </p:nvCxnSpPr>
        <p:spPr>
          <a:xfrm>
            <a:off x="6610198" y="2115905"/>
            <a:ext cx="3371850" cy="0"/>
          </a:xfrm>
          <a:prstGeom prst="line">
            <a:avLst/>
          </a:prstGeom>
          <a:ln w="9525" cap="flat">
            <a:solidFill>
              <a:srgbClr val="E6E8F2"/>
            </a:solidFill>
          </a:ln>
        </p:spPr>
      </p:cxnSp>
      <p:cxnSp>
        <p:nvCxnSpPr>
          <p:cNvPr id="37" name="Line 37"/>
          <p:cNvCxnSpPr/>
          <p:nvPr/>
        </p:nvCxnSpPr>
        <p:spPr>
          <a:xfrm>
            <a:off x="6610198" y="1924346"/>
            <a:ext cx="3371850" cy="0"/>
          </a:xfrm>
          <a:prstGeom prst="line">
            <a:avLst/>
          </a:prstGeom>
          <a:ln w="9525" cap="flat">
            <a:solidFill>
              <a:srgbClr val="E6E8F2"/>
            </a:solidFill>
          </a:ln>
        </p:spPr>
      </p:cxnSp>
      <p:cxnSp>
        <p:nvCxnSpPr>
          <p:cNvPr id="38" name="Line 38"/>
          <p:cNvCxnSpPr/>
          <p:nvPr/>
        </p:nvCxnSpPr>
        <p:spPr>
          <a:xfrm>
            <a:off x="6610198" y="1732788"/>
            <a:ext cx="3371850" cy="0"/>
          </a:xfrm>
          <a:prstGeom prst="line">
            <a:avLst/>
          </a:prstGeom>
          <a:ln w="9525" cap="flat">
            <a:solidFill>
              <a:srgbClr val="E6E8F2"/>
            </a:solidFill>
          </a:ln>
        </p:spPr>
      </p:cxnSp>
      <p:cxnSp>
        <p:nvCxnSpPr>
          <p:cNvPr id="39" name="Line 39"/>
          <p:cNvCxnSpPr/>
          <p:nvPr/>
        </p:nvCxnSpPr>
        <p:spPr>
          <a:xfrm>
            <a:off x="8296123" y="1732788"/>
            <a:ext cx="0" cy="3448050"/>
          </a:xfrm>
          <a:prstGeom prst="line">
            <a:avLst/>
          </a:prstGeom>
          <a:ln w="19050" cap="flat">
            <a:solidFill>
              <a:srgbClr val="5F6272"/>
            </a:solidFill>
          </a:ln>
        </p:spPr>
      </p:cxnSp>
      <p:cxnSp>
        <p:nvCxnSpPr>
          <p:cNvPr id="40" name="Line 40"/>
          <p:cNvCxnSpPr/>
          <p:nvPr/>
        </p:nvCxnSpPr>
        <p:spPr>
          <a:xfrm>
            <a:off x="6610198" y="3456813"/>
            <a:ext cx="3371850" cy="0"/>
          </a:xfrm>
          <a:prstGeom prst="line">
            <a:avLst/>
          </a:prstGeom>
          <a:ln w="19050" cap="flat">
            <a:solidFill>
              <a:srgbClr val="5F6272"/>
            </a:solidFill>
          </a:ln>
        </p:spPr>
      </p:cxnSp>
      <p:sp>
        <p:nvSpPr>
          <p:cNvPr id="41" name="Shape 41"/>
          <p:cNvSpPr txBox="1"/>
          <p:nvPr/>
        </p:nvSpPr>
        <p:spPr>
          <a:xfrm>
            <a:off x="667306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734743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802180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869617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37054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6" name="Shape 46"/>
          <p:cNvSpPr txBox="1"/>
          <p:nvPr/>
        </p:nvSpPr>
        <p:spPr>
          <a:xfrm>
            <a:off x="6043270"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47" name="Shape 47"/>
          <p:cNvSpPr txBox="1"/>
          <p:nvPr/>
        </p:nvSpPr>
        <p:spPr>
          <a:xfrm>
            <a:off x="6043270" y="4514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6043270" y="3940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2216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cxnSp>
        <p:nvCxnSpPr>
          <p:cNvPr id="53" name="Line 53"/>
          <p:cNvCxnSpPr/>
          <p:nvPr/>
        </p:nvCxnSpPr>
        <p:spPr>
          <a:xfrm flipV="1">
            <a:off x="6947383" y="2690580"/>
            <a:ext cx="2697480" cy="1532467"/>
          </a:xfrm>
          <a:prstGeom prst="line">
            <a:avLst/>
          </a:prstGeom>
          <a:ln w="38100" cap="rnd">
            <a:solidFill>
              <a:srgbClr val="16171D"/>
            </a:solidFill>
          </a:ln>
        </p:spPr>
      </p:cxnSp>
      <p:sp>
        <p:nvSpPr>
          <p:cNvPr id="54" name="Shape 54"/>
          <p:cNvSpPr txBox="1"/>
          <p:nvPr/>
        </p:nvSpPr>
        <p:spPr>
          <a:xfrm>
            <a:off x="7153123" y="270963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5" name="Line 55"/>
          <p:cNvCxnSpPr/>
          <p:nvPr/>
        </p:nvCxnSpPr>
        <p:spPr>
          <a:xfrm flipV="1">
            <a:off x="6947383" y="1924346"/>
            <a:ext cx="2697480" cy="3064933"/>
          </a:xfrm>
          <a:prstGeom prst="line">
            <a:avLst/>
          </a:prstGeom>
          <a:ln w="38100" cap="rnd">
            <a:solidFill>
              <a:srgbClr val="4F8A3C"/>
            </a:solidFill>
          </a:ln>
        </p:spPr>
      </p:cxnSp>
      <p:sp>
        <p:nvSpPr>
          <p:cNvPr id="56" name="Shape 56"/>
          <p:cNvSpPr txBox="1"/>
          <p:nvPr/>
        </p:nvSpPr>
        <p:spPr>
          <a:xfrm>
            <a:off x="7153123" y="194339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EF</a:t>
            </a:r>
            <a:endParaRPr lang="en-US" sz="1275" dirty="0"/>
          </a:p>
        </p:txBody>
      </p:sp>
      <p:cxnSp>
        <p:nvCxnSpPr>
          <p:cNvPr id="57" name="Line 57"/>
          <p:cNvCxnSpPr/>
          <p:nvPr/>
        </p:nvCxnSpPr>
        <p:spPr>
          <a:xfrm>
            <a:off x="6947383" y="1924346"/>
            <a:ext cx="2697480" cy="3064933"/>
          </a:xfrm>
          <a:prstGeom prst="line">
            <a:avLst/>
          </a:prstGeom>
          <a:ln w="38100" cap="rnd">
            <a:solidFill>
              <a:srgbClr val="7A4FC4"/>
            </a:solidFill>
          </a:ln>
        </p:spPr>
      </p:cxnSp>
      <p:sp>
        <p:nvSpPr>
          <p:cNvPr id="58" name="Shape 58"/>
          <p:cNvSpPr txBox="1"/>
          <p:nvPr/>
        </p:nvSpPr>
        <p:spPr>
          <a:xfrm>
            <a:off x="7023583" y="1943396"/>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GH</a:t>
            </a:r>
            <a:endParaRPr lang="en-US" sz="12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wipe(left)">
                                      <p:cBhvr>
                                        <p:cTn id="32" dur="700"/>
                                        <p:tgtEl>
                                          <p:spTgt spid="55"/>
                                        </p:tgtEl>
                                      </p:cBhvr>
                                    </p:animEffect>
                                  </p:childTnLst>
                                </p:cTn>
                              </p:par>
                              <p:par>
                                <p:cTn id="36" presetID="22" presetClass="entr" presetSubtype="8" fill="hold" nodeType="withEffect">
                                  <p:stCondLst>
                                    <p:cond delay="0"/>
                                  </p:stCondLst>
                                  <p:childTnLst>
                                    <p:set>
                                      <p:cBhvr>
                                        <p:cTn id="34" dur="1" fill="hold">
                                          <p:stCondLst>
                                            <p:cond delay="0"/>
                                          </p:stCondLst>
                                        </p:cTn>
                                        <p:tgtEl>
                                          <p:spTgt spid="56"/>
                                        </p:tgtEl>
                                        <p:attrNameLst>
                                          <p:attrName>style.visibility</p:attrName>
                                        </p:attrNameLst>
                                      </p:cBhvr>
                                      <p:to>
                                        <p:strVal val="visible"/>
                                      </p:to>
                                    </p:set>
                                    <p:animEffect transition="in" filter="wipe(left)">
                                      <p:cBhvr>
                                        <p:cTn id="35" dur="700"/>
                                        <p:tgtEl>
                                          <p:spTgt spid="56"/>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7"/>
                                        </p:tgtEl>
                                        <p:attrNameLst>
                                          <p:attrName>style.visibility</p:attrName>
                                        </p:attrNameLst>
                                      </p:cBhvr>
                                      <p:to>
                                        <p:strVal val="visible"/>
                                      </p:to>
                                    </p:set>
                                    <p:animEffect transition="in" filter="wipe(left)">
                                      <p:cBhvr>
                                        <p:cTn id="40" dur="700"/>
                                        <p:tgtEl>
                                          <p:spTgt spid="57"/>
                                        </p:tgtEl>
                                      </p:cBhvr>
                                    </p:animEffect>
                                  </p:childTnLst>
                                </p:cTn>
                              </p:par>
                              <p:par>
                                <p:cTn id="44" presetID="22" presetClass="entr" presetSubtype="8"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animEffect transition="in" filter="wipe(left)">
                                      <p:cBhvr>
                                        <p:cTn id="43"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Vertical Translations of Functions · SE p. 272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down 5, then up 5</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m(x)</a:t>
            </a:r>
            <a:endParaRPr lang="en-US" sz="1650" dirty="0"/>
          </a:p>
        </p:txBody>
      </p:sp>
      <p:sp>
        <p:nvSpPr>
          <p:cNvPr id="7" name="Shape 7"/>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8" name="Shape 8"/>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2971800"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2971800"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11" name="Shape 11"/>
          <p:cNvSpPr txBox="1"/>
          <p:nvPr/>
        </p:nvSpPr>
        <p:spPr>
          <a:xfrm>
            <a:off x="685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2" name="Shape 12"/>
          <p:cNvSpPr txBox="1"/>
          <p:nvPr/>
        </p:nvSpPr>
        <p:spPr>
          <a:xfrm>
            <a:off x="1828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2971800"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2971800"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5" name="Shape 15"/>
          <p:cNvSpPr txBox="1"/>
          <p:nvPr/>
        </p:nvSpPr>
        <p:spPr>
          <a:xfrm>
            <a:off x="685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6" name="Shape 16"/>
          <p:cNvSpPr txBox="1"/>
          <p:nvPr/>
        </p:nvSpPr>
        <p:spPr>
          <a:xfrm>
            <a:off x="1828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2971800"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2971800"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9" name="Shape 19"/>
          <p:cNvSpPr txBox="1"/>
          <p:nvPr/>
        </p:nvSpPr>
        <p:spPr>
          <a:xfrm>
            <a:off x="685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0" name="Shape 20"/>
          <p:cNvSpPr txBox="1"/>
          <p:nvPr/>
        </p:nvSpPr>
        <p:spPr>
          <a:xfrm>
            <a:off x="1828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2971800"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2971800"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3" name="Shape 23"/>
          <p:cNvSpPr txBox="1"/>
          <p:nvPr/>
        </p:nvSpPr>
        <p:spPr>
          <a:xfrm>
            <a:off x="685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4" name="Shape 24"/>
          <p:cNvSpPr txBox="1"/>
          <p:nvPr/>
        </p:nvSpPr>
        <p:spPr>
          <a:xfrm>
            <a:off x="1828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2971800"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2971800"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27" name="Shape 27"/>
          <p:cNvSpPr txBox="1"/>
          <p:nvPr/>
        </p:nvSpPr>
        <p:spPr>
          <a:xfrm>
            <a:off x="685800"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hape 28"/>
          <p:cNvSpPr txBox="1"/>
          <p:nvPr/>
        </p:nvSpPr>
        <p:spPr>
          <a:xfrm>
            <a:off x="4419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0" name="Shape 30"/>
          <p:cNvSpPr txBox="1"/>
          <p:nvPr/>
        </p:nvSpPr>
        <p:spPr>
          <a:xfrm>
            <a:off x="6705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p(x)</a:t>
            </a:r>
            <a:endParaRPr lang="en-US" sz="1650" dirty="0"/>
          </a:p>
        </p:txBody>
      </p:sp>
      <p:sp>
        <p:nvSpPr>
          <p:cNvPr id="31" name="Shape 31"/>
          <p:cNvSpPr txBox="1"/>
          <p:nvPr/>
        </p:nvSpPr>
        <p:spPr>
          <a:xfrm>
            <a:off x="4419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2" name="Shape 32"/>
          <p:cNvSpPr txBox="1"/>
          <p:nvPr/>
        </p:nvSpPr>
        <p:spPr>
          <a:xfrm>
            <a:off x="5562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6705498"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6705498"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35" name="Shape 35"/>
          <p:cNvSpPr txBox="1"/>
          <p:nvPr/>
        </p:nvSpPr>
        <p:spPr>
          <a:xfrm>
            <a:off x="4419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6" name="Shape 36"/>
          <p:cNvSpPr txBox="1"/>
          <p:nvPr/>
        </p:nvSpPr>
        <p:spPr>
          <a:xfrm>
            <a:off x="5562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6705498"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6705498"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39" name="Shape 39"/>
          <p:cNvSpPr txBox="1"/>
          <p:nvPr/>
        </p:nvSpPr>
        <p:spPr>
          <a:xfrm>
            <a:off x="4419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6705498"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6705498"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43" name="Shape 43"/>
          <p:cNvSpPr txBox="1"/>
          <p:nvPr/>
        </p:nvSpPr>
        <p:spPr>
          <a:xfrm>
            <a:off x="4419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4" name="Shape 44"/>
          <p:cNvSpPr txBox="1"/>
          <p:nvPr/>
        </p:nvSpPr>
        <p:spPr>
          <a:xfrm>
            <a:off x="5562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6705498"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6705498"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47" name="Shape 47"/>
          <p:cNvSpPr txBox="1"/>
          <p:nvPr/>
        </p:nvSpPr>
        <p:spPr>
          <a:xfrm>
            <a:off x="4419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8" name="Shape 48"/>
          <p:cNvSpPr txBox="1"/>
          <p:nvPr/>
        </p:nvSpPr>
        <p:spPr>
          <a:xfrm>
            <a:off x="5562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6705498"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6705498"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51" name="Shape 51"/>
          <p:cNvSpPr txBox="1"/>
          <p:nvPr/>
        </p:nvSpPr>
        <p:spPr>
          <a:xfrm>
            <a:off x="4419498"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52" name="Shape 52"/>
          <p:cNvSpPr/>
          <p:nvPr/>
        </p:nvSpPr>
        <p:spPr>
          <a:xfrm>
            <a:off x="8153197"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781300"/>
          </a:xfrm>
          <a:prstGeom prst="line">
            <a:avLst/>
          </a:prstGeom>
          <a:ln w="9525" cap="flat">
            <a:solidFill>
              <a:srgbClr val="E6E8F2"/>
            </a:solidFill>
          </a:ln>
        </p:spPr>
      </p:cxnSp>
      <p:cxnSp>
        <p:nvCxnSpPr>
          <p:cNvPr id="54" name="Line 54"/>
          <p:cNvCxnSpPr/>
          <p:nvPr/>
        </p:nvCxnSpPr>
        <p:spPr>
          <a:xfrm>
            <a:off x="8646116" y="1732788"/>
            <a:ext cx="0" cy="2781300"/>
          </a:xfrm>
          <a:prstGeom prst="line">
            <a:avLst/>
          </a:prstGeom>
          <a:ln w="9525" cap="flat">
            <a:solidFill>
              <a:srgbClr val="E6E8F2"/>
            </a:solidFill>
          </a:ln>
        </p:spPr>
      </p:cxnSp>
      <p:cxnSp>
        <p:nvCxnSpPr>
          <p:cNvPr id="55" name="Line 55"/>
          <p:cNvCxnSpPr/>
          <p:nvPr/>
        </p:nvCxnSpPr>
        <p:spPr>
          <a:xfrm>
            <a:off x="8815184" y="1732788"/>
            <a:ext cx="0" cy="2781300"/>
          </a:xfrm>
          <a:prstGeom prst="line">
            <a:avLst/>
          </a:prstGeom>
          <a:ln w="9525" cap="flat">
            <a:solidFill>
              <a:srgbClr val="E6E8F2"/>
            </a:solidFill>
          </a:ln>
        </p:spPr>
      </p:cxnSp>
      <p:cxnSp>
        <p:nvCxnSpPr>
          <p:cNvPr id="56" name="Line 56"/>
          <p:cNvCxnSpPr/>
          <p:nvPr/>
        </p:nvCxnSpPr>
        <p:spPr>
          <a:xfrm>
            <a:off x="8984253" y="1732788"/>
            <a:ext cx="0" cy="2781300"/>
          </a:xfrm>
          <a:prstGeom prst="line">
            <a:avLst/>
          </a:prstGeom>
          <a:ln w="9525" cap="flat">
            <a:solidFill>
              <a:srgbClr val="E6E8F2"/>
            </a:solidFill>
          </a:ln>
        </p:spPr>
      </p:cxnSp>
      <p:cxnSp>
        <p:nvCxnSpPr>
          <p:cNvPr id="57" name="Line 57"/>
          <p:cNvCxnSpPr/>
          <p:nvPr/>
        </p:nvCxnSpPr>
        <p:spPr>
          <a:xfrm>
            <a:off x="9153322" y="1732788"/>
            <a:ext cx="0" cy="2781300"/>
          </a:xfrm>
          <a:prstGeom prst="line">
            <a:avLst/>
          </a:prstGeom>
          <a:ln w="9525" cap="flat">
            <a:solidFill>
              <a:srgbClr val="E6E8F2"/>
            </a:solidFill>
          </a:ln>
        </p:spPr>
      </p:cxnSp>
      <p:cxnSp>
        <p:nvCxnSpPr>
          <p:cNvPr id="58" name="Line 58"/>
          <p:cNvCxnSpPr/>
          <p:nvPr/>
        </p:nvCxnSpPr>
        <p:spPr>
          <a:xfrm>
            <a:off x="9322391" y="1732788"/>
            <a:ext cx="0" cy="2781300"/>
          </a:xfrm>
          <a:prstGeom prst="line">
            <a:avLst/>
          </a:prstGeom>
          <a:ln w="9525" cap="flat">
            <a:solidFill>
              <a:srgbClr val="E6E8F2"/>
            </a:solidFill>
          </a:ln>
        </p:spPr>
      </p:cxnSp>
      <p:cxnSp>
        <p:nvCxnSpPr>
          <p:cNvPr id="59" name="Line 59"/>
          <p:cNvCxnSpPr/>
          <p:nvPr/>
        </p:nvCxnSpPr>
        <p:spPr>
          <a:xfrm>
            <a:off x="9491459" y="1732788"/>
            <a:ext cx="0" cy="2781300"/>
          </a:xfrm>
          <a:prstGeom prst="line">
            <a:avLst/>
          </a:prstGeom>
          <a:ln w="9525" cap="flat">
            <a:solidFill>
              <a:srgbClr val="E6E8F2"/>
            </a:solidFill>
          </a:ln>
        </p:spPr>
      </p:cxnSp>
      <p:cxnSp>
        <p:nvCxnSpPr>
          <p:cNvPr id="60" name="Line 60"/>
          <p:cNvCxnSpPr/>
          <p:nvPr/>
        </p:nvCxnSpPr>
        <p:spPr>
          <a:xfrm>
            <a:off x="9660528" y="1732788"/>
            <a:ext cx="0" cy="2781300"/>
          </a:xfrm>
          <a:prstGeom prst="line">
            <a:avLst/>
          </a:prstGeom>
          <a:ln w="9525" cap="flat">
            <a:solidFill>
              <a:srgbClr val="E6E8F2"/>
            </a:solidFill>
          </a:ln>
        </p:spPr>
      </p:cxnSp>
      <p:cxnSp>
        <p:nvCxnSpPr>
          <p:cNvPr id="61" name="Line 61"/>
          <p:cNvCxnSpPr/>
          <p:nvPr/>
        </p:nvCxnSpPr>
        <p:spPr>
          <a:xfrm>
            <a:off x="9829597" y="1732788"/>
            <a:ext cx="0" cy="2781300"/>
          </a:xfrm>
          <a:prstGeom prst="line">
            <a:avLst/>
          </a:prstGeom>
          <a:ln w="9525" cap="flat">
            <a:solidFill>
              <a:srgbClr val="E6E8F2"/>
            </a:solidFill>
          </a:ln>
        </p:spPr>
      </p:cxnSp>
      <p:cxnSp>
        <p:nvCxnSpPr>
          <p:cNvPr id="62" name="Line 62"/>
          <p:cNvCxnSpPr/>
          <p:nvPr/>
        </p:nvCxnSpPr>
        <p:spPr>
          <a:xfrm>
            <a:off x="9998666" y="1732788"/>
            <a:ext cx="0" cy="2781300"/>
          </a:xfrm>
          <a:prstGeom prst="line">
            <a:avLst/>
          </a:prstGeom>
          <a:ln w="9525" cap="flat">
            <a:solidFill>
              <a:srgbClr val="E6E8F2"/>
            </a:solidFill>
          </a:ln>
        </p:spPr>
      </p:cxnSp>
      <p:cxnSp>
        <p:nvCxnSpPr>
          <p:cNvPr id="63" name="Line 63"/>
          <p:cNvCxnSpPr/>
          <p:nvPr/>
        </p:nvCxnSpPr>
        <p:spPr>
          <a:xfrm>
            <a:off x="10167734" y="1732788"/>
            <a:ext cx="0" cy="2781300"/>
          </a:xfrm>
          <a:prstGeom prst="line">
            <a:avLst/>
          </a:prstGeom>
          <a:ln w="9525" cap="flat">
            <a:solidFill>
              <a:srgbClr val="E6E8F2"/>
            </a:solidFill>
          </a:ln>
        </p:spPr>
      </p:cxnSp>
      <p:cxnSp>
        <p:nvCxnSpPr>
          <p:cNvPr id="64" name="Line 64"/>
          <p:cNvCxnSpPr/>
          <p:nvPr/>
        </p:nvCxnSpPr>
        <p:spPr>
          <a:xfrm>
            <a:off x="10336803" y="1732788"/>
            <a:ext cx="0" cy="2781300"/>
          </a:xfrm>
          <a:prstGeom prst="line">
            <a:avLst/>
          </a:prstGeom>
          <a:ln w="9525" cap="flat">
            <a:solidFill>
              <a:srgbClr val="E6E8F2"/>
            </a:solidFill>
          </a:ln>
        </p:spPr>
      </p:cxnSp>
      <p:cxnSp>
        <p:nvCxnSpPr>
          <p:cNvPr id="65" name="Line 65"/>
          <p:cNvCxnSpPr/>
          <p:nvPr/>
        </p:nvCxnSpPr>
        <p:spPr>
          <a:xfrm>
            <a:off x="10505872" y="1732788"/>
            <a:ext cx="0" cy="2781300"/>
          </a:xfrm>
          <a:prstGeom prst="line">
            <a:avLst/>
          </a:prstGeom>
          <a:ln w="9525" cap="flat">
            <a:solidFill>
              <a:srgbClr val="E6E8F2"/>
            </a:solidFill>
          </a:ln>
        </p:spPr>
      </p:cxnSp>
      <p:cxnSp>
        <p:nvCxnSpPr>
          <p:cNvPr id="66" name="Line 66"/>
          <p:cNvCxnSpPr/>
          <p:nvPr/>
        </p:nvCxnSpPr>
        <p:spPr>
          <a:xfrm>
            <a:off x="10674941" y="1732788"/>
            <a:ext cx="0" cy="2781300"/>
          </a:xfrm>
          <a:prstGeom prst="line">
            <a:avLst/>
          </a:prstGeom>
          <a:ln w="9525" cap="flat">
            <a:solidFill>
              <a:srgbClr val="E6E8F2"/>
            </a:solidFill>
          </a:ln>
        </p:spPr>
      </p:cxnSp>
      <p:cxnSp>
        <p:nvCxnSpPr>
          <p:cNvPr id="67" name="Line 67"/>
          <p:cNvCxnSpPr/>
          <p:nvPr/>
        </p:nvCxnSpPr>
        <p:spPr>
          <a:xfrm>
            <a:off x="10844009" y="1732788"/>
            <a:ext cx="0" cy="2781300"/>
          </a:xfrm>
          <a:prstGeom prst="line">
            <a:avLst/>
          </a:prstGeom>
          <a:ln w="9525" cap="flat">
            <a:solidFill>
              <a:srgbClr val="E6E8F2"/>
            </a:solidFill>
          </a:ln>
        </p:spPr>
      </p:cxnSp>
      <p:cxnSp>
        <p:nvCxnSpPr>
          <p:cNvPr id="68" name="Line 68"/>
          <p:cNvCxnSpPr/>
          <p:nvPr/>
        </p:nvCxnSpPr>
        <p:spPr>
          <a:xfrm>
            <a:off x="11013078" y="1732788"/>
            <a:ext cx="0" cy="2781300"/>
          </a:xfrm>
          <a:prstGeom prst="line">
            <a:avLst/>
          </a:prstGeom>
          <a:ln w="9525" cap="flat">
            <a:solidFill>
              <a:srgbClr val="E6E8F2"/>
            </a:solidFill>
          </a:ln>
        </p:spPr>
      </p:cxnSp>
      <p:cxnSp>
        <p:nvCxnSpPr>
          <p:cNvPr id="69" name="Line 69"/>
          <p:cNvCxnSpPr/>
          <p:nvPr/>
        </p:nvCxnSpPr>
        <p:spPr>
          <a:xfrm>
            <a:off x="11182147" y="1732788"/>
            <a:ext cx="0" cy="2781300"/>
          </a:xfrm>
          <a:prstGeom prst="line">
            <a:avLst/>
          </a:prstGeom>
          <a:ln w="9525" cap="flat">
            <a:solidFill>
              <a:srgbClr val="E6E8F2"/>
            </a:solidFill>
          </a:ln>
        </p:spPr>
      </p:cxnSp>
      <p:cxnSp>
        <p:nvCxnSpPr>
          <p:cNvPr id="70" name="Line 70"/>
          <p:cNvCxnSpPr/>
          <p:nvPr/>
        </p:nvCxnSpPr>
        <p:spPr>
          <a:xfrm>
            <a:off x="8477047" y="4514088"/>
            <a:ext cx="2705100" cy="0"/>
          </a:xfrm>
          <a:prstGeom prst="line">
            <a:avLst/>
          </a:prstGeom>
          <a:ln w="9525" cap="flat">
            <a:solidFill>
              <a:srgbClr val="E6E8F2"/>
            </a:solidFill>
          </a:ln>
        </p:spPr>
      </p:cxnSp>
      <p:cxnSp>
        <p:nvCxnSpPr>
          <p:cNvPr id="71" name="Line 71"/>
          <p:cNvCxnSpPr/>
          <p:nvPr/>
        </p:nvCxnSpPr>
        <p:spPr>
          <a:xfrm>
            <a:off x="8477047" y="4340257"/>
            <a:ext cx="2705100" cy="0"/>
          </a:xfrm>
          <a:prstGeom prst="line">
            <a:avLst/>
          </a:prstGeom>
          <a:ln w="9525" cap="flat">
            <a:solidFill>
              <a:srgbClr val="E6E8F2"/>
            </a:solidFill>
          </a:ln>
        </p:spPr>
      </p:cxnSp>
      <p:cxnSp>
        <p:nvCxnSpPr>
          <p:cNvPr id="72" name="Line 72"/>
          <p:cNvCxnSpPr/>
          <p:nvPr/>
        </p:nvCxnSpPr>
        <p:spPr>
          <a:xfrm>
            <a:off x="8477047" y="4166426"/>
            <a:ext cx="2705100" cy="0"/>
          </a:xfrm>
          <a:prstGeom prst="line">
            <a:avLst/>
          </a:prstGeom>
          <a:ln w="9525" cap="flat">
            <a:solidFill>
              <a:srgbClr val="E6E8F2"/>
            </a:solidFill>
          </a:ln>
        </p:spPr>
      </p:cxnSp>
      <p:cxnSp>
        <p:nvCxnSpPr>
          <p:cNvPr id="73" name="Line 73"/>
          <p:cNvCxnSpPr/>
          <p:nvPr/>
        </p:nvCxnSpPr>
        <p:spPr>
          <a:xfrm>
            <a:off x="8477047" y="3992594"/>
            <a:ext cx="2705100" cy="0"/>
          </a:xfrm>
          <a:prstGeom prst="line">
            <a:avLst/>
          </a:prstGeom>
          <a:ln w="9525" cap="flat">
            <a:solidFill>
              <a:srgbClr val="E6E8F2"/>
            </a:solidFill>
          </a:ln>
        </p:spPr>
      </p:cxnSp>
      <p:cxnSp>
        <p:nvCxnSpPr>
          <p:cNvPr id="74" name="Line 74"/>
          <p:cNvCxnSpPr/>
          <p:nvPr/>
        </p:nvCxnSpPr>
        <p:spPr>
          <a:xfrm>
            <a:off x="8477047" y="3818763"/>
            <a:ext cx="2705100" cy="0"/>
          </a:xfrm>
          <a:prstGeom prst="line">
            <a:avLst/>
          </a:prstGeom>
          <a:ln w="9525" cap="flat">
            <a:solidFill>
              <a:srgbClr val="E6E8F2"/>
            </a:solidFill>
          </a:ln>
        </p:spPr>
      </p:cxnSp>
      <p:cxnSp>
        <p:nvCxnSpPr>
          <p:cNvPr id="75" name="Line 75"/>
          <p:cNvCxnSpPr/>
          <p:nvPr/>
        </p:nvCxnSpPr>
        <p:spPr>
          <a:xfrm>
            <a:off x="8477047" y="3644932"/>
            <a:ext cx="2705100" cy="0"/>
          </a:xfrm>
          <a:prstGeom prst="line">
            <a:avLst/>
          </a:prstGeom>
          <a:ln w="9525" cap="flat">
            <a:solidFill>
              <a:srgbClr val="E6E8F2"/>
            </a:solidFill>
          </a:ln>
        </p:spPr>
      </p:cxnSp>
      <p:cxnSp>
        <p:nvCxnSpPr>
          <p:cNvPr id="76" name="Line 76"/>
          <p:cNvCxnSpPr/>
          <p:nvPr/>
        </p:nvCxnSpPr>
        <p:spPr>
          <a:xfrm>
            <a:off x="8477047" y="3471100"/>
            <a:ext cx="2705100" cy="0"/>
          </a:xfrm>
          <a:prstGeom prst="line">
            <a:avLst/>
          </a:prstGeom>
          <a:ln w="9525" cap="flat">
            <a:solidFill>
              <a:srgbClr val="E6E8F2"/>
            </a:solidFill>
          </a:ln>
        </p:spPr>
      </p:cxnSp>
      <p:cxnSp>
        <p:nvCxnSpPr>
          <p:cNvPr id="77" name="Line 77"/>
          <p:cNvCxnSpPr/>
          <p:nvPr/>
        </p:nvCxnSpPr>
        <p:spPr>
          <a:xfrm>
            <a:off x="8477047" y="3297269"/>
            <a:ext cx="2705100" cy="0"/>
          </a:xfrm>
          <a:prstGeom prst="line">
            <a:avLst/>
          </a:prstGeom>
          <a:ln w="9525" cap="flat">
            <a:solidFill>
              <a:srgbClr val="E6E8F2"/>
            </a:solidFill>
          </a:ln>
        </p:spPr>
      </p:cxnSp>
      <p:cxnSp>
        <p:nvCxnSpPr>
          <p:cNvPr id="78" name="Line 78"/>
          <p:cNvCxnSpPr/>
          <p:nvPr/>
        </p:nvCxnSpPr>
        <p:spPr>
          <a:xfrm>
            <a:off x="8477047" y="3123438"/>
            <a:ext cx="2705100" cy="0"/>
          </a:xfrm>
          <a:prstGeom prst="line">
            <a:avLst/>
          </a:prstGeom>
          <a:ln w="9525" cap="flat">
            <a:solidFill>
              <a:srgbClr val="E6E8F2"/>
            </a:solidFill>
          </a:ln>
        </p:spPr>
      </p:cxnSp>
      <p:cxnSp>
        <p:nvCxnSpPr>
          <p:cNvPr id="79" name="Line 79"/>
          <p:cNvCxnSpPr/>
          <p:nvPr/>
        </p:nvCxnSpPr>
        <p:spPr>
          <a:xfrm>
            <a:off x="8477047" y="2949607"/>
            <a:ext cx="2705100" cy="0"/>
          </a:xfrm>
          <a:prstGeom prst="line">
            <a:avLst/>
          </a:prstGeom>
          <a:ln w="9525" cap="flat">
            <a:solidFill>
              <a:srgbClr val="E6E8F2"/>
            </a:solidFill>
          </a:ln>
        </p:spPr>
      </p:cxnSp>
      <p:cxnSp>
        <p:nvCxnSpPr>
          <p:cNvPr id="80" name="Line 80"/>
          <p:cNvCxnSpPr/>
          <p:nvPr/>
        </p:nvCxnSpPr>
        <p:spPr>
          <a:xfrm>
            <a:off x="8477047" y="2775776"/>
            <a:ext cx="2705100" cy="0"/>
          </a:xfrm>
          <a:prstGeom prst="line">
            <a:avLst/>
          </a:prstGeom>
          <a:ln w="9525" cap="flat">
            <a:solidFill>
              <a:srgbClr val="E6E8F2"/>
            </a:solidFill>
          </a:ln>
        </p:spPr>
      </p:cxnSp>
      <p:cxnSp>
        <p:nvCxnSpPr>
          <p:cNvPr id="81" name="Line 81"/>
          <p:cNvCxnSpPr/>
          <p:nvPr/>
        </p:nvCxnSpPr>
        <p:spPr>
          <a:xfrm>
            <a:off x="8477047" y="2601944"/>
            <a:ext cx="2705100" cy="0"/>
          </a:xfrm>
          <a:prstGeom prst="line">
            <a:avLst/>
          </a:prstGeom>
          <a:ln w="9525" cap="flat">
            <a:solidFill>
              <a:srgbClr val="E6E8F2"/>
            </a:solidFill>
          </a:ln>
        </p:spPr>
      </p:cxnSp>
      <p:cxnSp>
        <p:nvCxnSpPr>
          <p:cNvPr id="82" name="Line 82"/>
          <p:cNvCxnSpPr/>
          <p:nvPr/>
        </p:nvCxnSpPr>
        <p:spPr>
          <a:xfrm>
            <a:off x="8477047" y="2428113"/>
            <a:ext cx="2705100" cy="0"/>
          </a:xfrm>
          <a:prstGeom prst="line">
            <a:avLst/>
          </a:prstGeom>
          <a:ln w="9525" cap="flat">
            <a:solidFill>
              <a:srgbClr val="E6E8F2"/>
            </a:solidFill>
          </a:ln>
        </p:spPr>
      </p:cxnSp>
      <p:cxnSp>
        <p:nvCxnSpPr>
          <p:cNvPr id="83" name="Line 83"/>
          <p:cNvCxnSpPr/>
          <p:nvPr/>
        </p:nvCxnSpPr>
        <p:spPr>
          <a:xfrm>
            <a:off x="8477047" y="2254282"/>
            <a:ext cx="2705100" cy="0"/>
          </a:xfrm>
          <a:prstGeom prst="line">
            <a:avLst/>
          </a:prstGeom>
          <a:ln w="9525" cap="flat">
            <a:solidFill>
              <a:srgbClr val="E6E8F2"/>
            </a:solidFill>
          </a:ln>
        </p:spPr>
      </p:cxnSp>
      <p:cxnSp>
        <p:nvCxnSpPr>
          <p:cNvPr id="84" name="Line 84"/>
          <p:cNvCxnSpPr/>
          <p:nvPr/>
        </p:nvCxnSpPr>
        <p:spPr>
          <a:xfrm>
            <a:off x="8477047" y="2080451"/>
            <a:ext cx="2705100" cy="0"/>
          </a:xfrm>
          <a:prstGeom prst="line">
            <a:avLst/>
          </a:prstGeom>
          <a:ln w="9525" cap="flat">
            <a:solidFill>
              <a:srgbClr val="E6E8F2"/>
            </a:solidFill>
          </a:ln>
        </p:spPr>
      </p:cxnSp>
      <p:cxnSp>
        <p:nvCxnSpPr>
          <p:cNvPr id="85" name="Line 85"/>
          <p:cNvCxnSpPr/>
          <p:nvPr/>
        </p:nvCxnSpPr>
        <p:spPr>
          <a:xfrm>
            <a:off x="8477047" y="1906619"/>
            <a:ext cx="2705100" cy="0"/>
          </a:xfrm>
          <a:prstGeom prst="line">
            <a:avLst/>
          </a:prstGeom>
          <a:ln w="9525" cap="flat">
            <a:solidFill>
              <a:srgbClr val="E6E8F2"/>
            </a:solidFill>
          </a:ln>
        </p:spPr>
      </p:cxnSp>
      <p:cxnSp>
        <p:nvCxnSpPr>
          <p:cNvPr id="86" name="Line 86"/>
          <p:cNvCxnSpPr/>
          <p:nvPr/>
        </p:nvCxnSpPr>
        <p:spPr>
          <a:xfrm>
            <a:off x="8477047" y="1732788"/>
            <a:ext cx="2705100" cy="0"/>
          </a:xfrm>
          <a:prstGeom prst="line">
            <a:avLst/>
          </a:prstGeom>
          <a:ln w="9525" cap="flat">
            <a:solidFill>
              <a:srgbClr val="E6E8F2"/>
            </a:solidFill>
          </a:ln>
        </p:spPr>
      </p:cxnSp>
      <p:cxnSp>
        <p:nvCxnSpPr>
          <p:cNvPr id="87" name="Line 87"/>
          <p:cNvCxnSpPr/>
          <p:nvPr/>
        </p:nvCxnSpPr>
        <p:spPr>
          <a:xfrm>
            <a:off x="9829597" y="1732788"/>
            <a:ext cx="0" cy="2781300"/>
          </a:xfrm>
          <a:prstGeom prst="line">
            <a:avLst/>
          </a:prstGeom>
          <a:ln w="19050" cap="flat">
            <a:solidFill>
              <a:srgbClr val="5F6272"/>
            </a:solidFill>
          </a:ln>
        </p:spPr>
      </p:cxnSp>
      <p:cxnSp>
        <p:nvCxnSpPr>
          <p:cNvPr id="88" name="Line 88"/>
          <p:cNvCxnSpPr/>
          <p:nvPr/>
        </p:nvCxnSpPr>
        <p:spPr>
          <a:xfrm>
            <a:off x="8477047" y="3123438"/>
            <a:ext cx="2705100" cy="0"/>
          </a:xfrm>
          <a:prstGeom prst="line">
            <a:avLst/>
          </a:prstGeom>
          <a:ln w="19050" cap="flat">
            <a:solidFill>
              <a:srgbClr val="5F6272"/>
            </a:solidFill>
          </a:ln>
        </p:spPr>
      </p:cxnSp>
      <p:sp>
        <p:nvSpPr>
          <p:cNvPr id="89" name="Shape 89"/>
          <p:cNvSpPr txBox="1"/>
          <p:nvPr/>
        </p:nvSpPr>
        <p:spPr>
          <a:xfrm>
            <a:off x="82027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0" name="Shape 90"/>
          <p:cNvSpPr txBox="1"/>
          <p:nvPr/>
        </p:nvSpPr>
        <p:spPr>
          <a:xfrm>
            <a:off x="854086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887900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921713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955527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989341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1023155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6" name="Shape 96"/>
          <p:cNvSpPr txBox="1"/>
          <p:nvPr/>
        </p:nvSpPr>
        <p:spPr>
          <a:xfrm>
            <a:off x="1056968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7" name="Shape 97"/>
          <p:cNvSpPr txBox="1"/>
          <p:nvPr/>
        </p:nvSpPr>
        <p:spPr>
          <a:xfrm>
            <a:off x="109078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8" name="Shape 98"/>
          <p:cNvSpPr txBox="1"/>
          <p:nvPr/>
        </p:nvSpPr>
        <p:spPr>
          <a:xfrm>
            <a:off x="7910119"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7910119"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910119"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910119"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910119"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7910119"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7910119"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7910119"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107" name="Line 107"/>
          <p:cNvCxnSpPr/>
          <p:nvPr/>
        </p:nvCxnSpPr>
        <p:spPr>
          <a:xfrm flipV="1">
            <a:off x="8477047" y="1732788"/>
            <a:ext cx="2705100" cy="2781300"/>
          </a:xfrm>
          <a:prstGeom prst="line">
            <a:avLst/>
          </a:prstGeom>
          <a:ln w="38100" cap="rnd">
            <a:solidFill>
              <a:srgbClr val="16171D"/>
            </a:solidFill>
          </a:ln>
        </p:spPr>
      </p:cxnSp>
      <p:sp>
        <p:nvSpPr>
          <p:cNvPr id="108" name="Shape 108"/>
          <p:cNvSpPr txBox="1"/>
          <p:nvPr/>
        </p:nvSpPr>
        <p:spPr>
          <a:xfrm>
            <a:off x="869040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109" name="Line 109"/>
          <p:cNvCxnSpPr/>
          <p:nvPr/>
        </p:nvCxnSpPr>
        <p:spPr>
          <a:xfrm flipV="1">
            <a:off x="9322391" y="2601944"/>
            <a:ext cx="1859756" cy="1912144"/>
          </a:xfrm>
          <a:prstGeom prst="line">
            <a:avLst/>
          </a:prstGeom>
          <a:ln w="38100" cap="rnd">
            <a:solidFill>
              <a:srgbClr val="4F8A3C"/>
            </a:solidFill>
          </a:ln>
        </p:spPr>
      </p:cxnSp>
      <p:sp>
        <p:nvSpPr>
          <p:cNvPr id="110" name="Shape 110"/>
          <p:cNvSpPr txBox="1"/>
          <p:nvPr/>
        </p:nvSpPr>
        <p:spPr>
          <a:xfrm>
            <a:off x="8690407" y="262099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111" name="Line 111"/>
          <p:cNvCxnSpPr/>
          <p:nvPr/>
        </p:nvCxnSpPr>
        <p:spPr>
          <a:xfrm flipV="1">
            <a:off x="8477047" y="1732788"/>
            <a:ext cx="1859756" cy="1912144"/>
          </a:xfrm>
          <a:prstGeom prst="line">
            <a:avLst/>
          </a:prstGeom>
          <a:ln w="38100" cap="rnd">
            <a:solidFill>
              <a:srgbClr val="7A4FC4"/>
            </a:solidFill>
          </a:ln>
        </p:spPr>
      </p:cxnSp>
      <p:sp>
        <p:nvSpPr>
          <p:cNvPr id="112" name="Shape 112"/>
          <p:cNvSpPr txBox="1"/>
          <p:nvPr/>
        </p:nvSpPr>
        <p:spPr>
          <a:xfrm>
            <a:off x="7845063"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113" name="Shape 113"/>
          <p:cNvSpPr txBox="1"/>
          <p:nvPr/>
        </p:nvSpPr>
        <p:spPr>
          <a:xfrm>
            <a:off x="685800" y="514502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stays </a:t>
            </a: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only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Also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 = 2</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p</a:t>
            </a:r>
            <a:r>
              <a:rPr lang="en-US" sz="1575" dirty="0">
                <a:solidFill>
                  <a:srgbClr val="16171D"/>
                </a:solidFill>
                <a:latin typeface="Cambria"/>
                <a:cs typeface="Cambria"/>
              </a:rPr>
              <a:t xml:space="preserve">(2) = 7</a:t>
            </a:r>
            <a:r>
              <a:rPr lang="en-US" sz="1575" dirty="0">
                <a:solidFill>
                  <a:srgbClr val="16171D"/>
                </a:solidFill>
                <a:latin typeface="Segoe UI"/>
                <a:cs typeface="Segoe UI"/>
              </a:rPr>
              <a:t xml:space="preserve">: the output went up 5.</a:t>
            </a:r>
            <a:endParaRPr lang="en-US" sz="157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anim calcmode="lin" valueType="num">
                                      <p:cBhvr>
                                        <p:cTn id="26" dur="500" fill="hold"/>
                                        <p:tgtEl>
                                          <p:spTgt spid="22"/>
                                        </p:tgtEl>
                                        <p:attrNameLst>
                                          <p:attrName>ppt_x</p:attrName>
                                        </p:attrNameLst>
                                      </p:cBhvr>
                                      <p:tavLst>
                                        <p:tav tm="0">
                                          <p:val>
                                            <p:strVal val="#ppt_x"/>
                                          </p:val>
                                        </p:tav>
                                        <p:tav tm="100000">
                                          <p:val>
                                            <p:strVal val="#ppt_x"/>
                                          </p:val>
                                        </p:tav>
                                      </p:tavLst>
                                    </p:anim>
                                    <p:anim calcmode="lin" valueType="num">
                                      <p:cBhvr>
                                        <p:cTn id="27"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anim calcmode="lin" valueType="num">
                                      <p:cBhvr>
                                        <p:cTn id="33" dur="500" fill="hold"/>
                                        <p:tgtEl>
                                          <p:spTgt spid="26"/>
                                        </p:tgtEl>
                                        <p:attrNameLst>
                                          <p:attrName>ppt_x</p:attrName>
                                        </p:attrNameLst>
                                      </p:cBhvr>
                                      <p:tavLst>
                                        <p:tav tm="0">
                                          <p:val>
                                            <p:strVal val="#ppt_x"/>
                                          </p:val>
                                        </p:tav>
                                        <p:tav tm="100000">
                                          <p:val>
                                            <p:strVal val="#ppt_x"/>
                                          </p:val>
                                        </p:tav>
                                      </p:tavLst>
                                    </p:anim>
                                    <p:anim calcmode="lin" valueType="num">
                                      <p:cBhvr>
                                        <p:cTn id="34"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anim calcmode="lin" valueType="num">
                                      <p:cBhvr>
                                        <p:cTn id="40" dur="500" fill="hold"/>
                                        <p:tgtEl>
                                          <p:spTgt spid="27"/>
                                        </p:tgtEl>
                                        <p:attrNameLst>
                                          <p:attrName>ppt_w</p:attrName>
                                        </p:attrNameLst>
                                      </p:cBhvr>
                                      <p:tavLst>
                                        <p:tav tm="0">
                                          <p:val>
                                            <p:fltVal val="0"/>
                                          </p:val>
                                        </p:tav>
                                        <p:tav tm="100000">
                                          <p:val>
                                            <p:strVal val="#ppt_w"/>
                                          </p:val>
                                        </p:tav>
                                      </p:tavLst>
                                    </p:anim>
                                    <p:anim calcmode="lin" valueType="num">
                                      <p:cBhvr>
                                        <p:cTn id="41"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anim calcmode="lin" valueType="num">
                                      <p:cBhvr>
                                        <p:cTn id="47" dur="500" fill="hold"/>
                                        <p:tgtEl>
                                          <p:spTgt spid="34"/>
                                        </p:tgtEl>
                                        <p:attrNameLst>
                                          <p:attrName>ppt_x</p:attrName>
                                        </p:attrNameLst>
                                      </p:cBhvr>
                                      <p:tavLst>
                                        <p:tav tm="0">
                                          <p:val>
                                            <p:strVal val="#ppt_x"/>
                                          </p:val>
                                        </p:tav>
                                        <p:tav tm="100000">
                                          <p:val>
                                            <p:strVal val="#ppt_x"/>
                                          </p:val>
                                        </p:tav>
                                      </p:tavLst>
                                    </p:anim>
                                    <p:anim calcmode="lin" valueType="num">
                                      <p:cBhvr>
                                        <p:cTn id="48"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anim calcmode="lin" valueType="num">
                                      <p:cBhvr>
                                        <p:cTn id="54" dur="500" fill="hold"/>
                                        <p:tgtEl>
                                          <p:spTgt spid="38"/>
                                        </p:tgtEl>
                                        <p:attrNameLst>
                                          <p:attrName>ppt_x</p:attrName>
                                        </p:attrNameLst>
                                      </p:cBhvr>
                                      <p:tavLst>
                                        <p:tav tm="0">
                                          <p:val>
                                            <p:strVal val="#ppt_x"/>
                                          </p:val>
                                        </p:tav>
                                        <p:tav tm="100000">
                                          <p:val>
                                            <p:strVal val="#ppt_x"/>
                                          </p:val>
                                        </p:tav>
                                      </p:tavLst>
                                    </p:anim>
                                    <p:anim calcmode="lin" valueType="num">
                                      <p:cBhvr>
                                        <p:cTn id="55"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anim calcmode="lin" valueType="num">
                                      <p:cBhvr>
                                        <p:cTn id="61" dur="500" fill="hold"/>
                                        <p:tgtEl>
                                          <p:spTgt spid="42"/>
                                        </p:tgtEl>
                                        <p:attrNameLst>
                                          <p:attrName>ppt_x</p:attrName>
                                        </p:attrNameLst>
                                      </p:cBhvr>
                                      <p:tavLst>
                                        <p:tav tm="0">
                                          <p:val>
                                            <p:strVal val="#ppt_x"/>
                                          </p:val>
                                        </p:tav>
                                        <p:tav tm="100000">
                                          <p:val>
                                            <p:strVal val="#ppt_x"/>
                                          </p:val>
                                        </p:tav>
                                      </p:tavLst>
                                    </p:anim>
                                    <p:anim calcmode="lin" valueType="num">
                                      <p:cBhvr>
                                        <p:cTn id="62"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500"/>
                                        <p:tgtEl>
                                          <p:spTgt spid="46"/>
                                        </p:tgtEl>
                                      </p:cBhvr>
                                    </p:animEffect>
                                    <p:anim calcmode="lin" valueType="num">
                                      <p:cBhvr>
                                        <p:cTn id="68" dur="500" fill="hold"/>
                                        <p:tgtEl>
                                          <p:spTgt spid="46"/>
                                        </p:tgtEl>
                                        <p:attrNameLst>
                                          <p:attrName>ppt_x</p:attrName>
                                        </p:attrNameLst>
                                      </p:cBhvr>
                                      <p:tavLst>
                                        <p:tav tm="0">
                                          <p:val>
                                            <p:strVal val="#ppt_x"/>
                                          </p:val>
                                        </p:tav>
                                        <p:tav tm="100000">
                                          <p:val>
                                            <p:strVal val="#ppt_x"/>
                                          </p:val>
                                        </p:tav>
                                      </p:tavLst>
                                    </p:anim>
                                    <p:anim calcmode="lin" valueType="num">
                                      <p:cBhvr>
                                        <p:cTn id="69"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anim calcmode="lin" valueType="num">
                                      <p:cBhvr>
                                        <p:cTn id="75" dur="500" fill="hold"/>
                                        <p:tgtEl>
                                          <p:spTgt spid="50"/>
                                        </p:tgtEl>
                                        <p:attrNameLst>
                                          <p:attrName>ppt_x</p:attrName>
                                        </p:attrNameLst>
                                      </p:cBhvr>
                                      <p:tavLst>
                                        <p:tav tm="0">
                                          <p:val>
                                            <p:strVal val="#ppt_x"/>
                                          </p:val>
                                        </p:tav>
                                        <p:tav tm="100000">
                                          <p:val>
                                            <p:strVal val="#ppt_x"/>
                                          </p:val>
                                        </p:tav>
                                      </p:tavLst>
                                    </p:anim>
                                    <p:anim calcmode="lin" valueType="num">
                                      <p:cBhvr>
                                        <p:cTn id="7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fade">
                                      <p:cBhvr>
                                        <p:cTn id="81" dur="500"/>
                                        <p:tgtEl>
                                          <p:spTgt spid="51"/>
                                        </p:tgtEl>
                                      </p:cBhvr>
                                    </p:animEffect>
                                    <p:anim calcmode="lin" valueType="num">
                                      <p:cBhvr>
                                        <p:cTn id="82" dur="500" fill="hold"/>
                                        <p:tgtEl>
                                          <p:spTgt spid="51"/>
                                        </p:tgtEl>
                                        <p:attrNameLst>
                                          <p:attrName>ppt_w</p:attrName>
                                        </p:attrNameLst>
                                      </p:cBhvr>
                                      <p:tavLst>
                                        <p:tav tm="0">
                                          <p:val>
                                            <p:fltVal val="0"/>
                                          </p:val>
                                        </p:tav>
                                        <p:tav tm="100000">
                                          <p:val>
                                            <p:strVal val="#ppt_w"/>
                                          </p:val>
                                        </p:tav>
                                      </p:tavLst>
                                    </p:anim>
                                    <p:anim calcmode="lin" valueType="num">
                                      <p:cBhvr>
                                        <p:cTn id="83"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nodeType="clickEffect">
                                  <p:stCondLst>
                                    <p:cond delay="0"/>
                                  </p:stCondLst>
                                  <p:childTnLst>
                                    <p:set>
                                      <p:cBhvr>
                                        <p:cTn id="87" dur="1" fill="hold">
                                          <p:stCondLst>
                                            <p:cond delay="0"/>
                                          </p:stCondLst>
                                        </p:cTn>
                                        <p:tgtEl>
                                          <p:spTgt spid="109"/>
                                        </p:tgtEl>
                                        <p:attrNameLst>
                                          <p:attrName>style.visibility</p:attrName>
                                        </p:attrNameLst>
                                      </p:cBhvr>
                                      <p:to>
                                        <p:strVal val="visible"/>
                                      </p:to>
                                    </p:set>
                                    <p:animEffect transition="in" filter="wipe(left)">
                                      <p:cBhvr>
                                        <p:cTn id="88" dur="700"/>
                                        <p:tgtEl>
                                          <p:spTgt spid="109"/>
                                        </p:tgtEl>
                                      </p:cBhvr>
                                    </p:animEffect>
                                  </p:childTnLst>
                                </p:cTn>
                              </p:par>
                              <p:par>
                                <p:cTn id="92" presetID="22" presetClass="entr" presetSubtype="8" fill="hold" nodeType="withEffect">
                                  <p:stCondLst>
                                    <p:cond delay="0"/>
                                  </p:stCondLst>
                                  <p:childTnLst>
                                    <p:set>
                                      <p:cBhvr>
                                        <p:cTn id="90" dur="1" fill="hold">
                                          <p:stCondLst>
                                            <p:cond delay="0"/>
                                          </p:stCondLst>
                                        </p:cTn>
                                        <p:tgtEl>
                                          <p:spTgt spid="110"/>
                                        </p:tgtEl>
                                        <p:attrNameLst>
                                          <p:attrName>style.visibility</p:attrName>
                                        </p:attrNameLst>
                                      </p:cBhvr>
                                      <p:to>
                                        <p:strVal val="visible"/>
                                      </p:to>
                                    </p:set>
                                    <p:animEffect transition="in" filter="wipe(left)">
                                      <p:cBhvr>
                                        <p:cTn id="91" dur="700"/>
                                        <p:tgtEl>
                                          <p:spTgt spid="110"/>
                                        </p:tgtEl>
                                      </p:cBhvr>
                                    </p:animEffect>
                                  </p:childTnLst>
                                </p:cTn>
                              </p:par>
                            </p:childTnLst>
                          </p:cTn>
                        </p:par>
                      </p:childTnLst>
                    </p:cTn>
                  </p:par>
                  <p:par>
                    <p:cTn id="101" fill="hold">
                      <p:stCondLst>
                        <p:cond delay="indefinite"/>
                      </p:stCondLst>
                      <p:childTnLst>
                        <p:par>
                          <p:cTn id="102" fill="hold">
                            <p:stCondLst>
                              <p:cond delay="0"/>
                            </p:stCondLst>
                            <p:childTnLst>
                              <p:par>
                                <p:cTn id="97" presetID="22" presetClass="entr" presetSubtype="8" fill="hold" nodeType="clickEffect">
                                  <p:stCondLst>
                                    <p:cond delay="0"/>
                                  </p:stCondLst>
                                  <p:childTnLst>
                                    <p:set>
                                      <p:cBhvr>
                                        <p:cTn id="95" dur="1" fill="hold">
                                          <p:stCondLst>
                                            <p:cond delay="0"/>
                                          </p:stCondLst>
                                        </p:cTn>
                                        <p:tgtEl>
                                          <p:spTgt spid="111"/>
                                        </p:tgtEl>
                                        <p:attrNameLst>
                                          <p:attrName>style.visibility</p:attrName>
                                        </p:attrNameLst>
                                      </p:cBhvr>
                                      <p:to>
                                        <p:strVal val="visible"/>
                                      </p:to>
                                    </p:set>
                                    <p:animEffect transition="in" filter="wipe(left)">
                                      <p:cBhvr>
                                        <p:cTn id="96" dur="700"/>
                                        <p:tgtEl>
                                          <p:spTgt spid="111"/>
                                        </p:tgtEl>
                                      </p:cBhvr>
                                    </p:animEffect>
                                  </p:childTnLst>
                                </p:cTn>
                              </p:par>
                              <p:par>
                                <p:cTn id="100" presetID="22" presetClass="entr" presetSubtype="8" fill="hold" nodeType="withEffect">
                                  <p:stCondLst>
                                    <p:cond delay="0"/>
                                  </p:stCondLst>
                                  <p:childTnLst>
                                    <p:set>
                                      <p:cBhvr>
                                        <p:cTn id="98" dur="1" fill="hold">
                                          <p:stCondLst>
                                            <p:cond delay="0"/>
                                          </p:stCondLst>
                                        </p:cTn>
                                        <p:tgtEl>
                                          <p:spTgt spid="112"/>
                                        </p:tgtEl>
                                        <p:attrNameLst>
                                          <p:attrName>style.visibility</p:attrName>
                                        </p:attrNameLst>
                                      </p:cBhvr>
                                      <p:to>
                                        <p:strVal val="visible"/>
                                      </p:to>
                                    </p:set>
                                    <p:animEffect transition="in" filter="wipe(left)">
                                      <p:cBhvr>
                                        <p:cTn id="99" dur="700"/>
                                        <p:tgtEl>
                                          <p:spTgt spid="112"/>
                                        </p:tgtEl>
                                      </p:cBhvr>
                                    </p:animEffect>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113"/>
                                        </p:tgtEl>
                                        <p:attrNameLst>
                                          <p:attrName>style.visibility</p:attrName>
                                        </p:attrNameLst>
                                      </p:cBhvr>
                                      <p:to>
                                        <p:strVal val="visible"/>
                                      </p:to>
                                    </p:set>
                                    <p:animEffect transition="in" filter="fade">
                                      <p:cBhvr>
                                        <p:cTn id="104" dur="500"/>
                                        <p:tgtEl>
                                          <p:spTgt spid="113"/>
                                        </p:tgtEl>
                                      </p:cBhvr>
                                    </p:animEffect>
                                    <p:anim calcmode="lin" valueType="num">
                                      <p:cBhvr>
                                        <p:cTn id="105" dur="500" fill="hold"/>
                                        <p:tgtEl>
                                          <p:spTgt spid="113"/>
                                        </p:tgtEl>
                                        <p:attrNameLst>
                                          <p:attrName>ppt_x</p:attrName>
                                        </p:attrNameLst>
                                      </p:cBhvr>
                                      <p:tavLst>
                                        <p:tav tm="0">
                                          <p:val>
                                            <p:strVal val="#ppt_x"/>
                                          </p:val>
                                        </p:tav>
                                        <p:tav tm="100000">
                                          <p:val>
                                            <p:strVal val="#ppt_x"/>
                                          </p:val>
                                        </p:tav>
                                      </p:tavLst>
                                    </p:anim>
                                    <p:anim calcmode="lin" valueType="num">
                                      <p:cBhvr>
                                        <p:cTn id="106" dur="500" fill="hold"/>
                                        <p:tgtEl>
                                          <p:spTgt spid="1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Definition · SE p. 273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translation: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&gt; 0</a:t>
            </a:r>
            <a:r>
              <a:rPr lang="en-US" sz="1950" dirty="0">
                <a:solidFill>
                  <a:srgbClr val="16171D"/>
                </a:solidFill>
                <a:latin typeface="Segoe UI"/>
                <a:cs typeface="Segoe UI"/>
              </a:rPr>
              <a:t xml:space="preserve">: the graph moves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moves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562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the output values change. The slope stays the same, so the new line is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 to the original.</a:t>
            </a:r>
            <a:endParaRPr lang="en-US" sz="1950" dirty="0"/>
          </a:p>
        </p:txBody>
      </p:sp>
      <p:sp>
        <p:nvSpPr>
          <p:cNvPr id="6" name="Shape 6"/>
          <p:cNvSpPr txBox="1"/>
          <p:nvPr/>
        </p:nvSpPr>
        <p:spPr>
          <a:xfrm>
            <a:off x="685800" y="30960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 line with slope 1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Questions 5–6 · SE p. 274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r>
              <a:rPr lang="en-US" sz="3450" dirty="0" b="1">
                <a:solidFill>
                  <a:srgbClr val="16171D"/>
                </a:solidFill>
                <a:latin typeface="Segoe UI"/>
                <a:cs typeface="Segoe UI"/>
              </a:rPr>
              <a:t xml:space="preserve"> up 4 and down 4</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7" name="Shape 7"/>
          <p:cNvSpPr txBox="1"/>
          <p:nvPr/>
        </p:nvSpPr>
        <p:spPr>
          <a:xfrm>
            <a:off x="685800" y="336727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335780"/>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slope 2 and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(0, −1), (0, 3), (0, −5). They are parallel, so they </a:t>
            </a:r>
            <a:r>
              <a:rPr lang="en-US" sz="1575" dirty="0" b="1">
                <a:solidFill>
                  <a:srgbClr val="16171D"/>
                </a:solidFill>
                <a:latin typeface="Segoe UI"/>
                <a:cs typeface="Segoe UI"/>
              </a:rPr>
              <a:t xml:space="preserve">never intersect</a:t>
            </a:r>
            <a:r>
              <a:rPr lang="en-US" sz="1575" dirty="0">
                <a:solidFill>
                  <a:srgbClr val="16171D"/>
                </a:solidFill>
                <a:latin typeface="Segoe UI"/>
                <a:cs typeface="Segoe UI"/>
              </a:rPr>
              <a:t xml:space="preserve">.</a:t>
            </a:r>
            <a:endParaRPr lang="en-US" sz="1575" dirty="0"/>
          </a:p>
        </p:txBody>
      </p:sp>
      <p:sp>
        <p:nvSpPr>
          <p:cNvPr id="9" name="Shape 9"/>
          <p:cNvSpPr/>
          <p:nvPr/>
        </p:nvSpPr>
        <p:spPr>
          <a:xfrm>
            <a:off x="6286348" y="1618488"/>
            <a:ext cx="34290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3257550"/>
          </a:xfrm>
          <a:prstGeom prst="line">
            <a:avLst/>
          </a:prstGeom>
          <a:ln w="9525" cap="flat">
            <a:solidFill>
              <a:srgbClr val="E6E8F2"/>
            </a:solidFill>
          </a:ln>
        </p:spPr>
      </p:cxnSp>
      <p:cxnSp>
        <p:nvCxnSpPr>
          <p:cNvPr id="11" name="Line 11"/>
          <p:cNvCxnSpPr/>
          <p:nvPr/>
        </p:nvCxnSpPr>
        <p:spPr>
          <a:xfrm>
            <a:off x="6859435" y="1732788"/>
            <a:ext cx="0" cy="3257550"/>
          </a:xfrm>
          <a:prstGeom prst="line">
            <a:avLst/>
          </a:prstGeom>
          <a:ln w="9525" cap="flat">
            <a:solidFill>
              <a:srgbClr val="E6E8F2"/>
            </a:solidFill>
          </a:ln>
        </p:spPr>
      </p:cxnSp>
      <p:cxnSp>
        <p:nvCxnSpPr>
          <p:cNvPr id="12" name="Line 12"/>
          <p:cNvCxnSpPr/>
          <p:nvPr/>
        </p:nvCxnSpPr>
        <p:spPr>
          <a:xfrm>
            <a:off x="7108673" y="1732788"/>
            <a:ext cx="0" cy="3257550"/>
          </a:xfrm>
          <a:prstGeom prst="line">
            <a:avLst/>
          </a:prstGeom>
          <a:ln w="9525" cap="flat">
            <a:solidFill>
              <a:srgbClr val="E6E8F2"/>
            </a:solidFill>
          </a:ln>
        </p:spPr>
      </p:cxnSp>
      <p:cxnSp>
        <p:nvCxnSpPr>
          <p:cNvPr id="13" name="Line 13"/>
          <p:cNvCxnSpPr/>
          <p:nvPr/>
        </p:nvCxnSpPr>
        <p:spPr>
          <a:xfrm>
            <a:off x="7357910" y="1732788"/>
            <a:ext cx="0" cy="3257550"/>
          </a:xfrm>
          <a:prstGeom prst="line">
            <a:avLst/>
          </a:prstGeom>
          <a:ln w="9525" cap="flat">
            <a:solidFill>
              <a:srgbClr val="E6E8F2"/>
            </a:solidFill>
          </a:ln>
        </p:spPr>
      </p:cxnSp>
      <p:cxnSp>
        <p:nvCxnSpPr>
          <p:cNvPr id="14" name="Line 14"/>
          <p:cNvCxnSpPr/>
          <p:nvPr/>
        </p:nvCxnSpPr>
        <p:spPr>
          <a:xfrm>
            <a:off x="7607148" y="1732788"/>
            <a:ext cx="0" cy="3257550"/>
          </a:xfrm>
          <a:prstGeom prst="line">
            <a:avLst/>
          </a:prstGeom>
          <a:ln w="9525" cap="flat">
            <a:solidFill>
              <a:srgbClr val="E6E8F2"/>
            </a:solidFill>
          </a:ln>
        </p:spPr>
      </p:cxnSp>
      <p:cxnSp>
        <p:nvCxnSpPr>
          <p:cNvPr id="15" name="Line 15"/>
          <p:cNvCxnSpPr/>
          <p:nvPr/>
        </p:nvCxnSpPr>
        <p:spPr>
          <a:xfrm>
            <a:off x="7856385" y="1732788"/>
            <a:ext cx="0" cy="3257550"/>
          </a:xfrm>
          <a:prstGeom prst="line">
            <a:avLst/>
          </a:prstGeom>
          <a:ln w="9525" cap="flat">
            <a:solidFill>
              <a:srgbClr val="E6E8F2"/>
            </a:solidFill>
          </a:ln>
        </p:spPr>
      </p:cxnSp>
      <p:cxnSp>
        <p:nvCxnSpPr>
          <p:cNvPr id="16" name="Line 16"/>
          <p:cNvCxnSpPr/>
          <p:nvPr/>
        </p:nvCxnSpPr>
        <p:spPr>
          <a:xfrm>
            <a:off x="8105623" y="1732788"/>
            <a:ext cx="0" cy="3257550"/>
          </a:xfrm>
          <a:prstGeom prst="line">
            <a:avLst/>
          </a:prstGeom>
          <a:ln w="9525" cap="flat">
            <a:solidFill>
              <a:srgbClr val="E6E8F2"/>
            </a:solidFill>
          </a:ln>
        </p:spPr>
      </p:cxnSp>
      <p:cxnSp>
        <p:nvCxnSpPr>
          <p:cNvPr id="17" name="Line 17"/>
          <p:cNvCxnSpPr/>
          <p:nvPr/>
        </p:nvCxnSpPr>
        <p:spPr>
          <a:xfrm>
            <a:off x="8354860" y="1732788"/>
            <a:ext cx="0" cy="3257550"/>
          </a:xfrm>
          <a:prstGeom prst="line">
            <a:avLst/>
          </a:prstGeom>
          <a:ln w="9525" cap="flat">
            <a:solidFill>
              <a:srgbClr val="E6E8F2"/>
            </a:solidFill>
          </a:ln>
        </p:spPr>
      </p:cxnSp>
      <p:cxnSp>
        <p:nvCxnSpPr>
          <p:cNvPr id="18" name="Line 18"/>
          <p:cNvCxnSpPr/>
          <p:nvPr/>
        </p:nvCxnSpPr>
        <p:spPr>
          <a:xfrm>
            <a:off x="8604098" y="1732788"/>
            <a:ext cx="0" cy="3257550"/>
          </a:xfrm>
          <a:prstGeom prst="line">
            <a:avLst/>
          </a:prstGeom>
          <a:ln w="9525" cap="flat">
            <a:solidFill>
              <a:srgbClr val="E6E8F2"/>
            </a:solidFill>
          </a:ln>
        </p:spPr>
      </p:cxnSp>
      <p:cxnSp>
        <p:nvCxnSpPr>
          <p:cNvPr id="19" name="Line 19"/>
          <p:cNvCxnSpPr/>
          <p:nvPr/>
        </p:nvCxnSpPr>
        <p:spPr>
          <a:xfrm>
            <a:off x="8853335" y="1732788"/>
            <a:ext cx="0" cy="3257550"/>
          </a:xfrm>
          <a:prstGeom prst="line">
            <a:avLst/>
          </a:prstGeom>
          <a:ln w="9525" cap="flat">
            <a:solidFill>
              <a:srgbClr val="E6E8F2"/>
            </a:solidFill>
          </a:ln>
        </p:spPr>
      </p:cxnSp>
      <p:cxnSp>
        <p:nvCxnSpPr>
          <p:cNvPr id="20" name="Line 20"/>
          <p:cNvCxnSpPr/>
          <p:nvPr/>
        </p:nvCxnSpPr>
        <p:spPr>
          <a:xfrm>
            <a:off x="9102573" y="1732788"/>
            <a:ext cx="0" cy="3257550"/>
          </a:xfrm>
          <a:prstGeom prst="line">
            <a:avLst/>
          </a:prstGeom>
          <a:ln w="9525" cap="flat">
            <a:solidFill>
              <a:srgbClr val="E6E8F2"/>
            </a:solidFill>
          </a:ln>
        </p:spPr>
      </p:cxnSp>
      <p:cxnSp>
        <p:nvCxnSpPr>
          <p:cNvPr id="21" name="Line 21"/>
          <p:cNvCxnSpPr/>
          <p:nvPr/>
        </p:nvCxnSpPr>
        <p:spPr>
          <a:xfrm>
            <a:off x="9351810" y="1732788"/>
            <a:ext cx="0" cy="3257550"/>
          </a:xfrm>
          <a:prstGeom prst="line">
            <a:avLst/>
          </a:prstGeom>
          <a:ln w="9525" cap="flat">
            <a:solidFill>
              <a:srgbClr val="E6E8F2"/>
            </a:solidFill>
          </a:ln>
        </p:spPr>
      </p:cxnSp>
      <p:cxnSp>
        <p:nvCxnSpPr>
          <p:cNvPr id="22" name="Line 22"/>
          <p:cNvCxnSpPr/>
          <p:nvPr/>
        </p:nvCxnSpPr>
        <p:spPr>
          <a:xfrm>
            <a:off x="9601048" y="1732788"/>
            <a:ext cx="0" cy="3257550"/>
          </a:xfrm>
          <a:prstGeom prst="line">
            <a:avLst/>
          </a:prstGeom>
          <a:ln w="9525" cap="flat">
            <a:solidFill>
              <a:srgbClr val="E6E8F2"/>
            </a:solidFill>
          </a:ln>
        </p:spPr>
      </p:cxnSp>
      <p:cxnSp>
        <p:nvCxnSpPr>
          <p:cNvPr id="23" name="Line 23"/>
          <p:cNvCxnSpPr/>
          <p:nvPr/>
        </p:nvCxnSpPr>
        <p:spPr>
          <a:xfrm>
            <a:off x="6610198" y="4990338"/>
            <a:ext cx="2990850" cy="0"/>
          </a:xfrm>
          <a:prstGeom prst="line">
            <a:avLst/>
          </a:prstGeom>
          <a:ln w="9525" cap="flat">
            <a:solidFill>
              <a:srgbClr val="E6E8F2"/>
            </a:solidFill>
          </a:ln>
        </p:spPr>
      </p:cxnSp>
      <p:cxnSp>
        <p:nvCxnSpPr>
          <p:cNvPr id="24" name="Line 24"/>
          <p:cNvCxnSpPr/>
          <p:nvPr/>
        </p:nvCxnSpPr>
        <p:spPr>
          <a:xfrm>
            <a:off x="6610198" y="4786741"/>
            <a:ext cx="2990850" cy="0"/>
          </a:xfrm>
          <a:prstGeom prst="line">
            <a:avLst/>
          </a:prstGeom>
          <a:ln w="9525" cap="flat">
            <a:solidFill>
              <a:srgbClr val="E6E8F2"/>
            </a:solidFill>
          </a:ln>
        </p:spPr>
      </p:cxnSp>
      <p:cxnSp>
        <p:nvCxnSpPr>
          <p:cNvPr id="25" name="Line 25"/>
          <p:cNvCxnSpPr/>
          <p:nvPr/>
        </p:nvCxnSpPr>
        <p:spPr>
          <a:xfrm>
            <a:off x="6610198" y="4583144"/>
            <a:ext cx="2990850" cy="0"/>
          </a:xfrm>
          <a:prstGeom prst="line">
            <a:avLst/>
          </a:prstGeom>
          <a:ln w="9525" cap="flat">
            <a:solidFill>
              <a:srgbClr val="E6E8F2"/>
            </a:solidFill>
          </a:ln>
        </p:spPr>
      </p:cxnSp>
      <p:cxnSp>
        <p:nvCxnSpPr>
          <p:cNvPr id="26" name="Line 26"/>
          <p:cNvCxnSpPr/>
          <p:nvPr/>
        </p:nvCxnSpPr>
        <p:spPr>
          <a:xfrm>
            <a:off x="6610198" y="4379547"/>
            <a:ext cx="2990850" cy="0"/>
          </a:xfrm>
          <a:prstGeom prst="line">
            <a:avLst/>
          </a:prstGeom>
          <a:ln w="9525" cap="flat">
            <a:solidFill>
              <a:srgbClr val="E6E8F2"/>
            </a:solidFill>
          </a:ln>
        </p:spPr>
      </p:cxnSp>
      <p:cxnSp>
        <p:nvCxnSpPr>
          <p:cNvPr id="27" name="Line 27"/>
          <p:cNvCxnSpPr/>
          <p:nvPr/>
        </p:nvCxnSpPr>
        <p:spPr>
          <a:xfrm>
            <a:off x="6610198" y="4175950"/>
            <a:ext cx="2990850" cy="0"/>
          </a:xfrm>
          <a:prstGeom prst="line">
            <a:avLst/>
          </a:prstGeom>
          <a:ln w="9525" cap="flat">
            <a:solidFill>
              <a:srgbClr val="E6E8F2"/>
            </a:solidFill>
          </a:ln>
        </p:spPr>
      </p:cxnSp>
      <p:cxnSp>
        <p:nvCxnSpPr>
          <p:cNvPr id="28" name="Line 28"/>
          <p:cNvCxnSpPr/>
          <p:nvPr/>
        </p:nvCxnSpPr>
        <p:spPr>
          <a:xfrm>
            <a:off x="6610198" y="3972354"/>
            <a:ext cx="2990850" cy="0"/>
          </a:xfrm>
          <a:prstGeom prst="line">
            <a:avLst/>
          </a:prstGeom>
          <a:ln w="9525" cap="flat">
            <a:solidFill>
              <a:srgbClr val="E6E8F2"/>
            </a:solidFill>
          </a:ln>
        </p:spPr>
      </p:cxnSp>
      <p:cxnSp>
        <p:nvCxnSpPr>
          <p:cNvPr id="29" name="Line 29"/>
          <p:cNvCxnSpPr/>
          <p:nvPr/>
        </p:nvCxnSpPr>
        <p:spPr>
          <a:xfrm>
            <a:off x="6610198" y="3768757"/>
            <a:ext cx="2990850" cy="0"/>
          </a:xfrm>
          <a:prstGeom prst="line">
            <a:avLst/>
          </a:prstGeom>
          <a:ln w="9525" cap="flat">
            <a:solidFill>
              <a:srgbClr val="E6E8F2"/>
            </a:solidFill>
          </a:ln>
        </p:spPr>
      </p:cxnSp>
      <p:cxnSp>
        <p:nvCxnSpPr>
          <p:cNvPr id="30" name="Line 30"/>
          <p:cNvCxnSpPr/>
          <p:nvPr/>
        </p:nvCxnSpPr>
        <p:spPr>
          <a:xfrm>
            <a:off x="6610198" y="3565160"/>
            <a:ext cx="2990850" cy="0"/>
          </a:xfrm>
          <a:prstGeom prst="line">
            <a:avLst/>
          </a:prstGeom>
          <a:ln w="9525" cap="flat">
            <a:solidFill>
              <a:srgbClr val="E6E8F2"/>
            </a:solidFill>
          </a:ln>
        </p:spPr>
      </p:cxnSp>
      <p:cxnSp>
        <p:nvCxnSpPr>
          <p:cNvPr id="31" name="Line 31"/>
          <p:cNvCxnSpPr/>
          <p:nvPr/>
        </p:nvCxnSpPr>
        <p:spPr>
          <a:xfrm>
            <a:off x="6610198" y="3361563"/>
            <a:ext cx="2990850" cy="0"/>
          </a:xfrm>
          <a:prstGeom prst="line">
            <a:avLst/>
          </a:prstGeom>
          <a:ln w="9525" cap="flat">
            <a:solidFill>
              <a:srgbClr val="E6E8F2"/>
            </a:solidFill>
          </a:ln>
        </p:spPr>
      </p:cxnSp>
      <p:cxnSp>
        <p:nvCxnSpPr>
          <p:cNvPr id="32" name="Line 32"/>
          <p:cNvCxnSpPr/>
          <p:nvPr/>
        </p:nvCxnSpPr>
        <p:spPr>
          <a:xfrm>
            <a:off x="6610198" y="3157966"/>
            <a:ext cx="2990850" cy="0"/>
          </a:xfrm>
          <a:prstGeom prst="line">
            <a:avLst/>
          </a:prstGeom>
          <a:ln w="9525" cap="flat">
            <a:solidFill>
              <a:srgbClr val="E6E8F2"/>
            </a:solidFill>
          </a:ln>
        </p:spPr>
      </p:cxnSp>
      <p:cxnSp>
        <p:nvCxnSpPr>
          <p:cNvPr id="33" name="Line 33"/>
          <p:cNvCxnSpPr/>
          <p:nvPr/>
        </p:nvCxnSpPr>
        <p:spPr>
          <a:xfrm>
            <a:off x="6610198" y="2954369"/>
            <a:ext cx="2990850" cy="0"/>
          </a:xfrm>
          <a:prstGeom prst="line">
            <a:avLst/>
          </a:prstGeom>
          <a:ln w="9525" cap="flat">
            <a:solidFill>
              <a:srgbClr val="E6E8F2"/>
            </a:solidFill>
          </a:ln>
        </p:spPr>
      </p:cxnSp>
      <p:cxnSp>
        <p:nvCxnSpPr>
          <p:cNvPr id="34" name="Line 34"/>
          <p:cNvCxnSpPr/>
          <p:nvPr/>
        </p:nvCxnSpPr>
        <p:spPr>
          <a:xfrm>
            <a:off x="6610198" y="2750772"/>
            <a:ext cx="2990850" cy="0"/>
          </a:xfrm>
          <a:prstGeom prst="line">
            <a:avLst/>
          </a:prstGeom>
          <a:ln w="9525" cap="flat">
            <a:solidFill>
              <a:srgbClr val="E6E8F2"/>
            </a:solidFill>
          </a:ln>
        </p:spPr>
      </p:cxnSp>
      <p:cxnSp>
        <p:nvCxnSpPr>
          <p:cNvPr id="35" name="Line 35"/>
          <p:cNvCxnSpPr/>
          <p:nvPr/>
        </p:nvCxnSpPr>
        <p:spPr>
          <a:xfrm>
            <a:off x="6610198" y="2547176"/>
            <a:ext cx="2990850" cy="0"/>
          </a:xfrm>
          <a:prstGeom prst="line">
            <a:avLst/>
          </a:prstGeom>
          <a:ln w="9525" cap="flat">
            <a:solidFill>
              <a:srgbClr val="E6E8F2"/>
            </a:solidFill>
          </a:ln>
        </p:spPr>
      </p:cxnSp>
      <p:cxnSp>
        <p:nvCxnSpPr>
          <p:cNvPr id="36" name="Line 36"/>
          <p:cNvCxnSpPr/>
          <p:nvPr/>
        </p:nvCxnSpPr>
        <p:spPr>
          <a:xfrm>
            <a:off x="6610198" y="2343579"/>
            <a:ext cx="2990850" cy="0"/>
          </a:xfrm>
          <a:prstGeom prst="line">
            <a:avLst/>
          </a:prstGeom>
          <a:ln w="9525" cap="flat">
            <a:solidFill>
              <a:srgbClr val="E6E8F2"/>
            </a:solidFill>
          </a:ln>
        </p:spPr>
      </p:cxnSp>
      <p:cxnSp>
        <p:nvCxnSpPr>
          <p:cNvPr id="37" name="Line 37"/>
          <p:cNvCxnSpPr/>
          <p:nvPr/>
        </p:nvCxnSpPr>
        <p:spPr>
          <a:xfrm>
            <a:off x="6610198" y="2139982"/>
            <a:ext cx="2990850" cy="0"/>
          </a:xfrm>
          <a:prstGeom prst="line">
            <a:avLst/>
          </a:prstGeom>
          <a:ln w="9525" cap="flat">
            <a:solidFill>
              <a:srgbClr val="E6E8F2"/>
            </a:solidFill>
          </a:ln>
        </p:spPr>
      </p:cxnSp>
      <p:cxnSp>
        <p:nvCxnSpPr>
          <p:cNvPr id="38" name="Line 38"/>
          <p:cNvCxnSpPr/>
          <p:nvPr/>
        </p:nvCxnSpPr>
        <p:spPr>
          <a:xfrm>
            <a:off x="6610198" y="1936385"/>
            <a:ext cx="2990850" cy="0"/>
          </a:xfrm>
          <a:prstGeom prst="line">
            <a:avLst/>
          </a:prstGeom>
          <a:ln w="9525" cap="flat">
            <a:solidFill>
              <a:srgbClr val="E6E8F2"/>
            </a:solidFill>
          </a:ln>
        </p:spPr>
      </p:cxnSp>
      <p:cxnSp>
        <p:nvCxnSpPr>
          <p:cNvPr id="39" name="Line 39"/>
          <p:cNvCxnSpPr/>
          <p:nvPr/>
        </p:nvCxnSpPr>
        <p:spPr>
          <a:xfrm>
            <a:off x="6610198" y="1732788"/>
            <a:ext cx="2990850" cy="0"/>
          </a:xfrm>
          <a:prstGeom prst="line">
            <a:avLst/>
          </a:prstGeom>
          <a:ln w="9525" cap="flat">
            <a:solidFill>
              <a:srgbClr val="E6E8F2"/>
            </a:solidFill>
          </a:ln>
        </p:spPr>
      </p:cxnSp>
      <p:cxnSp>
        <p:nvCxnSpPr>
          <p:cNvPr id="40" name="Line 40"/>
          <p:cNvCxnSpPr/>
          <p:nvPr/>
        </p:nvCxnSpPr>
        <p:spPr>
          <a:xfrm>
            <a:off x="8105623" y="1732788"/>
            <a:ext cx="0" cy="3257550"/>
          </a:xfrm>
          <a:prstGeom prst="line">
            <a:avLst/>
          </a:prstGeom>
          <a:ln w="19050" cap="flat">
            <a:solidFill>
              <a:srgbClr val="5F6272"/>
            </a:solidFill>
          </a:ln>
        </p:spPr>
      </p:cxnSp>
      <p:cxnSp>
        <p:nvCxnSpPr>
          <p:cNvPr id="41" name="Line 41"/>
          <p:cNvCxnSpPr/>
          <p:nvPr/>
        </p:nvCxnSpPr>
        <p:spPr>
          <a:xfrm>
            <a:off x="6610198" y="3361563"/>
            <a:ext cx="2990850" cy="0"/>
          </a:xfrm>
          <a:prstGeom prst="line">
            <a:avLst/>
          </a:prstGeom>
          <a:ln w="19050" cap="flat">
            <a:solidFill>
              <a:srgbClr val="5F6272"/>
            </a:solidFill>
          </a:ln>
        </p:spPr>
      </p:cxnSp>
      <p:sp>
        <p:nvSpPr>
          <p:cNvPr id="42" name="Shape 4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8343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73328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783130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8329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88282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93267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491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0845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773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8629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2455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6043270" y="20485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7" name="Shape 5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8" name="Line 58"/>
          <p:cNvCxnSpPr/>
          <p:nvPr/>
        </p:nvCxnSpPr>
        <p:spPr>
          <a:xfrm flipV="1">
            <a:off x="7233291" y="1732788"/>
            <a:ext cx="1993900" cy="3257550"/>
          </a:xfrm>
          <a:prstGeom prst="line">
            <a:avLst/>
          </a:prstGeom>
          <a:ln w="38100" cap="rnd">
            <a:solidFill>
              <a:srgbClr val="16171D"/>
            </a:solidFill>
          </a:ln>
        </p:spPr>
      </p:cxnSp>
      <p:sp>
        <p:nvSpPr>
          <p:cNvPr id="59" name="Shape 59"/>
          <p:cNvSpPr txBox="1"/>
          <p:nvPr/>
        </p:nvSpPr>
        <p:spPr>
          <a:xfrm>
            <a:off x="673545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0" name="Line 60"/>
          <p:cNvCxnSpPr/>
          <p:nvPr/>
        </p:nvCxnSpPr>
        <p:spPr>
          <a:xfrm flipV="1">
            <a:off x="6734816" y="1732788"/>
            <a:ext cx="1993900" cy="3257550"/>
          </a:xfrm>
          <a:prstGeom prst="line">
            <a:avLst/>
          </a:prstGeom>
          <a:ln w="38100" cap="rnd">
            <a:solidFill>
              <a:srgbClr val="7A4FC4"/>
            </a:solidFill>
          </a:ln>
        </p:spPr>
      </p:cxnSp>
      <p:sp>
        <p:nvSpPr>
          <p:cNvPr id="61" name="Shape 61"/>
          <p:cNvSpPr txBox="1"/>
          <p:nvPr/>
        </p:nvSpPr>
        <p:spPr>
          <a:xfrm>
            <a:off x="6236976"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2" name="Line 62"/>
          <p:cNvCxnSpPr/>
          <p:nvPr/>
        </p:nvCxnSpPr>
        <p:spPr>
          <a:xfrm flipV="1">
            <a:off x="7731766" y="1936385"/>
            <a:ext cx="1869281" cy="3053953"/>
          </a:xfrm>
          <a:prstGeom prst="line">
            <a:avLst/>
          </a:prstGeom>
          <a:ln w="38100" cap="rnd">
            <a:solidFill>
              <a:srgbClr val="4F8A3C"/>
            </a:solidFill>
          </a:ln>
        </p:spPr>
      </p:cxnSp>
      <p:sp>
        <p:nvSpPr>
          <p:cNvPr id="63" name="Shape 63"/>
          <p:cNvSpPr txBox="1"/>
          <p:nvPr/>
        </p:nvSpPr>
        <p:spPr>
          <a:xfrm>
            <a:off x="7109308" y="195543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wipe(left)">
                                      <p:cBhvr>
                                        <p:cTn id="25" dur="700"/>
                                        <p:tgtEl>
                                          <p:spTgt spid="60"/>
                                        </p:tgtEl>
                                      </p:cBhvr>
                                    </p:animEffect>
                                  </p:childTnLst>
                                </p:cTn>
                              </p:par>
                              <p:par>
                                <p:cTn id="29" presetID="22" presetClass="entr" presetSubtype="8" fill="hold"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left)">
                                      <p:cBhvr>
                                        <p:cTn id="28" dur="700"/>
                                        <p:tgtEl>
                                          <p:spTgt spid="6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nodeType="clickEffect">
                                  <p:stCondLst>
                                    <p:cond delay="0"/>
                                  </p:stCondLst>
                                  <p:childTnLst>
                                    <p:set>
                                      <p:cBhvr>
                                        <p:cTn id="32" dur="1" fill="hold">
                                          <p:stCondLst>
                                            <p:cond delay="0"/>
                                          </p:stCondLst>
                                        </p:cTn>
                                        <p:tgtEl>
                                          <p:spTgt spid="62"/>
                                        </p:tgtEl>
                                        <p:attrNameLst>
                                          <p:attrName>style.visibility</p:attrName>
                                        </p:attrNameLst>
                                      </p:cBhvr>
                                      <p:to>
                                        <p:strVal val="visible"/>
                                      </p:to>
                                    </p:set>
                                    <p:animEffect transition="in" filter="wipe(left)">
                                      <p:cBhvr>
                                        <p:cTn id="33" dur="700"/>
                                        <p:tgtEl>
                                          <p:spTgt spid="62"/>
                                        </p:tgtEl>
                                      </p:cBhvr>
                                    </p:animEffect>
                                  </p:childTnLst>
                                </p:cTn>
                              </p:par>
                              <p:par>
                                <p:cTn id="37" presetID="22" presetClass="entr" presetSubtype="8" fill="hold" nodeType="with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left)">
                                      <p:cBhvr>
                                        <p:cTn id="36" dur="7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a vertical translation do?</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every point up or down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a:t>
            </a:r>
            <a:endParaRPr lang="en-US" sz="1950" dirty="0"/>
          </a:p>
        </p:txBody>
      </p:sp>
      <p:sp>
        <p:nvSpPr>
          <p:cNvPr id="5" name="Shape 5"/>
          <p:cNvSpPr txBox="1"/>
          <p:nvPr/>
        </p:nvSpPr>
        <p:spPr>
          <a:xfrm>
            <a:off x="685800" y="227533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stays the same.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changes.</a:t>
            </a:r>
            <a:endParaRPr lang="en-US" sz="1950" dirty="0"/>
          </a:p>
        </p:txBody>
      </p:sp>
      <p:sp>
        <p:nvSpPr>
          <p:cNvPr id="6" name="Shape 6"/>
          <p:cNvSpPr txBox="1"/>
          <p:nvPr/>
        </p:nvSpPr>
        <p:spPr>
          <a:xfrm>
            <a:off x="685800" y="283692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 and its vertical translation are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20</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Slopes of Parallel Lines · SE p. 275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Will the graphs of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q</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ever intersect?</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j</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 </a:t>
            </a:r>
            <a:r>
              <a:rPr lang="en-US" sz="2850" dirty="0" i="1">
                <a:solidFill>
                  <a:srgbClr val="16171D"/>
                </a:solidFill>
                <a:latin typeface="Cambria"/>
                <a:cs typeface="Cambria"/>
              </a:rPr>
              <a:t xml:space="preserve">q</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endParaRPr lang="en-US" sz="2850" dirty="0"/>
          </a:p>
        </p:txBody>
      </p:sp>
      <p:sp>
        <p:nvSpPr>
          <p:cNvPr id="5" name="Shape 5"/>
          <p:cNvSpPr txBox="1"/>
          <p:nvPr/>
        </p:nvSpPr>
        <p:spPr>
          <a:xfrm>
            <a:off x="685800" y="22791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No. Both lines have slope 2 and stay 4 units apart, so they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454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Prove it for any line. Translate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 up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units to make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Pre-image: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a:t>
            </a:r>
            <a:endParaRPr lang="en-US" sz="1575" dirty="0"/>
          </a:p>
        </p:txBody>
      </p:sp>
      <p:sp>
        <p:nvSpPr>
          <p:cNvPr id="8" name="Shape 8"/>
          <p:cNvSpPr txBox="1"/>
          <p:nvPr/>
        </p:nvSpPr>
        <p:spPr>
          <a:xfrm>
            <a:off x="685800" y="365912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endParaRPr lang="en-US" sz="1575" dirty="0"/>
          </a:p>
        </p:txBody>
      </p:sp>
      <p:sp>
        <p:nvSpPr>
          <p:cNvPr id="9" name="Shape 9"/>
          <p:cNvSpPr txBox="1"/>
          <p:nvPr/>
        </p:nvSpPr>
        <p:spPr>
          <a:xfrm>
            <a:off x="6286348"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of the image:</a:t>
            </a:r>
            <a:endParaRPr lang="en-US" sz="1575" dirty="0"/>
          </a:p>
        </p:txBody>
      </p:sp>
      <p:sp>
        <p:nvSpPr>
          <p:cNvPr id="10" name="Shape 10"/>
          <p:cNvSpPr txBox="1"/>
          <p:nvPr/>
        </p:nvSpPr>
        <p:spPr>
          <a:xfrm>
            <a:off x="6286348" y="365912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1" name="Shape 11"/>
          <p:cNvSpPr txBox="1"/>
          <p:nvPr/>
        </p:nvSpPr>
        <p:spPr>
          <a:xfrm>
            <a:off x="6286348" y="416356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Questions 3–4 · SE p. 276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a parallel line</a:t>
            </a:r>
            <a:endParaRPr lang="en-US" sz="3450" dirty="0"/>
          </a:p>
        </p:txBody>
      </p:sp>
      <p:sp>
        <p:nvSpPr>
          <p:cNvPr id="6" name="Shape 6"/>
          <p:cNvSpPr txBox="1"/>
          <p:nvPr/>
        </p:nvSpPr>
        <p:spPr>
          <a:xfrm>
            <a:off x="685800" y="1618488"/>
            <a:ext cx="521954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Catalina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½</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through (2, 9): the point on the line at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is (2, 4), so translate up 5.</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James</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½ and the point (2, 9): </a:t>
            </a:r>
            <a:r>
              <a:rPr lang="en-US" sz="1575" dirty="0">
                <a:solidFill>
                  <a:srgbClr val="16171D"/>
                </a:solidFill>
                <a:latin typeface="Cambria"/>
                <a:cs typeface="Cambria"/>
              </a:rPr>
              <a:t xml:space="preserve">9 = ½(2)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37794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85800" y="406831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Now you: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2" name="Shape 12"/>
          <p:cNvSpPr txBox="1"/>
          <p:nvPr/>
        </p:nvSpPr>
        <p:spPr>
          <a:xfrm>
            <a:off x="685800" y="459181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so the slope is −3: </a:t>
            </a:r>
            <a:r>
              <a:rPr lang="en-US" sz="1575" dirty="0">
                <a:solidFill>
                  <a:srgbClr val="16171D"/>
                </a:solidFill>
                <a:latin typeface="Cambria"/>
                <a:cs typeface="Cambria"/>
              </a:rPr>
              <a:t xml:space="preserve">5 = −3(−1)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5058156"/>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ppt_w</p:attrName>
                                        </p:attrNameLst>
                                      </p:cBhvr>
                                      <p:tavLst>
                                        <p:tav tm="0">
                                          <p:val>
                                            <p:fltVal val="0"/>
                                          </p:val>
                                        </p:tav>
                                        <p:tav tm="100000">
                                          <p:val>
                                            <p:strVal val="#ppt_w"/>
                                          </p:val>
                                        </p:tav>
                                      </p:tavLst>
                                    </p:anim>
                                    <p:anim calcmode="lin" valueType="num">
                                      <p:cBhvr>
                                        <p:cTn id="6"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Vertical Dilations of Functions · SE pp. 277–278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outputs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7" name="Shape 7"/>
          <p:cNvSpPr txBox="1"/>
          <p:nvPr/>
        </p:nvSpPr>
        <p:spPr>
          <a:xfrm>
            <a:off x="2971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8" name="Shape 8"/>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0" name="Shape 10"/>
          <p:cNvSpPr txBox="1"/>
          <p:nvPr/>
        </p:nvSpPr>
        <p:spPr>
          <a:xfrm>
            <a:off x="2971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1" name="Shape 11"/>
          <p:cNvSpPr txBox="1"/>
          <p:nvPr/>
        </p:nvSpPr>
        <p:spPr>
          <a:xfrm>
            <a:off x="2971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12" name="Shape 12"/>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4" name="Shape 14"/>
          <p:cNvSpPr txBox="1"/>
          <p:nvPr/>
        </p:nvSpPr>
        <p:spPr>
          <a:xfrm>
            <a:off x="2971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5" name="Shape 15"/>
          <p:cNvSpPr txBox="1"/>
          <p:nvPr/>
        </p:nvSpPr>
        <p:spPr>
          <a:xfrm>
            <a:off x="2971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6" name="Shape 16"/>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8" name="Shape 18"/>
          <p:cNvSpPr txBox="1"/>
          <p:nvPr/>
        </p:nvSpPr>
        <p:spPr>
          <a:xfrm>
            <a:off x="2971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9" name="Shape 19"/>
          <p:cNvSpPr txBox="1"/>
          <p:nvPr/>
        </p:nvSpPr>
        <p:spPr>
          <a:xfrm>
            <a:off x="2971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20" name="Shape 20"/>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2" name="Shape 22"/>
          <p:cNvSpPr txBox="1"/>
          <p:nvPr/>
        </p:nvSpPr>
        <p:spPr>
          <a:xfrm>
            <a:off x="2971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3" name="Shape 23"/>
          <p:cNvSpPr txBox="1"/>
          <p:nvPr/>
        </p:nvSpPr>
        <p:spPr>
          <a:xfrm>
            <a:off x="2971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4" name="Shape 24"/>
          <p:cNvSpPr txBox="1"/>
          <p:nvPr/>
        </p:nvSpPr>
        <p:spPr>
          <a:xfrm>
            <a:off x="685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6" name="Shape 26"/>
          <p:cNvSpPr txBox="1"/>
          <p:nvPr/>
        </p:nvSpPr>
        <p:spPr>
          <a:xfrm>
            <a:off x="2971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7" name="Shape 27"/>
          <p:cNvSpPr txBox="1"/>
          <p:nvPr/>
        </p:nvSpPr>
        <p:spPr>
          <a:xfrm>
            <a:off x="2971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28" name="Shape 28"/>
          <p:cNvSpPr txBox="1"/>
          <p:nvPr/>
        </p:nvSpPr>
        <p:spPr>
          <a:xfrm>
            <a:off x="685800"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29" name="Shape 29"/>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⅔: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30" name="Shape 30"/>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1" name="Shape 31"/>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2" name="Shape 32"/>
          <p:cNvSpPr txBox="1"/>
          <p:nvPr/>
        </p:nvSpPr>
        <p:spPr>
          <a:xfrm>
            <a:off x="6667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3" name="Shape 33"/>
          <p:cNvSpPr txBox="1"/>
          <p:nvPr/>
        </p:nvSpPr>
        <p:spPr>
          <a:xfrm>
            <a:off x="4381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5524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5" name="Shape 35"/>
          <p:cNvSpPr txBox="1"/>
          <p:nvPr/>
        </p:nvSpPr>
        <p:spPr>
          <a:xfrm>
            <a:off x="6667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6667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37" name="Shape 37"/>
          <p:cNvSpPr txBox="1"/>
          <p:nvPr/>
        </p:nvSpPr>
        <p:spPr>
          <a:xfrm>
            <a:off x="4381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5524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9" name="Shape 39"/>
          <p:cNvSpPr txBox="1"/>
          <p:nvPr/>
        </p:nvSpPr>
        <p:spPr>
          <a:xfrm>
            <a:off x="6667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6667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1" name="Shape 41"/>
          <p:cNvSpPr txBox="1"/>
          <p:nvPr/>
        </p:nvSpPr>
        <p:spPr>
          <a:xfrm>
            <a:off x="4381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5524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3" name="Shape 43"/>
          <p:cNvSpPr txBox="1"/>
          <p:nvPr/>
        </p:nvSpPr>
        <p:spPr>
          <a:xfrm>
            <a:off x="6667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6667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5" name="Shape 45"/>
          <p:cNvSpPr txBox="1"/>
          <p:nvPr/>
        </p:nvSpPr>
        <p:spPr>
          <a:xfrm>
            <a:off x="4381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5524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7" name="Shape 47"/>
          <p:cNvSpPr txBox="1"/>
          <p:nvPr/>
        </p:nvSpPr>
        <p:spPr>
          <a:xfrm>
            <a:off x="6667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6667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9" name="Shape 49"/>
          <p:cNvSpPr txBox="1"/>
          <p:nvPr/>
        </p:nvSpPr>
        <p:spPr>
          <a:xfrm>
            <a:off x="4381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5524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1" name="Shape 51"/>
          <p:cNvSpPr txBox="1"/>
          <p:nvPr/>
        </p:nvSpPr>
        <p:spPr>
          <a:xfrm>
            <a:off x="6667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2" name="Shape 52"/>
          <p:cNvSpPr txBox="1"/>
          <p:nvPr/>
        </p:nvSpPr>
        <p:spPr>
          <a:xfrm>
            <a:off x="6667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53" name="Shape 53"/>
          <p:cNvSpPr txBox="1"/>
          <p:nvPr/>
        </p:nvSpPr>
        <p:spPr>
          <a:xfrm>
            <a:off x="4381398"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endParaRPr lang="en-US" sz="2325" dirty="0"/>
          </a:p>
        </p:txBody>
      </p:sp>
      <p:sp>
        <p:nvSpPr>
          <p:cNvPr id="54" name="Shape 54"/>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5" name="Shape 55"/>
          <p:cNvSpPr txBox="1"/>
          <p:nvPr/>
        </p:nvSpPr>
        <p:spPr>
          <a:xfrm>
            <a:off x="8076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6" name="Shape 56"/>
          <p:cNvSpPr txBox="1"/>
          <p:nvPr/>
        </p:nvSpPr>
        <p:spPr>
          <a:xfrm>
            <a:off x="9219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57" name="Shape 57"/>
          <p:cNvSpPr txBox="1"/>
          <p:nvPr/>
        </p:nvSpPr>
        <p:spPr>
          <a:xfrm>
            <a:off x="10362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58" name="Shape 58"/>
          <p:cNvSpPr txBox="1"/>
          <p:nvPr/>
        </p:nvSpPr>
        <p:spPr>
          <a:xfrm>
            <a:off x="8076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9" name="Shape 59"/>
          <p:cNvSpPr txBox="1"/>
          <p:nvPr/>
        </p:nvSpPr>
        <p:spPr>
          <a:xfrm>
            <a:off x="9219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0" name="Shape 60"/>
          <p:cNvSpPr txBox="1"/>
          <p:nvPr/>
        </p:nvSpPr>
        <p:spPr>
          <a:xfrm>
            <a:off x="10362997"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1" name="Shape 61"/>
          <p:cNvSpPr txBox="1"/>
          <p:nvPr/>
        </p:nvSpPr>
        <p:spPr>
          <a:xfrm>
            <a:off x="10362997"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2" name="Shape 62"/>
          <p:cNvSpPr txBox="1"/>
          <p:nvPr/>
        </p:nvSpPr>
        <p:spPr>
          <a:xfrm>
            <a:off x="8076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3" name="Shape 63"/>
          <p:cNvSpPr txBox="1"/>
          <p:nvPr/>
        </p:nvSpPr>
        <p:spPr>
          <a:xfrm>
            <a:off x="9219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4" name="Shape 64"/>
          <p:cNvSpPr txBox="1"/>
          <p:nvPr/>
        </p:nvSpPr>
        <p:spPr>
          <a:xfrm>
            <a:off x="10362997"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5" name="Shape 65"/>
          <p:cNvSpPr txBox="1"/>
          <p:nvPr/>
        </p:nvSpPr>
        <p:spPr>
          <a:xfrm>
            <a:off x="10362997"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66" name="Shape 66"/>
          <p:cNvSpPr txBox="1"/>
          <p:nvPr/>
        </p:nvSpPr>
        <p:spPr>
          <a:xfrm>
            <a:off x="8076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7" name="Shape 67"/>
          <p:cNvSpPr txBox="1"/>
          <p:nvPr/>
        </p:nvSpPr>
        <p:spPr>
          <a:xfrm>
            <a:off x="9219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8" name="Shape 68"/>
          <p:cNvSpPr txBox="1"/>
          <p:nvPr/>
        </p:nvSpPr>
        <p:spPr>
          <a:xfrm>
            <a:off x="10362997"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9" name="Shape 69"/>
          <p:cNvSpPr txBox="1"/>
          <p:nvPr/>
        </p:nvSpPr>
        <p:spPr>
          <a:xfrm>
            <a:off x="10362997"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70" name="Shape 70"/>
          <p:cNvSpPr txBox="1"/>
          <p:nvPr/>
        </p:nvSpPr>
        <p:spPr>
          <a:xfrm>
            <a:off x="8076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1" name="Shape 71"/>
          <p:cNvSpPr txBox="1"/>
          <p:nvPr/>
        </p:nvSpPr>
        <p:spPr>
          <a:xfrm>
            <a:off x="9219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2" name="Shape 72"/>
          <p:cNvSpPr txBox="1"/>
          <p:nvPr/>
        </p:nvSpPr>
        <p:spPr>
          <a:xfrm>
            <a:off x="10362997"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3" name="Shape 73"/>
          <p:cNvSpPr txBox="1"/>
          <p:nvPr/>
        </p:nvSpPr>
        <p:spPr>
          <a:xfrm>
            <a:off x="10362997"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74" name="Shape 74"/>
          <p:cNvSpPr txBox="1"/>
          <p:nvPr/>
        </p:nvSpPr>
        <p:spPr>
          <a:xfrm>
            <a:off x="8076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5" name="Shape 75"/>
          <p:cNvSpPr txBox="1"/>
          <p:nvPr/>
        </p:nvSpPr>
        <p:spPr>
          <a:xfrm>
            <a:off x="9219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6" name="Shape 76"/>
          <p:cNvSpPr txBox="1"/>
          <p:nvPr/>
        </p:nvSpPr>
        <p:spPr>
          <a:xfrm>
            <a:off x="10362997"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7" name="Shape 77"/>
          <p:cNvSpPr txBox="1"/>
          <p:nvPr/>
        </p:nvSpPr>
        <p:spPr>
          <a:xfrm>
            <a:off x="10362997"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78" name="Shape 78"/>
          <p:cNvSpPr txBox="1"/>
          <p:nvPr/>
        </p:nvSpPr>
        <p:spPr>
          <a:xfrm>
            <a:off x="8076997" y="4490466"/>
            <a:ext cx="34288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anim calcmode="lin" valueType="num">
                                      <p:cBhvr>
                                        <p:cTn id="26" dur="500" fill="hold"/>
                                        <p:tgtEl>
                                          <p:spTgt spid="23"/>
                                        </p:tgtEl>
                                        <p:attrNameLst>
                                          <p:attrName>ppt_x</p:attrName>
                                        </p:attrNameLst>
                                      </p:cBhvr>
                                      <p:tavLst>
                                        <p:tav tm="0">
                                          <p:val>
                                            <p:strVal val="#ppt_x"/>
                                          </p:val>
                                        </p:tav>
                                        <p:tav tm="100000">
                                          <p:val>
                                            <p:strVal val="#ppt_x"/>
                                          </p:val>
                                        </p:tav>
                                      </p:tavLst>
                                    </p:anim>
                                    <p:anim calcmode="lin" valueType="num">
                                      <p:cBhvr>
                                        <p:cTn id="2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anim calcmode="lin" valueType="num">
                                      <p:cBhvr>
                                        <p:cTn id="33" dur="500" fill="hold"/>
                                        <p:tgtEl>
                                          <p:spTgt spid="27"/>
                                        </p:tgtEl>
                                        <p:attrNameLst>
                                          <p:attrName>ppt_x</p:attrName>
                                        </p:attrNameLst>
                                      </p:cBhvr>
                                      <p:tavLst>
                                        <p:tav tm="0">
                                          <p:val>
                                            <p:strVal val="#ppt_x"/>
                                          </p:val>
                                        </p:tav>
                                        <p:tav tm="100000">
                                          <p:val>
                                            <p:strVal val="#ppt_x"/>
                                          </p:val>
                                        </p:tav>
                                      </p:tavLst>
                                    </p:anim>
                                    <p:anim calcmode="lin" valueType="num">
                                      <p:cBhvr>
                                        <p:cTn id="34"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ppt_w</p:attrName>
                                        </p:attrNameLst>
                                      </p:cBhvr>
                                      <p:tavLst>
                                        <p:tav tm="0">
                                          <p:val>
                                            <p:fltVal val="0"/>
                                          </p:val>
                                        </p:tav>
                                        <p:tav tm="100000">
                                          <p:val>
                                            <p:strVal val="#ppt_w"/>
                                          </p:val>
                                        </p:tav>
                                      </p:tavLst>
                                    </p:anim>
                                    <p:anim calcmode="lin" valueType="num">
                                      <p:cBhvr>
                                        <p:cTn id="41" dur="500" fill="hold"/>
                                        <p:tgtEl>
                                          <p:spTgt spid="28"/>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anim calcmode="lin" valueType="num">
                                      <p:cBhvr>
                                        <p:cTn id="47" dur="500" fill="hold"/>
                                        <p:tgtEl>
                                          <p:spTgt spid="36"/>
                                        </p:tgtEl>
                                        <p:attrNameLst>
                                          <p:attrName>ppt_x</p:attrName>
                                        </p:attrNameLst>
                                      </p:cBhvr>
                                      <p:tavLst>
                                        <p:tav tm="0">
                                          <p:val>
                                            <p:strVal val="#ppt_x"/>
                                          </p:val>
                                        </p:tav>
                                        <p:tav tm="100000">
                                          <p:val>
                                            <p:strVal val="#ppt_x"/>
                                          </p:val>
                                        </p:tav>
                                      </p:tavLst>
                                    </p:anim>
                                    <p:anim calcmode="lin" valueType="num">
                                      <p:cBhvr>
                                        <p:cTn id="48"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anim calcmode="lin" valueType="num">
                                      <p:cBhvr>
                                        <p:cTn id="54" dur="500" fill="hold"/>
                                        <p:tgtEl>
                                          <p:spTgt spid="40"/>
                                        </p:tgtEl>
                                        <p:attrNameLst>
                                          <p:attrName>ppt_x</p:attrName>
                                        </p:attrNameLst>
                                      </p:cBhvr>
                                      <p:tavLst>
                                        <p:tav tm="0">
                                          <p:val>
                                            <p:strVal val="#ppt_x"/>
                                          </p:val>
                                        </p:tav>
                                        <p:tav tm="100000">
                                          <p:val>
                                            <p:strVal val="#ppt_x"/>
                                          </p:val>
                                        </p:tav>
                                      </p:tavLst>
                                    </p:anim>
                                    <p:anim calcmode="lin" valueType="num">
                                      <p:cBhvr>
                                        <p:cTn id="55"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500"/>
                                        <p:tgtEl>
                                          <p:spTgt spid="44"/>
                                        </p:tgtEl>
                                      </p:cBhvr>
                                    </p:animEffect>
                                    <p:anim calcmode="lin" valueType="num">
                                      <p:cBhvr>
                                        <p:cTn id="61" dur="500" fill="hold"/>
                                        <p:tgtEl>
                                          <p:spTgt spid="44"/>
                                        </p:tgtEl>
                                        <p:attrNameLst>
                                          <p:attrName>ppt_x</p:attrName>
                                        </p:attrNameLst>
                                      </p:cBhvr>
                                      <p:tavLst>
                                        <p:tav tm="0">
                                          <p:val>
                                            <p:strVal val="#ppt_x"/>
                                          </p:val>
                                        </p:tav>
                                        <p:tav tm="100000">
                                          <p:val>
                                            <p:strVal val="#ppt_x"/>
                                          </p:val>
                                        </p:tav>
                                      </p:tavLst>
                                    </p:anim>
                                    <p:anim calcmode="lin" valueType="num">
                                      <p:cBhvr>
                                        <p:cTn id="6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500"/>
                                        <p:tgtEl>
                                          <p:spTgt spid="48"/>
                                        </p:tgtEl>
                                      </p:cBhvr>
                                    </p:animEffect>
                                    <p:anim calcmode="lin" valueType="num">
                                      <p:cBhvr>
                                        <p:cTn id="68" dur="500" fill="hold"/>
                                        <p:tgtEl>
                                          <p:spTgt spid="48"/>
                                        </p:tgtEl>
                                        <p:attrNameLst>
                                          <p:attrName>ppt_x</p:attrName>
                                        </p:attrNameLst>
                                      </p:cBhvr>
                                      <p:tavLst>
                                        <p:tav tm="0">
                                          <p:val>
                                            <p:strVal val="#ppt_x"/>
                                          </p:val>
                                        </p:tav>
                                        <p:tav tm="100000">
                                          <p:val>
                                            <p:strVal val="#ppt_x"/>
                                          </p:val>
                                        </p:tav>
                                      </p:tavLst>
                                    </p:anim>
                                    <p:anim calcmode="lin" valueType="num">
                                      <p:cBhvr>
                                        <p:cTn id="6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fill="hold"/>
                                        <p:tgtEl>
                                          <p:spTgt spid="52"/>
                                        </p:tgtEl>
                                        <p:attrNameLst>
                                          <p:attrName>ppt_x</p:attrName>
                                        </p:attrNameLst>
                                      </p:cBhvr>
                                      <p:tavLst>
                                        <p:tav tm="0">
                                          <p:val>
                                            <p:strVal val="#ppt_x"/>
                                          </p:val>
                                        </p:tav>
                                        <p:tav tm="100000">
                                          <p:val>
                                            <p:strVal val="#ppt_x"/>
                                          </p:val>
                                        </p:tav>
                                      </p:tavLst>
                                    </p:anim>
                                    <p:anim calcmode="lin" valueType="num">
                                      <p:cBhvr>
                                        <p:cTn id="76" dur="5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anim calcmode="lin" valueType="num">
                                      <p:cBhvr>
                                        <p:cTn id="82" dur="500" fill="hold"/>
                                        <p:tgtEl>
                                          <p:spTgt spid="53"/>
                                        </p:tgtEl>
                                        <p:attrNameLst>
                                          <p:attrName>ppt_w</p:attrName>
                                        </p:attrNameLst>
                                      </p:cBhvr>
                                      <p:tavLst>
                                        <p:tav tm="0">
                                          <p:val>
                                            <p:fltVal val="0"/>
                                          </p:val>
                                        </p:tav>
                                        <p:tav tm="100000">
                                          <p:val>
                                            <p:strVal val="#ppt_w"/>
                                          </p:val>
                                        </p:tav>
                                      </p:tavLst>
                                    </p:anim>
                                    <p:anim calcmode="lin" valueType="num">
                                      <p:cBhvr>
                                        <p:cTn id="83"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61"/>
                                        </p:tgtEl>
                                        <p:attrNameLst>
                                          <p:attrName>style.visibility</p:attrName>
                                        </p:attrNameLst>
                                      </p:cBhvr>
                                      <p:to>
                                        <p:strVal val="visible"/>
                                      </p:to>
                                    </p:set>
                                    <p:animEffect transition="in" filter="fade">
                                      <p:cBhvr>
                                        <p:cTn id="88" dur="500"/>
                                        <p:tgtEl>
                                          <p:spTgt spid="61"/>
                                        </p:tgtEl>
                                      </p:cBhvr>
                                    </p:animEffect>
                                    <p:anim calcmode="lin" valueType="num">
                                      <p:cBhvr>
                                        <p:cTn id="89" dur="500" fill="hold"/>
                                        <p:tgtEl>
                                          <p:spTgt spid="61"/>
                                        </p:tgtEl>
                                        <p:attrNameLst>
                                          <p:attrName>ppt_x</p:attrName>
                                        </p:attrNameLst>
                                      </p:cBhvr>
                                      <p:tavLst>
                                        <p:tav tm="0">
                                          <p:val>
                                            <p:strVal val="#ppt_x"/>
                                          </p:val>
                                        </p:tav>
                                        <p:tav tm="100000">
                                          <p:val>
                                            <p:strVal val="#ppt_x"/>
                                          </p:val>
                                        </p:tav>
                                      </p:tavLst>
                                    </p:anim>
                                    <p:anim calcmode="lin" valueType="num">
                                      <p:cBhvr>
                                        <p:cTn id="90"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65"/>
                                        </p:tgtEl>
                                        <p:attrNameLst>
                                          <p:attrName>style.visibility</p:attrName>
                                        </p:attrNameLst>
                                      </p:cBhvr>
                                      <p:to>
                                        <p:strVal val="visible"/>
                                      </p:to>
                                    </p:set>
                                    <p:animEffect transition="in" filter="fade">
                                      <p:cBhvr>
                                        <p:cTn id="95" dur="500"/>
                                        <p:tgtEl>
                                          <p:spTgt spid="65"/>
                                        </p:tgtEl>
                                      </p:cBhvr>
                                    </p:animEffect>
                                    <p:anim calcmode="lin" valueType="num">
                                      <p:cBhvr>
                                        <p:cTn id="96" dur="500" fill="hold"/>
                                        <p:tgtEl>
                                          <p:spTgt spid="65"/>
                                        </p:tgtEl>
                                        <p:attrNameLst>
                                          <p:attrName>ppt_x</p:attrName>
                                        </p:attrNameLst>
                                      </p:cBhvr>
                                      <p:tavLst>
                                        <p:tav tm="0">
                                          <p:val>
                                            <p:strVal val="#ppt_x"/>
                                          </p:val>
                                        </p:tav>
                                        <p:tav tm="100000">
                                          <p:val>
                                            <p:strVal val="#ppt_x"/>
                                          </p:val>
                                        </p:tav>
                                      </p:tavLst>
                                    </p:anim>
                                    <p:anim calcmode="lin" valueType="num">
                                      <p:cBhvr>
                                        <p:cTn id="97"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69"/>
                                        </p:tgtEl>
                                        <p:attrNameLst>
                                          <p:attrName>style.visibility</p:attrName>
                                        </p:attrNameLst>
                                      </p:cBhvr>
                                      <p:to>
                                        <p:strVal val="visible"/>
                                      </p:to>
                                    </p:set>
                                    <p:animEffect transition="in" filter="fade">
                                      <p:cBhvr>
                                        <p:cTn id="102" dur="500"/>
                                        <p:tgtEl>
                                          <p:spTgt spid="69"/>
                                        </p:tgtEl>
                                      </p:cBhvr>
                                    </p:animEffect>
                                    <p:anim calcmode="lin" valueType="num">
                                      <p:cBhvr>
                                        <p:cTn id="103" dur="500" fill="hold"/>
                                        <p:tgtEl>
                                          <p:spTgt spid="69"/>
                                        </p:tgtEl>
                                        <p:attrNameLst>
                                          <p:attrName>ppt_x</p:attrName>
                                        </p:attrNameLst>
                                      </p:cBhvr>
                                      <p:tavLst>
                                        <p:tav tm="0">
                                          <p:val>
                                            <p:strVal val="#ppt_x"/>
                                          </p:val>
                                        </p:tav>
                                        <p:tav tm="100000">
                                          <p:val>
                                            <p:strVal val="#ppt_x"/>
                                          </p:val>
                                        </p:tav>
                                      </p:tavLst>
                                    </p:anim>
                                    <p:anim calcmode="lin" valueType="num">
                                      <p:cBhvr>
                                        <p:cTn id="104" dur="500" fill="hold"/>
                                        <p:tgtEl>
                                          <p:spTgt spid="6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500"/>
                                        <p:tgtEl>
                                          <p:spTgt spid="73"/>
                                        </p:tgtEl>
                                      </p:cBhvr>
                                    </p:animEffect>
                                    <p:anim calcmode="lin" valueType="num">
                                      <p:cBhvr>
                                        <p:cTn id="110" dur="500" fill="hold"/>
                                        <p:tgtEl>
                                          <p:spTgt spid="73"/>
                                        </p:tgtEl>
                                        <p:attrNameLst>
                                          <p:attrName>ppt_x</p:attrName>
                                        </p:attrNameLst>
                                      </p:cBhvr>
                                      <p:tavLst>
                                        <p:tav tm="0">
                                          <p:val>
                                            <p:strVal val="#ppt_x"/>
                                          </p:val>
                                        </p:tav>
                                        <p:tav tm="100000">
                                          <p:val>
                                            <p:strVal val="#ppt_x"/>
                                          </p:val>
                                        </p:tav>
                                      </p:tavLst>
                                    </p:anim>
                                    <p:anim calcmode="lin" valueType="num">
                                      <p:cBhvr>
                                        <p:cTn id="111" dur="5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77"/>
                                        </p:tgtEl>
                                        <p:attrNameLst>
                                          <p:attrName>style.visibility</p:attrName>
                                        </p:attrNameLst>
                                      </p:cBhvr>
                                      <p:to>
                                        <p:strVal val="visible"/>
                                      </p:to>
                                    </p:set>
                                    <p:animEffect transition="in" filter="fade">
                                      <p:cBhvr>
                                        <p:cTn id="116" dur="500"/>
                                        <p:tgtEl>
                                          <p:spTgt spid="77"/>
                                        </p:tgtEl>
                                      </p:cBhvr>
                                    </p:animEffect>
                                    <p:anim calcmode="lin" valueType="num">
                                      <p:cBhvr>
                                        <p:cTn id="117" dur="500" fill="hold"/>
                                        <p:tgtEl>
                                          <p:spTgt spid="77"/>
                                        </p:tgtEl>
                                        <p:attrNameLst>
                                          <p:attrName>ppt_x</p:attrName>
                                        </p:attrNameLst>
                                      </p:cBhvr>
                                      <p:tavLst>
                                        <p:tav tm="0">
                                          <p:val>
                                            <p:strVal val="#ppt_x"/>
                                          </p:val>
                                        </p:tav>
                                        <p:tav tm="100000">
                                          <p:val>
                                            <p:strVal val="#ppt_x"/>
                                          </p:val>
                                        </p:tav>
                                      </p:tavLst>
                                    </p:anim>
                                    <p:anim calcmode="lin" valueType="num">
                                      <p:cBhvr>
                                        <p:cTn id="118"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78"/>
                                        </p:tgtEl>
                                        <p:attrNameLst>
                                          <p:attrName>style.visibility</p:attrName>
                                        </p:attrNameLst>
                                      </p:cBhvr>
                                      <p:to>
                                        <p:strVal val="visible"/>
                                      </p:to>
                                    </p:set>
                                    <p:animEffect transition="in" filter="fade">
                                      <p:cBhvr>
                                        <p:cTn id="123" dur="500"/>
                                        <p:tgtEl>
                                          <p:spTgt spid="78"/>
                                        </p:tgtEl>
                                      </p:cBhvr>
                                    </p:animEffect>
                                    <p:anim calcmode="lin" valueType="num">
                                      <p:cBhvr>
                                        <p:cTn id="124" dur="500" fill="hold"/>
                                        <p:tgtEl>
                                          <p:spTgt spid="78"/>
                                        </p:tgtEl>
                                        <p:attrNameLst>
                                          <p:attrName>ppt_w</p:attrName>
                                        </p:attrNameLst>
                                      </p:cBhvr>
                                      <p:tavLst>
                                        <p:tav tm="0">
                                          <p:val>
                                            <p:fltVal val="0"/>
                                          </p:val>
                                        </p:tav>
                                        <p:tav tm="100000">
                                          <p:val>
                                            <p:strVal val="#ppt_w"/>
                                          </p:val>
                                        </p:tav>
                                      </p:tavLst>
                                    </p:anim>
                                    <p:anim calcmode="lin" valueType="num">
                                      <p:cBhvr>
                                        <p:cTn id="125" dur="500" fill="hold"/>
                                        <p:tgtEl>
                                          <p:spTgt spid="7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Definition · SE p. 279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dilation: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the graph </a:t>
            </a:r>
            <a:r>
              <a:rPr lang="en-US" sz="1950" dirty="0" b="1">
                <a:solidFill>
                  <a:srgbClr val="16171D"/>
                </a:solidFill>
                <a:latin typeface="Segoe UI"/>
                <a:cs typeface="Segoe UI"/>
              </a:rPr>
              <a:t xml:space="preserve">stretches</a:t>
            </a:r>
            <a:r>
              <a:rPr lang="en-US" sz="1950" dirty="0">
                <a:solidFill>
                  <a:srgbClr val="16171D"/>
                </a:solidFill>
                <a:latin typeface="Segoe UI"/>
                <a:cs typeface="Segoe UI"/>
              </a:rPr>
              <a:t xml:space="preserve"> vertically (steeper).</a:t>
            </a:r>
            <a:endParaRPr lang="en-US" sz="1950" dirty="0"/>
          </a:p>
        </p:txBody>
      </p:sp>
      <p:sp>
        <p:nvSpPr>
          <p:cNvPr id="5" name="Shape 5"/>
          <p:cNvSpPr txBox="1"/>
          <p:nvPr/>
        </p:nvSpPr>
        <p:spPr>
          <a:xfrm>
            <a:off x="685800" y="2439162"/>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it </a:t>
            </a:r>
            <a:r>
              <a:rPr lang="en-US" sz="1950" dirty="0" b="1">
                <a:solidFill>
                  <a:srgbClr val="16171D"/>
                </a:solidFill>
                <a:latin typeface="Segoe UI"/>
                <a:cs typeface="Segoe UI"/>
              </a:rPr>
              <a:t xml:space="preserve">compresses</a:t>
            </a:r>
            <a:r>
              <a:rPr lang="en-US" sz="1950" dirty="0">
                <a:solidFill>
                  <a:srgbClr val="16171D"/>
                </a:solidFill>
                <a:latin typeface="Segoe UI"/>
                <a:cs typeface="Segoe UI"/>
              </a:rPr>
              <a:t xml:space="preserve"> vertically (less steep).</a:t>
            </a:r>
            <a:endParaRPr lang="en-US" sz="1950" dirty="0"/>
          </a:p>
        </p:txBody>
      </p:sp>
      <p:sp>
        <p:nvSpPr>
          <p:cNvPr id="6" name="Shape 6"/>
          <p:cNvSpPr txBox="1"/>
          <p:nvPr/>
        </p:nvSpPr>
        <p:spPr>
          <a:xfrm>
            <a:off x="685800" y="325983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also </a:t>
            </a:r>
            <a:r>
              <a:rPr lang="en-US" sz="1950" dirty="0" b="1">
                <a:solidFill>
                  <a:srgbClr val="16171D"/>
                </a:solidFill>
                <a:latin typeface="Segoe UI"/>
                <a:cs typeface="Segoe UI"/>
              </a:rPr>
              <a:t xml:space="preserve">reflects</a:t>
            </a:r>
            <a:r>
              <a:rPr lang="en-US" sz="1950" dirty="0">
                <a:solidFill>
                  <a:srgbClr val="16171D"/>
                </a:solidFill>
                <a:latin typeface="Segoe UI"/>
                <a:cs typeface="Segoe UI"/>
              </a:rPr>
              <a:t xml:space="preserve">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7" name="Shape 7"/>
          <p:cNvSpPr txBox="1"/>
          <p:nvPr/>
        </p:nvSpPr>
        <p:spPr>
          <a:xfrm>
            <a:off x="685800" y="3783330"/>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the new slope is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stays (0, 0).</a:t>
            </a:r>
            <a:endParaRPr lang="en-US" sz="1950" dirty="0"/>
          </a:p>
        </p:txBody>
      </p:sp>
      <p:sp>
        <p:nvSpPr>
          <p:cNvPr id="8" name="Shape 8"/>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781300"/>
          </a:xfrm>
          <a:prstGeom prst="line">
            <a:avLst/>
          </a:prstGeom>
          <a:ln w="9525" cap="flat">
            <a:solidFill>
              <a:srgbClr val="E6E8F2"/>
            </a:solidFill>
          </a:ln>
        </p:spPr>
      </p:cxnSp>
      <p:cxnSp>
        <p:nvCxnSpPr>
          <p:cNvPr id="10" name="Line 10"/>
          <p:cNvCxnSpPr/>
          <p:nvPr/>
        </p:nvCxnSpPr>
        <p:spPr>
          <a:xfrm>
            <a:off x="6835623" y="1732788"/>
            <a:ext cx="0" cy="2781300"/>
          </a:xfrm>
          <a:prstGeom prst="line">
            <a:avLst/>
          </a:prstGeom>
          <a:ln w="9525" cap="flat">
            <a:solidFill>
              <a:srgbClr val="E6E8F2"/>
            </a:solidFill>
          </a:ln>
        </p:spPr>
      </p:cxnSp>
      <p:cxnSp>
        <p:nvCxnSpPr>
          <p:cNvPr id="11" name="Line 11"/>
          <p:cNvCxnSpPr/>
          <p:nvPr/>
        </p:nvCxnSpPr>
        <p:spPr>
          <a:xfrm>
            <a:off x="7061048" y="1732788"/>
            <a:ext cx="0" cy="2781300"/>
          </a:xfrm>
          <a:prstGeom prst="line">
            <a:avLst/>
          </a:prstGeom>
          <a:ln w="9525" cap="flat">
            <a:solidFill>
              <a:srgbClr val="E6E8F2"/>
            </a:solidFill>
          </a:ln>
        </p:spPr>
      </p:cxnSp>
      <p:cxnSp>
        <p:nvCxnSpPr>
          <p:cNvPr id="12" name="Line 12"/>
          <p:cNvCxnSpPr/>
          <p:nvPr/>
        </p:nvCxnSpPr>
        <p:spPr>
          <a:xfrm>
            <a:off x="7286473" y="1732788"/>
            <a:ext cx="0" cy="2781300"/>
          </a:xfrm>
          <a:prstGeom prst="line">
            <a:avLst/>
          </a:prstGeom>
          <a:ln w="9525" cap="flat">
            <a:solidFill>
              <a:srgbClr val="E6E8F2"/>
            </a:solidFill>
          </a:ln>
        </p:spPr>
      </p:cxnSp>
      <p:cxnSp>
        <p:nvCxnSpPr>
          <p:cNvPr id="13" name="Line 13"/>
          <p:cNvCxnSpPr/>
          <p:nvPr/>
        </p:nvCxnSpPr>
        <p:spPr>
          <a:xfrm>
            <a:off x="7511898" y="1732788"/>
            <a:ext cx="0" cy="2781300"/>
          </a:xfrm>
          <a:prstGeom prst="line">
            <a:avLst/>
          </a:prstGeom>
          <a:ln w="9525" cap="flat">
            <a:solidFill>
              <a:srgbClr val="E6E8F2"/>
            </a:solidFill>
          </a:ln>
        </p:spPr>
      </p:cxnSp>
      <p:cxnSp>
        <p:nvCxnSpPr>
          <p:cNvPr id="14" name="Line 14"/>
          <p:cNvCxnSpPr/>
          <p:nvPr/>
        </p:nvCxnSpPr>
        <p:spPr>
          <a:xfrm>
            <a:off x="7737323" y="1732788"/>
            <a:ext cx="0" cy="2781300"/>
          </a:xfrm>
          <a:prstGeom prst="line">
            <a:avLst/>
          </a:prstGeom>
          <a:ln w="9525" cap="flat">
            <a:solidFill>
              <a:srgbClr val="E6E8F2"/>
            </a:solidFill>
          </a:ln>
        </p:spPr>
      </p:cxnSp>
      <p:cxnSp>
        <p:nvCxnSpPr>
          <p:cNvPr id="15" name="Line 15"/>
          <p:cNvCxnSpPr/>
          <p:nvPr/>
        </p:nvCxnSpPr>
        <p:spPr>
          <a:xfrm>
            <a:off x="7962748" y="1732788"/>
            <a:ext cx="0" cy="2781300"/>
          </a:xfrm>
          <a:prstGeom prst="line">
            <a:avLst/>
          </a:prstGeom>
          <a:ln w="9525" cap="flat">
            <a:solidFill>
              <a:srgbClr val="E6E8F2"/>
            </a:solidFill>
          </a:ln>
        </p:spPr>
      </p:cxnSp>
      <p:cxnSp>
        <p:nvCxnSpPr>
          <p:cNvPr id="16" name="Line 16"/>
          <p:cNvCxnSpPr/>
          <p:nvPr/>
        </p:nvCxnSpPr>
        <p:spPr>
          <a:xfrm>
            <a:off x="8188173" y="1732788"/>
            <a:ext cx="0" cy="2781300"/>
          </a:xfrm>
          <a:prstGeom prst="line">
            <a:avLst/>
          </a:prstGeom>
          <a:ln w="9525" cap="flat">
            <a:solidFill>
              <a:srgbClr val="E6E8F2"/>
            </a:solidFill>
          </a:ln>
        </p:spPr>
      </p:cxnSp>
      <p:cxnSp>
        <p:nvCxnSpPr>
          <p:cNvPr id="17" name="Line 17"/>
          <p:cNvCxnSpPr/>
          <p:nvPr/>
        </p:nvCxnSpPr>
        <p:spPr>
          <a:xfrm>
            <a:off x="8413598" y="1732788"/>
            <a:ext cx="0" cy="2781300"/>
          </a:xfrm>
          <a:prstGeom prst="line">
            <a:avLst/>
          </a:prstGeom>
          <a:ln w="9525" cap="flat">
            <a:solidFill>
              <a:srgbClr val="E6E8F2"/>
            </a:solidFill>
          </a:ln>
        </p:spPr>
      </p:cxnSp>
      <p:cxnSp>
        <p:nvCxnSpPr>
          <p:cNvPr id="18" name="Line 18"/>
          <p:cNvCxnSpPr/>
          <p:nvPr/>
        </p:nvCxnSpPr>
        <p:spPr>
          <a:xfrm>
            <a:off x="8639023" y="1732788"/>
            <a:ext cx="0" cy="2781300"/>
          </a:xfrm>
          <a:prstGeom prst="line">
            <a:avLst/>
          </a:prstGeom>
          <a:ln w="9525" cap="flat">
            <a:solidFill>
              <a:srgbClr val="E6E8F2"/>
            </a:solidFill>
          </a:ln>
        </p:spPr>
      </p:cxnSp>
      <p:cxnSp>
        <p:nvCxnSpPr>
          <p:cNvPr id="19" name="Line 19"/>
          <p:cNvCxnSpPr/>
          <p:nvPr/>
        </p:nvCxnSpPr>
        <p:spPr>
          <a:xfrm>
            <a:off x="8864448" y="1732788"/>
            <a:ext cx="0" cy="2781300"/>
          </a:xfrm>
          <a:prstGeom prst="line">
            <a:avLst/>
          </a:prstGeom>
          <a:ln w="9525" cap="flat">
            <a:solidFill>
              <a:srgbClr val="E6E8F2"/>
            </a:solidFill>
          </a:ln>
        </p:spPr>
      </p:cxnSp>
      <p:cxnSp>
        <p:nvCxnSpPr>
          <p:cNvPr id="20" name="Line 20"/>
          <p:cNvCxnSpPr/>
          <p:nvPr/>
        </p:nvCxnSpPr>
        <p:spPr>
          <a:xfrm>
            <a:off x="9089873" y="1732788"/>
            <a:ext cx="0" cy="2781300"/>
          </a:xfrm>
          <a:prstGeom prst="line">
            <a:avLst/>
          </a:prstGeom>
          <a:ln w="9525" cap="flat">
            <a:solidFill>
              <a:srgbClr val="E6E8F2"/>
            </a:solidFill>
          </a:ln>
        </p:spPr>
      </p:cxnSp>
      <p:cxnSp>
        <p:nvCxnSpPr>
          <p:cNvPr id="21" name="Line 21"/>
          <p:cNvCxnSpPr/>
          <p:nvPr/>
        </p:nvCxnSpPr>
        <p:spPr>
          <a:xfrm>
            <a:off x="9315298" y="1732788"/>
            <a:ext cx="0" cy="2781300"/>
          </a:xfrm>
          <a:prstGeom prst="line">
            <a:avLst/>
          </a:prstGeom>
          <a:ln w="9525" cap="flat">
            <a:solidFill>
              <a:srgbClr val="E6E8F2"/>
            </a:solidFill>
          </a:ln>
        </p:spPr>
      </p:cxnSp>
      <p:cxnSp>
        <p:nvCxnSpPr>
          <p:cNvPr id="22" name="Line 22"/>
          <p:cNvCxnSpPr/>
          <p:nvPr/>
        </p:nvCxnSpPr>
        <p:spPr>
          <a:xfrm>
            <a:off x="6610198" y="4514088"/>
            <a:ext cx="2705100" cy="0"/>
          </a:xfrm>
          <a:prstGeom prst="line">
            <a:avLst/>
          </a:prstGeom>
          <a:ln w="9525" cap="flat">
            <a:solidFill>
              <a:srgbClr val="E6E8F2"/>
            </a:solidFill>
          </a:ln>
        </p:spPr>
      </p:cxnSp>
      <p:cxnSp>
        <p:nvCxnSpPr>
          <p:cNvPr id="23" name="Line 23"/>
          <p:cNvCxnSpPr/>
          <p:nvPr/>
        </p:nvCxnSpPr>
        <p:spPr>
          <a:xfrm>
            <a:off x="6610198" y="4282313"/>
            <a:ext cx="2705100" cy="0"/>
          </a:xfrm>
          <a:prstGeom prst="line">
            <a:avLst/>
          </a:prstGeom>
          <a:ln w="9525" cap="flat">
            <a:solidFill>
              <a:srgbClr val="E6E8F2"/>
            </a:solidFill>
          </a:ln>
        </p:spPr>
      </p:cxnSp>
      <p:cxnSp>
        <p:nvCxnSpPr>
          <p:cNvPr id="24" name="Line 24"/>
          <p:cNvCxnSpPr/>
          <p:nvPr/>
        </p:nvCxnSpPr>
        <p:spPr>
          <a:xfrm>
            <a:off x="6610198" y="4050538"/>
            <a:ext cx="2705100" cy="0"/>
          </a:xfrm>
          <a:prstGeom prst="line">
            <a:avLst/>
          </a:prstGeom>
          <a:ln w="9525" cap="flat">
            <a:solidFill>
              <a:srgbClr val="E6E8F2"/>
            </a:solidFill>
          </a:ln>
        </p:spPr>
      </p:cxnSp>
      <p:cxnSp>
        <p:nvCxnSpPr>
          <p:cNvPr id="25" name="Line 25"/>
          <p:cNvCxnSpPr/>
          <p:nvPr/>
        </p:nvCxnSpPr>
        <p:spPr>
          <a:xfrm>
            <a:off x="6610198" y="3818763"/>
            <a:ext cx="2705100" cy="0"/>
          </a:xfrm>
          <a:prstGeom prst="line">
            <a:avLst/>
          </a:prstGeom>
          <a:ln w="9525" cap="flat">
            <a:solidFill>
              <a:srgbClr val="E6E8F2"/>
            </a:solidFill>
          </a:ln>
        </p:spPr>
      </p:cxnSp>
      <p:cxnSp>
        <p:nvCxnSpPr>
          <p:cNvPr id="26" name="Line 26"/>
          <p:cNvCxnSpPr/>
          <p:nvPr/>
        </p:nvCxnSpPr>
        <p:spPr>
          <a:xfrm>
            <a:off x="6610198" y="3586988"/>
            <a:ext cx="2705100" cy="0"/>
          </a:xfrm>
          <a:prstGeom prst="line">
            <a:avLst/>
          </a:prstGeom>
          <a:ln w="9525" cap="flat">
            <a:solidFill>
              <a:srgbClr val="E6E8F2"/>
            </a:solidFill>
          </a:ln>
        </p:spPr>
      </p:cxnSp>
      <p:cxnSp>
        <p:nvCxnSpPr>
          <p:cNvPr id="27" name="Line 27"/>
          <p:cNvCxnSpPr/>
          <p:nvPr/>
        </p:nvCxnSpPr>
        <p:spPr>
          <a:xfrm>
            <a:off x="6610198" y="3355213"/>
            <a:ext cx="2705100" cy="0"/>
          </a:xfrm>
          <a:prstGeom prst="line">
            <a:avLst/>
          </a:prstGeom>
          <a:ln w="9525" cap="flat">
            <a:solidFill>
              <a:srgbClr val="E6E8F2"/>
            </a:solidFill>
          </a:ln>
        </p:spPr>
      </p:cxnSp>
      <p:cxnSp>
        <p:nvCxnSpPr>
          <p:cNvPr id="28" name="Line 28"/>
          <p:cNvCxnSpPr/>
          <p:nvPr/>
        </p:nvCxnSpPr>
        <p:spPr>
          <a:xfrm>
            <a:off x="6610198" y="3123438"/>
            <a:ext cx="2705100" cy="0"/>
          </a:xfrm>
          <a:prstGeom prst="line">
            <a:avLst/>
          </a:prstGeom>
          <a:ln w="9525" cap="flat">
            <a:solidFill>
              <a:srgbClr val="E6E8F2"/>
            </a:solidFill>
          </a:ln>
        </p:spPr>
      </p:cxnSp>
      <p:cxnSp>
        <p:nvCxnSpPr>
          <p:cNvPr id="29" name="Line 29"/>
          <p:cNvCxnSpPr/>
          <p:nvPr/>
        </p:nvCxnSpPr>
        <p:spPr>
          <a:xfrm>
            <a:off x="6610198" y="2891663"/>
            <a:ext cx="2705100" cy="0"/>
          </a:xfrm>
          <a:prstGeom prst="line">
            <a:avLst/>
          </a:prstGeom>
          <a:ln w="9525" cap="flat">
            <a:solidFill>
              <a:srgbClr val="E6E8F2"/>
            </a:solidFill>
          </a:ln>
        </p:spPr>
      </p:cxnSp>
      <p:cxnSp>
        <p:nvCxnSpPr>
          <p:cNvPr id="30" name="Line 30"/>
          <p:cNvCxnSpPr/>
          <p:nvPr/>
        </p:nvCxnSpPr>
        <p:spPr>
          <a:xfrm>
            <a:off x="6610198" y="2659888"/>
            <a:ext cx="2705100" cy="0"/>
          </a:xfrm>
          <a:prstGeom prst="line">
            <a:avLst/>
          </a:prstGeom>
          <a:ln w="9525" cap="flat">
            <a:solidFill>
              <a:srgbClr val="E6E8F2"/>
            </a:solidFill>
          </a:ln>
        </p:spPr>
      </p:cxnSp>
      <p:cxnSp>
        <p:nvCxnSpPr>
          <p:cNvPr id="31" name="Line 31"/>
          <p:cNvCxnSpPr/>
          <p:nvPr/>
        </p:nvCxnSpPr>
        <p:spPr>
          <a:xfrm>
            <a:off x="6610198" y="2428113"/>
            <a:ext cx="2705100" cy="0"/>
          </a:xfrm>
          <a:prstGeom prst="line">
            <a:avLst/>
          </a:prstGeom>
          <a:ln w="9525" cap="flat">
            <a:solidFill>
              <a:srgbClr val="E6E8F2"/>
            </a:solidFill>
          </a:ln>
        </p:spPr>
      </p:cxnSp>
      <p:cxnSp>
        <p:nvCxnSpPr>
          <p:cNvPr id="32" name="Line 32"/>
          <p:cNvCxnSpPr/>
          <p:nvPr/>
        </p:nvCxnSpPr>
        <p:spPr>
          <a:xfrm>
            <a:off x="6610198" y="2196338"/>
            <a:ext cx="2705100" cy="0"/>
          </a:xfrm>
          <a:prstGeom prst="line">
            <a:avLst/>
          </a:prstGeom>
          <a:ln w="9525" cap="flat">
            <a:solidFill>
              <a:srgbClr val="E6E8F2"/>
            </a:solidFill>
          </a:ln>
        </p:spPr>
      </p:cxnSp>
      <p:cxnSp>
        <p:nvCxnSpPr>
          <p:cNvPr id="33" name="Line 33"/>
          <p:cNvCxnSpPr/>
          <p:nvPr/>
        </p:nvCxnSpPr>
        <p:spPr>
          <a:xfrm>
            <a:off x="6610198" y="1964563"/>
            <a:ext cx="2705100" cy="0"/>
          </a:xfrm>
          <a:prstGeom prst="line">
            <a:avLst/>
          </a:prstGeom>
          <a:ln w="9525" cap="flat">
            <a:solidFill>
              <a:srgbClr val="E6E8F2"/>
            </a:solidFill>
          </a:ln>
        </p:spPr>
      </p:cxnSp>
      <p:cxnSp>
        <p:nvCxnSpPr>
          <p:cNvPr id="34" name="Line 34"/>
          <p:cNvCxnSpPr/>
          <p:nvPr/>
        </p:nvCxnSpPr>
        <p:spPr>
          <a:xfrm>
            <a:off x="6610198" y="1732788"/>
            <a:ext cx="2705100" cy="0"/>
          </a:xfrm>
          <a:prstGeom prst="line">
            <a:avLst/>
          </a:prstGeom>
          <a:ln w="9525" cap="flat">
            <a:solidFill>
              <a:srgbClr val="E6E8F2"/>
            </a:solidFill>
          </a:ln>
        </p:spPr>
      </p:cxnSp>
      <p:cxnSp>
        <p:nvCxnSpPr>
          <p:cNvPr id="35" name="Line 35"/>
          <p:cNvCxnSpPr/>
          <p:nvPr/>
        </p:nvCxnSpPr>
        <p:spPr>
          <a:xfrm>
            <a:off x="7962748" y="1732788"/>
            <a:ext cx="0" cy="2781300"/>
          </a:xfrm>
          <a:prstGeom prst="line">
            <a:avLst/>
          </a:prstGeom>
          <a:ln w="19050" cap="flat">
            <a:solidFill>
              <a:srgbClr val="5F6272"/>
            </a:solidFill>
          </a:ln>
        </p:spPr>
      </p:cxnSp>
      <p:cxnSp>
        <p:nvCxnSpPr>
          <p:cNvPr id="36" name="Line 36"/>
          <p:cNvCxnSpPr/>
          <p:nvPr/>
        </p:nvCxnSpPr>
        <p:spPr>
          <a:xfrm>
            <a:off x="6610198" y="3123438"/>
            <a:ext cx="2705100" cy="0"/>
          </a:xfrm>
          <a:prstGeom prst="line">
            <a:avLst/>
          </a:prstGeom>
          <a:ln w="19050" cap="flat">
            <a:solidFill>
              <a:srgbClr val="5F6272"/>
            </a:solidFill>
          </a:ln>
        </p:spPr>
      </p:cxnSp>
      <p:sp>
        <p:nvSpPr>
          <p:cNvPr id="37" name="Shape 37"/>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7867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72375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81392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85901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043270" y="3959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34955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5684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2104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51" name="Line 51"/>
          <p:cNvCxnSpPr/>
          <p:nvPr/>
        </p:nvCxnSpPr>
        <p:spPr>
          <a:xfrm flipV="1">
            <a:off x="6610198" y="1732788"/>
            <a:ext cx="2705100" cy="2781300"/>
          </a:xfrm>
          <a:prstGeom prst="line">
            <a:avLst/>
          </a:prstGeom>
          <a:ln w="38100" cap="rnd">
            <a:solidFill>
              <a:srgbClr val="16171D"/>
            </a:solidFill>
          </a:ln>
        </p:spPr>
      </p:cxnSp>
      <p:sp>
        <p:nvSpPr>
          <p:cNvPr id="52" name="Shape 52"/>
          <p:cNvSpPr txBox="1"/>
          <p:nvPr/>
        </p:nvSpPr>
        <p:spPr>
          <a:xfrm>
            <a:off x="68235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624610" y="1732788"/>
            <a:ext cx="676275" cy="2781300"/>
          </a:xfrm>
          <a:prstGeom prst="line">
            <a:avLst/>
          </a:prstGeom>
          <a:ln w="38100" cap="rnd">
            <a:solidFill>
              <a:srgbClr val="4F8A3C"/>
            </a:solidFill>
          </a:ln>
        </p:spPr>
      </p:cxnSp>
      <p:sp>
        <p:nvSpPr>
          <p:cNvPr id="54" name="Shape 54"/>
          <p:cNvSpPr txBox="1"/>
          <p:nvPr/>
        </p:nvSpPr>
        <p:spPr>
          <a:xfrm>
            <a:off x="580914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4f(x)</a:t>
            </a:r>
            <a:endParaRPr lang="en-US" sz="1275" dirty="0"/>
          </a:p>
        </p:txBody>
      </p:sp>
      <p:cxnSp>
        <p:nvCxnSpPr>
          <p:cNvPr id="55" name="Line 55"/>
          <p:cNvCxnSpPr/>
          <p:nvPr/>
        </p:nvCxnSpPr>
        <p:spPr>
          <a:xfrm flipV="1">
            <a:off x="6610198" y="2196338"/>
            <a:ext cx="2705100" cy="1854200"/>
          </a:xfrm>
          <a:prstGeom prst="line">
            <a:avLst/>
          </a:prstGeom>
          <a:ln w="38100" cap="rnd">
            <a:solidFill>
              <a:srgbClr val="7A4FC4"/>
            </a:solidFill>
          </a:ln>
        </p:spPr>
      </p:cxnSp>
      <p:sp>
        <p:nvSpPr>
          <p:cNvPr id="56" name="Shape 56"/>
          <p:cNvSpPr txBox="1"/>
          <p:nvPr/>
        </p:nvSpPr>
        <p:spPr>
          <a:xfrm>
            <a:off x="6823558" y="221538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⅔f(x)</a:t>
            </a:r>
            <a:endParaRPr lang="en-US" sz="127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wipe(left)">
                                      <p:cBhvr>
                                        <p:cTn id="32" dur="700"/>
                                        <p:tgtEl>
                                          <p:spTgt spid="53"/>
                                        </p:tgtEl>
                                      </p:cBhvr>
                                    </p:animEffect>
                                  </p:childTnLst>
                                </p:cTn>
                              </p:par>
                              <p:par>
                                <p:cTn id="36" presetID="22" presetClass="entr" presetSubtype="8" fill="hold"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700"/>
                                        <p:tgtEl>
                                          <p:spTgt spid="54"/>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700"/>
                                        <p:tgtEl>
                                          <p:spTgt spid="55"/>
                                        </p:tgtEl>
                                      </p:cBhvr>
                                    </p:animEffect>
                                  </p:childTnLst>
                                </p:cTn>
                              </p:par>
                              <p:par>
                                <p:cTn id="44" presetID="22" presetClass="entr" presetSubtype="8" fill="hold"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wipe(left)">
                                      <p:cBhvr>
                                        <p:cTn id="43"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vs. dilations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line up or down. Same slope; new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Parallel lines.</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compresses or reflects. New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stays (0, 0).</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 through a point: keep the slope, then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with the point.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October 21</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Graphing Linear Transformations · SE pp. 280–281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then graph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2, then up 7</a:t>
            </a:r>
            <a:endParaRPr lang="en-US" sz="1575" dirty="0"/>
          </a:p>
        </p:txBody>
      </p:sp>
      <p:sp>
        <p:nvSpPr>
          <p:cNvPr id="6" name="Shape 6"/>
          <p:cNvSpPr txBox="1"/>
          <p:nvPr/>
        </p:nvSpPr>
        <p:spPr>
          <a:xfrm>
            <a:off x="895350"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− 1</a:t>
            </a:r>
            <a:endParaRPr lang="en-US" sz="2100" dirty="0"/>
          </a:p>
        </p:txBody>
      </p:sp>
      <p:sp>
        <p:nvSpPr>
          <p:cNvPr id="9" name="Shape 9"/>
          <p:cNvSpPr txBox="1"/>
          <p:nvPr/>
        </p:nvSpPr>
        <p:spPr>
          <a:xfrm>
            <a:off x="4559198"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3, then down 1</a:t>
            </a:r>
            <a:endParaRPr lang="en-US" sz="1575" dirty="0"/>
          </a:p>
        </p:txBody>
      </p:sp>
      <p:sp>
        <p:nvSpPr>
          <p:cNvPr id="10" name="Shape 10"/>
          <p:cNvSpPr txBox="1"/>
          <p:nvPr/>
        </p:nvSpPr>
        <p:spPr>
          <a:xfrm>
            <a:off x="4559198"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8013497"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⅓</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⅓, then up 2</a:t>
            </a:r>
            <a:endParaRPr lang="en-US" sz="1575" dirty="0"/>
          </a:p>
        </p:txBody>
      </p:sp>
      <p:sp>
        <p:nvSpPr>
          <p:cNvPr id="14" name="Shape 14"/>
          <p:cNvSpPr txBox="1"/>
          <p:nvPr/>
        </p:nvSpPr>
        <p:spPr>
          <a:xfrm>
            <a:off x="8223047"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½</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endParaRPr lang="en-US" sz="2100" dirty="0"/>
          </a:p>
        </p:txBody>
      </p:sp>
      <p:sp>
        <p:nvSpPr>
          <p:cNvPr id="17" name="Shape 17"/>
          <p:cNvSpPr txBox="1"/>
          <p:nvPr/>
        </p:nvSpPr>
        <p:spPr>
          <a:xfrm>
            <a:off x="895350" y="4641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½, then down 3</a:t>
            </a:r>
            <a:endParaRPr lang="en-US" sz="1575" dirty="0"/>
          </a:p>
        </p:txBody>
      </p:sp>
      <p:sp>
        <p:nvSpPr>
          <p:cNvPr id="18" name="Shape 18"/>
          <p:cNvSpPr txBox="1"/>
          <p:nvPr/>
        </p:nvSpPr>
        <p:spPr>
          <a:xfrm>
            <a:off x="895350" y="503148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3" name="Shape 23"/>
          <p:cNvSpPr txBox="1"/>
          <p:nvPr/>
        </p:nvSpPr>
        <p:spPr>
          <a:xfrm>
            <a:off x="4349648"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then down 4</a:t>
            </a:r>
            <a:endParaRPr lang="en-US" sz="1575" dirty="0"/>
          </a:p>
        </p:txBody>
      </p:sp>
      <p:sp>
        <p:nvSpPr>
          <p:cNvPr id="22" name="Shape 22"/>
          <p:cNvSpPr txBox="1"/>
          <p:nvPr/>
        </p:nvSpPr>
        <p:spPr>
          <a:xfrm>
            <a:off x="4559198" y="52715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−⅔</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and compress by ⅔, then up 5</a:t>
            </a:r>
            <a:endParaRPr lang="en-US" sz="1575" dirty="0"/>
          </a:p>
        </p:txBody>
      </p:sp>
      <p:sp>
        <p:nvSpPr>
          <p:cNvPr id="26" name="Shape 26"/>
          <p:cNvSpPr txBox="1"/>
          <p:nvPr/>
        </p:nvSpPr>
        <p:spPr>
          <a:xfrm>
            <a:off x="8223047" y="5271516"/>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Question 2 · SE p. 281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a:t>
            </a:r>
            <a:r>
              <a:rPr lang="en-US" sz="3450" dirty="0" b="1" i="1">
                <a:solidFill>
                  <a:srgbClr val="C9561F"/>
                </a:solidFill>
                <a:latin typeface="Cambria"/>
                <a:cs typeface="Cambria"/>
              </a:rPr>
              <a:t xml:space="preserve">a</a:t>
            </a:r>
            <a:r>
              <a:rPr lang="en-US" sz="3450" dirty="0" b="1">
                <a:solidFill>
                  <a:srgbClr val="16171D"/>
                </a:solidFill>
                <a:latin typeface="Segoe UI"/>
                <a:cs typeface="Segoe UI"/>
              </a:rPr>
              <a:t xml:space="preserve"> and </a:t>
            </a:r>
            <a:r>
              <a:rPr lang="en-US" sz="3450" dirty="0" b="1" i="1">
                <a:solidFill>
                  <a:srgbClr val="3050B8"/>
                </a:solidFill>
                <a:latin typeface="Cambria"/>
                <a:cs typeface="Cambria"/>
              </a:rPr>
              <a:t xml:space="preserve">d</a:t>
            </a:r>
            <a:r>
              <a:rPr lang="en-US" sz="3450" dirty="0" b="1">
                <a:solidFill>
                  <a:srgbClr val="16171D"/>
                </a:solidFill>
                <a:latin typeface="Segoe UI"/>
                <a:cs typeface="Segoe UI"/>
              </a:rPr>
              <a:t xml:space="preserve"> do in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1618488"/>
            <a:ext cx="521954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C9561F"/>
                </a:solidFill>
                <a:latin typeface="Cambria"/>
                <a:cs typeface="Cambria"/>
              </a:rPr>
              <a:t xml:space="preserve">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slope becomes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steeper when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less steep when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reflected when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1" name="Shape 11"/>
          <p:cNvSpPr txBox="1"/>
          <p:nvPr/>
        </p:nvSpPr>
        <p:spPr>
          <a:xfrm>
            <a:off x="6286348" y="1618488"/>
            <a:ext cx="521954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3050B8"/>
                </a:solidFill>
                <a:latin typeface="Cambria"/>
                <a:cs typeface="Cambria"/>
              </a:rPr>
              <a:t xml:space="preserve">d</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slope.</a:t>
            </a:r>
            <a:endParaRPr lang="en-US" sz="1575" dirty="0"/>
          </a:p>
        </p:txBody>
      </p:sp>
      <p:sp>
        <p:nvSpPr>
          <p:cNvPr id="10" name="Shape 10"/>
          <p:cNvSpPr txBox="1"/>
          <p:nvPr/>
        </p:nvSpPr>
        <p:spPr>
          <a:xfrm>
            <a:off x="6495898" y="265023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to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up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down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1.5 · Hit the Targets · SE pp. 282–283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Aim with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shot is the graph of a transformation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Hit each target.</a:t>
            </a:r>
            <a:endParaRPr lang="en-US" sz="1575" dirty="0"/>
          </a:p>
        </p:txBody>
      </p:sp>
      <p:sp>
        <p:nvSpPr>
          <p:cNvPr id="7" name="Shape 7"/>
          <p:cNvSpPr txBox="1"/>
          <p:nvPr/>
        </p:nvSpPr>
        <p:spPr>
          <a:xfrm>
            <a:off x="685800" y="2248662"/>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42011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B: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1</a:t>
            </a:r>
            <a:r>
              <a:rPr lang="en-US" sz="2100" dirty="0" b="1">
                <a:solidFill>
                  <a:srgbClr val="16171D"/>
                </a:solidFill>
                <a:latin typeface="Segoe UI"/>
                <a:cs typeface="Segoe UI"/>
              </a:rPr>
              <a:t xml:space="preserve"> or </a:t>
            </a:r>
            <a:r>
              <a:rPr lang="en-US" sz="2100" dirty="0" b="1">
                <a:solidFill>
                  <a:srgbClr val="16171D"/>
                </a:solidFill>
                <a:latin typeface="Cambria"/>
                <a:cs typeface="Cambria"/>
              </a:rPr>
              <a:t xml:space="preserve">−1</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d</a:t>
            </a:r>
            <a:endParaRPr lang="en-US" sz="2100" dirty="0"/>
          </a:p>
        </p:txBody>
      </p:sp>
      <p:sp>
        <p:nvSpPr>
          <p:cNvPr id="6" name="Shape 6"/>
          <p:cNvSpPr txBox="1"/>
          <p:nvPr/>
        </p:nvSpPr>
        <p:spPr>
          <a:xfrm>
            <a:off x="895350" y="289026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−1</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−4</a:t>
            </a:r>
            <a:endParaRPr lang="en-US" sz="1575" dirty="0"/>
          </a:p>
        </p:txBody>
      </p:sp>
      <p:sp>
        <p:nvSpPr>
          <p:cNvPr id="10" name="Shape 10"/>
          <p:cNvSpPr txBox="1"/>
          <p:nvPr/>
        </p:nvSpPr>
        <p:spPr>
          <a:xfrm>
            <a:off x="685800" y="3691890"/>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863340"/>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C: </a:t>
            </a:r>
            <a:r>
              <a:rPr lang="en-US" sz="2100" dirty="0" b="1" i="1">
                <a:solidFill>
                  <a:srgbClr val="16171D"/>
                </a:solidFill>
                <a:latin typeface="Cambria"/>
                <a:cs typeface="Cambria"/>
              </a:rPr>
              <a:t xml:space="preserve">d</a:t>
            </a:r>
            <a:r>
              <a:rPr lang="en-US" sz="2100" dirty="0" b="1">
                <a:solidFill>
                  <a:srgbClr val="16171D"/>
                </a:solidFill>
                <a:latin typeface="Cambria"/>
                <a:cs typeface="Cambria"/>
              </a:rPr>
              <a:t xml:space="preserve"> = 0</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a</a:t>
            </a:r>
            <a:endParaRPr lang="en-US" sz="2100" dirty="0"/>
          </a:p>
        </p:txBody>
      </p:sp>
      <p:sp>
        <p:nvSpPr>
          <p:cNvPr id="9" name="Shape 9"/>
          <p:cNvSpPr txBox="1"/>
          <p:nvPr/>
        </p:nvSpPr>
        <p:spPr>
          <a:xfrm>
            <a:off x="895350" y="4333494"/>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4/5</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−1/5</a:t>
            </a:r>
            <a:endParaRPr lang="en-US" sz="1575" dirty="0"/>
          </a:p>
        </p:txBody>
      </p:sp>
      <p:sp>
        <p:nvSpPr>
          <p:cNvPr id="11" name="Shape 11"/>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2781300"/>
          </a:xfrm>
          <a:prstGeom prst="line">
            <a:avLst/>
          </a:prstGeom>
          <a:ln w="9525" cap="flat">
            <a:solidFill>
              <a:srgbClr val="E6E8F2"/>
            </a:solidFill>
          </a:ln>
        </p:spPr>
      </p:cxnSp>
      <p:cxnSp>
        <p:nvCxnSpPr>
          <p:cNvPr id="13" name="Line 13"/>
          <p:cNvCxnSpPr/>
          <p:nvPr/>
        </p:nvCxnSpPr>
        <p:spPr>
          <a:xfrm>
            <a:off x="6779266" y="1732788"/>
            <a:ext cx="0" cy="2781300"/>
          </a:xfrm>
          <a:prstGeom prst="line">
            <a:avLst/>
          </a:prstGeom>
          <a:ln w="9525" cap="flat">
            <a:solidFill>
              <a:srgbClr val="E6E8F2"/>
            </a:solidFill>
          </a:ln>
        </p:spPr>
      </p:cxnSp>
      <p:cxnSp>
        <p:nvCxnSpPr>
          <p:cNvPr id="14" name="Line 14"/>
          <p:cNvCxnSpPr/>
          <p:nvPr/>
        </p:nvCxnSpPr>
        <p:spPr>
          <a:xfrm>
            <a:off x="6948335" y="1732788"/>
            <a:ext cx="0" cy="2781300"/>
          </a:xfrm>
          <a:prstGeom prst="line">
            <a:avLst/>
          </a:prstGeom>
          <a:ln w="9525" cap="flat">
            <a:solidFill>
              <a:srgbClr val="E6E8F2"/>
            </a:solidFill>
          </a:ln>
        </p:spPr>
      </p:cxnSp>
      <p:cxnSp>
        <p:nvCxnSpPr>
          <p:cNvPr id="15" name="Line 15"/>
          <p:cNvCxnSpPr/>
          <p:nvPr/>
        </p:nvCxnSpPr>
        <p:spPr>
          <a:xfrm>
            <a:off x="7117404" y="1732788"/>
            <a:ext cx="0" cy="2781300"/>
          </a:xfrm>
          <a:prstGeom prst="line">
            <a:avLst/>
          </a:prstGeom>
          <a:ln w="9525" cap="flat">
            <a:solidFill>
              <a:srgbClr val="E6E8F2"/>
            </a:solidFill>
          </a:ln>
        </p:spPr>
      </p:cxnSp>
      <p:cxnSp>
        <p:nvCxnSpPr>
          <p:cNvPr id="16" name="Line 16"/>
          <p:cNvCxnSpPr/>
          <p:nvPr/>
        </p:nvCxnSpPr>
        <p:spPr>
          <a:xfrm>
            <a:off x="7286473" y="1732788"/>
            <a:ext cx="0" cy="2781300"/>
          </a:xfrm>
          <a:prstGeom prst="line">
            <a:avLst/>
          </a:prstGeom>
          <a:ln w="9525" cap="flat">
            <a:solidFill>
              <a:srgbClr val="E6E8F2"/>
            </a:solidFill>
          </a:ln>
        </p:spPr>
      </p:cxnSp>
      <p:cxnSp>
        <p:nvCxnSpPr>
          <p:cNvPr id="17" name="Line 17"/>
          <p:cNvCxnSpPr/>
          <p:nvPr/>
        </p:nvCxnSpPr>
        <p:spPr>
          <a:xfrm>
            <a:off x="7455541" y="1732788"/>
            <a:ext cx="0" cy="2781300"/>
          </a:xfrm>
          <a:prstGeom prst="line">
            <a:avLst/>
          </a:prstGeom>
          <a:ln w="9525" cap="flat">
            <a:solidFill>
              <a:srgbClr val="E6E8F2"/>
            </a:solidFill>
          </a:ln>
        </p:spPr>
      </p:cxnSp>
      <p:cxnSp>
        <p:nvCxnSpPr>
          <p:cNvPr id="18" name="Line 18"/>
          <p:cNvCxnSpPr/>
          <p:nvPr/>
        </p:nvCxnSpPr>
        <p:spPr>
          <a:xfrm>
            <a:off x="7624610" y="1732788"/>
            <a:ext cx="0" cy="2781300"/>
          </a:xfrm>
          <a:prstGeom prst="line">
            <a:avLst/>
          </a:prstGeom>
          <a:ln w="9525" cap="flat">
            <a:solidFill>
              <a:srgbClr val="E6E8F2"/>
            </a:solidFill>
          </a:ln>
        </p:spPr>
      </p:cxnSp>
      <p:cxnSp>
        <p:nvCxnSpPr>
          <p:cNvPr id="19" name="Line 19"/>
          <p:cNvCxnSpPr/>
          <p:nvPr/>
        </p:nvCxnSpPr>
        <p:spPr>
          <a:xfrm>
            <a:off x="7793679" y="1732788"/>
            <a:ext cx="0" cy="2781300"/>
          </a:xfrm>
          <a:prstGeom prst="line">
            <a:avLst/>
          </a:prstGeom>
          <a:ln w="9525" cap="flat">
            <a:solidFill>
              <a:srgbClr val="E6E8F2"/>
            </a:solidFill>
          </a:ln>
        </p:spPr>
      </p:cxnSp>
      <p:cxnSp>
        <p:nvCxnSpPr>
          <p:cNvPr id="20" name="Line 20"/>
          <p:cNvCxnSpPr/>
          <p:nvPr/>
        </p:nvCxnSpPr>
        <p:spPr>
          <a:xfrm>
            <a:off x="7962748" y="1732788"/>
            <a:ext cx="0" cy="2781300"/>
          </a:xfrm>
          <a:prstGeom prst="line">
            <a:avLst/>
          </a:prstGeom>
          <a:ln w="9525" cap="flat">
            <a:solidFill>
              <a:srgbClr val="E6E8F2"/>
            </a:solidFill>
          </a:ln>
        </p:spPr>
      </p:cxnSp>
      <p:cxnSp>
        <p:nvCxnSpPr>
          <p:cNvPr id="21" name="Line 21"/>
          <p:cNvCxnSpPr/>
          <p:nvPr/>
        </p:nvCxnSpPr>
        <p:spPr>
          <a:xfrm>
            <a:off x="8131816" y="1732788"/>
            <a:ext cx="0" cy="2781300"/>
          </a:xfrm>
          <a:prstGeom prst="line">
            <a:avLst/>
          </a:prstGeom>
          <a:ln w="9525" cap="flat">
            <a:solidFill>
              <a:srgbClr val="E6E8F2"/>
            </a:solidFill>
          </a:ln>
        </p:spPr>
      </p:cxnSp>
      <p:cxnSp>
        <p:nvCxnSpPr>
          <p:cNvPr id="22" name="Line 22"/>
          <p:cNvCxnSpPr/>
          <p:nvPr/>
        </p:nvCxnSpPr>
        <p:spPr>
          <a:xfrm>
            <a:off x="8300885" y="1732788"/>
            <a:ext cx="0" cy="2781300"/>
          </a:xfrm>
          <a:prstGeom prst="line">
            <a:avLst/>
          </a:prstGeom>
          <a:ln w="9525" cap="flat">
            <a:solidFill>
              <a:srgbClr val="E6E8F2"/>
            </a:solidFill>
          </a:ln>
        </p:spPr>
      </p:cxnSp>
      <p:cxnSp>
        <p:nvCxnSpPr>
          <p:cNvPr id="23" name="Line 23"/>
          <p:cNvCxnSpPr/>
          <p:nvPr/>
        </p:nvCxnSpPr>
        <p:spPr>
          <a:xfrm>
            <a:off x="8469954" y="1732788"/>
            <a:ext cx="0" cy="2781300"/>
          </a:xfrm>
          <a:prstGeom prst="line">
            <a:avLst/>
          </a:prstGeom>
          <a:ln w="9525" cap="flat">
            <a:solidFill>
              <a:srgbClr val="E6E8F2"/>
            </a:solidFill>
          </a:ln>
        </p:spPr>
      </p:cxnSp>
      <p:cxnSp>
        <p:nvCxnSpPr>
          <p:cNvPr id="24" name="Line 24"/>
          <p:cNvCxnSpPr/>
          <p:nvPr/>
        </p:nvCxnSpPr>
        <p:spPr>
          <a:xfrm>
            <a:off x="8639023" y="1732788"/>
            <a:ext cx="0" cy="2781300"/>
          </a:xfrm>
          <a:prstGeom prst="line">
            <a:avLst/>
          </a:prstGeom>
          <a:ln w="9525" cap="flat">
            <a:solidFill>
              <a:srgbClr val="E6E8F2"/>
            </a:solidFill>
          </a:ln>
        </p:spPr>
      </p:cxnSp>
      <p:cxnSp>
        <p:nvCxnSpPr>
          <p:cNvPr id="25" name="Line 25"/>
          <p:cNvCxnSpPr/>
          <p:nvPr/>
        </p:nvCxnSpPr>
        <p:spPr>
          <a:xfrm>
            <a:off x="8808091" y="1732788"/>
            <a:ext cx="0" cy="2781300"/>
          </a:xfrm>
          <a:prstGeom prst="line">
            <a:avLst/>
          </a:prstGeom>
          <a:ln w="9525" cap="flat">
            <a:solidFill>
              <a:srgbClr val="E6E8F2"/>
            </a:solidFill>
          </a:ln>
        </p:spPr>
      </p:cxnSp>
      <p:cxnSp>
        <p:nvCxnSpPr>
          <p:cNvPr id="26" name="Line 26"/>
          <p:cNvCxnSpPr/>
          <p:nvPr/>
        </p:nvCxnSpPr>
        <p:spPr>
          <a:xfrm>
            <a:off x="8977160" y="1732788"/>
            <a:ext cx="0" cy="2781300"/>
          </a:xfrm>
          <a:prstGeom prst="line">
            <a:avLst/>
          </a:prstGeom>
          <a:ln w="9525" cap="flat">
            <a:solidFill>
              <a:srgbClr val="E6E8F2"/>
            </a:solidFill>
          </a:ln>
        </p:spPr>
      </p:cxnSp>
      <p:cxnSp>
        <p:nvCxnSpPr>
          <p:cNvPr id="27" name="Line 27"/>
          <p:cNvCxnSpPr/>
          <p:nvPr/>
        </p:nvCxnSpPr>
        <p:spPr>
          <a:xfrm>
            <a:off x="9146229" y="1732788"/>
            <a:ext cx="0" cy="2781300"/>
          </a:xfrm>
          <a:prstGeom prst="line">
            <a:avLst/>
          </a:prstGeom>
          <a:ln w="9525" cap="flat">
            <a:solidFill>
              <a:srgbClr val="E6E8F2"/>
            </a:solidFill>
          </a:ln>
        </p:spPr>
      </p:cxnSp>
      <p:cxnSp>
        <p:nvCxnSpPr>
          <p:cNvPr id="28" name="Line 28"/>
          <p:cNvCxnSpPr/>
          <p:nvPr/>
        </p:nvCxnSpPr>
        <p:spPr>
          <a:xfrm>
            <a:off x="9315298" y="1732788"/>
            <a:ext cx="0" cy="2781300"/>
          </a:xfrm>
          <a:prstGeom prst="line">
            <a:avLst/>
          </a:prstGeom>
          <a:ln w="9525" cap="flat">
            <a:solidFill>
              <a:srgbClr val="E6E8F2"/>
            </a:solidFill>
          </a:ln>
        </p:spPr>
      </p:cxnSp>
      <p:cxnSp>
        <p:nvCxnSpPr>
          <p:cNvPr id="29" name="Line 29"/>
          <p:cNvCxnSpPr/>
          <p:nvPr/>
        </p:nvCxnSpPr>
        <p:spPr>
          <a:xfrm>
            <a:off x="6610198" y="4514088"/>
            <a:ext cx="2705100" cy="0"/>
          </a:xfrm>
          <a:prstGeom prst="line">
            <a:avLst/>
          </a:prstGeom>
          <a:ln w="9525" cap="flat">
            <a:solidFill>
              <a:srgbClr val="E6E8F2"/>
            </a:solidFill>
          </a:ln>
        </p:spPr>
      </p:cxnSp>
      <p:cxnSp>
        <p:nvCxnSpPr>
          <p:cNvPr id="30" name="Line 30"/>
          <p:cNvCxnSpPr/>
          <p:nvPr/>
        </p:nvCxnSpPr>
        <p:spPr>
          <a:xfrm>
            <a:off x="6610198" y="4340257"/>
            <a:ext cx="2705100" cy="0"/>
          </a:xfrm>
          <a:prstGeom prst="line">
            <a:avLst/>
          </a:prstGeom>
          <a:ln w="9525" cap="flat">
            <a:solidFill>
              <a:srgbClr val="E6E8F2"/>
            </a:solidFill>
          </a:ln>
        </p:spPr>
      </p:cxnSp>
      <p:cxnSp>
        <p:nvCxnSpPr>
          <p:cNvPr id="31" name="Line 31"/>
          <p:cNvCxnSpPr/>
          <p:nvPr/>
        </p:nvCxnSpPr>
        <p:spPr>
          <a:xfrm>
            <a:off x="6610198" y="4166426"/>
            <a:ext cx="2705100" cy="0"/>
          </a:xfrm>
          <a:prstGeom prst="line">
            <a:avLst/>
          </a:prstGeom>
          <a:ln w="9525" cap="flat">
            <a:solidFill>
              <a:srgbClr val="E6E8F2"/>
            </a:solidFill>
          </a:ln>
        </p:spPr>
      </p:cxnSp>
      <p:cxnSp>
        <p:nvCxnSpPr>
          <p:cNvPr id="32" name="Line 32"/>
          <p:cNvCxnSpPr/>
          <p:nvPr/>
        </p:nvCxnSpPr>
        <p:spPr>
          <a:xfrm>
            <a:off x="6610198" y="3992594"/>
            <a:ext cx="2705100" cy="0"/>
          </a:xfrm>
          <a:prstGeom prst="line">
            <a:avLst/>
          </a:prstGeom>
          <a:ln w="9525" cap="flat">
            <a:solidFill>
              <a:srgbClr val="E6E8F2"/>
            </a:solidFill>
          </a:ln>
        </p:spPr>
      </p:cxnSp>
      <p:cxnSp>
        <p:nvCxnSpPr>
          <p:cNvPr id="33" name="Line 33"/>
          <p:cNvCxnSpPr/>
          <p:nvPr/>
        </p:nvCxnSpPr>
        <p:spPr>
          <a:xfrm>
            <a:off x="6610198" y="3818763"/>
            <a:ext cx="2705100" cy="0"/>
          </a:xfrm>
          <a:prstGeom prst="line">
            <a:avLst/>
          </a:prstGeom>
          <a:ln w="9525" cap="flat">
            <a:solidFill>
              <a:srgbClr val="E6E8F2"/>
            </a:solidFill>
          </a:ln>
        </p:spPr>
      </p:cxnSp>
      <p:cxnSp>
        <p:nvCxnSpPr>
          <p:cNvPr id="34" name="Line 34"/>
          <p:cNvCxnSpPr/>
          <p:nvPr/>
        </p:nvCxnSpPr>
        <p:spPr>
          <a:xfrm>
            <a:off x="6610198" y="3644932"/>
            <a:ext cx="2705100" cy="0"/>
          </a:xfrm>
          <a:prstGeom prst="line">
            <a:avLst/>
          </a:prstGeom>
          <a:ln w="9525" cap="flat">
            <a:solidFill>
              <a:srgbClr val="E6E8F2"/>
            </a:solidFill>
          </a:ln>
        </p:spPr>
      </p:cxnSp>
      <p:cxnSp>
        <p:nvCxnSpPr>
          <p:cNvPr id="35" name="Line 35"/>
          <p:cNvCxnSpPr/>
          <p:nvPr/>
        </p:nvCxnSpPr>
        <p:spPr>
          <a:xfrm>
            <a:off x="6610198" y="3471100"/>
            <a:ext cx="2705100" cy="0"/>
          </a:xfrm>
          <a:prstGeom prst="line">
            <a:avLst/>
          </a:prstGeom>
          <a:ln w="9525" cap="flat">
            <a:solidFill>
              <a:srgbClr val="E6E8F2"/>
            </a:solidFill>
          </a:ln>
        </p:spPr>
      </p:cxnSp>
      <p:cxnSp>
        <p:nvCxnSpPr>
          <p:cNvPr id="36" name="Line 36"/>
          <p:cNvCxnSpPr/>
          <p:nvPr/>
        </p:nvCxnSpPr>
        <p:spPr>
          <a:xfrm>
            <a:off x="6610198" y="3297269"/>
            <a:ext cx="2705100" cy="0"/>
          </a:xfrm>
          <a:prstGeom prst="line">
            <a:avLst/>
          </a:prstGeom>
          <a:ln w="9525" cap="flat">
            <a:solidFill>
              <a:srgbClr val="E6E8F2"/>
            </a:solidFill>
          </a:ln>
        </p:spPr>
      </p:cxnSp>
      <p:cxnSp>
        <p:nvCxnSpPr>
          <p:cNvPr id="37" name="Line 37"/>
          <p:cNvCxnSpPr/>
          <p:nvPr/>
        </p:nvCxnSpPr>
        <p:spPr>
          <a:xfrm>
            <a:off x="6610198" y="3123438"/>
            <a:ext cx="2705100" cy="0"/>
          </a:xfrm>
          <a:prstGeom prst="line">
            <a:avLst/>
          </a:prstGeom>
          <a:ln w="9525" cap="flat">
            <a:solidFill>
              <a:srgbClr val="E6E8F2"/>
            </a:solidFill>
          </a:ln>
        </p:spPr>
      </p:cxnSp>
      <p:cxnSp>
        <p:nvCxnSpPr>
          <p:cNvPr id="38" name="Line 38"/>
          <p:cNvCxnSpPr/>
          <p:nvPr/>
        </p:nvCxnSpPr>
        <p:spPr>
          <a:xfrm>
            <a:off x="6610198" y="2949607"/>
            <a:ext cx="2705100" cy="0"/>
          </a:xfrm>
          <a:prstGeom prst="line">
            <a:avLst/>
          </a:prstGeom>
          <a:ln w="9525" cap="flat">
            <a:solidFill>
              <a:srgbClr val="E6E8F2"/>
            </a:solidFill>
          </a:ln>
        </p:spPr>
      </p:cxnSp>
      <p:cxnSp>
        <p:nvCxnSpPr>
          <p:cNvPr id="39" name="Line 39"/>
          <p:cNvCxnSpPr/>
          <p:nvPr/>
        </p:nvCxnSpPr>
        <p:spPr>
          <a:xfrm>
            <a:off x="6610198" y="2775776"/>
            <a:ext cx="2705100" cy="0"/>
          </a:xfrm>
          <a:prstGeom prst="line">
            <a:avLst/>
          </a:prstGeom>
          <a:ln w="9525" cap="flat">
            <a:solidFill>
              <a:srgbClr val="E6E8F2"/>
            </a:solidFill>
          </a:ln>
        </p:spPr>
      </p:cxnSp>
      <p:cxnSp>
        <p:nvCxnSpPr>
          <p:cNvPr id="40" name="Line 40"/>
          <p:cNvCxnSpPr/>
          <p:nvPr/>
        </p:nvCxnSpPr>
        <p:spPr>
          <a:xfrm>
            <a:off x="6610198" y="2601944"/>
            <a:ext cx="2705100" cy="0"/>
          </a:xfrm>
          <a:prstGeom prst="line">
            <a:avLst/>
          </a:prstGeom>
          <a:ln w="9525" cap="flat">
            <a:solidFill>
              <a:srgbClr val="E6E8F2"/>
            </a:solidFill>
          </a:ln>
        </p:spPr>
      </p:cxnSp>
      <p:cxnSp>
        <p:nvCxnSpPr>
          <p:cNvPr id="41" name="Line 41"/>
          <p:cNvCxnSpPr/>
          <p:nvPr/>
        </p:nvCxnSpPr>
        <p:spPr>
          <a:xfrm>
            <a:off x="6610198" y="2428113"/>
            <a:ext cx="2705100" cy="0"/>
          </a:xfrm>
          <a:prstGeom prst="line">
            <a:avLst/>
          </a:prstGeom>
          <a:ln w="9525" cap="flat">
            <a:solidFill>
              <a:srgbClr val="E6E8F2"/>
            </a:solidFill>
          </a:ln>
        </p:spPr>
      </p:cxnSp>
      <p:cxnSp>
        <p:nvCxnSpPr>
          <p:cNvPr id="42" name="Line 42"/>
          <p:cNvCxnSpPr/>
          <p:nvPr/>
        </p:nvCxnSpPr>
        <p:spPr>
          <a:xfrm>
            <a:off x="6610198" y="2254282"/>
            <a:ext cx="2705100" cy="0"/>
          </a:xfrm>
          <a:prstGeom prst="line">
            <a:avLst/>
          </a:prstGeom>
          <a:ln w="9525" cap="flat">
            <a:solidFill>
              <a:srgbClr val="E6E8F2"/>
            </a:solidFill>
          </a:ln>
        </p:spPr>
      </p:cxnSp>
      <p:cxnSp>
        <p:nvCxnSpPr>
          <p:cNvPr id="43" name="Line 43"/>
          <p:cNvCxnSpPr/>
          <p:nvPr/>
        </p:nvCxnSpPr>
        <p:spPr>
          <a:xfrm>
            <a:off x="6610198" y="2080451"/>
            <a:ext cx="2705100" cy="0"/>
          </a:xfrm>
          <a:prstGeom prst="line">
            <a:avLst/>
          </a:prstGeom>
          <a:ln w="9525" cap="flat">
            <a:solidFill>
              <a:srgbClr val="E6E8F2"/>
            </a:solidFill>
          </a:ln>
        </p:spPr>
      </p:cxnSp>
      <p:cxnSp>
        <p:nvCxnSpPr>
          <p:cNvPr id="44" name="Line 44"/>
          <p:cNvCxnSpPr/>
          <p:nvPr/>
        </p:nvCxnSpPr>
        <p:spPr>
          <a:xfrm>
            <a:off x="6610198" y="1906619"/>
            <a:ext cx="2705100" cy="0"/>
          </a:xfrm>
          <a:prstGeom prst="line">
            <a:avLst/>
          </a:prstGeom>
          <a:ln w="9525" cap="flat">
            <a:solidFill>
              <a:srgbClr val="E6E8F2"/>
            </a:solidFill>
          </a:ln>
        </p:spPr>
      </p:cxnSp>
      <p:cxnSp>
        <p:nvCxnSpPr>
          <p:cNvPr id="45" name="Line 45"/>
          <p:cNvCxnSpPr/>
          <p:nvPr/>
        </p:nvCxnSpPr>
        <p:spPr>
          <a:xfrm>
            <a:off x="6610198" y="1732788"/>
            <a:ext cx="2705100" cy="0"/>
          </a:xfrm>
          <a:prstGeom prst="line">
            <a:avLst/>
          </a:prstGeom>
          <a:ln w="9525" cap="flat">
            <a:solidFill>
              <a:srgbClr val="E6E8F2"/>
            </a:solidFill>
          </a:ln>
        </p:spPr>
      </p:cxnSp>
      <p:cxnSp>
        <p:nvCxnSpPr>
          <p:cNvPr id="46" name="Line 46"/>
          <p:cNvCxnSpPr/>
          <p:nvPr/>
        </p:nvCxnSpPr>
        <p:spPr>
          <a:xfrm>
            <a:off x="7962748" y="1732788"/>
            <a:ext cx="0" cy="2781300"/>
          </a:xfrm>
          <a:prstGeom prst="line">
            <a:avLst/>
          </a:prstGeom>
          <a:ln w="19050" cap="flat">
            <a:solidFill>
              <a:srgbClr val="5F6272"/>
            </a:solidFill>
          </a:ln>
        </p:spPr>
      </p:cxnSp>
      <p:cxnSp>
        <p:nvCxnSpPr>
          <p:cNvPr id="47" name="Line 47"/>
          <p:cNvCxnSpPr/>
          <p:nvPr/>
        </p:nvCxnSpPr>
        <p:spPr>
          <a:xfrm>
            <a:off x="6610198" y="3123438"/>
            <a:ext cx="2705100" cy="0"/>
          </a:xfrm>
          <a:prstGeom prst="line">
            <a:avLst/>
          </a:prstGeom>
          <a:ln w="19050" cap="flat">
            <a:solidFill>
              <a:srgbClr val="5F6272"/>
            </a:solidFill>
          </a:ln>
        </p:spPr>
      </p:cxnSp>
      <p:sp>
        <p:nvSpPr>
          <p:cNvPr id="48" name="Shape 48"/>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667401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701215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735029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2" name="Shape 52"/>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802656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36470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870284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8" name="Shape 58"/>
          <p:cNvSpPr txBox="1"/>
          <p:nvPr/>
        </p:nvSpPr>
        <p:spPr>
          <a:xfrm>
            <a:off x="6043270"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0" name="Shape 60"/>
          <p:cNvSpPr txBox="1"/>
          <p:nvPr/>
        </p:nvSpPr>
        <p:spPr>
          <a:xfrm>
            <a:off x="6043270"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1" name="Shape 61"/>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6043270"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3" name="Shape 63"/>
          <p:cNvSpPr txBox="1"/>
          <p:nvPr/>
        </p:nvSpPr>
        <p:spPr>
          <a:xfrm>
            <a:off x="6043270"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4" name="Shape 64"/>
          <p:cNvSpPr txBox="1"/>
          <p:nvPr/>
        </p:nvSpPr>
        <p:spPr>
          <a:xfrm>
            <a:off x="6043270"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5" name="Shape 6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6" name="Shape 66"/>
          <p:cNvSpPr/>
          <p:nvPr/>
        </p:nvSpPr>
        <p:spPr>
          <a:xfrm>
            <a:off x="7234085" y="20280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7372198" y="18328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a:t>
            </a:r>
            <a:endParaRPr lang="en-US" sz="1125" dirty="0"/>
          </a:p>
        </p:txBody>
      </p:sp>
      <p:sp>
        <p:nvSpPr>
          <p:cNvPr id="68" name="Shape 68"/>
          <p:cNvSpPr/>
          <p:nvPr/>
        </p:nvSpPr>
        <p:spPr>
          <a:xfrm>
            <a:off x="8755704" y="23757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8893816" y="21804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(5, 4)</a:t>
            </a:r>
            <a:endParaRPr lang="en-US" sz="1125" dirty="0"/>
          </a:p>
        </p:txBody>
      </p:sp>
      <p:sp>
        <p:nvSpPr>
          <p:cNvPr id="70" name="Shape 70"/>
          <p:cNvSpPr/>
          <p:nvPr/>
        </p:nvSpPr>
        <p:spPr>
          <a:xfrm>
            <a:off x="8079429" y="3592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217541" y="3397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a:t>
            </a:r>
            <a:endParaRPr lang="en-US" sz="1125" dirty="0"/>
          </a:p>
        </p:txBody>
      </p:sp>
      <p:sp>
        <p:nvSpPr>
          <p:cNvPr id="72" name="Shape 72"/>
          <p:cNvSpPr/>
          <p:nvPr/>
        </p:nvSpPr>
        <p:spPr>
          <a:xfrm>
            <a:off x="7065016" y="289721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7203129" y="270195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1)</a:t>
            </a:r>
            <a:endParaRPr lang="en-US" sz="1125" dirty="0"/>
          </a:p>
        </p:txBody>
      </p: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SE p. 284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7" name="Shape 7"/>
          <p:cNvSpPr txBox="1"/>
          <p:nvPr/>
        </p:nvSpPr>
        <p:spPr>
          <a:xfrm>
            <a:off x="685800"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6" name="Shape 6"/>
          <p:cNvSpPr txBox="1"/>
          <p:nvPr/>
        </p:nvSpPr>
        <p:spPr>
          <a:xfrm>
            <a:off x="895350" y="28742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up 8.</a:t>
            </a:r>
            <a:endParaRPr lang="en-US" sz="1575" dirty="0"/>
          </a:p>
        </p:txBody>
      </p:sp>
      <p:sp>
        <p:nvSpPr>
          <p:cNvPr id="11" name="Shape 11"/>
          <p:cNvSpPr txBox="1"/>
          <p:nvPr/>
        </p:nvSpPr>
        <p:spPr>
          <a:xfrm>
            <a:off x="4349648"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4559198"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Stretched by 2: steeper, through (0, 0).</a:t>
            </a:r>
            <a:endParaRPr lang="en-US" sz="1575" dirty="0"/>
          </a:p>
        </p:txBody>
      </p:sp>
      <p:sp>
        <p:nvSpPr>
          <p:cNvPr id="15" name="Shape 15"/>
          <p:cNvSpPr txBox="1"/>
          <p:nvPr/>
        </p:nvSpPr>
        <p:spPr>
          <a:xfrm>
            <a:off x="8013497"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3" name="Shape 13"/>
          <p:cNvSpPr txBox="1"/>
          <p:nvPr/>
        </p:nvSpPr>
        <p:spPr>
          <a:xfrm>
            <a:off x="8223047"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Compressed by ⅓: less steep, through (0, 0).</a:t>
            </a:r>
            <a:endParaRPr lang="en-US" sz="1575" dirty="0"/>
          </a:p>
        </p:txBody>
      </p:sp>
      <p:sp>
        <p:nvSpPr>
          <p:cNvPr id="19" name="Shape 19"/>
          <p:cNvSpPr txBox="1"/>
          <p:nvPr/>
        </p:nvSpPr>
        <p:spPr>
          <a:xfrm>
            <a:off x="685800" y="371398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8854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3555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8" name="Shape 18"/>
          <p:cNvSpPr txBox="1"/>
          <p:nvPr/>
        </p:nvSpPr>
        <p:spPr>
          <a:xfrm>
            <a:off x="895350" y="49697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down 7.</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ppt_w</p:attrName>
                                        </p:attrNameLst>
                                      </p:cBhvr>
                                      <p:tavLst>
                                        <p:tav tm="0">
                                          <p:val>
                                            <p:fltVal val="0"/>
                                          </p:val>
                                        </p:tav>
                                        <p:tav tm="100000">
                                          <p:val>
                                            <p:strVal val="#ppt_w"/>
                                          </p:val>
                                        </p:tav>
                                      </p:tavLst>
                                    </p:anim>
                                    <p:anim calcmode="lin" valueType="num">
                                      <p:cBhvr>
                                        <p:cTn id="48"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you transform a function?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Translation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the graph up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&gt; 0</a:t>
            </a:r>
            <a:r>
              <a:rPr lang="en-US" sz="1950" dirty="0">
                <a:solidFill>
                  <a:srgbClr val="16171D"/>
                </a:solidFill>
                <a:latin typeface="Segoe UI"/>
                <a:cs typeface="Segoe UI"/>
              </a:rPr>
              <a:t xml:space="preserve">) or down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The slope stays the same, so the new line is parallel;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changes.</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Dilation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stretches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or compresses (</a:t>
            </a: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the graph;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also reflects it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The slope changes;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it becomes </a:t>
            </a:r>
            <a:r>
              <a:rPr lang="en-US" sz="1950" dirty="0" i="1">
                <a:solidFill>
                  <a:srgbClr val="16171D"/>
                </a:solidFill>
                <a:latin typeface="Cambria"/>
                <a:cs typeface="Cambria"/>
              </a:rPr>
              <a:t xml:space="preserve">a</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Describe the transformation and write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771698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3, down 2: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on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Which point is on </a:t>
            </a:r>
            <a:r>
              <a:rPr lang="en-US" sz="1950" dirty="0">
                <a:solidFill>
                  <a:srgbClr val="16171D"/>
                </a:solidFill>
                <a:latin typeface="Cambria"/>
                <a:cs typeface="Cambria"/>
              </a:rPr>
              <a:t xml:space="preserve">−2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−10)</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286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each line</a:t>
            </a:r>
            <a:endParaRPr lang="en-US" sz="3450" dirty="0"/>
          </a:p>
        </p:txBody>
      </p:sp>
      <p:sp>
        <p:nvSpPr>
          <p:cNvPr id="4" name="Shape 4"/>
          <p:cNvSpPr/>
          <p:nvPr/>
        </p:nvSpPr>
        <p:spPr>
          <a:xfrm>
            <a:off x="685800"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067050"/>
          </a:xfrm>
          <a:prstGeom prst="line">
            <a:avLst/>
          </a:prstGeom>
          <a:ln w="9525" cap="flat">
            <a:solidFill>
              <a:srgbClr val="E6E8F2"/>
            </a:solidFill>
          </a:ln>
        </p:spPr>
      </p:cxnSp>
      <p:cxnSp>
        <p:nvCxnSpPr>
          <p:cNvPr id="6" name="Line 6"/>
          <p:cNvCxnSpPr/>
          <p:nvPr/>
        </p:nvCxnSpPr>
        <p:spPr>
          <a:xfrm>
            <a:off x="1196578" y="1732788"/>
            <a:ext cx="0" cy="3067050"/>
          </a:xfrm>
          <a:prstGeom prst="line">
            <a:avLst/>
          </a:prstGeom>
          <a:ln w="9525" cap="flat">
            <a:solidFill>
              <a:srgbClr val="E6E8F2"/>
            </a:solidFill>
          </a:ln>
        </p:spPr>
      </p:cxnSp>
      <p:cxnSp>
        <p:nvCxnSpPr>
          <p:cNvPr id="7" name="Line 7"/>
          <p:cNvCxnSpPr/>
          <p:nvPr/>
        </p:nvCxnSpPr>
        <p:spPr>
          <a:xfrm>
            <a:off x="1383506" y="1732788"/>
            <a:ext cx="0" cy="3067050"/>
          </a:xfrm>
          <a:prstGeom prst="line">
            <a:avLst/>
          </a:prstGeom>
          <a:ln w="9525" cap="flat">
            <a:solidFill>
              <a:srgbClr val="E6E8F2"/>
            </a:solidFill>
          </a:ln>
        </p:spPr>
      </p:cxnSp>
      <p:cxnSp>
        <p:nvCxnSpPr>
          <p:cNvPr id="8" name="Line 8"/>
          <p:cNvCxnSpPr/>
          <p:nvPr/>
        </p:nvCxnSpPr>
        <p:spPr>
          <a:xfrm>
            <a:off x="1570434" y="1732788"/>
            <a:ext cx="0" cy="3067050"/>
          </a:xfrm>
          <a:prstGeom prst="line">
            <a:avLst/>
          </a:prstGeom>
          <a:ln w="9525" cap="flat">
            <a:solidFill>
              <a:srgbClr val="E6E8F2"/>
            </a:solidFill>
          </a:ln>
        </p:spPr>
      </p:cxnSp>
      <p:cxnSp>
        <p:nvCxnSpPr>
          <p:cNvPr id="9" name="Line 9"/>
          <p:cNvCxnSpPr/>
          <p:nvPr/>
        </p:nvCxnSpPr>
        <p:spPr>
          <a:xfrm>
            <a:off x="1757362" y="1732788"/>
            <a:ext cx="0" cy="3067050"/>
          </a:xfrm>
          <a:prstGeom prst="line">
            <a:avLst/>
          </a:prstGeom>
          <a:ln w="9525" cap="flat">
            <a:solidFill>
              <a:srgbClr val="E6E8F2"/>
            </a:solidFill>
          </a:ln>
        </p:spPr>
      </p:cxnSp>
      <p:cxnSp>
        <p:nvCxnSpPr>
          <p:cNvPr id="10" name="Line 10"/>
          <p:cNvCxnSpPr/>
          <p:nvPr/>
        </p:nvCxnSpPr>
        <p:spPr>
          <a:xfrm>
            <a:off x="1944291" y="1732788"/>
            <a:ext cx="0" cy="3067050"/>
          </a:xfrm>
          <a:prstGeom prst="line">
            <a:avLst/>
          </a:prstGeom>
          <a:ln w="9525" cap="flat">
            <a:solidFill>
              <a:srgbClr val="E6E8F2"/>
            </a:solidFill>
          </a:ln>
        </p:spPr>
      </p:cxnSp>
      <p:cxnSp>
        <p:nvCxnSpPr>
          <p:cNvPr id="11" name="Line 11"/>
          <p:cNvCxnSpPr/>
          <p:nvPr/>
        </p:nvCxnSpPr>
        <p:spPr>
          <a:xfrm>
            <a:off x="2131219" y="1732788"/>
            <a:ext cx="0" cy="3067050"/>
          </a:xfrm>
          <a:prstGeom prst="line">
            <a:avLst/>
          </a:prstGeom>
          <a:ln w="9525" cap="flat">
            <a:solidFill>
              <a:srgbClr val="E6E8F2"/>
            </a:solidFill>
          </a:ln>
        </p:spPr>
      </p:cxnSp>
      <p:cxnSp>
        <p:nvCxnSpPr>
          <p:cNvPr id="12" name="Line 12"/>
          <p:cNvCxnSpPr/>
          <p:nvPr/>
        </p:nvCxnSpPr>
        <p:spPr>
          <a:xfrm>
            <a:off x="2318147" y="1732788"/>
            <a:ext cx="0" cy="3067050"/>
          </a:xfrm>
          <a:prstGeom prst="line">
            <a:avLst/>
          </a:prstGeom>
          <a:ln w="9525" cap="flat">
            <a:solidFill>
              <a:srgbClr val="E6E8F2"/>
            </a:solidFill>
          </a:ln>
        </p:spPr>
      </p:cxnSp>
      <p:cxnSp>
        <p:nvCxnSpPr>
          <p:cNvPr id="13" name="Line 13"/>
          <p:cNvCxnSpPr/>
          <p:nvPr/>
        </p:nvCxnSpPr>
        <p:spPr>
          <a:xfrm>
            <a:off x="2505075" y="1732788"/>
            <a:ext cx="0" cy="3067050"/>
          </a:xfrm>
          <a:prstGeom prst="line">
            <a:avLst/>
          </a:prstGeom>
          <a:ln w="9525" cap="flat">
            <a:solidFill>
              <a:srgbClr val="E6E8F2"/>
            </a:solidFill>
          </a:ln>
        </p:spPr>
      </p:cxnSp>
      <p:cxnSp>
        <p:nvCxnSpPr>
          <p:cNvPr id="14" name="Line 14"/>
          <p:cNvCxnSpPr/>
          <p:nvPr/>
        </p:nvCxnSpPr>
        <p:spPr>
          <a:xfrm>
            <a:off x="2692003" y="1732788"/>
            <a:ext cx="0" cy="3067050"/>
          </a:xfrm>
          <a:prstGeom prst="line">
            <a:avLst/>
          </a:prstGeom>
          <a:ln w="9525" cap="flat">
            <a:solidFill>
              <a:srgbClr val="E6E8F2"/>
            </a:solidFill>
          </a:ln>
        </p:spPr>
      </p:cxnSp>
      <p:cxnSp>
        <p:nvCxnSpPr>
          <p:cNvPr id="15" name="Line 15"/>
          <p:cNvCxnSpPr/>
          <p:nvPr/>
        </p:nvCxnSpPr>
        <p:spPr>
          <a:xfrm>
            <a:off x="2878931" y="1732788"/>
            <a:ext cx="0" cy="3067050"/>
          </a:xfrm>
          <a:prstGeom prst="line">
            <a:avLst/>
          </a:prstGeom>
          <a:ln w="9525" cap="flat">
            <a:solidFill>
              <a:srgbClr val="E6E8F2"/>
            </a:solidFill>
          </a:ln>
        </p:spPr>
      </p:cxnSp>
      <p:cxnSp>
        <p:nvCxnSpPr>
          <p:cNvPr id="16" name="Line 16"/>
          <p:cNvCxnSpPr/>
          <p:nvPr/>
        </p:nvCxnSpPr>
        <p:spPr>
          <a:xfrm>
            <a:off x="3065859" y="1732788"/>
            <a:ext cx="0" cy="3067050"/>
          </a:xfrm>
          <a:prstGeom prst="line">
            <a:avLst/>
          </a:prstGeom>
          <a:ln w="9525" cap="flat">
            <a:solidFill>
              <a:srgbClr val="E6E8F2"/>
            </a:solidFill>
          </a:ln>
        </p:spPr>
      </p:cxnSp>
      <p:cxnSp>
        <p:nvCxnSpPr>
          <p:cNvPr id="17" name="Line 17"/>
          <p:cNvCxnSpPr/>
          <p:nvPr/>
        </p:nvCxnSpPr>
        <p:spPr>
          <a:xfrm>
            <a:off x="3252788" y="1732788"/>
            <a:ext cx="0" cy="3067050"/>
          </a:xfrm>
          <a:prstGeom prst="line">
            <a:avLst/>
          </a:prstGeom>
          <a:ln w="9525" cap="flat">
            <a:solidFill>
              <a:srgbClr val="E6E8F2"/>
            </a:solidFill>
          </a:ln>
        </p:spPr>
      </p:cxnSp>
      <p:cxnSp>
        <p:nvCxnSpPr>
          <p:cNvPr id="18" name="Line 18"/>
          <p:cNvCxnSpPr/>
          <p:nvPr/>
        </p:nvCxnSpPr>
        <p:spPr>
          <a:xfrm>
            <a:off x="3439716" y="1732788"/>
            <a:ext cx="0" cy="3067050"/>
          </a:xfrm>
          <a:prstGeom prst="line">
            <a:avLst/>
          </a:prstGeom>
          <a:ln w="9525" cap="flat">
            <a:solidFill>
              <a:srgbClr val="E6E8F2"/>
            </a:solidFill>
          </a:ln>
        </p:spPr>
      </p:cxnSp>
      <p:cxnSp>
        <p:nvCxnSpPr>
          <p:cNvPr id="19" name="Line 19"/>
          <p:cNvCxnSpPr/>
          <p:nvPr/>
        </p:nvCxnSpPr>
        <p:spPr>
          <a:xfrm>
            <a:off x="3626644" y="1732788"/>
            <a:ext cx="0" cy="3067050"/>
          </a:xfrm>
          <a:prstGeom prst="line">
            <a:avLst/>
          </a:prstGeom>
          <a:ln w="9525" cap="flat">
            <a:solidFill>
              <a:srgbClr val="E6E8F2"/>
            </a:solidFill>
          </a:ln>
        </p:spPr>
      </p:cxnSp>
      <p:cxnSp>
        <p:nvCxnSpPr>
          <p:cNvPr id="20" name="Line 20"/>
          <p:cNvCxnSpPr/>
          <p:nvPr/>
        </p:nvCxnSpPr>
        <p:spPr>
          <a:xfrm>
            <a:off x="3813572" y="1732788"/>
            <a:ext cx="0" cy="3067050"/>
          </a:xfrm>
          <a:prstGeom prst="line">
            <a:avLst/>
          </a:prstGeom>
          <a:ln w="9525" cap="flat">
            <a:solidFill>
              <a:srgbClr val="E6E8F2"/>
            </a:solidFill>
          </a:ln>
        </p:spPr>
      </p:cxnSp>
      <p:cxnSp>
        <p:nvCxnSpPr>
          <p:cNvPr id="21" name="Line 21"/>
          <p:cNvCxnSpPr/>
          <p:nvPr/>
        </p:nvCxnSpPr>
        <p:spPr>
          <a:xfrm>
            <a:off x="4000500" y="1732788"/>
            <a:ext cx="0" cy="3067050"/>
          </a:xfrm>
          <a:prstGeom prst="line">
            <a:avLst/>
          </a:prstGeom>
          <a:ln w="9525" cap="flat">
            <a:solidFill>
              <a:srgbClr val="E6E8F2"/>
            </a:solidFill>
          </a:ln>
        </p:spPr>
      </p:cxnSp>
      <p:cxnSp>
        <p:nvCxnSpPr>
          <p:cNvPr id="22" name="Line 22"/>
          <p:cNvCxnSpPr/>
          <p:nvPr/>
        </p:nvCxnSpPr>
        <p:spPr>
          <a:xfrm>
            <a:off x="1009650" y="4799838"/>
            <a:ext cx="2990850" cy="0"/>
          </a:xfrm>
          <a:prstGeom prst="line">
            <a:avLst/>
          </a:prstGeom>
          <a:ln w="9525" cap="flat">
            <a:solidFill>
              <a:srgbClr val="E6E8F2"/>
            </a:solidFill>
          </a:ln>
        </p:spPr>
      </p:cxnSp>
      <p:cxnSp>
        <p:nvCxnSpPr>
          <p:cNvPr id="23" name="Line 23"/>
          <p:cNvCxnSpPr/>
          <p:nvPr/>
        </p:nvCxnSpPr>
        <p:spPr>
          <a:xfrm>
            <a:off x="1009650" y="4608147"/>
            <a:ext cx="2990850" cy="0"/>
          </a:xfrm>
          <a:prstGeom prst="line">
            <a:avLst/>
          </a:prstGeom>
          <a:ln w="9525" cap="flat">
            <a:solidFill>
              <a:srgbClr val="E6E8F2"/>
            </a:solidFill>
          </a:ln>
        </p:spPr>
      </p:cxnSp>
      <p:cxnSp>
        <p:nvCxnSpPr>
          <p:cNvPr id="24" name="Line 24"/>
          <p:cNvCxnSpPr/>
          <p:nvPr/>
        </p:nvCxnSpPr>
        <p:spPr>
          <a:xfrm>
            <a:off x="1009650" y="4416457"/>
            <a:ext cx="2990850" cy="0"/>
          </a:xfrm>
          <a:prstGeom prst="line">
            <a:avLst/>
          </a:prstGeom>
          <a:ln w="9525" cap="flat">
            <a:solidFill>
              <a:srgbClr val="E6E8F2"/>
            </a:solidFill>
          </a:ln>
        </p:spPr>
      </p:cxnSp>
      <p:cxnSp>
        <p:nvCxnSpPr>
          <p:cNvPr id="25" name="Line 25"/>
          <p:cNvCxnSpPr/>
          <p:nvPr/>
        </p:nvCxnSpPr>
        <p:spPr>
          <a:xfrm>
            <a:off x="1009650" y="4224766"/>
            <a:ext cx="2990850" cy="0"/>
          </a:xfrm>
          <a:prstGeom prst="line">
            <a:avLst/>
          </a:prstGeom>
          <a:ln w="9525" cap="flat">
            <a:solidFill>
              <a:srgbClr val="E6E8F2"/>
            </a:solidFill>
          </a:ln>
        </p:spPr>
      </p:cxnSp>
      <p:cxnSp>
        <p:nvCxnSpPr>
          <p:cNvPr id="26" name="Line 26"/>
          <p:cNvCxnSpPr/>
          <p:nvPr/>
        </p:nvCxnSpPr>
        <p:spPr>
          <a:xfrm>
            <a:off x="1009650" y="4033075"/>
            <a:ext cx="2990850" cy="0"/>
          </a:xfrm>
          <a:prstGeom prst="line">
            <a:avLst/>
          </a:prstGeom>
          <a:ln w="9525" cap="flat">
            <a:solidFill>
              <a:srgbClr val="E6E8F2"/>
            </a:solidFill>
          </a:ln>
        </p:spPr>
      </p:cxnSp>
      <p:cxnSp>
        <p:nvCxnSpPr>
          <p:cNvPr id="27" name="Line 27"/>
          <p:cNvCxnSpPr/>
          <p:nvPr/>
        </p:nvCxnSpPr>
        <p:spPr>
          <a:xfrm>
            <a:off x="1009650" y="3841385"/>
            <a:ext cx="2990850" cy="0"/>
          </a:xfrm>
          <a:prstGeom prst="line">
            <a:avLst/>
          </a:prstGeom>
          <a:ln w="9525" cap="flat">
            <a:solidFill>
              <a:srgbClr val="E6E8F2"/>
            </a:solidFill>
          </a:ln>
        </p:spPr>
      </p:cxnSp>
      <p:cxnSp>
        <p:nvCxnSpPr>
          <p:cNvPr id="28" name="Line 28"/>
          <p:cNvCxnSpPr/>
          <p:nvPr/>
        </p:nvCxnSpPr>
        <p:spPr>
          <a:xfrm>
            <a:off x="1009650" y="3649694"/>
            <a:ext cx="2990850" cy="0"/>
          </a:xfrm>
          <a:prstGeom prst="line">
            <a:avLst/>
          </a:prstGeom>
          <a:ln w="9525" cap="flat">
            <a:solidFill>
              <a:srgbClr val="E6E8F2"/>
            </a:solidFill>
          </a:ln>
        </p:spPr>
      </p:cxnSp>
      <p:cxnSp>
        <p:nvCxnSpPr>
          <p:cNvPr id="29" name="Line 29"/>
          <p:cNvCxnSpPr/>
          <p:nvPr/>
        </p:nvCxnSpPr>
        <p:spPr>
          <a:xfrm>
            <a:off x="1009650" y="3458004"/>
            <a:ext cx="2990850" cy="0"/>
          </a:xfrm>
          <a:prstGeom prst="line">
            <a:avLst/>
          </a:prstGeom>
          <a:ln w="9525" cap="flat">
            <a:solidFill>
              <a:srgbClr val="E6E8F2"/>
            </a:solidFill>
          </a:ln>
        </p:spPr>
      </p:cxnSp>
      <p:cxnSp>
        <p:nvCxnSpPr>
          <p:cNvPr id="30" name="Line 30"/>
          <p:cNvCxnSpPr/>
          <p:nvPr/>
        </p:nvCxnSpPr>
        <p:spPr>
          <a:xfrm>
            <a:off x="1009650" y="3266313"/>
            <a:ext cx="2990850" cy="0"/>
          </a:xfrm>
          <a:prstGeom prst="line">
            <a:avLst/>
          </a:prstGeom>
          <a:ln w="9525" cap="flat">
            <a:solidFill>
              <a:srgbClr val="E6E8F2"/>
            </a:solidFill>
          </a:ln>
        </p:spPr>
      </p:cxnSp>
      <p:cxnSp>
        <p:nvCxnSpPr>
          <p:cNvPr id="31" name="Line 31"/>
          <p:cNvCxnSpPr/>
          <p:nvPr/>
        </p:nvCxnSpPr>
        <p:spPr>
          <a:xfrm>
            <a:off x="1009650" y="3074622"/>
            <a:ext cx="2990850" cy="0"/>
          </a:xfrm>
          <a:prstGeom prst="line">
            <a:avLst/>
          </a:prstGeom>
          <a:ln w="9525" cap="flat">
            <a:solidFill>
              <a:srgbClr val="E6E8F2"/>
            </a:solidFill>
          </a:ln>
        </p:spPr>
      </p:cxnSp>
      <p:cxnSp>
        <p:nvCxnSpPr>
          <p:cNvPr id="32" name="Line 32"/>
          <p:cNvCxnSpPr/>
          <p:nvPr/>
        </p:nvCxnSpPr>
        <p:spPr>
          <a:xfrm>
            <a:off x="1009650" y="2882932"/>
            <a:ext cx="2990850" cy="0"/>
          </a:xfrm>
          <a:prstGeom prst="line">
            <a:avLst/>
          </a:prstGeom>
          <a:ln w="9525" cap="flat">
            <a:solidFill>
              <a:srgbClr val="E6E8F2"/>
            </a:solidFill>
          </a:ln>
        </p:spPr>
      </p:cxnSp>
      <p:cxnSp>
        <p:nvCxnSpPr>
          <p:cNvPr id="33" name="Line 33"/>
          <p:cNvCxnSpPr/>
          <p:nvPr/>
        </p:nvCxnSpPr>
        <p:spPr>
          <a:xfrm>
            <a:off x="1009650" y="2691241"/>
            <a:ext cx="2990850" cy="0"/>
          </a:xfrm>
          <a:prstGeom prst="line">
            <a:avLst/>
          </a:prstGeom>
          <a:ln w="9525" cap="flat">
            <a:solidFill>
              <a:srgbClr val="E6E8F2"/>
            </a:solidFill>
          </a:ln>
        </p:spPr>
      </p:cxnSp>
      <p:cxnSp>
        <p:nvCxnSpPr>
          <p:cNvPr id="34" name="Line 34"/>
          <p:cNvCxnSpPr/>
          <p:nvPr/>
        </p:nvCxnSpPr>
        <p:spPr>
          <a:xfrm>
            <a:off x="1009650" y="2499550"/>
            <a:ext cx="2990850" cy="0"/>
          </a:xfrm>
          <a:prstGeom prst="line">
            <a:avLst/>
          </a:prstGeom>
          <a:ln w="9525" cap="flat">
            <a:solidFill>
              <a:srgbClr val="E6E8F2"/>
            </a:solidFill>
          </a:ln>
        </p:spPr>
      </p:cxnSp>
      <p:cxnSp>
        <p:nvCxnSpPr>
          <p:cNvPr id="35" name="Line 35"/>
          <p:cNvCxnSpPr/>
          <p:nvPr/>
        </p:nvCxnSpPr>
        <p:spPr>
          <a:xfrm>
            <a:off x="1009650" y="2307860"/>
            <a:ext cx="2990850" cy="0"/>
          </a:xfrm>
          <a:prstGeom prst="line">
            <a:avLst/>
          </a:prstGeom>
          <a:ln w="9525" cap="flat">
            <a:solidFill>
              <a:srgbClr val="E6E8F2"/>
            </a:solidFill>
          </a:ln>
        </p:spPr>
      </p:cxnSp>
      <p:cxnSp>
        <p:nvCxnSpPr>
          <p:cNvPr id="36" name="Line 36"/>
          <p:cNvCxnSpPr/>
          <p:nvPr/>
        </p:nvCxnSpPr>
        <p:spPr>
          <a:xfrm>
            <a:off x="1009650" y="2116169"/>
            <a:ext cx="2990850" cy="0"/>
          </a:xfrm>
          <a:prstGeom prst="line">
            <a:avLst/>
          </a:prstGeom>
          <a:ln w="9525" cap="flat">
            <a:solidFill>
              <a:srgbClr val="E6E8F2"/>
            </a:solidFill>
          </a:ln>
        </p:spPr>
      </p:cxnSp>
      <p:cxnSp>
        <p:nvCxnSpPr>
          <p:cNvPr id="37" name="Line 37"/>
          <p:cNvCxnSpPr/>
          <p:nvPr/>
        </p:nvCxnSpPr>
        <p:spPr>
          <a:xfrm>
            <a:off x="1009650" y="1924479"/>
            <a:ext cx="2990850" cy="0"/>
          </a:xfrm>
          <a:prstGeom prst="line">
            <a:avLst/>
          </a:prstGeom>
          <a:ln w="9525" cap="flat">
            <a:solidFill>
              <a:srgbClr val="E6E8F2"/>
            </a:solidFill>
          </a:ln>
        </p:spPr>
      </p:cxnSp>
      <p:cxnSp>
        <p:nvCxnSpPr>
          <p:cNvPr id="38" name="Line 38"/>
          <p:cNvCxnSpPr/>
          <p:nvPr/>
        </p:nvCxnSpPr>
        <p:spPr>
          <a:xfrm>
            <a:off x="1009650" y="1732788"/>
            <a:ext cx="2990850" cy="0"/>
          </a:xfrm>
          <a:prstGeom prst="line">
            <a:avLst/>
          </a:prstGeom>
          <a:ln w="9525" cap="flat">
            <a:solidFill>
              <a:srgbClr val="E6E8F2"/>
            </a:solidFill>
          </a:ln>
        </p:spPr>
      </p:cxnSp>
      <p:cxnSp>
        <p:nvCxnSpPr>
          <p:cNvPr id="39" name="Line 39"/>
          <p:cNvCxnSpPr/>
          <p:nvPr/>
        </p:nvCxnSpPr>
        <p:spPr>
          <a:xfrm>
            <a:off x="2878931" y="1732788"/>
            <a:ext cx="0" cy="3067050"/>
          </a:xfrm>
          <a:prstGeom prst="line">
            <a:avLst/>
          </a:prstGeom>
          <a:ln w="19050" cap="flat">
            <a:solidFill>
              <a:srgbClr val="5F6272"/>
            </a:solidFill>
          </a:ln>
        </p:spPr>
      </p:cxnSp>
      <p:cxnSp>
        <p:nvCxnSpPr>
          <p:cNvPr id="40" name="Line 40"/>
          <p:cNvCxnSpPr/>
          <p:nvPr/>
        </p:nvCxnSpPr>
        <p:spPr>
          <a:xfrm>
            <a:off x="1009650" y="2499550"/>
            <a:ext cx="2990850" cy="0"/>
          </a:xfrm>
          <a:prstGeom prst="line">
            <a:avLst/>
          </a:prstGeom>
          <a:ln w="19050" cap="flat">
            <a:solidFill>
              <a:srgbClr val="5F6272"/>
            </a:solidFill>
          </a:ln>
        </p:spPr>
      </p:cxnSp>
      <p:sp>
        <p:nvSpPr>
          <p:cNvPr id="41" name="Shape 41"/>
          <p:cNvSpPr txBox="1"/>
          <p:nvPr/>
        </p:nvSpPr>
        <p:spPr>
          <a:xfrm>
            <a:off x="73533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110918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483042"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85689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223075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260461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297846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335232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372618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442722"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9" name="Line 59"/>
          <p:cNvCxnSpPr/>
          <p:nvPr/>
        </p:nvCxnSpPr>
        <p:spPr>
          <a:xfrm flipV="1">
            <a:off x="1009650" y="2627344"/>
            <a:ext cx="2990850" cy="2044700"/>
          </a:xfrm>
          <a:prstGeom prst="line">
            <a:avLst/>
          </a:prstGeom>
          <a:ln w="38100" cap="rnd">
            <a:solidFill>
              <a:srgbClr val="16171D"/>
            </a:solidFill>
          </a:ln>
        </p:spPr>
      </p:cxnSp>
      <p:sp>
        <p:nvSpPr>
          <p:cNvPr id="60" name="Shape 60"/>
          <p:cNvSpPr/>
          <p:nvPr/>
        </p:nvSpPr>
        <p:spPr>
          <a:xfrm>
            <a:off x="1331119" y="43640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469231" y="41688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(−8, −10)</a:t>
            </a:r>
            <a:endParaRPr lang="en-US" sz="1125" dirty="0"/>
          </a:p>
        </p:txBody>
      </p:sp>
      <p:sp>
        <p:nvSpPr>
          <p:cNvPr id="62" name="Shape 62"/>
          <p:cNvSpPr/>
          <p:nvPr/>
        </p:nvSpPr>
        <p:spPr>
          <a:xfrm>
            <a:off x="2452688" y="359730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2590800" y="340204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sp>
        <p:nvSpPr>
          <p:cNvPr id="64" name="Shape 64"/>
          <p:cNvSpPr/>
          <p:nvPr/>
        </p:nvSpPr>
        <p:spPr>
          <a:xfrm>
            <a:off x="3574256" y="2830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3712369" y="2635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66" name="Shape 66"/>
          <p:cNvSpPr txBox="1"/>
          <p:nvPr/>
        </p:nvSpPr>
        <p:spPr>
          <a:xfrm>
            <a:off x="685800" y="5142738"/>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− 14/3</a:t>
            </a:r>
            <a:endParaRPr lang="en-US" sz="2325" dirty="0"/>
          </a:p>
        </p:txBody>
      </p:sp>
      <p:sp>
        <p:nvSpPr>
          <p:cNvPr id="67" name="Shape 67"/>
          <p:cNvSpPr/>
          <p:nvPr/>
        </p:nvSpPr>
        <p:spPr>
          <a:xfrm>
            <a:off x="6286348"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8" name="Line 68"/>
          <p:cNvCxnSpPr/>
          <p:nvPr/>
        </p:nvCxnSpPr>
        <p:spPr>
          <a:xfrm>
            <a:off x="6610198" y="1732788"/>
            <a:ext cx="0" cy="3067050"/>
          </a:xfrm>
          <a:prstGeom prst="line">
            <a:avLst/>
          </a:prstGeom>
          <a:ln w="9525" cap="flat">
            <a:solidFill>
              <a:srgbClr val="E6E8F2"/>
            </a:solidFill>
          </a:ln>
        </p:spPr>
      </p:cxnSp>
      <p:cxnSp>
        <p:nvCxnSpPr>
          <p:cNvPr id="69" name="Line 69"/>
          <p:cNvCxnSpPr/>
          <p:nvPr/>
        </p:nvCxnSpPr>
        <p:spPr>
          <a:xfrm>
            <a:off x="6797126" y="1732788"/>
            <a:ext cx="0" cy="3067050"/>
          </a:xfrm>
          <a:prstGeom prst="line">
            <a:avLst/>
          </a:prstGeom>
          <a:ln w="9525" cap="flat">
            <a:solidFill>
              <a:srgbClr val="E6E8F2"/>
            </a:solidFill>
          </a:ln>
        </p:spPr>
      </p:cxnSp>
      <p:cxnSp>
        <p:nvCxnSpPr>
          <p:cNvPr id="70" name="Line 70"/>
          <p:cNvCxnSpPr/>
          <p:nvPr/>
        </p:nvCxnSpPr>
        <p:spPr>
          <a:xfrm>
            <a:off x="6984054" y="1732788"/>
            <a:ext cx="0" cy="3067050"/>
          </a:xfrm>
          <a:prstGeom prst="line">
            <a:avLst/>
          </a:prstGeom>
          <a:ln w="9525" cap="flat">
            <a:solidFill>
              <a:srgbClr val="E6E8F2"/>
            </a:solidFill>
          </a:ln>
        </p:spPr>
      </p:cxnSp>
      <p:cxnSp>
        <p:nvCxnSpPr>
          <p:cNvPr id="71" name="Line 71"/>
          <p:cNvCxnSpPr/>
          <p:nvPr/>
        </p:nvCxnSpPr>
        <p:spPr>
          <a:xfrm>
            <a:off x="7170982" y="1732788"/>
            <a:ext cx="0" cy="3067050"/>
          </a:xfrm>
          <a:prstGeom prst="line">
            <a:avLst/>
          </a:prstGeom>
          <a:ln w="9525" cap="flat">
            <a:solidFill>
              <a:srgbClr val="E6E8F2"/>
            </a:solidFill>
          </a:ln>
        </p:spPr>
      </p:cxnSp>
      <p:cxnSp>
        <p:nvCxnSpPr>
          <p:cNvPr id="72" name="Line 72"/>
          <p:cNvCxnSpPr/>
          <p:nvPr/>
        </p:nvCxnSpPr>
        <p:spPr>
          <a:xfrm>
            <a:off x="7357910" y="1732788"/>
            <a:ext cx="0" cy="3067050"/>
          </a:xfrm>
          <a:prstGeom prst="line">
            <a:avLst/>
          </a:prstGeom>
          <a:ln w="9525" cap="flat">
            <a:solidFill>
              <a:srgbClr val="E6E8F2"/>
            </a:solidFill>
          </a:ln>
        </p:spPr>
      </p:cxnSp>
      <p:cxnSp>
        <p:nvCxnSpPr>
          <p:cNvPr id="73" name="Line 73"/>
          <p:cNvCxnSpPr/>
          <p:nvPr/>
        </p:nvCxnSpPr>
        <p:spPr>
          <a:xfrm>
            <a:off x="7544838" y="1732788"/>
            <a:ext cx="0" cy="3067050"/>
          </a:xfrm>
          <a:prstGeom prst="line">
            <a:avLst/>
          </a:prstGeom>
          <a:ln w="9525" cap="flat">
            <a:solidFill>
              <a:srgbClr val="E6E8F2"/>
            </a:solidFill>
          </a:ln>
        </p:spPr>
      </p:cxnSp>
      <p:cxnSp>
        <p:nvCxnSpPr>
          <p:cNvPr id="74" name="Line 74"/>
          <p:cNvCxnSpPr/>
          <p:nvPr/>
        </p:nvCxnSpPr>
        <p:spPr>
          <a:xfrm>
            <a:off x="7731766" y="1732788"/>
            <a:ext cx="0" cy="3067050"/>
          </a:xfrm>
          <a:prstGeom prst="line">
            <a:avLst/>
          </a:prstGeom>
          <a:ln w="9525" cap="flat">
            <a:solidFill>
              <a:srgbClr val="E6E8F2"/>
            </a:solidFill>
          </a:ln>
        </p:spPr>
      </p:cxnSp>
      <p:cxnSp>
        <p:nvCxnSpPr>
          <p:cNvPr id="75" name="Line 75"/>
          <p:cNvCxnSpPr/>
          <p:nvPr/>
        </p:nvCxnSpPr>
        <p:spPr>
          <a:xfrm>
            <a:off x="7918694" y="1732788"/>
            <a:ext cx="0" cy="3067050"/>
          </a:xfrm>
          <a:prstGeom prst="line">
            <a:avLst/>
          </a:prstGeom>
          <a:ln w="9525" cap="flat">
            <a:solidFill>
              <a:srgbClr val="E6E8F2"/>
            </a:solidFill>
          </a:ln>
        </p:spPr>
      </p:cxnSp>
      <p:cxnSp>
        <p:nvCxnSpPr>
          <p:cNvPr id="76" name="Line 76"/>
          <p:cNvCxnSpPr/>
          <p:nvPr/>
        </p:nvCxnSpPr>
        <p:spPr>
          <a:xfrm>
            <a:off x="8105623" y="1732788"/>
            <a:ext cx="0" cy="3067050"/>
          </a:xfrm>
          <a:prstGeom prst="line">
            <a:avLst/>
          </a:prstGeom>
          <a:ln w="9525" cap="flat">
            <a:solidFill>
              <a:srgbClr val="E6E8F2"/>
            </a:solidFill>
          </a:ln>
        </p:spPr>
      </p:cxnSp>
      <p:cxnSp>
        <p:nvCxnSpPr>
          <p:cNvPr id="77" name="Line 77"/>
          <p:cNvCxnSpPr/>
          <p:nvPr/>
        </p:nvCxnSpPr>
        <p:spPr>
          <a:xfrm>
            <a:off x="8292551" y="1732788"/>
            <a:ext cx="0" cy="3067050"/>
          </a:xfrm>
          <a:prstGeom prst="line">
            <a:avLst/>
          </a:prstGeom>
          <a:ln w="9525" cap="flat">
            <a:solidFill>
              <a:srgbClr val="E6E8F2"/>
            </a:solidFill>
          </a:ln>
        </p:spPr>
      </p:cxnSp>
      <p:cxnSp>
        <p:nvCxnSpPr>
          <p:cNvPr id="78" name="Line 78"/>
          <p:cNvCxnSpPr/>
          <p:nvPr/>
        </p:nvCxnSpPr>
        <p:spPr>
          <a:xfrm>
            <a:off x="8479479" y="1732788"/>
            <a:ext cx="0" cy="3067050"/>
          </a:xfrm>
          <a:prstGeom prst="line">
            <a:avLst/>
          </a:prstGeom>
          <a:ln w="9525" cap="flat">
            <a:solidFill>
              <a:srgbClr val="E6E8F2"/>
            </a:solidFill>
          </a:ln>
        </p:spPr>
      </p:cxnSp>
      <p:cxnSp>
        <p:nvCxnSpPr>
          <p:cNvPr id="79" name="Line 79"/>
          <p:cNvCxnSpPr/>
          <p:nvPr/>
        </p:nvCxnSpPr>
        <p:spPr>
          <a:xfrm>
            <a:off x="8666407" y="1732788"/>
            <a:ext cx="0" cy="3067050"/>
          </a:xfrm>
          <a:prstGeom prst="line">
            <a:avLst/>
          </a:prstGeom>
          <a:ln w="9525" cap="flat">
            <a:solidFill>
              <a:srgbClr val="E6E8F2"/>
            </a:solidFill>
          </a:ln>
        </p:spPr>
      </p:cxnSp>
      <p:cxnSp>
        <p:nvCxnSpPr>
          <p:cNvPr id="80" name="Line 80"/>
          <p:cNvCxnSpPr/>
          <p:nvPr/>
        </p:nvCxnSpPr>
        <p:spPr>
          <a:xfrm>
            <a:off x="8853335" y="1732788"/>
            <a:ext cx="0" cy="3067050"/>
          </a:xfrm>
          <a:prstGeom prst="line">
            <a:avLst/>
          </a:prstGeom>
          <a:ln w="9525" cap="flat">
            <a:solidFill>
              <a:srgbClr val="E6E8F2"/>
            </a:solidFill>
          </a:ln>
        </p:spPr>
      </p:cxnSp>
      <p:cxnSp>
        <p:nvCxnSpPr>
          <p:cNvPr id="81" name="Line 81"/>
          <p:cNvCxnSpPr/>
          <p:nvPr/>
        </p:nvCxnSpPr>
        <p:spPr>
          <a:xfrm>
            <a:off x="9040263" y="1732788"/>
            <a:ext cx="0" cy="3067050"/>
          </a:xfrm>
          <a:prstGeom prst="line">
            <a:avLst/>
          </a:prstGeom>
          <a:ln w="9525" cap="flat">
            <a:solidFill>
              <a:srgbClr val="E6E8F2"/>
            </a:solidFill>
          </a:ln>
        </p:spPr>
      </p:cxnSp>
      <p:cxnSp>
        <p:nvCxnSpPr>
          <p:cNvPr id="82" name="Line 82"/>
          <p:cNvCxnSpPr/>
          <p:nvPr/>
        </p:nvCxnSpPr>
        <p:spPr>
          <a:xfrm>
            <a:off x="9227191" y="1732788"/>
            <a:ext cx="0" cy="3067050"/>
          </a:xfrm>
          <a:prstGeom prst="line">
            <a:avLst/>
          </a:prstGeom>
          <a:ln w="9525" cap="flat">
            <a:solidFill>
              <a:srgbClr val="E6E8F2"/>
            </a:solidFill>
          </a:ln>
        </p:spPr>
      </p:cxnSp>
      <p:cxnSp>
        <p:nvCxnSpPr>
          <p:cNvPr id="83" name="Line 83"/>
          <p:cNvCxnSpPr/>
          <p:nvPr/>
        </p:nvCxnSpPr>
        <p:spPr>
          <a:xfrm>
            <a:off x="9414119" y="1732788"/>
            <a:ext cx="0" cy="3067050"/>
          </a:xfrm>
          <a:prstGeom prst="line">
            <a:avLst/>
          </a:prstGeom>
          <a:ln w="9525" cap="flat">
            <a:solidFill>
              <a:srgbClr val="E6E8F2"/>
            </a:solidFill>
          </a:ln>
        </p:spPr>
      </p:cxnSp>
      <p:cxnSp>
        <p:nvCxnSpPr>
          <p:cNvPr id="84" name="Line 84"/>
          <p:cNvCxnSpPr/>
          <p:nvPr/>
        </p:nvCxnSpPr>
        <p:spPr>
          <a:xfrm>
            <a:off x="9601048" y="1732788"/>
            <a:ext cx="0" cy="3067050"/>
          </a:xfrm>
          <a:prstGeom prst="line">
            <a:avLst/>
          </a:prstGeom>
          <a:ln w="9525" cap="flat">
            <a:solidFill>
              <a:srgbClr val="E6E8F2"/>
            </a:solidFill>
          </a:ln>
        </p:spPr>
      </p:cxnSp>
      <p:cxnSp>
        <p:nvCxnSpPr>
          <p:cNvPr id="85" name="Line 85"/>
          <p:cNvCxnSpPr/>
          <p:nvPr/>
        </p:nvCxnSpPr>
        <p:spPr>
          <a:xfrm>
            <a:off x="6610198" y="4799838"/>
            <a:ext cx="2990850" cy="0"/>
          </a:xfrm>
          <a:prstGeom prst="line">
            <a:avLst/>
          </a:prstGeom>
          <a:ln w="9525" cap="flat">
            <a:solidFill>
              <a:srgbClr val="E6E8F2"/>
            </a:solidFill>
          </a:ln>
        </p:spPr>
      </p:cxnSp>
      <p:cxnSp>
        <p:nvCxnSpPr>
          <p:cNvPr id="86" name="Line 86"/>
          <p:cNvCxnSpPr/>
          <p:nvPr/>
        </p:nvCxnSpPr>
        <p:spPr>
          <a:xfrm>
            <a:off x="6610198" y="4493133"/>
            <a:ext cx="2990850" cy="0"/>
          </a:xfrm>
          <a:prstGeom prst="line">
            <a:avLst/>
          </a:prstGeom>
          <a:ln w="9525" cap="flat">
            <a:solidFill>
              <a:srgbClr val="E6E8F2"/>
            </a:solidFill>
          </a:ln>
        </p:spPr>
      </p:cxnSp>
      <p:cxnSp>
        <p:nvCxnSpPr>
          <p:cNvPr id="87" name="Line 87"/>
          <p:cNvCxnSpPr/>
          <p:nvPr/>
        </p:nvCxnSpPr>
        <p:spPr>
          <a:xfrm>
            <a:off x="6610198" y="4186428"/>
            <a:ext cx="2990850" cy="0"/>
          </a:xfrm>
          <a:prstGeom prst="line">
            <a:avLst/>
          </a:prstGeom>
          <a:ln w="9525" cap="flat">
            <a:solidFill>
              <a:srgbClr val="E6E8F2"/>
            </a:solidFill>
          </a:ln>
        </p:spPr>
      </p:cxnSp>
      <p:cxnSp>
        <p:nvCxnSpPr>
          <p:cNvPr id="88" name="Line 88"/>
          <p:cNvCxnSpPr/>
          <p:nvPr/>
        </p:nvCxnSpPr>
        <p:spPr>
          <a:xfrm>
            <a:off x="6610198" y="3879723"/>
            <a:ext cx="2990850" cy="0"/>
          </a:xfrm>
          <a:prstGeom prst="line">
            <a:avLst/>
          </a:prstGeom>
          <a:ln w="9525" cap="flat">
            <a:solidFill>
              <a:srgbClr val="E6E8F2"/>
            </a:solidFill>
          </a:ln>
        </p:spPr>
      </p:cxnSp>
      <p:cxnSp>
        <p:nvCxnSpPr>
          <p:cNvPr id="89" name="Line 89"/>
          <p:cNvCxnSpPr/>
          <p:nvPr/>
        </p:nvCxnSpPr>
        <p:spPr>
          <a:xfrm>
            <a:off x="6610198" y="3573018"/>
            <a:ext cx="2990850" cy="0"/>
          </a:xfrm>
          <a:prstGeom prst="line">
            <a:avLst/>
          </a:prstGeom>
          <a:ln w="9525" cap="flat">
            <a:solidFill>
              <a:srgbClr val="E6E8F2"/>
            </a:solidFill>
          </a:ln>
        </p:spPr>
      </p:cxnSp>
      <p:cxnSp>
        <p:nvCxnSpPr>
          <p:cNvPr id="90" name="Line 90"/>
          <p:cNvCxnSpPr/>
          <p:nvPr/>
        </p:nvCxnSpPr>
        <p:spPr>
          <a:xfrm>
            <a:off x="6610198" y="3266313"/>
            <a:ext cx="2990850" cy="0"/>
          </a:xfrm>
          <a:prstGeom prst="line">
            <a:avLst/>
          </a:prstGeom>
          <a:ln w="9525" cap="flat">
            <a:solidFill>
              <a:srgbClr val="E6E8F2"/>
            </a:solidFill>
          </a:ln>
        </p:spPr>
      </p:cxnSp>
      <p:cxnSp>
        <p:nvCxnSpPr>
          <p:cNvPr id="91" name="Line 91"/>
          <p:cNvCxnSpPr/>
          <p:nvPr/>
        </p:nvCxnSpPr>
        <p:spPr>
          <a:xfrm>
            <a:off x="6610198" y="2959608"/>
            <a:ext cx="2990850" cy="0"/>
          </a:xfrm>
          <a:prstGeom prst="line">
            <a:avLst/>
          </a:prstGeom>
          <a:ln w="9525" cap="flat">
            <a:solidFill>
              <a:srgbClr val="E6E8F2"/>
            </a:solidFill>
          </a:ln>
        </p:spPr>
      </p:cxnSp>
      <p:cxnSp>
        <p:nvCxnSpPr>
          <p:cNvPr id="92" name="Line 92"/>
          <p:cNvCxnSpPr/>
          <p:nvPr/>
        </p:nvCxnSpPr>
        <p:spPr>
          <a:xfrm>
            <a:off x="6610198" y="2652903"/>
            <a:ext cx="2990850" cy="0"/>
          </a:xfrm>
          <a:prstGeom prst="line">
            <a:avLst/>
          </a:prstGeom>
          <a:ln w="9525" cap="flat">
            <a:solidFill>
              <a:srgbClr val="E6E8F2"/>
            </a:solidFill>
          </a:ln>
        </p:spPr>
      </p:cxnSp>
      <p:cxnSp>
        <p:nvCxnSpPr>
          <p:cNvPr id="93" name="Line 93"/>
          <p:cNvCxnSpPr/>
          <p:nvPr/>
        </p:nvCxnSpPr>
        <p:spPr>
          <a:xfrm>
            <a:off x="6610198" y="2346198"/>
            <a:ext cx="2990850" cy="0"/>
          </a:xfrm>
          <a:prstGeom prst="line">
            <a:avLst/>
          </a:prstGeom>
          <a:ln w="9525" cap="flat">
            <a:solidFill>
              <a:srgbClr val="E6E8F2"/>
            </a:solidFill>
          </a:ln>
        </p:spPr>
      </p:cxnSp>
      <p:cxnSp>
        <p:nvCxnSpPr>
          <p:cNvPr id="94" name="Line 94"/>
          <p:cNvCxnSpPr/>
          <p:nvPr/>
        </p:nvCxnSpPr>
        <p:spPr>
          <a:xfrm>
            <a:off x="6610198" y="2039493"/>
            <a:ext cx="2990850" cy="0"/>
          </a:xfrm>
          <a:prstGeom prst="line">
            <a:avLst/>
          </a:prstGeom>
          <a:ln w="9525" cap="flat">
            <a:solidFill>
              <a:srgbClr val="E6E8F2"/>
            </a:solidFill>
          </a:ln>
        </p:spPr>
      </p:cxnSp>
      <p:cxnSp>
        <p:nvCxnSpPr>
          <p:cNvPr id="95" name="Line 95"/>
          <p:cNvCxnSpPr/>
          <p:nvPr/>
        </p:nvCxnSpPr>
        <p:spPr>
          <a:xfrm>
            <a:off x="6610198" y="1732788"/>
            <a:ext cx="2990850" cy="0"/>
          </a:xfrm>
          <a:prstGeom prst="line">
            <a:avLst/>
          </a:prstGeom>
          <a:ln w="9525" cap="flat">
            <a:solidFill>
              <a:srgbClr val="E6E8F2"/>
            </a:solidFill>
          </a:ln>
        </p:spPr>
      </p:cxnSp>
      <p:cxnSp>
        <p:nvCxnSpPr>
          <p:cNvPr id="96" name="Line 96"/>
          <p:cNvCxnSpPr/>
          <p:nvPr/>
        </p:nvCxnSpPr>
        <p:spPr>
          <a:xfrm>
            <a:off x="8105623" y="1732788"/>
            <a:ext cx="0" cy="3067050"/>
          </a:xfrm>
          <a:prstGeom prst="line">
            <a:avLst/>
          </a:prstGeom>
          <a:ln w="19050" cap="flat">
            <a:solidFill>
              <a:srgbClr val="5F6272"/>
            </a:solidFill>
          </a:ln>
        </p:spPr>
      </p:cxnSp>
      <p:cxnSp>
        <p:nvCxnSpPr>
          <p:cNvPr id="97" name="Line 97"/>
          <p:cNvCxnSpPr/>
          <p:nvPr/>
        </p:nvCxnSpPr>
        <p:spPr>
          <a:xfrm>
            <a:off x="6610198" y="3573018"/>
            <a:ext cx="2990850" cy="0"/>
          </a:xfrm>
          <a:prstGeom prst="line">
            <a:avLst/>
          </a:prstGeom>
          <a:ln w="19050" cap="flat">
            <a:solidFill>
              <a:srgbClr val="5F6272"/>
            </a:solidFill>
          </a:ln>
        </p:spPr>
      </p:cxnSp>
      <p:sp>
        <p:nvSpPr>
          <p:cNvPr id="98" name="Shape 98"/>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670973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08359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45744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8313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820515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857901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895287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932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7" name="Shape 107"/>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8" name="Shape 108"/>
          <p:cNvSpPr txBox="1"/>
          <p:nvPr/>
        </p:nvSpPr>
        <p:spPr>
          <a:xfrm>
            <a:off x="6043270" y="40949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9" name="Shape 109"/>
          <p:cNvSpPr txBox="1"/>
          <p:nvPr/>
        </p:nvSpPr>
        <p:spPr>
          <a:xfrm>
            <a:off x="6043270" y="3481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0" name="Shape 110"/>
          <p:cNvSpPr txBox="1"/>
          <p:nvPr/>
        </p:nvSpPr>
        <p:spPr>
          <a:xfrm>
            <a:off x="6043270" y="28681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6043270" y="22547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113" name="Line 113"/>
          <p:cNvCxnSpPr/>
          <p:nvPr/>
        </p:nvCxnSpPr>
        <p:spPr>
          <a:xfrm>
            <a:off x="6610198" y="2346198"/>
            <a:ext cx="2990850" cy="1226820"/>
          </a:xfrm>
          <a:prstGeom prst="line">
            <a:avLst/>
          </a:prstGeom>
          <a:ln w="38100" cap="rnd">
            <a:solidFill>
              <a:srgbClr val="16171D"/>
            </a:solidFill>
          </a:ln>
        </p:spPr>
      </p:cxnSp>
      <p:sp>
        <p:nvSpPr>
          <p:cNvPr id="114" name="Shape 114"/>
          <p:cNvSpPr/>
          <p:nvPr/>
        </p:nvSpPr>
        <p:spPr>
          <a:xfrm>
            <a:off x="8053235" y="2907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5" name="Shape 115"/>
          <p:cNvSpPr txBox="1"/>
          <p:nvPr/>
        </p:nvSpPr>
        <p:spPr>
          <a:xfrm>
            <a:off x="8191348" y="27119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a:t>
            </a:r>
            <a:endParaRPr lang="en-US" sz="1125" dirty="0"/>
          </a:p>
        </p:txBody>
      </p:sp>
      <p:sp>
        <p:nvSpPr>
          <p:cNvPr id="116" name="Shape 116"/>
          <p:cNvSpPr/>
          <p:nvPr/>
        </p:nvSpPr>
        <p:spPr>
          <a:xfrm>
            <a:off x="8800948" y="3213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7" name="Shape 117"/>
          <p:cNvSpPr txBox="1"/>
          <p:nvPr/>
        </p:nvSpPr>
        <p:spPr>
          <a:xfrm>
            <a:off x="8939060" y="3018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a:t>
            </a:r>
            <a:endParaRPr lang="en-US" sz="1125" dirty="0"/>
          </a:p>
        </p:txBody>
      </p:sp>
      <p:sp>
        <p:nvSpPr>
          <p:cNvPr id="118" name="Shape 118"/>
          <p:cNvSpPr txBox="1"/>
          <p:nvPr/>
        </p:nvSpPr>
        <p:spPr>
          <a:xfrm>
            <a:off x="6286348" y="514273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9" name="Slide Number 1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6"/>
                                        </p:tgtEl>
                                        <p:attrNameLst>
                                          <p:attrName>style.visibility</p:attrName>
                                        </p:attrNameLst>
                                      </p:cBhvr>
                                      <p:to>
                                        <p:strVal val="visible"/>
                                      </p:to>
                                    </p:set>
                                    <p:animEffect transition="in" filter="fade">
                                      <p:cBhvr>
                                        <p:cTn id="4" dur="500"/>
                                        <p:tgtEl>
                                          <p:spTgt spid="66"/>
                                        </p:tgtEl>
                                      </p:cBhvr>
                                    </p:animEffect>
                                    <p:anim calcmode="lin" valueType="num">
                                      <p:cBhvr>
                                        <p:cTn id="5" dur="500" fill="hold"/>
                                        <p:tgtEl>
                                          <p:spTgt spid="66"/>
                                        </p:tgtEl>
                                        <p:attrNameLst>
                                          <p:attrName>ppt_w</p:attrName>
                                        </p:attrNameLst>
                                      </p:cBhvr>
                                      <p:tavLst>
                                        <p:tav tm="0">
                                          <p:val>
                                            <p:fltVal val="0"/>
                                          </p:val>
                                        </p:tav>
                                        <p:tav tm="100000">
                                          <p:val>
                                            <p:strVal val="#ppt_w"/>
                                          </p:val>
                                        </p:tav>
                                      </p:tavLst>
                                    </p:anim>
                                    <p:anim calcmode="lin" valueType="num">
                                      <p:cBhvr>
                                        <p:cTn id="6"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fade">
                                      <p:cBhvr>
                                        <p:cTn id="11" dur="500"/>
                                        <p:tgtEl>
                                          <p:spTgt spid="118"/>
                                        </p:tgtEl>
                                      </p:cBhvr>
                                    </p:animEffect>
                                    <p:anim calcmode="lin" valueType="num">
                                      <p:cBhvr>
                                        <p:cTn id="12" dur="500" fill="hold"/>
                                        <p:tgtEl>
                                          <p:spTgt spid="118"/>
                                        </p:tgtEl>
                                        <p:attrNameLst>
                                          <p:attrName>ppt_w</p:attrName>
                                        </p:attrNameLst>
                                      </p:cBhvr>
                                      <p:tavLst>
                                        <p:tav tm="0">
                                          <p:val>
                                            <p:fltVal val="0"/>
                                          </p:val>
                                        </p:tav>
                                        <p:tav tm="100000">
                                          <p:val>
                                            <p:strVal val="#ppt_w"/>
                                          </p:val>
                                        </p:tav>
                                      </p:tavLst>
                                    </p:anim>
                                    <p:anim calcmode="lin" valueType="num">
                                      <p:cBhvr>
                                        <p:cTn id="13" dur="500" fill="hold"/>
                                        <p:tgtEl>
                                          <p:spTgt spid="1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1 Assignment (SE pp. 285–286).</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46</Slides>
  <Notes>46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