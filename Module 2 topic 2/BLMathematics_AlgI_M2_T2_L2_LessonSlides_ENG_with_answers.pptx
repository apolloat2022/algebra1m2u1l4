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theme/theme2.xml" ContentType="application/vnd.openxmlformats-officedocument.theme+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3.xml" ContentType="application/vnd.openxmlformats-officedocument.theme+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62.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80" r:id="rId4"/>
    <p:sldMasterId id="2147483779" r:id="rId5"/>
    <p:sldMasterId id="2147483799" r:id="rId6"/>
    <p:sldMasterId id="2147483819" r:id="rId7"/>
  </p:sldMasterIdLst>
  <p:notesMasterIdLst>
    <p:notesMasterId r:id="rId69"/>
  </p:notesMasterIdLst>
  <p:sldIdLst>
    <p:sldId id="329" r:id="rId8"/>
    <p:sldId id="300" r:id="rId9"/>
    <p:sldId id="365" r:id="rId10"/>
    <p:sldId id="366" r:id="rId11"/>
    <p:sldId id="360" r:id="rId12"/>
    <p:sldId id="334" r:id="rId13"/>
    <p:sldId id="377" r:id="rId14"/>
    <p:sldId id="367" r:id="rId15"/>
    <p:sldId id="352" r:id="rId16"/>
    <p:sldId id="359" r:id="rId17"/>
    <p:sldId id="317" r:id="rId18"/>
    <p:sldId id="378" r:id="rId19"/>
    <p:sldId id="335" r:id="rId20"/>
    <p:sldId id="379" r:id="rId21"/>
    <p:sldId id="380" r:id="rId22"/>
    <p:sldId id="381" r:id="rId23"/>
    <p:sldId id="382" r:id="rId24"/>
    <p:sldId id="383" r:id="rId25"/>
    <p:sldId id="408" r:id="rId26"/>
    <p:sldId id="384" r:id="rId27"/>
    <p:sldId id="385" r:id="rId28"/>
    <p:sldId id="387" r:id="rId29"/>
    <p:sldId id="388" r:id="rId30"/>
    <p:sldId id="389" r:id="rId31"/>
    <p:sldId id="390" r:id="rId32"/>
    <p:sldId id="369" r:id="rId33"/>
    <p:sldId id="353" r:id="rId34"/>
    <p:sldId id="344" r:id="rId35"/>
    <p:sldId id="370" r:id="rId36"/>
    <p:sldId id="361" r:id="rId37"/>
    <p:sldId id="354" r:id="rId38"/>
    <p:sldId id="391" r:id="rId39"/>
    <p:sldId id="409" r:id="rId40"/>
    <p:sldId id="392" r:id="rId41"/>
    <p:sldId id="393" r:id="rId42"/>
    <p:sldId id="410" r:id="rId43"/>
    <p:sldId id="394" r:id="rId44"/>
    <p:sldId id="396" r:id="rId45"/>
    <p:sldId id="412" r:id="rId46"/>
    <p:sldId id="411" r:id="rId47"/>
    <p:sldId id="397" r:id="rId48"/>
    <p:sldId id="372" r:id="rId49"/>
    <p:sldId id="355" r:id="rId50"/>
    <p:sldId id="376" r:id="rId51"/>
    <p:sldId id="398" r:id="rId52"/>
    <p:sldId id="399" r:id="rId53"/>
    <p:sldId id="400" r:id="rId54"/>
    <p:sldId id="401" r:id="rId55"/>
    <p:sldId id="402" r:id="rId56"/>
    <p:sldId id="404" r:id="rId57"/>
    <p:sldId id="405" r:id="rId58"/>
    <p:sldId id="406" r:id="rId59"/>
    <p:sldId id="362" r:id="rId60"/>
    <p:sldId id="407" r:id="rId61"/>
    <p:sldId id="328" r:id="rId62"/>
    <p:sldId id="373" r:id="rId63"/>
    <p:sldId id="356" r:id="rId64"/>
    <p:sldId id="413" r:id="rId77"/>
    <p:sldId id="374" r:id="rId65"/>
    <p:sldId id="375" r:id="rId66"/>
    <p:sldId id="357" r:id="rId67"/>
    <p:sldId id="294" r:id="rId68"/>
  </p:sldIdLst>
  <p:sldSz cx="12190413"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4C325DA1-0459-4F8C-ADD2-2F71BA12DE8E}">
          <p14:sldIdLst>
            <p14:sldId id="329"/>
            <p14:sldId id="300"/>
            <p14:sldId id="365"/>
            <p14:sldId id="366"/>
            <p14:sldId id="360"/>
            <p14:sldId id="334"/>
            <p14:sldId id="377"/>
            <p14:sldId id="367"/>
            <p14:sldId id="352"/>
            <p14:sldId id="359"/>
            <p14:sldId id="317"/>
            <p14:sldId id="378"/>
            <p14:sldId id="335"/>
            <p14:sldId id="379"/>
            <p14:sldId id="380"/>
            <p14:sldId id="381"/>
            <p14:sldId id="382"/>
            <p14:sldId id="383"/>
            <p14:sldId id="408"/>
            <p14:sldId id="384"/>
            <p14:sldId id="385"/>
            <p14:sldId id="387"/>
            <p14:sldId id="388"/>
            <p14:sldId id="389"/>
            <p14:sldId id="390"/>
            <p14:sldId id="369"/>
            <p14:sldId id="353"/>
            <p14:sldId id="344"/>
            <p14:sldId id="370"/>
            <p14:sldId id="361"/>
            <p14:sldId id="354"/>
            <p14:sldId id="391"/>
            <p14:sldId id="409"/>
            <p14:sldId id="392"/>
            <p14:sldId id="393"/>
            <p14:sldId id="410"/>
            <p14:sldId id="394"/>
            <p14:sldId id="396"/>
            <p14:sldId id="412"/>
            <p14:sldId id="411"/>
            <p14:sldId id="397"/>
            <p14:sldId id="372"/>
            <p14:sldId id="355"/>
            <p14:sldId id="376"/>
            <p14:sldId id="398"/>
            <p14:sldId id="399"/>
            <p14:sldId id="400"/>
            <p14:sldId id="401"/>
            <p14:sldId id="402"/>
            <p14:sldId id="404"/>
            <p14:sldId id="405"/>
            <p14:sldId id="406"/>
            <p14:sldId id="362"/>
            <p14:sldId id="407"/>
            <p14:sldId id="328"/>
            <p14:sldId id="373"/>
            <p14:sldId id="356"/>
            <p14:sldId id="374"/>
            <p14:sldId id="375"/>
            <p14:sldId id="357"/>
            <p14:sldId id="294"/>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28DC81B-4C28-527E-885E-9B2AED89ECFE}" name="Melissa Elias" initials="ME" userId="S::Melissa.Elias@greatminds.org::e7d7a35f-474b-4e63-8079-946b19bb5503" providerId="AD"/>
  <p188:author id="{C99B7E20-C849-7B22-A7A7-103B5A04F691}" name="Seidman, Peter" initials="PS" userId="S::pseidman@pcgus.com::ff44f5d8-e3d0-428b-b9dd-4e94c9627a04" providerId="AD"/>
  <p188:author id="{86DFD92F-4DE3-A83D-6DF7-63FE6F0E1BD1}" name="Hanna, Whitney" initials="HW" userId="S::whanna@pcgus.com::3c096e95-afb8-40fa-be4f-086ecf1c96e8" providerId="AD"/>
  <p188:author id="{D9382532-E0D8-1FFA-47B6-DA50BC81D150}" name="Johnson, Todd" initials="TJ" userId="S::tjohnson@carnegielearning.com::1d57ac6d-5688-4915-9324-719f9ae41858" providerId="AD"/>
  <p188:author id="{065EFF33-37C5-A205-D5AA-889922E9D811}" name="Amanda Roose" initials="" userId="S::amanda.roose@greatminds.org::7db39d93-b694-49c7-b4bd-248f45df22ce" providerId="AD"/>
  <p188:author id="{988EB554-08BA-14AA-D6CF-C08243099DC1}" name="Gomez1, Lauren" initials="GL" userId="S::lauren.gomez1@tea.texas.gov::a90766d5-07f7-4ca5-8968-79b6619a6150" providerId="AD"/>
  <p188:author id="{002C6C79-BE9A-0D70-2E77-61ECDD33941B}" name="Hammock, Jenny" initials="JH" userId="S::jhammock@pcgus.com::15029899-d5e2-409a-961b-cfbdbd993f94" providerId="AD"/>
  <p188:author id="{C7BE2D7E-998E-A4E0-AD02-4BBA80009BAC}" name="Christina Ducoing" initials="CD" userId="S::Christina.Ducoing@greatminds.org::81b6c2ec-3d44-4fb5-ae4f-fe9b81a5cc7a" providerId="AD"/>
  <p188:author id="{94FF968A-DC53-8678-529B-6C704B5A2CA3}" name="Hanna, Whitney" initials="WH" userId="S::WHanna@pcgus.com::3c096e95-afb8-40fa-be4f-086ecf1c96e8" providerId="AD"/>
  <p188:author id="{11B319B1-D9A7-B492-301D-12240F429F30}" name="Hanna, Whitney" initials="HW" userId="S::whanna_pcgus.com#ext#@texasedu.onmicrosoft.com::7f18c26a-2264-4c3d-9f52-29dc121134d3" providerId="AD"/>
  <p188:author id="{B79159B2-0C77-EFD3-021B-B4143BBE19B1}" name="Christina Ducoing" initials="CD" userId="S::christina.ducoing@greatminds.org::81b6c2ec-3d44-4fb5-ae4f-fe9b81a5cc7a" providerId="AD"/>
  <p188:author id="{66455CB8-CF59-3D20-181D-433FF248BDED}" name="Smart, Martha" initials="SM" userId="S::martha.smart@tea.texas.gov::f37755a5-ea91-4589-9c56-edd64412883a" providerId="AD"/>
  <p188:author id="{D3473FEC-4EDE-E801-D969-22C5DB952E2C}" name="Bala, Kelly" initials="BK" userId="S::kelly.bala@tea.texas.gov::ca818e28-acbd-4039-adec-acd623c9d087"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2B8147"/>
    <a:srgbClr val="236739"/>
    <a:srgbClr val="0084AC"/>
    <a:srgbClr val="61449B"/>
    <a:srgbClr val="143965"/>
    <a:srgbClr val="008F4C"/>
    <a:srgbClr val="242E61"/>
    <a:srgbClr val="1449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E4A7CE2-B153-4B2E-B201-4D63A2A52BE4}" v="1" dt="2025-05-28T18:58:27.48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MasterView">
  <p:normalViewPr>
    <p:restoredLeft sz="20794" autoAdjust="0"/>
    <p:restoredTop sz="75644" autoAdjust="0"/>
  </p:normalViewPr>
  <p:slideViewPr>
    <p:cSldViewPr snapToGrid="0">
      <p:cViewPr varScale="1">
        <p:scale>
          <a:sx n="69" d="100"/>
          <a:sy n="69" d="100"/>
        </p:scale>
        <p:origin x="703" y="19"/>
      </p:cViewPr>
      <p:guideLst>
        <p:guide orient="horz" pos="2160"/>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38100" cy="38100"/>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slide" Target="slides/slide32.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slide" Target="slides/slide35.xml"/><Relationship Id="rId47" Type="http://schemas.openxmlformats.org/officeDocument/2006/relationships/slide" Target="slides/slide40.xml"/><Relationship Id="rId50" Type="http://schemas.openxmlformats.org/officeDocument/2006/relationships/slide" Target="slides/slide43.xml"/><Relationship Id="rId55" Type="http://schemas.openxmlformats.org/officeDocument/2006/relationships/slide" Target="slides/slide48.xml"/><Relationship Id="rId63" Type="http://schemas.openxmlformats.org/officeDocument/2006/relationships/slide" Target="slides/slide56.xml"/><Relationship Id="rId68" Type="http://schemas.openxmlformats.org/officeDocument/2006/relationships/slide" Target="slides/slide61.xml"/><Relationship Id="rId76" Type="http://schemas.microsoft.com/office/2018/10/relationships/authors" Target="authors.xml"/><Relationship Id="rId7" Type="http://schemas.openxmlformats.org/officeDocument/2006/relationships/slideMaster" Target="slideMasters/slideMaster4.xml"/><Relationship Id="rId71"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9.xml"/><Relationship Id="rId29" Type="http://schemas.openxmlformats.org/officeDocument/2006/relationships/slide" Target="slides/slide22.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slide" Target="slides/slide38.xml"/><Relationship Id="rId53" Type="http://schemas.openxmlformats.org/officeDocument/2006/relationships/slide" Target="slides/slide46.xml"/><Relationship Id="rId58" Type="http://schemas.openxmlformats.org/officeDocument/2006/relationships/slide" Target="slides/slide51.xml"/><Relationship Id="rId66" Type="http://schemas.openxmlformats.org/officeDocument/2006/relationships/slide" Target="slides/slide59.xml"/><Relationship Id="rId74" Type="http://schemas.microsoft.com/office/2016/11/relationships/changesInfo" Target="changesInfos/changesInfo1.xml"/><Relationship Id="rId5" Type="http://schemas.openxmlformats.org/officeDocument/2006/relationships/slideMaster" Target="slideMasters/slideMaster2.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49" Type="http://schemas.openxmlformats.org/officeDocument/2006/relationships/slide" Target="slides/slide42.xml"/><Relationship Id="rId57" Type="http://schemas.openxmlformats.org/officeDocument/2006/relationships/slide" Target="slides/slide50.xml"/><Relationship Id="rId61" Type="http://schemas.openxmlformats.org/officeDocument/2006/relationships/slide" Target="slides/slide54.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slide" Target="slides/slide24.xml"/><Relationship Id="rId44" Type="http://schemas.openxmlformats.org/officeDocument/2006/relationships/slide" Target="slides/slide37.xml"/><Relationship Id="rId52" Type="http://schemas.openxmlformats.org/officeDocument/2006/relationships/slide" Target="slides/slide45.xml"/><Relationship Id="rId60" Type="http://schemas.openxmlformats.org/officeDocument/2006/relationships/slide" Target="slides/slide53.xml"/><Relationship Id="rId65" Type="http://schemas.openxmlformats.org/officeDocument/2006/relationships/slide" Target="slides/slide58.xml"/><Relationship Id="rId7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slide" Target="slides/slide36.xml"/><Relationship Id="rId48" Type="http://schemas.openxmlformats.org/officeDocument/2006/relationships/slide" Target="slides/slide41.xml"/><Relationship Id="rId56" Type="http://schemas.openxmlformats.org/officeDocument/2006/relationships/slide" Target="slides/slide49.xml"/><Relationship Id="rId64" Type="http://schemas.openxmlformats.org/officeDocument/2006/relationships/slide" Target="slides/slide57.xml"/><Relationship Id="rId69" Type="http://schemas.openxmlformats.org/officeDocument/2006/relationships/notesMaster" Target="notesMasters/notesMaster1.xml"/><Relationship Id="rId8" Type="http://schemas.openxmlformats.org/officeDocument/2006/relationships/slide" Target="slides/slide1.xml"/><Relationship Id="rId51" Type="http://schemas.openxmlformats.org/officeDocument/2006/relationships/slide" Target="slides/slide44.xml"/><Relationship Id="rId72"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slide" Target="slides/slide39.xml"/><Relationship Id="rId59" Type="http://schemas.openxmlformats.org/officeDocument/2006/relationships/slide" Target="slides/slide52.xml"/><Relationship Id="rId67" Type="http://schemas.openxmlformats.org/officeDocument/2006/relationships/slide" Target="slides/slide60.xml"/><Relationship Id="rId20" Type="http://schemas.openxmlformats.org/officeDocument/2006/relationships/slide" Target="slides/slide13.xml"/><Relationship Id="rId41" Type="http://schemas.openxmlformats.org/officeDocument/2006/relationships/slide" Target="slides/slide34.xml"/><Relationship Id="rId54" Type="http://schemas.openxmlformats.org/officeDocument/2006/relationships/slide" Target="slides/slide47.xml"/><Relationship Id="rId62" Type="http://schemas.openxmlformats.org/officeDocument/2006/relationships/slide" Target="slides/slide55.xml"/><Relationship Id="rId70" Type="http://schemas.openxmlformats.org/officeDocument/2006/relationships/presProps" Target="presProps.xml"/><Relationship Id="rId75"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Master" Target="slideMasters/slideMaster3.xml"/><Relationship Id="rId77" Type="http://schemas.openxmlformats.org/officeDocument/2006/relationships/slide" Target="slides/slide6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oyer Montague, Kristina" userId="63c103e5-6141-480e-825f-260f173eba02" providerId="ADAL" clId="{DB667FBF-40D6-4E72-AFB3-73EC1C44D795}"/>
    <pc:docChg chg="modSld">
      <pc:chgData name="Moyer Montague, Kristina" userId="63c103e5-6141-480e-825f-260f173eba02" providerId="ADAL" clId="{DB667FBF-40D6-4E72-AFB3-73EC1C44D795}" dt="2025-05-07T13:43:28.974" v="4" actId="20577"/>
      <pc:docMkLst>
        <pc:docMk/>
      </pc:docMkLst>
      <pc:sldChg chg="modNotesTx">
        <pc:chgData name="Moyer Montague, Kristina" userId="63c103e5-6141-480e-825f-260f173eba02" providerId="ADAL" clId="{DB667FBF-40D6-4E72-AFB3-73EC1C44D795}" dt="2025-05-07T13:43:28.974" v="4" actId="20577"/>
        <pc:sldMkLst>
          <pc:docMk/>
          <pc:sldMk cId="4005883567" sldId="369"/>
        </pc:sldMkLst>
      </pc:sldChg>
      <pc:sldChg chg="modSp mod">
        <pc:chgData name="Moyer Montague, Kristina" userId="63c103e5-6141-480e-825f-260f173eba02" providerId="ADAL" clId="{DB667FBF-40D6-4E72-AFB3-73EC1C44D795}" dt="2025-05-07T13:39:14.835" v="3" actId="20577"/>
        <pc:sldMkLst>
          <pc:docMk/>
          <pc:sldMk cId="3817863117" sldId="385"/>
        </pc:sldMkLst>
        <pc:spChg chg="mod">
          <ac:chgData name="Moyer Montague, Kristina" userId="63c103e5-6141-480e-825f-260f173eba02" providerId="ADAL" clId="{DB667FBF-40D6-4E72-AFB3-73EC1C44D795}" dt="2025-05-07T13:39:14.835" v="3" actId="20577"/>
          <ac:spMkLst>
            <pc:docMk/>
            <pc:sldMk cId="3817863117" sldId="385"/>
            <ac:spMk id="9" creationId="{60ED846D-150F-C573-18D0-0BE21C5ADB52}"/>
          </ac:spMkLst>
        </pc:spChg>
      </pc:sldChg>
    </pc:docChg>
  </pc:docChgLst>
  <pc:docChgLst>
    <pc:chgData name="Holland, Karrie" userId="23868a2e-e05c-4e18-9f80-537fd2a8fbe7" providerId="ADAL" clId="{A422843B-A0BC-4DE7-A2C6-5A768710AC41}"/>
    <pc:docChg chg="undo custSel addSld delSld modSld sldOrd modSection">
      <pc:chgData name="Holland, Karrie" userId="23868a2e-e05c-4e18-9f80-537fd2a8fbe7" providerId="ADAL" clId="{A422843B-A0BC-4DE7-A2C6-5A768710AC41}" dt="2025-04-02T03:23:41.350" v="3339" actId="20577"/>
      <pc:docMkLst>
        <pc:docMk/>
      </pc:docMkLst>
      <pc:sldChg chg="modSp mod">
        <pc:chgData name="Holland, Karrie" userId="23868a2e-e05c-4e18-9f80-537fd2a8fbe7" providerId="ADAL" clId="{A422843B-A0BC-4DE7-A2C6-5A768710AC41}" dt="2025-04-02T03:23:41.350" v="3339" actId="20577"/>
        <pc:sldMkLst>
          <pc:docMk/>
          <pc:sldMk cId="1308572728" sldId="294"/>
        </pc:sldMkLst>
        <pc:spChg chg="mod">
          <ac:chgData name="Holland, Karrie" userId="23868a2e-e05c-4e18-9f80-537fd2a8fbe7" providerId="ADAL" clId="{A422843B-A0BC-4DE7-A2C6-5A768710AC41}" dt="2025-04-02T03:23:41.350" v="3339" actId="20577"/>
          <ac:spMkLst>
            <pc:docMk/>
            <pc:sldMk cId="1308572728" sldId="294"/>
            <ac:spMk id="2" creationId="{F405E585-903C-AE75-891E-98E899BA927D}"/>
          </ac:spMkLst>
        </pc:spChg>
      </pc:sldChg>
      <pc:sldChg chg="modSp mod modNotesTx">
        <pc:chgData name="Holland, Karrie" userId="23868a2e-e05c-4e18-9f80-537fd2a8fbe7" providerId="ADAL" clId="{A422843B-A0BC-4DE7-A2C6-5A768710AC41}" dt="2025-04-01T18:58:19.738" v="170" actId="20577"/>
        <pc:sldMkLst>
          <pc:docMk/>
          <pc:sldMk cId="3398606512" sldId="300"/>
        </pc:sldMkLst>
        <pc:spChg chg="mod">
          <ac:chgData name="Holland, Karrie" userId="23868a2e-e05c-4e18-9f80-537fd2a8fbe7" providerId="ADAL" clId="{A422843B-A0BC-4DE7-A2C6-5A768710AC41}" dt="2025-04-01T18:53:04.454" v="116" actId="6549"/>
          <ac:spMkLst>
            <pc:docMk/>
            <pc:sldMk cId="3398606512" sldId="300"/>
            <ac:spMk id="4" creationId="{7B3EF6D6-21DA-06B8-522B-BDF27854BF2C}"/>
          </ac:spMkLst>
        </pc:spChg>
      </pc:sldChg>
      <pc:sldChg chg="addSp delSp modSp mod modNotesTx">
        <pc:chgData name="Holland, Karrie" userId="23868a2e-e05c-4e18-9f80-537fd2a8fbe7" providerId="ADAL" clId="{A422843B-A0BC-4DE7-A2C6-5A768710AC41}" dt="2025-04-02T02:49:23.120" v="2721" actId="255"/>
        <pc:sldMkLst>
          <pc:docMk/>
          <pc:sldMk cId="4113801324" sldId="317"/>
        </pc:sldMkLst>
        <pc:spChg chg="add mod">
          <ac:chgData name="Holland, Karrie" userId="23868a2e-e05c-4e18-9f80-537fd2a8fbe7" providerId="ADAL" clId="{A422843B-A0BC-4DE7-A2C6-5A768710AC41}" dt="2025-04-01T21:01:17.647" v="881" actId="14100"/>
          <ac:spMkLst>
            <pc:docMk/>
            <pc:sldMk cId="4113801324" sldId="317"/>
            <ac:spMk id="2" creationId="{14F741DA-13F4-54D4-AB4A-FC46710ED29D}"/>
          </ac:spMkLst>
        </pc:spChg>
        <pc:spChg chg="mod">
          <ac:chgData name="Holland, Karrie" userId="23868a2e-e05c-4e18-9f80-537fd2a8fbe7" providerId="ADAL" clId="{A422843B-A0BC-4DE7-A2C6-5A768710AC41}" dt="2025-04-02T02:49:23.120" v="2721" actId="255"/>
          <ac:spMkLst>
            <pc:docMk/>
            <pc:sldMk cId="4113801324" sldId="317"/>
            <ac:spMk id="4" creationId="{149FA50D-5DB0-765E-2A80-183E705A899F}"/>
          </ac:spMkLst>
        </pc:spChg>
        <pc:spChg chg="add mod">
          <ac:chgData name="Holland, Karrie" userId="23868a2e-e05c-4e18-9f80-537fd2a8fbe7" providerId="ADAL" clId="{A422843B-A0BC-4DE7-A2C6-5A768710AC41}" dt="2025-04-01T21:01:51.167" v="892" actId="1037"/>
          <ac:spMkLst>
            <pc:docMk/>
            <pc:sldMk cId="4113801324" sldId="317"/>
            <ac:spMk id="8" creationId="{9950399A-4CF0-B573-06FA-33DDD0229D5C}"/>
          </ac:spMkLst>
        </pc:spChg>
        <pc:spChg chg="mod">
          <ac:chgData name="Holland, Karrie" userId="23868a2e-e05c-4e18-9f80-537fd2a8fbe7" providerId="ADAL" clId="{A422843B-A0BC-4DE7-A2C6-5A768710AC41}" dt="2025-04-01T20:55:38.488" v="831" actId="255"/>
          <ac:spMkLst>
            <pc:docMk/>
            <pc:sldMk cId="4113801324" sldId="317"/>
            <ac:spMk id="9" creationId="{AEE2E1EC-37FF-202A-334C-24D7800D23D2}"/>
          </ac:spMkLst>
        </pc:spChg>
        <pc:picChg chg="add mod">
          <ac:chgData name="Holland, Karrie" userId="23868a2e-e05c-4e18-9f80-537fd2a8fbe7" providerId="ADAL" clId="{A422843B-A0BC-4DE7-A2C6-5A768710AC41}" dt="2025-04-01T20:56:02.390" v="842" actId="1036"/>
          <ac:picMkLst>
            <pc:docMk/>
            <pc:sldMk cId="4113801324" sldId="317"/>
            <ac:picMk id="5" creationId="{C55B2E17-FE55-E5C3-D533-EE3957144B61}"/>
          </ac:picMkLst>
        </pc:picChg>
      </pc:sldChg>
      <pc:sldChg chg="addSp delSp modSp mod modNotesTx">
        <pc:chgData name="Holland, Karrie" userId="23868a2e-e05c-4e18-9f80-537fd2a8fbe7" providerId="ADAL" clId="{A422843B-A0BC-4DE7-A2C6-5A768710AC41}" dt="2025-04-02T03:10:02.456" v="3163" actId="255"/>
        <pc:sldMkLst>
          <pc:docMk/>
          <pc:sldMk cId="1043301982" sldId="328"/>
        </pc:sldMkLst>
        <pc:spChg chg="mod">
          <ac:chgData name="Holland, Karrie" userId="23868a2e-e05c-4e18-9f80-537fd2a8fbe7" providerId="ADAL" clId="{A422843B-A0BC-4DE7-A2C6-5A768710AC41}" dt="2025-04-02T03:10:02.456" v="3163" actId="255"/>
          <ac:spMkLst>
            <pc:docMk/>
            <pc:sldMk cId="1043301982" sldId="328"/>
            <ac:spMk id="4" creationId="{C2450E22-BA7A-1EB0-C485-009C18ABD8EA}"/>
          </ac:spMkLst>
        </pc:spChg>
        <pc:spChg chg="mod">
          <ac:chgData name="Holland, Karrie" userId="23868a2e-e05c-4e18-9f80-537fd2a8fbe7" providerId="ADAL" clId="{A422843B-A0BC-4DE7-A2C6-5A768710AC41}" dt="2025-04-02T03:08:21.973" v="3145" actId="114"/>
          <ac:spMkLst>
            <pc:docMk/>
            <pc:sldMk cId="1043301982" sldId="328"/>
            <ac:spMk id="9" creationId="{55FC3408-36F1-2592-27C5-DCE179EDDB16}"/>
          </ac:spMkLst>
        </pc:spChg>
      </pc:sldChg>
      <pc:sldChg chg="modSp mod">
        <pc:chgData name="Holland, Karrie" userId="23868a2e-e05c-4e18-9f80-537fd2a8fbe7" providerId="ADAL" clId="{A422843B-A0BC-4DE7-A2C6-5A768710AC41}" dt="2025-04-01T18:49:16.816" v="33" actId="1036"/>
        <pc:sldMkLst>
          <pc:docMk/>
          <pc:sldMk cId="2181925416" sldId="329"/>
        </pc:sldMkLst>
        <pc:spChg chg="mod">
          <ac:chgData name="Holland, Karrie" userId="23868a2e-e05c-4e18-9f80-537fd2a8fbe7" providerId="ADAL" clId="{A422843B-A0BC-4DE7-A2C6-5A768710AC41}" dt="2025-04-01T18:43:00.857" v="5" actId="20577"/>
          <ac:spMkLst>
            <pc:docMk/>
            <pc:sldMk cId="2181925416" sldId="329"/>
            <ac:spMk id="4" creationId="{C4BC507F-0143-6704-9C2B-18134FD88522}"/>
          </ac:spMkLst>
        </pc:spChg>
        <pc:spChg chg="mod">
          <ac:chgData name="Holland, Karrie" userId="23868a2e-e05c-4e18-9f80-537fd2a8fbe7" providerId="ADAL" clId="{A422843B-A0BC-4DE7-A2C6-5A768710AC41}" dt="2025-04-01T18:49:16.816" v="33" actId="1036"/>
          <ac:spMkLst>
            <pc:docMk/>
            <pc:sldMk cId="2181925416" sldId="329"/>
            <ac:spMk id="9" creationId="{9F3F9AB4-72EE-E557-D442-1A774A8F85C1}"/>
          </ac:spMkLst>
        </pc:spChg>
      </pc:sldChg>
      <pc:sldChg chg="modSp del mod">
        <pc:chgData name="Holland, Karrie" userId="23868a2e-e05c-4e18-9f80-537fd2a8fbe7" providerId="ADAL" clId="{A422843B-A0BC-4DE7-A2C6-5A768710AC41}" dt="2025-04-01T20:28:58.808" v="464" actId="47"/>
        <pc:sldMkLst>
          <pc:docMk/>
          <pc:sldMk cId="4047395165" sldId="333"/>
        </pc:sldMkLst>
      </pc:sldChg>
      <pc:sldChg chg="addSp modSp mod modNotesTx">
        <pc:chgData name="Holland, Karrie" userId="23868a2e-e05c-4e18-9f80-537fd2a8fbe7" providerId="ADAL" clId="{A422843B-A0BC-4DE7-A2C6-5A768710AC41}" dt="2025-04-01T20:31:44.618" v="638" actId="255"/>
        <pc:sldMkLst>
          <pc:docMk/>
          <pc:sldMk cId="2582309794" sldId="334"/>
        </pc:sldMkLst>
        <pc:spChg chg="add mod">
          <ac:chgData name="Holland, Karrie" userId="23868a2e-e05c-4e18-9f80-537fd2a8fbe7" providerId="ADAL" clId="{A422843B-A0BC-4DE7-A2C6-5A768710AC41}" dt="2025-04-01T20:21:55.052" v="417" actId="14100"/>
          <ac:spMkLst>
            <pc:docMk/>
            <pc:sldMk cId="2582309794" sldId="334"/>
            <ac:spMk id="2" creationId="{3481816B-0AB6-B7C3-67C6-B5D422E2A58E}"/>
          </ac:spMkLst>
        </pc:spChg>
        <pc:spChg chg="mod">
          <ac:chgData name="Holland, Karrie" userId="23868a2e-e05c-4e18-9f80-537fd2a8fbe7" providerId="ADAL" clId="{A422843B-A0BC-4DE7-A2C6-5A768710AC41}" dt="2025-04-01T20:31:44.618" v="638" actId="255"/>
          <ac:spMkLst>
            <pc:docMk/>
            <pc:sldMk cId="2582309794" sldId="334"/>
            <ac:spMk id="4" creationId="{C962E77F-B1D6-40AE-592B-5BAB37399846}"/>
          </ac:spMkLst>
        </pc:spChg>
        <pc:spChg chg="mod">
          <ac:chgData name="Holland, Karrie" userId="23868a2e-e05c-4e18-9f80-537fd2a8fbe7" providerId="ADAL" clId="{A422843B-A0BC-4DE7-A2C6-5A768710AC41}" dt="2025-04-01T20:17:05.101" v="409" actId="20577"/>
          <ac:spMkLst>
            <pc:docMk/>
            <pc:sldMk cId="2582309794" sldId="334"/>
            <ac:spMk id="9" creationId="{88A40426-95CC-EF9E-540F-D1B1DE38C8D6}"/>
          </ac:spMkLst>
        </pc:spChg>
        <pc:picChg chg="add mod">
          <ac:chgData name="Holland, Karrie" userId="23868a2e-e05c-4e18-9f80-537fd2a8fbe7" providerId="ADAL" clId="{A422843B-A0BC-4DE7-A2C6-5A768710AC41}" dt="2025-04-01T20:21:58.560" v="426" actId="1036"/>
          <ac:picMkLst>
            <pc:docMk/>
            <pc:sldMk cId="2582309794" sldId="334"/>
            <ac:picMk id="6" creationId="{4B431B2F-302D-41F7-03F4-A9D2AA29A29A}"/>
          </ac:picMkLst>
        </pc:picChg>
      </pc:sldChg>
      <pc:sldChg chg="addSp delSp modSp mod ord modNotesTx">
        <pc:chgData name="Holland, Karrie" userId="23868a2e-e05c-4e18-9f80-537fd2a8fbe7" providerId="ADAL" clId="{A422843B-A0BC-4DE7-A2C6-5A768710AC41}" dt="2025-04-02T02:49:58.291" v="2731" actId="255"/>
        <pc:sldMkLst>
          <pc:docMk/>
          <pc:sldMk cId="3900736815" sldId="335"/>
        </pc:sldMkLst>
        <pc:spChg chg="mod">
          <ac:chgData name="Holland, Karrie" userId="23868a2e-e05c-4e18-9f80-537fd2a8fbe7" providerId="ADAL" clId="{A422843B-A0BC-4DE7-A2C6-5A768710AC41}" dt="2025-04-02T02:49:58.291" v="2731" actId="255"/>
          <ac:spMkLst>
            <pc:docMk/>
            <pc:sldMk cId="3900736815" sldId="335"/>
            <ac:spMk id="4" creationId="{AE02C674-4E27-96CA-0E0F-7F8305F3BAE0}"/>
          </ac:spMkLst>
        </pc:spChg>
        <pc:spChg chg="mod">
          <ac:chgData name="Holland, Karrie" userId="23868a2e-e05c-4e18-9f80-537fd2a8fbe7" providerId="ADAL" clId="{A422843B-A0BC-4DE7-A2C6-5A768710AC41}" dt="2025-04-01T21:10:37.358" v="919"/>
          <ac:spMkLst>
            <pc:docMk/>
            <pc:sldMk cId="3900736815" sldId="335"/>
            <ac:spMk id="9" creationId="{5E39975E-3E22-4C65-6D1F-F0848B17DE15}"/>
          </ac:spMkLst>
        </pc:spChg>
        <pc:picChg chg="add mod">
          <ac:chgData name="Holland, Karrie" userId="23868a2e-e05c-4e18-9f80-537fd2a8fbe7" providerId="ADAL" clId="{A422843B-A0BC-4DE7-A2C6-5A768710AC41}" dt="2025-04-01T21:08:46.063" v="908" actId="1076"/>
          <ac:picMkLst>
            <pc:docMk/>
            <pc:sldMk cId="3900736815" sldId="335"/>
            <ac:picMk id="5" creationId="{04A645F1-E207-350D-E527-D5B808F74C4D}"/>
          </ac:picMkLst>
        </pc:picChg>
      </pc:sldChg>
      <pc:sldChg chg="del">
        <pc:chgData name="Holland, Karrie" userId="23868a2e-e05c-4e18-9f80-537fd2a8fbe7" providerId="ADAL" clId="{A422843B-A0BC-4DE7-A2C6-5A768710AC41}" dt="2025-04-01T23:57:04.297" v="1758" actId="47"/>
        <pc:sldMkLst>
          <pc:docMk/>
          <pc:sldMk cId="2017961409" sldId="336"/>
        </pc:sldMkLst>
      </pc:sldChg>
      <pc:sldChg chg="modSp del mod">
        <pc:chgData name="Holland, Karrie" userId="23868a2e-e05c-4e18-9f80-537fd2a8fbe7" providerId="ADAL" clId="{A422843B-A0BC-4DE7-A2C6-5A768710AC41}" dt="2025-04-01T23:57:01.228" v="1757" actId="47"/>
        <pc:sldMkLst>
          <pc:docMk/>
          <pc:sldMk cId="1878611190" sldId="337"/>
        </pc:sldMkLst>
      </pc:sldChg>
      <pc:sldChg chg="del">
        <pc:chgData name="Holland, Karrie" userId="23868a2e-e05c-4e18-9f80-537fd2a8fbe7" providerId="ADAL" clId="{A422843B-A0BC-4DE7-A2C6-5A768710AC41}" dt="2025-04-01T23:57:07.162" v="1759" actId="47"/>
        <pc:sldMkLst>
          <pc:docMk/>
          <pc:sldMk cId="1287900711" sldId="338"/>
        </pc:sldMkLst>
      </pc:sldChg>
      <pc:sldChg chg="del">
        <pc:chgData name="Holland, Karrie" userId="23868a2e-e05c-4e18-9f80-537fd2a8fbe7" providerId="ADAL" clId="{A422843B-A0BC-4DE7-A2C6-5A768710AC41}" dt="2025-04-01T23:57:09.550" v="1760" actId="47"/>
        <pc:sldMkLst>
          <pc:docMk/>
          <pc:sldMk cId="1375409818" sldId="339"/>
        </pc:sldMkLst>
      </pc:sldChg>
      <pc:sldChg chg="del">
        <pc:chgData name="Holland, Karrie" userId="23868a2e-e05c-4e18-9f80-537fd2a8fbe7" providerId="ADAL" clId="{A422843B-A0BC-4DE7-A2C6-5A768710AC41}" dt="2025-04-01T23:57:11.493" v="1761" actId="47"/>
        <pc:sldMkLst>
          <pc:docMk/>
          <pc:sldMk cId="2134959916" sldId="340"/>
        </pc:sldMkLst>
      </pc:sldChg>
      <pc:sldChg chg="del">
        <pc:chgData name="Holland, Karrie" userId="23868a2e-e05c-4e18-9f80-537fd2a8fbe7" providerId="ADAL" clId="{A422843B-A0BC-4DE7-A2C6-5A768710AC41}" dt="2025-04-01T23:57:13.527" v="1762" actId="47"/>
        <pc:sldMkLst>
          <pc:docMk/>
          <pc:sldMk cId="2412015448" sldId="341"/>
        </pc:sldMkLst>
      </pc:sldChg>
      <pc:sldChg chg="del">
        <pc:chgData name="Holland, Karrie" userId="23868a2e-e05c-4e18-9f80-537fd2a8fbe7" providerId="ADAL" clId="{A422843B-A0BC-4DE7-A2C6-5A768710AC41}" dt="2025-04-01T23:57:17.217" v="1763" actId="47"/>
        <pc:sldMkLst>
          <pc:docMk/>
          <pc:sldMk cId="3004777309" sldId="342"/>
        </pc:sldMkLst>
      </pc:sldChg>
      <pc:sldChg chg="del">
        <pc:chgData name="Holland, Karrie" userId="23868a2e-e05c-4e18-9f80-537fd2a8fbe7" providerId="ADAL" clId="{A422843B-A0BC-4DE7-A2C6-5A768710AC41}" dt="2025-04-01T23:57:19.009" v="1764" actId="47"/>
        <pc:sldMkLst>
          <pc:docMk/>
          <pc:sldMk cId="3770333139" sldId="343"/>
        </pc:sldMkLst>
      </pc:sldChg>
      <pc:sldChg chg="del">
        <pc:chgData name="Holland, Karrie" userId="23868a2e-e05c-4e18-9f80-537fd2a8fbe7" providerId="ADAL" clId="{A422843B-A0BC-4DE7-A2C6-5A768710AC41}" dt="2025-04-02T01:54:19.433" v="2138" actId="47"/>
        <pc:sldMkLst>
          <pc:docMk/>
          <pc:sldMk cId="3324157561" sldId="346"/>
        </pc:sldMkLst>
      </pc:sldChg>
      <pc:sldChg chg="del">
        <pc:chgData name="Holland, Karrie" userId="23868a2e-e05c-4e18-9f80-537fd2a8fbe7" providerId="ADAL" clId="{A422843B-A0BC-4DE7-A2C6-5A768710AC41}" dt="2025-04-02T01:55:45.178" v="2151" actId="47"/>
        <pc:sldMkLst>
          <pc:docMk/>
          <pc:sldMk cId="479976609" sldId="347"/>
        </pc:sldMkLst>
      </pc:sldChg>
      <pc:sldChg chg="del">
        <pc:chgData name="Holland, Karrie" userId="23868a2e-e05c-4e18-9f80-537fd2a8fbe7" providerId="ADAL" clId="{A422843B-A0BC-4DE7-A2C6-5A768710AC41}" dt="2025-04-02T03:12:52.897" v="3186" actId="47"/>
        <pc:sldMkLst>
          <pc:docMk/>
          <pc:sldMk cId="2834297349" sldId="348"/>
        </pc:sldMkLst>
      </pc:sldChg>
      <pc:sldChg chg="del">
        <pc:chgData name="Holland, Karrie" userId="23868a2e-e05c-4e18-9f80-537fd2a8fbe7" providerId="ADAL" clId="{A422843B-A0BC-4DE7-A2C6-5A768710AC41}" dt="2025-04-02T03:12:51.219" v="3185" actId="47"/>
        <pc:sldMkLst>
          <pc:docMk/>
          <pc:sldMk cId="1543079436" sldId="349"/>
        </pc:sldMkLst>
      </pc:sldChg>
      <pc:sldChg chg="del">
        <pc:chgData name="Holland, Karrie" userId="23868a2e-e05c-4e18-9f80-537fd2a8fbe7" providerId="ADAL" clId="{A422843B-A0BC-4DE7-A2C6-5A768710AC41}" dt="2025-04-02T03:09:18.356" v="3146" actId="47"/>
        <pc:sldMkLst>
          <pc:docMk/>
          <pc:sldMk cId="70171344" sldId="350"/>
        </pc:sldMkLst>
      </pc:sldChg>
      <pc:sldChg chg="modSp mod">
        <pc:chgData name="Holland, Karrie" userId="23868a2e-e05c-4e18-9f80-537fd2a8fbe7" providerId="ADAL" clId="{A422843B-A0BC-4DE7-A2C6-5A768710AC41}" dt="2025-04-01T20:32:29.624" v="653" actId="255"/>
        <pc:sldMkLst>
          <pc:docMk/>
          <pc:sldMk cId="2743475236" sldId="352"/>
        </pc:sldMkLst>
        <pc:spChg chg="mod">
          <ac:chgData name="Holland, Karrie" userId="23868a2e-e05c-4e18-9f80-537fd2a8fbe7" providerId="ADAL" clId="{A422843B-A0BC-4DE7-A2C6-5A768710AC41}" dt="2025-04-01T20:32:29.624" v="653" actId="255"/>
          <ac:spMkLst>
            <pc:docMk/>
            <pc:sldMk cId="2743475236" sldId="352"/>
            <ac:spMk id="4" creationId="{BFA00826-C6A3-00C8-7B57-63206214E632}"/>
          </ac:spMkLst>
        </pc:spChg>
      </pc:sldChg>
      <pc:sldChg chg="modSp mod">
        <pc:chgData name="Holland, Karrie" userId="23868a2e-e05c-4e18-9f80-537fd2a8fbe7" providerId="ADAL" clId="{A422843B-A0BC-4DE7-A2C6-5A768710AC41}" dt="2025-04-02T02:54:55.278" v="2796" actId="255"/>
        <pc:sldMkLst>
          <pc:docMk/>
          <pc:sldMk cId="2888071867" sldId="353"/>
        </pc:sldMkLst>
        <pc:spChg chg="mod">
          <ac:chgData name="Holland, Karrie" userId="23868a2e-e05c-4e18-9f80-537fd2a8fbe7" providerId="ADAL" clId="{A422843B-A0BC-4DE7-A2C6-5A768710AC41}" dt="2025-04-02T02:54:55.278" v="2796" actId="255"/>
          <ac:spMkLst>
            <pc:docMk/>
            <pc:sldMk cId="2888071867" sldId="353"/>
            <ac:spMk id="4" creationId="{431D3B88-0F9E-47D9-4A39-F7295D961309}"/>
          </ac:spMkLst>
        </pc:spChg>
      </pc:sldChg>
      <pc:sldChg chg="addSp delSp modSp mod modNotesTx">
        <pc:chgData name="Holland, Karrie" userId="23868a2e-e05c-4e18-9f80-537fd2a8fbe7" providerId="ADAL" clId="{A422843B-A0BC-4DE7-A2C6-5A768710AC41}" dt="2025-04-02T02:17:57.082" v="2300" actId="255"/>
        <pc:sldMkLst>
          <pc:docMk/>
          <pc:sldMk cId="3407321271" sldId="354"/>
        </pc:sldMkLst>
        <pc:spChg chg="mod">
          <ac:chgData name="Holland, Karrie" userId="23868a2e-e05c-4e18-9f80-537fd2a8fbe7" providerId="ADAL" clId="{A422843B-A0BC-4DE7-A2C6-5A768710AC41}" dt="2025-04-02T02:17:57.082" v="2300" actId="255"/>
          <ac:spMkLst>
            <pc:docMk/>
            <pc:sldMk cId="3407321271" sldId="354"/>
            <ac:spMk id="4" creationId="{D383C9EA-1C4E-4C57-E6F2-D4F4B147F14B}"/>
          </ac:spMkLst>
        </pc:spChg>
        <pc:spChg chg="mod">
          <ac:chgData name="Holland, Karrie" userId="23868a2e-e05c-4e18-9f80-537fd2a8fbe7" providerId="ADAL" clId="{A422843B-A0BC-4DE7-A2C6-5A768710AC41}" dt="2025-04-02T00:10:06.873" v="1824" actId="6549"/>
          <ac:spMkLst>
            <pc:docMk/>
            <pc:sldMk cId="3407321271" sldId="354"/>
            <ac:spMk id="9" creationId="{D6D453E8-F348-6E02-CE7D-F60E96A5EB3D}"/>
          </ac:spMkLst>
        </pc:spChg>
      </pc:sldChg>
      <pc:sldChg chg="modSp mod">
        <pc:chgData name="Holland, Karrie" userId="23868a2e-e05c-4e18-9f80-537fd2a8fbe7" providerId="ADAL" clId="{A422843B-A0BC-4DE7-A2C6-5A768710AC41}" dt="2025-04-02T02:21:31.267" v="2350" actId="255"/>
        <pc:sldMkLst>
          <pc:docMk/>
          <pc:sldMk cId="2555148065" sldId="355"/>
        </pc:sldMkLst>
        <pc:spChg chg="mod">
          <ac:chgData name="Holland, Karrie" userId="23868a2e-e05c-4e18-9f80-537fd2a8fbe7" providerId="ADAL" clId="{A422843B-A0BC-4DE7-A2C6-5A768710AC41}" dt="2025-04-02T02:21:31.267" v="2350" actId="255"/>
          <ac:spMkLst>
            <pc:docMk/>
            <pc:sldMk cId="2555148065" sldId="355"/>
            <ac:spMk id="4" creationId="{3BDDC5E7-E36A-864A-3449-49FB98A15BE6}"/>
          </ac:spMkLst>
        </pc:spChg>
      </pc:sldChg>
      <pc:sldChg chg="modSp mod">
        <pc:chgData name="Holland, Karrie" userId="23868a2e-e05c-4e18-9f80-537fd2a8fbe7" providerId="ADAL" clId="{A422843B-A0BC-4DE7-A2C6-5A768710AC41}" dt="2025-04-02T03:10:40.380" v="3173" actId="255"/>
        <pc:sldMkLst>
          <pc:docMk/>
          <pc:sldMk cId="3966400484" sldId="356"/>
        </pc:sldMkLst>
        <pc:spChg chg="mod">
          <ac:chgData name="Holland, Karrie" userId="23868a2e-e05c-4e18-9f80-537fd2a8fbe7" providerId="ADAL" clId="{A422843B-A0BC-4DE7-A2C6-5A768710AC41}" dt="2025-04-02T03:10:40.380" v="3173" actId="255"/>
          <ac:spMkLst>
            <pc:docMk/>
            <pc:sldMk cId="3966400484" sldId="356"/>
            <ac:spMk id="4" creationId="{E3B829B5-6836-78EE-82BD-288EBC559C6E}"/>
          </ac:spMkLst>
        </pc:spChg>
      </pc:sldChg>
      <pc:sldChg chg="modSp mod modNotesTx">
        <pc:chgData name="Holland, Karrie" userId="23868a2e-e05c-4e18-9f80-537fd2a8fbe7" providerId="ADAL" clId="{A422843B-A0BC-4DE7-A2C6-5A768710AC41}" dt="2025-04-01T19:06:08.654" v="267" actId="20577"/>
        <pc:sldMkLst>
          <pc:docMk/>
          <pc:sldMk cId="4250459445" sldId="359"/>
        </pc:sldMkLst>
        <pc:spChg chg="mod">
          <ac:chgData name="Holland, Karrie" userId="23868a2e-e05c-4e18-9f80-537fd2a8fbe7" providerId="ADAL" clId="{A422843B-A0BC-4DE7-A2C6-5A768710AC41}" dt="2025-04-01T19:03:58.568" v="204" actId="20577"/>
          <ac:spMkLst>
            <pc:docMk/>
            <pc:sldMk cId="4250459445" sldId="359"/>
            <ac:spMk id="2" creationId="{3D1465A3-2914-1151-1A78-CFD3B2A423BE}"/>
          </ac:spMkLst>
        </pc:spChg>
      </pc:sldChg>
      <pc:sldChg chg="modSp mod modNotesTx">
        <pc:chgData name="Holland, Karrie" userId="23868a2e-e05c-4e18-9f80-537fd2a8fbe7" providerId="ADAL" clId="{A422843B-A0BC-4DE7-A2C6-5A768710AC41}" dt="2025-04-01T19:05:51.665" v="265" actId="20577"/>
        <pc:sldMkLst>
          <pc:docMk/>
          <pc:sldMk cId="219159478" sldId="361"/>
        </pc:sldMkLst>
        <pc:spChg chg="mod">
          <ac:chgData name="Holland, Karrie" userId="23868a2e-e05c-4e18-9f80-537fd2a8fbe7" providerId="ADAL" clId="{A422843B-A0BC-4DE7-A2C6-5A768710AC41}" dt="2025-04-01T19:04:12.508" v="206" actId="20577"/>
          <ac:spMkLst>
            <pc:docMk/>
            <pc:sldMk cId="219159478" sldId="361"/>
            <ac:spMk id="2" creationId="{7EB81C6C-A8E6-CE4C-2D52-7AD639B7578C}"/>
          </ac:spMkLst>
        </pc:spChg>
        <pc:spChg chg="mod">
          <ac:chgData name="Holland, Karrie" userId="23868a2e-e05c-4e18-9f80-537fd2a8fbe7" providerId="ADAL" clId="{A422843B-A0BC-4DE7-A2C6-5A768710AC41}" dt="2025-04-01T19:04:28.317" v="216" actId="20577"/>
          <ac:spMkLst>
            <pc:docMk/>
            <pc:sldMk cId="219159478" sldId="361"/>
            <ac:spMk id="3" creationId="{3CD62AF3-8219-7AEB-1717-BB4B2CD0985B}"/>
          </ac:spMkLst>
        </pc:spChg>
      </pc:sldChg>
      <pc:sldChg chg="modSp mod modNotesTx">
        <pc:chgData name="Holland, Karrie" userId="23868a2e-e05c-4e18-9f80-537fd2a8fbe7" providerId="ADAL" clId="{A422843B-A0BC-4DE7-A2C6-5A768710AC41}" dt="2025-04-01T19:05:15.875" v="229" actId="20577"/>
        <pc:sldMkLst>
          <pc:docMk/>
          <pc:sldMk cId="3352223876" sldId="362"/>
        </pc:sldMkLst>
        <pc:spChg chg="mod">
          <ac:chgData name="Holland, Karrie" userId="23868a2e-e05c-4e18-9f80-537fd2a8fbe7" providerId="ADAL" clId="{A422843B-A0BC-4DE7-A2C6-5A768710AC41}" dt="2025-04-01T19:05:10.372" v="225" actId="20577"/>
          <ac:spMkLst>
            <pc:docMk/>
            <pc:sldMk cId="3352223876" sldId="362"/>
            <ac:spMk id="2" creationId="{FC210BF6-188A-C9CF-0312-B6DC4E6EE108}"/>
          </ac:spMkLst>
        </pc:spChg>
      </pc:sldChg>
      <pc:sldChg chg="del">
        <pc:chgData name="Holland, Karrie" userId="23868a2e-e05c-4e18-9f80-537fd2a8fbe7" providerId="ADAL" clId="{A422843B-A0BC-4DE7-A2C6-5A768710AC41}" dt="2025-04-01T18:58:59.991" v="171" actId="47"/>
        <pc:sldMkLst>
          <pc:docMk/>
          <pc:sldMk cId="0" sldId="363"/>
        </pc:sldMkLst>
      </pc:sldChg>
      <pc:sldChg chg="del">
        <pc:chgData name="Holland, Karrie" userId="23868a2e-e05c-4e18-9f80-537fd2a8fbe7" providerId="ADAL" clId="{A422843B-A0BC-4DE7-A2C6-5A768710AC41}" dt="2025-04-01T18:59:02.103" v="172" actId="47"/>
        <pc:sldMkLst>
          <pc:docMk/>
          <pc:sldMk cId="4033212330" sldId="364"/>
        </pc:sldMkLst>
      </pc:sldChg>
      <pc:sldChg chg="modSp mod">
        <pc:chgData name="Holland, Karrie" userId="23868a2e-e05c-4e18-9f80-537fd2a8fbe7" providerId="ADAL" clId="{A422843B-A0BC-4DE7-A2C6-5A768710AC41}" dt="2025-04-01T19:06:39.107" v="277" actId="255"/>
        <pc:sldMkLst>
          <pc:docMk/>
          <pc:sldMk cId="2493083227" sldId="365"/>
        </pc:sldMkLst>
        <pc:spChg chg="mod">
          <ac:chgData name="Holland, Karrie" userId="23868a2e-e05c-4e18-9f80-537fd2a8fbe7" providerId="ADAL" clId="{A422843B-A0BC-4DE7-A2C6-5A768710AC41}" dt="2025-04-01T19:06:39.107" v="277" actId="255"/>
          <ac:spMkLst>
            <pc:docMk/>
            <pc:sldMk cId="2493083227" sldId="365"/>
            <ac:spMk id="4" creationId="{5EB9966A-6415-B35F-AC87-062F5FC26C5C}"/>
          </ac:spMkLst>
        </pc:spChg>
        <pc:spChg chg="mod">
          <ac:chgData name="Holland, Karrie" userId="23868a2e-e05c-4e18-9f80-537fd2a8fbe7" providerId="ADAL" clId="{A422843B-A0BC-4DE7-A2C6-5A768710AC41}" dt="2025-04-01T19:00:15.162" v="202" actId="20577"/>
          <ac:spMkLst>
            <pc:docMk/>
            <pc:sldMk cId="2493083227" sldId="365"/>
            <ac:spMk id="9" creationId="{325B2EA2-DB03-43C5-FC66-7B772EA97525}"/>
          </ac:spMkLst>
        </pc:spChg>
      </pc:sldChg>
      <pc:sldChg chg="modSp mod modNotesTx">
        <pc:chgData name="Holland, Karrie" userId="23868a2e-e05c-4e18-9f80-537fd2a8fbe7" providerId="ADAL" clId="{A422843B-A0BC-4DE7-A2C6-5A768710AC41}" dt="2025-04-01T20:32:15.956" v="648" actId="255"/>
        <pc:sldMkLst>
          <pc:docMk/>
          <pc:sldMk cId="2981204108" sldId="367"/>
        </pc:sldMkLst>
        <pc:spChg chg="mod">
          <ac:chgData name="Holland, Karrie" userId="23868a2e-e05c-4e18-9f80-537fd2a8fbe7" providerId="ADAL" clId="{A422843B-A0BC-4DE7-A2C6-5A768710AC41}" dt="2025-04-01T20:32:15.956" v="648" actId="255"/>
          <ac:spMkLst>
            <pc:docMk/>
            <pc:sldMk cId="2981204108" sldId="367"/>
            <ac:spMk id="4" creationId="{BFA00826-C6A3-00C8-7B57-63206214E632}"/>
          </ac:spMkLst>
        </pc:spChg>
      </pc:sldChg>
      <pc:sldChg chg="modSp del mod">
        <pc:chgData name="Holland, Karrie" userId="23868a2e-e05c-4e18-9f80-537fd2a8fbe7" providerId="ADAL" clId="{A422843B-A0BC-4DE7-A2C6-5A768710AC41}" dt="2025-04-01T20:40:34.116" v="657" actId="47"/>
        <pc:sldMkLst>
          <pc:docMk/>
          <pc:sldMk cId="2064367455" sldId="368"/>
        </pc:sldMkLst>
      </pc:sldChg>
      <pc:sldChg chg="modSp mod modNotesTx">
        <pc:chgData name="Holland, Karrie" userId="23868a2e-e05c-4e18-9f80-537fd2a8fbe7" providerId="ADAL" clId="{A422843B-A0BC-4DE7-A2C6-5A768710AC41}" dt="2025-04-02T02:54:22.175" v="2792" actId="255"/>
        <pc:sldMkLst>
          <pc:docMk/>
          <pc:sldMk cId="4005883567" sldId="369"/>
        </pc:sldMkLst>
        <pc:spChg chg="mod">
          <ac:chgData name="Holland, Karrie" userId="23868a2e-e05c-4e18-9f80-537fd2a8fbe7" providerId="ADAL" clId="{A422843B-A0BC-4DE7-A2C6-5A768710AC41}" dt="2025-04-02T02:54:22.175" v="2792" actId="255"/>
          <ac:spMkLst>
            <pc:docMk/>
            <pc:sldMk cId="4005883567" sldId="369"/>
            <ac:spMk id="4" creationId="{431D3B88-0F9E-47D9-4A39-F7295D961309}"/>
          </ac:spMkLst>
        </pc:spChg>
        <pc:spChg chg="mod">
          <ac:chgData name="Holland, Karrie" userId="23868a2e-e05c-4e18-9f80-537fd2a8fbe7" providerId="ADAL" clId="{A422843B-A0BC-4DE7-A2C6-5A768710AC41}" dt="2025-04-01T23:58:17.601" v="1768"/>
          <ac:spMkLst>
            <pc:docMk/>
            <pc:sldMk cId="4005883567" sldId="369"/>
            <ac:spMk id="9" creationId="{1E3F3D64-7D3E-6B78-AAE0-10266D78BD13}"/>
          </ac:spMkLst>
        </pc:spChg>
      </pc:sldChg>
      <pc:sldChg chg="modSp mod">
        <pc:chgData name="Holland, Karrie" userId="23868a2e-e05c-4e18-9f80-537fd2a8fbe7" providerId="ADAL" clId="{A422843B-A0BC-4DE7-A2C6-5A768710AC41}" dt="2025-04-02T02:48:01.700" v="2710" actId="255"/>
        <pc:sldMkLst>
          <pc:docMk/>
          <pc:sldMk cId="2814969419" sldId="370"/>
        </pc:sldMkLst>
        <pc:spChg chg="mod">
          <ac:chgData name="Holland, Karrie" userId="23868a2e-e05c-4e18-9f80-537fd2a8fbe7" providerId="ADAL" clId="{A422843B-A0BC-4DE7-A2C6-5A768710AC41}" dt="2025-04-02T00:00:00.874" v="1778"/>
          <ac:spMkLst>
            <pc:docMk/>
            <pc:sldMk cId="2814969419" sldId="370"/>
            <ac:spMk id="2" creationId="{92FDB5BD-B6FE-FA4D-9B15-7B3949553616}"/>
          </ac:spMkLst>
        </pc:spChg>
        <pc:spChg chg="mod">
          <ac:chgData name="Holland, Karrie" userId="23868a2e-e05c-4e18-9f80-537fd2a8fbe7" providerId="ADAL" clId="{A422843B-A0BC-4DE7-A2C6-5A768710AC41}" dt="2025-04-02T02:48:01.700" v="2710" actId="255"/>
          <ac:spMkLst>
            <pc:docMk/>
            <pc:sldMk cId="2814969419" sldId="370"/>
            <ac:spMk id="4" creationId="{E9B73218-8467-BB46-14F9-C712C34E5D9D}"/>
          </ac:spMkLst>
        </pc:spChg>
      </pc:sldChg>
      <pc:sldChg chg="del">
        <pc:chgData name="Holland, Karrie" userId="23868a2e-e05c-4e18-9f80-537fd2a8fbe7" providerId="ADAL" clId="{A422843B-A0BC-4DE7-A2C6-5A768710AC41}" dt="2025-04-02T00:02:21.207" v="1786" actId="47"/>
        <pc:sldMkLst>
          <pc:docMk/>
          <pc:sldMk cId="1300832360" sldId="371"/>
        </pc:sldMkLst>
      </pc:sldChg>
      <pc:sldChg chg="modSp mod modNotesTx">
        <pc:chgData name="Holland, Karrie" userId="23868a2e-e05c-4e18-9f80-537fd2a8fbe7" providerId="ADAL" clId="{A422843B-A0BC-4DE7-A2C6-5A768710AC41}" dt="2025-04-02T02:47:19.591" v="2698" actId="20577"/>
        <pc:sldMkLst>
          <pc:docMk/>
          <pc:sldMk cId="1393578167" sldId="372"/>
        </pc:sldMkLst>
        <pc:spChg chg="mod">
          <ac:chgData name="Holland, Karrie" userId="23868a2e-e05c-4e18-9f80-537fd2a8fbe7" providerId="ADAL" clId="{A422843B-A0BC-4DE7-A2C6-5A768710AC41}" dt="2025-04-02T02:21:12.612" v="2346" actId="255"/>
          <ac:spMkLst>
            <pc:docMk/>
            <pc:sldMk cId="1393578167" sldId="372"/>
            <ac:spMk id="4" creationId="{3BDDC5E7-E36A-864A-3449-49FB98A15BE6}"/>
          </ac:spMkLst>
        </pc:spChg>
        <pc:spChg chg="mod">
          <ac:chgData name="Holland, Karrie" userId="23868a2e-e05c-4e18-9f80-537fd2a8fbe7" providerId="ADAL" clId="{A422843B-A0BC-4DE7-A2C6-5A768710AC41}" dt="2025-04-02T02:17:12.911" v="2289" actId="20577"/>
          <ac:spMkLst>
            <pc:docMk/>
            <pc:sldMk cId="1393578167" sldId="372"/>
            <ac:spMk id="9" creationId="{9F9E8E2B-B0E8-EF16-E503-9ECCF4F164D5}"/>
          </ac:spMkLst>
        </pc:spChg>
      </pc:sldChg>
      <pc:sldChg chg="modSp mod modNotesTx">
        <pc:chgData name="Holland, Karrie" userId="23868a2e-e05c-4e18-9f80-537fd2a8fbe7" providerId="ADAL" clId="{A422843B-A0BC-4DE7-A2C6-5A768710AC41}" dt="2025-04-02T03:12:27.462" v="3184" actId="20577"/>
        <pc:sldMkLst>
          <pc:docMk/>
          <pc:sldMk cId="583014448" sldId="373"/>
        </pc:sldMkLst>
        <pc:spChg chg="mod">
          <ac:chgData name="Holland, Karrie" userId="23868a2e-e05c-4e18-9f80-537fd2a8fbe7" providerId="ADAL" clId="{A422843B-A0BC-4DE7-A2C6-5A768710AC41}" dt="2025-04-02T03:10:21.277" v="3168" actId="255"/>
          <ac:spMkLst>
            <pc:docMk/>
            <pc:sldMk cId="583014448" sldId="373"/>
            <ac:spMk id="4" creationId="{E3B829B5-6836-78EE-82BD-288EBC559C6E}"/>
          </ac:spMkLst>
        </pc:spChg>
        <pc:spChg chg="mod">
          <ac:chgData name="Holland, Karrie" userId="23868a2e-e05c-4e18-9f80-537fd2a8fbe7" providerId="ADAL" clId="{A422843B-A0BC-4DE7-A2C6-5A768710AC41}" dt="2025-04-02T03:11:11.937" v="3176" actId="20577"/>
          <ac:spMkLst>
            <pc:docMk/>
            <pc:sldMk cId="583014448" sldId="373"/>
            <ac:spMk id="9" creationId="{65F72D48-161D-34EA-1092-F01297B5BAE2}"/>
          </ac:spMkLst>
        </pc:spChg>
      </pc:sldChg>
      <pc:sldChg chg="addSp delSp modSp mod">
        <pc:chgData name="Holland, Karrie" userId="23868a2e-e05c-4e18-9f80-537fd2a8fbe7" providerId="ADAL" clId="{A422843B-A0BC-4DE7-A2C6-5A768710AC41}" dt="2025-04-02T03:23:06.757" v="3333" actId="1038"/>
        <pc:sldMkLst>
          <pc:docMk/>
          <pc:sldMk cId="34927814" sldId="375"/>
        </pc:sldMkLst>
        <pc:spChg chg="mod">
          <ac:chgData name="Holland, Karrie" userId="23868a2e-e05c-4e18-9f80-537fd2a8fbe7" providerId="ADAL" clId="{A422843B-A0BC-4DE7-A2C6-5A768710AC41}" dt="2025-04-02T03:15:24.042" v="3200" actId="120"/>
          <ac:spMkLst>
            <pc:docMk/>
            <pc:sldMk cId="34927814" sldId="375"/>
            <ac:spMk id="2" creationId="{06890774-7848-58D0-0262-B11B4D8F7BE9}"/>
          </ac:spMkLst>
        </pc:spChg>
        <pc:spChg chg="mod">
          <ac:chgData name="Holland, Karrie" userId="23868a2e-e05c-4e18-9f80-537fd2a8fbe7" providerId="ADAL" clId="{A422843B-A0BC-4DE7-A2C6-5A768710AC41}" dt="2025-04-02T03:13:15.072" v="3192" actId="20577"/>
          <ac:spMkLst>
            <pc:docMk/>
            <pc:sldMk cId="34927814" sldId="375"/>
            <ac:spMk id="4" creationId="{089A76E7-5405-452B-A5DD-6B559DABE30F}"/>
          </ac:spMkLst>
        </pc:spChg>
      </pc:sldChg>
      <pc:sldChg chg="modSp add mod ord modNotesTx">
        <pc:chgData name="Holland, Karrie" userId="23868a2e-e05c-4e18-9f80-537fd2a8fbe7" providerId="ADAL" clId="{A422843B-A0BC-4DE7-A2C6-5A768710AC41}" dt="2025-04-01T19:05:31.694" v="247" actId="20577"/>
        <pc:sldMkLst>
          <pc:docMk/>
          <pc:sldMk cId="2268166133" sldId="376"/>
        </pc:sldMkLst>
        <pc:spChg chg="mod">
          <ac:chgData name="Holland, Karrie" userId="23868a2e-e05c-4e18-9f80-537fd2a8fbe7" providerId="ADAL" clId="{A422843B-A0BC-4DE7-A2C6-5A768710AC41}" dt="2025-04-01T19:04:56.324" v="221" actId="20577"/>
          <ac:spMkLst>
            <pc:docMk/>
            <pc:sldMk cId="2268166133" sldId="376"/>
            <ac:spMk id="2" creationId="{E404CBF2-51F3-2C0E-4A95-BD807CCB1889}"/>
          </ac:spMkLst>
        </pc:spChg>
      </pc:sldChg>
      <pc:sldChg chg="delSp modSp add mod modNotesTx">
        <pc:chgData name="Holland, Karrie" userId="23868a2e-e05c-4e18-9f80-537fd2a8fbe7" providerId="ADAL" clId="{A422843B-A0BC-4DE7-A2C6-5A768710AC41}" dt="2025-04-01T20:32:01.974" v="643" actId="255"/>
        <pc:sldMkLst>
          <pc:docMk/>
          <pc:sldMk cId="2637652616" sldId="377"/>
        </pc:sldMkLst>
        <pc:spChg chg="mod">
          <ac:chgData name="Holland, Karrie" userId="23868a2e-e05c-4e18-9f80-537fd2a8fbe7" providerId="ADAL" clId="{A422843B-A0BC-4DE7-A2C6-5A768710AC41}" dt="2025-04-01T20:32:01.974" v="643" actId="255"/>
          <ac:spMkLst>
            <pc:docMk/>
            <pc:sldMk cId="2637652616" sldId="377"/>
            <ac:spMk id="4" creationId="{4AF2B23D-B515-6146-13AA-6C8F3849BAD7}"/>
          </ac:spMkLst>
        </pc:spChg>
        <pc:spChg chg="mod">
          <ac:chgData name="Holland, Karrie" userId="23868a2e-e05c-4e18-9f80-537fd2a8fbe7" providerId="ADAL" clId="{A422843B-A0BC-4DE7-A2C6-5A768710AC41}" dt="2025-04-01T20:26:12.964" v="463" actId="1036"/>
          <ac:spMkLst>
            <pc:docMk/>
            <pc:sldMk cId="2637652616" sldId="377"/>
            <ac:spMk id="9" creationId="{C2FA9ABC-48BD-8140-C744-48CF8348875E}"/>
          </ac:spMkLst>
        </pc:spChg>
      </pc:sldChg>
      <pc:sldChg chg="addSp delSp modSp add mod modNotesTx">
        <pc:chgData name="Holland, Karrie" userId="23868a2e-e05c-4e18-9f80-537fd2a8fbe7" providerId="ADAL" clId="{A422843B-A0BC-4DE7-A2C6-5A768710AC41}" dt="2025-04-02T02:49:45.230" v="2726" actId="255"/>
        <pc:sldMkLst>
          <pc:docMk/>
          <pc:sldMk cId="1406127443" sldId="378"/>
        </pc:sldMkLst>
        <pc:spChg chg="mod">
          <ac:chgData name="Holland, Karrie" userId="23868a2e-e05c-4e18-9f80-537fd2a8fbe7" providerId="ADAL" clId="{A422843B-A0BC-4DE7-A2C6-5A768710AC41}" dt="2025-04-01T20:55:14.165" v="828" actId="1036"/>
          <ac:spMkLst>
            <pc:docMk/>
            <pc:sldMk cId="1406127443" sldId="378"/>
            <ac:spMk id="2" creationId="{5633705D-AC24-5776-B265-9191073F774D}"/>
          </ac:spMkLst>
        </pc:spChg>
        <pc:spChg chg="mod">
          <ac:chgData name="Holland, Karrie" userId="23868a2e-e05c-4e18-9f80-537fd2a8fbe7" providerId="ADAL" clId="{A422843B-A0BC-4DE7-A2C6-5A768710AC41}" dt="2025-04-02T02:49:45.230" v="2726" actId="255"/>
          <ac:spMkLst>
            <pc:docMk/>
            <pc:sldMk cId="1406127443" sldId="378"/>
            <ac:spMk id="4" creationId="{501DCD52-9B7E-7F69-73E6-C5261C510AE6}"/>
          </ac:spMkLst>
        </pc:spChg>
        <pc:picChg chg="mod">
          <ac:chgData name="Holland, Karrie" userId="23868a2e-e05c-4e18-9f80-537fd2a8fbe7" providerId="ADAL" clId="{A422843B-A0BC-4DE7-A2C6-5A768710AC41}" dt="2025-04-01T20:55:14.165" v="828" actId="1036"/>
          <ac:picMkLst>
            <pc:docMk/>
            <pc:sldMk cId="1406127443" sldId="378"/>
            <ac:picMk id="5" creationId="{336FED03-4878-F915-4FF3-B6FD9433900E}"/>
          </ac:picMkLst>
        </pc:picChg>
        <pc:picChg chg="add mod">
          <ac:chgData name="Holland, Karrie" userId="23868a2e-e05c-4e18-9f80-537fd2a8fbe7" providerId="ADAL" clId="{A422843B-A0BC-4DE7-A2C6-5A768710AC41}" dt="2025-04-01T20:55:14.165" v="828" actId="1036"/>
          <ac:picMkLst>
            <pc:docMk/>
            <pc:sldMk cId="1406127443" sldId="378"/>
            <ac:picMk id="6" creationId="{609D671B-D26F-C43D-0530-F5BB96590170}"/>
          </ac:picMkLst>
        </pc:picChg>
      </pc:sldChg>
      <pc:sldChg chg="addSp modSp add mod">
        <pc:chgData name="Holland, Karrie" userId="23868a2e-e05c-4e18-9f80-537fd2a8fbe7" providerId="ADAL" clId="{A422843B-A0BC-4DE7-A2C6-5A768710AC41}" dt="2025-04-02T02:50:11.266" v="2736" actId="255"/>
        <pc:sldMkLst>
          <pc:docMk/>
          <pc:sldMk cId="220961929" sldId="379"/>
        </pc:sldMkLst>
        <pc:spChg chg="add mod">
          <ac:chgData name="Holland, Karrie" userId="23868a2e-e05c-4e18-9f80-537fd2a8fbe7" providerId="ADAL" clId="{A422843B-A0BC-4DE7-A2C6-5A768710AC41}" dt="2025-04-01T21:16:03.459" v="984" actId="1076"/>
          <ac:spMkLst>
            <pc:docMk/>
            <pc:sldMk cId="220961929" sldId="379"/>
            <ac:spMk id="2" creationId="{D1512133-38D2-C1A5-0129-4F74E86149C9}"/>
          </ac:spMkLst>
        </pc:spChg>
        <pc:spChg chg="mod">
          <ac:chgData name="Holland, Karrie" userId="23868a2e-e05c-4e18-9f80-537fd2a8fbe7" providerId="ADAL" clId="{A422843B-A0BC-4DE7-A2C6-5A768710AC41}" dt="2025-04-02T02:50:11.266" v="2736" actId="255"/>
          <ac:spMkLst>
            <pc:docMk/>
            <pc:sldMk cId="220961929" sldId="379"/>
            <ac:spMk id="4" creationId="{8F781291-2D12-F181-9C7C-183658D864CA}"/>
          </ac:spMkLst>
        </pc:spChg>
        <pc:spChg chg="mod">
          <ac:chgData name="Holland, Karrie" userId="23868a2e-e05c-4e18-9f80-537fd2a8fbe7" providerId="ADAL" clId="{A422843B-A0BC-4DE7-A2C6-5A768710AC41}" dt="2025-04-01T21:13:41.901" v="940"/>
          <ac:spMkLst>
            <pc:docMk/>
            <pc:sldMk cId="220961929" sldId="379"/>
            <ac:spMk id="9" creationId="{A0858383-C46F-D5B0-38E5-AB1ACC51AEB3}"/>
          </ac:spMkLst>
        </pc:spChg>
      </pc:sldChg>
      <pc:sldChg chg="delSp modSp add mod">
        <pc:chgData name="Holland, Karrie" userId="23868a2e-e05c-4e18-9f80-537fd2a8fbe7" providerId="ADAL" clId="{A422843B-A0BC-4DE7-A2C6-5A768710AC41}" dt="2025-04-02T02:50:27.072" v="2741" actId="255"/>
        <pc:sldMkLst>
          <pc:docMk/>
          <pc:sldMk cId="29948710" sldId="380"/>
        </pc:sldMkLst>
        <pc:spChg chg="mod">
          <ac:chgData name="Holland, Karrie" userId="23868a2e-e05c-4e18-9f80-537fd2a8fbe7" providerId="ADAL" clId="{A422843B-A0BC-4DE7-A2C6-5A768710AC41}" dt="2025-04-02T02:50:27.072" v="2741" actId="255"/>
          <ac:spMkLst>
            <pc:docMk/>
            <pc:sldMk cId="29948710" sldId="380"/>
            <ac:spMk id="4" creationId="{4C6348D7-528A-BBE0-5790-60DA1F914020}"/>
          </ac:spMkLst>
        </pc:spChg>
        <pc:spChg chg="mod">
          <ac:chgData name="Holland, Karrie" userId="23868a2e-e05c-4e18-9f80-537fd2a8fbe7" providerId="ADAL" clId="{A422843B-A0BC-4DE7-A2C6-5A768710AC41}" dt="2025-04-01T21:20:13.796" v="1135" actId="20577"/>
          <ac:spMkLst>
            <pc:docMk/>
            <pc:sldMk cId="29948710" sldId="380"/>
            <ac:spMk id="9" creationId="{6F6D7115-DA8F-5094-784C-AD5332CE06B4}"/>
          </ac:spMkLst>
        </pc:spChg>
      </pc:sldChg>
      <pc:sldChg chg="modSp add mod">
        <pc:chgData name="Holland, Karrie" userId="23868a2e-e05c-4e18-9f80-537fd2a8fbe7" providerId="ADAL" clId="{A422843B-A0BC-4DE7-A2C6-5A768710AC41}" dt="2025-04-02T02:51:08.508" v="2746" actId="255"/>
        <pc:sldMkLst>
          <pc:docMk/>
          <pc:sldMk cId="310673737" sldId="381"/>
        </pc:sldMkLst>
        <pc:spChg chg="mod">
          <ac:chgData name="Holland, Karrie" userId="23868a2e-e05c-4e18-9f80-537fd2a8fbe7" providerId="ADAL" clId="{A422843B-A0BC-4DE7-A2C6-5A768710AC41}" dt="2025-04-02T02:51:08.508" v="2746" actId="255"/>
          <ac:spMkLst>
            <pc:docMk/>
            <pc:sldMk cId="310673737" sldId="381"/>
            <ac:spMk id="4" creationId="{755C9B82-9604-07DE-74F2-56EC89BD3A2D}"/>
          </ac:spMkLst>
        </pc:spChg>
        <pc:spChg chg="mod">
          <ac:chgData name="Holland, Karrie" userId="23868a2e-e05c-4e18-9f80-537fd2a8fbe7" providerId="ADAL" clId="{A422843B-A0BC-4DE7-A2C6-5A768710AC41}" dt="2025-04-01T21:26:34.776" v="1179" actId="1036"/>
          <ac:spMkLst>
            <pc:docMk/>
            <pc:sldMk cId="310673737" sldId="381"/>
            <ac:spMk id="9" creationId="{360BFC95-E711-EDD8-464B-EA00FE689DE4}"/>
          </ac:spMkLst>
        </pc:spChg>
      </pc:sldChg>
      <pc:sldChg chg="modSp add mod">
        <pc:chgData name="Holland, Karrie" userId="23868a2e-e05c-4e18-9f80-537fd2a8fbe7" providerId="ADAL" clId="{A422843B-A0BC-4DE7-A2C6-5A768710AC41}" dt="2025-04-02T02:51:28.339" v="2751" actId="255"/>
        <pc:sldMkLst>
          <pc:docMk/>
          <pc:sldMk cId="723752660" sldId="382"/>
        </pc:sldMkLst>
        <pc:spChg chg="mod">
          <ac:chgData name="Holland, Karrie" userId="23868a2e-e05c-4e18-9f80-537fd2a8fbe7" providerId="ADAL" clId="{A422843B-A0BC-4DE7-A2C6-5A768710AC41}" dt="2025-04-02T02:51:28.339" v="2751" actId="255"/>
          <ac:spMkLst>
            <pc:docMk/>
            <pc:sldMk cId="723752660" sldId="382"/>
            <ac:spMk id="4" creationId="{F7BD5890-2403-8CAF-8DEF-09E1DE466733}"/>
          </ac:spMkLst>
        </pc:spChg>
        <pc:spChg chg="mod">
          <ac:chgData name="Holland, Karrie" userId="23868a2e-e05c-4e18-9f80-537fd2a8fbe7" providerId="ADAL" clId="{A422843B-A0BC-4DE7-A2C6-5A768710AC41}" dt="2025-04-01T21:31:01.241" v="1208"/>
          <ac:spMkLst>
            <pc:docMk/>
            <pc:sldMk cId="723752660" sldId="382"/>
            <ac:spMk id="9" creationId="{51CFB8DF-8110-5078-BCFA-13F8C6C435BE}"/>
          </ac:spMkLst>
        </pc:spChg>
      </pc:sldChg>
      <pc:sldChg chg="modSp add mod">
        <pc:chgData name="Holland, Karrie" userId="23868a2e-e05c-4e18-9f80-537fd2a8fbe7" providerId="ADAL" clId="{A422843B-A0BC-4DE7-A2C6-5A768710AC41}" dt="2025-04-02T02:51:45.155" v="2756" actId="255"/>
        <pc:sldMkLst>
          <pc:docMk/>
          <pc:sldMk cId="1364577371" sldId="383"/>
        </pc:sldMkLst>
        <pc:spChg chg="mod">
          <ac:chgData name="Holland, Karrie" userId="23868a2e-e05c-4e18-9f80-537fd2a8fbe7" providerId="ADAL" clId="{A422843B-A0BC-4DE7-A2C6-5A768710AC41}" dt="2025-04-02T02:51:45.155" v="2756" actId="255"/>
          <ac:spMkLst>
            <pc:docMk/>
            <pc:sldMk cId="1364577371" sldId="383"/>
            <ac:spMk id="4" creationId="{E487BF38-1C66-E861-7CA9-91C1EB06DA45}"/>
          </ac:spMkLst>
        </pc:spChg>
        <pc:spChg chg="mod">
          <ac:chgData name="Holland, Karrie" userId="23868a2e-e05c-4e18-9f80-537fd2a8fbe7" providerId="ADAL" clId="{A422843B-A0BC-4DE7-A2C6-5A768710AC41}" dt="2025-04-01T21:42:21.486" v="1298" actId="14100"/>
          <ac:spMkLst>
            <pc:docMk/>
            <pc:sldMk cId="1364577371" sldId="383"/>
            <ac:spMk id="9" creationId="{8ACD7616-0BF0-EEC6-82ED-1BA560FD8AD2}"/>
          </ac:spMkLst>
        </pc:spChg>
      </pc:sldChg>
      <pc:sldChg chg="addSp delSp modSp add mod ord modNotesTx">
        <pc:chgData name="Holland, Karrie" userId="23868a2e-e05c-4e18-9f80-537fd2a8fbe7" providerId="ADAL" clId="{A422843B-A0BC-4DE7-A2C6-5A768710AC41}" dt="2025-04-02T02:52:00.901" v="2761" actId="255"/>
        <pc:sldMkLst>
          <pc:docMk/>
          <pc:sldMk cId="2413802707" sldId="384"/>
        </pc:sldMkLst>
        <pc:spChg chg="mod">
          <ac:chgData name="Holland, Karrie" userId="23868a2e-e05c-4e18-9f80-537fd2a8fbe7" providerId="ADAL" clId="{A422843B-A0BC-4DE7-A2C6-5A768710AC41}" dt="2025-04-02T02:52:00.901" v="2761" actId="255"/>
          <ac:spMkLst>
            <pc:docMk/>
            <pc:sldMk cId="2413802707" sldId="384"/>
            <ac:spMk id="4" creationId="{66133201-522E-F5AE-753F-78AA9FDA7135}"/>
          </ac:spMkLst>
        </pc:spChg>
        <pc:spChg chg="mod">
          <ac:chgData name="Holland, Karrie" userId="23868a2e-e05c-4e18-9f80-537fd2a8fbe7" providerId="ADAL" clId="{A422843B-A0BC-4DE7-A2C6-5A768710AC41}" dt="2025-04-01T21:49:39.350" v="1343" actId="20577"/>
          <ac:spMkLst>
            <pc:docMk/>
            <pc:sldMk cId="2413802707" sldId="384"/>
            <ac:spMk id="9" creationId="{4BAEF445-59A0-33D4-F362-E9054540B22B}"/>
          </ac:spMkLst>
        </pc:spChg>
        <pc:picChg chg="add mod">
          <ac:chgData name="Holland, Karrie" userId="23868a2e-e05c-4e18-9f80-537fd2a8fbe7" providerId="ADAL" clId="{A422843B-A0BC-4DE7-A2C6-5A768710AC41}" dt="2025-04-01T21:49:21.133" v="1341" actId="1076"/>
          <ac:picMkLst>
            <pc:docMk/>
            <pc:sldMk cId="2413802707" sldId="384"/>
            <ac:picMk id="6" creationId="{1B4FD381-E3AD-8419-F8EB-A98DC645B56A}"/>
          </ac:picMkLst>
        </pc:picChg>
      </pc:sldChg>
      <pc:sldChg chg="delSp modSp add mod modNotesTx">
        <pc:chgData name="Holland, Karrie" userId="23868a2e-e05c-4e18-9f80-537fd2a8fbe7" providerId="ADAL" clId="{A422843B-A0BC-4DE7-A2C6-5A768710AC41}" dt="2025-04-02T02:52:18.811" v="2765" actId="255"/>
        <pc:sldMkLst>
          <pc:docMk/>
          <pc:sldMk cId="3817863117" sldId="385"/>
        </pc:sldMkLst>
        <pc:spChg chg="mod">
          <ac:chgData name="Holland, Karrie" userId="23868a2e-e05c-4e18-9f80-537fd2a8fbe7" providerId="ADAL" clId="{A422843B-A0BC-4DE7-A2C6-5A768710AC41}" dt="2025-04-02T02:52:18.811" v="2765" actId="255"/>
          <ac:spMkLst>
            <pc:docMk/>
            <pc:sldMk cId="3817863117" sldId="385"/>
            <ac:spMk id="4" creationId="{DD46ACC0-FD1E-587B-6338-59E259B42410}"/>
          </ac:spMkLst>
        </pc:spChg>
        <pc:spChg chg="mod">
          <ac:chgData name="Holland, Karrie" userId="23868a2e-e05c-4e18-9f80-537fd2a8fbe7" providerId="ADAL" clId="{A422843B-A0BC-4DE7-A2C6-5A768710AC41}" dt="2025-04-01T23:17:49.626" v="1474" actId="20577"/>
          <ac:spMkLst>
            <pc:docMk/>
            <pc:sldMk cId="3817863117" sldId="385"/>
            <ac:spMk id="9" creationId="{60ED846D-150F-C573-18D0-0BE21C5ADB52}"/>
          </ac:spMkLst>
        </pc:spChg>
      </pc:sldChg>
      <pc:sldChg chg="modSp add mod modNotesTx">
        <pc:chgData name="Holland, Karrie" userId="23868a2e-e05c-4e18-9f80-537fd2a8fbe7" providerId="ADAL" clId="{A422843B-A0BC-4DE7-A2C6-5A768710AC41}" dt="2025-04-02T02:52:33.660" v="2769" actId="255"/>
        <pc:sldMkLst>
          <pc:docMk/>
          <pc:sldMk cId="2405016623" sldId="386"/>
        </pc:sldMkLst>
      </pc:sldChg>
      <pc:sldChg chg="addSp delSp modSp add mod ord modNotesTx">
        <pc:chgData name="Holland, Karrie" userId="23868a2e-e05c-4e18-9f80-537fd2a8fbe7" providerId="ADAL" clId="{A422843B-A0BC-4DE7-A2C6-5A768710AC41}" dt="2025-04-02T02:52:48.324" v="2773" actId="255"/>
        <pc:sldMkLst>
          <pc:docMk/>
          <pc:sldMk cId="3859643612" sldId="387"/>
        </pc:sldMkLst>
        <pc:spChg chg="mod">
          <ac:chgData name="Holland, Karrie" userId="23868a2e-e05c-4e18-9f80-537fd2a8fbe7" providerId="ADAL" clId="{A422843B-A0BC-4DE7-A2C6-5A768710AC41}" dt="2025-04-02T02:52:48.324" v="2773" actId="255"/>
          <ac:spMkLst>
            <pc:docMk/>
            <pc:sldMk cId="3859643612" sldId="387"/>
            <ac:spMk id="4" creationId="{1CE6106A-FFB5-DED9-2A6F-76433D23CBAE}"/>
          </ac:spMkLst>
        </pc:spChg>
        <pc:spChg chg="mod">
          <ac:chgData name="Holland, Karrie" userId="23868a2e-e05c-4e18-9f80-537fd2a8fbe7" providerId="ADAL" clId="{A422843B-A0BC-4DE7-A2C6-5A768710AC41}" dt="2025-04-01T23:32:23.757" v="1534" actId="5793"/>
          <ac:spMkLst>
            <pc:docMk/>
            <pc:sldMk cId="3859643612" sldId="387"/>
            <ac:spMk id="9" creationId="{E7BCD052-DAAC-23DE-B4CD-19E8B9640011}"/>
          </ac:spMkLst>
        </pc:spChg>
        <pc:picChg chg="add mod">
          <ac:chgData name="Holland, Karrie" userId="23868a2e-e05c-4e18-9f80-537fd2a8fbe7" providerId="ADAL" clId="{A422843B-A0BC-4DE7-A2C6-5A768710AC41}" dt="2025-04-01T23:32:17.534" v="1532" actId="14100"/>
          <ac:picMkLst>
            <pc:docMk/>
            <pc:sldMk cId="3859643612" sldId="387"/>
            <ac:picMk id="3" creationId="{F01EF138-AA5A-0CAD-86EF-6A63E5B51E1B}"/>
          </ac:picMkLst>
        </pc:picChg>
      </pc:sldChg>
      <pc:sldChg chg="addSp delSp modSp add mod">
        <pc:chgData name="Holland, Karrie" userId="23868a2e-e05c-4e18-9f80-537fd2a8fbe7" providerId="ADAL" clId="{A422843B-A0BC-4DE7-A2C6-5A768710AC41}" dt="2025-04-02T02:53:05.892" v="2777" actId="255"/>
        <pc:sldMkLst>
          <pc:docMk/>
          <pc:sldMk cId="3594465043" sldId="388"/>
        </pc:sldMkLst>
        <pc:spChg chg="mod">
          <ac:chgData name="Holland, Karrie" userId="23868a2e-e05c-4e18-9f80-537fd2a8fbe7" providerId="ADAL" clId="{A422843B-A0BC-4DE7-A2C6-5A768710AC41}" dt="2025-04-02T02:53:05.892" v="2777" actId="255"/>
          <ac:spMkLst>
            <pc:docMk/>
            <pc:sldMk cId="3594465043" sldId="388"/>
            <ac:spMk id="4" creationId="{7F70D9FD-BC00-DD4C-870B-31FD1CABB01D}"/>
          </ac:spMkLst>
        </pc:spChg>
        <pc:spChg chg="mod">
          <ac:chgData name="Holland, Karrie" userId="23868a2e-e05c-4e18-9f80-537fd2a8fbe7" providerId="ADAL" clId="{A422843B-A0BC-4DE7-A2C6-5A768710AC41}" dt="2025-04-01T23:49:08.025" v="1657" actId="20577"/>
          <ac:spMkLst>
            <pc:docMk/>
            <pc:sldMk cId="3594465043" sldId="388"/>
            <ac:spMk id="9" creationId="{FF14E6A9-459C-3603-176F-E66E3F0C93B1}"/>
          </ac:spMkLst>
        </pc:spChg>
      </pc:sldChg>
      <pc:sldChg chg="delSp modSp add mod">
        <pc:chgData name="Holland, Karrie" userId="23868a2e-e05c-4e18-9f80-537fd2a8fbe7" providerId="ADAL" clId="{A422843B-A0BC-4DE7-A2C6-5A768710AC41}" dt="2025-04-02T02:53:22.839" v="2781" actId="255"/>
        <pc:sldMkLst>
          <pc:docMk/>
          <pc:sldMk cId="4122947432" sldId="389"/>
        </pc:sldMkLst>
        <pc:spChg chg="mod">
          <ac:chgData name="Holland, Karrie" userId="23868a2e-e05c-4e18-9f80-537fd2a8fbe7" providerId="ADAL" clId="{A422843B-A0BC-4DE7-A2C6-5A768710AC41}" dt="2025-04-02T02:53:22.839" v="2781" actId="255"/>
          <ac:spMkLst>
            <pc:docMk/>
            <pc:sldMk cId="4122947432" sldId="389"/>
            <ac:spMk id="4" creationId="{BCD66064-11F0-FFFA-6440-C02B23AD1978}"/>
          </ac:spMkLst>
        </pc:spChg>
        <pc:spChg chg="mod">
          <ac:chgData name="Holland, Karrie" userId="23868a2e-e05c-4e18-9f80-537fd2a8fbe7" providerId="ADAL" clId="{A422843B-A0BC-4DE7-A2C6-5A768710AC41}" dt="2025-04-01T23:53:53.246" v="1709"/>
          <ac:spMkLst>
            <pc:docMk/>
            <pc:sldMk cId="4122947432" sldId="389"/>
            <ac:spMk id="9" creationId="{AFF37724-D55B-2D04-A046-F95F054BDBD1}"/>
          </ac:spMkLst>
        </pc:spChg>
      </pc:sldChg>
      <pc:sldChg chg="modSp add mod">
        <pc:chgData name="Holland, Karrie" userId="23868a2e-e05c-4e18-9f80-537fd2a8fbe7" providerId="ADAL" clId="{A422843B-A0BC-4DE7-A2C6-5A768710AC41}" dt="2025-04-02T02:53:46.670" v="2787" actId="255"/>
        <pc:sldMkLst>
          <pc:docMk/>
          <pc:sldMk cId="216645757" sldId="390"/>
        </pc:sldMkLst>
        <pc:spChg chg="mod">
          <ac:chgData name="Holland, Karrie" userId="23868a2e-e05c-4e18-9f80-537fd2a8fbe7" providerId="ADAL" clId="{A422843B-A0BC-4DE7-A2C6-5A768710AC41}" dt="2025-04-02T02:53:46.670" v="2787" actId="255"/>
          <ac:spMkLst>
            <pc:docMk/>
            <pc:sldMk cId="216645757" sldId="390"/>
            <ac:spMk id="4" creationId="{C140E01F-5438-131E-CD7C-28B759CDB8C6}"/>
          </ac:spMkLst>
        </pc:spChg>
        <pc:spChg chg="mod">
          <ac:chgData name="Holland, Karrie" userId="23868a2e-e05c-4e18-9f80-537fd2a8fbe7" providerId="ADAL" clId="{A422843B-A0BC-4DE7-A2C6-5A768710AC41}" dt="2025-04-01T23:56:21.187" v="1756" actId="20577"/>
          <ac:spMkLst>
            <pc:docMk/>
            <pc:sldMk cId="216645757" sldId="390"/>
            <ac:spMk id="9" creationId="{048C6955-1EEF-9EE7-DF51-530A44F72435}"/>
          </ac:spMkLst>
        </pc:spChg>
      </pc:sldChg>
      <pc:sldChg chg="addSp delSp modSp add mod modNotesTx">
        <pc:chgData name="Holland, Karrie" userId="23868a2e-e05c-4e18-9f80-537fd2a8fbe7" providerId="ADAL" clId="{A422843B-A0BC-4DE7-A2C6-5A768710AC41}" dt="2025-04-02T02:18:30.140" v="2305" actId="255"/>
        <pc:sldMkLst>
          <pc:docMk/>
          <pc:sldMk cId="3832071582" sldId="391"/>
        </pc:sldMkLst>
        <pc:spChg chg="mod">
          <ac:chgData name="Holland, Karrie" userId="23868a2e-e05c-4e18-9f80-537fd2a8fbe7" providerId="ADAL" clId="{A422843B-A0BC-4DE7-A2C6-5A768710AC41}" dt="2025-04-02T02:18:30.140" v="2305" actId="255"/>
          <ac:spMkLst>
            <pc:docMk/>
            <pc:sldMk cId="3832071582" sldId="391"/>
            <ac:spMk id="4" creationId="{0D95D66A-7762-9EB3-8A2B-D1EAED054E1A}"/>
          </ac:spMkLst>
        </pc:spChg>
        <pc:spChg chg="mod">
          <ac:chgData name="Holland, Karrie" userId="23868a2e-e05c-4e18-9f80-537fd2a8fbe7" providerId="ADAL" clId="{A422843B-A0BC-4DE7-A2C6-5A768710AC41}" dt="2025-04-02T00:19:36.447" v="1903" actId="14100"/>
          <ac:spMkLst>
            <pc:docMk/>
            <pc:sldMk cId="3832071582" sldId="391"/>
            <ac:spMk id="9" creationId="{E9BD0CB5-9585-7EF9-006F-C3AF2D3546E8}"/>
          </ac:spMkLst>
        </pc:spChg>
      </pc:sldChg>
      <pc:sldChg chg="addSp delSp modSp add mod ord modNotesTx">
        <pc:chgData name="Holland, Karrie" userId="23868a2e-e05c-4e18-9f80-537fd2a8fbe7" providerId="ADAL" clId="{A422843B-A0BC-4DE7-A2C6-5A768710AC41}" dt="2025-04-02T02:18:43.936" v="2310" actId="255"/>
        <pc:sldMkLst>
          <pc:docMk/>
          <pc:sldMk cId="1579904877" sldId="392"/>
        </pc:sldMkLst>
        <pc:spChg chg="mod">
          <ac:chgData name="Holland, Karrie" userId="23868a2e-e05c-4e18-9f80-537fd2a8fbe7" providerId="ADAL" clId="{A422843B-A0BC-4DE7-A2C6-5A768710AC41}" dt="2025-04-02T02:18:43.936" v="2310" actId="255"/>
          <ac:spMkLst>
            <pc:docMk/>
            <pc:sldMk cId="1579904877" sldId="392"/>
            <ac:spMk id="4" creationId="{221C7E8F-BC39-B160-18D6-173D75AC3D23}"/>
          </ac:spMkLst>
        </pc:spChg>
        <pc:spChg chg="mod">
          <ac:chgData name="Holland, Karrie" userId="23868a2e-e05c-4e18-9f80-537fd2a8fbe7" providerId="ADAL" clId="{A422843B-A0BC-4DE7-A2C6-5A768710AC41}" dt="2025-04-02T00:25:59.541" v="2012" actId="255"/>
          <ac:spMkLst>
            <pc:docMk/>
            <pc:sldMk cId="1579904877" sldId="392"/>
            <ac:spMk id="9" creationId="{0C5DCC94-43A3-2E02-4C0D-288E5EBEFCF8}"/>
          </ac:spMkLst>
        </pc:spChg>
      </pc:sldChg>
      <pc:sldChg chg="addSp delSp modSp add mod">
        <pc:chgData name="Holland, Karrie" userId="23868a2e-e05c-4e18-9f80-537fd2a8fbe7" providerId="ADAL" clId="{A422843B-A0BC-4DE7-A2C6-5A768710AC41}" dt="2025-04-02T02:19:17.414" v="2315" actId="255"/>
        <pc:sldMkLst>
          <pc:docMk/>
          <pc:sldMk cId="2120338304" sldId="393"/>
        </pc:sldMkLst>
        <pc:spChg chg="mod">
          <ac:chgData name="Holland, Karrie" userId="23868a2e-e05c-4e18-9f80-537fd2a8fbe7" providerId="ADAL" clId="{A422843B-A0BC-4DE7-A2C6-5A768710AC41}" dt="2025-04-02T02:19:17.414" v="2315" actId="255"/>
          <ac:spMkLst>
            <pc:docMk/>
            <pc:sldMk cId="2120338304" sldId="393"/>
            <ac:spMk id="4" creationId="{8651412E-2B99-AA50-6CCE-814DA69E5B62}"/>
          </ac:spMkLst>
        </pc:spChg>
        <pc:spChg chg="mod">
          <ac:chgData name="Holland, Karrie" userId="23868a2e-e05c-4e18-9f80-537fd2a8fbe7" providerId="ADAL" clId="{A422843B-A0BC-4DE7-A2C6-5A768710AC41}" dt="2025-04-02T01:49:32.968" v="2076" actId="14100"/>
          <ac:spMkLst>
            <pc:docMk/>
            <pc:sldMk cId="2120338304" sldId="393"/>
            <ac:spMk id="9" creationId="{A314ECAC-A242-ABFB-4DF0-22E0A461AA70}"/>
          </ac:spMkLst>
        </pc:spChg>
      </pc:sldChg>
      <pc:sldChg chg="delSp modSp add mod">
        <pc:chgData name="Holland, Karrie" userId="23868a2e-e05c-4e18-9f80-537fd2a8fbe7" providerId="ADAL" clId="{A422843B-A0BC-4DE7-A2C6-5A768710AC41}" dt="2025-04-02T02:19:39.692" v="2320" actId="255"/>
        <pc:sldMkLst>
          <pc:docMk/>
          <pc:sldMk cId="1353121474" sldId="394"/>
        </pc:sldMkLst>
        <pc:spChg chg="mod">
          <ac:chgData name="Holland, Karrie" userId="23868a2e-e05c-4e18-9f80-537fd2a8fbe7" providerId="ADAL" clId="{A422843B-A0BC-4DE7-A2C6-5A768710AC41}" dt="2025-04-02T02:19:39.692" v="2320" actId="255"/>
          <ac:spMkLst>
            <pc:docMk/>
            <pc:sldMk cId="1353121474" sldId="394"/>
            <ac:spMk id="4" creationId="{3520785A-14E7-5D85-BA3B-D2293521A01C}"/>
          </ac:spMkLst>
        </pc:spChg>
        <pc:spChg chg="mod">
          <ac:chgData name="Holland, Karrie" userId="23868a2e-e05c-4e18-9f80-537fd2a8fbe7" providerId="ADAL" clId="{A422843B-A0BC-4DE7-A2C6-5A768710AC41}" dt="2025-04-02T01:53:42.224" v="2136"/>
          <ac:spMkLst>
            <pc:docMk/>
            <pc:sldMk cId="1353121474" sldId="394"/>
            <ac:spMk id="9" creationId="{8817AB70-0D9B-5221-E51E-31C2B7DA0AF1}"/>
          </ac:spMkLst>
        </pc:spChg>
      </pc:sldChg>
      <pc:sldChg chg="modSp add mod">
        <pc:chgData name="Holland, Karrie" userId="23868a2e-e05c-4e18-9f80-537fd2a8fbe7" providerId="ADAL" clId="{A422843B-A0BC-4DE7-A2C6-5A768710AC41}" dt="2025-04-02T02:19:57.396" v="2325" actId="255"/>
        <pc:sldMkLst>
          <pc:docMk/>
          <pc:sldMk cId="1878879270" sldId="395"/>
        </pc:sldMkLst>
      </pc:sldChg>
      <pc:sldChg chg="modSp add mod">
        <pc:chgData name="Holland, Karrie" userId="23868a2e-e05c-4e18-9f80-537fd2a8fbe7" providerId="ADAL" clId="{A422843B-A0BC-4DE7-A2C6-5A768710AC41}" dt="2025-04-02T02:20:15.934" v="2330" actId="255"/>
        <pc:sldMkLst>
          <pc:docMk/>
          <pc:sldMk cId="67261982" sldId="396"/>
        </pc:sldMkLst>
        <pc:spChg chg="mod">
          <ac:chgData name="Holland, Karrie" userId="23868a2e-e05c-4e18-9f80-537fd2a8fbe7" providerId="ADAL" clId="{A422843B-A0BC-4DE7-A2C6-5A768710AC41}" dt="2025-04-02T02:20:15.934" v="2330" actId="255"/>
          <ac:spMkLst>
            <pc:docMk/>
            <pc:sldMk cId="67261982" sldId="396"/>
            <ac:spMk id="4" creationId="{BD605A60-E7CE-196B-8E7A-8E1C03AB81A9}"/>
          </ac:spMkLst>
        </pc:spChg>
        <pc:spChg chg="mod">
          <ac:chgData name="Holland, Karrie" userId="23868a2e-e05c-4e18-9f80-537fd2a8fbe7" providerId="ADAL" clId="{A422843B-A0BC-4DE7-A2C6-5A768710AC41}" dt="2025-04-02T02:09:11.871" v="2256" actId="14100"/>
          <ac:spMkLst>
            <pc:docMk/>
            <pc:sldMk cId="67261982" sldId="396"/>
            <ac:spMk id="9" creationId="{F857E01C-A721-FF1A-B36B-73F6B65115A7}"/>
          </ac:spMkLst>
        </pc:spChg>
      </pc:sldChg>
      <pc:sldChg chg="addSp modSp add mod modNotesTx">
        <pc:chgData name="Holland, Karrie" userId="23868a2e-e05c-4e18-9f80-537fd2a8fbe7" providerId="ADAL" clId="{A422843B-A0BC-4DE7-A2C6-5A768710AC41}" dt="2025-04-02T02:20:34.880" v="2335" actId="255"/>
        <pc:sldMkLst>
          <pc:docMk/>
          <pc:sldMk cId="1460571273" sldId="397"/>
        </pc:sldMkLst>
        <pc:spChg chg="mod">
          <ac:chgData name="Holland, Karrie" userId="23868a2e-e05c-4e18-9f80-537fd2a8fbe7" providerId="ADAL" clId="{A422843B-A0BC-4DE7-A2C6-5A768710AC41}" dt="2025-04-02T02:20:34.880" v="2335" actId="255"/>
          <ac:spMkLst>
            <pc:docMk/>
            <pc:sldMk cId="1460571273" sldId="397"/>
            <ac:spMk id="4" creationId="{2DDA2445-ED6C-8F04-21ED-677350A8EC2B}"/>
          </ac:spMkLst>
        </pc:spChg>
        <pc:spChg chg="mod">
          <ac:chgData name="Holland, Karrie" userId="23868a2e-e05c-4e18-9f80-537fd2a8fbe7" providerId="ADAL" clId="{A422843B-A0BC-4DE7-A2C6-5A768710AC41}" dt="2025-04-02T02:12:35.258" v="2270" actId="11"/>
          <ac:spMkLst>
            <pc:docMk/>
            <pc:sldMk cId="1460571273" sldId="397"/>
            <ac:spMk id="9" creationId="{7C331DA5-C2E4-827D-D2B9-E506E10E289C}"/>
          </ac:spMkLst>
        </pc:spChg>
        <pc:picChg chg="add mod">
          <ac:chgData name="Holland, Karrie" userId="23868a2e-e05c-4e18-9f80-537fd2a8fbe7" providerId="ADAL" clId="{A422843B-A0BC-4DE7-A2C6-5A768710AC41}" dt="2025-04-02T02:11:44.424" v="2267" actId="1076"/>
          <ac:picMkLst>
            <pc:docMk/>
            <pc:sldMk cId="1460571273" sldId="397"/>
            <ac:picMk id="3" creationId="{4061AA95-CDD2-41D1-4C4A-EDF4BFD2DD6E}"/>
          </ac:picMkLst>
        </pc:picChg>
      </pc:sldChg>
      <pc:sldChg chg="addSp delSp modSp add mod modNotesTx">
        <pc:chgData name="Holland, Karrie" userId="23868a2e-e05c-4e18-9f80-537fd2a8fbe7" providerId="ADAL" clId="{A422843B-A0BC-4DE7-A2C6-5A768710AC41}" dt="2025-04-02T02:44:33.720" v="2653" actId="255"/>
        <pc:sldMkLst>
          <pc:docMk/>
          <pc:sldMk cId="2899571899" sldId="398"/>
        </pc:sldMkLst>
        <pc:spChg chg="add mod">
          <ac:chgData name="Holland, Karrie" userId="23868a2e-e05c-4e18-9f80-537fd2a8fbe7" providerId="ADAL" clId="{A422843B-A0BC-4DE7-A2C6-5A768710AC41}" dt="2025-04-02T02:35:04.690" v="2510" actId="120"/>
          <ac:spMkLst>
            <pc:docMk/>
            <pc:sldMk cId="2899571899" sldId="398"/>
            <ac:spMk id="2" creationId="{DDDED351-7053-7CAE-76D6-B32AC5C2094A}"/>
          </ac:spMkLst>
        </pc:spChg>
        <pc:spChg chg="mod">
          <ac:chgData name="Holland, Karrie" userId="23868a2e-e05c-4e18-9f80-537fd2a8fbe7" providerId="ADAL" clId="{A422843B-A0BC-4DE7-A2C6-5A768710AC41}" dt="2025-04-02T02:44:33.720" v="2653" actId="255"/>
          <ac:spMkLst>
            <pc:docMk/>
            <pc:sldMk cId="2899571899" sldId="398"/>
            <ac:spMk id="4" creationId="{42CAF8B9-6F10-8642-4707-E23F80EF784D}"/>
          </ac:spMkLst>
        </pc:spChg>
        <pc:spChg chg="mod">
          <ac:chgData name="Holland, Karrie" userId="23868a2e-e05c-4e18-9f80-537fd2a8fbe7" providerId="ADAL" clId="{A422843B-A0BC-4DE7-A2C6-5A768710AC41}" dt="2025-04-02T02:30:52.086" v="2446" actId="14100"/>
          <ac:spMkLst>
            <pc:docMk/>
            <pc:sldMk cId="2899571899" sldId="398"/>
            <ac:spMk id="9" creationId="{D8AF4A33-E4AC-B21F-DB41-7776FCA37AB5}"/>
          </ac:spMkLst>
        </pc:spChg>
        <pc:picChg chg="add mod">
          <ac:chgData name="Holland, Karrie" userId="23868a2e-e05c-4e18-9f80-537fd2a8fbe7" providerId="ADAL" clId="{A422843B-A0BC-4DE7-A2C6-5A768710AC41}" dt="2025-04-02T02:32:14.453" v="2460" actId="1076"/>
          <ac:picMkLst>
            <pc:docMk/>
            <pc:sldMk cId="2899571899" sldId="398"/>
            <ac:picMk id="7" creationId="{12209E87-A913-EDCB-EE9D-3ECBC22CFBA4}"/>
          </ac:picMkLst>
        </pc:picChg>
      </pc:sldChg>
      <pc:sldChg chg="delSp modSp add mod">
        <pc:chgData name="Holland, Karrie" userId="23868a2e-e05c-4e18-9f80-537fd2a8fbe7" providerId="ADAL" clId="{A422843B-A0BC-4DE7-A2C6-5A768710AC41}" dt="2025-04-02T02:44:51.065" v="2657" actId="20577"/>
        <pc:sldMkLst>
          <pc:docMk/>
          <pc:sldMk cId="585888131" sldId="399"/>
        </pc:sldMkLst>
        <pc:spChg chg="mod">
          <ac:chgData name="Holland, Karrie" userId="23868a2e-e05c-4e18-9f80-537fd2a8fbe7" providerId="ADAL" clId="{A422843B-A0BC-4DE7-A2C6-5A768710AC41}" dt="2025-04-02T02:34:43.350" v="2506" actId="120"/>
          <ac:spMkLst>
            <pc:docMk/>
            <pc:sldMk cId="585888131" sldId="399"/>
            <ac:spMk id="2" creationId="{017E5C95-461C-B98F-5757-D935BBFE9596}"/>
          </ac:spMkLst>
        </pc:spChg>
        <pc:spChg chg="mod">
          <ac:chgData name="Holland, Karrie" userId="23868a2e-e05c-4e18-9f80-537fd2a8fbe7" providerId="ADAL" clId="{A422843B-A0BC-4DE7-A2C6-5A768710AC41}" dt="2025-04-02T02:44:51.065" v="2657" actId="20577"/>
          <ac:spMkLst>
            <pc:docMk/>
            <pc:sldMk cId="585888131" sldId="399"/>
            <ac:spMk id="4" creationId="{1AC6C24E-FCBA-6761-7B22-372815DF3E5A}"/>
          </ac:spMkLst>
        </pc:spChg>
      </pc:sldChg>
      <pc:sldChg chg="modSp add mod">
        <pc:chgData name="Holland, Karrie" userId="23868a2e-e05c-4e18-9f80-537fd2a8fbe7" providerId="ADAL" clId="{A422843B-A0BC-4DE7-A2C6-5A768710AC41}" dt="2025-04-02T02:45:00.489" v="2661" actId="20577"/>
        <pc:sldMkLst>
          <pc:docMk/>
          <pc:sldMk cId="345673606" sldId="400"/>
        </pc:sldMkLst>
        <pc:spChg chg="mod">
          <ac:chgData name="Holland, Karrie" userId="23868a2e-e05c-4e18-9f80-537fd2a8fbe7" providerId="ADAL" clId="{A422843B-A0BC-4DE7-A2C6-5A768710AC41}" dt="2025-04-02T02:45:00.489" v="2661" actId="20577"/>
          <ac:spMkLst>
            <pc:docMk/>
            <pc:sldMk cId="345673606" sldId="400"/>
            <ac:spMk id="4" creationId="{8D862A01-0B09-46E2-31E6-2ECD802F6863}"/>
          </ac:spMkLst>
        </pc:spChg>
      </pc:sldChg>
      <pc:sldChg chg="modSp add mod">
        <pc:chgData name="Holland, Karrie" userId="23868a2e-e05c-4e18-9f80-537fd2a8fbe7" providerId="ADAL" clId="{A422843B-A0BC-4DE7-A2C6-5A768710AC41}" dt="2025-04-02T02:45:12.612" v="2665" actId="20577"/>
        <pc:sldMkLst>
          <pc:docMk/>
          <pc:sldMk cId="2285229507" sldId="401"/>
        </pc:sldMkLst>
        <pc:spChg chg="mod">
          <ac:chgData name="Holland, Karrie" userId="23868a2e-e05c-4e18-9f80-537fd2a8fbe7" providerId="ADAL" clId="{A422843B-A0BC-4DE7-A2C6-5A768710AC41}" dt="2025-04-02T02:45:12.612" v="2665" actId="20577"/>
          <ac:spMkLst>
            <pc:docMk/>
            <pc:sldMk cId="2285229507" sldId="401"/>
            <ac:spMk id="4" creationId="{D7210297-FD74-896B-512F-D27630435C58}"/>
          </ac:spMkLst>
        </pc:spChg>
      </pc:sldChg>
      <pc:sldChg chg="modSp add mod">
        <pc:chgData name="Holland, Karrie" userId="23868a2e-e05c-4e18-9f80-537fd2a8fbe7" providerId="ADAL" clId="{A422843B-A0BC-4DE7-A2C6-5A768710AC41}" dt="2025-04-02T02:45:21.774" v="2669" actId="20577"/>
        <pc:sldMkLst>
          <pc:docMk/>
          <pc:sldMk cId="2774982883" sldId="402"/>
        </pc:sldMkLst>
        <pc:spChg chg="mod">
          <ac:chgData name="Holland, Karrie" userId="23868a2e-e05c-4e18-9f80-537fd2a8fbe7" providerId="ADAL" clId="{A422843B-A0BC-4DE7-A2C6-5A768710AC41}" dt="2025-04-02T02:45:21.774" v="2669" actId="20577"/>
          <ac:spMkLst>
            <pc:docMk/>
            <pc:sldMk cId="2774982883" sldId="402"/>
            <ac:spMk id="4" creationId="{76827C8D-4970-A0F6-1A32-AAFB2CA53F45}"/>
          </ac:spMkLst>
        </pc:spChg>
      </pc:sldChg>
      <pc:sldChg chg="add del">
        <pc:chgData name="Holland, Karrie" userId="23868a2e-e05c-4e18-9f80-537fd2a8fbe7" providerId="ADAL" clId="{A422843B-A0BC-4DE7-A2C6-5A768710AC41}" dt="2025-04-02T02:43:07.412" v="2635" actId="47"/>
        <pc:sldMkLst>
          <pc:docMk/>
          <pc:sldMk cId="2098830603" sldId="403"/>
        </pc:sldMkLst>
      </pc:sldChg>
      <pc:sldChg chg="addSp delSp modSp add mod">
        <pc:chgData name="Holland, Karrie" userId="23868a2e-e05c-4e18-9f80-537fd2a8fbe7" providerId="ADAL" clId="{A422843B-A0BC-4DE7-A2C6-5A768710AC41}" dt="2025-04-02T02:45:40.997" v="2673" actId="20577"/>
        <pc:sldMkLst>
          <pc:docMk/>
          <pc:sldMk cId="2619338747" sldId="404"/>
        </pc:sldMkLst>
        <pc:spChg chg="mod">
          <ac:chgData name="Holland, Karrie" userId="23868a2e-e05c-4e18-9f80-537fd2a8fbe7" providerId="ADAL" clId="{A422843B-A0BC-4DE7-A2C6-5A768710AC41}" dt="2025-04-02T02:45:40.997" v="2673" actId="20577"/>
          <ac:spMkLst>
            <pc:docMk/>
            <pc:sldMk cId="2619338747" sldId="404"/>
            <ac:spMk id="4" creationId="{89B22210-5855-03A6-4151-0CBEB649E558}"/>
          </ac:spMkLst>
        </pc:spChg>
      </pc:sldChg>
      <pc:sldChg chg="modSp add mod ord modNotesTx">
        <pc:chgData name="Holland, Karrie" userId="23868a2e-e05c-4e18-9f80-537fd2a8fbe7" providerId="ADAL" clId="{A422843B-A0BC-4DE7-A2C6-5A768710AC41}" dt="2025-04-02T02:47:03.675" v="2696" actId="20577"/>
        <pc:sldMkLst>
          <pc:docMk/>
          <pc:sldMk cId="2911037414" sldId="405"/>
        </pc:sldMkLst>
        <pc:spChg chg="mod">
          <ac:chgData name="Holland, Karrie" userId="23868a2e-e05c-4e18-9f80-537fd2a8fbe7" providerId="ADAL" clId="{A422843B-A0BC-4DE7-A2C6-5A768710AC41}" dt="2025-04-02T02:45:55.169" v="2678" actId="255"/>
          <ac:spMkLst>
            <pc:docMk/>
            <pc:sldMk cId="2911037414" sldId="405"/>
            <ac:spMk id="4" creationId="{17D8F889-CC28-E37F-F9E4-E090179C8613}"/>
          </ac:spMkLst>
        </pc:spChg>
        <pc:spChg chg="mod">
          <ac:chgData name="Holland, Karrie" userId="23868a2e-e05c-4e18-9f80-537fd2a8fbe7" providerId="ADAL" clId="{A422843B-A0BC-4DE7-A2C6-5A768710AC41}" dt="2025-04-02T02:46:28.178" v="2684" actId="20577"/>
          <ac:spMkLst>
            <pc:docMk/>
            <pc:sldMk cId="2911037414" sldId="405"/>
            <ac:spMk id="9" creationId="{D4327D47-166B-F130-0C6A-85540E68674E}"/>
          </ac:spMkLst>
        </pc:spChg>
      </pc:sldChg>
      <pc:sldChg chg="modSp add mod ord replId">
        <pc:chgData name="Holland, Karrie" userId="23868a2e-e05c-4e18-9f80-537fd2a8fbe7" providerId="ADAL" clId="{A422843B-A0BC-4DE7-A2C6-5A768710AC41}" dt="2025-04-02T02:46:05.407" v="2682" actId="20577"/>
        <pc:sldMkLst>
          <pc:docMk/>
          <pc:sldMk cId="2223458575" sldId="406"/>
        </pc:sldMkLst>
        <pc:spChg chg="mod">
          <ac:chgData name="Holland, Karrie" userId="23868a2e-e05c-4e18-9f80-537fd2a8fbe7" providerId="ADAL" clId="{A422843B-A0BC-4DE7-A2C6-5A768710AC41}" dt="2025-04-02T02:46:05.407" v="2682" actId="20577"/>
          <ac:spMkLst>
            <pc:docMk/>
            <pc:sldMk cId="2223458575" sldId="406"/>
            <ac:spMk id="4" creationId="{3BA03FB0-8043-7F42-7A9C-A1BC5F871413}"/>
          </ac:spMkLst>
        </pc:spChg>
      </pc:sldChg>
      <pc:sldChg chg="modSp add mod ord">
        <pc:chgData name="Holland, Karrie" userId="23868a2e-e05c-4e18-9f80-537fd2a8fbe7" providerId="ADAL" clId="{A422843B-A0BC-4DE7-A2C6-5A768710AC41}" dt="2025-04-02T03:09:41.312" v="3158" actId="255"/>
        <pc:sldMkLst>
          <pc:docMk/>
          <pc:sldMk cId="2925626727" sldId="407"/>
        </pc:sldMkLst>
        <pc:spChg chg="mod">
          <ac:chgData name="Holland, Karrie" userId="23868a2e-e05c-4e18-9f80-537fd2a8fbe7" providerId="ADAL" clId="{A422843B-A0BC-4DE7-A2C6-5A768710AC41}" dt="2025-04-02T03:09:41.312" v="3158" actId="255"/>
          <ac:spMkLst>
            <pc:docMk/>
            <pc:sldMk cId="2925626727" sldId="407"/>
            <ac:spMk id="4" creationId="{5F611F6C-1C9E-DC34-95ED-7F74B405A97F}"/>
          </ac:spMkLst>
        </pc:spChg>
        <pc:spChg chg="mod">
          <ac:chgData name="Holland, Karrie" userId="23868a2e-e05c-4e18-9f80-537fd2a8fbe7" providerId="ADAL" clId="{A422843B-A0BC-4DE7-A2C6-5A768710AC41}" dt="2025-04-02T03:04:55.492" v="3003"/>
          <ac:spMkLst>
            <pc:docMk/>
            <pc:sldMk cId="2925626727" sldId="407"/>
            <ac:spMk id="9" creationId="{7C3A7EA6-1D88-3D7C-37CC-290549692E8C}"/>
          </ac:spMkLst>
        </pc:spChg>
        <pc:graphicFrameChg chg="mod">
          <ac:chgData name="Holland, Karrie" userId="23868a2e-e05c-4e18-9f80-537fd2a8fbe7" providerId="ADAL" clId="{A422843B-A0BC-4DE7-A2C6-5A768710AC41}" dt="2025-04-02T03:04:25.042" v="2999" actId="20577"/>
          <ac:graphicFrameMkLst>
            <pc:docMk/>
            <pc:sldMk cId="2925626727" sldId="407"/>
            <ac:graphicFrameMk id="8" creationId="{CD977AAD-BEF8-577C-9720-CC222C7F85D6}"/>
          </ac:graphicFrameMkLst>
        </pc:graphicFrameChg>
        <pc:picChg chg="mod">
          <ac:chgData name="Holland, Karrie" userId="23868a2e-e05c-4e18-9f80-537fd2a8fbe7" providerId="ADAL" clId="{A422843B-A0BC-4DE7-A2C6-5A768710AC41}" dt="2025-04-02T03:04:07.519" v="2997" actId="1076"/>
          <ac:picMkLst>
            <pc:docMk/>
            <pc:sldMk cId="2925626727" sldId="407"/>
            <ac:picMk id="6" creationId="{3349D2DD-C9D6-E649-91A8-AE807E2141BF}"/>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5/28/25</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23DE13-B41D-3707-0F63-98FF6B547A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E90164-D8B6-9B96-17F1-E4BEEAECC00F}"/>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01B017C-0EB2-59BB-93AF-C7FDDD863E9B}"/>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suggested pacing for this lesson is two 45-minute sessions.</a:t>
            </a:r>
          </a:p>
        </p:txBody>
      </p:sp>
      <p:sp>
        <p:nvSpPr>
          <p:cNvPr id="4" name="Slide Number Placeholder 3">
            <a:extLst>
              <a:ext uri="{FF2B5EF4-FFF2-40B4-BE49-F238E27FC236}">
                <a16:creationId xmlns:a16="http://schemas.microsoft.com/office/drawing/2014/main" id="{3B0F8F5D-2E1F-DFCE-F030-3FF9914FEF64}"/>
              </a:ext>
            </a:extLst>
          </p:cNvPr>
          <p:cNvSpPr>
            <a:spLocks noGrp="1"/>
          </p:cNvSpPr>
          <p:nvPr>
            <p:ph type="sldNum" sz="quarter" idx="5"/>
          </p:nvPr>
        </p:nvSpPr>
        <p:spPr/>
        <p:txBody>
          <a:bodyPr/>
          <a:lstStyle/>
          <a:p>
            <a:fld id="{BB5E49A5-4136-284D-997B-48E1D791AD67}" type="slidenum">
              <a:rPr lang="en-US" smtClean="0"/>
              <a:t>1</a:t>
            </a:fld>
            <a:endParaRPr lang="en-US"/>
          </a:p>
        </p:txBody>
      </p:sp>
    </p:spTree>
    <p:extLst>
      <p:ext uri="{BB962C8B-B14F-4D97-AF65-F5344CB8AC3E}">
        <p14:creationId xmlns:p14="http://schemas.microsoft.com/office/powerpoint/2010/main" val="26910892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TEKS:</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A.1F: analyze mathematical relationships to connect and communicate mathematical ideas.</a:t>
            </a:r>
            <a:b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A.1G: display, explain, and justify mathematical ideas and arguments using precise mathematical language in written or oral communication.</a:t>
            </a:r>
          </a:p>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A.2A: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determine the domain and range of a linear function in mathematical problems; determine reasonable domain and range values for real-world situations, both continuous and discrete; and represent domain and range using inequalities.</a:t>
            </a:r>
          </a:p>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A.2C: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write linear equations in two variables given a table of values, a graph, and a verbal description.</a:t>
            </a:r>
          </a:p>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A.3C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graph linear functions on the coordinate plane and identify key features, including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 zeros, and slope, in mathematical and real-world problems. </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A.3E: determine the effects on the graph of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when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replaced by </a:t>
            </a:r>
            <a:r>
              <a:rPr lang="en-US" i="1" dirty="0" err="1">
                <a:solidFill>
                  <a:srgbClr val="000000"/>
                </a:solidFill>
                <a:latin typeface="Calibri" panose="020F0502020204030204" pitchFamily="34" charset="0"/>
                <a:ea typeface="Calibri" panose="020F0502020204030204" pitchFamily="34" charset="0"/>
                <a:cs typeface="Calibri" panose="020F0502020204030204" pitchFamily="34" charset="0"/>
              </a:rPr>
              <a:t>af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for specific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algn="l"/>
            <a:endPar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algn="l"/>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ELPS:</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1.E: internalize new basic and academic language by using and reusing it in meaningful ways in speaking and writing activities that build concept and language attainment.</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2.D: monitor understanding of spoken language during classroom instruction and interactions and seek clarification as needed.</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3.C: speak using a variety of grammatical structures, sentence lengths, sentence types, and connecting words with increasing accuracy and ease as more English is acquired.</a:t>
            </a:r>
            <a:endPar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2</a:t>
            </a:fld>
            <a:endParaRPr lang="en-US"/>
          </a:p>
        </p:txBody>
      </p:sp>
    </p:spTree>
    <p:extLst>
      <p:ext uri="{BB962C8B-B14F-4D97-AF65-F5344CB8AC3E}">
        <p14:creationId xmlns:p14="http://schemas.microsoft.com/office/powerpoint/2010/main" val="3158077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Setting the Stage:</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Tap into your student’s prior learning by reading the narrative statement.</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Provide a sense of direction by reading the Essential Question.</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3</a:t>
            </a:fld>
            <a:endParaRPr lang="en-US"/>
          </a:p>
        </p:txBody>
      </p:sp>
    </p:spTree>
    <p:extLst>
      <p:ext uri="{BB962C8B-B14F-4D97-AF65-F5344CB8AC3E}">
        <p14:creationId xmlns:p14="http://schemas.microsoft.com/office/powerpoint/2010/main" val="40617252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suggested pacing for Day 1 is 45 minutes.</a:t>
            </a:r>
          </a:p>
        </p:txBody>
      </p:sp>
      <p:sp>
        <p:nvSpPr>
          <p:cNvPr id="4" name="Slide Number Placeholder 3"/>
          <p:cNvSpPr>
            <a:spLocks noGrp="1"/>
          </p:cNvSpPr>
          <p:nvPr>
            <p:ph type="sldNum" sz="quarter" idx="5"/>
          </p:nvPr>
        </p:nvSpPr>
        <p:spPr/>
        <p:txBody>
          <a:bodyPr/>
          <a:lstStyle/>
          <a:p>
            <a:fld id="{BB5E49A5-4136-284D-997B-48E1D791AD67}" type="slidenum">
              <a:rPr lang="en-US" smtClean="0"/>
              <a:t>4</a:t>
            </a:fld>
            <a:endParaRPr lang="en-US"/>
          </a:p>
        </p:txBody>
      </p:sp>
    </p:spTree>
    <p:extLst>
      <p:ext uri="{BB962C8B-B14F-4D97-AF65-F5344CB8AC3E}">
        <p14:creationId xmlns:p14="http://schemas.microsoft.com/office/powerpoint/2010/main" val="338873776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5-10 minutes allotted for the Getting Started.</a:t>
            </a:r>
          </a:p>
        </p:txBody>
      </p:sp>
      <p:sp>
        <p:nvSpPr>
          <p:cNvPr id="4" name="Slide Number Placeholder 3"/>
          <p:cNvSpPr>
            <a:spLocks noGrp="1"/>
          </p:cNvSpPr>
          <p:nvPr>
            <p:ph type="sldNum" sz="quarter" idx="5"/>
          </p:nvPr>
        </p:nvSpPr>
        <p:spPr/>
        <p:txBody>
          <a:bodyPr/>
          <a:lstStyle/>
          <a:p>
            <a:fld id="{BB5E49A5-4136-284D-997B-48E1D791AD67}" type="slidenum">
              <a:rPr lang="en-US" smtClean="0"/>
              <a:t>5</a:t>
            </a:fld>
            <a:endParaRPr lang="en-US"/>
          </a:p>
        </p:txBody>
      </p:sp>
    </p:spTree>
    <p:extLst>
      <p:ext uri="{BB962C8B-B14F-4D97-AF65-F5344CB8AC3E}">
        <p14:creationId xmlns:p14="http://schemas.microsoft.com/office/powerpoint/2010/main" val="31575870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Are the domain and range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same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h</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determine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-intercept/zero?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determine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determine the slope?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determine whether the function is increasing or decreasing?</a:t>
            </a:r>
          </a:p>
        </p:txBody>
      </p:sp>
      <p:sp>
        <p:nvSpPr>
          <p:cNvPr id="4" name="Slide Number Placeholder 3"/>
          <p:cNvSpPr>
            <a:spLocks noGrp="1"/>
          </p:cNvSpPr>
          <p:nvPr>
            <p:ph type="sldNum" sz="quarter" idx="5"/>
          </p:nvPr>
        </p:nvSpPr>
        <p:spPr/>
        <p:txBody>
          <a:bodyPr/>
          <a:lstStyle/>
          <a:p>
            <a:fld id="{BB5E49A5-4136-284D-997B-48E1D791AD67}" type="slidenum">
              <a:rPr lang="en-US" smtClean="0"/>
              <a:t>6</a:t>
            </a:fld>
            <a:endParaRPr lang="en-US"/>
          </a:p>
        </p:txBody>
      </p:sp>
    </p:spTree>
    <p:extLst>
      <p:ext uri="{BB962C8B-B14F-4D97-AF65-F5344CB8AC3E}">
        <p14:creationId xmlns:p14="http://schemas.microsoft.com/office/powerpoint/2010/main" val="361198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0F039-52B6-69A9-2C33-A5546D3DC2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C70012-EB44-44C9-3A18-C3AD5D43245F}"/>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0FD1627-1D9A-E1E5-C6A6-F6CD2E95E380}"/>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Are the domain and range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same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h</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determine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-intercept/zero?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determine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determine the slope?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determine whether the function is increasing or decreasing?</a:t>
            </a:r>
          </a:p>
        </p:txBody>
      </p:sp>
      <p:sp>
        <p:nvSpPr>
          <p:cNvPr id="4" name="Slide Number Placeholder 3">
            <a:extLst>
              <a:ext uri="{FF2B5EF4-FFF2-40B4-BE49-F238E27FC236}">
                <a16:creationId xmlns:a16="http://schemas.microsoft.com/office/drawing/2014/main" id="{73934871-0F42-849A-2509-7095BD0F0159}"/>
              </a:ext>
            </a:extLst>
          </p:cNvPr>
          <p:cNvSpPr>
            <a:spLocks noGrp="1"/>
          </p:cNvSpPr>
          <p:nvPr>
            <p:ph type="sldNum" sz="quarter" idx="5"/>
          </p:nvPr>
        </p:nvSpPr>
        <p:spPr/>
        <p:txBody>
          <a:bodyPr/>
          <a:lstStyle/>
          <a:p>
            <a:fld id="{BB5E49A5-4136-284D-997B-48E1D791AD67}" type="slidenum">
              <a:rPr lang="en-US" smtClean="0"/>
              <a:t>7</a:t>
            </a:fld>
            <a:endParaRPr lang="en-US"/>
          </a:p>
        </p:txBody>
      </p:sp>
    </p:spTree>
    <p:extLst>
      <p:ext uri="{BB962C8B-B14F-4D97-AF65-F5344CB8AC3E}">
        <p14:creationId xmlns:p14="http://schemas.microsoft.com/office/powerpoint/2010/main" val="5538899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DC1D36-0789-3A0E-01C8-9D7EC0A8C7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FC599B-63DB-96F3-9A12-595FDD25DEF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E6CEF502-D210-4B34-43CE-0DD79F40C669}"/>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Getting Started Summary:</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The graph and key characteristics of a linear function can be determined from the equation.</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D3722ED9-DB10-E304-420A-518C05FC0F0A}"/>
              </a:ext>
            </a:extLst>
          </p:cNvPr>
          <p:cNvSpPr>
            <a:spLocks noGrp="1"/>
          </p:cNvSpPr>
          <p:nvPr>
            <p:ph type="sldNum" sz="quarter" idx="5"/>
          </p:nvPr>
        </p:nvSpPr>
        <p:spPr/>
        <p:txBody>
          <a:bodyPr/>
          <a:lstStyle/>
          <a:p>
            <a:fld id="{BB5E49A5-4136-284D-997B-48E1D791AD67}" type="slidenum">
              <a:rPr lang="en-US" smtClean="0"/>
              <a:t>8</a:t>
            </a:fld>
            <a:endParaRPr lang="en-US"/>
          </a:p>
        </p:txBody>
      </p:sp>
    </p:spTree>
    <p:extLst>
      <p:ext uri="{BB962C8B-B14F-4D97-AF65-F5344CB8AC3E}">
        <p14:creationId xmlns:p14="http://schemas.microsoft.com/office/powerpoint/2010/main" val="260155040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DC1D36-0789-3A0E-01C8-9D7EC0A8C7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FC599B-63DB-96F3-9A12-595FDD25DEF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E6CEF502-D210-4B34-43CE-0DD79F40C669}"/>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b="0" dirty="0">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D3722ED9-DB10-E304-420A-518C05FC0F0A}"/>
              </a:ext>
            </a:extLst>
          </p:cNvPr>
          <p:cNvSpPr>
            <a:spLocks noGrp="1"/>
          </p:cNvSpPr>
          <p:nvPr>
            <p:ph type="sldNum" sz="quarter" idx="5"/>
          </p:nvPr>
        </p:nvSpPr>
        <p:spPr/>
        <p:txBody>
          <a:bodyPr/>
          <a:lstStyle/>
          <a:p>
            <a:fld id="{BB5E49A5-4136-284D-997B-48E1D791AD67}" type="slidenum">
              <a:rPr lang="en-US" smtClean="0"/>
              <a:t>9</a:t>
            </a:fld>
            <a:endParaRPr lang="en-US"/>
          </a:p>
        </p:txBody>
      </p:sp>
    </p:spTree>
    <p:extLst>
      <p:ext uri="{BB962C8B-B14F-4D97-AF65-F5344CB8AC3E}">
        <p14:creationId xmlns:p14="http://schemas.microsoft.com/office/powerpoint/2010/main" val="26015504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30-35 minutes allotted for Activity 2.1.</a:t>
            </a:r>
          </a:p>
        </p:txBody>
      </p:sp>
      <p:sp>
        <p:nvSpPr>
          <p:cNvPr id="4" name="Slide Number Placeholder 3"/>
          <p:cNvSpPr>
            <a:spLocks noGrp="1"/>
          </p:cNvSpPr>
          <p:nvPr>
            <p:ph type="sldNum" sz="quarter" idx="5"/>
          </p:nvPr>
        </p:nvSpPr>
        <p:spPr/>
        <p:txBody>
          <a:bodyPr/>
          <a:lstStyle/>
          <a:p>
            <a:fld id="{BB5E49A5-4136-284D-997B-48E1D791AD67}" type="slidenum">
              <a:rPr lang="en-US" smtClean="0"/>
              <a:t>10</a:t>
            </a:fld>
            <a:endParaRPr lang="en-US"/>
          </a:p>
        </p:txBody>
      </p:sp>
    </p:spTree>
    <p:extLst>
      <p:ext uri="{BB962C8B-B14F-4D97-AF65-F5344CB8AC3E}">
        <p14:creationId xmlns:p14="http://schemas.microsoft.com/office/powerpoint/2010/main" val="1614653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11</a:t>
            </a:fld>
            <a:endParaRPr lang="en-US"/>
          </a:p>
        </p:txBody>
      </p:sp>
    </p:spTree>
    <p:extLst>
      <p:ext uri="{BB962C8B-B14F-4D97-AF65-F5344CB8AC3E}">
        <p14:creationId xmlns:p14="http://schemas.microsoft.com/office/powerpoint/2010/main" val="18336194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66A92-6849-9FFA-76FC-D63AEDB618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C3BF50-F0B1-601C-B877-16203C156EFA}"/>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5B0B2DC7-DAAA-62DF-085F-DB76CB4F937F}"/>
              </a:ext>
            </a:extLst>
          </p:cNvPr>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243159F0-D077-0D59-F944-3922767EE8EB}"/>
              </a:ext>
            </a:extLst>
          </p:cNvPr>
          <p:cNvSpPr>
            <a:spLocks noGrp="1"/>
          </p:cNvSpPr>
          <p:nvPr>
            <p:ph type="sldNum" sz="quarter" idx="5"/>
          </p:nvPr>
        </p:nvSpPr>
        <p:spPr/>
        <p:txBody>
          <a:bodyPr/>
          <a:lstStyle/>
          <a:p>
            <a:fld id="{BB5E49A5-4136-284D-997B-48E1D791AD67}" type="slidenum">
              <a:rPr lang="en-US" smtClean="0"/>
              <a:t>12</a:t>
            </a:fld>
            <a:endParaRPr lang="en-US"/>
          </a:p>
        </p:txBody>
      </p:sp>
    </p:spTree>
    <p:extLst>
      <p:ext uri="{BB962C8B-B14F-4D97-AF65-F5344CB8AC3E}">
        <p14:creationId xmlns:p14="http://schemas.microsoft.com/office/powerpoint/2010/main" val="97650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such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t</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domain?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input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vertical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output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horizontal translation right 5 units equivalent to a vertical translation down 5 units?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vertical translation up 3 units equivalent to a horizontal translation left 3 units?</a:t>
            </a:r>
          </a:p>
        </p:txBody>
      </p:sp>
      <p:sp>
        <p:nvSpPr>
          <p:cNvPr id="4" name="Slide Number Placeholder 3"/>
          <p:cNvSpPr>
            <a:spLocks noGrp="1"/>
          </p:cNvSpPr>
          <p:nvPr>
            <p:ph type="sldNum" sz="quarter" idx="5"/>
          </p:nvPr>
        </p:nvSpPr>
        <p:spPr/>
        <p:txBody>
          <a:bodyPr/>
          <a:lstStyle/>
          <a:p>
            <a:fld id="{BB5E49A5-4136-284D-997B-48E1D791AD67}" type="slidenum">
              <a:rPr lang="en-US" smtClean="0"/>
              <a:t>13</a:t>
            </a:fld>
            <a:endParaRPr lang="en-US"/>
          </a:p>
        </p:txBody>
      </p:sp>
    </p:spTree>
    <p:extLst>
      <p:ext uri="{BB962C8B-B14F-4D97-AF65-F5344CB8AC3E}">
        <p14:creationId xmlns:p14="http://schemas.microsoft.com/office/powerpoint/2010/main" val="10544826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F6DEF3-AC41-2FFE-6E73-BC03B49582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36C3A1-DFFE-7666-C1BF-581A52E3DB81}"/>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D156B01-FE18-F373-F7C8-190C1E30B57F}"/>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such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t</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domain?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input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vertical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output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horizontal translation right 5 units equivalent to a vertical translation down 5 units?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vertical translation up 3 units equivalent to a horizontal translation left 3 units?</a:t>
            </a:r>
          </a:p>
        </p:txBody>
      </p:sp>
      <p:sp>
        <p:nvSpPr>
          <p:cNvPr id="4" name="Slide Number Placeholder 3">
            <a:extLst>
              <a:ext uri="{FF2B5EF4-FFF2-40B4-BE49-F238E27FC236}">
                <a16:creationId xmlns:a16="http://schemas.microsoft.com/office/drawing/2014/main" id="{5B353616-61CE-0E93-949D-8BFBDB8A2334}"/>
              </a:ext>
            </a:extLst>
          </p:cNvPr>
          <p:cNvSpPr>
            <a:spLocks noGrp="1"/>
          </p:cNvSpPr>
          <p:nvPr>
            <p:ph type="sldNum" sz="quarter" idx="5"/>
          </p:nvPr>
        </p:nvSpPr>
        <p:spPr/>
        <p:txBody>
          <a:bodyPr/>
          <a:lstStyle/>
          <a:p>
            <a:fld id="{BB5E49A5-4136-284D-997B-48E1D791AD67}" type="slidenum">
              <a:rPr lang="en-US" smtClean="0"/>
              <a:t>14</a:t>
            </a:fld>
            <a:endParaRPr lang="en-US"/>
          </a:p>
        </p:txBody>
      </p:sp>
    </p:spTree>
    <p:extLst>
      <p:ext uri="{BB962C8B-B14F-4D97-AF65-F5344CB8AC3E}">
        <p14:creationId xmlns:p14="http://schemas.microsoft.com/office/powerpoint/2010/main" val="322923496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81E8C8-2AAB-C759-115A-259F7A063C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4A0450-5D74-4576-15E9-4648B811F1C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784A27E2-87A8-EC4C-CDD0-4670478B4CA5}"/>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such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t</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domain?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input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vertical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output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horizontal translation right 5 units equivalent to a vertical translation down 5 units?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vertical translation up 3 units equivalent to a horizontal translation left 3 units?</a:t>
            </a:r>
          </a:p>
        </p:txBody>
      </p:sp>
      <p:sp>
        <p:nvSpPr>
          <p:cNvPr id="4" name="Slide Number Placeholder 3">
            <a:extLst>
              <a:ext uri="{FF2B5EF4-FFF2-40B4-BE49-F238E27FC236}">
                <a16:creationId xmlns:a16="http://schemas.microsoft.com/office/drawing/2014/main" id="{5FB256ED-C7D0-83E5-BBB7-D8F921013240}"/>
              </a:ext>
            </a:extLst>
          </p:cNvPr>
          <p:cNvSpPr>
            <a:spLocks noGrp="1"/>
          </p:cNvSpPr>
          <p:nvPr>
            <p:ph type="sldNum" sz="quarter" idx="5"/>
          </p:nvPr>
        </p:nvSpPr>
        <p:spPr/>
        <p:txBody>
          <a:bodyPr/>
          <a:lstStyle/>
          <a:p>
            <a:fld id="{BB5E49A5-4136-284D-997B-48E1D791AD67}" type="slidenum">
              <a:rPr lang="en-US" smtClean="0"/>
              <a:t>15</a:t>
            </a:fld>
            <a:endParaRPr lang="en-US"/>
          </a:p>
        </p:txBody>
      </p:sp>
    </p:spTree>
    <p:extLst>
      <p:ext uri="{BB962C8B-B14F-4D97-AF65-F5344CB8AC3E}">
        <p14:creationId xmlns:p14="http://schemas.microsoft.com/office/powerpoint/2010/main" val="68463510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D08F79-6158-F171-28F8-94A610062C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B1C8B8-390C-BAE3-42E7-4A94BCAC3E25}"/>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DF37CA0E-A63B-50A5-6998-B795804471C7}"/>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such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t</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domain?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input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vertical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output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horizontal translation right 5 units equivalent to a vertical translation down 5 units?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vertical translation up 3 units equivalent to a horizontal translation left 3 units?</a:t>
            </a:r>
          </a:p>
        </p:txBody>
      </p:sp>
      <p:sp>
        <p:nvSpPr>
          <p:cNvPr id="4" name="Slide Number Placeholder 3">
            <a:extLst>
              <a:ext uri="{FF2B5EF4-FFF2-40B4-BE49-F238E27FC236}">
                <a16:creationId xmlns:a16="http://schemas.microsoft.com/office/drawing/2014/main" id="{80CD14E9-20E5-7F03-13FF-8D02671AC177}"/>
              </a:ext>
            </a:extLst>
          </p:cNvPr>
          <p:cNvSpPr>
            <a:spLocks noGrp="1"/>
          </p:cNvSpPr>
          <p:nvPr>
            <p:ph type="sldNum" sz="quarter" idx="5"/>
          </p:nvPr>
        </p:nvSpPr>
        <p:spPr/>
        <p:txBody>
          <a:bodyPr/>
          <a:lstStyle/>
          <a:p>
            <a:fld id="{BB5E49A5-4136-284D-997B-48E1D791AD67}" type="slidenum">
              <a:rPr lang="en-US" smtClean="0"/>
              <a:t>16</a:t>
            </a:fld>
            <a:endParaRPr lang="en-US"/>
          </a:p>
        </p:txBody>
      </p:sp>
    </p:spTree>
    <p:extLst>
      <p:ext uri="{BB962C8B-B14F-4D97-AF65-F5344CB8AC3E}">
        <p14:creationId xmlns:p14="http://schemas.microsoft.com/office/powerpoint/2010/main" val="111802682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03164F-4A26-FFD7-056E-1912CB8DBA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44D116-E269-9BAB-AB90-D6164A712FD1}"/>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98A0C50-DB59-B003-9F49-8D678782068B}"/>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such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t</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domain?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input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vertical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output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horizontal translation right 5 units equivalent to a vertical translation down 5 units?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vertical translation up 3 units equivalent to a horizontal translation left 3 units?</a:t>
            </a:r>
          </a:p>
        </p:txBody>
      </p:sp>
      <p:sp>
        <p:nvSpPr>
          <p:cNvPr id="4" name="Slide Number Placeholder 3">
            <a:extLst>
              <a:ext uri="{FF2B5EF4-FFF2-40B4-BE49-F238E27FC236}">
                <a16:creationId xmlns:a16="http://schemas.microsoft.com/office/drawing/2014/main" id="{A0672A03-E264-42FD-62D6-970DBE88FF64}"/>
              </a:ext>
            </a:extLst>
          </p:cNvPr>
          <p:cNvSpPr>
            <a:spLocks noGrp="1"/>
          </p:cNvSpPr>
          <p:nvPr>
            <p:ph type="sldNum" sz="quarter" idx="5"/>
          </p:nvPr>
        </p:nvSpPr>
        <p:spPr/>
        <p:txBody>
          <a:bodyPr/>
          <a:lstStyle/>
          <a:p>
            <a:fld id="{BB5E49A5-4136-284D-997B-48E1D791AD67}" type="slidenum">
              <a:rPr lang="en-US" smtClean="0"/>
              <a:t>17</a:t>
            </a:fld>
            <a:endParaRPr lang="en-US"/>
          </a:p>
        </p:txBody>
      </p:sp>
    </p:spTree>
    <p:extLst>
      <p:ext uri="{BB962C8B-B14F-4D97-AF65-F5344CB8AC3E}">
        <p14:creationId xmlns:p14="http://schemas.microsoft.com/office/powerpoint/2010/main" val="335017712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570556-79FE-6FAA-0EB1-E1BC18B636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1290E7-C3D2-E7C2-ED8C-711374E1FAB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913EF85-D3C8-52DC-8030-851B3D4D3F8E}"/>
              </a:ext>
            </a:extLst>
          </p:cNvPr>
          <p:cNvSpPr>
            <a:spLocks noGrp="1"/>
          </p:cNvSpPr>
          <p:nvPr>
            <p:ph type="body" idx="1"/>
          </p:nvPr>
        </p:nvSpPr>
        <p:spPr/>
        <p:txBody>
          <a:bodyPr/>
          <a:lstStyle/>
          <a:p>
            <a:pPr algn="l"/>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1909C97C-8DC1-11C0-B3F4-33F70A65982F}"/>
              </a:ext>
            </a:extLst>
          </p:cNvPr>
          <p:cNvSpPr>
            <a:spLocks noGrp="1"/>
          </p:cNvSpPr>
          <p:nvPr>
            <p:ph type="sldNum" sz="quarter" idx="5"/>
          </p:nvPr>
        </p:nvSpPr>
        <p:spPr/>
        <p:txBody>
          <a:bodyPr/>
          <a:lstStyle/>
          <a:p>
            <a:fld id="{BB5E49A5-4136-284D-997B-48E1D791AD67}" type="slidenum">
              <a:rPr lang="en-US" smtClean="0"/>
              <a:t>18</a:t>
            </a:fld>
            <a:endParaRPr lang="en-US"/>
          </a:p>
        </p:txBody>
      </p:sp>
    </p:spTree>
    <p:extLst>
      <p:ext uri="{BB962C8B-B14F-4D97-AF65-F5344CB8AC3E}">
        <p14:creationId xmlns:p14="http://schemas.microsoft.com/office/powerpoint/2010/main" val="153678421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F57CF7-6EB4-DE28-A488-524823C1B1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1BA961-0213-18B8-924E-2C2ABF0D342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C1FAFB26-C9B5-AA92-DA02-ABE0CA624627}"/>
              </a:ext>
            </a:extLst>
          </p:cNvPr>
          <p:cNvSpPr>
            <a:spLocks noGrp="1"/>
          </p:cNvSpPr>
          <p:nvPr>
            <p:ph type="body" idx="1"/>
          </p:nvPr>
        </p:nvSpPr>
        <p:spPr/>
        <p:txBody>
          <a:bodyPr/>
          <a:lstStyle/>
          <a:p>
            <a:pPr algn="l"/>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4E33BB19-3AA5-2F31-A277-B183733FDDBA}"/>
              </a:ext>
            </a:extLst>
          </p:cNvPr>
          <p:cNvSpPr>
            <a:spLocks noGrp="1"/>
          </p:cNvSpPr>
          <p:nvPr>
            <p:ph type="sldNum" sz="quarter" idx="5"/>
          </p:nvPr>
        </p:nvSpPr>
        <p:spPr/>
        <p:txBody>
          <a:bodyPr/>
          <a:lstStyle/>
          <a:p>
            <a:fld id="{BB5E49A5-4136-284D-997B-48E1D791AD67}" type="slidenum">
              <a:rPr lang="en-US" smtClean="0"/>
              <a:t>19</a:t>
            </a:fld>
            <a:endParaRPr lang="en-US"/>
          </a:p>
        </p:txBody>
      </p:sp>
    </p:spTree>
    <p:extLst>
      <p:ext uri="{BB962C8B-B14F-4D97-AF65-F5344CB8AC3E}">
        <p14:creationId xmlns:p14="http://schemas.microsoft.com/office/powerpoint/2010/main" val="283669866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FC12A-1E4E-7264-E92D-6518E0A109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28D4E5-3D9F-F3FD-0206-34BDB3770B6B}"/>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932BB10D-FFE6-86EE-B137-E493CFF4EFE7}"/>
              </a:ext>
            </a:extLst>
          </p:cNvPr>
          <p:cNvSpPr>
            <a:spLocks noGrp="1"/>
          </p:cNvSpPr>
          <p:nvPr>
            <p:ph type="body" idx="1"/>
          </p:nvPr>
        </p:nvSpPr>
        <p:spPr/>
        <p:txBody>
          <a:bodyPr/>
          <a:lstStyle/>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vertical translation up 4 units equivalent to a horizontal translation left 4 units?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horizontal translation right 2 units equivalent to a vertical translation down 2 units?</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572D49E8-BE74-4C30-3804-BC64D22EBBAA}"/>
              </a:ext>
            </a:extLst>
          </p:cNvPr>
          <p:cNvSpPr>
            <a:spLocks noGrp="1"/>
          </p:cNvSpPr>
          <p:nvPr>
            <p:ph type="sldNum" sz="quarter" idx="5"/>
          </p:nvPr>
        </p:nvSpPr>
        <p:spPr/>
        <p:txBody>
          <a:bodyPr/>
          <a:lstStyle/>
          <a:p>
            <a:fld id="{BB5E49A5-4136-284D-997B-48E1D791AD67}" type="slidenum">
              <a:rPr lang="en-US" smtClean="0"/>
              <a:t>20</a:t>
            </a:fld>
            <a:endParaRPr lang="en-US"/>
          </a:p>
        </p:txBody>
      </p:sp>
    </p:spTree>
    <p:extLst>
      <p:ext uri="{BB962C8B-B14F-4D97-AF65-F5344CB8AC3E}">
        <p14:creationId xmlns:p14="http://schemas.microsoft.com/office/powerpoint/2010/main" val="131295063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2EEC95-5174-1DE3-E55E-650EB5228B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E9C335-0EDE-EBC7-79B1-53A7EC05AC7C}"/>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5E6F644-3645-6D07-3668-3079EFA123BA}"/>
              </a:ext>
            </a:extLst>
          </p:cNvPr>
          <p:cNvSpPr>
            <a:spLocks noGrp="1"/>
          </p:cNvSpPr>
          <p:nvPr>
            <p:ph type="body" idx="1"/>
          </p:nvPr>
        </p:nvSpPr>
        <p:spPr/>
        <p:txBody>
          <a:bodyPr/>
          <a:lstStyle/>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vertical translation up 4 units equivalent to a horizontal translation left 4 units?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horizontal translation right 2 units equivalent to a vertical translation down 2 units?</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95AEF71C-849F-75E4-17B4-8D274F6763D0}"/>
              </a:ext>
            </a:extLst>
          </p:cNvPr>
          <p:cNvSpPr>
            <a:spLocks noGrp="1"/>
          </p:cNvSpPr>
          <p:nvPr>
            <p:ph type="sldNum" sz="quarter" idx="5"/>
          </p:nvPr>
        </p:nvSpPr>
        <p:spPr/>
        <p:txBody>
          <a:bodyPr/>
          <a:lstStyle/>
          <a:p>
            <a:fld id="{BB5E49A5-4136-284D-997B-48E1D791AD67}" type="slidenum">
              <a:rPr lang="en-US" smtClean="0"/>
              <a:t>21</a:t>
            </a:fld>
            <a:endParaRPr lang="en-US"/>
          </a:p>
        </p:txBody>
      </p:sp>
    </p:spTree>
    <p:extLst>
      <p:ext uri="{BB962C8B-B14F-4D97-AF65-F5344CB8AC3E}">
        <p14:creationId xmlns:p14="http://schemas.microsoft.com/office/powerpoint/2010/main" val="352222420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A7AC52-09CD-4EF8-CC19-E1A75BA1EA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8316EC-EAE1-EB0B-804F-5E05E472CFE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EA0B5460-3DA1-4E19-091D-D6CA9E00F88E}"/>
              </a:ext>
            </a:extLst>
          </p:cNvPr>
          <p:cNvSpPr>
            <a:spLocks noGrp="1"/>
          </p:cNvSpPr>
          <p:nvPr>
            <p:ph type="body" idx="1"/>
          </p:nvPr>
        </p:nvSpPr>
        <p:spPr/>
        <p:txBody>
          <a:bodyPr/>
          <a:lstStyle/>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vertical translation up 4 units equivalent to a horizontal translation left 4 units?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horizontal translation right 2 units equivalent to a vertical translation down 2 units?</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b="1" dirty="0"/>
              <a:t>Slide typo: the second item is labeled 'a.'; it is item b.</a:t>
            </a:r>
          </a:p>
        </p:txBody>
      </p:sp>
      <p:sp>
        <p:nvSpPr>
          <p:cNvPr id="4" name="Slide Number Placeholder 3">
            <a:extLst>
              <a:ext uri="{FF2B5EF4-FFF2-40B4-BE49-F238E27FC236}">
                <a16:creationId xmlns:a16="http://schemas.microsoft.com/office/drawing/2014/main" id="{1020C47C-5F5E-CC85-3A3D-030824B5D103}"/>
              </a:ext>
            </a:extLst>
          </p:cNvPr>
          <p:cNvSpPr>
            <a:spLocks noGrp="1"/>
          </p:cNvSpPr>
          <p:nvPr>
            <p:ph type="sldNum" sz="quarter" idx="5"/>
          </p:nvPr>
        </p:nvSpPr>
        <p:spPr/>
        <p:txBody>
          <a:bodyPr/>
          <a:lstStyle/>
          <a:p>
            <a:fld id="{BB5E49A5-4136-284D-997B-48E1D791AD67}" type="slidenum">
              <a:rPr lang="en-US" smtClean="0"/>
              <a:t>22</a:t>
            </a:fld>
            <a:endParaRPr lang="en-US"/>
          </a:p>
        </p:txBody>
      </p:sp>
    </p:spTree>
    <p:extLst>
      <p:ext uri="{BB962C8B-B14F-4D97-AF65-F5344CB8AC3E}">
        <p14:creationId xmlns:p14="http://schemas.microsoft.com/office/powerpoint/2010/main" val="151624184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8C76FF-26BC-2AB8-28C3-A2655E1E3B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3E943C-8082-6CF7-2849-78364AE93AB3}"/>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0E8C47E1-2B97-3252-D543-74CE73131D17}"/>
              </a:ext>
            </a:extLst>
          </p:cNvPr>
          <p:cNvSpPr>
            <a:spLocks noGrp="1"/>
          </p:cNvSpPr>
          <p:nvPr>
            <p:ph type="body" idx="1"/>
          </p:nvPr>
        </p:nvSpPr>
        <p:spPr/>
        <p:txBody>
          <a:bodyPr/>
          <a:lstStyle/>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vertical translation up 4 units equivalent to a horizontal translation left 4 units?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horizontal translation right 2 units equivalent to a vertical translation down 2 units?</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b="1" dirty="0"/>
              <a:t>Slide typo: both items are labeled 'a.'; they are items c and d.</a:t>
            </a:r>
          </a:p>
        </p:txBody>
      </p:sp>
      <p:sp>
        <p:nvSpPr>
          <p:cNvPr id="4" name="Slide Number Placeholder 3">
            <a:extLst>
              <a:ext uri="{FF2B5EF4-FFF2-40B4-BE49-F238E27FC236}">
                <a16:creationId xmlns:a16="http://schemas.microsoft.com/office/drawing/2014/main" id="{F387614E-5410-C8B1-5540-2A7AC27AD13A}"/>
              </a:ext>
            </a:extLst>
          </p:cNvPr>
          <p:cNvSpPr>
            <a:spLocks noGrp="1"/>
          </p:cNvSpPr>
          <p:nvPr>
            <p:ph type="sldNum" sz="quarter" idx="5"/>
          </p:nvPr>
        </p:nvSpPr>
        <p:spPr/>
        <p:txBody>
          <a:bodyPr/>
          <a:lstStyle/>
          <a:p>
            <a:fld id="{BB5E49A5-4136-284D-997B-48E1D791AD67}" type="slidenum">
              <a:rPr lang="en-US" smtClean="0"/>
              <a:t>23</a:t>
            </a:fld>
            <a:endParaRPr lang="en-US"/>
          </a:p>
        </p:txBody>
      </p:sp>
    </p:spTree>
    <p:extLst>
      <p:ext uri="{BB962C8B-B14F-4D97-AF65-F5344CB8AC3E}">
        <p14:creationId xmlns:p14="http://schemas.microsoft.com/office/powerpoint/2010/main" val="109257429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3D62F5-6C77-2CC5-1EED-8CF0F57BE1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CE0FE6-959C-AA46-FEE8-63536D767E72}"/>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62250CB-ADAC-CF1E-FA4B-88B753141D55}"/>
              </a:ext>
            </a:extLst>
          </p:cNvPr>
          <p:cNvSpPr>
            <a:spLocks noGrp="1"/>
          </p:cNvSpPr>
          <p:nvPr>
            <p:ph type="body" idx="1"/>
          </p:nvPr>
        </p:nvSpPr>
        <p:spPr/>
        <p:txBody>
          <a:bodyPr/>
          <a:lstStyle/>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vertical translation up 4 units equivalent to a horizontal translation left 4 units?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horizontal translation right 2 units equivalent to a vertical translation down 2 units?</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C138EC23-BCB8-70CF-25CB-5F21E015F5A8}"/>
              </a:ext>
            </a:extLst>
          </p:cNvPr>
          <p:cNvSpPr>
            <a:spLocks noGrp="1"/>
          </p:cNvSpPr>
          <p:nvPr>
            <p:ph type="sldNum" sz="quarter" idx="5"/>
          </p:nvPr>
        </p:nvSpPr>
        <p:spPr/>
        <p:txBody>
          <a:bodyPr/>
          <a:lstStyle/>
          <a:p>
            <a:fld id="{BB5E49A5-4136-284D-997B-48E1D791AD67}" type="slidenum">
              <a:rPr lang="en-US" smtClean="0"/>
              <a:t>24</a:t>
            </a:fld>
            <a:endParaRPr lang="en-US"/>
          </a:p>
        </p:txBody>
      </p:sp>
    </p:spTree>
    <p:extLst>
      <p:ext uri="{BB962C8B-B14F-4D97-AF65-F5344CB8AC3E}">
        <p14:creationId xmlns:p14="http://schemas.microsoft.com/office/powerpoint/2010/main" val="267936437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8346ED-CA95-F5AC-B6A2-7A0803CFC1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C2F9E3-D13B-2A6A-C9ED-394E29C18138}"/>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C4D7964-9BA1-9286-5E83-19480A999B45}"/>
              </a:ext>
            </a:extLst>
          </p:cNvPr>
          <p:cNvSpPr>
            <a:spLocks noGrp="1"/>
          </p:cNvSpPr>
          <p:nvPr>
            <p:ph type="body" idx="1"/>
          </p:nvPr>
        </p:nvSpPr>
        <p:spPr/>
        <p:txBody>
          <a:bodyPr/>
          <a:lstStyle/>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vertical translation up 4 units equivalent to a horizontal translation left 4 units?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horizontal translation right 2 units equivalent to a vertical translation down 2 units?</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3D2E24B3-2B94-C038-B318-EE29A4976383}"/>
              </a:ext>
            </a:extLst>
          </p:cNvPr>
          <p:cNvSpPr>
            <a:spLocks noGrp="1"/>
          </p:cNvSpPr>
          <p:nvPr>
            <p:ph type="sldNum" sz="quarter" idx="5"/>
          </p:nvPr>
        </p:nvSpPr>
        <p:spPr/>
        <p:txBody>
          <a:bodyPr/>
          <a:lstStyle/>
          <a:p>
            <a:fld id="{BB5E49A5-4136-284D-997B-48E1D791AD67}" type="slidenum">
              <a:rPr lang="en-US" smtClean="0"/>
              <a:t>25</a:t>
            </a:fld>
            <a:endParaRPr lang="en-US"/>
          </a:p>
        </p:txBody>
      </p:sp>
    </p:spTree>
    <p:extLst>
      <p:ext uri="{BB962C8B-B14F-4D97-AF65-F5344CB8AC3E}">
        <p14:creationId xmlns:p14="http://schemas.microsoft.com/office/powerpoint/2010/main" val="227834623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65AEA-130B-6736-50D0-E8E2F7A1B9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AE1D73-731D-34B3-F878-DCCAF3C8DAD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7752122-E447-28BE-C2DB-563DBB54703C}"/>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 To close Day 1, have students reread the Essential Question and then read the Stamp the Learning summary aloud.</a:t>
            </a:r>
          </a:p>
          <a:p>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Activity 2.1 Summary:</a:t>
            </a:r>
          </a:p>
          <a:p>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 horizontal translation right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n</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units produces the same graph as a vertical translation down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n</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units.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 addition, a horizontal translation left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n</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units produces the same graph as a vertical translation up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n</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units.</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A804E39F-7316-A03F-6CD9-D3A3D26408EE}"/>
              </a:ext>
            </a:extLst>
          </p:cNvPr>
          <p:cNvSpPr>
            <a:spLocks noGrp="1"/>
          </p:cNvSpPr>
          <p:nvPr>
            <p:ph type="sldNum" sz="quarter" idx="5"/>
          </p:nvPr>
        </p:nvSpPr>
        <p:spPr/>
        <p:txBody>
          <a:bodyPr/>
          <a:lstStyle/>
          <a:p>
            <a:fld id="{BB5E49A5-4136-284D-997B-48E1D791AD67}" type="slidenum">
              <a:rPr lang="en-US" smtClean="0"/>
              <a:t>26</a:t>
            </a:fld>
            <a:endParaRPr lang="en-US"/>
          </a:p>
        </p:txBody>
      </p:sp>
    </p:spTree>
    <p:extLst>
      <p:ext uri="{BB962C8B-B14F-4D97-AF65-F5344CB8AC3E}">
        <p14:creationId xmlns:p14="http://schemas.microsoft.com/office/powerpoint/2010/main" val="248819930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65AEA-130B-6736-50D0-E8E2F7A1B9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AE1D73-731D-34B3-F878-DCCAF3C8DAD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7752122-E447-28BE-C2DB-563DBB54703C}"/>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A804E39F-7316-A03F-6CD9-D3A3D26408EE}"/>
              </a:ext>
            </a:extLst>
          </p:cNvPr>
          <p:cNvSpPr>
            <a:spLocks noGrp="1"/>
          </p:cNvSpPr>
          <p:nvPr>
            <p:ph type="sldNum" sz="quarter" idx="5"/>
          </p:nvPr>
        </p:nvSpPr>
        <p:spPr/>
        <p:txBody>
          <a:bodyPr/>
          <a:lstStyle/>
          <a:p>
            <a:fld id="{BB5E49A5-4136-284D-997B-48E1D791AD67}" type="slidenum">
              <a:rPr lang="en-US" smtClean="0"/>
              <a:t>27</a:t>
            </a:fld>
            <a:endParaRPr lang="en-US"/>
          </a:p>
        </p:txBody>
      </p:sp>
    </p:spTree>
    <p:extLst>
      <p:ext uri="{BB962C8B-B14F-4D97-AF65-F5344CB8AC3E}">
        <p14:creationId xmlns:p14="http://schemas.microsoft.com/office/powerpoint/2010/main" val="248819930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Total suggested pacing for Day 2 is 45 minutes.</a:t>
            </a:r>
          </a:p>
        </p:txBody>
      </p:sp>
      <p:sp>
        <p:nvSpPr>
          <p:cNvPr id="4" name="Slide Number Placeholder 3"/>
          <p:cNvSpPr>
            <a:spLocks noGrp="1"/>
          </p:cNvSpPr>
          <p:nvPr>
            <p:ph type="sldNum" sz="quarter" idx="5"/>
          </p:nvPr>
        </p:nvSpPr>
        <p:spPr/>
        <p:txBody>
          <a:bodyPr/>
          <a:lstStyle/>
          <a:p>
            <a:fld id="{BB5E49A5-4136-284D-997B-48E1D791AD67}" type="slidenum">
              <a:rPr lang="en-US" smtClean="0"/>
              <a:t>28</a:t>
            </a:fld>
            <a:endParaRPr lang="en-US"/>
          </a:p>
        </p:txBody>
      </p:sp>
    </p:spTree>
    <p:extLst>
      <p:ext uri="{BB962C8B-B14F-4D97-AF65-F5344CB8AC3E}">
        <p14:creationId xmlns:p14="http://schemas.microsoft.com/office/powerpoint/2010/main" val="157319895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5138F-F920-DB13-FC8B-0EF42AA837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C9DEDD-4D85-A025-391F-60461AFDEDC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391E5142-ABD4-3319-BA49-1262D1D331FC}"/>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To begin Day 2, have a student read the Essential Question aloud.</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3E36C624-50D6-EB4F-3897-DC49AF2E4786}"/>
              </a:ext>
            </a:extLst>
          </p:cNvPr>
          <p:cNvSpPr>
            <a:spLocks noGrp="1"/>
          </p:cNvSpPr>
          <p:nvPr>
            <p:ph type="sldNum" sz="quarter" idx="5"/>
          </p:nvPr>
        </p:nvSpPr>
        <p:spPr/>
        <p:txBody>
          <a:bodyPr/>
          <a:lstStyle/>
          <a:p>
            <a:fld id="{BB5E49A5-4136-284D-997B-48E1D791AD67}" type="slidenum">
              <a:rPr lang="en-US" smtClean="0"/>
              <a:t>29</a:t>
            </a:fld>
            <a:endParaRPr lang="en-US"/>
          </a:p>
        </p:txBody>
      </p:sp>
    </p:spTree>
    <p:extLst>
      <p:ext uri="{BB962C8B-B14F-4D97-AF65-F5344CB8AC3E}">
        <p14:creationId xmlns:p14="http://schemas.microsoft.com/office/powerpoint/2010/main" val="186819413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15-20 minutes allotted for Activity 2.2.</a:t>
            </a:r>
          </a:p>
        </p:txBody>
      </p:sp>
      <p:sp>
        <p:nvSpPr>
          <p:cNvPr id="4" name="Slide Number Placeholder 3"/>
          <p:cNvSpPr>
            <a:spLocks noGrp="1"/>
          </p:cNvSpPr>
          <p:nvPr>
            <p:ph type="sldNum" sz="quarter" idx="5"/>
          </p:nvPr>
        </p:nvSpPr>
        <p:spPr/>
        <p:txBody>
          <a:bodyPr/>
          <a:lstStyle/>
          <a:p>
            <a:fld id="{BB5E49A5-4136-284D-997B-48E1D791AD67}" type="slidenum">
              <a:rPr lang="en-US" smtClean="0"/>
              <a:t>30</a:t>
            </a:fld>
            <a:endParaRPr lang="en-US"/>
          </a:p>
        </p:txBody>
      </p:sp>
    </p:spTree>
    <p:extLst>
      <p:ext uri="{BB962C8B-B14F-4D97-AF65-F5344CB8AC3E}">
        <p14:creationId xmlns:p14="http://schemas.microsoft.com/office/powerpoint/2010/main" val="277933285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0" indent="0" algn="l">
                  <a:buFont typeface="Arial" panose="020B0604020202020204" pitchFamily="34" charset="0"/>
                  <a:buNone/>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1</m:t>
                        </m:r>
                      </m:num>
                      <m:den>
                        <m:r>
                          <a:rPr lang="en-US" b="0" i="1" smtClean="0">
                            <a:solidFill>
                              <a:srgbClr val="000000"/>
                            </a:solidFill>
                            <a:latin typeface="Cambria Math" panose="02040503050406030204" pitchFamily="18" charset="0"/>
                          </a:rPr>
                          <m:t>2</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4</m:t>
                        </m:r>
                      </m:num>
                      <m:den>
                        <m:r>
                          <a:rPr lang="en-US" b="0" i="1" smtClean="0">
                            <a:solidFill>
                              <a:srgbClr val="000000"/>
                            </a:solidFill>
                            <a:latin typeface="Cambria Math" panose="02040503050406030204" pitchFamily="18" charset="0"/>
                          </a:rPr>
                          <m:t>5</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5</m:t>
                        </m:r>
                      </m:num>
                      <m:den>
                        <m:r>
                          <a:rPr lang="en-US" b="0" i="1" smtClean="0">
                            <a:solidFill>
                              <a:srgbClr val="000000"/>
                            </a:solidFill>
                            <a:latin typeface="Cambria Math" panose="02040503050406030204" pitchFamily="18" charset="0"/>
                          </a:rPr>
                          <m:t>4</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p:cNvSpPr>
                <a:spLocks noGrp="1"/>
              </p:cNvSpPr>
              <p:nvPr>
                <p:ph type="body" idx="1"/>
              </p:nvPr>
            </p:nvSpPr>
            <p:spPr/>
            <p:txBody>
              <a:bodyPr/>
              <a:lstStyle/>
              <a:p>
                <a:pPr marL="0" indent="0" algn="l">
                  <a:buFont typeface="Arial" panose="020B0604020202020204" pitchFamily="34" charset="0"/>
                  <a:buNone/>
                </a:pPr>
                <a:r>
                  <a:rPr lang="en-US" b="1" dirty="0"/>
                  <a:t>Questions to Support Discourse – Probing:</a:t>
                </a:r>
              </a:p>
              <a:p>
                <a:pPr marL="0" indent="0" algn="l">
                  <a:buFont typeface="Arial" panose="020B0604020202020204" pitchFamily="34" charset="0"/>
                  <a:buNone/>
                </a:pPr>
                <a:r>
                  <a:rPr lang="en-US" dirty="0"/>
                  <a:t>• How do you change the output values of a(x) by a factor of 2? </a:t>
                </a:r>
              </a:p>
              <a:p>
                <a:pPr marL="0" indent="0" algn="l">
                  <a:buFont typeface="Arial" panose="020B0604020202020204" pitchFamily="34" charset="0"/>
                  <a:buNone/>
                </a:pPr>
                <a:r>
                  <a:rPr lang="en-US" dirty="0"/>
                  <a:t>• How do you change the input values of b(x) by a factor of </a:t>
                </a:r>
                <a:r>
                  <a:rPr lang="en-US" b="0" i="0">
                    <a:latin typeface="Cambria Math" panose="02040503050406030204" pitchFamily="18" charset="0"/>
                  </a:rPr>
                  <a:t>1/2</a:t>
                </a:r>
                <a:r>
                  <a:rPr lang="en-US" dirty="0"/>
                  <a:t>? </a:t>
                </a:r>
              </a:p>
              <a:p>
                <a:pPr marL="0" indent="0" algn="l">
                  <a:buFont typeface="Arial" panose="020B0604020202020204" pitchFamily="34" charset="0"/>
                  <a:buNone/>
                </a:pPr>
                <a:r>
                  <a:rPr lang="en-US" dirty="0"/>
                  <a:t>• How do you change the output values of c(x) by a factor of </a:t>
                </a:r>
                <a:r>
                  <a:rPr lang="en-US" b="0" i="0">
                    <a:latin typeface="Cambria Math" panose="02040503050406030204" pitchFamily="18" charset="0"/>
                  </a:rPr>
                  <a:t>4/5</a:t>
                </a:r>
                <a:r>
                  <a:rPr lang="en-US" dirty="0"/>
                  <a:t>? </a:t>
                </a:r>
              </a:p>
              <a:p>
                <a:pPr marL="0" indent="0" algn="l">
                  <a:buFont typeface="Arial" panose="020B0604020202020204" pitchFamily="34" charset="0"/>
                  <a:buNone/>
                </a:pPr>
                <a:r>
                  <a:rPr lang="en-US" dirty="0"/>
                  <a:t>• How do you change the input values of d(x) by a factor of </a:t>
                </a:r>
                <a:r>
                  <a:rPr lang="en-US" b="0" i="0">
                    <a:latin typeface="Cambria Math" panose="02040503050406030204" pitchFamily="18" charset="0"/>
                  </a:rPr>
                  <a:t>5/4</a:t>
                </a:r>
                <a:r>
                  <a:rPr lang="en-US" dirty="0"/>
                  <a:t>?</a:t>
                </a: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p:cNvSpPr>
            <a:spLocks noGrp="1"/>
          </p:cNvSpPr>
          <p:nvPr>
            <p:ph type="sldNum" sz="quarter" idx="5"/>
          </p:nvPr>
        </p:nvSpPr>
        <p:spPr/>
        <p:txBody>
          <a:bodyPr/>
          <a:lstStyle/>
          <a:p>
            <a:fld id="{BB5E49A5-4136-284D-997B-48E1D791AD67}" type="slidenum">
              <a:rPr lang="en-US" smtClean="0"/>
              <a:t>31</a:t>
            </a:fld>
            <a:endParaRPr lang="en-US"/>
          </a:p>
        </p:txBody>
      </p:sp>
    </p:spTree>
    <p:extLst>
      <p:ext uri="{BB962C8B-B14F-4D97-AF65-F5344CB8AC3E}">
        <p14:creationId xmlns:p14="http://schemas.microsoft.com/office/powerpoint/2010/main" val="86145424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9A9406-7CD3-1B17-0BF5-80FF092BEC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0C0A59-C852-C1CD-A98B-0ECA9D821D3F}"/>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43867B11-CEB4-92C2-4098-CB03A4C0981C}"/>
                  </a:ext>
                </a:extLst>
              </p:cNvPr>
              <p:cNvSpPr>
                <a:spLocks noGrp="1"/>
              </p:cNvSpPr>
              <p:nvPr>
                <p:ph type="body" idx="1"/>
              </p:nvPr>
            </p:nvSpPr>
            <p:spPr/>
            <p:txBody>
              <a:bodyPr/>
              <a:lstStyle/>
              <a:p>
                <a:pPr marL="0" indent="0" algn="l">
                  <a:buFont typeface="Arial" panose="020B0604020202020204" pitchFamily="34" charset="0"/>
                  <a:buNone/>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1</m:t>
                        </m:r>
                      </m:num>
                      <m:den>
                        <m:r>
                          <a:rPr lang="en-US" b="0" i="1" smtClean="0">
                            <a:solidFill>
                              <a:srgbClr val="000000"/>
                            </a:solidFill>
                            <a:latin typeface="Cambria Math" panose="02040503050406030204" pitchFamily="18" charset="0"/>
                          </a:rPr>
                          <m:t>2</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4</m:t>
                        </m:r>
                      </m:num>
                      <m:den>
                        <m:r>
                          <a:rPr lang="en-US" b="0" i="1" smtClean="0">
                            <a:solidFill>
                              <a:srgbClr val="000000"/>
                            </a:solidFill>
                            <a:latin typeface="Cambria Math" panose="02040503050406030204" pitchFamily="18" charset="0"/>
                          </a:rPr>
                          <m:t>5</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5</m:t>
                        </m:r>
                      </m:num>
                      <m:den>
                        <m:r>
                          <a:rPr lang="en-US" b="0" i="1" smtClean="0">
                            <a:solidFill>
                              <a:srgbClr val="000000"/>
                            </a:solidFill>
                            <a:latin typeface="Cambria Math" panose="02040503050406030204" pitchFamily="18" charset="0"/>
                          </a:rPr>
                          <m:t>4</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43867B11-CEB4-92C2-4098-CB03A4C0981C}"/>
                  </a:ext>
                </a:extLst>
              </p:cNvPr>
              <p:cNvSpPr>
                <a:spLocks noGrp="1"/>
              </p:cNvSpPr>
              <p:nvPr>
                <p:ph type="body" idx="1"/>
              </p:nvPr>
            </p:nvSpPr>
            <p:spPr/>
            <p:txBody>
              <a:bodyPr/>
              <a:lstStyle/>
              <a:p>
                <a:pPr marL="0" indent="0" algn="l">
                  <a:buFont typeface="Arial" panose="020B0604020202020204" pitchFamily="34" charset="0"/>
                  <a:buNone/>
                </a:pPr>
                <a:r>
                  <a:rPr lang="en-US" b="1" dirty="0"/>
                  <a:t>Questions to Support Discourse – Probing:</a:t>
                </a:r>
              </a:p>
              <a:p>
                <a:pPr marL="0" indent="0" algn="l">
                  <a:buFont typeface="Arial" panose="020B0604020202020204" pitchFamily="34" charset="0"/>
                  <a:buNone/>
                </a:pPr>
                <a:r>
                  <a:rPr lang="en-US" dirty="0"/>
                  <a:t>• How do you change the output values of a(x) by a factor of 2? </a:t>
                </a:r>
              </a:p>
              <a:p>
                <a:pPr marL="0" indent="0" algn="l">
                  <a:buFont typeface="Arial" panose="020B0604020202020204" pitchFamily="34" charset="0"/>
                  <a:buNone/>
                </a:pPr>
                <a:r>
                  <a:rPr lang="en-US" dirty="0"/>
                  <a:t>• How do you change the input values of b(x) by a factor of </a:t>
                </a:r>
                <a:r>
                  <a:rPr lang="en-US" b="0" i="0">
                    <a:latin typeface="Cambria Math" panose="02040503050406030204" pitchFamily="18" charset="0"/>
                  </a:rPr>
                  <a:t>1/2</a:t>
                </a:r>
                <a:r>
                  <a:rPr lang="en-US" dirty="0"/>
                  <a:t>? </a:t>
                </a:r>
              </a:p>
              <a:p>
                <a:pPr marL="0" indent="0" algn="l">
                  <a:buFont typeface="Arial" panose="020B0604020202020204" pitchFamily="34" charset="0"/>
                  <a:buNone/>
                </a:pPr>
                <a:r>
                  <a:rPr lang="en-US" dirty="0"/>
                  <a:t>• How do you change the output values of c(x) by a factor of </a:t>
                </a:r>
                <a:r>
                  <a:rPr lang="en-US" b="0" i="0">
                    <a:latin typeface="Cambria Math" panose="02040503050406030204" pitchFamily="18" charset="0"/>
                  </a:rPr>
                  <a:t>4/5</a:t>
                </a:r>
                <a:r>
                  <a:rPr lang="en-US" dirty="0"/>
                  <a:t>? </a:t>
                </a:r>
              </a:p>
              <a:p>
                <a:pPr marL="0" indent="0" algn="l">
                  <a:buFont typeface="Arial" panose="020B0604020202020204" pitchFamily="34" charset="0"/>
                  <a:buNone/>
                </a:pPr>
                <a:r>
                  <a:rPr lang="en-US" dirty="0"/>
                  <a:t>• How do you change the input values of d(x) by a factor of </a:t>
                </a:r>
                <a:r>
                  <a:rPr lang="en-US" b="0" i="0">
                    <a:latin typeface="Cambria Math" panose="02040503050406030204" pitchFamily="18" charset="0"/>
                  </a:rPr>
                  <a:t>5/4</a:t>
                </a:r>
                <a:r>
                  <a:rPr lang="en-US" dirty="0"/>
                  <a:t>?</a:t>
                </a:r>
                <a:endParaRPr lang="en-US" sz="1200" dirty="0">
                  <a:latin typeface="Calibri" panose="020F0502020204030204" pitchFamily="34" charset="0"/>
                  <a:ea typeface="Calibri" panose="020F0502020204030204" pitchFamily="34" charset="0"/>
                  <a:cs typeface="Calibri" panose="020F0502020204030204" pitchFamily="34" charset="0"/>
                </a:endParaRPr>
              </a:p>
              <a:p>
                <a:pPr marL="0" indent="0" algn="l">
                  <a:buFont typeface="Arial" panose="020B0604020202020204" pitchFamily="34" charset="0"/>
                  <a:buNone/>
                </a:pP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61D4CD65-A428-6987-1F1F-108FB161E317}"/>
              </a:ext>
            </a:extLst>
          </p:cNvPr>
          <p:cNvSpPr>
            <a:spLocks noGrp="1"/>
          </p:cNvSpPr>
          <p:nvPr>
            <p:ph type="sldNum" sz="quarter" idx="5"/>
          </p:nvPr>
        </p:nvSpPr>
        <p:spPr/>
        <p:txBody>
          <a:bodyPr/>
          <a:lstStyle/>
          <a:p>
            <a:fld id="{BB5E49A5-4136-284D-997B-48E1D791AD67}" type="slidenum">
              <a:rPr lang="en-US" smtClean="0"/>
              <a:t>32</a:t>
            </a:fld>
            <a:endParaRPr lang="en-US"/>
          </a:p>
        </p:txBody>
      </p:sp>
    </p:spTree>
    <p:extLst>
      <p:ext uri="{BB962C8B-B14F-4D97-AF65-F5344CB8AC3E}">
        <p14:creationId xmlns:p14="http://schemas.microsoft.com/office/powerpoint/2010/main" val="100518417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6012CD-9368-D450-C840-7849A21CD7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9A7EBA-1604-9D98-B1DF-4224322D8FD9}"/>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3871E281-124A-7A13-228C-734DD49EA2DC}"/>
                  </a:ext>
                </a:extLst>
              </p:cNvPr>
              <p:cNvSpPr>
                <a:spLocks noGrp="1"/>
              </p:cNvSpPr>
              <p:nvPr>
                <p:ph type="body" idx="1"/>
              </p:nvPr>
            </p:nvSpPr>
            <p:spPr/>
            <p:txBody>
              <a:bodyPr/>
              <a:lstStyle/>
              <a:p>
                <a:pPr marL="0" indent="0" algn="l">
                  <a:buFont typeface="Arial" panose="020B0604020202020204" pitchFamily="34" charset="0"/>
                  <a:buNone/>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1</m:t>
                        </m:r>
                      </m:num>
                      <m:den>
                        <m:r>
                          <a:rPr lang="en-US" b="0" i="1" smtClean="0">
                            <a:solidFill>
                              <a:srgbClr val="000000"/>
                            </a:solidFill>
                            <a:latin typeface="Cambria Math" panose="02040503050406030204" pitchFamily="18" charset="0"/>
                          </a:rPr>
                          <m:t>2</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4</m:t>
                        </m:r>
                      </m:num>
                      <m:den>
                        <m:r>
                          <a:rPr lang="en-US" b="0" i="1" smtClean="0">
                            <a:solidFill>
                              <a:srgbClr val="000000"/>
                            </a:solidFill>
                            <a:latin typeface="Cambria Math" panose="02040503050406030204" pitchFamily="18" charset="0"/>
                          </a:rPr>
                          <m:t>5</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5</m:t>
                        </m:r>
                      </m:num>
                      <m:den>
                        <m:r>
                          <a:rPr lang="en-US" b="0" i="1" smtClean="0">
                            <a:solidFill>
                              <a:srgbClr val="000000"/>
                            </a:solidFill>
                            <a:latin typeface="Cambria Math" panose="02040503050406030204" pitchFamily="18" charset="0"/>
                          </a:rPr>
                          <m:t>4</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3871E281-124A-7A13-228C-734DD49EA2DC}"/>
                  </a:ext>
                </a:extLst>
              </p:cNvPr>
              <p:cNvSpPr>
                <a:spLocks noGrp="1"/>
              </p:cNvSpPr>
              <p:nvPr>
                <p:ph type="body" idx="1"/>
              </p:nvPr>
            </p:nvSpPr>
            <p:spPr/>
            <p:txBody>
              <a:bodyPr/>
              <a:lstStyle/>
              <a:p>
                <a:pPr marL="0" indent="0" algn="l">
                  <a:buFont typeface="Arial" panose="020B0604020202020204" pitchFamily="34" charset="0"/>
                  <a:buNone/>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latin typeface="Calibri" panose="020F0502020204030204" pitchFamily="34" charset="0"/>
                    <a:ea typeface="Calibri" panose="020F0502020204030204" pitchFamily="34" charset="0"/>
                    <a:cs typeface="Calibri" panose="020F0502020204030204" pitchFamily="34" charset="0"/>
                  </a:rPr>
                  <a:t>a</a:t>
                </a:r>
                <a:r>
                  <a:rPr lang="en-US" dirty="0">
                    <a:latin typeface="Calibri" panose="020F0502020204030204" pitchFamily="34" charset="0"/>
                    <a:ea typeface="Calibri" panose="020F0502020204030204" pitchFamily="34" charset="0"/>
                    <a:cs typeface="Calibri" panose="020F0502020204030204" pitchFamily="34" charset="0"/>
                  </a:rPr>
                  <a:t>(</a:t>
                </a:r>
                <a:r>
                  <a:rPr lang="en-US" i="1" dirty="0">
                    <a:latin typeface="Calibri" panose="020F0502020204030204" pitchFamily="34" charset="0"/>
                    <a:ea typeface="Calibri" panose="020F0502020204030204" pitchFamily="34" charset="0"/>
                    <a:cs typeface="Calibri" panose="020F0502020204030204" pitchFamily="34" charset="0"/>
                  </a:rPr>
                  <a:t>x</a:t>
                </a:r>
                <a:r>
                  <a:rPr lang="en-US" dirty="0">
                    <a:latin typeface="Calibri" panose="020F0502020204030204" pitchFamily="34" charset="0"/>
                    <a:ea typeface="Calibri" panose="020F0502020204030204" pitchFamily="34" charset="0"/>
                    <a:cs typeface="Calibri" panose="020F0502020204030204" pitchFamily="34" charset="0"/>
                  </a:rPr>
                  <a:t>) by a factor of 2? </a:t>
                </a:r>
              </a:p>
              <a:p>
                <a:pPr marL="171450" indent="-171450" algn="l">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latin typeface="Calibri" panose="020F0502020204030204" pitchFamily="34" charset="0"/>
                    <a:ea typeface="Calibri" panose="020F0502020204030204" pitchFamily="34" charset="0"/>
                    <a:cs typeface="Calibri" panose="020F0502020204030204" pitchFamily="34" charset="0"/>
                  </a:rPr>
                  <a:t>b</a:t>
                </a:r>
                <a:r>
                  <a:rPr lang="en-US" dirty="0">
                    <a:latin typeface="Calibri" panose="020F0502020204030204" pitchFamily="34" charset="0"/>
                    <a:ea typeface="Calibri" panose="020F0502020204030204" pitchFamily="34" charset="0"/>
                    <a:cs typeface="Calibri" panose="020F0502020204030204" pitchFamily="34" charset="0"/>
                  </a:rPr>
                  <a:t>(</a:t>
                </a:r>
                <a:r>
                  <a:rPr lang="en-US" i="1" dirty="0">
                    <a:latin typeface="Calibri" panose="020F0502020204030204" pitchFamily="34" charset="0"/>
                    <a:ea typeface="Calibri" panose="020F0502020204030204" pitchFamily="34" charset="0"/>
                    <a:cs typeface="Calibri" panose="020F0502020204030204" pitchFamily="34" charset="0"/>
                  </a:rPr>
                  <a:t>x</a:t>
                </a:r>
                <a:r>
                  <a:rPr lang="en-US" dirty="0">
                    <a:latin typeface="Calibri" panose="020F0502020204030204" pitchFamily="34" charset="0"/>
                    <a:ea typeface="Calibri" panose="020F0502020204030204" pitchFamily="34" charset="0"/>
                    <a:cs typeface="Calibri" panose="020F0502020204030204" pitchFamily="34" charset="0"/>
                  </a:rPr>
                  <a:t>) by a factor of </a:t>
                </a:r>
                <a:r>
                  <a:rPr lang="en-US" b="0" i="0">
                    <a:latin typeface="Cambria Math" panose="02040503050406030204" pitchFamily="18" charset="0"/>
                  </a:rPr>
                  <a:t>1/2</a:t>
                </a:r>
                <a:r>
                  <a:rPr lang="en-US" dirty="0">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latin typeface="Calibri" panose="020F0502020204030204" pitchFamily="34" charset="0"/>
                    <a:ea typeface="Calibri" panose="020F0502020204030204" pitchFamily="34" charset="0"/>
                    <a:cs typeface="Calibri" panose="020F0502020204030204" pitchFamily="34" charset="0"/>
                  </a:rPr>
                  <a:t>c</a:t>
                </a:r>
                <a:r>
                  <a:rPr lang="en-US" dirty="0">
                    <a:latin typeface="Calibri" panose="020F0502020204030204" pitchFamily="34" charset="0"/>
                    <a:ea typeface="Calibri" panose="020F0502020204030204" pitchFamily="34" charset="0"/>
                    <a:cs typeface="Calibri" panose="020F0502020204030204" pitchFamily="34" charset="0"/>
                  </a:rPr>
                  <a:t>(</a:t>
                </a:r>
                <a:r>
                  <a:rPr lang="en-US" i="1" dirty="0">
                    <a:latin typeface="Calibri" panose="020F0502020204030204" pitchFamily="34" charset="0"/>
                    <a:ea typeface="Calibri" panose="020F0502020204030204" pitchFamily="34" charset="0"/>
                    <a:cs typeface="Calibri" panose="020F0502020204030204" pitchFamily="34" charset="0"/>
                  </a:rPr>
                  <a:t>x</a:t>
                </a:r>
                <a:r>
                  <a:rPr lang="en-US" dirty="0">
                    <a:latin typeface="Calibri" panose="020F0502020204030204" pitchFamily="34" charset="0"/>
                    <a:ea typeface="Calibri" panose="020F0502020204030204" pitchFamily="34" charset="0"/>
                    <a:cs typeface="Calibri" panose="020F0502020204030204" pitchFamily="34" charset="0"/>
                  </a:rPr>
                  <a:t>) by a factor of </a:t>
                </a:r>
                <a:r>
                  <a:rPr lang="en-US" b="0" i="0">
                    <a:latin typeface="Cambria Math" panose="02040503050406030204" pitchFamily="18" charset="0"/>
                  </a:rPr>
                  <a:t>4/5</a:t>
                </a:r>
                <a:r>
                  <a:rPr lang="en-US" dirty="0">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latin typeface="Calibri" panose="020F0502020204030204" pitchFamily="34" charset="0"/>
                    <a:ea typeface="Calibri" panose="020F0502020204030204" pitchFamily="34" charset="0"/>
                    <a:cs typeface="Calibri" panose="020F0502020204030204" pitchFamily="34" charset="0"/>
                  </a:rPr>
                  <a:t>d</a:t>
                </a:r>
                <a:r>
                  <a:rPr lang="en-US" dirty="0">
                    <a:latin typeface="Calibri" panose="020F0502020204030204" pitchFamily="34" charset="0"/>
                    <a:ea typeface="Calibri" panose="020F0502020204030204" pitchFamily="34" charset="0"/>
                    <a:cs typeface="Calibri" panose="020F0502020204030204" pitchFamily="34" charset="0"/>
                  </a:rPr>
                  <a:t>(</a:t>
                </a:r>
                <a:r>
                  <a:rPr lang="en-US" i="1" dirty="0">
                    <a:latin typeface="Calibri" panose="020F0502020204030204" pitchFamily="34" charset="0"/>
                    <a:ea typeface="Calibri" panose="020F0502020204030204" pitchFamily="34" charset="0"/>
                    <a:cs typeface="Calibri" panose="020F0502020204030204" pitchFamily="34" charset="0"/>
                  </a:rPr>
                  <a:t>x</a:t>
                </a:r>
                <a:r>
                  <a:rPr lang="en-US" dirty="0">
                    <a:latin typeface="Calibri" panose="020F0502020204030204" pitchFamily="34" charset="0"/>
                    <a:ea typeface="Calibri" panose="020F0502020204030204" pitchFamily="34" charset="0"/>
                    <a:cs typeface="Calibri" panose="020F0502020204030204" pitchFamily="34" charset="0"/>
                  </a:rPr>
                  <a:t>) by a factor of </a:t>
                </a:r>
                <a:r>
                  <a:rPr lang="en-US" b="0" i="0">
                    <a:latin typeface="Cambria Math" panose="02040503050406030204" pitchFamily="18" charset="0"/>
                  </a:rPr>
                  <a:t>5/4</a:t>
                </a:r>
                <a:r>
                  <a:rPr lang="en-US" dirty="0">
                    <a:latin typeface="Calibri" panose="020F0502020204030204" pitchFamily="34" charset="0"/>
                    <a:ea typeface="Calibri" panose="020F0502020204030204" pitchFamily="34" charset="0"/>
                    <a:cs typeface="Calibri" panose="020F0502020204030204" pitchFamily="34" charset="0"/>
                  </a:rPr>
                  <a:t>?</a:t>
                </a: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C89FC698-5A57-BE06-B425-1E1D18DDB981}"/>
              </a:ext>
            </a:extLst>
          </p:cNvPr>
          <p:cNvSpPr>
            <a:spLocks noGrp="1"/>
          </p:cNvSpPr>
          <p:nvPr>
            <p:ph type="sldNum" sz="quarter" idx="5"/>
          </p:nvPr>
        </p:nvSpPr>
        <p:spPr/>
        <p:txBody>
          <a:bodyPr/>
          <a:lstStyle/>
          <a:p>
            <a:fld id="{BB5E49A5-4136-284D-997B-48E1D791AD67}" type="slidenum">
              <a:rPr lang="en-US" smtClean="0"/>
              <a:t>33</a:t>
            </a:fld>
            <a:endParaRPr lang="en-US"/>
          </a:p>
        </p:txBody>
      </p:sp>
    </p:spTree>
    <p:extLst>
      <p:ext uri="{BB962C8B-B14F-4D97-AF65-F5344CB8AC3E}">
        <p14:creationId xmlns:p14="http://schemas.microsoft.com/office/powerpoint/2010/main" val="65887253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E27400-CFA3-6AAC-229E-9A509B0AEA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634D30-A69E-A078-26F6-90E90E72F7A7}"/>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E9C0D551-68CF-9D33-8024-94C382497EE7}"/>
                  </a:ext>
                </a:extLst>
              </p:cNvPr>
              <p:cNvSpPr>
                <a:spLocks noGrp="1"/>
              </p:cNvSpPr>
              <p:nvPr>
                <p:ph type="body" idx="1"/>
              </p:nvPr>
            </p:nvSpPr>
            <p:spPr/>
            <p:txBody>
              <a:bodyPr/>
              <a:lstStyle/>
              <a:p>
                <a:pPr marL="0" indent="0" algn="l">
                  <a:buFont typeface="Arial" panose="020B0604020202020204" pitchFamily="34" charset="0"/>
                  <a:buNone/>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1</m:t>
                        </m:r>
                      </m:num>
                      <m:den>
                        <m:r>
                          <a:rPr lang="en-US" b="0" i="1" smtClean="0">
                            <a:solidFill>
                              <a:srgbClr val="000000"/>
                            </a:solidFill>
                            <a:latin typeface="Cambria Math" panose="02040503050406030204" pitchFamily="18" charset="0"/>
                          </a:rPr>
                          <m:t>2</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4</m:t>
                        </m:r>
                      </m:num>
                      <m:den>
                        <m:r>
                          <a:rPr lang="en-US" b="0" i="1" smtClean="0">
                            <a:solidFill>
                              <a:srgbClr val="000000"/>
                            </a:solidFill>
                            <a:latin typeface="Cambria Math" panose="02040503050406030204" pitchFamily="18" charset="0"/>
                          </a:rPr>
                          <m:t>5</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5</m:t>
                        </m:r>
                      </m:num>
                      <m:den>
                        <m:r>
                          <a:rPr lang="en-US" b="0" i="1" smtClean="0">
                            <a:solidFill>
                              <a:srgbClr val="000000"/>
                            </a:solidFill>
                            <a:latin typeface="Cambria Math" panose="02040503050406030204" pitchFamily="18" charset="0"/>
                          </a:rPr>
                          <m:t>4</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E9C0D551-68CF-9D33-8024-94C382497EE7}"/>
                  </a:ext>
                </a:extLst>
              </p:cNvPr>
              <p:cNvSpPr>
                <a:spLocks noGrp="1"/>
              </p:cNvSpPr>
              <p:nvPr>
                <p:ph type="body" idx="1"/>
              </p:nvPr>
            </p:nvSpPr>
            <p:spPr/>
            <p:txBody>
              <a:bodyPr/>
              <a:lstStyle/>
              <a:p>
                <a:pPr marL="0" indent="0" algn="l">
                  <a:buFont typeface="Arial" panose="020B0604020202020204" pitchFamily="34" charset="0"/>
                  <a:buNone/>
                </a:pPr>
                <a:r>
                  <a:rPr lang="en-US" b="1" dirty="0"/>
                  <a:t>Questions to Support Discourse – Probing:</a:t>
                </a:r>
              </a:p>
              <a:p>
                <a:pPr marL="0" indent="0" algn="l">
                  <a:buFont typeface="Arial" panose="020B0604020202020204" pitchFamily="34" charset="0"/>
                  <a:buNone/>
                </a:pPr>
                <a:r>
                  <a:rPr lang="en-US" dirty="0"/>
                  <a:t>• How do you change the output values of a(x) by a factor of 2? </a:t>
                </a:r>
              </a:p>
              <a:p>
                <a:pPr marL="0" indent="0" algn="l">
                  <a:buFont typeface="Arial" panose="020B0604020202020204" pitchFamily="34" charset="0"/>
                  <a:buNone/>
                </a:pPr>
                <a:r>
                  <a:rPr lang="en-US" dirty="0"/>
                  <a:t>• How do you change the input values of b(x) by a factor of </a:t>
                </a:r>
                <a:r>
                  <a:rPr lang="en-US" b="0" i="0">
                    <a:latin typeface="Cambria Math" panose="02040503050406030204" pitchFamily="18" charset="0"/>
                  </a:rPr>
                  <a:t>1/2</a:t>
                </a:r>
                <a:r>
                  <a:rPr lang="en-US" dirty="0"/>
                  <a:t>? </a:t>
                </a:r>
              </a:p>
              <a:p>
                <a:pPr marL="0" indent="0" algn="l">
                  <a:buFont typeface="Arial" panose="020B0604020202020204" pitchFamily="34" charset="0"/>
                  <a:buNone/>
                </a:pPr>
                <a:r>
                  <a:rPr lang="en-US" dirty="0"/>
                  <a:t>• How do you change the output values of c(x) by a factor of </a:t>
                </a:r>
                <a:r>
                  <a:rPr lang="en-US" b="0" i="0">
                    <a:latin typeface="Cambria Math" panose="02040503050406030204" pitchFamily="18" charset="0"/>
                  </a:rPr>
                  <a:t>4/5</a:t>
                </a:r>
                <a:r>
                  <a:rPr lang="en-US" dirty="0"/>
                  <a:t>? </a:t>
                </a:r>
              </a:p>
              <a:p>
                <a:pPr marL="0" indent="0" algn="l">
                  <a:buFont typeface="Arial" panose="020B0604020202020204" pitchFamily="34" charset="0"/>
                  <a:buNone/>
                </a:pPr>
                <a:r>
                  <a:rPr lang="en-US" dirty="0"/>
                  <a:t>• How do you change the input values of d(x) by a factor of </a:t>
                </a:r>
                <a:r>
                  <a:rPr lang="en-US" b="0" i="0">
                    <a:latin typeface="Cambria Math" panose="02040503050406030204" pitchFamily="18" charset="0"/>
                  </a:rPr>
                  <a:t>5/4</a:t>
                </a:r>
                <a:r>
                  <a:rPr lang="en-US" dirty="0"/>
                  <a:t>?</a:t>
                </a:r>
                <a:endParaRPr lang="en-US" sz="1200" dirty="0">
                  <a:latin typeface="Calibri" panose="020F0502020204030204" pitchFamily="34" charset="0"/>
                  <a:ea typeface="Calibri" panose="020F0502020204030204" pitchFamily="34" charset="0"/>
                  <a:cs typeface="Calibri" panose="020F0502020204030204" pitchFamily="34" charset="0"/>
                </a:endParaRPr>
              </a:p>
              <a:p>
                <a:pPr marL="0" indent="0" algn="l">
                  <a:buFont typeface="Arial" panose="020B0604020202020204" pitchFamily="34" charset="0"/>
                  <a:buNone/>
                </a:pP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4766A0CA-067E-1B55-7288-ACD2BAD7E0BC}"/>
              </a:ext>
            </a:extLst>
          </p:cNvPr>
          <p:cNvSpPr>
            <a:spLocks noGrp="1"/>
          </p:cNvSpPr>
          <p:nvPr>
            <p:ph type="sldNum" sz="quarter" idx="5"/>
          </p:nvPr>
        </p:nvSpPr>
        <p:spPr/>
        <p:txBody>
          <a:bodyPr/>
          <a:lstStyle/>
          <a:p>
            <a:fld id="{BB5E49A5-4136-284D-997B-48E1D791AD67}" type="slidenum">
              <a:rPr lang="en-US" smtClean="0"/>
              <a:t>34</a:t>
            </a:fld>
            <a:endParaRPr lang="en-US"/>
          </a:p>
        </p:txBody>
      </p:sp>
    </p:spTree>
    <p:extLst>
      <p:ext uri="{BB962C8B-B14F-4D97-AF65-F5344CB8AC3E}">
        <p14:creationId xmlns:p14="http://schemas.microsoft.com/office/powerpoint/2010/main" val="316461652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82F4DD-EC65-BFF8-F969-5C719FA140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3903E9-F63F-B2BE-BDD1-B1344D1E8D4E}"/>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1D5C078E-37C5-7E9E-A5D7-1F929F44569F}"/>
                  </a:ext>
                </a:extLst>
              </p:cNvPr>
              <p:cNvSpPr>
                <a:spLocks noGrp="1"/>
              </p:cNvSpPr>
              <p:nvPr>
                <p:ph type="body" idx="1"/>
              </p:nvPr>
            </p:nvSpPr>
            <p:spPr/>
            <p:txBody>
              <a:bodyPr/>
              <a:lstStyle/>
              <a:p>
                <a:pPr marL="0" indent="0" algn="l">
                  <a:buFont typeface="Arial" panose="020B0604020202020204" pitchFamily="34" charset="0"/>
                  <a:buNone/>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1</m:t>
                        </m:r>
                      </m:num>
                      <m:den>
                        <m:r>
                          <a:rPr lang="en-US" b="0" i="1" smtClean="0">
                            <a:solidFill>
                              <a:srgbClr val="000000"/>
                            </a:solidFill>
                            <a:latin typeface="Cambria Math" panose="02040503050406030204" pitchFamily="18" charset="0"/>
                          </a:rPr>
                          <m:t>2</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4</m:t>
                        </m:r>
                      </m:num>
                      <m:den>
                        <m:r>
                          <a:rPr lang="en-US" b="0" i="1" smtClean="0">
                            <a:solidFill>
                              <a:srgbClr val="000000"/>
                            </a:solidFill>
                            <a:latin typeface="Cambria Math" panose="02040503050406030204" pitchFamily="18" charset="0"/>
                          </a:rPr>
                          <m:t>5</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5</m:t>
                        </m:r>
                      </m:num>
                      <m:den>
                        <m:r>
                          <a:rPr lang="en-US" b="0" i="1" smtClean="0">
                            <a:solidFill>
                              <a:srgbClr val="000000"/>
                            </a:solidFill>
                            <a:latin typeface="Cambria Math" panose="02040503050406030204" pitchFamily="18" charset="0"/>
                          </a:rPr>
                          <m:t>4</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1D5C078E-37C5-7E9E-A5D7-1F929F44569F}"/>
                  </a:ext>
                </a:extLst>
              </p:cNvPr>
              <p:cNvSpPr>
                <a:spLocks noGrp="1"/>
              </p:cNvSpPr>
              <p:nvPr>
                <p:ph type="body" idx="1"/>
              </p:nvPr>
            </p:nvSpPr>
            <p:spPr/>
            <p:txBody>
              <a:bodyPr/>
              <a:lstStyle/>
              <a:p>
                <a:pPr marL="0" indent="0" algn="l">
                  <a:buFont typeface="Arial" panose="020B0604020202020204" pitchFamily="34" charset="0"/>
                  <a:buNone/>
                </a:pPr>
                <a:r>
                  <a:rPr lang="en-US" b="1" dirty="0"/>
                  <a:t>Questions to Support Discourse – Probing:</a:t>
                </a:r>
              </a:p>
              <a:p>
                <a:pPr marL="0" indent="0" algn="l">
                  <a:buFont typeface="Arial" panose="020B0604020202020204" pitchFamily="34" charset="0"/>
                  <a:buNone/>
                </a:pPr>
                <a:r>
                  <a:rPr lang="en-US" dirty="0"/>
                  <a:t>• How do you change the output values of a(x) by a factor of 2? </a:t>
                </a:r>
              </a:p>
              <a:p>
                <a:pPr marL="0" indent="0" algn="l">
                  <a:buFont typeface="Arial" panose="020B0604020202020204" pitchFamily="34" charset="0"/>
                  <a:buNone/>
                </a:pPr>
                <a:r>
                  <a:rPr lang="en-US" dirty="0"/>
                  <a:t>• How do you change the input values of b(x) by a factor of </a:t>
                </a:r>
                <a:r>
                  <a:rPr lang="en-US" b="0" i="0">
                    <a:latin typeface="Cambria Math" panose="02040503050406030204" pitchFamily="18" charset="0"/>
                  </a:rPr>
                  <a:t>1/2</a:t>
                </a:r>
                <a:r>
                  <a:rPr lang="en-US" dirty="0"/>
                  <a:t>? </a:t>
                </a:r>
              </a:p>
              <a:p>
                <a:pPr marL="0" indent="0" algn="l">
                  <a:buFont typeface="Arial" panose="020B0604020202020204" pitchFamily="34" charset="0"/>
                  <a:buNone/>
                </a:pPr>
                <a:r>
                  <a:rPr lang="en-US" dirty="0"/>
                  <a:t>• How do you change the output values of c(x) by a factor of </a:t>
                </a:r>
                <a:r>
                  <a:rPr lang="en-US" b="0" i="0">
                    <a:latin typeface="Cambria Math" panose="02040503050406030204" pitchFamily="18" charset="0"/>
                  </a:rPr>
                  <a:t>4/5</a:t>
                </a:r>
                <a:r>
                  <a:rPr lang="en-US" dirty="0"/>
                  <a:t>? </a:t>
                </a:r>
              </a:p>
              <a:p>
                <a:pPr marL="0" indent="0" algn="l">
                  <a:buFont typeface="Arial" panose="020B0604020202020204" pitchFamily="34" charset="0"/>
                  <a:buNone/>
                </a:pPr>
                <a:r>
                  <a:rPr lang="en-US" dirty="0"/>
                  <a:t>• How do you change the input values of d(x) by a factor of </a:t>
                </a:r>
                <a:r>
                  <a:rPr lang="en-US" b="0" i="0">
                    <a:latin typeface="Cambria Math" panose="02040503050406030204" pitchFamily="18" charset="0"/>
                  </a:rPr>
                  <a:t>5/4</a:t>
                </a:r>
                <a:r>
                  <a:rPr lang="en-US" dirty="0"/>
                  <a:t>?</a:t>
                </a:r>
                <a:endParaRPr lang="en-US" sz="1200" dirty="0">
                  <a:latin typeface="Calibri" panose="020F0502020204030204" pitchFamily="34" charset="0"/>
                  <a:ea typeface="Calibri" panose="020F0502020204030204" pitchFamily="34" charset="0"/>
                  <a:cs typeface="Calibri" panose="020F0502020204030204" pitchFamily="34" charset="0"/>
                </a:endParaRPr>
              </a:p>
              <a:p>
                <a:pPr marL="0" indent="0" algn="l">
                  <a:buFont typeface="Arial" panose="020B0604020202020204" pitchFamily="34" charset="0"/>
                  <a:buNone/>
                </a:pP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CBAE8766-C8A0-8E86-8A29-0C06ED5FDA76}"/>
              </a:ext>
            </a:extLst>
          </p:cNvPr>
          <p:cNvSpPr>
            <a:spLocks noGrp="1"/>
          </p:cNvSpPr>
          <p:nvPr>
            <p:ph type="sldNum" sz="quarter" idx="5"/>
          </p:nvPr>
        </p:nvSpPr>
        <p:spPr/>
        <p:txBody>
          <a:bodyPr/>
          <a:lstStyle/>
          <a:p>
            <a:fld id="{BB5E49A5-4136-284D-997B-48E1D791AD67}" type="slidenum">
              <a:rPr lang="en-US" smtClean="0"/>
              <a:t>35</a:t>
            </a:fld>
            <a:endParaRPr lang="en-US"/>
          </a:p>
        </p:txBody>
      </p:sp>
    </p:spTree>
    <p:extLst>
      <p:ext uri="{BB962C8B-B14F-4D97-AF65-F5344CB8AC3E}">
        <p14:creationId xmlns:p14="http://schemas.microsoft.com/office/powerpoint/2010/main" val="221526208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CE2F35-2059-ECBE-88D3-41860A97F3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B7F27E-DE4D-1863-C154-1D6B3D9213A1}"/>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281277DC-C4B3-4DBE-33D5-1628E25FAFF1}"/>
                  </a:ext>
                </a:extLst>
              </p:cNvPr>
              <p:cNvSpPr>
                <a:spLocks noGrp="1"/>
              </p:cNvSpPr>
              <p:nvPr>
                <p:ph type="body" idx="1"/>
              </p:nvPr>
            </p:nvSpPr>
            <p:spPr/>
            <p:txBody>
              <a:bodyPr/>
              <a:lstStyle/>
              <a:p>
                <a:pPr marL="0" indent="0" algn="l">
                  <a:buFont typeface="Arial" panose="020B0604020202020204" pitchFamily="34" charset="0"/>
                  <a:buNone/>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1</m:t>
                        </m:r>
                      </m:num>
                      <m:den>
                        <m:r>
                          <a:rPr lang="en-US" b="0" i="1" smtClean="0">
                            <a:solidFill>
                              <a:srgbClr val="000000"/>
                            </a:solidFill>
                            <a:latin typeface="Cambria Math" panose="02040503050406030204" pitchFamily="18" charset="0"/>
                          </a:rPr>
                          <m:t>2</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4</m:t>
                        </m:r>
                      </m:num>
                      <m:den>
                        <m:r>
                          <a:rPr lang="en-US" b="0" i="1" smtClean="0">
                            <a:solidFill>
                              <a:srgbClr val="000000"/>
                            </a:solidFill>
                            <a:latin typeface="Cambria Math" panose="02040503050406030204" pitchFamily="18" charset="0"/>
                          </a:rPr>
                          <m:t>5</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5</m:t>
                        </m:r>
                      </m:num>
                      <m:den>
                        <m:r>
                          <a:rPr lang="en-US" b="0" i="1" smtClean="0">
                            <a:solidFill>
                              <a:srgbClr val="000000"/>
                            </a:solidFill>
                            <a:latin typeface="Cambria Math" panose="02040503050406030204" pitchFamily="18" charset="0"/>
                          </a:rPr>
                          <m:t>4</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281277DC-C4B3-4DBE-33D5-1628E25FAFF1}"/>
                  </a:ext>
                </a:extLst>
              </p:cNvPr>
              <p:cNvSpPr>
                <a:spLocks noGrp="1"/>
              </p:cNvSpPr>
              <p:nvPr>
                <p:ph type="body" idx="1"/>
              </p:nvPr>
            </p:nvSpPr>
            <p:spPr/>
            <p:txBody>
              <a:bodyPr/>
              <a:lstStyle/>
              <a:p>
                <a:pPr marL="0" indent="0" algn="l">
                  <a:buFont typeface="Arial" panose="020B0604020202020204" pitchFamily="34" charset="0"/>
                  <a:buNone/>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latin typeface="Calibri" panose="020F0502020204030204" pitchFamily="34" charset="0"/>
                    <a:ea typeface="Calibri" panose="020F0502020204030204" pitchFamily="34" charset="0"/>
                    <a:cs typeface="Calibri" panose="020F0502020204030204" pitchFamily="34" charset="0"/>
                  </a:rPr>
                  <a:t>a</a:t>
                </a:r>
                <a:r>
                  <a:rPr lang="en-US" dirty="0">
                    <a:latin typeface="Calibri" panose="020F0502020204030204" pitchFamily="34" charset="0"/>
                    <a:ea typeface="Calibri" panose="020F0502020204030204" pitchFamily="34" charset="0"/>
                    <a:cs typeface="Calibri" panose="020F0502020204030204" pitchFamily="34" charset="0"/>
                  </a:rPr>
                  <a:t>(</a:t>
                </a:r>
                <a:r>
                  <a:rPr lang="en-US" i="1" dirty="0">
                    <a:latin typeface="Calibri" panose="020F0502020204030204" pitchFamily="34" charset="0"/>
                    <a:ea typeface="Calibri" panose="020F0502020204030204" pitchFamily="34" charset="0"/>
                    <a:cs typeface="Calibri" panose="020F0502020204030204" pitchFamily="34" charset="0"/>
                  </a:rPr>
                  <a:t>x</a:t>
                </a:r>
                <a:r>
                  <a:rPr lang="en-US" dirty="0">
                    <a:latin typeface="Calibri" panose="020F0502020204030204" pitchFamily="34" charset="0"/>
                    <a:ea typeface="Calibri" panose="020F0502020204030204" pitchFamily="34" charset="0"/>
                    <a:cs typeface="Calibri" panose="020F0502020204030204" pitchFamily="34" charset="0"/>
                  </a:rPr>
                  <a:t>) by a factor of 2? </a:t>
                </a:r>
              </a:p>
              <a:p>
                <a:pPr marL="171450" indent="-171450" algn="l">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latin typeface="Calibri" panose="020F0502020204030204" pitchFamily="34" charset="0"/>
                    <a:ea typeface="Calibri" panose="020F0502020204030204" pitchFamily="34" charset="0"/>
                    <a:cs typeface="Calibri" panose="020F0502020204030204" pitchFamily="34" charset="0"/>
                  </a:rPr>
                  <a:t>b</a:t>
                </a:r>
                <a:r>
                  <a:rPr lang="en-US" dirty="0">
                    <a:latin typeface="Calibri" panose="020F0502020204030204" pitchFamily="34" charset="0"/>
                    <a:ea typeface="Calibri" panose="020F0502020204030204" pitchFamily="34" charset="0"/>
                    <a:cs typeface="Calibri" panose="020F0502020204030204" pitchFamily="34" charset="0"/>
                  </a:rPr>
                  <a:t>(</a:t>
                </a:r>
                <a:r>
                  <a:rPr lang="en-US" i="1" dirty="0">
                    <a:latin typeface="Calibri" panose="020F0502020204030204" pitchFamily="34" charset="0"/>
                    <a:ea typeface="Calibri" panose="020F0502020204030204" pitchFamily="34" charset="0"/>
                    <a:cs typeface="Calibri" panose="020F0502020204030204" pitchFamily="34" charset="0"/>
                  </a:rPr>
                  <a:t>x</a:t>
                </a:r>
                <a:r>
                  <a:rPr lang="en-US" dirty="0">
                    <a:latin typeface="Calibri" panose="020F0502020204030204" pitchFamily="34" charset="0"/>
                    <a:ea typeface="Calibri" panose="020F0502020204030204" pitchFamily="34" charset="0"/>
                    <a:cs typeface="Calibri" panose="020F0502020204030204" pitchFamily="34" charset="0"/>
                  </a:rPr>
                  <a:t>) by a factor of </a:t>
                </a:r>
                <a:r>
                  <a:rPr lang="en-US" b="0" i="0">
                    <a:latin typeface="Cambria Math" panose="02040503050406030204" pitchFamily="18" charset="0"/>
                  </a:rPr>
                  <a:t>1/2</a:t>
                </a:r>
                <a:r>
                  <a:rPr lang="en-US" dirty="0">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latin typeface="Calibri" panose="020F0502020204030204" pitchFamily="34" charset="0"/>
                    <a:ea typeface="Calibri" panose="020F0502020204030204" pitchFamily="34" charset="0"/>
                    <a:cs typeface="Calibri" panose="020F0502020204030204" pitchFamily="34" charset="0"/>
                  </a:rPr>
                  <a:t>c</a:t>
                </a:r>
                <a:r>
                  <a:rPr lang="en-US" dirty="0">
                    <a:latin typeface="Calibri" panose="020F0502020204030204" pitchFamily="34" charset="0"/>
                    <a:ea typeface="Calibri" panose="020F0502020204030204" pitchFamily="34" charset="0"/>
                    <a:cs typeface="Calibri" panose="020F0502020204030204" pitchFamily="34" charset="0"/>
                  </a:rPr>
                  <a:t>(</a:t>
                </a:r>
                <a:r>
                  <a:rPr lang="en-US" i="1" dirty="0">
                    <a:latin typeface="Calibri" panose="020F0502020204030204" pitchFamily="34" charset="0"/>
                    <a:ea typeface="Calibri" panose="020F0502020204030204" pitchFamily="34" charset="0"/>
                    <a:cs typeface="Calibri" panose="020F0502020204030204" pitchFamily="34" charset="0"/>
                  </a:rPr>
                  <a:t>x</a:t>
                </a:r>
                <a:r>
                  <a:rPr lang="en-US" dirty="0">
                    <a:latin typeface="Calibri" panose="020F0502020204030204" pitchFamily="34" charset="0"/>
                    <a:ea typeface="Calibri" panose="020F0502020204030204" pitchFamily="34" charset="0"/>
                    <a:cs typeface="Calibri" panose="020F0502020204030204" pitchFamily="34" charset="0"/>
                  </a:rPr>
                  <a:t>) by a factor of </a:t>
                </a:r>
                <a:r>
                  <a:rPr lang="en-US" b="0" i="0">
                    <a:latin typeface="Cambria Math" panose="02040503050406030204" pitchFamily="18" charset="0"/>
                  </a:rPr>
                  <a:t>4/5</a:t>
                </a:r>
                <a:r>
                  <a:rPr lang="en-US" dirty="0">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latin typeface="Calibri" panose="020F0502020204030204" pitchFamily="34" charset="0"/>
                    <a:ea typeface="Calibri" panose="020F0502020204030204" pitchFamily="34" charset="0"/>
                    <a:cs typeface="Calibri" panose="020F0502020204030204" pitchFamily="34" charset="0"/>
                  </a:rPr>
                  <a:t>d</a:t>
                </a:r>
                <a:r>
                  <a:rPr lang="en-US" dirty="0">
                    <a:latin typeface="Calibri" panose="020F0502020204030204" pitchFamily="34" charset="0"/>
                    <a:ea typeface="Calibri" panose="020F0502020204030204" pitchFamily="34" charset="0"/>
                    <a:cs typeface="Calibri" panose="020F0502020204030204" pitchFamily="34" charset="0"/>
                  </a:rPr>
                  <a:t>(</a:t>
                </a:r>
                <a:r>
                  <a:rPr lang="en-US" i="1" dirty="0">
                    <a:latin typeface="Calibri" panose="020F0502020204030204" pitchFamily="34" charset="0"/>
                    <a:ea typeface="Calibri" panose="020F0502020204030204" pitchFamily="34" charset="0"/>
                    <a:cs typeface="Calibri" panose="020F0502020204030204" pitchFamily="34" charset="0"/>
                  </a:rPr>
                  <a:t>x</a:t>
                </a:r>
                <a:r>
                  <a:rPr lang="en-US" dirty="0">
                    <a:latin typeface="Calibri" panose="020F0502020204030204" pitchFamily="34" charset="0"/>
                    <a:ea typeface="Calibri" panose="020F0502020204030204" pitchFamily="34" charset="0"/>
                    <a:cs typeface="Calibri" panose="020F0502020204030204" pitchFamily="34" charset="0"/>
                  </a:rPr>
                  <a:t>) by a factor of </a:t>
                </a:r>
                <a:r>
                  <a:rPr lang="en-US" b="0" i="0">
                    <a:latin typeface="Cambria Math" panose="02040503050406030204" pitchFamily="18" charset="0"/>
                  </a:rPr>
                  <a:t>5/4</a:t>
                </a:r>
                <a:r>
                  <a:rPr lang="en-US" dirty="0">
                    <a:latin typeface="Calibri" panose="020F0502020204030204" pitchFamily="34" charset="0"/>
                    <a:ea typeface="Calibri" panose="020F0502020204030204" pitchFamily="34" charset="0"/>
                    <a:cs typeface="Calibri" panose="020F0502020204030204" pitchFamily="34" charset="0"/>
                  </a:rPr>
                  <a:t>?</a:t>
                </a: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3C3EE879-E96C-0A0E-875D-6B0E2C8C304F}"/>
              </a:ext>
            </a:extLst>
          </p:cNvPr>
          <p:cNvSpPr>
            <a:spLocks noGrp="1"/>
          </p:cNvSpPr>
          <p:nvPr>
            <p:ph type="sldNum" sz="quarter" idx="5"/>
          </p:nvPr>
        </p:nvSpPr>
        <p:spPr/>
        <p:txBody>
          <a:bodyPr/>
          <a:lstStyle/>
          <a:p>
            <a:fld id="{BB5E49A5-4136-284D-997B-48E1D791AD67}" type="slidenum">
              <a:rPr lang="en-US" smtClean="0"/>
              <a:t>36</a:t>
            </a:fld>
            <a:endParaRPr lang="en-US"/>
          </a:p>
        </p:txBody>
      </p:sp>
    </p:spTree>
    <p:extLst>
      <p:ext uri="{BB962C8B-B14F-4D97-AF65-F5344CB8AC3E}">
        <p14:creationId xmlns:p14="http://schemas.microsoft.com/office/powerpoint/2010/main" val="123555326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A85098-D298-C417-DE2B-AE642BD357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D61D2C-4994-C2C4-2D3E-B404748C39DD}"/>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E888396B-BB75-9196-67FF-7F78F4E4655B}"/>
                  </a:ext>
                </a:extLst>
              </p:cNvPr>
              <p:cNvSpPr>
                <a:spLocks noGrp="1"/>
              </p:cNvSpPr>
              <p:nvPr>
                <p:ph type="body" idx="1"/>
              </p:nvPr>
            </p:nvSpPr>
            <p:spPr/>
            <p:txBody>
              <a:bodyPr/>
              <a:lstStyle/>
              <a:p>
                <a:pPr marL="0" indent="0" algn="l">
                  <a:buFont typeface="Arial" panose="020B0604020202020204" pitchFamily="34" charset="0"/>
                  <a:buNone/>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1</m:t>
                        </m:r>
                      </m:num>
                      <m:den>
                        <m:r>
                          <a:rPr lang="en-US" b="0" i="1" smtClean="0">
                            <a:solidFill>
                              <a:srgbClr val="000000"/>
                            </a:solidFill>
                            <a:latin typeface="Cambria Math" panose="02040503050406030204" pitchFamily="18" charset="0"/>
                          </a:rPr>
                          <m:t>2</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4</m:t>
                        </m:r>
                      </m:num>
                      <m:den>
                        <m:r>
                          <a:rPr lang="en-US" b="0" i="1" smtClean="0">
                            <a:solidFill>
                              <a:srgbClr val="000000"/>
                            </a:solidFill>
                            <a:latin typeface="Cambria Math" panose="02040503050406030204" pitchFamily="18" charset="0"/>
                          </a:rPr>
                          <m:t>5</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5</m:t>
                        </m:r>
                      </m:num>
                      <m:den>
                        <m:r>
                          <a:rPr lang="en-US" b="0" i="1" smtClean="0">
                            <a:solidFill>
                              <a:srgbClr val="000000"/>
                            </a:solidFill>
                            <a:latin typeface="Cambria Math" panose="02040503050406030204" pitchFamily="18" charset="0"/>
                          </a:rPr>
                          <m:t>4</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E888396B-BB75-9196-67FF-7F78F4E4655B}"/>
                  </a:ext>
                </a:extLst>
              </p:cNvPr>
              <p:cNvSpPr>
                <a:spLocks noGrp="1"/>
              </p:cNvSpPr>
              <p:nvPr>
                <p:ph type="body" idx="1"/>
              </p:nvPr>
            </p:nvSpPr>
            <p:spPr/>
            <p:txBody>
              <a:bodyPr/>
              <a:lstStyle/>
              <a:p>
                <a:pPr marL="0" indent="0" algn="l">
                  <a:buFont typeface="Arial" panose="020B0604020202020204" pitchFamily="34" charset="0"/>
                  <a:buNone/>
                </a:pPr>
                <a:r>
                  <a:rPr lang="en-US" b="1" dirty="0"/>
                  <a:t>Questions to Support Discourse – Probing:</a:t>
                </a:r>
              </a:p>
              <a:p>
                <a:pPr marL="0" indent="0" algn="l">
                  <a:buFont typeface="Arial" panose="020B0604020202020204" pitchFamily="34" charset="0"/>
                  <a:buNone/>
                </a:pPr>
                <a:r>
                  <a:rPr lang="en-US" dirty="0"/>
                  <a:t>• How do you change the output values of a(x) by a factor of 2? </a:t>
                </a:r>
              </a:p>
              <a:p>
                <a:pPr marL="0" indent="0" algn="l">
                  <a:buFont typeface="Arial" panose="020B0604020202020204" pitchFamily="34" charset="0"/>
                  <a:buNone/>
                </a:pPr>
                <a:r>
                  <a:rPr lang="en-US" dirty="0"/>
                  <a:t>• How do you change the input values of b(x) by a factor of </a:t>
                </a:r>
                <a:r>
                  <a:rPr lang="en-US" b="0" i="0">
                    <a:latin typeface="Cambria Math" panose="02040503050406030204" pitchFamily="18" charset="0"/>
                  </a:rPr>
                  <a:t>1/2</a:t>
                </a:r>
                <a:r>
                  <a:rPr lang="en-US" dirty="0"/>
                  <a:t>? </a:t>
                </a:r>
              </a:p>
              <a:p>
                <a:pPr marL="0" indent="0" algn="l">
                  <a:buFont typeface="Arial" panose="020B0604020202020204" pitchFamily="34" charset="0"/>
                  <a:buNone/>
                </a:pPr>
                <a:r>
                  <a:rPr lang="en-US" dirty="0"/>
                  <a:t>• How do you change the output values of c(x) by a factor of </a:t>
                </a:r>
                <a:r>
                  <a:rPr lang="en-US" b="0" i="0">
                    <a:latin typeface="Cambria Math" panose="02040503050406030204" pitchFamily="18" charset="0"/>
                  </a:rPr>
                  <a:t>4/5</a:t>
                </a:r>
                <a:r>
                  <a:rPr lang="en-US" dirty="0"/>
                  <a:t>? </a:t>
                </a:r>
              </a:p>
              <a:p>
                <a:pPr marL="0" indent="0" algn="l">
                  <a:buFont typeface="Arial" panose="020B0604020202020204" pitchFamily="34" charset="0"/>
                  <a:buNone/>
                </a:pPr>
                <a:r>
                  <a:rPr lang="en-US" dirty="0"/>
                  <a:t>• How do you change the input values of d(x) by a factor of </a:t>
                </a:r>
                <a:r>
                  <a:rPr lang="en-US" b="0" i="0">
                    <a:latin typeface="Cambria Math" panose="02040503050406030204" pitchFamily="18" charset="0"/>
                  </a:rPr>
                  <a:t>5/4</a:t>
                </a:r>
                <a:r>
                  <a:rPr lang="en-US" dirty="0"/>
                  <a:t>?</a:t>
                </a:r>
                <a:endParaRPr lang="en-US" sz="1200" dirty="0">
                  <a:latin typeface="Calibri" panose="020F0502020204030204" pitchFamily="34" charset="0"/>
                  <a:ea typeface="Calibri" panose="020F0502020204030204" pitchFamily="34" charset="0"/>
                  <a:cs typeface="Calibri" panose="020F0502020204030204" pitchFamily="34" charset="0"/>
                </a:endParaRPr>
              </a:p>
              <a:p>
                <a:pPr marL="0" indent="0" algn="l">
                  <a:buFont typeface="Arial" panose="020B0604020202020204" pitchFamily="34" charset="0"/>
                  <a:buNone/>
                </a:pP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AE6C410B-0773-50C7-F5E1-D980A0D9DD2C}"/>
              </a:ext>
            </a:extLst>
          </p:cNvPr>
          <p:cNvSpPr>
            <a:spLocks noGrp="1"/>
          </p:cNvSpPr>
          <p:nvPr>
            <p:ph type="sldNum" sz="quarter" idx="5"/>
          </p:nvPr>
        </p:nvSpPr>
        <p:spPr/>
        <p:txBody>
          <a:bodyPr/>
          <a:lstStyle/>
          <a:p>
            <a:fld id="{BB5E49A5-4136-284D-997B-48E1D791AD67}" type="slidenum">
              <a:rPr lang="en-US" smtClean="0"/>
              <a:t>37</a:t>
            </a:fld>
            <a:endParaRPr lang="en-US"/>
          </a:p>
        </p:txBody>
      </p:sp>
    </p:spTree>
    <p:extLst>
      <p:ext uri="{BB962C8B-B14F-4D97-AF65-F5344CB8AC3E}">
        <p14:creationId xmlns:p14="http://schemas.microsoft.com/office/powerpoint/2010/main" val="186128447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1B3550-94CC-8B85-B8C4-C424FCE2B5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6EC6FB-FD03-CF0B-8010-E87A01F91DE1}"/>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0F59D90-3F88-9C9B-C1AE-3D83A8FB64B8}"/>
                  </a:ext>
                </a:extLst>
              </p:cNvPr>
              <p:cNvSpPr>
                <a:spLocks noGrp="1"/>
              </p:cNvSpPr>
              <p:nvPr>
                <p:ph type="body" idx="1"/>
              </p:nvPr>
            </p:nvSpPr>
            <p:spPr/>
            <p:txBody>
              <a:bodyPr/>
              <a:lstStyle/>
              <a:p>
                <a:pPr marL="0" indent="0" algn="l">
                  <a:buFont typeface="Arial" panose="020B0604020202020204" pitchFamily="34" charset="0"/>
                  <a:buNone/>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D0F59D90-3F88-9C9B-C1AE-3D83A8FB64B8}"/>
                  </a:ext>
                </a:extLst>
              </p:cNvPr>
              <p:cNvSpPr>
                <a:spLocks noGrp="1"/>
              </p:cNvSpPr>
              <p:nvPr>
                <p:ph type="body" idx="1"/>
              </p:nvPr>
            </p:nvSpPr>
            <p:spPr/>
            <p:txBody>
              <a:bodyPr/>
              <a:lstStyle/>
              <a:p>
                <a:pPr marL="0" indent="0" algn="l">
                  <a:buFont typeface="Arial" panose="020B0604020202020204" pitchFamily="34" charset="0"/>
                  <a:buNone/>
                </a:pPr>
                <a:r>
                  <a:rPr lang="en-US" b="1" dirty="0"/>
                  <a:t>Questions to Support Discourse – Probing:</a:t>
                </a:r>
              </a:p>
              <a:p>
                <a:pPr marL="0" indent="0" algn="l">
                  <a:buFont typeface="Arial" panose="020B0604020202020204" pitchFamily="34" charset="0"/>
                  <a:buNone/>
                </a:pPr>
                <a:r>
                  <a:rPr lang="en-US" dirty="0"/>
                  <a:t>• How do you change the output values of a(x) by a factor of 2? </a:t>
                </a:r>
              </a:p>
              <a:p>
                <a:pPr marL="0" indent="0" algn="l">
                  <a:buFont typeface="Arial" panose="020B0604020202020204" pitchFamily="34" charset="0"/>
                  <a:buNone/>
                </a:pPr>
                <a:r>
                  <a:rPr lang="en-US" dirty="0"/>
                  <a:t>• How do you change the input values of b(x) by a factor of </a:t>
                </a:r>
                <a:r>
                  <a:rPr lang="en-US" b="0" i="0">
                    <a:latin typeface="Cambria Math" panose="02040503050406030204" pitchFamily="18" charset="0"/>
                  </a:rPr>
                  <a:t>1/2</a:t>
                </a:r>
                <a:r>
                  <a:rPr lang="en-US" dirty="0"/>
                  <a:t>? </a:t>
                </a:r>
              </a:p>
              <a:p>
                <a:pPr marL="0" indent="0" algn="l">
                  <a:buFont typeface="Arial" panose="020B0604020202020204" pitchFamily="34" charset="0"/>
                  <a:buNone/>
                </a:pPr>
                <a:r>
                  <a:rPr lang="en-US" dirty="0"/>
                  <a:t>• How do you change the output values of c(x) by a factor of </a:t>
                </a:r>
                <a:r>
                  <a:rPr lang="en-US" b="0" i="0">
                    <a:latin typeface="Cambria Math" panose="02040503050406030204" pitchFamily="18" charset="0"/>
                  </a:rPr>
                  <a:t>4/5</a:t>
                </a:r>
                <a:r>
                  <a:rPr lang="en-US" dirty="0"/>
                  <a:t>? </a:t>
                </a:r>
              </a:p>
              <a:p>
                <a:pPr marL="0" indent="0" algn="l">
                  <a:buFont typeface="Arial" panose="020B0604020202020204" pitchFamily="34" charset="0"/>
                  <a:buNone/>
                </a:pPr>
                <a:r>
                  <a:rPr lang="en-US" dirty="0"/>
                  <a:t>• How do you change the input values of d(x) by a factor of </a:t>
                </a:r>
                <a:r>
                  <a:rPr lang="en-US" b="0" i="0">
                    <a:latin typeface="Cambria Math" panose="02040503050406030204" pitchFamily="18" charset="0"/>
                  </a:rPr>
                  <a:t>5/4</a:t>
                </a:r>
                <a:r>
                  <a:rPr lang="en-US" dirty="0"/>
                  <a:t>?</a:t>
                </a:r>
                <a:endParaRPr lang="en-US" sz="1200" dirty="0">
                  <a:latin typeface="Calibri" panose="020F0502020204030204" pitchFamily="34" charset="0"/>
                  <a:ea typeface="Calibri" panose="020F0502020204030204" pitchFamily="34" charset="0"/>
                  <a:cs typeface="Calibri" panose="020F0502020204030204" pitchFamily="34" charset="0"/>
                </a:endParaRPr>
              </a:p>
              <a:p>
                <a:pPr marL="0" indent="0" algn="l">
                  <a:buFont typeface="Arial" panose="020B0604020202020204" pitchFamily="34" charset="0"/>
                  <a:buNone/>
                </a:pP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D8789BE7-9602-44C4-7228-CE9C30BD713A}"/>
              </a:ext>
            </a:extLst>
          </p:cNvPr>
          <p:cNvSpPr>
            <a:spLocks noGrp="1"/>
          </p:cNvSpPr>
          <p:nvPr>
            <p:ph type="sldNum" sz="quarter" idx="5"/>
          </p:nvPr>
        </p:nvSpPr>
        <p:spPr/>
        <p:txBody>
          <a:bodyPr/>
          <a:lstStyle/>
          <a:p>
            <a:fld id="{BB5E49A5-4136-284D-997B-48E1D791AD67}" type="slidenum">
              <a:rPr lang="en-US" smtClean="0"/>
              <a:t>38</a:t>
            </a:fld>
            <a:endParaRPr lang="en-US"/>
          </a:p>
        </p:txBody>
      </p:sp>
    </p:spTree>
    <p:extLst>
      <p:ext uri="{BB962C8B-B14F-4D97-AF65-F5344CB8AC3E}">
        <p14:creationId xmlns:p14="http://schemas.microsoft.com/office/powerpoint/2010/main" val="347009774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FB9CE-FA6D-81D8-9FAB-85D9709BAA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58F19D-03CE-7FA7-7400-A9DD3D86862B}"/>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5B1E4656-E5FA-9153-ED08-017EB2FC3E14}"/>
              </a:ext>
            </a:extLst>
          </p:cNvPr>
          <p:cNvSpPr>
            <a:spLocks noGrp="1"/>
          </p:cNvSpPr>
          <p:nvPr>
            <p:ph type="body" idx="1"/>
          </p:nvPr>
        </p:nvSpPr>
        <p:spPr/>
        <p:txBody>
          <a:bodyPr/>
          <a:lstStyle/>
          <a:p>
            <a:pPr marL="0" indent="0" algn="l">
              <a:buFont typeface="Arial" panose="020B0604020202020204" pitchFamily="34" charset="0"/>
              <a:buNone/>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D23F5FC3-6676-F345-DE03-B296C29409C1}"/>
              </a:ext>
            </a:extLst>
          </p:cNvPr>
          <p:cNvSpPr>
            <a:spLocks noGrp="1"/>
          </p:cNvSpPr>
          <p:nvPr>
            <p:ph type="sldNum" sz="quarter" idx="5"/>
          </p:nvPr>
        </p:nvSpPr>
        <p:spPr/>
        <p:txBody>
          <a:bodyPr/>
          <a:lstStyle/>
          <a:p>
            <a:fld id="{BB5E49A5-4136-284D-997B-48E1D791AD67}" type="slidenum">
              <a:rPr lang="en-US" smtClean="0"/>
              <a:t>39</a:t>
            </a:fld>
            <a:endParaRPr lang="en-US"/>
          </a:p>
        </p:txBody>
      </p:sp>
    </p:spTree>
    <p:extLst>
      <p:ext uri="{BB962C8B-B14F-4D97-AF65-F5344CB8AC3E}">
        <p14:creationId xmlns:p14="http://schemas.microsoft.com/office/powerpoint/2010/main" val="41725925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19E0AD-E921-33B3-7D61-A3D762D7F0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A7634C-9F48-8AC9-769C-F930921E50F7}"/>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C0E14169-B617-9D70-36CA-7EF9CFC877D6}"/>
              </a:ext>
            </a:extLst>
          </p:cNvPr>
          <p:cNvSpPr>
            <a:spLocks noGrp="1"/>
          </p:cNvSpPr>
          <p:nvPr>
            <p:ph type="body" idx="1"/>
          </p:nvPr>
        </p:nvSpPr>
        <p:spPr/>
        <p:txBody>
          <a:bodyPr/>
          <a:lstStyle/>
          <a:p>
            <a:pPr marL="0" indent="0" algn="l">
              <a:buFont typeface="Arial" panose="020B0604020202020204" pitchFamily="34" charset="0"/>
              <a:buNone/>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02B14BB3-5AB0-A4D3-93DF-A2EEE9C1560F}"/>
              </a:ext>
            </a:extLst>
          </p:cNvPr>
          <p:cNvSpPr>
            <a:spLocks noGrp="1"/>
          </p:cNvSpPr>
          <p:nvPr>
            <p:ph type="sldNum" sz="quarter" idx="5"/>
          </p:nvPr>
        </p:nvSpPr>
        <p:spPr/>
        <p:txBody>
          <a:bodyPr/>
          <a:lstStyle/>
          <a:p>
            <a:fld id="{BB5E49A5-4136-284D-997B-48E1D791AD67}" type="slidenum">
              <a:rPr lang="en-US" smtClean="0"/>
              <a:t>40</a:t>
            </a:fld>
            <a:endParaRPr lang="en-US"/>
          </a:p>
        </p:txBody>
      </p:sp>
    </p:spTree>
    <p:extLst>
      <p:ext uri="{BB962C8B-B14F-4D97-AF65-F5344CB8AC3E}">
        <p14:creationId xmlns:p14="http://schemas.microsoft.com/office/powerpoint/2010/main" val="287745862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39E445-8090-4EEC-AA1F-5A055FCC83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9D6D9F-81A8-0525-8301-CD2C2354BCFE}"/>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55F3D2FC-2343-9150-D681-275F3EC27603}"/>
              </a:ext>
            </a:extLst>
          </p:cNvPr>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this relationship between horizontal and vertical dilations hold true for all linear functions with a slope of 1?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this relationship between horizontal and vertical dilations hold true for all linear functions with a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of 0?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your counterexample include graphs, equations, or both?</a:t>
            </a:r>
          </a:p>
          <a:p>
            <a:r>
              <a:rPr lang="en-US" b="1" dirty="0"/>
              <a:t>Counterexamples will vary: any linear function other than f(x) = x works, as long as students compare n·m(x) with m(nx).</a:t>
            </a:r>
          </a:p>
        </p:txBody>
      </p:sp>
      <p:sp>
        <p:nvSpPr>
          <p:cNvPr id="4" name="Slide Number Placeholder 3">
            <a:extLst>
              <a:ext uri="{FF2B5EF4-FFF2-40B4-BE49-F238E27FC236}">
                <a16:creationId xmlns:a16="http://schemas.microsoft.com/office/drawing/2014/main" id="{C948F3FE-1926-6CE2-79E9-278F24AA6BD9}"/>
              </a:ext>
            </a:extLst>
          </p:cNvPr>
          <p:cNvSpPr>
            <a:spLocks noGrp="1"/>
          </p:cNvSpPr>
          <p:nvPr>
            <p:ph type="sldNum" sz="quarter" idx="5"/>
          </p:nvPr>
        </p:nvSpPr>
        <p:spPr/>
        <p:txBody>
          <a:bodyPr/>
          <a:lstStyle/>
          <a:p>
            <a:fld id="{BB5E49A5-4136-284D-997B-48E1D791AD67}" type="slidenum">
              <a:rPr lang="en-US" smtClean="0"/>
              <a:t>41</a:t>
            </a:fld>
            <a:endParaRPr lang="en-US"/>
          </a:p>
        </p:txBody>
      </p:sp>
    </p:spTree>
    <p:extLst>
      <p:ext uri="{BB962C8B-B14F-4D97-AF65-F5344CB8AC3E}">
        <p14:creationId xmlns:p14="http://schemas.microsoft.com/office/powerpoint/2010/main" val="339702329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576DE-4F58-7BE3-3A90-A2D8C78033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DC9036-CE18-2364-D32A-2BF98FB11331}"/>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17B60FF0-C0F6-23FE-57A2-75D5CC22599C}"/>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Activity 2.2 Summary:</a:t>
                </a:r>
              </a:p>
              <a:p>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a:t>
                </a:r>
                <a:r>
                  <a:rPr lang="en-US" sz="1200"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baseline="0"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baseline="0"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1200" i="1" baseline="0"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changing the output values by a factor of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n</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units is equivalent to changing the input values by a factor of </a:t>
                </a:r>
                <a14:m>
                  <m:oMath xmlns:m="http://schemas.openxmlformats.org/officeDocument/2006/math">
                    <m:f>
                      <m:fPr>
                        <m:ctrlPr>
                          <a:rPr lang="en-US" sz="1200" i="1" smtClean="0">
                            <a:solidFill>
                              <a:srgbClr val="000000"/>
                            </a:solidFill>
                            <a:latin typeface="Cambria Math" panose="02040503050406030204" pitchFamily="18" charset="0"/>
                          </a:rPr>
                        </m:ctrlPr>
                      </m:fPr>
                      <m:num>
                        <m:r>
                          <a:rPr lang="en-US" sz="1200" b="0" i="1" smtClean="0">
                            <a:solidFill>
                              <a:srgbClr val="000000"/>
                            </a:solidFill>
                            <a:latin typeface="Cambria Math" panose="02040503050406030204" pitchFamily="18" charset="0"/>
                          </a:rPr>
                          <m:t>1</m:t>
                        </m:r>
                      </m:num>
                      <m:den>
                        <m:r>
                          <a:rPr lang="en-US" sz="1200" b="0" i="1" smtClean="0">
                            <a:solidFill>
                              <a:srgbClr val="000000"/>
                            </a:solidFill>
                            <a:latin typeface="Cambria Math" panose="02040503050406030204" pitchFamily="18" charset="0"/>
                          </a:rPr>
                          <m:t>𝑛</m:t>
                        </m:r>
                      </m:den>
                    </m:f>
                  </m:oMath>
                </a14:m>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units. This relationship between horizontal and vertical dilations is only true for the parent function</a:t>
                </a:r>
                <a:r>
                  <a:rPr lang="en-US" sz="1200"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baseline="0"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baseline="0"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1200" i="1" baseline="0" dirty="0">
                    <a:solidFill>
                      <a:srgbClr val="000000"/>
                    </a:solidFill>
                    <a:latin typeface="Calibri" panose="020F0502020204030204" pitchFamily="34" charset="0"/>
                    <a:ea typeface="Calibri" panose="020F0502020204030204" pitchFamily="34" charset="0"/>
                    <a:cs typeface="Calibri" panose="020F0502020204030204" pitchFamily="34" charset="0"/>
                  </a:rPr>
                  <a:t>x.</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17B60FF0-C0F6-23FE-57A2-75D5CC22599C}"/>
                  </a:ext>
                </a:extLst>
              </p:cNvPr>
              <p:cNvSpPr>
                <a:spLocks noGrp="1"/>
              </p:cNvSpPr>
              <p:nvPr>
                <p:ph type="body" idx="1"/>
              </p:nvPr>
            </p:nvSpPr>
            <p:spPr/>
            <p:txBody>
              <a:bodyPr/>
              <a:lstStyle/>
              <a:p>
                <a:r>
                  <a:rPr lang="en-US" sz="1200" b="1" dirty="0">
                    <a:latin typeface="Calibri" panose="020F0502020204030204" pitchFamily="34" charset="0"/>
                    <a:ea typeface="Calibri" panose="020F0502020204030204" pitchFamily="34" charset="0"/>
                    <a:cs typeface="Calibri" panose="020F0502020204030204" pitchFamily="34" charset="0"/>
                  </a:rPr>
                  <a:t>Activity 2.2 Summary:</a:t>
                </a:r>
              </a:p>
              <a:p>
                <a:r>
                  <a:rPr lang="en-US" dirty="0"/>
                  <a:t>For the parent function </a:t>
                </a:r>
                <a:r>
                  <a:rPr lang="en-US" i="0" dirty="0">
                    <a:latin typeface="Cambria Math" panose="02040503050406030204" pitchFamily="18" charset="0"/>
                  </a:rPr>
                  <a:t>𝑓(𝑥) = 𝑥</a:t>
                </a:r>
                <a:r>
                  <a:rPr lang="en-US" dirty="0"/>
                  <a:t>, changing the output values by a factor of </a:t>
                </a:r>
                <a:r>
                  <a:rPr lang="en-US" i="1" dirty="0"/>
                  <a:t>n</a:t>
                </a:r>
                <a:r>
                  <a:rPr lang="en-US" dirty="0"/>
                  <a:t> units is equivalent to changing the input values by a factor of </a:t>
                </a:r>
                <a:r>
                  <a:rPr lang="en-US" b="0" i="0">
                    <a:latin typeface="Cambria Math" panose="02040503050406030204" pitchFamily="18" charset="0"/>
                  </a:rPr>
                  <a:t>1/|𝑛| </a:t>
                </a:r>
                <a:r>
                  <a:rPr lang="en-US" dirty="0"/>
                  <a:t> units. This relationship between horizontal and vertical dilations is only true for the parent function </a:t>
                </a:r>
                <a:r>
                  <a:rPr lang="en-US" i="0" dirty="0">
                    <a:latin typeface="Cambria Math" panose="02040503050406030204" pitchFamily="18" charset="0"/>
                  </a:rPr>
                  <a:t>𝑓(𝑥) = 𝑥</a:t>
                </a:r>
                <a:r>
                  <a:rPr lang="en-US" sz="1200" b="1" dirty="0">
                    <a:latin typeface="Calibri" panose="020F0502020204030204" pitchFamily="34" charset="0"/>
                    <a:ea typeface="Calibri" panose="020F0502020204030204" pitchFamily="34" charset="0"/>
                    <a:cs typeface="Calibri" panose="020F0502020204030204" pitchFamily="34" charset="0"/>
                  </a:rPr>
                  <a:t>.</a:t>
                </a:r>
              </a:p>
            </p:txBody>
          </p:sp>
        </mc:Fallback>
      </mc:AlternateContent>
      <p:sp>
        <p:nvSpPr>
          <p:cNvPr id="4" name="Slide Number Placeholder 3">
            <a:extLst>
              <a:ext uri="{FF2B5EF4-FFF2-40B4-BE49-F238E27FC236}">
                <a16:creationId xmlns:a16="http://schemas.microsoft.com/office/drawing/2014/main" id="{35DCFE0D-1E66-5115-6D51-6675F00F0E4B}"/>
              </a:ext>
            </a:extLst>
          </p:cNvPr>
          <p:cNvSpPr>
            <a:spLocks noGrp="1"/>
          </p:cNvSpPr>
          <p:nvPr>
            <p:ph type="sldNum" sz="quarter" idx="5"/>
          </p:nvPr>
        </p:nvSpPr>
        <p:spPr/>
        <p:txBody>
          <a:bodyPr/>
          <a:lstStyle/>
          <a:p>
            <a:fld id="{BB5E49A5-4136-284D-997B-48E1D791AD67}" type="slidenum">
              <a:rPr lang="en-US" smtClean="0"/>
              <a:t>42</a:t>
            </a:fld>
            <a:endParaRPr lang="en-US"/>
          </a:p>
        </p:txBody>
      </p:sp>
    </p:spTree>
    <p:extLst>
      <p:ext uri="{BB962C8B-B14F-4D97-AF65-F5344CB8AC3E}">
        <p14:creationId xmlns:p14="http://schemas.microsoft.com/office/powerpoint/2010/main" val="76217674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576DE-4F58-7BE3-3A90-A2D8C78033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DC9036-CE18-2364-D32A-2BF98FB11331}"/>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17B60FF0-C0F6-23FE-57A2-75D5CC22599C}"/>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This slide is blank for optional use with displaying work.</a:t>
            </a:r>
          </a:p>
        </p:txBody>
      </p:sp>
      <p:sp>
        <p:nvSpPr>
          <p:cNvPr id="4" name="Slide Number Placeholder 3">
            <a:extLst>
              <a:ext uri="{FF2B5EF4-FFF2-40B4-BE49-F238E27FC236}">
                <a16:creationId xmlns:a16="http://schemas.microsoft.com/office/drawing/2014/main" id="{35DCFE0D-1E66-5115-6D51-6675F00F0E4B}"/>
              </a:ext>
            </a:extLst>
          </p:cNvPr>
          <p:cNvSpPr>
            <a:spLocks noGrp="1"/>
          </p:cNvSpPr>
          <p:nvPr>
            <p:ph type="sldNum" sz="quarter" idx="5"/>
          </p:nvPr>
        </p:nvSpPr>
        <p:spPr/>
        <p:txBody>
          <a:bodyPr/>
          <a:lstStyle/>
          <a:p>
            <a:fld id="{BB5E49A5-4136-284D-997B-48E1D791AD67}" type="slidenum">
              <a:rPr lang="en-US" smtClean="0"/>
              <a:t>43</a:t>
            </a:fld>
            <a:endParaRPr lang="en-US"/>
          </a:p>
        </p:txBody>
      </p:sp>
    </p:spTree>
    <p:extLst>
      <p:ext uri="{BB962C8B-B14F-4D97-AF65-F5344CB8AC3E}">
        <p14:creationId xmlns:p14="http://schemas.microsoft.com/office/powerpoint/2010/main" val="76217674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44A387-8CD5-47CC-225F-FE700C5D52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4D3DB6-87DC-55B4-4FC9-81BF95D5E423}"/>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93EE84C6-FE5B-5871-1668-A4328C3257FF}"/>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15-20 minutes allotted for Activity 2.3.</a:t>
            </a:r>
          </a:p>
        </p:txBody>
      </p:sp>
      <p:sp>
        <p:nvSpPr>
          <p:cNvPr id="4" name="Slide Number Placeholder 3">
            <a:extLst>
              <a:ext uri="{FF2B5EF4-FFF2-40B4-BE49-F238E27FC236}">
                <a16:creationId xmlns:a16="http://schemas.microsoft.com/office/drawing/2014/main" id="{53034EC2-4BBC-D230-E568-2C25BA96BF7D}"/>
              </a:ext>
            </a:extLst>
          </p:cNvPr>
          <p:cNvSpPr>
            <a:spLocks noGrp="1"/>
          </p:cNvSpPr>
          <p:nvPr>
            <p:ph type="sldNum" sz="quarter" idx="5"/>
          </p:nvPr>
        </p:nvSpPr>
        <p:spPr/>
        <p:txBody>
          <a:bodyPr/>
          <a:lstStyle/>
          <a:p>
            <a:fld id="{BB5E49A5-4136-284D-997B-48E1D791AD67}" type="slidenum">
              <a:rPr lang="en-US" smtClean="0"/>
              <a:t>44</a:t>
            </a:fld>
            <a:endParaRPr lang="en-US"/>
          </a:p>
        </p:txBody>
      </p:sp>
    </p:spTree>
    <p:extLst>
      <p:ext uri="{BB962C8B-B14F-4D97-AF65-F5344CB8AC3E}">
        <p14:creationId xmlns:p14="http://schemas.microsoft.com/office/powerpoint/2010/main" val="165976140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19B0F3-5F34-6C6F-3D93-DF0C427FA5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3B55A8-FCD9-C2E9-D28F-4E948631FE6C}"/>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3D2C273F-B38E-ABE5-8577-C68720D7097E}"/>
              </a:ext>
            </a:extLst>
          </p:cNvPr>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horizontally?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vertically?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horizontally? If so, by what factor?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vertically? If so, by what factor?</a:t>
            </a:r>
          </a:p>
        </p:txBody>
      </p:sp>
      <p:sp>
        <p:nvSpPr>
          <p:cNvPr id="4" name="Slide Number Placeholder 3">
            <a:extLst>
              <a:ext uri="{FF2B5EF4-FFF2-40B4-BE49-F238E27FC236}">
                <a16:creationId xmlns:a16="http://schemas.microsoft.com/office/drawing/2014/main" id="{579D3003-5309-1550-3E81-A7A487E52793}"/>
              </a:ext>
            </a:extLst>
          </p:cNvPr>
          <p:cNvSpPr>
            <a:spLocks noGrp="1"/>
          </p:cNvSpPr>
          <p:nvPr>
            <p:ph type="sldNum" sz="quarter" idx="5"/>
          </p:nvPr>
        </p:nvSpPr>
        <p:spPr/>
        <p:txBody>
          <a:bodyPr/>
          <a:lstStyle/>
          <a:p>
            <a:fld id="{BB5E49A5-4136-284D-997B-48E1D791AD67}" type="slidenum">
              <a:rPr lang="en-US" smtClean="0"/>
              <a:t>45</a:t>
            </a:fld>
            <a:endParaRPr lang="en-US"/>
          </a:p>
        </p:txBody>
      </p:sp>
    </p:spTree>
    <p:extLst>
      <p:ext uri="{BB962C8B-B14F-4D97-AF65-F5344CB8AC3E}">
        <p14:creationId xmlns:p14="http://schemas.microsoft.com/office/powerpoint/2010/main" val="117876740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DAABF-D129-0145-8146-09BBAD44D7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A1CE6B-3E9B-AD97-D5DD-0C67D1354AD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FA6D1B3B-6471-3E79-F048-232FA226FF33}"/>
              </a:ext>
            </a:extLst>
          </p:cNvPr>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horizontally?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vertically?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horizontally? If so, by what factor?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vertically? If so, by what factor?</a:t>
            </a:r>
          </a:p>
          <a:p>
            <a:r>
              <a:rPr lang="en-US" b="1" dirty="0"/>
              <a:t>Slide typo: slides 46, 47, 49 and 50 number their item '1.'; they are items 2, 3, 5 and 6.</a:t>
            </a:r>
          </a:p>
        </p:txBody>
      </p:sp>
      <p:sp>
        <p:nvSpPr>
          <p:cNvPr id="4" name="Slide Number Placeholder 3">
            <a:extLst>
              <a:ext uri="{FF2B5EF4-FFF2-40B4-BE49-F238E27FC236}">
                <a16:creationId xmlns:a16="http://schemas.microsoft.com/office/drawing/2014/main" id="{FF1F7304-35D6-7218-3B3A-1695C4AF1E99}"/>
              </a:ext>
            </a:extLst>
          </p:cNvPr>
          <p:cNvSpPr>
            <a:spLocks noGrp="1"/>
          </p:cNvSpPr>
          <p:nvPr>
            <p:ph type="sldNum" sz="quarter" idx="5"/>
          </p:nvPr>
        </p:nvSpPr>
        <p:spPr/>
        <p:txBody>
          <a:bodyPr/>
          <a:lstStyle/>
          <a:p>
            <a:fld id="{BB5E49A5-4136-284D-997B-48E1D791AD67}" type="slidenum">
              <a:rPr lang="en-US" smtClean="0"/>
              <a:t>46</a:t>
            </a:fld>
            <a:endParaRPr lang="en-US"/>
          </a:p>
        </p:txBody>
      </p:sp>
    </p:spTree>
    <p:extLst>
      <p:ext uri="{BB962C8B-B14F-4D97-AF65-F5344CB8AC3E}">
        <p14:creationId xmlns:p14="http://schemas.microsoft.com/office/powerpoint/2010/main" val="48053794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65D57E-2DB4-0930-7240-A42DA86EA8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6207D9-364F-0E1D-D1C5-C9A9DB6B1B3F}"/>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9516DBED-C0D8-130F-E57D-89CBFD45F0FF}"/>
              </a:ext>
            </a:extLst>
          </p:cNvPr>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horizontally?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vertically?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horizontally? If so, by what factor?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vertically? If so, by what factor?</a:t>
            </a:r>
          </a:p>
        </p:txBody>
      </p:sp>
      <p:sp>
        <p:nvSpPr>
          <p:cNvPr id="4" name="Slide Number Placeholder 3">
            <a:extLst>
              <a:ext uri="{FF2B5EF4-FFF2-40B4-BE49-F238E27FC236}">
                <a16:creationId xmlns:a16="http://schemas.microsoft.com/office/drawing/2014/main" id="{DC85A714-A429-0F3E-66E4-9658AD701C4E}"/>
              </a:ext>
            </a:extLst>
          </p:cNvPr>
          <p:cNvSpPr>
            <a:spLocks noGrp="1"/>
          </p:cNvSpPr>
          <p:nvPr>
            <p:ph type="sldNum" sz="quarter" idx="5"/>
          </p:nvPr>
        </p:nvSpPr>
        <p:spPr/>
        <p:txBody>
          <a:bodyPr/>
          <a:lstStyle/>
          <a:p>
            <a:fld id="{BB5E49A5-4136-284D-997B-48E1D791AD67}" type="slidenum">
              <a:rPr lang="en-US" smtClean="0"/>
              <a:t>47</a:t>
            </a:fld>
            <a:endParaRPr lang="en-US"/>
          </a:p>
        </p:txBody>
      </p:sp>
    </p:spTree>
    <p:extLst>
      <p:ext uri="{BB962C8B-B14F-4D97-AF65-F5344CB8AC3E}">
        <p14:creationId xmlns:p14="http://schemas.microsoft.com/office/powerpoint/2010/main" val="288201123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CEB551-CB80-FB60-DF4E-4AEB80C120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961442-18D7-CFD2-811D-A0DD1F9E8968}"/>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6084A6A-82E3-E754-CAE7-1D2413D10677}"/>
              </a:ext>
            </a:extLst>
          </p:cNvPr>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horizontally?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vertically?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horizontally? If so, by what factor?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vertically? If so, by what factor?</a:t>
            </a:r>
          </a:p>
        </p:txBody>
      </p:sp>
      <p:sp>
        <p:nvSpPr>
          <p:cNvPr id="4" name="Slide Number Placeholder 3">
            <a:extLst>
              <a:ext uri="{FF2B5EF4-FFF2-40B4-BE49-F238E27FC236}">
                <a16:creationId xmlns:a16="http://schemas.microsoft.com/office/drawing/2014/main" id="{4993E904-DB6C-3512-88E2-148A421D3594}"/>
              </a:ext>
            </a:extLst>
          </p:cNvPr>
          <p:cNvSpPr>
            <a:spLocks noGrp="1"/>
          </p:cNvSpPr>
          <p:nvPr>
            <p:ph type="sldNum" sz="quarter" idx="5"/>
          </p:nvPr>
        </p:nvSpPr>
        <p:spPr/>
        <p:txBody>
          <a:bodyPr/>
          <a:lstStyle/>
          <a:p>
            <a:fld id="{BB5E49A5-4136-284D-997B-48E1D791AD67}" type="slidenum">
              <a:rPr lang="en-US" smtClean="0"/>
              <a:t>48</a:t>
            </a:fld>
            <a:endParaRPr lang="en-US"/>
          </a:p>
        </p:txBody>
      </p:sp>
    </p:spTree>
    <p:extLst>
      <p:ext uri="{BB962C8B-B14F-4D97-AF65-F5344CB8AC3E}">
        <p14:creationId xmlns:p14="http://schemas.microsoft.com/office/powerpoint/2010/main" val="396825075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AF1DF8-298F-FF6E-F07D-197EFC40E7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A367E5-73D6-2EF8-E071-47631B7ED0E8}"/>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EF0F806F-881C-923E-0B09-239F35A06C3A}"/>
              </a:ext>
            </a:extLst>
          </p:cNvPr>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horizontally?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vertically?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horizontally? If so, by what factor?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vertically? If so, by what factor?</a:t>
            </a:r>
          </a:p>
        </p:txBody>
      </p:sp>
      <p:sp>
        <p:nvSpPr>
          <p:cNvPr id="4" name="Slide Number Placeholder 3">
            <a:extLst>
              <a:ext uri="{FF2B5EF4-FFF2-40B4-BE49-F238E27FC236}">
                <a16:creationId xmlns:a16="http://schemas.microsoft.com/office/drawing/2014/main" id="{3C3C8B68-8E47-63C7-4CEC-FAE2DE451049}"/>
              </a:ext>
            </a:extLst>
          </p:cNvPr>
          <p:cNvSpPr>
            <a:spLocks noGrp="1"/>
          </p:cNvSpPr>
          <p:nvPr>
            <p:ph type="sldNum" sz="quarter" idx="5"/>
          </p:nvPr>
        </p:nvSpPr>
        <p:spPr/>
        <p:txBody>
          <a:bodyPr/>
          <a:lstStyle/>
          <a:p>
            <a:fld id="{BB5E49A5-4136-284D-997B-48E1D791AD67}" type="slidenum">
              <a:rPr lang="en-US" smtClean="0"/>
              <a:t>49</a:t>
            </a:fld>
            <a:endParaRPr lang="en-US"/>
          </a:p>
        </p:txBody>
      </p:sp>
    </p:spTree>
    <p:extLst>
      <p:ext uri="{BB962C8B-B14F-4D97-AF65-F5344CB8AC3E}">
        <p14:creationId xmlns:p14="http://schemas.microsoft.com/office/powerpoint/2010/main" val="2290164525"/>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DE1932-5F33-32E7-B4BC-17F221BBB9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6D8C91-D79C-088D-5925-231731CCFEE0}"/>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98EC8C14-6A6B-5B00-63A8-B013F273DE48}"/>
              </a:ext>
            </a:extLst>
          </p:cNvPr>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horizontally?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vertically?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horizontally? If so, by what factor?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vertically? If so, by what factor?</a:t>
            </a:r>
          </a:p>
        </p:txBody>
      </p:sp>
      <p:sp>
        <p:nvSpPr>
          <p:cNvPr id="4" name="Slide Number Placeholder 3">
            <a:extLst>
              <a:ext uri="{FF2B5EF4-FFF2-40B4-BE49-F238E27FC236}">
                <a16:creationId xmlns:a16="http://schemas.microsoft.com/office/drawing/2014/main" id="{6F291E09-4677-E6DC-A7AA-E6ECD036A51E}"/>
              </a:ext>
            </a:extLst>
          </p:cNvPr>
          <p:cNvSpPr>
            <a:spLocks noGrp="1"/>
          </p:cNvSpPr>
          <p:nvPr>
            <p:ph type="sldNum" sz="quarter" idx="5"/>
          </p:nvPr>
        </p:nvSpPr>
        <p:spPr/>
        <p:txBody>
          <a:bodyPr/>
          <a:lstStyle/>
          <a:p>
            <a:fld id="{BB5E49A5-4136-284D-997B-48E1D791AD67}" type="slidenum">
              <a:rPr lang="en-US" smtClean="0"/>
              <a:t>50</a:t>
            </a:fld>
            <a:endParaRPr lang="en-US"/>
          </a:p>
        </p:txBody>
      </p:sp>
    </p:spTree>
    <p:extLst>
      <p:ext uri="{BB962C8B-B14F-4D97-AF65-F5344CB8AC3E}">
        <p14:creationId xmlns:p14="http://schemas.microsoft.com/office/powerpoint/2010/main" val="429186225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930C1E-5EED-1C31-6905-653F6893F1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034E1D-54FB-4628-3C8E-6FAD920EDFCB}"/>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3F6FB7EF-E7C9-A0F4-A7CF-FA0798061ABD}"/>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Activity 2.3 Summary:</a:t>
            </a:r>
          </a:p>
          <a:p>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Changing the output values of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affects the graph of the function vertically. Changes to the input values of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affects the graph of the function horizontally.</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01952F81-CC36-922D-F60A-6C1302760595}"/>
              </a:ext>
            </a:extLst>
          </p:cNvPr>
          <p:cNvSpPr>
            <a:spLocks noGrp="1"/>
          </p:cNvSpPr>
          <p:nvPr>
            <p:ph type="sldNum" sz="quarter" idx="5"/>
          </p:nvPr>
        </p:nvSpPr>
        <p:spPr/>
        <p:txBody>
          <a:bodyPr/>
          <a:lstStyle/>
          <a:p>
            <a:fld id="{BB5E49A5-4136-284D-997B-48E1D791AD67}" type="slidenum">
              <a:rPr lang="en-US" smtClean="0"/>
              <a:t>51</a:t>
            </a:fld>
            <a:endParaRPr lang="en-US"/>
          </a:p>
        </p:txBody>
      </p:sp>
    </p:spTree>
    <p:extLst>
      <p:ext uri="{BB962C8B-B14F-4D97-AF65-F5344CB8AC3E}">
        <p14:creationId xmlns:p14="http://schemas.microsoft.com/office/powerpoint/2010/main" val="339822191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D9DA2C-408C-0727-4568-E2577EEF62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41180E-3E56-D811-0263-DDD112D147D7}"/>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25337BF-9D9C-B40A-07A5-21E3B4CD5723}"/>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This slide is blank for optional use with displaying work.</a:t>
            </a:r>
          </a:p>
        </p:txBody>
      </p:sp>
      <p:sp>
        <p:nvSpPr>
          <p:cNvPr id="4" name="Slide Number Placeholder 3">
            <a:extLst>
              <a:ext uri="{FF2B5EF4-FFF2-40B4-BE49-F238E27FC236}">
                <a16:creationId xmlns:a16="http://schemas.microsoft.com/office/drawing/2014/main" id="{FBCEC393-F2B8-8767-CC35-8DF26D2CD137}"/>
              </a:ext>
            </a:extLst>
          </p:cNvPr>
          <p:cNvSpPr>
            <a:spLocks noGrp="1"/>
          </p:cNvSpPr>
          <p:nvPr>
            <p:ph type="sldNum" sz="quarter" idx="5"/>
          </p:nvPr>
        </p:nvSpPr>
        <p:spPr/>
        <p:txBody>
          <a:bodyPr/>
          <a:lstStyle/>
          <a:p>
            <a:fld id="{BB5E49A5-4136-284D-997B-48E1D791AD67}" type="slidenum">
              <a:rPr lang="en-US" smtClean="0"/>
              <a:t>52</a:t>
            </a:fld>
            <a:endParaRPr lang="en-US"/>
          </a:p>
        </p:txBody>
      </p:sp>
    </p:spTree>
    <p:extLst>
      <p:ext uri="{BB962C8B-B14F-4D97-AF65-F5344CB8AC3E}">
        <p14:creationId xmlns:p14="http://schemas.microsoft.com/office/powerpoint/2010/main" val="155425690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5 minutes allotted for the Talk the Talk.</a:t>
            </a:r>
          </a:p>
        </p:txBody>
      </p:sp>
      <p:sp>
        <p:nvSpPr>
          <p:cNvPr id="4" name="Slide Number Placeholder 3"/>
          <p:cNvSpPr>
            <a:spLocks noGrp="1"/>
          </p:cNvSpPr>
          <p:nvPr>
            <p:ph type="sldNum" sz="quarter" idx="5"/>
          </p:nvPr>
        </p:nvSpPr>
        <p:spPr/>
        <p:txBody>
          <a:bodyPr/>
          <a:lstStyle/>
          <a:p>
            <a:fld id="{BB5E49A5-4136-284D-997B-48E1D791AD67}" type="slidenum">
              <a:rPr lang="en-US" smtClean="0"/>
              <a:t>53</a:t>
            </a:fld>
            <a:endParaRPr lang="en-US"/>
          </a:p>
        </p:txBody>
      </p:sp>
    </p:spTree>
    <p:extLst>
      <p:ext uri="{BB962C8B-B14F-4D97-AF65-F5344CB8AC3E}">
        <p14:creationId xmlns:p14="http://schemas.microsoft.com/office/powerpoint/2010/main" val="45332578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12AA4F-9047-B9A3-FAA5-47EDA973F0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363D7E-477A-547B-7890-5B12FF9E03B7}"/>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F497D68E-91D9-8A31-9C59-3FCC03C38E07}"/>
              </a:ext>
            </a:extLst>
          </p:cNvPr>
          <p:cNvSpPr>
            <a:spLocks noGrp="1"/>
          </p:cNvSpPr>
          <p:nvPr>
            <p:ph type="body" idx="1"/>
          </p:nvPr>
        </p:nvSpPr>
        <p:spPr/>
        <p:txBody>
          <a:bodyPr/>
          <a:lstStyle/>
          <a:p>
            <a:pPr marL="0" indent="0" algn="l">
              <a:buFont typeface="Arial" panose="020B0604020202020204" pitchFamily="34" charset="0"/>
              <a:buNone/>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7679CACE-8C3A-3E2E-177C-A30660625BE2}"/>
              </a:ext>
            </a:extLst>
          </p:cNvPr>
          <p:cNvSpPr>
            <a:spLocks noGrp="1"/>
          </p:cNvSpPr>
          <p:nvPr>
            <p:ph type="sldNum" sz="quarter" idx="5"/>
          </p:nvPr>
        </p:nvSpPr>
        <p:spPr/>
        <p:txBody>
          <a:bodyPr/>
          <a:lstStyle/>
          <a:p>
            <a:fld id="{BB5E49A5-4136-284D-997B-48E1D791AD67}" type="slidenum">
              <a:rPr lang="en-US" smtClean="0"/>
              <a:t>54</a:t>
            </a:fld>
            <a:endParaRPr lang="en-US"/>
          </a:p>
        </p:txBody>
      </p:sp>
    </p:spTree>
    <p:extLst>
      <p:ext uri="{BB962C8B-B14F-4D97-AF65-F5344CB8AC3E}">
        <p14:creationId xmlns:p14="http://schemas.microsoft.com/office/powerpoint/2010/main" val="398851199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Reflecting and Justifying: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Which function equations affect the input values?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Which function equations affect the output values?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do horizontal transformations affect the graph of the parent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p:txBody>
      </p:sp>
      <p:sp>
        <p:nvSpPr>
          <p:cNvPr id="4" name="Slide Number Placeholder 3"/>
          <p:cNvSpPr>
            <a:spLocks noGrp="1"/>
          </p:cNvSpPr>
          <p:nvPr>
            <p:ph type="sldNum" sz="quarter" idx="5"/>
          </p:nvPr>
        </p:nvSpPr>
        <p:spPr/>
        <p:txBody>
          <a:bodyPr/>
          <a:lstStyle/>
          <a:p>
            <a:fld id="{BB5E49A5-4136-284D-997B-48E1D791AD67}" type="slidenum">
              <a:rPr lang="en-US" smtClean="0"/>
              <a:t>55</a:t>
            </a:fld>
            <a:endParaRPr lang="en-US"/>
          </a:p>
        </p:txBody>
      </p:sp>
    </p:spTree>
    <p:extLst>
      <p:ext uri="{BB962C8B-B14F-4D97-AF65-F5344CB8AC3E}">
        <p14:creationId xmlns:p14="http://schemas.microsoft.com/office/powerpoint/2010/main" val="251244836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F28368-F317-A887-843E-3ACC4FB266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38422F-26E9-F6D8-0CC8-39EC34AFE9B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64E94A4-122B-7DC0-338A-02E293BE2FC4}"/>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 To close Day 2, have students read and answer the Essential Question and then read the Stamp the Learning summary aloud.</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Essential Question:</a:t>
            </a:r>
          </a:p>
          <a:p>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Sample answer: When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replaced by </a:t>
            </a:r>
            <a:r>
              <a:rPr lang="en-US" i="1" dirty="0" err="1">
                <a:solidFill>
                  <a:srgbClr val="000000"/>
                </a:solidFill>
                <a:latin typeface="Calibri" panose="020F0502020204030204" pitchFamily="34" charset="0"/>
                <a:ea typeface="Calibri" panose="020F0502020204030204" pitchFamily="34" charset="0"/>
                <a:cs typeface="Calibri" panose="020F0502020204030204" pitchFamily="34" charset="0"/>
              </a:rPr>
              <a:t>af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input values of the function where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output values of the function.</a:t>
            </a:r>
          </a:p>
          <a:p>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Talk the Talk Summary:</a:t>
            </a:r>
          </a:p>
          <a:p>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Horizontal transformations of linear functions are caused by changes to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-values, and vertical transformations of linear functions are caused by changes to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-values.</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E10B20E8-800C-2EB5-D153-CC5CEB9A8585}"/>
              </a:ext>
            </a:extLst>
          </p:cNvPr>
          <p:cNvSpPr>
            <a:spLocks noGrp="1"/>
          </p:cNvSpPr>
          <p:nvPr>
            <p:ph type="sldNum" sz="quarter" idx="5"/>
          </p:nvPr>
        </p:nvSpPr>
        <p:spPr/>
        <p:txBody>
          <a:bodyPr/>
          <a:lstStyle/>
          <a:p>
            <a:fld id="{BB5E49A5-4136-284D-997B-48E1D791AD67}" type="slidenum">
              <a:rPr lang="en-US" smtClean="0"/>
              <a:t>56</a:t>
            </a:fld>
            <a:endParaRPr lang="en-US"/>
          </a:p>
        </p:txBody>
      </p:sp>
    </p:spTree>
    <p:extLst>
      <p:ext uri="{BB962C8B-B14F-4D97-AF65-F5344CB8AC3E}">
        <p14:creationId xmlns:p14="http://schemas.microsoft.com/office/powerpoint/2010/main" val="268590253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F28368-F317-A887-843E-3ACC4FB266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38422F-26E9-F6D8-0CC8-39EC34AFE9B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64E94A4-122B-7DC0-338A-02E293BE2FC4}"/>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E10B20E8-800C-2EB5-D153-CC5CEB9A8585}"/>
              </a:ext>
            </a:extLst>
          </p:cNvPr>
          <p:cNvSpPr>
            <a:spLocks noGrp="1"/>
          </p:cNvSpPr>
          <p:nvPr>
            <p:ph type="sldNum" sz="quarter" idx="5"/>
          </p:nvPr>
        </p:nvSpPr>
        <p:spPr/>
        <p:txBody>
          <a:bodyPr/>
          <a:lstStyle/>
          <a:p>
            <a:fld id="{BB5E49A5-4136-284D-997B-48E1D791AD67}" type="slidenum">
              <a:rPr lang="en-US" smtClean="0"/>
              <a:t>57</a:t>
            </a:fld>
            <a:endParaRPr lang="en-US"/>
          </a:p>
        </p:txBody>
      </p:sp>
    </p:spTree>
    <p:extLst>
      <p:ext uri="{BB962C8B-B14F-4D97-AF65-F5344CB8AC3E}">
        <p14:creationId xmlns:p14="http://schemas.microsoft.com/office/powerpoint/2010/main" val="268590253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algn="l" rtl="0" fontAlgn="base"/>
            <a:r>
              <a:rPr lang="en-US" sz="1200" b="1"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How can you identify whether students are ready for new learning?</a:t>
            </a:r>
            <a:r>
              <a:rPr lang="en-US" sz="12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 </a:t>
            </a:r>
            <a:r>
              <a:rPr lang="en-US" sz="1200" b="0" i="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a:t>
            </a:r>
          </a:p>
          <a:p>
            <a:pPr algn="l" rtl="0" fontAlgn="base"/>
            <a:r>
              <a:rPr lang="en-US" sz="12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Depending on available time, you can assign the Prepare section of the Lesson Assignments as homework or as a warm-up to identify students' prior knowledge for the upcoming lesson's activities.</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58</a:t>
            </a:fld>
            <a:endParaRPr lang="en-US"/>
          </a:p>
        </p:txBody>
      </p:sp>
    </p:spTree>
    <p:extLst>
      <p:ext uri="{BB962C8B-B14F-4D97-AF65-F5344CB8AC3E}">
        <p14:creationId xmlns:p14="http://schemas.microsoft.com/office/powerpoint/2010/main" val="119479312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EC5294-F897-70EF-D10E-AF9CFE1459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ED65B6-500E-9C24-23DA-5854FF62C81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E5F22DD-FFA2-9C87-4A7D-F7CA29096CE2}"/>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b="1" dirty="0"/>
              <a:t>TE correction: the TE prints the reciprocal of −10 as 1/10. It is −1/10, since (−10)(−1/10) = 1.</a:t>
            </a:r>
          </a:p>
        </p:txBody>
      </p:sp>
      <p:sp>
        <p:nvSpPr>
          <p:cNvPr id="4" name="Slide Number Placeholder 3">
            <a:extLst>
              <a:ext uri="{FF2B5EF4-FFF2-40B4-BE49-F238E27FC236}">
                <a16:creationId xmlns:a16="http://schemas.microsoft.com/office/drawing/2014/main" id="{7B2A398D-9730-D1C3-AAF7-0F03D4B776E7}"/>
              </a:ext>
            </a:extLst>
          </p:cNvPr>
          <p:cNvSpPr>
            <a:spLocks noGrp="1"/>
          </p:cNvSpPr>
          <p:nvPr>
            <p:ph type="sldNum" sz="quarter" idx="5"/>
          </p:nvPr>
        </p:nvSpPr>
        <p:spPr/>
        <p:txBody>
          <a:bodyPr/>
          <a:lstStyle/>
          <a:p>
            <a:fld id="{BB5E49A5-4136-284D-997B-48E1D791AD67}" type="slidenum">
              <a:rPr lang="en-US" smtClean="0"/>
              <a:t>59</a:t>
            </a:fld>
            <a:endParaRPr lang="en-US"/>
          </a:p>
        </p:txBody>
      </p:sp>
    </p:spTree>
    <p:extLst>
      <p:ext uri="{BB962C8B-B14F-4D97-AF65-F5344CB8AC3E}">
        <p14:creationId xmlns:p14="http://schemas.microsoft.com/office/powerpoint/2010/main" val="358139013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60</a:t>
            </a:fld>
            <a:endParaRPr lang="en-US"/>
          </a:p>
        </p:txBody>
      </p:sp>
    </p:spTree>
    <p:extLst>
      <p:ext uri="{BB962C8B-B14F-4D97-AF65-F5344CB8AC3E}">
        <p14:creationId xmlns:p14="http://schemas.microsoft.com/office/powerpoint/2010/main" val="65025293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61</a:t>
            </a:fld>
            <a:endParaRPr lang="en-US"/>
          </a:p>
        </p:txBody>
      </p:sp>
    </p:spTree>
    <p:extLst>
      <p:ext uri="{BB962C8B-B14F-4D97-AF65-F5344CB8AC3E}">
        <p14:creationId xmlns:p14="http://schemas.microsoft.com/office/powerpoint/2010/main" val="109631083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3.png"/><Relationship Id="rId1" Type="http://schemas.openxmlformats.org/officeDocument/2006/relationships/slideMaster" Target="../slideMasters/slideMaster1.xml"/><Relationship Id="rId5" Type="http://schemas.openxmlformats.org/officeDocument/2006/relationships/image" Target="../media/image4.png"/><Relationship Id="rId4" Type="http://schemas.openxmlformats.org/officeDocument/2006/relationships/hyperlink" Target="https://creativecommons.org/licenses/by-nc/4.0" TargetMode="Externa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12.png"/><Relationship Id="rId1" Type="http://schemas.openxmlformats.org/officeDocument/2006/relationships/slideMaster" Target="../slideMasters/slideMaster2.xml"/><Relationship Id="rId5" Type="http://schemas.openxmlformats.org/officeDocument/2006/relationships/image" Target="../media/image4.png"/><Relationship Id="rId4" Type="http://schemas.openxmlformats.org/officeDocument/2006/relationships/hyperlink" Target="https://tea.texas.gov/K-5Math" TargetMode="Externa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17.png"/><Relationship Id="rId1" Type="http://schemas.openxmlformats.org/officeDocument/2006/relationships/slideMaster" Target="../slideMasters/slideMaster3.xml"/><Relationship Id="rId5" Type="http://schemas.openxmlformats.org/officeDocument/2006/relationships/image" Target="../media/image4.png"/><Relationship Id="rId4" Type="http://schemas.openxmlformats.org/officeDocument/2006/relationships/hyperlink" Target="https://tea.texas.gov/K-5Math" TargetMode="Externa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22.png"/><Relationship Id="rId1" Type="http://schemas.openxmlformats.org/officeDocument/2006/relationships/slideMaster" Target="../slideMasters/slideMaster4.xml"/><Relationship Id="rId5" Type="http://schemas.openxmlformats.org/officeDocument/2006/relationships/image" Target="../media/image4.png"/><Relationship Id="rId4" Type="http://schemas.openxmlformats.org/officeDocument/2006/relationships/hyperlink" Target="https://tea.texas.gov/K-5Math" TargetMode="Externa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4.xml"/></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4.xml"/></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6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236739"/>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236739"/>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2B814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7" name="Picture 6">
            <a:extLst>
              <a:ext uri="{FF2B5EF4-FFF2-40B4-BE49-F238E27FC236}">
                <a16:creationId xmlns:a16="http://schemas.microsoft.com/office/drawing/2014/main" id="{F3AD9D6D-E5B1-9F4C-296E-9D558E47F581}"/>
              </a:ext>
              <a:ext uri="{C183D7F6-B498-43B3-948B-1728B52AA6E4}">
                <adec:decorative xmlns:adec="http://schemas.microsoft.com/office/drawing/2017/decorative" val="1"/>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4663225"/>
            <a:ext cx="12190413" cy="2194775"/>
          </a:xfrm>
          <a:prstGeom prst="rect">
            <a:avLst/>
          </a:prstGeom>
        </p:spPr>
      </p:pic>
    </p:spTree>
    <p:extLst>
      <p:ext uri="{BB962C8B-B14F-4D97-AF65-F5344CB8AC3E}">
        <p14:creationId xmlns:p14="http://schemas.microsoft.com/office/powerpoint/2010/main" val="244819002"/>
      </p:ext>
    </p:extLst>
  </p:cSld>
  <p:clrMapOvr>
    <a:masterClrMapping/>
  </p:clrMapOvr>
  <p:extLst>
    <p:ext uri="{DCECCB84-F9BA-43D5-87BE-67443E8EF086}">
      <p15:sldGuideLst xmlns:p15="http://schemas.microsoft.com/office/powerpoint/2012/main">
        <p15:guide id="1" orient="horz" pos="2160">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descr="A pattern with circles and lines&#10;&#10;AI-generated content may be incorrect.">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932192"/>
            <a:ext cx="12190413" cy="5925808"/>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rgbClr val="000000"/>
                </a:solidFill>
              </a:rPr>
              <a:t>Acknowledgment</a:t>
            </a:r>
          </a:p>
          <a:p>
            <a:r>
              <a:rPr lang="en-US" dirty="0">
                <a:solidFill>
                  <a:srgbClr val="000000"/>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rgbClr val="000000"/>
              </a:solidFill>
              <a:cs typeface="Calibri"/>
            </a:endParaRPr>
          </a:p>
          <a:p>
            <a:endParaRPr lang="en-US" dirty="0">
              <a:solidFill>
                <a:srgbClr val="000000"/>
              </a:solidFill>
            </a:endParaRPr>
          </a:p>
          <a:p>
            <a:r>
              <a:rPr lang="en-US" b="1" dirty="0">
                <a:solidFill>
                  <a:srgbClr val="000000"/>
                </a:solidFill>
              </a:rPr>
              <a:t>Notice</a:t>
            </a:r>
            <a:endParaRPr lang="en-US" b="1" dirty="0">
              <a:solidFill>
                <a:srgbClr val="000000"/>
              </a:solidFill>
              <a:cs typeface="Calibri"/>
            </a:endParaRPr>
          </a:p>
          <a:p>
            <a:r>
              <a:rPr lang="en-US" dirty="0">
                <a:solidFill>
                  <a:srgbClr val="000000"/>
                </a:solidFill>
              </a:rPr>
              <a:t>These learning resources have been built for Texas students, aligned to the Texas Essential Knowledge and Skills, and are made available pursuant to Chapter 31, Subchapter B-1 of the Texas Education Code.</a:t>
            </a:r>
            <a:endParaRPr lang="en-US" dirty="0">
              <a:solidFill>
                <a:srgbClr val="000000"/>
              </a:solidFill>
              <a:cs typeface="Calibri"/>
            </a:endParaRPr>
          </a:p>
          <a:p>
            <a:r>
              <a:rPr lang="en-US" dirty="0">
                <a:solidFill>
                  <a:srgbClr val="000000"/>
                </a:solidFill>
              </a:rPr>
              <a:t>If you have further questions or to report an error, please email </a:t>
            </a:r>
            <a:r>
              <a:rPr lang="en-US" dirty="0">
                <a:solidFill>
                  <a:srgbClr val="000000"/>
                </a:solidFill>
                <a:hlinkClick r:id="rId3">
                  <a:extLst>
                    <a:ext uri="{A12FA001-AC4F-418D-AE19-62706E023703}">
                      <ahyp:hlinkClr xmlns:ahyp="http://schemas.microsoft.com/office/drawing/2018/hyperlinkcolor" val="tx"/>
                    </a:ext>
                  </a:extLst>
                </a:hlinkClick>
              </a:rPr>
              <a:t>openeducationresources@tea.texas.gov</a:t>
            </a:r>
            <a:r>
              <a:rPr lang="en-US" dirty="0">
                <a:solidFill>
                  <a:srgbClr val="000000"/>
                </a:solidFill>
              </a:rPr>
              <a:t>.</a:t>
            </a:r>
          </a:p>
          <a:p>
            <a:endParaRPr lang="en-US" dirty="0">
              <a:solidFill>
                <a:srgbClr val="000000"/>
              </a:solidFill>
              <a:cs typeface="Calibri"/>
            </a:endParaRPr>
          </a:p>
          <a:p>
            <a:r>
              <a:rPr lang="en-US" dirty="0">
                <a:solidFill>
                  <a:srgbClr val="000000"/>
                </a:solidFill>
                <a:cs typeface="Calibri"/>
              </a:rPr>
              <a:t>©2024-2025 Texas Education Agency. Portions of this work are adapted, with permission, from the originals created by and copyright ©2021 Carnegie Learning, Inc. </a:t>
            </a:r>
          </a:p>
          <a:p>
            <a:endParaRPr lang="en-US" dirty="0">
              <a:solidFill>
                <a:srgbClr val="000000"/>
              </a:solidFill>
              <a:cs typeface="Calibri"/>
            </a:endParaRPr>
          </a:p>
          <a:p>
            <a:r>
              <a:rPr lang="en-US" dirty="0">
                <a:solidFill>
                  <a:srgbClr val="000000"/>
                </a:solidFill>
                <a:cs typeface="Calibri"/>
              </a:rPr>
              <a:t>This work is licensed under a Creative Commons Attribution-Non-Commercial-4.0 International License. For information, visit: </a:t>
            </a:r>
            <a:r>
              <a:rPr lang="en-US" u="none" dirty="0">
                <a:solidFill>
                  <a:srgbClr val="000000"/>
                </a:solidFill>
                <a:cs typeface="Calibri"/>
                <a:hlinkClick r:id="rId4">
                  <a:extLst>
                    <a:ext uri="{A12FA001-AC4F-418D-AE19-62706E023703}">
                      <ahyp:hlinkClr xmlns:ahyp="http://schemas.microsoft.com/office/drawing/2018/hyperlinkcolor" val="tx"/>
                    </a:ext>
                  </a:extLst>
                </a:hlinkClick>
              </a:rPr>
              <a:t>https://creativecommons.org/licenses/by-nc/4.0</a:t>
            </a:r>
            <a:r>
              <a:rPr lang="en-US" dirty="0">
                <a:solidFill>
                  <a:srgbClr val="000000"/>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2866715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2"/>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0219804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5A4A51F5-E78D-80F2-C30C-54D8CE7AD7E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2"/>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7754358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4" name="Picture 3" descr="A green and black pattern&#10;&#10;AI-generated content may be incorrect.">
            <a:extLst>
              <a:ext uri="{FF2B5EF4-FFF2-40B4-BE49-F238E27FC236}">
                <a16:creationId xmlns:a16="http://schemas.microsoft.com/office/drawing/2014/main" id="{D1D8FC0F-F66E-E7A9-B361-E6E0B4BE09B2}"/>
              </a:ext>
              <a:ext uri="{C183D7F6-B498-43B3-948B-1728B52AA6E4}">
                <adec:decorative xmlns:adec="http://schemas.microsoft.com/office/drawing/2017/decorative" val="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2316529"/>
            <a:ext cx="12190415" cy="2682142"/>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41336155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4" name="Picture 3" descr="A green and black pattern&#10;&#10;AI-generated content may be incorrect.">
            <a:extLst>
              <a:ext uri="{FF2B5EF4-FFF2-40B4-BE49-F238E27FC236}">
                <a16:creationId xmlns:a16="http://schemas.microsoft.com/office/drawing/2014/main" id="{D1D8FC0F-F66E-E7A9-B361-E6E0B4BE09B2}"/>
              </a:ext>
              <a:ext uri="{C183D7F6-B498-43B3-948B-1728B52AA6E4}">
                <adec:decorative xmlns:adec="http://schemas.microsoft.com/office/drawing/2017/decorative" val="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2316529"/>
            <a:ext cx="12190415" cy="2682142"/>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39292980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2" name="Picture 1">
            <a:extLst>
              <a:ext uri="{FF2B5EF4-FFF2-40B4-BE49-F238E27FC236}">
                <a16:creationId xmlns:a16="http://schemas.microsoft.com/office/drawing/2014/main" id="{B9C392F0-D9CA-045E-DC33-AD0DC6B7D521}"/>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pic>
        <p:nvPicPr>
          <p:cNvPr id="4" name="Picture 3">
            <a:extLst>
              <a:ext uri="{FF2B5EF4-FFF2-40B4-BE49-F238E27FC236}">
                <a16:creationId xmlns:a16="http://schemas.microsoft.com/office/drawing/2014/main" id="{CB26F559-C57E-C96A-5BDB-3214E7F526F9}"/>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rot="10800000">
            <a:off x="-794" y="-12700"/>
            <a:ext cx="12190413" cy="2194775"/>
          </a:xfrm>
          <a:prstGeom prst="rect">
            <a:avLst/>
          </a:prstGeom>
        </p:spPr>
      </p:pic>
    </p:spTree>
    <p:extLst>
      <p:ext uri="{BB962C8B-B14F-4D97-AF65-F5344CB8AC3E}">
        <p14:creationId xmlns:p14="http://schemas.microsoft.com/office/powerpoint/2010/main" val="24094552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3" name="Picture 2">
            <a:extLst>
              <a:ext uri="{FF2B5EF4-FFF2-40B4-BE49-F238E27FC236}">
                <a16:creationId xmlns:a16="http://schemas.microsoft.com/office/drawing/2014/main" id="{737A2645-EE86-77F8-BA51-02B334B382F3}"/>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Tree>
    <p:extLst>
      <p:ext uri="{BB962C8B-B14F-4D97-AF65-F5344CB8AC3E}">
        <p14:creationId xmlns:p14="http://schemas.microsoft.com/office/powerpoint/2010/main" val="12250357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73E638D-838D-E791-FA97-DF1E0C1C5B05}"/>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4663225"/>
            <a:ext cx="12190413" cy="2194775"/>
          </a:xfrm>
          <a:prstGeom prst="rect">
            <a:avLst/>
          </a:prstGeom>
        </p:spPr>
      </p:pic>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2B8147"/>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2B814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spTree>
    <p:extLst>
      <p:ext uri="{BB962C8B-B14F-4D97-AF65-F5344CB8AC3E}">
        <p14:creationId xmlns:p14="http://schemas.microsoft.com/office/powerpoint/2010/main" val="33925555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23673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7575441" y="0"/>
            <a:ext cx="4614971" cy="931321"/>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3266950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21838478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5" name="Picture 4">
            <a:extLst>
              <a:ext uri="{FF2B5EF4-FFF2-40B4-BE49-F238E27FC236}">
                <a16:creationId xmlns:a16="http://schemas.microsoft.com/office/drawing/2014/main" id="{839BE6FA-B7B5-A88C-E18F-876B4ED3DA8D}"/>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4" name="Picture 3">
            <a:extLst>
              <a:ext uri="{FF2B5EF4-FFF2-40B4-BE49-F238E27FC236}">
                <a16:creationId xmlns:a16="http://schemas.microsoft.com/office/drawing/2014/main" id="{82D8885F-4E7F-EF80-4D84-7E5D7142994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36393183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7" name="Picture 6">
            <a:extLst>
              <a:ext uri="{FF2B5EF4-FFF2-40B4-BE49-F238E27FC236}">
                <a16:creationId xmlns:a16="http://schemas.microsoft.com/office/drawing/2014/main" id="{792E169A-E915-E3DE-BA92-93C09B36D4A4}"/>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148376288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3" name="Picture 2">
            <a:extLst>
              <a:ext uri="{FF2B5EF4-FFF2-40B4-BE49-F238E27FC236}">
                <a16:creationId xmlns:a16="http://schemas.microsoft.com/office/drawing/2014/main" id="{6D9F641A-4A14-37E2-75D5-B878BE1C5C4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263194971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4" name="Picture 3">
            <a:extLst>
              <a:ext uri="{FF2B5EF4-FFF2-40B4-BE49-F238E27FC236}">
                <a16:creationId xmlns:a16="http://schemas.microsoft.com/office/drawing/2014/main" id="{06F759EE-3C87-F94D-DE8B-C1F8F6267F4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333111559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6" name="Picture 5">
            <a:extLst>
              <a:ext uri="{FF2B5EF4-FFF2-40B4-BE49-F238E27FC236}">
                <a16:creationId xmlns:a16="http://schemas.microsoft.com/office/drawing/2014/main" id="{4B87CF12-0B39-5309-9556-C2A61354510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5" name="Picture 4">
            <a:extLst>
              <a:ext uri="{FF2B5EF4-FFF2-40B4-BE49-F238E27FC236}">
                <a16:creationId xmlns:a16="http://schemas.microsoft.com/office/drawing/2014/main" id="{E6E2F58D-FAE6-FF3D-033D-1E9A7E4431CC}"/>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4" name="Picture 3">
            <a:extLst>
              <a:ext uri="{FF2B5EF4-FFF2-40B4-BE49-F238E27FC236}">
                <a16:creationId xmlns:a16="http://schemas.microsoft.com/office/drawing/2014/main" id="{60755373-B3E7-9C1B-E82F-11A7F4765EC9}"/>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143965"/>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143965"/>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14396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8" name="Picture 7" descr="A blue and white pattern&#10;&#10;AI-generated content may be incorrect.">
            <a:extLst>
              <a:ext uri="{FF2B5EF4-FFF2-40B4-BE49-F238E27FC236}">
                <a16:creationId xmlns:a16="http://schemas.microsoft.com/office/drawing/2014/main" id="{F8551CF0-DABA-0FFF-DE83-145FA6143FA8}"/>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Tree>
    <p:extLst>
      <p:ext uri="{BB962C8B-B14F-4D97-AF65-F5344CB8AC3E}">
        <p14:creationId xmlns:p14="http://schemas.microsoft.com/office/powerpoint/2010/main" val="108433096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932192"/>
            <a:ext cx="12190412" cy="5925808"/>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chemeClr val="bg2">
                    <a:lumMod val="25000"/>
                  </a:schemeClr>
                </a:solidFill>
              </a:rPr>
              <a:t>Acknowledgment</a:t>
            </a:r>
          </a:p>
          <a:p>
            <a:r>
              <a:rPr lang="en-US" dirty="0">
                <a:solidFill>
                  <a:schemeClr val="bg2">
                    <a:lumMod val="25000"/>
                  </a:schemeClr>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chemeClr val="bg2">
                  <a:lumMod val="25000"/>
                </a:schemeClr>
              </a:solidFill>
              <a:cs typeface="Calibri"/>
            </a:endParaRPr>
          </a:p>
          <a:p>
            <a:endParaRPr lang="en-US" dirty="0">
              <a:solidFill>
                <a:schemeClr val="bg2">
                  <a:lumMod val="25000"/>
                </a:schemeClr>
              </a:solidFill>
            </a:endParaRPr>
          </a:p>
          <a:p>
            <a:r>
              <a:rPr lang="en-US" b="1" dirty="0">
                <a:solidFill>
                  <a:schemeClr val="bg2">
                    <a:lumMod val="25000"/>
                  </a:schemeClr>
                </a:solidFill>
              </a:rPr>
              <a:t>Notice</a:t>
            </a:r>
            <a:endParaRPr lang="en-US" b="1" dirty="0">
              <a:solidFill>
                <a:schemeClr val="bg2">
                  <a:lumMod val="25000"/>
                </a:schemeClr>
              </a:solidFill>
              <a:cs typeface="Calibri"/>
            </a:endParaRPr>
          </a:p>
          <a:p>
            <a:r>
              <a:rPr lang="en-US" dirty="0">
                <a:solidFill>
                  <a:schemeClr val="bg2">
                    <a:lumMod val="25000"/>
                  </a:schemeClr>
                </a:solidFill>
              </a:rPr>
              <a:t>These learning resources have been built for Texas students, aligned to the Texas Essential Knowledge and Skills, and are made available pursuant to Chapter 31, Subchapter B-1 of the Texas Education Code.</a:t>
            </a:r>
            <a:endParaRPr lang="en-US" dirty="0">
              <a:solidFill>
                <a:schemeClr val="bg2">
                  <a:lumMod val="25000"/>
                </a:schemeClr>
              </a:solidFill>
              <a:cs typeface="Calibri"/>
            </a:endParaRPr>
          </a:p>
          <a:p>
            <a:r>
              <a:rPr lang="en-US" dirty="0">
                <a:solidFill>
                  <a:schemeClr val="bg2">
                    <a:lumMod val="25000"/>
                  </a:schemeClr>
                </a:solidFill>
              </a:rPr>
              <a:t>If you have further questions or to report an error, please email </a:t>
            </a:r>
            <a:r>
              <a:rPr lang="en-US" dirty="0">
                <a:solidFill>
                  <a:schemeClr val="bg2">
                    <a:lumMod val="25000"/>
                  </a:schemeClr>
                </a:solidFill>
                <a:hlinkClick r:id="rId3">
                  <a:extLst>
                    <a:ext uri="{A12FA001-AC4F-418D-AE19-62706E023703}">
                      <ahyp:hlinkClr xmlns:ahyp="http://schemas.microsoft.com/office/drawing/2018/hyperlinkcolor" val="tx"/>
                    </a:ext>
                  </a:extLst>
                </a:hlinkClick>
              </a:rPr>
              <a:t>openeducationresources@tea.texas.gov</a:t>
            </a:r>
            <a:r>
              <a:rPr lang="en-US" dirty="0">
                <a:solidFill>
                  <a:schemeClr val="bg2">
                    <a:lumMod val="25000"/>
                  </a:schemeClr>
                </a:solidFill>
              </a:rPr>
              <a:t>.</a:t>
            </a:r>
          </a:p>
          <a:p>
            <a:endParaRPr lang="en-US" dirty="0">
              <a:solidFill>
                <a:schemeClr val="bg2">
                  <a:lumMod val="25000"/>
                </a:schemeClr>
              </a:solidFill>
              <a:cs typeface="Calibri"/>
            </a:endParaRPr>
          </a:p>
          <a:p>
            <a:r>
              <a:rPr lang="en-US" dirty="0">
                <a:solidFill>
                  <a:schemeClr val="bg2">
                    <a:lumMod val="25000"/>
                  </a:schemeClr>
                </a:solidFill>
                <a:cs typeface="Calibri"/>
              </a:rPr>
              <a:t>Copyright ©2024 Texas Education Agency. This work based on or adapted from materials contained in Great Minds' Eureka Math® K-5 PDF files. </a:t>
            </a:r>
          </a:p>
          <a:p>
            <a:endParaRPr lang="en-US" dirty="0">
              <a:solidFill>
                <a:schemeClr val="bg2">
                  <a:lumMod val="25000"/>
                </a:schemeClr>
              </a:solidFill>
              <a:cs typeface="Calibri"/>
            </a:endParaRPr>
          </a:p>
          <a:p>
            <a:r>
              <a:rPr lang="en-US" dirty="0">
                <a:solidFill>
                  <a:schemeClr val="bg2">
                    <a:lumMod val="25000"/>
                  </a:schemeClr>
                </a:solidFill>
                <a:cs typeface="Calibri"/>
              </a:rPr>
              <a:t>These materials are made available by the Texas Education Agency under an open license. For information about the license and your rights to use the materials, visit: </a:t>
            </a:r>
            <a:r>
              <a:rPr lang="en-US" dirty="0">
                <a:solidFill>
                  <a:schemeClr val="bg2">
                    <a:lumMod val="25000"/>
                  </a:schemeClr>
                </a:solidFill>
                <a:cs typeface="Calibri"/>
                <a:hlinkClick r:id="rId4">
                  <a:extLst>
                    <a:ext uri="{A12FA001-AC4F-418D-AE19-62706E023703}">
                      <ahyp:hlinkClr xmlns:ahyp="http://schemas.microsoft.com/office/drawing/2018/hyperlinkcolor" val="tx"/>
                    </a:ext>
                  </a:extLst>
                </a:hlinkClick>
              </a:rPr>
              <a:t>https://tea.texas.gov/K-5Math</a:t>
            </a:r>
            <a:r>
              <a:rPr lang="en-US" dirty="0">
                <a:solidFill>
                  <a:schemeClr val="bg2">
                    <a:lumMod val="25000"/>
                  </a:schemeClr>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2494423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34191535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AB40DD2-1F97-577C-F238-A8F3D80AC38B}"/>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83186373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33183D7-68B4-CBF0-CC42-25ECAFF9E40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50159317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FC1395B-02F4-8526-B036-AE6FDC3AA60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149422019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5" name="Picture 4" descr="A blue and white pattern&#10;&#10;AI-generated content may be incorrect.">
            <a:extLst>
              <a:ext uri="{FF2B5EF4-FFF2-40B4-BE49-F238E27FC236}">
                <a16:creationId xmlns:a16="http://schemas.microsoft.com/office/drawing/2014/main" id="{5B5A1052-DF6F-F0CD-A7AF-D701A097127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pic>
        <p:nvPicPr>
          <p:cNvPr id="7" name="Picture 6" descr="A blue and white pattern&#10;&#10;AI-generated content may be incorrect.">
            <a:extLst>
              <a:ext uri="{FF2B5EF4-FFF2-40B4-BE49-F238E27FC236}">
                <a16:creationId xmlns:a16="http://schemas.microsoft.com/office/drawing/2014/main" id="{B958C75F-ADDF-4683-07D9-8A46AFB8C4CB}"/>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rot="10800000">
            <a:off x="-794" y="0"/>
            <a:ext cx="12190413" cy="2194775"/>
          </a:xfrm>
          <a:prstGeom prst="rect">
            <a:avLst/>
          </a:prstGeom>
        </p:spPr>
      </p:pic>
    </p:spTree>
    <p:extLst>
      <p:ext uri="{BB962C8B-B14F-4D97-AF65-F5344CB8AC3E}">
        <p14:creationId xmlns:p14="http://schemas.microsoft.com/office/powerpoint/2010/main" val="40243553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2" name="Picture 1" descr="A blue and white pattern&#10;&#10;AI-generated content may be incorrect.">
            <a:extLst>
              <a:ext uri="{FF2B5EF4-FFF2-40B4-BE49-F238E27FC236}">
                <a16:creationId xmlns:a16="http://schemas.microsoft.com/office/drawing/2014/main" id="{26C4D152-DE0B-2942-C2AB-74253AD7094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Tree>
    <p:extLst>
      <p:ext uri="{BB962C8B-B14F-4D97-AF65-F5344CB8AC3E}">
        <p14:creationId xmlns:p14="http://schemas.microsoft.com/office/powerpoint/2010/main" val="252552595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pic>
        <p:nvPicPr>
          <p:cNvPr id="2" name="Picture 1" descr="A blue and white pattern&#10;&#10;AI-generated content may be incorrect.">
            <a:extLst>
              <a:ext uri="{FF2B5EF4-FFF2-40B4-BE49-F238E27FC236}">
                <a16:creationId xmlns:a16="http://schemas.microsoft.com/office/drawing/2014/main" id="{EFD95E81-EE85-94A2-01EB-DDD35923FA5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143965"/>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14396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spTree>
    <p:extLst>
      <p:ext uri="{BB962C8B-B14F-4D97-AF65-F5344CB8AC3E}">
        <p14:creationId xmlns:p14="http://schemas.microsoft.com/office/powerpoint/2010/main" val="398683789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14396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575442" y="0"/>
            <a:ext cx="4614969" cy="931321"/>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316491620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104978364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4" name="Picture 3">
            <a:extLst>
              <a:ext uri="{FF2B5EF4-FFF2-40B4-BE49-F238E27FC236}">
                <a16:creationId xmlns:a16="http://schemas.microsoft.com/office/drawing/2014/main" id="{323D0D43-B8FF-1B82-5425-940CCCC8FE26}"/>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98756691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5" name="Picture 4">
            <a:extLst>
              <a:ext uri="{FF2B5EF4-FFF2-40B4-BE49-F238E27FC236}">
                <a16:creationId xmlns:a16="http://schemas.microsoft.com/office/drawing/2014/main" id="{A2207E90-1B20-894B-22B8-12466116766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21962606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6" name="Picture 5">
            <a:extLst>
              <a:ext uri="{FF2B5EF4-FFF2-40B4-BE49-F238E27FC236}">
                <a16:creationId xmlns:a16="http://schemas.microsoft.com/office/drawing/2014/main" id="{37B0BDED-D83D-FD4E-94F0-3B2616AA53F4}"/>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408748099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F8B88EEA-3A54-4860-556B-D6A6A0166F25}"/>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57215125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5C37EC70-3A95-9848-5065-7C7A9E822BC9}"/>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160629240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5" name="Picture 4">
            <a:extLst>
              <a:ext uri="{FF2B5EF4-FFF2-40B4-BE49-F238E27FC236}">
                <a16:creationId xmlns:a16="http://schemas.microsoft.com/office/drawing/2014/main" id="{C1E68608-310E-87E2-6084-F27D1E68B5C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657914759"/>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4" name="Picture 3">
            <a:extLst>
              <a:ext uri="{FF2B5EF4-FFF2-40B4-BE49-F238E27FC236}">
                <a16:creationId xmlns:a16="http://schemas.microsoft.com/office/drawing/2014/main" id="{88EBEE1F-D893-3AC1-EA24-B31DCC787854}"/>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256713682"/>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2" name="Picture 1">
            <a:extLst>
              <a:ext uri="{FF2B5EF4-FFF2-40B4-BE49-F238E27FC236}">
                <a16:creationId xmlns:a16="http://schemas.microsoft.com/office/drawing/2014/main" id="{6EEE28E3-A4D4-3431-633F-B27968B18E9C}"/>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90382453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61449B"/>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143965"/>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6144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8" name="Picture 7">
            <a:extLst>
              <a:ext uri="{FF2B5EF4-FFF2-40B4-BE49-F238E27FC236}">
                <a16:creationId xmlns:a16="http://schemas.microsoft.com/office/drawing/2014/main" id="{F8551CF0-DABA-0FFF-DE83-145FA6143FA8}"/>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spTree>
    <p:extLst>
      <p:ext uri="{BB962C8B-B14F-4D97-AF65-F5344CB8AC3E}">
        <p14:creationId xmlns:p14="http://schemas.microsoft.com/office/powerpoint/2010/main" val="228490340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932192"/>
            <a:ext cx="12190412" cy="5925807"/>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chemeClr val="bg2">
                    <a:lumMod val="25000"/>
                  </a:schemeClr>
                </a:solidFill>
              </a:rPr>
              <a:t>Acknowledgment</a:t>
            </a:r>
          </a:p>
          <a:p>
            <a:r>
              <a:rPr lang="en-US" dirty="0">
                <a:solidFill>
                  <a:schemeClr val="bg2">
                    <a:lumMod val="25000"/>
                  </a:schemeClr>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chemeClr val="bg2">
                  <a:lumMod val="25000"/>
                </a:schemeClr>
              </a:solidFill>
              <a:cs typeface="Calibri"/>
            </a:endParaRPr>
          </a:p>
          <a:p>
            <a:endParaRPr lang="en-US" dirty="0">
              <a:solidFill>
                <a:schemeClr val="bg2">
                  <a:lumMod val="25000"/>
                </a:schemeClr>
              </a:solidFill>
            </a:endParaRPr>
          </a:p>
          <a:p>
            <a:r>
              <a:rPr lang="en-US" b="1" dirty="0">
                <a:solidFill>
                  <a:schemeClr val="bg2">
                    <a:lumMod val="25000"/>
                  </a:schemeClr>
                </a:solidFill>
              </a:rPr>
              <a:t>Notice</a:t>
            </a:r>
            <a:endParaRPr lang="en-US" b="1" dirty="0">
              <a:solidFill>
                <a:schemeClr val="bg2">
                  <a:lumMod val="25000"/>
                </a:schemeClr>
              </a:solidFill>
              <a:cs typeface="Calibri"/>
            </a:endParaRPr>
          </a:p>
          <a:p>
            <a:r>
              <a:rPr lang="en-US" dirty="0">
                <a:solidFill>
                  <a:schemeClr val="bg2">
                    <a:lumMod val="25000"/>
                  </a:schemeClr>
                </a:solidFill>
              </a:rPr>
              <a:t>These learning resources have been built for Texas students, aligned to the Texas Essential Knowledge and Skills, and are made available pursuant to Chapter 31, Subchapter B-1 of the Texas Education Code.</a:t>
            </a:r>
            <a:endParaRPr lang="en-US" dirty="0">
              <a:solidFill>
                <a:schemeClr val="bg2">
                  <a:lumMod val="25000"/>
                </a:schemeClr>
              </a:solidFill>
              <a:cs typeface="Calibri"/>
            </a:endParaRPr>
          </a:p>
          <a:p>
            <a:r>
              <a:rPr lang="en-US" dirty="0">
                <a:solidFill>
                  <a:schemeClr val="bg2">
                    <a:lumMod val="25000"/>
                  </a:schemeClr>
                </a:solidFill>
              </a:rPr>
              <a:t>If you have further questions or to report an error, please email </a:t>
            </a:r>
            <a:r>
              <a:rPr lang="en-US" dirty="0">
                <a:solidFill>
                  <a:schemeClr val="bg2">
                    <a:lumMod val="25000"/>
                  </a:schemeClr>
                </a:solidFill>
                <a:hlinkClick r:id="rId3">
                  <a:extLst>
                    <a:ext uri="{A12FA001-AC4F-418D-AE19-62706E023703}">
                      <ahyp:hlinkClr xmlns:ahyp="http://schemas.microsoft.com/office/drawing/2018/hyperlinkcolor" val="tx"/>
                    </a:ext>
                  </a:extLst>
                </a:hlinkClick>
              </a:rPr>
              <a:t>openeducationresources@tea.texas.gov</a:t>
            </a:r>
            <a:r>
              <a:rPr lang="en-US" dirty="0">
                <a:solidFill>
                  <a:schemeClr val="bg2">
                    <a:lumMod val="25000"/>
                  </a:schemeClr>
                </a:solidFill>
              </a:rPr>
              <a:t>.</a:t>
            </a:r>
          </a:p>
          <a:p>
            <a:endParaRPr lang="en-US" dirty="0">
              <a:solidFill>
                <a:schemeClr val="bg2">
                  <a:lumMod val="25000"/>
                </a:schemeClr>
              </a:solidFill>
              <a:cs typeface="Calibri"/>
            </a:endParaRPr>
          </a:p>
          <a:p>
            <a:r>
              <a:rPr lang="en-US" dirty="0">
                <a:solidFill>
                  <a:schemeClr val="bg2">
                    <a:lumMod val="25000"/>
                  </a:schemeClr>
                </a:solidFill>
                <a:cs typeface="Calibri"/>
              </a:rPr>
              <a:t>Copyright ©2024 Texas Education Agency. This work based on or adapted from materials contained in Great Minds' Eureka Math® K-5 PDF files. </a:t>
            </a:r>
          </a:p>
          <a:p>
            <a:endParaRPr lang="en-US" dirty="0">
              <a:solidFill>
                <a:schemeClr val="bg2">
                  <a:lumMod val="25000"/>
                </a:schemeClr>
              </a:solidFill>
              <a:cs typeface="Calibri"/>
            </a:endParaRPr>
          </a:p>
          <a:p>
            <a:r>
              <a:rPr lang="en-US" dirty="0">
                <a:solidFill>
                  <a:schemeClr val="bg2">
                    <a:lumMod val="25000"/>
                  </a:schemeClr>
                </a:solidFill>
                <a:cs typeface="Calibri"/>
              </a:rPr>
              <a:t>These materials are made available by the Texas Education Agency under an open license. For information about the license and your rights to use the materials, visit: </a:t>
            </a:r>
            <a:r>
              <a:rPr lang="en-US" dirty="0">
                <a:solidFill>
                  <a:schemeClr val="bg2">
                    <a:lumMod val="25000"/>
                  </a:schemeClr>
                </a:solidFill>
                <a:cs typeface="Calibri"/>
                <a:hlinkClick r:id="rId4">
                  <a:extLst>
                    <a:ext uri="{A12FA001-AC4F-418D-AE19-62706E023703}">
                      <ahyp:hlinkClr xmlns:ahyp="http://schemas.microsoft.com/office/drawing/2018/hyperlinkcolor" val="tx"/>
                    </a:ext>
                  </a:extLst>
                </a:hlinkClick>
              </a:rPr>
              <a:t>https://tea.texas.gov/K-5Math</a:t>
            </a:r>
            <a:r>
              <a:rPr lang="en-US" dirty="0">
                <a:solidFill>
                  <a:schemeClr val="bg2">
                    <a:lumMod val="25000"/>
                  </a:schemeClr>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399747416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63847949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F47A7CF-FA6E-9D63-4999-01B9A163DA2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84321305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68B0634-51E2-A394-6F7B-F27A1B40C705}"/>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52838829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E506744-2E5F-1C5E-C83C-024AB6A1E91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4228713111"/>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5" name="Picture 4">
            <a:extLst>
              <a:ext uri="{FF2B5EF4-FFF2-40B4-BE49-F238E27FC236}">
                <a16:creationId xmlns:a16="http://schemas.microsoft.com/office/drawing/2014/main" id="{5B5A1052-DF6F-F0CD-A7AF-D701A097127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pic>
        <p:nvPicPr>
          <p:cNvPr id="2" name="Picture 1">
            <a:extLst>
              <a:ext uri="{FF2B5EF4-FFF2-40B4-BE49-F238E27FC236}">
                <a16:creationId xmlns:a16="http://schemas.microsoft.com/office/drawing/2014/main" id="{E083018B-9E78-94F8-9F15-923743DC0976}"/>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10800000">
            <a:off x="6" y="0"/>
            <a:ext cx="12190407" cy="2194775"/>
          </a:xfrm>
          <a:prstGeom prst="rect">
            <a:avLst/>
          </a:prstGeom>
        </p:spPr>
      </p:pic>
    </p:spTree>
    <p:extLst>
      <p:ext uri="{BB962C8B-B14F-4D97-AF65-F5344CB8AC3E}">
        <p14:creationId xmlns:p14="http://schemas.microsoft.com/office/powerpoint/2010/main" val="149629488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3" name="Picture 2">
            <a:extLst>
              <a:ext uri="{FF2B5EF4-FFF2-40B4-BE49-F238E27FC236}">
                <a16:creationId xmlns:a16="http://schemas.microsoft.com/office/drawing/2014/main" id="{04EF9367-6309-BD09-F10A-FF6AF59B626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spTree>
    <p:extLst>
      <p:ext uri="{BB962C8B-B14F-4D97-AF65-F5344CB8AC3E}">
        <p14:creationId xmlns:p14="http://schemas.microsoft.com/office/powerpoint/2010/main" val="4274146368"/>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51AE3BF-9E99-B24F-E743-EB1A42651CB3}"/>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61449B"/>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6144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spTree>
    <p:extLst>
      <p:ext uri="{BB962C8B-B14F-4D97-AF65-F5344CB8AC3E}">
        <p14:creationId xmlns:p14="http://schemas.microsoft.com/office/powerpoint/2010/main" val="2109433897"/>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6144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575442" y="0"/>
            <a:ext cx="4614969" cy="931320"/>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9023295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409727746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5" name="Picture 4">
            <a:extLst>
              <a:ext uri="{FF2B5EF4-FFF2-40B4-BE49-F238E27FC236}">
                <a16:creationId xmlns:a16="http://schemas.microsoft.com/office/drawing/2014/main" id="{16C20936-BAEF-0860-376C-E62AEA172F37}"/>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34069875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4" name="Picture 3">
            <a:extLst>
              <a:ext uri="{FF2B5EF4-FFF2-40B4-BE49-F238E27FC236}">
                <a16:creationId xmlns:a16="http://schemas.microsoft.com/office/drawing/2014/main" id="{BCE33224-DA35-0C93-D411-F621BA6DFD2E}"/>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1759009647"/>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7" name="Picture 6">
            <a:extLst>
              <a:ext uri="{FF2B5EF4-FFF2-40B4-BE49-F238E27FC236}">
                <a16:creationId xmlns:a16="http://schemas.microsoft.com/office/drawing/2014/main" id="{1F38F35C-E1EA-7E26-CFA2-D2EABDFABD4E}"/>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571256340"/>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3" name="Picture 2">
            <a:extLst>
              <a:ext uri="{FF2B5EF4-FFF2-40B4-BE49-F238E27FC236}">
                <a16:creationId xmlns:a16="http://schemas.microsoft.com/office/drawing/2014/main" id="{E9096B68-4A77-76B9-2D56-7D11D872FDE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101545927"/>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4" name="Picture 3">
            <a:extLst>
              <a:ext uri="{FF2B5EF4-FFF2-40B4-BE49-F238E27FC236}">
                <a16:creationId xmlns:a16="http://schemas.microsoft.com/office/drawing/2014/main" id="{DA82E847-E70E-3A6A-CC65-DAD8C5174886}"/>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96358081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6" name="Picture 5">
            <a:extLst>
              <a:ext uri="{FF2B5EF4-FFF2-40B4-BE49-F238E27FC236}">
                <a16:creationId xmlns:a16="http://schemas.microsoft.com/office/drawing/2014/main" id="{E929BE76-65BC-6165-2E99-A58E49A36F9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4013431962"/>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5" name="Picture 4">
            <a:extLst>
              <a:ext uri="{FF2B5EF4-FFF2-40B4-BE49-F238E27FC236}">
                <a16:creationId xmlns:a16="http://schemas.microsoft.com/office/drawing/2014/main" id="{2D8527D9-6738-140E-CAE9-854D12AA994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18228953"/>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4" name="Picture 3">
            <a:extLst>
              <a:ext uri="{FF2B5EF4-FFF2-40B4-BE49-F238E27FC236}">
                <a16:creationId xmlns:a16="http://schemas.microsoft.com/office/drawing/2014/main" id="{90177C41-8A77-B2A7-EC04-03F37364BC9D}"/>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062348260"/>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0084AC"/>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143965"/>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0084A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8" name="Picture 7">
            <a:extLst>
              <a:ext uri="{FF2B5EF4-FFF2-40B4-BE49-F238E27FC236}">
                <a16:creationId xmlns:a16="http://schemas.microsoft.com/office/drawing/2014/main" id="{F8551CF0-DABA-0FFF-DE83-145FA6143FA8}"/>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spTree>
    <p:extLst>
      <p:ext uri="{BB962C8B-B14F-4D97-AF65-F5344CB8AC3E}">
        <p14:creationId xmlns:p14="http://schemas.microsoft.com/office/powerpoint/2010/main" val="259259962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932192"/>
            <a:ext cx="12190410" cy="5925807"/>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chemeClr val="bg2">
                    <a:lumMod val="25000"/>
                  </a:schemeClr>
                </a:solidFill>
              </a:rPr>
              <a:t>Acknowledgment</a:t>
            </a:r>
          </a:p>
          <a:p>
            <a:r>
              <a:rPr lang="en-US" dirty="0">
                <a:solidFill>
                  <a:schemeClr val="bg2">
                    <a:lumMod val="25000"/>
                  </a:schemeClr>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chemeClr val="bg2">
                  <a:lumMod val="25000"/>
                </a:schemeClr>
              </a:solidFill>
              <a:cs typeface="Calibri"/>
            </a:endParaRPr>
          </a:p>
          <a:p>
            <a:endParaRPr lang="en-US" dirty="0">
              <a:solidFill>
                <a:schemeClr val="bg2">
                  <a:lumMod val="25000"/>
                </a:schemeClr>
              </a:solidFill>
            </a:endParaRPr>
          </a:p>
          <a:p>
            <a:r>
              <a:rPr lang="en-US" b="1" dirty="0">
                <a:solidFill>
                  <a:schemeClr val="bg2">
                    <a:lumMod val="25000"/>
                  </a:schemeClr>
                </a:solidFill>
              </a:rPr>
              <a:t>Notice</a:t>
            </a:r>
            <a:endParaRPr lang="en-US" b="1" dirty="0">
              <a:solidFill>
                <a:schemeClr val="bg2">
                  <a:lumMod val="25000"/>
                </a:schemeClr>
              </a:solidFill>
              <a:cs typeface="Calibri"/>
            </a:endParaRPr>
          </a:p>
          <a:p>
            <a:r>
              <a:rPr lang="en-US" dirty="0">
                <a:solidFill>
                  <a:schemeClr val="bg2">
                    <a:lumMod val="25000"/>
                  </a:schemeClr>
                </a:solidFill>
              </a:rPr>
              <a:t>These learning resources have been built for Texas students, aligned to the Texas Essential Knowledge and Skills, and are made available pursuant to Chapter 31, Subchapter B-1 of the Texas Education Code.</a:t>
            </a:r>
            <a:endParaRPr lang="en-US" dirty="0">
              <a:solidFill>
                <a:schemeClr val="bg2">
                  <a:lumMod val="25000"/>
                </a:schemeClr>
              </a:solidFill>
              <a:cs typeface="Calibri"/>
            </a:endParaRPr>
          </a:p>
          <a:p>
            <a:r>
              <a:rPr lang="en-US" dirty="0">
                <a:solidFill>
                  <a:schemeClr val="bg2">
                    <a:lumMod val="25000"/>
                  </a:schemeClr>
                </a:solidFill>
              </a:rPr>
              <a:t>If you have further questions or to report an error, please email </a:t>
            </a:r>
            <a:r>
              <a:rPr lang="en-US" dirty="0">
                <a:solidFill>
                  <a:schemeClr val="bg2">
                    <a:lumMod val="25000"/>
                  </a:schemeClr>
                </a:solidFill>
                <a:hlinkClick r:id="rId3">
                  <a:extLst>
                    <a:ext uri="{A12FA001-AC4F-418D-AE19-62706E023703}">
                      <ahyp:hlinkClr xmlns:ahyp="http://schemas.microsoft.com/office/drawing/2018/hyperlinkcolor" val="tx"/>
                    </a:ext>
                  </a:extLst>
                </a:hlinkClick>
              </a:rPr>
              <a:t>openeducationresources@tea.texas.gov</a:t>
            </a:r>
            <a:r>
              <a:rPr lang="en-US" dirty="0">
                <a:solidFill>
                  <a:schemeClr val="bg2">
                    <a:lumMod val="25000"/>
                  </a:schemeClr>
                </a:solidFill>
              </a:rPr>
              <a:t>.</a:t>
            </a:r>
          </a:p>
          <a:p>
            <a:endParaRPr lang="en-US" dirty="0">
              <a:solidFill>
                <a:schemeClr val="bg2">
                  <a:lumMod val="25000"/>
                </a:schemeClr>
              </a:solidFill>
              <a:cs typeface="Calibri"/>
            </a:endParaRPr>
          </a:p>
          <a:p>
            <a:r>
              <a:rPr lang="en-US" dirty="0">
                <a:solidFill>
                  <a:schemeClr val="bg2">
                    <a:lumMod val="25000"/>
                  </a:schemeClr>
                </a:solidFill>
                <a:cs typeface="Calibri"/>
              </a:rPr>
              <a:t>Copyright ©2024 Texas Education Agency. This work based on or adapted from materials contained in Great Minds' Eureka Math® K-5 PDF files. </a:t>
            </a:r>
          </a:p>
          <a:p>
            <a:endParaRPr lang="en-US" dirty="0">
              <a:solidFill>
                <a:schemeClr val="bg2">
                  <a:lumMod val="25000"/>
                </a:schemeClr>
              </a:solidFill>
              <a:cs typeface="Calibri"/>
            </a:endParaRPr>
          </a:p>
          <a:p>
            <a:r>
              <a:rPr lang="en-US" dirty="0">
                <a:solidFill>
                  <a:schemeClr val="bg2">
                    <a:lumMod val="25000"/>
                  </a:schemeClr>
                </a:solidFill>
                <a:cs typeface="Calibri"/>
              </a:rPr>
              <a:t>These materials are made available by the Texas Education Agency under an open license. For information about the license and your rights to use the materials, visit: </a:t>
            </a:r>
            <a:r>
              <a:rPr lang="en-US" dirty="0">
                <a:solidFill>
                  <a:schemeClr val="bg2">
                    <a:lumMod val="25000"/>
                  </a:schemeClr>
                </a:solidFill>
                <a:cs typeface="Calibri"/>
                <a:hlinkClick r:id="rId4">
                  <a:extLst>
                    <a:ext uri="{A12FA001-AC4F-418D-AE19-62706E023703}">
                      <ahyp:hlinkClr xmlns:ahyp="http://schemas.microsoft.com/office/drawing/2018/hyperlinkcolor" val="tx"/>
                    </a:ext>
                  </a:extLst>
                </a:hlinkClick>
              </a:rPr>
              <a:t>https://tea.texas.gov/K-5Math</a:t>
            </a:r>
            <a:r>
              <a:rPr lang="en-US" dirty="0">
                <a:solidFill>
                  <a:schemeClr val="bg2">
                    <a:lumMod val="25000"/>
                  </a:schemeClr>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1663740677"/>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48514393"/>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401893B-1034-6084-9BBE-7D15B94B1E1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2167221881"/>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CF9BCCF-AB16-EB3C-7687-F7D6FB68E7A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790280880"/>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771D682-097A-FF63-0838-13F3C038ED8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3688723455"/>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4" name="Picture 3">
            <a:extLst>
              <a:ext uri="{FF2B5EF4-FFF2-40B4-BE49-F238E27FC236}">
                <a16:creationId xmlns:a16="http://schemas.microsoft.com/office/drawing/2014/main" id="{2AF4CA13-B3B2-4BA4-7193-B4133FC2D70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pic>
        <p:nvPicPr>
          <p:cNvPr id="7" name="Picture 6">
            <a:extLst>
              <a:ext uri="{FF2B5EF4-FFF2-40B4-BE49-F238E27FC236}">
                <a16:creationId xmlns:a16="http://schemas.microsoft.com/office/drawing/2014/main" id="{7B57EC7F-8C07-36E7-51B3-4FA22CB8F05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10800000">
            <a:off x="-791" y="0"/>
            <a:ext cx="12190407" cy="2194774"/>
          </a:xfrm>
          <a:prstGeom prst="rect">
            <a:avLst/>
          </a:prstGeom>
        </p:spPr>
      </p:pic>
    </p:spTree>
    <p:extLst>
      <p:ext uri="{BB962C8B-B14F-4D97-AF65-F5344CB8AC3E}">
        <p14:creationId xmlns:p14="http://schemas.microsoft.com/office/powerpoint/2010/main" val="1648889569"/>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2" name="Picture 1">
            <a:extLst>
              <a:ext uri="{FF2B5EF4-FFF2-40B4-BE49-F238E27FC236}">
                <a16:creationId xmlns:a16="http://schemas.microsoft.com/office/drawing/2014/main" id="{2F258156-D89E-4D80-5BE1-77691C6E7C97}"/>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spTree>
    <p:extLst>
      <p:ext uri="{BB962C8B-B14F-4D97-AF65-F5344CB8AC3E}">
        <p14:creationId xmlns:p14="http://schemas.microsoft.com/office/powerpoint/2010/main" val="1231675931"/>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61449B"/>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0084A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2" name="Picture 1">
            <a:extLst>
              <a:ext uri="{FF2B5EF4-FFF2-40B4-BE49-F238E27FC236}">
                <a16:creationId xmlns:a16="http://schemas.microsoft.com/office/drawing/2014/main" id="{54470327-EAA5-821F-E3D6-48241C357F0D}"/>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spTree>
    <p:extLst>
      <p:ext uri="{BB962C8B-B14F-4D97-AF65-F5344CB8AC3E}">
        <p14:creationId xmlns:p14="http://schemas.microsoft.com/office/powerpoint/2010/main" val="2613188992"/>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0084A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575444" y="0"/>
            <a:ext cx="4614964" cy="931320"/>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2343018901"/>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2432733151"/>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4" name="Picture 3">
            <a:extLst>
              <a:ext uri="{FF2B5EF4-FFF2-40B4-BE49-F238E27FC236}">
                <a16:creationId xmlns:a16="http://schemas.microsoft.com/office/drawing/2014/main" id="{ED2E1254-4CBF-B3B8-A0FA-52C76A42152E}"/>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407121262"/>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5" name="Picture 4">
            <a:extLst>
              <a:ext uri="{FF2B5EF4-FFF2-40B4-BE49-F238E27FC236}">
                <a16:creationId xmlns:a16="http://schemas.microsoft.com/office/drawing/2014/main" id="{E121D3C0-2E42-5D5F-22BD-412584AA83A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615913504"/>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6" name="Picture 5">
            <a:extLst>
              <a:ext uri="{FF2B5EF4-FFF2-40B4-BE49-F238E27FC236}">
                <a16:creationId xmlns:a16="http://schemas.microsoft.com/office/drawing/2014/main" id="{41A4ACEA-4667-3962-B002-3BD86CD9C6A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1132782889"/>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CACF947A-00B8-B4E6-8437-40F83AFF958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149236035"/>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0C4ADE8B-E120-4425-CAA6-828BBE47E800}"/>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290449247"/>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5" name="Picture 4">
            <a:extLst>
              <a:ext uri="{FF2B5EF4-FFF2-40B4-BE49-F238E27FC236}">
                <a16:creationId xmlns:a16="http://schemas.microsoft.com/office/drawing/2014/main" id="{24CC20CC-020F-E41D-34BB-D60790E85A9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49755440"/>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4" name="Picture 3">
            <a:extLst>
              <a:ext uri="{FF2B5EF4-FFF2-40B4-BE49-F238E27FC236}">
                <a16:creationId xmlns:a16="http://schemas.microsoft.com/office/drawing/2014/main" id="{5FCA9C5B-9241-83A6-BF90-D80A2C82D82A}"/>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1370315863"/>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2" name="Picture 1">
            <a:extLst>
              <a:ext uri="{FF2B5EF4-FFF2-40B4-BE49-F238E27FC236}">
                <a16:creationId xmlns:a16="http://schemas.microsoft.com/office/drawing/2014/main" id="{187C8F92-FBD4-BA03-506E-C3D26BFEEC79}"/>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40923304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7.xml"/><Relationship Id="rId13" Type="http://schemas.openxmlformats.org/officeDocument/2006/relationships/slideLayout" Target="../slideLayouts/slideLayout32.xml"/><Relationship Id="rId18" Type="http://schemas.openxmlformats.org/officeDocument/2006/relationships/slideLayout" Target="../slideLayouts/slideLayout37.xml"/><Relationship Id="rId3" Type="http://schemas.openxmlformats.org/officeDocument/2006/relationships/slideLayout" Target="../slideLayouts/slideLayout22.xml"/><Relationship Id="rId7" Type="http://schemas.openxmlformats.org/officeDocument/2006/relationships/slideLayout" Target="../slideLayouts/slideLayout26.xml"/><Relationship Id="rId12" Type="http://schemas.openxmlformats.org/officeDocument/2006/relationships/slideLayout" Target="../slideLayouts/slideLayout31.xml"/><Relationship Id="rId17" Type="http://schemas.openxmlformats.org/officeDocument/2006/relationships/slideLayout" Target="../slideLayouts/slideLayout36.xml"/><Relationship Id="rId2" Type="http://schemas.openxmlformats.org/officeDocument/2006/relationships/slideLayout" Target="../slideLayouts/slideLayout21.xml"/><Relationship Id="rId16" Type="http://schemas.openxmlformats.org/officeDocument/2006/relationships/slideLayout" Target="../slideLayouts/slideLayout35.xml"/><Relationship Id="rId20" Type="http://schemas.openxmlformats.org/officeDocument/2006/relationships/theme" Target="../theme/theme2.xml"/><Relationship Id="rId1" Type="http://schemas.openxmlformats.org/officeDocument/2006/relationships/slideLayout" Target="../slideLayouts/slideLayout20.xml"/><Relationship Id="rId6" Type="http://schemas.openxmlformats.org/officeDocument/2006/relationships/slideLayout" Target="../slideLayouts/slideLayout25.xml"/><Relationship Id="rId11" Type="http://schemas.openxmlformats.org/officeDocument/2006/relationships/slideLayout" Target="../slideLayouts/slideLayout30.xml"/><Relationship Id="rId5" Type="http://schemas.openxmlformats.org/officeDocument/2006/relationships/slideLayout" Target="../slideLayouts/slideLayout24.xml"/><Relationship Id="rId15" Type="http://schemas.openxmlformats.org/officeDocument/2006/relationships/slideLayout" Target="../slideLayouts/slideLayout34.xml"/><Relationship Id="rId10" Type="http://schemas.openxmlformats.org/officeDocument/2006/relationships/slideLayout" Target="../slideLayouts/slideLayout29.xml"/><Relationship Id="rId19" Type="http://schemas.openxmlformats.org/officeDocument/2006/relationships/slideLayout" Target="../slideLayouts/slideLayout38.xml"/><Relationship Id="rId4" Type="http://schemas.openxmlformats.org/officeDocument/2006/relationships/slideLayout" Target="../slideLayouts/slideLayout23.xml"/><Relationship Id="rId9" Type="http://schemas.openxmlformats.org/officeDocument/2006/relationships/slideLayout" Target="../slideLayouts/slideLayout28.xml"/><Relationship Id="rId14" Type="http://schemas.openxmlformats.org/officeDocument/2006/relationships/slideLayout" Target="../slideLayouts/slideLayout33.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46.xml"/><Relationship Id="rId13" Type="http://schemas.openxmlformats.org/officeDocument/2006/relationships/slideLayout" Target="../slideLayouts/slideLayout51.xml"/><Relationship Id="rId18" Type="http://schemas.openxmlformats.org/officeDocument/2006/relationships/slideLayout" Target="../slideLayouts/slideLayout56.xml"/><Relationship Id="rId3" Type="http://schemas.openxmlformats.org/officeDocument/2006/relationships/slideLayout" Target="../slideLayouts/slideLayout41.xml"/><Relationship Id="rId7" Type="http://schemas.openxmlformats.org/officeDocument/2006/relationships/slideLayout" Target="../slideLayouts/slideLayout45.xml"/><Relationship Id="rId12" Type="http://schemas.openxmlformats.org/officeDocument/2006/relationships/slideLayout" Target="../slideLayouts/slideLayout50.xml"/><Relationship Id="rId17" Type="http://schemas.openxmlformats.org/officeDocument/2006/relationships/slideLayout" Target="../slideLayouts/slideLayout55.xml"/><Relationship Id="rId2" Type="http://schemas.openxmlformats.org/officeDocument/2006/relationships/slideLayout" Target="../slideLayouts/slideLayout40.xml"/><Relationship Id="rId16" Type="http://schemas.openxmlformats.org/officeDocument/2006/relationships/slideLayout" Target="../slideLayouts/slideLayout54.xml"/><Relationship Id="rId20" Type="http://schemas.openxmlformats.org/officeDocument/2006/relationships/theme" Target="../theme/theme3.xml"/><Relationship Id="rId1" Type="http://schemas.openxmlformats.org/officeDocument/2006/relationships/slideLayout" Target="../slideLayouts/slideLayout39.xml"/><Relationship Id="rId6" Type="http://schemas.openxmlformats.org/officeDocument/2006/relationships/slideLayout" Target="../slideLayouts/slideLayout44.xml"/><Relationship Id="rId11" Type="http://schemas.openxmlformats.org/officeDocument/2006/relationships/slideLayout" Target="../slideLayouts/slideLayout49.xml"/><Relationship Id="rId5" Type="http://schemas.openxmlformats.org/officeDocument/2006/relationships/slideLayout" Target="../slideLayouts/slideLayout43.xml"/><Relationship Id="rId15" Type="http://schemas.openxmlformats.org/officeDocument/2006/relationships/slideLayout" Target="../slideLayouts/slideLayout53.xml"/><Relationship Id="rId10" Type="http://schemas.openxmlformats.org/officeDocument/2006/relationships/slideLayout" Target="../slideLayouts/slideLayout48.xml"/><Relationship Id="rId19" Type="http://schemas.openxmlformats.org/officeDocument/2006/relationships/slideLayout" Target="../slideLayouts/slideLayout57.xml"/><Relationship Id="rId4" Type="http://schemas.openxmlformats.org/officeDocument/2006/relationships/slideLayout" Target="../slideLayouts/slideLayout42.xml"/><Relationship Id="rId9" Type="http://schemas.openxmlformats.org/officeDocument/2006/relationships/slideLayout" Target="../slideLayouts/slideLayout47.xml"/><Relationship Id="rId14" Type="http://schemas.openxmlformats.org/officeDocument/2006/relationships/slideLayout" Target="../slideLayouts/slideLayout52.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65.xml"/><Relationship Id="rId13" Type="http://schemas.openxmlformats.org/officeDocument/2006/relationships/slideLayout" Target="../slideLayouts/slideLayout70.xml"/><Relationship Id="rId18" Type="http://schemas.openxmlformats.org/officeDocument/2006/relationships/slideLayout" Target="../slideLayouts/slideLayout75.xml"/><Relationship Id="rId3" Type="http://schemas.openxmlformats.org/officeDocument/2006/relationships/slideLayout" Target="../slideLayouts/slideLayout60.xml"/><Relationship Id="rId7" Type="http://schemas.openxmlformats.org/officeDocument/2006/relationships/slideLayout" Target="../slideLayouts/slideLayout64.xml"/><Relationship Id="rId12" Type="http://schemas.openxmlformats.org/officeDocument/2006/relationships/slideLayout" Target="../slideLayouts/slideLayout69.xml"/><Relationship Id="rId17" Type="http://schemas.openxmlformats.org/officeDocument/2006/relationships/slideLayout" Target="../slideLayouts/slideLayout74.xml"/><Relationship Id="rId2" Type="http://schemas.openxmlformats.org/officeDocument/2006/relationships/slideLayout" Target="../slideLayouts/slideLayout59.xml"/><Relationship Id="rId16" Type="http://schemas.openxmlformats.org/officeDocument/2006/relationships/slideLayout" Target="../slideLayouts/slideLayout73.xml"/><Relationship Id="rId20" Type="http://schemas.openxmlformats.org/officeDocument/2006/relationships/theme" Target="../theme/theme4.xml"/><Relationship Id="rId1" Type="http://schemas.openxmlformats.org/officeDocument/2006/relationships/slideLayout" Target="../slideLayouts/slideLayout58.xml"/><Relationship Id="rId6" Type="http://schemas.openxmlformats.org/officeDocument/2006/relationships/slideLayout" Target="../slideLayouts/slideLayout63.xml"/><Relationship Id="rId11" Type="http://schemas.openxmlformats.org/officeDocument/2006/relationships/slideLayout" Target="../slideLayouts/slideLayout68.xml"/><Relationship Id="rId5" Type="http://schemas.openxmlformats.org/officeDocument/2006/relationships/slideLayout" Target="../slideLayouts/slideLayout62.xml"/><Relationship Id="rId15" Type="http://schemas.openxmlformats.org/officeDocument/2006/relationships/slideLayout" Target="../slideLayouts/slideLayout72.xml"/><Relationship Id="rId10" Type="http://schemas.openxmlformats.org/officeDocument/2006/relationships/slideLayout" Target="../slideLayouts/slideLayout67.xml"/><Relationship Id="rId19" Type="http://schemas.openxmlformats.org/officeDocument/2006/relationships/slideLayout" Target="../slideLayouts/slideLayout76.xml"/><Relationship Id="rId4" Type="http://schemas.openxmlformats.org/officeDocument/2006/relationships/slideLayout" Target="../slideLayouts/slideLayout61.xml"/><Relationship Id="rId9" Type="http://schemas.openxmlformats.org/officeDocument/2006/relationships/slideLayout" Target="../slideLayouts/slideLayout66.xml"/><Relationship Id="rId14" Type="http://schemas.openxmlformats.org/officeDocument/2006/relationships/slideLayout" Target="../slideLayouts/slideLayout7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19548417"/>
      </p:ext>
    </p:extLst>
  </p:cSld>
  <p:clrMap bg1="lt1" tx1="dk1" bg2="lt2" tx2="dk2" accent1="accent1" accent2="accent2" accent3="accent3" accent4="accent4" accent5="accent5" accent6="accent6" hlink="hlink" folHlink="folHlink"/>
  <p:sldLayoutIdLst>
    <p:sldLayoutId id="2147483755" r:id="rId1"/>
    <p:sldLayoutId id="2147483777" r:id="rId2"/>
    <p:sldLayoutId id="2147483745" r:id="rId3"/>
    <p:sldLayoutId id="2147483747" r:id="rId4"/>
    <p:sldLayoutId id="2147483744" r:id="rId5"/>
    <p:sldLayoutId id="2147483778" r:id="rId6"/>
    <p:sldLayoutId id="2147483743" r:id="rId7"/>
    <p:sldLayoutId id="2147483746" r:id="rId8"/>
    <p:sldLayoutId id="2147483749" r:id="rId9"/>
    <p:sldLayoutId id="2147483753" r:id="rId10"/>
    <p:sldLayoutId id="2147483754" r:id="rId11"/>
    <p:sldLayoutId id="2147483653" r:id="rId12"/>
    <p:sldLayoutId id="2147483776" r:id="rId13"/>
    <p:sldLayoutId id="2147483670" r:id="rId14"/>
    <p:sldLayoutId id="2147483673" r:id="rId15"/>
    <p:sldLayoutId id="2147483672" r:id="rId16"/>
    <p:sldLayoutId id="2147483660" r:id="rId17"/>
    <p:sldLayoutId id="2147483661" r:id="rId18"/>
    <p:sldLayoutId id="2147483663"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39"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00728010"/>
      </p:ext>
    </p:extLst>
  </p:cSld>
  <p:clrMap bg1="lt1" tx1="dk1" bg2="lt2" tx2="dk2" accent1="accent1" accent2="accent2" accent3="accent3" accent4="accent4" accent5="accent5" accent6="accent6" hlink="hlink" folHlink="folHlink"/>
  <p:sldLayoutIdLst>
    <p:sldLayoutId id="2147483780" r:id="rId1"/>
    <p:sldLayoutId id="2147483781" r:id="rId2"/>
    <p:sldLayoutId id="2147483782" r:id="rId3"/>
    <p:sldLayoutId id="2147483783" r:id="rId4"/>
    <p:sldLayoutId id="2147483784" r:id="rId5"/>
    <p:sldLayoutId id="2147483785" r:id="rId6"/>
    <p:sldLayoutId id="2147483786" r:id="rId7"/>
    <p:sldLayoutId id="2147483787" r:id="rId8"/>
    <p:sldLayoutId id="2147483788" r:id="rId9"/>
    <p:sldLayoutId id="2147483789" r:id="rId10"/>
    <p:sldLayoutId id="2147483790" r:id="rId11"/>
    <p:sldLayoutId id="2147483791" r:id="rId12"/>
    <p:sldLayoutId id="2147483792" r:id="rId13"/>
    <p:sldLayoutId id="2147483793" r:id="rId14"/>
    <p:sldLayoutId id="2147483794" r:id="rId15"/>
    <p:sldLayoutId id="2147483795" r:id="rId16"/>
    <p:sldLayoutId id="2147483796" r:id="rId17"/>
    <p:sldLayoutId id="2147483797" r:id="rId18"/>
    <p:sldLayoutId id="2147483798"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4352628"/>
      </p:ext>
    </p:extLst>
  </p:cSld>
  <p:clrMap bg1="lt1" tx1="dk1" bg2="lt2" tx2="dk2" accent1="accent1" accent2="accent2" accent3="accent3" accent4="accent4" accent5="accent5" accent6="accent6" hlink="hlink" folHlink="folHlink"/>
  <p:sldLayoutIdLst>
    <p:sldLayoutId id="2147483800" r:id="rId1"/>
    <p:sldLayoutId id="2147483801" r:id="rId2"/>
    <p:sldLayoutId id="2147483802" r:id="rId3"/>
    <p:sldLayoutId id="2147483803" r:id="rId4"/>
    <p:sldLayoutId id="2147483804" r:id="rId5"/>
    <p:sldLayoutId id="2147483805" r:id="rId6"/>
    <p:sldLayoutId id="2147483806" r:id="rId7"/>
    <p:sldLayoutId id="2147483807" r:id="rId8"/>
    <p:sldLayoutId id="2147483808" r:id="rId9"/>
    <p:sldLayoutId id="2147483809" r:id="rId10"/>
    <p:sldLayoutId id="2147483810" r:id="rId11"/>
    <p:sldLayoutId id="2147483811" r:id="rId12"/>
    <p:sldLayoutId id="2147483812" r:id="rId13"/>
    <p:sldLayoutId id="2147483813" r:id="rId14"/>
    <p:sldLayoutId id="2147483814" r:id="rId15"/>
    <p:sldLayoutId id="2147483815" r:id="rId16"/>
    <p:sldLayoutId id="2147483816" r:id="rId17"/>
    <p:sldLayoutId id="2147483817" r:id="rId18"/>
    <p:sldLayoutId id="2147483818"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16063271"/>
      </p:ext>
    </p:extLst>
  </p:cSld>
  <p:clrMap bg1="lt1" tx1="dk1" bg2="lt2" tx2="dk2" accent1="accent1" accent2="accent2" accent3="accent3" accent4="accent4" accent5="accent5" accent6="accent6" hlink="hlink" folHlink="folHlink"/>
  <p:sldLayoutIdLst>
    <p:sldLayoutId id="2147483820" r:id="rId1"/>
    <p:sldLayoutId id="2147483821" r:id="rId2"/>
    <p:sldLayoutId id="2147483822" r:id="rId3"/>
    <p:sldLayoutId id="2147483823" r:id="rId4"/>
    <p:sldLayoutId id="2147483824" r:id="rId5"/>
    <p:sldLayoutId id="2147483825" r:id="rId6"/>
    <p:sldLayoutId id="2147483826" r:id="rId7"/>
    <p:sldLayoutId id="2147483827" r:id="rId8"/>
    <p:sldLayoutId id="2147483828" r:id="rId9"/>
    <p:sldLayoutId id="2147483829" r:id="rId10"/>
    <p:sldLayoutId id="2147483830" r:id="rId11"/>
    <p:sldLayoutId id="2147483831" r:id="rId12"/>
    <p:sldLayoutId id="2147483832" r:id="rId13"/>
    <p:sldLayoutId id="2147483833" r:id="rId14"/>
    <p:sldLayoutId id="2147483834" r:id="rId15"/>
    <p:sldLayoutId id="2147483835" r:id="rId16"/>
    <p:sldLayoutId id="2147483836" r:id="rId17"/>
    <p:sldLayoutId id="2147483837" r:id="rId18"/>
    <p:sldLayoutId id="2147483838"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6.xml"/><Relationship Id="rId1" Type="http://schemas.openxmlformats.org/officeDocument/2006/relationships/slideLayout" Target="../slideLayouts/slideLayout11.xml"/><Relationship Id="rId4" Type="http://schemas.openxmlformats.org/officeDocument/2006/relationships/image" Target="../media/image27.png"/></Relationships>
</file>

<file path=ppt/slides/_rels/slide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7.xml"/><Relationship Id="rId1" Type="http://schemas.openxmlformats.org/officeDocument/2006/relationships/slideLayout" Target="../slideLayouts/slideLayout11.xml"/><Relationship Id="rId4" Type="http://schemas.openxmlformats.org/officeDocument/2006/relationships/image" Target="../media/image27.png"/></Relationships>
</file>

<file path=ppt/slides/_rels/slide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8.xml"/><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2.xml"/><Relationship Id="rId1" Type="http://schemas.openxmlformats.org/officeDocument/2006/relationships/slideLayout" Target="../slideLayouts/slideLayout11.xml"/><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4.xml"/><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0.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2.xml"/><Relationship Id="rId1" Type="http://schemas.openxmlformats.org/officeDocument/2006/relationships/slideLayout" Target="../slideLayouts/slideLayout11.xml"/></Relationships>
</file>

<file path=ppt/slides/_rels/slide2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3.xml"/><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6.xml"/><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1.xml"/><Relationship Id="rId1" Type="http://schemas.openxmlformats.org/officeDocument/2006/relationships/slideLayout" Target="../slideLayouts/slideLayout11.xml"/></Relationships>
</file>

<file path=ppt/slides/_rels/slide3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2.xml"/><Relationship Id="rId1" Type="http://schemas.openxmlformats.org/officeDocument/2006/relationships/slideLayout" Target="../slideLayouts/slideLayout11.xml"/><Relationship Id="rId4" Type="http://schemas.openxmlformats.org/officeDocument/2006/relationships/image" Target="../media/image35.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1.xml"/></Relationships>
</file>

<file path=ppt/slides/_rels/slide3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4.xml"/><Relationship Id="rId1" Type="http://schemas.openxmlformats.org/officeDocument/2006/relationships/slideLayout" Target="../slideLayouts/slideLayout11.xml"/><Relationship Id="rId4" Type="http://schemas.openxmlformats.org/officeDocument/2006/relationships/image" Target="../media/image35.png"/></Relationships>
</file>

<file path=ppt/slides/_rels/slide3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5.xml"/><Relationship Id="rId1" Type="http://schemas.openxmlformats.org/officeDocument/2006/relationships/slideLayout" Target="../slideLayouts/slideLayout11.xml"/><Relationship Id="rId4" Type="http://schemas.openxmlformats.org/officeDocument/2006/relationships/image" Target="../media/image35.pn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1.xml"/></Relationships>
</file>

<file path=ppt/slides/_rels/slide3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9.xml"/><Relationship Id="rId1" Type="http://schemas.openxmlformats.org/officeDocument/2006/relationships/slideLayout" Target="../slideLayouts/slideLayout11.xml"/></Relationships>
</file>

<file path=ppt/slides/_rels/slide40.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0.xml"/><Relationship Id="rId1" Type="http://schemas.openxmlformats.org/officeDocument/2006/relationships/slideLayout" Target="../slideLayouts/slideLayout11.xml"/></Relationships>
</file>

<file path=ppt/slides/_rels/slide4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1.xml"/><Relationship Id="rId1" Type="http://schemas.openxmlformats.org/officeDocument/2006/relationships/slideLayout" Target="../slideLayouts/slideLayout11.xml"/></Relationships>
</file>

<file path=ppt/slides/_rels/slide4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2.xml"/><Relationship Id="rId1" Type="http://schemas.openxmlformats.org/officeDocument/2006/relationships/slideLayout" Target="../slideLayouts/slideLayout1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5.xml"/><Relationship Id="rId1" Type="http://schemas.openxmlformats.org/officeDocument/2006/relationships/slideLayout" Target="../slideLayouts/slideLayout11.xml"/></Relationships>
</file>

<file path=ppt/slides/_rels/slide46.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6.xml"/><Relationship Id="rId1" Type="http://schemas.openxmlformats.org/officeDocument/2006/relationships/slideLayout" Target="../slideLayouts/slideLayout11.xml"/></Relationships>
</file>

<file path=ppt/slides/_rels/slide4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7.xml"/><Relationship Id="rId1" Type="http://schemas.openxmlformats.org/officeDocument/2006/relationships/slideLayout" Target="../slideLayouts/slideLayout11.xml"/></Relationships>
</file>

<file path=ppt/slides/_rels/slide48.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8.xml"/><Relationship Id="rId1" Type="http://schemas.openxmlformats.org/officeDocument/2006/relationships/slideLayout" Target="../slideLayouts/slideLayout11.xml"/><Relationship Id="rId4" Type="http://schemas.openxmlformats.org/officeDocument/2006/relationships/image" Target="../media/image42.png"/></Relationships>
</file>

<file path=ppt/slides/_rels/slide4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9.xml"/><Relationship Id="rId1" Type="http://schemas.openxmlformats.org/officeDocument/2006/relationships/slideLayout" Target="../slideLayouts/slideLayout11.xml"/></Relationships>
</file>

<file path=ppt/slides/_rels/slide50.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50.xml"/><Relationship Id="rId1" Type="http://schemas.openxmlformats.org/officeDocument/2006/relationships/slideLayout" Target="../slideLayouts/slideLayout11.xml"/></Relationships>
</file>

<file path=ppt/slides/_rels/slide5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51.xml"/><Relationship Id="rId1" Type="http://schemas.openxmlformats.org/officeDocument/2006/relationships/slideLayout" Target="../slideLayouts/slideLayout1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54.xml"/><Relationship Id="rId1" Type="http://schemas.openxmlformats.org/officeDocument/2006/relationships/slideLayout" Target="../slideLayouts/slideLayout11.xml"/><Relationship Id="rId4" Type="http://schemas.openxmlformats.org/officeDocument/2006/relationships/image" Target="../media/image45.png"/></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1.xml"/></Relationships>
</file>

<file path=ppt/slides/_rels/slide5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56.xml"/><Relationship Id="rId1" Type="http://schemas.openxmlformats.org/officeDocument/2006/relationships/slideLayout" Target="../slideLayouts/slideLayout1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59.xml"/><Relationship Id="rId1" Type="http://schemas.openxmlformats.org/officeDocument/2006/relationships/slideLayout" Target="../slideLayouts/slideLayout1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9.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E6FC3-E137-F9C8-0911-3C626A34090C}"/>
            </a:ext>
          </a:extLst>
        </p:cNvPr>
        <p:cNvGrpSpPr/>
        <p:nvPr/>
      </p:nvGrpSpPr>
      <p:grpSpPr>
        <a:xfrm>
          <a:off x="0" y="0"/>
          <a:ext cx="0" cy="0"/>
          <a:chOff x="0" y="0"/>
          <a:chExt cx="0" cy="0"/>
        </a:xfrm>
      </p:grpSpPr>
      <p:sp>
        <p:nvSpPr>
          <p:cNvPr id="9" name="Text Placeholder 8">
            <a:extLst>
              <a:ext uri="{FF2B5EF4-FFF2-40B4-BE49-F238E27FC236}">
                <a16:creationId xmlns:a16="http://schemas.microsoft.com/office/drawing/2014/main" id="{9F3F9AB4-72EE-E557-D442-1A774A8F85C1}"/>
              </a:ext>
            </a:extLst>
          </p:cNvPr>
          <p:cNvSpPr>
            <a:spLocks noGrp="1"/>
          </p:cNvSpPr>
          <p:nvPr>
            <p:ph type="title" idx="4294967295"/>
          </p:nvPr>
        </p:nvSpPr>
        <p:spPr>
          <a:xfrm>
            <a:off x="-1590" y="1602378"/>
            <a:ext cx="12192003" cy="2038812"/>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sz="6000" b="1" dirty="0">
                <a:solidFill>
                  <a:srgbClr val="236739"/>
                </a:solidFill>
              </a:rPr>
              <a:t>Vertical and Horizontal </a:t>
            </a:r>
            <a:br>
              <a:rPr lang="en-US" sz="6000" b="1" dirty="0">
                <a:solidFill>
                  <a:srgbClr val="236739"/>
                </a:solidFill>
              </a:rPr>
            </a:br>
            <a:r>
              <a:rPr lang="en-US" sz="6000" b="1" dirty="0">
                <a:solidFill>
                  <a:srgbClr val="236739"/>
                </a:solidFill>
              </a:rPr>
              <a:t>Transformations of Linear Functions</a:t>
            </a:r>
            <a:endParaRPr kumimoji="0" lang="en-US" sz="6000" b="1" i="0" u="none" strike="noStrike" kern="1200" cap="none" spc="0" normalizeH="0" baseline="0" noProof="0" dirty="0">
              <a:ln>
                <a:noFill/>
              </a:ln>
              <a:solidFill>
                <a:srgbClr val="236739"/>
              </a:solidFill>
              <a:effectLst/>
              <a:uLnTx/>
              <a:uFillTx/>
              <a:latin typeface="+mn-lt"/>
              <a:ea typeface="+mn-ea"/>
              <a:cs typeface="+mn-cs"/>
            </a:endParaRPr>
          </a:p>
        </p:txBody>
      </p:sp>
      <p:sp>
        <p:nvSpPr>
          <p:cNvPr id="4" name="Text Placeholder 3">
            <a:extLst>
              <a:ext uri="{FF2B5EF4-FFF2-40B4-BE49-F238E27FC236}">
                <a16:creationId xmlns:a16="http://schemas.microsoft.com/office/drawing/2014/main" id="{C4BC507F-0143-6704-9C2B-18134FD88522}"/>
              </a:ext>
            </a:extLst>
          </p:cNvPr>
          <p:cNvSpPr>
            <a:spLocks noGrp="1"/>
          </p:cNvSpPr>
          <p:nvPr>
            <p:ph type="body" sz="quarter" idx="13"/>
          </p:nvPr>
        </p:nvSpPr>
        <p:spPr/>
        <p:txBody>
          <a:bodyPr/>
          <a:lstStyle/>
          <a:p>
            <a:r>
              <a:rPr lang="en-US" dirty="0"/>
              <a:t>Algebra I | Module 2 | Topic 2 | Lesson 2</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extLst>
      <p:ext uri="{BB962C8B-B14F-4D97-AF65-F5344CB8AC3E}">
        <p14:creationId xmlns:p14="http://schemas.microsoft.com/office/powerpoint/2010/main" val="21819254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AB788BD-5AC8-F66E-ABEF-AD5339EB2C99}"/>
              </a:ext>
            </a:extLst>
          </p:cNvPr>
          <p:cNvSpPr>
            <a:spLocks noGrp="1"/>
          </p:cNvSpPr>
          <p:nvPr>
            <p:ph type="title"/>
          </p:nvPr>
        </p:nvSpPr>
        <p:spPr>
          <a:xfrm>
            <a:off x="1587" y="13855"/>
            <a:ext cx="6094413" cy="926757"/>
          </a:xfrm>
          <a:noFill/>
        </p:spPr>
        <p:txBody>
          <a:bodyPr/>
          <a:lstStyle/>
          <a:p>
            <a:r>
              <a:rPr lang="en-US" sz="4000" dirty="0"/>
              <a:t>Objectives</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7B3EF6D6-21DA-06B8-522B-BDF27854BF2C}"/>
                  </a:ext>
                </a:extLst>
              </p:cNvPr>
              <p:cNvSpPr>
                <a:spLocks noGrp="1"/>
              </p:cNvSpPr>
              <p:nvPr>
                <p:ph type="body" sz="quarter" idx="10"/>
              </p:nvPr>
            </p:nvSpPr>
            <p:spPr>
              <a:xfrm>
                <a:off x="836615" y="1602377"/>
                <a:ext cx="9831386" cy="4184297"/>
              </a:xfrm>
            </p:spPr>
            <p:txBody>
              <a:bodyPr/>
              <a:lstStyle/>
              <a:p>
                <a:pPr marL="457200" indent="-457200" algn="l">
                  <a:buFont typeface="Arial" panose="020B0604020202020204" pitchFamily="34" charset="0"/>
                  <a:buChar char="•"/>
                </a:pPr>
                <a:r>
                  <a:rPr lang="en-US" sz="2800" dirty="0"/>
                  <a:t>Identify key characteristics of linear functions.</a:t>
                </a:r>
              </a:p>
              <a:p>
                <a:pPr marL="457200" indent="-457200" algn="l">
                  <a:buFont typeface="Arial" panose="020B0604020202020204" pitchFamily="34" charset="0"/>
                  <a:buChar char="•"/>
                </a:pPr>
                <a:r>
                  <a:rPr lang="en-US" sz="2800" dirty="0"/>
                  <a:t>Determine the effects on the graph of a linear function when </a:t>
                </a:r>
                <a14:m>
                  <m:oMath xmlns:m="http://schemas.openxmlformats.org/officeDocument/2006/math">
                    <m:r>
                      <a:rPr lang="en-US" sz="2800" i="1" dirty="0" smtClean="0">
                        <a:latin typeface="Cambria Math" panose="02040503050406030204" pitchFamily="18" charset="0"/>
                      </a:rPr>
                      <m:t>𝑓</m:t>
                    </m:r>
                    <m:r>
                      <a:rPr lang="en-US" sz="2800" i="1" dirty="0" smtClean="0">
                        <a:latin typeface="Cambria Math" panose="02040503050406030204" pitchFamily="18" charset="0"/>
                      </a:rPr>
                      <m:t>(</m:t>
                    </m:r>
                    <m:r>
                      <a:rPr lang="en-US" sz="2800" i="1" dirty="0" smtClean="0">
                        <a:latin typeface="Cambria Math" panose="02040503050406030204" pitchFamily="18" charset="0"/>
                      </a:rPr>
                      <m:t>𝑥</m:t>
                    </m:r>
                    <m:r>
                      <a:rPr lang="en-US" sz="2800" i="1" dirty="0" smtClean="0">
                        <a:latin typeface="Cambria Math" panose="02040503050406030204" pitchFamily="18" charset="0"/>
                      </a:rPr>
                      <m:t>)</m:t>
                    </m:r>
                  </m:oMath>
                </a14:m>
                <a:r>
                  <a:rPr lang="en-US" sz="2800" dirty="0"/>
                  <a:t> is replaced by </a:t>
                </a:r>
                <a14:m>
                  <m:oMath xmlns:m="http://schemas.openxmlformats.org/officeDocument/2006/math">
                    <m:r>
                      <a:rPr lang="en-US" sz="2800" i="1" dirty="0" smtClean="0">
                        <a:latin typeface="Cambria Math" panose="02040503050406030204" pitchFamily="18" charset="0"/>
                      </a:rPr>
                      <m:t>𝑓</m:t>
                    </m:r>
                    <m:r>
                      <a:rPr lang="en-US" sz="2800" i="1" dirty="0" smtClean="0">
                        <a:latin typeface="Cambria Math" panose="02040503050406030204" pitchFamily="18" charset="0"/>
                      </a:rPr>
                      <m:t>(</m:t>
                    </m:r>
                    <m:r>
                      <a:rPr lang="en-US" sz="2800" i="1" dirty="0" smtClean="0">
                        <a:latin typeface="Cambria Math" panose="02040503050406030204" pitchFamily="18" charset="0"/>
                      </a:rPr>
                      <m:t>𝑥</m:t>
                    </m:r>
                    <m:r>
                      <a:rPr lang="en-US" sz="2800" i="1" dirty="0" smtClean="0">
                        <a:latin typeface="Cambria Math" panose="02040503050406030204" pitchFamily="18" charset="0"/>
                      </a:rPr>
                      <m:t>)+</m:t>
                    </m:r>
                    <m:r>
                      <a:rPr lang="en-US" sz="2800" i="1" dirty="0" smtClean="0">
                        <a:latin typeface="Cambria Math" panose="02040503050406030204" pitchFamily="18" charset="0"/>
                      </a:rPr>
                      <m:t>𝑑</m:t>
                    </m:r>
                  </m:oMath>
                </a14:m>
                <a:r>
                  <a:rPr lang="en-US" sz="2800" dirty="0"/>
                  <a:t>, </a:t>
                </a:r>
                <a14:m>
                  <m:oMath xmlns:m="http://schemas.openxmlformats.org/officeDocument/2006/math">
                    <m:r>
                      <a:rPr lang="en-US" sz="2800" i="1" dirty="0" smtClean="0">
                        <a:latin typeface="Cambria Math" panose="02040503050406030204" pitchFamily="18" charset="0"/>
                      </a:rPr>
                      <m:t>𝑓</m:t>
                    </m:r>
                    <m:d>
                      <m:dPr>
                        <m:ctrlPr>
                          <a:rPr lang="en-US" sz="2800" i="1" dirty="0" smtClean="0">
                            <a:latin typeface="Cambria Math" panose="02040503050406030204" pitchFamily="18" charset="0"/>
                          </a:rPr>
                        </m:ctrlPr>
                      </m:dPr>
                      <m:e>
                        <m:r>
                          <a:rPr lang="en-US" sz="2800" i="1" dirty="0" smtClean="0">
                            <a:latin typeface="Cambria Math" panose="02040503050406030204" pitchFamily="18" charset="0"/>
                          </a:rPr>
                          <m:t>𝑥</m:t>
                        </m:r>
                        <m:r>
                          <a:rPr lang="en-US" sz="2800" i="1" dirty="0" smtClean="0">
                            <a:latin typeface="Cambria Math" panose="02040503050406030204" pitchFamily="18" charset="0"/>
                          </a:rPr>
                          <m:t>−</m:t>
                        </m:r>
                        <m:r>
                          <a:rPr lang="en-US" sz="2800" i="1" dirty="0" smtClean="0">
                            <a:latin typeface="Cambria Math" panose="02040503050406030204" pitchFamily="18" charset="0"/>
                          </a:rPr>
                          <m:t>𝑐</m:t>
                        </m:r>
                      </m:e>
                    </m:d>
                    <m:r>
                      <a:rPr lang="en-US" sz="2800" b="0" i="1" dirty="0" smtClean="0">
                        <a:latin typeface="Cambria Math" panose="02040503050406030204" pitchFamily="18" charset="0"/>
                      </a:rPr>
                      <m:t>, </m:t>
                    </m:r>
                    <m:r>
                      <a:rPr lang="en-US" sz="2800" i="1" dirty="0" smtClean="0">
                        <a:latin typeface="Cambria Math" panose="02040503050406030204" pitchFamily="18" charset="0"/>
                      </a:rPr>
                      <m:t>𝑎𝑓</m:t>
                    </m:r>
                    <m:r>
                      <a:rPr lang="en-US" sz="2800" i="1" dirty="0" smtClean="0">
                        <a:latin typeface="Cambria Math" panose="02040503050406030204" pitchFamily="18" charset="0"/>
                      </a:rPr>
                      <m:t>(</m:t>
                    </m:r>
                    <m:r>
                      <a:rPr lang="en-US" sz="2800" i="1" dirty="0" smtClean="0">
                        <a:latin typeface="Cambria Math" panose="02040503050406030204" pitchFamily="18" charset="0"/>
                      </a:rPr>
                      <m:t>𝑥</m:t>
                    </m:r>
                    <m:r>
                      <a:rPr lang="en-US" sz="2800" i="1" dirty="0" smtClean="0">
                        <a:latin typeface="Cambria Math" panose="02040503050406030204" pitchFamily="18" charset="0"/>
                      </a:rPr>
                      <m:t>),</m:t>
                    </m:r>
                  </m:oMath>
                </a14:m>
                <a:r>
                  <a:rPr lang="en-US" sz="2800" dirty="0"/>
                  <a:t> and </a:t>
                </a:r>
                <a14:m>
                  <m:oMath xmlns:m="http://schemas.openxmlformats.org/officeDocument/2006/math">
                    <m:r>
                      <a:rPr lang="en-US" sz="2800" i="1" dirty="0" smtClean="0">
                        <a:latin typeface="Cambria Math" panose="02040503050406030204" pitchFamily="18" charset="0"/>
                      </a:rPr>
                      <m:t>𝑓</m:t>
                    </m:r>
                    <m:r>
                      <a:rPr lang="en-US" sz="2800" i="1" dirty="0" smtClean="0">
                        <a:latin typeface="Cambria Math" panose="02040503050406030204" pitchFamily="18" charset="0"/>
                      </a:rPr>
                      <m:t>(</m:t>
                    </m:r>
                    <m:r>
                      <a:rPr lang="en-US" sz="2800" i="1" dirty="0" smtClean="0">
                        <a:latin typeface="Cambria Math" panose="02040503050406030204" pitchFamily="18" charset="0"/>
                      </a:rPr>
                      <m:t>𝑏𝑥</m:t>
                    </m:r>
                    <m:r>
                      <a:rPr lang="en-US" sz="2800" i="1" dirty="0" smtClean="0">
                        <a:latin typeface="Cambria Math" panose="02040503050406030204" pitchFamily="18" charset="0"/>
                      </a:rPr>
                      <m:t>)</m:t>
                    </m:r>
                  </m:oMath>
                </a14:m>
                <a:r>
                  <a:rPr lang="en-US" sz="2800" b="0" i="0" u="none" strike="noStrike" baseline="0" dirty="0">
                    <a:solidFill>
                      <a:srgbClr val="000000"/>
                    </a:solidFill>
                  </a:rPr>
                  <a:t>.</a:t>
                </a:r>
              </a:p>
            </p:txBody>
          </p:sp>
        </mc:Choice>
        <mc:Fallback xmlns="">
          <p:sp>
            <p:nvSpPr>
              <p:cNvPr id="4" name="Text Placeholder 3">
                <a:extLst>
                  <a:ext uri="{FF2B5EF4-FFF2-40B4-BE49-F238E27FC236}">
                    <a16:creationId xmlns:a16="http://schemas.microsoft.com/office/drawing/2014/main" id="{7B3EF6D6-21DA-06B8-522B-BDF27854BF2C}"/>
                  </a:ext>
                </a:extLst>
              </p:cNvPr>
              <p:cNvSpPr>
                <a:spLocks noGrp="1" noRot="1" noChangeAspect="1" noMove="1" noResize="1" noEditPoints="1" noAdjustHandles="1" noChangeArrowheads="1" noChangeShapeType="1" noTextEdit="1"/>
              </p:cNvSpPr>
              <p:nvPr>
                <p:ph type="body" sz="quarter" idx="10"/>
              </p:nvPr>
            </p:nvSpPr>
            <p:spPr>
              <a:xfrm>
                <a:off x="836615" y="1602377"/>
                <a:ext cx="9831386" cy="4184297"/>
              </a:xfrm>
              <a:blipFill>
                <a:blip r:embed="rId3"/>
                <a:stretch>
                  <a:fillRect l="-1116" t="-2478"/>
                </a:stretch>
              </a:blipFill>
            </p:spPr>
            <p:txBody>
              <a:bodyPr/>
              <a:lstStyle/>
              <a:p>
                <a:r>
                  <a:rPr lang="en-US">
                    <a:noFill/>
                  </a:rPr>
                  <a:t> </a:t>
                </a:r>
              </a:p>
            </p:txBody>
          </p:sp>
        </mc:Fallback>
      </mc:AlternateContent>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
        <p:nvSpPr>
          <p:cNvPr id="1005" name="Answer 100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287</a:t>
            </a:r>
          </a:p>
        </p:txBody>
      </p:sp>
    </p:spTree>
    <p:extLst>
      <p:ext uri="{BB962C8B-B14F-4D97-AF65-F5344CB8AC3E}">
        <p14:creationId xmlns:p14="http://schemas.microsoft.com/office/powerpoint/2010/main" val="33986065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8A3AC8-B56F-47DA-AEF2-F3F1E9E2CDA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EB9966A-6415-B35F-AC87-062F5FC26C5C}"/>
              </a:ext>
            </a:extLst>
          </p:cNvPr>
          <p:cNvSpPr>
            <a:spLocks noGrp="1"/>
          </p:cNvSpPr>
          <p:nvPr>
            <p:ph type="title"/>
          </p:nvPr>
        </p:nvSpPr>
        <p:spPr/>
        <p:txBody>
          <a:bodyPr/>
          <a:lstStyle/>
          <a:p>
            <a:pPr algn="l"/>
            <a:r>
              <a:rPr lang="en-US" b="1" dirty="0"/>
              <a:t>Essential Question </a:t>
            </a:r>
            <a:r>
              <a:rPr lang="en-US" sz="2000" b="1" dirty="0">
                <a:solidFill>
                  <a:schemeClr val="bg1"/>
                </a:solidFill>
              </a:rPr>
              <a:t>(1 of 2)</a:t>
            </a:r>
          </a:p>
        </p:txBody>
      </p:sp>
      <p:sp>
        <p:nvSpPr>
          <p:cNvPr id="9" name="Text Placeholder 2">
            <a:extLst>
              <a:ext uri="{FF2B5EF4-FFF2-40B4-BE49-F238E27FC236}">
                <a16:creationId xmlns:a16="http://schemas.microsoft.com/office/drawing/2014/main" id="{325B2EA2-DB03-43C5-FC66-7B772EA97525}"/>
              </a:ext>
            </a:extLst>
          </p:cNvPr>
          <p:cNvSpPr txBox="1">
            <a:spLocks/>
          </p:cNvSpPr>
          <p:nvPr/>
        </p:nvSpPr>
        <p:spPr>
          <a:xfrm>
            <a:off x="777240" y="1584575"/>
            <a:ext cx="9423400" cy="4351200"/>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Bef>
                <a:spcPts val="24"/>
              </a:spcBef>
              <a:buNone/>
            </a:pPr>
            <a:r>
              <a:rPr lang="en-US" sz="2800" dirty="0">
                <a:solidFill>
                  <a:srgbClr val="000000"/>
                </a:solidFill>
              </a:rPr>
              <a:t>You have learned about the effects of vertical transformations on linear functions.</a:t>
            </a:r>
          </a:p>
          <a:p>
            <a:pPr marL="0" indent="0">
              <a:spcBef>
                <a:spcPts val="24"/>
              </a:spcBef>
              <a:buNone/>
            </a:pPr>
            <a:endParaRPr lang="en-US" sz="2800" dirty="0">
              <a:solidFill>
                <a:srgbClr val="000000"/>
              </a:solidFill>
            </a:endParaRPr>
          </a:p>
          <a:p>
            <a:pPr marL="0" indent="0">
              <a:spcBef>
                <a:spcPts val="24"/>
              </a:spcBef>
              <a:buNone/>
            </a:pPr>
            <a:endParaRPr lang="en-US" sz="2800" dirty="0">
              <a:solidFill>
                <a:srgbClr val="000000"/>
              </a:solidFill>
            </a:endParaRPr>
          </a:p>
          <a:p>
            <a:pPr marL="0" indent="0">
              <a:spcBef>
                <a:spcPts val="24"/>
              </a:spcBef>
              <a:buNone/>
            </a:pPr>
            <a:endParaRPr lang="en-US" sz="2800" dirty="0">
              <a:solidFill>
                <a:srgbClr val="000000"/>
              </a:solidFill>
            </a:endParaRPr>
          </a:p>
          <a:p>
            <a:pPr marL="0" indent="0">
              <a:spcBef>
                <a:spcPts val="24"/>
              </a:spcBef>
              <a:buNone/>
            </a:pPr>
            <a:r>
              <a:rPr lang="en-US" sz="2800" dirty="0">
                <a:solidFill>
                  <a:srgbClr val="000000"/>
                </a:solidFill>
              </a:rPr>
              <a:t>What effect do horizontal transformations have on linear functions? How do they compare to vertical transformations? </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287</a:t>
            </a:r>
          </a:p>
        </p:txBody>
      </p:sp>
    </p:spTree>
    <p:extLst>
      <p:ext uri="{BB962C8B-B14F-4D97-AF65-F5344CB8AC3E}">
        <p14:creationId xmlns:p14="http://schemas.microsoft.com/office/powerpoint/2010/main" val="24930832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84E7D1-4EEC-73C8-A8B1-25799A77981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CFA90BF-E127-672C-DE36-C0738BC656D8}"/>
              </a:ext>
            </a:extLst>
          </p:cNvPr>
          <p:cNvSpPr>
            <a:spLocks noGrp="1"/>
          </p:cNvSpPr>
          <p:nvPr>
            <p:ph type="title" idx="4294967295"/>
          </p:nvPr>
        </p:nvSpPr>
        <p:spPr>
          <a:xfrm>
            <a:off x="838200" y="-313509"/>
            <a:ext cx="10514013" cy="313509"/>
          </a:xfrm>
          <a:prstGeom prst="rect">
            <a:avLst/>
          </a:prstGeom>
        </p:spPr>
        <p:txBody>
          <a:bodyPr anchor="b"/>
          <a:lstStyle/>
          <a:p>
            <a:r>
              <a:rPr lang="en-US" sz="2000" dirty="0">
                <a:solidFill>
                  <a:schemeClr val="bg2"/>
                </a:solidFill>
              </a:rPr>
              <a:t>Day 1</a:t>
            </a:r>
          </a:p>
        </p:txBody>
      </p:sp>
      <p:sp>
        <p:nvSpPr>
          <p:cNvPr id="4" name="Text Placeholder 3">
            <a:extLst>
              <a:ext uri="{FF2B5EF4-FFF2-40B4-BE49-F238E27FC236}">
                <a16:creationId xmlns:a16="http://schemas.microsoft.com/office/drawing/2014/main" id="{1586B9D5-0714-C453-BF23-634EFB6E39F7}"/>
              </a:ext>
              <a:ext uri="{C183D7F6-B498-43B3-948B-1728B52AA6E4}">
                <adec:decorative xmlns:adec="http://schemas.microsoft.com/office/drawing/2017/decorative" val="1"/>
              </a:ext>
            </a:extLst>
          </p:cNvPr>
          <p:cNvSpPr>
            <a:spLocks noGrp="1"/>
          </p:cNvSpPr>
          <p:nvPr>
            <p:ph type="body" sz="quarter" idx="11"/>
          </p:nvPr>
        </p:nvSpPr>
        <p:spPr>
          <a:xfrm>
            <a:off x="6658975" y="2832927"/>
            <a:ext cx="1061883" cy="1071562"/>
          </a:xfrm>
        </p:spPr>
        <p:txBody>
          <a:bodyPr/>
          <a:lstStyle/>
          <a:p>
            <a:pPr marL="0" indent="0">
              <a:buNone/>
            </a:pPr>
            <a:r>
              <a:rPr lang="en-US" sz="7500" b="1" dirty="0">
                <a:solidFill>
                  <a:srgbClr val="000000"/>
                </a:solidFill>
                <a:latin typeface="Calibri" panose="020F0502020204030204" pitchFamily="34" charset="0"/>
                <a:ea typeface="Calibri" panose="020F0502020204030204" pitchFamily="34" charset="0"/>
                <a:cs typeface="Calibri" panose="020F0502020204030204" pitchFamily="34" charset="0"/>
              </a:rPr>
              <a:t>1</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extLst>
      <p:ext uri="{BB962C8B-B14F-4D97-AF65-F5344CB8AC3E}">
        <p14:creationId xmlns:p14="http://schemas.microsoft.com/office/powerpoint/2010/main" val="35450964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73B6511-319C-24C4-E798-AB7E16128256}"/>
              </a:ext>
            </a:extLst>
          </p:cNvPr>
          <p:cNvSpPr>
            <a:spLocks noGrp="1"/>
          </p:cNvSpPr>
          <p:nvPr>
            <p:ph type="title" idx="4294967295"/>
          </p:nvPr>
        </p:nvSpPr>
        <p:spPr>
          <a:xfrm>
            <a:off x="838200" y="-339634"/>
            <a:ext cx="10514013" cy="339634"/>
          </a:xfrm>
          <a:prstGeom prst="rect">
            <a:avLst/>
          </a:prstGeom>
        </p:spPr>
        <p:txBody>
          <a:bodyPr anchor="b"/>
          <a:lstStyle/>
          <a:p>
            <a:r>
              <a:rPr lang="en-US" sz="2000" dirty="0">
                <a:solidFill>
                  <a:schemeClr val="bg2"/>
                </a:solidFill>
              </a:rPr>
              <a:t>Getting Started</a:t>
            </a:r>
          </a:p>
        </p:txBody>
      </p:sp>
      <p:sp>
        <p:nvSpPr>
          <p:cNvPr id="2" name="Text Placeholder 1" descr="5 to 10 minutes">
            <a:extLst>
              <a:ext uri="{FF2B5EF4-FFF2-40B4-BE49-F238E27FC236}">
                <a16:creationId xmlns:a16="http://schemas.microsoft.com/office/drawing/2014/main" id="{461C201E-12AD-57EF-47E5-2D96E6063E25}"/>
              </a:ext>
            </a:extLst>
          </p:cNvPr>
          <p:cNvSpPr>
            <a:spLocks noGrp="1"/>
          </p:cNvSpPr>
          <p:nvPr>
            <p:ph type="body" sz="quarter" idx="12"/>
          </p:nvPr>
        </p:nvSpPr>
        <p:spPr>
          <a:xfrm>
            <a:off x="10614990" y="5779693"/>
            <a:ext cx="863947" cy="795338"/>
          </a:xfrm>
        </p:spPr>
        <p:txBody>
          <a:bodyPr/>
          <a:lstStyle/>
          <a:p>
            <a:r>
              <a:rPr lang="en-US" b="1" dirty="0"/>
              <a:t>5–10</a:t>
            </a:r>
          </a:p>
        </p:txBody>
      </p:sp>
      <p:sp>
        <p:nvSpPr>
          <p:cNvPr id="1003" name="Slide Number 100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
        <p:nvSpPr>
          <p:cNvPr id="1005" name="Answer 1005"/>
          <p:cNvSpPr txBox="1"/>
          <p:nvPr/>
        </p:nvSpPr>
        <p:spPr>
          <a:xfrm>
            <a:off x="1016000" y="952500"/>
            <a:ext cx="10160000" cy="762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4400" b="1" dirty="0">
                <a:solidFill>
                  <a:srgbClr val="2E7D3C"/>
                </a:solidFill>
              </a:rPr>
              <a:t>★ Essential activity: do not skip</a:t>
            </a:r>
          </a:p>
        </p:txBody>
      </p:sp>
    </p:spTree>
    <p:extLst>
      <p:ext uri="{BB962C8B-B14F-4D97-AF65-F5344CB8AC3E}">
        <p14:creationId xmlns:p14="http://schemas.microsoft.com/office/powerpoint/2010/main" val="37196198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9FD0B2-A9E7-0A4C-CC80-65AF82D6DF2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962E77F-B1D6-40AE-592B-5BAB37399846}"/>
              </a:ext>
            </a:extLst>
          </p:cNvPr>
          <p:cNvSpPr>
            <a:spLocks noGrp="1"/>
          </p:cNvSpPr>
          <p:nvPr>
            <p:ph type="title"/>
          </p:nvPr>
        </p:nvSpPr>
        <p:spPr/>
        <p:txBody>
          <a:bodyPr/>
          <a:lstStyle/>
          <a:p>
            <a:pPr algn="l"/>
            <a:r>
              <a:rPr lang="en-US" b="1" dirty="0"/>
              <a:t>Hey, I Remember This! </a:t>
            </a:r>
            <a:r>
              <a:rPr lang="en-US" sz="2000" b="1" dirty="0">
                <a:solidFill>
                  <a:schemeClr val="bg1"/>
                </a:solidFill>
              </a:rPr>
              <a:t>(1 of 4)</a:t>
            </a:r>
          </a:p>
        </p:txBody>
      </p:sp>
      <p:sp>
        <p:nvSpPr>
          <p:cNvPr id="2" name="TextBox 1">
            <a:extLst>
              <a:ext uri="{FF2B5EF4-FFF2-40B4-BE49-F238E27FC236}">
                <a16:creationId xmlns:a16="http://schemas.microsoft.com/office/drawing/2014/main" id="{3481816B-0AB6-B7C3-67C6-B5D422E2A58E}"/>
              </a:ext>
            </a:extLst>
          </p:cNvPr>
          <p:cNvSpPr txBox="1"/>
          <p:nvPr/>
        </p:nvSpPr>
        <p:spPr>
          <a:xfrm>
            <a:off x="777240" y="1644636"/>
            <a:ext cx="11214463" cy="523220"/>
          </a:xfrm>
          <a:prstGeom prst="rect">
            <a:avLst/>
          </a:prstGeom>
          <a:noFill/>
        </p:spPr>
        <p:txBody>
          <a:bodyPr wrap="square" rtlCol="0">
            <a:spAutoFit/>
          </a:bodyPr>
          <a:lstStyle/>
          <a:p>
            <a:r>
              <a:rPr lang="en-US" sz="2800" dirty="0">
                <a:solidFill>
                  <a:srgbClr val="000000"/>
                </a:solidFill>
              </a:rPr>
              <a:t>Graph each linear function and describe the key characteristics of the graph.</a:t>
            </a:r>
          </a:p>
        </p:txBody>
      </p:sp>
      <mc:AlternateContent xmlns:mc="http://schemas.openxmlformats.org/markup-compatibility/2006" xmlns:a14="http://schemas.microsoft.com/office/drawing/2010/main">
        <mc:Choice Requires="a14">
          <p:sp>
            <p:nvSpPr>
              <p:cNvPr id="9" name="Text Placeholder 2">
                <a:extLst>
                  <a:ext uri="{FF2B5EF4-FFF2-40B4-BE49-F238E27FC236}">
                    <a16:creationId xmlns:a16="http://schemas.microsoft.com/office/drawing/2014/main" id="{88A40426-95CC-EF9E-540F-D1B1DE38C8D6}"/>
                  </a:ext>
                </a:extLst>
              </p:cNvPr>
              <p:cNvSpPr txBox="1">
                <a:spLocks/>
              </p:cNvSpPr>
              <p:nvPr/>
            </p:nvSpPr>
            <p:spPr>
              <a:xfrm>
                <a:off x="777240" y="2318655"/>
                <a:ext cx="5317967" cy="4090853"/>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457200" indent="-457200" algn="l">
                  <a:buFont typeface="+mj-lt"/>
                  <a:buAutoNum type="arabicPeriod"/>
                </a:pPr>
                <a:r>
                  <a:rPr lang="nn-NO" sz="2800" dirty="0">
                    <a:solidFill>
                      <a:srgbClr val="000000"/>
                    </a:solidFill>
                  </a:rPr>
                  <a:t> </a:t>
                </a:r>
                <a14:m>
                  <m:oMath xmlns:m="http://schemas.openxmlformats.org/officeDocument/2006/math">
                    <m:r>
                      <a:rPr lang="nn-NO" sz="2800" i="1" dirty="0" smtClean="0">
                        <a:solidFill>
                          <a:srgbClr val="000000"/>
                        </a:solidFill>
                        <a:latin typeface="Cambria Math" panose="02040503050406030204" pitchFamily="18" charset="0"/>
                      </a:rPr>
                      <m:t>𝑔</m:t>
                    </m:r>
                    <m:r>
                      <a:rPr lang="nn-NO" sz="2800" i="1" dirty="0" smtClean="0">
                        <a:solidFill>
                          <a:srgbClr val="000000"/>
                        </a:solidFill>
                        <a:latin typeface="Cambria Math" panose="02040503050406030204" pitchFamily="18" charset="0"/>
                      </a:rPr>
                      <m:t>(</m:t>
                    </m:r>
                    <m:r>
                      <a:rPr lang="nn-NO" sz="2800" i="1" dirty="0" smtClean="0">
                        <a:solidFill>
                          <a:srgbClr val="000000"/>
                        </a:solidFill>
                        <a:latin typeface="Cambria Math" panose="02040503050406030204" pitchFamily="18" charset="0"/>
                      </a:rPr>
                      <m:t>𝑥</m:t>
                    </m:r>
                    <m:r>
                      <a:rPr lang="nn-NO" sz="2800" i="1" dirty="0" smtClean="0">
                        <a:solidFill>
                          <a:srgbClr val="000000"/>
                        </a:solidFill>
                        <a:latin typeface="Cambria Math" panose="02040503050406030204" pitchFamily="18" charset="0"/>
                      </a:rPr>
                      <m:t>)=3</m:t>
                    </m:r>
                    <m:r>
                      <a:rPr lang="nn-NO" sz="2800" i="1" dirty="0" smtClean="0">
                        <a:solidFill>
                          <a:srgbClr val="000000"/>
                        </a:solidFill>
                        <a:latin typeface="Cambria Math" panose="02040503050406030204" pitchFamily="18" charset="0"/>
                      </a:rPr>
                      <m:t>𝑥</m:t>
                    </m:r>
                    <m:r>
                      <a:rPr lang="nn-NO" sz="2800" i="1" dirty="0" smtClean="0">
                        <a:solidFill>
                          <a:srgbClr val="000000"/>
                        </a:solidFill>
                        <a:latin typeface="Cambria Math" panose="02040503050406030204" pitchFamily="18" charset="0"/>
                      </a:rPr>
                      <m:t>−8</m:t>
                    </m:r>
                  </m:oMath>
                </a14:m>
                <a:endParaRPr lang="nn-NO" sz="2800" dirty="0">
                  <a:solidFill>
                    <a:srgbClr val="000000"/>
                  </a:solidFill>
                </a:endParaRPr>
              </a:p>
              <a:p>
                <a:pPr marL="514350" indent="0" algn="l">
                  <a:buNone/>
                </a:pPr>
                <a:r>
                  <a:rPr lang="en-US" sz="2800" dirty="0">
                    <a:solidFill>
                      <a:srgbClr val="000000"/>
                    </a:solidFill>
                  </a:rPr>
                  <a:t>Domain: ______________</a:t>
                </a:r>
                <a:br>
                  <a:rPr lang="en-US" sz="2800" dirty="0">
                    <a:solidFill>
                      <a:srgbClr val="000000"/>
                    </a:solidFill>
                  </a:rPr>
                </a:br>
                <a:r>
                  <a:rPr lang="en-US" sz="2800" dirty="0">
                    <a:solidFill>
                      <a:srgbClr val="000000"/>
                    </a:solidFill>
                  </a:rPr>
                  <a:t>Range: _______________</a:t>
                </a:r>
                <a:br>
                  <a:rPr lang="en-US" sz="2800" dirty="0">
                    <a:solidFill>
                      <a:srgbClr val="000000"/>
                    </a:solidFill>
                  </a:rPr>
                </a:br>
                <a:r>
                  <a:rPr lang="en-US" sz="2800" i="1" dirty="0">
                    <a:solidFill>
                      <a:srgbClr val="000000"/>
                    </a:solidFill>
                  </a:rPr>
                  <a:t>x</a:t>
                </a:r>
                <a:r>
                  <a:rPr lang="en-US" sz="2800" dirty="0">
                    <a:solidFill>
                      <a:srgbClr val="000000"/>
                    </a:solidFill>
                  </a:rPr>
                  <a:t>-intercept: __________</a:t>
                </a:r>
                <a:br>
                  <a:rPr lang="en-US" sz="2800" dirty="0">
                    <a:solidFill>
                      <a:srgbClr val="000000"/>
                    </a:solidFill>
                  </a:rPr>
                </a:br>
                <a:r>
                  <a:rPr lang="en-US" sz="2800" i="1" dirty="0">
                    <a:solidFill>
                      <a:srgbClr val="000000"/>
                    </a:solidFill>
                  </a:rPr>
                  <a:t>y</a:t>
                </a:r>
                <a:r>
                  <a:rPr lang="en-US" sz="2800" dirty="0">
                    <a:solidFill>
                      <a:srgbClr val="000000"/>
                    </a:solidFill>
                  </a:rPr>
                  <a:t>-intercept: __________</a:t>
                </a:r>
                <a:br>
                  <a:rPr lang="en-US" sz="2800" dirty="0">
                    <a:solidFill>
                      <a:srgbClr val="000000"/>
                    </a:solidFill>
                  </a:rPr>
                </a:br>
                <a:r>
                  <a:rPr lang="en-US" sz="2800" dirty="0">
                    <a:solidFill>
                      <a:srgbClr val="000000"/>
                    </a:solidFill>
                  </a:rPr>
                  <a:t>Slope: _________</a:t>
                </a:r>
                <a:br>
                  <a:rPr lang="en-US" sz="2800" dirty="0">
                    <a:solidFill>
                      <a:srgbClr val="000000"/>
                    </a:solidFill>
                  </a:rPr>
                </a:br>
                <a:r>
                  <a:rPr lang="en-US" sz="2800" dirty="0">
                    <a:solidFill>
                      <a:srgbClr val="000000"/>
                    </a:solidFill>
                  </a:rPr>
                  <a:t>Increasing/Decreasing:</a:t>
                </a:r>
                <a:br>
                  <a:rPr lang="en-US" sz="2800" dirty="0">
                    <a:solidFill>
                      <a:srgbClr val="000000"/>
                    </a:solidFill>
                  </a:rPr>
                </a:br>
                <a:r>
                  <a:rPr lang="en-US" sz="2800" dirty="0">
                    <a:solidFill>
                      <a:srgbClr val="000000"/>
                    </a:solidFill>
                  </a:rPr>
                  <a:t>___________________</a:t>
                </a:r>
              </a:p>
            </p:txBody>
          </p:sp>
        </mc:Choice>
        <mc:Fallback xmlns="">
          <p:sp>
            <p:nvSpPr>
              <p:cNvPr id="9" name="Text Placeholder 2">
                <a:extLst>
                  <a:ext uri="{FF2B5EF4-FFF2-40B4-BE49-F238E27FC236}">
                    <a16:creationId xmlns:a16="http://schemas.microsoft.com/office/drawing/2014/main" id="{88A40426-95CC-EF9E-540F-D1B1DE38C8D6}"/>
                  </a:ext>
                </a:extLst>
              </p:cNvPr>
              <p:cNvSpPr txBox="1">
                <a:spLocks noRot="1" noChangeAspect="1" noMove="1" noResize="1" noEditPoints="1" noAdjustHandles="1" noChangeArrowheads="1" noChangeShapeType="1" noTextEdit="1"/>
              </p:cNvSpPr>
              <p:nvPr/>
            </p:nvSpPr>
            <p:spPr>
              <a:xfrm>
                <a:off x="777240" y="2318655"/>
                <a:ext cx="5317967" cy="4090853"/>
              </a:xfrm>
              <a:prstGeom prst="rect">
                <a:avLst/>
              </a:prstGeom>
              <a:blipFill>
                <a:blip r:embed="rId3"/>
                <a:stretch>
                  <a:fillRect l="-2408" t="-1490"/>
                </a:stretch>
              </a:blipFill>
            </p:spPr>
            <p:txBody>
              <a:bodyPr/>
              <a:lstStyle/>
              <a:p>
                <a:r>
                  <a:rPr lang="en-US">
                    <a:noFill/>
                  </a:rPr>
                  <a:t> </a:t>
                </a:r>
              </a:p>
            </p:txBody>
          </p:sp>
        </mc:Fallback>
      </mc:AlternateContent>
      <p:pic>
        <p:nvPicPr>
          <p:cNvPr id="6" name="Picture 5" descr="A coordinate plane.">
            <a:extLst>
              <a:ext uri="{FF2B5EF4-FFF2-40B4-BE49-F238E27FC236}">
                <a16:creationId xmlns:a16="http://schemas.microsoft.com/office/drawing/2014/main" id="{4B431B2F-302D-41F7-03F4-A9D2AA29A29A}"/>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6175762" y="2456369"/>
            <a:ext cx="3897829" cy="3815423"/>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288</a:t>
            </a:r>
          </a:p>
        </p:txBody>
      </p:sp>
      <p:sp>
        <p:nvSpPr>
          <p:cNvPr id="1011" name="Answer 1011"/>
          <p:cNvSpPr txBox="1"/>
          <p:nvPr/>
        </p:nvSpPr>
        <p:spPr>
          <a:xfrm>
            <a:off x="10160000" y="3429000"/>
            <a:ext cx="1905000" cy="63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Domain:</a:t>
            </a:r>
          </a:p>
          <a:p>
            <a:pPr marL="0" indent="0" algn="l">
              <a:spcBef>
                <a:spcPts val="0"/>
              </a:spcBef>
              <a:spcAft>
                <a:spcPts val="300"/>
              </a:spcAft>
              <a:buNone/>
            </a:pPr>
            <a:r>
              <a:rPr lang="en-US" sz="1800" dirty="0">
                <a:solidFill>
                  <a:srgbClr val="FF0000"/>
                </a:solidFill>
              </a:rPr>
              <a:t>all real numbers</a:t>
            </a:r>
          </a:p>
        </p:txBody>
      </p:sp>
      <p:sp>
        <p:nvSpPr>
          <p:cNvPr id="1012" name="Answer 1012"/>
          <p:cNvSpPr txBox="1"/>
          <p:nvPr/>
        </p:nvSpPr>
        <p:spPr>
          <a:xfrm>
            <a:off x="10160000" y="4127500"/>
            <a:ext cx="1905000" cy="63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Range:</a:t>
            </a:r>
          </a:p>
          <a:p>
            <a:pPr marL="0" indent="0" algn="l">
              <a:spcBef>
                <a:spcPts val="0"/>
              </a:spcBef>
              <a:spcAft>
                <a:spcPts val="300"/>
              </a:spcAft>
              <a:buNone/>
            </a:pPr>
            <a:r>
              <a:rPr lang="en-US" sz="1800" dirty="0">
                <a:solidFill>
                  <a:srgbClr val="FF0000"/>
                </a:solidFill>
              </a:rPr>
              <a:t>all real numbers</a:t>
            </a:r>
          </a:p>
        </p:txBody>
      </p:sp>
      <p:sp>
        <p:nvSpPr>
          <p:cNvPr id="1013" name="Answer 1013"/>
          <p:cNvSpPr txBox="1"/>
          <p:nvPr/>
        </p:nvSpPr>
        <p:spPr>
          <a:xfrm>
            <a:off x="5080000" y="3708400"/>
            <a:ext cx="10795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(8/3, 0)</a:t>
            </a:r>
          </a:p>
        </p:txBody>
      </p:sp>
      <p:sp>
        <p:nvSpPr>
          <p:cNvPr id="1014" name="Answer 1014"/>
          <p:cNvSpPr txBox="1"/>
          <p:nvPr/>
        </p:nvSpPr>
        <p:spPr>
          <a:xfrm>
            <a:off x="5080000" y="4140200"/>
            <a:ext cx="10795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(0, −8)</a:t>
            </a:r>
          </a:p>
        </p:txBody>
      </p:sp>
      <p:sp>
        <p:nvSpPr>
          <p:cNvPr id="1015" name="Answer 1015"/>
          <p:cNvSpPr txBox="1"/>
          <p:nvPr/>
        </p:nvSpPr>
        <p:spPr>
          <a:xfrm>
            <a:off x="4127500" y="4572000"/>
            <a:ext cx="9525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3</a:t>
            </a:r>
          </a:p>
        </p:txBody>
      </p:sp>
      <p:sp>
        <p:nvSpPr>
          <p:cNvPr id="1016" name="Answer 1016"/>
          <p:cNvSpPr txBox="1"/>
          <p:nvPr/>
        </p:nvSpPr>
        <p:spPr>
          <a:xfrm>
            <a:off x="4889500" y="5397500"/>
            <a:ext cx="12700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Increasing</a:t>
            </a:r>
          </a:p>
        </p:txBody>
      </p:sp>
      <p:sp>
        <p:nvSpPr>
          <p:cNvPr id="1017" name="Answer 1017"/>
          <p:cNvSpPr txBox="1"/>
          <p:nvPr/>
        </p:nvSpPr>
        <p:spPr>
          <a:xfrm>
            <a:off x="10160000" y="2514600"/>
            <a:ext cx="1905000" cy="9017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Graph g(x): through (0, −8) and (3, 1)</a:t>
            </a:r>
          </a:p>
        </p:txBody>
      </p:sp>
    </p:spTree>
    <p:extLst>
      <p:ext uri="{BB962C8B-B14F-4D97-AF65-F5344CB8AC3E}">
        <p14:creationId xmlns:p14="http://schemas.microsoft.com/office/powerpoint/2010/main" val="258230979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1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01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016"/>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0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22ED9F-6361-2E50-5D71-3BE9E2DB2A2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AF2B23D-B515-6146-13AA-6C8F3849BAD7}"/>
              </a:ext>
            </a:extLst>
          </p:cNvPr>
          <p:cNvSpPr>
            <a:spLocks noGrp="1"/>
          </p:cNvSpPr>
          <p:nvPr>
            <p:ph type="title"/>
          </p:nvPr>
        </p:nvSpPr>
        <p:spPr/>
        <p:txBody>
          <a:bodyPr/>
          <a:lstStyle/>
          <a:p>
            <a:pPr algn="l"/>
            <a:r>
              <a:rPr lang="en-US" b="1" dirty="0"/>
              <a:t>Hey, I Remember This! </a:t>
            </a:r>
            <a:r>
              <a:rPr lang="en-US" sz="2000" b="1" dirty="0">
                <a:solidFill>
                  <a:schemeClr val="bg1"/>
                </a:solidFill>
              </a:rPr>
              <a:t>(2 of 4)</a:t>
            </a:r>
          </a:p>
        </p:txBody>
      </p:sp>
      <mc:AlternateContent xmlns:mc="http://schemas.openxmlformats.org/markup-compatibility/2006" xmlns:a14="http://schemas.microsoft.com/office/drawing/2010/main">
        <mc:Choice Requires="a14">
          <p:sp>
            <p:nvSpPr>
              <p:cNvPr id="9" name="Text Placeholder 2">
                <a:extLst>
                  <a:ext uri="{FF2B5EF4-FFF2-40B4-BE49-F238E27FC236}">
                    <a16:creationId xmlns:a16="http://schemas.microsoft.com/office/drawing/2014/main" id="{C2FA9ABC-48BD-8140-C744-48CF8348875E}"/>
                  </a:ext>
                </a:extLst>
              </p:cNvPr>
              <p:cNvSpPr txBox="1">
                <a:spLocks/>
              </p:cNvSpPr>
              <p:nvPr/>
            </p:nvSpPr>
            <p:spPr>
              <a:xfrm>
                <a:off x="777240" y="1611086"/>
                <a:ext cx="5317967" cy="391885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457200" indent="-457200" algn="l">
                  <a:buFont typeface="+mj-lt"/>
                  <a:buAutoNum type="arabicPeriod" startAt="2"/>
                </a:pPr>
                <a:r>
                  <a:rPr lang="en-US" sz="2800" b="0" dirty="0">
                    <a:solidFill>
                      <a:srgbClr val="000000"/>
                    </a:solidFill>
                  </a:rPr>
                  <a:t> </a:t>
                </a:r>
                <a14:m>
                  <m:oMath xmlns:m="http://schemas.openxmlformats.org/officeDocument/2006/math">
                    <m:r>
                      <a:rPr lang="en-US" sz="2800" b="0" i="1" dirty="0" smtClean="0">
                        <a:solidFill>
                          <a:srgbClr val="000000"/>
                        </a:solidFill>
                        <a:latin typeface="Cambria Math" panose="02040503050406030204" pitchFamily="18" charset="0"/>
                      </a:rPr>
                      <m:t>h</m:t>
                    </m:r>
                    <m:d>
                      <m:dPr>
                        <m:ctrlPr>
                          <a:rPr lang="nn-NO" sz="2800" b="0" i="1" dirty="0" smtClean="0">
                            <a:solidFill>
                              <a:srgbClr val="000000"/>
                            </a:solidFill>
                            <a:latin typeface="Cambria Math" panose="02040503050406030204" pitchFamily="18" charset="0"/>
                          </a:rPr>
                        </m:ctrlPr>
                      </m:dPr>
                      <m:e>
                        <m:r>
                          <a:rPr lang="nn-NO" sz="2800" i="1" dirty="0" smtClean="0">
                            <a:solidFill>
                              <a:srgbClr val="000000"/>
                            </a:solidFill>
                            <a:latin typeface="Cambria Math" panose="02040503050406030204" pitchFamily="18" charset="0"/>
                          </a:rPr>
                          <m:t>𝑥</m:t>
                        </m:r>
                      </m:e>
                    </m:d>
                    <m:r>
                      <a:rPr lang="nn-NO" sz="2800" i="1" dirty="0" smtClean="0">
                        <a:solidFill>
                          <a:srgbClr val="000000"/>
                        </a:solidFill>
                        <a:latin typeface="Cambria Math" panose="02040503050406030204" pitchFamily="18" charset="0"/>
                      </a:rPr>
                      <m:t>=</m:t>
                    </m:r>
                    <m:r>
                      <a:rPr lang="en-US" sz="2800" b="0" i="1" dirty="0" smtClean="0">
                        <a:solidFill>
                          <a:srgbClr val="000000"/>
                        </a:solidFill>
                        <a:latin typeface="Cambria Math" panose="02040503050406030204" pitchFamily="18" charset="0"/>
                      </a:rPr>
                      <m:t>−</m:t>
                    </m:r>
                    <m:f>
                      <m:fPr>
                        <m:ctrlPr>
                          <a:rPr lang="nn-NO" sz="2800" i="1" dirty="0" smtClean="0">
                            <a:solidFill>
                              <a:srgbClr val="000000"/>
                            </a:solidFill>
                            <a:latin typeface="Cambria Math" panose="02040503050406030204" pitchFamily="18" charset="0"/>
                          </a:rPr>
                        </m:ctrlPr>
                      </m:fPr>
                      <m:num>
                        <m:r>
                          <a:rPr lang="en-US" sz="2800" b="0" i="1" dirty="0" smtClean="0">
                            <a:solidFill>
                              <a:srgbClr val="000000"/>
                            </a:solidFill>
                            <a:latin typeface="Cambria Math" panose="02040503050406030204" pitchFamily="18" charset="0"/>
                          </a:rPr>
                          <m:t>2</m:t>
                        </m:r>
                      </m:num>
                      <m:den>
                        <m:r>
                          <a:rPr lang="en-US" sz="2800" b="0" i="1" dirty="0" smtClean="0">
                            <a:solidFill>
                              <a:srgbClr val="000000"/>
                            </a:solidFill>
                            <a:latin typeface="Cambria Math" panose="02040503050406030204" pitchFamily="18" charset="0"/>
                          </a:rPr>
                          <m:t>3</m:t>
                        </m:r>
                      </m:den>
                    </m:f>
                    <m:r>
                      <a:rPr lang="en-US" sz="2800" b="0" i="1" dirty="0" smtClean="0">
                        <a:solidFill>
                          <a:srgbClr val="000000"/>
                        </a:solidFill>
                        <a:latin typeface="Cambria Math" panose="02040503050406030204" pitchFamily="18" charset="0"/>
                      </a:rPr>
                      <m:t>𝑥</m:t>
                    </m:r>
                    <m:r>
                      <a:rPr lang="en-US" sz="2800" b="0" i="1" dirty="0" smtClean="0">
                        <a:solidFill>
                          <a:srgbClr val="000000"/>
                        </a:solidFill>
                        <a:latin typeface="Cambria Math" panose="02040503050406030204" pitchFamily="18" charset="0"/>
                      </a:rPr>
                      <m:t>+5</m:t>
                    </m:r>
                  </m:oMath>
                </a14:m>
                <a:endParaRPr lang="nn-NO" sz="2800" dirty="0">
                  <a:solidFill>
                    <a:srgbClr val="000000"/>
                  </a:solidFill>
                </a:endParaRPr>
              </a:p>
              <a:p>
                <a:pPr marL="514350" indent="0" algn="l">
                  <a:buNone/>
                </a:pPr>
                <a:r>
                  <a:rPr lang="en-US" sz="2800" dirty="0">
                    <a:solidFill>
                      <a:srgbClr val="000000"/>
                    </a:solidFill>
                  </a:rPr>
                  <a:t>Domain: ______________</a:t>
                </a:r>
                <a:br>
                  <a:rPr lang="en-US" sz="2800" dirty="0">
                    <a:solidFill>
                      <a:srgbClr val="000000"/>
                    </a:solidFill>
                  </a:rPr>
                </a:br>
                <a:r>
                  <a:rPr lang="en-US" sz="2800" dirty="0">
                    <a:solidFill>
                      <a:srgbClr val="000000"/>
                    </a:solidFill>
                  </a:rPr>
                  <a:t>Range: _______________</a:t>
                </a:r>
                <a:br>
                  <a:rPr lang="en-US" sz="2800" dirty="0">
                    <a:solidFill>
                      <a:srgbClr val="000000"/>
                    </a:solidFill>
                  </a:rPr>
                </a:br>
                <a:r>
                  <a:rPr lang="en-US" sz="2800" i="1" dirty="0">
                    <a:solidFill>
                      <a:srgbClr val="000000"/>
                    </a:solidFill>
                  </a:rPr>
                  <a:t>x</a:t>
                </a:r>
                <a:r>
                  <a:rPr lang="en-US" sz="2800" dirty="0">
                    <a:solidFill>
                      <a:srgbClr val="000000"/>
                    </a:solidFill>
                  </a:rPr>
                  <a:t>-intercept: __________</a:t>
                </a:r>
                <a:br>
                  <a:rPr lang="en-US" sz="2800" dirty="0">
                    <a:solidFill>
                      <a:srgbClr val="000000"/>
                    </a:solidFill>
                  </a:rPr>
                </a:br>
                <a:r>
                  <a:rPr lang="en-US" sz="2800" i="1" dirty="0">
                    <a:solidFill>
                      <a:srgbClr val="000000"/>
                    </a:solidFill>
                  </a:rPr>
                  <a:t>y</a:t>
                </a:r>
                <a:r>
                  <a:rPr lang="en-US" sz="2800" dirty="0">
                    <a:solidFill>
                      <a:srgbClr val="000000"/>
                    </a:solidFill>
                  </a:rPr>
                  <a:t>-intercept: __________</a:t>
                </a:r>
                <a:br>
                  <a:rPr lang="en-US" sz="2800" dirty="0">
                    <a:solidFill>
                      <a:srgbClr val="000000"/>
                    </a:solidFill>
                  </a:rPr>
                </a:br>
                <a:r>
                  <a:rPr lang="en-US" sz="2800" dirty="0">
                    <a:solidFill>
                      <a:srgbClr val="000000"/>
                    </a:solidFill>
                  </a:rPr>
                  <a:t>Slope: _________</a:t>
                </a:r>
                <a:br>
                  <a:rPr lang="en-US" sz="2800" dirty="0">
                    <a:solidFill>
                      <a:srgbClr val="000000"/>
                    </a:solidFill>
                  </a:rPr>
                </a:br>
                <a:r>
                  <a:rPr lang="en-US" sz="2800" dirty="0">
                    <a:solidFill>
                      <a:srgbClr val="000000"/>
                    </a:solidFill>
                  </a:rPr>
                  <a:t>Increasing/Decreasing:</a:t>
                </a:r>
                <a:br>
                  <a:rPr lang="en-US" sz="2800" dirty="0">
                    <a:solidFill>
                      <a:srgbClr val="000000"/>
                    </a:solidFill>
                  </a:rPr>
                </a:br>
                <a:r>
                  <a:rPr lang="en-US" sz="2800" dirty="0">
                    <a:solidFill>
                      <a:srgbClr val="000000"/>
                    </a:solidFill>
                  </a:rPr>
                  <a:t>___________________</a:t>
                </a:r>
              </a:p>
            </p:txBody>
          </p:sp>
        </mc:Choice>
        <mc:Fallback xmlns="">
          <p:sp>
            <p:nvSpPr>
              <p:cNvPr id="9" name="Text Placeholder 2">
                <a:extLst>
                  <a:ext uri="{FF2B5EF4-FFF2-40B4-BE49-F238E27FC236}">
                    <a16:creationId xmlns:a16="http://schemas.microsoft.com/office/drawing/2014/main" id="{C2FA9ABC-48BD-8140-C744-48CF8348875E}"/>
                  </a:ext>
                </a:extLst>
              </p:cNvPr>
              <p:cNvSpPr txBox="1">
                <a:spLocks noRot="1" noChangeAspect="1" noMove="1" noResize="1" noEditPoints="1" noAdjustHandles="1" noChangeArrowheads="1" noChangeShapeType="1" noTextEdit="1"/>
              </p:cNvSpPr>
              <p:nvPr/>
            </p:nvSpPr>
            <p:spPr>
              <a:xfrm>
                <a:off x="777240" y="1611086"/>
                <a:ext cx="5317967" cy="3918857"/>
              </a:xfrm>
              <a:prstGeom prst="rect">
                <a:avLst/>
              </a:prstGeom>
              <a:blipFill>
                <a:blip r:embed="rId3"/>
                <a:stretch>
                  <a:fillRect l="-2408" b="-933"/>
                </a:stretch>
              </a:blipFill>
            </p:spPr>
            <p:txBody>
              <a:bodyPr/>
              <a:lstStyle/>
              <a:p>
                <a:r>
                  <a:rPr lang="en-US">
                    <a:noFill/>
                  </a:rPr>
                  <a:t> </a:t>
                </a:r>
              </a:p>
            </p:txBody>
          </p:sp>
        </mc:Fallback>
      </mc:AlternateContent>
      <p:pic>
        <p:nvPicPr>
          <p:cNvPr id="6" name="Picture 5" descr="A coordinate plane.">
            <a:extLst>
              <a:ext uri="{FF2B5EF4-FFF2-40B4-BE49-F238E27FC236}">
                <a16:creationId xmlns:a16="http://schemas.microsoft.com/office/drawing/2014/main" id="{A131305C-5B56-C143-184B-6F72480AA1AA}"/>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6095206" y="1662802"/>
            <a:ext cx="3897829" cy="3815423"/>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288</a:t>
            </a:r>
          </a:p>
        </p:txBody>
      </p:sp>
      <p:sp>
        <p:nvSpPr>
          <p:cNvPr id="1011" name="Answer 1011"/>
          <p:cNvSpPr txBox="1"/>
          <p:nvPr/>
        </p:nvSpPr>
        <p:spPr>
          <a:xfrm>
            <a:off x="10096500" y="2540000"/>
            <a:ext cx="1968500" cy="63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Domain:</a:t>
            </a:r>
          </a:p>
          <a:p>
            <a:pPr marL="0" indent="0" algn="l">
              <a:spcBef>
                <a:spcPts val="0"/>
              </a:spcBef>
              <a:spcAft>
                <a:spcPts val="300"/>
              </a:spcAft>
              <a:buNone/>
            </a:pPr>
            <a:r>
              <a:rPr lang="en-US" sz="1800" dirty="0">
                <a:solidFill>
                  <a:srgbClr val="FF0000"/>
                </a:solidFill>
              </a:rPr>
              <a:t>all real numbers</a:t>
            </a:r>
          </a:p>
        </p:txBody>
      </p:sp>
      <p:sp>
        <p:nvSpPr>
          <p:cNvPr id="1012" name="Answer 1012"/>
          <p:cNvSpPr txBox="1"/>
          <p:nvPr/>
        </p:nvSpPr>
        <p:spPr>
          <a:xfrm>
            <a:off x="10096500" y="3238500"/>
            <a:ext cx="1968500" cy="63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Range:</a:t>
            </a:r>
          </a:p>
          <a:p>
            <a:pPr marL="0" indent="0" algn="l">
              <a:spcBef>
                <a:spcPts val="0"/>
              </a:spcBef>
              <a:spcAft>
                <a:spcPts val="300"/>
              </a:spcAft>
              <a:buNone/>
            </a:pPr>
            <a:r>
              <a:rPr lang="en-US" sz="1800" dirty="0">
                <a:solidFill>
                  <a:srgbClr val="FF0000"/>
                </a:solidFill>
              </a:rPr>
              <a:t>all real numbers</a:t>
            </a:r>
          </a:p>
        </p:txBody>
      </p:sp>
      <p:sp>
        <p:nvSpPr>
          <p:cNvPr id="1013" name="Answer 1013"/>
          <p:cNvSpPr txBox="1"/>
          <p:nvPr/>
        </p:nvSpPr>
        <p:spPr>
          <a:xfrm>
            <a:off x="5080000" y="3187700"/>
            <a:ext cx="10160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(7.5, 0)</a:t>
            </a:r>
          </a:p>
        </p:txBody>
      </p:sp>
      <p:sp>
        <p:nvSpPr>
          <p:cNvPr id="1014" name="Answer 1014"/>
          <p:cNvSpPr txBox="1"/>
          <p:nvPr/>
        </p:nvSpPr>
        <p:spPr>
          <a:xfrm>
            <a:off x="5080000" y="3619500"/>
            <a:ext cx="10160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(0, 5)</a:t>
            </a:r>
          </a:p>
        </p:txBody>
      </p:sp>
      <p:sp>
        <p:nvSpPr>
          <p:cNvPr id="1015" name="Answer 1015"/>
          <p:cNvSpPr txBox="1"/>
          <p:nvPr/>
        </p:nvSpPr>
        <p:spPr>
          <a:xfrm>
            <a:off x="4127500" y="4051300"/>
            <a:ext cx="9525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−2/3</a:t>
            </a:r>
          </a:p>
        </p:txBody>
      </p:sp>
      <p:sp>
        <p:nvSpPr>
          <p:cNvPr id="1016" name="Answer 1016"/>
          <p:cNvSpPr txBox="1"/>
          <p:nvPr/>
        </p:nvSpPr>
        <p:spPr>
          <a:xfrm>
            <a:off x="4095750" y="4902200"/>
            <a:ext cx="19685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Decreasing</a:t>
            </a:r>
          </a:p>
        </p:txBody>
      </p:sp>
      <p:sp>
        <p:nvSpPr>
          <p:cNvPr id="1017" name="Answer 1017"/>
          <p:cNvSpPr txBox="1"/>
          <p:nvPr/>
        </p:nvSpPr>
        <p:spPr>
          <a:xfrm>
            <a:off x="10096500" y="1778000"/>
            <a:ext cx="1968500" cy="698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Graph h(x): through (0, 5) and (3, 3)</a:t>
            </a:r>
          </a:p>
        </p:txBody>
      </p:sp>
    </p:spTree>
    <p:extLst>
      <p:ext uri="{BB962C8B-B14F-4D97-AF65-F5344CB8AC3E}">
        <p14:creationId xmlns:p14="http://schemas.microsoft.com/office/powerpoint/2010/main" val="263765261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1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01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016"/>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0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64592-7F7B-1973-FE4F-D5A02DADEC2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FA00826-C6A3-00C8-7B57-63206214E632}"/>
              </a:ext>
            </a:extLst>
          </p:cNvPr>
          <p:cNvSpPr>
            <a:spLocks noGrp="1"/>
          </p:cNvSpPr>
          <p:nvPr>
            <p:ph type="title"/>
          </p:nvPr>
        </p:nvSpPr>
        <p:spPr/>
        <p:txBody>
          <a:bodyPr/>
          <a:lstStyle/>
          <a:p>
            <a:pPr algn="l"/>
            <a:r>
              <a:rPr lang="en-US" b="1" dirty="0"/>
              <a:t>Hey, I Remember This! </a:t>
            </a:r>
            <a:r>
              <a:rPr lang="en-US" sz="2000" b="1" dirty="0">
                <a:solidFill>
                  <a:schemeClr val="bg1"/>
                </a:solidFill>
              </a:rPr>
              <a:t>(3 of 4)</a:t>
            </a:r>
          </a:p>
        </p:txBody>
      </p:sp>
      <p:sp>
        <p:nvSpPr>
          <p:cNvPr id="9" name="Text Placeholder 2">
            <a:extLst>
              <a:ext uri="{FF2B5EF4-FFF2-40B4-BE49-F238E27FC236}">
                <a16:creationId xmlns:a16="http://schemas.microsoft.com/office/drawing/2014/main" id="{0224E92D-72C0-6DF3-2985-6F8E2D67E2FE}"/>
              </a:ext>
            </a:extLst>
          </p:cNvPr>
          <p:cNvSpPr txBox="1">
            <a:spLocks/>
          </p:cNvSpPr>
          <p:nvPr/>
        </p:nvSpPr>
        <p:spPr>
          <a:xfrm>
            <a:off x="777240" y="1616140"/>
            <a:ext cx="9902597"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summarize our learning from the Getting Started!</a:t>
            </a:r>
          </a:p>
        </p:txBody>
      </p:sp>
      <p:pic>
        <p:nvPicPr>
          <p:cNvPr id="3" name="Picture 2">
            <a:extLst>
              <a:ext uri="{FF2B5EF4-FFF2-40B4-BE49-F238E27FC236}">
                <a16:creationId xmlns:a16="http://schemas.microsoft.com/office/drawing/2014/main" id="{83CFE51C-FECE-9C46-8848-6BF918D18E27}"/>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174023"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288</a:t>
            </a:r>
          </a:p>
        </p:txBody>
      </p:sp>
    </p:spTree>
    <p:extLst>
      <p:ext uri="{BB962C8B-B14F-4D97-AF65-F5344CB8AC3E}">
        <p14:creationId xmlns:p14="http://schemas.microsoft.com/office/powerpoint/2010/main" val="29812041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64592-7F7B-1973-FE4F-D5A02DADEC2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FA00826-C6A3-00C8-7B57-63206214E632}"/>
              </a:ext>
            </a:extLst>
          </p:cNvPr>
          <p:cNvSpPr>
            <a:spLocks noGrp="1"/>
          </p:cNvSpPr>
          <p:nvPr>
            <p:ph type="title"/>
          </p:nvPr>
        </p:nvSpPr>
        <p:spPr/>
        <p:txBody>
          <a:bodyPr/>
          <a:lstStyle/>
          <a:p>
            <a:pPr algn="l"/>
            <a:r>
              <a:rPr lang="en-US" b="1" dirty="0"/>
              <a:t>Hey, I Remember This! </a:t>
            </a:r>
            <a:r>
              <a:rPr lang="en-US" sz="2000" b="1" dirty="0">
                <a:solidFill>
                  <a:schemeClr val="bg1"/>
                </a:solidFill>
              </a:rPr>
              <a:t>(4 of 4)</a:t>
            </a:r>
          </a:p>
        </p:txBody>
      </p:sp>
      <p:sp>
        <p:nvSpPr>
          <p:cNvPr id="9" name="Text Placeholder 2">
            <a:extLst>
              <a:ext uri="{FF2B5EF4-FFF2-40B4-BE49-F238E27FC236}">
                <a16:creationId xmlns:a16="http://schemas.microsoft.com/office/drawing/2014/main" id="{0224E92D-72C0-6DF3-2985-6F8E2D67E2FE}"/>
              </a:ext>
              <a:ext uri="{C183D7F6-B498-43B3-948B-1728B52AA6E4}">
                <adec:decorative xmlns:adec="http://schemas.microsoft.com/office/drawing/2017/decorative" val="1"/>
              </a:ext>
            </a:extLst>
          </p:cNvPr>
          <p:cNvSpPr txBox="1">
            <a:spLocks/>
          </p:cNvSpPr>
          <p:nvPr/>
        </p:nvSpPr>
        <p:spPr>
          <a:xfrm>
            <a:off x="777240" y="1616140"/>
            <a:ext cx="9900285"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b="0" i="0" u="none" strike="noStrike" baseline="0" dirty="0">
              <a:solidFill>
                <a:schemeClr val="bg2">
                  <a:lumMod val="25000"/>
                </a:schemeClr>
              </a:solidFill>
            </a:endParaRPr>
          </a:p>
          <a:p>
            <a:pPr marL="0" indent="0" algn="ctr">
              <a:buNone/>
            </a:pPr>
            <a:endParaRPr lang="en-US" sz="280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288</a:t>
            </a:r>
          </a:p>
        </p:txBody>
      </p:sp>
    </p:spTree>
    <p:extLst>
      <p:ext uri="{BB962C8B-B14F-4D97-AF65-F5344CB8AC3E}">
        <p14:creationId xmlns:p14="http://schemas.microsoft.com/office/powerpoint/2010/main" val="27434752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E5F7022-D266-6CB6-8FDC-29242A2ED071}"/>
              </a:ext>
            </a:extLst>
          </p:cNvPr>
          <p:cNvSpPr>
            <a:spLocks noGrp="1"/>
          </p:cNvSpPr>
          <p:nvPr>
            <p:ph type="title" idx="4294967295"/>
          </p:nvPr>
        </p:nvSpPr>
        <p:spPr>
          <a:xfrm>
            <a:off x="838200" y="-374469"/>
            <a:ext cx="10514013" cy="374469"/>
          </a:xfrm>
          <a:prstGeom prst="rect">
            <a:avLst/>
          </a:prstGeom>
        </p:spPr>
        <p:txBody>
          <a:bodyPr anchor="b"/>
          <a:lstStyle/>
          <a:p>
            <a:r>
              <a:rPr lang="en-US" sz="2000" dirty="0">
                <a:solidFill>
                  <a:schemeClr val="bg2"/>
                </a:solidFill>
              </a:rPr>
              <a:t>Activity 2.1</a:t>
            </a:r>
          </a:p>
        </p:txBody>
      </p:sp>
      <p:sp>
        <p:nvSpPr>
          <p:cNvPr id="3" name="Text Placeholder 2" descr="30 to 35 minutes">
            <a:extLst>
              <a:ext uri="{FF2B5EF4-FFF2-40B4-BE49-F238E27FC236}">
                <a16:creationId xmlns:a16="http://schemas.microsoft.com/office/drawing/2014/main" id="{BA063AF9-8F8B-5444-6AEC-5E8501EC7698}"/>
              </a:ext>
            </a:extLst>
          </p:cNvPr>
          <p:cNvSpPr>
            <a:spLocks noGrp="1"/>
          </p:cNvSpPr>
          <p:nvPr>
            <p:ph type="body" sz="quarter" idx="12"/>
          </p:nvPr>
        </p:nvSpPr>
        <p:spPr>
          <a:xfrm>
            <a:off x="10614990" y="5779693"/>
            <a:ext cx="863947" cy="795338"/>
          </a:xfrm>
        </p:spPr>
        <p:txBody>
          <a:bodyPr/>
          <a:lstStyle/>
          <a:p>
            <a:r>
              <a:rPr lang="en-US" b="1" dirty="0"/>
              <a:t>30–35</a:t>
            </a:r>
          </a:p>
        </p:txBody>
      </p:sp>
      <p:sp>
        <p:nvSpPr>
          <p:cNvPr id="2" name="Text Placeholder 1">
            <a:extLst>
              <a:ext uri="{FF2B5EF4-FFF2-40B4-BE49-F238E27FC236}">
                <a16:creationId xmlns:a16="http://schemas.microsoft.com/office/drawing/2014/main" id="{3D1465A3-2914-1151-1A78-CFD3B2A423BE}"/>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dirty="0"/>
              <a:t>2.1</a:t>
            </a:r>
          </a:p>
        </p:txBody>
      </p:sp>
      <p:sp>
        <p:nvSpPr>
          <p:cNvPr id="1005" name="Slide Number 100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
        <p:nvSpPr>
          <p:cNvPr id="1007" name="Answer 1007"/>
          <p:cNvSpPr txBox="1"/>
          <p:nvPr/>
        </p:nvSpPr>
        <p:spPr>
          <a:xfrm>
            <a:off x="1016000" y="952500"/>
            <a:ext cx="10160000" cy="762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4400" b="1" dirty="0">
                <a:solidFill>
                  <a:srgbClr val="2E7D3C"/>
                </a:solidFill>
              </a:rPr>
              <a:t>★ Essential activity: do not skip</a:t>
            </a:r>
          </a:p>
        </p:txBody>
      </p:sp>
    </p:spTree>
    <p:extLst>
      <p:ext uri="{BB962C8B-B14F-4D97-AF65-F5344CB8AC3E}">
        <p14:creationId xmlns:p14="http://schemas.microsoft.com/office/powerpoint/2010/main" val="42504594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D9FB43-679B-E397-30E3-50A521E99FC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49FA50D-5DB0-765E-2A80-183E705A899F}"/>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(1 of 17)</a:t>
            </a:r>
          </a:p>
        </p:txBody>
      </p:sp>
      <p:sp>
        <p:nvSpPr>
          <p:cNvPr id="9" name="Text Placeholder 2">
            <a:extLst>
              <a:ext uri="{FF2B5EF4-FFF2-40B4-BE49-F238E27FC236}">
                <a16:creationId xmlns:a16="http://schemas.microsoft.com/office/drawing/2014/main" id="{AEE2E1EC-37FF-202A-334C-24D7800D23D2}"/>
              </a:ext>
            </a:extLst>
          </p:cNvPr>
          <p:cNvSpPr txBox="1">
            <a:spLocks/>
          </p:cNvSpPr>
          <p:nvPr/>
        </p:nvSpPr>
        <p:spPr>
          <a:xfrm>
            <a:off x="777240" y="1339864"/>
            <a:ext cx="9899469" cy="107936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Let’s determine how translations impact the graph of the linear function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a:t>
            </a:r>
          </a:p>
        </p:txBody>
      </p:sp>
      <p:sp>
        <p:nvSpPr>
          <p:cNvPr id="2" name="Rectangle: Rounded Corners 1">
            <a:extLst>
              <a:ext uri="{FF2B5EF4-FFF2-40B4-BE49-F238E27FC236}">
                <a16:creationId xmlns:a16="http://schemas.microsoft.com/office/drawing/2014/main" id="{14F741DA-13F4-54D4-AB4A-FC46710ED29D}"/>
              </a:ext>
              <a:ext uri="{C183D7F6-B498-43B3-948B-1728B52AA6E4}">
                <adec:decorative xmlns:adec="http://schemas.microsoft.com/office/drawing/2017/decorative" val="1"/>
              </a:ext>
            </a:extLst>
          </p:cNvPr>
          <p:cNvSpPr/>
          <p:nvPr/>
        </p:nvSpPr>
        <p:spPr>
          <a:xfrm>
            <a:off x="1384954" y="2713430"/>
            <a:ext cx="9513532" cy="3971491"/>
          </a:xfrm>
          <a:prstGeom prst="roundRect">
            <a:avLst/>
          </a:prstGeom>
          <a:noFill/>
          <a:ln w="50800" cmpd="dbl">
            <a:solidFill>
              <a:schemeClr val="bg2">
                <a:lumMod val="50000"/>
              </a:schemeClr>
            </a:solidFill>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Worked Example">
            <a:extLst>
              <a:ext uri="{FF2B5EF4-FFF2-40B4-BE49-F238E27FC236}">
                <a16:creationId xmlns:a16="http://schemas.microsoft.com/office/drawing/2014/main" id="{C55B2E17-FE55-E5C3-D533-EE3957144B6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2036511" y="2495902"/>
            <a:ext cx="2758679" cy="426757"/>
          </a:xfrm>
          <a:prstGeom prst="rect">
            <a:avLst/>
          </a:prstGeom>
        </p:spPr>
      </p:pic>
      <p:sp>
        <p:nvSpPr>
          <p:cNvPr id="8" name="TextBox 7">
            <a:extLst>
              <a:ext uri="{FF2B5EF4-FFF2-40B4-BE49-F238E27FC236}">
                <a16:creationId xmlns:a16="http://schemas.microsoft.com/office/drawing/2014/main" id="{9950399A-4CF0-B573-06FA-33DDD0229D5C}"/>
              </a:ext>
            </a:extLst>
          </p:cNvPr>
          <p:cNvSpPr txBox="1"/>
          <p:nvPr/>
        </p:nvSpPr>
        <p:spPr>
          <a:xfrm>
            <a:off x="1632145" y="3131888"/>
            <a:ext cx="9110169" cy="3046988"/>
          </a:xfrm>
          <a:prstGeom prst="rect">
            <a:avLst/>
          </a:prstGeom>
          <a:noFill/>
        </p:spPr>
        <p:txBody>
          <a:bodyPr wrap="square">
            <a:spAutoFit/>
          </a:bodyPr>
          <a:lstStyle/>
          <a:p>
            <a:r>
              <a:rPr lang="en-US" sz="2400" dirty="0">
                <a:solidFill>
                  <a:srgbClr val="000000"/>
                </a:solidFill>
              </a:rPr>
              <a:t>You can translate the graph of </a:t>
            </a:r>
            <a:r>
              <a:rPr lang="en-US" sz="2400" i="1" dirty="0">
                <a:solidFill>
                  <a:srgbClr val="000000"/>
                </a:solidFill>
              </a:rPr>
              <a:t>f</a:t>
            </a:r>
            <a:r>
              <a:rPr lang="en-US" sz="2400" dirty="0">
                <a:solidFill>
                  <a:srgbClr val="000000"/>
                </a:solidFill>
              </a:rPr>
              <a:t>(</a:t>
            </a:r>
            <a:r>
              <a:rPr lang="en-US" sz="2400" i="1" dirty="0">
                <a:solidFill>
                  <a:srgbClr val="000000"/>
                </a:solidFill>
              </a:rPr>
              <a:t>x</a:t>
            </a:r>
            <a:r>
              <a:rPr lang="en-US" sz="2400" dirty="0">
                <a:solidFill>
                  <a:srgbClr val="000000"/>
                </a:solidFill>
              </a:rPr>
              <a:t>) to the right 5 units by moving each point 5 units to the right. The transformed graph is labeled as </a:t>
            </a:r>
            <a:r>
              <a:rPr lang="en-US" sz="2400" i="1" dirty="0">
                <a:solidFill>
                  <a:srgbClr val="000000"/>
                </a:solidFill>
              </a:rPr>
              <a:t>m</a:t>
            </a:r>
            <a:r>
              <a:rPr lang="en-US" sz="2400" dirty="0">
                <a:solidFill>
                  <a:srgbClr val="000000"/>
                </a:solidFill>
              </a:rPr>
              <a:t>(</a:t>
            </a:r>
            <a:r>
              <a:rPr lang="en-US" sz="2400" i="1" dirty="0">
                <a:solidFill>
                  <a:srgbClr val="000000"/>
                </a:solidFill>
              </a:rPr>
              <a:t>x</a:t>
            </a:r>
            <a:r>
              <a:rPr lang="en-US" sz="2400" dirty="0">
                <a:solidFill>
                  <a:srgbClr val="000000"/>
                </a:solidFill>
              </a:rPr>
              <a:t>).</a:t>
            </a:r>
          </a:p>
          <a:p>
            <a:endParaRPr lang="en-US" sz="2400" dirty="0">
              <a:solidFill>
                <a:srgbClr val="000000"/>
              </a:solidFill>
            </a:endParaRPr>
          </a:p>
          <a:p>
            <a:r>
              <a:rPr lang="en-US" sz="2400" dirty="0">
                <a:solidFill>
                  <a:srgbClr val="000000"/>
                </a:solidFill>
              </a:rPr>
              <a:t>To translate the point (−2, −2) on </a:t>
            </a:r>
            <a:r>
              <a:rPr lang="en-US" sz="2400" i="1" dirty="0">
                <a:solidFill>
                  <a:srgbClr val="000000"/>
                </a:solidFill>
              </a:rPr>
              <a:t>f</a:t>
            </a:r>
            <a:r>
              <a:rPr lang="en-US" sz="2400" dirty="0">
                <a:solidFill>
                  <a:srgbClr val="000000"/>
                </a:solidFill>
              </a:rPr>
              <a:t>(</a:t>
            </a:r>
            <a:r>
              <a:rPr lang="en-US" sz="2400" i="1" dirty="0">
                <a:solidFill>
                  <a:srgbClr val="000000"/>
                </a:solidFill>
              </a:rPr>
              <a:t>x</a:t>
            </a:r>
            <a:r>
              <a:rPr lang="en-US" sz="2400" dirty="0">
                <a:solidFill>
                  <a:srgbClr val="000000"/>
                </a:solidFill>
              </a:rPr>
              <a:t>), add 5 units to the input value, or </a:t>
            </a:r>
            <a:r>
              <a:rPr lang="en-US" sz="2400" i="1" dirty="0">
                <a:solidFill>
                  <a:srgbClr val="000000"/>
                </a:solidFill>
              </a:rPr>
              <a:t>x</a:t>
            </a:r>
            <a:r>
              <a:rPr lang="en-US" sz="2400" dirty="0">
                <a:solidFill>
                  <a:srgbClr val="000000"/>
                </a:solidFill>
              </a:rPr>
              <a:t>-value. The output value, or </a:t>
            </a:r>
            <a:r>
              <a:rPr lang="en-US" sz="2400" i="1" dirty="0">
                <a:solidFill>
                  <a:srgbClr val="000000"/>
                </a:solidFill>
              </a:rPr>
              <a:t>y</a:t>
            </a:r>
            <a:r>
              <a:rPr lang="en-US" sz="2400" dirty="0">
                <a:solidFill>
                  <a:srgbClr val="000000"/>
                </a:solidFill>
              </a:rPr>
              <a:t>-value, remains unchanged. </a:t>
            </a:r>
            <a:br>
              <a:rPr lang="en-US" sz="2400" dirty="0">
                <a:solidFill>
                  <a:srgbClr val="000000"/>
                </a:solidFill>
              </a:rPr>
            </a:br>
            <a:r>
              <a:rPr lang="en-US" sz="2400" dirty="0">
                <a:solidFill>
                  <a:srgbClr val="000000"/>
                </a:solidFill>
              </a:rPr>
              <a:t>The coordinates of the translated point on </a:t>
            </a:r>
            <a:r>
              <a:rPr lang="en-US" sz="2400" i="1" dirty="0">
                <a:solidFill>
                  <a:srgbClr val="000000"/>
                </a:solidFill>
              </a:rPr>
              <a:t>m</a:t>
            </a:r>
            <a:r>
              <a:rPr lang="en-US" sz="2400" dirty="0">
                <a:solidFill>
                  <a:srgbClr val="000000"/>
                </a:solidFill>
              </a:rPr>
              <a:t>(</a:t>
            </a:r>
            <a:r>
              <a:rPr lang="en-US" sz="2400" i="1" dirty="0">
                <a:solidFill>
                  <a:srgbClr val="000000"/>
                </a:solidFill>
              </a:rPr>
              <a:t>x</a:t>
            </a:r>
            <a:r>
              <a:rPr lang="en-US" sz="2400" dirty="0">
                <a:solidFill>
                  <a:srgbClr val="000000"/>
                </a:solidFill>
              </a:rPr>
              <a:t>) are (3, −2).</a:t>
            </a:r>
            <a:br>
              <a:rPr lang="en-US" sz="2400" dirty="0">
                <a:solidFill>
                  <a:srgbClr val="000000"/>
                </a:solidFill>
              </a:rPr>
            </a:br>
            <a:br>
              <a:rPr lang="en-US" sz="2400" dirty="0">
                <a:solidFill>
                  <a:srgbClr val="000000"/>
                </a:solidFill>
              </a:rPr>
            </a:br>
            <a:r>
              <a:rPr lang="en-US" sz="2400" dirty="0">
                <a:solidFill>
                  <a:srgbClr val="000000"/>
                </a:solidFill>
              </a:rPr>
              <a:t>The coordinates of four additional points on </a:t>
            </a:r>
            <a:r>
              <a:rPr lang="en-US" sz="2400" i="1" dirty="0">
                <a:solidFill>
                  <a:srgbClr val="000000"/>
                </a:solidFill>
              </a:rPr>
              <a:t>f</a:t>
            </a:r>
            <a:r>
              <a:rPr lang="en-US" sz="2400" dirty="0">
                <a:solidFill>
                  <a:srgbClr val="000000"/>
                </a:solidFill>
              </a:rPr>
              <a:t>(</a:t>
            </a:r>
            <a:r>
              <a:rPr lang="en-US" sz="2400" i="1" dirty="0">
                <a:solidFill>
                  <a:srgbClr val="000000"/>
                </a:solidFill>
              </a:rPr>
              <a:t>x</a:t>
            </a:r>
            <a:r>
              <a:rPr lang="en-US" sz="2400" dirty="0">
                <a:solidFill>
                  <a:srgbClr val="000000"/>
                </a:solidFill>
              </a:rPr>
              <a:t>) are translated for you. </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289</a:t>
            </a:r>
          </a:p>
        </p:txBody>
      </p:sp>
    </p:spTree>
    <p:extLst>
      <p:ext uri="{BB962C8B-B14F-4D97-AF65-F5344CB8AC3E}">
        <p14:creationId xmlns:p14="http://schemas.microsoft.com/office/powerpoint/2010/main" val="41138013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79C6C9-3147-A4B0-52D6-51D6CE2744C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01DCD52-9B7E-7F69-73E6-C5261C510AE6}"/>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(2 of 17)</a:t>
            </a:r>
          </a:p>
        </p:txBody>
      </p:sp>
      <p:sp>
        <p:nvSpPr>
          <p:cNvPr id="2" name="Rectangle: Rounded Corners 1">
            <a:extLst>
              <a:ext uri="{FF2B5EF4-FFF2-40B4-BE49-F238E27FC236}">
                <a16:creationId xmlns:a16="http://schemas.microsoft.com/office/drawing/2014/main" id="{5633705D-AC24-5776-B265-9191073F774D}"/>
              </a:ext>
              <a:ext uri="{C183D7F6-B498-43B3-948B-1728B52AA6E4}">
                <adec:decorative xmlns:adec="http://schemas.microsoft.com/office/drawing/2017/decorative" val="1"/>
              </a:ext>
            </a:extLst>
          </p:cNvPr>
          <p:cNvSpPr/>
          <p:nvPr/>
        </p:nvSpPr>
        <p:spPr>
          <a:xfrm>
            <a:off x="1772489" y="2035640"/>
            <a:ext cx="8645434" cy="4305300"/>
          </a:xfrm>
          <a:prstGeom prst="roundRect">
            <a:avLst/>
          </a:prstGeom>
          <a:noFill/>
          <a:ln w="50800" cmpd="dbl">
            <a:solidFill>
              <a:schemeClr val="bg2">
                <a:lumMod val="50000"/>
              </a:schemeClr>
            </a:solidFill>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Worked Example">
            <a:extLst>
              <a:ext uri="{FF2B5EF4-FFF2-40B4-BE49-F238E27FC236}">
                <a16:creationId xmlns:a16="http://schemas.microsoft.com/office/drawing/2014/main" id="{336FED03-4878-F915-4FF3-B6FD9433900E}"/>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2490831" y="1822261"/>
            <a:ext cx="2758679" cy="426757"/>
          </a:xfrm>
          <a:prstGeom prst="rect">
            <a:avLst/>
          </a:prstGeom>
        </p:spPr>
      </p:pic>
      <p:pic>
        <p:nvPicPr>
          <p:cNvPr id="6" name="Picture 5" descr="A graph of two lines on the coordinate plane. The line f of x = x rises from left to right through the points from the table, including the points (0, 0) and (2, 2). The line m of x rises from left to right through the points from the table, including the points (5, 0) and (7, 2). Horizontal arrows extend 5 units from each point on line f of x to a point to its right on line m of x.">
            <a:extLst>
              <a:ext uri="{FF2B5EF4-FFF2-40B4-BE49-F238E27FC236}">
                <a16:creationId xmlns:a16="http://schemas.microsoft.com/office/drawing/2014/main" id="{609D671B-D26F-C43D-0530-F5BB96590170}"/>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2032119" y="2488493"/>
            <a:ext cx="3399594" cy="3399594"/>
          </a:xfrm>
          <a:prstGeom prst="rect">
            <a:avLst/>
          </a:prstGeom>
        </p:spPr>
      </p:pic>
      <p:graphicFrame>
        <p:nvGraphicFramePr>
          <p:cNvPr id="12" name="Table 11">
            <a:extLst>
              <a:ext uri="{FF2B5EF4-FFF2-40B4-BE49-F238E27FC236}">
                <a16:creationId xmlns:a16="http://schemas.microsoft.com/office/drawing/2014/main" id="{7C5CE905-0B86-4DE6-88DD-C215FBA0B8D2}"/>
              </a:ext>
            </a:extLst>
          </p:cNvPr>
          <p:cNvGraphicFramePr>
            <a:graphicFrameLocks noGrp="1"/>
          </p:cNvGraphicFramePr>
          <p:nvPr>
            <p:extLst>
              <p:ext uri="{D42A27DB-BD31-4B8C-83A1-F6EECF244321}">
                <p14:modId xmlns:p14="http://schemas.microsoft.com/office/powerpoint/2010/main" val="3293728079"/>
              </p:ext>
            </p:extLst>
          </p:nvPr>
        </p:nvGraphicFramePr>
        <p:xfrm>
          <a:off x="6170384" y="2788920"/>
          <a:ext cx="1365806" cy="640080"/>
        </p:xfrm>
        <a:graphic>
          <a:graphicData uri="http://schemas.openxmlformats.org/drawingml/2006/table">
            <a:tbl>
              <a:tblPr firstRow="1" bandRow="1"/>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13" name="Table 12">
            <a:extLst>
              <a:ext uri="{FF2B5EF4-FFF2-40B4-BE49-F238E27FC236}">
                <a16:creationId xmlns:a16="http://schemas.microsoft.com/office/drawing/2014/main" id="{423E4679-A917-2A22-87D1-484542BDBEC9}"/>
              </a:ext>
            </a:extLst>
          </p:cNvPr>
          <p:cNvGraphicFramePr>
            <a:graphicFrameLocks noGrp="1"/>
          </p:cNvGraphicFramePr>
          <p:nvPr>
            <p:extLst>
              <p:ext uri="{D42A27DB-BD31-4B8C-83A1-F6EECF244321}">
                <p14:modId xmlns:p14="http://schemas.microsoft.com/office/powerpoint/2010/main" val="4173684594"/>
              </p:ext>
            </p:extLst>
          </p:nvPr>
        </p:nvGraphicFramePr>
        <p:xfrm>
          <a:off x="6170384" y="3428207"/>
          <a:ext cx="1365806" cy="2225040"/>
        </p:xfrm>
        <a:graphic>
          <a:graphicData uri="http://schemas.openxmlformats.org/drawingml/2006/table">
            <a:tbl>
              <a:tblPr firstRow="1" bandRow="1"/>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14" name="Table 13">
            <a:extLst>
              <a:ext uri="{FF2B5EF4-FFF2-40B4-BE49-F238E27FC236}">
                <a16:creationId xmlns:a16="http://schemas.microsoft.com/office/drawing/2014/main" id="{D81F7ED0-E3E3-9FB5-DA04-5B44FAC53D26}"/>
              </a:ext>
            </a:extLst>
          </p:cNvPr>
          <p:cNvGraphicFramePr>
            <a:graphicFrameLocks noGrp="1"/>
          </p:cNvGraphicFramePr>
          <p:nvPr>
            <p:extLst>
              <p:ext uri="{D42A27DB-BD31-4B8C-83A1-F6EECF244321}">
                <p14:modId xmlns:p14="http://schemas.microsoft.com/office/powerpoint/2010/main" val="491469192"/>
              </p:ext>
            </p:extLst>
          </p:nvPr>
        </p:nvGraphicFramePr>
        <p:xfrm>
          <a:off x="7854970" y="2788920"/>
          <a:ext cx="1468284" cy="640080"/>
        </p:xfrm>
        <a:graphic>
          <a:graphicData uri="http://schemas.openxmlformats.org/drawingml/2006/table">
            <a:tbl>
              <a:tblPr firstRow="1" bandRow="1"/>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15" name="Table 14">
            <a:extLst>
              <a:ext uri="{FF2B5EF4-FFF2-40B4-BE49-F238E27FC236}">
                <a16:creationId xmlns:a16="http://schemas.microsoft.com/office/drawing/2014/main" id="{3673AD31-9098-A952-D40B-AD54AC8B8ABA}"/>
              </a:ext>
            </a:extLst>
          </p:cNvPr>
          <p:cNvGraphicFramePr>
            <a:graphicFrameLocks noGrp="1"/>
          </p:cNvGraphicFramePr>
          <p:nvPr>
            <p:extLst>
              <p:ext uri="{D42A27DB-BD31-4B8C-83A1-F6EECF244321}">
                <p14:modId xmlns:p14="http://schemas.microsoft.com/office/powerpoint/2010/main" val="2063392956"/>
              </p:ext>
            </p:extLst>
          </p:nvPr>
        </p:nvGraphicFramePr>
        <p:xfrm>
          <a:off x="7854970" y="3428207"/>
          <a:ext cx="1468284" cy="2225040"/>
        </p:xfrm>
        <a:graphic>
          <a:graphicData uri="http://schemas.openxmlformats.org/drawingml/2006/table">
            <a:tbl>
              <a:tblPr firstRow="1" bandRow="1"/>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3</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4</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5</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6</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7</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sp>
        <p:nvSpPr>
          <p:cNvPr id="1015" name="Slide Number 101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
        <p:nvSpPr>
          <p:cNvPr id="1016" name="Answer 101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289</a:t>
            </a:r>
          </a:p>
        </p:txBody>
      </p:sp>
    </p:spTree>
    <p:extLst>
      <p:ext uri="{BB962C8B-B14F-4D97-AF65-F5344CB8AC3E}">
        <p14:creationId xmlns:p14="http://schemas.microsoft.com/office/powerpoint/2010/main" val="14061274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F95889-D664-8184-F94E-0FE2455638D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E02C674-4E27-96CA-0E0F-7F8305F3BAE0}"/>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(3 of 17)</a:t>
            </a:r>
          </a:p>
        </p:txBody>
      </p:sp>
      <p:sp>
        <p:nvSpPr>
          <p:cNvPr id="9" name="Text Placeholder 2">
            <a:extLst>
              <a:ext uri="{FF2B5EF4-FFF2-40B4-BE49-F238E27FC236}">
                <a16:creationId xmlns:a16="http://schemas.microsoft.com/office/drawing/2014/main" id="{5E39975E-3E22-4C65-6D1F-F0848B17DE15}"/>
              </a:ext>
            </a:extLst>
          </p:cNvPr>
          <p:cNvSpPr txBox="1">
            <a:spLocks/>
          </p:cNvSpPr>
          <p:nvPr/>
        </p:nvSpPr>
        <p:spPr>
          <a:xfrm>
            <a:off x="620487" y="1392382"/>
            <a:ext cx="10787742" cy="193300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gn="l">
              <a:buFont typeface="+mj-lt"/>
              <a:buAutoNum type="arabicPeriod"/>
            </a:pPr>
            <a:r>
              <a:rPr lang="en-US" sz="2800" dirty="0">
                <a:solidFill>
                  <a:srgbClr val="000000"/>
                </a:solidFill>
              </a:rPr>
              <a:t>Given the graph and a table of values for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complete the following transformations.</a:t>
            </a:r>
          </a:p>
          <a:p>
            <a:pPr marL="1027113" lvl="1" indent="-514350">
              <a:buFont typeface="+mj-lt"/>
              <a:buAutoNum type="alphaLcPeriod"/>
            </a:pPr>
            <a:r>
              <a:rPr lang="en-US" dirty="0">
                <a:solidFill>
                  <a:srgbClr val="000000"/>
                </a:solidFill>
              </a:rPr>
              <a:t>Translate the graph of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left 3 units. Label your graph as </a:t>
            </a:r>
            <a:r>
              <a:rPr lang="en-US" i="1" dirty="0">
                <a:solidFill>
                  <a:srgbClr val="000000"/>
                </a:solidFill>
              </a:rPr>
              <a:t>t</a:t>
            </a:r>
            <a:r>
              <a:rPr lang="en-US" dirty="0">
                <a:solidFill>
                  <a:srgbClr val="000000"/>
                </a:solidFill>
              </a:rPr>
              <a:t>(</a:t>
            </a:r>
            <a:r>
              <a:rPr lang="en-US" i="1" dirty="0">
                <a:solidFill>
                  <a:srgbClr val="000000"/>
                </a:solidFill>
              </a:rPr>
              <a:t>x</a:t>
            </a:r>
            <a:r>
              <a:rPr lang="en-US" dirty="0">
                <a:solidFill>
                  <a:srgbClr val="000000"/>
                </a:solidFill>
              </a:rPr>
              <a:t>). Complete the table of corresponding points on </a:t>
            </a:r>
            <a:r>
              <a:rPr lang="en-US" i="1" dirty="0">
                <a:solidFill>
                  <a:srgbClr val="000000"/>
                </a:solidFill>
              </a:rPr>
              <a:t>t</a:t>
            </a:r>
            <a:r>
              <a:rPr lang="en-US" dirty="0">
                <a:solidFill>
                  <a:srgbClr val="000000"/>
                </a:solidFill>
              </a:rPr>
              <a:t>(</a:t>
            </a:r>
            <a:r>
              <a:rPr lang="en-US" i="1" dirty="0">
                <a:solidFill>
                  <a:srgbClr val="000000"/>
                </a:solidFill>
              </a:rPr>
              <a:t>x</a:t>
            </a:r>
            <a:r>
              <a:rPr lang="en-US" dirty="0">
                <a:solidFill>
                  <a:srgbClr val="000000"/>
                </a:solidFill>
              </a:rPr>
              <a:t>).</a:t>
            </a:r>
          </a:p>
        </p:txBody>
      </p:sp>
      <p:pic>
        <p:nvPicPr>
          <p:cNvPr id="5" name="Picture 4" descr="A graph of line f of x = x on the coordinate plane. The line rises from left to right through the points from the table, including the points (0, 0) and (2, 2).">
            <a:extLst>
              <a:ext uri="{FF2B5EF4-FFF2-40B4-BE49-F238E27FC236}">
                <a16:creationId xmlns:a16="http://schemas.microsoft.com/office/drawing/2014/main" id="{04A645F1-E207-350D-E527-D5B808F74C4D}"/>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433581" y="3325391"/>
            <a:ext cx="3516288" cy="3523899"/>
          </a:xfrm>
          <a:prstGeom prst="rect">
            <a:avLst/>
          </a:prstGeom>
        </p:spPr>
      </p:pic>
      <p:graphicFrame>
        <p:nvGraphicFramePr>
          <p:cNvPr id="2" name="Table 1">
            <a:extLst>
              <a:ext uri="{FF2B5EF4-FFF2-40B4-BE49-F238E27FC236}">
                <a16:creationId xmlns:a16="http://schemas.microsoft.com/office/drawing/2014/main" id="{D9A5C554-1F6C-1AE6-8FB5-3ACAEFEA9C44}"/>
              </a:ext>
            </a:extLst>
          </p:cNvPr>
          <p:cNvGraphicFramePr>
            <a:graphicFrameLocks noGrp="1"/>
          </p:cNvGraphicFramePr>
          <p:nvPr>
            <p:extLst>
              <p:ext uri="{D42A27DB-BD31-4B8C-83A1-F6EECF244321}">
                <p14:modId xmlns:p14="http://schemas.microsoft.com/office/powerpoint/2010/main" val="3093084375"/>
              </p:ext>
            </p:extLst>
          </p:nvPr>
        </p:nvGraphicFramePr>
        <p:xfrm>
          <a:off x="5909127" y="3655177"/>
          <a:ext cx="1365806" cy="640080"/>
        </p:xfrm>
        <a:graphic>
          <a:graphicData uri="http://schemas.openxmlformats.org/drawingml/2006/table">
            <a:tbl>
              <a:tblPr firstRow="1" bandRow="1"/>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3" name="Table 2">
            <a:extLst>
              <a:ext uri="{FF2B5EF4-FFF2-40B4-BE49-F238E27FC236}">
                <a16:creationId xmlns:a16="http://schemas.microsoft.com/office/drawing/2014/main" id="{600AA2FF-35F8-D4F1-6E7B-4B4E150D7430}"/>
              </a:ext>
            </a:extLst>
          </p:cNvPr>
          <p:cNvGraphicFramePr>
            <a:graphicFrameLocks noGrp="1"/>
          </p:cNvGraphicFramePr>
          <p:nvPr>
            <p:extLst>
              <p:ext uri="{D42A27DB-BD31-4B8C-83A1-F6EECF244321}">
                <p14:modId xmlns:p14="http://schemas.microsoft.com/office/powerpoint/2010/main" val="4083269458"/>
              </p:ext>
            </p:extLst>
          </p:nvPr>
        </p:nvGraphicFramePr>
        <p:xfrm>
          <a:off x="5909127" y="4294464"/>
          <a:ext cx="1365806" cy="2225040"/>
        </p:xfrm>
        <a:graphic>
          <a:graphicData uri="http://schemas.openxmlformats.org/drawingml/2006/table">
            <a:tbl>
              <a:tblPr firstRow="1" bandRow="1"/>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6" name="Table 5">
            <a:extLst>
              <a:ext uri="{FF2B5EF4-FFF2-40B4-BE49-F238E27FC236}">
                <a16:creationId xmlns:a16="http://schemas.microsoft.com/office/drawing/2014/main" id="{0AD4A73C-EBB5-33C1-2A75-97591894821F}"/>
              </a:ext>
            </a:extLst>
          </p:cNvPr>
          <p:cNvGraphicFramePr>
            <a:graphicFrameLocks noGrp="1"/>
          </p:cNvGraphicFramePr>
          <p:nvPr>
            <p:extLst>
              <p:ext uri="{D42A27DB-BD31-4B8C-83A1-F6EECF244321}">
                <p14:modId xmlns:p14="http://schemas.microsoft.com/office/powerpoint/2010/main" val="584093244"/>
              </p:ext>
            </p:extLst>
          </p:nvPr>
        </p:nvGraphicFramePr>
        <p:xfrm>
          <a:off x="7593713" y="3655177"/>
          <a:ext cx="1468284" cy="640080"/>
        </p:xfrm>
        <a:graphic>
          <a:graphicData uri="http://schemas.openxmlformats.org/drawingml/2006/table">
            <a:tbl>
              <a:tblPr firstRow="1" bandRow="1"/>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8" name="Table 7">
            <a:extLst>
              <a:ext uri="{FF2B5EF4-FFF2-40B4-BE49-F238E27FC236}">
                <a16:creationId xmlns:a16="http://schemas.microsoft.com/office/drawing/2014/main" id="{488741A6-B54A-AAA9-BF08-77EE2E06ADFB}"/>
              </a:ext>
            </a:extLst>
          </p:cNvPr>
          <p:cNvGraphicFramePr>
            <a:graphicFrameLocks noGrp="1"/>
          </p:cNvGraphicFramePr>
          <p:nvPr>
            <p:extLst>
              <p:ext uri="{D42A27DB-BD31-4B8C-83A1-F6EECF244321}">
                <p14:modId xmlns:p14="http://schemas.microsoft.com/office/powerpoint/2010/main" val="931829329"/>
              </p:ext>
            </p:extLst>
          </p:nvPr>
        </p:nvGraphicFramePr>
        <p:xfrm>
          <a:off x="7593713" y="4294464"/>
          <a:ext cx="1468284" cy="2225040"/>
        </p:xfrm>
        <a:graphic>
          <a:graphicData uri="http://schemas.openxmlformats.org/drawingml/2006/table">
            <a:tbl>
              <a:tblPr firstRow="1" bandRow="1"/>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t</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01988286"/>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178128217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73188255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42399944"/>
                  </a:ext>
                </a:extLst>
              </a:tr>
            </a:tbl>
          </a:graphicData>
        </a:graphic>
      </p:graphicFrame>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290</a:t>
            </a:r>
          </a:p>
        </p:txBody>
      </p:sp>
      <p:sp>
        <p:nvSpPr>
          <p:cNvPr id="1011" name="Answer 1011"/>
          <p:cNvSpPr txBox="1"/>
          <p:nvPr/>
        </p:nvSpPr>
        <p:spPr>
          <a:xfrm>
            <a:off x="7594600" y="46609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−5</a:t>
            </a:r>
          </a:p>
        </p:txBody>
      </p:sp>
      <p:sp>
        <p:nvSpPr>
          <p:cNvPr id="1012" name="Answer 1012"/>
          <p:cNvSpPr txBox="1"/>
          <p:nvPr/>
        </p:nvSpPr>
        <p:spPr>
          <a:xfrm>
            <a:off x="7594600" y="50292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1013" name="Answer 1013"/>
          <p:cNvSpPr txBox="1"/>
          <p:nvPr/>
        </p:nvSpPr>
        <p:spPr>
          <a:xfrm>
            <a:off x="7594600" y="53975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−3</a:t>
            </a:r>
          </a:p>
        </p:txBody>
      </p:sp>
      <p:sp>
        <p:nvSpPr>
          <p:cNvPr id="1014" name="Answer 1014"/>
          <p:cNvSpPr txBox="1"/>
          <p:nvPr/>
        </p:nvSpPr>
        <p:spPr>
          <a:xfrm>
            <a:off x="7594600" y="57658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a:t>
            </a:r>
          </a:p>
        </p:txBody>
      </p:sp>
      <p:sp>
        <p:nvSpPr>
          <p:cNvPr id="1015" name="Answer 1015"/>
          <p:cNvSpPr txBox="1"/>
          <p:nvPr/>
        </p:nvSpPr>
        <p:spPr>
          <a:xfrm>
            <a:off x="7594600" y="61341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a:t>
            </a:r>
          </a:p>
        </p:txBody>
      </p:sp>
      <p:sp>
        <p:nvSpPr>
          <p:cNvPr id="1016" name="Answer 1016"/>
          <p:cNvSpPr txBox="1"/>
          <p:nvPr/>
        </p:nvSpPr>
        <p:spPr>
          <a:xfrm>
            <a:off x="8331200" y="46609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a:t>
            </a:r>
          </a:p>
        </p:txBody>
      </p:sp>
      <p:sp>
        <p:nvSpPr>
          <p:cNvPr id="1017" name="Answer 1017"/>
          <p:cNvSpPr txBox="1"/>
          <p:nvPr/>
        </p:nvSpPr>
        <p:spPr>
          <a:xfrm>
            <a:off x="8331200" y="50292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a:t>
            </a:r>
          </a:p>
        </p:txBody>
      </p:sp>
      <p:sp>
        <p:nvSpPr>
          <p:cNvPr id="1018" name="Answer 1018"/>
          <p:cNvSpPr txBox="1"/>
          <p:nvPr/>
        </p:nvSpPr>
        <p:spPr>
          <a:xfrm>
            <a:off x="8331200" y="53975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0</a:t>
            </a:r>
          </a:p>
        </p:txBody>
      </p:sp>
      <p:sp>
        <p:nvSpPr>
          <p:cNvPr id="1019" name="Answer 1019"/>
          <p:cNvSpPr txBox="1"/>
          <p:nvPr/>
        </p:nvSpPr>
        <p:spPr>
          <a:xfrm>
            <a:off x="8331200" y="57658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a:t>
            </a:r>
          </a:p>
        </p:txBody>
      </p:sp>
      <p:sp>
        <p:nvSpPr>
          <p:cNvPr id="1020" name="Answer 1020"/>
          <p:cNvSpPr txBox="1"/>
          <p:nvPr/>
        </p:nvSpPr>
        <p:spPr>
          <a:xfrm>
            <a:off x="8331200" y="61341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a:t>
            </a:r>
          </a:p>
        </p:txBody>
      </p:sp>
      <p:sp>
        <p:nvSpPr>
          <p:cNvPr id="1021" name="Answer 1021"/>
          <p:cNvSpPr txBox="1"/>
          <p:nvPr/>
        </p:nvSpPr>
        <p:spPr>
          <a:xfrm>
            <a:off x="9207500" y="4660900"/>
            <a:ext cx="27940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t(x): through (−3, 0) and (0, 3)</a:t>
            </a:r>
          </a:p>
        </p:txBody>
      </p:sp>
    </p:spTree>
    <p:extLst>
      <p:ext uri="{BB962C8B-B14F-4D97-AF65-F5344CB8AC3E}">
        <p14:creationId xmlns:p14="http://schemas.microsoft.com/office/powerpoint/2010/main" val="3900736815"/>
      </p:ext>
    </p:extLst>
  </p:cSld>
  <p:clrMapOvr>
    <a:masterClrMapping/>
  </p:clrMapOvr>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01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1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1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1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1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1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01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1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02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0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3DC2F5-1AF4-C8AD-96A6-2C203AFF6C5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F781291-2D12-F181-9C7C-183658D864CA}"/>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(4 of 17)</a:t>
            </a:r>
          </a:p>
        </p:txBody>
      </p:sp>
      <p:sp>
        <p:nvSpPr>
          <p:cNvPr id="9" name="Text Placeholder 2">
            <a:extLst>
              <a:ext uri="{FF2B5EF4-FFF2-40B4-BE49-F238E27FC236}">
                <a16:creationId xmlns:a16="http://schemas.microsoft.com/office/drawing/2014/main" id="{A0858383-C46F-D5B0-38E5-AB1ACC51AEB3}"/>
              </a:ext>
            </a:extLst>
          </p:cNvPr>
          <p:cNvSpPr txBox="1">
            <a:spLocks/>
          </p:cNvSpPr>
          <p:nvPr/>
        </p:nvSpPr>
        <p:spPr>
          <a:xfrm>
            <a:off x="611779" y="1610097"/>
            <a:ext cx="10787742" cy="88753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14350">
              <a:buFont typeface="+mj-lt"/>
              <a:buAutoNum type="alphaLcPeriod" startAt="2"/>
            </a:pPr>
            <a:r>
              <a:rPr lang="en-US" dirty="0">
                <a:solidFill>
                  <a:srgbClr val="000000"/>
                </a:solidFill>
              </a:rPr>
              <a:t>Translate the graph of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up 3 units. Label your graph as </a:t>
            </a:r>
            <a:r>
              <a:rPr lang="en-US" i="1" dirty="0">
                <a:solidFill>
                  <a:srgbClr val="000000"/>
                </a:solidFill>
              </a:rPr>
              <a:t>w</a:t>
            </a:r>
            <a:r>
              <a:rPr lang="en-US" dirty="0">
                <a:solidFill>
                  <a:srgbClr val="000000"/>
                </a:solidFill>
              </a:rPr>
              <a:t>(</a:t>
            </a:r>
            <a:r>
              <a:rPr lang="en-US" i="1" dirty="0">
                <a:solidFill>
                  <a:srgbClr val="000000"/>
                </a:solidFill>
              </a:rPr>
              <a:t>x</a:t>
            </a:r>
            <a:r>
              <a:rPr lang="en-US" dirty="0">
                <a:solidFill>
                  <a:srgbClr val="000000"/>
                </a:solidFill>
              </a:rPr>
              <a:t>). Complete the table of corresponding points on </a:t>
            </a:r>
            <a:r>
              <a:rPr lang="en-US" i="1" dirty="0">
                <a:solidFill>
                  <a:srgbClr val="000000"/>
                </a:solidFill>
              </a:rPr>
              <a:t>w</a:t>
            </a:r>
            <a:r>
              <a:rPr lang="en-US" dirty="0">
                <a:solidFill>
                  <a:srgbClr val="000000"/>
                </a:solidFill>
              </a:rPr>
              <a:t>(</a:t>
            </a:r>
            <a:r>
              <a:rPr lang="en-US" i="1" dirty="0">
                <a:solidFill>
                  <a:srgbClr val="000000"/>
                </a:solidFill>
              </a:rPr>
              <a:t>x</a:t>
            </a:r>
            <a:r>
              <a:rPr lang="en-US" dirty="0">
                <a:solidFill>
                  <a:srgbClr val="000000"/>
                </a:solidFill>
              </a:rPr>
              <a:t>).</a:t>
            </a:r>
          </a:p>
          <a:p>
            <a:pPr marL="514350" lvl="2" indent="0">
              <a:lnSpc>
                <a:spcPct val="100000"/>
              </a:lnSpc>
              <a:spcBef>
                <a:spcPts val="200"/>
              </a:spcBef>
              <a:spcAft>
                <a:spcPts val="600"/>
              </a:spcAft>
              <a:buNone/>
            </a:pPr>
            <a:r>
              <a:rPr lang="en-US" sz="2000" dirty="0">
                <a:solidFill>
                  <a:srgbClr val="FF0000"/>
                </a:solidFill>
              </a:rPr>
              <a:t>Graph w(x): through (0, 3) and (−3, 0). It is the same line as t(x).</a:t>
            </a:r>
          </a:p>
        </p:txBody>
      </p:sp>
      <p:sp>
        <p:nvSpPr>
          <p:cNvPr id="2" name="Speech Bubble: Rectangle with Corners Rounded 1">
            <a:extLst>
              <a:ext uri="{FF2B5EF4-FFF2-40B4-BE49-F238E27FC236}">
                <a16:creationId xmlns:a16="http://schemas.microsoft.com/office/drawing/2014/main" id="{D1512133-38D2-C1A5-0129-4F74E86149C9}"/>
              </a:ext>
            </a:extLst>
          </p:cNvPr>
          <p:cNvSpPr/>
          <p:nvPr/>
        </p:nvSpPr>
        <p:spPr>
          <a:xfrm>
            <a:off x="518760" y="4931229"/>
            <a:ext cx="2102520" cy="1550306"/>
          </a:xfrm>
          <a:prstGeom prst="wedgeRoundRectCallout">
            <a:avLst>
              <a:gd name="adj1" fmla="val -30166"/>
              <a:gd name="adj2" fmla="val -65415"/>
              <a:gd name="adj3" fmla="val 16667"/>
            </a:avLst>
          </a:prstGeom>
          <a:ln>
            <a:solidFill>
              <a:srgbClr val="2B8147"/>
            </a:solidFill>
          </a:ln>
        </p:spPr>
        <p:style>
          <a:lnRef idx="2">
            <a:schemeClr val="accent6"/>
          </a:lnRef>
          <a:fillRef idx="1">
            <a:schemeClr val="lt1"/>
          </a:fillRef>
          <a:effectRef idx="0">
            <a:schemeClr val="accent6"/>
          </a:effectRef>
          <a:fontRef idx="minor">
            <a:schemeClr val="dk1"/>
          </a:fontRef>
        </p:style>
        <p:txBody>
          <a:bodyPr rtlCol="0" anchor="ctr"/>
          <a:lstStyle/>
          <a:p>
            <a:r>
              <a:rPr lang="en-US" sz="2000" b="1" dirty="0">
                <a:solidFill>
                  <a:srgbClr val="2B8147"/>
                </a:solidFill>
              </a:rPr>
              <a:t>Ask Yourself…</a:t>
            </a:r>
          </a:p>
          <a:p>
            <a:r>
              <a:rPr lang="en-US" sz="2000" dirty="0">
                <a:solidFill>
                  <a:srgbClr val="000000"/>
                </a:solidFill>
              </a:rPr>
              <a:t>What observations can you make? </a:t>
            </a:r>
          </a:p>
        </p:txBody>
      </p:sp>
      <p:pic>
        <p:nvPicPr>
          <p:cNvPr id="3" name="Picture 2" descr="A graph of line f of x = x on the coordinate plane. The line rises from left to right through the points from the table, including the points (0, 0) and (2, 2).">
            <a:extLst>
              <a:ext uri="{FF2B5EF4-FFF2-40B4-BE49-F238E27FC236}">
                <a16:creationId xmlns:a16="http://schemas.microsoft.com/office/drawing/2014/main" id="{71EB44FC-5BC7-2B83-1979-1637F1B6431C}"/>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3062084" y="2844538"/>
            <a:ext cx="3516288" cy="3523899"/>
          </a:xfrm>
          <a:prstGeom prst="rect">
            <a:avLst/>
          </a:prstGeom>
        </p:spPr>
      </p:pic>
      <p:graphicFrame>
        <p:nvGraphicFramePr>
          <p:cNvPr id="6" name="Table 5">
            <a:extLst>
              <a:ext uri="{FF2B5EF4-FFF2-40B4-BE49-F238E27FC236}">
                <a16:creationId xmlns:a16="http://schemas.microsoft.com/office/drawing/2014/main" id="{9EC4522A-E51F-51CD-09F4-C545002ACDCA}"/>
              </a:ext>
            </a:extLst>
          </p:cNvPr>
          <p:cNvGraphicFramePr>
            <a:graphicFrameLocks noGrp="1"/>
          </p:cNvGraphicFramePr>
          <p:nvPr>
            <p:extLst>
              <p:ext uri="{D42A27DB-BD31-4B8C-83A1-F6EECF244321}">
                <p14:modId xmlns:p14="http://schemas.microsoft.com/office/powerpoint/2010/main" val="2424319434"/>
              </p:ext>
            </p:extLst>
          </p:nvPr>
        </p:nvGraphicFramePr>
        <p:xfrm>
          <a:off x="7537630" y="3174324"/>
          <a:ext cx="1365806" cy="640080"/>
        </p:xfrm>
        <a:graphic>
          <a:graphicData uri="http://schemas.openxmlformats.org/drawingml/2006/table">
            <a:tbl>
              <a:tblPr firstRow="1" bandRow="1"/>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8" name="Table 7">
            <a:extLst>
              <a:ext uri="{FF2B5EF4-FFF2-40B4-BE49-F238E27FC236}">
                <a16:creationId xmlns:a16="http://schemas.microsoft.com/office/drawing/2014/main" id="{3328A676-A009-689C-3059-5F66A3D69D1E}"/>
              </a:ext>
            </a:extLst>
          </p:cNvPr>
          <p:cNvGraphicFramePr>
            <a:graphicFrameLocks noGrp="1"/>
          </p:cNvGraphicFramePr>
          <p:nvPr>
            <p:extLst>
              <p:ext uri="{D42A27DB-BD31-4B8C-83A1-F6EECF244321}">
                <p14:modId xmlns:p14="http://schemas.microsoft.com/office/powerpoint/2010/main" val="2691117658"/>
              </p:ext>
            </p:extLst>
          </p:nvPr>
        </p:nvGraphicFramePr>
        <p:xfrm>
          <a:off x="7537630" y="3813611"/>
          <a:ext cx="1365806" cy="2225040"/>
        </p:xfrm>
        <a:graphic>
          <a:graphicData uri="http://schemas.openxmlformats.org/drawingml/2006/table">
            <a:tbl>
              <a:tblPr firstRow="1" bandRow="1"/>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10" name="Table 9">
            <a:extLst>
              <a:ext uri="{FF2B5EF4-FFF2-40B4-BE49-F238E27FC236}">
                <a16:creationId xmlns:a16="http://schemas.microsoft.com/office/drawing/2014/main" id="{BFB4B816-9F69-F93D-113E-F34A800322ED}"/>
              </a:ext>
            </a:extLst>
          </p:cNvPr>
          <p:cNvGraphicFramePr>
            <a:graphicFrameLocks noGrp="1"/>
          </p:cNvGraphicFramePr>
          <p:nvPr>
            <p:extLst>
              <p:ext uri="{D42A27DB-BD31-4B8C-83A1-F6EECF244321}">
                <p14:modId xmlns:p14="http://schemas.microsoft.com/office/powerpoint/2010/main" val="4036392088"/>
              </p:ext>
            </p:extLst>
          </p:nvPr>
        </p:nvGraphicFramePr>
        <p:xfrm>
          <a:off x="9222216" y="3174324"/>
          <a:ext cx="1468284" cy="640080"/>
        </p:xfrm>
        <a:graphic>
          <a:graphicData uri="http://schemas.openxmlformats.org/drawingml/2006/table">
            <a:tbl>
              <a:tblPr firstRow="1" bandRow="1"/>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11" name="Table 10">
            <a:extLst>
              <a:ext uri="{FF2B5EF4-FFF2-40B4-BE49-F238E27FC236}">
                <a16:creationId xmlns:a16="http://schemas.microsoft.com/office/drawing/2014/main" id="{E10D2668-62E4-8D92-8DEF-9891FC869E2C}"/>
              </a:ext>
            </a:extLst>
          </p:cNvPr>
          <p:cNvGraphicFramePr>
            <a:graphicFrameLocks noGrp="1"/>
          </p:cNvGraphicFramePr>
          <p:nvPr>
            <p:extLst>
              <p:ext uri="{D42A27DB-BD31-4B8C-83A1-F6EECF244321}">
                <p14:modId xmlns:p14="http://schemas.microsoft.com/office/powerpoint/2010/main" val="760825230"/>
              </p:ext>
            </p:extLst>
          </p:nvPr>
        </p:nvGraphicFramePr>
        <p:xfrm>
          <a:off x="9222216" y="3813611"/>
          <a:ext cx="1468284" cy="2225040"/>
        </p:xfrm>
        <a:graphic>
          <a:graphicData uri="http://schemas.openxmlformats.org/drawingml/2006/table">
            <a:tbl>
              <a:tblPr firstRow="1" bandRow="1"/>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w</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01988286"/>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178128217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73188255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42399944"/>
                  </a:ext>
                </a:extLst>
              </a:tr>
            </a:tbl>
          </a:graphicData>
        </a:graphic>
      </p:graphicFrame>
      <p:sp>
        <p:nvSpPr>
          <p:cNvPr id="1011" name="Slide Number 101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
        <p:nvSpPr>
          <p:cNvPr id="1012" name="Answer 101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290</a:t>
            </a:r>
          </a:p>
        </p:txBody>
      </p:sp>
      <p:sp>
        <p:nvSpPr>
          <p:cNvPr id="1013" name="Answer 1013"/>
          <p:cNvSpPr txBox="1"/>
          <p:nvPr/>
        </p:nvSpPr>
        <p:spPr>
          <a:xfrm>
            <a:off x="9220200" y="41846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a:t>
            </a:r>
          </a:p>
        </p:txBody>
      </p:sp>
      <p:sp>
        <p:nvSpPr>
          <p:cNvPr id="1014" name="Answer 1014"/>
          <p:cNvSpPr txBox="1"/>
          <p:nvPr/>
        </p:nvSpPr>
        <p:spPr>
          <a:xfrm>
            <a:off x="9220200" y="45529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a:t>
            </a:r>
          </a:p>
        </p:txBody>
      </p:sp>
      <p:sp>
        <p:nvSpPr>
          <p:cNvPr id="1015" name="Answer 1015"/>
          <p:cNvSpPr txBox="1"/>
          <p:nvPr/>
        </p:nvSpPr>
        <p:spPr>
          <a:xfrm>
            <a:off x="9220200" y="49212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0</a:t>
            </a:r>
          </a:p>
        </p:txBody>
      </p:sp>
      <p:sp>
        <p:nvSpPr>
          <p:cNvPr id="1016" name="Answer 1016"/>
          <p:cNvSpPr txBox="1"/>
          <p:nvPr/>
        </p:nvSpPr>
        <p:spPr>
          <a:xfrm>
            <a:off x="9220200" y="52895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a:t>
            </a:r>
          </a:p>
        </p:txBody>
      </p:sp>
      <p:sp>
        <p:nvSpPr>
          <p:cNvPr id="1017" name="Answer 1017"/>
          <p:cNvSpPr txBox="1"/>
          <p:nvPr/>
        </p:nvSpPr>
        <p:spPr>
          <a:xfrm>
            <a:off x="9220200" y="56578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a:t>
            </a:r>
          </a:p>
        </p:txBody>
      </p:sp>
      <p:sp>
        <p:nvSpPr>
          <p:cNvPr id="1018" name="Answer 1018"/>
          <p:cNvSpPr txBox="1"/>
          <p:nvPr/>
        </p:nvSpPr>
        <p:spPr>
          <a:xfrm>
            <a:off x="9956800" y="41846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a:t>
            </a:r>
          </a:p>
        </p:txBody>
      </p:sp>
      <p:sp>
        <p:nvSpPr>
          <p:cNvPr id="1019" name="Answer 1019"/>
          <p:cNvSpPr txBox="1"/>
          <p:nvPr/>
        </p:nvSpPr>
        <p:spPr>
          <a:xfrm>
            <a:off x="9956800" y="45529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a:t>
            </a:r>
          </a:p>
        </p:txBody>
      </p:sp>
      <p:sp>
        <p:nvSpPr>
          <p:cNvPr id="1020" name="Answer 1020"/>
          <p:cNvSpPr txBox="1"/>
          <p:nvPr/>
        </p:nvSpPr>
        <p:spPr>
          <a:xfrm>
            <a:off x="9956800" y="49212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3</a:t>
            </a:r>
          </a:p>
        </p:txBody>
      </p:sp>
      <p:sp>
        <p:nvSpPr>
          <p:cNvPr id="1021" name="Answer 1021"/>
          <p:cNvSpPr txBox="1"/>
          <p:nvPr/>
        </p:nvSpPr>
        <p:spPr>
          <a:xfrm>
            <a:off x="9956800" y="52895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1022" name="Answer 1022"/>
          <p:cNvSpPr txBox="1"/>
          <p:nvPr/>
        </p:nvSpPr>
        <p:spPr>
          <a:xfrm>
            <a:off x="9956800" y="56578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5</a:t>
            </a:r>
          </a:p>
        </p:txBody>
      </p:sp>
    </p:spTree>
    <p:extLst>
      <p:ext uri="{BB962C8B-B14F-4D97-AF65-F5344CB8AC3E}">
        <p14:creationId xmlns:p14="http://schemas.microsoft.com/office/powerpoint/2010/main" val="220961929"/>
      </p:ext>
    </p:extLst>
  </p:cSld>
  <p:clrMapOvr>
    <a:masterClrMapping/>
  </p:clrMapOvr>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3"/>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0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1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1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1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1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020"/>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2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02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D8A05F-5C90-F1F2-CB2A-B0F4F2A36B5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C6348D7-528A-BBE0-5790-60DA1F914020}"/>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(5 of 17)</a:t>
            </a:r>
          </a:p>
        </p:txBody>
      </p:sp>
      <p:sp>
        <p:nvSpPr>
          <p:cNvPr id="9" name="Text Placeholder 2">
            <a:extLst>
              <a:ext uri="{FF2B5EF4-FFF2-40B4-BE49-F238E27FC236}">
                <a16:creationId xmlns:a16="http://schemas.microsoft.com/office/drawing/2014/main" id="{6F6D7115-DA8F-5094-784C-AD5332CE06B4}"/>
              </a:ext>
            </a:extLst>
          </p:cNvPr>
          <p:cNvSpPr txBox="1">
            <a:spLocks/>
          </p:cNvSpPr>
          <p:nvPr/>
        </p:nvSpPr>
        <p:spPr>
          <a:xfrm>
            <a:off x="620487" y="1602376"/>
            <a:ext cx="10787742" cy="4564911"/>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14350">
              <a:buFont typeface="+mj-lt"/>
              <a:buAutoNum type="alphaLcPeriod" startAt="3"/>
            </a:pPr>
            <a:r>
              <a:rPr lang="en-US" dirty="0">
                <a:solidFill>
                  <a:srgbClr val="000000"/>
                </a:solidFill>
              </a:rPr>
              <a:t>Compare the table of values for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t</a:t>
            </a:r>
            <a:r>
              <a:rPr lang="en-US" dirty="0">
                <a:solidFill>
                  <a:srgbClr val="000000"/>
                </a:solidFill>
              </a:rPr>
              <a:t>(</a:t>
            </a:r>
            <a:r>
              <a:rPr lang="en-US" i="1" dirty="0">
                <a:solidFill>
                  <a:srgbClr val="000000"/>
                </a:solidFill>
              </a:rPr>
              <a:t>x</a:t>
            </a:r>
            <a:r>
              <a:rPr lang="en-US" dirty="0">
                <a:solidFill>
                  <a:srgbClr val="000000"/>
                </a:solidFill>
              </a:rPr>
              <a:t>). Are the input values or output values affected by this horizontal translation?</a:t>
            </a:r>
            <a:br>
              <a:rPr lang="en-US" dirty="0">
                <a:solidFill>
                  <a:srgbClr val="000000"/>
                </a:solidFill>
              </a:rPr>
            </a:br>
            <a:endParaRPr lang="en-US" dirty="0">
              <a:solidFill>
                <a:srgbClr val="000000"/>
              </a:solidFill>
            </a:endParaRPr>
          </a:p>
          <a:p>
            <a:pPr marL="514350" lvl="2" indent="0">
              <a:lnSpc>
                <a:spcPct val="100000"/>
              </a:lnSpc>
              <a:spcBef>
                <a:spcPts val="200"/>
              </a:spcBef>
              <a:spcAft>
                <a:spcPts val="600"/>
              </a:spcAft>
              <a:buNone/>
            </a:pPr>
            <a:r>
              <a:rPr lang="en-US" sz="2000" dirty="0">
                <a:solidFill>
                  <a:srgbClr val="FF0000"/>
                </a:solidFill>
              </a:rPr>
              <a:t>The input values. The output values stay the same.</a:t>
            </a:r>
          </a:p>
          <a:p>
            <a:pPr marL="514350" lvl="1" indent="-514350">
              <a:buFont typeface="+mj-lt"/>
              <a:buAutoNum type="alphaLcPeriod" startAt="3"/>
            </a:pPr>
            <a:r>
              <a:rPr lang="en-US" dirty="0">
                <a:solidFill>
                  <a:srgbClr val="000000"/>
                </a:solidFill>
              </a:rPr>
              <a:t>Compare the table of values for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w</a:t>
            </a:r>
            <a:r>
              <a:rPr lang="en-US" dirty="0">
                <a:solidFill>
                  <a:srgbClr val="000000"/>
                </a:solidFill>
              </a:rPr>
              <a:t>(</a:t>
            </a:r>
            <a:r>
              <a:rPr lang="en-US" i="1" dirty="0">
                <a:solidFill>
                  <a:srgbClr val="000000"/>
                </a:solidFill>
              </a:rPr>
              <a:t>x</a:t>
            </a:r>
            <a:r>
              <a:rPr lang="en-US" dirty="0">
                <a:solidFill>
                  <a:srgbClr val="000000"/>
                </a:solidFill>
              </a:rPr>
              <a:t>). Are the input values or output values affected by this vertical translation?</a:t>
            </a:r>
            <a:br>
              <a:rPr lang="en-US" dirty="0">
                <a:solidFill>
                  <a:srgbClr val="000000"/>
                </a:solidFill>
              </a:rPr>
            </a:br>
            <a:endParaRPr lang="en-US" dirty="0">
              <a:solidFill>
                <a:srgbClr val="000000"/>
              </a:solidFill>
            </a:endParaRPr>
          </a:p>
          <a:p>
            <a:pPr marL="514350" lvl="2" indent="0">
              <a:lnSpc>
                <a:spcPct val="100000"/>
              </a:lnSpc>
              <a:spcBef>
                <a:spcPts val="200"/>
              </a:spcBef>
              <a:spcAft>
                <a:spcPts val="600"/>
              </a:spcAft>
              <a:buNone/>
            </a:pPr>
            <a:r>
              <a:rPr lang="en-US" sz="2000" dirty="0">
                <a:solidFill>
                  <a:srgbClr val="FF0000"/>
                </a:solidFill>
              </a:rPr>
              <a:t>The output values. The input values stay the same.</a:t>
            </a:r>
          </a:p>
          <a:p>
            <a:pPr marL="514350" lvl="1" indent="-514350">
              <a:buFont typeface="+mj-lt"/>
              <a:buAutoNum type="alphaLcPeriod" startAt="3"/>
            </a:pPr>
            <a:r>
              <a:rPr lang="en-US" dirty="0">
                <a:solidFill>
                  <a:srgbClr val="000000"/>
                </a:solidFill>
              </a:rPr>
              <a:t>Compare the graphs and tables of values for </a:t>
            </a:r>
            <a:r>
              <a:rPr lang="en-US" i="1" dirty="0">
                <a:solidFill>
                  <a:srgbClr val="000000"/>
                </a:solidFill>
              </a:rPr>
              <a:t>t</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w</a:t>
            </a:r>
            <a:r>
              <a:rPr lang="en-US" dirty="0">
                <a:solidFill>
                  <a:srgbClr val="000000"/>
                </a:solidFill>
              </a:rPr>
              <a:t>(</a:t>
            </a:r>
            <a:r>
              <a:rPr lang="en-US" i="1" dirty="0">
                <a:solidFill>
                  <a:srgbClr val="000000"/>
                </a:solidFill>
              </a:rPr>
              <a:t>x</a:t>
            </a:r>
            <a:r>
              <a:rPr lang="en-US" dirty="0">
                <a:solidFill>
                  <a:srgbClr val="000000"/>
                </a:solidFill>
              </a:rPr>
              <a:t>). What do you notice?</a:t>
            </a:r>
          </a:p>
          <a:p>
            <a:pPr marL="514350" lvl="2" indent="0">
              <a:lnSpc>
                <a:spcPct val="100000"/>
              </a:lnSpc>
              <a:spcBef>
                <a:spcPts val="200"/>
              </a:spcBef>
              <a:spcAft>
                <a:spcPts val="600"/>
              </a:spcAft>
              <a:buNone/>
            </a:pPr>
            <a:r>
              <a:rPr lang="en-US" sz="2000" dirty="0">
                <a:solidFill>
                  <a:srgbClr val="FF0000"/>
                </a:solidFill>
              </a:rPr>
              <a:t>The graphs of t(x) and w(x) are the same line, y = x + 3, but their tables of values are different.</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291</a:t>
            </a:r>
          </a:p>
        </p:txBody>
      </p:sp>
    </p:spTree>
    <p:extLst>
      <p:ext uri="{BB962C8B-B14F-4D97-AF65-F5344CB8AC3E}">
        <p14:creationId xmlns:p14="http://schemas.microsoft.com/office/powerpoint/2010/main" val="29948710"/>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83010E-8AFA-0986-93F9-FC66AB3C9D9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55C9B82-9604-07DE-74F2-56EC89BD3A2D}"/>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(6 of 17)</a:t>
            </a:r>
          </a:p>
        </p:txBody>
      </p:sp>
      <p:sp>
        <p:nvSpPr>
          <p:cNvPr id="9" name="Text Placeholder 2">
            <a:extLst>
              <a:ext uri="{FF2B5EF4-FFF2-40B4-BE49-F238E27FC236}">
                <a16:creationId xmlns:a16="http://schemas.microsoft.com/office/drawing/2014/main" id="{360BFC95-E711-EDD8-464B-EA00FE689DE4}"/>
              </a:ext>
            </a:extLst>
          </p:cNvPr>
          <p:cNvSpPr txBox="1">
            <a:spLocks/>
          </p:cNvSpPr>
          <p:nvPr/>
        </p:nvSpPr>
        <p:spPr>
          <a:xfrm>
            <a:off x="777239" y="1687288"/>
            <a:ext cx="11118670" cy="458885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14350">
              <a:buFont typeface="+mj-lt"/>
              <a:buAutoNum type="arabicPeriod" startAt="2"/>
            </a:pPr>
            <a:r>
              <a:rPr lang="en-US" dirty="0">
                <a:solidFill>
                  <a:srgbClr val="000000"/>
                </a:solidFill>
              </a:rPr>
              <a:t>Which transformation(s) of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a:t>
            </a:r>
            <a:r>
              <a:rPr lang="en-US" dirty="0">
                <a:solidFill>
                  <a:srgbClr val="000000"/>
                </a:solidFill>
              </a:rPr>
              <a:t> affect the input values of the corresponding points on the transformed function?</a:t>
            </a:r>
            <a:br>
              <a:rPr lang="en-US" dirty="0">
                <a:solidFill>
                  <a:srgbClr val="000000"/>
                </a:solidFill>
              </a:rPr>
            </a:br>
            <a:br>
              <a:rPr lang="en-US" dirty="0">
                <a:solidFill>
                  <a:srgbClr val="000000"/>
                </a:solidFill>
              </a:rPr>
            </a:br>
            <a:endParaRPr lang="en-US" dirty="0">
              <a:solidFill>
                <a:srgbClr val="000000"/>
              </a:solidFill>
            </a:endParaRPr>
          </a:p>
          <a:p>
            <a:pPr marL="514350" lvl="2" indent="0">
              <a:lnSpc>
                <a:spcPct val="100000"/>
              </a:lnSpc>
              <a:spcBef>
                <a:spcPts val="200"/>
              </a:spcBef>
              <a:spcAft>
                <a:spcPts val="600"/>
              </a:spcAft>
              <a:buNone/>
            </a:pPr>
            <a:r>
              <a:rPr lang="en-US" sz="2000" dirty="0">
                <a:solidFill>
                  <a:srgbClr val="FF0000"/>
                </a:solidFill>
              </a:rPr>
              <a:t>Horizontal translations, y = f(x − c). The output values of the corresponding points stay the same.</a:t>
            </a:r>
          </a:p>
          <a:p>
            <a:pPr marL="514350" lvl="1" indent="-514350">
              <a:buFont typeface="+mj-lt"/>
              <a:buAutoNum type="arabicPeriod" startAt="2"/>
            </a:pPr>
            <a:r>
              <a:rPr lang="en-US" dirty="0">
                <a:solidFill>
                  <a:srgbClr val="000000"/>
                </a:solidFill>
              </a:rPr>
              <a:t>Which transformation(s) of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a:t>
            </a:r>
            <a:r>
              <a:rPr lang="en-US" dirty="0">
                <a:solidFill>
                  <a:srgbClr val="000000"/>
                </a:solidFill>
              </a:rPr>
              <a:t> affect the output values of the corresponding points on the transformed function?</a:t>
            </a:r>
          </a:p>
          <a:p>
            <a:pPr marL="514350" lvl="2" indent="0">
              <a:lnSpc>
                <a:spcPct val="100000"/>
              </a:lnSpc>
              <a:spcBef>
                <a:spcPts val="200"/>
              </a:spcBef>
              <a:spcAft>
                <a:spcPts val="600"/>
              </a:spcAft>
              <a:buNone/>
            </a:pPr>
            <a:r>
              <a:rPr lang="en-US" sz="2000" dirty="0">
                <a:solidFill>
                  <a:srgbClr val="FF0000"/>
                </a:solidFill>
              </a:rPr>
              <a:t>Vertical translations, y = f(x) + d. The input values of the corresponding points stay the same.</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291</a:t>
            </a:r>
          </a:p>
        </p:txBody>
      </p:sp>
    </p:spTree>
    <p:extLst>
      <p:ext uri="{BB962C8B-B14F-4D97-AF65-F5344CB8AC3E}">
        <p14:creationId xmlns:p14="http://schemas.microsoft.com/office/powerpoint/2010/main" val="31067373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D3833-12EF-FCCF-A972-47B31CC6835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7BD5890-2403-8CAF-8DEF-09E1DE466733}"/>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(7 of 17)</a:t>
            </a:r>
          </a:p>
        </p:txBody>
      </p:sp>
      <p:sp>
        <p:nvSpPr>
          <p:cNvPr id="9" name="Text Placeholder 2">
            <a:extLst>
              <a:ext uri="{FF2B5EF4-FFF2-40B4-BE49-F238E27FC236}">
                <a16:creationId xmlns:a16="http://schemas.microsoft.com/office/drawing/2014/main" id="{51CFB8DF-8110-5078-BCFA-13F8C6C435BE}"/>
              </a:ext>
            </a:extLst>
          </p:cNvPr>
          <p:cNvSpPr txBox="1">
            <a:spLocks/>
          </p:cNvSpPr>
          <p:nvPr/>
        </p:nvSpPr>
        <p:spPr>
          <a:xfrm>
            <a:off x="777239" y="1687288"/>
            <a:ext cx="11075127" cy="458885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14350">
              <a:buFont typeface="+mj-lt"/>
              <a:buAutoNum type="arabicPeriod" startAt="4"/>
            </a:pPr>
            <a:r>
              <a:rPr lang="en-US" dirty="0">
                <a:solidFill>
                  <a:srgbClr val="000000"/>
                </a:solidFill>
              </a:rPr>
              <a:t>Based on your observations, horizontally translating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a:t>
            </a:r>
            <a:r>
              <a:rPr lang="en-US" dirty="0">
                <a:solidFill>
                  <a:srgbClr val="000000"/>
                </a:solidFill>
              </a:rPr>
              <a:t> right </a:t>
            </a:r>
            <a:r>
              <a:rPr lang="en-US" i="1" dirty="0">
                <a:solidFill>
                  <a:srgbClr val="000000"/>
                </a:solidFill>
              </a:rPr>
              <a:t>n</a:t>
            </a:r>
            <a:r>
              <a:rPr lang="en-US" dirty="0">
                <a:solidFill>
                  <a:srgbClr val="000000"/>
                </a:solidFill>
              </a:rPr>
              <a:t> units is equivalent to what other transformation?</a:t>
            </a:r>
            <a:br>
              <a:rPr lang="en-US" dirty="0">
                <a:solidFill>
                  <a:srgbClr val="000000"/>
                </a:solidFill>
              </a:rPr>
            </a:br>
            <a:br>
              <a:rPr lang="en-US" dirty="0">
                <a:solidFill>
                  <a:srgbClr val="000000"/>
                </a:solidFill>
              </a:rPr>
            </a:br>
            <a:endParaRPr lang="en-US" dirty="0">
              <a:solidFill>
                <a:srgbClr val="000000"/>
              </a:solidFill>
            </a:endParaRPr>
          </a:p>
          <a:p>
            <a:pPr marL="514350" lvl="2" indent="0">
              <a:lnSpc>
                <a:spcPct val="100000"/>
              </a:lnSpc>
              <a:spcBef>
                <a:spcPts val="200"/>
              </a:spcBef>
              <a:spcAft>
                <a:spcPts val="600"/>
              </a:spcAft>
              <a:buNone/>
            </a:pPr>
            <a:r>
              <a:rPr lang="en-US" sz="2200" dirty="0">
                <a:solidFill>
                  <a:srgbClr val="FF0000"/>
                </a:solidFill>
              </a:rPr>
              <a:t>A vertical translation down n units.</a:t>
            </a:r>
          </a:p>
          <a:p>
            <a:pPr marL="514350" lvl="1" indent="-514350">
              <a:buFont typeface="+mj-lt"/>
              <a:buAutoNum type="arabicPeriod" startAt="4"/>
            </a:pPr>
            <a:r>
              <a:rPr lang="en-US" dirty="0">
                <a:solidFill>
                  <a:srgbClr val="000000"/>
                </a:solidFill>
              </a:rPr>
              <a:t>Based on your observations, vertically translating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 </a:t>
            </a:r>
            <a:r>
              <a:rPr lang="en-US" dirty="0">
                <a:solidFill>
                  <a:srgbClr val="000000"/>
                </a:solidFill>
              </a:rPr>
              <a:t>up </a:t>
            </a:r>
            <a:r>
              <a:rPr lang="en-US" i="1" dirty="0">
                <a:solidFill>
                  <a:srgbClr val="000000"/>
                </a:solidFill>
              </a:rPr>
              <a:t>n</a:t>
            </a:r>
            <a:r>
              <a:rPr lang="en-US" dirty="0">
                <a:solidFill>
                  <a:srgbClr val="000000"/>
                </a:solidFill>
              </a:rPr>
              <a:t> units is equivalent to what other transformation? </a:t>
            </a:r>
          </a:p>
          <a:p>
            <a:pPr marL="514350" lvl="2" indent="0">
              <a:lnSpc>
                <a:spcPct val="100000"/>
              </a:lnSpc>
              <a:spcBef>
                <a:spcPts val="200"/>
              </a:spcBef>
              <a:spcAft>
                <a:spcPts val="600"/>
              </a:spcAft>
              <a:buNone/>
            </a:pPr>
            <a:r>
              <a:rPr lang="en-US" sz="2200" dirty="0">
                <a:solidFill>
                  <a:srgbClr val="FF0000"/>
                </a:solidFill>
              </a:rPr>
              <a:t>A horizontal translation left n units.</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291</a:t>
            </a:r>
          </a:p>
        </p:txBody>
      </p:sp>
    </p:spTree>
    <p:extLst>
      <p:ext uri="{BB962C8B-B14F-4D97-AF65-F5344CB8AC3E}">
        <p14:creationId xmlns:p14="http://schemas.microsoft.com/office/powerpoint/2010/main" val="723752660"/>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655CC2-EEBB-86B3-9956-D0EA3243AFA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487BF38-1C66-E861-7CA9-91C1EB06DA45}"/>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(8 of 17)</a:t>
            </a:r>
          </a:p>
        </p:txBody>
      </p:sp>
      <p:sp>
        <p:nvSpPr>
          <p:cNvPr id="9" name="Text Placeholder 2">
            <a:extLst>
              <a:ext uri="{FF2B5EF4-FFF2-40B4-BE49-F238E27FC236}">
                <a16:creationId xmlns:a16="http://schemas.microsoft.com/office/drawing/2014/main" id="{8ACD7616-0BF0-EEC6-82ED-1BA560FD8AD2}"/>
              </a:ext>
            </a:extLst>
          </p:cNvPr>
          <p:cNvSpPr txBox="1">
            <a:spLocks/>
          </p:cNvSpPr>
          <p:nvPr/>
        </p:nvSpPr>
        <p:spPr>
          <a:xfrm>
            <a:off x="777240" y="1643744"/>
            <a:ext cx="10056223" cy="458885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buNone/>
            </a:pPr>
            <a:r>
              <a:rPr lang="en-US" dirty="0">
                <a:solidFill>
                  <a:srgbClr val="000000"/>
                </a:solidFill>
              </a:rPr>
              <a:t>For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a:t>
            </a:r>
            <a:r>
              <a:rPr lang="en-US" dirty="0">
                <a:solidFill>
                  <a:srgbClr val="000000"/>
                </a:solidFill>
              </a:rPr>
              <a:t>, the transformed function </a:t>
            </a:r>
            <a:r>
              <a:rPr lang="en-US" i="1" dirty="0">
                <a:solidFill>
                  <a:srgbClr val="000000"/>
                </a:solidFill>
              </a:rPr>
              <a:t>y</a:t>
            </a:r>
            <a:r>
              <a:rPr lang="en-US" dirty="0">
                <a:solidFill>
                  <a:srgbClr val="000000"/>
                </a:solidFill>
              </a:rPr>
              <a:t> =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c</a:t>
            </a:r>
            <a:r>
              <a:rPr lang="en-US" dirty="0">
                <a:solidFill>
                  <a:srgbClr val="000000"/>
                </a:solidFill>
              </a:rPr>
              <a:t>) affects the input values, or </a:t>
            </a:r>
            <a:r>
              <a:rPr lang="en-US" i="1" dirty="0">
                <a:solidFill>
                  <a:srgbClr val="000000"/>
                </a:solidFill>
              </a:rPr>
              <a:t>x</a:t>
            </a:r>
            <a:r>
              <a:rPr lang="en-US" dirty="0">
                <a:solidFill>
                  <a:srgbClr val="000000"/>
                </a:solidFill>
              </a:rPr>
              <a:t>-values, of the function. For </a:t>
            </a:r>
            <a:r>
              <a:rPr lang="en-US" i="1" dirty="0">
                <a:solidFill>
                  <a:srgbClr val="000000"/>
                </a:solidFill>
              </a:rPr>
              <a:t>c</a:t>
            </a:r>
            <a:r>
              <a:rPr lang="en-US" dirty="0">
                <a:solidFill>
                  <a:srgbClr val="000000"/>
                </a:solidFill>
              </a:rPr>
              <a:t> &gt; 0, the resulting graph horizontally shifts right </a:t>
            </a:r>
            <a:r>
              <a:rPr lang="en-US" i="1" dirty="0">
                <a:solidFill>
                  <a:srgbClr val="000000"/>
                </a:solidFill>
              </a:rPr>
              <a:t>c</a:t>
            </a:r>
            <a:r>
              <a:rPr lang="en-US" dirty="0">
                <a:solidFill>
                  <a:srgbClr val="000000"/>
                </a:solidFill>
              </a:rPr>
              <a:t> units. For </a:t>
            </a:r>
            <a:r>
              <a:rPr lang="en-US" i="1" dirty="0">
                <a:solidFill>
                  <a:srgbClr val="000000"/>
                </a:solidFill>
              </a:rPr>
              <a:t>c</a:t>
            </a:r>
            <a:r>
              <a:rPr lang="en-US" dirty="0">
                <a:solidFill>
                  <a:srgbClr val="000000"/>
                </a:solidFill>
              </a:rPr>
              <a:t> &lt; 0, the resulting graph horizontally shifts left </a:t>
            </a:r>
            <a:r>
              <a:rPr lang="en-US" i="1" dirty="0">
                <a:solidFill>
                  <a:srgbClr val="000000"/>
                </a:solidFill>
              </a:rPr>
              <a:t>c</a:t>
            </a:r>
            <a:r>
              <a:rPr lang="en-US" dirty="0">
                <a:solidFill>
                  <a:srgbClr val="000000"/>
                </a:solidFill>
              </a:rPr>
              <a:t> units. </a:t>
            </a:r>
            <a:br>
              <a:rPr lang="en-US" dirty="0">
                <a:solidFill>
                  <a:srgbClr val="000000"/>
                </a:solidFill>
              </a:rPr>
            </a:br>
            <a:br>
              <a:rPr lang="en-US" dirty="0">
                <a:solidFill>
                  <a:srgbClr val="000000"/>
                </a:solidFill>
              </a:rPr>
            </a:br>
            <a:r>
              <a:rPr lang="en-US" dirty="0">
                <a:solidFill>
                  <a:srgbClr val="000000"/>
                </a:solidFill>
              </a:rPr>
              <a:t>For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a:t>
            </a:r>
            <a:r>
              <a:rPr lang="en-US" dirty="0">
                <a:solidFill>
                  <a:srgbClr val="000000"/>
                </a:solidFill>
              </a:rPr>
              <a:t>, the transformed function </a:t>
            </a:r>
            <a:r>
              <a:rPr lang="en-US" i="1" dirty="0">
                <a:solidFill>
                  <a:srgbClr val="000000"/>
                </a:solidFill>
              </a:rPr>
              <a:t>y</a:t>
            </a:r>
            <a:r>
              <a:rPr lang="en-US" dirty="0">
                <a:solidFill>
                  <a:srgbClr val="000000"/>
                </a:solidFill>
              </a:rPr>
              <a:t> =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d</a:t>
            </a:r>
            <a:r>
              <a:rPr lang="en-US" dirty="0">
                <a:solidFill>
                  <a:srgbClr val="000000"/>
                </a:solidFill>
              </a:rPr>
              <a:t> affects the output values, or </a:t>
            </a:r>
            <a:r>
              <a:rPr lang="en-US" i="1" dirty="0">
                <a:solidFill>
                  <a:srgbClr val="000000"/>
                </a:solidFill>
              </a:rPr>
              <a:t>y</a:t>
            </a:r>
            <a:r>
              <a:rPr lang="en-US" dirty="0">
                <a:solidFill>
                  <a:srgbClr val="000000"/>
                </a:solidFill>
              </a:rPr>
              <a:t>-values, of the function. For </a:t>
            </a:r>
            <a:r>
              <a:rPr lang="en-US" i="1" dirty="0">
                <a:solidFill>
                  <a:srgbClr val="000000"/>
                </a:solidFill>
              </a:rPr>
              <a:t>d</a:t>
            </a:r>
            <a:r>
              <a:rPr lang="en-US" dirty="0">
                <a:solidFill>
                  <a:srgbClr val="000000"/>
                </a:solidFill>
              </a:rPr>
              <a:t> &gt; 0, the resulting graph vertically shifts up </a:t>
            </a:r>
            <a:r>
              <a:rPr lang="en-US" i="1" dirty="0">
                <a:solidFill>
                  <a:srgbClr val="000000"/>
                </a:solidFill>
              </a:rPr>
              <a:t>d</a:t>
            </a:r>
            <a:r>
              <a:rPr lang="en-US" dirty="0">
                <a:solidFill>
                  <a:srgbClr val="000000"/>
                </a:solidFill>
              </a:rPr>
              <a:t> units. For </a:t>
            </a:r>
            <a:r>
              <a:rPr lang="en-US" i="1" dirty="0">
                <a:solidFill>
                  <a:srgbClr val="000000"/>
                </a:solidFill>
              </a:rPr>
              <a:t>d</a:t>
            </a:r>
            <a:r>
              <a:rPr lang="en-US" dirty="0">
                <a:solidFill>
                  <a:srgbClr val="000000"/>
                </a:solidFill>
              </a:rPr>
              <a:t> &lt; 0, the resulting graph vertically shifts down </a:t>
            </a:r>
            <a:r>
              <a:rPr lang="en-US" i="1" dirty="0">
                <a:solidFill>
                  <a:srgbClr val="000000"/>
                </a:solidFill>
              </a:rPr>
              <a:t>d</a:t>
            </a:r>
            <a:r>
              <a:rPr lang="en-US" dirty="0">
                <a:solidFill>
                  <a:srgbClr val="000000"/>
                </a:solidFill>
              </a:rPr>
              <a:t> units.</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292</a:t>
            </a:r>
          </a:p>
        </p:txBody>
      </p:sp>
    </p:spTree>
    <p:extLst>
      <p:ext uri="{BB962C8B-B14F-4D97-AF65-F5344CB8AC3E}">
        <p14:creationId xmlns:p14="http://schemas.microsoft.com/office/powerpoint/2010/main" val="136457737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3E3DF-482E-D5D3-B6D2-B82A524302E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680AFAD-B559-A09E-8710-46E306E781C3}"/>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(9 of 17)</a:t>
            </a:r>
          </a:p>
        </p:txBody>
      </p:sp>
      <p:sp>
        <p:nvSpPr>
          <p:cNvPr id="9" name="Text Placeholder 2">
            <a:extLst>
              <a:ext uri="{FF2B5EF4-FFF2-40B4-BE49-F238E27FC236}">
                <a16:creationId xmlns:a16="http://schemas.microsoft.com/office/drawing/2014/main" id="{EB107844-27B2-D414-6459-39E718E2CAEF}"/>
              </a:ext>
            </a:extLst>
          </p:cNvPr>
          <p:cNvSpPr txBox="1">
            <a:spLocks/>
          </p:cNvSpPr>
          <p:nvPr/>
        </p:nvSpPr>
        <p:spPr>
          <a:xfrm>
            <a:off x="777239" y="1611086"/>
            <a:ext cx="10578738" cy="462151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buNone/>
            </a:pPr>
            <a:r>
              <a:rPr lang="en-US" dirty="0">
                <a:solidFill>
                  <a:srgbClr val="000000"/>
                </a:solidFill>
              </a:rPr>
              <a:t>You have determined that for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a:t>
            </a:r>
            <a:r>
              <a:rPr lang="en-US" dirty="0">
                <a:solidFill>
                  <a:srgbClr val="000000"/>
                </a:solidFill>
              </a:rPr>
              <a:t>, a horizontal translation right </a:t>
            </a:r>
            <a:r>
              <a:rPr lang="en-US" i="1" dirty="0">
                <a:solidFill>
                  <a:srgbClr val="000000"/>
                </a:solidFill>
              </a:rPr>
              <a:t>n</a:t>
            </a:r>
            <a:r>
              <a:rPr lang="en-US" dirty="0">
                <a:solidFill>
                  <a:srgbClr val="000000"/>
                </a:solidFill>
              </a:rPr>
              <a:t> units produces the same graph as a vertical translation down </a:t>
            </a:r>
            <a:r>
              <a:rPr lang="en-US" i="1" dirty="0">
                <a:solidFill>
                  <a:srgbClr val="000000"/>
                </a:solidFill>
              </a:rPr>
              <a:t>n</a:t>
            </a:r>
            <a:r>
              <a:rPr lang="en-US" dirty="0">
                <a:solidFill>
                  <a:srgbClr val="000000"/>
                </a:solidFill>
              </a:rPr>
              <a:t> units. In addition, a horizontal translation left </a:t>
            </a:r>
            <a:r>
              <a:rPr lang="en-US" i="1" dirty="0">
                <a:solidFill>
                  <a:srgbClr val="000000"/>
                </a:solidFill>
              </a:rPr>
              <a:t>n</a:t>
            </a:r>
            <a:r>
              <a:rPr lang="en-US" dirty="0">
                <a:solidFill>
                  <a:srgbClr val="000000"/>
                </a:solidFill>
              </a:rPr>
              <a:t> units produces the same graph as a vertical translation up </a:t>
            </a:r>
            <a:r>
              <a:rPr lang="en-US" i="1" dirty="0">
                <a:solidFill>
                  <a:srgbClr val="000000"/>
                </a:solidFill>
              </a:rPr>
              <a:t>n</a:t>
            </a:r>
            <a:r>
              <a:rPr lang="en-US" dirty="0">
                <a:solidFill>
                  <a:srgbClr val="000000"/>
                </a:solidFill>
              </a:rPr>
              <a:t> units.</a:t>
            </a:r>
          </a:p>
          <a:p>
            <a:pPr marL="0" lvl="1" indent="0">
              <a:buNone/>
            </a:pPr>
            <a:endParaRPr lang="en-US" dirty="0">
              <a:solidFill>
                <a:srgbClr val="000000"/>
              </a:solidFill>
            </a:endParaRPr>
          </a:p>
          <a:p>
            <a:pPr marL="0" lvl="1" indent="0">
              <a:buNone/>
            </a:pPr>
            <a:r>
              <a:rPr lang="en-US" dirty="0">
                <a:solidFill>
                  <a:srgbClr val="000000"/>
                </a:solidFill>
              </a:rPr>
              <a:t>Let’s see whether these translations have similar effects on the graph of any linear function.</a:t>
            </a:r>
          </a:p>
          <a:p>
            <a:pPr marL="400050" lvl="1" indent="0">
              <a:buNone/>
            </a:pPr>
            <a:endParaRPr lang="en-US" dirty="0">
              <a:solidFill>
                <a:srgbClr val="000000"/>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292</a:t>
            </a:r>
          </a:p>
        </p:txBody>
      </p:sp>
    </p:spTree>
    <p:extLst>
      <p:ext uri="{BB962C8B-B14F-4D97-AF65-F5344CB8AC3E}">
        <p14:creationId xmlns:p14="http://schemas.microsoft.com/office/powerpoint/2010/main" val="37784335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0ABFF4-3428-E9FF-7AD6-626185EA9F4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6133201-522E-F5AE-753F-78AA9FDA7135}"/>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(10 of 17)</a:t>
            </a:r>
          </a:p>
        </p:txBody>
      </p:sp>
      <p:sp>
        <p:nvSpPr>
          <p:cNvPr id="9" name="Text Placeholder 2">
            <a:extLst>
              <a:ext uri="{FF2B5EF4-FFF2-40B4-BE49-F238E27FC236}">
                <a16:creationId xmlns:a16="http://schemas.microsoft.com/office/drawing/2014/main" id="{4BAEF445-59A0-33D4-F362-E9054540B22B}"/>
              </a:ext>
            </a:extLst>
          </p:cNvPr>
          <p:cNvSpPr txBox="1">
            <a:spLocks/>
          </p:cNvSpPr>
          <p:nvPr/>
        </p:nvSpPr>
        <p:spPr>
          <a:xfrm>
            <a:off x="777240" y="1375954"/>
            <a:ext cx="6198326" cy="5268686"/>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14350">
              <a:spcAft>
                <a:spcPts val="600"/>
              </a:spcAft>
              <a:buFont typeface="+mj-lt"/>
              <a:buAutoNum type="arabicPeriod" startAt="6"/>
            </a:pPr>
            <a:r>
              <a:rPr lang="en-US" dirty="0">
                <a:solidFill>
                  <a:srgbClr val="000000"/>
                </a:solidFill>
              </a:rPr>
              <a:t>Consider the graph of </a:t>
            </a:r>
            <a:r>
              <a:rPr lang="en-US" i="1" dirty="0">
                <a:solidFill>
                  <a:srgbClr val="000000"/>
                </a:solidFill>
              </a:rPr>
              <a:t>j</a:t>
            </a:r>
            <a:r>
              <a:rPr lang="en-US" dirty="0">
                <a:solidFill>
                  <a:srgbClr val="000000"/>
                </a:solidFill>
              </a:rPr>
              <a:t>(</a:t>
            </a:r>
            <a:r>
              <a:rPr lang="en-US" i="1" dirty="0">
                <a:solidFill>
                  <a:srgbClr val="000000"/>
                </a:solidFill>
              </a:rPr>
              <a:t>x</a:t>
            </a:r>
            <a:r>
              <a:rPr lang="en-US" dirty="0">
                <a:solidFill>
                  <a:srgbClr val="000000"/>
                </a:solidFill>
              </a:rPr>
              <a:t>) = 2</a:t>
            </a:r>
            <a:r>
              <a:rPr lang="en-US" i="1" dirty="0">
                <a:solidFill>
                  <a:srgbClr val="000000"/>
                </a:solidFill>
              </a:rPr>
              <a:t>x</a:t>
            </a:r>
            <a:r>
              <a:rPr lang="en-US" dirty="0">
                <a:solidFill>
                  <a:srgbClr val="000000"/>
                </a:solidFill>
              </a:rPr>
              <a:t> − 1.</a:t>
            </a:r>
          </a:p>
          <a:p>
            <a:pPr marL="1027113" lvl="2" indent="-514350">
              <a:buFont typeface="+mj-lt"/>
              <a:buAutoNum type="alphaLcPeriod"/>
            </a:pPr>
            <a:r>
              <a:rPr lang="en-US" sz="2800" dirty="0">
                <a:solidFill>
                  <a:srgbClr val="000000"/>
                </a:solidFill>
              </a:rPr>
              <a:t>Sketch the graph of </a:t>
            </a:r>
            <a:r>
              <a:rPr lang="en-US" sz="2800" i="1" dirty="0">
                <a:solidFill>
                  <a:srgbClr val="000000"/>
                </a:solidFill>
              </a:rPr>
              <a:t>j</a:t>
            </a:r>
            <a:r>
              <a:rPr lang="en-US" sz="2800" dirty="0">
                <a:solidFill>
                  <a:srgbClr val="000000"/>
                </a:solidFill>
              </a:rPr>
              <a:t>(</a:t>
            </a:r>
            <a:r>
              <a:rPr lang="en-US" sz="2800" i="1" dirty="0">
                <a:solidFill>
                  <a:srgbClr val="000000"/>
                </a:solidFill>
              </a:rPr>
              <a:t>x</a:t>
            </a:r>
            <a:r>
              <a:rPr lang="en-US" sz="2800" dirty="0">
                <a:solidFill>
                  <a:srgbClr val="000000"/>
                </a:solidFill>
              </a:rPr>
              <a:t>) shifted up 4 units. Label the graph as </a:t>
            </a:r>
            <a:r>
              <a:rPr lang="en-US" sz="2800" i="1" dirty="0">
                <a:solidFill>
                  <a:srgbClr val="000000"/>
                </a:solidFill>
              </a:rPr>
              <a:t>q</a:t>
            </a:r>
            <a:r>
              <a:rPr lang="en-US" sz="2800" dirty="0">
                <a:solidFill>
                  <a:srgbClr val="000000"/>
                </a:solidFill>
              </a:rPr>
              <a:t>(</a:t>
            </a:r>
            <a:r>
              <a:rPr lang="en-US" sz="2800" i="1" dirty="0">
                <a:solidFill>
                  <a:srgbClr val="000000"/>
                </a:solidFill>
              </a:rPr>
              <a:t>x</a:t>
            </a:r>
            <a:r>
              <a:rPr lang="en-US" sz="2800" dirty="0">
                <a:solidFill>
                  <a:srgbClr val="000000"/>
                </a:solidFill>
              </a:rPr>
              <a:t>).</a:t>
            </a:r>
          </a:p>
          <a:p>
            <a:pPr marL="1027113" lvl="2" indent="-514350">
              <a:buFont typeface="+mj-lt"/>
              <a:buAutoNum type="alphaLcPeriod"/>
            </a:pPr>
            <a:r>
              <a:rPr lang="en-US" sz="2800" dirty="0">
                <a:solidFill>
                  <a:srgbClr val="000000"/>
                </a:solidFill>
              </a:rPr>
              <a:t>Write an equation for </a:t>
            </a:r>
            <a:r>
              <a:rPr lang="en-US" sz="2800" i="1" dirty="0">
                <a:solidFill>
                  <a:srgbClr val="000000"/>
                </a:solidFill>
              </a:rPr>
              <a:t>q</a:t>
            </a:r>
            <a:r>
              <a:rPr lang="en-US" sz="2800" dirty="0">
                <a:solidFill>
                  <a:srgbClr val="000000"/>
                </a:solidFill>
              </a:rPr>
              <a:t>(</a:t>
            </a:r>
            <a:r>
              <a:rPr lang="en-US" sz="2800" i="1" dirty="0">
                <a:solidFill>
                  <a:srgbClr val="000000"/>
                </a:solidFill>
              </a:rPr>
              <a:t>x</a:t>
            </a:r>
            <a:r>
              <a:rPr lang="en-US" sz="2800" dirty="0">
                <a:solidFill>
                  <a:srgbClr val="000000"/>
                </a:solidFill>
              </a:rPr>
              <a:t>) in terms of </a:t>
            </a:r>
            <a:r>
              <a:rPr lang="en-US" sz="2800" i="1" dirty="0">
                <a:solidFill>
                  <a:srgbClr val="000000"/>
                </a:solidFill>
              </a:rPr>
              <a:t>j</a:t>
            </a:r>
            <a:r>
              <a:rPr lang="en-US" sz="2800" dirty="0">
                <a:solidFill>
                  <a:srgbClr val="000000"/>
                </a:solidFill>
              </a:rPr>
              <a:t>(</a:t>
            </a:r>
            <a:r>
              <a:rPr lang="en-US" sz="2800" i="1" dirty="0">
                <a:solidFill>
                  <a:srgbClr val="000000"/>
                </a:solidFill>
              </a:rPr>
              <a:t>x</a:t>
            </a:r>
            <a:r>
              <a:rPr lang="en-US" sz="2800" dirty="0">
                <a:solidFill>
                  <a:srgbClr val="000000"/>
                </a:solidFill>
              </a:rPr>
              <a:t>).</a:t>
            </a:r>
            <a:endParaRPr lang="en-US" sz="2800" dirty="0">
              <a:solidFill>
                <a:srgbClr val="000000"/>
              </a:solidFill>
            </a:endParaRPr>
          </a:p>
          <a:p>
            <a:pPr marL="1027113" lvl="3" indent="0">
              <a:lnSpc>
                <a:spcPct val="100000"/>
              </a:lnSpc>
              <a:spcBef>
                <a:spcPts val="200"/>
              </a:spcBef>
              <a:spcAft>
                <a:spcPts val="600"/>
              </a:spcAft>
              <a:buNone/>
            </a:pPr>
            <a:r>
              <a:rPr lang="en-US" sz="1600" dirty="0">
                <a:solidFill>
                  <a:srgbClr val="FF0000"/>
                </a:solidFill>
              </a:rPr>
              <a:t>b. q(x) = j(x) + 4</a:t>
            </a:r>
          </a:p>
          <a:p>
            <a:pPr marL="1027113" lvl="2" indent="-514350">
              <a:buFont typeface="+mj-lt"/>
              <a:buAutoNum type="alphaLcPeriod"/>
            </a:pPr>
            <a:r>
              <a:rPr lang="en-US" sz="2800" dirty="0">
                <a:solidFill>
                  <a:srgbClr val="000000"/>
                </a:solidFill>
              </a:rPr>
              <a:t>Sketch the graph of </a:t>
            </a:r>
            <a:r>
              <a:rPr lang="en-US" sz="2800" i="1" dirty="0">
                <a:solidFill>
                  <a:srgbClr val="000000"/>
                </a:solidFill>
              </a:rPr>
              <a:t>j</a:t>
            </a:r>
            <a:r>
              <a:rPr lang="en-US" sz="2800" dirty="0">
                <a:solidFill>
                  <a:srgbClr val="000000"/>
                </a:solidFill>
              </a:rPr>
              <a:t>(</a:t>
            </a:r>
            <a:r>
              <a:rPr lang="en-US" sz="2800" i="1" dirty="0">
                <a:solidFill>
                  <a:srgbClr val="000000"/>
                </a:solidFill>
              </a:rPr>
              <a:t>x</a:t>
            </a:r>
            <a:r>
              <a:rPr lang="en-US" sz="2800" dirty="0">
                <a:solidFill>
                  <a:srgbClr val="000000"/>
                </a:solidFill>
              </a:rPr>
              <a:t>) shifted left 4 units. Label the graph as </a:t>
            </a:r>
            <a:r>
              <a:rPr lang="en-US" sz="2800" i="1" dirty="0">
                <a:solidFill>
                  <a:srgbClr val="000000"/>
                </a:solidFill>
              </a:rPr>
              <a:t>r</a:t>
            </a:r>
            <a:r>
              <a:rPr lang="en-US" sz="2800" dirty="0">
                <a:solidFill>
                  <a:srgbClr val="000000"/>
                </a:solidFill>
              </a:rPr>
              <a:t>(</a:t>
            </a:r>
            <a:r>
              <a:rPr lang="en-US" sz="2800" i="1" dirty="0">
                <a:solidFill>
                  <a:srgbClr val="000000"/>
                </a:solidFill>
              </a:rPr>
              <a:t>x</a:t>
            </a:r>
            <a:r>
              <a:rPr lang="en-US" sz="2800" dirty="0">
                <a:solidFill>
                  <a:srgbClr val="000000"/>
                </a:solidFill>
              </a:rPr>
              <a:t>).</a:t>
            </a:r>
          </a:p>
          <a:p>
            <a:pPr marL="1027113" lvl="2" indent="-514350">
              <a:buFont typeface="+mj-lt"/>
              <a:buAutoNum type="alphaLcPeriod"/>
            </a:pPr>
            <a:r>
              <a:rPr lang="en-US" sz="2800" dirty="0">
                <a:solidFill>
                  <a:srgbClr val="000000"/>
                </a:solidFill>
              </a:rPr>
              <a:t>Write an equation for </a:t>
            </a:r>
            <a:r>
              <a:rPr lang="en-US" sz="2800" i="1" dirty="0">
                <a:solidFill>
                  <a:srgbClr val="000000"/>
                </a:solidFill>
              </a:rPr>
              <a:t>r</a:t>
            </a:r>
            <a:r>
              <a:rPr lang="en-US" sz="2800" dirty="0">
                <a:solidFill>
                  <a:srgbClr val="000000"/>
                </a:solidFill>
              </a:rPr>
              <a:t>(</a:t>
            </a:r>
            <a:r>
              <a:rPr lang="en-US" sz="2800" i="1" dirty="0">
                <a:solidFill>
                  <a:srgbClr val="000000"/>
                </a:solidFill>
              </a:rPr>
              <a:t>x</a:t>
            </a:r>
            <a:r>
              <a:rPr lang="en-US" sz="2800" dirty="0">
                <a:solidFill>
                  <a:srgbClr val="000000"/>
                </a:solidFill>
              </a:rPr>
              <a:t>) in</a:t>
            </a:r>
            <a:br>
              <a:rPr lang="en-US" sz="2800" dirty="0">
                <a:solidFill>
                  <a:srgbClr val="000000"/>
                </a:solidFill>
              </a:rPr>
            </a:br>
            <a:r>
              <a:rPr lang="en-US" sz="2800" dirty="0">
                <a:solidFill>
                  <a:srgbClr val="000000"/>
                </a:solidFill>
              </a:rPr>
              <a:t>terms of </a:t>
            </a:r>
            <a:r>
              <a:rPr lang="en-US" sz="2800" i="1" dirty="0">
                <a:solidFill>
                  <a:srgbClr val="000000"/>
                </a:solidFill>
              </a:rPr>
              <a:t>j</a:t>
            </a:r>
            <a:r>
              <a:rPr lang="en-US" sz="2800" dirty="0">
                <a:solidFill>
                  <a:srgbClr val="000000"/>
                </a:solidFill>
              </a:rPr>
              <a:t>(</a:t>
            </a:r>
            <a:r>
              <a:rPr lang="en-US" sz="2800" i="1" dirty="0">
                <a:solidFill>
                  <a:srgbClr val="000000"/>
                </a:solidFill>
              </a:rPr>
              <a:t>x</a:t>
            </a:r>
            <a:r>
              <a:rPr lang="en-US" sz="2800" dirty="0">
                <a:solidFill>
                  <a:srgbClr val="000000"/>
                </a:solidFill>
              </a:rPr>
              <a:t>).</a:t>
            </a:r>
          </a:p>
          <a:p>
            <a:pPr marL="1027113" lvl="3" indent="0">
              <a:lnSpc>
                <a:spcPct val="100000"/>
              </a:lnSpc>
              <a:spcBef>
                <a:spcPts val="200"/>
              </a:spcBef>
              <a:spcAft>
                <a:spcPts val="600"/>
              </a:spcAft>
              <a:buNone/>
            </a:pPr>
            <a:r>
              <a:rPr lang="en-US" sz="1600" dirty="0">
                <a:solidFill>
                  <a:srgbClr val="FF0000"/>
                </a:solidFill>
              </a:rPr>
              <a:t>d. r(x) = j(x + 4)</a:t>
            </a:r>
          </a:p>
        </p:txBody>
      </p:sp>
      <p:pic>
        <p:nvPicPr>
          <p:cNvPr id="6" name="Picture 5" descr="A graph of line j of x = 2 x minus 1 on the coordinate plane. The line rises from left to right through the points from the table, including the points (0, negative 1) and (1, 1).">
            <a:extLst>
              <a:ext uri="{FF2B5EF4-FFF2-40B4-BE49-F238E27FC236}">
                <a16:creationId xmlns:a16="http://schemas.microsoft.com/office/drawing/2014/main" id="{1B4FD381-E3AD-8419-F8EB-A98DC645B56A}"/>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7267983" y="1524006"/>
            <a:ext cx="4301943" cy="4389738"/>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292</a:t>
            </a:r>
          </a:p>
        </p:txBody>
      </p:sp>
      <p:sp>
        <p:nvSpPr>
          <p:cNvPr id="1011" name="Answer 1011"/>
          <p:cNvSpPr txBox="1"/>
          <p:nvPr/>
        </p:nvSpPr>
        <p:spPr>
          <a:xfrm>
            <a:off x="7270750" y="6000750"/>
            <a:ext cx="4318000" cy="254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600" dirty="0">
                <a:solidFill>
                  <a:srgbClr val="FF0000"/>
                </a:solidFill>
              </a:rPr>
              <a:t>a. Graph q(x): through (0, 3), slope 2</a:t>
            </a:r>
          </a:p>
        </p:txBody>
      </p:sp>
      <p:sp>
        <p:nvSpPr>
          <p:cNvPr id="1013" name="Answer 1013"/>
          <p:cNvSpPr txBox="1"/>
          <p:nvPr/>
        </p:nvSpPr>
        <p:spPr>
          <a:xfrm>
            <a:off x="7270750" y="6254750"/>
            <a:ext cx="4318000" cy="254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600" dirty="0">
                <a:solidFill>
                  <a:srgbClr val="FF0000"/>
                </a:solidFill>
              </a:rPr>
              <a:t>c. Graph r(x): through (0, 7), slope 2</a:t>
            </a:r>
          </a:p>
        </p:txBody>
      </p:sp>
    </p:spTree>
    <p:extLst>
      <p:ext uri="{BB962C8B-B14F-4D97-AF65-F5344CB8AC3E}">
        <p14:creationId xmlns:p14="http://schemas.microsoft.com/office/powerpoint/2010/main" val="241380270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1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B0BBA-E4C1-1CBA-5C2D-B0D69297D48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D46ACC0-FD1E-587B-6338-59E259B42410}"/>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(11 of 17)</a:t>
            </a:r>
          </a:p>
        </p:txBody>
      </p:sp>
      <p:sp>
        <p:nvSpPr>
          <p:cNvPr id="9" name="Text Placeholder 2">
            <a:extLst>
              <a:ext uri="{FF2B5EF4-FFF2-40B4-BE49-F238E27FC236}">
                <a16:creationId xmlns:a16="http://schemas.microsoft.com/office/drawing/2014/main" id="{60ED846D-150F-C573-18D0-0BE21C5ADB52}"/>
              </a:ext>
            </a:extLst>
          </p:cNvPr>
          <p:cNvSpPr txBox="1">
            <a:spLocks/>
          </p:cNvSpPr>
          <p:nvPr/>
        </p:nvSpPr>
        <p:spPr>
          <a:xfrm>
            <a:off x="777240" y="1602377"/>
            <a:ext cx="10587444" cy="504879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2" indent="-514350">
              <a:buFont typeface="+mj-lt"/>
              <a:buAutoNum type="alphaLcPeriod" startAt="5"/>
            </a:pPr>
            <a:r>
              <a:rPr lang="en-US" sz="2800" dirty="0">
                <a:solidFill>
                  <a:srgbClr val="000000"/>
                </a:solidFill>
              </a:rPr>
              <a:t>Compare the graphs of </a:t>
            </a:r>
            <a:r>
              <a:rPr lang="en-US" sz="2800" i="1" dirty="0">
                <a:solidFill>
                  <a:srgbClr val="000000"/>
                </a:solidFill>
              </a:rPr>
              <a:t>q</a:t>
            </a:r>
            <a:r>
              <a:rPr lang="en-US" sz="2800" dirty="0">
                <a:solidFill>
                  <a:srgbClr val="000000"/>
                </a:solidFill>
              </a:rPr>
              <a:t>(</a:t>
            </a:r>
            <a:r>
              <a:rPr lang="en-US" sz="2800" i="1" dirty="0">
                <a:solidFill>
                  <a:srgbClr val="000000"/>
                </a:solidFill>
              </a:rPr>
              <a:t>x</a:t>
            </a:r>
            <a:r>
              <a:rPr lang="en-US" sz="2800" dirty="0">
                <a:solidFill>
                  <a:srgbClr val="000000"/>
                </a:solidFill>
              </a:rPr>
              <a:t>) and </a:t>
            </a:r>
            <a:r>
              <a:rPr lang="en-US" sz="2800" i="1" dirty="0">
                <a:solidFill>
                  <a:srgbClr val="000000"/>
                </a:solidFill>
              </a:rPr>
              <a:t>r</a:t>
            </a:r>
            <a:r>
              <a:rPr lang="en-US" sz="2800" dirty="0">
                <a:solidFill>
                  <a:srgbClr val="000000"/>
                </a:solidFill>
              </a:rPr>
              <a:t>(</a:t>
            </a:r>
            <a:r>
              <a:rPr lang="en-US" sz="2800" i="1" dirty="0">
                <a:solidFill>
                  <a:srgbClr val="000000"/>
                </a:solidFill>
              </a:rPr>
              <a:t>x</a:t>
            </a:r>
            <a:r>
              <a:rPr lang="en-US" sz="2800" dirty="0">
                <a:solidFill>
                  <a:srgbClr val="000000"/>
                </a:solidFill>
              </a:rPr>
              <a:t>). What do you notice?</a:t>
            </a:r>
            <a:br>
              <a:rPr lang="en-US" sz="2800" dirty="0">
                <a:solidFill>
                  <a:srgbClr val="000000"/>
                </a:solidFill>
              </a:rPr>
            </a:br>
            <a:endParaRPr lang="en-US" sz="2800" dirty="0">
              <a:solidFill>
                <a:srgbClr val="000000"/>
              </a:solidFill>
            </a:endParaRPr>
          </a:p>
          <a:p>
            <a:pPr marL="514350" lvl="3" indent="0">
              <a:lnSpc>
                <a:spcPct val="100000"/>
              </a:lnSpc>
              <a:spcBef>
                <a:spcPts val="200"/>
              </a:spcBef>
              <a:spcAft>
                <a:spcPts val="600"/>
              </a:spcAft>
              <a:buNone/>
            </a:pPr>
            <a:r>
              <a:rPr lang="en-US" sz="2000" dirty="0">
                <a:solidFill>
                  <a:srgbClr val="FF0000"/>
                </a:solidFill>
              </a:rPr>
              <a:t>The graphs are not the same. They are parallel lines with different y-intercepts.</a:t>
            </a:r>
          </a:p>
          <a:p>
            <a:pPr marL="514350" lvl="2" indent="-514350">
              <a:spcAft>
                <a:spcPts val="1200"/>
              </a:spcAft>
              <a:buFont typeface="+mj-lt"/>
              <a:buAutoNum type="alphaLcPeriod" startAt="5"/>
            </a:pPr>
            <a:r>
              <a:rPr lang="en-US" sz="2800" dirty="0">
                <a:solidFill>
                  <a:srgbClr val="000000"/>
                </a:solidFill>
              </a:rPr>
              <a:t>The equation for </a:t>
            </a:r>
            <a:r>
              <a:rPr lang="en-US" sz="2800" i="1" dirty="0">
                <a:solidFill>
                  <a:srgbClr val="000000"/>
                </a:solidFill>
              </a:rPr>
              <a:t>q</a:t>
            </a:r>
            <a:r>
              <a:rPr lang="en-US" sz="2800" dirty="0">
                <a:solidFill>
                  <a:srgbClr val="000000"/>
                </a:solidFill>
              </a:rPr>
              <a:t>(</a:t>
            </a:r>
            <a:r>
              <a:rPr lang="en-US" sz="2800" i="1" dirty="0">
                <a:solidFill>
                  <a:srgbClr val="000000"/>
                </a:solidFill>
              </a:rPr>
              <a:t>x</a:t>
            </a:r>
            <a:r>
              <a:rPr lang="en-US" sz="2800" dirty="0">
                <a:solidFill>
                  <a:srgbClr val="000000"/>
                </a:solidFill>
              </a:rPr>
              <a:t>) is simplified for you. Simplify the equation for </a:t>
            </a:r>
            <a:r>
              <a:rPr lang="en-US" sz="2800" i="1" dirty="0">
                <a:solidFill>
                  <a:srgbClr val="000000"/>
                </a:solidFill>
              </a:rPr>
              <a:t>r</a:t>
            </a:r>
            <a:r>
              <a:rPr lang="en-US" sz="2800" dirty="0">
                <a:solidFill>
                  <a:srgbClr val="000000"/>
                </a:solidFill>
              </a:rPr>
              <a:t>(</a:t>
            </a:r>
            <a:r>
              <a:rPr lang="en-US" sz="2800" i="1" dirty="0">
                <a:solidFill>
                  <a:srgbClr val="000000"/>
                </a:solidFill>
              </a:rPr>
              <a:t>x</a:t>
            </a:r>
            <a:r>
              <a:rPr lang="en-US" sz="2800" dirty="0">
                <a:solidFill>
                  <a:srgbClr val="000000"/>
                </a:solidFill>
              </a:rPr>
              <a:t>). What do you notice?</a:t>
            </a:r>
          </a:p>
          <a:p>
            <a:pPr marL="514350" lvl="2" indent="0">
              <a:buNone/>
            </a:pPr>
            <a:r>
              <a:rPr lang="en-US" sz="2800" i="1" dirty="0">
                <a:solidFill>
                  <a:srgbClr val="000000"/>
                </a:solidFill>
              </a:rPr>
              <a:t>q</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j</a:t>
            </a:r>
            <a:r>
              <a:rPr lang="en-US" sz="2800" dirty="0">
                <a:solidFill>
                  <a:srgbClr val="000000"/>
                </a:solidFill>
              </a:rPr>
              <a:t>(</a:t>
            </a:r>
            <a:r>
              <a:rPr lang="en-US" sz="2800" i="1" dirty="0">
                <a:solidFill>
                  <a:srgbClr val="000000"/>
                </a:solidFill>
              </a:rPr>
              <a:t>x</a:t>
            </a:r>
            <a:r>
              <a:rPr lang="en-US" sz="2800" dirty="0">
                <a:solidFill>
                  <a:srgbClr val="000000"/>
                </a:solidFill>
              </a:rPr>
              <a:t>) + 4			</a:t>
            </a:r>
            <a:r>
              <a:rPr lang="en-US" sz="2800" i="1" dirty="0">
                <a:solidFill>
                  <a:srgbClr val="000000"/>
                </a:solidFill>
              </a:rPr>
              <a:t>r</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j</a:t>
            </a:r>
            <a:r>
              <a:rPr lang="en-US" sz="2800">
                <a:solidFill>
                  <a:srgbClr val="000000"/>
                </a:solidFill>
              </a:rPr>
              <a:t>(</a:t>
            </a:r>
            <a:r>
              <a:rPr lang="en-US" sz="2800" i="1">
                <a:solidFill>
                  <a:srgbClr val="000000"/>
                </a:solidFill>
              </a:rPr>
              <a:t>x </a:t>
            </a:r>
            <a:r>
              <a:rPr lang="en-US" sz="2800">
                <a:solidFill>
                  <a:srgbClr val="000000"/>
                </a:solidFill>
              </a:rPr>
              <a:t>+ 4)</a:t>
            </a:r>
            <a:endParaRPr lang="en-US" sz="2800" dirty="0">
              <a:solidFill>
                <a:srgbClr val="000000"/>
              </a:solidFill>
            </a:endParaRPr>
          </a:p>
          <a:p>
            <a:pPr marL="0" lvl="2" indent="0">
              <a:buNone/>
            </a:pPr>
            <a:r>
              <a:rPr lang="en-US" sz="2800" dirty="0">
                <a:solidFill>
                  <a:srgbClr val="000000"/>
                </a:solidFill>
              </a:rPr>
              <a:t>	   = 2</a:t>
            </a:r>
            <a:r>
              <a:rPr lang="en-US" sz="2800" i="1" dirty="0">
                <a:solidFill>
                  <a:srgbClr val="000000"/>
                </a:solidFill>
              </a:rPr>
              <a:t>x</a:t>
            </a:r>
            <a:r>
              <a:rPr lang="en-US" sz="2800" dirty="0">
                <a:solidFill>
                  <a:srgbClr val="000000"/>
                </a:solidFill>
              </a:rPr>
              <a:t> − 1 + 4</a:t>
            </a:r>
          </a:p>
          <a:p>
            <a:pPr marL="514350" lvl="2" indent="0">
              <a:buNone/>
            </a:pPr>
            <a:r>
              <a:rPr lang="en-US" sz="2800" i="1" dirty="0">
                <a:solidFill>
                  <a:srgbClr val="000000"/>
                </a:solidFill>
              </a:rPr>
              <a:t>q</a:t>
            </a:r>
            <a:r>
              <a:rPr lang="en-US" sz="2800" dirty="0">
                <a:solidFill>
                  <a:srgbClr val="000000"/>
                </a:solidFill>
              </a:rPr>
              <a:t>(</a:t>
            </a:r>
            <a:r>
              <a:rPr lang="en-US" sz="2800" i="1" dirty="0">
                <a:solidFill>
                  <a:srgbClr val="000000"/>
                </a:solidFill>
              </a:rPr>
              <a:t>x</a:t>
            </a:r>
            <a:r>
              <a:rPr lang="en-US" sz="2800" dirty="0">
                <a:solidFill>
                  <a:srgbClr val="000000"/>
                </a:solidFill>
              </a:rPr>
              <a:t>) = 2</a:t>
            </a:r>
            <a:r>
              <a:rPr lang="en-US" sz="2800" i="1" dirty="0">
                <a:solidFill>
                  <a:srgbClr val="000000"/>
                </a:solidFill>
              </a:rPr>
              <a:t>x</a:t>
            </a:r>
            <a:r>
              <a:rPr lang="en-US" sz="2800" dirty="0">
                <a:solidFill>
                  <a:srgbClr val="000000"/>
                </a:solidFill>
              </a:rPr>
              <a:t> + 3</a:t>
            </a:r>
          </a:p>
          <a:p>
            <a:pPr marL="514350" lvl="3" indent="0">
              <a:lnSpc>
                <a:spcPct val="100000"/>
              </a:lnSpc>
              <a:spcBef>
                <a:spcPts val="200"/>
              </a:spcBef>
              <a:spcAft>
                <a:spcPts val="600"/>
              </a:spcAft>
              <a:buNone/>
            </a:pPr>
            <a:r>
              <a:rPr lang="en-US" sz="2000" dirty="0">
                <a:solidFill>
                  <a:srgbClr val="FF0000"/>
                </a:solidFill>
              </a:rPr>
              <a:t>r(x) = j(x + 4) = 2(x + 4) − 1 = 2x + 8 − 1</a:t>
            </a:r>
            <a:br/>
            <a:r>
              <a:rPr lang="en-US" sz="2000" dirty="0">
                <a:solidFill>
                  <a:srgbClr val="FF0000"/>
                </a:solidFill>
              </a:rPr>
              <a:t>r(x) = 2x + 7</a:t>
            </a:r>
            <a:br/>
            <a:r>
              <a:rPr lang="en-US" sz="2000" dirty="0">
                <a:solidFill>
                  <a:srgbClr val="FF0000"/>
                </a:solidFill>
              </a:rPr>
              <a:t>The equations for q(x) and r(x) are not the same.</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293</a:t>
            </a:r>
          </a:p>
        </p:txBody>
      </p:sp>
    </p:spTree>
    <p:extLst>
      <p:ext uri="{BB962C8B-B14F-4D97-AF65-F5344CB8AC3E}">
        <p14:creationId xmlns:p14="http://schemas.microsoft.com/office/powerpoint/2010/main" val="381786311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56A8BB-9759-A51E-A88F-B4C18A4C6BB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CE6106A-FFB5-DED9-2A6F-76433D23CBAE}"/>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(12 of 17)</a:t>
            </a:r>
          </a:p>
        </p:txBody>
      </p:sp>
      <p:sp>
        <p:nvSpPr>
          <p:cNvPr id="9" name="Text Placeholder 2">
            <a:extLst>
              <a:ext uri="{FF2B5EF4-FFF2-40B4-BE49-F238E27FC236}">
                <a16:creationId xmlns:a16="http://schemas.microsoft.com/office/drawing/2014/main" id="{E7BCD052-DAAC-23DE-B4CD-19E8B9640011}"/>
              </a:ext>
            </a:extLst>
          </p:cNvPr>
          <p:cNvSpPr txBox="1">
            <a:spLocks/>
          </p:cNvSpPr>
          <p:nvPr/>
        </p:nvSpPr>
        <p:spPr>
          <a:xfrm>
            <a:off x="777240" y="1375954"/>
            <a:ext cx="9908178" cy="141078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gn="l">
              <a:buFont typeface="+mj-lt"/>
              <a:buAutoNum type="arabicPeriod" startAt="7"/>
            </a:pPr>
            <a:r>
              <a:rPr lang="en-US" sz="2800" dirty="0">
                <a:solidFill>
                  <a:srgbClr val="000000"/>
                </a:solidFill>
              </a:rPr>
              <a:t>Again, consider the graph of </a:t>
            </a:r>
            <a:r>
              <a:rPr lang="en-US" sz="2800" i="1" dirty="0">
                <a:solidFill>
                  <a:srgbClr val="000000"/>
                </a:solidFill>
              </a:rPr>
              <a:t>j</a:t>
            </a:r>
            <a:r>
              <a:rPr lang="en-US" sz="2800" dirty="0">
                <a:solidFill>
                  <a:srgbClr val="000000"/>
                </a:solidFill>
              </a:rPr>
              <a:t>(</a:t>
            </a:r>
            <a:r>
              <a:rPr lang="en-US" sz="2800" i="1" dirty="0">
                <a:solidFill>
                  <a:srgbClr val="000000"/>
                </a:solidFill>
              </a:rPr>
              <a:t>x</a:t>
            </a:r>
            <a:r>
              <a:rPr lang="en-US" sz="2800" dirty="0">
                <a:solidFill>
                  <a:srgbClr val="000000"/>
                </a:solidFill>
              </a:rPr>
              <a:t>) = 2</a:t>
            </a:r>
            <a:r>
              <a:rPr lang="en-US" sz="2800" i="1" dirty="0">
                <a:solidFill>
                  <a:srgbClr val="000000"/>
                </a:solidFill>
              </a:rPr>
              <a:t>x</a:t>
            </a:r>
            <a:r>
              <a:rPr lang="en-US" sz="2800" dirty="0">
                <a:solidFill>
                  <a:srgbClr val="000000"/>
                </a:solidFill>
              </a:rPr>
              <a:t> − 1.</a:t>
            </a:r>
          </a:p>
          <a:p>
            <a:pPr marL="1027113" lvl="1" indent="-514350">
              <a:buFont typeface="+mj-lt"/>
              <a:buAutoNum type="alphaLcPeriod"/>
            </a:pPr>
            <a:r>
              <a:rPr lang="en-US" dirty="0">
                <a:solidFill>
                  <a:srgbClr val="000000"/>
                </a:solidFill>
              </a:rPr>
              <a:t>Sketch the graph of </a:t>
            </a:r>
            <a:r>
              <a:rPr lang="en-US" i="1" dirty="0">
                <a:solidFill>
                  <a:srgbClr val="000000"/>
                </a:solidFill>
              </a:rPr>
              <a:t>j</a:t>
            </a:r>
            <a:r>
              <a:rPr lang="en-US" dirty="0">
                <a:solidFill>
                  <a:srgbClr val="000000"/>
                </a:solidFill>
              </a:rPr>
              <a:t>(</a:t>
            </a:r>
            <a:r>
              <a:rPr lang="en-US" i="1" dirty="0">
                <a:solidFill>
                  <a:srgbClr val="000000"/>
                </a:solidFill>
              </a:rPr>
              <a:t>x</a:t>
            </a:r>
            <a:r>
              <a:rPr lang="en-US" dirty="0">
                <a:solidFill>
                  <a:srgbClr val="000000"/>
                </a:solidFill>
              </a:rPr>
              <a:t>) shifted right 2 units. Label the graph as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p:txBody>
      </p:sp>
      <p:pic>
        <p:nvPicPr>
          <p:cNvPr id="3" name="Picture 2" descr="A graph of line j of x = 2 x minus 1 on the coordinate plane. The line rises from left to right through the points from the table, including the points (0, negative 1) and (1, 1).">
            <a:extLst>
              <a:ext uri="{FF2B5EF4-FFF2-40B4-BE49-F238E27FC236}">
                <a16:creationId xmlns:a16="http://schemas.microsoft.com/office/drawing/2014/main" id="{F01EF138-AA5A-0CAD-86EF-6A63E5B51E1B}"/>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3833605" y="2672901"/>
            <a:ext cx="3189134" cy="3074828"/>
          </a:xfrm>
          <a:prstGeom prst="rect">
            <a:avLst/>
          </a:prstGeom>
        </p:spPr>
      </p:pic>
      <p:sp>
        <p:nvSpPr>
          <p:cNvPr id="2" name="Text Placeholder 2">
            <a:extLst>
              <a:ext uri="{FF2B5EF4-FFF2-40B4-BE49-F238E27FC236}">
                <a16:creationId xmlns:a16="http://schemas.microsoft.com/office/drawing/2014/main" id="{F75586EF-D79A-C216-A5F7-0E47E3B7DB14}"/>
              </a:ext>
            </a:extLst>
          </p:cNvPr>
          <p:cNvSpPr txBox="1">
            <a:spLocks/>
          </p:cNvSpPr>
          <p:nvPr/>
        </p:nvSpPr>
        <p:spPr>
          <a:xfrm>
            <a:off x="777240" y="5720977"/>
            <a:ext cx="9908178" cy="674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1027113" lvl="1" indent="-514350">
              <a:buFont typeface="+mj-lt"/>
              <a:buAutoNum type="alphaLcPeriod" startAt="2"/>
            </a:pPr>
            <a:r>
              <a:rPr lang="en-US" dirty="0">
                <a:solidFill>
                  <a:srgbClr val="000000"/>
                </a:solidFill>
              </a:rPr>
              <a:t>Write an equation for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in terms of </a:t>
            </a:r>
            <a:r>
              <a:rPr lang="en-US" i="1" dirty="0">
                <a:solidFill>
                  <a:srgbClr val="000000"/>
                </a:solidFill>
              </a:rPr>
              <a:t>j</a:t>
            </a:r>
            <a:r>
              <a:rPr lang="en-US" dirty="0">
                <a:solidFill>
                  <a:srgbClr val="000000"/>
                </a:solidFill>
              </a:rPr>
              <a:t>(</a:t>
            </a:r>
            <a:r>
              <a:rPr lang="en-US" i="1" dirty="0">
                <a:solidFill>
                  <a:srgbClr val="000000"/>
                </a:solidFill>
              </a:rPr>
              <a:t>x</a:t>
            </a:r>
            <a:r>
              <a:rPr lang="en-US" dirty="0">
                <a:solidFill>
                  <a:srgbClr val="000000"/>
                </a:solidFill>
              </a:rPr>
              <a:t>). </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293</a:t>
            </a:r>
          </a:p>
        </p:txBody>
      </p:sp>
      <p:sp>
        <p:nvSpPr>
          <p:cNvPr id="1011" name="Answer 1011"/>
          <p:cNvSpPr txBox="1"/>
          <p:nvPr/>
        </p:nvSpPr>
        <p:spPr>
          <a:xfrm>
            <a:off x="7175500" y="2857500"/>
            <a:ext cx="48260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b(x): through (0, −5) and (2.5, 0), slope 2</a:t>
            </a:r>
          </a:p>
        </p:txBody>
      </p:sp>
      <p:sp>
        <p:nvSpPr>
          <p:cNvPr id="1012" name="Answer 1012"/>
          <p:cNvSpPr txBox="1"/>
          <p:nvPr/>
        </p:nvSpPr>
        <p:spPr>
          <a:xfrm>
            <a:off x="7302500" y="5810250"/>
            <a:ext cx="4699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b(x) = j(x − 2)</a:t>
            </a:r>
          </a:p>
        </p:txBody>
      </p:sp>
    </p:spTree>
    <p:extLst>
      <p:ext uri="{BB962C8B-B14F-4D97-AF65-F5344CB8AC3E}">
        <p14:creationId xmlns:p14="http://schemas.microsoft.com/office/powerpoint/2010/main" val="3859643612"/>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334941-D585-16E4-1FE7-1F24B535086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F70D9FD-BC00-DD4C-870B-31FD1CABB01D}"/>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(13 of 17)</a:t>
            </a:r>
          </a:p>
        </p:txBody>
      </p:sp>
      <p:sp>
        <p:nvSpPr>
          <p:cNvPr id="9" name="Text Placeholder 2">
            <a:extLst>
              <a:ext uri="{FF2B5EF4-FFF2-40B4-BE49-F238E27FC236}">
                <a16:creationId xmlns:a16="http://schemas.microsoft.com/office/drawing/2014/main" id="{FF14E6A9-459C-3603-176F-E66E3F0C93B1}"/>
              </a:ext>
            </a:extLst>
          </p:cNvPr>
          <p:cNvSpPr txBox="1">
            <a:spLocks/>
          </p:cNvSpPr>
          <p:nvPr/>
        </p:nvSpPr>
        <p:spPr>
          <a:xfrm>
            <a:off x="777240" y="1602378"/>
            <a:ext cx="9890760" cy="931186"/>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09588">
              <a:buFont typeface="+mj-lt"/>
              <a:buAutoNum type="alphaLcPeriod" startAt="3"/>
            </a:pPr>
            <a:r>
              <a:rPr lang="en-US" dirty="0">
                <a:solidFill>
                  <a:srgbClr val="000000"/>
                </a:solidFill>
              </a:rPr>
              <a:t>Sketch the graph of </a:t>
            </a:r>
            <a:r>
              <a:rPr lang="en-US" i="1" dirty="0">
                <a:solidFill>
                  <a:srgbClr val="000000"/>
                </a:solidFill>
              </a:rPr>
              <a:t>j</a:t>
            </a:r>
            <a:r>
              <a:rPr lang="en-US" dirty="0">
                <a:solidFill>
                  <a:srgbClr val="000000"/>
                </a:solidFill>
              </a:rPr>
              <a:t>(</a:t>
            </a:r>
            <a:r>
              <a:rPr lang="en-US" i="1" dirty="0">
                <a:solidFill>
                  <a:srgbClr val="000000"/>
                </a:solidFill>
              </a:rPr>
              <a:t>x</a:t>
            </a:r>
            <a:r>
              <a:rPr lang="en-US" dirty="0">
                <a:solidFill>
                  <a:srgbClr val="000000"/>
                </a:solidFill>
              </a:rPr>
              <a:t>) shifted down 2 units. Label the graph</a:t>
            </a:r>
            <a:br>
              <a:rPr lang="en-US" dirty="0">
                <a:solidFill>
                  <a:srgbClr val="000000"/>
                </a:solidFill>
              </a:rPr>
            </a:br>
            <a:r>
              <a:rPr lang="en-US" dirty="0">
                <a:solidFill>
                  <a:srgbClr val="000000"/>
                </a:solidFill>
              </a:rPr>
              <a:t>as </a:t>
            </a:r>
            <a:r>
              <a:rPr lang="en-US" i="1" dirty="0">
                <a:solidFill>
                  <a:srgbClr val="000000"/>
                </a:solidFill>
              </a:rPr>
              <a:t>v</a:t>
            </a:r>
            <a:r>
              <a:rPr lang="en-US" dirty="0">
                <a:solidFill>
                  <a:srgbClr val="000000"/>
                </a:solidFill>
              </a:rPr>
              <a:t>(</a:t>
            </a:r>
            <a:r>
              <a:rPr lang="en-US" i="1" dirty="0">
                <a:solidFill>
                  <a:srgbClr val="000000"/>
                </a:solidFill>
              </a:rPr>
              <a:t>x</a:t>
            </a:r>
            <a:r>
              <a:rPr lang="en-US" dirty="0">
                <a:solidFill>
                  <a:srgbClr val="000000"/>
                </a:solidFill>
              </a:rPr>
              <a:t>). </a:t>
            </a:r>
            <a:br>
              <a:rPr lang="en-US" dirty="0">
                <a:solidFill>
                  <a:srgbClr val="000000"/>
                </a:solidFill>
              </a:rPr>
            </a:br>
            <a:endParaRPr lang="en-US" dirty="0">
              <a:solidFill>
                <a:srgbClr val="000000"/>
              </a:solidFill>
            </a:endParaRPr>
          </a:p>
        </p:txBody>
      </p:sp>
      <p:pic>
        <p:nvPicPr>
          <p:cNvPr id="2" name="Picture 1" descr="A graph of line j of x = 2 x minus 1 on the coordinate plane. The line rises from left to right through the points from the table, including the points (0, negative 1) and (1, 1).">
            <a:extLst>
              <a:ext uri="{FF2B5EF4-FFF2-40B4-BE49-F238E27FC236}">
                <a16:creationId xmlns:a16="http://schemas.microsoft.com/office/drawing/2014/main" id="{711449EC-50FC-5D99-BE87-9A42CCB15EB1}"/>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3833605" y="2533563"/>
            <a:ext cx="3189134" cy="3074828"/>
          </a:xfrm>
          <a:prstGeom prst="rect">
            <a:avLst/>
          </a:prstGeom>
        </p:spPr>
      </p:pic>
      <p:sp>
        <p:nvSpPr>
          <p:cNvPr id="3" name="Text Placeholder 2">
            <a:extLst>
              <a:ext uri="{FF2B5EF4-FFF2-40B4-BE49-F238E27FC236}">
                <a16:creationId xmlns:a16="http://schemas.microsoft.com/office/drawing/2014/main" id="{33F9FBFF-24CF-8318-59C9-20D44B566895}"/>
              </a:ext>
            </a:extLst>
          </p:cNvPr>
          <p:cNvSpPr txBox="1">
            <a:spLocks/>
          </p:cNvSpPr>
          <p:nvPr/>
        </p:nvSpPr>
        <p:spPr>
          <a:xfrm>
            <a:off x="777240" y="5720977"/>
            <a:ext cx="9908178" cy="674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14350">
              <a:buFont typeface="+mj-lt"/>
              <a:buAutoNum type="alphaLcPeriod" startAt="4"/>
            </a:pPr>
            <a:r>
              <a:rPr lang="en-US" dirty="0">
                <a:solidFill>
                  <a:srgbClr val="000000"/>
                </a:solidFill>
              </a:rPr>
              <a:t>Write an equation for </a:t>
            </a:r>
            <a:r>
              <a:rPr lang="en-US" i="1" dirty="0">
                <a:solidFill>
                  <a:srgbClr val="000000"/>
                </a:solidFill>
              </a:rPr>
              <a:t>v</a:t>
            </a:r>
            <a:r>
              <a:rPr lang="en-US" dirty="0">
                <a:solidFill>
                  <a:srgbClr val="000000"/>
                </a:solidFill>
              </a:rPr>
              <a:t>(</a:t>
            </a:r>
            <a:r>
              <a:rPr lang="en-US" i="1" dirty="0">
                <a:solidFill>
                  <a:srgbClr val="000000"/>
                </a:solidFill>
              </a:rPr>
              <a:t>x</a:t>
            </a:r>
            <a:r>
              <a:rPr lang="en-US" dirty="0">
                <a:solidFill>
                  <a:srgbClr val="000000"/>
                </a:solidFill>
              </a:rPr>
              <a:t>) in terms of </a:t>
            </a:r>
            <a:r>
              <a:rPr lang="en-US" i="1" dirty="0">
                <a:solidFill>
                  <a:srgbClr val="000000"/>
                </a:solidFill>
              </a:rPr>
              <a:t>j</a:t>
            </a:r>
            <a:r>
              <a:rPr lang="en-US" dirty="0">
                <a:solidFill>
                  <a:srgbClr val="000000"/>
                </a:solidFill>
              </a:rPr>
              <a:t>(</a:t>
            </a:r>
            <a:r>
              <a:rPr lang="en-US" i="1" dirty="0">
                <a:solidFill>
                  <a:srgbClr val="000000"/>
                </a:solidFill>
              </a:rPr>
              <a:t>x</a:t>
            </a:r>
            <a:r>
              <a:rPr lang="en-US" dirty="0">
                <a:solidFill>
                  <a:srgbClr val="000000"/>
                </a:solidFill>
              </a:rPr>
              <a:t>). </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294</a:t>
            </a:r>
          </a:p>
        </p:txBody>
      </p:sp>
      <p:sp>
        <p:nvSpPr>
          <p:cNvPr id="1011" name="Answer 1011"/>
          <p:cNvSpPr txBox="1"/>
          <p:nvPr/>
        </p:nvSpPr>
        <p:spPr>
          <a:xfrm>
            <a:off x="7175500" y="2857500"/>
            <a:ext cx="48260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v(x): through (0, −3) and (1.5, 0), slope 2</a:t>
            </a:r>
          </a:p>
        </p:txBody>
      </p:sp>
      <p:sp>
        <p:nvSpPr>
          <p:cNvPr id="1012" name="Answer 1012"/>
          <p:cNvSpPr txBox="1"/>
          <p:nvPr/>
        </p:nvSpPr>
        <p:spPr>
          <a:xfrm>
            <a:off x="7302500" y="5810250"/>
            <a:ext cx="4699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v(x) = j(x) − 2</a:t>
            </a:r>
          </a:p>
        </p:txBody>
      </p:sp>
    </p:spTree>
    <p:extLst>
      <p:ext uri="{BB962C8B-B14F-4D97-AF65-F5344CB8AC3E}">
        <p14:creationId xmlns:p14="http://schemas.microsoft.com/office/powerpoint/2010/main" val="3594465043"/>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E898C-D804-8C0A-0FA4-0A8F5312967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CD66064-11F0-FFFA-6440-C02B23AD1978}"/>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(14 of 17)</a:t>
            </a:r>
          </a:p>
        </p:txBody>
      </p:sp>
      <p:sp>
        <p:nvSpPr>
          <p:cNvPr id="9" name="Text Placeholder 2">
            <a:extLst>
              <a:ext uri="{FF2B5EF4-FFF2-40B4-BE49-F238E27FC236}">
                <a16:creationId xmlns:a16="http://schemas.microsoft.com/office/drawing/2014/main" id="{AFF37724-D55B-2D04-A046-F95F054BDBD1}"/>
              </a:ext>
            </a:extLst>
          </p:cNvPr>
          <p:cNvSpPr txBox="1">
            <a:spLocks/>
          </p:cNvSpPr>
          <p:nvPr/>
        </p:nvSpPr>
        <p:spPr>
          <a:xfrm>
            <a:off x="777239" y="1639614"/>
            <a:ext cx="10630989" cy="452767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14350">
              <a:buFont typeface="+mj-lt"/>
              <a:buAutoNum type="alphaLcPeriod" startAt="5"/>
            </a:pPr>
            <a:r>
              <a:rPr lang="en-US" dirty="0">
                <a:solidFill>
                  <a:srgbClr val="000000"/>
                </a:solidFill>
              </a:rPr>
              <a:t>Compare the graphs of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v</a:t>
            </a:r>
            <a:r>
              <a:rPr lang="en-US" dirty="0">
                <a:solidFill>
                  <a:srgbClr val="000000"/>
                </a:solidFill>
              </a:rPr>
              <a:t>(</a:t>
            </a:r>
            <a:r>
              <a:rPr lang="en-US" i="1" dirty="0">
                <a:solidFill>
                  <a:srgbClr val="000000"/>
                </a:solidFill>
              </a:rPr>
              <a:t>x</a:t>
            </a:r>
            <a:r>
              <a:rPr lang="en-US" dirty="0">
                <a:solidFill>
                  <a:srgbClr val="000000"/>
                </a:solidFill>
              </a:rPr>
              <a:t>). What do you notice?</a:t>
            </a:r>
            <a:br>
              <a:rPr lang="en-US" dirty="0">
                <a:solidFill>
                  <a:srgbClr val="000000"/>
                </a:solidFill>
              </a:rPr>
            </a:br>
            <a:endParaRPr lang="en-US" dirty="0">
              <a:solidFill>
                <a:srgbClr val="000000"/>
              </a:solidFill>
            </a:endParaRPr>
          </a:p>
          <a:p>
            <a:pPr marL="514350" lvl="2" indent="0">
              <a:lnSpc>
                <a:spcPct val="100000"/>
              </a:lnSpc>
              <a:spcBef>
                <a:spcPts val="200"/>
              </a:spcBef>
              <a:spcAft>
                <a:spcPts val="600"/>
              </a:spcAft>
              <a:buNone/>
            </a:pPr>
            <a:r>
              <a:rPr lang="en-US" sz="1800" dirty="0">
                <a:solidFill>
                  <a:srgbClr val="FF0000"/>
                </a:solidFill>
              </a:rPr>
              <a:t>The graphs are not the same. They are parallel lines with different y-intercepts.</a:t>
            </a:r>
          </a:p>
          <a:p>
            <a:pPr marL="514350" lvl="1" indent="-509588">
              <a:buFont typeface="+mj-lt"/>
              <a:buAutoNum type="alphaLcPeriod" startAt="5"/>
            </a:pPr>
            <a:r>
              <a:rPr lang="en-US" dirty="0">
                <a:solidFill>
                  <a:srgbClr val="000000"/>
                </a:solidFill>
              </a:rPr>
              <a:t>Simplify the equations for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v</a:t>
            </a:r>
            <a:r>
              <a:rPr lang="en-US" dirty="0">
                <a:solidFill>
                  <a:srgbClr val="000000"/>
                </a:solidFill>
              </a:rPr>
              <a:t>(</a:t>
            </a:r>
            <a:r>
              <a:rPr lang="en-US" i="1" dirty="0">
                <a:solidFill>
                  <a:srgbClr val="000000"/>
                </a:solidFill>
              </a:rPr>
              <a:t>x</a:t>
            </a:r>
            <a:r>
              <a:rPr lang="en-US" dirty="0">
                <a:solidFill>
                  <a:srgbClr val="000000"/>
                </a:solidFill>
              </a:rPr>
              <a:t>). What do you notice?</a:t>
            </a:r>
            <a:br>
              <a:rPr lang="en-US" dirty="0">
                <a:solidFill>
                  <a:srgbClr val="000000"/>
                </a:solidFill>
              </a:rPr>
            </a:br>
            <a:br>
              <a:rPr lang="en-US" dirty="0">
                <a:solidFill>
                  <a:srgbClr val="000000"/>
                </a:solidFill>
              </a:rPr>
            </a:b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v</a:t>
            </a:r>
            <a:r>
              <a:rPr lang="en-US" dirty="0">
                <a:solidFill>
                  <a:srgbClr val="000000"/>
                </a:solidFill>
              </a:rPr>
              <a:t>(</a:t>
            </a:r>
            <a:r>
              <a:rPr lang="en-US" i="1" dirty="0">
                <a:solidFill>
                  <a:srgbClr val="000000"/>
                </a:solidFill>
              </a:rPr>
              <a:t>x</a:t>
            </a:r>
            <a:r>
              <a:rPr lang="en-US" dirty="0">
                <a:solidFill>
                  <a:srgbClr val="000000"/>
                </a:solidFill>
              </a:rPr>
              <a:t>) =</a:t>
            </a:r>
          </a:p>
          <a:p>
            <a:pPr marL="514350" lvl="2" indent="0">
              <a:lnSpc>
                <a:spcPct val="100000"/>
              </a:lnSpc>
              <a:spcBef>
                <a:spcPts val="200"/>
              </a:spcBef>
              <a:spcAft>
                <a:spcPts val="600"/>
              </a:spcAft>
              <a:buNone/>
            </a:pPr>
            <a:r>
              <a:rPr lang="en-US" sz="2200" dirty="0">
                <a:solidFill>
                  <a:srgbClr val="FF0000"/>
                </a:solidFill>
              </a:rPr>
              <a:t>b(x) = j(x − 2) = 2(x − 2) − 1 = 2x − 5</a:t>
            </a:r>
            <a:br/>
            <a:r>
              <a:rPr lang="en-US" sz="2200" dirty="0">
                <a:solidFill>
                  <a:srgbClr val="FF0000"/>
                </a:solidFill>
              </a:rPr>
              <a:t>v(x) = j(x) − 2 = 2x − 1 − 2 = 2x − 3</a:t>
            </a:r>
            <a:br/>
            <a:r>
              <a:rPr lang="en-US" sz="2200" dirty="0">
                <a:solidFill>
                  <a:srgbClr val="FF0000"/>
                </a:solidFill>
              </a:rPr>
              <a:t>The equations for b(x) and v(x) are not the same.</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294</a:t>
            </a:r>
          </a:p>
        </p:txBody>
      </p:sp>
    </p:spTree>
    <p:extLst>
      <p:ext uri="{BB962C8B-B14F-4D97-AF65-F5344CB8AC3E}">
        <p14:creationId xmlns:p14="http://schemas.microsoft.com/office/powerpoint/2010/main" val="4122947432"/>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E6344B-3476-A2CB-A783-D5699BDD0E7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140E01F-5438-131E-CD7C-28B759CDB8C6}"/>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(15 of 17)</a:t>
            </a:r>
          </a:p>
        </p:txBody>
      </p:sp>
      <p:sp>
        <p:nvSpPr>
          <p:cNvPr id="9" name="Text Placeholder 2">
            <a:extLst>
              <a:ext uri="{FF2B5EF4-FFF2-40B4-BE49-F238E27FC236}">
                <a16:creationId xmlns:a16="http://schemas.microsoft.com/office/drawing/2014/main" id="{048C6955-1EEF-9EE7-DF51-530A44F72435}"/>
              </a:ext>
            </a:extLst>
          </p:cNvPr>
          <p:cNvSpPr txBox="1">
            <a:spLocks/>
          </p:cNvSpPr>
          <p:nvPr/>
        </p:nvSpPr>
        <p:spPr>
          <a:xfrm>
            <a:off x="777239" y="1639614"/>
            <a:ext cx="10630989" cy="452767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09588">
              <a:buFont typeface="+mj-lt"/>
              <a:buAutoNum type="arabicPeriod" startAt="8"/>
            </a:pPr>
            <a:r>
              <a:rPr lang="en-US" dirty="0">
                <a:solidFill>
                  <a:srgbClr val="000000"/>
                </a:solidFill>
              </a:rPr>
              <a:t>For any linear function, does a horizontal translation right </a:t>
            </a:r>
            <a:r>
              <a:rPr lang="en-US" i="1" dirty="0">
                <a:solidFill>
                  <a:srgbClr val="000000"/>
                </a:solidFill>
              </a:rPr>
              <a:t>n</a:t>
            </a:r>
            <a:r>
              <a:rPr lang="en-US" dirty="0">
                <a:solidFill>
                  <a:srgbClr val="000000"/>
                </a:solidFill>
              </a:rPr>
              <a:t> units produce the same graph as a vertical translation down </a:t>
            </a:r>
            <a:r>
              <a:rPr lang="en-US" i="1" dirty="0">
                <a:solidFill>
                  <a:srgbClr val="000000"/>
                </a:solidFill>
              </a:rPr>
              <a:t>n</a:t>
            </a:r>
            <a:r>
              <a:rPr lang="en-US" dirty="0">
                <a:solidFill>
                  <a:srgbClr val="000000"/>
                </a:solidFill>
              </a:rPr>
              <a:t> units?</a:t>
            </a:r>
            <a:br>
              <a:rPr lang="en-US" dirty="0">
                <a:solidFill>
                  <a:srgbClr val="000000"/>
                </a:solidFill>
              </a:rPr>
            </a:br>
            <a:br>
              <a:rPr lang="en-US" dirty="0">
                <a:solidFill>
                  <a:srgbClr val="000000"/>
                </a:solidFill>
              </a:rPr>
            </a:br>
            <a:endParaRPr lang="en-US" dirty="0">
              <a:solidFill>
                <a:srgbClr val="000000"/>
              </a:solidFill>
            </a:endParaRPr>
          </a:p>
          <a:p>
            <a:pPr marL="514350" lvl="2" indent="0">
              <a:lnSpc>
                <a:spcPct val="100000"/>
              </a:lnSpc>
              <a:spcBef>
                <a:spcPts val="200"/>
              </a:spcBef>
              <a:spcAft>
                <a:spcPts val="600"/>
              </a:spcAft>
              <a:buNone/>
            </a:pPr>
            <a:r>
              <a:rPr lang="en-US" sz="2000" dirty="0">
                <a:solidFill>
                  <a:srgbClr val="FF0000"/>
                </a:solidFill>
              </a:rPr>
              <a:t>No. It is true only for f(x) = x. For j(x) = 2x − 1, right 2 gives 2x − 5 but down 2 gives 2x − 3.</a:t>
            </a:r>
          </a:p>
          <a:p>
            <a:pPr marL="514350" lvl="1" indent="-509588">
              <a:buFont typeface="+mj-lt"/>
              <a:buAutoNum type="arabicPeriod" startAt="8"/>
            </a:pPr>
            <a:r>
              <a:rPr lang="en-US" dirty="0">
                <a:solidFill>
                  <a:srgbClr val="000000"/>
                </a:solidFill>
              </a:rPr>
              <a:t>For any linear function, does a horizontal translation left </a:t>
            </a:r>
            <a:r>
              <a:rPr lang="en-US" i="1" dirty="0">
                <a:solidFill>
                  <a:srgbClr val="000000"/>
                </a:solidFill>
              </a:rPr>
              <a:t>n</a:t>
            </a:r>
            <a:r>
              <a:rPr lang="en-US" dirty="0">
                <a:solidFill>
                  <a:srgbClr val="000000"/>
                </a:solidFill>
              </a:rPr>
              <a:t> units produce the same graph as a vertical translation up </a:t>
            </a:r>
            <a:r>
              <a:rPr lang="en-US" i="1" dirty="0">
                <a:solidFill>
                  <a:srgbClr val="000000"/>
                </a:solidFill>
              </a:rPr>
              <a:t>n</a:t>
            </a:r>
            <a:r>
              <a:rPr lang="en-US" dirty="0">
                <a:solidFill>
                  <a:srgbClr val="000000"/>
                </a:solidFill>
              </a:rPr>
              <a:t> units?</a:t>
            </a:r>
          </a:p>
          <a:p>
            <a:pPr marL="514350" lvl="2" indent="0">
              <a:lnSpc>
                <a:spcPct val="100000"/>
              </a:lnSpc>
              <a:spcBef>
                <a:spcPts val="200"/>
              </a:spcBef>
              <a:spcAft>
                <a:spcPts val="600"/>
              </a:spcAft>
              <a:buNone/>
            </a:pPr>
            <a:r>
              <a:rPr lang="en-US" sz="2000" dirty="0">
                <a:solidFill>
                  <a:srgbClr val="FF0000"/>
                </a:solidFill>
              </a:rPr>
              <a:t>No. For j(x) = 2x − 1, left 4 gives r(x) = 2x + 7 but up 4 gives q(x) = 2x + 3.</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294</a:t>
            </a:r>
          </a:p>
        </p:txBody>
      </p:sp>
    </p:spTree>
    <p:extLst>
      <p:ext uri="{BB962C8B-B14F-4D97-AF65-F5344CB8AC3E}">
        <p14:creationId xmlns:p14="http://schemas.microsoft.com/office/powerpoint/2010/main" val="21664575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8A2B8-E7A5-239A-AB90-27F851486FF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31D3B88-0F9E-47D9-4A39-F7295D961309}"/>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(16 of 17)</a:t>
            </a:r>
          </a:p>
        </p:txBody>
      </p:sp>
      <p:sp>
        <p:nvSpPr>
          <p:cNvPr id="9" name="Text Placeholder 2">
            <a:extLst>
              <a:ext uri="{FF2B5EF4-FFF2-40B4-BE49-F238E27FC236}">
                <a16:creationId xmlns:a16="http://schemas.microsoft.com/office/drawing/2014/main" id="{1E3F3D64-7D3E-6B78-AAE0-10266D78BD13}"/>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revisit the Essential Question and summarize our learning from Activity 2.1!</a:t>
            </a:r>
          </a:p>
          <a:p>
            <a:pPr marL="0" indent="0" algn="l">
              <a:buNone/>
            </a:pPr>
            <a:endParaRPr lang="en-US" sz="2800" dirty="0">
              <a:solidFill>
                <a:srgbClr val="000000"/>
              </a:solidFill>
            </a:endParaRPr>
          </a:p>
          <a:p>
            <a:pPr marL="0" indent="0" algn="l">
              <a:buNone/>
            </a:pPr>
            <a:endParaRPr lang="en-US" sz="2800" dirty="0">
              <a:solidFill>
                <a:srgbClr val="000000"/>
              </a:solidFill>
            </a:endParaRPr>
          </a:p>
          <a:p>
            <a:pPr marL="0" indent="0">
              <a:buNone/>
            </a:pPr>
            <a:r>
              <a:rPr lang="en-US" sz="2800" b="1" dirty="0">
                <a:solidFill>
                  <a:srgbClr val="000000"/>
                </a:solidFill>
              </a:rPr>
              <a:t>Essential Question:</a:t>
            </a:r>
            <a:r>
              <a:rPr lang="en-US" sz="2800" dirty="0">
                <a:solidFill>
                  <a:srgbClr val="000000"/>
                </a:solidFill>
              </a:rPr>
              <a:t> What effect do horizontal transformations have on linear functions? How do they compare to vertical transformations? </a:t>
            </a:r>
          </a:p>
        </p:txBody>
      </p:sp>
      <p:pic>
        <p:nvPicPr>
          <p:cNvPr id="2" name="Picture 1">
            <a:extLst>
              <a:ext uri="{FF2B5EF4-FFF2-40B4-BE49-F238E27FC236}">
                <a16:creationId xmlns:a16="http://schemas.microsoft.com/office/drawing/2014/main" id="{98440FB1-39B9-061D-40CB-0A334D956407}"/>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287235"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294</a:t>
            </a:r>
          </a:p>
        </p:txBody>
      </p:sp>
    </p:spTree>
    <p:extLst>
      <p:ext uri="{BB962C8B-B14F-4D97-AF65-F5344CB8AC3E}">
        <p14:creationId xmlns:p14="http://schemas.microsoft.com/office/powerpoint/2010/main" val="400588356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8A2B8-E7A5-239A-AB90-27F851486FF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31D3B88-0F9E-47D9-4A39-F7295D961309}"/>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(17 of 17)</a:t>
            </a:r>
          </a:p>
        </p:txBody>
      </p:sp>
      <p:sp>
        <p:nvSpPr>
          <p:cNvPr id="9" name="Text Placeholder 2">
            <a:extLst>
              <a:ext uri="{FF2B5EF4-FFF2-40B4-BE49-F238E27FC236}">
                <a16:creationId xmlns:a16="http://schemas.microsoft.com/office/drawing/2014/main" id="{1E3F3D64-7D3E-6B78-AAE0-10266D78BD13}"/>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294</a:t>
            </a:r>
          </a:p>
        </p:txBody>
      </p:sp>
    </p:spTree>
    <p:extLst>
      <p:ext uri="{BB962C8B-B14F-4D97-AF65-F5344CB8AC3E}">
        <p14:creationId xmlns:p14="http://schemas.microsoft.com/office/powerpoint/2010/main" val="288807186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5C23B1-A7C4-B510-11E0-844AB53675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E40077-E9EB-22FE-3669-DBAB21E52430}"/>
              </a:ext>
            </a:extLst>
          </p:cNvPr>
          <p:cNvSpPr>
            <a:spLocks noGrp="1"/>
          </p:cNvSpPr>
          <p:nvPr>
            <p:ph type="title" idx="4294967295"/>
          </p:nvPr>
        </p:nvSpPr>
        <p:spPr>
          <a:xfrm>
            <a:off x="838200" y="-322217"/>
            <a:ext cx="10514013" cy="322217"/>
          </a:xfrm>
          <a:prstGeom prst="rect">
            <a:avLst/>
          </a:prstGeom>
        </p:spPr>
        <p:txBody>
          <a:bodyPr anchor="b"/>
          <a:lstStyle/>
          <a:p>
            <a:r>
              <a:rPr lang="en-US" sz="2000" dirty="0">
                <a:solidFill>
                  <a:schemeClr val="bg2"/>
                </a:solidFill>
              </a:rPr>
              <a:t>Day 2</a:t>
            </a:r>
          </a:p>
        </p:txBody>
      </p:sp>
      <p:sp>
        <p:nvSpPr>
          <p:cNvPr id="4" name="Text Placeholder 3">
            <a:extLst>
              <a:ext uri="{FF2B5EF4-FFF2-40B4-BE49-F238E27FC236}">
                <a16:creationId xmlns:a16="http://schemas.microsoft.com/office/drawing/2014/main" id="{0121904A-B8B4-6752-A102-C93D57D6149D}"/>
              </a:ext>
              <a:ext uri="{C183D7F6-B498-43B3-948B-1728B52AA6E4}">
                <adec:decorative xmlns:adec="http://schemas.microsoft.com/office/drawing/2017/decorative" val="1"/>
              </a:ext>
            </a:extLst>
          </p:cNvPr>
          <p:cNvSpPr>
            <a:spLocks noGrp="1"/>
          </p:cNvSpPr>
          <p:nvPr>
            <p:ph type="body" sz="quarter" idx="11"/>
          </p:nvPr>
        </p:nvSpPr>
        <p:spPr>
          <a:xfrm>
            <a:off x="6658975" y="2832927"/>
            <a:ext cx="1061883" cy="1071562"/>
          </a:xfrm>
        </p:spPr>
        <p:txBody>
          <a:bodyPr/>
          <a:lstStyle/>
          <a:p>
            <a:pPr marL="0" indent="0">
              <a:buNone/>
            </a:pPr>
            <a:r>
              <a:rPr lang="en-US" sz="7500" b="1" dirty="0">
                <a:solidFill>
                  <a:srgbClr val="000000"/>
                </a:solidFill>
                <a:latin typeface="Calibri" panose="020F0502020204030204" pitchFamily="34" charset="0"/>
                <a:ea typeface="Calibri" panose="020F0502020204030204" pitchFamily="34" charset="0"/>
                <a:cs typeface="Calibri" panose="020F0502020204030204" pitchFamily="34" charset="0"/>
              </a:rPr>
              <a:t>2</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Tree>
    <p:extLst>
      <p:ext uri="{BB962C8B-B14F-4D97-AF65-F5344CB8AC3E}">
        <p14:creationId xmlns:p14="http://schemas.microsoft.com/office/powerpoint/2010/main" val="340130515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B39297-DC1A-EE1B-1BCD-85B926A0626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9B73218-8467-BB46-14F9-C712C34E5D9D}"/>
              </a:ext>
            </a:extLst>
          </p:cNvPr>
          <p:cNvSpPr>
            <a:spLocks noGrp="1"/>
          </p:cNvSpPr>
          <p:nvPr>
            <p:ph type="title"/>
          </p:nvPr>
        </p:nvSpPr>
        <p:spPr/>
        <p:txBody>
          <a:bodyPr/>
          <a:lstStyle/>
          <a:p>
            <a:pPr algn="l"/>
            <a:r>
              <a:rPr lang="en-US" b="1" dirty="0"/>
              <a:t>Essential Question </a:t>
            </a:r>
            <a:r>
              <a:rPr lang="en-US" sz="2000" b="1" dirty="0">
                <a:solidFill>
                  <a:schemeClr val="bg1"/>
                </a:solidFill>
              </a:rPr>
              <a:t>(2 of 2)</a:t>
            </a:r>
          </a:p>
        </p:txBody>
      </p:sp>
      <p:sp>
        <p:nvSpPr>
          <p:cNvPr id="2" name="Text Placeholder 2">
            <a:extLst>
              <a:ext uri="{FF2B5EF4-FFF2-40B4-BE49-F238E27FC236}">
                <a16:creationId xmlns:a16="http://schemas.microsoft.com/office/drawing/2014/main" id="{92FDB5BD-B6FE-FA4D-9B15-7B3949553616}"/>
              </a:ext>
            </a:extLst>
          </p:cNvPr>
          <p:cNvSpPr txBox="1">
            <a:spLocks/>
          </p:cNvSpPr>
          <p:nvPr/>
        </p:nvSpPr>
        <p:spPr>
          <a:xfrm>
            <a:off x="777240" y="1611086"/>
            <a:ext cx="10515600" cy="435625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Bef>
                <a:spcPts val="24"/>
              </a:spcBef>
              <a:buNone/>
            </a:pPr>
            <a:r>
              <a:rPr lang="en-US" sz="2800" dirty="0">
                <a:solidFill>
                  <a:srgbClr val="000000"/>
                </a:solidFill>
              </a:rPr>
              <a:t>What effect do horizontal transformations have on linear functions? How do they compare to vertical transformations?</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29</a:t>
            </a:fld>
          </a:p>
        </p:txBody>
      </p:sp>
      <p:sp>
        <p:nvSpPr>
          <p:cNvPr id="1005" name="Answer 100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287</a:t>
            </a:r>
          </a:p>
        </p:txBody>
      </p:sp>
      <p:sp>
        <p:nvSpPr>
          <p:cNvPr id="1006" name="Answer 1006"/>
          <p:cNvSpPr txBox="1"/>
          <p:nvPr/>
        </p:nvSpPr>
        <p:spPr>
          <a:xfrm>
            <a:off x="774700" y="3937000"/>
            <a:ext cx="10731500" cy="2413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When f(x) is replaced by a·f(b(x − c)) + d, b and c affect the input values (horizontal transformations), while a and d affect the output values (vertical transformations).</a:t>
            </a:r>
          </a:p>
          <a:p>
            <a:pPr marL="0" indent="0" algn="l">
              <a:spcBef>
                <a:spcPts val="0"/>
              </a:spcBef>
              <a:spcAft>
                <a:spcPts val="300"/>
              </a:spcAft>
              <a:buNone/>
            </a:pPr>
            <a:r>
              <a:rPr lang="en-US" sz="2000" dirty="0">
                <a:solidFill>
                  <a:srgbClr val="FF0000"/>
                </a:solidFill>
              </a:rPr>
              <a:t>For f(x) = x, a translation right n gives the same graph as a translation down n, and a horizontal dilation by n gives the same graph as a vertical dilation by 1/n. For other linear functions these pairs are not the same.</a:t>
            </a:r>
          </a:p>
        </p:txBody>
      </p:sp>
    </p:spTree>
    <p:extLst>
      <p:ext uri="{BB962C8B-B14F-4D97-AF65-F5344CB8AC3E}">
        <p14:creationId xmlns:p14="http://schemas.microsoft.com/office/powerpoint/2010/main" val="2814969419"/>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6A8CAF8-33A1-73A0-1DF9-85DF59BD096A}"/>
              </a:ext>
            </a:extLst>
          </p:cNvPr>
          <p:cNvSpPr>
            <a:spLocks noGrp="1"/>
          </p:cNvSpPr>
          <p:nvPr>
            <p:ph type="title" idx="4294967295"/>
          </p:nvPr>
        </p:nvSpPr>
        <p:spPr>
          <a:xfrm>
            <a:off x="838200" y="-322217"/>
            <a:ext cx="10514013" cy="322217"/>
          </a:xfrm>
          <a:prstGeom prst="rect">
            <a:avLst/>
          </a:prstGeom>
        </p:spPr>
        <p:txBody>
          <a:bodyPr anchor="b"/>
          <a:lstStyle/>
          <a:p>
            <a:r>
              <a:rPr lang="en-US" sz="2000" dirty="0">
                <a:solidFill>
                  <a:schemeClr val="bg2"/>
                </a:solidFill>
              </a:rPr>
              <a:t>Activity 2.2</a:t>
            </a:r>
          </a:p>
        </p:txBody>
      </p:sp>
      <p:sp>
        <p:nvSpPr>
          <p:cNvPr id="3" name="Text Placeholder 2" descr="15 to 20 minutes">
            <a:extLst>
              <a:ext uri="{FF2B5EF4-FFF2-40B4-BE49-F238E27FC236}">
                <a16:creationId xmlns:a16="http://schemas.microsoft.com/office/drawing/2014/main" id="{3CD62AF3-8219-7AEB-1717-BB4B2CD0985B}"/>
              </a:ext>
            </a:extLst>
          </p:cNvPr>
          <p:cNvSpPr>
            <a:spLocks noGrp="1"/>
          </p:cNvSpPr>
          <p:nvPr>
            <p:ph type="body" sz="quarter" idx="12"/>
          </p:nvPr>
        </p:nvSpPr>
        <p:spPr>
          <a:xfrm>
            <a:off x="10614990" y="5779693"/>
            <a:ext cx="863947" cy="795338"/>
          </a:xfrm>
        </p:spPr>
        <p:txBody>
          <a:bodyPr/>
          <a:lstStyle/>
          <a:p>
            <a:r>
              <a:rPr lang="en-US" b="1" dirty="0"/>
              <a:t>15–20</a:t>
            </a:r>
          </a:p>
        </p:txBody>
      </p:sp>
      <p:sp>
        <p:nvSpPr>
          <p:cNvPr id="2" name="Text Placeholder 1">
            <a:extLst>
              <a:ext uri="{FF2B5EF4-FFF2-40B4-BE49-F238E27FC236}">
                <a16:creationId xmlns:a16="http://schemas.microsoft.com/office/drawing/2014/main" id="{7EB81C6C-A8E6-CE4C-2D52-7AD639B7578C}"/>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dirty="0"/>
              <a:t>2.2</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30</a:t>
            </a:fld>
          </a:p>
        </p:txBody>
      </p:sp>
      <p:sp>
        <p:nvSpPr>
          <p:cNvPr id="1006" name="Answer 1006"/>
          <p:cNvSpPr txBox="1"/>
          <p:nvPr/>
        </p:nvSpPr>
        <p:spPr>
          <a:xfrm>
            <a:off x="1016000" y="952500"/>
            <a:ext cx="10160000" cy="762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4400" b="1" dirty="0">
                <a:solidFill>
                  <a:srgbClr val="2E7D3C"/>
                </a:solidFill>
              </a:rPr>
              <a:t>★ Essential activity: do not skip</a:t>
            </a:r>
          </a:p>
        </p:txBody>
      </p:sp>
    </p:spTree>
    <p:extLst>
      <p:ext uri="{BB962C8B-B14F-4D97-AF65-F5344CB8AC3E}">
        <p14:creationId xmlns:p14="http://schemas.microsoft.com/office/powerpoint/2010/main" val="21915947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83B986-D4B8-867F-1186-EB6DEF0A290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383C9EA-1C4E-4C57-E6F2-D4F4B147F14B}"/>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(1 of 13)</a:t>
            </a:r>
          </a:p>
        </p:txBody>
      </p:sp>
      <p:sp>
        <p:nvSpPr>
          <p:cNvPr id="9" name="Text Placeholder 2">
            <a:extLst>
              <a:ext uri="{FF2B5EF4-FFF2-40B4-BE49-F238E27FC236}">
                <a16:creationId xmlns:a16="http://schemas.microsoft.com/office/drawing/2014/main" id="{D6D453E8-F348-6E02-CE7D-F60E96A5EB3D}"/>
              </a:ext>
            </a:extLst>
          </p:cNvPr>
          <p:cNvSpPr txBox="1">
            <a:spLocks/>
          </p:cNvSpPr>
          <p:nvPr/>
        </p:nvSpPr>
        <p:spPr>
          <a:xfrm>
            <a:off x="777240" y="1602377"/>
            <a:ext cx="10927080" cy="135853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gn="l">
              <a:lnSpc>
                <a:spcPts val="3000"/>
              </a:lnSpc>
              <a:spcBef>
                <a:spcPts val="0"/>
              </a:spcBef>
              <a:spcAft>
                <a:spcPts val="600"/>
              </a:spcAft>
              <a:buFont typeface="+mj-lt"/>
              <a:buAutoNum type="arabicPeriod"/>
            </a:pPr>
            <a:r>
              <a:rPr lang="en-US" sz="2800" dirty="0">
                <a:solidFill>
                  <a:srgbClr val="000000"/>
                </a:solidFill>
              </a:rPr>
              <a:t>The graph and a table of values for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are provided for you.</a:t>
            </a:r>
          </a:p>
          <a:p>
            <a:pPr marL="1027113" lvl="1" indent="-509588">
              <a:lnSpc>
                <a:spcPts val="3000"/>
              </a:lnSpc>
              <a:spcBef>
                <a:spcPts val="0"/>
              </a:spcBef>
              <a:buFont typeface="+mj-lt"/>
              <a:buAutoNum type="alphaLcPeriod"/>
            </a:pPr>
            <a:r>
              <a:rPr lang="en-US" dirty="0">
                <a:solidFill>
                  <a:srgbClr val="000000"/>
                </a:solidFill>
              </a:rPr>
              <a:t>Sketch the graph of </a:t>
            </a:r>
            <a:r>
              <a:rPr lang="en-US" i="1" dirty="0">
                <a:solidFill>
                  <a:srgbClr val="000000"/>
                </a:solidFill>
              </a:rPr>
              <a:t>a</a:t>
            </a:r>
            <a:r>
              <a:rPr lang="en-US" dirty="0">
                <a:solidFill>
                  <a:srgbClr val="000000"/>
                </a:solidFill>
              </a:rPr>
              <a:t>(</a:t>
            </a:r>
            <a:r>
              <a:rPr lang="en-US" i="1" dirty="0">
                <a:solidFill>
                  <a:srgbClr val="000000"/>
                </a:solidFill>
              </a:rPr>
              <a:t>x</a:t>
            </a:r>
            <a:r>
              <a:rPr lang="en-US" dirty="0">
                <a:solidFill>
                  <a:srgbClr val="000000"/>
                </a:solidFill>
              </a:rPr>
              <a:t>), if the output values of </a:t>
            </a:r>
            <a:r>
              <a:rPr lang="en-US" i="1" dirty="0">
                <a:solidFill>
                  <a:srgbClr val="000000"/>
                </a:solidFill>
              </a:rPr>
              <a:t>a</a:t>
            </a:r>
            <a:r>
              <a:rPr lang="en-US" dirty="0">
                <a:solidFill>
                  <a:srgbClr val="000000"/>
                </a:solidFill>
              </a:rPr>
              <a:t>(</a:t>
            </a:r>
            <a:r>
              <a:rPr lang="en-US" i="1" dirty="0">
                <a:solidFill>
                  <a:srgbClr val="000000"/>
                </a:solidFill>
              </a:rPr>
              <a:t>x</a:t>
            </a:r>
            <a:r>
              <a:rPr lang="en-US" dirty="0">
                <a:solidFill>
                  <a:srgbClr val="000000"/>
                </a:solidFill>
              </a:rPr>
              <a:t>) are changed by a factor of 2. Complete the table of corresponding points on </a:t>
            </a:r>
            <a:r>
              <a:rPr lang="en-US" i="1" dirty="0">
                <a:solidFill>
                  <a:srgbClr val="000000"/>
                </a:solidFill>
              </a:rPr>
              <a:t>a</a:t>
            </a:r>
            <a:r>
              <a:rPr lang="en-US" dirty="0">
                <a:solidFill>
                  <a:srgbClr val="000000"/>
                </a:solidFill>
              </a:rPr>
              <a:t>(</a:t>
            </a:r>
            <a:r>
              <a:rPr lang="en-US" i="1" dirty="0">
                <a:solidFill>
                  <a:srgbClr val="000000"/>
                </a:solidFill>
              </a:rPr>
              <a:t>x</a:t>
            </a:r>
            <a:r>
              <a:rPr lang="en-US" dirty="0">
                <a:solidFill>
                  <a:srgbClr val="000000"/>
                </a:solidFill>
              </a:rPr>
              <a:t>).</a:t>
            </a:r>
          </a:p>
        </p:txBody>
      </p:sp>
      <p:pic>
        <p:nvPicPr>
          <p:cNvPr id="3" name="Picture 2" descr="A graph of line f of x = x on the coordinate plane. The line rises from left to right through the points from the table, including the points (0, 0) and (2, 2).">
            <a:extLst>
              <a:ext uri="{FF2B5EF4-FFF2-40B4-BE49-F238E27FC236}">
                <a16:creationId xmlns:a16="http://schemas.microsoft.com/office/drawing/2014/main" id="{1B4E1DDA-17B0-5AAA-0AAE-77B8401A9D72}"/>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243854" y="3068545"/>
            <a:ext cx="3256689" cy="3248687"/>
          </a:xfrm>
          <a:prstGeom prst="rect">
            <a:avLst/>
          </a:prstGeom>
        </p:spPr>
      </p:pic>
      <p:graphicFrame>
        <p:nvGraphicFramePr>
          <p:cNvPr id="6" name="Table 5">
            <a:extLst>
              <a:ext uri="{FF2B5EF4-FFF2-40B4-BE49-F238E27FC236}">
                <a16:creationId xmlns:a16="http://schemas.microsoft.com/office/drawing/2014/main" id="{378991D4-621C-D46A-3235-02AD3B1F769A}"/>
              </a:ext>
            </a:extLst>
          </p:cNvPr>
          <p:cNvGraphicFramePr>
            <a:graphicFrameLocks noGrp="1"/>
          </p:cNvGraphicFramePr>
          <p:nvPr>
            <p:extLst>
              <p:ext uri="{D42A27DB-BD31-4B8C-83A1-F6EECF244321}">
                <p14:modId xmlns:p14="http://schemas.microsoft.com/office/powerpoint/2010/main" val="336596801"/>
              </p:ext>
            </p:extLst>
          </p:nvPr>
        </p:nvGraphicFramePr>
        <p:xfrm>
          <a:off x="5841694" y="3304950"/>
          <a:ext cx="1365806" cy="640080"/>
        </p:xfrm>
        <a:graphic>
          <a:graphicData uri="http://schemas.openxmlformats.org/drawingml/2006/table">
            <a:tbl>
              <a:tblPr firstRow="1" bandRow="1"/>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8" name="Table 7">
            <a:extLst>
              <a:ext uri="{FF2B5EF4-FFF2-40B4-BE49-F238E27FC236}">
                <a16:creationId xmlns:a16="http://schemas.microsoft.com/office/drawing/2014/main" id="{A4C12E69-5FE9-82F5-7D95-A4FDA08322E2}"/>
              </a:ext>
            </a:extLst>
          </p:cNvPr>
          <p:cNvGraphicFramePr>
            <a:graphicFrameLocks noGrp="1"/>
          </p:cNvGraphicFramePr>
          <p:nvPr>
            <p:extLst>
              <p:ext uri="{D42A27DB-BD31-4B8C-83A1-F6EECF244321}">
                <p14:modId xmlns:p14="http://schemas.microsoft.com/office/powerpoint/2010/main" val="1671130107"/>
              </p:ext>
            </p:extLst>
          </p:nvPr>
        </p:nvGraphicFramePr>
        <p:xfrm>
          <a:off x="5841694" y="3944237"/>
          <a:ext cx="1365806" cy="2225040"/>
        </p:xfrm>
        <a:graphic>
          <a:graphicData uri="http://schemas.openxmlformats.org/drawingml/2006/table">
            <a:tbl>
              <a:tblPr firstRow="1" bandRow="1"/>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10" name="Table 9">
            <a:extLst>
              <a:ext uri="{FF2B5EF4-FFF2-40B4-BE49-F238E27FC236}">
                <a16:creationId xmlns:a16="http://schemas.microsoft.com/office/drawing/2014/main" id="{AABD714C-2E96-89D3-BE3B-C44CE9575758}"/>
              </a:ext>
            </a:extLst>
          </p:cNvPr>
          <p:cNvGraphicFramePr>
            <a:graphicFrameLocks noGrp="1"/>
          </p:cNvGraphicFramePr>
          <p:nvPr>
            <p:extLst>
              <p:ext uri="{D42A27DB-BD31-4B8C-83A1-F6EECF244321}">
                <p14:modId xmlns:p14="http://schemas.microsoft.com/office/powerpoint/2010/main" val="2324454918"/>
              </p:ext>
            </p:extLst>
          </p:nvPr>
        </p:nvGraphicFramePr>
        <p:xfrm>
          <a:off x="7526280" y="3304950"/>
          <a:ext cx="1468284" cy="640080"/>
        </p:xfrm>
        <a:graphic>
          <a:graphicData uri="http://schemas.openxmlformats.org/drawingml/2006/table">
            <a:tbl>
              <a:tblPr firstRow="1" bandRow="1"/>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11" name="Table 10">
            <a:extLst>
              <a:ext uri="{FF2B5EF4-FFF2-40B4-BE49-F238E27FC236}">
                <a16:creationId xmlns:a16="http://schemas.microsoft.com/office/drawing/2014/main" id="{D2E30F6C-80AA-BA65-563B-88E971BA9A39}"/>
              </a:ext>
            </a:extLst>
          </p:cNvPr>
          <p:cNvGraphicFramePr>
            <a:graphicFrameLocks noGrp="1"/>
          </p:cNvGraphicFramePr>
          <p:nvPr>
            <p:extLst>
              <p:ext uri="{D42A27DB-BD31-4B8C-83A1-F6EECF244321}">
                <p14:modId xmlns:p14="http://schemas.microsoft.com/office/powerpoint/2010/main" val="2009692548"/>
              </p:ext>
            </p:extLst>
          </p:nvPr>
        </p:nvGraphicFramePr>
        <p:xfrm>
          <a:off x="7526280" y="3944237"/>
          <a:ext cx="1468284" cy="2225040"/>
        </p:xfrm>
        <a:graphic>
          <a:graphicData uri="http://schemas.openxmlformats.org/drawingml/2006/table">
            <a:tbl>
              <a:tblPr firstRow="1" bandRow="1"/>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42399944"/>
                  </a:ext>
                </a:extLst>
              </a:tr>
            </a:tbl>
          </a:graphicData>
        </a:graphic>
      </p:graphicFrame>
      <p:sp>
        <p:nvSpPr>
          <p:cNvPr id="1011" name="Slide Number 101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31</a:t>
            </a:fld>
          </a:p>
        </p:txBody>
      </p:sp>
      <p:sp>
        <p:nvSpPr>
          <p:cNvPr id="1012" name="Answer 101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295</a:t>
            </a:r>
          </a:p>
        </p:txBody>
      </p:sp>
      <p:sp>
        <p:nvSpPr>
          <p:cNvPr id="1013" name="Answer 1013"/>
          <p:cNvSpPr txBox="1"/>
          <p:nvPr/>
        </p:nvSpPr>
        <p:spPr>
          <a:xfrm>
            <a:off x="8261350" y="43116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1014" name="Answer 1014"/>
          <p:cNvSpPr txBox="1"/>
          <p:nvPr/>
        </p:nvSpPr>
        <p:spPr>
          <a:xfrm>
            <a:off x="8261350" y="46799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a:t>
            </a:r>
          </a:p>
        </p:txBody>
      </p:sp>
      <p:sp>
        <p:nvSpPr>
          <p:cNvPr id="1015" name="Answer 1015"/>
          <p:cNvSpPr txBox="1"/>
          <p:nvPr/>
        </p:nvSpPr>
        <p:spPr>
          <a:xfrm>
            <a:off x="8261350" y="50482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0</a:t>
            </a:r>
          </a:p>
        </p:txBody>
      </p:sp>
      <p:sp>
        <p:nvSpPr>
          <p:cNvPr id="1016" name="Answer 1016"/>
          <p:cNvSpPr txBox="1"/>
          <p:nvPr/>
        </p:nvSpPr>
        <p:spPr>
          <a:xfrm>
            <a:off x="8261350" y="54165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a:t>
            </a:r>
          </a:p>
        </p:txBody>
      </p:sp>
      <p:sp>
        <p:nvSpPr>
          <p:cNvPr id="1017" name="Answer 1017"/>
          <p:cNvSpPr txBox="1"/>
          <p:nvPr/>
        </p:nvSpPr>
        <p:spPr>
          <a:xfrm>
            <a:off x="8261350" y="57848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1018" name="Answer 1018"/>
          <p:cNvSpPr txBox="1"/>
          <p:nvPr/>
        </p:nvSpPr>
        <p:spPr>
          <a:xfrm>
            <a:off x="9144000" y="4318000"/>
            <a:ext cx="28575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a(x): through (0, 0) and (1, 2)</a:t>
            </a:r>
          </a:p>
        </p:txBody>
      </p:sp>
    </p:spTree>
    <p:extLst>
      <p:ext uri="{BB962C8B-B14F-4D97-AF65-F5344CB8AC3E}">
        <p14:creationId xmlns:p14="http://schemas.microsoft.com/office/powerpoint/2010/main" val="3407321271"/>
      </p:ext>
    </p:extLst>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3"/>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0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1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1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5F2929-24F5-761A-2E4E-0E972B4A328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D95D66A-7762-9EB3-8A2B-D1EAED054E1A}"/>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(2 of 13)</a:t>
            </a:r>
          </a:p>
        </p:txBody>
      </p:sp>
      <mc:AlternateContent xmlns:mc="http://schemas.openxmlformats.org/markup-compatibility/2006" xmlns:a14="http://schemas.microsoft.com/office/drawing/2010/main">
        <mc:Choice Requires="a14">
          <p:sp>
            <p:nvSpPr>
              <p:cNvPr id="9" name="Text Placeholder 2">
                <a:extLst>
                  <a:ext uri="{FF2B5EF4-FFF2-40B4-BE49-F238E27FC236}">
                    <a16:creationId xmlns:a16="http://schemas.microsoft.com/office/drawing/2014/main" id="{E9BD0CB5-9585-7EF9-006F-C3AF2D3546E8}"/>
                  </a:ext>
                </a:extLst>
              </p:cNvPr>
              <p:cNvSpPr txBox="1">
                <a:spLocks/>
              </p:cNvSpPr>
              <p:nvPr/>
            </p:nvSpPr>
            <p:spPr>
              <a:xfrm>
                <a:off x="777240" y="1576644"/>
                <a:ext cx="10796450" cy="1263191"/>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09588">
                  <a:spcBef>
                    <a:spcPts val="24"/>
                  </a:spcBef>
                  <a:buFont typeface="+mj-lt"/>
                  <a:buAutoNum type="alphaLcPeriod" startAt="2"/>
                </a:pPr>
                <a:r>
                  <a:rPr lang="en-US" dirty="0">
                    <a:solidFill>
                      <a:srgbClr val="000000"/>
                    </a:solidFill>
                  </a:rPr>
                  <a:t>Sketch the graph of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if the input values of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are changed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1</m:t>
                        </m:r>
                      </m:num>
                      <m:den>
                        <m:r>
                          <a:rPr lang="en-US" b="0" i="1" smtClean="0">
                            <a:solidFill>
                              <a:srgbClr val="000000"/>
                            </a:solidFill>
                            <a:latin typeface="Cambria Math" panose="02040503050406030204" pitchFamily="18" charset="0"/>
                          </a:rPr>
                          <m:t>2</m:t>
                        </m:r>
                      </m:den>
                    </m:f>
                  </m:oMath>
                </a14:m>
                <a:r>
                  <a:rPr lang="en-US" dirty="0">
                    <a:solidFill>
                      <a:srgbClr val="000000"/>
                    </a:solidFill>
                  </a:rPr>
                  <a:t>. Complete the table of corresponding points on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a:t>
                </a:r>
              </a:p>
            </p:txBody>
          </p:sp>
        </mc:Choice>
        <mc:Fallback xmlns="">
          <p:sp>
            <p:nvSpPr>
              <p:cNvPr id="9" name="Text Placeholder 2">
                <a:extLst>
                  <a:ext uri="{FF2B5EF4-FFF2-40B4-BE49-F238E27FC236}">
                    <a16:creationId xmlns:a16="http://schemas.microsoft.com/office/drawing/2014/main" id="{E9BD0CB5-9585-7EF9-006F-C3AF2D3546E8}"/>
                  </a:ext>
                </a:extLst>
              </p:cNvPr>
              <p:cNvSpPr txBox="1">
                <a:spLocks noRot="1" noChangeAspect="1" noMove="1" noResize="1" noEditPoints="1" noAdjustHandles="1" noChangeArrowheads="1" noChangeShapeType="1" noTextEdit="1"/>
              </p:cNvSpPr>
              <p:nvPr/>
            </p:nvSpPr>
            <p:spPr>
              <a:xfrm>
                <a:off x="777240" y="1576644"/>
                <a:ext cx="10796450" cy="1263191"/>
              </a:xfrm>
              <a:prstGeom prst="rect">
                <a:avLst/>
              </a:prstGeom>
              <a:blipFill>
                <a:blip r:embed="rId3"/>
                <a:stretch>
                  <a:fillRect l="-1129" t="-5314"/>
                </a:stretch>
              </a:blipFill>
            </p:spPr>
            <p:txBody>
              <a:bodyPr/>
              <a:lstStyle/>
              <a:p>
                <a:r>
                  <a:rPr lang="en-US">
                    <a:noFill/>
                  </a:rPr>
                  <a:t> </a:t>
                </a:r>
              </a:p>
            </p:txBody>
          </p:sp>
        </mc:Fallback>
      </mc:AlternateContent>
      <p:pic>
        <p:nvPicPr>
          <p:cNvPr id="5" name="Picture 4" descr="A graph of line f of x = x on the coordinate plane. The line rises from left to right through the points from the table, including the points (0, 0) and (2, 2).">
            <a:extLst>
              <a:ext uri="{FF2B5EF4-FFF2-40B4-BE49-F238E27FC236}">
                <a16:creationId xmlns:a16="http://schemas.microsoft.com/office/drawing/2014/main" id="{33BB4C20-5D20-4F6D-94E7-1E21DAEB756A}"/>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1235145" y="3007577"/>
            <a:ext cx="3256689" cy="3248687"/>
          </a:xfrm>
          <a:prstGeom prst="rect">
            <a:avLst/>
          </a:prstGeom>
        </p:spPr>
      </p:pic>
      <p:graphicFrame>
        <p:nvGraphicFramePr>
          <p:cNvPr id="6" name="Table 5">
            <a:extLst>
              <a:ext uri="{FF2B5EF4-FFF2-40B4-BE49-F238E27FC236}">
                <a16:creationId xmlns:a16="http://schemas.microsoft.com/office/drawing/2014/main" id="{58ED7CAF-B150-36AC-9C73-FB2236A34144}"/>
              </a:ext>
            </a:extLst>
          </p:cNvPr>
          <p:cNvGraphicFramePr>
            <a:graphicFrameLocks noGrp="1"/>
          </p:cNvGraphicFramePr>
          <p:nvPr>
            <p:extLst>
              <p:ext uri="{D42A27DB-BD31-4B8C-83A1-F6EECF244321}">
                <p14:modId xmlns:p14="http://schemas.microsoft.com/office/powerpoint/2010/main" val="893297766"/>
              </p:ext>
            </p:extLst>
          </p:nvPr>
        </p:nvGraphicFramePr>
        <p:xfrm>
          <a:off x="5832985" y="3243982"/>
          <a:ext cx="1365806" cy="640080"/>
        </p:xfrm>
        <a:graphic>
          <a:graphicData uri="http://schemas.openxmlformats.org/drawingml/2006/table">
            <a:tbl>
              <a:tblPr firstRow="1" bandRow="1"/>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7" name="Table 6">
            <a:extLst>
              <a:ext uri="{FF2B5EF4-FFF2-40B4-BE49-F238E27FC236}">
                <a16:creationId xmlns:a16="http://schemas.microsoft.com/office/drawing/2014/main" id="{19953F14-C02C-599D-AF5B-7EB54D2D2713}"/>
              </a:ext>
            </a:extLst>
          </p:cNvPr>
          <p:cNvGraphicFramePr>
            <a:graphicFrameLocks noGrp="1"/>
          </p:cNvGraphicFramePr>
          <p:nvPr>
            <p:extLst>
              <p:ext uri="{D42A27DB-BD31-4B8C-83A1-F6EECF244321}">
                <p14:modId xmlns:p14="http://schemas.microsoft.com/office/powerpoint/2010/main" val="1839483982"/>
              </p:ext>
            </p:extLst>
          </p:nvPr>
        </p:nvGraphicFramePr>
        <p:xfrm>
          <a:off x="5832985" y="3883269"/>
          <a:ext cx="1365806" cy="2225040"/>
        </p:xfrm>
        <a:graphic>
          <a:graphicData uri="http://schemas.openxmlformats.org/drawingml/2006/table">
            <a:tbl>
              <a:tblPr firstRow="1" bandRow="1"/>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10" name="Table 9">
            <a:extLst>
              <a:ext uri="{FF2B5EF4-FFF2-40B4-BE49-F238E27FC236}">
                <a16:creationId xmlns:a16="http://schemas.microsoft.com/office/drawing/2014/main" id="{D511CB08-8A35-F2A8-8838-9E3879E007FC}"/>
              </a:ext>
            </a:extLst>
          </p:cNvPr>
          <p:cNvGraphicFramePr>
            <a:graphicFrameLocks noGrp="1"/>
          </p:cNvGraphicFramePr>
          <p:nvPr>
            <p:extLst>
              <p:ext uri="{D42A27DB-BD31-4B8C-83A1-F6EECF244321}">
                <p14:modId xmlns:p14="http://schemas.microsoft.com/office/powerpoint/2010/main" val="2809332899"/>
              </p:ext>
            </p:extLst>
          </p:nvPr>
        </p:nvGraphicFramePr>
        <p:xfrm>
          <a:off x="7517571" y="3243982"/>
          <a:ext cx="1468284" cy="640080"/>
        </p:xfrm>
        <a:graphic>
          <a:graphicData uri="http://schemas.openxmlformats.org/drawingml/2006/table">
            <a:tbl>
              <a:tblPr firstRow="1" bandRow="1"/>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11" name="Table 10">
            <a:extLst>
              <a:ext uri="{FF2B5EF4-FFF2-40B4-BE49-F238E27FC236}">
                <a16:creationId xmlns:a16="http://schemas.microsoft.com/office/drawing/2014/main" id="{79E6D00E-32B0-DA54-E7FB-D5C35C26AF60}"/>
              </a:ext>
            </a:extLst>
          </p:cNvPr>
          <p:cNvGraphicFramePr>
            <a:graphicFrameLocks noGrp="1"/>
          </p:cNvGraphicFramePr>
          <p:nvPr>
            <p:extLst>
              <p:ext uri="{D42A27DB-BD31-4B8C-83A1-F6EECF244321}">
                <p14:modId xmlns:p14="http://schemas.microsoft.com/office/powerpoint/2010/main" val="3286159858"/>
              </p:ext>
            </p:extLst>
          </p:nvPr>
        </p:nvGraphicFramePr>
        <p:xfrm>
          <a:off x="7517571" y="3883269"/>
          <a:ext cx="1468284" cy="2225040"/>
        </p:xfrm>
        <a:graphic>
          <a:graphicData uri="http://schemas.openxmlformats.org/drawingml/2006/table">
            <a:tbl>
              <a:tblPr firstRow="1" bandRow="1"/>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sp>
        <p:nvSpPr>
          <p:cNvPr id="1011" name="Slide Number 101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32</a:t>
            </a:fld>
          </a:p>
        </p:txBody>
      </p:sp>
      <p:sp>
        <p:nvSpPr>
          <p:cNvPr id="1012" name="Answer 101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295</a:t>
            </a:r>
          </a:p>
        </p:txBody>
      </p:sp>
      <p:sp>
        <p:nvSpPr>
          <p:cNvPr id="1013" name="Answer 1013"/>
          <p:cNvSpPr txBox="1"/>
          <p:nvPr/>
        </p:nvSpPr>
        <p:spPr>
          <a:xfrm>
            <a:off x="7518400" y="42545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a:t>
            </a:r>
          </a:p>
        </p:txBody>
      </p:sp>
      <p:sp>
        <p:nvSpPr>
          <p:cNvPr id="1014" name="Answer 1014"/>
          <p:cNvSpPr txBox="1"/>
          <p:nvPr/>
        </p:nvSpPr>
        <p:spPr>
          <a:xfrm>
            <a:off x="7518400" y="46228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−1/2</a:t>
            </a:r>
          </a:p>
        </p:txBody>
      </p:sp>
      <p:sp>
        <p:nvSpPr>
          <p:cNvPr id="1015" name="Answer 1015"/>
          <p:cNvSpPr txBox="1"/>
          <p:nvPr/>
        </p:nvSpPr>
        <p:spPr>
          <a:xfrm>
            <a:off x="7518400" y="49911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0</a:t>
            </a:r>
          </a:p>
        </p:txBody>
      </p:sp>
      <p:sp>
        <p:nvSpPr>
          <p:cNvPr id="1016" name="Answer 1016"/>
          <p:cNvSpPr txBox="1"/>
          <p:nvPr/>
        </p:nvSpPr>
        <p:spPr>
          <a:xfrm>
            <a:off x="7518400" y="53594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1/2</a:t>
            </a:r>
          </a:p>
        </p:txBody>
      </p:sp>
      <p:sp>
        <p:nvSpPr>
          <p:cNvPr id="1017" name="Answer 1017"/>
          <p:cNvSpPr txBox="1"/>
          <p:nvPr/>
        </p:nvSpPr>
        <p:spPr>
          <a:xfrm>
            <a:off x="7518400" y="57277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a:t>
            </a:r>
          </a:p>
        </p:txBody>
      </p:sp>
      <p:sp>
        <p:nvSpPr>
          <p:cNvPr id="1018" name="Answer 1018"/>
          <p:cNvSpPr txBox="1"/>
          <p:nvPr/>
        </p:nvSpPr>
        <p:spPr>
          <a:xfrm>
            <a:off x="9144000" y="4254500"/>
            <a:ext cx="28575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b(x): through (0, 0) and (1, 2), the same line as a(x)</a:t>
            </a:r>
          </a:p>
        </p:txBody>
      </p:sp>
    </p:spTree>
    <p:extLst>
      <p:ext uri="{BB962C8B-B14F-4D97-AF65-F5344CB8AC3E}">
        <p14:creationId xmlns:p14="http://schemas.microsoft.com/office/powerpoint/2010/main" val="3832071582"/>
      </p:ext>
    </p:extLst>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3"/>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0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1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1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9D7DE7-CD51-93E4-623D-502C7561A0A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3CEFF23-AF8A-E4A5-C85A-E4F17E18217B}"/>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(3 of 13)</a:t>
            </a:r>
          </a:p>
        </p:txBody>
      </p:sp>
      <p:sp>
        <p:nvSpPr>
          <p:cNvPr id="2" name="Text Placeholder 2">
            <a:extLst>
              <a:ext uri="{FF2B5EF4-FFF2-40B4-BE49-F238E27FC236}">
                <a16:creationId xmlns:a16="http://schemas.microsoft.com/office/drawing/2014/main" id="{2029DEF1-8ECB-4816-A554-783154CDEDF4}"/>
              </a:ext>
            </a:extLst>
          </p:cNvPr>
          <p:cNvSpPr txBox="1">
            <a:spLocks/>
          </p:cNvSpPr>
          <p:nvPr/>
        </p:nvSpPr>
        <p:spPr>
          <a:xfrm>
            <a:off x="777240" y="1602378"/>
            <a:ext cx="9899469" cy="97006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9112" lvl="1" indent="-514350">
              <a:spcBef>
                <a:spcPts val="0"/>
              </a:spcBef>
              <a:buFont typeface="+mj-lt"/>
              <a:buAutoNum type="alphaLcPeriod" startAt="3"/>
            </a:pPr>
            <a:r>
              <a:rPr lang="en-US" dirty="0">
                <a:solidFill>
                  <a:srgbClr val="000000"/>
                </a:solidFill>
              </a:rPr>
              <a:t>Compare the graphs and tables of values for </a:t>
            </a:r>
            <a:r>
              <a:rPr lang="en-US" i="1" dirty="0">
                <a:solidFill>
                  <a:srgbClr val="000000"/>
                </a:solidFill>
              </a:rPr>
              <a:t>a</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What do you notice?</a:t>
            </a:r>
          </a:p>
          <a:p>
            <a:pPr marL="519112" lvl="2" indent="0">
              <a:lnSpc>
                <a:spcPct val="100000"/>
              </a:lnSpc>
              <a:spcBef>
                <a:spcPts val="200"/>
              </a:spcBef>
              <a:spcAft>
                <a:spcPts val="600"/>
              </a:spcAft>
              <a:buNone/>
            </a:pPr>
            <a:r>
              <a:rPr lang="en-US" sz="2200" dirty="0">
                <a:solidFill>
                  <a:srgbClr val="FF0000"/>
                </a:solidFill>
              </a:rPr>
              <a:t>The graphs of a(x) and b(x) are the same line, y = 2x, but their tables of values are different.</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33</a:t>
            </a:fld>
          </a:p>
        </p:txBody>
      </p:sp>
      <p:sp>
        <p:nvSpPr>
          <p:cNvPr id="1005" name="Answer 100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295</a:t>
            </a:r>
          </a:p>
        </p:txBody>
      </p:sp>
    </p:spTree>
    <p:extLst>
      <p:ext uri="{BB962C8B-B14F-4D97-AF65-F5344CB8AC3E}">
        <p14:creationId xmlns:p14="http://schemas.microsoft.com/office/powerpoint/2010/main" val="288999503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FF78C-B592-E6D0-AD84-9903B3667E7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21C7E8F-BC39-B160-18D6-173D75AC3D23}"/>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(4 of 13)</a:t>
            </a:r>
          </a:p>
        </p:txBody>
      </p:sp>
      <mc:AlternateContent xmlns:mc="http://schemas.openxmlformats.org/markup-compatibility/2006" xmlns:a14="http://schemas.microsoft.com/office/drawing/2010/main">
        <mc:Choice Requires="a14">
          <p:sp>
            <p:nvSpPr>
              <p:cNvPr id="9" name="Text Placeholder 2">
                <a:extLst>
                  <a:ext uri="{FF2B5EF4-FFF2-40B4-BE49-F238E27FC236}">
                    <a16:creationId xmlns:a16="http://schemas.microsoft.com/office/drawing/2014/main" id="{0C5DCC94-43A3-2E02-4C0D-288E5EBEFCF8}"/>
                  </a:ext>
                </a:extLst>
              </p:cNvPr>
              <p:cNvSpPr txBox="1">
                <a:spLocks/>
              </p:cNvSpPr>
              <p:nvPr/>
            </p:nvSpPr>
            <p:spPr>
              <a:xfrm>
                <a:off x="777240" y="1602377"/>
                <a:ext cx="10918371" cy="1645920"/>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gn="l">
                  <a:spcBef>
                    <a:spcPts val="0"/>
                  </a:spcBef>
                  <a:spcAft>
                    <a:spcPts val="600"/>
                  </a:spcAft>
                  <a:buFont typeface="+mj-lt"/>
                  <a:buAutoNum type="arabicPeriod" startAt="2"/>
                </a:pPr>
                <a:r>
                  <a:rPr lang="en-US" sz="2800" dirty="0">
                    <a:solidFill>
                      <a:srgbClr val="000000"/>
                    </a:solidFill>
                  </a:rPr>
                  <a:t>Again, the graph and a table of values for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are provided for you. </a:t>
                </a:r>
              </a:p>
              <a:p>
                <a:pPr marL="1027113" lvl="1" indent="-514350">
                  <a:spcBef>
                    <a:spcPts val="0"/>
                  </a:spcBef>
                  <a:buFont typeface="+mj-lt"/>
                  <a:buAutoNum type="alphaLcPeriod"/>
                </a:pPr>
                <a:r>
                  <a:rPr lang="en-US" dirty="0">
                    <a:solidFill>
                      <a:srgbClr val="000000"/>
                    </a:solidFill>
                  </a:rPr>
                  <a:t>Sketch the graph of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 if the output values of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 are changed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4</m:t>
                        </m:r>
                      </m:num>
                      <m:den>
                        <m:r>
                          <a:rPr lang="en-US" b="0" i="1" smtClean="0">
                            <a:solidFill>
                              <a:srgbClr val="000000"/>
                            </a:solidFill>
                            <a:latin typeface="Cambria Math" panose="02040503050406030204" pitchFamily="18" charset="0"/>
                          </a:rPr>
                          <m:t>5</m:t>
                        </m:r>
                      </m:den>
                    </m:f>
                  </m:oMath>
                </a14:m>
                <a:r>
                  <a:rPr lang="en-US" dirty="0">
                    <a:solidFill>
                      <a:srgbClr val="000000"/>
                    </a:solidFill>
                  </a:rPr>
                  <a:t>. Complete the table of corresponding points on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a:t>
                </a:r>
              </a:p>
            </p:txBody>
          </p:sp>
        </mc:Choice>
        <mc:Fallback xmlns="">
          <p:sp>
            <p:nvSpPr>
              <p:cNvPr id="9" name="Text Placeholder 2">
                <a:extLst>
                  <a:ext uri="{FF2B5EF4-FFF2-40B4-BE49-F238E27FC236}">
                    <a16:creationId xmlns:a16="http://schemas.microsoft.com/office/drawing/2014/main" id="{0C5DCC94-43A3-2E02-4C0D-288E5EBEFCF8}"/>
                  </a:ext>
                </a:extLst>
              </p:cNvPr>
              <p:cNvSpPr txBox="1">
                <a:spLocks noRot="1" noChangeAspect="1" noMove="1" noResize="1" noEditPoints="1" noAdjustHandles="1" noChangeArrowheads="1" noChangeShapeType="1" noTextEdit="1"/>
              </p:cNvSpPr>
              <p:nvPr/>
            </p:nvSpPr>
            <p:spPr>
              <a:xfrm>
                <a:off x="777240" y="1602377"/>
                <a:ext cx="10918371" cy="1645920"/>
              </a:xfrm>
              <a:prstGeom prst="rect">
                <a:avLst/>
              </a:prstGeom>
              <a:blipFill>
                <a:blip r:embed="rId3"/>
                <a:stretch>
                  <a:fillRect l="-1173" t="-4074" r="-1061" b="-4815"/>
                </a:stretch>
              </a:blipFill>
            </p:spPr>
            <p:txBody>
              <a:bodyPr/>
              <a:lstStyle/>
              <a:p>
                <a:r>
                  <a:rPr lang="en-US">
                    <a:noFill/>
                  </a:rPr>
                  <a:t> </a:t>
                </a:r>
              </a:p>
            </p:txBody>
          </p:sp>
        </mc:Fallback>
      </mc:AlternateContent>
      <p:pic>
        <p:nvPicPr>
          <p:cNvPr id="2" name="Picture 1" descr="A graph of line f of x = x on the coordinate plane. The line rises from left to right through the points from the table, including the points (0, 0) and (2, 2).">
            <a:extLst>
              <a:ext uri="{FF2B5EF4-FFF2-40B4-BE49-F238E27FC236}">
                <a16:creationId xmlns:a16="http://schemas.microsoft.com/office/drawing/2014/main" id="{5CB7F967-BEAD-D416-FC4A-7861DD494CCB}"/>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1182893" y="3248297"/>
            <a:ext cx="3256689" cy="3248687"/>
          </a:xfrm>
          <a:prstGeom prst="rect">
            <a:avLst/>
          </a:prstGeom>
        </p:spPr>
      </p:pic>
      <p:graphicFrame>
        <p:nvGraphicFramePr>
          <p:cNvPr id="5" name="Table 4">
            <a:extLst>
              <a:ext uri="{FF2B5EF4-FFF2-40B4-BE49-F238E27FC236}">
                <a16:creationId xmlns:a16="http://schemas.microsoft.com/office/drawing/2014/main" id="{F5B3E666-6A49-A8E3-7F2F-178AC50F35DE}"/>
              </a:ext>
            </a:extLst>
          </p:cNvPr>
          <p:cNvGraphicFramePr>
            <a:graphicFrameLocks noGrp="1"/>
          </p:cNvGraphicFramePr>
          <p:nvPr>
            <p:extLst>
              <p:ext uri="{D42A27DB-BD31-4B8C-83A1-F6EECF244321}">
                <p14:modId xmlns:p14="http://schemas.microsoft.com/office/powerpoint/2010/main" val="218983121"/>
              </p:ext>
            </p:extLst>
          </p:nvPr>
        </p:nvGraphicFramePr>
        <p:xfrm>
          <a:off x="5780733" y="3484702"/>
          <a:ext cx="1365806" cy="640080"/>
        </p:xfrm>
        <a:graphic>
          <a:graphicData uri="http://schemas.openxmlformats.org/drawingml/2006/table">
            <a:tbl>
              <a:tblPr firstRow="1" bandRow="1"/>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6" name="Table 5">
            <a:extLst>
              <a:ext uri="{FF2B5EF4-FFF2-40B4-BE49-F238E27FC236}">
                <a16:creationId xmlns:a16="http://schemas.microsoft.com/office/drawing/2014/main" id="{F155E92F-80D0-15E4-DC40-C50F206C0A64}"/>
              </a:ext>
            </a:extLst>
          </p:cNvPr>
          <p:cNvGraphicFramePr>
            <a:graphicFrameLocks noGrp="1"/>
          </p:cNvGraphicFramePr>
          <p:nvPr>
            <p:extLst>
              <p:ext uri="{D42A27DB-BD31-4B8C-83A1-F6EECF244321}">
                <p14:modId xmlns:p14="http://schemas.microsoft.com/office/powerpoint/2010/main" val="315734030"/>
              </p:ext>
            </p:extLst>
          </p:nvPr>
        </p:nvGraphicFramePr>
        <p:xfrm>
          <a:off x="5780733" y="4123989"/>
          <a:ext cx="1365806" cy="2225040"/>
        </p:xfrm>
        <a:graphic>
          <a:graphicData uri="http://schemas.openxmlformats.org/drawingml/2006/table">
            <a:tbl>
              <a:tblPr firstRow="1" bandRow="1"/>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7" name="Table 6">
            <a:extLst>
              <a:ext uri="{FF2B5EF4-FFF2-40B4-BE49-F238E27FC236}">
                <a16:creationId xmlns:a16="http://schemas.microsoft.com/office/drawing/2014/main" id="{8E8F4CF8-D436-4C2A-354D-993BAE565360}"/>
              </a:ext>
            </a:extLst>
          </p:cNvPr>
          <p:cNvGraphicFramePr>
            <a:graphicFrameLocks noGrp="1"/>
          </p:cNvGraphicFramePr>
          <p:nvPr>
            <p:extLst>
              <p:ext uri="{D42A27DB-BD31-4B8C-83A1-F6EECF244321}">
                <p14:modId xmlns:p14="http://schemas.microsoft.com/office/powerpoint/2010/main" val="306911311"/>
              </p:ext>
            </p:extLst>
          </p:nvPr>
        </p:nvGraphicFramePr>
        <p:xfrm>
          <a:off x="7465319" y="3484702"/>
          <a:ext cx="1468284" cy="640080"/>
        </p:xfrm>
        <a:graphic>
          <a:graphicData uri="http://schemas.openxmlformats.org/drawingml/2006/table">
            <a:tbl>
              <a:tblPr firstRow="1" bandRow="1"/>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10" name="Table 9">
            <a:extLst>
              <a:ext uri="{FF2B5EF4-FFF2-40B4-BE49-F238E27FC236}">
                <a16:creationId xmlns:a16="http://schemas.microsoft.com/office/drawing/2014/main" id="{F8CAAED0-5B8B-407F-DFED-B19E7F5F9D42}"/>
              </a:ext>
            </a:extLst>
          </p:cNvPr>
          <p:cNvGraphicFramePr>
            <a:graphicFrameLocks noGrp="1"/>
          </p:cNvGraphicFramePr>
          <p:nvPr>
            <p:extLst>
              <p:ext uri="{D42A27DB-BD31-4B8C-83A1-F6EECF244321}">
                <p14:modId xmlns:p14="http://schemas.microsoft.com/office/powerpoint/2010/main" val="2005368622"/>
              </p:ext>
            </p:extLst>
          </p:nvPr>
        </p:nvGraphicFramePr>
        <p:xfrm>
          <a:off x="7465319" y="4123989"/>
          <a:ext cx="1468284" cy="2225040"/>
        </p:xfrm>
        <a:graphic>
          <a:graphicData uri="http://schemas.openxmlformats.org/drawingml/2006/table">
            <a:tbl>
              <a:tblPr firstRow="1" bandRow="1"/>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42399944"/>
                  </a:ext>
                </a:extLst>
              </a:tr>
            </a:tbl>
          </a:graphicData>
        </a:graphic>
      </p:graphicFrame>
      <p:sp>
        <p:nvSpPr>
          <p:cNvPr id="1010" name="Slide Number 101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34</a:t>
            </a:fld>
          </a:p>
        </p:txBody>
      </p:sp>
      <p:sp>
        <p:nvSpPr>
          <p:cNvPr id="1011" name="Answer 101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295</a:t>
            </a:r>
          </a:p>
        </p:txBody>
      </p:sp>
      <p:sp>
        <p:nvSpPr>
          <p:cNvPr id="1012" name="Answer 1012"/>
          <p:cNvSpPr txBox="1"/>
          <p:nvPr/>
        </p:nvSpPr>
        <p:spPr>
          <a:xfrm>
            <a:off x="8204200" y="44894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−8/5</a:t>
            </a:r>
          </a:p>
        </p:txBody>
      </p:sp>
      <p:sp>
        <p:nvSpPr>
          <p:cNvPr id="1013" name="Answer 1013"/>
          <p:cNvSpPr txBox="1"/>
          <p:nvPr/>
        </p:nvSpPr>
        <p:spPr>
          <a:xfrm>
            <a:off x="8204200" y="48577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−4/5</a:t>
            </a:r>
          </a:p>
        </p:txBody>
      </p:sp>
      <p:sp>
        <p:nvSpPr>
          <p:cNvPr id="1014" name="Answer 1014"/>
          <p:cNvSpPr txBox="1"/>
          <p:nvPr/>
        </p:nvSpPr>
        <p:spPr>
          <a:xfrm>
            <a:off x="8204200" y="52260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0</a:t>
            </a:r>
          </a:p>
        </p:txBody>
      </p:sp>
      <p:sp>
        <p:nvSpPr>
          <p:cNvPr id="1015" name="Answer 1015"/>
          <p:cNvSpPr txBox="1"/>
          <p:nvPr/>
        </p:nvSpPr>
        <p:spPr>
          <a:xfrm>
            <a:off x="8204200" y="55943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4/5</a:t>
            </a:r>
          </a:p>
        </p:txBody>
      </p:sp>
      <p:sp>
        <p:nvSpPr>
          <p:cNvPr id="1016" name="Answer 1016"/>
          <p:cNvSpPr txBox="1"/>
          <p:nvPr/>
        </p:nvSpPr>
        <p:spPr>
          <a:xfrm>
            <a:off x="8204200" y="59626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8/5</a:t>
            </a:r>
          </a:p>
        </p:txBody>
      </p:sp>
      <p:sp>
        <p:nvSpPr>
          <p:cNvPr id="1017" name="Answer 1017"/>
          <p:cNvSpPr txBox="1"/>
          <p:nvPr/>
        </p:nvSpPr>
        <p:spPr>
          <a:xfrm>
            <a:off x="9080500" y="4489450"/>
            <a:ext cx="29210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c(x): through (0, 0) and (5, 4)</a:t>
            </a:r>
          </a:p>
        </p:txBody>
      </p:sp>
    </p:spTree>
    <p:extLst>
      <p:ext uri="{BB962C8B-B14F-4D97-AF65-F5344CB8AC3E}">
        <p14:creationId xmlns:p14="http://schemas.microsoft.com/office/powerpoint/2010/main" val="1579904877"/>
      </p:ext>
    </p:extLst>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2"/>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01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1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1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173D6F-04C4-6917-45CE-1F46B515238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651412E-2B99-AA50-6CCE-814DA69E5B62}"/>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(5 of 13)</a:t>
            </a:r>
          </a:p>
        </p:txBody>
      </p:sp>
      <mc:AlternateContent xmlns:mc="http://schemas.openxmlformats.org/markup-compatibility/2006" xmlns:a14="http://schemas.microsoft.com/office/drawing/2010/main">
        <mc:Choice Requires="a14">
          <p:sp>
            <p:nvSpPr>
              <p:cNvPr id="9" name="Text Placeholder 2">
                <a:extLst>
                  <a:ext uri="{FF2B5EF4-FFF2-40B4-BE49-F238E27FC236}">
                    <a16:creationId xmlns:a16="http://schemas.microsoft.com/office/drawing/2014/main" id="{A314ECAC-A242-ABFB-4DF0-22E0A461AA70}"/>
                  </a:ext>
                </a:extLst>
              </p:cNvPr>
              <p:cNvSpPr txBox="1">
                <a:spLocks/>
              </p:cNvSpPr>
              <p:nvPr/>
            </p:nvSpPr>
            <p:spPr>
              <a:xfrm>
                <a:off x="777240" y="1602376"/>
                <a:ext cx="10361022" cy="1137743"/>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gn="l">
                  <a:lnSpc>
                    <a:spcPts val="4000"/>
                  </a:lnSpc>
                  <a:spcBef>
                    <a:spcPts val="0"/>
                  </a:spcBef>
                  <a:buFont typeface="+mj-lt"/>
                  <a:buAutoNum type="alphaLcPeriod" startAt="2"/>
                </a:pPr>
                <a:r>
                  <a:rPr lang="en-US" sz="2800" dirty="0">
                    <a:solidFill>
                      <a:srgbClr val="000000"/>
                    </a:solidFill>
                  </a:rPr>
                  <a:t>Sketch the graph of </a:t>
                </a:r>
                <a:r>
                  <a:rPr lang="en-US" sz="2800" i="1" dirty="0">
                    <a:solidFill>
                      <a:srgbClr val="000000"/>
                    </a:solidFill>
                  </a:rPr>
                  <a:t>d</a:t>
                </a:r>
                <a:r>
                  <a:rPr lang="en-US" sz="2800" dirty="0">
                    <a:solidFill>
                      <a:srgbClr val="000000"/>
                    </a:solidFill>
                  </a:rPr>
                  <a:t>(</a:t>
                </a:r>
                <a:r>
                  <a:rPr lang="en-US" sz="2800" i="1" dirty="0">
                    <a:solidFill>
                      <a:srgbClr val="000000"/>
                    </a:solidFill>
                  </a:rPr>
                  <a:t>x</a:t>
                </a:r>
                <a:r>
                  <a:rPr lang="en-US" sz="2800" dirty="0">
                    <a:solidFill>
                      <a:srgbClr val="000000"/>
                    </a:solidFill>
                  </a:rPr>
                  <a:t>), if the input values of </a:t>
                </a:r>
                <a:r>
                  <a:rPr lang="en-US" sz="2800" i="1" dirty="0">
                    <a:solidFill>
                      <a:srgbClr val="000000"/>
                    </a:solidFill>
                  </a:rPr>
                  <a:t>d</a:t>
                </a:r>
                <a:r>
                  <a:rPr lang="en-US" sz="2800" dirty="0">
                    <a:solidFill>
                      <a:srgbClr val="000000"/>
                    </a:solidFill>
                  </a:rPr>
                  <a:t>(</a:t>
                </a:r>
                <a:r>
                  <a:rPr lang="en-US" sz="2800" i="1" dirty="0">
                    <a:solidFill>
                      <a:srgbClr val="000000"/>
                    </a:solidFill>
                  </a:rPr>
                  <a:t>x</a:t>
                </a:r>
                <a:r>
                  <a:rPr lang="en-US" sz="2800" dirty="0">
                    <a:solidFill>
                      <a:srgbClr val="000000"/>
                    </a:solidFill>
                  </a:rPr>
                  <a:t>) are changed by a factor of </a:t>
                </a:r>
                <a14:m>
                  <m:oMath xmlns:m="http://schemas.openxmlformats.org/officeDocument/2006/math">
                    <m:f>
                      <m:fPr>
                        <m:ctrlPr>
                          <a:rPr lang="en-US" sz="2800" i="1" smtClean="0">
                            <a:solidFill>
                              <a:srgbClr val="000000"/>
                            </a:solidFill>
                            <a:latin typeface="Cambria Math" panose="02040503050406030204" pitchFamily="18" charset="0"/>
                          </a:rPr>
                        </m:ctrlPr>
                      </m:fPr>
                      <m:num>
                        <m:r>
                          <a:rPr lang="en-US" sz="2800" b="0" i="1" smtClean="0">
                            <a:solidFill>
                              <a:srgbClr val="000000"/>
                            </a:solidFill>
                            <a:latin typeface="Cambria Math" panose="02040503050406030204" pitchFamily="18" charset="0"/>
                          </a:rPr>
                          <m:t>5</m:t>
                        </m:r>
                      </m:num>
                      <m:den>
                        <m:r>
                          <a:rPr lang="en-US" sz="2800" b="0" i="1" smtClean="0">
                            <a:solidFill>
                              <a:srgbClr val="000000"/>
                            </a:solidFill>
                            <a:latin typeface="Cambria Math" panose="02040503050406030204" pitchFamily="18" charset="0"/>
                          </a:rPr>
                          <m:t>4</m:t>
                        </m:r>
                      </m:den>
                    </m:f>
                  </m:oMath>
                </a14:m>
                <a:r>
                  <a:rPr lang="en-US" sz="2800" dirty="0">
                    <a:solidFill>
                      <a:srgbClr val="000000"/>
                    </a:solidFill>
                  </a:rPr>
                  <a:t>. Complete the table of corresponding points on </a:t>
                </a:r>
                <a:r>
                  <a:rPr lang="en-US" sz="2800" i="1" dirty="0">
                    <a:solidFill>
                      <a:srgbClr val="000000"/>
                    </a:solidFill>
                  </a:rPr>
                  <a:t>d</a:t>
                </a:r>
                <a:r>
                  <a:rPr lang="en-US" sz="2800" dirty="0">
                    <a:solidFill>
                      <a:srgbClr val="000000"/>
                    </a:solidFill>
                  </a:rPr>
                  <a:t>(</a:t>
                </a:r>
                <a:r>
                  <a:rPr lang="en-US" sz="2800" i="1" dirty="0">
                    <a:solidFill>
                      <a:srgbClr val="000000"/>
                    </a:solidFill>
                  </a:rPr>
                  <a:t>x</a:t>
                </a:r>
                <a:r>
                  <a:rPr lang="en-US" sz="2800" dirty="0">
                    <a:solidFill>
                      <a:srgbClr val="000000"/>
                    </a:solidFill>
                  </a:rPr>
                  <a:t>).</a:t>
                </a:r>
              </a:p>
            </p:txBody>
          </p:sp>
        </mc:Choice>
        <mc:Fallback xmlns="">
          <p:sp>
            <p:nvSpPr>
              <p:cNvPr id="9" name="Text Placeholder 2">
                <a:extLst>
                  <a:ext uri="{FF2B5EF4-FFF2-40B4-BE49-F238E27FC236}">
                    <a16:creationId xmlns:a16="http://schemas.microsoft.com/office/drawing/2014/main" id="{A314ECAC-A242-ABFB-4DF0-22E0A461AA70}"/>
                  </a:ext>
                </a:extLst>
              </p:cNvPr>
              <p:cNvSpPr txBox="1">
                <a:spLocks noRot="1" noChangeAspect="1" noMove="1" noResize="1" noEditPoints="1" noAdjustHandles="1" noChangeArrowheads="1" noChangeShapeType="1" noTextEdit="1"/>
              </p:cNvSpPr>
              <p:nvPr/>
            </p:nvSpPr>
            <p:spPr>
              <a:xfrm>
                <a:off x="777240" y="1602376"/>
                <a:ext cx="10361022" cy="1137743"/>
              </a:xfrm>
              <a:prstGeom prst="rect">
                <a:avLst/>
              </a:prstGeom>
              <a:blipFill>
                <a:blip r:embed="rId3"/>
                <a:stretch>
                  <a:fillRect l="-1236" t="-1613" r="-59" b="-8065"/>
                </a:stretch>
              </a:blipFill>
            </p:spPr>
            <p:txBody>
              <a:bodyPr/>
              <a:lstStyle/>
              <a:p>
                <a:r>
                  <a:rPr lang="en-US">
                    <a:noFill/>
                  </a:rPr>
                  <a:t> </a:t>
                </a:r>
              </a:p>
            </p:txBody>
          </p:sp>
        </mc:Fallback>
      </mc:AlternateContent>
      <p:pic>
        <p:nvPicPr>
          <p:cNvPr id="3" name="Picture 2" descr="A graph of line f of x = x on the coordinate plane. The line rises from left to right through the points from the table, including the points (0, 0) and (2, 2).">
            <a:extLst>
              <a:ext uri="{FF2B5EF4-FFF2-40B4-BE49-F238E27FC236}">
                <a16:creationId xmlns:a16="http://schemas.microsoft.com/office/drawing/2014/main" id="{02127F41-1BD0-834A-77F8-E64A63268870}"/>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1174185" y="2945278"/>
            <a:ext cx="3256689" cy="3248687"/>
          </a:xfrm>
          <a:prstGeom prst="rect">
            <a:avLst/>
          </a:prstGeom>
        </p:spPr>
      </p:pic>
      <p:graphicFrame>
        <p:nvGraphicFramePr>
          <p:cNvPr id="6" name="Table 5">
            <a:extLst>
              <a:ext uri="{FF2B5EF4-FFF2-40B4-BE49-F238E27FC236}">
                <a16:creationId xmlns:a16="http://schemas.microsoft.com/office/drawing/2014/main" id="{B720DFE9-EB1A-3A32-7C30-9929575C46CD}"/>
              </a:ext>
            </a:extLst>
          </p:cNvPr>
          <p:cNvGraphicFramePr>
            <a:graphicFrameLocks noGrp="1"/>
          </p:cNvGraphicFramePr>
          <p:nvPr>
            <p:extLst>
              <p:ext uri="{D42A27DB-BD31-4B8C-83A1-F6EECF244321}">
                <p14:modId xmlns:p14="http://schemas.microsoft.com/office/powerpoint/2010/main" val="1690812873"/>
              </p:ext>
            </p:extLst>
          </p:nvPr>
        </p:nvGraphicFramePr>
        <p:xfrm>
          <a:off x="5772025" y="3181683"/>
          <a:ext cx="1365806" cy="640080"/>
        </p:xfrm>
        <a:graphic>
          <a:graphicData uri="http://schemas.openxmlformats.org/drawingml/2006/table">
            <a:tbl>
              <a:tblPr firstRow="1" bandRow="1"/>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8" name="Table 7">
            <a:extLst>
              <a:ext uri="{FF2B5EF4-FFF2-40B4-BE49-F238E27FC236}">
                <a16:creationId xmlns:a16="http://schemas.microsoft.com/office/drawing/2014/main" id="{FEA3B201-6AE3-542E-7CC4-2D6180D3F821}"/>
              </a:ext>
            </a:extLst>
          </p:cNvPr>
          <p:cNvGraphicFramePr>
            <a:graphicFrameLocks noGrp="1"/>
          </p:cNvGraphicFramePr>
          <p:nvPr>
            <p:extLst>
              <p:ext uri="{D42A27DB-BD31-4B8C-83A1-F6EECF244321}">
                <p14:modId xmlns:p14="http://schemas.microsoft.com/office/powerpoint/2010/main" val="1907949420"/>
              </p:ext>
            </p:extLst>
          </p:nvPr>
        </p:nvGraphicFramePr>
        <p:xfrm>
          <a:off x="5772025" y="3820970"/>
          <a:ext cx="1365806" cy="2225040"/>
        </p:xfrm>
        <a:graphic>
          <a:graphicData uri="http://schemas.openxmlformats.org/drawingml/2006/table">
            <a:tbl>
              <a:tblPr firstRow="1" bandRow="1"/>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10" name="Table 9">
            <a:extLst>
              <a:ext uri="{FF2B5EF4-FFF2-40B4-BE49-F238E27FC236}">
                <a16:creationId xmlns:a16="http://schemas.microsoft.com/office/drawing/2014/main" id="{126D3301-05A8-642A-399F-89A3F2E879D7}"/>
              </a:ext>
            </a:extLst>
          </p:cNvPr>
          <p:cNvGraphicFramePr>
            <a:graphicFrameLocks noGrp="1"/>
          </p:cNvGraphicFramePr>
          <p:nvPr>
            <p:extLst>
              <p:ext uri="{D42A27DB-BD31-4B8C-83A1-F6EECF244321}">
                <p14:modId xmlns:p14="http://schemas.microsoft.com/office/powerpoint/2010/main" val="4221220400"/>
              </p:ext>
            </p:extLst>
          </p:nvPr>
        </p:nvGraphicFramePr>
        <p:xfrm>
          <a:off x="7456611" y="3181683"/>
          <a:ext cx="1468284" cy="640080"/>
        </p:xfrm>
        <a:graphic>
          <a:graphicData uri="http://schemas.openxmlformats.org/drawingml/2006/table">
            <a:tbl>
              <a:tblPr firstRow="1" bandRow="1"/>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11" name="Table 10">
            <a:extLst>
              <a:ext uri="{FF2B5EF4-FFF2-40B4-BE49-F238E27FC236}">
                <a16:creationId xmlns:a16="http://schemas.microsoft.com/office/drawing/2014/main" id="{C89BC291-9E4A-2268-B7A5-55A56ECDAD71}"/>
              </a:ext>
            </a:extLst>
          </p:cNvPr>
          <p:cNvGraphicFramePr>
            <a:graphicFrameLocks noGrp="1"/>
          </p:cNvGraphicFramePr>
          <p:nvPr>
            <p:extLst>
              <p:ext uri="{D42A27DB-BD31-4B8C-83A1-F6EECF244321}">
                <p14:modId xmlns:p14="http://schemas.microsoft.com/office/powerpoint/2010/main" val="3450931126"/>
              </p:ext>
            </p:extLst>
          </p:nvPr>
        </p:nvGraphicFramePr>
        <p:xfrm>
          <a:off x="7456611" y="3820970"/>
          <a:ext cx="1468284" cy="2225040"/>
        </p:xfrm>
        <a:graphic>
          <a:graphicData uri="http://schemas.openxmlformats.org/drawingml/2006/table">
            <a:tbl>
              <a:tblPr firstRow="1" bandRow="1"/>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sp>
        <p:nvSpPr>
          <p:cNvPr id="1011" name="Slide Number 101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35</a:t>
            </a:fld>
          </a:p>
        </p:txBody>
      </p:sp>
      <p:sp>
        <p:nvSpPr>
          <p:cNvPr id="1012" name="Answer 101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295</a:t>
            </a:r>
          </a:p>
        </p:txBody>
      </p:sp>
      <p:sp>
        <p:nvSpPr>
          <p:cNvPr id="1013" name="Answer 1013"/>
          <p:cNvSpPr txBox="1"/>
          <p:nvPr/>
        </p:nvSpPr>
        <p:spPr>
          <a:xfrm>
            <a:off x="7454900" y="41910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−5/2</a:t>
            </a:r>
          </a:p>
        </p:txBody>
      </p:sp>
      <p:sp>
        <p:nvSpPr>
          <p:cNvPr id="1014" name="Answer 1014"/>
          <p:cNvSpPr txBox="1"/>
          <p:nvPr/>
        </p:nvSpPr>
        <p:spPr>
          <a:xfrm>
            <a:off x="7454900" y="45593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−5/4</a:t>
            </a:r>
          </a:p>
        </p:txBody>
      </p:sp>
      <p:sp>
        <p:nvSpPr>
          <p:cNvPr id="1015" name="Answer 1015"/>
          <p:cNvSpPr txBox="1"/>
          <p:nvPr/>
        </p:nvSpPr>
        <p:spPr>
          <a:xfrm>
            <a:off x="7454900" y="49276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0</a:t>
            </a:r>
          </a:p>
        </p:txBody>
      </p:sp>
      <p:sp>
        <p:nvSpPr>
          <p:cNvPr id="1016" name="Answer 1016"/>
          <p:cNvSpPr txBox="1"/>
          <p:nvPr/>
        </p:nvSpPr>
        <p:spPr>
          <a:xfrm>
            <a:off x="7454900" y="52959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5/4</a:t>
            </a:r>
          </a:p>
        </p:txBody>
      </p:sp>
      <p:sp>
        <p:nvSpPr>
          <p:cNvPr id="1017" name="Answer 1017"/>
          <p:cNvSpPr txBox="1"/>
          <p:nvPr/>
        </p:nvSpPr>
        <p:spPr>
          <a:xfrm>
            <a:off x="7454900" y="56642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5/2</a:t>
            </a:r>
          </a:p>
        </p:txBody>
      </p:sp>
      <p:sp>
        <p:nvSpPr>
          <p:cNvPr id="1018" name="Answer 1018"/>
          <p:cNvSpPr txBox="1"/>
          <p:nvPr/>
        </p:nvSpPr>
        <p:spPr>
          <a:xfrm>
            <a:off x="9080500" y="4191000"/>
            <a:ext cx="29210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d(x): through (0, 0) and (5, 4), the same line as c(x)</a:t>
            </a:r>
          </a:p>
        </p:txBody>
      </p:sp>
    </p:spTree>
    <p:extLst>
      <p:ext uri="{BB962C8B-B14F-4D97-AF65-F5344CB8AC3E}">
        <p14:creationId xmlns:p14="http://schemas.microsoft.com/office/powerpoint/2010/main" val="2120338304"/>
      </p:ext>
    </p:extLst>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3"/>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0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1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1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B0D740-3E24-BB97-0D3D-31DCACB5482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7BE6645-7386-D715-CA29-CD1A060638A9}"/>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(6 of 13)</a:t>
            </a:r>
          </a:p>
        </p:txBody>
      </p:sp>
      <p:sp>
        <p:nvSpPr>
          <p:cNvPr id="2" name="Text Placeholder 2">
            <a:extLst>
              <a:ext uri="{FF2B5EF4-FFF2-40B4-BE49-F238E27FC236}">
                <a16:creationId xmlns:a16="http://schemas.microsoft.com/office/drawing/2014/main" id="{85E9448E-3761-429E-57DC-DB3FA6ACED29}"/>
              </a:ext>
            </a:extLst>
          </p:cNvPr>
          <p:cNvSpPr txBox="1">
            <a:spLocks/>
          </p:cNvSpPr>
          <p:nvPr/>
        </p:nvSpPr>
        <p:spPr>
          <a:xfrm>
            <a:off x="777241" y="1602378"/>
            <a:ext cx="9864634" cy="97006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9112" lvl="1" indent="-514350">
              <a:spcBef>
                <a:spcPts val="0"/>
              </a:spcBef>
              <a:buFont typeface="+mj-lt"/>
              <a:buAutoNum type="alphaLcPeriod" startAt="3"/>
            </a:pPr>
            <a:r>
              <a:rPr lang="en-US" dirty="0">
                <a:solidFill>
                  <a:srgbClr val="000000"/>
                </a:solidFill>
              </a:rPr>
              <a:t>Compare the graphs and tables of values for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d</a:t>
            </a:r>
            <a:r>
              <a:rPr lang="en-US" dirty="0">
                <a:solidFill>
                  <a:srgbClr val="000000"/>
                </a:solidFill>
              </a:rPr>
              <a:t>(</a:t>
            </a:r>
            <a:r>
              <a:rPr lang="en-US" i="1" dirty="0">
                <a:solidFill>
                  <a:srgbClr val="000000"/>
                </a:solidFill>
              </a:rPr>
              <a:t>x</a:t>
            </a:r>
            <a:r>
              <a:rPr lang="en-US" dirty="0">
                <a:solidFill>
                  <a:srgbClr val="000000"/>
                </a:solidFill>
              </a:rPr>
              <a:t>). What do you notice?</a:t>
            </a:r>
          </a:p>
          <a:p>
            <a:pPr marL="519112" lvl="2" indent="0">
              <a:lnSpc>
                <a:spcPct val="100000"/>
              </a:lnSpc>
              <a:spcBef>
                <a:spcPts val="200"/>
              </a:spcBef>
              <a:spcAft>
                <a:spcPts val="600"/>
              </a:spcAft>
              <a:buNone/>
            </a:pPr>
            <a:r>
              <a:rPr lang="en-US" sz="2200" dirty="0">
                <a:solidFill>
                  <a:srgbClr val="FF0000"/>
                </a:solidFill>
              </a:rPr>
              <a:t>The graphs of c(x) and d(x) are the same line, y = (4/5)x, but their tables of values are different.</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36</a:t>
            </a:fld>
          </a:p>
        </p:txBody>
      </p:sp>
      <p:sp>
        <p:nvSpPr>
          <p:cNvPr id="1005" name="Answer 100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295</a:t>
            </a:r>
          </a:p>
        </p:txBody>
      </p:sp>
    </p:spTree>
    <p:extLst>
      <p:ext uri="{BB962C8B-B14F-4D97-AF65-F5344CB8AC3E}">
        <p14:creationId xmlns:p14="http://schemas.microsoft.com/office/powerpoint/2010/main" val="3565551090"/>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F37495-09FD-B6B7-D45B-242C143BE6E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520785A-14E7-5D85-BA3B-D2293521A01C}"/>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(7 of 13)</a:t>
            </a:r>
          </a:p>
        </p:txBody>
      </p:sp>
      <p:sp>
        <p:nvSpPr>
          <p:cNvPr id="9" name="Text Placeholder 2">
            <a:extLst>
              <a:ext uri="{FF2B5EF4-FFF2-40B4-BE49-F238E27FC236}">
                <a16:creationId xmlns:a16="http://schemas.microsoft.com/office/drawing/2014/main" id="{8817AB70-0D9B-5221-E51E-31C2B7DA0AF1}"/>
              </a:ext>
            </a:extLst>
          </p:cNvPr>
          <p:cNvSpPr txBox="1">
            <a:spLocks/>
          </p:cNvSpPr>
          <p:nvPr/>
        </p:nvSpPr>
        <p:spPr>
          <a:xfrm>
            <a:off x="777240" y="1602377"/>
            <a:ext cx="9890760" cy="423318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spcBef>
                <a:spcPts val="0"/>
              </a:spcBef>
              <a:buFont typeface="+mj-lt"/>
              <a:buAutoNum type="alphaLcPeriod" startAt="4"/>
            </a:pPr>
            <a:r>
              <a:rPr lang="en-US" sz="2800" dirty="0">
                <a:solidFill>
                  <a:srgbClr val="000000"/>
                </a:solidFill>
              </a:rPr>
              <a:t>Based on your observations, changing the output values of the parent function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by a factor of </a:t>
            </a:r>
            <a:r>
              <a:rPr lang="en-US" sz="2800" i="1" dirty="0">
                <a:solidFill>
                  <a:srgbClr val="000000"/>
                </a:solidFill>
              </a:rPr>
              <a:t>n</a:t>
            </a:r>
            <a:r>
              <a:rPr lang="en-US" sz="2800" dirty="0">
                <a:solidFill>
                  <a:srgbClr val="000000"/>
                </a:solidFill>
              </a:rPr>
              <a:t> units is equivalent to changing the input values by what factor?</a:t>
            </a:r>
            <a:br>
              <a:rPr lang="en-US" sz="2800" dirty="0">
                <a:solidFill>
                  <a:srgbClr val="000000"/>
                </a:solidFill>
              </a:rPr>
            </a:br>
            <a:endParaRPr lang="en-US" sz="2800" dirty="0">
              <a:solidFill>
                <a:srgbClr val="000000"/>
              </a:solidFill>
            </a:endParaRPr>
          </a:p>
          <a:p>
            <a:pPr marL="514350" lvl="1" indent="0">
              <a:lnSpc>
                <a:spcPct val="100000"/>
              </a:lnSpc>
              <a:spcBef>
                <a:spcPts val="200"/>
              </a:spcBef>
              <a:spcAft>
                <a:spcPts val="600"/>
              </a:spcAft>
              <a:buNone/>
            </a:pPr>
            <a:r>
              <a:rPr lang="en-US" sz="2200" dirty="0">
                <a:solidFill>
                  <a:srgbClr val="FF0000"/>
                </a:solidFill>
              </a:rPr>
              <a:t>A factor of 1/n.</a:t>
            </a:r>
          </a:p>
          <a:p>
            <a:pPr marL="514350" indent="-514350">
              <a:spcBef>
                <a:spcPts val="0"/>
              </a:spcBef>
              <a:buFont typeface="+mj-lt"/>
              <a:buAutoNum type="alphaLcPeriod" startAt="4"/>
            </a:pPr>
            <a:r>
              <a:rPr lang="en-US" sz="2800" dirty="0">
                <a:solidFill>
                  <a:srgbClr val="000000"/>
                </a:solidFill>
              </a:rPr>
              <a:t>Based on your observations, changing the input values of the parent function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by a factor of </a:t>
            </a:r>
            <a:r>
              <a:rPr lang="en-US" sz="2800" i="1" dirty="0">
                <a:solidFill>
                  <a:srgbClr val="000000"/>
                </a:solidFill>
              </a:rPr>
              <a:t>n</a:t>
            </a:r>
            <a:r>
              <a:rPr lang="en-US" sz="2800" dirty="0">
                <a:solidFill>
                  <a:srgbClr val="000000"/>
                </a:solidFill>
              </a:rPr>
              <a:t> units is equivalent to changing the output values by what factor?</a:t>
            </a:r>
          </a:p>
          <a:p>
            <a:pPr marL="514350" lvl="1" indent="0">
              <a:lnSpc>
                <a:spcPct val="100000"/>
              </a:lnSpc>
              <a:spcBef>
                <a:spcPts val="200"/>
              </a:spcBef>
              <a:spcAft>
                <a:spcPts val="600"/>
              </a:spcAft>
              <a:buNone/>
            </a:pPr>
            <a:r>
              <a:rPr lang="en-US" sz="2200" dirty="0">
                <a:solidFill>
                  <a:srgbClr val="FF0000"/>
                </a:solidFill>
              </a:rPr>
              <a:t>A factor of 1/n.</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37</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296</a:t>
            </a:r>
          </a:p>
        </p:txBody>
      </p:sp>
    </p:spTree>
    <p:extLst>
      <p:ext uri="{BB962C8B-B14F-4D97-AF65-F5344CB8AC3E}">
        <p14:creationId xmlns:p14="http://schemas.microsoft.com/office/powerpoint/2010/main" val="135312147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D34616-6F0A-B85F-CA50-7E6DB89DFC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D605A60-E7CE-196B-8E7A-8E1C03AB81A9}"/>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(8 of 13)</a:t>
            </a:r>
          </a:p>
        </p:txBody>
      </p:sp>
      <p:sp>
        <p:nvSpPr>
          <p:cNvPr id="9" name="Text Placeholder 2">
            <a:extLst>
              <a:ext uri="{FF2B5EF4-FFF2-40B4-BE49-F238E27FC236}">
                <a16:creationId xmlns:a16="http://schemas.microsoft.com/office/drawing/2014/main" id="{F857E01C-A721-FF1A-B36B-73F6B65115A7}"/>
              </a:ext>
            </a:extLst>
          </p:cNvPr>
          <p:cNvSpPr txBox="1">
            <a:spLocks/>
          </p:cNvSpPr>
          <p:nvPr/>
        </p:nvSpPr>
        <p:spPr>
          <a:xfrm>
            <a:off x="777240" y="1593669"/>
            <a:ext cx="10839994" cy="275190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Bef>
                <a:spcPts val="0"/>
              </a:spcBef>
              <a:buNone/>
            </a:pPr>
            <a:r>
              <a:rPr lang="en-US" sz="2800" dirty="0">
                <a:solidFill>
                  <a:srgbClr val="000000"/>
                </a:solidFill>
              </a:rPr>
              <a:t>For the parent function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the transformed function </a:t>
            </a:r>
            <a:r>
              <a:rPr lang="en-US" sz="2800" i="1" dirty="0">
                <a:solidFill>
                  <a:srgbClr val="000000"/>
                </a:solidFill>
              </a:rPr>
              <a:t>y</a:t>
            </a:r>
            <a:r>
              <a:rPr lang="en-US" sz="2800" dirty="0">
                <a:solidFill>
                  <a:srgbClr val="000000"/>
                </a:solidFill>
              </a:rPr>
              <a:t> = </a:t>
            </a:r>
            <a:r>
              <a:rPr lang="en-US" sz="2800" i="1" dirty="0" err="1">
                <a:solidFill>
                  <a:srgbClr val="000000"/>
                </a:solidFill>
              </a:rPr>
              <a:t>af</a:t>
            </a:r>
            <a:r>
              <a:rPr lang="en-US" sz="2800" dirty="0">
                <a:solidFill>
                  <a:srgbClr val="000000"/>
                </a:solidFill>
              </a:rPr>
              <a:t>(</a:t>
            </a:r>
            <a:r>
              <a:rPr lang="en-US" sz="2800" i="1" dirty="0">
                <a:solidFill>
                  <a:srgbClr val="000000"/>
                </a:solidFill>
              </a:rPr>
              <a:t>x</a:t>
            </a:r>
            <a:r>
              <a:rPr lang="en-US" sz="2800" dirty="0">
                <a:solidFill>
                  <a:srgbClr val="000000"/>
                </a:solidFill>
              </a:rPr>
              <a:t>) affects the output values, or </a:t>
            </a:r>
            <a:r>
              <a:rPr lang="en-US" sz="2800" i="1" dirty="0">
                <a:solidFill>
                  <a:srgbClr val="000000"/>
                </a:solidFill>
              </a:rPr>
              <a:t>y</a:t>
            </a:r>
            <a:r>
              <a:rPr lang="en-US" sz="2800" dirty="0">
                <a:solidFill>
                  <a:srgbClr val="000000"/>
                </a:solidFill>
              </a:rPr>
              <a:t>-values, of the function. For |</a:t>
            </a:r>
            <a:r>
              <a:rPr lang="en-US" sz="2800" i="1" dirty="0">
                <a:solidFill>
                  <a:srgbClr val="000000"/>
                </a:solidFill>
              </a:rPr>
              <a:t>a</a:t>
            </a:r>
            <a:r>
              <a:rPr lang="en-US" sz="2800" dirty="0">
                <a:solidFill>
                  <a:srgbClr val="000000"/>
                </a:solidFill>
              </a:rPr>
              <a:t>| &gt; 1, the resulting graph vertically stretches by a factor of </a:t>
            </a:r>
            <a:r>
              <a:rPr lang="en-US" sz="2800" i="1" dirty="0">
                <a:solidFill>
                  <a:srgbClr val="000000"/>
                </a:solidFill>
              </a:rPr>
              <a:t>a</a:t>
            </a:r>
            <a:r>
              <a:rPr lang="en-US" sz="2800" dirty="0">
                <a:solidFill>
                  <a:srgbClr val="000000"/>
                </a:solidFill>
              </a:rPr>
              <a:t> units. For 0 &lt; |</a:t>
            </a:r>
            <a:r>
              <a:rPr lang="en-US" sz="2800" i="1" dirty="0">
                <a:solidFill>
                  <a:srgbClr val="000000"/>
                </a:solidFill>
              </a:rPr>
              <a:t>a</a:t>
            </a:r>
            <a:r>
              <a:rPr lang="en-US" sz="2800" dirty="0">
                <a:solidFill>
                  <a:srgbClr val="000000"/>
                </a:solidFill>
              </a:rPr>
              <a:t>| &lt; 1, the resulting graph vertically compresses by a factor of </a:t>
            </a:r>
            <a:r>
              <a:rPr lang="en-US" sz="2800" i="1" dirty="0">
                <a:solidFill>
                  <a:srgbClr val="000000"/>
                </a:solidFill>
              </a:rPr>
              <a:t>a</a:t>
            </a:r>
            <a:r>
              <a:rPr lang="en-US" sz="2800" dirty="0">
                <a:solidFill>
                  <a:srgbClr val="000000"/>
                </a:solidFill>
              </a:rPr>
              <a:t> units. For </a:t>
            </a:r>
            <a:r>
              <a:rPr lang="en-US" sz="2800" i="1" dirty="0">
                <a:solidFill>
                  <a:srgbClr val="000000"/>
                </a:solidFill>
              </a:rPr>
              <a:t>a</a:t>
            </a:r>
            <a:r>
              <a:rPr lang="en-US" sz="2800" dirty="0">
                <a:solidFill>
                  <a:srgbClr val="000000"/>
                </a:solidFill>
              </a:rPr>
              <a:t> &lt; 0, the resulting graph reflects across the </a:t>
            </a:r>
            <a:r>
              <a:rPr lang="en-US" sz="2800" i="1" dirty="0">
                <a:solidFill>
                  <a:srgbClr val="000000"/>
                </a:solidFill>
              </a:rPr>
              <a:t>x</a:t>
            </a:r>
            <a:r>
              <a:rPr lang="en-US" sz="2800" dirty="0">
                <a:solidFill>
                  <a:srgbClr val="000000"/>
                </a:solidFill>
              </a:rPr>
              <a:t>-axis.</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38</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297</a:t>
            </a:r>
          </a:p>
        </p:txBody>
      </p:sp>
    </p:spTree>
    <p:extLst>
      <p:ext uri="{BB962C8B-B14F-4D97-AF65-F5344CB8AC3E}">
        <p14:creationId xmlns:p14="http://schemas.microsoft.com/office/powerpoint/2010/main" val="6726198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7797D0-9082-E90C-EDD4-9306A7233E3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F157719-992D-0BFD-FD67-D0294086A3B1}"/>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(9 of 13)</a:t>
            </a:r>
          </a:p>
        </p:txBody>
      </p:sp>
      <mc:AlternateContent xmlns:mc="http://schemas.openxmlformats.org/markup-compatibility/2006" xmlns:a14="http://schemas.microsoft.com/office/drawing/2010/main">
        <mc:Choice Requires="a14">
          <p:sp>
            <p:nvSpPr>
              <p:cNvPr id="9" name="Text Placeholder 2">
                <a:extLst>
                  <a:ext uri="{FF2B5EF4-FFF2-40B4-BE49-F238E27FC236}">
                    <a16:creationId xmlns:a16="http://schemas.microsoft.com/office/drawing/2014/main" id="{8AA3AFFE-E602-3DF4-059F-F85BC3CD9A91}"/>
                  </a:ext>
                </a:extLst>
              </p:cNvPr>
              <p:cNvSpPr txBox="1">
                <a:spLocks/>
              </p:cNvSpPr>
              <p:nvPr/>
            </p:nvSpPr>
            <p:spPr>
              <a:xfrm>
                <a:off x="777240" y="1611085"/>
                <a:ext cx="10839994" cy="366630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Bef>
                    <a:spcPts val="0"/>
                  </a:spcBef>
                  <a:buNone/>
                </a:pPr>
                <a:r>
                  <a:rPr lang="en-US" sz="2800" dirty="0">
                    <a:solidFill>
                      <a:srgbClr val="000000"/>
                    </a:solidFill>
                  </a:rPr>
                  <a:t>For the parent function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the transformed function </a:t>
                </a:r>
                <a:r>
                  <a:rPr lang="en-US" sz="2800" i="1" dirty="0">
                    <a:solidFill>
                      <a:srgbClr val="000000"/>
                    </a:solidFill>
                  </a:rPr>
                  <a:t>y</a:t>
                </a:r>
                <a:r>
                  <a:rPr lang="en-US" sz="2800" dirty="0">
                    <a:solidFill>
                      <a:srgbClr val="000000"/>
                    </a:solidFill>
                  </a:rPr>
                  <a:t> = </a:t>
                </a:r>
                <a:r>
                  <a:rPr lang="en-US" sz="2800" i="1" dirty="0">
                    <a:solidFill>
                      <a:srgbClr val="000000"/>
                    </a:solidFill>
                  </a:rPr>
                  <a:t>f</a:t>
                </a:r>
                <a:r>
                  <a:rPr lang="en-US" sz="2800" dirty="0">
                    <a:solidFill>
                      <a:srgbClr val="000000"/>
                    </a:solidFill>
                  </a:rPr>
                  <a:t>(</a:t>
                </a:r>
                <a:r>
                  <a:rPr lang="en-US" sz="2800" i="1" dirty="0">
                    <a:solidFill>
                      <a:srgbClr val="000000"/>
                    </a:solidFill>
                  </a:rPr>
                  <a:t>bx</a:t>
                </a:r>
                <a:r>
                  <a:rPr lang="en-US" sz="2800" dirty="0">
                    <a:solidFill>
                      <a:srgbClr val="000000"/>
                    </a:solidFill>
                  </a:rPr>
                  <a:t>) affects the input values, or </a:t>
                </a:r>
                <a:r>
                  <a:rPr lang="en-US" sz="2800" i="1" dirty="0">
                    <a:solidFill>
                      <a:srgbClr val="000000"/>
                    </a:solidFill>
                  </a:rPr>
                  <a:t>x</a:t>
                </a:r>
                <a:r>
                  <a:rPr lang="en-US" sz="2800" dirty="0">
                    <a:solidFill>
                      <a:srgbClr val="000000"/>
                    </a:solidFill>
                  </a:rPr>
                  <a:t>-values, of the function. For |</a:t>
                </a:r>
                <a:r>
                  <a:rPr lang="en-US" sz="2800" i="1" dirty="0">
                    <a:solidFill>
                      <a:srgbClr val="000000"/>
                    </a:solidFill>
                  </a:rPr>
                  <a:t>b</a:t>
                </a:r>
                <a:r>
                  <a:rPr lang="en-US" sz="2800" dirty="0">
                    <a:solidFill>
                      <a:srgbClr val="000000"/>
                    </a:solidFill>
                  </a:rPr>
                  <a:t>| &gt; 1, the resulting graph horizontally compresses by a factor of </a:t>
                </a:r>
                <a14:m>
                  <m:oMath xmlns:m="http://schemas.openxmlformats.org/officeDocument/2006/math">
                    <m:f>
                      <m:fPr>
                        <m:ctrlPr>
                          <a:rPr lang="en-US" sz="2800" i="1" smtClean="0">
                            <a:solidFill>
                              <a:srgbClr val="000000"/>
                            </a:solidFill>
                            <a:latin typeface="Cambria Math" panose="02040503050406030204" pitchFamily="18" charset="0"/>
                          </a:rPr>
                        </m:ctrlPr>
                      </m:fPr>
                      <m:num>
                        <m:r>
                          <a:rPr lang="en-US" sz="2800" b="0" i="1" smtClean="0">
                            <a:solidFill>
                              <a:srgbClr val="000000"/>
                            </a:solidFill>
                            <a:latin typeface="Cambria Math" panose="02040503050406030204" pitchFamily="18" charset="0"/>
                          </a:rPr>
                          <m:t>1</m:t>
                        </m:r>
                      </m:num>
                      <m:den>
                        <m:d>
                          <m:dPr>
                            <m:begChr m:val="|"/>
                            <m:endChr m:val="|"/>
                            <m:ctrlPr>
                              <a:rPr lang="en-US" sz="2800" i="1" smtClean="0">
                                <a:solidFill>
                                  <a:srgbClr val="000000"/>
                                </a:solidFill>
                                <a:latin typeface="Cambria Math" panose="02040503050406030204" pitchFamily="18" charset="0"/>
                              </a:rPr>
                            </m:ctrlPr>
                          </m:dPr>
                          <m:e>
                            <m:r>
                              <a:rPr lang="en-US" sz="2800" b="0" i="1" smtClean="0">
                                <a:solidFill>
                                  <a:srgbClr val="000000"/>
                                </a:solidFill>
                                <a:latin typeface="Cambria Math" panose="02040503050406030204" pitchFamily="18" charset="0"/>
                              </a:rPr>
                              <m:t>𝑏</m:t>
                            </m:r>
                          </m:e>
                        </m:d>
                      </m:den>
                    </m:f>
                  </m:oMath>
                </a14:m>
                <a:r>
                  <a:rPr lang="en-US" sz="2800" dirty="0">
                    <a:solidFill>
                      <a:srgbClr val="000000"/>
                    </a:solidFill>
                  </a:rPr>
                  <a:t> units. For 0 &lt; |</a:t>
                </a:r>
                <a:r>
                  <a:rPr lang="en-US" sz="2800" i="1" dirty="0">
                    <a:solidFill>
                      <a:srgbClr val="000000"/>
                    </a:solidFill>
                  </a:rPr>
                  <a:t>b</a:t>
                </a:r>
                <a:r>
                  <a:rPr lang="en-US" sz="2800" dirty="0">
                    <a:solidFill>
                      <a:srgbClr val="000000"/>
                    </a:solidFill>
                  </a:rPr>
                  <a:t>| &lt; 1, the resulting graph horizontally stretches by a factor of </a:t>
                </a:r>
                <a14:m>
                  <m:oMath xmlns:m="http://schemas.openxmlformats.org/officeDocument/2006/math">
                    <m:f>
                      <m:fPr>
                        <m:ctrlPr>
                          <a:rPr lang="en-US" sz="2800" i="1">
                            <a:solidFill>
                              <a:srgbClr val="000000"/>
                            </a:solidFill>
                            <a:latin typeface="Cambria Math" panose="02040503050406030204" pitchFamily="18" charset="0"/>
                          </a:rPr>
                        </m:ctrlPr>
                      </m:fPr>
                      <m:num>
                        <m:r>
                          <a:rPr lang="en-US" sz="2800" i="1">
                            <a:solidFill>
                              <a:srgbClr val="000000"/>
                            </a:solidFill>
                            <a:latin typeface="Cambria Math" panose="02040503050406030204" pitchFamily="18" charset="0"/>
                          </a:rPr>
                          <m:t>1</m:t>
                        </m:r>
                      </m:num>
                      <m:den>
                        <m:d>
                          <m:dPr>
                            <m:begChr m:val="|"/>
                            <m:endChr m:val="|"/>
                            <m:ctrlPr>
                              <a:rPr lang="en-US" sz="2800" i="1">
                                <a:solidFill>
                                  <a:srgbClr val="000000"/>
                                </a:solidFill>
                                <a:latin typeface="Cambria Math" panose="02040503050406030204" pitchFamily="18" charset="0"/>
                              </a:rPr>
                            </m:ctrlPr>
                          </m:dPr>
                          <m:e>
                            <m:r>
                              <a:rPr lang="en-US" sz="2800" i="1">
                                <a:solidFill>
                                  <a:srgbClr val="000000"/>
                                </a:solidFill>
                                <a:latin typeface="Cambria Math" panose="02040503050406030204" pitchFamily="18" charset="0"/>
                              </a:rPr>
                              <m:t>𝑏</m:t>
                            </m:r>
                          </m:e>
                        </m:d>
                      </m:den>
                    </m:f>
                  </m:oMath>
                </a14:m>
                <a:r>
                  <a:rPr lang="en-US" sz="2800" dirty="0">
                    <a:solidFill>
                      <a:srgbClr val="000000"/>
                    </a:solidFill>
                  </a:rPr>
                  <a:t> units. For </a:t>
                </a:r>
                <a:r>
                  <a:rPr lang="en-US" sz="2800" i="1" dirty="0">
                    <a:solidFill>
                      <a:srgbClr val="000000"/>
                    </a:solidFill>
                  </a:rPr>
                  <a:t>b</a:t>
                </a:r>
                <a:r>
                  <a:rPr lang="en-US" sz="2800" dirty="0">
                    <a:solidFill>
                      <a:srgbClr val="000000"/>
                    </a:solidFill>
                  </a:rPr>
                  <a:t> &lt; 0, the resulting graph reflects across the </a:t>
                </a:r>
                <a:r>
                  <a:rPr lang="en-US" sz="2800" i="1" dirty="0">
                    <a:solidFill>
                      <a:srgbClr val="000000"/>
                    </a:solidFill>
                  </a:rPr>
                  <a:t>y</a:t>
                </a:r>
                <a:r>
                  <a:rPr lang="en-US" sz="2800" dirty="0">
                    <a:solidFill>
                      <a:srgbClr val="000000"/>
                    </a:solidFill>
                  </a:rPr>
                  <a:t>-axis.</a:t>
                </a:r>
              </a:p>
            </p:txBody>
          </p:sp>
        </mc:Choice>
        <mc:Fallback xmlns="">
          <p:sp>
            <p:nvSpPr>
              <p:cNvPr id="9" name="Text Placeholder 2">
                <a:extLst>
                  <a:ext uri="{FF2B5EF4-FFF2-40B4-BE49-F238E27FC236}">
                    <a16:creationId xmlns:a16="http://schemas.microsoft.com/office/drawing/2014/main" id="{8AA3AFFE-E602-3DF4-059F-F85BC3CD9A91}"/>
                  </a:ext>
                </a:extLst>
              </p:cNvPr>
              <p:cNvSpPr txBox="1">
                <a:spLocks noRot="1" noChangeAspect="1" noMove="1" noResize="1" noEditPoints="1" noAdjustHandles="1" noChangeArrowheads="1" noChangeShapeType="1" noTextEdit="1"/>
              </p:cNvSpPr>
              <p:nvPr/>
            </p:nvSpPr>
            <p:spPr>
              <a:xfrm>
                <a:off x="777240" y="1611085"/>
                <a:ext cx="10839994" cy="3666309"/>
              </a:xfrm>
              <a:prstGeom prst="rect">
                <a:avLst/>
              </a:prstGeom>
              <a:blipFill>
                <a:blip r:embed="rId3"/>
                <a:stretch>
                  <a:fillRect l="-1181" t="-1495" r="-1350"/>
                </a:stretch>
              </a:blipFill>
            </p:spPr>
            <p:txBody>
              <a:bodyPr/>
              <a:lstStyle/>
              <a:p>
                <a:r>
                  <a:rPr lang="en-US">
                    <a:noFill/>
                  </a:rPr>
                  <a:t> </a:t>
                </a:r>
              </a:p>
            </p:txBody>
          </p:sp>
        </mc:Fallback>
      </mc:AlternateContent>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39</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297</a:t>
            </a:r>
          </a:p>
        </p:txBody>
      </p:sp>
    </p:spTree>
    <p:extLst>
      <p:ext uri="{BB962C8B-B14F-4D97-AF65-F5344CB8AC3E}">
        <p14:creationId xmlns:p14="http://schemas.microsoft.com/office/powerpoint/2010/main" val="94067585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39EC0-9581-A8B6-D257-28A3B8EA038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FAC1008-F435-52EA-D580-C3247835AFEA}"/>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(10 of 13)</a:t>
            </a:r>
          </a:p>
        </p:txBody>
      </p:sp>
      <mc:AlternateContent xmlns:mc="http://schemas.openxmlformats.org/markup-compatibility/2006" xmlns:a14="http://schemas.microsoft.com/office/drawing/2010/main">
        <mc:Choice Requires="a14">
          <p:sp>
            <p:nvSpPr>
              <p:cNvPr id="9" name="Text Placeholder 2">
                <a:extLst>
                  <a:ext uri="{FF2B5EF4-FFF2-40B4-BE49-F238E27FC236}">
                    <a16:creationId xmlns:a16="http://schemas.microsoft.com/office/drawing/2014/main" id="{8B8E0C41-EB8E-D172-56E5-51A4A3029F3C}"/>
                  </a:ext>
                </a:extLst>
              </p:cNvPr>
              <p:cNvSpPr txBox="1">
                <a:spLocks/>
              </p:cNvSpPr>
              <p:nvPr/>
            </p:nvSpPr>
            <p:spPr>
              <a:xfrm>
                <a:off x="777240" y="1424123"/>
                <a:ext cx="10291354" cy="4848225"/>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Bef>
                    <a:spcPts val="0"/>
                  </a:spcBef>
                  <a:buNone/>
                </a:pPr>
                <a:r>
                  <a:rPr lang="en-US" sz="2800" dirty="0">
                    <a:solidFill>
                      <a:srgbClr val="000000"/>
                    </a:solidFill>
                  </a:rPr>
                  <a:t>You have determined that for the parent function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a vertical dilation by a factor of </a:t>
                </a:r>
                <a:r>
                  <a:rPr lang="en-US" sz="2800" i="1" dirty="0">
                    <a:solidFill>
                      <a:srgbClr val="000000"/>
                    </a:solidFill>
                  </a:rPr>
                  <a:t>n</a:t>
                </a:r>
                <a:r>
                  <a:rPr lang="en-US" sz="2800" dirty="0">
                    <a:solidFill>
                      <a:srgbClr val="000000"/>
                    </a:solidFill>
                  </a:rPr>
                  <a:t> units produces the same graph as a horizontal dilation by a factor of </a:t>
                </a:r>
                <a14:m>
                  <m:oMath xmlns:m="http://schemas.openxmlformats.org/officeDocument/2006/math">
                    <m:f>
                      <m:fPr>
                        <m:ctrlPr>
                          <a:rPr lang="en-US" sz="2800" i="1">
                            <a:solidFill>
                              <a:srgbClr val="000000"/>
                            </a:solidFill>
                            <a:latin typeface="Cambria Math" panose="02040503050406030204" pitchFamily="18" charset="0"/>
                          </a:rPr>
                        </m:ctrlPr>
                      </m:fPr>
                      <m:num>
                        <m:r>
                          <a:rPr lang="en-US" sz="2800" i="1">
                            <a:solidFill>
                              <a:srgbClr val="000000"/>
                            </a:solidFill>
                            <a:latin typeface="Cambria Math" panose="02040503050406030204" pitchFamily="18" charset="0"/>
                          </a:rPr>
                          <m:t>1</m:t>
                        </m:r>
                      </m:num>
                      <m:den>
                        <m:r>
                          <a:rPr lang="en-US" sz="2800" b="0" i="1" smtClean="0">
                            <a:solidFill>
                              <a:srgbClr val="000000"/>
                            </a:solidFill>
                            <a:latin typeface="Cambria Math" panose="02040503050406030204" pitchFamily="18" charset="0"/>
                          </a:rPr>
                          <m:t>𝑛</m:t>
                        </m:r>
                      </m:den>
                    </m:f>
                  </m:oMath>
                </a14:m>
                <a:r>
                  <a:rPr lang="en-US" sz="2800" dirty="0">
                    <a:solidFill>
                      <a:srgbClr val="000000"/>
                    </a:solidFill>
                  </a:rPr>
                  <a:t> units. In addition, a horizontal dilation by a factor of </a:t>
                </a:r>
                <a:r>
                  <a:rPr lang="en-US" sz="2800" i="1" dirty="0">
                    <a:solidFill>
                      <a:srgbClr val="000000"/>
                    </a:solidFill>
                  </a:rPr>
                  <a:t>n</a:t>
                </a:r>
                <a:r>
                  <a:rPr lang="en-US" sz="2800" dirty="0">
                    <a:solidFill>
                      <a:srgbClr val="000000"/>
                    </a:solidFill>
                  </a:rPr>
                  <a:t> units produces the same graph as a vertical dilation by a factor of </a:t>
                </a:r>
                <a14:m>
                  <m:oMath xmlns:m="http://schemas.openxmlformats.org/officeDocument/2006/math">
                    <m:f>
                      <m:fPr>
                        <m:ctrlPr>
                          <a:rPr lang="en-US" sz="2800" i="1">
                            <a:solidFill>
                              <a:srgbClr val="000000"/>
                            </a:solidFill>
                            <a:latin typeface="Cambria Math" panose="02040503050406030204" pitchFamily="18" charset="0"/>
                          </a:rPr>
                        </m:ctrlPr>
                      </m:fPr>
                      <m:num>
                        <m:r>
                          <a:rPr lang="en-US" sz="2800" i="1">
                            <a:solidFill>
                              <a:srgbClr val="000000"/>
                            </a:solidFill>
                            <a:latin typeface="Cambria Math" panose="02040503050406030204" pitchFamily="18" charset="0"/>
                          </a:rPr>
                          <m:t>1</m:t>
                        </m:r>
                      </m:num>
                      <m:den>
                        <m:r>
                          <a:rPr lang="en-US" sz="2800" b="0" i="1" smtClean="0">
                            <a:solidFill>
                              <a:srgbClr val="000000"/>
                            </a:solidFill>
                            <a:latin typeface="Cambria Math" panose="02040503050406030204" pitchFamily="18" charset="0"/>
                          </a:rPr>
                          <m:t>𝑛</m:t>
                        </m:r>
                      </m:den>
                    </m:f>
                  </m:oMath>
                </a14:m>
                <a:r>
                  <a:rPr lang="en-US" sz="2800" dirty="0">
                    <a:solidFill>
                      <a:srgbClr val="000000"/>
                    </a:solidFill>
                  </a:rPr>
                  <a:t> ​units.</a:t>
                </a:r>
              </a:p>
            </p:txBody>
          </p:sp>
        </mc:Choice>
        <mc:Fallback xmlns="">
          <p:sp>
            <p:nvSpPr>
              <p:cNvPr id="9" name="Text Placeholder 2">
                <a:extLst>
                  <a:ext uri="{FF2B5EF4-FFF2-40B4-BE49-F238E27FC236}">
                    <a16:creationId xmlns:a16="http://schemas.microsoft.com/office/drawing/2014/main" id="{8B8E0C41-EB8E-D172-56E5-51A4A3029F3C}"/>
                  </a:ext>
                </a:extLst>
              </p:cNvPr>
              <p:cNvSpPr txBox="1">
                <a:spLocks noRot="1" noChangeAspect="1" noMove="1" noResize="1" noEditPoints="1" noAdjustHandles="1" noChangeArrowheads="1" noChangeShapeType="1" noTextEdit="1"/>
              </p:cNvSpPr>
              <p:nvPr/>
            </p:nvSpPr>
            <p:spPr>
              <a:xfrm>
                <a:off x="777240" y="1424123"/>
                <a:ext cx="10291354" cy="4848225"/>
              </a:xfrm>
              <a:prstGeom prst="rect">
                <a:avLst/>
              </a:prstGeom>
              <a:blipFill>
                <a:blip r:embed="rId3"/>
                <a:stretch>
                  <a:fillRect l="-1244" t="-1258" r="-1363"/>
                </a:stretch>
              </a:blipFill>
            </p:spPr>
            <p:txBody>
              <a:bodyPr/>
              <a:lstStyle/>
              <a:p>
                <a:r>
                  <a:rPr lang="en-US">
                    <a:noFill/>
                  </a:rPr>
                  <a:t> </a:t>
                </a:r>
              </a:p>
            </p:txBody>
          </p:sp>
        </mc:Fallback>
      </mc:AlternateContent>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40</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297</a:t>
            </a:r>
          </a:p>
        </p:txBody>
      </p:sp>
    </p:spTree>
    <p:extLst>
      <p:ext uri="{BB962C8B-B14F-4D97-AF65-F5344CB8AC3E}">
        <p14:creationId xmlns:p14="http://schemas.microsoft.com/office/powerpoint/2010/main" val="70030666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FC48C-9191-7ED6-3540-7C658FDEA73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DDA2445-ED6C-8F04-21ED-677350A8EC2B}"/>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(11 of 13)</a:t>
            </a:r>
          </a:p>
        </p:txBody>
      </p:sp>
      <p:sp>
        <p:nvSpPr>
          <p:cNvPr id="9" name="Text Placeholder 2">
            <a:extLst>
              <a:ext uri="{FF2B5EF4-FFF2-40B4-BE49-F238E27FC236}">
                <a16:creationId xmlns:a16="http://schemas.microsoft.com/office/drawing/2014/main" id="{7C331DA5-C2E4-827D-D2B9-E506E10E289C}"/>
              </a:ext>
            </a:extLst>
          </p:cNvPr>
          <p:cNvSpPr txBox="1">
            <a:spLocks/>
          </p:cNvSpPr>
          <p:nvPr/>
        </p:nvSpPr>
        <p:spPr>
          <a:xfrm>
            <a:off x="777240" y="1602377"/>
            <a:ext cx="9899469" cy="1445623"/>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457200" indent="-457200">
              <a:spcBef>
                <a:spcPts val="0"/>
              </a:spcBef>
              <a:buFont typeface="+mj-lt"/>
              <a:buAutoNum type="arabicPeriod" startAt="3"/>
            </a:pPr>
            <a:r>
              <a:rPr lang="en-US" sz="2800" dirty="0">
                <a:solidFill>
                  <a:srgbClr val="000000"/>
                </a:solidFill>
              </a:rPr>
              <a:t>Does this relationship between horizontal and vertical dilations hold true for any linear function? Explain your reasoning. Provide a counterexample if necessary.</a:t>
            </a:r>
          </a:p>
        </p:txBody>
      </p:sp>
      <p:pic>
        <p:nvPicPr>
          <p:cNvPr id="3" name="Picture 2" descr="A coordinate plane.">
            <a:extLst>
              <a:ext uri="{FF2B5EF4-FFF2-40B4-BE49-F238E27FC236}">
                <a16:creationId xmlns:a16="http://schemas.microsoft.com/office/drawing/2014/main" id="{4061AA95-CDD2-41D1-4C4A-EDF4BFD2DD6E}"/>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109957" y="3048000"/>
            <a:ext cx="3556183" cy="3532369"/>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41</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297</a:t>
            </a:r>
          </a:p>
        </p:txBody>
      </p:sp>
      <p:sp>
        <p:nvSpPr>
          <p:cNvPr id="1011" name="Answer 1011"/>
          <p:cNvSpPr txBox="1"/>
          <p:nvPr/>
        </p:nvSpPr>
        <p:spPr>
          <a:xfrm>
            <a:off x="4953000" y="3238500"/>
            <a:ext cx="7048500" cy="3683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No. It is true only for the parent function f(x) = x.</a:t>
            </a:r>
          </a:p>
          <a:p>
            <a:pPr marL="0" indent="0" algn="l">
              <a:spcBef>
                <a:spcPts val="0"/>
              </a:spcBef>
              <a:spcAft>
                <a:spcPts val="300"/>
              </a:spcAft>
              <a:buNone/>
            </a:pPr>
            <a:r>
              <a:rPr lang="en-US" sz="2000" dirty="0">
                <a:solidFill>
                  <a:srgbClr val="FF0000"/>
                </a:solidFill>
              </a:rPr>
              <a:t>Counterexample: m(x) = 2x − 1.</a:t>
            </a:r>
          </a:p>
          <a:p>
            <a:pPr marL="0" indent="0" algn="l">
              <a:spcBef>
                <a:spcPts val="0"/>
              </a:spcBef>
              <a:spcAft>
                <a:spcPts val="300"/>
              </a:spcAft>
              <a:buNone/>
            </a:pPr>
            <a:r>
              <a:rPr lang="en-US" sz="2000" dirty="0">
                <a:solidFill>
                  <a:srgbClr val="FF0000"/>
                </a:solidFill>
              </a:rPr>
              <a:t>n(x) = 3·m(x) = 3(2x − 1) = 6x − 3</a:t>
            </a:r>
          </a:p>
          <a:p>
            <a:pPr marL="0" indent="0" algn="l">
              <a:spcBef>
                <a:spcPts val="0"/>
              </a:spcBef>
              <a:spcAft>
                <a:spcPts val="300"/>
              </a:spcAft>
              <a:buNone/>
            </a:pPr>
            <a:r>
              <a:rPr lang="en-US" sz="2000" dirty="0">
                <a:solidFill>
                  <a:srgbClr val="FF0000"/>
                </a:solidFill>
              </a:rPr>
              <a:t>p(x) = m(3x) = 2(3x) − 1 = 6x − 1</a:t>
            </a:r>
          </a:p>
          <a:p>
            <a:pPr marL="0" indent="0" algn="l">
              <a:spcBef>
                <a:spcPts val="0"/>
              </a:spcBef>
              <a:spcAft>
                <a:spcPts val="300"/>
              </a:spcAft>
              <a:buNone/>
            </a:pPr>
            <a:r>
              <a:rPr lang="en-US" sz="2000" dirty="0">
                <a:solidFill>
                  <a:srgbClr val="FF0000"/>
                </a:solidFill>
              </a:rPr>
              <a:t>The graphs of n(x) and p(x) are parallel, not the same.</a:t>
            </a:r>
          </a:p>
          <a:p>
            <a:pPr marL="0" indent="0" algn="l">
              <a:spcBef>
                <a:spcPts val="0"/>
              </a:spcBef>
              <a:spcAft>
                <a:spcPts val="300"/>
              </a:spcAft>
              <a:buNone/>
            </a:pPr>
            <a:r>
              <a:rPr lang="en-US" sz="2000" dirty="0">
                <a:solidFill>
                  <a:srgbClr val="FF0000"/>
                </a:solidFill>
              </a:rPr>
              <a:t>Graph: m(x) through (0, −1), slope 2; n(x) through (0, −3) and p(x) through (0, −1), slope 6.</a:t>
            </a:r>
          </a:p>
        </p:txBody>
      </p:sp>
    </p:spTree>
    <p:extLst>
      <p:ext uri="{BB962C8B-B14F-4D97-AF65-F5344CB8AC3E}">
        <p14:creationId xmlns:p14="http://schemas.microsoft.com/office/powerpoint/2010/main" val="1460571273"/>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3122D0-0CED-9ED5-5F4E-6007E33F1A3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BDDC5E7-E36A-864A-3449-49FB98A15BE6}"/>
              </a:ext>
            </a:extLst>
          </p:cNvPr>
          <p:cNvSpPr>
            <a:spLocks noGrp="1"/>
          </p:cNvSpPr>
          <p:nvPr>
            <p:ph type="title"/>
          </p:nvPr>
        </p:nvSpPr>
        <p:spPr>
          <a:xfrm>
            <a:off x="777239" y="1"/>
            <a:ext cx="11363697" cy="1263192"/>
          </a:xfrm>
        </p:spPr>
        <p:txBody>
          <a:bodyPr/>
          <a:lstStyle/>
          <a:p>
            <a:pPr algn="l"/>
            <a:r>
              <a:rPr lang="en-US" b="1" dirty="0"/>
              <a:t>Comparing Vertical and Horizontal Dilations </a:t>
            </a:r>
            <a:r>
              <a:rPr lang="en-US" sz="2000" b="1" dirty="0">
                <a:solidFill>
                  <a:schemeClr val="bg1"/>
                </a:solidFill>
              </a:rPr>
              <a:t>(12 of 13)</a:t>
            </a:r>
          </a:p>
        </p:txBody>
      </p:sp>
      <p:sp>
        <p:nvSpPr>
          <p:cNvPr id="9" name="Text Placeholder 2">
            <a:extLst>
              <a:ext uri="{FF2B5EF4-FFF2-40B4-BE49-F238E27FC236}">
                <a16:creationId xmlns:a16="http://schemas.microsoft.com/office/drawing/2014/main" id="{9F9E8E2B-B0E8-EF16-E503-9ECCF4F164D5}"/>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summarize our learning from Activity 2.2!</a:t>
            </a:r>
          </a:p>
        </p:txBody>
      </p:sp>
      <p:pic>
        <p:nvPicPr>
          <p:cNvPr id="2" name="Picture 1">
            <a:extLst>
              <a:ext uri="{FF2B5EF4-FFF2-40B4-BE49-F238E27FC236}">
                <a16:creationId xmlns:a16="http://schemas.microsoft.com/office/drawing/2014/main" id="{412BAF3C-C3E1-4231-B8AF-8D51322A576E}"/>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491620"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42</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297</a:t>
            </a:r>
          </a:p>
        </p:txBody>
      </p:sp>
    </p:spTree>
    <p:extLst>
      <p:ext uri="{BB962C8B-B14F-4D97-AF65-F5344CB8AC3E}">
        <p14:creationId xmlns:p14="http://schemas.microsoft.com/office/powerpoint/2010/main" val="139357816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3122D0-0CED-9ED5-5F4E-6007E33F1A3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BDDC5E7-E36A-864A-3449-49FB98A15BE6}"/>
              </a:ext>
            </a:extLst>
          </p:cNvPr>
          <p:cNvSpPr>
            <a:spLocks noGrp="1"/>
          </p:cNvSpPr>
          <p:nvPr>
            <p:ph type="title"/>
          </p:nvPr>
        </p:nvSpPr>
        <p:spPr>
          <a:xfrm>
            <a:off x="777240" y="1"/>
            <a:ext cx="11425482" cy="1263192"/>
          </a:xfrm>
        </p:spPr>
        <p:txBody>
          <a:bodyPr/>
          <a:lstStyle/>
          <a:p>
            <a:pPr algn="l"/>
            <a:r>
              <a:rPr lang="en-US" b="1" dirty="0"/>
              <a:t>Comparing Vertical and Horizontal Dilations </a:t>
            </a:r>
            <a:r>
              <a:rPr lang="en-US" sz="2000" b="1" dirty="0">
                <a:solidFill>
                  <a:schemeClr val="bg1"/>
                </a:solidFill>
              </a:rPr>
              <a:t>(13 of 13)</a:t>
            </a:r>
          </a:p>
        </p:txBody>
      </p:sp>
      <p:sp>
        <p:nvSpPr>
          <p:cNvPr id="9" name="Text Placeholder 2">
            <a:extLst>
              <a:ext uri="{FF2B5EF4-FFF2-40B4-BE49-F238E27FC236}">
                <a16:creationId xmlns:a16="http://schemas.microsoft.com/office/drawing/2014/main" id="{9F9E8E2B-B0E8-EF16-E503-9ECCF4F164D5}"/>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43</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297</a:t>
            </a:r>
          </a:p>
        </p:txBody>
      </p:sp>
    </p:spTree>
    <p:extLst>
      <p:ext uri="{BB962C8B-B14F-4D97-AF65-F5344CB8AC3E}">
        <p14:creationId xmlns:p14="http://schemas.microsoft.com/office/powerpoint/2010/main" val="255514806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645512-BD22-27E2-EDF3-A4AE5F94BF5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03FD7F9-6EEB-A814-3B39-7DEEC9AD9112}"/>
              </a:ext>
            </a:extLst>
          </p:cNvPr>
          <p:cNvSpPr>
            <a:spLocks noGrp="1"/>
          </p:cNvSpPr>
          <p:nvPr>
            <p:ph type="title" idx="4294967295"/>
          </p:nvPr>
        </p:nvSpPr>
        <p:spPr>
          <a:xfrm>
            <a:off x="838200" y="-322217"/>
            <a:ext cx="10514013" cy="322217"/>
          </a:xfrm>
          <a:prstGeom prst="rect">
            <a:avLst/>
          </a:prstGeom>
        </p:spPr>
        <p:txBody>
          <a:bodyPr anchor="b"/>
          <a:lstStyle/>
          <a:p>
            <a:r>
              <a:rPr lang="en-US" sz="2000" dirty="0">
                <a:solidFill>
                  <a:schemeClr val="bg2"/>
                </a:solidFill>
              </a:rPr>
              <a:t>Activity 2.3</a:t>
            </a:r>
          </a:p>
        </p:txBody>
      </p:sp>
      <p:sp>
        <p:nvSpPr>
          <p:cNvPr id="3" name="Text Placeholder 2" descr="15 to 20 minutes">
            <a:extLst>
              <a:ext uri="{FF2B5EF4-FFF2-40B4-BE49-F238E27FC236}">
                <a16:creationId xmlns:a16="http://schemas.microsoft.com/office/drawing/2014/main" id="{A9610F69-DAB0-DBE1-A24D-59FCDE38979C}"/>
              </a:ext>
            </a:extLst>
          </p:cNvPr>
          <p:cNvSpPr>
            <a:spLocks noGrp="1"/>
          </p:cNvSpPr>
          <p:nvPr>
            <p:ph type="body" sz="quarter" idx="12"/>
          </p:nvPr>
        </p:nvSpPr>
        <p:spPr>
          <a:xfrm>
            <a:off x="10614990" y="5779693"/>
            <a:ext cx="863947" cy="795338"/>
          </a:xfrm>
        </p:spPr>
        <p:txBody>
          <a:bodyPr/>
          <a:lstStyle/>
          <a:p>
            <a:r>
              <a:rPr lang="en-US" b="1" dirty="0"/>
              <a:t>15–20</a:t>
            </a:r>
          </a:p>
        </p:txBody>
      </p:sp>
      <p:sp>
        <p:nvSpPr>
          <p:cNvPr id="2" name="Text Placeholder 1">
            <a:extLst>
              <a:ext uri="{FF2B5EF4-FFF2-40B4-BE49-F238E27FC236}">
                <a16:creationId xmlns:a16="http://schemas.microsoft.com/office/drawing/2014/main" id="{E404CBF2-51F3-2C0E-4A95-BD807CCB1889}"/>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dirty="0"/>
              <a:t>2.3</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44</a:t>
            </a:fld>
          </a:p>
        </p:txBody>
      </p:sp>
      <p:sp>
        <p:nvSpPr>
          <p:cNvPr id="1006" name="Answer 1006"/>
          <p:cNvSpPr txBox="1"/>
          <p:nvPr/>
        </p:nvSpPr>
        <p:spPr>
          <a:xfrm>
            <a:off x="1016000" y="952500"/>
            <a:ext cx="10160000" cy="762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4400" b="1" dirty="0">
                <a:solidFill>
                  <a:srgbClr val="2E7D3C"/>
                </a:solidFill>
              </a:rPr>
              <a:t>★ Essential activity: do not skip</a:t>
            </a:r>
          </a:p>
        </p:txBody>
      </p:sp>
    </p:spTree>
    <p:extLst>
      <p:ext uri="{BB962C8B-B14F-4D97-AF65-F5344CB8AC3E}">
        <p14:creationId xmlns:p14="http://schemas.microsoft.com/office/powerpoint/2010/main" val="226816613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1673D8-BF22-1DCC-91ED-648208A6CE6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2CAF8B9-6F10-8642-4707-E23F80EF784D}"/>
              </a:ext>
            </a:extLst>
          </p:cNvPr>
          <p:cNvSpPr>
            <a:spLocks noGrp="1"/>
          </p:cNvSpPr>
          <p:nvPr>
            <p:ph type="title"/>
          </p:nvPr>
        </p:nvSpPr>
        <p:spPr/>
        <p:txBody>
          <a:bodyPr/>
          <a:lstStyle/>
          <a:p>
            <a:pPr algn="l"/>
            <a:r>
              <a:rPr lang="en-US" b="1" dirty="0"/>
              <a:t>Graphing Linear Transformations </a:t>
            </a:r>
            <a:r>
              <a:rPr lang="en-US" sz="2000" b="1" dirty="0">
                <a:solidFill>
                  <a:schemeClr val="bg1"/>
                </a:solidFill>
              </a:rPr>
              <a:t>(1 of 8)</a:t>
            </a:r>
          </a:p>
        </p:txBody>
      </p:sp>
      <p:sp>
        <p:nvSpPr>
          <p:cNvPr id="9" name="Text Placeholder 2">
            <a:extLst>
              <a:ext uri="{FF2B5EF4-FFF2-40B4-BE49-F238E27FC236}">
                <a16:creationId xmlns:a16="http://schemas.microsoft.com/office/drawing/2014/main" id="{D8AF4A33-E4AC-B21F-DB41-7776FCA37AB5}"/>
              </a:ext>
            </a:extLst>
          </p:cNvPr>
          <p:cNvSpPr txBox="1">
            <a:spLocks/>
          </p:cNvSpPr>
          <p:nvPr/>
        </p:nvSpPr>
        <p:spPr>
          <a:xfrm>
            <a:off x="777239" y="1604684"/>
            <a:ext cx="10491651" cy="1501122"/>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Bef>
                <a:spcPts val="0"/>
              </a:spcBef>
              <a:buNone/>
            </a:pPr>
            <a:r>
              <a:rPr lang="en-US" sz="2800" dirty="0">
                <a:solidFill>
                  <a:srgbClr val="000000"/>
                </a:solidFill>
              </a:rPr>
              <a:t>The equation of the parent linear function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is given. The equation for the transformed function </a:t>
            </a:r>
            <a:r>
              <a:rPr lang="en-US" sz="2800" i="1" dirty="0">
                <a:solidFill>
                  <a:srgbClr val="000000"/>
                </a:solidFill>
              </a:rPr>
              <a:t>g</a:t>
            </a:r>
            <a:r>
              <a:rPr lang="en-US" sz="2800" dirty="0">
                <a:solidFill>
                  <a:srgbClr val="000000"/>
                </a:solidFill>
              </a:rPr>
              <a:t>(</a:t>
            </a:r>
            <a:r>
              <a:rPr lang="en-US" sz="2800" i="1" dirty="0">
                <a:solidFill>
                  <a:srgbClr val="000000"/>
                </a:solidFill>
              </a:rPr>
              <a:t>x</a:t>
            </a:r>
            <a:r>
              <a:rPr lang="en-US" sz="2800" dirty="0">
                <a:solidFill>
                  <a:srgbClr val="000000"/>
                </a:solidFill>
              </a:rPr>
              <a:t>) is also given. Describe the transformation(s) performed on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to produce </a:t>
            </a:r>
            <a:r>
              <a:rPr lang="en-US" sz="2800" i="1" dirty="0">
                <a:solidFill>
                  <a:srgbClr val="000000"/>
                </a:solidFill>
              </a:rPr>
              <a:t>g</a:t>
            </a:r>
            <a:r>
              <a:rPr lang="en-US" sz="2800" dirty="0">
                <a:solidFill>
                  <a:srgbClr val="000000"/>
                </a:solidFill>
              </a:rPr>
              <a:t>(</a:t>
            </a:r>
            <a:r>
              <a:rPr lang="en-US" sz="2800" i="1" dirty="0">
                <a:solidFill>
                  <a:srgbClr val="000000"/>
                </a:solidFill>
              </a:rPr>
              <a:t>x</a:t>
            </a:r>
            <a:r>
              <a:rPr lang="en-US" sz="2800" dirty="0">
                <a:solidFill>
                  <a:srgbClr val="000000"/>
                </a:solidFill>
              </a:rPr>
              <a:t>). Then, graph </a:t>
            </a:r>
            <a:r>
              <a:rPr lang="en-US" sz="2800" i="1" dirty="0">
                <a:solidFill>
                  <a:srgbClr val="000000"/>
                </a:solidFill>
              </a:rPr>
              <a:t>g</a:t>
            </a:r>
            <a:r>
              <a:rPr lang="en-US" sz="2800" dirty="0">
                <a:solidFill>
                  <a:srgbClr val="000000"/>
                </a:solidFill>
              </a:rPr>
              <a:t>(</a:t>
            </a:r>
            <a:r>
              <a:rPr lang="en-US" sz="2800" i="1" dirty="0">
                <a:solidFill>
                  <a:srgbClr val="000000"/>
                </a:solidFill>
              </a:rPr>
              <a:t>x</a:t>
            </a:r>
            <a:r>
              <a:rPr lang="en-US" sz="2800" dirty="0">
                <a:solidFill>
                  <a:srgbClr val="000000"/>
                </a:solidFill>
              </a:rPr>
              <a:t>). </a:t>
            </a:r>
          </a:p>
        </p:txBody>
      </p:sp>
      <p:sp>
        <p:nvSpPr>
          <p:cNvPr id="2" name="TextBox 1">
            <a:extLst>
              <a:ext uri="{FF2B5EF4-FFF2-40B4-BE49-F238E27FC236}">
                <a16:creationId xmlns:a16="http://schemas.microsoft.com/office/drawing/2014/main" id="{DDDED351-7053-7CAE-76D6-B32AC5C2094A}"/>
              </a:ext>
            </a:extLst>
          </p:cNvPr>
          <p:cNvSpPr txBox="1"/>
          <p:nvPr/>
        </p:nvSpPr>
        <p:spPr>
          <a:xfrm>
            <a:off x="777239" y="3122024"/>
            <a:ext cx="5712742" cy="954107"/>
          </a:xfrm>
          <a:prstGeom prst="rect">
            <a:avLst/>
          </a:prstGeom>
          <a:noFill/>
        </p:spPr>
        <p:txBody>
          <a:bodyPr wrap="square" rtlCol="0">
            <a:spAutoFit/>
          </a:bodyPr>
          <a:lstStyle/>
          <a:p>
            <a:pPr marL="514350" indent="-514350">
              <a:buFont typeface="+mj-lt"/>
              <a:buAutoNum type="arabicPeriod"/>
            </a:pPr>
            <a:r>
              <a:rPr lang="en-US" sz="2800" dirty="0">
                <a:solidFill>
                  <a:srgbClr val="000000"/>
                </a:solidFill>
              </a:rPr>
              <a:t>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br>
              <a:rPr lang="en-US" sz="2800" i="1" dirty="0">
                <a:solidFill>
                  <a:srgbClr val="000000"/>
                </a:solidFill>
              </a:rPr>
            </a:br>
            <a:r>
              <a:rPr lang="en-US" sz="2800" i="1" dirty="0">
                <a:solidFill>
                  <a:srgbClr val="000000"/>
                </a:solidFill>
              </a:rPr>
              <a:t>g</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− 7)</a:t>
            </a:r>
          </a:p>
        </p:txBody>
      </p:sp>
      <p:pic>
        <p:nvPicPr>
          <p:cNvPr id="7" name="Picture 6" descr="A graph of line f of x = x on the coordinate plane. The line rises from left to right through the points from the table, including the points (0, 0) and (2, 2).">
            <a:extLst>
              <a:ext uri="{FF2B5EF4-FFF2-40B4-BE49-F238E27FC236}">
                <a16:creationId xmlns:a16="http://schemas.microsoft.com/office/drawing/2014/main" id="{12209E87-A913-EDCB-EE9D-3ECBC22CFBA4}"/>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4150418" y="3105806"/>
            <a:ext cx="3889575" cy="369906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45</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298</a:t>
            </a:r>
          </a:p>
        </p:txBody>
      </p:sp>
      <p:sp>
        <p:nvSpPr>
          <p:cNvPr id="1011" name="Answer 1011"/>
          <p:cNvSpPr txBox="1"/>
          <p:nvPr/>
        </p:nvSpPr>
        <p:spPr>
          <a:xfrm>
            <a:off x="8191500" y="3175000"/>
            <a:ext cx="3810000" cy="254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f(x) is translated right 7 units.</a:t>
            </a:r>
          </a:p>
          <a:p>
            <a:pPr marL="0" indent="0" algn="l">
              <a:spcBef>
                <a:spcPts val="0"/>
              </a:spcBef>
              <a:spcAft>
                <a:spcPts val="300"/>
              </a:spcAft>
              <a:buNone/>
            </a:pPr>
            <a:r>
              <a:rPr lang="en-US" sz="2000" dirty="0">
                <a:solidFill>
                  <a:srgbClr val="FF0000"/>
                </a:solidFill>
              </a:rPr>
              <a:t>Graph g(x) = x − 7: through (7, 0) and (0, −7)</a:t>
            </a:r>
          </a:p>
        </p:txBody>
      </p:sp>
    </p:spTree>
    <p:extLst>
      <p:ext uri="{BB962C8B-B14F-4D97-AF65-F5344CB8AC3E}">
        <p14:creationId xmlns:p14="http://schemas.microsoft.com/office/powerpoint/2010/main" val="2899571899"/>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6B13D-BFE6-1CF0-1257-77CF5991957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AC6C24E-FCBA-6761-7B22-372815DF3E5A}"/>
              </a:ext>
            </a:extLst>
          </p:cNvPr>
          <p:cNvSpPr>
            <a:spLocks noGrp="1"/>
          </p:cNvSpPr>
          <p:nvPr>
            <p:ph type="title"/>
          </p:nvPr>
        </p:nvSpPr>
        <p:spPr/>
        <p:txBody>
          <a:bodyPr/>
          <a:lstStyle/>
          <a:p>
            <a:pPr algn="l"/>
            <a:r>
              <a:rPr lang="en-US" b="1" dirty="0"/>
              <a:t>Graphing Linear Transformations </a:t>
            </a:r>
            <a:r>
              <a:rPr lang="en-US" sz="2000" b="1" dirty="0">
                <a:solidFill>
                  <a:schemeClr val="bg1"/>
                </a:solidFill>
              </a:rPr>
              <a:t>(2 of 8)</a:t>
            </a:r>
          </a:p>
        </p:txBody>
      </p:sp>
      <p:sp>
        <p:nvSpPr>
          <p:cNvPr id="2" name="TextBox 1">
            <a:extLst>
              <a:ext uri="{FF2B5EF4-FFF2-40B4-BE49-F238E27FC236}">
                <a16:creationId xmlns:a16="http://schemas.microsoft.com/office/drawing/2014/main" id="{017E5C95-461C-B98F-5757-D935BBFE9596}"/>
              </a:ext>
            </a:extLst>
          </p:cNvPr>
          <p:cNvSpPr txBox="1"/>
          <p:nvPr/>
        </p:nvSpPr>
        <p:spPr>
          <a:xfrm>
            <a:off x="777240" y="1631810"/>
            <a:ext cx="2911891" cy="954107"/>
          </a:xfrm>
          <a:prstGeom prst="rect">
            <a:avLst/>
          </a:prstGeom>
          <a:noFill/>
        </p:spPr>
        <p:txBody>
          <a:bodyPr wrap="square" rtlCol="0">
            <a:spAutoFit/>
          </a:bodyPr>
          <a:lstStyle/>
          <a:p>
            <a:pPr marL="514350" indent="-514350">
              <a:buFont typeface="+mj-lt"/>
              <a:buAutoNum type="arabicPeriod" startAt="2"/>
            </a:pPr>
            <a:r>
              <a:rPr lang="en-US" sz="2800" dirty="0">
                <a:solidFill>
                  <a:srgbClr val="000000"/>
                </a:solidFill>
              </a:rPr>
              <a:t>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br>
              <a:rPr lang="en-US" sz="2800" dirty="0">
                <a:solidFill>
                  <a:srgbClr val="000000"/>
                </a:solidFill>
              </a:rPr>
            </a:br>
            <a:r>
              <a:rPr lang="en-US" sz="2800" i="1" dirty="0">
                <a:solidFill>
                  <a:srgbClr val="000000"/>
                </a:solidFill>
              </a:rPr>
              <a:t>g</a:t>
            </a:r>
            <a:r>
              <a:rPr lang="en-US" sz="2800" dirty="0">
                <a:solidFill>
                  <a:srgbClr val="000000"/>
                </a:solidFill>
              </a:rPr>
              <a:t>(</a:t>
            </a:r>
            <a:r>
              <a:rPr lang="en-US" sz="2800" i="1" dirty="0">
                <a:solidFill>
                  <a:srgbClr val="000000"/>
                </a:solidFill>
              </a:rPr>
              <a:t>x</a:t>
            </a:r>
            <a:r>
              <a:rPr lang="en-US" sz="2800" dirty="0">
                <a:solidFill>
                  <a:srgbClr val="000000"/>
                </a:solidFill>
              </a:rPr>
              <a:t>) = 3</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a:t>
            </a:r>
          </a:p>
        </p:txBody>
      </p:sp>
      <p:pic>
        <p:nvPicPr>
          <p:cNvPr id="3" name="Picture 2" descr="A graph of line f of x = x on the coordinate plane. The line rises from left to right through the points from the table, including the points (0, 0) and (2, 2).">
            <a:extLst>
              <a:ext uri="{FF2B5EF4-FFF2-40B4-BE49-F238E27FC236}">
                <a16:creationId xmlns:a16="http://schemas.microsoft.com/office/drawing/2014/main" id="{6ABCAD26-F4E9-96C4-2521-821D98BCC69B}"/>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4150418" y="1631810"/>
            <a:ext cx="3889575" cy="3699065"/>
          </a:xfrm>
          <a:prstGeom prst="rect">
            <a:avLst/>
          </a:prstGeom>
        </p:spPr>
      </p:pic>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46</a:t>
            </a:fld>
          </a:p>
        </p:txBody>
      </p:sp>
      <p:sp>
        <p:nvSpPr>
          <p:cNvPr id="1005" name="Answer 100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298</a:t>
            </a:r>
          </a:p>
        </p:txBody>
      </p:sp>
      <p:sp>
        <p:nvSpPr>
          <p:cNvPr id="1006" name="Answer 1006"/>
          <p:cNvSpPr txBox="1"/>
          <p:nvPr/>
        </p:nvSpPr>
        <p:spPr>
          <a:xfrm>
            <a:off x="8191500" y="1714500"/>
            <a:ext cx="3810000" cy="254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f(x) is stretched vertically by a factor of 3.</a:t>
            </a:r>
          </a:p>
          <a:p>
            <a:pPr marL="0" indent="0" algn="l">
              <a:spcBef>
                <a:spcPts val="0"/>
              </a:spcBef>
              <a:spcAft>
                <a:spcPts val="300"/>
              </a:spcAft>
              <a:buNone/>
            </a:pPr>
            <a:r>
              <a:rPr lang="en-US" sz="2000" dirty="0">
                <a:solidFill>
                  <a:srgbClr val="FF0000"/>
                </a:solidFill>
              </a:rPr>
              <a:t>Graph g(x) = 3x: through (0, 0) and (2, 6)</a:t>
            </a:r>
          </a:p>
        </p:txBody>
      </p:sp>
    </p:spTree>
    <p:extLst>
      <p:ext uri="{BB962C8B-B14F-4D97-AF65-F5344CB8AC3E}">
        <p14:creationId xmlns:p14="http://schemas.microsoft.com/office/powerpoint/2010/main" val="585888131"/>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2AC2A7-25F2-7634-E1C2-7ED49244AC8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D862A01-0B09-46E2-31E6-2ECD802F6863}"/>
              </a:ext>
            </a:extLst>
          </p:cNvPr>
          <p:cNvSpPr>
            <a:spLocks noGrp="1"/>
          </p:cNvSpPr>
          <p:nvPr>
            <p:ph type="title"/>
          </p:nvPr>
        </p:nvSpPr>
        <p:spPr/>
        <p:txBody>
          <a:bodyPr/>
          <a:lstStyle/>
          <a:p>
            <a:pPr algn="l"/>
            <a:r>
              <a:rPr lang="en-US" b="1" dirty="0"/>
              <a:t>Graphing Linear Transformations </a:t>
            </a:r>
            <a:r>
              <a:rPr lang="en-US" sz="2000" b="1" dirty="0">
                <a:solidFill>
                  <a:schemeClr val="bg1"/>
                </a:solidFill>
              </a:rPr>
              <a:t>(3 of 8)</a:t>
            </a:r>
          </a:p>
        </p:txBody>
      </p:sp>
      <p:sp>
        <p:nvSpPr>
          <p:cNvPr id="3" name="TextBox 2">
            <a:extLst>
              <a:ext uri="{FF2B5EF4-FFF2-40B4-BE49-F238E27FC236}">
                <a16:creationId xmlns:a16="http://schemas.microsoft.com/office/drawing/2014/main" id="{4FFF4E7E-E599-4F55-52EE-034D07621123}"/>
              </a:ext>
            </a:extLst>
          </p:cNvPr>
          <p:cNvSpPr txBox="1"/>
          <p:nvPr/>
        </p:nvSpPr>
        <p:spPr>
          <a:xfrm>
            <a:off x="777240" y="1631810"/>
            <a:ext cx="2911891" cy="954107"/>
          </a:xfrm>
          <a:prstGeom prst="rect">
            <a:avLst/>
          </a:prstGeom>
          <a:noFill/>
        </p:spPr>
        <p:txBody>
          <a:bodyPr wrap="square" rtlCol="0">
            <a:spAutoFit/>
          </a:bodyPr>
          <a:lstStyle/>
          <a:p>
            <a:pPr marL="514350" indent="-514350">
              <a:buFont typeface="+mj-lt"/>
              <a:buAutoNum type="arabicPeriod" startAt="3"/>
            </a:pPr>
            <a:r>
              <a:rPr lang="en-US" sz="2800" dirty="0">
                <a:solidFill>
                  <a:srgbClr val="000000"/>
                </a:solidFill>
              </a:rPr>
              <a:t>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br>
              <a:rPr lang="en-US" sz="2800" dirty="0">
                <a:solidFill>
                  <a:srgbClr val="000000"/>
                </a:solidFill>
              </a:rPr>
            </a:br>
            <a:r>
              <a:rPr lang="en-US" sz="2800" i="1" dirty="0">
                <a:solidFill>
                  <a:srgbClr val="000000"/>
                </a:solidFill>
              </a:rPr>
              <a:t>g</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+ 2</a:t>
            </a:r>
          </a:p>
        </p:txBody>
      </p:sp>
      <p:pic>
        <p:nvPicPr>
          <p:cNvPr id="6" name="Picture 5" descr="A graph of line f of x = x on the coordinate plane. The line rises from left to right through the points from the table, including the points (0, 0) and (2, 2).">
            <a:extLst>
              <a:ext uri="{FF2B5EF4-FFF2-40B4-BE49-F238E27FC236}">
                <a16:creationId xmlns:a16="http://schemas.microsoft.com/office/drawing/2014/main" id="{0E022B10-9F4C-4A5F-BE94-160A51CF9517}"/>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4150418" y="1631810"/>
            <a:ext cx="3889575" cy="3699065"/>
          </a:xfrm>
          <a:prstGeom prst="rect">
            <a:avLst/>
          </a:prstGeom>
        </p:spPr>
      </p:pic>
      <p:sp>
        <p:nvSpPr>
          <p:cNvPr id="1006" name="Slide Number 10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47</a:t>
            </a:fld>
          </a:p>
        </p:txBody>
      </p:sp>
      <p:sp>
        <p:nvSpPr>
          <p:cNvPr id="1007" name="Answer 1007"/>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299</a:t>
            </a:r>
          </a:p>
        </p:txBody>
      </p:sp>
      <p:sp>
        <p:nvSpPr>
          <p:cNvPr id="1008" name="Answer 1008"/>
          <p:cNvSpPr txBox="1"/>
          <p:nvPr/>
        </p:nvSpPr>
        <p:spPr>
          <a:xfrm>
            <a:off x="8191500" y="1714500"/>
            <a:ext cx="3810000" cy="254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f(x) is translated up 2 units.</a:t>
            </a:r>
          </a:p>
          <a:p>
            <a:pPr marL="0" indent="0" algn="l">
              <a:spcBef>
                <a:spcPts val="0"/>
              </a:spcBef>
              <a:spcAft>
                <a:spcPts val="300"/>
              </a:spcAft>
              <a:buNone/>
            </a:pPr>
            <a:r>
              <a:rPr lang="en-US" sz="2000" dirty="0">
                <a:solidFill>
                  <a:srgbClr val="FF0000"/>
                </a:solidFill>
              </a:rPr>
              <a:t>Graph g(x) = x + 2: through (0, 2) and (−2, 0)</a:t>
            </a:r>
          </a:p>
        </p:txBody>
      </p:sp>
    </p:spTree>
    <p:extLst>
      <p:ext uri="{BB962C8B-B14F-4D97-AF65-F5344CB8AC3E}">
        <p14:creationId xmlns:p14="http://schemas.microsoft.com/office/powerpoint/2010/main" val="34567360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46D116-043E-DFA3-981E-5A1EDE17F2E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7210297-FD74-896B-512F-D27630435C58}"/>
              </a:ext>
            </a:extLst>
          </p:cNvPr>
          <p:cNvSpPr>
            <a:spLocks noGrp="1"/>
          </p:cNvSpPr>
          <p:nvPr>
            <p:ph type="title"/>
          </p:nvPr>
        </p:nvSpPr>
        <p:spPr/>
        <p:txBody>
          <a:bodyPr/>
          <a:lstStyle/>
          <a:p>
            <a:pPr algn="l"/>
            <a:r>
              <a:rPr lang="en-US" b="1" dirty="0"/>
              <a:t>Graphing Linear Transformations </a:t>
            </a:r>
            <a:r>
              <a:rPr lang="en-US" sz="2000" b="1" dirty="0">
                <a:solidFill>
                  <a:schemeClr val="bg1"/>
                </a:solidFill>
              </a:rPr>
              <a:t>(4 of 8)</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B764C328-9BE6-4A5F-16DD-BCC8C7B88D15}"/>
                  </a:ext>
                </a:extLst>
              </p:cNvPr>
              <p:cNvSpPr txBox="1"/>
              <p:nvPr/>
            </p:nvSpPr>
            <p:spPr>
              <a:xfrm>
                <a:off x="777240" y="1631810"/>
                <a:ext cx="2911891" cy="1170641"/>
              </a:xfrm>
              <a:prstGeom prst="rect">
                <a:avLst/>
              </a:prstGeom>
              <a:noFill/>
            </p:spPr>
            <p:txBody>
              <a:bodyPr wrap="square" rtlCol="0">
                <a:spAutoFit/>
              </a:bodyPr>
              <a:lstStyle/>
              <a:p>
                <a:pPr marL="514350" indent="-514350">
                  <a:buFont typeface="+mj-lt"/>
                  <a:buAutoNum type="arabicPeriod" startAt="4"/>
                </a:pPr>
                <a:r>
                  <a:rPr lang="en-US" sz="2800" dirty="0">
                    <a:solidFill>
                      <a:srgbClr val="000000"/>
                    </a:solidFill>
                  </a:rPr>
                  <a:t>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br>
                  <a:rPr lang="en-US" sz="2800" dirty="0">
                    <a:solidFill>
                      <a:srgbClr val="000000"/>
                    </a:solidFill>
                  </a:rPr>
                </a:br>
                <a:r>
                  <a:rPr lang="en-US" sz="2800" i="1" dirty="0">
                    <a:solidFill>
                      <a:srgbClr val="000000"/>
                    </a:solidFill>
                  </a:rPr>
                  <a:t>g</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f</a:t>
                </a:r>
                <a:r>
                  <a:rPr lang="en-US" sz="2800" dirty="0">
                    <a:solidFill>
                      <a:srgbClr val="000000"/>
                    </a:solidFill>
                  </a:rPr>
                  <a:t>(</a:t>
                </a:r>
                <a14:m>
                  <m:oMath xmlns:m="http://schemas.openxmlformats.org/officeDocument/2006/math">
                    <m:f>
                      <m:fPr>
                        <m:ctrlPr>
                          <a:rPr lang="en-US" sz="2800" i="1" smtClean="0">
                            <a:solidFill>
                              <a:srgbClr val="000000"/>
                            </a:solidFill>
                            <a:latin typeface="Cambria Math" panose="02040503050406030204" pitchFamily="18" charset="0"/>
                          </a:rPr>
                        </m:ctrlPr>
                      </m:fPr>
                      <m:num>
                        <m:r>
                          <a:rPr lang="en-US" sz="2800" b="0" i="1" smtClean="0">
                            <a:solidFill>
                              <a:srgbClr val="000000"/>
                            </a:solidFill>
                            <a:latin typeface="Cambria Math" panose="02040503050406030204" pitchFamily="18" charset="0"/>
                          </a:rPr>
                          <m:t>1</m:t>
                        </m:r>
                      </m:num>
                      <m:den>
                        <m:r>
                          <a:rPr lang="en-US" sz="2800" b="0" i="1" smtClean="0">
                            <a:solidFill>
                              <a:srgbClr val="000000"/>
                            </a:solidFill>
                            <a:latin typeface="Cambria Math" panose="02040503050406030204" pitchFamily="18" charset="0"/>
                          </a:rPr>
                          <m:t>2</m:t>
                        </m:r>
                      </m:den>
                    </m:f>
                  </m:oMath>
                </a14:m>
                <a:r>
                  <a:rPr lang="en-US" sz="2800" i="1" dirty="0">
                    <a:solidFill>
                      <a:srgbClr val="000000"/>
                    </a:solidFill>
                  </a:rPr>
                  <a:t>x</a:t>
                </a:r>
                <a:r>
                  <a:rPr lang="en-US" sz="2800" dirty="0">
                    <a:solidFill>
                      <a:srgbClr val="000000"/>
                    </a:solidFill>
                  </a:rPr>
                  <a:t>)</a:t>
                </a:r>
              </a:p>
            </p:txBody>
          </p:sp>
        </mc:Choice>
        <mc:Fallback xmlns="">
          <p:sp>
            <p:nvSpPr>
              <p:cNvPr id="3" name="TextBox 2">
                <a:extLst>
                  <a:ext uri="{FF2B5EF4-FFF2-40B4-BE49-F238E27FC236}">
                    <a16:creationId xmlns:a16="http://schemas.microsoft.com/office/drawing/2014/main" id="{B764C328-9BE6-4A5F-16DD-BCC8C7B88D15}"/>
                  </a:ext>
                </a:extLst>
              </p:cNvPr>
              <p:cNvSpPr txBox="1">
                <a:spLocks noRot="1" noChangeAspect="1" noMove="1" noResize="1" noEditPoints="1" noAdjustHandles="1" noChangeArrowheads="1" noChangeShapeType="1" noTextEdit="1"/>
              </p:cNvSpPr>
              <p:nvPr/>
            </p:nvSpPr>
            <p:spPr>
              <a:xfrm>
                <a:off x="777240" y="1631810"/>
                <a:ext cx="2911891" cy="1170641"/>
              </a:xfrm>
              <a:prstGeom prst="rect">
                <a:avLst/>
              </a:prstGeom>
              <a:blipFill>
                <a:blip r:embed="rId3"/>
                <a:stretch>
                  <a:fillRect l="-4403" t="-5729" b="-3646"/>
                </a:stretch>
              </a:blipFill>
            </p:spPr>
            <p:txBody>
              <a:bodyPr/>
              <a:lstStyle/>
              <a:p>
                <a:r>
                  <a:rPr lang="en-US">
                    <a:noFill/>
                  </a:rPr>
                  <a:t> </a:t>
                </a:r>
              </a:p>
            </p:txBody>
          </p:sp>
        </mc:Fallback>
      </mc:AlternateContent>
      <p:pic>
        <p:nvPicPr>
          <p:cNvPr id="6" name="Picture 5" descr="A graph of line f of x = x on the coordinate plane. The line rises from left to right through the points from the table, including the points (0, 0) and (2, 2).">
            <a:extLst>
              <a:ext uri="{FF2B5EF4-FFF2-40B4-BE49-F238E27FC236}">
                <a16:creationId xmlns:a16="http://schemas.microsoft.com/office/drawing/2014/main" id="{692FA320-D96A-83FF-B8E0-FB5CC3E019F6}"/>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4150418" y="1631810"/>
            <a:ext cx="3889575" cy="3699065"/>
          </a:xfrm>
          <a:prstGeom prst="rect">
            <a:avLst/>
          </a:prstGeom>
        </p:spPr>
      </p:pic>
      <p:sp>
        <p:nvSpPr>
          <p:cNvPr id="1006" name="Slide Number 10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48</a:t>
            </a:fld>
          </a:p>
        </p:txBody>
      </p:sp>
      <p:sp>
        <p:nvSpPr>
          <p:cNvPr id="1007" name="Answer 1007"/>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299</a:t>
            </a:r>
          </a:p>
        </p:txBody>
      </p:sp>
      <p:sp>
        <p:nvSpPr>
          <p:cNvPr id="1008" name="Answer 1008"/>
          <p:cNvSpPr txBox="1"/>
          <p:nvPr/>
        </p:nvSpPr>
        <p:spPr>
          <a:xfrm>
            <a:off x="8191500" y="1714500"/>
            <a:ext cx="3810000" cy="254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f(x) is stretched horizontally by a factor of 2.</a:t>
            </a:r>
          </a:p>
          <a:p>
            <a:pPr marL="0" indent="0" algn="l">
              <a:spcBef>
                <a:spcPts val="0"/>
              </a:spcBef>
              <a:spcAft>
                <a:spcPts val="300"/>
              </a:spcAft>
              <a:buNone/>
            </a:pPr>
            <a:r>
              <a:rPr lang="en-US" sz="2000" dirty="0">
                <a:solidFill>
                  <a:srgbClr val="FF0000"/>
                </a:solidFill>
              </a:rPr>
              <a:t>Graph g(x) = (1/2)x: through (0, 0) and (4, 2)</a:t>
            </a:r>
          </a:p>
        </p:txBody>
      </p:sp>
    </p:spTree>
    <p:extLst>
      <p:ext uri="{BB962C8B-B14F-4D97-AF65-F5344CB8AC3E}">
        <p14:creationId xmlns:p14="http://schemas.microsoft.com/office/powerpoint/2010/main" val="228522950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CA3957-EB6B-2203-7163-48032902DD8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6827C8D-4970-A0F6-1A32-AAFB2CA53F45}"/>
              </a:ext>
            </a:extLst>
          </p:cNvPr>
          <p:cNvSpPr>
            <a:spLocks noGrp="1"/>
          </p:cNvSpPr>
          <p:nvPr>
            <p:ph type="title"/>
          </p:nvPr>
        </p:nvSpPr>
        <p:spPr/>
        <p:txBody>
          <a:bodyPr/>
          <a:lstStyle/>
          <a:p>
            <a:pPr algn="l"/>
            <a:r>
              <a:rPr lang="en-US" b="1" dirty="0"/>
              <a:t>Graphing Linear Transformations </a:t>
            </a:r>
            <a:r>
              <a:rPr lang="en-US" sz="2000" b="1" dirty="0">
                <a:solidFill>
                  <a:schemeClr val="bg1"/>
                </a:solidFill>
              </a:rPr>
              <a:t>(5 of 8)</a:t>
            </a:r>
          </a:p>
        </p:txBody>
      </p:sp>
      <p:sp>
        <p:nvSpPr>
          <p:cNvPr id="3" name="TextBox 2">
            <a:extLst>
              <a:ext uri="{FF2B5EF4-FFF2-40B4-BE49-F238E27FC236}">
                <a16:creationId xmlns:a16="http://schemas.microsoft.com/office/drawing/2014/main" id="{AEB31489-D6CA-7078-D753-0A8C47F33AEC}"/>
              </a:ext>
            </a:extLst>
          </p:cNvPr>
          <p:cNvSpPr txBox="1"/>
          <p:nvPr/>
        </p:nvSpPr>
        <p:spPr>
          <a:xfrm>
            <a:off x="777240" y="1631810"/>
            <a:ext cx="2911891" cy="954107"/>
          </a:xfrm>
          <a:prstGeom prst="rect">
            <a:avLst/>
          </a:prstGeom>
          <a:noFill/>
        </p:spPr>
        <p:txBody>
          <a:bodyPr wrap="square" rtlCol="0">
            <a:spAutoFit/>
          </a:bodyPr>
          <a:lstStyle/>
          <a:p>
            <a:pPr marL="514350" indent="-514350">
              <a:buFont typeface="+mj-lt"/>
              <a:buAutoNum type="arabicPeriod" startAt="5"/>
            </a:pPr>
            <a:r>
              <a:rPr lang="en-US" sz="2800" dirty="0">
                <a:solidFill>
                  <a:srgbClr val="000000"/>
                </a:solidFill>
              </a:rPr>
              <a:t>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br>
              <a:rPr lang="en-US" sz="2800" dirty="0">
                <a:solidFill>
                  <a:srgbClr val="000000"/>
                </a:solidFill>
              </a:rPr>
            </a:br>
            <a:r>
              <a:rPr lang="en-US" sz="2800" i="1" dirty="0">
                <a:solidFill>
                  <a:srgbClr val="000000"/>
                </a:solidFill>
              </a:rPr>
              <a:t>g</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− 4</a:t>
            </a:r>
          </a:p>
        </p:txBody>
      </p:sp>
      <p:pic>
        <p:nvPicPr>
          <p:cNvPr id="6" name="Picture 5" descr="A graph of line f of x = x on the coordinate plane. The line rises from left to right through the points from the table, including the points (0, 0) and (2, 2).">
            <a:extLst>
              <a:ext uri="{FF2B5EF4-FFF2-40B4-BE49-F238E27FC236}">
                <a16:creationId xmlns:a16="http://schemas.microsoft.com/office/drawing/2014/main" id="{5513DE2D-4D1E-08CF-A57E-9472EA9B0923}"/>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4150418" y="1631810"/>
            <a:ext cx="3889575" cy="3699065"/>
          </a:xfrm>
          <a:prstGeom prst="rect">
            <a:avLst/>
          </a:prstGeom>
        </p:spPr>
      </p:pic>
      <p:sp>
        <p:nvSpPr>
          <p:cNvPr id="1006" name="Slide Number 10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49</a:t>
            </a:fld>
          </a:p>
        </p:txBody>
      </p:sp>
      <p:sp>
        <p:nvSpPr>
          <p:cNvPr id="1007" name="Answer 1007"/>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300</a:t>
            </a:r>
          </a:p>
        </p:txBody>
      </p:sp>
      <p:sp>
        <p:nvSpPr>
          <p:cNvPr id="1008" name="Answer 1008"/>
          <p:cNvSpPr txBox="1"/>
          <p:nvPr/>
        </p:nvSpPr>
        <p:spPr>
          <a:xfrm>
            <a:off x="8191500" y="1714500"/>
            <a:ext cx="3810000" cy="254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f(x) is translated down 4 units.</a:t>
            </a:r>
          </a:p>
          <a:p>
            <a:pPr marL="0" indent="0" algn="l">
              <a:spcBef>
                <a:spcPts val="0"/>
              </a:spcBef>
              <a:spcAft>
                <a:spcPts val="300"/>
              </a:spcAft>
              <a:buNone/>
            </a:pPr>
            <a:r>
              <a:rPr lang="en-US" sz="2000" dirty="0">
                <a:solidFill>
                  <a:srgbClr val="FF0000"/>
                </a:solidFill>
              </a:rPr>
              <a:t>Graph g(x) = x − 4: through (0, −4) and (4, 0)</a:t>
            </a:r>
          </a:p>
        </p:txBody>
      </p:sp>
    </p:spTree>
    <p:extLst>
      <p:ext uri="{BB962C8B-B14F-4D97-AF65-F5344CB8AC3E}">
        <p14:creationId xmlns:p14="http://schemas.microsoft.com/office/powerpoint/2010/main" val="2774982883"/>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D3AEA4-B821-FF1A-10C0-F85586E4BC5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9B22210-5855-03A6-4151-0CBEB649E558}"/>
              </a:ext>
            </a:extLst>
          </p:cNvPr>
          <p:cNvSpPr>
            <a:spLocks noGrp="1"/>
          </p:cNvSpPr>
          <p:nvPr>
            <p:ph type="title"/>
          </p:nvPr>
        </p:nvSpPr>
        <p:spPr>
          <a:xfrm>
            <a:off x="777240" y="1"/>
            <a:ext cx="11425482" cy="1263192"/>
          </a:xfrm>
        </p:spPr>
        <p:txBody>
          <a:bodyPr/>
          <a:lstStyle/>
          <a:p>
            <a:pPr algn="l"/>
            <a:r>
              <a:rPr lang="en-US" b="1" dirty="0"/>
              <a:t>Graphing Linear Transformations </a:t>
            </a:r>
            <a:r>
              <a:rPr lang="en-US" sz="2000" b="1" dirty="0">
                <a:solidFill>
                  <a:schemeClr val="bg1"/>
                </a:solidFill>
              </a:rPr>
              <a:t>(6 of 8)</a:t>
            </a:r>
          </a:p>
        </p:txBody>
      </p:sp>
      <p:sp>
        <p:nvSpPr>
          <p:cNvPr id="3" name="TextBox 2">
            <a:extLst>
              <a:ext uri="{FF2B5EF4-FFF2-40B4-BE49-F238E27FC236}">
                <a16:creationId xmlns:a16="http://schemas.microsoft.com/office/drawing/2014/main" id="{A0D4C8D5-33DF-7DF0-7ED0-56357F0E2377}"/>
              </a:ext>
            </a:extLst>
          </p:cNvPr>
          <p:cNvSpPr txBox="1"/>
          <p:nvPr/>
        </p:nvSpPr>
        <p:spPr>
          <a:xfrm>
            <a:off x="777240" y="1631810"/>
            <a:ext cx="2911891" cy="954107"/>
          </a:xfrm>
          <a:prstGeom prst="rect">
            <a:avLst/>
          </a:prstGeom>
          <a:noFill/>
        </p:spPr>
        <p:txBody>
          <a:bodyPr wrap="square" rtlCol="0">
            <a:spAutoFit/>
          </a:bodyPr>
          <a:lstStyle/>
          <a:p>
            <a:pPr marL="514350" indent="-514350">
              <a:buFont typeface="+mj-lt"/>
              <a:buAutoNum type="arabicPeriod" startAt="6"/>
            </a:pPr>
            <a:r>
              <a:rPr lang="en-US" sz="2800" dirty="0">
                <a:solidFill>
                  <a:srgbClr val="000000"/>
                </a:solidFill>
              </a:rPr>
              <a:t>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br>
              <a:rPr lang="en-US" sz="2800" dirty="0">
                <a:solidFill>
                  <a:srgbClr val="000000"/>
                </a:solidFill>
              </a:rPr>
            </a:br>
            <a:r>
              <a:rPr lang="en-US" sz="2800" i="1" dirty="0">
                <a:solidFill>
                  <a:srgbClr val="000000"/>
                </a:solidFill>
              </a:rPr>
              <a:t>g</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+ 5)</a:t>
            </a:r>
          </a:p>
        </p:txBody>
      </p:sp>
      <p:pic>
        <p:nvPicPr>
          <p:cNvPr id="6" name="Picture 5" descr="A graph of line f of x = x on the coordinate plane. The line rises from left to right through the points from the table, including the points (0, 0) and (2, 2).">
            <a:extLst>
              <a:ext uri="{FF2B5EF4-FFF2-40B4-BE49-F238E27FC236}">
                <a16:creationId xmlns:a16="http://schemas.microsoft.com/office/drawing/2014/main" id="{6F2B34AE-3BAA-11C1-76D8-B92871F69BE5}"/>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4150418" y="1631810"/>
            <a:ext cx="3889575" cy="3699065"/>
          </a:xfrm>
          <a:prstGeom prst="rect">
            <a:avLst/>
          </a:prstGeom>
        </p:spPr>
      </p:pic>
      <p:sp>
        <p:nvSpPr>
          <p:cNvPr id="1006" name="Slide Number 10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50</a:t>
            </a:fld>
          </a:p>
        </p:txBody>
      </p:sp>
      <p:sp>
        <p:nvSpPr>
          <p:cNvPr id="1007" name="Answer 1007"/>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300</a:t>
            </a:r>
          </a:p>
        </p:txBody>
      </p:sp>
      <p:sp>
        <p:nvSpPr>
          <p:cNvPr id="1008" name="Answer 1008"/>
          <p:cNvSpPr txBox="1"/>
          <p:nvPr/>
        </p:nvSpPr>
        <p:spPr>
          <a:xfrm>
            <a:off x="8191500" y="1714500"/>
            <a:ext cx="3810000" cy="254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f(x) is translated left 5 units.</a:t>
            </a:r>
          </a:p>
          <a:p>
            <a:pPr marL="0" indent="0" algn="l">
              <a:spcBef>
                <a:spcPts val="0"/>
              </a:spcBef>
              <a:spcAft>
                <a:spcPts val="300"/>
              </a:spcAft>
              <a:buNone/>
            </a:pPr>
            <a:r>
              <a:rPr lang="en-US" sz="2000" dirty="0">
                <a:solidFill>
                  <a:srgbClr val="FF0000"/>
                </a:solidFill>
              </a:rPr>
              <a:t>Graph g(x) = x + 5: through (0, 5) and (−5, 0)</a:t>
            </a:r>
          </a:p>
        </p:txBody>
      </p:sp>
    </p:spTree>
    <p:extLst>
      <p:ext uri="{BB962C8B-B14F-4D97-AF65-F5344CB8AC3E}">
        <p14:creationId xmlns:p14="http://schemas.microsoft.com/office/powerpoint/2010/main" val="261933874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829C39-3A72-7CA6-11C4-FEFCDD91946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7D8F889-CC28-E37F-F9E4-E090179C8613}"/>
              </a:ext>
            </a:extLst>
          </p:cNvPr>
          <p:cNvSpPr>
            <a:spLocks noGrp="1"/>
          </p:cNvSpPr>
          <p:nvPr>
            <p:ph type="title"/>
          </p:nvPr>
        </p:nvSpPr>
        <p:spPr>
          <a:xfrm>
            <a:off x="777239" y="1"/>
            <a:ext cx="11363697" cy="1263192"/>
          </a:xfrm>
        </p:spPr>
        <p:txBody>
          <a:bodyPr/>
          <a:lstStyle/>
          <a:p>
            <a:pPr algn="l"/>
            <a:r>
              <a:rPr lang="en-US" b="1" dirty="0"/>
              <a:t>Graphing Linear Transformations </a:t>
            </a:r>
            <a:r>
              <a:rPr lang="en-US" sz="2000" b="1" dirty="0">
                <a:solidFill>
                  <a:schemeClr val="bg1"/>
                </a:solidFill>
              </a:rPr>
              <a:t>(7 of 8)</a:t>
            </a:r>
          </a:p>
        </p:txBody>
      </p:sp>
      <p:sp>
        <p:nvSpPr>
          <p:cNvPr id="9" name="Text Placeholder 2">
            <a:extLst>
              <a:ext uri="{FF2B5EF4-FFF2-40B4-BE49-F238E27FC236}">
                <a16:creationId xmlns:a16="http://schemas.microsoft.com/office/drawing/2014/main" id="{D4327D47-166B-F130-0C6A-85540E68674E}"/>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summarize our learning from Activity 2.3!</a:t>
            </a:r>
          </a:p>
        </p:txBody>
      </p:sp>
      <p:pic>
        <p:nvPicPr>
          <p:cNvPr id="2" name="Picture 1">
            <a:extLst>
              <a:ext uri="{FF2B5EF4-FFF2-40B4-BE49-F238E27FC236}">
                <a16:creationId xmlns:a16="http://schemas.microsoft.com/office/drawing/2014/main" id="{974DC945-4890-DA87-CD14-4B23A115E473}"/>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174023"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51</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300</a:t>
            </a:r>
          </a:p>
        </p:txBody>
      </p:sp>
    </p:spTree>
    <p:extLst>
      <p:ext uri="{BB962C8B-B14F-4D97-AF65-F5344CB8AC3E}">
        <p14:creationId xmlns:p14="http://schemas.microsoft.com/office/powerpoint/2010/main" val="291103741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1F5BF-BACD-81F3-6987-872279EC7B4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BA03FB0-8043-7F42-7A9C-A1BC5F871413}"/>
              </a:ext>
            </a:extLst>
          </p:cNvPr>
          <p:cNvSpPr>
            <a:spLocks noGrp="1"/>
          </p:cNvSpPr>
          <p:nvPr>
            <p:ph type="title"/>
          </p:nvPr>
        </p:nvSpPr>
        <p:spPr/>
        <p:txBody>
          <a:bodyPr/>
          <a:lstStyle/>
          <a:p>
            <a:pPr algn="l"/>
            <a:r>
              <a:rPr lang="en-US" b="1" dirty="0"/>
              <a:t>Graphing Linear Transformations </a:t>
            </a:r>
            <a:r>
              <a:rPr lang="en-US" sz="2000" b="1" dirty="0">
                <a:solidFill>
                  <a:schemeClr val="bg1"/>
                </a:solidFill>
              </a:rPr>
              <a:t>(8 of 8)</a:t>
            </a:r>
          </a:p>
        </p:txBody>
      </p:sp>
      <p:sp>
        <p:nvSpPr>
          <p:cNvPr id="9" name="Text Placeholder 2">
            <a:extLst>
              <a:ext uri="{FF2B5EF4-FFF2-40B4-BE49-F238E27FC236}">
                <a16:creationId xmlns:a16="http://schemas.microsoft.com/office/drawing/2014/main" id="{9E78C706-2FB8-7C74-24FA-C5CE91040A9A}"/>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52</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300</a:t>
            </a:r>
          </a:p>
        </p:txBody>
      </p:sp>
    </p:spTree>
    <p:extLst>
      <p:ext uri="{BB962C8B-B14F-4D97-AF65-F5344CB8AC3E}">
        <p14:creationId xmlns:p14="http://schemas.microsoft.com/office/powerpoint/2010/main" val="222345857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17B6D8E-F178-63BB-4647-BBEE59CD62FD}"/>
              </a:ext>
            </a:extLst>
          </p:cNvPr>
          <p:cNvSpPr>
            <a:spLocks noGrp="1"/>
          </p:cNvSpPr>
          <p:nvPr>
            <p:ph type="title" idx="4294967295"/>
          </p:nvPr>
        </p:nvSpPr>
        <p:spPr>
          <a:xfrm>
            <a:off x="838200" y="-357051"/>
            <a:ext cx="10514013" cy="357051"/>
          </a:xfrm>
          <a:prstGeom prst="rect">
            <a:avLst/>
          </a:prstGeom>
        </p:spPr>
        <p:txBody>
          <a:bodyPr anchor="b"/>
          <a:lstStyle/>
          <a:p>
            <a:r>
              <a:rPr lang="en-US" sz="2000" dirty="0">
                <a:solidFill>
                  <a:schemeClr val="bg2"/>
                </a:solidFill>
              </a:rPr>
              <a:t>Talk the Talk</a:t>
            </a:r>
          </a:p>
        </p:txBody>
      </p:sp>
      <p:sp>
        <p:nvSpPr>
          <p:cNvPr id="2" name="Text Placeholder 1" descr="5 minutes">
            <a:extLst>
              <a:ext uri="{FF2B5EF4-FFF2-40B4-BE49-F238E27FC236}">
                <a16:creationId xmlns:a16="http://schemas.microsoft.com/office/drawing/2014/main" id="{FC210BF6-188A-C9CF-0312-B6DC4E6EE108}"/>
              </a:ext>
            </a:extLst>
          </p:cNvPr>
          <p:cNvSpPr>
            <a:spLocks noGrp="1"/>
          </p:cNvSpPr>
          <p:nvPr>
            <p:ph type="body" sz="quarter" idx="12"/>
          </p:nvPr>
        </p:nvSpPr>
        <p:spPr>
          <a:xfrm>
            <a:off x="10614990" y="5779693"/>
            <a:ext cx="863947" cy="795338"/>
          </a:xfrm>
        </p:spPr>
        <p:txBody>
          <a:bodyPr/>
          <a:lstStyle/>
          <a:p>
            <a:r>
              <a:rPr lang="en-US" b="1" dirty="0"/>
              <a:t>5</a:t>
            </a:r>
          </a:p>
        </p:txBody>
      </p:sp>
      <p:sp>
        <p:nvSpPr>
          <p:cNvPr id="1003" name="Slide Number 100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53</a:t>
            </a:fld>
          </a:p>
        </p:txBody>
      </p:sp>
    </p:spTree>
    <p:extLst>
      <p:ext uri="{BB962C8B-B14F-4D97-AF65-F5344CB8AC3E}">
        <p14:creationId xmlns:p14="http://schemas.microsoft.com/office/powerpoint/2010/main" val="335222387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6B8DB3-2E03-6F25-3B0D-DD2508DEEF4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F611F6C-1C9E-DC34-95ED-7F74B405A97F}"/>
              </a:ext>
            </a:extLst>
          </p:cNvPr>
          <p:cNvSpPr>
            <a:spLocks noGrp="1"/>
          </p:cNvSpPr>
          <p:nvPr>
            <p:ph type="title"/>
          </p:nvPr>
        </p:nvSpPr>
        <p:spPr/>
        <p:txBody>
          <a:bodyPr/>
          <a:lstStyle/>
          <a:p>
            <a:pPr algn="l"/>
            <a:r>
              <a:rPr lang="en-US" b="1" dirty="0"/>
              <a:t>Show Me What You’ve Got! </a:t>
            </a:r>
            <a:r>
              <a:rPr lang="en-US" sz="2000" b="1" dirty="0">
                <a:solidFill>
                  <a:schemeClr val="bg1"/>
                </a:solidFill>
              </a:rPr>
              <a:t>(1 of 4)</a:t>
            </a:r>
          </a:p>
        </p:txBody>
      </p:sp>
      <p:sp>
        <p:nvSpPr>
          <p:cNvPr id="9" name="Text Placeholder 2">
            <a:extLst>
              <a:ext uri="{FF2B5EF4-FFF2-40B4-BE49-F238E27FC236}">
                <a16:creationId xmlns:a16="http://schemas.microsoft.com/office/drawing/2014/main" id="{7C3A7EA6-1D88-3D7C-37CC-290549692E8C}"/>
              </a:ext>
            </a:extLst>
          </p:cNvPr>
          <p:cNvSpPr txBox="1">
            <a:spLocks/>
          </p:cNvSpPr>
          <p:nvPr/>
        </p:nvSpPr>
        <p:spPr>
          <a:xfrm>
            <a:off x="777240" y="1611086"/>
            <a:ext cx="10332188" cy="107115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The graph shows the linear function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and four transformations of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a:t>
            </a:r>
            <a:endParaRPr lang="en-US" sz="2800" b="0" i="0" u="none" strike="noStrike" baseline="0" dirty="0">
              <a:solidFill>
                <a:srgbClr val="000000"/>
              </a:solidFill>
            </a:endParaRPr>
          </a:p>
          <a:p>
            <a:pPr marL="0" indent="0">
              <a:buNone/>
            </a:pPr>
            <a:endParaRPr lang="en-US" sz="2800" b="0" i="0" u="none" strike="noStrike" baseline="0" dirty="0">
              <a:solidFill>
                <a:srgbClr val="000000"/>
              </a:solidFill>
            </a:endParaRPr>
          </a:p>
          <a:p>
            <a:pPr marL="0" indent="0" algn="ctr">
              <a:buNone/>
            </a:pPr>
            <a:endParaRPr lang="en-US" sz="2800" dirty="0">
              <a:solidFill>
                <a:srgbClr val="000000"/>
              </a:solidFill>
            </a:endParaRPr>
          </a:p>
        </p:txBody>
      </p:sp>
      <p:pic>
        <p:nvPicPr>
          <p:cNvPr id="6" name="Picture 5" descr="A graph of 5 lines on the coordinate plane. Each line rises from left to right. The line f of x = x rises through the points (0, 0) and (2, 2). The line k of x rises through the points (0, 8) and (2, 10). The line h of x rises through the points (0, 0) and (2, 4). The line g of x rises through the points (0, 0) and (6, 2). The line j of x rises through the points (0, negative 7) and (2, negative 5).">
            <a:extLst>
              <a:ext uri="{FF2B5EF4-FFF2-40B4-BE49-F238E27FC236}">
                <a16:creationId xmlns:a16="http://schemas.microsoft.com/office/drawing/2014/main" id="{3349D2DD-C9D6-E649-91A8-AE807E2141BF}"/>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80985" y="2682240"/>
            <a:ext cx="3834010" cy="3889575"/>
          </a:xfrm>
          <a:prstGeom prst="rect">
            <a:avLst/>
          </a:prstGeom>
        </p:spPr>
      </p:pic>
      <mc:AlternateContent xmlns:mc="http://schemas.openxmlformats.org/markup-compatibility/2006" xmlns:a14="http://schemas.microsoft.com/office/drawing/2010/main">
        <mc:Choice Requires="a14">
          <p:graphicFrame>
            <p:nvGraphicFramePr>
              <p:cNvPr id="8" name="Table 7">
                <a:extLst>
                  <a:ext uri="{FF2B5EF4-FFF2-40B4-BE49-F238E27FC236}">
                    <a16:creationId xmlns:a16="http://schemas.microsoft.com/office/drawing/2014/main" id="{CD977AAD-BEF8-577C-9720-CC222C7F85D6}"/>
                  </a:ext>
                </a:extLst>
              </p:cNvPr>
              <p:cNvGraphicFramePr>
                <a:graphicFrameLocks noGrp="1"/>
              </p:cNvGraphicFramePr>
              <p:nvPr>
                <p:extLst>
                  <p:ext uri="{D42A27DB-BD31-4B8C-83A1-F6EECF244321}">
                    <p14:modId xmlns:p14="http://schemas.microsoft.com/office/powerpoint/2010/main" val="2183917669"/>
                  </p:ext>
                </p:extLst>
              </p:nvPr>
            </p:nvGraphicFramePr>
            <p:xfrm>
              <a:off x="5720848" y="3026827"/>
              <a:ext cx="2286000" cy="320040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3309318942"/>
                        </a:ext>
                      </a:extLst>
                    </a:gridCol>
                  </a:tblGrid>
                  <a:tr h="640080">
                    <a:tc>
                      <a:txBody>
                        <a:bodyPr/>
                        <a:lstStyle/>
                        <a:p>
                          <a:pPr algn="ctr"/>
                          <a:r>
                            <a:rPr lang="en-US" sz="2000" dirty="0">
                              <a:ln>
                                <a:noFill/>
                              </a:ln>
                              <a:solidFill>
                                <a:schemeClr val="bg1"/>
                              </a:solidFill>
                            </a:rPr>
                            <a:t>Equation</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2B8147"/>
                        </a:solidFill>
                      </a:tcPr>
                    </a:tc>
                    <a:extLst>
                      <a:ext uri="{0D108BD9-81ED-4DB2-BD59-A6C34878D82A}">
                        <a16:rowId xmlns:a16="http://schemas.microsoft.com/office/drawing/2014/main" val="3300932481"/>
                      </a:ext>
                    </a:extLst>
                  </a:tr>
                  <a:tr h="640080">
                    <a:tc>
                      <a:txBody>
                        <a:bodyPr/>
                        <a:lstStyle/>
                        <a:p>
                          <a:pPr algn="ctr"/>
                          <a:r>
                            <a:rPr lang="en-US" sz="2000" b="0" i="1" dirty="0">
                              <a:ln>
                                <a:noFill/>
                              </a:ln>
                              <a:solidFill>
                                <a:srgbClr val="000000"/>
                              </a:solidFill>
                              <a:latin typeface="+mn-lt"/>
                            </a:rPr>
                            <a:t>f</a:t>
                          </a:r>
                          <a:r>
                            <a:rPr lang="en-US" sz="2000" b="0" i="0" dirty="0">
                              <a:ln>
                                <a:noFill/>
                              </a:ln>
                              <a:solidFill>
                                <a:srgbClr val="000000"/>
                              </a:solidFill>
                              <a:latin typeface="+mn-lt"/>
                            </a:rPr>
                            <a:t>(</a:t>
                          </a:r>
                          <a14:m>
                            <m:oMath xmlns:m="http://schemas.openxmlformats.org/officeDocument/2006/math">
                              <m:f>
                                <m:fPr>
                                  <m:ctrlPr>
                                    <a:rPr lang="en-US" sz="2000" b="0" i="1" smtClean="0">
                                      <a:ln>
                                        <a:noFill/>
                                      </a:ln>
                                      <a:solidFill>
                                        <a:srgbClr val="000000"/>
                                      </a:solidFill>
                                      <a:latin typeface="Cambria Math" panose="02040503050406030204" pitchFamily="18" charset="0"/>
                                    </a:rPr>
                                  </m:ctrlPr>
                                </m:fPr>
                                <m:num>
                                  <m:r>
                                    <a:rPr lang="en-US" sz="2000" b="0" i="1" smtClean="0">
                                      <a:ln>
                                        <a:noFill/>
                                      </a:ln>
                                      <a:solidFill>
                                        <a:srgbClr val="000000"/>
                                      </a:solidFill>
                                      <a:latin typeface="Cambria Math" panose="02040503050406030204" pitchFamily="18" charset="0"/>
                                    </a:rPr>
                                    <m:t>1</m:t>
                                  </m:r>
                                </m:num>
                                <m:den>
                                  <m:r>
                                    <a:rPr lang="en-US" sz="2000" b="0" i="1" smtClean="0">
                                      <a:ln>
                                        <a:noFill/>
                                      </a:ln>
                                      <a:solidFill>
                                        <a:srgbClr val="000000"/>
                                      </a:solidFill>
                                      <a:latin typeface="Cambria Math" panose="02040503050406030204" pitchFamily="18" charset="0"/>
                                    </a:rPr>
                                    <m:t>3</m:t>
                                  </m:r>
                                </m:den>
                              </m:f>
                            </m:oMath>
                          </a14:m>
                          <a:r>
                            <a:rPr lang="en-US" sz="2000" b="0" i="1" dirty="0">
                              <a:ln>
                                <a:noFill/>
                              </a:ln>
                              <a:solidFill>
                                <a:srgbClr val="000000"/>
                              </a:solidFill>
                              <a:latin typeface="+mn-lt"/>
                            </a:rPr>
                            <a:t>x</a:t>
                          </a:r>
                          <a:r>
                            <a:rPr lang="en-US" sz="2000" b="0" i="0" dirty="0">
                              <a:ln>
                                <a:noFill/>
                              </a:ln>
                              <a:solidFill>
                                <a:srgbClr val="000000"/>
                              </a:solidFill>
                              <a:latin typeface="+mn-lt"/>
                            </a:rPr>
                            <a:t>)</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38973791"/>
                      </a:ext>
                    </a:extLst>
                  </a:tr>
                  <a:tr h="640080">
                    <a:tc>
                      <a:txBody>
                        <a:bodyPr/>
                        <a:lstStyle/>
                        <a:p>
                          <a:pPr algn="ctr"/>
                          <a:r>
                            <a:rPr lang="en-US" sz="2000" b="0" i="0" dirty="0">
                              <a:ln>
                                <a:noFill/>
                              </a:ln>
                              <a:solidFill>
                                <a:srgbClr val="000000"/>
                              </a:solidFill>
                              <a:latin typeface="+mn-lt"/>
                            </a:rPr>
                            <a:t>2</a:t>
                          </a:r>
                          <a:r>
                            <a:rPr lang="en-US" sz="2000" b="0" i="1" dirty="0">
                              <a:ln>
                                <a:noFill/>
                              </a:ln>
                              <a:solidFill>
                                <a:srgbClr val="000000"/>
                              </a:solidFill>
                              <a:latin typeface="+mn-lt"/>
                            </a:rPr>
                            <a:t>f</a:t>
                          </a:r>
                          <a:r>
                            <a:rPr lang="en-US" sz="2000" b="0" i="0" dirty="0">
                              <a:ln>
                                <a:noFill/>
                              </a:ln>
                              <a:solidFill>
                                <a:srgbClr val="000000"/>
                              </a:solidFill>
                              <a:latin typeface="+mn-lt"/>
                            </a:rPr>
                            <a:t>(</a:t>
                          </a:r>
                          <a:r>
                            <a:rPr lang="en-US" sz="2000" b="0" i="1" dirty="0">
                              <a:ln>
                                <a:noFill/>
                              </a:ln>
                              <a:solidFill>
                                <a:srgbClr val="000000"/>
                              </a:solidFill>
                              <a:latin typeface="+mn-lt"/>
                            </a:rPr>
                            <a:t>x</a:t>
                          </a:r>
                          <a:r>
                            <a:rPr lang="en-US" sz="2000" b="0" i="0" dirty="0">
                              <a:ln>
                                <a:noFill/>
                              </a:ln>
                              <a:solidFill>
                                <a:srgbClr val="000000"/>
                              </a:solidFill>
                              <a:latin typeface="+mn-lt"/>
                            </a:rPr>
                            <a:t>)</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03849819"/>
                      </a:ext>
                    </a:extLst>
                  </a:tr>
                  <a:tr h="640080">
                    <a:tc>
                      <a:txBody>
                        <a:bodyPr/>
                        <a:lstStyle/>
                        <a:p>
                          <a:pPr algn="ctr"/>
                          <a:r>
                            <a:rPr lang="en-US" sz="2000" b="0" i="1" dirty="0">
                              <a:ln>
                                <a:noFill/>
                              </a:ln>
                              <a:solidFill>
                                <a:srgbClr val="000000"/>
                              </a:solidFill>
                              <a:latin typeface="+mn-lt"/>
                            </a:rPr>
                            <a:t>f</a:t>
                          </a:r>
                          <a:r>
                            <a:rPr lang="en-US" sz="2000" b="0" i="0" dirty="0">
                              <a:ln>
                                <a:noFill/>
                              </a:ln>
                              <a:solidFill>
                                <a:srgbClr val="000000"/>
                              </a:solidFill>
                              <a:latin typeface="+mn-lt"/>
                            </a:rPr>
                            <a:t>(</a:t>
                          </a:r>
                          <a:r>
                            <a:rPr lang="en-US" sz="2000" b="0" i="1" dirty="0">
                              <a:ln>
                                <a:noFill/>
                              </a:ln>
                              <a:solidFill>
                                <a:srgbClr val="000000"/>
                              </a:solidFill>
                              <a:latin typeface="+mn-lt"/>
                            </a:rPr>
                            <a:t>x</a:t>
                          </a:r>
                          <a:r>
                            <a:rPr lang="en-US" sz="2000" b="0" i="0" dirty="0">
                              <a:ln>
                                <a:noFill/>
                              </a:ln>
                              <a:solidFill>
                                <a:srgbClr val="000000"/>
                              </a:solidFill>
                              <a:latin typeface="+mn-lt"/>
                            </a:rPr>
                            <a:t> − 7)</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841092351"/>
                      </a:ext>
                    </a:extLst>
                  </a:tr>
                  <a:tr h="640080">
                    <a:tc>
                      <a:txBody>
                        <a:bodyPr/>
                        <a:lstStyle/>
                        <a:p>
                          <a:pPr algn="ctr"/>
                          <a:r>
                            <a:rPr lang="en-US" sz="2000" b="0" i="1" dirty="0">
                              <a:ln>
                                <a:noFill/>
                              </a:ln>
                              <a:solidFill>
                                <a:srgbClr val="000000"/>
                              </a:solidFill>
                              <a:latin typeface="+mn-lt"/>
                            </a:rPr>
                            <a:t>f</a:t>
                          </a:r>
                          <a:r>
                            <a:rPr lang="en-US" sz="2000" b="0" i="0" dirty="0">
                              <a:ln>
                                <a:noFill/>
                              </a:ln>
                              <a:solidFill>
                                <a:srgbClr val="000000"/>
                              </a:solidFill>
                              <a:latin typeface="+mn-lt"/>
                            </a:rPr>
                            <a:t>(</a:t>
                          </a:r>
                          <a:r>
                            <a:rPr lang="en-US" sz="2000" b="0" i="1" dirty="0">
                              <a:ln>
                                <a:noFill/>
                              </a:ln>
                              <a:solidFill>
                                <a:srgbClr val="000000"/>
                              </a:solidFill>
                              <a:latin typeface="+mn-lt"/>
                            </a:rPr>
                            <a:t>x</a:t>
                          </a:r>
                          <a:r>
                            <a:rPr lang="en-US" sz="2000" b="0" i="0" dirty="0">
                              <a:ln>
                                <a:noFill/>
                              </a:ln>
                              <a:solidFill>
                                <a:srgbClr val="000000"/>
                              </a:solidFill>
                              <a:latin typeface="+mn-lt"/>
                            </a:rPr>
                            <a:t>) + 8</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662298398"/>
                      </a:ext>
                    </a:extLst>
                  </a:tr>
                </a:tbl>
              </a:graphicData>
            </a:graphic>
          </p:graphicFrame>
        </mc:Choice>
        <mc:Fallback xmlns="">
          <p:graphicFrame>
            <p:nvGraphicFramePr>
              <p:cNvPr id="8" name="Table 7">
                <a:extLst>
                  <a:ext uri="{FF2B5EF4-FFF2-40B4-BE49-F238E27FC236}">
                    <a16:creationId xmlns:a16="http://schemas.microsoft.com/office/drawing/2014/main" id="{CD977AAD-BEF8-577C-9720-CC222C7F85D6}"/>
                  </a:ext>
                </a:extLst>
              </p:cNvPr>
              <p:cNvGraphicFramePr>
                <a:graphicFrameLocks noGrp="1"/>
              </p:cNvGraphicFramePr>
              <p:nvPr>
                <p:extLst>
                  <p:ext uri="{D42A27DB-BD31-4B8C-83A1-F6EECF244321}">
                    <p14:modId xmlns:p14="http://schemas.microsoft.com/office/powerpoint/2010/main" val="2183917669"/>
                  </p:ext>
                </p:extLst>
              </p:nvPr>
            </p:nvGraphicFramePr>
            <p:xfrm>
              <a:off x="5720848" y="3026827"/>
              <a:ext cx="2286000" cy="320040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3309318942"/>
                        </a:ext>
                      </a:extLst>
                    </a:gridCol>
                  </a:tblGrid>
                  <a:tr h="640080">
                    <a:tc>
                      <a:txBody>
                        <a:bodyPr/>
                        <a:lstStyle/>
                        <a:p>
                          <a:pPr algn="ctr"/>
                          <a:r>
                            <a:rPr lang="en-US" sz="2000" dirty="0">
                              <a:ln>
                                <a:noFill/>
                              </a:ln>
                              <a:solidFill>
                                <a:schemeClr val="bg1"/>
                              </a:solidFill>
                            </a:rPr>
                            <a:t>Equation</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2B8147"/>
                        </a:solidFill>
                      </a:tcPr>
                    </a:tc>
                    <a:extLst>
                      <a:ext uri="{0D108BD9-81ED-4DB2-BD59-A6C34878D82A}">
                        <a16:rowId xmlns:a16="http://schemas.microsoft.com/office/drawing/2014/main" val="3300932481"/>
                      </a:ext>
                    </a:extLst>
                  </a:tr>
                  <a:tr h="640080">
                    <a:tc>
                      <a:txBody>
                        <a:bodyPr/>
                        <a:lstStyle/>
                        <a:p>
                          <a:endParaRPr lang="en-US"/>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blipFill>
                          <a:blip r:embed="rId4"/>
                          <a:stretch>
                            <a:fillRect l="-266" t="-100952" r="-532" b="-302857"/>
                          </a:stretch>
                        </a:blipFill>
                      </a:tcPr>
                    </a:tc>
                    <a:extLst>
                      <a:ext uri="{0D108BD9-81ED-4DB2-BD59-A6C34878D82A}">
                        <a16:rowId xmlns:a16="http://schemas.microsoft.com/office/drawing/2014/main" val="3638973791"/>
                      </a:ext>
                    </a:extLst>
                  </a:tr>
                  <a:tr h="640080">
                    <a:tc>
                      <a:txBody>
                        <a:bodyPr/>
                        <a:lstStyle/>
                        <a:p>
                          <a:pPr algn="ctr"/>
                          <a:r>
                            <a:rPr lang="en-US" sz="2000" b="0" i="0" dirty="0">
                              <a:ln>
                                <a:noFill/>
                              </a:ln>
                              <a:solidFill>
                                <a:srgbClr val="000000"/>
                              </a:solidFill>
                              <a:latin typeface="+mn-lt"/>
                            </a:rPr>
                            <a:t>2</a:t>
                          </a:r>
                          <a:r>
                            <a:rPr lang="en-US" sz="2000" b="0" i="1" dirty="0">
                              <a:ln>
                                <a:noFill/>
                              </a:ln>
                              <a:solidFill>
                                <a:srgbClr val="000000"/>
                              </a:solidFill>
                              <a:latin typeface="+mn-lt"/>
                            </a:rPr>
                            <a:t>f</a:t>
                          </a:r>
                          <a:r>
                            <a:rPr lang="en-US" sz="2000" b="0" i="0" dirty="0">
                              <a:ln>
                                <a:noFill/>
                              </a:ln>
                              <a:solidFill>
                                <a:srgbClr val="000000"/>
                              </a:solidFill>
                              <a:latin typeface="+mn-lt"/>
                            </a:rPr>
                            <a:t>(</a:t>
                          </a:r>
                          <a:r>
                            <a:rPr lang="en-US" sz="2000" b="0" i="1" dirty="0">
                              <a:ln>
                                <a:noFill/>
                              </a:ln>
                              <a:solidFill>
                                <a:srgbClr val="000000"/>
                              </a:solidFill>
                              <a:latin typeface="+mn-lt"/>
                            </a:rPr>
                            <a:t>x</a:t>
                          </a:r>
                          <a:r>
                            <a:rPr lang="en-US" sz="2000" b="0" i="0" dirty="0">
                              <a:ln>
                                <a:noFill/>
                              </a:ln>
                              <a:solidFill>
                                <a:srgbClr val="000000"/>
                              </a:solidFill>
                              <a:latin typeface="+mn-lt"/>
                            </a:rPr>
                            <a:t>)</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03849819"/>
                      </a:ext>
                    </a:extLst>
                  </a:tr>
                  <a:tr h="640080">
                    <a:tc>
                      <a:txBody>
                        <a:bodyPr/>
                        <a:lstStyle/>
                        <a:p>
                          <a:pPr algn="ctr"/>
                          <a:r>
                            <a:rPr lang="en-US" sz="2000" b="0" i="1" dirty="0">
                              <a:ln>
                                <a:noFill/>
                              </a:ln>
                              <a:solidFill>
                                <a:srgbClr val="000000"/>
                              </a:solidFill>
                              <a:latin typeface="+mn-lt"/>
                            </a:rPr>
                            <a:t>f</a:t>
                          </a:r>
                          <a:r>
                            <a:rPr lang="en-US" sz="2000" b="0" i="0" dirty="0">
                              <a:ln>
                                <a:noFill/>
                              </a:ln>
                              <a:solidFill>
                                <a:srgbClr val="000000"/>
                              </a:solidFill>
                              <a:latin typeface="+mn-lt"/>
                            </a:rPr>
                            <a:t>(</a:t>
                          </a:r>
                          <a:r>
                            <a:rPr lang="en-US" sz="2000" b="0" i="1" dirty="0">
                              <a:ln>
                                <a:noFill/>
                              </a:ln>
                              <a:solidFill>
                                <a:srgbClr val="000000"/>
                              </a:solidFill>
                              <a:latin typeface="+mn-lt"/>
                            </a:rPr>
                            <a:t>x</a:t>
                          </a:r>
                          <a:r>
                            <a:rPr lang="en-US" sz="2000" b="0" i="0" dirty="0">
                              <a:ln>
                                <a:noFill/>
                              </a:ln>
                              <a:solidFill>
                                <a:srgbClr val="000000"/>
                              </a:solidFill>
                              <a:latin typeface="+mn-lt"/>
                            </a:rPr>
                            <a:t> − 7)</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841092351"/>
                      </a:ext>
                    </a:extLst>
                  </a:tr>
                  <a:tr h="640080">
                    <a:tc>
                      <a:txBody>
                        <a:bodyPr/>
                        <a:lstStyle/>
                        <a:p>
                          <a:pPr algn="ctr"/>
                          <a:r>
                            <a:rPr lang="en-US" sz="2000" b="0" i="1" dirty="0">
                              <a:ln>
                                <a:noFill/>
                              </a:ln>
                              <a:solidFill>
                                <a:srgbClr val="000000"/>
                              </a:solidFill>
                              <a:latin typeface="+mn-lt"/>
                            </a:rPr>
                            <a:t>f</a:t>
                          </a:r>
                          <a:r>
                            <a:rPr lang="en-US" sz="2000" b="0" i="0" dirty="0">
                              <a:ln>
                                <a:noFill/>
                              </a:ln>
                              <a:solidFill>
                                <a:srgbClr val="000000"/>
                              </a:solidFill>
                              <a:latin typeface="+mn-lt"/>
                            </a:rPr>
                            <a:t>(</a:t>
                          </a:r>
                          <a:r>
                            <a:rPr lang="en-US" sz="2000" b="0" i="1" dirty="0">
                              <a:ln>
                                <a:noFill/>
                              </a:ln>
                              <a:solidFill>
                                <a:srgbClr val="000000"/>
                              </a:solidFill>
                              <a:latin typeface="+mn-lt"/>
                            </a:rPr>
                            <a:t>x</a:t>
                          </a:r>
                          <a:r>
                            <a:rPr lang="en-US" sz="2000" b="0" i="0" dirty="0">
                              <a:ln>
                                <a:noFill/>
                              </a:ln>
                              <a:solidFill>
                                <a:srgbClr val="000000"/>
                              </a:solidFill>
                              <a:latin typeface="+mn-lt"/>
                            </a:rPr>
                            <a:t>) + 8</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662298398"/>
                      </a:ext>
                    </a:extLst>
                  </a:tr>
                </a:tbl>
              </a:graphicData>
            </a:graphic>
          </p:graphicFrame>
        </mc:Fallback>
      </mc:AlternateContent>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54</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301</a:t>
            </a:r>
          </a:p>
        </p:txBody>
      </p:sp>
    </p:spTree>
    <p:extLst>
      <p:ext uri="{BB962C8B-B14F-4D97-AF65-F5344CB8AC3E}">
        <p14:creationId xmlns:p14="http://schemas.microsoft.com/office/powerpoint/2010/main" val="292562672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0AD9A1-EF00-2824-80BA-7958E446829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2450E22-BA7A-1EB0-C485-009C18ABD8EA}"/>
              </a:ext>
            </a:extLst>
          </p:cNvPr>
          <p:cNvSpPr>
            <a:spLocks noGrp="1"/>
          </p:cNvSpPr>
          <p:nvPr>
            <p:ph type="title"/>
          </p:nvPr>
        </p:nvSpPr>
        <p:spPr/>
        <p:txBody>
          <a:bodyPr/>
          <a:lstStyle/>
          <a:p>
            <a:pPr algn="l"/>
            <a:r>
              <a:rPr lang="en-US" b="1" dirty="0"/>
              <a:t>Show Me What You’ve Got! </a:t>
            </a:r>
            <a:r>
              <a:rPr lang="en-US" sz="2000" b="1" dirty="0">
                <a:solidFill>
                  <a:schemeClr val="bg1"/>
                </a:solidFill>
              </a:rPr>
              <a:t>(2 of 4)</a:t>
            </a:r>
          </a:p>
        </p:txBody>
      </p:sp>
      <p:sp>
        <p:nvSpPr>
          <p:cNvPr id="9" name="Text Placeholder 2">
            <a:extLst>
              <a:ext uri="{FF2B5EF4-FFF2-40B4-BE49-F238E27FC236}">
                <a16:creationId xmlns:a16="http://schemas.microsoft.com/office/drawing/2014/main" id="{55FC3408-36F1-2592-27C5-DCE179EDDB16}"/>
              </a:ext>
            </a:extLst>
          </p:cNvPr>
          <p:cNvSpPr txBox="1">
            <a:spLocks/>
          </p:cNvSpPr>
          <p:nvPr/>
        </p:nvSpPr>
        <p:spPr>
          <a:xfrm>
            <a:off x="777240" y="1616150"/>
            <a:ext cx="9887216" cy="5030456"/>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Aft>
                <a:spcPts val="1200"/>
              </a:spcAft>
              <a:buNone/>
            </a:pPr>
            <a:r>
              <a:rPr lang="en-US" sz="2800" dirty="0">
                <a:solidFill>
                  <a:srgbClr val="000000"/>
                </a:solidFill>
              </a:rPr>
              <a:t>Match each transformed graph to the equation in the table, written in terms of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a:t>
            </a:r>
            <a:endParaRPr lang="en-US" sz="2800" b="0" i="0" u="none" strike="noStrike" baseline="0" dirty="0">
              <a:solidFill>
                <a:srgbClr val="000000"/>
              </a:solidFill>
            </a:endParaRPr>
          </a:p>
          <a:p>
            <a:pPr marL="514350" indent="-514350">
              <a:buFont typeface="+mj-lt"/>
              <a:buAutoNum type="arabicPeriod"/>
            </a:pPr>
            <a:r>
              <a:rPr lang="en-US" sz="2800" b="0" u="none" strike="noStrike" baseline="0" dirty="0">
                <a:solidFill>
                  <a:srgbClr val="000000"/>
                </a:solidFill>
              </a:rPr>
              <a:t> </a:t>
            </a:r>
            <a:r>
              <a:rPr lang="en-US" sz="2800" b="0" i="1" u="none" strike="noStrike" baseline="0" dirty="0">
                <a:solidFill>
                  <a:srgbClr val="000000"/>
                </a:solidFill>
              </a:rPr>
              <a:t>k</a:t>
            </a:r>
            <a:r>
              <a:rPr lang="en-US" sz="2800" b="0" u="none" strike="noStrike" baseline="0" dirty="0">
                <a:solidFill>
                  <a:srgbClr val="000000"/>
                </a:solidFill>
              </a:rPr>
              <a:t>(</a:t>
            </a:r>
            <a:r>
              <a:rPr lang="en-US" sz="2800" b="0" i="1" u="none" strike="noStrike" baseline="0" dirty="0">
                <a:solidFill>
                  <a:srgbClr val="000000"/>
                </a:solidFill>
              </a:rPr>
              <a:t>x</a:t>
            </a:r>
            <a:r>
              <a:rPr lang="en-US" sz="2800" b="0" u="none" strike="noStrike" baseline="0" dirty="0">
                <a:solidFill>
                  <a:srgbClr val="000000"/>
                </a:solidFill>
              </a:rPr>
              <a:t>) =</a:t>
            </a:r>
            <a:r>
              <a:rPr lang="en-US" sz="2800" b="0" i="0" u="none" strike="noStrike" baseline="0" dirty="0">
                <a:solidFill>
                  <a:srgbClr val="000000"/>
                </a:solidFill>
              </a:rPr>
              <a:t> ___________________</a:t>
            </a:r>
            <a:br>
              <a:rPr lang="en-US" sz="2800" b="0" i="0" u="none" strike="noStrike" baseline="0" dirty="0">
                <a:solidFill>
                  <a:srgbClr val="000000"/>
                </a:solidFill>
              </a:rPr>
            </a:br>
            <a:endParaRPr lang="en-US" sz="2800" b="0" i="0" u="none" strike="noStrike" baseline="0" dirty="0">
              <a:solidFill>
                <a:srgbClr val="000000"/>
              </a:solidFill>
            </a:endParaRPr>
          </a:p>
          <a:p>
            <a:pPr marL="514350" indent="-514350">
              <a:buFont typeface="+mj-lt"/>
              <a:buAutoNum type="arabicPeriod"/>
            </a:pPr>
            <a:r>
              <a:rPr lang="en-US" sz="2800" dirty="0">
                <a:solidFill>
                  <a:srgbClr val="000000"/>
                </a:solidFill>
              </a:rPr>
              <a:t> </a:t>
            </a:r>
            <a:r>
              <a:rPr lang="en-US" sz="2800" i="1" dirty="0">
                <a:solidFill>
                  <a:srgbClr val="000000"/>
                </a:solidFill>
              </a:rPr>
              <a:t>h</a:t>
            </a:r>
            <a:r>
              <a:rPr lang="en-US" sz="2800" dirty="0">
                <a:solidFill>
                  <a:srgbClr val="000000"/>
                </a:solidFill>
              </a:rPr>
              <a:t>(</a:t>
            </a:r>
            <a:r>
              <a:rPr lang="en-US" sz="2800" i="1" dirty="0">
                <a:solidFill>
                  <a:srgbClr val="000000"/>
                </a:solidFill>
              </a:rPr>
              <a:t>x</a:t>
            </a:r>
            <a:r>
              <a:rPr lang="en-US" sz="2800" dirty="0">
                <a:solidFill>
                  <a:srgbClr val="000000"/>
                </a:solidFill>
              </a:rPr>
              <a:t>) = ___________________</a:t>
            </a:r>
            <a:br>
              <a:rPr lang="en-US" sz="2800" dirty="0">
                <a:solidFill>
                  <a:srgbClr val="000000"/>
                </a:solidFill>
              </a:rPr>
            </a:br>
            <a:endParaRPr lang="en-US" sz="2800" dirty="0">
              <a:solidFill>
                <a:srgbClr val="000000"/>
              </a:solidFill>
            </a:endParaRPr>
          </a:p>
          <a:p>
            <a:pPr marL="514350" indent="-514350">
              <a:buFont typeface="+mj-lt"/>
              <a:buAutoNum type="arabicPeriod"/>
            </a:pPr>
            <a:r>
              <a:rPr lang="en-US" sz="2800" b="0" u="none" strike="noStrike" baseline="0" dirty="0">
                <a:solidFill>
                  <a:srgbClr val="000000"/>
                </a:solidFill>
              </a:rPr>
              <a:t> </a:t>
            </a:r>
            <a:r>
              <a:rPr lang="en-US" sz="2800" b="0" i="1" u="none" strike="noStrike" baseline="0" dirty="0">
                <a:solidFill>
                  <a:srgbClr val="000000"/>
                </a:solidFill>
              </a:rPr>
              <a:t>g</a:t>
            </a:r>
            <a:r>
              <a:rPr lang="en-US" sz="2800" b="0" u="none" strike="noStrike" baseline="0" dirty="0">
                <a:solidFill>
                  <a:srgbClr val="000000"/>
                </a:solidFill>
              </a:rPr>
              <a:t>(</a:t>
            </a:r>
            <a:r>
              <a:rPr lang="en-US" sz="2800" b="0" i="1" u="none" strike="noStrike" baseline="0" dirty="0">
                <a:solidFill>
                  <a:srgbClr val="000000"/>
                </a:solidFill>
              </a:rPr>
              <a:t>x</a:t>
            </a:r>
            <a:r>
              <a:rPr lang="en-US" sz="2800" b="0" u="none" strike="noStrike" baseline="0" dirty="0">
                <a:solidFill>
                  <a:srgbClr val="000000"/>
                </a:solidFill>
              </a:rPr>
              <a:t>) =</a:t>
            </a:r>
            <a:r>
              <a:rPr lang="en-US" sz="2800" b="0" i="0" u="none" strike="noStrike" baseline="0" dirty="0">
                <a:solidFill>
                  <a:srgbClr val="000000"/>
                </a:solidFill>
              </a:rPr>
              <a:t> ___________________</a:t>
            </a:r>
            <a:br>
              <a:rPr lang="en-US" sz="2800" b="0" i="0" u="none" strike="noStrike" baseline="0" dirty="0">
                <a:solidFill>
                  <a:srgbClr val="000000"/>
                </a:solidFill>
              </a:rPr>
            </a:br>
            <a:endParaRPr lang="en-US" sz="2800" b="0" i="0" u="none" strike="noStrike" baseline="0" dirty="0">
              <a:solidFill>
                <a:srgbClr val="000000"/>
              </a:solidFill>
            </a:endParaRPr>
          </a:p>
          <a:p>
            <a:pPr marL="514350" indent="-514350">
              <a:buFont typeface="+mj-lt"/>
              <a:buAutoNum type="arabicPeriod"/>
            </a:pPr>
            <a:r>
              <a:rPr lang="en-US" sz="2800" dirty="0">
                <a:solidFill>
                  <a:srgbClr val="000000"/>
                </a:solidFill>
              </a:rPr>
              <a:t> </a:t>
            </a:r>
            <a:r>
              <a:rPr lang="en-US" sz="2800" i="1" dirty="0">
                <a:solidFill>
                  <a:srgbClr val="000000"/>
                </a:solidFill>
              </a:rPr>
              <a:t>j</a:t>
            </a:r>
            <a:r>
              <a:rPr lang="en-US" sz="2800" dirty="0">
                <a:solidFill>
                  <a:srgbClr val="000000"/>
                </a:solidFill>
              </a:rPr>
              <a:t>(</a:t>
            </a:r>
            <a:r>
              <a:rPr lang="en-US" sz="2800" i="1" dirty="0">
                <a:solidFill>
                  <a:srgbClr val="000000"/>
                </a:solidFill>
              </a:rPr>
              <a:t>x</a:t>
            </a:r>
            <a:r>
              <a:rPr lang="en-US" sz="2800" dirty="0">
                <a:solidFill>
                  <a:srgbClr val="000000"/>
                </a:solidFill>
              </a:rPr>
              <a:t>) = ____________________</a:t>
            </a:r>
            <a:endParaRPr lang="en-US" sz="2800" b="0" i="0" u="none" strike="noStrike" baseline="0" dirty="0">
              <a:solidFill>
                <a:srgbClr val="000000"/>
              </a:solidFill>
            </a:endParaRPr>
          </a:p>
          <a:p>
            <a:pPr marL="0" indent="0" algn="ctr">
              <a:buNone/>
            </a:pPr>
            <a:endParaRPr lang="en-US" sz="2800" dirty="0">
              <a:solidFill>
                <a:srgbClr val="000000"/>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55</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301</a:t>
            </a:r>
          </a:p>
        </p:txBody>
      </p:sp>
      <p:sp>
        <p:nvSpPr>
          <p:cNvPr id="1011" name="Answer 1011"/>
          <p:cNvSpPr txBox="1"/>
          <p:nvPr/>
        </p:nvSpPr>
        <p:spPr>
          <a:xfrm>
            <a:off x="6000750" y="2578100"/>
            <a:ext cx="27940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f(x) + 8</a:t>
            </a:r>
          </a:p>
        </p:txBody>
      </p:sp>
      <p:sp>
        <p:nvSpPr>
          <p:cNvPr id="1012" name="Answer 1012"/>
          <p:cNvSpPr txBox="1"/>
          <p:nvPr/>
        </p:nvSpPr>
        <p:spPr>
          <a:xfrm>
            <a:off x="6000750" y="2997200"/>
            <a:ext cx="27940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2f(x)</a:t>
            </a:r>
          </a:p>
        </p:txBody>
      </p:sp>
      <p:sp>
        <p:nvSpPr>
          <p:cNvPr id="1013" name="Answer 1013"/>
          <p:cNvSpPr txBox="1"/>
          <p:nvPr/>
        </p:nvSpPr>
        <p:spPr>
          <a:xfrm>
            <a:off x="6000750" y="3416300"/>
            <a:ext cx="27940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f((1/3)x)</a:t>
            </a:r>
          </a:p>
        </p:txBody>
      </p:sp>
      <p:sp>
        <p:nvSpPr>
          <p:cNvPr id="1014" name="Answer 1014"/>
          <p:cNvSpPr txBox="1"/>
          <p:nvPr/>
        </p:nvSpPr>
        <p:spPr>
          <a:xfrm>
            <a:off x="6000750" y="3835400"/>
            <a:ext cx="27940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f(x − 7)</a:t>
            </a:r>
          </a:p>
        </p:txBody>
      </p:sp>
    </p:spTree>
    <p:extLst>
      <p:ext uri="{BB962C8B-B14F-4D97-AF65-F5344CB8AC3E}">
        <p14:creationId xmlns:p14="http://schemas.microsoft.com/office/powerpoint/2010/main" val="1043301982"/>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1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01872C-523C-E659-D1F9-B674B725EF6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3B829B5-6836-78EE-82BD-288EBC559C6E}"/>
              </a:ext>
            </a:extLst>
          </p:cNvPr>
          <p:cNvSpPr>
            <a:spLocks noGrp="1"/>
          </p:cNvSpPr>
          <p:nvPr>
            <p:ph type="title"/>
          </p:nvPr>
        </p:nvSpPr>
        <p:spPr/>
        <p:txBody>
          <a:bodyPr/>
          <a:lstStyle/>
          <a:p>
            <a:pPr algn="l"/>
            <a:r>
              <a:rPr lang="en-US" b="1" dirty="0"/>
              <a:t>Show Me What You’ve Got! </a:t>
            </a:r>
            <a:r>
              <a:rPr lang="en-US" sz="2000" b="1" dirty="0">
                <a:solidFill>
                  <a:schemeClr val="bg1"/>
                </a:solidFill>
              </a:rPr>
              <a:t>(3 of 4)</a:t>
            </a:r>
          </a:p>
        </p:txBody>
      </p:sp>
      <p:sp>
        <p:nvSpPr>
          <p:cNvPr id="9" name="Text Placeholder 2">
            <a:extLst>
              <a:ext uri="{FF2B5EF4-FFF2-40B4-BE49-F238E27FC236}">
                <a16:creationId xmlns:a16="http://schemas.microsoft.com/office/drawing/2014/main" id="{65F72D48-161D-34EA-1092-F01297B5BAE2}"/>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answer the Essential Question and summarize our learning from the Talk the Talk!</a:t>
            </a:r>
          </a:p>
          <a:p>
            <a:pPr marL="0" indent="0" algn="l">
              <a:buNone/>
            </a:pPr>
            <a:endParaRPr lang="en-US" sz="2800" dirty="0">
              <a:solidFill>
                <a:srgbClr val="000000"/>
              </a:solidFill>
            </a:endParaRPr>
          </a:p>
          <a:p>
            <a:pPr marL="0" indent="0" algn="l">
              <a:buNone/>
            </a:pPr>
            <a:endParaRPr lang="en-US" sz="2800" dirty="0">
              <a:solidFill>
                <a:srgbClr val="000000"/>
              </a:solidFill>
            </a:endParaRPr>
          </a:p>
          <a:p>
            <a:pPr marL="0" indent="0">
              <a:buNone/>
            </a:pPr>
            <a:r>
              <a:rPr lang="en-US" sz="2800" b="1" dirty="0">
                <a:solidFill>
                  <a:srgbClr val="000000"/>
                </a:solidFill>
              </a:rPr>
              <a:t>Essential Question: </a:t>
            </a:r>
            <a:r>
              <a:rPr lang="en-US" sz="2800" dirty="0">
                <a:solidFill>
                  <a:srgbClr val="000000"/>
                </a:solidFill>
              </a:rPr>
              <a:t>What effect do horizontal transformations have on linear functions? How do they compare to vertical transformations?</a:t>
            </a:r>
          </a:p>
          <a:p>
            <a:pPr marL="0" indent="0">
              <a:buNone/>
            </a:pPr>
            <a:endParaRPr lang="en-US" sz="2800" b="0" i="0" u="none" strike="noStrike" baseline="0" dirty="0">
              <a:solidFill>
                <a:srgbClr val="000000"/>
              </a:solidFill>
            </a:endParaRPr>
          </a:p>
        </p:txBody>
      </p:sp>
      <p:pic>
        <p:nvPicPr>
          <p:cNvPr id="2" name="Picture 1">
            <a:extLst>
              <a:ext uri="{FF2B5EF4-FFF2-40B4-BE49-F238E27FC236}">
                <a16:creationId xmlns:a16="http://schemas.microsoft.com/office/drawing/2014/main" id="{0F1413F2-FA04-568B-DA09-D35AB0EC72C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174023"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56</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301</a:t>
            </a:r>
          </a:p>
        </p:txBody>
      </p:sp>
    </p:spTree>
    <p:extLst>
      <p:ext uri="{BB962C8B-B14F-4D97-AF65-F5344CB8AC3E}">
        <p14:creationId xmlns:p14="http://schemas.microsoft.com/office/powerpoint/2010/main" val="58301444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01872C-523C-E659-D1F9-B674B725EF6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3B829B5-6836-78EE-82BD-288EBC559C6E}"/>
              </a:ext>
            </a:extLst>
          </p:cNvPr>
          <p:cNvSpPr>
            <a:spLocks noGrp="1"/>
          </p:cNvSpPr>
          <p:nvPr>
            <p:ph type="title"/>
          </p:nvPr>
        </p:nvSpPr>
        <p:spPr/>
        <p:txBody>
          <a:bodyPr/>
          <a:lstStyle/>
          <a:p>
            <a:pPr algn="l"/>
            <a:r>
              <a:rPr lang="en-US" b="1" dirty="0"/>
              <a:t>Show Me What You’ve Got! </a:t>
            </a:r>
            <a:r>
              <a:rPr lang="en-US" sz="2000" b="1" dirty="0">
                <a:solidFill>
                  <a:schemeClr val="bg1"/>
                </a:solidFill>
              </a:rPr>
              <a:t>(4 of 4)</a:t>
            </a:r>
          </a:p>
        </p:txBody>
      </p:sp>
      <p:sp>
        <p:nvSpPr>
          <p:cNvPr id="9" name="Text Placeholder 2">
            <a:extLst>
              <a:ext uri="{FF2B5EF4-FFF2-40B4-BE49-F238E27FC236}">
                <a16:creationId xmlns:a16="http://schemas.microsoft.com/office/drawing/2014/main" id="{65F72D48-161D-34EA-1092-F01297B5BAE2}"/>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b="0" i="0" u="none" strike="noStrike" baseline="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57</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301</a:t>
            </a:r>
          </a:p>
        </p:txBody>
      </p:sp>
    </p:spTree>
    <p:extLst>
      <p:ext uri="{BB962C8B-B14F-4D97-AF65-F5344CB8AC3E}">
        <p14:creationId xmlns:p14="http://schemas.microsoft.com/office/powerpoint/2010/main" val="396640048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6526A4E-430A-7F6C-63B6-E74740858B16}"/>
              </a:ext>
            </a:extLst>
          </p:cNvPr>
          <p:cNvSpPr>
            <a:spLocks noGrp="1"/>
          </p:cNvSpPr>
          <p:nvPr>
            <p:ph type="title" idx="4294967295"/>
          </p:nvPr>
        </p:nvSpPr>
        <p:spPr>
          <a:xfrm>
            <a:off x="838200" y="-330926"/>
            <a:ext cx="10514013" cy="330926"/>
          </a:xfrm>
          <a:prstGeom prst="rect">
            <a:avLst/>
          </a:prstGeom>
        </p:spPr>
        <p:txBody>
          <a:bodyPr anchor="b"/>
          <a:lstStyle/>
          <a:p>
            <a:r>
              <a:rPr lang="en-US" sz="2000" dirty="0">
                <a:solidFill>
                  <a:schemeClr val="bg2"/>
                </a:solidFill>
              </a:rPr>
              <a:t>Prepare</a:t>
            </a:r>
          </a:p>
        </p:txBody>
      </p:sp>
      <p:sp>
        <p:nvSpPr>
          <p:cNvPr id="1006" name="Slide Number 10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59</a:t>
            </a:fld>
          </a:p>
        </p:txBody>
      </p:sp>
    </p:spTree>
    <p:extLst>
      <p:ext uri="{BB962C8B-B14F-4D97-AF65-F5344CB8AC3E}">
        <p14:creationId xmlns:p14="http://schemas.microsoft.com/office/powerpoint/2010/main" val="78456296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21C6DF-139C-D914-CA27-40434903786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89A76E7-5405-452B-A5DD-6B559DABE30F}"/>
              </a:ext>
            </a:extLst>
          </p:cNvPr>
          <p:cNvSpPr>
            <a:spLocks noGrp="1"/>
          </p:cNvSpPr>
          <p:nvPr>
            <p:ph type="title"/>
          </p:nvPr>
        </p:nvSpPr>
        <p:spPr/>
        <p:txBody>
          <a:bodyPr/>
          <a:lstStyle/>
          <a:p>
            <a:pPr algn="l"/>
            <a:r>
              <a:rPr lang="en-US" b="1" dirty="0"/>
              <a:t>Prepare for Module 2 Topic 2 Lesson 3</a:t>
            </a:r>
          </a:p>
        </p:txBody>
      </p:sp>
      <mc:AlternateContent xmlns:mc="http://schemas.openxmlformats.org/markup-compatibility/2006" xmlns:a14="http://schemas.microsoft.com/office/drawing/2010/main">
        <mc:Choice Requires="a14">
          <p:sp>
            <p:nvSpPr>
              <p:cNvPr id="2" name="Text Placeholder 2">
                <a:extLst>
                  <a:ext uri="{FF2B5EF4-FFF2-40B4-BE49-F238E27FC236}">
                    <a16:creationId xmlns:a16="http://schemas.microsoft.com/office/drawing/2014/main" id="{06890774-7848-58D0-0262-B11B4D8F7BE9}"/>
                  </a:ext>
                </a:extLst>
              </p:cNvPr>
              <p:cNvSpPr txBox="1">
                <a:spLocks/>
              </p:cNvSpPr>
              <p:nvPr/>
            </p:nvSpPr>
            <p:spPr>
              <a:xfrm>
                <a:off x="777240" y="1611086"/>
                <a:ext cx="9472546" cy="4580708"/>
              </a:xfrm>
              <a:prstGeom prst="rect">
                <a:avLst/>
              </a:prstGeom>
            </p:spPr>
            <p:txBody>
              <a:bodyPr lIns="91440" tIns="45720" rIns="91440" bIns="45720" anchor="t"/>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Aft>
                    <a:spcPts val="1200"/>
                  </a:spcAft>
                  <a:buNone/>
                </a:pPr>
                <a:r>
                  <a:rPr lang="en-US" sz="2800" dirty="0">
                    <a:solidFill>
                      <a:srgbClr val="000000"/>
                    </a:solidFill>
                  </a:rPr>
                  <a:t>Determine the reciprocal of each value.</a:t>
                </a:r>
              </a:p>
              <a:p>
                <a:pPr marL="0" indent="0">
                  <a:buNone/>
                </a:pPr>
                <a:r>
                  <a:rPr lang="en-US" sz="2800" dirty="0">
                    <a:solidFill>
                      <a:srgbClr val="000000"/>
                    </a:solidFill>
                  </a:rPr>
                  <a:t>1.  3				2.  −10 </a:t>
                </a:r>
              </a:p>
              <a:p>
                <a:pPr marL="0" indent="0">
                  <a:buNone/>
                </a:pPr>
                <a:br>
                  <a:rPr lang="en-US" sz="2800" dirty="0">
                    <a:solidFill>
                      <a:srgbClr val="000000"/>
                    </a:solidFill>
                  </a:rPr>
                </a:br>
                <a:endParaRPr lang="en-US" sz="2800" dirty="0">
                  <a:solidFill>
                    <a:srgbClr val="000000"/>
                  </a:solidFill>
                </a:endParaRPr>
              </a:p>
              <a:p>
                <a:pPr marL="0" indent="0">
                  <a:buNone/>
                </a:pPr>
                <a:r>
                  <a:rPr lang="en-US" sz="2800" b="0" i="0" u="none" strike="noStrike" baseline="0" dirty="0">
                    <a:solidFill>
                      <a:srgbClr val="000000"/>
                    </a:solidFill>
                  </a:rPr>
                  <a:t>3.  </a:t>
                </a:r>
                <a14:m>
                  <m:oMath xmlns:m="http://schemas.openxmlformats.org/officeDocument/2006/math">
                    <m:f>
                      <m:fPr>
                        <m:ctrlPr>
                          <a:rPr lang="en-US" sz="2800" b="0" i="1" u="none" strike="noStrike" baseline="0" smtClean="0">
                            <a:solidFill>
                              <a:srgbClr val="000000"/>
                            </a:solidFill>
                            <a:latin typeface="Cambria Math" panose="02040503050406030204" pitchFamily="18" charset="0"/>
                          </a:rPr>
                        </m:ctrlPr>
                      </m:fPr>
                      <m:num>
                        <m:r>
                          <a:rPr lang="en-US" sz="2800" b="0" i="1" u="none" strike="noStrike" baseline="0" smtClean="0">
                            <a:solidFill>
                              <a:srgbClr val="000000"/>
                            </a:solidFill>
                            <a:latin typeface="Cambria Math" panose="02040503050406030204" pitchFamily="18" charset="0"/>
                          </a:rPr>
                          <m:t>1</m:t>
                        </m:r>
                      </m:num>
                      <m:den>
                        <m:r>
                          <a:rPr lang="en-US" sz="2800" b="0" i="1" u="none" strike="noStrike" baseline="0" smtClean="0">
                            <a:solidFill>
                              <a:srgbClr val="000000"/>
                            </a:solidFill>
                            <a:latin typeface="Cambria Math" panose="02040503050406030204" pitchFamily="18" charset="0"/>
                          </a:rPr>
                          <m:t>5</m:t>
                        </m:r>
                      </m:den>
                    </m:f>
                  </m:oMath>
                </a14:m>
                <a:r>
                  <a:rPr lang="en-US" sz="2800" b="0" i="0" u="none" strike="noStrike" baseline="0" dirty="0">
                    <a:solidFill>
                      <a:srgbClr val="000000"/>
                    </a:solidFill>
                  </a:rPr>
                  <a:t>				4.  </a:t>
                </a:r>
                <a14:m>
                  <m:oMath xmlns:m="http://schemas.openxmlformats.org/officeDocument/2006/math">
                    <m:r>
                      <a:rPr lang="en-US" sz="2800" b="0" i="0" u="none" strike="noStrike" baseline="0" smtClean="0">
                        <a:solidFill>
                          <a:srgbClr val="000000"/>
                        </a:solidFill>
                        <a:latin typeface="Cambria Math" panose="02040503050406030204" pitchFamily="18" charset="0"/>
                      </a:rPr>
                      <m:t>−</m:t>
                    </m:r>
                    <m:f>
                      <m:fPr>
                        <m:ctrlPr>
                          <a:rPr lang="en-US" sz="2800" b="0" i="1" u="none" strike="noStrike" baseline="0" smtClean="0">
                            <a:solidFill>
                              <a:srgbClr val="000000"/>
                            </a:solidFill>
                            <a:latin typeface="Cambria Math" panose="02040503050406030204" pitchFamily="18" charset="0"/>
                          </a:rPr>
                        </m:ctrlPr>
                      </m:fPr>
                      <m:num>
                        <m:r>
                          <a:rPr lang="en-US" sz="2800" b="0" i="1" u="none" strike="noStrike" baseline="0" smtClean="0">
                            <a:solidFill>
                              <a:srgbClr val="000000"/>
                            </a:solidFill>
                            <a:latin typeface="Cambria Math" panose="02040503050406030204" pitchFamily="18" charset="0"/>
                          </a:rPr>
                          <m:t>5</m:t>
                        </m:r>
                      </m:num>
                      <m:den>
                        <m:r>
                          <a:rPr lang="en-US" sz="2800" b="0" i="1" u="none" strike="noStrike" baseline="0" smtClean="0">
                            <a:solidFill>
                              <a:srgbClr val="000000"/>
                            </a:solidFill>
                            <a:latin typeface="Cambria Math" panose="02040503050406030204" pitchFamily="18" charset="0"/>
                          </a:rPr>
                          <m:t>4</m:t>
                        </m:r>
                      </m:den>
                    </m:f>
                  </m:oMath>
                </a14:m>
                <a:endParaRPr lang="en-US" sz="2800" b="0" i="0" u="none" strike="noStrike" baseline="0" dirty="0">
                  <a:solidFill>
                    <a:srgbClr val="000000"/>
                  </a:solidFill>
                </a:endParaRPr>
              </a:p>
              <a:p>
                <a:pPr marL="0" indent="0">
                  <a:buNone/>
                </a:pPr>
                <a:br>
                  <a:rPr lang="en-US" sz="2800" b="0" i="0" u="none" strike="noStrike" baseline="0" dirty="0">
                    <a:solidFill>
                      <a:srgbClr val="000000"/>
                    </a:solidFill>
                  </a:rPr>
                </a:br>
                <a:endParaRPr lang="en-US" sz="2800" b="0" i="0" u="none" strike="noStrike" baseline="0" dirty="0">
                  <a:solidFill>
                    <a:srgbClr val="000000"/>
                  </a:solidFill>
                </a:endParaRPr>
              </a:p>
              <a:p>
                <a:pPr marL="0" indent="0">
                  <a:buNone/>
                </a:pPr>
                <a:r>
                  <a:rPr lang="en-US" sz="2800" dirty="0">
                    <a:solidFill>
                      <a:srgbClr val="000000"/>
                    </a:solidFill>
                  </a:rPr>
                  <a:t>5.  −</a:t>
                </a:r>
                <a:r>
                  <a:rPr lang="en-US" sz="2800" i="1" dirty="0">
                    <a:solidFill>
                      <a:srgbClr val="000000"/>
                    </a:solidFill>
                  </a:rPr>
                  <a:t>c</a:t>
                </a:r>
                <a:r>
                  <a:rPr lang="en-US" sz="2800" dirty="0">
                    <a:solidFill>
                      <a:srgbClr val="000000"/>
                    </a:solidFill>
                  </a:rPr>
                  <a:t>				6.  </a:t>
                </a:r>
                <a14:m>
                  <m:oMath xmlns:m="http://schemas.openxmlformats.org/officeDocument/2006/math">
                    <m:f>
                      <m:fPr>
                        <m:ctrlPr>
                          <a:rPr lang="en-US" sz="2800" i="1" smtClean="0">
                            <a:solidFill>
                              <a:srgbClr val="000000"/>
                            </a:solidFill>
                            <a:latin typeface="Cambria Math" panose="02040503050406030204" pitchFamily="18" charset="0"/>
                          </a:rPr>
                        </m:ctrlPr>
                      </m:fPr>
                      <m:num>
                        <m:r>
                          <a:rPr lang="en-US" sz="2800" b="0" i="1" smtClean="0">
                            <a:solidFill>
                              <a:srgbClr val="000000"/>
                            </a:solidFill>
                            <a:latin typeface="Cambria Math" panose="02040503050406030204" pitchFamily="18" charset="0"/>
                          </a:rPr>
                          <m:t>𝑎</m:t>
                        </m:r>
                      </m:num>
                      <m:den>
                        <m:r>
                          <a:rPr lang="en-US" sz="2800" b="0" i="1" smtClean="0">
                            <a:solidFill>
                              <a:srgbClr val="000000"/>
                            </a:solidFill>
                            <a:latin typeface="Cambria Math" panose="02040503050406030204" pitchFamily="18" charset="0"/>
                          </a:rPr>
                          <m:t>𝑏</m:t>
                        </m:r>
                      </m:den>
                    </m:f>
                  </m:oMath>
                </a14:m>
                <a:endParaRPr lang="en-US" sz="2800" b="0" i="1" u="none" strike="noStrike" baseline="0" dirty="0">
                  <a:solidFill>
                    <a:srgbClr val="000000"/>
                  </a:solidFill>
                </a:endParaRPr>
              </a:p>
              <a:p>
                <a:pPr marL="0" indent="0">
                  <a:buNone/>
                </a:pPr>
                <a:endParaRPr lang="en-US" sz="2800" dirty="0">
                  <a:solidFill>
                    <a:srgbClr val="000000"/>
                  </a:solidFill>
                </a:endParaRPr>
              </a:p>
            </p:txBody>
          </p:sp>
        </mc:Choice>
        <mc:Fallback xmlns="">
          <p:sp>
            <p:nvSpPr>
              <p:cNvPr id="2" name="Text Placeholder 2">
                <a:extLst>
                  <a:ext uri="{FF2B5EF4-FFF2-40B4-BE49-F238E27FC236}">
                    <a16:creationId xmlns:a16="http://schemas.microsoft.com/office/drawing/2014/main" id="{06890774-7848-58D0-0262-B11B4D8F7BE9}"/>
                  </a:ext>
                </a:extLst>
              </p:cNvPr>
              <p:cNvSpPr txBox="1">
                <a:spLocks noRot="1" noChangeAspect="1" noMove="1" noResize="1" noEditPoints="1" noAdjustHandles="1" noChangeArrowheads="1" noChangeShapeType="1" noTextEdit="1"/>
              </p:cNvSpPr>
              <p:nvPr/>
            </p:nvSpPr>
            <p:spPr>
              <a:xfrm>
                <a:off x="777240" y="1611086"/>
                <a:ext cx="9472546" cy="4580708"/>
              </a:xfrm>
              <a:prstGeom prst="rect">
                <a:avLst/>
              </a:prstGeom>
              <a:blipFill>
                <a:blip r:embed="rId3"/>
                <a:stretch>
                  <a:fillRect l="-1352" t="-1197"/>
                </a:stretch>
              </a:blipFill>
            </p:spPr>
            <p:txBody>
              <a:bodyPr/>
              <a:lstStyle/>
              <a:p>
                <a:r>
                  <a:rPr lang="en-US">
                    <a:noFill/>
                  </a:rPr>
                  <a:t> </a:t>
                </a:r>
              </a:p>
            </p:txBody>
          </p:sp>
        </mc:Fallback>
      </mc:AlternateContent>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60</a:t>
            </a:fld>
          </a:p>
        </p:txBody>
      </p:sp>
      <p:sp>
        <p:nvSpPr>
          <p:cNvPr id="1005" name="Answer 100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304</a:t>
            </a:r>
          </a:p>
        </p:txBody>
      </p:sp>
      <p:sp>
        <p:nvSpPr>
          <p:cNvPr id="1006" name="Answer 1006"/>
          <p:cNvSpPr txBox="1"/>
          <p:nvPr/>
        </p:nvSpPr>
        <p:spPr>
          <a:xfrm>
            <a:off x="1143000" y="2857500"/>
            <a:ext cx="2540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1/3</a:t>
            </a:r>
          </a:p>
        </p:txBody>
      </p:sp>
      <p:sp>
        <p:nvSpPr>
          <p:cNvPr id="1007" name="Answer 1007"/>
          <p:cNvSpPr txBox="1"/>
          <p:nvPr/>
        </p:nvSpPr>
        <p:spPr>
          <a:xfrm>
            <a:off x="4445000" y="2857500"/>
            <a:ext cx="2540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−1/10</a:t>
            </a:r>
          </a:p>
        </p:txBody>
      </p:sp>
      <p:sp>
        <p:nvSpPr>
          <p:cNvPr id="1008" name="Answer 1008"/>
          <p:cNvSpPr txBox="1"/>
          <p:nvPr/>
        </p:nvSpPr>
        <p:spPr>
          <a:xfrm>
            <a:off x="1143000" y="4572000"/>
            <a:ext cx="2540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5</a:t>
            </a:r>
          </a:p>
        </p:txBody>
      </p:sp>
      <p:sp>
        <p:nvSpPr>
          <p:cNvPr id="1009" name="Answer 1009"/>
          <p:cNvSpPr txBox="1"/>
          <p:nvPr/>
        </p:nvSpPr>
        <p:spPr>
          <a:xfrm>
            <a:off x="4445000" y="4572000"/>
            <a:ext cx="2540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−4/5</a:t>
            </a:r>
          </a:p>
        </p:txBody>
      </p:sp>
      <p:sp>
        <p:nvSpPr>
          <p:cNvPr id="1010" name="Answer 1010"/>
          <p:cNvSpPr txBox="1"/>
          <p:nvPr/>
        </p:nvSpPr>
        <p:spPr>
          <a:xfrm>
            <a:off x="1143000" y="6096000"/>
            <a:ext cx="2540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−1/c</a:t>
            </a:r>
          </a:p>
        </p:txBody>
      </p:sp>
      <p:sp>
        <p:nvSpPr>
          <p:cNvPr id="1011" name="Answer 1011"/>
          <p:cNvSpPr txBox="1"/>
          <p:nvPr/>
        </p:nvSpPr>
        <p:spPr>
          <a:xfrm>
            <a:off x="4445000" y="6096000"/>
            <a:ext cx="2540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b/a</a:t>
            </a:r>
          </a:p>
        </p:txBody>
      </p:sp>
    </p:spTree>
    <p:extLst>
      <p:ext uri="{BB962C8B-B14F-4D97-AF65-F5344CB8AC3E}">
        <p14:creationId xmlns:p14="http://schemas.microsoft.com/office/powerpoint/2010/main" val="3492781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0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0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0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010"/>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0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7AF44A-A2BF-5213-0768-B06DA52229A6}"/>
              </a:ext>
            </a:extLst>
          </p:cNvPr>
          <p:cNvSpPr>
            <a:spLocks noGrp="1"/>
          </p:cNvSpPr>
          <p:nvPr>
            <p:ph type="title" idx="4294967295"/>
          </p:nvPr>
        </p:nvSpPr>
        <p:spPr>
          <a:xfrm>
            <a:off x="838200" y="-374469"/>
            <a:ext cx="10514013" cy="374469"/>
          </a:xfrm>
          <a:prstGeom prst="rect">
            <a:avLst/>
          </a:prstGeom>
        </p:spPr>
        <p:txBody>
          <a:bodyPr anchor="b"/>
          <a:lstStyle/>
          <a:p>
            <a:r>
              <a:rPr lang="en-US" sz="2000" dirty="0">
                <a:solidFill>
                  <a:schemeClr val="bg2"/>
                </a:solidFill>
              </a:rPr>
              <a:t>Acknowledgment and Notice</a:t>
            </a:r>
          </a:p>
        </p:txBody>
      </p:sp>
      <p:sp>
        <p:nvSpPr>
          <p:cNvPr id="1002" name="Slide Number 100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61</a:t>
            </a:fld>
          </a:p>
        </p:txBody>
      </p:sp>
    </p:spTree>
    <p:extLst>
      <p:ext uri="{BB962C8B-B14F-4D97-AF65-F5344CB8AC3E}">
        <p14:creationId xmlns:p14="http://schemas.microsoft.com/office/powerpoint/2010/main" val="363287788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405E585-903C-AE75-891E-98E899BA927D}"/>
              </a:ext>
            </a:extLst>
          </p:cNvPr>
          <p:cNvSpPr>
            <a:spLocks noGrp="1"/>
          </p:cNvSpPr>
          <p:nvPr>
            <p:ph type="title" idx="4294967295"/>
          </p:nvPr>
        </p:nvSpPr>
        <p:spPr>
          <a:xfrm>
            <a:off x="8155889" y="4975063"/>
            <a:ext cx="3431356" cy="414778"/>
          </a:xfrm>
          <a:prstGeom prst="rect">
            <a:avLst/>
          </a:prstGeom>
          <a:solidFill>
            <a:srgbClr val="2B8147"/>
          </a:solidFill>
          <a:ln>
            <a:noFill/>
            <a:prstDash/>
          </a:ln>
          <a:effectLst/>
        </p:spPr>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schemeClr val="bg1"/>
                </a:solidFill>
                <a:effectLst/>
                <a:uLnTx/>
                <a:uFillTx/>
                <a:latin typeface="+mn-lt"/>
                <a:ea typeface="+mn-ea"/>
                <a:cs typeface="+mn-cs"/>
              </a:rPr>
              <a:t>BLMATH_AlgI_M2_T2_L2_DCS_ENG</a:t>
            </a:r>
            <a:endParaRPr kumimoji="0" lang="en-US" sz="1800" b="0" i="0" u="none" strike="noStrike" kern="1200" cap="none" spc="0" normalizeH="0" baseline="0" noProof="0" dirty="0">
              <a:ln>
                <a:noFill/>
              </a:ln>
              <a:solidFill>
                <a:schemeClr val="bg1"/>
              </a:solidFill>
              <a:effectLst/>
              <a:uLnTx/>
              <a:uFillTx/>
              <a:latin typeface="+mn-lt"/>
              <a:ea typeface="Calibri"/>
              <a:cs typeface="Calibri"/>
            </a:endParaRPr>
          </a:p>
        </p:txBody>
      </p:sp>
      <p:sp>
        <p:nvSpPr>
          <p:cNvPr id="1002" name="Slide Number 100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62</a:t>
            </a:fld>
          </a:p>
        </p:txBody>
      </p:sp>
    </p:spTree>
    <p:extLst>
      <p:ext uri="{BB962C8B-B14F-4D97-AF65-F5344CB8AC3E}">
        <p14:creationId xmlns:p14="http://schemas.microsoft.com/office/powerpoint/2010/main" val="130857272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nswer 2"/>
          <p:cNvSpPr txBox="1"/>
          <p:nvPr/>
        </p:nvSpPr>
        <p:spPr>
          <a:xfrm>
            <a:off x="869950" y="57150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3400" b="1" dirty="0">
                <a:solidFill>
                  <a:srgbClr val="2E7D4F"/>
                </a:solidFill>
              </a:rPr>
              <a:t>Teacher Edition corrections in this deck</a:t>
            </a:r>
          </a:p>
        </p:txBody>
      </p:sp>
      <p:sp>
        <p:nvSpPr>
          <p:cNvPr id="3" name="Answer 3"/>
          <p:cNvSpPr txBox="1"/>
          <p:nvPr/>
        </p:nvSpPr>
        <p:spPr>
          <a:xfrm>
            <a:off x="869950" y="212725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Prepare Q2: the TE gives the reciprocal of −10 as 1/10; it is −1/10.</a:t>
            </a:r>
          </a:p>
        </p:txBody>
      </p:sp>
      <p:sp>
        <p:nvSpPr>
          <p:cNvPr id="4" name="Answer 4"/>
          <p:cNvSpPr txBox="1"/>
          <p:nvPr/>
        </p:nvSpPr>
        <p:spPr>
          <a:xfrm>
            <a:off x="869950" y="368300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Slide typos: slide 22's second item 'a.' is b; slide 23's two 'a.' items are c and d; slides 46, 47, 49 and 50 are items 2, 3, 5 and 6, not '1.'</a:t>
            </a:r>
          </a:p>
        </p:txBody>
      </p:sp>
      <p:sp>
        <p:nvSpPr>
          <p:cNvPr id="5" name="Answer 5"/>
          <p:cNvSpPr txBox="1"/>
          <p:nvPr/>
        </p:nvSpPr>
        <p:spPr>
          <a:xfrm>
            <a:off x="869950" y="523875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16171D"/>
                </a:solidFill>
              </a:rPr>
              <a:t>• Every other TE answer was re-solved and is correct.</a:t>
            </a:r>
          </a:p>
        </p:txBody>
      </p:sp>
      <p:sp>
        <p:nvSpPr>
          <p:cNvPr id="999" name="Slide Number 99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58</a:t>
            </a:fld>
          </a:p>
        </p:txBody>
      </p:sp>
    </p:spTree>
  </p:cSld>
  <p:clrMapOvr>
    <a:masterClrMapping/>
  </p:clrMapOvr>
</p:sld>
</file>

<file path=ppt/theme/theme1.xml><?xml version="1.0" encoding="utf-8"?>
<a:theme xmlns:a="http://schemas.openxmlformats.org/drawingml/2006/main" name="A1_green">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G7_navy">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G8_purple">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G6_teal">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5aa991ed-cfdb-45f0-90fe-74f6c83d7f1e" xsi:nil="true"/>
    <lcf76f155ced4ddcb4097134ff3c332f xmlns="33e0dbe9-2ee3-4e40-8d2a-c14405aa398e">
      <Terms xmlns="http://schemas.microsoft.com/office/infopath/2007/PartnerControls"/>
    </lcf76f155ced4ddcb4097134ff3c332f>
    <Uploaded xmlns="33e0dbe9-2ee3-4e40-8d2a-c14405aa398e">true</Uploaded>
    <SharedWithUsers xmlns="5aa991ed-cfdb-45f0-90fe-74f6c83d7f1e">
      <UserInfo>
        <DisplayName/>
        <AccountId xsi:nil="true"/>
        <AccountType/>
      </UserInfo>
    </SharedWithUser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9AE0C664B4FDA64F8529B02C06F03698" ma:contentTypeVersion="15" ma:contentTypeDescription="Create a new document." ma:contentTypeScope="" ma:versionID="4bf8706da78cd0fcda70025af99f6a26">
  <xsd:schema xmlns:xsd="http://www.w3.org/2001/XMLSchema" xmlns:xs="http://www.w3.org/2001/XMLSchema" xmlns:p="http://schemas.microsoft.com/office/2006/metadata/properties" xmlns:ns2="33e0dbe9-2ee3-4e40-8d2a-c14405aa398e" xmlns:ns3="5aa991ed-cfdb-45f0-90fe-74f6c83d7f1e" targetNamespace="http://schemas.microsoft.com/office/2006/metadata/properties" ma:root="true" ma:fieldsID="aff2f77c8a19f3557e1e9d39b143470b" ns2:_="" ns3:_="">
    <xsd:import namespace="33e0dbe9-2ee3-4e40-8d2a-c14405aa398e"/>
    <xsd:import namespace="5aa991ed-cfdb-45f0-90fe-74f6c83d7f1e"/>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DateTaken" minOccurs="0"/>
                <xsd:element ref="ns2:MediaLengthInSeconds" minOccurs="0"/>
                <xsd:element ref="ns2:MediaServiceObjectDetectorVersion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SearchProperties" minOccurs="0"/>
                <xsd:element ref="ns2:Uploade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3e0dbe9-2ee3-4e40-8d2a-c14405aa398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3b7a77b5-e59d-49f3-97a2-3dde868dbe2d"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Uploaded" ma:index="22" nillable="true" ma:displayName="Uploaded" ma:default="1" ma:description="Check for uploaded into Sharefile" ma:format="Dropdown" ma:internalName="Uploaded">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5aa991ed-cfdb-45f0-90fe-74f6c83d7f1e"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TaxCatchAll" ma:index="17" nillable="true" ma:displayName="Taxonomy Catch All Column" ma:hidden="true" ma:list="{57405ce4-92a5-4ced-b4fb-968b1592fafc}" ma:internalName="TaxCatchAll" ma:showField="CatchAllData" ma:web="5aa991ed-cfdb-45f0-90fe-74f6c83d7f1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88DFB36-FBAE-42FF-A732-AA8F5E6D15D5}">
  <ds:schemaRefs>
    <ds:schemaRef ds:uri="http://purl.org/dc/terms/"/>
    <ds:schemaRef ds:uri="5aa991ed-cfdb-45f0-90fe-74f6c83d7f1e"/>
    <ds:schemaRef ds:uri="http://schemas.microsoft.com/office/2006/documentManagement/types"/>
    <ds:schemaRef ds:uri="http://schemas.microsoft.com/office/infopath/2007/PartnerControls"/>
    <ds:schemaRef ds:uri="http://purl.org/dc/elements/1.1/"/>
    <ds:schemaRef ds:uri="http://schemas.microsoft.com/office/2006/metadata/properties"/>
    <ds:schemaRef ds:uri="http://schemas.openxmlformats.org/package/2006/metadata/core-properties"/>
    <ds:schemaRef ds:uri="33e0dbe9-2ee3-4e40-8d2a-c14405aa398e"/>
    <ds:schemaRef ds:uri="http://www.w3.org/XML/1998/namespace"/>
    <ds:schemaRef ds:uri="http://purl.org/dc/dcmitype/"/>
  </ds:schemaRefs>
</ds:datastoreItem>
</file>

<file path=customXml/itemProps2.xml><?xml version="1.0" encoding="utf-8"?>
<ds:datastoreItem xmlns:ds="http://schemas.openxmlformats.org/officeDocument/2006/customXml" ds:itemID="{E94E78E5-0154-4C1E-9E02-E002822E6AD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3e0dbe9-2ee3-4e40-8d2a-c14405aa398e"/>
    <ds:schemaRef ds:uri="5aa991ed-cfdb-45f0-90fe-74f6c83d7f1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04C40A32-31E8-4858-87A9-973F15D55D2C}">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7841</TotalTime>
  <Words>6688</Words>
  <Application>Microsoft Office PowerPoint</Application>
  <PresentationFormat>Custom</PresentationFormat>
  <Paragraphs>580</Paragraphs>
  <Slides>61</Slides>
  <Notes>61</Notes>
  <HiddenSlides>0</HiddenSlides>
  <MMClips>0</MMClips>
  <ScaleCrop>false</ScaleCrop>
  <HeadingPairs>
    <vt:vector size="6" baseType="variant">
      <vt:variant>
        <vt:lpstr>Fonts Used</vt:lpstr>
      </vt:variant>
      <vt:variant>
        <vt:i4>4</vt:i4>
      </vt:variant>
      <vt:variant>
        <vt:lpstr>Theme</vt:lpstr>
      </vt:variant>
      <vt:variant>
        <vt:i4>4</vt:i4>
      </vt:variant>
      <vt:variant>
        <vt:lpstr>Slide Titles</vt:lpstr>
      </vt:variant>
      <vt:variant>
        <vt:i4>61</vt:i4>
      </vt:variant>
    </vt:vector>
  </HeadingPairs>
  <TitlesOfParts>
    <vt:vector size="69" baseType="lpstr">
      <vt:lpstr>Arial</vt:lpstr>
      <vt:lpstr>Calibri</vt:lpstr>
      <vt:lpstr>Cambria Math</vt:lpstr>
      <vt:lpstr>Wingdings</vt:lpstr>
      <vt:lpstr>A1_green</vt:lpstr>
      <vt:lpstr>G7_navy</vt:lpstr>
      <vt:lpstr>G8_purple</vt:lpstr>
      <vt:lpstr>G6_teal</vt:lpstr>
      <vt:lpstr>Vertical and Horizontal  Transformations of Linear Functions</vt:lpstr>
      <vt:lpstr>Objectives</vt:lpstr>
      <vt:lpstr>Essential Question (1 of 2)</vt:lpstr>
      <vt:lpstr>Day 1</vt:lpstr>
      <vt:lpstr>Getting Started</vt:lpstr>
      <vt:lpstr>Hey, I Remember This! (1 of 4)</vt:lpstr>
      <vt:lpstr>Hey, I Remember This! (2 of 4)</vt:lpstr>
      <vt:lpstr>Hey, I Remember This! (3 of 4)</vt:lpstr>
      <vt:lpstr>Hey, I Remember This! (4 of 4)</vt:lpstr>
      <vt:lpstr>Activity 2.1</vt:lpstr>
      <vt:lpstr>Comparing Vertical and Horizontal Translations (1 of 17)</vt:lpstr>
      <vt:lpstr>Comparing Vertical and Horizontal Translations (2 of 17)</vt:lpstr>
      <vt:lpstr>Comparing Vertical and Horizontal Translations (3 of 17)</vt:lpstr>
      <vt:lpstr>Comparing Vertical and Horizontal Translations (4 of 17)</vt:lpstr>
      <vt:lpstr>Comparing Vertical and Horizontal Translations (5 of 17)</vt:lpstr>
      <vt:lpstr>Comparing Vertical and Horizontal Translations (6 of 17)</vt:lpstr>
      <vt:lpstr>Comparing Vertical and Horizontal Translations (7 of 17)</vt:lpstr>
      <vt:lpstr>Comparing Vertical and Horizontal Translations (8 of 17)</vt:lpstr>
      <vt:lpstr>Comparing Vertical and Horizontal Translations (9 of 17)</vt:lpstr>
      <vt:lpstr>Comparing Vertical and Horizontal Translations (10 of 17)</vt:lpstr>
      <vt:lpstr>Comparing Vertical and Horizontal Translations (11 of 17)</vt:lpstr>
      <vt:lpstr>Comparing Vertical and Horizontal Translations (12 of 17)</vt:lpstr>
      <vt:lpstr>Comparing Vertical and Horizontal Translations (13 of 17)</vt:lpstr>
      <vt:lpstr>Comparing Vertical and Horizontal Translations (14 of 17)</vt:lpstr>
      <vt:lpstr>Comparing Vertical and Horizontal Translations (15 of 17)</vt:lpstr>
      <vt:lpstr>Comparing Vertical and Horizontal Translations (16 of 17)</vt:lpstr>
      <vt:lpstr>Comparing Vertical and Horizontal Translations (17 of 17)</vt:lpstr>
      <vt:lpstr>Day 2</vt:lpstr>
      <vt:lpstr>Essential Question (2 of 2)</vt:lpstr>
      <vt:lpstr>Activity 2.2</vt:lpstr>
      <vt:lpstr>Comparing Vertical and Horizontal Dilations (1 of 13)</vt:lpstr>
      <vt:lpstr>Comparing Vertical and Horizontal Dilations (2 of 13)</vt:lpstr>
      <vt:lpstr>Comparing Vertical and Horizontal Dilations (3 of 13)</vt:lpstr>
      <vt:lpstr>Comparing Vertical and Horizontal Dilations (4 of 13)</vt:lpstr>
      <vt:lpstr>Comparing Vertical and Horizontal Dilations (5 of 13)</vt:lpstr>
      <vt:lpstr>Comparing Vertical and Horizontal Dilations (6 of 13)</vt:lpstr>
      <vt:lpstr>Comparing Vertical and Horizontal Dilations (7 of 13)</vt:lpstr>
      <vt:lpstr>Comparing Vertical and Horizontal Dilations (8 of 13)</vt:lpstr>
      <vt:lpstr>Comparing Vertical and Horizontal Dilations (9 of 13)</vt:lpstr>
      <vt:lpstr>Comparing Vertical and Horizontal Dilations (10 of 13)</vt:lpstr>
      <vt:lpstr>Comparing Vertical and Horizontal Dilations (11 of 13)</vt:lpstr>
      <vt:lpstr>Comparing Vertical and Horizontal Dilations (12 of 13)</vt:lpstr>
      <vt:lpstr>Comparing Vertical and Horizontal Dilations (13 of 13)</vt:lpstr>
      <vt:lpstr>Activity 2.3</vt:lpstr>
      <vt:lpstr>Graphing Linear Transformations (1 of 8)</vt:lpstr>
      <vt:lpstr>Graphing Linear Transformations (2 of 8)</vt:lpstr>
      <vt:lpstr>Graphing Linear Transformations (3 of 8)</vt:lpstr>
      <vt:lpstr>Graphing Linear Transformations (4 of 8)</vt:lpstr>
      <vt:lpstr>Graphing Linear Transformations (5 of 8)</vt:lpstr>
      <vt:lpstr>Graphing Linear Transformations (6 of 8)</vt:lpstr>
      <vt:lpstr>Graphing Linear Transformations (7 of 8)</vt:lpstr>
      <vt:lpstr>Graphing Linear Transformations (8 of 8)</vt:lpstr>
      <vt:lpstr>Talk the Talk</vt:lpstr>
      <vt:lpstr>Show Me What You’ve Got! (1 of 4)</vt:lpstr>
      <vt:lpstr>Show Me What You’ve Got! (2 of 4)</vt:lpstr>
      <vt:lpstr>Show Me What You’ve Got! (3 of 4)</vt:lpstr>
      <vt:lpstr>Show Me What You’ve Got! (4 of 4)</vt:lpstr>
      <vt:lpstr>Prepare</vt:lpstr>
      <vt:lpstr>Prepare for Module 2 Topic 2 Lesson 3</vt:lpstr>
      <vt:lpstr>Acknowledgment and Notice</vt:lpstr>
      <vt:lpstr>BLMATH_AlgI_M2_T2_L2_DCS_ENG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Singh Amandeep</dc:creator>
  <cp:lastModifiedBy>Gann, Nickole</cp:lastModifiedBy>
  <cp:revision>111</cp:revision>
  <dcterms:created xsi:type="dcterms:W3CDTF">2024-02-22T09:58:00Z</dcterms:created>
  <dcterms:modified xsi:type="dcterms:W3CDTF">2025-05-28T18:58:29Z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A7190AC9080C4877A6E26CA982D6CC88_12</vt:lpwstr>
  </property>
  <property fmtid="{D5CDD505-2E9C-101B-9397-08002B2CF9AE}" pid="3" name="KSOProductBuildVer">
    <vt:lpwstr>1033-12.2.0.16731</vt:lpwstr>
  </property>
  <property fmtid="{D5CDD505-2E9C-101B-9397-08002B2CF9AE}" pid="4" name="ContentTypeId">
    <vt:lpwstr>0x0101009AE0C664B4FDA64F8529B02C06F03698</vt:lpwstr>
  </property>
  <property fmtid="{D5CDD505-2E9C-101B-9397-08002B2CF9AE}" pid="5" name="MediaServiceImageTags">
    <vt:lpwstr/>
  </property>
  <property fmtid="{D5CDD505-2E9C-101B-9397-08002B2CF9AE}" pid="6" name="Order">
    <vt:r8>3629600</vt:r8>
  </property>
  <property fmtid="{D5CDD505-2E9C-101B-9397-08002B2CF9AE}" pid="7" name="xd_Signature">
    <vt:bool>false</vt:bool>
  </property>
  <property fmtid="{D5CDD505-2E9C-101B-9397-08002B2CF9AE}" pid="8" name="xd_ProgID">
    <vt:lpwstr/>
  </property>
  <property fmtid="{D5CDD505-2E9C-101B-9397-08002B2CF9AE}" pid="9" name="ComplianceAssetId">
    <vt:lpwstr/>
  </property>
  <property fmtid="{D5CDD505-2E9C-101B-9397-08002B2CF9AE}" pid="10" name="TemplateUrl">
    <vt:lpwstr/>
  </property>
  <property fmtid="{D5CDD505-2E9C-101B-9397-08002B2CF9AE}" pid="11" name="_ExtendedDescription">
    <vt:lpwstr/>
  </property>
  <property fmtid="{D5CDD505-2E9C-101B-9397-08002B2CF9AE}" pid="12" name="TriggerFlowInfo">
    <vt:lpwstr/>
  </property>
</Properties>
</file>