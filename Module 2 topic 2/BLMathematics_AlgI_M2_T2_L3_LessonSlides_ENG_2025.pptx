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68" r:id="rId5"/>
    <p:sldMasterId id="2147483688" r:id="rId6"/>
    <p:sldMasterId id="2147483708" r:id="rId7"/>
  </p:sldMasterIdLst>
  <p:notesMasterIdLst>
    <p:notesMasterId r:id="rId53"/>
  </p:notesMasterIdLst>
  <p:sldIdLst>
    <p:sldId id="256" r:id="rId8"/>
    <p:sldId id="257" r:id="rId9"/>
    <p:sldId id="258" r:id="rId10"/>
    <p:sldId id="259" r:id="rId11"/>
    <p:sldId id="260" r:id="rId12"/>
    <p:sldId id="261" r:id="rId13"/>
    <p:sldId id="300" r:id="rId14"/>
    <p:sldId id="262" r:id="rId15"/>
    <p:sldId id="263" r:id="rId16"/>
    <p:sldId id="264" r:id="rId17"/>
    <p:sldId id="265" r:id="rId18"/>
    <p:sldId id="266" r:id="rId19"/>
    <p:sldId id="267" r:id="rId20"/>
    <p:sldId id="269" r:id="rId21"/>
    <p:sldId id="301" r:id="rId22"/>
    <p:sldId id="270" r:id="rId23"/>
    <p:sldId id="272" r:id="rId24"/>
    <p:sldId id="30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Lst>
  <p:sldSz cx="12190413" cy="6858000"/>
  <p:notesSz cx="6858000" cy="9144000"/>
  <p:embeddedFontLst>
    <p:embeddedFont>
      <p:font typeface="Cambria Math" panose="02040503050406030204" pitchFamily="18" charset="0"/>
      <p:regular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hmnjiLOi5Ppnsmhviu7A5qbhfvx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B8147"/>
    <a:srgbClr val="3535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A3754D-11DE-497B-99DB-DBC830F2583F}" v="2" dt="2025-05-28T18:59:41.328"/>
  </p1510:revLst>
</p1510:revInfo>
</file>

<file path=ppt/tableStyles.xml><?xml version="1.0" encoding="utf-8"?>
<a:tblStyleLst xmlns:a="http://schemas.openxmlformats.org/drawingml/2006/main" def="{F7D8C473-989F-46CF-8A33-2A7C700182BB}">
  <a:tblStyle styleId="{F7D8C473-989F-46CF-8A33-2A7C700182B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BB7C7B1-2BA2-4552-A184-85BA7BCE1169}"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4F2"/>
          </a:solidFill>
        </a:fill>
      </a:tcStyle>
    </a:wholeTbl>
    <a:band1H>
      <a:tcTxStyle/>
      <a:tcStyle>
        <a:tcBdr/>
        <a:fill>
          <a:solidFill>
            <a:srgbClr val="CCE7E5"/>
          </a:solidFill>
        </a:fill>
      </a:tcStyle>
    </a:band1H>
    <a:band2H>
      <a:tcTxStyle/>
      <a:tcStyle>
        <a:tcBdr/>
      </a:tcStyle>
    </a:band2H>
    <a:band1V>
      <a:tcTxStyle/>
      <a:tcStyle>
        <a:tcBdr/>
        <a:fill>
          <a:solidFill>
            <a:srgbClr val="CCE7E5"/>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133" autoAdjust="0"/>
  </p:normalViewPr>
  <p:slideViewPr>
    <p:cSldViewPr snapToGrid="0">
      <p:cViewPr varScale="1">
        <p:scale>
          <a:sx n="53" d="100"/>
          <a:sy n="53" d="100"/>
        </p:scale>
        <p:origin x="1538" y="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slide" Target="slides/slide34.xml"/><Relationship Id="rId54" Type="http://schemas.openxmlformats.org/officeDocument/2006/relationships/font" Target="fonts/font1.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61"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64"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DE9675B3-CE13-4C2A-AA2A-7DC5ED9B423D}"/>
    <pc:docChg chg="modSld">
      <pc:chgData name="Moyer Montague, Kristina" userId="63c103e5-6141-480e-825f-260f173eba02" providerId="ADAL" clId="{DE9675B3-CE13-4C2A-AA2A-7DC5ED9B423D}" dt="2025-05-07T13:54:28.983" v="7" actId="114"/>
      <pc:docMkLst>
        <pc:docMk/>
      </pc:docMkLst>
      <pc:sldChg chg="modSp mod">
        <pc:chgData name="Moyer Montague, Kristina" userId="63c103e5-6141-480e-825f-260f173eba02" providerId="ADAL" clId="{DE9675B3-CE13-4C2A-AA2A-7DC5ED9B423D}" dt="2025-05-07T13:48:34.508" v="1" actId="6549"/>
        <pc:sldMkLst>
          <pc:docMk/>
          <pc:sldMk cId="0" sldId="261"/>
        </pc:sldMkLst>
        <pc:spChg chg="mod">
          <ac:chgData name="Moyer Montague, Kristina" userId="63c103e5-6141-480e-825f-260f173eba02" providerId="ADAL" clId="{DE9675B3-CE13-4C2A-AA2A-7DC5ED9B423D}" dt="2025-05-07T13:48:34.508" v="1" actId="6549"/>
          <ac:spMkLst>
            <pc:docMk/>
            <pc:sldMk cId="0" sldId="261"/>
            <ac:spMk id="2" creationId="{13D84506-D588-7F0E-6C79-D9ACB718E811}"/>
          </ac:spMkLst>
        </pc:spChg>
      </pc:sldChg>
      <pc:sldChg chg="modSp mod">
        <pc:chgData name="Moyer Montague, Kristina" userId="63c103e5-6141-480e-825f-260f173eba02" providerId="ADAL" clId="{DE9675B3-CE13-4C2A-AA2A-7DC5ED9B423D}" dt="2025-05-07T13:50:44.527" v="2" actId="20577"/>
        <pc:sldMkLst>
          <pc:docMk/>
          <pc:sldMk cId="0" sldId="262"/>
        </pc:sldMkLst>
        <pc:spChg chg="mod">
          <ac:chgData name="Moyer Montague, Kristina" userId="63c103e5-6141-480e-825f-260f173eba02" providerId="ADAL" clId="{DE9675B3-CE13-4C2A-AA2A-7DC5ED9B423D}" dt="2025-05-07T13:50:44.527" v="2" actId="20577"/>
          <ac:spMkLst>
            <pc:docMk/>
            <pc:sldMk cId="0" sldId="262"/>
            <ac:spMk id="3" creationId="{A1DA5E90-59FB-FF30-2BDD-07F9060D885E}"/>
          </ac:spMkLst>
        </pc:spChg>
      </pc:sldChg>
      <pc:sldChg chg="modSp">
        <pc:chgData name="Moyer Montague, Kristina" userId="63c103e5-6141-480e-825f-260f173eba02" providerId="ADAL" clId="{DE9675B3-CE13-4C2A-AA2A-7DC5ED9B423D}" dt="2025-05-07T13:53:22.353" v="6" actId="114"/>
        <pc:sldMkLst>
          <pc:docMk/>
          <pc:sldMk cId="0" sldId="267"/>
        </pc:sldMkLst>
        <pc:spChg chg="mod">
          <ac:chgData name="Moyer Montague, Kristina" userId="63c103e5-6141-480e-825f-260f173eba02" providerId="ADAL" clId="{DE9675B3-CE13-4C2A-AA2A-7DC5ED9B423D}" dt="2025-05-07T13:53:22.353" v="6" actId="114"/>
          <ac:spMkLst>
            <pc:docMk/>
            <pc:sldMk cId="0" sldId="267"/>
            <ac:spMk id="3" creationId="{881EDF44-CC55-218D-5A4F-1D03649A537A}"/>
          </ac:spMkLst>
        </pc:spChg>
      </pc:sldChg>
      <pc:sldChg chg="modSp mod">
        <pc:chgData name="Moyer Montague, Kristina" userId="63c103e5-6141-480e-825f-260f173eba02" providerId="ADAL" clId="{DE9675B3-CE13-4C2A-AA2A-7DC5ED9B423D}" dt="2025-05-07T13:54:28.983" v="7" actId="114"/>
        <pc:sldMkLst>
          <pc:docMk/>
          <pc:sldMk cId="0" sldId="272"/>
        </pc:sldMkLst>
        <pc:spChg chg="mod">
          <ac:chgData name="Moyer Montague, Kristina" userId="63c103e5-6141-480e-825f-260f173eba02" providerId="ADAL" clId="{DE9675B3-CE13-4C2A-AA2A-7DC5ED9B423D}" dt="2025-05-07T13:54:28.983" v="7" actId="114"/>
          <ac:spMkLst>
            <pc:docMk/>
            <pc:sldMk cId="0" sldId="272"/>
            <ac:spMk id="2" creationId="{399B7F68-0123-793A-C302-6E185690AD75}"/>
          </ac:spMkLst>
        </pc:spChg>
      </pc:sldChg>
      <pc:sldChg chg="modSp mod">
        <pc:chgData name="Moyer Montague, Kristina" userId="63c103e5-6141-480e-825f-260f173eba02" providerId="ADAL" clId="{DE9675B3-CE13-4C2A-AA2A-7DC5ED9B423D}" dt="2025-05-07T13:52:52.816" v="4" actId="114"/>
        <pc:sldMkLst>
          <pc:docMk/>
          <pc:sldMk cId="3398154548" sldId="301"/>
        </pc:sldMkLst>
        <pc:spChg chg="mod">
          <ac:chgData name="Moyer Montague, Kristina" userId="63c103e5-6141-480e-825f-260f173eba02" providerId="ADAL" clId="{DE9675B3-CE13-4C2A-AA2A-7DC5ED9B423D}" dt="2025-05-07T13:52:52.816" v="4" actId="114"/>
          <ac:spMkLst>
            <pc:docMk/>
            <pc:sldMk cId="3398154548" sldId="301"/>
            <ac:spMk id="571" creationId="{CE84560F-B97D-C1EA-C4CE-F9442E6155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suggested pacing for this lesson is two 45-minute sessions.</a:t>
            </a:r>
            <a:endParaRPr dirty="0">
              <a:solidFill>
                <a:srgbClr val="000000"/>
              </a:solidFill>
            </a:endParaRPr>
          </a:p>
        </p:txBody>
      </p:sp>
      <p:sp>
        <p:nvSpPr>
          <p:cNvPr id="460" name="Google Shape;46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TEKS:</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A.1D: communicate mathematical ideas, reasoning, and their implications using multiple representations, including symbols, diagrams, graphs, and language as appropriate.</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A.1E: create and use representations to organize, record, and communicate mathematical ideas.</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A.2F: write the equation of a line that contains a given point and is perpendicular to a given line.</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A.2G: write an equation of a line that is parallel or perpendicular to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-axis and determine whether the slope of the line is zero or undefined.</a:t>
            </a:r>
            <a:endParaRPr sz="12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endParaRPr lang="en-US" sz="1200" b="1"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ELPS:</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2.I: demonstrate listening comprehension of increasingly complex spoken English by following directions, retelling or summarizing spoken messages, responding to questions and requests, collaborating with peers, and taking notes commensurate with content and grade-level needs.</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3.E: share information in cooperative learning interactions.</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4.K: demonstrate English comprehension and expand reading skills by employing analytical skills such as evaluating written information and performing critical analyses commensurate with content area and grade-level needs.</a:t>
            </a:r>
            <a:endParaRPr sz="12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467" name="Google Shape;467;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Setting the Stage:</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Clr>
                <a:schemeClr val="dk1"/>
              </a:buClr>
              <a:buSzPts val="1200"/>
              <a:buFont typeface="Arial" panose="020B0604020202020204" pitchFamily="34" charset="0"/>
              <a:buChar char="•"/>
            </a:pPr>
            <a:r>
              <a:rPr lang="en-US" sz="12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Tap into your student’s prior learning by reading the narrative statement.</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Clr>
                <a:schemeClr val="dk1"/>
              </a:buClr>
              <a:buSzPts val="1200"/>
              <a:buFont typeface="Arial" panose="020B0604020202020204" pitchFamily="34" charset="0"/>
              <a:buChar char="•"/>
            </a:pPr>
            <a:r>
              <a:rPr lang="en-US" sz="12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Provide a sense of direction by reading the Essential Question.</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474" name="Google Shape;474;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suggested pacing for Day 1 is 45 minutes.</a:t>
            </a:r>
            <a:endParaRPr dirty="0">
              <a:solidFill>
                <a:srgbClr val="000000"/>
              </a:solidFill>
            </a:endParaRPr>
          </a:p>
        </p:txBody>
      </p:sp>
      <p:sp>
        <p:nvSpPr>
          <p:cNvPr id="481" name="Google Shape;48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7" name="Google Shape;48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the Getting Started.</a:t>
            </a:r>
            <a:endParaRPr dirty="0">
              <a:solidFill>
                <a:srgbClr val="000000"/>
              </a:solidFill>
            </a:endParaRPr>
          </a:p>
        </p:txBody>
      </p:sp>
      <p:sp>
        <p:nvSpPr>
          <p:cNvPr id="488" name="Google Shape;488;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494" name="Google Shape;49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your rotations are exactly 90°?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Were you surprised by the locations of each rotated line segment? If so, why?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a:t>
                </a:r>
                <a14:m>
                  <m:oMath xmlns:m="http://schemas.openxmlformats.org/officeDocument/2006/math">
                    <m:acc>
                      <m:accPr>
                        <m:chr m:val="̅"/>
                        <m:ctrlPr>
                          <a:rPr lang="ar-AE" sz="1200" i="1" smtClean="0">
                            <a:solidFill>
                              <a:srgbClr val="000000"/>
                            </a:solidFill>
                            <a:latin typeface="Cambria Math" panose="02040503050406030204" pitchFamily="18" charset="0"/>
                          </a:rPr>
                        </m:ctrlPr>
                      </m:accPr>
                      <m:e>
                        <m:r>
                          <a:rPr lang="ar-AE" sz="1200" b="0" i="1" smtClean="0">
                            <a:solidFill>
                              <a:srgbClr val="000000"/>
                            </a:solidFill>
                            <a:latin typeface="Cambria Math" panose="02040503050406030204" pitchFamily="18" charset="0"/>
                          </a:rPr>
                          <m:t>𝐴𝐵</m:t>
                        </m:r>
                      </m:e>
                    </m:acc>
                  </m:oMath>
                </a14:m>
                <a:r>
                  <a:rPr lang="ar-AE"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and </a:t>
                </a:r>
                <a14:m>
                  <m:oMath xmlns:m="http://schemas.openxmlformats.org/officeDocument/2006/math">
                    <m:acc>
                      <m:accPr>
                        <m:chr m:val="̅"/>
                        <m:ctrlPr>
                          <a:rPr lang="ar-AE" sz="1200" i="1" smtClean="0">
                            <a:solidFill>
                              <a:srgbClr val="000000"/>
                            </a:solidFill>
                            <a:latin typeface="Cambria Math" panose="02040503050406030204" pitchFamily="18" charset="0"/>
                          </a:rPr>
                        </m:ctrlPr>
                      </m:accPr>
                      <m:e>
                        <m:r>
                          <a:rPr lang="ar-AE" sz="1200" b="0" i="1" smtClean="0">
                            <a:solidFill>
                              <a:srgbClr val="000000"/>
                            </a:solidFill>
                            <a:latin typeface="Cambria Math" panose="02040503050406030204" pitchFamily="18" charset="0"/>
                          </a:rPr>
                          <m:t>𝐴</m:t>
                        </m:r>
                        <m:r>
                          <a:rPr lang="ar-AE" sz="1200" b="0" i="1" smtClean="0">
                            <a:solidFill>
                              <a:srgbClr val="000000"/>
                            </a:solidFill>
                            <a:latin typeface="Cambria Math" panose="02040503050406030204" pitchFamily="18" charset="0"/>
                          </a:rPr>
                          <m:t>′′</m:t>
                        </m:r>
                        <m:r>
                          <a:rPr lang="ar-AE" sz="1200" b="0" i="1" smtClean="0">
                            <a:solidFill>
                              <a:srgbClr val="000000"/>
                            </a:solidFill>
                            <a:latin typeface="Cambria Math" panose="02040503050406030204" pitchFamily="18" charset="0"/>
                          </a:rPr>
                          <m:t>𝐵</m:t>
                        </m:r>
                        <m:r>
                          <a:rPr lang="ar-AE" sz="1200" b="0" i="1" smtClean="0">
                            <a:solidFill>
                              <a:srgbClr val="000000"/>
                            </a:solidFill>
                            <a:latin typeface="Cambria Math" panose="02040503050406030204" pitchFamily="18" charset="0"/>
                          </a:rPr>
                          <m:t>′′</m:t>
                        </m:r>
                      </m:e>
                    </m:acc>
                  </m:oMath>
                </a14:m>
                <a:r>
                  <a:rPr lang="ar-AE"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connect to make a straight line?</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mc:Choice>
        <mc:Fallback xmlns="">
          <p:sp>
            <p:nvSpPr>
              <p:cNvPr id="494" name="Google Shape;49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your rotations are exactly 90°?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Were you surprised by the locations of each rotated line segment? If so, why?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a:t>
                </a:r>
                <a:r>
                  <a:rPr lang="ar-AE" sz="1200" i="0">
                    <a:solidFill>
                      <a:srgbClr val="000000"/>
                    </a:solidFill>
                    <a:latin typeface="Cambria Math" panose="02040503050406030204" pitchFamily="18" charset="0"/>
                  </a:rPr>
                  <a:t>(</a:t>
                </a:r>
                <a:r>
                  <a:rPr lang="ar-AE" sz="1200" b="0" i="0">
                    <a:solidFill>
                      <a:srgbClr val="000000"/>
                    </a:solidFill>
                    <a:latin typeface="Cambria Math" panose="02040503050406030204" pitchFamily="18" charset="0"/>
                  </a:rPr>
                  <a:t>𝐴𝐵) ̅</a:t>
                </a:r>
                <a:r>
                  <a:rPr lang="ar-AE"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and </a:t>
                </a:r>
                <a:r>
                  <a:rPr lang="ar-AE" sz="1200" i="0">
                    <a:solidFill>
                      <a:srgbClr val="000000"/>
                    </a:solidFill>
                    <a:latin typeface="Cambria Math" panose="02040503050406030204" pitchFamily="18" charset="0"/>
                  </a:rPr>
                  <a:t>(</a:t>
                </a:r>
                <a:r>
                  <a:rPr lang="ar-AE" sz="1200" b="0" i="0">
                    <a:solidFill>
                      <a:srgbClr val="000000"/>
                    </a:solidFill>
                    <a:latin typeface="Cambria Math" panose="02040503050406030204" pitchFamily="18" charset="0"/>
                  </a:rPr>
                  <a:t>𝐴′′𝐵′′) ̅</a:t>
                </a:r>
                <a:r>
                  <a:rPr lang="ar-AE"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connect to make a straight line?</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mc:Fallback>
      </mc:AlternateContent>
      <p:sp>
        <p:nvSpPr>
          <p:cNvPr id="495" name="Google Shape;495;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a:extLst>
            <a:ext uri="{FF2B5EF4-FFF2-40B4-BE49-F238E27FC236}">
              <a16:creationId xmlns:a16="http://schemas.microsoft.com/office/drawing/2014/main" id="{CF56DFD8-4598-B97D-E955-938BB94AD51C}"/>
            </a:ext>
          </a:extLst>
        </p:cNvPr>
        <p:cNvGrpSpPr/>
        <p:nvPr/>
      </p:nvGrpSpPr>
      <p:grpSpPr>
        <a:xfrm>
          <a:off x="0" y="0"/>
          <a:ext cx="0" cy="0"/>
          <a:chOff x="0" y="0"/>
          <a:chExt cx="0" cy="0"/>
        </a:xfrm>
      </p:grpSpPr>
      <p:sp>
        <p:nvSpPr>
          <p:cNvPr id="502" name="Google Shape;502;p7:notes">
            <a:extLst>
              <a:ext uri="{FF2B5EF4-FFF2-40B4-BE49-F238E27FC236}">
                <a16:creationId xmlns:a16="http://schemas.microsoft.com/office/drawing/2014/main" id="{6681D2D9-3065-9A00-B6A9-E6D1EFAB95A2}"/>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7:notes">
            <a:extLst>
              <a:ext uri="{FF2B5EF4-FFF2-40B4-BE49-F238E27FC236}">
                <a16:creationId xmlns:a16="http://schemas.microsoft.com/office/drawing/2014/main" id="{3C7414A0-958D-5EE0-8D00-AD966D00AEB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Seeing Structure</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the endpoints of each line segment compare after any 90° rotation?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the numeric components of the coordinates compare? How do the signs compare?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the sign changes connect with what you know about the signs used in each quadrant of the coordinate plane?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Does it make a difference in the slope when the negative sign lies in the numerator or denominator of the fraction?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Which segments have the same slope? How can you tell from the graph?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What two statements could you use to describe the difference in slopes of consecutive line segments?</a:t>
            </a:r>
            <a:endParaRPr sz="1200" b="0" dirty="0">
              <a:solidFill>
                <a:srgbClr val="000000"/>
              </a:solidFill>
              <a:latin typeface="Calibri"/>
              <a:ea typeface="Calibri"/>
              <a:cs typeface="Calibri"/>
              <a:sym typeface="Calibri"/>
            </a:endParaRPr>
          </a:p>
        </p:txBody>
      </p:sp>
      <p:sp>
        <p:nvSpPr>
          <p:cNvPr id="504" name="Google Shape;504;p7:notes">
            <a:extLst>
              <a:ext uri="{FF2B5EF4-FFF2-40B4-BE49-F238E27FC236}">
                <a16:creationId xmlns:a16="http://schemas.microsoft.com/office/drawing/2014/main" id="{B8EDF822-863F-6410-0743-520948A36A8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598222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Seeing Structure</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the endpoints of each line segment compare after any 90° rotation?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the numeric components of the coordinates compare? How do the signs compare?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the sign changes connect with what you know about the signs used in each quadrant of the coordinate plane?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Does it make a difference in the slope when the negative sign lies in the numerator or denominator of the fraction?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Which segments have the same slope? How can you tell from the graph?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What two statements could you use to describe the difference in slopes of consecutive line segments?</a:t>
            </a:r>
            <a:endParaRPr lang="en-US" sz="1200" b="0" dirty="0">
              <a:solidFill>
                <a:srgbClr val="000000"/>
              </a:solidFill>
              <a:latin typeface="Calibri"/>
              <a:ea typeface="Calibri"/>
              <a:cs typeface="Calibri"/>
              <a:sym typeface="Calibri"/>
            </a:endParaRPr>
          </a:p>
        </p:txBody>
      </p:sp>
      <p:sp>
        <p:nvSpPr>
          <p:cNvPr id="504" name="Google Shape;504;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5" name="Google Shape;515;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Getting Started Summary:</a:t>
            </a:r>
            <a:endParaRPr dirty="0">
              <a:solidFill>
                <a:srgbClr val="000000"/>
              </a:solidFill>
            </a:endParaRPr>
          </a:p>
          <a:p>
            <a:pPr marL="0" lvl="0" indent="0" algn="l" rtl="0">
              <a:spcBef>
                <a:spcPts val="0"/>
              </a:spcBef>
              <a:spcAft>
                <a:spcPts val="0"/>
              </a:spcAft>
              <a:buNone/>
            </a:pPr>
            <a:r>
              <a:rPr lang="en-US" dirty="0">
                <a:solidFill>
                  <a:srgbClr val="000000"/>
                </a:solidFill>
              </a:rPr>
              <a:t>A point </a:t>
            </a:r>
            <a:r>
              <a:rPr lang="en-US" i="0" dirty="0">
                <a:solidFill>
                  <a:srgbClr val="000000"/>
                </a:solidFill>
              </a:rPr>
              <a:t>(</a:t>
            </a:r>
            <a:r>
              <a:rPr lang="en-US" i="1" dirty="0">
                <a:solidFill>
                  <a:srgbClr val="000000"/>
                </a:solidFill>
              </a:rPr>
              <a:t>x, y</a:t>
            </a:r>
            <a:r>
              <a:rPr lang="en-US" i="0" dirty="0">
                <a:solidFill>
                  <a:srgbClr val="000000"/>
                </a:solidFill>
              </a:rPr>
              <a:t>) </a:t>
            </a:r>
            <a:r>
              <a:rPr lang="en-US" dirty="0">
                <a:solidFill>
                  <a:srgbClr val="000000"/>
                </a:solidFill>
              </a:rPr>
              <a:t>that is rotated 90° counterclockwise has the coordinates </a:t>
            </a:r>
            <a:r>
              <a:rPr lang="en-US" i="0" dirty="0">
                <a:solidFill>
                  <a:srgbClr val="000000"/>
                </a:solidFill>
              </a:rPr>
              <a:t>(−</a:t>
            </a:r>
            <a:r>
              <a:rPr lang="en-US" i="1" dirty="0">
                <a:solidFill>
                  <a:srgbClr val="000000"/>
                </a:solidFill>
              </a:rPr>
              <a:t>y, x</a:t>
            </a:r>
            <a:r>
              <a:rPr lang="en-US" i="0" dirty="0">
                <a:solidFill>
                  <a:srgbClr val="000000"/>
                </a:solidFill>
              </a:rPr>
              <a:t>).</a:t>
            </a:r>
            <a:endParaRPr sz="1200" b="1" i="0" dirty="0">
              <a:solidFill>
                <a:srgbClr val="000000"/>
              </a:solidFill>
              <a:latin typeface="Calibri"/>
              <a:ea typeface="Calibri"/>
              <a:cs typeface="Calibri"/>
              <a:sym typeface="Calibri"/>
            </a:endParaRPr>
          </a:p>
        </p:txBody>
      </p:sp>
      <p:sp>
        <p:nvSpPr>
          <p:cNvPr id="516" name="Google Shape;516;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3" name="Google Shape;52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 </a:t>
            </a:r>
            <a:r>
              <a:rPr lang="en-US" b="0" dirty="0">
                <a:solidFill>
                  <a:srgbClr val="000000"/>
                </a:solidFill>
                <a:latin typeface="Calibri"/>
                <a:ea typeface="Calibri"/>
                <a:cs typeface="Calibri"/>
                <a:sym typeface="Calibri"/>
              </a:rPr>
              <a:t>This slide is blank for optional use with displaying work.</a:t>
            </a:r>
            <a:endParaRPr b="1" dirty="0">
              <a:solidFill>
                <a:srgbClr val="000000"/>
              </a:solidFill>
              <a:latin typeface="Calibri"/>
              <a:ea typeface="Calibri"/>
              <a:cs typeface="Calibri"/>
              <a:sym typeface="Calibri"/>
            </a:endParaRPr>
          </a:p>
        </p:txBody>
      </p:sp>
      <p:sp>
        <p:nvSpPr>
          <p:cNvPr id="524" name="Google Shape;524;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1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0" name="Google Shape;53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20-25 minutes allotted for Activity 3.1.</a:t>
            </a:r>
            <a:endParaRPr dirty="0">
              <a:solidFill>
                <a:srgbClr val="000000"/>
              </a:solidFill>
            </a:endParaRPr>
          </a:p>
        </p:txBody>
      </p:sp>
      <p:sp>
        <p:nvSpPr>
          <p:cNvPr id="531" name="Google Shape;531;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1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8" name="Google Shape;538;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olidFill>
                <a:srgbClr val="000000"/>
              </a:solidFill>
              <a:latin typeface="Calibri"/>
              <a:ea typeface="Calibri"/>
              <a:cs typeface="Calibri"/>
              <a:sym typeface="Calibri"/>
            </a:endParaRPr>
          </a:p>
        </p:txBody>
      </p:sp>
      <p:sp>
        <p:nvSpPr>
          <p:cNvPr id="539" name="Google Shape;539;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1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6" name="Google Shape;546;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Probing:</a:t>
            </a:r>
          </a:p>
          <a:p>
            <a:pPr marL="171450" lvl="0" indent="-171450" algn="l" rtl="0">
              <a:spcBef>
                <a:spcPts val="0"/>
              </a:spcBef>
              <a:spcAft>
                <a:spcPts val="0"/>
              </a:spcAft>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this specific rotation create perpendicular lines?</a:t>
            </a:r>
          </a:p>
          <a:p>
            <a:pPr marL="0" lvl="0" indent="0" algn="l" rtl="0">
              <a:spcBef>
                <a:spcPts val="0"/>
              </a:spcBef>
              <a:spcAft>
                <a:spcPts val="0"/>
              </a:spcAft>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Seeing Structure:</a:t>
            </a:r>
          </a:p>
          <a:p>
            <a:pPr marL="171450" lvl="0" indent="-171450" algn="l" rtl="0">
              <a:spcBef>
                <a:spcPts val="0"/>
              </a:spcBef>
              <a:spcAft>
                <a:spcPts val="0"/>
              </a:spcAft>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could you use patty paper to verify that the lines are perpendicular?</a:t>
            </a:r>
          </a:p>
          <a:p>
            <a:pPr marL="0" lvl="0" indent="0" algn="l" rtl="0">
              <a:spcBef>
                <a:spcPts val="0"/>
              </a:spcBef>
              <a:spcAft>
                <a:spcPts val="0"/>
              </a:spcAft>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Probing:</a:t>
            </a:r>
          </a:p>
          <a:p>
            <a:pPr marL="171450" lvl="0" indent="-171450" algn="l" rtl="0">
              <a:spcBef>
                <a:spcPts val="0"/>
              </a:spcBef>
              <a:spcAft>
                <a:spcPts val="0"/>
              </a:spcAft>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strategy did you use to write the equation of each line?</a:t>
            </a:r>
          </a:p>
          <a:p>
            <a:pPr marL="0" lvl="0" indent="0" algn="l" rtl="0">
              <a:spcBef>
                <a:spcPts val="0"/>
              </a:spcBef>
              <a:spcAft>
                <a:spcPts val="0"/>
              </a:spcAft>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Seeing Structure:</a:t>
            </a:r>
          </a:p>
          <a:p>
            <a:pPr marL="171450" lvl="0" indent="-171450" algn="l" rtl="0">
              <a:spcBef>
                <a:spcPts val="0"/>
              </a:spcBef>
              <a:spcAft>
                <a:spcPts val="0"/>
              </a:spcAft>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relationship between the slopes?</a:t>
            </a:r>
          </a:p>
          <a:p>
            <a:pPr marL="171450" lvl="0" indent="-171450" algn="l" rtl="0">
              <a:spcBef>
                <a:spcPts val="0"/>
              </a:spcBef>
              <a:spcAft>
                <a:spcPts val="0"/>
              </a:spcAft>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Is there any relationship between perpendicular lines and their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lvl="0" indent="-171450" algn="l" rtl="0">
              <a:spcBef>
                <a:spcPts val="0"/>
              </a:spcBef>
              <a:spcAft>
                <a:spcPts val="0"/>
              </a:spcAft>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these equations to prove perpendicular lines have reciprocal slopes with opposite signs?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47" name="Google Shape;547;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1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562" name="Google Shape;562;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14:m>
                  <m:oMath xmlns:m="http://schemas.openxmlformats.org/officeDocument/2006/math">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1</m:t>
                        </m:r>
                      </m:sub>
                    </m:sSub>
                    <m:r>
                      <a:rPr lang="ar-AE" sz="1200" b="0" i="1" u="none" strike="noStrike" baseline="0" smtClean="0">
                        <a:solidFill>
                          <a:srgbClr val="000000"/>
                        </a:solidFill>
                        <a:latin typeface="Cambria Math" panose="02040503050406030204" pitchFamily="18" charset="0"/>
                      </a:rPr>
                      <m:t>=</m:t>
                    </m:r>
                    <m:r>
                      <a:rPr lang="en-US" sz="1200" b="0" i="1" u="none" strike="noStrike" baseline="0" smtClean="0">
                        <a:solidFill>
                          <a:srgbClr val="000000"/>
                        </a:solidFill>
                        <a:latin typeface="Cambria Math" panose="02040503050406030204" pitchFamily="18" charset="0"/>
                      </a:rPr>
                      <m:t>−</m:t>
                    </m:r>
                    <m:f>
                      <m:fPr>
                        <m:ctrlPr>
                          <a:rPr lang="ar-AE" sz="1200" b="0" i="1" u="none" strike="noStrike" baseline="0" smtClean="0">
                            <a:solidFill>
                              <a:srgbClr val="000000"/>
                            </a:solidFill>
                            <a:latin typeface="Cambria Math" panose="02040503050406030204" pitchFamily="18" charset="0"/>
                          </a:rPr>
                        </m:ctrlPr>
                      </m:fPr>
                      <m:num>
                        <m:r>
                          <a:rPr lang="ar-AE" sz="1200" b="0" i="1" u="none" strike="noStrike" baseline="0" smtClean="0">
                            <a:solidFill>
                              <a:srgbClr val="000000"/>
                            </a:solidFill>
                            <a:latin typeface="Cambria Math" panose="02040503050406030204" pitchFamily="18" charset="0"/>
                          </a:rPr>
                          <m:t>1</m:t>
                        </m:r>
                      </m:num>
                      <m:den>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2</m:t>
                            </m:r>
                          </m:sub>
                        </m:sSub>
                      </m:den>
                    </m:f>
                  </m:oMath>
                </a14:m>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62" name="Google Shape;562;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r>
                  <a:rPr lang="ar-AE" sz="1200" b="0" i="0" u="none" strike="noStrike" baseline="0">
                    <a:solidFill>
                      <a:srgbClr val="000000"/>
                    </a:solidFill>
                    <a:latin typeface="Cambria Math" panose="02040503050406030204" pitchFamily="18" charset="0"/>
                  </a:rPr>
                  <a:t>𝑚_1=</a:t>
                </a:r>
                <a:r>
                  <a:rPr lang="en-US" sz="1200" b="0" i="0" u="none" strike="noStrike" baseline="0">
                    <a:solidFill>
                      <a:srgbClr val="000000"/>
                    </a:solidFill>
                    <a:latin typeface="Cambria Math" panose="02040503050406030204" pitchFamily="18" charset="0"/>
                  </a:rPr>
                  <a:t>−</a:t>
                </a:r>
                <a:r>
                  <a:rPr lang="ar-AE" sz="1200" b="0" i="0" u="none" strike="noStrike" baseline="0">
                    <a:solidFill>
                      <a:srgbClr val="000000"/>
                    </a:solidFill>
                    <a:latin typeface="Cambria Math" panose="02040503050406030204" pitchFamily="18" charset="0"/>
                  </a:rPr>
                  <a:t>1/𝑚_2 </a:t>
                </a:r>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563" name="Google Shape;563;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a:extLst>
            <a:ext uri="{FF2B5EF4-FFF2-40B4-BE49-F238E27FC236}">
              <a16:creationId xmlns:a16="http://schemas.microsoft.com/office/drawing/2014/main" id="{3DE1233F-B5A5-58FF-9507-8F89BFFF1BFC}"/>
            </a:ext>
          </a:extLst>
        </p:cNvPr>
        <p:cNvGrpSpPr/>
        <p:nvPr/>
      </p:nvGrpSpPr>
      <p:grpSpPr>
        <a:xfrm>
          <a:off x="0" y="0"/>
          <a:ext cx="0" cy="0"/>
          <a:chOff x="0" y="0"/>
          <a:chExt cx="0" cy="0"/>
        </a:xfrm>
      </p:grpSpPr>
      <p:sp>
        <p:nvSpPr>
          <p:cNvPr id="561" name="Google Shape;561;p14:notes">
            <a:extLst>
              <a:ext uri="{FF2B5EF4-FFF2-40B4-BE49-F238E27FC236}">
                <a16:creationId xmlns:a16="http://schemas.microsoft.com/office/drawing/2014/main" id="{B1C748EE-6965-61DC-3A01-811B135BA3FF}"/>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562" name="Google Shape;562;p14:notes">
                <a:extLst>
                  <a:ext uri="{FF2B5EF4-FFF2-40B4-BE49-F238E27FC236}">
                    <a16:creationId xmlns:a16="http://schemas.microsoft.com/office/drawing/2014/main" id="{91349967-3289-94C2-0E3E-63D9DDD09D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14:m>
                  <m:oMath xmlns:m="http://schemas.openxmlformats.org/officeDocument/2006/math">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1</m:t>
                        </m:r>
                      </m:sub>
                    </m:sSub>
                    <m:r>
                      <a:rPr lang="ar-AE" sz="1200" b="0" i="1" u="none" strike="noStrike" baseline="0" smtClean="0">
                        <a:solidFill>
                          <a:srgbClr val="000000"/>
                        </a:solidFill>
                        <a:latin typeface="Cambria Math" panose="02040503050406030204" pitchFamily="18" charset="0"/>
                      </a:rPr>
                      <m:t>=</m:t>
                    </m:r>
                    <m:r>
                      <a:rPr lang="en-US" sz="1200" b="0" i="1" u="none" strike="noStrike" baseline="0" smtClean="0">
                        <a:solidFill>
                          <a:srgbClr val="000000"/>
                        </a:solidFill>
                        <a:latin typeface="Cambria Math" panose="02040503050406030204" pitchFamily="18" charset="0"/>
                      </a:rPr>
                      <m:t>−</m:t>
                    </m:r>
                    <m:f>
                      <m:fPr>
                        <m:ctrlPr>
                          <a:rPr lang="ar-AE" sz="1200" b="0" i="1" u="none" strike="noStrike" baseline="0" smtClean="0">
                            <a:solidFill>
                              <a:srgbClr val="000000"/>
                            </a:solidFill>
                            <a:latin typeface="Cambria Math" panose="02040503050406030204" pitchFamily="18" charset="0"/>
                          </a:rPr>
                        </m:ctrlPr>
                      </m:fPr>
                      <m:num>
                        <m:r>
                          <a:rPr lang="ar-AE" sz="1200" b="0" i="1" u="none" strike="noStrike" baseline="0" smtClean="0">
                            <a:solidFill>
                              <a:srgbClr val="000000"/>
                            </a:solidFill>
                            <a:latin typeface="Cambria Math" panose="02040503050406030204" pitchFamily="18" charset="0"/>
                          </a:rPr>
                          <m:t>1</m:t>
                        </m:r>
                      </m:num>
                      <m:den>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2</m:t>
                            </m:r>
                          </m:sub>
                        </m:sSub>
                      </m:den>
                    </m:f>
                  </m:oMath>
                </a14:m>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62" name="Google Shape;562;p14:notes">
                <a:extLst>
                  <a:ext uri="{FF2B5EF4-FFF2-40B4-BE49-F238E27FC236}">
                    <a16:creationId xmlns:a16="http://schemas.microsoft.com/office/drawing/2014/main" id="{91349967-3289-94C2-0E3E-63D9DDD09D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r>
                  <a:rPr lang="ar-AE" sz="1200" b="0" i="0" u="none" strike="noStrike" baseline="0">
                    <a:solidFill>
                      <a:srgbClr val="000000"/>
                    </a:solidFill>
                    <a:latin typeface="Cambria Math" panose="02040503050406030204" pitchFamily="18" charset="0"/>
                  </a:rPr>
                  <a:t>𝑚_1=</a:t>
                </a:r>
                <a:r>
                  <a:rPr lang="en-US" sz="1200" b="0" i="0" u="none" strike="noStrike" baseline="0">
                    <a:solidFill>
                      <a:srgbClr val="000000"/>
                    </a:solidFill>
                    <a:latin typeface="Cambria Math" panose="02040503050406030204" pitchFamily="18" charset="0"/>
                  </a:rPr>
                  <a:t>−</a:t>
                </a:r>
                <a:r>
                  <a:rPr lang="ar-AE" sz="1200" b="0" i="0" u="none" strike="noStrike" baseline="0">
                    <a:solidFill>
                      <a:srgbClr val="000000"/>
                    </a:solidFill>
                    <a:latin typeface="Cambria Math" panose="02040503050406030204" pitchFamily="18" charset="0"/>
                  </a:rPr>
                  <a:t>1/𝑚_2 </a:t>
                </a:r>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563" name="Google Shape;563;p14:notes">
            <a:extLst>
              <a:ext uri="{FF2B5EF4-FFF2-40B4-BE49-F238E27FC236}">
                <a16:creationId xmlns:a16="http://schemas.microsoft.com/office/drawing/2014/main" id="{C49844BB-D626-8E0B-4CB2-866E2422671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325061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1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580" name="Google Shape;580;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14:m>
                  <m:oMath xmlns:m="http://schemas.openxmlformats.org/officeDocument/2006/math">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1</m:t>
                        </m:r>
                      </m:sub>
                    </m:sSub>
                    <m:r>
                      <a:rPr lang="ar-AE" sz="1200" b="0" i="1" u="none" strike="noStrike" baseline="0" smtClean="0">
                        <a:solidFill>
                          <a:srgbClr val="000000"/>
                        </a:solidFill>
                        <a:latin typeface="Cambria Math" panose="02040503050406030204" pitchFamily="18" charset="0"/>
                      </a:rPr>
                      <m:t>=</m:t>
                    </m:r>
                    <m:r>
                      <a:rPr lang="en-US" sz="1200" b="0" i="1" u="none" strike="noStrike" baseline="0" smtClean="0">
                        <a:solidFill>
                          <a:srgbClr val="000000"/>
                        </a:solidFill>
                        <a:latin typeface="Cambria Math" panose="02040503050406030204" pitchFamily="18" charset="0"/>
                      </a:rPr>
                      <m:t>−</m:t>
                    </m:r>
                    <m:f>
                      <m:fPr>
                        <m:ctrlPr>
                          <a:rPr lang="ar-AE" sz="1200" b="0" i="1" u="none" strike="noStrike" baseline="0" smtClean="0">
                            <a:solidFill>
                              <a:srgbClr val="000000"/>
                            </a:solidFill>
                            <a:latin typeface="Cambria Math" panose="02040503050406030204" pitchFamily="18" charset="0"/>
                          </a:rPr>
                        </m:ctrlPr>
                      </m:fPr>
                      <m:num>
                        <m:r>
                          <a:rPr lang="ar-AE" sz="1200" b="0" i="1" u="none" strike="noStrike" baseline="0" smtClean="0">
                            <a:solidFill>
                              <a:srgbClr val="000000"/>
                            </a:solidFill>
                            <a:latin typeface="Cambria Math" panose="02040503050406030204" pitchFamily="18" charset="0"/>
                          </a:rPr>
                          <m:t>1</m:t>
                        </m:r>
                      </m:num>
                      <m:den>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2</m:t>
                            </m:r>
                          </m:sub>
                        </m:sSub>
                      </m:den>
                    </m:f>
                  </m:oMath>
                </a14:m>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80" name="Google Shape;580;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r>
                  <a:rPr lang="ar-AE" sz="1200" b="0" i="0" u="none" strike="noStrike" baseline="0">
                    <a:solidFill>
                      <a:srgbClr val="000000"/>
                    </a:solidFill>
                    <a:latin typeface="Cambria Math" panose="02040503050406030204" pitchFamily="18" charset="0"/>
                  </a:rPr>
                  <a:t>𝑚_1=</a:t>
                </a:r>
                <a:r>
                  <a:rPr lang="en-US" sz="1200" b="0" i="0" u="none" strike="noStrike" baseline="0">
                    <a:solidFill>
                      <a:srgbClr val="000000"/>
                    </a:solidFill>
                    <a:latin typeface="Cambria Math" panose="02040503050406030204" pitchFamily="18" charset="0"/>
                  </a:rPr>
                  <a:t>−</a:t>
                </a:r>
                <a:r>
                  <a:rPr lang="ar-AE" sz="1200" b="0" i="0" u="none" strike="noStrike" baseline="0">
                    <a:solidFill>
                      <a:srgbClr val="000000"/>
                    </a:solidFill>
                    <a:latin typeface="Cambria Math" panose="02040503050406030204" pitchFamily="18" charset="0"/>
                  </a:rPr>
                  <a:t>1/𝑚_2 </a:t>
                </a:r>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581" name="Google Shape;581;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1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599" name="Google Shape;599;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14:m>
                  <m:oMath xmlns:m="http://schemas.openxmlformats.org/officeDocument/2006/math">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1</m:t>
                        </m:r>
                      </m:sub>
                    </m:sSub>
                    <m:r>
                      <a:rPr lang="ar-AE" sz="1200" b="0" i="1" u="none" strike="noStrike" baseline="0" smtClean="0">
                        <a:solidFill>
                          <a:srgbClr val="000000"/>
                        </a:solidFill>
                        <a:latin typeface="Cambria Math" panose="02040503050406030204" pitchFamily="18" charset="0"/>
                      </a:rPr>
                      <m:t>=</m:t>
                    </m:r>
                    <m:r>
                      <a:rPr lang="en-US" sz="1200" b="0" i="1" u="none" strike="noStrike" baseline="0" smtClean="0">
                        <a:solidFill>
                          <a:srgbClr val="000000"/>
                        </a:solidFill>
                        <a:latin typeface="Cambria Math" panose="02040503050406030204" pitchFamily="18" charset="0"/>
                      </a:rPr>
                      <m:t>−</m:t>
                    </m:r>
                    <m:f>
                      <m:fPr>
                        <m:ctrlPr>
                          <a:rPr lang="ar-AE" sz="1200" b="0" i="1" u="none" strike="noStrike" baseline="0" smtClean="0">
                            <a:solidFill>
                              <a:srgbClr val="000000"/>
                            </a:solidFill>
                            <a:latin typeface="Cambria Math" panose="02040503050406030204" pitchFamily="18" charset="0"/>
                          </a:rPr>
                        </m:ctrlPr>
                      </m:fPr>
                      <m:num>
                        <m:r>
                          <a:rPr lang="ar-AE" sz="1200" b="0" i="1" u="none" strike="noStrike" baseline="0" smtClean="0">
                            <a:solidFill>
                              <a:srgbClr val="000000"/>
                            </a:solidFill>
                            <a:latin typeface="Cambria Math" panose="02040503050406030204" pitchFamily="18" charset="0"/>
                          </a:rPr>
                          <m:t>1</m:t>
                        </m:r>
                      </m:num>
                      <m:den>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2</m:t>
                            </m:r>
                          </m:sub>
                        </m:sSub>
                      </m:den>
                    </m:f>
                  </m:oMath>
                </a14:m>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99" name="Google Shape;599;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r>
                  <a:rPr lang="ar-AE" sz="1200" b="0" i="0" u="none" strike="noStrike" baseline="0">
                    <a:solidFill>
                      <a:srgbClr val="000000"/>
                    </a:solidFill>
                    <a:latin typeface="Cambria Math" panose="02040503050406030204" pitchFamily="18" charset="0"/>
                  </a:rPr>
                  <a:t>𝑚_1=</a:t>
                </a:r>
                <a:r>
                  <a:rPr lang="en-US" sz="1200" b="0" i="0" u="none" strike="noStrike" baseline="0">
                    <a:solidFill>
                      <a:srgbClr val="000000"/>
                    </a:solidFill>
                    <a:latin typeface="Cambria Math" panose="02040503050406030204" pitchFamily="18" charset="0"/>
                  </a:rPr>
                  <a:t>−</a:t>
                </a:r>
                <a:r>
                  <a:rPr lang="ar-AE" sz="1200" b="0" i="0" u="none" strike="noStrike" baseline="0">
                    <a:solidFill>
                      <a:srgbClr val="000000"/>
                    </a:solidFill>
                    <a:latin typeface="Cambria Math" panose="02040503050406030204" pitchFamily="18" charset="0"/>
                  </a:rPr>
                  <a:t>1/𝑚_2 </a:t>
                </a:r>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600" name="Google Shape;600;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a:extLst>
            <a:ext uri="{FF2B5EF4-FFF2-40B4-BE49-F238E27FC236}">
              <a16:creationId xmlns:a16="http://schemas.microsoft.com/office/drawing/2014/main" id="{5BB8667E-D141-5D9C-5358-8204C0A3993C}"/>
            </a:ext>
          </a:extLst>
        </p:cNvPr>
        <p:cNvGrpSpPr/>
        <p:nvPr/>
      </p:nvGrpSpPr>
      <p:grpSpPr>
        <a:xfrm>
          <a:off x="0" y="0"/>
          <a:ext cx="0" cy="0"/>
          <a:chOff x="0" y="0"/>
          <a:chExt cx="0" cy="0"/>
        </a:xfrm>
      </p:grpSpPr>
      <p:sp>
        <p:nvSpPr>
          <p:cNvPr id="598" name="Google Shape;598;p17:notes">
            <a:extLst>
              <a:ext uri="{FF2B5EF4-FFF2-40B4-BE49-F238E27FC236}">
                <a16:creationId xmlns:a16="http://schemas.microsoft.com/office/drawing/2014/main" id="{25DB1832-930C-C1A5-55C4-D3CE239671B6}"/>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599" name="Google Shape;599;p17:notes">
                <a:extLst>
                  <a:ext uri="{FF2B5EF4-FFF2-40B4-BE49-F238E27FC236}">
                    <a16:creationId xmlns:a16="http://schemas.microsoft.com/office/drawing/2014/main" id="{E34C0609-21DE-C525-06E1-39B20EDBA6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14:m>
                  <m:oMath xmlns:m="http://schemas.openxmlformats.org/officeDocument/2006/math">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1</m:t>
                        </m:r>
                      </m:sub>
                    </m:sSub>
                    <m:r>
                      <a:rPr lang="ar-AE" sz="1200" b="0" i="1" u="none" strike="noStrike" baseline="0" smtClean="0">
                        <a:solidFill>
                          <a:srgbClr val="000000"/>
                        </a:solidFill>
                        <a:latin typeface="Cambria Math" panose="02040503050406030204" pitchFamily="18" charset="0"/>
                      </a:rPr>
                      <m:t>=</m:t>
                    </m:r>
                    <m:r>
                      <a:rPr lang="en-US" sz="1200" b="0" i="1" u="none" strike="noStrike" baseline="0" smtClean="0">
                        <a:solidFill>
                          <a:srgbClr val="000000"/>
                        </a:solidFill>
                        <a:latin typeface="Cambria Math" panose="02040503050406030204" pitchFamily="18" charset="0"/>
                      </a:rPr>
                      <m:t>−</m:t>
                    </m:r>
                    <m:f>
                      <m:fPr>
                        <m:ctrlPr>
                          <a:rPr lang="ar-AE" sz="1200" b="0" i="1" u="none" strike="noStrike" baseline="0" smtClean="0">
                            <a:solidFill>
                              <a:srgbClr val="000000"/>
                            </a:solidFill>
                            <a:latin typeface="Cambria Math" panose="02040503050406030204" pitchFamily="18" charset="0"/>
                          </a:rPr>
                        </m:ctrlPr>
                      </m:fPr>
                      <m:num>
                        <m:r>
                          <a:rPr lang="ar-AE" sz="1200" b="0" i="1" u="none" strike="noStrike" baseline="0" smtClean="0">
                            <a:solidFill>
                              <a:srgbClr val="000000"/>
                            </a:solidFill>
                            <a:latin typeface="Cambria Math" panose="02040503050406030204" pitchFamily="18" charset="0"/>
                          </a:rPr>
                          <m:t>1</m:t>
                        </m:r>
                      </m:num>
                      <m:den>
                        <m:sSub>
                          <m:sSubPr>
                            <m:ctrlPr>
                              <a:rPr lang="ar-AE" sz="1200" b="0" i="1" u="none" strike="noStrike" baseline="0" smtClean="0">
                                <a:solidFill>
                                  <a:srgbClr val="000000"/>
                                </a:solidFill>
                                <a:latin typeface="Cambria Math" panose="02040503050406030204" pitchFamily="18" charset="0"/>
                              </a:rPr>
                            </m:ctrlPr>
                          </m:sSubPr>
                          <m:e>
                            <m:r>
                              <a:rPr lang="ar-AE" sz="1200" b="0" i="1" u="none" strike="noStrike" baseline="0" smtClean="0">
                                <a:solidFill>
                                  <a:srgbClr val="000000"/>
                                </a:solidFill>
                                <a:latin typeface="Cambria Math" panose="02040503050406030204" pitchFamily="18" charset="0"/>
                              </a:rPr>
                              <m:t>𝑚</m:t>
                            </m:r>
                          </m:e>
                          <m:sub>
                            <m:r>
                              <a:rPr lang="ar-AE" sz="1200" b="0" i="1" u="none" strike="noStrike" baseline="0" smtClean="0">
                                <a:solidFill>
                                  <a:srgbClr val="000000"/>
                                </a:solidFill>
                                <a:latin typeface="Cambria Math" panose="02040503050406030204" pitchFamily="18" charset="0"/>
                              </a:rPr>
                              <m:t>2</m:t>
                            </m:r>
                          </m:sub>
                        </m:sSub>
                      </m:den>
                    </m:f>
                  </m:oMath>
                </a14:m>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99" name="Google Shape;599;p17:notes">
                <a:extLst>
                  <a:ext uri="{FF2B5EF4-FFF2-40B4-BE49-F238E27FC236}">
                    <a16:creationId xmlns:a16="http://schemas.microsoft.com/office/drawing/2014/main" id="{E34C0609-21DE-C525-06E1-39B20EDBA6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Assumption statement relate to the If Then statement? The Conclusion statement?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meant by negative reciprocals?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conclusion </a:t>
                </a:r>
                <a:r>
                  <a:rPr lang="ar-AE" sz="1200" b="0" i="0" u="none" strike="noStrike" baseline="0">
                    <a:solidFill>
                      <a:srgbClr val="000000"/>
                    </a:solidFill>
                    <a:latin typeface="Cambria Math" panose="02040503050406030204" pitchFamily="18" charset="0"/>
                  </a:rPr>
                  <a:t>𝑚_1=</a:t>
                </a:r>
                <a:r>
                  <a:rPr lang="en-US" sz="1200" b="0" i="0" u="none" strike="noStrike" baseline="0">
                    <a:solidFill>
                      <a:srgbClr val="000000"/>
                    </a:solidFill>
                    <a:latin typeface="Cambria Math" panose="02040503050406030204" pitchFamily="18" charset="0"/>
                  </a:rPr>
                  <a:t>−</a:t>
                </a:r>
                <a:r>
                  <a:rPr lang="ar-AE" sz="1200" b="0" i="0" u="none" strike="noStrike" baseline="0">
                    <a:solidFill>
                      <a:srgbClr val="000000"/>
                    </a:solidFill>
                    <a:latin typeface="Cambria Math" panose="02040503050406030204" pitchFamily="18" charset="0"/>
                  </a:rPr>
                  <a:t>1/𝑚_2 </a:t>
                </a:r>
                <a:r>
                  <a:rPr lang="ar-AE"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means.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negative sign mean the second line always has a negative slope? Explain your thinking.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why the coordinates of point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side lengths of each triangle were determined.</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labeled diagram to determine each slope?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to rewrite the complex fraction.</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the Worked Example demonstrate formal reasoning?</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negative reciprocal of −3?</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600" name="Google Shape;600;p17:notes">
            <a:extLst>
              <a:ext uri="{FF2B5EF4-FFF2-40B4-BE49-F238E27FC236}">
                <a16:creationId xmlns:a16="http://schemas.microsoft.com/office/drawing/2014/main" id="{0A84622F-4531-F61D-C63D-BFA9B336D17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0724861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1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0" name="Google Shape;610;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Note:</a:t>
            </a:r>
            <a:r>
              <a:rPr lang="en-US" sz="1200" b="0" dirty="0">
                <a:solidFill>
                  <a:srgbClr val="000000"/>
                </a:solidFill>
                <a:latin typeface="Calibri"/>
                <a:ea typeface="Calibri"/>
                <a:cs typeface="Calibri"/>
                <a:sym typeface="Calibri"/>
              </a:rPr>
              <a:t> To close Day 1, have students reread the Essential Question and then read the Stamp the Learning summary aloud.</a:t>
            </a:r>
            <a:endParaRPr dirty="0">
              <a:solidFill>
                <a:srgbClr val="000000"/>
              </a:solidFill>
            </a:endParaRPr>
          </a:p>
          <a:p>
            <a:pPr marL="0" lvl="0" indent="0" algn="l" rtl="0">
              <a:spcBef>
                <a:spcPts val="0"/>
              </a:spcBef>
              <a:spcAft>
                <a:spcPts val="0"/>
              </a:spcAft>
              <a:buNone/>
            </a:pPr>
            <a:endParaRPr sz="1200" b="1" dirty="0">
              <a:solidFill>
                <a:srgbClr val="000000"/>
              </a:solidFill>
              <a:latin typeface="Calibri"/>
              <a:ea typeface="Calibri"/>
              <a:cs typeface="Calibri"/>
              <a:sym typeface="Calibri"/>
            </a:endParaRPr>
          </a:p>
          <a:p>
            <a:pPr marL="0" lvl="0" indent="0" algn="l" rtl="0">
              <a:spcBef>
                <a:spcPts val="0"/>
              </a:spcBef>
              <a:spcAft>
                <a:spcPts val="0"/>
              </a:spcAft>
              <a:buNone/>
            </a:pPr>
            <a:r>
              <a:rPr lang="en-US" sz="1200" b="1" dirty="0">
                <a:solidFill>
                  <a:srgbClr val="000000"/>
                </a:solidFill>
                <a:latin typeface="Calibri"/>
                <a:ea typeface="Calibri"/>
                <a:cs typeface="Calibri"/>
                <a:sym typeface="Calibri"/>
              </a:rPr>
              <a:t>Activity 3.1 Summary:</a:t>
            </a:r>
            <a:endParaRPr dirty="0">
              <a:solidFill>
                <a:srgbClr val="000000"/>
              </a:solidFill>
            </a:endParaRPr>
          </a:p>
          <a:p>
            <a:pPr marL="0" lvl="0" indent="0" algn="l" rtl="0">
              <a:spcBef>
                <a:spcPts val="0"/>
              </a:spcBef>
              <a:spcAft>
                <a:spcPts val="0"/>
              </a:spcAft>
              <a:buNone/>
            </a:pPr>
            <a:r>
              <a:rPr lang="en-US" dirty="0">
                <a:solidFill>
                  <a:srgbClr val="000000"/>
                </a:solidFill>
              </a:rPr>
              <a:t>If two lines are perpendicular, their slopes are negative reciprocals.</a:t>
            </a:r>
            <a:endParaRPr sz="1200" b="1" dirty="0">
              <a:solidFill>
                <a:srgbClr val="000000"/>
              </a:solidFill>
              <a:latin typeface="Calibri"/>
              <a:ea typeface="Calibri"/>
              <a:cs typeface="Calibri"/>
              <a:sym typeface="Calibri"/>
            </a:endParaRPr>
          </a:p>
        </p:txBody>
      </p:sp>
      <p:sp>
        <p:nvSpPr>
          <p:cNvPr id="611" name="Google Shape;611;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1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8" name="Google Shape;618;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This slide is blank for optional use with displaying work.</a:t>
            </a:r>
            <a:endParaRPr b="0" dirty="0">
              <a:solidFill>
                <a:srgbClr val="000000"/>
              </a:solidFill>
              <a:latin typeface="Calibri"/>
              <a:ea typeface="Calibri"/>
              <a:cs typeface="Calibri"/>
              <a:sym typeface="Calibri"/>
            </a:endParaRPr>
          </a:p>
        </p:txBody>
      </p:sp>
      <p:sp>
        <p:nvSpPr>
          <p:cNvPr id="619" name="Google Shape;619;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2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5" name="Google Shape;625;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Total suggested pacing for Day 2 is 45 minutes.</a:t>
            </a:r>
            <a:endParaRPr dirty="0">
              <a:solidFill>
                <a:srgbClr val="000000"/>
              </a:solidFill>
            </a:endParaRPr>
          </a:p>
        </p:txBody>
      </p:sp>
      <p:sp>
        <p:nvSpPr>
          <p:cNvPr id="626" name="Google Shape;626;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2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2" name="Google Shape;632;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To begin Day 2, have a student read the Essential Question aloud.</a:t>
            </a:r>
            <a:endParaRPr sz="1200" b="1" dirty="0">
              <a:solidFill>
                <a:srgbClr val="000000"/>
              </a:solidFill>
              <a:latin typeface="Calibri"/>
              <a:ea typeface="Calibri"/>
              <a:cs typeface="Calibri"/>
              <a:sym typeface="Calibri"/>
            </a:endParaRPr>
          </a:p>
        </p:txBody>
      </p:sp>
      <p:sp>
        <p:nvSpPr>
          <p:cNvPr id="633" name="Google Shape;633;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2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9" name="Google Shape;639;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Activity 3.2.</a:t>
            </a:r>
            <a:endParaRPr dirty="0">
              <a:solidFill>
                <a:srgbClr val="000000"/>
              </a:solidFill>
            </a:endParaRPr>
          </a:p>
        </p:txBody>
      </p:sp>
      <p:sp>
        <p:nvSpPr>
          <p:cNvPr id="640" name="Google Shape;640;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2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7" name="Google Shape;647;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Demonstrate the slope is zero using two points from a line.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Demonstrate the slope is zero using points (</a:t>
            </a:r>
            <a:r>
              <a:rPr lang="en-US" i="1" dirty="0">
                <a:solidFill>
                  <a:srgbClr val="000000"/>
                </a:solidFill>
              </a:rPr>
              <a:t>x</a:t>
            </a:r>
            <a:r>
              <a:rPr lang="en-US" baseline="-25000" dirty="0">
                <a:solidFill>
                  <a:srgbClr val="000000"/>
                </a:solidFill>
              </a:rPr>
              <a:t>1</a:t>
            </a:r>
            <a:r>
              <a:rPr lang="en-US" dirty="0">
                <a:solidFill>
                  <a:srgbClr val="000000"/>
                </a:solidFill>
              </a:rPr>
              <a:t>, </a:t>
            </a:r>
            <a:r>
              <a:rPr lang="en-US" i="1" dirty="0">
                <a:solidFill>
                  <a:srgbClr val="000000"/>
                </a:solidFill>
              </a:rPr>
              <a:t>y</a:t>
            </a:r>
            <a:r>
              <a:rPr lang="en-US" baseline="-25000" dirty="0">
                <a:solidFill>
                  <a:srgbClr val="000000"/>
                </a:solidFill>
              </a:rPr>
              <a:t>1</a:t>
            </a:r>
            <a:r>
              <a:rPr lang="en-US" dirty="0">
                <a:solidFill>
                  <a:srgbClr val="000000"/>
                </a:solidFill>
              </a:rPr>
              <a:t>) and (</a:t>
            </a:r>
            <a:r>
              <a:rPr lang="en-US" i="1" dirty="0">
                <a:solidFill>
                  <a:srgbClr val="000000"/>
                </a:solidFill>
              </a:rPr>
              <a:t>x</a:t>
            </a:r>
            <a:r>
              <a:rPr lang="en-US" baseline="-25000" dirty="0">
                <a:solidFill>
                  <a:srgbClr val="000000"/>
                </a:solidFill>
              </a:rPr>
              <a:t>2</a:t>
            </a:r>
            <a:r>
              <a:rPr lang="en-US" dirty="0">
                <a:solidFill>
                  <a:srgbClr val="000000"/>
                </a:solidFill>
              </a:rPr>
              <a:t>, </a:t>
            </a:r>
            <a:r>
              <a:rPr lang="en-US" i="1" dirty="0">
                <a:solidFill>
                  <a:srgbClr val="000000"/>
                </a:solidFill>
              </a:rPr>
              <a:t>y</a:t>
            </a:r>
            <a:r>
              <a:rPr lang="en-US" baseline="-25000" dirty="0">
                <a:solidFill>
                  <a:srgbClr val="000000"/>
                </a:solidFill>
              </a:rPr>
              <a:t>2</a:t>
            </a:r>
            <a:r>
              <a:rPr lang="en-US" dirty="0">
                <a:solidFill>
                  <a:srgbClr val="000000"/>
                </a:solidFill>
              </a:rPr>
              <a:t>).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If one line has a slope of zero, how do you know all the other lines have a slope of zero?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What is another way to demonstrate the slope is undefined?</a:t>
            </a:r>
            <a:endParaRPr sz="1200" dirty="0">
              <a:solidFill>
                <a:srgbClr val="000000"/>
              </a:solidFill>
              <a:latin typeface="Calibri"/>
              <a:ea typeface="Calibri"/>
              <a:cs typeface="Calibri"/>
              <a:sym typeface="Calibri"/>
            </a:endParaRPr>
          </a:p>
        </p:txBody>
      </p:sp>
      <p:sp>
        <p:nvSpPr>
          <p:cNvPr id="648" name="Google Shape;648;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2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6" name="Google Shape;6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Demonstrate the slope is zero using two points from a line.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Demonstrate the slope is zero using points (</a:t>
            </a:r>
            <a:r>
              <a:rPr lang="en-US" i="1" dirty="0">
                <a:solidFill>
                  <a:srgbClr val="000000"/>
                </a:solidFill>
              </a:rPr>
              <a:t>x</a:t>
            </a:r>
            <a:r>
              <a:rPr lang="en-US" baseline="-25000" dirty="0">
                <a:solidFill>
                  <a:srgbClr val="000000"/>
                </a:solidFill>
              </a:rPr>
              <a:t>1</a:t>
            </a:r>
            <a:r>
              <a:rPr lang="en-US" dirty="0">
                <a:solidFill>
                  <a:srgbClr val="000000"/>
                </a:solidFill>
              </a:rPr>
              <a:t>, </a:t>
            </a:r>
            <a:r>
              <a:rPr lang="en-US" i="1" dirty="0">
                <a:solidFill>
                  <a:srgbClr val="000000"/>
                </a:solidFill>
              </a:rPr>
              <a:t>y</a:t>
            </a:r>
            <a:r>
              <a:rPr lang="en-US" baseline="-25000" dirty="0">
                <a:solidFill>
                  <a:srgbClr val="000000"/>
                </a:solidFill>
              </a:rPr>
              <a:t>1</a:t>
            </a:r>
            <a:r>
              <a:rPr lang="en-US" dirty="0">
                <a:solidFill>
                  <a:srgbClr val="000000"/>
                </a:solidFill>
              </a:rPr>
              <a:t>) and (</a:t>
            </a:r>
            <a:r>
              <a:rPr lang="en-US" i="1" dirty="0">
                <a:solidFill>
                  <a:srgbClr val="000000"/>
                </a:solidFill>
              </a:rPr>
              <a:t>x</a:t>
            </a:r>
            <a:r>
              <a:rPr lang="en-US" baseline="-25000" dirty="0">
                <a:solidFill>
                  <a:srgbClr val="000000"/>
                </a:solidFill>
              </a:rPr>
              <a:t>2</a:t>
            </a:r>
            <a:r>
              <a:rPr lang="en-US" dirty="0">
                <a:solidFill>
                  <a:srgbClr val="000000"/>
                </a:solidFill>
              </a:rPr>
              <a:t>, </a:t>
            </a:r>
            <a:r>
              <a:rPr lang="en-US" i="1" dirty="0">
                <a:solidFill>
                  <a:srgbClr val="000000"/>
                </a:solidFill>
              </a:rPr>
              <a:t>y</a:t>
            </a:r>
            <a:r>
              <a:rPr lang="en-US" baseline="-25000" dirty="0">
                <a:solidFill>
                  <a:srgbClr val="000000"/>
                </a:solidFill>
              </a:rPr>
              <a:t>2</a:t>
            </a:r>
            <a:r>
              <a:rPr lang="en-US" dirty="0">
                <a:solidFill>
                  <a:srgbClr val="000000"/>
                </a:solidFill>
              </a:rPr>
              <a:t>).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If one line has a slope of zero, how do you know all the other lines have a slope of zero?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What is another way to demonstrate the slope is undefined?</a:t>
            </a:r>
            <a:endParaRPr lang="en-US" sz="1200" dirty="0">
              <a:solidFill>
                <a:srgbClr val="000000"/>
              </a:solidFill>
              <a:latin typeface="Calibri"/>
              <a:ea typeface="Calibri"/>
              <a:cs typeface="Calibri"/>
              <a:sym typeface="Calibri"/>
            </a:endParaRPr>
          </a:p>
        </p:txBody>
      </p:sp>
      <p:sp>
        <p:nvSpPr>
          <p:cNvPr id="657" name="Google Shape;657;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2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3" name="Google Shape;663;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Demonstrate the slope is zero using two points from a line.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Demonstrate the slope is zero using points (</a:t>
            </a:r>
            <a:r>
              <a:rPr lang="en-US" i="1" dirty="0">
                <a:solidFill>
                  <a:srgbClr val="000000"/>
                </a:solidFill>
              </a:rPr>
              <a:t>x</a:t>
            </a:r>
            <a:r>
              <a:rPr lang="en-US" baseline="-25000" dirty="0">
                <a:solidFill>
                  <a:srgbClr val="000000"/>
                </a:solidFill>
              </a:rPr>
              <a:t>1</a:t>
            </a:r>
            <a:r>
              <a:rPr lang="en-US" dirty="0">
                <a:solidFill>
                  <a:srgbClr val="000000"/>
                </a:solidFill>
              </a:rPr>
              <a:t>, </a:t>
            </a:r>
            <a:r>
              <a:rPr lang="en-US" i="1" dirty="0">
                <a:solidFill>
                  <a:srgbClr val="000000"/>
                </a:solidFill>
              </a:rPr>
              <a:t>y</a:t>
            </a:r>
            <a:r>
              <a:rPr lang="en-US" baseline="-25000" dirty="0">
                <a:solidFill>
                  <a:srgbClr val="000000"/>
                </a:solidFill>
              </a:rPr>
              <a:t>1</a:t>
            </a:r>
            <a:r>
              <a:rPr lang="en-US" dirty="0">
                <a:solidFill>
                  <a:srgbClr val="000000"/>
                </a:solidFill>
              </a:rPr>
              <a:t>) and (</a:t>
            </a:r>
            <a:r>
              <a:rPr lang="en-US" i="1" dirty="0">
                <a:solidFill>
                  <a:srgbClr val="000000"/>
                </a:solidFill>
              </a:rPr>
              <a:t>x</a:t>
            </a:r>
            <a:r>
              <a:rPr lang="en-US" baseline="-25000" dirty="0">
                <a:solidFill>
                  <a:srgbClr val="000000"/>
                </a:solidFill>
              </a:rPr>
              <a:t>2</a:t>
            </a:r>
            <a:r>
              <a:rPr lang="en-US" dirty="0">
                <a:solidFill>
                  <a:srgbClr val="000000"/>
                </a:solidFill>
              </a:rPr>
              <a:t>, </a:t>
            </a:r>
            <a:r>
              <a:rPr lang="en-US" i="1" dirty="0">
                <a:solidFill>
                  <a:srgbClr val="000000"/>
                </a:solidFill>
              </a:rPr>
              <a:t>y</a:t>
            </a:r>
            <a:r>
              <a:rPr lang="en-US" baseline="-25000" dirty="0">
                <a:solidFill>
                  <a:srgbClr val="000000"/>
                </a:solidFill>
              </a:rPr>
              <a:t>2</a:t>
            </a:r>
            <a:r>
              <a:rPr lang="en-US" dirty="0">
                <a:solidFill>
                  <a:srgbClr val="000000"/>
                </a:solidFill>
              </a:rPr>
              <a:t>).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If one line has a slope of zero, how do you know all the other lines have a slope of zero?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What is another way to demonstrate the slope is undefined?</a:t>
            </a:r>
            <a:endParaRPr lang="en-US" sz="1200" dirty="0">
              <a:solidFill>
                <a:srgbClr val="000000"/>
              </a:solidFill>
              <a:latin typeface="Calibri"/>
              <a:ea typeface="Calibri"/>
              <a:cs typeface="Calibri"/>
              <a:sym typeface="Calibri"/>
            </a:endParaRPr>
          </a:p>
        </p:txBody>
      </p:sp>
      <p:sp>
        <p:nvSpPr>
          <p:cNvPr id="664" name="Google Shape;664;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2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0" name="Google Shape;670;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do you know the form of the equation for a horizontal or vertical line?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use a table of values to verify your reasoning? A graph?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What is the slope of the original line? What is the reciprocal of that slope?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do you know which number from the ordered pair to use in your equation?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Does the relationship that perpendicular lines have negative reciprocal slopes apply to vertical and horizontal lines? Explain your thinking.</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Reflecting and Justifying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Sketch a graph to verify your thinking.</a:t>
            </a:r>
            <a:endParaRPr sz="1200" dirty="0">
              <a:solidFill>
                <a:srgbClr val="000000"/>
              </a:solidFill>
              <a:latin typeface="Calibri"/>
              <a:ea typeface="Calibri"/>
              <a:cs typeface="Calibri"/>
              <a:sym typeface="Calibri"/>
            </a:endParaRPr>
          </a:p>
        </p:txBody>
      </p:sp>
      <p:sp>
        <p:nvSpPr>
          <p:cNvPr id="671" name="Google Shape;671;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2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do you know the form of the equation for a horizontal or vertical line?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use a table of values to verify your reasoning? A graph?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What is the slope of the original line? What is the reciprocal of that slope?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do you know which number from the ordered pair to use in your equation?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Does the relationship that perpendicular lines have negative reciprocal slopes apply to vertical and horizontal lines? Explain your thinking.</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Reflecting and Justifying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Sketch a graph to verify your thinking.</a:t>
            </a:r>
            <a:endParaRPr lang="en-US" sz="1200" dirty="0">
              <a:solidFill>
                <a:srgbClr val="000000"/>
              </a:solidFill>
              <a:latin typeface="Calibri"/>
              <a:ea typeface="Calibri"/>
              <a:cs typeface="Calibri"/>
              <a:sym typeface="Calibri"/>
            </a:endParaRPr>
          </a:p>
        </p:txBody>
      </p:sp>
      <p:sp>
        <p:nvSpPr>
          <p:cNvPr id="678" name="Google Shape;678;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2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4" name="Google Shape;684;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Activity 3.2 Summary:</a:t>
            </a:r>
            <a:endParaRPr dirty="0">
              <a:solidFill>
                <a:srgbClr val="000000"/>
              </a:solidFill>
            </a:endParaRPr>
          </a:p>
          <a:p>
            <a:pPr marL="0" lvl="0" indent="0" algn="l" rtl="0">
              <a:spcBef>
                <a:spcPts val="0"/>
              </a:spcBef>
              <a:spcAft>
                <a:spcPts val="0"/>
              </a:spcAft>
              <a:buNone/>
            </a:pPr>
            <a:r>
              <a:rPr lang="en-US" dirty="0">
                <a:solidFill>
                  <a:srgbClr val="000000"/>
                </a:solidFill>
              </a:rPr>
              <a:t>Any vertical line and any horizontal line are perpendicular to each other.</a:t>
            </a:r>
            <a:endParaRPr sz="1200" b="0" dirty="0">
              <a:solidFill>
                <a:srgbClr val="000000"/>
              </a:solidFill>
              <a:latin typeface="Calibri"/>
              <a:ea typeface="Calibri"/>
              <a:cs typeface="Calibri"/>
              <a:sym typeface="Calibri"/>
            </a:endParaRPr>
          </a:p>
        </p:txBody>
      </p:sp>
      <p:sp>
        <p:nvSpPr>
          <p:cNvPr id="685" name="Google Shape;685;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2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2" name="Google Shape;692;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This slide is blank for optional use with displaying work.</a:t>
            </a:r>
            <a:endParaRPr dirty="0">
              <a:solidFill>
                <a:srgbClr val="000000"/>
              </a:solidFill>
            </a:endParaRPr>
          </a:p>
        </p:txBody>
      </p:sp>
      <p:sp>
        <p:nvSpPr>
          <p:cNvPr id="693" name="Google Shape;693;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3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Activity 3.3.</a:t>
            </a:r>
            <a:endParaRPr dirty="0">
              <a:solidFill>
                <a:srgbClr val="000000"/>
              </a:solidFill>
            </a:endParaRPr>
          </a:p>
        </p:txBody>
      </p:sp>
      <p:sp>
        <p:nvSpPr>
          <p:cNvPr id="700" name="Google Shape;700;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3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know what slope to use in your equation?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use the point the line passes through to help write your equation?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Explain how you used the slope formula to write the equation of the line.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check that your answer is correct?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determine the slope to use in your equation without being given a perpendicular slope?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was knowing the point of intersection helpful?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was the information given in Question 5 similar to the information given in Questions 3 and 4?</a:t>
            </a:r>
            <a:endParaRPr sz="1200" dirty="0">
              <a:solidFill>
                <a:srgbClr val="000000"/>
              </a:solidFill>
              <a:latin typeface="Calibri"/>
              <a:ea typeface="Calibri"/>
              <a:cs typeface="Calibri"/>
              <a:sym typeface="Calibri"/>
            </a:endParaRPr>
          </a:p>
        </p:txBody>
      </p:sp>
      <p:sp>
        <p:nvSpPr>
          <p:cNvPr id="708" name="Google Shape;708;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5" name="Google Shape;715;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know what slope to use in your equation?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use the point the line passes through to help write your equation? </a:t>
            </a:r>
          </a:p>
          <a:p>
            <a:pPr marL="171450" lvl="0" indent="-171450" algn="l" rtl="0">
              <a:spcBef>
                <a:spcPts val="0"/>
              </a:spcBef>
              <a:spcAft>
                <a:spcPts val="0"/>
              </a:spcAft>
              <a:buFont typeface="Arial" panose="020B0604020202020204" pitchFamily="34" charset="0"/>
              <a:buChar char="•"/>
            </a:pPr>
            <a:r>
              <a:rPr lang="en-US" dirty="0">
                <a:solidFill>
                  <a:srgbClr val="000000"/>
                </a:solidFill>
              </a:rPr>
              <a:t>Explain how you used the slope formula to write the equation of the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check that your answer is correct?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determine the slope to use in your equation without being given a perpendicular slope?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was knowing the point of intersection helpful?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was the information given in Question 5 similar to the information given in Questions 3 and 4?</a:t>
            </a:r>
            <a:endParaRPr lang="en-US" sz="1200" dirty="0">
              <a:solidFill>
                <a:srgbClr val="000000"/>
              </a:solidFill>
              <a:latin typeface="Calibri"/>
              <a:ea typeface="Calibri"/>
              <a:cs typeface="Calibri"/>
              <a:sym typeface="Calibri"/>
            </a:endParaRPr>
          </a:p>
        </p:txBody>
      </p:sp>
      <p:sp>
        <p:nvSpPr>
          <p:cNvPr id="716" name="Google Shape;716;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p3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know what slope to use in your equation?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use the point the line passes through to help write your equation? </a:t>
            </a:r>
          </a:p>
          <a:p>
            <a:pPr marL="171450" lvl="0" indent="-171450" algn="l" rtl="0">
              <a:spcBef>
                <a:spcPts val="0"/>
              </a:spcBef>
              <a:spcAft>
                <a:spcPts val="0"/>
              </a:spcAft>
              <a:buFont typeface="Arial" panose="020B0604020202020204" pitchFamily="34" charset="0"/>
              <a:buChar char="•"/>
            </a:pPr>
            <a:r>
              <a:rPr lang="en-US" dirty="0">
                <a:solidFill>
                  <a:srgbClr val="000000"/>
                </a:solidFill>
              </a:rPr>
              <a:t>Explain how you used the slope formula to write the equation of the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check that your answer is correct?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determine the slope to use in your equation without being given a perpendicular slope?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was knowing the point of intersection helpful?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was the information given in Question 5 similar to the information given in Questions 3 and 4?</a:t>
            </a:r>
            <a:endParaRPr lang="en-US" sz="1200" dirty="0">
              <a:solidFill>
                <a:srgbClr val="000000"/>
              </a:solidFill>
              <a:latin typeface="Calibri"/>
              <a:ea typeface="Calibri"/>
              <a:cs typeface="Calibri"/>
              <a:sym typeface="Calibri"/>
            </a:endParaRPr>
          </a:p>
        </p:txBody>
      </p:sp>
      <p:sp>
        <p:nvSpPr>
          <p:cNvPr id="723" name="Google Shape;723;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3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9" name="Google Shape;72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Activity 3.3 Summary:</a:t>
            </a:r>
            <a:endParaRPr dirty="0">
              <a:solidFill>
                <a:srgbClr val="000000"/>
              </a:solidFill>
            </a:endParaRPr>
          </a:p>
          <a:p>
            <a:pPr marL="0" lvl="0" indent="0" algn="l" rtl="0">
              <a:spcBef>
                <a:spcPts val="0"/>
              </a:spcBef>
              <a:spcAft>
                <a:spcPts val="0"/>
              </a:spcAft>
              <a:buNone/>
            </a:pPr>
            <a:r>
              <a:rPr lang="en-US" dirty="0">
                <a:solidFill>
                  <a:srgbClr val="000000"/>
                </a:solidFill>
              </a:rPr>
              <a:t>To write the equation of a line perpendicular to a given line, it is necessary to use the negative reciprocal relationship between their slopes.</a:t>
            </a:r>
            <a:endParaRPr sz="1200" b="0" dirty="0">
              <a:solidFill>
                <a:srgbClr val="000000"/>
              </a:solidFill>
              <a:latin typeface="Calibri"/>
              <a:ea typeface="Calibri"/>
              <a:cs typeface="Calibri"/>
              <a:sym typeface="Calibri"/>
            </a:endParaRPr>
          </a:p>
        </p:txBody>
      </p:sp>
      <p:sp>
        <p:nvSpPr>
          <p:cNvPr id="730" name="Google Shape;73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3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7" name="Google Shape;737;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This slide is blank for optional use with displaying work.</a:t>
            </a:r>
            <a:endParaRPr dirty="0">
              <a:solidFill>
                <a:srgbClr val="000000"/>
              </a:solidFill>
            </a:endParaRPr>
          </a:p>
        </p:txBody>
      </p:sp>
      <p:sp>
        <p:nvSpPr>
          <p:cNvPr id="738" name="Google Shape;738;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3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5 minutes allotted for the Talk the Talk.</a:t>
            </a:r>
            <a:endParaRPr dirty="0">
              <a:solidFill>
                <a:srgbClr val="000000"/>
              </a:solidFill>
            </a:endParaRPr>
          </a:p>
        </p:txBody>
      </p:sp>
      <p:sp>
        <p:nvSpPr>
          <p:cNvPr id="745" name="Google Shape;745;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3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sz="1200" dirty="0">
              <a:solidFill>
                <a:srgbClr val="000000"/>
              </a:solidFill>
              <a:latin typeface="Calibri"/>
              <a:ea typeface="Calibri"/>
              <a:cs typeface="Calibri"/>
              <a:sym typeface="Calibri"/>
            </a:endParaRPr>
          </a:p>
        </p:txBody>
      </p:sp>
      <p:sp>
        <p:nvSpPr>
          <p:cNvPr id="752" name="Google Shape;752;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3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0" name="Google Shape;760;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r>
              <a:rPr lang="en-US" b="1" dirty="0">
                <a:solidFill>
                  <a:srgbClr val="000000"/>
                </a:solidFill>
              </a:rPr>
              <a:t>Questions to Support Discourse – Gathering:</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How can algebra be used to determine whether the lines are perpendicular? </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How can patty paper be used to determine whether the lines are perpendicular?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Arial"/>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Arial"/>
              <a:buNone/>
            </a:pPr>
            <a:r>
              <a:rPr lang="en-US" b="1" dirty="0">
                <a:solidFill>
                  <a:srgbClr val="000000"/>
                </a:solidFill>
              </a:rPr>
              <a:t>Questions to Support Discourse – Probing:</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When you know that one line out of a set of parallel lines is not perpendicular to a line out of another set of parallel lines, can you conclude that none of the lines are perpendicular? Why or why not?</a:t>
            </a:r>
            <a:endParaRPr sz="1200" dirty="0">
              <a:solidFill>
                <a:srgbClr val="000000"/>
              </a:solidFill>
              <a:latin typeface="Calibri"/>
              <a:ea typeface="Calibri"/>
              <a:cs typeface="Calibri"/>
              <a:sym typeface="Calibri"/>
            </a:endParaRPr>
          </a:p>
        </p:txBody>
      </p:sp>
      <p:sp>
        <p:nvSpPr>
          <p:cNvPr id="761" name="Google Shape;761;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p3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a:ea typeface="Calibri"/>
                <a:cs typeface="Calibri"/>
                <a:sym typeface="Calibri"/>
              </a:rPr>
              <a:t>Note:</a:t>
            </a:r>
            <a:r>
              <a:rPr lang="en-US" sz="1200" b="0" dirty="0">
                <a:solidFill>
                  <a:srgbClr val="000000"/>
                </a:solidFill>
                <a:latin typeface="Calibri"/>
                <a:ea typeface="Calibri"/>
                <a:cs typeface="Calibri"/>
                <a:sym typeface="Calibri"/>
              </a:rPr>
              <a:t> To close Day 2, have students read and answer the Essential Question and then read the Stamp the Learning summary aloud.</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sz="1200" b="0" dirty="0">
              <a:solidFill>
                <a:srgbClr val="000000"/>
              </a:solidFill>
              <a:latin typeface="Calibri"/>
              <a:ea typeface="Calibri"/>
              <a:cs typeface="Calibri"/>
              <a:sym typeface="Calibri"/>
            </a:endParaRPr>
          </a:p>
          <a:p>
            <a:pPr marL="0" lvl="0" indent="0" algn="l" rtl="0">
              <a:spcBef>
                <a:spcPts val="0"/>
              </a:spcBef>
              <a:spcAft>
                <a:spcPts val="0"/>
              </a:spcAft>
              <a:buNone/>
            </a:pPr>
            <a:r>
              <a:rPr lang="en-US" sz="1200" b="1" dirty="0">
                <a:solidFill>
                  <a:srgbClr val="000000"/>
                </a:solidFill>
                <a:latin typeface="Calibri"/>
                <a:ea typeface="Calibri"/>
                <a:cs typeface="Calibri"/>
                <a:sym typeface="Calibri"/>
              </a:rPr>
              <a:t>Essential Question:</a:t>
            </a:r>
            <a:endParaRPr dirty="0">
              <a:solidFill>
                <a:srgbClr val="000000"/>
              </a:solidFill>
            </a:endParaRPr>
          </a:p>
          <a:p>
            <a:pPr marL="0" lvl="0" indent="0" algn="l" rtl="0">
              <a:spcBef>
                <a:spcPts val="0"/>
              </a:spcBef>
              <a:spcAft>
                <a:spcPts val="0"/>
              </a:spcAft>
              <a:buNone/>
            </a:pPr>
            <a:r>
              <a:rPr lang="en-US" sz="1200" b="0" dirty="0">
                <a:solidFill>
                  <a:srgbClr val="000000"/>
                </a:solidFill>
                <a:latin typeface="Calibri"/>
                <a:ea typeface="Calibri"/>
                <a:cs typeface="Calibri"/>
                <a:sym typeface="Calibri"/>
              </a:rPr>
              <a:t>Sample answer: </a:t>
            </a:r>
            <a:r>
              <a:rPr lang="en-US" dirty="0">
                <a:solidFill>
                  <a:srgbClr val="000000"/>
                </a:solidFill>
              </a:rPr>
              <a:t>The slopes of perpendicular lines are negative reciprocals. Any vertical line is perpendicular to any horizontal line.</a:t>
            </a:r>
            <a:endParaRPr sz="1200" b="1" dirty="0">
              <a:solidFill>
                <a:srgbClr val="000000"/>
              </a:solidFill>
              <a:latin typeface="Calibri"/>
              <a:ea typeface="Calibri"/>
              <a:cs typeface="Calibri"/>
              <a:sym typeface="Calibri"/>
            </a:endParaRPr>
          </a:p>
          <a:p>
            <a:pPr marL="0" lvl="0" indent="0" algn="l" rtl="0">
              <a:spcBef>
                <a:spcPts val="0"/>
              </a:spcBef>
              <a:spcAft>
                <a:spcPts val="0"/>
              </a:spcAft>
              <a:buNone/>
            </a:pPr>
            <a:endParaRPr sz="1200" b="1" dirty="0">
              <a:solidFill>
                <a:srgbClr val="000000"/>
              </a:solidFill>
              <a:latin typeface="Calibri"/>
              <a:ea typeface="Calibri"/>
              <a:cs typeface="Calibri"/>
              <a:sym typeface="Calibri"/>
            </a:endParaRPr>
          </a:p>
          <a:p>
            <a:pPr marL="0" lvl="0" indent="0" algn="l" rtl="0">
              <a:spcBef>
                <a:spcPts val="0"/>
              </a:spcBef>
              <a:spcAft>
                <a:spcPts val="0"/>
              </a:spcAft>
              <a:buNone/>
            </a:pPr>
            <a:r>
              <a:rPr lang="en-US" sz="1200" b="1" dirty="0">
                <a:solidFill>
                  <a:srgbClr val="000000"/>
                </a:solidFill>
                <a:latin typeface="Calibri"/>
                <a:ea typeface="Calibri"/>
                <a:cs typeface="Calibri"/>
                <a:sym typeface="Calibri"/>
              </a:rPr>
              <a:t>Talk the Talk Summary:</a:t>
            </a:r>
            <a:endParaRPr dirty="0">
              <a:solidFill>
                <a:srgbClr val="000000"/>
              </a:solidFill>
            </a:endParaRPr>
          </a:p>
          <a:p>
            <a:pPr marL="0" lvl="0" indent="0" algn="l" rtl="0">
              <a:spcBef>
                <a:spcPts val="0"/>
              </a:spcBef>
              <a:spcAft>
                <a:spcPts val="0"/>
              </a:spcAft>
              <a:buNone/>
            </a:pPr>
            <a:r>
              <a:rPr lang="en-US" dirty="0">
                <a:solidFill>
                  <a:srgbClr val="000000"/>
                </a:solidFill>
              </a:rPr>
              <a:t>The slopes of lines graphed on a coordinate plane must be negative reciprocals in order for the lines to be defined as perpendicular</a:t>
            </a:r>
            <a:r>
              <a:rPr lang="en-US" sz="1200" b="0" i="0" u="none" strike="noStrike" dirty="0">
                <a:solidFill>
                  <a:srgbClr val="000000"/>
                </a:solidFill>
                <a:latin typeface="Calibri"/>
                <a:ea typeface="Calibri"/>
                <a:cs typeface="Calibri"/>
                <a:sym typeface="Calibri"/>
              </a:rPr>
              <a:t>.</a:t>
            </a:r>
            <a:endParaRPr dirty="0">
              <a:solidFill>
                <a:srgbClr val="000000"/>
              </a:solidFill>
            </a:endParaRPr>
          </a:p>
        </p:txBody>
      </p:sp>
      <p:sp>
        <p:nvSpPr>
          <p:cNvPr id="770" name="Google Shape;770;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4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a:ea typeface="Calibri"/>
                <a:cs typeface="Calibri"/>
                <a:sym typeface="Calibri"/>
              </a:rPr>
              <a:t>Note: </a:t>
            </a:r>
            <a:r>
              <a:rPr lang="en-US" sz="1200" dirty="0">
                <a:solidFill>
                  <a:srgbClr val="000000"/>
                </a:solidFill>
                <a:latin typeface="Calibri"/>
                <a:ea typeface="Calibri"/>
                <a:cs typeface="Calibri"/>
                <a:sym typeface="Calibri"/>
              </a:rPr>
              <a:t>This slide is blank for optional use with displaying work.</a:t>
            </a:r>
            <a:endParaRPr sz="1200" b="0" dirty="0">
              <a:solidFill>
                <a:srgbClr val="000000"/>
              </a:solidFill>
              <a:latin typeface="Calibri"/>
              <a:ea typeface="Calibri"/>
              <a:cs typeface="Calibri"/>
              <a:sym typeface="Calibri"/>
            </a:endParaRPr>
          </a:p>
        </p:txBody>
      </p:sp>
      <p:sp>
        <p:nvSpPr>
          <p:cNvPr id="778" name="Google Shape;778;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p4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4" name="Google Shape;784;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i="0" u="none" strike="noStrike" dirty="0">
                <a:solidFill>
                  <a:srgbClr val="000000"/>
                </a:solidFill>
                <a:latin typeface="Calibri"/>
                <a:ea typeface="Calibri"/>
                <a:cs typeface="Calibri"/>
                <a:sym typeface="Calibri"/>
              </a:rPr>
              <a:t>How can you identify whether students are ready for new learning?</a:t>
            </a:r>
            <a:r>
              <a:rPr lang="en-US" sz="1200" b="0" i="0" u="none" strike="noStrike" dirty="0">
                <a:solidFill>
                  <a:srgbClr val="000000"/>
                </a:solidFill>
                <a:latin typeface="Calibri"/>
                <a:ea typeface="Calibri"/>
                <a:cs typeface="Calibri"/>
                <a:sym typeface="Calibri"/>
              </a:rPr>
              <a:t> </a:t>
            </a:r>
            <a:r>
              <a:rPr lang="en-US" sz="1200" b="0" i="0" dirty="0">
                <a:solidFill>
                  <a:srgbClr val="000000"/>
                </a:solidFill>
                <a:latin typeface="Calibri"/>
                <a:ea typeface="Calibri"/>
                <a:cs typeface="Calibri"/>
                <a:sym typeface="Calibri"/>
              </a:rPr>
              <a:t>​</a:t>
            </a:r>
            <a:endParaRPr dirty="0">
              <a:solidFill>
                <a:srgbClr val="000000"/>
              </a:solidFill>
            </a:endParaRPr>
          </a:p>
          <a:p>
            <a:pPr marL="0" lvl="0" indent="0" algn="l" rtl="0">
              <a:spcBef>
                <a:spcPts val="0"/>
              </a:spcBef>
              <a:spcAft>
                <a:spcPts val="0"/>
              </a:spcAft>
              <a:buNone/>
            </a:pPr>
            <a:r>
              <a:rPr lang="en-US" sz="1200" b="0" i="0" u="none" strike="noStrike" dirty="0">
                <a:solidFill>
                  <a:srgbClr val="000000"/>
                </a:solidFill>
                <a:latin typeface="Calibri"/>
                <a:ea typeface="Calibri"/>
                <a:cs typeface="Calibri"/>
                <a:sym typeface="Calibri"/>
              </a:rPr>
              <a:t>Depending on available time, you can assign the Prepare section of the Lesson Assignments as homework or as a warm-up to identify students' prior knowledge for the upcoming lesson's activities.</a:t>
            </a:r>
            <a:endParaRPr sz="1200" dirty="0">
              <a:solidFill>
                <a:srgbClr val="000000"/>
              </a:solidFill>
              <a:latin typeface="Calibri"/>
              <a:ea typeface="Calibri"/>
              <a:cs typeface="Calibri"/>
              <a:sym typeface="Calibri"/>
            </a:endParaRPr>
          </a:p>
        </p:txBody>
      </p:sp>
      <p:sp>
        <p:nvSpPr>
          <p:cNvPr id="785" name="Google Shape;785;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4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dirty="0">
              <a:solidFill>
                <a:srgbClr val="000000"/>
              </a:solidFill>
              <a:latin typeface="Calibri"/>
              <a:ea typeface="Calibri"/>
              <a:cs typeface="Calibri"/>
              <a:sym typeface="Calibri"/>
            </a:endParaRPr>
          </a:p>
        </p:txBody>
      </p:sp>
      <p:sp>
        <p:nvSpPr>
          <p:cNvPr id="791" name="Google Shape;791;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4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olidFill>
                <a:srgbClr val="000000"/>
              </a:solidFill>
              <a:latin typeface="Calibri"/>
              <a:ea typeface="Calibri"/>
              <a:cs typeface="Calibri"/>
              <a:sym typeface="Calibri"/>
            </a:endParaRPr>
          </a:p>
        </p:txBody>
      </p:sp>
      <p:sp>
        <p:nvSpPr>
          <p:cNvPr id="798" name="Google Shape;798;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4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 name="Google Shape;803;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olidFill>
                <a:srgbClr val="000000"/>
              </a:solidFill>
              <a:latin typeface="Calibri"/>
              <a:ea typeface="Calibri"/>
              <a:cs typeface="Calibri"/>
              <a:sym typeface="Calibri"/>
            </a:endParaRPr>
          </a:p>
        </p:txBody>
      </p:sp>
      <p:sp>
        <p:nvSpPr>
          <p:cNvPr id="804" name="Google Shape;804;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hyperlink" Target="https://creativecommons.org/licenses/by-nc/4.0"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7.png"/><Relationship Id="rId1" Type="http://schemas.openxmlformats.org/officeDocument/2006/relationships/slideMaster" Target="../slideMasters/slideMaster3.xml"/><Relationship Id="rId5" Type="http://schemas.openxmlformats.org/officeDocument/2006/relationships/image" Target="../media/image9.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9.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Alg I_Title Slide">
  <p:cSld name="2_Alg I_Title Slide">
    <p:bg>
      <p:bgPr>
        <a:solidFill>
          <a:schemeClr val="lt1"/>
        </a:solidFill>
        <a:effectLst/>
      </p:bgPr>
    </p:bg>
    <p:spTree>
      <p:nvGrpSpPr>
        <p:cNvPr id="1" name="Shape 10"/>
        <p:cNvGrpSpPr/>
        <p:nvPr/>
      </p:nvGrpSpPr>
      <p:grpSpPr>
        <a:xfrm>
          <a:off x="0" y="0"/>
          <a:ext cx="0" cy="0"/>
          <a:chOff x="0" y="0"/>
          <a:chExt cx="0" cy="0"/>
        </a:xfrm>
      </p:grpSpPr>
      <p:sp>
        <p:nvSpPr>
          <p:cNvPr id="11" name="Google Shape;11;p46"/>
          <p:cNvSpPr txBox="1">
            <a:spLocks noGrp="1"/>
          </p:cNvSpPr>
          <p:nvPr>
            <p:ph type="body" idx="1"/>
          </p:nvPr>
        </p:nvSpPr>
        <p:spPr>
          <a:xfrm>
            <a:off x="-1590" y="1622759"/>
            <a:ext cx="12192003" cy="181913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236739"/>
              </a:buClr>
              <a:buSzPts val="6000"/>
              <a:buFont typeface="Arial"/>
              <a:buNone/>
              <a:defRPr sz="6000" b="1" i="0" u="none" strike="noStrike" cap="none">
                <a:solidFill>
                  <a:srgbClr val="236739"/>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6"/>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36739"/>
              </a:buClr>
              <a:buSzPts val="4400"/>
              <a:buFont typeface="Arial"/>
              <a:buNone/>
              <a:defRPr sz="4400" b="0" i="0" u="none" strike="noStrike" cap="none">
                <a:solidFill>
                  <a:srgbClr val="236739"/>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 name="Google Shape;13;p46"/>
          <p:cNvSpPr/>
          <p:nvPr/>
        </p:nvSpPr>
        <p:spPr>
          <a:xfrm rot="10800000" flipH="1">
            <a:off x="0" y="0"/>
            <a:ext cx="2467555" cy="954942"/>
          </a:xfrm>
          <a:prstGeom prst="round1Rect">
            <a:avLst>
              <a:gd name="adj" fmla="val 16667"/>
            </a:avLst>
          </a:prstGeom>
          <a:solidFill>
            <a:srgbClr val="2B81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 name="Google Shape;14;p46"/>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lt1"/>
                </a:solidFill>
                <a:latin typeface="Calibri"/>
                <a:ea typeface="Calibri"/>
                <a:cs typeface="Calibri"/>
                <a:sym typeface="Calibri"/>
              </a:rPr>
              <a:t>ENGLISH</a:t>
            </a:r>
            <a:endParaRPr/>
          </a:p>
        </p:txBody>
      </p:sp>
      <p:pic>
        <p:nvPicPr>
          <p:cNvPr id="15" name="Google Shape;15;p46" descr="A blue and black logo&#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16" name="Google Shape;16;p46"/>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u="none" strike="noStrike" cap="none">
                <a:solidFill>
                  <a:srgbClr val="000000"/>
                </a:solidFill>
                <a:latin typeface="Calibri"/>
                <a:ea typeface="Calibri"/>
                <a:cs typeface="Calibri"/>
                <a:sym typeface="Calibri"/>
              </a:rPr>
              <a:t>Secondary Mathematics</a:t>
            </a:r>
            <a:endParaRPr/>
          </a:p>
        </p:txBody>
      </p:sp>
      <p:sp>
        <p:nvSpPr>
          <p:cNvPr id="17" name="Google Shape;17;p46"/>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46"/>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u="none" strike="noStrike" cap="none">
                <a:solidFill>
                  <a:srgbClr val="757070"/>
                </a:solidFill>
                <a:latin typeface="Calibri"/>
                <a:ea typeface="Calibri"/>
                <a:cs typeface="Calibri"/>
                <a:sym typeface="Calibri"/>
              </a:rPr>
              <a:t>EDITION 1</a:t>
            </a:r>
            <a:endParaRPr/>
          </a:p>
        </p:txBody>
      </p:sp>
      <p:pic>
        <p:nvPicPr>
          <p:cNvPr id="19" name="Google Shape;19;p4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4663225"/>
            <a:ext cx="12190413" cy="21947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bjective">
  <p:cSld name="Objective">
    <p:spTree>
      <p:nvGrpSpPr>
        <p:cNvPr id="1" name="Shape 20"/>
        <p:cNvGrpSpPr/>
        <p:nvPr/>
      </p:nvGrpSpPr>
      <p:grpSpPr>
        <a:xfrm>
          <a:off x="0" y="0"/>
          <a:ext cx="0" cy="0"/>
          <a:chOff x="0" y="0"/>
          <a:chExt cx="0" cy="0"/>
        </a:xfrm>
      </p:grpSpPr>
      <p:sp>
        <p:nvSpPr>
          <p:cNvPr id="21" name="Google Shape;21;p47"/>
          <p:cNvSpPr/>
          <p:nvPr/>
        </p:nvSpPr>
        <p:spPr>
          <a:xfrm>
            <a:off x="-1586" y="1392600"/>
            <a:ext cx="12192000" cy="54909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47"/>
          <p:cNvSpPr txBox="1">
            <a:spLocks noGrp="1"/>
          </p:cNvSpPr>
          <p:nvPr>
            <p:ph type="body" idx="1"/>
          </p:nvPr>
        </p:nvSpPr>
        <p:spPr>
          <a:xfrm>
            <a:off x="836614" y="2159879"/>
            <a:ext cx="10515599" cy="395641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3A3838"/>
              </a:buClr>
              <a:buSzPts val="4400"/>
              <a:buFont typeface="Arial"/>
              <a:buNone/>
              <a:defRPr sz="4400" b="0" i="0" u="none" strike="noStrike" cap="none">
                <a:solidFill>
                  <a:srgbClr val="3A3838"/>
                </a:solidFill>
                <a:latin typeface="Calibri"/>
                <a:ea typeface="Calibri"/>
                <a:cs typeface="Calibri"/>
                <a:sym typeface="Calibri"/>
              </a:defRPr>
            </a:lvl1pPr>
            <a:lvl2pPr marL="914400" marR="0" lvl="1"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2pPr>
            <a:lvl3pPr marL="1371600" marR="0" lvl="2"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3pPr>
            <a:lvl4pPr marL="1828800" marR="0" lvl="3"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47"/>
          <p:cNvSpPr/>
          <p:nvPr/>
        </p:nvSpPr>
        <p:spPr>
          <a:xfrm>
            <a:off x="0" y="0"/>
            <a:ext cx="7575442" cy="927652"/>
          </a:xfrm>
          <a:prstGeom prst="rect">
            <a:avLst/>
          </a:prstGeom>
          <a:solidFill>
            <a:srgbClr val="2367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4" name="Google Shape;24;p47"/>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7575441" y="0"/>
            <a:ext cx="4614971" cy="931321"/>
          </a:xfrm>
          <a:prstGeom prst="rect">
            <a:avLst/>
          </a:prstGeom>
          <a:noFill/>
          <a:ln>
            <a:noFill/>
          </a:ln>
        </p:spPr>
      </p:pic>
      <p:sp>
        <p:nvSpPr>
          <p:cNvPr id="25" name="Google Shape;25;p47"/>
          <p:cNvSpPr txBox="1">
            <a:spLocks noGrp="1"/>
          </p:cNvSpPr>
          <p:nvPr>
            <p:ph type="title"/>
          </p:nvPr>
        </p:nvSpPr>
        <p:spPr>
          <a:xfrm>
            <a:off x="0" y="0"/>
            <a:ext cx="6094413" cy="926757"/>
          </a:xfrm>
          <a:prstGeom prst="rect">
            <a:avLst/>
          </a:prstGeom>
          <a:noFill/>
          <a:ln>
            <a:noFill/>
          </a:ln>
        </p:spPr>
        <p:txBody>
          <a:bodyPr spcFirstLastPara="1" wrap="square" lIns="457200" tIns="45700" rIns="91425" bIns="45700" anchor="ctr" anchorCtr="0">
            <a:noAutofit/>
          </a:bodyPr>
          <a:lstStyle>
            <a:lvl1pPr marR="0" lvl="0" algn="l" rtl="0">
              <a:lnSpc>
                <a:spcPct val="90000"/>
              </a:lnSpc>
              <a:spcBef>
                <a:spcPts val="0"/>
              </a:spcBef>
              <a:spcAft>
                <a:spcPts val="0"/>
              </a:spcAft>
              <a:buClr>
                <a:schemeClr val="lt1"/>
              </a:buClr>
              <a:buSzPts val="4000"/>
              <a:buFont typeface="Calibri"/>
              <a:buNone/>
              <a:defRPr sz="4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rminology">
  <p:cSld name="Terminology">
    <p:bg>
      <p:bgPr>
        <a:solidFill>
          <a:schemeClr val="lt1"/>
        </a:solidFill>
        <a:effectLst/>
      </p:bgPr>
    </p:bg>
    <p:spTree>
      <p:nvGrpSpPr>
        <p:cNvPr id="1" name="Shape 26"/>
        <p:cNvGrpSpPr/>
        <p:nvPr/>
      </p:nvGrpSpPr>
      <p:grpSpPr>
        <a:xfrm>
          <a:off x="0" y="0"/>
          <a:ext cx="0" cy="0"/>
          <a:chOff x="0" y="0"/>
          <a:chExt cx="0" cy="0"/>
        </a:xfrm>
      </p:grpSpPr>
      <p:sp>
        <p:nvSpPr>
          <p:cNvPr id="27" name="Google Shape;27;p48"/>
          <p:cNvSpPr txBox="1">
            <a:spLocks noGrp="1"/>
          </p:cNvSpPr>
          <p:nvPr>
            <p:ph type="body" idx="1"/>
          </p:nvPr>
        </p:nvSpPr>
        <p:spPr>
          <a:xfrm>
            <a:off x="852488" y="1652588"/>
            <a:ext cx="10515600" cy="11697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 name="Google Shape;28;p48"/>
          <p:cNvSpPr>
            <a:spLocks noGrp="1"/>
          </p:cNvSpPr>
          <p:nvPr>
            <p:ph type="pic" idx="2"/>
          </p:nvPr>
        </p:nvSpPr>
        <p:spPr>
          <a:xfrm>
            <a:off x="3427412" y="3217943"/>
            <a:ext cx="5335588" cy="2505075"/>
          </a:xfrm>
          <a:prstGeom prst="rect">
            <a:avLst/>
          </a:prstGeom>
          <a:noFill/>
          <a:ln>
            <a:noFill/>
          </a:ln>
        </p:spPr>
      </p:sp>
      <p:sp>
        <p:nvSpPr>
          <p:cNvPr id="29" name="Google Shape;29;p4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2B8147"/>
              </a:buClr>
              <a:buSzPts val="4000"/>
              <a:buFont typeface="Calibri"/>
              <a:buNone/>
              <a:defRPr sz="4000" b="0" i="0" u="none" strike="noStrike" cap="none">
                <a:solidFill>
                  <a:srgbClr val="2B8147"/>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0" name="Google Shape;30;p4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lg I_Session Divider">
  <p:cSld name="Alg I_Session Divider">
    <p:bg>
      <p:bgPr>
        <a:solidFill>
          <a:schemeClr val="lt1"/>
        </a:solidFill>
        <a:effectLst/>
      </p:bgPr>
    </p:bg>
    <p:spTree>
      <p:nvGrpSpPr>
        <p:cNvPr id="1" name="Shape 31"/>
        <p:cNvGrpSpPr/>
        <p:nvPr/>
      </p:nvGrpSpPr>
      <p:grpSpPr>
        <a:xfrm>
          <a:off x="0" y="0"/>
          <a:ext cx="0" cy="0"/>
          <a:chOff x="0" y="0"/>
          <a:chExt cx="0" cy="0"/>
        </a:xfrm>
      </p:grpSpPr>
      <p:sp>
        <p:nvSpPr>
          <p:cNvPr id="32" name="Google Shape;32;p49"/>
          <p:cNvSpPr txBox="1"/>
          <p:nvPr/>
        </p:nvSpPr>
        <p:spPr>
          <a:xfrm>
            <a:off x="4629955" y="2955793"/>
            <a:ext cx="1800239" cy="94641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7500" b="1" i="0" u="none" strike="noStrike" cap="none" dirty="0">
                <a:solidFill>
                  <a:srgbClr val="171616"/>
                </a:solidFill>
                <a:latin typeface="Calibri"/>
                <a:ea typeface="Calibri"/>
                <a:cs typeface="Calibri"/>
                <a:sym typeface="Calibri"/>
              </a:rPr>
              <a:t>Day</a:t>
            </a:r>
            <a:endParaRPr sz="7500" b="1" i="0" u="none" strike="noStrike" cap="none" dirty="0">
              <a:solidFill>
                <a:srgbClr val="171616"/>
              </a:solidFill>
              <a:latin typeface="Calibri"/>
              <a:ea typeface="Calibri"/>
              <a:cs typeface="Calibri"/>
              <a:sym typeface="Calibri"/>
            </a:endParaRPr>
          </a:p>
        </p:txBody>
      </p:sp>
      <p:sp>
        <p:nvSpPr>
          <p:cNvPr id="33" name="Google Shape;33;p49"/>
          <p:cNvSpPr txBox="1">
            <a:spLocks noGrp="1"/>
          </p:cNvSpPr>
          <p:nvPr>
            <p:ph type="body" idx="1"/>
          </p:nvPr>
        </p:nvSpPr>
        <p:spPr>
          <a:xfrm>
            <a:off x="6318634" y="2886869"/>
            <a:ext cx="1061883" cy="107156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000000"/>
              </a:buClr>
              <a:buSzPts val="7500"/>
              <a:buFont typeface="Arial"/>
              <a:buNone/>
              <a:defRPr sz="7500" b="1" i="0" u="none" strike="noStrike" cap="none">
                <a:solidFill>
                  <a:srgbClr val="000000"/>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4" name="Google Shape;34;p4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pic>
        <p:nvPicPr>
          <p:cNvPr id="35" name="Google Shape;35;p4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rot="10800000">
            <a:off x="-794" y="-12700"/>
            <a:ext cx="12190413" cy="21947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Alg I_Getting Started">
  <p:cSld name="Alg I_Getting Started">
    <p:bg>
      <p:bgPr>
        <a:solidFill>
          <a:schemeClr val="lt1"/>
        </a:solidFill>
        <a:effectLst/>
      </p:bgPr>
    </p:bg>
    <p:spTree>
      <p:nvGrpSpPr>
        <p:cNvPr id="1" name="Shape 36"/>
        <p:cNvGrpSpPr/>
        <p:nvPr/>
      </p:nvGrpSpPr>
      <p:grpSpPr>
        <a:xfrm>
          <a:off x="0" y="0"/>
          <a:ext cx="0" cy="0"/>
          <a:chOff x="0" y="0"/>
          <a:chExt cx="0" cy="0"/>
        </a:xfrm>
      </p:grpSpPr>
      <p:pic>
        <p:nvPicPr>
          <p:cNvPr id="37" name="Google Shape;37;p50" descr="A green and black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2316529"/>
            <a:ext cx="12190415" cy="2682142"/>
          </a:xfrm>
          <a:prstGeom prst="rect">
            <a:avLst/>
          </a:prstGeom>
          <a:noFill/>
          <a:ln>
            <a:noFill/>
          </a:ln>
        </p:spPr>
      </p:pic>
      <p:sp>
        <p:nvSpPr>
          <p:cNvPr id="38" name="Google Shape;38;p50" descr="A green and black pattern&#10;&#10;AI-generated content may be incorrect."/>
          <p:cNvSpPr txBox="1"/>
          <p:nvPr/>
        </p:nvSpPr>
        <p:spPr>
          <a:xfrm>
            <a:off x="2767915" y="2984501"/>
            <a:ext cx="6660292"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i="0" u="none" strike="noStrike" cap="none">
                <a:solidFill>
                  <a:schemeClr val="lt1"/>
                </a:solidFill>
                <a:latin typeface="Calibri"/>
                <a:ea typeface="Calibri"/>
                <a:cs typeface="Calibri"/>
                <a:sym typeface="Calibri"/>
              </a:rPr>
              <a:t>Getting Started</a:t>
            </a:r>
            <a:endParaRPr sz="7500" b="1" i="0" u="none" strike="noStrike" cap="none">
              <a:solidFill>
                <a:schemeClr val="lt1"/>
              </a:solidFill>
              <a:latin typeface="Calibri"/>
              <a:ea typeface="Calibri"/>
              <a:cs typeface="Calibri"/>
              <a:sym typeface="Calibri"/>
            </a:endParaRPr>
          </a:p>
        </p:txBody>
      </p:sp>
      <p:pic>
        <p:nvPicPr>
          <p:cNvPr id="39" name="Google Shape;39;p50"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40" name="Google Shape;40;p50"/>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Alg I_Activity">
  <p:cSld name="Alg I_Activity">
    <p:bg>
      <p:bgPr>
        <a:solidFill>
          <a:schemeClr val="lt1"/>
        </a:solidFill>
        <a:effectLst/>
      </p:bgPr>
    </p:bg>
    <p:spTree>
      <p:nvGrpSpPr>
        <p:cNvPr id="1" name="Shape 41"/>
        <p:cNvGrpSpPr/>
        <p:nvPr/>
      </p:nvGrpSpPr>
      <p:grpSpPr>
        <a:xfrm>
          <a:off x="0" y="0"/>
          <a:ext cx="0" cy="0"/>
          <a:chOff x="0" y="0"/>
          <a:chExt cx="0" cy="0"/>
        </a:xfrm>
      </p:grpSpPr>
      <p:pic>
        <p:nvPicPr>
          <p:cNvPr id="42" name="Google Shape;42;p51"/>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2"/>
          </a:xfrm>
          <a:prstGeom prst="rect">
            <a:avLst/>
          </a:prstGeom>
          <a:noFill/>
          <a:ln>
            <a:noFill/>
          </a:ln>
        </p:spPr>
      </p:pic>
      <p:sp>
        <p:nvSpPr>
          <p:cNvPr id="43" name="Google Shape;43;p51"/>
          <p:cNvSpPr txBox="1"/>
          <p:nvPr/>
        </p:nvSpPr>
        <p:spPr>
          <a:xfrm>
            <a:off x="3352800" y="2984501"/>
            <a:ext cx="5499100"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endParaRPr sz="7500" b="1">
              <a:solidFill>
                <a:schemeClr val="lt1"/>
              </a:solidFill>
              <a:latin typeface="Calibri"/>
              <a:ea typeface="Calibri"/>
              <a:cs typeface="Calibri"/>
              <a:sym typeface="Calibri"/>
            </a:endParaRPr>
          </a:p>
        </p:txBody>
      </p:sp>
      <p:sp>
        <p:nvSpPr>
          <p:cNvPr id="44" name="Google Shape;44;p51"/>
          <p:cNvSpPr txBox="1"/>
          <p:nvPr/>
        </p:nvSpPr>
        <p:spPr>
          <a:xfrm>
            <a:off x="3340100" y="3136900"/>
            <a:ext cx="3302000" cy="946413"/>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7500" b="1">
                <a:solidFill>
                  <a:schemeClr val="lt1"/>
                </a:solidFill>
                <a:latin typeface="Calibri"/>
                <a:ea typeface="Calibri"/>
                <a:cs typeface="Calibri"/>
                <a:sym typeface="Calibri"/>
              </a:rPr>
              <a:t>Activity </a:t>
            </a:r>
            <a:endParaRPr sz="7500" b="1">
              <a:solidFill>
                <a:schemeClr val="lt1"/>
              </a:solidFill>
              <a:latin typeface="Calibri"/>
              <a:ea typeface="Calibri"/>
              <a:cs typeface="Calibri"/>
              <a:sym typeface="Calibri"/>
            </a:endParaRPr>
          </a:p>
        </p:txBody>
      </p:sp>
      <p:sp>
        <p:nvSpPr>
          <p:cNvPr id="45" name="Google Shape;45;p51"/>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0"/>
              <a:buFont typeface="Arial"/>
              <a:buNone/>
              <a:defRPr sz="7500" b="1"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46" name="Google Shape;46;p51"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47" name="Google Shape;47;p51"/>
          <p:cNvSpPr txBox="1">
            <a:spLocks noGrp="1"/>
          </p:cNvSpPr>
          <p:nvPr>
            <p:ph type="body" idx="2"/>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lg I_Talk the Talk">
  <p:cSld name="Alg I_Talk the Talk">
    <p:bg>
      <p:bgPr>
        <a:solidFill>
          <a:schemeClr val="lt1"/>
        </a:solidFill>
        <a:effectLst/>
      </p:bgPr>
    </p:bg>
    <p:spTree>
      <p:nvGrpSpPr>
        <p:cNvPr id="1" name="Shape 48"/>
        <p:cNvGrpSpPr/>
        <p:nvPr/>
      </p:nvGrpSpPr>
      <p:grpSpPr>
        <a:xfrm>
          <a:off x="0" y="0"/>
          <a:ext cx="0" cy="0"/>
          <a:chOff x="0" y="0"/>
          <a:chExt cx="0" cy="0"/>
        </a:xfrm>
      </p:grpSpPr>
      <p:pic>
        <p:nvPicPr>
          <p:cNvPr id="49" name="Google Shape;49;p5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2"/>
          </a:xfrm>
          <a:prstGeom prst="rect">
            <a:avLst/>
          </a:prstGeom>
          <a:noFill/>
          <a:ln>
            <a:noFill/>
          </a:ln>
        </p:spPr>
      </p:pic>
      <p:sp>
        <p:nvSpPr>
          <p:cNvPr id="50" name="Google Shape;50;p52"/>
          <p:cNvSpPr txBox="1"/>
          <p:nvPr/>
        </p:nvSpPr>
        <p:spPr>
          <a:xfrm>
            <a:off x="3352800" y="2984501"/>
            <a:ext cx="5499100"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Talk the Talk</a:t>
            </a:r>
            <a:endParaRPr sz="7500" b="1">
              <a:solidFill>
                <a:schemeClr val="lt1"/>
              </a:solidFill>
              <a:latin typeface="Calibri"/>
              <a:ea typeface="Calibri"/>
              <a:cs typeface="Calibri"/>
              <a:sym typeface="Calibri"/>
            </a:endParaRPr>
          </a:p>
        </p:txBody>
      </p:sp>
      <p:pic>
        <p:nvPicPr>
          <p:cNvPr id="51" name="Google Shape;51;p52"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52" name="Google Shape;52;p52"/>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Alg I_Getting Started">
  <p:cSld name="1_Alg I_Getting Started">
    <p:bg>
      <p:bgPr>
        <a:solidFill>
          <a:schemeClr val="lt1"/>
        </a:solidFill>
        <a:effectLst/>
      </p:bgPr>
    </p:bg>
    <p:spTree>
      <p:nvGrpSpPr>
        <p:cNvPr id="1" name="Shape 53"/>
        <p:cNvGrpSpPr/>
        <p:nvPr/>
      </p:nvGrpSpPr>
      <p:grpSpPr>
        <a:xfrm>
          <a:off x="0" y="0"/>
          <a:ext cx="0" cy="0"/>
          <a:chOff x="0" y="0"/>
          <a:chExt cx="0" cy="0"/>
        </a:xfrm>
      </p:grpSpPr>
      <p:pic>
        <p:nvPicPr>
          <p:cNvPr id="54" name="Google Shape;54;p53" descr="A green and black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2316529"/>
            <a:ext cx="12190415" cy="2682142"/>
          </a:xfrm>
          <a:prstGeom prst="rect">
            <a:avLst/>
          </a:prstGeom>
          <a:noFill/>
          <a:ln>
            <a:noFill/>
          </a:ln>
        </p:spPr>
      </p:pic>
      <p:sp>
        <p:nvSpPr>
          <p:cNvPr id="55" name="Google Shape;55;p53" descr="A green and black pattern&#10;&#10;AI-generated content may be incorrect."/>
          <p:cNvSpPr txBox="1"/>
          <p:nvPr/>
        </p:nvSpPr>
        <p:spPr>
          <a:xfrm>
            <a:off x="3866323" y="2984501"/>
            <a:ext cx="4432852"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Prepare</a:t>
            </a:r>
            <a:endParaRPr sz="7500" b="1">
              <a:solidFill>
                <a:schemeClr val="lt1"/>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9_G2 Copyright">
  <p:cSld name="9_G2 Copyright">
    <p:bg>
      <p:bgPr>
        <a:solidFill>
          <a:schemeClr val="lt1"/>
        </a:solidFill>
        <a:effectLst/>
      </p:bgPr>
    </p:bg>
    <p:spTree>
      <p:nvGrpSpPr>
        <p:cNvPr id="1" name="Shape 56"/>
        <p:cNvGrpSpPr/>
        <p:nvPr/>
      </p:nvGrpSpPr>
      <p:grpSpPr>
        <a:xfrm>
          <a:off x="0" y="0"/>
          <a:ext cx="0" cy="0"/>
          <a:chOff x="0" y="0"/>
          <a:chExt cx="0" cy="0"/>
        </a:xfrm>
      </p:grpSpPr>
      <p:pic>
        <p:nvPicPr>
          <p:cNvPr id="57" name="Google Shape;57;p54" descr="A pattern with circles and lines&#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932192"/>
            <a:ext cx="12190413" cy="5925808"/>
          </a:xfrm>
          <a:prstGeom prst="rect">
            <a:avLst/>
          </a:prstGeom>
          <a:noFill/>
          <a:ln>
            <a:noFill/>
          </a:ln>
        </p:spPr>
      </p:pic>
      <p:sp>
        <p:nvSpPr>
          <p:cNvPr id="58" name="Google Shape;58;p54"/>
          <p:cNvSpPr/>
          <p:nvPr/>
        </p:nvSpPr>
        <p:spPr>
          <a:xfrm>
            <a:off x="1668545" y="2356700"/>
            <a:ext cx="1715678" cy="2648931"/>
          </a:xfrm>
          <a:prstGeom prst="ellipse">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 name="Google Shape;59;p54"/>
          <p:cNvSpPr/>
          <p:nvPr/>
        </p:nvSpPr>
        <p:spPr>
          <a:xfrm>
            <a:off x="1310326" y="4873659"/>
            <a:ext cx="2073897" cy="679000"/>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 name="Google Shape;60;p54"/>
          <p:cNvSpPr txBox="1"/>
          <p:nvPr/>
        </p:nvSpPr>
        <p:spPr>
          <a:xfrm>
            <a:off x="1023907" y="1792363"/>
            <a:ext cx="10141011" cy="4247317"/>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0000"/>
                </a:solidFill>
                <a:latin typeface="Calibri"/>
                <a:ea typeface="Calibri"/>
                <a:cs typeface="Calibri"/>
                <a:sym typeface="Calibri"/>
              </a:rPr>
              <a:t>Acknowledgment</a:t>
            </a:r>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Thank you to all the Texas educators and stakeholders who supported the review process and provided feedback. These materials are the result of the work of numerous individuals, and we are deeply grateful for their contributions.</a:t>
            </a:r>
            <a:endParaRPr sz="1800">
              <a:solidFill>
                <a:srgbClr val="000000"/>
              </a:solidFill>
              <a:latin typeface="Calibri"/>
              <a:ea typeface="Calibri"/>
              <a:cs typeface="Calibri"/>
              <a:sym typeface="Calibri"/>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b="1">
                <a:solidFill>
                  <a:srgbClr val="000000"/>
                </a:solidFill>
                <a:latin typeface="Calibri"/>
                <a:ea typeface="Calibri"/>
                <a:cs typeface="Calibri"/>
                <a:sym typeface="Calibri"/>
              </a:rPr>
              <a:t>Notice</a:t>
            </a:r>
            <a:endParaRPr sz="1800" b="1">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These learning resources have been built for Texas students, aligned to the Texas Essential Knowledge and Skills, and are made available pursuant to Chapter 31, Subchapter B-1 of the Texas Education Code.</a:t>
            </a: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If you have further questions or to report an error, please email </a:t>
            </a:r>
            <a:r>
              <a:rPr lang="en-US" sz="1800" u="sng">
                <a:solidFill>
                  <a:srgbClr val="0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openeducationresources@tea.texas.gov</a:t>
            </a:r>
            <a:r>
              <a:rPr lang="en-US" sz="1800">
                <a:solidFill>
                  <a:srgbClr val="000000"/>
                </a:solidFill>
                <a:latin typeface="Calibri"/>
                <a:ea typeface="Calibri"/>
                <a:cs typeface="Calibri"/>
                <a:sym typeface="Calibri"/>
              </a:rPr>
              <a:t>.</a:t>
            </a:r>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©2024-2025 Texas Education Agency. Portions of this work are adapted, with permission, from the originals created by and copyright ©2021 Carnegie Learning, Inc. </a:t>
            </a:r>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This work is licensed under a Creative Commons Attribution-Non-Commercial-4.0 International License. For information, visit: </a:t>
            </a:r>
            <a:r>
              <a:rPr lang="en-US" sz="1800" u="sng">
                <a:solidFill>
                  <a:srgbClr val="000000"/>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https://creativecommons.org/licenses/by-nc/4.0</a:t>
            </a:r>
            <a:r>
              <a:rPr lang="en-US" sz="1800">
                <a:solidFill>
                  <a:srgbClr val="000000"/>
                </a:solidFill>
                <a:latin typeface="Calibri"/>
                <a:ea typeface="Calibri"/>
                <a:cs typeface="Calibri"/>
                <a:sym typeface="Calibri"/>
              </a:rPr>
              <a:t>. </a:t>
            </a:r>
            <a:endParaRPr/>
          </a:p>
        </p:txBody>
      </p:sp>
      <p:pic>
        <p:nvPicPr>
          <p:cNvPr id="61" name="Google Shape;61;p54" descr="A blue and black logo&#10;&#10;AI-generated content may be incorrect."/>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84963" y="101527"/>
            <a:ext cx="2080268" cy="682524"/>
          </a:xfrm>
          <a:prstGeom prst="rect">
            <a:avLst/>
          </a:prstGeom>
          <a:noFill/>
          <a:ln>
            <a:noFill/>
          </a:ln>
        </p:spPr>
      </p:pic>
      <p:sp>
        <p:nvSpPr>
          <p:cNvPr id="62" name="Google Shape;62;p54"/>
          <p:cNvSpPr txBox="1"/>
          <p:nvPr/>
        </p:nvSpPr>
        <p:spPr>
          <a:xfrm>
            <a:off x="862304" y="69238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lg I_Back Cover">
  <p:cSld name="Alg I_Back Cover">
    <p:bg>
      <p:bgPr>
        <a:solidFill>
          <a:schemeClr val="lt1"/>
        </a:solidFill>
        <a:effectLst/>
      </p:bgPr>
    </p:bg>
    <p:spTree>
      <p:nvGrpSpPr>
        <p:cNvPr id="1" name="Shape 63"/>
        <p:cNvGrpSpPr/>
        <p:nvPr/>
      </p:nvGrpSpPr>
      <p:grpSpPr>
        <a:xfrm>
          <a:off x="0" y="0"/>
          <a:ext cx="0" cy="0"/>
          <a:chOff x="0" y="0"/>
          <a:chExt cx="0" cy="0"/>
        </a:xfrm>
      </p:grpSpPr>
      <p:pic>
        <p:nvPicPr>
          <p:cNvPr id="64" name="Google Shape;64;p55"/>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4663225"/>
            <a:ext cx="12190413" cy="2194775"/>
          </a:xfrm>
          <a:prstGeom prst="rect">
            <a:avLst/>
          </a:prstGeom>
          <a:noFill/>
          <a:ln>
            <a:noFill/>
          </a:ln>
        </p:spPr>
      </p:pic>
      <p:sp>
        <p:nvSpPr>
          <p:cNvPr id="65" name="Google Shape;65;p55"/>
          <p:cNvSpPr txBox="1">
            <a:spLocks noGrp="1"/>
          </p:cNvSpPr>
          <p:nvPr>
            <p:ph type="body" idx="1"/>
          </p:nvPr>
        </p:nvSpPr>
        <p:spPr>
          <a:xfrm>
            <a:off x="8155889" y="4975063"/>
            <a:ext cx="3431356" cy="414778"/>
          </a:xfrm>
          <a:prstGeom prst="rect">
            <a:avLst/>
          </a:prstGeom>
          <a:solidFill>
            <a:srgbClr val="2B8147"/>
          </a:solidFill>
          <a:ln>
            <a:noFill/>
          </a:ln>
        </p:spPr>
        <p:txBody>
          <a:bodyPr spcFirstLastPara="1" wrap="square" lIns="0" tIns="45700" rIns="0" bIns="45700" anchor="ctr" anchorCtr="0">
            <a:noAutofit/>
          </a:bodyPr>
          <a:lstStyle>
            <a:lvl1pPr marL="457200" marR="0" lvl="0" indent="-228600" algn="ctr"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66" name="Google Shape;66;p55"/>
          <p:cNvGrpSpPr/>
          <p:nvPr/>
        </p:nvGrpSpPr>
        <p:grpSpPr>
          <a:xfrm>
            <a:off x="9053008" y="227306"/>
            <a:ext cx="2910578" cy="1472169"/>
            <a:chOff x="8940726" y="132485"/>
            <a:chExt cx="2910578" cy="1472169"/>
          </a:xfrm>
        </p:grpSpPr>
        <p:pic>
          <p:nvPicPr>
            <p:cNvPr id="67" name="Google Shape;67;p55" descr="A blue and black logo&#10;&#10;AI-generated content may be incorrect."/>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68" name="Google Shape;68;p55"/>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69" name="Google Shape;69;p55"/>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 name="Google Shape;70;p55"/>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grpSp>
      <p:sp>
        <p:nvSpPr>
          <p:cNvPr id="71" name="Google Shape;71;p55"/>
          <p:cNvSpPr/>
          <p:nvPr/>
        </p:nvSpPr>
        <p:spPr>
          <a:xfrm rot="10800000" flipH="1">
            <a:off x="0" y="0"/>
            <a:ext cx="2467555" cy="954942"/>
          </a:xfrm>
          <a:prstGeom prst="round1Rect">
            <a:avLst>
              <a:gd name="adj" fmla="val 16667"/>
            </a:avLst>
          </a:prstGeom>
          <a:solidFill>
            <a:srgbClr val="2B81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 name="Google Shape;72;p55"/>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lg I_Cutouts Divider">
  <p:cSld name="Alg I_Cutouts Divider">
    <p:bg>
      <p:bgPr>
        <a:solidFill>
          <a:schemeClr val="lt1"/>
        </a:solidFill>
        <a:effectLst/>
      </p:bgPr>
    </p:bg>
    <p:spTree>
      <p:nvGrpSpPr>
        <p:cNvPr id="1" name="Shape 73"/>
        <p:cNvGrpSpPr/>
        <p:nvPr/>
      </p:nvGrpSpPr>
      <p:grpSpPr>
        <a:xfrm>
          <a:off x="0" y="0"/>
          <a:ext cx="0" cy="0"/>
          <a:chOff x="0" y="0"/>
          <a:chExt cx="0" cy="0"/>
        </a:xfrm>
      </p:grpSpPr>
      <p:sp>
        <p:nvSpPr>
          <p:cNvPr id="74" name="Google Shape;74;p56"/>
          <p:cNvSpPr txBox="1">
            <a:spLocks noGrp="1"/>
          </p:cNvSpPr>
          <p:nvPr>
            <p:ph type="body" idx="1"/>
          </p:nvPr>
        </p:nvSpPr>
        <p:spPr>
          <a:xfrm>
            <a:off x="5171005" y="2395538"/>
            <a:ext cx="1848402" cy="1033462"/>
          </a:xfrm>
          <a:prstGeom prst="rect">
            <a:avLst/>
          </a:prstGeom>
          <a:noFill/>
          <a:ln>
            <a:noFill/>
          </a:ln>
        </p:spPr>
        <p:txBody>
          <a:bodyPr spcFirstLastPara="1" wrap="square" lIns="91425" tIns="45700" rIns="91425" bIns="45700" anchor="t" anchorCtr="0">
            <a:noAutofit/>
          </a:bodyPr>
          <a:lstStyle>
            <a:lvl1pPr marL="457200" marR="0" lvl="0" indent="-704850" algn="l" rtl="0">
              <a:lnSpc>
                <a:spcPct val="90000"/>
              </a:lnSpc>
              <a:spcBef>
                <a:spcPts val="10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1pPr>
            <a:lvl2pPr marL="914400" marR="0" lvl="1"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2pPr>
            <a:lvl3pPr marL="1371600" marR="0" lvl="2"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3pPr>
            <a:lvl4pPr marL="1828800" marR="0" lvl="3"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4pPr>
            <a:lvl5pPr marL="2286000" marR="0" lvl="4"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75" name="Google Shape;75;p5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pplication Problem Text">
  <p:cSld name="Application Problem Text">
    <p:spTree>
      <p:nvGrpSpPr>
        <p:cNvPr id="1" name="Shape 76"/>
        <p:cNvGrpSpPr/>
        <p:nvPr/>
      </p:nvGrpSpPr>
      <p:grpSpPr>
        <a:xfrm>
          <a:off x="0" y="0"/>
          <a:ext cx="0" cy="0"/>
          <a:chOff x="0" y="0"/>
          <a:chExt cx="0" cy="0"/>
        </a:xfrm>
      </p:grpSpPr>
      <p:pic>
        <p:nvPicPr>
          <p:cNvPr id="77" name="Google Shape;77;p57"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78" name="Google Shape;78;p57"/>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9" name="Google Shape;79;p57"/>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0" name="Google Shape;80;p57"/>
          <p:cNvSpPr txBox="1">
            <a:spLocks noGrp="1"/>
          </p:cNvSpPr>
          <p:nvPr>
            <p:ph type="title"/>
          </p:nvPr>
        </p:nvSpPr>
        <p:spPr>
          <a:xfrm>
            <a:off x="777240" y="0"/>
            <a:ext cx="11389135" cy="1253765"/>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81" name="Google Shape;81;p5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RDW_Horizontal">
  <p:cSld name="1_RDW_Horizontal">
    <p:spTree>
      <p:nvGrpSpPr>
        <p:cNvPr id="1" name="Shape 82"/>
        <p:cNvGrpSpPr/>
        <p:nvPr/>
      </p:nvGrpSpPr>
      <p:grpSpPr>
        <a:xfrm>
          <a:off x="0" y="0"/>
          <a:ext cx="0" cy="0"/>
          <a:chOff x="0" y="0"/>
          <a:chExt cx="0" cy="0"/>
        </a:xfrm>
      </p:grpSpPr>
      <p:graphicFrame>
        <p:nvGraphicFramePr>
          <p:cNvPr id="83" name="Google Shape;83;p58"/>
          <p:cNvGraphicFramePr/>
          <p:nvPr/>
        </p:nvGraphicFramePr>
        <p:xfrm>
          <a:off x="775252" y="3783769"/>
          <a:ext cx="3000000" cy="3000000"/>
        </p:xfrm>
        <a:graphic>
          <a:graphicData uri="http://schemas.openxmlformats.org/drawingml/2006/table">
            <a:tbl>
              <a:tblPr>
                <a:noFill/>
                <a:tableStyleId>{F7D8C473-989F-46CF-8A33-2A7C700182BB}</a:tableStyleId>
              </a:tblPr>
              <a:tblGrid>
                <a:gridCol w="3694050">
                  <a:extLst>
                    <a:ext uri="{9D8B030D-6E8A-4147-A177-3AD203B41FA5}">
                      <a16:colId xmlns:a16="http://schemas.microsoft.com/office/drawing/2014/main" val="20000"/>
                    </a:ext>
                  </a:extLst>
                </a:gridCol>
                <a:gridCol w="3694050">
                  <a:extLst>
                    <a:ext uri="{9D8B030D-6E8A-4147-A177-3AD203B41FA5}">
                      <a16:colId xmlns:a16="http://schemas.microsoft.com/office/drawing/2014/main" val="20001"/>
                    </a:ext>
                  </a:extLst>
                </a:gridCol>
                <a:gridCol w="3694050">
                  <a:extLst>
                    <a:ext uri="{9D8B030D-6E8A-4147-A177-3AD203B41FA5}">
                      <a16:colId xmlns:a16="http://schemas.microsoft.com/office/drawing/2014/main" val="20002"/>
                    </a:ext>
                  </a:extLst>
                </a:gridCol>
              </a:tblGrid>
              <a:tr h="244000">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Read</a:t>
                      </a:r>
                      <a:endParaRPr sz="1800" b="1" u="none" strike="noStrike" cap="none">
                        <a:solidFill>
                          <a:srgbClr val="3A3838"/>
                        </a:solidFill>
                      </a:endParaRPr>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Draw</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Write</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309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84" name="Google Shape;84;p58"/>
          <p:cNvSpPr txBox="1">
            <a:spLocks noGrp="1"/>
          </p:cNvSpPr>
          <p:nvPr>
            <p:ph type="body" idx="1"/>
          </p:nvPr>
        </p:nvSpPr>
        <p:spPr>
          <a:xfrm>
            <a:off x="765313" y="1479938"/>
            <a:ext cx="11060341" cy="20721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200"/>
              <a:buFont typeface="Arial"/>
              <a:buNone/>
              <a:defRPr sz="22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5" name="Google Shape;85;p58"/>
          <p:cNvSpPr txBox="1">
            <a:spLocks noGrp="1"/>
          </p:cNvSpPr>
          <p:nvPr>
            <p:ph type="title"/>
          </p:nvPr>
        </p:nvSpPr>
        <p:spPr>
          <a:xfrm>
            <a:off x="772211" y="0"/>
            <a:ext cx="1141820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86" name="Google Shape;86;p5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luency w/Timer">
  <p:cSld name="Fluency w/Timer">
    <p:spTree>
      <p:nvGrpSpPr>
        <p:cNvPr id="1" name="Shape 87"/>
        <p:cNvGrpSpPr/>
        <p:nvPr/>
      </p:nvGrpSpPr>
      <p:grpSpPr>
        <a:xfrm>
          <a:off x="0" y="0"/>
          <a:ext cx="0" cy="0"/>
          <a:chOff x="0" y="0"/>
          <a:chExt cx="0" cy="0"/>
        </a:xfrm>
      </p:grpSpPr>
      <p:pic>
        <p:nvPicPr>
          <p:cNvPr id="88" name="Google Shape;88;p59"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89" name="Google Shape;89;p59"/>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0" name="Google Shape;90;p59"/>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 name="Google Shape;91;p59"/>
          <p:cNvSpPr txBox="1">
            <a:spLocks noGrp="1"/>
          </p:cNvSpPr>
          <p:nvPr>
            <p:ph type="title"/>
          </p:nvPr>
        </p:nvSpPr>
        <p:spPr>
          <a:xfrm>
            <a:off x="777240" y="7968"/>
            <a:ext cx="11413173" cy="12694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3A3838"/>
              </a:buClr>
              <a:buSzPts val="4400"/>
              <a:buFont typeface="Calibri"/>
              <a:buNone/>
              <a:defRPr sz="4400" b="1">
                <a:solidFill>
                  <a:srgbClr val="3A383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92" name="Google Shape;92;p5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cept Development">
  <p:cSld name="Concept Development">
    <p:spTree>
      <p:nvGrpSpPr>
        <p:cNvPr id="1" name="Shape 93"/>
        <p:cNvGrpSpPr/>
        <p:nvPr/>
      </p:nvGrpSpPr>
      <p:grpSpPr>
        <a:xfrm>
          <a:off x="0" y="0"/>
          <a:ext cx="0" cy="0"/>
          <a:chOff x="0" y="0"/>
          <a:chExt cx="0" cy="0"/>
        </a:xfrm>
      </p:grpSpPr>
      <p:sp>
        <p:nvSpPr>
          <p:cNvPr id="94" name="Google Shape;94;p6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5" name="Google Shape;95;p60"/>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96" name="Google Shape;96;p6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cept Development with Timer">
  <p:cSld name="Concept Development with Timer">
    <p:spTree>
      <p:nvGrpSpPr>
        <p:cNvPr id="1" name="Shape 97"/>
        <p:cNvGrpSpPr/>
        <p:nvPr/>
      </p:nvGrpSpPr>
      <p:grpSpPr>
        <a:xfrm>
          <a:off x="0" y="0"/>
          <a:ext cx="0" cy="0"/>
          <a:chOff x="0" y="0"/>
          <a:chExt cx="0" cy="0"/>
        </a:xfrm>
      </p:grpSpPr>
      <p:pic>
        <p:nvPicPr>
          <p:cNvPr id="98" name="Google Shape;98;p61"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99" name="Google Shape;99;p61"/>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0" name="Google Shape;100;p61"/>
          <p:cNvSpPr txBox="1">
            <a:spLocks noGrp="1"/>
          </p:cNvSpPr>
          <p:nvPr>
            <p:ph type="body" idx="2"/>
          </p:nvPr>
        </p:nvSpPr>
        <p:spPr>
          <a:xfrm>
            <a:off x="11127570" y="6036181"/>
            <a:ext cx="654121"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1" name="Google Shape;101;p61"/>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02" name="Google Shape;102;p6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roblem Set with Text">
  <p:cSld name="Problem Set with Text">
    <p:spTree>
      <p:nvGrpSpPr>
        <p:cNvPr id="1" name="Shape 103"/>
        <p:cNvGrpSpPr/>
        <p:nvPr/>
      </p:nvGrpSpPr>
      <p:grpSpPr>
        <a:xfrm>
          <a:off x="0" y="0"/>
          <a:ext cx="0" cy="0"/>
          <a:chOff x="0" y="0"/>
          <a:chExt cx="0" cy="0"/>
        </a:xfrm>
      </p:grpSpPr>
      <p:pic>
        <p:nvPicPr>
          <p:cNvPr id="104" name="Google Shape;104;p62"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05" name="Google Shape;105;p62"/>
          <p:cNvSpPr txBox="1">
            <a:spLocks noGrp="1"/>
          </p:cNvSpPr>
          <p:nvPr>
            <p:ph type="body" idx="1"/>
          </p:nvPr>
        </p:nvSpPr>
        <p:spPr>
          <a:xfrm>
            <a:off x="11140001" y="6036181"/>
            <a:ext cx="622969"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6" name="Google Shape;106;p62"/>
          <p:cNvSpPr txBox="1">
            <a:spLocks noGrp="1"/>
          </p:cNvSpPr>
          <p:nvPr>
            <p:ph type="title"/>
          </p:nvPr>
        </p:nvSpPr>
        <p:spPr>
          <a:xfrm>
            <a:off x="777240" y="1"/>
            <a:ext cx="11407898"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7" name="Google Shape;107;p62"/>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08" name="Google Shape;108;p6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tudent Debrief">
  <p:cSld name="Student Debrief">
    <p:spTree>
      <p:nvGrpSpPr>
        <p:cNvPr id="1" name="Shape 109"/>
        <p:cNvGrpSpPr/>
        <p:nvPr/>
      </p:nvGrpSpPr>
      <p:grpSpPr>
        <a:xfrm>
          <a:off x="0" y="0"/>
          <a:ext cx="0" cy="0"/>
          <a:chOff x="0" y="0"/>
          <a:chExt cx="0" cy="0"/>
        </a:xfrm>
      </p:grpSpPr>
      <p:pic>
        <p:nvPicPr>
          <p:cNvPr id="110" name="Google Shape;110;p63"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11" name="Google Shape;111;p63"/>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2" name="Google Shape;112;p63"/>
          <p:cNvSpPr txBox="1">
            <a:spLocks noGrp="1"/>
          </p:cNvSpPr>
          <p:nvPr>
            <p:ph type="body" idx="2"/>
          </p:nvPr>
        </p:nvSpPr>
        <p:spPr>
          <a:xfrm>
            <a:off x="11127570" y="6036181"/>
            <a:ext cx="64533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3" name="Google Shape;113;p63"/>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14" name="Google Shape;114;p6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Exit Ticket">
  <p:cSld name="Exit Ticket">
    <p:spTree>
      <p:nvGrpSpPr>
        <p:cNvPr id="1" name="Shape 115"/>
        <p:cNvGrpSpPr/>
        <p:nvPr/>
      </p:nvGrpSpPr>
      <p:grpSpPr>
        <a:xfrm>
          <a:off x="0" y="0"/>
          <a:ext cx="0" cy="0"/>
          <a:chOff x="0" y="0"/>
          <a:chExt cx="0" cy="0"/>
        </a:xfrm>
      </p:grpSpPr>
      <p:pic>
        <p:nvPicPr>
          <p:cNvPr id="116" name="Google Shape;116;p64"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17" name="Google Shape;117;p64"/>
          <p:cNvSpPr txBox="1">
            <a:spLocks noGrp="1"/>
          </p:cNvSpPr>
          <p:nvPr>
            <p:ph type="body" idx="1"/>
          </p:nvPr>
        </p:nvSpPr>
        <p:spPr>
          <a:xfrm>
            <a:off x="11127571" y="6036181"/>
            <a:ext cx="63540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8" name="Google Shape;118;p64"/>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1000"/>
              </a:spcBef>
              <a:spcAft>
                <a:spcPts val="0"/>
              </a:spcAft>
              <a:buClr>
                <a:schemeClr val="dk1"/>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9" name="Google Shape;119;p6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20" name="Google Shape;120;p6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Alg I_Title Slide">
  <p:cSld name="2_Alg I_Title Slide">
    <p:bg>
      <p:bgPr>
        <a:solidFill>
          <a:schemeClr val="lt1"/>
        </a:solidFill>
        <a:effectLst/>
      </p:bgPr>
    </p:bg>
    <p:spTree>
      <p:nvGrpSpPr>
        <p:cNvPr id="1" name="Shape 122"/>
        <p:cNvGrpSpPr/>
        <p:nvPr/>
      </p:nvGrpSpPr>
      <p:grpSpPr>
        <a:xfrm>
          <a:off x="0" y="0"/>
          <a:ext cx="0" cy="0"/>
          <a:chOff x="0" y="0"/>
          <a:chExt cx="0" cy="0"/>
        </a:xfrm>
      </p:grpSpPr>
      <p:sp>
        <p:nvSpPr>
          <p:cNvPr id="123" name="Google Shape;123;p66"/>
          <p:cNvSpPr txBox="1">
            <a:spLocks noGrp="1"/>
          </p:cNvSpPr>
          <p:nvPr>
            <p:ph type="body" idx="1"/>
          </p:nvPr>
        </p:nvSpPr>
        <p:spPr>
          <a:xfrm>
            <a:off x="-1590" y="1622759"/>
            <a:ext cx="12192003" cy="181913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143965"/>
              </a:buClr>
              <a:buSzPts val="6000"/>
              <a:buFont typeface="Arial"/>
              <a:buNone/>
              <a:defRPr sz="6000" b="1" i="0" u="none" strike="noStrike" cap="none">
                <a:solidFill>
                  <a:srgbClr val="143965"/>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4" name="Google Shape;124;p66"/>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43965"/>
              </a:buClr>
              <a:buSzPts val="4400"/>
              <a:buFont typeface="Arial"/>
              <a:buNone/>
              <a:defRPr sz="4400" b="0" i="0" u="none" strike="noStrike" cap="none">
                <a:solidFill>
                  <a:srgbClr val="143965"/>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5" name="Google Shape;125;p66"/>
          <p:cNvSpPr/>
          <p:nvPr/>
        </p:nvSpPr>
        <p:spPr>
          <a:xfrm rot="10800000" flipH="1">
            <a:off x="0" y="0"/>
            <a:ext cx="2467555" cy="954942"/>
          </a:xfrm>
          <a:prstGeom prst="round1Rect">
            <a:avLst>
              <a:gd name="adj" fmla="val 16667"/>
            </a:avLst>
          </a:prstGeom>
          <a:solidFill>
            <a:srgbClr val="14396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66"/>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pic>
        <p:nvPicPr>
          <p:cNvPr id="127" name="Google Shape;127;p66" descr="A blue and black logo&#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128" name="Google Shape;128;p66"/>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129" name="Google Shape;129;p66"/>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66"/>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pic>
        <p:nvPicPr>
          <p:cNvPr id="131" name="Google Shape;131;p66" descr="A blue and white pattern&#10;&#10;AI-generated content may be incorrect."/>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9_G2 Copyright">
  <p:cSld name="9_G2 Copyright">
    <p:bg>
      <p:bgPr>
        <a:solidFill>
          <a:schemeClr val="lt1"/>
        </a:solidFill>
        <a:effectLst/>
      </p:bgPr>
    </p:bg>
    <p:spTree>
      <p:nvGrpSpPr>
        <p:cNvPr id="1" name="Shape 132"/>
        <p:cNvGrpSpPr/>
        <p:nvPr/>
      </p:nvGrpSpPr>
      <p:grpSpPr>
        <a:xfrm>
          <a:off x="0" y="0"/>
          <a:ext cx="0" cy="0"/>
          <a:chOff x="0" y="0"/>
          <a:chExt cx="0" cy="0"/>
        </a:xfrm>
      </p:grpSpPr>
      <p:pic>
        <p:nvPicPr>
          <p:cNvPr id="133" name="Google Shape;133;p67"/>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932192"/>
            <a:ext cx="12190412" cy="5925808"/>
          </a:xfrm>
          <a:prstGeom prst="rect">
            <a:avLst/>
          </a:prstGeom>
          <a:noFill/>
          <a:ln>
            <a:noFill/>
          </a:ln>
        </p:spPr>
      </p:pic>
      <p:sp>
        <p:nvSpPr>
          <p:cNvPr id="134" name="Google Shape;134;p67"/>
          <p:cNvSpPr/>
          <p:nvPr/>
        </p:nvSpPr>
        <p:spPr>
          <a:xfrm>
            <a:off x="1668545" y="2356700"/>
            <a:ext cx="1715678" cy="2648931"/>
          </a:xfrm>
          <a:prstGeom prst="ellipse">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5" name="Google Shape;135;p67"/>
          <p:cNvSpPr/>
          <p:nvPr/>
        </p:nvSpPr>
        <p:spPr>
          <a:xfrm>
            <a:off x="1310326" y="4873659"/>
            <a:ext cx="2073897" cy="679000"/>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67"/>
          <p:cNvSpPr txBox="1"/>
          <p:nvPr/>
        </p:nvSpPr>
        <p:spPr>
          <a:xfrm>
            <a:off x="1023907" y="1792363"/>
            <a:ext cx="10141011" cy="4247317"/>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3A3838"/>
                </a:solidFill>
                <a:latin typeface="Calibri"/>
                <a:ea typeface="Calibri"/>
                <a:cs typeface="Calibri"/>
                <a:sym typeface="Calibri"/>
              </a:rPr>
              <a:t>Acknowledgment</a:t>
            </a:r>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Thank you to all the Texas educators and stakeholders who supported the review process and provided feedback. These materials are the result of the work of numerous individuals, and we are deeply grateful for their contributions.</a:t>
            </a:r>
            <a:endParaRPr sz="1800">
              <a:solidFill>
                <a:srgbClr val="3A3838"/>
              </a:solidFill>
              <a:latin typeface="Calibri"/>
              <a:ea typeface="Calibri"/>
              <a:cs typeface="Calibri"/>
              <a:sym typeface="Calibri"/>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b="1">
                <a:solidFill>
                  <a:srgbClr val="3A3838"/>
                </a:solidFill>
                <a:latin typeface="Calibri"/>
                <a:ea typeface="Calibri"/>
                <a:cs typeface="Calibri"/>
                <a:sym typeface="Calibri"/>
              </a:rPr>
              <a:t>Notice</a:t>
            </a:r>
            <a:endParaRPr sz="1800" b="1">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These learning resources have been built for Texas students, aligned to the Texas Essential Knowledge and Skills, and are made available pursuant to Chapter 31, Subchapter B-1 of the Texas Education Code.</a:t>
            </a: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If you have further questions or to report an error, please email </a:t>
            </a:r>
            <a:r>
              <a:rPr lang="en-US" sz="1800" u="sng">
                <a:solidFill>
                  <a:srgbClr val="3A3838"/>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openeducationresources@tea.texas.gov</a:t>
            </a:r>
            <a:r>
              <a:rPr lang="en-US" sz="1800">
                <a:solidFill>
                  <a:srgbClr val="3A3838"/>
                </a:solidFill>
                <a:latin typeface="Calibri"/>
                <a:ea typeface="Calibri"/>
                <a:cs typeface="Calibri"/>
                <a:sym typeface="Calibri"/>
              </a:rPr>
              <a:t>.</a:t>
            </a:r>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Copyright ©2024 Texas Education Agency. This work based on or adapted from materials contained in Great Minds' Eureka Math® K-5 PDF files. </a:t>
            </a:r>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These materials are made available by the Texas Education Agency under an open license. For information about the license and your rights to use the materials, visit: </a:t>
            </a:r>
            <a:r>
              <a:rPr lang="en-US" sz="1800" u="sng">
                <a:solidFill>
                  <a:srgbClr val="3A3838"/>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https://tea.texas.gov/K-5Math</a:t>
            </a:r>
            <a:r>
              <a:rPr lang="en-US" sz="1800">
                <a:solidFill>
                  <a:srgbClr val="3A3838"/>
                </a:solidFill>
                <a:latin typeface="Calibri"/>
                <a:ea typeface="Calibri"/>
                <a:cs typeface="Calibri"/>
                <a:sym typeface="Calibri"/>
              </a:rPr>
              <a:t>. </a:t>
            </a:r>
            <a:endParaRPr/>
          </a:p>
        </p:txBody>
      </p:sp>
      <p:pic>
        <p:nvPicPr>
          <p:cNvPr id="137" name="Google Shape;137;p67" descr="A blue and black logo&#10;&#10;AI-generated content may be incorrect."/>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84963" y="101527"/>
            <a:ext cx="2080268" cy="682524"/>
          </a:xfrm>
          <a:prstGeom prst="rect">
            <a:avLst/>
          </a:prstGeom>
          <a:noFill/>
          <a:ln>
            <a:noFill/>
          </a:ln>
        </p:spPr>
      </p:pic>
      <p:sp>
        <p:nvSpPr>
          <p:cNvPr id="138" name="Google Shape;138;p67"/>
          <p:cNvSpPr txBox="1"/>
          <p:nvPr/>
        </p:nvSpPr>
        <p:spPr>
          <a:xfrm>
            <a:off x="862304" y="69238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Alg I_Activity">
  <p:cSld name="Alg I_Activity">
    <p:bg>
      <p:bgPr>
        <a:solidFill>
          <a:schemeClr val="lt1"/>
        </a:solidFill>
        <a:effectLst/>
      </p:bgPr>
    </p:bg>
    <p:spTree>
      <p:nvGrpSpPr>
        <p:cNvPr id="1" name="Shape 139"/>
        <p:cNvGrpSpPr/>
        <p:nvPr/>
      </p:nvGrpSpPr>
      <p:grpSpPr>
        <a:xfrm>
          <a:off x="0" y="0"/>
          <a:ext cx="0" cy="0"/>
          <a:chOff x="0" y="0"/>
          <a:chExt cx="0" cy="0"/>
        </a:xfrm>
      </p:grpSpPr>
      <p:pic>
        <p:nvPicPr>
          <p:cNvPr id="140" name="Google Shape;140;p6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1"/>
          </a:xfrm>
          <a:prstGeom prst="rect">
            <a:avLst/>
          </a:prstGeom>
          <a:noFill/>
          <a:ln>
            <a:noFill/>
          </a:ln>
        </p:spPr>
      </p:pic>
      <p:sp>
        <p:nvSpPr>
          <p:cNvPr id="141" name="Google Shape;141;p68"/>
          <p:cNvSpPr txBox="1"/>
          <p:nvPr/>
        </p:nvSpPr>
        <p:spPr>
          <a:xfrm>
            <a:off x="3352800" y="2984501"/>
            <a:ext cx="5499100" cy="1143000"/>
          </a:xfrm>
          <a:prstGeom prst="rect">
            <a:avLst/>
          </a:prstGeom>
          <a:solidFill>
            <a:srgbClr val="143965"/>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endParaRPr sz="7500" b="1">
              <a:solidFill>
                <a:schemeClr val="lt1"/>
              </a:solidFill>
              <a:latin typeface="Calibri"/>
              <a:ea typeface="Calibri"/>
              <a:cs typeface="Calibri"/>
              <a:sym typeface="Calibri"/>
            </a:endParaRPr>
          </a:p>
        </p:txBody>
      </p:sp>
      <p:sp>
        <p:nvSpPr>
          <p:cNvPr id="142" name="Google Shape;142;p68"/>
          <p:cNvSpPr txBox="1"/>
          <p:nvPr/>
        </p:nvSpPr>
        <p:spPr>
          <a:xfrm>
            <a:off x="3340100" y="3136900"/>
            <a:ext cx="3302000" cy="946413"/>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7500" b="1">
                <a:solidFill>
                  <a:schemeClr val="lt1"/>
                </a:solidFill>
                <a:latin typeface="Calibri"/>
                <a:ea typeface="Calibri"/>
                <a:cs typeface="Calibri"/>
                <a:sym typeface="Calibri"/>
              </a:rPr>
              <a:t>Activity </a:t>
            </a:r>
            <a:endParaRPr sz="7500" b="1">
              <a:solidFill>
                <a:schemeClr val="lt1"/>
              </a:solidFill>
              <a:latin typeface="Calibri"/>
              <a:ea typeface="Calibri"/>
              <a:cs typeface="Calibri"/>
              <a:sym typeface="Calibri"/>
            </a:endParaRPr>
          </a:p>
        </p:txBody>
      </p:sp>
      <p:sp>
        <p:nvSpPr>
          <p:cNvPr id="143" name="Google Shape;143;p68"/>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0"/>
              <a:buFont typeface="Arial"/>
              <a:buNone/>
              <a:defRPr sz="7500" b="1"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44" name="Google Shape;144;p68"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145" name="Google Shape;145;p68"/>
          <p:cNvSpPr txBox="1">
            <a:spLocks noGrp="1"/>
          </p:cNvSpPr>
          <p:nvPr>
            <p:ph type="body" idx="2"/>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Alg I_Talk the Talk">
  <p:cSld name="Alg I_Talk the Talk">
    <p:bg>
      <p:bgPr>
        <a:solidFill>
          <a:schemeClr val="lt1"/>
        </a:solidFill>
        <a:effectLst/>
      </p:bgPr>
    </p:bg>
    <p:spTree>
      <p:nvGrpSpPr>
        <p:cNvPr id="1" name="Shape 146"/>
        <p:cNvGrpSpPr/>
        <p:nvPr/>
      </p:nvGrpSpPr>
      <p:grpSpPr>
        <a:xfrm>
          <a:off x="0" y="0"/>
          <a:ext cx="0" cy="0"/>
          <a:chOff x="0" y="0"/>
          <a:chExt cx="0" cy="0"/>
        </a:xfrm>
      </p:grpSpPr>
      <p:pic>
        <p:nvPicPr>
          <p:cNvPr id="147" name="Google Shape;147;p6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1"/>
          </a:xfrm>
          <a:prstGeom prst="rect">
            <a:avLst/>
          </a:prstGeom>
          <a:noFill/>
          <a:ln>
            <a:noFill/>
          </a:ln>
        </p:spPr>
      </p:pic>
      <p:sp>
        <p:nvSpPr>
          <p:cNvPr id="148" name="Google Shape;148;p69"/>
          <p:cNvSpPr txBox="1"/>
          <p:nvPr/>
        </p:nvSpPr>
        <p:spPr>
          <a:xfrm>
            <a:off x="3352800" y="2984501"/>
            <a:ext cx="5499100" cy="1143000"/>
          </a:xfrm>
          <a:prstGeom prst="rect">
            <a:avLst/>
          </a:prstGeom>
          <a:solidFill>
            <a:srgbClr val="143965"/>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Talk the Talk</a:t>
            </a:r>
            <a:endParaRPr sz="7500" b="1">
              <a:solidFill>
                <a:schemeClr val="lt1"/>
              </a:solidFill>
              <a:latin typeface="Calibri"/>
              <a:ea typeface="Calibri"/>
              <a:cs typeface="Calibri"/>
              <a:sym typeface="Calibri"/>
            </a:endParaRPr>
          </a:p>
        </p:txBody>
      </p:sp>
      <p:pic>
        <p:nvPicPr>
          <p:cNvPr id="149" name="Google Shape;149;p69"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150" name="Google Shape;150;p69"/>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Alg I_Getting Started">
  <p:cSld name="Alg I_Getting Started">
    <p:bg>
      <p:bgPr>
        <a:solidFill>
          <a:schemeClr val="lt1"/>
        </a:solidFill>
        <a:effectLst/>
      </p:bgPr>
    </p:bg>
    <p:spTree>
      <p:nvGrpSpPr>
        <p:cNvPr id="1" name="Shape 151"/>
        <p:cNvGrpSpPr/>
        <p:nvPr/>
      </p:nvGrpSpPr>
      <p:grpSpPr>
        <a:xfrm>
          <a:off x="0" y="0"/>
          <a:ext cx="0" cy="0"/>
          <a:chOff x="0" y="0"/>
          <a:chExt cx="0" cy="0"/>
        </a:xfrm>
      </p:grpSpPr>
      <p:pic>
        <p:nvPicPr>
          <p:cNvPr id="152" name="Google Shape;152;p7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1"/>
          </a:xfrm>
          <a:prstGeom prst="rect">
            <a:avLst/>
          </a:prstGeom>
          <a:noFill/>
          <a:ln>
            <a:noFill/>
          </a:ln>
        </p:spPr>
      </p:pic>
      <p:sp>
        <p:nvSpPr>
          <p:cNvPr id="153" name="Google Shape;153;p70" descr="A green and black pattern&#10;&#10;AI-generated content may be incorrect."/>
          <p:cNvSpPr txBox="1"/>
          <p:nvPr/>
        </p:nvSpPr>
        <p:spPr>
          <a:xfrm>
            <a:off x="2767915" y="2984501"/>
            <a:ext cx="6660292" cy="1143000"/>
          </a:xfrm>
          <a:prstGeom prst="rect">
            <a:avLst/>
          </a:prstGeom>
          <a:solidFill>
            <a:srgbClr val="143965"/>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Getting Started</a:t>
            </a:r>
            <a:endParaRPr sz="7500" b="1">
              <a:solidFill>
                <a:schemeClr val="lt1"/>
              </a:solidFill>
              <a:latin typeface="Calibri"/>
              <a:ea typeface="Calibri"/>
              <a:cs typeface="Calibri"/>
              <a:sym typeface="Calibri"/>
            </a:endParaRPr>
          </a:p>
        </p:txBody>
      </p:sp>
      <p:pic>
        <p:nvPicPr>
          <p:cNvPr id="154" name="Google Shape;154;p70"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155" name="Google Shape;155;p70"/>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Alg I_Getting Started">
  <p:cSld name="1_Alg I_Getting Started">
    <p:bg>
      <p:bgPr>
        <a:solidFill>
          <a:schemeClr val="lt1"/>
        </a:solidFill>
        <a:effectLst/>
      </p:bgPr>
    </p:bg>
    <p:spTree>
      <p:nvGrpSpPr>
        <p:cNvPr id="1" name="Shape 156"/>
        <p:cNvGrpSpPr/>
        <p:nvPr/>
      </p:nvGrpSpPr>
      <p:grpSpPr>
        <a:xfrm>
          <a:off x="0" y="0"/>
          <a:ext cx="0" cy="0"/>
          <a:chOff x="0" y="0"/>
          <a:chExt cx="0" cy="0"/>
        </a:xfrm>
      </p:grpSpPr>
      <p:pic>
        <p:nvPicPr>
          <p:cNvPr id="157" name="Google Shape;157;p71"/>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1"/>
          </a:xfrm>
          <a:prstGeom prst="rect">
            <a:avLst/>
          </a:prstGeom>
          <a:noFill/>
          <a:ln>
            <a:noFill/>
          </a:ln>
        </p:spPr>
      </p:pic>
      <p:sp>
        <p:nvSpPr>
          <p:cNvPr id="158" name="Google Shape;158;p71" descr="A green and black pattern&#10;&#10;AI-generated content may be incorrect."/>
          <p:cNvSpPr txBox="1"/>
          <p:nvPr/>
        </p:nvSpPr>
        <p:spPr>
          <a:xfrm>
            <a:off x="3866323" y="2984501"/>
            <a:ext cx="4432852" cy="1143000"/>
          </a:xfrm>
          <a:prstGeom prst="rect">
            <a:avLst/>
          </a:prstGeom>
          <a:solidFill>
            <a:srgbClr val="143965"/>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Prepare</a:t>
            </a:r>
            <a:endParaRPr sz="7500" b="1">
              <a:solidFill>
                <a:schemeClr val="lt1"/>
              </a:solidFill>
              <a:latin typeface="Calibri"/>
              <a:ea typeface="Calibri"/>
              <a:cs typeface="Calibri"/>
              <a:sym typeface="Calibri"/>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Alg I_Session Divider">
  <p:cSld name="Alg I_Session Divider">
    <p:bg>
      <p:bgPr>
        <a:solidFill>
          <a:schemeClr val="lt1"/>
        </a:solidFill>
        <a:effectLst/>
      </p:bgPr>
    </p:bg>
    <p:spTree>
      <p:nvGrpSpPr>
        <p:cNvPr id="1" name="Shape 159"/>
        <p:cNvGrpSpPr/>
        <p:nvPr/>
      </p:nvGrpSpPr>
      <p:grpSpPr>
        <a:xfrm>
          <a:off x="0" y="0"/>
          <a:ext cx="0" cy="0"/>
          <a:chOff x="0" y="0"/>
          <a:chExt cx="0" cy="0"/>
        </a:xfrm>
      </p:grpSpPr>
      <p:sp>
        <p:nvSpPr>
          <p:cNvPr id="160" name="Google Shape;160;p72"/>
          <p:cNvSpPr txBox="1"/>
          <p:nvPr/>
        </p:nvSpPr>
        <p:spPr>
          <a:xfrm>
            <a:off x="4918157" y="2955793"/>
            <a:ext cx="1512037" cy="94641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7500" b="1">
                <a:solidFill>
                  <a:srgbClr val="171616"/>
                </a:solidFill>
                <a:latin typeface="Calibri"/>
                <a:ea typeface="Calibri"/>
                <a:cs typeface="Calibri"/>
                <a:sym typeface="Calibri"/>
              </a:rPr>
              <a:t>Day</a:t>
            </a:r>
            <a:endParaRPr sz="7500" b="1">
              <a:solidFill>
                <a:srgbClr val="171616"/>
              </a:solidFill>
              <a:latin typeface="Calibri"/>
              <a:ea typeface="Calibri"/>
              <a:cs typeface="Calibri"/>
              <a:sym typeface="Calibri"/>
            </a:endParaRPr>
          </a:p>
        </p:txBody>
      </p:sp>
      <p:sp>
        <p:nvSpPr>
          <p:cNvPr id="161" name="Google Shape;161;p72"/>
          <p:cNvSpPr txBox="1">
            <a:spLocks noGrp="1"/>
          </p:cNvSpPr>
          <p:nvPr>
            <p:ph type="body" idx="1"/>
          </p:nvPr>
        </p:nvSpPr>
        <p:spPr>
          <a:xfrm>
            <a:off x="5578106" y="2843523"/>
            <a:ext cx="1061883" cy="107156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000000"/>
              </a:buClr>
              <a:buSzPts val="7500"/>
              <a:buFont typeface="Arial"/>
              <a:buNone/>
              <a:defRPr sz="7500" b="1" i="0" u="none" strike="noStrike" cap="none">
                <a:solidFill>
                  <a:srgbClr val="000000"/>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62" name="Google Shape;162;p72" descr="A blue and white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pic>
        <p:nvPicPr>
          <p:cNvPr id="163" name="Google Shape;163;p72" descr="A blue and white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rot="10800000">
            <a:off x="-794" y="0"/>
            <a:ext cx="12190413" cy="21947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Alg I_Cutouts Divider">
  <p:cSld name="Alg I_Cutouts Divider">
    <p:bg>
      <p:bgPr>
        <a:solidFill>
          <a:schemeClr val="lt1"/>
        </a:solidFill>
        <a:effectLst/>
      </p:bgPr>
    </p:bg>
    <p:spTree>
      <p:nvGrpSpPr>
        <p:cNvPr id="1" name="Shape 164"/>
        <p:cNvGrpSpPr/>
        <p:nvPr/>
      </p:nvGrpSpPr>
      <p:grpSpPr>
        <a:xfrm>
          <a:off x="0" y="0"/>
          <a:ext cx="0" cy="0"/>
          <a:chOff x="0" y="0"/>
          <a:chExt cx="0" cy="0"/>
        </a:xfrm>
      </p:grpSpPr>
      <p:sp>
        <p:nvSpPr>
          <p:cNvPr id="165" name="Google Shape;165;p73"/>
          <p:cNvSpPr txBox="1">
            <a:spLocks noGrp="1"/>
          </p:cNvSpPr>
          <p:nvPr>
            <p:ph type="body" idx="1"/>
          </p:nvPr>
        </p:nvSpPr>
        <p:spPr>
          <a:xfrm>
            <a:off x="5171005" y="2395538"/>
            <a:ext cx="1848402" cy="1033462"/>
          </a:xfrm>
          <a:prstGeom prst="rect">
            <a:avLst/>
          </a:prstGeom>
          <a:noFill/>
          <a:ln>
            <a:noFill/>
          </a:ln>
        </p:spPr>
        <p:txBody>
          <a:bodyPr spcFirstLastPara="1" wrap="square" lIns="91425" tIns="45700" rIns="91425" bIns="45700" anchor="t" anchorCtr="0">
            <a:noAutofit/>
          </a:bodyPr>
          <a:lstStyle>
            <a:lvl1pPr marL="457200" marR="0" lvl="0" indent="-704850" algn="l" rtl="0">
              <a:lnSpc>
                <a:spcPct val="90000"/>
              </a:lnSpc>
              <a:spcBef>
                <a:spcPts val="10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1pPr>
            <a:lvl2pPr marL="914400" marR="0" lvl="1"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2pPr>
            <a:lvl3pPr marL="1371600" marR="0" lvl="2"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3pPr>
            <a:lvl4pPr marL="1828800" marR="0" lvl="3"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4pPr>
            <a:lvl5pPr marL="2286000" marR="0" lvl="4"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66" name="Google Shape;166;p73" descr="A blue and white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Alg I_Back Cover">
  <p:cSld name="Alg I_Back Cover">
    <p:bg>
      <p:bgPr>
        <a:solidFill>
          <a:schemeClr val="lt1"/>
        </a:solidFill>
        <a:effectLst/>
      </p:bgPr>
    </p:bg>
    <p:spTree>
      <p:nvGrpSpPr>
        <p:cNvPr id="1" name="Shape 167"/>
        <p:cNvGrpSpPr/>
        <p:nvPr/>
      </p:nvGrpSpPr>
      <p:grpSpPr>
        <a:xfrm>
          <a:off x="0" y="0"/>
          <a:ext cx="0" cy="0"/>
          <a:chOff x="0" y="0"/>
          <a:chExt cx="0" cy="0"/>
        </a:xfrm>
      </p:grpSpPr>
      <p:pic>
        <p:nvPicPr>
          <p:cNvPr id="168" name="Google Shape;168;p74" descr="A blue and white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sp>
        <p:nvSpPr>
          <p:cNvPr id="169" name="Google Shape;169;p74"/>
          <p:cNvSpPr txBox="1">
            <a:spLocks noGrp="1"/>
          </p:cNvSpPr>
          <p:nvPr>
            <p:ph type="body" idx="1"/>
          </p:nvPr>
        </p:nvSpPr>
        <p:spPr>
          <a:xfrm>
            <a:off x="8155889" y="4975063"/>
            <a:ext cx="3431356" cy="414778"/>
          </a:xfrm>
          <a:prstGeom prst="rect">
            <a:avLst/>
          </a:prstGeom>
          <a:solidFill>
            <a:srgbClr val="143965"/>
          </a:solidFill>
          <a:ln>
            <a:noFill/>
          </a:ln>
        </p:spPr>
        <p:txBody>
          <a:bodyPr spcFirstLastPara="1" wrap="square" lIns="0" tIns="45700" rIns="0" bIns="45700" anchor="ctr" anchorCtr="0">
            <a:noAutofit/>
          </a:bodyPr>
          <a:lstStyle>
            <a:lvl1pPr marL="457200" marR="0" lvl="0" indent="-228600" algn="ctr"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170" name="Google Shape;170;p74"/>
          <p:cNvGrpSpPr/>
          <p:nvPr/>
        </p:nvGrpSpPr>
        <p:grpSpPr>
          <a:xfrm>
            <a:off x="9053008" y="227306"/>
            <a:ext cx="2910578" cy="1472169"/>
            <a:chOff x="8940726" y="132485"/>
            <a:chExt cx="2910578" cy="1472169"/>
          </a:xfrm>
        </p:grpSpPr>
        <p:pic>
          <p:nvPicPr>
            <p:cNvPr id="171" name="Google Shape;171;p74" descr="A blue and black logo&#10;&#10;AI-generated content may be incorrect."/>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172" name="Google Shape;172;p74"/>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173" name="Google Shape;173;p74"/>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74"/>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grpSp>
      <p:sp>
        <p:nvSpPr>
          <p:cNvPr id="175" name="Google Shape;175;p74"/>
          <p:cNvSpPr/>
          <p:nvPr/>
        </p:nvSpPr>
        <p:spPr>
          <a:xfrm rot="10800000" flipH="1">
            <a:off x="0" y="0"/>
            <a:ext cx="2467555" cy="954942"/>
          </a:xfrm>
          <a:prstGeom prst="round1Rect">
            <a:avLst>
              <a:gd name="adj" fmla="val 16667"/>
            </a:avLst>
          </a:prstGeom>
          <a:solidFill>
            <a:srgbClr val="14396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6" name="Google Shape;176;p74"/>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bjective">
  <p:cSld name="Objective">
    <p:spTree>
      <p:nvGrpSpPr>
        <p:cNvPr id="1" name="Shape 177"/>
        <p:cNvGrpSpPr/>
        <p:nvPr/>
      </p:nvGrpSpPr>
      <p:grpSpPr>
        <a:xfrm>
          <a:off x="0" y="0"/>
          <a:ext cx="0" cy="0"/>
          <a:chOff x="0" y="0"/>
          <a:chExt cx="0" cy="0"/>
        </a:xfrm>
      </p:grpSpPr>
      <p:sp>
        <p:nvSpPr>
          <p:cNvPr id="178" name="Google Shape;178;p75"/>
          <p:cNvSpPr/>
          <p:nvPr/>
        </p:nvSpPr>
        <p:spPr>
          <a:xfrm>
            <a:off x="-1586" y="1392600"/>
            <a:ext cx="12192000" cy="54909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 name="Google Shape;179;p75"/>
          <p:cNvSpPr txBox="1">
            <a:spLocks noGrp="1"/>
          </p:cNvSpPr>
          <p:nvPr>
            <p:ph type="body" idx="1"/>
          </p:nvPr>
        </p:nvSpPr>
        <p:spPr>
          <a:xfrm>
            <a:off x="836614" y="2159879"/>
            <a:ext cx="10515599" cy="395641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3A3838"/>
              </a:buClr>
              <a:buSzPts val="4400"/>
              <a:buFont typeface="Arial"/>
              <a:buNone/>
              <a:defRPr sz="4400" b="0" i="0" u="none" strike="noStrike" cap="none">
                <a:solidFill>
                  <a:srgbClr val="3A3838"/>
                </a:solidFill>
                <a:latin typeface="Calibri"/>
                <a:ea typeface="Calibri"/>
                <a:cs typeface="Calibri"/>
                <a:sym typeface="Calibri"/>
              </a:defRPr>
            </a:lvl1pPr>
            <a:lvl2pPr marL="914400" marR="0" lvl="1"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2pPr>
            <a:lvl3pPr marL="1371600" marR="0" lvl="2"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3pPr>
            <a:lvl4pPr marL="1828800" marR="0" lvl="3"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0" name="Google Shape;180;p75"/>
          <p:cNvSpPr/>
          <p:nvPr/>
        </p:nvSpPr>
        <p:spPr>
          <a:xfrm>
            <a:off x="0" y="0"/>
            <a:ext cx="7575442" cy="927652"/>
          </a:xfrm>
          <a:prstGeom prst="rect">
            <a:avLst/>
          </a:prstGeom>
          <a:solidFill>
            <a:srgbClr val="14396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1" name="Google Shape;181;p75"/>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7575442" y="0"/>
            <a:ext cx="4614969" cy="931321"/>
          </a:xfrm>
          <a:prstGeom prst="rect">
            <a:avLst/>
          </a:prstGeom>
          <a:noFill/>
          <a:ln>
            <a:noFill/>
          </a:ln>
        </p:spPr>
      </p:pic>
      <p:sp>
        <p:nvSpPr>
          <p:cNvPr id="182" name="Google Shape;182;p75"/>
          <p:cNvSpPr txBox="1">
            <a:spLocks noGrp="1"/>
          </p:cNvSpPr>
          <p:nvPr>
            <p:ph type="title"/>
          </p:nvPr>
        </p:nvSpPr>
        <p:spPr>
          <a:xfrm>
            <a:off x="0" y="0"/>
            <a:ext cx="6094413" cy="926757"/>
          </a:xfrm>
          <a:prstGeom prst="rect">
            <a:avLst/>
          </a:prstGeom>
          <a:noFill/>
          <a:ln>
            <a:noFill/>
          </a:ln>
        </p:spPr>
        <p:txBody>
          <a:bodyPr spcFirstLastPara="1" wrap="square" lIns="457200" tIns="45700" rIns="91425" bIns="45700" anchor="ctr" anchorCtr="0">
            <a:noAutofit/>
          </a:bodyPr>
          <a:lstStyle>
            <a:lvl1pPr marR="0" lvl="0" algn="l" rtl="0">
              <a:lnSpc>
                <a:spcPct val="90000"/>
              </a:lnSpc>
              <a:spcBef>
                <a:spcPts val="0"/>
              </a:spcBef>
              <a:spcAft>
                <a:spcPts val="0"/>
              </a:spcAft>
              <a:buClr>
                <a:schemeClr val="lt1"/>
              </a:buClr>
              <a:buSzPts val="4000"/>
              <a:buFont typeface="Calibri"/>
              <a:buNone/>
              <a:defRPr sz="4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erminology">
  <p:cSld name="Terminology">
    <p:bg>
      <p:bgPr>
        <a:solidFill>
          <a:schemeClr val="lt1"/>
        </a:solidFill>
        <a:effectLst/>
      </p:bgPr>
    </p:bg>
    <p:spTree>
      <p:nvGrpSpPr>
        <p:cNvPr id="1" name="Shape 183"/>
        <p:cNvGrpSpPr/>
        <p:nvPr/>
      </p:nvGrpSpPr>
      <p:grpSpPr>
        <a:xfrm>
          <a:off x="0" y="0"/>
          <a:ext cx="0" cy="0"/>
          <a:chOff x="0" y="0"/>
          <a:chExt cx="0" cy="0"/>
        </a:xfrm>
      </p:grpSpPr>
      <p:sp>
        <p:nvSpPr>
          <p:cNvPr id="184" name="Google Shape;184;p76"/>
          <p:cNvSpPr txBox="1">
            <a:spLocks noGrp="1"/>
          </p:cNvSpPr>
          <p:nvPr>
            <p:ph type="body" idx="1"/>
          </p:nvPr>
        </p:nvSpPr>
        <p:spPr>
          <a:xfrm>
            <a:off x="852488" y="1652588"/>
            <a:ext cx="10515600" cy="11697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5" name="Google Shape;185;p76"/>
          <p:cNvSpPr>
            <a:spLocks noGrp="1"/>
          </p:cNvSpPr>
          <p:nvPr>
            <p:ph type="pic" idx="2"/>
          </p:nvPr>
        </p:nvSpPr>
        <p:spPr>
          <a:xfrm>
            <a:off x="3427412" y="3217943"/>
            <a:ext cx="5335588" cy="2505075"/>
          </a:xfrm>
          <a:prstGeom prst="rect">
            <a:avLst/>
          </a:prstGeom>
          <a:noFill/>
          <a:ln>
            <a:noFill/>
          </a:ln>
        </p:spPr>
      </p:sp>
      <p:sp>
        <p:nvSpPr>
          <p:cNvPr id="186" name="Google Shape;186;p7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2B8147"/>
              </a:buClr>
              <a:buSzPts val="4000"/>
              <a:buFont typeface="Calibri"/>
              <a:buNone/>
              <a:defRPr sz="4000" b="0" i="0" u="none" strike="noStrike" cap="none">
                <a:solidFill>
                  <a:srgbClr val="2B8147"/>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87" name="Google Shape;187;p7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Application Problem Text">
  <p:cSld name="Application Problem Text">
    <p:spTree>
      <p:nvGrpSpPr>
        <p:cNvPr id="1" name="Shape 188"/>
        <p:cNvGrpSpPr/>
        <p:nvPr/>
      </p:nvGrpSpPr>
      <p:grpSpPr>
        <a:xfrm>
          <a:off x="0" y="0"/>
          <a:ext cx="0" cy="0"/>
          <a:chOff x="0" y="0"/>
          <a:chExt cx="0" cy="0"/>
        </a:xfrm>
      </p:grpSpPr>
      <p:pic>
        <p:nvPicPr>
          <p:cNvPr id="189" name="Google Shape;189;p77"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90" name="Google Shape;190;p77"/>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1" name="Google Shape;191;p77"/>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2" name="Google Shape;192;p77"/>
          <p:cNvSpPr txBox="1">
            <a:spLocks noGrp="1"/>
          </p:cNvSpPr>
          <p:nvPr>
            <p:ph type="title"/>
          </p:nvPr>
        </p:nvSpPr>
        <p:spPr>
          <a:xfrm>
            <a:off x="777240" y="0"/>
            <a:ext cx="11389135" cy="1253765"/>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93" name="Google Shape;193;p7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RDW_Horizontal">
  <p:cSld name="1_RDW_Horizontal">
    <p:spTree>
      <p:nvGrpSpPr>
        <p:cNvPr id="1" name="Shape 194"/>
        <p:cNvGrpSpPr/>
        <p:nvPr/>
      </p:nvGrpSpPr>
      <p:grpSpPr>
        <a:xfrm>
          <a:off x="0" y="0"/>
          <a:ext cx="0" cy="0"/>
          <a:chOff x="0" y="0"/>
          <a:chExt cx="0" cy="0"/>
        </a:xfrm>
      </p:grpSpPr>
      <p:graphicFrame>
        <p:nvGraphicFramePr>
          <p:cNvPr id="195" name="Google Shape;195;p78"/>
          <p:cNvGraphicFramePr/>
          <p:nvPr/>
        </p:nvGraphicFramePr>
        <p:xfrm>
          <a:off x="775252" y="3783769"/>
          <a:ext cx="3000000" cy="3000000"/>
        </p:xfrm>
        <a:graphic>
          <a:graphicData uri="http://schemas.openxmlformats.org/drawingml/2006/table">
            <a:tbl>
              <a:tblPr>
                <a:noFill/>
                <a:tableStyleId>{F7D8C473-989F-46CF-8A33-2A7C700182BB}</a:tableStyleId>
              </a:tblPr>
              <a:tblGrid>
                <a:gridCol w="3694050">
                  <a:extLst>
                    <a:ext uri="{9D8B030D-6E8A-4147-A177-3AD203B41FA5}">
                      <a16:colId xmlns:a16="http://schemas.microsoft.com/office/drawing/2014/main" val="20000"/>
                    </a:ext>
                  </a:extLst>
                </a:gridCol>
                <a:gridCol w="3694050">
                  <a:extLst>
                    <a:ext uri="{9D8B030D-6E8A-4147-A177-3AD203B41FA5}">
                      <a16:colId xmlns:a16="http://schemas.microsoft.com/office/drawing/2014/main" val="20001"/>
                    </a:ext>
                  </a:extLst>
                </a:gridCol>
                <a:gridCol w="3694050">
                  <a:extLst>
                    <a:ext uri="{9D8B030D-6E8A-4147-A177-3AD203B41FA5}">
                      <a16:colId xmlns:a16="http://schemas.microsoft.com/office/drawing/2014/main" val="20002"/>
                    </a:ext>
                  </a:extLst>
                </a:gridCol>
              </a:tblGrid>
              <a:tr h="244000">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Read</a:t>
                      </a:r>
                      <a:endParaRPr sz="1800" b="1" u="none" strike="noStrike" cap="none">
                        <a:solidFill>
                          <a:srgbClr val="3A3838"/>
                        </a:solidFill>
                      </a:endParaRPr>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Draw</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Write</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309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96" name="Google Shape;196;p78"/>
          <p:cNvSpPr txBox="1">
            <a:spLocks noGrp="1"/>
          </p:cNvSpPr>
          <p:nvPr>
            <p:ph type="body" idx="1"/>
          </p:nvPr>
        </p:nvSpPr>
        <p:spPr>
          <a:xfrm>
            <a:off x="765313" y="1479938"/>
            <a:ext cx="11060341" cy="20721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200"/>
              <a:buFont typeface="Arial"/>
              <a:buNone/>
              <a:defRPr sz="22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7" name="Google Shape;197;p78"/>
          <p:cNvSpPr txBox="1">
            <a:spLocks noGrp="1"/>
          </p:cNvSpPr>
          <p:nvPr>
            <p:ph type="title"/>
          </p:nvPr>
        </p:nvSpPr>
        <p:spPr>
          <a:xfrm>
            <a:off x="772211" y="0"/>
            <a:ext cx="1141820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98" name="Google Shape;198;p7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Fluency w/Timer">
  <p:cSld name="Fluency w/Timer">
    <p:spTree>
      <p:nvGrpSpPr>
        <p:cNvPr id="1" name="Shape 199"/>
        <p:cNvGrpSpPr/>
        <p:nvPr/>
      </p:nvGrpSpPr>
      <p:grpSpPr>
        <a:xfrm>
          <a:off x="0" y="0"/>
          <a:ext cx="0" cy="0"/>
          <a:chOff x="0" y="0"/>
          <a:chExt cx="0" cy="0"/>
        </a:xfrm>
      </p:grpSpPr>
      <p:pic>
        <p:nvPicPr>
          <p:cNvPr id="200" name="Google Shape;200;p79"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201" name="Google Shape;201;p79"/>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2" name="Google Shape;202;p79"/>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3" name="Google Shape;203;p79"/>
          <p:cNvSpPr txBox="1">
            <a:spLocks noGrp="1"/>
          </p:cNvSpPr>
          <p:nvPr>
            <p:ph type="title"/>
          </p:nvPr>
        </p:nvSpPr>
        <p:spPr>
          <a:xfrm>
            <a:off x="777240" y="7968"/>
            <a:ext cx="11413173" cy="12694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3A3838"/>
              </a:buClr>
              <a:buSzPts val="4400"/>
              <a:buFont typeface="Calibri"/>
              <a:buNone/>
              <a:defRPr sz="4400" b="1" i="0" u="none" strike="noStrike" cap="none">
                <a:solidFill>
                  <a:srgbClr val="3A383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04" name="Google Shape;204;p7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cept Development">
  <p:cSld name="Concept Development">
    <p:spTree>
      <p:nvGrpSpPr>
        <p:cNvPr id="1" name="Shape 205"/>
        <p:cNvGrpSpPr/>
        <p:nvPr/>
      </p:nvGrpSpPr>
      <p:grpSpPr>
        <a:xfrm>
          <a:off x="0" y="0"/>
          <a:ext cx="0" cy="0"/>
          <a:chOff x="0" y="0"/>
          <a:chExt cx="0" cy="0"/>
        </a:xfrm>
      </p:grpSpPr>
      <p:sp>
        <p:nvSpPr>
          <p:cNvPr id="206" name="Google Shape;206;p8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7" name="Google Shape;207;p80"/>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08" name="Google Shape;208;p8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cept Development with Timer">
  <p:cSld name="Concept Development with Timer">
    <p:spTree>
      <p:nvGrpSpPr>
        <p:cNvPr id="1" name="Shape 209"/>
        <p:cNvGrpSpPr/>
        <p:nvPr/>
      </p:nvGrpSpPr>
      <p:grpSpPr>
        <a:xfrm>
          <a:off x="0" y="0"/>
          <a:ext cx="0" cy="0"/>
          <a:chOff x="0" y="0"/>
          <a:chExt cx="0" cy="0"/>
        </a:xfrm>
      </p:grpSpPr>
      <p:pic>
        <p:nvPicPr>
          <p:cNvPr id="210" name="Google Shape;210;p81"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211" name="Google Shape;211;p81"/>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2" name="Google Shape;212;p81"/>
          <p:cNvSpPr txBox="1">
            <a:spLocks noGrp="1"/>
          </p:cNvSpPr>
          <p:nvPr>
            <p:ph type="body" idx="2"/>
          </p:nvPr>
        </p:nvSpPr>
        <p:spPr>
          <a:xfrm>
            <a:off x="11127570" y="6036181"/>
            <a:ext cx="654121"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3" name="Google Shape;213;p81"/>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14" name="Google Shape;214;p8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Problem Set with Text">
  <p:cSld name="Problem Set with Text">
    <p:spTree>
      <p:nvGrpSpPr>
        <p:cNvPr id="1" name="Shape 215"/>
        <p:cNvGrpSpPr/>
        <p:nvPr/>
      </p:nvGrpSpPr>
      <p:grpSpPr>
        <a:xfrm>
          <a:off x="0" y="0"/>
          <a:ext cx="0" cy="0"/>
          <a:chOff x="0" y="0"/>
          <a:chExt cx="0" cy="0"/>
        </a:xfrm>
      </p:grpSpPr>
      <p:pic>
        <p:nvPicPr>
          <p:cNvPr id="216" name="Google Shape;216;p82"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217" name="Google Shape;217;p82"/>
          <p:cNvSpPr txBox="1">
            <a:spLocks noGrp="1"/>
          </p:cNvSpPr>
          <p:nvPr>
            <p:ph type="body" idx="1"/>
          </p:nvPr>
        </p:nvSpPr>
        <p:spPr>
          <a:xfrm>
            <a:off x="11140001" y="6036181"/>
            <a:ext cx="622969"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8" name="Google Shape;218;p82"/>
          <p:cNvSpPr txBox="1">
            <a:spLocks noGrp="1"/>
          </p:cNvSpPr>
          <p:nvPr>
            <p:ph type="title"/>
          </p:nvPr>
        </p:nvSpPr>
        <p:spPr>
          <a:xfrm>
            <a:off x="777240" y="1"/>
            <a:ext cx="11407898"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9" name="Google Shape;219;p82"/>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20" name="Google Shape;220;p8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tudent Debrief">
  <p:cSld name="Student Debrief">
    <p:spTree>
      <p:nvGrpSpPr>
        <p:cNvPr id="1" name="Shape 221"/>
        <p:cNvGrpSpPr/>
        <p:nvPr/>
      </p:nvGrpSpPr>
      <p:grpSpPr>
        <a:xfrm>
          <a:off x="0" y="0"/>
          <a:ext cx="0" cy="0"/>
          <a:chOff x="0" y="0"/>
          <a:chExt cx="0" cy="0"/>
        </a:xfrm>
      </p:grpSpPr>
      <p:pic>
        <p:nvPicPr>
          <p:cNvPr id="222" name="Google Shape;222;p83"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223" name="Google Shape;223;p83"/>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4" name="Google Shape;224;p83"/>
          <p:cNvSpPr txBox="1">
            <a:spLocks noGrp="1"/>
          </p:cNvSpPr>
          <p:nvPr>
            <p:ph type="body" idx="2"/>
          </p:nvPr>
        </p:nvSpPr>
        <p:spPr>
          <a:xfrm>
            <a:off x="11127570" y="6036181"/>
            <a:ext cx="64533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5" name="Google Shape;225;p83"/>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26" name="Google Shape;226;p8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Exit Ticket">
  <p:cSld name="Exit Ticket">
    <p:spTree>
      <p:nvGrpSpPr>
        <p:cNvPr id="1" name="Shape 227"/>
        <p:cNvGrpSpPr/>
        <p:nvPr/>
      </p:nvGrpSpPr>
      <p:grpSpPr>
        <a:xfrm>
          <a:off x="0" y="0"/>
          <a:ext cx="0" cy="0"/>
          <a:chOff x="0" y="0"/>
          <a:chExt cx="0" cy="0"/>
        </a:xfrm>
      </p:grpSpPr>
      <p:pic>
        <p:nvPicPr>
          <p:cNvPr id="228" name="Google Shape;228;p84"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229" name="Google Shape;229;p84"/>
          <p:cNvSpPr txBox="1">
            <a:spLocks noGrp="1"/>
          </p:cNvSpPr>
          <p:nvPr>
            <p:ph type="body" idx="1"/>
          </p:nvPr>
        </p:nvSpPr>
        <p:spPr>
          <a:xfrm>
            <a:off x="11127571" y="6036181"/>
            <a:ext cx="63540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0" name="Google Shape;230;p84"/>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1000"/>
              </a:spcBef>
              <a:spcAft>
                <a:spcPts val="0"/>
              </a:spcAft>
              <a:buClr>
                <a:schemeClr val="dk1"/>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1" name="Google Shape;231;p8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32" name="Google Shape;232;p8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2" cy="68580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2_Alg I_Title Slide">
  <p:cSld name="2_Alg I_Title Slide">
    <p:bg>
      <p:bgPr>
        <a:solidFill>
          <a:schemeClr val="lt1"/>
        </a:solidFill>
        <a:effectLst/>
      </p:bgPr>
    </p:bg>
    <p:spTree>
      <p:nvGrpSpPr>
        <p:cNvPr id="1" name="Shape 234"/>
        <p:cNvGrpSpPr/>
        <p:nvPr/>
      </p:nvGrpSpPr>
      <p:grpSpPr>
        <a:xfrm>
          <a:off x="0" y="0"/>
          <a:ext cx="0" cy="0"/>
          <a:chOff x="0" y="0"/>
          <a:chExt cx="0" cy="0"/>
        </a:xfrm>
      </p:grpSpPr>
      <p:sp>
        <p:nvSpPr>
          <p:cNvPr id="235" name="Google Shape;235;p86"/>
          <p:cNvSpPr txBox="1">
            <a:spLocks noGrp="1"/>
          </p:cNvSpPr>
          <p:nvPr>
            <p:ph type="body" idx="1"/>
          </p:nvPr>
        </p:nvSpPr>
        <p:spPr>
          <a:xfrm>
            <a:off x="-1590" y="1622759"/>
            <a:ext cx="12192003" cy="181913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61449B"/>
              </a:buClr>
              <a:buSzPts val="6000"/>
              <a:buFont typeface="Arial"/>
              <a:buNone/>
              <a:defRPr sz="6000" b="1" i="0" u="none" strike="noStrike" cap="none">
                <a:solidFill>
                  <a:srgbClr val="61449B"/>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6" name="Google Shape;236;p86"/>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43965"/>
              </a:buClr>
              <a:buSzPts val="4400"/>
              <a:buFont typeface="Arial"/>
              <a:buNone/>
              <a:defRPr sz="4400" b="0" i="0" u="none" strike="noStrike" cap="none">
                <a:solidFill>
                  <a:srgbClr val="143965"/>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7" name="Google Shape;237;p86"/>
          <p:cNvSpPr/>
          <p:nvPr/>
        </p:nvSpPr>
        <p:spPr>
          <a:xfrm rot="10800000" flipH="1">
            <a:off x="0" y="0"/>
            <a:ext cx="2467555" cy="954942"/>
          </a:xfrm>
          <a:prstGeom prst="round1Rect">
            <a:avLst>
              <a:gd name="adj" fmla="val 16667"/>
            </a:avLst>
          </a:prstGeom>
          <a:solidFill>
            <a:srgbClr val="61449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 name="Google Shape;238;p86"/>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pic>
        <p:nvPicPr>
          <p:cNvPr id="239" name="Google Shape;239;p86" descr="A blue and black logo&#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240" name="Google Shape;240;p86"/>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241" name="Google Shape;241;p86"/>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86"/>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pic>
        <p:nvPicPr>
          <p:cNvPr id="243" name="Google Shape;243;p8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2" y="4663225"/>
            <a:ext cx="12190407" cy="21947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9_G2 Copyright">
  <p:cSld name="9_G2 Copyright">
    <p:bg>
      <p:bgPr>
        <a:solidFill>
          <a:schemeClr val="lt1"/>
        </a:solidFill>
        <a:effectLst/>
      </p:bgPr>
    </p:bg>
    <p:spTree>
      <p:nvGrpSpPr>
        <p:cNvPr id="1" name="Shape 244"/>
        <p:cNvGrpSpPr/>
        <p:nvPr/>
      </p:nvGrpSpPr>
      <p:grpSpPr>
        <a:xfrm>
          <a:off x="0" y="0"/>
          <a:ext cx="0" cy="0"/>
          <a:chOff x="0" y="0"/>
          <a:chExt cx="0" cy="0"/>
        </a:xfrm>
      </p:grpSpPr>
      <p:pic>
        <p:nvPicPr>
          <p:cNvPr id="245" name="Google Shape;245;p87"/>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932192"/>
            <a:ext cx="12190412" cy="5925807"/>
          </a:xfrm>
          <a:prstGeom prst="rect">
            <a:avLst/>
          </a:prstGeom>
          <a:noFill/>
          <a:ln>
            <a:noFill/>
          </a:ln>
        </p:spPr>
      </p:pic>
      <p:sp>
        <p:nvSpPr>
          <p:cNvPr id="246" name="Google Shape;246;p87"/>
          <p:cNvSpPr/>
          <p:nvPr/>
        </p:nvSpPr>
        <p:spPr>
          <a:xfrm>
            <a:off x="1668545" y="2356700"/>
            <a:ext cx="1715678" cy="2648931"/>
          </a:xfrm>
          <a:prstGeom prst="ellipse">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 name="Google Shape;247;p87"/>
          <p:cNvSpPr/>
          <p:nvPr/>
        </p:nvSpPr>
        <p:spPr>
          <a:xfrm>
            <a:off x="1310326" y="4873659"/>
            <a:ext cx="2073897" cy="679000"/>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8" name="Google Shape;248;p87"/>
          <p:cNvSpPr txBox="1"/>
          <p:nvPr/>
        </p:nvSpPr>
        <p:spPr>
          <a:xfrm>
            <a:off x="1023907" y="1792363"/>
            <a:ext cx="10141011" cy="4247317"/>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3A3838"/>
                </a:solidFill>
                <a:latin typeface="Calibri"/>
                <a:ea typeface="Calibri"/>
                <a:cs typeface="Calibri"/>
                <a:sym typeface="Calibri"/>
              </a:rPr>
              <a:t>Acknowledgment</a:t>
            </a:r>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Thank you to all the Texas educators and stakeholders who supported the review process and provided feedback. These materials are the result of the work of numerous individuals, and we are deeply grateful for their contributions.</a:t>
            </a:r>
            <a:endParaRPr sz="1800">
              <a:solidFill>
                <a:srgbClr val="3A3838"/>
              </a:solidFill>
              <a:latin typeface="Calibri"/>
              <a:ea typeface="Calibri"/>
              <a:cs typeface="Calibri"/>
              <a:sym typeface="Calibri"/>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b="1">
                <a:solidFill>
                  <a:srgbClr val="3A3838"/>
                </a:solidFill>
                <a:latin typeface="Calibri"/>
                <a:ea typeface="Calibri"/>
                <a:cs typeface="Calibri"/>
                <a:sym typeface="Calibri"/>
              </a:rPr>
              <a:t>Notice</a:t>
            </a:r>
            <a:endParaRPr sz="1800" b="1">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These learning resources have been built for Texas students, aligned to the Texas Essential Knowledge and Skills, and are made available pursuant to Chapter 31, Subchapter B-1 of the Texas Education Code.</a:t>
            </a: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If you have further questions or to report an error, please email </a:t>
            </a:r>
            <a:r>
              <a:rPr lang="en-US" sz="1800" u="sng">
                <a:solidFill>
                  <a:srgbClr val="3A3838"/>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openeducationresources@tea.texas.gov</a:t>
            </a:r>
            <a:r>
              <a:rPr lang="en-US" sz="1800">
                <a:solidFill>
                  <a:srgbClr val="3A3838"/>
                </a:solidFill>
                <a:latin typeface="Calibri"/>
                <a:ea typeface="Calibri"/>
                <a:cs typeface="Calibri"/>
                <a:sym typeface="Calibri"/>
              </a:rPr>
              <a:t>.</a:t>
            </a:r>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Copyright ©2024 Texas Education Agency. This work based on or adapted from materials contained in Great Minds' Eureka Math® K-5 PDF files. </a:t>
            </a:r>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These materials are made available by the Texas Education Agency under an open license. For information about the license and your rights to use the materials, visit: </a:t>
            </a:r>
            <a:r>
              <a:rPr lang="en-US" sz="1800" u="sng">
                <a:solidFill>
                  <a:srgbClr val="3A3838"/>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https://tea.texas.gov/K-5Math</a:t>
            </a:r>
            <a:r>
              <a:rPr lang="en-US" sz="1800">
                <a:solidFill>
                  <a:srgbClr val="3A3838"/>
                </a:solidFill>
                <a:latin typeface="Calibri"/>
                <a:ea typeface="Calibri"/>
                <a:cs typeface="Calibri"/>
                <a:sym typeface="Calibri"/>
              </a:rPr>
              <a:t>. </a:t>
            </a:r>
            <a:endParaRPr/>
          </a:p>
        </p:txBody>
      </p:sp>
      <p:pic>
        <p:nvPicPr>
          <p:cNvPr id="249" name="Google Shape;249;p87" descr="A blue and black logo&#10;&#10;AI-generated content may be incorrect."/>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84963" y="101527"/>
            <a:ext cx="2080268" cy="682524"/>
          </a:xfrm>
          <a:prstGeom prst="rect">
            <a:avLst/>
          </a:prstGeom>
          <a:noFill/>
          <a:ln>
            <a:noFill/>
          </a:ln>
        </p:spPr>
      </p:pic>
      <p:sp>
        <p:nvSpPr>
          <p:cNvPr id="250" name="Google Shape;250;p87"/>
          <p:cNvSpPr txBox="1"/>
          <p:nvPr/>
        </p:nvSpPr>
        <p:spPr>
          <a:xfrm>
            <a:off x="862304" y="69238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Alg I_Activity">
  <p:cSld name="Alg I_Activity">
    <p:bg>
      <p:bgPr>
        <a:solidFill>
          <a:schemeClr val="lt1"/>
        </a:solidFill>
        <a:effectLst/>
      </p:bgPr>
    </p:bg>
    <p:spTree>
      <p:nvGrpSpPr>
        <p:cNvPr id="1" name="Shape 251"/>
        <p:cNvGrpSpPr/>
        <p:nvPr/>
      </p:nvGrpSpPr>
      <p:grpSpPr>
        <a:xfrm>
          <a:off x="0" y="0"/>
          <a:ext cx="0" cy="0"/>
          <a:chOff x="0" y="0"/>
          <a:chExt cx="0" cy="0"/>
        </a:xfrm>
      </p:grpSpPr>
      <p:pic>
        <p:nvPicPr>
          <p:cNvPr id="252" name="Google Shape;252;p8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1"/>
          </a:xfrm>
          <a:prstGeom prst="rect">
            <a:avLst/>
          </a:prstGeom>
          <a:noFill/>
          <a:ln>
            <a:noFill/>
          </a:ln>
        </p:spPr>
      </p:pic>
      <p:sp>
        <p:nvSpPr>
          <p:cNvPr id="253" name="Google Shape;253;p88"/>
          <p:cNvSpPr txBox="1"/>
          <p:nvPr/>
        </p:nvSpPr>
        <p:spPr>
          <a:xfrm>
            <a:off x="3352800" y="2984501"/>
            <a:ext cx="5499100" cy="1143000"/>
          </a:xfrm>
          <a:prstGeom prst="rect">
            <a:avLst/>
          </a:prstGeom>
          <a:solidFill>
            <a:srgbClr val="61449B"/>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endParaRPr sz="7500" b="1">
              <a:solidFill>
                <a:schemeClr val="lt1"/>
              </a:solidFill>
              <a:latin typeface="Calibri"/>
              <a:ea typeface="Calibri"/>
              <a:cs typeface="Calibri"/>
              <a:sym typeface="Calibri"/>
            </a:endParaRPr>
          </a:p>
        </p:txBody>
      </p:sp>
      <p:sp>
        <p:nvSpPr>
          <p:cNvPr id="254" name="Google Shape;254;p88"/>
          <p:cNvSpPr txBox="1"/>
          <p:nvPr/>
        </p:nvSpPr>
        <p:spPr>
          <a:xfrm>
            <a:off x="3340100" y="3136900"/>
            <a:ext cx="3302000" cy="946413"/>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7500" b="1">
                <a:solidFill>
                  <a:schemeClr val="lt1"/>
                </a:solidFill>
                <a:latin typeface="Calibri"/>
                <a:ea typeface="Calibri"/>
                <a:cs typeface="Calibri"/>
                <a:sym typeface="Calibri"/>
              </a:rPr>
              <a:t>Activity </a:t>
            </a:r>
            <a:endParaRPr sz="7500" b="1">
              <a:solidFill>
                <a:schemeClr val="lt1"/>
              </a:solidFill>
              <a:latin typeface="Calibri"/>
              <a:ea typeface="Calibri"/>
              <a:cs typeface="Calibri"/>
              <a:sym typeface="Calibri"/>
            </a:endParaRPr>
          </a:p>
        </p:txBody>
      </p:sp>
      <p:sp>
        <p:nvSpPr>
          <p:cNvPr id="255" name="Google Shape;255;p88"/>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0"/>
              <a:buFont typeface="Arial"/>
              <a:buNone/>
              <a:defRPr sz="7500" b="1"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56" name="Google Shape;256;p88"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257" name="Google Shape;257;p88"/>
          <p:cNvSpPr txBox="1">
            <a:spLocks noGrp="1"/>
          </p:cNvSpPr>
          <p:nvPr>
            <p:ph type="body" idx="2"/>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Alg I_Talk the Talk">
  <p:cSld name="Alg I_Talk the Talk">
    <p:bg>
      <p:bgPr>
        <a:solidFill>
          <a:schemeClr val="lt1"/>
        </a:solidFill>
        <a:effectLst/>
      </p:bgPr>
    </p:bg>
    <p:spTree>
      <p:nvGrpSpPr>
        <p:cNvPr id="1" name="Shape 258"/>
        <p:cNvGrpSpPr/>
        <p:nvPr/>
      </p:nvGrpSpPr>
      <p:grpSpPr>
        <a:xfrm>
          <a:off x="0" y="0"/>
          <a:ext cx="0" cy="0"/>
          <a:chOff x="0" y="0"/>
          <a:chExt cx="0" cy="0"/>
        </a:xfrm>
      </p:grpSpPr>
      <p:pic>
        <p:nvPicPr>
          <p:cNvPr id="259" name="Google Shape;259;p8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1"/>
          </a:xfrm>
          <a:prstGeom prst="rect">
            <a:avLst/>
          </a:prstGeom>
          <a:noFill/>
          <a:ln>
            <a:noFill/>
          </a:ln>
        </p:spPr>
      </p:pic>
      <p:sp>
        <p:nvSpPr>
          <p:cNvPr id="260" name="Google Shape;260;p89"/>
          <p:cNvSpPr txBox="1"/>
          <p:nvPr/>
        </p:nvSpPr>
        <p:spPr>
          <a:xfrm>
            <a:off x="3352800" y="2984501"/>
            <a:ext cx="5499100" cy="1143000"/>
          </a:xfrm>
          <a:prstGeom prst="rect">
            <a:avLst/>
          </a:prstGeom>
          <a:solidFill>
            <a:srgbClr val="61449B"/>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Talk the Talk</a:t>
            </a:r>
            <a:endParaRPr sz="7500" b="1">
              <a:solidFill>
                <a:schemeClr val="lt1"/>
              </a:solidFill>
              <a:latin typeface="Calibri"/>
              <a:ea typeface="Calibri"/>
              <a:cs typeface="Calibri"/>
              <a:sym typeface="Calibri"/>
            </a:endParaRPr>
          </a:p>
        </p:txBody>
      </p:sp>
      <p:pic>
        <p:nvPicPr>
          <p:cNvPr id="261" name="Google Shape;261;p89"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262" name="Google Shape;262;p89"/>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Alg I_Getting Started">
  <p:cSld name="Alg I_Getting Started">
    <p:bg>
      <p:bgPr>
        <a:solidFill>
          <a:schemeClr val="lt1"/>
        </a:solidFill>
        <a:effectLst/>
      </p:bgPr>
    </p:bg>
    <p:spTree>
      <p:nvGrpSpPr>
        <p:cNvPr id="1" name="Shape 263"/>
        <p:cNvGrpSpPr/>
        <p:nvPr/>
      </p:nvGrpSpPr>
      <p:grpSpPr>
        <a:xfrm>
          <a:off x="0" y="0"/>
          <a:ext cx="0" cy="0"/>
          <a:chOff x="0" y="0"/>
          <a:chExt cx="0" cy="0"/>
        </a:xfrm>
      </p:grpSpPr>
      <p:pic>
        <p:nvPicPr>
          <p:cNvPr id="264" name="Google Shape;264;p9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1"/>
          </a:xfrm>
          <a:prstGeom prst="rect">
            <a:avLst/>
          </a:prstGeom>
          <a:noFill/>
          <a:ln>
            <a:noFill/>
          </a:ln>
        </p:spPr>
      </p:pic>
      <p:sp>
        <p:nvSpPr>
          <p:cNvPr id="265" name="Google Shape;265;p90" descr="A green and black pattern&#10;&#10;AI-generated content may be incorrect."/>
          <p:cNvSpPr txBox="1"/>
          <p:nvPr/>
        </p:nvSpPr>
        <p:spPr>
          <a:xfrm>
            <a:off x="2767915" y="2984501"/>
            <a:ext cx="6660292" cy="1143000"/>
          </a:xfrm>
          <a:prstGeom prst="rect">
            <a:avLst/>
          </a:prstGeom>
          <a:solidFill>
            <a:srgbClr val="61449B"/>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Getting Started</a:t>
            </a:r>
            <a:endParaRPr sz="7500" b="1">
              <a:solidFill>
                <a:schemeClr val="lt1"/>
              </a:solidFill>
              <a:latin typeface="Calibri"/>
              <a:ea typeface="Calibri"/>
              <a:cs typeface="Calibri"/>
              <a:sym typeface="Calibri"/>
            </a:endParaRPr>
          </a:p>
        </p:txBody>
      </p:sp>
      <p:pic>
        <p:nvPicPr>
          <p:cNvPr id="266" name="Google Shape;266;p90"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267" name="Google Shape;267;p90"/>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1_Alg I_Getting Started">
  <p:cSld name="1_Alg I_Getting Started">
    <p:bg>
      <p:bgPr>
        <a:solidFill>
          <a:schemeClr val="lt1"/>
        </a:solidFill>
        <a:effectLst/>
      </p:bgPr>
    </p:bg>
    <p:spTree>
      <p:nvGrpSpPr>
        <p:cNvPr id="1" name="Shape 268"/>
        <p:cNvGrpSpPr/>
        <p:nvPr/>
      </p:nvGrpSpPr>
      <p:grpSpPr>
        <a:xfrm>
          <a:off x="0" y="0"/>
          <a:ext cx="0" cy="0"/>
          <a:chOff x="0" y="0"/>
          <a:chExt cx="0" cy="0"/>
        </a:xfrm>
      </p:grpSpPr>
      <p:pic>
        <p:nvPicPr>
          <p:cNvPr id="269" name="Google Shape;269;p91"/>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1"/>
          </a:xfrm>
          <a:prstGeom prst="rect">
            <a:avLst/>
          </a:prstGeom>
          <a:noFill/>
          <a:ln>
            <a:noFill/>
          </a:ln>
        </p:spPr>
      </p:pic>
      <p:sp>
        <p:nvSpPr>
          <p:cNvPr id="270" name="Google Shape;270;p91" descr="A green and black pattern&#10;&#10;AI-generated content may be incorrect."/>
          <p:cNvSpPr txBox="1"/>
          <p:nvPr/>
        </p:nvSpPr>
        <p:spPr>
          <a:xfrm>
            <a:off x="3866323" y="2984501"/>
            <a:ext cx="4432852" cy="1143000"/>
          </a:xfrm>
          <a:prstGeom prst="rect">
            <a:avLst/>
          </a:prstGeom>
          <a:solidFill>
            <a:srgbClr val="61449B"/>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Prepare</a:t>
            </a:r>
            <a:endParaRPr sz="7500" b="1">
              <a:solidFill>
                <a:schemeClr val="lt1"/>
              </a:solidFill>
              <a:latin typeface="Calibri"/>
              <a:ea typeface="Calibri"/>
              <a:cs typeface="Calibri"/>
              <a:sym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Alg I_Session Divider">
  <p:cSld name="Alg I_Session Divider">
    <p:bg>
      <p:bgPr>
        <a:solidFill>
          <a:schemeClr val="lt1"/>
        </a:solidFill>
        <a:effectLst/>
      </p:bgPr>
    </p:bg>
    <p:spTree>
      <p:nvGrpSpPr>
        <p:cNvPr id="1" name="Shape 271"/>
        <p:cNvGrpSpPr/>
        <p:nvPr/>
      </p:nvGrpSpPr>
      <p:grpSpPr>
        <a:xfrm>
          <a:off x="0" y="0"/>
          <a:ext cx="0" cy="0"/>
          <a:chOff x="0" y="0"/>
          <a:chExt cx="0" cy="0"/>
        </a:xfrm>
      </p:grpSpPr>
      <p:sp>
        <p:nvSpPr>
          <p:cNvPr id="272" name="Google Shape;272;p92"/>
          <p:cNvSpPr txBox="1"/>
          <p:nvPr/>
        </p:nvSpPr>
        <p:spPr>
          <a:xfrm>
            <a:off x="4918157" y="2955793"/>
            <a:ext cx="1512037" cy="94641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7500" b="1">
                <a:solidFill>
                  <a:srgbClr val="171616"/>
                </a:solidFill>
                <a:latin typeface="Calibri"/>
                <a:ea typeface="Calibri"/>
                <a:cs typeface="Calibri"/>
                <a:sym typeface="Calibri"/>
              </a:rPr>
              <a:t>Day</a:t>
            </a:r>
            <a:endParaRPr sz="7500" b="1">
              <a:solidFill>
                <a:srgbClr val="171616"/>
              </a:solidFill>
              <a:latin typeface="Calibri"/>
              <a:ea typeface="Calibri"/>
              <a:cs typeface="Calibri"/>
              <a:sym typeface="Calibri"/>
            </a:endParaRPr>
          </a:p>
        </p:txBody>
      </p:sp>
      <p:sp>
        <p:nvSpPr>
          <p:cNvPr id="273" name="Google Shape;273;p92"/>
          <p:cNvSpPr txBox="1">
            <a:spLocks noGrp="1"/>
          </p:cNvSpPr>
          <p:nvPr>
            <p:ph type="body" idx="1"/>
          </p:nvPr>
        </p:nvSpPr>
        <p:spPr>
          <a:xfrm>
            <a:off x="5578106" y="2843523"/>
            <a:ext cx="1061883" cy="107156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000000"/>
              </a:buClr>
              <a:buSzPts val="7500"/>
              <a:buFont typeface="Arial"/>
              <a:buNone/>
              <a:defRPr sz="7500" b="1" i="0" u="none" strike="noStrike" cap="none">
                <a:solidFill>
                  <a:srgbClr val="000000"/>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74" name="Google Shape;274;p9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2" y="4663225"/>
            <a:ext cx="12190407" cy="2194775"/>
          </a:xfrm>
          <a:prstGeom prst="rect">
            <a:avLst/>
          </a:prstGeom>
          <a:noFill/>
          <a:ln>
            <a:noFill/>
          </a:ln>
        </p:spPr>
      </p:pic>
      <p:pic>
        <p:nvPicPr>
          <p:cNvPr id="275" name="Google Shape;275;p9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rot="10800000">
            <a:off x="6" y="0"/>
            <a:ext cx="12190407" cy="2194775"/>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Alg I_Cutouts Divider">
  <p:cSld name="Alg I_Cutouts Divider">
    <p:bg>
      <p:bgPr>
        <a:solidFill>
          <a:schemeClr val="lt1"/>
        </a:solidFill>
        <a:effectLst/>
      </p:bgPr>
    </p:bg>
    <p:spTree>
      <p:nvGrpSpPr>
        <p:cNvPr id="1" name="Shape 276"/>
        <p:cNvGrpSpPr/>
        <p:nvPr/>
      </p:nvGrpSpPr>
      <p:grpSpPr>
        <a:xfrm>
          <a:off x="0" y="0"/>
          <a:ext cx="0" cy="0"/>
          <a:chOff x="0" y="0"/>
          <a:chExt cx="0" cy="0"/>
        </a:xfrm>
      </p:grpSpPr>
      <p:sp>
        <p:nvSpPr>
          <p:cNvPr id="277" name="Google Shape;277;p93"/>
          <p:cNvSpPr txBox="1">
            <a:spLocks noGrp="1"/>
          </p:cNvSpPr>
          <p:nvPr>
            <p:ph type="body" idx="1"/>
          </p:nvPr>
        </p:nvSpPr>
        <p:spPr>
          <a:xfrm>
            <a:off x="5171005" y="2395538"/>
            <a:ext cx="1848402" cy="1033462"/>
          </a:xfrm>
          <a:prstGeom prst="rect">
            <a:avLst/>
          </a:prstGeom>
          <a:noFill/>
          <a:ln>
            <a:noFill/>
          </a:ln>
        </p:spPr>
        <p:txBody>
          <a:bodyPr spcFirstLastPara="1" wrap="square" lIns="91425" tIns="45700" rIns="91425" bIns="45700" anchor="t" anchorCtr="0">
            <a:noAutofit/>
          </a:bodyPr>
          <a:lstStyle>
            <a:lvl1pPr marL="457200" marR="0" lvl="0" indent="-704850" algn="l" rtl="0">
              <a:lnSpc>
                <a:spcPct val="90000"/>
              </a:lnSpc>
              <a:spcBef>
                <a:spcPts val="10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1pPr>
            <a:lvl2pPr marL="914400" marR="0" lvl="1"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2pPr>
            <a:lvl3pPr marL="1371600" marR="0" lvl="2"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3pPr>
            <a:lvl4pPr marL="1828800" marR="0" lvl="3"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4pPr>
            <a:lvl5pPr marL="2286000" marR="0" lvl="4"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78" name="Google Shape;278;p93"/>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2" y="4663225"/>
            <a:ext cx="12190407" cy="219477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Alg I_Back Cover">
  <p:cSld name="Alg I_Back Cover">
    <p:bg>
      <p:bgPr>
        <a:solidFill>
          <a:schemeClr val="lt1"/>
        </a:solidFill>
        <a:effectLst/>
      </p:bgPr>
    </p:bg>
    <p:spTree>
      <p:nvGrpSpPr>
        <p:cNvPr id="1" name="Shape 279"/>
        <p:cNvGrpSpPr/>
        <p:nvPr/>
      </p:nvGrpSpPr>
      <p:grpSpPr>
        <a:xfrm>
          <a:off x="0" y="0"/>
          <a:ext cx="0" cy="0"/>
          <a:chOff x="0" y="0"/>
          <a:chExt cx="0" cy="0"/>
        </a:xfrm>
      </p:grpSpPr>
      <p:pic>
        <p:nvPicPr>
          <p:cNvPr id="280" name="Google Shape;280;p94"/>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2" y="4663225"/>
            <a:ext cx="12190407" cy="2194775"/>
          </a:xfrm>
          <a:prstGeom prst="rect">
            <a:avLst/>
          </a:prstGeom>
          <a:noFill/>
          <a:ln>
            <a:noFill/>
          </a:ln>
        </p:spPr>
      </p:pic>
      <p:sp>
        <p:nvSpPr>
          <p:cNvPr id="281" name="Google Shape;281;p94"/>
          <p:cNvSpPr txBox="1">
            <a:spLocks noGrp="1"/>
          </p:cNvSpPr>
          <p:nvPr>
            <p:ph type="body" idx="1"/>
          </p:nvPr>
        </p:nvSpPr>
        <p:spPr>
          <a:xfrm>
            <a:off x="8155889" y="4975063"/>
            <a:ext cx="3431356" cy="414778"/>
          </a:xfrm>
          <a:prstGeom prst="rect">
            <a:avLst/>
          </a:prstGeom>
          <a:solidFill>
            <a:srgbClr val="61449B"/>
          </a:solidFill>
          <a:ln>
            <a:noFill/>
          </a:ln>
        </p:spPr>
        <p:txBody>
          <a:bodyPr spcFirstLastPara="1" wrap="square" lIns="0" tIns="45700" rIns="0" bIns="45700" anchor="ctr" anchorCtr="0">
            <a:noAutofit/>
          </a:bodyPr>
          <a:lstStyle>
            <a:lvl1pPr marL="457200" marR="0" lvl="0" indent="-228600" algn="ctr"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282" name="Google Shape;282;p94"/>
          <p:cNvGrpSpPr/>
          <p:nvPr/>
        </p:nvGrpSpPr>
        <p:grpSpPr>
          <a:xfrm>
            <a:off x="9053008" y="227306"/>
            <a:ext cx="2910578" cy="1472169"/>
            <a:chOff x="8940726" y="132485"/>
            <a:chExt cx="2910578" cy="1472169"/>
          </a:xfrm>
        </p:grpSpPr>
        <p:pic>
          <p:nvPicPr>
            <p:cNvPr id="283" name="Google Shape;283;p94" descr="A blue and black logo&#10;&#10;AI-generated content may be incorrect."/>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284" name="Google Shape;284;p94"/>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285" name="Google Shape;285;p94"/>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6" name="Google Shape;286;p94"/>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grpSp>
      <p:sp>
        <p:nvSpPr>
          <p:cNvPr id="287" name="Google Shape;287;p94"/>
          <p:cNvSpPr/>
          <p:nvPr/>
        </p:nvSpPr>
        <p:spPr>
          <a:xfrm rot="10800000" flipH="1">
            <a:off x="0" y="0"/>
            <a:ext cx="2467555" cy="954942"/>
          </a:xfrm>
          <a:prstGeom prst="round1Rect">
            <a:avLst>
              <a:gd name="adj" fmla="val 16667"/>
            </a:avLst>
          </a:prstGeom>
          <a:solidFill>
            <a:srgbClr val="61449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94"/>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Objective">
  <p:cSld name="Objective">
    <p:spTree>
      <p:nvGrpSpPr>
        <p:cNvPr id="1" name="Shape 289"/>
        <p:cNvGrpSpPr/>
        <p:nvPr/>
      </p:nvGrpSpPr>
      <p:grpSpPr>
        <a:xfrm>
          <a:off x="0" y="0"/>
          <a:ext cx="0" cy="0"/>
          <a:chOff x="0" y="0"/>
          <a:chExt cx="0" cy="0"/>
        </a:xfrm>
      </p:grpSpPr>
      <p:sp>
        <p:nvSpPr>
          <p:cNvPr id="290" name="Google Shape;290;p95"/>
          <p:cNvSpPr/>
          <p:nvPr/>
        </p:nvSpPr>
        <p:spPr>
          <a:xfrm>
            <a:off x="-1586" y="1392600"/>
            <a:ext cx="12192000" cy="54909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 name="Google Shape;291;p95"/>
          <p:cNvSpPr txBox="1">
            <a:spLocks noGrp="1"/>
          </p:cNvSpPr>
          <p:nvPr>
            <p:ph type="body" idx="1"/>
          </p:nvPr>
        </p:nvSpPr>
        <p:spPr>
          <a:xfrm>
            <a:off x="836614" y="2159879"/>
            <a:ext cx="10515599" cy="395641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3A3838"/>
              </a:buClr>
              <a:buSzPts val="4400"/>
              <a:buFont typeface="Arial"/>
              <a:buNone/>
              <a:defRPr sz="4400" b="0" i="0" u="none" strike="noStrike" cap="none">
                <a:solidFill>
                  <a:srgbClr val="3A3838"/>
                </a:solidFill>
                <a:latin typeface="Calibri"/>
                <a:ea typeface="Calibri"/>
                <a:cs typeface="Calibri"/>
                <a:sym typeface="Calibri"/>
              </a:defRPr>
            </a:lvl1pPr>
            <a:lvl2pPr marL="914400" marR="0" lvl="1"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2pPr>
            <a:lvl3pPr marL="1371600" marR="0" lvl="2"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3pPr>
            <a:lvl4pPr marL="1828800" marR="0" lvl="3"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2" name="Google Shape;292;p95"/>
          <p:cNvSpPr/>
          <p:nvPr/>
        </p:nvSpPr>
        <p:spPr>
          <a:xfrm>
            <a:off x="0" y="0"/>
            <a:ext cx="7575442" cy="927652"/>
          </a:xfrm>
          <a:prstGeom prst="rect">
            <a:avLst/>
          </a:prstGeom>
          <a:solidFill>
            <a:srgbClr val="61449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93" name="Google Shape;293;p95"/>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7575442" y="0"/>
            <a:ext cx="4614969" cy="931320"/>
          </a:xfrm>
          <a:prstGeom prst="rect">
            <a:avLst/>
          </a:prstGeom>
          <a:noFill/>
          <a:ln>
            <a:noFill/>
          </a:ln>
        </p:spPr>
      </p:pic>
      <p:sp>
        <p:nvSpPr>
          <p:cNvPr id="294" name="Google Shape;294;p95"/>
          <p:cNvSpPr txBox="1">
            <a:spLocks noGrp="1"/>
          </p:cNvSpPr>
          <p:nvPr>
            <p:ph type="title"/>
          </p:nvPr>
        </p:nvSpPr>
        <p:spPr>
          <a:xfrm>
            <a:off x="0" y="0"/>
            <a:ext cx="6094413" cy="926757"/>
          </a:xfrm>
          <a:prstGeom prst="rect">
            <a:avLst/>
          </a:prstGeom>
          <a:noFill/>
          <a:ln>
            <a:noFill/>
          </a:ln>
        </p:spPr>
        <p:txBody>
          <a:bodyPr spcFirstLastPara="1" wrap="square" lIns="457200" tIns="45700" rIns="91425" bIns="45700" anchor="ctr" anchorCtr="0">
            <a:noAutofit/>
          </a:bodyPr>
          <a:lstStyle>
            <a:lvl1pPr marR="0" lvl="0" algn="l" rtl="0">
              <a:lnSpc>
                <a:spcPct val="90000"/>
              </a:lnSpc>
              <a:spcBef>
                <a:spcPts val="0"/>
              </a:spcBef>
              <a:spcAft>
                <a:spcPts val="0"/>
              </a:spcAft>
              <a:buClr>
                <a:schemeClr val="lt1"/>
              </a:buClr>
              <a:buSzPts val="4000"/>
              <a:buFont typeface="Calibri"/>
              <a:buNone/>
              <a:defRPr sz="4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erminology">
  <p:cSld name="Terminology">
    <p:bg>
      <p:bgPr>
        <a:solidFill>
          <a:schemeClr val="lt1"/>
        </a:solidFill>
        <a:effectLst/>
      </p:bgPr>
    </p:bg>
    <p:spTree>
      <p:nvGrpSpPr>
        <p:cNvPr id="1" name="Shape 295"/>
        <p:cNvGrpSpPr/>
        <p:nvPr/>
      </p:nvGrpSpPr>
      <p:grpSpPr>
        <a:xfrm>
          <a:off x="0" y="0"/>
          <a:ext cx="0" cy="0"/>
          <a:chOff x="0" y="0"/>
          <a:chExt cx="0" cy="0"/>
        </a:xfrm>
      </p:grpSpPr>
      <p:sp>
        <p:nvSpPr>
          <p:cNvPr id="296" name="Google Shape;296;p96"/>
          <p:cNvSpPr txBox="1">
            <a:spLocks noGrp="1"/>
          </p:cNvSpPr>
          <p:nvPr>
            <p:ph type="body" idx="1"/>
          </p:nvPr>
        </p:nvSpPr>
        <p:spPr>
          <a:xfrm>
            <a:off x="852488" y="1652588"/>
            <a:ext cx="10515600" cy="11697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7" name="Google Shape;297;p96"/>
          <p:cNvSpPr>
            <a:spLocks noGrp="1"/>
          </p:cNvSpPr>
          <p:nvPr>
            <p:ph type="pic" idx="2"/>
          </p:nvPr>
        </p:nvSpPr>
        <p:spPr>
          <a:xfrm>
            <a:off x="3427412" y="3217943"/>
            <a:ext cx="5335588" cy="2505075"/>
          </a:xfrm>
          <a:prstGeom prst="rect">
            <a:avLst/>
          </a:prstGeom>
          <a:noFill/>
          <a:ln>
            <a:noFill/>
          </a:ln>
        </p:spPr>
      </p:sp>
      <p:sp>
        <p:nvSpPr>
          <p:cNvPr id="298" name="Google Shape;298;p9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2B8147"/>
              </a:buClr>
              <a:buSzPts val="4000"/>
              <a:buFont typeface="Calibri"/>
              <a:buNone/>
              <a:defRPr sz="4000" b="0" i="0" u="none" strike="noStrike" cap="none">
                <a:solidFill>
                  <a:srgbClr val="2B8147"/>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99" name="Google Shape;299;p9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Application Problem Text">
  <p:cSld name="Application Problem Text">
    <p:spTree>
      <p:nvGrpSpPr>
        <p:cNvPr id="1" name="Shape 300"/>
        <p:cNvGrpSpPr/>
        <p:nvPr/>
      </p:nvGrpSpPr>
      <p:grpSpPr>
        <a:xfrm>
          <a:off x="0" y="0"/>
          <a:ext cx="0" cy="0"/>
          <a:chOff x="0" y="0"/>
          <a:chExt cx="0" cy="0"/>
        </a:xfrm>
      </p:grpSpPr>
      <p:pic>
        <p:nvPicPr>
          <p:cNvPr id="301" name="Google Shape;301;p97"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302" name="Google Shape;302;p97"/>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3" name="Google Shape;303;p97"/>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4" name="Google Shape;304;p97"/>
          <p:cNvSpPr txBox="1">
            <a:spLocks noGrp="1"/>
          </p:cNvSpPr>
          <p:nvPr>
            <p:ph type="title"/>
          </p:nvPr>
        </p:nvSpPr>
        <p:spPr>
          <a:xfrm>
            <a:off x="777240" y="0"/>
            <a:ext cx="11389135" cy="1253765"/>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05" name="Google Shape;305;p9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1_RDW_Horizontal">
  <p:cSld name="1_RDW_Horizontal">
    <p:spTree>
      <p:nvGrpSpPr>
        <p:cNvPr id="1" name="Shape 306"/>
        <p:cNvGrpSpPr/>
        <p:nvPr/>
      </p:nvGrpSpPr>
      <p:grpSpPr>
        <a:xfrm>
          <a:off x="0" y="0"/>
          <a:ext cx="0" cy="0"/>
          <a:chOff x="0" y="0"/>
          <a:chExt cx="0" cy="0"/>
        </a:xfrm>
      </p:grpSpPr>
      <p:graphicFrame>
        <p:nvGraphicFramePr>
          <p:cNvPr id="307" name="Google Shape;307;p98"/>
          <p:cNvGraphicFramePr/>
          <p:nvPr/>
        </p:nvGraphicFramePr>
        <p:xfrm>
          <a:off x="775252" y="3783769"/>
          <a:ext cx="3000000" cy="3000000"/>
        </p:xfrm>
        <a:graphic>
          <a:graphicData uri="http://schemas.openxmlformats.org/drawingml/2006/table">
            <a:tbl>
              <a:tblPr>
                <a:noFill/>
                <a:tableStyleId>{F7D8C473-989F-46CF-8A33-2A7C700182BB}</a:tableStyleId>
              </a:tblPr>
              <a:tblGrid>
                <a:gridCol w="3694050">
                  <a:extLst>
                    <a:ext uri="{9D8B030D-6E8A-4147-A177-3AD203B41FA5}">
                      <a16:colId xmlns:a16="http://schemas.microsoft.com/office/drawing/2014/main" val="20000"/>
                    </a:ext>
                  </a:extLst>
                </a:gridCol>
                <a:gridCol w="3694050">
                  <a:extLst>
                    <a:ext uri="{9D8B030D-6E8A-4147-A177-3AD203B41FA5}">
                      <a16:colId xmlns:a16="http://schemas.microsoft.com/office/drawing/2014/main" val="20001"/>
                    </a:ext>
                  </a:extLst>
                </a:gridCol>
                <a:gridCol w="3694050">
                  <a:extLst>
                    <a:ext uri="{9D8B030D-6E8A-4147-A177-3AD203B41FA5}">
                      <a16:colId xmlns:a16="http://schemas.microsoft.com/office/drawing/2014/main" val="20002"/>
                    </a:ext>
                  </a:extLst>
                </a:gridCol>
              </a:tblGrid>
              <a:tr h="244000">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Read</a:t>
                      </a:r>
                      <a:endParaRPr sz="1800" b="1" u="none" strike="noStrike" cap="none">
                        <a:solidFill>
                          <a:srgbClr val="3A3838"/>
                        </a:solidFill>
                      </a:endParaRPr>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Draw</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Write</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309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08" name="Google Shape;308;p98"/>
          <p:cNvSpPr txBox="1">
            <a:spLocks noGrp="1"/>
          </p:cNvSpPr>
          <p:nvPr>
            <p:ph type="body" idx="1"/>
          </p:nvPr>
        </p:nvSpPr>
        <p:spPr>
          <a:xfrm>
            <a:off x="765313" y="1479938"/>
            <a:ext cx="11060341" cy="20721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200"/>
              <a:buFont typeface="Arial"/>
              <a:buNone/>
              <a:defRPr sz="22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9" name="Google Shape;309;p98"/>
          <p:cNvSpPr txBox="1">
            <a:spLocks noGrp="1"/>
          </p:cNvSpPr>
          <p:nvPr>
            <p:ph type="title"/>
          </p:nvPr>
        </p:nvSpPr>
        <p:spPr>
          <a:xfrm>
            <a:off x="772211" y="0"/>
            <a:ext cx="1141820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10" name="Google Shape;310;p9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Fluency w/Timer">
  <p:cSld name="Fluency w/Timer">
    <p:spTree>
      <p:nvGrpSpPr>
        <p:cNvPr id="1" name="Shape 311"/>
        <p:cNvGrpSpPr/>
        <p:nvPr/>
      </p:nvGrpSpPr>
      <p:grpSpPr>
        <a:xfrm>
          <a:off x="0" y="0"/>
          <a:ext cx="0" cy="0"/>
          <a:chOff x="0" y="0"/>
          <a:chExt cx="0" cy="0"/>
        </a:xfrm>
      </p:grpSpPr>
      <p:pic>
        <p:nvPicPr>
          <p:cNvPr id="312" name="Google Shape;312;p99"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313" name="Google Shape;313;p99"/>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4" name="Google Shape;314;p99"/>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5" name="Google Shape;315;p99"/>
          <p:cNvSpPr txBox="1">
            <a:spLocks noGrp="1"/>
          </p:cNvSpPr>
          <p:nvPr>
            <p:ph type="title"/>
          </p:nvPr>
        </p:nvSpPr>
        <p:spPr>
          <a:xfrm>
            <a:off x="777240" y="7968"/>
            <a:ext cx="11413173" cy="12694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3A3838"/>
              </a:buClr>
              <a:buSzPts val="4400"/>
              <a:buFont typeface="Calibri"/>
              <a:buNone/>
              <a:defRPr sz="4400" b="1" i="0" u="none" strike="noStrike" cap="none">
                <a:solidFill>
                  <a:srgbClr val="3A383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16" name="Google Shape;316;p9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Concept Development">
  <p:cSld name="Concept Development">
    <p:spTree>
      <p:nvGrpSpPr>
        <p:cNvPr id="1" name="Shape 317"/>
        <p:cNvGrpSpPr/>
        <p:nvPr/>
      </p:nvGrpSpPr>
      <p:grpSpPr>
        <a:xfrm>
          <a:off x="0" y="0"/>
          <a:ext cx="0" cy="0"/>
          <a:chOff x="0" y="0"/>
          <a:chExt cx="0" cy="0"/>
        </a:xfrm>
      </p:grpSpPr>
      <p:sp>
        <p:nvSpPr>
          <p:cNvPr id="318" name="Google Shape;318;p10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9" name="Google Shape;319;p100"/>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20" name="Google Shape;320;p10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oncept Development with Timer">
  <p:cSld name="Concept Development with Timer">
    <p:spTree>
      <p:nvGrpSpPr>
        <p:cNvPr id="1" name="Shape 321"/>
        <p:cNvGrpSpPr/>
        <p:nvPr/>
      </p:nvGrpSpPr>
      <p:grpSpPr>
        <a:xfrm>
          <a:off x="0" y="0"/>
          <a:ext cx="0" cy="0"/>
          <a:chOff x="0" y="0"/>
          <a:chExt cx="0" cy="0"/>
        </a:xfrm>
      </p:grpSpPr>
      <p:pic>
        <p:nvPicPr>
          <p:cNvPr id="322" name="Google Shape;322;p101"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323" name="Google Shape;323;p101"/>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4" name="Google Shape;324;p101"/>
          <p:cNvSpPr txBox="1">
            <a:spLocks noGrp="1"/>
          </p:cNvSpPr>
          <p:nvPr>
            <p:ph type="body" idx="2"/>
          </p:nvPr>
        </p:nvSpPr>
        <p:spPr>
          <a:xfrm>
            <a:off x="11127570" y="6036181"/>
            <a:ext cx="654121"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5" name="Google Shape;325;p101"/>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26" name="Google Shape;326;p10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Problem Set with Text">
  <p:cSld name="Problem Set with Text">
    <p:spTree>
      <p:nvGrpSpPr>
        <p:cNvPr id="1" name="Shape 327"/>
        <p:cNvGrpSpPr/>
        <p:nvPr/>
      </p:nvGrpSpPr>
      <p:grpSpPr>
        <a:xfrm>
          <a:off x="0" y="0"/>
          <a:ext cx="0" cy="0"/>
          <a:chOff x="0" y="0"/>
          <a:chExt cx="0" cy="0"/>
        </a:xfrm>
      </p:grpSpPr>
      <p:pic>
        <p:nvPicPr>
          <p:cNvPr id="328" name="Google Shape;328;p102"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329" name="Google Shape;329;p102"/>
          <p:cNvSpPr txBox="1">
            <a:spLocks noGrp="1"/>
          </p:cNvSpPr>
          <p:nvPr>
            <p:ph type="body" idx="1"/>
          </p:nvPr>
        </p:nvSpPr>
        <p:spPr>
          <a:xfrm>
            <a:off x="11140001" y="6036181"/>
            <a:ext cx="622969"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0" name="Google Shape;330;p102"/>
          <p:cNvSpPr txBox="1">
            <a:spLocks noGrp="1"/>
          </p:cNvSpPr>
          <p:nvPr>
            <p:ph type="title"/>
          </p:nvPr>
        </p:nvSpPr>
        <p:spPr>
          <a:xfrm>
            <a:off x="777240" y="1"/>
            <a:ext cx="11407898"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31" name="Google Shape;331;p102"/>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32" name="Google Shape;332;p10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Student Debrief">
  <p:cSld name="Student Debrief">
    <p:spTree>
      <p:nvGrpSpPr>
        <p:cNvPr id="1" name="Shape 333"/>
        <p:cNvGrpSpPr/>
        <p:nvPr/>
      </p:nvGrpSpPr>
      <p:grpSpPr>
        <a:xfrm>
          <a:off x="0" y="0"/>
          <a:ext cx="0" cy="0"/>
          <a:chOff x="0" y="0"/>
          <a:chExt cx="0" cy="0"/>
        </a:xfrm>
      </p:grpSpPr>
      <p:pic>
        <p:nvPicPr>
          <p:cNvPr id="334" name="Google Shape;334;p103"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335" name="Google Shape;335;p103"/>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6" name="Google Shape;336;p103"/>
          <p:cNvSpPr txBox="1">
            <a:spLocks noGrp="1"/>
          </p:cNvSpPr>
          <p:nvPr>
            <p:ph type="body" idx="2"/>
          </p:nvPr>
        </p:nvSpPr>
        <p:spPr>
          <a:xfrm>
            <a:off x="11127570" y="6036181"/>
            <a:ext cx="64533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7" name="Google Shape;337;p103"/>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38" name="Google Shape;338;p10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Exit Ticket">
  <p:cSld name="Exit Ticket">
    <p:spTree>
      <p:nvGrpSpPr>
        <p:cNvPr id="1" name="Shape 339"/>
        <p:cNvGrpSpPr/>
        <p:nvPr/>
      </p:nvGrpSpPr>
      <p:grpSpPr>
        <a:xfrm>
          <a:off x="0" y="0"/>
          <a:ext cx="0" cy="0"/>
          <a:chOff x="0" y="0"/>
          <a:chExt cx="0" cy="0"/>
        </a:xfrm>
      </p:grpSpPr>
      <p:pic>
        <p:nvPicPr>
          <p:cNvPr id="340" name="Google Shape;340;p104"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341" name="Google Shape;341;p104"/>
          <p:cNvSpPr txBox="1">
            <a:spLocks noGrp="1"/>
          </p:cNvSpPr>
          <p:nvPr>
            <p:ph type="body" idx="1"/>
          </p:nvPr>
        </p:nvSpPr>
        <p:spPr>
          <a:xfrm>
            <a:off x="11127571" y="6036181"/>
            <a:ext cx="63540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2" name="Google Shape;342;p104"/>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1000"/>
              </a:spcBef>
              <a:spcAft>
                <a:spcPts val="0"/>
              </a:spcAft>
              <a:buClr>
                <a:schemeClr val="dk1"/>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3" name="Google Shape;343;p10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44" name="Google Shape;344;p10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2" cy="6857984"/>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2_Alg I_Title Slide">
  <p:cSld name="2_Alg I_Title Slide">
    <p:bg>
      <p:bgPr>
        <a:solidFill>
          <a:schemeClr val="lt1"/>
        </a:solidFill>
        <a:effectLst/>
      </p:bgPr>
    </p:bg>
    <p:spTree>
      <p:nvGrpSpPr>
        <p:cNvPr id="1" name="Shape 346"/>
        <p:cNvGrpSpPr/>
        <p:nvPr/>
      </p:nvGrpSpPr>
      <p:grpSpPr>
        <a:xfrm>
          <a:off x="0" y="0"/>
          <a:ext cx="0" cy="0"/>
          <a:chOff x="0" y="0"/>
          <a:chExt cx="0" cy="0"/>
        </a:xfrm>
      </p:grpSpPr>
      <p:sp>
        <p:nvSpPr>
          <p:cNvPr id="347" name="Google Shape;347;p106"/>
          <p:cNvSpPr txBox="1">
            <a:spLocks noGrp="1"/>
          </p:cNvSpPr>
          <p:nvPr>
            <p:ph type="body" idx="1"/>
          </p:nvPr>
        </p:nvSpPr>
        <p:spPr>
          <a:xfrm>
            <a:off x="-1590" y="1622759"/>
            <a:ext cx="12192003" cy="181913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0084AC"/>
              </a:buClr>
              <a:buSzPts val="6000"/>
              <a:buFont typeface="Arial"/>
              <a:buNone/>
              <a:defRPr sz="6000" b="1" i="0" u="none" strike="noStrike" cap="none">
                <a:solidFill>
                  <a:srgbClr val="0084AC"/>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8" name="Google Shape;348;p106"/>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43965"/>
              </a:buClr>
              <a:buSzPts val="4400"/>
              <a:buFont typeface="Arial"/>
              <a:buNone/>
              <a:defRPr sz="4400" b="0" i="0" u="none" strike="noStrike" cap="none">
                <a:solidFill>
                  <a:srgbClr val="143965"/>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9" name="Google Shape;349;p106"/>
          <p:cNvSpPr/>
          <p:nvPr/>
        </p:nvSpPr>
        <p:spPr>
          <a:xfrm rot="10800000" flipH="1">
            <a:off x="0" y="0"/>
            <a:ext cx="2467555" cy="954942"/>
          </a:xfrm>
          <a:prstGeom prst="round1Rect">
            <a:avLst>
              <a:gd name="adj" fmla="val 16667"/>
            </a:avLst>
          </a:prstGeom>
          <a:solidFill>
            <a:srgbClr val="0084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 name="Google Shape;350;p106"/>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pic>
        <p:nvPicPr>
          <p:cNvPr id="351" name="Google Shape;351;p106" descr="A blue and black logo&#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352" name="Google Shape;352;p106"/>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353" name="Google Shape;353;p106"/>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 name="Google Shape;354;p106"/>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pic>
        <p:nvPicPr>
          <p:cNvPr id="355" name="Google Shape;355;p10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2" y="4663225"/>
            <a:ext cx="12190407" cy="2194774"/>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9_G2 Copyright">
  <p:cSld name="9_G2 Copyright">
    <p:bg>
      <p:bgPr>
        <a:solidFill>
          <a:schemeClr val="lt1"/>
        </a:solidFill>
        <a:effectLst/>
      </p:bgPr>
    </p:bg>
    <p:spTree>
      <p:nvGrpSpPr>
        <p:cNvPr id="1" name="Shape 356"/>
        <p:cNvGrpSpPr/>
        <p:nvPr/>
      </p:nvGrpSpPr>
      <p:grpSpPr>
        <a:xfrm>
          <a:off x="0" y="0"/>
          <a:ext cx="0" cy="0"/>
          <a:chOff x="0" y="0"/>
          <a:chExt cx="0" cy="0"/>
        </a:xfrm>
      </p:grpSpPr>
      <p:pic>
        <p:nvPicPr>
          <p:cNvPr id="357" name="Google Shape;357;p107"/>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932192"/>
            <a:ext cx="12190410" cy="5925807"/>
          </a:xfrm>
          <a:prstGeom prst="rect">
            <a:avLst/>
          </a:prstGeom>
          <a:noFill/>
          <a:ln>
            <a:noFill/>
          </a:ln>
        </p:spPr>
      </p:pic>
      <p:sp>
        <p:nvSpPr>
          <p:cNvPr id="358" name="Google Shape;358;p107"/>
          <p:cNvSpPr/>
          <p:nvPr/>
        </p:nvSpPr>
        <p:spPr>
          <a:xfrm>
            <a:off x="1668545" y="2356700"/>
            <a:ext cx="1715678" cy="2648931"/>
          </a:xfrm>
          <a:prstGeom prst="ellipse">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9" name="Google Shape;359;p107"/>
          <p:cNvSpPr/>
          <p:nvPr/>
        </p:nvSpPr>
        <p:spPr>
          <a:xfrm>
            <a:off x="1310326" y="4873659"/>
            <a:ext cx="2073897" cy="679000"/>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0" name="Google Shape;360;p107"/>
          <p:cNvSpPr txBox="1"/>
          <p:nvPr/>
        </p:nvSpPr>
        <p:spPr>
          <a:xfrm>
            <a:off x="1023907" y="1792363"/>
            <a:ext cx="10141011" cy="4247317"/>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3A3838"/>
                </a:solidFill>
                <a:latin typeface="Calibri"/>
                <a:ea typeface="Calibri"/>
                <a:cs typeface="Calibri"/>
                <a:sym typeface="Calibri"/>
              </a:rPr>
              <a:t>Acknowledgment</a:t>
            </a:r>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Thank you to all the Texas educators and stakeholders who supported the review process and provided feedback. These materials are the result of the work of numerous individuals, and we are deeply grateful for their contributions.</a:t>
            </a:r>
            <a:endParaRPr sz="1800">
              <a:solidFill>
                <a:srgbClr val="3A3838"/>
              </a:solidFill>
              <a:latin typeface="Calibri"/>
              <a:ea typeface="Calibri"/>
              <a:cs typeface="Calibri"/>
              <a:sym typeface="Calibri"/>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b="1">
                <a:solidFill>
                  <a:srgbClr val="3A3838"/>
                </a:solidFill>
                <a:latin typeface="Calibri"/>
                <a:ea typeface="Calibri"/>
                <a:cs typeface="Calibri"/>
                <a:sym typeface="Calibri"/>
              </a:rPr>
              <a:t>Notice</a:t>
            </a:r>
            <a:endParaRPr sz="1800" b="1">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These learning resources have been built for Texas students, aligned to the Texas Essential Knowledge and Skills, and are made available pursuant to Chapter 31, Subchapter B-1 of the Texas Education Code.</a:t>
            </a: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If you have further questions or to report an error, please email </a:t>
            </a:r>
            <a:r>
              <a:rPr lang="en-US" sz="1800" u="sng">
                <a:solidFill>
                  <a:srgbClr val="3A3838"/>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openeducationresources@tea.texas.gov</a:t>
            </a:r>
            <a:r>
              <a:rPr lang="en-US" sz="1800">
                <a:solidFill>
                  <a:srgbClr val="3A3838"/>
                </a:solidFill>
                <a:latin typeface="Calibri"/>
                <a:ea typeface="Calibri"/>
                <a:cs typeface="Calibri"/>
                <a:sym typeface="Calibri"/>
              </a:rPr>
              <a:t>.</a:t>
            </a:r>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Copyright ©2024 Texas Education Agency. This work based on or adapted from materials contained in Great Minds' Eureka Math® K-5 PDF files. </a:t>
            </a:r>
            <a:endParaRPr/>
          </a:p>
          <a:p>
            <a:pPr marL="0" marR="0" lvl="0" indent="0" algn="l" rtl="0">
              <a:spcBef>
                <a:spcPts val="0"/>
              </a:spcBef>
              <a:spcAft>
                <a:spcPts val="0"/>
              </a:spcAft>
              <a:buNone/>
            </a:pPr>
            <a:endParaRPr sz="1800">
              <a:solidFill>
                <a:srgbClr val="3A3838"/>
              </a:solidFill>
              <a:latin typeface="Calibri"/>
              <a:ea typeface="Calibri"/>
              <a:cs typeface="Calibri"/>
              <a:sym typeface="Calibri"/>
            </a:endParaRPr>
          </a:p>
          <a:p>
            <a:pPr marL="0" marR="0" lvl="0" indent="0" algn="l" rtl="0">
              <a:spcBef>
                <a:spcPts val="0"/>
              </a:spcBef>
              <a:spcAft>
                <a:spcPts val="0"/>
              </a:spcAft>
              <a:buNone/>
            </a:pPr>
            <a:r>
              <a:rPr lang="en-US" sz="1800">
                <a:solidFill>
                  <a:srgbClr val="3A3838"/>
                </a:solidFill>
                <a:latin typeface="Calibri"/>
                <a:ea typeface="Calibri"/>
                <a:cs typeface="Calibri"/>
                <a:sym typeface="Calibri"/>
              </a:rPr>
              <a:t>These materials are made available by the Texas Education Agency under an open license. For information about the license and your rights to use the materials, visit: </a:t>
            </a:r>
            <a:r>
              <a:rPr lang="en-US" sz="1800" u="sng">
                <a:solidFill>
                  <a:srgbClr val="3A3838"/>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https://tea.texas.gov/K-5Math</a:t>
            </a:r>
            <a:r>
              <a:rPr lang="en-US" sz="1800">
                <a:solidFill>
                  <a:srgbClr val="3A3838"/>
                </a:solidFill>
                <a:latin typeface="Calibri"/>
                <a:ea typeface="Calibri"/>
                <a:cs typeface="Calibri"/>
                <a:sym typeface="Calibri"/>
              </a:rPr>
              <a:t>. </a:t>
            </a:r>
            <a:endParaRPr/>
          </a:p>
        </p:txBody>
      </p:sp>
      <p:pic>
        <p:nvPicPr>
          <p:cNvPr id="361" name="Google Shape;361;p107" descr="A blue and black logo&#10;&#10;AI-generated content may be incorrect."/>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84963" y="101527"/>
            <a:ext cx="2080268" cy="682524"/>
          </a:xfrm>
          <a:prstGeom prst="rect">
            <a:avLst/>
          </a:prstGeom>
          <a:noFill/>
          <a:ln>
            <a:noFill/>
          </a:ln>
        </p:spPr>
      </p:pic>
      <p:sp>
        <p:nvSpPr>
          <p:cNvPr id="362" name="Google Shape;362;p107"/>
          <p:cNvSpPr txBox="1"/>
          <p:nvPr/>
        </p:nvSpPr>
        <p:spPr>
          <a:xfrm>
            <a:off x="862304" y="69238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Alg I_Activity">
  <p:cSld name="Alg I_Activity">
    <p:bg>
      <p:bgPr>
        <a:solidFill>
          <a:schemeClr val="lt1"/>
        </a:solidFill>
        <a:effectLst/>
      </p:bgPr>
    </p:bg>
    <p:spTree>
      <p:nvGrpSpPr>
        <p:cNvPr id="1" name="Shape 363"/>
        <p:cNvGrpSpPr/>
        <p:nvPr/>
      </p:nvGrpSpPr>
      <p:grpSpPr>
        <a:xfrm>
          <a:off x="0" y="0"/>
          <a:ext cx="0" cy="0"/>
          <a:chOff x="0" y="0"/>
          <a:chExt cx="0" cy="0"/>
        </a:xfrm>
      </p:grpSpPr>
      <p:pic>
        <p:nvPicPr>
          <p:cNvPr id="364" name="Google Shape;364;p10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0"/>
          </a:xfrm>
          <a:prstGeom prst="rect">
            <a:avLst/>
          </a:prstGeom>
          <a:noFill/>
          <a:ln>
            <a:noFill/>
          </a:ln>
        </p:spPr>
      </p:pic>
      <p:sp>
        <p:nvSpPr>
          <p:cNvPr id="365" name="Google Shape;365;p108"/>
          <p:cNvSpPr txBox="1"/>
          <p:nvPr/>
        </p:nvSpPr>
        <p:spPr>
          <a:xfrm>
            <a:off x="3352800" y="2984501"/>
            <a:ext cx="5499100" cy="1143000"/>
          </a:xfrm>
          <a:prstGeom prst="rect">
            <a:avLst/>
          </a:prstGeom>
          <a:solidFill>
            <a:srgbClr val="0084AC"/>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endParaRPr sz="7500" b="1">
              <a:solidFill>
                <a:schemeClr val="lt1"/>
              </a:solidFill>
              <a:latin typeface="Calibri"/>
              <a:ea typeface="Calibri"/>
              <a:cs typeface="Calibri"/>
              <a:sym typeface="Calibri"/>
            </a:endParaRPr>
          </a:p>
        </p:txBody>
      </p:sp>
      <p:sp>
        <p:nvSpPr>
          <p:cNvPr id="366" name="Google Shape;366;p108"/>
          <p:cNvSpPr txBox="1"/>
          <p:nvPr/>
        </p:nvSpPr>
        <p:spPr>
          <a:xfrm>
            <a:off x="3340100" y="3136900"/>
            <a:ext cx="3302000" cy="946413"/>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7500" b="1">
                <a:solidFill>
                  <a:schemeClr val="lt1"/>
                </a:solidFill>
                <a:latin typeface="Calibri"/>
                <a:ea typeface="Calibri"/>
                <a:cs typeface="Calibri"/>
                <a:sym typeface="Calibri"/>
              </a:rPr>
              <a:t>Activity </a:t>
            </a:r>
            <a:endParaRPr sz="7500" b="1">
              <a:solidFill>
                <a:schemeClr val="lt1"/>
              </a:solidFill>
              <a:latin typeface="Calibri"/>
              <a:ea typeface="Calibri"/>
              <a:cs typeface="Calibri"/>
              <a:sym typeface="Calibri"/>
            </a:endParaRPr>
          </a:p>
        </p:txBody>
      </p:sp>
      <p:sp>
        <p:nvSpPr>
          <p:cNvPr id="367" name="Google Shape;367;p108"/>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0"/>
              <a:buFont typeface="Arial"/>
              <a:buNone/>
              <a:defRPr sz="7500" b="1"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68" name="Google Shape;368;p108"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369" name="Google Shape;369;p108"/>
          <p:cNvSpPr txBox="1">
            <a:spLocks noGrp="1"/>
          </p:cNvSpPr>
          <p:nvPr>
            <p:ph type="body" idx="2"/>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Alg I_Talk the Talk">
  <p:cSld name="Alg I_Talk the Talk">
    <p:bg>
      <p:bgPr>
        <a:solidFill>
          <a:schemeClr val="lt1"/>
        </a:solidFill>
        <a:effectLst/>
      </p:bgPr>
    </p:bg>
    <p:spTree>
      <p:nvGrpSpPr>
        <p:cNvPr id="1" name="Shape 370"/>
        <p:cNvGrpSpPr/>
        <p:nvPr/>
      </p:nvGrpSpPr>
      <p:grpSpPr>
        <a:xfrm>
          <a:off x="0" y="0"/>
          <a:ext cx="0" cy="0"/>
          <a:chOff x="0" y="0"/>
          <a:chExt cx="0" cy="0"/>
        </a:xfrm>
      </p:grpSpPr>
      <p:pic>
        <p:nvPicPr>
          <p:cNvPr id="371" name="Google Shape;371;p10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0"/>
          </a:xfrm>
          <a:prstGeom prst="rect">
            <a:avLst/>
          </a:prstGeom>
          <a:noFill/>
          <a:ln>
            <a:noFill/>
          </a:ln>
        </p:spPr>
      </p:pic>
      <p:sp>
        <p:nvSpPr>
          <p:cNvPr id="372" name="Google Shape;372;p109"/>
          <p:cNvSpPr txBox="1"/>
          <p:nvPr/>
        </p:nvSpPr>
        <p:spPr>
          <a:xfrm>
            <a:off x="3352800" y="2984501"/>
            <a:ext cx="5499100" cy="1143000"/>
          </a:xfrm>
          <a:prstGeom prst="rect">
            <a:avLst/>
          </a:prstGeom>
          <a:solidFill>
            <a:srgbClr val="0084AC"/>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Talk the Talk</a:t>
            </a:r>
            <a:endParaRPr sz="7500" b="1">
              <a:solidFill>
                <a:schemeClr val="lt1"/>
              </a:solidFill>
              <a:latin typeface="Calibri"/>
              <a:ea typeface="Calibri"/>
              <a:cs typeface="Calibri"/>
              <a:sym typeface="Calibri"/>
            </a:endParaRPr>
          </a:p>
        </p:txBody>
      </p:sp>
      <p:pic>
        <p:nvPicPr>
          <p:cNvPr id="373" name="Google Shape;373;p109"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374" name="Google Shape;374;p109"/>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Alg I_Getting Started">
  <p:cSld name="Alg I_Getting Started">
    <p:bg>
      <p:bgPr>
        <a:solidFill>
          <a:schemeClr val="lt1"/>
        </a:solidFill>
        <a:effectLst/>
      </p:bgPr>
    </p:bg>
    <p:spTree>
      <p:nvGrpSpPr>
        <p:cNvPr id="1" name="Shape 375"/>
        <p:cNvGrpSpPr/>
        <p:nvPr/>
      </p:nvGrpSpPr>
      <p:grpSpPr>
        <a:xfrm>
          <a:off x="0" y="0"/>
          <a:ext cx="0" cy="0"/>
          <a:chOff x="0" y="0"/>
          <a:chExt cx="0" cy="0"/>
        </a:xfrm>
      </p:grpSpPr>
      <p:pic>
        <p:nvPicPr>
          <p:cNvPr id="376" name="Google Shape;376;p11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0"/>
          </a:xfrm>
          <a:prstGeom prst="rect">
            <a:avLst/>
          </a:prstGeom>
          <a:noFill/>
          <a:ln>
            <a:noFill/>
          </a:ln>
        </p:spPr>
      </p:pic>
      <p:sp>
        <p:nvSpPr>
          <p:cNvPr id="377" name="Google Shape;377;p110" descr="A green and black pattern&#10;&#10;AI-generated content may be incorrect."/>
          <p:cNvSpPr txBox="1"/>
          <p:nvPr/>
        </p:nvSpPr>
        <p:spPr>
          <a:xfrm>
            <a:off x="2767915" y="2984501"/>
            <a:ext cx="6660292" cy="1143000"/>
          </a:xfrm>
          <a:prstGeom prst="rect">
            <a:avLst/>
          </a:prstGeom>
          <a:solidFill>
            <a:srgbClr val="0084AC"/>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Getting Started</a:t>
            </a:r>
            <a:endParaRPr sz="7500" b="1">
              <a:solidFill>
                <a:schemeClr val="lt1"/>
              </a:solidFill>
              <a:latin typeface="Calibri"/>
              <a:ea typeface="Calibri"/>
              <a:cs typeface="Calibri"/>
              <a:sym typeface="Calibri"/>
            </a:endParaRPr>
          </a:p>
        </p:txBody>
      </p:sp>
      <p:pic>
        <p:nvPicPr>
          <p:cNvPr id="378" name="Google Shape;378;p110"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379" name="Google Shape;379;p110"/>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1_Alg I_Getting Started">
  <p:cSld name="1_Alg I_Getting Started">
    <p:bg>
      <p:bgPr>
        <a:solidFill>
          <a:schemeClr val="lt1"/>
        </a:solidFill>
        <a:effectLst/>
      </p:bgPr>
    </p:bg>
    <p:spTree>
      <p:nvGrpSpPr>
        <p:cNvPr id="1" name="Shape 380"/>
        <p:cNvGrpSpPr/>
        <p:nvPr/>
      </p:nvGrpSpPr>
      <p:grpSpPr>
        <a:xfrm>
          <a:off x="0" y="0"/>
          <a:ext cx="0" cy="0"/>
          <a:chOff x="0" y="0"/>
          <a:chExt cx="0" cy="0"/>
        </a:xfrm>
      </p:grpSpPr>
      <p:pic>
        <p:nvPicPr>
          <p:cNvPr id="381" name="Google Shape;381;p111"/>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3" y="2316529"/>
            <a:ext cx="12190409" cy="2682140"/>
          </a:xfrm>
          <a:prstGeom prst="rect">
            <a:avLst/>
          </a:prstGeom>
          <a:noFill/>
          <a:ln>
            <a:noFill/>
          </a:ln>
        </p:spPr>
      </p:pic>
      <p:sp>
        <p:nvSpPr>
          <p:cNvPr id="382" name="Google Shape;382;p111" descr="A green and black pattern&#10;&#10;AI-generated content may be incorrect."/>
          <p:cNvSpPr txBox="1"/>
          <p:nvPr/>
        </p:nvSpPr>
        <p:spPr>
          <a:xfrm>
            <a:off x="3866323" y="2984501"/>
            <a:ext cx="4432852" cy="1143000"/>
          </a:xfrm>
          <a:prstGeom prst="rect">
            <a:avLst/>
          </a:prstGeom>
          <a:solidFill>
            <a:srgbClr val="0084AC"/>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Prepare</a:t>
            </a:r>
            <a:endParaRPr sz="7500" b="1">
              <a:solidFill>
                <a:schemeClr val="lt1"/>
              </a:solidFill>
              <a:latin typeface="Calibri"/>
              <a:ea typeface="Calibri"/>
              <a:cs typeface="Calibri"/>
              <a:sym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Alg I_Session Divider">
  <p:cSld name="Alg I_Session Divider">
    <p:bg>
      <p:bgPr>
        <a:solidFill>
          <a:schemeClr val="lt1"/>
        </a:solidFill>
        <a:effectLst/>
      </p:bgPr>
    </p:bg>
    <p:spTree>
      <p:nvGrpSpPr>
        <p:cNvPr id="1" name="Shape 383"/>
        <p:cNvGrpSpPr/>
        <p:nvPr/>
      </p:nvGrpSpPr>
      <p:grpSpPr>
        <a:xfrm>
          <a:off x="0" y="0"/>
          <a:ext cx="0" cy="0"/>
          <a:chOff x="0" y="0"/>
          <a:chExt cx="0" cy="0"/>
        </a:xfrm>
      </p:grpSpPr>
      <p:sp>
        <p:nvSpPr>
          <p:cNvPr id="384" name="Google Shape;384;p112"/>
          <p:cNvSpPr txBox="1"/>
          <p:nvPr/>
        </p:nvSpPr>
        <p:spPr>
          <a:xfrm>
            <a:off x="4918157" y="2955793"/>
            <a:ext cx="1512037" cy="94641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7500" b="1">
                <a:solidFill>
                  <a:srgbClr val="171616"/>
                </a:solidFill>
                <a:latin typeface="Calibri"/>
                <a:ea typeface="Calibri"/>
                <a:cs typeface="Calibri"/>
                <a:sym typeface="Calibri"/>
              </a:rPr>
              <a:t>Day</a:t>
            </a:r>
            <a:endParaRPr sz="7500" b="1">
              <a:solidFill>
                <a:srgbClr val="171616"/>
              </a:solidFill>
              <a:latin typeface="Calibri"/>
              <a:ea typeface="Calibri"/>
              <a:cs typeface="Calibri"/>
              <a:sym typeface="Calibri"/>
            </a:endParaRPr>
          </a:p>
        </p:txBody>
      </p:sp>
      <p:sp>
        <p:nvSpPr>
          <p:cNvPr id="385" name="Google Shape;385;p112"/>
          <p:cNvSpPr txBox="1">
            <a:spLocks noGrp="1"/>
          </p:cNvSpPr>
          <p:nvPr>
            <p:ph type="body" idx="1"/>
          </p:nvPr>
        </p:nvSpPr>
        <p:spPr>
          <a:xfrm>
            <a:off x="5578106" y="2843523"/>
            <a:ext cx="1061883" cy="107156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000000"/>
              </a:buClr>
              <a:buSzPts val="7500"/>
              <a:buFont typeface="Arial"/>
              <a:buNone/>
              <a:defRPr sz="7500" b="1" i="0" u="none" strike="noStrike" cap="none">
                <a:solidFill>
                  <a:srgbClr val="000000"/>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86" name="Google Shape;386;p11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2" y="4663225"/>
            <a:ext cx="12190407" cy="2194774"/>
          </a:xfrm>
          <a:prstGeom prst="rect">
            <a:avLst/>
          </a:prstGeom>
          <a:noFill/>
          <a:ln>
            <a:noFill/>
          </a:ln>
        </p:spPr>
      </p:pic>
      <p:pic>
        <p:nvPicPr>
          <p:cNvPr id="387" name="Google Shape;387;p11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rot="10800000">
            <a:off x="-791" y="0"/>
            <a:ext cx="12190407" cy="2194774"/>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Alg I_Cutouts Divider">
  <p:cSld name="Alg I_Cutouts Divider">
    <p:bg>
      <p:bgPr>
        <a:solidFill>
          <a:schemeClr val="lt1"/>
        </a:solidFill>
        <a:effectLst/>
      </p:bgPr>
    </p:bg>
    <p:spTree>
      <p:nvGrpSpPr>
        <p:cNvPr id="1" name="Shape 388"/>
        <p:cNvGrpSpPr/>
        <p:nvPr/>
      </p:nvGrpSpPr>
      <p:grpSpPr>
        <a:xfrm>
          <a:off x="0" y="0"/>
          <a:ext cx="0" cy="0"/>
          <a:chOff x="0" y="0"/>
          <a:chExt cx="0" cy="0"/>
        </a:xfrm>
      </p:grpSpPr>
      <p:sp>
        <p:nvSpPr>
          <p:cNvPr id="389" name="Google Shape;389;p113"/>
          <p:cNvSpPr txBox="1">
            <a:spLocks noGrp="1"/>
          </p:cNvSpPr>
          <p:nvPr>
            <p:ph type="body" idx="1"/>
          </p:nvPr>
        </p:nvSpPr>
        <p:spPr>
          <a:xfrm>
            <a:off x="5171005" y="2395538"/>
            <a:ext cx="1848402" cy="1033462"/>
          </a:xfrm>
          <a:prstGeom prst="rect">
            <a:avLst/>
          </a:prstGeom>
          <a:noFill/>
          <a:ln>
            <a:noFill/>
          </a:ln>
        </p:spPr>
        <p:txBody>
          <a:bodyPr spcFirstLastPara="1" wrap="square" lIns="91425" tIns="45700" rIns="91425" bIns="45700" anchor="t" anchorCtr="0">
            <a:noAutofit/>
          </a:bodyPr>
          <a:lstStyle>
            <a:lvl1pPr marL="457200" marR="0" lvl="0" indent="-704850" algn="l" rtl="0">
              <a:lnSpc>
                <a:spcPct val="90000"/>
              </a:lnSpc>
              <a:spcBef>
                <a:spcPts val="10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1pPr>
            <a:lvl2pPr marL="914400" marR="0" lvl="1"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2pPr>
            <a:lvl3pPr marL="1371600" marR="0" lvl="2"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3pPr>
            <a:lvl4pPr marL="1828800" marR="0" lvl="3"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4pPr>
            <a:lvl5pPr marL="2286000" marR="0" lvl="4"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90" name="Google Shape;390;p113"/>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2" y="4663225"/>
            <a:ext cx="12190407" cy="2194774"/>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Alg I_Back Cover">
  <p:cSld name="Alg I_Back Cover">
    <p:bg>
      <p:bgPr>
        <a:solidFill>
          <a:schemeClr val="lt1"/>
        </a:solidFill>
        <a:effectLst/>
      </p:bgPr>
    </p:bg>
    <p:spTree>
      <p:nvGrpSpPr>
        <p:cNvPr id="1" name="Shape 391"/>
        <p:cNvGrpSpPr/>
        <p:nvPr/>
      </p:nvGrpSpPr>
      <p:grpSpPr>
        <a:xfrm>
          <a:off x="0" y="0"/>
          <a:ext cx="0" cy="0"/>
          <a:chOff x="0" y="0"/>
          <a:chExt cx="0" cy="0"/>
        </a:xfrm>
      </p:grpSpPr>
      <p:sp>
        <p:nvSpPr>
          <p:cNvPr id="392" name="Google Shape;392;p114"/>
          <p:cNvSpPr txBox="1">
            <a:spLocks noGrp="1"/>
          </p:cNvSpPr>
          <p:nvPr>
            <p:ph type="body" idx="1"/>
          </p:nvPr>
        </p:nvSpPr>
        <p:spPr>
          <a:xfrm>
            <a:off x="8155889" y="4975063"/>
            <a:ext cx="3431356" cy="414778"/>
          </a:xfrm>
          <a:prstGeom prst="rect">
            <a:avLst/>
          </a:prstGeom>
          <a:solidFill>
            <a:srgbClr val="61449B"/>
          </a:solidFill>
          <a:ln>
            <a:noFill/>
          </a:ln>
        </p:spPr>
        <p:txBody>
          <a:bodyPr spcFirstLastPara="1" wrap="square" lIns="0" tIns="45700" rIns="0" bIns="45700" anchor="ctr" anchorCtr="0">
            <a:noAutofit/>
          </a:bodyPr>
          <a:lstStyle>
            <a:lvl1pPr marL="457200" marR="0" lvl="0" indent="-228600" algn="ctr"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393" name="Google Shape;393;p114"/>
          <p:cNvGrpSpPr/>
          <p:nvPr/>
        </p:nvGrpSpPr>
        <p:grpSpPr>
          <a:xfrm>
            <a:off x="9053008" y="227306"/>
            <a:ext cx="2910578" cy="1472169"/>
            <a:chOff x="8940726" y="132485"/>
            <a:chExt cx="2910578" cy="1472169"/>
          </a:xfrm>
        </p:grpSpPr>
        <p:pic>
          <p:nvPicPr>
            <p:cNvPr id="394" name="Google Shape;394;p114" descr="A blue and black logo&#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395" name="Google Shape;395;p114"/>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396" name="Google Shape;396;p114"/>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7" name="Google Shape;397;p114"/>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grpSp>
      <p:sp>
        <p:nvSpPr>
          <p:cNvPr id="398" name="Google Shape;398;p114"/>
          <p:cNvSpPr/>
          <p:nvPr/>
        </p:nvSpPr>
        <p:spPr>
          <a:xfrm rot="10800000" flipH="1">
            <a:off x="0" y="0"/>
            <a:ext cx="2467555" cy="954942"/>
          </a:xfrm>
          <a:prstGeom prst="round1Rect">
            <a:avLst>
              <a:gd name="adj" fmla="val 16667"/>
            </a:avLst>
          </a:prstGeom>
          <a:solidFill>
            <a:srgbClr val="0084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9" name="Google Shape;399;p114"/>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pic>
        <p:nvPicPr>
          <p:cNvPr id="400" name="Google Shape;400;p11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2" y="4663225"/>
            <a:ext cx="12190407" cy="2194774"/>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Objective">
  <p:cSld name="Objective">
    <p:spTree>
      <p:nvGrpSpPr>
        <p:cNvPr id="1" name="Shape 401"/>
        <p:cNvGrpSpPr/>
        <p:nvPr/>
      </p:nvGrpSpPr>
      <p:grpSpPr>
        <a:xfrm>
          <a:off x="0" y="0"/>
          <a:ext cx="0" cy="0"/>
          <a:chOff x="0" y="0"/>
          <a:chExt cx="0" cy="0"/>
        </a:xfrm>
      </p:grpSpPr>
      <p:sp>
        <p:nvSpPr>
          <p:cNvPr id="402" name="Google Shape;402;p115"/>
          <p:cNvSpPr/>
          <p:nvPr/>
        </p:nvSpPr>
        <p:spPr>
          <a:xfrm>
            <a:off x="-1586" y="1392600"/>
            <a:ext cx="12192000" cy="54909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3" name="Google Shape;403;p115"/>
          <p:cNvSpPr txBox="1">
            <a:spLocks noGrp="1"/>
          </p:cNvSpPr>
          <p:nvPr>
            <p:ph type="body" idx="1"/>
          </p:nvPr>
        </p:nvSpPr>
        <p:spPr>
          <a:xfrm>
            <a:off x="836614" y="2159879"/>
            <a:ext cx="10515599" cy="395641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3A3838"/>
              </a:buClr>
              <a:buSzPts val="4400"/>
              <a:buFont typeface="Arial"/>
              <a:buNone/>
              <a:defRPr sz="4400" b="0" i="0" u="none" strike="noStrike" cap="none">
                <a:solidFill>
                  <a:srgbClr val="3A3838"/>
                </a:solidFill>
                <a:latin typeface="Calibri"/>
                <a:ea typeface="Calibri"/>
                <a:cs typeface="Calibri"/>
                <a:sym typeface="Calibri"/>
              </a:defRPr>
            </a:lvl1pPr>
            <a:lvl2pPr marL="914400" marR="0" lvl="1"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2pPr>
            <a:lvl3pPr marL="1371600" marR="0" lvl="2"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3pPr>
            <a:lvl4pPr marL="1828800" marR="0" lvl="3"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4" name="Google Shape;404;p115"/>
          <p:cNvSpPr/>
          <p:nvPr/>
        </p:nvSpPr>
        <p:spPr>
          <a:xfrm>
            <a:off x="0" y="0"/>
            <a:ext cx="7575442" cy="927652"/>
          </a:xfrm>
          <a:prstGeom prst="rect">
            <a:avLst/>
          </a:prstGeom>
          <a:solidFill>
            <a:srgbClr val="0084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05" name="Google Shape;405;p115"/>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7575444" y="0"/>
            <a:ext cx="4614964" cy="931320"/>
          </a:xfrm>
          <a:prstGeom prst="rect">
            <a:avLst/>
          </a:prstGeom>
          <a:noFill/>
          <a:ln>
            <a:noFill/>
          </a:ln>
        </p:spPr>
      </p:pic>
      <p:sp>
        <p:nvSpPr>
          <p:cNvPr id="406" name="Google Shape;406;p115"/>
          <p:cNvSpPr txBox="1">
            <a:spLocks noGrp="1"/>
          </p:cNvSpPr>
          <p:nvPr>
            <p:ph type="title"/>
          </p:nvPr>
        </p:nvSpPr>
        <p:spPr>
          <a:xfrm>
            <a:off x="0" y="0"/>
            <a:ext cx="6094413" cy="926757"/>
          </a:xfrm>
          <a:prstGeom prst="rect">
            <a:avLst/>
          </a:prstGeom>
          <a:noFill/>
          <a:ln>
            <a:noFill/>
          </a:ln>
        </p:spPr>
        <p:txBody>
          <a:bodyPr spcFirstLastPara="1" wrap="square" lIns="457200" tIns="45700" rIns="91425" bIns="45700" anchor="ctr" anchorCtr="0">
            <a:noAutofit/>
          </a:bodyPr>
          <a:lstStyle>
            <a:lvl1pPr marR="0" lvl="0" algn="l" rtl="0">
              <a:lnSpc>
                <a:spcPct val="90000"/>
              </a:lnSpc>
              <a:spcBef>
                <a:spcPts val="0"/>
              </a:spcBef>
              <a:spcAft>
                <a:spcPts val="0"/>
              </a:spcAft>
              <a:buClr>
                <a:schemeClr val="lt1"/>
              </a:buClr>
              <a:buSzPts val="4000"/>
              <a:buFont typeface="Calibri"/>
              <a:buNone/>
              <a:defRPr sz="4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erminology">
  <p:cSld name="Terminology">
    <p:bg>
      <p:bgPr>
        <a:solidFill>
          <a:schemeClr val="lt1"/>
        </a:solidFill>
        <a:effectLst/>
      </p:bgPr>
    </p:bg>
    <p:spTree>
      <p:nvGrpSpPr>
        <p:cNvPr id="1" name="Shape 407"/>
        <p:cNvGrpSpPr/>
        <p:nvPr/>
      </p:nvGrpSpPr>
      <p:grpSpPr>
        <a:xfrm>
          <a:off x="0" y="0"/>
          <a:ext cx="0" cy="0"/>
          <a:chOff x="0" y="0"/>
          <a:chExt cx="0" cy="0"/>
        </a:xfrm>
      </p:grpSpPr>
      <p:sp>
        <p:nvSpPr>
          <p:cNvPr id="408" name="Google Shape;408;p116"/>
          <p:cNvSpPr txBox="1">
            <a:spLocks noGrp="1"/>
          </p:cNvSpPr>
          <p:nvPr>
            <p:ph type="body" idx="1"/>
          </p:nvPr>
        </p:nvSpPr>
        <p:spPr>
          <a:xfrm>
            <a:off x="852488" y="1652588"/>
            <a:ext cx="10515600" cy="11697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9" name="Google Shape;409;p116"/>
          <p:cNvSpPr>
            <a:spLocks noGrp="1"/>
          </p:cNvSpPr>
          <p:nvPr>
            <p:ph type="pic" idx="2"/>
          </p:nvPr>
        </p:nvSpPr>
        <p:spPr>
          <a:xfrm>
            <a:off x="3427412" y="3217943"/>
            <a:ext cx="5335588" cy="2505075"/>
          </a:xfrm>
          <a:prstGeom prst="rect">
            <a:avLst/>
          </a:prstGeom>
          <a:noFill/>
          <a:ln>
            <a:noFill/>
          </a:ln>
        </p:spPr>
      </p:sp>
      <p:sp>
        <p:nvSpPr>
          <p:cNvPr id="410" name="Google Shape;410;p11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2B8147"/>
              </a:buClr>
              <a:buSzPts val="4000"/>
              <a:buFont typeface="Calibri"/>
              <a:buNone/>
              <a:defRPr sz="4000" b="0" i="0" u="none" strike="noStrike" cap="none">
                <a:solidFill>
                  <a:srgbClr val="2B8147"/>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11" name="Google Shape;411;p11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Application Problem Text">
  <p:cSld name="Application Problem Text">
    <p:spTree>
      <p:nvGrpSpPr>
        <p:cNvPr id="1" name="Shape 412"/>
        <p:cNvGrpSpPr/>
        <p:nvPr/>
      </p:nvGrpSpPr>
      <p:grpSpPr>
        <a:xfrm>
          <a:off x="0" y="0"/>
          <a:ext cx="0" cy="0"/>
          <a:chOff x="0" y="0"/>
          <a:chExt cx="0" cy="0"/>
        </a:xfrm>
      </p:grpSpPr>
      <p:pic>
        <p:nvPicPr>
          <p:cNvPr id="413" name="Google Shape;413;p117"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414" name="Google Shape;414;p117"/>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15" name="Google Shape;415;p117"/>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16" name="Google Shape;416;p117"/>
          <p:cNvSpPr txBox="1">
            <a:spLocks noGrp="1"/>
          </p:cNvSpPr>
          <p:nvPr>
            <p:ph type="title"/>
          </p:nvPr>
        </p:nvSpPr>
        <p:spPr>
          <a:xfrm>
            <a:off x="777240" y="0"/>
            <a:ext cx="11389135" cy="1253765"/>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17" name="Google Shape;417;p11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1_RDW_Horizontal">
  <p:cSld name="1_RDW_Horizontal">
    <p:spTree>
      <p:nvGrpSpPr>
        <p:cNvPr id="1" name="Shape 418"/>
        <p:cNvGrpSpPr/>
        <p:nvPr/>
      </p:nvGrpSpPr>
      <p:grpSpPr>
        <a:xfrm>
          <a:off x="0" y="0"/>
          <a:ext cx="0" cy="0"/>
          <a:chOff x="0" y="0"/>
          <a:chExt cx="0" cy="0"/>
        </a:xfrm>
      </p:grpSpPr>
      <p:graphicFrame>
        <p:nvGraphicFramePr>
          <p:cNvPr id="419" name="Google Shape;419;p118"/>
          <p:cNvGraphicFramePr/>
          <p:nvPr/>
        </p:nvGraphicFramePr>
        <p:xfrm>
          <a:off x="775252" y="3783769"/>
          <a:ext cx="3000000" cy="3000000"/>
        </p:xfrm>
        <a:graphic>
          <a:graphicData uri="http://schemas.openxmlformats.org/drawingml/2006/table">
            <a:tbl>
              <a:tblPr>
                <a:noFill/>
                <a:tableStyleId>{F7D8C473-989F-46CF-8A33-2A7C700182BB}</a:tableStyleId>
              </a:tblPr>
              <a:tblGrid>
                <a:gridCol w="3694050">
                  <a:extLst>
                    <a:ext uri="{9D8B030D-6E8A-4147-A177-3AD203B41FA5}">
                      <a16:colId xmlns:a16="http://schemas.microsoft.com/office/drawing/2014/main" val="20000"/>
                    </a:ext>
                  </a:extLst>
                </a:gridCol>
                <a:gridCol w="3694050">
                  <a:extLst>
                    <a:ext uri="{9D8B030D-6E8A-4147-A177-3AD203B41FA5}">
                      <a16:colId xmlns:a16="http://schemas.microsoft.com/office/drawing/2014/main" val="20001"/>
                    </a:ext>
                  </a:extLst>
                </a:gridCol>
                <a:gridCol w="3694050">
                  <a:extLst>
                    <a:ext uri="{9D8B030D-6E8A-4147-A177-3AD203B41FA5}">
                      <a16:colId xmlns:a16="http://schemas.microsoft.com/office/drawing/2014/main" val="20002"/>
                    </a:ext>
                  </a:extLst>
                </a:gridCol>
              </a:tblGrid>
              <a:tr h="244000">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Read</a:t>
                      </a:r>
                      <a:endParaRPr sz="1800" b="1" u="none" strike="noStrike" cap="none">
                        <a:solidFill>
                          <a:srgbClr val="3A3838"/>
                        </a:solidFill>
                      </a:endParaRPr>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Draw</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Write</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309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420" name="Google Shape;420;p118"/>
          <p:cNvSpPr txBox="1">
            <a:spLocks noGrp="1"/>
          </p:cNvSpPr>
          <p:nvPr>
            <p:ph type="body" idx="1"/>
          </p:nvPr>
        </p:nvSpPr>
        <p:spPr>
          <a:xfrm>
            <a:off x="765313" y="1479938"/>
            <a:ext cx="11060341" cy="20721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200"/>
              <a:buFont typeface="Arial"/>
              <a:buNone/>
              <a:defRPr sz="22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1" name="Google Shape;421;p118"/>
          <p:cNvSpPr txBox="1">
            <a:spLocks noGrp="1"/>
          </p:cNvSpPr>
          <p:nvPr>
            <p:ph type="title"/>
          </p:nvPr>
        </p:nvSpPr>
        <p:spPr>
          <a:xfrm>
            <a:off x="772211" y="0"/>
            <a:ext cx="1141820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22" name="Google Shape;422;p118"/>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Fluency w/Timer">
  <p:cSld name="Fluency w/Timer">
    <p:spTree>
      <p:nvGrpSpPr>
        <p:cNvPr id="1" name="Shape 423"/>
        <p:cNvGrpSpPr/>
        <p:nvPr/>
      </p:nvGrpSpPr>
      <p:grpSpPr>
        <a:xfrm>
          <a:off x="0" y="0"/>
          <a:ext cx="0" cy="0"/>
          <a:chOff x="0" y="0"/>
          <a:chExt cx="0" cy="0"/>
        </a:xfrm>
      </p:grpSpPr>
      <p:pic>
        <p:nvPicPr>
          <p:cNvPr id="424" name="Google Shape;424;p119"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425" name="Google Shape;425;p119"/>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6" name="Google Shape;426;p119"/>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7" name="Google Shape;427;p119"/>
          <p:cNvSpPr txBox="1">
            <a:spLocks noGrp="1"/>
          </p:cNvSpPr>
          <p:nvPr>
            <p:ph type="title"/>
          </p:nvPr>
        </p:nvSpPr>
        <p:spPr>
          <a:xfrm>
            <a:off x="777240" y="7968"/>
            <a:ext cx="11413173" cy="12694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3A3838"/>
              </a:buClr>
              <a:buSzPts val="4400"/>
              <a:buFont typeface="Calibri"/>
              <a:buNone/>
              <a:defRPr sz="4400" b="1" i="0" u="none" strike="noStrike" cap="none">
                <a:solidFill>
                  <a:srgbClr val="3A383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28" name="Google Shape;428;p11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Concept Development">
  <p:cSld name="Concept Development">
    <p:spTree>
      <p:nvGrpSpPr>
        <p:cNvPr id="1" name="Shape 429"/>
        <p:cNvGrpSpPr/>
        <p:nvPr/>
      </p:nvGrpSpPr>
      <p:grpSpPr>
        <a:xfrm>
          <a:off x="0" y="0"/>
          <a:ext cx="0" cy="0"/>
          <a:chOff x="0" y="0"/>
          <a:chExt cx="0" cy="0"/>
        </a:xfrm>
      </p:grpSpPr>
      <p:sp>
        <p:nvSpPr>
          <p:cNvPr id="430" name="Google Shape;430;p12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1" name="Google Shape;431;p120"/>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32" name="Google Shape;432;p12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Concept Development with Timer">
  <p:cSld name="Concept Development with Timer">
    <p:spTree>
      <p:nvGrpSpPr>
        <p:cNvPr id="1" name="Shape 433"/>
        <p:cNvGrpSpPr/>
        <p:nvPr/>
      </p:nvGrpSpPr>
      <p:grpSpPr>
        <a:xfrm>
          <a:off x="0" y="0"/>
          <a:ext cx="0" cy="0"/>
          <a:chOff x="0" y="0"/>
          <a:chExt cx="0" cy="0"/>
        </a:xfrm>
      </p:grpSpPr>
      <p:pic>
        <p:nvPicPr>
          <p:cNvPr id="434" name="Google Shape;434;p121"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435" name="Google Shape;435;p121"/>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6" name="Google Shape;436;p121"/>
          <p:cNvSpPr txBox="1">
            <a:spLocks noGrp="1"/>
          </p:cNvSpPr>
          <p:nvPr>
            <p:ph type="body" idx="2"/>
          </p:nvPr>
        </p:nvSpPr>
        <p:spPr>
          <a:xfrm>
            <a:off x="11127570" y="6036181"/>
            <a:ext cx="654121"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7" name="Google Shape;437;p121"/>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38" name="Google Shape;438;p12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Problem Set with Text">
  <p:cSld name="Problem Set with Text">
    <p:spTree>
      <p:nvGrpSpPr>
        <p:cNvPr id="1" name="Shape 439"/>
        <p:cNvGrpSpPr/>
        <p:nvPr/>
      </p:nvGrpSpPr>
      <p:grpSpPr>
        <a:xfrm>
          <a:off x="0" y="0"/>
          <a:ext cx="0" cy="0"/>
          <a:chOff x="0" y="0"/>
          <a:chExt cx="0" cy="0"/>
        </a:xfrm>
      </p:grpSpPr>
      <p:pic>
        <p:nvPicPr>
          <p:cNvPr id="440" name="Google Shape;440;p122"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441" name="Google Shape;441;p122"/>
          <p:cNvSpPr txBox="1">
            <a:spLocks noGrp="1"/>
          </p:cNvSpPr>
          <p:nvPr>
            <p:ph type="body" idx="1"/>
          </p:nvPr>
        </p:nvSpPr>
        <p:spPr>
          <a:xfrm>
            <a:off x="11140001" y="6036181"/>
            <a:ext cx="622969"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2" name="Google Shape;442;p122"/>
          <p:cNvSpPr txBox="1">
            <a:spLocks noGrp="1"/>
          </p:cNvSpPr>
          <p:nvPr>
            <p:ph type="title"/>
          </p:nvPr>
        </p:nvSpPr>
        <p:spPr>
          <a:xfrm>
            <a:off x="777240" y="1"/>
            <a:ext cx="11407898"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43" name="Google Shape;443;p122"/>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444" name="Google Shape;444;p12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Student Debrief">
  <p:cSld name="Student Debrief">
    <p:spTree>
      <p:nvGrpSpPr>
        <p:cNvPr id="1" name="Shape 445"/>
        <p:cNvGrpSpPr/>
        <p:nvPr/>
      </p:nvGrpSpPr>
      <p:grpSpPr>
        <a:xfrm>
          <a:off x="0" y="0"/>
          <a:ext cx="0" cy="0"/>
          <a:chOff x="0" y="0"/>
          <a:chExt cx="0" cy="0"/>
        </a:xfrm>
      </p:grpSpPr>
      <p:pic>
        <p:nvPicPr>
          <p:cNvPr id="446" name="Google Shape;446;p123"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447" name="Google Shape;447;p123"/>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8" name="Google Shape;448;p123"/>
          <p:cNvSpPr txBox="1">
            <a:spLocks noGrp="1"/>
          </p:cNvSpPr>
          <p:nvPr>
            <p:ph type="body" idx="2"/>
          </p:nvPr>
        </p:nvSpPr>
        <p:spPr>
          <a:xfrm>
            <a:off x="11127570" y="6036181"/>
            <a:ext cx="64533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9" name="Google Shape;449;p123"/>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50" name="Google Shape;450;p12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Exit Ticket">
  <p:cSld name="Exit Ticket">
    <p:spTree>
      <p:nvGrpSpPr>
        <p:cNvPr id="1" name="Shape 451"/>
        <p:cNvGrpSpPr/>
        <p:nvPr/>
      </p:nvGrpSpPr>
      <p:grpSpPr>
        <a:xfrm>
          <a:off x="0" y="0"/>
          <a:ext cx="0" cy="0"/>
          <a:chOff x="0" y="0"/>
          <a:chExt cx="0" cy="0"/>
        </a:xfrm>
      </p:grpSpPr>
      <p:pic>
        <p:nvPicPr>
          <p:cNvPr id="452" name="Google Shape;452;p124"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453" name="Google Shape;453;p124"/>
          <p:cNvSpPr txBox="1">
            <a:spLocks noGrp="1"/>
          </p:cNvSpPr>
          <p:nvPr>
            <p:ph type="body" idx="1"/>
          </p:nvPr>
        </p:nvSpPr>
        <p:spPr>
          <a:xfrm>
            <a:off x="11127571" y="6036181"/>
            <a:ext cx="63540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4" name="Google Shape;454;p124"/>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1000"/>
              </a:spcBef>
              <a:spcAft>
                <a:spcPts val="0"/>
              </a:spcAft>
              <a:buClr>
                <a:schemeClr val="dk1"/>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5" name="Google Shape;455;p12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56" name="Google Shape;456;p12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8"/>
            <a:ext cx="322981" cy="685798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0.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1"/>
          <p:cNvSpPr txBox="1">
            <a:spLocks noGrp="1"/>
          </p:cNvSpPr>
          <p:nvPr>
            <p:ph type="title" idx="4294967295"/>
          </p:nvPr>
        </p:nvSpPr>
        <p:spPr>
          <a:xfrm>
            <a:off x="1405213" y="1609800"/>
            <a:ext cx="9376800" cy="1819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236739"/>
              </a:buClr>
              <a:buSzPts val="6000"/>
              <a:buFont typeface="Arial"/>
              <a:buNone/>
            </a:pPr>
            <a:r>
              <a:rPr lang="en-US" sz="6000" b="1" dirty="0">
                <a:solidFill>
                  <a:srgbClr val="236739"/>
                </a:solidFill>
                <a:latin typeface="Calibri"/>
                <a:ea typeface="Calibri"/>
                <a:cs typeface="Calibri"/>
                <a:sym typeface="Calibri"/>
              </a:rPr>
              <a:t>Determining Slopes of Perpendicular Lines</a:t>
            </a:r>
            <a:endParaRPr sz="6000" dirty="0"/>
          </a:p>
        </p:txBody>
      </p:sp>
      <p:sp>
        <p:nvSpPr>
          <p:cNvPr id="463" name="Google Shape;463;p1"/>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36739"/>
              </a:buClr>
              <a:buSzPts val="4400"/>
              <a:buNone/>
            </a:pPr>
            <a:r>
              <a:rPr lang="en-US"/>
              <a:t>Algebra I | Module 2 | Topic 2 | Lesson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
          <p:cNvSpPr txBox="1">
            <a:spLocks noGrp="1"/>
          </p:cNvSpPr>
          <p:nvPr>
            <p:ph type="title"/>
          </p:nvPr>
        </p:nvSpPr>
        <p:spPr>
          <a:xfrm>
            <a:off x="1587" y="13855"/>
            <a:ext cx="6094413" cy="926757"/>
          </a:xfrm>
          <a:prstGeom prst="rect">
            <a:avLst/>
          </a:prstGeom>
          <a:noFill/>
          <a:ln>
            <a:noFill/>
          </a:ln>
        </p:spPr>
        <p:txBody>
          <a:bodyPr spcFirstLastPara="1" wrap="square" lIns="457200" tIns="45700" rIns="91425" bIns="45700" anchor="ctr" anchorCtr="0">
            <a:noAutofit/>
          </a:bodyPr>
          <a:lstStyle/>
          <a:p>
            <a:pPr marL="0" lvl="0" indent="0" algn="l" rtl="0">
              <a:lnSpc>
                <a:spcPct val="90000"/>
              </a:lnSpc>
              <a:spcBef>
                <a:spcPts val="0"/>
              </a:spcBef>
              <a:spcAft>
                <a:spcPts val="0"/>
              </a:spcAft>
              <a:buClr>
                <a:schemeClr val="lt1"/>
              </a:buClr>
              <a:buSzPts val="4000"/>
              <a:buFont typeface="Calibri"/>
              <a:buNone/>
            </a:pPr>
            <a:r>
              <a:rPr lang="en-US" sz="4000"/>
              <a:t>Objectives</a:t>
            </a:r>
            <a:endParaRPr/>
          </a:p>
        </p:txBody>
      </p:sp>
      <p:sp>
        <p:nvSpPr>
          <p:cNvPr id="470" name="Google Shape;470;p2"/>
          <p:cNvSpPr txBox="1">
            <a:spLocks noGrp="1"/>
          </p:cNvSpPr>
          <p:nvPr>
            <p:ph type="body" idx="1"/>
          </p:nvPr>
        </p:nvSpPr>
        <p:spPr>
          <a:xfrm>
            <a:off x="788565" y="1797205"/>
            <a:ext cx="9882231" cy="3956418"/>
          </a:xfrm>
          <a:prstGeom prst="rect">
            <a:avLst/>
          </a:prstGeom>
          <a:noFill/>
          <a:ln>
            <a:noFill/>
          </a:ln>
        </p:spPr>
        <p:txBody>
          <a:bodyPr spcFirstLastPara="1" wrap="square" lIns="91425" tIns="45700" rIns="91425" bIns="45700" anchor="t" anchorCtr="0">
            <a:noAutofit/>
          </a:bodyPr>
          <a:lstStyle/>
          <a:p>
            <a:pPr marL="511175" lvl="0" indent="-511175" algn="l" rtl="0">
              <a:lnSpc>
                <a:spcPct val="90000"/>
              </a:lnSpc>
              <a:spcBef>
                <a:spcPts val="0"/>
              </a:spcBef>
              <a:spcAft>
                <a:spcPts val="0"/>
              </a:spcAft>
              <a:buClr>
                <a:srgbClr val="3A3838"/>
              </a:buClr>
              <a:buSzPts val="2800"/>
              <a:buFont typeface="Arial"/>
              <a:buChar char="•"/>
            </a:pPr>
            <a:r>
              <a:rPr lang="en-US" sz="2800" dirty="0">
                <a:latin typeface="Calibri" panose="020F0502020204030204" pitchFamily="34" charset="0"/>
                <a:ea typeface="Calibri" panose="020F0502020204030204" pitchFamily="34" charset="0"/>
                <a:cs typeface="Calibri" panose="020F0502020204030204" pitchFamily="34" charset="0"/>
              </a:rPr>
              <a:t>Identify and write the equations of lines perpendicular to</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given lines.</a:t>
            </a:r>
            <a:endParaRPr sz="2800" dirty="0">
              <a:latin typeface="Calibri" panose="020F0502020204030204" pitchFamily="34" charset="0"/>
              <a:ea typeface="Calibri" panose="020F0502020204030204" pitchFamily="34" charset="0"/>
              <a:cs typeface="Calibri" panose="020F0502020204030204" pitchFamily="34" charset="0"/>
            </a:endParaRPr>
          </a:p>
          <a:p>
            <a:pPr marL="511175" lvl="0" indent="-511175" algn="l" rtl="0">
              <a:lnSpc>
                <a:spcPct val="90000"/>
              </a:lnSpc>
              <a:spcBef>
                <a:spcPts val="1000"/>
              </a:spcBef>
              <a:spcAft>
                <a:spcPts val="0"/>
              </a:spcAft>
              <a:buClr>
                <a:srgbClr val="3A3838"/>
              </a:buClr>
              <a:buSzPts val="2800"/>
              <a:buFont typeface="Arial"/>
              <a:buChar char="•"/>
            </a:pPr>
            <a:r>
              <a:rPr lang="en-US" sz="2800" dirty="0">
                <a:latin typeface="Calibri" panose="020F0502020204030204" pitchFamily="34" charset="0"/>
                <a:ea typeface="Calibri" panose="020F0502020204030204" pitchFamily="34" charset="0"/>
                <a:cs typeface="Calibri" panose="020F0502020204030204" pitchFamily="34" charset="0"/>
              </a:rPr>
              <a:t>Identify and write the equations of horizontal and vertical lines.</a:t>
            </a:r>
            <a:endParaRPr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Essential Question </a:t>
            </a:r>
            <a:r>
              <a:rPr lang="en-US" sz="2000" b="1" dirty="0">
                <a:solidFill>
                  <a:schemeClr val="bg1"/>
                </a:solidFill>
              </a:rPr>
              <a:t>(1 of 2)</a:t>
            </a:r>
            <a:endParaRPr dirty="0">
              <a:solidFill>
                <a:schemeClr val="bg1"/>
              </a:solidFill>
            </a:endParaRPr>
          </a:p>
        </p:txBody>
      </p:sp>
      <p:sp>
        <p:nvSpPr>
          <p:cNvPr id="477" name="Google Shape;477;p3"/>
          <p:cNvSpPr txBox="1"/>
          <p:nvPr/>
        </p:nvSpPr>
        <p:spPr>
          <a:xfrm>
            <a:off x="777240" y="1584575"/>
            <a:ext cx="9884842" cy="435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cap="none" dirty="0">
                <a:solidFill>
                  <a:srgbClr val="000000"/>
                </a:solidFill>
                <a:latin typeface="Calibri"/>
                <a:ea typeface="Calibri"/>
                <a:cs typeface="Calibri"/>
                <a:sym typeface="Calibri"/>
              </a:rPr>
              <a:t>You have translated the graphs of linear equations to determine the slopes of parallel lines. </a:t>
            </a:r>
            <a:endParaRPr dirty="0"/>
          </a:p>
          <a:p>
            <a:pPr marL="0" marR="0" lvl="0" indent="0" algn="l" rtl="0">
              <a:spcBef>
                <a:spcPts val="24"/>
              </a:spcBef>
              <a:spcAft>
                <a:spcPts val="0"/>
              </a:spcAft>
              <a:buClr>
                <a:schemeClr val="dk1"/>
              </a:buClr>
              <a:buSzPts val="2800"/>
              <a:buFont typeface="Arial"/>
              <a:buNone/>
            </a:pPr>
            <a:endParaRPr lang="en-US" sz="2800" b="0" i="0" u="none" strike="noStrike" cap="none" dirty="0">
              <a:solidFill>
                <a:srgbClr val="000000"/>
              </a:solidFill>
              <a:latin typeface="Calibri"/>
              <a:ea typeface="Calibri"/>
              <a:cs typeface="Calibri"/>
              <a:sym typeface="Calibri"/>
            </a:endParaRPr>
          </a:p>
          <a:p>
            <a:pPr marL="0" marR="0" lvl="0" indent="0" algn="l" rtl="0">
              <a:spcBef>
                <a:spcPts val="24"/>
              </a:spcBef>
              <a:spcAft>
                <a:spcPts val="0"/>
              </a:spcAft>
              <a:buClr>
                <a:srgbClr val="000000"/>
              </a:buClr>
              <a:buSzPts val="2800"/>
              <a:buFont typeface="Arial"/>
              <a:buNone/>
            </a:pPr>
            <a:endParaRPr lang="en-US" sz="2800" dirty="0">
              <a:latin typeface="Calibri"/>
              <a:ea typeface="Calibri"/>
              <a:cs typeface="Calibri"/>
              <a:sym typeface="Calibri"/>
            </a:endParaRPr>
          </a:p>
          <a:p>
            <a:pPr marL="0" marR="0" lvl="0" indent="0" algn="l" rtl="0">
              <a:spcBef>
                <a:spcPts val="24"/>
              </a:spcBef>
              <a:spcAft>
                <a:spcPts val="0"/>
              </a:spcAft>
              <a:buClr>
                <a:srgbClr val="000000"/>
              </a:buClr>
              <a:buSzPts val="2800"/>
              <a:buFont typeface="Arial"/>
              <a:buNone/>
            </a:pPr>
            <a:endParaRPr lang="en-US" sz="2800" b="0" i="0" u="none" strike="noStrike" cap="none" dirty="0">
              <a:solidFill>
                <a:srgbClr val="000000"/>
              </a:solidFill>
              <a:latin typeface="Calibri"/>
              <a:ea typeface="Calibri"/>
              <a:cs typeface="Calibri"/>
              <a:sym typeface="Calibri"/>
            </a:endParaRPr>
          </a:p>
          <a:p>
            <a:pPr marL="0" marR="0" lvl="0" indent="0" algn="l" rtl="0">
              <a:spcBef>
                <a:spcPts val="24"/>
              </a:spcBef>
              <a:spcAft>
                <a:spcPts val="0"/>
              </a:spcAft>
              <a:buClr>
                <a:srgbClr val="000000"/>
              </a:buClr>
              <a:buSzPts val="2800"/>
              <a:buFont typeface="Arial"/>
              <a:buNone/>
            </a:pPr>
            <a:r>
              <a:rPr lang="en-US" sz="2800" b="0" i="0" u="none" strike="noStrike" cap="none" dirty="0">
                <a:solidFill>
                  <a:srgbClr val="000000"/>
                </a:solidFill>
                <a:latin typeface="Calibri"/>
                <a:ea typeface="Calibri"/>
                <a:cs typeface="Calibri"/>
                <a:sym typeface="Calibri"/>
              </a:rPr>
              <a:t>How can you rotate the graphs of linear equations to determine the slopes of perpendicular lines?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
          <p:cNvSpPr txBox="1">
            <a:spLocks noGrp="1"/>
          </p:cNvSpPr>
          <p:nvPr>
            <p:ph type="title" idx="4294967295"/>
          </p:nvPr>
        </p:nvSpPr>
        <p:spPr>
          <a:xfrm>
            <a:off x="838200" y="-310393"/>
            <a:ext cx="10514013" cy="31039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b="0" i="0" u="none" strike="noStrike" cap="none" dirty="0">
                <a:solidFill>
                  <a:schemeClr val="lt2"/>
                </a:solidFill>
                <a:latin typeface="Calibri"/>
                <a:ea typeface="Calibri"/>
                <a:cs typeface="Calibri"/>
                <a:sym typeface="Calibri"/>
              </a:rPr>
              <a:t>Day 1</a:t>
            </a:r>
            <a:endParaRPr sz="2000" dirty="0"/>
          </a:p>
        </p:txBody>
      </p:sp>
      <p:sp>
        <p:nvSpPr>
          <p:cNvPr id="484" name="Google Shape;484;p4"/>
          <p:cNvSpPr txBox="1">
            <a:spLocks noGrp="1"/>
          </p:cNvSpPr>
          <p:nvPr>
            <p:ph type="body" idx="1"/>
          </p:nvPr>
        </p:nvSpPr>
        <p:spPr>
          <a:xfrm>
            <a:off x="6451133" y="2824538"/>
            <a:ext cx="1152279" cy="10715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7500"/>
              <a:buNone/>
            </a:pPr>
            <a:r>
              <a:rPr lang="en-US" sz="7500" b="1" dirty="0">
                <a:solidFill>
                  <a:srgbClr val="000000"/>
                </a:solidFill>
                <a:latin typeface="Calibri"/>
                <a:ea typeface="Calibri"/>
                <a:cs typeface="Calibri"/>
                <a:sym typeface="Calibri"/>
              </a:rPr>
              <a:t>1</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
          <p:cNvSpPr txBox="1">
            <a:spLocks noGrp="1"/>
          </p:cNvSpPr>
          <p:nvPr>
            <p:ph type="title" idx="4294967295"/>
          </p:nvPr>
        </p:nvSpPr>
        <p:spPr>
          <a:xfrm>
            <a:off x="838200" y="-343949"/>
            <a:ext cx="10514013" cy="343949"/>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Getting Started</a:t>
            </a:r>
            <a:endParaRPr sz="2000" dirty="0"/>
          </a:p>
        </p:txBody>
      </p:sp>
      <p:sp>
        <p:nvSpPr>
          <p:cNvPr id="491" name="Google Shape;491;p5" descr="15 to 20 minutes"/>
          <p:cNvSpPr txBox="1">
            <a:spLocks noGrp="1"/>
          </p:cNvSpPr>
          <p:nvPr>
            <p:ph type="body" idx="1"/>
          </p:nvPr>
        </p:nvSpPr>
        <p:spPr>
          <a:xfrm>
            <a:off x="10614990"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Coordinate Rotation </a:t>
            </a:r>
            <a:r>
              <a:rPr lang="en-US" sz="2000" b="1" dirty="0">
                <a:solidFill>
                  <a:schemeClr val="bg1"/>
                </a:solidFill>
              </a:rPr>
              <a:t>(1 of 5)</a:t>
            </a:r>
            <a:endParaRPr dirty="0">
              <a:solidFill>
                <a:schemeClr val="bg1"/>
              </a:solidFill>
            </a:endParaRPr>
          </a:p>
        </p:txBody>
      </p:sp>
      <p:pic>
        <p:nvPicPr>
          <p:cNvPr id="499" name="Google Shape;499;p6" descr="A graph of line segment A B on the coordinate plane. Endpoint A is at (0, 0). Endpoint B is at (8, 5)."/>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777240" y="1387126"/>
            <a:ext cx="3389486" cy="3286294"/>
          </a:xfrm>
          <a:prstGeom prst="rect">
            <a:avLst/>
          </a:prstGeom>
          <a:noFill/>
          <a:ln>
            <a:noFill/>
          </a:ln>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3D84506-D588-7F0E-6C79-D9ACB718E811}"/>
                  </a:ext>
                </a:extLst>
              </p:cNvPr>
              <p:cNvSpPr txBox="1"/>
              <p:nvPr/>
            </p:nvSpPr>
            <p:spPr>
              <a:xfrm>
                <a:off x="4387442" y="1602297"/>
                <a:ext cx="7362598" cy="2401555"/>
              </a:xfrm>
              <a:prstGeom prst="rect">
                <a:avLst/>
              </a:prstGeom>
              <a:noFill/>
            </p:spPr>
            <p:txBody>
              <a:bodyPr wrap="square" rtlCol="0">
                <a:spAutoFit/>
              </a:bodyPr>
              <a:lstStyle/>
              <a:p>
                <a:pPr>
                  <a:spcAft>
                    <a:spcPts val="1200"/>
                  </a:spcAft>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Consider </a:t>
                </a:r>
                <a14:m>
                  <m:oMath xmlns:m="http://schemas.openxmlformats.org/officeDocument/2006/math">
                    <m:acc>
                      <m:accPr>
                        <m:chr m:val="̅"/>
                        <m:ctrlPr>
                          <a:rPr lang="en-US" sz="2800" i="1" smtClean="0">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𝐴𝐵</m:t>
                        </m:r>
                      </m:e>
                    </m:acc>
                  </m:oMath>
                </a14:m>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 with coordinates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(0, 0) and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(8, 5).</a:t>
                </a:r>
              </a:p>
              <a:p>
                <a:pPr marL="514350" indent="-51435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Suppose the line segment is rotated through an angle with the origin as the center of rotation. Complete the table with the coordinates of the rotated figure.</a:t>
                </a:r>
                <a:endPar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 name="TextBox 1">
                <a:extLst>
                  <a:ext uri="{FF2B5EF4-FFF2-40B4-BE49-F238E27FC236}">
                    <a16:creationId xmlns:a16="http://schemas.microsoft.com/office/drawing/2014/main" id="{13D84506-D588-7F0E-6C79-D9ACB718E811}"/>
                  </a:ext>
                </a:extLst>
              </p:cNvPr>
              <p:cNvSpPr txBox="1">
                <a:spLocks noRot="1" noChangeAspect="1" noMove="1" noResize="1" noEditPoints="1" noAdjustHandles="1" noChangeArrowheads="1" noChangeShapeType="1" noTextEdit="1"/>
              </p:cNvSpPr>
              <p:nvPr/>
            </p:nvSpPr>
            <p:spPr>
              <a:xfrm>
                <a:off x="4387442" y="1602297"/>
                <a:ext cx="7362598" cy="2401555"/>
              </a:xfrm>
              <a:prstGeom prst="rect">
                <a:avLst/>
              </a:prstGeom>
              <a:blipFill>
                <a:blip r:embed="rId4"/>
                <a:stretch>
                  <a:fillRect l="-1738" t="-2538" r="-662" b="-6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00" name="Google Shape;500;p6"/>
              <p:cNvGraphicFramePr/>
              <p:nvPr>
                <p:extLst>
                  <p:ext uri="{D42A27DB-BD31-4B8C-83A1-F6EECF244321}">
                    <p14:modId xmlns:p14="http://schemas.microsoft.com/office/powerpoint/2010/main" val="50346370"/>
                  </p:ext>
                </p:extLst>
              </p:nvPr>
            </p:nvGraphicFramePr>
            <p:xfrm>
              <a:off x="777240" y="4797354"/>
              <a:ext cx="10972800" cy="1608940"/>
            </p:xfrm>
            <a:graphic>
              <a:graphicData uri="http://schemas.openxmlformats.org/drawingml/2006/table">
                <a:tbl>
                  <a:tblPr firstRow="1" bandRow="1">
                    <a:noFill/>
                    <a:tableStyleId>{ABB7C7B1-2BA2-4552-A184-85BA7BCE1169}</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70850">
                    <a:tc>
                      <a:txBody>
                        <a:bodyPr/>
                        <a:lstStyle/>
                        <a:p>
                          <a:pPr marL="0" marR="0" lvl="0" indent="0" algn="ctr" rtl="0">
                            <a:spcBef>
                              <a:spcPts val="0"/>
                            </a:spcBef>
                            <a:spcAft>
                              <a:spcPts val="0"/>
                            </a:spcAft>
                            <a:buNone/>
                          </a:pPr>
                          <a:r>
                            <a:rPr lang="en-US" sz="2000" u="none" strike="noStrike" cap="none" dirty="0"/>
                            <a:t>Original Line Segment</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tc>
                      <a:txBody>
                        <a:bodyPr/>
                        <a:lstStyle/>
                        <a:p>
                          <a:pPr marL="0" marR="0" lvl="0" indent="0" algn="ctr" rtl="0">
                            <a:spcBef>
                              <a:spcPts val="0"/>
                            </a:spcBef>
                            <a:spcAft>
                              <a:spcPts val="0"/>
                            </a:spcAft>
                            <a:buNone/>
                          </a:pPr>
                          <a:r>
                            <a:rPr lang="en-US" sz="2000" dirty="0"/>
                            <a:t>90° Counterclockwise</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tc>
                      <a:txBody>
                        <a:bodyPr/>
                        <a:lstStyle/>
                        <a:p>
                          <a:pPr marL="0" marR="0" lvl="0" indent="0" algn="ctr" rtl="0">
                            <a:spcBef>
                              <a:spcPts val="0"/>
                            </a:spcBef>
                            <a:spcAft>
                              <a:spcPts val="0"/>
                            </a:spcAft>
                            <a:buNone/>
                          </a:pPr>
                          <a:r>
                            <a:rPr lang="en-US" sz="2000" dirty="0"/>
                            <a:t>180°</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tc>
                      <a:txBody>
                        <a:bodyPr/>
                        <a:lstStyle/>
                        <a:p>
                          <a:pPr marL="0" marR="0" lvl="0" indent="0" algn="ctr" rtl="0">
                            <a:spcBef>
                              <a:spcPts val="0"/>
                            </a:spcBef>
                            <a:spcAft>
                              <a:spcPts val="0"/>
                            </a:spcAft>
                            <a:buNone/>
                          </a:pPr>
                          <a:r>
                            <a:rPr lang="en-US" sz="2000" dirty="0"/>
                            <a:t>270° Counterclockwise</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extLst>
                      <a:ext uri="{0D108BD9-81ED-4DB2-BD59-A6C34878D82A}">
                        <a16:rowId xmlns:a16="http://schemas.microsoft.com/office/drawing/2014/main" val="10000"/>
                      </a:ext>
                    </a:extLst>
                  </a:tr>
                  <a:tr h="387150">
                    <a:tc>
                      <a:txBody>
                        <a:bodyPr/>
                        <a:lstStyle/>
                        <a:p>
                          <a:pPr marL="0" marR="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acc>
                                  <m:accPr>
                                    <m:chr m:val="̅"/>
                                    <m:ctrlPr>
                                      <a:rPr lang="ar-AE" sz="2000" i="1" smtClean="0">
                                        <a:solidFill>
                                          <a:srgbClr val="000000"/>
                                        </a:solidFill>
                                        <a:latin typeface="Cambria Math" panose="02040503050406030204" pitchFamily="18" charset="0"/>
                                      </a:rPr>
                                    </m:ctrlPr>
                                  </m:accPr>
                                  <m:e>
                                    <m:r>
                                      <a:rPr lang="ar-AE" sz="2000" b="0" i="1" smtClean="0">
                                        <a:solidFill>
                                          <a:srgbClr val="000000"/>
                                        </a:solidFill>
                                        <a:latin typeface="Cambria Math" panose="02040503050406030204" pitchFamily="18" charset="0"/>
                                      </a:rPr>
                                      <m:t>𝐴𝐵</m:t>
                                    </m:r>
                                  </m:e>
                                </m:acc>
                              </m:oMath>
                            </m:oMathPara>
                          </a14:m>
                          <a:endParaRPr lang="ar-AE"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20000"/>
                            <a:lumOff val="80000"/>
                          </a:schemeClr>
                        </a:solidFill>
                      </a:tcPr>
                    </a:tc>
                    <a:tc>
                      <a:txBody>
                        <a:bodyPr/>
                        <a:lstStyle/>
                        <a:p>
                          <a:pPr marL="0" marR="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acc>
                                  <m:accPr>
                                    <m:chr m:val="̅"/>
                                    <m:ctrlPr>
                                      <a:rPr lang="ar-AE" sz="2000" i="1" smtClean="0">
                                        <a:solidFill>
                                          <a:srgbClr val="000000"/>
                                        </a:solidFill>
                                        <a:latin typeface="Cambria Math" panose="02040503050406030204" pitchFamily="18" charset="0"/>
                                      </a:rPr>
                                    </m:ctrlPr>
                                  </m:accPr>
                                  <m:e>
                                    <m:r>
                                      <a:rPr lang="ar-AE" sz="2000" b="0" i="1" smtClean="0">
                                        <a:solidFill>
                                          <a:srgbClr val="000000"/>
                                        </a:solidFill>
                                        <a:latin typeface="Cambria Math" panose="02040503050406030204" pitchFamily="18" charset="0"/>
                                      </a:rPr>
                                      <m:t>𝐴</m:t>
                                    </m:r>
                                    <m:r>
                                      <a:rPr lang="en-US" sz="2000" b="0" i="1" smtClean="0">
                                        <a:solidFill>
                                          <a:srgbClr val="000000"/>
                                        </a:solidFill>
                                        <a:latin typeface="Cambria Math" panose="02040503050406030204" pitchFamily="18" charset="0"/>
                                      </a:rPr>
                                      <m:t>′</m:t>
                                    </m:r>
                                    <m:r>
                                      <a:rPr lang="ar-AE" sz="2000" b="0" i="1" smtClean="0">
                                        <a:solidFill>
                                          <a:srgbClr val="000000"/>
                                        </a:solidFill>
                                        <a:latin typeface="Cambria Math" panose="02040503050406030204" pitchFamily="18" charset="0"/>
                                      </a:rPr>
                                      <m:t>𝐵</m:t>
                                    </m:r>
                                    <m:r>
                                      <a:rPr lang="en-US" sz="2000" b="0" i="1" smtClean="0">
                                        <a:solidFill>
                                          <a:srgbClr val="000000"/>
                                        </a:solidFill>
                                        <a:latin typeface="Cambria Math" panose="02040503050406030204" pitchFamily="18" charset="0"/>
                                      </a:rPr>
                                      <m:t>′</m:t>
                                    </m:r>
                                  </m:e>
                                </m:acc>
                              </m:oMath>
                            </m:oMathPara>
                          </a14:m>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20000"/>
                            <a:lumOff val="80000"/>
                          </a:schemeClr>
                        </a:solidFill>
                      </a:tcPr>
                    </a:tc>
                    <a:tc>
                      <a:txBody>
                        <a:bodyPr/>
                        <a:lstStyle/>
                        <a:p>
                          <a:pPr marL="0" marR="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acc>
                                  <m:accPr>
                                    <m:chr m:val="̅"/>
                                    <m:ctrlPr>
                                      <a:rPr lang="ar-AE" sz="2000" i="1" smtClean="0">
                                        <a:solidFill>
                                          <a:srgbClr val="000000"/>
                                        </a:solidFill>
                                        <a:latin typeface="Cambria Math" panose="02040503050406030204" pitchFamily="18" charset="0"/>
                                      </a:rPr>
                                    </m:ctrlPr>
                                  </m:accPr>
                                  <m:e>
                                    <m:r>
                                      <a:rPr lang="ar-AE" sz="2000" b="0" i="1" smtClean="0">
                                        <a:solidFill>
                                          <a:srgbClr val="000000"/>
                                        </a:solidFill>
                                        <a:latin typeface="Cambria Math" panose="02040503050406030204" pitchFamily="18" charset="0"/>
                                      </a:rPr>
                                      <m:t>𝐴</m:t>
                                    </m:r>
                                    <m:r>
                                      <a:rPr lang="en-US" sz="2000" b="0" i="1" smtClean="0">
                                        <a:solidFill>
                                          <a:srgbClr val="000000"/>
                                        </a:solidFill>
                                        <a:latin typeface="Cambria Math" panose="02040503050406030204" pitchFamily="18" charset="0"/>
                                      </a:rPr>
                                      <m:t>′′</m:t>
                                    </m:r>
                                    <m:r>
                                      <a:rPr lang="ar-AE" sz="2000" b="0" i="1" smtClean="0">
                                        <a:solidFill>
                                          <a:srgbClr val="000000"/>
                                        </a:solidFill>
                                        <a:latin typeface="Cambria Math" panose="02040503050406030204" pitchFamily="18" charset="0"/>
                                      </a:rPr>
                                      <m:t>𝐵</m:t>
                                    </m:r>
                                    <m:r>
                                      <a:rPr lang="en-US" sz="2000" b="0" i="1" smtClean="0">
                                        <a:solidFill>
                                          <a:srgbClr val="000000"/>
                                        </a:solidFill>
                                        <a:latin typeface="Cambria Math" panose="02040503050406030204" pitchFamily="18" charset="0"/>
                                      </a:rPr>
                                      <m:t>′′</m:t>
                                    </m:r>
                                  </m:e>
                                </m:acc>
                              </m:oMath>
                            </m:oMathPara>
                          </a14:m>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20000"/>
                            <a:lumOff val="80000"/>
                          </a:schemeClr>
                        </a:solidFill>
                      </a:tcPr>
                    </a:tc>
                    <a:tc>
                      <a:txBody>
                        <a:bodyPr/>
                        <a:lstStyle/>
                        <a:p>
                          <a:pPr marL="0" marR="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acc>
                                  <m:accPr>
                                    <m:chr m:val="̅"/>
                                    <m:ctrlPr>
                                      <a:rPr lang="ar-AE" sz="2000" i="1" smtClean="0">
                                        <a:solidFill>
                                          <a:srgbClr val="000000"/>
                                        </a:solidFill>
                                        <a:latin typeface="Cambria Math" panose="02040503050406030204" pitchFamily="18" charset="0"/>
                                      </a:rPr>
                                    </m:ctrlPr>
                                  </m:accPr>
                                  <m:e>
                                    <m:r>
                                      <a:rPr lang="ar-AE" sz="2000" b="0" i="1" smtClean="0">
                                        <a:solidFill>
                                          <a:srgbClr val="000000"/>
                                        </a:solidFill>
                                        <a:latin typeface="Cambria Math" panose="02040503050406030204" pitchFamily="18" charset="0"/>
                                      </a:rPr>
                                      <m:t>𝐴</m:t>
                                    </m:r>
                                    <m:r>
                                      <a:rPr lang="en-US" sz="2000" b="0" i="1" smtClean="0">
                                        <a:solidFill>
                                          <a:srgbClr val="000000"/>
                                        </a:solidFill>
                                        <a:latin typeface="Cambria Math" panose="02040503050406030204" pitchFamily="18" charset="0"/>
                                      </a:rPr>
                                      <m:t>′′′</m:t>
                                    </m:r>
                                    <m:r>
                                      <a:rPr lang="ar-AE" sz="2000" b="0" i="1" smtClean="0">
                                        <a:solidFill>
                                          <a:srgbClr val="000000"/>
                                        </a:solidFill>
                                        <a:latin typeface="Cambria Math" panose="02040503050406030204" pitchFamily="18" charset="0"/>
                                      </a:rPr>
                                      <m:t>𝐵</m:t>
                                    </m:r>
                                    <m:r>
                                      <a:rPr lang="en-US" sz="2000" b="0" i="1" smtClean="0">
                                        <a:solidFill>
                                          <a:srgbClr val="000000"/>
                                        </a:solidFill>
                                        <a:latin typeface="Cambria Math" panose="02040503050406030204" pitchFamily="18" charset="0"/>
                                      </a:rPr>
                                      <m:t>′′′</m:t>
                                    </m:r>
                                  </m:e>
                                </m:acc>
                              </m:oMath>
                            </m:oMathPara>
                          </a14:m>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6F1DB"/>
                        </a:solidFill>
                      </a:tcPr>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US" sz="2000" i="1" dirty="0">
                              <a:solidFill>
                                <a:srgbClr val="000000"/>
                              </a:solidFill>
                            </a:rPr>
                            <a:t>A</a:t>
                          </a:r>
                          <a:r>
                            <a:rPr lang="en-US" sz="2000" dirty="0">
                              <a:solidFill>
                                <a:srgbClr val="000000"/>
                              </a:solidFill>
                            </a:rPr>
                            <a:t>(0, 0)</a:t>
                          </a: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US" sz="2000" i="1" dirty="0">
                              <a:solidFill>
                                <a:srgbClr val="000000"/>
                              </a:solidFill>
                            </a:rPr>
                            <a:t>B</a:t>
                          </a:r>
                          <a:r>
                            <a:rPr lang="en-US" sz="2000" dirty="0">
                              <a:solidFill>
                                <a:srgbClr val="000000"/>
                              </a:solidFill>
                            </a:rPr>
                            <a:t>(8, 5)</a:t>
                          </a: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bl>
              </a:graphicData>
            </a:graphic>
          </p:graphicFrame>
        </mc:Choice>
        <mc:Fallback xmlns="">
          <p:graphicFrame>
            <p:nvGraphicFramePr>
              <p:cNvPr id="500" name="Google Shape;500;p6"/>
              <p:cNvGraphicFramePr/>
              <p:nvPr>
                <p:extLst>
                  <p:ext uri="{D42A27DB-BD31-4B8C-83A1-F6EECF244321}">
                    <p14:modId xmlns:p14="http://schemas.microsoft.com/office/powerpoint/2010/main" val="50346370"/>
                  </p:ext>
                </p:extLst>
              </p:nvPr>
            </p:nvGraphicFramePr>
            <p:xfrm>
              <a:off x="777240" y="4797354"/>
              <a:ext cx="10972800" cy="1608940"/>
            </p:xfrm>
            <a:graphic>
              <a:graphicData uri="http://schemas.openxmlformats.org/drawingml/2006/table">
                <a:tbl>
                  <a:tblPr firstRow="1" bandRow="1">
                    <a:noFill/>
                    <a:tableStyleId>{ABB7C7B1-2BA2-4552-A184-85BA7BCE1169}</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96250">
                    <a:tc>
                      <a:txBody>
                        <a:bodyPr/>
                        <a:lstStyle/>
                        <a:p>
                          <a:pPr marL="0" marR="0" lvl="0" indent="0" algn="ctr" rtl="0">
                            <a:spcBef>
                              <a:spcPts val="0"/>
                            </a:spcBef>
                            <a:spcAft>
                              <a:spcPts val="0"/>
                            </a:spcAft>
                            <a:buNone/>
                          </a:pPr>
                          <a:r>
                            <a:rPr lang="en-US" sz="2000" u="none" strike="noStrike" cap="none" dirty="0"/>
                            <a:t>Original Line Segment</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tc>
                      <a:txBody>
                        <a:bodyPr/>
                        <a:lstStyle/>
                        <a:p>
                          <a:pPr marL="0" marR="0" lvl="0" indent="0" algn="ctr" rtl="0">
                            <a:spcBef>
                              <a:spcPts val="0"/>
                            </a:spcBef>
                            <a:spcAft>
                              <a:spcPts val="0"/>
                            </a:spcAft>
                            <a:buNone/>
                          </a:pPr>
                          <a:r>
                            <a:rPr lang="en-US" sz="2000" dirty="0"/>
                            <a:t>90° Counterclockwise</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tc>
                      <a:txBody>
                        <a:bodyPr/>
                        <a:lstStyle/>
                        <a:p>
                          <a:pPr marL="0" marR="0" lvl="0" indent="0" algn="ctr" rtl="0">
                            <a:spcBef>
                              <a:spcPts val="0"/>
                            </a:spcBef>
                            <a:spcAft>
                              <a:spcPts val="0"/>
                            </a:spcAft>
                            <a:buNone/>
                          </a:pPr>
                          <a:r>
                            <a:rPr lang="en-US" sz="2000" dirty="0"/>
                            <a:t>180°</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tc>
                      <a:txBody>
                        <a:bodyPr/>
                        <a:lstStyle/>
                        <a:p>
                          <a:pPr marL="0" marR="0" lvl="0" indent="0" algn="ctr" rtl="0">
                            <a:spcBef>
                              <a:spcPts val="0"/>
                            </a:spcBef>
                            <a:spcAft>
                              <a:spcPts val="0"/>
                            </a:spcAft>
                            <a:buNone/>
                          </a:pPr>
                          <a:r>
                            <a:rPr lang="en-US" sz="2000" dirty="0"/>
                            <a:t>270° Counterclockwise</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lumMod val="75000"/>
                          </a:schemeClr>
                        </a:solidFill>
                      </a:tcPr>
                    </a:tc>
                    <a:extLst>
                      <a:ext uri="{0D108BD9-81ED-4DB2-BD59-A6C34878D82A}">
                        <a16:rowId xmlns:a16="http://schemas.microsoft.com/office/drawing/2014/main" val="10000"/>
                      </a:ext>
                    </a:extLst>
                  </a:tr>
                  <a:tr h="420190">
                    <a:tc>
                      <a:txBody>
                        <a:bodyPr/>
                        <a:lstStyle/>
                        <a:p>
                          <a:endParaRPr lang="en-US"/>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blipFill>
                          <a:blip r:embed="rId5"/>
                          <a:stretch>
                            <a:fillRect l="-222" t="-101449" r="-300667" b="-215942"/>
                          </a:stretch>
                        </a:blipFill>
                      </a:tcPr>
                    </a:tc>
                    <a:tc>
                      <a:txBody>
                        <a:bodyPr/>
                        <a:lstStyle/>
                        <a:p>
                          <a:endParaRPr lang="en-US"/>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blipFill>
                          <a:blip r:embed="rId5"/>
                          <a:stretch>
                            <a:fillRect l="-100000" t="-101449" r="-200000" b="-215942"/>
                          </a:stretch>
                        </a:blipFill>
                      </a:tcPr>
                    </a:tc>
                    <a:tc>
                      <a:txBody>
                        <a:bodyPr/>
                        <a:lstStyle/>
                        <a:p>
                          <a:endParaRPr lang="en-US"/>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blipFill>
                          <a:blip r:embed="rId5"/>
                          <a:stretch>
                            <a:fillRect l="-200444" t="-101449" r="-100444" b="-215942"/>
                          </a:stretch>
                        </a:blipFill>
                      </a:tcPr>
                    </a:tc>
                    <a:tc>
                      <a:txBody>
                        <a:bodyPr/>
                        <a:lstStyle/>
                        <a:p>
                          <a:endParaRPr lang="en-US"/>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blipFill>
                          <a:blip r:embed="rId5"/>
                          <a:stretch>
                            <a:fillRect l="-300444" t="-101449" r="-444" b="-215942"/>
                          </a:stretch>
                        </a:blipFill>
                      </a:tcPr>
                    </a:tc>
                    <a:extLst>
                      <a:ext uri="{0D108BD9-81ED-4DB2-BD59-A6C34878D82A}">
                        <a16:rowId xmlns:a16="http://schemas.microsoft.com/office/drawing/2014/main" val="10001"/>
                      </a:ext>
                    </a:extLst>
                  </a:tr>
                  <a:tr h="396250">
                    <a:tc>
                      <a:txBody>
                        <a:bodyPr/>
                        <a:lstStyle/>
                        <a:p>
                          <a:pPr marL="0" marR="0" lvl="0" indent="0" algn="ctr" rtl="0">
                            <a:spcBef>
                              <a:spcPts val="0"/>
                            </a:spcBef>
                            <a:spcAft>
                              <a:spcPts val="0"/>
                            </a:spcAft>
                            <a:buNone/>
                          </a:pPr>
                          <a:r>
                            <a:rPr lang="en-US" sz="2000" i="1" dirty="0">
                              <a:solidFill>
                                <a:srgbClr val="000000"/>
                              </a:solidFill>
                            </a:rPr>
                            <a:t>A</a:t>
                          </a:r>
                          <a:r>
                            <a:rPr lang="en-US" sz="2000" dirty="0">
                              <a:solidFill>
                                <a:srgbClr val="000000"/>
                              </a:solidFill>
                            </a:rPr>
                            <a:t>(0, 0)</a:t>
                          </a: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96250">
                    <a:tc>
                      <a:txBody>
                        <a:bodyPr/>
                        <a:lstStyle/>
                        <a:p>
                          <a:pPr marL="0" marR="0" lvl="0" indent="0" algn="ctr" rtl="0">
                            <a:spcBef>
                              <a:spcPts val="0"/>
                            </a:spcBef>
                            <a:spcAft>
                              <a:spcPts val="0"/>
                            </a:spcAft>
                            <a:buNone/>
                          </a:pPr>
                          <a:r>
                            <a:rPr lang="en-US" sz="2000" i="1" dirty="0">
                              <a:solidFill>
                                <a:srgbClr val="000000"/>
                              </a:solidFill>
                            </a:rPr>
                            <a:t>B</a:t>
                          </a:r>
                          <a:r>
                            <a:rPr lang="en-US" sz="2000" dirty="0">
                              <a:solidFill>
                                <a:srgbClr val="000000"/>
                              </a:solidFill>
                            </a:rPr>
                            <a:t>(8, 5)</a:t>
                          </a: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bl>
              </a:graphicData>
            </a:graphic>
          </p:graphicFrame>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5">
          <a:extLst>
            <a:ext uri="{FF2B5EF4-FFF2-40B4-BE49-F238E27FC236}">
              <a16:creationId xmlns:a16="http://schemas.microsoft.com/office/drawing/2014/main" id="{D8B8BC1E-A8BD-8DC9-7647-E2ECE7AE1CEA}"/>
            </a:ext>
          </a:extLst>
        </p:cNvPr>
        <p:cNvGrpSpPr/>
        <p:nvPr/>
      </p:nvGrpSpPr>
      <p:grpSpPr>
        <a:xfrm>
          <a:off x="0" y="0"/>
          <a:ext cx="0" cy="0"/>
          <a:chOff x="0" y="0"/>
          <a:chExt cx="0" cy="0"/>
        </a:xfrm>
      </p:grpSpPr>
      <p:sp>
        <p:nvSpPr>
          <p:cNvPr id="506" name="Google Shape;506;p7">
            <a:extLst>
              <a:ext uri="{FF2B5EF4-FFF2-40B4-BE49-F238E27FC236}">
                <a16:creationId xmlns:a16="http://schemas.microsoft.com/office/drawing/2014/main" id="{45F64F3B-4787-3EA5-093C-EB787A90E22C}"/>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Coordinate Rotation </a:t>
            </a:r>
            <a:r>
              <a:rPr lang="en-US" sz="2000" b="1" dirty="0">
                <a:solidFill>
                  <a:schemeClr val="bg1"/>
                </a:solidFill>
              </a:rPr>
              <a:t>(2 of 5)</a:t>
            </a:r>
            <a:endParaRPr dirty="0">
              <a:solidFill>
                <a:schemeClr val="bg1"/>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ACA8BD3-FE42-396F-214E-7137DD6655F5}"/>
                  </a:ext>
                </a:extLst>
              </p:cNvPr>
              <p:cNvSpPr txBox="1"/>
              <p:nvPr/>
            </p:nvSpPr>
            <p:spPr>
              <a:xfrm>
                <a:off x="777240" y="1602297"/>
                <a:ext cx="10824734" cy="4468659"/>
              </a:xfrm>
              <a:prstGeom prst="rect">
                <a:avLst/>
              </a:prstGeom>
              <a:noFill/>
            </p:spPr>
            <p:txBody>
              <a:bodyPr wrap="square" rtlCol="0">
                <a:spAutoFit/>
              </a:bodyPr>
              <a:lstStyle/>
              <a:p>
                <a:pPr marL="511175" indent="-511175">
                  <a:buFont typeface="+mj-lt"/>
                  <a:buAutoNum type="arabicPeriod" startAt="2"/>
                </a:pPr>
                <a:r>
                  <a:rPr lang="en-US" sz="2800" dirty="0">
                    <a:latin typeface="Calibri" panose="020F0502020204030204" pitchFamily="34" charset="0"/>
                    <a:ea typeface="Calibri" panose="020F0502020204030204" pitchFamily="34" charset="0"/>
                    <a:cs typeface="Calibri" panose="020F0502020204030204" pitchFamily="34" charset="0"/>
                  </a:rPr>
                  <a:t>What do you notice about the coordinates of the endpoints of each rotated figure?</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511175" indent="-511175">
                  <a:buFont typeface="+mj-lt"/>
                  <a:buAutoNum type="arabicPeriod" startAt="2"/>
                </a:pPr>
                <a:r>
                  <a:rPr lang="en-US" sz="2800" dirty="0">
                    <a:latin typeface="Calibri" panose="020F0502020204030204" pitchFamily="34" charset="0"/>
                    <a:ea typeface="Calibri" panose="020F0502020204030204" pitchFamily="34" charset="0"/>
                    <a:cs typeface="Calibri" panose="020F0502020204030204" pitchFamily="34" charset="0"/>
                  </a:rPr>
                  <a:t>Determine the slope of each line segment.</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 a.  </a:t>
                </a:r>
                <a14:m>
                  <m:oMath xmlns:m="http://schemas.openxmlformats.org/officeDocument/2006/math">
                    <m:acc>
                      <m:accPr>
                        <m:chr m:val="̅"/>
                        <m:ctrlPr>
                          <a:rPr lang="en-US" sz="2800" i="1" smtClean="0">
                            <a:latin typeface="Cambria Math" panose="02040503050406030204" pitchFamily="18" charset="0"/>
                          </a:rPr>
                        </m:ctrlPr>
                      </m:accPr>
                      <m:e>
                        <m:r>
                          <a:rPr lang="en-US" sz="2800" b="0" i="1" smtClean="0">
                            <a:latin typeface="Cambria Math" panose="02040503050406030204" pitchFamily="18" charset="0"/>
                          </a:rPr>
                          <m:t>𝐴𝐵</m:t>
                        </m:r>
                      </m:e>
                    </m:acc>
                  </m:oMath>
                </a14:m>
                <a:r>
                  <a:rPr lang="en-US" sz="2800" dirty="0">
                    <a:latin typeface="Calibri" panose="020F0502020204030204" pitchFamily="34" charset="0"/>
                    <a:ea typeface="Calibri" panose="020F0502020204030204" pitchFamily="34" charset="0"/>
                    <a:cs typeface="Calibri" panose="020F0502020204030204" pitchFamily="34" charset="0"/>
                  </a:rPr>
                  <a:t>				b.  </a:t>
                </a:r>
                <a14:m>
                  <m:oMath xmlns:m="http://schemas.openxmlformats.org/officeDocument/2006/math">
                    <m:acc>
                      <m:accPr>
                        <m:chr m:val="̅"/>
                        <m:ctrlPr>
                          <a:rPr lang="en-US" sz="2800" i="1" smtClean="0">
                            <a:latin typeface="Cambria Math" panose="02040503050406030204" pitchFamily="18" charset="0"/>
                          </a:rPr>
                        </m:ctrlPr>
                      </m:accPr>
                      <m:e>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acc>
                  </m:oMath>
                </a14:m>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 c.  </a:t>
                </a:r>
                <a14:m>
                  <m:oMath xmlns:m="http://schemas.openxmlformats.org/officeDocument/2006/math">
                    <m:acc>
                      <m:accPr>
                        <m:chr m:val="̅"/>
                        <m:ctrlPr>
                          <a:rPr lang="en-US" sz="2800" i="1">
                            <a:latin typeface="Cambria Math" panose="02040503050406030204" pitchFamily="18" charset="0"/>
                          </a:rPr>
                        </m:ctrlPr>
                      </m:accPr>
                      <m:e>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i="1">
                            <a:latin typeface="Cambria Math" panose="02040503050406030204" pitchFamily="18" charset="0"/>
                          </a:rPr>
                          <m:t>𝐵</m:t>
                        </m:r>
                        <m:r>
                          <a:rPr lang="en-US" sz="2800" b="0" i="1" smtClean="0">
                            <a:latin typeface="Cambria Math" panose="02040503050406030204" pitchFamily="18" charset="0"/>
                          </a:rPr>
                          <m:t>′</m:t>
                        </m:r>
                        <m:r>
                          <a:rPr lang="en-US" sz="2800" i="1">
                            <a:latin typeface="Cambria Math" panose="02040503050406030204" pitchFamily="18" charset="0"/>
                          </a:rPr>
                          <m:t>′</m:t>
                        </m:r>
                      </m:e>
                    </m:acc>
                  </m:oMath>
                </a14:m>
                <a:r>
                  <a:rPr lang="en-US" sz="2800" dirty="0">
                    <a:latin typeface="Calibri" panose="020F0502020204030204" pitchFamily="34" charset="0"/>
                    <a:ea typeface="Calibri" panose="020F0502020204030204" pitchFamily="34" charset="0"/>
                    <a:cs typeface="Calibri" panose="020F0502020204030204" pitchFamily="34" charset="0"/>
                  </a:rPr>
                  <a:t>				d.  </a:t>
                </a:r>
                <a14:m>
                  <m:oMath xmlns:m="http://schemas.openxmlformats.org/officeDocument/2006/math">
                    <m:acc>
                      <m:accPr>
                        <m:chr m:val="̅"/>
                        <m:ctrlPr>
                          <a:rPr lang="en-US" sz="2800" i="1">
                            <a:latin typeface="Cambria Math" panose="02040503050406030204" pitchFamily="18" charset="0"/>
                          </a:rPr>
                        </m:ctrlPr>
                      </m:accPr>
                      <m:e>
                        <m:r>
                          <a:rPr lang="en-US" sz="2800" i="1">
                            <a:latin typeface="Cambria Math" panose="02040503050406030204" pitchFamily="18" charset="0"/>
                          </a:rPr>
                          <m:t>𝐴</m:t>
                        </m:r>
                        <m:r>
                          <a:rPr lang="en-US" sz="2800" i="1">
                            <a:latin typeface="Cambria Math" panose="02040503050406030204" pitchFamily="18" charset="0"/>
                          </a:rPr>
                          <m:t>′′′</m:t>
                        </m:r>
                        <m:r>
                          <a:rPr lang="en-US" sz="2800" i="1">
                            <a:latin typeface="Cambria Math" panose="02040503050406030204" pitchFamily="18" charset="0"/>
                          </a:rPr>
                          <m:t>𝐵</m:t>
                        </m:r>
                        <m:r>
                          <a:rPr lang="en-US" sz="2800" i="1">
                            <a:latin typeface="Cambria Math" panose="02040503050406030204" pitchFamily="18" charset="0"/>
                          </a:rPr>
                          <m:t>′′′</m:t>
                        </m:r>
                      </m:e>
                    </m:acc>
                  </m:oMath>
                </a14:m>
                <a:endParaRPr lang="en-US"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TextBox 2">
                <a:extLst>
                  <a:ext uri="{FF2B5EF4-FFF2-40B4-BE49-F238E27FC236}">
                    <a16:creationId xmlns:a16="http://schemas.microsoft.com/office/drawing/2014/main" id="{3ACA8BD3-FE42-396F-214E-7137DD6655F5}"/>
                  </a:ext>
                </a:extLst>
              </p:cNvPr>
              <p:cNvSpPr txBox="1">
                <a:spLocks noRot="1" noChangeAspect="1" noMove="1" noResize="1" noEditPoints="1" noAdjustHandles="1" noChangeArrowheads="1" noChangeShapeType="1" noTextEdit="1"/>
              </p:cNvSpPr>
              <p:nvPr/>
            </p:nvSpPr>
            <p:spPr>
              <a:xfrm>
                <a:off x="777240" y="1602297"/>
                <a:ext cx="10824734" cy="4468659"/>
              </a:xfrm>
              <a:prstGeom prst="rect">
                <a:avLst/>
              </a:prstGeom>
              <a:blipFill>
                <a:blip r:embed="rId3"/>
                <a:stretch>
                  <a:fillRect l="-1183" t="-1501" b="-3001"/>
                </a:stretch>
              </a:blipFill>
            </p:spPr>
            <p:txBody>
              <a:bodyPr/>
              <a:lstStyle/>
              <a:p>
                <a:r>
                  <a:rPr lang="en-US">
                    <a:noFill/>
                  </a:rPr>
                  <a:t> </a:t>
                </a:r>
              </a:p>
            </p:txBody>
          </p:sp>
        </mc:Fallback>
      </mc:AlternateContent>
    </p:spTree>
    <p:extLst>
      <p:ext uri="{BB962C8B-B14F-4D97-AF65-F5344CB8AC3E}">
        <p14:creationId xmlns:p14="http://schemas.microsoft.com/office/powerpoint/2010/main" val="2944072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Coordinate Rotation </a:t>
            </a:r>
            <a:r>
              <a:rPr lang="en-US" sz="2000" b="1" dirty="0">
                <a:solidFill>
                  <a:schemeClr val="bg1"/>
                </a:solidFill>
              </a:rPr>
              <a:t>(3 of 5)</a:t>
            </a:r>
            <a:endParaRPr dirty="0">
              <a:solidFill>
                <a:schemeClr val="bg1"/>
              </a:solidFill>
            </a:endParaRPr>
          </a:p>
        </p:txBody>
      </p:sp>
      <p:sp>
        <p:nvSpPr>
          <p:cNvPr id="507" name="Google Shape;507;p7"/>
          <p:cNvSpPr txBox="1"/>
          <p:nvPr/>
        </p:nvSpPr>
        <p:spPr>
          <a:xfrm>
            <a:off x="777240" y="1598704"/>
            <a:ext cx="2462795" cy="1015663"/>
          </a:xfrm>
          <a:prstGeom prst="rect">
            <a:avLst/>
          </a:prstGeom>
          <a:noFill/>
          <a:ln w="38100" cap="flat" cmpd="sng">
            <a:solidFill>
              <a:srgbClr val="008F4C"/>
            </a:solidFill>
            <a:prstDash val="sysDot"/>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Review the definition of </a:t>
            </a:r>
            <a:r>
              <a:rPr lang="en-US" sz="2000" b="1">
                <a:solidFill>
                  <a:srgbClr val="000000"/>
                </a:solidFill>
                <a:latin typeface="Calibri"/>
                <a:ea typeface="Calibri"/>
                <a:cs typeface="Calibri"/>
                <a:sym typeface="Calibri"/>
              </a:rPr>
              <a:t>describe</a:t>
            </a:r>
            <a:r>
              <a:rPr lang="en-US" sz="2000">
                <a:solidFill>
                  <a:srgbClr val="000000"/>
                </a:solidFill>
                <a:latin typeface="Calibri"/>
                <a:ea typeface="Calibri"/>
                <a:cs typeface="Calibri"/>
                <a:sym typeface="Calibri"/>
              </a:rPr>
              <a:t> in the Academic Glossary.</a:t>
            </a:r>
            <a:endParaRPr/>
          </a:p>
        </p:txBody>
      </p:sp>
      <p:sp>
        <p:nvSpPr>
          <p:cNvPr id="3" name="TextBox 2">
            <a:extLst>
              <a:ext uri="{FF2B5EF4-FFF2-40B4-BE49-F238E27FC236}">
                <a16:creationId xmlns:a16="http://schemas.microsoft.com/office/drawing/2014/main" id="{A1DA5E90-59FB-FF30-2BDD-07F9060D885E}"/>
              </a:ext>
            </a:extLst>
          </p:cNvPr>
          <p:cNvSpPr txBox="1"/>
          <p:nvPr/>
        </p:nvSpPr>
        <p:spPr>
          <a:xfrm>
            <a:off x="3842158" y="1602297"/>
            <a:ext cx="7743038" cy="954107"/>
          </a:xfrm>
          <a:prstGeom prst="rect">
            <a:avLst/>
          </a:prstGeom>
          <a:noFill/>
        </p:spPr>
        <p:txBody>
          <a:bodyPr wrap="square" rtlCol="0">
            <a:spAutoFit/>
          </a:bodyPr>
          <a:lstStyle/>
          <a:p>
            <a:pPr marL="461963" indent="-461963"/>
            <a:r>
              <a:rPr lang="en-US" sz="2800" dirty="0">
                <a:latin typeface="Calibri" panose="020F0502020204030204" pitchFamily="34" charset="0"/>
                <a:ea typeface="Calibri" panose="020F0502020204030204" pitchFamily="34" charset="0"/>
                <a:cs typeface="Calibri" panose="020F0502020204030204" pitchFamily="34" charset="0"/>
              </a:rPr>
              <a:t>4.  </a:t>
            </a:r>
            <a:r>
              <a:rPr lang="en-US" sz="2800" b="1" dirty="0">
                <a:latin typeface="Calibri" panose="020F0502020204030204" pitchFamily="34" charset="0"/>
                <a:ea typeface="Calibri" panose="020F0502020204030204" pitchFamily="34" charset="0"/>
                <a:cs typeface="Calibri" panose="020F0502020204030204" pitchFamily="34" charset="0"/>
              </a:rPr>
              <a:t>Describe</a:t>
            </a:r>
            <a:r>
              <a:rPr lang="en-US" sz="2800" dirty="0">
                <a:latin typeface="Calibri" panose="020F0502020204030204" pitchFamily="34" charset="0"/>
                <a:ea typeface="Calibri" panose="020F0502020204030204" pitchFamily="34" charset="0"/>
                <a:cs typeface="Calibri" panose="020F0502020204030204" pitchFamily="34" charset="0"/>
              </a:rPr>
              <a:t> any patterns you notice in the slopes of    the figures.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Coordinate Rotation </a:t>
            </a:r>
            <a:r>
              <a:rPr lang="en-US" sz="2000" b="1" dirty="0">
                <a:solidFill>
                  <a:schemeClr val="bg1"/>
                </a:solidFill>
              </a:rPr>
              <a:t>(4 of 5)</a:t>
            </a:r>
            <a:endParaRPr dirty="0">
              <a:solidFill>
                <a:schemeClr val="bg1"/>
              </a:solidFill>
            </a:endParaRPr>
          </a:p>
        </p:txBody>
      </p:sp>
      <p:sp>
        <p:nvSpPr>
          <p:cNvPr id="519" name="Google Shape;519;p8"/>
          <p:cNvSpPr txBox="1"/>
          <p:nvPr/>
        </p:nvSpPr>
        <p:spPr>
          <a:xfrm>
            <a:off x="777240" y="1616140"/>
            <a:ext cx="9902597"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a:solidFill>
                  <a:srgbClr val="000000"/>
                </a:solidFill>
                <a:latin typeface="Calibri"/>
                <a:ea typeface="Calibri"/>
                <a:cs typeface="Calibri"/>
                <a:sym typeface="Calibri"/>
              </a:rPr>
              <a:t>Let’s summarize our learning from the Getting Started!</a:t>
            </a:r>
            <a:endParaRPr/>
          </a:p>
        </p:txBody>
      </p:sp>
      <p:pic>
        <p:nvPicPr>
          <p:cNvPr id="520" name="Google Shape;520;p8">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Coordinate Rotation </a:t>
            </a:r>
            <a:r>
              <a:rPr lang="en-US" sz="2000" b="1" dirty="0">
                <a:solidFill>
                  <a:schemeClr val="bg1"/>
                </a:solidFill>
              </a:rPr>
              <a:t>(5 of 5)</a:t>
            </a:r>
            <a:endParaRPr dirty="0">
              <a:solidFill>
                <a:schemeClr val="bg1"/>
              </a:solidFill>
            </a:endParaRPr>
          </a:p>
        </p:txBody>
      </p:sp>
      <p:sp>
        <p:nvSpPr>
          <p:cNvPr id="527" name="Google Shape;527;p9">
            <a:extLst>
              <a:ext uri="{C183D7F6-B498-43B3-948B-1728B52AA6E4}">
                <adec:decorative xmlns:adec="http://schemas.microsoft.com/office/drawing/2017/decorative" val="1"/>
              </a:ext>
            </a:extLst>
          </p:cNvPr>
          <p:cNvSpPr txBox="1"/>
          <p:nvPr/>
        </p:nvSpPr>
        <p:spPr>
          <a:xfrm>
            <a:off x="777240" y="1616140"/>
            <a:ext cx="9900285"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b="0" i="0" u="none" strike="noStrike">
              <a:solidFill>
                <a:srgbClr val="3A3838"/>
              </a:solidFill>
              <a:latin typeface="Calibri"/>
              <a:ea typeface="Calibri"/>
              <a:cs typeface="Calibri"/>
              <a:sym typeface="Calibri"/>
            </a:endParaRPr>
          </a:p>
          <a:p>
            <a:pPr marL="0" marR="0" lvl="0" indent="0" algn="ctr" rtl="0">
              <a:spcBef>
                <a:spcPts val="56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10"/>
          <p:cNvSpPr txBox="1">
            <a:spLocks noGrp="1"/>
          </p:cNvSpPr>
          <p:nvPr>
            <p:ph type="title" idx="4294967295"/>
          </p:nvPr>
        </p:nvSpPr>
        <p:spPr>
          <a:xfrm>
            <a:off x="838200" y="-335560"/>
            <a:ext cx="10514013" cy="33556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tx2"/>
                </a:solidFill>
                <a:latin typeface="Calibri"/>
                <a:ea typeface="Calibri"/>
                <a:cs typeface="Calibri"/>
                <a:sym typeface="Calibri"/>
              </a:rPr>
              <a:t>Activity 3.1</a:t>
            </a:r>
            <a:endParaRPr sz="2000" dirty="0">
              <a:solidFill>
                <a:schemeClr val="tx2"/>
              </a:solidFill>
            </a:endParaRPr>
          </a:p>
        </p:txBody>
      </p:sp>
      <p:sp>
        <p:nvSpPr>
          <p:cNvPr id="534" name="Google Shape;534;p10" descr="20 to 25 minutes"/>
          <p:cNvSpPr txBox="1">
            <a:spLocks noGrp="1"/>
          </p:cNvSpPr>
          <p:nvPr>
            <p:ph type="body" idx="2"/>
          </p:nvPr>
        </p:nvSpPr>
        <p:spPr>
          <a:xfrm>
            <a:off x="10614990"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20–25</a:t>
            </a:r>
            <a:endParaRPr dirty="0"/>
          </a:p>
        </p:txBody>
      </p:sp>
      <p:sp>
        <p:nvSpPr>
          <p:cNvPr id="535" name="Google Shape;535;p10">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3.1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1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(1 of 9)</a:t>
            </a:r>
            <a:endParaRPr dirty="0">
              <a:solidFill>
                <a:schemeClr val="bg1"/>
              </a:solidFill>
            </a:endParaRPr>
          </a:p>
        </p:txBody>
      </p:sp>
      <p:sp>
        <p:nvSpPr>
          <p:cNvPr id="542" name="Google Shape;542;p11"/>
          <p:cNvSpPr txBox="1"/>
          <p:nvPr/>
        </p:nvSpPr>
        <p:spPr>
          <a:xfrm>
            <a:off x="777240" y="1602297"/>
            <a:ext cx="9893555" cy="198819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400"/>
              <a:buFont typeface="Arial"/>
              <a:buNone/>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Recall that perpendicular lines or line segments form a right angle at the point of intersection.</a:t>
            </a:r>
          </a:p>
          <a:p>
            <a:pPr marL="0" marR="0" lvl="0" indent="0" algn="l" rtl="0">
              <a:spcBef>
                <a:spcPts val="0"/>
              </a:spcBef>
              <a:spcAft>
                <a:spcPts val="0"/>
              </a:spcAft>
              <a:buClr>
                <a:srgbClr val="000000"/>
              </a:buClr>
              <a:buSzPts val="2400"/>
              <a:buFont typeface="Arial"/>
              <a:buNone/>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Consider the three graphs shown. Each shows a line and its rotation 90° about a point, which is also the point of intersection.</a:t>
            </a:r>
            <a:endParaRPr sz="28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graph of 2 lines on the coordinate plane. Line A rises from left to right through the points (0, 0) and (2, 2). Line A prime falls from left to right through the points (0, 0) and (2, negative 2). The two lines intersect at the point (0, 0).">
            <a:extLst>
              <a:ext uri="{FF2B5EF4-FFF2-40B4-BE49-F238E27FC236}">
                <a16:creationId xmlns:a16="http://schemas.microsoft.com/office/drawing/2014/main" id="{FE5CB250-2888-5214-2EB8-EFB6DCE7F00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7240" y="3765862"/>
            <a:ext cx="2728196" cy="2712955"/>
          </a:xfrm>
          <a:prstGeom prst="rect">
            <a:avLst/>
          </a:prstGeom>
        </p:spPr>
      </p:pic>
      <p:pic>
        <p:nvPicPr>
          <p:cNvPr id="5" name="Picture 4" descr="A graph of 2 lines on the coordinate plane. Line B rises from left to right through the points (0, 5) and (3, 6). Line B prime falls from left to right through the points (0, 5) and (1, 2). The two lines intersect at the point (0, 5).">
            <a:extLst>
              <a:ext uri="{FF2B5EF4-FFF2-40B4-BE49-F238E27FC236}">
                <a16:creationId xmlns:a16="http://schemas.microsoft.com/office/drawing/2014/main" id="{C0D23B6C-05C3-8472-5A7D-D77A244A458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344677" y="3765862"/>
            <a:ext cx="2758679" cy="2712955"/>
          </a:xfrm>
          <a:prstGeom prst="rect">
            <a:avLst/>
          </a:prstGeom>
        </p:spPr>
      </p:pic>
      <p:pic>
        <p:nvPicPr>
          <p:cNvPr id="7" name="Picture 6" descr="A graph of 2 lines on the coordinate plane. Line C rises from left to right through the points (0, negative 4) and (6, 5). Line C prime falls from left to right through the points (0, 9) and (6, 5). The two lines intersect at the point (6, 5).">
            <a:extLst>
              <a:ext uri="{FF2B5EF4-FFF2-40B4-BE49-F238E27FC236}">
                <a16:creationId xmlns:a16="http://schemas.microsoft.com/office/drawing/2014/main" id="{6C8268D6-971E-C481-5710-9CF55083C60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942597" y="3758241"/>
            <a:ext cx="2781541" cy="27281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1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(2 of 9)</a:t>
            </a:r>
            <a:endParaRPr dirty="0">
              <a:solidFill>
                <a:schemeClr val="bg1"/>
              </a:solidFill>
            </a:endParaRPr>
          </a:p>
        </p:txBody>
      </p:sp>
      <p:sp>
        <p:nvSpPr>
          <p:cNvPr id="2" name="Google Shape;559;p13">
            <a:extLst>
              <a:ext uri="{FF2B5EF4-FFF2-40B4-BE49-F238E27FC236}">
                <a16:creationId xmlns:a16="http://schemas.microsoft.com/office/drawing/2014/main" id="{E7579E60-15A9-40B4-3249-5ABF2A8814E8}"/>
              </a:ext>
            </a:extLst>
          </p:cNvPr>
          <p:cNvSpPr txBox="1"/>
          <p:nvPr/>
        </p:nvSpPr>
        <p:spPr>
          <a:xfrm>
            <a:off x="777241" y="1602297"/>
            <a:ext cx="7150356" cy="3808602"/>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0"/>
              </a:spcAft>
              <a:buClr>
                <a:srgbClr val="000000"/>
              </a:buClr>
              <a:buSzPts val="2800"/>
              <a:buFont typeface="Calibri"/>
              <a:buAutoNum type="arabicPeriod"/>
            </a:pPr>
            <a:r>
              <a:rPr lang="en-US" sz="2800" dirty="0">
                <a:solidFill>
                  <a:srgbClr val="000000"/>
                </a:solidFill>
                <a:latin typeface="Calibri"/>
                <a:ea typeface="Calibri"/>
                <a:cs typeface="Calibri"/>
                <a:sym typeface="Calibri"/>
              </a:rPr>
              <a:t>Are the lines in each graph perpendicular? Explain your reasoning. </a:t>
            </a: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endParaRPr sz="2800" dirty="0">
              <a:solidFill>
                <a:srgbClr val="000000"/>
              </a:solidFill>
              <a:latin typeface="Calibri"/>
              <a:ea typeface="Calibri"/>
              <a:cs typeface="Calibri"/>
              <a:sym typeface="Calibri"/>
            </a:endParaRPr>
          </a:p>
          <a:p>
            <a:pPr marL="514350" marR="0" lvl="0" indent="-514350" algn="l" rtl="0">
              <a:spcBef>
                <a:spcPts val="560"/>
              </a:spcBef>
              <a:spcAft>
                <a:spcPts val="0"/>
              </a:spcAft>
              <a:buClr>
                <a:srgbClr val="000000"/>
              </a:buClr>
              <a:buSzPts val="2800"/>
              <a:buFont typeface="Calibri"/>
              <a:buAutoNum type="arabicPeriod"/>
            </a:pPr>
            <a:r>
              <a:rPr lang="en-US" sz="2800" dirty="0">
                <a:solidFill>
                  <a:srgbClr val="000000"/>
                </a:solidFill>
                <a:latin typeface="Calibri"/>
                <a:ea typeface="Calibri"/>
                <a:cs typeface="Calibri"/>
                <a:sym typeface="Calibri"/>
              </a:rPr>
              <a:t>Write the equation for each line and its transformation. What do you notice?</a:t>
            </a:r>
            <a:endParaRPr dirty="0"/>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881EDF44-CC55-218D-5A4F-1D03649A537A}"/>
                  </a:ext>
                </a:extLst>
              </p:cNvPr>
              <p:cNvSpPr/>
              <p:nvPr/>
            </p:nvSpPr>
            <p:spPr>
              <a:xfrm>
                <a:off x="9068499" y="1719743"/>
                <a:ext cx="2344673" cy="4555222"/>
              </a:xfrm>
              <a:prstGeom prst="rect">
                <a:avLst/>
              </a:prstGeom>
              <a:noFill/>
              <a:ln w="38100">
                <a:solidFill>
                  <a:schemeClr val="accent3">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2B8147"/>
                    </a:solidFill>
                    <a:latin typeface="Calibri" panose="020F0502020204030204" pitchFamily="34" charset="0"/>
                    <a:ea typeface="Calibri" panose="020F0502020204030204" pitchFamily="34" charset="0"/>
                    <a:cs typeface="Calibri" panose="020F0502020204030204" pitchFamily="34" charset="0"/>
                  </a:rPr>
                  <a:t>Remember…</a:t>
                </a:r>
              </a:p>
              <a:p>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The reciprocal of</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 number </a:t>
                </a:r>
                <a14:m>
                  <m:oMath xmlns:m="http://schemas.openxmlformats.org/officeDocument/2006/math">
                    <m:f>
                      <m:fPr>
                        <m:ctrlPr>
                          <a:rPr lang="en-US" sz="200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a:rPr lang="en-US" sz="20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𝑎</m:t>
                        </m:r>
                      </m:num>
                      <m:den>
                        <m:r>
                          <a:rPr lang="en-US" sz="20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𝑏</m:t>
                        </m:r>
                      </m:den>
                    </m:f>
                  </m:oMath>
                </a14:m>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is the number </a:t>
                </a:r>
                <a14:m>
                  <m:oMath xmlns:m="http://schemas.openxmlformats.org/officeDocument/2006/math">
                    <m:f>
                      <m:fPr>
                        <m:ctrlPr>
                          <a:rPr lang="en-US" sz="200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a:rPr lang="en-US" sz="20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𝑏</m:t>
                        </m:r>
                      </m:num>
                      <m:den>
                        <m:r>
                          <a:rPr lang="en-US" sz="20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𝑎</m:t>
                        </m:r>
                      </m:den>
                    </m:f>
                  </m:oMath>
                </a14:m>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are nonzero numbers. Because the product of a number and its reciprocal is one, reciprocal numbers are also known as multiplicative inverses.</a:t>
                </a:r>
              </a:p>
            </p:txBody>
          </p:sp>
        </mc:Choice>
        <mc:Fallback xmlns="">
          <p:sp>
            <p:nvSpPr>
              <p:cNvPr id="3" name="Rectangle 2">
                <a:extLst>
                  <a:ext uri="{FF2B5EF4-FFF2-40B4-BE49-F238E27FC236}">
                    <a16:creationId xmlns:a16="http://schemas.microsoft.com/office/drawing/2014/main" id="{881EDF44-CC55-218D-5A4F-1D03649A537A}"/>
                  </a:ext>
                </a:extLst>
              </p:cNvPr>
              <p:cNvSpPr>
                <a:spLocks noRot="1" noChangeAspect="1" noMove="1" noResize="1" noEditPoints="1" noAdjustHandles="1" noChangeArrowheads="1" noChangeShapeType="1" noTextEdit="1"/>
              </p:cNvSpPr>
              <p:nvPr/>
            </p:nvSpPr>
            <p:spPr>
              <a:xfrm>
                <a:off x="9068499" y="1719743"/>
                <a:ext cx="2344673" cy="4555222"/>
              </a:xfrm>
              <a:prstGeom prst="rect">
                <a:avLst/>
              </a:prstGeom>
              <a:blipFill>
                <a:blip r:embed="rId3"/>
                <a:stretch>
                  <a:fillRect l="-2051"/>
                </a:stretch>
              </a:blipFill>
              <a:ln w="38100">
                <a:solidFill>
                  <a:schemeClr val="accent3">
                    <a:lumMod val="75000"/>
                  </a:schemeClr>
                </a:solidFill>
                <a:prstDash val="sysDot"/>
              </a:ln>
            </p:spPr>
            <p:txBody>
              <a:bodyPr/>
              <a:lstStyle/>
              <a:p>
                <a:r>
                  <a:rPr 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9" name="Google Shape;569;p14">
            <a:extLst>
              <a:ext uri="{C183D7F6-B498-43B3-948B-1728B52AA6E4}">
                <adec:decorative xmlns:adec="http://schemas.microsoft.com/office/drawing/2017/decorative" val="1"/>
              </a:ext>
            </a:extLst>
          </p:cNvPr>
          <p:cNvSpPr/>
          <p:nvPr/>
        </p:nvSpPr>
        <p:spPr>
          <a:xfrm>
            <a:off x="3288483" y="2233987"/>
            <a:ext cx="8707774" cy="4305300"/>
          </a:xfrm>
          <a:prstGeom prst="roundRect">
            <a:avLst>
              <a:gd name="adj" fmla="val 16667"/>
            </a:avLst>
          </a:prstGeom>
          <a:noFill/>
          <a:ln w="50800" cap="flat" cmpd="dbl">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6" name="Google Shape;566;p1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(3 of 9)</a:t>
            </a:r>
            <a:endParaRPr dirty="0">
              <a:solidFill>
                <a:schemeClr val="bg1"/>
              </a:solidFill>
            </a:endParaRPr>
          </a:p>
        </p:txBody>
      </p:sp>
      <p:sp>
        <p:nvSpPr>
          <p:cNvPr id="567" name="Google Shape;567;p14"/>
          <p:cNvSpPr txBox="1"/>
          <p:nvPr/>
        </p:nvSpPr>
        <p:spPr>
          <a:xfrm>
            <a:off x="777240" y="1352379"/>
            <a:ext cx="5749556" cy="5545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Consider the theorem.</a:t>
            </a:r>
            <a:endParaRPr sz="2800" dirty="0">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3805B3E-FF8A-AC75-CECA-8CC432671309}"/>
                  </a:ext>
                </a:extLst>
              </p:cNvPr>
              <p:cNvSpPr/>
              <p:nvPr/>
            </p:nvSpPr>
            <p:spPr>
              <a:xfrm>
                <a:off x="777240" y="2726351"/>
                <a:ext cx="2343464" cy="1541548"/>
              </a:xfrm>
              <a:prstGeom prst="rect">
                <a:avLst/>
              </a:prstGeom>
              <a:noFill/>
              <a:ln w="38100">
                <a:solidFill>
                  <a:schemeClr val="accent3">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2B8147"/>
                    </a:solidFill>
                    <a:latin typeface="Calibri" panose="020F0502020204030204" pitchFamily="34" charset="0"/>
                    <a:ea typeface="Calibri" panose="020F0502020204030204" pitchFamily="34" charset="0"/>
                    <a:cs typeface="Calibri" panose="020F0502020204030204" pitchFamily="34" charset="0"/>
                  </a:rPr>
                  <a:t>Remember…</a:t>
                </a:r>
              </a:p>
              <a:p>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The symbol </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cs typeface="Calibri" panose="020F0502020204030204" pitchFamily="34" charset="0"/>
                      </a:rPr>
                      <m:t>⊥</m:t>
                    </m:r>
                  </m:oMath>
                </a14:m>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means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is perpendicular</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to.</a:t>
                </a:r>
              </a:p>
            </p:txBody>
          </p:sp>
        </mc:Choice>
        <mc:Fallback xmlns="">
          <p:sp>
            <p:nvSpPr>
              <p:cNvPr id="2" name="Rectangle 1">
                <a:extLst>
                  <a:ext uri="{FF2B5EF4-FFF2-40B4-BE49-F238E27FC236}">
                    <a16:creationId xmlns:a16="http://schemas.microsoft.com/office/drawing/2014/main" id="{B3805B3E-FF8A-AC75-CECA-8CC432671309}"/>
                  </a:ext>
                </a:extLst>
              </p:cNvPr>
              <p:cNvSpPr>
                <a:spLocks noRot="1" noChangeAspect="1" noMove="1" noResize="1" noEditPoints="1" noAdjustHandles="1" noChangeArrowheads="1" noChangeShapeType="1" noTextEdit="1"/>
              </p:cNvSpPr>
              <p:nvPr/>
            </p:nvSpPr>
            <p:spPr>
              <a:xfrm>
                <a:off x="777240" y="2726351"/>
                <a:ext cx="2343464" cy="1541548"/>
              </a:xfrm>
              <a:prstGeom prst="rect">
                <a:avLst/>
              </a:prstGeom>
              <a:blipFill>
                <a:blip r:embed="rId3"/>
                <a:stretch>
                  <a:fillRect l="-2051" r="-3846"/>
                </a:stretch>
              </a:blipFill>
              <a:ln w="38100">
                <a:solidFill>
                  <a:schemeClr val="accent3">
                    <a:lumMod val="75000"/>
                  </a:schemeClr>
                </a:solidFill>
                <a:prstDash val="sysDot"/>
              </a:ln>
            </p:spPr>
            <p:txBody>
              <a:bodyPr/>
              <a:lstStyle/>
              <a:p>
                <a:r>
                  <a:rPr lang="en-US">
                    <a:noFill/>
                  </a:rPr>
                  <a:t> </a:t>
                </a:r>
              </a:p>
            </p:txBody>
          </p:sp>
        </mc:Fallback>
      </mc:AlternateContent>
      <p:sp>
        <p:nvSpPr>
          <p:cNvPr id="3" name="Rectangle 2">
            <a:extLst>
              <a:ext uri="{FF2B5EF4-FFF2-40B4-BE49-F238E27FC236}">
                <a16:creationId xmlns:a16="http://schemas.microsoft.com/office/drawing/2014/main" id="{B8AF56E1-86F9-1026-BA65-B1ADE08440D5}"/>
              </a:ext>
            </a:extLst>
          </p:cNvPr>
          <p:cNvSpPr/>
          <p:nvPr/>
        </p:nvSpPr>
        <p:spPr>
          <a:xfrm>
            <a:off x="730376" y="4658848"/>
            <a:ext cx="2343464" cy="1541548"/>
          </a:xfrm>
          <a:prstGeom prst="rect">
            <a:avLst/>
          </a:prstGeom>
          <a:noFill/>
          <a:ln w="38100">
            <a:solidFill>
              <a:schemeClr val="accent3">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The product of</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the slopes of perpendicular lines is −1.</a:t>
            </a:r>
          </a:p>
        </p:txBody>
      </p:sp>
      <p:pic>
        <p:nvPicPr>
          <p:cNvPr id="570" name="Google Shape;570;p14" descr="Worked Example"/>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3905281" y="2020608"/>
            <a:ext cx="2758679" cy="426757"/>
          </a:xfrm>
          <a:prstGeom prst="rect">
            <a:avLst/>
          </a:prstGeom>
          <a:noFill/>
          <a:ln>
            <a:noFill/>
          </a:ln>
        </p:spPr>
      </p:pic>
      <mc:AlternateContent xmlns:mc="http://schemas.openxmlformats.org/markup-compatibility/2006" xmlns:a14="http://schemas.microsoft.com/office/drawing/2010/main">
        <mc:Choice Requires="a14">
          <p:sp>
            <p:nvSpPr>
              <p:cNvPr id="571" name="Google Shape;571;p14"/>
              <p:cNvSpPr txBox="1"/>
              <p:nvPr/>
            </p:nvSpPr>
            <p:spPr>
              <a:xfrm>
                <a:off x="3598499" y="2507437"/>
                <a:ext cx="5159608" cy="40019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1200"/>
                  </a:spcAft>
                  <a:buNone/>
                </a:pPr>
                <a:r>
                  <a:rPr lang="en-US" sz="2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Theorem: </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If two lines are perpendicular, their slopes are negative reciprocals.</a:t>
                </a:r>
              </a:p>
              <a:p>
                <a:pPr marL="0" marR="0" lvl="0" indent="0" algn="l" rtl="0">
                  <a:spcBef>
                    <a:spcPts val="0"/>
                  </a:spcBef>
                  <a:spcAft>
                    <a:spcPts val="1200"/>
                  </a:spcAft>
                  <a:buNone/>
                </a:pPr>
                <a:r>
                  <a:rPr lang="en-US" sz="2200" dirty="0">
                    <a:latin typeface="Calibri" panose="020F0502020204030204" pitchFamily="34" charset="0"/>
                    <a:ea typeface="Calibri" panose="020F0502020204030204" pitchFamily="34" charset="0"/>
                    <a:cs typeface="Calibri" panose="020F0502020204030204" pitchFamily="34" charset="0"/>
                    <a:sym typeface="Calibri"/>
                  </a:rPr>
                  <a:t>Use the graph and the proof shown to analyze the validity of the theorem.</a:t>
                </a:r>
              </a:p>
              <a:p>
                <a:pPr marL="0" marR="0" lvl="0" indent="0" algn="l" rtl="0">
                  <a:spcBef>
                    <a:spcPts val="0"/>
                  </a:spcBef>
                  <a:spcAft>
                    <a:spcPts val="600"/>
                  </a:spcAft>
                  <a:buNone/>
                </a:pPr>
                <a:r>
                  <a:rPr lang="en-US" sz="2200" b="1" dirty="0">
                    <a:latin typeface="Calibri" panose="020F0502020204030204" pitchFamily="34" charset="0"/>
                    <a:ea typeface="Calibri" panose="020F0502020204030204" pitchFamily="34" charset="0"/>
                    <a:cs typeface="Calibri" panose="020F0502020204030204" pitchFamily="34" charset="0"/>
                    <a:sym typeface="Calibri"/>
                  </a:rPr>
                  <a:t>Given:</a:t>
                </a:r>
                <a:r>
                  <a:rPr lang="en-US" sz="2200" dirty="0">
                    <a:latin typeface="Calibri" panose="020F0502020204030204" pitchFamily="34" charset="0"/>
                    <a:ea typeface="Calibri" panose="020F0502020204030204" pitchFamily="34" charset="0"/>
                    <a:cs typeface="Calibri" panose="020F0502020204030204" pitchFamily="34" charset="0"/>
                    <a:sym typeface="Calibri"/>
                  </a:rPr>
                  <a:t> </a:t>
                </a:r>
                <a14:m>
                  <m:oMath xmlns:m="http://schemas.openxmlformats.org/officeDocument/2006/math">
                    <m:r>
                      <a:rPr lang="en-US" sz="2200" b="0" i="1" smtClean="0">
                        <a:latin typeface="Cambria Math" panose="02040503050406030204" pitchFamily="18" charset="0"/>
                        <a:ea typeface="Calibri"/>
                        <a:cs typeface="Calibri"/>
                        <a:sym typeface="Calibri"/>
                      </a:rPr>
                      <m:t>𝑝</m:t>
                    </m:r>
                    <m:r>
                      <a:rPr lang="en-US" sz="2200" b="0" i="1" smtClean="0">
                        <a:latin typeface="Cambria Math" panose="02040503050406030204" pitchFamily="18" charset="0"/>
                        <a:ea typeface="Cambria Math" panose="02040503050406030204" pitchFamily="18" charset="0"/>
                        <a:cs typeface="Calibri"/>
                        <a:sym typeface="Calibri"/>
                      </a:rPr>
                      <m:t>⊥</m:t>
                    </m:r>
                    <m:r>
                      <a:rPr lang="en-US" sz="2200" b="0" i="1" smtClean="0">
                        <a:latin typeface="Cambria Math" panose="02040503050406030204" pitchFamily="18" charset="0"/>
                        <a:ea typeface="Cambria Math" panose="02040503050406030204" pitchFamily="18" charset="0"/>
                        <a:cs typeface="Calibri"/>
                        <a:sym typeface="Calibri"/>
                      </a:rPr>
                      <m:t>𝑞</m:t>
                    </m:r>
                  </m:oMath>
                </a14:m>
                <a:endParaRPr lang="en-US" sz="2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0"/>
                  </a:spcBef>
                  <a:spcAft>
                    <a:spcPts val="1200"/>
                  </a:spcAft>
                  <a:buNone/>
                </a:pPr>
                <a:r>
                  <a:rPr lang="en-US" sz="2200" dirty="0">
                    <a:latin typeface="Calibri" panose="020F0502020204030204" pitchFamily="34" charset="0"/>
                    <a:ea typeface="Calibri" panose="020F0502020204030204" pitchFamily="34" charset="0"/>
                    <a:cs typeface="Calibri" panose="020F0502020204030204" pitchFamily="34" charset="0"/>
                  </a:rPr>
                  <a:t>Let </a:t>
                </a:r>
                <a:r>
                  <a:rPr lang="en-US" sz="2200" i="1" dirty="0">
                    <a:latin typeface="Calibri" panose="020F0502020204030204" pitchFamily="34" charset="0"/>
                    <a:ea typeface="Calibri" panose="020F0502020204030204" pitchFamily="34" charset="0"/>
                    <a:cs typeface="Calibri" panose="020F0502020204030204" pitchFamily="34" charset="0"/>
                  </a:rPr>
                  <a:t>m</a:t>
                </a:r>
                <a:r>
                  <a:rPr lang="en-US" sz="2200" baseline="-25000" dirty="0">
                    <a:latin typeface="Calibri" panose="020F0502020204030204" pitchFamily="34" charset="0"/>
                    <a:ea typeface="Calibri" panose="020F0502020204030204" pitchFamily="34" charset="0"/>
                    <a:cs typeface="Calibri" panose="020F0502020204030204" pitchFamily="34" charset="0"/>
                  </a:rPr>
                  <a:t>1</a:t>
                </a:r>
                <a:r>
                  <a:rPr lang="en-US" sz="2200" dirty="0">
                    <a:latin typeface="Calibri" panose="020F0502020204030204" pitchFamily="34" charset="0"/>
                    <a:ea typeface="Calibri" panose="020F0502020204030204" pitchFamily="34" charset="0"/>
                    <a:cs typeface="Calibri" panose="020F0502020204030204" pitchFamily="34" charset="0"/>
                  </a:rPr>
                  <a:t> = slope of line </a:t>
                </a:r>
                <a:r>
                  <a:rPr lang="en-US" sz="2200" i="1" dirty="0">
                    <a:latin typeface="Calibri" panose="020F0502020204030204" pitchFamily="34" charset="0"/>
                    <a:ea typeface="Calibri" panose="020F0502020204030204" pitchFamily="34" charset="0"/>
                    <a:cs typeface="Calibri" panose="020F0502020204030204" pitchFamily="34" charset="0"/>
                  </a:rPr>
                  <a:t>p</a:t>
                </a:r>
                <a:r>
                  <a:rPr lang="en-US" sz="2200" dirty="0">
                    <a:latin typeface="Calibri" panose="020F0502020204030204" pitchFamily="34" charset="0"/>
                    <a:ea typeface="Calibri" panose="020F0502020204030204" pitchFamily="34" charset="0"/>
                    <a:cs typeface="Calibri" panose="020F0502020204030204" pitchFamily="34" charset="0"/>
                  </a:rPr>
                  <a:t> and</a:t>
                </a:r>
                <a:br>
                  <a:rPr lang="en-US" sz="2200" dirty="0">
                    <a:latin typeface="Calibri" panose="020F0502020204030204" pitchFamily="34" charset="0"/>
                    <a:ea typeface="Calibri" panose="020F0502020204030204" pitchFamily="34" charset="0"/>
                    <a:cs typeface="Calibri" panose="020F0502020204030204" pitchFamily="34" charset="0"/>
                  </a:rPr>
                </a:br>
                <a:r>
                  <a:rPr lang="en-US" sz="2200" dirty="0">
                    <a:latin typeface="Calibri" panose="020F0502020204030204" pitchFamily="34" charset="0"/>
                    <a:ea typeface="Calibri" panose="020F0502020204030204" pitchFamily="34" charset="0"/>
                    <a:cs typeface="Calibri" panose="020F0502020204030204" pitchFamily="34" charset="0"/>
                  </a:rPr>
                  <a:t>let </a:t>
                </a:r>
                <a:r>
                  <a:rPr lang="en-US" sz="2200" i="1" dirty="0">
                    <a:latin typeface="Calibri" panose="020F0502020204030204" pitchFamily="34" charset="0"/>
                    <a:ea typeface="Calibri" panose="020F0502020204030204" pitchFamily="34" charset="0"/>
                    <a:cs typeface="Calibri" panose="020F0502020204030204" pitchFamily="34" charset="0"/>
                  </a:rPr>
                  <a:t>m</a:t>
                </a:r>
                <a:r>
                  <a:rPr lang="en-US" sz="2200" baseline="-25000" dirty="0">
                    <a:latin typeface="Calibri" panose="020F0502020204030204" pitchFamily="34" charset="0"/>
                    <a:ea typeface="Calibri" panose="020F0502020204030204" pitchFamily="34" charset="0"/>
                    <a:cs typeface="Calibri" panose="020F0502020204030204" pitchFamily="34" charset="0"/>
                  </a:rPr>
                  <a:t>2</a:t>
                </a:r>
                <a:r>
                  <a:rPr lang="en-US" sz="2200" dirty="0">
                    <a:latin typeface="Calibri" panose="020F0502020204030204" pitchFamily="34" charset="0"/>
                    <a:ea typeface="Calibri" panose="020F0502020204030204" pitchFamily="34" charset="0"/>
                    <a:cs typeface="Calibri" panose="020F0502020204030204" pitchFamily="34" charset="0"/>
                  </a:rPr>
                  <a:t> = slope of line </a:t>
                </a:r>
                <a:r>
                  <a:rPr lang="en-US" sz="2200" i="1" dirty="0">
                    <a:latin typeface="Calibri" panose="020F0502020204030204" pitchFamily="34" charset="0"/>
                    <a:ea typeface="Calibri" panose="020F0502020204030204" pitchFamily="34" charset="0"/>
                    <a:cs typeface="Calibri" panose="020F0502020204030204" pitchFamily="34" charset="0"/>
                  </a:rPr>
                  <a:t>q</a:t>
                </a:r>
                <a:r>
                  <a:rPr lang="en-US" sz="2200" dirty="0">
                    <a:latin typeface="Calibri" panose="020F0502020204030204" pitchFamily="34" charset="0"/>
                    <a:ea typeface="Calibri" panose="020F0502020204030204" pitchFamily="34" charset="0"/>
                    <a:cs typeface="Calibri" panose="020F0502020204030204" pitchFamily="34" charset="0"/>
                  </a:rPr>
                  <a:t>.</a:t>
                </a:r>
              </a:p>
              <a:p>
                <a:pPr marL="0" marR="0" lvl="0" indent="0" algn="l" rtl="0">
                  <a:spcBef>
                    <a:spcPts val="0"/>
                  </a:spcBef>
                  <a:spcAft>
                    <a:spcPts val="1200"/>
                  </a:spcAft>
                  <a:buNone/>
                </a:pPr>
                <a:r>
                  <a:rPr lang="en-US" sz="2200" dirty="0">
                    <a:latin typeface="Calibri" panose="020F0502020204030204" pitchFamily="34" charset="0"/>
                    <a:ea typeface="Calibri" panose="020F0502020204030204" pitchFamily="34" charset="0"/>
                    <a:cs typeface="Calibri" panose="020F0502020204030204" pitchFamily="34" charset="0"/>
                  </a:rPr>
                  <a:t>Point </a:t>
                </a:r>
                <a:r>
                  <a:rPr lang="en-US" sz="2200" i="1" dirty="0">
                    <a:latin typeface="Calibri" panose="020F0502020204030204" pitchFamily="34" charset="0"/>
                    <a:ea typeface="Calibri" panose="020F0502020204030204" pitchFamily="34" charset="0"/>
                    <a:cs typeface="Calibri" panose="020F0502020204030204" pitchFamily="34" charset="0"/>
                  </a:rPr>
                  <a:t>R</a:t>
                </a:r>
                <a:r>
                  <a:rPr lang="en-US" sz="2200" dirty="0">
                    <a:latin typeface="Calibri" panose="020F0502020204030204" pitchFamily="34" charset="0"/>
                    <a:ea typeface="Calibri" panose="020F0502020204030204" pitchFamily="34" charset="0"/>
                    <a:cs typeface="Calibri" panose="020F0502020204030204" pitchFamily="34" charset="0"/>
                  </a:rPr>
                  <a:t> lies on line </a:t>
                </a:r>
                <a:r>
                  <a:rPr lang="en-US" sz="2200" i="1" dirty="0">
                    <a:latin typeface="Calibri" panose="020F0502020204030204" pitchFamily="34" charset="0"/>
                    <a:ea typeface="Calibri" panose="020F0502020204030204" pitchFamily="34" charset="0"/>
                    <a:cs typeface="Calibri" panose="020F0502020204030204" pitchFamily="34" charset="0"/>
                  </a:rPr>
                  <a:t>p</a:t>
                </a:r>
                <a:r>
                  <a:rPr lang="en-US" sz="2200" dirty="0">
                    <a:latin typeface="Calibri" panose="020F0502020204030204" pitchFamily="34" charset="0"/>
                    <a:ea typeface="Calibri" panose="020F0502020204030204" pitchFamily="34" charset="0"/>
                    <a:cs typeface="Calibri" panose="020F0502020204030204" pitchFamily="34" charset="0"/>
                  </a:rPr>
                  <a:t>.</a:t>
                </a:r>
              </a:p>
              <a:p>
                <a:pPr marL="0" marR="0" lvl="0" indent="0" algn="l" rtl="0">
                  <a:spcBef>
                    <a:spcPts val="0"/>
                  </a:spcBef>
                  <a:spcAft>
                    <a:spcPts val="0"/>
                  </a:spcAft>
                  <a:buNone/>
                </a:pPr>
                <a:r>
                  <a:rPr lang="en-US" sz="2200" b="1" dirty="0">
                    <a:latin typeface="Calibri" panose="020F0502020204030204" pitchFamily="34" charset="0"/>
                    <a:ea typeface="Calibri" panose="020F0502020204030204" pitchFamily="34" charset="0"/>
                    <a:cs typeface="Calibri" panose="020F0502020204030204" pitchFamily="34" charset="0"/>
                  </a:rPr>
                  <a:t>Prove:</a:t>
                </a:r>
                <a:r>
                  <a:rPr lang="en-US" sz="22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en-US" sz="2200" i="1" smtClean="0">
                            <a:latin typeface="Cambria Math" panose="02040503050406030204" pitchFamily="18" charset="0"/>
                            <a:ea typeface="Calibri" panose="020F0502020204030204" pitchFamily="34" charset="0"/>
                            <a:cs typeface="Calibri" panose="020F0502020204030204" pitchFamily="34" charset="0"/>
                          </a:rPr>
                        </m:ctrlPr>
                      </m:sSubPr>
                      <m:e>
                        <m:r>
                          <a:rPr lang="en-US" sz="2200" b="0" i="1" smtClean="0">
                            <a:latin typeface="Cambria Math" panose="02040503050406030204" pitchFamily="18" charset="0"/>
                            <a:ea typeface="Calibri" panose="020F0502020204030204" pitchFamily="34" charset="0"/>
                            <a:cs typeface="Calibri" panose="020F0502020204030204" pitchFamily="34" charset="0"/>
                          </a:rPr>
                          <m:t>𝑚</m:t>
                        </m:r>
                      </m:e>
                      <m:sub>
                        <m:r>
                          <a:rPr lang="en-US" sz="2200" b="0" i="1" smtClean="0">
                            <a:latin typeface="Cambria Math" panose="02040503050406030204" pitchFamily="18" charset="0"/>
                            <a:ea typeface="Calibri" panose="020F0502020204030204" pitchFamily="34" charset="0"/>
                            <a:cs typeface="Calibri" panose="020F0502020204030204" pitchFamily="34" charset="0"/>
                          </a:rPr>
                          <m:t>1</m:t>
                        </m:r>
                      </m:sub>
                    </m:sSub>
                    <m:r>
                      <a:rPr lang="en-US" sz="22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1</m:t>
                        </m:r>
                      </m:num>
                      <m:den>
                        <m:sSub>
                          <m:sSub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200" b="0" i="1" smtClean="0">
                                <a:latin typeface="Cambria Math" panose="02040503050406030204" pitchFamily="18" charset="0"/>
                                <a:ea typeface="Calibri" panose="020F0502020204030204" pitchFamily="34" charset="0"/>
                                <a:cs typeface="Calibri" panose="020F0502020204030204" pitchFamily="34" charset="0"/>
                              </a:rPr>
                              <m:t>𝑚</m:t>
                            </m:r>
                          </m:e>
                          <m:sub>
                            <m:r>
                              <a:rPr lang="en-US" sz="2200" b="0" i="1" smtClean="0">
                                <a:latin typeface="Cambria Math" panose="02040503050406030204" pitchFamily="18" charset="0"/>
                                <a:ea typeface="Calibri" panose="020F0502020204030204" pitchFamily="34" charset="0"/>
                                <a:cs typeface="Calibri" panose="020F0502020204030204" pitchFamily="34" charset="0"/>
                              </a:rPr>
                              <m:t>2</m:t>
                            </m:r>
                          </m:sub>
                        </m:sSub>
                      </m:den>
                    </m:f>
                  </m:oMath>
                </a14:m>
                <a:endParaRPr lang="en-US" sz="22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71" name="Google Shape;571;p14"/>
              <p:cNvSpPr txBox="1">
                <a:spLocks noRot="1" noChangeAspect="1" noMove="1" noResize="1" noEditPoints="1" noAdjustHandles="1" noChangeArrowheads="1" noChangeShapeType="1" noTextEdit="1"/>
              </p:cNvSpPr>
              <p:nvPr/>
            </p:nvSpPr>
            <p:spPr>
              <a:xfrm>
                <a:off x="3598499" y="2507437"/>
                <a:ext cx="5159608" cy="4001953"/>
              </a:xfrm>
              <a:prstGeom prst="rect">
                <a:avLst/>
              </a:prstGeom>
              <a:blipFill>
                <a:blip r:embed="rId5"/>
                <a:stretch>
                  <a:fillRect l="-1535" t="-913"/>
                </a:stretch>
              </a:blipFill>
              <a:ln>
                <a:noFill/>
              </a:ln>
            </p:spPr>
            <p:txBody>
              <a:bodyPr/>
              <a:lstStyle/>
              <a:p>
                <a:r>
                  <a:rPr lang="en-US">
                    <a:noFill/>
                  </a:rPr>
                  <a:t> </a:t>
                </a:r>
              </a:p>
            </p:txBody>
          </p:sp>
        </mc:Fallback>
      </mc:AlternateContent>
      <p:pic>
        <p:nvPicPr>
          <p:cNvPr id="565" name="Google Shape;565;p14" descr="A graph of 2 lines on the coordinate plane. Line p rises from left to right through the origin and point R at (a, b). Line q falls from left to right through the origin and point D at (negative b, a). A right angle is marked between the 2 lines at their intersection at the origin."/>
          <p:cNvPicPr>
            <a:picLocks noChangeAspect="1"/>
          </p:cNvPicPr>
          <p:nvPr/>
        </p:nvPicPr>
        <p:blipFill rotWithShape="1">
          <a:blip r:embed="rId6" cstate="email">
            <a:alphaModFix/>
            <a:extLst>
              <a:ext uri="{28A0092B-C50C-407E-A947-70E740481C1C}">
                <a14:useLocalDpi xmlns:a14="http://schemas.microsoft.com/office/drawing/2010/main"/>
              </a:ext>
            </a:extLst>
          </a:blip>
          <a:srcRect/>
          <a:stretch/>
        </p:blipFill>
        <p:spPr>
          <a:xfrm>
            <a:off x="8404389" y="2686826"/>
            <a:ext cx="3008784" cy="316214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4">
          <a:extLst>
            <a:ext uri="{FF2B5EF4-FFF2-40B4-BE49-F238E27FC236}">
              <a16:creationId xmlns:a16="http://schemas.microsoft.com/office/drawing/2014/main" id="{20B0E827-1402-6CC3-F885-716D2670F7F6}"/>
            </a:ext>
          </a:extLst>
        </p:cNvPr>
        <p:cNvGrpSpPr/>
        <p:nvPr/>
      </p:nvGrpSpPr>
      <p:grpSpPr>
        <a:xfrm>
          <a:off x="0" y="0"/>
          <a:ext cx="0" cy="0"/>
          <a:chOff x="0" y="0"/>
          <a:chExt cx="0" cy="0"/>
        </a:xfrm>
      </p:grpSpPr>
      <p:sp>
        <p:nvSpPr>
          <p:cNvPr id="566" name="Google Shape;566;p14">
            <a:extLst>
              <a:ext uri="{FF2B5EF4-FFF2-40B4-BE49-F238E27FC236}">
                <a16:creationId xmlns:a16="http://schemas.microsoft.com/office/drawing/2014/main" id="{C8924D3C-D5A5-987A-A6DF-29534CDD733A}"/>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(4 of 9)</a:t>
            </a:r>
            <a:endParaRPr dirty="0">
              <a:solidFill>
                <a:schemeClr val="bg1"/>
              </a:solidFill>
            </a:endParaRPr>
          </a:p>
        </p:txBody>
      </p:sp>
      <p:sp>
        <p:nvSpPr>
          <p:cNvPr id="569" name="Google Shape;569;p14">
            <a:extLst>
              <a:ext uri="{FF2B5EF4-FFF2-40B4-BE49-F238E27FC236}">
                <a16:creationId xmlns:a16="http://schemas.microsoft.com/office/drawing/2014/main" id="{4E60DD7F-1345-3DBF-1C98-6BB3F5762C40}"/>
              </a:ext>
              <a:ext uri="{C183D7F6-B498-43B3-948B-1728B52AA6E4}">
                <adec:decorative xmlns:adec="http://schemas.microsoft.com/office/drawing/2017/decorative" val="1"/>
              </a:ext>
            </a:extLst>
          </p:cNvPr>
          <p:cNvSpPr/>
          <p:nvPr/>
        </p:nvSpPr>
        <p:spPr>
          <a:xfrm>
            <a:off x="3288483" y="1400961"/>
            <a:ext cx="8707774" cy="5301842"/>
          </a:xfrm>
          <a:prstGeom prst="roundRect">
            <a:avLst>
              <a:gd name="adj" fmla="val 16667"/>
            </a:avLst>
          </a:prstGeom>
          <a:noFill/>
          <a:ln w="50800" cap="flat" cmpd="dbl">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59ABC63C-24B7-02DE-8CC6-DC8E539E56CE}"/>
              </a:ext>
            </a:extLst>
          </p:cNvPr>
          <p:cNvSpPr/>
          <p:nvPr/>
        </p:nvSpPr>
        <p:spPr>
          <a:xfrm>
            <a:off x="777240" y="2382402"/>
            <a:ext cx="2343464" cy="2919440"/>
          </a:xfrm>
          <a:prstGeom prst="rect">
            <a:avLst/>
          </a:prstGeom>
          <a:noFill/>
          <a:ln w="38100">
            <a:solidFill>
              <a:schemeClr val="accent3">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The proof shown is</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 paragraph proof. You will learn different formats</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of proof as you investigate more</a:t>
            </a:r>
          </a:p>
          <a:p>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properties of lines and figures.</a:t>
            </a:r>
          </a:p>
        </p:txBody>
      </p:sp>
      <p:pic>
        <p:nvPicPr>
          <p:cNvPr id="570" name="Google Shape;570;p14" descr="Worked Example">
            <a:extLst>
              <a:ext uri="{FF2B5EF4-FFF2-40B4-BE49-F238E27FC236}">
                <a16:creationId xmlns:a16="http://schemas.microsoft.com/office/drawing/2014/main" id="{D360FA40-1F09-9B7B-A67E-A935EB4072AB}"/>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165339" y="1182662"/>
            <a:ext cx="2758679" cy="426757"/>
          </a:xfrm>
          <a:prstGeom prst="rect">
            <a:avLst/>
          </a:prstGeom>
          <a:noFill/>
          <a:ln>
            <a:noFill/>
          </a:ln>
        </p:spPr>
      </p:pic>
      <mc:AlternateContent xmlns:mc="http://schemas.openxmlformats.org/markup-compatibility/2006" xmlns:a14="http://schemas.microsoft.com/office/drawing/2010/main">
        <mc:Choice Requires="a14">
          <p:sp>
            <p:nvSpPr>
              <p:cNvPr id="571" name="Google Shape;571;p14">
                <a:extLst>
                  <a:ext uri="{FF2B5EF4-FFF2-40B4-BE49-F238E27FC236}">
                    <a16:creationId xmlns:a16="http://schemas.microsoft.com/office/drawing/2014/main" id="{CE84560F-B97D-C1EA-C4CE-F9442E61558A}"/>
                  </a:ext>
                </a:extLst>
              </p:cNvPr>
              <p:cNvSpPr txBox="1"/>
              <p:nvPr/>
            </p:nvSpPr>
            <p:spPr>
              <a:xfrm>
                <a:off x="3539775" y="1654599"/>
                <a:ext cx="5330155" cy="49879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1200"/>
                  </a:spcAft>
                  <a:buNone/>
                </a:pP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Rotate point </a:t>
                </a:r>
                <a:r>
                  <a:rPr lang="en-US" sz="22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R</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90° counterclockwise using point </a:t>
                </a:r>
                <a:r>
                  <a:rPr lang="en-US" sz="22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O</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as the center of rotation. Since </a:t>
                </a:r>
                <a:r>
                  <a:rPr lang="en-US" sz="22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p</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and </a:t>
                </a:r>
                <a:r>
                  <a:rPr lang="en-US" sz="22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are perpendicular, the image (point </a:t>
                </a:r>
                <a:r>
                  <a:rPr lang="en-US" sz="22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will lie on line </a:t>
                </a:r>
                <a:r>
                  <a:rPr lang="en-US" sz="22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under this 90° rotation.</a:t>
                </a:r>
              </a:p>
              <a:p>
                <a:pPr marL="0" marR="0" lvl="0" indent="0" algn="l" rtl="0">
                  <a:spcBef>
                    <a:spcPts val="0"/>
                  </a:spcBef>
                  <a:spcAft>
                    <a:spcPts val="600"/>
                  </a:spcAft>
                  <a:buNone/>
                </a:pPr>
                <a:r>
                  <a:rPr lang="en-US" sz="2200" dirty="0">
                    <a:latin typeface="Calibri" panose="020F0502020204030204" pitchFamily="34" charset="0"/>
                    <a:ea typeface="Calibri" panose="020F0502020204030204" pitchFamily="34" charset="0"/>
                    <a:cs typeface="Calibri" panose="020F0502020204030204" pitchFamily="34" charset="0"/>
                    <a:sym typeface="Calibri"/>
                  </a:rPr>
                  <a:t>Since this rotation maps the positive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200" dirty="0">
                    <a:latin typeface="Calibri" panose="020F0502020204030204" pitchFamily="34" charset="0"/>
                    <a:ea typeface="Calibri" panose="020F0502020204030204" pitchFamily="34" charset="0"/>
                    <a:cs typeface="Calibri" panose="020F0502020204030204" pitchFamily="34" charset="0"/>
                    <a:sym typeface="Calibri"/>
                  </a:rPr>
                  <a:t>-axis to the positive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y</a:t>
                </a:r>
                <a:r>
                  <a:rPr lang="en-US" sz="2200" dirty="0">
                    <a:latin typeface="Calibri" panose="020F0502020204030204" pitchFamily="34" charset="0"/>
                    <a:ea typeface="Calibri" panose="020F0502020204030204" pitchFamily="34" charset="0"/>
                    <a:cs typeface="Calibri" panose="020F0502020204030204" pitchFamily="34" charset="0"/>
                    <a:sym typeface="Calibri"/>
                  </a:rPr>
                  <a:t>-axis and the positive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y</a:t>
                </a:r>
                <a:r>
                  <a:rPr lang="en-US" sz="2200" dirty="0">
                    <a:latin typeface="Calibri" panose="020F0502020204030204" pitchFamily="34" charset="0"/>
                    <a:ea typeface="Calibri" panose="020F0502020204030204" pitchFamily="34" charset="0"/>
                    <a:cs typeface="Calibri" panose="020F0502020204030204" pitchFamily="34" charset="0"/>
                    <a:sym typeface="Calibri"/>
                  </a:rPr>
                  <a:t>-axis to the negative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200" dirty="0">
                    <a:latin typeface="Calibri" panose="020F0502020204030204" pitchFamily="34" charset="0"/>
                    <a:ea typeface="Calibri" panose="020F0502020204030204" pitchFamily="34" charset="0"/>
                    <a:cs typeface="Calibri" panose="020F0502020204030204" pitchFamily="34" charset="0"/>
                    <a:sym typeface="Calibri"/>
                  </a:rPr>
                  <a:t>-axis, then the coordinates of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R</a:t>
                </a:r>
                <a:r>
                  <a:rPr lang="en-US" sz="2200" dirty="0">
                    <a:latin typeface="Calibri" panose="020F0502020204030204" pitchFamily="34" charset="0"/>
                    <a:ea typeface="Calibri" panose="020F0502020204030204" pitchFamily="34" charset="0"/>
                    <a:cs typeface="Calibri" panose="020F0502020204030204" pitchFamily="34" charset="0"/>
                    <a:sym typeface="Calibri"/>
                  </a:rPr>
                  <a:t>(</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a</a:t>
                </a:r>
                <a:r>
                  <a:rPr lang="en-US" sz="2200" dirty="0">
                    <a:latin typeface="Calibri" panose="020F0502020204030204" pitchFamily="34" charset="0"/>
                    <a:ea typeface="Calibri" panose="020F0502020204030204" pitchFamily="34" charset="0"/>
                    <a:cs typeface="Calibri" panose="020F0502020204030204" pitchFamily="34" charset="0"/>
                    <a:sym typeface="Calibri"/>
                  </a:rPr>
                  <a:t>,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b</a:t>
                </a:r>
                <a:r>
                  <a:rPr lang="en-US" sz="2200" dirty="0">
                    <a:latin typeface="Calibri" panose="020F0502020204030204" pitchFamily="34" charset="0"/>
                    <a:ea typeface="Calibri" panose="020F0502020204030204" pitchFamily="34" charset="0"/>
                    <a:cs typeface="Calibri" panose="020F0502020204030204" pitchFamily="34" charset="0"/>
                    <a:sym typeface="Calibri"/>
                  </a:rPr>
                  <a:t>) are transformed into the coordinates of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D</a:t>
                </a:r>
                <a:r>
                  <a:rPr lang="en-US" sz="2200" dirty="0">
                    <a:latin typeface="Calibri" panose="020F0502020204030204" pitchFamily="34" charset="0"/>
                    <a:ea typeface="Calibri" panose="020F0502020204030204" pitchFamily="34" charset="0"/>
                    <a:cs typeface="Calibri" panose="020F0502020204030204" pitchFamily="34" charset="0"/>
                    <a:sym typeface="Calibri"/>
                  </a:rPr>
                  <a:t>(−</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b</a:t>
                </a:r>
                <a:r>
                  <a:rPr lang="en-US" sz="2200" dirty="0">
                    <a:latin typeface="Calibri" panose="020F0502020204030204" pitchFamily="34" charset="0"/>
                    <a:ea typeface="Calibri" panose="020F0502020204030204" pitchFamily="34" charset="0"/>
                    <a:cs typeface="Calibri" panose="020F0502020204030204" pitchFamily="34" charset="0"/>
                    <a:sym typeface="Calibri"/>
                  </a:rPr>
                  <a:t>,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a</a:t>
                </a:r>
                <a:r>
                  <a:rPr lang="en-US" sz="2200" dirty="0">
                    <a:latin typeface="Calibri" panose="020F0502020204030204" pitchFamily="34" charset="0"/>
                    <a:ea typeface="Calibri" panose="020F0502020204030204" pitchFamily="34" charset="0"/>
                    <a:cs typeface="Calibri" panose="020F0502020204030204" pitchFamily="34" charset="0"/>
                    <a:sym typeface="Calibri"/>
                  </a:rPr>
                  <a:t>). Graphically, you can see the movement of lengths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a</a:t>
                </a:r>
                <a:r>
                  <a:rPr lang="en-US" sz="2200" dirty="0">
                    <a:latin typeface="Calibri" panose="020F0502020204030204" pitchFamily="34" charset="0"/>
                    <a:ea typeface="Calibri" panose="020F0502020204030204" pitchFamily="34" charset="0"/>
                    <a:cs typeface="Calibri" panose="020F0502020204030204" pitchFamily="34" charset="0"/>
                    <a:sym typeface="Calibri"/>
                  </a:rPr>
                  <a:t> and </a:t>
                </a:r>
                <a:r>
                  <a:rPr lang="en-US" sz="2200" i="1" dirty="0">
                    <a:latin typeface="Calibri" panose="020F0502020204030204" pitchFamily="34" charset="0"/>
                    <a:ea typeface="Calibri" panose="020F0502020204030204" pitchFamily="34" charset="0"/>
                    <a:cs typeface="Calibri" panose="020F0502020204030204" pitchFamily="34" charset="0"/>
                    <a:sym typeface="Calibri"/>
                  </a:rPr>
                  <a:t>b</a:t>
                </a:r>
                <a:r>
                  <a:rPr lang="en-US" sz="2200" dirty="0">
                    <a:latin typeface="Calibri" panose="020F0502020204030204" pitchFamily="34" charset="0"/>
                    <a:ea typeface="Calibri" panose="020F0502020204030204" pitchFamily="34" charset="0"/>
                    <a:cs typeface="Calibri" panose="020F0502020204030204" pitchFamily="34" charset="0"/>
                    <a:sym typeface="Calibri"/>
                  </a:rPr>
                  <a:t> under the rotation.</a:t>
                </a:r>
              </a:p>
              <a:p>
                <a:r>
                  <a:rPr lang="en-US" sz="2200" dirty="0">
                    <a:latin typeface="Calibri" panose="020F0502020204030204" pitchFamily="34" charset="0"/>
                    <a:ea typeface="Calibri" panose="020F0502020204030204" pitchFamily="34" charset="0"/>
                    <a:cs typeface="Calibri" panose="020F0502020204030204" pitchFamily="34" charset="0"/>
                  </a:rPr>
                  <a:t>The graph shows the slope of line </a:t>
                </a:r>
                <a:r>
                  <a:rPr lang="en-US" sz="2200" i="1" dirty="0">
                    <a:latin typeface="Calibri" panose="020F0502020204030204" pitchFamily="34" charset="0"/>
                    <a:ea typeface="Calibri" panose="020F0502020204030204" pitchFamily="34" charset="0"/>
                    <a:cs typeface="Calibri" panose="020F0502020204030204" pitchFamily="34" charset="0"/>
                  </a:rPr>
                  <a:t>p</a:t>
                </a:r>
                <a:r>
                  <a:rPr lang="en-US" sz="22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en-US" sz="2200" i="1" smtClean="0">
                            <a:latin typeface="Cambria Math" panose="02040503050406030204" pitchFamily="18" charset="0"/>
                            <a:ea typeface="Calibri" panose="020F0502020204030204" pitchFamily="34" charset="0"/>
                            <a:cs typeface="Calibri" panose="020F0502020204030204" pitchFamily="34" charset="0"/>
                          </a:rPr>
                        </m:ctrlPr>
                      </m:sSubPr>
                      <m:e>
                        <m:r>
                          <a:rPr lang="en-US" sz="2200" b="0" i="1" smtClean="0">
                            <a:latin typeface="Cambria Math" panose="02040503050406030204" pitchFamily="18" charset="0"/>
                            <a:ea typeface="Calibri" panose="020F0502020204030204" pitchFamily="34" charset="0"/>
                            <a:cs typeface="Calibri" panose="020F0502020204030204" pitchFamily="34" charset="0"/>
                          </a:rPr>
                          <m:t>𝑚</m:t>
                        </m:r>
                      </m:e>
                      <m:sub>
                        <m:r>
                          <a:rPr lang="en-US" sz="2200" b="0" i="1" smtClean="0">
                            <a:latin typeface="Cambria Math" panose="02040503050406030204" pitchFamily="18" charset="0"/>
                            <a:ea typeface="Calibri" panose="020F0502020204030204" pitchFamily="34" charset="0"/>
                            <a:cs typeface="Calibri" panose="020F0502020204030204" pitchFamily="34" charset="0"/>
                          </a:rPr>
                          <m:t>1</m:t>
                        </m:r>
                      </m:sub>
                    </m:sSub>
                    <m:r>
                      <a:rPr lang="en-US" sz="22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𝑏</m:t>
                        </m:r>
                      </m:num>
                      <m:den>
                        <m:r>
                          <a:rPr lang="en-US" sz="2200" b="0" i="1" smtClean="0">
                            <a:latin typeface="Cambria Math" panose="02040503050406030204" pitchFamily="18" charset="0"/>
                            <a:ea typeface="Calibri" panose="020F0502020204030204" pitchFamily="34" charset="0"/>
                            <a:cs typeface="Calibri" panose="020F0502020204030204" pitchFamily="34" charset="0"/>
                          </a:rPr>
                          <m:t>𝑎</m:t>
                        </m:r>
                      </m:den>
                    </m:f>
                  </m:oMath>
                </a14:m>
                <a:r>
                  <a:rPr lang="en-US" sz="2200" dirty="0">
                    <a:latin typeface="Calibri" panose="020F0502020204030204" pitchFamily="34" charset="0"/>
                    <a:ea typeface="Calibri" panose="020F0502020204030204" pitchFamily="34" charset="0"/>
                    <a:cs typeface="Calibri" panose="020F0502020204030204" pitchFamily="34" charset="0"/>
                  </a:rPr>
                  <a:t>, and the slope of line </a:t>
                </a:r>
                <a:r>
                  <a:rPr lang="en-US" sz="2200" i="1" dirty="0">
                    <a:latin typeface="Calibri" panose="020F0502020204030204" pitchFamily="34" charset="0"/>
                    <a:ea typeface="Calibri" panose="020F0502020204030204" pitchFamily="34" charset="0"/>
                    <a:cs typeface="Calibri" panose="020F0502020204030204" pitchFamily="34" charset="0"/>
                  </a:rPr>
                  <a:t>q</a:t>
                </a:r>
                <a:r>
                  <a:rPr lang="en-US" sz="22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en-US" sz="2200" i="1">
                            <a:latin typeface="Cambria Math" panose="02040503050406030204" pitchFamily="18" charset="0"/>
                            <a:ea typeface="Calibri" panose="020F0502020204030204" pitchFamily="34" charset="0"/>
                            <a:cs typeface="Calibri" panose="020F0502020204030204" pitchFamily="34" charset="0"/>
                          </a:rPr>
                        </m:ctrlPr>
                      </m:sSubPr>
                      <m:e>
                        <m:r>
                          <a:rPr lang="en-US" sz="2200" i="1">
                            <a:latin typeface="Cambria Math" panose="02040503050406030204" pitchFamily="18" charset="0"/>
                            <a:ea typeface="Calibri" panose="020F0502020204030204" pitchFamily="34" charset="0"/>
                            <a:cs typeface="Calibri" panose="020F0502020204030204" pitchFamily="34" charset="0"/>
                          </a:rPr>
                          <m:t>𝑚</m:t>
                        </m:r>
                      </m:e>
                      <m:sub>
                        <m:r>
                          <a:rPr lang="en-US" sz="2200" b="0" i="1" smtClean="0">
                            <a:latin typeface="Cambria Math" panose="02040503050406030204" pitchFamily="18" charset="0"/>
                            <a:ea typeface="Calibri" panose="020F0502020204030204" pitchFamily="34" charset="0"/>
                            <a:cs typeface="Calibri" panose="020F0502020204030204" pitchFamily="34" charset="0"/>
                          </a:rPr>
                          <m:t>2</m:t>
                        </m:r>
                      </m:sub>
                    </m:sSub>
                    <m:r>
                      <a:rPr lang="en-US" sz="2200" i="1">
                        <a:latin typeface="Cambria Math" panose="02040503050406030204" pitchFamily="18" charset="0"/>
                        <a:ea typeface="Calibri" panose="020F0502020204030204" pitchFamily="34" charset="0"/>
                        <a:cs typeface="Calibri" panose="020F0502020204030204" pitchFamily="34" charset="0"/>
                      </a:rPr>
                      <m:t>=</m:t>
                    </m:r>
                    <m:f>
                      <m:fPr>
                        <m:ctrlPr>
                          <a:rPr lang="en-US" sz="2200" i="1">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𝑎</m:t>
                        </m:r>
                      </m:num>
                      <m:den>
                        <m:r>
                          <a:rPr lang="en-US" sz="2200" b="0" i="1" smtClean="0">
                            <a:latin typeface="Cambria Math" panose="02040503050406030204" pitchFamily="18" charset="0"/>
                            <a:ea typeface="Calibri" panose="020F0502020204030204" pitchFamily="34" charset="0"/>
                            <a:cs typeface="Calibri" panose="020F0502020204030204" pitchFamily="34" charset="0"/>
                          </a:rPr>
                          <m:t>−</m:t>
                        </m:r>
                        <m:r>
                          <a:rPr lang="en-US" sz="2200" b="0" i="1" smtClean="0">
                            <a:latin typeface="Cambria Math" panose="02040503050406030204" pitchFamily="18" charset="0"/>
                            <a:ea typeface="Calibri" panose="020F0502020204030204" pitchFamily="34" charset="0"/>
                            <a:cs typeface="Calibri" panose="020F0502020204030204" pitchFamily="34" charset="0"/>
                          </a:rPr>
                          <m:t>𝑏</m:t>
                        </m:r>
                      </m:den>
                    </m:f>
                  </m:oMath>
                </a14:m>
                <a:r>
                  <a:rPr lang="en-US" sz="2200" dirty="0">
                    <a:latin typeface="Calibri" panose="020F0502020204030204" pitchFamily="34" charset="0"/>
                    <a:ea typeface="Calibri" panose="020F0502020204030204" pitchFamily="34" charset="0"/>
                    <a:cs typeface="Calibri" panose="020F0502020204030204" pitchFamily="34" charset="0"/>
                  </a:rPr>
                  <a:t>.</a:t>
                </a:r>
              </a:p>
            </p:txBody>
          </p:sp>
        </mc:Choice>
        <mc:Fallback xmlns="">
          <p:sp>
            <p:nvSpPr>
              <p:cNvPr id="571" name="Google Shape;571;p14">
                <a:extLst>
                  <a:ext uri="{FF2B5EF4-FFF2-40B4-BE49-F238E27FC236}">
                    <a16:creationId xmlns:a16="http://schemas.microsoft.com/office/drawing/2014/main" id="{CE84560F-B97D-C1EA-C4CE-F9442E61558A}"/>
                  </a:ext>
                </a:extLst>
              </p:cNvPr>
              <p:cNvSpPr txBox="1">
                <a:spLocks noRot="1" noChangeAspect="1" noMove="1" noResize="1" noEditPoints="1" noAdjustHandles="1" noChangeArrowheads="1" noChangeShapeType="1" noTextEdit="1"/>
              </p:cNvSpPr>
              <p:nvPr/>
            </p:nvSpPr>
            <p:spPr>
              <a:xfrm>
                <a:off x="3539775" y="1654599"/>
                <a:ext cx="5330155" cy="4987928"/>
              </a:xfrm>
              <a:prstGeom prst="rect">
                <a:avLst/>
              </a:prstGeom>
              <a:blipFill>
                <a:blip r:embed="rId4"/>
                <a:stretch>
                  <a:fillRect l="-1487" t="-733" r="-2403" b="-122"/>
                </a:stretch>
              </a:blipFill>
              <a:ln>
                <a:noFill/>
              </a:ln>
            </p:spPr>
            <p:txBody>
              <a:bodyPr/>
              <a:lstStyle/>
              <a:p>
                <a:r>
                  <a:rPr lang="en-US">
                    <a:noFill/>
                  </a:rPr>
                  <a:t> </a:t>
                </a:r>
              </a:p>
            </p:txBody>
          </p:sp>
        </mc:Fallback>
      </mc:AlternateContent>
      <p:pic>
        <p:nvPicPr>
          <p:cNvPr id="4" name="Google Shape;565;p14" descr="A graph of 2 lines on the coordinate plane. Line p rises from left to right through the origin and point R at (a, b). Line q falls from left to right through the origin and point D at (negative b, a). A right angle is marked between the 2 lines at their intersection at the origin.">
            <a:extLst>
              <a:ext uri="{FF2B5EF4-FFF2-40B4-BE49-F238E27FC236}">
                <a16:creationId xmlns:a16="http://schemas.microsoft.com/office/drawing/2014/main" id="{139513E9-CF45-2C84-3CFC-302E936E6641}"/>
              </a:ext>
            </a:extLst>
          </p:cNvPr>
          <p:cNvPicPr>
            <a:picLocks noChangeAspect="1"/>
          </p:cNvPicPr>
          <p:nvPr/>
        </p:nvPicPr>
        <p:blipFill rotWithShape="1">
          <a:blip r:embed="rId5" cstate="email">
            <a:alphaModFix/>
            <a:extLst>
              <a:ext uri="{28A0092B-C50C-407E-A947-70E740481C1C}">
                <a14:useLocalDpi xmlns:a14="http://schemas.microsoft.com/office/drawing/2010/main"/>
              </a:ext>
            </a:extLst>
          </a:blip>
          <a:srcRect/>
          <a:stretch/>
        </p:blipFill>
        <p:spPr>
          <a:xfrm>
            <a:off x="8928701" y="2470809"/>
            <a:ext cx="3008784" cy="3162145"/>
          </a:xfrm>
          <a:prstGeom prst="rect">
            <a:avLst/>
          </a:prstGeom>
          <a:noFill/>
          <a:ln>
            <a:noFill/>
          </a:ln>
        </p:spPr>
      </p:pic>
    </p:spTree>
    <p:extLst>
      <p:ext uri="{BB962C8B-B14F-4D97-AF65-F5344CB8AC3E}">
        <p14:creationId xmlns:p14="http://schemas.microsoft.com/office/powerpoint/2010/main" val="3398154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1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(5 of 9)</a:t>
            </a:r>
            <a:endParaRPr dirty="0">
              <a:solidFill>
                <a:schemeClr val="bg1"/>
              </a:solidFill>
            </a:endParaRPr>
          </a:p>
        </p:txBody>
      </p:sp>
      <p:sp>
        <p:nvSpPr>
          <p:cNvPr id="584" name="Google Shape;584;p15">
            <a:extLst>
              <a:ext uri="{C183D7F6-B498-43B3-948B-1728B52AA6E4}">
                <adec:decorative xmlns:adec="http://schemas.microsoft.com/office/drawing/2017/decorative" val="1"/>
              </a:ext>
            </a:extLst>
          </p:cNvPr>
          <p:cNvSpPr/>
          <p:nvPr/>
        </p:nvSpPr>
        <p:spPr>
          <a:xfrm>
            <a:off x="1760514" y="1990705"/>
            <a:ext cx="8669384" cy="4490630"/>
          </a:xfrm>
          <a:prstGeom prst="roundRect">
            <a:avLst>
              <a:gd name="adj" fmla="val 16667"/>
            </a:avLst>
          </a:prstGeom>
          <a:noFill/>
          <a:ln w="50800" cap="flat" cmpd="dbl">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85" name="Google Shape;585;p15" descr="Worked Example"/>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2499409" y="1777326"/>
            <a:ext cx="2758679" cy="426757"/>
          </a:xfrm>
          <a:prstGeom prst="rect">
            <a:avLst/>
          </a:prstGeom>
          <a:noFill/>
          <a:ln>
            <a:noFill/>
          </a:ln>
        </p:spPr>
      </p:pic>
      <mc:AlternateContent xmlns:mc="http://schemas.openxmlformats.org/markup-compatibility/2006" xmlns:a14="http://schemas.microsoft.com/office/drawing/2010/main">
        <mc:Choice Requires="a14">
          <p:sp>
            <p:nvSpPr>
              <p:cNvPr id="3" name="Google Shape;571;p14">
                <a:extLst>
                  <a:ext uri="{FF2B5EF4-FFF2-40B4-BE49-F238E27FC236}">
                    <a16:creationId xmlns:a16="http://schemas.microsoft.com/office/drawing/2014/main" id="{C2BE9EF4-D191-007D-A56B-D8BB30DFA2BF}"/>
                  </a:ext>
                </a:extLst>
              </p:cNvPr>
              <p:cNvSpPr txBox="1"/>
              <p:nvPr/>
            </p:nvSpPr>
            <p:spPr>
              <a:xfrm>
                <a:off x="2214693" y="2244318"/>
                <a:ext cx="5159229" cy="42370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1200"/>
                  </a:spcAft>
                  <a:buNone/>
                </a:pPr>
                <a:r>
                  <a:rPr lang="en-US" sz="2200" dirty="0">
                    <a:latin typeface="Calibri" panose="020F0502020204030204" pitchFamily="34" charset="0"/>
                    <a:ea typeface="Calibri" panose="020F0502020204030204" pitchFamily="34" charset="0"/>
                    <a:cs typeface="Calibri" panose="020F0502020204030204" pitchFamily="34" charset="0"/>
                  </a:rPr>
                  <a:t>Using these slopes, you can demonstrate that </a:t>
                </a:r>
                <a14:m>
                  <m:oMath xmlns:m="http://schemas.openxmlformats.org/officeDocument/2006/math">
                    <m:sSub>
                      <m:sSubPr>
                        <m:ctrlPr>
                          <a:rPr lang="en-US" sz="2200" i="1" smtClean="0">
                            <a:latin typeface="Cambria Math" panose="02040503050406030204" pitchFamily="18" charset="0"/>
                            <a:ea typeface="Calibri" panose="020F0502020204030204" pitchFamily="34" charset="0"/>
                            <a:cs typeface="Calibri" panose="020F0502020204030204" pitchFamily="34" charset="0"/>
                          </a:rPr>
                        </m:ctrlPr>
                      </m:sSubPr>
                      <m:e>
                        <m:r>
                          <a:rPr lang="en-US" sz="2200" b="0" i="1" smtClean="0">
                            <a:latin typeface="Cambria Math" panose="02040503050406030204" pitchFamily="18" charset="0"/>
                            <a:ea typeface="Calibri" panose="020F0502020204030204" pitchFamily="34" charset="0"/>
                            <a:cs typeface="Calibri" panose="020F0502020204030204" pitchFamily="34" charset="0"/>
                          </a:rPr>
                          <m:t>𝑚</m:t>
                        </m:r>
                      </m:e>
                      <m:sub>
                        <m:r>
                          <a:rPr lang="en-US" sz="2200" b="0" i="1" smtClean="0">
                            <a:latin typeface="Cambria Math" panose="02040503050406030204" pitchFamily="18" charset="0"/>
                            <a:ea typeface="Calibri" panose="020F0502020204030204" pitchFamily="34" charset="0"/>
                            <a:cs typeface="Calibri" panose="020F0502020204030204" pitchFamily="34" charset="0"/>
                          </a:rPr>
                          <m:t>1</m:t>
                        </m:r>
                      </m:sub>
                    </m:sSub>
                    <m:r>
                      <a:rPr lang="en-US" sz="22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1</m:t>
                        </m:r>
                      </m:num>
                      <m:den>
                        <m:sSub>
                          <m:sSub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200" b="0" i="1" smtClean="0">
                                <a:latin typeface="Cambria Math" panose="02040503050406030204" pitchFamily="18" charset="0"/>
                                <a:ea typeface="Calibri" panose="020F0502020204030204" pitchFamily="34" charset="0"/>
                                <a:cs typeface="Calibri" panose="020F0502020204030204" pitchFamily="34" charset="0"/>
                              </a:rPr>
                              <m:t>𝑚</m:t>
                            </m:r>
                          </m:e>
                          <m:sub>
                            <m:r>
                              <a:rPr lang="en-US" sz="2200" b="0" i="1" smtClean="0">
                                <a:latin typeface="Cambria Math" panose="02040503050406030204" pitchFamily="18" charset="0"/>
                                <a:ea typeface="Calibri" panose="020F0502020204030204" pitchFamily="34" charset="0"/>
                                <a:cs typeface="Calibri" panose="020F0502020204030204" pitchFamily="34" charset="0"/>
                              </a:rPr>
                              <m:t>2</m:t>
                            </m:r>
                          </m:sub>
                        </m:sSub>
                      </m:den>
                    </m:f>
                  </m:oMath>
                </a14:m>
                <a:r>
                  <a:rPr lang="en-US" sz="2200" dirty="0">
                    <a:latin typeface="Calibri" panose="020F0502020204030204" pitchFamily="34" charset="0"/>
                    <a:ea typeface="Calibri" panose="020F0502020204030204" pitchFamily="34" charset="0"/>
                    <a:cs typeface="Calibri" panose="020F0502020204030204" pitchFamily="34" charset="0"/>
                  </a:rPr>
                  <a:t>.</a:t>
                </a:r>
              </a:p>
              <a:p>
                <a:pPr marL="0" marR="0" lvl="0" indent="0" algn="l" rtl="0">
                  <a:spcBef>
                    <a:spcPts val="24"/>
                  </a:spcBef>
                  <a:spcAft>
                    <a:spcPts val="1200"/>
                  </a:spcAft>
                  <a:buNone/>
                </a:pP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𝑏</m:t>
                          </m:r>
                        </m:num>
                        <m:den>
                          <m:r>
                            <a:rPr lang="en-US" sz="2200" b="0" i="1" smtClean="0">
                              <a:latin typeface="Cambria Math" panose="02040503050406030204" pitchFamily="18" charset="0"/>
                              <a:ea typeface="Calibri" panose="020F0502020204030204" pitchFamily="34" charset="0"/>
                              <a:cs typeface="Calibri" panose="020F0502020204030204" pitchFamily="34" charset="0"/>
                            </a:rPr>
                            <m:t>𝑎</m:t>
                          </m:r>
                        </m:den>
                      </m:f>
                      <m:r>
                        <m:rPr>
                          <m:aln/>
                        </m:rPr>
                        <a:rPr lang="en-US" sz="2200" b="0" i="1" smtClean="0">
                          <a:latin typeface="Cambria Math" panose="02040503050406030204" pitchFamily="18" charset="0"/>
                          <a:ea typeface="Calibri" panose="020F0502020204030204" pitchFamily="34" charset="0"/>
                          <a:cs typeface="Calibri" panose="020F0502020204030204" pitchFamily="34" charset="0"/>
                        </a:rPr>
                        <m:t>=</m:t>
                      </m:r>
                      <m:r>
                        <a:rPr lang="en-US" sz="22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1</m:t>
                          </m:r>
                        </m:num>
                        <m:den>
                          <m:f>
                            <m:fPr>
                              <m:ctrlPr>
                                <a:rPr lang="en-US" sz="22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𝑎</m:t>
                              </m:r>
                            </m:num>
                            <m:den>
                              <m:r>
                                <a:rPr lang="en-US" sz="2200" b="0" i="1" smtClean="0">
                                  <a:latin typeface="Cambria Math" panose="02040503050406030204" pitchFamily="18" charset="0"/>
                                  <a:ea typeface="Calibri" panose="020F0502020204030204" pitchFamily="34" charset="0"/>
                                  <a:cs typeface="Calibri" panose="020F0502020204030204" pitchFamily="34" charset="0"/>
                                </a:rPr>
                                <m:t>−</m:t>
                              </m:r>
                              <m:r>
                                <a:rPr lang="en-US" sz="2200" b="0" i="1" smtClean="0">
                                  <a:latin typeface="Cambria Math" panose="02040503050406030204" pitchFamily="18" charset="0"/>
                                  <a:ea typeface="Calibri" panose="020F0502020204030204" pitchFamily="34" charset="0"/>
                                  <a:cs typeface="Calibri" panose="020F0502020204030204" pitchFamily="34" charset="0"/>
                                </a:rPr>
                                <m:t>𝑏</m:t>
                              </m:r>
                            </m:den>
                          </m:f>
                        </m:den>
                      </m:f>
                    </m:oMath>
                    <m:oMath xmlns:m="http://schemas.openxmlformats.org/officeDocument/2006/math">
                      <m:r>
                        <m:rPr>
                          <m:aln/>
                        </m:rPr>
                        <a:rPr lang="en-US" sz="2200" b="0" i="1" smtClean="0">
                          <a:latin typeface="Cambria Math" panose="02040503050406030204" pitchFamily="18" charset="0"/>
                          <a:ea typeface="Calibri" panose="020F0502020204030204" pitchFamily="34" charset="0"/>
                          <a:cs typeface="Calibri" panose="020F0502020204030204" pitchFamily="34" charset="0"/>
                        </a:rPr>
                        <m:t>=</m:t>
                      </m:r>
                      <m:r>
                        <a:rPr lang="en-US" sz="2200" b="0" i="1" smtClean="0">
                          <a:latin typeface="Cambria Math" panose="02040503050406030204" pitchFamily="18" charset="0"/>
                          <a:ea typeface="Calibri" panose="020F0502020204030204" pitchFamily="34" charset="0"/>
                          <a:cs typeface="Calibri" panose="020F0502020204030204" pitchFamily="34" charset="0"/>
                        </a:rPr>
                        <m:t>−</m:t>
                      </m:r>
                      <m:r>
                        <a:rPr lang="en-US" sz="2200" b="0" i="1" smtClean="0">
                          <a:latin typeface="Cambria Math" panose="02040503050406030204" pitchFamily="18" charset="0"/>
                          <a:ea typeface="Calibri" panose="020F0502020204030204" pitchFamily="34" charset="0"/>
                          <a:cs typeface="Calibri" panose="020F0502020204030204" pitchFamily="34" charset="0"/>
                        </a:rPr>
                        <m:t>1</m:t>
                      </m:r>
                      <m:r>
                        <a:rPr lang="en-US" sz="22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sz="22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200" b="0" i="1" smtClean="0">
                              <a:latin typeface="Cambria Math" panose="02040503050406030204" pitchFamily="18" charset="0"/>
                              <a:ea typeface="Cambria Math" panose="02040503050406030204" pitchFamily="18" charset="0"/>
                              <a:cs typeface="Calibri" panose="020F0502020204030204" pitchFamily="34" charset="0"/>
                            </a:rPr>
                            <m:t>−</m:t>
                          </m:r>
                          <m:r>
                            <a:rPr lang="en-US" sz="2200" b="0" i="1" smtClean="0">
                              <a:latin typeface="Cambria Math" panose="02040503050406030204" pitchFamily="18" charset="0"/>
                              <a:ea typeface="Cambria Math" panose="02040503050406030204" pitchFamily="18" charset="0"/>
                              <a:cs typeface="Calibri" panose="020F0502020204030204" pitchFamily="34" charset="0"/>
                            </a:rPr>
                            <m:t>𝑏</m:t>
                          </m:r>
                        </m:num>
                        <m:den>
                          <m:r>
                            <a:rPr lang="en-US" sz="2200" b="0" i="1" smtClean="0">
                              <a:latin typeface="Cambria Math" panose="02040503050406030204" pitchFamily="18" charset="0"/>
                              <a:ea typeface="Cambria Math" panose="02040503050406030204" pitchFamily="18" charset="0"/>
                              <a:cs typeface="Calibri" panose="020F0502020204030204" pitchFamily="34" charset="0"/>
                            </a:rPr>
                            <m:t>𝑎</m:t>
                          </m:r>
                        </m:den>
                      </m:f>
                    </m:oMath>
                    <m:oMath xmlns:m="http://schemas.openxmlformats.org/officeDocument/2006/math">
                      <m:r>
                        <m:rPr>
                          <m:aln/>
                        </m:rPr>
                        <a:rPr lang="en-US" sz="2200" b="0" i="1" smtClean="0">
                          <a:latin typeface="Cambria Math" panose="02040503050406030204" pitchFamily="18" charset="0"/>
                          <a:ea typeface="Cambria Math" panose="02040503050406030204" pitchFamily="18" charset="0"/>
                          <a:cs typeface="Calibri" panose="020F0502020204030204" pitchFamily="34" charset="0"/>
                        </a:rPr>
                        <m:t>=</m:t>
                      </m:r>
                      <m:f>
                        <m:fPr>
                          <m:ctrlPr>
                            <a:rPr lang="en-US" sz="2200" b="0" i="1" smtClean="0">
                              <a:latin typeface="Cambria Math" panose="02040503050406030204" pitchFamily="18" charset="0"/>
                              <a:ea typeface="Cambria Math" panose="02040503050406030204" pitchFamily="18" charset="0"/>
                              <a:cs typeface="Calibri" panose="020F0502020204030204" pitchFamily="34" charset="0"/>
                            </a:rPr>
                          </m:ctrlPr>
                        </m:fPr>
                        <m:num>
                          <m:r>
                            <a:rPr lang="en-US" sz="2200" b="0" i="1" smtClean="0">
                              <a:latin typeface="Cambria Math" panose="02040503050406030204" pitchFamily="18" charset="0"/>
                              <a:ea typeface="Cambria Math" panose="02040503050406030204" pitchFamily="18" charset="0"/>
                              <a:cs typeface="Calibri" panose="020F0502020204030204" pitchFamily="34" charset="0"/>
                            </a:rPr>
                            <m:t>𝑏</m:t>
                          </m:r>
                        </m:num>
                        <m:den>
                          <m:r>
                            <a:rPr lang="en-US" sz="2200" b="0" i="1" smtClean="0">
                              <a:latin typeface="Cambria Math" panose="02040503050406030204" pitchFamily="18" charset="0"/>
                              <a:ea typeface="Cambria Math" panose="02040503050406030204" pitchFamily="18" charset="0"/>
                              <a:cs typeface="Calibri" panose="020F0502020204030204" pitchFamily="34" charset="0"/>
                            </a:rPr>
                            <m:t>𝑎</m:t>
                          </m:r>
                        </m:den>
                      </m:f>
                    </m:oMath>
                  </m:oMathPara>
                </a14:m>
                <a:endParaRPr lang="en-US" sz="2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24"/>
                  </a:spcBef>
                  <a:spcAft>
                    <a:spcPts val="1200"/>
                  </a:spcAft>
                  <a:buNone/>
                </a:pPr>
                <a:r>
                  <a:rPr lang="en-US" sz="2200" dirty="0">
                    <a:latin typeface="Calibri" panose="020F0502020204030204" pitchFamily="34" charset="0"/>
                    <a:ea typeface="Calibri" panose="020F0502020204030204" pitchFamily="34" charset="0"/>
                    <a:cs typeface="Calibri" panose="020F0502020204030204" pitchFamily="34" charset="0"/>
                  </a:rPr>
                  <a:t>The slope of line </a:t>
                </a:r>
                <a:r>
                  <a:rPr lang="en-US" sz="2200" i="1" dirty="0">
                    <a:latin typeface="Calibri" panose="020F0502020204030204" pitchFamily="34" charset="0"/>
                    <a:ea typeface="Calibri" panose="020F0502020204030204" pitchFamily="34" charset="0"/>
                    <a:cs typeface="Calibri" panose="020F0502020204030204" pitchFamily="34" charset="0"/>
                  </a:rPr>
                  <a:t>q</a:t>
                </a:r>
                <a:r>
                  <a:rPr lang="en-US" sz="2200" dirty="0">
                    <a:latin typeface="Calibri" panose="020F0502020204030204" pitchFamily="34" charset="0"/>
                    <a:ea typeface="Calibri" panose="020F0502020204030204" pitchFamily="34" charset="0"/>
                    <a:cs typeface="Calibri" panose="020F0502020204030204" pitchFamily="34" charset="0"/>
                  </a:rPr>
                  <a:t> is the negative reciprocal of the slope of line </a:t>
                </a:r>
                <a:r>
                  <a:rPr lang="en-US" sz="2200" i="1" dirty="0">
                    <a:latin typeface="Calibri" panose="020F0502020204030204" pitchFamily="34" charset="0"/>
                    <a:ea typeface="Calibri" panose="020F0502020204030204" pitchFamily="34" charset="0"/>
                    <a:cs typeface="Calibri" panose="020F0502020204030204" pitchFamily="34" charset="0"/>
                  </a:rPr>
                  <a:t>p</a:t>
                </a:r>
                <a:r>
                  <a:rPr lang="en-US" sz="2200" dirty="0">
                    <a:latin typeface="Calibri" panose="020F0502020204030204" pitchFamily="34" charset="0"/>
                    <a:ea typeface="Calibri" panose="020F0502020204030204" pitchFamily="34" charset="0"/>
                    <a:cs typeface="Calibri" panose="020F0502020204030204" pitchFamily="34" charset="0"/>
                  </a:rPr>
                  <a:t>.</a:t>
                </a:r>
              </a:p>
            </p:txBody>
          </p:sp>
        </mc:Choice>
        <mc:Fallback xmlns="">
          <p:sp>
            <p:nvSpPr>
              <p:cNvPr id="3" name="Google Shape;571;p14">
                <a:extLst>
                  <a:ext uri="{FF2B5EF4-FFF2-40B4-BE49-F238E27FC236}">
                    <a16:creationId xmlns:a16="http://schemas.microsoft.com/office/drawing/2014/main" id="{C2BE9EF4-D191-007D-A56B-D8BB30DFA2BF}"/>
                  </a:ext>
                </a:extLst>
              </p:cNvPr>
              <p:cNvSpPr txBox="1">
                <a:spLocks noRot="1" noChangeAspect="1" noMove="1" noResize="1" noEditPoints="1" noAdjustHandles="1" noChangeArrowheads="1" noChangeShapeType="1" noTextEdit="1"/>
              </p:cNvSpPr>
              <p:nvPr/>
            </p:nvSpPr>
            <p:spPr>
              <a:xfrm>
                <a:off x="2214693" y="2244318"/>
                <a:ext cx="5159229" cy="4237017"/>
              </a:xfrm>
              <a:prstGeom prst="rect">
                <a:avLst/>
              </a:prstGeom>
              <a:blipFill>
                <a:blip r:embed="rId4"/>
                <a:stretch>
                  <a:fillRect l="-1535" t="-1007" r="-2479"/>
                </a:stretch>
              </a:blipFill>
              <a:ln>
                <a:noFill/>
              </a:ln>
            </p:spPr>
            <p:txBody>
              <a:bodyPr/>
              <a:lstStyle/>
              <a:p>
                <a:r>
                  <a:rPr lang="en-US">
                    <a:noFill/>
                  </a:rPr>
                  <a:t> </a:t>
                </a:r>
              </a:p>
            </p:txBody>
          </p:sp>
        </mc:Fallback>
      </mc:AlternateContent>
      <p:pic>
        <p:nvPicPr>
          <p:cNvPr id="2" name="Google Shape;565;p14" descr="A graph of 2 lines on the coordinate plane. Line p rises from left to right through the origin and point R at (a, b). Line q falls from left to right through the origin and point D at (negative b, a). A right angle is marked between the 2 lines at their intersection at the origin.">
            <a:extLst>
              <a:ext uri="{FF2B5EF4-FFF2-40B4-BE49-F238E27FC236}">
                <a16:creationId xmlns:a16="http://schemas.microsoft.com/office/drawing/2014/main" id="{0EFF3649-1EF5-939B-1248-E573A810C06E}"/>
              </a:ext>
            </a:extLst>
          </p:cNvPr>
          <p:cNvPicPr>
            <a:picLocks noChangeAspect="1"/>
          </p:cNvPicPr>
          <p:nvPr/>
        </p:nvPicPr>
        <p:blipFill rotWithShape="1">
          <a:blip r:embed="rId5" cstate="email">
            <a:alphaModFix/>
            <a:extLst>
              <a:ext uri="{28A0092B-C50C-407E-A947-70E740481C1C}">
                <a14:useLocalDpi xmlns:a14="http://schemas.microsoft.com/office/drawing/2010/main"/>
              </a:ext>
            </a:extLst>
          </a:blip>
          <a:srcRect/>
          <a:stretch/>
        </p:blipFill>
        <p:spPr>
          <a:xfrm>
            <a:off x="7485603" y="2715852"/>
            <a:ext cx="2832614" cy="304033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3" name="Google Shape;603;p1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(6 of 9)</a:t>
            </a:r>
            <a:endParaRPr dirty="0">
              <a:solidFill>
                <a:schemeClr val="bg1"/>
              </a:solidFill>
            </a:endParaRPr>
          </a:p>
        </p:txBody>
      </p:sp>
      <p:sp>
        <p:nvSpPr>
          <p:cNvPr id="2" name="TextBox 1">
            <a:extLst>
              <a:ext uri="{FF2B5EF4-FFF2-40B4-BE49-F238E27FC236}">
                <a16:creationId xmlns:a16="http://schemas.microsoft.com/office/drawing/2014/main" id="{399B7F68-0123-793A-C302-6E185690AD75}"/>
              </a:ext>
            </a:extLst>
          </p:cNvPr>
          <p:cNvSpPr txBox="1"/>
          <p:nvPr/>
        </p:nvSpPr>
        <p:spPr>
          <a:xfrm>
            <a:off x="777240" y="1615188"/>
            <a:ext cx="7267802" cy="2400657"/>
          </a:xfrm>
          <a:prstGeom prst="rect">
            <a:avLst/>
          </a:prstGeom>
          <a:noFill/>
        </p:spPr>
        <p:txBody>
          <a:bodyPr wrap="square" rtlCol="0">
            <a:spAutoFit/>
          </a:bodyPr>
          <a:lstStyle/>
          <a:p>
            <a:pPr algn="l">
              <a:spcAft>
                <a:spcPts val="1200"/>
              </a:spcAft>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There is often more than one way to prove a theorem. Suppose that point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R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is rotated 90° clockwise using point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O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as the center of rotation.</a:t>
            </a:r>
          </a:p>
          <a:p>
            <a:pPr marL="511175" indent="-511175" algn="l">
              <a:buFont typeface="+mj-lt"/>
              <a:buAutoNum type="arabicPeriod" startAt="3"/>
            </a:pPr>
            <a:r>
              <a:rPr lang="en-US" sz="2800" dirty="0">
                <a:latin typeface="Calibri" panose="020F0502020204030204" pitchFamily="34" charset="0"/>
                <a:ea typeface="Calibri" panose="020F0502020204030204" pitchFamily="34" charset="0"/>
                <a:cs typeface="Calibri" panose="020F0502020204030204" pitchFamily="34" charset="0"/>
              </a:rPr>
              <a:t>Rewrite the proof using the clockwise rotation of point </a:t>
            </a:r>
            <a:r>
              <a:rPr lang="en-US" sz="2800" i="1" dirty="0">
                <a:latin typeface="Calibri" panose="020F0502020204030204" pitchFamily="34" charset="0"/>
                <a:ea typeface="Calibri" panose="020F0502020204030204" pitchFamily="34" charset="0"/>
                <a:cs typeface="Calibri" panose="020F0502020204030204" pitchFamily="34" charset="0"/>
              </a:rPr>
              <a:t>R</a:t>
            </a:r>
            <a:r>
              <a:rPr lang="en-US" sz="2800" dirty="0">
                <a:latin typeface="Calibri" panose="020F0502020204030204" pitchFamily="34" charset="0"/>
                <a:ea typeface="Calibri" panose="020F0502020204030204" pitchFamily="34" charset="0"/>
                <a:cs typeface="Calibri" panose="020F0502020204030204" pitchFamily="34" charset="0"/>
              </a:rPr>
              <a:t>.</a:t>
            </a:r>
          </a:p>
        </p:txBody>
      </p:sp>
      <p:pic>
        <p:nvPicPr>
          <p:cNvPr id="602" name="Google Shape;602;p17" descr="A graph of 2 lines on the coordinate plane. Line p rises from left to right through the origin and point R at in quadrant 1. Line q falls from left to right through the origin and point D in quadrant 4. A right angle is marked between the 2 lines at their intersection at the origin."/>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8465485" y="1615188"/>
            <a:ext cx="3000529" cy="36276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1">
          <a:extLst>
            <a:ext uri="{FF2B5EF4-FFF2-40B4-BE49-F238E27FC236}">
              <a16:creationId xmlns:a16="http://schemas.microsoft.com/office/drawing/2014/main" id="{A3CEF403-885A-E16E-92D4-DFFF31065AA5}"/>
            </a:ext>
          </a:extLst>
        </p:cNvPr>
        <p:cNvGrpSpPr/>
        <p:nvPr/>
      </p:nvGrpSpPr>
      <p:grpSpPr>
        <a:xfrm>
          <a:off x="0" y="0"/>
          <a:ext cx="0" cy="0"/>
          <a:chOff x="0" y="0"/>
          <a:chExt cx="0" cy="0"/>
        </a:xfrm>
      </p:grpSpPr>
      <p:sp>
        <p:nvSpPr>
          <p:cNvPr id="603" name="Google Shape;603;p17">
            <a:extLst>
              <a:ext uri="{FF2B5EF4-FFF2-40B4-BE49-F238E27FC236}">
                <a16:creationId xmlns:a16="http://schemas.microsoft.com/office/drawing/2014/main" id="{B3D43CDF-8938-7970-0E77-849ACE3D5A9C}"/>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(7 of 9)</a:t>
            </a:r>
            <a:endParaRPr dirty="0">
              <a:solidFill>
                <a:schemeClr val="bg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7FBF85B-F52A-3B8A-10FA-D9F384C38ED1}"/>
                  </a:ext>
                </a:extLst>
              </p:cNvPr>
              <p:cNvSpPr txBox="1"/>
              <p:nvPr/>
            </p:nvSpPr>
            <p:spPr>
              <a:xfrm>
                <a:off x="777240" y="1615188"/>
                <a:ext cx="9893556" cy="4407104"/>
              </a:xfrm>
              <a:prstGeom prst="rect">
                <a:avLst/>
              </a:prstGeom>
              <a:noFill/>
            </p:spPr>
            <p:txBody>
              <a:bodyPr wrap="square" rtlCol="0">
                <a:spAutoFit/>
              </a:bodyPr>
              <a:lstStyle/>
              <a:p>
                <a:pPr marL="514350" indent="-514350" algn="l">
                  <a:spcAft>
                    <a:spcPts val="600"/>
                  </a:spcAft>
                  <a:buFont typeface="+mj-lt"/>
                  <a:buAutoNum type="arabicPeriod" startAt="4"/>
                </a:pPr>
                <a:r>
                  <a:rPr lang="en-US" sz="2800" dirty="0">
                    <a:latin typeface="Calibri" panose="020F0502020204030204" pitchFamily="34" charset="0"/>
                    <a:ea typeface="Calibri" panose="020F0502020204030204" pitchFamily="34" charset="0"/>
                    <a:cs typeface="Calibri" panose="020F0502020204030204" pitchFamily="34" charset="0"/>
                  </a:rPr>
                  <a:t>Line </a:t>
                </a:r>
                <a:r>
                  <a:rPr lang="en-US" sz="2800" i="1" dirty="0">
                    <a:latin typeface="Calibri" panose="020F0502020204030204" pitchFamily="34" charset="0"/>
                    <a:ea typeface="Calibri" panose="020F0502020204030204" pitchFamily="34" charset="0"/>
                    <a:cs typeface="Calibri" panose="020F0502020204030204" pitchFamily="34" charset="0"/>
                  </a:rPr>
                  <a:t>j</a:t>
                </a:r>
                <a:r>
                  <a:rPr lang="en-US" sz="2800" dirty="0">
                    <a:latin typeface="Calibri" panose="020F0502020204030204" pitchFamily="34" charset="0"/>
                    <a:ea typeface="Calibri" panose="020F0502020204030204" pitchFamily="34" charset="0"/>
                    <a:cs typeface="Calibri" panose="020F0502020204030204" pitchFamily="34" charset="0"/>
                  </a:rPr>
                  <a:t> and line </a:t>
                </a:r>
                <a:r>
                  <a:rPr lang="en-US" sz="2800" i="1" dirty="0">
                    <a:latin typeface="Calibri" panose="020F0502020204030204" pitchFamily="34" charset="0"/>
                    <a:ea typeface="Calibri" panose="020F0502020204030204" pitchFamily="34" charset="0"/>
                    <a:cs typeface="Calibri" panose="020F0502020204030204" pitchFamily="34" charset="0"/>
                  </a:rPr>
                  <a:t>k</a:t>
                </a:r>
                <a:r>
                  <a:rPr lang="en-US" sz="2800" dirty="0">
                    <a:latin typeface="Calibri" panose="020F0502020204030204" pitchFamily="34" charset="0"/>
                    <a:ea typeface="Calibri" panose="020F0502020204030204" pitchFamily="34" charset="0"/>
                    <a:cs typeface="Calibri" panose="020F0502020204030204" pitchFamily="34" charset="0"/>
                  </a:rPr>
                  <a:t> are perpendicular. Given each slope of line </a:t>
                </a:r>
                <a:r>
                  <a:rPr lang="en-US" sz="2800" i="1" dirty="0">
                    <a:latin typeface="Calibri" panose="020F0502020204030204" pitchFamily="34" charset="0"/>
                    <a:ea typeface="Calibri" panose="020F0502020204030204" pitchFamily="34" charset="0"/>
                    <a:cs typeface="Calibri" panose="020F0502020204030204" pitchFamily="34" charset="0"/>
                  </a:rPr>
                  <a:t>j</a:t>
                </a:r>
                <a:r>
                  <a:rPr lang="en-US" sz="2800" dirty="0">
                    <a:latin typeface="Calibri" panose="020F0502020204030204" pitchFamily="34" charset="0"/>
                    <a:ea typeface="Calibri" panose="020F0502020204030204" pitchFamily="34" charset="0"/>
                    <a:cs typeface="Calibri" panose="020F0502020204030204" pitchFamily="34" charset="0"/>
                  </a:rPr>
                  <a:t>, determine the slope of line </a:t>
                </a:r>
                <a:r>
                  <a:rPr lang="en-US" sz="2800" i="1" dirty="0">
                    <a:latin typeface="Calibri" panose="020F0502020204030204" pitchFamily="34" charset="0"/>
                    <a:ea typeface="Calibri" panose="020F0502020204030204" pitchFamily="34" charset="0"/>
                    <a:cs typeface="Calibri" panose="020F0502020204030204" pitchFamily="34" charset="0"/>
                  </a:rPr>
                  <a:t>k</a:t>
                </a:r>
                <a:r>
                  <a:rPr lang="en-US" sz="2800" dirty="0">
                    <a:latin typeface="Calibri" panose="020F0502020204030204" pitchFamily="34" charset="0"/>
                    <a:ea typeface="Calibri" panose="020F0502020204030204" pitchFamily="34" charset="0"/>
                    <a:cs typeface="Calibri" panose="020F0502020204030204" pitchFamily="34" charset="0"/>
                  </a:rPr>
                  <a:t>.</a:t>
                </a:r>
              </a:p>
              <a:p>
                <a:pPr marL="1031875" lvl="1" indent="-51435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2800" b="0" i="1" smtClean="0">
                        <a:latin typeface="Cambria Math" panose="02040503050406030204" pitchFamily="18" charset="0"/>
                        <a:ea typeface="Calibri" panose="020F0502020204030204" pitchFamily="34" charset="0"/>
                        <a:cs typeface="Calibri" panose="020F0502020204030204" pitchFamily="34" charset="0"/>
                      </a:rPr>
                      <m:t>𝑚</m:t>
                    </m:r>
                    <m:r>
                      <a:rPr lang="en-US" sz="28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8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smtClean="0">
                            <a:latin typeface="Cambria Math" panose="02040503050406030204" pitchFamily="18" charset="0"/>
                            <a:ea typeface="Calibri" panose="020F0502020204030204" pitchFamily="34" charset="0"/>
                            <a:cs typeface="Calibri" panose="020F0502020204030204" pitchFamily="34" charset="0"/>
                          </a:rPr>
                          <m:t>2</m:t>
                        </m:r>
                      </m:num>
                      <m:den>
                        <m:r>
                          <a:rPr lang="en-US" sz="2800" b="0" i="1" smtClean="0">
                            <a:latin typeface="Cambria Math" panose="02040503050406030204" pitchFamily="18" charset="0"/>
                            <a:ea typeface="Calibri" panose="020F0502020204030204" pitchFamily="34" charset="0"/>
                            <a:cs typeface="Calibri" panose="020F0502020204030204" pitchFamily="34" charset="0"/>
                          </a:rPr>
                          <m:t>3</m:t>
                        </m:r>
                      </m:den>
                    </m:f>
                  </m:oMath>
                </a14:m>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1031875" lvl="1" indent="-51435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2800" b="0" i="1" smtClean="0">
                        <a:latin typeface="Cambria Math" panose="02040503050406030204" pitchFamily="18" charset="0"/>
                        <a:ea typeface="Calibri" panose="020F0502020204030204" pitchFamily="34" charset="0"/>
                        <a:cs typeface="Calibri" panose="020F0502020204030204" pitchFamily="34" charset="0"/>
                      </a:rPr>
                      <m:t>𝑚</m:t>
                    </m:r>
                    <m:r>
                      <a:rPr lang="en-US" sz="28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8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smtClean="0">
                            <a:latin typeface="Cambria Math" panose="02040503050406030204" pitchFamily="18" charset="0"/>
                            <a:ea typeface="Calibri" panose="020F0502020204030204" pitchFamily="34" charset="0"/>
                            <a:cs typeface="Calibri" panose="020F0502020204030204" pitchFamily="34" charset="0"/>
                          </a:rPr>
                          <m:t>4</m:t>
                        </m:r>
                      </m:num>
                      <m:den>
                        <m:r>
                          <a:rPr lang="en-US" sz="2800" b="0" i="1" smtClean="0">
                            <a:latin typeface="Cambria Math" panose="02040503050406030204" pitchFamily="18" charset="0"/>
                            <a:ea typeface="Calibri" panose="020F0502020204030204" pitchFamily="34" charset="0"/>
                            <a:cs typeface="Calibri" panose="020F0502020204030204" pitchFamily="34" charset="0"/>
                          </a:rPr>
                          <m:t>5</m:t>
                        </m:r>
                      </m:den>
                    </m:f>
                  </m:oMath>
                </a14:m>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1031875" lvl="1" indent="-51435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2800" b="0" i="1" smtClean="0">
                        <a:latin typeface="Cambria Math" panose="02040503050406030204" pitchFamily="18" charset="0"/>
                        <a:ea typeface="Calibri" panose="020F0502020204030204" pitchFamily="34" charset="0"/>
                        <a:cs typeface="Calibri" panose="020F0502020204030204" pitchFamily="34" charset="0"/>
                      </a:rPr>
                      <m:t>𝑚</m:t>
                    </m:r>
                    <m:r>
                      <a:rPr lang="en-US" sz="2800" b="0" i="1" smtClean="0">
                        <a:latin typeface="Cambria Math" panose="02040503050406030204" pitchFamily="18" charset="0"/>
                        <a:ea typeface="Calibri" panose="020F0502020204030204" pitchFamily="34" charset="0"/>
                        <a:cs typeface="Calibri" panose="020F0502020204030204" pitchFamily="34" charset="0"/>
                      </a:rPr>
                      <m:t>=−3</m:t>
                    </m:r>
                  </m:oMath>
                </a14:m>
                <a:endParaRPr lang="en-US"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 name="TextBox 1">
                <a:extLst>
                  <a:ext uri="{FF2B5EF4-FFF2-40B4-BE49-F238E27FC236}">
                    <a16:creationId xmlns:a16="http://schemas.microsoft.com/office/drawing/2014/main" id="{07FBF85B-F52A-3B8A-10FA-D9F384C38ED1}"/>
                  </a:ext>
                </a:extLst>
              </p:cNvPr>
              <p:cNvSpPr txBox="1">
                <a:spLocks noRot="1" noChangeAspect="1" noMove="1" noResize="1" noEditPoints="1" noAdjustHandles="1" noChangeArrowheads="1" noChangeShapeType="1" noTextEdit="1"/>
              </p:cNvSpPr>
              <p:nvPr/>
            </p:nvSpPr>
            <p:spPr>
              <a:xfrm>
                <a:off x="777240" y="1615188"/>
                <a:ext cx="9893556" cy="4407104"/>
              </a:xfrm>
              <a:prstGeom prst="rect">
                <a:avLst/>
              </a:prstGeom>
              <a:blipFill>
                <a:blip r:embed="rId3"/>
                <a:stretch>
                  <a:fillRect l="-1295" t="-1521" b="-3043"/>
                </a:stretch>
              </a:blipFill>
            </p:spPr>
            <p:txBody>
              <a:bodyPr/>
              <a:lstStyle/>
              <a:p>
                <a:r>
                  <a:rPr lang="en-US">
                    <a:noFill/>
                  </a:rPr>
                  <a:t> </a:t>
                </a:r>
              </a:p>
            </p:txBody>
          </p:sp>
        </mc:Fallback>
      </mc:AlternateContent>
    </p:spTree>
    <p:extLst>
      <p:ext uri="{BB962C8B-B14F-4D97-AF65-F5344CB8AC3E}">
        <p14:creationId xmlns:p14="http://schemas.microsoft.com/office/powerpoint/2010/main" val="855891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1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(8 of 9)</a:t>
            </a:r>
            <a:endParaRPr dirty="0">
              <a:solidFill>
                <a:schemeClr val="bg1"/>
              </a:solidFill>
            </a:endParaRPr>
          </a:p>
        </p:txBody>
      </p:sp>
      <p:sp>
        <p:nvSpPr>
          <p:cNvPr id="614" name="Google Shape;614;p18"/>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revisit the Essential Question and summarize our learning from Activity 3.1!</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rgbClr val="000000"/>
              </a:buClr>
              <a:buSzPts val="2800"/>
              <a:buFont typeface="Arial"/>
              <a:buNone/>
            </a:pPr>
            <a:r>
              <a:rPr lang="en-US" sz="2800" b="1" dirty="0">
                <a:solidFill>
                  <a:srgbClr val="000000"/>
                </a:solidFill>
                <a:latin typeface="Calibri"/>
                <a:ea typeface="Calibri"/>
                <a:cs typeface="Calibri"/>
                <a:sym typeface="Calibri"/>
              </a:rPr>
              <a:t>Essential Question: </a:t>
            </a:r>
            <a:r>
              <a:rPr lang="en-US" sz="2800" b="0" i="0" u="none" strike="noStrike" cap="none" dirty="0">
                <a:solidFill>
                  <a:srgbClr val="000000"/>
                </a:solidFill>
                <a:latin typeface="Calibri"/>
                <a:ea typeface="Calibri"/>
                <a:cs typeface="Calibri"/>
                <a:sym typeface="Calibri"/>
              </a:rPr>
              <a:t>How can you rotate the graphs of linear equations to determine the slopes of perpendicular lines</a:t>
            </a:r>
            <a:r>
              <a:rPr lang="en-US" sz="2800" dirty="0">
                <a:solidFill>
                  <a:srgbClr val="000000"/>
                </a:solidFill>
                <a:latin typeface="Calibri"/>
                <a:ea typeface="Calibri"/>
                <a:cs typeface="Calibri"/>
                <a:sym typeface="Calibri"/>
              </a:rPr>
              <a:t>?</a:t>
            </a:r>
            <a:endParaRPr dirty="0"/>
          </a:p>
        </p:txBody>
      </p:sp>
      <p:pic>
        <p:nvPicPr>
          <p:cNvPr id="615" name="Google Shape;615;p18">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1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Perpendicular Lines </a:t>
            </a:r>
            <a:r>
              <a:rPr lang="en-US" sz="2000" b="1" dirty="0">
                <a:solidFill>
                  <a:schemeClr val="bg1"/>
                </a:solidFill>
              </a:rPr>
              <a:t>(9 of 9)</a:t>
            </a:r>
            <a:endParaRPr dirty="0">
              <a:solidFill>
                <a:schemeClr val="bg1"/>
              </a:solidFill>
            </a:endParaRPr>
          </a:p>
        </p:txBody>
      </p:sp>
      <p:sp>
        <p:nvSpPr>
          <p:cNvPr id="622" name="Google Shape;622;p19">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20"/>
          <p:cNvSpPr txBox="1">
            <a:spLocks noGrp="1"/>
          </p:cNvSpPr>
          <p:nvPr>
            <p:ph type="title" idx="4294967295"/>
          </p:nvPr>
        </p:nvSpPr>
        <p:spPr>
          <a:xfrm>
            <a:off x="838200" y="-310393"/>
            <a:ext cx="10514013" cy="31039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Day 2</a:t>
            </a:r>
            <a:endParaRPr sz="2000" dirty="0"/>
          </a:p>
        </p:txBody>
      </p:sp>
      <p:sp>
        <p:nvSpPr>
          <p:cNvPr id="629" name="Google Shape;629;p20"/>
          <p:cNvSpPr txBox="1">
            <a:spLocks noGrp="1"/>
          </p:cNvSpPr>
          <p:nvPr>
            <p:ph type="body" idx="1"/>
          </p:nvPr>
        </p:nvSpPr>
        <p:spPr>
          <a:xfrm>
            <a:off x="6451135" y="2832927"/>
            <a:ext cx="1269724" cy="10715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7500"/>
              <a:buNone/>
            </a:pPr>
            <a:r>
              <a:rPr lang="en-US" sz="7500" b="1" dirty="0">
                <a:solidFill>
                  <a:srgbClr val="000000"/>
                </a:solidFill>
                <a:latin typeface="Calibri"/>
                <a:ea typeface="Calibri"/>
                <a:cs typeface="Calibri"/>
                <a:sym typeface="Calibri"/>
              </a:rPr>
              <a:t>2</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2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Essential Question </a:t>
            </a:r>
            <a:r>
              <a:rPr lang="en-US" sz="2000" b="1" dirty="0">
                <a:solidFill>
                  <a:schemeClr val="bg1"/>
                </a:solidFill>
              </a:rPr>
              <a:t>(2 of 2)</a:t>
            </a:r>
            <a:endParaRPr dirty="0">
              <a:solidFill>
                <a:schemeClr val="bg1"/>
              </a:solidFill>
            </a:endParaRPr>
          </a:p>
        </p:txBody>
      </p:sp>
      <p:sp>
        <p:nvSpPr>
          <p:cNvPr id="636" name="Google Shape;636;p21"/>
          <p:cNvSpPr txBox="1"/>
          <p:nvPr/>
        </p:nvSpPr>
        <p:spPr>
          <a:xfrm>
            <a:off x="777240" y="1616140"/>
            <a:ext cx="10515600" cy="435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cap="none" dirty="0">
                <a:solidFill>
                  <a:srgbClr val="000000"/>
                </a:solidFill>
                <a:latin typeface="Calibri"/>
                <a:ea typeface="Calibri"/>
                <a:cs typeface="Calibri"/>
                <a:sym typeface="Calibri"/>
              </a:rPr>
              <a:t>How can you rotate the graphs of linear equations to determine the slopes of perpendicular lines</a:t>
            </a:r>
            <a:r>
              <a:rPr lang="en-US" sz="2800" dirty="0">
                <a:solidFill>
                  <a:srgbClr val="000000"/>
                </a:solidFill>
                <a:latin typeface="Calibri"/>
                <a:ea typeface="Calibri"/>
                <a:cs typeface="Calibri"/>
                <a:sym typeface="Calibri"/>
              </a:rPr>
              <a:t>?</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22"/>
          <p:cNvSpPr txBox="1">
            <a:spLocks noGrp="1"/>
          </p:cNvSpPr>
          <p:nvPr>
            <p:ph type="title" idx="4294967295"/>
          </p:nvPr>
        </p:nvSpPr>
        <p:spPr>
          <a:xfrm>
            <a:off x="838200" y="-293615"/>
            <a:ext cx="10514013" cy="293615"/>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tx2"/>
                </a:solidFill>
                <a:latin typeface="Calibri"/>
                <a:ea typeface="Calibri"/>
                <a:cs typeface="Calibri"/>
                <a:sym typeface="Calibri"/>
              </a:rPr>
              <a:t>Activity 3.2</a:t>
            </a:r>
            <a:endParaRPr sz="2000" dirty="0">
              <a:solidFill>
                <a:schemeClr val="tx2"/>
              </a:solidFill>
            </a:endParaRPr>
          </a:p>
        </p:txBody>
      </p:sp>
      <p:sp>
        <p:nvSpPr>
          <p:cNvPr id="643" name="Google Shape;643;p22" descr="15 to 20 minutes"/>
          <p:cNvSpPr txBox="1">
            <a:spLocks noGrp="1"/>
          </p:cNvSpPr>
          <p:nvPr>
            <p:ph type="body" idx="2"/>
          </p:nvPr>
        </p:nvSpPr>
        <p:spPr>
          <a:xfrm>
            <a:off x="10614990"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
        <p:nvSpPr>
          <p:cNvPr id="644" name="Google Shape;644;p22">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3.2</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2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(1 of 7)</a:t>
            </a:r>
            <a:endParaRPr dirty="0">
              <a:solidFill>
                <a:schemeClr val="bg1"/>
              </a:solidFill>
            </a:endParaRPr>
          </a:p>
        </p:txBody>
      </p:sp>
      <p:pic>
        <p:nvPicPr>
          <p:cNvPr id="652" name="Google Shape;652;p23" descr="A graph of a line and 3 points on the coordinate plane. The line extends vertical through the points K (4, 12) and F (4, 8) and G (4, 4). The 3 other points are aligned vertically, at L (13, 12) and J (13, 8) and H (13, 4)."/>
          <p:cNvPicPr preferRelativeResize="0"/>
          <p:nvPr/>
        </p:nvPicPr>
        <p:blipFill rotWithShape="1">
          <a:blip r:embed="rId3">
            <a:alphaModFix/>
          </a:blip>
          <a:srcRect/>
          <a:stretch/>
        </p:blipFill>
        <p:spPr>
          <a:xfrm>
            <a:off x="777240" y="3470338"/>
            <a:ext cx="4519264" cy="3150835"/>
          </a:xfrm>
          <a:prstGeom prst="rect">
            <a:avLst/>
          </a:prstGeom>
          <a:noFill/>
          <a:ln>
            <a:noFill/>
          </a:ln>
        </p:spPr>
      </p:pic>
      <mc:AlternateContent xmlns:mc="http://schemas.openxmlformats.org/markup-compatibility/2006" xmlns:a14="http://schemas.microsoft.com/office/drawing/2010/main">
        <mc:Choice Requires="a14">
          <p:sp>
            <p:nvSpPr>
              <p:cNvPr id="653" name="Google Shape;653;p23"/>
              <p:cNvSpPr txBox="1"/>
              <p:nvPr/>
            </p:nvSpPr>
            <p:spPr>
              <a:xfrm>
                <a:off x="777240" y="1499711"/>
                <a:ext cx="9893556" cy="19706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1200"/>
                  </a:spcAft>
                  <a:buNone/>
                </a:pPr>
                <a:r>
                  <a:rPr lang="en-US" sz="2800" dirty="0">
                    <a:solidFill>
                      <a:srgbClr val="000000"/>
                    </a:solidFill>
                    <a:latin typeface="Calibri"/>
                    <a:ea typeface="Calibri"/>
                    <a:cs typeface="Calibri"/>
                    <a:sym typeface="Calibri"/>
                  </a:rPr>
                  <a:t>Consider the graph shown.</a:t>
                </a:r>
              </a:p>
              <a:p>
                <a:pPr marL="514350" marR="0" lvl="0" indent="-514350" algn="l" rtl="0">
                  <a:spcBef>
                    <a:spcPts val="0"/>
                  </a:spcBef>
                  <a:spcAft>
                    <a:spcPts val="0"/>
                  </a:spcAft>
                  <a:buFont typeface="+mj-lt"/>
                  <a:buAutoNum type="arabicPeriod"/>
                </a:pPr>
                <a:r>
                  <a:rPr lang="en-US" sz="2800" dirty="0">
                    <a:solidFill>
                      <a:srgbClr val="000000"/>
                    </a:solidFill>
                    <a:latin typeface="Calibri"/>
                    <a:ea typeface="Calibri"/>
                    <a:cs typeface="Calibri"/>
                    <a:sym typeface="Calibri"/>
                  </a:rPr>
                  <a:t>Use a straightedge to extend </a:t>
                </a:r>
                <a14:m>
                  <m:oMath xmlns:m="http://schemas.openxmlformats.org/officeDocument/2006/math">
                    <m:acc>
                      <m:accPr>
                        <m:chr m:val="̅"/>
                        <m:ctrlPr>
                          <a:rPr lang="ar-AE" sz="2800" i="1" smtClean="0">
                            <a:solidFill>
                              <a:srgbClr val="000000"/>
                            </a:solidFill>
                            <a:latin typeface="Cambria Math" panose="02040503050406030204" pitchFamily="18" charset="0"/>
                            <a:ea typeface="Calibri"/>
                            <a:cs typeface="Calibri"/>
                            <a:sym typeface="Calibri"/>
                          </a:rPr>
                        </m:ctrlPr>
                      </m:accPr>
                      <m:e>
                        <m:r>
                          <a:rPr lang="ar-AE" sz="2800" b="0" i="1" smtClean="0">
                            <a:solidFill>
                              <a:srgbClr val="000000"/>
                            </a:solidFill>
                            <a:latin typeface="Cambria Math" panose="02040503050406030204" pitchFamily="18" charset="0"/>
                            <a:ea typeface="Calibri"/>
                            <a:cs typeface="Calibri"/>
                            <a:sym typeface="Calibri"/>
                          </a:rPr>
                          <m:t>𝐺𝐾</m:t>
                        </m:r>
                      </m:e>
                    </m:acc>
                  </m:oMath>
                </a14:m>
                <a:r>
                  <a:rPr lang="ar-AE" sz="2800" dirty="0">
                    <a:solidFill>
                      <a:srgbClr val="000000"/>
                    </a:solidFill>
                    <a:latin typeface="Calibri"/>
                    <a:ea typeface="Calibri"/>
                    <a:cs typeface="Calibri"/>
                    <a:sym typeface="Calibri"/>
                  </a:rPr>
                  <a:t> </a:t>
                </a:r>
                <a:r>
                  <a:rPr lang="en-US" sz="2800" dirty="0">
                    <a:solidFill>
                      <a:srgbClr val="000000"/>
                    </a:solidFill>
                    <a:latin typeface="Calibri"/>
                    <a:ea typeface="Calibri"/>
                    <a:cs typeface="Calibri"/>
                    <a:sym typeface="Calibri"/>
                  </a:rPr>
                  <a:t>to create line </a:t>
                </a:r>
                <a:r>
                  <a:rPr lang="en-US" sz="2800" i="1" dirty="0">
                    <a:solidFill>
                      <a:srgbClr val="000000"/>
                    </a:solidFill>
                    <a:latin typeface="Calibri"/>
                    <a:ea typeface="Calibri"/>
                    <a:cs typeface="Calibri"/>
                    <a:sym typeface="Calibri"/>
                  </a:rPr>
                  <a:t>p</a:t>
                </a:r>
                <a:r>
                  <a:rPr lang="en-US" sz="2800" dirty="0">
                    <a:solidFill>
                      <a:srgbClr val="000000"/>
                    </a:solidFill>
                    <a:latin typeface="Calibri"/>
                    <a:ea typeface="Calibri"/>
                    <a:cs typeface="Calibri"/>
                    <a:sym typeface="Calibri"/>
                  </a:rPr>
                  <a:t>, extend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𝐺𝐻</m:t>
                        </m:r>
                      </m:e>
                    </m:acc>
                  </m:oMath>
                </a14:m>
                <a:r>
                  <a:rPr lang="en-US" sz="2800" dirty="0">
                    <a:solidFill>
                      <a:srgbClr val="000000"/>
                    </a:solidFill>
                    <a:latin typeface="Calibri"/>
                    <a:ea typeface="Calibri"/>
                    <a:cs typeface="Calibri"/>
                    <a:sym typeface="Calibri"/>
                  </a:rPr>
                  <a:t> to create line </a:t>
                </a:r>
                <a:r>
                  <a:rPr lang="en-US" sz="2800" i="1" dirty="0">
                    <a:solidFill>
                      <a:srgbClr val="000000"/>
                    </a:solidFill>
                    <a:latin typeface="Calibri"/>
                    <a:ea typeface="Calibri"/>
                    <a:cs typeface="Calibri"/>
                    <a:sym typeface="Calibri"/>
                  </a:rPr>
                  <a:t>q</a:t>
                </a:r>
                <a:r>
                  <a:rPr lang="en-US" sz="2800" dirty="0">
                    <a:solidFill>
                      <a:srgbClr val="000000"/>
                    </a:solidFill>
                    <a:latin typeface="Calibri"/>
                    <a:ea typeface="Calibri"/>
                    <a:cs typeface="Calibri"/>
                    <a:sym typeface="Calibri"/>
                  </a:rPr>
                  <a:t>, extend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𝐹𝐽</m:t>
                        </m:r>
                      </m:e>
                    </m:acc>
                  </m:oMath>
                </a14:m>
                <a:r>
                  <a:rPr lang="en-US" sz="2800" dirty="0">
                    <a:solidFill>
                      <a:srgbClr val="000000"/>
                    </a:solidFill>
                    <a:latin typeface="Calibri"/>
                    <a:ea typeface="Calibri"/>
                    <a:cs typeface="Calibri"/>
                    <a:sym typeface="Calibri"/>
                  </a:rPr>
                  <a:t> to create line </a:t>
                </a:r>
                <a:r>
                  <a:rPr lang="en-US" sz="2800" i="1" dirty="0">
                    <a:solidFill>
                      <a:srgbClr val="000000"/>
                    </a:solidFill>
                    <a:latin typeface="Calibri"/>
                    <a:ea typeface="Calibri"/>
                    <a:cs typeface="Calibri"/>
                    <a:sym typeface="Calibri"/>
                  </a:rPr>
                  <a:t>r</a:t>
                </a:r>
                <a:r>
                  <a:rPr lang="en-US" sz="2800" dirty="0">
                    <a:solidFill>
                      <a:srgbClr val="000000"/>
                    </a:solidFill>
                    <a:latin typeface="Calibri"/>
                    <a:ea typeface="Calibri"/>
                    <a:cs typeface="Calibri"/>
                    <a:sym typeface="Calibri"/>
                  </a:rPr>
                  <a:t>, and extend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𝐾𝐿</m:t>
                        </m:r>
                      </m:e>
                    </m:acc>
                  </m:oMath>
                </a14:m>
                <a:r>
                  <a:rPr lang="en-US" sz="2800" dirty="0">
                    <a:solidFill>
                      <a:srgbClr val="000000"/>
                    </a:solidFill>
                    <a:latin typeface="Calibri"/>
                    <a:ea typeface="Calibri"/>
                    <a:cs typeface="Calibri"/>
                    <a:sym typeface="Calibri"/>
                  </a:rPr>
                  <a:t> to create line </a:t>
                </a:r>
                <a:r>
                  <a:rPr lang="en-US" sz="2800" i="1" dirty="0">
                    <a:solidFill>
                      <a:srgbClr val="000000"/>
                    </a:solidFill>
                    <a:latin typeface="Calibri"/>
                    <a:ea typeface="Calibri"/>
                    <a:cs typeface="Calibri"/>
                    <a:sym typeface="Calibri"/>
                  </a:rPr>
                  <a:t>s</a:t>
                </a:r>
                <a:r>
                  <a:rPr lang="en-US" sz="2800" dirty="0">
                    <a:solidFill>
                      <a:srgbClr val="000000"/>
                    </a:solidFill>
                    <a:latin typeface="Calibri"/>
                    <a:ea typeface="Calibri"/>
                    <a:cs typeface="Calibri"/>
                    <a:sym typeface="Calibri"/>
                  </a:rPr>
                  <a:t>.</a:t>
                </a:r>
              </a:p>
            </p:txBody>
          </p:sp>
        </mc:Choice>
        <mc:Fallback xmlns="">
          <p:sp>
            <p:nvSpPr>
              <p:cNvPr id="653" name="Google Shape;653;p23"/>
              <p:cNvSpPr txBox="1">
                <a:spLocks noRot="1" noChangeAspect="1" noMove="1" noResize="1" noEditPoints="1" noAdjustHandles="1" noChangeArrowheads="1" noChangeShapeType="1" noTextEdit="1"/>
              </p:cNvSpPr>
              <p:nvPr/>
            </p:nvSpPr>
            <p:spPr>
              <a:xfrm>
                <a:off x="777240" y="1499711"/>
                <a:ext cx="9893556" cy="1970627"/>
              </a:xfrm>
              <a:prstGeom prst="rect">
                <a:avLst/>
              </a:prstGeom>
              <a:blipFill>
                <a:blip r:embed="rId4"/>
                <a:stretch>
                  <a:fillRect l="-1356" t="-2786" r="-1171" b="-8050"/>
                </a:stretch>
              </a:blipFill>
              <a:ln>
                <a:noFill/>
              </a:ln>
            </p:spPr>
            <p:txBody>
              <a:bodyPr/>
              <a:lstStyle/>
              <a:p>
                <a:r>
                  <a:rPr 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2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(2 of 7)</a:t>
            </a:r>
            <a:endParaRPr dirty="0">
              <a:solidFill>
                <a:schemeClr val="bg1"/>
              </a:solidFill>
            </a:endParaRPr>
          </a:p>
        </p:txBody>
      </p:sp>
      <p:sp>
        <p:nvSpPr>
          <p:cNvPr id="2" name="Google Shape;653;p23">
            <a:extLst>
              <a:ext uri="{FF2B5EF4-FFF2-40B4-BE49-F238E27FC236}">
                <a16:creationId xmlns:a16="http://schemas.microsoft.com/office/drawing/2014/main" id="{6DE2DED4-3C19-3539-2900-E12994A38867}"/>
              </a:ext>
            </a:extLst>
          </p:cNvPr>
          <p:cNvSpPr txBox="1"/>
          <p:nvPr/>
        </p:nvSpPr>
        <p:spPr>
          <a:xfrm>
            <a:off x="777239" y="1591990"/>
            <a:ext cx="10036169" cy="3108503"/>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Font typeface="+mj-lt"/>
              <a:buAutoNum type="arabicPeriod" startAt="2"/>
            </a:pPr>
            <a:r>
              <a:rPr lang="en-US" sz="2800" dirty="0">
                <a:solidFill>
                  <a:srgbClr val="000000"/>
                </a:solidFill>
                <a:latin typeface="Calibri"/>
                <a:ea typeface="Calibri"/>
                <a:cs typeface="Calibri"/>
                <a:sym typeface="Calibri"/>
              </a:rPr>
              <a:t>Consider the three horizontal lines you drew for Question 1. For any horizontal line, if </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increases by one unit, by how many units does </a:t>
            </a:r>
            <a:r>
              <a:rPr lang="en-US" sz="2800" i="1" dirty="0">
                <a:solidFill>
                  <a:srgbClr val="000000"/>
                </a:solidFill>
                <a:latin typeface="Calibri"/>
                <a:ea typeface="Calibri"/>
                <a:cs typeface="Calibri"/>
                <a:sym typeface="Calibri"/>
              </a:rPr>
              <a:t>y</a:t>
            </a:r>
            <a:r>
              <a:rPr lang="en-US" sz="2800" dirty="0">
                <a:solidFill>
                  <a:srgbClr val="000000"/>
                </a:solidFill>
                <a:latin typeface="Calibri"/>
                <a:ea typeface="Calibri"/>
                <a:cs typeface="Calibri"/>
                <a:sym typeface="Calibri"/>
              </a:rPr>
              <a:t> change?</a:t>
            </a: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endParaRPr lang="en-US" sz="2800" dirty="0">
              <a:solidFill>
                <a:srgbClr val="000000"/>
              </a:solidFill>
              <a:latin typeface="Calibri"/>
              <a:ea typeface="Calibri"/>
              <a:cs typeface="Calibri"/>
              <a:sym typeface="Calibri"/>
            </a:endParaRPr>
          </a:p>
          <a:p>
            <a:pPr marL="514350" marR="0" lvl="0" indent="-514350" algn="l" rtl="0">
              <a:spcBef>
                <a:spcPts val="0"/>
              </a:spcBef>
              <a:spcAft>
                <a:spcPts val="0"/>
              </a:spcAft>
              <a:buFont typeface="+mj-lt"/>
              <a:buAutoNum type="arabicPeriod" startAt="2"/>
            </a:pPr>
            <a:r>
              <a:rPr lang="en-US" sz="2800" dirty="0">
                <a:latin typeface="Calibri"/>
                <a:ea typeface="Calibri"/>
                <a:cs typeface="Calibri"/>
                <a:sym typeface="Calibri"/>
              </a:rPr>
              <a:t>Describe the slope of any horizontal line. Explain your reasoning.</a:t>
            </a:r>
            <a:endParaRPr lang="en-US" sz="2800" dirty="0">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(3 of 7)</a:t>
            </a:r>
            <a:endParaRPr dirty="0">
              <a:solidFill>
                <a:schemeClr val="bg1"/>
              </a:solidFill>
            </a:endParaRPr>
          </a:p>
        </p:txBody>
      </p:sp>
      <p:sp>
        <p:nvSpPr>
          <p:cNvPr id="2" name="Google Shape;653;p23">
            <a:extLst>
              <a:ext uri="{FF2B5EF4-FFF2-40B4-BE49-F238E27FC236}">
                <a16:creationId xmlns:a16="http://schemas.microsoft.com/office/drawing/2014/main" id="{0D555F19-AE41-A5F5-5E92-496F59924DD6}"/>
              </a:ext>
            </a:extLst>
          </p:cNvPr>
          <p:cNvSpPr txBox="1"/>
          <p:nvPr/>
        </p:nvSpPr>
        <p:spPr>
          <a:xfrm>
            <a:off x="777239" y="1591990"/>
            <a:ext cx="10036169" cy="2677616"/>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Font typeface="+mj-lt"/>
              <a:buAutoNum type="arabicPeriod" startAt="4"/>
            </a:pPr>
            <a:r>
              <a:rPr lang="en-US" sz="2800" dirty="0">
                <a:solidFill>
                  <a:srgbClr val="000000"/>
                </a:solidFill>
                <a:latin typeface="Calibri"/>
                <a:ea typeface="Calibri"/>
                <a:cs typeface="Calibri"/>
                <a:sym typeface="Calibri"/>
              </a:rPr>
              <a:t>Consider the vertical line you drew in Question 1. Suppose that </a:t>
            </a:r>
            <a:r>
              <a:rPr lang="en-US" sz="2800" i="1" dirty="0">
                <a:solidFill>
                  <a:srgbClr val="000000"/>
                </a:solidFill>
                <a:latin typeface="Calibri"/>
                <a:ea typeface="Calibri"/>
                <a:cs typeface="Calibri"/>
                <a:sym typeface="Calibri"/>
              </a:rPr>
              <a:t>y</a:t>
            </a:r>
            <a:r>
              <a:rPr lang="en-US" sz="2800" dirty="0">
                <a:solidFill>
                  <a:srgbClr val="000000"/>
                </a:solidFill>
                <a:latin typeface="Calibri"/>
                <a:ea typeface="Calibri"/>
                <a:cs typeface="Calibri"/>
                <a:sym typeface="Calibri"/>
              </a:rPr>
              <a:t> increases by one unit. By how many units does </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change?</a:t>
            </a: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endParaRPr lang="en-US" sz="2800" dirty="0">
              <a:solidFill>
                <a:srgbClr val="000000"/>
              </a:solidFill>
              <a:latin typeface="Calibri"/>
              <a:ea typeface="Calibri"/>
              <a:cs typeface="Calibri"/>
              <a:sym typeface="Calibri"/>
            </a:endParaRPr>
          </a:p>
          <a:p>
            <a:pPr marL="514350" marR="0" lvl="0" indent="-514350" algn="l" rtl="0">
              <a:spcBef>
                <a:spcPts val="0"/>
              </a:spcBef>
              <a:spcAft>
                <a:spcPts val="0"/>
              </a:spcAft>
              <a:buFont typeface="+mj-lt"/>
              <a:buAutoNum type="arabicPeriod" startAt="4"/>
            </a:pPr>
            <a:r>
              <a:rPr lang="en-US" sz="2800" dirty="0">
                <a:latin typeface="Calibri"/>
                <a:ea typeface="Calibri"/>
                <a:cs typeface="Calibri"/>
                <a:sym typeface="Calibri"/>
              </a:rPr>
              <a:t>Describe the slope of any vertical line. Explain your reasoning.</a:t>
            </a:r>
            <a:endParaRPr lang="en-US" sz="2800" dirty="0">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2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(4 of 7)</a:t>
            </a:r>
            <a:endParaRPr dirty="0">
              <a:solidFill>
                <a:schemeClr val="bg1"/>
              </a:solidFill>
            </a:endParaRPr>
          </a:p>
        </p:txBody>
      </p:sp>
      <p:sp>
        <p:nvSpPr>
          <p:cNvPr id="674" name="Google Shape;674;p26"/>
          <p:cNvSpPr txBox="1"/>
          <p:nvPr/>
        </p:nvSpPr>
        <p:spPr>
          <a:xfrm>
            <a:off x="777240" y="1610686"/>
            <a:ext cx="9893718" cy="4630723"/>
          </a:xfrm>
          <a:prstGeom prst="rect">
            <a:avLst/>
          </a:prstGeom>
          <a:noFill/>
          <a:ln>
            <a:noFill/>
          </a:ln>
        </p:spPr>
        <p:txBody>
          <a:bodyPr spcFirstLastPara="1" wrap="square" lIns="91425" tIns="45700" rIns="91425" bIns="45700" anchor="t" anchorCtr="0">
            <a:noAutofit/>
          </a:bodyPr>
          <a:lstStyle/>
          <a:p>
            <a:pPr marL="511175" marR="0" lvl="0" indent="-511175" algn="l" rtl="0">
              <a:spcBef>
                <a:spcPts val="0"/>
              </a:spcBef>
              <a:spcAft>
                <a:spcPts val="600"/>
              </a:spcAft>
              <a:buClr>
                <a:srgbClr val="000000"/>
              </a:buClr>
              <a:buSzPct val="100000"/>
              <a:buFont typeface="Calibri"/>
              <a:buAutoNum type="arabicPeriod" startAt="6"/>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Determine whether each of the given statements is always, sometimes, or never true. Explain your reasoning.</a:t>
            </a:r>
          </a:p>
          <a:p>
            <a:pPr marL="1035050" lvl="1" indent="-514350">
              <a:buSzPct val="100000"/>
              <a:buFont typeface="+mj-lt"/>
              <a:buAutoNum type="alphaLcPeriod"/>
            </a:pPr>
            <a:r>
              <a:rPr lang="en-US" sz="2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All vertical lines are parallel.</a:t>
            </a:r>
            <a:br>
              <a:rPr lang="en-US" sz="2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br>
              <a:rPr lang="en-US" sz="2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endParaRPr lang="en-US" sz="2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1035050" lvl="1" indent="-514350">
              <a:buSzPct val="100000"/>
              <a:buFont typeface="+mj-lt"/>
              <a:buAutoNum type="alphaLcPeriod"/>
            </a:pPr>
            <a:r>
              <a:rPr lang="en-US" sz="2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All horizontal lines are parallel. </a:t>
            </a:r>
            <a:endParaRPr sz="2800" dirty="0">
              <a:latin typeface="Calibri" panose="020F0502020204030204" pitchFamily="34" charset="0"/>
              <a:ea typeface="Calibri" panose="020F0502020204030204" pitchFamily="34" charset="0"/>
              <a:cs typeface="Calibri" panose="020F0502020204030204" pitchFamily="34" charset="0"/>
            </a:endParaRPr>
          </a:p>
          <a:p>
            <a:pPr marL="457200" marR="0" lvl="0" indent="-304800" algn="l" rtl="0">
              <a:spcBef>
                <a:spcPts val="480"/>
              </a:spcBef>
              <a:spcAft>
                <a:spcPts val="0"/>
              </a:spcAft>
              <a:buClr>
                <a:schemeClr val="dk1"/>
              </a:buClr>
              <a:buSzPts val="2400"/>
              <a:buFont typeface="Arial"/>
              <a:buNone/>
            </a:pPr>
            <a:endParaRPr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spcBef>
                <a:spcPts val="480"/>
              </a:spcBef>
              <a:spcAft>
                <a:spcPts val="0"/>
              </a:spcAft>
              <a:buClr>
                <a:srgbClr val="000000"/>
              </a:buClr>
              <a:buSzPts val="2400"/>
              <a:buFont typeface="Arial"/>
              <a:buNone/>
            </a:pPr>
            <a:endParaRPr lang="en-US" sz="2800" dirty="0">
              <a:latin typeface="Calibri" panose="020F0502020204030204" pitchFamily="34" charset="0"/>
              <a:ea typeface="Calibri" panose="020F0502020204030204" pitchFamily="34" charset="0"/>
              <a:cs typeface="Calibri" panose="020F0502020204030204" pitchFamily="34" charset="0"/>
              <a:sym typeface="Calibri"/>
            </a:endParaRPr>
          </a:p>
          <a:p>
            <a:pPr marL="514350" marR="0" lvl="0" indent="-514350" algn="l" rtl="0">
              <a:spcBef>
                <a:spcPts val="480"/>
              </a:spcBef>
              <a:spcAft>
                <a:spcPts val="0"/>
              </a:spcAft>
              <a:buClr>
                <a:srgbClr val="000000"/>
              </a:buClr>
              <a:buSzPct val="100000"/>
              <a:buFont typeface="+mj-lt"/>
              <a:buAutoNum type="arabicPeriod" startAt="7"/>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Describe the relationship between any vertical line and any horizontal line.</a:t>
            </a:r>
            <a:endParaRPr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2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(5 of 7)</a:t>
            </a:r>
            <a:endParaRPr dirty="0">
              <a:solidFill>
                <a:schemeClr val="bg1"/>
              </a:solidFill>
            </a:endParaRPr>
          </a:p>
        </p:txBody>
      </p:sp>
      <p:sp>
        <p:nvSpPr>
          <p:cNvPr id="2" name="Google Shape;674;p26">
            <a:extLst>
              <a:ext uri="{FF2B5EF4-FFF2-40B4-BE49-F238E27FC236}">
                <a16:creationId xmlns:a16="http://schemas.microsoft.com/office/drawing/2014/main" id="{E9F5ADBA-90EE-8982-3AFE-26FE699D67DF}"/>
              </a:ext>
            </a:extLst>
          </p:cNvPr>
          <p:cNvSpPr txBox="1"/>
          <p:nvPr/>
        </p:nvSpPr>
        <p:spPr>
          <a:xfrm>
            <a:off x="777240" y="1610686"/>
            <a:ext cx="9893718" cy="4630723"/>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600"/>
              </a:spcAft>
              <a:buClr>
                <a:srgbClr val="000000"/>
              </a:buClr>
              <a:buSzPct val="100000"/>
              <a:buFont typeface="+mj-lt"/>
              <a:buAutoNum type="arabicPeriod" startAt="8"/>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Write an equation for a horizontal line and an equation for a vertical line that pass through the point (2, −</a:t>
            </a:r>
            <a:r>
              <a:rPr lang="en-US" sz="2800" dirty="0">
                <a:latin typeface="Calibri" panose="020F0502020204030204" pitchFamily="34" charset="0"/>
                <a:ea typeface="Calibri" panose="020F0502020204030204" pitchFamily="34" charset="0"/>
                <a:cs typeface="Calibri" panose="020F0502020204030204" pitchFamily="34" charset="0"/>
                <a:sym typeface="Calibri"/>
              </a:rPr>
              <a:t>1).</a:t>
            </a:r>
            <a:br>
              <a:rPr lang="en-US" sz="2800" dirty="0">
                <a:latin typeface="Calibri" panose="020F0502020204030204" pitchFamily="34" charset="0"/>
                <a:ea typeface="Calibri" panose="020F0502020204030204" pitchFamily="34" charset="0"/>
                <a:cs typeface="Calibri" panose="020F0502020204030204" pitchFamily="34" charset="0"/>
                <a:sym typeface="Calibri"/>
              </a:rPr>
            </a:br>
            <a:br>
              <a:rPr lang="en-US" sz="2800" dirty="0">
                <a:latin typeface="Calibri" panose="020F0502020204030204" pitchFamily="34" charset="0"/>
                <a:ea typeface="Calibri" panose="020F0502020204030204" pitchFamily="34" charset="0"/>
                <a:cs typeface="Calibri" panose="020F0502020204030204" pitchFamily="34" charset="0"/>
                <a:sym typeface="Calibri"/>
              </a:rPr>
            </a:br>
            <a:endParaRPr lang="en-US" sz="2800" dirty="0">
              <a:latin typeface="Calibri" panose="020F0502020204030204" pitchFamily="34" charset="0"/>
              <a:ea typeface="Calibri" panose="020F0502020204030204" pitchFamily="34" charset="0"/>
              <a:cs typeface="Calibri" panose="020F0502020204030204" pitchFamily="34" charset="0"/>
              <a:sym typeface="Calibri"/>
            </a:endParaRPr>
          </a:p>
          <a:p>
            <a:pPr marL="514350" marR="0" lvl="0" indent="-514350" algn="l" rtl="0">
              <a:spcBef>
                <a:spcPts val="0"/>
              </a:spcBef>
              <a:spcAft>
                <a:spcPts val="600"/>
              </a:spcAft>
              <a:buClr>
                <a:srgbClr val="000000"/>
              </a:buClr>
              <a:buSzPct val="100000"/>
              <a:buFont typeface="+mj-lt"/>
              <a:buAutoNum type="arabicPeriod" startAt="8"/>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Write an equation for a line that is perpendicular to the line given by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 5 and passes through the point (1, 0).</a:t>
            </a:r>
            <a:b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b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endPar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514350" marR="0" lvl="0" indent="-514350" algn="l" rtl="0">
              <a:spcBef>
                <a:spcPts val="0"/>
              </a:spcBef>
              <a:spcAft>
                <a:spcPts val="600"/>
              </a:spcAft>
              <a:buClr>
                <a:srgbClr val="000000"/>
              </a:buClr>
              <a:buSzPct val="100000"/>
              <a:buFont typeface="+mj-lt"/>
              <a:buAutoNum type="arabicPeriod" startAt="8"/>
            </a:pPr>
            <a:r>
              <a:rPr lang="en-US" sz="2800" dirty="0">
                <a:latin typeface="Calibri" panose="020F0502020204030204" pitchFamily="34" charset="0"/>
                <a:ea typeface="Calibri" panose="020F0502020204030204" pitchFamily="34" charset="0"/>
                <a:cs typeface="Calibri" panose="020F0502020204030204" pitchFamily="34" charset="0"/>
                <a:sym typeface="Calibri"/>
              </a:rPr>
              <a:t>Write an equation for a line that is perpendicular to the line given by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y</a:t>
            </a:r>
            <a:r>
              <a:rPr lang="en-US" sz="2800" dirty="0">
                <a:latin typeface="Calibri" panose="020F0502020204030204" pitchFamily="34" charset="0"/>
                <a:ea typeface="Calibri" panose="020F0502020204030204" pitchFamily="34" charset="0"/>
                <a:cs typeface="Calibri" panose="020F0502020204030204" pitchFamily="34" charset="0"/>
                <a:sym typeface="Calibri"/>
              </a:rPr>
              <a:t> = −2 and passes through the point (5, 6).</a:t>
            </a:r>
            <a:endParaRPr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2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(6 of 7)</a:t>
            </a:r>
            <a:endParaRPr dirty="0">
              <a:solidFill>
                <a:schemeClr val="bg1"/>
              </a:solidFill>
            </a:endParaRPr>
          </a:p>
        </p:txBody>
      </p:sp>
      <p:sp>
        <p:nvSpPr>
          <p:cNvPr id="688" name="Google Shape;688;p28"/>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a:solidFill>
                  <a:srgbClr val="000000"/>
                </a:solidFill>
                <a:latin typeface="Calibri"/>
                <a:ea typeface="Calibri"/>
                <a:cs typeface="Calibri"/>
                <a:sym typeface="Calibri"/>
              </a:rPr>
              <a:t>Let’s summarize our learning from Activity 3.2!</a:t>
            </a:r>
            <a:endParaRPr/>
          </a:p>
        </p:txBody>
      </p:sp>
      <p:pic>
        <p:nvPicPr>
          <p:cNvPr id="689" name="Google Shape;689;p28">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2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Horizontal and Vertical Lines </a:t>
            </a:r>
            <a:r>
              <a:rPr lang="en-US" sz="2000" b="1" dirty="0">
                <a:solidFill>
                  <a:schemeClr val="bg1"/>
                </a:solidFill>
              </a:rPr>
              <a:t>(7 of 7)</a:t>
            </a:r>
            <a:endParaRPr dirty="0">
              <a:solidFill>
                <a:schemeClr val="bg1"/>
              </a:solidFill>
            </a:endParaRPr>
          </a:p>
        </p:txBody>
      </p:sp>
      <p:sp>
        <p:nvSpPr>
          <p:cNvPr id="696" name="Google Shape;696;p29">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30"/>
          <p:cNvSpPr txBox="1">
            <a:spLocks noGrp="1"/>
          </p:cNvSpPr>
          <p:nvPr>
            <p:ph type="title" idx="4294967295"/>
          </p:nvPr>
        </p:nvSpPr>
        <p:spPr>
          <a:xfrm>
            <a:off x="838200" y="-343949"/>
            <a:ext cx="10514013" cy="343949"/>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Activity 3.3</a:t>
            </a:r>
            <a:endParaRPr sz="2000" dirty="0"/>
          </a:p>
        </p:txBody>
      </p:sp>
      <p:sp>
        <p:nvSpPr>
          <p:cNvPr id="703" name="Google Shape;703;p30" descr="15 to 20 minutes"/>
          <p:cNvSpPr txBox="1">
            <a:spLocks noGrp="1"/>
          </p:cNvSpPr>
          <p:nvPr>
            <p:ph type="body" idx="2"/>
          </p:nvPr>
        </p:nvSpPr>
        <p:spPr>
          <a:xfrm>
            <a:off x="10614990"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
        <p:nvSpPr>
          <p:cNvPr id="704" name="Google Shape;704;p30">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3.3</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3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Writing Equations of Perpendicular Lines </a:t>
            </a:r>
            <a:r>
              <a:rPr lang="en-US" sz="2000" b="1" dirty="0">
                <a:solidFill>
                  <a:schemeClr val="bg1"/>
                </a:solidFill>
              </a:rPr>
              <a:t>(1 of 5)</a:t>
            </a:r>
            <a:endParaRPr dirty="0">
              <a:solidFill>
                <a:schemeClr val="bg1"/>
              </a:solidFill>
            </a:endParaRPr>
          </a:p>
        </p:txBody>
      </p:sp>
      <p:sp>
        <p:nvSpPr>
          <p:cNvPr id="711" name="Google Shape;711;p31"/>
          <p:cNvSpPr txBox="1"/>
          <p:nvPr/>
        </p:nvSpPr>
        <p:spPr>
          <a:xfrm>
            <a:off x="777240" y="1610687"/>
            <a:ext cx="2066628" cy="3238150"/>
          </a:xfrm>
          <a:prstGeom prst="rect">
            <a:avLst/>
          </a:prstGeom>
          <a:noFill/>
          <a:ln w="38100" cap="flat" cmpd="sng">
            <a:solidFill>
              <a:srgbClr val="2B8147"/>
            </a:solidFill>
            <a:prstDash val="sysDot"/>
            <a:round/>
            <a:headEnd type="none" w="sm" len="sm"/>
            <a:tailEnd type="none" w="sm" len="sm"/>
          </a:ln>
        </p:spPr>
        <p:txBody>
          <a:bodyPr spcFirstLastPara="1" wrap="square" lIns="182875" tIns="45700" rIns="91425" bIns="45700" anchor="ctr" anchorCtr="0">
            <a:noAutofit/>
          </a:bodyPr>
          <a:lstStyle/>
          <a:p>
            <a:pPr marL="0" marR="0" lvl="0" indent="0" algn="l" rtl="0">
              <a:spcBef>
                <a:spcPts val="0"/>
              </a:spcBef>
              <a:spcAft>
                <a:spcPts val="0"/>
              </a:spcAft>
              <a:buNone/>
            </a:pPr>
            <a:r>
              <a:rPr lang="en-US" sz="2000" b="1" dirty="0">
                <a:solidFill>
                  <a:srgbClr val="2B8147"/>
                </a:solidFill>
                <a:latin typeface="Calibri"/>
                <a:ea typeface="Calibri"/>
                <a:cs typeface="Calibri"/>
                <a:sym typeface="Calibri"/>
              </a:rPr>
              <a:t>Remember…</a:t>
            </a:r>
            <a:br>
              <a:rPr lang="en-US" sz="2000" b="1" dirty="0">
                <a:solidFill>
                  <a:srgbClr val="2B8147"/>
                </a:solidFill>
                <a:latin typeface="Calibri"/>
                <a:ea typeface="Calibri"/>
                <a:cs typeface="Calibri"/>
                <a:sym typeface="Calibri"/>
              </a:rPr>
            </a:br>
            <a:r>
              <a:rPr lang="en-US" sz="2000" dirty="0">
                <a:solidFill>
                  <a:srgbClr val="000000"/>
                </a:solidFill>
                <a:latin typeface="Calibri"/>
                <a:ea typeface="Calibri"/>
                <a:cs typeface="Calibri"/>
                <a:sym typeface="Calibri"/>
              </a:rPr>
              <a:t>You can use point-slope form to write an equation for any line when you know its slope and one point on that line.</a:t>
            </a:r>
            <a:endParaRPr dirty="0"/>
          </a:p>
        </p:txBody>
      </p:sp>
      <p:sp>
        <p:nvSpPr>
          <p:cNvPr id="2" name="TextBox 1">
            <a:extLst>
              <a:ext uri="{FF2B5EF4-FFF2-40B4-BE49-F238E27FC236}">
                <a16:creationId xmlns:a16="http://schemas.microsoft.com/office/drawing/2014/main" id="{861E244E-935E-04EA-774F-6E0250DB771D}"/>
              </a:ext>
            </a:extLst>
          </p:cNvPr>
          <p:cNvSpPr txBox="1"/>
          <p:nvPr/>
        </p:nvSpPr>
        <p:spPr>
          <a:xfrm>
            <a:off x="3355596" y="1610687"/>
            <a:ext cx="7784984" cy="3416320"/>
          </a:xfrm>
          <a:prstGeom prst="rect">
            <a:avLst/>
          </a:prstGeom>
          <a:noFill/>
        </p:spPr>
        <p:txBody>
          <a:bodyPr wrap="square" rtlCol="0">
            <a:spAutoFit/>
          </a:bodyPr>
          <a:lstStyle/>
          <a:p>
            <a:pPr algn="l">
              <a:spcAft>
                <a:spcPts val="2400"/>
              </a:spcAft>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In a previous lesson, you wrote the equation of a line parallel to a given line that passes through a given point. You can write the equation of a perpendicular line using what you know about the slope of that line and any point on that line.</a:t>
            </a:r>
          </a:p>
          <a:p>
            <a:pPr marL="514350" indent="-514350" algn="l">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Write the equation of the line perpendicular to</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i="1" dirty="0">
                <a:latin typeface="Calibri" panose="020F0502020204030204" pitchFamily="34" charset="0"/>
                <a:ea typeface="Calibri" panose="020F0502020204030204" pitchFamily="34" charset="0"/>
                <a:cs typeface="Calibri" panose="020F0502020204030204" pitchFamily="34" charset="0"/>
              </a:rPr>
              <a:t>y</a:t>
            </a:r>
            <a:r>
              <a:rPr lang="en-US" sz="2800" dirty="0">
                <a:latin typeface="Calibri" panose="020F0502020204030204" pitchFamily="34" charset="0"/>
                <a:ea typeface="Calibri" panose="020F0502020204030204" pitchFamily="34" charset="0"/>
                <a:cs typeface="Calibri" panose="020F0502020204030204" pitchFamily="34" charset="0"/>
              </a:rPr>
              <a:t> = 2</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+ 1 that passes through the point (6, 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3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Writing Equations of Perpendicular Lines </a:t>
            </a:r>
            <a:r>
              <a:rPr lang="en-US" sz="2000" b="1" dirty="0">
                <a:solidFill>
                  <a:schemeClr val="bg1"/>
                </a:solidFill>
              </a:rPr>
              <a:t>(2 of 5)</a:t>
            </a:r>
            <a:endParaRPr dirty="0">
              <a:solidFill>
                <a:schemeClr val="bg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5272E0E-17F8-AAC0-34F8-8CF8A361F09D}"/>
                  </a:ext>
                </a:extLst>
              </p:cNvPr>
              <p:cNvSpPr txBox="1"/>
              <p:nvPr/>
            </p:nvSpPr>
            <p:spPr>
              <a:xfrm>
                <a:off x="777240" y="1610687"/>
                <a:ext cx="9893556" cy="3717813"/>
              </a:xfrm>
              <a:prstGeom prst="rect">
                <a:avLst/>
              </a:prstGeom>
              <a:noFill/>
            </p:spPr>
            <p:txBody>
              <a:bodyPr wrap="square" rtlCol="0">
                <a:spAutoFit/>
              </a:bodyPr>
              <a:lstStyle/>
              <a:p>
                <a:pPr marL="514350" indent="-514350" algn="l">
                  <a:buFont typeface="+mj-lt"/>
                  <a:buAutoNum type="arabicPeriod" startAt="2"/>
                </a:pPr>
                <a:r>
                  <a:rPr lang="en-US" sz="2800" dirty="0">
                    <a:latin typeface="Calibri" panose="020F0502020204030204" pitchFamily="34" charset="0"/>
                    <a:ea typeface="Calibri" panose="020F0502020204030204" pitchFamily="34" charset="0"/>
                    <a:cs typeface="Calibri" panose="020F0502020204030204" pitchFamily="34" charset="0"/>
                  </a:rPr>
                  <a:t>Write the equation of the line perpendicular to </a:t>
                </a:r>
                <a:r>
                  <a:rPr lang="en-US" sz="2800" i="1" dirty="0">
                    <a:latin typeface="Calibri" panose="020F0502020204030204" pitchFamily="34" charset="0"/>
                    <a:ea typeface="Calibri" panose="020F0502020204030204" pitchFamily="34" charset="0"/>
                    <a:cs typeface="Calibri" panose="020F0502020204030204" pitchFamily="34" charset="0"/>
                  </a:rPr>
                  <a:t>y</a:t>
                </a:r>
                <a:r>
                  <a:rPr lang="en-US" sz="28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a:rPr lang="en-US" sz="2800" b="0" i="0" dirty="0" smtClean="0">
                        <a:latin typeface="Cambria Math" panose="02040503050406030204" pitchFamily="18" charset="0"/>
                        <a:ea typeface="Calibri" panose="020F0502020204030204" pitchFamily="34" charset="0"/>
                        <a:cs typeface="Calibri" panose="020F0502020204030204" pitchFamily="34" charset="0"/>
                      </a:rPr>
                      <m:t>−</m:t>
                    </m:r>
                    <m:f>
                      <m:fPr>
                        <m:ctrlPr>
                          <a:rPr lang="en-US" sz="2800" i="1" dirty="0"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dirty="0" smtClean="0">
                            <a:latin typeface="Cambria Math" panose="02040503050406030204" pitchFamily="18" charset="0"/>
                            <a:ea typeface="Calibri" panose="020F0502020204030204" pitchFamily="34" charset="0"/>
                            <a:cs typeface="Calibri" panose="020F0502020204030204" pitchFamily="34" charset="0"/>
                          </a:rPr>
                          <m:t>3</m:t>
                        </m:r>
                      </m:num>
                      <m:den>
                        <m:r>
                          <a:rPr lang="en-US" sz="2800" b="0" i="1" dirty="0" smtClean="0">
                            <a:latin typeface="Cambria Math" panose="02040503050406030204" pitchFamily="18" charset="0"/>
                            <a:ea typeface="Calibri" panose="020F0502020204030204" pitchFamily="34" charset="0"/>
                            <a:cs typeface="Calibri" panose="020F0502020204030204" pitchFamily="34" charset="0"/>
                          </a:rPr>
                          <m:t>4</m:t>
                        </m:r>
                      </m:den>
                    </m:f>
                  </m:oMath>
                </a14:m>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that passes through the point (3, −8).</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514350" indent="-514350" algn="l">
                  <a:buFont typeface="+mj-lt"/>
                  <a:buAutoNum type="arabicPeriod" startAt="2"/>
                </a:pPr>
                <a:r>
                  <a:rPr lang="en-US" sz="2800" dirty="0">
                    <a:latin typeface="Calibri" panose="020F0502020204030204" pitchFamily="34" charset="0"/>
                    <a:ea typeface="Calibri" panose="020F0502020204030204" pitchFamily="34" charset="0"/>
                    <a:cs typeface="Calibri" panose="020F0502020204030204" pitchFamily="34" charset="0"/>
                  </a:rPr>
                  <a:t>Write the equation of the line that passes through the point</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(6, 2) and is perpendicular to a line that passes through the points (−5, 3) and (−1, −9).</a:t>
                </a:r>
              </a:p>
            </p:txBody>
          </p:sp>
        </mc:Choice>
        <mc:Fallback xmlns="">
          <p:sp>
            <p:nvSpPr>
              <p:cNvPr id="2" name="TextBox 1">
                <a:extLst>
                  <a:ext uri="{FF2B5EF4-FFF2-40B4-BE49-F238E27FC236}">
                    <a16:creationId xmlns:a16="http://schemas.microsoft.com/office/drawing/2014/main" id="{F5272E0E-17F8-AAC0-34F8-8CF8A361F09D}"/>
                  </a:ext>
                </a:extLst>
              </p:cNvPr>
              <p:cNvSpPr txBox="1">
                <a:spLocks noRot="1" noChangeAspect="1" noMove="1" noResize="1" noEditPoints="1" noAdjustHandles="1" noChangeArrowheads="1" noChangeShapeType="1" noTextEdit="1"/>
              </p:cNvSpPr>
              <p:nvPr/>
            </p:nvSpPr>
            <p:spPr>
              <a:xfrm>
                <a:off x="777240" y="1610687"/>
                <a:ext cx="9893556" cy="3717813"/>
              </a:xfrm>
              <a:prstGeom prst="rect">
                <a:avLst/>
              </a:prstGeom>
              <a:blipFill>
                <a:blip r:embed="rId3"/>
                <a:stretch>
                  <a:fillRect l="-1295" b="-3770"/>
                </a:stretch>
              </a:blipFill>
            </p:spPr>
            <p:txBody>
              <a:bodyPr/>
              <a:lstStyle/>
              <a:p>
                <a:r>
                  <a:rPr 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3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Writing Equations of Perpendicular Lines </a:t>
            </a:r>
            <a:r>
              <a:rPr lang="en-US" sz="2000" b="1" dirty="0">
                <a:solidFill>
                  <a:schemeClr val="bg1"/>
                </a:solidFill>
              </a:rPr>
              <a:t>(3 of 5)</a:t>
            </a:r>
            <a:endParaRPr dirty="0">
              <a:solidFill>
                <a:schemeClr val="bg1"/>
              </a:solidFill>
            </a:endParaRPr>
          </a:p>
        </p:txBody>
      </p:sp>
      <p:sp>
        <p:nvSpPr>
          <p:cNvPr id="2" name="TextBox 1">
            <a:extLst>
              <a:ext uri="{FF2B5EF4-FFF2-40B4-BE49-F238E27FC236}">
                <a16:creationId xmlns:a16="http://schemas.microsoft.com/office/drawing/2014/main" id="{3C76E7D4-8B87-DDE5-9FD9-1F40778747F6}"/>
              </a:ext>
            </a:extLst>
          </p:cNvPr>
          <p:cNvSpPr txBox="1"/>
          <p:nvPr/>
        </p:nvSpPr>
        <p:spPr>
          <a:xfrm>
            <a:off x="777240" y="1610687"/>
            <a:ext cx="9893556" cy="3970318"/>
          </a:xfrm>
          <a:prstGeom prst="rect">
            <a:avLst/>
          </a:prstGeom>
          <a:noFill/>
        </p:spPr>
        <p:txBody>
          <a:bodyPr wrap="square" rtlCol="0">
            <a:spAutoFit/>
          </a:bodyPr>
          <a:lstStyle/>
          <a:p>
            <a:pPr marL="514350" indent="-514350" algn="l">
              <a:buFont typeface="+mj-lt"/>
              <a:buAutoNum type="arabicPeriod" startAt="4"/>
            </a:pPr>
            <a:r>
              <a:rPr lang="en-US" sz="2800" dirty="0">
                <a:latin typeface="Calibri" panose="020F0502020204030204" pitchFamily="34" charset="0"/>
                <a:ea typeface="Calibri" panose="020F0502020204030204" pitchFamily="34" charset="0"/>
                <a:cs typeface="Calibri" panose="020F0502020204030204" pitchFamily="34" charset="0"/>
              </a:rPr>
              <a:t>Write the equation of a line that passes through the point</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(−2, 7) and is perpendicular to a line that passes through the points (−6, 1) and (0, 4).</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514350" indent="-514350" algn="l">
              <a:buFont typeface="+mj-lt"/>
              <a:buAutoNum type="arabicPeriod" startAt="4"/>
            </a:pPr>
            <a:r>
              <a:rPr lang="en-US" sz="2800" dirty="0">
                <a:latin typeface="Calibri" panose="020F0502020204030204" pitchFamily="34" charset="0"/>
                <a:ea typeface="Calibri" panose="020F0502020204030204" pitchFamily="34" charset="0"/>
                <a:cs typeface="Calibri" panose="020F0502020204030204" pitchFamily="34" charset="0"/>
              </a:rPr>
              <a:t>A pair of perpendicular lines intersect at the point (5, 9). Write the equation of the line that is perpendicular to the line that also passes through point (−4, 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3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Writing Equations of Perpendicular Lines </a:t>
            </a:r>
            <a:r>
              <a:rPr lang="en-US" sz="2000" b="1" dirty="0">
                <a:solidFill>
                  <a:schemeClr val="bg1"/>
                </a:solidFill>
              </a:rPr>
              <a:t>(4 of 5)</a:t>
            </a:r>
            <a:endParaRPr dirty="0">
              <a:solidFill>
                <a:schemeClr val="bg1"/>
              </a:solidFill>
            </a:endParaRPr>
          </a:p>
        </p:txBody>
      </p:sp>
      <p:sp>
        <p:nvSpPr>
          <p:cNvPr id="733" name="Google Shape;733;p34"/>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a:solidFill>
                  <a:srgbClr val="000000"/>
                </a:solidFill>
                <a:latin typeface="Calibri"/>
                <a:ea typeface="Calibri"/>
                <a:cs typeface="Calibri"/>
                <a:sym typeface="Calibri"/>
              </a:rPr>
              <a:t>Let’s summarize our learning from Activity 3.3!</a:t>
            </a:r>
            <a:endParaRPr/>
          </a:p>
        </p:txBody>
      </p:sp>
      <p:pic>
        <p:nvPicPr>
          <p:cNvPr id="734" name="Google Shape;734;p34">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299857" y="372494"/>
            <a:ext cx="1501270" cy="51820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3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Writing Equations of Perpendicular Lines </a:t>
            </a:r>
            <a:r>
              <a:rPr lang="en-US" sz="2000" b="1" dirty="0">
                <a:solidFill>
                  <a:schemeClr val="bg1"/>
                </a:solidFill>
              </a:rPr>
              <a:t>(5 of 5)</a:t>
            </a:r>
            <a:endParaRPr dirty="0">
              <a:solidFill>
                <a:schemeClr val="bg1"/>
              </a:solidFill>
            </a:endParaRPr>
          </a:p>
        </p:txBody>
      </p:sp>
      <p:sp>
        <p:nvSpPr>
          <p:cNvPr id="741" name="Google Shape;741;p35">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36"/>
          <p:cNvSpPr txBox="1">
            <a:spLocks noGrp="1"/>
          </p:cNvSpPr>
          <p:nvPr>
            <p:ph type="title" idx="4294967295"/>
          </p:nvPr>
        </p:nvSpPr>
        <p:spPr>
          <a:xfrm>
            <a:off x="838200" y="-343949"/>
            <a:ext cx="10514013" cy="343949"/>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Talk the Talk</a:t>
            </a:r>
            <a:endParaRPr sz="2000" dirty="0"/>
          </a:p>
        </p:txBody>
      </p:sp>
      <p:sp>
        <p:nvSpPr>
          <p:cNvPr id="748" name="Google Shape;748;p36" descr="5 minutes"/>
          <p:cNvSpPr txBox="1">
            <a:spLocks noGrp="1"/>
          </p:cNvSpPr>
          <p:nvPr>
            <p:ph type="body" idx="1"/>
          </p:nvPr>
        </p:nvSpPr>
        <p:spPr>
          <a:xfrm>
            <a:off x="10614990"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5</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3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Things Aren’t Always What They Seem </a:t>
            </a:r>
            <a:r>
              <a:rPr lang="en-US" sz="2000" b="1" dirty="0">
                <a:solidFill>
                  <a:schemeClr val="bg1"/>
                </a:solidFill>
              </a:rPr>
              <a:t>(1 of 4) </a:t>
            </a:r>
            <a:endParaRPr dirty="0">
              <a:solidFill>
                <a:schemeClr val="bg1"/>
              </a:solidFill>
            </a:endParaRPr>
          </a:p>
        </p:txBody>
      </p:sp>
      <p:sp>
        <p:nvSpPr>
          <p:cNvPr id="755" name="Google Shape;755;p37"/>
          <p:cNvSpPr txBox="1"/>
          <p:nvPr/>
        </p:nvSpPr>
        <p:spPr>
          <a:xfrm>
            <a:off x="777240" y="1616150"/>
            <a:ext cx="9887216" cy="758986"/>
          </a:xfrm>
          <a:prstGeom prst="rect">
            <a:avLst/>
          </a:prstGeom>
          <a:noFill/>
          <a:ln>
            <a:noFill/>
          </a:ln>
        </p:spPr>
        <p:txBody>
          <a:bodyPr spcFirstLastPara="1" wrap="square" lIns="91425" tIns="45700" rIns="91425" bIns="45700" anchor="t" anchorCtr="0">
            <a:noAutofit/>
          </a:bodyPr>
          <a:lstStyle/>
          <a:p>
            <a:pPr marR="0" lvl="0" algn="l" rtl="0">
              <a:spcBef>
                <a:spcPts val="0"/>
              </a:spcBef>
              <a:spcAft>
                <a:spcPts val="0"/>
              </a:spcAft>
              <a:buClr>
                <a:srgbClr val="000000"/>
              </a:buClr>
              <a:buSzPts val="2800"/>
            </a:pPr>
            <a:r>
              <a:rPr lang="en-US" sz="2800" dirty="0">
                <a:solidFill>
                  <a:srgbClr val="000000"/>
                </a:solidFill>
                <a:latin typeface="Calibri"/>
                <a:ea typeface="Calibri"/>
                <a:cs typeface="Calibri"/>
                <a:sym typeface="Calibri"/>
              </a:rPr>
              <a:t>Consider the graphs of six linear equations shown.</a:t>
            </a:r>
            <a:endParaRPr sz="2800" b="0" i="0" u="none" strike="noStrike"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b="0" i="0" u="none" strike="noStrike" dirty="0">
              <a:solidFill>
                <a:srgbClr val="3A3838"/>
              </a:solidFill>
              <a:latin typeface="Calibri"/>
              <a:ea typeface="Calibri"/>
              <a:cs typeface="Calibri"/>
              <a:sym typeface="Calibri"/>
            </a:endParaRPr>
          </a:p>
          <a:p>
            <a:pPr marL="0" marR="0" lvl="0" indent="0" algn="ctr" rtl="0">
              <a:spcBef>
                <a:spcPts val="560"/>
              </a:spcBef>
              <a:spcAft>
                <a:spcPts val="0"/>
              </a:spcAft>
              <a:buClr>
                <a:schemeClr val="dk1"/>
              </a:buClr>
              <a:buSzPts val="2800"/>
              <a:buFont typeface="Arial"/>
              <a:buNone/>
            </a:pPr>
            <a:endParaRPr sz="2800" dirty="0">
              <a:solidFill>
                <a:srgbClr val="3A3838"/>
              </a:solidFill>
              <a:latin typeface="Calibri"/>
              <a:ea typeface="Calibri"/>
              <a:cs typeface="Calibri"/>
              <a:sym typeface="Calibri"/>
            </a:endParaRPr>
          </a:p>
        </p:txBody>
      </p:sp>
      <p:pic>
        <p:nvPicPr>
          <p:cNvPr id="756" name="Google Shape;756;p37" descr="A graph of 6 lines on the coordinate plane. Lines a, b, and c rise from left to right. Line a rises through points (0, 4) and (1, 5). Line b rises through points (0, 0) and (1, 1). Line c rises through points (0, negative 4) and (1, negative 3). Lines d, e, and f fall from left to right. Line d falls through the points (0, negative 2) and (4, negative 3). Line e falls through the points (0, 0) and (4, negative 1). Line f falls through the points (0, 2) and (4, 1)."/>
          <p:cNvPicPr>
            <a:picLocks noChangeAspect="1"/>
          </p:cNvPicPr>
          <p:nvPr/>
        </p:nvPicPr>
        <p:blipFill rotWithShape="1">
          <a:blip r:embed="rId3">
            <a:alphaModFix/>
          </a:blip>
          <a:srcRect/>
          <a:stretch/>
        </p:blipFill>
        <p:spPr>
          <a:xfrm>
            <a:off x="2515364" y="2375136"/>
            <a:ext cx="4295996" cy="4153113"/>
          </a:xfrm>
          <a:prstGeom prst="rect">
            <a:avLst/>
          </a:prstGeom>
          <a:noFill/>
          <a:ln>
            <a:noFill/>
          </a:ln>
        </p:spPr>
      </p:pic>
      <p:pic>
        <p:nvPicPr>
          <p:cNvPr id="3" name="Picture 2" descr="Problem solving has 5 steps. Notice, organize, analyze, interpret, and report. Interpreting may also lead back to organizing.">
            <a:extLst>
              <a:ext uri="{FF2B5EF4-FFF2-40B4-BE49-F238E27FC236}">
                <a16:creationId xmlns:a16="http://schemas.microsoft.com/office/drawing/2014/main" id="{C2321507-D021-AF1D-AAB2-A2DC1BE8E5E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85413" y="1699437"/>
            <a:ext cx="1779043" cy="264665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3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Things Aren’t Always What They Seem </a:t>
            </a:r>
            <a:r>
              <a:rPr lang="en-US" sz="2000" b="1" dirty="0">
                <a:solidFill>
                  <a:schemeClr val="bg1"/>
                </a:solidFill>
              </a:rPr>
              <a:t>(2 of 4) </a:t>
            </a:r>
            <a:endParaRPr dirty="0">
              <a:solidFill>
                <a:schemeClr val="bg1"/>
              </a:solidFill>
            </a:endParaRPr>
          </a:p>
        </p:txBody>
      </p:sp>
      <p:pic>
        <p:nvPicPr>
          <p:cNvPr id="765" name="Google Shape;765;p38">
            <a:extLst>
              <a:ext uri="{C183D7F6-B498-43B3-948B-1728B52AA6E4}">
                <adec:decorative xmlns:adec="http://schemas.microsoft.com/office/drawing/2017/decorative" val="1"/>
              </a:ext>
            </a:extLst>
          </p:cNvPr>
          <p:cNvPicPr>
            <a:picLocks noChangeAspect="1"/>
          </p:cNvPicPr>
          <p:nvPr/>
        </p:nvPicPr>
        <p:blipFill rotWithShape="1">
          <a:blip r:embed="rId3">
            <a:alphaModFix/>
          </a:blip>
          <a:srcRect/>
          <a:stretch/>
        </p:blipFill>
        <p:spPr>
          <a:xfrm>
            <a:off x="1896824" y="1430124"/>
            <a:ext cx="8396764" cy="5207794"/>
          </a:xfrm>
          <a:prstGeom prst="rect">
            <a:avLst/>
          </a:prstGeom>
          <a:noFill/>
          <a:ln>
            <a:noFill/>
          </a:ln>
        </p:spPr>
      </p:pic>
      <p:sp>
        <p:nvSpPr>
          <p:cNvPr id="2" name="Google Shape;755;p37">
            <a:extLst>
              <a:ext uri="{FF2B5EF4-FFF2-40B4-BE49-F238E27FC236}">
                <a16:creationId xmlns:a16="http://schemas.microsoft.com/office/drawing/2014/main" id="{1A64683F-2A01-144C-C564-B319873FECE9}"/>
              </a:ext>
            </a:extLst>
          </p:cNvPr>
          <p:cNvSpPr txBox="1"/>
          <p:nvPr/>
        </p:nvSpPr>
        <p:spPr>
          <a:xfrm>
            <a:off x="3221373" y="1934932"/>
            <a:ext cx="6484690" cy="4012862"/>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0"/>
              </a:spcAft>
              <a:buClr>
                <a:srgbClr val="000000"/>
              </a:buClr>
              <a:buSzPts val="2800"/>
              <a:buFont typeface="+mj-lt"/>
              <a:buAutoNum type="arabicPeriod"/>
            </a:pPr>
            <a:r>
              <a:rPr lang="en-US" sz="2800" dirty="0">
                <a:solidFill>
                  <a:srgbClr val="000000"/>
                </a:solidFill>
                <a:latin typeface="Calibri"/>
                <a:ea typeface="Calibri"/>
                <a:cs typeface="Calibri"/>
                <a:sym typeface="Calibri"/>
              </a:rPr>
              <a:t>Linh says lines </a:t>
            </a:r>
            <a:r>
              <a:rPr lang="en-US" sz="2800" i="1" dirty="0">
                <a:solidFill>
                  <a:srgbClr val="000000"/>
                </a:solidFill>
                <a:latin typeface="Calibri"/>
                <a:ea typeface="Calibri"/>
                <a:cs typeface="Calibri"/>
                <a:sym typeface="Calibri"/>
              </a:rPr>
              <a:t>a</a:t>
            </a:r>
            <a:r>
              <a:rPr lang="en-US" sz="2800" dirty="0">
                <a:solidFill>
                  <a:srgbClr val="000000"/>
                </a:solidFill>
                <a:latin typeface="Calibri"/>
                <a:ea typeface="Calibri"/>
                <a:cs typeface="Calibri"/>
                <a:sym typeface="Calibri"/>
              </a:rPr>
              <a:t>, </a:t>
            </a:r>
            <a:r>
              <a:rPr lang="en-US" sz="2800" i="1" dirty="0">
                <a:solidFill>
                  <a:srgbClr val="000000"/>
                </a:solidFill>
                <a:latin typeface="Calibri"/>
                <a:ea typeface="Calibri"/>
                <a:cs typeface="Calibri"/>
                <a:sym typeface="Calibri"/>
              </a:rPr>
              <a:t>b</a:t>
            </a:r>
            <a:r>
              <a:rPr lang="en-US" sz="2800" dirty="0">
                <a:solidFill>
                  <a:srgbClr val="000000"/>
                </a:solidFill>
                <a:latin typeface="Calibri"/>
                <a:ea typeface="Calibri"/>
                <a:cs typeface="Calibri"/>
                <a:sym typeface="Calibri"/>
              </a:rPr>
              <a:t>, and </a:t>
            </a:r>
            <a:r>
              <a:rPr lang="en-US" sz="2800" i="1" dirty="0">
                <a:solidFill>
                  <a:srgbClr val="000000"/>
                </a:solidFill>
                <a:latin typeface="Calibri"/>
                <a:ea typeface="Calibri"/>
                <a:cs typeface="Calibri"/>
                <a:sym typeface="Calibri"/>
              </a:rPr>
              <a:t>c</a:t>
            </a:r>
            <a:r>
              <a:rPr lang="en-US" sz="2800" dirty="0">
                <a:solidFill>
                  <a:srgbClr val="000000"/>
                </a:solidFill>
                <a:latin typeface="Calibri"/>
                <a:ea typeface="Calibri"/>
                <a:cs typeface="Calibri"/>
                <a:sym typeface="Calibri"/>
              </a:rPr>
              <a:t> are parallel</a:t>
            </a:r>
            <a:br>
              <a:rPr lang="en-US" sz="2800" dirty="0">
                <a:solidFill>
                  <a:srgbClr val="000000"/>
                </a:solidFill>
                <a:latin typeface="Calibri"/>
                <a:ea typeface="Calibri"/>
                <a:cs typeface="Calibri"/>
                <a:sym typeface="Calibri"/>
              </a:rPr>
            </a:br>
            <a:r>
              <a:rPr lang="en-US" sz="2800" dirty="0">
                <a:solidFill>
                  <a:srgbClr val="000000"/>
                </a:solidFill>
                <a:latin typeface="Calibri"/>
                <a:ea typeface="Calibri"/>
                <a:cs typeface="Calibri"/>
                <a:sym typeface="Calibri"/>
              </a:rPr>
              <a:t>to each other and perpendicular</a:t>
            </a:r>
            <a:br>
              <a:rPr lang="en-US" sz="2800" dirty="0">
                <a:solidFill>
                  <a:srgbClr val="000000"/>
                </a:solidFill>
                <a:latin typeface="Calibri"/>
                <a:ea typeface="Calibri"/>
                <a:cs typeface="Calibri"/>
                <a:sym typeface="Calibri"/>
              </a:rPr>
            </a:br>
            <a:r>
              <a:rPr lang="en-US" sz="2800" dirty="0">
                <a:solidFill>
                  <a:srgbClr val="000000"/>
                </a:solidFill>
                <a:latin typeface="Calibri"/>
                <a:ea typeface="Calibri"/>
                <a:cs typeface="Calibri"/>
                <a:sym typeface="Calibri"/>
              </a:rPr>
              <a:t>to lines </a:t>
            </a:r>
            <a:r>
              <a:rPr lang="en-US" sz="2800" i="1" dirty="0">
                <a:solidFill>
                  <a:srgbClr val="000000"/>
                </a:solidFill>
                <a:latin typeface="Calibri"/>
                <a:ea typeface="Calibri"/>
                <a:cs typeface="Calibri"/>
                <a:sym typeface="Calibri"/>
              </a:rPr>
              <a:t>d</a:t>
            </a:r>
            <a:r>
              <a:rPr lang="en-US" sz="2800" dirty="0">
                <a:solidFill>
                  <a:srgbClr val="000000"/>
                </a:solidFill>
                <a:latin typeface="Calibri"/>
                <a:ea typeface="Calibri"/>
                <a:cs typeface="Calibri"/>
                <a:sym typeface="Calibri"/>
              </a:rPr>
              <a:t>, </a:t>
            </a:r>
            <a:r>
              <a:rPr lang="en-US" sz="2800" i="1" dirty="0">
                <a:solidFill>
                  <a:srgbClr val="000000"/>
                </a:solidFill>
                <a:latin typeface="Calibri"/>
                <a:ea typeface="Calibri"/>
                <a:cs typeface="Calibri"/>
                <a:sym typeface="Calibri"/>
              </a:rPr>
              <a:t>e</a:t>
            </a:r>
            <a:r>
              <a:rPr lang="en-US" sz="2800" dirty="0">
                <a:solidFill>
                  <a:srgbClr val="000000"/>
                </a:solidFill>
                <a:latin typeface="Calibri"/>
                <a:ea typeface="Calibri"/>
                <a:cs typeface="Calibri"/>
                <a:sym typeface="Calibri"/>
              </a:rPr>
              <a:t>, and </a:t>
            </a:r>
            <a:r>
              <a:rPr lang="en-US" sz="2800" i="1" dirty="0">
                <a:solidFill>
                  <a:srgbClr val="000000"/>
                </a:solidFill>
                <a:latin typeface="Calibri"/>
                <a:ea typeface="Calibri"/>
                <a:cs typeface="Calibri"/>
                <a:sym typeface="Calibri"/>
              </a:rPr>
              <a:t>f</a:t>
            </a:r>
            <a:r>
              <a:rPr lang="en-US" sz="2800" dirty="0">
                <a:solidFill>
                  <a:srgbClr val="000000"/>
                </a:solidFill>
                <a:latin typeface="Calibri"/>
                <a:ea typeface="Calibri"/>
                <a:cs typeface="Calibri"/>
                <a:sym typeface="Calibri"/>
              </a:rPr>
              <a:t>. Jackson agrees</a:t>
            </a:r>
            <a:br>
              <a:rPr lang="en-US" sz="2800" dirty="0">
                <a:solidFill>
                  <a:srgbClr val="000000"/>
                </a:solidFill>
                <a:latin typeface="Calibri"/>
                <a:ea typeface="Calibri"/>
                <a:cs typeface="Calibri"/>
                <a:sym typeface="Calibri"/>
              </a:rPr>
            </a:br>
            <a:r>
              <a:rPr lang="en-US" sz="2800" dirty="0">
                <a:solidFill>
                  <a:srgbClr val="000000"/>
                </a:solidFill>
                <a:latin typeface="Calibri"/>
                <a:ea typeface="Calibri"/>
                <a:cs typeface="Calibri"/>
                <a:sym typeface="Calibri"/>
              </a:rPr>
              <a:t>that lines </a:t>
            </a:r>
            <a:r>
              <a:rPr lang="en-US" sz="2800" i="1" dirty="0">
                <a:solidFill>
                  <a:srgbClr val="000000"/>
                </a:solidFill>
                <a:latin typeface="Calibri"/>
                <a:ea typeface="Calibri"/>
                <a:cs typeface="Calibri"/>
                <a:sym typeface="Calibri"/>
              </a:rPr>
              <a:t>a</a:t>
            </a:r>
            <a:r>
              <a:rPr lang="en-US" sz="2800" dirty="0">
                <a:solidFill>
                  <a:srgbClr val="000000"/>
                </a:solidFill>
                <a:latin typeface="Calibri"/>
                <a:ea typeface="Calibri"/>
                <a:cs typeface="Calibri"/>
                <a:sym typeface="Calibri"/>
              </a:rPr>
              <a:t>, </a:t>
            </a:r>
            <a:r>
              <a:rPr lang="en-US" sz="2800" i="1" dirty="0">
                <a:solidFill>
                  <a:srgbClr val="000000"/>
                </a:solidFill>
                <a:latin typeface="Calibri"/>
                <a:ea typeface="Calibri"/>
                <a:cs typeface="Calibri"/>
                <a:sym typeface="Calibri"/>
              </a:rPr>
              <a:t>b</a:t>
            </a:r>
            <a:r>
              <a:rPr lang="en-US" sz="2800" dirty="0">
                <a:solidFill>
                  <a:srgbClr val="000000"/>
                </a:solidFill>
                <a:latin typeface="Calibri"/>
                <a:ea typeface="Calibri"/>
                <a:cs typeface="Calibri"/>
                <a:sym typeface="Calibri"/>
              </a:rPr>
              <a:t>, and </a:t>
            </a:r>
            <a:r>
              <a:rPr lang="en-US" sz="2800" i="1" dirty="0">
                <a:solidFill>
                  <a:srgbClr val="000000"/>
                </a:solidFill>
                <a:latin typeface="Calibri"/>
                <a:ea typeface="Calibri"/>
                <a:cs typeface="Calibri"/>
                <a:sym typeface="Calibri"/>
              </a:rPr>
              <a:t>c</a:t>
            </a:r>
            <a:r>
              <a:rPr lang="en-US" sz="2800" dirty="0">
                <a:solidFill>
                  <a:srgbClr val="000000"/>
                </a:solidFill>
                <a:latin typeface="Calibri"/>
                <a:ea typeface="Calibri"/>
                <a:cs typeface="Calibri"/>
                <a:sym typeface="Calibri"/>
              </a:rPr>
              <a:t> are parallel to</a:t>
            </a:r>
            <a:br>
              <a:rPr lang="en-US" sz="2800" dirty="0">
                <a:solidFill>
                  <a:srgbClr val="000000"/>
                </a:solidFill>
                <a:latin typeface="Calibri"/>
                <a:ea typeface="Calibri"/>
                <a:cs typeface="Calibri"/>
                <a:sym typeface="Calibri"/>
              </a:rPr>
            </a:br>
            <a:r>
              <a:rPr lang="en-US" sz="2800" dirty="0">
                <a:solidFill>
                  <a:srgbClr val="000000"/>
                </a:solidFill>
                <a:latin typeface="Calibri"/>
                <a:ea typeface="Calibri"/>
                <a:cs typeface="Calibri"/>
                <a:sym typeface="Calibri"/>
              </a:rPr>
              <a:t>each other but says they are not perpendicular to lines </a:t>
            </a:r>
            <a:r>
              <a:rPr lang="en-US" sz="2800" i="1" dirty="0">
                <a:solidFill>
                  <a:srgbClr val="000000"/>
                </a:solidFill>
                <a:latin typeface="Calibri"/>
                <a:ea typeface="Calibri"/>
                <a:cs typeface="Calibri"/>
                <a:sym typeface="Calibri"/>
              </a:rPr>
              <a:t>d</a:t>
            </a:r>
            <a:r>
              <a:rPr lang="en-US" sz="2800" dirty="0">
                <a:solidFill>
                  <a:srgbClr val="000000"/>
                </a:solidFill>
                <a:latin typeface="Calibri"/>
                <a:ea typeface="Calibri"/>
                <a:cs typeface="Calibri"/>
                <a:sym typeface="Calibri"/>
              </a:rPr>
              <a:t>, </a:t>
            </a:r>
            <a:r>
              <a:rPr lang="en-US" sz="2800" i="1" dirty="0">
                <a:solidFill>
                  <a:srgbClr val="000000"/>
                </a:solidFill>
                <a:latin typeface="Calibri"/>
                <a:ea typeface="Calibri"/>
                <a:cs typeface="Calibri"/>
                <a:sym typeface="Calibri"/>
              </a:rPr>
              <a:t>e</a:t>
            </a:r>
            <a:r>
              <a:rPr lang="en-US" sz="2800" dirty="0">
                <a:solidFill>
                  <a:srgbClr val="000000"/>
                </a:solidFill>
                <a:latin typeface="Calibri"/>
                <a:ea typeface="Calibri"/>
                <a:cs typeface="Calibri"/>
                <a:sym typeface="Calibri"/>
              </a:rPr>
              <a:t>, and </a:t>
            </a:r>
            <a:r>
              <a:rPr lang="en-US" sz="2800" i="1" dirty="0">
                <a:solidFill>
                  <a:srgbClr val="000000"/>
                </a:solidFill>
                <a:latin typeface="Calibri"/>
                <a:ea typeface="Calibri"/>
                <a:cs typeface="Calibri"/>
                <a:sym typeface="Calibri"/>
              </a:rPr>
              <a:t>f</a:t>
            </a:r>
            <a:r>
              <a:rPr lang="en-US" sz="2800" dirty="0">
                <a:solidFill>
                  <a:srgbClr val="000000"/>
                </a:solidFill>
                <a:latin typeface="Calibri"/>
                <a:ea typeface="Calibri"/>
                <a:cs typeface="Calibri"/>
                <a:sym typeface="Calibri"/>
              </a:rPr>
              <a:t>. Who is correct? Justify your reasoning.</a:t>
            </a:r>
            <a:endParaRPr sz="2800" b="0" i="0" u="none" strike="noStrike"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b="0" i="0" u="none" strike="noStrike" dirty="0">
              <a:solidFill>
                <a:srgbClr val="3A3838"/>
              </a:solidFill>
              <a:latin typeface="Calibri"/>
              <a:ea typeface="Calibri"/>
              <a:cs typeface="Calibri"/>
              <a:sym typeface="Calibri"/>
            </a:endParaRPr>
          </a:p>
          <a:p>
            <a:pPr marL="0" marR="0" lvl="0" indent="0" algn="ctr" rtl="0">
              <a:spcBef>
                <a:spcPts val="560"/>
              </a:spcBef>
              <a:spcAft>
                <a:spcPts val="0"/>
              </a:spcAft>
              <a:buClr>
                <a:schemeClr val="dk1"/>
              </a:buClr>
              <a:buSzPts val="2800"/>
              <a:buFont typeface="Arial"/>
              <a:buNone/>
            </a:pPr>
            <a:endParaRPr sz="2800" dirty="0">
              <a:solidFill>
                <a:srgbClr val="3A3838"/>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3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Things Aren’t Always What They Seem </a:t>
            </a:r>
            <a:r>
              <a:rPr lang="en-US" sz="2000" b="1" dirty="0">
                <a:solidFill>
                  <a:schemeClr val="bg1"/>
                </a:solidFill>
              </a:rPr>
              <a:t>(3 of 4) </a:t>
            </a:r>
            <a:endParaRPr dirty="0">
              <a:solidFill>
                <a:schemeClr val="bg1"/>
              </a:solidFill>
            </a:endParaRPr>
          </a:p>
        </p:txBody>
      </p:sp>
      <p:sp>
        <p:nvSpPr>
          <p:cNvPr id="773" name="Google Shape;773;p39"/>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answer the Essential Question and summarize our learning from the Talk the Talk!</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rgbClr val="000000"/>
              </a:buClr>
              <a:buSzPts val="2800"/>
              <a:buFont typeface="Arial"/>
              <a:buNone/>
            </a:pPr>
            <a:r>
              <a:rPr lang="en-US" sz="2800" b="1" dirty="0">
                <a:solidFill>
                  <a:srgbClr val="000000"/>
                </a:solidFill>
                <a:latin typeface="Calibri"/>
                <a:ea typeface="Calibri"/>
                <a:cs typeface="Calibri"/>
                <a:sym typeface="Calibri"/>
              </a:rPr>
              <a:t>Essential Question: </a:t>
            </a:r>
            <a:r>
              <a:rPr lang="en-US" sz="2800" b="0" i="0" u="none" strike="noStrike" cap="none" dirty="0">
                <a:solidFill>
                  <a:srgbClr val="000000"/>
                </a:solidFill>
                <a:latin typeface="Calibri"/>
                <a:ea typeface="Calibri"/>
                <a:cs typeface="Calibri"/>
                <a:sym typeface="Calibri"/>
              </a:rPr>
              <a:t>How can you rotate the graphs of linear equations to determine the slopes of perpendicular lines</a:t>
            </a:r>
            <a:r>
              <a:rPr lang="en-US" sz="2800" dirty="0">
                <a:solidFill>
                  <a:srgbClr val="000000"/>
                </a:solidFill>
                <a:latin typeface="Calibri"/>
                <a:ea typeface="Calibri"/>
                <a:cs typeface="Calibri"/>
                <a:sym typeface="Calibri"/>
              </a:rPr>
              <a:t>?</a:t>
            </a:r>
            <a:endParaRPr dirty="0"/>
          </a:p>
          <a:p>
            <a:pPr marL="0" marR="0" lvl="0" indent="0" algn="l" rtl="0">
              <a:spcBef>
                <a:spcPts val="560"/>
              </a:spcBef>
              <a:spcAft>
                <a:spcPts val="0"/>
              </a:spcAft>
              <a:buClr>
                <a:schemeClr val="dk1"/>
              </a:buClr>
              <a:buSzPts val="2800"/>
              <a:buFont typeface="Arial"/>
              <a:buNone/>
            </a:pPr>
            <a:endParaRPr sz="2800" b="0" i="0" u="none" strike="noStrike" dirty="0">
              <a:solidFill>
                <a:srgbClr val="000000"/>
              </a:solidFill>
              <a:latin typeface="Calibri"/>
              <a:ea typeface="Calibri"/>
              <a:cs typeface="Calibri"/>
              <a:sym typeface="Calibri"/>
            </a:endParaRPr>
          </a:p>
        </p:txBody>
      </p:sp>
      <p:pic>
        <p:nvPicPr>
          <p:cNvPr id="774" name="Google Shape;774;p39">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341803" y="372494"/>
            <a:ext cx="1501270" cy="51820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40"/>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Things Aren’t Always What They Seem </a:t>
            </a:r>
            <a:r>
              <a:rPr lang="en-US" sz="2000" b="1" dirty="0">
                <a:solidFill>
                  <a:schemeClr val="bg1"/>
                </a:solidFill>
              </a:rPr>
              <a:t>(4 of 4) </a:t>
            </a:r>
            <a:endParaRPr dirty="0">
              <a:solidFill>
                <a:schemeClr val="bg1"/>
              </a:solidFill>
            </a:endParaRPr>
          </a:p>
        </p:txBody>
      </p:sp>
      <p:sp>
        <p:nvSpPr>
          <p:cNvPr id="781" name="Google Shape;781;p40">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b="0" i="0" u="none" strike="noStrike">
              <a:solidFill>
                <a:srgbClr val="3A3838"/>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p41"/>
          <p:cNvSpPr txBox="1">
            <a:spLocks noGrp="1"/>
          </p:cNvSpPr>
          <p:nvPr>
            <p:ph type="title" idx="4294967295"/>
          </p:nvPr>
        </p:nvSpPr>
        <p:spPr>
          <a:xfrm>
            <a:off x="838200" y="-310393"/>
            <a:ext cx="10514013" cy="31039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Prepare</a:t>
            </a:r>
            <a:endParaRPr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4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a:t>Prepare for Module 2 Topic 2 Lesson 4</a:t>
            </a:r>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6D39A36-54CA-641F-401E-0EAC4D5715F2}"/>
                  </a:ext>
                </a:extLst>
              </p:cNvPr>
              <p:cNvSpPr txBox="1"/>
              <p:nvPr/>
            </p:nvSpPr>
            <p:spPr>
              <a:xfrm>
                <a:off x="777239" y="1610686"/>
                <a:ext cx="10019391" cy="4124206"/>
              </a:xfrm>
              <a:prstGeom prst="rect">
                <a:avLst/>
              </a:prstGeom>
              <a:noFill/>
            </p:spPr>
            <p:txBody>
              <a:bodyPr wrap="square" rtlCol="0">
                <a:sp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Determine whether each set of ordered pairs represents a function.</a:t>
                </a:r>
              </a:p>
              <a:p>
                <a:pPr>
                  <a:spcAft>
                    <a:spcPts val="1200"/>
                  </a:spcAft>
                </a:pPr>
                <a:r>
                  <a:rPr lang="en-US" sz="2800" dirty="0">
                    <a:latin typeface="Calibri" panose="020F0502020204030204" pitchFamily="34" charset="0"/>
                    <a:ea typeface="Calibri" panose="020F0502020204030204" pitchFamily="34" charset="0"/>
                    <a:cs typeface="Calibri" panose="020F0502020204030204" pitchFamily="34" charset="0"/>
                  </a:rPr>
                  <a:t>Explain your reasoning.</a:t>
                </a:r>
              </a:p>
              <a:p>
                <a:pPr marL="342900" indent="-34290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d>
                      <m:dPr>
                        <m:begChr m:val="{"/>
                        <m:endChr m:val="}"/>
                        <m:ctrlPr>
                          <a:rPr lang="en-US" sz="2800" i="1" smtClean="0">
                            <a:latin typeface="Cambria Math" panose="02040503050406030204" pitchFamily="18" charset="0"/>
                          </a:rPr>
                        </m:ctrlPr>
                      </m:dPr>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0</m:t>
                            </m:r>
                            <m:r>
                              <a:rPr lang="en-US" sz="2800" b="0" i="1" smtClean="0">
                                <a:latin typeface="Cambria Math" panose="02040503050406030204" pitchFamily="18" charset="0"/>
                              </a:rPr>
                              <m:t>, </m:t>
                            </m:r>
                            <m:r>
                              <a:rPr lang="en-US" sz="2800" b="0" i="1" smtClean="0">
                                <a:latin typeface="Cambria Math" panose="02040503050406030204" pitchFamily="18" charset="0"/>
                              </a:rPr>
                              <m:t>0</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r>
                          <a:rPr lang="en-US" sz="2800" b="0" i="1" smtClean="0">
                            <a:latin typeface="Cambria Math" panose="02040503050406030204" pitchFamily="18" charset="0"/>
                          </a:rPr>
                          <m:t>2</m:t>
                        </m:r>
                        <m:r>
                          <a:rPr lang="en-US" sz="2800" b="0" i="1" smtClean="0">
                            <a:latin typeface="Cambria Math" panose="02040503050406030204" pitchFamily="18" charset="0"/>
                          </a:rPr>
                          <m:t>, </m:t>
                        </m:r>
                        <m:r>
                          <a:rPr lang="en-US" sz="2800" b="0" i="1" smtClean="0">
                            <a:latin typeface="Cambria Math" panose="02040503050406030204" pitchFamily="18" charset="0"/>
                          </a:rPr>
                          <m:t>2</m:t>
                        </m:r>
                        <m:r>
                          <a:rPr lang="en-US" sz="2800" b="0" i="1" smtClean="0">
                            <a:latin typeface="Cambria Math" panose="02040503050406030204" pitchFamily="18" charset="0"/>
                          </a:rPr>
                          <m:t>)</m:t>
                        </m:r>
                      </m:e>
                    </m:d>
                  </m:oMath>
                </a14:m>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d>
                      <m:dPr>
                        <m:begChr m:val="{"/>
                        <m:endChr m:val="}"/>
                        <m:ctrlPr>
                          <a:rPr lang="en-US" sz="2800" i="1" smtClean="0">
                            <a:latin typeface="Cambria Math" panose="02040503050406030204" pitchFamily="18" charset="0"/>
                          </a:rPr>
                        </m:ctrlPr>
                      </m:dPr>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2</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0</m:t>
                            </m:r>
                            <m:r>
                              <a:rPr lang="en-US" sz="2800" b="0" i="1" smtClean="0">
                                <a:latin typeface="Cambria Math" panose="02040503050406030204" pitchFamily="18" charset="0"/>
                              </a:rPr>
                              <m:t>, </m:t>
                            </m:r>
                            <m:r>
                              <a:rPr lang="en-US" sz="2800" b="0" i="1" smtClean="0">
                                <a:latin typeface="Cambria Math" panose="02040503050406030204" pitchFamily="18" charset="0"/>
                              </a:rPr>
                              <m:t>0</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2</m:t>
                            </m:r>
                          </m:e>
                        </m:d>
                        <m:r>
                          <a:rPr lang="en-US" sz="2800" b="0" i="1" smtClean="0">
                            <a:latin typeface="Cambria Math" panose="02040503050406030204" pitchFamily="18" charset="0"/>
                          </a:rPr>
                          <m:t>, (</m:t>
                        </m:r>
                        <m:r>
                          <a:rPr lang="en-US" sz="2800" b="0" i="1" smtClean="0">
                            <a:latin typeface="Cambria Math" panose="02040503050406030204" pitchFamily="18" charset="0"/>
                          </a:rPr>
                          <m:t>2</m:t>
                        </m:r>
                        <m:r>
                          <a:rPr lang="en-US" sz="2800" b="0" i="1" smtClean="0">
                            <a:latin typeface="Cambria Math" panose="02040503050406030204" pitchFamily="18" charset="0"/>
                          </a:rPr>
                          <m:t>, </m:t>
                        </m:r>
                        <m:r>
                          <a:rPr lang="en-US" sz="2800" b="0" i="1" smtClean="0">
                            <a:latin typeface="Cambria Math" panose="02040503050406030204" pitchFamily="18" charset="0"/>
                          </a:rPr>
                          <m:t>4</m:t>
                        </m:r>
                        <m:r>
                          <a:rPr lang="en-US" sz="2800" b="0" i="1" smtClean="0">
                            <a:latin typeface="Cambria Math" panose="02040503050406030204" pitchFamily="18" charset="0"/>
                          </a:rPr>
                          <m:t>)</m:t>
                        </m:r>
                      </m:e>
                    </m:d>
                  </m:oMath>
                </a14:m>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d>
                      <m:dPr>
                        <m:begChr m:val="{"/>
                        <m:endChr m:val="}"/>
                        <m:ctrlPr>
                          <a:rPr lang="en-US" sz="2800" i="1" smtClean="0">
                            <a:latin typeface="Cambria Math" panose="02040503050406030204" pitchFamily="18" charset="0"/>
                          </a:rPr>
                        </m:ctrlPr>
                      </m:dPr>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0</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r>
                          <a:rPr lang="en-US" sz="2800" b="0" i="1" smtClean="0">
                            <a:latin typeface="Cambria Math" panose="02040503050406030204" pitchFamily="18" charset="0"/>
                          </a:rPr>
                          <m:t>2</m:t>
                        </m:r>
                        <m:r>
                          <a:rPr lang="en-US" sz="2800" b="0" i="1" smtClean="0">
                            <a:latin typeface="Cambria Math" panose="02040503050406030204" pitchFamily="18" charset="0"/>
                          </a:rPr>
                          <m:t>, −</m:t>
                        </m:r>
                        <m:r>
                          <a:rPr lang="en-US" sz="2800" b="0" i="1" smtClean="0">
                            <a:latin typeface="Cambria Math" panose="02040503050406030204" pitchFamily="18" charset="0"/>
                          </a:rPr>
                          <m:t>1</m:t>
                        </m:r>
                        <m:r>
                          <a:rPr lang="en-US" sz="2800" b="0" i="1" smtClean="0">
                            <a:latin typeface="Cambria Math" panose="02040503050406030204" pitchFamily="18" charset="0"/>
                          </a:rPr>
                          <m:t>)</m:t>
                        </m:r>
                      </m:e>
                    </m:d>
                  </m:oMath>
                </a14:m>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d>
                      <m:dPr>
                        <m:begChr m:val="{"/>
                        <m:endChr m:val="}"/>
                        <m:ctrlPr>
                          <a:rPr lang="en-US" sz="2800" i="1" smtClean="0">
                            <a:latin typeface="Cambria Math" panose="02040503050406030204" pitchFamily="18" charset="0"/>
                          </a:rPr>
                        </m:ctrlPr>
                      </m:dPr>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0</m:t>
                            </m:r>
                          </m:e>
                        </m:d>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1</m:t>
                            </m:r>
                          </m:e>
                        </m:d>
                        <m:r>
                          <a:rPr lang="en-US" sz="2800" b="0" i="1" smtClean="0">
                            <a:latin typeface="Cambria Math" panose="02040503050406030204" pitchFamily="18" charset="0"/>
                          </a:rPr>
                          <m:t>, (−</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2</m:t>
                        </m:r>
                        <m:r>
                          <a:rPr lang="en-US" sz="2800" b="0" i="1" smtClean="0">
                            <a:latin typeface="Cambria Math" panose="02040503050406030204" pitchFamily="18" charset="0"/>
                          </a:rPr>
                          <m:t>)</m:t>
                        </m:r>
                      </m:e>
                    </m:d>
                  </m:oMath>
                </a14:m>
                <a:endParaRPr lang="en-US"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 name="TextBox 1">
                <a:extLst>
                  <a:ext uri="{FF2B5EF4-FFF2-40B4-BE49-F238E27FC236}">
                    <a16:creationId xmlns:a16="http://schemas.microsoft.com/office/drawing/2014/main" id="{96D39A36-54CA-641F-401E-0EAC4D5715F2}"/>
                  </a:ext>
                </a:extLst>
              </p:cNvPr>
              <p:cNvSpPr txBox="1">
                <a:spLocks noRot="1" noChangeAspect="1" noMove="1" noResize="1" noEditPoints="1" noAdjustHandles="1" noChangeArrowheads="1" noChangeShapeType="1" noTextEdit="1"/>
              </p:cNvSpPr>
              <p:nvPr/>
            </p:nvSpPr>
            <p:spPr>
              <a:xfrm>
                <a:off x="777239" y="1610686"/>
                <a:ext cx="10019391" cy="4124206"/>
              </a:xfrm>
              <a:prstGeom prst="rect">
                <a:avLst/>
              </a:prstGeom>
              <a:blipFill>
                <a:blip r:embed="rId3"/>
                <a:stretch>
                  <a:fillRect l="-1217" t="-1329" r="-669" b="-3397"/>
                </a:stretch>
              </a:blipFill>
            </p:spPr>
            <p:txBody>
              <a:bodyPr/>
              <a:lstStyle/>
              <a:p>
                <a:r>
                  <a:rPr 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43"/>
          <p:cNvSpPr txBox="1">
            <a:spLocks noGrp="1"/>
          </p:cNvSpPr>
          <p:nvPr>
            <p:ph type="title" idx="4294967295"/>
          </p:nvPr>
        </p:nvSpPr>
        <p:spPr>
          <a:xfrm>
            <a:off x="838200" y="-343949"/>
            <a:ext cx="10514013" cy="343949"/>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Acknowledgment and Notice</a:t>
            </a:r>
            <a:endParaRPr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44"/>
          <p:cNvSpPr txBox="1">
            <a:spLocks noGrp="1"/>
          </p:cNvSpPr>
          <p:nvPr>
            <p:ph type="title" idx="4294967295"/>
          </p:nvPr>
        </p:nvSpPr>
        <p:spPr>
          <a:xfrm>
            <a:off x="8155889" y="4975063"/>
            <a:ext cx="3431356" cy="414778"/>
          </a:xfrm>
          <a:prstGeom prst="rect">
            <a:avLst/>
          </a:prstGeom>
          <a:solidFill>
            <a:srgbClr val="2B8147"/>
          </a:solidFill>
          <a:ln>
            <a:noFill/>
            <a:prstDash/>
          </a:ln>
          <a:effectLst/>
        </p:spPr>
        <p:txBody>
          <a:bodyPr rot="0" spcFirstLastPara="1" vertOverflow="overflow" horzOverflow="overflow" vert="horz" wrap="square" lIns="0" tIns="45700" rIns="0" bIns="457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
                <a:schemeClr val="lt1"/>
              </a:buClr>
              <a:buSzPts val="1800"/>
              <a:buFont typeface="Arial"/>
              <a:buNone/>
              <a:tabLst/>
              <a:defRPr/>
            </a:pPr>
            <a:r>
              <a:rPr kumimoji="0" lang="de-DE" sz="1800" b="0" i="0" u="none" strike="noStrike" kern="0" cap="none" spc="0" normalizeH="0" baseline="0" noProof="0" dirty="0">
                <a:ln>
                  <a:noFill/>
                </a:ln>
                <a:solidFill>
                  <a:schemeClr val="lt1"/>
                </a:solidFill>
                <a:effectLst/>
                <a:uLnTx/>
                <a:uFillTx/>
                <a:latin typeface="Calibri"/>
                <a:ea typeface="Calibri"/>
                <a:cs typeface="Calibri"/>
                <a:sym typeface="Calibri"/>
              </a:rPr>
              <a:t>BLMATH_AlgI_M2_T2_L3_DCS_ENG</a:t>
            </a:r>
          </a:p>
        </p:txBody>
      </p:sp>
    </p:spTree>
  </p:cSld>
  <p:clrMapOvr>
    <a:masterClrMapping/>
  </p:clrMapOvr>
</p:sld>
</file>

<file path=ppt/theme/theme1.xml><?xml version="1.0" encoding="utf-8"?>
<a:theme xmlns:a="http://schemas.openxmlformats.org/drawingml/2006/main" name="A1_green">
  <a:themeElements>
    <a:clrScheme name="TEA K-5">
      <a:dk1>
        <a:srgbClr val="002060"/>
      </a:dk1>
      <a:lt1>
        <a:srgbClr val="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7_navy">
  <a:themeElements>
    <a:clrScheme name="TEA K-5">
      <a:dk1>
        <a:srgbClr val="002060"/>
      </a:dk1>
      <a:lt1>
        <a:srgbClr val="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G8_purple">
  <a:themeElements>
    <a:clrScheme name="TEA K-5">
      <a:dk1>
        <a:srgbClr val="002060"/>
      </a:dk1>
      <a:lt1>
        <a:srgbClr val="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G6_teal">
  <a:themeElements>
    <a:clrScheme name="TEA K-5">
      <a:dk1>
        <a:srgbClr val="002060"/>
      </a:dk1>
      <a:lt1>
        <a:srgbClr val="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Uploaded xmlns="33e0dbe9-2ee3-4e40-8d2a-c14405aa398e">true</Uploaded>
    <lcf76f155ced4ddcb4097134ff3c332f xmlns="33e0dbe9-2ee3-4e40-8d2a-c14405aa398e">
      <Terms xmlns="http://schemas.microsoft.com/office/infopath/2007/PartnerControls"/>
    </lcf76f155ced4ddcb4097134ff3c332f>
    <TaxCatchAll xmlns="5aa991ed-cfdb-45f0-90fe-74f6c83d7f1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564D1AC-7416-4C76-85E2-1371F5E4C736}">
  <ds:schemaRefs>
    <ds:schemaRef ds:uri="http://schemas.microsoft.com/office/2006/metadata/properties"/>
    <ds:schemaRef ds:uri="http://purl.org/dc/terms/"/>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33e0dbe9-2ee3-4e40-8d2a-c14405aa398e"/>
    <ds:schemaRef ds:uri="http://www.w3.org/XML/1998/namespace"/>
    <ds:schemaRef ds:uri="http://purl.org/dc/dcmitype/"/>
  </ds:schemaRefs>
</ds:datastoreItem>
</file>

<file path=customXml/itemProps2.xml><?xml version="1.0" encoding="utf-8"?>
<ds:datastoreItem xmlns:ds="http://schemas.openxmlformats.org/officeDocument/2006/customXml" ds:itemID="{05B7EE12-50E8-445E-A04A-70FDE2FD7AD6}">
  <ds:schemaRefs>
    <ds:schemaRef ds:uri="http://schemas.microsoft.com/sharepoint/v3/contenttype/forms"/>
  </ds:schemaRefs>
</ds:datastoreItem>
</file>

<file path=customXml/itemProps3.xml><?xml version="1.0" encoding="utf-8"?>
<ds:datastoreItem xmlns:ds="http://schemas.openxmlformats.org/officeDocument/2006/customXml" ds:itemID="{99320EC2-6D75-4D34-A70A-0C8458639C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1211</TotalTime>
  <Words>4495</Words>
  <Application>Microsoft Office PowerPoint</Application>
  <PresentationFormat>Custom</PresentationFormat>
  <Paragraphs>451</Paragraphs>
  <Slides>45</Slides>
  <Notes>45</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45</vt:i4>
      </vt:variant>
    </vt:vector>
  </HeadingPairs>
  <TitlesOfParts>
    <vt:vector size="53" baseType="lpstr">
      <vt:lpstr>Cambria Math</vt:lpstr>
      <vt:lpstr>Noto Sans Symbols</vt:lpstr>
      <vt:lpstr>Calibri</vt:lpstr>
      <vt:lpstr>Arial</vt:lpstr>
      <vt:lpstr>A1_green</vt:lpstr>
      <vt:lpstr>G7_navy</vt:lpstr>
      <vt:lpstr>G8_purple</vt:lpstr>
      <vt:lpstr>G6_teal</vt:lpstr>
      <vt:lpstr>Determining Slopes of Perpendicular Lines</vt:lpstr>
      <vt:lpstr>Objectives</vt:lpstr>
      <vt:lpstr>Essential Question (1 of 2)</vt:lpstr>
      <vt:lpstr>Day 1</vt:lpstr>
      <vt:lpstr>Getting Started</vt:lpstr>
      <vt:lpstr>Coordinate Rotation (1 of 5)</vt:lpstr>
      <vt:lpstr>Coordinate Rotation (2 of 5)</vt:lpstr>
      <vt:lpstr>Coordinate Rotation (3 of 5)</vt:lpstr>
      <vt:lpstr>Coordinate Rotation (4 of 5)</vt:lpstr>
      <vt:lpstr>Coordinate Rotation (5 of 5)</vt:lpstr>
      <vt:lpstr>Activity 3.1</vt:lpstr>
      <vt:lpstr>Slopes of Perpendicular Lines (1 of 9)</vt:lpstr>
      <vt:lpstr>Slopes of Perpendicular Lines (2 of 9)</vt:lpstr>
      <vt:lpstr>Slopes of Perpendicular Lines (3 of 9)</vt:lpstr>
      <vt:lpstr>Slopes of Perpendicular Lines (4 of 9)</vt:lpstr>
      <vt:lpstr>Slopes of Perpendicular Lines (5 of 9)</vt:lpstr>
      <vt:lpstr>Slopes of Perpendicular Lines (6 of 9)</vt:lpstr>
      <vt:lpstr>Slopes of Perpendicular Lines (7 of 9)</vt:lpstr>
      <vt:lpstr>Slopes of Perpendicular Lines (8 of 9)</vt:lpstr>
      <vt:lpstr>Slopes of Perpendicular Lines (9 of 9)</vt:lpstr>
      <vt:lpstr>Day 2</vt:lpstr>
      <vt:lpstr>Essential Question (2 of 2)</vt:lpstr>
      <vt:lpstr>Activity 3.2</vt:lpstr>
      <vt:lpstr>Horizontal and Vertical Lines (1 of 7)</vt:lpstr>
      <vt:lpstr>Horizontal and Vertical Lines (2 of 7)</vt:lpstr>
      <vt:lpstr>Horizontal and Vertical Lines (3 of 7)</vt:lpstr>
      <vt:lpstr>Horizontal and Vertical Lines (4 of 7)</vt:lpstr>
      <vt:lpstr>Horizontal and Vertical Lines (5 of 7)</vt:lpstr>
      <vt:lpstr>Horizontal and Vertical Lines (6 of 7)</vt:lpstr>
      <vt:lpstr>Horizontal and Vertical Lines (7 of 7)</vt:lpstr>
      <vt:lpstr>Activity 3.3</vt:lpstr>
      <vt:lpstr>Writing Equations of Perpendicular Lines (1 of 5)</vt:lpstr>
      <vt:lpstr>Writing Equations of Perpendicular Lines (2 of 5)</vt:lpstr>
      <vt:lpstr>Writing Equations of Perpendicular Lines (3 of 5)</vt:lpstr>
      <vt:lpstr>Writing Equations of Perpendicular Lines (4 of 5)</vt:lpstr>
      <vt:lpstr>Writing Equations of Perpendicular Lines (5 of 5)</vt:lpstr>
      <vt:lpstr>Talk the Talk</vt:lpstr>
      <vt:lpstr>Things Aren’t Always What They Seem (1 of 4) </vt:lpstr>
      <vt:lpstr>Things Aren’t Always What They Seem (2 of 4) </vt:lpstr>
      <vt:lpstr>Things Aren’t Always What They Seem (3 of 4) </vt:lpstr>
      <vt:lpstr>Things Aren’t Always What They Seem (4 of 4) </vt:lpstr>
      <vt:lpstr>Prepare</vt:lpstr>
      <vt:lpstr>Prepare for Module 2 Topic 2 Lesson 4</vt:lpstr>
      <vt:lpstr>Acknowledgment and Notice</vt:lpstr>
      <vt:lpstr>BLMATH_AlgI_M2_T2_L3_DCS_ENG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Determining Slopes of Perpendicular Lines</dc:title>
  <dc:creator>Singh Amandeep</dc:creator>
  <cp:lastModifiedBy>Gann, Nickole</cp:lastModifiedBy>
  <cp:revision>38</cp:revision>
  <dcterms:created xsi:type="dcterms:W3CDTF">2024-02-22T09:58:00Z</dcterms:created>
  <dcterms:modified xsi:type="dcterms:W3CDTF">2025-05-28T18:59:50Z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