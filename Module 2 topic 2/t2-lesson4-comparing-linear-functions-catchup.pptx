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linear functions given as tables, graphs, equations and verbal descriptions: slope (parallel or perpendicular), y-intercept, and the units and scales in context. The 150-day guide omits this lesson, but the End of Topic 2 Assessment covers it (questions 11–14). On the class calendar: Day 1 (Mon Nov 2, review day) Getting Started, Activities 4.1 and 4.2, then the online Topic 2 Review practice test; Day 2 (Wed Nov 4, after the test, for students not retaking) Activities 4.3, 4.4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November 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p has slope (4 − 1) ÷ 4 = ¾ = 0.75. y = x − 2 has slope 1, which is greater. (3x − 4y = 8 is y = ¾x − 2: equal, not greater.)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Any choice is correct if the justification is.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15–20 minutes. Find each slope first, then compare it to 4: equal is parallel, a product of −1 is perpendicular.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did you find the slope from the graph? (From (0, −0.5), right 4 and up 1.)</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Question 1: label x = weight of cardboard (tons) and y = payout amount (dollars) on both. Travis: w(3) = 45; Hays: j(3) = 60.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November 2.</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November 4.</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Range = the outputs, the gallons left: 200 at the start, down to 0 when t = 20.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10–15 minutes. Think About: the units of the quantities matter. Joey's slope: (10 − (−12.2)) ÷ (50 − 10) = 22.2 ÷ 40 ≈ 0.56.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4.4, 10–15 minutes. Slide typo in the student slides: the introduction calls Lauren 'Michelle'. For more practice, assign Skills Practice Set A.</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TE wording slip: the teacher guide's sample starts Alejandra 'at the middle of page 2'; 2.5 pages read is the middle of page 3.</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(11 − 3) ÷ 2 = 4. 2. (9 − 4) ÷ 1 = 5. 3. The slope is the output unit over the input unit.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November 4.</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4 Assignment; it previews Module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Module 2 topic 2/t2-lesson4-bellwork-day1.html" TargetMode="External"/><Relationship Id="rId4" Type="http://schemas.openxmlformats.org/officeDocument/2006/relationships/hyperlink" Target="https://algebra1m2u1l4.vercel.app/Module 2 topic 2/t2-lesson4-bellwork-day2.html" TargetMode="External"/><Relationship Id="rId5" Type="http://schemas.openxmlformats.org/officeDocument/2006/relationships/hyperlink" Target="https://algebra1m2u1l4.vercel.app/Module 2 topic 2/t2-lesson4-homework.html" TargetMode="External"/><Relationship Id="rId6" Type="http://schemas.openxmlformats.org/officeDocument/2006/relationships/hyperlink" Target="https://algebra1m2u1l4.vercel.app/Module 2 topic 2/t2-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algebra1m2u1l4.vercel.app/lesson6/lesson6-homework.html" TargetMode="External"/><Relationship Id="rId4" Type="http://schemas.openxmlformats.org/officeDocument/2006/relationships/hyperlink" Target="https://algebra1m2u1l4.vercel.app/lesson6/lesson6-quiz.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algebra1m2u1l4.vercel.app/Module 2 topic 2/t2-lesson4-bellwork-day1.html" TargetMode="External"/><Relationship Id="rId4" Type="http://schemas.openxmlformats.org/officeDocument/2006/relationships/hyperlink" Target="https://algebra1m2u1l4.vercel.app/Module 2 topic 2/t2-lesson4-bellwork-day2.html" TargetMode="External"/><Relationship Id="rId5" Type="http://schemas.openxmlformats.org/officeDocument/2006/relationships/hyperlink" Target="https://algebra1m2u1l4.vercel.app/Module 2 topic 2/t2-lesson4-homework.html" TargetMode="External"/><Relationship Id="rId6" Type="http://schemas.openxmlformats.org/officeDocument/2006/relationships/hyperlink" Target="https://algebra1m2u1l4.vercel.app/Module 2 topic 2/t2-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Student Edition pp. 319–330</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Comparing Linear Functions in Different Forms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Nov 2 · Day 2: Wed, Nov 4</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a:solidFill>
                  <a:srgbClr val="16171D"/>
                </a:solidFill>
                <a:latin typeface="Cambria"/>
                <a:cs typeface="Cambria"/>
              </a:rPr>
              <a:t xml:space="preserve">table · graph · equation · description</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November 2</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(General form and factored form) → Lesson 4,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Nov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passes through </a:t>
            </a:r>
            <a:r>
              <a:rPr lang="en-US" sz="1950" dirty="0">
                <a:solidFill>
                  <a:srgbClr val="16171D"/>
                </a:solidFill>
                <a:latin typeface="Cambria"/>
                <a:cs typeface="Cambria"/>
              </a:rPr>
              <a:t xml:space="preserve">(0, 1)</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(4, 4)</a:t>
            </a:r>
            <a:r>
              <a:rPr lang="en-US" sz="1950" dirty="0">
                <a:solidFill>
                  <a:srgbClr val="16171D"/>
                </a:solidFill>
                <a:latin typeface="Segoe UI"/>
                <a:cs typeface="Segoe UI"/>
              </a:rPr>
              <a:t xml:space="preserve">. Which function has a greater rate of change than function </a:t>
            </a:r>
            <a:r>
              <a:rPr lang="en-US" sz="1950" dirty="0" i="1">
                <a:solidFill>
                  <a:srgbClr val="16171D"/>
                </a:solidFill>
                <a:latin typeface="Cambria"/>
                <a:cs typeface="Cambria"/>
              </a:rPr>
              <a:t xml:space="preserve">p</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32358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Nov 2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General form and factored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functions in different forms; general and factored form are two more forms.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
        <p:nvSpPr>
          <p:cNvPr id="75" name="Slide Number 7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
        <p:nvSpPr>
          <p:cNvPr id="76" name="Slide Number 7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319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Compare linear functions represented algebraically, graphically, in tables, or with verbal descriptions.</a:t>
            </a:r>
            <a:endParaRPr lang="en-US" sz="1950" dirty="0"/>
          </a:p>
        </p:txBody>
      </p:sp>
      <p:sp>
        <p:nvSpPr>
          <p:cNvPr id="5" name="Shape 5"/>
          <p:cNvSpPr txBox="1"/>
          <p:nvPr/>
        </p:nvSpPr>
        <p:spPr>
          <a:xfrm>
            <a:off x="685800" y="24010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Choose and interpret appropriate units to represent independent and dependent quantities in situations modeled by linear functions.</a:t>
            </a:r>
            <a:endParaRPr lang="en-US" sz="1950" dirty="0"/>
          </a:p>
        </p:txBody>
      </p:sp>
      <p:sp>
        <p:nvSpPr>
          <p:cNvPr id="6" name="Shape 6"/>
          <p:cNvSpPr txBox="1"/>
          <p:nvPr/>
        </p:nvSpPr>
        <p:spPr>
          <a:xfrm>
            <a:off x="685800" y="31455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Choose and interpret appropriate scales and origins for graphs of linear functions.</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319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represented linear functions in a variety of different ways.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does each linear function representation compare with the others?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Odd One Out · SE p. 320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function does not belong? Justify your choice.</a:t>
            </a:r>
            <a:endParaRPr lang="en-US" sz="3450" dirty="0"/>
          </a:p>
        </p:txBody>
      </p:sp>
      <p:sp>
        <p:nvSpPr>
          <p:cNvPr id="16" name="Shape 16"/>
          <p:cNvSpPr txBox="1"/>
          <p:nvPr/>
        </p:nvSpPr>
        <p:spPr>
          <a:xfrm>
            <a:off x="685800" y="2144268"/>
            <a:ext cx="2605011" cy="33177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x</a:t>
            </a:r>
            <a:endParaRPr lang="en-US" sz="1500" dirty="0"/>
          </a:p>
        </p:txBody>
      </p:sp>
      <p:sp>
        <p:nvSpPr>
          <p:cNvPr id="6" name="Shape 6"/>
          <p:cNvSpPr txBox="1"/>
          <p:nvPr/>
        </p:nvSpPr>
        <p:spPr>
          <a:xfrm>
            <a:off x="2038350" y="2785872"/>
            <a:ext cx="1143000" cy="3749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500" dirty="0" i="1">
                <a:solidFill>
                  <a:srgbClr val="16171D"/>
                </a:solidFill>
                <a:latin typeface="Cambria"/>
                <a:cs typeface="Cambria"/>
              </a:rPr>
              <a:t xml:space="preserve">y</a:t>
            </a:r>
            <a:endParaRPr lang="en-US" sz="1500" dirty="0"/>
          </a:p>
        </p:txBody>
      </p:sp>
      <p:sp>
        <p:nvSpPr>
          <p:cNvPr id="7" name="Shape 7"/>
          <p:cNvSpPr txBox="1"/>
          <p:nvPr/>
        </p:nvSpPr>
        <p:spPr>
          <a:xfrm>
            <a:off x="895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8" name="Shape 8"/>
          <p:cNvSpPr txBox="1"/>
          <p:nvPr/>
        </p:nvSpPr>
        <p:spPr>
          <a:xfrm>
            <a:off x="2038350" y="3160776"/>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10</a:t>
            </a:r>
            <a:endParaRPr lang="en-US" sz="1500" dirty="0"/>
          </a:p>
        </p:txBody>
      </p:sp>
      <p:sp>
        <p:nvSpPr>
          <p:cNvPr id="9" name="Shape 9"/>
          <p:cNvSpPr txBox="1"/>
          <p:nvPr/>
        </p:nvSpPr>
        <p:spPr>
          <a:xfrm>
            <a:off x="895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−1.5</a:t>
            </a:r>
            <a:endParaRPr lang="en-US" sz="1500" dirty="0"/>
          </a:p>
        </p:txBody>
      </p:sp>
      <p:sp>
        <p:nvSpPr>
          <p:cNvPr id="10" name="Shape 10"/>
          <p:cNvSpPr txBox="1"/>
          <p:nvPr/>
        </p:nvSpPr>
        <p:spPr>
          <a:xfrm>
            <a:off x="2038350" y="3535680"/>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3</a:t>
            </a:r>
            <a:endParaRPr lang="en-US" sz="1500" dirty="0"/>
          </a:p>
        </p:txBody>
      </p:sp>
      <p:sp>
        <p:nvSpPr>
          <p:cNvPr id="11" name="Shape 11"/>
          <p:cNvSpPr txBox="1"/>
          <p:nvPr/>
        </p:nvSpPr>
        <p:spPr>
          <a:xfrm>
            <a:off x="895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2" name="Shape 12"/>
          <p:cNvSpPr txBox="1"/>
          <p:nvPr/>
        </p:nvSpPr>
        <p:spPr>
          <a:xfrm>
            <a:off x="2038350" y="3910584"/>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0</a:t>
            </a:r>
            <a:endParaRPr lang="en-US" sz="1500" dirty="0"/>
          </a:p>
        </p:txBody>
      </p:sp>
      <p:sp>
        <p:nvSpPr>
          <p:cNvPr id="13" name="Shape 13"/>
          <p:cNvSpPr txBox="1"/>
          <p:nvPr/>
        </p:nvSpPr>
        <p:spPr>
          <a:xfrm>
            <a:off x="895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2.5</a:t>
            </a:r>
            <a:endParaRPr lang="en-US" sz="1500" dirty="0"/>
          </a:p>
        </p:txBody>
      </p:sp>
      <p:sp>
        <p:nvSpPr>
          <p:cNvPr id="14" name="Shape 14"/>
          <p:cNvSpPr txBox="1"/>
          <p:nvPr/>
        </p:nvSpPr>
        <p:spPr>
          <a:xfrm>
            <a:off x="2038350" y="4285488"/>
            <a:ext cx="1143000" cy="3749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500" dirty="0">
                <a:solidFill>
                  <a:srgbClr val="16171D"/>
                </a:solidFill>
                <a:latin typeface="Cambria"/>
                <a:cs typeface="Cambria"/>
              </a:rPr>
              <a:t xml:space="preserve">−5</a:t>
            </a:r>
            <a:endParaRPr lang="en-US" sz="1500" dirty="0"/>
          </a:p>
        </p:txBody>
      </p:sp>
      <p:sp>
        <p:nvSpPr>
          <p:cNvPr id="15" name="Shape 15"/>
          <p:cNvSpPr txBox="1"/>
          <p:nvPr/>
        </p:nvSpPr>
        <p:spPr>
          <a:xfrm>
            <a:off x="895350" y="475564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a:t>
            </a:r>
            <a:r>
              <a:rPr lang="en-US" sz="1575" dirty="0" b="1">
                <a:solidFill>
                  <a:srgbClr val="16171D"/>
                </a:solidFill>
                <a:latin typeface="Segoe UI"/>
                <a:cs typeface="Segoe UI"/>
              </a:rPr>
              <a:t xml:space="preserve">decreasing</a:t>
            </a:r>
            <a:r>
              <a:rPr lang="en-US" sz="1575" dirty="0">
                <a:solidFill>
                  <a:srgbClr val="16171D"/>
                </a:solidFill>
                <a:latin typeface="Segoe UI"/>
                <a:cs typeface="Segoe UI"/>
              </a:rPr>
              <a:t xml:space="preserve"> (slope −2).</a:t>
            </a:r>
            <a:endParaRPr lang="en-US" sz="1575" dirty="0"/>
          </a:p>
        </p:txBody>
      </p:sp>
      <p:sp>
        <p:nvSpPr>
          <p:cNvPr id="20" name="Shape 20"/>
          <p:cNvSpPr txBox="1"/>
          <p:nvPr/>
        </p:nvSpPr>
        <p:spPr>
          <a:xfrm>
            <a:off x="3424161" y="2144268"/>
            <a:ext cx="2605011" cy="22181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3633711"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3633711" y="2785872"/>
            <a:ext cx="2185911"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ratio of 9th- to 10th-graders is 1 : 1.</a:t>
            </a:r>
            <a:endParaRPr lang="en-US" sz="1575" dirty="0"/>
          </a:p>
        </p:txBody>
      </p:sp>
      <p:sp>
        <p:nvSpPr>
          <p:cNvPr id="19" name="Shape 19"/>
          <p:cNvSpPr txBox="1"/>
          <p:nvPr/>
        </p:nvSpPr>
        <p:spPr>
          <a:xfrm>
            <a:off x="3633711" y="365607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domain of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6162523" y="2144268"/>
            <a:ext cx="2605011"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6372073"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6372073" y="2785872"/>
            <a:ext cx="2185911"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⅕</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6372073" y="3290316"/>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with a slope </a:t>
            </a:r>
            <a:r>
              <a:rPr lang="en-US" sz="1575" dirty="0" b="1">
                <a:solidFill>
                  <a:srgbClr val="16171D"/>
                </a:solidFill>
                <a:latin typeface="Segoe UI"/>
                <a:cs typeface="Segoe UI"/>
              </a:rPr>
              <a:t xml:space="preserve">between 0 and 1</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8900884" y="2144268"/>
            <a:ext cx="2605011" cy="33482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5" name="Shape 25"/>
          <p:cNvSpPr txBox="1"/>
          <p:nvPr/>
        </p:nvSpPr>
        <p:spPr>
          <a:xfrm>
            <a:off x="9110434" y="2315718"/>
            <a:ext cx="2185911"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26" name="Shape 26"/>
          <p:cNvSpPr/>
          <p:nvPr/>
        </p:nvSpPr>
        <p:spPr>
          <a:xfrm>
            <a:off x="9110434" y="2785872"/>
            <a:ext cx="1905000" cy="1905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7" name="Line 27"/>
          <p:cNvCxnSpPr/>
          <p:nvPr/>
        </p:nvCxnSpPr>
        <p:spPr>
          <a:xfrm>
            <a:off x="9434284" y="2900172"/>
            <a:ext cx="0" cy="1543050"/>
          </a:xfrm>
          <a:prstGeom prst="line">
            <a:avLst/>
          </a:prstGeom>
          <a:ln w="9525" cap="flat">
            <a:solidFill>
              <a:srgbClr val="E6E8F2"/>
            </a:solidFill>
          </a:ln>
        </p:spPr>
      </p:cxnSp>
      <p:cxnSp>
        <p:nvCxnSpPr>
          <p:cNvPr id="28" name="Line 28"/>
          <p:cNvCxnSpPr/>
          <p:nvPr/>
        </p:nvCxnSpPr>
        <p:spPr>
          <a:xfrm>
            <a:off x="9617640" y="2900172"/>
            <a:ext cx="0" cy="1543050"/>
          </a:xfrm>
          <a:prstGeom prst="line">
            <a:avLst/>
          </a:prstGeom>
          <a:ln w="9525" cap="flat">
            <a:solidFill>
              <a:srgbClr val="E6E8F2"/>
            </a:solidFill>
          </a:ln>
        </p:spPr>
      </p:cxnSp>
      <p:cxnSp>
        <p:nvCxnSpPr>
          <p:cNvPr id="29" name="Line 29"/>
          <p:cNvCxnSpPr/>
          <p:nvPr/>
        </p:nvCxnSpPr>
        <p:spPr>
          <a:xfrm>
            <a:off x="9800996" y="2900172"/>
            <a:ext cx="0" cy="1543050"/>
          </a:xfrm>
          <a:prstGeom prst="line">
            <a:avLst/>
          </a:prstGeom>
          <a:ln w="9525" cap="flat">
            <a:solidFill>
              <a:srgbClr val="E6E8F2"/>
            </a:solidFill>
          </a:ln>
        </p:spPr>
      </p:cxnSp>
      <p:cxnSp>
        <p:nvCxnSpPr>
          <p:cNvPr id="30" name="Line 30"/>
          <p:cNvCxnSpPr/>
          <p:nvPr/>
        </p:nvCxnSpPr>
        <p:spPr>
          <a:xfrm>
            <a:off x="9984353" y="2900172"/>
            <a:ext cx="0" cy="1543050"/>
          </a:xfrm>
          <a:prstGeom prst="line">
            <a:avLst/>
          </a:prstGeom>
          <a:ln w="9525" cap="flat">
            <a:solidFill>
              <a:srgbClr val="E6E8F2"/>
            </a:solidFill>
          </a:ln>
        </p:spPr>
      </p:cxnSp>
      <p:cxnSp>
        <p:nvCxnSpPr>
          <p:cNvPr id="31" name="Line 31"/>
          <p:cNvCxnSpPr/>
          <p:nvPr/>
        </p:nvCxnSpPr>
        <p:spPr>
          <a:xfrm>
            <a:off x="10167709" y="2900172"/>
            <a:ext cx="0" cy="1543050"/>
          </a:xfrm>
          <a:prstGeom prst="line">
            <a:avLst/>
          </a:prstGeom>
          <a:ln w="9525" cap="flat">
            <a:solidFill>
              <a:srgbClr val="E6E8F2"/>
            </a:solidFill>
          </a:ln>
        </p:spPr>
      </p:cxnSp>
      <p:cxnSp>
        <p:nvCxnSpPr>
          <p:cNvPr id="32" name="Line 32"/>
          <p:cNvCxnSpPr/>
          <p:nvPr/>
        </p:nvCxnSpPr>
        <p:spPr>
          <a:xfrm>
            <a:off x="10351065" y="2900172"/>
            <a:ext cx="0" cy="1543050"/>
          </a:xfrm>
          <a:prstGeom prst="line">
            <a:avLst/>
          </a:prstGeom>
          <a:ln w="9525" cap="flat">
            <a:solidFill>
              <a:srgbClr val="E6E8F2"/>
            </a:solidFill>
          </a:ln>
        </p:spPr>
      </p:cxnSp>
      <p:cxnSp>
        <p:nvCxnSpPr>
          <p:cNvPr id="33" name="Line 33"/>
          <p:cNvCxnSpPr/>
          <p:nvPr/>
        </p:nvCxnSpPr>
        <p:spPr>
          <a:xfrm>
            <a:off x="10534421" y="2900172"/>
            <a:ext cx="0" cy="1543050"/>
          </a:xfrm>
          <a:prstGeom prst="line">
            <a:avLst/>
          </a:prstGeom>
          <a:ln w="9525" cap="flat">
            <a:solidFill>
              <a:srgbClr val="E6E8F2"/>
            </a:solidFill>
          </a:ln>
        </p:spPr>
      </p:cxnSp>
      <p:cxnSp>
        <p:nvCxnSpPr>
          <p:cNvPr id="34" name="Line 34"/>
          <p:cNvCxnSpPr/>
          <p:nvPr/>
        </p:nvCxnSpPr>
        <p:spPr>
          <a:xfrm>
            <a:off x="10717778" y="2900172"/>
            <a:ext cx="0" cy="1543050"/>
          </a:xfrm>
          <a:prstGeom prst="line">
            <a:avLst/>
          </a:prstGeom>
          <a:ln w="9525" cap="flat">
            <a:solidFill>
              <a:srgbClr val="E6E8F2"/>
            </a:solidFill>
          </a:ln>
        </p:spPr>
      </p:cxnSp>
      <p:cxnSp>
        <p:nvCxnSpPr>
          <p:cNvPr id="35" name="Line 35"/>
          <p:cNvCxnSpPr/>
          <p:nvPr/>
        </p:nvCxnSpPr>
        <p:spPr>
          <a:xfrm>
            <a:off x="10901134" y="2900172"/>
            <a:ext cx="0" cy="1543050"/>
          </a:xfrm>
          <a:prstGeom prst="line">
            <a:avLst/>
          </a:prstGeom>
          <a:ln w="9525" cap="flat">
            <a:solidFill>
              <a:srgbClr val="E6E8F2"/>
            </a:solidFill>
          </a:ln>
        </p:spPr>
      </p:cxnSp>
      <p:cxnSp>
        <p:nvCxnSpPr>
          <p:cNvPr id="36" name="Line 36"/>
          <p:cNvCxnSpPr/>
          <p:nvPr/>
        </p:nvCxnSpPr>
        <p:spPr>
          <a:xfrm>
            <a:off x="9434284" y="4443222"/>
            <a:ext cx="1466850" cy="0"/>
          </a:xfrm>
          <a:prstGeom prst="line">
            <a:avLst/>
          </a:prstGeom>
          <a:ln w="9525" cap="flat">
            <a:solidFill>
              <a:srgbClr val="E6E8F2"/>
            </a:solidFill>
          </a:ln>
        </p:spPr>
      </p:cxnSp>
      <p:cxnSp>
        <p:nvCxnSpPr>
          <p:cNvPr id="37" name="Line 37"/>
          <p:cNvCxnSpPr/>
          <p:nvPr/>
        </p:nvCxnSpPr>
        <p:spPr>
          <a:xfrm>
            <a:off x="9434284" y="4314634"/>
            <a:ext cx="1466850" cy="0"/>
          </a:xfrm>
          <a:prstGeom prst="line">
            <a:avLst/>
          </a:prstGeom>
          <a:ln w="9525" cap="flat">
            <a:solidFill>
              <a:srgbClr val="E6E8F2"/>
            </a:solidFill>
          </a:ln>
        </p:spPr>
      </p:cxnSp>
      <p:cxnSp>
        <p:nvCxnSpPr>
          <p:cNvPr id="38" name="Line 38"/>
          <p:cNvCxnSpPr/>
          <p:nvPr/>
        </p:nvCxnSpPr>
        <p:spPr>
          <a:xfrm>
            <a:off x="9434284" y="4186047"/>
            <a:ext cx="1466850" cy="0"/>
          </a:xfrm>
          <a:prstGeom prst="line">
            <a:avLst/>
          </a:prstGeom>
          <a:ln w="9525" cap="flat">
            <a:solidFill>
              <a:srgbClr val="E6E8F2"/>
            </a:solidFill>
          </a:ln>
        </p:spPr>
      </p:cxnSp>
      <p:cxnSp>
        <p:nvCxnSpPr>
          <p:cNvPr id="39" name="Line 39"/>
          <p:cNvCxnSpPr/>
          <p:nvPr/>
        </p:nvCxnSpPr>
        <p:spPr>
          <a:xfrm>
            <a:off x="9434284" y="4057460"/>
            <a:ext cx="1466850" cy="0"/>
          </a:xfrm>
          <a:prstGeom prst="line">
            <a:avLst/>
          </a:prstGeom>
          <a:ln w="9525" cap="flat">
            <a:solidFill>
              <a:srgbClr val="E6E8F2"/>
            </a:solidFill>
          </a:ln>
        </p:spPr>
      </p:cxnSp>
      <p:cxnSp>
        <p:nvCxnSpPr>
          <p:cNvPr id="40" name="Line 40"/>
          <p:cNvCxnSpPr/>
          <p:nvPr/>
        </p:nvCxnSpPr>
        <p:spPr>
          <a:xfrm>
            <a:off x="9434284" y="3928872"/>
            <a:ext cx="1466850" cy="0"/>
          </a:xfrm>
          <a:prstGeom prst="line">
            <a:avLst/>
          </a:prstGeom>
          <a:ln w="9525" cap="flat">
            <a:solidFill>
              <a:srgbClr val="E6E8F2"/>
            </a:solidFill>
          </a:ln>
        </p:spPr>
      </p:cxnSp>
      <p:cxnSp>
        <p:nvCxnSpPr>
          <p:cNvPr id="41" name="Line 41"/>
          <p:cNvCxnSpPr/>
          <p:nvPr/>
        </p:nvCxnSpPr>
        <p:spPr>
          <a:xfrm>
            <a:off x="9434284" y="3800284"/>
            <a:ext cx="1466850" cy="0"/>
          </a:xfrm>
          <a:prstGeom prst="line">
            <a:avLst/>
          </a:prstGeom>
          <a:ln w="9525" cap="flat">
            <a:solidFill>
              <a:srgbClr val="E6E8F2"/>
            </a:solidFill>
          </a:ln>
        </p:spPr>
      </p:cxnSp>
      <p:cxnSp>
        <p:nvCxnSpPr>
          <p:cNvPr id="42" name="Line 42"/>
          <p:cNvCxnSpPr/>
          <p:nvPr/>
        </p:nvCxnSpPr>
        <p:spPr>
          <a:xfrm>
            <a:off x="9434284" y="3671697"/>
            <a:ext cx="1466850" cy="0"/>
          </a:xfrm>
          <a:prstGeom prst="line">
            <a:avLst/>
          </a:prstGeom>
          <a:ln w="9525" cap="flat">
            <a:solidFill>
              <a:srgbClr val="E6E8F2"/>
            </a:solidFill>
          </a:ln>
        </p:spPr>
      </p:cxnSp>
      <p:cxnSp>
        <p:nvCxnSpPr>
          <p:cNvPr id="43" name="Line 43"/>
          <p:cNvCxnSpPr/>
          <p:nvPr/>
        </p:nvCxnSpPr>
        <p:spPr>
          <a:xfrm>
            <a:off x="9434284" y="3543110"/>
            <a:ext cx="1466850" cy="0"/>
          </a:xfrm>
          <a:prstGeom prst="line">
            <a:avLst/>
          </a:prstGeom>
          <a:ln w="9525" cap="flat">
            <a:solidFill>
              <a:srgbClr val="E6E8F2"/>
            </a:solidFill>
          </a:ln>
        </p:spPr>
      </p:cxnSp>
      <p:cxnSp>
        <p:nvCxnSpPr>
          <p:cNvPr id="44" name="Line 44"/>
          <p:cNvCxnSpPr/>
          <p:nvPr/>
        </p:nvCxnSpPr>
        <p:spPr>
          <a:xfrm>
            <a:off x="9434284" y="3414522"/>
            <a:ext cx="1466850" cy="0"/>
          </a:xfrm>
          <a:prstGeom prst="line">
            <a:avLst/>
          </a:prstGeom>
          <a:ln w="9525" cap="flat">
            <a:solidFill>
              <a:srgbClr val="E6E8F2"/>
            </a:solidFill>
          </a:ln>
        </p:spPr>
      </p:cxnSp>
      <p:cxnSp>
        <p:nvCxnSpPr>
          <p:cNvPr id="45" name="Line 45"/>
          <p:cNvCxnSpPr/>
          <p:nvPr/>
        </p:nvCxnSpPr>
        <p:spPr>
          <a:xfrm>
            <a:off x="9434284" y="3285934"/>
            <a:ext cx="1466850" cy="0"/>
          </a:xfrm>
          <a:prstGeom prst="line">
            <a:avLst/>
          </a:prstGeom>
          <a:ln w="9525" cap="flat">
            <a:solidFill>
              <a:srgbClr val="E6E8F2"/>
            </a:solidFill>
          </a:ln>
        </p:spPr>
      </p:cxnSp>
      <p:cxnSp>
        <p:nvCxnSpPr>
          <p:cNvPr id="46" name="Line 46"/>
          <p:cNvCxnSpPr/>
          <p:nvPr/>
        </p:nvCxnSpPr>
        <p:spPr>
          <a:xfrm>
            <a:off x="9434284" y="3157347"/>
            <a:ext cx="1466850" cy="0"/>
          </a:xfrm>
          <a:prstGeom prst="line">
            <a:avLst/>
          </a:prstGeom>
          <a:ln w="9525" cap="flat">
            <a:solidFill>
              <a:srgbClr val="E6E8F2"/>
            </a:solidFill>
          </a:ln>
        </p:spPr>
      </p:cxnSp>
      <p:cxnSp>
        <p:nvCxnSpPr>
          <p:cNvPr id="47" name="Line 47"/>
          <p:cNvCxnSpPr/>
          <p:nvPr/>
        </p:nvCxnSpPr>
        <p:spPr>
          <a:xfrm>
            <a:off x="9434284" y="3028760"/>
            <a:ext cx="1466850" cy="0"/>
          </a:xfrm>
          <a:prstGeom prst="line">
            <a:avLst/>
          </a:prstGeom>
          <a:ln w="9525" cap="flat">
            <a:solidFill>
              <a:srgbClr val="E6E8F2"/>
            </a:solidFill>
          </a:ln>
        </p:spPr>
      </p:cxnSp>
      <p:cxnSp>
        <p:nvCxnSpPr>
          <p:cNvPr id="48" name="Line 48"/>
          <p:cNvCxnSpPr/>
          <p:nvPr/>
        </p:nvCxnSpPr>
        <p:spPr>
          <a:xfrm>
            <a:off x="9434284" y="2900172"/>
            <a:ext cx="1466850" cy="0"/>
          </a:xfrm>
          <a:prstGeom prst="line">
            <a:avLst/>
          </a:prstGeom>
          <a:ln w="9525" cap="flat">
            <a:solidFill>
              <a:srgbClr val="E6E8F2"/>
            </a:solidFill>
          </a:ln>
        </p:spPr>
      </p:cxnSp>
      <p:cxnSp>
        <p:nvCxnSpPr>
          <p:cNvPr id="49" name="Line 49"/>
          <p:cNvCxnSpPr/>
          <p:nvPr/>
        </p:nvCxnSpPr>
        <p:spPr>
          <a:xfrm>
            <a:off x="10167709" y="2900172"/>
            <a:ext cx="0" cy="1543050"/>
          </a:xfrm>
          <a:prstGeom prst="line">
            <a:avLst/>
          </a:prstGeom>
          <a:ln w="19050" cap="flat">
            <a:solidFill>
              <a:srgbClr val="5F6272"/>
            </a:solidFill>
          </a:ln>
        </p:spPr>
      </p:cxnSp>
      <p:cxnSp>
        <p:nvCxnSpPr>
          <p:cNvPr id="50" name="Line 50"/>
          <p:cNvCxnSpPr/>
          <p:nvPr/>
        </p:nvCxnSpPr>
        <p:spPr>
          <a:xfrm>
            <a:off x="9434284" y="3928872"/>
            <a:ext cx="1466850" cy="0"/>
          </a:xfrm>
          <a:prstGeom prst="line">
            <a:avLst/>
          </a:prstGeom>
          <a:ln w="19050" cap="flat">
            <a:solidFill>
              <a:srgbClr val="5F6272"/>
            </a:solidFill>
          </a:ln>
        </p:spPr>
      </p:cxnSp>
      <p:sp>
        <p:nvSpPr>
          <p:cNvPr id="51" name="Shape 51"/>
          <p:cNvSpPr txBox="1"/>
          <p:nvPr/>
        </p:nvSpPr>
        <p:spPr>
          <a:xfrm>
            <a:off x="915996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9526676"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9893389"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10260101"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10626814" y="44622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8867356" y="43517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8867356" y="40946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8867356" y="38374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9" name="Shape 59"/>
          <p:cNvSpPr txBox="1"/>
          <p:nvPr/>
        </p:nvSpPr>
        <p:spPr>
          <a:xfrm>
            <a:off x="8867356" y="358025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0" name="Shape 60"/>
          <p:cNvSpPr txBox="1"/>
          <p:nvPr/>
        </p:nvSpPr>
        <p:spPr>
          <a:xfrm>
            <a:off x="8867356"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1" name="Shape 61"/>
          <p:cNvSpPr txBox="1"/>
          <p:nvPr/>
        </p:nvSpPr>
        <p:spPr>
          <a:xfrm>
            <a:off x="8867356" y="30659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2" name="Shape 62"/>
          <p:cNvSpPr txBox="1"/>
          <p:nvPr/>
        </p:nvSpPr>
        <p:spPr>
          <a:xfrm>
            <a:off x="8867356"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3" name="Line 63"/>
          <p:cNvCxnSpPr/>
          <p:nvPr/>
        </p:nvCxnSpPr>
        <p:spPr>
          <a:xfrm flipV="1">
            <a:off x="9837668" y="2900172"/>
            <a:ext cx="440055" cy="1543050"/>
          </a:xfrm>
          <a:prstGeom prst="line">
            <a:avLst/>
          </a:prstGeom>
          <a:ln w="38100" cap="rnd">
            <a:solidFill>
              <a:srgbClr val="16171D"/>
            </a:solidFill>
          </a:ln>
        </p:spPr>
      </p:cxnSp>
      <p:sp>
        <p:nvSpPr>
          <p:cNvPr id="64" name="Shape 64"/>
          <p:cNvSpPr/>
          <p:nvPr/>
        </p:nvSpPr>
        <p:spPr>
          <a:xfrm>
            <a:off x="10115321" y="323354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10253434" y="303828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(0, 5)</a:t>
            </a:r>
            <a:endParaRPr lang="en-US" sz="1125" dirty="0"/>
          </a:p>
        </p:txBody>
      </p:sp>
      <p:sp>
        <p:nvSpPr>
          <p:cNvPr id="66" name="Shape 66"/>
          <p:cNvSpPr txBox="1"/>
          <p:nvPr/>
        </p:nvSpPr>
        <p:spPr>
          <a:xfrm>
            <a:off x="9110434" y="4786122"/>
            <a:ext cx="218591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one whose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 isn't 0</a:t>
            </a:r>
            <a:r>
              <a:rPr lang="en-US" sz="1575" dirty="0">
                <a:solidFill>
                  <a:srgbClr val="16171D"/>
                </a:solidFill>
                <a:latin typeface="Segoe UI"/>
                <a:cs typeface="Segoe UI"/>
              </a:rPr>
              <a:t xml:space="preserve">.</a:t>
            </a:r>
            <a:endParaRPr lang="en-US" sz="1575" dirty="0"/>
          </a:p>
        </p:txBody>
      </p:sp>
      <p:sp>
        <p:nvSpPr>
          <p:cNvPr id="68" name="Slide Number 6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anim calcmode="lin" valueType="num">
                                      <p:cBhvr>
                                        <p:cTn id="26" dur="500" fill="hold"/>
                                        <p:tgtEl>
                                          <p:spTgt spid="66"/>
                                        </p:tgtEl>
                                        <p:attrNameLst>
                                          <p:attrName>ppt_x</p:attrName>
                                        </p:attrNameLst>
                                      </p:cBhvr>
                                      <p:tavLst>
                                        <p:tav tm="0">
                                          <p:val>
                                            <p:strVal val="#ppt_x"/>
                                          </p:val>
                                        </p:tav>
                                        <p:tav tm="100000">
                                          <p:val>
                                            <p:strVal val="#ppt_x"/>
                                          </p:val>
                                        </p:tav>
                                      </p:tavLst>
                                    </p:anim>
                                    <p:anim calcmode="lin" valueType="num">
                                      <p:cBhvr>
                                        <p:cTn id="27"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16" name="Shape 16"/>
          <p:cNvSpPr txBox="1"/>
          <p:nvPr/>
        </p:nvSpPr>
        <p:spPr>
          <a:xfrm>
            <a:off x="685800"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a:t>
            </a:r>
            <a:endParaRPr lang="en-US" sz="2100" dirty="0"/>
          </a:p>
        </p:txBody>
      </p:sp>
      <p:sp>
        <p:nvSpPr>
          <p:cNvPr id="5" name="Shape 5"/>
          <p:cNvSpPr txBox="1"/>
          <p:nvPr/>
        </p:nvSpPr>
        <p:spPr>
          <a:xfrm>
            <a:off x="895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2038350"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7" name="Shape 7"/>
          <p:cNvSpPr txBox="1"/>
          <p:nvPr/>
        </p:nvSpPr>
        <p:spPr>
          <a:xfrm>
            <a:off x="895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−2.5</a:t>
            </a:r>
            <a:endParaRPr lang="en-US" sz="1650" dirty="0"/>
          </a:p>
        </p:txBody>
      </p:sp>
      <p:sp>
        <p:nvSpPr>
          <p:cNvPr id="8" name="Shape 8"/>
          <p:cNvSpPr txBox="1"/>
          <p:nvPr/>
        </p:nvSpPr>
        <p:spPr>
          <a:xfrm>
            <a:off x="2038350"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9" name="Shape 9"/>
          <p:cNvSpPr txBox="1"/>
          <p:nvPr/>
        </p:nvSpPr>
        <p:spPr>
          <a:xfrm>
            <a:off x="895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0" name="Shape 10"/>
          <p:cNvSpPr txBox="1"/>
          <p:nvPr/>
        </p:nvSpPr>
        <p:spPr>
          <a:xfrm>
            <a:off x="2038350"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895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12" name="Shape 12"/>
          <p:cNvSpPr txBox="1"/>
          <p:nvPr/>
        </p:nvSpPr>
        <p:spPr>
          <a:xfrm>
            <a:off x="2038350"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3" name="Shape 13"/>
          <p:cNvSpPr txBox="1"/>
          <p:nvPr/>
        </p:nvSpPr>
        <p:spPr>
          <a:xfrm>
            <a:off x="895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4" name="Shape 14"/>
          <p:cNvSpPr txBox="1"/>
          <p:nvPr/>
        </p:nvSpPr>
        <p:spPr>
          <a:xfrm>
            <a:off x="2038350"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16</a:t>
            </a:r>
            <a:endParaRPr lang="en-US" sz="1650" dirty="0"/>
          </a:p>
        </p:txBody>
      </p:sp>
      <p:sp>
        <p:nvSpPr>
          <p:cNvPr id="15" name="Shape 15"/>
          <p:cNvSpPr txBox="1"/>
          <p:nvPr/>
        </p:nvSpPr>
        <p:spPr>
          <a:xfrm>
            <a:off x="895350"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20" name="Shape 20"/>
          <p:cNvSpPr txBox="1"/>
          <p:nvPr/>
        </p:nvSpPr>
        <p:spPr>
          <a:xfrm>
            <a:off x="4355998"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a:t>
            </a:r>
            <a:endParaRPr lang="en-US" sz="2100" dirty="0"/>
          </a:p>
        </p:txBody>
      </p:sp>
      <p:sp>
        <p:nvSpPr>
          <p:cNvPr id="18" name="Shape 18"/>
          <p:cNvSpPr txBox="1"/>
          <p:nvPr/>
        </p:nvSpPr>
        <p:spPr>
          <a:xfrm>
            <a:off x="4565548"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elevator descends 4 feet every second.</a:t>
            </a:r>
            <a:endParaRPr lang="en-US" sz="1575" dirty="0"/>
          </a:p>
        </p:txBody>
      </p:sp>
      <p:sp>
        <p:nvSpPr>
          <p:cNvPr id="19" name="Shape 19"/>
          <p:cNvSpPr txBox="1"/>
          <p:nvPr/>
        </p:nvSpPr>
        <p:spPr>
          <a:xfrm>
            <a:off x="4565548"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24" name="Shape 24"/>
          <p:cNvSpPr txBox="1"/>
          <p:nvPr/>
        </p:nvSpPr>
        <p:spPr>
          <a:xfrm>
            <a:off x="8026197" y="2144268"/>
            <a:ext cx="3479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
            </a:r>
            <a:endParaRPr lang="en-US" sz="2100" dirty="0"/>
          </a:p>
        </p:txBody>
      </p:sp>
      <p:sp>
        <p:nvSpPr>
          <p:cNvPr id="22" name="Shape 22"/>
          <p:cNvSpPr txBox="1"/>
          <p:nvPr/>
        </p:nvSpPr>
        <p:spPr>
          <a:xfrm>
            <a:off x="8235747" y="2785872"/>
            <a:ext cx="3060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3" name="Shape 23"/>
          <p:cNvSpPr txBox="1"/>
          <p:nvPr/>
        </p:nvSpPr>
        <p:spPr>
          <a:xfrm>
            <a:off x="8235747" y="3290316"/>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4 · ¼ = 1</a:t>
            </a:r>
            <a:r>
              <a:rPr lang="en-US" sz="1575" dirty="0">
                <a:solidFill>
                  <a:srgbClr val="16171D"/>
                </a:solidFill>
                <a:latin typeface="Segoe UI"/>
                <a:cs typeface="Segoe UI"/>
              </a:rPr>
              <a:t xml:space="preserve">, not −1.</a:t>
            </a:r>
            <a:endParaRPr lang="en-US" sz="1575" dirty="0"/>
          </a:p>
        </p:txBody>
      </p:sp>
      <p:sp>
        <p:nvSpPr>
          <p:cNvPr id="25" name="Slide Number 2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500"/>
                                        <p:tgtEl>
                                          <p:spTgt spid="19"/>
                                        </p:tgtEl>
                                      </p:cBhvr>
                                    </p:animEffect>
                                    <p:anim calcmode="lin" valueType="num">
                                      <p:cBhvr>
                                        <p:cTn id="12" dur="500" fill="hold"/>
                                        <p:tgtEl>
                                          <p:spTgt spid="19"/>
                                        </p:tgtEl>
                                        <p:attrNameLst>
                                          <p:attrName>ppt_x</p:attrName>
                                        </p:attrNameLst>
                                      </p:cBhvr>
                                      <p:tavLst>
                                        <p:tav tm="0">
                                          <p:val>
                                            <p:strVal val="#ppt_x"/>
                                          </p:val>
                                        </p:tav>
                                        <p:tav tm="100000">
                                          <p:val>
                                            <p:strVal val="#ppt_x"/>
                                          </p:val>
                                        </p:tav>
                                      </p:tavLst>
                                    </p:anim>
                                    <p:anim calcmode="lin" valueType="num">
                                      <p:cBhvr>
                                        <p:cTn id="13"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500"/>
                                        <p:tgtEl>
                                          <p:spTgt spid="23"/>
                                        </p:tgtEl>
                                      </p:cBhvr>
                                    </p:animEffect>
                                    <p:anim calcmode="lin" valueType="num">
                                      <p:cBhvr>
                                        <p:cTn id="19" dur="500" fill="hold"/>
                                        <p:tgtEl>
                                          <p:spTgt spid="23"/>
                                        </p:tgtEl>
                                        <p:attrNameLst>
                                          <p:attrName>ppt_x</p:attrName>
                                        </p:attrNameLst>
                                      </p:cBhvr>
                                      <p:tavLst>
                                        <p:tav tm="0">
                                          <p:val>
                                            <p:strVal val="#ppt_x"/>
                                          </p:val>
                                        </p:tav>
                                        <p:tav tm="100000">
                                          <p:val>
                                            <p:strVal val="#ppt_x"/>
                                          </p:val>
                                        </p:tav>
                                      </p:tavLst>
                                    </p:anim>
                                    <p:anim calcmode="lin" valueType="num">
                                      <p:cBhvr>
                                        <p:cTn id="20" dur="5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Slopes of Linear Relationships · SE p. 321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Parallel, perpendicular, or neither to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4</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− 3</a:t>
            </a:r>
            <a:r>
              <a:rPr lang="en-US" sz="3450" dirty="0" b="1">
                <a:solidFill>
                  <a:srgbClr val="16171D"/>
                </a:solidFill>
                <a:latin typeface="Segoe UI"/>
                <a:cs typeface="Segoe UI"/>
              </a:rPr>
              <a:t xml:space="preserve">?</a:t>
            </a:r>
            <a:endParaRPr lang="en-US" sz="3450" dirty="0"/>
          </a:p>
        </p:txBody>
      </p:sp>
      <p:sp>
        <p:nvSpPr>
          <p:cNvPr id="54" name="Shape 54"/>
          <p:cNvSpPr txBox="1"/>
          <p:nvPr/>
        </p:nvSpPr>
        <p:spPr>
          <a:xfrm>
            <a:off x="685800" y="2144268"/>
            <a:ext cx="3479698" cy="40606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a:t>
            </a:r>
            <a:endParaRPr lang="en-US" sz="2100" dirty="0"/>
          </a:p>
        </p:txBody>
      </p:sp>
      <p:sp>
        <p:nvSpPr>
          <p:cNvPr id="5" name="Shape 5"/>
          <p:cNvSpPr/>
          <p:nvPr/>
        </p:nvSpPr>
        <p:spPr>
          <a:xfrm>
            <a:off x="895350" y="278587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900172"/>
            <a:ext cx="0" cy="2495550"/>
          </a:xfrm>
          <a:prstGeom prst="line">
            <a:avLst/>
          </a:prstGeom>
          <a:ln w="9525" cap="flat">
            <a:solidFill>
              <a:srgbClr val="E6E8F2"/>
            </a:solidFill>
          </a:ln>
        </p:spPr>
      </p:cxnSp>
      <p:cxnSp>
        <p:nvCxnSpPr>
          <p:cNvPr id="7" name="Line 7"/>
          <p:cNvCxnSpPr/>
          <p:nvPr/>
        </p:nvCxnSpPr>
        <p:spPr>
          <a:xfrm>
            <a:off x="1370409" y="2900172"/>
            <a:ext cx="0" cy="2495550"/>
          </a:xfrm>
          <a:prstGeom prst="line">
            <a:avLst/>
          </a:prstGeom>
          <a:ln w="9525" cap="flat">
            <a:solidFill>
              <a:srgbClr val="E6E8F2"/>
            </a:solidFill>
          </a:ln>
        </p:spPr>
      </p:cxnSp>
      <p:cxnSp>
        <p:nvCxnSpPr>
          <p:cNvPr id="8" name="Line 8"/>
          <p:cNvCxnSpPr/>
          <p:nvPr/>
        </p:nvCxnSpPr>
        <p:spPr>
          <a:xfrm>
            <a:off x="1521619" y="2900172"/>
            <a:ext cx="0" cy="2495550"/>
          </a:xfrm>
          <a:prstGeom prst="line">
            <a:avLst/>
          </a:prstGeom>
          <a:ln w="9525" cap="flat">
            <a:solidFill>
              <a:srgbClr val="E6E8F2"/>
            </a:solidFill>
          </a:ln>
        </p:spPr>
      </p:cxnSp>
      <p:cxnSp>
        <p:nvCxnSpPr>
          <p:cNvPr id="9" name="Line 9"/>
          <p:cNvCxnSpPr/>
          <p:nvPr/>
        </p:nvCxnSpPr>
        <p:spPr>
          <a:xfrm>
            <a:off x="1672828" y="2900172"/>
            <a:ext cx="0" cy="2495550"/>
          </a:xfrm>
          <a:prstGeom prst="line">
            <a:avLst/>
          </a:prstGeom>
          <a:ln w="9525" cap="flat">
            <a:solidFill>
              <a:srgbClr val="E6E8F2"/>
            </a:solidFill>
          </a:ln>
        </p:spPr>
      </p:cxnSp>
      <p:cxnSp>
        <p:nvCxnSpPr>
          <p:cNvPr id="10" name="Line 10"/>
          <p:cNvCxnSpPr/>
          <p:nvPr/>
        </p:nvCxnSpPr>
        <p:spPr>
          <a:xfrm>
            <a:off x="1824037" y="2900172"/>
            <a:ext cx="0" cy="2495550"/>
          </a:xfrm>
          <a:prstGeom prst="line">
            <a:avLst/>
          </a:prstGeom>
          <a:ln w="9525" cap="flat">
            <a:solidFill>
              <a:srgbClr val="E6E8F2"/>
            </a:solidFill>
          </a:ln>
        </p:spPr>
      </p:cxnSp>
      <p:cxnSp>
        <p:nvCxnSpPr>
          <p:cNvPr id="11" name="Line 11"/>
          <p:cNvCxnSpPr/>
          <p:nvPr/>
        </p:nvCxnSpPr>
        <p:spPr>
          <a:xfrm>
            <a:off x="1975247" y="2900172"/>
            <a:ext cx="0" cy="2495550"/>
          </a:xfrm>
          <a:prstGeom prst="line">
            <a:avLst/>
          </a:prstGeom>
          <a:ln w="9525" cap="flat">
            <a:solidFill>
              <a:srgbClr val="E6E8F2"/>
            </a:solidFill>
          </a:ln>
        </p:spPr>
      </p:cxnSp>
      <p:cxnSp>
        <p:nvCxnSpPr>
          <p:cNvPr id="12" name="Line 12"/>
          <p:cNvCxnSpPr/>
          <p:nvPr/>
        </p:nvCxnSpPr>
        <p:spPr>
          <a:xfrm>
            <a:off x="2126456" y="2900172"/>
            <a:ext cx="0" cy="2495550"/>
          </a:xfrm>
          <a:prstGeom prst="line">
            <a:avLst/>
          </a:prstGeom>
          <a:ln w="9525" cap="flat">
            <a:solidFill>
              <a:srgbClr val="E6E8F2"/>
            </a:solidFill>
          </a:ln>
        </p:spPr>
      </p:cxnSp>
      <p:cxnSp>
        <p:nvCxnSpPr>
          <p:cNvPr id="13" name="Line 13"/>
          <p:cNvCxnSpPr/>
          <p:nvPr/>
        </p:nvCxnSpPr>
        <p:spPr>
          <a:xfrm>
            <a:off x="2277666" y="2900172"/>
            <a:ext cx="0" cy="2495550"/>
          </a:xfrm>
          <a:prstGeom prst="line">
            <a:avLst/>
          </a:prstGeom>
          <a:ln w="9525" cap="flat">
            <a:solidFill>
              <a:srgbClr val="E6E8F2"/>
            </a:solidFill>
          </a:ln>
        </p:spPr>
      </p:cxnSp>
      <p:cxnSp>
        <p:nvCxnSpPr>
          <p:cNvPr id="14" name="Line 14"/>
          <p:cNvCxnSpPr/>
          <p:nvPr/>
        </p:nvCxnSpPr>
        <p:spPr>
          <a:xfrm>
            <a:off x="2428875" y="2900172"/>
            <a:ext cx="0" cy="2495550"/>
          </a:xfrm>
          <a:prstGeom prst="line">
            <a:avLst/>
          </a:prstGeom>
          <a:ln w="9525" cap="flat">
            <a:solidFill>
              <a:srgbClr val="E6E8F2"/>
            </a:solidFill>
          </a:ln>
        </p:spPr>
      </p:cxnSp>
      <p:cxnSp>
        <p:nvCxnSpPr>
          <p:cNvPr id="15" name="Line 15"/>
          <p:cNvCxnSpPr/>
          <p:nvPr/>
        </p:nvCxnSpPr>
        <p:spPr>
          <a:xfrm>
            <a:off x="2580084" y="2900172"/>
            <a:ext cx="0" cy="2495550"/>
          </a:xfrm>
          <a:prstGeom prst="line">
            <a:avLst/>
          </a:prstGeom>
          <a:ln w="9525" cap="flat">
            <a:solidFill>
              <a:srgbClr val="E6E8F2"/>
            </a:solidFill>
          </a:ln>
        </p:spPr>
      </p:cxnSp>
      <p:cxnSp>
        <p:nvCxnSpPr>
          <p:cNvPr id="16" name="Line 16"/>
          <p:cNvCxnSpPr/>
          <p:nvPr/>
        </p:nvCxnSpPr>
        <p:spPr>
          <a:xfrm>
            <a:off x="2731294" y="2900172"/>
            <a:ext cx="0" cy="2495550"/>
          </a:xfrm>
          <a:prstGeom prst="line">
            <a:avLst/>
          </a:prstGeom>
          <a:ln w="9525" cap="flat">
            <a:solidFill>
              <a:srgbClr val="E6E8F2"/>
            </a:solidFill>
          </a:ln>
        </p:spPr>
      </p:cxnSp>
      <p:cxnSp>
        <p:nvCxnSpPr>
          <p:cNvPr id="17" name="Line 17"/>
          <p:cNvCxnSpPr/>
          <p:nvPr/>
        </p:nvCxnSpPr>
        <p:spPr>
          <a:xfrm>
            <a:off x="2882503" y="2900172"/>
            <a:ext cx="0" cy="2495550"/>
          </a:xfrm>
          <a:prstGeom prst="line">
            <a:avLst/>
          </a:prstGeom>
          <a:ln w="9525" cap="flat">
            <a:solidFill>
              <a:srgbClr val="E6E8F2"/>
            </a:solidFill>
          </a:ln>
        </p:spPr>
      </p:cxnSp>
      <p:cxnSp>
        <p:nvCxnSpPr>
          <p:cNvPr id="18" name="Line 18"/>
          <p:cNvCxnSpPr/>
          <p:nvPr/>
        </p:nvCxnSpPr>
        <p:spPr>
          <a:xfrm>
            <a:off x="3033712" y="2900172"/>
            <a:ext cx="0" cy="2495550"/>
          </a:xfrm>
          <a:prstGeom prst="line">
            <a:avLst/>
          </a:prstGeom>
          <a:ln w="9525" cap="flat">
            <a:solidFill>
              <a:srgbClr val="E6E8F2"/>
            </a:solidFill>
          </a:ln>
        </p:spPr>
      </p:cxnSp>
      <p:cxnSp>
        <p:nvCxnSpPr>
          <p:cNvPr id="19" name="Line 19"/>
          <p:cNvCxnSpPr/>
          <p:nvPr/>
        </p:nvCxnSpPr>
        <p:spPr>
          <a:xfrm>
            <a:off x="3184922" y="2900172"/>
            <a:ext cx="0" cy="2495550"/>
          </a:xfrm>
          <a:prstGeom prst="line">
            <a:avLst/>
          </a:prstGeom>
          <a:ln w="9525" cap="flat">
            <a:solidFill>
              <a:srgbClr val="E6E8F2"/>
            </a:solidFill>
          </a:ln>
        </p:spPr>
      </p:cxnSp>
      <p:cxnSp>
        <p:nvCxnSpPr>
          <p:cNvPr id="20" name="Line 20"/>
          <p:cNvCxnSpPr/>
          <p:nvPr/>
        </p:nvCxnSpPr>
        <p:spPr>
          <a:xfrm>
            <a:off x="3336131" y="2900172"/>
            <a:ext cx="0" cy="2495550"/>
          </a:xfrm>
          <a:prstGeom prst="line">
            <a:avLst/>
          </a:prstGeom>
          <a:ln w="9525" cap="flat">
            <a:solidFill>
              <a:srgbClr val="E6E8F2"/>
            </a:solidFill>
          </a:ln>
        </p:spPr>
      </p:cxnSp>
      <p:cxnSp>
        <p:nvCxnSpPr>
          <p:cNvPr id="21" name="Line 21"/>
          <p:cNvCxnSpPr/>
          <p:nvPr/>
        </p:nvCxnSpPr>
        <p:spPr>
          <a:xfrm>
            <a:off x="3487341" y="2900172"/>
            <a:ext cx="0" cy="2495550"/>
          </a:xfrm>
          <a:prstGeom prst="line">
            <a:avLst/>
          </a:prstGeom>
          <a:ln w="9525" cap="flat">
            <a:solidFill>
              <a:srgbClr val="E6E8F2"/>
            </a:solidFill>
          </a:ln>
        </p:spPr>
      </p:cxnSp>
      <p:cxnSp>
        <p:nvCxnSpPr>
          <p:cNvPr id="22" name="Line 22"/>
          <p:cNvCxnSpPr/>
          <p:nvPr/>
        </p:nvCxnSpPr>
        <p:spPr>
          <a:xfrm>
            <a:off x="3638550" y="2900172"/>
            <a:ext cx="0" cy="2495550"/>
          </a:xfrm>
          <a:prstGeom prst="line">
            <a:avLst/>
          </a:prstGeom>
          <a:ln w="9525" cap="flat">
            <a:solidFill>
              <a:srgbClr val="E6E8F2"/>
            </a:solidFill>
          </a:ln>
        </p:spPr>
      </p:cxnSp>
      <p:cxnSp>
        <p:nvCxnSpPr>
          <p:cNvPr id="23" name="Line 23"/>
          <p:cNvCxnSpPr/>
          <p:nvPr/>
        </p:nvCxnSpPr>
        <p:spPr>
          <a:xfrm>
            <a:off x="1219200" y="5395722"/>
            <a:ext cx="2419350" cy="0"/>
          </a:xfrm>
          <a:prstGeom prst="line">
            <a:avLst/>
          </a:prstGeom>
          <a:ln w="9525" cap="flat">
            <a:solidFill>
              <a:srgbClr val="E6E8F2"/>
            </a:solidFill>
          </a:ln>
        </p:spPr>
      </p:cxnSp>
      <p:cxnSp>
        <p:nvCxnSpPr>
          <p:cNvPr id="24" name="Line 24"/>
          <p:cNvCxnSpPr/>
          <p:nvPr/>
        </p:nvCxnSpPr>
        <p:spPr>
          <a:xfrm>
            <a:off x="1219200" y="5239750"/>
            <a:ext cx="2419350" cy="0"/>
          </a:xfrm>
          <a:prstGeom prst="line">
            <a:avLst/>
          </a:prstGeom>
          <a:ln w="9525" cap="flat">
            <a:solidFill>
              <a:srgbClr val="E6E8F2"/>
            </a:solidFill>
          </a:ln>
        </p:spPr>
      </p:cxnSp>
      <p:cxnSp>
        <p:nvCxnSpPr>
          <p:cNvPr id="25" name="Line 25"/>
          <p:cNvCxnSpPr/>
          <p:nvPr/>
        </p:nvCxnSpPr>
        <p:spPr>
          <a:xfrm>
            <a:off x="1219200" y="5083778"/>
            <a:ext cx="2419350" cy="0"/>
          </a:xfrm>
          <a:prstGeom prst="line">
            <a:avLst/>
          </a:prstGeom>
          <a:ln w="9525" cap="flat">
            <a:solidFill>
              <a:srgbClr val="E6E8F2"/>
            </a:solidFill>
          </a:ln>
        </p:spPr>
      </p:cxnSp>
      <p:cxnSp>
        <p:nvCxnSpPr>
          <p:cNvPr id="26" name="Line 26"/>
          <p:cNvCxnSpPr/>
          <p:nvPr/>
        </p:nvCxnSpPr>
        <p:spPr>
          <a:xfrm>
            <a:off x="1219200" y="4927806"/>
            <a:ext cx="2419350" cy="0"/>
          </a:xfrm>
          <a:prstGeom prst="line">
            <a:avLst/>
          </a:prstGeom>
          <a:ln w="9525" cap="flat">
            <a:solidFill>
              <a:srgbClr val="E6E8F2"/>
            </a:solidFill>
          </a:ln>
        </p:spPr>
      </p:cxnSp>
      <p:cxnSp>
        <p:nvCxnSpPr>
          <p:cNvPr id="27" name="Line 27"/>
          <p:cNvCxnSpPr/>
          <p:nvPr/>
        </p:nvCxnSpPr>
        <p:spPr>
          <a:xfrm>
            <a:off x="1219200" y="4771834"/>
            <a:ext cx="2419350" cy="0"/>
          </a:xfrm>
          <a:prstGeom prst="line">
            <a:avLst/>
          </a:prstGeom>
          <a:ln w="9525" cap="flat">
            <a:solidFill>
              <a:srgbClr val="E6E8F2"/>
            </a:solidFill>
          </a:ln>
        </p:spPr>
      </p:cxnSp>
      <p:cxnSp>
        <p:nvCxnSpPr>
          <p:cNvPr id="28" name="Line 28"/>
          <p:cNvCxnSpPr/>
          <p:nvPr/>
        </p:nvCxnSpPr>
        <p:spPr>
          <a:xfrm>
            <a:off x="1219200" y="4615863"/>
            <a:ext cx="2419350" cy="0"/>
          </a:xfrm>
          <a:prstGeom prst="line">
            <a:avLst/>
          </a:prstGeom>
          <a:ln w="9525" cap="flat">
            <a:solidFill>
              <a:srgbClr val="E6E8F2"/>
            </a:solidFill>
          </a:ln>
        </p:spPr>
      </p:cxnSp>
      <p:cxnSp>
        <p:nvCxnSpPr>
          <p:cNvPr id="29" name="Line 29"/>
          <p:cNvCxnSpPr/>
          <p:nvPr/>
        </p:nvCxnSpPr>
        <p:spPr>
          <a:xfrm>
            <a:off x="1219200" y="4459891"/>
            <a:ext cx="2419350" cy="0"/>
          </a:xfrm>
          <a:prstGeom prst="line">
            <a:avLst/>
          </a:prstGeom>
          <a:ln w="9525" cap="flat">
            <a:solidFill>
              <a:srgbClr val="E6E8F2"/>
            </a:solidFill>
          </a:ln>
        </p:spPr>
      </p:cxnSp>
      <p:cxnSp>
        <p:nvCxnSpPr>
          <p:cNvPr id="30" name="Line 30"/>
          <p:cNvCxnSpPr/>
          <p:nvPr/>
        </p:nvCxnSpPr>
        <p:spPr>
          <a:xfrm>
            <a:off x="1219200" y="4303919"/>
            <a:ext cx="2419350" cy="0"/>
          </a:xfrm>
          <a:prstGeom prst="line">
            <a:avLst/>
          </a:prstGeom>
          <a:ln w="9525" cap="flat">
            <a:solidFill>
              <a:srgbClr val="E6E8F2"/>
            </a:solidFill>
          </a:ln>
        </p:spPr>
      </p:cxnSp>
      <p:cxnSp>
        <p:nvCxnSpPr>
          <p:cNvPr id="31" name="Line 31"/>
          <p:cNvCxnSpPr/>
          <p:nvPr/>
        </p:nvCxnSpPr>
        <p:spPr>
          <a:xfrm>
            <a:off x="1219200" y="4147947"/>
            <a:ext cx="2419350" cy="0"/>
          </a:xfrm>
          <a:prstGeom prst="line">
            <a:avLst/>
          </a:prstGeom>
          <a:ln w="9525" cap="flat">
            <a:solidFill>
              <a:srgbClr val="E6E8F2"/>
            </a:solidFill>
          </a:ln>
        </p:spPr>
      </p:cxnSp>
      <p:cxnSp>
        <p:nvCxnSpPr>
          <p:cNvPr id="32" name="Line 32"/>
          <p:cNvCxnSpPr/>
          <p:nvPr/>
        </p:nvCxnSpPr>
        <p:spPr>
          <a:xfrm>
            <a:off x="1219200" y="3991975"/>
            <a:ext cx="2419350" cy="0"/>
          </a:xfrm>
          <a:prstGeom prst="line">
            <a:avLst/>
          </a:prstGeom>
          <a:ln w="9525" cap="flat">
            <a:solidFill>
              <a:srgbClr val="E6E8F2"/>
            </a:solidFill>
          </a:ln>
        </p:spPr>
      </p:cxnSp>
      <p:cxnSp>
        <p:nvCxnSpPr>
          <p:cNvPr id="33" name="Line 33"/>
          <p:cNvCxnSpPr/>
          <p:nvPr/>
        </p:nvCxnSpPr>
        <p:spPr>
          <a:xfrm>
            <a:off x="1219200" y="3836003"/>
            <a:ext cx="2419350" cy="0"/>
          </a:xfrm>
          <a:prstGeom prst="line">
            <a:avLst/>
          </a:prstGeom>
          <a:ln w="9525" cap="flat">
            <a:solidFill>
              <a:srgbClr val="E6E8F2"/>
            </a:solidFill>
          </a:ln>
        </p:spPr>
      </p:cxnSp>
      <p:cxnSp>
        <p:nvCxnSpPr>
          <p:cNvPr id="34" name="Line 34"/>
          <p:cNvCxnSpPr/>
          <p:nvPr/>
        </p:nvCxnSpPr>
        <p:spPr>
          <a:xfrm>
            <a:off x="1219200" y="3680031"/>
            <a:ext cx="2419350" cy="0"/>
          </a:xfrm>
          <a:prstGeom prst="line">
            <a:avLst/>
          </a:prstGeom>
          <a:ln w="9525" cap="flat">
            <a:solidFill>
              <a:srgbClr val="E6E8F2"/>
            </a:solidFill>
          </a:ln>
        </p:spPr>
      </p:cxnSp>
      <p:cxnSp>
        <p:nvCxnSpPr>
          <p:cNvPr id="35" name="Line 35"/>
          <p:cNvCxnSpPr/>
          <p:nvPr/>
        </p:nvCxnSpPr>
        <p:spPr>
          <a:xfrm>
            <a:off x="1219200" y="3524059"/>
            <a:ext cx="2419350" cy="0"/>
          </a:xfrm>
          <a:prstGeom prst="line">
            <a:avLst/>
          </a:prstGeom>
          <a:ln w="9525" cap="flat">
            <a:solidFill>
              <a:srgbClr val="E6E8F2"/>
            </a:solidFill>
          </a:ln>
        </p:spPr>
      </p:cxnSp>
      <p:cxnSp>
        <p:nvCxnSpPr>
          <p:cNvPr id="36" name="Line 36"/>
          <p:cNvCxnSpPr/>
          <p:nvPr/>
        </p:nvCxnSpPr>
        <p:spPr>
          <a:xfrm>
            <a:off x="1219200" y="3368088"/>
            <a:ext cx="2419350" cy="0"/>
          </a:xfrm>
          <a:prstGeom prst="line">
            <a:avLst/>
          </a:prstGeom>
          <a:ln w="9525" cap="flat">
            <a:solidFill>
              <a:srgbClr val="E6E8F2"/>
            </a:solidFill>
          </a:ln>
        </p:spPr>
      </p:cxnSp>
      <p:cxnSp>
        <p:nvCxnSpPr>
          <p:cNvPr id="37" name="Line 37"/>
          <p:cNvCxnSpPr/>
          <p:nvPr/>
        </p:nvCxnSpPr>
        <p:spPr>
          <a:xfrm>
            <a:off x="1219200" y="3212116"/>
            <a:ext cx="2419350" cy="0"/>
          </a:xfrm>
          <a:prstGeom prst="line">
            <a:avLst/>
          </a:prstGeom>
          <a:ln w="9525" cap="flat">
            <a:solidFill>
              <a:srgbClr val="E6E8F2"/>
            </a:solidFill>
          </a:ln>
        </p:spPr>
      </p:cxnSp>
      <p:cxnSp>
        <p:nvCxnSpPr>
          <p:cNvPr id="38" name="Line 38"/>
          <p:cNvCxnSpPr/>
          <p:nvPr/>
        </p:nvCxnSpPr>
        <p:spPr>
          <a:xfrm>
            <a:off x="1219200" y="3056144"/>
            <a:ext cx="2419350" cy="0"/>
          </a:xfrm>
          <a:prstGeom prst="line">
            <a:avLst/>
          </a:prstGeom>
          <a:ln w="9525" cap="flat">
            <a:solidFill>
              <a:srgbClr val="E6E8F2"/>
            </a:solidFill>
          </a:ln>
        </p:spPr>
      </p:cxnSp>
      <p:cxnSp>
        <p:nvCxnSpPr>
          <p:cNvPr id="39" name="Line 39"/>
          <p:cNvCxnSpPr/>
          <p:nvPr/>
        </p:nvCxnSpPr>
        <p:spPr>
          <a:xfrm>
            <a:off x="1219200" y="2900172"/>
            <a:ext cx="2419350" cy="0"/>
          </a:xfrm>
          <a:prstGeom prst="line">
            <a:avLst/>
          </a:prstGeom>
          <a:ln w="9525" cap="flat">
            <a:solidFill>
              <a:srgbClr val="E6E8F2"/>
            </a:solidFill>
          </a:ln>
        </p:spPr>
      </p:cxnSp>
      <p:cxnSp>
        <p:nvCxnSpPr>
          <p:cNvPr id="40" name="Line 40"/>
          <p:cNvCxnSpPr/>
          <p:nvPr/>
        </p:nvCxnSpPr>
        <p:spPr>
          <a:xfrm>
            <a:off x="2428875" y="2900172"/>
            <a:ext cx="0" cy="2495550"/>
          </a:xfrm>
          <a:prstGeom prst="line">
            <a:avLst/>
          </a:prstGeom>
          <a:ln w="19050" cap="flat">
            <a:solidFill>
              <a:srgbClr val="5F6272"/>
            </a:solidFill>
          </a:ln>
        </p:spPr>
      </p:cxnSp>
      <p:cxnSp>
        <p:nvCxnSpPr>
          <p:cNvPr id="41" name="Line 41"/>
          <p:cNvCxnSpPr/>
          <p:nvPr/>
        </p:nvCxnSpPr>
        <p:spPr>
          <a:xfrm>
            <a:off x="1219200" y="4147947"/>
            <a:ext cx="2419350" cy="0"/>
          </a:xfrm>
          <a:prstGeom prst="line">
            <a:avLst/>
          </a:prstGeom>
          <a:ln w="19050" cap="flat">
            <a:solidFill>
              <a:srgbClr val="5F6272"/>
            </a:solidFill>
          </a:ln>
        </p:spPr>
      </p:cxnSp>
      <p:sp>
        <p:nvSpPr>
          <p:cNvPr id="42" name="Shape 42"/>
          <p:cNvSpPr txBox="1"/>
          <p:nvPr/>
        </p:nvSpPr>
        <p:spPr>
          <a:xfrm>
            <a:off x="94488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549717"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2154555"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2759392"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3364230" y="541477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52272" y="53042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652272" y="468039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652272" y="405650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52272" y="34326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652272" y="28087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2" name="Line 52"/>
          <p:cNvCxnSpPr/>
          <p:nvPr/>
        </p:nvCxnSpPr>
        <p:spPr>
          <a:xfrm flipV="1">
            <a:off x="1219200" y="3913989"/>
            <a:ext cx="2419350" cy="623888"/>
          </a:xfrm>
          <a:prstGeom prst="line">
            <a:avLst/>
          </a:prstGeom>
          <a:ln w="38100" cap="rnd">
            <a:solidFill>
              <a:srgbClr val="16171D"/>
            </a:solidFill>
          </a:ln>
        </p:spPr>
      </p:cxnSp>
      <p:sp>
        <p:nvSpPr>
          <p:cNvPr id="53" name="Shape 53"/>
          <p:cNvSpPr txBox="1"/>
          <p:nvPr/>
        </p:nvSpPr>
        <p:spPr>
          <a:xfrm>
            <a:off x="895350" y="573862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neither</a:t>
            </a:r>
            <a:r>
              <a:rPr lang="en-US" sz="1575" dirty="0">
                <a:solidFill>
                  <a:srgbClr val="16171D"/>
                </a:solidFill>
                <a:latin typeface="Segoe UI"/>
                <a:cs typeface="Segoe UI"/>
              </a:rPr>
              <a:t xml:space="preserve">.</a:t>
            </a:r>
            <a:endParaRPr lang="en-US" sz="1575" dirty="0"/>
          </a:p>
        </p:txBody>
      </p:sp>
      <p:sp>
        <p:nvSpPr>
          <p:cNvPr id="67" name="Shape 67"/>
          <p:cNvSpPr txBox="1"/>
          <p:nvPr/>
        </p:nvSpPr>
        <p:spPr>
          <a:xfrm>
            <a:off x="4355998" y="2144268"/>
            <a:ext cx="3479698" cy="31920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4565548"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a:t>
            </a:r>
            <a:endParaRPr lang="en-US" sz="2100" dirty="0"/>
          </a:p>
        </p:txBody>
      </p:sp>
      <p:sp>
        <p:nvSpPr>
          <p:cNvPr id="56" name="Shape 56"/>
          <p:cNvSpPr txBox="1"/>
          <p:nvPr/>
        </p:nvSpPr>
        <p:spPr>
          <a:xfrm>
            <a:off x="4565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7" name="Shape 57"/>
          <p:cNvSpPr txBox="1"/>
          <p:nvPr/>
        </p:nvSpPr>
        <p:spPr>
          <a:xfrm>
            <a:off x="5708548" y="278587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y</a:t>
            </a:r>
            <a:endParaRPr lang="en-US" sz="1650" dirty="0"/>
          </a:p>
        </p:txBody>
      </p:sp>
      <p:sp>
        <p:nvSpPr>
          <p:cNvPr id="58" name="Shape 58"/>
          <p:cNvSpPr txBox="1"/>
          <p:nvPr/>
        </p:nvSpPr>
        <p:spPr>
          <a:xfrm>
            <a:off x="4565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59" name="Shape 59"/>
          <p:cNvSpPr txBox="1"/>
          <p:nvPr/>
        </p:nvSpPr>
        <p:spPr>
          <a:xfrm>
            <a:off x="5708548" y="318363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60" name="Shape 60"/>
          <p:cNvSpPr txBox="1"/>
          <p:nvPr/>
        </p:nvSpPr>
        <p:spPr>
          <a:xfrm>
            <a:off x="4565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1" name="Shape 61"/>
          <p:cNvSpPr txBox="1"/>
          <p:nvPr/>
        </p:nvSpPr>
        <p:spPr>
          <a:xfrm>
            <a:off x="5708548" y="358140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2" name="Shape 62"/>
          <p:cNvSpPr txBox="1"/>
          <p:nvPr/>
        </p:nvSpPr>
        <p:spPr>
          <a:xfrm>
            <a:off x="4565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3" name="Shape 63"/>
          <p:cNvSpPr txBox="1"/>
          <p:nvPr/>
        </p:nvSpPr>
        <p:spPr>
          <a:xfrm>
            <a:off x="5708548" y="397916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64" name="Shape 64"/>
          <p:cNvSpPr txBox="1"/>
          <p:nvPr/>
        </p:nvSpPr>
        <p:spPr>
          <a:xfrm>
            <a:off x="4565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5" name="Shape 65"/>
          <p:cNvSpPr txBox="1"/>
          <p:nvPr/>
        </p:nvSpPr>
        <p:spPr>
          <a:xfrm>
            <a:off x="5708548" y="437692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6" name="Shape 66"/>
          <p:cNvSpPr txBox="1"/>
          <p:nvPr/>
        </p:nvSpPr>
        <p:spPr>
          <a:xfrm>
            <a:off x="4565548" y="486994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−¼: </a:t>
            </a:r>
            <a:r>
              <a:rPr lang="en-US" sz="1575" dirty="0" b="1">
                <a:solidFill>
                  <a:srgbClr val="16171D"/>
                </a:solidFill>
                <a:latin typeface="Segoe UI"/>
                <a:cs typeface="Segoe UI"/>
              </a:rPr>
              <a:t xml:space="preserve">perpendicular</a:t>
            </a:r>
            <a:r>
              <a:rPr lang="en-US" sz="1575" dirty="0">
                <a:solidFill>
                  <a:srgbClr val="16171D"/>
                </a:solidFill>
                <a:latin typeface="Segoe UI"/>
                <a:cs typeface="Segoe UI"/>
              </a:rPr>
              <a:t xml:space="preserve">.</a:t>
            </a:r>
            <a:endParaRPr lang="en-US" sz="1575" dirty="0"/>
          </a:p>
        </p:txBody>
      </p:sp>
      <p:sp>
        <p:nvSpPr>
          <p:cNvPr id="71" name="Shape 71"/>
          <p:cNvSpPr txBox="1"/>
          <p:nvPr/>
        </p:nvSpPr>
        <p:spPr>
          <a:xfrm>
            <a:off x="8026197" y="2144268"/>
            <a:ext cx="34796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8" name="Shape 68"/>
          <p:cNvSpPr txBox="1"/>
          <p:nvPr/>
        </p:nvSpPr>
        <p:spPr>
          <a:xfrm>
            <a:off x="8235747" y="2315718"/>
            <a:ext cx="3060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t>
            </a:r>
            <a:endParaRPr lang="en-US" sz="2100" dirty="0"/>
          </a:p>
        </p:txBody>
      </p:sp>
      <p:sp>
        <p:nvSpPr>
          <p:cNvPr id="69" name="Shape 69"/>
          <p:cNvSpPr txBox="1"/>
          <p:nvPr/>
        </p:nvSpPr>
        <p:spPr>
          <a:xfrm>
            <a:off x="8235747" y="278587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every hour Chiletso bakes, she makes 4 dozen cookies.</a:t>
            </a:r>
            <a:endParaRPr lang="en-US" sz="1575" dirty="0"/>
          </a:p>
        </p:txBody>
      </p:sp>
      <p:sp>
        <p:nvSpPr>
          <p:cNvPr id="70" name="Shape 70"/>
          <p:cNvSpPr txBox="1"/>
          <p:nvPr/>
        </p:nvSpPr>
        <p:spPr>
          <a:xfrm>
            <a:off x="8235747" y="3416046"/>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4: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72" name="Slide Number 7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3"/>
                                        </p:tgtEl>
                                        <p:attrNameLst>
                                          <p:attrName>style.visibility</p:attrName>
                                        </p:attrNameLst>
                                      </p:cBhvr>
                                      <p:to>
                                        <p:strVal val="visible"/>
                                      </p:to>
                                    </p:set>
                                    <p:animEffect transition="in" filter="fade">
                                      <p:cBhvr>
                                        <p:cTn id="4" dur="500"/>
                                        <p:tgtEl>
                                          <p:spTgt spid="53"/>
                                        </p:tgtEl>
                                      </p:cBhvr>
                                    </p:animEffect>
                                    <p:anim calcmode="lin" valueType="num">
                                      <p:cBhvr>
                                        <p:cTn id="5" dur="500" fill="hold"/>
                                        <p:tgtEl>
                                          <p:spTgt spid="53"/>
                                        </p:tgtEl>
                                        <p:attrNameLst>
                                          <p:attrName>ppt_x</p:attrName>
                                        </p:attrNameLst>
                                      </p:cBhvr>
                                      <p:tavLst>
                                        <p:tav tm="0">
                                          <p:val>
                                            <p:strVal val="#ppt_x"/>
                                          </p:val>
                                        </p:tav>
                                        <p:tav tm="100000">
                                          <p:val>
                                            <p:strVal val="#ppt_x"/>
                                          </p:val>
                                        </p:tav>
                                      </p:tavLst>
                                    </p:anim>
                                    <p:anim calcmode="lin" valueType="num">
                                      <p:cBhvr>
                                        <p:cTn id="6"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fade">
                                      <p:cBhvr>
                                        <p:cTn id="11" dur="500"/>
                                        <p:tgtEl>
                                          <p:spTgt spid="66"/>
                                        </p:tgtEl>
                                      </p:cBhvr>
                                    </p:animEffect>
                                    <p:anim calcmode="lin" valueType="num">
                                      <p:cBhvr>
                                        <p:cTn id="12" dur="500" fill="hold"/>
                                        <p:tgtEl>
                                          <p:spTgt spid="66"/>
                                        </p:tgtEl>
                                        <p:attrNameLst>
                                          <p:attrName>ppt_x</p:attrName>
                                        </p:attrNameLst>
                                      </p:cBhvr>
                                      <p:tavLst>
                                        <p:tav tm="0">
                                          <p:val>
                                            <p:strVal val="#ppt_x"/>
                                          </p:val>
                                        </p:tav>
                                        <p:tav tm="100000">
                                          <p:val>
                                            <p:strVal val="#ppt_x"/>
                                          </p:val>
                                        </p:tav>
                                      </p:tavLst>
                                    </p:anim>
                                    <p:anim calcmode="lin" valueType="num">
                                      <p:cBhvr>
                                        <p:cTn id="13" dur="5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0"/>
                                        </p:tgtEl>
                                        <p:attrNameLst>
                                          <p:attrName>style.visibility</p:attrName>
                                        </p:attrNameLst>
                                      </p:cBhvr>
                                      <p:to>
                                        <p:strVal val="visible"/>
                                      </p:to>
                                    </p:set>
                                    <p:animEffect transition="in" filter="fade">
                                      <p:cBhvr>
                                        <p:cTn id="18" dur="500"/>
                                        <p:tgtEl>
                                          <p:spTgt spid="70"/>
                                        </p:tgtEl>
                                      </p:cBhvr>
                                    </p:animEffect>
                                    <p:anim calcmode="lin" valueType="num">
                                      <p:cBhvr>
                                        <p:cTn id="19" dur="500" fill="hold"/>
                                        <p:tgtEl>
                                          <p:spTgt spid="70"/>
                                        </p:tgtEl>
                                        <p:attrNameLst>
                                          <p:attrName>ppt_x</p:attrName>
                                        </p:attrNameLst>
                                      </p:cBhvr>
                                      <p:tavLst>
                                        <p:tav tm="0">
                                          <p:val>
                                            <p:strVal val="#ppt_x"/>
                                          </p:val>
                                        </p:tav>
                                        <p:tav tm="100000">
                                          <p:val>
                                            <p:strVal val="#ppt_x"/>
                                          </p:val>
                                        </p:tav>
                                      </p:tavLst>
                                    </p:anim>
                                    <p:anim calcmode="lin" valueType="num">
                                      <p:cBhvr>
                                        <p:cTn id="20" dur="500" fill="hold"/>
                                        <p:tgtEl>
                                          <p:spTgt spid="7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Comparing Tables and Graphs · SE p. 322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Recycling cardboard</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Travis County</a:t>
            </a:r>
            <a:endParaRPr lang="en-US" sz="1575" dirty="0"/>
          </a:p>
        </p:txBody>
      </p:sp>
      <p:sp>
        <p:nvSpPr>
          <p:cNvPr id="5" name="Shape 5"/>
          <p:cNvSpPr txBox="1"/>
          <p:nvPr/>
        </p:nvSpPr>
        <p:spPr>
          <a:xfrm>
            <a:off x="685800" y="2008632"/>
            <a:ext cx="1965198"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Weight (tons)</a:t>
            </a:r>
            <a:endParaRPr lang="en-US" sz="1650" dirty="0"/>
          </a:p>
        </p:txBody>
      </p:sp>
      <p:sp>
        <p:nvSpPr>
          <p:cNvPr id="6" name="Shape 6"/>
          <p:cNvSpPr txBox="1"/>
          <p:nvPr/>
        </p:nvSpPr>
        <p:spPr>
          <a:xfrm>
            <a:off x="2650998" y="2008632"/>
            <a:ext cx="16383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Payout ($)</a:t>
            </a:r>
            <a:endParaRPr lang="en-US" sz="1650" dirty="0"/>
          </a:p>
        </p:txBody>
      </p:sp>
      <p:sp>
        <p:nvSpPr>
          <p:cNvPr id="7" name="Shape 7"/>
          <p:cNvSpPr txBox="1"/>
          <p:nvPr/>
        </p:nvSpPr>
        <p:spPr>
          <a:xfrm>
            <a:off x="685800" y="2406396"/>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0.5</a:t>
            </a:r>
            <a:endParaRPr lang="en-US" sz="1650" dirty="0"/>
          </a:p>
        </p:txBody>
      </p:sp>
      <p:sp>
        <p:nvSpPr>
          <p:cNvPr id="8" name="Shape 8"/>
          <p:cNvSpPr txBox="1"/>
          <p:nvPr/>
        </p:nvSpPr>
        <p:spPr>
          <a:xfrm>
            <a:off x="2650998" y="2406396"/>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7.50</a:t>
            </a:r>
            <a:endParaRPr lang="en-US" sz="1650" dirty="0"/>
          </a:p>
        </p:txBody>
      </p:sp>
      <p:sp>
        <p:nvSpPr>
          <p:cNvPr id="9" name="Shape 9"/>
          <p:cNvSpPr txBox="1"/>
          <p:nvPr/>
        </p:nvSpPr>
        <p:spPr>
          <a:xfrm>
            <a:off x="685800" y="2804160"/>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0" name="Shape 10"/>
          <p:cNvSpPr txBox="1"/>
          <p:nvPr/>
        </p:nvSpPr>
        <p:spPr>
          <a:xfrm>
            <a:off x="2650998" y="2804160"/>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1" name="Shape 11"/>
          <p:cNvSpPr txBox="1"/>
          <p:nvPr/>
        </p:nvSpPr>
        <p:spPr>
          <a:xfrm>
            <a:off x="685800" y="3201924"/>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1.5</a:t>
            </a:r>
            <a:endParaRPr lang="en-US" sz="1650" dirty="0"/>
          </a:p>
        </p:txBody>
      </p:sp>
      <p:sp>
        <p:nvSpPr>
          <p:cNvPr id="12" name="Shape 12"/>
          <p:cNvSpPr txBox="1"/>
          <p:nvPr/>
        </p:nvSpPr>
        <p:spPr>
          <a:xfrm>
            <a:off x="2650998" y="3201924"/>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22.50</a:t>
            </a:r>
            <a:endParaRPr lang="en-US" sz="1650" dirty="0"/>
          </a:p>
        </p:txBody>
      </p:sp>
      <p:sp>
        <p:nvSpPr>
          <p:cNvPr id="13" name="Shape 13"/>
          <p:cNvSpPr txBox="1"/>
          <p:nvPr/>
        </p:nvSpPr>
        <p:spPr>
          <a:xfrm>
            <a:off x="685800" y="3599688"/>
            <a:ext cx="1965198"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4" name="Shape 14"/>
          <p:cNvSpPr txBox="1"/>
          <p:nvPr/>
        </p:nvSpPr>
        <p:spPr>
          <a:xfrm>
            <a:off x="2650998" y="3599688"/>
            <a:ext cx="16383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5" name="Shape 15"/>
          <p:cNvSpPr txBox="1"/>
          <p:nvPr/>
        </p:nvSpPr>
        <p:spPr>
          <a:xfrm>
            <a:off x="685800" y="409270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(0.5)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(0.5)</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(1)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(3)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(3)</a:t>
            </a:r>
            <a:endParaRPr lang="en-US" sz="1575" dirty="0"/>
          </a:p>
        </p:txBody>
      </p:sp>
      <p:sp>
        <p:nvSpPr>
          <p:cNvPr id="16" name="Shape 16"/>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Hays County</a:t>
            </a:r>
            <a:endParaRPr lang="en-US" sz="1575" dirty="0"/>
          </a:p>
        </p:txBody>
      </p:sp>
      <p:sp>
        <p:nvSpPr>
          <p:cNvPr id="17" name="Shape 17"/>
          <p:cNvSpPr/>
          <p:nvPr/>
        </p:nvSpPr>
        <p:spPr>
          <a:xfrm>
            <a:off x="6286348" y="2008632"/>
            <a:ext cx="30480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8" name="Line 18"/>
          <p:cNvCxnSpPr/>
          <p:nvPr/>
        </p:nvCxnSpPr>
        <p:spPr>
          <a:xfrm>
            <a:off x="6610198" y="2122932"/>
            <a:ext cx="0" cy="2495550"/>
          </a:xfrm>
          <a:prstGeom prst="line">
            <a:avLst/>
          </a:prstGeom>
          <a:ln w="9525" cap="flat">
            <a:solidFill>
              <a:srgbClr val="E6E8F2"/>
            </a:solidFill>
          </a:ln>
        </p:spPr>
      </p:cxnSp>
      <p:cxnSp>
        <p:nvCxnSpPr>
          <p:cNvPr id="19" name="Line 19"/>
          <p:cNvCxnSpPr/>
          <p:nvPr/>
        </p:nvCxnSpPr>
        <p:spPr>
          <a:xfrm>
            <a:off x="6936429" y="2122932"/>
            <a:ext cx="0" cy="2495550"/>
          </a:xfrm>
          <a:prstGeom prst="line">
            <a:avLst/>
          </a:prstGeom>
          <a:ln w="9525" cap="flat">
            <a:solidFill>
              <a:srgbClr val="E6E8F2"/>
            </a:solidFill>
          </a:ln>
        </p:spPr>
      </p:cxnSp>
      <p:cxnSp>
        <p:nvCxnSpPr>
          <p:cNvPr id="20" name="Line 20"/>
          <p:cNvCxnSpPr/>
          <p:nvPr/>
        </p:nvCxnSpPr>
        <p:spPr>
          <a:xfrm>
            <a:off x="7262660" y="2122932"/>
            <a:ext cx="0" cy="2495550"/>
          </a:xfrm>
          <a:prstGeom prst="line">
            <a:avLst/>
          </a:prstGeom>
          <a:ln w="9525" cap="flat">
            <a:solidFill>
              <a:srgbClr val="E6E8F2"/>
            </a:solidFill>
          </a:ln>
        </p:spPr>
      </p:cxnSp>
      <p:cxnSp>
        <p:nvCxnSpPr>
          <p:cNvPr id="21" name="Line 21"/>
          <p:cNvCxnSpPr/>
          <p:nvPr/>
        </p:nvCxnSpPr>
        <p:spPr>
          <a:xfrm>
            <a:off x="7588891" y="2122932"/>
            <a:ext cx="0" cy="2495550"/>
          </a:xfrm>
          <a:prstGeom prst="line">
            <a:avLst/>
          </a:prstGeom>
          <a:ln w="9525" cap="flat">
            <a:solidFill>
              <a:srgbClr val="E6E8F2"/>
            </a:solidFill>
          </a:ln>
        </p:spPr>
      </p:cxnSp>
      <p:cxnSp>
        <p:nvCxnSpPr>
          <p:cNvPr id="22" name="Line 22"/>
          <p:cNvCxnSpPr/>
          <p:nvPr/>
        </p:nvCxnSpPr>
        <p:spPr>
          <a:xfrm>
            <a:off x="7915123" y="2122932"/>
            <a:ext cx="0" cy="2495550"/>
          </a:xfrm>
          <a:prstGeom prst="line">
            <a:avLst/>
          </a:prstGeom>
          <a:ln w="9525" cap="flat">
            <a:solidFill>
              <a:srgbClr val="E6E8F2"/>
            </a:solidFill>
          </a:ln>
        </p:spPr>
      </p:cxnSp>
      <p:cxnSp>
        <p:nvCxnSpPr>
          <p:cNvPr id="23" name="Line 23"/>
          <p:cNvCxnSpPr/>
          <p:nvPr/>
        </p:nvCxnSpPr>
        <p:spPr>
          <a:xfrm>
            <a:off x="8241354" y="2122932"/>
            <a:ext cx="0" cy="2495550"/>
          </a:xfrm>
          <a:prstGeom prst="line">
            <a:avLst/>
          </a:prstGeom>
          <a:ln w="9525" cap="flat">
            <a:solidFill>
              <a:srgbClr val="E6E8F2"/>
            </a:solidFill>
          </a:ln>
        </p:spPr>
      </p:cxnSp>
      <p:cxnSp>
        <p:nvCxnSpPr>
          <p:cNvPr id="24" name="Line 24"/>
          <p:cNvCxnSpPr/>
          <p:nvPr/>
        </p:nvCxnSpPr>
        <p:spPr>
          <a:xfrm>
            <a:off x="8567585" y="2122932"/>
            <a:ext cx="0" cy="2495550"/>
          </a:xfrm>
          <a:prstGeom prst="line">
            <a:avLst/>
          </a:prstGeom>
          <a:ln w="9525" cap="flat">
            <a:solidFill>
              <a:srgbClr val="E6E8F2"/>
            </a:solidFill>
          </a:ln>
        </p:spPr>
      </p:cxnSp>
      <p:cxnSp>
        <p:nvCxnSpPr>
          <p:cNvPr id="25" name="Line 25"/>
          <p:cNvCxnSpPr/>
          <p:nvPr/>
        </p:nvCxnSpPr>
        <p:spPr>
          <a:xfrm>
            <a:off x="8893816" y="2122932"/>
            <a:ext cx="0" cy="2495550"/>
          </a:xfrm>
          <a:prstGeom prst="line">
            <a:avLst/>
          </a:prstGeom>
          <a:ln w="9525" cap="flat">
            <a:solidFill>
              <a:srgbClr val="E6E8F2"/>
            </a:solidFill>
          </a:ln>
        </p:spPr>
      </p:cxnSp>
      <p:cxnSp>
        <p:nvCxnSpPr>
          <p:cNvPr id="26" name="Line 26"/>
          <p:cNvCxnSpPr/>
          <p:nvPr/>
        </p:nvCxnSpPr>
        <p:spPr>
          <a:xfrm>
            <a:off x="9220048" y="2122932"/>
            <a:ext cx="0" cy="2495550"/>
          </a:xfrm>
          <a:prstGeom prst="line">
            <a:avLst/>
          </a:prstGeom>
          <a:ln w="9525" cap="flat">
            <a:solidFill>
              <a:srgbClr val="E6E8F2"/>
            </a:solidFill>
          </a:ln>
        </p:spPr>
      </p:cxnSp>
      <p:cxnSp>
        <p:nvCxnSpPr>
          <p:cNvPr id="27" name="Line 27"/>
          <p:cNvCxnSpPr/>
          <p:nvPr/>
        </p:nvCxnSpPr>
        <p:spPr>
          <a:xfrm>
            <a:off x="6610198" y="4618482"/>
            <a:ext cx="2609850" cy="0"/>
          </a:xfrm>
          <a:prstGeom prst="line">
            <a:avLst/>
          </a:prstGeom>
          <a:ln w="9525" cap="flat">
            <a:solidFill>
              <a:srgbClr val="E6E8F2"/>
            </a:solidFill>
          </a:ln>
        </p:spPr>
      </p:cxnSp>
      <p:cxnSp>
        <p:nvCxnSpPr>
          <p:cNvPr id="28" name="Line 28"/>
          <p:cNvCxnSpPr/>
          <p:nvPr/>
        </p:nvCxnSpPr>
        <p:spPr>
          <a:xfrm>
            <a:off x="6610198" y="4505048"/>
            <a:ext cx="2609850" cy="0"/>
          </a:xfrm>
          <a:prstGeom prst="line">
            <a:avLst/>
          </a:prstGeom>
          <a:ln w="9525" cap="flat">
            <a:solidFill>
              <a:srgbClr val="E6E8F2"/>
            </a:solidFill>
          </a:ln>
        </p:spPr>
      </p:cxnSp>
      <p:cxnSp>
        <p:nvCxnSpPr>
          <p:cNvPr id="29" name="Line 29"/>
          <p:cNvCxnSpPr/>
          <p:nvPr/>
        </p:nvCxnSpPr>
        <p:spPr>
          <a:xfrm>
            <a:off x="6610198" y="4391614"/>
            <a:ext cx="2609850" cy="0"/>
          </a:xfrm>
          <a:prstGeom prst="line">
            <a:avLst/>
          </a:prstGeom>
          <a:ln w="9525" cap="flat">
            <a:solidFill>
              <a:srgbClr val="E6E8F2"/>
            </a:solidFill>
          </a:ln>
        </p:spPr>
      </p:cxnSp>
      <p:cxnSp>
        <p:nvCxnSpPr>
          <p:cNvPr id="30" name="Line 30"/>
          <p:cNvCxnSpPr/>
          <p:nvPr/>
        </p:nvCxnSpPr>
        <p:spPr>
          <a:xfrm>
            <a:off x="6610198" y="4278180"/>
            <a:ext cx="2609850" cy="0"/>
          </a:xfrm>
          <a:prstGeom prst="line">
            <a:avLst/>
          </a:prstGeom>
          <a:ln w="9525" cap="flat">
            <a:solidFill>
              <a:srgbClr val="E6E8F2"/>
            </a:solidFill>
          </a:ln>
        </p:spPr>
      </p:cxnSp>
      <p:cxnSp>
        <p:nvCxnSpPr>
          <p:cNvPr id="31" name="Line 31"/>
          <p:cNvCxnSpPr/>
          <p:nvPr/>
        </p:nvCxnSpPr>
        <p:spPr>
          <a:xfrm>
            <a:off x="6610198" y="4164746"/>
            <a:ext cx="2609850" cy="0"/>
          </a:xfrm>
          <a:prstGeom prst="line">
            <a:avLst/>
          </a:prstGeom>
          <a:ln w="9525" cap="flat">
            <a:solidFill>
              <a:srgbClr val="E6E8F2"/>
            </a:solidFill>
          </a:ln>
        </p:spPr>
      </p:cxnSp>
      <p:cxnSp>
        <p:nvCxnSpPr>
          <p:cNvPr id="32" name="Line 32"/>
          <p:cNvCxnSpPr/>
          <p:nvPr/>
        </p:nvCxnSpPr>
        <p:spPr>
          <a:xfrm>
            <a:off x="6610198" y="4051312"/>
            <a:ext cx="2609850" cy="0"/>
          </a:xfrm>
          <a:prstGeom prst="line">
            <a:avLst/>
          </a:prstGeom>
          <a:ln w="9525" cap="flat">
            <a:solidFill>
              <a:srgbClr val="E6E8F2"/>
            </a:solidFill>
          </a:ln>
        </p:spPr>
      </p:cxnSp>
      <p:cxnSp>
        <p:nvCxnSpPr>
          <p:cNvPr id="33" name="Line 33"/>
          <p:cNvCxnSpPr/>
          <p:nvPr/>
        </p:nvCxnSpPr>
        <p:spPr>
          <a:xfrm>
            <a:off x="6610198" y="3937877"/>
            <a:ext cx="2609850" cy="0"/>
          </a:xfrm>
          <a:prstGeom prst="line">
            <a:avLst/>
          </a:prstGeom>
          <a:ln w="9525" cap="flat">
            <a:solidFill>
              <a:srgbClr val="E6E8F2"/>
            </a:solidFill>
          </a:ln>
        </p:spPr>
      </p:cxnSp>
      <p:cxnSp>
        <p:nvCxnSpPr>
          <p:cNvPr id="34" name="Line 34"/>
          <p:cNvCxnSpPr/>
          <p:nvPr/>
        </p:nvCxnSpPr>
        <p:spPr>
          <a:xfrm>
            <a:off x="6610198" y="3824443"/>
            <a:ext cx="2609850" cy="0"/>
          </a:xfrm>
          <a:prstGeom prst="line">
            <a:avLst/>
          </a:prstGeom>
          <a:ln w="9525" cap="flat">
            <a:solidFill>
              <a:srgbClr val="E6E8F2"/>
            </a:solidFill>
          </a:ln>
        </p:spPr>
      </p:cxnSp>
      <p:cxnSp>
        <p:nvCxnSpPr>
          <p:cNvPr id="35" name="Line 35"/>
          <p:cNvCxnSpPr/>
          <p:nvPr/>
        </p:nvCxnSpPr>
        <p:spPr>
          <a:xfrm>
            <a:off x="6610198" y="3711009"/>
            <a:ext cx="2609850" cy="0"/>
          </a:xfrm>
          <a:prstGeom prst="line">
            <a:avLst/>
          </a:prstGeom>
          <a:ln w="9525" cap="flat">
            <a:solidFill>
              <a:srgbClr val="E6E8F2"/>
            </a:solidFill>
          </a:ln>
        </p:spPr>
      </p:cxnSp>
      <p:cxnSp>
        <p:nvCxnSpPr>
          <p:cNvPr id="36" name="Line 36"/>
          <p:cNvCxnSpPr/>
          <p:nvPr/>
        </p:nvCxnSpPr>
        <p:spPr>
          <a:xfrm>
            <a:off x="6610198" y="3597575"/>
            <a:ext cx="2609850" cy="0"/>
          </a:xfrm>
          <a:prstGeom prst="line">
            <a:avLst/>
          </a:prstGeom>
          <a:ln w="9525" cap="flat">
            <a:solidFill>
              <a:srgbClr val="E6E8F2"/>
            </a:solidFill>
          </a:ln>
        </p:spPr>
      </p:cxnSp>
      <p:cxnSp>
        <p:nvCxnSpPr>
          <p:cNvPr id="37" name="Line 37"/>
          <p:cNvCxnSpPr/>
          <p:nvPr/>
        </p:nvCxnSpPr>
        <p:spPr>
          <a:xfrm>
            <a:off x="6610198" y="3484141"/>
            <a:ext cx="2609850" cy="0"/>
          </a:xfrm>
          <a:prstGeom prst="line">
            <a:avLst/>
          </a:prstGeom>
          <a:ln w="9525" cap="flat">
            <a:solidFill>
              <a:srgbClr val="E6E8F2"/>
            </a:solidFill>
          </a:ln>
        </p:spPr>
      </p:cxnSp>
      <p:cxnSp>
        <p:nvCxnSpPr>
          <p:cNvPr id="38" name="Line 38"/>
          <p:cNvCxnSpPr/>
          <p:nvPr/>
        </p:nvCxnSpPr>
        <p:spPr>
          <a:xfrm>
            <a:off x="6610198" y="3370707"/>
            <a:ext cx="2609850" cy="0"/>
          </a:xfrm>
          <a:prstGeom prst="line">
            <a:avLst/>
          </a:prstGeom>
          <a:ln w="9525" cap="flat">
            <a:solidFill>
              <a:srgbClr val="E6E8F2"/>
            </a:solidFill>
          </a:ln>
        </p:spPr>
      </p:cxnSp>
      <p:cxnSp>
        <p:nvCxnSpPr>
          <p:cNvPr id="39" name="Line 39"/>
          <p:cNvCxnSpPr/>
          <p:nvPr/>
        </p:nvCxnSpPr>
        <p:spPr>
          <a:xfrm>
            <a:off x="6610198" y="3257273"/>
            <a:ext cx="2609850" cy="0"/>
          </a:xfrm>
          <a:prstGeom prst="line">
            <a:avLst/>
          </a:prstGeom>
          <a:ln w="9525" cap="flat">
            <a:solidFill>
              <a:srgbClr val="E6E8F2"/>
            </a:solidFill>
          </a:ln>
        </p:spPr>
      </p:cxnSp>
      <p:cxnSp>
        <p:nvCxnSpPr>
          <p:cNvPr id="40" name="Line 40"/>
          <p:cNvCxnSpPr/>
          <p:nvPr/>
        </p:nvCxnSpPr>
        <p:spPr>
          <a:xfrm>
            <a:off x="6610198" y="3143839"/>
            <a:ext cx="2609850" cy="0"/>
          </a:xfrm>
          <a:prstGeom prst="line">
            <a:avLst/>
          </a:prstGeom>
          <a:ln w="9525" cap="flat">
            <a:solidFill>
              <a:srgbClr val="E6E8F2"/>
            </a:solidFill>
          </a:ln>
        </p:spPr>
      </p:cxnSp>
      <p:cxnSp>
        <p:nvCxnSpPr>
          <p:cNvPr id="41" name="Line 41"/>
          <p:cNvCxnSpPr/>
          <p:nvPr/>
        </p:nvCxnSpPr>
        <p:spPr>
          <a:xfrm>
            <a:off x="6610198" y="3030405"/>
            <a:ext cx="2609850" cy="0"/>
          </a:xfrm>
          <a:prstGeom prst="line">
            <a:avLst/>
          </a:prstGeom>
          <a:ln w="9525" cap="flat">
            <a:solidFill>
              <a:srgbClr val="E6E8F2"/>
            </a:solidFill>
          </a:ln>
        </p:spPr>
      </p:cxnSp>
      <p:cxnSp>
        <p:nvCxnSpPr>
          <p:cNvPr id="42" name="Line 42"/>
          <p:cNvCxnSpPr/>
          <p:nvPr/>
        </p:nvCxnSpPr>
        <p:spPr>
          <a:xfrm>
            <a:off x="6610198" y="2916971"/>
            <a:ext cx="2609850" cy="0"/>
          </a:xfrm>
          <a:prstGeom prst="line">
            <a:avLst/>
          </a:prstGeom>
          <a:ln w="9525" cap="flat">
            <a:solidFill>
              <a:srgbClr val="E6E8F2"/>
            </a:solidFill>
          </a:ln>
        </p:spPr>
      </p:cxnSp>
      <p:cxnSp>
        <p:nvCxnSpPr>
          <p:cNvPr id="43" name="Line 43"/>
          <p:cNvCxnSpPr/>
          <p:nvPr/>
        </p:nvCxnSpPr>
        <p:spPr>
          <a:xfrm>
            <a:off x="6610198" y="2803537"/>
            <a:ext cx="2609850" cy="0"/>
          </a:xfrm>
          <a:prstGeom prst="line">
            <a:avLst/>
          </a:prstGeom>
          <a:ln w="9525" cap="flat">
            <a:solidFill>
              <a:srgbClr val="E6E8F2"/>
            </a:solidFill>
          </a:ln>
        </p:spPr>
      </p:cxnSp>
      <p:cxnSp>
        <p:nvCxnSpPr>
          <p:cNvPr id="44" name="Line 44"/>
          <p:cNvCxnSpPr/>
          <p:nvPr/>
        </p:nvCxnSpPr>
        <p:spPr>
          <a:xfrm>
            <a:off x="6610198" y="2690102"/>
            <a:ext cx="2609850" cy="0"/>
          </a:xfrm>
          <a:prstGeom prst="line">
            <a:avLst/>
          </a:prstGeom>
          <a:ln w="9525" cap="flat">
            <a:solidFill>
              <a:srgbClr val="E6E8F2"/>
            </a:solidFill>
          </a:ln>
        </p:spPr>
      </p:cxnSp>
      <p:cxnSp>
        <p:nvCxnSpPr>
          <p:cNvPr id="45" name="Line 45"/>
          <p:cNvCxnSpPr/>
          <p:nvPr/>
        </p:nvCxnSpPr>
        <p:spPr>
          <a:xfrm>
            <a:off x="6610198" y="2576668"/>
            <a:ext cx="2609850" cy="0"/>
          </a:xfrm>
          <a:prstGeom prst="line">
            <a:avLst/>
          </a:prstGeom>
          <a:ln w="9525" cap="flat">
            <a:solidFill>
              <a:srgbClr val="E6E8F2"/>
            </a:solidFill>
          </a:ln>
        </p:spPr>
      </p:cxnSp>
      <p:cxnSp>
        <p:nvCxnSpPr>
          <p:cNvPr id="46" name="Line 46"/>
          <p:cNvCxnSpPr/>
          <p:nvPr/>
        </p:nvCxnSpPr>
        <p:spPr>
          <a:xfrm>
            <a:off x="6610198" y="2463234"/>
            <a:ext cx="2609850" cy="0"/>
          </a:xfrm>
          <a:prstGeom prst="line">
            <a:avLst/>
          </a:prstGeom>
          <a:ln w="9525" cap="flat">
            <a:solidFill>
              <a:srgbClr val="E6E8F2"/>
            </a:solidFill>
          </a:ln>
        </p:spPr>
      </p:cxnSp>
      <p:cxnSp>
        <p:nvCxnSpPr>
          <p:cNvPr id="47" name="Line 47"/>
          <p:cNvCxnSpPr/>
          <p:nvPr/>
        </p:nvCxnSpPr>
        <p:spPr>
          <a:xfrm>
            <a:off x="6610198" y="2349800"/>
            <a:ext cx="2609850" cy="0"/>
          </a:xfrm>
          <a:prstGeom prst="line">
            <a:avLst/>
          </a:prstGeom>
          <a:ln w="9525" cap="flat">
            <a:solidFill>
              <a:srgbClr val="E6E8F2"/>
            </a:solidFill>
          </a:ln>
        </p:spPr>
      </p:cxnSp>
      <p:cxnSp>
        <p:nvCxnSpPr>
          <p:cNvPr id="48" name="Line 48"/>
          <p:cNvCxnSpPr/>
          <p:nvPr/>
        </p:nvCxnSpPr>
        <p:spPr>
          <a:xfrm>
            <a:off x="6610198" y="2236366"/>
            <a:ext cx="2609850" cy="0"/>
          </a:xfrm>
          <a:prstGeom prst="line">
            <a:avLst/>
          </a:prstGeom>
          <a:ln w="9525" cap="flat">
            <a:solidFill>
              <a:srgbClr val="E6E8F2"/>
            </a:solidFill>
          </a:ln>
        </p:spPr>
      </p:cxnSp>
      <p:cxnSp>
        <p:nvCxnSpPr>
          <p:cNvPr id="49" name="Line 49"/>
          <p:cNvCxnSpPr/>
          <p:nvPr/>
        </p:nvCxnSpPr>
        <p:spPr>
          <a:xfrm>
            <a:off x="6610198" y="2122932"/>
            <a:ext cx="2609850" cy="0"/>
          </a:xfrm>
          <a:prstGeom prst="line">
            <a:avLst/>
          </a:prstGeom>
          <a:ln w="9525" cap="flat">
            <a:solidFill>
              <a:srgbClr val="E6E8F2"/>
            </a:solidFill>
          </a:ln>
        </p:spPr>
      </p:cxnSp>
      <p:cxnSp>
        <p:nvCxnSpPr>
          <p:cNvPr id="50" name="Line 50"/>
          <p:cNvCxnSpPr/>
          <p:nvPr/>
        </p:nvCxnSpPr>
        <p:spPr>
          <a:xfrm>
            <a:off x="6610198" y="2122932"/>
            <a:ext cx="0" cy="2495550"/>
          </a:xfrm>
          <a:prstGeom prst="line">
            <a:avLst/>
          </a:prstGeom>
          <a:ln w="19050" cap="flat">
            <a:solidFill>
              <a:srgbClr val="5F6272"/>
            </a:solidFill>
          </a:ln>
        </p:spPr>
      </p:cxnSp>
      <p:cxnSp>
        <p:nvCxnSpPr>
          <p:cNvPr id="51" name="Line 51"/>
          <p:cNvCxnSpPr/>
          <p:nvPr/>
        </p:nvCxnSpPr>
        <p:spPr>
          <a:xfrm>
            <a:off x="6610198" y="4618482"/>
            <a:ext cx="2609850" cy="0"/>
          </a:xfrm>
          <a:prstGeom prst="line">
            <a:avLst/>
          </a:prstGeom>
          <a:ln w="19050" cap="flat">
            <a:solidFill>
              <a:srgbClr val="5F6272"/>
            </a:solidFill>
          </a:ln>
        </p:spPr>
      </p:cxnSp>
      <p:sp>
        <p:nvSpPr>
          <p:cNvPr id="52" name="Shape 52"/>
          <p:cNvSpPr txBox="1"/>
          <p:nvPr/>
        </p:nvSpPr>
        <p:spPr>
          <a:xfrm>
            <a:off x="633587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9883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54" name="Shape 54"/>
          <p:cNvSpPr txBox="1"/>
          <p:nvPr/>
        </p:nvSpPr>
        <p:spPr>
          <a:xfrm>
            <a:off x="7640803"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8293265"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56" name="Shape 56"/>
          <p:cNvSpPr txBox="1"/>
          <p:nvPr/>
        </p:nvSpPr>
        <p:spPr>
          <a:xfrm>
            <a:off x="8945728"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7" name="Shape 57"/>
          <p:cNvSpPr txBox="1"/>
          <p:nvPr/>
        </p:nvSpPr>
        <p:spPr>
          <a:xfrm>
            <a:off x="6043270"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8" name="Shape 58"/>
          <p:cNvSpPr txBox="1"/>
          <p:nvPr/>
        </p:nvSpPr>
        <p:spPr>
          <a:xfrm>
            <a:off x="6043270" y="39598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6043270" y="339270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0" name="Shape 60"/>
          <p:cNvSpPr txBox="1"/>
          <p:nvPr/>
        </p:nvSpPr>
        <p:spPr>
          <a:xfrm>
            <a:off x="6043270" y="28255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15</a:t>
            </a:r>
            <a:endParaRPr lang="en-US" sz="975" dirty="0"/>
          </a:p>
        </p:txBody>
      </p:sp>
      <p:sp>
        <p:nvSpPr>
          <p:cNvPr id="61" name="Shape 61"/>
          <p:cNvSpPr txBox="1"/>
          <p:nvPr/>
        </p:nvSpPr>
        <p:spPr>
          <a:xfrm>
            <a:off x="6043270" y="2258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62" name="Line 62"/>
          <p:cNvCxnSpPr/>
          <p:nvPr/>
        </p:nvCxnSpPr>
        <p:spPr>
          <a:xfrm flipV="1">
            <a:off x="6610198" y="2122932"/>
            <a:ext cx="717709" cy="2495550"/>
          </a:xfrm>
          <a:prstGeom prst="line">
            <a:avLst/>
          </a:prstGeom>
          <a:ln w="38100" cap="rnd">
            <a:solidFill>
              <a:srgbClr val="16171D"/>
            </a:solidFill>
          </a:ln>
        </p:spPr>
      </p:cxnSp>
      <p:sp>
        <p:nvSpPr>
          <p:cNvPr id="63" name="Shape 63"/>
          <p:cNvSpPr/>
          <p:nvPr/>
        </p:nvSpPr>
        <p:spPr>
          <a:xfrm>
            <a:off x="7210273" y="229741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7348385" y="21021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(1, 20)</a:t>
            </a:r>
            <a:endParaRPr lang="en-US" sz="1125" dirty="0"/>
          </a:p>
        </p:txBody>
      </p:sp>
      <p:sp>
        <p:nvSpPr>
          <p:cNvPr id="65" name="Shape 65"/>
          <p:cNvSpPr txBox="1"/>
          <p:nvPr/>
        </p:nvSpPr>
        <p:spPr>
          <a:xfrm>
            <a:off x="6286348" y="49613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are 0: $0 for 0 tons.</a:t>
            </a:r>
            <a:endParaRPr lang="en-US" sz="1575" dirty="0"/>
          </a:p>
        </p:txBody>
      </p:sp>
      <p:sp>
        <p:nvSpPr>
          <p:cNvPr id="66" name="Shape 66"/>
          <p:cNvSpPr txBox="1"/>
          <p:nvPr/>
        </p:nvSpPr>
        <p:spPr>
          <a:xfrm>
            <a:off x="6286348" y="535152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Hays County</a:t>
            </a:r>
            <a:r>
              <a:rPr lang="en-US" sz="1575" dirty="0">
                <a:solidFill>
                  <a:srgbClr val="16171D"/>
                </a:solidFill>
                <a:latin typeface="Segoe UI"/>
                <a:cs typeface="Segoe UI"/>
              </a:rPr>
              <a:t xml:space="preserve"> pays more: $20 per ton vs. $15 per ton.</a:t>
            </a:r>
            <a:endParaRPr lang="en-US" sz="1575" dirty="0"/>
          </a:p>
        </p:txBody>
      </p:sp>
      <p:sp>
        <p:nvSpPr>
          <p:cNvPr id="67" name="Slide Number 6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5"/>
                                        </p:tgtEl>
                                        <p:attrNameLst>
                                          <p:attrName>style.visibility</p:attrName>
                                        </p:attrNameLst>
                                      </p:cBhvr>
                                      <p:to>
                                        <p:strVal val="visible"/>
                                      </p:to>
                                    </p:set>
                                    <p:animEffect transition="in" filter="fade">
                                      <p:cBhvr>
                                        <p:cTn id="11" dur="500"/>
                                        <p:tgtEl>
                                          <p:spTgt spid="65"/>
                                        </p:tgtEl>
                                      </p:cBhvr>
                                    </p:animEffect>
                                    <p:anim calcmode="lin" valueType="num">
                                      <p:cBhvr>
                                        <p:cTn id="12" dur="500" fill="hold"/>
                                        <p:tgtEl>
                                          <p:spTgt spid="65"/>
                                        </p:tgtEl>
                                        <p:attrNameLst>
                                          <p:attrName>ppt_x</p:attrName>
                                        </p:attrNameLst>
                                      </p:cBhvr>
                                      <p:tavLst>
                                        <p:tav tm="0">
                                          <p:val>
                                            <p:strVal val="#ppt_x"/>
                                          </p:val>
                                        </p:tav>
                                        <p:tav tm="100000">
                                          <p:val>
                                            <p:strVal val="#ppt_x"/>
                                          </p:val>
                                        </p:tav>
                                      </p:tavLst>
                                    </p:anim>
                                    <p:anim calcmode="lin" valueType="num">
                                      <p:cBhvr>
                                        <p:cTn id="13"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6"/>
                                        </p:tgtEl>
                                        <p:attrNameLst>
                                          <p:attrName>style.visibility</p:attrName>
                                        </p:attrNameLst>
                                      </p:cBhvr>
                                      <p:to>
                                        <p:strVal val="visible"/>
                                      </p:to>
                                    </p:set>
                                    <p:animEffect transition="in" filter="fade">
                                      <p:cBhvr>
                                        <p:cTn id="18" dur="500"/>
                                        <p:tgtEl>
                                          <p:spTgt spid="66"/>
                                        </p:tgtEl>
                                      </p:cBhvr>
                                    </p:animEffect>
                                    <p:anim calcmode="lin" valueType="num">
                                      <p:cBhvr>
                                        <p:cTn id="19" dur="500" fill="hold"/>
                                        <p:tgtEl>
                                          <p:spTgt spid="66"/>
                                        </p:tgtEl>
                                        <p:attrNameLst>
                                          <p:attrName>ppt_x</p:attrName>
                                        </p:attrNameLst>
                                      </p:cBhvr>
                                      <p:tavLst>
                                        <p:tav tm="0">
                                          <p:val>
                                            <p:strVal val="#ppt_x"/>
                                          </p:val>
                                        </p:tav>
                                        <p:tav tm="100000">
                                          <p:val>
                                            <p:strVal val="#ppt_x"/>
                                          </p:val>
                                        </p:tav>
                                      </p:tavLst>
                                    </p:anim>
                                    <p:anim calcmode="lin" valueType="num">
                                      <p:cBhvr>
                                        <p:cTn id="20" dur="500" fill="hold"/>
                                        <p:tgtEl>
                                          <p:spTgt spid="6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November 2</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November 3. End of Topic 2 Assessment. Tonight: finish the Topic 2 Review practice test.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November 4</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(Three ways to write a function; four views) → Lesson 4, Day 2.</a:t>
            </a:r>
            <a:endParaRPr lang="en-US" sz="2100" dirty="0"/>
          </a:p>
        </p:txBody>
      </p:sp>
      <p:sp>
        <p:nvSpPr>
          <p:cNvPr id="5" name="Shape 5"/>
          <p:cNvSpPr txBox="1"/>
          <p:nvPr/>
        </p:nvSpPr>
        <p:spPr>
          <a:xfrm>
            <a:off x="685800" y="328498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does each linear function representation compare with the others?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Wed, Nov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124358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 200-gallon tank drains 10 gallons each minute: </a:t>
            </a:r>
            <a:r>
              <a:rPr lang="en-US" sz="1950" dirty="0" i="1">
                <a:solidFill>
                  <a:srgbClr val="16171D"/>
                </a:solidFill>
                <a:latin typeface="Cambria"/>
                <a:cs typeface="Cambria"/>
              </a:rPr>
              <a:t xml:space="preserve">w</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200 − 10</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What is the range of the function for this situation? </a:t>
            </a:r>
            <a:r>
              <a:rPr lang="en-US" sz="1575" dirty="0">
                <a:solidFill>
                  <a:srgbClr val="5F6272"/>
                </a:solidFill>
                <a:latin typeface="Segoe UI"/>
                <a:cs typeface="Segoe UI"/>
              </a:rPr>
              <a:t xml:space="preserve">(SE p. 325)</a:t>
            </a:r>
            <a:endParaRPr lang="en-US" sz="1950" dirty="0"/>
          </a:p>
        </p:txBody>
      </p:sp>
      <p:sp>
        <p:nvSpPr>
          <p:cNvPr id="11" name="Shape 11"/>
          <p:cNvSpPr txBox="1"/>
          <p:nvPr/>
        </p:nvSpPr>
        <p:spPr>
          <a:xfrm>
            <a:off x="6362548" y="462076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 </a:t>
            </a:r>
            <a:r>
              <a:rPr lang="en-US" sz="2325" dirty="0" i="1">
                <a:solidFill>
                  <a:srgbClr val="16171D"/>
                </a:solidFill>
                <a:latin typeface="Cambria"/>
                <a:cs typeface="Cambria"/>
              </a:rPr>
              <a:t xml:space="preserve">w</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200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Nov 4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Three ways to write a function; four views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4 compares tables, graphs, equations and descriptions: the same four views.</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
        <p:nvSpPr>
          <p:cNvPr id="93" name="Slide Number 9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Comparing Equations and Tables · SE p. 323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Celsius and Fahrenheit</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Joey's table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8" name="Shape 8"/>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−12.2</a:t>
            </a:r>
            <a:endParaRPr lang="en-US" sz="1650" dirty="0"/>
          </a:p>
        </p:txBody>
      </p:sp>
      <p:sp>
        <p:nvSpPr>
          <p:cNvPr id="9" name="Shape 9"/>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30</a:t>
            </a:r>
            <a:endParaRPr lang="en-US" sz="1650" dirty="0"/>
          </a:p>
        </p:txBody>
      </p:sp>
      <p:sp>
        <p:nvSpPr>
          <p:cNvPr id="10" name="Shape 10"/>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−1.1</a:t>
            </a:r>
            <a:endParaRPr lang="en-US" sz="1650" dirty="0"/>
          </a:p>
        </p:txBody>
      </p:sp>
      <p:sp>
        <p:nvSpPr>
          <p:cNvPr id="11" name="Shape 11"/>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50</a:t>
            </a:r>
            <a:endParaRPr lang="en-US" sz="1650" dirty="0"/>
          </a:p>
        </p:txBody>
      </p:sp>
      <p:sp>
        <p:nvSpPr>
          <p:cNvPr id="12" name="Shape 12"/>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10</a:t>
            </a:r>
            <a:endParaRPr lang="en-US" sz="1650" dirty="0"/>
          </a:p>
        </p:txBody>
      </p:sp>
      <p:sp>
        <p:nvSpPr>
          <p:cNvPr id="13" name="Shape 13"/>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4" name="Shape 14"/>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23.9</a:t>
            </a:r>
            <a:endParaRPr lang="en-US" sz="1650" dirty="0"/>
          </a:p>
        </p:txBody>
      </p:sp>
      <p:sp>
        <p:nvSpPr>
          <p:cNvPr id="15" name="Shape 15"/>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Xavier's equation</a:t>
            </a:r>
            <a:endParaRPr lang="en-US" sz="1575" dirty="0"/>
          </a:p>
        </p:txBody>
      </p:sp>
      <p:sp>
        <p:nvSpPr>
          <p:cNvPr id="16" name="Shape 16"/>
          <p:cNvSpPr txBox="1"/>
          <p:nvPr/>
        </p:nvSpPr>
        <p:spPr>
          <a:xfrm>
            <a:off x="6286348" y="2008632"/>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+ 32</a:t>
            </a:r>
            <a:endParaRPr lang="en-US" sz="2325" dirty="0"/>
          </a:p>
        </p:txBody>
      </p:sp>
      <p:sp>
        <p:nvSpPr>
          <p:cNvPr id="17" name="Shape 17"/>
          <p:cNvSpPr txBox="1"/>
          <p:nvPr/>
        </p:nvSpPr>
        <p:spPr>
          <a:xfrm>
            <a:off x="6286348" y="251307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Xavier converts </a:t>
            </a:r>
            <a:r>
              <a:rPr lang="en-US" sz="1575" dirty="0" b="1">
                <a:solidFill>
                  <a:srgbClr val="16171D"/>
                </a:solidFill>
                <a:latin typeface="Segoe UI"/>
                <a:cs typeface="Segoe UI"/>
              </a:rPr>
              <a:t xml:space="preserve">°C to °F</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°C). Joey converts </a:t>
            </a:r>
            <a:r>
              <a:rPr lang="en-US" sz="1575" dirty="0" b="1">
                <a:solidFill>
                  <a:srgbClr val="16171D"/>
                </a:solidFill>
                <a:latin typeface="Segoe UI"/>
                <a:cs typeface="Segoe UI"/>
              </a:rPr>
              <a:t xml:space="preserve">°F to °C</a:t>
            </a:r>
            <a:r>
              <a:rPr lang="en-US" sz="1575" dirty="0">
                <a:solidFill>
                  <a:srgbClr val="16171D"/>
                </a:solidFill>
                <a:latin typeface="Segoe UI"/>
                <a:cs typeface="Segoe UI"/>
              </a:rPr>
              <a:t xml:space="preserve">.</a:t>
            </a:r>
            <a:endParaRPr lang="en-US" sz="1575" dirty="0"/>
          </a:p>
        </p:txBody>
      </p:sp>
      <p:sp>
        <p:nvSpPr>
          <p:cNvPr id="18" name="Shape 18"/>
          <p:cNvSpPr txBox="1"/>
          <p:nvPr/>
        </p:nvSpPr>
        <p:spPr>
          <a:xfrm>
            <a:off x="6286348" y="314325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Joey's is about 5/9 (each 9°F is about 5°C). Xavier's is 9/5 (each 5°C is 9°F).</a:t>
            </a:r>
            <a:endParaRPr lang="en-US" sz="1575" dirty="0"/>
          </a:p>
        </p:txBody>
      </p:sp>
      <p:sp>
        <p:nvSpPr>
          <p:cNvPr id="19" name="Shape 19"/>
          <p:cNvSpPr txBox="1"/>
          <p:nvPr/>
        </p:nvSpPr>
        <p:spPr>
          <a:xfrm>
            <a:off x="6286348" y="37734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Joey's is about −17.8 (0°F ≈ −17.8°C). Xavier's is 32 (0°C = 32°F).</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500"/>
                                        <p:tgtEl>
                                          <p:spTgt spid="17"/>
                                        </p:tgtEl>
                                      </p:cBhvr>
                                    </p:animEffect>
                                    <p:anim calcmode="lin" valueType="num">
                                      <p:cBhvr>
                                        <p:cTn id="5" dur="500" fill="hold"/>
                                        <p:tgtEl>
                                          <p:spTgt spid="17"/>
                                        </p:tgtEl>
                                        <p:attrNameLst>
                                          <p:attrName>ppt_x</p:attrName>
                                        </p:attrNameLst>
                                      </p:cBhvr>
                                      <p:tavLst>
                                        <p:tav tm="0">
                                          <p:val>
                                            <p:strVal val="#ppt_x"/>
                                          </p:val>
                                        </p:tav>
                                        <p:tav tm="100000">
                                          <p:val>
                                            <p:strVal val="#ppt_x"/>
                                          </p:val>
                                        </p:tav>
                                      </p:tavLst>
                                    </p:anim>
                                    <p:anim calcmode="lin" valueType="num">
                                      <p:cBhvr>
                                        <p:cTn id="6"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4.4 · Comparing Descriptions and Graphs · SE p. 324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Miguel and Lauren's bank accounts</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Miguel</a:t>
            </a:r>
            <a:endParaRPr lang="en-US" sz="1575" dirty="0"/>
          </a:p>
        </p:txBody>
      </p:sp>
      <p:sp>
        <p:nvSpPr>
          <p:cNvPr id="5" name="Shape 5"/>
          <p:cNvSpPr/>
          <p:nvPr/>
        </p:nvSpPr>
        <p:spPr>
          <a:xfrm>
            <a:off x="685800" y="2008632"/>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122932"/>
            <a:ext cx="0" cy="2495550"/>
          </a:xfrm>
          <a:prstGeom prst="line">
            <a:avLst/>
          </a:prstGeom>
          <a:ln w="9525" cap="flat">
            <a:solidFill>
              <a:srgbClr val="E6E8F2"/>
            </a:solidFill>
          </a:ln>
        </p:spPr>
      </p:cxnSp>
      <p:cxnSp>
        <p:nvCxnSpPr>
          <p:cNvPr id="7" name="Line 7"/>
          <p:cNvCxnSpPr/>
          <p:nvPr/>
        </p:nvCxnSpPr>
        <p:spPr>
          <a:xfrm>
            <a:off x="1493520" y="2122932"/>
            <a:ext cx="0" cy="2495550"/>
          </a:xfrm>
          <a:prstGeom prst="line">
            <a:avLst/>
          </a:prstGeom>
          <a:ln w="9525" cap="flat">
            <a:solidFill>
              <a:srgbClr val="E6E8F2"/>
            </a:solidFill>
          </a:ln>
        </p:spPr>
      </p:cxnSp>
      <p:cxnSp>
        <p:nvCxnSpPr>
          <p:cNvPr id="8" name="Line 8"/>
          <p:cNvCxnSpPr/>
          <p:nvPr/>
        </p:nvCxnSpPr>
        <p:spPr>
          <a:xfrm>
            <a:off x="1977390" y="2122932"/>
            <a:ext cx="0" cy="2495550"/>
          </a:xfrm>
          <a:prstGeom prst="line">
            <a:avLst/>
          </a:prstGeom>
          <a:ln w="9525" cap="flat">
            <a:solidFill>
              <a:srgbClr val="E6E8F2"/>
            </a:solidFill>
          </a:ln>
        </p:spPr>
      </p:cxnSp>
      <p:cxnSp>
        <p:nvCxnSpPr>
          <p:cNvPr id="9" name="Line 9"/>
          <p:cNvCxnSpPr/>
          <p:nvPr/>
        </p:nvCxnSpPr>
        <p:spPr>
          <a:xfrm>
            <a:off x="2461260" y="2122932"/>
            <a:ext cx="0" cy="2495550"/>
          </a:xfrm>
          <a:prstGeom prst="line">
            <a:avLst/>
          </a:prstGeom>
          <a:ln w="9525" cap="flat">
            <a:solidFill>
              <a:srgbClr val="E6E8F2"/>
            </a:solidFill>
          </a:ln>
        </p:spPr>
      </p:cxnSp>
      <p:cxnSp>
        <p:nvCxnSpPr>
          <p:cNvPr id="10" name="Line 10"/>
          <p:cNvCxnSpPr/>
          <p:nvPr/>
        </p:nvCxnSpPr>
        <p:spPr>
          <a:xfrm>
            <a:off x="2945130" y="2122932"/>
            <a:ext cx="0" cy="2495550"/>
          </a:xfrm>
          <a:prstGeom prst="line">
            <a:avLst/>
          </a:prstGeom>
          <a:ln w="9525" cap="flat">
            <a:solidFill>
              <a:srgbClr val="E6E8F2"/>
            </a:solidFill>
          </a:ln>
        </p:spPr>
      </p:cxnSp>
      <p:cxnSp>
        <p:nvCxnSpPr>
          <p:cNvPr id="11" name="Line 11"/>
          <p:cNvCxnSpPr/>
          <p:nvPr/>
        </p:nvCxnSpPr>
        <p:spPr>
          <a:xfrm>
            <a:off x="3429000" y="2122932"/>
            <a:ext cx="0" cy="2495550"/>
          </a:xfrm>
          <a:prstGeom prst="line">
            <a:avLst/>
          </a:prstGeom>
          <a:ln w="9525" cap="flat">
            <a:solidFill>
              <a:srgbClr val="E6E8F2"/>
            </a:solidFill>
          </a:ln>
        </p:spPr>
      </p:cxnSp>
      <p:cxnSp>
        <p:nvCxnSpPr>
          <p:cNvPr id="12" name="Line 12"/>
          <p:cNvCxnSpPr/>
          <p:nvPr/>
        </p:nvCxnSpPr>
        <p:spPr>
          <a:xfrm>
            <a:off x="1009650" y="4618482"/>
            <a:ext cx="2419350" cy="0"/>
          </a:xfrm>
          <a:prstGeom prst="line">
            <a:avLst/>
          </a:prstGeom>
          <a:ln w="9525" cap="flat">
            <a:solidFill>
              <a:srgbClr val="E6E8F2"/>
            </a:solidFill>
          </a:ln>
        </p:spPr>
      </p:cxnSp>
      <p:cxnSp>
        <p:nvCxnSpPr>
          <p:cNvPr id="13" name="Line 13"/>
          <p:cNvCxnSpPr/>
          <p:nvPr/>
        </p:nvCxnSpPr>
        <p:spPr>
          <a:xfrm>
            <a:off x="1009650" y="4119372"/>
            <a:ext cx="2419350" cy="0"/>
          </a:xfrm>
          <a:prstGeom prst="line">
            <a:avLst/>
          </a:prstGeom>
          <a:ln w="9525" cap="flat">
            <a:solidFill>
              <a:srgbClr val="E6E8F2"/>
            </a:solidFill>
          </a:ln>
        </p:spPr>
      </p:cxnSp>
      <p:cxnSp>
        <p:nvCxnSpPr>
          <p:cNvPr id="14" name="Line 14"/>
          <p:cNvCxnSpPr/>
          <p:nvPr/>
        </p:nvCxnSpPr>
        <p:spPr>
          <a:xfrm>
            <a:off x="1009650" y="3620262"/>
            <a:ext cx="2419350" cy="0"/>
          </a:xfrm>
          <a:prstGeom prst="line">
            <a:avLst/>
          </a:prstGeom>
          <a:ln w="9525" cap="flat">
            <a:solidFill>
              <a:srgbClr val="E6E8F2"/>
            </a:solidFill>
          </a:ln>
        </p:spPr>
      </p:cxnSp>
      <p:cxnSp>
        <p:nvCxnSpPr>
          <p:cNvPr id="15" name="Line 15"/>
          <p:cNvCxnSpPr/>
          <p:nvPr/>
        </p:nvCxnSpPr>
        <p:spPr>
          <a:xfrm>
            <a:off x="1009650" y="3121152"/>
            <a:ext cx="2419350" cy="0"/>
          </a:xfrm>
          <a:prstGeom prst="line">
            <a:avLst/>
          </a:prstGeom>
          <a:ln w="9525" cap="flat">
            <a:solidFill>
              <a:srgbClr val="E6E8F2"/>
            </a:solidFill>
          </a:ln>
        </p:spPr>
      </p:cxnSp>
      <p:cxnSp>
        <p:nvCxnSpPr>
          <p:cNvPr id="16" name="Line 16"/>
          <p:cNvCxnSpPr/>
          <p:nvPr/>
        </p:nvCxnSpPr>
        <p:spPr>
          <a:xfrm>
            <a:off x="1009650" y="2622042"/>
            <a:ext cx="2419350" cy="0"/>
          </a:xfrm>
          <a:prstGeom prst="line">
            <a:avLst/>
          </a:prstGeom>
          <a:ln w="9525" cap="flat">
            <a:solidFill>
              <a:srgbClr val="E6E8F2"/>
            </a:solidFill>
          </a:ln>
        </p:spPr>
      </p:cxnSp>
      <p:cxnSp>
        <p:nvCxnSpPr>
          <p:cNvPr id="17" name="Line 17"/>
          <p:cNvCxnSpPr/>
          <p:nvPr/>
        </p:nvCxnSpPr>
        <p:spPr>
          <a:xfrm>
            <a:off x="1009650" y="2122932"/>
            <a:ext cx="2419350" cy="0"/>
          </a:xfrm>
          <a:prstGeom prst="line">
            <a:avLst/>
          </a:prstGeom>
          <a:ln w="9525" cap="flat">
            <a:solidFill>
              <a:srgbClr val="E6E8F2"/>
            </a:solidFill>
          </a:ln>
        </p:spPr>
      </p:cxnSp>
      <p:cxnSp>
        <p:nvCxnSpPr>
          <p:cNvPr id="18" name="Line 18"/>
          <p:cNvCxnSpPr/>
          <p:nvPr/>
        </p:nvCxnSpPr>
        <p:spPr>
          <a:xfrm>
            <a:off x="1009650" y="2122932"/>
            <a:ext cx="0" cy="2495550"/>
          </a:xfrm>
          <a:prstGeom prst="line">
            <a:avLst/>
          </a:prstGeom>
          <a:ln w="19050" cap="flat">
            <a:solidFill>
              <a:srgbClr val="5F6272"/>
            </a:solidFill>
          </a:ln>
        </p:spPr>
      </p:cxnSp>
      <p:cxnSp>
        <p:nvCxnSpPr>
          <p:cNvPr id="19" name="Line 19"/>
          <p:cNvCxnSpPr/>
          <p:nvPr/>
        </p:nvCxnSpPr>
        <p:spPr>
          <a:xfrm>
            <a:off x="1009650" y="4618482"/>
            <a:ext cx="2419350" cy="0"/>
          </a:xfrm>
          <a:prstGeom prst="line">
            <a:avLst/>
          </a:prstGeom>
          <a:ln w="19050" cap="flat">
            <a:solidFill>
              <a:srgbClr val="5F6272"/>
            </a:solidFill>
          </a:ln>
        </p:spPr>
      </p:cxnSp>
      <p:sp>
        <p:nvSpPr>
          <p:cNvPr id="20" name="Shape 20"/>
          <p:cNvSpPr txBox="1"/>
          <p:nvPr/>
        </p:nvSpPr>
        <p:spPr>
          <a:xfrm>
            <a:off x="73533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1" name="Shape 21"/>
          <p:cNvSpPr txBox="1"/>
          <p:nvPr/>
        </p:nvSpPr>
        <p:spPr>
          <a:xfrm>
            <a:off x="121920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22" name="Shape 22"/>
          <p:cNvSpPr txBox="1"/>
          <p:nvPr/>
        </p:nvSpPr>
        <p:spPr>
          <a:xfrm>
            <a:off x="170307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23" name="Shape 23"/>
          <p:cNvSpPr txBox="1"/>
          <p:nvPr/>
        </p:nvSpPr>
        <p:spPr>
          <a:xfrm>
            <a:off x="218694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4" name="Shape 24"/>
          <p:cNvSpPr txBox="1"/>
          <p:nvPr/>
        </p:nvSpPr>
        <p:spPr>
          <a:xfrm>
            <a:off x="267081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5" name="Shape 25"/>
          <p:cNvSpPr txBox="1"/>
          <p:nvPr/>
        </p:nvSpPr>
        <p:spPr>
          <a:xfrm>
            <a:off x="3154680" y="46375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26" name="Shape 26"/>
          <p:cNvSpPr txBox="1"/>
          <p:nvPr/>
        </p:nvSpPr>
        <p:spPr>
          <a:xfrm>
            <a:off x="442722" y="45270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27" name="Shape 27"/>
          <p:cNvSpPr txBox="1"/>
          <p:nvPr/>
        </p:nvSpPr>
        <p:spPr>
          <a:xfrm>
            <a:off x="442722" y="402793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28" name="Shape 28"/>
          <p:cNvSpPr txBox="1"/>
          <p:nvPr/>
        </p:nvSpPr>
        <p:spPr>
          <a:xfrm>
            <a:off x="442722" y="3528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29" name="Shape 29"/>
          <p:cNvSpPr txBox="1"/>
          <p:nvPr/>
        </p:nvSpPr>
        <p:spPr>
          <a:xfrm>
            <a:off x="442722" y="30297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30" name="Shape 30"/>
          <p:cNvSpPr txBox="1"/>
          <p:nvPr/>
        </p:nvSpPr>
        <p:spPr>
          <a:xfrm>
            <a:off x="442722" y="2530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1" name="Shape 31"/>
          <p:cNvSpPr txBox="1"/>
          <p:nvPr/>
        </p:nvSpPr>
        <p:spPr>
          <a:xfrm>
            <a:off x="442722" y="203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32" name="Shape 32"/>
          <p:cNvSpPr/>
          <p:nvPr/>
        </p:nvSpPr>
        <p:spPr>
          <a:xfrm>
            <a:off x="1441132" y="40669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3" name="Shape 33"/>
          <p:cNvSpPr/>
          <p:nvPr/>
        </p:nvSpPr>
        <p:spPr>
          <a:xfrm>
            <a:off x="1925003" y="356787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4" name="Shape 34"/>
          <p:cNvSpPr/>
          <p:nvPr/>
        </p:nvSpPr>
        <p:spPr>
          <a:xfrm>
            <a:off x="2408872" y="306876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5" name="Shape 35"/>
          <p:cNvSpPr/>
          <p:nvPr/>
        </p:nvSpPr>
        <p:spPr>
          <a:xfrm>
            <a:off x="2892742" y="25696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36" name="Shape 36"/>
          <p:cNvSpPr txBox="1"/>
          <p:nvPr/>
        </p:nvSpPr>
        <p:spPr>
          <a:xfrm>
            <a:off x="3030855" y="237439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(4, 80)</a:t>
            </a:r>
            <a:endParaRPr lang="en-US" sz="1125" dirty="0"/>
          </a:p>
        </p:txBody>
      </p:sp>
      <p:sp>
        <p:nvSpPr>
          <p:cNvPr id="37" name="Shape 37"/>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Lauren starts with $25 and deposits $25 each month.</a:t>
            </a:r>
            <a:endParaRPr lang="en-US" sz="1575" dirty="0"/>
          </a:p>
        </p:txBody>
      </p:sp>
      <p:sp>
        <p:nvSpPr>
          <p:cNvPr id="38" name="Shape 38"/>
          <p:cNvSpPr txBox="1"/>
          <p:nvPr/>
        </p:nvSpPr>
        <p:spPr>
          <a:xfrm>
            <a:off x="6286348" y="2008632"/>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Scales:</a:t>
            </a:r>
            <a:r>
              <a:rPr lang="en-US" sz="1575" dirty="0">
                <a:solidFill>
                  <a:srgbClr val="16171D"/>
                </a:solidFill>
                <a:latin typeface="Segoe UI"/>
                <a:cs typeface="Segoe UI"/>
              </a:rPr>
              <a:t xml:space="preserve"> each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tick is 1 month and each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tick is $20 ($80 after 4 months). The origin is (0 months, $0).</a:t>
            </a:r>
            <a:endParaRPr lang="en-US" sz="1575" dirty="0"/>
          </a:p>
        </p:txBody>
      </p:sp>
      <p:sp>
        <p:nvSpPr>
          <p:cNvPr id="39" name="Shape 39"/>
          <p:cNvSpPr txBox="1"/>
          <p:nvPr/>
        </p:nvSpPr>
        <p:spPr>
          <a:xfrm>
            <a:off x="6286348"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Miguel saves $20 a month; Lauren saves $25 a month.</a:t>
            </a:r>
            <a:endParaRPr lang="en-US" sz="1575" dirty="0"/>
          </a:p>
        </p:txBody>
      </p:sp>
      <p:sp>
        <p:nvSpPr>
          <p:cNvPr id="40" name="Shape 40"/>
          <p:cNvSpPr txBox="1"/>
          <p:nvPr/>
        </p:nvSpPr>
        <p:spPr>
          <a:xfrm>
            <a:off x="6286348"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Miguel started with $0; Lauren with $25.</a:t>
            </a:r>
            <a:endParaRPr lang="en-US" sz="1575" dirty="0"/>
          </a:p>
        </p:txBody>
      </p:sp>
      <p:sp>
        <p:nvSpPr>
          <p:cNvPr id="41" name="Slide Number 4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38"/>
                                        </p:tgtEl>
                                        <p:attrNameLst>
                                          <p:attrName>style.visibility</p:attrName>
                                        </p:attrNameLst>
                                      </p:cBhvr>
                                      <p:to>
                                        <p:strVal val="visible"/>
                                      </p:to>
                                    </p:set>
                                    <p:animEffect transition="in" filter="fade">
                                      <p:cBhvr>
                                        <p:cTn id="4" dur="500"/>
                                        <p:tgtEl>
                                          <p:spTgt spid="38"/>
                                        </p:tgtEl>
                                      </p:cBhvr>
                                    </p:animEffect>
                                    <p:anim calcmode="lin" valueType="num">
                                      <p:cBhvr>
                                        <p:cTn id="5" dur="500" fill="hold"/>
                                        <p:tgtEl>
                                          <p:spTgt spid="38"/>
                                        </p:tgtEl>
                                        <p:attrNameLst>
                                          <p:attrName>ppt_x</p:attrName>
                                        </p:attrNameLst>
                                      </p:cBhvr>
                                      <p:tavLst>
                                        <p:tav tm="0">
                                          <p:val>
                                            <p:strVal val="#ppt_x"/>
                                          </p:val>
                                        </p:tav>
                                        <p:tav tm="100000">
                                          <p:val>
                                            <p:strVal val="#ppt_x"/>
                                          </p:val>
                                        </p:tav>
                                      </p:tavLst>
                                    </p:anim>
                                    <p:anim calcmode="lin" valueType="num">
                                      <p:cBhvr>
                                        <p:cTn id="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anim calcmode="lin" valueType="num">
                                      <p:cBhvr>
                                        <p:cTn id="12" dur="500" fill="hold"/>
                                        <p:tgtEl>
                                          <p:spTgt spid="39"/>
                                        </p:tgtEl>
                                        <p:attrNameLst>
                                          <p:attrName>ppt_x</p:attrName>
                                        </p:attrNameLst>
                                      </p:cBhvr>
                                      <p:tavLst>
                                        <p:tav tm="0">
                                          <p:val>
                                            <p:strVal val="#ppt_x"/>
                                          </p:val>
                                        </p:tav>
                                        <p:tav tm="100000">
                                          <p:val>
                                            <p:strVal val="#ppt_x"/>
                                          </p:val>
                                        </p:tav>
                                      </p:tavLst>
                                    </p:anim>
                                    <p:anim calcmode="lin" valueType="num">
                                      <p:cBhvr>
                                        <p:cTn id="13"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40"/>
                                        </p:tgtEl>
                                        <p:attrNameLst>
                                          <p:attrName>style.visibility</p:attrName>
                                        </p:attrNameLst>
                                      </p:cBhvr>
                                      <p:to>
                                        <p:strVal val="visible"/>
                                      </p:to>
                                    </p:set>
                                    <p:animEffect transition="in" filter="fade">
                                      <p:cBhvr>
                                        <p:cTn id="18" dur="500"/>
                                        <p:tgtEl>
                                          <p:spTgt spid="40"/>
                                        </p:tgtEl>
                                      </p:cBhvr>
                                    </p:animEffect>
                                    <p:anim calcmode="lin" valueType="num">
                                      <p:cBhvr>
                                        <p:cTn id="19" dur="500" fill="hold"/>
                                        <p:tgtEl>
                                          <p:spTgt spid="40"/>
                                        </p:tgtEl>
                                        <p:attrNameLst>
                                          <p:attrName>ppt_x</p:attrName>
                                        </p:attrNameLst>
                                      </p:cBhvr>
                                      <p:tavLst>
                                        <p:tav tm="0">
                                          <p:val>
                                            <p:strVal val="#ppt_x"/>
                                          </p:val>
                                        </p:tav>
                                        <p:tav tm="100000">
                                          <p:val>
                                            <p:strVal val="#ppt_x"/>
                                          </p:val>
                                        </p:tav>
                                      </p:tavLst>
                                    </p:anim>
                                    <p:anim calcmode="lin" valueType="num">
                                      <p:cBhvr>
                                        <p:cTn id="20" dur="5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Function Maker Space · SE p. 325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and compare</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10</a:t>
            </a:r>
            <a:endParaRPr lang="en-US" sz="1650" dirty="0"/>
          </a:p>
        </p:txBody>
      </p:sp>
      <p:sp>
        <p:nvSpPr>
          <p:cNvPr id="7" name="Shape 7"/>
          <p:cNvSpPr txBox="1"/>
          <p:nvPr/>
        </p:nvSpPr>
        <p:spPr>
          <a:xfrm>
            <a:off x="4114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20</a:t>
            </a:r>
            <a:endParaRPr lang="en-US" sz="1650" dirty="0"/>
          </a:p>
        </p:txBody>
      </p:sp>
      <p:sp>
        <p:nvSpPr>
          <p:cNvPr id="8" name="Shape 8"/>
          <p:cNvSpPr txBox="1"/>
          <p:nvPr/>
        </p:nvSpPr>
        <p:spPr>
          <a:xfrm>
            <a:off x="5257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25</a:t>
            </a:r>
            <a:endParaRPr lang="en-US" sz="1650" dirty="0"/>
          </a:p>
        </p:txBody>
      </p:sp>
      <p:sp>
        <p:nvSpPr>
          <p:cNvPr id="9" name="Shape 9"/>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y</a:t>
            </a:r>
            <a:endParaRPr lang="en-US" sz="1650" dirty="0"/>
          </a:p>
        </p:txBody>
      </p:sp>
      <p:sp>
        <p:nvSpPr>
          <p:cNvPr id="10" name="Shape 10"/>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1" name="Shape 11"/>
          <p:cNvSpPr txBox="1"/>
          <p:nvPr/>
        </p:nvSpPr>
        <p:spPr>
          <a:xfrm>
            <a:off x="2971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2" name="Shape 12"/>
          <p:cNvSpPr txBox="1"/>
          <p:nvPr/>
        </p:nvSpPr>
        <p:spPr>
          <a:xfrm>
            <a:off x="4114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7.5</a:t>
            </a:r>
            <a:endParaRPr lang="en-US" sz="1650" dirty="0"/>
          </a:p>
        </p:txBody>
      </p:sp>
      <p:sp>
        <p:nvSpPr>
          <p:cNvPr id="13" name="Shape 13"/>
          <p:cNvSpPr txBox="1"/>
          <p:nvPr/>
        </p:nvSpPr>
        <p:spPr>
          <a:xfrm>
            <a:off x="5257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8.75</a:t>
            </a:r>
            <a:endParaRPr lang="en-US" sz="1650" dirty="0"/>
          </a:p>
        </p:txBody>
      </p:sp>
      <p:sp>
        <p:nvSpPr>
          <p:cNvPr id="14" name="Shape 14"/>
          <p:cNvSpPr txBox="1"/>
          <p:nvPr/>
        </p:nvSpPr>
        <p:spPr>
          <a:xfrm>
            <a:off x="685800" y="258546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A situation for the table:</a:t>
            </a:r>
            <a:endParaRPr lang="en-US" sz="1575" dirty="0"/>
          </a:p>
        </p:txBody>
      </p:sp>
      <p:sp>
        <p:nvSpPr>
          <p:cNvPr id="15" name="Shape 15"/>
          <p:cNvSpPr txBox="1"/>
          <p:nvPr/>
        </p:nvSpPr>
        <p:spPr>
          <a:xfrm>
            <a:off x="685800" y="29756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Sample: Alejandra has read 2.5 pages and reads 2.5 more every 10 minutes. Slope ¼,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2.5.</a:t>
            </a:r>
            <a:endParaRPr lang="en-US" sz="1575" dirty="0"/>
          </a:p>
        </p:txBody>
      </p:sp>
      <p:sp>
        <p:nvSpPr>
          <p:cNvPr id="16" name="Shape 16"/>
          <p:cNvSpPr txBox="1"/>
          <p:nvPr/>
        </p:nvSpPr>
        <p:spPr>
          <a:xfrm>
            <a:off x="685800" y="360578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A less steep equation:</a:t>
            </a:r>
            <a:endParaRPr lang="en-US" sz="1575" dirty="0"/>
          </a:p>
        </p:txBody>
      </p:sp>
      <p:sp>
        <p:nvSpPr>
          <p:cNvPr id="17" name="Shape 17"/>
          <p:cNvSpPr txBox="1"/>
          <p:nvPr/>
        </p:nvSpPr>
        <p:spPr>
          <a:xfrm>
            <a:off x="685800" y="399592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0.2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+ 30</a:t>
            </a:r>
            <a:endParaRPr lang="en-US" sz="2325" dirty="0"/>
          </a:p>
        </p:txBody>
      </p:sp>
      <p:sp>
        <p:nvSpPr>
          <p:cNvPr id="18" name="Shape 18"/>
          <p:cNvSpPr txBox="1"/>
          <p:nvPr/>
        </p:nvSpPr>
        <p:spPr>
          <a:xfrm>
            <a:off x="6286348" y="258546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The graph shown in the book has slope ⅓ (through (0, −4)).</a:t>
            </a:r>
            <a:endParaRPr lang="en-US" sz="1575" dirty="0"/>
          </a:p>
        </p:txBody>
      </p:sp>
      <p:sp>
        <p:nvSpPr>
          <p:cNvPr id="19" name="Shape 19"/>
          <p:cNvSpPr txBox="1"/>
          <p:nvPr/>
        </p:nvSpPr>
        <p:spPr>
          <a:xfrm>
            <a:off x="6286348" y="321564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is steeper than the table (¼) and the equation (0.2).</a:t>
            </a:r>
            <a:endParaRPr lang="en-US" sz="1575" dirty="0"/>
          </a:p>
        </p:txBody>
      </p:sp>
      <p:sp>
        <p:nvSpPr>
          <p:cNvPr id="20" name="Shape 20"/>
          <p:cNvSpPr txBox="1"/>
          <p:nvPr/>
        </p:nvSpPr>
        <p:spPr>
          <a:xfrm>
            <a:off x="6286348" y="384581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Strategies:</a:t>
            </a:r>
            <a:endParaRPr lang="en-US" sz="1575" dirty="0"/>
          </a:p>
        </p:txBody>
      </p:sp>
      <p:sp>
        <p:nvSpPr>
          <p:cNvPr id="21" name="Shape 21"/>
          <p:cNvSpPr txBox="1"/>
          <p:nvPr/>
        </p:nvSpPr>
        <p:spPr>
          <a:xfrm>
            <a:off x="6286348" y="423595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Answers vary: rate of change from two points; compare the slopes.</a:t>
            </a:r>
            <a:endParaRPr lang="en-US" sz="1575" dirty="0"/>
          </a:p>
        </p:txBody>
      </p:sp>
      <p:sp>
        <p:nvSpPr>
          <p:cNvPr id="22" name="Slide Number 2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do the representations compare?</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Every form (equation, table, graph, description) shows the same features: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or rate and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or starting value.</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Compare by finding these in each form: equal slopes are parallel; slopes with a product of −1 are perpendicular.</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quantities and units tell what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a:t>
            </a:r>
            <a:r>
              <a:rPr lang="en-US" sz="1950" dirty="0">
                <a:solidFill>
                  <a:srgbClr val="16171D"/>
                </a:solidFill>
                <a:latin typeface="Cambria"/>
                <a:cs typeface="Cambria"/>
              </a:rPr>
              <a:t xml:space="preserve">(0, 3)</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(2, 11)</a:t>
            </a:r>
            <a:r>
              <a:rPr lang="en-US" sz="1950" dirty="0">
                <a:solidFill>
                  <a:srgbClr val="16171D"/>
                </a:solidFill>
                <a:latin typeface="Segoe UI"/>
                <a:cs typeface="Segoe UI"/>
              </a:rPr>
              <a:t xml:space="preserve">. Is its line parallel, perpendicular, or neither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3916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 (slope 4)</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+ 10</a:t>
            </a:r>
            <a:r>
              <a:rPr lang="en-US" sz="1950" dirty="0">
                <a:solidFill>
                  <a:srgbClr val="16171D"/>
                </a:solidFill>
                <a:latin typeface="Segoe UI"/>
                <a:cs typeface="Segoe UI"/>
              </a:rPr>
              <a:t xml:space="preserve"> and a table with </a:t>
            </a:r>
            <a:r>
              <a:rPr lang="en-US" sz="1950" dirty="0">
                <a:solidFill>
                  <a:srgbClr val="16171D"/>
                </a:solidFill>
                <a:latin typeface="Cambria"/>
                <a:cs typeface="Cambria"/>
              </a:rPr>
              <a:t xml:space="preserve">(0, 4), (1, 9)</a:t>
            </a:r>
            <a:r>
              <a:rPr lang="en-US" sz="1950" dirty="0">
                <a:solidFill>
                  <a:srgbClr val="16171D"/>
                </a:solidFill>
                <a:latin typeface="Segoe UI"/>
                <a:cs typeface="Segoe UI"/>
              </a:rPr>
              <a:t xml:space="preserve">. Which grows faster?</a:t>
            </a:r>
            <a:endParaRPr lang="en-US" sz="1950" dirty="0"/>
          </a:p>
        </p:txBody>
      </p:sp>
      <p:sp>
        <p:nvSpPr>
          <p:cNvPr id="7" name="Shape 7"/>
          <p:cNvSpPr txBox="1"/>
          <p:nvPr/>
        </p:nvSpPr>
        <p:spPr>
          <a:xfrm>
            <a:off x="685800" y="353872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table (slope 5 &gt; 3)</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taxi charges $2.50 per mile plus $3. What are the units of the slope?</a:t>
            </a:r>
            <a:endParaRPr lang="en-US" sz="1950" dirty="0"/>
          </a:p>
        </p:txBody>
      </p:sp>
      <p:sp>
        <p:nvSpPr>
          <p:cNvPr id="9" name="Shape 9"/>
          <p:cNvSpPr txBox="1"/>
          <p:nvPr/>
        </p:nvSpPr>
        <p:spPr>
          <a:xfrm>
            <a:off x="685800" y="463829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Dollars per mile</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4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November 4</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November 5. End of Topic 1 Assessment.</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x</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1229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 = 6</a:t>
            </a:r>
            <a:endParaRPr lang="en-US" sz="2325" dirty="0"/>
          </a:p>
        </p:txBody>
      </p:sp>
      <p:sp>
        <p:nvSpPr>
          <p:cNvPr id="7" name="Shape 7"/>
          <p:cNvSpPr txBox="1"/>
          <p:nvPr/>
        </p:nvSpPr>
        <p:spPr>
          <a:xfrm>
            <a:off x="685800" y="324154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7.5</a:t>
            </a:r>
            <a:endParaRPr lang="en-US" sz="2325" dirty="0"/>
          </a:p>
        </p:txBody>
      </p:sp>
      <p:sp>
        <p:nvSpPr>
          <p:cNvPr id="8" name="Shape 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12.7</a:t>
            </a:r>
            <a:endParaRPr lang="en-US" sz="2325" dirty="0"/>
          </a:p>
        </p:txBody>
      </p:sp>
      <p:sp>
        <p:nvSpPr>
          <p:cNvPr id="9" name="Shape 9"/>
          <p:cNvSpPr txBox="1"/>
          <p:nvPr/>
        </p:nvSpPr>
        <p:spPr>
          <a:xfrm>
            <a:off x="6286348" y="21229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7.7</a:t>
            </a:r>
            <a:endParaRPr lang="en-US" sz="2325" dirty="0"/>
          </a:p>
        </p:txBody>
      </p:sp>
      <p:sp>
        <p:nvSpPr>
          <p:cNvPr id="10" name="Shape 10"/>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12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1" name="Shape 11"/>
          <p:cNvSpPr txBox="1"/>
          <p:nvPr/>
        </p:nvSpPr>
        <p:spPr>
          <a:xfrm>
            <a:off x="6286348"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4 Assignment (SE pp. 327–330).</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30</Slides>
  <Notes>30</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