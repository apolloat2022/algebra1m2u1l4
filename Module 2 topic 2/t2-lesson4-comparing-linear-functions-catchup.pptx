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compare linear functions given as tables, graphs, equations and verbal descriptions: slope (parallel or perpendicular), y-intercept, and the units and scales in context. Two days on the 150-day calendar: Day 1 Getting Started, Activities 4.1 and 4.2; Day 2 Activities 4.3, 4.4 and Talk the Talk.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Tuesday, November 3.</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1 bell work. Reveal the answers one at a time. Answer key: 1. Slope = (4 − (−6)) ÷ (0 − (−2.5)) = 10 ÷ 2.5 = 4. 2. Parallel lines have equal slopes. 3. The negative reciprocal of 4 is −¼. 4. Equal numbers of each grade: y = x, slope 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6 so the class is ready for the End of Topic 1 Assessment (Lessons 1–6). Keep it to about 15 minutes, then go back to the Topic 2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student to read the definitions aloud. "Polynomial" comes from poly- (many) and -nomial (term): many terms. Teacher-guide questions: Rewrite the constant 7 with a variable and an exponent (7x⁰). What is the exponent of the variable in a linear function? (1.) What is an example of a linear function with a leading coefficient of 1? (P(x) = x + 4.) Write an example of a cubic function with four terms (x³ + 2x² − x + 5). The leading coefficient of 3x² − 2x + 4 is 3. Students learn more about polynomials in later courses.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information about general form aloud, then complete Question 5 as a class. The degree of a linear polynomial is 1, so its graph crosses the x-axis at most once. Teacher-guide sidebar: the letters used are irrelevant; think about the position of each number, as the leading coefficient or as the constant, and its effect on the function. The dashed slope triangle on the graph goes from (5, 30), right 2 and up 30 to (7, 60): 30/2 = 15. The last click marks b. Ask: Explain how your label for a makes sense. Where is another possible location for a? (Any slope triangle on the line.)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of zero of a function aloud, then have pairs complete Questions 6 and 7. Teacher-guide misconception: students mix up whether to give an x-intercept or a zero as one number or an ordered pair. Intercepts are locations, written as ordered pairs like (3, 0). Zeros are the values where f(x) = 0, written as numbers like 3. Ask: What information do general form and factored form both give? (The slope, a.) What does each give that the other doesn't? (General: the y-intercept. Factored: the zero.) Stamp the learning: the general form and the factored form each have a structure that identifies characteristics of the graph. For more practice, assign Skills Practice Set C. To close Day 2, have students reread the Essential Question and read the activity summaries. End of Day 2.</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come back to it at the end of the lesson.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5–10 minutes. Any choice is correct if the justification is.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4.1, 15–20 minutes. Find each slope first, then compare it to 4: equal is parallel, a product of −1 is perpendicular.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did you find the slope from the graph? (From (0, −0.5), right 4 and up 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4.2, 10–15 minutes. Question 1: label x = weight of cardboard (tons) and y = payout amount (dollars) on both. Travis: w(3) = 45; Hays: j(3) = 60. End of Day 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Tuesday, November 3.</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Wednesday, November 4.</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2 bell work. Reveal the answers one at a time. Answer key: 1. 15 · 3 = 45. 2. Slope = 20 ÷ 1 = 20 dollars per ton. 3. 9/5 · 10 + 32 = 18 + 32 = 50, so 10°C is 50°F. 4. 80 ÷ 4 = 20 dollars per month.</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6 so the class is ready for the End of Topic 1 Assessment (Lessons 1–6). Keep it to about 15 minutes, then go back to the Topic 2 lesson.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6.4, 15–20 minutes. To begin Day 3, have a student read the Essential Question aloud. Hand out the Problem-Solving Model and have pairs complete Questions 1 and 2, then share. Ask Yourself: Is F(t) directly proportional to t? (No.) Ask: Explain what the new y-intercept means in this context. (Before selling anything she is $80 behind: $45 in free shirts plus the $35 fee.) How did the fee affect how many shirts she needs to earn $100? (12 instead of 10.) Note: the teacher guide's answer to 1d says she "needs to sell an additional 6 T-shirts to earn $100"; that doesn't match its own numbers. 12 is 2 more than the 10 shirts from Activity 6.3, and 5 more than the 7 from Activity 6.2. The last two clicks label (0, −80) and (12, 100).</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G(t) − 35 = 15t − 45 − 35 = 15t − 80. To factor, divide 80 by 15: 15t − 80 = 15(t − 80/15) = 15(t − 16/3). Check: 15 × 16/3 = 80. Ask: How can you rewrite general form to get factored form? (Factor out the leading coefficient.) How can you use what you know about factored form to find the factor (t − 16/3)? (Set F(t) = 0 and solve.) The zero 16/3 ≈ 5.33 matches 1c: she needs 6 shirts before she has any money. Stamp the learning: in general form f(x) = ax + b, a is the slope and b is the y-intercept; in factored form f(x) = a(x − c), a is the slope and c is the x-intercept, or zero.</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complete the Graphic Organizer on SE p. 254 for f(x) = 2x − 8. Reveal one representation at a time. Any table of values on the line is correct; the teacher guide's samples are (−1, −10), (0, −8), (1, −6), (2, −4), and (0, −8), (2, −4), (4, 0), (6, 4). Ask: How did you know each function is linear? How did you calculate the slope and the y-intercept? For Question 3c: the degree is 1, and the zero x = 4 is the only value that makes f(x) = 0. Stamp the learning: both forms relate to the graph and table of the function they model.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4.3, 10–15 minutes. Think About: the units of the quantities matter. Joey's slope: (10 − (−12.2)) ÷ (50 − 10) = 22.2 ÷ 40 ≈ 0.56.</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4.4, 10–15 minutes. Slide typo in the student slides: the introduction calls Lauren 'Michelle'. For more practice, assign Skills Practice Set A.</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10–15 minutes. TE wording slip: the teacher guide's sample starts Alejandra 'at the middle of page 2'; 2.5 pages read is the middle of page 3.</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the Essential Question on the lesson opener page.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Work: 1. (11 − 3) ÷ 2 = 4. 2. (9 − 4) ÷ 1 = 5. 3. The slope is the output unit over the input unit.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Wednesday, November 4.</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4 Assignment; it previews Module 3.</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Put the day's bell work link up as students walk in. The 150-day pacing calendar (topic2-pacing-150.html) gives the day for each homework and quiz.</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Module 2 topic 2/t2-lesson4-bellwork-day1.html" TargetMode="External"/><Relationship Id="rId4" Type="http://schemas.openxmlformats.org/officeDocument/2006/relationships/hyperlink" Target="https://algebra1m2u1l4.vercel.app/Module 2 topic 2/t2-lesson4-bellwork-day2.html" TargetMode="External"/><Relationship Id="rId5" Type="http://schemas.openxmlformats.org/officeDocument/2006/relationships/hyperlink" Target="https://algebra1m2u1l4.vercel.app/Module 2 topic 2/t2-lesson4-homework.html" TargetMode="External"/><Relationship Id="rId6" Type="http://schemas.openxmlformats.org/officeDocument/2006/relationships/hyperlink" Target="https://algebra1m2u1l4.vercel.app/Module 2 topic 2/t2-lesson4-quiz.html" TargetMode="External"/><Relationship Id="rId7"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lgebra1m2u1l4.vercel.app/lesson6/lesson6-homework.html" TargetMode="External"/><Relationship Id="rId4" Type="http://schemas.openxmlformats.org/officeDocument/2006/relationships/hyperlink" Target="https://algebra1m2u1l4.vercel.app/lesson6/lesson6-quiz.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algebra1m2u1l4.vercel.app/lesson6/lesson6-homework.html" TargetMode="External"/><Relationship Id="rId4" Type="http://schemas.openxmlformats.org/officeDocument/2006/relationships/hyperlink" Target="https://algebra1m2u1l4.vercel.app/lesson6/lesson6-quiz.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algebra1m2u1l4.vercel.app/Module 2 topic 2/t2-lesson4-bellwork-day1.html" TargetMode="External"/><Relationship Id="rId4" Type="http://schemas.openxmlformats.org/officeDocument/2006/relationships/hyperlink" Target="https://algebra1m2u1l4.vercel.app/Module 2 topic 2/t2-lesson4-bellwork-day2.html" TargetMode="External"/><Relationship Id="rId5" Type="http://schemas.openxmlformats.org/officeDocument/2006/relationships/hyperlink" Target="https://algebra1m2u1l4.vercel.app/Module 2 topic 2/t2-lesson4-homework.html" TargetMode="External"/><Relationship Id="rId6" Type="http://schemas.openxmlformats.org/officeDocument/2006/relationships/hyperlink" Target="https://algebra1m2u1l4.vercel.app/Module 2 topic 2/t2-lesson4-quiz.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4 · Student Edition pp. 319–330</a:t>
            </a:r>
            <a:endParaRPr lang="en-US" sz="1200" dirty="0"/>
          </a:p>
        </p:txBody>
      </p:sp>
      <p:sp>
        <p:nvSpPr>
          <p:cNvPr id="3" name="Shape 3"/>
          <p:cNvSpPr txBox="1"/>
          <p:nvPr/>
        </p:nvSpPr>
        <p:spPr>
          <a:xfrm>
            <a:off x="685800" y="923544"/>
            <a:ext cx="10820095" cy="1335024"/>
          </a:xfrm>
          <a:prstGeom prst="rect">
            <a:avLst/>
          </a:prstGeom>
          <a:noFill/>
          <a:ln>
            <a:noFill/>
          </a:ln>
        </p:spPr>
        <p:txBody>
          <a:bodyPr wrap="square" lIns="36576" tIns="27432" rIns="36576" bIns="27432" anchor="t">
            <a:noAutofit/>
          </a:bodyPr>
          <a:lstStyle/>
          <a:p>
            <a:pPr algn="l">
              <a:lnSpc>
                <a:spcPct val="100000"/>
              </a:lnSpc>
            </a:pPr>
            <a:r>
              <a:rPr lang="en-US" sz="4200" dirty="0" b="1">
                <a:solidFill>
                  <a:srgbClr val="16171D"/>
                </a:solidFill>
                <a:latin typeface="Segoe UI"/>
                <a:cs typeface="Segoe UI"/>
              </a:rPr>
              <a:t xml:space="preserve">Comparing Linear Functions in Different Forms</a:t>
            </a:r>
            <a:endParaRPr lang="en-US" sz="4200" dirty="0"/>
          </a:p>
        </p:txBody>
      </p:sp>
      <p:sp>
        <p:nvSpPr>
          <p:cNvPr id="4" name="Shape 4"/>
          <p:cNvSpPr txBox="1"/>
          <p:nvPr/>
        </p:nvSpPr>
        <p:spPr>
          <a:xfrm>
            <a:off x="685800" y="2430018"/>
            <a:ext cx="1082009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Adds a 15-minute Topic 1 Catch-Up (Lessons 5–6) each day · Day 1: Tue, Nov 3 · Day 2: Wed, Nov 4</a:t>
            </a:r>
            <a:endParaRPr lang="en-US" sz="1650" dirty="0"/>
          </a:p>
        </p:txBody>
      </p:sp>
      <p:sp>
        <p:nvSpPr>
          <p:cNvPr id="5" name="Shape 5"/>
          <p:cNvSpPr txBox="1"/>
          <p:nvPr/>
        </p:nvSpPr>
        <p:spPr>
          <a:xfrm>
            <a:off x="685800" y="3075432"/>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a:solidFill>
                  <a:srgbClr val="16171D"/>
                </a:solidFill>
                <a:latin typeface="Cambria"/>
                <a:cs typeface="Cambria"/>
              </a:rPr>
              <a:t xml:space="preserve">table · graph · equation · description</a:t>
            </a:r>
            <a:endParaRPr lang="en-US" sz="3000" dirty="0"/>
          </a:p>
        </p:txBody>
      </p:sp>
      <p:sp>
        <p:nvSpPr>
          <p:cNvPr id="6" name="Shape 6"/>
          <p:cNvSpPr txBox="1"/>
          <p:nvPr/>
        </p:nvSpPr>
        <p:spPr>
          <a:xfrm>
            <a:off x="685800" y="3816096"/>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7" name="Shape 7"/>
          <p:cNvSpPr txBox="1"/>
          <p:nvPr/>
        </p:nvSpPr>
        <p:spPr>
          <a:xfrm>
            <a:off x="685800" y="431673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8" name="Shape 8"/>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7"/>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Day 1 of 2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Tuesday, November 3</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(General form and factored form) → Lesson 4, Day 1.</a:t>
            </a:r>
            <a:endParaRPr lang="en-US" sz="21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 · Tue, Nov 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What is the slope of the line through </a:t>
            </a:r>
            <a:r>
              <a:rPr lang="en-US" sz="1950" dirty="0">
                <a:solidFill>
                  <a:srgbClr val="16171D"/>
                </a:solidFill>
                <a:latin typeface="Cambria"/>
                <a:cs typeface="Cambria"/>
              </a:rPr>
              <a:t xml:space="preserve">(−2.5, −6)</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(0, 4)</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321)</a:t>
            </a:r>
            <a:endParaRPr lang="en-US" sz="1950" dirty="0"/>
          </a:p>
        </p:txBody>
      </p:sp>
      <p:sp>
        <p:nvSpPr>
          <p:cNvPr id="5" name="Shape 5"/>
          <p:cNvSpPr txBox="1"/>
          <p:nvPr/>
        </p:nvSpPr>
        <p:spPr>
          <a:xfrm>
            <a:off x="685800" y="245821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slope does a line parallel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have? </a:t>
            </a:r>
            <a:r>
              <a:rPr lang="en-US" sz="1575" dirty="0">
                <a:solidFill>
                  <a:srgbClr val="5F6272"/>
                </a:solidFill>
                <a:latin typeface="Segoe UI"/>
                <a:cs typeface="Segoe UI"/>
              </a:rPr>
              <a:t xml:space="preserve">(SE p. 321)</a:t>
            </a:r>
            <a:endParaRPr lang="en-US" sz="1950" dirty="0"/>
          </a:p>
        </p:txBody>
      </p:sp>
      <p:sp>
        <p:nvSpPr>
          <p:cNvPr id="7" name="Shape 7"/>
          <p:cNvSpPr txBox="1"/>
          <p:nvPr/>
        </p:nvSpPr>
        <p:spPr>
          <a:xfrm>
            <a:off x="685800" y="402640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What slope does a line perpendicular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have? </a:t>
            </a:r>
            <a:r>
              <a:rPr lang="en-US" sz="1575" dirty="0">
                <a:solidFill>
                  <a:srgbClr val="5F6272"/>
                </a:solidFill>
                <a:latin typeface="Segoe UI"/>
                <a:cs typeface="Segoe UI"/>
              </a:rPr>
              <a:t xml:space="preserve">(SE p. 321)</a:t>
            </a:r>
            <a:endParaRPr lang="en-US" sz="1950" dirty="0"/>
          </a:p>
        </p:txBody>
      </p:sp>
      <p:sp>
        <p:nvSpPr>
          <p:cNvPr id="9" name="Shape 9"/>
          <p:cNvSpPr txBox="1"/>
          <p:nvPr/>
        </p:nvSpPr>
        <p:spPr>
          <a:xfrm>
            <a:off x="6362548" y="245821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−¼</a:t>
            </a:r>
            <a:endParaRPr lang="en-US" sz="2325" dirty="0"/>
          </a:p>
        </p:txBody>
      </p:sp>
      <p:sp>
        <p:nvSpPr>
          <p:cNvPr id="10" name="Shape 10"/>
          <p:cNvSpPr txBox="1"/>
          <p:nvPr/>
        </p:nvSpPr>
        <p:spPr>
          <a:xfrm>
            <a:off x="6362548" y="3243834"/>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The ratio of 9th-graders to 10th-graders is </a:t>
            </a:r>
            <a:r>
              <a:rPr lang="en-US" sz="1950" dirty="0">
                <a:solidFill>
                  <a:srgbClr val="16171D"/>
                </a:solidFill>
                <a:latin typeface="Cambria"/>
                <a:cs typeface="Cambria"/>
              </a:rPr>
              <a:t xml:space="preserve">1 : 1</a:t>
            </a:r>
            <a:r>
              <a:rPr lang="en-US" sz="1950" dirty="0">
                <a:solidFill>
                  <a:srgbClr val="16171D"/>
                </a:solidFill>
                <a:latin typeface="Segoe UI"/>
                <a:cs typeface="Segoe UI"/>
              </a:rPr>
              <a:t xml:space="preserve">. What is the slope of this relationship? </a:t>
            </a:r>
            <a:r>
              <a:rPr lang="en-US" sz="1575" dirty="0">
                <a:solidFill>
                  <a:srgbClr val="5F6272"/>
                </a:solidFill>
                <a:latin typeface="Segoe UI"/>
                <a:cs typeface="Segoe UI"/>
              </a:rPr>
              <a:t xml:space="preserve">(SE p. 320)</a:t>
            </a:r>
            <a:endParaRPr lang="en-US" sz="1950" dirty="0"/>
          </a:p>
        </p:txBody>
      </p:sp>
      <p:sp>
        <p:nvSpPr>
          <p:cNvPr id="11" name="Shape 11"/>
          <p:cNvSpPr txBox="1"/>
          <p:nvPr/>
        </p:nvSpPr>
        <p:spPr>
          <a:xfrm>
            <a:off x="6362548" y="432358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Tue, Nov 3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6: General form and factored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Lesson 4 compares functions in different forms; general and factored form are two more forms.</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6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6.3 · Worked Example · SE p. 248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Polynomials</a:t>
            </a:r>
            <a:endParaRPr lang="en-US" sz="3450" dirty="0"/>
          </a:p>
        </p:txBody>
      </p:sp>
      <p:sp>
        <p:nvSpPr>
          <p:cNvPr id="4" name="Shape 4"/>
          <p:cNvSpPr txBox="1"/>
          <p:nvPr/>
        </p:nvSpPr>
        <p:spPr>
          <a:xfrm>
            <a:off x="685800" y="1618488"/>
            <a:ext cx="4414723"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polynomial</a:t>
            </a:r>
            <a:r>
              <a:rPr lang="en-US" sz="1575" dirty="0">
                <a:solidFill>
                  <a:srgbClr val="16171D"/>
                </a:solidFill>
                <a:latin typeface="Segoe UI"/>
                <a:cs typeface="Segoe UI"/>
              </a:rPr>
              <a:t xml:space="preserve"> is a sum of powers of a variable multiplied by coefficients. A linear function is a polynomial function.</a:t>
            </a:r>
            <a:endParaRPr lang="en-US" sz="1575" dirty="0"/>
          </a:p>
        </p:txBody>
      </p:sp>
      <p:sp>
        <p:nvSpPr>
          <p:cNvPr id="5" name="Shape 5"/>
          <p:cNvSpPr txBox="1"/>
          <p:nvPr/>
        </p:nvSpPr>
        <p:spPr>
          <a:xfrm>
            <a:off x="685800" y="2507742"/>
            <a:ext cx="441472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degree</a:t>
            </a:r>
            <a:r>
              <a:rPr lang="en-US" sz="1575" dirty="0">
                <a:solidFill>
                  <a:srgbClr val="16171D"/>
                </a:solidFill>
                <a:latin typeface="Segoe UI"/>
                <a:cs typeface="Segoe UI"/>
              </a:rPr>
              <a:t xml:space="preserve"> is the greatest exponent of the variable.</a:t>
            </a:r>
            <a:endParaRPr lang="en-US" sz="1575" dirty="0"/>
          </a:p>
        </p:txBody>
      </p:sp>
      <p:sp>
        <p:nvSpPr>
          <p:cNvPr id="6" name="Shape 6"/>
          <p:cNvSpPr txBox="1"/>
          <p:nvPr/>
        </p:nvSpPr>
        <p:spPr>
          <a:xfrm>
            <a:off x="685800" y="3156966"/>
            <a:ext cx="441472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leading coefficient</a:t>
            </a:r>
            <a:r>
              <a:rPr lang="en-US" sz="1575" dirty="0">
                <a:solidFill>
                  <a:srgbClr val="16171D"/>
                </a:solidFill>
                <a:latin typeface="Segoe UI"/>
                <a:cs typeface="Segoe UI"/>
              </a:rPr>
              <a:t xml:space="preserve"> is the number multiplying the term with the greatest power.</a:t>
            </a:r>
            <a:endParaRPr lang="en-US" sz="1575" dirty="0"/>
          </a:p>
        </p:txBody>
      </p:sp>
      <p:sp>
        <p:nvSpPr>
          <p:cNvPr id="7" name="Shape 7"/>
          <p:cNvSpPr txBox="1"/>
          <p:nvPr/>
        </p:nvSpPr>
        <p:spPr>
          <a:xfrm>
            <a:off x="685800" y="3806190"/>
            <a:ext cx="4414723" cy="93954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When you graph a polynomial, the degree tells you the maximum number of times the graph can cross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a:t>
            </a:r>
            <a:endParaRPr lang="en-US" sz="1575" dirty="0"/>
          </a:p>
        </p:txBody>
      </p:sp>
      <p:sp>
        <p:nvSpPr>
          <p:cNvPr id="8" name="Shape 8"/>
          <p:cNvSpPr txBox="1"/>
          <p:nvPr/>
        </p:nvSpPr>
        <p:spPr>
          <a:xfrm>
            <a:off x="5481523" y="1618488"/>
            <a:ext cx="170764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Name</a:t>
            </a:r>
            <a:endParaRPr lang="en-US" sz="1950" dirty="0"/>
          </a:p>
        </p:txBody>
      </p:sp>
      <p:sp>
        <p:nvSpPr>
          <p:cNvPr id="9" name="Shape 9"/>
          <p:cNvSpPr txBox="1"/>
          <p:nvPr/>
        </p:nvSpPr>
        <p:spPr>
          <a:xfrm>
            <a:off x="7189165" y="1618488"/>
            <a:ext cx="299542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Example</a:t>
            </a:r>
            <a:endParaRPr lang="en-US" sz="1950" dirty="0"/>
          </a:p>
        </p:txBody>
      </p:sp>
      <p:sp>
        <p:nvSpPr>
          <p:cNvPr id="10" name="Shape 10"/>
          <p:cNvSpPr txBox="1"/>
          <p:nvPr/>
        </p:nvSpPr>
        <p:spPr>
          <a:xfrm>
            <a:off x="10184587" y="1618488"/>
            <a:ext cx="132130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Degree</a:t>
            </a:r>
            <a:endParaRPr lang="en-US" sz="1950" dirty="0"/>
          </a:p>
        </p:txBody>
      </p:sp>
      <p:sp>
        <p:nvSpPr>
          <p:cNvPr id="11" name="Shape 11"/>
          <p:cNvSpPr txBox="1"/>
          <p:nvPr/>
        </p:nvSpPr>
        <p:spPr>
          <a:xfrm>
            <a:off x="5481523" y="2061972"/>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Constant</a:t>
            </a:r>
            <a:endParaRPr lang="en-US" sz="1950" dirty="0"/>
          </a:p>
        </p:txBody>
      </p:sp>
      <p:sp>
        <p:nvSpPr>
          <p:cNvPr id="12" name="Shape 12"/>
          <p:cNvSpPr txBox="1"/>
          <p:nvPr/>
        </p:nvSpPr>
        <p:spPr>
          <a:xfrm>
            <a:off x="7189165" y="2061972"/>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endParaRPr lang="en-US" sz="1950" dirty="0"/>
          </a:p>
        </p:txBody>
      </p:sp>
      <p:sp>
        <p:nvSpPr>
          <p:cNvPr id="13" name="Shape 13"/>
          <p:cNvSpPr txBox="1"/>
          <p:nvPr/>
        </p:nvSpPr>
        <p:spPr>
          <a:xfrm>
            <a:off x="10184587" y="2061972"/>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a:t>
            </a:r>
            <a:endParaRPr lang="en-US" sz="1950" dirty="0"/>
          </a:p>
        </p:txBody>
      </p:sp>
      <p:sp>
        <p:nvSpPr>
          <p:cNvPr id="14" name="Shape 14"/>
          <p:cNvSpPr txBox="1"/>
          <p:nvPr/>
        </p:nvSpPr>
        <p:spPr>
          <a:xfrm>
            <a:off x="5481523" y="2505456"/>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Linear</a:t>
            </a:r>
            <a:endParaRPr lang="en-US" sz="1950" dirty="0"/>
          </a:p>
        </p:txBody>
      </p:sp>
      <p:sp>
        <p:nvSpPr>
          <p:cNvPr id="15" name="Shape 15"/>
          <p:cNvSpPr txBox="1"/>
          <p:nvPr/>
        </p:nvSpPr>
        <p:spPr>
          <a:xfrm>
            <a:off x="7189165" y="2505456"/>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endParaRPr lang="en-US" sz="1950" dirty="0"/>
          </a:p>
        </p:txBody>
      </p:sp>
      <p:sp>
        <p:nvSpPr>
          <p:cNvPr id="16" name="Shape 16"/>
          <p:cNvSpPr txBox="1"/>
          <p:nvPr/>
        </p:nvSpPr>
        <p:spPr>
          <a:xfrm>
            <a:off x="10184587" y="2505456"/>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endParaRPr lang="en-US" sz="1950" dirty="0"/>
          </a:p>
        </p:txBody>
      </p:sp>
      <p:sp>
        <p:nvSpPr>
          <p:cNvPr id="17" name="Shape 17"/>
          <p:cNvSpPr txBox="1"/>
          <p:nvPr/>
        </p:nvSpPr>
        <p:spPr>
          <a:xfrm>
            <a:off x="5481523" y="2948940"/>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Quadratic</a:t>
            </a:r>
            <a:endParaRPr lang="en-US" sz="1950" dirty="0"/>
          </a:p>
        </p:txBody>
      </p:sp>
      <p:sp>
        <p:nvSpPr>
          <p:cNvPr id="18" name="Shape 18"/>
          <p:cNvSpPr txBox="1"/>
          <p:nvPr/>
        </p:nvSpPr>
        <p:spPr>
          <a:xfrm>
            <a:off x="7189165" y="2948940"/>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endParaRPr lang="en-US" sz="1950" dirty="0"/>
          </a:p>
        </p:txBody>
      </p:sp>
      <p:sp>
        <p:nvSpPr>
          <p:cNvPr id="19" name="Shape 19"/>
          <p:cNvSpPr txBox="1"/>
          <p:nvPr/>
        </p:nvSpPr>
        <p:spPr>
          <a:xfrm>
            <a:off x="10184587" y="2948940"/>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20" name="Shape 20"/>
          <p:cNvSpPr txBox="1"/>
          <p:nvPr/>
        </p:nvSpPr>
        <p:spPr>
          <a:xfrm>
            <a:off x="5481523" y="3392424"/>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Cubic</a:t>
            </a:r>
            <a:endParaRPr lang="en-US" sz="1950" dirty="0"/>
          </a:p>
        </p:txBody>
      </p:sp>
      <p:sp>
        <p:nvSpPr>
          <p:cNvPr id="21" name="Shape 21"/>
          <p:cNvSpPr txBox="1"/>
          <p:nvPr/>
        </p:nvSpPr>
        <p:spPr>
          <a:xfrm>
            <a:off x="7189165" y="3392424"/>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− 2</a:t>
            </a:r>
            <a:endParaRPr lang="en-US" sz="1950" dirty="0"/>
          </a:p>
        </p:txBody>
      </p:sp>
      <p:sp>
        <p:nvSpPr>
          <p:cNvPr id="22" name="Shape 22"/>
          <p:cNvSpPr txBox="1"/>
          <p:nvPr/>
        </p:nvSpPr>
        <p:spPr>
          <a:xfrm>
            <a:off x="10184587" y="3392424"/>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6.3 · Question 5 · SE pp. 248–249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General form: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a</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3050B8"/>
                </a:solidFill>
                <a:latin typeface="Cambria"/>
                <a:cs typeface="Cambria"/>
              </a:rPr>
              <a:t xml:space="preserve">b</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are real numbers and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It has the same structure as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mx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a:solidFill>
                  <a:srgbClr val="16171D"/>
                </a:solidFill>
                <a:latin typeface="Segoe UI"/>
                <a:cs typeface="Segoe UI"/>
              </a:rPr>
              <a:t xml:space="preserve"> is the </a:t>
            </a:r>
            <a:r>
              <a:rPr lang="en-US" sz="1575" dirty="0" b="1">
                <a:solidFill>
                  <a:srgbClr val="16171D"/>
                </a:solidFill>
                <a:latin typeface="Segoe UI"/>
                <a:cs typeface="Segoe UI"/>
              </a:rPr>
              <a:t xml:space="preserve">leading coefficient</a:t>
            </a:r>
            <a:r>
              <a:rPr lang="en-US" sz="1575" dirty="0">
                <a:solidFill>
                  <a:srgbClr val="16171D"/>
                </a:solidFill>
                <a:latin typeface="Segoe UI"/>
                <a:cs typeface="Segoe UI"/>
              </a:rPr>
              <a:t xml:space="preserve">: the steepness and direction of the line (the slope).</a:t>
            </a:r>
            <a:endParaRPr lang="en-US" sz="1575" dirty="0"/>
          </a:p>
        </p:txBody>
      </p:sp>
      <p:sp>
        <p:nvSpPr>
          <p:cNvPr id="6" name="Shape 6"/>
          <p:cNvSpPr txBox="1"/>
          <p:nvPr/>
        </p:nvSpPr>
        <p:spPr>
          <a:xfrm>
            <a:off x="685800" y="291693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3050B8"/>
                </a:solidFill>
                <a:latin typeface="Cambria"/>
                <a:cs typeface="Cambria"/>
              </a:rPr>
              <a:t xml:space="preserve">b</a:t>
            </a:r>
            <a:r>
              <a:rPr lang="en-US" sz="1575" dirty="0">
                <a:solidFill>
                  <a:srgbClr val="16171D"/>
                </a:solidFill>
                <a:latin typeface="Segoe UI"/>
                <a:cs typeface="Segoe UI"/>
              </a:rPr>
              <a:t xml:space="preserve"> is the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32613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label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on the graph.</a:t>
            </a:r>
            <a:endParaRPr lang="en-US" sz="1575" dirty="0"/>
          </a:p>
        </p:txBody>
      </p:sp>
      <p:sp>
        <p:nvSpPr>
          <p:cNvPr id="8" name="Shape 8"/>
          <p:cNvSpPr txBox="1"/>
          <p:nvPr/>
        </p:nvSpPr>
        <p:spPr>
          <a:xfrm>
            <a:off x="685800" y="373532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a slope triangle, right 2 and up 30.</a:t>
            </a:r>
            <a:endParaRPr lang="en-US" sz="1575" dirty="0"/>
          </a:p>
        </p:txBody>
      </p:sp>
      <p:sp>
        <p:nvSpPr>
          <p:cNvPr id="9" name="Shape 9"/>
          <p:cNvSpPr txBox="1"/>
          <p:nvPr/>
        </p:nvSpPr>
        <p:spPr>
          <a:xfrm>
            <a:off x="685800" y="4144518"/>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3050B8"/>
                </a:solidFill>
                <a:latin typeface="Cambria"/>
                <a:cs typeface="Cambria"/>
              </a:rPr>
              <a:t xml:space="preserve">b</a:t>
            </a:r>
            <a:r>
              <a:rPr lang="en-US" sz="1575" dirty="0" b="1">
                <a:solidFill>
                  <a:srgbClr val="3050B8"/>
                </a:solidFill>
                <a:latin typeface="Cambria"/>
                <a:cs typeface="Cambria"/>
              </a:rPr>
              <a:t xml:space="preserve"> = −45</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−45)</a:t>
            </a:r>
            <a:r>
              <a:rPr lang="en-US" sz="1575" dirty="0">
                <a:solidFill>
                  <a:srgbClr val="16171D"/>
                </a:solidFill>
                <a:latin typeface="Segoe UI"/>
                <a:cs typeface="Segoe UI"/>
              </a:rPr>
              <a:t xml:space="preserve">.</a:t>
            </a:r>
            <a:endParaRPr lang="en-US" sz="1575" dirty="0"/>
          </a:p>
        </p:txBody>
      </p:sp>
      <p:sp>
        <p:nvSpPr>
          <p:cNvPr id="10" name="Shape 10"/>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7638745" y="1732788"/>
            <a:ext cx="0" cy="3638550"/>
          </a:xfrm>
          <a:prstGeom prst="line">
            <a:avLst/>
          </a:prstGeom>
          <a:ln w="9525" cap="flat">
            <a:solidFill>
              <a:srgbClr val="E6E8F2"/>
            </a:solidFill>
          </a:ln>
        </p:spPr>
      </p:cxnSp>
      <p:cxnSp>
        <p:nvCxnSpPr>
          <p:cNvPr id="12" name="Line 12"/>
          <p:cNvCxnSpPr/>
          <p:nvPr/>
        </p:nvCxnSpPr>
        <p:spPr>
          <a:xfrm>
            <a:off x="7809329" y="1732788"/>
            <a:ext cx="0" cy="3638550"/>
          </a:xfrm>
          <a:prstGeom prst="line">
            <a:avLst/>
          </a:prstGeom>
          <a:ln w="9525" cap="flat">
            <a:solidFill>
              <a:srgbClr val="E6E8F2"/>
            </a:solidFill>
          </a:ln>
        </p:spPr>
      </p:cxnSp>
      <p:cxnSp>
        <p:nvCxnSpPr>
          <p:cNvPr id="13" name="Line 13"/>
          <p:cNvCxnSpPr/>
          <p:nvPr/>
        </p:nvCxnSpPr>
        <p:spPr>
          <a:xfrm>
            <a:off x="7979913" y="1732788"/>
            <a:ext cx="0" cy="3638550"/>
          </a:xfrm>
          <a:prstGeom prst="line">
            <a:avLst/>
          </a:prstGeom>
          <a:ln w="9525" cap="flat">
            <a:solidFill>
              <a:srgbClr val="E6E8F2"/>
            </a:solidFill>
          </a:ln>
        </p:spPr>
      </p:cxnSp>
      <p:cxnSp>
        <p:nvCxnSpPr>
          <p:cNvPr id="14" name="Line 14"/>
          <p:cNvCxnSpPr/>
          <p:nvPr/>
        </p:nvCxnSpPr>
        <p:spPr>
          <a:xfrm>
            <a:off x="8150497" y="1732788"/>
            <a:ext cx="0" cy="3638550"/>
          </a:xfrm>
          <a:prstGeom prst="line">
            <a:avLst/>
          </a:prstGeom>
          <a:ln w="9525" cap="flat">
            <a:solidFill>
              <a:srgbClr val="E6E8F2"/>
            </a:solidFill>
          </a:ln>
        </p:spPr>
      </p:cxnSp>
      <p:cxnSp>
        <p:nvCxnSpPr>
          <p:cNvPr id="15" name="Line 15"/>
          <p:cNvCxnSpPr/>
          <p:nvPr/>
        </p:nvCxnSpPr>
        <p:spPr>
          <a:xfrm>
            <a:off x="8321082" y="1732788"/>
            <a:ext cx="0" cy="3638550"/>
          </a:xfrm>
          <a:prstGeom prst="line">
            <a:avLst/>
          </a:prstGeom>
          <a:ln w="9525" cap="flat">
            <a:solidFill>
              <a:srgbClr val="E6E8F2"/>
            </a:solidFill>
          </a:ln>
        </p:spPr>
      </p:cxnSp>
      <p:cxnSp>
        <p:nvCxnSpPr>
          <p:cNvPr id="16" name="Line 16"/>
          <p:cNvCxnSpPr/>
          <p:nvPr/>
        </p:nvCxnSpPr>
        <p:spPr>
          <a:xfrm>
            <a:off x="8491666" y="1732788"/>
            <a:ext cx="0" cy="3638550"/>
          </a:xfrm>
          <a:prstGeom prst="line">
            <a:avLst/>
          </a:prstGeom>
          <a:ln w="9525" cap="flat">
            <a:solidFill>
              <a:srgbClr val="E6E8F2"/>
            </a:solidFill>
          </a:ln>
        </p:spPr>
      </p:cxnSp>
      <p:cxnSp>
        <p:nvCxnSpPr>
          <p:cNvPr id="17" name="Line 17"/>
          <p:cNvCxnSpPr/>
          <p:nvPr/>
        </p:nvCxnSpPr>
        <p:spPr>
          <a:xfrm>
            <a:off x="8662250" y="1732788"/>
            <a:ext cx="0" cy="3638550"/>
          </a:xfrm>
          <a:prstGeom prst="line">
            <a:avLst/>
          </a:prstGeom>
          <a:ln w="9525" cap="flat">
            <a:solidFill>
              <a:srgbClr val="E6E8F2"/>
            </a:solidFill>
          </a:ln>
        </p:spPr>
      </p:cxnSp>
      <p:cxnSp>
        <p:nvCxnSpPr>
          <p:cNvPr id="18" name="Line 18"/>
          <p:cNvCxnSpPr/>
          <p:nvPr/>
        </p:nvCxnSpPr>
        <p:spPr>
          <a:xfrm>
            <a:off x="8832834" y="1732788"/>
            <a:ext cx="0" cy="3638550"/>
          </a:xfrm>
          <a:prstGeom prst="line">
            <a:avLst/>
          </a:prstGeom>
          <a:ln w="9525" cap="flat">
            <a:solidFill>
              <a:srgbClr val="E6E8F2"/>
            </a:solidFill>
          </a:ln>
        </p:spPr>
      </p:cxnSp>
      <p:cxnSp>
        <p:nvCxnSpPr>
          <p:cNvPr id="19" name="Line 19"/>
          <p:cNvCxnSpPr/>
          <p:nvPr/>
        </p:nvCxnSpPr>
        <p:spPr>
          <a:xfrm>
            <a:off x="9003418" y="1732788"/>
            <a:ext cx="0" cy="3638550"/>
          </a:xfrm>
          <a:prstGeom prst="line">
            <a:avLst/>
          </a:prstGeom>
          <a:ln w="9525" cap="flat">
            <a:solidFill>
              <a:srgbClr val="E6E8F2"/>
            </a:solidFill>
          </a:ln>
        </p:spPr>
      </p:cxnSp>
      <p:cxnSp>
        <p:nvCxnSpPr>
          <p:cNvPr id="20" name="Line 20"/>
          <p:cNvCxnSpPr/>
          <p:nvPr/>
        </p:nvCxnSpPr>
        <p:spPr>
          <a:xfrm>
            <a:off x="9174002" y="1732788"/>
            <a:ext cx="0" cy="3638550"/>
          </a:xfrm>
          <a:prstGeom prst="line">
            <a:avLst/>
          </a:prstGeom>
          <a:ln w="9525" cap="flat">
            <a:solidFill>
              <a:srgbClr val="E6E8F2"/>
            </a:solidFill>
          </a:ln>
        </p:spPr>
      </p:cxnSp>
      <p:cxnSp>
        <p:nvCxnSpPr>
          <p:cNvPr id="21" name="Line 21"/>
          <p:cNvCxnSpPr/>
          <p:nvPr/>
        </p:nvCxnSpPr>
        <p:spPr>
          <a:xfrm>
            <a:off x="9344586" y="1732788"/>
            <a:ext cx="0" cy="3638550"/>
          </a:xfrm>
          <a:prstGeom prst="line">
            <a:avLst/>
          </a:prstGeom>
          <a:ln w="9525" cap="flat">
            <a:solidFill>
              <a:srgbClr val="E6E8F2"/>
            </a:solidFill>
          </a:ln>
        </p:spPr>
      </p:cxnSp>
      <p:cxnSp>
        <p:nvCxnSpPr>
          <p:cNvPr id="22" name="Line 22"/>
          <p:cNvCxnSpPr/>
          <p:nvPr/>
        </p:nvCxnSpPr>
        <p:spPr>
          <a:xfrm>
            <a:off x="9515170" y="1732788"/>
            <a:ext cx="0" cy="3638550"/>
          </a:xfrm>
          <a:prstGeom prst="line">
            <a:avLst/>
          </a:prstGeom>
          <a:ln w="9525" cap="flat">
            <a:solidFill>
              <a:srgbClr val="E6E8F2"/>
            </a:solidFill>
          </a:ln>
        </p:spPr>
      </p:cxnSp>
      <p:cxnSp>
        <p:nvCxnSpPr>
          <p:cNvPr id="23" name="Line 23"/>
          <p:cNvCxnSpPr/>
          <p:nvPr/>
        </p:nvCxnSpPr>
        <p:spPr>
          <a:xfrm>
            <a:off x="9685754" y="1732788"/>
            <a:ext cx="0" cy="3638550"/>
          </a:xfrm>
          <a:prstGeom prst="line">
            <a:avLst/>
          </a:prstGeom>
          <a:ln w="9525" cap="flat">
            <a:solidFill>
              <a:srgbClr val="E6E8F2"/>
            </a:solidFill>
          </a:ln>
        </p:spPr>
      </p:cxnSp>
      <p:cxnSp>
        <p:nvCxnSpPr>
          <p:cNvPr id="24" name="Line 24"/>
          <p:cNvCxnSpPr/>
          <p:nvPr/>
        </p:nvCxnSpPr>
        <p:spPr>
          <a:xfrm>
            <a:off x="9856338" y="1732788"/>
            <a:ext cx="0" cy="3638550"/>
          </a:xfrm>
          <a:prstGeom prst="line">
            <a:avLst/>
          </a:prstGeom>
          <a:ln w="9525" cap="flat">
            <a:solidFill>
              <a:srgbClr val="E6E8F2"/>
            </a:solidFill>
          </a:ln>
        </p:spPr>
      </p:cxnSp>
      <p:cxnSp>
        <p:nvCxnSpPr>
          <p:cNvPr id="25" name="Line 25"/>
          <p:cNvCxnSpPr/>
          <p:nvPr/>
        </p:nvCxnSpPr>
        <p:spPr>
          <a:xfrm>
            <a:off x="10026922" y="1732788"/>
            <a:ext cx="0" cy="3638550"/>
          </a:xfrm>
          <a:prstGeom prst="line">
            <a:avLst/>
          </a:prstGeom>
          <a:ln w="9525" cap="flat">
            <a:solidFill>
              <a:srgbClr val="E6E8F2"/>
            </a:solidFill>
          </a:ln>
        </p:spPr>
      </p:cxnSp>
      <p:cxnSp>
        <p:nvCxnSpPr>
          <p:cNvPr id="26" name="Line 26"/>
          <p:cNvCxnSpPr/>
          <p:nvPr/>
        </p:nvCxnSpPr>
        <p:spPr>
          <a:xfrm>
            <a:off x="10197507" y="1732788"/>
            <a:ext cx="0" cy="3638550"/>
          </a:xfrm>
          <a:prstGeom prst="line">
            <a:avLst/>
          </a:prstGeom>
          <a:ln w="9525" cap="flat">
            <a:solidFill>
              <a:srgbClr val="E6E8F2"/>
            </a:solidFill>
          </a:ln>
        </p:spPr>
      </p:cxnSp>
      <p:cxnSp>
        <p:nvCxnSpPr>
          <p:cNvPr id="27" name="Line 27"/>
          <p:cNvCxnSpPr/>
          <p:nvPr/>
        </p:nvCxnSpPr>
        <p:spPr>
          <a:xfrm>
            <a:off x="10368091" y="1732788"/>
            <a:ext cx="0" cy="3638550"/>
          </a:xfrm>
          <a:prstGeom prst="line">
            <a:avLst/>
          </a:prstGeom>
          <a:ln w="9525" cap="flat">
            <a:solidFill>
              <a:srgbClr val="E6E8F2"/>
            </a:solidFill>
          </a:ln>
        </p:spPr>
      </p:cxnSp>
      <p:cxnSp>
        <p:nvCxnSpPr>
          <p:cNvPr id="28" name="Line 28"/>
          <p:cNvCxnSpPr/>
          <p:nvPr/>
        </p:nvCxnSpPr>
        <p:spPr>
          <a:xfrm>
            <a:off x="10538675" y="1732788"/>
            <a:ext cx="0" cy="3638550"/>
          </a:xfrm>
          <a:prstGeom prst="line">
            <a:avLst/>
          </a:prstGeom>
          <a:ln w="9525" cap="flat">
            <a:solidFill>
              <a:srgbClr val="E6E8F2"/>
            </a:solidFill>
          </a:ln>
        </p:spPr>
      </p:cxnSp>
      <p:cxnSp>
        <p:nvCxnSpPr>
          <p:cNvPr id="29" name="Line 29"/>
          <p:cNvCxnSpPr/>
          <p:nvPr/>
        </p:nvCxnSpPr>
        <p:spPr>
          <a:xfrm>
            <a:off x="10709259" y="1732788"/>
            <a:ext cx="0" cy="3638550"/>
          </a:xfrm>
          <a:prstGeom prst="line">
            <a:avLst/>
          </a:prstGeom>
          <a:ln w="9525" cap="flat">
            <a:solidFill>
              <a:srgbClr val="E6E8F2"/>
            </a:solidFill>
          </a:ln>
        </p:spPr>
      </p:cxnSp>
      <p:cxnSp>
        <p:nvCxnSpPr>
          <p:cNvPr id="30" name="Line 30"/>
          <p:cNvCxnSpPr/>
          <p:nvPr/>
        </p:nvCxnSpPr>
        <p:spPr>
          <a:xfrm>
            <a:off x="10879843" y="1732788"/>
            <a:ext cx="0" cy="3638550"/>
          </a:xfrm>
          <a:prstGeom prst="line">
            <a:avLst/>
          </a:prstGeom>
          <a:ln w="9525" cap="flat">
            <a:solidFill>
              <a:srgbClr val="E6E8F2"/>
            </a:solidFill>
          </a:ln>
        </p:spPr>
      </p:cxnSp>
      <p:cxnSp>
        <p:nvCxnSpPr>
          <p:cNvPr id="31" name="Line 31"/>
          <p:cNvCxnSpPr/>
          <p:nvPr/>
        </p:nvCxnSpPr>
        <p:spPr>
          <a:xfrm>
            <a:off x="11050427" y="1732788"/>
            <a:ext cx="0" cy="3638550"/>
          </a:xfrm>
          <a:prstGeom prst="line">
            <a:avLst/>
          </a:prstGeom>
          <a:ln w="9525" cap="flat">
            <a:solidFill>
              <a:srgbClr val="E6E8F2"/>
            </a:solidFill>
          </a:ln>
        </p:spPr>
      </p:cxnSp>
      <p:cxnSp>
        <p:nvCxnSpPr>
          <p:cNvPr id="32" name="Line 32"/>
          <p:cNvCxnSpPr/>
          <p:nvPr/>
        </p:nvCxnSpPr>
        <p:spPr>
          <a:xfrm>
            <a:off x="11221011" y="1732788"/>
            <a:ext cx="0" cy="3638550"/>
          </a:xfrm>
          <a:prstGeom prst="line">
            <a:avLst/>
          </a:prstGeom>
          <a:ln w="9525" cap="flat">
            <a:solidFill>
              <a:srgbClr val="E6E8F2"/>
            </a:solidFill>
          </a:ln>
        </p:spPr>
      </p:cxnSp>
      <p:cxnSp>
        <p:nvCxnSpPr>
          <p:cNvPr id="33" name="Line 33"/>
          <p:cNvCxnSpPr/>
          <p:nvPr/>
        </p:nvCxnSpPr>
        <p:spPr>
          <a:xfrm>
            <a:off x="11391595" y="1732788"/>
            <a:ext cx="0" cy="3638550"/>
          </a:xfrm>
          <a:prstGeom prst="line">
            <a:avLst/>
          </a:prstGeom>
          <a:ln w="9525" cap="flat">
            <a:solidFill>
              <a:srgbClr val="E6E8F2"/>
            </a:solidFill>
          </a:ln>
        </p:spPr>
      </p:cxnSp>
      <p:cxnSp>
        <p:nvCxnSpPr>
          <p:cNvPr id="34" name="Line 34"/>
          <p:cNvCxnSpPr/>
          <p:nvPr/>
        </p:nvCxnSpPr>
        <p:spPr>
          <a:xfrm>
            <a:off x="7638745" y="5371338"/>
            <a:ext cx="3752850" cy="0"/>
          </a:xfrm>
          <a:prstGeom prst="line">
            <a:avLst/>
          </a:prstGeom>
          <a:ln w="9525" cap="flat">
            <a:solidFill>
              <a:srgbClr val="E6E8F2"/>
            </a:solidFill>
          </a:ln>
        </p:spPr>
      </p:cxnSp>
      <p:cxnSp>
        <p:nvCxnSpPr>
          <p:cNvPr id="35" name="Line 35"/>
          <p:cNvCxnSpPr/>
          <p:nvPr/>
        </p:nvCxnSpPr>
        <p:spPr>
          <a:xfrm>
            <a:off x="7638745" y="5205949"/>
            <a:ext cx="3752850" cy="0"/>
          </a:xfrm>
          <a:prstGeom prst="line">
            <a:avLst/>
          </a:prstGeom>
          <a:ln w="9525" cap="flat">
            <a:solidFill>
              <a:srgbClr val="E6E8F2"/>
            </a:solidFill>
          </a:ln>
        </p:spPr>
      </p:cxnSp>
      <p:cxnSp>
        <p:nvCxnSpPr>
          <p:cNvPr id="36" name="Line 36"/>
          <p:cNvCxnSpPr/>
          <p:nvPr/>
        </p:nvCxnSpPr>
        <p:spPr>
          <a:xfrm>
            <a:off x="7638745" y="5040561"/>
            <a:ext cx="3752850" cy="0"/>
          </a:xfrm>
          <a:prstGeom prst="line">
            <a:avLst/>
          </a:prstGeom>
          <a:ln w="9525" cap="flat">
            <a:solidFill>
              <a:srgbClr val="E6E8F2"/>
            </a:solidFill>
          </a:ln>
        </p:spPr>
      </p:cxnSp>
      <p:cxnSp>
        <p:nvCxnSpPr>
          <p:cNvPr id="37" name="Line 37"/>
          <p:cNvCxnSpPr/>
          <p:nvPr/>
        </p:nvCxnSpPr>
        <p:spPr>
          <a:xfrm>
            <a:off x="7638745" y="4875172"/>
            <a:ext cx="3752850" cy="0"/>
          </a:xfrm>
          <a:prstGeom prst="line">
            <a:avLst/>
          </a:prstGeom>
          <a:ln w="9525" cap="flat">
            <a:solidFill>
              <a:srgbClr val="E6E8F2"/>
            </a:solidFill>
          </a:ln>
        </p:spPr>
      </p:cxnSp>
      <p:cxnSp>
        <p:nvCxnSpPr>
          <p:cNvPr id="38" name="Line 38"/>
          <p:cNvCxnSpPr/>
          <p:nvPr/>
        </p:nvCxnSpPr>
        <p:spPr>
          <a:xfrm>
            <a:off x="7638745" y="4709783"/>
            <a:ext cx="3752850" cy="0"/>
          </a:xfrm>
          <a:prstGeom prst="line">
            <a:avLst/>
          </a:prstGeom>
          <a:ln w="9525" cap="flat">
            <a:solidFill>
              <a:srgbClr val="E6E8F2"/>
            </a:solidFill>
          </a:ln>
        </p:spPr>
      </p:cxnSp>
      <p:cxnSp>
        <p:nvCxnSpPr>
          <p:cNvPr id="39" name="Line 39"/>
          <p:cNvCxnSpPr/>
          <p:nvPr/>
        </p:nvCxnSpPr>
        <p:spPr>
          <a:xfrm>
            <a:off x="7638745" y="4544395"/>
            <a:ext cx="3752850" cy="0"/>
          </a:xfrm>
          <a:prstGeom prst="line">
            <a:avLst/>
          </a:prstGeom>
          <a:ln w="9525" cap="flat">
            <a:solidFill>
              <a:srgbClr val="E6E8F2"/>
            </a:solidFill>
          </a:ln>
        </p:spPr>
      </p:cxnSp>
      <p:cxnSp>
        <p:nvCxnSpPr>
          <p:cNvPr id="40" name="Line 40"/>
          <p:cNvCxnSpPr/>
          <p:nvPr/>
        </p:nvCxnSpPr>
        <p:spPr>
          <a:xfrm>
            <a:off x="7638745" y="4379006"/>
            <a:ext cx="3752850" cy="0"/>
          </a:xfrm>
          <a:prstGeom prst="line">
            <a:avLst/>
          </a:prstGeom>
          <a:ln w="9525" cap="flat">
            <a:solidFill>
              <a:srgbClr val="E6E8F2"/>
            </a:solidFill>
          </a:ln>
        </p:spPr>
      </p:cxnSp>
      <p:cxnSp>
        <p:nvCxnSpPr>
          <p:cNvPr id="41" name="Line 41"/>
          <p:cNvCxnSpPr/>
          <p:nvPr/>
        </p:nvCxnSpPr>
        <p:spPr>
          <a:xfrm>
            <a:off x="7638745" y="4213618"/>
            <a:ext cx="3752850" cy="0"/>
          </a:xfrm>
          <a:prstGeom prst="line">
            <a:avLst/>
          </a:prstGeom>
          <a:ln w="9525" cap="flat">
            <a:solidFill>
              <a:srgbClr val="E6E8F2"/>
            </a:solidFill>
          </a:ln>
        </p:spPr>
      </p:cxnSp>
      <p:cxnSp>
        <p:nvCxnSpPr>
          <p:cNvPr id="42" name="Line 42"/>
          <p:cNvCxnSpPr/>
          <p:nvPr/>
        </p:nvCxnSpPr>
        <p:spPr>
          <a:xfrm>
            <a:off x="7638745" y="4048229"/>
            <a:ext cx="3752850" cy="0"/>
          </a:xfrm>
          <a:prstGeom prst="line">
            <a:avLst/>
          </a:prstGeom>
          <a:ln w="9525" cap="flat">
            <a:solidFill>
              <a:srgbClr val="E6E8F2"/>
            </a:solidFill>
          </a:ln>
        </p:spPr>
      </p:cxnSp>
      <p:cxnSp>
        <p:nvCxnSpPr>
          <p:cNvPr id="43" name="Line 43"/>
          <p:cNvCxnSpPr/>
          <p:nvPr/>
        </p:nvCxnSpPr>
        <p:spPr>
          <a:xfrm>
            <a:off x="7638745" y="3882840"/>
            <a:ext cx="3752850" cy="0"/>
          </a:xfrm>
          <a:prstGeom prst="line">
            <a:avLst/>
          </a:prstGeom>
          <a:ln w="9525" cap="flat">
            <a:solidFill>
              <a:srgbClr val="E6E8F2"/>
            </a:solidFill>
          </a:ln>
        </p:spPr>
      </p:cxnSp>
      <p:cxnSp>
        <p:nvCxnSpPr>
          <p:cNvPr id="44" name="Line 44"/>
          <p:cNvCxnSpPr/>
          <p:nvPr/>
        </p:nvCxnSpPr>
        <p:spPr>
          <a:xfrm>
            <a:off x="7638745" y="3717452"/>
            <a:ext cx="3752850" cy="0"/>
          </a:xfrm>
          <a:prstGeom prst="line">
            <a:avLst/>
          </a:prstGeom>
          <a:ln w="9525" cap="flat">
            <a:solidFill>
              <a:srgbClr val="E6E8F2"/>
            </a:solidFill>
          </a:ln>
        </p:spPr>
      </p:cxnSp>
      <p:cxnSp>
        <p:nvCxnSpPr>
          <p:cNvPr id="45" name="Line 45"/>
          <p:cNvCxnSpPr/>
          <p:nvPr/>
        </p:nvCxnSpPr>
        <p:spPr>
          <a:xfrm>
            <a:off x="7638745" y="3552063"/>
            <a:ext cx="3752850" cy="0"/>
          </a:xfrm>
          <a:prstGeom prst="line">
            <a:avLst/>
          </a:prstGeom>
          <a:ln w="9525" cap="flat">
            <a:solidFill>
              <a:srgbClr val="E6E8F2"/>
            </a:solidFill>
          </a:ln>
        </p:spPr>
      </p:cxnSp>
      <p:cxnSp>
        <p:nvCxnSpPr>
          <p:cNvPr id="46" name="Line 46"/>
          <p:cNvCxnSpPr/>
          <p:nvPr/>
        </p:nvCxnSpPr>
        <p:spPr>
          <a:xfrm>
            <a:off x="7638745" y="3386674"/>
            <a:ext cx="3752850" cy="0"/>
          </a:xfrm>
          <a:prstGeom prst="line">
            <a:avLst/>
          </a:prstGeom>
          <a:ln w="9525" cap="flat">
            <a:solidFill>
              <a:srgbClr val="E6E8F2"/>
            </a:solidFill>
          </a:ln>
        </p:spPr>
      </p:cxnSp>
      <p:cxnSp>
        <p:nvCxnSpPr>
          <p:cNvPr id="47" name="Line 47"/>
          <p:cNvCxnSpPr/>
          <p:nvPr/>
        </p:nvCxnSpPr>
        <p:spPr>
          <a:xfrm>
            <a:off x="7638745" y="3221286"/>
            <a:ext cx="3752850" cy="0"/>
          </a:xfrm>
          <a:prstGeom prst="line">
            <a:avLst/>
          </a:prstGeom>
          <a:ln w="9525" cap="flat">
            <a:solidFill>
              <a:srgbClr val="E6E8F2"/>
            </a:solidFill>
          </a:ln>
        </p:spPr>
      </p:cxnSp>
      <p:cxnSp>
        <p:nvCxnSpPr>
          <p:cNvPr id="48" name="Line 48"/>
          <p:cNvCxnSpPr/>
          <p:nvPr/>
        </p:nvCxnSpPr>
        <p:spPr>
          <a:xfrm>
            <a:off x="7638745" y="3055897"/>
            <a:ext cx="3752850" cy="0"/>
          </a:xfrm>
          <a:prstGeom prst="line">
            <a:avLst/>
          </a:prstGeom>
          <a:ln w="9525" cap="flat">
            <a:solidFill>
              <a:srgbClr val="E6E8F2"/>
            </a:solidFill>
          </a:ln>
        </p:spPr>
      </p:cxnSp>
      <p:cxnSp>
        <p:nvCxnSpPr>
          <p:cNvPr id="49" name="Line 49"/>
          <p:cNvCxnSpPr/>
          <p:nvPr/>
        </p:nvCxnSpPr>
        <p:spPr>
          <a:xfrm>
            <a:off x="7638745" y="2890508"/>
            <a:ext cx="3752850" cy="0"/>
          </a:xfrm>
          <a:prstGeom prst="line">
            <a:avLst/>
          </a:prstGeom>
          <a:ln w="9525" cap="flat">
            <a:solidFill>
              <a:srgbClr val="E6E8F2"/>
            </a:solidFill>
          </a:ln>
        </p:spPr>
      </p:cxnSp>
      <p:cxnSp>
        <p:nvCxnSpPr>
          <p:cNvPr id="50" name="Line 50"/>
          <p:cNvCxnSpPr/>
          <p:nvPr/>
        </p:nvCxnSpPr>
        <p:spPr>
          <a:xfrm>
            <a:off x="7638745" y="2725120"/>
            <a:ext cx="3752850" cy="0"/>
          </a:xfrm>
          <a:prstGeom prst="line">
            <a:avLst/>
          </a:prstGeom>
          <a:ln w="9525" cap="flat">
            <a:solidFill>
              <a:srgbClr val="E6E8F2"/>
            </a:solidFill>
          </a:ln>
        </p:spPr>
      </p:cxnSp>
      <p:cxnSp>
        <p:nvCxnSpPr>
          <p:cNvPr id="51" name="Line 51"/>
          <p:cNvCxnSpPr/>
          <p:nvPr/>
        </p:nvCxnSpPr>
        <p:spPr>
          <a:xfrm>
            <a:off x="7638745" y="2559731"/>
            <a:ext cx="3752850" cy="0"/>
          </a:xfrm>
          <a:prstGeom prst="line">
            <a:avLst/>
          </a:prstGeom>
          <a:ln w="9525" cap="flat">
            <a:solidFill>
              <a:srgbClr val="E6E8F2"/>
            </a:solidFill>
          </a:ln>
        </p:spPr>
      </p:cxnSp>
      <p:cxnSp>
        <p:nvCxnSpPr>
          <p:cNvPr id="52" name="Line 52"/>
          <p:cNvCxnSpPr/>
          <p:nvPr/>
        </p:nvCxnSpPr>
        <p:spPr>
          <a:xfrm>
            <a:off x="7638745" y="2394343"/>
            <a:ext cx="3752850" cy="0"/>
          </a:xfrm>
          <a:prstGeom prst="line">
            <a:avLst/>
          </a:prstGeom>
          <a:ln w="9525" cap="flat">
            <a:solidFill>
              <a:srgbClr val="E6E8F2"/>
            </a:solidFill>
          </a:ln>
        </p:spPr>
      </p:cxnSp>
      <p:cxnSp>
        <p:nvCxnSpPr>
          <p:cNvPr id="53" name="Line 53"/>
          <p:cNvCxnSpPr/>
          <p:nvPr/>
        </p:nvCxnSpPr>
        <p:spPr>
          <a:xfrm>
            <a:off x="7638745" y="2228954"/>
            <a:ext cx="3752850" cy="0"/>
          </a:xfrm>
          <a:prstGeom prst="line">
            <a:avLst/>
          </a:prstGeom>
          <a:ln w="9525" cap="flat">
            <a:solidFill>
              <a:srgbClr val="E6E8F2"/>
            </a:solidFill>
          </a:ln>
        </p:spPr>
      </p:cxnSp>
      <p:cxnSp>
        <p:nvCxnSpPr>
          <p:cNvPr id="54" name="Line 54"/>
          <p:cNvCxnSpPr/>
          <p:nvPr/>
        </p:nvCxnSpPr>
        <p:spPr>
          <a:xfrm>
            <a:off x="7638745" y="2063565"/>
            <a:ext cx="3752850" cy="0"/>
          </a:xfrm>
          <a:prstGeom prst="line">
            <a:avLst/>
          </a:prstGeom>
          <a:ln w="9525" cap="flat">
            <a:solidFill>
              <a:srgbClr val="E6E8F2"/>
            </a:solidFill>
          </a:ln>
        </p:spPr>
      </p:cxnSp>
      <p:cxnSp>
        <p:nvCxnSpPr>
          <p:cNvPr id="55" name="Line 55"/>
          <p:cNvCxnSpPr/>
          <p:nvPr/>
        </p:nvCxnSpPr>
        <p:spPr>
          <a:xfrm>
            <a:off x="7638745" y="1898177"/>
            <a:ext cx="3752850" cy="0"/>
          </a:xfrm>
          <a:prstGeom prst="line">
            <a:avLst/>
          </a:prstGeom>
          <a:ln w="9525" cap="flat">
            <a:solidFill>
              <a:srgbClr val="E6E8F2"/>
            </a:solidFill>
          </a:ln>
        </p:spPr>
      </p:cxnSp>
      <p:cxnSp>
        <p:nvCxnSpPr>
          <p:cNvPr id="56" name="Line 56"/>
          <p:cNvCxnSpPr/>
          <p:nvPr/>
        </p:nvCxnSpPr>
        <p:spPr>
          <a:xfrm>
            <a:off x="7638745" y="1732788"/>
            <a:ext cx="3752850" cy="0"/>
          </a:xfrm>
          <a:prstGeom prst="line">
            <a:avLst/>
          </a:prstGeom>
          <a:ln w="9525" cap="flat">
            <a:solidFill>
              <a:srgbClr val="E6E8F2"/>
            </a:solidFill>
          </a:ln>
        </p:spPr>
      </p:cxnSp>
      <p:cxnSp>
        <p:nvCxnSpPr>
          <p:cNvPr id="57" name="Line 57"/>
          <p:cNvCxnSpPr/>
          <p:nvPr/>
        </p:nvCxnSpPr>
        <p:spPr>
          <a:xfrm>
            <a:off x="8662250" y="1732788"/>
            <a:ext cx="0" cy="3638550"/>
          </a:xfrm>
          <a:prstGeom prst="line">
            <a:avLst/>
          </a:prstGeom>
          <a:ln w="19050" cap="flat">
            <a:solidFill>
              <a:srgbClr val="5F6272"/>
            </a:solidFill>
          </a:ln>
        </p:spPr>
      </p:cxnSp>
      <p:cxnSp>
        <p:nvCxnSpPr>
          <p:cNvPr id="58" name="Line 58"/>
          <p:cNvCxnSpPr/>
          <p:nvPr/>
        </p:nvCxnSpPr>
        <p:spPr>
          <a:xfrm>
            <a:off x="7638745" y="3552063"/>
            <a:ext cx="3752850" cy="0"/>
          </a:xfrm>
          <a:prstGeom prst="line">
            <a:avLst/>
          </a:prstGeom>
          <a:ln w="19050" cap="flat">
            <a:solidFill>
              <a:srgbClr val="5F6272"/>
            </a:solidFill>
          </a:ln>
        </p:spPr>
      </p:cxnSp>
      <p:sp>
        <p:nvSpPr>
          <p:cNvPr id="59" name="Shape 59"/>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0" name="Shape 60"/>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1" name="Shape 61"/>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2" name="Shape 62"/>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3" name="Shape 63"/>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4" name="Shape 64"/>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5" name="Shape 65"/>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6" name="Shape 66"/>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7" name="Shape 67"/>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8" name="Shape 68"/>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9" name="Shape 69"/>
          <p:cNvSpPr/>
          <p:nvPr/>
        </p:nvSpPr>
        <p:spPr>
          <a:xfrm>
            <a:off x="8609862" y="42439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8747975" y="40486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b: (0, −45)</a:t>
            </a:r>
            <a:endParaRPr lang="en-US" sz="1125" dirty="0"/>
          </a:p>
        </p:txBody>
      </p:sp>
      <p:cxnSp>
        <p:nvCxnSpPr>
          <p:cNvPr id="71" name="Line 71"/>
          <p:cNvCxnSpPr/>
          <p:nvPr/>
        </p:nvCxnSpPr>
        <p:spPr>
          <a:xfrm flipV="1">
            <a:off x="7923052" y="1732788"/>
            <a:ext cx="2501900" cy="3638550"/>
          </a:xfrm>
          <a:prstGeom prst="line">
            <a:avLst/>
          </a:prstGeom>
          <a:ln w="38100" cap="rnd">
            <a:solidFill>
              <a:srgbClr val="7A4FC4"/>
            </a:solidFill>
          </a:ln>
        </p:spPr>
      </p:cxnSp>
      <p:sp>
        <p:nvSpPr>
          <p:cNvPr id="72" name="Shape 72"/>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3" name="Line 73"/>
          <p:cNvCxnSpPr/>
          <p:nvPr/>
        </p:nvCxnSpPr>
        <p:spPr>
          <a:xfrm>
            <a:off x="9515170" y="3055897"/>
            <a:ext cx="341168" cy="0"/>
          </a:xfrm>
          <a:prstGeom prst="line">
            <a:avLst/>
          </a:prstGeom>
          <a:ln w="38100" cap="rnd">
            <a:solidFill>
              <a:srgbClr val="16171D"/>
            </a:solidFill>
            <a:prstDash val="dash"/>
          </a:ln>
        </p:spPr>
      </p:cxnSp>
      <p:cxnSp>
        <p:nvCxnSpPr>
          <p:cNvPr id="74" name="Line 74"/>
          <p:cNvCxnSpPr/>
          <p:nvPr/>
        </p:nvCxnSpPr>
        <p:spPr>
          <a:xfrm flipV="1">
            <a:off x="9856338" y="2559731"/>
            <a:ext cx="0" cy="496166"/>
          </a:xfrm>
          <a:prstGeom prst="line">
            <a:avLst/>
          </a:prstGeom>
          <a:ln w="38100" cap="rnd">
            <a:solidFill>
              <a:srgbClr val="16171D"/>
            </a:solidFill>
            <a:prstDash val="dash"/>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p:cTn id="26" dur="500" fill="hold"/>
                                        <p:tgtEl>
                                          <p:spTgt spid="9"/>
                                        </p:tgtEl>
                                        <p:attrNameLst>
                                          <p:attrName>ppt_x</p:attrName>
                                        </p:attrNameLst>
                                      </p:cBhvr>
                                      <p:tavLst>
                                        <p:tav tm="0">
                                          <p:val>
                                            <p:strVal val="#ppt_x"/>
                                          </p:val>
                                        </p:tav>
                                        <p:tav tm="100000">
                                          <p:val>
                                            <p:strVal val="#ppt_x"/>
                                          </p:val>
                                        </p:tav>
                                      </p:tavLst>
                                    </p:anim>
                                    <p:anim calcmode="lin" valueType="num">
                                      <p:cBhvr>
                                        <p:cTn id="27"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500"/>
                                        <p:tgtEl>
                                          <p:spTgt spid="69"/>
                                        </p:tgtEl>
                                      </p:cBhvr>
                                    </p:animEffect>
                                    <p:anim calcmode="lin" valueType="num">
                                      <p:cBhvr>
                                        <p:cTn id="33" dur="500" fill="hold"/>
                                        <p:tgtEl>
                                          <p:spTgt spid="69"/>
                                        </p:tgtEl>
                                        <p:attrNameLst>
                                          <p:attrName>ppt_w</p:attrName>
                                        </p:attrNameLst>
                                      </p:cBhvr>
                                      <p:tavLst>
                                        <p:tav tm="0">
                                          <p:val>
                                            <p:fltVal val="0"/>
                                          </p:val>
                                        </p:tav>
                                        <p:tav tm="100000">
                                          <p:val>
                                            <p:strVal val="#ppt_w"/>
                                          </p:val>
                                        </p:tav>
                                      </p:tavLst>
                                    </p:anim>
                                    <p:anim calcmode="lin" valueType="num">
                                      <p:cBhvr>
                                        <p:cTn id="34" dur="500" fill="hold"/>
                                        <p:tgtEl>
                                          <p:spTgt spid="69"/>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500"/>
                                        <p:tgtEl>
                                          <p:spTgt spid="70"/>
                                        </p:tgtEl>
                                      </p:cBhvr>
                                    </p:animEffect>
                                    <p:anim calcmode="lin" valueType="num">
                                      <p:cBhvr>
                                        <p:cTn id="38" dur="500" fill="hold"/>
                                        <p:tgtEl>
                                          <p:spTgt spid="70"/>
                                        </p:tgtEl>
                                        <p:attrNameLst>
                                          <p:attrName>ppt_w</p:attrName>
                                        </p:attrNameLst>
                                      </p:cBhvr>
                                      <p:tavLst>
                                        <p:tav tm="0">
                                          <p:val>
                                            <p:fltVal val="0"/>
                                          </p:val>
                                        </p:tav>
                                        <p:tav tm="100000">
                                          <p:val>
                                            <p:strVal val="#ppt_w"/>
                                          </p:val>
                                        </p:tav>
                                      </p:tavLst>
                                    </p:anim>
                                    <p:anim calcmode="lin" valueType="num">
                                      <p:cBhvr>
                                        <p:cTn id="39" dur="500" fill="hold"/>
                                        <p:tgtEl>
                                          <p:spTgt spid="7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6.3 · Questions 6–7 · SE p. 249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Factored form: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a</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3050B8"/>
                </a:solidFill>
                <a:latin typeface="Cambria"/>
                <a:cs typeface="Cambria"/>
              </a:rPr>
              <a:t xml:space="preserve">c</a:t>
            </a:r>
            <a:r>
              <a:rPr lang="en-US" sz="3450" dirty="0" b="1">
                <a:solidFill>
                  <a:srgbClr val="16171D"/>
                </a:solidFill>
                <a:latin typeface="Cambria"/>
                <a:cs typeface="Cambria"/>
              </a:rPr>
              <a:t xml:space="preserve">)</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a:solidFill>
                  <a:srgbClr val="16171D"/>
                </a:solidFill>
                <a:latin typeface="Segoe UI"/>
                <a:cs typeface="Segoe UI"/>
              </a:rPr>
              <a:t xml:space="preserve"> is the slope. The value of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that makes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is the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zero of a function</a:t>
            </a:r>
            <a:r>
              <a:rPr lang="en-US" sz="1575" dirty="0">
                <a:solidFill>
                  <a:srgbClr val="16171D"/>
                </a:solidFill>
                <a:latin typeface="Segoe UI"/>
                <a:cs typeface="Segoe UI"/>
              </a:rPr>
              <a:t xml:space="preserve"> is a real number that makes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67690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6.</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label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08610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the slope triangle. </a:t>
            </a:r>
            <a:r>
              <a:rPr lang="en-US" sz="1575" dirty="0" b="1" i="1">
                <a:solidFill>
                  <a:srgbClr val="3050B8"/>
                </a:solidFill>
                <a:latin typeface="Cambria"/>
                <a:cs typeface="Cambria"/>
              </a:rPr>
              <a:t xml:space="preserve">c</a:t>
            </a:r>
            <a:r>
              <a:rPr lang="en-US" sz="1575" dirty="0" b="1">
                <a:solidFill>
                  <a:srgbClr val="3050B8"/>
                </a:solidFill>
                <a:latin typeface="Cambria"/>
                <a:cs typeface="Cambria"/>
              </a:rPr>
              <a:t xml:space="preserve"> = 3</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(3, 0)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49529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7.</a:t>
            </a:r>
            <a:r>
              <a:rPr lang="en-US" sz="1575" dirty="0">
                <a:solidFill>
                  <a:srgbClr val="16171D"/>
                </a:solidFill>
                <a:latin typeface="Segoe UI"/>
                <a:cs typeface="Segoe UI"/>
              </a:rPr>
              <a:t xml:space="preserve"> What is the zero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904488"/>
            <a:ext cx="589289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because 15(3 − 3) = 0</a:t>
            </a:r>
            <a:endParaRPr lang="en-US" sz="2325" dirty="0"/>
          </a:p>
        </p:txBody>
      </p:sp>
      <p:sp>
        <p:nvSpPr>
          <p:cNvPr id="10" name="Shape 10"/>
          <p:cNvSpPr txBox="1"/>
          <p:nvPr/>
        </p:nvSpPr>
        <p:spPr>
          <a:xfrm>
            <a:off x="685800" y="4537710"/>
            <a:ext cx="6242552" cy="38633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575" dirty="0">
                <a:solidFill>
                  <a:srgbClr val="16171D"/>
                </a:solidFill>
                <a:latin typeface="Segoe UI"/>
                <a:cs typeface="Segoe UI"/>
              </a:rPr>
              <a:t xml:space="preserve">A zero is a </a:t>
            </a:r>
            <a:r>
              <a:rPr lang="en-US" sz="1575" dirty="0" b="1">
                <a:solidFill>
                  <a:srgbClr val="16171D"/>
                </a:solidFill>
                <a:latin typeface="Segoe UI"/>
                <a:cs typeface="Segoe UI"/>
              </a:rPr>
              <a:t xml:space="preserve">number</a:t>
            </a:r>
            <a:r>
              <a:rPr lang="en-US" sz="1575" dirty="0">
                <a:solidFill>
                  <a:srgbClr val="16171D"/>
                </a:solidFill>
                <a:latin typeface="Segoe UI"/>
                <a:cs typeface="Segoe UI"/>
              </a:rPr>
              <a:t xml:space="preserve"> (3). An intercept is a </a:t>
            </a:r>
            <a:r>
              <a:rPr lang="en-US" sz="1575" dirty="0" b="1">
                <a:solidFill>
                  <a:srgbClr val="16171D"/>
                </a:solidFill>
                <a:latin typeface="Segoe UI"/>
                <a:cs typeface="Segoe UI"/>
              </a:rPr>
              <a:t xml:space="preserve">point</a:t>
            </a:r>
            <a:r>
              <a:rPr lang="en-US" sz="1575" dirty="0">
                <a:solidFill>
                  <a:srgbClr val="16171D"/>
                </a:solidFill>
                <a:latin typeface="Segoe UI"/>
                <a:cs typeface="Segoe UI"/>
              </a:rPr>
              <a:t xml:space="preserve"> (3, 0).</a:t>
            </a:r>
            <a:endParaRPr lang="en-US" sz="1575" dirty="0"/>
          </a:p>
        </p:txBody>
      </p:sp>
      <p:sp>
        <p:nvSpPr>
          <p:cNvPr id="11" name="Shape 11"/>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7638745" y="1732788"/>
            <a:ext cx="0" cy="3638550"/>
          </a:xfrm>
          <a:prstGeom prst="line">
            <a:avLst/>
          </a:prstGeom>
          <a:ln w="9525" cap="flat">
            <a:solidFill>
              <a:srgbClr val="E6E8F2"/>
            </a:solidFill>
          </a:ln>
        </p:spPr>
      </p:cxnSp>
      <p:cxnSp>
        <p:nvCxnSpPr>
          <p:cNvPr id="13" name="Line 13"/>
          <p:cNvCxnSpPr/>
          <p:nvPr/>
        </p:nvCxnSpPr>
        <p:spPr>
          <a:xfrm>
            <a:off x="7809329" y="1732788"/>
            <a:ext cx="0" cy="3638550"/>
          </a:xfrm>
          <a:prstGeom prst="line">
            <a:avLst/>
          </a:prstGeom>
          <a:ln w="9525" cap="flat">
            <a:solidFill>
              <a:srgbClr val="E6E8F2"/>
            </a:solidFill>
          </a:ln>
        </p:spPr>
      </p:cxnSp>
      <p:cxnSp>
        <p:nvCxnSpPr>
          <p:cNvPr id="14" name="Line 14"/>
          <p:cNvCxnSpPr/>
          <p:nvPr/>
        </p:nvCxnSpPr>
        <p:spPr>
          <a:xfrm>
            <a:off x="7979913" y="1732788"/>
            <a:ext cx="0" cy="3638550"/>
          </a:xfrm>
          <a:prstGeom prst="line">
            <a:avLst/>
          </a:prstGeom>
          <a:ln w="9525" cap="flat">
            <a:solidFill>
              <a:srgbClr val="E6E8F2"/>
            </a:solidFill>
          </a:ln>
        </p:spPr>
      </p:cxnSp>
      <p:cxnSp>
        <p:nvCxnSpPr>
          <p:cNvPr id="15" name="Line 15"/>
          <p:cNvCxnSpPr/>
          <p:nvPr/>
        </p:nvCxnSpPr>
        <p:spPr>
          <a:xfrm>
            <a:off x="8150497" y="1732788"/>
            <a:ext cx="0" cy="3638550"/>
          </a:xfrm>
          <a:prstGeom prst="line">
            <a:avLst/>
          </a:prstGeom>
          <a:ln w="9525" cap="flat">
            <a:solidFill>
              <a:srgbClr val="E6E8F2"/>
            </a:solidFill>
          </a:ln>
        </p:spPr>
      </p:cxnSp>
      <p:cxnSp>
        <p:nvCxnSpPr>
          <p:cNvPr id="16" name="Line 16"/>
          <p:cNvCxnSpPr/>
          <p:nvPr/>
        </p:nvCxnSpPr>
        <p:spPr>
          <a:xfrm>
            <a:off x="8321082" y="1732788"/>
            <a:ext cx="0" cy="3638550"/>
          </a:xfrm>
          <a:prstGeom prst="line">
            <a:avLst/>
          </a:prstGeom>
          <a:ln w="9525" cap="flat">
            <a:solidFill>
              <a:srgbClr val="E6E8F2"/>
            </a:solidFill>
          </a:ln>
        </p:spPr>
      </p:cxnSp>
      <p:cxnSp>
        <p:nvCxnSpPr>
          <p:cNvPr id="17" name="Line 17"/>
          <p:cNvCxnSpPr/>
          <p:nvPr/>
        </p:nvCxnSpPr>
        <p:spPr>
          <a:xfrm>
            <a:off x="8491666" y="1732788"/>
            <a:ext cx="0" cy="3638550"/>
          </a:xfrm>
          <a:prstGeom prst="line">
            <a:avLst/>
          </a:prstGeom>
          <a:ln w="9525" cap="flat">
            <a:solidFill>
              <a:srgbClr val="E6E8F2"/>
            </a:solidFill>
          </a:ln>
        </p:spPr>
      </p:cxnSp>
      <p:cxnSp>
        <p:nvCxnSpPr>
          <p:cNvPr id="18" name="Line 18"/>
          <p:cNvCxnSpPr/>
          <p:nvPr/>
        </p:nvCxnSpPr>
        <p:spPr>
          <a:xfrm>
            <a:off x="8662250" y="1732788"/>
            <a:ext cx="0" cy="3638550"/>
          </a:xfrm>
          <a:prstGeom prst="line">
            <a:avLst/>
          </a:prstGeom>
          <a:ln w="9525" cap="flat">
            <a:solidFill>
              <a:srgbClr val="E6E8F2"/>
            </a:solidFill>
          </a:ln>
        </p:spPr>
      </p:cxnSp>
      <p:cxnSp>
        <p:nvCxnSpPr>
          <p:cNvPr id="19" name="Line 19"/>
          <p:cNvCxnSpPr/>
          <p:nvPr/>
        </p:nvCxnSpPr>
        <p:spPr>
          <a:xfrm>
            <a:off x="8832834" y="1732788"/>
            <a:ext cx="0" cy="3638550"/>
          </a:xfrm>
          <a:prstGeom prst="line">
            <a:avLst/>
          </a:prstGeom>
          <a:ln w="9525" cap="flat">
            <a:solidFill>
              <a:srgbClr val="E6E8F2"/>
            </a:solidFill>
          </a:ln>
        </p:spPr>
      </p:cxnSp>
      <p:cxnSp>
        <p:nvCxnSpPr>
          <p:cNvPr id="20" name="Line 20"/>
          <p:cNvCxnSpPr/>
          <p:nvPr/>
        </p:nvCxnSpPr>
        <p:spPr>
          <a:xfrm>
            <a:off x="9003418" y="1732788"/>
            <a:ext cx="0" cy="3638550"/>
          </a:xfrm>
          <a:prstGeom prst="line">
            <a:avLst/>
          </a:prstGeom>
          <a:ln w="9525" cap="flat">
            <a:solidFill>
              <a:srgbClr val="E6E8F2"/>
            </a:solidFill>
          </a:ln>
        </p:spPr>
      </p:cxnSp>
      <p:cxnSp>
        <p:nvCxnSpPr>
          <p:cNvPr id="21" name="Line 21"/>
          <p:cNvCxnSpPr/>
          <p:nvPr/>
        </p:nvCxnSpPr>
        <p:spPr>
          <a:xfrm>
            <a:off x="9174002" y="1732788"/>
            <a:ext cx="0" cy="3638550"/>
          </a:xfrm>
          <a:prstGeom prst="line">
            <a:avLst/>
          </a:prstGeom>
          <a:ln w="9525" cap="flat">
            <a:solidFill>
              <a:srgbClr val="E6E8F2"/>
            </a:solidFill>
          </a:ln>
        </p:spPr>
      </p:cxnSp>
      <p:cxnSp>
        <p:nvCxnSpPr>
          <p:cNvPr id="22" name="Line 22"/>
          <p:cNvCxnSpPr/>
          <p:nvPr/>
        </p:nvCxnSpPr>
        <p:spPr>
          <a:xfrm>
            <a:off x="9344586" y="1732788"/>
            <a:ext cx="0" cy="3638550"/>
          </a:xfrm>
          <a:prstGeom prst="line">
            <a:avLst/>
          </a:prstGeom>
          <a:ln w="9525" cap="flat">
            <a:solidFill>
              <a:srgbClr val="E6E8F2"/>
            </a:solidFill>
          </a:ln>
        </p:spPr>
      </p:cxnSp>
      <p:cxnSp>
        <p:nvCxnSpPr>
          <p:cNvPr id="23" name="Line 23"/>
          <p:cNvCxnSpPr/>
          <p:nvPr/>
        </p:nvCxnSpPr>
        <p:spPr>
          <a:xfrm>
            <a:off x="9515170" y="1732788"/>
            <a:ext cx="0" cy="3638550"/>
          </a:xfrm>
          <a:prstGeom prst="line">
            <a:avLst/>
          </a:prstGeom>
          <a:ln w="9525" cap="flat">
            <a:solidFill>
              <a:srgbClr val="E6E8F2"/>
            </a:solidFill>
          </a:ln>
        </p:spPr>
      </p:cxnSp>
      <p:cxnSp>
        <p:nvCxnSpPr>
          <p:cNvPr id="24" name="Line 24"/>
          <p:cNvCxnSpPr/>
          <p:nvPr/>
        </p:nvCxnSpPr>
        <p:spPr>
          <a:xfrm>
            <a:off x="9685754" y="1732788"/>
            <a:ext cx="0" cy="3638550"/>
          </a:xfrm>
          <a:prstGeom prst="line">
            <a:avLst/>
          </a:prstGeom>
          <a:ln w="9525" cap="flat">
            <a:solidFill>
              <a:srgbClr val="E6E8F2"/>
            </a:solidFill>
          </a:ln>
        </p:spPr>
      </p:cxnSp>
      <p:cxnSp>
        <p:nvCxnSpPr>
          <p:cNvPr id="25" name="Line 25"/>
          <p:cNvCxnSpPr/>
          <p:nvPr/>
        </p:nvCxnSpPr>
        <p:spPr>
          <a:xfrm>
            <a:off x="9856338" y="1732788"/>
            <a:ext cx="0" cy="3638550"/>
          </a:xfrm>
          <a:prstGeom prst="line">
            <a:avLst/>
          </a:prstGeom>
          <a:ln w="9525" cap="flat">
            <a:solidFill>
              <a:srgbClr val="E6E8F2"/>
            </a:solidFill>
          </a:ln>
        </p:spPr>
      </p:cxnSp>
      <p:cxnSp>
        <p:nvCxnSpPr>
          <p:cNvPr id="26" name="Line 26"/>
          <p:cNvCxnSpPr/>
          <p:nvPr/>
        </p:nvCxnSpPr>
        <p:spPr>
          <a:xfrm>
            <a:off x="10026922" y="1732788"/>
            <a:ext cx="0" cy="3638550"/>
          </a:xfrm>
          <a:prstGeom prst="line">
            <a:avLst/>
          </a:prstGeom>
          <a:ln w="9525" cap="flat">
            <a:solidFill>
              <a:srgbClr val="E6E8F2"/>
            </a:solidFill>
          </a:ln>
        </p:spPr>
      </p:cxnSp>
      <p:cxnSp>
        <p:nvCxnSpPr>
          <p:cNvPr id="27" name="Line 27"/>
          <p:cNvCxnSpPr/>
          <p:nvPr/>
        </p:nvCxnSpPr>
        <p:spPr>
          <a:xfrm>
            <a:off x="10197507" y="1732788"/>
            <a:ext cx="0" cy="3638550"/>
          </a:xfrm>
          <a:prstGeom prst="line">
            <a:avLst/>
          </a:prstGeom>
          <a:ln w="9525" cap="flat">
            <a:solidFill>
              <a:srgbClr val="E6E8F2"/>
            </a:solidFill>
          </a:ln>
        </p:spPr>
      </p:cxnSp>
      <p:cxnSp>
        <p:nvCxnSpPr>
          <p:cNvPr id="28" name="Line 28"/>
          <p:cNvCxnSpPr/>
          <p:nvPr/>
        </p:nvCxnSpPr>
        <p:spPr>
          <a:xfrm>
            <a:off x="10368091" y="1732788"/>
            <a:ext cx="0" cy="3638550"/>
          </a:xfrm>
          <a:prstGeom prst="line">
            <a:avLst/>
          </a:prstGeom>
          <a:ln w="9525" cap="flat">
            <a:solidFill>
              <a:srgbClr val="E6E8F2"/>
            </a:solidFill>
          </a:ln>
        </p:spPr>
      </p:cxnSp>
      <p:cxnSp>
        <p:nvCxnSpPr>
          <p:cNvPr id="29" name="Line 29"/>
          <p:cNvCxnSpPr/>
          <p:nvPr/>
        </p:nvCxnSpPr>
        <p:spPr>
          <a:xfrm>
            <a:off x="10538675" y="1732788"/>
            <a:ext cx="0" cy="3638550"/>
          </a:xfrm>
          <a:prstGeom prst="line">
            <a:avLst/>
          </a:prstGeom>
          <a:ln w="9525" cap="flat">
            <a:solidFill>
              <a:srgbClr val="E6E8F2"/>
            </a:solidFill>
          </a:ln>
        </p:spPr>
      </p:cxnSp>
      <p:cxnSp>
        <p:nvCxnSpPr>
          <p:cNvPr id="30" name="Line 30"/>
          <p:cNvCxnSpPr/>
          <p:nvPr/>
        </p:nvCxnSpPr>
        <p:spPr>
          <a:xfrm>
            <a:off x="10709259" y="1732788"/>
            <a:ext cx="0" cy="3638550"/>
          </a:xfrm>
          <a:prstGeom prst="line">
            <a:avLst/>
          </a:prstGeom>
          <a:ln w="9525" cap="flat">
            <a:solidFill>
              <a:srgbClr val="E6E8F2"/>
            </a:solidFill>
          </a:ln>
        </p:spPr>
      </p:cxnSp>
      <p:cxnSp>
        <p:nvCxnSpPr>
          <p:cNvPr id="31" name="Line 31"/>
          <p:cNvCxnSpPr/>
          <p:nvPr/>
        </p:nvCxnSpPr>
        <p:spPr>
          <a:xfrm>
            <a:off x="10879843" y="1732788"/>
            <a:ext cx="0" cy="3638550"/>
          </a:xfrm>
          <a:prstGeom prst="line">
            <a:avLst/>
          </a:prstGeom>
          <a:ln w="9525" cap="flat">
            <a:solidFill>
              <a:srgbClr val="E6E8F2"/>
            </a:solidFill>
          </a:ln>
        </p:spPr>
      </p:cxnSp>
      <p:cxnSp>
        <p:nvCxnSpPr>
          <p:cNvPr id="32" name="Line 32"/>
          <p:cNvCxnSpPr/>
          <p:nvPr/>
        </p:nvCxnSpPr>
        <p:spPr>
          <a:xfrm>
            <a:off x="11050427" y="1732788"/>
            <a:ext cx="0" cy="3638550"/>
          </a:xfrm>
          <a:prstGeom prst="line">
            <a:avLst/>
          </a:prstGeom>
          <a:ln w="9525" cap="flat">
            <a:solidFill>
              <a:srgbClr val="E6E8F2"/>
            </a:solidFill>
          </a:ln>
        </p:spPr>
      </p:cxnSp>
      <p:cxnSp>
        <p:nvCxnSpPr>
          <p:cNvPr id="33" name="Line 33"/>
          <p:cNvCxnSpPr/>
          <p:nvPr/>
        </p:nvCxnSpPr>
        <p:spPr>
          <a:xfrm>
            <a:off x="11221011" y="1732788"/>
            <a:ext cx="0" cy="3638550"/>
          </a:xfrm>
          <a:prstGeom prst="line">
            <a:avLst/>
          </a:prstGeom>
          <a:ln w="9525" cap="flat">
            <a:solidFill>
              <a:srgbClr val="E6E8F2"/>
            </a:solidFill>
          </a:ln>
        </p:spPr>
      </p:cxnSp>
      <p:cxnSp>
        <p:nvCxnSpPr>
          <p:cNvPr id="34" name="Line 34"/>
          <p:cNvCxnSpPr/>
          <p:nvPr/>
        </p:nvCxnSpPr>
        <p:spPr>
          <a:xfrm>
            <a:off x="11391595" y="1732788"/>
            <a:ext cx="0" cy="3638550"/>
          </a:xfrm>
          <a:prstGeom prst="line">
            <a:avLst/>
          </a:prstGeom>
          <a:ln w="9525" cap="flat">
            <a:solidFill>
              <a:srgbClr val="E6E8F2"/>
            </a:solidFill>
          </a:ln>
        </p:spPr>
      </p:cxnSp>
      <p:cxnSp>
        <p:nvCxnSpPr>
          <p:cNvPr id="35" name="Line 35"/>
          <p:cNvCxnSpPr/>
          <p:nvPr/>
        </p:nvCxnSpPr>
        <p:spPr>
          <a:xfrm>
            <a:off x="7638745" y="5371338"/>
            <a:ext cx="3752850" cy="0"/>
          </a:xfrm>
          <a:prstGeom prst="line">
            <a:avLst/>
          </a:prstGeom>
          <a:ln w="9525" cap="flat">
            <a:solidFill>
              <a:srgbClr val="E6E8F2"/>
            </a:solidFill>
          </a:ln>
        </p:spPr>
      </p:cxnSp>
      <p:cxnSp>
        <p:nvCxnSpPr>
          <p:cNvPr id="36" name="Line 36"/>
          <p:cNvCxnSpPr/>
          <p:nvPr/>
        </p:nvCxnSpPr>
        <p:spPr>
          <a:xfrm>
            <a:off x="7638745" y="5205949"/>
            <a:ext cx="3752850" cy="0"/>
          </a:xfrm>
          <a:prstGeom prst="line">
            <a:avLst/>
          </a:prstGeom>
          <a:ln w="9525" cap="flat">
            <a:solidFill>
              <a:srgbClr val="E6E8F2"/>
            </a:solidFill>
          </a:ln>
        </p:spPr>
      </p:cxnSp>
      <p:cxnSp>
        <p:nvCxnSpPr>
          <p:cNvPr id="37" name="Line 37"/>
          <p:cNvCxnSpPr/>
          <p:nvPr/>
        </p:nvCxnSpPr>
        <p:spPr>
          <a:xfrm>
            <a:off x="7638745" y="5040561"/>
            <a:ext cx="3752850" cy="0"/>
          </a:xfrm>
          <a:prstGeom prst="line">
            <a:avLst/>
          </a:prstGeom>
          <a:ln w="9525" cap="flat">
            <a:solidFill>
              <a:srgbClr val="E6E8F2"/>
            </a:solidFill>
          </a:ln>
        </p:spPr>
      </p:cxnSp>
      <p:cxnSp>
        <p:nvCxnSpPr>
          <p:cNvPr id="38" name="Line 38"/>
          <p:cNvCxnSpPr/>
          <p:nvPr/>
        </p:nvCxnSpPr>
        <p:spPr>
          <a:xfrm>
            <a:off x="7638745" y="4875172"/>
            <a:ext cx="3752850" cy="0"/>
          </a:xfrm>
          <a:prstGeom prst="line">
            <a:avLst/>
          </a:prstGeom>
          <a:ln w="9525" cap="flat">
            <a:solidFill>
              <a:srgbClr val="E6E8F2"/>
            </a:solidFill>
          </a:ln>
        </p:spPr>
      </p:cxnSp>
      <p:cxnSp>
        <p:nvCxnSpPr>
          <p:cNvPr id="39" name="Line 39"/>
          <p:cNvCxnSpPr/>
          <p:nvPr/>
        </p:nvCxnSpPr>
        <p:spPr>
          <a:xfrm>
            <a:off x="7638745" y="4709783"/>
            <a:ext cx="3752850" cy="0"/>
          </a:xfrm>
          <a:prstGeom prst="line">
            <a:avLst/>
          </a:prstGeom>
          <a:ln w="9525" cap="flat">
            <a:solidFill>
              <a:srgbClr val="E6E8F2"/>
            </a:solidFill>
          </a:ln>
        </p:spPr>
      </p:cxnSp>
      <p:cxnSp>
        <p:nvCxnSpPr>
          <p:cNvPr id="40" name="Line 40"/>
          <p:cNvCxnSpPr/>
          <p:nvPr/>
        </p:nvCxnSpPr>
        <p:spPr>
          <a:xfrm>
            <a:off x="7638745" y="4544395"/>
            <a:ext cx="3752850" cy="0"/>
          </a:xfrm>
          <a:prstGeom prst="line">
            <a:avLst/>
          </a:prstGeom>
          <a:ln w="9525" cap="flat">
            <a:solidFill>
              <a:srgbClr val="E6E8F2"/>
            </a:solidFill>
          </a:ln>
        </p:spPr>
      </p:cxnSp>
      <p:cxnSp>
        <p:nvCxnSpPr>
          <p:cNvPr id="41" name="Line 41"/>
          <p:cNvCxnSpPr/>
          <p:nvPr/>
        </p:nvCxnSpPr>
        <p:spPr>
          <a:xfrm>
            <a:off x="7638745" y="4379006"/>
            <a:ext cx="3752850" cy="0"/>
          </a:xfrm>
          <a:prstGeom prst="line">
            <a:avLst/>
          </a:prstGeom>
          <a:ln w="9525" cap="flat">
            <a:solidFill>
              <a:srgbClr val="E6E8F2"/>
            </a:solidFill>
          </a:ln>
        </p:spPr>
      </p:cxnSp>
      <p:cxnSp>
        <p:nvCxnSpPr>
          <p:cNvPr id="42" name="Line 42"/>
          <p:cNvCxnSpPr/>
          <p:nvPr/>
        </p:nvCxnSpPr>
        <p:spPr>
          <a:xfrm>
            <a:off x="7638745" y="4213618"/>
            <a:ext cx="3752850" cy="0"/>
          </a:xfrm>
          <a:prstGeom prst="line">
            <a:avLst/>
          </a:prstGeom>
          <a:ln w="9525" cap="flat">
            <a:solidFill>
              <a:srgbClr val="E6E8F2"/>
            </a:solidFill>
          </a:ln>
        </p:spPr>
      </p:cxnSp>
      <p:cxnSp>
        <p:nvCxnSpPr>
          <p:cNvPr id="43" name="Line 43"/>
          <p:cNvCxnSpPr/>
          <p:nvPr/>
        </p:nvCxnSpPr>
        <p:spPr>
          <a:xfrm>
            <a:off x="7638745" y="4048229"/>
            <a:ext cx="3752850" cy="0"/>
          </a:xfrm>
          <a:prstGeom prst="line">
            <a:avLst/>
          </a:prstGeom>
          <a:ln w="9525" cap="flat">
            <a:solidFill>
              <a:srgbClr val="E6E8F2"/>
            </a:solidFill>
          </a:ln>
        </p:spPr>
      </p:cxnSp>
      <p:cxnSp>
        <p:nvCxnSpPr>
          <p:cNvPr id="44" name="Line 44"/>
          <p:cNvCxnSpPr/>
          <p:nvPr/>
        </p:nvCxnSpPr>
        <p:spPr>
          <a:xfrm>
            <a:off x="7638745" y="3882840"/>
            <a:ext cx="3752850" cy="0"/>
          </a:xfrm>
          <a:prstGeom prst="line">
            <a:avLst/>
          </a:prstGeom>
          <a:ln w="9525" cap="flat">
            <a:solidFill>
              <a:srgbClr val="E6E8F2"/>
            </a:solidFill>
          </a:ln>
        </p:spPr>
      </p:cxnSp>
      <p:cxnSp>
        <p:nvCxnSpPr>
          <p:cNvPr id="45" name="Line 45"/>
          <p:cNvCxnSpPr/>
          <p:nvPr/>
        </p:nvCxnSpPr>
        <p:spPr>
          <a:xfrm>
            <a:off x="7638745" y="3717452"/>
            <a:ext cx="3752850" cy="0"/>
          </a:xfrm>
          <a:prstGeom prst="line">
            <a:avLst/>
          </a:prstGeom>
          <a:ln w="9525" cap="flat">
            <a:solidFill>
              <a:srgbClr val="E6E8F2"/>
            </a:solidFill>
          </a:ln>
        </p:spPr>
      </p:cxnSp>
      <p:cxnSp>
        <p:nvCxnSpPr>
          <p:cNvPr id="46" name="Line 46"/>
          <p:cNvCxnSpPr/>
          <p:nvPr/>
        </p:nvCxnSpPr>
        <p:spPr>
          <a:xfrm>
            <a:off x="7638745" y="3552063"/>
            <a:ext cx="3752850" cy="0"/>
          </a:xfrm>
          <a:prstGeom prst="line">
            <a:avLst/>
          </a:prstGeom>
          <a:ln w="9525" cap="flat">
            <a:solidFill>
              <a:srgbClr val="E6E8F2"/>
            </a:solidFill>
          </a:ln>
        </p:spPr>
      </p:cxnSp>
      <p:cxnSp>
        <p:nvCxnSpPr>
          <p:cNvPr id="47" name="Line 47"/>
          <p:cNvCxnSpPr/>
          <p:nvPr/>
        </p:nvCxnSpPr>
        <p:spPr>
          <a:xfrm>
            <a:off x="7638745" y="3386674"/>
            <a:ext cx="3752850" cy="0"/>
          </a:xfrm>
          <a:prstGeom prst="line">
            <a:avLst/>
          </a:prstGeom>
          <a:ln w="9525" cap="flat">
            <a:solidFill>
              <a:srgbClr val="E6E8F2"/>
            </a:solidFill>
          </a:ln>
        </p:spPr>
      </p:cxnSp>
      <p:cxnSp>
        <p:nvCxnSpPr>
          <p:cNvPr id="48" name="Line 48"/>
          <p:cNvCxnSpPr/>
          <p:nvPr/>
        </p:nvCxnSpPr>
        <p:spPr>
          <a:xfrm>
            <a:off x="7638745" y="3221286"/>
            <a:ext cx="3752850" cy="0"/>
          </a:xfrm>
          <a:prstGeom prst="line">
            <a:avLst/>
          </a:prstGeom>
          <a:ln w="9525" cap="flat">
            <a:solidFill>
              <a:srgbClr val="E6E8F2"/>
            </a:solidFill>
          </a:ln>
        </p:spPr>
      </p:cxnSp>
      <p:cxnSp>
        <p:nvCxnSpPr>
          <p:cNvPr id="49" name="Line 49"/>
          <p:cNvCxnSpPr/>
          <p:nvPr/>
        </p:nvCxnSpPr>
        <p:spPr>
          <a:xfrm>
            <a:off x="7638745" y="3055897"/>
            <a:ext cx="3752850" cy="0"/>
          </a:xfrm>
          <a:prstGeom prst="line">
            <a:avLst/>
          </a:prstGeom>
          <a:ln w="9525" cap="flat">
            <a:solidFill>
              <a:srgbClr val="E6E8F2"/>
            </a:solidFill>
          </a:ln>
        </p:spPr>
      </p:cxnSp>
      <p:cxnSp>
        <p:nvCxnSpPr>
          <p:cNvPr id="50" name="Line 50"/>
          <p:cNvCxnSpPr/>
          <p:nvPr/>
        </p:nvCxnSpPr>
        <p:spPr>
          <a:xfrm>
            <a:off x="7638745" y="2890508"/>
            <a:ext cx="3752850" cy="0"/>
          </a:xfrm>
          <a:prstGeom prst="line">
            <a:avLst/>
          </a:prstGeom>
          <a:ln w="9525" cap="flat">
            <a:solidFill>
              <a:srgbClr val="E6E8F2"/>
            </a:solidFill>
          </a:ln>
        </p:spPr>
      </p:cxnSp>
      <p:cxnSp>
        <p:nvCxnSpPr>
          <p:cNvPr id="51" name="Line 51"/>
          <p:cNvCxnSpPr/>
          <p:nvPr/>
        </p:nvCxnSpPr>
        <p:spPr>
          <a:xfrm>
            <a:off x="7638745" y="2725120"/>
            <a:ext cx="3752850" cy="0"/>
          </a:xfrm>
          <a:prstGeom prst="line">
            <a:avLst/>
          </a:prstGeom>
          <a:ln w="9525" cap="flat">
            <a:solidFill>
              <a:srgbClr val="E6E8F2"/>
            </a:solidFill>
          </a:ln>
        </p:spPr>
      </p:cxnSp>
      <p:cxnSp>
        <p:nvCxnSpPr>
          <p:cNvPr id="52" name="Line 52"/>
          <p:cNvCxnSpPr/>
          <p:nvPr/>
        </p:nvCxnSpPr>
        <p:spPr>
          <a:xfrm>
            <a:off x="7638745" y="2559731"/>
            <a:ext cx="3752850" cy="0"/>
          </a:xfrm>
          <a:prstGeom prst="line">
            <a:avLst/>
          </a:prstGeom>
          <a:ln w="9525" cap="flat">
            <a:solidFill>
              <a:srgbClr val="E6E8F2"/>
            </a:solidFill>
          </a:ln>
        </p:spPr>
      </p:cxnSp>
      <p:cxnSp>
        <p:nvCxnSpPr>
          <p:cNvPr id="53" name="Line 53"/>
          <p:cNvCxnSpPr/>
          <p:nvPr/>
        </p:nvCxnSpPr>
        <p:spPr>
          <a:xfrm>
            <a:off x="7638745" y="2394343"/>
            <a:ext cx="3752850" cy="0"/>
          </a:xfrm>
          <a:prstGeom prst="line">
            <a:avLst/>
          </a:prstGeom>
          <a:ln w="9525" cap="flat">
            <a:solidFill>
              <a:srgbClr val="E6E8F2"/>
            </a:solidFill>
          </a:ln>
        </p:spPr>
      </p:cxnSp>
      <p:cxnSp>
        <p:nvCxnSpPr>
          <p:cNvPr id="54" name="Line 54"/>
          <p:cNvCxnSpPr/>
          <p:nvPr/>
        </p:nvCxnSpPr>
        <p:spPr>
          <a:xfrm>
            <a:off x="7638745" y="2228954"/>
            <a:ext cx="3752850" cy="0"/>
          </a:xfrm>
          <a:prstGeom prst="line">
            <a:avLst/>
          </a:prstGeom>
          <a:ln w="9525" cap="flat">
            <a:solidFill>
              <a:srgbClr val="E6E8F2"/>
            </a:solidFill>
          </a:ln>
        </p:spPr>
      </p:cxnSp>
      <p:cxnSp>
        <p:nvCxnSpPr>
          <p:cNvPr id="55" name="Line 55"/>
          <p:cNvCxnSpPr/>
          <p:nvPr/>
        </p:nvCxnSpPr>
        <p:spPr>
          <a:xfrm>
            <a:off x="7638745" y="2063565"/>
            <a:ext cx="3752850" cy="0"/>
          </a:xfrm>
          <a:prstGeom prst="line">
            <a:avLst/>
          </a:prstGeom>
          <a:ln w="9525" cap="flat">
            <a:solidFill>
              <a:srgbClr val="E6E8F2"/>
            </a:solidFill>
          </a:ln>
        </p:spPr>
      </p:cxnSp>
      <p:cxnSp>
        <p:nvCxnSpPr>
          <p:cNvPr id="56" name="Line 56"/>
          <p:cNvCxnSpPr/>
          <p:nvPr/>
        </p:nvCxnSpPr>
        <p:spPr>
          <a:xfrm>
            <a:off x="7638745" y="1898177"/>
            <a:ext cx="3752850" cy="0"/>
          </a:xfrm>
          <a:prstGeom prst="line">
            <a:avLst/>
          </a:prstGeom>
          <a:ln w="9525" cap="flat">
            <a:solidFill>
              <a:srgbClr val="E6E8F2"/>
            </a:solidFill>
          </a:ln>
        </p:spPr>
      </p:cxnSp>
      <p:cxnSp>
        <p:nvCxnSpPr>
          <p:cNvPr id="57" name="Line 57"/>
          <p:cNvCxnSpPr/>
          <p:nvPr/>
        </p:nvCxnSpPr>
        <p:spPr>
          <a:xfrm>
            <a:off x="7638745" y="1732788"/>
            <a:ext cx="3752850" cy="0"/>
          </a:xfrm>
          <a:prstGeom prst="line">
            <a:avLst/>
          </a:prstGeom>
          <a:ln w="9525" cap="flat">
            <a:solidFill>
              <a:srgbClr val="E6E8F2"/>
            </a:solidFill>
          </a:ln>
        </p:spPr>
      </p:cxnSp>
      <p:cxnSp>
        <p:nvCxnSpPr>
          <p:cNvPr id="58" name="Line 58"/>
          <p:cNvCxnSpPr/>
          <p:nvPr/>
        </p:nvCxnSpPr>
        <p:spPr>
          <a:xfrm>
            <a:off x="8662250" y="1732788"/>
            <a:ext cx="0" cy="3638550"/>
          </a:xfrm>
          <a:prstGeom prst="line">
            <a:avLst/>
          </a:prstGeom>
          <a:ln w="19050" cap="flat">
            <a:solidFill>
              <a:srgbClr val="5F6272"/>
            </a:solidFill>
          </a:ln>
        </p:spPr>
      </p:cxnSp>
      <p:cxnSp>
        <p:nvCxnSpPr>
          <p:cNvPr id="59" name="Line 59"/>
          <p:cNvCxnSpPr/>
          <p:nvPr/>
        </p:nvCxnSpPr>
        <p:spPr>
          <a:xfrm>
            <a:off x="7638745" y="3552063"/>
            <a:ext cx="3752850" cy="0"/>
          </a:xfrm>
          <a:prstGeom prst="line">
            <a:avLst/>
          </a:prstGeom>
          <a:ln w="19050" cap="flat">
            <a:solidFill>
              <a:srgbClr val="5F6272"/>
            </a:solidFill>
          </a:ln>
        </p:spPr>
      </p:cxnSp>
      <p:sp>
        <p:nvSpPr>
          <p:cNvPr id="60" name="Shape 60"/>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2" name="Shape 62"/>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4" name="Shape 64"/>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5" name="Shape 65"/>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6" name="Shape 66"/>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8" name="Shape 68"/>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0" name="Shape 70"/>
          <p:cNvSpPr/>
          <p:nvPr/>
        </p:nvSpPr>
        <p:spPr>
          <a:xfrm>
            <a:off x="9121615" y="34996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txBox="1"/>
          <p:nvPr/>
        </p:nvSpPr>
        <p:spPr>
          <a:xfrm>
            <a:off x="9259727" y="33044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c: (3, 0)</a:t>
            </a:r>
            <a:endParaRPr lang="en-US" sz="1125" dirty="0"/>
          </a:p>
        </p:txBody>
      </p:sp>
      <p:cxnSp>
        <p:nvCxnSpPr>
          <p:cNvPr id="72" name="Line 72"/>
          <p:cNvCxnSpPr/>
          <p:nvPr/>
        </p:nvCxnSpPr>
        <p:spPr>
          <a:xfrm flipV="1">
            <a:off x="7923052" y="1732788"/>
            <a:ext cx="2501900" cy="3638550"/>
          </a:xfrm>
          <a:prstGeom prst="line">
            <a:avLst/>
          </a:prstGeom>
          <a:ln w="38100" cap="rnd">
            <a:solidFill>
              <a:srgbClr val="7A4FC4"/>
            </a:solidFill>
          </a:ln>
        </p:spPr>
      </p:cxnSp>
      <p:sp>
        <p:nvSpPr>
          <p:cNvPr id="73" name="Shape 73"/>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4" name="Line 74"/>
          <p:cNvCxnSpPr/>
          <p:nvPr/>
        </p:nvCxnSpPr>
        <p:spPr>
          <a:xfrm>
            <a:off x="9515170" y="3055897"/>
            <a:ext cx="341168" cy="0"/>
          </a:xfrm>
          <a:prstGeom prst="line">
            <a:avLst/>
          </a:prstGeom>
          <a:ln w="38100" cap="rnd">
            <a:solidFill>
              <a:srgbClr val="16171D"/>
            </a:solidFill>
            <a:prstDash val="dash"/>
          </a:ln>
        </p:spPr>
      </p:cxnSp>
      <p:cxnSp>
        <p:nvCxnSpPr>
          <p:cNvPr id="75" name="Line 75"/>
          <p:cNvCxnSpPr/>
          <p:nvPr/>
        </p:nvCxnSpPr>
        <p:spPr>
          <a:xfrm flipV="1">
            <a:off x="9856338" y="2559731"/>
            <a:ext cx="0" cy="496166"/>
          </a:xfrm>
          <a:prstGeom prst="line">
            <a:avLst/>
          </a:prstGeom>
          <a:ln w="38100" cap="rnd">
            <a:solidFill>
              <a:srgbClr val="16171D"/>
            </a:solidFill>
            <a:prstDash val="dash"/>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fade">
                                      <p:cBhvr>
                                        <p:cTn id="32" dur="500"/>
                                        <p:tgtEl>
                                          <p:spTgt spid="70"/>
                                        </p:tgtEl>
                                      </p:cBhvr>
                                    </p:animEffect>
                                    <p:anim calcmode="lin" valueType="num">
                                      <p:cBhvr>
                                        <p:cTn id="33" dur="500" fill="hold"/>
                                        <p:tgtEl>
                                          <p:spTgt spid="70"/>
                                        </p:tgtEl>
                                        <p:attrNameLst>
                                          <p:attrName>ppt_w</p:attrName>
                                        </p:attrNameLst>
                                      </p:cBhvr>
                                      <p:tavLst>
                                        <p:tav tm="0">
                                          <p:val>
                                            <p:fltVal val="0"/>
                                          </p:val>
                                        </p:tav>
                                        <p:tav tm="100000">
                                          <p:val>
                                            <p:strVal val="#ppt_w"/>
                                          </p:val>
                                        </p:tav>
                                      </p:tavLst>
                                    </p:anim>
                                    <p:anim calcmode="lin" valueType="num">
                                      <p:cBhvr>
                                        <p:cTn id="34" dur="500" fill="hold"/>
                                        <p:tgtEl>
                                          <p:spTgt spid="70"/>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anim calcmode="lin" valueType="num">
                                      <p:cBhvr>
                                        <p:cTn id="38" dur="500" fill="hold"/>
                                        <p:tgtEl>
                                          <p:spTgt spid="71"/>
                                        </p:tgtEl>
                                        <p:attrNameLst>
                                          <p:attrName>ppt_w</p:attrName>
                                        </p:attrNameLst>
                                      </p:cBhvr>
                                      <p:tavLst>
                                        <p:tav tm="0">
                                          <p:val>
                                            <p:fltVal val="0"/>
                                          </p:val>
                                        </p:tav>
                                        <p:tav tm="100000">
                                          <p:val>
                                            <p:strVal val="#ppt_w"/>
                                          </p:val>
                                        </p:tav>
                                      </p:tavLst>
                                    </p:anim>
                                    <p:anim calcmode="lin" valueType="num">
                                      <p:cBhvr>
                                        <p:cTn id="39" dur="500" fill="hold"/>
                                        <p:tgtEl>
                                          <p:spTgt spid="7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4 · SE p. 319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5658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Compare linear functions represented algebraically, graphically, in tables, or with verbal descriptions.</a:t>
            </a:r>
            <a:endParaRPr lang="en-US" sz="1950" dirty="0"/>
          </a:p>
        </p:txBody>
      </p:sp>
      <p:sp>
        <p:nvSpPr>
          <p:cNvPr id="5" name="Shape 5"/>
          <p:cNvSpPr txBox="1"/>
          <p:nvPr/>
        </p:nvSpPr>
        <p:spPr>
          <a:xfrm>
            <a:off x="685800" y="240106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Choose and interpret appropriate units to represent independent and dependent quantities in situations modeled by linear functions.</a:t>
            </a:r>
            <a:endParaRPr lang="en-US" sz="1950" dirty="0"/>
          </a:p>
        </p:txBody>
      </p:sp>
      <p:sp>
        <p:nvSpPr>
          <p:cNvPr id="6" name="Shape 6"/>
          <p:cNvSpPr txBox="1"/>
          <p:nvPr/>
        </p:nvSpPr>
        <p:spPr>
          <a:xfrm>
            <a:off x="685800" y="314553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Choose and interpret appropriate scales and origins for graphs of linear functions.</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319</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have represented linear functions in a variety of different ways.</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How does each linear function representation compare with the others?</a:t>
            </a:r>
            <a:endParaRPr lang="en-US" sz="2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Odd One Out · SE p. 320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function does not belong? Justify your choice.</a:t>
            </a:r>
            <a:endParaRPr lang="en-US" sz="3450" dirty="0"/>
          </a:p>
        </p:txBody>
      </p:sp>
      <p:sp>
        <p:nvSpPr>
          <p:cNvPr id="16" name="Shape 16"/>
          <p:cNvSpPr txBox="1"/>
          <p:nvPr/>
        </p:nvSpPr>
        <p:spPr>
          <a:xfrm>
            <a:off x="685800" y="2144268"/>
            <a:ext cx="2605011" cy="331774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2315718"/>
            <a:ext cx="2185911"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a:t>
            </a:r>
            <a:endParaRPr lang="en-US" sz="2100" dirty="0"/>
          </a:p>
        </p:txBody>
      </p:sp>
      <p:sp>
        <p:nvSpPr>
          <p:cNvPr id="5" name="Shape 5"/>
          <p:cNvSpPr txBox="1"/>
          <p:nvPr/>
        </p:nvSpPr>
        <p:spPr>
          <a:xfrm>
            <a:off x="895350" y="2785872"/>
            <a:ext cx="1143000" cy="3749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500" dirty="0" i="1">
                <a:solidFill>
                  <a:srgbClr val="16171D"/>
                </a:solidFill>
                <a:latin typeface="Cambria"/>
                <a:cs typeface="Cambria"/>
              </a:rPr>
              <a:t xml:space="preserve">x</a:t>
            </a:r>
            <a:endParaRPr lang="en-US" sz="1500" dirty="0"/>
          </a:p>
        </p:txBody>
      </p:sp>
      <p:sp>
        <p:nvSpPr>
          <p:cNvPr id="6" name="Shape 6"/>
          <p:cNvSpPr txBox="1"/>
          <p:nvPr/>
        </p:nvSpPr>
        <p:spPr>
          <a:xfrm>
            <a:off x="2038350" y="2785872"/>
            <a:ext cx="1143000" cy="3749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500" dirty="0" i="1">
                <a:solidFill>
                  <a:srgbClr val="16171D"/>
                </a:solidFill>
                <a:latin typeface="Cambria"/>
                <a:cs typeface="Cambria"/>
              </a:rPr>
              <a:t xml:space="preserve">y</a:t>
            </a:r>
            <a:endParaRPr lang="en-US" sz="1500" dirty="0"/>
          </a:p>
        </p:txBody>
      </p:sp>
      <p:sp>
        <p:nvSpPr>
          <p:cNvPr id="7" name="Shape 7"/>
          <p:cNvSpPr txBox="1"/>
          <p:nvPr/>
        </p:nvSpPr>
        <p:spPr>
          <a:xfrm>
            <a:off x="895350" y="3160776"/>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−5</a:t>
            </a:r>
            <a:endParaRPr lang="en-US" sz="1500" dirty="0"/>
          </a:p>
        </p:txBody>
      </p:sp>
      <p:sp>
        <p:nvSpPr>
          <p:cNvPr id="8" name="Shape 8"/>
          <p:cNvSpPr txBox="1"/>
          <p:nvPr/>
        </p:nvSpPr>
        <p:spPr>
          <a:xfrm>
            <a:off x="2038350" y="3160776"/>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10</a:t>
            </a:r>
            <a:endParaRPr lang="en-US" sz="1500" dirty="0"/>
          </a:p>
        </p:txBody>
      </p:sp>
      <p:sp>
        <p:nvSpPr>
          <p:cNvPr id="9" name="Shape 9"/>
          <p:cNvSpPr txBox="1"/>
          <p:nvPr/>
        </p:nvSpPr>
        <p:spPr>
          <a:xfrm>
            <a:off x="895350" y="3535680"/>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−1.5</a:t>
            </a:r>
            <a:endParaRPr lang="en-US" sz="1500" dirty="0"/>
          </a:p>
        </p:txBody>
      </p:sp>
      <p:sp>
        <p:nvSpPr>
          <p:cNvPr id="10" name="Shape 10"/>
          <p:cNvSpPr txBox="1"/>
          <p:nvPr/>
        </p:nvSpPr>
        <p:spPr>
          <a:xfrm>
            <a:off x="2038350" y="3535680"/>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3</a:t>
            </a:r>
            <a:endParaRPr lang="en-US" sz="1500" dirty="0"/>
          </a:p>
        </p:txBody>
      </p:sp>
      <p:sp>
        <p:nvSpPr>
          <p:cNvPr id="11" name="Shape 11"/>
          <p:cNvSpPr txBox="1"/>
          <p:nvPr/>
        </p:nvSpPr>
        <p:spPr>
          <a:xfrm>
            <a:off x="895350" y="3910584"/>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0</a:t>
            </a:r>
            <a:endParaRPr lang="en-US" sz="1500" dirty="0"/>
          </a:p>
        </p:txBody>
      </p:sp>
      <p:sp>
        <p:nvSpPr>
          <p:cNvPr id="12" name="Shape 12"/>
          <p:cNvSpPr txBox="1"/>
          <p:nvPr/>
        </p:nvSpPr>
        <p:spPr>
          <a:xfrm>
            <a:off x="2038350" y="3910584"/>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0</a:t>
            </a:r>
            <a:endParaRPr lang="en-US" sz="1500" dirty="0"/>
          </a:p>
        </p:txBody>
      </p:sp>
      <p:sp>
        <p:nvSpPr>
          <p:cNvPr id="13" name="Shape 13"/>
          <p:cNvSpPr txBox="1"/>
          <p:nvPr/>
        </p:nvSpPr>
        <p:spPr>
          <a:xfrm>
            <a:off x="895350" y="4285488"/>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2.5</a:t>
            </a:r>
            <a:endParaRPr lang="en-US" sz="1500" dirty="0"/>
          </a:p>
        </p:txBody>
      </p:sp>
      <p:sp>
        <p:nvSpPr>
          <p:cNvPr id="14" name="Shape 14"/>
          <p:cNvSpPr txBox="1"/>
          <p:nvPr/>
        </p:nvSpPr>
        <p:spPr>
          <a:xfrm>
            <a:off x="2038350" y="4285488"/>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−5</a:t>
            </a:r>
            <a:endParaRPr lang="en-US" sz="1500" dirty="0"/>
          </a:p>
        </p:txBody>
      </p:sp>
      <p:sp>
        <p:nvSpPr>
          <p:cNvPr id="15" name="Shape 15"/>
          <p:cNvSpPr txBox="1"/>
          <p:nvPr/>
        </p:nvSpPr>
        <p:spPr>
          <a:xfrm>
            <a:off x="895350" y="4755642"/>
            <a:ext cx="218591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one </a:t>
            </a:r>
            <a:r>
              <a:rPr lang="en-US" sz="1575" dirty="0" b="1">
                <a:solidFill>
                  <a:srgbClr val="16171D"/>
                </a:solidFill>
                <a:latin typeface="Segoe UI"/>
                <a:cs typeface="Segoe UI"/>
              </a:rPr>
              <a:t xml:space="preserve">decreasing</a:t>
            </a:r>
            <a:r>
              <a:rPr lang="en-US" sz="1575" dirty="0">
                <a:solidFill>
                  <a:srgbClr val="16171D"/>
                </a:solidFill>
                <a:latin typeface="Segoe UI"/>
                <a:cs typeface="Segoe UI"/>
              </a:rPr>
              <a:t xml:space="preserve"> (slope −2).</a:t>
            </a:r>
            <a:endParaRPr lang="en-US" sz="1575" dirty="0"/>
          </a:p>
        </p:txBody>
      </p:sp>
      <p:sp>
        <p:nvSpPr>
          <p:cNvPr id="20" name="Shape 20"/>
          <p:cNvSpPr txBox="1"/>
          <p:nvPr/>
        </p:nvSpPr>
        <p:spPr>
          <a:xfrm>
            <a:off x="3424161" y="2144268"/>
            <a:ext cx="2605011" cy="22181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7" name="Shape 17"/>
          <p:cNvSpPr txBox="1"/>
          <p:nvPr/>
        </p:nvSpPr>
        <p:spPr>
          <a:xfrm>
            <a:off x="3633711" y="2315718"/>
            <a:ext cx="2185911"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a:t>
            </a:r>
            <a:endParaRPr lang="en-US" sz="2100" dirty="0"/>
          </a:p>
        </p:txBody>
      </p:sp>
      <p:sp>
        <p:nvSpPr>
          <p:cNvPr id="18" name="Shape 18"/>
          <p:cNvSpPr txBox="1"/>
          <p:nvPr/>
        </p:nvSpPr>
        <p:spPr>
          <a:xfrm>
            <a:off x="3633711" y="2785872"/>
            <a:ext cx="2185911"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ratio of 9th- to 10th-graders is 1 : 1.</a:t>
            </a:r>
            <a:endParaRPr lang="en-US" sz="1575" dirty="0"/>
          </a:p>
        </p:txBody>
      </p:sp>
      <p:sp>
        <p:nvSpPr>
          <p:cNvPr id="19" name="Shape 19"/>
          <p:cNvSpPr txBox="1"/>
          <p:nvPr/>
        </p:nvSpPr>
        <p:spPr>
          <a:xfrm>
            <a:off x="3633711" y="3656076"/>
            <a:ext cx="218591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one with a domain of </a:t>
            </a:r>
            <a:r>
              <a:rPr lang="en-US" sz="1575" dirty="0" b="1">
                <a:solidFill>
                  <a:srgbClr val="16171D"/>
                </a:solidFill>
                <a:latin typeface="Segoe UI"/>
                <a:cs typeface="Segoe UI"/>
              </a:rPr>
              <a:t xml:space="preserve">whole numbers</a:t>
            </a:r>
            <a:r>
              <a:rPr lang="en-US" sz="1575" dirty="0">
                <a:solidFill>
                  <a:srgbClr val="16171D"/>
                </a:solidFill>
                <a:latin typeface="Segoe UI"/>
                <a:cs typeface="Segoe UI"/>
              </a:rPr>
              <a:t xml:space="preserve">.</a:t>
            </a:r>
            <a:endParaRPr lang="en-US" sz="1575" dirty="0"/>
          </a:p>
        </p:txBody>
      </p:sp>
      <p:sp>
        <p:nvSpPr>
          <p:cNvPr id="24" name="Shape 24"/>
          <p:cNvSpPr txBox="1"/>
          <p:nvPr/>
        </p:nvSpPr>
        <p:spPr>
          <a:xfrm>
            <a:off x="6162523" y="2144268"/>
            <a:ext cx="2605011"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1" name="Shape 21"/>
          <p:cNvSpPr txBox="1"/>
          <p:nvPr/>
        </p:nvSpPr>
        <p:spPr>
          <a:xfrm>
            <a:off x="6372073" y="2315718"/>
            <a:ext cx="2185911"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a:t>
            </a:r>
            <a:endParaRPr lang="en-US" sz="2100" dirty="0"/>
          </a:p>
        </p:txBody>
      </p:sp>
      <p:sp>
        <p:nvSpPr>
          <p:cNvPr id="22" name="Shape 22"/>
          <p:cNvSpPr txBox="1"/>
          <p:nvPr/>
        </p:nvSpPr>
        <p:spPr>
          <a:xfrm>
            <a:off x="6372073" y="2785872"/>
            <a:ext cx="2185911"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c</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⅕</a:t>
            </a:r>
            <a:r>
              <a:rPr lang="en-US" sz="2325" dirty="0" i="1">
                <a:solidFill>
                  <a:srgbClr val="16171D"/>
                </a:solidFill>
                <a:latin typeface="Cambria"/>
                <a:cs typeface="Cambria"/>
              </a:rPr>
              <a:t xml:space="preserve">x</a:t>
            </a:r>
            <a:endParaRPr lang="en-US" sz="2325" dirty="0"/>
          </a:p>
        </p:txBody>
      </p:sp>
      <p:sp>
        <p:nvSpPr>
          <p:cNvPr id="23" name="Shape 23"/>
          <p:cNvSpPr txBox="1"/>
          <p:nvPr/>
        </p:nvSpPr>
        <p:spPr>
          <a:xfrm>
            <a:off x="6372073" y="3290316"/>
            <a:ext cx="218591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one with a slope </a:t>
            </a:r>
            <a:r>
              <a:rPr lang="en-US" sz="1575" dirty="0" b="1">
                <a:solidFill>
                  <a:srgbClr val="16171D"/>
                </a:solidFill>
                <a:latin typeface="Segoe UI"/>
                <a:cs typeface="Segoe UI"/>
              </a:rPr>
              <a:t xml:space="preserve">between 0 and 1</a:t>
            </a:r>
            <a:r>
              <a:rPr lang="en-US" sz="1575" dirty="0">
                <a:solidFill>
                  <a:srgbClr val="16171D"/>
                </a:solidFill>
                <a:latin typeface="Segoe UI"/>
                <a:cs typeface="Segoe UI"/>
              </a:rPr>
              <a:t xml:space="preserve">.</a:t>
            </a:r>
            <a:endParaRPr lang="en-US" sz="1575" dirty="0"/>
          </a:p>
        </p:txBody>
      </p:sp>
      <p:sp>
        <p:nvSpPr>
          <p:cNvPr id="67" name="Shape 67"/>
          <p:cNvSpPr txBox="1"/>
          <p:nvPr/>
        </p:nvSpPr>
        <p:spPr>
          <a:xfrm>
            <a:off x="8900884" y="2144268"/>
            <a:ext cx="2605011" cy="334822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5" name="Shape 25"/>
          <p:cNvSpPr txBox="1"/>
          <p:nvPr/>
        </p:nvSpPr>
        <p:spPr>
          <a:xfrm>
            <a:off x="9110434" y="2315718"/>
            <a:ext cx="2185911"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a:t>
            </a:r>
            <a:endParaRPr lang="en-US" sz="2100" dirty="0"/>
          </a:p>
        </p:txBody>
      </p:sp>
      <p:sp>
        <p:nvSpPr>
          <p:cNvPr id="26" name="Shape 26"/>
          <p:cNvSpPr/>
          <p:nvPr/>
        </p:nvSpPr>
        <p:spPr>
          <a:xfrm>
            <a:off x="9110434" y="2785872"/>
            <a:ext cx="1905000" cy="1905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27" name="Line 27"/>
          <p:cNvCxnSpPr/>
          <p:nvPr/>
        </p:nvCxnSpPr>
        <p:spPr>
          <a:xfrm>
            <a:off x="9434284" y="2900172"/>
            <a:ext cx="0" cy="1543050"/>
          </a:xfrm>
          <a:prstGeom prst="line">
            <a:avLst/>
          </a:prstGeom>
          <a:ln w="9525" cap="flat">
            <a:solidFill>
              <a:srgbClr val="E6E8F2"/>
            </a:solidFill>
          </a:ln>
        </p:spPr>
      </p:cxnSp>
      <p:cxnSp>
        <p:nvCxnSpPr>
          <p:cNvPr id="28" name="Line 28"/>
          <p:cNvCxnSpPr/>
          <p:nvPr/>
        </p:nvCxnSpPr>
        <p:spPr>
          <a:xfrm>
            <a:off x="9617640" y="2900172"/>
            <a:ext cx="0" cy="1543050"/>
          </a:xfrm>
          <a:prstGeom prst="line">
            <a:avLst/>
          </a:prstGeom>
          <a:ln w="9525" cap="flat">
            <a:solidFill>
              <a:srgbClr val="E6E8F2"/>
            </a:solidFill>
          </a:ln>
        </p:spPr>
      </p:cxnSp>
      <p:cxnSp>
        <p:nvCxnSpPr>
          <p:cNvPr id="29" name="Line 29"/>
          <p:cNvCxnSpPr/>
          <p:nvPr/>
        </p:nvCxnSpPr>
        <p:spPr>
          <a:xfrm>
            <a:off x="9800996" y="2900172"/>
            <a:ext cx="0" cy="1543050"/>
          </a:xfrm>
          <a:prstGeom prst="line">
            <a:avLst/>
          </a:prstGeom>
          <a:ln w="9525" cap="flat">
            <a:solidFill>
              <a:srgbClr val="E6E8F2"/>
            </a:solidFill>
          </a:ln>
        </p:spPr>
      </p:cxnSp>
      <p:cxnSp>
        <p:nvCxnSpPr>
          <p:cNvPr id="30" name="Line 30"/>
          <p:cNvCxnSpPr/>
          <p:nvPr/>
        </p:nvCxnSpPr>
        <p:spPr>
          <a:xfrm>
            <a:off x="9984353" y="2900172"/>
            <a:ext cx="0" cy="1543050"/>
          </a:xfrm>
          <a:prstGeom prst="line">
            <a:avLst/>
          </a:prstGeom>
          <a:ln w="9525" cap="flat">
            <a:solidFill>
              <a:srgbClr val="E6E8F2"/>
            </a:solidFill>
          </a:ln>
        </p:spPr>
      </p:cxnSp>
      <p:cxnSp>
        <p:nvCxnSpPr>
          <p:cNvPr id="31" name="Line 31"/>
          <p:cNvCxnSpPr/>
          <p:nvPr/>
        </p:nvCxnSpPr>
        <p:spPr>
          <a:xfrm>
            <a:off x="10167709" y="2900172"/>
            <a:ext cx="0" cy="1543050"/>
          </a:xfrm>
          <a:prstGeom prst="line">
            <a:avLst/>
          </a:prstGeom>
          <a:ln w="9525" cap="flat">
            <a:solidFill>
              <a:srgbClr val="E6E8F2"/>
            </a:solidFill>
          </a:ln>
        </p:spPr>
      </p:cxnSp>
      <p:cxnSp>
        <p:nvCxnSpPr>
          <p:cNvPr id="32" name="Line 32"/>
          <p:cNvCxnSpPr/>
          <p:nvPr/>
        </p:nvCxnSpPr>
        <p:spPr>
          <a:xfrm>
            <a:off x="10351065" y="2900172"/>
            <a:ext cx="0" cy="1543050"/>
          </a:xfrm>
          <a:prstGeom prst="line">
            <a:avLst/>
          </a:prstGeom>
          <a:ln w="9525" cap="flat">
            <a:solidFill>
              <a:srgbClr val="E6E8F2"/>
            </a:solidFill>
          </a:ln>
        </p:spPr>
      </p:cxnSp>
      <p:cxnSp>
        <p:nvCxnSpPr>
          <p:cNvPr id="33" name="Line 33"/>
          <p:cNvCxnSpPr/>
          <p:nvPr/>
        </p:nvCxnSpPr>
        <p:spPr>
          <a:xfrm>
            <a:off x="10534421" y="2900172"/>
            <a:ext cx="0" cy="1543050"/>
          </a:xfrm>
          <a:prstGeom prst="line">
            <a:avLst/>
          </a:prstGeom>
          <a:ln w="9525" cap="flat">
            <a:solidFill>
              <a:srgbClr val="E6E8F2"/>
            </a:solidFill>
          </a:ln>
        </p:spPr>
      </p:cxnSp>
      <p:cxnSp>
        <p:nvCxnSpPr>
          <p:cNvPr id="34" name="Line 34"/>
          <p:cNvCxnSpPr/>
          <p:nvPr/>
        </p:nvCxnSpPr>
        <p:spPr>
          <a:xfrm>
            <a:off x="10717778" y="2900172"/>
            <a:ext cx="0" cy="1543050"/>
          </a:xfrm>
          <a:prstGeom prst="line">
            <a:avLst/>
          </a:prstGeom>
          <a:ln w="9525" cap="flat">
            <a:solidFill>
              <a:srgbClr val="E6E8F2"/>
            </a:solidFill>
          </a:ln>
        </p:spPr>
      </p:cxnSp>
      <p:cxnSp>
        <p:nvCxnSpPr>
          <p:cNvPr id="35" name="Line 35"/>
          <p:cNvCxnSpPr/>
          <p:nvPr/>
        </p:nvCxnSpPr>
        <p:spPr>
          <a:xfrm>
            <a:off x="10901134" y="2900172"/>
            <a:ext cx="0" cy="1543050"/>
          </a:xfrm>
          <a:prstGeom prst="line">
            <a:avLst/>
          </a:prstGeom>
          <a:ln w="9525" cap="flat">
            <a:solidFill>
              <a:srgbClr val="E6E8F2"/>
            </a:solidFill>
          </a:ln>
        </p:spPr>
      </p:cxnSp>
      <p:cxnSp>
        <p:nvCxnSpPr>
          <p:cNvPr id="36" name="Line 36"/>
          <p:cNvCxnSpPr/>
          <p:nvPr/>
        </p:nvCxnSpPr>
        <p:spPr>
          <a:xfrm>
            <a:off x="9434284" y="4443222"/>
            <a:ext cx="1466850" cy="0"/>
          </a:xfrm>
          <a:prstGeom prst="line">
            <a:avLst/>
          </a:prstGeom>
          <a:ln w="9525" cap="flat">
            <a:solidFill>
              <a:srgbClr val="E6E8F2"/>
            </a:solidFill>
          </a:ln>
        </p:spPr>
      </p:cxnSp>
      <p:cxnSp>
        <p:nvCxnSpPr>
          <p:cNvPr id="37" name="Line 37"/>
          <p:cNvCxnSpPr/>
          <p:nvPr/>
        </p:nvCxnSpPr>
        <p:spPr>
          <a:xfrm>
            <a:off x="9434284" y="4314634"/>
            <a:ext cx="1466850" cy="0"/>
          </a:xfrm>
          <a:prstGeom prst="line">
            <a:avLst/>
          </a:prstGeom>
          <a:ln w="9525" cap="flat">
            <a:solidFill>
              <a:srgbClr val="E6E8F2"/>
            </a:solidFill>
          </a:ln>
        </p:spPr>
      </p:cxnSp>
      <p:cxnSp>
        <p:nvCxnSpPr>
          <p:cNvPr id="38" name="Line 38"/>
          <p:cNvCxnSpPr/>
          <p:nvPr/>
        </p:nvCxnSpPr>
        <p:spPr>
          <a:xfrm>
            <a:off x="9434284" y="4186047"/>
            <a:ext cx="1466850" cy="0"/>
          </a:xfrm>
          <a:prstGeom prst="line">
            <a:avLst/>
          </a:prstGeom>
          <a:ln w="9525" cap="flat">
            <a:solidFill>
              <a:srgbClr val="E6E8F2"/>
            </a:solidFill>
          </a:ln>
        </p:spPr>
      </p:cxnSp>
      <p:cxnSp>
        <p:nvCxnSpPr>
          <p:cNvPr id="39" name="Line 39"/>
          <p:cNvCxnSpPr/>
          <p:nvPr/>
        </p:nvCxnSpPr>
        <p:spPr>
          <a:xfrm>
            <a:off x="9434284" y="4057460"/>
            <a:ext cx="1466850" cy="0"/>
          </a:xfrm>
          <a:prstGeom prst="line">
            <a:avLst/>
          </a:prstGeom>
          <a:ln w="9525" cap="flat">
            <a:solidFill>
              <a:srgbClr val="E6E8F2"/>
            </a:solidFill>
          </a:ln>
        </p:spPr>
      </p:cxnSp>
      <p:cxnSp>
        <p:nvCxnSpPr>
          <p:cNvPr id="40" name="Line 40"/>
          <p:cNvCxnSpPr/>
          <p:nvPr/>
        </p:nvCxnSpPr>
        <p:spPr>
          <a:xfrm>
            <a:off x="9434284" y="3928872"/>
            <a:ext cx="1466850" cy="0"/>
          </a:xfrm>
          <a:prstGeom prst="line">
            <a:avLst/>
          </a:prstGeom>
          <a:ln w="9525" cap="flat">
            <a:solidFill>
              <a:srgbClr val="E6E8F2"/>
            </a:solidFill>
          </a:ln>
        </p:spPr>
      </p:cxnSp>
      <p:cxnSp>
        <p:nvCxnSpPr>
          <p:cNvPr id="41" name="Line 41"/>
          <p:cNvCxnSpPr/>
          <p:nvPr/>
        </p:nvCxnSpPr>
        <p:spPr>
          <a:xfrm>
            <a:off x="9434284" y="3800284"/>
            <a:ext cx="1466850" cy="0"/>
          </a:xfrm>
          <a:prstGeom prst="line">
            <a:avLst/>
          </a:prstGeom>
          <a:ln w="9525" cap="flat">
            <a:solidFill>
              <a:srgbClr val="E6E8F2"/>
            </a:solidFill>
          </a:ln>
        </p:spPr>
      </p:cxnSp>
      <p:cxnSp>
        <p:nvCxnSpPr>
          <p:cNvPr id="42" name="Line 42"/>
          <p:cNvCxnSpPr/>
          <p:nvPr/>
        </p:nvCxnSpPr>
        <p:spPr>
          <a:xfrm>
            <a:off x="9434284" y="3671697"/>
            <a:ext cx="1466850" cy="0"/>
          </a:xfrm>
          <a:prstGeom prst="line">
            <a:avLst/>
          </a:prstGeom>
          <a:ln w="9525" cap="flat">
            <a:solidFill>
              <a:srgbClr val="E6E8F2"/>
            </a:solidFill>
          </a:ln>
        </p:spPr>
      </p:cxnSp>
      <p:cxnSp>
        <p:nvCxnSpPr>
          <p:cNvPr id="43" name="Line 43"/>
          <p:cNvCxnSpPr/>
          <p:nvPr/>
        </p:nvCxnSpPr>
        <p:spPr>
          <a:xfrm>
            <a:off x="9434284" y="3543110"/>
            <a:ext cx="1466850" cy="0"/>
          </a:xfrm>
          <a:prstGeom prst="line">
            <a:avLst/>
          </a:prstGeom>
          <a:ln w="9525" cap="flat">
            <a:solidFill>
              <a:srgbClr val="E6E8F2"/>
            </a:solidFill>
          </a:ln>
        </p:spPr>
      </p:cxnSp>
      <p:cxnSp>
        <p:nvCxnSpPr>
          <p:cNvPr id="44" name="Line 44"/>
          <p:cNvCxnSpPr/>
          <p:nvPr/>
        </p:nvCxnSpPr>
        <p:spPr>
          <a:xfrm>
            <a:off x="9434284" y="3414522"/>
            <a:ext cx="1466850" cy="0"/>
          </a:xfrm>
          <a:prstGeom prst="line">
            <a:avLst/>
          </a:prstGeom>
          <a:ln w="9525" cap="flat">
            <a:solidFill>
              <a:srgbClr val="E6E8F2"/>
            </a:solidFill>
          </a:ln>
        </p:spPr>
      </p:cxnSp>
      <p:cxnSp>
        <p:nvCxnSpPr>
          <p:cNvPr id="45" name="Line 45"/>
          <p:cNvCxnSpPr/>
          <p:nvPr/>
        </p:nvCxnSpPr>
        <p:spPr>
          <a:xfrm>
            <a:off x="9434284" y="3285934"/>
            <a:ext cx="1466850" cy="0"/>
          </a:xfrm>
          <a:prstGeom prst="line">
            <a:avLst/>
          </a:prstGeom>
          <a:ln w="9525" cap="flat">
            <a:solidFill>
              <a:srgbClr val="E6E8F2"/>
            </a:solidFill>
          </a:ln>
        </p:spPr>
      </p:cxnSp>
      <p:cxnSp>
        <p:nvCxnSpPr>
          <p:cNvPr id="46" name="Line 46"/>
          <p:cNvCxnSpPr/>
          <p:nvPr/>
        </p:nvCxnSpPr>
        <p:spPr>
          <a:xfrm>
            <a:off x="9434284" y="3157347"/>
            <a:ext cx="1466850" cy="0"/>
          </a:xfrm>
          <a:prstGeom prst="line">
            <a:avLst/>
          </a:prstGeom>
          <a:ln w="9525" cap="flat">
            <a:solidFill>
              <a:srgbClr val="E6E8F2"/>
            </a:solidFill>
          </a:ln>
        </p:spPr>
      </p:cxnSp>
      <p:cxnSp>
        <p:nvCxnSpPr>
          <p:cNvPr id="47" name="Line 47"/>
          <p:cNvCxnSpPr/>
          <p:nvPr/>
        </p:nvCxnSpPr>
        <p:spPr>
          <a:xfrm>
            <a:off x="9434284" y="3028760"/>
            <a:ext cx="1466850" cy="0"/>
          </a:xfrm>
          <a:prstGeom prst="line">
            <a:avLst/>
          </a:prstGeom>
          <a:ln w="9525" cap="flat">
            <a:solidFill>
              <a:srgbClr val="E6E8F2"/>
            </a:solidFill>
          </a:ln>
        </p:spPr>
      </p:cxnSp>
      <p:cxnSp>
        <p:nvCxnSpPr>
          <p:cNvPr id="48" name="Line 48"/>
          <p:cNvCxnSpPr/>
          <p:nvPr/>
        </p:nvCxnSpPr>
        <p:spPr>
          <a:xfrm>
            <a:off x="9434284" y="2900172"/>
            <a:ext cx="1466850" cy="0"/>
          </a:xfrm>
          <a:prstGeom prst="line">
            <a:avLst/>
          </a:prstGeom>
          <a:ln w="9525" cap="flat">
            <a:solidFill>
              <a:srgbClr val="E6E8F2"/>
            </a:solidFill>
          </a:ln>
        </p:spPr>
      </p:cxnSp>
      <p:cxnSp>
        <p:nvCxnSpPr>
          <p:cNvPr id="49" name="Line 49"/>
          <p:cNvCxnSpPr/>
          <p:nvPr/>
        </p:nvCxnSpPr>
        <p:spPr>
          <a:xfrm>
            <a:off x="10167709" y="2900172"/>
            <a:ext cx="0" cy="1543050"/>
          </a:xfrm>
          <a:prstGeom prst="line">
            <a:avLst/>
          </a:prstGeom>
          <a:ln w="19050" cap="flat">
            <a:solidFill>
              <a:srgbClr val="5F6272"/>
            </a:solidFill>
          </a:ln>
        </p:spPr>
      </p:cxnSp>
      <p:cxnSp>
        <p:nvCxnSpPr>
          <p:cNvPr id="50" name="Line 50"/>
          <p:cNvCxnSpPr/>
          <p:nvPr/>
        </p:nvCxnSpPr>
        <p:spPr>
          <a:xfrm>
            <a:off x="9434284" y="3928872"/>
            <a:ext cx="1466850" cy="0"/>
          </a:xfrm>
          <a:prstGeom prst="line">
            <a:avLst/>
          </a:prstGeom>
          <a:ln w="19050" cap="flat">
            <a:solidFill>
              <a:srgbClr val="5F6272"/>
            </a:solidFill>
          </a:ln>
        </p:spPr>
      </p:cxnSp>
      <p:sp>
        <p:nvSpPr>
          <p:cNvPr id="51" name="Shape 51"/>
          <p:cNvSpPr txBox="1"/>
          <p:nvPr/>
        </p:nvSpPr>
        <p:spPr>
          <a:xfrm>
            <a:off x="9159964" y="44622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9526676" y="44622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3" name="Shape 53"/>
          <p:cNvSpPr txBox="1"/>
          <p:nvPr/>
        </p:nvSpPr>
        <p:spPr>
          <a:xfrm>
            <a:off x="9893389" y="44622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4" name="Shape 54"/>
          <p:cNvSpPr txBox="1"/>
          <p:nvPr/>
        </p:nvSpPr>
        <p:spPr>
          <a:xfrm>
            <a:off x="10260101" y="44622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5" name="Shape 55"/>
          <p:cNvSpPr txBox="1"/>
          <p:nvPr/>
        </p:nvSpPr>
        <p:spPr>
          <a:xfrm>
            <a:off x="10626814" y="44622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6" name="Shape 56"/>
          <p:cNvSpPr txBox="1"/>
          <p:nvPr/>
        </p:nvSpPr>
        <p:spPr>
          <a:xfrm>
            <a:off x="8867356" y="43517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7" name="Shape 57"/>
          <p:cNvSpPr txBox="1"/>
          <p:nvPr/>
        </p:nvSpPr>
        <p:spPr>
          <a:xfrm>
            <a:off x="8867356" y="409460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8" name="Shape 58"/>
          <p:cNvSpPr txBox="1"/>
          <p:nvPr/>
        </p:nvSpPr>
        <p:spPr>
          <a:xfrm>
            <a:off x="8867356" y="383743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9" name="Shape 59"/>
          <p:cNvSpPr txBox="1"/>
          <p:nvPr/>
        </p:nvSpPr>
        <p:spPr>
          <a:xfrm>
            <a:off x="8867356" y="358025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0" name="Shape 60"/>
          <p:cNvSpPr txBox="1"/>
          <p:nvPr/>
        </p:nvSpPr>
        <p:spPr>
          <a:xfrm>
            <a:off x="8867356" y="33230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61" name="Shape 61"/>
          <p:cNvSpPr txBox="1"/>
          <p:nvPr/>
        </p:nvSpPr>
        <p:spPr>
          <a:xfrm>
            <a:off x="8867356" y="306590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2" name="Shape 62"/>
          <p:cNvSpPr txBox="1"/>
          <p:nvPr/>
        </p:nvSpPr>
        <p:spPr>
          <a:xfrm>
            <a:off x="8867356" y="280873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63" name="Line 63"/>
          <p:cNvCxnSpPr/>
          <p:nvPr/>
        </p:nvCxnSpPr>
        <p:spPr>
          <a:xfrm flipV="1">
            <a:off x="9837668" y="2900172"/>
            <a:ext cx="440055" cy="1543050"/>
          </a:xfrm>
          <a:prstGeom prst="line">
            <a:avLst/>
          </a:prstGeom>
          <a:ln w="38100" cap="rnd">
            <a:solidFill>
              <a:srgbClr val="16171D"/>
            </a:solidFill>
          </a:ln>
        </p:spPr>
      </p:cxnSp>
      <p:sp>
        <p:nvSpPr>
          <p:cNvPr id="64" name="Shape 64"/>
          <p:cNvSpPr/>
          <p:nvPr/>
        </p:nvSpPr>
        <p:spPr>
          <a:xfrm>
            <a:off x="10115321" y="323354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5" name="Shape 65"/>
          <p:cNvSpPr txBox="1"/>
          <p:nvPr/>
        </p:nvSpPr>
        <p:spPr>
          <a:xfrm>
            <a:off x="10253434" y="3038284"/>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(0, 5)</a:t>
            </a:r>
            <a:endParaRPr lang="en-US" sz="1125" dirty="0"/>
          </a:p>
        </p:txBody>
      </p:sp>
      <p:sp>
        <p:nvSpPr>
          <p:cNvPr id="66" name="Shape 66"/>
          <p:cNvSpPr txBox="1"/>
          <p:nvPr/>
        </p:nvSpPr>
        <p:spPr>
          <a:xfrm>
            <a:off x="9110434" y="4786122"/>
            <a:ext cx="218591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one whose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 isn't 0</a:t>
            </a:r>
            <a:r>
              <a:rPr lang="en-US" sz="1575" dirty="0">
                <a:solidFill>
                  <a:srgbClr val="16171D"/>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anim calcmode="lin" valueType="num">
                                      <p:cBhvr>
                                        <p:cTn id="12" dur="500" fill="hold"/>
                                        <p:tgtEl>
                                          <p:spTgt spid="19"/>
                                        </p:tgtEl>
                                        <p:attrNameLst>
                                          <p:attrName>ppt_x</p:attrName>
                                        </p:attrNameLst>
                                      </p:cBhvr>
                                      <p:tavLst>
                                        <p:tav tm="0">
                                          <p:val>
                                            <p:strVal val="#ppt_x"/>
                                          </p:val>
                                        </p:tav>
                                        <p:tav tm="100000">
                                          <p:val>
                                            <p:strVal val="#ppt_x"/>
                                          </p:val>
                                        </p:tav>
                                      </p:tavLst>
                                    </p:anim>
                                    <p:anim calcmode="lin" valueType="num">
                                      <p:cBhvr>
                                        <p:cTn id="13"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anim calcmode="lin" valueType="num">
                                      <p:cBhvr>
                                        <p:cTn id="19" dur="500" fill="hold"/>
                                        <p:tgtEl>
                                          <p:spTgt spid="23"/>
                                        </p:tgtEl>
                                        <p:attrNameLst>
                                          <p:attrName>ppt_x</p:attrName>
                                        </p:attrNameLst>
                                      </p:cBhvr>
                                      <p:tavLst>
                                        <p:tav tm="0">
                                          <p:val>
                                            <p:strVal val="#ppt_x"/>
                                          </p:val>
                                        </p:tav>
                                        <p:tav tm="100000">
                                          <p:val>
                                            <p:strVal val="#ppt_x"/>
                                          </p:val>
                                        </p:tav>
                                      </p:tavLst>
                                    </p:anim>
                                    <p:anim calcmode="lin" valueType="num">
                                      <p:cBhvr>
                                        <p:cTn id="20"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66"/>
                                        </p:tgtEl>
                                        <p:attrNameLst>
                                          <p:attrName>style.visibility</p:attrName>
                                        </p:attrNameLst>
                                      </p:cBhvr>
                                      <p:to>
                                        <p:strVal val="visible"/>
                                      </p:to>
                                    </p:set>
                                    <p:animEffect transition="in" filter="fade">
                                      <p:cBhvr>
                                        <p:cTn id="25" dur="500"/>
                                        <p:tgtEl>
                                          <p:spTgt spid="66"/>
                                        </p:tgtEl>
                                      </p:cBhvr>
                                    </p:animEffect>
                                    <p:anim calcmode="lin" valueType="num">
                                      <p:cBhvr>
                                        <p:cTn id="26" dur="500" fill="hold"/>
                                        <p:tgtEl>
                                          <p:spTgt spid="66"/>
                                        </p:tgtEl>
                                        <p:attrNameLst>
                                          <p:attrName>ppt_x</p:attrName>
                                        </p:attrNameLst>
                                      </p:cBhvr>
                                      <p:tavLst>
                                        <p:tav tm="0">
                                          <p:val>
                                            <p:strVal val="#ppt_x"/>
                                          </p:val>
                                        </p:tav>
                                        <p:tav tm="100000">
                                          <p:val>
                                            <p:strVal val="#ppt_x"/>
                                          </p:val>
                                        </p:tav>
                                      </p:tavLst>
                                    </p:anim>
                                    <p:anim calcmode="lin" valueType="num">
                                      <p:cBhvr>
                                        <p:cTn id="27" dur="500" fill="hold"/>
                                        <p:tgtEl>
                                          <p:spTgt spid="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Slopes of Linear Relationships · SE p. 321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Parallel, perpendicular, or neither to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4</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− 3</a:t>
            </a:r>
            <a:r>
              <a:rPr lang="en-US" sz="3450" dirty="0" b="1">
                <a:solidFill>
                  <a:srgbClr val="16171D"/>
                </a:solidFill>
                <a:latin typeface="Segoe UI"/>
                <a:cs typeface="Segoe UI"/>
              </a:rPr>
              <a:t xml:space="preserve">?</a:t>
            </a:r>
            <a:endParaRPr lang="en-US" sz="3450" dirty="0"/>
          </a:p>
        </p:txBody>
      </p:sp>
      <p:sp>
        <p:nvSpPr>
          <p:cNvPr id="16" name="Shape 16"/>
          <p:cNvSpPr txBox="1"/>
          <p:nvPr/>
        </p:nvSpPr>
        <p:spPr>
          <a:xfrm>
            <a:off x="685800" y="2144268"/>
            <a:ext cx="3479698" cy="319201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a:t>
            </a:r>
            <a:endParaRPr lang="en-US" sz="2100" dirty="0"/>
          </a:p>
        </p:txBody>
      </p:sp>
      <p:sp>
        <p:nvSpPr>
          <p:cNvPr id="5" name="Shape 5"/>
          <p:cNvSpPr txBox="1"/>
          <p:nvPr/>
        </p:nvSpPr>
        <p:spPr>
          <a:xfrm>
            <a:off x="895350" y="278587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6" name="Shape 6"/>
          <p:cNvSpPr txBox="1"/>
          <p:nvPr/>
        </p:nvSpPr>
        <p:spPr>
          <a:xfrm>
            <a:off x="2038350" y="278587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y</a:t>
            </a:r>
            <a:endParaRPr lang="en-US" sz="1650" dirty="0"/>
          </a:p>
        </p:txBody>
      </p:sp>
      <p:sp>
        <p:nvSpPr>
          <p:cNvPr id="7" name="Shape 7"/>
          <p:cNvSpPr txBox="1"/>
          <p:nvPr/>
        </p:nvSpPr>
        <p:spPr>
          <a:xfrm>
            <a:off x="895350" y="318363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−2.5</a:t>
            </a:r>
            <a:endParaRPr lang="en-US" sz="1650" dirty="0"/>
          </a:p>
        </p:txBody>
      </p:sp>
      <p:sp>
        <p:nvSpPr>
          <p:cNvPr id="8" name="Shape 8"/>
          <p:cNvSpPr txBox="1"/>
          <p:nvPr/>
        </p:nvSpPr>
        <p:spPr>
          <a:xfrm>
            <a:off x="2038350" y="318363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−6</a:t>
            </a:r>
            <a:endParaRPr lang="en-US" sz="1650" dirty="0"/>
          </a:p>
        </p:txBody>
      </p:sp>
      <p:sp>
        <p:nvSpPr>
          <p:cNvPr id="9" name="Shape 9"/>
          <p:cNvSpPr txBox="1"/>
          <p:nvPr/>
        </p:nvSpPr>
        <p:spPr>
          <a:xfrm>
            <a:off x="895350" y="358140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0" name="Shape 10"/>
          <p:cNvSpPr txBox="1"/>
          <p:nvPr/>
        </p:nvSpPr>
        <p:spPr>
          <a:xfrm>
            <a:off x="2038350" y="358140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11" name="Shape 11"/>
          <p:cNvSpPr txBox="1"/>
          <p:nvPr/>
        </p:nvSpPr>
        <p:spPr>
          <a:xfrm>
            <a:off x="895350" y="397916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0.5</a:t>
            </a:r>
            <a:endParaRPr lang="en-US" sz="1650" dirty="0"/>
          </a:p>
        </p:txBody>
      </p:sp>
      <p:sp>
        <p:nvSpPr>
          <p:cNvPr id="12" name="Shape 12"/>
          <p:cNvSpPr txBox="1"/>
          <p:nvPr/>
        </p:nvSpPr>
        <p:spPr>
          <a:xfrm>
            <a:off x="2038350" y="397916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6</a:t>
            </a:r>
            <a:endParaRPr lang="en-US" sz="1650" dirty="0"/>
          </a:p>
        </p:txBody>
      </p:sp>
      <p:sp>
        <p:nvSpPr>
          <p:cNvPr id="13" name="Shape 13"/>
          <p:cNvSpPr txBox="1"/>
          <p:nvPr/>
        </p:nvSpPr>
        <p:spPr>
          <a:xfrm>
            <a:off x="895350" y="437692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14" name="Shape 14"/>
          <p:cNvSpPr txBox="1"/>
          <p:nvPr/>
        </p:nvSpPr>
        <p:spPr>
          <a:xfrm>
            <a:off x="2038350" y="437692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16</a:t>
            </a:r>
            <a:endParaRPr lang="en-US" sz="1650" dirty="0"/>
          </a:p>
        </p:txBody>
      </p:sp>
      <p:sp>
        <p:nvSpPr>
          <p:cNvPr id="15" name="Shape 15"/>
          <p:cNvSpPr txBox="1"/>
          <p:nvPr/>
        </p:nvSpPr>
        <p:spPr>
          <a:xfrm>
            <a:off x="895350" y="4869942"/>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4: </a:t>
            </a:r>
            <a:r>
              <a:rPr lang="en-US" sz="1575" dirty="0" b="1">
                <a:solidFill>
                  <a:srgbClr val="16171D"/>
                </a:solidFill>
                <a:latin typeface="Segoe UI"/>
                <a:cs typeface="Segoe UI"/>
              </a:rPr>
              <a:t xml:space="preserve">parallel</a:t>
            </a:r>
            <a:r>
              <a:rPr lang="en-US" sz="1575" dirty="0">
                <a:solidFill>
                  <a:srgbClr val="16171D"/>
                </a:solidFill>
                <a:latin typeface="Segoe UI"/>
                <a:cs typeface="Segoe UI"/>
              </a:rPr>
              <a:t xml:space="preserve">.</a:t>
            </a:r>
            <a:endParaRPr lang="en-US" sz="1575" dirty="0"/>
          </a:p>
        </p:txBody>
      </p:sp>
      <p:sp>
        <p:nvSpPr>
          <p:cNvPr id="20" name="Shape 20"/>
          <p:cNvSpPr txBox="1"/>
          <p:nvPr/>
        </p:nvSpPr>
        <p:spPr>
          <a:xfrm>
            <a:off x="4355998" y="2144268"/>
            <a:ext cx="34796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7" name="Shape 17"/>
          <p:cNvSpPr txBox="1"/>
          <p:nvPr/>
        </p:nvSpPr>
        <p:spPr>
          <a:xfrm>
            <a:off x="4565548"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a:t>
            </a:r>
            <a:endParaRPr lang="en-US" sz="2100" dirty="0"/>
          </a:p>
        </p:txBody>
      </p:sp>
      <p:sp>
        <p:nvSpPr>
          <p:cNvPr id="18" name="Shape 18"/>
          <p:cNvSpPr txBox="1"/>
          <p:nvPr/>
        </p:nvSpPr>
        <p:spPr>
          <a:xfrm>
            <a:off x="4565548" y="2785872"/>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An elevator descends 4 feet every second.</a:t>
            </a:r>
            <a:endParaRPr lang="en-US" sz="1575" dirty="0"/>
          </a:p>
        </p:txBody>
      </p:sp>
      <p:sp>
        <p:nvSpPr>
          <p:cNvPr id="19" name="Shape 19"/>
          <p:cNvSpPr txBox="1"/>
          <p:nvPr/>
        </p:nvSpPr>
        <p:spPr>
          <a:xfrm>
            <a:off x="4565548" y="3416046"/>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−4: </a:t>
            </a:r>
            <a:r>
              <a:rPr lang="en-US" sz="1575" dirty="0" b="1">
                <a:solidFill>
                  <a:srgbClr val="16171D"/>
                </a:solidFill>
                <a:latin typeface="Segoe UI"/>
                <a:cs typeface="Segoe UI"/>
              </a:rPr>
              <a:t xml:space="preserve">neither</a:t>
            </a:r>
            <a:r>
              <a:rPr lang="en-US" sz="1575" dirty="0">
                <a:solidFill>
                  <a:srgbClr val="16171D"/>
                </a:solidFill>
                <a:latin typeface="Segoe UI"/>
                <a:cs typeface="Segoe UI"/>
              </a:rPr>
              <a:t xml:space="preserve">.</a:t>
            </a:r>
            <a:endParaRPr lang="en-US" sz="1575" dirty="0"/>
          </a:p>
        </p:txBody>
      </p:sp>
      <p:sp>
        <p:nvSpPr>
          <p:cNvPr id="24" name="Shape 24"/>
          <p:cNvSpPr txBox="1"/>
          <p:nvPr/>
        </p:nvSpPr>
        <p:spPr>
          <a:xfrm>
            <a:off x="8026197" y="2144268"/>
            <a:ext cx="34796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1" name="Shape 21"/>
          <p:cNvSpPr txBox="1"/>
          <p:nvPr/>
        </p:nvSpPr>
        <p:spPr>
          <a:xfrm>
            <a:off x="8235747"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a:t>
            </a:r>
            <a:endParaRPr lang="en-US" sz="2100" dirty="0"/>
          </a:p>
        </p:txBody>
      </p:sp>
      <p:sp>
        <p:nvSpPr>
          <p:cNvPr id="22" name="Shape 22"/>
          <p:cNvSpPr txBox="1"/>
          <p:nvPr/>
        </p:nvSpPr>
        <p:spPr>
          <a:xfrm>
            <a:off x="8235747" y="2785872"/>
            <a:ext cx="30605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¼</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23" name="Shape 23"/>
          <p:cNvSpPr txBox="1"/>
          <p:nvPr/>
        </p:nvSpPr>
        <p:spPr>
          <a:xfrm>
            <a:off x="8235747" y="3290316"/>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¼: </a:t>
            </a:r>
            <a:r>
              <a:rPr lang="en-US" sz="1575" dirty="0" b="1">
                <a:solidFill>
                  <a:srgbClr val="16171D"/>
                </a:solidFill>
                <a:latin typeface="Segoe UI"/>
                <a:cs typeface="Segoe UI"/>
              </a:rPr>
              <a:t xml:space="preserve">neither</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4 · ¼ = 1</a:t>
            </a:r>
            <a:r>
              <a:rPr lang="en-US" sz="1575" dirty="0">
                <a:solidFill>
                  <a:srgbClr val="16171D"/>
                </a:solidFill>
                <a:latin typeface="Segoe UI"/>
                <a:cs typeface="Segoe UI"/>
              </a:rPr>
              <a:t xml:space="preserve">, not −1.</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anim calcmode="lin" valueType="num">
                                      <p:cBhvr>
                                        <p:cTn id="12" dur="500" fill="hold"/>
                                        <p:tgtEl>
                                          <p:spTgt spid="19"/>
                                        </p:tgtEl>
                                        <p:attrNameLst>
                                          <p:attrName>ppt_x</p:attrName>
                                        </p:attrNameLst>
                                      </p:cBhvr>
                                      <p:tavLst>
                                        <p:tav tm="0">
                                          <p:val>
                                            <p:strVal val="#ppt_x"/>
                                          </p:val>
                                        </p:tav>
                                        <p:tav tm="100000">
                                          <p:val>
                                            <p:strVal val="#ppt_x"/>
                                          </p:val>
                                        </p:tav>
                                      </p:tavLst>
                                    </p:anim>
                                    <p:anim calcmode="lin" valueType="num">
                                      <p:cBhvr>
                                        <p:cTn id="13"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anim calcmode="lin" valueType="num">
                                      <p:cBhvr>
                                        <p:cTn id="19" dur="500" fill="hold"/>
                                        <p:tgtEl>
                                          <p:spTgt spid="23"/>
                                        </p:tgtEl>
                                        <p:attrNameLst>
                                          <p:attrName>ppt_x</p:attrName>
                                        </p:attrNameLst>
                                      </p:cBhvr>
                                      <p:tavLst>
                                        <p:tav tm="0">
                                          <p:val>
                                            <p:strVal val="#ppt_x"/>
                                          </p:val>
                                        </p:tav>
                                        <p:tav tm="100000">
                                          <p:val>
                                            <p:strVal val="#ppt_x"/>
                                          </p:val>
                                        </p:tav>
                                      </p:tavLst>
                                    </p:anim>
                                    <p:anim calcmode="lin" valueType="num">
                                      <p:cBhvr>
                                        <p:cTn id="20"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Slopes of Linear Relationships · SE p. 321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Parallel, perpendicular, or neither to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4</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− 3</a:t>
            </a:r>
            <a:r>
              <a:rPr lang="en-US" sz="3450" dirty="0" b="1">
                <a:solidFill>
                  <a:srgbClr val="16171D"/>
                </a:solidFill>
                <a:latin typeface="Segoe UI"/>
                <a:cs typeface="Segoe UI"/>
              </a:rPr>
              <a:t xml:space="preserve">?</a:t>
            </a:r>
            <a:endParaRPr lang="en-US" sz="3450" dirty="0"/>
          </a:p>
        </p:txBody>
      </p:sp>
      <p:sp>
        <p:nvSpPr>
          <p:cNvPr id="54" name="Shape 54"/>
          <p:cNvSpPr txBox="1"/>
          <p:nvPr/>
        </p:nvSpPr>
        <p:spPr>
          <a:xfrm>
            <a:off x="685800" y="2144268"/>
            <a:ext cx="3479698" cy="406069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a:t>
            </a:r>
            <a:endParaRPr lang="en-US" sz="2100" dirty="0"/>
          </a:p>
        </p:txBody>
      </p:sp>
      <p:sp>
        <p:nvSpPr>
          <p:cNvPr id="5" name="Shape 5"/>
          <p:cNvSpPr/>
          <p:nvPr/>
        </p:nvSpPr>
        <p:spPr>
          <a:xfrm>
            <a:off x="895350" y="2785872"/>
            <a:ext cx="2857500" cy="2857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 name="Line 6"/>
          <p:cNvCxnSpPr/>
          <p:nvPr/>
        </p:nvCxnSpPr>
        <p:spPr>
          <a:xfrm>
            <a:off x="1219200" y="2900172"/>
            <a:ext cx="0" cy="2495550"/>
          </a:xfrm>
          <a:prstGeom prst="line">
            <a:avLst/>
          </a:prstGeom>
          <a:ln w="9525" cap="flat">
            <a:solidFill>
              <a:srgbClr val="E6E8F2"/>
            </a:solidFill>
          </a:ln>
        </p:spPr>
      </p:cxnSp>
      <p:cxnSp>
        <p:nvCxnSpPr>
          <p:cNvPr id="7" name="Line 7"/>
          <p:cNvCxnSpPr/>
          <p:nvPr/>
        </p:nvCxnSpPr>
        <p:spPr>
          <a:xfrm>
            <a:off x="1370409" y="2900172"/>
            <a:ext cx="0" cy="2495550"/>
          </a:xfrm>
          <a:prstGeom prst="line">
            <a:avLst/>
          </a:prstGeom>
          <a:ln w="9525" cap="flat">
            <a:solidFill>
              <a:srgbClr val="E6E8F2"/>
            </a:solidFill>
          </a:ln>
        </p:spPr>
      </p:cxnSp>
      <p:cxnSp>
        <p:nvCxnSpPr>
          <p:cNvPr id="8" name="Line 8"/>
          <p:cNvCxnSpPr/>
          <p:nvPr/>
        </p:nvCxnSpPr>
        <p:spPr>
          <a:xfrm>
            <a:off x="1521619" y="2900172"/>
            <a:ext cx="0" cy="2495550"/>
          </a:xfrm>
          <a:prstGeom prst="line">
            <a:avLst/>
          </a:prstGeom>
          <a:ln w="9525" cap="flat">
            <a:solidFill>
              <a:srgbClr val="E6E8F2"/>
            </a:solidFill>
          </a:ln>
        </p:spPr>
      </p:cxnSp>
      <p:cxnSp>
        <p:nvCxnSpPr>
          <p:cNvPr id="9" name="Line 9"/>
          <p:cNvCxnSpPr/>
          <p:nvPr/>
        </p:nvCxnSpPr>
        <p:spPr>
          <a:xfrm>
            <a:off x="1672828" y="2900172"/>
            <a:ext cx="0" cy="2495550"/>
          </a:xfrm>
          <a:prstGeom prst="line">
            <a:avLst/>
          </a:prstGeom>
          <a:ln w="9525" cap="flat">
            <a:solidFill>
              <a:srgbClr val="E6E8F2"/>
            </a:solidFill>
          </a:ln>
        </p:spPr>
      </p:cxnSp>
      <p:cxnSp>
        <p:nvCxnSpPr>
          <p:cNvPr id="10" name="Line 10"/>
          <p:cNvCxnSpPr/>
          <p:nvPr/>
        </p:nvCxnSpPr>
        <p:spPr>
          <a:xfrm>
            <a:off x="1824037" y="2900172"/>
            <a:ext cx="0" cy="2495550"/>
          </a:xfrm>
          <a:prstGeom prst="line">
            <a:avLst/>
          </a:prstGeom>
          <a:ln w="9525" cap="flat">
            <a:solidFill>
              <a:srgbClr val="E6E8F2"/>
            </a:solidFill>
          </a:ln>
        </p:spPr>
      </p:cxnSp>
      <p:cxnSp>
        <p:nvCxnSpPr>
          <p:cNvPr id="11" name="Line 11"/>
          <p:cNvCxnSpPr/>
          <p:nvPr/>
        </p:nvCxnSpPr>
        <p:spPr>
          <a:xfrm>
            <a:off x="1975247" y="2900172"/>
            <a:ext cx="0" cy="2495550"/>
          </a:xfrm>
          <a:prstGeom prst="line">
            <a:avLst/>
          </a:prstGeom>
          <a:ln w="9525" cap="flat">
            <a:solidFill>
              <a:srgbClr val="E6E8F2"/>
            </a:solidFill>
          </a:ln>
        </p:spPr>
      </p:cxnSp>
      <p:cxnSp>
        <p:nvCxnSpPr>
          <p:cNvPr id="12" name="Line 12"/>
          <p:cNvCxnSpPr/>
          <p:nvPr/>
        </p:nvCxnSpPr>
        <p:spPr>
          <a:xfrm>
            <a:off x="2126456" y="2900172"/>
            <a:ext cx="0" cy="2495550"/>
          </a:xfrm>
          <a:prstGeom prst="line">
            <a:avLst/>
          </a:prstGeom>
          <a:ln w="9525" cap="flat">
            <a:solidFill>
              <a:srgbClr val="E6E8F2"/>
            </a:solidFill>
          </a:ln>
        </p:spPr>
      </p:cxnSp>
      <p:cxnSp>
        <p:nvCxnSpPr>
          <p:cNvPr id="13" name="Line 13"/>
          <p:cNvCxnSpPr/>
          <p:nvPr/>
        </p:nvCxnSpPr>
        <p:spPr>
          <a:xfrm>
            <a:off x="2277666" y="2900172"/>
            <a:ext cx="0" cy="2495550"/>
          </a:xfrm>
          <a:prstGeom prst="line">
            <a:avLst/>
          </a:prstGeom>
          <a:ln w="9525" cap="flat">
            <a:solidFill>
              <a:srgbClr val="E6E8F2"/>
            </a:solidFill>
          </a:ln>
        </p:spPr>
      </p:cxnSp>
      <p:cxnSp>
        <p:nvCxnSpPr>
          <p:cNvPr id="14" name="Line 14"/>
          <p:cNvCxnSpPr/>
          <p:nvPr/>
        </p:nvCxnSpPr>
        <p:spPr>
          <a:xfrm>
            <a:off x="2428875" y="2900172"/>
            <a:ext cx="0" cy="2495550"/>
          </a:xfrm>
          <a:prstGeom prst="line">
            <a:avLst/>
          </a:prstGeom>
          <a:ln w="9525" cap="flat">
            <a:solidFill>
              <a:srgbClr val="E6E8F2"/>
            </a:solidFill>
          </a:ln>
        </p:spPr>
      </p:cxnSp>
      <p:cxnSp>
        <p:nvCxnSpPr>
          <p:cNvPr id="15" name="Line 15"/>
          <p:cNvCxnSpPr/>
          <p:nvPr/>
        </p:nvCxnSpPr>
        <p:spPr>
          <a:xfrm>
            <a:off x="2580084" y="2900172"/>
            <a:ext cx="0" cy="2495550"/>
          </a:xfrm>
          <a:prstGeom prst="line">
            <a:avLst/>
          </a:prstGeom>
          <a:ln w="9525" cap="flat">
            <a:solidFill>
              <a:srgbClr val="E6E8F2"/>
            </a:solidFill>
          </a:ln>
        </p:spPr>
      </p:cxnSp>
      <p:cxnSp>
        <p:nvCxnSpPr>
          <p:cNvPr id="16" name="Line 16"/>
          <p:cNvCxnSpPr/>
          <p:nvPr/>
        </p:nvCxnSpPr>
        <p:spPr>
          <a:xfrm>
            <a:off x="2731294" y="2900172"/>
            <a:ext cx="0" cy="2495550"/>
          </a:xfrm>
          <a:prstGeom prst="line">
            <a:avLst/>
          </a:prstGeom>
          <a:ln w="9525" cap="flat">
            <a:solidFill>
              <a:srgbClr val="E6E8F2"/>
            </a:solidFill>
          </a:ln>
        </p:spPr>
      </p:cxnSp>
      <p:cxnSp>
        <p:nvCxnSpPr>
          <p:cNvPr id="17" name="Line 17"/>
          <p:cNvCxnSpPr/>
          <p:nvPr/>
        </p:nvCxnSpPr>
        <p:spPr>
          <a:xfrm>
            <a:off x="2882503" y="2900172"/>
            <a:ext cx="0" cy="2495550"/>
          </a:xfrm>
          <a:prstGeom prst="line">
            <a:avLst/>
          </a:prstGeom>
          <a:ln w="9525" cap="flat">
            <a:solidFill>
              <a:srgbClr val="E6E8F2"/>
            </a:solidFill>
          </a:ln>
        </p:spPr>
      </p:cxnSp>
      <p:cxnSp>
        <p:nvCxnSpPr>
          <p:cNvPr id="18" name="Line 18"/>
          <p:cNvCxnSpPr/>
          <p:nvPr/>
        </p:nvCxnSpPr>
        <p:spPr>
          <a:xfrm>
            <a:off x="3033712" y="2900172"/>
            <a:ext cx="0" cy="2495550"/>
          </a:xfrm>
          <a:prstGeom prst="line">
            <a:avLst/>
          </a:prstGeom>
          <a:ln w="9525" cap="flat">
            <a:solidFill>
              <a:srgbClr val="E6E8F2"/>
            </a:solidFill>
          </a:ln>
        </p:spPr>
      </p:cxnSp>
      <p:cxnSp>
        <p:nvCxnSpPr>
          <p:cNvPr id="19" name="Line 19"/>
          <p:cNvCxnSpPr/>
          <p:nvPr/>
        </p:nvCxnSpPr>
        <p:spPr>
          <a:xfrm>
            <a:off x="3184922" y="2900172"/>
            <a:ext cx="0" cy="2495550"/>
          </a:xfrm>
          <a:prstGeom prst="line">
            <a:avLst/>
          </a:prstGeom>
          <a:ln w="9525" cap="flat">
            <a:solidFill>
              <a:srgbClr val="E6E8F2"/>
            </a:solidFill>
          </a:ln>
        </p:spPr>
      </p:cxnSp>
      <p:cxnSp>
        <p:nvCxnSpPr>
          <p:cNvPr id="20" name="Line 20"/>
          <p:cNvCxnSpPr/>
          <p:nvPr/>
        </p:nvCxnSpPr>
        <p:spPr>
          <a:xfrm>
            <a:off x="3336131" y="2900172"/>
            <a:ext cx="0" cy="2495550"/>
          </a:xfrm>
          <a:prstGeom prst="line">
            <a:avLst/>
          </a:prstGeom>
          <a:ln w="9525" cap="flat">
            <a:solidFill>
              <a:srgbClr val="E6E8F2"/>
            </a:solidFill>
          </a:ln>
        </p:spPr>
      </p:cxnSp>
      <p:cxnSp>
        <p:nvCxnSpPr>
          <p:cNvPr id="21" name="Line 21"/>
          <p:cNvCxnSpPr/>
          <p:nvPr/>
        </p:nvCxnSpPr>
        <p:spPr>
          <a:xfrm>
            <a:off x="3487341" y="2900172"/>
            <a:ext cx="0" cy="2495550"/>
          </a:xfrm>
          <a:prstGeom prst="line">
            <a:avLst/>
          </a:prstGeom>
          <a:ln w="9525" cap="flat">
            <a:solidFill>
              <a:srgbClr val="E6E8F2"/>
            </a:solidFill>
          </a:ln>
        </p:spPr>
      </p:cxnSp>
      <p:cxnSp>
        <p:nvCxnSpPr>
          <p:cNvPr id="22" name="Line 22"/>
          <p:cNvCxnSpPr/>
          <p:nvPr/>
        </p:nvCxnSpPr>
        <p:spPr>
          <a:xfrm>
            <a:off x="3638550" y="2900172"/>
            <a:ext cx="0" cy="2495550"/>
          </a:xfrm>
          <a:prstGeom prst="line">
            <a:avLst/>
          </a:prstGeom>
          <a:ln w="9525" cap="flat">
            <a:solidFill>
              <a:srgbClr val="E6E8F2"/>
            </a:solidFill>
          </a:ln>
        </p:spPr>
      </p:cxnSp>
      <p:cxnSp>
        <p:nvCxnSpPr>
          <p:cNvPr id="23" name="Line 23"/>
          <p:cNvCxnSpPr/>
          <p:nvPr/>
        </p:nvCxnSpPr>
        <p:spPr>
          <a:xfrm>
            <a:off x="1219200" y="5395722"/>
            <a:ext cx="2419350" cy="0"/>
          </a:xfrm>
          <a:prstGeom prst="line">
            <a:avLst/>
          </a:prstGeom>
          <a:ln w="9525" cap="flat">
            <a:solidFill>
              <a:srgbClr val="E6E8F2"/>
            </a:solidFill>
          </a:ln>
        </p:spPr>
      </p:cxnSp>
      <p:cxnSp>
        <p:nvCxnSpPr>
          <p:cNvPr id="24" name="Line 24"/>
          <p:cNvCxnSpPr/>
          <p:nvPr/>
        </p:nvCxnSpPr>
        <p:spPr>
          <a:xfrm>
            <a:off x="1219200" y="5239750"/>
            <a:ext cx="2419350" cy="0"/>
          </a:xfrm>
          <a:prstGeom prst="line">
            <a:avLst/>
          </a:prstGeom>
          <a:ln w="9525" cap="flat">
            <a:solidFill>
              <a:srgbClr val="E6E8F2"/>
            </a:solidFill>
          </a:ln>
        </p:spPr>
      </p:cxnSp>
      <p:cxnSp>
        <p:nvCxnSpPr>
          <p:cNvPr id="25" name="Line 25"/>
          <p:cNvCxnSpPr/>
          <p:nvPr/>
        </p:nvCxnSpPr>
        <p:spPr>
          <a:xfrm>
            <a:off x="1219200" y="5083778"/>
            <a:ext cx="2419350" cy="0"/>
          </a:xfrm>
          <a:prstGeom prst="line">
            <a:avLst/>
          </a:prstGeom>
          <a:ln w="9525" cap="flat">
            <a:solidFill>
              <a:srgbClr val="E6E8F2"/>
            </a:solidFill>
          </a:ln>
        </p:spPr>
      </p:cxnSp>
      <p:cxnSp>
        <p:nvCxnSpPr>
          <p:cNvPr id="26" name="Line 26"/>
          <p:cNvCxnSpPr/>
          <p:nvPr/>
        </p:nvCxnSpPr>
        <p:spPr>
          <a:xfrm>
            <a:off x="1219200" y="4927806"/>
            <a:ext cx="2419350" cy="0"/>
          </a:xfrm>
          <a:prstGeom prst="line">
            <a:avLst/>
          </a:prstGeom>
          <a:ln w="9525" cap="flat">
            <a:solidFill>
              <a:srgbClr val="E6E8F2"/>
            </a:solidFill>
          </a:ln>
        </p:spPr>
      </p:cxnSp>
      <p:cxnSp>
        <p:nvCxnSpPr>
          <p:cNvPr id="27" name="Line 27"/>
          <p:cNvCxnSpPr/>
          <p:nvPr/>
        </p:nvCxnSpPr>
        <p:spPr>
          <a:xfrm>
            <a:off x="1219200" y="4771834"/>
            <a:ext cx="2419350" cy="0"/>
          </a:xfrm>
          <a:prstGeom prst="line">
            <a:avLst/>
          </a:prstGeom>
          <a:ln w="9525" cap="flat">
            <a:solidFill>
              <a:srgbClr val="E6E8F2"/>
            </a:solidFill>
          </a:ln>
        </p:spPr>
      </p:cxnSp>
      <p:cxnSp>
        <p:nvCxnSpPr>
          <p:cNvPr id="28" name="Line 28"/>
          <p:cNvCxnSpPr/>
          <p:nvPr/>
        </p:nvCxnSpPr>
        <p:spPr>
          <a:xfrm>
            <a:off x="1219200" y="4615863"/>
            <a:ext cx="2419350" cy="0"/>
          </a:xfrm>
          <a:prstGeom prst="line">
            <a:avLst/>
          </a:prstGeom>
          <a:ln w="9525" cap="flat">
            <a:solidFill>
              <a:srgbClr val="E6E8F2"/>
            </a:solidFill>
          </a:ln>
        </p:spPr>
      </p:cxnSp>
      <p:cxnSp>
        <p:nvCxnSpPr>
          <p:cNvPr id="29" name="Line 29"/>
          <p:cNvCxnSpPr/>
          <p:nvPr/>
        </p:nvCxnSpPr>
        <p:spPr>
          <a:xfrm>
            <a:off x="1219200" y="4459891"/>
            <a:ext cx="2419350" cy="0"/>
          </a:xfrm>
          <a:prstGeom prst="line">
            <a:avLst/>
          </a:prstGeom>
          <a:ln w="9525" cap="flat">
            <a:solidFill>
              <a:srgbClr val="E6E8F2"/>
            </a:solidFill>
          </a:ln>
        </p:spPr>
      </p:cxnSp>
      <p:cxnSp>
        <p:nvCxnSpPr>
          <p:cNvPr id="30" name="Line 30"/>
          <p:cNvCxnSpPr/>
          <p:nvPr/>
        </p:nvCxnSpPr>
        <p:spPr>
          <a:xfrm>
            <a:off x="1219200" y="4303919"/>
            <a:ext cx="2419350" cy="0"/>
          </a:xfrm>
          <a:prstGeom prst="line">
            <a:avLst/>
          </a:prstGeom>
          <a:ln w="9525" cap="flat">
            <a:solidFill>
              <a:srgbClr val="E6E8F2"/>
            </a:solidFill>
          </a:ln>
        </p:spPr>
      </p:cxnSp>
      <p:cxnSp>
        <p:nvCxnSpPr>
          <p:cNvPr id="31" name="Line 31"/>
          <p:cNvCxnSpPr/>
          <p:nvPr/>
        </p:nvCxnSpPr>
        <p:spPr>
          <a:xfrm>
            <a:off x="1219200" y="4147947"/>
            <a:ext cx="2419350" cy="0"/>
          </a:xfrm>
          <a:prstGeom prst="line">
            <a:avLst/>
          </a:prstGeom>
          <a:ln w="9525" cap="flat">
            <a:solidFill>
              <a:srgbClr val="E6E8F2"/>
            </a:solidFill>
          </a:ln>
        </p:spPr>
      </p:cxnSp>
      <p:cxnSp>
        <p:nvCxnSpPr>
          <p:cNvPr id="32" name="Line 32"/>
          <p:cNvCxnSpPr/>
          <p:nvPr/>
        </p:nvCxnSpPr>
        <p:spPr>
          <a:xfrm>
            <a:off x="1219200" y="3991975"/>
            <a:ext cx="2419350" cy="0"/>
          </a:xfrm>
          <a:prstGeom prst="line">
            <a:avLst/>
          </a:prstGeom>
          <a:ln w="9525" cap="flat">
            <a:solidFill>
              <a:srgbClr val="E6E8F2"/>
            </a:solidFill>
          </a:ln>
        </p:spPr>
      </p:cxnSp>
      <p:cxnSp>
        <p:nvCxnSpPr>
          <p:cNvPr id="33" name="Line 33"/>
          <p:cNvCxnSpPr/>
          <p:nvPr/>
        </p:nvCxnSpPr>
        <p:spPr>
          <a:xfrm>
            <a:off x="1219200" y="3836003"/>
            <a:ext cx="2419350" cy="0"/>
          </a:xfrm>
          <a:prstGeom prst="line">
            <a:avLst/>
          </a:prstGeom>
          <a:ln w="9525" cap="flat">
            <a:solidFill>
              <a:srgbClr val="E6E8F2"/>
            </a:solidFill>
          </a:ln>
        </p:spPr>
      </p:cxnSp>
      <p:cxnSp>
        <p:nvCxnSpPr>
          <p:cNvPr id="34" name="Line 34"/>
          <p:cNvCxnSpPr/>
          <p:nvPr/>
        </p:nvCxnSpPr>
        <p:spPr>
          <a:xfrm>
            <a:off x="1219200" y="3680031"/>
            <a:ext cx="2419350" cy="0"/>
          </a:xfrm>
          <a:prstGeom prst="line">
            <a:avLst/>
          </a:prstGeom>
          <a:ln w="9525" cap="flat">
            <a:solidFill>
              <a:srgbClr val="E6E8F2"/>
            </a:solidFill>
          </a:ln>
        </p:spPr>
      </p:cxnSp>
      <p:cxnSp>
        <p:nvCxnSpPr>
          <p:cNvPr id="35" name="Line 35"/>
          <p:cNvCxnSpPr/>
          <p:nvPr/>
        </p:nvCxnSpPr>
        <p:spPr>
          <a:xfrm>
            <a:off x="1219200" y="3524059"/>
            <a:ext cx="2419350" cy="0"/>
          </a:xfrm>
          <a:prstGeom prst="line">
            <a:avLst/>
          </a:prstGeom>
          <a:ln w="9525" cap="flat">
            <a:solidFill>
              <a:srgbClr val="E6E8F2"/>
            </a:solidFill>
          </a:ln>
        </p:spPr>
      </p:cxnSp>
      <p:cxnSp>
        <p:nvCxnSpPr>
          <p:cNvPr id="36" name="Line 36"/>
          <p:cNvCxnSpPr/>
          <p:nvPr/>
        </p:nvCxnSpPr>
        <p:spPr>
          <a:xfrm>
            <a:off x="1219200" y="3368088"/>
            <a:ext cx="2419350" cy="0"/>
          </a:xfrm>
          <a:prstGeom prst="line">
            <a:avLst/>
          </a:prstGeom>
          <a:ln w="9525" cap="flat">
            <a:solidFill>
              <a:srgbClr val="E6E8F2"/>
            </a:solidFill>
          </a:ln>
        </p:spPr>
      </p:cxnSp>
      <p:cxnSp>
        <p:nvCxnSpPr>
          <p:cNvPr id="37" name="Line 37"/>
          <p:cNvCxnSpPr/>
          <p:nvPr/>
        </p:nvCxnSpPr>
        <p:spPr>
          <a:xfrm>
            <a:off x="1219200" y="3212116"/>
            <a:ext cx="2419350" cy="0"/>
          </a:xfrm>
          <a:prstGeom prst="line">
            <a:avLst/>
          </a:prstGeom>
          <a:ln w="9525" cap="flat">
            <a:solidFill>
              <a:srgbClr val="E6E8F2"/>
            </a:solidFill>
          </a:ln>
        </p:spPr>
      </p:cxnSp>
      <p:cxnSp>
        <p:nvCxnSpPr>
          <p:cNvPr id="38" name="Line 38"/>
          <p:cNvCxnSpPr/>
          <p:nvPr/>
        </p:nvCxnSpPr>
        <p:spPr>
          <a:xfrm>
            <a:off x="1219200" y="3056144"/>
            <a:ext cx="2419350" cy="0"/>
          </a:xfrm>
          <a:prstGeom prst="line">
            <a:avLst/>
          </a:prstGeom>
          <a:ln w="9525" cap="flat">
            <a:solidFill>
              <a:srgbClr val="E6E8F2"/>
            </a:solidFill>
          </a:ln>
        </p:spPr>
      </p:cxnSp>
      <p:cxnSp>
        <p:nvCxnSpPr>
          <p:cNvPr id="39" name="Line 39"/>
          <p:cNvCxnSpPr/>
          <p:nvPr/>
        </p:nvCxnSpPr>
        <p:spPr>
          <a:xfrm>
            <a:off x="1219200" y="2900172"/>
            <a:ext cx="2419350" cy="0"/>
          </a:xfrm>
          <a:prstGeom prst="line">
            <a:avLst/>
          </a:prstGeom>
          <a:ln w="9525" cap="flat">
            <a:solidFill>
              <a:srgbClr val="E6E8F2"/>
            </a:solidFill>
          </a:ln>
        </p:spPr>
      </p:cxnSp>
      <p:cxnSp>
        <p:nvCxnSpPr>
          <p:cNvPr id="40" name="Line 40"/>
          <p:cNvCxnSpPr/>
          <p:nvPr/>
        </p:nvCxnSpPr>
        <p:spPr>
          <a:xfrm>
            <a:off x="2428875" y="2900172"/>
            <a:ext cx="0" cy="2495550"/>
          </a:xfrm>
          <a:prstGeom prst="line">
            <a:avLst/>
          </a:prstGeom>
          <a:ln w="19050" cap="flat">
            <a:solidFill>
              <a:srgbClr val="5F6272"/>
            </a:solidFill>
          </a:ln>
        </p:spPr>
      </p:cxnSp>
      <p:cxnSp>
        <p:nvCxnSpPr>
          <p:cNvPr id="41" name="Line 41"/>
          <p:cNvCxnSpPr/>
          <p:nvPr/>
        </p:nvCxnSpPr>
        <p:spPr>
          <a:xfrm>
            <a:off x="1219200" y="4147947"/>
            <a:ext cx="2419350" cy="0"/>
          </a:xfrm>
          <a:prstGeom prst="line">
            <a:avLst/>
          </a:prstGeom>
          <a:ln w="19050" cap="flat">
            <a:solidFill>
              <a:srgbClr val="5F6272"/>
            </a:solidFill>
          </a:ln>
        </p:spPr>
      </p:cxnSp>
      <p:sp>
        <p:nvSpPr>
          <p:cNvPr id="42" name="Shape 42"/>
          <p:cNvSpPr txBox="1"/>
          <p:nvPr/>
        </p:nvSpPr>
        <p:spPr>
          <a:xfrm>
            <a:off x="944880" y="54147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3" name="Shape 43"/>
          <p:cNvSpPr txBox="1"/>
          <p:nvPr/>
        </p:nvSpPr>
        <p:spPr>
          <a:xfrm>
            <a:off x="1549717" y="54147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2154555" y="54147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2759392" y="54147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3364230" y="54147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7" name="Shape 47"/>
          <p:cNvSpPr txBox="1"/>
          <p:nvPr/>
        </p:nvSpPr>
        <p:spPr>
          <a:xfrm>
            <a:off x="652272" y="53042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652272" y="468039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9" name="Shape 49"/>
          <p:cNvSpPr txBox="1"/>
          <p:nvPr/>
        </p:nvSpPr>
        <p:spPr>
          <a:xfrm>
            <a:off x="652272" y="405650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652272" y="343261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1" name="Shape 51"/>
          <p:cNvSpPr txBox="1"/>
          <p:nvPr/>
        </p:nvSpPr>
        <p:spPr>
          <a:xfrm>
            <a:off x="652272" y="280873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52" name="Line 52"/>
          <p:cNvCxnSpPr/>
          <p:nvPr/>
        </p:nvCxnSpPr>
        <p:spPr>
          <a:xfrm flipV="1">
            <a:off x="1219200" y="3913989"/>
            <a:ext cx="2419350" cy="623888"/>
          </a:xfrm>
          <a:prstGeom prst="line">
            <a:avLst/>
          </a:prstGeom>
          <a:ln w="38100" cap="rnd">
            <a:solidFill>
              <a:srgbClr val="16171D"/>
            </a:solidFill>
          </a:ln>
        </p:spPr>
      </p:cxnSp>
      <p:sp>
        <p:nvSpPr>
          <p:cNvPr id="53" name="Shape 53"/>
          <p:cNvSpPr txBox="1"/>
          <p:nvPr/>
        </p:nvSpPr>
        <p:spPr>
          <a:xfrm>
            <a:off x="895350" y="5738622"/>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¼: </a:t>
            </a:r>
            <a:r>
              <a:rPr lang="en-US" sz="1575" dirty="0" b="1">
                <a:solidFill>
                  <a:srgbClr val="16171D"/>
                </a:solidFill>
                <a:latin typeface="Segoe UI"/>
                <a:cs typeface="Segoe UI"/>
              </a:rPr>
              <a:t xml:space="preserve">neither</a:t>
            </a:r>
            <a:r>
              <a:rPr lang="en-US" sz="1575" dirty="0">
                <a:solidFill>
                  <a:srgbClr val="16171D"/>
                </a:solidFill>
                <a:latin typeface="Segoe UI"/>
                <a:cs typeface="Segoe UI"/>
              </a:rPr>
              <a:t xml:space="preserve">.</a:t>
            </a:r>
            <a:endParaRPr lang="en-US" sz="1575" dirty="0"/>
          </a:p>
        </p:txBody>
      </p:sp>
      <p:sp>
        <p:nvSpPr>
          <p:cNvPr id="67" name="Shape 67"/>
          <p:cNvSpPr txBox="1"/>
          <p:nvPr/>
        </p:nvSpPr>
        <p:spPr>
          <a:xfrm>
            <a:off x="4355998" y="2144268"/>
            <a:ext cx="3479698" cy="319201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4565548"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a:t>
            </a:r>
            <a:endParaRPr lang="en-US" sz="2100" dirty="0"/>
          </a:p>
        </p:txBody>
      </p:sp>
      <p:sp>
        <p:nvSpPr>
          <p:cNvPr id="56" name="Shape 56"/>
          <p:cNvSpPr txBox="1"/>
          <p:nvPr/>
        </p:nvSpPr>
        <p:spPr>
          <a:xfrm>
            <a:off x="4565548" y="278587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57" name="Shape 57"/>
          <p:cNvSpPr txBox="1"/>
          <p:nvPr/>
        </p:nvSpPr>
        <p:spPr>
          <a:xfrm>
            <a:off x="5708548" y="278587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y</a:t>
            </a:r>
            <a:endParaRPr lang="en-US" sz="1650" dirty="0"/>
          </a:p>
        </p:txBody>
      </p:sp>
      <p:sp>
        <p:nvSpPr>
          <p:cNvPr id="58" name="Shape 58"/>
          <p:cNvSpPr txBox="1"/>
          <p:nvPr/>
        </p:nvSpPr>
        <p:spPr>
          <a:xfrm>
            <a:off x="4565548" y="318363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59" name="Shape 59"/>
          <p:cNvSpPr txBox="1"/>
          <p:nvPr/>
        </p:nvSpPr>
        <p:spPr>
          <a:xfrm>
            <a:off x="5708548" y="318363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60" name="Shape 60"/>
          <p:cNvSpPr txBox="1"/>
          <p:nvPr/>
        </p:nvSpPr>
        <p:spPr>
          <a:xfrm>
            <a:off x="4565548" y="358140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61" name="Shape 61"/>
          <p:cNvSpPr txBox="1"/>
          <p:nvPr/>
        </p:nvSpPr>
        <p:spPr>
          <a:xfrm>
            <a:off x="5708548" y="358140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62" name="Shape 62"/>
          <p:cNvSpPr txBox="1"/>
          <p:nvPr/>
        </p:nvSpPr>
        <p:spPr>
          <a:xfrm>
            <a:off x="4565548" y="397916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63" name="Shape 63"/>
          <p:cNvSpPr txBox="1"/>
          <p:nvPr/>
        </p:nvSpPr>
        <p:spPr>
          <a:xfrm>
            <a:off x="5708548" y="397916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1.5</a:t>
            </a:r>
            <a:endParaRPr lang="en-US" sz="1650" dirty="0"/>
          </a:p>
        </p:txBody>
      </p:sp>
      <p:sp>
        <p:nvSpPr>
          <p:cNvPr id="64" name="Shape 64"/>
          <p:cNvSpPr txBox="1"/>
          <p:nvPr/>
        </p:nvSpPr>
        <p:spPr>
          <a:xfrm>
            <a:off x="4565548" y="437692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a:t>
            </a:r>
            <a:endParaRPr lang="en-US" sz="1650" dirty="0"/>
          </a:p>
        </p:txBody>
      </p:sp>
      <p:sp>
        <p:nvSpPr>
          <p:cNvPr id="65" name="Shape 65"/>
          <p:cNvSpPr txBox="1"/>
          <p:nvPr/>
        </p:nvSpPr>
        <p:spPr>
          <a:xfrm>
            <a:off x="5708548" y="437692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66" name="Shape 66"/>
          <p:cNvSpPr txBox="1"/>
          <p:nvPr/>
        </p:nvSpPr>
        <p:spPr>
          <a:xfrm>
            <a:off x="4565548" y="4869942"/>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−¼: </a:t>
            </a:r>
            <a:r>
              <a:rPr lang="en-US" sz="1575" dirty="0" b="1">
                <a:solidFill>
                  <a:srgbClr val="16171D"/>
                </a:solidFill>
                <a:latin typeface="Segoe UI"/>
                <a:cs typeface="Segoe UI"/>
              </a:rPr>
              <a:t xml:space="preserve">perpendicular</a:t>
            </a:r>
            <a:r>
              <a:rPr lang="en-US" sz="1575" dirty="0">
                <a:solidFill>
                  <a:srgbClr val="16171D"/>
                </a:solidFill>
                <a:latin typeface="Segoe UI"/>
                <a:cs typeface="Segoe UI"/>
              </a:rPr>
              <a:t xml:space="preserve">.</a:t>
            </a:r>
            <a:endParaRPr lang="en-US" sz="1575" dirty="0"/>
          </a:p>
        </p:txBody>
      </p:sp>
      <p:sp>
        <p:nvSpPr>
          <p:cNvPr id="71" name="Shape 71"/>
          <p:cNvSpPr txBox="1"/>
          <p:nvPr/>
        </p:nvSpPr>
        <p:spPr>
          <a:xfrm>
            <a:off x="8026197" y="2144268"/>
            <a:ext cx="34796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68" name="Shape 68"/>
          <p:cNvSpPr txBox="1"/>
          <p:nvPr/>
        </p:nvSpPr>
        <p:spPr>
          <a:xfrm>
            <a:off x="8235747"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t>
            </a:r>
            <a:endParaRPr lang="en-US" sz="2100" dirty="0"/>
          </a:p>
        </p:txBody>
      </p:sp>
      <p:sp>
        <p:nvSpPr>
          <p:cNvPr id="69" name="Shape 69"/>
          <p:cNvSpPr txBox="1"/>
          <p:nvPr/>
        </p:nvSpPr>
        <p:spPr>
          <a:xfrm>
            <a:off x="8235747" y="2785872"/>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For every hour Chiletso bakes, she makes 4 dozen cookies.</a:t>
            </a:r>
            <a:endParaRPr lang="en-US" sz="1575" dirty="0"/>
          </a:p>
        </p:txBody>
      </p:sp>
      <p:sp>
        <p:nvSpPr>
          <p:cNvPr id="70" name="Shape 70"/>
          <p:cNvSpPr txBox="1"/>
          <p:nvPr/>
        </p:nvSpPr>
        <p:spPr>
          <a:xfrm>
            <a:off x="8235747" y="3416046"/>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4: </a:t>
            </a:r>
            <a:r>
              <a:rPr lang="en-US" sz="1575" dirty="0" b="1">
                <a:solidFill>
                  <a:srgbClr val="16171D"/>
                </a:solidFill>
                <a:latin typeface="Segoe UI"/>
                <a:cs typeface="Segoe UI"/>
              </a:rPr>
              <a:t xml:space="preserve">parallel</a:t>
            </a:r>
            <a:r>
              <a:rPr lang="en-US" sz="1575" dirty="0">
                <a:solidFill>
                  <a:srgbClr val="16171D"/>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3"/>
                                        </p:tgtEl>
                                        <p:attrNameLst>
                                          <p:attrName>style.visibility</p:attrName>
                                        </p:attrNameLst>
                                      </p:cBhvr>
                                      <p:to>
                                        <p:strVal val="visible"/>
                                      </p:to>
                                    </p:set>
                                    <p:animEffect transition="in" filter="fade">
                                      <p:cBhvr>
                                        <p:cTn id="4" dur="500"/>
                                        <p:tgtEl>
                                          <p:spTgt spid="53"/>
                                        </p:tgtEl>
                                      </p:cBhvr>
                                    </p:animEffect>
                                    <p:anim calcmode="lin" valueType="num">
                                      <p:cBhvr>
                                        <p:cTn id="5" dur="500" fill="hold"/>
                                        <p:tgtEl>
                                          <p:spTgt spid="53"/>
                                        </p:tgtEl>
                                        <p:attrNameLst>
                                          <p:attrName>ppt_x</p:attrName>
                                        </p:attrNameLst>
                                      </p:cBhvr>
                                      <p:tavLst>
                                        <p:tav tm="0">
                                          <p:val>
                                            <p:strVal val="#ppt_x"/>
                                          </p:val>
                                        </p:tav>
                                        <p:tav tm="100000">
                                          <p:val>
                                            <p:strVal val="#ppt_x"/>
                                          </p:val>
                                        </p:tav>
                                      </p:tavLst>
                                    </p:anim>
                                    <p:anim calcmode="lin" valueType="num">
                                      <p:cBhvr>
                                        <p:cTn id="6" dur="5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fade">
                                      <p:cBhvr>
                                        <p:cTn id="11" dur="500"/>
                                        <p:tgtEl>
                                          <p:spTgt spid="66"/>
                                        </p:tgtEl>
                                      </p:cBhvr>
                                    </p:animEffect>
                                    <p:anim calcmode="lin" valueType="num">
                                      <p:cBhvr>
                                        <p:cTn id="12" dur="500" fill="hold"/>
                                        <p:tgtEl>
                                          <p:spTgt spid="66"/>
                                        </p:tgtEl>
                                        <p:attrNameLst>
                                          <p:attrName>ppt_x</p:attrName>
                                        </p:attrNameLst>
                                      </p:cBhvr>
                                      <p:tavLst>
                                        <p:tav tm="0">
                                          <p:val>
                                            <p:strVal val="#ppt_x"/>
                                          </p:val>
                                        </p:tav>
                                        <p:tav tm="100000">
                                          <p:val>
                                            <p:strVal val="#ppt_x"/>
                                          </p:val>
                                        </p:tav>
                                      </p:tavLst>
                                    </p:anim>
                                    <p:anim calcmode="lin" valueType="num">
                                      <p:cBhvr>
                                        <p:cTn id="13" dur="500" fill="hold"/>
                                        <p:tgtEl>
                                          <p:spTgt spid="6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0"/>
                                        </p:tgtEl>
                                        <p:attrNameLst>
                                          <p:attrName>style.visibility</p:attrName>
                                        </p:attrNameLst>
                                      </p:cBhvr>
                                      <p:to>
                                        <p:strVal val="visible"/>
                                      </p:to>
                                    </p:set>
                                    <p:animEffect transition="in" filter="fade">
                                      <p:cBhvr>
                                        <p:cTn id="18" dur="500"/>
                                        <p:tgtEl>
                                          <p:spTgt spid="70"/>
                                        </p:tgtEl>
                                      </p:cBhvr>
                                    </p:animEffect>
                                    <p:anim calcmode="lin" valueType="num">
                                      <p:cBhvr>
                                        <p:cTn id="19" dur="500" fill="hold"/>
                                        <p:tgtEl>
                                          <p:spTgt spid="70"/>
                                        </p:tgtEl>
                                        <p:attrNameLst>
                                          <p:attrName>ppt_x</p:attrName>
                                        </p:attrNameLst>
                                      </p:cBhvr>
                                      <p:tavLst>
                                        <p:tav tm="0">
                                          <p:val>
                                            <p:strVal val="#ppt_x"/>
                                          </p:val>
                                        </p:tav>
                                        <p:tav tm="100000">
                                          <p:val>
                                            <p:strVal val="#ppt_x"/>
                                          </p:val>
                                        </p:tav>
                                      </p:tavLst>
                                    </p:anim>
                                    <p:anim calcmode="lin" valueType="num">
                                      <p:cBhvr>
                                        <p:cTn id="20" dur="50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Comparing Tables and Graphs · SE p. 322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Recycling cardboard</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Travis County</a:t>
            </a:r>
            <a:endParaRPr lang="en-US" sz="1575" dirty="0"/>
          </a:p>
        </p:txBody>
      </p:sp>
      <p:sp>
        <p:nvSpPr>
          <p:cNvPr id="5" name="Shape 5"/>
          <p:cNvSpPr txBox="1"/>
          <p:nvPr/>
        </p:nvSpPr>
        <p:spPr>
          <a:xfrm>
            <a:off x="685800" y="2008632"/>
            <a:ext cx="1965198"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Weight (tons)</a:t>
            </a:r>
            <a:endParaRPr lang="en-US" sz="1650" dirty="0"/>
          </a:p>
        </p:txBody>
      </p:sp>
      <p:sp>
        <p:nvSpPr>
          <p:cNvPr id="6" name="Shape 6"/>
          <p:cNvSpPr txBox="1"/>
          <p:nvPr/>
        </p:nvSpPr>
        <p:spPr>
          <a:xfrm>
            <a:off x="2650998" y="2008632"/>
            <a:ext cx="16383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Payout ($)</a:t>
            </a:r>
            <a:endParaRPr lang="en-US" sz="1650" dirty="0"/>
          </a:p>
        </p:txBody>
      </p:sp>
      <p:sp>
        <p:nvSpPr>
          <p:cNvPr id="7" name="Shape 7"/>
          <p:cNvSpPr txBox="1"/>
          <p:nvPr/>
        </p:nvSpPr>
        <p:spPr>
          <a:xfrm>
            <a:off x="685800" y="2406396"/>
            <a:ext cx="1965198"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0.5</a:t>
            </a:r>
            <a:endParaRPr lang="en-US" sz="1650" dirty="0"/>
          </a:p>
        </p:txBody>
      </p:sp>
      <p:sp>
        <p:nvSpPr>
          <p:cNvPr id="8" name="Shape 8"/>
          <p:cNvSpPr txBox="1"/>
          <p:nvPr/>
        </p:nvSpPr>
        <p:spPr>
          <a:xfrm>
            <a:off x="2650998" y="2406396"/>
            <a:ext cx="16383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7.50</a:t>
            </a:r>
            <a:endParaRPr lang="en-US" sz="1650" dirty="0"/>
          </a:p>
        </p:txBody>
      </p:sp>
      <p:sp>
        <p:nvSpPr>
          <p:cNvPr id="9" name="Shape 9"/>
          <p:cNvSpPr txBox="1"/>
          <p:nvPr/>
        </p:nvSpPr>
        <p:spPr>
          <a:xfrm>
            <a:off x="685800" y="2804160"/>
            <a:ext cx="1965198"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0" name="Shape 10"/>
          <p:cNvSpPr txBox="1"/>
          <p:nvPr/>
        </p:nvSpPr>
        <p:spPr>
          <a:xfrm>
            <a:off x="2650998" y="2804160"/>
            <a:ext cx="16383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15</a:t>
            </a:r>
            <a:endParaRPr lang="en-US" sz="1650" dirty="0"/>
          </a:p>
        </p:txBody>
      </p:sp>
      <p:sp>
        <p:nvSpPr>
          <p:cNvPr id="11" name="Shape 11"/>
          <p:cNvSpPr txBox="1"/>
          <p:nvPr/>
        </p:nvSpPr>
        <p:spPr>
          <a:xfrm>
            <a:off x="685800" y="3201924"/>
            <a:ext cx="1965198"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1.5</a:t>
            </a:r>
            <a:endParaRPr lang="en-US" sz="1650" dirty="0"/>
          </a:p>
        </p:txBody>
      </p:sp>
      <p:sp>
        <p:nvSpPr>
          <p:cNvPr id="12" name="Shape 12"/>
          <p:cNvSpPr txBox="1"/>
          <p:nvPr/>
        </p:nvSpPr>
        <p:spPr>
          <a:xfrm>
            <a:off x="2650998" y="3201924"/>
            <a:ext cx="16383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22.50</a:t>
            </a:r>
            <a:endParaRPr lang="en-US" sz="1650" dirty="0"/>
          </a:p>
        </p:txBody>
      </p:sp>
      <p:sp>
        <p:nvSpPr>
          <p:cNvPr id="13" name="Shape 13"/>
          <p:cNvSpPr txBox="1"/>
          <p:nvPr/>
        </p:nvSpPr>
        <p:spPr>
          <a:xfrm>
            <a:off x="685800" y="3599688"/>
            <a:ext cx="1965198"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14" name="Shape 14"/>
          <p:cNvSpPr txBox="1"/>
          <p:nvPr/>
        </p:nvSpPr>
        <p:spPr>
          <a:xfrm>
            <a:off x="2650998" y="3599688"/>
            <a:ext cx="16383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30</a:t>
            </a:r>
            <a:endParaRPr lang="en-US" sz="1650" dirty="0"/>
          </a:p>
        </p:txBody>
      </p:sp>
      <p:sp>
        <p:nvSpPr>
          <p:cNvPr id="15" name="Shape 15"/>
          <p:cNvSpPr txBox="1"/>
          <p:nvPr/>
        </p:nvSpPr>
        <p:spPr>
          <a:xfrm>
            <a:off x="685800" y="409270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w</a:t>
            </a:r>
            <a:r>
              <a:rPr lang="en-US" sz="1575" dirty="0">
                <a:solidFill>
                  <a:srgbClr val="16171D"/>
                </a:solidFill>
                <a:latin typeface="Cambria"/>
                <a:cs typeface="Cambria"/>
              </a:rPr>
              <a:t xml:space="preserve">(0.5)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(0.5)</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w</a:t>
            </a:r>
            <a:r>
              <a:rPr lang="en-US" sz="1575" dirty="0">
                <a:solidFill>
                  <a:srgbClr val="16171D"/>
                </a:solidFill>
                <a:latin typeface="Cambria"/>
                <a:cs typeface="Cambria"/>
              </a:rPr>
              <a:t xml:space="preserve">(1)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(1)</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w</a:t>
            </a:r>
            <a:r>
              <a:rPr lang="en-US" sz="1575" dirty="0">
                <a:solidFill>
                  <a:srgbClr val="16171D"/>
                </a:solidFill>
                <a:latin typeface="Cambria"/>
                <a:cs typeface="Cambria"/>
              </a:rPr>
              <a:t xml:space="preserve">(3)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(3)</a:t>
            </a:r>
            <a:endParaRPr lang="en-US" sz="1575" dirty="0"/>
          </a:p>
        </p:txBody>
      </p:sp>
      <p:sp>
        <p:nvSpPr>
          <p:cNvPr id="16" name="Shape 16"/>
          <p:cNvSpPr txBox="1"/>
          <p:nvPr/>
        </p:nvSpPr>
        <p:spPr>
          <a:xfrm>
            <a:off x="6286348"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Hays County</a:t>
            </a:r>
            <a:endParaRPr lang="en-US" sz="1575" dirty="0"/>
          </a:p>
        </p:txBody>
      </p:sp>
      <p:sp>
        <p:nvSpPr>
          <p:cNvPr id="17" name="Shape 17"/>
          <p:cNvSpPr/>
          <p:nvPr/>
        </p:nvSpPr>
        <p:spPr>
          <a:xfrm>
            <a:off x="6286348" y="2008632"/>
            <a:ext cx="3048000" cy="2857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8" name="Line 18"/>
          <p:cNvCxnSpPr/>
          <p:nvPr/>
        </p:nvCxnSpPr>
        <p:spPr>
          <a:xfrm>
            <a:off x="6610198" y="2122932"/>
            <a:ext cx="0" cy="2495550"/>
          </a:xfrm>
          <a:prstGeom prst="line">
            <a:avLst/>
          </a:prstGeom>
          <a:ln w="9525" cap="flat">
            <a:solidFill>
              <a:srgbClr val="E6E8F2"/>
            </a:solidFill>
          </a:ln>
        </p:spPr>
      </p:cxnSp>
      <p:cxnSp>
        <p:nvCxnSpPr>
          <p:cNvPr id="19" name="Line 19"/>
          <p:cNvCxnSpPr/>
          <p:nvPr/>
        </p:nvCxnSpPr>
        <p:spPr>
          <a:xfrm>
            <a:off x="6936429" y="2122932"/>
            <a:ext cx="0" cy="2495550"/>
          </a:xfrm>
          <a:prstGeom prst="line">
            <a:avLst/>
          </a:prstGeom>
          <a:ln w="9525" cap="flat">
            <a:solidFill>
              <a:srgbClr val="E6E8F2"/>
            </a:solidFill>
          </a:ln>
        </p:spPr>
      </p:cxnSp>
      <p:cxnSp>
        <p:nvCxnSpPr>
          <p:cNvPr id="20" name="Line 20"/>
          <p:cNvCxnSpPr/>
          <p:nvPr/>
        </p:nvCxnSpPr>
        <p:spPr>
          <a:xfrm>
            <a:off x="7262660" y="2122932"/>
            <a:ext cx="0" cy="2495550"/>
          </a:xfrm>
          <a:prstGeom prst="line">
            <a:avLst/>
          </a:prstGeom>
          <a:ln w="9525" cap="flat">
            <a:solidFill>
              <a:srgbClr val="E6E8F2"/>
            </a:solidFill>
          </a:ln>
        </p:spPr>
      </p:cxnSp>
      <p:cxnSp>
        <p:nvCxnSpPr>
          <p:cNvPr id="21" name="Line 21"/>
          <p:cNvCxnSpPr/>
          <p:nvPr/>
        </p:nvCxnSpPr>
        <p:spPr>
          <a:xfrm>
            <a:off x="7588891" y="2122932"/>
            <a:ext cx="0" cy="2495550"/>
          </a:xfrm>
          <a:prstGeom prst="line">
            <a:avLst/>
          </a:prstGeom>
          <a:ln w="9525" cap="flat">
            <a:solidFill>
              <a:srgbClr val="E6E8F2"/>
            </a:solidFill>
          </a:ln>
        </p:spPr>
      </p:cxnSp>
      <p:cxnSp>
        <p:nvCxnSpPr>
          <p:cNvPr id="22" name="Line 22"/>
          <p:cNvCxnSpPr/>
          <p:nvPr/>
        </p:nvCxnSpPr>
        <p:spPr>
          <a:xfrm>
            <a:off x="7915123" y="2122932"/>
            <a:ext cx="0" cy="2495550"/>
          </a:xfrm>
          <a:prstGeom prst="line">
            <a:avLst/>
          </a:prstGeom>
          <a:ln w="9525" cap="flat">
            <a:solidFill>
              <a:srgbClr val="E6E8F2"/>
            </a:solidFill>
          </a:ln>
        </p:spPr>
      </p:cxnSp>
      <p:cxnSp>
        <p:nvCxnSpPr>
          <p:cNvPr id="23" name="Line 23"/>
          <p:cNvCxnSpPr/>
          <p:nvPr/>
        </p:nvCxnSpPr>
        <p:spPr>
          <a:xfrm>
            <a:off x="8241354" y="2122932"/>
            <a:ext cx="0" cy="2495550"/>
          </a:xfrm>
          <a:prstGeom prst="line">
            <a:avLst/>
          </a:prstGeom>
          <a:ln w="9525" cap="flat">
            <a:solidFill>
              <a:srgbClr val="E6E8F2"/>
            </a:solidFill>
          </a:ln>
        </p:spPr>
      </p:cxnSp>
      <p:cxnSp>
        <p:nvCxnSpPr>
          <p:cNvPr id="24" name="Line 24"/>
          <p:cNvCxnSpPr/>
          <p:nvPr/>
        </p:nvCxnSpPr>
        <p:spPr>
          <a:xfrm>
            <a:off x="8567585" y="2122932"/>
            <a:ext cx="0" cy="2495550"/>
          </a:xfrm>
          <a:prstGeom prst="line">
            <a:avLst/>
          </a:prstGeom>
          <a:ln w="9525" cap="flat">
            <a:solidFill>
              <a:srgbClr val="E6E8F2"/>
            </a:solidFill>
          </a:ln>
        </p:spPr>
      </p:cxnSp>
      <p:cxnSp>
        <p:nvCxnSpPr>
          <p:cNvPr id="25" name="Line 25"/>
          <p:cNvCxnSpPr/>
          <p:nvPr/>
        </p:nvCxnSpPr>
        <p:spPr>
          <a:xfrm>
            <a:off x="8893816" y="2122932"/>
            <a:ext cx="0" cy="2495550"/>
          </a:xfrm>
          <a:prstGeom prst="line">
            <a:avLst/>
          </a:prstGeom>
          <a:ln w="9525" cap="flat">
            <a:solidFill>
              <a:srgbClr val="E6E8F2"/>
            </a:solidFill>
          </a:ln>
        </p:spPr>
      </p:cxnSp>
      <p:cxnSp>
        <p:nvCxnSpPr>
          <p:cNvPr id="26" name="Line 26"/>
          <p:cNvCxnSpPr/>
          <p:nvPr/>
        </p:nvCxnSpPr>
        <p:spPr>
          <a:xfrm>
            <a:off x="9220048" y="2122932"/>
            <a:ext cx="0" cy="2495550"/>
          </a:xfrm>
          <a:prstGeom prst="line">
            <a:avLst/>
          </a:prstGeom>
          <a:ln w="9525" cap="flat">
            <a:solidFill>
              <a:srgbClr val="E6E8F2"/>
            </a:solidFill>
          </a:ln>
        </p:spPr>
      </p:cxnSp>
      <p:cxnSp>
        <p:nvCxnSpPr>
          <p:cNvPr id="27" name="Line 27"/>
          <p:cNvCxnSpPr/>
          <p:nvPr/>
        </p:nvCxnSpPr>
        <p:spPr>
          <a:xfrm>
            <a:off x="6610198" y="4618482"/>
            <a:ext cx="2609850" cy="0"/>
          </a:xfrm>
          <a:prstGeom prst="line">
            <a:avLst/>
          </a:prstGeom>
          <a:ln w="9525" cap="flat">
            <a:solidFill>
              <a:srgbClr val="E6E8F2"/>
            </a:solidFill>
          </a:ln>
        </p:spPr>
      </p:cxnSp>
      <p:cxnSp>
        <p:nvCxnSpPr>
          <p:cNvPr id="28" name="Line 28"/>
          <p:cNvCxnSpPr/>
          <p:nvPr/>
        </p:nvCxnSpPr>
        <p:spPr>
          <a:xfrm>
            <a:off x="6610198" y="4505048"/>
            <a:ext cx="2609850" cy="0"/>
          </a:xfrm>
          <a:prstGeom prst="line">
            <a:avLst/>
          </a:prstGeom>
          <a:ln w="9525" cap="flat">
            <a:solidFill>
              <a:srgbClr val="E6E8F2"/>
            </a:solidFill>
          </a:ln>
        </p:spPr>
      </p:cxnSp>
      <p:cxnSp>
        <p:nvCxnSpPr>
          <p:cNvPr id="29" name="Line 29"/>
          <p:cNvCxnSpPr/>
          <p:nvPr/>
        </p:nvCxnSpPr>
        <p:spPr>
          <a:xfrm>
            <a:off x="6610198" y="4391614"/>
            <a:ext cx="2609850" cy="0"/>
          </a:xfrm>
          <a:prstGeom prst="line">
            <a:avLst/>
          </a:prstGeom>
          <a:ln w="9525" cap="flat">
            <a:solidFill>
              <a:srgbClr val="E6E8F2"/>
            </a:solidFill>
          </a:ln>
        </p:spPr>
      </p:cxnSp>
      <p:cxnSp>
        <p:nvCxnSpPr>
          <p:cNvPr id="30" name="Line 30"/>
          <p:cNvCxnSpPr/>
          <p:nvPr/>
        </p:nvCxnSpPr>
        <p:spPr>
          <a:xfrm>
            <a:off x="6610198" y="4278180"/>
            <a:ext cx="2609850" cy="0"/>
          </a:xfrm>
          <a:prstGeom prst="line">
            <a:avLst/>
          </a:prstGeom>
          <a:ln w="9525" cap="flat">
            <a:solidFill>
              <a:srgbClr val="E6E8F2"/>
            </a:solidFill>
          </a:ln>
        </p:spPr>
      </p:cxnSp>
      <p:cxnSp>
        <p:nvCxnSpPr>
          <p:cNvPr id="31" name="Line 31"/>
          <p:cNvCxnSpPr/>
          <p:nvPr/>
        </p:nvCxnSpPr>
        <p:spPr>
          <a:xfrm>
            <a:off x="6610198" y="4164746"/>
            <a:ext cx="2609850" cy="0"/>
          </a:xfrm>
          <a:prstGeom prst="line">
            <a:avLst/>
          </a:prstGeom>
          <a:ln w="9525" cap="flat">
            <a:solidFill>
              <a:srgbClr val="E6E8F2"/>
            </a:solidFill>
          </a:ln>
        </p:spPr>
      </p:cxnSp>
      <p:cxnSp>
        <p:nvCxnSpPr>
          <p:cNvPr id="32" name="Line 32"/>
          <p:cNvCxnSpPr/>
          <p:nvPr/>
        </p:nvCxnSpPr>
        <p:spPr>
          <a:xfrm>
            <a:off x="6610198" y="4051312"/>
            <a:ext cx="2609850" cy="0"/>
          </a:xfrm>
          <a:prstGeom prst="line">
            <a:avLst/>
          </a:prstGeom>
          <a:ln w="9525" cap="flat">
            <a:solidFill>
              <a:srgbClr val="E6E8F2"/>
            </a:solidFill>
          </a:ln>
        </p:spPr>
      </p:cxnSp>
      <p:cxnSp>
        <p:nvCxnSpPr>
          <p:cNvPr id="33" name="Line 33"/>
          <p:cNvCxnSpPr/>
          <p:nvPr/>
        </p:nvCxnSpPr>
        <p:spPr>
          <a:xfrm>
            <a:off x="6610198" y="3937877"/>
            <a:ext cx="2609850" cy="0"/>
          </a:xfrm>
          <a:prstGeom prst="line">
            <a:avLst/>
          </a:prstGeom>
          <a:ln w="9525" cap="flat">
            <a:solidFill>
              <a:srgbClr val="E6E8F2"/>
            </a:solidFill>
          </a:ln>
        </p:spPr>
      </p:cxnSp>
      <p:cxnSp>
        <p:nvCxnSpPr>
          <p:cNvPr id="34" name="Line 34"/>
          <p:cNvCxnSpPr/>
          <p:nvPr/>
        </p:nvCxnSpPr>
        <p:spPr>
          <a:xfrm>
            <a:off x="6610198" y="3824443"/>
            <a:ext cx="2609850" cy="0"/>
          </a:xfrm>
          <a:prstGeom prst="line">
            <a:avLst/>
          </a:prstGeom>
          <a:ln w="9525" cap="flat">
            <a:solidFill>
              <a:srgbClr val="E6E8F2"/>
            </a:solidFill>
          </a:ln>
        </p:spPr>
      </p:cxnSp>
      <p:cxnSp>
        <p:nvCxnSpPr>
          <p:cNvPr id="35" name="Line 35"/>
          <p:cNvCxnSpPr/>
          <p:nvPr/>
        </p:nvCxnSpPr>
        <p:spPr>
          <a:xfrm>
            <a:off x="6610198" y="3711009"/>
            <a:ext cx="2609850" cy="0"/>
          </a:xfrm>
          <a:prstGeom prst="line">
            <a:avLst/>
          </a:prstGeom>
          <a:ln w="9525" cap="flat">
            <a:solidFill>
              <a:srgbClr val="E6E8F2"/>
            </a:solidFill>
          </a:ln>
        </p:spPr>
      </p:cxnSp>
      <p:cxnSp>
        <p:nvCxnSpPr>
          <p:cNvPr id="36" name="Line 36"/>
          <p:cNvCxnSpPr/>
          <p:nvPr/>
        </p:nvCxnSpPr>
        <p:spPr>
          <a:xfrm>
            <a:off x="6610198" y="3597575"/>
            <a:ext cx="2609850" cy="0"/>
          </a:xfrm>
          <a:prstGeom prst="line">
            <a:avLst/>
          </a:prstGeom>
          <a:ln w="9525" cap="flat">
            <a:solidFill>
              <a:srgbClr val="E6E8F2"/>
            </a:solidFill>
          </a:ln>
        </p:spPr>
      </p:cxnSp>
      <p:cxnSp>
        <p:nvCxnSpPr>
          <p:cNvPr id="37" name="Line 37"/>
          <p:cNvCxnSpPr/>
          <p:nvPr/>
        </p:nvCxnSpPr>
        <p:spPr>
          <a:xfrm>
            <a:off x="6610198" y="3484141"/>
            <a:ext cx="2609850" cy="0"/>
          </a:xfrm>
          <a:prstGeom prst="line">
            <a:avLst/>
          </a:prstGeom>
          <a:ln w="9525" cap="flat">
            <a:solidFill>
              <a:srgbClr val="E6E8F2"/>
            </a:solidFill>
          </a:ln>
        </p:spPr>
      </p:cxnSp>
      <p:cxnSp>
        <p:nvCxnSpPr>
          <p:cNvPr id="38" name="Line 38"/>
          <p:cNvCxnSpPr/>
          <p:nvPr/>
        </p:nvCxnSpPr>
        <p:spPr>
          <a:xfrm>
            <a:off x="6610198" y="3370707"/>
            <a:ext cx="2609850" cy="0"/>
          </a:xfrm>
          <a:prstGeom prst="line">
            <a:avLst/>
          </a:prstGeom>
          <a:ln w="9525" cap="flat">
            <a:solidFill>
              <a:srgbClr val="E6E8F2"/>
            </a:solidFill>
          </a:ln>
        </p:spPr>
      </p:cxnSp>
      <p:cxnSp>
        <p:nvCxnSpPr>
          <p:cNvPr id="39" name="Line 39"/>
          <p:cNvCxnSpPr/>
          <p:nvPr/>
        </p:nvCxnSpPr>
        <p:spPr>
          <a:xfrm>
            <a:off x="6610198" y="3257273"/>
            <a:ext cx="2609850" cy="0"/>
          </a:xfrm>
          <a:prstGeom prst="line">
            <a:avLst/>
          </a:prstGeom>
          <a:ln w="9525" cap="flat">
            <a:solidFill>
              <a:srgbClr val="E6E8F2"/>
            </a:solidFill>
          </a:ln>
        </p:spPr>
      </p:cxnSp>
      <p:cxnSp>
        <p:nvCxnSpPr>
          <p:cNvPr id="40" name="Line 40"/>
          <p:cNvCxnSpPr/>
          <p:nvPr/>
        </p:nvCxnSpPr>
        <p:spPr>
          <a:xfrm>
            <a:off x="6610198" y="3143839"/>
            <a:ext cx="2609850" cy="0"/>
          </a:xfrm>
          <a:prstGeom prst="line">
            <a:avLst/>
          </a:prstGeom>
          <a:ln w="9525" cap="flat">
            <a:solidFill>
              <a:srgbClr val="E6E8F2"/>
            </a:solidFill>
          </a:ln>
        </p:spPr>
      </p:cxnSp>
      <p:cxnSp>
        <p:nvCxnSpPr>
          <p:cNvPr id="41" name="Line 41"/>
          <p:cNvCxnSpPr/>
          <p:nvPr/>
        </p:nvCxnSpPr>
        <p:spPr>
          <a:xfrm>
            <a:off x="6610198" y="3030405"/>
            <a:ext cx="2609850" cy="0"/>
          </a:xfrm>
          <a:prstGeom prst="line">
            <a:avLst/>
          </a:prstGeom>
          <a:ln w="9525" cap="flat">
            <a:solidFill>
              <a:srgbClr val="E6E8F2"/>
            </a:solidFill>
          </a:ln>
        </p:spPr>
      </p:cxnSp>
      <p:cxnSp>
        <p:nvCxnSpPr>
          <p:cNvPr id="42" name="Line 42"/>
          <p:cNvCxnSpPr/>
          <p:nvPr/>
        </p:nvCxnSpPr>
        <p:spPr>
          <a:xfrm>
            <a:off x="6610198" y="2916971"/>
            <a:ext cx="2609850" cy="0"/>
          </a:xfrm>
          <a:prstGeom prst="line">
            <a:avLst/>
          </a:prstGeom>
          <a:ln w="9525" cap="flat">
            <a:solidFill>
              <a:srgbClr val="E6E8F2"/>
            </a:solidFill>
          </a:ln>
        </p:spPr>
      </p:cxnSp>
      <p:cxnSp>
        <p:nvCxnSpPr>
          <p:cNvPr id="43" name="Line 43"/>
          <p:cNvCxnSpPr/>
          <p:nvPr/>
        </p:nvCxnSpPr>
        <p:spPr>
          <a:xfrm>
            <a:off x="6610198" y="2803537"/>
            <a:ext cx="2609850" cy="0"/>
          </a:xfrm>
          <a:prstGeom prst="line">
            <a:avLst/>
          </a:prstGeom>
          <a:ln w="9525" cap="flat">
            <a:solidFill>
              <a:srgbClr val="E6E8F2"/>
            </a:solidFill>
          </a:ln>
        </p:spPr>
      </p:cxnSp>
      <p:cxnSp>
        <p:nvCxnSpPr>
          <p:cNvPr id="44" name="Line 44"/>
          <p:cNvCxnSpPr/>
          <p:nvPr/>
        </p:nvCxnSpPr>
        <p:spPr>
          <a:xfrm>
            <a:off x="6610198" y="2690102"/>
            <a:ext cx="2609850" cy="0"/>
          </a:xfrm>
          <a:prstGeom prst="line">
            <a:avLst/>
          </a:prstGeom>
          <a:ln w="9525" cap="flat">
            <a:solidFill>
              <a:srgbClr val="E6E8F2"/>
            </a:solidFill>
          </a:ln>
        </p:spPr>
      </p:cxnSp>
      <p:cxnSp>
        <p:nvCxnSpPr>
          <p:cNvPr id="45" name="Line 45"/>
          <p:cNvCxnSpPr/>
          <p:nvPr/>
        </p:nvCxnSpPr>
        <p:spPr>
          <a:xfrm>
            <a:off x="6610198" y="2576668"/>
            <a:ext cx="2609850" cy="0"/>
          </a:xfrm>
          <a:prstGeom prst="line">
            <a:avLst/>
          </a:prstGeom>
          <a:ln w="9525" cap="flat">
            <a:solidFill>
              <a:srgbClr val="E6E8F2"/>
            </a:solidFill>
          </a:ln>
        </p:spPr>
      </p:cxnSp>
      <p:cxnSp>
        <p:nvCxnSpPr>
          <p:cNvPr id="46" name="Line 46"/>
          <p:cNvCxnSpPr/>
          <p:nvPr/>
        </p:nvCxnSpPr>
        <p:spPr>
          <a:xfrm>
            <a:off x="6610198" y="2463234"/>
            <a:ext cx="2609850" cy="0"/>
          </a:xfrm>
          <a:prstGeom prst="line">
            <a:avLst/>
          </a:prstGeom>
          <a:ln w="9525" cap="flat">
            <a:solidFill>
              <a:srgbClr val="E6E8F2"/>
            </a:solidFill>
          </a:ln>
        </p:spPr>
      </p:cxnSp>
      <p:cxnSp>
        <p:nvCxnSpPr>
          <p:cNvPr id="47" name="Line 47"/>
          <p:cNvCxnSpPr/>
          <p:nvPr/>
        </p:nvCxnSpPr>
        <p:spPr>
          <a:xfrm>
            <a:off x="6610198" y="2349800"/>
            <a:ext cx="2609850" cy="0"/>
          </a:xfrm>
          <a:prstGeom prst="line">
            <a:avLst/>
          </a:prstGeom>
          <a:ln w="9525" cap="flat">
            <a:solidFill>
              <a:srgbClr val="E6E8F2"/>
            </a:solidFill>
          </a:ln>
        </p:spPr>
      </p:cxnSp>
      <p:cxnSp>
        <p:nvCxnSpPr>
          <p:cNvPr id="48" name="Line 48"/>
          <p:cNvCxnSpPr/>
          <p:nvPr/>
        </p:nvCxnSpPr>
        <p:spPr>
          <a:xfrm>
            <a:off x="6610198" y="2236366"/>
            <a:ext cx="2609850" cy="0"/>
          </a:xfrm>
          <a:prstGeom prst="line">
            <a:avLst/>
          </a:prstGeom>
          <a:ln w="9525" cap="flat">
            <a:solidFill>
              <a:srgbClr val="E6E8F2"/>
            </a:solidFill>
          </a:ln>
        </p:spPr>
      </p:cxnSp>
      <p:cxnSp>
        <p:nvCxnSpPr>
          <p:cNvPr id="49" name="Line 49"/>
          <p:cNvCxnSpPr/>
          <p:nvPr/>
        </p:nvCxnSpPr>
        <p:spPr>
          <a:xfrm>
            <a:off x="6610198" y="2122932"/>
            <a:ext cx="2609850" cy="0"/>
          </a:xfrm>
          <a:prstGeom prst="line">
            <a:avLst/>
          </a:prstGeom>
          <a:ln w="9525" cap="flat">
            <a:solidFill>
              <a:srgbClr val="E6E8F2"/>
            </a:solidFill>
          </a:ln>
        </p:spPr>
      </p:cxnSp>
      <p:cxnSp>
        <p:nvCxnSpPr>
          <p:cNvPr id="50" name="Line 50"/>
          <p:cNvCxnSpPr/>
          <p:nvPr/>
        </p:nvCxnSpPr>
        <p:spPr>
          <a:xfrm>
            <a:off x="6610198" y="2122932"/>
            <a:ext cx="0" cy="2495550"/>
          </a:xfrm>
          <a:prstGeom prst="line">
            <a:avLst/>
          </a:prstGeom>
          <a:ln w="19050" cap="flat">
            <a:solidFill>
              <a:srgbClr val="5F6272"/>
            </a:solidFill>
          </a:ln>
        </p:spPr>
      </p:cxnSp>
      <p:cxnSp>
        <p:nvCxnSpPr>
          <p:cNvPr id="51" name="Line 51"/>
          <p:cNvCxnSpPr/>
          <p:nvPr/>
        </p:nvCxnSpPr>
        <p:spPr>
          <a:xfrm>
            <a:off x="6610198" y="4618482"/>
            <a:ext cx="2609850" cy="0"/>
          </a:xfrm>
          <a:prstGeom prst="line">
            <a:avLst/>
          </a:prstGeom>
          <a:ln w="19050" cap="flat">
            <a:solidFill>
              <a:srgbClr val="5F6272"/>
            </a:solidFill>
          </a:ln>
        </p:spPr>
      </p:cxnSp>
      <p:sp>
        <p:nvSpPr>
          <p:cNvPr id="52" name="Shape 52"/>
          <p:cNvSpPr txBox="1"/>
          <p:nvPr/>
        </p:nvSpPr>
        <p:spPr>
          <a:xfrm>
            <a:off x="6335878"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698834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54" name="Shape 54"/>
          <p:cNvSpPr txBox="1"/>
          <p:nvPr/>
        </p:nvSpPr>
        <p:spPr>
          <a:xfrm>
            <a:off x="7640803"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5" name="Shape 55"/>
          <p:cNvSpPr txBox="1"/>
          <p:nvPr/>
        </p:nvSpPr>
        <p:spPr>
          <a:xfrm>
            <a:off x="8293265"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56" name="Shape 56"/>
          <p:cNvSpPr txBox="1"/>
          <p:nvPr/>
        </p:nvSpPr>
        <p:spPr>
          <a:xfrm>
            <a:off x="8945728"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7" name="Shape 57"/>
          <p:cNvSpPr txBox="1"/>
          <p:nvPr/>
        </p:nvSpPr>
        <p:spPr>
          <a:xfrm>
            <a:off x="6043270" y="45270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8" name="Shape 58"/>
          <p:cNvSpPr txBox="1"/>
          <p:nvPr/>
        </p:nvSpPr>
        <p:spPr>
          <a:xfrm>
            <a:off x="6043270" y="39598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59" name="Shape 59"/>
          <p:cNvSpPr txBox="1"/>
          <p:nvPr/>
        </p:nvSpPr>
        <p:spPr>
          <a:xfrm>
            <a:off x="6043270" y="339270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0" name="Shape 60"/>
          <p:cNvSpPr txBox="1"/>
          <p:nvPr/>
        </p:nvSpPr>
        <p:spPr>
          <a:xfrm>
            <a:off x="6043270" y="28255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15</a:t>
            </a:r>
            <a:endParaRPr lang="en-US" sz="975" dirty="0"/>
          </a:p>
        </p:txBody>
      </p:sp>
      <p:sp>
        <p:nvSpPr>
          <p:cNvPr id="61" name="Shape 61"/>
          <p:cNvSpPr txBox="1"/>
          <p:nvPr/>
        </p:nvSpPr>
        <p:spPr>
          <a:xfrm>
            <a:off x="6043270" y="22583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62" name="Line 62"/>
          <p:cNvCxnSpPr/>
          <p:nvPr/>
        </p:nvCxnSpPr>
        <p:spPr>
          <a:xfrm flipV="1">
            <a:off x="6610198" y="2122932"/>
            <a:ext cx="717709" cy="2495550"/>
          </a:xfrm>
          <a:prstGeom prst="line">
            <a:avLst/>
          </a:prstGeom>
          <a:ln w="38100" cap="rnd">
            <a:solidFill>
              <a:srgbClr val="16171D"/>
            </a:solidFill>
          </a:ln>
        </p:spPr>
      </p:cxnSp>
      <p:sp>
        <p:nvSpPr>
          <p:cNvPr id="63" name="Shape 63"/>
          <p:cNvSpPr/>
          <p:nvPr/>
        </p:nvSpPr>
        <p:spPr>
          <a:xfrm>
            <a:off x="7210273" y="229741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txBox="1"/>
          <p:nvPr/>
        </p:nvSpPr>
        <p:spPr>
          <a:xfrm>
            <a:off x="7348385" y="210215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(1, 20)</a:t>
            </a:r>
            <a:endParaRPr lang="en-US" sz="1125" dirty="0"/>
          </a:p>
        </p:txBody>
      </p:sp>
      <p:sp>
        <p:nvSpPr>
          <p:cNvPr id="65" name="Shape 65"/>
          <p:cNvSpPr txBox="1"/>
          <p:nvPr/>
        </p:nvSpPr>
        <p:spPr>
          <a:xfrm>
            <a:off x="6286348" y="49613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Both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-intercepts are 0: $0 for 0 tons.</a:t>
            </a:r>
            <a:endParaRPr lang="en-US" sz="1575" dirty="0"/>
          </a:p>
        </p:txBody>
      </p:sp>
      <p:sp>
        <p:nvSpPr>
          <p:cNvPr id="66" name="Shape 66"/>
          <p:cNvSpPr txBox="1"/>
          <p:nvPr/>
        </p:nvSpPr>
        <p:spPr>
          <a:xfrm>
            <a:off x="6286348" y="5351526"/>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Hays County</a:t>
            </a:r>
            <a:r>
              <a:rPr lang="en-US" sz="1575" dirty="0">
                <a:solidFill>
                  <a:srgbClr val="16171D"/>
                </a:solidFill>
                <a:latin typeface="Segoe UI"/>
                <a:cs typeface="Segoe UI"/>
              </a:rPr>
              <a:t xml:space="preserve"> pays more: $20 per ton vs. $15 per ton.</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fade">
                                      <p:cBhvr>
                                        <p:cTn id="11" dur="500"/>
                                        <p:tgtEl>
                                          <p:spTgt spid="65"/>
                                        </p:tgtEl>
                                      </p:cBhvr>
                                    </p:animEffect>
                                    <p:anim calcmode="lin" valueType="num">
                                      <p:cBhvr>
                                        <p:cTn id="12" dur="500" fill="hold"/>
                                        <p:tgtEl>
                                          <p:spTgt spid="65"/>
                                        </p:tgtEl>
                                        <p:attrNameLst>
                                          <p:attrName>ppt_x</p:attrName>
                                        </p:attrNameLst>
                                      </p:cBhvr>
                                      <p:tavLst>
                                        <p:tav tm="0">
                                          <p:val>
                                            <p:strVal val="#ppt_x"/>
                                          </p:val>
                                        </p:tav>
                                        <p:tav tm="100000">
                                          <p:val>
                                            <p:strVal val="#ppt_x"/>
                                          </p:val>
                                        </p:tav>
                                      </p:tavLst>
                                    </p:anim>
                                    <p:anim calcmode="lin" valueType="num">
                                      <p:cBhvr>
                                        <p:cTn id="13" dur="5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fade">
                                      <p:cBhvr>
                                        <p:cTn id="18" dur="500"/>
                                        <p:tgtEl>
                                          <p:spTgt spid="66"/>
                                        </p:tgtEl>
                                      </p:cBhvr>
                                    </p:animEffect>
                                    <p:anim calcmode="lin" valueType="num">
                                      <p:cBhvr>
                                        <p:cTn id="19" dur="500" fill="hold"/>
                                        <p:tgtEl>
                                          <p:spTgt spid="66"/>
                                        </p:tgtEl>
                                        <p:attrNameLst>
                                          <p:attrName>ppt_x</p:attrName>
                                        </p:attrNameLst>
                                      </p:cBhvr>
                                      <p:tavLst>
                                        <p:tav tm="0">
                                          <p:val>
                                            <p:strVal val="#ppt_x"/>
                                          </p:val>
                                        </p:tav>
                                        <p:tav tm="100000">
                                          <p:val>
                                            <p:strVal val="#ppt_x"/>
                                          </p:val>
                                        </p:tav>
                                      </p:tavLst>
                                    </p:anim>
                                    <p:anim calcmode="lin" valueType="num">
                                      <p:cBhvr>
                                        <p:cTn id="20" dur="500" fill="hold"/>
                                        <p:tgtEl>
                                          <p:spTgt spid="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End of Day 1</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Tuesday, November 3</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Wednesday, November 4. Start at the next slide, “Start: Wednesday, November 4.”</a:t>
            </a:r>
            <a:endParaRPr lang="en-US" sz="22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Day 2 of 2 · Start here</a:t>
            </a:r>
            <a:endParaRPr lang="en-US" sz="1200" dirty="0"/>
          </a:p>
        </p:txBody>
      </p:sp>
      <p:sp>
        <p:nvSpPr>
          <p:cNvPr id="3" name="Shape 3"/>
          <p:cNvSpPr txBox="1"/>
          <p:nvPr/>
        </p:nvSpPr>
        <p:spPr>
          <a:xfrm>
            <a:off x="685800" y="1323594"/>
            <a:ext cx="10820095" cy="92354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Start: Wednesday, November 4</a:t>
            </a:r>
            <a:endParaRPr lang="en-US" sz="5700" dirty="0"/>
          </a:p>
        </p:txBody>
      </p:sp>
      <p:sp>
        <p:nvSpPr>
          <p:cNvPr id="4" name="Shape 4"/>
          <p:cNvSpPr txBox="1"/>
          <p:nvPr/>
        </p:nvSpPr>
        <p:spPr>
          <a:xfrm>
            <a:off x="685800" y="241858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(Three ways to write a function; four views) → Lesson 4, Day 2.</a:t>
            </a:r>
            <a:endParaRPr lang="en-US" sz="2100" dirty="0"/>
          </a:p>
        </p:txBody>
      </p:sp>
      <p:sp>
        <p:nvSpPr>
          <p:cNvPr id="5" name="Shape 5"/>
          <p:cNvSpPr txBox="1"/>
          <p:nvPr/>
        </p:nvSpPr>
        <p:spPr>
          <a:xfrm>
            <a:off x="685800" y="3284982"/>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does each linear function representation compare with the others?</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 · Wed, Nov 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Travis County pays $15 per ton of cardboard. How much is paid for 3 tons? </a:t>
            </a:r>
            <a:r>
              <a:rPr lang="en-US" sz="1575" dirty="0">
                <a:solidFill>
                  <a:srgbClr val="5F6272"/>
                </a:solidFill>
                <a:latin typeface="Segoe UI"/>
                <a:cs typeface="Segoe UI"/>
              </a:rPr>
              <a:t xml:space="preserve">(SE p. 322)</a:t>
            </a:r>
            <a:endParaRPr lang="en-US" sz="1950" dirty="0"/>
          </a:p>
        </p:txBody>
      </p:sp>
      <p:sp>
        <p:nvSpPr>
          <p:cNvPr id="5" name="Shape 5"/>
          <p:cNvSpPr txBox="1"/>
          <p:nvPr/>
        </p:nvSpPr>
        <p:spPr>
          <a:xfrm>
            <a:off x="685800" y="2755392"/>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$45</a:t>
            </a:r>
            <a:endParaRPr lang="en-US" sz="2325" dirty="0"/>
          </a:p>
        </p:txBody>
      </p:sp>
      <p:sp>
        <p:nvSpPr>
          <p:cNvPr id="6" name="Shape 6"/>
          <p:cNvSpPr txBox="1"/>
          <p:nvPr/>
        </p:nvSpPr>
        <p:spPr>
          <a:xfrm>
            <a:off x="685800" y="3541014"/>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Hays County's graph passes through </a:t>
            </a:r>
            <a:r>
              <a:rPr lang="en-US" sz="1950" dirty="0">
                <a:solidFill>
                  <a:srgbClr val="16171D"/>
                </a:solidFill>
                <a:latin typeface="Cambria"/>
                <a:cs typeface="Cambria"/>
              </a:rPr>
              <a:t xml:space="preserve">(0, 0)</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(1, 20)</a:t>
            </a:r>
            <a:r>
              <a:rPr lang="en-US" sz="1950" dirty="0">
                <a:solidFill>
                  <a:srgbClr val="16171D"/>
                </a:solidFill>
                <a:latin typeface="Segoe UI"/>
                <a:cs typeface="Segoe UI"/>
              </a:rPr>
              <a:t xml:space="preserve">. What is the payout per ton? </a:t>
            </a:r>
            <a:r>
              <a:rPr lang="en-US" sz="1575" dirty="0">
                <a:solidFill>
                  <a:srgbClr val="5F6272"/>
                </a:solidFill>
                <a:latin typeface="Segoe UI"/>
                <a:cs typeface="Segoe UI"/>
              </a:rPr>
              <a:t xml:space="preserve">(SE p. 322)</a:t>
            </a:r>
            <a:endParaRPr lang="en-US" sz="1950" dirty="0"/>
          </a:p>
        </p:txBody>
      </p:sp>
      <p:sp>
        <p:nvSpPr>
          <p:cNvPr id="7" name="Shape 7"/>
          <p:cNvSpPr txBox="1"/>
          <p:nvPr/>
        </p:nvSpPr>
        <p:spPr>
          <a:xfrm>
            <a:off x="685800" y="4620768"/>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9/5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+ 32</a:t>
            </a:r>
            <a:r>
              <a:rPr lang="en-US" sz="1950" dirty="0">
                <a:solidFill>
                  <a:srgbClr val="16171D"/>
                </a:solidFill>
                <a:latin typeface="Segoe UI"/>
                <a:cs typeface="Segoe UI"/>
              </a:rPr>
              <a:t xml:space="preserve"> converts °C to °F. What is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(10)</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323)</a:t>
            </a:r>
            <a:endParaRPr lang="en-US" sz="1950" dirty="0"/>
          </a:p>
        </p:txBody>
      </p:sp>
      <p:sp>
        <p:nvSpPr>
          <p:cNvPr id="9" name="Shape 9"/>
          <p:cNvSpPr txBox="1"/>
          <p:nvPr/>
        </p:nvSpPr>
        <p:spPr>
          <a:xfrm>
            <a:off x="6362548" y="245821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50</a:t>
            </a:r>
            <a:endParaRPr lang="en-US" sz="2325" dirty="0"/>
          </a:p>
        </p:txBody>
      </p:sp>
      <p:sp>
        <p:nvSpPr>
          <p:cNvPr id="10" name="Shape 10"/>
          <p:cNvSpPr txBox="1"/>
          <p:nvPr/>
        </p:nvSpPr>
        <p:spPr>
          <a:xfrm>
            <a:off x="6362548" y="3243834"/>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Miguel started with $0 and had $80 after 4 months. How much did he save each month? </a:t>
            </a:r>
            <a:r>
              <a:rPr lang="en-US" sz="1575" dirty="0">
                <a:solidFill>
                  <a:srgbClr val="5F6272"/>
                </a:solidFill>
                <a:latin typeface="Segoe UI"/>
                <a:cs typeface="Segoe UI"/>
              </a:rPr>
              <a:t xml:space="preserve">(SE p. 324)</a:t>
            </a:r>
            <a:endParaRPr lang="en-US" sz="1950" dirty="0"/>
          </a:p>
        </p:txBody>
      </p:sp>
      <p:sp>
        <p:nvSpPr>
          <p:cNvPr id="11" name="Shape 11"/>
          <p:cNvSpPr txBox="1"/>
          <p:nvPr/>
        </p:nvSpPr>
        <p:spPr>
          <a:xfrm>
            <a:off x="6362548" y="4323588"/>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Wed, Nov 4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6: Three ways to write a function; four views</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Lesson 4 compares tables, graphs, equations and descriptions: the same four views.</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6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6.4 · Interpreting More Changes to the Graph · SE pp. 250–251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$35 booth fee</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Still $15 per shirt and 3 free shirts, plus a </a:t>
            </a:r>
            <a:r>
              <a:rPr lang="en-US" sz="1575" dirty="0" b="1">
                <a:solidFill>
                  <a:srgbClr val="16171D"/>
                </a:solidFill>
                <a:latin typeface="Segoe UI"/>
                <a:cs typeface="Segoe UI"/>
              </a:rPr>
              <a:t xml:space="preserve">$35</a:t>
            </a:r>
            <a:r>
              <a:rPr lang="en-US" sz="1575" dirty="0">
                <a:solidFill>
                  <a:srgbClr val="16171D"/>
                </a:solidFill>
                <a:latin typeface="Segoe UI"/>
                <a:cs typeface="Segoe UI"/>
              </a:rPr>
              <a:t xml:space="preserve"> fee. The new relationship is </a:t>
            </a:r>
            <a:r>
              <a:rPr lang="en-US" sz="1575" dirty="0" b="1" i="1">
                <a:solidFill>
                  <a:srgbClr val="4F8A3C"/>
                </a:solidFill>
                <a:latin typeface="Cambria"/>
                <a:cs typeface="Cambria"/>
              </a:rPr>
              <a:t xml:space="preserve">F</a:t>
            </a:r>
            <a:r>
              <a:rPr lang="en-US" sz="1575" dirty="0" b="1">
                <a:solidFill>
                  <a:srgbClr val="4F8A3C"/>
                </a:solidFill>
                <a:latin typeface="Cambria"/>
                <a:cs typeface="Cambria"/>
              </a:rPr>
              <a:t xml:space="preserve">(</a:t>
            </a:r>
            <a:r>
              <a:rPr lang="en-US" sz="1575" dirty="0" b="1" i="1">
                <a:solidFill>
                  <a:srgbClr val="4F8A3C"/>
                </a:solidFill>
                <a:latin typeface="Cambria"/>
                <a:cs typeface="Cambria"/>
              </a:rPr>
              <a:t xml:space="preserve">t</a:t>
            </a:r>
            <a:r>
              <a:rPr lang="en-US" sz="1575" dirty="0" b="1">
                <a:solidFill>
                  <a:srgbClr val="4F8A3C"/>
                </a:solidFill>
                <a:latin typeface="Cambria"/>
                <a:cs typeface="Cambria"/>
              </a:rPr>
              <a:t xml:space="preserve">)</a:t>
            </a:r>
            <a:r>
              <a:rPr lang="en-US" sz="1575" dirty="0">
                <a:solidFill>
                  <a:srgbClr val="16171D"/>
                </a:solidFill>
                <a:latin typeface="Segoe UI"/>
                <a:cs typeface="Segoe UI"/>
              </a:rPr>
              <a:t xml:space="preserve">, the green line.</a:t>
            </a:r>
            <a:endParaRPr lang="en-US" sz="1575" dirty="0"/>
          </a:p>
        </p:txBody>
      </p:sp>
      <p:sp>
        <p:nvSpPr>
          <p:cNvPr id="5" name="Shape 5"/>
          <p:cNvSpPr txBox="1"/>
          <p:nvPr/>
        </p:nvSpPr>
        <p:spPr>
          <a:xfrm>
            <a:off x="685800" y="2220087"/>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How do the graphs show the price is the same?</a:t>
            </a:r>
            <a:endParaRPr lang="en-US" sz="1575" dirty="0"/>
          </a:p>
        </p:txBody>
      </p:sp>
      <p:sp>
        <p:nvSpPr>
          <p:cNvPr id="6" name="Shape 6"/>
          <p:cNvSpPr txBox="1"/>
          <p:nvPr/>
        </p:nvSpPr>
        <p:spPr>
          <a:xfrm>
            <a:off x="685800" y="258165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lines: same slope, </a:t>
            </a:r>
            <a:r>
              <a:rPr lang="en-US" sz="1575" dirty="0" b="1">
                <a:solidFill>
                  <a:srgbClr val="C9561F"/>
                </a:solidFill>
                <a:latin typeface="Segoe UI"/>
                <a:cs typeface="Segoe UI"/>
              </a:rPr>
              <a:t xml:space="preserve">15</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2943225"/>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How did the $35 fee change the graph?</a:t>
            </a:r>
            <a:endParaRPr lang="en-US" sz="1575" dirty="0"/>
          </a:p>
        </p:txBody>
      </p:sp>
      <p:sp>
        <p:nvSpPr>
          <p:cNvPr id="8" name="Shape 8"/>
          <p:cNvSpPr txBox="1"/>
          <p:nvPr/>
        </p:nvSpPr>
        <p:spPr>
          <a:xfrm>
            <a:off x="685800" y="330479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moved down 35, from </a:t>
            </a:r>
            <a:r>
              <a:rPr lang="en-US" sz="1575" dirty="0" b="1">
                <a:solidFill>
                  <a:srgbClr val="3050B8"/>
                </a:solidFill>
                <a:latin typeface="Cambria"/>
                <a:cs typeface="Cambria"/>
              </a:rPr>
              <a:t xml:space="preserve">(0, −45)</a:t>
            </a:r>
            <a:r>
              <a:rPr lang="en-US" sz="1575" dirty="0">
                <a:solidFill>
                  <a:srgbClr val="16171D"/>
                </a:solidFill>
                <a:latin typeface="Segoe UI"/>
                <a:cs typeface="Segoe UI"/>
              </a:rPr>
              <a:t xml:space="preserve"> to </a:t>
            </a:r>
            <a:r>
              <a:rPr lang="en-US" sz="1575" dirty="0" b="1">
                <a:solidFill>
                  <a:srgbClr val="3050B8"/>
                </a:solidFill>
                <a:latin typeface="Cambria"/>
                <a:cs typeface="Cambria"/>
              </a:rPr>
              <a:t xml:space="preserve">(0, −80)</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666363"/>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How many shirts before she has any money to return?</a:t>
            </a:r>
            <a:endParaRPr lang="en-US" sz="1575" dirty="0"/>
          </a:p>
        </p:txBody>
      </p:sp>
      <p:sp>
        <p:nvSpPr>
          <p:cNvPr id="10" name="Shape 10"/>
          <p:cNvSpPr txBox="1"/>
          <p:nvPr/>
        </p:nvSpPr>
        <p:spPr>
          <a:xfrm>
            <a:off x="685800" y="402793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6 shirts.</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(5) = −5</a:t>
            </a:r>
            <a:r>
              <a:rPr lang="en-US" sz="1575" dirty="0">
                <a:solidFill>
                  <a:srgbClr val="16171D"/>
                </a:solidFill>
                <a:latin typeface="Segoe UI"/>
                <a:cs typeface="Segoe UI"/>
              </a:rPr>
              <a:t xml:space="preserve"> but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(6) = 10</a:t>
            </a:r>
            <a:r>
              <a:rPr lang="en-US" sz="1575" dirty="0">
                <a:solidFill>
                  <a:srgbClr val="16171D"/>
                </a:solidFill>
                <a:latin typeface="Segoe UI"/>
                <a:cs typeface="Segoe UI"/>
              </a:rPr>
              <a:t xml:space="preserve">.</a:t>
            </a:r>
            <a:endParaRPr lang="en-US" sz="1575" dirty="0"/>
          </a:p>
        </p:txBody>
      </p:sp>
      <p:sp>
        <p:nvSpPr>
          <p:cNvPr id="11" name="Shape 11"/>
          <p:cNvSpPr txBox="1"/>
          <p:nvPr/>
        </p:nvSpPr>
        <p:spPr>
          <a:xfrm>
            <a:off x="685800" y="4389501"/>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1d.</a:t>
            </a:r>
            <a:r>
              <a:rPr lang="en-US" sz="1575" dirty="0">
                <a:solidFill>
                  <a:srgbClr val="16171D"/>
                </a:solidFill>
                <a:latin typeface="Segoe UI"/>
                <a:cs typeface="Segoe UI"/>
              </a:rPr>
              <a:t xml:space="preserve"> How many shirts to earn $100?</a:t>
            </a:r>
            <a:endParaRPr lang="en-US" sz="1575" dirty="0"/>
          </a:p>
        </p:txBody>
      </p:sp>
      <p:sp>
        <p:nvSpPr>
          <p:cNvPr id="12" name="Shape 12"/>
          <p:cNvSpPr txBox="1"/>
          <p:nvPr/>
        </p:nvSpPr>
        <p:spPr>
          <a:xfrm>
            <a:off x="685800" y="475107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− 80 = 100</a:t>
            </a:r>
            <a:r>
              <a:rPr lang="en-US" sz="1575" dirty="0">
                <a:solidFill>
                  <a:srgbClr val="16171D"/>
                </a:solidFill>
                <a:latin typeface="Segoe UI"/>
                <a:cs typeface="Segoe UI"/>
              </a:rPr>
              <a:t xml:space="preserve">, so </a:t>
            </a:r>
            <a:r>
              <a:rPr lang="en-US" sz="1575" dirty="0" b="1">
                <a:solidFill>
                  <a:srgbClr val="16171D"/>
                </a:solidFill>
                <a:latin typeface="Segoe UI"/>
                <a:cs typeface="Segoe UI"/>
              </a:rPr>
              <a:t xml:space="preserve">12 shirts</a:t>
            </a:r>
            <a:r>
              <a:rPr lang="en-US" sz="1575" dirty="0">
                <a:solidFill>
                  <a:srgbClr val="16171D"/>
                </a:solidFill>
                <a:latin typeface="Segoe UI"/>
                <a:cs typeface="Segoe UI"/>
              </a:rPr>
              <a:t xml:space="preserve">.</a:t>
            </a:r>
            <a:endParaRPr lang="en-US" sz="1575" dirty="0"/>
          </a:p>
        </p:txBody>
      </p:sp>
      <p:sp>
        <p:nvSpPr>
          <p:cNvPr id="13" name="Shape 13"/>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4" name="Line 14"/>
          <p:cNvCxnSpPr/>
          <p:nvPr/>
        </p:nvCxnSpPr>
        <p:spPr>
          <a:xfrm>
            <a:off x="7638745" y="1732788"/>
            <a:ext cx="0" cy="3638550"/>
          </a:xfrm>
          <a:prstGeom prst="line">
            <a:avLst/>
          </a:prstGeom>
          <a:ln w="9525" cap="flat">
            <a:solidFill>
              <a:srgbClr val="E6E8F2"/>
            </a:solidFill>
          </a:ln>
        </p:spPr>
      </p:cxnSp>
      <p:cxnSp>
        <p:nvCxnSpPr>
          <p:cNvPr id="15" name="Line 15"/>
          <p:cNvCxnSpPr/>
          <p:nvPr/>
        </p:nvCxnSpPr>
        <p:spPr>
          <a:xfrm>
            <a:off x="7809329" y="1732788"/>
            <a:ext cx="0" cy="3638550"/>
          </a:xfrm>
          <a:prstGeom prst="line">
            <a:avLst/>
          </a:prstGeom>
          <a:ln w="9525" cap="flat">
            <a:solidFill>
              <a:srgbClr val="E6E8F2"/>
            </a:solidFill>
          </a:ln>
        </p:spPr>
      </p:cxnSp>
      <p:cxnSp>
        <p:nvCxnSpPr>
          <p:cNvPr id="16" name="Line 16"/>
          <p:cNvCxnSpPr/>
          <p:nvPr/>
        </p:nvCxnSpPr>
        <p:spPr>
          <a:xfrm>
            <a:off x="7979913" y="1732788"/>
            <a:ext cx="0" cy="3638550"/>
          </a:xfrm>
          <a:prstGeom prst="line">
            <a:avLst/>
          </a:prstGeom>
          <a:ln w="9525" cap="flat">
            <a:solidFill>
              <a:srgbClr val="E6E8F2"/>
            </a:solidFill>
          </a:ln>
        </p:spPr>
      </p:cxnSp>
      <p:cxnSp>
        <p:nvCxnSpPr>
          <p:cNvPr id="17" name="Line 17"/>
          <p:cNvCxnSpPr/>
          <p:nvPr/>
        </p:nvCxnSpPr>
        <p:spPr>
          <a:xfrm>
            <a:off x="8150497" y="1732788"/>
            <a:ext cx="0" cy="3638550"/>
          </a:xfrm>
          <a:prstGeom prst="line">
            <a:avLst/>
          </a:prstGeom>
          <a:ln w="9525" cap="flat">
            <a:solidFill>
              <a:srgbClr val="E6E8F2"/>
            </a:solidFill>
          </a:ln>
        </p:spPr>
      </p:cxnSp>
      <p:cxnSp>
        <p:nvCxnSpPr>
          <p:cNvPr id="18" name="Line 18"/>
          <p:cNvCxnSpPr/>
          <p:nvPr/>
        </p:nvCxnSpPr>
        <p:spPr>
          <a:xfrm>
            <a:off x="8321082" y="1732788"/>
            <a:ext cx="0" cy="3638550"/>
          </a:xfrm>
          <a:prstGeom prst="line">
            <a:avLst/>
          </a:prstGeom>
          <a:ln w="9525" cap="flat">
            <a:solidFill>
              <a:srgbClr val="E6E8F2"/>
            </a:solidFill>
          </a:ln>
        </p:spPr>
      </p:cxnSp>
      <p:cxnSp>
        <p:nvCxnSpPr>
          <p:cNvPr id="19" name="Line 19"/>
          <p:cNvCxnSpPr/>
          <p:nvPr/>
        </p:nvCxnSpPr>
        <p:spPr>
          <a:xfrm>
            <a:off x="8491666" y="1732788"/>
            <a:ext cx="0" cy="3638550"/>
          </a:xfrm>
          <a:prstGeom prst="line">
            <a:avLst/>
          </a:prstGeom>
          <a:ln w="9525" cap="flat">
            <a:solidFill>
              <a:srgbClr val="E6E8F2"/>
            </a:solidFill>
          </a:ln>
        </p:spPr>
      </p:cxnSp>
      <p:cxnSp>
        <p:nvCxnSpPr>
          <p:cNvPr id="20" name="Line 20"/>
          <p:cNvCxnSpPr/>
          <p:nvPr/>
        </p:nvCxnSpPr>
        <p:spPr>
          <a:xfrm>
            <a:off x="8662250" y="1732788"/>
            <a:ext cx="0" cy="3638550"/>
          </a:xfrm>
          <a:prstGeom prst="line">
            <a:avLst/>
          </a:prstGeom>
          <a:ln w="9525" cap="flat">
            <a:solidFill>
              <a:srgbClr val="E6E8F2"/>
            </a:solidFill>
          </a:ln>
        </p:spPr>
      </p:cxnSp>
      <p:cxnSp>
        <p:nvCxnSpPr>
          <p:cNvPr id="21" name="Line 21"/>
          <p:cNvCxnSpPr/>
          <p:nvPr/>
        </p:nvCxnSpPr>
        <p:spPr>
          <a:xfrm>
            <a:off x="8832834" y="1732788"/>
            <a:ext cx="0" cy="3638550"/>
          </a:xfrm>
          <a:prstGeom prst="line">
            <a:avLst/>
          </a:prstGeom>
          <a:ln w="9525" cap="flat">
            <a:solidFill>
              <a:srgbClr val="E6E8F2"/>
            </a:solidFill>
          </a:ln>
        </p:spPr>
      </p:cxnSp>
      <p:cxnSp>
        <p:nvCxnSpPr>
          <p:cNvPr id="22" name="Line 22"/>
          <p:cNvCxnSpPr/>
          <p:nvPr/>
        </p:nvCxnSpPr>
        <p:spPr>
          <a:xfrm>
            <a:off x="9003418" y="1732788"/>
            <a:ext cx="0" cy="3638550"/>
          </a:xfrm>
          <a:prstGeom prst="line">
            <a:avLst/>
          </a:prstGeom>
          <a:ln w="9525" cap="flat">
            <a:solidFill>
              <a:srgbClr val="E6E8F2"/>
            </a:solidFill>
          </a:ln>
        </p:spPr>
      </p:cxnSp>
      <p:cxnSp>
        <p:nvCxnSpPr>
          <p:cNvPr id="23" name="Line 23"/>
          <p:cNvCxnSpPr/>
          <p:nvPr/>
        </p:nvCxnSpPr>
        <p:spPr>
          <a:xfrm>
            <a:off x="9174002" y="1732788"/>
            <a:ext cx="0" cy="3638550"/>
          </a:xfrm>
          <a:prstGeom prst="line">
            <a:avLst/>
          </a:prstGeom>
          <a:ln w="9525" cap="flat">
            <a:solidFill>
              <a:srgbClr val="E6E8F2"/>
            </a:solidFill>
          </a:ln>
        </p:spPr>
      </p:cxnSp>
      <p:cxnSp>
        <p:nvCxnSpPr>
          <p:cNvPr id="24" name="Line 24"/>
          <p:cNvCxnSpPr/>
          <p:nvPr/>
        </p:nvCxnSpPr>
        <p:spPr>
          <a:xfrm>
            <a:off x="9344586" y="1732788"/>
            <a:ext cx="0" cy="3638550"/>
          </a:xfrm>
          <a:prstGeom prst="line">
            <a:avLst/>
          </a:prstGeom>
          <a:ln w="9525" cap="flat">
            <a:solidFill>
              <a:srgbClr val="E6E8F2"/>
            </a:solidFill>
          </a:ln>
        </p:spPr>
      </p:cxnSp>
      <p:cxnSp>
        <p:nvCxnSpPr>
          <p:cNvPr id="25" name="Line 25"/>
          <p:cNvCxnSpPr/>
          <p:nvPr/>
        </p:nvCxnSpPr>
        <p:spPr>
          <a:xfrm>
            <a:off x="9515170" y="1732788"/>
            <a:ext cx="0" cy="3638550"/>
          </a:xfrm>
          <a:prstGeom prst="line">
            <a:avLst/>
          </a:prstGeom>
          <a:ln w="9525" cap="flat">
            <a:solidFill>
              <a:srgbClr val="E6E8F2"/>
            </a:solidFill>
          </a:ln>
        </p:spPr>
      </p:cxnSp>
      <p:cxnSp>
        <p:nvCxnSpPr>
          <p:cNvPr id="26" name="Line 26"/>
          <p:cNvCxnSpPr/>
          <p:nvPr/>
        </p:nvCxnSpPr>
        <p:spPr>
          <a:xfrm>
            <a:off x="9685754" y="1732788"/>
            <a:ext cx="0" cy="3638550"/>
          </a:xfrm>
          <a:prstGeom prst="line">
            <a:avLst/>
          </a:prstGeom>
          <a:ln w="9525" cap="flat">
            <a:solidFill>
              <a:srgbClr val="E6E8F2"/>
            </a:solidFill>
          </a:ln>
        </p:spPr>
      </p:cxnSp>
      <p:cxnSp>
        <p:nvCxnSpPr>
          <p:cNvPr id="27" name="Line 27"/>
          <p:cNvCxnSpPr/>
          <p:nvPr/>
        </p:nvCxnSpPr>
        <p:spPr>
          <a:xfrm>
            <a:off x="9856338" y="1732788"/>
            <a:ext cx="0" cy="3638550"/>
          </a:xfrm>
          <a:prstGeom prst="line">
            <a:avLst/>
          </a:prstGeom>
          <a:ln w="9525" cap="flat">
            <a:solidFill>
              <a:srgbClr val="E6E8F2"/>
            </a:solidFill>
          </a:ln>
        </p:spPr>
      </p:cxnSp>
      <p:cxnSp>
        <p:nvCxnSpPr>
          <p:cNvPr id="28" name="Line 28"/>
          <p:cNvCxnSpPr/>
          <p:nvPr/>
        </p:nvCxnSpPr>
        <p:spPr>
          <a:xfrm>
            <a:off x="10026922" y="1732788"/>
            <a:ext cx="0" cy="3638550"/>
          </a:xfrm>
          <a:prstGeom prst="line">
            <a:avLst/>
          </a:prstGeom>
          <a:ln w="9525" cap="flat">
            <a:solidFill>
              <a:srgbClr val="E6E8F2"/>
            </a:solidFill>
          </a:ln>
        </p:spPr>
      </p:cxnSp>
      <p:cxnSp>
        <p:nvCxnSpPr>
          <p:cNvPr id="29" name="Line 29"/>
          <p:cNvCxnSpPr/>
          <p:nvPr/>
        </p:nvCxnSpPr>
        <p:spPr>
          <a:xfrm>
            <a:off x="10197507" y="1732788"/>
            <a:ext cx="0" cy="3638550"/>
          </a:xfrm>
          <a:prstGeom prst="line">
            <a:avLst/>
          </a:prstGeom>
          <a:ln w="9525" cap="flat">
            <a:solidFill>
              <a:srgbClr val="E6E8F2"/>
            </a:solidFill>
          </a:ln>
        </p:spPr>
      </p:cxnSp>
      <p:cxnSp>
        <p:nvCxnSpPr>
          <p:cNvPr id="30" name="Line 30"/>
          <p:cNvCxnSpPr/>
          <p:nvPr/>
        </p:nvCxnSpPr>
        <p:spPr>
          <a:xfrm>
            <a:off x="10368091" y="1732788"/>
            <a:ext cx="0" cy="3638550"/>
          </a:xfrm>
          <a:prstGeom prst="line">
            <a:avLst/>
          </a:prstGeom>
          <a:ln w="9525" cap="flat">
            <a:solidFill>
              <a:srgbClr val="E6E8F2"/>
            </a:solidFill>
          </a:ln>
        </p:spPr>
      </p:cxnSp>
      <p:cxnSp>
        <p:nvCxnSpPr>
          <p:cNvPr id="31" name="Line 31"/>
          <p:cNvCxnSpPr/>
          <p:nvPr/>
        </p:nvCxnSpPr>
        <p:spPr>
          <a:xfrm>
            <a:off x="10538675" y="1732788"/>
            <a:ext cx="0" cy="3638550"/>
          </a:xfrm>
          <a:prstGeom prst="line">
            <a:avLst/>
          </a:prstGeom>
          <a:ln w="9525" cap="flat">
            <a:solidFill>
              <a:srgbClr val="E6E8F2"/>
            </a:solidFill>
          </a:ln>
        </p:spPr>
      </p:cxnSp>
      <p:cxnSp>
        <p:nvCxnSpPr>
          <p:cNvPr id="32" name="Line 32"/>
          <p:cNvCxnSpPr/>
          <p:nvPr/>
        </p:nvCxnSpPr>
        <p:spPr>
          <a:xfrm>
            <a:off x="10709259" y="1732788"/>
            <a:ext cx="0" cy="3638550"/>
          </a:xfrm>
          <a:prstGeom prst="line">
            <a:avLst/>
          </a:prstGeom>
          <a:ln w="9525" cap="flat">
            <a:solidFill>
              <a:srgbClr val="E6E8F2"/>
            </a:solidFill>
          </a:ln>
        </p:spPr>
      </p:cxnSp>
      <p:cxnSp>
        <p:nvCxnSpPr>
          <p:cNvPr id="33" name="Line 33"/>
          <p:cNvCxnSpPr/>
          <p:nvPr/>
        </p:nvCxnSpPr>
        <p:spPr>
          <a:xfrm>
            <a:off x="10879843" y="1732788"/>
            <a:ext cx="0" cy="3638550"/>
          </a:xfrm>
          <a:prstGeom prst="line">
            <a:avLst/>
          </a:prstGeom>
          <a:ln w="9525" cap="flat">
            <a:solidFill>
              <a:srgbClr val="E6E8F2"/>
            </a:solidFill>
          </a:ln>
        </p:spPr>
      </p:cxnSp>
      <p:cxnSp>
        <p:nvCxnSpPr>
          <p:cNvPr id="34" name="Line 34"/>
          <p:cNvCxnSpPr/>
          <p:nvPr/>
        </p:nvCxnSpPr>
        <p:spPr>
          <a:xfrm>
            <a:off x="11050427" y="1732788"/>
            <a:ext cx="0" cy="3638550"/>
          </a:xfrm>
          <a:prstGeom prst="line">
            <a:avLst/>
          </a:prstGeom>
          <a:ln w="9525" cap="flat">
            <a:solidFill>
              <a:srgbClr val="E6E8F2"/>
            </a:solidFill>
          </a:ln>
        </p:spPr>
      </p:cxnSp>
      <p:cxnSp>
        <p:nvCxnSpPr>
          <p:cNvPr id="35" name="Line 35"/>
          <p:cNvCxnSpPr/>
          <p:nvPr/>
        </p:nvCxnSpPr>
        <p:spPr>
          <a:xfrm>
            <a:off x="11221011" y="1732788"/>
            <a:ext cx="0" cy="3638550"/>
          </a:xfrm>
          <a:prstGeom prst="line">
            <a:avLst/>
          </a:prstGeom>
          <a:ln w="9525" cap="flat">
            <a:solidFill>
              <a:srgbClr val="E6E8F2"/>
            </a:solidFill>
          </a:ln>
        </p:spPr>
      </p:cxnSp>
      <p:cxnSp>
        <p:nvCxnSpPr>
          <p:cNvPr id="36" name="Line 36"/>
          <p:cNvCxnSpPr/>
          <p:nvPr/>
        </p:nvCxnSpPr>
        <p:spPr>
          <a:xfrm>
            <a:off x="11391595" y="1732788"/>
            <a:ext cx="0" cy="3638550"/>
          </a:xfrm>
          <a:prstGeom prst="line">
            <a:avLst/>
          </a:prstGeom>
          <a:ln w="9525" cap="flat">
            <a:solidFill>
              <a:srgbClr val="E6E8F2"/>
            </a:solidFill>
          </a:ln>
        </p:spPr>
      </p:cxnSp>
      <p:cxnSp>
        <p:nvCxnSpPr>
          <p:cNvPr id="37" name="Line 37"/>
          <p:cNvCxnSpPr/>
          <p:nvPr/>
        </p:nvCxnSpPr>
        <p:spPr>
          <a:xfrm>
            <a:off x="7638745" y="5371338"/>
            <a:ext cx="3752850" cy="0"/>
          </a:xfrm>
          <a:prstGeom prst="line">
            <a:avLst/>
          </a:prstGeom>
          <a:ln w="9525" cap="flat">
            <a:solidFill>
              <a:srgbClr val="E6E8F2"/>
            </a:solidFill>
          </a:ln>
        </p:spPr>
      </p:cxnSp>
      <p:cxnSp>
        <p:nvCxnSpPr>
          <p:cNvPr id="38" name="Line 38"/>
          <p:cNvCxnSpPr/>
          <p:nvPr/>
        </p:nvCxnSpPr>
        <p:spPr>
          <a:xfrm>
            <a:off x="7638745" y="5205949"/>
            <a:ext cx="3752850" cy="0"/>
          </a:xfrm>
          <a:prstGeom prst="line">
            <a:avLst/>
          </a:prstGeom>
          <a:ln w="9525" cap="flat">
            <a:solidFill>
              <a:srgbClr val="E6E8F2"/>
            </a:solidFill>
          </a:ln>
        </p:spPr>
      </p:cxnSp>
      <p:cxnSp>
        <p:nvCxnSpPr>
          <p:cNvPr id="39" name="Line 39"/>
          <p:cNvCxnSpPr/>
          <p:nvPr/>
        </p:nvCxnSpPr>
        <p:spPr>
          <a:xfrm>
            <a:off x="7638745" y="5040561"/>
            <a:ext cx="3752850" cy="0"/>
          </a:xfrm>
          <a:prstGeom prst="line">
            <a:avLst/>
          </a:prstGeom>
          <a:ln w="9525" cap="flat">
            <a:solidFill>
              <a:srgbClr val="E6E8F2"/>
            </a:solidFill>
          </a:ln>
        </p:spPr>
      </p:cxnSp>
      <p:cxnSp>
        <p:nvCxnSpPr>
          <p:cNvPr id="40" name="Line 40"/>
          <p:cNvCxnSpPr/>
          <p:nvPr/>
        </p:nvCxnSpPr>
        <p:spPr>
          <a:xfrm>
            <a:off x="7638745" y="4875172"/>
            <a:ext cx="3752850" cy="0"/>
          </a:xfrm>
          <a:prstGeom prst="line">
            <a:avLst/>
          </a:prstGeom>
          <a:ln w="9525" cap="flat">
            <a:solidFill>
              <a:srgbClr val="E6E8F2"/>
            </a:solidFill>
          </a:ln>
        </p:spPr>
      </p:cxnSp>
      <p:cxnSp>
        <p:nvCxnSpPr>
          <p:cNvPr id="41" name="Line 41"/>
          <p:cNvCxnSpPr/>
          <p:nvPr/>
        </p:nvCxnSpPr>
        <p:spPr>
          <a:xfrm>
            <a:off x="7638745" y="4709783"/>
            <a:ext cx="3752850" cy="0"/>
          </a:xfrm>
          <a:prstGeom prst="line">
            <a:avLst/>
          </a:prstGeom>
          <a:ln w="9525" cap="flat">
            <a:solidFill>
              <a:srgbClr val="E6E8F2"/>
            </a:solidFill>
          </a:ln>
        </p:spPr>
      </p:cxnSp>
      <p:cxnSp>
        <p:nvCxnSpPr>
          <p:cNvPr id="42" name="Line 42"/>
          <p:cNvCxnSpPr/>
          <p:nvPr/>
        </p:nvCxnSpPr>
        <p:spPr>
          <a:xfrm>
            <a:off x="7638745" y="4544395"/>
            <a:ext cx="3752850" cy="0"/>
          </a:xfrm>
          <a:prstGeom prst="line">
            <a:avLst/>
          </a:prstGeom>
          <a:ln w="9525" cap="flat">
            <a:solidFill>
              <a:srgbClr val="E6E8F2"/>
            </a:solidFill>
          </a:ln>
        </p:spPr>
      </p:cxnSp>
      <p:cxnSp>
        <p:nvCxnSpPr>
          <p:cNvPr id="43" name="Line 43"/>
          <p:cNvCxnSpPr/>
          <p:nvPr/>
        </p:nvCxnSpPr>
        <p:spPr>
          <a:xfrm>
            <a:off x="7638745" y="4379006"/>
            <a:ext cx="3752850" cy="0"/>
          </a:xfrm>
          <a:prstGeom prst="line">
            <a:avLst/>
          </a:prstGeom>
          <a:ln w="9525" cap="flat">
            <a:solidFill>
              <a:srgbClr val="E6E8F2"/>
            </a:solidFill>
          </a:ln>
        </p:spPr>
      </p:cxnSp>
      <p:cxnSp>
        <p:nvCxnSpPr>
          <p:cNvPr id="44" name="Line 44"/>
          <p:cNvCxnSpPr/>
          <p:nvPr/>
        </p:nvCxnSpPr>
        <p:spPr>
          <a:xfrm>
            <a:off x="7638745" y="4213618"/>
            <a:ext cx="3752850" cy="0"/>
          </a:xfrm>
          <a:prstGeom prst="line">
            <a:avLst/>
          </a:prstGeom>
          <a:ln w="9525" cap="flat">
            <a:solidFill>
              <a:srgbClr val="E6E8F2"/>
            </a:solidFill>
          </a:ln>
        </p:spPr>
      </p:cxnSp>
      <p:cxnSp>
        <p:nvCxnSpPr>
          <p:cNvPr id="45" name="Line 45"/>
          <p:cNvCxnSpPr/>
          <p:nvPr/>
        </p:nvCxnSpPr>
        <p:spPr>
          <a:xfrm>
            <a:off x="7638745" y="4048229"/>
            <a:ext cx="3752850" cy="0"/>
          </a:xfrm>
          <a:prstGeom prst="line">
            <a:avLst/>
          </a:prstGeom>
          <a:ln w="9525" cap="flat">
            <a:solidFill>
              <a:srgbClr val="E6E8F2"/>
            </a:solidFill>
          </a:ln>
        </p:spPr>
      </p:cxnSp>
      <p:cxnSp>
        <p:nvCxnSpPr>
          <p:cNvPr id="46" name="Line 46"/>
          <p:cNvCxnSpPr/>
          <p:nvPr/>
        </p:nvCxnSpPr>
        <p:spPr>
          <a:xfrm>
            <a:off x="7638745" y="3882840"/>
            <a:ext cx="3752850" cy="0"/>
          </a:xfrm>
          <a:prstGeom prst="line">
            <a:avLst/>
          </a:prstGeom>
          <a:ln w="9525" cap="flat">
            <a:solidFill>
              <a:srgbClr val="E6E8F2"/>
            </a:solidFill>
          </a:ln>
        </p:spPr>
      </p:cxnSp>
      <p:cxnSp>
        <p:nvCxnSpPr>
          <p:cNvPr id="47" name="Line 47"/>
          <p:cNvCxnSpPr/>
          <p:nvPr/>
        </p:nvCxnSpPr>
        <p:spPr>
          <a:xfrm>
            <a:off x="7638745" y="3717452"/>
            <a:ext cx="3752850" cy="0"/>
          </a:xfrm>
          <a:prstGeom prst="line">
            <a:avLst/>
          </a:prstGeom>
          <a:ln w="9525" cap="flat">
            <a:solidFill>
              <a:srgbClr val="E6E8F2"/>
            </a:solidFill>
          </a:ln>
        </p:spPr>
      </p:cxnSp>
      <p:cxnSp>
        <p:nvCxnSpPr>
          <p:cNvPr id="48" name="Line 48"/>
          <p:cNvCxnSpPr/>
          <p:nvPr/>
        </p:nvCxnSpPr>
        <p:spPr>
          <a:xfrm>
            <a:off x="7638745" y="3552063"/>
            <a:ext cx="3752850" cy="0"/>
          </a:xfrm>
          <a:prstGeom prst="line">
            <a:avLst/>
          </a:prstGeom>
          <a:ln w="9525" cap="flat">
            <a:solidFill>
              <a:srgbClr val="E6E8F2"/>
            </a:solidFill>
          </a:ln>
        </p:spPr>
      </p:cxnSp>
      <p:cxnSp>
        <p:nvCxnSpPr>
          <p:cNvPr id="49" name="Line 49"/>
          <p:cNvCxnSpPr/>
          <p:nvPr/>
        </p:nvCxnSpPr>
        <p:spPr>
          <a:xfrm>
            <a:off x="7638745" y="3386674"/>
            <a:ext cx="3752850" cy="0"/>
          </a:xfrm>
          <a:prstGeom prst="line">
            <a:avLst/>
          </a:prstGeom>
          <a:ln w="9525" cap="flat">
            <a:solidFill>
              <a:srgbClr val="E6E8F2"/>
            </a:solidFill>
          </a:ln>
        </p:spPr>
      </p:cxnSp>
      <p:cxnSp>
        <p:nvCxnSpPr>
          <p:cNvPr id="50" name="Line 50"/>
          <p:cNvCxnSpPr/>
          <p:nvPr/>
        </p:nvCxnSpPr>
        <p:spPr>
          <a:xfrm>
            <a:off x="7638745" y="3221286"/>
            <a:ext cx="3752850" cy="0"/>
          </a:xfrm>
          <a:prstGeom prst="line">
            <a:avLst/>
          </a:prstGeom>
          <a:ln w="9525" cap="flat">
            <a:solidFill>
              <a:srgbClr val="E6E8F2"/>
            </a:solidFill>
          </a:ln>
        </p:spPr>
      </p:cxnSp>
      <p:cxnSp>
        <p:nvCxnSpPr>
          <p:cNvPr id="51" name="Line 51"/>
          <p:cNvCxnSpPr/>
          <p:nvPr/>
        </p:nvCxnSpPr>
        <p:spPr>
          <a:xfrm>
            <a:off x="7638745" y="3055897"/>
            <a:ext cx="3752850" cy="0"/>
          </a:xfrm>
          <a:prstGeom prst="line">
            <a:avLst/>
          </a:prstGeom>
          <a:ln w="9525" cap="flat">
            <a:solidFill>
              <a:srgbClr val="E6E8F2"/>
            </a:solidFill>
          </a:ln>
        </p:spPr>
      </p:cxnSp>
      <p:cxnSp>
        <p:nvCxnSpPr>
          <p:cNvPr id="52" name="Line 52"/>
          <p:cNvCxnSpPr/>
          <p:nvPr/>
        </p:nvCxnSpPr>
        <p:spPr>
          <a:xfrm>
            <a:off x="7638745" y="2890508"/>
            <a:ext cx="3752850" cy="0"/>
          </a:xfrm>
          <a:prstGeom prst="line">
            <a:avLst/>
          </a:prstGeom>
          <a:ln w="9525" cap="flat">
            <a:solidFill>
              <a:srgbClr val="E6E8F2"/>
            </a:solidFill>
          </a:ln>
        </p:spPr>
      </p:cxnSp>
      <p:cxnSp>
        <p:nvCxnSpPr>
          <p:cNvPr id="53" name="Line 53"/>
          <p:cNvCxnSpPr/>
          <p:nvPr/>
        </p:nvCxnSpPr>
        <p:spPr>
          <a:xfrm>
            <a:off x="7638745" y="2725120"/>
            <a:ext cx="3752850" cy="0"/>
          </a:xfrm>
          <a:prstGeom prst="line">
            <a:avLst/>
          </a:prstGeom>
          <a:ln w="9525" cap="flat">
            <a:solidFill>
              <a:srgbClr val="E6E8F2"/>
            </a:solidFill>
          </a:ln>
        </p:spPr>
      </p:cxnSp>
      <p:cxnSp>
        <p:nvCxnSpPr>
          <p:cNvPr id="54" name="Line 54"/>
          <p:cNvCxnSpPr/>
          <p:nvPr/>
        </p:nvCxnSpPr>
        <p:spPr>
          <a:xfrm>
            <a:off x="7638745" y="2559731"/>
            <a:ext cx="3752850" cy="0"/>
          </a:xfrm>
          <a:prstGeom prst="line">
            <a:avLst/>
          </a:prstGeom>
          <a:ln w="9525" cap="flat">
            <a:solidFill>
              <a:srgbClr val="E6E8F2"/>
            </a:solidFill>
          </a:ln>
        </p:spPr>
      </p:cxnSp>
      <p:cxnSp>
        <p:nvCxnSpPr>
          <p:cNvPr id="55" name="Line 55"/>
          <p:cNvCxnSpPr/>
          <p:nvPr/>
        </p:nvCxnSpPr>
        <p:spPr>
          <a:xfrm>
            <a:off x="7638745" y="2394343"/>
            <a:ext cx="3752850" cy="0"/>
          </a:xfrm>
          <a:prstGeom prst="line">
            <a:avLst/>
          </a:prstGeom>
          <a:ln w="9525" cap="flat">
            <a:solidFill>
              <a:srgbClr val="E6E8F2"/>
            </a:solidFill>
          </a:ln>
        </p:spPr>
      </p:cxnSp>
      <p:cxnSp>
        <p:nvCxnSpPr>
          <p:cNvPr id="56" name="Line 56"/>
          <p:cNvCxnSpPr/>
          <p:nvPr/>
        </p:nvCxnSpPr>
        <p:spPr>
          <a:xfrm>
            <a:off x="7638745" y="2228954"/>
            <a:ext cx="3752850" cy="0"/>
          </a:xfrm>
          <a:prstGeom prst="line">
            <a:avLst/>
          </a:prstGeom>
          <a:ln w="9525" cap="flat">
            <a:solidFill>
              <a:srgbClr val="E6E8F2"/>
            </a:solidFill>
          </a:ln>
        </p:spPr>
      </p:cxnSp>
      <p:cxnSp>
        <p:nvCxnSpPr>
          <p:cNvPr id="57" name="Line 57"/>
          <p:cNvCxnSpPr/>
          <p:nvPr/>
        </p:nvCxnSpPr>
        <p:spPr>
          <a:xfrm>
            <a:off x="7638745" y="2063565"/>
            <a:ext cx="3752850" cy="0"/>
          </a:xfrm>
          <a:prstGeom prst="line">
            <a:avLst/>
          </a:prstGeom>
          <a:ln w="9525" cap="flat">
            <a:solidFill>
              <a:srgbClr val="E6E8F2"/>
            </a:solidFill>
          </a:ln>
        </p:spPr>
      </p:cxnSp>
      <p:cxnSp>
        <p:nvCxnSpPr>
          <p:cNvPr id="58" name="Line 58"/>
          <p:cNvCxnSpPr/>
          <p:nvPr/>
        </p:nvCxnSpPr>
        <p:spPr>
          <a:xfrm>
            <a:off x="7638745" y="1898177"/>
            <a:ext cx="3752850" cy="0"/>
          </a:xfrm>
          <a:prstGeom prst="line">
            <a:avLst/>
          </a:prstGeom>
          <a:ln w="9525" cap="flat">
            <a:solidFill>
              <a:srgbClr val="E6E8F2"/>
            </a:solidFill>
          </a:ln>
        </p:spPr>
      </p:cxnSp>
      <p:cxnSp>
        <p:nvCxnSpPr>
          <p:cNvPr id="59" name="Line 59"/>
          <p:cNvCxnSpPr/>
          <p:nvPr/>
        </p:nvCxnSpPr>
        <p:spPr>
          <a:xfrm>
            <a:off x="7638745" y="1732788"/>
            <a:ext cx="3752850" cy="0"/>
          </a:xfrm>
          <a:prstGeom prst="line">
            <a:avLst/>
          </a:prstGeom>
          <a:ln w="9525" cap="flat">
            <a:solidFill>
              <a:srgbClr val="E6E8F2"/>
            </a:solidFill>
          </a:ln>
        </p:spPr>
      </p:cxnSp>
      <p:cxnSp>
        <p:nvCxnSpPr>
          <p:cNvPr id="60" name="Line 60"/>
          <p:cNvCxnSpPr/>
          <p:nvPr/>
        </p:nvCxnSpPr>
        <p:spPr>
          <a:xfrm>
            <a:off x="8662250" y="1732788"/>
            <a:ext cx="0" cy="3638550"/>
          </a:xfrm>
          <a:prstGeom prst="line">
            <a:avLst/>
          </a:prstGeom>
          <a:ln w="19050" cap="flat">
            <a:solidFill>
              <a:srgbClr val="5F6272"/>
            </a:solidFill>
          </a:ln>
        </p:spPr>
      </p:cxnSp>
      <p:cxnSp>
        <p:nvCxnSpPr>
          <p:cNvPr id="61" name="Line 61"/>
          <p:cNvCxnSpPr/>
          <p:nvPr/>
        </p:nvCxnSpPr>
        <p:spPr>
          <a:xfrm>
            <a:off x="7638745" y="3552063"/>
            <a:ext cx="3752850" cy="0"/>
          </a:xfrm>
          <a:prstGeom prst="line">
            <a:avLst/>
          </a:prstGeom>
          <a:ln w="19050" cap="flat">
            <a:solidFill>
              <a:srgbClr val="5F6272"/>
            </a:solidFill>
          </a:ln>
        </p:spPr>
      </p:cxnSp>
      <p:sp>
        <p:nvSpPr>
          <p:cNvPr id="62" name="Shape 62"/>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4" name="Shape 64"/>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5" name="Shape 65"/>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7" name="Shape 67"/>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8" name="Shape 68"/>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70" name="Shape 70"/>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71" name="Shape 71"/>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2" name="Shape 72"/>
          <p:cNvSpPr/>
          <p:nvPr/>
        </p:nvSpPr>
        <p:spPr>
          <a:xfrm>
            <a:off x="8609862" y="482278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8747975" y="462752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−80)</a:t>
            </a:r>
            <a:endParaRPr lang="en-US" sz="1125" dirty="0"/>
          </a:p>
        </p:txBody>
      </p:sp>
      <p:sp>
        <p:nvSpPr>
          <p:cNvPr id="74" name="Shape 74"/>
          <p:cNvSpPr/>
          <p:nvPr/>
        </p:nvSpPr>
        <p:spPr>
          <a:xfrm>
            <a:off x="10656871" y="184578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5" name="Shape 75"/>
          <p:cNvSpPr txBox="1"/>
          <p:nvPr/>
        </p:nvSpPr>
        <p:spPr>
          <a:xfrm>
            <a:off x="10794984" y="165052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(12, 100)</a:t>
            </a:r>
            <a:endParaRPr lang="en-US" sz="1125" dirty="0"/>
          </a:p>
        </p:txBody>
      </p:sp>
      <p:cxnSp>
        <p:nvCxnSpPr>
          <p:cNvPr id="76" name="Line 76"/>
          <p:cNvCxnSpPr/>
          <p:nvPr/>
        </p:nvCxnSpPr>
        <p:spPr>
          <a:xfrm flipV="1">
            <a:off x="7923052" y="1732788"/>
            <a:ext cx="2501900" cy="3638550"/>
          </a:xfrm>
          <a:prstGeom prst="line">
            <a:avLst/>
          </a:prstGeom>
          <a:ln w="38100" cap="rnd">
            <a:solidFill>
              <a:srgbClr val="7A4FC4"/>
            </a:solidFill>
          </a:ln>
        </p:spPr>
      </p:cxnSp>
      <p:sp>
        <p:nvSpPr>
          <p:cNvPr id="77" name="Shape 77"/>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8" name="Line 78"/>
          <p:cNvCxnSpPr/>
          <p:nvPr/>
        </p:nvCxnSpPr>
        <p:spPr>
          <a:xfrm flipV="1">
            <a:off x="8321082" y="1732788"/>
            <a:ext cx="2501900" cy="3638550"/>
          </a:xfrm>
          <a:prstGeom prst="line">
            <a:avLst/>
          </a:prstGeom>
          <a:ln w="38100" cap="rnd">
            <a:solidFill>
              <a:srgbClr val="4F8A3C"/>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ppt_x</p:attrName>
                                        </p:attrNameLst>
                                      </p:cBhvr>
                                      <p:tavLst>
                                        <p:tav tm="0">
                                          <p:val>
                                            <p:strVal val="#ppt_x"/>
                                          </p:val>
                                        </p:tav>
                                        <p:tav tm="100000">
                                          <p:val>
                                            <p:strVal val="#ppt_x"/>
                                          </p:val>
                                        </p:tav>
                                      </p:tavLst>
                                    </p:anim>
                                    <p:anim calcmode="lin" valueType="num">
                                      <p:cBhvr>
                                        <p:cTn id="20"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72"/>
                                        </p:tgtEl>
                                        <p:attrNameLst>
                                          <p:attrName>style.visibility</p:attrName>
                                        </p:attrNameLst>
                                      </p:cBhvr>
                                      <p:to>
                                        <p:strVal val="visible"/>
                                      </p:to>
                                    </p:set>
                                    <p:animEffect transition="in" filter="fade">
                                      <p:cBhvr>
                                        <p:cTn id="32" dur="500"/>
                                        <p:tgtEl>
                                          <p:spTgt spid="72"/>
                                        </p:tgtEl>
                                      </p:cBhvr>
                                    </p:animEffect>
                                    <p:anim calcmode="lin" valueType="num">
                                      <p:cBhvr>
                                        <p:cTn id="33" dur="500" fill="hold"/>
                                        <p:tgtEl>
                                          <p:spTgt spid="72"/>
                                        </p:tgtEl>
                                        <p:attrNameLst>
                                          <p:attrName>ppt_w</p:attrName>
                                        </p:attrNameLst>
                                      </p:cBhvr>
                                      <p:tavLst>
                                        <p:tav tm="0">
                                          <p:val>
                                            <p:fltVal val="0"/>
                                          </p:val>
                                        </p:tav>
                                        <p:tav tm="100000">
                                          <p:val>
                                            <p:strVal val="#ppt_w"/>
                                          </p:val>
                                        </p:tav>
                                      </p:tavLst>
                                    </p:anim>
                                    <p:anim calcmode="lin" valueType="num">
                                      <p:cBhvr>
                                        <p:cTn id="34" dur="500" fill="hold"/>
                                        <p:tgtEl>
                                          <p:spTgt spid="72"/>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3"/>
                                        </p:tgtEl>
                                        <p:attrNameLst>
                                          <p:attrName>style.visibility</p:attrName>
                                        </p:attrNameLst>
                                      </p:cBhvr>
                                      <p:to>
                                        <p:strVal val="visible"/>
                                      </p:to>
                                    </p:set>
                                    <p:animEffect transition="in" filter="fade">
                                      <p:cBhvr>
                                        <p:cTn id="37" dur="500"/>
                                        <p:tgtEl>
                                          <p:spTgt spid="73"/>
                                        </p:tgtEl>
                                      </p:cBhvr>
                                    </p:animEffect>
                                    <p:anim calcmode="lin" valueType="num">
                                      <p:cBhvr>
                                        <p:cTn id="38" dur="500" fill="hold"/>
                                        <p:tgtEl>
                                          <p:spTgt spid="73"/>
                                        </p:tgtEl>
                                        <p:attrNameLst>
                                          <p:attrName>ppt_w</p:attrName>
                                        </p:attrNameLst>
                                      </p:cBhvr>
                                      <p:tavLst>
                                        <p:tav tm="0">
                                          <p:val>
                                            <p:fltVal val="0"/>
                                          </p:val>
                                        </p:tav>
                                        <p:tav tm="100000">
                                          <p:val>
                                            <p:strVal val="#ppt_w"/>
                                          </p:val>
                                        </p:tav>
                                      </p:tavLst>
                                    </p:anim>
                                    <p:anim calcmode="lin" valueType="num">
                                      <p:cBhvr>
                                        <p:cTn id="39" dur="500" fill="hold"/>
                                        <p:tgtEl>
                                          <p:spTgt spid="73"/>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47" presetID="53" presetClass="entr" presetSubtype="16" fill="hold" nodeType="clickEffect">
                                  <p:stCondLst>
                                    <p:cond delay="0"/>
                                  </p:stCondLst>
                                  <p:childTnLst>
                                    <p:set>
                                      <p:cBhvr>
                                        <p:cTn id="43" dur="1" fill="hold">
                                          <p:stCondLst>
                                            <p:cond delay="0"/>
                                          </p:stCondLst>
                                        </p:cTn>
                                        <p:tgtEl>
                                          <p:spTgt spid="74"/>
                                        </p:tgtEl>
                                        <p:attrNameLst>
                                          <p:attrName>style.visibility</p:attrName>
                                        </p:attrNameLst>
                                      </p:cBhvr>
                                      <p:to>
                                        <p:strVal val="visible"/>
                                      </p:to>
                                    </p:set>
                                    <p:animEffect transition="in" filter="fade">
                                      <p:cBhvr>
                                        <p:cTn id="44" dur="500"/>
                                        <p:tgtEl>
                                          <p:spTgt spid="74"/>
                                        </p:tgtEl>
                                      </p:cBhvr>
                                    </p:animEffect>
                                    <p:anim calcmode="lin" valueType="num">
                                      <p:cBhvr>
                                        <p:cTn id="45" dur="500" fill="hold"/>
                                        <p:tgtEl>
                                          <p:spTgt spid="74"/>
                                        </p:tgtEl>
                                        <p:attrNameLst>
                                          <p:attrName>ppt_w</p:attrName>
                                        </p:attrNameLst>
                                      </p:cBhvr>
                                      <p:tavLst>
                                        <p:tav tm="0">
                                          <p:val>
                                            <p:fltVal val="0"/>
                                          </p:val>
                                        </p:tav>
                                        <p:tav tm="100000">
                                          <p:val>
                                            <p:strVal val="#ppt_w"/>
                                          </p:val>
                                        </p:tav>
                                      </p:tavLst>
                                    </p:anim>
                                    <p:anim calcmode="lin" valueType="num">
                                      <p:cBhvr>
                                        <p:cTn id="46" dur="500" fill="hold"/>
                                        <p:tgtEl>
                                          <p:spTgt spid="74"/>
                                        </p:tgtEl>
                                        <p:attrNameLst>
                                          <p:attrName>ppt_h</p:attrName>
                                        </p:attrNameLst>
                                      </p:cBhvr>
                                      <p:tavLst>
                                        <p:tav tm="0">
                                          <p:val>
                                            <p:fltVal val="0"/>
                                          </p:val>
                                        </p:tav>
                                        <p:tav tm="100000">
                                          <p:val>
                                            <p:strVal val="#ppt_h"/>
                                          </p:val>
                                        </p:tav>
                                      </p:tavLst>
                                    </p:anim>
                                  </p:childTnLst>
                                </p:cTn>
                              </p:par>
                              <p:par>
                                <p:cTn id="52" presetID="53" presetClass="entr" presetSubtype="16" fill="hold" nodeType="withEffect">
                                  <p:stCondLst>
                                    <p:cond delay="0"/>
                                  </p:stCondLst>
                                  <p:childTnLst>
                                    <p:set>
                                      <p:cBhvr>
                                        <p:cTn id="48" dur="1" fill="hold">
                                          <p:stCondLst>
                                            <p:cond delay="0"/>
                                          </p:stCondLst>
                                        </p:cTn>
                                        <p:tgtEl>
                                          <p:spTgt spid="75"/>
                                        </p:tgtEl>
                                        <p:attrNameLst>
                                          <p:attrName>style.visibility</p:attrName>
                                        </p:attrNameLst>
                                      </p:cBhvr>
                                      <p:to>
                                        <p:strVal val="visible"/>
                                      </p:to>
                                    </p:set>
                                    <p:animEffect transition="in" filter="fade">
                                      <p:cBhvr>
                                        <p:cTn id="49" dur="500"/>
                                        <p:tgtEl>
                                          <p:spTgt spid="75"/>
                                        </p:tgtEl>
                                      </p:cBhvr>
                                    </p:animEffect>
                                    <p:anim calcmode="lin" valueType="num">
                                      <p:cBhvr>
                                        <p:cTn id="50" dur="500" fill="hold"/>
                                        <p:tgtEl>
                                          <p:spTgt spid="75"/>
                                        </p:tgtEl>
                                        <p:attrNameLst>
                                          <p:attrName>ppt_w</p:attrName>
                                        </p:attrNameLst>
                                      </p:cBhvr>
                                      <p:tavLst>
                                        <p:tav tm="0">
                                          <p:val>
                                            <p:fltVal val="0"/>
                                          </p:val>
                                        </p:tav>
                                        <p:tav tm="100000">
                                          <p:val>
                                            <p:strVal val="#ppt_w"/>
                                          </p:val>
                                        </p:tav>
                                      </p:tavLst>
                                    </p:anim>
                                    <p:anim calcmode="lin" valueType="num">
                                      <p:cBhvr>
                                        <p:cTn id="51" dur="500" fill="hold"/>
                                        <p:tgtEl>
                                          <p:spTgt spid="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6.4 · Question 2 · SE p. 251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Three ways to write </a:t>
            </a:r>
            <a:r>
              <a:rPr lang="en-US" sz="3450" dirty="0" b="1" i="1">
                <a:solidFill>
                  <a:srgbClr val="4F8A3C"/>
                </a:solidFill>
                <a:latin typeface="Cambria"/>
                <a:cs typeface="Cambria"/>
              </a:rPr>
              <a:t xml:space="preserve">F</a:t>
            </a:r>
            <a:r>
              <a:rPr lang="en-US" sz="3450" dirty="0" b="1">
                <a:solidFill>
                  <a:srgbClr val="4F8A3C"/>
                </a:solidFill>
                <a:latin typeface="Cambria"/>
                <a:cs typeface="Cambria"/>
              </a:rPr>
              <a:t xml:space="preserve">(</a:t>
            </a:r>
            <a:r>
              <a:rPr lang="en-US" sz="3450" dirty="0" b="1" i="1">
                <a:solidFill>
                  <a:srgbClr val="4F8A3C"/>
                </a:solidFill>
                <a:latin typeface="Cambria"/>
                <a:cs typeface="Cambria"/>
              </a:rPr>
              <a:t xml:space="preserve">t</a:t>
            </a:r>
            <a:r>
              <a:rPr lang="en-US" sz="3450" dirty="0" b="1">
                <a:solidFill>
                  <a:srgbClr val="4F8A3C"/>
                </a:solidFill>
                <a:latin typeface="Cambria"/>
                <a:cs typeface="Cambria"/>
              </a:rPr>
              <a:t xml:space="preserve">)</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Write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in terms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065782"/>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− 35</a:t>
            </a:r>
            <a:endParaRPr lang="en-US" sz="2325" dirty="0"/>
          </a:p>
        </p:txBody>
      </p:sp>
      <p:sp>
        <p:nvSpPr>
          <p:cNvPr id="6" name="Shape 6"/>
          <p:cNvSpPr txBox="1"/>
          <p:nvPr/>
        </p:nvSpPr>
        <p:spPr>
          <a:xfrm>
            <a:off x="685800" y="273710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General form. What do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show?</a:t>
            </a:r>
            <a:endParaRPr lang="en-US" sz="1575" dirty="0"/>
          </a:p>
        </p:txBody>
      </p:sp>
      <p:sp>
        <p:nvSpPr>
          <p:cNvPr id="7" name="Shape 7"/>
          <p:cNvSpPr txBox="1"/>
          <p:nvPr/>
        </p:nvSpPr>
        <p:spPr>
          <a:xfrm>
            <a:off x="685800" y="3184398"/>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80</a:t>
            </a:r>
            <a:endParaRPr lang="en-US" sz="2325" dirty="0"/>
          </a:p>
        </p:txBody>
      </p:sp>
      <p:sp>
        <p:nvSpPr>
          <p:cNvPr id="8" name="Shape 8"/>
          <p:cNvSpPr txBox="1"/>
          <p:nvPr/>
        </p:nvSpPr>
        <p:spPr>
          <a:xfrm>
            <a:off x="6210148" y="3184398"/>
            <a:ext cx="52957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slope triangle. </a:t>
            </a:r>
            <a:r>
              <a:rPr lang="en-US" sz="1575" dirty="0" b="1" i="1">
                <a:solidFill>
                  <a:srgbClr val="3050B8"/>
                </a:solidFill>
                <a:latin typeface="Cambria"/>
                <a:cs typeface="Cambria"/>
              </a:rPr>
              <a:t xml:space="preserve">b</a:t>
            </a:r>
            <a:r>
              <a:rPr lang="en-US" sz="1575" dirty="0" b="1">
                <a:solidFill>
                  <a:srgbClr val="3050B8"/>
                </a:solidFill>
                <a:latin typeface="Cambria"/>
                <a:cs typeface="Cambria"/>
              </a:rPr>
              <a:t xml:space="preserve"> = −80</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−80)</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87172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Factored form, with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as a fraction. What do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show?</a:t>
            </a:r>
            <a:endParaRPr lang="en-US" sz="1575" dirty="0"/>
          </a:p>
        </p:txBody>
      </p:sp>
      <p:sp>
        <p:nvSpPr>
          <p:cNvPr id="10" name="Shape 10"/>
          <p:cNvSpPr txBox="1"/>
          <p:nvPr/>
        </p:nvSpPr>
        <p:spPr>
          <a:xfrm>
            <a:off x="685800" y="4319016"/>
            <a:ext cx="506376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16</a:t>
            </a:r>
            <a:r>
              <a:rPr lang="en-US" sz="2325" dirty="0" b="1">
                <a:solidFill>
                  <a:srgbClr val="3050B8"/>
                </a:solidFill>
                <a:latin typeface="Cambria"/>
                <a:cs typeface="Cambria"/>
              </a:rPr>
              <a:t xml:space="preserve">/</a:t>
            </a:r>
            <a:r>
              <a:rPr lang="en-US" sz="2325" dirty="0" b="1">
                <a:solidFill>
                  <a:srgbClr val="3050B8"/>
                </a:solidFill>
                <a:latin typeface="Cambria"/>
                <a:cs typeface="Cambria"/>
              </a:rPr>
              <a:t xml:space="preserve">3</a:t>
            </a:r>
            <a:r>
              <a:rPr lang="en-US" sz="2325" dirty="0">
                <a:solidFill>
                  <a:srgbClr val="16171D"/>
                </a:solidFill>
                <a:latin typeface="Cambria"/>
                <a:cs typeface="Cambria"/>
              </a:rPr>
              <a:t xml:space="preserve">)</a:t>
            </a:r>
            <a:endParaRPr lang="en-US" sz="2325" dirty="0"/>
          </a:p>
        </p:txBody>
      </p:sp>
      <p:sp>
        <p:nvSpPr>
          <p:cNvPr id="11" name="Shape 11"/>
          <p:cNvSpPr txBox="1"/>
          <p:nvPr/>
        </p:nvSpPr>
        <p:spPr>
          <a:xfrm>
            <a:off x="6210148" y="4319016"/>
            <a:ext cx="52957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slope triangle. </a:t>
            </a:r>
            <a:r>
              <a:rPr lang="en-US" sz="1575" dirty="0" b="1" i="1">
                <a:solidFill>
                  <a:srgbClr val="3050B8"/>
                </a:solidFill>
                <a:latin typeface="Cambria"/>
                <a:cs typeface="Cambria"/>
              </a:rPr>
              <a:t xml:space="preserve">c</a:t>
            </a:r>
            <a:r>
              <a:rPr lang="en-US" sz="1575" dirty="0" b="1">
                <a:solidFill>
                  <a:srgbClr val="3050B8"/>
                </a:solidFill>
                <a:latin typeface="Cambria"/>
                <a:cs typeface="Cambria"/>
              </a:rPr>
              <a:t xml:space="preserve"> = </a:t>
            </a:r>
            <a:r>
              <a:rPr lang="en-US" sz="1575" dirty="0" b="1">
                <a:solidFill>
                  <a:srgbClr val="3050B8"/>
                </a:solidFill>
                <a:latin typeface="Cambria"/>
                <a:cs typeface="Cambria"/>
              </a:rPr>
              <a:t xml:space="preserve">16</a:t>
            </a:r>
            <a:r>
              <a:rPr lang="en-US" sz="1575" dirty="0" b="1">
                <a:solidFill>
                  <a:srgbClr val="3050B8"/>
                </a:solidFill>
                <a:latin typeface="Cambria"/>
                <a:cs typeface="Cambria"/>
              </a:rPr>
              <a:t xml:space="preserve">/</a:t>
            </a:r>
            <a:r>
              <a:rPr lang="en-US" sz="1575" dirty="0" b="1">
                <a:solidFill>
                  <a:srgbClr val="3050B8"/>
                </a:solidFill>
                <a:latin typeface="Cambria"/>
                <a:cs typeface="Cambria"/>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(5</a:t>
            </a:r>
            <a:r>
              <a:rPr lang="en-US" sz="1575" dirty="0">
                <a:solidFill>
                  <a:srgbClr val="16171D"/>
                </a:solidFill>
                <a:latin typeface="Cambria"/>
                <a:cs typeface="Cambria"/>
              </a:rPr>
              <a:t xml:space="preserve">1</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Talk the Talk · Question 3 · Graphic Organizer · SE pp. 253–254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Four views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− 8</a:t>
            </a:r>
            <a:endParaRPr lang="en-US" sz="3450" dirty="0"/>
          </a:p>
        </p:txBody>
      </p:sp>
      <p:sp>
        <p:nvSpPr>
          <p:cNvPr id="7" name="Shape 7"/>
          <p:cNvSpPr txBox="1"/>
          <p:nvPr/>
        </p:nvSpPr>
        <p:spPr>
          <a:xfrm>
            <a:off x="685800" y="1618488"/>
            <a:ext cx="34288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General form</a:t>
            </a:r>
            <a:endParaRPr lang="en-US" sz="2100" dirty="0"/>
          </a:p>
        </p:txBody>
      </p:sp>
      <p:sp>
        <p:nvSpPr>
          <p:cNvPr id="5" name="Shape 5"/>
          <p:cNvSpPr txBox="1"/>
          <p:nvPr/>
        </p:nvSpPr>
        <p:spPr>
          <a:xfrm>
            <a:off x="895350" y="2260092"/>
            <a:ext cx="30097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a:t>
            </a:r>
            <a:endParaRPr lang="en-US" sz="2325" dirty="0"/>
          </a:p>
        </p:txBody>
      </p:sp>
      <p:sp>
        <p:nvSpPr>
          <p:cNvPr id="6" name="Shape 6"/>
          <p:cNvSpPr txBox="1"/>
          <p:nvPr/>
        </p:nvSpPr>
        <p:spPr>
          <a:xfrm>
            <a:off x="895350" y="2764536"/>
            <a:ext cx="30097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2,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−8)</a:t>
            </a:r>
            <a:endParaRPr lang="en-US" sz="1575" dirty="0"/>
          </a:p>
        </p:txBody>
      </p:sp>
      <p:sp>
        <p:nvSpPr>
          <p:cNvPr id="11" name="Shape 11"/>
          <p:cNvSpPr txBox="1"/>
          <p:nvPr/>
        </p:nvSpPr>
        <p:spPr>
          <a:xfrm>
            <a:off x="685800" y="3345180"/>
            <a:ext cx="34288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516630"/>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Factored form</a:t>
            </a:r>
            <a:endParaRPr lang="en-US" sz="2100" dirty="0"/>
          </a:p>
        </p:txBody>
      </p:sp>
      <p:sp>
        <p:nvSpPr>
          <p:cNvPr id="9" name="Shape 9"/>
          <p:cNvSpPr txBox="1"/>
          <p:nvPr/>
        </p:nvSpPr>
        <p:spPr>
          <a:xfrm>
            <a:off x="895350" y="3986784"/>
            <a:ext cx="30097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4</a:t>
            </a:r>
            <a:r>
              <a:rPr lang="en-US" sz="2325" dirty="0">
                <a:solidFill>
                  <a:srgbClr val="16171D"/>
                </a:solidFill>
                <a:latin typeface="Cambria"/>
                <a:cs typeface="Cambria"/>
              </a:rPr>
              <a:t xml:space="preserve">)</a:t>
            </a:r>
            <a:endParaRPr lang="en-US" sz="2325" dirty="0"/>
          </a:p>
        </p:txBody>
      </p:sp>
      <p:sp>
        <p:nvSpPr>
          <p:cNvPr id="10" name="Shape 10"/>
          <p:cNvSpPr txBox="1"/>
          <p:nvPr/>
        </p:nvSpPr>
        <p:spPr>
          <a:xfrm>
            <a:off x="895350" y="4491228"/>
            <a:ext cx="30097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2, zero 4</a:t>
            </a:r>
            <a:endParaRPr lang="en-US" sz="1575" dirty="0"/>
          </a:p>
        </p:txBody>
      </p:sp>
      <p:sp>
        <p:nvSpPr>
          <p:cNvPr id="12" name="Shape 12"/>
          <p:cNvSpPr txBox="1"/>
          <p:nvPr/>
        </p:nvSpPr>
        <p:spPr>
          <a:xfrm>
            <a:off x="685800" y="5071872"/>
            <a:ext cx="3428898" cy="117957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It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only once: factored form has one factor,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which is 0 only when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4381398" y="1618488"/>
            <a:ext cx="34288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a:t>
            </a:r>
            <a:endParaRPr lang="en-US" sz="2100" dirty="0"/>
          </a:p>
        </p:txBody>
      </p:sp>
      <p:sp>
        <p:nvSpPr>
          <p:cNvPr id="14" name="Shape 14"/>
          <p:cNvSpPr txBox="1"/>
          <p:nvPr/>
        </p:nvSpPr>
        <p:spPr>
          <a:xfrm>
            <a:off x="4381398" y="206959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15" name="Shape 15"/>
          <p:cNvSpPr txBox="1"/>
          <p:nvPr/>
        </p:nvSpPr>
        <p:spPr>
          <a:xfrm>
            <a:off x="5524398" y="206959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16" name="Shape 16"/>
          <p:cNvSpPr txBox="1"/>
          <p:nvPr/>
        </p:nvSpPr>
        <p:spPr>
          <a:xfrm>
            <a:off x="4381398" y="2490216"/>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17" name="Shape 17"/>
          <p:cNvSpPr txBox="1"/>
          <p:nvPr/>
        </p:nvSpPr>
        <p:spPr>
          <a:xfrm>
            <a:off x="4381398" y="2490216"/>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18" name="Shape 18"/>
          <p:cNvSpPr txBox="1"/>
          <p:nvPr/>
        </p:nvSpPr>
        <p:spPr>
          <a:xfrm>
            <a:off x="5524398" y="2490216"/>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19" name="Shape 19"/>
          <p:cNvSpPr txBox="1"/>
          <p:nvPr/>
        </p:nvSpPr>
        <p:spPr>
          <a:xfrm>
            <a:off x="5524398" y="2490216"/>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a:t>
            </a:r>
            <a:endParaRPr lang="en-US" sz="1800" dirty="0"/>
          </a:p>
        </p:txBody>
      </p:sp>
      <p:sp>
        <p:nvSpPr>
          <p:cNvPr id="20" name="Shape 20"/>
          <p:cNvSpPr txBox="1"/>
          <p:nvPr/>
        </p:nvSpPr>
        <p:spPr>
          <a:xfrm>
            <a:off x="4381398" y="2910840"/>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1" name="Shape 21"/>
          <p:cNvSpPr txBox="1"/>
          <p:nvPr/>
        </p:nvSpPr>
        <p:spPr>
          <a:xfrm>
            <a:off x="4381398" y="2910840"/>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22" name="Shape 22"/>
          <p:cNvSpPr txBox="1"/>
          <p:nvPr/>
        </p:nvSpPr>
        <p:spPr>
          <a:xfrm>
            <a:off x="5524398" y="2910840"/>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3" name="Shape 23"/>
          <p:cNvSpPr txBox="1"/>
          <p:nvPr/>
        </p:nvSpPr>
        <p:spPr>
          <a:xfrm>
            <a:off x="5524398" y="2910840"/>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4" name="Shape 24"/>
          <p:cNvSpPr txBox="1"/>
          <p:nvPr/>
        </p:nvSpPr>
        <p:spPr>
          <a:xfrm>
            <a:off x="4381398" y="3331464"/>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5" name="Shape 25"/>
          <p:cNvSpPr txBox="1"/>
          <p:nvPr/>
        </p:nvSpPr>
        <p:spPr>
          <a:xfrm>
            <a:off x="4381398" y="3331464"/>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6" name="Shape 26"/>
          <p:cNvSpPr txBox="1"/>
          <p:nvPr/>
        </p:nvSpPr>
        <p:spPr>
          <a:xfrm>
            <a:off x="5524398" y="3331464"/>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7" name="Shape 27"/>
          <p:cNvSpPr txBox="1"/>
          <p:nvPr/>
        </p:nvSpPr>
        <p:spPr>
          <a:xfrm>
            <a:off x="5524398" y="3331464"/>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28" name="Shape 28"/>
          <p:cNvSpPr txBox="1"/>
          <p:nvPr/>
        </p:nvSpPr>
        <p:spPr>
          <a:xfrm>
            <a:off x="4381398" y="3752088"/>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9" name="Shape 29"/>
          <p:cNvSpPr txBox="1"/>
          <p:nvPr/>
        </p:nvSpPr>
        <p:spPr>
          <a:xfrm>
            <a:off x="4381398" y="3752088"/>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30" name="Shape 30"/>
          <p:cNvSpPr txBox="1"/>
          <p:nvPr/>
        </p:nvSpPr>
        <p:spPr>
          <a:xfrm>
            <a:off x="5524398" y="3752088"/>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31" name="Shape 31"/>
          <p:cNvSpPr txBox="1"/>
          <p:nvPr/>
        </p:nvSpPr>
        <p:spPr>
          <a:xfrm>
            <a:off x="5524398" y="3752088"/>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32" name="Shape 32"/>
          <p:cNvSpPr txBox="1"/>
          <p:nvPr/>
        </p:nvSpPr>
        <p:spPr>
          <a:xfrm>
            <a:off x="8076997" y="1618488"/>
            <a:ext cx="34288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a:t>
            </a:r>
            <a:endParaRPr lang="en-US" sz="2100" dirty="0"/>
          </a:p>
        </p:txBody>
      </p:sp>
      <p:sp>
        <p:nvSpPr>
          <p:cNvPr id="33" name="Shape 33"/>
          <p:cNvSpPr/>
          <p:nvPr/>
        </p:nvSpPr>
        <p:spPr>
          <a:xfrm>
            <a:off x="8076997" y="2069592"/>
            <a:ext cx="30480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34" name="Line 34"/>
          <p:cNvCxnSpPr/>
          <p:nvPr/>
        </p:nvCxnSpPr>
        <p:spPr>
          <a:xfrm>
            <a:off x="8400847" y="2183892"/>
            <a:ext cx="0" cy="2876550"/>
          </a:xfrm>
          <a:prstGeom prst="line">
            <a:avLst/>
          </a:prstGeom>
          <a:ln w="9525" cap="flat">
            <a:solidFill>
              <a:srgbClr val="E6E8F2"/>
            </a:solidFill>
          </a:ln>
        </p:spPr>
      </p:cxnSp>
      <p:cxnSp>
        <p:nvCxnSpPr>
          <p:cNvPr id="35" name="Line 35"/>
          <p:cNvCxnSpPr/>
          <p:nvPr/>
        </p:nvCxnSpPr>
        <p:spPr>
          <a:xfrm>
            <a:off x="8587265" y="2183892"/>
            <a:ext cx="0" cy="2876550"/>
          </a:xfrm>
          <a:prstGeom prst="line">
            <a:avLst/>
          </a:prstGeom>
          <a:ln w="9525" cap="flat">
            <a:solidFill>
              <a:srgbClr val="E6E8F2"/>
            </a:solidFill>
          </a:ln>
        </p:spPr>
      </p:cxnSp>
      <p:cxnSp>
        <p:nvCxnSpPr>
          <p:cNvPr id="36" name="Line 36"/>
          <p:cNvCxnSpPr/>
          <p:nvPr/>
        </p:nvCxnSpPr>
        <p:spPr>
          <a:xfrm>
            <a:off x="8773683" y="2183892"/>
            <a:ext cx="0" cy="2876550"/>
          </a:xfrm>
          <a:prstGeom prst="line">
            <a:avLst/>
          </a:prstGeom>
          <a:ln w="9525" cap="flat">
            <a:solidFill>
              <a:srgbClr val="E6E8F2"/>
            </a:solidFill>
          </a:ln>
        </p:spPr>
      </p:cxnSp>
      <p:cxnSp>
        <p:nvCxnSpPr>
          <p:cNvPr id="37" name="Line 37"/>
          <p:cNvCxnSpPr/>
          <p:nvPr/>
        </p:nvCxnSpPr>
        <p:spPr>
          <a:xfrm>
            <a:off x="8960100" y="2183892"/>
            <a:ext cx="0" cy="2876550"/>
          </a:xfrm>
          <a:prstGeom prst="line">
            <a:avLst/>
          </a:prstGeom>
          <a:ln w="9525" cap="flat">
            <a:solidFill>
              <a:srgbClr val="E6E8F2"/>
            </a:solidFill>
          </a:ln>
        </p:spPr>
      </p:cxnSp>
      <p:cxnSp>
        <p:nvCxnSpPr>
          <p:cNvPr id="38" name="Line 38"/>
          <p:cNvCxnSpPr/>
          <p:nvPr/>
        </p:nvCxnSpPr>
        <p:spPr>
          <a:xfrm>
            <a:off x="9146518" y="2183892"/>
            <a:ext cx="0" cy="2876550"/>
          </a:xfrm>
          <a:prstGeom prst="line">
            <a:avLst/>
          </a:prstGeom>
          <a:ln w="9525" cap="flat">
            <a:solidFill>
              <a:srgbClr val="E6E8F2"/>
            </a:solidFill>
          </a:ln>
        </p:spPr>
      </p:cxnSp>
      <p:cxnSp>
        <p:nvCxnSpPr>
          <p:cNvPr id="39" name="Line 39"/>
          <p:cNvCxnSpPr/>
          <p:nvPr/>
        </p:nvCxnSpPr>
        <p:spPr>
          <a:xfrm>
            <a:off x="9332936" y="2183892"/>
            <a:ext cx="0" cy="2876550"/>
          </a:xfrm>
          <a:prstGeom prst="line">
            <a:avLst/>
          </a:prstGeom>
          <a:ln w="9525" cap="flat">
            <a:solidFill>
              <a:srgbClr val="E6E8F2"/>
            </a:solidFill>
          </a:ln>
        </p:spPr>
      </p:cxnSp>
      <p:cxnSp>
        <p:nvCxnSpPr>
          <p:cNvPr id="40" name="Line 40"/>
          <p:cNvCxnSpPr/>
          <p:nvPr/>
        </p:nvCxnSpPr>
        <p:spPr>
          <a:xfrm>
            <a:off x="9519354" y="2183892"/>
            <a:ext cx="0" cy="2876550"/>
          </a:xfrm>
          <a:prstGeom prst="line">
            <a:avLst/>
          </a:prstGeom>
          <a:ln w="9525" cap="flat">
            <a:solidFill>
              <a:srgbClr val="E6E8F2"/>
            </a:solidFill>
          </a:ln>
        </p:spPr>
      </p:cxnSp>
      <p:cxnSp>
        <p:nvCxnSpPr>
          <p:cNvPr id="41" name="Line 41"/>
          <p:cNvCxnSpPr/>
          <p:nvPr/>
        </p:nvCxnSpPr>
        <p:spPr>
          <a:xfrm>
            <a:off x="9705772" y="2183892"/>
            <a:ext cx="0" cy="2876550"/>
          </a:xfrm>
          <a:prstGeom prst="line">
            <a:avLst/>
          </a:prstGeom>
          <a:ln w="9525" cap="flat">
            <a:solidFill>
              <a:srgbClr val="E6E8F2"/>
            </a:solidFill>
          </a:ln>
        </p:spPr>
      </p:cxnSp>
      <p:cxnSp>
        <p:nvCxnSpPr>
          <p:cNvPr id="42" name="Line 42"/>
          <p:cNvCxnSpPr/>
          <p:nvPr/>
        </p:nvCxnSpPr>
        <p:spPr>
          <a:xfrm>
            <a:off x="9892190" y="2183892"/>
            <a:ext cx="0" cy="2876550"/>
          </a:xfrm>
          <a:prstGeom prst="line">
            <a:avLst/>
          </a:prstGeom>
          <a:ln w="9525" cap="flat">
            <a:solidFill>
              <a:srgbClr val="E6E8F2"/>
            </a:solidFill>
          </a:ln>
        </p:spPr>
      </p:cxnSp>
      <p:cxnSp>
        <p:nvCxnSpPr>
          <p:cNvPr id="43" name="Line 43"/>
          <p:cNvCxnSpPr/>
          <p:nvPr/>
        </p:nvCxnSpPr>
        <p:spPr>
          <a:xfrm>
            <a:off x="10078608" y="2183892"/>
            <a:ext cx="0" cy="2876550"/>
          </a:xfrm>
          <a:prstGeom prst="line">
            <a:avLst/>
          </a:prstGeom>
          <a:ln w="9525" cap="flat">
            <a:solidFill>
              <a:srgbClr val="E6E8F2"/>
            </a:solidFill>
          </a:ln>
        </p:spPr>
      </p:cxnSp>
      <p:cxnSp>
        <p:nvCxnSpPr>
          <p:cNvPr id="44" name="Line 44"/>
          <p:cNvCxnSpPr/>
          <p:nvPr/>
        </p:nvCxnSpPr>
        <p:spPr>
          <a:xfrm>
            <a:off x="10265025" y="2183892"/>
            <a:ext cx="0" cy="2876550"/>
          </a:xfrm>
          <a:prstGeom prst="line">
            <a:avLst/>
          </a:prstGeom>
          <a:ln w="9525" cap="flat">
            <a:solidFill>
              <a:srgbClr val="E6E8F2"/>
            </a:solidFill>
          </a:ln>
        </p:spPr>
      </p:cxnSp>
      <p:cxnSp>
        <p:nvCxnSpPr>
          <p:cNvPr id="45" name="Line 45"/>
          <p:cNvCxnSpPr/>
          <p:nvPr/>
        </p:nvCxnSpPr>
        <p:spPr>
          <a:xfrm>
            <a:off x="10451443" y="2183892"/>
            <a:ext cx="0" cy="2876550"/>
          </a:xfrm>
          <a:prstGeom prst="line">
            <a:avLst/>
          </a:prstGeom>
          <a:ln w="9525" cap="flat">
            <a:solidFill>
              <a:srgbClr val="E6E8F2"/>
            </a:solidFill>
          </a:ln>
        </p:spPr>
      </p:cxnSp>
      <p:cxnSp>
        <p:nvCxnSpPr>
          <p:cNvPr id="46" name="Line 46"/>
          <p:cNvCxnSpPr/>
          <p:nvPr/>
        </p:nvCxnSpPr>
        <p:spPr>
          <a:xfrm>
            <a:off x="10637861" y="2183892"/>
            <a:ext cx="0" cy="2876550"/>
          </a:xfrm>
          <a:prstGeom prst="line">
            <a:avLst/>
          </a:prstGeom>
          <a:ln w="9525" cap="flat">
            <a:solidFill>
              <a:srgbClr val="E6E8F2"/>
            </a:solidFill>
          </a:ln>
        </p:spPr>
      </p:cxnSp>
      <p:cxnSp>
        <p:nvCxnSpPr>
          <p:cNvPr id="47" name="Line 47"/>
          <p:cNvCxnSpPr/>
          <p:nvPr/>
        </p:nvCxnSpPr>
        <p:spPr>
          <a:xfrm>
            <a:off x="10824279" y="2183892"/>
            <a:ext cx="0" cy="2876550"/>
          </a:xfrm>
          <a:prstGeom prst="line">
            <a:avLst/>
          </a:prstGeom>
          <a:ln w="9525" cap="flat">
            <a:solidFill>
              <a:srgbClr val="E6E8F2"/>
            </a:solidFill>
          </a:ln>
        </p:spPr>
      </p:cxnSp>
      <p:cxnSp>
        <p:nvCxnSpPr>
          <p:cNvPr id="48" name="Line 48"/>
          <p:cNvCxnSpPr/>
          <p:nvPr/>
        </p:nvCxnSpPr>
        <p:spPr>
          <a:xfrm>
            <a:off x="11010697" y="2183892"/>
            <a:ext cx="0" cy="2876550"/>
          </a:xfrm>
          <a:prstGeom prst="line">
            <a:avLst/>
          </a:prstGeom>
          <a:ln w="9525" cap="flat">
            <a:solidFill>
              <a:srgbClr val="E6E8F2"/>
            </a:solidFill>
          </a:ln>
        </p:spPr>
      </p:cxnSp>
      <p:cxnSp>
        <p:nvCxnSpPr>
          <p:cNvPr id="49" name="Line 49"/>
          <p:cNvCxnSpPr/>
          <p:nvPr/>
        </p:nvCxnSpPr>
        <p:spPr>
          <a:xfrm>
            <a:off x="8400847" y="5060442"/>
            <a:ext cx="2609850" cy="0"/>
          </a:xfrm>
          <a:prstGeom prst="line">
            <a:avLst/>
          </a:prstGeom>
          <a:ln w="9525" cap="flat">
            <a:solidFill>
              <a:srgbClr val="E6E8F2"/>
            </a:solidFill>
          </a:ln>
        </p:spPr>
      </p:cxnSp>
      <p:cxnSp>
        <p:nvCxnSpPr>
          <p:cNvPr id="50" name="Line 50"/>
          <p:cNvCxnSpPr/>
          <p:nvPr/>
        </p:nvCxnSpPr>
        <p:spPr>
          <a:xfrm>
            <a:off x="8400847" y="4900634"/>
            <a:ext cx="2609850" cy="0"/>
          </a:xfrm>
          <a:prstGeom prst="line">
            <a:avLst/>
          </a:prstGeom>
          <a:ln w="9525" cap="flat">
            <a:solidFill>
              <a:srgbClr val="E6E8F2"/>
            </a:solidFill>
          </a:ln>
        </p:spPr>
      </p:cxnSp>
      <p:cxnSp>
        <p:nvCxnSpPr>
          <p:cNvPr id="51" name="Line 51"/>
          <p:cNvCxnSpPr/>
          <p:nvPr/>
        </p:nvCxnSpPr>
        <p:spPr>
          <a:xfrm>
            <a:off x="8400847" y="4740825"/>
            <a:ext cx="2609850" cy="0"/>
          </a:xfrm>
          <a:prstGeom prst="line">
            <a:avLst/>
          </a:prstGeom>
          <a:ln w="9525" cap="flat">
            <a:solidFill>
              <a:srgbClr val="E6E8F2"/>
            </a:solidFill>
          </a:ln>
        </p:spPr>
      </p:cxnSp>
      <p:cxnSp>
        <p:nvCxnSpPr>
          <p:cNvPr id="52" name="Line 52"/>
          <p:cNvCxnSpPr/>
          <p:nvPr/>
        </p:nvCxnSpPr>
        <p:spPr>
          <a:xfrm>
            <a:off x="8400847" y="4581017"/>
            <a:ext cx="2609850" cy="0"/>
          </a:xfrm>
          <a:prstGeom prst="line">
            <a:avLst/>
          </a:prstGeom>
          <a:ln w="9525" cap="flat">
            <a:solidFill>
              <a:srgbClr val="E6E8F2"/>
            </a:solidFill>
          </a:ln>
        </p:spPr>
      </p:cxnSp>
      <p:cxnSp>
        <p:nvCxnSpPr>
          <p:cNvPr id="53" name="Line 53"/>
          <p:cNvCxnSpPr/>
          <p:nvPr/>
        </p:nvCxnSpPr>
        <p:spPr>
          <a:xfrm>
            <a:off x="8400847" y="4421209"/>
            <a:ext cx="2609850" cy="0"/>
          </a:xfrm>
          <a:prstGeom prst="line">
            <a:avLst/>
          </a:prstGeom>
          <a:ln w="9525" cap="flat">
            <a:solidFill>
              <a:srgbClr val="E6E8F2"/>
            </a:solidFill>
          </a:ln>
        </p:spPr>
      </p:cxnSp>
      <p:cxnSp>
        <p:nvCxnSpPr>
          <p:cNvPr id="54" name="Line 54"/>
          <p:cNvCxnSpPr/>
          <p:nvPr/>
        </p:nvCxnSpPr>
        <p:spPr>
          <a:xfrm>
            <a:off x="8400847" y="4261400"/>
            <a:ext cx="2609850" cy="0"/>
          </a:xfrm>
          <a:prstGeom prst="line">
            <a:avLst/>
          </a:prstGeom>
          <a:ln w="9525" cap="flat">
            <a:solidFill>
              <a:srgbClr val="E6E8F2"/>
            </a:solidFill>
          </a:ln>
        </p:spPr>
      </p:cxnSp>
      <p:cxnSp>
        <p:nvCxnSpPr>
          <p:cNvPr id="55" name="Line 55"/>
          <p:cNvCxnSpPr/>
          <p:nvPr/>
        </p:nvCxnSpPr>
        <p:spPr>
          <a:xfrm>
            <a:off x="8400847" y="4101592"/>
            <a:ext cx="2609850" cy="0"/>
          </a:xfrm>
          <a:prstGeom prst="line">
            <a:avLst/>
          </a:prstGeom>
          <a:ln w="9525" cap="flat">
            <a:solidFill>
              <a:srgbClr val="E6E8F2"/>
            </a:solidFill>
          </a:ln>
        </p:spPr>
      </p:cxnSp>
      <p:cxnSp>
        <p:nvCxnSpPr>
          <p:cNvPr id="56" name="Line 56"/>
          <p:cNvCxnSpPr/>
          <p:nvPr/>
        </p:nvCxnSpPr>
        <p:spPr>
          <a:xfrm>
            <a:off x="8400847" y="3941784"/>
            <a:ext cx="2609850" cy="0"/>
          </a:xfrm>
          <a:prstGeom prst="line">
            <a:avLst/>
          </a:prstGeom>
          <a:ln w="9525" cap="flat">
            <a:solidFill>
              <a:srgbClr val="E6E8F2"/>
            </a:solidFill>
          </a:ln>
        </p:spPr>
      </p:cxnSp>
      <p:cxnSp>
        <p:nvCxnSpPr>
          <p:cNvPr id="57" name="Line 57"/>
          <p:cNvCxnSpPr/>
          <p:nvPr/>
        </p:nvCxnSpPr>
        <p:spPr>
          <a:xfrm>
            <a:off x="8400847" y="3781975"/>
            <a:ext cx="2609850" cy="0"/>
          </a:xfrm>
          <a:prstGeom prst="line">
            <a:avLst/>
          </a:prstGeom>
          <a:ln w="9525" cap="flat">
            <a:solidFill>
              <a:srgbClr val="E6E8F2"/>
            </a:solidFill>
          </a:ln>
        </p:spPr>
      </p:cxnSp>
      <p:cxnSp>
        <p:nvCxnSpPr>
          <p:cNvPr id="58" name="Line 58"/>
          <p:cNvCxnSpPr/>
          <p:nvPr/>
        </p:nvCxnSpPr>
        <p:spPr>
          <a:xfrm>
            <a:off x="8400847" y="3622167"/>
            <a:ext cx="2609850" cy="0"/>
          </a:xfrm>
          <a:prstGeom prst="line">
            <a:avLst/>
          </a:prstGeom>
          <a:ln w="9525" cap="flat">
            <a:solidFill>
              <a:srgbClr val="E6E8F2"/>
            </a:solidFill>
          </a:ln>
        </p:spPr>
      </p:cxnSp>
      <p:cxnSp>
        <p:nvCxnSpPr>
          <p:cNvPr id="59" name="Line 59"/>
          <p:cNvCxnSpPr/>
          <p:nvPr/>
        </p:nvCxnSpPr>
        <p:spPr>
          <a:xfrm>
            <a:off x="8400847" y="3462359"/>
            <a:ext cx="2609850" cy="0"/>
          </a:xfrm>
          <a:prstGeom prst="line">
            <a:avLst/>
          </a:prstGeom>
          <a:ln w="9525" cap="flat">
            <a:solidFill>
              <a:srgbClr val="E6E8F2"/>
            </a:solidFill>
          </a:ln>
        </p:spPr>
      </p:cxnSp>
      <p:cxnSp>
        <p:nvCxnSpPr>
          <p:cNvPr id="60" name="Line 60"/>
          <p:cNvCxnSpPr/>
          <p:nvPr/>
        </p:nvCxnSpPr>
        <p:spPr>
          <a:xfrm>
            <a:off x="8400847" y="3302550"/>
            <a:ext cx="2609850" cy="0"/>
          </a:xfrm>
          <a:prstGeom prst="line">
            <a:avLst/>
          </a:prstGeom>
          <a:ln w="9525" cap="flat">
            <a:solidFill>
              <a:srgbClr val="E6E8F2"/>
            </a:solidFill>
          </a:ln>
        </p:spPr>
      </p:cxnSp>
      <p:cxnSp>
        <p:nvCxnSpPr>
          <p:cNvPr id="61" name="Line 61"/>
          <p:cNvCxnSpPr/>
          <p:nvPr/>
        </p:nvCxnSpPr>
        <p:spPr>
          <a:xfrm>
            <a:off x="8400847" y="3142742"/>
            <a:ext cx="2609850" cy="0"/>
          </a:xfrm>
          <a:prstGeom prst="line">
            <a:avLst/>
          </a:prstGeom>
          <a:ln w="9525" cap="flat">
            <a:solidFill>
              <a:srgbClr val="E6E8F2"/>
            </a:solidFill>
          </a:ln>
        </p:spPr>
      </p:cxnSp>
      <p:cxnSp>
        <p:nvCxnSpPr>
          <p:cNvPr id="62" name="Line 62"/>
          <p:cNvCxnSpPr/>
          <p:nvPr/>
        </p:nvCxnSpPr>
        <p:spPr>
          <a:xfrm>
            <a:off x="8400847" y="2982934"/>
            <a:ext cx="2609850" cy="0"/>
          </a:xfrm>
          <a:prstGeom prst="line">
            <a:avLst/>
          </a:prstGeom>
          <a:ln w="9525" cap="flat">
            <a:solidFill>
              <a:srgbClr val="E6E8F2"/>
            </a:solidFill>
          </a:ln>
        </p:spPr>
      </p:cxnSp>
      <p:cxnSp>
        <p:nvCxnSpPr>
          <p:cNvPr id="63" name="Line 63"/>
          <p:cNvCxnSpPr/>
          <p:nvPr/>
        </p:nvCxnSpPr>
        <p:spPr>
          <a:xfrm>
            <a:off x="8400847" y="2823125"/>
            <a:ext cx="2609850" cy="0"/>
          </a:xfrm>
          <a:prstGeom prst="line">
            <a:avLst/>
          </a:prstGeom>
          <a:ln w="9525" cap="flat">
            <a:solidFill>
              <a:srgbClr val="E6E8F2"/>
            </a:solidFill>
          </a:ln>
        </p:spPr>
      </p:cxnSp>
      <p:cxnSp>
        <p:nvCxnSpPr>
          <p:cNvPr id="64" name="Line 64"/>
          <p:cNvCxnSpPr/>
          <p:nvPr/>
        </p:nvCxnSpPr>
        <p:spPr>
          <a:xfrm>
            <a:off x="8400847" y="2663317"/>
            <a:ext cx="2609850" cy="0"/>
          </a:xfrm>
          <a:prstGeom prst="line">
            <a:avLst/>
          </a:prstGeom>
          <a:ln w="9525" cap="flat">
            <a:solidFill>
              <a:srgbClr val="E6E8F2"/>
            </a:solidFill>
          </a:ln>
        </p:spPr>
      </p:cxnSp>
      <p:cxnSp>
        <p:nvCxnSpPr>
          <p:cNvPr id="65" name="Line 65"/>
          <p:cNvCxnSpPr/>
          <p:nvPr/>
        </p:nvCxnSpPr>
        <p:spPr>
          <a:xfrm>
            <a:off x="8400847" y="2503509"/>
            <a:ext cx="2609850" cy="0"/>
          </a:xfrm>
          <a:prstGeom prst="line">
            <a:avLst/>
          </a:prstGeom>
          <a:ln w="9525" cap="flat">
            <a:solidFill>
              <a:srgbClr val="E6E8F2"/>
            </a:solidFill>
          </a:ln>
        </p:spPr>
      </p:cxnSp>
      <p:cxnSp>
        <p:nvCxnSpPr>
          <p:cNvPr id="66" name="Line 66"/>
          <p:cNvCxnSpPr/>
          <p:nvPr/>
        </p:nvCxnSpPr>
        <p:spPr>
          <a:xfrm>
            <a:off x="8400847" y="2343700"/>
            <a:ext cx="2609850" cy="0"/>
          </a:xfrm>
          <a:prstGeom prst="line">
            <a:avLst/>
          </a:prstGeom>
          <a:ln w="9525" cap="flat">
            <a:solidFill>
              <a:srgbClr val="E6E8F2"/>
            </a:solidFill>
          </a:ln>
        </p:spPr>
      </p:cxnSp>
      <p:cxnSp>
        <p:nvCxnSpPr>
          <p:cNvPr id="67" name="Line 67"/>
          <p:cNvCxnSpPr/>
          <p:nvPr/>
        </p:nvCxnSpPr>
        <p:spPr>
          <a:xfrm>
            <a:off x="8400847" y="2183892"/>
            <a:ext cx="2609850" cy="0"/>
          </a:xfrm>
          <a:prstGeom prst="line">
            <a:avLst/>
          </a:prstGeom>
          <a:ln w="9525" cap="flat">
            <a:solidFill>
              <a:srgbClr val="E6E8F2"/>
            </a:solidFill>
          </a:ln>
        </p:spPr>
      </p:cxnSp>
      <p:cxnSp>
        <p:nvCxnSpPr>
          <p:cNvPr id="68" name="Line 68"/>
          <p:cNvCxnSpPr/>
          <p:nvPr/>
        </p:nvCxnSpPr>
        <p:spPr>
          <a:xfrm>
            <a:off x="9519354" y="2183892"/>
            <a:ext cx="0" cy="2876550"/>
          </a:xfrm>
          <a:prstGeom prst="line">
            <a:avLst/>
          </a:prstGeom>
          <a:ln w="19050" cap="flat">
            <a:solidFill>
              <a:srgbClr val="5F6272"/>
            </a:solidFill>
          </a:ln>
        </p:spPr>
      </p:cxnSp>
      <p:cxnSp>
        <p:nvCxnSpPr>
          <p:cNvPr id="69" name="Line 69"/>
          <p:cNvCxnSpPr/>
          <p:nvPr/>
        </p:nvCxnSpPr>
        <p:spPr>
          <a:xfrm>
            <a:off x="8400847" y="3462359"/>
            <a:ext cx="2609850" cy="0"/>
          </a:xfrm>
          <a:prstGeom prst="line">
            <a:avLst/>
          </a:prstGeom>
          <a:ln w="19050" cap="flat">
            <a:solidFill>
              <a:srgbClr val="5F6272"/>
            </a:solidFill>
          </a:ln>
        </p:spPr>
      </p:cxnSp>
      <p:sp>
        <p:nvSpPr>
          <p:cNvPr id="70" name="Shape 70"/>
          <p:cNvSpPr txBox="1"/>
          <p:nvPr/>
        </p:nvSpPr>
        <p:spPr>
          <a:xfrm>
            <a:off x="8126527"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71" name="Shape 71"/>
          <p:cNvSpPr txBox="1"/>
          <p:nvPr/>
        </p:nvSpPr>
        <p:spPr>
          <a:xfrm>
            <a:off x="8499363"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2" name="Shape 72"/>
          <p:cNvSpPr txBox="1"/>
          <p:nvPr/>
        </p:nvSpPr>
        <p:spPr>
          <a:xfrm>
            <a:off x="8872198"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3" name="Shape 73"/>
          <p:cNvSpPr txBox="1"/>
          <p:nvPr/>
        </p:nvSpPr>
        <p:spPr>
          <a:xfrm>
            <a:off x="9245034"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74" name="Shape 74"/>
          <p:cNvSpPr txBox="1"/>
          <p:nvPr/>
        </p:nvSpPr>
        <p:spPr>
          <a:xfrm>
            <a:off x="9617870"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5" name="Shape 75"/>
          <p:cNvSpPr txBox="1"/>
          <p:nvPr/>
        </p:nvSpPr>
        <p:spPr>
          <a:xfrm>
            <a:off x="9990705"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6" name="Shape 76"/>
          <p:cNvSpPr txBox="1"/>
          <p:nvPr/>
        </p:nvSpPr>
        <p:spPr>
          <a:xfrm>
            <a:off x="10363541"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77" name="Shape 77"/>
          <p:cNvSpPr txBox="1"/>
          <p:nvPr/>
        </p:nvSpPr>
        <p:spPr>
          <a:xfrm>
            <a:off x="10736377"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78" name="Shape 78"/>
          <p:cNvSpPr txBox="1"/>
          <p:nvPr/>
        </p:nvSpPr>
        <p:spPr>
          <a:xfrm>
            <a:off x="7833919" y="49690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79" name="Shape 79"/>
          <p:cNvSpPr txBox="1"/>
          <p:nvPr/>
        </p:nvSpPr>
        <p:spPr>
          <a:xfrm>
            <a:off x="7833919" y="46493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80" name="Shape 80"/>
          <p:cNvSpPr txBox="1"/>
          <p:nvPr/>
        </p:nvSpPr>
        <p:spPr>
          <a:xfrm>
            <a:off x="7833919" y="43297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1" name="Shape 81"/>
          <p:cNvSpPr txBox="1"/>
          <p:nvPr/>
        </p:nvSpPr>
        <p:spPr>
          <a:xfrm>
            <a:off x="7833919" y="4010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2" name="Shape 82"/>
          <p:cNvSpPr txBox="1"/>
          <p:nvPr/>
        </p:nvSpPr>
        <p:spPr>
          <a:xfrm>
            <a:off x="7833919" y="36905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3" name="Shape 83"/>
          <p:cNvSpPr txBox="1"/>
          <p:nvPr/>
        </p:nvSpPr>
        <p:spPr>
          <a:xfrm>
            <a:off x="7833919" y="337091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84" name="Shape 84"/>
          <p:cNvSpPr txBox="1"/>
          <p:nvPr/>
        </p:nvSpPr>
        <p:spPr>
          <a:xfrm>
            <a:off x="7833919" y="30513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5" name="Shape 85"/>
          <p:cNvSpPr txBox="1"/>
          <p:nvPr/>
        </p:nvSpPr>
        <p:spPr>
          <a:xfrm>
            <a:off x="7833919" y="27316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6" name="Shape 86"/>
          <p:cNvSpPr txBox="1"/>
          <p:nvPr/>
        </p:nvSpPr>
        <p:spPr>
          <a:xfrm>
            <a:off x="7833919" y="2412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7" name="Shape 87"/>
          <p:cNvSpPr txBox="1"/>
          <p:nvPr/>
        </p:nvSpPr>
        <p:spPr>
          <a:xfrm>
            <a:off x="7833919" y="20924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88" name="Shape 88"/>
          <p:cNvSpPr/>
          <p:nvPr/>
        </p:nvSpPr>
        <p:spPr>
          <a:xfrm>
            <a:off x="9466966" y="46884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89" name="Shape 89"/>
          <p:cNvSpPr txBox="1"/>
          <p:nvPr/>
        </p:nvSpPr>
        <p:spPr>
          <a:xfrm>
            <a:off x="9605079" y="449317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−8)</a:t>
            </a:r>
            <a:endParaRPr lang="en-US" sz="1125" dirty="0"/>
          </a:p>
        </p:txBody>
      </p:sp>
      <p:sp>
        <p:nvSpPr>
          <p:cNvPr id="90" name="Shape 90"/>
          <p:cNvSpPr/>
          <p:nvPr/>
        </p:nvSpPr>
        <p:spPr>
          <a:xfrm>
            <a:off x="10212638" y="340997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1" name="Shape 91"/>
          <p:cNvSpPr txBox="1"/>
          <p:nvPr/>
        </p:nvSpPr>
        <p:spPr>
          <a:xfrm>
            <a:off x="10350750" y="321470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(4, 0)</a:t>
            </a:r>
            <a:endParaRPr lang="en-US" sz="1125" dirty="0"/>
          </a:p>
        </p:txBody>
      </p:sp>
      <p:cxnSp>
        <p:nvCxnSpPr>
          <p:cNvPr id="92" name="Line 92"/>
          <p:cNvCxnSpPr/>
          <p:nvPr/>
        </p:nvCxnSpPr>
        <p:spPr>
          <a:xfrm flipV="1">
            <a:off x="9332936" y="2183892"/>
            <a:ext cx="1677761" cy="287655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anim calcmode="lin" valueType="num">
                                      <p:cBhvr>
                                        <p:cTn id="10" dur="500" fill="hold"/>
                                        <p:tgtEl>
                                          <p:spTgt spid="4"/>
                                        </p:tgtEl>
                                        <p:attrNameLst>
                                          <p:attrName>ppt_x</p:attrName>
                                        </p:attrNameLst>
                                      </p:cBhvr>
                                      <p:tavLst>
                                        <p:tav tm="0">
                                          <p:val>
                                            <p:strVal val="#ppt_x"/>
                                          </p:val>
                                        </p:tav>
                                        <p:tav tm="100000">
                                          <p:val>
                                            <p:strVal val="#ppt_x"/>
                                          </p:val>
                                        </p:tav>
                                      </p:tavLst>
                                    </p:anim>
                                    <p:anim calcmode="lin" valueType="num">
                                      <p:cBhvr>
                                        <p:cTn id="11" dur="5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anim calcmode="lin" valueType="num">
                                      <p:cBhvr>
                                        <p:cTn id="27" dur="500" fill="hold"/>
                                        <p:tgtEl>
                                          <p:spTgt spid="11"/>
                                        </p:tgtEl>
                                        <p:attrNameLst>
                                          <p:attrName>ppt_x</p:attrName>
                                        </p:attrNameLst>
                                      </p:cBhvr>
                                      <p:tavLst>
                                        <p:tav tm="0">
                                          <p:val>
                                            <p:strVal val="#ppt_x"/>
                                          </p:val>
                                        </p:tav>
                                        <p:tav tm="100000">
                                          <p:val>
                                            <p:strVal val="#ppt_x"/>
                                          </p:val>
                                        </p:tav>
                                      </p:tavLst>
                                    </p:anim>
                                    <p:anim calcmode="lin" valueType="num">
                                      <p:cBhvr>
                                        <p:cTn id="28"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p:cTn id="32" dur="500" fill="hold"/>
                                        <p:tgtEl>
                                          <p:spTgt spid="8"/>
                                        </p:tgtEl>
                                        <p:attrNameLst>
                                          <p:attrName>ppt_x</p:attrName>
                                        </p:attrNameLst>
                                      </p:cBhvr>
                                      <p:tavLst>
                                        <p:tav tm="0">
                                          <p:val>
                                            <p:strVal val="#ppt_x"/>
                                          </p:val>
                                        </p:tav>
                                        <p:tav tm="100000">
                                          <p:val>
                                            <p:strVal val="#ppt_x"/>
                                          </p:val>
                                        </p:tav>
                                      </p:tavLst>
                                    </p:anim>
                                    <p:anim calcmode="lin" valueType="num">
                                      <p:cBhvr>
                                        <p:cTn id="33" dur="500" fill="hold"/>
                                        <p:tgtEl>
                                          <p:spTgt spid="8"/>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anim calcmode="lin" valueType="num">
                                      <p:cBhvr>
                                        <p:cTn id="37" dur="500" fill="hold"/>
                                        <p:tgtEl>
                                          <p:spTgt spid="9"/>
                                        </p:tgtEl>
                                        <p:attrNameLst>
                                          <p:attrName>ppt_x</p:attrName>
                                        </p:attrNameLst>
                                      </p:cBhvr>
                                      <p:tavLst>
                                        <p:tav tm="0">
                                          <p:val>
                                            <p:strVal val="#ppt_x"/>
                                          </p:val>
                                        </p:tav>
                                        <p:tav tm="100000">
                                          <p:val>
                                            <p:strVal val="#ppt_x"/>
                                          </p:val>
                                        </p:tav>
                                      </p:tavLst>
                                    </p:anim>
                                    <p:anim calcmode="lin" valueType="num">
                                      <p:cBhvr>
                                        <p:cTn id="38" dur="50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anim calcmode="lin" valueType="num">
                                      <p:cBhvr>
                                        <p:cTn id="42" dur="500" fill="hold"/>
                                        <p:tgtEl>
                                          <p:spTgt spid="10"/>
                                        </p:tgtEl>
                                        <p:attrNameLst>
                                          <p:attrName>ppt_x</p:attrName>
                                        </p:attrNameLst>
                                      </p:cBhvr>
                                      <p:tavLst>
                                        <p:tav tm="0">
                                          <p:val>
                                            <p:strVal val="#ppt_x"/>
                                          </p:val>
                                        </p:tav>
                                        <p:tav tm="100000">
                                          <p:val>
                                            <p:strVal val="#ppt_x"/>
                                          </p:val>
                                        </p:tav>
                                      </p:tavLst>
                                    </p:anim>
                                    <p:anim calcmode="lin" valueType="num">
                                      <p:cBhvr>
                                        <p:cTn id="4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anim calcmode="lin" valueType="num">
                                      <p:cBhvr>
                                        <p:cTn id="49" dur="500" fill="hold"/>
                                        <p:tgtEl>
                                          <p:spTgt spid="12"/>
                                        </p:tgtEl>
                                        <p:attrNameLst>
                                          <p:attrName>ppt_x</p:attrName>
                                        </p:attrNameLst>
                                      </p:cBhvr>
                                      <p:tavLst>
                                        <p:tav tm="0">
                                          <p:val>
                                            <p:strVal val="#ppt_x"/>
                                          </p:val>
                                        </p:tav>
                                        <p:tav tm="100000">
                                          <p:val>
                                            <p:strVal val="#ppt_x"/>
                                          </p:val>
                                        </p:tav>
                                      </p:tavLst>
                                    </p:anim>
                                    <p:anim calcmode="lin" valueType="num">
                                      <p:cBhvr>
                                        <p:cTn id="5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58" presetID="42"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anim calcmode="lin" valueType="num">
                                      <p:cBhvr>
                                        <p:cTn id="56" dur="500" fill="hold"/>
                                        <p:tgtEl>
                                          <p:spTgt spid="17"/>
                                        </p:tgtEl>
                                        <p:attrNameLst>
                                          <p:attrName>ppt_x</p:attrName>
                                        </p:attrNameLst>
                                      </p:cBhvr>
                                      <p:tavLst>
                                        <p:tav tm="0">
                                          <p:val>
                                            <p:strVal val="#ppt_x"/>
                                          </p:val>
                                        </p:tav>
                                        <p:tav tm="100000">
                                          <p:val>
                                            <p:strVal val="#ppt_x"/>
                                          </p:val>
                                        </p:tav>
                                      </p:tavLst>
                                    </p:anim>
                                    <p:anim calcmode="lin" valueType="num">
                                      <p:cBhvr>
                                        <p:cTn id="57"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5" presetID="42" presetClass="entr" presetSubtype="0"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anim calcmode="lin" valueType="num">
                                      <p:cBhvr>
                                        <p:cTn id="63" dur="500" fill="hold"/>
                                        <p:tgtEl>
                                          <p:spTgt spid="19"/>
                                        </p:tgtEl>
                                        <p:attrNameLst>
                                          <p:attrName>ppt_x</p:attrName>
                                        </p:attrNameLst>
                                      </p:cBhvr>
                                      <p:tavLst>
                                        <p:tav tm="0">
                                          <p:val>
                                            <p:strVal val="#ppt_x"/>
                                          </p:val>
                                        </p:tav>
                                        <p:tav tm="100000">
                                          <p:val>
                                            <p:strVal val="#ppt_x"/>
                                          </p:val>
                                        </p:tav>
                                      </p:tavLst>
                                    </p:anim>
                                    <p:anim calcmode="lin" valueType="num">
                                      <p:cBhvr>
                                        <p:cTn id="6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2" presetID="42" presetClass="entr" presetSubtype="0" fill="hold"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anim calcmode="lin" valueType="num">
                                      <p:cBhvr>
                                        <p:cTn id="70" dur="500" fill="hold"/>
                                        <p:tgtEl>
                                          <p:spTgt spid="21"/>
                                        </p:tgtEl>
                                        <p:attrNameLst>
                                          <p:attrName>ppt_x</p:attrName>
                                        </p:attrNameLst>
                                      </p:cBhvr>
                                      <p:tavLst>
                                        <p:tav tm="0">
                                          <p:val>
                                            <p:strVal val="#ppt_x"/>
                                          </p:val>
                                        </p:tav>
                                        <p:tav tm="100000">
                                          <p:val>
                                            <p:strVal val="#ppt_x"/>
                                          </p:val>
                                        </p:tav>
                                      </p:tavLst>
                                    </p:anim>
                                    <p:anim calcmode="lin" valueType="num">
                                      <p:cBhvr>
                                        <p:cTn id="71"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79" presetID="42" presetClass="entr" presetSubtype="0" fill="hold" nodeType="click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00"/>
                                        <p:tgtEl>
                                          <p:spTgt spid="23"/>
                                        </p:tgtEl>
                                      </p:cBhvr>
                                    </p:animEffect>
                                    <p:anim calcmode="lin" valueType="num">
                                      <p:cBhvr>
                                        <p:cTn id="77" dur="500" fill="hold"/>
                                        <p:tgtEl>
                                          <p:spTgt spid="23"/>
                                        </p:tgtEl>
                                        <p:attrNameLst>
                                          <p:attrName>ppt_x</p:attrName>
                                        </p:attrNameLst>
                                      </p:cBhvr>
                                      <p:tavLst>
                                        <p:tav tm="0">
                                          <p:val>
                                            <p:strVal val="#ppt_x"/>
                                          </p:val>
                                        </p:tav>
                                        <p:tav tm="100000">
                                          <p:val>
                                            <p:strVal val="#ppt_x"/>
                                          </p:val>
                                        </p:tav>
                                      </p:tavLst>
                                    </p:anim>
                                    <p:anim calcmode="lin" valueType="num">
                                      <p:cBhvr>
                                        <p:cTn id="78"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6" presetID="42" presetClass="entr" presetSubtype="0" fill="hold"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anim calcmode="lin" valueType="num">
                                      <p:cBhvr>
                                        <p:cTn id="84" dur="500" fill="hold"/>
                                        <p:tgtEl>
                                          <p:spTgt spid="25"/>
                                        </p:tgtEl>
                                        <p:attrNameLst>
                                          <p:attrName>ppt_x</p:attrName>
                                        </p:attrNameLst>
                                      </p:cBhvr>
                                      <p:tavLst>
                                        <p:tav tm="0">
                                          <p:val>
                                            <p:strVal val="#ppt_x"/>
                                          </p:val>
                                        </p:tav>
                                        <p:tav tm="100000">
                                          <p:val>
                                            <p:strVal val="#ppt_x"/>
                                          </p:val>
                                        </p:tav>
                                      </p:tavLst>
                                    </p:anim>
                                    <p:anim calcmode="lin" valueType="num">
                                      <p:cBhvr>
                                        <p:cTn id="85"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3" presetID="42" presetClass="entr" presetSubtype="0" fill="hold"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00"/>
                                        <p:tgtEl>
                                          <p:spTgt spid="27"/>
                                        </p:tgtEl>
                                      </p:cBhvr>
                                    </p:animEffect>
                                    <p:anim calcmode="lin" valueType="num">
                                      <p:cBhvr>
                                        <p:cTn id="91" dur="500" fill="hold"/>
                                        <p:tgtEl>
                                          <p:spTgt spid="27"/>
                                        </p:tgtEl>
                                        <p:attrNameLst>
                                          <p:attrName>ppt_x</p:attrName>
                                        </p:attrNameLst>
                                      </p:cBhvr>
                                      <p:tavLst>
                                        <p:tav tm="0">
                                          <p:val>
                                            <p:strVal val="#ppt_x"/>
                                          </p:val>
                                        </p:tav>
                                        <p:tav tm="100000">
                                          <p:val>
                                            <p:strVal val="#ppt_x"/>
                                          </p:val>
                                        </p:tav>
                                      </p:tavLst>
                                    </p:anim>
                                    <p:anim calcmode="lin" valueType="num">
                                      <p:cBhvr>
                                        <p:cTn id="92"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0" presetID="42" presetClass="entr" presetSubtype="0" fill="hold" nodeType="click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500"/>
                                        <p:tgtEl>
                                          <p:spTgt spid="29"/>
                                        </p:tgtEl>
                                      </p:cBhvr>
                                    </p:animEffect>
                                    <p:anim calcmode="lin" valueType="num">
                                      <p:cBhvr>
                                        <p:cTn id="98" dur="500" fill="hold"/>
                                        <p:tgtEl>
                                          <p:spTgt spid="29"/>
                                        </p:tgtEl>
                                        <p:attrNameLst>
                                          <p:attrName>ppt_x</p:attrName>
                                        </p:attrNameLst>
                                      </p:cBhvr>
                                      <p:tavLst>
                                        <p:tav tm="0">
                                          <p:val>
                                            <p:strVal val="#ppt_x"/>
                                          </p:val>
                                        </p:tav>
                                        <p:tav tm="100000">
                                          <p:val>
                                            <p:strVal val="#ppt_x"/>
                                          </p:val>
                                        </p:tav>
                                      </p:tavLst>
                                    </p:anim>
                                    <p:anim calcmode="lin" valueType="num">
                                      <p:cBhvr>
                                        <p:cTn id="99"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07" presetID="42" presetClass="entr" presetSubtype="0" fill="hold" nodeType="click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500"/>
                                        <p:tgtEl>
                                          <p:spTgt spid="31"/>
                                        </p:tgtEl>
                                      </p:cBhvr>
                                    </p:animEffect>
                                    <p:anim calcmode="lin" valueType="num">
                                      <p:cBhvr>
                                        <p:cTn id="105" dur="500" fill="hold"/>
                                        <p:tgtEl>
                                          <p:spTgt spid="31"/>
                                        </p:tgtEl>
                                        <p:attrNameLst>
                                          <p:attrName>ppt_x</p:attrName>
                                        </p:attrNameLst>
                                      </p:cBhvr>
                                      <p:tavLst>
                                        <p:tav tm="0">
                                          <p:val>
                                            <p:strVal val="#ppt_x"/>
                                          </p:val>
                                        </p:tav>
                                        <p:tav tm="100000">
                                          <p:val>
                                            <p:strVal val="#ppt_x"/>
                                          </p:val>
                                        </p:tav>
                                      </p:tavLst>
                                    </p:anim>
                                    <p:anim calcmode="lin" valueType="num">
                                      <p:cBhvr>
                                        <p:cTn id="10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4" presetID="53" presetClass="entr" presetSubtype="16" fill="hold" nodeType="clickEffect">
                                  <p:stCondLst>
                                    <p:cond delay="0"/>
                                  </p:stCondLst>
                                  <p:childTnLst>
                                    <p:set>
                                      <p:cBhvr>
                                        <p:cTn id="110" dur="1" fill="hold">
                                          <p:stCondLst>
                                            <p:cond delay="0"/>
                                          </p:stCondLst>
                                        </p:cTn>
                                        <p:tgtEl>
                                          <p:spTgt spid="88"/>
                                        </p:tgtEl>
                                        <p:attrNameLst>
                                          <p:attrName>style.visibility</p:attrName>
                                        </p:attrNameLst>
                                      </p:cBhvr>
                                      <p:to>
                                        <p:strVal val="visible"/>
                                      </p:to>
                                    </p:set>
                                    <p:animEffect transition="in" filter="fade">
                                      <p:cBhvr>
                                        <p:cTn id="111" dur="500"/>
                                        <p:tgtEl>
                                          <p:spTgt spid="88"/>
                                        </p:tgtEl>
                                      </p:cBhvr>
                                    </p:animEffect>
                                    <p:anim calcmode="lin" valueType="num">
                                      <p:cBhvr>
                                        <p:cTn id="112" dur="500" fill="hold"/>
                                        <p:tgtEl>
                                          <p:spTgt spid="88"/>
                                        </p:tgtEl>
                                        <p:attrNameLst>
                                          <p:attrName>ppt_w</p:attrName>
                                        </p:attrNameLst>
                                      </p:cBhvr>
                                      <p:tavLst>
                                        <p:tav tm="0">
                                          <p:val>
                                            <p:fltVal val="0"/>
                                          </p:val>
                                        </p:tav>
                                        <p:tav tm="100000">
                                          <p:val>
                                            <p:strVal val="#ppt_w"/>
                                          </p:val>
                                        </p:tav>
                                      </p:tavLst>
                                    </p:anim>
                                    <p:anim calcmode="lin" valueType="num">
                                      <p:cBhvr>
                                        <p:cTn id="113" dur="500" fill="hold"/>
                                        <p:tgtEl>
                                          <p:spTgt spid="88"/>
                                        </p:tgtEl>
                                        <p:attrNameLst>
                                          <p:attrName>ppt_h</p:attrName>
                                        </p:attrNameLst>
                                      </p:cBhvr>
                                      <p:tavLst>
                                        <p:tav tm="0">
                                          <p:val>
                                            <p:fltVal val="0"/>
                                          </p:val>
                                        </p:tav>
                                        <p:tav tm="100000">
                                          <p:val>
                                            <p:strVal val="#ppt_h"/>
                                          </p:val>
                                        </p:tav>
                                      </p:tavLst>
                                    </p:anim>
                                  </p:childTnLst>
                                </p:cTn>
                              </p:par>
                              <p:par>
                                <p:cTn id="119" presetID="53" presetClass="entr" presetSubtype="16" fill="hold" nodeType="withEffect">
                                  <p:stCondLst>
                                    <p:cond delay="0"/>
                                  </p:stCondLst>
                                  <p:childTnLst>
                                    <p:set>
                                      <p:cBhvr>
                                        <p:cTn id="115" dur="1" fill="hold">
                                          <p:stCondLst>
                                            <p:cond delay="0"/>
                                          </p:stCondLst>
                                        </p:cTn>
                                        <p:tgtEl>
                                          <p:spTgt spid="89"/>
                                        </p:tgtEl>
                                        <p:attrNameLst>
                                          <p:attrName>style.visibility</p:attrName>
                                        </p:attrNameLst>
                                      </p:cBhvr>
                                      <p:to>
                                        <p:strVal val="visible"/>
                                      </p:to>
                                    </p:set>
                                    <p:animEffect transition="in" filter="fade">
                                      <p:cBhvr>
                                        <p:cTn id="116" dur="500"/>
                                        <p:tgtEl>
                                          <p:spTgt spid="89"/>
                                        </p:tgtEl>
                                      </p:cBhvr>
                                    </p:animEffect>
                                    <p:anim calcmode="lin" valueType="num">
                                      <p:cBhvr>
                                        <p:cTn id="117" dur="500" fill="hold"/>
                                        <p:tgtEl>
                                          <p:spTgt spid="89"/>
                                        </p:tgtEl>
                                        <p:attrNameLst>
                                          <p:attrName>ppt_w</p:attrName>
                                        </p:attrNameLst>
                                      </p:cBhvr>
                                      <p:tavLst>
                                        <p:tav tm="0">
                                          <p:val>
                                            <p:fltVal val="0"/>
                                          </p:val>
                                        </p:tav>
                                        <p:tav tm="100000">
                                          <p:val>
                                            <p:strVal val="#ppt_w"/>
                                          </p:val>
                                        </p:tav>
                                      </p:tavLst>
                                    </p:anim>
                                    <p:anim calcmode="lin" valueType="num">
                                      <p:cBhvr>
                                        <p:cTn id="118" dur="500" fill="hold"/>
                                        <p:tgtEl>
                                          <p:spTgt spid="89"/>
                                        </p:tgtEl>
                                        <p:attrNameLst>
                                          <p:attrName>ppt_h</p:attrName>
                                        </p:attrNameLst>
                                      </p:cBhvr>
                                      <p:tavLst>
                                        <p:tav tm="0">
                                          <p:val>
                                            <p:fltVal val="0"/>
                                          </p:val>
                                        </p:tav>
                                        <p:tav tm="100000">
                                          <p:val>
                                            <p:strVal val="#ppt_h"/>
                                          </p:val>
                                        </p:tav>
                                      </p:tavLst>
                                    </p:anim>
                                  </p:childTnLst>
                                </p:cTn>
                              </p:par>
                            </p:childTnLst>
                          </p:cTn>
                        </p:par>
                      </p:childTnLst>
                    </p:cTn>
                  </p:par>
                  <p:par>
                    <p:cTn id="132" fill="hold">
                      <p:stCondLst>
                        <p:cond delay="indefinite"/>
                      </p:stCondLst>
                      <p:childTnLst>
                        <p:par>
                          <p:cTn id="133" fill="hold">
                            <p:stCondLst>
                              <p:cond delay="0"/>
                            </p:stCondLst>
                            <p:childTnLst>
                              <p:par>
                                <p:cTn id="126" presetID="53" presetClass="entr" presetSubtype="16" fill="hold" nodeType="clickEffect">
                                  <p:stCondLst>
                                    <p:cond delay="0"/>
                                  </p:stCondLst>
                                  <p:childTnLst>
                                    <p:set>
                                      <p:cBhvr>
                                        <p:cTn id="122" dur="1" fill="hold">
                                          <p:stCondLst>
                                            <p:cond delay="0"/>
                                          </p:stCondLst>
                                        </p:cTn>
                                        <p:tgtEl>
                                          <p:spTgt spid="90"/>
                                        </p:tgtEl>
                                        <p:attrNameLst>
                                          <p:attrName>style.visibility</p:attrName>
                                        </p:attrNameLst>
                                      </p:cBhvr>
                                      <p:to>
                                        <p:strVal val="visible"/>
                                      </p:to>
                                    </p:set>
                                    <p:animEffect transition="in" filter="fade">
                                      <p:cBhvr>
                                        <p:cTn id="123" dur="500"/>
                                        <p:tgtEl>
                                          <p:spTgt spid="90"/>
                                        </p:tgtEl>
                                      </p:cBhvr>
                                    </p:animEffect>
                                    <p:anim calcmode="lin" valueType="num">
                                      <p:cBhvr>
                                        <p:cTn id="124" dur="500" fill="hold"/>
                                        <p:tgtEl>
                                          <p:spTgt spid="90"/>
                                        </p:tgtEl>
                                        <p:attrNameLst>
                                          <p:attrName>ppt_w</p:attrName>
                                        </p:attrNameLst>
                                      </p:cBhvr>
                                      <p:tavLst>
                                        <p:tav tm="0">
                                          <p:val>
                                            <p:fltVal val="0"/>
                                          </p:val>
                                        </p:tav>
                                        <p:tav tm="100000">
                                          <p:val>
                                            <p:strVal val="#ppt_w"/>
                                          </p:val>
                                        </p:tav>
                                      </p:tavLst>
                                    </p:anim>
                                    <p:anim calcmode="lin" valueType="num">
                                      <p:cBhvr>
                                        <p:cTn id="125" dur="500" fill="hold"/>
                                        <p:tgtEl>
                                          <p:spTgt spid="90"/>
                                        </p:tgtEl>
                                        <p:attrNameLst>
                                          <p:attrName>ppt_h</p:attrName>
                                        </p:attrNameLst>
                                      </p:cBhvr>
                                      <p:tavLst>
                                        <p:tav tm="0">
                                          <p:val>
                                            <p:fltVal val="0"/>
                                          </p:val>
                                        </p:tav>
                                        <p:tav tm="100000">
                                          <p:val>
                                            <p:strVal val="#ppt_h"/>
                                          </p:val>
                                        </p:tav>
                                      </p:tavLst>
                                    </p:anim>
                                  </p:childTnLst>
                                </p:cTn>
                              </p:par>
                              <p:par>
                                <p:cTn id="131" presetID="53" presetClass="entr" presetSubtype="16" fill="hold" nodeType="withEffect">
                                  <p:stCondLst>
                                    <p:cond delay="0"/>
                                  </p:stCondLst>
                                  <p:childTnLst>
                                    <p:set>
                                      <p:cBhvr>
                                        <p:cTn id="127" dur="1" fill="hold">
                                          <p:stCondLst>
                                            <p:cond delay="0"/>
                                          </p:stCondLst>
                                        </p:cTn>
                                        <p:tgtEl>
                                          <p:spTgt spid="91"/>
                                        </p:tgtEl>
                                        <p:attrNameLst>
                                          <p:attrName>style.visibility</p:attrName>
                                        </p:attrNameLst>
                                      </p:cBhvr>
                                      <p:to>
                                        <p:strVal val="visible"/>
                                      </p:to>
                                    </p:set>
                                    <p:animEffect transition="in" filter="fade">
                                      <p:cBhvr>
                                        <p:cTn id="128" dur="500"/>
                                        <p:tgtEl>
                                          <p:spTgt spid="91"/>
                                        </p:tgtEl>
                                      </p:cBhvr>
                                    </p:animEffect>
                                    <p:anim calcmode="lin" valueType="num">
                                      <p:cBhvr>
                                        <p:cTn id="129" dur="500" fill="hold"/>
                                        <p:tgtEl>
                                          <p:spTgt spid="91"/>
                                        </p:tgtEl>
                                        <p:attrNameLst>
                                          <p:attrName>ppt_w</p:attrName>
                                        </p:attrNameLst>
                                      </p:cBhvr>
                                      <p:tavLst>
                                        <p:tav tm="0">
                                          <p:val>
                                            <p:fltVal val="0"/>
                                          </p:val>
                                        </p:tav>
                                        <p:tav tm="100000">
                                          <p:val>
                                            <p:strVal val="#ppt_w"/>
                                          </p:val>
                                        </p:tav>
                                      </p:tavLst>
                                    </p:anim>
                                    <p:anim calcmode="lin" valueType="num">
                                      <p:cBhvr>
                                        <p:cTn id="130" dur="500" fill="hold"/>
                                        <p:tgtEl>
                                          <p:spTgt spid="91"/>
                                        </p:tgtEl>
                                        <p:attrNameLst>
                                          <p:attrName>ppt_h</p:attrName>
                                        </p:attrNameLst>
                                      </p:cBhvr>
                                      <p:tavLst>
                                        <p:tav tm="0">
                                          <p:val>
                                            <p:fltVal val="0"/>
                                          </p:val>
                                        </p:tav>
                                        <p:tav tm="100000">
                                          <p:val>
                                            <p:strVal val="#ppt_h"/>
                                          </p:val>
                                        </p:tav>
                                      </p:tavLst>
                                    </p:anim>
                                  </p:childTnLst>
                                </p:cTn>
                              </p:par>
                            </p:childTnLst>
                          </p:cTn>
                        </p:par>
                      </p:childTnLst>
                    </p:cTn>
                  </p:par>
                  <p:par>
                    <p:cTn id="137" fill="hold">
                      <p:stCondLst>
                        <p:cond delay="indefinite"/>
                      </p:stCondLst>
                      <p:childTnLst>
                        <p:par>
                          <p:cTn id="138" fill="hold">
                            <p:stCondLst>
                              <p:cond delay="0"/>
                            </p:stCondLst>
                            <p:childTnLst>
                              <p:par>
                                <p:cTn id="136" presetID="22" presetClass="entr" presetSubtype="8" fill="hold" nodeType="clickEffect">
                                  <p:stCondLst>
                                    <p:cond delay="0"/>
                                  </p:stCondLst>
                                  <p:childTnLst>
                                    <p:set>
                                      <p:cBhvr>
                                        <p:cTn id="134" dur="1" fill="hold">
                                          <p:stCondLst>
                                            <p:cond delay="0"/>
                                          </p:stCondLst>
                                        </p:cTn>
                                        <p:tgtEl>
                                          <p:spTgt spid="92"/>
                                        </p:tgtEl>
                                        <p:attrNameLst>
                                          <p:attrName>style.visibility</p:attrName>
                                        </p:attrNameLst>
                                      </p:cBhvr>
                                      <p:to>
                                        <p:strVal val="visible"/>
                                      </p:to>
                                    </p:set>
                                    <p:animEffect transition="in" filter="wipe(left)">
                                      <p:cBhvr>
                                        <p:cTn id="135" dur="7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Comparing Equations and Tables · SE p. 323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Celsius and Fahrenheit</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Joey's table</a:t>
            </a:r>
            <a:endParaRPr lang="en-US" sz="1575" dirty="0"/>
          </a:p>
        </p:txBody>
      </p:sp>
      <p:sp>
        <p:nvSpPr>
          <p:cNvPr id="5" name="Shape 5"/>
          <p:cNvSpPr txBox="1"/>
          <p:nvPr/>
        </p:nvSpPr>
        <p:spPr>
          <a:xfrm>
            <a:off x="685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a:t>
            </a:r>
            <a:endParaRPr lang="en-US" sz="1650" dirty="0"/>
          </a:p>
        </p:txBody>
      </p:sp>
      <p:sp>
        <p:nvSpPr>
          <p:cNvPr id="6" name="Shape 6"/>
          <p:cNvSpPr txBox="1"/>
          <p:nvPr/>
        </p:nvSpPr>
        <p:spPr>
          <a:xfrm>
            <a:off x="1828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°C</a:t>
            </a:r>
            <a:endParaRPr lang="en-US" sz="1650" dirty="0"/>
          </a:p>
        </p:txBody>
      </p:sp>
      <p:sp>
        <p:nvSpPr>
          <p:cNvPr id="7" name="Shape 7"/>
          <p:cNvSpPr txBox="1"/>
          <p:nvPr/>
        </p:nvSpPr>
        <p:spPr>
          <a:xfrm>
            <a:off x="685800"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10</a:t>
            </a:r>
            <a:endParaRPr lang="en-US" sz="1650" dirty="0"/>
          </a:p>
        </p:txBody>
      </p:sp>
      <p:sp>
        <p:nvSpPr>
          <p:cNvPr id="8" name="Shape 8"/>
          <p:cNvSpPr txBox="1"/>
          <p:nvPr/>
        </p:nvSpPr>
        <p:spPr>
          <a:xfrm>
            <a:off x="1828800"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−12.2</a:t>
            </a:r>
            <a:endParaRPr lang="en-US" sz="1650" dirty="0"/>
          </a:p>
        </p:txBody>
      </p:sp>
      <p:sp>
        <p:nvSpPr>
          <p:cNvPr id="9" name="Shape 9"/>
          <p:cNvSpPr txBox="1"/>
          <p:nvPr/>
        </p:nvSpPr>
        <p:spPr>
          <a:xfrm>
            <a:off x="685800"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30</a:t>
            </a:r>
            <a:endParaRPr lang="en-US" sz="1650" dirty="0"/>
          </a:p>
        </p:txBody>
      </p:sp>
      <p:sp>
        <p:nvSpPr>
          <p:cNvPr id="10" name="Shape 10"/>
          <p:cNvSpPr txBox="1"/>
          <p:nvPr/>
        </p:nvSpPr>
        <p:spPr>
          <a:xfrm>
            <a:off x="1828800"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−1.1</a:t>
            </a:r>
            <a:endParaRPr lang="en-US" sz="1650" dirty="0"/>
          </a:p>
        </p:txBody>
      </p:sp>
      <p:sp>
        <p:nvSpPr>
          <p:cNvPr id="11" name="Shape 11"/>
          <p:cNvSpPr txBox="1"/>
          <p:nvPr/>
        </p:nvSpPr>
        <p:spPr>
          <a:xfrm>
            <a:off x="685800"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50</a:t>
            </a:r>
            <a:endParaRPr lang="en-US" sz="1650" dirty="0"/>
          </a:p>
        </p:txBody>
      </p:sp>
      <p:sp>
        <p:nvSpPr>
          <p:cNvPr id="12" name="Shape 12"/>
          <p:cNvSpPr txBox="1"/>
          <p:nvPr/>
        </p:nvSpPr>
        <p:spPr>
          <a:xfrm>
            <a:off x="1828800"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10</a:t>
            </a:r>
            <a:endParaRPr lang="en-US" sz="1650" dirty="0"/>
          </a:p>
        </p:txBody>
      </p:sp>
      <p:sp>
        <p:nvSpPr>
          <p:cNvPr id="13" name="Shape 13"/>
          <p:cNvSpPr txBox="1"/>
          <p:nvPr/>
        </p:nvSpPr>
        <p:spPr>
          <a:xfrm>
            <a:off x="685800"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75</a:t>
            </a:r>
            <a:endParaRPr lang="en-US" sz="1650" dirty="0"/>
          </a:p>
        </p:txBody>
      </p:sp>
      <p:sp>
        <p:nvSpPr>
          <p:cNvPr id="14" name="Shape 14"/>
          <p:cNvSpPr txBox="1"/>
          <p:nvPr/>
        </p:nvSpPr>
        <p:spPr>
          <a:xfrm>
            <a:off x="1828800"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23.9</a:t>
            </a:r>
            <a:endParaRPr lang="en-US" sz="1650" dirty="0"/>
          </a:p>
        </p:txBody>
      </p:sp>
      <p:sp>
        <p:nvSpPr>
          <p:cNvPr id="15" name="Shape 15"/>
          <p:cNvSpPr txBox="1"/>
          <p:nvPr/>
        </p:nvSpPr>
        <p:spPr>
          <a:xfrm>
            <a:off x="6286348"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Xavier's equation</a:t>
            </a:r>
            <a:endParaRPr lang="en-US" sz="1575" dirty="0"/>
          </a:p>
        </p:txBody>
      </p:sp>
      <p:sp>
        <p:nvSpPr>
          <p:cNvPr id="16" name="Shape 16"/>
          <p:cNvSpPr txBox="1"/>
          <p:nvPr/>
        </p:nvSpPr>
        <p:spPr>
          <a:xfrm>
            <a:off x="6286348" y="2008632"/>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+ 32</a:t>
            </a:r>
            <a:endParaRPr lang="en-US" sz="2325" dirty="0"/>
          </a:p>
        </p:txBody>
      </p:sp>
      <p:sp>
        <p:nvSpPr>
          <p:cNvPr id="17" name="Shape 17"/>
          <p:cNvSpPr txBox="1"/>
          <p:nvPr/>
        </p:nvSpPr>
        <p:spPr>
          <a:xfrm>
            <a:off x="6286348" y="2513076"/>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Xavier converts </a:t>
            </a:r>
            <a:r>
              <a:rPr lang="en-US" sz="1575" dirty="0" b="1">
                <a:solidFill>
                  <a:srgbClr val="16171D"/>
                </a:solidFill>
                <a:latin typeface="Segoe UI"/>
                <a:cs typeface="Segoe UI"/>
              </a:rPr>
              <a:t xml:space="preserve">°C to °F</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is °C). Joey converts </a:t>
            </a:r>
            <a:r>
              <a:rPr lang="en-US" sz="1575" dirty="0" b="1">
                <a:solidFill>
                  <a:srgbClr val="16171D"/>
                </a:solidFill>
                <a:latin typeface="Segoe UI"/>
                <a:cs typeface="Segoe UI"/>
              </a:rPr>
              <a:t xml:space="preserve">°F to °C</a:t>
            </a:r>
            <a:r>
              <a:rPr lang="en-US" sz="1575" dirty="0">
                <a:solidFill>
                  <a:srgbClr val="16171D"/>
                </a:solidFill>
                <a:latin typeface="Segoe UI"/>
                <a:cs typeface="Segoe UI"/>
              </a:rPr>
              <a:t xml:space="preserve">.</a:t>
            </a:r>
            <a:endParaRPr lang="en-US" sz="1575" dirty="0"/>
          </a:p>
        </p:txBody>
      </p:sp>
      <p:sp>
        <p:nvSpPr>
          <p:cNvPr id="18" name="Shape 18"/>
          <p:cNvSpPr txBox="1"/>
          <p:nvPr/>
        </p:nvSpPr>
        <p:spPr>
          <a:xfrm>
            <a:off x="6286348" y="314325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Slope:</a:t>
            </a:r>
            <a:r>
              <a:rPr lang="en-US" sz="1575" dirty="0">
                <a:solidFill>
                  <a:srgbClr val="16171D"/>
                </a:solidFill>
                <a:latin typeface="Segoe UI"/>
                <a:cs typeface="Segoe UI"/>
              </a:rPr>
              <a:t xml:space="preserve"> Joey's is about 5/9 (each 9°F is about 5°C). Xavier's is 9/5 (each 5°C is 9°F).</a:t>
            </a:r>
            <a:endParaRPr lang="en-US" sz="1575" dirty="0"/>
          </a:p>
        </p:txBody>
      </p:sp>
      <p:sp>
        <p:nvSpPr>
          <p:cNvPr id="19" name="Shape 19"/>
          <p:cNvSpPr txBox="1"/>
          <p:nvPr/>
        </p:nvSpPr>
        <p:spPr>
          <a:xfrm>
            <a:off x="6286348" y="3773424"/>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Joey's is about −17.8 (0°F ≈ −17.8°C). Xavier's is 32 (0°C = 32°F).</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500"/>
                                        <p:tgtEl>
                                          <p:spTgt spid="17"/>
                                        </p:tgtEl>
                                      </p:cBhvr>
                                    </p:animEffect>
                                    <p:anim calcmode="lin" valueType="num">
                                      <p:cBhvr>
                                        <p:cTn id="5" dur="500" fill="hold"/>
                                        <p:tgtEl>
                                          <p:spTgt spid="17"/>
                                        </p:tgtEl>
                                        <p:attrNameLst>
                                          <p:attrName>ppt_x</p:attrName>
                                        </p:attrNameLst>
                                      </p:cBhvr>
                                      <p:tavLst>
                                        <p:tav tm="0">
                                          <p:val>
                                            <p:strVal val="#ppt_x"/>
                                          </p:val>
                                        </p:tav>
                                        <p:tav tm="100000">
                                          <p:val>
                                            <p:strVal val="#ppt_x"/>
                                          </p:val>
                                        </p:tav>
                                      </p:tavLst>
                                    </p:anim>
                                    <p:anim calcmode="lin" valueType="num">
                                      <p:cBhvr>
                                        <p:cTn id="6"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anim calcmode="lin" valueType="num">
                                      <p:cBhvr>
                                        <p:cTn id="12" dur="500" fill="hold"/>
                                        <p:tgtEl>
                                          <p:spTgt spid="18"/>
                                        </p:tgtEl>
                                        <p:attrNameLst>
                                          <p:attrName>ppt_x</p:attrName>
                                        </p:attrNameLst>
                                      </p:cBhvr>
                                      <p:tavLst>
                                        <p:tav tm="0">
                                          <p:val>
                                            <p:strVal val="#ppt_x"/>
                                          </p:val>
                                        </p:tav>
                                        <p:tav tm="100000">
                                          <p:val>
                                            <p:strVal val="#ppt_x"/>
                                          </p:val>
                                        </p:tav>
                                      </p:tavLst>
                                    </p:anim>
                                    <p:anim calcmode="lin" valueType="num">
                                      <p:cBhvr>
                                        <p:cTn id="13"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ppt_x</p:attrName>
                                        </p:attrNameLst>
                                      </p:cBhvr>
                                      <p:tavLst>
                                        <p:tav tm="0">
                                          <p:val>
                                            <p:strVal val="#ppt_x"/>
                                          </p:val>
                                        </p:tav>
                                        <p:tav tm="100000">
                                          <p:val>
                                            <p:strVal val="#ppt_x"/>
                                          </p:val>
                                        </p:tav>
                                      </p:tavLst>
                                    </p:anim>
                                    <p:anim calcmode="lin" valueType="num">
                                      <p:cBhvr>
                                        <p:cTn id="20"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4.4 · Comparing Descriptions and Graphs · SE p. 324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Miguel and Lauren's bank accounts</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Miguel</a:t>
            </a:r>
            <a:endParaRPr lang="en-US" sz="1575" dirty="0"/>
          </a:p>
        </p:txBody>
      </p:sp>
      <p:sp>
        <p:nvSpPr>
          <p:cNvPr id="5" name="Shape 5"/>
          <p:cNvSpPr/>
          <p:nvPr/>
        </p:nvSpPr>
        <p:spPr>
          <a:xfrm>
            <a:off x="685800" y="2008632"/>
            <a:ext cx="2857500" cy="2857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 name="Line 6"/>
          <p:cNvCxnSpPr/>
          <p:nvPr/>
        </p:nvCxnSpPr>
        <p:spPr>
          <a:xfrm>
            <a:off x="1009650" y="2122932"/>
            <a:ext cx="0" cy="2495550"/>
          </a:xfrm>
          <a:prstGeom prst="line">
            <a:avLst/>
          </a:prstGeom>
          <a:ln w="9525" cap="flat">
            <a:solidFill>
              <a:srgbClr val="E6E8F2"/>
            </a:solidFill>
          </a:ln>
        </p:spPr>
      </p:cxnSp>
      <p:cxnSp>
        <p:nvCxnSpPr>
          <p:cNvPr id="7" name="Line 7"/>
          <p:cNvCxnSpPr/>
          <p:nvPr/>
        </p:nvCxnSpPr>
        <p:spPr>
          <a:xfrm>
            <a:off x="1493520" y="2122932"/>
            <a:ext cx="0" cy="2495550"/>
          </a:xfrm>
          <a:prstGeom prst="line">
            <a:avLst/>
          </a:prstGeom>
          <a:ln w="9525" cap="flat">
            <a:solidFill>
              <a:srgbClr val="E6E8F2"/>
            </a:solidFill>
          </a:ln>
        </p:spPr>
      </p:cxnSp>
      <p:cxnSp>
        <p:nvCxnSpPr>
          <p:cNvPr id="8" name="Line 8"/>
          <p:cNvCxnSpPr/>
          <p:nvPr/>
        </p:nvCxnSpPr>
        <p:spPr>
          <a:xfrm>
            <a:off x="1977390" y="2122932"/>
            <a:ext cx="0" cy="2495550"/>
          </a:xfrm>
          <a:prstGeom prst="line">
            <a:avLst/>
          </a:prstGeom>
          <a:ln w="9525" cap="flat">
            <a:solidFill>
              <a:srgbClr val="E6E8F2"/>
            </a:solidFill>
          </a:ln>
        </p:spPr>
      </p:cxnSp>
      <p:cxnSp>
        <p:nvCxnSpPr>
          <p:cNvPr id="9" name="Line 9"/>
          <p:cNvCxnSpPr/>
          <p:nvPr/>
        </p:nvCxnSpPr>
        <p:spPr>
          <a:xfrm>
            <a:off x="2461260" y="2122932"/>
            <a:ext cx="0" cy="2495550"/>
          </a:xfrm>
          <a:prstGeom prst="line">
            <a:avLst/>
          </a:prstGeom>
          <a:ln w="9525" cap="flat">
            <a:solidFill>
              <a:srgbClr val="E6E8F2"/>
            </a:solidFill>
          </a:ln>
        </p:spPr>
      </p:cxnSp>
      <p:cxnSp>
        <p:nvCxnSpPr>
          <p:cNvPr id="10" name="Line 10"/>
          <p:cNvCxnSpPr/>
          <p:nvPr/>
        </p:nvCxnSpPr>
        <p:spPr>
          <a:xfrm>
            <a:off x="2945130" y="2122932"/>
            <a:ext cx="0" cy="2495550"/>
          </a:xfrm>
          <a:prstGeom prst="line">
            <a:avLst/>
          </a:prstGeom>
          <a:ln w="9525" cap="flat">
            <a:solidFill>
              <a:srgbClr val="E6E8F2"/>
            </a:solidFill>
          </a:ln>
        </p:spPr>
      </p:cxnSp>
      <p:cxnSp>
        <p:nvCxnSpPr>
          <p:cNvPr id="11" name="Line 11"/>
          <p:cNvCxnSpPr/>
          <p:nvPr/>
        </p:nvCxnSpPr>
        <p:spPr>
          <a:xfrm>
            <a:off x="3429000" y="2122932"/>
            <a:ext cx="0" cy="2495550"/>
          </a:xfrm>
          <a:prstGeom prst="line">
            <a:avLst/>
          </a:prstGeom>
          <a:ln w="9525" cap="flat">
            <a:solidFill>
              <a:srgbClr val="E6E8F2"/>
            </a:solidFill>
          </a:ln>
        </p:spPr>
      </p:cxnSp>
      <p:cxnSp>
        <p:nvCxnSpPr>
          <p:cNvPr id="12" name="Line 12"/>
          <p:cNvCxnSpPr/>
          <p:nvPr/>
        </p:nvCxnSpPr>
        <p:spPr>
          <a:xfrm>
            <a:off x="1009650" y="4618482"/>
            <a:ext cx="2419350" cy="0"/>
          </a:xfrm>
          <a:prstGeom prst="line">
            <a:avLst/>
          </a:prstGeom>
          <a:ln w="9525" cap="flat">
            <a:solidFill>
              <a:srgbClr val="E6E8F2"/>
            </a:solidFill>
          </a:ln>
        </p:spPr>
      </p:cxnSp>
      <p:cxnSp>
        <p:nvCxnSpPr>
          <p:cNvPr id="13" name="Line 13"/>
          <p:cNvCxnSpPr/>
          <p:nvPr/>
        </p:nvCxnSpPr>
        <p:spPr>
          <a:xfrm>
            <a:off x="1009650" y="4119372"/>
            <a:ext cx="2419350" cy="0"/>
          </a:xfrm>
          <a:prstGeom prst="line">
            <a:avLst/>
          </a:prstGeom>
          <a:ln w="9525" cap="flat">
            <a:solidFill>
              <a:srgbClr val="E6E8F2"/>
            </a:solidFill>
          </a:ln>
        </p:spPr>
      </p:cxnSp>
      <p:cxnSp>
        <p:nvCxnSpPr>
          <p:cNvPr id="14" name="Line 14"/>
          <p:cNvCxnSpPr/>
          <p:nvPr/>
        </p:nvCxnSpPr>
        <p:spPr>
          <a:xfrm>
            <a:off x="1009650" y="3620262"/>
            <a:ext cx="2419350" cy="0"/>
          </a:xfrm>
          <a:prstGeom prst="line">
            <a:avLst/>
          </a:prstGeom>
          <a:ln w="9525" cap="flat">
            <a:solidFill>
              <a:srgbClr val="E6E8F2"/>
            </a:solidFill>
          </a:ln>
        </p:spPr>
      </p:cxnSp>
      <p:cxnSp>
        <p:nvCxnSpPr>
          <p:cNvPr id="15" name="Line 15"/>
          <p:cNvCxnSpPr/>
          <p:nvPr/>
        </p:nvCxnSpPr>
        <p:spPr>
          <a:xfrm>
            <a:off x="1009650" y="3121152"/>
            <a:ext cx="2419350" cy="0"/>
          </a:xfrm>
          <a:prstGeom prst="line">
            <a:avLst/>
          </a:prstGeom>
          <a:ln w="9525" cap="flat">
            <a:solidFill>
              <a:srgbClr val="E6E8F2"/>
            </a:solidFill>
          </a:ln>
        </p:spPr>
      </p:cxnSp>
      <p:cxnSp>
        <p:nvCxnSpPr>
          <p:cNvPr id="16" name="Line 16"/>
          <p:cNvCxnSpPr/>
          <p:nvPr/>
        </p:nvCxnSpPr>
        <p:spPr>
          <a:xfrm>
            <a:off x="1009650" y="2622042"/>
            <a:ext cx="2419350" cy="0"/>
          </a:xfrm>
          <a:prstGeom prst="line">
            <a:avLst/>
          </a:prstGeom>
          <a:ln w="9525" cap="flat">
            <a:solidFill>
              <a:srgbClr val="E6E8F2"/>
            </a:solidFill>
          </a:ln>
        </p:spPr>
      </p:cxnSp>
      <p:cxnSp>
        <p:nvCxnSpPr>
          <p:cNvPr id="17" name="Line 17"/>
          <p:cNvCxnSpPr/>
          <p:nvPr/>
        </p:nvCxnSpPr>
        <p:spPr>
          <a:xfrm>
            <a:off x="1009650" y="2122932"/>
            <a:ext cx="2419350" cy="0"/>
          </a:xfrm>
          <a:prstGeom prst="line">
            <a:avLst/>
          </a:prstGeom>
          <a:ln w="9525" cap="flat">
            <a:solidFill>
              <a:srgbClr val="E6E8F2"/>
            </a:solidFill>
          </a:ln>
        </p:spPr>
      </p:cxnSp>
      <p:cxnSp>
        <p:nvCxnSpPr>
          <p:cNvPr id="18" name="Line 18"/>
          <p:cNvCxnSpPr/>
          <p:nvPr/>
        </p:nvCxnSpPr>
        <p:spPr>
          <a:xfrm>
            <a:off x="1009650" y="2122932"/>
            <a:ext cx="0" cy="2495550"/>
          </a:xfrm>
          <a:prstGeom prst="line">
            <a:avLst/>
          </a:prstGeom>
          <a:ln w="19050" cap="flat">
            <a:solidFill>
              <a:srgbClr val="5F6272"/>
            </a:solidFill>
          </a:ln>
        </p:spPr>
      </p:cxnSp>
      <p:cxnSp>
        <p:nvCxnSpPr>
          <p:cNvPr id="19" name="Line 19"/>
          <p:cNvCxnSpPr/>
          <p:nvPr/>
        </p:nvCxnSpPr>
        <p:spPr>
          <a:xfrm>
            <a:off x="1009650" y="4618482"/>
            <a:ext cx="2419350" cy="0"/>
          </a:xfrm>
          <a:prstGeom prst="line">
            <a:avLst/>
          </a:prstGeom>
          <a:ln w="19050" cap="flat">
            <a:solidFill>
              <a:srgbClr val="5F6272"/>
            </a:solidFill>
          </a:ln>
        </p:spPr>
      </p:cxnSp>
      <p:sp>
        <p:nvSpPr>
          <p:cNvPr id="20" name="Shape 20"/>
          <p:cNvSpPr txBox="1"/>
          <p:nvPr/>
        </p:nvSpPr>
        <p:spPr>
          <a:xfrm>
            <a:off x="73533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21" name="Shape 21"/>
          <p:cNvSpPr txBox="1"/>
          <p:nvPr/>
        </p:nvSpPr>
        <p:spPr>
          <a:xfrm>
            <a:off x="121920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22" name="Shape 22"/>
          <p:cNvSpPr txBox="1"/>
          <p:nvPr/>
        </p:nvSpPr>
        <p:spPr>
          <a:xfrm>
            <a:off x="170307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23" name="Shape 23"/>
          <p:cNvSpPr txBox="1"/>
          <p:nvPr/>
        </p:nvSpPr>
        <p:spPr>
          <a:xfrm>
            <a:off x="218694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24" name="Shape 24"/>
          <p:cNvSpPr txBox="1"/>
          <p:nvPr/>
        </p:nvSpPr>
        <p:spPr>
          <a:xfrm>
            <a:off x="267081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25" name="Shape 25"/>
          <p:cNvSpPr txBox="1"/>
          <p:nvPr/>
        </p:nvSpPr>
        <p:spPr>
          <a:xfrm>
            <a:off x="315468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26" name="Shape 26"/>
          <p:cNvSpPr txBox="1"/>
          <p:nvPr/>
        </p:nvSpPr>
        <p:spPr>
          <a:xfrm>
            <a:off x="442722" y="45270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27" name="Shape 27"/>
          <p:cNvSpPr txBox="1"/>
          <p:nvPr/>
        </p:nvSpPr>
        <p:spPr>
          <a:xfrm>
            <a:off x="442722" y="402793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28" name="Shape 28"/>
          <p:cNvSpPr txBox="1"/>
          <p:nvPr/>
        </p:nvSpPr>
        <p:spPr>
          <a:xfrm>
            <a:off x="442722" y="35288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29" name="Shape 29"/>
          <p:cNvSpPr txBox="1"/>
          <p:nvPr/>
        </p:nvSpPr>
        <p:spPr>
          <a:xfrm>
            <a:off x="442722" y="302971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30" name="Shape 30"/>
          <p:cNvSpPr txBox="1"/>
          <p:nvPr/>
        </p:nvSpPr>
        <p:spPr>
          <a:xfrm>
            <a:off x="442722" y="2530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31" name="Shape 31"/>
          <p:cNvSpPr txBox="1"/>
          <p:nvPr/>
        </p:nvSpPr>
        <p:spPr>
          <a:xfrm>
            <a:off x="442722" y="20314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32" name="Shape 32"/>
          <p:cNvSpPr/>
          <p:nvPr/>
        </p:nvSpPr>
        <p:spPr>
          <a:xfrm>
            <a:off x="1441132" y="406698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33" name="Shape 33"/>
          <p:cNvSpPr/>
          <p:nvPr/>
        </p:nvSpPr>
        <p:spPr>
          <a:xfrm>
            <a:off x="1925003" y="356787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34" name="Shape 34"/>
          <p:cNvSpPr/>
          <p:nvPr/>
        </p:nvSpPr>
        <p:spPr>
          <a:xfrm>
            <a:off x="2408872" y="306876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35" name="Shape 35"/>
          <p:cNvSpPr/>
          <p:nvPr/>
        </p:nvSpPr>
        <p:spPr>
          <a:xfrm>
            <a:off x="2892742" y="256965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36" name="Shape 36"/>
          <p:cNvSpPr txBox="1"/>
          <p:nvPr/>
        </p:nvSpPr>
        <p:spPr>
          <a:xfrm>
            <a:off x="3030855" y="237439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(4, 80)</a:t>
            </a:r>
            <a:endParaRPr lang="en-US" sz="1125" dirty="0"/>
          </a:p>
        </p:txBody>
      </p:sp>
      <p:sp>
        <p:nvSpPr>
          <p:cNvPr id="37" name="Shape 37"/>
          <p:cNvSpPr txBox="1"/>
          <p:nvPr/>
        </p:nvSpPr>
        <p:spPr>
          <a:xfrm>
            <a:off x="6286348"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Lauren starts with $25 and deposits $25 each month.</a:t>
            </a:r>
            <a:endParaRPr lang="en-US" sz="1575" dirty="0"/>
          </a:p>
        </p:txBody>
      </p:sp>
      <p:sp>
        <p:nvSpPr>
          <p:cNvPr id="38" name="Shape 38"/>
          <p:cNvSpPr txBox="1"/>
          <p:nvPr/>
        </p:nvSpPr>
        <p:spPr>
          <a:xfrm>
            <a:off x="6286348" y="2008632"/>
            <a:ext cx="521954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Scales:</a:t>
            </a:r>
            <a:r>
              <a:rPr lang="en-US" sz="1575" dirty="0">
                <a:solidFill>
                  <a:srgbClr val="16171D"/>
                </a:solidFill>
                <a:latin typeface="Segoe UI"/>
                <a:cs typeface="Segoe UI"/>
              </a:rPr>
              <a:t xml:space="preserve"> each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tick is 1 month and each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tick is $20 ($80 after 4 months). The origin is (0 months, $0).</a:t>
            </a:r>
            <a:endParaRPr lang="en-US" sz="1575" dirty="0"/>
          </a:p>
        </p:txBody>
      </p:sp>
      <p:sp>
        <p:nvSpPr>
          <p:cNvPr id="39" name="Shape 39"/>
          <p:cNvSpPr txBox="1"/>
          <p:nvPr/>
        </p:nvSpPr>
        <p:spPr>
          <a:xfrm>
            <a:off x="6286348" y="2878836"/>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Slope:</a:t>
            </a:r>
            <a:r>
              <a:rPr lang="en-US" sz="1575" dirty="0">
                <a:solidFill>
                  <a:srgbClr val="16171D"/>
                </a:solidFill>
                <a:latin typeface="Segoe UI"/>
                <a:cs typeface="Segoe UI"/>
              </a:rPr>
              <a:t xml:space="preserve"> Miguel saves $20 a month; Lauren saves $25 a month.</a:t>
            </a:r>
            <a:endParaRPr lang="en-US" sz="1575" dirty="0"/>
          </a:p>
        </p:txBody>
      </p:sp>
      <p:sp>
        <p:nvSpPr>
          <p:cNvPr id="40" name="Shape 40"/>
          <p:cNvSpPr txBox="1"/>
          <p:nvPr/>
        </p:nvSpPr>
        <p:spPr>
          <a:xfrm>
            <a:off x="6286348" y="350901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Miguel started with $0; Lauren with $25.</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38"/>
                                        </p:tgtEl>
                                        <p:attrNameLst>
                                          <p:attrName>style.visibility</p:attrName>
                                        </p:attrNameLst>
                                      </p:cBhvr>
                                      <p:to>
                                        <p:strVal val="visible"/>
                                      </p:to>
                                    </p:set>
                                    <p:animEffect transition="in" filter="fade">
                                      <p:cBhvr>
                                        <p:cTn id="4" dur="500"/>
                                        <p:tgtEl>
                                          <p:spTgt spid="38"/>
                                        </p:tgtEl>
                                      </p:cBhvr>
                                    </p:animEffect>
                                    <p:anim calcmode="lin" valueType="num">
                                      <p:cBhvr>
                                        <p:cTn id="5" dur="500" fill="hold"/>
                                        <p:tgtEl>
                                          <p:spTgt spid="38"/>
                                        </p:tgtEl>
                                        <p:attrNameLst>
                                          <p:attrName>ppt_x</p:attrName>
                                        </p:attrNameLst>
                                      </p:cBhvr>
                                      <p:tavLst>
                                        <p:tav tm="0">
                                          <p:val>
                                            <p:strVal val="#ppt_x"/>
                                          </p:val>
                                        </p:tav>
                                        <p:tav tm="100000">
                                          <p:val>
                                            <p:strVal val="#ppt_x"/>
                                          </p:val>
                                        </p:tav>
                                      </p:tavLst>
                                    </p:anim>
                                    <p:anim calcmode="lin" valueType="num">
                                      <p:cBhvr>
                                        <p:cTn id="6"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500"/>
                                        <p:tgtEl>
                                          <p:spTgt spid="39"/>
                                        </p:tgtEl>
                                      </p:cBhvr>
                                    </p:animEffect>
                                    <p:anim calcmode="lin" valueType="num">
                                      <p:cBhvr>
                                        <p:cTn id="12" dur="500" fill="hold"/>
                                        <p:tgtEl>
                                          <p:spTgt spid="39"/>
                                        </p:tgtEl>
                                        <p:attrNameLst>
                                          <p:attrName>ppt_x</p:attrName>
                                        </p:attrNameLst>
                                      </p:cBhvr>
                                      <p:tavLst>
                                        <p:tav tm="0">
                                          <p:val>
                                            <p:strVal val="#ppt_x"/>
                                          </p:val>
                                        </p:tav>
                                        <p:tav tm="100000">
                                          <p:val>
                                            <p:strVal val="#ppt_x"/>
                                          </p:val>
                                        </p:tav>
                                      </p:tavLst>
                                    </p:anim>
                                    <p:anim calcmode="lin" valueType="num">
                                      <p:cBhvr>
                                        <p:cTn id="13"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anim calcmode="lin" valueType="num">
                                      <p:cBhvr>
                                        <p:cTn id="19" dur="500" fill="hold"/>
                                        <p:tgtEl>
                                          <p:spTgt spid="40"/>
                                        </p:tgtEl>
                                        <p:attrNameLst>
                                          <p:attrName>ppt_x</p:attrName>
                                        </p:attrNameLst>
                                      </p:cBhvr>
                                      <p:tavLst>
                                        <p:tav tm="0">
                                          <p:val>
                                            <p:strVal val="#ppt_x"/>
                                          </p:val>
                                        </p:tav>
                                        <p:tav tm="100000">
                                          <p:val>
                                            <p:strVal val="#ppt_x"/>
                                          </p:val>
                                        </p:tav>
                                      </p:tavLst>
                                    </p:anim>
                                    <p:anim calcmode="lin" valueType="num">
                                      <p:cBhvr>
                                        <p:cTn id="20" dur="5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Talk the Talk · Function Maker Space · SE p. 325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Create and compare</a:t>
            </a:r>
            <a:endParaRPr lang="en-US" sz="3450" dirty="0"/>
          </a:p>
        </p:txBody>
      </p:sp>
      <p:sp>
        <p:nvSpPr>
          <p:cNvPr id="4" name="Shape 4"/>
          <p:cNvSpPr txBox="1"/>
          <p:nvPr/>
        </p:nvSpPr>
        <p:spPr>
          <a:xfrm>
            <a:off x="685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5" name="Shape 5"/>
          <p:cNvSpPr txBox="1"/>
          <p:nvPr/>
        </p:nvSpPr>
        <p:spPr>
          <a:xfrm>
            <a:off x="1828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−10</a:t>
            </a:r>
            <a:endParaRPr lang="en-US" sz="1650" dirty="0"/>
          </a:p>
        </p:txBody>
      </p:sp>
      <p:sp>
        <p:nvSpPr>
          <p:cNvPr id="6" name="Shape 6"/>
          <p:cNvSpPr txBox="1"/>
          <p:nvPr/>
        </p:nvSpPr>
        <p:spPr>
          <a:xfrm>
            <a:off x="2971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10</a:t>
            </a:r>
            <a:endParaRPr lang="en-US" sz="1650" dirty="0"/>
          </a:p>
        </p:txBody>
      </p:sp>
      <p:sp>
        <p:nvSpPr>
          <p:cNvPr id="7" name="Shape 7"/>
          <p:cNvSpPr txBox="1"/>
          <p:nvPr/>
        </p:nvSpPr>
        <p:spPr>
          <a:xfrm>
            <a:off x="4114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20</a:t>
            </a:r>
            <a:endParaRPr lang="en-US" sz="1650" dirty="0"/>
          </a:p>
        </p:txBody>
      </p:sp>
      <p:sp>
        <p:nvSpPr>
          <p:cNvPr id="8" name="Shape 8"/>
          <p:cNvSpPr txBox="1"/>
          <p:nvPr/>
        </p:nvSpPr>
        <p:spPr>
          <a:xfrm>
            <a:off x="5257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25</a:t>
            </a:r>
            <a:endParaRPr lang="en-US" sz="1650" dirty="0"/>
          </a:p>
        </p:txBody>
      </p:sp>
      <p:sp>
        <p:nvSpPr>
          <p:cNvPr id="9" name="Shape 9"/>
          <p:cNvSpPr txBox="1"/>
          <p:nvPr/>
        </p:nvSpPr>
        <p:spPr>
          <a:xfrm>
            <a:off x="685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y</a:t>
            </a:r>
            <a:endParaRPr lang="en-US" sz="1650" dirty="0"/>
          </a:p>
        </p:txBody>
      </p:sp>
      <p:sp>
        <p:nvSpPr>
          <p:cNvPr id="10" name="Shape 10"/>
          <p:cNvSpPr txBox="1"/>
          <p:nvPr/>
        </p:nvSpPr>
        <p:spPr>
          <a:xfrm>
            <a:off x="1828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1" name="Shape 11"/>
          <p:cNvSpPr txBox="1"/>
          <p:nvPr/>
        </p:nvSpPr>
        <p:spPr>
          <a:xfrm>
            <a:off x="2971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a:t>
            </a:r>
            <a:endParaRPr lang="en-US" sz="1650" dirty="0"/>
          </a:p>
        </p:txBody>
      </p:sp>
      <p:sp>
        <p:nvSpPr>
          <p:cNvPr id="12" name="Shape 12"/>
          <p:cNvSpPr txBox="1"/>
          <p:nvPr/>
        </p:nvSpPr>
        <p:spPr>
          <a:xfrm>
            <a:off x="4114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7.5</a:t>
            </a:r>
            <a:endParaRPr lang="en-US" sz="1650" dirty="0"/>
          </a:p>
        </p:txBody>
      </p:sp>
      <p:sp>
        <p:nvSpPr>
          <p:cNvPr id="13" name="Shape 13"/>
          <p:cNvSpPr txBox="1"/>
          <p:nvPr/>
        </p:nvSpPr>
        <p:spPr>
          <a:xfrm>
            <a:off x="5257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8.75</a:t>
            </a:r>
            <a:endParaRPr lang="en-US" sz="1650" dirty="0"/>
          </a:p>
        </p:txBody>
      </p:sp>
      <p:sp>
        <p:nvSpPr>
          <p:cNvPr id="14" name="Shape 14"/>
          <p:cNvSpPr txBox="1"/>
          <p:nvPr/>
        </p:nvSpPr>
        <p:spPr>
          <a:xfrm>
            <a:off x="685800" y="2585466"/>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 A situation for the table:</a:t>
            </a:r>
            <a:endParaRPr lang="en-US" sz="1575" dirty="0"/>
          </a:p>
        </p:txBody>
      </p:sp>
      <p:sp>
        <p:nvSpPr>
          <p:cNvPr id="15" name="Shape 15"/>
          <p:cNvSpPr txBox="1"/>
          <p:nvPr/>
        </p:nvSpPr>
        <p:spPr>
          <a:xfrm>
            <a:off x="685800" y="297561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Sample: Alejandra has read 2.5 pages and reads 2.5 more every 10 minutes. Slope ¼,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2.5.</a:t>
            </a:r>
            <a:endParaRPr lang="en-US" sz="1575" dirty="0"/>
          </a:p>
        </p:txBody>
      </p:sp>
      <p:sp>
        <p:nvSpPr>
          <p:cNvPr id="16" name="Shape 16"/>
          <p:cNvSpPr txBox="1"/>
          <p:nvPr/>
        </p:nvSpPr>
        <p:spPr>
          <a:xfrm>
            <a:off x="685800" y="3605784"/>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A less steep equation:</a:t>
            </a:r>
            <a:endParaRPr lang="en-US" sz="1575" dirty="0"/>
          </a:p>
        </p:txBody>
      </p:sp>
      <p:sp>
        <p:nvSpPr>
          <p:cNvPr id="17" name="Shape 17"/>
          <p:cNvSpPr txBox="1"/>
          <p:nvPr/>
        </p:nvSpPr>
        <p:spPr>
          <a:xfrm>
            <a:off x="685800" y="399592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0.2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+ 30</a:t>
            </a:r>
            <a:endParaRPr lang="en-US" sz="2325" dirty="0"/>
          </a:p>
        </p:txBody>
      </p:sp>
      <p:sp>
        <p:nvSpPr>
          <p:cNvPr id="18" name="Shape 18"/>
          <p:cNvSpPr txBox="1"/>
          <p:nvPr/>
        </p:nvSpPr>
        <p:spPr>
          <a:xfrm>
            <a:off x="6286348" y="2585466"/>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3. The graph shown in the book has slope ⅓ (through (0, −4)).</a:t>
            </a:r>
            <a:endParaRPr lang="en-US" sz="1575" dirty="0"/>
          </a:p>
        </p:txBody>
      </p:sp>
      <p:sp>
        <p:nvSpPr>
          <p:cNvPr id="19" name="Shape 19"/>
          <p:cNvSpPr txBox="1"/>
          <p:nvPr/>
        </p:nvSpPr>
        <p:spPr>
          <a:xfrm>
            <a:off x="6286348" y="321564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It is steeper than the table (¼) and the equation (0.2).</a:t>
            </a:r>
            <a:endParaRPr lang="en-US" sz="1575" dirty="0"/>
          </a:p>
        </p:txBody>
      </p:sp>
      <p:sp>
        <p:nvSpPr>
          <p:cNvPr id="20" name="Shape 20"/>
          <p:cNvSpPr txBox="1"/>
          <p:nvPr/>
        </p:nvSpPr>
        <p:spPr>
          <a:xfrm>
            <a:off x="6286348" y="3845814"/>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Strategies:</a:t>
            </a:r>
            <a:endParaRPr lang="en-US" sz="1575" dirty="0"/>
          </a:p>
        </p:txBody>
      </p:sp>
      <p:sp>
        <p:nvSpPr>
          <p:cNvPr id="21" name="Shape 21"/>
          <p:cNvSpPr txBox="1"/>
          <p:nvPr/>
        </p:nvSpPr>
        <p:spPr>
          <a:xfrm>
            <a:off x="6286348" y="4235958"/>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Answers vary: rate of change from two points; compare the slopes.</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ppt_x</p:attrName>
                                        </p:attrNameLst>
                                      </p:cBhvr>
                                      <p:tavLst>
                                        <p:tav tm="0">
                                          <p:val>
                                            <p:strVal val="#ppt_x"/>
                                          </p:val>
                                        </p:tav>
                                        <p:tav tm="100000">
                                          <p:val>
                                            <p:strVal val="#ppt_x"/>
                                          </p:val>
                                        </p:tav>
                                      </p:tavLst>
                                    </p:anim>
                                    <p:anim calcmode="lin" valueType="num">
                                      <p:cBhvr>
                                        <p:cTn id="20"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do the representations compare?</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Every form (equation, table, graph, description) shows the same features: the </a:t>
            </a:r>
            <a:r>
              <a:rPr lang="en-US" sz="1950" dirty="0" b="1">
                <a:solidFill>
                  <a:srgbClr val="16171D"/>
                </a:solidFill>
                <a:latin typeface="Segoe UI"/>
                <a:cs typeface="Segoe UI"/>
              </a:rPr>
              <a:t xml:space="preserve">slope</a:t>
            </a:r>
            <a:r>
              <a:rPr lang="en-US" sz="1950" dirty="0">
                <a:solidFill>
                  <a:srgbClr val="16171D"/>
                </a:solidFill>
                <a:latin typeface="Segoe UI"/>
                <a:cs typeface="Segoe UI"/>
              </a:rPr>
              <a:t xml:space="preserve"> or rate and the </a:t>
            </a:r>
            <a:r>
              <a:rPr lang="en-US" sz="1950" dirty="0" b="1" i="1">
                <a:solidFill>
                  <a:srgbClr val="16171D"/>
                </a:solidFill>
                <a:latin typeface="Segoe UI"/>
                <a:cs typeface="Segoe UI"/>
              </a:rPr>
              <a:t xml:space="preserve">y</a:t>
            </a:r>
            <a:r>
              <a:rPr lang="en-US" sz="1950" dirty="0" b="1">
                <a:solidFill>
                  <a:srgbClr val="16171D"/>
                </a:solidFill>
                <a:latin typeface="Segoe UI"/>
                <a:cs typeface="Segoe UI"/>
              </a:rPr>
              <a:t xml:space="preserve">-intercept</a:t>
            </a:r>
            <a:r>
              <a:rPr lang="en-US" sz="1950" dirty="0">
                <a:solidFill>
                  <a:srgbClr val="16171D"/>
                </a:solidFill>
                <a:latin typeface="Segoe UI"/>
                <a:cs typeface="Segoe UI"/>
              </a:rPr>
              <a:t xml:space="preserve"> or starting value.</a:t>
            </a:r>
            <a:endParaRPr lang="en-US" sz="1950" dirty="0"/>
          </a:p>
        </p:txBody>
      </p:sp>
      <p:sp>
        <p:nvSpPr>
          <p:cNvPr id="5" name="Shape 5"/>
          <p:cNvSpPr txBox="1"/>
          <p:nvPr/>
        </p:nvSpPr>
        <p:spPr>
          <a:xfrm>
            <a:off x="685800" y="251536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Compare by finding these in each form: equal slopes are parallel; slopes with a product of −1 are perpendicular.</a:t>
            </a:r>
            <a:endParaRPr lang="en-US" sz="1950" dirty="0"/>
          </a:p>
        </p:txBody>
      </p:sp>
      <p:sp>
        <p:nvSpPr>
          <p:cNvPr id="6" name="Shape 6"/>
          <p:cNvSpPr txBox="1"/>
          <p:nvPr/>
        </p:nvSpPr>
        <p:spPr>
          <a:xfrm>
            <a:off x="685800" y="335508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quantities and units tell what the slope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mean.</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 table has </a:t>
            </a:r>
            <a:r>
              <a:rPr lang="en-US" sz="1950" dirty="0">
                <a:solidFill>
                  <a:srgbClr val="16171D"/>
                </a:solidFill>
                <a:latin typeface="Cambria"/>
                <a:cs typeface="Cambria"/>
              </a:rPr>
              <a:t xml:space="preserve">(0, 3)</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(2, 11)</a:t>
            </a:r>
            <a:r>
              <a:rPr lang="en-US" sz="1950" dirty="0">
                <a:solidFill>
                  <a:srgbClr val="16171D"/>
                </a:solidFill>
                <a:latin typeface="Segoe UI"/>
                <a:cs typeface="Segoe UI"/>
              </a:rPr>
              <a:t xml:space="preserve">. Is its line parallel, perpendicular, or neither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439162"/>
            <a:ext cx="489793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Parallel (slope 4)</a:t>
            </a:r>
            <a:endParaRPr lang="en-US" sz="2325" dirty="0"/>
          </a:p>
        </p:txBody>
      </p:sp>
      <p:sp>
        <p:nvSpPr>
          <p:cNvPr id="6" name="Shape 6"/>
          <p:cNvSpPr txBox="1"/>
          <p:nvPr/>
        </p:nvSpPr>
        <p:spPr>
          <a:xfrm>
            <a:off x="685800" y="307238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+ 10</a:t>
            </a:r>
            <a:r>
              <a:rPr lang="en-US" sz="1950" dirty="0">
                <a:solidFill>
                  <a:srgbClr val="16171D"/>
                </a:solidFill>
                <a:latin typeface="Segoe UI"/>
                <a:cs typeface="Segoe UI"/>
              </a:rPr>
              <a:t xml:space="preserve"> and a table with </a:t>
            </a:r>
            <a:r>
              <a:rPr lang="en-US" sz="1950" dirty="0">
                <a:solidFill>
                  <a:srgbClr val="16171D"/>
                </a:solidFill>
                <a:latin typeface="Cambria"/>
                <a:cs typeface="Cambria"/>
              </a:rPr>
              <a:t xml:space="preserve">(0, 4), (1, 9)</a:t>
            </a:r>
            <a:r>
              <a:rPr lang="en-US" sz="1950" dirty="0">
                <a:solidFill>
                  <a:srgbClr val="16171D"/>
                </a:solidFill>
                <a:latin typeface="Segoe UI"/>
                <a:cs typeface="Segoe UI"/>
              </a:rPr>
              <a:t xml:space="preserve">. Which grows faster?</a:t>
            </a:r>
            <a:endParaRPr lang="en-US" sz="1950" dirty="0"/>
          </a:p>
        </p:txBody>
      </p:sp>
      <p:sp>
        <p:nvSpPr>
          <p:cNvPr id="7" name="Shape 7"/>
          <p:cNvSpPr txBox="1"/>
          <p:nvPr/>
        </p:nvSpPr>
        <p:spPr>
          <a:xfrm>
            <a:off x="685800" y="3538728"/>
            <a:ext cx="572707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The table (slope 5 &gt; 3)</a:t>
            </a:r>
            <a:endParaRPr lang="en-US" sz="2325" dirty="0"/>
          </a:p>
        </p:txBody>
      </p:sp>
      <p:sp>
        <p:nvSpPr>
          <p:cNvPr id="8" name="Shape 8"/>
          <p:cNvSpPr txBox="1"/>
          <p:nvPr/>
        </p:nvSpPr>
        <p:spPr>
          <a:xfrm>
            <a:off x="685800" y="417195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 taxi charges $2.50 per mile plus $3. What are the units of the slope?</a:t>
            </a:r>
            <a:endParaRPr lang="en-US" sz="1950" dirty="0"/>
          </a:p>
        </p:txBody>
      </p:sp>
      <p:sp>
        <p:nvSpPr>
          <p:cNvPr id="9" name="Shape 9"/>
          <p:cNvSpPr txBox="1"/>
          <p:nvPr/>
        </p:nvSpPr>
        <p:spPr>
          <a:xfrm>
            <a:off x="685800" y="4638294"/>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Dollars per mile</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End of Day 2</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Wednesday, November 4</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Thursday, November 5. End of Topic 1 Assessment. Lesson 3 and 4 quizzes go home as homework.</a:t>
            </a:r>
            <a:endParaRPr lang="en-US" sz="22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 SE p. 330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Solve each equation for </a:t>
            </a:r>
            <a:r>
              <a:rPr lang="en-US" sz="3450" dirty="0" b="1" i="1">
                <a:solidFill>
                  <a:srgbClr val="16171D"/>
                </a:solidFill>
                <a:latin typeface="Segoe UI"/>
                <a:cs typeface="Segoe UI"/>
              </a:rPr>
              <a:t xml:space="preserve">x</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⅓</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5" name="Shape 5"/>
          <p:cNvSpPr txBox="1"/>
          <p:nvPr/>
        </p:nvSpPr>
        <p:spPr>
          <a:xfrm>
            <a:off x="685800" y="212293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6" name="Shape 6"/>
          <p:cNvSpPr txBox="1"/>
          <p:nvPr/>
        </p:nvSpPr>
        <p:spPr>
          <a:xfrm>
            <a:off x="685800" y="2737104"/>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 = 6</a:t>
            </a:r>
            <a:endParaRPr lang="en-US" sz="2325" dirty="0"/>
          </a:p>
        </p:txBody>
      </p:sp>
      <p:sp>
        <p:nvSpPr>
          <p:cNvPr id="7" name="Shape 7"/>
          <p:cNvSpPr txBox="1"/>
          <p:nvPr/>
        </p:nvSpPr>
        <p:spPr>
          <a:xfrm>
            <a:off x="685800" y="324154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7.5</a:t>
            </a:r>
            <a:endParaRPr lang="en-US" sz="2325" dirty="0"/>
          </a:p>
        </p:txBody>
      </p:sp>
      <p:sp>
        <p:nvSpPr>
          <p:cNvPr id="8" name="Shape 8"/>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5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12.7</a:t>
            </a:r>
            <a:endParaRPr lang="en-US" sz="2325" dirty="0"/>
          </a:p>
        </p:txBody>
      </p:sp>
      <p:sp>
        <p:nvSpPr>
          <p:cNvPr id="9" name="Shape 9"/>
          <p:cNvSpPr txBox="1"/>
          <p:nvPr/>
        </p:nvSpPr>
        <p:spPr>
          <a:xfrm>
            <a:off x="6286348" y="2122932"/>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7.7</a:t>
            </a:r>
            <a:endParaRPr lang="en-US" sz="2325" dirty="0"/>
          </a:p>
        </p:txBody>
      </p:sp>
      <p:sp>
        <p:nvSpPr>
          <p:cNvPr id="10" name="Shape 10"/>
          <p:cNvSpPr txBox="1"/>
          <p:nvPr/>
        </p:nvSpPr>
        <p:spPr>
          <a:xfrm>
            <a:off x="6286348" y="2737104"/>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12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1" name="Shape 11"/>
          <p:cNvSpPr txBox="1"/>
          <p:nvPr/>
        </p:nvSpPr>
        <p:spPr>
          <a:xfrm>
            <a:off x="6286348" y="324154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13</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7" name="Shape 7"/>
          <p:cNvSpPr txBox="1"/>
          <p:nvPr/>
        </p:nvSpPr>
        <p:spPr>
          <a:xfrm>
            <a:off x="685800" y="1808988"/>
            <a:ext cx="337809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Bell work</a:t>
            </a:r>
            <a:endParaRPr lang="en-US" sz="2100" dirty="0"/>
          </a:p>
        </p:txBody>
      </p:sp>
      <p:sp>
        <p:nvSpPr>
          <p:cNvPr id="5" name="Shape 5"/>
          <p:cNvSpPr txBox="1"/>
          <p:nvPr/>
        </p:nvSpPr>
        <p:spPr>
          <a:xfrm>
            <a:off x="895350" y="2450592"/>
            <a:ext cx="29589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hlinkClick r:id="rId3"/>
              </a:rPr>
              <a:t xml:space="preserve">Day 1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4"/>
              </a:rPr>
              <a:t xml:space="preserve">Day 2 →</a:t>
            </a:r>
            <a:endParaRPr lang="en-US" sz="1575" dirty="0"/>
          </a:p>
        </p:txBody>
      </p:sp>
      <p:sp>
        <p:nvSpPr>
          <p:cNvPr id="6" name="Shape 6"/>
          <p:cNvSpPr txBox="1"/>
          <p:nvPr/>
        </p:nvSpPr>
        <p:spPr>
          <a:xfrm>
            <a:off x="895350" y="2840736"/>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questions each, the same as the bell work slides. Scored when students submit.</a:t>
            </a:r>
            <a:endParaRPr lang="en-US" sz="1575" dirty="0"/>
          </a:p>
        </p:txBody>
      </p:sp>
      <p:sp>
        <p:nvSpPr>
          <p:cNvPr id="10" name="Shape 10"/>
          <p:cNvSpPr txBox="1"/>
          <p:nvPr/>
        </p:nvSpPr>
        <p:spPr>
          <a:xfrm>
            <a:off x="4406798"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616348"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5"/>
              </a:rPr>
              <a:t xml:space="preserve">Homework →</a:t>
            </a:r>
            <a:endParaRPr lang="en-US" sz="2100" dirty="0"/>
          </a:p>
        </p:txBody>
      </p:sp>
      <p:sp>
        <p:nvSpPr>
          <p:cNvPr id="9" name="Shape 9"/>
          <p:cNvSpPr txBox="1"/>
          <p:nvPr/>
        </p:nvSpPr>
        <p:spPr>
          <a:xfrm>
            <a:off x="4616348"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13" name="Shape 13"/>
          <p:cNvSpPr txBox="1"/>
          <p:nvPr/>
        </p:nvSpPr>
        <p:spPr>
          <a:xfrm>
            <a:off x="8127797"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337347"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6"/>
              </a:rPr>
              <a:t xml:space="preserve">Quiz →</a:t>
            </a:r>
            <a:endParaRPr lang="en-US" sz="2100" dirty="0"/>
          </a:p>
        </p:txBody>
      </p:sp>
      <p:sp>
        <p:nvSpPr>
          <p:cNvPr id="12" name="Shape 12"/>
          <p:cNvSpPr txBox="1"/>
          <p:nvPr/>
        </p:nvSpPr>
        <p:spPr>
          <a:xfrm>
            <a:off x="8337347"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4" name="Shape 14"/>
          <p:cNvSpPr txBox="1"/>
          <p:nvPr/>
        </p:nvSpPr>
        <p:spPr>
          <a:xfrm>
            <a:off x="685800" y="401574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All are multiple choice. The homework follows the Lesson 4 Assignment (SE pp. 327–330).</a:t>
            </a:r>
            <a:endParaRPr lang="en-US" sz="1575" dirty="0"/>
          </a:p>
        </p:txBody>
      </p:sp>
    </p:spTree>
  </p:cSld>
  <p:clrMapOvr>
    <a:masterClrMapping/>
  </p:clrMapOvr>
  <p:transition spd="med">
    <p:fade/>
  </p:transition>
</p:sld>
</file>

<file path=ppt/theme/theme1.xml><?xml version="1.0" encoding="utf-8"?>
<a:theme xmlns:a="http://schemas.openxmlformats.org/drawingml/2006/main" name="Comparing Linear Functions in Different Form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30</Slides>
  <Notes>30</Notes>
</Properties>
</file>

<file path=docProps/core.xml><?xml version="1.0" encoding="utf-8"?>
<cp:coreProperties xmlns:cp="http://schemas.openxmlformats.org/package/2006/metadata/core-properties" xmlns:dc="http://purl.org/dc/elements/1.1/">
  <dc:title>Comparing Linear Functions in Different Forms</dc:title>
  <dc:subject>Bluebonnet Algebra I</dc:subject>
</cp:coreProperties>
</file>