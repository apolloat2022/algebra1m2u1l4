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
        <p:nvSpPr>
          <p:cNvPr id="1010" name="Answer 1010"/>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pPr marL="403225" lvl="1" indent="0">
              <a:lnSpc>
                <a:spcPct val="100000"/>
              </a:lnSpc>
              <a:spcBef>
                <a:spcPts val="200"/>
              </a:spcBef>
              <a:spcAft>
                <a:spcPts val="600"/>
              </a:spcAft>
              <a:buNone/>
            </a:pPr>
            <a:r>
              <a:rPr lang="en-US" sz="1800" dirty="0">
                <a:solidFill>
                  <a:srgbClr val="FF0000"/>
                </a:solidFill>
              </a:rPr>
              <a:t>b. The slope is −4. Neither parallel nor perpendicular to y = 4x − 3.</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a:p>
                <a:pPr marL="0" lvl="1" indent="0">
                  <a:lnSpc>
                    <a:spcPct val="100000"/>
                  </a:lnSpc>
                  <a:spcBef>
                    <a:spcPts val="200"/>
                  </a:spcBef>
                  <a:spcAft>
                    <a:spcPts val="600"/>
                  </a:spcAft>
                  <a:buNone/>
                </a:pPr>
                <a:r>
                  <a:rPr lang="en-US" sz="1800" dirty="0">
                    <a:solidFill>
                      <a:srgbClr val="FF0000"/>
                    </a:solidFill>
                  </a:rPr>
                  <a:t>c. The slope is 1/4. Neither parallel nor perpendicular to y = 4x − 3.</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4" name="Answer 1014"/>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a:p>
            <a:pPr marL="344488" lvl="1" indent="0">
              <a:lnSpc>
                <a:spcPct val="100000"/>
              </a:lnSpc>
              <a:spcBef>
                <a:spcPts val="200"/>
              </a:spcBef>
              <a:spcAft>
                <a:spcPts val="600"/>
              </a:spcAft>
              <a:buNone/>
            </a:pPr>
            <a:r>
              <a:rPr lang="en-US" sz="1800" dirty="0">
                <a:solidFill>
                  <a:srgbClr val="FF0000"/>
                </a:solidFill>
              </a:rPr>
              <a:t>f. The slope is 4 (dozen cookies per hour). Parallel to y = 4x − 3.</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07" name="Answer 1007"/>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Table and graph: x = weight of cardboard (tons); y = payout amount (dollars).</a:t>
            </a: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a:p>
            <a:pPr marL="461963" lvl="1" indent="0">
              <a:lnSpc>
                <a:spcPct val="100000"/>
              </a:lnSpc>
              <a:spcBef>
                <a:spcPts val="200"/>
              </a:spcBef>
              <a:spcAft>
                <a:spcPts val="600"/>
              </a:spcAft>
              <a:buNone/>
            </a:pPr>
            <a:r>
              <a:rPr lang="en-US" sz="1800" dirty="0">
                <a:solidFill>
                  <a:srgbClr val="FF0000"/>
                </a:solidFill>
              </a:rPr>
              <a:t>a. w(0.5) &lt; j(0.5) (7.50 &lt; 10)     b. w(1) &lt; j(1) (15 &lt; 20)     c. w(3) &lt; j(3) (45 &lt; 60)</a:t>
            </a:r>
          </a:p>
          <a:p>
            <a:pPr marL="461963" lvl="1" indent="0">
              <a:lnSpc>
                <a:spcPct val="100000"/>
              </a:lnSpc>
              <a:spcBef>
                <a:spcPts val="200"/>
              </a:spcBef>
              <a:spcAft>
                <a:spcPts val="600"/>
              </a:spcAft>
              <a:buNone/>
            </a:pPr>
            <a:r>
              <a:rPr lang="en-US" sz="1600" dirty="0">
                <a:solidFill>
                  <a:srgbClr val="FF0000"/>
                </a:solidFill>
              </a:rPr>
              <a:t>Travis pays $15 per ton and Hays pays $20 per ton, so Hays pays more for every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Both y-intercepts are 0: each center pays $0 for 0 tons of cardboard.</a:t>
            </a:r>
          </a:p>
          <a:p>
            <a:pPr marL="511175" indent="-511175">
              <a:buFont typeface="+mj-lt"/>
              <a:buAutoNum type="arabicPeriod" startAt="3"/>
            </a:pPr>
            <a:r>
              <a:rPr lang="en-US" sz="2800" dirty="0">
                <a:solidFill>
                  <a:srgbClr val="000000"/>
                </a:solidFill>
              </a:rPr>
              <a:t>Which recycling center would you choose? Provide evidence to justify your choice.</a:t>
            </a:r>
          </a:p>
          <a:p>
            <a:pPr marL="511175" lvl="1" indent="0">
              <a:lnSpc>
                <a:spcPct val="100000"/>
              </a:lnSpc>
              <a:spcBef>
                <a:spcPts val="200"/>
              </a:spcBef>
              <a:spcAft>
                <a:spcPts val="600"/>
              </a:spcAft>
              <a:buNone/>
            </a:pPr>
            <a:r>
              <a:rPr lang="en-US" sz="1800" dirty="0">
                <a:solidFill>
                  <a:srgbClr val="FF0000"/>
                </a:solidFill>
              </a:rPr>
              <a:t>Hays County: it pays $20 per ton, while Travis County pays only $15 per ton, so Hays pays more for any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a:p>
            <a:pPr marL="0" lvl="1" indent="0">
              <a:lnSpc>
                <a:spcPct val="100000"/>
              </a:lnSpc>
              <a:spcBef>
                <a:spcPts val="200"/>
              </a:spcBef>
              <a:spcAft>
                <a:spcPts val="6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4" name="Answer 1014"/>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Xavier's equation: x is degrees Celsius and J(x) is degrees Fahrenheit, so Xavier converts °C to °F. Joey's table converts °F to °C (50°F = 10°C).</a:t>
            </a: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Joey's slope is about 5/9: each 9°F increase is about a 5°C increase. Xavier's slope is 9/5: each 5°C increase is a 9°F increase.</a:t>
            </a:r>
          </a:p>
          <a:p>
            <a:pPr marL="511175" lvl="1" indent="0">
              <a:lnSpc>
                <a:spcPct val="100000"/>
              </a:lnSpc>
              <a:spcBef>
                <a:spcPts val="200"/>
              </a:spcBef>
              <a:spcAft>
                <a:spcPts val="600"/>
              </a:spcAft>
              <a:buNone/>
            </a:pPr>
            <a:r>
              <a:rPr lang="en-US" sz="1700" dirty="0">
                <a:solidFill>
                  <a:srgbClr val="FF0000"/>
                </a:solidFill>
              </a:rPr>
              <a:t>b. Joey's y-intercept is about −17.8: 0°F is about −17.8°C. Xavier's y-intercept is 32: 0°C is 32°F.</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Miguel saves the same amount each month and has $80 after 4 months, so the x-axis ticks are 1 month each and the y-axis ticks are $20 each. The origin is (0 months, $0 saved).</a:t>
            </a: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Miguel's slope is 20: he saves $20 each month. Lauren's slope is 25: she saves $25 each month.</a:t>
            </a:r>
          </a:p>
          <a:p>
            <a:pPr marL="511175" lvl="1" indent="0">
              <a:lnSpc>
                <a:spcPct val="100000"/>
              </a:lnSpc>
              <a:spcBef>
                <a:spcPts val="200"/>
              </a:spcBef>
              <a:spcAft>
                <a:spcPts val="600"/>
              </a:spcAft>
              <a:buNone/>
            </a:pPr>
            <a:r>
              <a:rPr lang="en-US" sz="1700" dirty="0">
                <a:solidFill>
                  <a:srgbClr val="FF0000"/>
                </a:solidFill>
              </a:rPr>
              <a:t>b. Miguel's y-intercept is 0: he started with $0. Lauren's y-intercept is 25: she started with $25.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a:p>
            <a:pPr marL="511175" lvl="1" indent="0">
              <a:lnSpc>
                <a:spcPct val="100000"/>
              </a:lnSpc>
              <a:spcBef>
                <a:spcPts val="200"/>
              </a:spcBef>
              <a:spcAft>
                <a:spcPts val="600"/>
              </a:spcAft>
              <a:buNone/>
            </a:pPr>
            <a:r>
              <a:rPr lang="en-US" sz="1800" dirty="0">
                <a:solidFill>
                  <a:srgbClr val="FF0000"/>
                </a:solidFill>
              </a:rPr>
              <a:t>Sample: Alejandra has read 2.5 pages of a book and reads 2.5 more pages every 10 minutes (x = minutes from now, y = pages read). The slope is 1/4.</a:t>
            </a:r>
          </a:p>
          <a:p>
            <a:pPr marL="511175" lvl="1" indent="0">
              <a:lnSpc>
                <a:spcPct val="100000"/>
              </a:lnSpc>
              <a:spcBef>
                <a:spcPts val="200"/>
              </a:spcBef>
              <a:spcAft>
                <a:spcPts val="600"/>
              </a:spcAft>
              <a:buNone/>
            </a:pPr>
            <a:r>
              <a:rPr lang="en-US" sz="2000" dirty="0">
                <a:solidFill>
                  <a:srgbClr val="FF0000"/>
                </a:solidFill>
              </a:rPr>
              <a:t>Sample: y = 0.2x + 30 (slope 0.2 &lt; 0.25)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Sample: the graphed line has slope 1/3 ≈ 0.333 (through (0, −4) and (3, −3)). It is steeper than the table (1/4) and my equation (0.2).</a:t>
            </a: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Answers will vary: for example, finding the rate of change from two points and comparing the absolute values of the slopes.</a:t>
            </a: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endParaRPr lang="en-US" sz="2800" dirty="0">
                  <a:solidFill>
                    <a:srgbClr val="000000"/>
                  </a:solidFill>
                  <a:ea typeface="+mn-lt"/>
                  <a:cs typeface="+mn-lt"/>
                </a:endParaRPr>
              </a:p>
              <a:p>
                <a:pPr marL="514350" lvl="1" indent="0">
                  <a:lnSpc>
                    <a:spcPct val="100000"/>
                  </a:lnSpc>
                  <a:spcBef>
                    <a:spcPts val="200"/>
                  </a:spcBef>
                  <a:spcAft>
                    <a:spcPts val="600"/>
                  </a:spcAft>
                  <a:buNone/>
                </a:pPr>
                <a:r>
                  <a:rPr lang="en-US" sz="2400" dirty="0">
                    <a:solidFill>
                      <a:srgbClr val="FF0000"/>
                    </a:solidFill>
                  </a:rPr>
                  <a:t>x = 24</a:t>
                </a: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endParaRPr lang="en-US" sz="2800" dirty="0">
                  <a:solidFill>
                    <a:srgbClr val="000000"/>
                  </a:solidFill>
                  <a:ea typeface="+mn-lt"/>
                  <a:cs typeface="+mn-lt"/>
                </a:endParaRPr>
              </a:p>
              <a:p>
                <a:pPr marL="514350" lvl="1" indent="0">
                  <a:lnSpc>
                    <a:spcPct val="100000"/>
                  </a:lnSpc>
                  <a:spcBef>
                    <a:spcPts val="200"/>
                  </a:spcBef>
                  <a:spcAft>
                    <a:spcPts val="600"/>
                  </a:spcAft>
                  <a:buNone/>
                </a:pPr>
                <a:r>
                  <a:rPr lang="en-US" sz="2400" dirty="0">
                    <a:solidFill>
                      <a:srgbClr val="FF0000"/>
                    </a:solidFill>
                  </a:rPr>
                  <a:t>x = 7.7</a:t>
                </a: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endParaRPr lang="en-US" sz="2800" dirty="0">
                  <a:solidFill>
                    <a:srgbClr val="000000"/>
                  </a:solidFill>
                  <a:ea typeface="+mn-lt"/>
                  <a:cs typeface="+mn-lt"/>
                </a:endParaRPr>
              </a:p>
              <a:p>
                <a:pPr marL="514350" lvl="1" indent="0">
                  <a:lnSpc>
                    <a:spcPct val="100000"/>
                  </a:lnSpc>
                  <a:spcBef>
                    <a:spcPts val="200"/>
                  </a:spcBef>
                  <a:spcAft>
                    <a:spcPts val="600"/>
                  </a:spcAft>
                  <a:buNone/>
                </a:pPr>
                <a:r>
                  <a:rPr lang="en-US" sz="2400" dirty="0">
                    <a:solidFill>
                      <a:srgbClr val="FF0000"/>
                    </a:solidFill>
                  </a:rPr>
                  <a:t>x = 7.5</a:t>
                </a: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a:p>
                <a:pPr marL="514350" lvl="1" indent="0">
                  <a:lnSpc>
                    <a:spcPct val="100000"/>
                  </a:lnSpc>
                  <a:spcBef>
                    <a:spcPts val="200"/>
                  </a:spcBef>
                  <a:spcAft>
                    <a:spcPts val="600"/>
                  </a:spcAft>
                  <a:buNone/>
                </a:pPr>
                <a:r>
                  <a:rPr lang="en-US" sz="2400" dirty="0">
                    <a:solidFill>
                      <a:srgbClr val="FF0000"/>
                    </a:solidFill>
                  </a:rPr>
                  <a:t>x = 13</a:t>
                </a: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330</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