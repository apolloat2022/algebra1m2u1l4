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rotate a segment 90° at a time, prove that perpendicular lines have negative reciprocal slopes, work with horizontal and vertical lines, and write equations of perpendicular lines. Two days on the 150-day calendar: Day 1 Getting Started and Activity 3.1; Day 2 Activities 3.2, 3.3 and Talk the Talk. Materials: patty paper, straightedges.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starts here on Thursday, October 29.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Flip the fraction: ⅔ · 3/2 = 1. 2. A 90° counterclockwise rotation maps (x, y) to (−y, x). 3. Slope = (5 − 0) ÷ (8 − 0) = 5/8. 4. In y = mx + b, m = −3.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Catch-up from Topic 1 Lesson 6 so the class is ready for the End of Topic 1 Assessment (Lessons 1–6). Keep it to about 15 minutes, then go back to the Topic 2 lesson.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6.2, 20–25 minutes. To begin Day 2, have a student read the Essential Question aloud. Have pairs complete Questions 1–5, then share. Axes: x = Number of T-Shirts, y = Potential Earnings (dollars). The Ask Yourself: What do the slope, intercepts, domain, and range mean in this situation? Teacher-guide look-for: students give the domain and range of the function (all real numbers) rather than of the scenario (whole numbers of shirts, multiples of $15). Ask: Did you use one or two points to calculate the earnings per T-shirt?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Yourself: Does E(t) represent a direct variation? (Yes: it passes through the origin and has the form y = kx.) Teacher-guide support: relate function notation back to x and y: (t, E(t)) is the same as (x, f(x)), which is the same as (x, y). Ask: Why doesn't the equation have a constant term? (She starts with $0.) E(2.75) is a point on the line, but it isn't a solution in the context.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Worked Examples and complete Questions 6 and 7 as a class. The Worked Example is explicit instruction: have students restate each step in their own words. Ask: How do you know whether to substitute the given value for t or for E(t)? (It's dollars, so it's the output.) How did you decide 7 instead of 6? How much does she earn with 6 shirts? 7? ($90 and $105.)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box: the graph of an equation represents the set of all its solutions. Ask: Why does it make sense to rely on technology when using a graph? (Reading 6.67 by eye is hard.) How could you solve this using a table on a calculator? Stamp the learning, from the teacher guide: "An equation or a graph can be used to determine the value of an independent variable. Sometimes a graph can only give an approximate answer; however, using an equation always results in an exact answer." For more practice, assign Skills Practice Set B.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the Topic 1 Catch-Up. Continue with the Topic 2 lesson.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15–20 minutes. Patty paper helps: trace the segment and the axes, then turn the paper a quarter turn.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3.1, 20–25 minutes. Students read the three graphs in their book (SE p. 307) and write the equations.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restate each step. Question 3 asks for the same proof with a clockwise rotation: R(a, b) maps to D(b, −a), so m₂ = −a/b and again m₁ = −1/m₂.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Stamp the learning: perpendicular lines have slopes that are negative reciprocals. End of Day 1.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ends here on Thursday, October 29.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starts here on Monday, November 2.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Perpendicular slopes are negative reciprocals: ⅔ · (−3/2) = −1. 2. On a horizontal line y never changes, so the rise is 0. 3. Every point on a vertical line has the same x-value, here 2. 4. Negative reciprocals multiply to −1.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Catch-up from Topic 1 Lesson 6 so the class is ready for the End of Topic 1 Assessment (Lessons 1–6). Keep it to about 15 minutes, then go back to the Topic 2 lesson.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6.3, 20–25 minutes. Have pairs complete Questions 1–4, then share. The last two clicks label the points on the graph. Ask Yourself: Does G(t) vary directly with t? (No: it doesn't pass through the origin.) Ask: How do the parallel lines relate to the context? (Same price per shirt.) Does this notation represent the x-intercept or the y-intercept? (G(0) is the y-intercept; G(t) = 0 gives the x-intercept.) Look for the statements students use to interpret y = G(0) and G(t) = 0.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property did you apply to show the equations are equivalent? (The Distributive Property.) Explain how Brianna's and Hailey's perspectives are different: Brianna thinks in shirts (3 fewer to sell), Hailey thinks in dollars ($45 lost). Compare Question 3 with the Worked Example in Activity 6.2: on the graph, the line G(t) crosses y = 100 at about (9.67, 100), and in context she needs 10 shirts.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fill in their own table first: the unit, then the contextual meaning, then the mathematical meaning. Reveal the teacher-guide answers one row at a time. Teacher-guide support: provide a word bank for the mathematical meanings (input, output, rate of change, y-intercept, constant). Ask: How does the unit of each expression guide your thinking? (Dollars per T-shirt must be a rate; plain dollars is an amount.)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the Topic 1 Catch-Up. Continue with the Topic 2 lesson.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3.2, 15–20 minutes. Memory trick from Topic 1: HOY VUX.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8–10 assess the lesson. For more practice, assign Skills Practice Set A.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3.3, 15–20 minutes. TE wording slip: for Question 2 the teacher guide says the given slope is 3/4; it is −3/4.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teacher guide prints the slope formula with y₂ − y₁ in the denominator; it is x₂ − x₁. Its numbers are correct. For more practice, assign Skills Practice Set B.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graph in the book (SE p. 314). The x-axis counts 1 per square and the y-axis 1 per 2 squares, so the lines look perpendicular but aren't.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Flip and change the sign. 2. Slope −1/3: 1 = −1/3(3) + b, so b = 2. 3. A vertical line keeps x the same.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ends here on Monday, November 2.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3 Assignment. In a function each input has exactly one output; in set 4 the input −1 has four outputs.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Module 2 topic 2/t2-lesson3-bellwork-day1.html" TargetMode="External"/><Relationship Id="rId4" Type="http://schemas.openxmlformats.org/officeDocument/2006/relationships/hyperlink" Target="https://algebra1m2u1l4.vercel.app/Module 2 topic 2/t2-lesson3-bellwork-day2.html" TargetMode="External"/><Relationship Id="rId5" Type="http://schemas.openxmlformats.org/officeDocument/2006/relationships/hyperlink" Target="https://algebra1m2u1l4.vercel.app/Module 2 topic 2/t2-lesson3-homework.html" TargetMode="External"/><Relationship Id="rId6" Type="http://schemas.openxmlformats.org/officeDocument/2006/relationships/hyperlink" Target="https://algebra1m2u1l4.vercel.app/Module 2 topic 2/t2-lesson3-quiz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algebra1m2u1l4.vercel.app/lesson6/lesson6-homework.html" TargetMode="External"/><Relationship Id="rId4" Type="http://schemas.openxmlformats.org/officeDocument/2006/relationships/hyperlink" Target="https://algebra1m2u1l4.vercel.app/lesson6/lesson6-quiz.html" TargetMode="Externa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algebra1m2u1l4.vercel.app/lesson6/lesson6-homework.html" TargetMode="External"/><Relationship Id="rId4" Type="http://schemas.openxmlformats.org/officeDocument/2006/relationships/hyperlink" Target="https://algebra1m2u1l4.vercel.app/lesson6/lesson6-quiz.html" TargetMode="Externa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algebra1m2u1l4.vercel.app/Module 2 topic 2/t2-lesson3-bellwork-day1.html" TargetMode="External"/><Relationship Id="rId4" Type="http://schemas.openxmlformats.org/officeDocument/2006/relationships/hyperlink" Target="https://algebra1m2u1l4.vercel.app/Module 2 topic 2/t2-lesson3-bellwork-day2.html" TargetMode="External"/><Relationship Id="rId5" Type="http://schemas.openxmlformats.org/officeDocument/2006/relationships/hyperlink" Target="https://algebra1m2u1l4.vercel.app/Module 2 topic 2/t2-lesson3-homework.html" TargetMode="External"/><Relationship Id="rId6" Type="http://schemas.openxmlformats.org/officeDocument/2006/relationships/hyperlink" Target="https://algebra1m2u1l4.vercel.app/Module 2 topic 2/t2-lesson3-quiz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3 · Student Edition pp. 305–318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Determining Slopes of Perpendicular Lines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430018"/>
            <a:ext cx="1082009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Adds a 15-minute Topic 1 Catch-Up (Lessons 5–6) each day · Day 1: Thu, Oct 29 · Day 2: Mon, Nov 2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075432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1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2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endParaRPr lang="en-US" sz="30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816096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1673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Day 1 of 2 · Start here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2569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Start: Thursday, October 29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5253228"/>
            <a:ext cx="10820095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>
                <a:solidFill>
                  <a:srgbClr val="16171D"/>
                </a:solidFill>
                <a:latin typeface="Segoe UI"/>
                <a:cs typeface="Segoe UI"/>
              </a:rPr>
              <a:t xml:space="preserve">Today: bell work → Topic 1 catch-up (Write, evaluate and solve a function in context) → Lesson 3, Day 1.</a:t>
            </a:r>
            <a:endParaRPr lang="en-US" sz="21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 · Thu, Oct 29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reciprocal of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6103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4665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Rotate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the origin. Where does it go?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is the slope of the segment from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5/8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3729228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−3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9144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Thu, Oct 29 · about 15 minutes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323594"/>
            <a:ext cx="10820095" cy="2660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1 Lesson 6: Write, evaluate and solve a function in context</a:t>
            </a:r>
            <a:endParaRPr lang="en-US" sz="57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415594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Lesson 3 evaluates slopes and points; this practices using function notation in a story.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506806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Topic 1 Lesson 6 practice: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Quiz →</a:t>
            </a:r>
            <a:endParaRPr lang="en-US" sz="180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Interpreting Graphs of Linear Functions · SE p. 243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Gracie's T-shirt sales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Gracie sells T-shirts for her mom at festivals and returns what she earns. The graph shows her potential earnings.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67712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List as many facts as you can.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76906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line passes through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no shirts, no money.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086100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15 for every 1 shirt: </a:t>
            </a:r>
            <a:r>
              <a:rPr lang="en-US" sz="1575" dirty="0" b="1">
                <a:solidFill>
                  <a:srgbClr val="C9561F"/>
                </a:solidFill>
                <a:latin typeface="Segoe UI"/>
                <a:cs typeface="Segoe UI"/>
              </a:rPr>
              <a:t xml:space="preserve">$15 per T-shirt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Selling 4 shirts earns $60.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35324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Domain of the situation: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whole numbers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of shirts, 0 or more. Range: 0, 15, 30, 45, …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7314895" y="1618488"/>
            <a:ext cx="4191000" cy="400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763874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80932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97991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815049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32108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49166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83283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00341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7400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34458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51517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68575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85633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2692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19750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36809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53867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70925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87984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105042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122101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139159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638745" y="537133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638745" y="520594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638745" y="504056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38745" y="487517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638745" y="47097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638745" y="454439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7638745" y="437900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7638745" y="42136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7638745" y="4048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638745" y="38828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7638745" y="371745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7638745" y="338667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638745" y="322128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7638745" y="305589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7638745" y="289050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7638745" y="272512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7638745" y="255973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7638745" y="239434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638745" y="22289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638745" y="206356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7638745" y="173278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8" name="Shape 58"/>
          <p:cNvSpPr txBox="1"/>
          <p:nvPr/>
        </p:nvSpPr>
        <p:spPr>
          <a:xfrm>
            <a:off x="7535009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838793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924085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1009377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1094669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7071817" y="511450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−100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7071817" y="428756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−50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7071817" y="3460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6" name="Shape 66"/>
          <p:cNvSpPr txBox="1"/>
          <p:nvPr/>
        </p:nvSpPr>
        <p:spPr>
          <a:xfrm>
            <a:off x="7071817" y="263368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50</a:t>
            </a:r>
            <a:endParaRPr lang="en-US" sz="975" dirty="0"/>
          </a:p>
        </p:txBody>
      </p:sp>
      <p:sp>
        <p:nvSpPr>
          <p:cNvPr id="67" name="Shape 67"/>
          <p:cNvSpPr txBox="1"/>
          <p:nvPr/>
        </p:nvSpPr>
        <p:spPr>
          <a:xfrm>
            <a:off x="7071817" y="180673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cxnSp>
        <p:nvCxnSpPr>
          <p:cNvPr id="68" name="Line 68"/>
          <p:cNvCxnSpPr/>
          <p:nvPr/>
        </p:nvCxnSpPr>
        <p:spPr>
          <a:xfrm flipV="1">
            <a:off x="7638745" y="1732788"/>
            <a:ext cx="2274455" cy="330777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9" name="Shape 69"/>
          <p:cNvSpPr/>
          <p:nvPr/>
        </p:nvSpPr>
        <p:spPr>
          <a:xfrm>
            <a:off x="9292199" y="250734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0" name="Shape 70"/>
          <p:cNvSpPr txBox="1"/>
          <p:nvPr/>
        </p:nvSpPr>
        <p:spPr>
          <a:xfrm>
            <a:off x="9430311" y="231208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(4, 60)</a:t>
            </a:r>
            <a:endParaRPr lang="en-US" sz="1125" dirty="0"/>
          </a:p>
        </p:txBody>
      </p:sp>
      <p:sp>
        <p:nvSpPr>
          <p:cNvPr id="71" name="Slide Number 7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Questions 2–5 · SE p. 244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and evaluate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Interpret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 and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98958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Both are </a:t>
            </a: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(0, 0)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selling 0 shirts earns $0.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606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Write a function for her earnings.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31770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b="1">
                <a:solidFill>
                  <a:srgbClr val="C9561F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4.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What does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represent?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98958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point on the line: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shirts sold and the dollars earned for them.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38404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5.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Evaluate and interpret.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755136"/>
            <a:ext cx="3492398" cy="11422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92658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(2) = 30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895350" y="4431030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(2, 30): 2 shirts earn $30.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4349648" y="3755136"/>
            <a:ext cx="3492398" cy="11422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4" name="Shape 14"/>
          <p:cNvSpPr txBox="1"/>
          <p:nvPr/>
        </p:nvSpPr>
        <p:spPr>
          <a:xfrm>
            <a:off x="4559198" y="392658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(5) = 75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4559198" y="4431030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(5, 75): 5 shirts earn $75.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8013497" y="3755136"/>
            <a:ext cx="3492398" cy="13822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8223047" y="392658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(2.75) = 41.25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8223047" y="4431030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Doesn't make sense: she can't sell 2.75 shirts.</a:t>
            </a:r>
            <a:endParaRPr lang="en-US" sz="157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Worked Example · SE p. 244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many shirts to earn $100? Use the equation.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84832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100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51176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100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017520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6.67 ≈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1848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6a.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What does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≈ 6.67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mean?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103882"/>
            <a:ext cx="51433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6.67 shirts earns exactly $100. She can't sell part of a shirt: 6 shirts earn only $90, so she must sell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7 T-shirts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012186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6b.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Why can you substitute 100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3497580"/>
            <a:ext cx="51433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the dollars earned. $100 is the dollars she wants to earn.</a:t>
            </a:r>
            <a:endParaRPr lang="en-US" sz="157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Worked Example · SE p. 245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many shirts to earn $100? Use the graph.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Graph each side of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100 = 15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as its own function: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100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The solution is where they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intersect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67712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Intersection: </a:t>
            </a: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(6.67, 100)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On the graph, 6.67 shirts; in context,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7 shirts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16936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7.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Limitations of each method?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26130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Equation: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answer may not make sense in context, so you must round up or down.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975354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it can be hard to read an exact answer.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7314895" y="1618488"/>
            <a:ext cx="4191000" cy="400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763874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80932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97991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815049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32108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49166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83283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00341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7400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34458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51517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68575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85633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2692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19750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36809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53867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70925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87984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105042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122101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139159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638745" y="537133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638745" y="520594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638745" y="504056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38745" y="487517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638745" y="47097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638745" y="454439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7638745" y="437900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7638745" y="42136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7638745" y="4048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638745" y="38828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7638745" y="371745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7638745" y="338667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638745" y="322128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7638745" y="305589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7638745" y="289050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7638745" y="272512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7638745" y="255973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7638745" y="239434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638745" y="22289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638745" y="206356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7638745" y="173278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8" name="Shape 58"/>
          <p:cNvSpPr txBox="1"/>
          <p:nvPr/>
        </p:nvSpPr>
        <p:spPr>
          <a:xfrm>
            <a:off x="7535009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838793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924085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1009377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1094669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7071817" y="511450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−100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7071817" y="428756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−50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7071817" y="3460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6" name="Shape 66"/>
          <p:cNvSpPr txBox="1"/>
          <p:nvPr/>
        </p:nvSpPr>
        <p:spPr>
          <a:xfrm>
            <a:off x="7071817" y="263368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50</a:t>
            </a:r>
            <a:endParaRPr lang="en-US" sz="975" dirty="0"/>
          </a:p>
        </p:txBody>
      </p:sp>
      <p:sp>
        <p:nvSpPr>
          <p:cNvPr id="67" name="Shape 67"/>
          <p:cNvSpPr txBox="1"/>
          <p:nvPr/>
        </p:nvSpPr>
        <p:spPr>
          <a:xfrm>
            <a:off x="7071817" y="180673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cxnSp>
        <p:nvCxnSpPr>
          <p:cNvPr id="68" name="Line 68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38100" cap="rnd">
            <a:solidFill>
              <a:srgbClr val="16171D"/>
            </a:solidFill>
            <a:prstDash val="dash"/>
          </a:ln>
        </p:spPr>
      </p:cxnSp>
      <p:sp>
        <p:nvSpPr>
          <p:cNvPr id="69" name="Shape 69"/>
          <p:cNvSpPr txBox="1"/>
          <p:nvPr/>
        </p:nvSpPr>
        <p:spPr>
          <a:xfrm>
            <a:off x="8899855" y="1917227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y = 100</a:t>
            </a:r>
            <a:endParaRPr lang="en-US" sz="1275" dirty="0"/>
          </a:p>
        </p:txBody>
      </p:sp>
      <p:cxnSp>
        <p:nvCxnSpPr>
          <p:cNvPr id="70" name="Line 70"/>
          <p:cNvCxnSpPr/>
          <p:nvPr/>
        </p:nvCxnSpPr>
        <p:spPr>
          <a:xfrm flipV="1">
            <a:off x="7638745" y="1732788"/>
            <a:ext cx="2274455" cy="330777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71" name="Shape 71"/>
          <p:cNvSpPr txBox="1"/>
          <p:nvPr/>
        </p:nvSpPr>
        <p:spPr>
          <a:xfrm>
            <a:off x="742146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y = 15x</a:t>
            </a:r>
            <a:endParaRPr lang="en-US" sz="1275" dirty="0"/>
          </a:p>
        </p:txBody>
      </p:sp>
      <p:sp>
        <p:nvSpPr>
          <p:cNvPr id="72" name="Shape 72"/>
          <p:cNvSpPr/>
          <p:nvPr/>
        </p:nvSpPr>
        <p:spPr>
          <a:xfrm>
            <a:off x="9747658" y="1845789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9885771" y="1650527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(6.67, 100)</a:t>
            </a:r>
            <a:endParaRPr lang="en-US" sz="1125" dirty="0"/>
          </a:p>
        </p:txBody>
      </p:sp>
      <p:sp>
        <p:nvSpPr>
          <p:cNvPr id="74" name="Slide Number 7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Back to Topic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Catch-up done. Now today's Topic 2 lesson.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3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Identify and write the equations of lines perpendicular to given lines.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Identify and write the equations of horizontal and vertical lines.</a:t>
            </a:r>
            <a:endParaRPr lang="en-US" sz="195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translated graphs of linear equations to find the slopes of parallel lines.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can you rotate the graphs of linear equations to determine the slopes of perpendicular lines?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Coordinate Rotation · SE p. 306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about the origin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Original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324916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90°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456057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180°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598093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270°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−5)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(5, −8)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685800" y="290703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90° counterclockwise turn maps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A is the center, so it stays.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685800" y="35372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Slopes: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5/8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−8/5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392734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two slopes are reciprocals with opposite signs: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(5/8)(−8/5)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8" name="Shape 28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29" name="Line 29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7604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9107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70610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2113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3616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5118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621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8124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81130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2633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84135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5638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87141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88644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0147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1650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43595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610198" y="42050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0505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6610198" y="38960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6610198" y="37415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6610198" y="35869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6610198" y="34324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6610198" y="32779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6610198" y="29689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6610198" y="28144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6610198" y="26598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6610198" y="25053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6610198" y="23508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6610198" y="2196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6610198" y="20418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6610198" y="18873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0" name="Shape 70"/>
          <p:cNvSpPr txBox="1"/>
          <p:nvPr/>
        </p:nvSpPr>
        <p:spPr>
          <a:xfrm>
            <a:off x="67867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1" name="Shape 71"/>
          <p:cNvSpPr txBox="1"/>
          <p:nvPr/>
        </p:nvSpPr>
        <p:spPr>
          <a:xfrm>
            <a:off x="72375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2" name="Shape 72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73" name="Shape 73"/>
          <p:cNvSpPr txBox="1"/>
          <p:nvPr/>
        </p:nvSpPr>
        <p:spPr>
          <a:xfrm>
            <a:off x="81392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74" name="Shape 74"/>
          <p:cNvSpPr txBox="1"/>
          <p:nvPr/>
        </p:nvSpPr>
        <p:spPr>
          <a:xfrm>
            <a:off x="85901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75" name="Shape 75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sp>
        <p:nvSpPr>
          <p:cNvPr id="76" name="Shape 76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7" name="Shape 77"/>
          <p:cNvSpPr txBox="1"/>
          <p:nvPr/>
        </p:nvSpPr>
        <p:spPr>
          <a:xfrm>
            <a:off x="6043270" y="39590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8" name="Shape 78"/>
          <p:cNvSpPr txBox="1"/>
          <p:nvPr/>
        </p:nvSpPr>
        <p:spPr>
          <a:xfrm>
            <a:off x="6043270" y="34955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9" name="Shape 79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6043270" y="25684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6043270" y="2104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cxnSp>
        <p:nvCxnSpPr>
          <p:cNvPr id="83" name="Line 83"/>
          <p:cNvCxnSpPr/>
          <p:nvPr/>
        </p:nvCxnSpPr>
        <p:spPr>
          <a:xfrm flipV="1">
            <a:off x="7962748" y="2350855"/>
            <a:ext cx="1202267" cy="77258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7211331" y="1887305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cxnSp>
        <p:nvCxnSpPr>
          <p:cNvPr id="85" name="Line 85"/>
          <p:cNvCxnSpPr/>
          <p:nvPr/>
        </p:nvCxnSpPr>
        <p:spPr>
          <a:xfrm flipV="1">
            <a:off x="6760481" y="3123438"/>
            <a:ext cx="1202267" cy="772583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7962748" y="3123438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87" name="Shape 87"/>
          <p:cNvSpPr/>
          <p:nvPr/>
        </p:nvSpPr>
        <p:spPr>
          <a:xfrm>
            <a:off x="9112627" y="229846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8" name="Shape 88"/>
          <p:cNvSpPr txBox="1"/>
          <p:nvPr/>
        </p:nvSpPr>
        <p:spPr>
          <a:xfrm>
            <a:off x="9250739" y="21032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</a:t>
            </a:r>
            <a:endParaRPr lang="en-US" sz="1125" dirty="0"/>
          </a:p>
        </p:txBody>
      </p:sp>
      <p:sp>
        <p:nvSpPr>
          <p:cNvPr id="89" name="Shape 89"/>
          <p:cNvSpPr/>
          <p:nvPr/>
        </p:nvSpPr>
        <p:spPr>
          <a:xfrm>
            <a:off x="7158943" y="183491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0" name="Shape 90"/>
          <p:cNvSpPr txBox="1"/>
          <p:nvPr/>
        </p:nvSpPr>
        <p:spPr>
          <a:xfrm>
            <a:off x="7297056" y="163965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B′</a:t>
            </a:r>
            <a:endParaRPr lang="en-US" sz="1125" dirty="0"/>
          </a:p>
        </p:txBody>
      </p:sp>
      <p:sp>
        <p:nvSpPr>
          <p:cNvPr id="91" name="Shape 91"/>
          <p:cNvSpPr/>
          <p:nvPr/>
        </p:nvSpPr>
        <p:spPr>
          <a:xfrm>
            <a:off x="6708093" y="384363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2" name="Shape 92"/>
          <p:cNvSpPr txBox="1"/>
          <p:nvPr/>
        </p:nvSpPr>
        <p:spPr>
          <a:xfrm>
            <a:off x="6846206" y="364837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B″</a:t>
            </a:r>
            <a:endParaRPr lang="en-US" sz="1125" dirty="0"/>
          </a:p>
        </p:txBody>
      </p:sp>
      <p:sp>
        <p:nvSpPr>
          <p:cNvPr id="93" name="Shape 93"/>
          <p:cNvSpPr/>
          <p:nvPr/>
        </p:nvSpPr>
        <p:spPr>
          <a:xfrm>
            <a:off x="8661777" y="430718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4" name="Shape 94"/>
          <p:cNvSpPr txBox="1"/>
          <p:nvPr/>
        </p:nvSpPr>
        <p:spPr>
          <a:xfrm>
            <a:off x="8799889" y="411192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B‴</a:t>
            </a:r>
            <a:endParaRPr lang="en-US" sz="1125" dirty="0"/>
          </a:p>
        </p:txBody>
      </p:sp>
      <p:sp>
        <p:nvSpPr>
          <p:cNvPr id="95" name="Slide Number 9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7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7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7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Slopes of Perpendicular Lines · SE p. 307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line and its 90° rotation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79698" cy="19461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7426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55998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65548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B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65548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565548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26197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35747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C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35747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+ 9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235747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3/2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44447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line is rotated 90°, so the lines meet at a right angle: they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491109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slopes of each pair are reciprocals with opposite signs.</a:t>
            </a:r>
            <a:endParaRPr lang="en-US" sz="1575" dirty="0"/>
          </a:p>
        </p:txBody>
      </p:sp>
      <p:sp>
        <p:nvSpPr>
          <p:cNvPr id="18" name="Slide Number 1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Worked Example · SE p. 308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Proof: perpendicular slopes are negative reciprocals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Given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⊥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Point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1061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O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it lands on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5983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₁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₂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/(−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66903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 ·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19252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= −1/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·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6286348" y="2144268"/>
            <a:ext cx="3238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661019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689023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17026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45030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01037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29040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57044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85047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3051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41054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475411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442174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13023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818287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3194399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882455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570512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225856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2" name="Shape 32"/>
          <p:cNvSpPr txBox="1"/>
          <p:nvPr/>
        </p:nvSpPr>
        <p:spPr>
          <a:xfrm>
            <a:off x="633587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661591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689594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17598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45601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773605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01608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829612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857615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885619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913622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46626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435073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40387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372684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341490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310295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279101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247907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21671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cxnSp>
        <p:nvCxnSpPr>
          <p:cNvPr id="52" name="Line 52"/>
          <p:cNvCxnSpPr/>
          <p:nvPr/>
        </p:nvCxnSpPr>
        <p:spPr>
          <a:xfrm flipV="1">
            <a:off x="6610198" y="2570512"/>
            <a:ext cx="2800350" cy="1559719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3" name="Shape 53"/>
          <p:cNvSpPr txBox="1"/>
          <p:nvPr/>
        </p:nvSpPr>
        <p:spPr>
          <a:xfrm>
            <a:off x="6918808" y="258956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54" name="Line 54"/>
          <p:cNvCxnSpPr/>
          <p:nvPr/>
        </p:nvCxnSpPr>
        <p:spPr>
          <a:xfrm>
            <a:off x="7170268" y="2258568"/>
            <a:ext cx="1120140" cy="2495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5" name="Shape 55"/>
          <p:cNvSpPr txBox="1"/>
          <p:nvPr/>
        </p:nvSpPr>
        <p:spPr>
          <a:xfrm>
            <a:off x="7246468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sp>
        <p:nvSpPr>
          <p:cNvPr id="56" name="Shape 56"/>
          <p:cNvSpPr/>
          <p:nvPr/>
        </p:nvSpPr>
        <p:spPr>
          <a:xfrm>
            <a:off x="8238020" y="3142012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7" name="Shape 57"/>
          <p:cNvSpPr txBox="1"/>
          <p:nvPr/>
        </p:nvSpPr>
        <p:spPr>
          <a:xfrm>
            <a:off x="8376133" y="2946749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R(a, b)</a:t>
            </a:r>
            <a:endParaRPr lang="en-US" sz="1125" dirty="0"/>
          </a:p>
        </p:txBody>
      </p:sp>
      <p:sp>
        <p:nvSpPr>
          <p:cNvPr id="58" name="Shape 58"/>
          <p:cNvSpPr/>
          <p:nvPr/>
        </p:nvSpPr>
        <p:spPr>
          <a:xfrm>
            <a:off x="7397915" y="2830068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9" name="Shape 59"/>
          <p:cNvSpPr txBox="1"/>
          <p:nvPr/>
        </p:nvSpPr>
        <p:spPr>
          <a:xfrm>
            <a:off x="7536028" y="26348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D(−b, a)</a:t>
            </a:r>
            <a:endParaRPr lang="en-US" sz="1125" dirty="0"/>
          </a:p>
        </p:txBody>
      </p:sp>
      <p:sp>
        <p:nvSpPr>
          <p:cNvPr id="60" name="Slide Number 6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Question 4 · SE p. 309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⊥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 Find the slope of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⅔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4419498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−⅘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419498" y="212293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5/4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8153197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8153197" y="212293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81330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 and change the sign. Check: the product is −1.</a:t>
            </a:r>
            <a:endParaRPr lang="en-US" sz="1575" dirty="0"/>
          </a:p>
        </p:txBody>
      </p:sp>
      <p:sp>
        <p:nvSpPr>
          <p:cNvPr id="11" name="Slide Number 1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End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2569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Stop here: Thursday, October 29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525322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Next class: Monday, November 2. Start at the next slide, “Start: Monday, November 2.”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9144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Day 2 of 2 · Start here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323594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Start: Monday, November 2</a:t>
            </a:r>
            <a:endParaRPr lang="en-US" sz="57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418588"/>
            <a:ext cx="10820095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>
                <a:solidFill>
                  <a:srgbClr val="16171D"/>
                </a:solidFill>
                <a:latin typeface="Segoe UI"/>
                <a:cs typeface="Segoe UI"/>
              </a:rPr>
              <a:t xml:space="preserve">Today: bell work → Topic 1 catch-up (Changing the situation changes the function) → Lesson 3, Day 2.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84982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rotate the graphs of linear equations to determine the slopes of perpendicular lines?</a:t>
            </a:r>
            <a:endParaRPr lang="en-US" sz="240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 · Mon, Nov 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has slope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perpendicular to it.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309)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slope of any horizontal line?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310)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2358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Which is the equation of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311)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What is the product of the slopes of two perpendicular lines (neither vertical)?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308)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9144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Mon, Nov 2 · about 15 minutes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323594"/>
            <a:ext cx="10820095" cy="2660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1 Lesson 6: Changing the situation changes the function</a:t>
            </a:r>
            <a:endParaRPr lang="en-US" sz="57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415594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Giving away 3 T-shirts shifts the function: the same idea as a Topic 2 translation.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506806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Topic 1 Lesson 6 practice: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Quiz →</a:t>
            </a:r>
            <a:endParaRPr lang="en-US" sz="180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6.3 · Interpreting Changes to the Graph · SE p. 246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Gracie gives away 3 T-shirts in a raffle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Still $15 per shirt. The new relationship is </a:t>
            </a:r>
            <a:r>
              <a:rPr lang="en-US" sz="157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 b="1">
                <a:solidFill>
                  <a:srgbClr val="7A4FC4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 b="1">
                <a:solidFill>
                  <a:srgbClr val="7A4FC4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989582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1a.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How do the graphs show the price is the same?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60676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lines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same slope, </a:t>
            </a:r>
            <a:r>
              <a:rPr lang="en-US" sz="1575" dirty="0" b="1">
                <a:solidFill>
                  <a:srgbClr val="C9561F"/>
                </a:solidFill>
                <a:latin typeface="Segoe UI"/>
                <a:cs typeface="Segoe UI"/>
              </a:rPr>
              <a:t xml:space="preserve">15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31770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1b.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Interpret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102864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(0, −45)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with 0 shirts sold, earnings are −$45. That doesn't make sense in this situation.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713988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1c.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Interpret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4085082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(3, 0)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after the 3 free shirts, she has $0 to return.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7314895" y="1618488"/>
            <a:ext cx="4191000" cy="400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763874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80932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97991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15049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32108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49166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83283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00341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17400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34458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51517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968575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985633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2692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19750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36809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53867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070925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87984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105042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122101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139159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638745" y="537133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38745" y="520594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638745" y="504056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638745" y="487517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7638745" y="47097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7638745" y="454439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7638745" y="437900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638745" y="42136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7638745" y="4048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7638745" y="38828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7638745" y="371745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7638745" y="338667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7638745" y="322128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7638745" y="305589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7638745" y="289050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7638745" y="272512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638745" y="255973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638745" y="239434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638745" y="22289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7638745" y="206356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7638745" y="173278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60" name="Shape 60"/>
          <p:cNvSpPr txBox="1"/>
          <p:nvPr/>
        </p:nvSpPr>
        <p:spPr>
          <a:xfrm>
            <a:off x="7535009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838793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924085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1009377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1094669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7071817" y="511450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−100</a:t>
            </a:r>
            <a:endParaRPr lang="en-US" sz="975" dirty="0"/>
          </a:p>
        </p:txBody>
      </p:sp>
      <p:sp>
        <p:nvSpPr>
          <p:cNvPr id="66" name="Shape 66"/>
          <p:cNvSpPr txBox="1"/>
          <p:nvPr/>
        </p:nvSpPr>
        <p:spPr>
          <a:xfrm>
            <a:off x="7071817" y="428756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−50</a:t>
            </a:r>
            <a:endParaRPr lang="en-US" sz="975" dirty="0"/>
          </a:p>
        </p:txBody>
      </p:sp>
      <p:sp>
        <p:nvSpPr>
          <p:cNvPr id="67" name="Shape 67"/>
          <p:cNvSpPr txBox="1"/>
          <p:nvPr/>
        </p:nvSpPr>
        <p:spPr>
          <a:xfrm>
            <a:off x="7071817" y="3460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8" name="Shape 68"/>
          <p:cNvSpPr txBox="1"/>
          <p:nvPr/>
        </p:nvSpPr>
        <p:spPr>
          <a:xfrm>
            <a:off x="7071817" y="263368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50</a:t>
            </a:r>
            <a:endParaRPr lang="en-US" sz="975" dirty="0"/>
          </a:p>
        </p:txBody>
      </p:sp>
      <p:sp>
        <p:nvSpPr>
          <p:cNvPr id="69" name="Shape 69"/>
          <p:cNvSpPr txBox="1"/>
          <p:nvPr/>
        </p:nvSpPr>
        <p:spPr>
          <a:xfrm>
            <a:off x="7071817" y="180673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sp>
        <p:nvSpPr>
          <p:cNvPr id="70" name="Shape 70"/>
          <p:cNvSpPr/>
          <p:nvPr/>
        </p:nvSpPr>
        <p:spPr>
          <a:xfrm>
            <a:off x="8609862" y="424392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8747975" y="404866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−45)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9121615" y="349967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9259727" y="330441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(3, 0)</a:t>
            </a:r>
            <a:endParaRPr lang="en-US" sz="1125" dirty="0"/>
          </a:p>
        </p:txBody>
      </p:sp>
      <p:cxnSp>
        <p:nvCxnSpPr>
          <p:cNvPr id="74" name="Line 74"/>
          <p:cNvCxnSpPr/>
          <p:nvPr/>
        </p:nvCxnSpPr>
        <p:spPr>
          <a:xfrm flipV="1">
            <a:off x="7638745" y="1732788"/>
            <a:ext cx="2274455" cy="330777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75" name="Shape 75"/>
          <p:cNvSpPr txBox="1"/>
          <p:nvPr/>
        </p:nvSpPr>
        <p:spPr>
          <a:xfrm>
            <a:off x="742146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E(t) = 15t</a:t>
            </a:r>
            <a:endParaRPr lang="en-US" sz="1275" dirty="0"/>
          </a:p>
        </p:txBody>
      </p:sp>
      <p:cxnSp>
        <p:nvCxnSpPr>
          <p:cNvPr id="76" name="Line 76"/>
          <p:cNvCxnSpPr/>
          <p:nvPr/>
        </p:nvCxnSpPr>
        <p:spPr>
          <a:xfrm flipV="1">
            <a:off x="7923052" y="1732788"/>
            <a:ext cx="2501900" cy="3638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77" name="Shape 77"/>
          <p:cNvSpPr txBox="1"/>
          <p:nvPr/>
        </p:nvSpPr>
        <p:spPr>
          <a:xfrm>
            <a:off x="7933212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G(t)</a:t>
            </a:r>
            <a:endParaRPr lang="en-US" sz="1275" dirty="0"/>
          </a:p>
        </p:txBody>
      </p:sp>
      <p:sp>
        <p:nvSpPr>
          <p:cNvPr id="78" name="Slide Number 7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6.3 · Questions 2–3 · SE p. 247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Two equations for </a:t>
            </a:r>
            <a:r>
              <a:rPr lang="en-US" sz="3450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G</a:t>
            </a:r>
            <a:r>
              <a:rPr lang="en-US" sz="3450" dirty="0" b="1">
                <a:solidFill>
                  <a:srgbClr val="7A4FC4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t</a:t>
            </a:r>
            <a:r>
              <a:rPr lang="en-US" sz="3450" dirty="0" b="1">
                <a:solidFill>
                  <a:srgbClr val="7A4FC4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52766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57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Brianna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57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Gracie gives away 3 T-shirts, so she has 3 fewer shirts to sell.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575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15(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29198" y="1618488"/>
            <a:ext cx="52766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438748" y="1789938"/>
            <a:ext cx="4857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Hailey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6438748" y="2260092"/>
            <a:ext cx="4857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cost of giving away three shirts is $45.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438748" y="2650236"/>
            <a:ext cx="48575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− 45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364236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Verify they are equivalent.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64236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15(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− 3) = 15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− 45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✓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10870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How many shirts to earn $100?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4575048"/>
            <a:ext cx="521954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100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− 45 → 145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≈ 9.67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457504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 T-shirts</a:t>
            </a:r>
            <a:endParaRPr lang="en-US" sz="232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6.3 · Question 4 · SE p. 247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does each part mean?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2164019" cy="7955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Expression (unit)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2849819" y="1618488"/>
            <a:ext cx="4328038" cy="7955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Contextual meaning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7177857" y="1618488"/>
            <a:ext cx="4328038" cy="7955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Mathematical meaning</a:t>
            </a:r>
            <a:endParaRPr lang="en-US" sz="1950" dirty="0"/>
          </a:p>
        </p:txBody>
      </p:sp>
      <p:cxnSp>
        <p:nvCxnSpPr>
          <p:cNvPr id="7" name="Line 7"/>
          <p:cNvCxnSpPr/>
          <p:nvPr/>
        </p:nvCxnSpPr>
        <p:spPr>
          <a:xfrm>
            <a:off x="685800" y="241401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8" name="Shape 8"/>
          <p:cNvSpPr txBox="1"/>
          <p:nvPr/>
        </p:nvSpPr>
        <p:spPr>
          <a:xfrm>
            <a:off x="685800" y="2414016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(T-shirts)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2849819" y="2414016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Number of T-shirts sold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7177857" y="2414016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Input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288950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2889504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(dollars)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2849819" y="2889504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Potential earnings for selling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T-shirts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7177857" y="2889504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Output</a:t>
            </a:r>
            <a:endParaRPr lang="en-US" sz="1800" dirty="0"/>
          </a:p>
        </p:txBody>
      </p:sp>
      <p:cxnSp>
        <p:nvCxnSpPr>
          <p:cNvPr id="15" name="Line 15"/>
          <p:cNvCxnSpPr/>
          <p:nvPr/>
        </p:nvCxnSpPr>
        <p:spPr>
          <a:xfrm>
            <a:off x="685800" y="363931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6" name="Shape 16"/>
          <p:cNvSpPr txBox="1"/>
          <p:nvPr/>
        </p:nvSpPr>
        <p:spPr>
          <a:xfrm>
            <a:off x="685800" y="363931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C9561F"/>
                </a:solidFill>
                <a:latin typeface="Cambria"/>
                <a:cs typeface="Cambria"/>
              </a:rPr>
              <a:t xml:space="preserve">15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 per T-shirt)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2849819" y="363931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Selling price of a T-shirt</a:t>
            </a:r>
            <a:endParaRPr lang="en-US" sz="1800" dirty="0"/>
          </a:p>
        </p:txBody>
      </p:sp>
      <p:sp>
        <p:nvSpPr>
          <p:cNvPr id="18" name="Shape 18"/>
          <p:cNvSpPr txBox="1"/>
          <p:nvPr/>
        </p:nvSpPr>
        <p:spPr>
          <a:xfrm>
            <a:off x="7177857" y="363931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Average rate of change (slope)</a:t>
            </a:r>
            <a:endParaRPr lang="en-US" sz="1800" dirty="0"/>
          </a:p>
        </p:txBody>
      </p:sp>
      <p:cxnSp>
        <p:nvCxnSpPr>
          <p:cNvPr id="19" name="Line 19"/>
          <p:cNvCxnSpPr/>
          <p:nvPr/>
        </p:nvCxnSpPr>
        <p:spPr>
          <a:xfrm>
            <a:off x="685800" y="438912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0" name="Shape 20"/>
          <p:cNvSpPr txBox="1"/>
          <p:nvPr/>
        </p:nvSpPr>
        <p:spPr>
          <a:xfrm>
            <a:off x="685800" y="438912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(T-shirts)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2849819" y="438912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Shirts that earn money, not counting the 3 free ones</a:t>
            </a:r>
            <a:endParaRPr lang="en-US" sz="1800" dirty="0"/>
          </a:p>
        </p:txBody>
      </p:sp>
      <p:sp>
        <p:nvSpPr>
          <p:cNvPr id="22" name="Shape 22"/>
          <p:cNvSpPr txBox="1"/>
          <p:nvPr/>
        </p:nvSpPr>
        <p:spPr>
          <a:xfrm>
            <a:off x="7177857" y="438912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input minus a constant</a:t>
            </a:r>
            <a:endParaRPr lang="en-US" sz="1800" dirty="0"/>
          </a:p>
        </p:txBody>
      </p:sp>
      <p:cxnSp>
        <p:nvCxnSpPr>
          <p:cNvPr id="23" name="Line 23"/>
          <p:cNvCxnSpPr/>
          <p:nvPr/>
        </p:nvCxnSpPr>
        <p:spPr>
          <a:xfrm>
            <a:off x="685800" y="513892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4" name="Shape 24"/>
          <p:cNvSpPr txBox="1"/>
          <p:nvPr/>
        </p:nvSpPr>
        <p:spPr>
          <a:xfrm>
            <a:off x="685800" y="5138928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(dollars)</a:t>
            </a:r>
            <a:endParaRPr lang="en-US" sz="1800" dirty="0"/>
          </a:p>
        </p:txBody>
      </p:sp>
      <p:sp>
        <p:nvSpPr>
          <p:cNvPr id="25" name="Shape 25"/>
          <p:cNvSpPr txBox="1"/>
          <p:nvPr/>
        </p:nvSpPr>
        <p:spPr>
          <a:xfrm>
            <a:off x="2849819" y="5138928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Earnings for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T-shirts</a:t>
            </a:r>
            <a:endParaRPr lang="en-US" sz="1800" dirty="0"/>
          </a:p>
        </p:txBody>
      </p:sp>
      <p:sp>
        <p:nvSpPr>
          <p:cNvPr id="26" name="Shape 26"/>
          <p:cNvSpPr txBox="1"/>
          <p:nvPr/>
        </p:nvSpPr>
        <p:spPr>
          <a:xfrm>
            <a:off x="7177857" y="5138928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rate times the input</a:t>
            </a:r>
            <a:endParaRPr lang="en-US" sz="1800" dirty="0"/>
          </a:p>
        </p:txBody>
      </p:sp>
      <p:cxnSp>
        <p:nvCxnSpPr>
          <p:cNvPr id="27" name="Line 27"/>
          <p:cNvCxnSpPr/>
          <p:nvPr/>
        </p:nvCxnSpPr>
        <p:spPr>
          <a:xfrm>
            <a:off x="685800" y="561441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8" name="Shape 28"/>
          <p:cNvSpPr txBox="1"/>
          <p:nvPr/>
        </p:nvSpPr>
        <p:spPr>
          <a:xfrm>
            <a:off x="685800" y="5614416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3050B8"/>
                </a:solidFill>
                <a:latin typeface="Cambria"/>
                <a:cs typeface="Cambria"/>
              </a:rPr>
              <a:t xml:space="preserve">−45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(dollars)</a:t>
            </a:r>
            <a:endParaRPr lang="en-US" sz="1800" dirty="0"/>
          </a:p>
        </p:txBody>
      </p:sp>
      <p:sp>
        <p:nvSpPr>
          <p:cNvPr id="29" name="Shape 29"/>
          <p:cNvSpPr txBox="1"/>
          <p:nvPr/>
        </p:nvSpPr>
        <p:spPr>
          <a:xfrm>
            <a:off x="2849819" y="561441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Money not earned because 3 shirts were given away</a:t>
            </a:r>
            <a:endParaRPr lang="en-US" sz="1800" dirty="0"/>
          </a:p>
        </p:txBody>
      </p:sp>
      <p:sp>
        <p:nvSpPr>
          <p:cNvPr id="30" name="Shape 30"/>
          <p:cNvSpPr txBox="1"/>
          <p:nvPr/>
        </p:nvSpPr>
        <p:spPr>
          <a:xfrm>
            <a:off x="7177857" y="561441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cxnSp>
        <p:nvCxnSpPr>
          <p:cNvPr id="31" name="Line 31"/>
          <p:cNvCxnSpPr/>
          <p:nvPr/>
        </p:nvCxnSpPr>
        <p:spPr>
          <a:xfrm>
            <a:off x="685800" y="636422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2" name="Slide Number 3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Back to Topic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Catch-up done. Now today's Topic 2 lesson.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23</a:t>
            </a:fld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Horizontal and Vertical Lines · SE pp. 310–311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Extend the segments into lines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vertical: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Lines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are horizontal: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248662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20112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0/(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 =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691890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863340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4333494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₁)/0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undefined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69001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0451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1901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3351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4801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62513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77013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791512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06011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20510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3500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4950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86400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87850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89300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90750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92200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4188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41203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9711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8219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5234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33742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2250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29265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7773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6281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23296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6610198" y="21804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20312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18820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17327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4808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70608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7640803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2207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8007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1781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35812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2984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23874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17905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7335156" y="1732788"/>
            <a:ext cx="0" cy="2686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7411356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64" name="Line 64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5" name="Shape 65"/>
          <p:cNvSpPr txBox="1"/>
          <p:nvPr/>
        </p:nvSpPr>
        <p:spPr>
          <a:xfrm>
            <a:off x="6728308" y="36917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cxnSp>
        <p:nvCxnSpPr>
          <p:cNvPr id="66" name="Line 66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7" name="Shape 67"/>
          <p:cNvSpPr txBox="1"/>
          <p:nvPr/>
        </p:nvSpPr>
        <p:spPr>
          <a:xfrm>
            <a:off x="6728308" y="30948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endParaRPr lang="en-US" sz="1275" dirty="0"/>
          </a:p>
        </p:txBody>
      </p:sp>
      <p:cxnSp>
        <p:nvCxnSpPr>
          <p:cNvPr id="68" name="Line 68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728308" y="24979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endParaRPr lang="en-US" sz="1275" dirty="0"/>
          </a:p>
        </p:txBody>
      </p:sp>
      <p:sp>
        <p:nvSpPr>
          <p:cNvPr id="70" name="Shape 70"/>
          <p:cNvSpPr/>
          <p:nvPr/>
        </p:nvSpPr>
        <p:spPr>
          <a:xfrm>
            <a:off x="7282768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7420881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K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7282768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7420881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F</a:t>
            </a:r>
            <a:endParaRPr lang="en-US" sz="1125" dirty="0"/>
          </a:p>
        </p:txBody>
      </p:sp>
      <p:sp>
        <p:nvSpPr>
          <p:cNvPr id="74" name="Shape 74"/>
          <p:cNvSpPr/>
          <p:nvPr/>
        </p:nvSpPr>
        <p:spPr>
          <a:xfrm>
            <a:off x="7282768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5" name="Shape 75"/>
          <p:cNvSpPr txBox="1"/>
          <p:nvPr/>
        </p:nvSpPr>
        <p:spPr>
          <a:xfrm>
            <a:off x="7420881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G</a:t>
            </a:r>
            <a:endParaRPr lang="en-US" sz="1125" dirty="0"/>
          </a:p>
        </p:txBody>
      </p:sp>
      <p:sp>
        <p:nvSpPr>
          <p:cNvPr id="76" name="Shape 76"/>
          <p:cNvSpPr/>
          <p:nvPr/>
        </p:nvSpPr>
        <p:spPr>
          <a:xfrm>
            <a:off x="8732685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7" name="Shape 77"/>
          <p:cNvSpPr txBox="1"/>
          <p:nvPr/>
        </p:nvSpPr>
        <p:spPr>
          <a:xfrm>
            <a:off x="8870798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L</a:t>
            </a:r>
            <a:endParaRPr lang="en-US" sz="1125" dirty="0"/>
          </a:p>
        </p:txBody>
      </p:sp>
      <p:sp>
        <p:nvSpPr>
          <p:cNvPr id="78" name="Shape 78"/>
          <p:cNvSpPr/>
          <p:nvPr/>
        </p:nvSpPr>
        <p:spPr>
          <a:xfrm>
            <a:off x="8732685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9" name="Shape 79"/>
          <p:cNvSpPr txBox="1"/>
          <p:nvPr/>
        </p:nvSpPr>
        <p:spPr>
          <a:xfrm>
            <a:off x="8870798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J</a:t>
            </a:r>
            <a:endParaRPr lang="en-US" sz="1125" dirty="0"/>
          </a:p>
        </p:txBody>
      </p:sp>
      <p:sp>
        <p:nvSpPr>
          <p:cNvPr id="80" name="Shape 80"/>
          <p:cNvSpPr/>
          <p:nvPr/>
        </p:nvSpPr>
        <p:spPr>
          <a:xfrm>
            <a:off x="8732685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1" name="Shape 81"/>
          <p:cNvSpPr txBox="1"/>
          <p:nvPr/>
        </p:nvSpPr>
        <p:spPr>
          <a:xfrm>
            <a:off x="8870798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H</a:t>
            </a:r>
            <a:endParaRPr lang="en-US" sz="1125" dirty="0"/>
          </a:p>
        </p:txBody>
      </p:sp>
      <p:sp>
        <p:nvSpPr>
          <p:cNvPr id="82" name="Slide Number 8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7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Questions 6–10 · SE p. 311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Always, sometimes, or never?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vertical lines are parallel.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undefined.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987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horizontal lines are parallel.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889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0.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17906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line and a horizontal line?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56920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 perpendicular.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2008632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−1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286348" y="26228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012948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0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36271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4017264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endParaRPr lang="en-US" sz="23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Writing Equations of Perpendicular Lines · SE p. 312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Use the negative reciprocal slope and point-slope form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− 2 = −½(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− 6)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24556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86348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−¾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(3, −8)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4/3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+ 8 = 4/3(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2924556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4/3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− 12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Questions 3–5 · SE pp. 312–313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First find the slope of the given line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(−1, −9)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−12/4 = −3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⅓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3880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381398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(−2, 7)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(−6,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4381398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3/6 = 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−2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81398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8076997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5. Lines meet at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(5, 9)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; one passes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4)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8076997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5/9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−9/5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76997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−9/5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+ 18</a:t>
            </a:r>
            <a:endParaRPr lang="en-US" sz="2325" dirty="0"/>
          </a:p>
        </p:txBody>
      </p:sp>
      <p:sp>
        <p:nvSpPr>
          <p:cNvPr id="13" name="Slide Number 1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Things Aren't Always What They Seem · SE p. 314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Linh or Jackson?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Linh says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are parallel to each other and perpendicular to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Jackson says they are parallel but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perpendicular to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Jackson is correct.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axes use different scales.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0550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1, so they are parallel. 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−¼.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7185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 · (−¼) ≠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slopes are not negative reciprocals, so the lines are not perpendicular.</a:t>
            </a:r>
            <a:endParaRPr lang="en-US" sz="157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does rotation give perpendicular slopes?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 90° rotation maps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so a slope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becomes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181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lines have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slopes: their product is −1.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6072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Any vertical line is perpendicular to any horizontal line.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slope is perpendicular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−5/2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2/5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line ⊥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(3, 1)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Write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(−4, 7)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−4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End of Day 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2569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Stop here: Monday, November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52532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Next class: Tuesday, November 3. Open the Lesson 4 deck.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31</a:t>
            </a:fld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317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Does each set of ordered pairs represent a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{(−1, −1), (0, 0), (1, 1), (2, 2)}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238723" y="2144268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03042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{(−1, −2), (0, 0), (1, 2), (2, 4)}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38723" y="300304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61816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{(−1, −1), (0, −1), (1, −1), (2, −1)}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238723" y="3861816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4720590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{(−1, −1), (−1, 0), (−1, 1), (−1, 2)}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38723" y="4720590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Not a function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3 Assignment (SE pp. 315–317).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33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Determining Slopes of Perpendicular Lin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33</Slides>
  <Notes>33</Notes>
</Properties>
</file>

<file path=docProps/core.xml><?xml version="1.0" encoding="utf-8"?>
<cp:coreProperties xmlns:cp="http://schemas.openxmlformats.org/package/2006/metadata/core-properties" xmlns:dc="http://purl.org/dc/elements/1.1/">
  <dc:title>Determining Slopes of Perpendicular Lines</dc:title>
  <dc:subject>Bluebonnet Algebra I</dc:subject>
</cp:coreProperties>
</file>