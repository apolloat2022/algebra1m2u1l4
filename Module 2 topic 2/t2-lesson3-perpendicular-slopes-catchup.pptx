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3" r:id="rId18"/>
    <p:sldId id="264" r:id="rId19"/>
    <p:sldId id="265" r:id="rId20"/>
    <p:sldId id="266" r:id="rId21"/>
    <p:sldId id="267" r:id="rId22"/>
    <p:sldId id="268" r:id="rId23"/>
    <p:sldId id="269" r:id="rId24"/>
    <p:sldId id="270" r:id="rId25"/>
    <p:sldId id="271" r:id="rId26"/>
    <p:sldId id="272" r:id="rId27"/>
    <p:sldId id="273" r:id="rId28"/>
    <p:sldId id="274" r:id="rId29"/>
    <p:sldId id="275" r:id="rId30"/>
    <p:sldId id="276" r:id="rId31"/>
    <p:sldId id="277" r:id="rId32"/>
    <p:sldId id="278" r:id="rId33"/>
    <p:sldId id="279" r:id="rId34"/>
    <p:sldId id="280" r:id="rId35"/>
    <p:sldId id="281" r:id="rId36"/>
    <p:sldId id="282" r:id="rId37"/>
    <p:sldId id="283" r:id="rId38"/>
    <p:sldId id="284" r:id="rId39"/>
    <p:sldId id="285" r:id="rId40"/>
    <p:sldId id="286" r:id="rId41"/>
    <p:sldId id="287" r:id="rId42"/>
    <p:sldId id="288" r:id="rId43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Relationship Id="rId33" Type="http://schemas.openxmlformats.org/officeDocument/2006/relationships/slide" Target="slides/slide23.xml"/><Relationship Id="rId34" Type="http://schemas.openxmlformats.org/officeDocument/2006/relationships/slide" Target="slides/slide24.xml"/><Relationship Id="rId35" Type="http://schemas.openxmlformats.org/officeDocument/2006/relationships/slide" Target="slides/slide25.xml"/><Relationship Id="rId36" Type="http://schemas.openxmlformats.org/officeDocument/2006/relationships/slide" Target="slides/slide26.xml"/><Relationship Id="rId37" Type="http://schemas.openxmlformats.org/officeDocument/2006/relationships/slide" Target="slides/slide27.xml"/><Relationship Id="rId38" Type="http://schemas.openxmlformats.org/officeDocument/2006/relationships/slide" Target="slides/slide28.xml"/><Relationship Id="rId39" Type="http://schemas.openxmlformats.org/officeDocument/2006/relationships/slide" Target="slides/slide29.xml"/><Relationship Id="rId40" Type="http://schemas.openxmlformats.org/officeDocument/2006/relationships/slide" Target="slides/slide30.xml"/><Relationship Id="rId41" Type="http://schemas.openxmlformats.org/officeDocument/2006/relationships/slide" Target="slides/slide31.xml"/><Relationship Id="rId42" Type="http://schemas.openxmlformats.org/officeDocument/2006/relationships/slide" Target="slides/slide32.xml"/><Relationship Id="rId43" Type="http://schemas.openxmlformats.org/officeDocument/2006/relationships/slide" Target="slides/slide33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Notes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rotate a segment 90° at a time, prove that perpendicular lines have negative reciprocal slopes, work with horizontal and vertical lines, and write equations of perpendicular lines. Two days on the 150-day calendar: Day 1 Getting Started and Activity 3.1; Day 2 Activities 3.2, 3.3 and Talk the Talk. Materials: patty paper, straightedges.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Class starts here on Tuesday, October 27.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Added for this deck; not from the textbook. Have this up as students walk in; they work silently while you take attendance (about 5 minutes). The same 4 questions are on the online Day 1 bell work. Reveal the answers one at a time. Answer key: 1. Flip the fraction: ⅔ · 3/2 = 1. 2. A 90° counterclockwise rotation maps (x, y) to (−y, x). 3. Slope = (5 − 0) ÷ (8 − 0) = 5/8. 4. Slope = (−2 − 4) ÷ (2 − (−1)) = −6 ÷ 3 = −2.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Catch-up from Topic 1 Lesson 6 so the class is ready for the End of Topic 1 Assessment (Lessons 1–6). Keep it to about 15 minutes, then go back to the Topic 2 lesson.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Activity 6.2, 20–25 minutes. To begin Day 2, have a student read the Essential Question aloud. Have pairs complete Questions 1–5, then share. Axes: x = Number of T-Shirts, y = Potential Earnings (dollars). The Ask Yourself: What do the slope, intercepts, domain, and range mean in this situation? Teacher-guide look-for: students give the domain and range of the function (all real numbers) rather than of the scenario (whole numbers of shirts, multiples of $15). Ask: Did you use one or two points to calculate the earnings per T-shirt?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Yourself: Does E(t) represent a direct variation? (Yes: it passes through the origin and has the form y = kx.) Teacher-guide support: relate function notation back to x and y: (t, E(t)) is the same as (x, f(x)), which is the same as (x, y). Ask: Why doesn't the equation have a constant term? (She starts with $0.) E(2.75) is a point on the line, but it isn't a solution in the context.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Worked Examples and complete Questions 6 and 7 as a class. The Worked Example is explicit instruction: have students restate each step in their own words. Ask: How do you know whether to substitute the given value for t or for E(t)? (It's dollars, so it's the output.) How did you decide 7 instead of 6? How much does she earn with 6 shirts? 7? ($90 and $105.)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Remember box: the graph of an equation represents the set of all its solutions. Ask: Why does it make sense to rely on technology when using a graph? (Reading 6.67 by eye is hard.) How could you solve this using a table on a calculator? Stamp the learning, from the teacher guide: "An equation or a graph can be used to determine the value of an independent variable. Sometimes a graph can only give an approximate answer; however, using an equation always results in an exact answer." For more practice, assign Skills Practice Set B.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 of the Topic 1 Catch-Up. Continue with the Topic 2 lesson.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each objective aloud as it appears.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write the Essential Question at the top of their notes. Don't answer it yet; we come back to it at the end of the lesson.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Getting Started, 15–20 minutes. Patty paper helps: trace the segment and the axes, then turn the paper a quarter turn.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Activity 3.1, 20–25 minutes. Students read the three graphs in their book (SE p. 307) and write the equations.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restate each step. Question 3 asks for the same proof with a clockwise rotation: R(a, b) maps to D(b, −a), so m₂ = −a/b and again m₁ = −1/m₂.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Stamp the learning: perpendicular lines have slopes that are negative reciprocals. End of Day 1.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Class ends here on Tuesday, October 27.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Class starts here on Wednesday, October 28.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Added for this deck; not from the textbook. Have this up as students walk in; they work silently while you take attendance (about 5 minutes). The same 4 questions are on the online Day 2 bell work. Reveal the answers one at a time. Answer key: 1. Perpendicular slopes are negative reciprocals: ⅔ · (−3/2) = −1. 2. On a horizontal line y never changes, so the rise is 0. 3. Every point on a vertical line has the same x-value, here 2. 4. Perpendicular slope: −½. Put in the point: 1 = −½(4) + b = −2 + b, so b = 3.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Catch-up from Topic 1 Lesson 6 so the class is ready for the End of Topic 1 Assessment (Lessons 1–6). Keep it to about 15 minutes, then go back to the Topic 2 lesson.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Activity 6.3, 20–25 minutes. Have pairs complete Questions 1–4, then share. The last two clicks label the points on the graph. Ask Yourself: Does G(t) vary directly with t? (No: it doesn't pass through the origin.) Ask: How do the parallel lines relate to the context? (Same price per shirt.) Does this notation represent the x-intercept or the y-intercept? (G(0) is the y-intercept; G(t) = 0 gives the x-intercept.) Look for the statements students use to interpret y = G(0) and G(t) = 0.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Ask: Which property did you apply to show the equations are equivalent? (The Distributive Property.) Explain how Brianna's and Hailey's perspectives are different: Brianna thinks in shirts (3 fewer to sell), Hailey thinks in dollars ($45 lost). Compare Question 3 with the Worked Example in Activity 6.2: on the graph, the line G(t) crosses y = 100 at about (9.67, 100), and in context she needs 10 shirts.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fill in their own table first: the unit, then the contextual meaning, then the mathematical meaning. Reveal the teacher-guide answers one row at a time. Teacher-guide support: provide a word bank for the mathematical meanings (input, output, rate of change, y-intercept, constant). Ask: How does the unit of each expression guide your thinking? (Dollars per T-shirt must be a rate; plain dollars is an amount.)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 of the Topic 1 Catch-Up. Continue with the Topic 2 lesson.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Activity 3.2, 15–20 minutes. Memory trick from Topic 1: HOY VUX.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Questions 8–10 assess the lesson. For more practice, assign Skills Practice Set A.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Activity 3.3, 15–20 minutes. TE wording slip: for Question 2 the teacher guide says the given slope is 3/4; it is −3/4.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teacher guide prints the slope formula with y₂ − y₁ in the denominator; it is x₂ − x₁. Its numbers are correct. For more practice, assign Skills Practice Set B.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the graph in the book (SE p. 314). The x-axis counts 1 per square and the y-axis 1 per 2 squares, so the lines look perpendicular but aren't.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answer the Essential Question on the lesson opener page.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Added for this deck; not from the textbook. Give 3–4 minutes, collect the answers, and use them to decide who needs Skills Practice. Work: 1. Flip and change the sign. 2. Slope −1/3: 1 = −1/3(3) + b, so b = 2. 3. A vertical line keeps x the same.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Class ends here on Wednesday, October 28.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From the Lesson 3 Assignment. In a function each input has exactly one output; in set 4 the input −1 has four outputs.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Added for this deck; not from the textbook. Click a title to open it in a new tab. Put the day's bell work link up as students walk in. The 150-day pacing calendar (topic2-pacing-150.html) gives the day for each homework and quiz.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rgbClr val="E6E8F2"/>
          </a:fgClr>
          <a:bgClr>
            <a:srgbClr val="F7F7FB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Brand 101"/>
          <p:cNvSpPr/>
          <p:nvPr userDrawn="1"/>
        </p:nvSpPr>
        <p:spPr>
          <a:xfrm>
            <a:off x="9631375" y="128016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3050B8"/>
          </a:solidFill>
          <a:ln>
            <a:noFill/>
          </a:ln>
        </p:spPr>
      </p:sp>
      <p:sp>
        <p:nvSpPr>
          <p:cNvPr id="102" name="Brand 102"/>
          <p:cNvSpPr/>
          <p:nvPr userDrawn="1"/>
        </p:nvSpPr>
        <p:spPr>
          <a:xfrm>
            <a:off x="9748818" y="172593"/>
            <a:ext cx="39434" cy="3943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3" name="Brand 103"/>
          <p:cNvSpPr/>
          <p:nvPr userDrawn="1"/>
        </p:nvSpPr>
        <p:spPr>
          <a:xfrm>
            <a:off x="9719672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4" name="Brand 104"/>
          <p:cNvSpPr/>
          <p:nvPr userDrawn="1"/>
        </p:nvSpPr>
        <p:spPr>
          <a:xfrm>
            <a:off x="9774536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5" name="Brand 105"/>
          <p:cNvSpPr/>
          <p:nvPr userDrawn="1"/>
        </p:nvSpPr>
        <p:spPr>
          <a:xfrm>
            <a:off x="9746247" y="230886"/>
            <a:ext cx="44577" cy="4457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6" name="Brand 106"/>
          <p:cNvSpPr/>
          <p:nvPr userDrawn="1"/>
        </p:nvSpPr>
        <p:spPr>
          <a:xfrm>
            <a:off x="9709385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7" name="Brand 107"/>
          <p:cNvSpPr/>
          <p:nvPr userDrawn="1"/>
        </p:nvSpPr>
        <p:spPr>
          <a:xfrm>
            <a:off x="9781394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8" name="Brand 108"/>
          <p:cNvSpPr/>
          <p:nvPr userDrawn="1"/>
        </p:nvSpPr>
        <p:spPr>
          <a:xfrm>
            <a:off x="9761677" y="303752"/>
            <a:ext cx="13716" cy="55721"/>
          </a:xfrm>
          <a:prstGeom prst="roundRect">
            <a:avLst>
              <a:gd name="adj" fmla="val 50000"/>
            </a:avLst>
          </a:prstGeom>
          <a:solidFill>
            <a:srgbClr val="9FD18B"/>
          </a:solidFill>
          <a:ln>
            <a:noFill/>
          </a:ln>
        </p:spPr>
      </p:sp>
      <p:sp>
        <p:nvSpPr>
          <p:cNvPr id="109" name="Shape 109"/>
          <p:cNvSpPr txBox="1"/>
          <p:nvPr/>
        </p:nvSpPr>
        <p:spPr>
          <a:xfrm>
            <a:off x="9960559" y="109728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16171D"/>
                </a:solidFill>
                <a:latin typeface="Segoe UI"/>
                <a:cs typeface="Segoe UI"/>
              </a:rPr>
              <a:t xml:space="preserve">Bluebonnet </a:t>
            </a: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Algebra I</a:t>
            </a:r>
            <a:endParaRPr lang="en-US" sz="11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hyperlink" Target="https://algebra1m2u1l4.vercel.app/Module 2 topic 2/t2-lesson3-bellwork-day1.html" TargetMode="External"/><Relationship Id="rId4" Type="http://schemas.openxmlformats.org/officeDocument/2006/relationships/hyperlink" Target="https://algebra1m2u1l4.vercel.app/Module 2 topic 2/t2-lesson3-bellwork-day2.html" TargetMode="External"/><Relationship Id="rId5" Type="http://schemas.openxmlformats.org/officeDocument/2006/relationships/hyperlink" Target="https://algebra1m2u1l4.vercel.app/Module 2 topic 2/t2-lesson3-homework.html" TargetMode="External"/><Relationship Id="rId6" Type="http://schemas.openxmlformats.org/officeDocument/2006/relationships/hyperlink" Target="https://algebra1m2u1l4.vercel.app/Module 2 topic 2/t2-lesson3-quiz.html" TargetMode="External"/><Relationship Id="rId7" Type="http://schemas.openxmlformats.org/officeDocument/2006/relationships/hyperlink" Target="https://creativecommons.org/licenses/by-nc/4.0/" TargetMode="Externa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algebra1m2u1l4.vercel.app/lesson6/lesson6-homework.html" TargetMode="External"/><Relationship Id="rId4" Type="http://schemas.openxmlformats.org/officeDocument/2006/relationships/hyperlink" Target="https://algebra1m2u1l4.vercel.app/lesson6/lesson6-quiz.html" TargetMode="Externa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algebra1m2u1l4.vercel.app/lesson6/lesson6-homework.html" TargetMode="External"/><Relationship Id="rId4" Type="http://schemas.openxmlformats.org/officeDocument/2006/relationships/hyperlink" Target="https://algebra1m2u1l4.vercel.app/lesson6/lesson6-quiz.html" TargetMode="Externa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3" Type="http://schemas.openxmlformats.org/officeDocument/2006/relationships/hyperlink" Target="https://algebra1m2u1l4.vercel.app/Module 2 topic 2/t2-lesson3-bellwork-day1.html" TargetMode="External"/><Relationship Id="rId4" Type="http://schemas.openxmlformats.org/officeDocument/2006/relationships/hyperlink" Target="https://algebra1m2u1l4.vercel.app/Module 2 topic 2/t2-lesson3-bellwork-day2.html" TargetMode="External"/><Relationship Id="rId5" Type="http://schemas.openxmlformats.org/officeDocument/2006/relationships/hyperlink" Target="https://algebra1m2u1l4.vercel.app/Module 2 topic 2/t2-lesson3-homework.html" TargetMode="External"/><Relationship Id="rId6" Type="http://schemas.openxmlformats.org/officeDocument/2006/relationships/hyperlink" Target="https://algebra1m2u1l4.vercel.app/Module 2 topic 2/t2-lesson3-quiz.html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Bluebonnet Algebra I · Module 2 · Topic 2 · Lesson 3 · Student Edition pp. 305–318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923544"/>
            <a:ext cx="10820095" cy="13350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42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Determining Slopes of Perpendicular Lines</a:t>
            </a:r>
            <a:endParaRPr lang="en-US" sz="42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430018"/>
            <a:ext cx="10820095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Adds a 15-minute Topic 1 Catch-Up (Lessons 5–6) each day · Day 1: Tue, Oct 27 · Day 2: Wed, Oct 28</a:t>
            </a:r>
            <a:endParaRPr lang="en-US" sz="16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3075432"/>
            <a:ext cx="10820095" cy="5120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000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m</a:t>
            </a:r>
            <a:r>
              <a:rPr lang="en-US" sz="2550" dirty="0" b="1" baseline="-25000">
                <a:solidFill>
                  <a:srgbClr val="C9561F"/>
                </a:solidFill>
                <a:latin typeface="Cambria"/>
                <a:cs typeface="Cambria"/>
              </a:rPr>
              <a:t xml:space="preserve">1</a:t>
            </a:r>
            <a:r>
              <a:rPr lang="en-US" sz="3000" dirty="0">
                <a:solidFill>
                  <a:srgbClr val="16171D"/>
                </a:solidFill>
                <a:latin typeface="Cambria"/>
                <a:cs typeface="Cambria"/>
              </a:rPr>
              <a:t xml:space="preserve"> · </a:t>
            </a:r>
            <a:r>
              <a:rPr lang="en-US" sz="3000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m</a:t>
            </a:r>
            <a:r>
              <a:rPr lang="en-US" sz="2550" dirty="0" b="1" baseline="-25000">
                <a:solidFill>
                  <a:srgbClr val="C9561F"/>
                </a:solidFill>
                <a:latin typeface="Cambria"/>
                <a:cs typeface="Cambria"/>
              </a:rPr>
              <a:t xml:space="preserve">2</a:t>
            </a:r>
            <a:r>
              <a:rPr lang="en-US" sz="3000" dirty="0">
                <a:solidFill>
                  <a:srgbClr val="16171D"/>
                </a:solidFill>
                <a:latin typeface="Cambria"/>
                <a:cs typeface="Cambria"/>
              </a:rPr>
              <a:t xml:space="preserve"> = −1</a:t>
            </a:r>
            <a:endParaRPr lang="en-US" sz="300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816096"/>
            <a:ext cx="10820095" cy="32918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Bell work: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3"/>
              </a:rPr>
              <a:t xml:space="preserve">Day 1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4"/>
              </a:rPr>
              <a:t xml:space="preserve">Day 2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| Practice: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5"/>
              </a:rPr>
              <a:t xml:space="preserve">Homework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6"/>
              </a:rPr>
              <a:t xml:space="preserve">Quiz →</a:t>
            </a:r>
            <a:endParaRPr lang="en-US" sz="180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4316730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Click, or press → / Space, to reveal each step. ← goes back. F = full screen.</a:t>
            </a:r>
            <a:endParaRPr lang="en-US" sz="1575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5500116"/>
            <a:ext cx="10820095" cy="10835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5F6272"/>
                </a:solidFill>
                <a:latin typeface="Segoe UI"/>
                <a:cs typeface="Segoe UI"/>
              </a:rPr>
              <a:t xml:space="preserve">Bluebonnet Algebra I</a:t>
            </a: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 · a companion to Bluebonnet Learning Secondary Mathematics, Algebra I, Edition 1</a:t>
            </a:r>
            <a:b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</a:b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This work is based on original works of the Texas Education Agency and Carnegie Learning, Inc. This work is made available under a Creative Commons Attribution-Non-Commercial-4.0 International License. This does not in any way imply endorsement by those authors of this work.</a:t>
            </a:r>
            <a:b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</a:b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©2024–2025 Texas Education Agency, portions ©2021 Carnegie Learning, Inc.</a:t>
            </a:r>
            <a:b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</a:b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Licensed </a:t>
            </a:r>
            <a:r>
              <a:rPr lang="en-US" sz="1125" dirty="0">
                <a:solidFill>
                  <a:srgbClr val="3050B8"/>
                </a:solidFill>
                <a:latin typeface="Segoe UI"/>
                <a:cs typeface="Segoe UI"/>
                <a:hlinkClick r:id="rId7"/>
              </a:rPr>
              <a:t xml:space="preserve">CC BY-NC 4.0</a:t>
            </a: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.</a:t>
            </a:r>
            <a:b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</a:br>
            <a:r>
              <a:rPr lang="en-US" sz="1125" dirty="0" b="1">
                <a:solidFill>
                  <a:srgbClr val="5F6272"/>
                </a:solidFill>
                <a:latin typeface="Segoe UI"/>
                <a:cs typeface="Segoe UI"/>
              </a:rPr>
              <a:t xml:space="preserve">This is a private site for Algebra I teachers and is not publicly available.</a:t>
            </a:r>
            <a:endParaRPr lang="en-US" sz="1125" dirty="0"/>
          </a:p>
        </p:txBody>
      </p:sp>
      <p:sp>
        <p:nvSpPr>
          <p:cNvPr id="9" name="Slide Number 9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</a:t>
            </a:fld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210312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Topic 2 · Lesson 3 · Day 1 of 2 · Start here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2512314"/>
            <a:ext cx="10820095" cy="25694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8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Start: Tuesday, October 27</a:t>
            </a:r>
            <a:endParaRPr lang="en-US" sz="82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5253228"/>
            <a:ext cx="10820095" cy="6949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>
                <a:solidFill>
                  <a:srgbClr val="16171D"/>
                </a:solidFill>
                <a:latin typeface="Segoe UI"/>
                <a:cs typeface="Segoe UI"/>
              </a:rPr>
              <a:t xml:space="preserve">Today: bell work → Topic 1 catch-up (Write, evaluate and solve a function in context) → Lesson 3, Day 1.</a:t>
            </a:r>
            <a:endParaRPr lang="en-US" sz="2100" dirty="0"/>
          </a:p>
        </p:txBody>
      </p:sp>
      <p:sp>
        <p:nvSpPr>
          <p:cNvPr id="5" name="Slide Number 5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</a:t>
            </a:fld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Bell Work · Review · Tue, Oct 27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Warm up: work these on your own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75638"/>
            <a:ext cx="5143348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1. What is the reciprocal of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⅔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161032"/>
            <a:ext cx="241054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3/2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946654"/>
            <a:ext cx="5143348" cy="9464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2. Rotate the point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(8, 5)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90° counterclockwise about the origin. Where does it go?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306)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4026408"/>
            <a:ext cx="3073847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(−5, 8)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362548" y="1675638"/>
            <a:ext cx="51433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3. What is the slope of the segment from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(0, 0)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to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(8, 5)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306)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6362548" y="2458212"/>
            <a:ext cx="241054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5/8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6362548" y="3243834"/>
            <a:ext cx="5143348" cy="9464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4. A line passes through the points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(−1, 4)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(2, −2)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 What is the slope of the line?</a:t>
            </a: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6362548" y="4323588"/>
            <a:ext cx="2244715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−2</a:t>
            </a:r>
            <a:endParaRPr lang="en-US" sz="2325" dirty="0"/>
          </a:p>
        </p:txBody>
      </p:sp>
      <p:sp>
        <p:nvSpPr>
          <p:cNvPr id="12" name="Slide Number 12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3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9144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Topic 1 Catch-Up · Tue, Oct 27 · about 15 minutes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323594"/>
            <a:ext cx="10820095" cy="2660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57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Topic 1 Lesson 6: Write, evaluate and solve a function in context</a:t>
            </a:r>
            <a:endParaRPr lang="en-US" sz="57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4155948"/>
            <a:ext cx="10820095" cy="7406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Lesson 3 evaluates slopes and points; this practices using function notation in a story.</a:t>
            </a:r>
            <a:endParaRPr lang="en-US" sz="22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5068062"/>
            <a:ext cx="10820095" cy="32918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Topic 1 Lesson 6 practice: </a:t>
            </a:r>
            <a:r>
              <a:rPr lang="en-US" sz="1800" dirty="0">
                <a:solidFill>
                  <a:srgbClr val="3050B8"/>
                </a:solidFill>
                <a:latin typeface="Segoe UI"/>
                <a:cs typeface="Segoe UI"/>
                <a:hlinkClick r:id="rId3"/>
              </a:rPr>
              <a:t xml:space="preserve">Homework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800" dirty="0">
                <a:solidFill>
                  <a:srgbClr val="3050B8"/>
                </a:solidFill>
                <a:latin typeface="Segoe UI"/>
                <a:cs typeface="Segoe UI"/>
                <a:hlinkClick r:id="rId4"/>
              </a:rPr>
              <a:t xml:space="preserve">Quiz →</a:t>
            </a:r>
            <a:endParaRPr lang="en-US" sz="1800" dirty="0"/>
          </a:p>
        </p:txBody>
      </p:sp>
      <p:sp>
        <p:nvSpPr>
          <p:cNvPr id="6" name="Slide Number 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4</a:t>
            </a:fld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Topic 1 Catch-Up · Lesson 6 · Activity 6.2 · Interpreting Graphs of Linear Functions · SE p. 243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Gracie's T-shirt sales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6248095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Gracie sells T-shirts for her mom at festivals and returns what she earns. The graph shows her potential earnings.</a:t>
            </a:r>
            <a:endParaRPr lang="en-US" sz="157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267712"/>
            <a:ext cx="6248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1.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List as many facts as you can.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676906"/>
            <a:ext cx="6248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The line passes through </a:t>
            </a:r>
            <a:r>
              <a:rPr lang="en-US" sz="1575" dirty="0" b="1">
                <a:solidFill>
                  <a:srgbClr val="3050B8"/>
                </a:solidFill>
                <a:latin typeface="Segoe UI"/>
                <a:cs typeface="Segoe UI"/>
              </a:rPr>
              <a:t xml:space="preserve">(0, 0)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no shirts, no money.</a:t>
            </a:r>
            <a:endParaRPr lang="en-US" sz="1575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086100"/>
            <a:ext cx="6248095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Up 15 for every 1 shirt: </a:t>
            </a:r>
            <a:r>
              <a:rPr lang="en-US" sz="1575" dirty="0" b="1">
                <a:solidFill>
                  <a:srgbClr val="C9561F"/>
                </a:solidFill>
                <a:latin typeface="Segoe UI"/>
                <a:cs typeface="Segoe UI"/>
              </a:rPr>
              <a:t xml:space="preserve">$15 per T-shirt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 Selling 4 shirts earns $60.</a:t>
            </a:r>
            <a:endParaRPr lang="en-US" sz="1575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3735324"/>
            <a:ext cx="6248095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Domain of the situation: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whole numbers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of shirts, 0 or more. Range: 0, 15, 30, 45, …</a:t>
            </a:r>
            <a:endParaRPr lang="en-US" sz="1575" dirty="0"/>
          </a:p>
        </p:txBody>
      </p:sp>
      <p:sp>
        <p:nvSpPr>
          <p:cNvPr id="9" name="Shape 9"/>
          <p:cNvSpPr/>
          <p:nvPr/>
        </p:nvSpPr>
        <p:spPr>
          <a:xfrm>
            <a:off x="7314895" y="1618488"/>
            <a:ext cx="4191000" cy="4000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10" name="Line 10"/>
          <p:cNvCxnSpPr/>
          <p:nvPr/>
        </p:nvCxnSpPr>
        <p:spPr>
          <a:xfrm>
            <a:off x="7638745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1" name="Line 11"/>
          <p:cNvCxnSpPr/>
          <p:nvPr/>
        </p:nvCxnSpPr>
        <p:spPr>
          <a:xfrm>
            <a:off x="7809329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2" name="Line 12"/>
          <p:cNvCxnSpPr/>
          <p:nvPr/>
        </p:nvCxnSpPr>
        <p:spPr>
          <a:xfrm>
            <a:off x="7979913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3" name="Line 13"/>
          <p:cNvCxnSpPr/>
          <p:nvPr/>
        </p:nvCxnSpPr>
        <p:spPr>
          <a:xfrm>
            <a:off x="8150497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4" name="Line 14"/>
          <p:cNvCxnSpPr/>
          <p:nvPr/>
        </p:nvCxnSpPr>
        <p:spPr>
          <a:xfrm>
            <a:off x="8321082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5" name="Line 15"/>
          <p:cNvCxnSpPr/>
          <p:nvPr/>
        </p:nvCxnSpPr>
        <p:spPr>
          <a:xfrm>
            <a:off x="8491666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6" name="Line 16"/>
          <p:cNvCxnSpPr/>
          <p:nvPr/>
        </p:nvCxnSpPr>
        <p:spPr>
          <a:xfrm>
            <a:off x="8662250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7" name="Line 17"/>
          <p:cNvCxnSpPr/>
          <p:nvPr/>
        </p:nvCxnSpPr>
        <p:spPr>
          <a:xfrm>
            <a:off x="8832834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8" name="Line 18"/>
          <p:cNvCxnSpPr/>
          <p:nvPr/>
        </p:nvCxnSpPr>
        <p:spPr>
          <a:xfrm>
            <a:off x="9003418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9" name="Line 19"/>
          <p:cNvCxnSpPr/>
          <p:nvPr/>
        </p:nvCxnSpPr>
        <p:spPr>
          <a:xfrm>
            <a:off x="9174002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0" name="Line 20"/>
          <p:cNvCxnSpPr/>
          <p:nvPr/>
        </p:nvCxnSpPr>
        <p:spPr>
          <a:xfrm>
            <a:off x="9344586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1" name="Line 21"/>
          <p:cNvCxnSpPr/>
          <p:nvPr/>
        </p:nvCxnSpPr>
        <p:spPr>
          <a:xfrm>
            <a:off x="9515170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2" name="Line 22"/>
          <p:cNvCxnSpPr/>
          <p:nvPr/>
        </p:nvCxnSpPr>
        <p:spPr>
          <a:xfrm>
            <a:off x="9685754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3" name="Line 23"/>
          <p:cNvCxnSpPr/>
          <p:nvPr/>
        </p:nvCxnSpPr>
        <p:spPr>
          <a:xfrm>
            <a:off x="9856338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4" name="Line 24"/>
          <p:cNvCxnSpPr/>
          <p:nvPr/>
        </p:nvCxnSpPr>
        <p:spPr>
          <a:xfrm>
            <a:off x="10026922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5" name="Line 25"/>
          <p:cNvCxnSpPr/>
          <p:nvPr/>
        </p:nvCxnSpPr>
        <p:spPr>
          <a:xfrm>
            <a:off x="10197507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6" name="Line 26"/>
          <p:cNvCxnSpPr/>
          <p:nvPr/>
        </p:nvCxnSpPr>
        <p:spPr>
          <a:xfrm>
            <a:off x="10368091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7" name="Line 27"/>
          <p:cNvCxnSpPr/>
          <p:nvPr/>
        </p:nvCxnSpPr>
        <p:spPr>
          <a:xfrm>
            <a:off x="10538675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8" name="Line 28"/>
          <p:cNvCxnSpPr/>
          <p:nvPr/>
        </p:nvCxnSpPr>
        <p:spPr>
          <a:xfrm>
            <a:off x="10709259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9" name="Line 29"/>
          <p:cNvCxnSpPr/>
          <p:nvPr/>
        </p:nvCxnSpPr>
        <p:spPr>
          <a:xfrm>
            <a:off x="10879843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0" name="Line 30"/>
          <p:cNvCxnSpPr/>
          <p:nvPr/>
        </p:nvCxnSpPr>
        <p:spPr>
          <a:xfrm>
            <a:off x="11050427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1" name="Line 31"/>
          <p:cNvCxnSpPr/>
          <p:nvPr/>
        </p:nvCxnSpPr>
        <p:spPr>
          <a:xfrm>
            <a:off x="11221011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2" name="Line 32"/>
          <p:cNvCxnSpPr/>
          <p:nvPr/>
        </p:nvCxnSpPr>
        <p:spPr>
          <a:xfrm>
            <a:off x="11391595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3" name="Line 33"/>
          <p:cNvCxnSpPr/>
          <p:nvPr/>
        </p:nvCxnSpPr>
        <p:spPr>
          <a:xfrm>
            <a:off x="7638745" y="5371338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4" name="Line 34"/>
          <p:cNvCxnSpPr/>
          <p:nvPr/>
        </p:nvCxnSpPr>
        <p:spPr>
          <a:xfrm>
            <a:off x="7638745" y="5205949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5" name="Line 35"/>
          <p:cNvCxnSpPr/>
          <p:nvPr/>
        </p:nvCxnSpPr>
        <p:spPr>
          <a:xfrm>
            <a:off x="7638745" y="5040561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6" name="Line 36"/>
          <p:cNvCxnSpPr/>
          <p:nvPr/>
        </p:nvCxnSpPr>
        <p:spPr>
          <a:xfrm>
            <a:off x="7638745" y="4875172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7" name="Line 37"/>
          <p:cNvCxnSpPr/>
          <p:nvPr/>
        </p:nvCxnSpPr>
        <p:spPr>
          <a:xfrm>
            <a:off x="7638745" y="4709783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8" name="Line 38"/>
          <p:cNvCxnSpPr/>
          <p:nvPr/>
        </p:nvCxnSpPr>
        <p:spPr>
          <a:xfrm>
            <a:off x="7638745" y="4544395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9" name="Line 39"/>
          <p:cNvCxnSpPr/>
          <p:nvPr/>
        </p:nvCxnSpPr>
        <p:spPr>
          <a:xfrm>
            <a:off x="7638745" y="4379006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0" name="Line 40"/>
          <p:cNvCxnSpPr/>
          <p:nvPr/>
        </p:nvCxnSpPr>
        <p:spPr>
          <a:xfrm>
            <a:off x="7638745" y="4213618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1" name="Line 41"/>
          <p:cNvCxnSpPr/>
          <p:nvPr/>
        </p:nvCxnSpPr>
        <p:spPr>
          <a:xfrm>
            <a:off x="7638745" y="4048229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2" name="Line 42"/>
          <p:cNvCxnSpPr/>
          <p:nvPr/>
        </p:nvCxnSpPr>
        <p:spPr>
          <a:xfrm>
            <a:off x="7638745" y="3882840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3" name="Line 43"/>
          <p:cNvCxnSpPr/>
          <p:nvPr/>
        </p:nvCxnSpPr>
        <p:spPr>
          <a:xfrm>
            <a:off x="7638745" y="3717452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4" name="Line 44"/>
          <p:cNvCxnSpPr/>
          <p:nvPr/>
        </p:nvCxnSpPr>
        <p:spPr>
          <a:xfrm>
            <a:off x="7638745" y="3552063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5" name="Line 45"/>
          <p:cNvCxnSpPr/>
          <p:nvPr/>
        </p:nvCxnSpPr>
        <p:spPr>
          <a:xfrm>
            <a:off x="7638745" y="3386674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6" name="Line 46"/>
          <p:cNvCxnSpPr/>
          <p:nvPr/>
        </p:nvCxnSpPr>
        <p:spPr>
          <a:xfrm>
            <a:off x="7638745" y="3221286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7" name="Line 47"/>
          <p:cNvCxnSpPr/>
          <p:nvPr/>
        </p:nvCxnSpPr>
        <p:spPr>
          <a:xfrm>
            <a:off x="7638745" y="3055897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8" name="Line 48"/>
          <p:cNvCxnSpPr/>
          <p:nvPr/>
        </p:nvCxnSpPr>
        <p:spPr>
          <a:xfrm>
            <a:off x="7638745" y="2890508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9" name="Line 49"/>
          <p:cNvCxnSpPr/>
          <p:nvPr/>
        </p:nvCxnSpPr>
        <p:spPr>
          <a:xfrm>
            <a:off x="7638745" y="2725120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0" name="Line 50"/>
          <p:cNvCxnSpPr/>
          <p:nvPr/>
        </p:nvCxnSpPr>
        <p:spPr>
          <a:xfrm>
            <a:off x="7638745" y="2559731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1" name="Line 51"/>
          <p:cNvCxnSpPr/>
          <p:nvPr/>
        </p:nvCxnSpPr>
        <p:spPr>
          <a:xfrm>
            <a:off x="7638745" y="2394343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2" name="Line 52"/>
          <p:cNvCxnSpPr/>
          <p:nvPr/>
        </p:nvCxnSpPr>
        <p:spPr>
          <a:xfrm>
            <a:off x="7638745" y="2228954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3" name="Line 53"/>
          <p:cNvCxnSpPr/>
          <p:nvPr/>
        </p:nvCxnSpPr>
        <p:spPr>
          <a:xfrm>
            <a:off x="7638745" y="2063565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4" name="Line 54"/>
          <p:cNvCxnSpPr/>
          <p:nvPr/>
        </p:nvCxnSpPr>
        <p:spPr>
          <a:xfrm>
            <a:off x="7638745" y="1898177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5" name="Line 55"/>
          <p:cNvCxnSpPr/>
          <p:nvPr/>
        </p:nvCxnSpPr>
        <p:spPr>
          <a:xfrm>
            <a:off x="7638745" y="1732788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6" name="Line 56"/>
          <p:cNvCxnSpPr/>
          <p:nvPr/>
        </p:nvCxnSpPr>
        <p:spPr>
          <a:xfrm>
            <a:off x="8662250" y="1732788"/>
            <a:ext cx="0" cy="36385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57" name="Line 57"/>
          <p:cNvCxnSpPr/>
          <p:nvPr/>
        </p:nvCxnSpPr>
        <p:spPr>
          <a:xfrm>
            <a:off x="7638745" y="3552063"/>
            <a:ext cx="375285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58" name="Shape 58"/>
          <p:cNvSpPr txBox="1"/>
          <p:nvPr/>
        </p:nvSpPr>
        <p:spPr>
          <a:xfrm>
            <a:off x="7535009" y="5390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−5</a:t>
            </a:r>
            <a:endParaRPr lang="en-US" sz="975" dirty="0"/>
          </a:p>
        </p:txBody>
      </p:sp>
      <p:sp>
        <p:nvSpPr>
          <p:cNvPr id="59" name="Shape 59"/>
          <p:cNvSpPr txBox="1"/>
          <p:nvPr/>
        </p:nvSpPr>
        <p:spPr>
          <a:xfrm>
            <a:off x="8387930" y="5390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60" name="Shape 60"/>
          <p:cNvSpPr txBox="1"/>
          <p:nvPr/>
        </p:nvSpPr>
        <p:spPr>
          <a:xfrm>
            <a:off x="9240850" y="5390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5</a:t>
            </a:r>
            <a:endParaRPr lang="en-US" sz="975" dirty="0"/>
          </a:p>
        </p:txBody>
      </p:sp>
      <p:sp>
        <p:nvSpPr>
          <p:cNvPr id="61" name="Shape 61"/>
          <p:cNvSpPr txBox="1"/>
          <p:nvPr/>
        </p:nvSpPr>
        <p:spPr>
          <a:xfrm>
            <a:off x="10093771" y="5390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10</a:t>
            </a:r>
            <a:endParaRPr lang="en-US" sz="975" dirty="0"/>
          </a:p>
        </p:txBody>
      </p:sp>
      <p:sp>
        <p:nvSpPr>
          <p:cNvPr id="62" name="Shape 62"/>
          <p:cNvSpPr txBox="1"/>
          <p:nvPr/>
        </p:nvSpPr>
        <p:spPr>
          <a:xfrm>
            <a:off x="10946691" y="5390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15</a:t>
            </a:r>
            <a:endParaRPr lang="en-US" sz="975" dirty="0"/>
          </a:p>
        </p:txBody>
      </p:sp>
      <p:sp>
        <p:nvSpPr>
          <p:cNvPr id="63" name="Shape 63"/>
          <p:cNvSpPr txBox="1"/>
          <p:nvPr/>
        </p:nvSpPr>
        <p:spPr>
          <a:xfrm>
            <a:off x="7071817" y="5114509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−100</a:t>
            </a:r>
            <a:endParaRPr lang="en-US" sz="975" dirty="0"/>
          </a:p>
        </p:txBody>
      </p:sp>
      <p:sp>
        <p:nvSpPr>
          <p:cNvPr id="64" name="Shape 64"/>
          <p:cNvSpPr txBox="1"/>
          <p:nvPr/>
        </p:nvSpPr>
        <p:spPr>
          <a:xfrm>
            <a:off x="7071817" y="4287566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−50</a:t>
            </a:r>
            <a:endParaRPr lang="en-US" sz="975" dirty="0"/>
          </a:p>
        </p:txBody>
      </p:sp>
      <p:sp>
        <p:nvSpPr>
          <p:cNvPr id="65" name="Shape 65"/>
          <p:cNvSpPr txBox="1"/>
          <p:nvPr/>
        </p:nvSpPr>
        <p:spPr>
          <a:xfrm>
            <a:off x="7071817" y="346062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66" name="Shape 66"/>
          <p:cNvSpPr txBox="1"/>
          <p:nvPr/>
        </p:nvSpPr>
        <p:spPr>
          <a:xfrm>
            <a:off x="7071817" y="2633680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50</a:t>
            </a:r>
            <a:endParaRPr lang="en-US" sz="975" dirty="0"/>
          </a:p>
        </p:txBody>
      </p:sp>
      <p:sp>
        <p:nvSpPr>
          <p:cNvPr id="67" name="Shape 67"/>
          <p:cNvSpPr txBox="1"/>
          <p:nvPr/>
        </p:nvSpPr>
        <p:spPr>
          <a:xfrm>
            <a:off x="7071817" y="1806737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100</a:t>
            </a:r>
            <a:endParaRPr lang="en-US" sz="975" dirty="0"/>
          </a:p>
        </p:txBody>
      </p:sp>
      <p:cxnSp>
        <p:nvCxnSpPr>
          <p:cNvPr id="68" name="Line 68"/>
          <p:cNvCxnSpPr/>
          <p:nvPr/>
        </p:nvCxnSpPr>
        <p:spPr>
          <a:xfrm flipV="1">
            <a:off x="7638745" y="1732788"/>
            <a:ext cx="2274455" cy="3307773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sp>
        <p:nvSpPr>
          <p:cNvPr id="69" name="Shape 69"/>
          <p:cNvSpPr/>
          <p:nvPr/>
        </p:nvSpPr>
        <p:spPr>
          <a:xfrm>
            <a:off x="9292199" y="2507344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0" name="Shape 70"/>
          <p:cNvSpPr txBox="1"/>
          <p:nvPr/>
        </p:nvSpPr>
        <p:spPr>
          <a:xfrm>
            <a:off x="9430311" y="2312081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(4, 60)</a:t>
            </a:r>
            <a:endParaRPr lang="en-US" sz="1125" dirty="0"/>
          </a:p>
        </p:txBody>
      </p:sp>
      <p:sp>
        <p:nvSpPr>
          <p:cNvPr id="71" name="Slide Number 71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5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Topic 1 Catch-Up · Lesson 6 · Activity 6.2 · Questions 2–5 · SE p. 244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Write and evaluate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E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2.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Interpret the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- and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-intercepts.</a:t>
            </a:r>
            <a:endParaRPr lang="en-US" sz="157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1989582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Both are </a:t>
            </a:r>
            <a:r>
              <a:rPr lang="en-US" sz="1575" dirty="0" b="1">
                <a:solidFill>
                  <a:srgbClr val="3050B8"/>
                </a:solidFill>
                <a:latin typeface="Cambria"/>
                <a:cs typeface="Cambria"/>
              </a:rPr>
              <a:t xml:space="preserve">(0, 0)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selling 0 shirts earns $0.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360676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3.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Write a function for her earnings.</a:t>
            </a:r>
            <a:endParaRPr lang="en-US" sz="1575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2731770"/>
            <a:ext cx="3571326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E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2325" dirty="0" b="1">
                <a:solidFill>
                  <a:srgbClr val="C9561F"/>
                </a:solidFill>
                <a:latin typeface="Cambria"/>
                <a:cs typeface="Cambria"/>
              </a:rPr>
              <a:t xml:space="preserve">15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286348" y="1618488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4.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What does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E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represent?</a:t>
            </a:r>
            <a:endParaRPr lang="en-US" sz="1575" dirty="0"/>
          </a:p>
        </p:txBody>
      </p:sp>
      <p:sp>
        <p:nvSpPr>
          <p:cNvPr id="9" name="Shape 9"/>
          <p:cNvSpPr txBox="1"/>
          <p:nvPr/>
        </p:nvSpPr>
        <p:spPr>
          <a:xfrm>
            <a:off x="6286348" y="1989582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Each point on the line: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shirts sold and the dollars earned for them.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685800" y="3384042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5.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Evaluate and interpret.</a:t>
            </a:r>
            <a:endParaRPr lang="en-US" sz="1575" dirty="0"/>
          </a:p>
        </p:txBody>
      </p:sp>
      <p:sp>
        <p:nvSpPr>
          <p:cNvPr id="13" name="Shape 13"/>
          <p:cNvSpPr txBox="1"/>
          <p:nvPr/>
        </p:nvSpPr>
        <p:spPr>
          <a:xfrm>
            <a:off x="685800" y="3755136"/>
            <a:ext cx="3492398" cy="114223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895350" y="3926586"/>
            <a:ext cx="30732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E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(2) = 30</a:t>
            </a:r>
            <a:endParaRPr lang="en-US" sz="2325" dirty="0"/>
          </a:p>
        </p:txBody>
      </p:sp>
      <p:sp>
        <p:nvSpPr>
          <p:cNvPr id="12" name="Shape 12"/>
          <p:cNvSpPr txBox="1"/>
          <p:nvPr/>
        </p:nvSpPr>
        <p:spPr>
          <a:xfrm>
            <a:off x="895350" y="4431030"/>
            <a:ext cx="30732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(2, 30): 2 shirts earn $30.</a:t>
            </a:r>
            <a:endParaRPr lang="en-US" sz="1575" dirty="0"/>
          </a:p>
        </p:txBody>
      </p:sp>
      <p:sp>
        <p:nvSpPr>
          <p:cNvPr id="16" name="Shape 16"/>
          <p:cNvSpPr txBox="1"/>
          <p:nvPr/>
        </p:nvSpPr>
        <p:spPr>
          <a:xfrm>
            <a:off x="4349648" y="3755136"/>
            <a:ext cx="3492398" cy="114223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4" name="Shape 14"/>
          <p:cNvSpPr txBox="1"/>
          <p:nvPr/>
        </p:nvSpPr>
        <p:spPr>
          <a:xfrm>
            <a:off x="4559198" y="3926586"/>
            <a:ext cx="30732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E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(5) = 75</a:t>
            </a:r>
            <a:endParaRPr lang="en-US" sz="2325" dirty="0"/>
          </a:p>
        </p:txBody>
      </p:sp>
      <p:sp>
        <p:nvSpPr>
          <p:cNvPr id="15" name="Shape 15"/>
          <p:cNvSpPr txBox="1"/>
          <p:nvPr/>
        </p:nvSpPr>
        <p:spPr>
          <a:xfrm>
            <a:off x="4559198" y="4431030"/>
            <a:ext cx="30732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(5, 75): 5 shirts earn $75.</a:t>
            </a:r>
            <a:endParaRPr lang="en-US" sz="1575" dirty="0"/>
          </a:p>
        </p:txBody>
      </p:sp>
      <p:sp>
        <p:nvSpPr>
          <p:cNvPr id="19" name="Shape 19"/>
          <p:cNvSpPr txBox="1"/>
          <p:nvPr/>
        </p:nvSpPr>
        <p:spPr>
          <a:xfrm>
            <a:off x="8013497" y="3755136"/>
            <a:ext cx="3492398" cy="13822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7" name="Shape 17"/>
          <p:cNvSpPr txBox="1"/>
          <p:nvPr/>
        </p:nvSpPr>
        <p:spPr>
          <a:xfrm>
            <a:off x="8223047" y="3926586"/>
            <a:ext cx="30732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E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(2.75) = 41.25</a:t>
            </a:r>
            <a:endParaRPr lang="en-US" sz="2325" dirty="0"/>
          </a:p>
        </p:txBody>
      </p:sp>
      <p:sp>
        <p:nvSpPr>
          <p:cNvPr id="18" name="Shape 18"/>
          <p:cNvSpPr txBox="1"/>
          <p:nvPr/>
        </p:nvSpPr>
        <p:spPr>
          <a:xfrm>
            <a:off x="8223047" y="4431030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Doesn't make sense: she can't sell 2.75 shirts.</a:t>
            </a:r>
            <a:endParaRPr lang="en-US" sz="1575" dirty="0"/>
          </a:p>
        </p:txBody>
      </p:sp>
      <p:sp>
        <p:nvSpPr>
          <p:cNvPr id="20" name="Slide Number 20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6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0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5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6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0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1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Topic 1 Catch-Up · Lesson 6 · Activity 6.2 · Worked Example · SE p. 244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How many shirts to earn $100? Use the equation.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514334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E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15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endParaRPr lang="en-US" sz="232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084832"/>
            <a:ext cx="514334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b="1">
                <a:solidFill>
                  <a:srgbClr val="3050B8"/>
                </a:solidFill>
                <a:latin typeface="Cambria"/>
                <a:cs typeface="Cambria"/>
              </a:rPr>
              <a:t xml:space="preserve">100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15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551176"/>
            <a:ext cx="514334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100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/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15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endParaRPr lang="en-US" sz="2325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017520"/>
            <a:ext cx="514334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6.67 ≈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362548" y="1618488"/>
            <a:ext cx="5143348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6a.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What does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≈ 6.67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mean?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6362548" y="2103882"/>
            <a:ext cx="514334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6.67 shirts earns exactly $100. She can't sell part of a shirt: 6 shirts earn only $90, so she must sell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7 T-shirts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6362548" y="3012186"/>
            <a:ext cx="5143348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6b.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Why can you substitute 100 for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E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</a:t>
            </a: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6362548" y="3497580"/>
            <a:ext cx="51433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E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is the dollars earned. $100 is the dollars she wants to earn.</a:t>
            </a:r>
            <a:endParaRPr lang="en-US" sz="1575" dirty="0"/>
          </a:p>
        </p:txBody>
      </p:sp>
      <p:sp>
        <p:nvSpPr>
          <p:cNvPr id="12" name="Slide Number 12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7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Topic 1 Catch-Up · Lesson 6 · Activity 6.2 · Worked Example · SE p. 245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How many shirts to earn $100? Use the graph.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6248095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Graph each side of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100 = 15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as its own function: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100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15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 The solution is where they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intersect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267712"/>
            <a:ext cx="6248095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Intersection: </a:t>
            </a:r>
            <a:r>
              <a:rPr lang="en-US" sz="1575" dirty="0" b="1">
                <a:solidFill>
                  <a:srgbClr val="3050B8"/>
                </a:solidFill>
                <a:latin typeface="Cambria"/>
                <a:cs typeface="Cambria"/>
              </a:rPr>
              <a:t xml:space="preserve">(6.67, 100)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 On the graph, 6.67 shirts; in context,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7 shirts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916936"/>
            <a:ext cx="6248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7.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Limitations of each method?</a:t>
            </a:r>
            <a:endParaRPr lang="en-US" sz="1575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326130"/>
            <a:ext cx="6248095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Equation: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the answer may not make sense in context, so you must round up or down.</a:t>
            </a:r>
            <a:endParaRPr lang="en-US" sz="1575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3975354"/>
            <a:ext cx="6248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Graph: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it can be hard to read an exact answer.</a:t>
            </a:r>
            <a:endParaRPr lang="en-US" sz="1575" dirty="0"/>
          </a:p>
        </p:txBody>
      </p:sp>
      <p:sp>
        <p:nvSpPr>
          <p:cNvPr id="9" name="Shape 9"/>
          <p:cNvSpPr/>
          <p:nvPr/>
        </p:nvSpPr>
        <p:spPr>
          <a:xfrm>
            <a:off x="7314895" y="1618488"/>
            <a:ext cx="4191000" cy="4000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10" name="Line 10"/>
          <p:cNvCxnSpPr/>
          <p:nvPr/>
        </p:nvCxnSpPr>
        <p:spPr>
          <a:xfrm>
            <a:off x="7638745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1" name="Line 11"/>
          <p:cNvCxnSpPr/>
          <p:nvPr/>
        </p:nvCxnSpPr>
        <p:spPr>
          <a:xfrm>
            <a:off x="7809329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2" name="Line 12"/>
          <p:cNvCxnSpPr/>
          <p:nvPr/>
        </p:nvCxnSpPr>
        <p:spPr>
          <a:xfrm>
            <a:off x="7979913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3" name="Line 13"/>
          <p:cNvCxnSpPr/>
          <p:nvPr/>
        </p:nvCxnSpPr>
        <p:spPr>
          <a:xfrm>
            <a:off x="8150497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4" name="Line 14"/>
          <p:cNvCxnSpPr/>
          <p:nvPr/>
        </p:nvCxnSpPr>
        <p:spPr>
          <a:xfrm>
            <a:off x="8321082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5" name="Line 15"/>
          <p:cNvCxnSpPr/>
          <p:nvPr/>
        </p:nvCxnSpPr>
        <p:spPr>
          <a:xfrm>
            <a:off x="8491666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6" name="Line 16"/>
          <p:cNvCxnSpPr/>
          <p:nvPr/>
        </p:nvCxnSpPr>
        <p:spPr>
          <a:xfrm>
            <a:off x="8662250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7" name="Line 17"/>
          <p:cNvCxnSpPr/>
          <p:nvPr/>
        </p:nvCxnSpPr>
        <p:spPr>
          <a:xfrm>
            <a:off x="8832834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8" name="Line 18"/>
          <p:cNvCxnSpPr/>
          <p:nvPr/>
        </p:nvCxnSpPr>
        <p:spPr>
          <a:xfrm>
            <a:off x="9003418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9" name="Line 19"/>
          <p:cNvCxnSpPr/>
          <p:nvPr/>
        </p:nvCxnSpPr>
        <p:spPr>
          <a:xfrm>
            <a:off x="9174002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0" name="Line 20"/>
          <p:cNvCxnSpPr/>
          <p:nvPr/>
        </p:nvCxnSpPr>
        <p:spPr>
          <a:xfrm>
            <a:off x="9344586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1" name="Line 21"/>
          <p:cNvCxnSpPr/>
          <p:nvPr/>
        </p:nvCxnSpPr>
        <p:spPr>
          <a:xfrm>
            <a:off x="9515170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2" name="Line 22"/>
          <p:cNvCxnSpPr/>
          <p:nvPr/>
        </p:nvCxnSpPr>
        <p:spPr>
          <a:xfrm>
            <a:off x="9685754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3" name="Line 23"/>
          <p:cNvCxnSpPr/>
          <p:nvPr/>
        </p:nvCxnSpPr>
        <p:spPr>
          <a:xfrm>
            <a:off x="9856338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4" name="Line 24"/>
          <p:cNvCxnSpPr/>
          <p:nvPr/>
        </p:nvCxnSpPr>
        <p:spPr>
          <a:xfrm>
            <a:off x="10026922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5" name="Line 25"/>
          <p:cNvCxnSpPr/>
          <p:nvPr/>
        </p:nvCxnSpPr>
        <p:spPr>
          <a:xfrm>
            <a:off x="10197507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6" name="Line 26"/>
          <p:cNvCxnSpPr/>
          <p:nvPr/>
        </p:nvCxnSpPr>
        <p:spPr>
          <a:xfrm>
            <a:off x="10368091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7" name="Line 27"/>
          <p:cNvCxnSpPr/>
          <p:nvPr/>
        </p:nvCxnSpPr>
        <p:spPr>
          <a:xfrm>
            <a:off x="10538675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8" name="Line 28"/>
          <p:cNvCxnSpPr/>
          <p:nvPr/>
        </p:nvCxnSpPr>
        <p:spPr>
          <a:xfrm>
            <a:off x="10709259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9" name="Line 29"/>
          <p:cNvCxnSpPr/>
          <p:nvPr/>
        </p:nvCxnSpPr>
        <p:spPr>
          <a:xfrm>
            <a:off x="10879843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0" name="Line 30"/>
          <p:cNvCxnSpPr/>
          <p:nvPr/>
        </p:nvCxnSpPr>
        <p:spPr>
          <a:xfrm>
            <a:off x="11050427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1" name="Line 31"/>
          <p:cNvCxnSpPr/>
          <p:nvPr/>
        </p:nvCxnSpPr>
        <p:spPr>
          <a:xfrm>
            <a:off x="11221011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2" name="Line 32"/>
          <p:cNvCxnSpPr/>
          <p:nvPr/>
        </p:nvCxnSpPr>
        <p:spPr>
          <a:xfrm>
            <a:off x="11391595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3" name="Line 33"/>
          <p:cNvCxnSpPr/>
          <p:nvPr/>
        </p:nvCxnSpPr>
        <p:spPr>
          <a:xfrm>
            <a:off x="7638745" y="5371338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4" name="Line 34"/>
          <p:cNvCxnSpPr/>
          <p:nvPr/>
        </p:nvCxnSpPr>
        <p:spPr>
          <a:xfrm>
            <a:off x="7638745" y="5205949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5" name="Line 35"/>
          <p:cNvCxnSpPr/>
          <p:nvPr/>
        </p:nvCxnSpPr>
        <p:spPr>
          <a:xfrm>
            <a:off x="7638745" y="5040561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6" name="Line 36"/>
          <p:cNvCxnSpPr/>
          <p:nvPr/>
        </p:nvCxnSpPr>
        <p:spPr>
          <a:xfrm>
            <a:off x="7638745" y="4875172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7" name="Line 37"/>
          <p:cNvCxnSpPr/>
          <p:nvPr/>
        </p:nvCxnSpPr>
        <p:spPr>
          <a:xfrm>
            <a:off x="7638745" y="4709783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8" name="Line 38"/>
          <p:cNvCxnSpPr/>
          <p:nvPr/>
        </p:nvCxnSpPr>
        <p:spPr>
          <a:xfrm>
            <a:off x="7638745" y="4544395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9" name="Line 39"/>
          <p:cNvCxnSpPr/>
          <p:nvPr/>
        </p:nvCxnSpPr>
        <p:spPr>
          <a:xfrm>
            <a:off x="7638745" y="4379006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0" name="Line 40"/>
          <p:cNvCxnSpPr/>
          <p:nvPr/>
        </p:nvCxnSpPr>
        <p:spPr>
          <a:xfrm>
            <a:off x="7638745" y="4213618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1" name="Line 41"/>
          <p:cNvCxnSpPr/>
          <p:nvPr/>
        </p:nvCxnSpPr>
        <p:spPr>
          <a:xfrm>
            <a:off x="7638745" y="4048229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2" name="Line 42"/>
          <p:cNvCxnSpPr/>
          <p:nvPr/>
        </p:nvCxnSpPr>
        <p:spPr>
          <a:xfrm>
            <a:off x="7638745" y="3882840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3" name="Line 43"/>
          <p:cNvCxnSpPr/>
          <p:nvPr/>
        </p:nvCxnSpPr>
        <p:spPr>
          <a:xfrm>
            <a:off x="7638745" y="3717452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4" name="Line 44"/>
          <p:cNvCxnSpPr/>
          <p:nvPr/>
        </p:nvCxnSpPr>
        <p:spPr>
          <a:xfrm>
            <a:off x="7638745" y="3552063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5" name="Line 45"/>
          <p:cNvCxnSpPr/>
          <p:nvPr/>
        </p:nvCxnSpPr>
        <p:spPr>
          <a:xfrm>
            <a:off x="7638745" y="3386674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6" name="Line 46"/>
          <p:cNvCxnSpPr/>
          <p:nvPr/>
        </p:nvCxnSpPr>
        <p:spPr>
          <a:xfrm>
            <a:off x="7638745" y="3221286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7" name="Line 47"/>
          <p:cNvCxnSpPr/>
          <p:nvPr/>
        </p:nvCxnSpPr>
        <p:spPr>
          <a:xfrm>
            <a:off x="7638745" y="3055897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8" name="Line 48"/>
          <p:cNvCxnSpPr/>
          <p:nvPr/>
        </p:nvCxnSpPr>
        <p:spPr>
          <a:xfrm>
            <a:off x="7638745" y="2890508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9" name="Line 49"/>
          <p:cNvCxnSpPr/>
          <p:nvPr/>
        </p:nvCxnSpPr>
        <p:spPr>
          <a:xfrm>
            <a:off x="7638745" y="2725120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0" name="Line 50"/>
          <p:cNvCxnSpPr/>
          <p:nvPr/>
        </p:nvCxnSpPr>
        <p:spPr>
          <a:xfrm>
            <a:off x="7638745" y="2559731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1" name="Line 51"/>
          <p:cNvCxnSpPr/>
          <p:nvPr/>
        </p:nvCxnSpPr>
        <p:spPr>
          <a:xfrm>
            <a:off x="7638745" y="2394343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2" name="Line 52"/>
          <p:cNvCxnSpPr/>
          <p:nvPr/>
        </p:nvCxnSpPr>
        <p:spPr>
          <a:xfrm>
            <a:off x="7638745" y="2228954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3" name="Line 53"/>
          <p:cNvCxnSpPr/>
          <p:nvPr/>
        </p:nvCxnSpPr>
        <p:spPr>
          <a:xfrm>
            <a:off x="7638745" y="2063565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4" name="Line 54"/>
          <p:cNvCxnSpPr/>
          <p:nvPr/>
        </p:nvCxnSpPr>
        <p:spPr>
          <a:xfrm>
            <a:off x="7638745" y="1898177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5" name="Line 55"/>
          <p:cNvCxnSpPr/>
          <p:nvPr/>
        </p:nvCxnSpPr>
        <p:spPr>
          <a:xfrm>
            <a:off x="7638745" y="1732788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6" name="Line 56"/>
          <p:cNvCxnSpPr/>
          <p:nvPr/>
        </p:nvCxnSpPr>
        <p:spPr>
          <a:xfrm>
            <a:off x="8662250" y="1732788"/>
            <a:ext cx="0" cy="36385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57" name="Line 57"/>
          <p:cNvCxnSpPr/>
          <p:nvPr/>
        </p:nvCxnSpPr>
        <p:spPr>
          <a:xfrm>
            <a:off x="7638745" y="3552063"/>
            <a:ext cx="375285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58" name="Shape 58"/>
          <p:cNvSpPr txBox="1"/>
          <p:nvPr/>
        </p:nvSpPr>
        <p:spPr>
          <a:xfrm>
            <a:off x="7535009" y="5390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−5</a:t>
            </a:r>
            <a:endParaRPr lang="en-US" sz="975" dirty="0"/>
          </a:p>
        </p:txBody>
      </p:sp>
      <p:sp>
        <p:nvSpPr>
          <p:cNvPr id="59" name="Shape 59"/>
          <p:cNvSpPr txBox="1"/>
          <p:nvPr/>
        </p:nvSpPr>
        <p:spPr>
          <a:xfrm>
            <a:off x="8387930" y="5390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60" name="Shape 60"/>
          <p:cNvSpPr txBox="1"/>
          <p:nvPr/>
        </p:nvSpPr>
        <p:spPr>
          <a:xfrm>
            <a:off x="9240850" y="5390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5</a:t>
            </a:r>
            <a:endParaRPr lang="en-US" sz="975" dirty="0"/>
          </a:p>
        </p:txBody>
      </p:sp>
      <p:sp>
        <p:nvSpPr>
          <p:cNvPr id="61" name="Shape 61"/>
          <p:cNvSpPr txBox="1"/>
          <p:nvPr/>
        </p:nvSpPr>
        <p:spPr>
          <a:xfrm>
            <a:off x="10093771" y="5390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10</a:t>
            </a:r>
            <a:endParaRPr lang="en-US" sz="975" dirty="0"/>
          </a:p>
        </p:txBody>
      </p:sp>
      <p:sp>
        <p:nvSpPr>
          <p:cNvPr id="62" name="Shape 62"/>
          <p:cNvSpPr txBox="1"/>
          <p:nvPr/>
        </p:nvSpPr>
        <p:spPr>
          <a:xfrm>
            <a:off x="10946691" y="5390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15</a:t>
            </a:r>
            <a:endParaRPr lang="en-US" sz="975" dirty="0"/>
          </a:p>
        </p:txBody>
      </p:sp>
      <p:sp>
        <p:nvSpPr>
          <p:cNvPr id="63" name="Shape 63"/>
          <p:cNvSpPr txBox="1"/>
          <p:nvPr/>
        </p:nvSpPr>
        <p:spPr>
          <a:xfrm>
            <a:off x="7071817" y="5114509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−100</a:t>
            </a:r>
            <a:endParaRPr lang="en-US" sz="975" dirty="0"/>
          </a:p>
        </p:txBody>
      </p:sp>
      <p:sp>
        <p:nvSpPr>
          <p:cNvPr id="64" name="Shape 64"/>
          <p:cNvSpPr txBox="1"/>
          <p:nvPr/>
        </p:nvSpPr>
        <p:spPr>
          <a:xfrm>
            <a:off x="7071817" y="4287566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−50</a:t>
            </a:r>
            <a:endParaRPr lang="en-US" sz="975" dirty="0"/>
          </a:p>
        </p:txBody>
      </p:sp>
      <p:sp>
        <p:nvSpPr>
          <p:cNvPr id="65" name="Shape 65"/>
          <p:cNvSpPr txBox="1"/>
          <p:nvPr/>
        </p:nvSpPr>
        <p:spPr>
          <a:xfrm>
            <a:off x="7071817" y="346062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66" name="Shape 66"/>
          <p:cNvSpPr txBox="1"/>
          <p:nvPr/>
        </p:nvSpPr>
        <p:spPr>
          <a:xfrm>
            <a:off x="7071817" y="2633680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50</a:t>
            </a:r>
            <a:endParaRPr lang="en-US" sz="975" dirty="0"/>
          </a:p>
        </p:txBody>
      </p:sp>
      <p:sp>
        <p:nvSpPr>
          <p:cNvPr id="67" name="Shape 67"/>
          <p:cNvSpPr txBox="1"/>
          <p:nvPr/>
        </p:nvSpPr>
        <p:spPr>
          <a:xfrm>
            <a:off x="7071817" y="1806737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100</a:t>
            </a:r>
            <a:endParaRPr lang="en-US" sz="975" dirty="0"/>
          </a:p>
        </p:txBody>
      </p:sp>
      <p:cxnSp>
        <p:nvCxnSpPr>
          <p:cNvPr id="68" name="Line 68"/>
          <p:cNvCxnSpPr/>
          <p:nvPr/>
        </p:nvCxnSpPr>
        <p:spPr>
          <a:xfrm>
            <a:off x="7638745" y="1898177"/>
            <a:ext cx="3752850" cy="0"/>
          </a:xfrm>
          <a:prstGeom prst="line">
            <a:avLst/>
          </a:prstGeom>
          <a:ln w="38100" cap="rnd">
            <a:solidFill>
              <a:srgbClr val="16171D"/>
            </a:solidFill>
            <a:prstDash val="dash"/>
          </a:ln>
        </p:spPr>
      </p:cxnSp>
      <p:sp>
        <p:nvSpPr>
          <p:cNvPr id="69" name="Shape 69"/>
          <p:cNvSpPr txBox="1"/>
          <p:nvPr/>
        </p:nvSpPr>
        <p:spPr>
          <a:xfrm>
            <a:off x="8899855" y="1917227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y = 100</a:t>
            </a:r>
            <a:endParaRPr lang="en-US" sz="1275" dirty="0"/>
          </a:p>
        </p:txBody>
      </p:sp>
      <p:cxnSp>
        <p:nvCxnSpPr>
          <p:cNvPr id="70" name="Line 70"/>
          <p:cNvCxnSpPr/>
          <p:nvPr/>
        </p:nvCxnSpPr>
        <p:spPr>
          <a:xfrm flipV="1">
            <a:off x="7638745" y="1732788"/>
            <a:ext cx="2274455" cy="3307773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sp>
        <p:nvSpPr>
          <p:cNvPr id="71" name="Shape 71"/>
          <p:cNvSpPr txBox="1"/>
          <p:nvPr/>
        </p:nvSpPr>
        <p:spPr>
          <a:xfrm>
            <a:off x="7421460" y="175183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y = 15x</a:t>
            </a:r>
            <a:endParaRPr lang="en-US" sz="1275" dirty="0"/>
          </a:p>
        </p:txBody>
      </p:sp>
      <p:sp>
        <p:nvSpPr>
          <p:cNvPr id="72" name="Shape 72"/>
          <p:cNvSpPr/>
          <p:nvPr/>
        </p:nvSpPr>
        <p:spPr>
          <a:xfrm>
            <a:off x="9747658" y="1845789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3" name="Shape 73"/>
          <p:cNvSpPr txBox="1"/>
          <p:nvPr/>
        </p:nvSpPr>
        <p:spPr>
          <a:xfrm>
            <a:off x="9885771" y="1650527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(6.67, 100)</a:t>
            </a:r>
            <a:endParaRPr lang="en-US" sz="1125" dirty="0"/>
          </a:p>
        </p:txBody>
      </p:sp>
      <p:sp>
        <p:nvSpPr>
          <p:cNvPr id="74" name="Slide Number 74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8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210312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Topic 2 · Lesson 3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2512314"/>
            <a:ext cx="10820095" cy="13121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8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Back to Topic 2</a:t>
            </a:r>
            <a:endParaRPr lang="en-US" sz="82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3995928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Catch-up done. Now today's Topic 2 lesson.</a:t>
            </a:r>
            <a:endParaRPr lang="en-US" sz="2250" dirty="0"/>
          </a:p>
        </p:txBody>
      </p:sp>
      <p:sp>
        <p:nvSpPr>
          <p:cNvPr id="5" name="Slide Number 5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9</a:t>
            </a:fld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Lesson 3 · SE p. 305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Today you will…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56588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1. Identify and write the equations of lines perpendicular to given lines.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10388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2. Identify and write the equations of horizontal and vertical lines.</a:t>
            </a:r>
            <a:endParaRPr lang="en-US" sz="1950" dirty="0"/>
          </a:p>
        </p:txBody>
      </p:sp>
      <p:sp>
        <p:nvSpPr>
          <p:cNvPr id="6" name="Slide Number 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10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Essential Question · SE p. 305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11064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You have translated graphs of linear equations to find the slopes of parallel lines.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525268"/>
            <a:ext cx="10820095" cy="8778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700" dirty="0">
                <a:solidFill>
                  <a:srgbClr val="16171D"/>
                </a:solidFill>
                <a:latin typeface="Segoe UI"/>
                <a:cs typeface="Segoe UI"/>
              </a:rPr>
              <a:t xml:space="preserve">How can you rotate the graphs of linear equations to determine the slopes of perpendicular lines?</a:t>
            </a:r>
            <a:endParaRPr lang="en-US" sz="2700" dirty="0"/>
          </a:p>
        </p:txBody>
      </p:sp>
      <p:sp>
        <p:nvSpPr>
          <p:cNvPr id="5" name="Slide Number 5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11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Getting Started · Coordinate Rotation · SE p. 306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Rotate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(0, 0)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(8, 5)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, about the origin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5" name="Shape 5"/>
          <p:cNvSpPr txBox="1"/>
          <p:nvPr/>
        </p:nvSpPr>
        <p:spPr>
          <a:xfrm>
            <a:off x="1828800" y="1618488"/>
            <a:ext cx="1420368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Original</a:t>
            </a:r>
            <a:endParaRPr lang="en-US" sz="1650" dirty="0"/>
          </a:p>
        </p:txBody>
      </p:sp>
      <p:sp>
        <p:nvSpPr>
          <p:cNvPr id="6" name="Shape 6"/>
          <p:cNvSpPr txBox="1"/>
          <p:nvPr/>
        </p:nvSpPr>
        <p:spPr>
          <a:xfrm>
            <a:off x="3249168" y="1618488"/>
            <a:ext cx="1311402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90°</a:t>
            </a:r>
            <a:endParaRPr lang="en-US" sz="1650" dirty="0"/>
          </a:p>
        </p:txBody>
      </p:sp>
      <p:sp>
        <p:nvSpPr>
          <p:cNvPr id="7" name="Shape 7"/>
          <p:cNvSpPr txBox="1"/>
          <p:nvPr/>
        </p:nvSpPr>
        <p:spPr>
          <a:xfrm>
            <a:off x="4560570" y="1618488"/>
            <a:ext cx="1420368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180°</a:t>
            </a:r>
            <a:endParaRPr lang="en-US" sz="1650" dirty="0"/>
          </a:p>
        </p:txBody>
      </p:sp>
      <p:sp>
        <p:nvSpPr>
          <p:cNvPr id="8" name="Shape 8"/>
          <p:cNvSpPr txBox="1"/>
          <p:nvPr/>
        </p:nvSpPr>
        <p:spPr>
          <a:xfrm>
            <a:off x="5980938" y="1618488"/>
            <a:ext cx="1311402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270°</a:t>
            </a:r>
            <a:endParaRPr lang="en-US" sz="1650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20162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endParaRPr lang="en-US" sz="1650" dirty="0"/>
          </a:p>
        </p:txBody>
      </p:sp>
      <p:sp>
        <p:nvSpPr>
          <p:cNvPr id="10" name="Shape 10"/>
          <p:cNvSpPr txBox="1"/>
          <p:nvPr/>
        </p:nvSpPr>
        <p:spPr>
          <a:xfrm>
            <a:off x="1828800" y="2016252"/>
            <a:ext cx="1420368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(0, 0)</a:t>
            </a:r>
            <a:endParaRPr lang="en-US" sz="1650" dirty="0"/>
          </a:p>
        </p:txBody>
      </p:sp>
      <p:sp>
        <p:nvSpPr>
          <p:cNvPr id="11" name="Shape 11"/>
          <p:cNvSpPr txBox="1"/>
          <p:nvPr/>
        </p:nvSpPr>
        <p:spPr>
          <a:xfrm>
            <a:off x="3249168" y="2016252"/>
            <a:ext cx="1311402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12" name="Shape 12"/>
          <p:cNvSpPr txBox="1"/>
          <p:nvPr/>
        </p:nvSpPr>
        <p:spPr>
          <a:xfrm>
            <a:off x="3249168" y="2016252"/>
            <a:ext cx="1311402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(0, 0)</a:t>
            </a:r>
            <a:endParaRPr lang="en-US" sz="1650" dirty="0"/>
          </a:p>
        </p:txBody>
      </p:sp>
      <p:sp>
        <p:nvSpPr>
          <p:cNvPr id="13" name="Shape 13"/>
          <p:cNvSpPr txBox="1"/>
          <p:nvPr/>
        </p:nvSpPr>
        <p:spPr>
          <a:xfrm>
            <a:off x="4560570" y="2016252"/>
            <a:ext cx="1420368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14" name="Shape 14"/>
          <p:cNvSpPr txBox="1"/>
          <p:nvPr/>
        </p:nvSpPr>
        <p:spPr>
          <a:xfrm>
            <a:off x="4560570" y="2016252"/>
            <a:ext cx="1420368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(0, 0)</a:t>
            </a:r>
            <a:endParaRPr lang="en-US" sz="1650" dirty="0"/>
          </a:p>
        </p:txBody>
      </p:sp>
      <p:sp>
        <p:nvSpPr>
          <p:cNvPr id="15" name="Shape 15"/>
          <p:cNvSpPr txBox="1"/>
          <p:nvPr/>
        </p:nvSpPr>
        <p:spPr>
          <a:xfrm>
            <a:off x="5980938" y="2016252"/>
            <a:ext cx="1311402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16" name="Shape 16"/>
          <p:cNvSpPr txBox="1"/>
          <p:nvPr/>
        </p:nvSpPr>
        <p:spPr>
          <a:xfrm>
            <a:off x="5980938" y="2016252"/>
            <a:ext cx="1311402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(0, 0)</a:t>
            </a:r>
            <a:endParaRPr lang="en-US" sz="1650" dirty="0"/>
          </a:p>
        </p:txBody>
      </p:sp>
      <p:sp>
        <p:nvSpPr>
          <p:cNvPr id="17" name="Shape 17"/>
          <p:cNvSpPr txBox="1"/>
          <p:nvPr/>
        </p:nvSpPr>
        <p:spPr>
          <a:xfrm>
            <a:off x="685800" y="241401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endParaRPr lang="en-US" sz="1650" dirty="0"/>
          </a:p>
        </p:txBody>
      </p:sp>
      <p:sp>
        <p:nvSpPr>
          <p:cNvPr id="18" name="Shape 18"/>
          <p:cNvSpPr txBox="1"/>
          <p:nvPr/>
        </p:nvSpPr>
        <p:spPr>
          <a:xfrm>
            <a:off x="1828800" y="2414016"/>
            <a:ext cx="1420368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(8, 5)</a:t>
            </a:r>
            <a:endParaRPr lang="en-US" sz="1650" dirty="0"/>
          </a:p>
        </p:txBody>
      </p:sp>
      <p:sp>
        <p:nvSpPr>
          <p:cNvPr id="19" name="Shape 19"/>
          <p:cNvSpPr txBox="1"/>
          <p:nvPr/>
        </p:nvSpPr>
        <p:spPr>
          <a:xfrm>
            <a:off x="3249168" y="2414016"/>
            <a:ext cx="1311402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20" name="Shape 20"/>
          <p:cNvSpPr txBox="1"/>
          <p:nvPr/>
        </p:nvSpPr>
        <p:spPr>
          <a:xfrm>
            <a:off x="3249168" y="2414016"/>
            <a:ext cx="1311402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(−5, 8)</a:t>
            </a:r>
            <a:endParaRPr lang="en-US" sz="1650" dirty="0"/>
          </a:p>
        </p:txBody>
      </p:sp>
      <p:sp>
        <p:nvSpPr>
          <p:cNvPr id="21" name="Shape 21"/>
          <p:cNvSpPr txBox="1"/>
          <p:nvPr/>
        </p:nvSpPr>
        <p:spPr>
          <a:xfrm>
            <a:off x="4560570" y="2414016"/>
            <a:ext cx="1420368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22" name="Shape 22"/>
          <p:cNvSpPr txBox="1"/>
          <p:nvPr/>
        </p:nvSpPr>
        <p:spPr>
          <a:xfrm>
            <a:off x="4560570" y="2414016"/>
            <a:ext cx="1420368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(−8, −5)</a:t>
            </a:r>
            <a:endParaRPr lang="en-US" sz="1650" dirty="0"/>
          </a:p>
        </p:txBody>
      </p:sp>
      <p:sp>
        <p:nvSpPr>
          <p:cNvPr id="23" name="Shape 23"/>
          <p:cNvSpPr txBox="1"/>
          <p:nvPr/>
        </p:nvSpPr>
        <p:spPr>
          <a:xfrm>
            <a:off x="5980938" y="2414016"/>
            <a:ext cx="1311402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24" name="Shape 24"/>
          <p:cNvSpPr txBox="1"/>
          <p:nvPr/>
        </p:nvSpPr>
        <p:spPr>
          <a:xfrm>
            <a:off x="5980938" y="2414016"/>
            <a:ext cx="1311402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(5, −8)</a:t>
            </a:r>
            <a:endParaRPr lang="en-US" sz="1650" dirty="0"/>
          </a:p>
        </p:txBody>
      </p:sp>
      <p:sp>
        <p:nvSpPr>
          <p:cNvPr id="25" name="Shape 25"/>
          <p:cNvSpPr txBox="1"/>
          <p:nvPr/>
        </p:nvSpPr>
        <p:spPr>
          <a:xfrm>
            <a:off x="685800" y="2907030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Each 90° counterclockwise turn maps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to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(−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 A is the center, so it stays.</a:t>
            </a:r>
            <a:endParaRPr lang="en-US" sz="1575" dirty="0"/>
          </a:p>
        </p:txBody>
      </p:sp>
      <p:sp>
        <p:nvSpPr>
          <p:cNvPr id="26" name="Shape 26"/>
          <p:cNvSpPr txBox="1"/>
          <p:nvPr/>
        </p:nvSpPr>
        <p:spPr>
          <a:xfrm>
            <a:off x="685800" y="3537204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Slopes: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″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″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</a:t>
            </a:r>
            <a:r>
              <a:rPr lang="en-US" sz="1575" dirty="0" b="1">
                <a:solidFill>
                  <a:srgbClr val="C9561F"/>
                </a:solidFill>
                <a:latin typeface="Cambria"/>
                <a:cs typeface="Cambria"/>
              </a:rPr>
              <a:t xml:space="preserve">5/8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′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′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‴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‴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</a:t>
            </a:r>
            <a:r>
              <a:rPr lang="en-US" sz="1575" dirty="0" b="1">
                <a:solidFill>
                  <a:srgbClr val="C9561F"/>
                </a:solidFill>
                <a:latin typeface="Cambria"/>
                <a:cs typeface="Cambria"/>
              </a:rPr>
              <a:t xml:space="preserve">−8/5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27" name="Shape 27"/>
          <p:cNvSpPr txBox="1"/>
          <p:nvPr/>
        </p:nvSpPr>
        <p:spPr>
          <a:xfrm>
            <a:off x="685800" y="3927348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The two slopes are reciprocals with opposite signs: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(5/8)(−8/5) = −1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28" name="Shape 28"/>
          <p:cNvSpPr/>
          <p:nvPr/>
        </p:nvSpPr>
        <p:spPr>
          <a:xfrm>
            <a:off x="6286348" y="1618488"/>
            <a:ext cx="3143250" cy="3143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29" name="Line 29"/>
          <p:cNvCxnSpPr/>
          <p:nvPr/>
        </p:nvCxnSpPr>
        <p:spPr>
          <a:xfrm>
            <a:off x="661019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0" name="Line 30"/>
          <p:cNvCxnSpPr/>
          <p:nvPr/>
        </p:nvCxnSpPr>
        <p:spPr>
          <a:xfrm>
            <a:off x="6760481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1" name="Line 31"/>
          <p:cNvCxnSpPr/>
          <p:nvPr/>
        </p:nvCxnSpPr>
        <p:spPr>
          <a:xfrm>
            <a:off x="6910764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2" name="Line 32"/>
          <p:cNvCxnSpPr/>
          <p:nvPr/>
        </p:nvCxnSpPr>
        <p:spPr>
          <a:xfrm>
            <a:off x="706104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3" name="Line 33"/>
          <p:cNvCxnSpPr/>
          <p:nvPr/>
        </p:nvCxnSpPr>
        <p:spPr>
          <a:xfrm>
            <a:off x="7211331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4" name="Line 34"/>
          <p:cNvCxnSpPr/>
          <p:nvPr/>
        </p:nvCxnSpPr>
        <p:spPr>
          <a:xfrm>
            <a:off x="7361614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5" name="Line 35"/>
          <p:cNvCxnSpPr/>
          <p:nvPr/>
        </p:nvCxnSpPr>
        <p:spPr>
          <a:xfrm>
            <a:off x="751189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6" name="Line 36"/>
          <p:cNvCxnSpPr/>
          <p:nvPr/>
        </p:nvCxnSpPr>
        <p:spPr>
          <a:xfrm>
            <a:off x="7662181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7" name="Line 37"/>
          <p:cNvCxnSpPr/>
          <p:nvPr/>
        </p:nvCxnSpPr>
        <p:spPr>
          <a:xfrm>
            <a:off x="7812464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8" name="Line 38"/>
          <p:cNvCxnSpPr/>
          <p:nvPr/>
        </p:nvCxnSpPr>
        <p:spPr>
          <a:xfrm>
            <a:off x="796274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9" name="Line 39"/>
          <p:cNvCxnSpPr/>
          <p:nvPr/>
        </p:nvCxnSpPr>
        <p:spPr>
          <a:xfrm>
            <a:off x="8113031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0" name="Line 40"/>
          <p:cNvCxnSpPr/>
          <p:nvPr/>
        </p:nvCxnSpPr>
        <p:spPr>
          <a:xfrm>
            <a:off x="8263314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1" name="Line 41"/>
          <p:cNvCxnSpPr/>
          <p:nvPr/>
        </p:nvCxnSpPr>
        <p:spPr>
          <a:xfrm>
            <a:off x="841359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2" name="Line 42"/>
          <p:cNvCxnSpPr/>
          <p:nvPr/>
        </p:nvCxnSpPr>
        <p:spPr>
          <a:xfrm>
            <a:off x="8563881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3" name="Line 43"/>
          <p:cNvCxnSpPr/>
          <p:nvPr/>
        </p:nvCxnSpPr>
        <p:spPr>
          <a:xfrm>
            <a:off x="8714164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4" name="Line 44"/>
          <p:cNvCxnSpPr/>
          <p:nvPr/>
        </p:nvCxnSpPr>
        <p:spPr>
          <a:xfrm>
            <a:off x="886444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5" name="Line 45"/>
          <p:cNvCxnSpPr/>
          <p:nvPr/>
        </p:nvCxnSpPr>
        <p:spPr>
          <a:xfrm>
            <a:off x="9014731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6" name="Line 46"/>
          <p:cNvCxnSpPr/>
          <p:nvPr/>
        </p:nvCxnSpPr>
        <p:spPr>
          <a:xfrm>
            <a:off x="9165014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7" name="Line 47"/>
          <p:cNvCxnSpPr/>
          <p:nvPr/>
        </p:nvCxnSpPr>
        <p:spPr>
          <a:xfrm>
            <a:off x="9315298" y="1732788"/>
            <a:ext cx="0" cy="27813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8" name="Line 48"/>
          <p:cNvCxnSpPr/>
          <p:nvPr/>
        </p:nvCxnSpPr>
        <p:spPr>
          <a:xfrm>
            <a:off x="6610198" y="451408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9" name="Line 49"/>
          <p:cNvCxnSpPr/>
          <p:nvPr/>
        </p:nvCxnSpPr>
        <p:spPr>
          <a:xfrm>
            <a:off x="6610198" y="4359571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0" name="Line 50"/>
          <p:cNvCxnSpPr/>
          <p:nvPr/>
        </p:nvCxnSpPr>
        <p:spPr>
          <a:xfrm>
            <a:off x="6610198" y="4205055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1" name="Line 51"/>
          <p:cNvCxnSpPr/>
          <p:nvPr/>
        </p:nvCxnSpPr>
        <p:spPr>
          <a:xfrm>
            <a:off x="6610198" y="405053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2" name="Line 52"/>
          <p:cNvCxnSpPr/>
          <p:nvPr/>
        </p:nvCxnSpPr>
        <p:spPr>
          <a:xfrm>
            <a:off x="6610198" y="3896021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3" name="Line 53"/>
          <p:cNvCxnSpPr/>
          <p:nvPr/>
        </p:nvCxnSpPr>
        <p:spPr>
          <a:xfrm>
            <a:off x="6610198" y="3741505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4" name="Line 54"/>
          <p:cNvCxnSpPr/>
          <p:nvPr/>
        </p:nvCxnSpPr>
        <p:spPr>
          <a:xfrm>
            <a:off x="6610198" y="358698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5" name="Line 55"/>
          <p:cNvCxnSpPr/>
          <p:nvPr/>
        </p:nvCxnSpPr>
        <p:spPr>
          <a:xfrm>
            <a:off x="6610198" y="3432471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6" name="Line 56"/>
          <p:cNvCxnSpPr/>
          <p:nvPr/>
        </p:nvCxnSpPr>
        <p:spPr>
          <a:xfrm>
            <a:off x="6610198" y="3277955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7" name="Line 57"/>
          <p:cNvCxnSpPr/>
          <p:nvPr/>
        </p:nvCxnSpPr>
        <p:spPr>
          <a:xfrm>
            <a:off x="6610198" y="312343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8" name="Line 58"/>
          <p:cNvCxnSpPr/>
          <p:nvPr/>
        </p:nvCxnSpPr>
        <p:spPr>
          <a:xfrm>
            <a:off x="6610198" y="2968921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9" name="Line 59"/>
          <p:cNvCxnSpPr/>
          <p:nvPr/>
        </p:nvCxnSpPr>
        <p:spPr>
          <a:xfrm>
            <a:off x="6610198" y="2814405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0" name="Line 60"/>
          <p:cNvCxnSpPr/>
          <p:nvPr/>
        </p:nvCxnSpPr>
        <p:spPr>
          <a:xfrm>
            <a:off x="6610198" y="265988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1" name="Line 61"/>
          <p:cNvCxnSpPr/>
          <p:nvPr/>
        </p:nvCxnSpPr>
        <p:spPr>
          <a:xfrm>
            <a:off x="6610198" y="2505371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2" name="Line 62"/>
          <p:cNvCxnSpPr/>
          <p:nvPr/>
        </p:nvCxnSpPr>
        <p:spPr>
          <a:xfrm>
            <a:off x="6610198" y="2350855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3" name="Line 63"/>
          <p:cNvCxnSpPr/>
          <p:nvPr/>
        </p:nvCxnSpPr>
        <p:spPr>
          <a:xfrm>
            <a:off x="6610198" y="219633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4" name="Line 64"/>
          <p:cNvCxnSpPr/>
          <p:nvPr/>
        </p:nvCxnSpPr>
        <p:spPr>
          <a:xfrm>
            <a:off x="6610198" y="2041821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5" name="Line 65"/>
          <p:cNvCxnSpPr/>
          <p:nvPr/>
        </p:nvCxnSpPr>
        <p:spPr>
          <a:xfrm>
            <a:off x="6610198" y="1887305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6" name="Line 66"/>
          <p:cNvCxnSpPr/>
          <p:nvPr/>
        </p:nvCxnSpPr>
        <p:spPr>
          <a:xfrm>
            <a:off x="6610198" y="173278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7" name="Line 67"/>
          <p:cNvCxnSpPr/>
          <p:nvPr/>
        </p:nvCxnSpPr>
        <p:spPr>
          <a:xfrm>
            <a:off x="7962748" y="1732788"/>
            <a:ext cx="0" cy="278130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68" name="Line 68"/>
          <p:cNvCxnSpPr/>
          <p:nvPr/>
        </p:nvCxnSpPr>
        <p:spPr>
          <a:xfrm>
            <a:off x="6610198" y="3123438"/>
            <a:ext cx="270510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69" name="Shape 69"/>
          <p:cNvSpPr txBox="1"/>
          <p:nvPr/>
        </p:nvSpPr>
        <p:spPr>
          <a:xfrm>
            <a:off x="6335878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−9</a:t>
            </a:r>
            <a:endParaRPr lang="en-US" sz="975" dirty="0"/>
          </a:p>
        </p:txBody>
      </p:sp>
      <p:sp>
        <p:nvSpPr>
          <p:cNvPr id="70" name="Shape 70"/>
          <p:cNvSpPr txBox="1"/>
          <p:nvPr/>
        </p:nvSpPr>
        <p:spPr>
          <a:xfrm>
            <a:off x="6786728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−6</a:t>
            </a:r>
            <a:endParaRPr lang="en-US" sz="975" dirty="0"/>
          </a:p>
        </p:txBody>
      </p:sp>
      <p:sp>
        <p:nvSpPr>
          <p:cNvPr id="71" name="Shape 71"/>
          <p:cNvSpPr txBox="1"/>
          <p:nvPr/>
        </p:nvSpPr>
        <p:spPr>
          <a:xfrm>
            <a:off x="7237578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−3</a:t>
            </a:r>
            <a:endParaRPr lang="en-US" sz="975" dirty="0"/>
          </a:p>
        </p:txBody>
      </p:sp>
      <p:sp>
        <p:nvSpPr>
          <p:cNvPr id="72" name="Shape 72"/>
          <p:cNvSpPr txBox="1"/>
          <p:nvPr/>
        </p:nvSpPr>
        <p:spPr>
          <a:xfrm>
            <a:off x="7688428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73" name="Shape 73"/>
          <p:cNvSpPr txBox="1"/>
          <p:nvPr/>
        </p:nvSpPr>
        <p:spPr>
          <a:xfrm>
            <a:off x="8139278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3</a:t>
            </a:r>
            <a:endParaRPr lang="en-US" sz="975" dirty="0"/>
          </a:p>
        </p:txBody>
      </p:sp>
      <p:sp>
        <p:nvSpPr>
          <p:cNvPr id="74" name="Shape 74"/>
          <p:cNvSpPr txBox="1"/>
          <p:nvPr/>
        </p:nvSpPr>
        <p:spPr>
          <a:xfrm>
            <a:off x="8590128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75" name="Shape 75"/>
          <p:cNvSpPr txBox="1"/>
          <p:nvPr/>
        </p:nvSpPr>
        <p:spPr>
          <a:xfrm>
            <a:off x="9040978" y="453313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9</a:t>
            </a:r>
            <a:endParaRPr lang="en-US" sz="975" dirty="0"/>
          </a:p>
        </p:txBody>
      </p:sp>
      <p:sp>
        <p:nvSpPr>
          <p:cNvPr id="76" name="Shape 76"/>
          <p:cNvSpPr txBox="1"/>
          <p:nvPr/>
        </p:nvSpPr>
        <p:spPr>
          <a:xfrm>
            <a:off x="6043270" y="44226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−9</a:t>
            </a:r>
            <a:endParaRPr lang="en-US" sz="975" dirty="0"/>
          </a:p>
        </p:txBody>
      </p:sp>
      <p:sp>
        <p:nvSpPr>
          <p:cNvPr id="77" name="Shape 77"/>
          <p:cNvSpPr txBox="1"/>
          <p:nvPr/>
        </p:nvSpPr>
        <p:spPr>
          <a:xfrm>
            <a:off x="6043270" y="39590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−6</a:t>
            </a:r>
            <a:endParaRPr lang="en-US" sz="975" dirty="0"/>
          </a:p>
        </p:txBody>
      </p:sp>
      <p:sp>
        <p:nvSpPr>
          <p:cNvPr id="78" name="Shape 78"/>
          <p:cNvSpPr txBox="1"/>
          <p:nvPr/>
        </p:nvSpPr>
        <p:spPr>
          <a:xfrm>
            <a:off x="6043270" y="34955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−3</a:t>
            </a:r>
            <a:endParaRPr lang="en-US" sz="975" dirty="0"/>
          </a:p>
        </p:txBody>
      </p:sp>
      <p:sp>
        <p:nvSpPr>
          <p:cNvPr id="79" name="Shape 79"/>
          <p:cNvSpPr txBox="1"/>
          <p:nvPr/>
        </p:nvSpPr>
        <p:spPr>
          <a:xfrm>
            <a:off x="6043270" y="30319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80" name="Shape 80"/>
          <p:cNvSpPr txBox="1"/>
          <p:nvPr/>
        </p:nvSpPr>
        <p:spPr>
          <a:xfrm>
            <a:off x="6043270" y="25684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3</a:t>
            </a:r>
            <a:endParaRPr lang="en-US" sz="975" dirty="0"/>
          </a:p>
        </p:txBody>
      </p:sp>
      <p:sp>
        <p:nvSpPr>
          <p:cNvPr id="81" name="Shape 81"/>
          <p:cNvSpPr txBox="1"/>
          <p:nvPr/>
        </p:nvSpPr>
        <p:spPr>
          <a:xfrm>
            <a:off x="6043270" y="21048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82" name="Shape 82"/>
          <p:cNvSpPr txBox="1"/>
          <p:nvPr/>
        </p:nvSpPr>
        <p:spPr>
          <a:xfrm>
            <a:off x="6043270" y="16413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9</a:t>
            </a:r>
            <a:endParaRPr lang="en-US" sz="975" dirty="0"/>
          </a:p>
        </p:txBody>
      </p:sp>
      <p:cxnSp>
        <p:nvCxnSpPr>
          <p:cNvPr id="83" name="Line 83"/>
          <p:cNvCxnSpPr/>
          <p:nvPr/>
        </p:nvCxnSpPr>
        <p:spPr>
          <a:xfrm flipV="1">
            <a:off x="7962748" y="2350855"/>
            <a:ext cx="1202267" cy="772583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cxnSp>
        <p:nvCxnSpPr>
          <p:cNvPr id="84" name="Line 84"/>
          <p:cNvCxnSpPr/>
          <p:nvPr/>
        </p:nvCxnSpPr>
        <p:spPr>
          <a:xfrm>
            <a:off x="7211331" y="1887305"/>
            <a:ext cx="751417" cy="1236133"/>
          </a:xfrm>
          <a:prstGeom prst="line">
            <a:avLst/>
          </a:prstGeom>
          <a:ln w="38100" cap="rnd">
            <a:solidFill>
              <a:srgbClr val="4F8A3C"/>
            </a:solidFill>
          </a:ln>
        </p:spPr>
      </p:cxnSp>
      <p:cxnSp>
        <p:nvCxnSpPr>
          <p:cNvPr id="85" name="Line 85"/>
          <p:cNvCxnSpPr/>
          <p:nvPr/>
        </p:nvCxnSpPr>
        <p:spPr>
          <a:xfrm flipV="1">
            <a:off x="6760481" y="3123438"/>
            <a:ext cx="1202267" cy="772583"/>
          </a:xfrm>
          <a:prstGeom prst="line">
            <a:avLst/>
          </a:prstGeom>
          <a:ln w="38100" cap="rnd">
            <a:solidFill>
              <a:srgbClr val="7A4FC4"/>
            </a:solidFill>
          </a:ln>
        </p:spPr>
      </p:cxnSp>
      <p:cxnSp>
        <p:nvCxnSpPr>
          <p:cNvPr id="86" name="Line 86"/>
          <p:cNvCxnSpPr/>
          <p:nvPr/>
        </p:nvCxnSpPr>
        <p:spPr>
          <a:xfrm>
            <a:off x="7962748" y="3123438"/>
            <a:ext cx="751417" cy="1236133"/>
          </a:xfrm>
          <a:prstGeom prst="line">
            <a:avLst/>
          </a:prstGeom>
          <a:ln w="38100" cap="rnd">
            <a:solidFill>
              <a:srgbClr val="4F8A3C"/>
            </a:solidFill>
          </a:ln>
        </p:spPr>
      </p:cxnSp>
      <p:sp>
        <p:nvSpPr>
          <p:cNvPr id="87" name="Shape 87"/>
          <p:cNvSpPr/>
          <p:nvPr/>
        </p:nvSpPr>
        <p:spPr>
          <a:xfrm>
            <a:off x="9112627" y="2298467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88" name="Shape 88"/>
          <p:cNvSpPr txBox="1"/>
          <p:nvPr/>
        </p:nvSpPr>
        <p:spPr>
          <a:xfrm>
            <a:off x="9250739" y="2103205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B</a:t>
            </a:r>
            <a:endParaRPr lang="en-US" sz="1125" dirty="0"/>
          </a:p>
        </p:txBody>
      </p:sp>
      <p:sp>
        <p:nvSpPr>
          <p:cNvPr id="89" name="Shape 89"/>
          <p:cNvSpPr/>
          <p:nvPr/>
        </p:nvSpPr>
        <p:spPr>
          <a:xfrm>
            <a:off x="7158943" y="1834917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90" name="Shape 90"/>
          <p:cNvSpPr txBox="1"/>
          <p:nvPr/>
        </p:nvSpPr>
        <p:spPr>
          <a:xfrm>
            <a:off x="7297056" y="1639655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B′</a:t>
            </a:r>
            <a:endParaRPr lang="en-US" sz="1125" dirty="0"/>
          </a:p>
        </p:txBody>
      </p:sp>
      <p:sp>
        <p:nvSpPr>
          <p:cNvPr id="91" name="Shape 91"/>
          <p:cNvSpPr/>
          <p:nvPr/>
        </p:nvSpPr>
        <p:spPr>
          <a:xfrm>
            <a:off x="6708093" y="3843634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92" name="Shape 92"/>
          <p:cNvSpPr txBox="1"/>
          <p:nvPr/>
        </p:nvSpPr>
        <p:spPr>
          <a:xfrm>
            <a:off x="6846206" y="3648371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B″</a:t>
            </a:r>
            <a:endParaRPr lang="en-US" sz="1125" dirty="0"/>
          </a:p>
        </p:txBody>
      </p:sp>
      <p:sp>
        <p:nvSpPr>
          <p:cNvPr id="93" name="Shape 93"/>
          <p:cNvSpPr/>
          <p:nvPr/>
        </p:nvSpPr>
        <p:spPr>
          <a:xfrm>
            <a:off x="8661777" y="4307184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94" name="Shape 94"/>
          <p:cNvSpPr txBox="1"/>
          <p:nvPr/>
        </p:nvSpPr>
        <p:spPr>
          <a:xfrm>
            <a:off x="8799889" y="4111921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B‴</a:t>
            </a:r>
            <a:endParaRPr lang="en-US" sz="1125" dirty="0"/>
          </a:p>
        </p:txBody>
      </p:sp>
      <p:sp>
        <p:nvSpPr>
          <p:cNvPr id="95" name="Slide Number 95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12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7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7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7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Activity 3.1 · Slopes of Perpendicular Lines · SE p. 307 · ★ Essential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 line and its 90° rotation</a:t>
            </a:r>
            <a:endParaRPr lang="en-US" sz="34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1618488"/>
            <a:ext cx="3479698" cy="19461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789938"/>
            <a:ext cx="30605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Pair A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260092"/>
            <a:ext cx="2742194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895350" y="2874264"/>
            <a:ext cx="290802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2325" dirty="0"/>
          </a:p>
        </p:txBody>
      </p:sp>
      <p:sp>
        <p:nvSpPr>
          <p:cNvPr id="11" name="Shape 11"/>
          <p:cNvSpPr txBox="1"/>
          <p:nvPr/>
        </p:nvSpPr>
        <p:spPr>
          <a:xfrm>
            <a:off x="4355998" y="1618488"/>
            <a:ext cx="3479698" cy="2654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4565548" y="1789938"/>
            <a:ext cx="30605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Pair B</a:t>
            </a:r>
            <a:endParaRPr lang="en-US" sz="2100" dirty="0"/>
          </a:p>
        </p:txBody>
      </p:sp>
      <p:sp>
        <p:nvSpPr>
          <p:cNvPr id="9" name="Shape 9"/>
          <p:cNvSpPr txBox="1"/>
          <p:nvPr/>
        </p:nvSpPr>
        <p:spPr>
          <a:xfrm>
            <a:off x="4565548" y="2260092"/>
            <a:ext cx="306059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⅓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+ 5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4565548" y="3228594"/>
            <a:ext cx="306059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−3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+ 5</a:t>
            </a:r>
            <a:endParaRPr lang="en-US" sz="2325" dirty="0"/>
          </a:p>
        </p:txBody>
      </p:sp>
      <p:sp>
        <p:nvSpPr>
          <p:cNvPr id="15" name="Shape 15"/>
          <p:cNvSpPr txBox="1"/>
          <p:nvPr/>
        </p:nvSpPr>
        <p:spPr>
          <a:xfrm>
            <a:off x="8026197" y="1618488"/>
            <a:ext cx="3479698" cy="2654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2" name="Shape 12"/>
          <p:cNvSpPr txBox="1"/>
          <p:nvPr/>
        </p:nvSpPr>
        <p:spPr>
          <a:xfrm>
            <a:off x="8235747" y="1789938"/>
            <a:ext cx="30605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Pair C</a:t>
            </a:r>
            <a:endParaRPr lang="en-US" sz="2100" dirty="0"/>
          </a:p>
        </p:txBody>
      </p:sp>
      <p:sp>
        <p:nvSpPr>
          <p:cNvPr id="13" name="Shape 13"/>
          <p:cNvSpPr txBox="1"/>
          <p:nvPr/>
        </p:nvSpPr>
        <p:spPr>
          <a:xfrm>
            <a:off x="8235747" y="2260092"/>
            <a:ext cx="306059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−⅔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+ 9</a:t>
            </a:r>
            <a:endParaRPr lang="en-US" sz="2325" dirty="0"/>
          </a:p>
        </p:txBody>
      </p:sp>
      <p:sp>
        <p:nvSpPr>
          <p:cNvPr id="14" name="Shape 14"/>
          <p:cNvSpPr txBox="1"/>
          <p:nvPr/>
        </p:nvSpPr>
        <p:spPr>
          <a:xfrm>
            <a:off x="8235747" y="3228594"/>
            <a:ext cx="306059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3/2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− 4</a:t>
            </a:r>
            <a:endParaRPr lang="en-US" sz="2325" dirty="0"/>
          </a:p>
        </p:txBody>
      </p:sp>
      <p:sp>
        <p:nvSpPr>
          <p:cNvPr id="16" name="Shape 16"/>
          <p:cNvSpPr txBox="1"/>
          <p:nvPr/>
        </p:nvSpPr>
        <p:spPr>
          <a:xfrm>
            <a:off x="685800" y="4444746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Each line is rotated 90°, so the lines meet at a right angle: they are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perpendicular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17" name="Shape 17"/>
          <p:cNvSpPr txBox="1"/>
          <p:nvPr/>
        </p:nvSpPr>
        <p:spPr>
          <a:xfrm>
            <a:off x="685800" y="4911090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The slopes of each pair are reciprocals with opposite signs.</a:t>
            </a:r>
            <a:endParaRPr lang="en-US" sz="1575" dirty="0"/>
          </a:p>
        </p:txBody>
      </p:sp>
      <p:sp>
        <p:nvSpPr>
          <p:cNvPr id="18" name="Slide Number 18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13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Activity 3.1 · Worked Example · SE p. 308 · ★ Essential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11064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Proof: perpendicular slopes are negative reciprocals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144268"/>
            <a:ext cx="5219548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Given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p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⊥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q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 Point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R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,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is on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p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610612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Rotate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R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90° counterclockwise about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O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it lands on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q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at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(−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259836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Slope of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p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</a:t>
            </a:r>
            <a:r>
              <a:rPr lang="en-US" sz="1575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m</a:t>
            </a:r>
            <a:r>
              <a:rPr lang="en-US" sz="1575" dirty="0" b="1">
                <a:solidFill>
                  <a:srgbClr val="C9561F"/>
                </a:solidFill>
                <a:latin typeface="Cambria"/>
                <a:cs typeface="Cambria"/>
              </a:rPr>
              <a:t xml:space="preserve">₁ = </a:t>
            </a:r>
            <a:r>
              <a:rPr lang="en-US" sz="1575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 b="1">
                <a:solidFill>
                  <a:srgbClr val="C9561F"/>
                </a:solidFill>
                <a:latin typeface="Cambria"/>
                <a:cs typeface="Cambria"/>
              </a:rPr>
              <a:t xml:space="preserve">/</a:t>
            </a:r>
            <a:r>
              <a:rPr lang="en-US" sz="1575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 Slope of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q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</a:t>
            </a:r>
            <a:r>
              <a:rPr lang="en-US" sz="1575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m</a:t>
            </a:r>
            <a:r>
              <a:rPr lang="en-US" sz="1575" dirty="0" b="1">
                <a:solidFill>
                  <a:srgbClr val="C9561F"/>
                </a:solidFill>
                <a:latin typeface="Cambria"/>
                <a:cs typeface="Cambria"/>
              </a:rPr>
              <a:t xml:space="preserve">₂ = </a:t>
            </a:r>
            <a:r>
              <a:rPr lang="en-US" sz="1575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 b="1">
                <a:solidFill>
                  <a:srgbClr val="C9561F"/>
                </a:solidFill>
                <a:latin typeface="Cambria"/>
                <a:cs typeface="Cambria"/>
              </a:rPr>
              <a:t xml:space="preserve">/(−</a:t>
            </a:r>
            <a:r>
              <a:rPr lang="en-US" sz="1575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 b="1">
                <a:solidFill>
                  <a:srgbClr val="C9561F"/>
                </a:solidFill>
                <a:latin typeface="Cambria"/>
                <a:cs typeface="Cambria"/>
              </a:rPr>
              <a:t xml:space="preserve">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669030"/>
            <a:ext cx="521954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−1/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₂ = −1 · (−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/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/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₁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4192524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So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₁ = −1/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₂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and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₁ ·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₂ = −1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9" name="Shape 9"/>
          <p:cNvSpPr/>
          <p:nvPr/>
        </p:nvSpPr>
        <p:spPr>
          <a:xfrm>
            <a:off x="6286348" y="2144268"/>
            <a:ext cx="32385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10" name="Line 10"/>
          <p:cNvCxnSpPr/>
          <p:nvPr/>
        </p:nvCxnSpPr>
        <p:spPr>
          <a:xfrm>
            <a:off x="6610198" y="225856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1" name="Line 11"/>
          <p:cNvCxnSpPr/>
          <p:nvPr/>
        </p:nvCxnSpPr>
        <p:spPr>
          <a:xfrm>
            <a:off x="6890233" y="225856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2" name="Line 12"/>
          <p:cNvCxnSpPr/>
          <p:nvPr/>
        </p:nvCxnSpPr>
        <p:spPr>
          <a:xfrm>
            <a:off x="7170268" y="225856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3" name="Line 13"/>
          <p:cNvCxnSpPr/>
          <p:nvPr/>
        </p:nvCxnSpPr>
        <p:spPr>
          <a:xfrm>
            <a:off x="7450303" y="225856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4" name="Line 14"/>
          <p:cNvCxnSpPr/>
          <p:nvPr/>
        </p:nvCxnSpPr>
        <p:spPr>
          <a:xfrm>
            <a:off x="7730338" y="225856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5" name="Line 15"/>
          <p:cNvCxnSpPr/>
          <p:nvPr/>
        </p:nvCxnSpPr>
        <p:spPr>
          <a:xfrm>
            <a:off x="8010373" y="225856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6" name="Line 16"/>
          <p:cNvCxnSpPr/>
          <p:nvPr/>
        </p:nvCxnSpPr>
        <p:spPr>
          <a:xfrm>
            <a:off x="8290408" y="225856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7" name="Line 17"/>
          <p:cNvCxnSpPr/>
          <p:nvPr/>
        </p:nvCxnSpPr>
        <p:spPr>
          <a:xfrm>
            <a:off x="8570443" y="225856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8" name="Line 18"/>
          <p:cNvCxnSpPr/>
          <p:nvPr/>
        </p:nvCxnSpPr>
        <p:spPr>
          <a:xfrm>
            <a:off x="8850478" y="225856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9" name="Line 19"/>
          <p:cNvCxnSpPr/>
          <p:nvPr/>
        </p:nvCxnSpPr>
        <p:spPr>
          <a:xfrm>
            <a:off x="9130513" y="225856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0" name="Line 20"/>
          <p:cNvCxnSpPr/>
          <p:nvPr/>
        </p:nvCxnSpPr>
        <p:spPr>
          <a:xfrm>
            <a:off x="9410548" y="225856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1" name="Line 21"/>
          <p:cNvCxnSpPr/>
          <p:nvPr/>
        </p:nvCxnSpPr>
        <p:spPr>
          <a:xfrm>
            <a:off x="6610198" y="4754118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2" name="Line 22"/>
          <p:cNvCxnSpPr/>
          <p:nvPr/>
        </p:nvCxnSpPr>
        <p:spPr>
          <a:xfrm>
            <a:off x="6610198" y="4442174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3" name="Line 23"/>
          <p:cNvCxnSpPr/>
          <p:nvPr/>
        </p:nvCxnSpPr>
        <p:spPr>
          <a:xfrm>
            <a:off x="6610198" y="4130230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4" name="Line 24"/>
          <p:cNvCxnSpPr/>
          <p:nvPr/>
        </p:nvCxnSpPr>
        <p:spPr>
          <a:xfrm>
            <a:off x="6610198" y="3818287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5" name="Line 25"/>
          <p:cNvCxnSpPr/>
          <p:nvPr/>
        </p:nvCxnSpPr>
        <p:spPr>
          <a:xfrm>
            <a:off x="6610198" y="3506343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6" name="Line 26"/>
          <p:cNvCxnSpPr/>
          <p:nvPr/>
        </p:nvCxnSpPr>
        <p:spPr>
          <a:xfrm>
            <a:off x="6610198" y="3194399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7" name="Line 27"/>
          <p:cNvCxnSpPr/>
          <p:nvPr/>
        </p:nvCxnSpPr>
        <p:spPr>
          <a:xfrm>
            <a:off x="6610198" y="2882455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8" name="Line 28"/>
          <p:cNvCxnSpPr/>
          <p:nvPr/>
        </p:nvCxnSpPr>
        <p:spPr>
          <a:xfrm>
            <a:off x="6610198" y="2570512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9" name="Line 29"/>
          <p:cNvCxnSpPr/>
          <p:nvPr/>
        </p:nvCxnSpPr>
        <p:spPr>
          <a:xfrm>
            <a:off x="6610198" y="2258568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0" name="Line 30"/>
          <p:cNvCxnSpPr/>
          <p:nvPr/>
        </p:nvCxnSpPr>
        <p:spPr>
          <a:xfrm>
            <a:off x="7730338" y="2258568"/>
            <a:ext cx="0" cy="24955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31" name="Line 31"/>
          <p:cNvCxnSpPr/>
          <p:nvPr/>
        </p:nvCxnSpPr>
        <p:spPr>
          <a:xfrm>
            <a:off x="6610198" y="3506343"/>
            <a:ext cx="280035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32" name="Shape 32"/>
          <p:cNvSpPr txBox="1"/>
          <p:nvPr/>
        </p:nvSpPr>
        <p:spPr>
          <a:xfrm>
            <a:off x="6335878" y="47731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33" name="Shape 33"/>
          <p:cNvSpPr txBox="1"/>
          <p:nvPr/>
        </p:nvSpPr>
        <p:spPr>
          <a:xfrm>
            <a:off x="6615913" y="47731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−3</a:t>
            </a:r>
            <a:endParaRPr lang="en-US" sz="975" dirty="0"/>
          </a:p>
        </p:txBody>
      </p:sp>
      <p:sp>
        <p:nvSpPr>
          <p:cNvPr id="34" name="Shape 34"/>
          <p:cNvSpPr txBox="1"/>
          <p:nvPr/>
        </p:nvSpPr>
        <p:spPr>
          <a:xfrm>
            <a:off x="6895948" y="47731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35" name="Shape 35"/>
          <p:cNvSpPr txBox="1"/>
          <p:nvPr/>
        </p:nvSpPr>
        <p:spPr>
          <a:xfrm>
            <a:off x="7175983" y="47731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−1</a:t>
            </a:r>
            <a:endParaRPr lang="en-US" sz="975" dirty="0"/>
          </a:p>
        </p:txBody>
      </p:sp>
      <p:sp>
        <p:nvSpPr>
          <p:cNvPr id="36" name="Shape 36"/>
          <p:cNvSpPr txBox="1"/>
          <p:nvPr/>
        </p:nvSpPr>
        <p:spPr>
          <a:xfrm>
            <a:off x="7456018" y="47731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37" name="Shape 37"/>
          <p:cNvSpPr txBox="1"/>
          <p:nvPr/>
        </p:nvSpPr>
        <p:spPr>
          <a:xfrm>
            <a:off x="7736053" y="47731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</a:t>
            </a:r>
            <a:endParaRPr lang="en-US" sz="975" dirty="0"/>
          </a:p>
        </p:txBody>
      </p:sp>
      <p:sp>
        <p:nvSpPr>
          <p:cNvPr id="38" name="Shape 38"/>
          <p:cNvSpPr txBox="1"/>
          <p:nvPr/>
        </p:nvSpPr>
        <p:spPr>
          <a:xfrm>
            <a:off x="8016088" y="47731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39" name="Shape 39"/>
          <p:cNvSpPr txBox="1"/>
          <p:nvPr/>
        </p:nvSpPr>
        <p:spPr>
          <a:xfrm>
            <a:off x="8296123" y="47731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3</a:t>
            </a:r>
            <a:endParaRPr lang="en-US" sz="975" dirty="0"/>
          </a:p>
        </p:txBody>
      </p:sp>
      <p:sp>
        <p:nvSpPr>
          <p:cNvPr id="40" name="Shape 40"/>
          <p:cNvSpPr txBox="1"/>
          <p:nvPr/>
        </p:nvSpPr>
        <p:spPr>
          <a:xfrm>
            <a:off x="8576158" y="47731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41" name="Shape 41"/>
          <p:cNvSpPr txBox="1"/>
          <p:nvPr/>
        </p:nvSpPr>
        <p:spPr>
          <a:xfrm>
            <a:off x="8856193" y="47731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5</a:t>
            </a:r>
            <a:endParaRPr lang="en-US" sz="975" dirty="0"/>
          </a:p>
        </p:txBody>
      </p:sp>
      <p:sp>
        <p:nvSpPr>
          <p:cNvPr id="42" name="Shape 42"/>
          <p:cNvSpPr txBox="1"/>
          <p:nvPr/>
        </p:nvSpPr>
        <p:spPr>
          <a:xfrm>
            <a:off x="9136228" y="47731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43" name="Shape 43"/>
          <p:cNvSpPr txBox="1"/>
          <p:nvPr/>
        </p:nvSpPr>
        <p:spPr>
          <a:xfrm>
            <a:off x="6043270" y="466267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44" name="Shape 44"/>
          <p:cNvSpPr txBox="1"/>
          <p:nvPr/>
        </p:nvSpPr>
        <p:spPr>
          <a:xfrm>
            <a:off x="6043270" y="4350734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−3</a:t>
            </a:r>
            <a:endParaRPr lang="en-US" sz="975" dirty="0"/>
          </a:p>
        </p:txBody>
      </p:sp>
      <p:sp>
        <p:nvSpPr>
          <p:cNvPr id="45" name="Shape 45"/>
          <p:cNvSpPr txBox="1"/>
          <p:nvPr/>
        </p:nvSpPr>
        <p:spPr>
          <a:xfrm>
            <a:off x="6043270" y="4038790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46" name="Shape 46"/>
          <p:cNvSpPr txBox="1"/>
          <p:nvPr/>
        </p:nvSpPr>
        <p:spPr>
          <a:xfrm>
            <a:off x="6043270" y="3726847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−1</a:t>
            </a:r>
            <a:endParaRPr lang="en-US" sz="975" dirty="0"/>
          </a:p>
        </p:txBody>
      </p:sp>
      <p:sp>
        <p:nvSpPr>
          <p:cNvPr id="47" name="Shape 47"/>
          <p:cNvSpPr txBox="1"/>
          <p:nvPr/>
        </p:nvSpPr>
        <p:spPr>
          <a:xfrm>
            <a:off x="6043270" y="341490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48" name="Shape 48"/>
          <p:cNvSpPr txBox="1"/>
          <p:nvPr/>
        </p:nvSpPr>
        <p:spPr>
          <a:xfrm>
            <a:off x="6043270" y="3102959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</a:t>
            </a:r>
            <a:endParaRPr lang="en-US" sz="975" dirty="0"/>
          </a:p>
        </p:txBody>
      </p:sp>
      <p:sp>
        <p:nvSpPr>
          <p:cNvPr id="49" name="Shape 49"/>
          <p:cNvSpPr txBox="1"/>
          <p:nvPr/>
        </p:nvSpPr>
        <p:spPr>
          <a:xfrm>
            <a:off x="6043270" y="2791015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50" name="Shape 50"/>
          <p:cNvSpPr txBox="1"/>
          <p:nvPr/>
        </p:nvSpPr>
        <p:spPr>
          <a:xfrm>
            <a:off x="6043270" y="2479072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3</a:t>
            </a:r>
            <a:endParaRPr lang="en-US" sz="975" dirty="0"/>
          </a:p>
        </p:txBody>
      </p:sp>
      <p:sp>
        <p:nvSpPr>
          <p:cNvPr id="51" name="Shape 51"/>
          <p:cNvSpPr txBox="1"/>
          <p:nvPr/>
        </p:nvSpPr>
        <p:spPr>
          <a:xfrm>
            <a:off x="6043270" y="216712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cxnSp>
        <p:nvCxnSpPr>
          <p:cNvPr id="52" name="Line 52"/>
          <p:cNvCxnSpPr/>
          <p:nvPr/>
        </p:nvCxnSpPr>
        <p:spPr>
          <a:xfrm flipV="1">
            <a:off x="6610198" y="2570512"/>
            <a:ext cx="2800350" cy="1559719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sp>
        <p:nvSpPr>
          <p:cNvPr id="53" name="Shape 53"/>
          <p:cNvSpPr txBox="1"/>
          <p:nvPr/>
        </p:nvSpPr>
        <p:spPr>
          <a:xfrm>
            <a:off x="6918808" y="2589562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p</a:t>
            </a:r>
            <a:endParaRPr lang="en-US" sz="1275" dirty="0"/>
          </a:p>
        </p:txBody>
      </p:sp>
      <p:cxnSp>
        <p:nvCxnSpPr>
          <p:cNvPr id="54" name="Line 54"/>
          <p:cNvCxnSpPr/>
          <p:nvPr/>
        </p:nvCxnSpPr>
        <p:spPr>
          <a:xfrm>
            <a:off x="7170268" y="2258568"/>
            <a:ext cx="1120140" cy="2495550"/>
          </a:xfrm>
          <a:prstGeom prst="line">
            <a:avLst/>
          </a:prstGeom>
          <a:ln w="38100" cap="rnd">
            <a:solidFill>
              <a:srgbClr val="7A4FC4"/>
            </a:solidFill>
          </a:ln>
        </p:spPr>
      </p:cxnSp>
      <p:sp>
        <p:nvSpPr>
          <p:cNvPr id="55" name="Shape 55"/>
          <p:cNvSpPr txBox="1"/>
          <p:nvPr/>
        </p:nvSpPr>
        <p:spPr>
          <a:xfrm>
            <a:off x="7246468" y="227761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q</a:t>
            </a:r>
            <a:endParaRPr lang="en-US" sz="1275" dirty="0"/>
          </a:p>
        </p:txBody>
      </p:sp>
      <p:sp>
        <p:nvSpPr>
          <p:cNvPr id="56" name="Shape 56"/>
          <p:cNvSpPr/>
          <p:nvPr/>
        </p:nvSpPr>
        <p:spPr>
          <a:xfrm>
            <a:off x="8238020" y="3142012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57" name="Shape 57"/>
          <p:cNvSpPr txBox="1"/>
          <p:nvPr/>
        </p:nvSpPr>
        <p:spPr>
          <a:xfrm>
            <a:off x="8376133" y="2946749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R(a, b)</a:t>
            </a:r>
            <a:endParaRPr lang="en-US" sz="1125" dirty="0"/>
          </a:p>
        </p:txBody>
      </p:sp>
      <p:sp>
        <p:nvSpPr>
          <p:cNvPr id="58" name="Shape 58"/>
          <p:cNvSpPr/>
          <p:nvPr/>
        </p:nvSpPr>
        <p:spPr>
          <a:xfrm>
            <a:off x="7397915" y="2830068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59" name="Shape 59"/>
          <p:cNvSpPr txBox="1"/>
          <p:nvPr/>
        </p:nvSpPr>
        <p:spPr>
          <a:xfrm>
            <a:off x="7536028" y="2634805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D(−b, a)</a:t>
            </a:r>
            <a:endParaRPr lang="en-US" sz="1125" dirty="0"/>
          </a:p>
        </p:txBody>
      </p:sp>
      <p:sp>
        <p:nvSpPr>
          <p:cNvPr id="60" name="Slide Number 60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14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Activity 3.1 · Question 4 · SE p. 309 · ★ Essential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Line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⊥ line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k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. Find the slope of line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k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33526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.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⅔</a:t>
            </a:r>
            <a:endParaRPr lang="en-US" sz="232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122932"/>
            <a:ext cx="3239673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−3/2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4419498" y="1618488"/>
            <a:ext cx="33526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.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−⅘</a:t>
            </a:r>
            <a:endParaRPr lang="en-US" sz="2325" dirty="0"/>
          </a:p>
        </p:txBody>
      </p:sp>
      <p:sp>
        <p:nvSpPr>
          <p:cNvPr id="7" name="Shape 7"/>
          <p:cNvSpPr txBox="1"/>
          <p:nvPr/>
        </p:nvSpPr>
        <p:spPr>
          <a:xfrm>
            <a:off x="4419498" y="2122932"/>
            <a:ext cx="3073847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5/4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8153197" y="1618488"/>
            <a:ext cx="33526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c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.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−3</a:t>
            </a:r>
            <a:endParaRPr lang="en-US" sz="2325" dirty="0"/>
          </a:p>
        </p:txBody>
      </p:sp>
      <p:sp>
        <p:nvSpPr>
          <p:cNvPr id="9" name="Shape 9"/>
          <p:cNvSpPr txBox="1"/>
          <p:nvPr/>
        </p:nvSpPr>
        <p:spPr>
          <a:xfrm>
            <a:off x="8153197" y="2122932"/>
            <a:ext cx="2742194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⅓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685800" y="2813304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Flip the fraction and change the sign. Check: the product is −1.</a:t>
            </a:r>
            <a:endParaRPr lang="en-US" sz="1575" dirty="0"/>
          </a:p>
        </p:txBody>
      </p:sp>
      <p:sp>
        <p:nvSpPr>
          <p:cNvPr id="11" name="Slide Number 11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15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210312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Topic 2 · Lesson 3 · End of Day 1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2512314"/>
            <a:ext cx="10820095" cy="25694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8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Stop here: Tuesday, October 27</a:t>
            </a:r>
            <a:endParaRPr lang="en-US" sz="82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5253228"/>
            <a:ext cx="10820095" cy="7406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Next class: Wednesday, October 28. Start at the next slide, “Start: Wednesday, October 28.”</a:t>
            </a:r>
            <a:endParaRPr lang="en-US" sz="2250" dirty="0"/>
          </a:p>
        </p:txBody>
      </p:sp>
      <p:sp>
        <p:nvSpPr>
          <p:cNvPr id="5" name="Slide Number 5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16</a:t>
            </a:fld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9144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Topic 2 · Lesson 3 · Day 2 of 2 · Start here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323594"/>
            <a:ext cx="10820095" cy="9235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57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Start: Wednesday, October 28</a:t>
            </a:r>
            <a:endParaRPr lang="en-US" sz="57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418588"/>
            <a:ext cx="10820095" cy="6949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>
                <a:solidFill>
                  <a:srgbClr val="16171D"/>
                </a:solidFill>
                <a:latin typeface="Segoe UI"/>
                <a:cs typeface="Segoe UI"/>
              </a:rPr>
              <a:t xml:space="preserve">Today: bell work → Topic 1 catch-up (Changing the situation changes the function) → Lesson 3, Day 2.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3284982"/>
            <a:ext cx="10820095" cy="78638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400" dirty="0">
                <a:solidFill>
                  <a:srgbClr val="16171D"/>
                </a:solidFill>
                <a:latin typeface="Segoe UI"/>
                <a:cs typeface="Segoe UI"/>
              </a:rPr>
              <a:t xml:space="preserve">Essential Question: How can you rotate the graphs of linear equations to determine the slopes of perpendicular lines?</a:t>
            </a:r>
            <a:endParaRPr lang="en-US" sz="2400" dirty="0"/>
          </a:p>
        </p:txBody>
      </p:sp>
      <p:sp>
        <p:nvSpPr>
          <p:cNvPr id="6" name="Slide Number 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17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Bell Work · Review of Day 1 · Wed, Oct 28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Warm up: work these on your own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75638"/>
            <a:ext cx="5143348" cy="9464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1. Line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has slope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⅔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 Line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k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is perpendicular to it. What is the slope of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k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309)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755392"/>
            <a:ext cx="2576368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−3/2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541014"/>
            <a:ext cx="51433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2. What is the slope of any horizontal line?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310)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4323588"/>
            <a:ext cx="2078888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362548" y="1675638"/>
            <a:ext cx="51433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3. Which is the equation of the vertical line through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(2, −1)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311)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6362548" y="2458212"/>
            <a:ext cx="2742194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2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6362548" y="3243834"/>
            <a:ext cx="5143348" cy="9464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4. Which equation represents a line perpendicular to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= 2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+ 3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that passes through the point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(4, 1)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312)</a:t>
            </a: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6362548" y="4323588"/>
            <a:ext cx="3737153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−½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+ 3</a:t>
            </a:r>
            <a:endParaRPr lang="en-US" sz="2325" dirty="0"/>
          </a:p>
        </p:txBody>
      </p:sp>
      <p:sp>
        <p:nvSpPr>
          <p:cNvPr id="12" name="Slide Number 12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18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9144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Topic 1 Catch-Up · Wed, Oct 28 · about 15 minutes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323594"/>
            <a:ext cx="10820095" cy="2660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57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Topic 1 Lesson 6: Changing the situation changes the function</a:t>
            </a:r>
            <a:endParaRPr lang="en-US" sz="57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4155948"/>
            <a:ext cx="10820095" cy="7406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Giving away 3 T-shirts shifts the function: the same idea as a Topic 2 translation.</a:t>
            </a:r>
            <a:endParaRPr lang="en-US" sz="22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5068062"/>
            <a:ext cx="10820095" cy="32918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Topic 1 Lesson 6 practice: </a:t>
            </a:r>
            <a:r>
              <a:rPr lang="en-US" sz="1800" dirty="0">
                <a:solidFill>
                  <a:srgbClr val="3050B8"/>
                </a:solidFill>
                <a:latin typeface="Segoe UI"/>
                <a:cs typeface="Segoe UI"/>
                <a:hlinkClick r:id="rId3"/>
              </a:rPr>
              <a:t xml:space="preserve">Homework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800" dirty="0">
                <a:solidFill>
                  <a:srgbClr val="3050B8"/>
                </a:solidFill>
                <a:latin typeface="Segoe UI"/>
                <a:cs typeface="Segoe UI"/>
                <a:hlinkClick r:id="rId4"/>
              </a:rPr>
              <a:t xml:space="preserve">Quiz →</a:t>
            </a:r>
            <a:endParaRPr lang="en-US" sz="1800" dirty="0"/>
          </a:p>
        </p:txBody>
      </p:sp>
      <p:sp>
        <p:nvSpPr>
          <p:cNvPr id="6" name="Slide Number 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19</a:t>
            </a:fld>
          </a:p>
        </p:txBody>
      </p:sp>
    </p:spTree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Topic 1 Catch-Up · Lesson 6 · Activity 6.3 · Interpreting Changes to the Graph · SE p. 246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Gracie gives away 3 T-shirts in a raffle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6248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Still $15 per shirt. The new relationship is </a:t>
            </a:r>
            <a:r>
              <a:rPr lang="en-US" sz="1575" dirty="0" b="1" i="1">
                <a:solidFill>
                  <a:srgbClr val="7A4FC4"/>
                </a:solidFill>
                <a:latin typeface="Cambria"/>
                <a:cs typeface="Cambria"/>
              </a:rPr>
              <a:t xml:space="preserve">G</a:t>
            </a:r>
            <a:r>
              <a:rPr lang="en-US" sz="1575" dirty="0" b="1">
                <a:solidFill>
                  <a:srgbClr val="7A4FC4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b="1" i="1">
                <a:solidFill>
                  <a:srgbClr val="7A4FC4"/>
                </a:solidFill>
                <a:latin typeface="Cambria"/>
                <a:cs typeface="Cambria"/>
              </a:rPr>
              <a:t xml:space="preserve">t</a:t>
            </a:r>
            <a:r>
              <a:rPr lang="en-US" sz="1575" dirty="0" b="1">
                <a:solidFill>
                  <a:srgbClr val="7A4FC4"/>
                </a:solidFill>
                <a:latin typeface="Cambria"/>
                <a:cs typeface="Cambria"/>
              </a:rPr>
              <a:t xml:space="preserve">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1989582"/>
            <a:ext cx="6248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1a.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How do the graphs show the price is the same?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360676"/>
            <a:ext cx="6248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The lines are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parallel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same slope, </a:t>
            </a:r>
            <a:r>
              <a:rPr lang="en-US" sz="1575" dirty="0" b="1">
                <a:solidFill>
                  <a:srgbClr val="C9561F"/>
                </a:solidFill>
                <a:latin typeface="Segoe UI"/>
                <a:cs typeface="Segoe UI"/>
              </a:rPr>
              <a:t xml:space="preserve">15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2731770"/>
            <a:ext cx="6248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1b.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Interpret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(0)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3102864"/>
            <a:ext cx="6248095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3050B8"/>
                </a:solidFill>
                <a:latin typeface="Cambria"/>
                <a:cs typeface="Cambria"/>
              </a:rPr>
              <a:t xml:space="preserve">(0, −45)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with 0 shirts sold, earnings are −$45. That doesn't make sense in this situation.</a:t>
            </a:r>
            <a:endParaRPr lang="en-US" sz="1575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3713988"/>
            <a:ext cx="6248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1c.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Interpret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 = 0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685800" y="4085082"/>
            <a:ext cx="6248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3050B8"/>
                </a:solidFill>
                <a:latin typeface="Cambria"/>
                <a:cs typeface="Cambria"/>
              </a:rPr>
              <a:t xml:space="preserve">(3, 0)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after the 3 free shirts, she has $0 to return.</a:t>
            </a:r>
            <a:endParaRPr lang="en-US" sz="1575" dirty="0"/>
          </a:p>
        </p:txBody>
      </p:sp>
      <p:sp>
        <p:nvSpPr>
          <p:cNvPr id="11" name="Shape 11"/>
          <p:cNvSpPr/>
          <p:nvPr/>
        </p:nvSpPr>
        <p:spPr>
          <a:xfrm>
            <a:off x="7314895" y="1618488"/>
            <a:ext cx="4191000" cy="4000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12" name="Line 12"/>
          <p:cNvCxnSpPr/>
          <p:nvPr/>
        </p:nvCxnSpPr>
        <p:spPr>
          <a:xfrm>
            <a:off x="7638745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3" name="Line 13"/>
          <p:cNvCxnSpPr/>
          <p:nvPr/>
        </p:nvCxnSpPr>
        <p:spPr>
          <a:xfrm>
            <a:off x="7809329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4" name="Line 14"/>
          <p:cNvCxnSpPr/>
          <p:nvPr/>
        </p:nvCxnSpPr>
        <p:spPr>
          <a:xfrm>
            <a:off x="7979913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5" name="Line 15"/>
          <p:cNvCxnSpPr/>
          <p:nvPr/>
        </p:nvCxnSpPr>
        <p:spPr>
          <a:xfrm>
            <a:off x="8150497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6" name="Line 16"/>
          <p:cNvCxnSpPr/>
          <p:nvPr/>
        </p:nvCxnSpPr>
        <p:spPr>
          <a:xfrm>
            <a:off x="8321082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7" name="Line 17"/>
          <p:cNvCxnSpPr/>
          <p:nvPr/>
        </p:nvCxnSpPr>
        <p:spPr>
          <a:xfrm>
            <a:off x="8491666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8" name="Line 18"/>
          <p:cNvCxnSpPr/>
          <p:nvPr/>
        </p:nvCxnSpPr>
        <p:spPr>
          <a:xfrm>
            <a:off x="8662250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9" name="Line 19"/>
          <p:cNvCxnSpPr/>
          <p:nvPr/>
        </p:nvCxnSpPr>
        <p:spPr>
          <a:xfrm>
            <a:off x="8832834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0" name="Line 20"/>
          <p:cNvCxnSpPr/>
          <p:nvPr/>
        </p:nvCxnSpPr>
        <p:spPr>
          <a:xfrm>
            <a:off x="9003418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1" name="Line 21"/>
          <p:cNvCxnSpPr/>
          <p:nvPr/>
        </p:nvCxnSpPr>
        <p:spPr>
          <a:xfrm>
            <a:off x="9174002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2" name="Line 22"/>
          <p:cNvCxnSpPr/>
          <p:nvPr/>
        </p:nvCxnSpPr>
        <p:spPr>
          <a:xfrm>
            <a:off x="9344586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3" name="Line 23"/>
          <p:cNvCxnSpPr/>
          <p:nvPr/>
        </p:nvCxnSpPr>
        <p:spPr>
          <a:xfrm>
            <a:off x="9515170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4" name="Line 24"/>
          <p:cNvCxnSpPr/>
          <p:nvPr/>
        </p:nvCxnSpPr>
        <p:spPr>
          <a:xfrm>
            <a:off x="9685754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5" name="Line 25"/>
          <p:cNvCxnSpPr/>
          <p:nvPr/>
        </p:nvCxnSpPr>
        <p:spPr>
          <a:xfrm>
            <a:off x="9856338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6" name="Line 26"/>
          <p:cNvCxnSpPr/>
          <p:nvPr/>
        </p:nvCxnSpPr>
        <p:spPr>
          <a:xfrm>
            <a:off x="10026922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7" name="Line 27"/>
          <p:cNvCxnSpPr/>
          <p:nvPr/>
        </p:nvCxnSpPr>
        <p:spPr>
          <a:xfrm>
            <a:off x="10197507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8" name="Line 28"/>
          <p:cNvCxnSpPr/>
          <p:nvPr/>
        </p:nvCxnSpPr>
        <p:spPr>
          <a:xfrm>
            <a:off x="10368091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9" name="Line 29"/>
          <p:cNvCxnSpPr/>
          <p:nvPr/>
        </p:nvCxnSpPr>
        <p:spPr>
          <a:xfrm>
            <a:off x="10538675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0" name="Line 30"/>
          <p:cNvCxnSpPr/>
          <p:nvPr/>
        </p:nvCxnSpPr>
        <p:spPr>
          <a:xfrm>
            <a:off x="10709259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1" name="Line 31"/>
          <p:cNvCxnSpPr/>
          <p:nvPr/>
        </p:nvCxnSpPr>
        <p:spPr>
          <a:xfrm>
            <a:off x="10879843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2" name="Line 32"/>
          <p:cNvCxnSpPr/>
          <p:nvPr/>
        </p:nvCxnSpPr>
        <p:spPr>
          <a:xfrm>
            <a:off x="11050427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3" name="Line 33"/>
          <p:cNvCxnSpPr/>
          <p:nvPr/>
        </p:nvCxnSpPr>
        <p:spPr>
          <a:xfrm>
            <a:off x="11221011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4" name="Line 34"/>
          <p:cNvCxnSpPr/>
          <p:nvPr/>
        </p:nvCxnSpPr>
        <p:spPr>
          <a:xfrm>
            <a:off x="11391595" y="1732788"/>
            <a:ext cx="0" cy="3638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5" name="Line 35"/>
          <p:cNvCxnSpPr/>
          <p:nvPr/>
        </p:nvCxnSpPr>
        <p:spPr>
          <a:xfrm>
            <a:off x="7638745" y="5371338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6" name="Line 36"/>
          <p:cNvCxnSpPr/>
          <p:nvPr/>
        </p:nvCxnSpPr>
        <p:spPr>
          <a:xfrm>
            <a:off x="7638745" y="5205949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7" name="Line 37"/>
          <p:cNvCxnSpPr/>
          <p:nvPr/>
        </p:nvCxnSpPr>
        <p:spPr>
          <a:xfrm>
            <a:off x="7638745" y="5040561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8" name="Line 38"/>
          <p:cNvCxnSpPr/>
          <p:nvPr/>
        </p:nvCxnSpPr>
        <p:spPr>
          <a:xfrm>
            <a:off x="7638745" y="4875172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9" name="Line 39"/>
          <p:cNvCxnSpPr/>
          <p:nvPr/>
        </p:nvCxnSpPr>
        <p:spPr>
          <a:xfrm>
            <a:off x="7638745" y="4709783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0" name="Line 40"/>
          <p:cNvCxnSpPr/>
          <p:nvPr/>
        </p:nvCxnSpPr>
        <p:spPr>
          <a:xfrm>
            <a:off x="7638745" y="4544395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1" name="Line 41"/>
          <p:cNvCxnSpPr/>
          <p:nvPr/>
        </p:nvCxnSpPr>
        <p:spPr>
          <a:xfrm>
            <a:off x="7638745" y="4379006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2" name="Line 42"/>
          <p:cNvCxnSpPr/>
          <p:nvPr/>
        </p:nvCxnSpPr>
        <p:spPr>
          <a:xfrm>
            <a:off x="7638745" y="4213618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3" name="Line 43"/>
          <p:cNvCxnSpPr/>
          <p:nvPr/>
        </p:nvCxnSpPr>
        <p:spPr>
          <a:xfrm>
            <a:off x="7638745" y="4048229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4" name="Line 44"/>
          <p:cNvCxnSpPr/>
          <p:nvPr/>
        </p:nvCxnSpPr>
        <p:spPr>
          <a:xfrm>
            <a:off x="7638745" y="3882840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5" name="Line 45"/>
          <p:cNvCxnSpPr/>
          <p:nvPr/>
        </p:nvCxnSpPr>
        <p:spPr>
          <a:xfrm>
            <a:off x="7638745" y="3717452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6" name="Line 46"/>
          <p:cNvCxnSpPr/>
          <p:nvPr/>
        </p:nvCxnSpPr>
        <p:spPr>
          <a:xfrm>
            <a:off x="7638745" y="3552063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7" name="Line 47"/>
          <p:cNvCxnSpPr/>
          <p:nvPr/>
        </p:nvCxnSpPr>
        <p:spPr>
          <a:xfrm>
            <a:off x="7638745" y="3386674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8" name="Line 48"/>
          <p:cNvCxnSpPr/>
          <p:nvPr/>
        </p:nvCxnSpPr>
        <p:spPr>
          <a:xfrm>
            <a:off x="7638745" y="3221286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9" name="Line 49"/>
          <p:cNvCxnSpPr/>
          <p:nvPr/>
        </p:nvCxnSpPr>
        <p:spPr>
          <a:xfrm>
            <a:off x="7638745" y="3055897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0" name="Line 50"/>
          <p:cNvCxnSpPr/>
          <p:nvPr/>
        </p:nvCxnSpPr>
        <p:spPr>
          <a:xfrm>
            <a:off x="7638745" y="2890508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1" name="Line 51"/>
          <p:cNvCxnSpPr/>
          <p:nvPr/>
        </p:nvCxnSpPr>
        <p:spPr>
          <a:xfrm>
            <a:off x="7638745" y="2725120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2" name="Line 52"/>
          <p:cNvCxnSpPr/>
          <p:nvPr/>
        </p:nvCxnSpPr>
        <p:spPr>
          <a:xfrm>
            <a:off x="7638745" y="2559731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3" name="Line 53"/>
          <p:cNvCxnSpPr/>
          <p:nvPr/>
        </p:nvCxnSpPr>
        <p:spPr>
          <a:xfrm>
            <a:off x="7638745" y="2394343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4" name="Line 54"/>
          <p:cNvCxnSpPr/>
          <p:nvPr/>
        </p:nvCxnSpPr>
        <p:spPr>
          <a:xfrm>
            <a:off x="7638745" y="2228954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5" name="Line 55"/>
          <p:cNvCxnSpPr/>
          <p:nvPr/>
        </p:nvCxnSpPr>
        <p:spPr>
          <a:xfrm>
            <a:off x="7638745" y="2063565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6" name="Line 56"/>
          <p:cNvCxnSpPr/>
          <p:nvPr/>
        </p:nvCxnSpPr>
        <p:spPr>
          <a:xfrm>
            <a:off x="7638745" y="1898177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7" name="Line 57"/>
          <p:cNvCxnSpPr/>
          <p:nvPr/>
        </p:nvCxnSpPr>
        <p:spPr>
          <a:xfrm>
            <a:off x="7638745" y="1732788"/>
            <a:ext cx="3752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8" name="Line 58"/>
          <p:cNvCxnSpPr/>
          <p:nvPr/>
        </p:nvCxnSpPr>
        <p:spPr>
          <a:xfrm>
            <a:off x="8662250" y="1732788"/>
            <a:ext cx="0" cy="36385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59" name="Line 59"/>
          <p:cNvCxnSpPr/>
          <p:nvPr/>
        </p:nvCxnSpPr>
        <p:spPr>
          <a:xfrm>
            <a:off x="7638745" y="3552063"/>
            <a:ext cx="375285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60" name="Shape 60"/>
          <p:cNvSpPr txBox="1"/>
          <p:nvPr/>
        </p:nvSpPr>
        <p:spPr>
          <a:xfrm>
            <a:off x="7535009" y="5390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−5</a:t>
            </a:r>
            <a:endParaRPr lang="en-US" sz="975" dirty="0"/>
          </a:p>
        </p:txBody>
      </p:sp>
      <p:sp>
        <p:nvSpPr>
          <p:cNvPr id="61" name="Shape 61"/>
          <p:cNvSpPr txBox="1"/>
          <p:nvPr/>
        </p:nvSpPr>
        <p:spPr>
          <a:xfrm>
            <a:off x="8387930" y="5390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62" name="Shape 62"/>
          <p:cNvSpPr txBox="1"/>
          <p:nvPr/>
        </p:nvSpPr>
        <p:spPr>
          <a:xfrm>
            <a:off x="9240850" y="5390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5</a:t>
            </a:r>
            <a:endParaRPr lang="en-US" sz="975" dirty="0"/>
          </a:p>
        </p:txBody>
      </p:sp>
      <p:sp>
        <p:nvSpPr>
          <p:cNvPr id="63" name="Shape 63"/>
          <p:cNvSpPr txBox="1"/>
          <p:nvPr/>
        </p:nvSpPr>
        <p:spPr>
          <a:xfrm>
            <a:off x="10093771" y="5390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10</a:t>
            </a:r>
            <a:endParaRPr lang="en-US" sz="975" dirty="0"/>
          </a:p>
        </p:txBody>
      </p:sp>
      <p:sp>
        <p:nvSpPr>
          <p:cNvPr id="64" name="Shape 64"/>
          <p:cNvSpPr txBox="1"/>
          <p:nvPr/>
        </p:nvSpPr>
        <p:spPr>
          <a:xfrm>
            <a:off x="10946691" y="5390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15</a:t>
            </a:r>
            <a:endParaRPr lang="en-US" sz="975" dirty="0"/>
          </a:p>
        </p:txBody>
      </p:sp>
      <p:sp>
        <p:nvSpPr>
          <p:cNvPr id="65" name="Shape 65"/>
          <p:cNvSpPr txBox="1"/>
          <p:nvPr/>
        </p:nvSpPr>
        <p:spPr>
          <a:xfrm>
            <a:off x="7071817" y="5114509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−100</a:t>
            </a:r>
            <a:endParaRPr lang="en-US" sz="975" dirty="0"/>
          </a:p>
        </p:txBody>
      </p:sp>
      <p:sp>
        <p:nvSpPr>
          <p:cNvPr id="66" name="Shape 66"/>
          <p:cNvSpPr txBox="1"/>
          <p:nvPr/>
        </p:nvSpPr>
        <p:spPr>
          <a:xfrm>
            <a:off x="7071817" y="4287566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−50</a:t>
            </a:r>
            <a:endParaRPr lang="en-US" sz="975" dirty="0"/>
          </a:p>
        </p:txBody>
      </p:sp>
      <p:sp>
        <p:nvSpPr>
          <p:cNvPr id="67" name="Shape 67"/>
          <p:cNvSpPr txBox="1"/>
          <p:nvPr/>
        </p:nvSpPr>
        <p:spPr>
          <a:xfrm>
            <a:off x="7071817" y="346062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68" name="Shape 68"/>
          <p:cNvSpPr txBox="1"/>
          <p:nvPr/>
        </p:nvSpPr>
        <p:spPr>
          <a:xfrm>
            <a:off x="7071817" y="2633680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50</a:t>
            </a:r>
            <a:endParaRPr lang="en-US" sz="975" dirty="0"/>
          </a:p>
        </p:txBody>
      </p:sp>
      <p:sp>
        <p:nvSpPr>
          <p:cNvPr id="69" name="Shape 69"/>
          <p:cNvSpPr txBox="1"/>
          <p:nvPr/>
        </p:nvSpPr>
        <p:spPr>
          <a:xfrm>
            <a:off x="7071817" y="1806737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100</a:t>
            </a:r>
            <a:endParaRPr lang="en-US" sz="975" dirty="0"/>
          </a:p>
        </p:txBody>
      </p:sp>
      <p:sp>
        <p:nvSpPr>
          <p:cNvPr id="70" name="Shape 70"/>
          <p:cNvSpPr/>
          <p:nvPr/>
        </p:nvSpPr>
        <p:spPr>
          <a:xfrm>
            <a:off x="8609862" y="4243924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1" name="Shape 71"/>
          <p:cNvSpPr txBox="1"/>
          <p:nvPr/>
        </p:nvSpPr>
        <p:spPr>
          <a:xfrm>
            <a:off x="8747975" y="4048662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(0, −45)</a:t>
            </a:r>
            <a:endParaRPr lang="en-US" sz="1125" dirty="0"/>
          </a:p>
        </p:txBody>
      </p:sp>
      <p:sp>
        <p:nvSpPr>
          <p:cNvPr id="72" name="Shape 72"/>
          <p:cNvSpPr/>
          <p:nvPr/>
        </p:nvSpPr>
        <p:spPr>
          <a:xfrm>
            <a:off x="9121615" y="3499676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3" name="Shape 73"/>
          <p:cNvSpPr txBox="1"/>
          <p:nvPr/>
        </p:nvSpPr>
        <p:spPr>
          <a:xfrm>
            <a:off x="9259727" y="3304413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(3, 0)</a:t>
            </a:r>
            <a:endParaRPr lang="en-US" sz="1125" dirty="0"/>
          </a:p>
        </p:txBody>
      </p:sp>
      <p:cxnSp>
        <p:nvCxnSpPr>
          <p:cNvPr id="74" name="Line 74"/>
          <p:cNvCxnSpPr/>
          <p:nvPr/>
        </p:nvCxnSpPr>
        <p:spPr>
          <a:xfrm flipV="1">
            <a:off x="7638745" y="1732788"/>
            <a:ext cx="2274455" cy="3307773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sp>
        <p:nvSpPr>
          <p:cNvPr id="75" name="Shape 75"/>
          <p:cNvSpPr txBox="1"/>
          <p:nvPr/>
        </p:nvSpPr>
        <p:spPr>
          <a:xfrm>
            <a:off x="7421460" y="175183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E(t) = 15t</a:t>
            </a:r>
            <a:endParaRPr lang="en-US" sz="1275" dirty="0"/>
          </a:p>
        </p:txBody>
      </p:sp>
      <p:cxnSp>
        <p:nvCxnSpPr>
          <p:cNvPr id="76" name="Line 76"/>
          <p:cNvCxnSpPr/>
          <p:nvPr/>
        </p:nvCxnSpPr>
        <p:spPr>
          <a:xfrm flipV="1">
            <a:off x="7923052" y="1732788"/>
            <a:ext cx="2501900" cy="3638550"/>
          </a:xfrm>
          <a:prstGeom prst="line">
            <a:avLst/>
          </a:prstGeom>
          <a:ln w="38100" cap="rnd">
            <a:solidFill>
              <a:srgbClr val="7A4FC4"/>
            </a:solidFill>
          </a:ln>
        </p:spPr>
      </p:cxnSp>
      <p:sp>
        <p:nvSpPr>
          <p:cNvPr id="77" name="Shape 77"/>
          <p:cNvSpPr txBox="1"/>
          <p:nvPr/>
        </p:nvSpPr>
        <p:spPr>
          <a:xfrm>
            <a:off x="7933212" y="175183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G(t)</a:t>
            </a:r>
            <a:endParaRPr lang="en-US" sz="1275" dirty="0"/>
          </a:p>
        </p:txBody>
      </p:sp>
      <p:sp>
        <p:nvSpPr>
          <p:cNvPr id="78" name="Slide Number 78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20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Topic 1 Catch-Up · Lesson 6 · Activity 6.3 · Questions 2–3 · SE p. 247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Two equations for </a:t>
            </a:r>
            <a:r>
              <a:rPr lang="en-US" sz="3450" dirty="0" b="1" i="1">
                <a:solidFill>
                  <a:srgbClr val="7A4FC4"/>
                </a:solidFill>
                <a:latin typeface="Cambria"/>
                <a:cs typeface="Cambria"/>
              </a:rPr>
              <a:t xml:space="preserve">G</a:t>
            </a:r>
            <a:r>
              <a:rPr lang="en-US" sz="3450" dirty="0" b="1">
                <a:solidFill>
                  <a:srgbClr val="7A4FC4"/>
                </a:solidFill>
                <a:latin typeface="Cambria"/>
                <a:cs typeface="Cambria"/>
              </a:rPr>
              <a:t xml:space="preserve">(</a:t>
            </a:r>
            <a:r>
              <a:rPr lang="en-US" sz="3450" dirty="0" b="1" i="1">
                <a:solidFill>
                  <a:srgbClr val="7A4FC4"/>
                </a:solidFill>
                <a:latin typeface="Cambria"/>
                <a:cs typeface="Cambria"/>
              </a:rPr>
              <a:t xml:space="preserve">t</a:t>
            </a:r>
            <a:r>
              <a:rPr lang="en-US" sz="3450" dirty="0" b="1">
                <a:solidFill>
                  <a:srgbClr val="7A4FC4"/>
                </a:solidFill>
                <a:latin typeface="Cambria"/>
                <a:cs typeface="Cambria"/>
              </a:rPr>
              <a:t xml:space="preserve">)</a:t>
            </a:r>
            <a:endParaRPr lang="en-US" sz="34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1618488"/>
            <a:ext cx="5276698" cy="18524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789938"/>
            <a:ext cx="48575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Brianna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260092"/>
            <a:ext cx="48575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Gracie gives away 3 T-shirts, so she has 3 fewer shirts to sell.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895350" y="2890266"/>
            <a:ext cx="48575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15(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− 3)</a:t>
            </a:r>
            <a:endParaRPr lang="en-US" sz="2325" dirty="0"/>
          </a:p>
        </p:txBody>
      </p:sp>
      <p:sp>
        <p:nvSpPr>
          <p:cNvPr id="11" name="Shape 11"/>
          <p:cNvSpPr txBox="1"/>
          <p:nvPr/>
        </p:nvSpPr>
        <p:spPr>
          <a:xfrm>
            <a:off x="6229198" y="1618488"/>
            <a:ext cx="5276698" cy="16123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6438748" y="1789938"/>
            <a:ext cx="48575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Hailey</a:t>
            </a:r>
            <a:endParaRPr lang="en-US" sz="2100" dirty="0"/>
          </a:p>
        </p:txBody>
      </p:sp>
      <p:sp>
        <p:nvSpPr>
          <p:cNvPr id="9" name="Shape 9"/>
          <p:cNvSpPr txBox="1"/>
          <p:nvPr/>
        </p:nvSpPr>
        <p:spPr>
          <a:xfrm>
            <a:off x="6438748" y="2260092"/>
            <a:ext cx="48575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The cost of giving away three shirts is $45.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6438748" y="2650236"/>
            <a:ext cx="48575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15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− 45</a:t>
            </a:r>
            <a:endParaRPr lang="en-US" sz="2325" dirty="0"/>
          </a:p>
        </p:txBody>
      </p:sp>
      <p:sp>
        <p:nvSpPr>
          <p:cNvPr id="12" name="Shape 12"/>
          <p:cNvSpPr txBox="1"/>
          <p:nvPr/>
        </p:nvSpPr>
        <p:spPr>
          <a:xfrm>
            <a:off x="685800" y="3642360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2.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Verify they are equivalent.</a:t>
            </a:r>
            <a:endParaRPr lang="en-US" sz="1575" dirty="0"/>
          </a:p>
        </p:txBody>
      </p:sp>
      <p:sp>
        <p:nvSpPr>
          <p:cNvPr id="13" name="Shape 13"/>
          <p:cNvSpPr txBox="1"/>
          <p:nvPr/>
        </p:nvSpPr>
        <p:spPr>
          <a:xfrm>
            <a:off x="6286348" y="3642360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Distribute: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15(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− 3) = 15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− 45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 ✓</a:t>
            </a:r>
            <a:endParaRPr lang="en-US" sz="1575" dirty="0"/>
          </a:p>
        </p:txBody>
      </p:sp>
      <p:sp>
        <p:nvSpPr>
          <p:cNvPr id="14" name="Shape 14"/>
          <p:cNvSpPr txBox="1"/>
          <p:nvPr/>
        </p:nvSpPr>
        <p:spPr>
          <a:xfrm>
            <a:off x="685800" y="4108704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3.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How many shirts to earn $100?</a:t>
            </a:r>
            <a:endParaRPr lang="en-US" sz="1575" dirty="0"/>
          </a:p>
        </p:txBody>
      </p:sp>
      <p:sp>
        <p:nvSpPr>
          <p:cNvPr id="15" name="Shape 15"/>
          <p:cNvSpPr txBox="1"/>
          <p:nvPr/>
        </p:nvSpPr>
        <p:spPr>
          <a:xfrm>
            <a:off x="685800" y="4575048"/>
            <a:ext cx="5219548" cy="7635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100 = 15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− 45 → 145 = 15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→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≈ 9.67</a:t>
            </a:r>
            <a:endParaRPr lang="en-US" sz="2325" dirty="0"/>
          </a:p>
        </p:txBody>
      </p:sp>
      <p:sp>
        <p:nvSpPr>
          <p:cNvPr id="16" name="Shape 16"/>
          <p:cNvSpPr txBox="1"/>
          <p:nvPr/>
        </p:nvSpPr>
        <p:spPr>
          <a:xfrm>
            <a:off x="6286348" y="4575048"/>
            <a:ext cx="3737153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10 T-shirts</a:t>
            </a:r>
            <a:endParaRPr lang="en-US" sz="2325" dirty="0"/>
          </a:p>
        </p:txBody>
      </p:sp>
      <p:sp>
        <p:nvSpPr>
          <p:cNvPr id="17" name="Slide Number 17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21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Topic 1 Catch-Up · Lesson 6 · Activity 6.3 · Question 4 · SE p. 247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What does each part mean?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2164019" cy="7955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Expression (unit)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2849819" y="1618488"/>
            <a:ext cx="4328038" cy="7955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Contextual meaning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7177857" y="1618488"/>
            <a:ext cx="4328038" cy="7955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Mathematical meaning</a:t>
            </a:r>
            <a:endParaRPr lang="en-US" sz="1950" dirty="0"/>
          </a:p>
        </p:txBody>
      </p:sp>
      <p:cxnSp>
        <p:nvCxnSpPr>
          <p:cNvPr id="7" name="Line 7"/>
          <p:cNvCxnSpPr/>
          <p:nvPr/>
        </p:nvCxnSpPr>
        <p:spPr>
          <a:xfrm>
            <a:off x="685800" y="2414016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8" name="Shape 8"/>
          <p:cNvSpPr txBox="1"/>
          <p:nvPr/>
        </p:nvSpPr>
        <p:spPr>
          <a:xfrm>
            <a:off x="685800" y="2414016"/>
            <a:ext cx="2164019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(T-shirts)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2849819" y="2414016"/>
            <a:ext cx="4328038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Number of T-shirts sold</a:t>
            </a:r>
            <a:endParaRPr lang="en-US" sz="1800" dirty="0"/>
          </a:p>
        </p:txBody>
      </p:sp>
      <p:sp>
        <p:nvSpPr>
          <p:cNvPr id="10" name="Shape 10"/>
          <p:cNvSpPr txBox="1"/>
          <p:nvPr/>
        </p:nvSpPr>
        <p:spPr>
          <a:xfrm>
            <a:off x="7177857" y="2414016"/>
            <a:ext cx="4328038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Input</a:t>
            </a:r>
            <a:endParaRPr lang="en-US" sz="1800" dirty="0"/>
          </a:p>
        </p:txBody>
      </p:sp>
      <p:cxnSp>
        <p:nvCxnSpPr>
          <p:cNvPr id="11" name="Line 11"/>
          <p:cNvCxnSpPr/>
          <p:nvPr/>
        </p:nvCxnSpPr>
        <p:spPr>
          <a:xfrm>
            <a:off x="685800" y="2889504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2" name="Shape 12"/>
          <p:cNvSpPr txBox="1"/>
          <p:nvPr/>
        </p:nvSpPr>
        <p:spPr>
          <a:xfrm>
            <a:off x="685800" y="2889504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800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(dollars)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2849819" y="2889504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Potential earnings for selling </a:t>
            </a:r>
            <a:r>
              <a:rPr lang="en-US" sz="1800" dirty="0" i="1">
                <a:solidFill>
                  <a:srgbClr val="16171D"/>
                </a:solidFill>
                <a:latin typeface="Segoe UI"/>
                <a:cs typeface="Segoe UI"/>
              </a:rPr>
              <a:t xml:space="preserve">t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T-shirts</a:t>
            </a:r>
            <a:endParaRPr lang="en-US" sz="1800" dirty="0"/>
          </a:p>
        </p:txBody>
      </p:sp>
      <p:sp>
        <p:nvSpPr>
          <p:cNvPr id="14" name="Shape 14"/>
          <p:cNvSpPr txBox="1"/>
          <p:nvPr/>
        </p:nvSpPr>
        <p:spPr>
          <a:xfrm>
            <a:off x="7177857" y="2889504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Output</a:t>
            </a:r>
            <a:endParaRPr lang="en-US" sz="1800" dirty="0"/>
          </a:p>
        </p:txBody>
      </p:sp>
      <p:cxnSp>
        <p:nvCxnSpPr>
          <p:cNvPr id="15" name="Line 15"/>
          <p:cNvCxnSpPr/>
          <p:nvPr/>
        </p:nvCxnSpPr>
        <p:spPr>
          <a:xfrm>
            <a:off x="685800" y="363931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6" name="Shape 16"/>
          <p:cNvSpPr txBox="1"/>
          <p:nvPr/>
        </p:nvSpPr>
        <p:spPr>
          <a:xfrm>
            <a:off x="685800" y="3639312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C9561F"/>
                </a:solidFill>
                <a:latin typeface="Cambria"/>
                <a:cs typeface="Cambria"/>
              </a:rPr>
              <a:t xml:space="preserve">15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(dollars per T-shirt)</a:t>
            </a:r>
            <a:endParaRPr lang="en-US" sz="1800" dirty="0"/>
          </a:p>
        </p:txBody>
      </p:sp>
      <p:sp>
        <p:nvSpPr>
          <p:cNvPr id="17" name="Shape 17"/>
          <p:cNvSpPr txBox="1"/>
          <p:nvPr/>
        </p:nvSpPr>
        <p:spPr>
          <a:xfrm>
            <a:off x="2849819" y="3639312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Selling price of a T-shirt</a:t>
            </a:r>
            <a:endParaRPr lang="en-US" sz="1800" dirty="0"/>
          </a:p>
        </p:txBody>
      </p:sp>
      <p:sp>
        <p:nvSpPr>
          <p:cNvPr id="18" name="Shape 18"/>
          <p:cNvSpPr txBox="1"/>
          <p:nvPr/>
        </p:nvSpPr>
        <p:spPr>
          <a:xfrm>
            <a:off x="7177857" y="3639312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Average rate of change (slope)</a:t>
            </a:r>
            <a:endParaRPr lang="en-US" sz="1800" dirty="0"/>
          </a:p>
        </p:txBody>
      </p:sp>
      <p:cxnSp>
        <p:nvCxnSpPr>
          <p:cNvPr id="19" name="Line 19"/>
          <p:cNvCxnSpPr/>
          <p:nvPr/>
        </p:nvCxnSpPr>
        <p:spPr>
          <a:xfrm>
            <a:off x="685800" y="438912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20" name="Shape 20"/>
          <p:cNvSpPr txBox="1"/>
          <p:nvPr/>
        </p:nvSpPr>
        <p:spPr>
          <a:xfrm>
            <a:off x="685800" y="4389120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800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 − 3)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(T-shirts)</a:t>
            </a:r>
            <a:endParaRPr lang="en-US" sz="1800" dirty="0"/>
          </a:p>
        </p:txBody>
      </p:sp>
      <p:sp>
        <p:nvSpPr>
          <p:cNvPr id="21" name="Shape 21"/>
          <p:cNvSpPr txBox="1"/>
          <p:nvPr/>
        </p:nvSpPr>
        <p:spPr>
          <a:xfrm>
            <a:off x="2849819" y="4389120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Shirts that earn money, not counting the 3 free ones</a:t>
            </a:r>
            <a:endParaRPr lang="en-US" sz="1800" dirty="0"/>
          </a:p>
        </p:txBody>
      </p:sp>
      <p:sp>
        <p:nvSpPr>
          <p:cNvPr id="22" name="Shape 22"/>
          <p:cNvSpPr txBox="1"/>
          <p:nvPr/>
        </p:nvSpPr>
        <p:spPr>
          <a:xfrm>
            <a:off x="7177857" y="4389120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The input minus a constant</a:t>
            </a:r>
            <a:endParaRPr lang="en-US" sz="1800" dirty="0"/>
          </a:p>
        </p:txBody>
      </p:sp>
      <p:cxnSp>
        <p:nvCxnSpPr>
          <p:cNvPr id="23" name="Line 23"/>
          <p:cNvCxnSpPr/>
          <p:nvPr/>
        </p:nvCxnSpPr>
        <p:spPr>
          <a:xfrm>
            <a:off x="685800" y="513892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24" name="Shape 24"/>
          <p:cNvSpPr txBox="1"/>
          <p:nvPr/>
        </p:nvSpPr>
        <p:spPr>
          <a:xfrm>
            <a:off x="685800" y="5138928"/>
            <a:ext cx="2164019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15</a:t>
            </a:r>
            <a:r>
              <a:rPr lang="en-US" sz="1800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(dollars)</a:t>
            </a:r>
            <a:endParaRPr lang="en-US" sz="1800" dirty="0"/>
          </a:p>
        </p:txBody>
      </p:sp>
      <p:sp>
        <p:nvSpPr>
          <p:cNvPr id="25" name="Shape 25"/>
          <p:cNvSpPr txBox="1"/>
          <p:nvPr/>
        </p:nvSpPr>
        <p:spPr>
          <a:xfrm>
            <a:off x="2849819" y="5138928"/>
            <a:ext cx="4328038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Earnings for </a:t>
            </a:r>
            <a:r>
              <a:rPr lang="en-US" sz="1800" dirty="0" i="1">
                <a:solidFill>
                  <a:srgbClr val="16171D"/>
                </a:solidFill>
                <a:latin typeface="Segoe UI"/>
                <a:cs typeface="Segoe UI"/>
              </a:rPr>
              <a:t xml:space="preserve">t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T-shirts</a:t>
            </a:r>
            <a:endParaRPr lang="en-US" sz="1800" dirty="0"/>
          </a:p>
        </p:txBody>
      </p:sp>
      <p:sp>
        <p:nvSpPr>
          <p:cNvPr id="26" name="Shape 26"/>
          <p:cNvSpPr txBox="1"/>
          <p:nvPr/>
        </p:nvSpPr>
        <p:spPr>
          <a:xfrm>
            <a:off x="7177857" y="5138928"/>
            <a:ext cx="4328038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The rate times the input</a:t>
            </a:r>
            <a:endParaRPr lang="en-US" sz="1800" dirty="0"/>
          </a:p>
        </p:txBody>
      </p:sp>
      <p:cxnSp>
        <p:nvCxnSpPr>
          <p:cNvPr id="27" name="Line 27"/>
          <p:cNvCxnSpPr/>
          <p:nvPr/>
        </p:nvCxnSpPr>
        <p:spPr>
          <a:xfrm>
            <a:off x="685800" y="5614416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28" name="Shape 28"/>
          <p:cNvSpPr txBox="1"/>
          <p:nvPr/>
        </p:nvSpPr>
        <p:spPr>
          <a:xfrm>
            <a:off x="685800" y="5614416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3050B8"/>
                </a:solidFill>
                <a:latin typeface="Cambria"/>
                <a:cs typeface="Cambria"/>
              </a:rPr>
              <a:t xml:space="preserve">−45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(dollars)</a:t>
            </a:r>
            <a:endParaRPr lang="en-US" sz="1800" dirty="0"/>
          </a:p>
        </p:txBody>
      </p:sp>
      <p:sp>
        <p:nvSpPr>
          <p:cNvPr id="29" name="Shape 29"/>
          <p:cNvSpPr txBox="1"/>
          <p:nvPr/>
        </p:nvSpPr>
        <p:spPr>
          <a:xfrm>
            <a:off x="2849819" y="5614416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Money not earned because 3 shirts were given away</a:t>
            </a:r>
            <a:endParaRPr lang="en-US" sz="1800" dirty="0"/>
          </a:p>
        </p:txBody>
      </p:sp>
      <p:sp>
        <p:nvSpPr>
          <p:cNvPr id="30" name="Shape 30"/>
          <p:cNvSpPr txBox="1"/>
          <p:nvPr/>
        </p:nvSpPr>
        <p:spPr>
          <a:xfrm>
            <a:off x="7177857" y="5614416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The </a:t>
            </a:r>
            <a:r>
              <a:rPr lang="en-US" sz="180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</a:t>
            </a:r>
            <a:endParaRPr lang="en-US" sz="1800" dirty="0"/>
          </a:p>
        </p:txBody>
      </p:sp>
      <p:cxnSp>
        <p:nvCxnSpPr>
          <p:cNvPr id="31" name="Line 31"/>
          <p:cNvCxnSpPr/>
          <p:nvPr/>
        </p:nvCxnSpPr>
        <p:spPr>
          <a:xfrm>
            <a:off x="685800" y="6364224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32" name="Slide Number 32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22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9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9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4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1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3" fill="hold">
                      <p:stCondLst>
                        <p:cond delay="indefinite"/>
                      </p:stCondLst>
                      <p:childTnLst>
                        <p:par>
                          <p:cTn id="134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5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6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0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1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5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6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0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1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210312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Topic 2 · Lesson 3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2512314"/>
            <a:ext cx="10820095" cy="13121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8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Back to Topic 2</a:t>
            </a:r>
            <a:endParaRPr lang="en-US" sz="82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3995928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Catch-up done. Now today's Topic 2 lesson.</a:t>
            </a:r>
            <a:endParaRPr lang="en-US" sz="2250" dirty="0"/>
          </a:p>
        </p:txBody>
      </p:sp>
      <p:sp>
        <p:nvSpPr>
          <p:cNvPr id="5" name="Slide Number 5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23</a:t>
            </a:fld>
          </a:p>
        </p:txBody>
      </p:sp>
    </p:spTree>
  </p:cSld>
  <p:clrMapOvr>
    <a:masterClrMapping/>
  </p:clrMapOvr>
  <p:transition spd="med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Activity 3.2 · Horizontal and Vertical Lines · SE pp. 310–311 · ★ Essential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Extend the segments into lines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Line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p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is vertical: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4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 Lines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q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r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s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are horizontal: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4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8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12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2248662"/>
            <a:ext cx="5219548" cy="134797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420112"/>
            <a:ext cx="480044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Horizontal</a:t>
            </a:r>
            <a:endParaRPr lang="en-US" sz="2100" dirty="0"/>
          </a:p>
        </p:txBody>
      </p:sp>
      <p:sp>
        <p:nvSpPr>
          <p:cNvPr id="6" name="Shape 6"/>
          <p:cNvSpPr txBox="1"/>
          <p:nvPr/>
        </p:nvSpPr>
        <p:spPr>
          <a:xfrm>
            <a:off x="895350" y="2890266"/>
            <a:ext cx="48004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When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goes up 1,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doesn't change. Slope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= 0/(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₂ −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₁) = 0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685800" y="3691890"/>
            <a:ext cx="5219548" cy="134797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895350" y="3863340"/>
            <a:ext cx="480044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Vertical</a:t>
            </a:r>
            <a:endParaRPr lang="en-US" sz="2100" dirty="0"/>
          </a:p>
        </p:txBody>
      </p:sp>
      <p:sp>
        <p:nvSpPr>
          <p:cNvPr id="9" name="Shape 9"/>
          <p:cNvSpPr txBox="1"/>
          <p:nvPr/>
        </p:nvSpPr>
        <p:spPr>
          <a:xfrm>
            <a:off x="895350" y="4333494"/>
            <a:ext cx="48004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When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goes up 1,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doesn't change. Slope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= 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₂ −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₁)/0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undefined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11" name="Shape 11"/>
          <p:cNvSpPr/>
          <p:nvPr/>
        </p:nvSpPr>
        <p:spPr>
          <a:xfrm>
            <a:off x="6286348" y="1618488"/>
            <a:ext cx="3048000" cy="304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12" name="Line 12"/>
          <p:cNvCxnSpPr/>
          <p:nvPr/>
        </p:nvCxnSpPr>
        <p:spPr>
          <a:xfrm>
            <a:off x="6610198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3" name="Line 13"/>
          <p:cNvCxnSpPr/>
          <p:nvPr/>
        </p:nvCxnSpPr>
        <p:spPr>
          <a:xfrm>
            <a:off x="6755189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4" name="Line 14"/>
          <p:cNvCxnSpPr/>
          <p:nvPr/>
        </p:nvCxnSpPr>
        <p:spPr>
          <a:xfrm>
            <a:off x="6900181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5" name="Line 15"/>
          <p:cNvCxnSpPr/>
          <p:nvPr/>
        </p:nvCxnSpPr>
        <p:spPr>
          <a:xfrm>
            <a:off x="7045173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6" name="Line 16"/>
          <p:cNvCxnSpPr/>
          <p:nvPr/>
        </p:nvCxnSpPr>
        <p:spPr>
          <a:xfrm>
            <a:off x="7190164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7" name="Line 17"/>
          <p:cNvCxnSpPr/>
          <p:nvPr/>
        </p:nvCxnSpPr>
        <p:spPr>
          <a:xfrm>
            <a:off x="7335156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8" name="Line 18"/>
          <p:cNvCxnSpPr/>
          <p:nvPr/>
        </p:nvCxnSpPr>
        <p:spPr>
          <a:xfrm>
            <a:off x="7480148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9" name="Line 19"/>
          <p:cNvCxnSpPr/>
          <p:nvPr/>
        </p:nvCxnSpPr>
        <p:spPr>
          <a:xfrm>
            <a:off x="7625139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0" name="Line 20"/>
          <p:cNvCxnSpPr/>
          <p:nvPr/>
        </p:nvCxnSpPr>
        <p:spPr>
          <a:xfrm>
            <a:off x="7770131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1" name="Line 21"/>
          <p:cNvCxnSpPr/>
          <p:nvPr/>
        </p:nvCxnSpPr>
        <p:spPr>
          <a:xfrm>
            <a:off x="7915123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2" name="Line 22"/>
          <p:cNvCxnSpPr/>
          <p:nvPr/>
        </p:nvCxnSpPr>
        <p:spPr>
          <a:xfrm>
            <a:off x="8060114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3" name="Line 23"/>
          <p:cNvCxnSpPr/>
          <p:nvPr/>
        </p:nvCxnSpPr>
        <p:spPr>
          <a:xfrm>
            <a:off x="8205106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4" name="Line 24"/>
          <p:cNvCxnSpPr/>
          <p:nvPr/>
        </p:nvCxnSpPr>
        <p:spPr>
          <a:xfrm>
            <a:off x="8350098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5" name="Line 25"/>
          <p:cNvCxnSpPr/>
          <p:nvPr/>
        </p:nvCxnSpPr>
        <p:spPr>
          <a:xfrm>
            <a:off x="8495089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6" name="Line 26"/>
          <p:cNvCxnSpPr/>
          <p:nvPr/>
        </p:nvCxnSpPr>
        <p:spPr>
          <a:xfrm>
            <a:off x="8640081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7" name="Line 27"/>
          <p:cNvCxnSpPr/>
          <p:nvPr/>
        </p:nvCxnSpPr>
        <p:spPr>
          <a:xfrm>
            <a:off x="8785073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8" name="Line 28"/>
          <p:cNvCxnSpPr/>
          <p:nvPr/>
        </p:nvCxnSpPr>
        <p:spPr>
          <a:xfrm>
            <a:off x="8930064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9" name="Line 29"/>
          <p:cNvCxnSpPr/>
          <p:nvPr/>
        </p:nvCxnSpPr>
        <p:spPr>
          <a:xfrm>
            <a:off x="9075056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0" name="Line 30"/>
          <p:cNvCxnSpPr/>
          <p:nvPr/>
        </p:nvCxnSpPr>
        <p:spPr>
          <a:xfrm>
            <a:off x="9220048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1" name="Line 31"/>
          <p:cNvCxnSpPr/>
          <p:nvPr/>
        </p:nvCxnSpPr>
        <p:spPr>
          <a:xfrm>
            <a:off x="6610198" y="441883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2" name="Line 32"/>
          <p:cNvCxnSpPr/>
          <p:nvPr/>
        </p:nvCxnSpPr>
        <p:spPr>
          <a:xfrm>
            <a:off x="6610198" y="426961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3" name="Line 33"/>
          <p:cNvCxnSpPr/>
          <p:nvPr/>
        </p:nvCxnSpPr>
        <p:spPr>
          <a:xfrm>
            <a:off x="6610198" y="412038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4" name="Line 34"/>
          <p:cNvCxnSpPr/>
          <p:nvPr/>
        </p:nvCxnSpPr>
        <p:spPr>
          <a:xfrm>
            <a:off x="6610198" y="397116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5" name="Line 35"/>
          <p:cNvCxnSpPr/>
          <p:nvPr/>
        </p:nvCxnSpPr>
        <p:spPr>
          <a:xfrm>
            <a:off x="6610198" y="382193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6" name="Line 36"/>
          <p:cNvCxnSpPr/>
          <p:nvPr/>
        </p:nvCxnSpPr>
        <p:spPr>
          <a:xfrm>
            <a:off x="6610198" y="367271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7" name="Line 37"/>
          <p:cNvCxnSpPr/>
          <p:nvPr/>
        </p:nvCxnSpPr>
        <p:spPr>
          <a:xfrm>
            <a:off x="6610198" y="352348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8" name="Line 38"/>
          <p:cNvCxnSpPr/>
          <p:nvPr/>
        </p:nvCxnSpPr>
        <p:spPr>
          <a:xfrm>
            <a:off x="6610198" y="337426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9" name="Line 39"/>
          <p:cNvCxnSpPr/>
          <p:nvPr/>
        </p:nvCxnSpPr>
        <p:spPr>
          <a:xfrm>
            <a:off x="6610198" y="322503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0" name="Line 40"/>
          <p:cNvCxnSpPr/>
          <p:nvPr/>
        </p:nvCxnSpPr>
        <p:spPr>
          <a:xfrm>
            <a:off x="6610198" y="307581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1" name="Line 41"/>
          <p:cNvCxnSpPr/>
          <p:nvPr/>
        </p:nvCxnSpPr>
        <p:spPr>
          <a:xfrm>
            <a:off x="6610198" y="292658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2" name="Line 42"/>
          <p:cNvCxnSpPr/>
          <p:nvPr/>
        </p:nvCxnSpPr>
        <p:spPr>
          <a:xfrm>
            <a:off x="6610198" y="277736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3" name="Line 43"/>
          <p:cNvCxnSpPr/>
          <p:nvPr/>
        </p:nvCxnSpPr>
        <p:spPr>
          <a:xfrm>
            <a:off x="6610198" y="262813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4" name="Line 44"/>
          <p:cNvCxnSpPr/>
          <p:nvPr/>
        </p:nvCxnSpPr>
        <p:spPr>
          <a:xfrm>
            <a:off x="6610198" y="247891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5" name="Line 45"/>
          <p:cNvCxnSpPr/>
          <p:nvPr/>
        </p:nvCxnSpPr>
        <p:spPr>
          <a:xfrm>
            <a:off x="6610198" y="232968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6" name="Line 46"/>
          <p:cNvCxnSpPr/>
          <p:nvPr/>
        </p:nvCxnSpPr>
        <p:spPr>
          <a:xfrm>
            <a:off x="6610198" y="218046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7" name="Line 47"/>
          <p:cNvCxnSpPr/>
          <p:nvPr/>
        </p:nvCxnSpPr>
        <p:spPr>
          <a:xfrm>
            <a:off x="6610198" y="203123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8" name="Line 48"/>
          <p:cNvCxnSpPr/>
          <p:nvPr/>
        </p:nvCxnSpPr>
        <p:spPr>
          <a:xfrm>
            <a:off x="6610198" y="188201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9" name="Line 49"/>
          <p:cNvCxnSpPr/>
          <p:nvPr/>
        </p:nvCxnSpPr>
        <p:spPr>
          <a:xfrm>
            <a:off x="6610198" y="173278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0" name="Line 50"/>
          <p:cNvCxnSpPr/>
          <p:nvPr/>
        </p:nvCxnSpPr>
        <p:spPr>
          <a:xfrm>
            <a:off x="6755189" y="1732788"/>
            <a:ext cx="0" cy="26860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51" name="Line 51"/>
          <p:cNvCxnSpPr/>
          <p:nvPr/>
        </p:nvCxnSpPr>
        <p:spPr>
          <a:xfrm>
            <a:off x="6610198" y="4269613"/>
            <a:ext cx="260985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52" name="Shape 52"/>
          <p:cNvSpPr txBox="1"/>
          <p:nvPr/>
        </p:nvSpPr>
        <p:spPr>
          <a:xfrm>
            <a:off x="6480869" y="4437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53" name="Shape 53"/>
          <p:cNvSpPr txBox="1"/>
          <p:nvPr/>
        </p:nvSpPr>
        <p:spPr>
          <a:xfrm>
            <a:off x="7060836" y="4437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54" name="Shape 54"/>
          <p:cNvSpPr txBox="1"/>
          <p:nvPr/>
        </p:nvSpPr>
        <p:spPr>
          <a:xfrm>
            <a:off x="7640803" y="4437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8</a:t>
            </a:r>
            <a:endParaRPr lang="en-US" sz="975" dirty="0"/>
          </a:p>
        </p:txBody>
      </p:sp>
      <p:sp>
        <p:nvSpPr>
          <p:cNvPr id="55" name="Shape 55"/>
          <p:cNvSpPr txBox="1"/>
          <p:nvPr/>
        </p:nvSpPr>
        <p:spPr>
          <a:xfrm>
            <a:off x="8220769" y="4437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12</a:t>
            </a:r>
            <a:endParaRPr lang="en-US" sz="975" dirty="0"/>
          </a:p>
        </p:txBody>
      </p:sp>
      <p:sp>
        <p:nvSpPr>
          <p:cNvPr id="56" name="Shape 56"/>
          <p:cNvSpPr txBox="1"/>
          <p:nvPr/>
        </p:nvSpPr>
        <p:spPr>
          <a:xfrm>
            <a:off x="8800736" y="4437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16</a:t>
            </a:r>
            <a:endParaRPr lang="en-US" sz="975" dirty="0"/>
          </a:p>
        </p:txBody>
      </p:sp>
      <p:sp>
        <p:nvSpPr>
          <p:cNvPr id="57" name="Shape 57"/>
          <p:cNvSpPr txBox="1"/>
          <p:nvPr/>
        </p:nvSpPr>
        <p:spPr>
          <a:xfrm>
            <a:off x="6043270" y="417817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58" name="Shape 58"/>
          <p:cNvSpPr txBox="1"/>
          <p:nvPr/>
        </p:nvSpPr>
        <p:spPr>
          <a:xfrm>
            <a:off x="6043270" y="358127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59" name="Shape 59"/>
          <p:cNvSpPr txBox="1"/>
          <p:nvPr/>
        </p:nvSpPr>
        <p:spPr>
          <a:xfrm>
            <a:off x="6043270" y="298437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8</a:t>
            </a:r>
            <a:endParaRPr lang="en-US" sz="975" dirty="0"/>
          </a:p>
        </p:txBody>
      </p:sp>
      <p:sp>
        <p:nvSpPr>
          <p:cNvPr id="60" name="Shape 60"/>
          <p:cNvSpPr txBox="1"/>
          <p:nvPr/>
        </p:nvSpPr>
        <p:spPr>
          <a:xfrm>
            <a:off x="6043270" y="238747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12</a:t>
            </a:r>
            <a:endParaRPr lang="en-US" sz="975" dirty="0"/>
          </a:p>
        </p:txBody>
      </p:sp>
      <p:sp>
        <p:nvSpPr>
          <p:cNvPr id="61" name="Shape 61"/>
          <p:cNvSpPr txBox="1"/>
          <p:nvPr/>
        </p:nvSpPr>
        <p:spPr>
          <a:xfrm>
            <a:off x="6043270" y="179057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16</a:t>
            </a:r>
            <a:endParaRPr lang="en-US" sz="975" dirty="0"/>
          </a:p>
        </p:txBody>
      </p:sp>
      <p:cxnSp>
        <p:nvCxnSpPr>
          <p:cNvPr id="62" name="Line 62"/>
          <p:cNvCxnSpPr/>
          <p:nvPr/>
        </p:nvCxnSpPr>
        <p:spPr>
          <a:xfrm flipV="1">
            <a:off x="7335156" y="1732788"/>
            <a:ext cx="0" cy="2686050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sp>
        <p:nvSpPr>
          <p:cNvPr id="63" name="Shape 63"/>
          <p:cNvSpPr txBox="1"/>
          <p:nvPr/>
        </p:nvSpPr>
        <p:spPr>
          <a:xfrm>
            <a:off x="7411356" y="175183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p</a:t>
            </a:r>
            <a:endParaRPr lang="en-US" sz="1275" dirty="0"/>
          </a:p>
        </p:txBody>
      </p:sp>
      <p:cxnSp>
        <p:nvCxnSpPr>
          <p:cNvPr id="64" name="Line 64"/>
          <p:cNvCxnSpPr/>
          <p:nvPr/>
        </p:nvCxnSpPr>
        <p:spPr>
          <a:xfrm>
            <a:off x="6610198" y="3672713"/>
            <a:ext cx="2609850" cy="0"/>
          </a:xfrm>
          <a:prstGeom prst="line">
            <a:avLst/>
          </a:prstGeom>
          <a:ln w="38100" cap="rnd">
            <a:solidFill>
              <a:srgbClr val="7A4FC4"/>
            </a:solidFill>
          </a:ln>
        </p:spPr>
      </p:cxnSp>
      <p:sp>
        <p:nvSpPr>
          <p:cNvPr id="65" name="Shape 65"/>
          <p:cNvSpPr txBox="1"/>
          <p:nvPr/>
        </p:nvSpPr>
        <p:spPr>
          <a:xfrm>
            <a:off x="6728308" y="3691763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q</a:t>
            </a:r>
            <a:endParaRPr lang="en-US" sz="1275" dirty="0"/>
          </a:p>
        </p:txBody>
      </p:sp>
      <p:cxnSp>
        <p:nvCxnSpPr>
          <p:cNvPr id="66" name="Line 66"/>
          <p:cNvCxnSpPr/>
          <p:nvPr/>
        </p:nvCxnSpPr>
        <p:spPr>
          <a:xfrm>
            <a:off x="6610198" y="3075813"/>
            <a:ext cx="2609850" cy="0"/>
          </a:xfrm>
          <a:prstGeom prst="line">
            <a:avLst/>
          </a:prstGeom>
          <a:ln w="38100" cap="rnd">
            <a:solidFill>
              <a:srgbClr val="7A4FC4"/>
            </a:solidFill>
          </a:ln>
        </p:spPr>
      </p:cxnSp>
      <p:sp>
        <p:nvSpPr>
          <p:cNvPr id="67" name="Shape 67"/>
          <p:cNvSpPr txBox="1"/>
          <p:nvPr/>
        </p:nvSpPr>
        <p:spPr>
          <a:xfrm>
            <a:off x="6728308" y="3094863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r</a:t>
            </a:r>
            <a:endParaRPr lang="en-US" sz="1275" dirty="0"/>
          </a:p>
        </p:txBody>
      </p:sp>
      <p:cxnSp>
        <p:nvCxnSpPr>
          <p:cNvPr id="68" name="Line 68"/>
          <p:cNvCxnSpPr/>
          <p:nvPr/>
        </p:nvCxnSpPr>
        <p:spPr>
          <a:xfrm>
            <a:off x="6610198" y="2478913"/>
            <a:ext cx="2609850" cy="0"/>
          </a:xfrm>
          <a:prstGeom prst="line">
            <a:avLst/>
          </a:prstGeom>
          <a:ln w="38100" cap="rnd">
            <a:solidFill>
              <a:srgbClr val="7A4FC4"/>
            </a:solidFill>
          </a:ln>
        </p:spPr>
      </p:cxnSp>
      <p:sp>
        <p:nvSpPr>
          <p:cNvPr id="69" name="Shape 69"/>
          <p:cNvSpPr txBox="1"/>
          <p:nvPr/>
        </p:nvSpPr>
        <p:spPr>
          <a:xfrm>
            <a:off x="6728308" y="2497963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s</a:t>
            </a:r>
            <a:endParaRPr lang="en-US" sz="1275" dirty="0"/>
          </a:p>
        </p:txBody>
      </p:sp>
      <p:sp>
        <p:nvSpPr>
          <p:cNvPr id="70" name="Shape 70"/>
          <p:cNvSpPr/>
          <p:nvPr/>
        </p:nvSpPr>
        <p:spPr>
          <a:xfrm>
            <a:off x="7282768" y="2426526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1" name="Shape 71"/>
          <p:cNvSpPr txBox="1"/>
          <p:nvPr/>
        </p:nvSpPr>
        <p:spPr>
          <a:xfrm>
            <a:off x="7420881" y="2231263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K</a:t>
            </a:r>
            <a:endParaRPr lang="en-US" sz="1125" dirty="0"/>
          </a:p>
        </p:txBody>
      </p:sp>
      <p:sp>
        <p:nvSpPr>
          <p:cNvPr id="72" name="Shape 72"/>
          <p:cNvSpPr/>
          <p:nvPr/>
        </p:nvSpPr>
        <p:spPr>
          <a:xfrm>
            <a:off x="7282768" y="3023426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3" name="Shape 73"/>
          <p:cNvSpPr txBox="1"/>
          <p:nvPr/>
        </p:nvSpPr>
        <p:spPr>
          <a:xfrm>
            <a:off x="7420881" y="2828163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F</a:t>
            </a:r>
            <a:endParaRPr lang="en-US" sz="1125" dirty="0"/>
          </a:p>
        </p:txBody>
      </p:sp>
      <p:sp>
        <p:nvSpPr>
          <p:cNvPr id="74" name="Shape 74"/>
          <p:cNvSpPr/>
          <p:nvPr/>
        </p:nvSpPr>
        <p:spPr>
          <a:xfrm>
            <a:off x="7282768" y="3620326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5" name="Shape 75"/>
          <p:cNvSpPr txBox="1"/>
          <p:nvPr/>
        </p:nvSpPr>
        <p:spPr>
          <a:xfrm>
            <a:off x="7420881" y="3425063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G</a:t>
            </a:r>
            <a:endParaRPr lang="en-US" sz="1125" dirty="0"/>
          </a:p>
        </p:txBody>
      </p:sp>
      <p:sp>
        <p:nvSpPr>
          <p:cNvPr id="76" name="Shape 76"/>
          <p:cNvSpPr/>
          <p:nvPr/>
        </p:nvSpPr>
        <p:spPr>
          <a:xfrm>
            <a:off x="8732685" y="2426526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7" name="Shape 77"/>
          <p:cNvSpPr txBox="1"/>
          <p:nvPr/>
        </p:nvSpPr>
        <p:spPr>
          <a:xfrm>
            <a:off x="8870798" y="2231263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L</a:t>
            </a:r>
            <a:endParaRPr lang="en-US" sz="1125" dirty="0"/>
          </a:p>
        </p:txBody>
      </p:sp>
      <p:sp>
        <p:nvSpPr>
          <p:cNvPr id="78" name="Shape 78"/>
          <p:cNvSpPr/>
          <p:nvPr/>
        </p:nvSpPr>
        <p:spPr>
          <a:xfrm>
            <a:off x="8732685" y="3023426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9" name="Shape 79"/>
          <p:cNvSpPr txBox="1"/>
          <p:nvPr/>
        </p:nvSpPr>
        <p:spPr>
          <a:xfrm>
            <a:off x="8870798" y="2828163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J</a:t>
            </a:r>
            <a:endParaRPr lang="en-US" sz="1125" dirty="0"/>
          </a:p>
        </p:txBody>
      </p:sp>
      <p:sp>
        <p:nvSpPr>
          <p:cNvPr id="80" name="Shape 80"/>
          <p:cNvSpPr/>
          <p:nvPr/>
        </p:nvSpPr>
        <p:spPr>
          <a:xfrm>
            <a:off x="8732685" y="3620326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81" name="Shape 81"/>
          <p:cNvSpPr txBox="1"/>
          <p:nvPr/>
        </p:nvSpPr>
        <p:spPr>
          <a:xfrm>
            <a:off x="8870798" y="3425063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H</a:t>
            </a:r>
            <a:endParaRPr lang="en-US" sz="1125" dirty="0"/>
          </a:p>
        </p:txBody>
      </p:sp>
      <p:sp>
        <p:nvSpPr>
          <p:cNvPr id="82" name="Slide Number 82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24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7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7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7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7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7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7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Activity 3.2 · Questions 6–10 · SE p. 311 · ★ Essential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Always, sometimes, or never?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All vertical lines are parallel.</a:t>
            </a:r>
            <a:endParaRPr lang="en-US" sz="157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008632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Always.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Their slopes are all undefined.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398776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All horizontal lines are parallel.</a:t>
            </a:r>
            <a:endParaRPr lang="en-US" sz="1575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2788920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Always.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Their slopes are all 0.</a:t>
            </a:r>
            <a:endParaRPr lang="en-US" sz="1575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3179064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A vertical line and a horizontal line?</a:t>
            </a:r>
            <a:endParaRPr lang="en-US" sz="1575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3569208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Always perpendicular.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6286348" y="1618488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Through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(2, −1)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</a:t>
            </a:r>
            <a:endParaRPr lang="en-US" sz="1575" dirty="0"/>
          </a:p>
        </p:txBody>
      </p:sp>
      <p:sp>
        <p:nvSpPr>
          <p:cNvPr id="11" name="Shape 11"/>
          <p:cNvSpPr txBox="1"/>
          <p:nvPr/>
        </p:nvSpPr>
        <p:spPr>
          <a:xfrm>
            <a:off x="6286348" y="2008632"/>
            <a:ext cx="4566285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−1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n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2</a:t>
            </a:r>
            <a:endParaRPr lang="en-US" sz="2325" dirty="0"/>
          </a:p>
        </p:txBody>
      </p:sp>
      <p:sp>
        <p:nvSpPr>
          <p:cNvPr id="12" name="Shape 12"/>
          <p:cNvSpPr txBox="1"/>
          <p:nvPr/>
        </p:nvSpPr>
        <p:spPr>
          <a:xfrm>
            <a:off x="6286348" y="2622804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⊥ to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5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through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(1, 0)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</a:t>
            </a:r>
            <a:endParaRPr lang="en-US" sz="1575" dirty="0"/>
          </a:p>
        </p:txBody>
      </p:sp>
      <p:sp>
        <p:nvSpPr>
          <p:cNvPr id="13" name="Shape 13"/>
          <p:cNvSpPr txBox="1"/>
          <p:nvPr/>
        </p:nvSpPr>
        <p:spPr>
          <a:xfrm>
            <a:off x="6286348" y="3012948"/>
            <a:ext cx="2742194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0</a:t>
            </a:r>
            <a:endParaRPr lang="en-US" sz="2325" dirty="0"/>
          </a:p>
        </p:txBody>
      </p:sp>
      <p:sp>
        <p:nvSpPr>
          <p:cNvPr id="14" name="Shape 14"/>
          <p:cNvSpPr txBox="1"/>
          <p:nvPr/>
        </p:nvSpPr>
        <p:spPr>
          <a:xfrm>
            <a:off x="6286348" y="3627120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⊥ to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−2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through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(5, 6)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</a:t>
            </a:r>
            <a:endParaRPr lang="en-US" sz="1575" dirty="0"/>
          </a:p>
        </p:txBody>
      </p:sp>
      <p:sp>
        <p:nvSpPr>
          <p:cNvPr id="15" name="Shape 15"/>
          <p:cNvSpPr txBox="1"/>
          <p:nvPr/>
        </p:nvSpPr>
        <p:spPr>
          <a:xfrm>
            <a:off x="6286348" y="4017264"/>
            <a:ext cx="2742194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5</a:t>
            </a:r>
            <a:endParaRPr lang="en-US" sz="23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25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Activity 3.3 · Writing Equations of Perpendicular Lines · SE p. 312 · ★ Essential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11064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Use the negative reciprocal slope and point-slope form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144268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1. ⊥ to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2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+ 1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through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(6, 2)</a:t>
            </a:r>
            <a:endParaRPr lang="en-US" sz="157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534412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Slope </a:t>
            </a:r>
            <a:r>
              <a:rPr lang="en-US" sz="1575" dirty="0" b="1">
                <a:solidFill>
                  <a:srgbClr val="C9561F"/>
                </a:solidFill>
                <a:latin typeface="Cambria"/>
                <a:cs typeface="Cambria"/>
              </a:rPr>
              <a:t xml:space="preserve">−½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− 2 = −½(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− 6)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924556"/>
            <a:ext cx="3737153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−½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+ 5</a:t>
            </a:r>
            <a:endParaRPr lang="en-US" sz="2325" dirty="0"/>
          </a:p>
        </p:txBody>
      </p:sp>
      <p:sp>
        <p:nvSpPr>
          <p:cNvPr id="7" name="Shape 7"/>
          <p:cNvSpPr txBox="1"/>
          <p:nvPr/>
        </p:nvSpPr>
        <p:spPr>
          <a:xfrm>
            <a:off x="6286348" y="2144268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2. ⊥ to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−¾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through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(3, −8)</a:t>
            </a:r>
            <a:endParaRPr lang="en-US" sz="1575" dirty="0"/>
          </a:p>
        </p:txBody>
      </p:sp>
      <p:sp>
        <p:nvSpPr>
          <p:cNvPr id="8" name="Shape 8"/>
          <p:cNvSpPr txBox="1"/>
          <p:nvPr/>
        </p:nvSpPr>
        <p:spPr>
          <a:xfrm>
            <a:off x="6286348" y="2534412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Slope </a:t>
            </a:r>
            <a:r>
              <a:rPr lang="en-US" sz="1575" dirty="0" b="1">
                <a:solidFill>
                  <a:srgbClr val="C9561F"/>
                </a:solidFill>
                <a:latin typeface="Cambria"/>
                <a:cs typeface="Cambria"/>
              </a:rPr>
              <a:t xml:space="preserve">4/3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+ 8 = 4/3(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− 3)</a:t>
            </a:r>
            <a:endParaRPr lang="en-US" sz="1575" dirty="0"/>
          </a:p>
        </p:txBody>
      </p:sp>
      <p:sp>
        <p:nvSpPr>
          <p:cNvPr id="9" name="Shape 9"/>
          <p:cNvSpPr txBox="1"/>
          <p:nvPr/>
        </p:nvSpPr>
        <p:spPr>
          <a:xfrm>
            <a:off x="6286348" y="2924556"/>
            <a:ext cx="4068806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4/3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− 12</a:t>
            </a:r>
            <a:endParaRPr lang="en-US" sz="2325" dirty="0"/>
          </a:p>
        </p:txBody>
      </p:sp>
      <p:sp>
        <p:nvSpPr>
          <p:cNvPr id="10" name="Slide Number 10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26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Activity 3.3 · Questions 3–5 · SE pp. 312–313 · ★ Essential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First find the slope of the given line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34288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3. Through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(6, 2)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⊥ to the line through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(−5, 3)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(−1, −9)</a:t>
            </a:r>
            <a:endParaRPr lang="en-US" sz="157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248662"/>
            <a:ext cx="34288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−12/4 = −3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so use </a:t>
            </a:r>
            <a:r>
              <a:rPr lang="en-US" sz="1575" dirty="0" b="1">
                <a:solidFill>
                  <a:srgbClr val="C9561F"/>
                </a:solidFill>
                <a:latin typeface="Cambria"/>
                <a:cs typeface="Cambria"/>
              </a:rPr>
              <a:t xml:space="preserve">⅓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638806"/>
            <a:ext cx="290802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⅓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2325" dirty="0"/>
          </a:p>
        </p:txBody>
      </p:sp>
      <p:sp>
        <p:nvSpPr>
          <p:cNvPr id="7" name="Shape 7"/>
          <p:cNvSpPr txBox="1"/>
          <p:nvPr/>
        </p:nvSpPr>
        <p:spPr>
          <a:xfrm>
            <a:off x="4381398" y="1618488"/>
            <a:ext cx="34288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4. Through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(−2, 7)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⊥ to the line through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(−6, 1)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(0, 4)</a:t>
            </a:r>
            <a:endParaRPr lang="en-US" sz="1575" dirty="0"/>
          </a:p>
        </p:txBody>
      </p:sp>
      <p:sp>
        <p:nvSpPr>
          <p:cNvPr id="8" name="Shape 8"/>
          <p:cNvSpPr txBox="1"/>
          <p:nvPr/>
        </p:nvSpPr>
        <p:spPr>
          <a:xfrm>
            <a:off x="4381398" y="2248662"/>
            <a:ext cx="34288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3/6 = ½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so use </a:t>
            </a:r>
            <a:r>
              <a:rPr lang="en-US" sz="1575" dirty="0" b="1">
                <a:solidFill>
                  <a:srgbClr val="C9561F"/>
                </a:solidFill>
                <a:latin typeface="Cambria"/>
                <a:cs typeface="Cambria"/>
              </a:rPr>
              <a:t xml:space="preserve">−2</a:t>
            </a:r>
            <a:endParaRPr lang="en-US" sz="1575" dirty="0"/>
          </a:p>
        </p:txBody>
      </p:sp>
      <p:sp>
        <p:nvSpPr>
          <p:cNvPr id="9" name="Shape 9"/>
          <p:cNvSpPr txBox="1"/>
          <p:nvPr/>
        </p:nvSpPr>
        <p:spPr>
          <a:xfrm>
            <a:off x="4381398" y="2638806"/>
            <a:ext cx="342889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−2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+ 3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8076997" y="1618488"/>
            <a:ext cx="34288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5. Lines meet at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(5, 9)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; one passes through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(−4, 4)</a:t>
            </a:r>
            <a:endParaRPr lang="en-US" sz="1575" dirty="0"/>
          </a:p>
        </p:txBody>
      </p:sp>
      <p:sp>
        <p:nvSpPr>
          <p:cNvPr id="11" name="Shape 11"/>
          <p:cNvSpPr txBox="1"/>
          <p:nvPr/>
        </p:nvSpPr>
        <p:spPr>
          <a:xfrm>
            <a:off x="8076997" y="2248662"/>
            <a:ext cx="34288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5/9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so use </a:t>
            </a:r>
            <a:r>
              <a:rPr lang="en-US" sz="1575" dirty="0" b="1">
                <a:solidFill>
                  <a:srgbClr val="C9561F"/>
                </a:solidFill>
                <a:latin typeface="Cambria"/>
                <a:cs typeface="Cambria"/>
              </a:rPr>
              <a:t xml:space="preserve">−9/5</a:t>
            </a:r>
            <a:endParaRPr lang="en-US" sz="1575" dirty="0"/>
          </a:p>
        </p:txBody>
      </p:sp>
      <p:sp>
        <p:nvSpPr>
          <p:cNvPr id="12" name="Shape 12"/>
          <p:cNvSpPr txBox="1"/>
          <p:nvPr/>
        </p:nvSpPr>
        <p:spPr>
          <a:xfrm>
            <a:off x="8076997" y="2638806"/>
            <a:ext cx="342889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−9/5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+ 18</a:t>
            </a:r>
            <a:endParaRPr lang="en-US" sz="2325" dirty="0"/>
          </a:p>
        </p:txBody>
      </p:sp>
      <p:sp>
        <p:nvSpPr>
          <p:cNvPr id="13" name="Slide Number 13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27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Talk the Talk · Things Aren't Always What They Seem · SE p. 314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Linh or Jackson?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Linh says lines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a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b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c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are parallel to each other and perpendicular to lines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d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e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 Jackson says they are parallel but </a:t>
            </a: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not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perpendicular to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d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e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439162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Jackson is correct.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The axes use different scales.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905506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Lines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c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have slope 1, so they are parallel. Lines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d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e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have slope −¼.</a:t>
            </a:r>
            <a:endParaRPr lang="en-US" sz="1575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371850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1 · (−¼) ≠ −1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the slopes are not negative reciprocals, so the lines are not perpendicular.</a:t>
            </a:r>
            <a:endParaRPr lang="en-US" sz="1575" dirty="0"/>
          </a:p>
        </p:txBody>
      </p:sp>
      <p:sp>
        <p:nvSpPr>
          <p:cNvPr id="8" name="Slide Number 8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28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Essential Question · Answered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How does rotation give perpendicular slopes?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75638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A 90° rotation maps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,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to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(−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,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, so a slope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/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becomes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−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/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21818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Perpendicular lines have </a:t>
            </a: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negative reciprocal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slopes: their product is −1.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760726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Any vertical line is perpendicular to any horizontal line.</a:t>
            </a:r>
            <a:endParaRPr lang="en-US" sz="1950" dirty="0"/>
          </a:p>
        </p:txBody>
      </p:sp>
      <p:sp>
        <p:nvSpPr>
          <p:cNvPr id="7" name="Slide Number 7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29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Exit Ticket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Show what you know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75638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1. What slope is perpendicular to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−5/2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141982"/>
            <a:ext cx="241054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2/5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775204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2. Write the line ⊥ to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= 3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+ 2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through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(3, 1)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241548"/>
            <a:ext cx="3737153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−⅓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+ 2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3874770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3. Write the vertical line through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(−4, 7)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4341114"/>
            <a:ext cx="290802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−4</a:t>
            </a:r>
            <a:endParaRPr lang="en-US" sz="2325" dirty="0"/>
          </a:p>
        </p:txBody>
      </p:sp>
      <p:sp>
        <p:nvSpPr>
          <p:cNvPr id="10" name="Slide Number 10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30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210312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Topic 2 · Lesson 3 · End of Day 2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2512314"/>
            <a:ext cx="10820095" cy="25694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8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Stop here: Wednesday, October 28</a:t>
            </a:r>
            <a:endParaRPr lang="en-US" sz="82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5253228"/>
            <a:ext cx="10820095" cy="7406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Next class: Thursday, October 29. Lesson 4 in one day: open the Lesson 4 deck. Tonight: the Lesson 3 quiz as homework.</a:t>
            </a:r>
            <a:endParaRPr lang="en-US" sz="2250" dirty="0"/>
          </a:p>
        </p:txBody>
      </p:sp>
      <p:sp>
        <p:nvSpPr>
          <p:cNvPr id="5" name="Slide Number 5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31</a:t>
            </a:fld>
          </a:p>
        </p:txBody>
      </p:sp>
    </p:spTree>
  </p:cSld>
  <p:clrMapOvr>
    <a:masterClrMapping/>
  </p:clrMapOvr>
  <p:transition spd="med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Prepare · SE p. 317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11064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Does each set of ordered pairs represent a function?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144268"/>
            <a:ext cx="5267173" cy="7635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1. {(−1, −1), (0, 0), (1, 1), (2, 2)}</a:t>
            </a:r>
            <a:endParaRPr lang="en-US" sz="2325" dirty="0"/>
          </a:p>
        </p:txBody>
      </p:sp>
      <p:sp>
        <p:nvSpPr>
          <p:cNvPr id="5" name="Shape 5"/>
          <p:cNvSpPr txBox="1"/>
          <p:nvPr/>
        </p:nvSpPr>
        <p:spPr>
          <a:xfrm>
            <a:off x="6238723" y="2144268"/>
            <a:ext cx="3239673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Function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003042"/>
            <a:ext cx="5267173" cy="7635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2. {(−1, −2), (0, 0), (1, 2), (2, 4)}</a:t>
            </a:r>
            <a:endParaRPr lang="en-US" sz="2325" dirty="0"/>
          </a:p>
        </p:txBody>
      </p:sp>
      <p:sp>
        <p:nvSpPr>
          <p:cNvPr id="7" name="Shape 7"/>
          <p:cNvSpPr txBox="1"/>
          <p:nvPr/>
        </p:nvSpPr>
        <p:spPr>
          <a:xfrm>
            <a:off x="6238723" y="3003042"/>
            <a:ext cx="3239673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Function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3861816"/>
            <a:ext cx="5267173" cy="7635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3. {(−1, −1), (0, −1), (1, −1), (2, −1)}</a:t>
            </a:r>
            <a:endParaRPr lang="en-US" sz="2325" dirty="0"/>
          </a:p>
        </p:txBody>
      </p:sp>
      <p:sp>
        <p:nvSpPr>
          <p:cNvPr id="9" name="Shape 9"/>
          <p:cNvSpPr txBox="1"/>
          <p:nvPr/>
        </p:nvSpPr>
        <p:spPr>
          <a:xfrm>
            <a:off x="6238723" y="3861816"/>
            <a:ext cx="3239673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Function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685800" y="4720590"/>
            <a:ext cx="5267173" cy="7635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4. {(−1, −1), (−1, 0), (−1, 1), (−1, 2)}</a:t>
            </a:r>
            <a:endParaRPr lang="en-US" sz="2325" dirty="0"/>
          </a:p>
        </p:txBody>
      </p:sp>
      <p:sp>
        <p:nvSpPr>
          <p:cNvPr id="11" name="Shape 11"/>
          <p:cNvSpPr txBox="1"/>
          <p:nvPr/>
        </p:nvSpPr>
        <p:spPr>
          <a:xfrm>
            <a:off x="6238723" y="4720590"/>
            <a:ext cx="4234632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Not a function</a:t>
            </a:r>
            <a:endParaRPr lang="en-US" sz="2325" dirty="0"/>
          </a:p>
        </p:txBody>
      </p:sp>
      <p:sp>
        <p:nvSpPr>
          <p:cNvPr id="12" name="Slide Number 12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32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Practice Online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Bell Work, Homework and Quiz</a:t>
            </a:r>
            <a:endParaRPr lang="en-US" sz="34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1808988"/>
            <a:ext cx="3378098" cy="1978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980438"/>
            <a:ext cx="29589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Bell work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450592"/>
            <a:ext cx="29589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3050B8"/>
                </a:solidFill>
                <a:latin typeface="Segoe UI"/>
                <a:cs typeface="Segoe UI"/>
                <a:hlinkClick r:id="rId3"/>
              </a:rPr>
              <a:t xml:space="preserve">Day 1 →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575" dirty="0" b="1">
                <a:solidFill>
                  <a:srgbClr val="3050B8"/>
                </a:solidFill>
                <a:latin typeface="Segoe UI"/>
                <a:cs typeface="Segoe UI"/>
                <a:hlinkClick r:id="rId4"/>
              </a:rPr>
              <a:t xml:space="preserve">Day 2 →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895350" y="2840736"/>
            <a:ext cx="295899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4 questions each, the same as the bell work slides. Scored when students submit.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4406798" y="1808988"/>
            <a:ext cx="3378098" cy="15880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4616348" y="1980438"/>
            <a:ext cx="29589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3050B8"/>
                </a:solidFill>
                <a:latin typeface="Segoe UI"/>
                <a:cs typeface="Segoe UI"/>
                <a:hlinkClick r:id="rId5"/>
              </a:rPr>
              <a:t xml:space="preserve">Homework →</a:t>
            </a:r>
            <a:endParaRPr lang="en-US" sz="2100" dirty="0"/>
          </a:p>
        </p:txBody>
      </p:sp>
      <p:sp>
        <p:nvSpPr>
          <p:cNvPr id="9" name="Shape 9"/>
          <p:cNvSpPr txBox="1"/>
          <p:nvPr/>
        </p:nvSpPr>
        <p:spPr>
          <a:xfrm>
            <a:off x="4616348" y="2450592"/>
            <a:ext cx="295899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10 practice questions. Each answer is checked right away, with an explanation.</a:t>
            </a:r>
            <a:endParaRPr lang="en-US" sz="1575" dirty="0"/>
          </a:p>
        </p:txBody>
      </p:sp>
      <p:sp>
        <p:nvSpPr>
          <p:cNvPr id="13" name="Shape 13"/>
          <p:cNvSpPr txBox="1"/>
          <p:nvPr/>
        </p:nvSpPr>
        <p:spPr>
          <a:xfrm>
            <a:off x="8127797" y="1808988"/>
            <a:ext cx="3378098" cy="15880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8337347" y="1980438"/>
            <a:ext cx="29589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3050B8"/>
                </a:solidFill>
                <a:latin typeface="Segoe UI"/>
                <a:cs typeface="Segoe UI"/>
                <a:hlinkClick r:id="rId6"/>
              </a:rPr>
              <a:t xml:space="preserve">Quiz →</a:t>
            </a:r>
            <a:endParaRPr lang="en-US" sz="2100" dirty="0"/>
          </a:p>
        </p:txBody>
      </p:sp>
      <p:sp>
        <p:nvSpPr>
          <p:cNvPr id="12" name="Shape 12"/>
          <p:cNvSpPr txBox="1"/>
          <p:nvPr/>
        </p:nvSpPr>
        <p:spPr>
          <a:xfrm>
            <a:off x="8337347" y="2450592"/>
            <a:ext cx="295899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10 questions, scored when students submit. Correct answers are shown after submitting.</a:t>
            </a:r>
            <a:endParaRPr lang="en-US" sz="1575" dirty="0"/>
          </a:p>
        </p:txBody>
      </p:sp>
      <p:sp>
        <p:nvSpPr>
          <p:cNvPr id="14" name="Shape 14"/>
          <p:cNvSpPr txBox="1"/>
          <p:nvPr/>
        </p:nvSpPr>
        <p:spPr>
          <a:xfrm>
            <a:off x="685800" y="4015740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All are multiple choice. The homework follows the Lesson 3 Assignment (SE pp. 315–317).</a:t>
            </a:r>
            <a:endParaRPr lang="en-US" sz="1575" dirty="0"/>
          </a:p>
        </p:txBody>
      </p:sp>
      <p:sp>
        <p:nvSpPr>
          <p:cNvPr id="15" name="Slide Number 15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33</a:t>
            </a:fld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Determining Slopes of Perpendicular Lin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33</Slides>
  <Notes>33</Notes>
</Properties>
</file>

<file path=docProps/core.xml><?xml version="1.0" encoding="utf-8"?>
<cp:coreProperties xmlns:cp="http://schemas.openxmlformats.org/package/2006/metadata/core-properties" xmlns:dc="http://purl.org/dc/elements/1.1/">
  <dc:title>Determining Slopes of Perpendicular Lines</dc:title>
  <dc:subject>Bluebonnet Algebra I</dc:subject>
</cp:coreProperties>
</file>