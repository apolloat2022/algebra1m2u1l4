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Notes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Added for the catch-up day; not from the textbook. The class finished Activity 1.1, so this one class covers only the starred activities left in Lessons 1 and 2. Skip Activity 1.5 and both Talk the Talks; they are not on the test. Keep each part to its time: show the slide, do one example together, move on. The homework tonight practices the same skills in the test's style.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Added for this deck; not from the textbook. Have this up as students walk in; they work silently while you take attendance (about 5 minutes). The same 4 questions are on the online Day 1 bell work. Reveal the answers one at a time. Answer key: 1. Subtracting from the output is a vertical translation down 3. 2. In y = mx + b, m is the slope. 3. Set g(x) = 0: 3x − 8 = 0, so x = 8/3. 4. Replace f(x) with x: g(x) = 2x − 3, a vertical dilation by 2 and a translation down 3.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Activity 1.2, 15–20 minutes. The a's cancel, so the slopes are the same: the image is parallel to the pre-image. Ask: Why did the x-coordinates stay the same? (A vertical translation moves only up or down.)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 3 has no single answer: let students defend the method they prefer. Catalina thinks in translations; James uses the slope and a point.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copy the definition. Watch for students who say the slope 'increases' when a = −3: it gets steeper, but the slope is −3.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close Day 2, have students reread the Essential Question. End of Day 2.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Activity 1.4, 20 minutes. To graph g(x), start at the y-intercept (0, d) and use the slope a. Teacher-guide note: the slide numbers two items 'a.' in the student slides; they are b and e. Ask: Which number tells you the slope? Which tells you the y-intercept?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Activity 2.1, 30–35 minutes. A horizontal translation left 3 subtracts 3 from each input value; the outputs stay the same.Ask: Which values were affected? (Left 3 changed the inputs; up 3 changed the outputs.)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Watch the sign: f(x − 3) moves right 3, f(x + 3) moves left 3.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of Day 1.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Activity 2.2, 15–20 minutes. Changing the inputs by a factor of 1/2 is a horizontal compression: each point moves halfway to the y-axis.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Activity 2.3, 15–20 minutes. Graph each g(x) on the grids in the book: plot the y-intercept and use the slope. Slide typo in the student slides: items 2, 3, 5 and 6 are numbered '1.'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answer on paper, then click to reveal each answer. Anyone who misses question 3 needs the inside/outside rule again tomorrow during bell work.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homework pages grade themselves and explain each answer.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rgbClr val="E6E8F2"/>
          </a:fgClr>
          <a:bgClr>
            <a:srgbClr val="F7F7FB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rand 101"/>
          <p:cNvSpPr/>
          <p:nvPr userDrawn="1"/>
        </p:nvSpPr>
        <p:spPr>
          <a:xfrm>
            <a:off x="9631375" y="128016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3050B8"/>
          </a:solidFill>
          <a:ln>
            <a:noFill/>
          </a:ln>
        </p:spPr>
      </p:sp>
      <p:sp>
        <p:nvSpPr>
          <p:cNvPr id="102" name="Brand 102"/>
          <p:cNvSpPr/>
          <p:nvPr userDrawn="1"/>
        </p:nvSpPr>
        <p:spPr>
          <a:xfrm>
            <a:off x="9748818" y="172593"/>
            <a:ext cx="39434" cy="3943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3" name="Brand 103"/>
          <p:cNvSpPr/>
          <p:nvPr userDrawn="1"/>
        </p:nvSpPr>
        <p:spPr>
          <a:xfrm>
            <a:off x="9719672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4" name="Brand 104"/>
          <p:cNvSpPr/>
          <p:nvPr userDrawn="1"/>
        </p:nvSpPr>
        <p:spPr>
          <a:xfrm>
            <a:off x="9774536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5" name="Brand 105"/>
          <p:cNvSpPr/>
          <p:nvPr userDrawn="1"/>
        </p:nvSpPr>
        <p:spPr>
          <a:xfrm>
            <a:off x="9746247" y="230886"/>
            <a:ext cx="44577" cy="4457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6" name="Brand 106"/>
          <p:cNvSpPr/>
          <p:nvPr userDrawn="1"/>
        </p:nvSpPr>
        <p:spPr>
          <a:xfrm>
            <a:off x="9709385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7" name="Brand 107"/>
          <p:cNvSpPr/>
          <p:nvPr userDrawn="1"/>
        </p:nvSpPr>
        <p:spPr>
          <a:xfrm>
            <a:off x="9781394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8" name="Brand 108"/>
          <p:cNvSpPr/>
          <p:nvPr userDrawn="1"/>
        </p:nvSpPr>
        <p:spPr>
          <a:xfrm>
            <a:off x="9761677" y="303752"/>
            <a:ext cx="13716" cy="55721"/>
          </a:xfrm>
          <a:prstGeom prst="roundRect">
            <a:avLst>
              <a:gd name="adj" fmla="val 50000"/>
            </a:avLst>
          </a:prstGeom>
          <a:solidFill>
            <a:srgbClr val="9FD18B"/>
          </a:solidFill>
          <a:ln>
            <a:noFill/>
          </a:ln>
        </p:spPr>
      </p:sp>
      <p:sp>
        <p:nvSpPr>
          <p:cNvPr id="109" name="Shape 109"/>
          <p:cNvSpPr txBox="1"/>
          <p:nvPr/>
        </p:nvSpPr>
        <p:spPr>
          <a:xfrm>
            <a:off x="9960559" y="109728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16171D"/>
                </a:solidFill>
                <a:latin typeface="Segoe UI"/>
                <a:cs typeface="Segoe UI"/>
              </a:rPr>
              <a:t xml:space="preserve">Bluebonnet </a:t>
            </a: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Algebra I</a:t>
            </a:r>
            <a:endParaRPr lang="en-US" sz="11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algebra1m2u1l4.vercel.app/Module 2 topic 2/t2-lesson1-homework.html" TargetMode="External"/><Relationship Id="rId4" Type="http://schemas.openxmlformats.org/officeDocument/2006/relationships/hyperlink" Target="https://algebra1m2u1l4.vercel.app/Module 2 topic 2/t2-lesson2-homework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Catch-Up Day · Monday, October 26 · Topic 2 Lessons 1–2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Today: the essentials of Lessons 1 and 2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94688"/>
            <a:ext cx="1321308" cy="44348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Cambria"/>
                <a:cs typeface="Cambria"/>
              </a:rPr>
              <a:t xml:space="preserve">5 min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2007108" y="1694688"/>
            <a:ext cx="10722102" cy="44348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Bell work while you take attendance (Lesson 2, Day 1)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138172"/>
            <a:ext cx="1321308" cy="44348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Cambria"/>
                <a:cs typeface="Cambria"/>
              </a:rPr>
              <a:t xml:space="preserve">10 min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2007108" y="2138172"/>
            <a:ext cx="10722102" cy="44348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Lesson 1: parallel lines (1.2) and vertical dilations (1.3) ★</a:t>
            </a:r>
            <a:endParaRPr lang="en-US" sz="1950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2581656"/>
            <a:ext cx="1321308" cy="44348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Cambria"/>
                <a:cs typeface="Cambria"/>
              </a:rPr>
              <a:t xml:space="preserve">7 min</a:t>
            </a:r>
            <a:endParaRPr lang="en-US" sz="1950" dirty="0"/>
          </a:p>
        </p:txBody>
      </p:sp>
      <p:sp>
        <p:nvSpPr>
          <p:cNvPr id="9" name="Shape 9"/>
          <p:cNvSpPr txBox="1"/>
          <p:nvPr/>
        </p:nvSpPr>
        <p:spPr>
          <a:xfrm>
            <a:off x="2007108" y="2581656"/>
            <a:ext cx="10722102" cy="44348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Lesson 1: both at once,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·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 +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d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(1.4) ★</a:t>
            </a:r>
            <a:endParaRPr lang="en-US" sz="1950" dirty="0"/>
          </a:p>
        </p:txBody>
      </p:sp>
      <p:sp>
        <p:nvSpPr>
          <p:cNvPr id="10" name="Shape 10"/>
          <p:cNvSpPr txBox="1"/>
          <p:nvPr/>
        </p:nvSpPr>
        <p:spPr>
          <a:xfrm>
            <a:off x="685800" y="3025140"/>
            <a:ext cx="1321308" cy="44348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Cambria"/>
                <a:cs typeface="Cambria"/>
              </a:rPr>
              <a:t xml:space="preserve">15 min</a:t>
            </a:r>
            <a:endParaRPr lang="en-US" sz="1950" dirty="0"/>
          </a:p>
        </p:txBody>
      </p:sp>
      <p:sp>
        <p:nvSpPr>
          <p:cNvPr id="11" name="Shape 11"/>
          <p:cNvSpPr txBox="1"/>
          <p:nvPr/>
        </p:nvSpPr>
        <p:spPr>
          <a:xfrm>
            <a:off x="2007108" y="3025140"/>
            <a:ext cx="10722102" cy="44348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Lesson 2: horizontal translations and dilations, inside vs. outside (2.1–2.3) ★</a:t>
            </a:r>
            <a:endParaRPr lang="en-US" sz="1950" dirty="0"/>
          </a:p>
        </p:txBody>
      </p:sp>
      <p:sp>
        <p:nvSpPr>
          <p:cNvPr id="12" name="Shape 12"/>
          <p:cNvSpPr txBox="1"/>
          <p:nvPr/>
        </p:nvSpPr>
        <p:spPr>
          <a:xfrm>
            <a:off x="685800" y="3468624"/>
            <a:ext cx="1321308" cy="44348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Cambria"/>
                <a:cs typeface="Cambria"/>
              </a:rPr>
              <a:t xml:space="preserve">8 min</a:t>
            </a:r>
            <a:endParaRPr lang="en-US" sz="1950" dirty="0"/>
          </a:p>
        </p:txBody>
      </p:sp>
      <p:sp>
        <p:nvSpPr>
          <p:cNvPr id="13" name="Shape 13"/>
          <p:cNvSpPr txBox="1"/>
          <p:nvPr/>
        </p:nvSpPr>
        <p:spPr>
          <a:xfrm>
            <a:off x="2007108" y="3468624"/>
            <a:ext cx="10722102" cy="44348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Exit check, then homework</a:t>
            </a:r>
            <a:endParaRPr lang="en-US" sz="1950" dirty="0"/>
          </a:p>
        </p:txBody>
      </p:sp>
      <p:sp>
        <p:nvSpPr>
          <p:cNvPr id="14" name="Shape 14"/>
          <p:cNvSpPr txBox="1"/>
          <p:nvPr/>
        </p:nvSpPr>
        <p:spPr>
          <a:xfrm>
            <a:off x="685800" y="4216908"/>
            <a:ext cx="10820095" cy="55778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★ = essential in the 150-day pacing guide. Lesson 3 starts tomorrow; the Topic 2 test is Tuesday, November 3.</a:t>
            </a:r>
            <a:endParaRPr lang="en-US" sz="1650" dirty="0"/>
          </a:p>
        </p:txBody>
      </p:sp>
      <p:sp>
        <p:nvSpPr>
          <p:cNvPr id="15" name="Slide Number 15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</a:t>
            </a:fld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Catch-Up · Lesson 2 · Day 1 · Bell Work · Review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Warm up: work these on your own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75638"/>
            <a:ext cx="5143348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1.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and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 − 3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 How does the graph move?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458212"/>
            <a:ext cx="3902979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Down 3 units</a:t>
            </a:r>
            <a:endParaRPr lang="en-US" sz="232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243834"/>
            <a:ext cx="5143348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2. What is the slope of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 = 3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− 8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? </a:t>
            </a: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(SE p. 288)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4026408"/>
            <a:ext cx="2078888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3</a:t>
            </a:r>
            <a:endParaRPr lang="en-US" sz="2325" dirty="0"/>
          </a:p>
        </p:txBody>
      </p:sp>
      <p:sp>
        <p:nvSpPr>
          <p:cNvPr id="8" name="Shape 8"/>
          <p:cNvSpPr txBox="1"/>
          <p:nvPr/>
        </p:nvSpPr>
        <p:spPr>
          <a:xfrm>
            <a:off x="6362548" y="1675638"/>
            <a:ext cx="5143348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3. What is the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-intercept of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 = 3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− 8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? </a:t>
            </a: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(SE p. 288)</a:t>
            </a:r>
            <a:endParaRPr lang="en-US" sz="1950" dirty="0"/>
          </a:p>
        </p:txBody>
      </p:sp>
      <p:sp>
        <p:nvSpPr>
          <p:cNvPr id="9" name="Shape 9"/>
          <p:cNvSpPr txBox="1"/>
          <p:nvPr/>
        </p:nvSpPr>
        <p:spPr>
          <a:xfrm>
            <a:off x="6362548" y="2458212"/>
            <a:ext cx="3239673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(8/3, 0)</a:t>
            </a:r>
            <a:endParaRPr lang="en-US" sz="2325" dirty="0"/>
          </a:p>
        </p:txBody>
      </p:sp>
      <p:sp>
        <p:nvSpPr>
          <p:cNvPr id="10" name="Shape 10"/>
          <p:cNvSpPr txBox="1"/>
          <p:nvPr/>
        </p:nvSpPr>
        <p:spPr>
          <a:xfrm>
            <a:off x="6362548" y="3243834"/>
            <a:ext cx="5143348" cy="9464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4. Let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and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 = 2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 − 3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 Which is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in slope-intercept form? </a:t>
            </a: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(SE p. 280)</a:t>
            </a:r>
            <a:endParaRPr lang="en-US" sz="1950" dirty="0"/>
          </a:p>
        </p:txBody>
      </p:sp>
      <p:sp>
        <p:nvSpPr>
          <p:cNvPr id="11" name="Shape 11"/>
          <p:cNvSpPr txBox="1"/>
          <p:nvPr/>
        </p:nvSpPr>
        <p:spPr>
          <a:xfrm>
            <a:off x="6362548" y="4323588"/>
            <a:ext cx="4068806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 = 2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− 3</a:t>
            </a:r>
            <a:endParaRPr lang="en-US" sz="2325" dirty="0"/>
          </a:p>
        </p:txBody>
      </p:sp>
      <p:sp>
        <p:nvSpPr>
          <p:cNvPr id="12" name="Slide Number 12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2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Catch-Up · Lesson 1 · Activity 1.2 · Slopes of Parallel Lines · SE p. 275 · ★ Essential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Will the graphs of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j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 and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q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 ever intersect?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10820095" cy="4892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850" dirty="0" i="1">
                <a:solidFill>
                  <a:srgbClr val="16171D"/>
                </a:solidFill>
                <a:latin typeface="Cambria"/>
                <a:cs typeface="Cambria"/>
              </a:rPr>
              <a:t xml:space="preserve">j</a:t>
            </a:r>
            <a:r>
              <a:rPr lang="en-US" sz="28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8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850" dirty="0">
                <a:solidFill>
                  <a:srgbClr val="16171D"/>
                </a:solidFill>
                <a:latin typeface="Cambria"/>
                <a:cs typeface="Cambria"/>
              </a:rPr>
              <a:t xml:space="preserve">) = 2</a:t>
            </a:r>
            <a:r>
              <a:rPr lang="en-US" sz="28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850" dirty="0">
                <a:solidFill>
                  <a:srgbClr val="16171D"/>
                </a:solidFill>
                <a:latin typeface="Cambria"/>
                <a:cs typeface="Cambria"/>
              </a:rPr>
              <a:t xml:space="preserve"> − 1 </a:t>
            </a:r>
            <a:r>
              <a:rPr lang="en-US" sz="2850" dirty="0" i="1">
                <a:solidFill>
                  <a:srgbClr val="16171D"/>
                </a:solidFill>
                <a:latin typeface="Cambria"/>
                <a:cs typeface="Cambria"/>
              </a:rPr>
              <a:t xml:space="preserve">q</a:t>
            </a:r>
            <a:r>
              <a:rPr lang="en-US" sz="28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8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850" dirty="0">
                <a:solidFill>
                  <a:srgbClr val="16171D"/>
                </a:solidFill>
                <a:latin typeface="Cambria"/>
                <a:cs typeface="Cambria"/>
              </a:rPr>
              <a:t xml:space="preserve">) = 2</a:t>
            </a:r>
            <a:r>
              <a:rPr lang="en-US" sz="28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850" dirty="0">
                <a:solidFill>
                  <a:srgbClr val="16171D"/>
                </a:solidFill>
                <a:latin typeface="Cambria"/>
                <a:cs typeface="Cambria"/>
              </a:rPr>
              <a:t xml:space="preserve"> + 3</a:t>
            </a:r>
            <a:endParaRPr lang="en-US" sz="28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279142"/>
            <a:ext cx="10820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No. Both lines have slope 2 and stay 4 units apart, so they are </a:t>
            </a: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parallel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57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745486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Prove it for any line. Translate line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AB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up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a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units to make line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A′B′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268980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Pre-image: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₁,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₁)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,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₂,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₂)</a:t>
            </a:r>
            <a:endParaRPr lang="en-US" sz="1575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3659124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Image: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′(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₁,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₁ +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,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′(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₂,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₂ +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endParaRPr lang="en-US" sz="1575" dirty="0"/>
          </a:p>
        </p:txBody>
      </p:sp>
      <p:sp>
        <p:nvSpPr>
          <p:cNvPr id="9" name="Shape 9"/>
          <p:cNvSpPr txBox="1"/>
          <p:nvPr/>
        </p:nvSpPr>
        <p:spPr>
          <a:xfrm>
            <a:off x="6286348" y="3268980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Slope of the image:</a:t>
            </a:r>
            <a:endParaRPr lang="en-US" sz="1575" dirty="0"/>
          </a:p>
        </p:txBody>
      </p:sp>
      <p:sp>
        <p:nvSpPr>
          <p:cNvPr id="10" name="Shape 10"/>
          <p:cNvSpPr txBox="1"/>
          <p:nvPr/>
        </p:nvSpPr>
        <p:spPr>
          <a:xfrm>
            <a:off x="6286348" y="3659124"/>
            <a:ext cx="521954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₂ +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 − 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₁ +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)) ÷ 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₂ −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₁)</a:t>
            </a:r>
            <a:endParaRPr lang="en-US" sz="2325" dirty="0"/>
          </a:p>
        </p:txBody>
      </p:sp>
      <p:sp>
        <p:nvSpPr>
          <p:cNvPr id="11" name="Shape 11"/>
          <p:cNvSpPr txBox="1"/>
          <p:nvPr/>
        </p:nvSpPr>
        <p:spPr>
          <a:xfrm>
            <a:off x="6286348" y="4163568"/>
            <a:ext cx="521954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= 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₂ −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₁) ÷ 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₂ −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₁)</a:t>
            </a:r>
            <a:endParaRPr lang="en-US" sz="2325" dirty="0"/>
          </a:p>
        </p:txBody>
      </p:sp>
      <p:sp>
        <p:nvSpPr>
          <p:cNvPr id="12" name="Slide Number 12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3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Catch-Up · Lesson 1 · Activity 1.2 · Questions 3–4 · SE p. 276 · ★ Essential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Write the equation of a parallel line</a:t>
            </a:r>
            <a:endParaRPr lang="en-US" sz="34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1618488"/>
            <a:ext cx="5219548" cy="1588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895350" y="1789938"/>
            <a:ext cx="480044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Catalina</a:t>
            </a:r>
            <a:endParaRPr lang="en-US" sz="210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260092"/>
            <a:ext cx="4800448" cy="77495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Parallel to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½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+ 3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through (2, 9): the point on the line at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= 2 is (2, 4), so translate up 5.</a:t>
            </a:r>
            <a:endParaRPr lang="en-US" sz="1575" dirty="0"/>
          </a:p>
        </p:txBody>
      </p:sp>
      <p:sp>
        <p:nvSpPr>
          <p:cNvPr id="9" name="Shape 9"/>
          <p:cNvSpPr txBox="1"/>
          <p:nvPr/>
        </p:nvSpPr>
        <p:spPr>
          <a:xfrm>
            <a:off x="6286348" y="1618488"/>
            <a:ext cx="5219548" cy="134797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495898" y="1789938"/>
            <a:ext cx="480044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James</a:t>
            </a:r>
            <a:endParaRPr lang="en-US" sz="2100" dirty="0"/>
          </a:p>
        </p:txBody>
      </p:sp>
      <p:sp>
        <p:nvSpPr>
          <p:cNvPr id="8" name="Shape 8"/>
          <p:cNvSpPr txBox="1"/>
          <p:nvPr/>
        </p:nvSpPr>
        <p:spPr>
          <a:xfrm>
            <a:off x="6495898" y="2260092"/>
            <a:ext cx="480044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Use the slope ½ and the point (2, 9):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9 = ½(2) +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, so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8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575" dirty="0"/>
          </a:p>
        </p:txBody>
      </p:sp>
      <p:sp>
        <p:nvSpPr>
          <p:cNvPr id="10" name="Shape 10"/>
          <p:cNvSpPr txBox="1"/>
          <p:nvPr/>
        </p:nvSpPr>
        <p:spPr>
          <a:xfrm>
            <a:off x="685800" y="3377946"/>
            <a:ext cx="3571326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½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+ 8</a:t>
            </a:r>
            <a:endParaRPr lang="en-US" sz="2325" dirty="0"/>
          </a:p>
        </p:txBody>
      </p:sp>
      <p:sp>
        <p:nvSpPr>
          <p:cNvPr id="11" name="Shape 11"/>
          <p:cNvSpPr txBox="1"/>
          <p:nvPr/>
        </p:nvSpPr>
        <p:spPr>
          <a:xfrm>
            <a:off x="685800" y="406831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Now you: parallel to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= −3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− 1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through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(−1, 5)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950" dirty="0"/>
          </a:p>
        </p:txBody>
      </p:sp>
      <p:sp>
        <p:nvSpPr>
          <p:cNvPr id="12" name="Shape 12"/>
          <p:cNvSpPr txBox="1"/>
          <p:nvPr/>
        </p:nvSpPr>
        <p:spPr>
          <a:xfrm>
            <a:off x="685800" y="4591812"/>
            <a:ext cx="10820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Parallel, so the slope is −3: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5 = −3(−1) +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, so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2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575" dirty="0"/>
          </a:p>
        </p:txBody>
      </p:sp>
      <p:sp>
        <p:nvSpPr>
          <p:cNvPr id="13" name="Shape 13"/>
          <p:cNvSpPr txBox="1"/>
          <p:nvPr/>
        </p:nvSpPr>
        <p:spPr>
          <a:xfrm>
            <a:off x="685800" y="5058156"/>
            <a:ext cx="3737153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−3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+ 2</a:t>
            </a:r>
            <a:endParaRPr lang="en-US" sz="2325" dirty="0"/>
          </a:p>
        </p:txBody>
      </p:sp>
      <p:sp>
        <p:nvSpPr>
          <p:cNvPr id="14" name="Slide Number 14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4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Catch-Up · Lesson 1 · Activity 1.3 · Definition · SE p. 279 · ★ Essential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Vertical dilation: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 =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 ·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5219548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|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| &gt; 1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: the graph </a:t>
            </a: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stretches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vertically (steeper).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439162"/>
            <a:ext cx="5219548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0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&lt;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|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|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&lt;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1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: it </a:t>
            </a: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compresses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vertically (less steep).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259836"/>
            <a:ext cx="5219548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&lt;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0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: it also </a:t>
            </a: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reflects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across the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-axis.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783330"/>
            <a:ext cx="5219548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For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, the new slope is </a:t>
            </a:r>
            <a:r>
              <a:rPr lang="en-US" sz="1950" dirty="0" b="1" i="1">
                <a:solidFill>
                  <a:srgbClr val="C9561F"/>
                </a:solidFill>
                <a:latin typeface="Cambria"/>
                <a:cs typeface="Cambria"/>
              </a:rPr>
              <a:t xml:space="preserve">a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; the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-intercept stays (0, 0).</a:t>
            </a:r>
            <a:endParaRPr lang="en-US" sz="1950" dirty="0"/>
          </a:p>
        </p:txBody>
      </p:sp>
      <p:sp>
        <p:nvSpPr>
          <p:cNvPr id="8" name="Shape 8"/>
          <p:cNvSpPr/>
          <p:nvPr/>
        </p:nvSpPr>
        <p:spPr>
          <a:xfrm>
            <a:off x="6286348" y="1618488"/>
            <a:ext cx="3143250" cy="31432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cxnSp>
        <p:nvCxnSpPr>
          <p:cNvPr id="9" name="Line 9"/>
          <p:cNvCxnSpPr/>
          <p:nvPr/>
        </p:nvCxnSpPr>
        <p:spPr>
          <a:xfrm>
            <a:off x="6610198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0" name="Line 10"/>
          <p:cNvCxnSpPr/>
          <p:nvPr/>
        </p:nvCxnSpPr>
        <p:spPr>
          <a:xfrm>
            <a:off x="6835623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1" name="Line 11"/>
          <p:cNvCxnSpPr/>
          <p:nvPr/>
        </p:nvCxnSpPr>
        <p:spPr>
          <a:xfrm>
            <a:off x="7061048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2" name="Line 12"/>
          <p:cNvCxnSpPr/>
          <p:nvPr/>
        </p:nvCxnSpPr>
        <p:spPr>
          <a:xfrm>
            <a:off x="7286473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3" name="Line 13"/>
          <p:cNvCxnSpPr/>
          <p:nvPr/>
        </p:nvCxnSpPr>
        <p:spPr>
          <a:xfrm>
            <a:off x="7511898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4" name="Line 14"/>
          <p:cNvCxnSpPr/>
          <p:nvPr/>
        </p:nvCxnSpPr>
        <p:spPr>
          <a:xfrm>
            <a:off x="7737323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5" name="Line 15"/>
          <p:cNvCxnSpPr/>
          <p:nvPr/>
        </p:nvCxnSpPr>
        <p:spPr>
          <a:xfrm>
            <a:off x="7962748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6" name="Line 16"/>
          <p:cNvCxnSpPr/>
          <p:nvPr/>
        </p:nvCxnSpPr>
        <p:spPr>
          <a:xfrm>
            <a:off x="8188173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7" name="Line 17"/>
          <p:cNvCxnSpPr/>
          <p:nvPr/>
        </p:nvCxnSpPr>
        <p:spPr>
          <a:xfrm>
            <a:off x="8413598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8" name="Line 18"/>
          <p:cNvCxnSpPr/>
          <p:nvPr/>
        </p:nvCxnSpPr>
        <p:spPr>
          <a:xfrm>
            <a:off x="8639023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9" name="Line 19"/>
          <p:cNvCxnSpPr/>
          <p:nvPr/>
        </p:nvCxnSpPr>
        <p:spPr>
          <a:xfrm>
            <a:off x="8864448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0" name="Line 20"/>
          <p:cNvCxnSpPr/>
          <p:nvPr/>
        </p:nvCxnSpPr>
        <p:spPr>
          <a:xfrm>
            <a:off x="9089873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1" name="Line 21"/>
          <p:cNvCxnSpPr/>
          <p:nvPr/>
        </p:nvCxnSpPr>
        <p:spPr>
          <a:xfrm>
            <a:off x="9315298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2" name="Line 22"/>
          <p:cNvCxnSpPr/>
          <p:nvPr/>
        </p:nvCxnSpPr>
        <p:spPr>
          <a:xfrm>
            <a:off x="6610198" y="4514088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3" name="Line 23"/>
          <p:cNvCxnSpPr/>
          <p:nvPr/>
        </p:nvCxnSpPr>
        <p:spPr>
          <a:xfrm>
            <a:off x="6610198" y="4282313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4" name="Line 24"/>
          <p:cNvCxnSpPr/>
          <p:nvPr/>
        </p:nvCxnSpPr>
        <p:spPr>
          <a:xfrm>
            <a:off x="6610198" y="4050538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5" name="Line 25"/>
          <p:cNvCxnSpPr/>
          <p:nvPr/>
        </p:nvCxnSpPr>
        <p:spPr>
          <a:xfrm>
            <a:off x="6610198" y="3818763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6" name="Line 26"/>
          <p:cNvCxnSpPr/>
          <p:nvPr/>
        </p:nvCxnSpPr>
        <p:spPr>
          <a:xfrm>
            <a:off x="6610198" y="3586988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7" name="Line 27"/>
          <p:cNvCxnSpPr/>
          <p:nvPr/>
        </p:nvCxnSpPr>
        <p:spPr>
          <a:xfrm>
            <a:off x="6610198" y="3355213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8" name="Line 28"/>
          <p:cNvCxnSpPr/>
          <p:nvPr/>
        </p:nvCxnSpPr>
        <p:spPr>
          <a:xfrm>
            <a:off x="6610198" y="3123438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9" name="Line 29"/>
          <p:cNvCxnSpPr/>
          <p:nvPr/>
        </p:nvCxnSpPr>
        <p:spPr>
          <a:xfrm>
            <a:off x="6610198" y="2891663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0" name="Line 30"/>
          <p:cNvCxnSpPr/>
          <p:nvPr/>
        </p:nvCxnSpPr>
        <p:spPr>
          <a:xfrm>
            <a:off x="6610198" y="2659888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1" name="Line 31"/>
          <p:cNvCxnSpPr/>
          <p:nvPr/>
        </p:nvCxnSpPr>
        <p:spPr>
          <a:xfrm>
            <a:off x="6610198" y="2428113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2" name="Line 32"/>
          <p:cNvCxnSpPr/>
          <p:nvPr/>
        </p:nvCxnSpPr>
        <p:spPr>
          <a:xfrm>
            <a:off x="6610198" y="2196338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3" name="Line 33"/>
          <p:cNvCxnSpPr/>
          <p:nvPr/>
        </p:nvCxnSpPr>
        <p:spPr>
          <a:xfrm>
            <a:off x="6610198" y="1964563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4" name="Line 34"/>
          <p:cNvCxnSpPr/>
          <p:nvPr/>
        </p:nvCxnSpPr>
        <p:spPr>
          <a:xfrm>
            <a:off x="6610198" y="1732788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5" name="Line 35"/>
          <p:cNvCxnSpPr/>
          <p:nvPr/>
        </p:nvCxnSpPr>
        <p:spPr>
          <a:xfrm>
            <a:off x="7962748" y="1732788"/>
            <a:ext cx="0" cy="278130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cxnSp>
        <p:nvCxnSpPr>
          <p:cNvPr id="36" name="Line 36"/>
          <p:cNvCxnSpPr/>
          <p:nvPr/>
        </p:nvCxnSpPr>
        <p:spPr>
          <a:xfrm>
            <a:off x="6610198" y="3123438"/>
            <a:ext cx="2705100" cy="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sp>
        <p:nvSpPr>
          <p:cNvPr id="37" name="Shape 37"/>
          <p:cNvSpPr txBox="1"/>
          <p:nvPr/>
        </p:nvSpPr>
        <p:spPr>
          <a:xfrm>
            <a:off x="6335878" y="453313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−6</a:t>
            </a:r>
            <a:endParaRPr lang="en-US" sz="975" dirty="0"/>
          </a:p>
        </p:txBody>
      </p:sp>
      <p:sp>
        <p:nvSpPr>
          <p:cNvPr id="38" name="Shape 38"/>
          <p:cNvSpPr txBox="1"/>
          <p:nvPr/>
        </p:nvSpPr>
        <p:spPr>
          <a:xfrm>
            <a:off x="6786728" y="453313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−4</a:t>
            </a:r>
            <a:endParaRPr lang="en-US" sz="975" dirty="0"/>
          </a:p>
        </p:txBody>
      </p:sp>
      <p:sp>
        <p:nvSpPr>
          <p:cNvPr id="39" name="Shape 39"/>
          <p:cNvSpPr txBox="1"/>
          <p:nvPr/>
        </p:nvSpPr>
        <p:spPr>
          <a:xfrm>
            <a:off x="7237578" y="453313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−2</a:t>
            </a:r>
            <a:endParaRPr lang="en-US" sz="975" dirty="0"/>
          </a:p>
        </p:txBody>
      </p:sp>
      <p:sp>
        <p:nvSpPr>
          <p:cNvPr id="40" name="Shape 40"/>
          <p:cNvSpPr txBox="1"/>
          <p:nvPr/>
        </p:nvSpPr>
        <p:spPr>
          <a:xfrm>
            <a:off x="7688428" y="453313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41" name="Shape 41"/>
          <p:cNvSpPr txBox="1"/>
          <p:nvPr/>
        </p:nvSpPr>
        <p:spPr>
          <a:xfrm>
            <a:off x="8139278" y="453313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</a:t>
            </a:r>
            <a:endParaRPr lang="en-US" sz="975" dirty="0"/>
          </a:p>
        </p:txBody>
      </p:sp>
      <p:sp>
        <p:nvSpPr>
          <p:cNvPr id="42" name="Shape 42"/>
          <p:cNvSpPr txBox="1"/>
          <p:nvPr/>
        </p:nvSpPr>
        <p:spPr>
          <a:xfrm>
            <a:off x="8590128" y="453313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sp>
        <p:nvSpPr>
          <p:cNvPr id="43" name="Shape 43"/>
          <p:cNvSpPr txBox="1"/>
          <p:nvPr/>
        </p:nvSpPr>
        <p:spPr>
          <a:xfrm>
            <a:off x="9040978" y="453313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6</a:t>
            </a:r>
            <a:endParaRPr lang="en-US" sz="975" dirty="0"/>
          </a:p>
        </p:txBody>
      </p:sp>
      <p:sp>
        <p:nvSpPr>
          <p:cNvPr id="44" name="Shape 44"/>
          <p:cNvSpPr txBox="1"/>
          <p:nvPr/>
        </p:nvSpPr>
        <p:spPr>
          <a:xfrm>
            <a:off x="6043270" y="442264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−6</a:t>
            </a:r>
            <a:endParaRPr lang="en-US" sz="975" dirty="0"/>
          </a:p>
        </p:txBody>
      </p:sp>
      <p:sp>
        <p:nvSpPr>
          <p:cNvPr id="45" name="Shape 45"/>
          <p:cNvSpPr txBox="1"/>
          <p:nvPr/>
        </p:nvSpPr>
        <p:spPr>
          <a:xfrm>
            <a:off x="6043270" y="395909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−4</a:t>
            </a:r>
            <a:endParaRPr lang="en-US" sz="975" dirty="0"/>
          </a:p>
        </p:txBody>
      </p:sp>
      <p:sp>
        <p:nvSpPr>
          <p:cNvPr id="46" name="Shape 46"/>
          <p:cNvSpPr txBox="1"/>
          <p:nvPr/>
        </p:nvSpPr>
        <p:spPr>
          <a:xfrm>
            <a:off x="6043270" y="349554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−2</a:t>
            </a:r>
            <a:endParaRPr lang="en-US" sz="975" dirty="0"/>
          </a:p>
        </p:txBody>
      </p:sp>
      <p:sp>
        <p:nvSpPr>
          <p:cNvPr id="47" name="Shape 47"/>
          <p:cNvSpPr txBox="1"/>
          <p:nvPr/>
        </p:nvSpPr>
        <p:spPr>
          <a:xfrm>
            <a:off x="6043270" y="303199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48" name="Shape 48"/>
          <p:cNvSpPr txBox="1"/>
          <p:nvPr/>
        </p:nvSpPr>
        <p:spPr>
          <a:xfrm>
            <a:off x="6043270" y="256844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</a:t>
            </a:r>
            <a:endParaRPr lang="en-US" sz="975" dirty="0"/>
          </a:p>
        </p:txBody>
      </p:sp>
      <p:sp>
        <p:nvSpPr>
          <p:cNvPr id="49" name="Shape 49"/>
          <p:cNvSpPr txBox="1"/>
          <p:nvPr/>
        </p:nvSpPr>
        <p:spPr>
          <a:xfrm>
            <a:off x="6043270" y="210489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sp>
        <p:nvSpPr>
          <p:cNvPr id="50" name="Shape 50"/>
          <p:cNvSpPr txBox="1"/>
          <p:nvPr/>
        </p:nvSpPr>
        <p:spPr>
          <a:xfrm>
            <a:off x="6043270" y="164134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6</a:t>
            </a:r>
            <a:endParaRPr lang="en-US" sz="975" dirty="0"/>
          </a:p>
        </p:txBody>
      </p:sp>
      <p:cxnSp>
        <p:nvCxnSpPr>
          <p:cNvPr id="51" name="Line 51"/>
          <p:cNvCxnSpPr/>
          <p:nvPr/>
        </p:nvCxnSpPr>
        <p:spPr>
          <a:xfrm flipV="1">
            <a:off x="6610198" y="1732788"/>
            <a:ext cx="2705100" cy="2781300"/>
          </a:xfrm>
          <a:prstGeom prst="line">
            <a:avLst/>
          </a:prstGeom>
          <a:ln w="38100" cap="rnd">
            <a:solidFill>
              <a:srgbClr val="16171D"/>
            </a:solidFill>
          </a:ln>
        </p:spPr>
      </p:cxnSp>
      <p:sp>
        <p:nvSpPr>
          <p:cNvPr id="52" name="Shape 52"/>
          <p:cNvSpPr txBox="1"/>
          <p:nvPr/>
        </p:nvSpPr>
        <p:spPr>
          <a:xfrm>
            <a:off x="6823558" y="1751838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75" dirty="0" i="1">
                <a:solidFill>
                  <a:srgbClr val="16171D"/>
                </a:solidFill>
                <a:latin typeface="Cambria"/>
                <a:cs typeface="Cambria"/>
              </a:rPr>
              <a:t xml:space="preserve">f(x)</a:t>
            </a:r>
            <a:endParaRPr lang="en-US" sz="1275" dirty="0"/>
          </a:p>
        </p:txBody>
      </p:sp>
      <p:cxnSp>
        <p:nvCxnSpPr>
          <p:cNvPr id="53" name="Line 53"/>
          <p:cNvCxnSpPr/>
          <p:nvPr/>
        </p:nvCxnSpPr>
        <p:spPr>
          <a:xfrm flipV="1">
            <a:off x="7624610" y="1732788"/>
            <a:ext cx="676275" cy="2781300"/>
          </a:xfrm>
          <a:prstGeom prst="line">
            <a:avLst/>
          </a:prstGeom>
          <a:ln w="38100" cap="rnd">
            <a:solidFill>
              <a:srgbClr val="4F8A3C"/>
            </a:solidFill>
          </a:ln>
        </p:spPr>
      </p:cxnSp>
      <p:sp>
        <p:nvSpPr>
          <p:cNvPr id="54" name="Shape 54"/>
          <p:cNvSpPr txBox="1"/>
          <p:nvPr/>
        </p:nvSpPr>
        <p:spPr>
          <a:xfrm>
            <a:off x="5809145" y="1751838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75" dirty="0" i="1">
                <a:solidFill>
                  <a:srgbClr val="16171D"/>
                </a:solidFill>
                <a:latin typeface="Cambria"/>
                <a:cs typeface="Cambria"/>
              </a:rPr>
              <a:t xml:space="preserve">4f(x)</a:t>
            </a:r>
            <a:endParaRPr lang="en-US" sz="1275" dirty="0"/>
          </a:p>
        </p:txBody>
      </p:sp>
      <p:cxnSp>
        <p:nvCxnSpPr>
          <p:cNvPr id="55" name="Line 55"/>
          <p:cNvCxnSpPr/>
          <p:nvPr/>
        </p:nvCxnSpPr>
        <p:spPr>
          <a:xfrm flipV="1">
            <a:off x="6610198" y="2196338"/>
            <a:ext cx="2705100" cy="1854200"/>
          </a:xfrm>
          <a:prstGeom prst="line">
            <a:avLst/>
          </a:prstGeom>
          <a:ln w="38100" cap="rnd">
            <a:solidFill>
              <a:srgbClr val="7A4FC4"/>
            </a:solidFill>
          </a:ln>
        </p:spPr>
      </p:cxnSp>
      <p:sp>
        <p:nvSpPr>
          <p:cNvPr id="56" name="Shape 56"/>
          <p:cNvSpPr txBox="1"/>
          <p:nvPr/>
        </p:nvSpPr>
        <p:spPr>
          <a:xfrm>
            <a:off x="6823558" y="2215388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75" dirty="0" i="1">
                <a:solidFill>
                  <a:srgbClr val="16171D"/>
                </a:solidFill>
                <a:latin typeface="Cambria"/>
                <a:cs typeface="Cambria"/>
              </a:rPr>
              <a:t xml:space="preserve">⅔f(x)</a:t>
            </a:r>
            <a:endParaRPr lang="en-US" sz="1275" dirty="0"/>
          </a:p>
        </p:txBody>
      </p:sp>
      <p:sp>
        <p:nvSpPr>
          <p:cNvPr id="57" name="Slide Number 57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5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7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7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7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Catch-Up · Lesson 1 · Summary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Translations vs. dilations</a:t>
            </a:r>
            <a:endParaRPr lang="en-US" sz="34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1618488"/>
            <a:ext cx="5219548" cy="134797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895350" y="1789938"/>
            <a:ext cx="480044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Translation 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) + 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d</a:t>
            </a:r>
            <a:endParaRPr lang="en-US" sz="210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260092"/>
            <a:ext cx="480044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Moves the line up or down. Same slope; new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-intercept. Parallel lines.</a:t>
            </a:r>
            <a:endParaRPr lang="en-US" sz="1575" dirty="0"/>
          </a:p>
        </p:txBody>
      </p:sp>
      <p:sp>
        <p:nvSpPr>
          <p:cNvPr id="9" name="Shape 9"/>
          <p:cNvSpPr txBox="1"/>
          <p:nvPr/>
        </p:nvSpPr>
        <p:spPr>
          <a:xfrm>
            <a:off x="6286348" y="1618488"/>
            <a:ext cx="5219548" cy="134797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495898" y="1789938"/>
            <a:ext cx="480044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Dilation 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 · 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endParaRPr lang="en-US" sz="2100" dirty="0"/>
          </a:p>
        </p:txBody>
      </p:sp>
      <p:sp>
        <p:nvSpPr>
          <p:cNvPr id="8" name="Shape 8"/>
          <p:cNvSpPr txBox="1"/>
          <p:nvPr/>
        </p:nvSpPr>
        <p:spPr>
          <a:xfrm>
            <a:off x="6495898" y="2260092"/>
            <a:ext cx="480044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Stretches, compresses or reflects. New slope; for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the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-intercept stays (0, 0).</a:t>
            </a:r>
            <a:endParaRPr lang="en-US" sz="1575" dirty="0"/>
          </a:p>
        </p:txBody>
      </p:sp>
      <p:sp>
        <p:nvSpPr>
          <p:cNvPr id="10" name="Shape 10"/>
          <p:cNvSpPr txBox="1"/>
          <p:nvPr/>
        </p:nvSpPr>
        <p:spPr>
          <a:xfrm>
            <a:off x="685800" y="3137916"/>
            <a:ext cx="10820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Parallel line through a point: keep the slope, then find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b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with the point.</a:t>
            </a:r>
            <a:endParaRPr lang="en-US" sz="1575" dirty="0"/>
          </a:p>
        </p:txBody>
      </p:sp>
      <p:sp>
        <p:nvSpPr>
          <p:cNvPr id="11" name="Slide Number 11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6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Catch-Up · Lesson 1 · Activity 1.4 · Graphing Linear Transformations · SE pp. 280–281 · ★ Essential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11064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Describe each transformation of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, then graph </a:t>
            </a:r>
            <a:r>
              <a:rPr lang="en-US" sz="345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g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345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)</a:t>
            </a:r>
            <a:endParaRPr lang="en-US" sz="34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2144268"/>
            <a:ext cx="3492398" cy="1722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895350" y="231571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a. 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) = 2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) + 7</a:t>
            </a:r>
            <a:endParaRPr lang="en-US" sz="210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785872"/>
            <a:ext cx="30732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Stretch by 2, then up 7</a:t>
            </a:r>
            <a:endParaRPr lang="en-US" sz="1575" dirty="0"/>
          </a:p>
        </p:txBody>
      </p:sp>
      <p:sp>
        <p:nvSpPr>
          <p:cNvPr id="6" name="Shape 6"/>
          <p:cNvSpPr txBox="1"/>
          <p:nvPr/>
        </p:nvSpPr>
        <p:spPr>
          <a:xfrm>
            <a:off x="895350" y="3176016"/>
            <a:ext cx="2908021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+ 7</a:t>
            </a:r>
            <a:endParaRPr lang="en-US" sz="2325" dirty="0"/>
          </a:p>
        </p:txBody>
      </p:sp>
      <p:sp>
        <p:nvSpPr>
          <p:cNvPr id="11" name="Shape 11"/>
          <p:cNvSpPr txBox="1"/>
          <p:nvPr/>
        </p:nvSpPr>
        <p:spPr>
          <a:xfrm>
            <a:off x="4349648" y="2144268"/>
            <a:ext cx="3492398" cy="1722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8" name="Shape 8"/>
          <p:cNvSpPr txBox="1"/>
          <p:nvPr/>
        </p:nvSpPr>
        <p:spPr>
          <a:xfrm>
            <a:off x="4559198" y="231571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b. 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) = 3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) − 1</a:t>
            </a:r>
            <a:endParaRPr lang="en-US" sz="2100" dirty="0"/>
          </a:p>
        </p:txBody>
      </p:sp>
      <p:sp>
        <p:nvSpPr>
          <p:cNvPr id="9" name="Shape 9"/>
          <p:cNvSpPr txBox="1"/>
          <p:nvPr/>
        </p:nvSpPr>
        <p:spPr>
          <a:xfrm>
            <a:off x="4559198" y="2785872"/>
            <a:ext cx="30732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Stretch by 3, then down 1</a:t>
            </a:r>
            <a:endParaRPr lang="en-US" sz="1575" dirty="0"/>
          </a:p>
        </p:txBody>
      </p:sp>
      <p:sp>
        <p:nvSpPr>
          <p:cNvPr id="10" name="Shape 10"/>
          <p:cNvSpPr txBox="1"/>
          <p:nvPr/>
        </p:nvSpPr>
        <p:spPr>
          <a:xfrm>
            <a:off x="4559198" y="3176016"/>
            <a:ext cx="2908021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3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− 1</a:t>
            </a:r>
            <a:endParaRPr lang="en-US" sz="2325" dirty="0"/>
          </a:p>
        </p:txBody>
      </p:sp>
      <p:sp>
        <p:nvSpPr>
          <p:cNvPr id="15" name="Shape 15"/>
          <p:cNvSpPr txBox="1"/>
          <p:nvPr/>
        </p:nvSpPr>
        <p:spPr>
          <a:xfrm>
            <a:off x="8013497" y="2144268"/>
            <a:ext cx="3492398" cy="1722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2" name="Shape 12"/>
          <p:cNvSpPr txBox="1"/>
          <p:nvPr/>
        </p:nvSpPr>
        <p:spPr>
          <a:xfrm>
            <a:off x="8223047" y="231571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c. 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) = ⅓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) + 2</a:t>
            </a:r>
            <a:endParaRPr lang="en-US" sz="2100" dirty="0"/>
          </a:p>
        </p:txBody>
      </p:sp>
      <p:sp>
        <p:nvSpPr>
          <p:cNvPr id="13" name="Shape 13"/>
          <p:cNvSpPr txBox="1"/>
          <p:nvPr/>
        </p:nvSpPr>
        <p:spPr>
          <a:xfrm>
            <a:off x="8223047" y="2785872"/>
            <a:ext cx="30732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Compress by ⅓, then up 2</a:t>
            </a:r>
            <a:endParaRPr lang="en-US" sz="1575" dirty="0"/>
          </a:p>
        </p:txBody>
      </p:sp>
      <p:sp>
        <p:nvSpPr>
          <p:cNvPr id="14" name="Shape 14"/>
          <p:cNvSpPr txBox="1"/>
          <p:nvPr/>
        </p:nvSpPr>
        <p:spPr>
          <a:xfrm>
            <a:off x="8223047" y="3176016"/>
            <a:ext cx="2908021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⅓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+ 2</a:t>
            </a:r>
            <a:endParaRPr lang="en-US" sz="2325" dirty="0"/>
          </a:p>
        </p:txBody>
      </p:sp>
      <p:sp>
        <p:nvSpPr>
          <p:cNvPr id="19" name="Shape 19"/>
          <p:cNvSpPr txBox="1"/>
          <p:nvPr/>
        </p:nvSpPr>
        <p:spPr>
          <a:xfrm>
            <a:off x="685800" y="3999738"/>
            <a:ext cx="3492398" cy="1962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6" name="Shape 16"/>
          <p:cNvSpPr txBox="1"/>
          <p:nvPr/>
        </p:nvSpPr>
        <p:spPr>
          <a:xfrm>
            <a:off x="895350" y="417118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d. 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) = ½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) − 3</a:t>
            </a:r>
            <a:endParaRPr lang="en-US" sz="2100" dirty="0"/>
          </a:p>
        </p:txBody>
      </p:sp>
      <p:sp>
        <p:nvSpPr>
          <p:cNvPr id="17" name="Shape 17"/>
          <p:cNvSpPr txBox="1"/>
          <p:nvPr/>
        </p:nvSpPr>
        <p:spPr>
          <a:xfrm>
            <a:off x="895350" y="4641342"/>
            <a:ext cx="30732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Compress by ½, then down 3</a:t>
            </a:r>
            <a:endParaRPr lang="en-US" sz="1575" dirty="0"/>
          </a:p>
        </p:txBody>
      </p:sp>
      <p:sp>
        <p:nvSpPr>
          <p:cNvPr id="18" name="Shape 18"/>
          <p:cNvSpPr txBox="1"/>
          <p:nvPr/>
        </p:nvSpPr>
        <p:spPr>
          <a:xfrm>
            <a:off x="895350" y="5031486"/>
            <a:ext cx="2908021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½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− 3</a:t>
            </a:r>
            <a:endParaRPr lang="en-US" sz="2325" dirty="0"/>
          </a:p>
        </p:txBody>
      </p:sp>
      <p:sp>
        <p:nvSpPr>
          <p:cNvPr id="23" name="Shape 23"/>
          <p:cNvSpPr txBox="1"/>
          <p:nvPr/>
        </p:nvSpPr>
        <p:spPr>
          <a:xfrm>
            <a:off x="4349648" y="3999738"/>
            <a:ext cx="3492398" cy="1962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20" name="Shape 20"/>
          <p:cNvSpPr txBox="1"/>
          <p:nvPr/>
        </p:nvSpPr>
        <p:spPr>
          <a:xfrm>
            <a:off x="4559198" y="417118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e. 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) = −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) − 4</a:t>
            </a:r>
            <a:endParaRPr lang="en-US" sz="2100" dirty="0"/>
          </a:p>
        </p:txBody>
      </p:sp>
      <p:sp>
        <p:nvSpPr>
          <p:cNvPr id="21" name="Shape 21"/>
          <p:cNvSpPr txBox="1"/>
          <p:nvPr/>
        </p:nvSpPr>
        <p:spPr>
          <a:xfrm>
            <a:off x="4559198" y="4641342"/>
            <a:ext cx="30732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Reflect across the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-axis, then down 4</a:t>
            </a:r>
            <a:endParaRPr lang="en-US" sz="1575" dirty="0"/>
          </a:p>
        </p:txBody>
      </p:sp>
      <p:sp>
        <p:nvSpPr>
          <p:cNvPr id="22" name="Shape 22"/>
          <p:cNvSpPr txBox="1"/>
          <p:nvPr/>
        </p:nvSpPr>
        <p:spPr>
          <a:xfrm>
            <a:off x="4559198" y="5271516"/>
            <a:ext cx="2908021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−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− 4</a:t>
            </a:r>
            <a:endParaRPr lang="en-US" sz="2325" dirty="0"/>
          </a:p>
        </p:txBody>
      </p:sp>
      <p:sp>
        <p:nvSpPr>
          <p:cNvPr id="27" name="Shape 27"/>
          <p:cNvSpPr txBox="1"/>
          <p:nvPr/>
        </p:nvSpPr>
        <p:spPr>
          <a:xfrm>
            <a:off x="8013497" y="3999738"/>
            <a:ext cx="3492398" cy="1962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24" name="Shape 24"/>
          <p:cNvSpPr txBox="1"/>
          <p:nvPr/>
        </p:nvSpPr>
        <p:spPr>
          <a:xfrm>
            <a:off x="8223047" y="417118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f. 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) = −⅔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) + 5</a:t>
            </a:r>
            <a:endParaRPr lang="en-US" sz="2100" dirty="0"/>
          </a:p>
        </p:txBody>
      </p:sp>
      <p:sp>
        <p:nvSpPr>
          <p:cNvPr id="25" name="Shape 25"/>
          <p:cNvSpPr txBox="1"/>
          <p:nvPr/>
        </p:nvSpPr>
        <p:spPr>
          <a:xfrm>
            <a:off x="8223047" y="4641342"/>
            <a:ext cx="30732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Reflect and compress by ⅔, then up 5</a:t>
            </a:r>
            <a:endParaRPr lang="en-US" sz="1575" dirty="0"/>
          </a:p>
        </p:txBody>
      </p:sp>
      <p:sp>
        <p:nvSpPr>
          <p:cNvPr id="26" name="Shape 26"/>
          <p:cNvSpPr txBox="1"/>
          <p:nvPr/>
        </p:nvSpPr>
        <p:spPr>
          <a:xfrm>
            <a:off x="8223047" y="5271516"/>
            <a:ext cx="3073298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−⅔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+ 5</a:t>
            </a:r>
            <a:endParaRPr lang="en-US" sz="2325" dirty="0"/>
          </a:p>
        </p:txBody>
      </p:sp>
      <p:sp>
        <p:nvSpPr>
          <p:cNvPr id="28" name="Slide Number 28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7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Catch-Up · Lesson 2 · Activity 2.1 · Comparing Vertical and Horizontal Translations · SE pp. 289–290 · ★ Essential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Translate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 left 3, then up 3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33526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Left 3: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t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+ 3)</a:t>
            </a:r>
            <a:endParaRPr lang="en-US" sz="1575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008632"/>
            <a:ext cx="1143000" cy="39776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endParaRPr lang="en-US" sz="1650" dirty="0"/>
          </a:p>
        </p:txBody>
      </p:sp>
      <p:sp>
        <p:nvSpPr>
          <p:cNvPr id="6" name="Shape 6"/>
          <p:cNvSpPr txBox="1"/>
          <p:nvPr/>
        </p:nvSpPr>
        <p:spPr>
          <a:xfrm>
            <a:off x="1828800" y="2008632"/>
            <a:ext cx="1143000" cy="39776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t(x)</a:t>
            </a:r>
            <a:endParaRPr lang="en-US" sz="16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2406396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2406396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−5</a:t>
            </a:r>
            <a:endParaRPr lang="en-US" sz="1650" dirty="0"/>
          </a:p>
        </p:txBody>
      </p:sp>
      <p:sp>
        <p:nvSpPr>
          <p:cNvPr id="9" name="Shape 9"/>
          <p:cNvSpPr txBox="1"/>
          <p:nvPr/>
        </p:nvSpPr>
        <p:spPr>
          <a:xfrm>
            <a:off x="1828800" y="2406396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10" name="Shape 10"/>
          <p:cNvSpPr txBox="1"/>
          <p:nvPr/>
        </p:nvSpPr>
        <p:spPr>
          <a:xfrm>
            <a:off x="1828800" y="2406396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−2</a:t>
            </a:r>
            <a:endParaRPr lang="en-US" sz="1650" dirty="0"/>
          </a:p>
        </p:txBody>
      </p:sp>
      <p:sp>
        <p:nvSpPr>
          <p:cNvPr id="11" name="Shape 11"/>
          <p:cNvSpPr txBox="1"/>
          <p:nvPr/>
        </p:nvSpPr>
        <p:spPr>
          <a:xfrm>
            <a:off x="685800" y="2804160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12" name="Shape 12"/>
          <p:cNvSpPr txBox="1"/>
          <p:nvPr/>
        </p:nvSpPr>
        <p:spPr>
          <a:xfrm>
            <a:off x="685800" y="2804160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−4</a:t>
            </a:r>
            <a:endParaRPr lang="en-US" sz="1650" dirty="0"/>
          </a:p>
        </p:txBody>
      </p:sp>
      <p:sp>
        <p:nvSpPr>
          <p:cNvPr id="13" name="Shape 13"/>
          <p:cNvSpPr txBox="1"/>
          <p:nvPr/>
        </p:nvSpPr>
        <p:spPr>
          <a:xfrm>
            <a:off x="1828800" y="2804160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14" name="Shape 14"/>
          <p:cNvSpPr txBox="1"/>
          <p:nvPr/>
        </p:nvSpPr>
        <p:spPr>
          <a:xfrm>
            <a:off x="1828800" y="2804160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−1</a:t>
            </a:r>
            <a:endParaRPr lang="en-US" sz="1650" dirty="0"/>
          </a:p>
        </p:txBody>
      </p:sp>
      <p:sp>
        <p:nvSpPr>
          <p:cNvPr id="15" name="Shape 15"/>
          <p:cNvSpPr txBox="1"/>
          <p:nvPr/>
        </p:nvSpPr>
        <p:spPr>
          <a:xfrm>
            <a:off x="685800" y="3201924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16" name="Shape 16"/>
          <p:cNvSpPr txBox="1"/>
          <p:nvPr/>
        </p:nvSpPr>
        <p:spPr>
          <a:xfrm>
            <a:off x="685800" y="3201924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−3</a:t>
            </a:r>
            <a:endParaRPr lang="en-US" sz="1650" dirty="0"/>
          </a:p>
        </p:txBody>
      </p:sp>
      <p:sp>
        <p:nvSpPr>
          <p:cNvPr id="17" name="Shape 17"/>
          <p:cNvSpPr txBox="1"/>
          <p:nvPr/>
        </p:nvSpPr>
        <p:spPr>
          <a:xfrm>
            <a:off x="1828800" y="3201924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18" name="Shape 18"/>
          <p:cNvSpPr txBox="1"/>
          <p:nvPr/>
        </p:nvSpPr>
        <p:spPr>
          <a:xfrm>
            <a:off x="1828800" y="3201924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0</a:t>
            </a:r>
            <a:endParaRPr lang="en-US" sz="1650" dirty="0"/>
          </a:p>
        </p:txBody>
      </p:sp>
      <p:sp>
        <p:nvSpPr>
          <p:cNvPr id="19" name="Shape 19"/>
          <p:cNvSpPr txBox="1"/>
          <p:nvPr/>
        </p:nvSpPr>
        <p:spPr>
          <a:xfrm>
            <a:off x="685800" y="3599688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20" name="Shape 20"/>
          <p:cNvSpPr txBox="1"/>
          <p:nvPr/>
        </p:nvSpPr>
        <p:spPr>
          <a:xfrm>
            <a:off x="685800" y="3599688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−2</a:t>
            </a:r>
            <a:endParaRPr lang="en-US" sz="1650" dirty="0"/>
          </a:p>
        </p:txBody>
      </p:sp>
      <p:sp>
        <p:nvSpPr>
          <p:cNvPr id="21" name="Shape 21"/>
          <p:cNvSpPr txBox="1"/>
          <p:nvPr/>
        </p:nvSpPr>
        <p:spPr>
          <a:xfrm>
            <a:off x="1828800" y="3599688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22" name="Shape 22"/>
          <p:cNvSpPr txBox="1"/>
          <p:nvPr/>
        </p:nvSpPr>
        <p:spPr>
          <a:xfrm>
            <a:off x="1828800" y="3599688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1</a:t>
            </a:r>
            <a:endParaRPr lang="en-US" sz="1650" dirty="0"/>
          </a:p>
        </p:txBody>
      </p:sp>
      <p:sp>
        <p:nvSpPr>
          <p:cNvPr id="23" name="Shape 23"/>
          <p:cNvSpPr txBox="1"/>
          <p:nvPr/>
        </p:nvSpPr>
        <p:spPr>
          <a:xfrm>
            <a:off x="685800" y="3997452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24" name="Shape 24"/>
          <p:cNvSpPr txBox="1"/>
          <p:nvPr/>
        </p:nvSpPr>
        <p:spPr>
          <a:xfrm>
            <a:off x="685800" y="3997452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−1</a:t>
            </a:r>
            <a:endParaRPr lang="en-US" sz="1650" dirty="0"/>
          </a:p>
        </p:txBody>
      </p:sp>
      <p:sp>
        <p:nvSpPr>
          <p:cNvPr id="25" name="Shape 25"/>
          <p:cNvSpPr txBox="1"/>
          <p:nvPr/>
        </p:nvSpPr>
        <p:spPr>
          <a:xfrm>
            <a:off x="1828800" y="3997452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26" name="Shape 26"/>
          <p:cNvSpPr txBox="1"/>
          <p:nvPr/>
        </p:nvSpPr>
        <p:spPr>
          <a:xfrm>
            <a:off x="1828800" y="3997452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endParaRPr lang="en-US" sz="1650" dirty="0"/>
          </a:p>
        </p:txBody>
      </p:sp>
      <p:sp>
        <p:nvSpPr>
          <p:cNvPr id="27" name="Shape 27"/>
          <p:cNvSpPr txBox="1"/>
          <p:nvPr/>
        </p:nvSpPr>
        <p:spPr>
          <a:xfrm>
            <a:off x="685800" y="4490466"/>
            <a:ext cx="33526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The </a:t>
            </a: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inputs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change.</a:t>
            </a:r>
            <a:endParaRPr lang="en-US" sz="1575" dirty="0"/>
          </a:p>
        </p:txBody>
      </p:sp>
      <p:sp>
        <p:nvSpPr>
          <p:cNvPr id="28" name="Shape 28"/>
          <p:cNvSpPr txBox="1"/>
          <p:nvPr/>
        </p:nvSpPr>
        <p:spPr>
          <a:xfrm>
            <a:off x="4419498" y="1618488"/>
            <a:ext cx="33526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Up 3: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w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) + 3</a:t>
            </a:r>
            <a:endParaRPr lang="en-US" sz="1575" dirty="0"/>
          </a:p>
        </p:txBody>
      </p:sp>
      <p:sp>
        <p:nvSpPr>
          <p:cNvPr id="29" name="Shape 29"/>
          <p:cNvSpPr txBox="1"/>
          <p:nvPr/>
        </p:nvSpPr>
        <p:spPr>
          <a:xfrm>
            <a:off x="4419498" y="2008632"/>
            <a:ext cx="1143000" cy="39776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endParaRPr lang="en-US" sz="1650" dirty="0"/>
          </a:p>
        </p:txBody>
      </p:sp>
      <p:sp>
        <p:nvSpPr>
          <p:cNvPr id="30" name="Shape 30"/>
          <p:cNvSpPr txBox="1"/>
          <p:nvPr/>
        </p:nvSpPr>
        <p:spPr>
          <a:xfrm>
            <a:off x="5562498" y="2008632"/>
            <a:ext cx="1143000" cy="39776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w(x)</a:t>
            </a:r>
            <a:endParaRPr lang="en-US" sz="1650" dirty="0"/>
          </a:p>
        </p:txBody>
      </p:sp>
      <p:sp>
        <p:nvSpPr>
          <p:cNvPr id="31" name="Shape 31"/>
          <p:cNvSpPr txBox="1"/>
          <p:nvPr/>
        </p:nvSpPr>
        <p:spPr>
          <a:xfrm>
            <a:off x="4419498" y="2406396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32" name="Shape 32"/>
          <p:cNvSpPr txBox="1"/>
          <p:nvPr/>
        </p:nvSpPr>
        <p:spPr>
          <a:xfrm>
            <a:off x="4419498" y="2406396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−2</a:t>
            </a:r>
            <a:endParaRPr lang="en-US" sz="1650" dirty="0"/>
          </a:p>
        </p:txBody>
      </p:sp>
      <p:sp>
        <p:nvSpPr>
          <p:cNvPr id="33" name="Shape 33"/>
          <p:cNvSpPr txBox="1"/>
          <p:nvPr/>
        </p:nvSpPr>
        <p:spPr>
          <a:xfrm>
            <a:off x="5562498" y="2406396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34" name="Shape 34"/>
          <p:cNvSpPr txBox="1"/>
          <p:nvPr/>
        </p:nvSpPr>
        <p:spPr>
          <a:xfrm>
            <a:off x="5562498" y="2406396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1</a:t>
            </a:r>
            <a:endParaRPr lang="en-US" sz="1650" dirty="0"/>
          </a:p>
        </p:txBody>
      </p:sp>
      <p:sp>
        <p:nvSpPr>
          <p:cNvPr id="35" name="Shape 35"/>
          <p:cNvSpPr txBox="1"/>
          <p:nvPr/>
        </p:nvSpPr>
        <p:spPr>
          <a:xfrm>
            <a:off x="4419498" y="2804160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36" name="Shape 36"/>
          <p:cNvSpPr txBox="1"/>
          <p:nvPr/>
        </p:nvSpPr>
        <p:spPr>
          <a:xfrm>
            <a:off x="4419498" y="2804160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−1</a:t>
            </a:r>
            <a:endParaRPr lang="en-US" sz="1650" dirty="0"/>
          </a:p>
        </p:txBody>
      </p:sp>
      <p:sp>
        <p:nvSpPr>
          <p:cNvPr id="37" name="Shape 37"/>
          <p:cNvSpPr txBox="1"/>
          <p:nvPr/>
        </p:nvSpPr>
        <p:spPr>
          <a:xfrm>
            <a:off x="5562498" y="2804160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38" name="Shape 38"/>
          <p:cNvSpPr txBox="1"/>
          <p:nvPr/>
        </p:nvSpPr>
        <p:spPr>
          <a:xfrm>
            <a:off x="5562498" y="2804160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endParaRPr lang="en-US" sz="1650" dirty="0"/>
          </a:p>
        </p:txBody>
      </p:sp>
      <p:sp>
        <p:nvSpPr>
          <p:cNvPr id="39" name="Shape 39"/>
          <p:cNvSpPr txBox="1"/>
          <p:nvPr/>
        </p:nvSpPr>
        <p:spPr>
          <a:xfrm>
            <a:off x="4419498" y="3201924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40" name="Shape 40"/>
          <p:cNvSpPr txBox="1"/>
          <p:nvPr/>
        </p:nvSpPr>
        <p:spPr>
          <a:xfrm>
            <a:off x="4419498" y="3201924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0</a:t>
            </a:r>
            <a:endParaRPr lang="en-US" sz="1650" dirty="0"/>
          </a:p>
        </p:txBody>
      </p:sp>
      <p:sp>
        <p:nvSpPr>
          <p:cNvPr id="41" name="Shape 41"/>
          <p:cNvSpPr txBox="1"/>
          <p:nvPr/>
        </p:nvSpPr>
        <p:spPr>
          <a:xfrm>
            <a:off x="5562498" y="3201924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42" name="Shape 42"/>
          <p:cNvSpPr txBox="1"/>
          <p:nvPr/>
        </p:nvSpPr>
        <p:spPr>
          <a:xfrm>
            <a:off x="5562498" y="3201924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3</a:t>
            </a:r>
            <a:endParaRPr lang="en-US" sz="1650" dirty="0"/>
          </a:p>
        </p:txBody>
      </p:sp>
      <p:sp>
        <p:nvSpPr>
          <p:cNvPr id="43" name="Shape 43"/>
          <p:cNvSpPr txBox="1"/>
          <p:nvPr/>
        </p:nvSpPr>
        <p:spPr>
          <a:xfrm>
            <a:off x="4419498" y="3599688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44" name="Shape 44"/>
          <p:cNvSpPr txBox="1"/>
          <p:nvPr/>
        </p:nvSpPr>
        <p:spPr>
          <a:xfrm>
            <a:off x="4419498" y="3599688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1</a:t>
            </a:r>
            <a:endParaRPr lang="en-US" sz="1650" dirty="0"/>
          </a:p>
        </p:txBody>
      </p:sp>
      <p:sp>
        <p:nvSpPr>
          <p:cNvPr id="45" name="Shape 45"/>
          <p:cNvSpPr txBox="1"/>
          <p:nvPr/>
        </p:nvSpPr>
        <p:spPr>
          <a:xfrm>
            <a:off x="5562498" y="3599688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46" name="Shape 46"/>
          <p:cNvSpPr txBox="1"/>
          <p:nvPr/>
        </p:nvSpPr>
        <p:spPr>
          <a:xfrm>
            <a:off x="5562498" y="3599688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4</a:t>
            </a:r>
            <a:endParaRPr lang="en-US" sz="1650" dirty="0"/>
          </a:p>
        </p:txBody>
      </p:sp>
      <p:sp>
        <p:nvSpPr>
          <p:cNvPr id="47" name="Shape 47"/>
          <p:cNvSpPr txBox="1"/>
          <p:nvPr/>
        </p:nvSpPr>
        <p:spPr>
          <a:xfrm>
            <a:off x="4419498" y="3997452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48" name="Shape 48"/>
          <p:cNvSpPr txBox="1"/>
          <p:nvPr/>
        </p:nvSpPr>
        <p:spPr>
          <a:xfrm>
            <a:off x="4419498" y="3997452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endParaRPr lang="en-US" sz="1650" dirty="0"/>
          </a:p>
        </p:txBody>
      </p:sp>
      <p:sp>
        <p:nvSpPr>
          <p:cNvPr id="49" name="Shape 49"/>
          <p:cNvSpPr txBox="1"/>
          <p:nvPr/>
        </p:nvSpPr>
        <p:spPr>
          <a:xfrm>
            <a:off x="5562498" y="3997452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50" name="Shape 50"/>
          <p:cNvSpPr txBox="1"/>
          <p:nvPr/>
        </p:nvSpPr>
        <p:spPr>
          <a:xfrm>
            <a:off x="5562498" y="3997452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5</a:t>
            </a:r>
            <a:endParaRPr lang="en-US" sz="1650" dirty="0"/>
          </a:p>
        </p:txBody>
      </p:sp>
      <p:sp>
        <p:nvSpPr>
          <p:cNvPr id="51" name="Shape 51"/>
          <p:cNvSpPr txBox="1"/>
          <p:nvPr/>
        </p:nvSpPr>
        <p:spPr>
          <a:xfrm>
            <a:off x="4419498" y="4490466"/>
            <a:ext cx="33526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The </a:t>
            </a: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outputs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change.</a:t>
            </a:r>
            <a:endParaRPr lang="en-US" sz="1575" dirty="0"/>
          </a:p>
        </p:txBody>
      </p:sp>
      <p:sp>
        <p:nvSpPr>
          <p:cNvPr id="52" name="Shape 52"/>
          <p:cNvSpPr/>
          <p:nvPr/>
        </p:nvSpPr>
        <p:spPr>
          <a:xfrm>
            <a:off x="8153197" y="1618488"/>
            <a:ext cx="3048000" cy="304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cxnSp>
        <p:nvCxnSpPr>
          <p:cNvPr id="53" name="Line 53"/>
          <p:cNvCxnSpPr/>
          <p:nvPr/>
        </p:nvCxnSpPr>
        <p:spPr>
          <a:xfrm>
            <a:off x="8477047" y="173278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4" name="Line 54"/>
          <p:cNvCxnSpPr/>
          <p:nvPr/>
        </p:nvCxnSpPr>
        <p:spPr>
          <a:xfrm>
            <a:off x="8694534" y="173278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5" name="Line 55"/>
          <p:cNvCxnSpPr/>
          <p:nvPr/>
        </p:nvCxnSpPr>
        <p:spPr>
          <a:xfrm>
            <a:off x="8912022" y="173278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6" name="Line 56"/>
          <p:cNvCxnSpPr/>
          <p:nvPr/>
        </p:nvCxnSpPr>
        <p:spPr>
          <a:xfrm>
            <a:off x="9129509" y="173278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7" name="Line 57"/>
          <p:cNvCxnSpPr/>
          <p:nvPr/>
        </p:nvCxnSpPr>
        <p:spPr>
          <a:xfrm>
            <a:off x="9346997" y="173278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8" name="Line 58"/>
          <p:cNvCxnSpPr/>
          <p:nvPr/>
        </p:nvCxnSpPr>
        <p:spPr>
          <a:xfrm>
            <a:off x="9564484" y="173278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9" name="Line 59"/>
          <p:cNvCxnSpPr/>
          <p:nvPr/>
        </p:nvCxnSpPr>
        <p:spPr>
          <a:xfrm>
            <a:off x="9781972" y="173278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0" name="Line 60"/>
          <p:cNvCxnSpPr/>
          <p:nvPr/>
        </p:nvCxnSpPr>
        <p:spPr>
          <a:xfrm>
            <a:off x="9999459" y="173278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1" name="Line 61"/>
          <p:cNvCxnSpPr/>
          <p:nvPr/>
        </p:nvCxnSpPr>
        <p:spPr>
          <a:xfrm>
            <a:off x="10216947" y="173278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2" name="Line 62"/>
          <p:cNvCxnSpPr/>
          <p:nvPr/>
        </p:nvCxnSpPr>
        <p:spPr>
          <a:xfrm>
            <a:off x="10434434" y="173278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3" name="Line 63"/>
          <p:cNvCxnSpPr/>
          <p:nvPr/>
        </p:nvCxnSpPr>
        <p:spPr>
          <a:xfrm>
            <a:off x="10651922" y="173278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4" name="Line 64"/>
          <p:cNvCxnSpPr/>
          <p:nvPr/>
        </p:nvCxnSpPr>
        <p:spPr>
          <a:xfrm>
            <a:off x="10869409" y="173278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5" name="Line 65"/>
          <p:cNvCxnSpPr/>
          <p:nvPr/>
        </p:nvCxnSpPr>
        <p:spPr>
          <a:xfrm>
            <a:off x="11086897" y="173278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6" name="Line 66"/>
          <p:cNvCxnSpPr/>
          <p:nvPr/>
        </p:nvCxnSpPr>
        <p:spPr>
          <a:xfrm>
            <a:off x="8477047" y="4418838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7" name="Line 67"/>
          <p:cNvCxnSpPr/>
          <p:nvPr/>
        </p:nvCxnSpPr>
        <p:spPr>
          <a:xfrm>
            <a:off x="8477047" y="4195000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8" name="Line 68"/>
          <p:cNvCxnSpPr/>
          <p:nvPr/>
        </p:nvCxnSpPr>
        <p:spPr>
          <a:xfrm>
            <a:off x="8477047" y="3971163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9" name="Line 69"/>
          <p:cNvCxnSpPr/>
          <p:nvPr/>
        </p:nvCxnSpPr>
        <p:spPr>
          <a:xfrm>
            <a:off x="8477047" y="3747325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0" name="Line 70"/>
          <p:cNvCxnSpPr/>
          <p:nvPr/>
        </p:nvCxnSpPr>
        <p:spPr>
          <a:xfrm>
            <a:off x="8477047" y="3523488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1" name="Line 71"/>
          <p:cNvCxnSpPr/>
          <p:nvPr/>
        </p:nvCxnSpPr>
        <p:spPr>
          <a:xfrm>
            <a:off x="8477047" y="3299650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2" name="Line 72"/>
          <p:cNvCxnSpPr/>
          <p:nvPr/>
        </p:nvCxnSpPr>
        <p:spPr>
          <a:xfrm>
            <a:off x="8477047" y="3075813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3" name="Line 73"/>
          <p:cNvCxnSpPr/>
          <p:nvPr/>
        </p:nvCxnSpPr>
        <p:spPr>
          <a:xfrm>
            <a:off x="8477047" y="2851976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4" name="Line 74"/>
          <p:cNvCxnSpPr/>
          <p:nvPr/>
        </p:nvCxnSpPr>
        <p:spPr>
          <a:xfrm>
            <a:off x="8477047" y="2628138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5" name="Line 75"/>
          <p:cNvCxnSpPr/>
          <p:nvPr/>
        </p:nvCxnSpPr>
        <p:spPr>
          <a:xfrm>
            <a:off x="8477047" y="2404300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6" name="Line 76"/>
          <p:cNvCxnSpPr/>
          <p:nvPr/>
        </p:nvCxnSpPr>
        <p:spPr>
          <a:xfrm>
            <a:off x="8477047" y="2180463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7" name="Line 77"/>
          <p:cNvCxnSpPr/>
          <p:nvPr/>
        </p:nvCxnSpPr>
        <p:spPr>
          <a:xfrm>
            <a:off x="8477047" y="1956625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8" name="Line 78"/>
          <p:cNvCxnSpPr/>
          <p:nvPr/>
        </p:nvCxnSpPr>
        <p:spPr>
          <a:xfrm>
            <a:off x="8477047" y="1732788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9" name="Line 79"/>
          <p:cNvCxnSpPr/>
          <p:nvPr/>
        </p:nvCxnSpPr>
        <p:spPr>
          <a:xfrm>
            <a:off x="9781972" y="1732788"/>
            <a:ext cx="0" cy="268605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cxnSp>
        <p:nvCxnSpPr>
          <p:cNvPr id="80" name="Line 80"/>
          <p:cNvCxnSpPr/>
          <p:nvPr/>
        </p:nvCxnSpPr>
        <p:spPr>
          <a:xfrm>
            <a:off x="8477047" y="3075813"/>
            <a:ext cx="2609850" cy="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sp>
        <p:nvSpPr>
          <p:cNvPr id="81" name="Shape 81"/>
          <p:cNvSpPr txBox="1"/>
          <p:nvPr/>
        </p:nvSpPr>
        <p:spPr>
          <a:xfrm>
            <a:off x="8202727" y="44378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−6</a:t>
            </a:r>
            <a:endParaRPr lang="en-US" sz="975" dirty="0"/>
          </a:p>
        </p:txBody>
      </p:sp>
      <p:sp>
        <p:nvSpPr>
          <p:cNvPr id="82" name="Shape 82"/>
          <p:cNvSpPr txBox="1"/>
          <p:nvPr/>
        </p:nvSpPr>
        <p:spPr>
          <a:xfrm>
            <a:off x="8637702" y="44378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−4</a:t>
            </a:r>
            <a:endParaRPr lang="en-US" sz="975" dirty="0"/>
          </a:p>
        </p:txBody>
      </p:sp>
      <p:sp>
        <p:nvSpPr>
          <p:cNvPr id="83" name="Shape 83"/>
          <p:cNvSpPr txBox="1"/>
          <p:nvPr/>
        </p:nvSpPr>
        <p:spPr>
          <a:xfrm>
            <a:off x="9072677" y="44378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−2</a:t>
            </a:r>
            <a:endParaRPr lang="en-US" sz="975" dirty="0"/>
          </a:p>
        </p:txBody>
      </p:sp>
      <p:sp>
        <p:nvSpPr>
          <p:cNvPr id="84" name="Shape 84"/>
          <p:cNvSpPr txBox="1"/>
          <p:nvPr/>
        </p:nvSpPr>
        <p:spPr>
          <a:xfrm>
            <a:off x="9507652" y="44378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85" name="Shape 85"/>
          <p:cNvSpPr txBox="1"/>
          <p:nvPr/>
        </p:nvSpPr>
        <p:spPr>
          <a:xfrm>
            <a:off x="9942627" y="44378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</a:t>
            </a:r>
            <a:endParaRPr lang="en-US" sz="975" dirty="0"/>
          </a:p>
        </p:txBody>
      </p:sp>
      <p:sp>
        <p:nvSpPr>
          <p:cNvPr id="86" name="Shape 86"/>
          <p:cNvSpPr txBox="1"/>
          <p:nvPr/>
        </p:nvSpPr>
        <p:spPr>
          <a:xfrm>
            <a:off x="10377602" y="44378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sp>
        <p:nvSpPr>
          <p:cNvPr id="87" name="Shape 87"/>
          <p:cNvSpPr txBox="1"/>
          <p:nvPr/>
        </p:nvSpPr>
        <p:spPr>
          <a:xfrm>
            <a:off x="10812577" y="44378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6</a:t>
            </a:r>
            <a:endParaRPr lang="en-US" sz="975" dirty="0"/>
          </a:p>
        </p:txBody>
      </p:sp>
      <p:sp>
        <p:nvSpPr>
          <p:cNvPr id="88" name="Shape 88"/>
          <p:cNvSpPr txBox="1"/>
          <p:nvPr/>
        </p:nvSpPr>
        <p:spPr>
          <a:xfrm>
            <a:off x="7910119" y="432739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−6</a:t>
            </a:r>
            <a:endParaRPr lang="en-US" sz="975" dirty="0"/>
          </a:p>
        </p:txBody>
      </p:sp>
      <p:sp>
        <p:nvSpPr>
          <p:cNvPr id="89" name="Shape 89"/>
          <p:cNvSpPr txBox="1"/>
          <p:nvPr/>
        </p:nvSpPr>
        <p:spPr>
          <a:xfrm>
            <a:off x="7910119" y="3879723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−4</a:t>
            </a:r>
            <a:endParaRPr lang="en-US" sz="975" dirty="0"/>
          </a:p>
        </p:txBody>
      </p:sp>
      <p:sp>
        <p:nvSpPr>
          <p:cNvPr id="90" name="Shape 90"/>
          <p:cNvSpPr txBox="1"/>
          <p:nvPr/>
        </p:nvSpPr>
        <p:spPr>
          <a:xfrm>
            <a:off x="7910119" y="343204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−2</a:t>
            </a:r>
            <a:endParaRPr lang="en-US" sz="975" dirty="0"/>
          </a:p>
        </p:txBody>
      </p:sp>
      <p:sp>
        <p:nvSpPr>
          <p:cNvPr id="91" name="Shape 91"/>
          <p:cNvSpPr txBox="1"/>
          <p:nvPr/>
        </p:nvSpPr>
        <p:spPr>
          <a:xfrm>
            <a:off x="7910119" y="2984373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92" name="Shape 92"/>
          <p:cNvSpPr txBox="1"/>
          <p:nvPr/>
        </p:nvSpPr>
        <p:spPr>
          <a:xfrm>
            <a:off x="7910119" y="253669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</a:t>
            </a:r>
            <a:endParaRPr lang="en-US" sz="975" dirty="0"/>
          </a:p>
        </p:txBody>
      </p:sp>
      <p:sp>
        <p:nvSpPr>
          <p:cNvPr id="93" name="Shape 93"/>
          <p:cNvSpPr txBox="1"/>
          <p:nvPr/>
        </p:nvSpPr>
        <p:spPr>
          <a:xfrm>
            <a:off x="7910119" y="2089023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sp>
        <p:nvSpPr>
          <p:cNvPr id="94" name="Shape 94"/>
          <p:cNvSpPr txBox="1"/>
          <p:nvPr/>
        </p:nvSpPr>
        <p:spPr>
          <a:xfrm>
            <a:off x="7910119" y="164134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6</a:t>
            </a:r>
            <a:endParaRPr lang="en-US" sz="975" dirty="0"/>
          </a:p>
        </p:txBody>
      </p:sp>
      <p:cxnSp>
        <p:nvCxnSpPr>
          <p:cNvPr id="95" name="Line 95"/>
          <p:cNvCxnSpPr/>
          <p:nvPr/>
        </p:nvCxnSpPr>
        <p:spPr>
          <a:xfrm flipV="1">
            <a:off x="8477047" y="1732788"/>
            <a:ext cx="2609850" cy="2686050"/>
          </a:xfrm>
          <a:prstGeom prst="line">
            <a:avLst/>
          </a:prstGeom>
          <a:ln w="38100" cap="rnd">
            <a:solidFill>
              <a:srgbClr val="16171D"/>
            </a:solidFill>
          </a:ln>
        </p:spPr>
      </p:cxnSp>
      <p:sp>
        <p:nvSpPr>
          <p:cNvPr id="96" name="Shape 96"/>
          <p:cNvSpPr txBox="1"/>
          <p:nvPr/>
        </p:nvSpPr>
        <p:spPr>
          <a:xfrm>
            <a:off x="8595157" y="1751838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75" dirty="0" i="1">
                <a:solidFill>
                  <a:srgbClr val="16171D"/>
                </a:solidFill>
                <a:latin typeface="Cambria"/>
                <a:cs typeface="Cambria"/>
              </a:rPr>
              <a:t xml:space="preserve">f(x)</a:t>
            </a:r>
            <a:endParaRPr lang="en-US" sz="1275" dirty="0"/>
          </a:p>
        </p:txBody>
      </p:sp>
      <p:cxnSp>
        <p:nvCxnSpPr>
          <p:cNvPr id="97" name="Line 97"/>
          <p:cNvCxnSpPr/>
          <p:nvPr/>
        </p:nvCxnSpPr>
        <p:spPr>
          <a:xfrm flipV="1">
            <a:off x="8477047" y="1732788"/>
            <a:ext cx="1957388" cy="2014537"/>
          </a:xfrm>
          <a:prstGeom prst="line">
            <a:avLst/>
          </a:prstGeom>
          <a:ln w="38100" cap="rnd">
            <a:solidFill>
              <a:srgbClr val="7A4FC4"/>
            </a:solidFill>
          </a:ln>
        </p:spPr>
      </p:cxnSp>
      <p:sp>
        <p:nvSpPr>
          <p:cNvPr id="98" name="Shape 98"/>
          <p:cNvSpPr txBox="1"/>
          <p:nvPr/>
        </p:nvSpPr>
        <p:spPr>
          <a:xfrm>
            <a:off x="7942694" y="1751838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75" dirty="0" i="1">
                <a:solidFill>
                  <a:srgbClr val="16171D"/>
                </a:solidFill>
                <a:latin typeface="Cambria"/>
                <a:cs typeface="Cambria"/>
              </a:rPr>
              <a:t xml:space="preserve">t(x) = w(x)</a:t>
            </a:r>
            <a:endParaRPr lang="en-US" sz="1275" dirty="0"/>
          </a:p>
        </p:txBody>
      </p:sp>
      <p:sp>
        <p:nvSpPr>
          <p:cNvPr id="99" name="Shape 99"/>
          <p:cNvSpPr txBox="1"/>
          <p:nvPr/>
        </p:nvSpPr>
        <p:spPr>
          <a:xfrm>
            <a:off x="8153197" y="4761738"/>
            <a:ext cx="33526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Same line,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+ 3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, but different tables.</a:t>
            </a:r>
            <a:endParaRPr lang="en-US" sz="1575" dirty="0"/>
          </a:p>
        </p:txBody>
      </p:sp>
      <p:sp>
        <p:nvSpPr>
          <p:cNvPr id="100" name="Slide Number 100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8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7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1" dur="7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7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Catch-Up · Lesson 2 · Activity 2.1 · Definitions · SE p. 291 · ★ Essential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Horizontal vs. vertical translations</a:t>
            </a:r>
            <a:endParaRPr lang="en-US" sz="34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1618488"/>
            <a:ext cx="5219548" cy="134797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895350" y="1789938"/>
            <a:ext cx="480044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 = 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 − 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c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endParaRPr lang="en-US" sz="210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260092"/>
            <a:ext cx="480044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Changes the </a:t>
            </a: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inputs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c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&gt; 0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 shift </a:t>
            </a: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right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c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c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&lt;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0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 shift </a:t>
            </a: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left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575" dirty="0"/>
          </a:p>
        </p:txBody>
      </p:sp>
      <p:sp>
        <p:nvSpPr>
          <p:cNvPr id="9" name="Shape 9"/>
          <p:cNvSpPr txBox="1"/>
          <p:nvPr/>
        </p:nvSpPr>
        <p:spPr>
          <a:xfrm>
            <a:off x="6286348" y="1618488"/>
            <a:ext cx="5219548" cy="134797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495898" y="1789938"/>
            <a:ext cx="480044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 = 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) + 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d</a:t>
            </a:r>
            <a:endParaRPr lang="en-US" sz="2100" dirty="0"/>
          </a:p>
        </p:txBody>
      </p:sp>
      <p:sp>
        <p:nvSpPr>
          <p:cNvPr id="8" name="Shape 8"/>
          <p:cNvSpPr txBox="1"/>
          <p:nvPr/>
        </p:nvSpPr>
        <p:spPr>
          <a:xfrm>
            <a:off x="6495898" y="2260092"/>
            <a:ext cx="480044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Changes the </a:t>
            </a: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outputs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d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&gt; 0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 shift </a:t>
            </a: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up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d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d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&lt;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0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 shift </a:t>
            </a: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down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575" dirty="0"/>
          </a:p>
        </p:txBody>
      </p:sp>
      <p:sp>
        <p:nvSpPr>
          <p:cNvPr id="10" name="Shape 10"/>
          <p:cNvSpPr txBox="1"/>
          <p:nvPr/>
        </p:nvSpPr>
        <p:spPr>
          <a:xfrm>
            <a:off x="685800" y="3137916"/>
            <a:ext cx="10820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For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 right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n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= down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n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, and left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n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= up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n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575" dirty="0"/>
          </a:p>
        </p:txBody>
      </p:sp>
      <p:sp>
        <p:nvSpPr>
          <p:cNvPr id="11" name="Shape 11"/>
          <p:cNvSpPr txBox="1"/>
          <p:nvPr/>
        </p:nvSpPr>
        <p:spPr>
          <a:xfrm>
            <a:off x="685800" y="3604260"/>
            <a:ext cx="4967272" cy="397764"/>
          </a:xfrm>
          <a:prstGeom prst="roundRect">
            <a:avLst>
              <a:gd name="adj" fmla="val 8000"/>
            </a:avLst>
          </a:prstGeom>
          <a:solidFill>
            <a:srgbClr val="FDF3E7"/>
          </a:solidFill>
          <a:ln>
            <a:noFill/>
          </a:ln>
        </p:spPr>
        <p:txBody>
          <a:bodyPr wrap="square" lIns="164592" tIns="73152" rIns="164592" bIns="73152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Does that work for </a:t>
            </a:r>
            <a:r>
              <a:rPr lang="en-US" sz="16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every</a:t>
            </a: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 linear function?</a:t>
            </a:r>
            <a:endParaRPr lang="en-US" sz="1650" dirty="0"/>
          </a:p>
        </p:txBody>
      </p:sp>
      <p:sp>
        <p:nvSpPr>
          <p:cNvPr id="12" name="Slide Number 12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9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Catch-Up · Lesson 2 · Activity 2.1 · Summary · ★ Essential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Translations of linear functions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713738"/>
            <a:ext cx="10820095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Inside the parentheses changes the </a:t>
            </a: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input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(horizontal); outside changes the </a:t>
            </a: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output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(vertical).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572512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−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c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moves right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c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; the sign flips.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134106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Only for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does right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n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match down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n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950" dirty="0"/>
          </a:p>
        </p:txBody>
      </p:sp>
      <p:sp>
        <p:nvSpPr>
          <p:cNvPr id="7" name="Slide Number 7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10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Catch-Up · Lesson 2 · Activity 2.2 · Comparing Vertical and Horizontal Dilations · SE pp. 295–296 · ★ Essential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Change the outputs or the inputs of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33526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Outputs × 2: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) = 2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endParaRPr lang="en-US" sz="1575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008632"/>
            <a:ext cx="1143000" cy="39776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endParaRPr lang="en-US" sz="1650" dirty="0"/>
          </a:p>
        </p:txBody>
      </p:sp>
      <p:sp>
        <p:nvSpPr>
          <p:cNvPr id="6" name="Shape 6"/>
          <p:cNvSpPr txBox="1"/>
          <p:nvPr/>
        </p:nvSpPr>
        <p:spPr>
          <a:xfrm>
            <a:off x="1828800" y="2008632"/>
            <a:ext cx="1143000" cy="39776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a(x)</a:t>
            </a:r>
            <a:endParaRPr lang="en-US" sz="16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2406396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2406396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−2</a:t>
            </a:r>
            <a:endParaRPr lang="en-US" sz="1650" dirty="0"/>
          </a:p>
        </p:txBody>
      </p:sp>
      <p:sp>
        <p:nvSpPr>
          <p:cNvPr id="9" name="Shape 9"/>
          <p:cNvSpPr txBox="1"/>
          <p:nvPr/>
        </p:nvSpPr>
        <p:spPr>
          <a:xfrm>
            <a:off x="1828800" y="2406396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10" name="Shape 10"/>
          <p:cNvSpPr txBox="1"/>
          <p:nvPr/>
        </p:nvSpPr>
        <p:spPr>
          <a:xfrm>
            <a:off x="1828800" y="2406396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−4</a:t>
            </a:r>
            <a:endParaRPr lang="en-US" sz="1650" dirty="0"/>
          </a:p>
        </p:txBody>
      </p:sp>
      <p:sp>
        <p:nvSpPr>
          <p:cNvPr id="11" name="Shape 11"/>
          <p:cNvSpPr txBox="1"/>
          <p:nvPr/>
        </p:nvSpPr>
        <p:spPr>
          <a:xfrm>
            <a:off x="685800" y="2804160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12" name="Shape 12"/>
          <p:cNvSpPr txBox="1"/>
          <p:nvPr/>
        </p:nvSpPr>
        <p:spPr>
          <a:xfrm>
            <a:off x="685800" y="2804160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−1</a:t>
            </a:r>
            <a:endParaRPr lang="en-US" sz="1650" dirty="0"/>
          </a:p>
        </p:txBody>
      </p:sp>
      <p:sp>
        <p:nvSpPr>
          <p:cNvPr id="13" name="Shape 13"/>
          <p:cNvSpPr txBox="1"/>
          <p:nvPr/>
        </p:nvSpPr>
        <p:spPr>
          <a:xfrm>
            <a:off x="1828800" y="2804160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14" name="Shape 14"/>
          <p:cNvSpPr txBox="1"/>
          <p:nvPr/>
        </p:nvSpPr>
        <p:spPr>
          <a:xfrm>
            <a:off x="1828800" y="2804160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−2</a:t>
            </a:r>
            <a:endParaRPr lang="en-US" sz="1650" dirty="0"/>
          </a:p>
        </p:txBody>
      </p:sp>
      <p:sp>
        <p:nvSpPr>
          <p:cNvPr id="15" name="Shape 15"/>
          <p:cNvSpPr txBox="1"/>
          <p:nvPr/>
        </p:nvSpPr>
        <p:spPr>
          <a:xfrm>
            <a:off x="685800" y="3201924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16" name="Shape 16"/>
          <p:cNvSpPr txBox="1"/>
          <p:nvPr/>
        </p:nvSpPr>
        <p:spPr>
          <a:xfrm>
            <a:off x="685800" y="3201924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0</a:t>
            </a:r>
            <a:endParaRPr lang="en-US" sz="1650" dirty="0"/>
          </a:p>
        </p:txBody>
      </p:sp>
      <p:sp>
        <p:nvSpPr>
          <p:cNvPr id="17" name="Shape 17"/>
          <p:cNvSpPr txBox="1"/>
          <p:nvPr/>
        </p:nvSpPr>
        <p:spPr>
          <a:xfrm>
            <a:off x="1828800" y="3201924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18" name="Shape 18"/>
          <p:cNvSpPr txBox="1"/>
          <p:nvPr/>
        </p:nvSpPr>
        <p:spPr>
          <a:xfrm>
            <a:off x="1828800" y="3201924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0</a:t>
            </a:r>
            <a:endParaRPr lang="en-US" sz="1650" dirty="0"/>
          </a:p>
        </p:txBody>
      </p:sp>
      <p:sp>
        <p:nvSpPr>
          <p:cNvPr id="19" name="Shape 19"/>
          <p:cNvSpPr txBox="1"/>
          <p:nvPr/>
        </p:nvSpPr>
        <p:spPr>
          <a:xfrm>
            <a:off x="685800" y="3599688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20" name="Shape 20"/>
          <p:cNvSpPr txBox="1"/>
          <p:nvPr/>
        </p:nvSpPr>
        <p:spPr>
          <a:xfrm>
            <a:off x="685800" y="3599688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1</a:t>
            </a:r>
            <a:endParaRPr lang="en-US" sz="1650" dirty="0"/>
          </a:p>
        </p:txBody>
      </p:sp>
      <p:sp>
        <p:nvSpPr>
          <p:cNvPr id="21" name="Shape 21"/>
          <p:cNvSpPr txBox="1"/>
          <p:nvPr/>
        </p:nvSpPr>
        <p:spPr>
          <a:xfrm>
            <a:off x="1828800" y="3599688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22" name="Shape 22"/>
          <p:cNvSpPr txBox="1"/>
          <p:nvPr/>
        </p:nvSpPr>
        <p:spPr>
          <a:xfrm>
            <a:off x="1828800" y="3599688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endParaRPr lang="en-US" sz="1650" dirty="0"/>
          </a:p>
        </p:txBody>
      </p:sp>
      <p:sp>
        <p:nvSpPr>
          <p:cNvPr id="23" name="Shape 23"/>
          <p:cNvSpPr txBox="1"/>
          <p:nvPr/>
        </p:nvSpPr>
        <p:spPr>
          <a:xfrm>
            <a:off x="685800" y="3997452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24" name="Shape 24"/>
          <p:cNvSpPr txBox="1"/>
          <p:nvPr/>
        </p:nvSpPr>
        <p:spPr>
          <a:xfrm>
            <a:off x="685800" y="3997452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endParaRPr lang="en-US" sz="1650" dirty="0"/>
          </a:p>
        </p:txBody>
      </p:sp>
      <p:sp>
        <p:nvSpPr>
          <p:cNvPr id="25" name="Shape 25"/>
          <p:cNvSpPr txBox="1"/>
          <p:nvPr/>
        </p:nvSpPr>
        <p:spPr>
          <a:xfrm>
            <a:off x="1828800" y="3997452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26" name="Shape 26"/>
          <p:cNvSpPr txBox="1"/>
          <p:nvPr/>
        </p:nvSpPr>
        <p:spPr>
          <a:xfrm>
            <a:off x="1828800" y="3997452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4</a:t>
            </a:r>
            <a:endParaRPr lang="en-US" sz="1650" dirty="0"/>
          </a:p>
        </p:txBody>
      </p:sp>
      <p:sp>
        <p:nvSpPr>
          <p:cNvPr id="27" name="Shape 27"/>
          <p:cNvSpPr txBox="1"/>
          <p:nvPr/>
        </p:nvSpPr>
        <p:spPr>
          <a:xfrm>
            <a:off x="4419498" y="1618488"/>
            <a:ext cx="33526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Inputs × ½: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(2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endParaRPr lang="en-US" sz="1575" dirty="0"/>
          </a:p>
        </p:txBody>
      </p:sp>
      <p:sp>
        <p:nvSpPr>
          <p:cNvPr id="28" name="Shape 28"/>
          <p:cNvSpPr txBox="1"/>
          <p:nvPr/>
        </p:nvSpPr>
        <p:spPr>
          <a:xfrm>
            <a:off x="4419498" y="2008632"/>
            <a:ext cx="1143000" cy="39776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endParaRPr lang="en-US" sz="1650" dirty="0"/>
          </a:p>
        </p:txBody>
      </p:sp>
      <p:sp>
        <p:nvSpPr>
          <p:cNvPr id="29" name="Shape 29"/>
          <p:cNvSpPr txBox="1"/>
          <p:nvPr/>
        </p:nvSpPr>
        <p:spPr>
          <a:xfrm>
            <a:off x="5562498" y="2008632"/>
            <a:ext cx="1143000" cy="39776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b(x)</a:t>
            </a:r>
            <a:endParaRPr lang="en-US" sz="1650" dirty="0"/>
          </a:p>
        </p:txBody>
      </p:sp>
      <p:sp>
        <p:nvSpPr>
          <p:cNvPr id="30" name="Shape 30"/>
          <p:cNvSpPr txBox="1"/>
          <p:nvPr/>
        </p:nvSpPr>
        <p:spPr>
          <a:xfrm>
            <a:off x="4419498" y="2406396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31" name="Shape 31"/>
          <p:cNvSpPr txBox="1"/>
          <p:nvPr/>
        </p:nvSpPr>
        <p:spPr>
          <a:xfrm>
            <a:off x="4419498" y="2406396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−1</a:t>
            </a:r>
            <a:endParaRPr lang="en-US" sz="1650" dirty="0"/>
          </a:p>
        </p:txBody>
      </p:sp>
      <p:sp>
        <p:nvSpPr>
          <p:cNvPr id="32" name="Shape 32"/>
          <p:cNvSpPr txBox="1"/>
          <p:nvPr/>
        </p:nvSpPr>
        <p:spPr>
          <a:xfrm>
            <a:off x="5562498" y="2406396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33" name="Shape 33"/>
          <p:cNvSpPr txBox="1"/>
          <p:nvPr/>
        </p:nvSpPr>
        <p:spPr>
          <a:xfrm>
            <a:off x="5562498" y="2406396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−2</a:t>
            </a:r>
            <a:endParaRPr lang="en-US" sz="1650" dirty="0"/>
          </a:p>
        </p:txBody>
      </p:sp>
      <p:sp>
        <p:nvSpPr>
          <p:cNvPr id="34" name="Shape 34"/>
          <p:cNvSpPr txBox="1"/>
          <p:nvPr/>
        </p:nvSpPr>
        <p:spPr>
          <a:xfrm>
            <a:off x="4419498" y="2804160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35" name="Shape 35"/>
          <p:cNvSpPr txBox="1"/>
          <p:nvPr/>
        </p:nvSpPr>
        <p:spPr>
          <a:xfrm>
            <a:off x="4419498" y="2804160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−½</a:t>
            </a:r>
            <a:endParaRPr lang="en-US" sz="1650" dirty="0"/>
          </a:p>
        </p:txBody>
      </p:sp>
      <p:sp>
        <p:nvSpPr>
          <p:cNvPr id="36" name="Shape 36"/>
          <p:cNvSpPr txBox="1"/>
          <p:nvPr/>
        </p:nvSpPr>
        <p:spPr>
          <a:xfrm>
            <a:off x="5562498" y="2804160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37" name="Shape 37"/>
          <p:cNvSpPr txBox="1"/>
          <p:nvPr/>
        </p:nvSpPr>
        <p:spPr>
          <a:xfrm>
            <a:off x="5562498" y="2804160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−1</a:t>
            </a:r>
            <a:endParaRPr lang="en-US" sz="1650" dirty="0"/>
          </a:p>
        </p:txBody>
      </p:sp>
      <p:sp>
        <p:nvSpPr>
          <p:cNvPr id="38" name="Shape 38"/>
          <p:cNvSpPr txBox="1"/>
          <p:nvPr/>
        </p:nvSpPr>
        <p:spPr>
          <a:xfrm>
            <a:off x="4419498" y="3201924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39" name="Shape 39"/>
          <p:cNvSpPr txBox="1"/>
          <p:nvPr/>
        </p:nvSpPr>
        <p:spPr>
          <a:xfrm>
            <a:off x="4419498" y="3201924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0</a:t>
            </a:r>
            <a:endParaRPr lang="en-US" sz="1650" dirty="0"/>
          </a:p>
        </p:txBody>
      </p:sp>
      <p:sp>
        <p:nvSpPr>
          <p:cNvPr id="40" name="Shape 40"/>
          <p:cNvSpPr txBox="1"/>
          <p:nvPr/>
        </p:nvSpPr>
        <p:spPr>
          <a:xfrm>
            <a:off x="5562498" y="3201924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41" name="Shape 41"/>
          <p:cNvSpPr txBox="1"/>
          <p:nvPr/>
        </p:nvSpPr>
        <p:spPr>
          <a:xfrm>
            <a:off x="5562498" y="3201924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0</a:t>
            </a:r>
            <a:endParaRPr lang="en-US" sz="1650" dirty="0"/>
          </a:p>
        </p:txBody>
      </p:sp>
      <p:sp>
        <p:nvSpPr>
          <p:cNvPr id="42" name="Shape 42"/>
          <p:cNvSpPr txBox="1"/>
          <p:nvPr/>
        </p:nvSpPr>
        <p:spPr>
          <a:xfrm>
            <a:off x="4419498" y="3599688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43" name="Shape 43"/>
          <p:cNvSpPr txBox="1"/>
          <p:nvPr/>
        </p:nvSpPr>
        <p:spPr>
          <a:xfrm>
            <a:off x="4419498" y="3599688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½</a:t>
            </a:r>
            <a:endParaRPr lang="en-US" sz="1650" dirty="0"/>
          </a:p>
        </p:txBody>
      </p:sp>
      <p:sp>
        <p:nvSpPr>
          <p:cNvPr id="44" name="Shape 44"/>
          <p:cNvSpPr txBox="1"/>
          <p:nvPr/>
        </p:nvSpPr>
        <p:spPr>
          <a:xfrm>
            <a:off x="5562498" y="3599688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45" name="Shape 45"/>
          <p:cNvSpPr txBox="1"/>
          <p:nvPr/>
        </p:nvSpPr>
        <p:spPr>
          <a:xfrm>
            <a:off x="5562498" y="3599688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1</a:t>
            </a:r>
            <a:endParaRPr lang="en-US" sz="1650" dirty="0"/>
          </a:p>
        </p:txBody>
      </p:sp>
      <p:sp>
        <p:nvSpPr>
          <p:cNvPr id="46" name="Shape 46"/>
          <p:cNvSpPr txBox="1"/>
          <p:nvPr/>
        </p:nvSpPr>
        <p:spPr>
          <a:xfrm>
            <a:off x="4419498" y="3997452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47" name="Shape 47"/>
          <p:cNvSpPr txBox="1"/>
          <p:nvPr/>
        </p:nvSpPr>
        <p:spPr>
          <a:xfrm>
            <a:off x="4419498" y="3997452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1</a:t>
            </a:r>
            <a:endParaRPr lang="en-US" sz="1650" dirty="0"/>
          </a:p>
        </p:txBody>
      </p:sp>
      <p:sp>
        <p:nvSpPr>
          <p:cNvPr id="48" name="Shape 48"/>
          <p:cNvSpPr txBox="1"/>
          <p:nvPr/>
        </p:nvSpPr>
        <p:spPr>
          <a:xfrm>
            <a:off x="5562498" y="3997452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49" name="Shape 49"/>
          <p:cNvSpPr txBox="1"/>
          <p:nvPr/>
        </p:nvSpPr>
        <p:spPr>
          <a:xfrm>
            <a:off x="5562498" y="3997452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endParaRPr lang="en-US" sz="1650" dirty="0"/>
          </a:p>
        </p:txBody>
      </p:sp>
      <p:sp>
        <p:nvSpPr>
          <p:cNvPr id="50" name="Shape 50"/>
          <p:cNvSpPr/>
          <p:nvPr/>
        </p:nvSpPr>
        <p:spPr>
          <a:xfrm>
            <a:off x="8153197" y="1618488"/>
            <a:ext cx="2857500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cxnSp>
        <p:nvCxnSpPr>
          <p:cNvPr id="51" name="Line 51"/>
          <p:cNvCxnSpPr/>
          <p:nvPr/>
        </p:nvCxnSpPr>
        <p:spPr>
          <a:xfrm>
            <a:off x="8477047" y="1732788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2" name="Line 52"/>
          <p:cNvCxnSpPr/>
          <p:nvPr/>
        </p:nvCxnSpPr>
        <p:spPr>
          <a:xfrm>
            <a:off x="8779466" y="1732788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3" name="Line 53"/>
          <p:cNvCxnSpPr/>
          <p:nvPr/>
        </p:nvCxnSpPr>
        <p:spPr>
          <a:xfrm>
            <a:off x="9081884" y="1732788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4" name="Line 54"/>
          <p:cNvCxnSpPr/>
          <p:nvPr/>
        </p:nvCxnSpPr>
        <p:spPr>
          <a:xfrm>
            <a:off x="9384303" y="1732788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5" name="Line 55"/>
          <p:cNvCxnSpPr/>
          <p:nvPr/>
        </p:nvCxnSpPr>
        <p:spPr>
          <a:xfrm>
            <a:off x="9686722" y="1732788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6" name="Line 56"/>
          <p:cNvCxnSpPr/>
          <p:nvPr/>
        </p:nvCxnSpPr>
        <p:spPr>
          <a:xfrm>
            <a:off x="9989141" y="1732788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7" name="Line 57"/>
          <p:cNvCxnSpPr/>
          <p:nvPr/>
        </p:nvCxnSpPr>
        <p:spPr>
          <a:xfrm>
            <a:off x="10291559" y="1732788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8" name="Line 58"/>
          <p:cNvCxnSpPr/>
          <p:nvPr/>
        </p:nvCxnSpPr>
        <p:spPr>
          <a:xfrm>
            <a:off x="10593978" y="1732788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9" name="Line 59"/>
          <p:cNvCxnSpPr/>
          <p:nvPr/>
        </p:nvCxnSpPr>
        <p:spPr>
          <a:xfrm>
            <a:off x="10896397" y="1732788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0" name="Line 60"/>
          <p:cNvCxnSpPr/>
          <p:nvPr/>
        </p:nvCxnSpPr>
        <p:spPr>
          <a:xfrm>
            <a:off x="8477047" y="4228338"/>
            <a:ext cx="2419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1" name="Line 61"/>
          <p:cNvCxnSpPr/>
          <p:nvPr/>
        </p:nvCxnSpPr>
        <p:spPr>
          <a:xfrm>
            <a:off x="8477047" y="3978783"/>
            <a:ext cx="2419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2" name="Line 62"/>
          <p:cNvCxnSpPr/>
          <p:nvPr/>
        </p:nvCxnSpPr>
        <p:spPr>
          <a:xfrm>
            <a:off x="8477047" y="3729228"/>
            <a:ext cx="2419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3" name="Line 63"/>
          <p:cNvCxnSpPr/>
          <p:nvPr/>
        </p:nvCxnSpPr>
        <p:spPr>
          <a:xfrm>
            <a:off x="8477047" y="3479673"/>
            <a:ext cx="2419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4" name="Line 64"/>
          <p:cNvCxnSpPr/>
          <p:nvPr/>
        </p:nvCxnSpPr>
        <p:spPr>
          <a:xfrm>
            <a:off x="8477047" y="3230118"/>
            <a:ext cx="2419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5" name="Line 65"/>
          <p:cNvCxnSpPr/>
          <p:nvPr/>
        </p:nvCxnSpPr>
        <p:spPr>
          <a:xfrm>
            <a:off x="8477047" y="2980563"/>
            <a:ext cx="2419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6" name="Line 66"/>
          <p:cNvCxnSpPr/>
          <p:nvPr/>
        </p:nvCxnSpPr>
        <p:spPr>
          <a:xfrm>
            <a:off x="8477047" y="2731008"/>
            <a:ext cx="2419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7" name="Line 67"/>
          <p:cNvCxnSpPr/>
          <p:nvPr/>
        </p:nvCxnSpPr>
        <p:spPr>
          <a:xfrm>
            <a:off x="8477047" y="2481453"/>
            <a:ext cx="2419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8" name="Line 68"/>
          <p:cNvCxnSpPr/>
          <p:nvPr/>
        </p:nvCxnSpPr>
        <p:spPr>
          <a:xfrm>
            <a:off x="8477047" y="2231898"/>
            <a:ext cx="2419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9" name="Line 69"/>
          <p:cNvCxnSpPr/>
          <p:nvPr/>
        </p:nvCxnSpPr>
        <p:spPr>
          <a:xfrm>
            <a:off x="8477047" y="1982343"/>
            <a:ext cx="2419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0" name="Line 70"/>
          <p:cNvCxnSpPr/>
          <p:nvPr/>
        </p:nvCxnSpPr>
        <p:spPr>
          <a:xfrm>
            <a:off x="8477047" y="1732788"/>
            <a:ext cx="2419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1" name="Line 71"/>
          <p:cNvCxnSpPr/>
          <p:nvPr/>
        </p:nvCxnSpPr>
        <p:spPr>
          <a:xfrm>
            <a:off x="9686722" y="1732788"/>
            <a:ext cx="0" cy="249555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cxnSp>
        <p:nvCxnSpPr>
          <p:cNvPr id="72" name="Line 72"/>
          <p:cNvCxnSpPr/>
          <p:nvPr/>
        </p:nvCxnSpPr>
        <p:spPr>
          <a:xfrm>
            <a:off x="8477047" y="2980563"/>
            <a:ext cx="2419350" cy="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sp>
        <p:nvSpPr>
          <p:cNvPr id="73" name="Shape 73"/>
          <p:cNvSpPr txBox="1"/>
          <p:nvPr/>
        </p:nvSpPr>
        <p:spPr>
          <a:xfrm>
            <a:off x="8202727" y="4247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−4</a:t>
            </a:r>
            <a:endParaRPr lang="en-US" sz="975" dirty="0"/>
          </a:p>
        </p:txBody>
      </p:sp>
      <p:sp>
        <p:nvSpPr>
          <p:cNvPr id="74" name="Shape 74"/>
          <p:cNvSpPr txBox="1"/>
          <p:nvPr/>
        </p:nvSpPr>
        <p:spPr>
          <a:xfrm>
            <a:off x="8505146" y="4247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−3</a:t>
            </a:r>
            <a:endParaRPr lang="en-US" sz="975" dirty="0"/>
          </a:p>
        </p:txBody>
      </p:sp>
      <p:sp>
        <p:nvSpPr>
          <p:cNvPr id="75" name="Shape 75"/>
          <p:cNvSpPr txBox="1"/>
          <p:nvPr/>
        </p:nvSpPr>
        <p:spPr>
          <a:xfrm>
            <a:off x="8807564" y="4247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−2</a:t>
            </a:r>
            <a:endParaRPr lang="en-US" sz="975" dirty="0"/>
          </a:p>
        </p:txBody>
      </p:sp>
      <p:sp>
        <p:nvSpPr>
          <p:cNvPr id="76" name="Shape 76"/>
          <p:cNvSpPr txBox="1"/>
          <p:nvPr/>
        </p:nvSpPr>
        <p:spPr>
          <a:xfrm>
            <a:off x="9109983" y="4247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−1</a:t>
            </a:r>
            <a:endParaRPr lang="en-US" sz="975" dirty="0"/>
          </a:p>
        </p:txBody>
      </p:sp>
      <p:sp>
        <p:nvSpPr>
          <p:cNvPr id="77" name="Shape 77"/>
          <p:cNvSpPr txBox="1"/>
          <p:nvPr/>
        </p:nvSpPr>
        <p:spPr>
          <a:xfrm>
            <a:off x="9412402" y="4247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78" name="Shape 78"/>
          <p:cNvSpPr txBox="1"/>
          <p:nvPr/>
        </p:nvSpPr>
        <p:spPr>
          <a:xfrm>
            <a:off x="9714821" y="4247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</a:t>
            </a:r>
            <a:endParaRPr lang="en-US" sz="975" dirty="0"/>
          </a:p>
        </p:txBody>
      </p:sp>
      <p:sp>
        <p:nvSpPr>
          <p:cNvPr id="79" name="Shape 79"/>
          <p:cNvSpPr txBox="1"/>
          <p:nvPr/>
        </p:nvSpPr>
        <p:spPr>
          <a:xfrm>
            <a:off x="10017239" y="4247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</a:t>
            </a:r>
            <a:endParaRPr lang="en-US" sz="975" dirty="0"/>
          </a:p>
        </p:txBody>
      </p:sp>
      <p:sp>
        <p:nvSpPr>
          <p:cNvPr id="80" name="Shape 80"/>
          <p:cNvSpPr txBox="1"/>
          <p:nvPr/>
        </p:nvSpPr>
        <p:spPr>
          <a:xfrm>
            <a:off x="10319658" y="4247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3</a:t>
            </a:r>
            <a:endParaRPr lang="en-US" sz="975" dirty="0"/>
          </a:p>
        </p:txBody>
      </p:sp>
      <p:sp>
        <p:nvSpPr>
          <p:cNvPr id="81" name="Shape 81"/>
          <p:cNvSpPr txBox="1"/>
          <p:nvPr/>
        </p:nvSpPr>
        <p:spPr>
          <a:xfrm>
            <a:off x="10622077" y="4247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sp>
        <p:nvSpPr>
          <p:cNvPr id="82" name="Shape 82"/>
          <p:cNvSpPr txBox="1"/>
          <p:nvPr/>
        </p:nvSpPr>
        <p:spPr>
          <a:xfrm>
            <a:off x="7910119" y="413689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−5</a:t>
            </a:r>
            <a:endParaRPr lang="en-US" sz="975" dirty="0"/>
          </a:p>
        </p:txBody>
      </p:sp>
      <p:sp>
        <p:nvSpPr>
          <p:cNvPr id="83" name="Shape 83"/>
          <p:cNvSpPr txBox="1"/>
          <p:nvPr/>
        </p:nvSpPr>
        <p:spPr>
          <a:xfrm>
            <a:off x="7910119" y="3887343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−4</a:t>
            </a:r>
            <a:endParaRPr lang="en-US" sz="975" dirty="0"/>
          </a:p>
        </p:txBody>
      </p:sp>
      <p:sp>
        <p:nvSpPr>
          <p:cNvPr id="84" name="Shape 84"/>
          <p:cNvSpPr txBox="1"/>
          <p:nvPr/>
        </p:nvSpPr>
        <p:spPr>
          <a:xfrm>
            <a:off x="7910119" y="363778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−3</a:t>
            </a:r>
            <a:endParaRPr lang="en-US" sz="975" dirty="0"/>
          </a:p>
        </p:txBody>
      </p:sp>
      <p:sp>
        <p:nvSpPr>
          <p:cNvPr id="85" name="Shape 85"/>
          <p:cNvSpPr txBox="1"/>
          <p:nvPr/>
        </p:nvSpPr>
        <p:spPr>
          <a:xfrm>
            <a:off x="7910119" y="3388233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−2</a:t>
            </a:r>
            <a:endParaRPr lang="en-US" sz="975" dirty="0"/>
          </a:p>
        </p:txBody>
      </p:sp>
      <p:sp>
        <p:nvSpPr>
          <p:cNvPr id="86" name="Shape 86"/>
          <p:cNvSpPr txBox="1"/>
          <p:nvPr/>
        </p:nvSpPr>
        <p:spPr>
          <a:xfrm>
            <a:off x="7910119" y="313867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−1</a:t>
            </a:r>
            <a:endParaRPr lang="en-US" sz="975" dirty="0"/>
          </a:p>
        </p:txBody>
      </p:sp>
      <p:sp>
        <p:nvSpPr>
          <p:cNvPr id="87" name="Shape 87"/>
          <p:cNvSpPr txBox="1"/>
          <p:nvPr/>
        </p:nvSpPr>
        <p:spPr>
          <a:xfrm>
            <a:off x="7910119" y="2889123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88" name="Shape 88"/>
          <p:cNvSpPr txBox="1"/>
          <p:nvPr/>
        </p:nvSpPr>
        <p:spPr>
          <a:xfrm>
            <a:off x="7910119" y="263956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</a:t>
            </a:r>
            <a:endParaRPr lang="en-US" sz="975" dirty="0"/>
          </a:p>
        </p:txBody>
      </p:sp>
      <p:sp>
        <p:nvSpPr>
          <p:cNvPr id="89" name="Shape 89"/>
          <p:cNvSpPr txBox="1"/>
          <p:nvPr/>
        </p:nvSpPr>
        <p:spPr>
          <a:xfrm>
            <a:off x="7910119" y="2390013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</a:t>
            </a:r>
            <a:endParaRPr lang="en-US" sz="975" dirty="0"/>
          </a:p>
        </p:txBody>
      </p:sp>
      <p:sp>
        <p:nvSpPr>
          <p:cNvPr id="90" name="Shape 90"/>
          <p:cNvSpPr txBox="1"/>
          <p:nvPr/>
        </p:nvSpPr>
        <p:spPr>
          <a:xfrm>
            <a:off x="7910119" y="214045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3</a:t>
            </a:r>
            <a:endParaRPr lang="en-US" sz="975" dirty="0"/>
          </a:p>
        </p:txBody>
      </p:sp>
      <p:sp>
        <p:nvSpPr>
          <p:cNvPr id="91" name="Shape 91"/>
          <p:cNvSpPr txBox="1"/>
          <p:nvPr/>
        </p:nvSpPr>
        <p:spPr>
          <a:xfrm>
            <a:off x="7910119" y="1890903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sp>
        <p:nvSpPr>
          <p:cNvPr id="92" name="Shape 92"/>
          <p:cNvSpPr txBox="1"/>
          <p:nvPr/>
        </p:nvSpPr>
        <p:spPr>
          <a:xfrm>
            <a:off x="7910119" y="164134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5</a:t>
            </a:r>
            <a:endParaRPr lang="en-US" sz="975" dirty="0"/>
          </a:p>
        </p:txBody>
      </p:sp>
      <p:cxnSp>
        <p:nvCxnSpPr>
          <p:cNvPr id="93" name="Line 93"/>
          <p:cNvCxnSpPr/>
          <p:nvPr/>
        </p:nvCxnSpPr>
        <p:spPr>
          <a:xfrm flipV="1">
            <a:off x="8477047" y="1982343"/>
            <a:ext cx="2419350" cy="1996440"/>
          </a:xfrm>
          <a:prstGeom prst="line">
            <a:avLst/>
          </a:prstGeom>
          <a:ln w="38100" cap="rnd">
            <a:solidFill>
              <a:srgbClr val="16171D"/>
            </a:solidFill>
          </a:ln>
        </p:spPr>
      </p:cxnSp>
      <p:sp>
        <p:nvSpPr>
          <p:cNvPr id="94" name="Shape 94"/>
          <p:cNvSpPr txBox="1"/>
          <p:nvPr/>
        </p:nvSpPr>
        <p:spPr>
          <a:xfrm>
            <a:off x="8404657" y="2001393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75" dirty="0" i="1">
                <a:solidFill>
                  <a:srgbClr val="16171D"/>
                </a:solidFill>
                <a:latin typeface="Cambria"/>
                <a:cs typeface="Cambria"/>
              </a:rPr>
              <a:t xml:space="preserve">f(x)</a:t>
            </a:r>
            <a:endParaRPr lang="en-US" sz="1275" dirty="0"/>
          </a:p>
        </p:txBody>
      </p:sp>
      <p:cxnSp>
        <p:nvCxnSpPr>
          <p:cNvPr id="95" name="Line 95"/>
          <p:cNvCxnSpPr/>
          <p:nvPr/>
        </p:nvCxnSpPr>
        <p:spPr>
          <a:xfrm flipV="1">
            <a:off x="8930675" y="1732788"/>
            <a:ext cx="1512094" cy="2495550"/>
          </a:xfrm>
          <a:prstGeom prst="line">
            <a:avLst/>
          </a:prstGeom>
          <a:ln w="38100" cap="rnd">
            <a:solidFill>
              <a:srgbClr val="4F8A3C"/>
            </a:solidFill>
          </a:ln>
        </p:spPr>
      </p:cxnSp>
      <p:sp>
        <p:nvSpPr>
          <p:cNvPr id="96" name="Shape 96"/>
          <p:cNvSpPr txBox="1"/>
          <p:nvPr/>
        </p:nvSpPr>
        <p:spPr>
          <a:xfrm>
            <a:off x="7951029" y="1751838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75" dirty="0" i="1">
                <a:solidFill>
                  <a:srgbClr val="16171D"/>
                </a:solidFill>
                <a:latin typeface="Cambria"/>
                <a:cs typeface="Cambria"/>
              </a:rPr>
              <a:t xml:space="preserve">y = 2x</a:t>
            </a:r>
            <a:endParaRPr lang="en-US" sz="1275" dirty="0"/>
          </a:p>
        </p:txBody>
      </p:sp>
      <p:sp>
        <p:nvSpPr>
          <p:cNvPr id="97" name="Shape 97"/>
          <p:cNvSpPr txBox="1"/>
          <p:nvPr/>
        </p:nvSpPr>
        <p:spPr>
          <a:xfrm>
            <a:off x="8153197" y="4571238"/>
            <a:ext cx="33526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Both are the line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2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, with different tables.</a:t>
            </a:r>
            <a:endParaRPr lang="en-US" sz="1575" dirty="0"/>
          </a:p>
        </p:txBody>
      </p:sp>
      <p:sp>
        <p:nvSpPr>
          <p:cNvPr id="98" name="Slide Number 98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11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7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7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Catch-Up · Lesson 2 · Activity 2.3 · Graphing Linear Transformations · SE pp. 298–300 · ★ Essential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Describe each transformation of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endParaRPr lang="en-US" sz="34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1618488"/>
            <a:ext cx="3492398" cy="2076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895350" y="17899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1. 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 − 7)</a:t>
            </a:r>
            <a:endParaRPr lang="en-US" sz="210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260092"/>
            <a:ext cx="30732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Right 7</a:t>
            </a:r>
            <a:endParaRPr lang="en-US" sz="1575" dirty="0"/>
          </a:p>
        </p:txBody>
      </p:sp>
      <p:sp>
        <p:nvSpPr>
          <p:cNvPr id="6" name="Shape 6"/>
          <p:cNvSpPr txBox="1"/>
          <p:nvPr/>
        </p:nvSpPr>
        <p:spPr>
          <a:xfrm>
            <a:off x="895350" y="2650236"/>
            <a:ext cx="3073298" cy="87325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− 7</a:t>
            </a:r>
            <a:endParaRPr lang="en-US" sz="2325" dirty="0"/>
          </a:p>
        </p:txBody>
      </p:sp>
      <p:sp>
        <p:nvSpPr>
          <p:cNvPr id="11" name="Shape 11"/>
          <p:cNvSpPr txBox="1"/>
          <p:nvPr/>
        </p:nvSpPr>
        <p:spPr>
          <a:xfrm>
            <a:off x="4349648" y="1618488"/>
            <a:ext cx="3492398" cy="2076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8" name="Shape 8"/>
          <p:cNvSpPr txBox="1"/>
          <p:nvPr/>
        </p:nvSpPr>
        <p:spPr>
          <a:xfrm>
            <a:off x="4559198" y="17899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2. 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) = 3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endParaRPr lang="en-US" sz="2100" dirty="0"/>
          </a:p>
        </p:txBody>
      </p:sp>
      <p:sp>
        <p:nvSpPr>
          <p:cNvPr id="9" name="Shape 9"/>
          <p:cNvSpPr txBox="1"/>
          <p:nvPr/>
        </p:nvSpPr>
        <p:spPr>
          <a:xfrm>
            <a:off x="4559198" y="2260092"/>
            <a:ext cx="30732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Vertical stretch by 3</a:t>
            </a:r>
            <a:endParaRPr lang="en-US" sz="1575" dirty="0"/>
          </a:p>
        </p:txBody>
      </p:sp>
      <p:sp>
        <p:nvSpPr>
          <p:cNvPr id="10" name="Shape 10"/>
          <p:cNvSpPr txBox="1"/>
          <p:nvPr/>
        </p:nvSpPr>
        <p:spPr>
          <a:xfrm>
            <a:off x="4559198" y="2650236"/>
            <a:ext cx="3073298" cy="87325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 = 3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endParaRPr lang="en-US" sz="2325" dirty="0"/>
          </a:p>
        </p:txBody>
      </p:sp>
      <p:sp>
        <p:nvSpPr>
          <p:cNvPr id="15" name="Shape 15"/>
          <p:cNvSpPr txBox="1"/>
          <p:nvPr/>
        </p:nvSpPr>
        <p:spPr>
          <a:xfrm>
            <a:off x="8013497" y="1618488"/>
            <a:ext cx="3492398" cy="2076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2" name="Shape 12"/>
          <p:cNvSpPr txBox="1"/>
          <p:nvPr/>
        </p:nvSpPr>
        <p:spPr>
          <a:xfrm>
            <a:off x="8223047" y="17899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3. 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) + 2</a:t>
            </a:r>
            <a:endParaRPr lang="en-US" sz="2100" dirty="0"/>
          </a:p>
        </p:txBody>
      </p:sp>
      <p:sp>
        <p:nvSpPr>
          <p:cNvPr id="13" name="Shape 13"/>
          <p:cNvSpPr txBox="1"/>
          <p:nvPr/>
        </p:nvSpPr>
        <p:spPr>
          <a:xfrm>
            <a:off x="8223047" y="2260092"/>
            <a:ext cx="30732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Up 2</a:t>
            </a:r>
            <a:endParaRPr lang="en-US" sz="1575" dirty="0"/>
          </a:p>
        </p:txBody>
      </p:sp>
      <p:sp>
        <p:nvSpPr>
          <p:cNvPr id="14" name="Shape 14"/>
          <p:cNvSpPr txBox="1"/>
          <p:nvPr/>
        </p:nvSpPr>
        <p:spPr>
          <a:xfrm>
            <a:off x="8223047" y="2650236"/>
            <a:ext cx="3073298" cy="87325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+ 2</a:t>
            </a:r>
            <a:endParaRPr lang="en-US" sz="2325" dirty="0"/>
          </a:p>
        </p:txBody>
      </p:sp>
      <p:sp>
        <p:nvSpPr>
          <p:cNvPr id="19" name="Shape 19"/>
          <p:cNvSpPr txBox="1"/>
          <p:nvPr/>
        </p:nvSpPr>
        <p:spPr>
          <a:xfrm>
            <a:off x="685800" y="3828288"/>
            <a:ext cx="3492398" cy="2076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6" name="Shape 16"/>
          <p:cNvSpPr txBox="1"/>
          <p:nvPr/>
        </p:nvSpPr>
        <p:spPr>
          <a:xfrm>
            <a:off x="895350" y="39997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4. 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(½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endParaRPr lang="en-US" sz="2100" dirty="0"/>
          </a:p>
        </p:txBody>
      </p:sp>
      <p:sp>
        <p:nvSpPr>
          <p:cNvPr id="17" name="Shape 17"/>
          <p:cNvSpPr txBox="1"/>
          <p:nvPr/>
        </p:nvSpPr>
        <p:spPr>
          <a:xfrm>
            <a:off x="895350" y="4469892"/>
            <a:ext cx="30732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Horizontal stretch by 2</a:t>
            </a:r>
            <a:endParaRPr lang="en-US" sz="1575" dirty="0"/>
          </a:p>
        </p:txBody>
      </p:sp>
      <p:sp>
        <p:nvSpPr>
          <p:cNvPr id="18" name="Shape 18"/>
          <p:cNvSpPr txBox="1"/>
          <p:nvPr/>
        </p:nvSpPr>
        <p:spPr>
          <a:xfrm>
            <a:off x="895350" y="4860036"/>
            <a:ext cx="3073298" cy="87325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 = ½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endParaRPr lang="en-US" sz="2325" dirty="0"/>
          </a:p>
        </p:txBody>
      </p:sp>
      <p:sp>
        <p:nvSpPr>
          <p:cNvPr id="23" name="Shape 23"/>
          <p:cNvSpPr txBox="1"/>
          <p:nvPr/>
        </p:nvSpPr>
        <p:spPr>
          <a:xfrm>
            <a:off x="4349648" y="3828288"/>
            <a:ext cx="3492398" cy="2076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20" name="Shape 20"/>
          <p:cNvSpPr txBox="1"/>
          <p:nvPr/>
        </p:nvSpPr>
        <p:spPr>
          <a:xfrm>
            <a:off x="4559198" y="39997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5. 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) − 4</a:t>
            </a:r>
            <a:endParaRPr lang="en-US" sz="2100" dirty="0"/>
          </a:p>
        </p:txBody>
      </p:sp>
      <p:sp>
        <p:nvSpPr>
          <p:cNvPr id="21" name="Shape 21"/>
          <p:cNvSpPr txBox="1"/>
          <p:nvPr/>
        </p:nvSpPr>
        <p:spPr>
          <a:xfrm>
            <a:off x="4559198" y="4469892"/>
            <a:ext cx="30732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Down 4</a:t>
            </a:r>
            <a:endParaRPr lang="en-US" sz="1575" dirty="0"/>
          </a:p>
        </p:txBody>
      </p:sp>
      <p:sp>
        <p:nvSpPr>
          <p:cNvPr id="22" name="Shape 22"/>
          <p:cNvSpPr txBox="1"/>
          <p:nvPr/>
        </p:nvSpPr>
        <p:spPr>
          <a:xfrm>
            <a:off x="4559198" y="4860036"/>
            <a:ext cx="3073298" cy="87325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− 4</a:t>
            </a:r>
            <a:endParaRPr lang="en-US" sz="2325" dirty="0"/>
          </a:p>
        </p:txBody>
      </p:sp>
      <p:sp>
        <p:nvSpPr>
          <p:cNvPr id="27" name="Shape 27"/>
          <p:cNvSpPr txBox="1"/>
          <p:nvPr/>
        </p:nvSpPr>
        <p:spPr>
          <a:xfrm>
            <a:off x="8013497" y="3828288"/>
            <a:ext cx="3492398" cy="2076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24" name="Shape 24"/>
          <p:cNvSpPr txBox="1"/>
          <p:nvPr/>
        </p:nvSpPr>
        <p:spPr>
          <a:xfrm>
            <a:off x="8223047" y="39997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6. 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 + 5)</a:t>
            </a:r>
            <a:endParaRPr lang="en-US" sz="2100" dirty="0"/>
          </a:p>
        </p:txBody>
      </p:sp>
      <p:sp>
        <p:nvSpPr>
          <p:cNvPr id="25" name="Shape 25"/>
          <p:cNvSpPr txBox="1"/>
          <p:nvPr/>
        </p:nvSpPr>
        <p:spPr>
          <a:xfrm>
            <a:off x="8223047" y="4469892"/>
            <a:ext cx="30732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Left 5</a:t>
            </a:r>
            <a:endParaRPr lang="en-US" sz="1575" dirty="0"/>
          </a:p>
        </p:txBody>
      </p:sp>
      <p:sp>
        <p:nvSpPr>
          <p:cNvPr id="26" name="Shape 26"/>
          <p:cNvSpPr txBox="1"/>
          <p:nvPr/>
        </p:nvSpPr>
        <p:spPr>
          <a:xfrm>
            <a:off x="8223047" y="4860036"/>
            <a:ext cx="3073298" cy="87325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+ 5</a:t>
            </a:r>
            <a:endParaRPr lang="en-US" sz="2325" dirty="0"/>
          </a:p>
        </p:txBody>
      </p:sp>
      <p:sp>
        <p:nvSpPr>
          <p:cNvPr id="28" name="Slide Number 28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12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Catch-Up Day · Exit Check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Show what you know</a:t>
            </a:r>
            <a:endParaRPr lang="en-US" sz="34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1618488"/>
            <a:ext cx="10820095" cy="11262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895350" y="1789938"/>
            <a:ext cx="104009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1.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and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) = 2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) − 3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 Describe the transformations and write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575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180082"/>
            <a:ext cx="6368567" cy="39319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1500" dirty="0">
                <a:solidFill>
                  <a:srgbClr val="16171D"/>
                </a:solidFill>
                <a:latin typeface="Segoe UI"/>
                <a:cs typeface="Segoe UI"/>
              </a:rPr>
              <a:t xml:space="preserve">Vertical dilation by 2, then down 3: </a:t>
            </a:r>
            <a:r>
              <a:rPr lang="en-US" sz="1500" dirty="0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150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50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00" dirty="0">
                <a:solidFill>
                  <a:srgbClr val="16171D"/>
                </a:solidFill>
                <a:latin typeface="Cambria"/>
                <a:cs typeface="Cambria"/>
              </a:rPr>
              <a:t xml:space="preserve">) = 2</a:t>
            </a:r>
            <a:r>
              <a:rPr lang="en-US" sz="150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00" dirty="0">
                <a:solidFill>
                  <a:srgbClr val="16171D"/>
                </a:solidFill>
                <a:latin typeface="Cambria"/>
                <a:cs typeface="Cambria"/>
              </a:rPr>
              <a:t xml:space="preserve"> − 3</a:t>
            </a:r>
            <a:endParaRPr lang="en-US" sz="1500" dirty="0"/>
          </a:p>
        </p:txBody>
      </p:sp>
      <p:sp>
        <p:nvSpPr>
          <p:cNvPr id="9" name="Shape 9"/>
          <p:cNvSpPr txBox="1"/>
          <p:nvPr/>
        </p:nvSpPr>
        <p:spPr>
          <a:xfrm>
            <a:off x="685800" y="2859024"/>
            <a:ext cx="10820095" cy="11262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895350" y="3030474"/>
            <a:ext cx="104009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2.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Write the line parallel to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3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+ 1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through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(2, 4)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575" dirty="0"/>
          </a:p>
        </p:txBody>
      </p:sp>
      <p:sp>
        <p:nvSpPr>
          <p:cNvPr id="8" name="Shape 8"/>
          <p:cNvSpPr txBox="1"/>
          <p:nvPr/>
        </p:nvSpPr>
        <p:spPr>
          <a:xfrm>
            <a:off x="895350" y="3420618"/>
            <a:ext cx="5965317" cy="39319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1500" dirty="0">
                <a:solidFill>
                  <a:srgbClr val="16171D"/>
                </a:solidFill>
                <a:latin typeface="Segoe UI"/>
                <a:cs typeface="Segoe UI"/>
              </a:rPr>
              <a:t xml:space="preserve">Same slope 3: </a:t>
            </a:r>
            <a:r>
              <a:rPr lang="en-US" sz="1500" dirty="0">
                <a:solidFill>
                  <a:srgbClr val="16171D"/>
                </a:solidFill>
                <a:latin typeface="Cambria"/>
                <a:cs typeface="Cambria"/>
              </a:rPr>
              <a:t xml:space="preserve">4 = 3(2) + </a:t>
            </a:r>
            <a:r>
              <a:rPr lang="en-US" sz="1500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500" dirty="0">
                <a:solidFill>
                  <a:srgbClr val="16171D"/>
                </a:solidFill>
                <a:latin typeface="Segoe UI"/>
                <a:cs typeface="Segoe UI"/>
              </a:rPr>
              <a:t xml:space="preserve">, </a:t>
            </a:r>
            <a:r>
              <a:rPr lang="en-US" sz="1500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500" dirty="0">
                <a:solidFill>
                  <a:srgbClr val="16171D"/>
                </a:solidFill>
                <a:latin typeface="Cambria"/>
                <a:cs typeface="Cambria"/>
              </a:rPr>
              <a:t xml:space="preserve"> = −2</a:t>
            </a:r>
            <a:r>
              <a:rPr lang="en-US" sz="1500" dirty="0">
                <a:solidFill>
                  <a:srgbClr val="16171D"/>
                </a:solidFill>
                <a:latin typeface="Segoe UI"/>
                <a:cs typeface="Segoe UI"/>
              </a:rPr>
              <a:t xml:space="preserve">. </a:t>
            </a:r>
            <a:r>
              <a:rPr lang="en-US" sz="1500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500" dirty="0">
                <a:solidFill>
                  <a:srgbClr val="16171D"/>
                </a:solidFill>
                <a:latin typeface="Cambria"/>
                <a:cs typeface="Cambria"/>
              </a:rPr>
              <a:t xml:space="preserve"> = 3</a:t>
            </a:r>
            <a:r>
              <a:rPr lang="en-US" sz="150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00" dirty="0">
                <a:solidFill>
                  <a:srgbClr val="16171D"/>
                </a:solidFill>
                <a:latin typeface="Cambria"/>
                <a:cs typeface="Cambria"/>
              </a:rPr>
              <a:t xml:space="preserve"> − 2</a:t>
            </a:r>
            <a:endParaRPr lang="en-US" sz="1500" dirty="0"/>
          </a:p>
        </p:txBody>
      </p:sp>
      <p:sp>
        <p:nvSpPr>
          <p:cNvPr id="12" name="Shape 12"/>
          <p:cNvSpPr txBox="1"/>
          <p:nvPr/>
        </p:nvSpPr>
        <p:spPr>
          <a:xfrm>
            <a:off x="685800" y="4099560"/>
            <a:ext cx="10820095" cy="11262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0" name="Shape 10"/>
          <p:cNvSpPr txBox="1"/>
          <p:nvPr/>
        </p:nvSpPr>
        <p:spPr>
          <a:xfrm>
            <a:off x="895350" y="4271010"/>
            <a:ext cx="104009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3.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and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h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+ 4)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 Which way does the graph move?</a:t>
            </a:r>
            <a:endParaRPr lang="en-US" sz="1575" dirty="0"/>
          </a:p>
        </p:txBody>
      </p:sp>
      <p:sp>
        <p:nvSpPr>
          <p:cNvPr id="11" name="Shape 11"/>
          <p:cNvSpPr txBox="1"/>
          <p:nvPr/>
        </p:nvSpPr>
        <p:spPr>
          <a:xfrm>
            <a:off x="895350" y="4661154"/>
            <a:ext cx="7779944" cy="39319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1500" dirty="0">
                <a:solidFill>
                  <a:srgbClr val="16171D"/>
                </a:solidFill>
                <a:latin typeface="Segoe UI"/>
                <a:cs typeface="Segoe UI"/>
              </a:rPr>
              <a:t xml:space="preserve">Inside: the opposite way. Left 4, the same as up 4: </a:t>
            </a:r>
            <a:r>
              <a:rPr lang="en-US" sz="1500" dirty="0" i="1">
                <a:solidFill>
                  <a:srgbClr val="16171D"/>
                </a:solidFill>
                <a:latin typeface="Cambria"/>
                <a:cs typeface="Cambria"/>
              </a:rPr>
              <a:t xml:space="preserve">h</a:t>
            </a:r>
            <a:r>
              <a:rPr lang="en-US" sz="150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50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00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150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00" dirty="0">
                <a:solidFill>
                  <a:srgbClr val="16171D"/>
                </a:solidFill>
                <a:latin typeface="Cambria"/>
                <a:cs typeface="Cambria"/>
              </a:rPr>
              <a:t xml:space="preserve"> + 4</a:t>
            </a:r>
            <a:endParaRPr lang="en-US" sz="1500" dirty="0"/>
          </a:p>
        </p:txBody>
      </p:sp>
      <p:sp>
        <p:nvSpPr>
          <p:cNvPr id="13" name="Slide Number 13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13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210312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Catch-Up Day · Tonight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251231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Homework: practice for the test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3264408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>
                <a:solidFill>
                  <a:srgbClr val="3050B8"/>
                </a:solidFill>
                <a:latin typeface="Segoe UI"/>
                <a:cs typeface="Segoe UI"/>
                <a:hlinkClick r:id="rId3"/>
              </a:rPr>
              <a:t xml:space="preserve">Lesson 1 homework →</a:t>
            </a:r>
            <a:r>
              <a:rPr lang="en-US" sz="2100" dirty="0">
                <a:solidFill>
                  <a:srgbClr val="16171D"/>
                </a:solidFill>
                <a:latin typeface="Segoe UI"/>
                <a:cs typeface="Segoe UI"/>
              </a:rPr>
              <a:t xml:space="preserve"> · </a:t>
            </a:r>
            <a:r>
              <a:rPr lang="en-US" sz="2100" dirty="0">
                <a:solidFill>
                  <a:srgbClr val="3050B8"/>
                </a:solidFill>
                <a:latin typeface="Segoe UI"/>
                <a:cs typeface="Segoe UI"/>
                <a:hlinkClick r:id="rId4"/>
              </a:rPr>
              <a:t xml:space="preserve">Lesson 2 homework →</a:t>
            </a:r>
            <a:endParaRPr lang="en-US" sz="210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3810762"/>
            <a:ext cx="10820095" cy="32918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Questions 11–14 on each are written like the End of Topic 2 Assessment.</a:t>
            </a:r>
            <a:endParaRPr lang="en-US" sz="180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4311396"/>
            <a:ext cx="10820095" cy="32918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Tomorrow: Lesson 3, Determining Slopes of Perpendicular Lines.</a:t>
            </a:r>
            <a:endParaRPr lang="en-US" sz="1800" dirty="0"/>
          </a:p>
        </p:txBody>
      </p:sp>
      <p:sp>
        <p:nvSpPr>
          <p:cNvPr id="7" name="Slide Number 7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14</a:t>
            </a:fld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Topic 2 Catch-Up Day: Lessons 1–2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tes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14</Slides>
  <Notes>14</Notes>
</Properties>
</file>

<file path=docProps/core.xml><?xml version="1.0" encoding="utf-8"?>
<cp:coreProperties xmlns:cp="http://schemas.openxmlformats.org/package/2006/metadata/core-properties" xmlns:dc="http://purl.org/dc/elements/1.1/">
  <dc:title>Topic 2 Catch-Up Day: Lessons 1–2</dc:title>
  <dc:subject>Bluebonnet Algebra I</dc:subject>
</cp:coreProperties>
</file>