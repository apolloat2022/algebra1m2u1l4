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Topic 2 Assessment, Day 13 (Nov 9) on the 150-day calendar. Original items: the publisher's Assessments book has no Topic 2 test, so these 14 items cover the TE Assessment Summary TEKS (A.2A, A.2C, A.2E, A.2F, A.2G, A.3C, A.3E): Q1-4 Lesson 1, Q5-6 Lesson 2, Q7-10 Lesson 3, Q11-14 Lesson 4.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1792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2: Transforming and Comparing Linear Functions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38277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End of Topic Assessment · General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8910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Name ________________________ Date ________________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22142"/>
            <a:ext cx="10820095" cy="14264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3593592"/>
            <a:ext cx="104009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Directions: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Read each question carefully. You may use a calculator. For multiple choice, choose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answer. For the other questions, show your work and explain your thinking.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transformed to make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− 4.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describes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up 4 units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left 4 units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translation down 4 units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vertical dilation by a factor of −4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-axis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by a factor of 3?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−(1/3)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709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3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+ 5.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in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Then describe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transformations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that produce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4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191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322387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63512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947862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26060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573338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88607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198813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51155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824287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4137025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4449762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762500" y="1117854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45659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427856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3991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370389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009650" y="34165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312921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284187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255454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22672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197986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16925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140519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11178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2886075" y="1117854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41879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73533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136080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198628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261175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323723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3862705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88180" y="4584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4474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442722" y="389978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442722" y="3325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442722" y="275043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442722" y="2175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442722" y="160108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6" name="Line 46"/>
          <p:cNvCxnSpPr/>
          <p:nvPr/>
        </p:nvCxnSpPr>
        <p:spPr>
          <a:xfrm flipV="1">
            <a:off x="1009650" y="1117854"/>
            <a:ext cx="3752850" cy="344805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47" name="Shape 47"/>
          <p:cNvSpPr txBox="1"/>
          <p:nvPr/>
        </p:nvSpPr>
        <p:spPr>
          <a:xfrm>
            <a:off x="2270760" y="11369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48" name="Line 48"/>
          <p:cNvCxnSpPr/>
          <p:nvPr/>
        </p:nvCxnSpPr>
        <p:spPr>
          <a:xfrm flipV="1">
            <a:off x="1947862" y="1979866"/>
            <a:ext cx="2814638" cy="2586038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49" name="Shape 49"/>
          <p:cNvSpPr txBox="1"/>
          <p:nvPr/>
        </p:nvSpPr>
        <p:spPr>
          <a:xfrm>
            <a:off x="2270760" y="19989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sp>
        <p:nvSpPr>
          <p:cNvPr id="50" name="Shape 50"/>
          <p:cNvSpPr/>
          <p:nvPr/>
        </p:nvSpPr>
        <p:spPr>
          <a:xfrm>
            <a:off x="2833688" y="365150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1" name="Shape 51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shows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(dashed) and a transformed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2250" dirty="0"/>
          </a:p>
        </p:txBody>
      </p:sp>
      <p:sp>
        <p:nvSpPr>
          <p:cNvPr id="52" name="Shape 52"/>
          <p:cNvSpPr txBox="1"/>
          <p:nvPr/>
        </p:nvSpPr>
        <p:spPr>
          <a:xfrm>
            <a:off x="6286348" y="1877568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)?</a:t>
            </a:r>
            <a:endParaRPr lang="en-US" sz="2250" dirty="0"/>
          </a:p>
        </p:txBody>
      </p:sp>
      <p:sp>
        <p:nvSpPr>
          <p:cNvPr id="53" name="Shape 53"/>
          <p:cNvSpPr txBox="1"/>
          <p:nvPr/>
        </p:nvSpPr>
        <p:spPr>
          <a:xfrm>
            <a:off x="6286348" y="240868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+ 3</a:t>
            </a:r>
            <a:endParaRPr lang="en-US" sz="2250" dirty="0"/>
          </a:p>
        </p:txBody>
      </p:sp>
      <p:sp>
        <p:nvSpPr>
          <p:cNvPr id="54" name="Shape 54"/>
          <p:cNvSpPr txBox="1"/>
          <p:nvPr/>
        </p:nvSpPr>
        <p:spPr>
          <a:xfrm>
            <a:off x="6286348" y="293979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− 3</a:t>
            </a:r>
            <a:endParaRPr lang="en-US" sz="2250" dirty="0"/>
          </a:p>
        </p:txBody>
      </p:sp>
      <p:sp>
        <p:nvSpPr>
          <p:cNvPr id="55" name="Shape 55"/>
          <p:cNvSpPr txBox="1"/>
          <p:nvPr/>
        </p:nvSpPr>
        <p:spPr>
          <a:xfrm>
            <a:off x="6286348" y="3470910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+ 3)</a:t>
            </a:r>
            <a:endParaRPr lang="en-US" sz="2250" dirty="0"/>
          </a:p>
        </p:txBody>
      </p:sp>
      <p:sp>
        <p:nvSpPr>
          <p:cNvPr id="56" name="Shape 56"/>
          <p:cNvSpPr txBox="1"/>
          <p:nvPr/>
        </p:nvSpPr>
        <p:spPr>
          <a:xfrm>
            <a:off x="6286348" y="4002024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2250" dirty="0"/>
          </a:p>
        </p:txBody>
      </p:sp>
      <p:sp>
        <p:nvSpPr>
          <p:cNvPr id="57" name="Shape 5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5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Let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+ 6).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Describe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translation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 Then name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produces the same graph.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6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 3 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represents the new graph?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+ 6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− 6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7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the points (−2, 5) and (4, 1).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Determine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line. Then give the slope of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it and the slope of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it.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8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represents a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− 1 that passes through the point (8, 3)?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− 29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86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397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709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−(1/4)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+ 5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9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in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+ 7 that passes through the point (2, −4).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statement describes the lines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6 and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(3/2)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− 4?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572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parallel.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883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perpendicular.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1945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neither parallel nor perpendicular.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5056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They are the same line.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1800" dirty="0"/>
          </a:p>
        </p:txBody>
      </p:sp>
      <p:sp>
        <p:nvSpPr>
          <p:cNvPr id="4" name="Shape 4"/>
          <p:cNvSpPr txBox="1"/>
          <p:nvPr/>
        </p:nvSpPr>
        <p:spPr>
          <a:xfrm>
            <a:off x="1947672" y="1003554"/>
            <a:ext cx="221284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Gym A Cost ($)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24178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1947672" y="1424178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44802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1947672" y="1844802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265426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1947672" y="2265426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686050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1947672" y="2686050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125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106674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1947672" y="3106674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541520" y="1003554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A's total cost is shown in the table. Gym B's total cost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+ 20, where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number of months.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4541520" y="2220468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gym has the greater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 Which gym has the greater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initial value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 Explain what each means in terms of the problem situation.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4541520" y="34373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1800" dirty="0"/>
          </a:p>
        </p:txBody>
      </p:sp>
      <p:sp>
        <p:nvSpPr>
          <p:cNvPr id="4" name="Shape 4"/>
          <p:cNvSpPr txBox="1"/>
          <p:nvPr/>
        </p:nvSpPr>
        <p:spPr>
          <a:xfrm>
            <a:off x="1947672" y="1003554"/>
            <a:ext cx="221284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Gym A Cost ($)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24178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1947672" y="1424178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44802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1947672" y="1844802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265426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1947672" y="2265426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686050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1947672" y="2686050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125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106674"/>
            <a:ext cx="126187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1947672" y="3106674"/>
            <a:ext cx="22128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541520" y="1003554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Gym A's total cost is shown in the table. Gym B's total cost is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+ 20, where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number of months.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4541520" y="2220468"/>
            <a:ext cx="696437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After how many months do the two gyms cost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same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total amount? What is that cost? Which gym costs less for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 months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4541520" y="34373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13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191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478756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947862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2416969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886075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3355181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3824287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4293394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4762500" y="1117854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37540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9100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44467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97931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51394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0485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15832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11178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947862" y="1117854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2979311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735330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1204436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1673542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2142649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2611755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3080861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3549967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019074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88180" y="43944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442722" y="42839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442722" y="381860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442722" y="335323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442722" y="288787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442722" y="2422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442722" y="19571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2722" y="14917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40" name="Line 40"/>
          <p:cNvCxnSpPr/>
          <p:nvPr/>
        </p:nvCxnSpPr>
        <p:spPr>
          <a:xfrm flipV="1">
            <a:off x="1009650" y="1583218"/>
            <a:ext cx="3752850" cy="248194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41" name="Shape 41"/>
          <p:cNvSpPr/>
          <p:nvPr/>
        </p:nvSpPr>
        <p:spPr>
          <a:xfrm>
            <a:off x="1895475" y="339228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2" name="Shape 42"/>
          <p:cNvSpPr/>
          <p:nvPr/>
        </p:nvSpPr>
        <p:spPr>
          <a:xfrm>
            <a:off x="3302794" y="246155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3" name="Shape 43"/>
          <p:cNvSpPr txBox="1"/>
          <p:nvPr/>
        </p:nvSpPr>
        <p:spPr>
          <a:xfrm>
            <a:off x="685800" y="47564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Function </a:t>
            </a:r>
            <a:r>
              <a:rPr lang="en-US" sz="1575" dirty="0" i="1">
                <a:solidFill>
                  <a:srgbClr val="5F6272"/>
                </a:solidFill>
                <a:latin typeface="Segoe UI"/>
                <a:cs typeface="Segoe UI"/>
              </a:rPr>
              <a:t xml:space="preserve">p</a:t>
            </a:r>
            <a:endParaRPr lang="en-US" sz="1575" dirty="0"/>
          </a:p>
        </p:txBody>
      </p:sp>
      <p:sp>
        <p:nvSpPr>
          <p:cNvPr id="44" name="Shape 44"/>
          <p:cNvSpPr txBox="1"/>
          <p:nvPr/>
        </p:nvSpPr>
        <p:spPr>
          <a:xfrm>
            <a:off x="6286348" y="1003554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has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greater 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than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p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shown in the graph?</a:t>
            </a:r>
            <a:endParaRPr lang="en-US" sz="2250" dirty="0"/>
          </a:p>
        </p:txBody>
      </p:sp>
      <p:sp>
        <p:nvSpPr>
          <p:cNvPr id="45" name="Shape 45"/>
          <p:cNvSpPr txBox="1"/>
          <p:nvPr/>
        </p:nvSpPr>
        <p:spPr>
          <a:xfrm>
            <a:off x="6286348" y="2220468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0.5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+ 4</a:t>
            </a:r>
            <a:endParaRPr lang="en-US" sz="2250" dirty="0"/>
          </a:p>
        </p:txBody>
      </p:sp>
      <p:sp>
        <p:nvSpPr>
          <p:cNvPr id="46" name="Shape 46"/>
          <p:cNvSpPr txBox="1"/>
          <p:nvPr/>
        </p:nvSpPr>
        <p:spPr>
          <a:xfrm>
            <a:off x="6286348" y="275158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2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6</a:t>
            </a:r>
            <a:endParaRPr lang="en-US" sz="2250" dirty="0"/>
          </a:p>
        </p:txBody>
      </p:sp>
      <p:sp>
        <p:nvSpPr>
          <p:cNvPr id="47" name="Shape 47"/>
          <p:cNvSpPr txBox="1"/>
          <p:nvPr/>
        </p:nvSpPr>
        <p:spPr>
          <a:xfrm>
            <a:off x="6286348" y="3282696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(3/4)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endParaRPr lang="en-US" sz="2250" dirty="0"/>
          </a:p>
        </p:txBody>
      </p:sp>
      <p:sp>
        <p:nvSpPr>
          <p:cNvPr id="48" name="Shape 48"/>
          <p:cNvSpPr txBox="1"/>
          <p:nvPr/>
        </p:nvSpPr>
        <p:spPr>
          <a:xfrm>
            <a:off x="6286348" y="3813810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 through (0, 1) and (2, 2)</a:t>
            </a:r>
            <a:endParaRPr lang="en-US" sz="2250" dirty="0"/>
          </a:p>
        </p:txBody>
      </p:sp>
      <p:sp>
        <p:nvSpPr>
          <p:cNvPr id="49" name="Shape 4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14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A tank holds 300 gallons of water. It drains at a constant rate of 15 gallons per minute. The function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= 300 − 15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gives the gallons left after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minutes.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2204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function for this situation?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15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≤ 20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826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≤ 300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8138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≤ 20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4492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w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) ≥ 0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are done!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Go back and check each answer.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0230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answer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question?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334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include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explanations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where asked?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45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Raise your hand when you are finished.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Assessment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16</Slides>
  <Notes>16</Notes>
</Properties>
</file>

<file path=docProps/core.xml><?xml version="1.0" encoding="utf-8"?>
<cp:coreProperties xmlns:cp="http://schemas.openxmlformats.org/package/2006/metadata/core-properties" xmlns:dc="http://purl.org/dc/elements/1.1/">
  <dc:title>Topic 2 Assessment</dc:title>
  <dc:subject>Bluebonnet Algebra I</dc:subject>
</cp:coreProperties>
</file>