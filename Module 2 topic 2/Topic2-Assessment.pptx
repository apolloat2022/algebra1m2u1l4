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of Topic 2 Assessment, Day 13 (Nov 9) on the 150-day calendar. Original items: the publisher's Assessments book has no Topic 2 test, so these 14 items cover the TE Assessment Summary TEKS (A.2A, A.2C, A.2E, A.2F, A.2G, A.3C, A.3E): Q1-4 Lesson 1, Q5-6 Lesson 2, Q7-10 Lesson 3, Q11-14 Lesson 4.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1792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2: Transforming and Comparing Linear Functions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38277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End of Topic Assessment · General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89102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Name ________________________ Date ________________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22142"/>
            <a:ext cx="10820095" cy="14264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3593592"/>
            <a:ext cx="104009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Directions: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Read each question carefully. You may use a calculator. For multiple choice, choose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one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answer. For the other questions, show your work and explain your thinking.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The graph of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is transformed to make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− 4.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Which describes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transformation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6578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 translation up 4 units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59689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 translation left 4 units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2801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 translation down 4 units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65912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 vertical dilation by a factor of −4</a:t>
            </a:r>
            <a:endParaRPr lang="en-US" sz="22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</a:t>
            </a:r>
            <a:endParaRPr lang="en-US" sz="11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2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Which function is a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reflection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of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across the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-axis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and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dilation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by a factor of 3?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87756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3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868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−(1/3)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3979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− 3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47091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J.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−3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3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Let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2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+ 5.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Write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in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slope-intercept form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. Then describe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two transformations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of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that produce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8682"/>
            <a:ext cx="6345364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here, or on your scratch paper.</a:t>
            </a:r>
            <a:endParaRPr lang="en-US" sz="18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4 of 14</a:t>
            </a:r>
            <a:endParaRPr lang="en-US" sz="2100" dirty="0"/>
          </a:p>
        </p:txBody>
      </p:sp>
      <p:sp>
        <p:nvSpPr>
          <p:cNvPr id="3" name="Shape 3"/>
          <p:cNvSpPr/>
          <p:nvPr/>
        </p:nvSpPr>
        <p:spPr>
          <a:xfrm>
            <a:off x="685800" y="1003554"/>
            <a:ext cx="4191000" cy="381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4" name="Line 4"/>
          <p:cNvCxnSpPr/>
          <p:nvPr/>
        </p:nvCxnSpPr>
        <p:spPr>
          <a:xfrm>
            <a:off x="1009650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" name="Line 5"/>
          <p:cNvCxnSpPr/>
          <p:nvPr/>
        </p:nvCxnSpPr>
        <p:spPr>
          <a:xfrm>
            <a:off x="1322387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" name="Line 6"/>
          <p:cNvCxnSpPr/>
          <p:nvPr/>
        </p:nvCxnSpPr>
        <p:spPr>
          <a:xfrm>
            <a:off x="1635125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1947862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2260600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2573338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2886075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3198813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3511550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3824287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4137025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4449762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4762500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1009650" y="456590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1009650" y="427856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1009650" y="399122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1009650" y="370389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1009650" y="34165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1009650" y="312921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1009650" y="284187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9650" y="255454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09650" y="226720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09650" y="197986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09650" y="169252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09650" y="140519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09650" y="11178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2886075" y="1117854"/>
            <a:ext cx="0" cy="3448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009650" y="2841879"/>
            <a:ext cx="3752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2" name="Shape 32"/>
          <p:cNvSpPr txBox="1"/>
          <p:nvPr/>
        </p:nvSpPr>
        <p:spPr>
          <a:xfrm>
            <a:off x="735330" y="4584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1360805" y="4584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1986280" y="4584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2611755" y="4584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3237230" y="4584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3862705" y="4584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4488180" y="4584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442722" y="447446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442722" y="389978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442722" y="332511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442722" y="275043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442722" y="217576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442722" y="160108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442722" y="102641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cxnSp>
        <p:nvCxnSpPr>
          <p:cNvPr id="46" name="Line 46"/>
          <p:cNvCxnSpPr/>
          <p:nvPr/>
        </p:nvCxnSpPr>
        <p:spPr>
          <a:xfrm flipV="1">
            <a:off x="1009650" y="1117854"/>
            <a:ext cx="3752850" cy="3448050"/>
          </a:xfrm>
          <a:prstGeom prst="line">
            <a:avLst/>
          </a:prstGeom>
          <a:ln w="38100" cap="rnd">
            <a:solidFill>
              <a:srgbClr val="16171D"/>
            </a:solidFill>
            <a:prstDash val="dash"/>
          </a:ln>
        </p:spPr>
      </p:cxnSp>
      <p:sp>
        <p:nvSpPr>
          <p:cNvPr id="47" name="Shape 47"/>
          <p:cNvSpPr txBox="1"/>
          <p:nvPr/>
        </p:nvSpPr>
        <p:spPr>
          <a:xfrm>
            <a:off x="2270760" y="113690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275" dirty="0"/>
          </a:p>
        </p:txBody>
      </p:sp>
      <p:cxnSp>
        <p:nvCxnSpPr>
          <p:cNvPr id="48" name="Line 48"/>
          <p:cNvCxnSpPr/>
          <p:nvPr/>
        </p:nvCxnSpPr>
        <p:spPr>
          <a:xfrm flipV="1">
            <a:off x="1947862" y="1979866"/>
            <a:ext cx="2814638" cy="2586038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49" name="Shape 49"/>
          <p:cNvSpPr txBox="1"/>
          <p:nvPr/>
        </p:nvSpPr>
        <p:spPr>
          <a:xfrm>
            <a:off x="2270760" y="199891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g(x)</a:t>
            </a:r>
            <a:endParaRPr lang="en-US" sz="1275" dirty="0"/>
          </a:p>
        </p:txBody>
      </p:sp>
      <p:sp>
        <p:nvSpPr>
          <p:cNvPr id="50" name="Shape 50"/>
          <p:cNvSpPr/>
          <p:nvPr/>
        </p:nvSpPr>
        <p:spPr>
          <a:xfrm>
            <a:off x="2833688" y="365150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1" name="Shape 51"/>
          <p:cNvSpPr txBox="1"/>
          <p:nvPr/>
        </p:nvSpPr>
        <p:spPr>
          <a:xfrm>
            <a:off x="6286348" y="1003554"/>
            <a:ext cx="5219548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The graph shows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(dashed) and a transformed function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2250" dirty="0"/>
          </a:p>
        </p:txBody>
      </p:sp>
      <p:sp>
        <p:nvSpPr>
          <p:cNvPr id="52" name="Shape 52"/>
          <p:cNvSpPr txBox="1"/>
          <p:nvPr/>
        </p:nvSpPr>
        <p:spPr>
          <a:xfrm>
            <a:off x="6286348" y="1877568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represents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)?</a:t>
            </a:r>
            <a:endParaRPr lang="en-US" sz="2250" dirty="0"/>
          </a:p>
        </p:txBody>
      </p:sp>
      <p:sp>
        <p:nvSpPr>
          <p:cNvPr id="53" name="Shape 53"/>
          <p:cNvSpPr txBox="1"/>
          <p:nvPr/>
        </p:nvSpPr>
        <p:spPr>
          <a:xfrm>
            <a:off x="6286348" y="2408682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+ 3</a:t>
            </a:r>
            <a:endParaRPr lang="en-US" sz="2250" dirty="0"/>
          </a:p>
        </p:txBody>
      </p:sp>
      <p:sp>
        <p:nvSpPr>
          <p:cNvPr id="54" name="Shape 54"/>
          <p:cNvSpPr txBox="1"/>
          <p:nvPr/>
        </p:nvSpPr>
        <p:spPr>
          <a:xfrm>
            <a:off x="6286348" y="2939796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− 3</a:t>
            </a:r>
            <a:endParaRPr lang="en-US" sz="2250" dirty="0"/>
          </a:p>
        </p:txBody>
      </p:sp>
      <p:sp>
        <p:nvSpPr>
          <p:cNvPr id="55" name="Shape 55"/>
          <p:cNvSpPr txBox="1"/>
          <p:nvPr/>
        </p:nvSpPr>
        <p:spPr>
          <a:xfrm>
            <a:off x="6286348" y="3470910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+ 3)</a:t>
            </a:r>
            <a:endParaRPr lang="en-US" sz="2250" dirty="0"/>
          </a:p>
        </p:txBody>
      </p:sp>
      <p:sp>
        <p:nvSpPr>
          <p:cNvPr id="56" name="Shape 56"/>
          <p:cNvSpPr txBox="1"/>
          <p:nvPr/>
        </p:nvSpPr>
        <p:spPr>
          <a:xfrm>
            <a:off x="6286348" y="4002024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−3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endParaRPr lang="en-US" sz="2250" dirty="0"/>
          </a:p>
        </p:txBody>
      </p:sp>
      <p:sp>
        <p:nvSpPr>
          <p:cNvPr id="57" name="Shape 5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</a:t>
            </a:r>
            <a:endParaRPr lang="en-US" sz="1125" dirty="0"/>
          </a:p>
        </p:txBody>
      </p:sp>
      <p:sp>
        <p:nvSpPr>
          <p:cNvPr id="58" name="Slide Number 5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5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Let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h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+ 6).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Describe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translation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. Then name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translation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that produces the same graph.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8682"/>
            <a:ext cx="6345364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here, or on your scratch paper.</a:t>
            </a:r>
            <a:endParaRPr lang="en-US" sz="18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6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The graph of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2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is translated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right 3 units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Which function represents the new graph?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6578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2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+ 6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59689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2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− 3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2801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2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− 6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65912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J.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2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+ 3</a:t>
            </a:r>
            <a:endParaRPr lang="en-US" sz="22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</a:t>
            </a:r>
            <a:endParaRPr lang="en-US" sz="11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7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A line passes through the points (−2, 5) and (4, 1).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Determine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of the line. Then give the slope of a line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to it and the slope of a line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to it.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8682"/>
            <a:ext cx="6345364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here, or on your scratch paper.</a:t>
            </a:r>
            <a:endParaRPr lang="en-US" sz="18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8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represents a line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4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− 1 that passes through the point (8, 3)?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87756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4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− 29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868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(1/4)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+ 1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3979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−(1/4)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+ 1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47091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−(1/4)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+ 5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9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Write the equation in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slope-intercept form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of the line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−3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+ 7 that passes through the point (2, −4).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877568"/>
            <a:ext cx="6345364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here, or on your scratch paper.</a:t>
            </a:r>
            <a:endParaRPr lang="en-US" sz="18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</a:t>
            </a:r>
            <a:endParaRPr lang="en-US" sz="1125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10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Which statement describes the lines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10820095" cy="4892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= 6 and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= (3/2)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− 4?</a:t>
            </a:r>
            <a:endParaRPr lang="en-US" sz="28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5722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They are parallel.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8833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They are perpendicular.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1945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They are neither parallel nor perpendicular.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5056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J.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They are the same line.</a:t>
            </a:r>
            <a:endParaRPr lang="en-US" sz="22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</a:t>
            </a:r>
            <a:endParaRPr lang="en-US" sz="11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11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261872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Months</a:t>
            </a:r>
            <a:endParaRPr lang="en-US" sz="1800" dirty="0"/>
          </a:p>
        </p:txBody>
      </p:sp>
      <p:sp>
        <p:nvSpPr>
          <p:cNvPr id="4" name="Shape 4"/>
          <p:cNvSpPr txBox="1"/>
          <p:nvPr/>
        </p:nvSpPr>
        <p:spPr>
          <a:xfrm>
            <a:off x="1947672" y="1003554"/>
            <a:ext cx="2212848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Gym A Cost ($)</a:t>
            </a:r>
            <a:endParaRPr lang="en-US" sz="18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1424178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1947672" y="1424178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50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44802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1947672" y="1844802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75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265426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1947672" y="2265426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100</a:t>
            </a:r>
            <a:endParaRPr lang="en-US" sz="180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686050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1947672" y="2686050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125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106674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800" dirty="0"/>
          </a:p>
        </p:txBody>
      </p:sp>
      <p:sp>
        <p:nvSpPr>
          <p:cNvPr id="14" name="Shape 14"/>
          <p:cNvSpPr txBox="1"/>
          <p:nvPr/>
        </p:nvSpPr>
        <p:spPr>
          <a:xfrm>
            <a:off x="1947672" y="3106674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150</a:t>
            </a:r>
            <a:endParaRPr lang="en-US" sz="1800" dirty="0"/>
          </a:p>
        </p:txBody>
      </p:sp>
      <p:sp>
        <p:nvSpPr>
          <p:cNvPr id="15" name="Shape 15"/>
          <p:cNvSpPr txBox="1"/>
          <p:nvPr/>
        </p:nvSpPr>
        <p:spPr>
          <a:xfrm>
            <a:off x="4541520" y="1003554"/>
            <a:ext cx="696437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Gym A's total cost is shown in the table. Gym B's total cost is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35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+ 20, where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is the number of months.</a:t>
            </a:r>
            <a:endParaRPr lang="en-US" sz="2250" dirty="0"/>
          </a:p>
        </p:txBody>
      </p:sp>
      <p:sp>
        <p:nvSpPr>
          <p:cNvPr id="16" name="Shape 16"/>
          <p:cNvSpPr txBox="1"/>
          <p:nvPr/>
        </p:nvSpPr>
        <p:spPr>
          <a:xfrm>
            <a:off x="4541520" y="2220468"/>
            <a:ext cx="696437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Which gym has the greater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rate of change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? Which gym has the greater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initial value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? Explain what each means in terms of the problem situation.</a:t>
            </a:r>
            <a:endParaRPr lang="en-US" sz="2250" dirty="0"/>
          </a:p>
        </p:txBody>
      </p:sp>
      <p:sp>
        <p:nvSpPr>
          <p:cNvPr id="17" name="Shape 17"/>
          <p:cNvSpPr txBox="1"/>
          <p:nvPr/>
        </p:nvSpPr>
        <p:spPr>
          <a:xfrm>
            <a:off x="4541520" y="3437382"/>
            <a:ext cx="6345364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here, or on your scratch paper.</a:t>
            </a:r>
            <a:endParaRPr lang="en-US" sz="1875" dirty="0"/>
          </a:p>
        </p:txBody>
      </p:sp>
      <p:sp>
        <p:nvSpPr>
          <p:cNvPr id="18" name="Shape 18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</a:t>
            </a:r>
            <a:endParaRPr lang="en-US" sz="1125" dirty="0"/>
          </a:p>
        </p:txBody>
      </p:sp>
      <p:sp>
        <p:nvSpPr>
          <p:cNvPr id="19" name="Slide Number 1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12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261872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Months</a:t>
            </a:r>
            <a:endParaRPr lang="en-US" sz="1800" dirty="0"/>
          </a:p>
        </p:txBody>
      </p:sp>
      <p:sp>
        <p:nvSpPr>
          <p:cNvPr id="4" name="Shape 4"/>
          <p:cNvSpPr txBox="1"/>
          <p:nvPr/>
        </p:nvSpPr>
        <p:spPr>
          <a:xfrm>
            <a:off x="1947672" y="1003554"/>
            <a:ext cx="2212848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Gym A Cost ($)</a:t>
            </a:r>
            <a:endParaRPr lang="en-US" sz="18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1424178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1947672" y="1424178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50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44802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1947672" y="1844802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75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265426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1947672" y="2265426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100</a:t>
            </a:r>
            <a:endParaRPr lang="en-US" sz="180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686050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1947672" y="2686050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125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106674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800" dirty="0"/>
          </a:p>
        </p:txBody>
      </p:sp>
      <p:sp>
        <p:nvSpPr>
          <p:cNvPr id="14" name="Shape 14"/>
          <p:cNvSpPr txBox="1"/>
          <p:nvPr/>
        </p:nvSpPr>
        <p:spPr>
          <a:xfrm>
            <a:off x="1947672" y="3106674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150</a:t>
            </a:r>
            <a:endParaRPr lang="en-US" sz="1800" dirty="0"/>
          </a:p>
        </p:txBody>
      </p:sp>
      <p:sp>
        <p:nvSpPr>
          <p:cNvPr id="15" name="Shape 15"/>
          <p:cNvSpPr txBox="1"/>
          <p:nvPr/>
        </p:nvSpPr>
        <p:spPr>
          <a:xfrm>
            <a:off x="4541520" y="1003554"/>
            <a:ext cx="696437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Gym A's total cost is shown in the table. Gym B's total cost is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35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+ 20, where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is the number of months.</a:t>
            </a:r>
            <a:endParaRPr lang="en-US" sz="2250" dirty="0"/>
          </a:p>
        </p:txBody>
      </p:sp>
      <p:sp>
        <p:nvSpPr>
          <p:cNvPr id="16" name="Shape 16"/>
          <p:cNvSpPr txBox="1"/>
          <p:nvPr/>
        </p:nvSpPr>
        <p:spPr>
          <a:xfrm>
            <a:off x="4541520" y="2220468"/>
            <a:ext cx="696437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After how many months do the two gyms cost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same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total amount? What is that cost? Which gym costs less for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 months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2250" dirty="0"/>
          </a:p>
        </p:txBody>
      </p:sp>
      <p:sp>
        <p:nvSpPr>
          <p:cNvPr id="17" name="Shape 17"/>
          <p:cNvSpPr txBox="1"/>
          <p:nvPr/>
        </p:nvSpPr>
        <p:spPr>
          <a:xfrm>
            <a:off x="4541520" y="3437382"/>
            <a:ext cx="6345364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here, or on your scratch paper.</a:t>
            </a:r>
            <a:endParaRPr lang="en-US" sz="1875" dirty="0"/>
          </a:p>
        </p:txBody>
      </p:sp>
      <p:sp>
        <p:nvSpPr>
          <p:cNvPr id="18" name="Shape 18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</a:t>
            </a:r>
            <a:endParaRPr lang="en-US" sz="1125" dirty="0"/>
          </a:p>
        </p:txBody>
      </p:sp>
      <p:sp>
        <p:nvSpPr>
          <p:cNvPr id="19" name="Slide Number 1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13 of 14</a:t>
            </a:r>
            <a:endParaRPr lang="en-US" sz="2100" dirty="0"/>
          </a:p>
        </p:txBody>
      </p:sp>
      <p:sp>
        <p:nvSpPr>
          <p:cNvPr id="3" name="Shape 3"/>
          <p:cNvSpPr/>
          <p:nvPr/>
        </p:nvSpPr>
        <p:spPr>
          <a:xfrm>
            <a:off x="685800" y="1003554"/>
            <a:ext cx="4191000" cy="3619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4" name="Line 4"/>
          <p:cNvCxnSpPr/>
          <p:nvPr/>
        </p:nvCxnSpPr>
        <p:spPr>
          <a:xfrm>
            <a:off x="1009650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" name="Line 5"/>
          <p:cNvCxnSpPr/>
          <p:nvPr/>
        </p:nvCxnSpPr>
        <p:spPr>
          <a:xfrm>
            <a:off x="1478756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" name="Line 6"/>
          <p:cNvCxnSpPr/>
          <p:nvPr/>
        </p:nvCxnSpPr>
        <p:spPr>
          <a:xfrm>
            <a:off x="1947862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2416969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2886075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3355181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3824287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4293394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4762500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1009650" y="437540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1009650" y="391004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1009650" y="344467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1009650" y="297931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1009650" y="251394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1009650" y="204858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1009650" y="158321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1009650" y="11178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1947862" y="1117854"/>
            <a:ext cx="0" cy="3257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1009650" y="2979311"/>
            <a:ext cx="3752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23" name="Shape 23"/>
          <p:cNvSpPr txBox="1"/>
          <p:nvPr/>
        </p:nvSpPr>
        <p:spPr>
          <a:xfrm>
            <a:off x="735330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24" name="Shape 24"/>
          <p:cNvSpPr txBox="1"/>
          <p:nvPr/>
        </p:nvSpPr>
        <p:spPr>
          <a:xfrm>
            <a:off x="1204436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25" name="Shape 25"/>
          <p:cNvSpPr txBox="1"/>
          <p:nvPr/>
        </p:nvSpPr>
        <p:spPr>
          <a:xfrm>
            <a:off x="1673542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26" name="Shape 26"/>
          <p:cNvSpPr txBox="1"/>
          <p:nvPr/>
        </p:nvSpPr>
        <p:spPr>
          <a:xfrm>
            <a:off x="2142649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27" name="Shape 27"/>
          <p:cNvSpPr txBox="1"/>
          <p:nvPr/>
        </p:nvSpPr>
        <p:spPr>
          <a:xfrm>
            <a:off x="2611755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28" name="Shape 28"/>
          <p:cNvSpPr txBox="1"/>
          <p:nvPr/>
        </p:nvSpPr>
        <p:spPr>
          <a:xfrm>
            <a:off x="3080861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29" name="Shape 29"/>
          <p:cNvSpPr txBox="1"/>
          <p:nvPr/>
        </p:nvSpPr>
        <p:spPr>
          <a:xfrm>
            <a:off x="3549967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30" name="Shape 30"/>
          <p:cNvSpPr txBox="1"/>
          <p:nvPr/>
        </p:nvSpPr>
        <p:spPr>
          <a:xfrm>
            <a:off x="4019074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31" name="Shape 31"/>
          <p:cNvSpPr txBox="1"/>
          <p:nvPr/>
        </p:nvSpPr>
        <p:spPr>
          <a:xfrm>
            <a:off x="4488180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32" name="Shape 32"/>
          <p:cNvSpPr txBox="1"/>
          <p:nvPr/>
        </p:nvSpPr>
        <p:spPr>
          <a:xfrm>
            <a:off x="442722" y="428396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442722" y="381860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442722" y="335323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442722" y="2887871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442722" y="242250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442722" y="195714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442722" y="14917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442722" y="102641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cxnSp>
        <p:nvCxnSpPr>
          <p:cNvPr id="40" name="Line 40"/>
          <p:cNvCxnSpPr/>
          <p:nvPr/>
        </p:nvCxnSpPr>
        <p:spPr>
          <a:xfrm flipV="1">
            <a:off x="1009650" y="1583218"/>
            <a:ext cx="3752850" cy="248194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41" name="Shape 41"/>
          <p:cNvSpPr/>
          <p:nvPr/>
        </p:nvSpPr>
        <p:spPr>
          <a:xfrm>
            <a:off x="1895475" y="3392288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2" name="Shape 42"/>
          <p:cNvSpPr/>
          <p:nvPr/>
        </p:nvSpPr>
        <p:spPr>
          <a:xfrm>
            <a:off x="3302794" y="2461559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3" name="Shape 43"/>
          <p:cNvSpPr txBox="1"/>
          <p:nvPr/>
        </p:nvSpPr>
        <p:spPr>
          <a:xfrm>
            <a:off x="685800" y="475640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Function </a:t>
            </a:r>
            <a:r>
              <a:rPr lang="en-US" sz="1575" dirty="0" i="1">
                <a:solidFill>
                  <a:srgbClr val="5F6272"/>
                </a:solidFill>
                <a:latin typeface="Segoe UI"/>
                <a:cs typeface="Segoe UI"/>
              </a:rPr>
              <a:t xml:space="preserve">p</a:t>
            </a:r>
            <a:endParaRPr lang="en-US" sz="1575" dirty="0"/>
          </a:p>
        </p:txBody>
      </p:sp>
      <p:sp>
        <p:nvSpPr>
          <p:cNvPr id="44" name="Shape 44"/>
          <p:cNvSpPr txBox="1"/>
          <p:nvPr/>
        </p:nvSpPr>
        <p:spPr>
          <a:xfrm>
            <a:off x="6286348" y="1003554"/>
            <a:ext cx="5219548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Which function has a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greater rate of change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than function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p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shown in the graph?</a:t>
            </a:r>
            <a:endParaRPr lang="en-US" sz="2250" dirty="0"/>
          </a:p>
        </p:txBody>
      </p:sp>
      <p:sp>
        <p:nvSpPr>
          <p:cNvPr id="45" name="Shape 45"/>
          <p:cNvSpPr txBox="1"/>
          <p:nvPr/>
        </p:nvSpPr>
        <p:spPr>
          <a:xfrm>
            <a:off x="6286348" y="2220468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0.5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+ 4</a:t>
            </a:r>
            <a:endParaRPr lang="en-US" sz="2250" dirty="0"/>
          </a:p>
        </p:txBody>
      </p:sp>
      <p:sp>
        <p:nvSpPr>
          <p:cNvPr id="46" name="Shape 46"/>
          <p:cNvSpPr txBox="1"/>
          <p:nvPr/>
        </p:nvSpPr>
        <p:spPr>
          <a:xfrm>
            <a:off x="6286348" y="2751582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2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− 3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6</a:t>
            </a:r>
            <a:endParaRPr lang="en-US" sz="2250" dirty="0"/>
          </a:p>
        </p:txBody>
      </p:sp>
      <p:sp>
        <p:nvSpPr>
          <p:cNvPr id="47" name="Shape 47"/>
          <p:cNvSpPr txBox="1"/>
          <p:nvPr/>
        </p:nvSpPr>
        <p:spPr>
          <a:xfrm>
            <a:off x="6286348" y="3282696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(3/4)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− 2</a:t>
            </a:r>
            <a:endParaRPr lang="en-US" sz="2250" dirty="0"/>
          </a:p>
        </p:txBody>
      </p:sp>
      <p:sp>
        <p:nvSpPr>
          <p:cNvPr id="48" name="Shape 48"/>
          <p:cNvSpPr txBox="1"/>
          <p:nvPr/>
        </p:nvSpPr>
        <p:spPr>
          <a:xfrm>
            <a:off x="6286348" y="3813810"/>
            <a:ext cx="5219548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The line through (0, 1) and (2, 2)</a:t>
            </a:r>
            <a:endParaRPr lang="en-US" sz="2250" dirty="0"/>
          </a:p>
        </p:txBody>
      </p:sp>
      <p:sp>
        <p:nvSpPr>
          <p:cNvPr id="49" name="Shape 4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</a:t>
            </a:r>
            <a:endParaRPr lang="en-US" sz="1125" dirty="0"/>
          </a:p>
        </p:txBody>
      </p:sp>
      <p:sp>
        <p:nvSpPr>
          <p:cNvPr id="50" name="Slide Number 5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14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A tank holds 300 gallons of water. It drains at a constant rate of 15 gallons per minute. The function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w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300 − 15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gives the gallons left after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minutes.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22046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range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of the function for this situation?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158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0 ≤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≤ 20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8269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0 ≤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w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≤ 300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81381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0 ≤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w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≤ 20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34492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J.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w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≥ 0</a:t>
            </a:r>
            <a:endParaRPr lang="en-US" sz="22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</a:t>
            </a:r>
            <a:endParaRPr lang="en-US" sz="11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are done!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17119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Go back and check each answer.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70230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Did you answer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every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question?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3342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Did you include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units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explanations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where asked?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6453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Raise your hand when you are finished.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Assessment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16</Slides>
  <Notes>16</Notes>
</Properties>
</file>

<file path=docProps/core.xml><?xml version="1.0" encoding="utf-8"?>
<cp:coreProperties xmlns:cp="http://schemas.openxmlformats.org/package/2006/metadata/core-properties" xmlns:dc="http://purl.org/dc/elements/1.1/">
  <dc:title>Topic 2 Assessment</dc:title>
  <dc:subject>Bluebonnet Algebra I</dc:subject>
</cp:coreProperties>
</file>