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76"/>
  </p:notesMasterIdLst>
  <p:sldIdLst>
    <p:sldId id="256" r:id="rId5"/>
    <p:sldId id="257" r:id="rId6"/>
    <p:sldId id="259" r:id="rId7"/>
    <p:sldId id="326" r:id="rId8"/>
    <p:sldId id="260" r:id="rId9"/>
    <p:sldId id="261" r:id="rId10"/>
    <p:sldId id="262" r:id="rId11"/>
    <p:sldId id="263" r:id="rId12"/>
    <p:sldId id="264" r:id="rId13"/>
    <p:sldId id="327"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9" r:id="rId38"/>
    <p:sldId id="290" r:id="rId39"/>
    <p:sldId id="291" r:id="rId40"/>
    <p:sldId id="292" r:id="rId41"/>
    <p:sldId id="293" r:id="rId42"/>
    <p:sldId id="294" r:id="rId43"/>
    <p:sldId id="328" r:id="rId44"/>
    <p:sldId id="329" r:id="rId45"/>
    <p:sldId id="330" r:id="rId46"/>
    <p:sldId id="331" r:id="rId47"/>
    <p:sldId id="296" r:id="rId48"/>
    <p:sldId id="297" r:id="rId49"/>
    <p:sldId id="298" r:id="rId50"/>
    <p:sldId id="299" r:id="rId51"/>
    <p:sldId id="300" r:id="rId52"/>
    <p:sldId id="301" r:id="rId53"/>
    <p:sldId id="302" r:id="rId54"/>
    <p:sldId id="332" r:id="rId55"/>
    <p:sldId id="333"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Lst>
  <p:sldSz cx="12190413" cy="6858000"/>
  <p:notesSz cx="6858000" cy="9144000"/>
  <p:embeddedFontLst>
    <p:embeddedFont>
      <p:font typeface="Cambria Math" panose="02040503050406030204" pitchFamily="18" charset="0"/>
      <p:regular r:id="rId7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2" roundtripDataSignature="AMtx7mjwNCD9ftmr4pUf+McDWQwZOPR8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A7EA89-3F07-4389-9B86-E936E9259881}" v="2" dt="2025-05-28T18:54:24.230"/>
  </p1510:revLst>
</p1510:revInfo>
</file>

<file path=ppt/tableStyles.xml><?xml version="1.0" encoding="utf-8"?>
<a:tblStyleLst xmlns:a="http://schemas.openxmlformats.org/drawingml/2006/main" def="{A49AC34E-657E-4A3B-9C05-DC8BE6C80247}">
  <a:tblStyle styleId="{A49AC34E-657E-4A3B-9C05-DC8BE6C8024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79AD5BC-A5CE-4E06-8A13-34D5E8DF52F5}"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4F2"/>
          </a:solidFill>
        </a:fill>
      </a:tcStyle>
    </a:wholeTbl>
    <a:band1H>
      <a:tcTxStyle/>
      <a:tcStyle>
        <a:tcBdr/>
        <a:fill>
          <a:solidFill>
            <a:srgbClr val="CCE7E5"/>
          </a:solidFill>
        </a:fill>
      </a:tcStyle>
    </a:band1H>
    <a:band2H>
      <a:tcTxStyle/>
      <a:tcStyle>
        <a:tcBdr/>
      </a:tcStyle>
    </a:band2H>
    <a:band1V>
      <a:tcTxStyle/>
      <a:tcStyle>
        <a:tcBdr/>
        <a:fill>
          <a:solidFill>
            <a:srgbClr val="CCE7E5"/>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600" autoAdjust="0"/>
  </p:normalViewPr>
  <p:slideViewPr>
    <p:cSldViewPr snapToGrid="0">
      <p:cViewPr varScale="1">
        <p:scale>
          <a:sx n="52" d="100"/>
          <a:sy n="52" d="100"/>
        </p:scale>
        <p:origin x="1586" y="4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notesMaster" Target="notesMasters/notesMaster1.xml"/><Relationship Id="rId84"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87"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slide" Target="slides/slide57.xml"/><Relationship Id="rId82"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86"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1.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yer Montague, Kristina" userId="63c103e5-6141-480e-825f-260f173eba02" providerId="ADAL" clId="{AA9B5061-D3A8-4DB3-9424-DBE604ADC813}"/>
    <pc:docChg chg="modSld">
      <pc:chgData name="Moyer Montague, Kristina" userId="63c103e5-6141-480e-825f-260f173eba02" providerId="ADAL" clId="{AA9B5061-D3A8-4DB3-9424-DBE604ADC813}" dt="2025-05-06T20:44:44.144" v="19" actId="20577"/>
      <pc:docMkLst>
        <pc:docMk/>
      </pc:docMkLst>
      <pc:sldChg chg="modSp mod">
        <pc:chgData name="Moyer Montague, Kristina" userId="63c103e5-6141-480e-825f-260f173eba02" providerId="ADAL" clId="{AA9B5061-D3A8-4DB3-9424-DBE604ADC813}" dt="2025-05-06T20:39:56.883" v="0" actId="20577"/>
        <pc:sldMkLst>
          <pc:docMk/>
          <pc:sldMk cId="0" sldId="273"/>
        </pc:sldMkLst>
        <pc:spChg chg="mod">
          <ac:chgData name="Moyer Montague, Kristina" userId="63c103e5-6141-480e-825f-260f173eba02" providerId="ADAL" clId="{AA9B5061-D3A8-4DB3-9424-DBE604ADC813}" dt="2025-05-06T20:39:56.883" v="0" actId="20577"/>
          <ac:spMkLst>
            <pc:docMk/>
            <pc:sldMk cId="0" sldId="273"/>
            <ac:spMk id="2" creationId="{D733FEA7-2825-BF64-7DEE-85C51F26D218}"/>
          </ac:spMkLst>
        </pc:spChg>
      </pc:sldChg>
      <pc:sldChg chg="modSp mod">
        <pc:chgData name="Moyer Montague, Kristina" userId="63c103e5-6141-480e-825f-260f173eba02" providerId="ADAL" clId="{AA9B5061-D3A8-4DB3-9424-DBE604ADC813}" dt="2025-05-06T20:40:32.582" v="3" actId="20577"/>
        <pc:sldMkLst>
          <pc:docMk/>
          <pc:sldMk cId="0" sldId="277"/>
        </pc:sldMkLst>
        <pc:spChg chg="mod">
          <ac:chgData name="Moyer Montague, Kristina" userId="63c103e5-6141-480e-825f-260f173eba02" providerId="ADAL" clId="{AA9B5061-D3A8-4DB3-9424-DBE604ADC813}" dt="2025-05-06T20:40:32.582" v="3" actId="20577"/>
          <ac:spMkLst>
            <pc:docMk/>
            <pc:sldMk cId="0" sldId="277"/>
            <ac:spMk id="2" creationId="{D41161D6-DDF7-7389-E2F9-D93936034DB8}"/>
          </ac:spMkLst>
        </pc:spChg>
      </pc:sldChg>
      <pc:sldChg chg="modNotesTx">
        <pc:chgData name="Moyer Montague, Kristina" userId="63c103e5-6141-480e-825f-260f173eba02" providerId="ADAL" clId="{AA9B5061-D3A8-4DB3-9424-DBE604ADC813}" dt="2025-05-06T20:41:37.270" v="4" actId="114"/>
        <pc:sldMkLst>
          <pc:docMk/>
          <pc:sldMk cId="0" sldId="293"/>
        </pc:sldMkLst>
      </pc:sldChg>
      <pc:sldChg chg="modNotesTx">
        <pc:chgData name="Moyer Montague, Kristina" userId="63c103e5-6141-480e-825f-260f173eba02" providerId="ADAL" clId="{AA9B5061-D3A8-4DB3-9424-DBE604ADC813}" dt="2025-05-06T20:41:41.483" v="5" actId="114"/>
        <pc:sldMkLst>
          <pc:docMk/>
          <pc:sldMk cId="0" sldId="294"/>
        </pc:sldMkLst>
      </pc:sldChg>
      <pc:sldChg chg="modNotesTx">
        <pc:chgData name="Moyer Montague, Kristina" userId="63c103e5-6141-480e-825f-260f173eba02" providerId="ADAL" clId="{AA9B5061-D3A8-4DB3-9424-DBE604ADC813}" dt="2025-05-06T20:42:48.945" v="15" actId="6549"/>
        <pc:sldMkLst>
          <pc:docMk/>
          <pc:sldMk cId="0" sldId="296"/>
        </pc:sldMkLst>
      </pc:sldChg>
      <pc:sldChg chg="modSp mod">
        <pc:chgData name="Moyer Montague, Kristina" userId="63c103e5-6141-480e-825f-260f173eba02" providerId="ADAL" clId="{AA9B5061-D3A8-4DB3-9424-DBE604ADC813}" dt="2025-05-06T20:44:44.144" v="19" actId="20577"/>
        <pc:sldMkLst>
          <pc:docMk/>
          <pc:sldMk cId="0" sldId="312"/>
        </pc:sldMkLst>
        <pc:spChg chg="mod">
          <ac:chgData name="Moyer Montague, Kristina" userId="63c103e5-6141-480e-825f-260f173eba02" providerId="ADAL" clId="{AA9B5061-D3A8-4DB3-9424-DBE604ADC813}" dt="2025-05-06T20:44:21.002" v="16" actId="20577"/>
          <ac:spMkLst>
            <pc:docMk/>
            <pc:sldMk cId="0" sldId="312"/>
            <ac:spMk id="3" creationId="{6639901B-2E0D-8778-EEBF-C2C8973F3F57}"/>
          </ac:spMkLst>
        </pc:spChg>
        <pc:spChg chg="mod">
          <ac:chgData name="Moyer Montague, Kristina" userId="63c103e5-6141-480e-825f-260f173eba02" providerId="ADAL" clId="{AA9B5061-D3A8-4DB3-9424-DBE604ADC813}" dt="2025-05-06T20:44:44.144" v="19" actId="20577"/>
          <ac:spMkLst>
            <pc:docMk/>
            <pc:sldMk cId="0" sldId="312"/>
            <ac:spMk id="4" creationId="{A25028ED-4212-8C69-A279-6D284E3DE217}"/>
          </ac:spMkLst>
        </pc:spChg>
      </pc:sldChg>
      <pc:sldChg chg="modNotesTx">
        <pc:chgData name="Moyer Montague, Kristina" userId="63c103e5-6141-480e-825f-260f173eba02" providerId="ADAL" clId="{AA9B5061-D3A8-4DB3-9424-DBE604ADC813}" dt="2025-05-06T20:42:29.771" v="7" actId="20577"/>
        <pc:sldMkLst>
          <pc:docMk/>
          <pc:sldMk cId="1195593053" sldId="328"/>
        </pc:sldMkLst>
      </pc:sldChg>
      <pc:sldChg chg="modNotesTx">
        <pc:chgData name="Moyer Montague, Kristina" userId="63c103e5-6141-480e-825f-260f173eba02" providerId="ADAL" clId="{AA9B5061-D3A8-4DB3-9424-DBE604ADC813}" dt="2025-05-06T20:42:35.144" v="9" actId="6549"/>
        <pc:sldMkLst>
          <pc:docMk/>
          <pc:sldMk cId="505425452" sldId="329"/>
        </pc:sldMkLst>
      </pc:sldChg>
      <pc:sldChg chg="modNotesTx">
        <pc:chgData name="Moyer Montague, Kristina" userId="63c103e5-6141-480e-825f-260f173eba02" providerId="ADAL" clId="{AA9B5061-D3A8-4DB3-9424-DBE604ADC813}" dt="2025-05-06T20:42:39.757" v="11" actId="6549"/>
        <pc:sldMkLst>
          <pc:docMk/>
          <pc:sldMk cId="2203327660" sldId="330"/>
        </pc:sldMkLst>
      </pc:sldChg>
      <pc:sldChg chg="modNotesTx">
        <pc:chgData name="Moyer Montague, Kristina" userId="63c103e5-6141-480e-825f-260f173eba02" providerId="ADAL" clId="{AA9B5061-D3A8-4DB3-9424-DBE604ADC813}" dt="2025-05-06T20:42:43.941" v="13" actId="6549"/>
        <pc:sldMkLst>
          <pc:docMk/>
          <pc:sldMk cId="1679482497" sldId="33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9" name="Google Shape;45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suggested pacing for this lesson is three 45-minute sessions.</a:t>
            </a:r>
            <a:endParaRPr dirty="0">
              <a:solidFill>
                <a:srgbClr val="000000"/>
              </a:solidFill>
            </a:endParaRPr>
          </a:p>
        </p:txBody>
      </p:sp>
      <p:sp>
        <p:nvSpPr>
          <p:cNvPr id="460" name="Google Shape;460;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6" name="Google Shape;466;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TEKS:</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A.1F: analyze mathematical relationships to connect and communicate mathematical ideas.</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A.1G: display, explain, and justify mathematical ideas and arguments using precise mathematical language in written or oral communication.</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A.2A: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determine the domain and range of a linear function in mathematical problems, determine reasonable domain and range values for real-world situations, both continuous and discrete; and represent domain and range using inequalities.</a:t>
            </a:r>
            <a:b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A.2C:</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write linear equations in two variables given a table of values, a graph, and a verbal description.</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A.2E: write the equation of a line that contains a given point and is parallel to a given line.</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A.3C:</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graph linear functions on the coordinate plane and identify key features, including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zeros, and slope, in mathematical and real-world problems.</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A.3E: determine the effects on the graph of the parent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when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is replaced by </a:t>
            </a:r>
            <a:r>
              <a:rPr lang="en-US" sz="1200" i="1" dirty="0" err="1">
                <a:solidFill>
                  <a:srgbClr val="000000"/>
                </a:solidFill>
                <a:latin typeface="Calibri" panose="020F0502020204030204" pitchFamily="34" charset="0"/>
                <a:ea typeface="Calibri" panose="020F0502020204030204" pitchFamily="34" charset="0"/>
                <a:cs typeface="Calibri" panose="020F0502020204030204" pitchFamily="34" charset="0"/>
              </a:rPr>
              <a:t>af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bx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for specific values of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sz="1200" b="1"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endParaRPr sz="1200" b="1"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r>
              <a:rPr lang="en-US" sz="1200" b="1"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ELPS:</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2.H: understand implicit ideas and information in increasingly complex spoken language commensurate with grade-level learning expectations.</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3.F: ask and give information ranging from using a very limited bank of high-frequency, high-need, concrete vocabulary, including key words and expressions needed for basic communication in academic and social contexts, to using abstract and content-based vocabulary during extended speaking assignments.</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4.F: use visual and contextual support and support from peers and teachers to read grade-appropriate content area text, enhance and confirm understanding, and develop vocabulary, grasp of language structures, and background knowledge needed to comprehend increasingly challenging language.</a:t>
            </a:r>
            <a:endParaRPr sz="1200" b="1"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467" name="Google Shape;467;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Parent function is introduced on Day 1</a:t>
            </a:r>
            <a:r>
              <a:rPr lang="en-US" dirty="0">
                <a:solidFill>
                  <a:srgbClr val="000000"/>
                </a:solidFill>
              </a:rPr>
              <a:t>.</a:t>
            </a:r>
            <a:endParaRPr sz="1200" b="1" dirty="0">
              <a:solidFill>
                <a:srgbClr val="000000"/>
              </a:solidFill>
              <a:latin typeface="Calibri"/>
              <a:ea typeface="Calibri"/>
              <a:cs typeface="Calibri"/>
              <a:sym typeface="Calibri"/>
            </a:endParaRPr>
          </a:p>
        </p:txBody>
      </p:sp>
      <p:sp>
        <p:nvSpPr>
          <p:cNvPr id="482" name="Google Shape;482;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a:extLst>
            <a:ext uri="{FF2B5EF4-FFF2-40B4-BE49-F238E27FC236}">
              <a16:creationId xmlns:a16="http://schemas.microsoft.com/office/drawing/2014/main" id="{925A97E4-D5C5-AD48-49D7-1A11A7005722}"/>
            </a:ext>
          </a:extLst>
        </p:cNvPr>
        <p:cNvGrpSpPr/>
        <p:nvPr/>
      </p:nvGrpSpPr>
      <p:grpSpPr>
        <a:xfrm>
          <a:off x="0" y="0"/>
          <a:ext cx="0" cy="0"/>
          <a:chOff x="0" y="0"/>
          <a:chExt cx="0" cy="0"/>
        </a:xfrm>
      </p:grpSpPr>
      <p:sp>
        <p:nvSpPr>
          <p:cNvPr id="480" name="Google Shape;480;p4:notes">
            <a:extLst>
              <a:ext uri="{FF2B5EF4-FFF2-40B4-BE49-F238E27FC236}">
                <a16:creationId xmlns:a16="http://schemas.microsoft.com/office/drawing/2014/main" id="{3E87CE0D-8002-1CC2-13E4-55C817EFB587}"/>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p4:notes">
            <a:extLst>
              <a:ext uri="{FF2B5EF4-FFF2-40B4-BE49-F238E27FC236}">
                <a16:creationId xmlns:a16="http://schemas.microsoft.com/office/drawing/2014/main" id="{1B945410-8A3F-507A-D5AF-0B1478B187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a:ea typeface="Calibri"/>
                <a:cs typeface="Calibri"/>
                <a:sym typeface="Calibri"/>
              </a:rPr>
              <a:t>Setting the Stage:</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Tap into your students’ prior learning by reading the narrative statement.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Provide a sense of direction by reading the Essential Question.</a:t>
            </a:r>
            <a:endParaRPr sz="1200" b="1" dirty="0">
              <a:solidFill>
                <a:srgbClr val="000000"/>
              </a:solidFill>
              <a:latin typeface="Calibri"/>
              <a:ea typeface="Calibri"/>
              <a:cs typeface="Calibri"/>
              <a:sym typeface="Calibri"/>
            </a:endParaRPr>
          </a:p>
        </p:txBody>
      </p:sp>
      <p:sp>
        <p:nvSpPr>
          <p:cNvPr id="482" name="Google Shape;482;p4:notes">
            <a:extLst>
              <a:ext uri="{FF2B5EF4-FFF2-40B4-BE49-F238E27FC236}">
                <a16:creationId xmlns:a16="http://schemas.microsoft.com/office/drawing/2014/main" id="{1EA9EB42-FC4D-E541-A90A-DD74FB0AD4E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106944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suggested pacing for Day 1 is 45 minutes.</a:t>
            </a:r>
            <a:endParaRPr dirty="0">
              <a:solidFill>
                <a:srgbClr val="000000"/>
              </a:solidFill>
            </a:endParaRPr>
          </a:p>
        </p:txBody>
      </p:sp>
      <p:sp>
        <p:nvSpPr>
          <p:cNvPr id="489" name="Google Shape;489;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5" name="Google Shape;495;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15-20 minutes allotted for the Getting Started.</a:t>
            </a:r>
            <a:endParaRPr dirty="0">
              <a:solidFill>
                <a:srgbClr val="000000"/>
              </a:solidFill>
            </a:endParaRPr>
          </a:p>
        </p:txBody>
      </p:sp>
      <p:sp>
        <p:nvSpPr>
          <p:cNvPr id="496" name="Google Shape;496;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2" name="Google Shape;502;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translate</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mean?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translated line still go through the origin? Why not?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What’s the difference between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-values on the original and translated lines for the same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in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+ 4 represent?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are the lines parallel?</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Compare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 your thinking.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newly graphed line still pass through the origin? Why?</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that the line is steeper?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are the lines graphed by multiplying by 2 and −2 the same? Different?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03" name="Google Shape;503;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1" name="Google Shape;511;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translate</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mean?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translated line still go through the origin? Why not?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What’s the difference between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-values on the original and translated lines for the same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in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+ 4 represent?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are the lines parallel?</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Compare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 your thinking.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newly graphed line still pass through the origin? Why?</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that the line is steeper?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are the lines graphed by multiplying by 2 and −2 the same? Different?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12" name="Google Shape;512;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translate</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mean?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translated line still go through the origin? Why not?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What’s the difference between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-values on the original and translated lines for the same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in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+ 4 represent?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are the lines parallel?</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Compare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 your thinking.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newly graphed line still pass through the origin? Why?</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that the line is steeper?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are the lines graphed by multiplying by 2 and −2 the same? Different?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21" name="Google Shape;521;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a:extLst>
            <a:ext uri="{FF2B5EF4-FFF2-40B4-BE49-F238E27FC236}">
              <a16:creationId xmlns:a16="http://schemas.microsoft.com/office/drawing/2014/main" id="{0CA5A1C9-2FD3-A846-D867-5DCA7B4B631D}"/>
            </a:ext>
          </a:extLst>
        </p:cNvPr>
        <p:cNvGrpSpPr/>
        <p:nvPr/>
      </p:nvGrpSpPr>
      <p:grpSpPr>
        <a:xfrm>
          <a:off x="0" y="0"/>
          <a:ext cx="0" cy="0"/>
          <a:chOff x="0" y="0"/>
          <a:chExt cx="0" cy="0"/>
        </a:xfrm>
      </p:grpSpPr>
      <p:sp>
        <p:nvSpPr>
          <p:cNvPr id="519" name="Google Shape;519;p9:notes">
            <a:extLst>
              <a:ext uri="{FF2B5EF4-FFF2-40B4-BE49-F238E27FC236}">
                <a16:creationId xmlns:a16="http://schemas.microsoft.com/office/drawing/2014/main" id="{0180EB4E-83B7-CD06-B047-A6CF47A9AD41}"/>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p9:notes">
            <a:extLst>
              <a:ext uri="{FF2B5EF4-FFF2-40B4-BE49-F238E27FC236}">
                <a16:creationId xmlns:a16="http://schemas.microsoft.com/office/drawing/2014/main" id="{AEEB8E79-A7E3-923A-56C4-94FB78D843B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translate</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mean?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translated line still go through the origin? Why not?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What’s the difference between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-values on the original and translated lines for the same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in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+ 4 represent?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are the lines parallel?</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Compare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 your thinking.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newly graphed line still pass through the origin? Why?</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that the line is steeper?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are the lines graphed by multiplying by 2 and −2 the same? Different?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21" name="Google Shape;521;p9:notes">
            <a:extLst>
              <a:ext uri="{FF2B5EF4-FFF2-40B4-BE49-F238E27FC236}">
                <a16:creationId xmlns:a16="http://schemas.microsoft.com/office/drawing/2014/main" id="{4DB9FE17-3745-637B-6022-DE778AB683A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380383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1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9" name="Google Shape;529;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translate</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mean?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translated line still go through the origin? Why not?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What’s the difference between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-values on the original and translated lines for the same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in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+ 4 represent?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are the lines parallel?</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Compare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 your thinking.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newly graphed line still pass through the origin? Why?</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that the line is steeper?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are the lines graphed by multiplying by 2 and −2 the same? Different?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30" name="Google Shape;530;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1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7" name="Google Shape;537;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translate</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mean?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translated line still go through the origin? Why not?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What’s the difference between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-values on the original and translated lines for the same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in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+ 4 represent?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are the lines parallel?</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Compare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 your thinking.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newly graphed line still pass through the origin? Why?</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that the line is steeper?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are the lines graphed by multiplying by 2 and −2 the same? Different?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38" name="Google Shape;538;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1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5" name="Google Shape;545;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a:ea typeface="Calibri"/>
                <a:cs typeface="Calibri"/>
                <a:sym typeface="Calibri"/>
              </a:rPr>
              <a:t>Getting Started Summary:</a:t>
            </a:r>
            <a:endParaRPr dirty="0">
              <a:solidFill>
                <a:srgbClr val="000000"/>
              </a:solidFill>
            </a:endParaRPr>
          </a:p>
          <a:p>
            <a:pPr marL="0" lvl="0" indent="0" algn="l" rtl="0">
              <a:spcBef>
                <a:spcPts val="0"/>
              </a:spcBef>
              <a:spcAft>
                <a:spcPts val="0"/>
              </a:spcAft>
              <a:buNone/>
            </a:pPr>
            <a:r>
              <a:rPr lang="en-US" dirty="0">
                <a:solidFill>
                  <a:srgbClr val="000000"/>
                </a:solidFill>
              </a:rPr>
              <a:t>When a line segment is vertically translated on the coordinate plane, the </a:t>
            </a:r>
            <a:r>
              <a:rPr lang="en-US" i="1" dirty="0">
                <a:solidFill>
                  <a:srgbClr val="000000"/>
                </a:solidFill>
              </a:rPr>
              <a:t>x</a:t>
            </a:r>
            <a:r>
              <a:rPr lang="en-US" dirty="0">
                <a:solidFill>
                  <a:srgbClr val="000000"/>
                </a:solidFill>
              </a:rPr>
              <a:t>-value of each point remains unchanged, and the </a:t>
            </a:r>
            <a:r>
              <a:rPr lang="en-US" i="1" dirty="0">
                <a:solidFill>
                  <a:srgbClr val="000000"/>
                </a:solidFill>
              </a:rPr>
              <a:t>y</a:t>
            </a:r>
            <a:r>
              <a:rPr lang="en-US" dirty="0">
                <a:solidFill>
                  <a:srgbClr val="000000"/>
                </a:solidFill>
              </a:rPr>
              <a:t>-value changes according to the translation.</a:t>
            </a:r>
            <a:endParaRPr sz="1200" b="1" dirty="0">
              <a:solidFill>
                <a:srgbClr val="000000"/>
              </a:solidFill>
              <a:latin typeface="Calibri"/>
              <a:ea typeface="Calibri"/>
              <a:cs typeface="Calibri"/>
              <a:sym typeface="Calibri"/>
            </a:endParaRPr>
          </a:p>
        </p:txBody>
      </p:sp>
      <p:sp>
        <p:nvSpPr>
          <p:cNvPr id="546" name="Google Shape;546;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1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3" name="Google Shape;553;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 </a:t>
            </a:r>
            <a:r>
              <a:rPr lang="en-US" b="0" dirty="0">
                <a:solidFill>
                  <a:srgbClr val="000000"/>
                </a:solidFill>
                <a:latin typeface="Calibri"/>
                <a:ea typeface="Calibri"/>
                <a:cs typeface="Calibri"/>
                <a:sym typeface="Calibri"/>
              </a:rPr>
              <a:t>This slide is blank for optional use with displaying work.</a:t>
            </a:r>
            <a:endParaRPr b="1" dirty="0">
              <a:solidFill>
                <a:srgbClr val="000000"/>
              </a:solidFill>
              <a:latin typeface="Calibri"/>
              <a:ea typeface="Calibri"/>
              <a:cs typeface="Calibri"/>
              <a:sym typeface="Calibri"/>
            </a:endParaRPr>
          </a:p>
        </p:txBody>
      </p:sp>
      <p:sp>
        <p:nvSpPr>
          <p:cNvPr id="554" name="Google Shape;554;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1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0" name="Google Shape;560;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20-25 minutes allotted for Activity 1.1.</a:t>
            </a:r>
            <a:endParaRPr dirty="0">
              <a:solidFill>
                <a:srgbClr val="000000"/>
              </a:solidFill>
            </a:endParaRPr>
          </a:p>
        </p:txBody>
      </p:sp>
      <p:sp>
        <p:nvSpPr>
          <p:cNvPr id="561" name="Google Shape;561;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1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8" name="Google Shape;568;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0" dirty="0">
              <a:solidFill>
                <a:srgbClr val="000000"/>
              </a:solidFill>
              <a:latin typeface="Calibri"/>
              <a:ea typeface="Calibri"/>
              <a:cs typeface="Calibri"/>
              <a:sym typeface="Calibri"/>
            </a:endParaRPr>
          </a:p>
        </p:txBody>
      </p:sp>
      <p:sp>
        <p:nvSpPr>
          <p:cNvPr id="569" name="Google Shape;569;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1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6" name="Google Shape;576;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dirty="0">
              <a:solidFill>
                <a:srgbClr val="000000"/>
              </a:solidFill>
              <a:latin typeface="Calibri"/>
              <a:ea typeface="Calibri"/>
              <a:cs typeface="Calibri"/>
              <a:sym typeface="Calibri"/>
            </a:endParaRPr>
          </a:p>
        </p:txBody>
      </p:sp>
      <p:sp>
        <p:nvSpPr>
          <p:cNvPr id="577" name="Google Shape;577;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1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7" name="Google Shape;587;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is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of the transformed graph (0, −5)? </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Did you complete any calculations to determine the slope? Explain. </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points that lie 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 vertical translations of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such as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range? Why not? </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relationship between the graph, table, and equation.</a:t>
            </a:r>
            <a:endParaRPr sz="1200" b="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88" name="Google Shape;588;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1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4" name="Google Shape;594;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is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of the transformed graph (0, −5)?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Did you complete any calculations to determine the slope? Explain.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points that lie 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 vertical translations of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such as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range? Why not?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relationship between the graph, table, and equation.</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95" name="Google Shape;595;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1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3" name="Google Shape;603;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is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of the transformed graph (0, −5)?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Did you complete any calculations to determine the slope? Explain.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points that lie 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 vertical translations of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such as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range? Why not?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relationship between the graph, table, and equation.</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604" name="Google Shape;604;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2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0" name="Google Shape;610;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is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of the transformed graph (0, −5)?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Did you complete any calculations to determine the slope? Explain.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points that lie 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 vertical translations of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such as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range? Why not?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relationship between the graph, table, and equation.</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611" name="Google Shape;611;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2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7" name="Google Shape;617;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know which operation to include with </a:t>
            </a:r>
            <a:r>
              <a:rPr lang="en-US" i="1" dirty="0">
                <a:solidFill>
                  <a:srgbClr val="000000"/>
                </a:solidFill>
              </a:rPr>
              <a:t>q</a:t>
            </a:r>
            <a:r>
              <a:rPr lang="en-US" dirty="0">
                <a:solidFill>
                  <a:srgbClr val="000000"/>
                </a:solidFill>
              </a:rPr>
              <a:t>(</a:t>
            </a:r>
            <a:r>
              <a:rPr lang="en-US" i="1" dirty="0">
                <a:solidFill>
                  <a:srgbClr val="000000"/>
                </a:solidFill>
              </a:rPr>
              <a:t>x</a:t>
            </a:r>
            <a:r>
              <a:rPr lang="en-US" dirty="0">
                <a:solidFill>
                  <a:srgbClr val="000000"/>
                </a:solidFill>
              </a:rPr>
              <a:t>)?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Explain how you rewrote each function in terms of </a:t>
            </a:r>
            <a:r>
              <a:rPr lang="en-US" i="1" dirty="0">
                <a:solidFill>
                  <a:srgbClr val="000000"/>
                </a:solidFill>
              </a:rPr>
              <a:t>x</a:t>
            </a:r>
            <a:r>
              <a:rPr lang="en-US" dirty="0">
                <a:solidFill>
                  <a:srgbClr val="000000"/>
                </a:solidFill>
              </a:rPr>
              <a:t>.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is writing the equation of a translated function the same and different when the original function is not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a:t>
            </a:r>
            <a:r>
              <a:rPr lang="en-US" dirty="0">
                <a:solidFill>
                  <a:srgbClr val="000000"/>
                </a:solidFill>
              </a:rPr>
              <a:t>?</a:t>
            </a:r>
            <a:endParaRPr b="1" dirty="0">
              <a:solidFill>
                <a:srgbClr val="000000"/>
              </a:solidFill>
            </a:endParaRPr>
          </a:p>
        </p:txBody>
      </p:sp>
      <p:sp>
        <p:nvSpPr>
          <p:cNvPr id="618" name="Google Shape;618;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2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5" name="Google Shape;625;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know which operation to include with </a:t>
            </a:r>
            <a:r>
              <a:rPr lang="en-US" i="1" dirty="0">
                <a:solidFill>
                  <a:srgbClr val="000000"/>
                </a:solidFill>
              </a:rPr>
              <a:t>q</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Explain how you rewrote each function in terms of </a:t>
            </a:r>
            <a:r>
              <a:rPr lang="en-US" i="1" dirty="0">
                <a:solidFill>
                  <a:srgbClr val="000000"/>
                </a:solidFill>
              </a:rPr>
              <a:t>x</a:t>
            </a:r>
            <a:r>
              <a:rPr lang="en-US" dirty="0">
                <a:solidFill>
                  <a:srgbClr val="000000"/>
                </a:solidFill>
              </a:rPr>
              <a:t>.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is writing the equation of a translated function the same and different when the original function is not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a:t>
            </a:r>
            <a:r>
              <a:rPr lang="en-US" dirty="0">
                <a:solidFill>
                  <a:srgbClr val="000000"/>
                </a:solidFill>
              </a:rPr>
              <a:t>?</a:t>
            </a:r>
            <a:endParaRPr lang="en-US" b="1" dirty="0">
              <a:solidFill>
                <a:srgbClr val="000000"/>
              </a:solidFill>
            </a:endParaRPr>
          </a:p>
        </p:txBody>
      </p:sp>
      <p:sp>
        <p:nvSpPr>
          <p:cNvPr id="626" name="Google Shape;626;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2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3" name="Google Shape;633;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a:ea typeface="Calibri"/>
                <a:cs typeface="Calibri"/>
                <a:sym typeface="Calibri"/>
              </a:rPr>
              <a:t>Note:</a:t>
            </a:r>
            <a:r>
              <a:rPr lang="en-US" sz="1200" b="0" dirty="0">
                <a:solidFill>
                  <a:srgbClr val="000000"/>
                </a:solidFill>
                <a:latin typeface="Calibri"/>
                <a:ea typeface="Calibri"/>
                <a:cs typeface="Calibri"/>
                <a:sym typeface="Calibri"/>
              </a:rPr>
              <a:t> To close Day 1, have students reread the Essential Question and then read the Stamp the Learning summary aloud.</a:t>
            </a:r>
            <a:endParaRPr dirty="0">
              <a:solidFill>
                <a:srgbClr val="000000"/>
              </a:solidFill>
            </a:endParaRPr>
          </a:p>
          <a:p>
            <a:pPr marL="0" lvl="0" indent="0" algn="l" rtl="0">
              <a:spcBef>
                <a:spcPts val="0"/>
              </a:spcBef>
              <a:spcAft>
                <a:spcPts val="0"/>
              </a:spcAft>
              <a:buNone/>
            </a:pPr>
            <a:endParaRPr sz="1200" b="1" dirty="0">
              <a:solidFill>
                <a:srgbClr val="000000"/>
              </a:solidFill>
              <a:latin typeface="Calibri"/>
              <a:ea typeface="Calibri"/>
              <a:cs typeface="Calibri"/>
              <a:sym typeface="Calibri"/>
            </a:endParaRPr>
          </a:p>
          <a:p>
            <a:pPr marL="0" lvl="0" indent="0" algn="l" rtl="0">
              <a:spcBef>
                <a:spcPts val="0"/>
              </a:spcBef>
              <a:spcAft>
                <a:spcPts val="0"/>
              </a:spcAft>
              <a:buNone/>
            </a:pPr>
            <a:r>
              <a:rPr lang="en-US" sz="1200" b="1" dirty="0">
                <a:solidFill>
                  <a:srgbClr val="000000"/>
                </a:solidFill>
                <a:latin typeface="Calibri"/>
                <a:ea typeface="Calibri"/>
                <a:cs typeface="Calibri"/>
                <a:sym typeface="Calibri"/>
              </a:rPr>
              <a:t>Activity 1.1 Summary:</a:t>
            </a:r>
            <a:endParaRPr dirty="0">
              <a:solidFill>
                <a:srgbClr val="000000"/>
              </a:solidFill>
            </a:endParaRPr>
          </a:p>
          <a:p>
            <a:pPr marL="0" lvl="0" indent="0" algn="l" rtl="0">
              <a:spcBef>
                <a:spcPts val="0"/>
              </a:spcBef>
              <a:spcAft>
                <a:spcPts val="0"/>
              </a:spcAft>
              <a:buNone/>
            </a:pPr>
            <a:r>
              <a:rPr lang="en-US" dirty="0">
                <a:solidFill>
                  <a:srgbClr val="000000"/>
                </a:solidFill>
              </a:rPr>
              <a:t>For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a:t>
            </a:r>
            <a:r>
              <a:rPr lang="en-US" dirty="0">
                <a:solidFill>
                  <a:srgbClr val="000000"/>
                </a:solidFill>
              </a:rPr>
              <a:t>, the transformed function </a:t>
            </a:r>
            <a:r>
              <a:rPr lang="en-US" i="1" dirty="0">
                <a:solidFill>
                  <a:srgbClr val="000000"/>
                </a:solidFill>
              </a:rPr>
              <a:t>y</a:t>
            </a:r>
            <a:r>
              <a:rPr lang="en-US" dirty="0">
                <a:solidFill>
                  <a:srgbClr val="000000"/>
                </a:solidFill>
              </a:rPr>
              <a:t> =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d</a:t>
            </a:r>
            <a:r>
              <a:rPr lang="en-US" dirty="0">
                <a:solidFill>
                  <a:srgbClr val="000000"/>
                </a:solidFill>
              </a:rPr>
              <a:t> shows a vertical translation of the function. The slopes of vertically translated linear functions do not change, which means that the graphs of the functions are parallel lines.</a:t>
            </a:r>
            <a:endParaRPr sz="1200" b="1" dirty="0">
              <a:solidFill>
                <a:srgbClr val="000000"/>
              </a:solidFill>
              <a:latin typeface="Calibri"/>
              <a:ea typeface="Calibri"/>
              <a:cs typeface="Calibri"/>
              <a:sym typeface="Calibri"/>
            </a:endParaRPr>
          </a:p>
        </p:txBody>
      </p:sp>
      <p:sp>
        <p:nvSpPr>
          <p:cNvPr id="634" name="Google Shape;634;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2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1" name="Google Shape;641;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 </a:t>
            </a:r>
            <a:r>
              <a:rPr lang="en-US" dirty="0">
                <a:solidFill>
                  <a:srgbClr val="000000"/>
                </a:solidFill>
                <a:latin typeface="Calibri"/>
                <a:ea typeface="Calibri"/>
                <a:cs typeface="Calibri"/>
                <a:sym typeface="Calibri"/>
              </a:rPr>
              <a:t>This slide is blank for optional use with displaying work.</a:t>
            </a:r>
            <a:endParaRPr b="0" dirty="0">
              <a:solidFill>
                <a:srgbClr val="000000"/>
              </a:solidFill>
              <a:latin typeface="Calibri"/>
              <a:ea typeface="Calibri"/>
              <a:cs typeface="Calibri"/>
              <a:sym typeface="Calibri"/>
            </a:endParaRPr>
          </a:p>
        </p:txBody>
      </p:sp>
      <p:sp>
        <p:nvSpPr>
          <p:cNvPr id="642" name="Google Shape;642;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2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8" name="Google Shape;648;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latin typeface="Calibri"/>
                <a:ea typeface="Calibri"/>
                <a:cs typeface="Calibri"/>
                <a:sym typeface="Calibri"/>
              </a:rPr>
              <a:t>Note: </a:t>
            </a:r>
            <a:r>
              <a:rPr lang="en-US" dirty="0">
                <a:solidFill>
                  <a:srgbClr val="000000"/>
                </a:solidFill>
                <a:latin typeface="Calibri"/>
                <a:ea typeface="Calibri"/>
                <a:cs typeface="Calibri"/>
                <a:sym typeface="Calibri"/>
              </a:rPr>
              <a:t>Total suggested pacing for Day 2 is 45 minutes.</a:t>
            </a:r>
            <a:endParaRPr dirty="0">
              <a:solidFill>
                <a:srgbClr val="000000"/>
              </a:solidFill>
            </a:endParaRPr>
          </a:p>
        </p:txBody>
      </p:sp>
      <p:sp>
        <p:nvSpPr>
          <p:cNvPr id="649" name="Google Shape;649;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2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5" name="Google Shape;655;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a:ea typeface="Calibri"/>
                <a:cs typeface="Calibri"/>
                <a:sym typeface="Calibri"/>
              </a:rPr>
              <a:t>Note: </a:t>
            </a:r>
            <a:r>
              <a:rPr lang="en-US" dirty="0">
                <a:solidFill>
                  <a:srgbClr val="000000"/>
                </a:solidFill>
                <a:latin typeface="Calibri"/>
                <a:ea typeface="Calibri"/>
                <a:cs typeface="Calibri"/>
                <a:sym typeface="Calibri"/>
              </a:rPr>
              <a:t>To begin Day 2, have a student read the Essential Question aloud.</a:t>
            </a:r>
            <a:endParaRPr sz="1200" b="1" dirty="0">
              <a:solidFill>
                <a:srgbClr val="000000"/>
              </a:solidFill>
              <a:latin typeface="Calibri"/>
              <a:ea typeface="Calibri"/>
              <a:cs typeface="Calibri"/>
              <a:sym typeface="Calibri"/>
            </a:endParaRPr>
          </a:p>
          <a:p>
            <a:pPr marL="0" lvl="0" indent="0" algn="l" rtl="0">
              <a:spcBef>
                <a:spcPts val="0"/>
              </a:spcBef>
              <a:spcAft>
                <a:spcPts val="0"/>
              </a:spcAft>
              <a:buNone/>
            </a:pPr>
            <a:endParaRPr sz="1200" b="1" dirty="0">
              <a:latin typeface="Calibri"/>
              <a:ea typeface="Calibri"/>
              <a:cs typeface="Calibri"/>
              <a:sym typeface="Calibri"/>
            </a:endParaRPr>
          </a:p>
        </p:txBody>
      </p:sp>
      <p:sp>
        <p:nvSpPr>
          <p:cNvPr id="656" name="Google Shape;656;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p2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2" name="Google Shape;662;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15-20 minutes allotted for Activity 1.2.</a:t>
            </a:r>
            <a:endParaRPr dirty="0">
              <a:solidFill>
                <a:srgbClr val="000000"/>
              </a:solidFill>
            </a:endParaRPr>
          </a:p>
        </p:txBody>
      </p:sp>
      <p:sp>
        <p:nvSpPr>
          <p:cNvPr id="663" name="Google Shape;663;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2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0" name="Google Shape;670;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Which line is the image? Which is the pre-image?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Are the </a:t>
            </a:r>
            <a:r>
              <a:rPr lang="en-US" i="1" dirty="0">
                <a:solidFill>
                  <a:srgbClr val="000000"/>
                </a:solidFill>
              </a:rPr>
              <a:t>x</a:t>
            </a:r>
            <a:r>
              <a:rPr lang="en-US" dirty="0">
                <a:solidFill>
                  <a:srgbClr val="000000"/>
                </a:solidFill>
              </a:rPr>
              <a:t>-coordinates, </a:t>
            </a:r>
            <a:r>
              <a:rPr lang="en-US" i="1" dirty="0">
                <a:solidFill>
                  <a:srgbClr val="000000"/>
                </a:solidFill>
              </a:rPr>
              <a:t>y</a:t>
            </a:r>
            <a:r>
              <a:rPr lang="en-US" dirty="0">
                <a:solidFill>
                  <a:srgbClr val="000000"/>
                </a:solidFill>
              </a:rPr>
              <a:t>-coordinates, or both, changed when completing a translation? How do you know?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Does the order of the coordinates matter when using the slope formula? Explain.</a:t>
            </a:r>
            <a:endParaRPr sz="1200" dirty="0">
              <a:solidFill>
                <a:srgbClr val="000000"/>
              </a:solidFill>
              <a:latin typeface="Calibri"/>
              <a:ea typeface="Calibri"/>
              <a:cs typeface="Calibri"/>
              <a:sym typeface="Calibri"/>
            </a:endParaRPr>
          </a:p>
        </p:txBody>
      </p:sp>
      <p:sp>
        <p:nvSpPr>
          <p:cNvPr id="671" name="Google Shape;671;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2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 </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Which line is the image? Which is the pre-image?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 </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Are the </a:t>
            </a:r>
            <a:r>
              <a:rPr lang="en-US" i="1" dirty="0">
                <a:solidFill>
                  <a:srgbClr val="000000"/>
                </a:solidFill>
              </a:rPr>
              <a:t>x</a:t>
            </a:r>
            <a:r>
              <a:rPr lang="en-US" dirty="0">
                <a:solidFill>
                  <a:srgbClr val="000000"/>
                </a:solidFill>
              </a:rPr>
              <a:t>-coordinates, </a:t>
            </a:r>
            <a:r>
              <a:rPr lang="en-US" i="1" dirty="0">
                <a:solidFill>
                  <a:srgbClr val="000000"/>
                </a:solidFill>
              </a:rPr>
              <a:t>y</a:t>
            </a:r>
            <a:r>
              <a:rPr lang="en-US" dirty="0">
                <a:solidFill>
                  <a:srgbClr val="000000"/>
                </a:solidFill>
              </a:rPr>
              <a:t>-coordinates, or both, changed when completing a translation? How do you know?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Does the order of the coordinates matter when using the slope formula? Explain.</a:t>
            </a:r>
            <a:endParaRPr lang="en-US" sz="1200" dirty="0">
              <a:solidFill>
                <a:srgbClr val="000000"/>
              </a:solidFill>
              <a:latin typeface="Calibri"/>
              <a:ea typeface="Calibri"/>
              <a:cs typeface="Calibri"/>
              <a:sym typeface="Calibri"/>
            </a:endParaRPr>
          </a:p>
        </p:txBody>
      </p:sp>
      <p:sp>
        <p:nvSpPr>
          <p:cNvPr id="678" name="Google Shape;678;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p3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5" name="Google Shape;685;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 </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Which line is the image? Which is the pre-image?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 </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Are the </a:t>
            </a:r>
            <a:r>
              <a:rPr lang="en-US" i="1" dirty="0">
                <a:solidFill>
                  <a:srgbClr val="000000"/>
                </a:solidFill>
              </a:rPr>
              <a:t>x</a:t>
            </a:r>
            <a:r>
              <a:rPr lang="en-US" dirty="0">
                <a:solidFill>
                  <a:srgbClr val="000000"/>
                </a:solidFill>
              </a:rPr>
              <a:t>-coordinates, </a:t>
            </a:r>
            <a:r>
              <a:rPr lang="en-US" i="1" dirty="0">
                <a:solidFill>
                  <a:srgbClr val="000000"/>
                </a:solidFill>
              </a:rPr>
              <a:t>y</a:t>
            </a:r>
            <a:r>
              <a:rPr lang="en-US" dirty="0">
                <a:solidFill>
                  <a:srgbClr val="000000"/>
                </a:solidFill>
              </a:rPr>
              <a:t>-coordinates, or both, changed when completing a translation? How do you know?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Does the order of the coordinates matter when using the slope formula? Explain.</a:t>
            </a:r>
            <a:endParaRPr lang="en-US" sz="1200" dirty="0">
              <a:solidFill>
                <a:srgbClr val="000000"/>
              </a:solidFill>
              <a:latin typeface="Calibri"/>
              <a:ea typeface="Calibri"/>
              <a:cs typeface="Calibri"/>
              <a:sym typeface="Calibri"/>
            </a:endParaRPr>
          </a:p>
        </p:txBody>
      </p:sp>
      <p:sp>
        <p:nvSpPr>
          <p:cNvPr id="686" name="Google Shape;686;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3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2" name="Google Shape;692;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 </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Which line is the image? Which is the pre-image?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 </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Are the </a:t>
            </a:r>
            <a:r>
              <a:rPr lang="en-US" i="1" dirty="0">
                <a:solidFill>
                  <a:srgbClr val="000000"/>
                </a:solidFill>
              </a:rPr>
              <a:t>x</a:t>
            </a:r>
            <a:r>
              <a:rPr lang="en-US" dirty="0">
                <a:solidFill>
                  <a:srgbClr val="000000"/>
                </a:solidFill>
              </a:rPr>
              <a:t>-coordinates, </a:t>
            </a:r>
            <a:r>
              <a:rPr lang="en-US" i="1" dirty="0">
                <a:solidFill>
                  <a:srgbClr val="000000"/>
                </a:solidFill>
              </a:rPr>
              <a:t>y</a:t>
            </a:r>
            <a:r>
              <a:rPr lang="en-US" dirty="0">
                <a:solidFill>
                  <a:srgbClr val="000000"/>
                </a:solidFill>
              </a:rPr>
              <a:t>-coordinates, or both, changed when completing a translation? How do you know?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Does the order of the coordinates matter when using the slope formula? Explain.</a:t>
            </a:r>
            <a:endParaRPr lang="en-US" sz="1200" dirty="0">
              <a:solidFill>
                <a:srgbClr val="000000"/>
              </a:solidFill>
              <a:latin typeface="Calibri"/>
              <a:ea typeface="Calibri"/>
              <a:cs typeface="Calibri"/>
              <a:sym typeface="Calibri"/>
            </a:endParaRPr>
          </a:p>
        </p:txBody>
      </p:sp>
      <p:sp>
        <p:nvSpPr>
          <p:cNvPr id="693" name="Google Shape;693;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0" name="Google Shape;700;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b="0" dirty="0">
                <a:solidFill>
                  <a:srgbClr val="000000"/>
                </a:solidFill>
              </a:rPr>
              <a:t>Why did Catalina substitute the value of </a:t>
            </a:r>
            <a:r>
              <a:rPr lang="en-US" b="0" i="1" dirty="0">
                <a:solidFill>
                  <a:srgbClr val="000000"/>
                </a:solidFill>
              </a:rPr>
              <a:t>x</a:t>
            </a:r>
            <a:r>
              <a:rPr lang="en-US" b="0" dirty="0">
                <a:solidFill>
                  <a:srgbClr val="000000"/>
                </a:solidFill>
              </a:rPr>
              <a:t> into her equation?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b="0" dirty="0">
                <a:solidFill>
                  <a:srgbClr val="000000"/>
                </a:solidFill>
              </a:rPr>
              <a:t>How was the value of </a:t>
            </a:r>
            <a:r>
              <a:rPr lang="en-US" b="0" i="1" dirty="0">
                <a:solidFill>
                  <a:srgbClr val="000000"/>
                </a:solidFill>
              </a:rPr>
              <a:t>y</a:t>
            </a:r>
            <a:r>
              <a:rPr lang="en-US" b="0" dirty="0">
                <a:solidFill>
                  <a:srgbClr val="000000"/>
                </a:solidFill>
              </a:rPr>
              <a:t> when </a:t>
            </a:r>
            <a:r>
              <a:rPr lang="en-US" b="0" i="1" dirty="0">
                <a:solidFill>
                  <a:srgbClr val="000000"/>
                </a:solidFill>
              </a:rPr>
              <a:t>x</a:t>
            </a:r>
            <a:r>
              <a:rPr lang="en-US" b="0" dirty="0">
                <a:solidFill>
                  <a:srgbClr val="000000"/>
                </a:solidFill>
              </a:rPr>
              <a:t> = 2 helpful to Catalina?</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b="0" dirty="0">
                <a:solidFill>
                  <a:srgbClr val="000000"/>
                </a:solidFill>
              </a:rPr>
              <a:t>How did Catalina know the translation was up 5 units rather than down 5 units?</a:t>
            </a:r>
          </a:p>
          <a:p>
            <a:pPr marL="0" marR="0" lvl="0" indent="0" algn="l" rtl="0">
              <a:lnSpc>
                <a:spcPct val="100000"/>
              </a:lnSpc>
              <a:spcBef>
                <a:spcPts val="0"/>
              </a:spcBef>
              <a:spcAft>
                <a:spcPts val="0"/>
              </a:spcAft>
              <a:buClr>
                <a:schemeClr val="dk1"/>
              </a:buClr>
              <a:buSzPts val="1200"/>
              <a:buFont typeface="Calibri"/>
              <a:buNone/>
            </a:pPr>
            <a:endParaRPr lang="en-US" b="0"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Reflecting and Justifying: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b="0" dirty="0">
                <a:solidFill>
                  <a:srgbClr val="000000"/>
                </a:solidFill>
              </a:rPr>
              <a:t>Why did James use both the </a:t>
            </a:r>
            <a:r>
              <a:rPr lang="en-US" b="0" i="1" dirty="0">
                <a:solidFill>
                  <a:srgbClr val="000000"/>
                </a:solidFill>
              </a:rPr>
              <a:t>x</a:t>
            </a:r>
            <a:r>
              <a:rPr lang="en-US" b="0" dirty="0">
                <a:solidFill>
                  <a:srgbClr val="000000"/>
                </a:solidFill>
              </a:rPr>
              <a:t>-value and the </a:t>
            </a:r>
            <a:r>
              <a:rPr lang="en-US" b="0" i="1" dirty="0">
                <a:solidFill>
                  <a:srgbClr val="000000"/>
                </a:solidFill>
              </a:rPr>
              <a:t>y</a:t>
            </a:r>
            <a:r>
              <a:rPr lang="en-US" b="0" dirty="0">
                <a:solidFill>
                  <a:srgbClr val="000000"/>
                </a:solidFill>
              </a:rPr>
              <a:t>-value in his substitution step, but Catalina only used the </a:t>
            </a:r>
            <a:r>
              <a:rPr lang="en-US" b="0" i="1" dirty="0">
                <a:solidFill>
                  <a:srgbClr val="000000"/>
                </a:solidFill>
              </a:rPr>
              <a:t>x</a:t>
            </a:r>
            <a:r>
              <a:rPr lang="en-US" b="0" dirty="0">
                <a:solidFill>
                  <a:srgbClr val="000000"/>
                </a:solidFill>
              </a:rPr>
              <a:t>-value in her substitution step?</a:t>
            </a:r>
          </a:p>
          <a:p>
            <a:pPr marL="0" marR="0" lvl="0" indent="0" algn="l" rtl="0">
              <a:lnSpc>
                <a:spcPct val="100000"/>
              </a:lnSpc>
              <a:spcBef>
                <a:spcPts val="0"/>
              </a:spcBef>
              <a:spcAft>
                <a:spcPts val="0"/>
              </a:spcAft>
              <a:buClr>
                <a:schemeClr val="dk1"/>
              </a:buClr>
              <a:buSzPts val="1200"/>
              <a:buFont typeface="Calibri"/>
              <a:buNone/>
            </a:pPr>
            <a:endParaRPr lang="en-US" b="0"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get the slope of your equation?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a:ea typeface="Calibri"/>
                <a:cs typeface="Calibri"/>
                <a:sym typeface="Calibri"/>
              </a:rPr>
              <a:t>How did you use the given point to write the equation of the line?</a:t>
            </a:r>
            <a:endParaRPr sz="1200" dirty="0">
              <a:solidFill>
                <a:srgbClr val="000000"/>
              </a:solidFill>
              <a:latin typeface="Calibri"/>
              <a:ea typeface="Calibri"/>
              <a:cs typeface="Calibri"/>
              <a:sym typeface="Calibri"/>
            </a:endParaRPr>
          </a:p>
        </p:txBody>
      </p:sp>
      <p:sp>
        <p:nvSpPr>
          <p:cNvPr id="701" name="Google Shape;701;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3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6" name="Google Shape;716;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 </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b="0" dirty="0">
                <a:solidFill>
                  <a:srgbClr val="000000"/>
                </a:solidFill>
              </a:rPr>
              <a:t>Why did Catalina substitute the value of </a:t>
            </a:r>
            <a:r>
              <a:rPr lang="en-US" b="0" i="1" dirty="0">
                <a:solidFill>
                  <a:srgbClr val="000000"/>
                </a:solidFill>
              </a:rPr>
              <a:t>x</a:t>
            </a:r>
            <a:r>
              <a:rPr lang="en-US" b="0" dirty="0">
                <a:solidFill>
                  <a:srgbClr val="000000"/>
                </a:solidFill>
              </a:rPr>
              <a:t> into her equation?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b="0" dirty="0">
                <a:solidFill>
                  <a:srgbClr val="000000"/>
                </a:solidFill>
              </a:rPr>
              <a:t>How was the value of </a:t>
            </a:r>
            <a:r>
              <a:rPr lang="en-US" b="0" i="1" dirty="0">
                <a:solidFill>
                  <a:srgbClr val="000000"/>
                </a:solidFill>
              </a:rPr>
              <a:t>y</a:t>
            </a:r>
            <a:r>
              <a:rPr lang="en-US" b="0" dirty="0">
                <a:solidFill>
                  <a:srgbClr val="000000"/>
                </a:solidFill>
              </a:rPr>
              <a:t> when </a:t>
            </a:r>
            <a:r>
              <a:rPr lang="en-US" b="0" i="1" dirty="0">
                <a:solidFill>
                  <a:srgbClr val="000000"/>
                </a:solidFill>
              </a:rPr>
              <a:t>x</a:t>
            </a:r>
            <a:r>
              <a:rPr lang="en-US" b="0" dirty="0">
                <a:solidFill>
                  <a:srgbClr val="000000"/>
                </a:solidFill>
              </a:rPr>
              <a:t> = 2 helpful to Catalina?</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b="0" dirty="0">
                <a:solidFill>
                  <a:srgbClr val="000000"/>
                </a:solidFill>
              </a:rPr>
              <a:t>How did Catalina know the translation was up 5 units rather than down 5 units?</a:t>
            </a:r>
          </a:p>
          <a:p>
            <a:pPr marL="0" marR="0" lvl="0" indent="0" algn="l" rtl="0">
              <a:lnSpc>
                <a:spcPct val="100000"/>
              </a:lnSpc>
              <a:spcBef>
                <a:spcPts val="0"/>
              </a:spcBef>
              <a:spcAft>
                <a:spcPts val="0"/>
              </a:spcAft>
              <a:buClr>
                <a:schemeClr val="dk1"/>
              </a:buClr>
              <a:buSzPts val="1200"/>
              <a:buFont typeface="Calibri"/>
              <a:buNone/>
            </a:pPr>
            <a:endParaRPr lang="en-US" b="0"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Reflecting and Justifying: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b="0" dirty="0">
                <a:solidFill>
                  <a:srgbClr val="000000"/>
                </a:solidFill>
              </a:rPr>
              <a:t>Why did James use both the </a:t>
            </a:r>
            <a:r>
              <a:rPr lang="en-US" b="0" i="1" dirty="0">
                <a:solidFill>
                  <a:srgbClr val="000000"/>
                </a:solidFill>
              </a:rPr>
              <a:t>x</a:t>
            </a:r>
            <a:r>
              <a:rPr lang="en-US" b="0" dirty="0">
                <a:solidFill>
                  <a:srgbClr val="000000"/>
                </a:solidFill>
              </a:rPr>
              <a:t>-value and the </a:t>
            </a:r>
            <a:r>
              <a:rPr lang="en-US" b="0" i="1" dirty="0">
                <a:solidFill>
                  <a:srgbClr val="000000"/>
                </a:solidFill>
              </a:rPr>
              <a:t>y</a:t>
            </a:r>
            <a:r>
              <a:rPr lang="en-US" b="0" dirty="0">
                <a:solidFill>
                  <a:srgbClr val="000000"/>
                </a:solidFill>
              </a:rPr>
              <a:t>-value in his substitution step, but Catalina only used the </a:t>
            </a:r>
            <a:r>
              <a:rPr lang="en-US" b="0" i="1" dirty="0">
                <a:solidFill>
                  <a:srgbClr val="000000"/>
                </a:solidFill>
              </a:rPr>
              <a:t>x</a:t>
            </a:r>
            <a:r>
              <a:rPr lang="en-US" b="0" dirty="0">
                <a:solidFill>
                  <a:srgbClr val="000000"/>
                </a:solidFill>
              </a:rPr>
              <a:t>-value in her substitution step?</a:t>
            </a:r>
          </a:p>
          <a:p>
            <a:pPr marL="0" marR="0" lvl="0" indent="0" algn="l" rtl="0">
              <a:lnSpc>
                <a:spcPct val="100000"/>
              </a:lnSpc>
              <a:spcBef>
                <a:spcPts val="0"/>
              </a:spcBef>
              <a:spcAft>
                <a:spcPts val="0"/>
              </a:spcAft>
              <a:buClr>
                <a:schemeClr val="dk1"/>
              </a:buClr>
              <a:buSzPts val="1200"/>
              <a:buFont typeface="Calibri"/>
              <a:buNone/>
            </a:pPr>
            <a:endParaRPr lang="en-US" b="0"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 </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get the slope of your equation?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a:ea typeface="Calibri"/>
                <a:cs typeface="Calibri"/>
                <a:sym typeface="Calibri"/>
              </a:rPr>
              <a:t>How did you use the given point to write the equation of the line?</a:t>
            </a:r>
          </a:p>
        </p:txBody>
      </p:sp>
      <p:sp>
        <p:nvSpPr>
          <p:cNvPr id="717" name="Google Shape;717;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3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a:ea typeface="Calibri"/>
                <a:cs typeface="Calibri"/>
                <a:sym typeface="Calibri"/>
              </a:rPr>
              <a:t>Activity 1.2 Summary:</a:t>
            </a:r>
            <a:br>
              <a:rPr lang="en-US" sz="1200" b="1" dirty="0">
                <a:solidFill>
                  <a:srgbClr val="000000"/>
                </a:solidFill>
                <a:latin typeface="Calibri"/>
                <a:ea typeface="Calibri"/>
                <a:cs typeface="Calibri"/>
                <a:sym typeface="Calibri"/>
              </a:rPr>
            </a:br>
            <a:r>
              <a:rPr lang="en-US" dirty="0">
                <a:solidFill>
                  <a:srgbClr val="000000"/>
                </a:solidFill>
              </a:rPr>
              <a:t>A line and its translation are parallel to one another.</a:t>
            </a:r>
            <a:endParaRPr sz="1200" b="1" dirty="0">
              <a:solidFill>
                <a:srgbClr val="000000"/>
              </a:solidFill>
              <a:latin typeface="Calibri"/>
              <a:ea typeface="Calibri"/>
              <a:cs typeface="Calibri"/>
              <a:sym typeface="Calibri"/>
            </a:endParaRPr>
          </a:p>
        </p:txBody>
      </p:sp>
      <p:sp>
        <p:nvSpPr>
          <p:cNvPr id="724" name="Google Shape;724;p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p3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1" name="Google Shape;731;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This slide is blank for optional use with displaying work.</a:t>
            </a:r>
            <a:endParaRPr dirty="0">
              <a:solidFill>
                <a:srgbClr val="000000"/>
              </a:solidFill>
            </a:endParaRPr>
          </a:p>
        </p:txBody>
      </p:sp>
      <p:sp>
        <p:nvSpPr>
          <p:cNvPr id="732" name="Google Shape;732;p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p3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8" name="Google Shape;738;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20-25 minutes allotted for Activity 1.3.</a:t>
            </a:r>
            <a:endParaRPr dirty="0">
              <a:solidFill>
                <a:srgbClr val="000000"/>
              </a:solidFill>
            </a:endParaRPr>
          </a:p>
        </p:txBody>
      </p:sp>
      <p:sp>
        <p:nvSpPr>
          <p:cNvPr id="739" name="Google Shape;739;p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3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6" name="Google Shape;746;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Gathering:</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Why is this transformation called a </a:t>
            </a:r>
            <a:r>
              <a:rPr lang="en-US" i="1" dirty="0">
                <a:solidFill>
                  <a:srgbClr val="000000"/>
                </a:solidFill>
              </a:rPr>
              <a:t>vertical dilation</a:t>
            </a:r>
            <a:r>
              <a:rPr lang="en-US" dirty="0">
                <a:solidFill>
                  <a:srgbClr val="000000"/>
                </a:solidFill>
              </a:rPr>
              <a:t>?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complete the table?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is the graph affected by the dilation by a factor of 4?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do you think the graph would be affected by a factor of 10?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determine the slope? The </a:t>
            </a:r>
            <a:r>
              <a:rPr lang="en-US" i="1" dirty="0">
                <a:solidFill>
                  <a:srgbClr val="000000"/>
                </a:solidFill>
              </a:rPr>
              <a:t>y</a:t>
            </a:r>
            <a:r>
              <a:rPr lang="en-US" dirty="0">
                <a:solidFill>
                  <a:srgbClr val="000000"/>
                </a:solidFill>
              </a:rPr>
              <a:t>-intercept?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tell from the equation that a dilation occurred?</a:t>
            </a:r>
            <a:endParaRPr sz="1200" b="0" dirty="0">
              <a:solidFill>
                <a:srgbClr val="000000"/>
              </a:solidFill>
              <a:latin typeface="Calibri"/>
              <a:ea typeface="Calibri"/>
              <a:cs typeface="Calibri"/>
              <a:sym typeface="Calibri"/>
            </a:endParaRPr>
          </a:p>
        </p:txBody>
      </p:sp>
      <p:sp>
        <p:nvSpPr>
          <p:cNvPr id="747" name="Google Shape;747;p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3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8" name="Google Shape;758;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Gathering:</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Why is this transformation called a </a:t>
            </a:r>
            <a:r>
              <a:rPr lang="en-US" i="1" dirty="0">
                <a:solidFill>
                  <a:srgbClr val="000000"/>
                </a:solidFill>
              </a:rPr>
              <a:t>vertical dilation</a:t>
            </a:r>
            <a:r>
              <a:rPr lang="en-US" dirty="0">
                <a:solidFill>
                  <a:srgbClr val="000000"/>
                </a:solidFill>
              </a:rPr>
              <a:t>?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complete the table?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is the graph affected by the dilation by a factor of 4?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 you think the graph would be affected by a factor of 10?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determine the slope? The </a:t>
            </a:r>
            <a:r>
              <a:rPr lang="en-US" i="1" dirty="0">
                <a:solidFill>
                  <a:srgbClr val="000000"/>
                </a:solidFill>
              </a:rPr>
              <a:t>y</a:t>
            </a:r>
            <a:r>
              <a:rPr lang="en-US" dirty="0">
                <a:solidFill>
                  <a:srgbClr val="000000"/>
                </a:solidFill>
              </a:rPr>
              <a:t>-intercept?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tell from the equation that a dilation occurred?</a:t>
            </a:r>
            <a:endParaRPr lang="en-US" sz="1200" b="0" dirty="0">
              <a:solidFill>
                <a:srgbClr val="000000"/>
              </a:solidFill>
              <a:latin typeface="Calibri"/>
              <a:ea typeface="Calibri"/>
              <a:cs typeface="Calibri"/>
              <a:sym typeface="Calibri"/>
            </a:endParaRPr>
          </a:p>
        </p:txBody>
      </p:sp>
      <p:sp>
        <p:nvSpPr>
          <p:cNvPr id="759" name="Google Shape;759;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a:extLst>
            <a:ext uri="{FF2B5EF4-FFF2-40B4-BE49-F238E27FC236}">
              <a16:creationId xmlns:a16="http://schemas.microsoft.com/office/drawing/2014/main" id="{53E0CF96-86B1-4B08-7E63-15226F469362}"/>
            </a:ext>
          </a:extLst>
        </p:cNvPr>
        <p:cNvGrpSpPr/>
        <p:nvPr/>
      </p:nvGrpSpPr>
      <p:grpSpPr>
        <a:xfrm>
          <a:off x="0" y="0"/>
          <a:ext cx="0" cy="0"/>
          <a:chOff x="0" y="0"/>
          <a:chExt cx="0" cy="0"/>
        </a:xfrm>
      </p:grpSpPr>
      <p:sp>
        <p:nvSpPr>
          <p:cNvPr id="745" name="Google Shape;745;p38:notes">
            <a:extLst>
              <a:ext uri="{FF2B5EF4-FFF2-40B4-BE49-F238E27FC236}">
                <a16:creationId xmlns:a16="http://schemas.microsoft.com/office/drawing/2014/main" id="{A2FB2D6A-DECB-6326-CC77-D6154A40DC5A}"/>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6" name="Google Shape;746;p38:notes">
            <a:extLst>
              <a:ext uri="{FF2B5EF4-FFF2-40B4-BE49-F238E27FC236}">
                <a16:creationId xmlns:a16="http://schemas.microsoft.com/office/drawing/2014/main" id="{5D006947-3FB1-7109-49EA-BD9ABC5051F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 </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Why isn’t the transformed line as steep as the original line?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less steep than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that lies between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did the </a:t>
            </a:r>
            <a:r>
              <a:rPr lang="en-US" i="1" dirty="0">
                <a:solidFill>
                  <a:srgbClr val="000000"/>
                </a:solidFill>
              </a:rPr>
              <a:t>y</a:t>
            </a:r>
            <a:r>
              <a:rPr lang="en-US" dirty="0">
                <a:solidFill>
                  <a:srgbClr val="000000"/>
                </a:solidFill>
              </a:rPr>
              <a:t>-intercept remain at the origin? </a:t>
            </a:r>
          </a:p>
          <a:p>
            <a:pPr marL="171450" lvl="0" indent="-171450" algn="l" rtl="0">
              <a:spcBef>
                <a:spcPts val="0"/>
              </a:spcBef>
              <a:spcAft>
                <a:spcPts val="0"/>
              </a:spcAft>
              <a:buFont typeface="Arial" panose="020B0604020202020204" pitchFamily="34" charset="0"/>
              <a:buChar char="•"/>
            </a:pPr>
            <a:r>
              <a:rPr lang="en-US" dirty="0">
                <a:solidFill>
                  <a:srgbClr val="000000"/>
                </a:solidFill>
              </a:rPr>
              <a:t>Describe two ways the graph of </a:t>
            </a:r>
            <a:r>
              <a:rPr lang="en-US" i="1" dirty="0">
                <a:solidFill>
                  <a:srgbClr val="000000"/>
                </a:solidFill>
              </a:rPr>
              <a:t>c</a:t>
            </a:r>
            <a:r>
              <a:rPr lang="en-US" dirty="0">
                <a:solidFill>
                  <a:srgbClr val="000000"/>
                </a:solidFill>
              </a:rPr>
              <a:t>(</a:t>
            </a:r>
            <a:r>
              <a:rPr lang="en-US" i="1" dirty="0">
                <a:solidFill>
                  <a:srgbClr val="000000"/>
                </a:solidFill>
              </a:rPr>
              <a:t>x</a:t>
            </a:r>
            <a:r>
              <a:rPr lang="en-US" dirty="0">
                <a:solidFill>
                  <a:srgbClr val="000000"/>
                </a:solidFill>
              </a:rPr>
              <a:t>) is different from the graph of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the factor of 4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multiplication by a negative number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does a vertical stretch look like?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does the name vertical compression make sense?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tell that the reflection is across the </a:t>
            </a:r>
            <a:r>
              <a:rPr lang="en-US" i="1" dirty="0">
                <a:solidFill>
                  <a:srgbClr val="000000"/>
                </a:solidFill>
              </a:rPr>
              <a:t>x</a:t>
            </a:r>
            <a:r>
              <a:rPr lang="en-US" dirty="0">
                <a:solidFill>
                  <a:srgbClr val="000000"/>
                </a:solidFill>
              </a:rPr>
              <a:t>-axis rather than the </a:t>
            </a:r>
            <a:r>
              <a:rPr lang="en-US" i="1" dirty="0">
                <a:solidFill>
                  <a:srgbClr val="000000"/>
                </a:solidFill>
              </a:rPr>
              <a:t>y</a:t>
            </a:r>
            <a:r>
              <a:rPr lang="en-US" dirty="0">
                <a:solidFill>
                  <a:srgbClr val="000000"/>
                </a:solidFill>
              </a:rPr>
              <a:t>-axis?</a:t>
            </a:r>
            <a:endParaRPr lang="en-US" sz="1200" b="0" dirty="0">
              <a:solidFill>
                <a:srgbClr val="000000"/>
              </a:solidFill>
              <a:latin typeface="Calibri"/>
              <a:ea typeface="Calibri"/>
              <a:cs typeface="Calibri"/>
              <a:sym typeface="Calibri"/>
            </a:endParaRPr>
          </a:p>
        </p:txBody>
      </p:sp>
      <p:sp>
        <p:nvSpPr>
          <p:cNvPr id="747" name="Google Shape;747;p38:notes">
            <a:extLst>
              <a:ext uri="{FF2B5EF4-FFF2-40B4-BE49-F238E27FC236}">
                <a16:creationId xmlns:a16="http://schemas.microsoft.com/office/drawing/2014/main" id="{EC71E99B-4EDB-33CF-0B44-E75FBA261BA8}"/>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18471805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a:extLst>
            <a:ext uri="{FF2B5EF4-FFF2-40B4-BE49-F238E27FC236}">
              <a16:creationId xmlns:a16="http://schemas.microsoft.com/office/drawing/2014/main" id="{EC5C4A9B-03C8-8F51-0739-FA1CFBBA2084}"/>
            </a:ext>
          </a:extLst>
        </p:cNvPr>
        <p:cNvGrpSpPr/>
        <p:nvPr/>
      </p:nvGrpSpPr>
      <p:grpSpPr>
        <a:xfrm>
          <a:off x="0" y="0"/>
          <a:ext cx="0" cy="0"/>
          <a:chOff x="0" y="0"/>
          <a:chExt cx="0" cy="0"/>
        </a:xfrm>
      </p:grpSpPr>
      <p:sp>
        <p:nvSpPr>
          <p:cNvPr id="757" name="Google Shape;757;p39:notes">
            <a:extLst>
              <a:ext uri="{FF2B5EF4-FFF2-40B4-BE49-F238E27FC236}">
                <a16:creationId xmlns:a16="http://schemas.microsoft.com/office/drawing/2014/main" id="{4602DE6B-B410-9436-D3FD-8F7E4B0204C0}"/>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8" name="Google Shape;758;p39:notes">
            <a:extLst>
              <a:ext uri="{FF2B5EF4-FFF2-40B4-BE49-F238E27FC236}">
                <a16:creationId xmlns:a16="http://schemas.microsoft.com/office/drawing/2014/main" id="{EFA6AB1C-CEE7-345A-B5ED-326917E438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 </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Why isn’t the transformed line as steep as the original line?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less steep than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that lies between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did the </a:t>
            </a:r>
            <a:r>
              <a:rPr lang="en-US" i="1" dirty="0">
                <a:solidFill>
                  <a:srgbClr val="000000"/>
                </a:solidFill>
              </a:rPr>
              <a:t>y</a:t>
            </a:r>
            <a:r>
              <a:rPr lang="en-US" dirty="0">
                <a:solidFill>
                  <a:srgbClr val="000000"/>
                </a:solidFill>
              </a:rPr>
              <a:t>-intercept remain at the origin? </a:t>
            </a:r>
          </a:p>
          <a:p>
            <a:pPr marL="171450" lvl="0" indent="-171450" algn="l" rtl="0">
              <a:spcBef>
                <a:spcPts val="0"/>
              </a:spcBef>
              <a:spcAft>
                <a:spcPts val="0"/>
              </a:spcAft>
              <a:buFont typeface="Arial" panose="020B0604020202020204" pitchFamily="34" charset="0"/>
              <a:buChar char="•"/>
            </a:pPr>
            <a:r>
              <a:rPr lang="en-US" dirty="0">
                <a:solidFill>
                  <a:srgbClr val="000000"/>
                </a:solidFill>
              </a:rPr>
              <a:t>Describe two ways the graph of </a:t>
            </a:r>
            <a:r>
              <a:rPr lang="en-US" i="1" dirty="0">
                <a:solidFill>
                  <a:srgbClr val="000000"/>
                </a:solidFill>
              </a:rPr>
              <a:t>c</a:t>
            </a:r>
            <a:r>
              <a:rPr lang="en-US" dirty="0">
                <a:solidFill>
                  <a:srgbClr val="000000"/>
                </a:solidFill>
              </a:rPr>
              <a:t>(</a:t>
            </a:r>
            <a:r>
              <a:rPr lang="en-US" i="1" dirty="0">
                <a:solidFill>
                  <a:srgbClr val="000000"/>
                </a:solidFill>
              </a:rPr>
              <a:t>x</a:t>
            </a:r>
            <a:r>
              <a:rPr lang="en-US" dirty="0">
                <a:solidFill>
                  <a:srgbClr val="000000"/>
                </a:solidFill>
              </a:rPr>
              <a:t>) is different from the graph of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the factor of 4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multiplication by a negative number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does a vertical stretch look like?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does the name vertical compression make sense?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tell that the reflection is across the </a:t>
            </a:r>
            <a:r>
              <a:rPr lang="en-US" i="1" dirty="0">
                <a:solidFill>
                  <a:srgbClr val="000000"/>
                </a:solidFill>
              </a:rPr>
              <a:t>x</a:t>
            </a:r>
            <a:r>
              <a:rPr lang="en-US" dirty="0">
                <a:solidFill>
                  <a:srgbClr val="000000"/>
                </a:solidFill>
              </a:rPr>
              <a:t>-axis rather than the </a:t>
            </a:r>
            <a:r>
              <a:rPr lang="en-US" i="1" dirty="0">
                <a:solidFill>
                  <a:srgbClr val="000000"/>
                </a:solidFill>
              </a:rPr>
              <a:t>y</a:t>
            </a:r>
            <a:r>
              <a:rPr lang="en-US" dirty="0">
                <a:solidFill>
                  <a:srgbClr val="000000"/>
                </a:solidFill>
              </a:rPr>
              <a:t>-axis?</a:t>
            </a:r>
            <a:endParaRPr lang="en-US" sz="1200" b="0" dirty="0">
              <a:solidFill>
                <a:srgbClr val="000000"/>
              </a:solidFill>
              <a:latin typeface="Calibri"/>
              <a:ea typeface="Calibri"/>
              <a:cs typeface="Calibri"/>
              <a:sym typeface="Calibri"/>
            </a:endParaRPr>
          </a:p>
        </p:txBody>
      </p:sp>
      <p:sp>
        <p:nvSpPr>
          <p:cNvPr id="759" name="Google Shape;759;p39:notes">
            <a:extLst>
              <a:ext uri="{FF2B5EF4-FFF2-40B4-BE49-F238E27FC236}">
                <a16:creationId xmlns:a16="http://schemas.microsoft.com/office/drawing/2014/main" id="{0290792E-6583-5949-2835-7B5BA1DEC337}"/>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3453991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a:extLst>
            <a:ext uri="{FF2B5EF4-FFF2-40B4-BE49-F238E27FC236}">
              <a16:creationId xmlns:a16="http://schemas.microsoft.com/office/drawing/2014/main" id="{8603E85A-A085-2AB7-1307-5A26FBFEAB6A}"/>
            </a:ext>
          </a:extLst>
        </p:cNvPr>
        <p:cNvGrpSpPr/>
        <p:nvPr/>
      </p:nvGrpSpPr>
      <p:grpSpPr>
        <a:xfrm>
          <a:off x="0" y="0"/>
          <a:ext cx="0" cy="0"/>
          <a:chOff x="0" y="0"/>
          <a:chExt cx="0" cy="0"/>
        </a:xfrm>
      </p:grpSpPr>
      <p:sp>
        <p:nvSpPr>
          <p:cNvPr id="745" name="Google Shape;745;p38:notes">
            <a:extLst>
              <a:ext uri="{FF2B5EF4-FFF2-40B4-BE49-F238E27FC236}">
                <a16:creationId xmlns:a16="http://schemas.microsoft.com/office/drawing/2014/main" id="{D8556927-CEF9-2333-D2CF-AF6C807F28ED}"/>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6" name="Google Shape;746;p38:notes">
            <a:extLst>
              <a:ext uri="{FF2B5EF4-FFF2-40B4-BE49-F238E27FC236}">
                <a16:creationId xmlns:a16="http://schemas.microsoft.com/office/drawing/2014/main" id="{EDE80438-0B5A-EC73-8572-C4058D7C531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 </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Why isn’t the transformed line as steep as the original line?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less steep than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that lies between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did the </a:t>
            </a:r>
            <a:r>
              <a:rPr lang="en-US" i="1" dirty="0">
                <a:solidFill>
                  <a:srgbClr val="000000"/>
                </a:solidFill>
              </a:rPr>
              <a:t>y</a:t>
            </a:r>
            <a:r>
              <a:rPr lang="en-US" dirty="0">
                <a:solidFill>
                  <a:srgbClr val="000000"/>
                </a:solidFill>
              </a:rPr>
              <a:t>-intercept remain at the origin? </a:t>
            </a:r>
          </a:p>
          <a:p>
            <a:pPr marL="171450" lvl="0" indent="-171450" algn="l" rtl="0">
              <a:spcBef>
                <a:spcPts val="0"/>
              </a:spcBef>
              <a:spcAft>
                <a:spcPts val="0"/>
              </a:spcAft>
              <a:buFont typeface="Arial" panose="020B0604020202020204" pitchFamily="34" charset="0"/>
              <a:buChar char="•"/>
            </a:pPr>
            <a:r>
              <a:rPr lang="en-US" dirty="0">
                <a:solidFill>
                  <a:srgbClr val="000000"/>
                </a:solidFill>
              </a:rPr>
              <a:t>Describe two ways the graph of </a:t>
            </a:r>
            <a:r>
              <a:rPr lang="en-US" i="1" dirty="0">
                <a:solidFill>
                  <a:srgbClr val="000000"/>
                </a:solidFill>
              </a:rPr>
              <a:t>c</a:t>
            </a:r>
            <a:r>
              <a:rPr lang="en-US" dirty="0">
                <a:solidFill>
                  <a:srgbClr val="000000"/>
                </a:solidFill>
              </a:rPr>
              <a:t>(</a:t>
            </a:r>
            <a:r>
              <a:rPr lang="en-US" i="1" dirty="0">
                <a:solidFill>
                  <a:srgbClr val="000000"/>
                </a:solidFill>
              </a:rPr>
              <a:t>x</a:t>
            </a:r>
            <a:r>
              <a:rPr lang="en-US" dirty="0">
                <a:solidFill>
                  <a:srgbClr val="000000"/>
                </a:solidFill>
              </a:rPr>
              <a:t>) is different from the graph of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the factor of 4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multiplication by a negative number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does a vertical stretch look like?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does the name vertical compression make sense?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tell that the reflection is across the </a:t>
            </a:r>
            <a:r>
              <a:rPr lang="en-US" i="1" dirty="0">
                <a:solidFill>
                  <a:srgbClr val="000000"/>
                </a:solidFill>
              </a:rPr>
              <a:t>x</a:t>
            </a:r>
            <a:r>
              <a:rPr lang="en-US" dirty="0">
                <a:solidFill>
                  <a:srgbClr val="000000"/>
                </a:solidFill>
              </a:rPr>
              <a:t>-axis rather than the </a:t>
            </a:r>
            <a:r>
              <a:rPr lang="en-US" i="1" dirty="0">
                <a:solidFill>
                  <a:srgbClr val="000000"/>
                </a:solidFill>
              </a:rPr>
              <a:t>y</a:t>
            </a:r>
            <a:r>
              <a:rPr lang="en-US" dirty="0">
                <a:solidFill>
                  <a:srgbClr val="000000"/>
                </a:solidFill>
              </a:rPr>
              <a:t>-axis?</a:t>
            </a:r>
            <a:endParaRPr lang="en-US" sz="1200" b="0" dirty="0">
              <a:solidFill>
                <a:srgbClr val="000000"/>
              </a:solidFill>
              <a:latin typeface="Calibri"/>
              <a:ea typeface="Calibri"/>
              <a:cs typeface="Calibri"/>
              <a:sym typeface="Calibri"/>
            </a:endParaRPr>
          </a:p>
          <a:p>
            <a:pPr marL="0" lvl="0" indent="0" algn="l" rtl="0">
              <a:spcBef>
                <a:spcPts val="0"/>
              </a:spcBef>
              <a:spcAft>
                <a:spcPts val="0"/>
              </a:spcAft>
              <a:buNone/>
            </a:pPr>
            <a:endParaRPr sz="1200" b="0" dirty="0">
              <a:latin typeface="Calibri"/>
              <a:ea typeface="Calibri"/>
              <a:cs typeface="Calibri"/>
              <a:sym typeface="Calibri"/>
            </a:endParaRPr>
          </a:p>
        </p:txBody>
      </p:sp>
      <p:sp>
        <p:nvSpPr>
          <p:cNvPr id="747" name="Google Shape;747;p38:notes">
            <a:extLst>
              <a:ext uri="{FF2B5EF4-FFF2-40B4-BE49-F238E27FC236}">
                <a16:creationId xmlns:a16="http://schemas.microsoft.com/office/drawing/2014/main" id="{C64E56CB-9534-FCAF-FA73-67338F017AD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4163321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a:extLst>
            <a:ext uri="{FF2B5EF4-FFF2-40B4-BE49-F238E27FC236}">
              <a16:creationId xmlns:a16="http://schemas.microsoft.com/office/drawing/2014/main" id="{3D5700E4-3D50-D724-1247-7FE9055258DB}"/>
            </a:ext>
          </a:extLst>
        </p:cNvPr>
        <p:cNvGrpSpPr/>
        <p:nvPr/>
      </p:nvGrpSpPr>
      <p:grpSpPr>
        <a:xfrm>
          <a:off x="0" y="0"/>
          <a:ext cx="0" cy="0"/>
          <a:chOff x="0" y="0"/>
          <a:chExt cx="0" cy="0"/>
        </a:xfrm>
      </p:grpSpPr>
      <p:sp>
        <p:nvSpPr>
          <p:cNvPr id="757" name="Google Shape;757;p39:notes">
            <a:extLst>
              <a:ext uri="{FF2B5EF4-FFF2-40B4-BE49-F238E27FC236}">
                <a16:creationId xmlns:a16="http://schemas.microsoft.com/office/drawing/2014/main" id="{B380B9C8-A3E2-2BF0-A2B5-D2C731E53B77}"/>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8" name="Google Shape;758;p39:notes">
            <a:extLst>
              <a:ext uri="{FF2B5EF4-FFF2-40B4-BE49-F238E27FC236}">
                <a16:creationId xmlns:a16="http://schemas.microsoft.com/office/drawing/2014/main" id="{A624425C-2D5C-1CE8-D37E-E4024A9E6F8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 </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Why isn’t the transformed line as steep as the original line?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less steep than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that lies between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did the </a:t>
            </a:r>
            <a:r>
              <a:rPr lang="en-US" i="1" dirty="0">
                <a:solidFill>
                  <a:srgbClr val="000000"/>
                </a:solidFill>
              </a:rPr>
              <a:t>y</a:t>
            </a:r>
            <a:r>
              <a:rPr lang="en-US" dirty="0">
                <a:solidFill>
                  <a:srgbClr val="000000"/>
                </a:solidFill>
              </a:rPr>
              <a:t>-intercept remain at the origin? </a:t>
            </a:r>
          </a:p>
          <a:p>
            <a:pPr marL="171450" lvl="0" indent="-171450" algn="l" rtl="0">
              <a:spcBef>
                <a:spcPts val="0"/>
              </a:spcBef>
              <a:spcAft>
                <a:spcPts val="0"/>
              </a:spcAft>
              <a:buFont typeface="Arial" panose="020B0604020202020204" pitchFamily="34" charset="0"/>
              <a:buChar char="•"/>
            </a:pPr>
            <a:r>
              <a:rPr lang="en-US" dirty="0">
                <a:solidFill>
                  <a:srgbClr val="000000"/>
                </a:solidFill>
              </a:rPr>
              <a:t>Describe two ways the graph of </a:t>
            </a:r>
            <a:r>
              <a:rPr lang="en-US" i="1" dirty="0">
                <a:solidFill>
                  <a:srgbClr val="000000"/>
                </a:solidFill>
              </a:rPr>
              <a:t>c</a:t>
            </a:r>
            <a:r>
              <a:rPr lang="en-US" dirty="0">
                <a:solidFill>
                  <a:srgbClr val="000000"/>
                </a:solidFill>
              </a:rPr>
              <a:t>(</a:t>
            </a:r>
            <a:r>
              <a:rPr lang="en-US" i="1" dirty="0">
                <a:solidFill>
                  <a:srgbClr val="000000"/>
                </a:solidFill>
              </a:rPr>
              <a:t>x</a:t>
            </a:r>
            <a:r>
              <a:rPr lang="en-US" dirty="0">
                <a:solidFill>
                  <a:srgbClr val="000000"/>
                </a:solidFill>
              </a:rPr>
              <a:t>) is different from the graph of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the factor of 4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multiplication by a negative number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does a vertical stretch look like?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does the name vertical compression make sense?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tell that the reflection is across the </a:t>
            </a:r>
            <a:r>
              <a:rPr lang="en-US" i="1" dirty="0">
                <a:solidFill>
                  <a:srgbClr val="000000"/>
                </a:solidFill>
              </a:rPr>
              <a:t>x</a:t>
            </a:r>
            <a:r>
              <a:rPr lang="en-US" dirty="0">
                <a:solidFill>
                  <a:srgbClr val="000000"/>
                </a:solidFill>
              </a:rPr>
              <a:t>-axis rather than the </a:t>
            </a:r>
            <a:r>
              <a:rPr lang="en-US" i="1" dirty="0">
                <a:solidFill>
                  <a:srgbClr val="000000"/>
                </a:solidFill>
              </a:rPr>
              <a:t>y</a:t>
            </a:r>
            <a:r>
              <a:rPr lang="en-US" dirty="0">
                <a:solidFill>
                  <a:srgbClr val="000000"/>
                </a:solidFill>
              </a:rPr>
              <a:t>-axis?</a:t>
            </a:r>
            <a:endParaRPr lang="en-US" sz="1200" b="0" dirty="0">
              <a:solidFill>
                <a:srgbClr val="000000"/>
              </a:solidFill>
              <a:latin typeface="Calibri"/>
              <a:ea typeface="Calibri"/>
              <a:cs typeface="Calibri"/>
              <a:sym typeface="Calibri"/>
            </a:endParaRPr>
          </a:p>
        </p:txBody>
      </p:sp>
      <p:sp>
        <p:nvSpPr>
          <p:cNvPr id="759" name="Google Shape;759;p39:notes">
            <a:extLst>
              <a:ext uri="{FF2B5EF4-FFF2-40B4-BE49-F238E27FC236}">
                <a16:creationId xmlns:a16="http://schemas.microsoft.com/office/drawing/2014/main" id="{9686EF86-17AF-4874-08EE-45320C458A1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extLst>
      <p:ext uri="{BB962C8B-B14F-4D97-AF65-F5344CB8AC3E}">
        <p14:creationId xmlns:p14="http://schemas.microsoft.com/office/powerpoint/2010/main" val="40218067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4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 </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Why isn’t the transformed line as steep as the original line?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less steep than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that lies between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did the </a:t>
            </a:r>
            <a:r>
              <a:rPr lang="en-US" i="1" dirty="0">
                <a:solidFill>
                  <a:srgbClr val="000000"/>
                </a:solidFill>
              </a:rPr>
              <a:t>y</a:t>
            </a:r>
            <a:r>
              <a:rPr lang="en-US" dirty="0">
                <a:solidFill>
                  <a:srgbClr val="000000"/>
                </a:solidFill>
              </a:rPr>
              <a:t>-intercept remain at the origin? </a:t>
            </a:r>
          </a:p>
          <a:p>
            <a:pPr marL="171450" lvl="0" indent="-171450" algn="l" rtl="0">
              <a:spcBef>
                <a:spcPts val="0"/>
              </a:spcBef>
              <a:spcAft>
                <a:spcPts val="0"/>
              </a:spcAft>
              <a:buFont typeface="Arial" panose="020B0604020202020204" pitchFamily="34" charset="0"/>
              <a:buChar char="•"/>
            </a:pPr>
            <a:r>
              <a:rPr lang="en-US" dirty="0">
                <a:solidFill>
                  <a:srgbClr val="000000"/>
                </a:solidFill>
              </a:rPr>
              <a:t>Describe two ways the graph of </a:t>
            </a:r>
            <a:r>
              <a:rPr lang="en-US" i="1" dirty="0">
                <a:solidFill>
                  <a:srgbClr val="000000"/>
                </a:solidFill>
              </a:rPr>
              <a:t>c</a:t>
            </a:r>
            <a:r>
              <a:rPr lang="en-US" dirty="0">
                <a:solidFill>
                  <a:srgbClr val="000000"/>
                </a:solidFill>
              </a:rPr>
              <a:t>(</a:t>
            </a:r>
            <a:r>
              <a:rPr lang="en-US" i="1" dirty="0">
                <a:solidFill>
                  <a:srgbClr val="000000"/>
                </a:solidFill>
              </a:rPr>
              <a:t>x</a:t>
            </a:r>
            <a:r>
              <a:rPr lang="en-US" dirty="0">
                <a:solidFill>
                  <a:srgbClr val="000000"/>
                </a:solidFill>
              </a:rPr>
              <a:t>) is different from the graph of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the factor of 4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multiplication by a negative number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does a vertical stretch look like?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does the name vertical compression make sense?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tell that the reflection is across the </a:t>
            </a:r>
            <a:r>
              <a:rPr lang="en-US" i="1" dirty="0">
                <a:solidFill>
                  <a:srgbClr val="000000"/>
                </a:solidFill>
              </a:rPr>
              <a:t>x</a:t>
            </a:r>
            <a:r>
              <a:rPr lang="en-US" dirty="0">
                <a:solidFill>
                  <a:srgbClr val="000000"/>
                </a:solidFill>
              </a:rPr>
              <a:t>-axis rather than the </a:t>
            </a:r>
            <a:r>
              <a:rPr lang="en-US" i="1" dirty="0">
                <a:solidFill>
                  <a:srgbClr val="000000"/>
                </a:solidFill>
              </a:rPr>
              <a:t>y</a:t>
            </a:r>
            <a:r>
              <a:rPr lang="en-US" dirty="0">
                <a:solidFill>
                  <a:srgbClr val="000000"/>
                </a:solidFill>
              </a:rPr>
              <a:t>-axis?</a:t>
            </a:r>
            <a:endParaRPr lang="en-US" sz="1200" b="0" dirty="0">
              <a:solidFill>
                <a:srgbClr val="000000"/>
              </a:solidFill>
              <a:latin typeface="Calibri"/>
              <a:ea typeface="Calibri"/>
              <a:cs typeface="Calibri"/>
              <a:sym typeface="Calibri"/>
            </a:endParaRPr>
          </a:p>
        </p:txBody>
      </p:sp>
      <p:sp>
        <p:nvSpPr>
          <p:cNvPr id="781" name="Google Shape;781;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p4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Note: </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To close Day 2, have students reread the Essential Question and then read the Stamp the Learning summary aloud. </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Activity 1.3 Summary:</a:t>
            </a:r>
            <a:b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transformed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vertical dilation of the function. When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negative, the function is reflected across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-axis.</a:t>
            </a:r>
            <a:endParaRPr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789" name="Google Shape;789;p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p4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This slide is blank for optional use with displaying work.</a:t>
            </a:r>
            <a:endParaRPr dirty="0">
              <a:solidFill>
                <a:srgbClr val="000000"/>
              </a:solidFill>
            </a:endParaRPr>
          </a:p>
        </p:txBody>
      </p:sp>
      <p:sp>
        <p:nvSpPr>
          <p:cNvPr id="797" name="Google Shape;797;p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p4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3" name="Google Shape;803;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latin typeface="Calibri"/>
                <a:ea typeface="Calibri"/>
                <a:cs typeface="Calibri"/>
                <a:sym typeface="Calibri"/>
              </a:rPr>
              <a:t>Note: </a:t>
            </a:r>
            <a:r>
              <a:rPr lang="en-US" dirty="0">
                <a:solidFill>
                  <a:srgbClr val="000000"/>
                </a:solidFill>
                <a:latin typeface="Calibri"/>
                <a:ea typeface="Calibri"/>
                <a:cs typeface="Calibri"/>
                <a:sym typeface="Calibri"/>
              </a:rPr>
              <a:t>Total suggested pacing for Day 3 is 45 minutes.</a:t>
            </a:r>
            <a:endParaRPr dirty="0">
              <a:solidFill>
                <a:srgbClr val="000000"/>
              </a:solidFill>
            </a:endParaRPr>
          </a:p>
        </p:txBody>
      </p:sp>
      <p:sp>
        <p:nvSpPr>
          <p:cNvPr id="804" name="Google Shape;804;p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4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a:ea typeface="Calibri"/>
                <a:cs typeface="Calibri"/>
                <a:sym typeface="Calibri"/>
              </a:rPr>
              <a:t>Note: </a:t>
            </a:r>
            <a:r>
              <a:rPr lang="en-US" dirty="0">
                <a:solidFill>
                  <a:srgbClr val="000000"/>
                </a:solidFill>
                <a:latin typeface="Calibri"/>
                <a:ea typeface="Calibri"/>
                <a:cs typeface="Calibri"/>
                <a:sym typeface="Calibri"/>
              </a:rPr>
              <a:t>To begin Day 3, have a student read the Essential Question aloud.</a:t>
            </a:r>
            <a:endParaRPr sz="1200" b="1" dirty="0">
              <a:solidFill>
                <a:srgbClr val="000000"/>
              </a:solidFill>
              <a:latin typeface="Calibri"/>
              <a:ea typeface="Calibri"/>
              <a:cs typeface="Calibri"/>
              <a:sym typeface="Calibri"/>
            </a:endParaRPr>
          </a:p>
          <a:p>
            <a:pPr marL="0" lvl="0" indent="0" algn="l" rtl="0">
              <a:spcBef>
                <a:spcPts val="0"/>
              </a:spcBef>
              <a:spcAft>
                <a:spcPts val="0"/>
              </a:spcAft>
              <a:buNone/>
            </a:pPr>
            <a:endParaRPr sz="1200" b="1" dirty="0">
              <a:latin typeface="Calibri"/>
              <a:ea typeface="Calibri"/>
              <a:cs typeface="Calibri"/>
              <a:sym typeface="Calibri"/>
            </a:endParaRPr>
          </a:p>
        </p:txBody>
      </p:sp>
      <p:sp>
        <p:nvSpPr>
          <p:cNvPr id="811" name="Google Shape;811;p4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p4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7" name="Google Shape;817;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15-20 minutes allotted for Activity 1.4.</a:t>
            </a:r>
            <a:endParaRPr dirty="0">
              <a:solidFill>
                <a:srgbClr val="000000"/>
              </a:solidFill>
            </a:endParaRPr>
          </a:p>
        </p:txBody>
      </p:sp>
      <p:sp>
        <p:nvSpPr>
          <p:cNvPr id="818" name="Google Shape;818;p4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p4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rewrite the function in general form?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graph the line? Explain your process.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Is the transformed graph a vertical stretch or compression? How can you tell from the equation and graph?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Which ordered pair in the transformed function corresponds to (1, 1) in the original function?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is the graph affected by an </a:t>
            </a:r>
            <a:r>
              <a:rPr lang="en-US" i="1" dirty="0">
                <a:solidFill>
                  <a:srgbClr val="000000"/>
                </a:solidFill>
              </a:rPr>
              <a:t>a</a:t>
            </a:r>
            <a:r>
              <a:rPr lang="en-US" dirty="0">
                <a:solidFill>
                  <a:srgbClr val="000000"/>
                </a:solidFill>
              </a:rPr>
              <a:t>-value greater than 1? An </a:t>
            </a:r>
            <a:r>
              <a:rPr lang="en-US" i="1" dirty="0">
                <a:solidFill>
                  <a:srgbClr val="000000"/>
                </a:solidFill>
              </a:rPr>
              <a:t>a</a:t>
            </a:r>
            <a:r>
              <a:rPr lang="en-US" dirty="0">
                <a:solidFill>
                  <a:srgbClr val="000000"/>
                </a:solidFill>
              </a:rPr>
              <a:t>-value between 0 and 1? A negative </a:t>
            </a:r>
            <a:r>
              <a:rPr lang="en-US" i="1" dirty="0">
                <a:solidFill>
                  <a:srgbClr val="000000"/>
                </a:solidFill>
              </a:rPr>
              <a:t>a</a:t>
            </a:r>
            <a:r>
              <a:rPr lang="en-US" dirty="0">
                <a:solidFill>
                  <a:srgbClr val="000000"/>
                </a:solidFill>
              </a:rPr>
              <a:t>-value?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can you describe the effects using the terms </a:t>
            </a:r>
            <a:r>
              <a:rPr lang="en-US" i="1" dirty="0">
                <a:solidFill>
                  <a:srgbClr val="000000"/>
                </a:solidFill>
              </a:rPr>
              <a:t>vertical stretch </a:t>
            </a:r>
            <a:r>
              <a:rPr lang="en-US" dirty="0">
                <a:solidFill>
                  <a:srgbClr val="000000"/>
                </a:solidFill>
              </a:rPr>
              <a:t>and </a:t>
            </a:r>
            <a:r>
              <a:rPr lang="en-US" i="1" dirty="0">
                <a:solidFill>
                  <a:srgbClr val="000000"/>
                </a:solidFill>
              </a:rPr>
              <a:t>vertical compression</a:t>
            </a:r>
            <a:r>
              <a:rPr lang="en-US" dirty="0">
                <a:solidFill>
                  <a:srgbClr val="000000"/>
                </a:solidFill>
              </a:rPr>
              <a:t>?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is the graph affected by a </a:t>
            </a:r>
            <a:r>
              <a:rPr lang="en-US" i="1" dirty="0">
                <a:solidFill>
                  <a:srgbClr val="000000"/>
                </a:solidFill>
              </a:rPr>
              <a:t>d</a:t>
            </a:r>
            <a:r>
              <a:rPr lang="en-US" dirty="0">
                <a:solidFill>
                  <a:srgbClr val="000000"/>
                </a:solidFill>
              </a:rPr>
              <a:t>-value greater than 1? A </a:t>
            </a:r>
            <a:r>
              <a:rPr lang="en-US" i="1" dirty="0">
                <a:solidFill>
                  <a:srgbClr val="000000"/>
                </a:solidFill>
              </a:rPr>
              <a:t>d</a:t>
            </a:r>
            <a:r>
              <a:rPr lang="en-US" dirty="0">
                <a:solidFill>
                  <a:srgbClr val="000000"/>
                </a:solidFill>
              </a:rPr>
              <a:t>-value less than 1?</a:t>
            </a:r>
            <a:endParaRPr sz="1200" dirty="0">
              <a:solidFill>
                <a:srgbClr val="000000"/>
              </a:solidFill>
              <a:latin typeface="Calibri"/>
              <a:ea typeface="Calibri"/>
              <a:cs typeface="Calibri"/>
              <a:sym typeface="Calibri"/>
            </a:endParaRPr>
          </a:p>
        </p:txBody>
      </p:sp>
      <p:sp>
        <p:nvSpPr>
          <p:cNvPr id="826" name="Google Shape;826;p4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a:extLst>
            <a:ext uri="{FF2B5EF4-FFF2-40B4-BE49-F238E27FC236}">
              <a16:creationId xmlns:a16="http://schemas.microsoft.com/office/drawing/2014/main" id="{82B08B0E-A76E-C4F8-1CF1-1D76781D6041}"/>
            </a:ext>
          </a:extLst>
        </p:cNvPr>
        <p:cNvGrpSpPr/>
        <p:nvPr/>
      </p:nvGrpSpPr>
      <p:grpSpPr>
        <a:xfrm>
          <a:off x="0" y="0"/>
          <a:ext cx="0" cy="0"/>
          <a:chOff x="0" y="0"/>
          <a:chExt cx="0" cy="0"/>
        </a:xfrm>
      </p:grpSpPr>
      <p:sp>
        <p:nvSpPr>
          <p:cNvPr id="824" name="Google Shape;824;p47:notes">
            <a:extLst>
              <a:ext uri="{FF2B5EF4-FFF2-40B4-BE49-F238E27FC236}">
                <a16:creationId xmlns:a16="http://schemas.microsoft.com/office/drawing/2014/main" id="{5EB1116F-37CC-9623-96EE-57A6B8D800F4}"/>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p47:notes">
            <a:extLst>
              <a:ext uri="{FF2B5EF4-FFF2-40B4-BE49-F238E27FC236}">
                <a16:creationId xmlns:a16="http://schemas.microsoft.com/office/drawing/2014/main" id="{C5629509-E7D1-8652-6A7A-45DDEDAAE95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rewrite the function in general form?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graph the line? Explain your process.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Is the transformed graph a vertical stretch or compression? How can you tell from the equation and graph?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Which ordered pair in the transformed function corresponds to (1, 1) in the original function?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is the graph affected by an </a:t>
            </a:r>
            <a:r>
              <a:rPr lang="en-US" i="1" dirty="0">
                <a:solidFill>
                  <a:srgbClr val="000000"/>
                </a:solidFill>
              </a:rPr>
              <a:t>a</a:t>
            </a:r>
            <a:r>
              <a:rPr lang="en-US" dirty="0">
                <a:solidFill>
                  <a:srgbClr val="000000"/>
                </a:solidFill>
              </a:rPr>
              <a:t>-value greater than 1? An </a:t>
            </a:r>
            <a:r>
              <a:rPr lang="en-US" i="1" dirty="0">
                <a:solidFill>
                  <a:srgbClr val="000000"/>
                </a:solidFill>
              </a:rPr>
              <a:t>a</a:t>
            </a:r>
            <a:r>
              <a:rPr lang="en-US" dirty="0">
                <a:solidFill>
                  <a:srgbClr val="000000"/>
                </a:solidFill>
              </a:rPr>
              <a:t>-value between 0 and 1? A negative </a:t>
            </a:r>
            <a:r>
              <a:rPr lang="en-US" i="1" dirty="0">
                <a:solidFill>
                  <a:srgbClr val="000000"/>
                </a:solidFill>
              </a:rPr>
              <a:t>a</a:t>
            </a:r>
            <a:r>
              <a:rPr lang="en-US" dirty="0">
                <a:solidFill>
                  <a:srgbClr val="000000"/>
                </a:solidFill>
              </a:rPr>
              <a:t>-value?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can you describe the effects using the terms </a:t>
            </a:r>
            <a:r>
              <a:rPr lang="en-US" i="1" dirty="0">
                <a:solidFill>
                  <a:srgbClr val="000000"/>
                </a:solidFill>
              </a:rPr>
              <a:t>vertical stretch </a:t>
            </a:r>
            <a:r>
              <a:rPr lang="en-US" dirty="0">
                <a:solidFill>
                  <a:srgbClr val="000000"/>
                </a:solidFill>
              </a:rPr>
              <a:t>and </a:t>
            </a:r>
            <a:r>
              <a:rPr lang="en-US" i="1" dirty="0">
                <a:solidFill>
                  <a:srgbClr val="000000"/>
                </a:solidFill>
              </a:rPr>
              <a:t>vertical compression</a:t>
            </a:r>
            <a:r>
              <a:rPr lang="en-US" dirty="0">
                <a:solidFill>
                  <a:srgbClr val="000000"/>
                </a:solidFill>
              </a:rPr>
              <a:t>?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is the graph affected by a </a:t>
            </a:r>
            <a:r>
              <a:rPr lang="en-US" i="1" dirty="0">
                <a:solidFill>
                  <a:srgbClr val="000000"/>
                </a:solidFill>
              </a:rPr>
              <a:t>d</a:t>
            </a:r>
            <a:r>
              <a:rPr lang="en-US" dirty="0">
                <a:solidFill>
                  <a:srgbClr val="000000"/>
                </a:solidFill>
              </a:rPr>
              <a:t>-value greater than 1? A </a:t>
            </a:r>
            <a:r>
              <a:rPr lang="en-US" i="1" dirty="0">
                <a:solidFill>
                  <a:srgbClr val="000000"/>
                </a:solidFill>
              </a:rPr>
              <a:t>d</a:t>
            </a:r>
            <a:r>
              <a:rPr lang="en-US" dirty="0">
                <a:solidFill>
                  <a:srgbClr val="000000"/>
                </a:solidFill>
              </a:rPr>
              <a:t>-value less than 1?</a:t>
            </a:r>
            <a:endParaRPr lang="en-US" sz="1200" dirty="0">
              <a:solidFill>
                <a:srgbClr val="000000"/>
              </a:solidFill>
              <a:latin typeface="Calibri"/>
              <a:ea typeface="Calibri"/>
              <a:cs typeface="Calibri"/>
              <a:sym typeface="Calibri"/>
            </a:endParaRPr>
          </a:p>
        </p:txBody>
      </p:sp>
      <p:sp>
        <p:nvSpPr>
          <p:cNvPr id="826" name="Google Shape;826;p47:notes">
            <a:extLst>
              <a:ext uri="{FF2B5EF4-FFF2-40B4-BE49-F238E27FC236}">
                <a16:creationId xmlns:a16="http://schemas.microsoft.com/office/drawing/2014/main" id="{76E2DC9C-5996-347F-7FF5-C48533C73D9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extLst>
      <p:ext uri="{BB962C8B-B14F-4D97-AF65-F5344CB8AC3E}">
        <p14:creationId xmlns:p14="http://schemas.microsoft.com/office/powerpoint/2010/main" val="356002247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a:extLst>
            <a:ext uri="{FF2B5EF4-FFF2-40B4-BE49-F238E27FC236}">
              <a16:creationId xmlns:a16="http://schemas.microsoft.com/office/drawing/2014/main" id="{D6246EF5-CB01-119C-D525-03FAAC693D0A}"/>
            </a:ext>
          </a:extLst>
        </p:cNvPr>
        <p:cNvGrpSpPr/>
        <p:nvPr/>
      </p:nvGrpSpPr>
      <p:grpSpPr>
        <a:xfrm>
          <a:off x="0" y="0"/>
          <a:ext cx="0" cy="0"/>
          <a:chOff x="0" y="0"/>
          <a:chExt cx="0" cy="0"/>
        </a:xfrm>
      </p:grpSpPr>
      <p:sp>
        <p:nvSpPr>
          <p:cNvPr id="824" name="Google Shape;824;p47:notes">
            <a:extLst>
              <a:ext uri="{FF2B5EF4-FFF2-40B4-BE49-F238E27FC236}">
                <a16:creationId xmlns:a16="http://schemas.microsoft.com/office/drawing/2014/main" id="{01F8AA91-C2B0-CC73-2FA0-08C19505657A}"/>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p47:notes">
            <a:extLst>
              <a:ext uri="{FF2B5EF4-FFF2-40B4-BE49-F238E27FC236}">
                <a16:creationId xmlns:a16="http://schemas.microsoft.com/office/drawing/2014/main" id="{67A468B6-C338-B6C4-95D7-F5BC6C86C65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rewrite the function in general form?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graph the line? Explain your process.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Is the transformed graph a vertical stretch or compression? How can you tell from the equation and graph?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Which ordered pair in the transformed function corresponds to (1, 1) in the original function?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is the graph affected by an </a:t>
            </a:r>
            <a:r>
              <a:rPr lang="en-US" i="1" dirty="0">
                <a:solidFill>
                  <a:srgbClr val="000000"/>
                </a:solidFill>
              </a:rPr>
              <a:t>a</a:t>
            </a:r>
            <a:r>
              <a:rPr lang="en-US" dirty="0">
                <a:solidFill>
                  <a:srgbClr val="000000"/>
                </a:solidFill>
              </a:rPr>
              <a:t>-value greater than 1? An </a:t>
            </a:r>
            <a:r>
              <a:rPr lang="en-US" i="1" dirty="0">
                <a:solidFill>
                  <a:srgbClr val="000000"/>
                </a:solidFill>
              </a:rPr>
              <a:t>a</a:t>
            </a:r>
            <a:r>
              <a:rPr lang="en-US" dirty="0">
                <a:solidFill>
                  <a:srgbClr val="000000"/>
                </a:solidFill>
              </a:rPr>
              <a:t>-value between 0 and 1? A negative </a:t>
            </a:r>
            <a:r>
              <a:rPr lang="en-US" i="1" dirty="0">
                <a:solidFill>
                  <a:srgbClr val="000000"/>
                </a:solidFill>
              </a:rPr>
              <a:t>a</a:t>
            </a:r>
            <a:r>
              <a:rPr lang="en-US" dirty="0">
                <a:solidFill>
                  <a:srgbClr val="000000"/>
                </a:solidFill>
              </a:rPr>
              <a:t>-value?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can you describe the effects using the terms </a:t>
            </a:r>
            <a:r>
              <a:rPr lang="en-US" i="1" dirty="0">
                <a:solidFill>
                  <a:srgbClr val="000000"/>
                </a:solidFill>
              </a:rPr>
              <a:t>vertical stretch </a:t>
            </a:r>
            <a:r>
              <a:rPr lang="en-US" dirty="0">
                <a:solidFill>
                  <a:srgbClr val="000000"/>
                </a:solidFill>
              </a:rPr>
              <a:t>and </a:t>
            </a:r>
            <a:r>
              <a:rPr lang="en-US" i="1" dirty="0">
                <a:solidFill>
                  <a:srgbClr val="000000"/>
                </a:solidFill>
              </a:rPr>
              <a:t>vertical compression</a:t>
            </a:r>
            <a:r>
              <a:rPr lang="en-US" dirty="0">
                <a:solidFill>
                  <a:srgbClr val="000000"/>
                </a:solidFill>
              </a:rPr>
              <a:t>?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is the graph affected by a </a:t>
            </a:r>
            <a:r>
              <a:rPr lang="en-US" i="1" dirty="0">
                <a:solidFill>
                  <a:srgbClr val="000000"/>
                </a:solidFill>
              </a:rPr>
              <a:t>d</a:t>
            </a:r>
            <a:r>
              <a:rPr lang="en-US" dirty="0">
                <a:solidFill>
                  <a:srgbClr val="000000"/>
                </a:solidFill>
              </a:rPr>
              <a:t>-value greater than 1? A </a:t>
            </a:r>
            <a:r>
              <a:rPr lang="en-US" i="1" dirty="0">
                <a:solidFill>
                  <a:srgbClr val="000000"/>
                </a:solidFill>
              </a:rPr>
              <a:t>d</a:t>
            </a:r>
            <a:r>
              <a:rPr lang="en-US" dirty="0">
                <a:solidFill>
                  <a:srgbClr val="000000"/>
                </a:solidFill>
              </a:rPr>
              <a:t>-value less than 1?</a:t>
            </a:r>
            <a:endParaRPr lang="en-US" sz="1200" dirty="0">
              <a:solidFill>
                <a:srgbClr val="000000"/>
              </a:solidFill>
              <a:latin typeface="Calibri"/>
              <a:ea typeface="Calibri"/>
              <a:cs typeface="Calibri"/>
              <a:sym typeface="Calibri"/>
            </a:endParaRPr>
          </a:p>
        </p:txBody>
      </p:sp>
      <p:sp>
        <p:nvSpPr>
          <p:cNvPr id="826" name="Google Shape;826;p47:notes">
            <a:extLst>
              <a:ext uri="{FF2B5EF4-FFF2-40B4-BE49-F238E27FC236}">
                <a16:creationId xmlns:a16="http://schemas.microsoft.com/office/drawing/2014/main" id="{52533098-D29F-E37F-B3F6-37C90A49188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52</a:t>
            </a:fld>
            <a:endParaRPr/>
          </a:p>
        </p:txBody>
      </p:sp>
    </p:spTree>
    <p:extLst>
      <p:ext uri="{BB962C8B-B14F-4D97-AF65-F5344CB8AC3E}">
        <p14:creationId xmlns:p14="http://schemas.microsoft.com/office/powerpoint/2010/main" val="2826479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p5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rewrite the function in general form?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graph the line? Explain your process.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Is the transformed graph a vertical stretch or compression? How can you tell from the equation and graph?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Which ordered pair in the transformed function corresponds to (1, 1) in the original function?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is the graph affected by an </a:t>
            </a:r>
            <a:r>
              <a:rPr lang="en-US" i="1" dirty="0">
                <a:solidFill>
                  <a:srgbClr val="000000"/>
                </a:solidFill>
              </a:rPr>
              <a:t>a</a:t>
            </a:r>
            <a:r>
              <a:rPr lang="en-US" dirty="0">
                <a:solidFill>
                  <a:srgbClr val="000000"/>
                </a:solidFill>
              </a:rPr>
              <a:t>-value greater than 1? An </a:t>
            </a:r>
            <a:r>
              <a:rPr lang="en-US" i="1" dirty="0">
                <a:solidFill>
                  <a:srgbClr val="000000"/>
                </a:solidFill>
              </a:rPr>
              <a:t>a</a:t>
            </a:r>
            <a:r>
              <a:rPr lang="en-US" dirty="0">
                <a:solidFill>
                  <a:srgbClr val="000000"/>
                </a:solidFill>
              </a:rPr>
              <a:t>-value between 0 and 1? A negative </a:t>
            </a:r>
            <a:r>
              <a:rPr lang="en-US" i="1" dirty="0">
                <a:solidFill>
                  <a:srgbClr val="000000"/>
                </a:solidFill>
              </a:rPr>
              <a:t>a</a:t>
            </a:r>
            <a:r>
              <a:rPr lang="en-US" dirty="0">
                <a:solidFill>
                  <a:srgbClr val="000000"/>
                </a:solidFill>
              </a:rPr>
              <a:t>-value?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can you describe the effects using the terms </a:t>
            </a:r>
            <a:r>
              <a:rPr lang="en-US" i="1" dirty="0">
                <a:solidFill>
                  <a:srgbClr val="000000"/>
                </a:solidFill>
              </a:rPr>
              <a:t>vertical stretch </a:t>
            </a:r>
            <a:r>
              <a:rPr lang="en-US" dirty="0">
                <a:solidFill>
                  <a:srgbClr val="000000"/>
                </a:solidFill>
              </a:rPr>
              <a:t>and </a:t>
            </a:r>
            <a:r>
              <a:rPr lang="en-US" i="1" dirty="0">
                <a:solidFill>
                  <a:srgbClr val="000000"/>
                </a:solidFill>
              </a:rPr>
              <a:t>vertical compression</a:t>
            </a:r>
            <a:r>
              <a:rPr lang="en-US" dirty="0">
                <a:solidFill>
                  <a:srgbClr val="000000"/>
                </a:solidFill>
              </a:rPr>
              <a:t>?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is the graph affected by a </a:t>
            </a:r>
            <a:r>
              <a:rPr lang="en-US" i="1" dirty="0">
                <a:solidFill>
                  <a:srgbClr val="000000"/>
                </a:solidFill>
              </a:rPr>
              <a:t>d</a:t>
            </a:r>
            <a:r>
              <a:rPr lang="en-US" dirty="0">
                <a:solidFill>
                  <a:srgbClr val="000000"/>
                </a:solidFill>
              </a:rPr>
              <a:t>-value greater than 1? A </a:t>
            </a:r>
            <a:r>
              <a:rPr lang="en-US" i="1" dirty="0">
                <a:solidFill>
                  <a:srgbClr val="000000"/>
                </a:solidFill>
              </a:rPr>
              <a:t>d</a:t>
            </a:r>
            <a:r>
              <a:rPr lang="en-US" dirty="0">
                <a:solidFill>
                  <a:srgbClr val="000000"/>
                </a:solidFill>
              </a:rPr>
              <a:t>-value less than 1?</a:t>
            </a:r>
            <a:endParaRPr lang="en-US" sz="1200" dirty="0">
              <a:solidFill>
                <a:srgbClr val="000000"/>
              </a:solidFill>
              <a:latin typeface="Calibri"/>
              <a:ea typeface="Calibri"/>
              <a:cs typeface="Calibri"/>
              <a:sym typeface="Calibri"/>
            </a:endParaRPr>
          </a:p>
        </p:txBody>
      </p:sp>
      <p:sp>
        <p:nvSpPr>
          <p:cNvPr id="861" name="Google Shape;861;p5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p5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8" name="Google Shape;868;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Activity 1.4 Summary:</a:t>
            </a:r>
            <a:b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When a function is both translated and stretched vertically, the resulting function can be written in the form </a:t>
            </a:r>
            <a:r>
              <a:rPr lang="en-US"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𝑎 ∙ 𝑓(𝑥) + 𝑑</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where </a:t>
            </a:r>
            <a:r>
              <a:rPr lang="en-US"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𝑑</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represents the vertical translation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𝑎</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represents the vertical dilation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69" name="Google Shape;869;p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p5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6" name="Google Shape;876;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This slide is blank for optional use with displaying work.</a:t>
            </a:r>
            <a:endParaRPr dirty="0">
              <a:solidFill>
                <a:srgbClr val="000000"/>
              </a:solidFill>
            </a:endParaRPr>
          </a:p>
        </p:txBody>
      </p:sp>
      <p:sp>
        <p:nvSpPr>
          <p:cNvPr id="877" name="Google Shape;877;p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p5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15-20 minutes allotted for Activity 1.5.</a:t>
            </a:r>
            <a:endParaRPr dirty="0">
              <a:solidFill>
                <a:srgbClr val="000000"/>
              </a:solidFill>
            </a:endParaRPr>
          </a:p>
        </p:txBody>
      </p:sp>
      <p:sp>
        <p:nvSpPr>
          <p:cNvPr id="884" name="Google Shape;884;p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p5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dirty="0">
              <a:solidFill>
                <a:srgbClr val="000000"/>
              </a:solidFill>
              <a:latin typeface="Calibri"/>
              <a:ea typeface="Calibri"/>
              <a:cs typeface="Calibri"/>
              <a:sym typeface="Calibri"/>
            </a:endParaRPr>
          </a:p>
        </p:txBody>
      </p:sp>
      <p:sp>
        <p:nvSpPr>
          <p:cNvPr id="892" name="Google Shape;892;p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p5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dirty="0">
              <a:solidFill>
                <a:srgbClr val="000000"/>
              </a:solidFill>
              <a:latin typeface="Calibri"/>
              <a:ea typeface="Calibri"/>
              <a:cs typeface="Calibri"/>
              <a:sym typeface="Calibri"/>
            </a:endParaRPr>
          </a:p>
        </p:txBody>
      </p:sp>
      <p:sp>
        <p:nvSpPr>
          <p:cNvPr id="900" name="Google Shape;900;p5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p5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write an equation to change the cannon’s angle? The cannon’s location on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-axis?</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What are the approximate coordinates of the target in Quadrant I?</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could you hit the targets with horizontal lines?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For Version B, why is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-value the same every time?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For Version B, how did you identify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-value that would hit the target?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When using Version C, how did you know when you needed a negative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-value?</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version of the game uses only a translation?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version of the game uses only a dilation?</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08" name="Google Shape;908;p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p5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4" name="Google Shape;914;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write an equation to change the cannon’s angle? The cannon’s location on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-axis?</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What are the approximate coordinates of the target in Quadrant I?</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could you hit the targets with horizontal lines?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For Version B, why is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-value the same every time?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For Version B, how did you identify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-value that would hit the target?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When using Version C, how did you know when you needed a negative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-value?</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version of the game uses only a translation?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version of the game uses only a dilation?</a:t>
            </a:r>
            <a:endParaRPr sz="1200" dirty="0">
              <a:solidFill>
                <a:srgbClr val="000000"/>
              </a:solidFill>
              <a:latin typeface="Calibri"/>
              <a:ea typeface="Calibri"/>
              <a:cs typeface="Calibri"/>
              <a:sym typeface="Calibri"/>
            </a:endParaRPr>
          </a:p>
        </p:txBody>
      </p:sp>
      <p:sp>
        <p:nvSpPr>
          <p:cNvPr id="915" name="Google Shape;915;p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p5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a:ea typeface="Calibri"/>
                <a:cs typeface="Calibri"/>
                <a:sym typeface="Calibri"/>
              </a:rPr>
              <a:t>Activity 1.5 Summary:</a:t>
            </a:r>
            <a:br>
              <a:rPr lang="en-US" sz="1200" b="1" dirty="0">
                <a:solidFill>
                  <a:srgbClr val="000000"/>
                </a:solidFill>
                <a:latin typeface="Calibri"/>
                <a:ea typeface="Calibri"/>
                <a:cs typeface="Calibri"/>
                <a:sym typeface="Calibri"/>
              </a:rPr>
            </a:br>
            <a:r>
              <a:rPr lang="en-US" dirty="0">
                <a:solidFill>
                  <a:srgbClr val="000000"/>
                </a:solidFill>
              </a:rPr>
              <a:t>Linear function transformations are used in real-life situations.</a:t>
            </a:r>
            <a:endParaRPr sz="1200" b="1" dirty="0">
              <a:solidFill>
                <a:srgbClr val="000000"/>
              </a:solidFill>
              <a:latin typeface="Calibri"/>
              <a:ea typeface="Calibri"/>
              <a:cs typeface="Calibri"/>
              <a:sym typeface="Calibri"/>
            </a:endParaRPr>
          </a:p>
        </p:txBody>
      </p:sp>
      <p:sp>
        <p:nvSpPr>
          <p:cNvPr id="924" name="Google Shape;924;p5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p5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p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This slide is blank for optional use with displaying work.</a:t>
            </a:r>
            <a:endParaRPr dirty="0">
              <a:solidFill>
                <a:srgbClr val="000000"/>
              </a:solidFill>
            </a:endParaRPr>
          </a:p>
        </p:txBody>
      </p:sp>
      <p:sp>
        <p:nvSpPr>
          <p:cNvPr id="932" name="Google Shape;932;p5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p6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8" name="Google Shape;938;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5 minutes allotted for the Talk the Talk.</a:t>
            </a:r>
            <a:endParaRPr dirty="0">
              <a:solidFill>
                <a:srgbClr val="000000"/>
              </a:solidFill>
            </a:endParaRPr>
          </a:p>
        </p:txBody>
      </p:sp>
      <p:sp>
        <p:nvSpPr>
          <p:cNvPr id="939" name="Google Shape;939;p6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sz="1200" dirty="0">
              <a:solidFill>
                <a:srgbClr val="000000"/>
              </a:solidFill>
              <a:latin typeface="Calibri"/>
              <a:ea typeface="Calibri"/>
              <a:cs typeface="Calibri"/>
              <a:sym typeface="Calibri"/>
            </a:endParaRPr>
          </a:p>
        </p:txBody>
      </p:sp>
      <p:sp>
        <p:nvSpPr>
          <p:cNvPr id="946" name="Google Shape;946;p6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64</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6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p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r>
              <a:rPr lang="en-US" b="1" dirty="0">
                <a:solidFill>
                  <a:srgbClr val="000000"/>
                </a:solidFill>
              </a:rPr>
              <a:t>Questions to Support Discourse – Probing:</a:t>
            </a:r>
            <a:endParaRPr dirty="0">
              <a:solidFill>
                <a:srgbClr val="000000"/>
              </a:solidFill>
            </a:endParaRPr>
          </a:p>
          <a:p>
            <a:pPr marL="171450" lvl="0" indent="-171450" algn="l" rtl="0">
              <a:spcBef>
                <a:spcPts val="0"/>
              </a:spcBef>
              <a:spcAft>
                <a:spcPts val="0"/>
              </a:spcAft>
              <a:buClr>
                <a:schemeClr val="dk1"/>
              </a:buClr>
              <a:buSzPts val="1200"/>
              <a:buFont typeface="Arial" panose="020B0604020202020204" pitchFamily="34" charset="0"/>
              <a:buChar char="•"/>
            </a:pPr>
            <a:r>
              <a:rPr lang="en-US" dirty="0">
                <a:solidFill>
                  <a:srgbClr val="000000"/>
                </a:solidFill>
              </a:rPr>
              <a:t>Which characteristic of the line did you use to identify it? </a:t>
            </a:r>
            <a:endParaRPr dirty="0">
              <a:solidFill>
                <a:srgbClr val="000000"/>
              </a:solidFill>
            </a:endParaRPr>
          </a:p>
          <a:p>
            <a:pPr marL="171450" lvl="0" indent="-171450" algn="l" rtl="0">
              <a:spcBef>
                <a:spcPts val="0"/>
              </a:spcBef>
              <a:spcAft>
                <a:spcPts val="0"/>
              </a:spcAft>
              <a:buClr>
                <a:schemeClr val="dk1"/>
              </a:buClr>
              <a:buSzPts val="1200"/>
              <a:buFont typeface="Arial" panose="020B0604020202020204" pitchFamily="34" charset="0"/>
              <a:buChar char="•"/>
            </a:pPr>
            <a:r>
              <a:rPr lang="en-US" dirty="0">
                <a:solidFill>
                  <a:srgbClr val="000000"/>
                </a:solidFill>
              </a:rPr>
              <a:t>Which two lines included a vertical dilation? How can you tell which </a:t>
            </a:r>
            <a:r>
              <a:rPr lang="en-US" i="1" dirty="0">
                <a:solidFill>
                  <a:srgbClr val="000000"/>
                </a:solidFill>
              </a:rPr>
              <a:t>a</a:t>
            </a:r>
            <a:r>
              <a:rPr lang="en-US" dirty="0">
                <a:solidFill>
                  <a:srgbClr val="000000"/>
                </a:solidFill>
              </a:rPr>
              <a:t>-value applies to each line? </a:t>
            </a:r>
            <a:endParaRPr dirty="0">
              <a:solidFill>
                <a:srgbClr val="000000"/>
              </a:solidFill>
            </a:endParaRPr>
          </a:p>
          <a:p>
            <a:pPr marL="171450" lvl="0" indent="-171450" algn="l" rtl="0">
              <a:spcBef>
                <a:spcPts val="0"/>
              </a:spcBef>
              <a:spcAft>
                <a:spcPts val="0"/>
              </a:spcAft>
              <a:buClr>
                <a:schemeClr val="dk1"/>
              </a:buClr>
              <a:buSzPts val="1200"/>
              <a:buFont typeface="Arial" panose="020B0604020202020204" pitchFamily="34" charset="0"/>
              <a:buChar char="•"/>
            </a:pPr>
            <a:r>
              <a:rPr lang="en-US" dirty="0">
                <a:solidFill>
                  <a:srgbClr val="000000"/>
                </a:solidFill>
              </a:rPr>
              <a:t>Which two lines included a vertical translation? </a:t>
            </a:r>
            <a:endParaRPr dirty="0">
              <a:solidFill>
                <a:srgbClr val="000000"/>
              </a:solidFill>
            </a:endParaRPr>
          </a:p>
          <a:p>
            <a:pPr marL="171450" lvl="0" indent="-171450" algn="l" rtl="0">
              <a:spcBef>
                <a:spcPts val="0"/>
              </a:spcBef>
              <a:spcAft>
                <a:spcPts val="0"/>
              </a:spcAft>
              <a:buClr>
                <a:schemeClr val="dk1"/>
              </a:buClr>
              <a:buSzPts val="1200"/>
              <a:buFont typeface="Arial" panose="020B0604020202020204" pitchFamily="34" charset="0"/>
              <a:buChar char="•"/>
            </a:pPr>
            <a:r>
              <a:rPr lang="en-US" dirty="0">
                <a:solidFill>
                  <a:srgbClr val="000000"/>
                </a:solidFill>
              </a:rPr>
              <a:t>How can you tell which </a:t>
            </a:r>
            <a:r>
              <a:rPr lang="en-US" i="1" dirty="0">
                <a:solidFill>
                  <a:srgbClr val="000000"/>
                </a:solidFill>
              </a:rPr>
              <a:t>d</a:t>
            </a:r>
            <a:r>
              <a:rPr lang="en-US" dirty="0">
                <a:solidFill>
                  <a:srgbClr val="000000"/>
                </a:solidFill>
              </a:rPr>
              <a:t>-value applies to each line?</a:t>
            </a:r>
            <a:endParaRPr sz="1200" dirty="0">
              <a:solidFill>
                <a:srgbClr val="000000"/>
              </a:solidFill>
              <a:latin typeface="Calibri"/>
              <a:ea typeface="Calibri"/>
              <a:cs typeface="Calibri"/>
              <a:sym typeface="Calibri"/>
            </a:endParaRPr>
          </a:p>
        </p:txBody>
      </p:sp>
      <p:sp>
        <p:nvSpPr>
          <p:cNvPr id="956" name="Google Shape;956;p6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p6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p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To close Day 3, have students read and answer the Essential Question and then read the Stamp the Learning summary aloud.</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endParaRPr sz="1200" b="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Essential Question:</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Sample answer: 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transformed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shows a vertical translation of the function. For </a:t>
            </a:r>
            <a:r>
              <a:rPr lang="en-US" b="0"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𝑑 &gt; 0</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resulting graph vertically shifts up. For </a:t>
            </a:r>
            <a:r>
              <a:rPr lang="en-US" b="0"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𝑑 &lt; 0</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resulting graph vertically shifts down. The parent function and the resulting graph are parallel because they have the same slope but different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-intercepts. The transformed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err="1">
                <a:solidFill>
                  <a:srgbClr val="000000"/>
                </a:solidFill>
                <a:latin typeface="Calibri" panose="020F0502020204030204" pitchFamily="34" charset="0"/>
                <a:ea typeface="Calibri" panose="020F0502020204030204" pitchFamily="34" charset="0"/>
                <a:cs typeface="Calibri" panose="020F0502020204030204" pitchFamily="34" charset="0"/>
              </a:rPr>
              <a:t>af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shows a vertical dilation of the function. For </a:t>
            </a:r>
            <a:r>
              <a:rPr lang="en-US"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a:t>
            </a:r>
            <a:r>
              <a:rPr lang="en-US" b="0"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𝑎| </a:t>
            </a:r>
            <a:r>
              <a:rPr lang="en-US"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&gt; </a:t>
            </a:r>
            <a:r>
              <a:rPr lang="en-US" b="0"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1</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resulting graph vertically stretches by a factor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units. For </a:t>
            </a:r>
            <a:r>
              <a:rPr lang="en-US" b="0"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0 &lt; |𝑎| &lt; 1</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resulting graph vertically compresses by a factor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units. For </a:t>
            </a:r>
            <a:r>
              <a:rPr lang="en-US" b="0"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𝑎 &lt; 0</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resulting graph is vertically stretched or compressed and is reflected across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-axis.</a:t>
            </a:r>
            <a:endParaRPr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Talk the Talk Summary:</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An equation can be generated given the graph of a function transformation.</a:t>
            </a:r>
            <a:endParaRPr sz="12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64" name="Google Shape;964;p6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p6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1" name="Google Shape;971;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a:ea typeface="Calibri"/>
                <a:cs typeface="Calibri"/>
                <a:sym typeface="Calibri"/>
              </a:rPr>
              <a:t>Note: </a:t>
            </a:r>
            <a:r>
              <a:rPr lang="en-US" sz="1200" dirty="0">
                <a:solidFill>
                  <a:srgbClr val="000000"/>
                </a:solidFill>
                <a:latin typeface="Calibri"/>
                <a:ea typeface="Calibri"/>
                <a:cs typeface="Calibri"/>
                <a:sym typeface="Calibri"/>
              </a:rPr>
              <a:t>This slide is blank for optional use with displaying work.</a:t>
            </a:r>
            <a:endParaRPr sz="1200" b="0" dirty="0">
              <a:solidFill>
                <a:srgbClr val="000000"/>
              </a:solidFill>
              <a:latin typeface="Calibri"/>
              <a:ea typeface="Calibri"/>
              <a:cs typeface="Calibri"/>
              <a:sym typeface="Calibri"/>
            </a:endParaRPr>
          </a:p>
        </p:txBody>
      </p:sp>
      <p:sp>
        <p:nvSpPr>
          <p:cNvPr id="972" name="Google Shape;972;p6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67</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p6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 name="Google Shape;978;p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i="0" u="none" strike="noStrike" dirty="0">
                <a:solidFill>
                  <a:srgbClr val="000000"/>
                </a:solidFill>
                <a:latin typeface="Calibri"/>
                <a:ea typeface="Calibri"/>
                <a:cs typeface="Calibri"/>
                <a:sym typeface="Calibri"/>
              </a:rPr>
              <a:t>How can you identify whether students are ready for new learning?</a:t>
            </a:r>
            <a:r>
              <a:rPr lang="en-US" sz="1200" b="0" i="0" u="none" strike="noStrike" dirty="0">
                <a:solidFill>
                  <a:srgbClr val="000000"/>
                </a:solidFill>
                <a:latin typeface="Calibri"/>
                <a:ea typeface="Calibri"/>
                <a:cs typeface="Calibri"/>
                <a:sym typeface="Calibri"/>
              </a:rPr>
              <a:t> </a:t>
            </a:r>
            <a:r>
              <a:rPr lang="en-US" sz="1200" b="0" i="0" dirty="0">
                <a:solidFill>
                  <a:srgbClr val="000000"/>
                </a:solidFill>
                <a:latin typeface="Calibri"/>
                <a:ea typeface="Calibri"/>
                <a:cs typeface="Calibri"/>
                <a:sym typeface="Calibri"/>
              </a:rPr>
              <a:t>​</a:t>
            </a:r>
            <a:endParaRPr dirty="0">
              <a:solidFill>
                <a:srgbClr val="000000"/>
              </a:solidFill>
            </a:endParaRPr>
          </a:p>
          <a:p>
            <a:pPr marL="0" lvl="0" indent="0" algn="l" rtl="0">
              <a:spcBef>
                <a:spcPts val="0"/>
              </a:spcBef>
              <a:spcAft>
                <a:spcPts val="0"/>
              </a:spcAft>
              <a:buNone/>
            </a:pPr>
            <a:r>
              <a:rPr lang="en-US" sz="1200" b="0" i="0" u="none" strike="noStrike" dirty="0">
                <a:solidFill>
                  <a:srgbClr val="000000"/>
                </a:solidFill>
                <a:latin typeface="Calibri"/>
                <a:ea typeface="Calibri"/>
                <a:cs typeface="Calibri"/>
                <a:sym typeface="Calibri"/>
              </a:rPr>
              <a:t>Depending on available time, you can assign the Prepare section of the Lesson Assignments as homework or as a warm-up to identify students' prior knowledge for the upcoming lesson's activities.</a:t>
            </a:r>
            <a:endParaRPr sz="1200" dirty="0">
              <a:solidFill>
                <a:srgbClr val="000000"/>
              </a:solidFill>
              <a:latin typeface="Calibri"/>
              <a:ea typeface="Calibri"/>
              <a:cs typeface="Calibri"/>
              <a:sym typeface="Calibri"/>
            </a:endParaRPr>
          </a:p>
        </p:txBody>
      </p:sp>
      <p:sp>
        <p:nvSpPr>
          <p:cNvPr id="979" name="Google Shape;979;p6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68</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p6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4" name="Google Shape;984;p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dirty="0">
              <a:solidFill>
                <a:srgbClr val="000000"/>
              </a:solidFill>
              <a:latin typeface="Calibri"/>
              <a:ea typeface="Calibri"/>
              <a:cs typeface="Calibri"/>
              <a:sym typeface="Calibri"/>
            </a:endParaRPr>
          </a:p>
        </p:txBody>
      </p:sp>
      <p:sp>
        <p:nvSpPr>
          <p:cNvPr id="985" name="Google Shape;985;p6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69</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p6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p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solidFill>
                <a:srgbClr val="000000"/>
              </a:solidFill>
              <a:latin typeface="Calibri"/>
              <a:ea typeface="Calibri"/>
              <a:cs typeface="Calibri"/>
              <a:sym typeface="Calibri"/>
            </a:endParaRPr>
          </a:p>
        </p:txBody>
      </p:sp>
      <p:sp>
        <p:nvSpPr>
          <p:cNvPr id="997" name="Google Shape;997;p6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70</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p6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2" name="Google Shape;1002;p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solidFill>
                <a:srgbClr val="000000"/>
              </a:solidFill>
              <a:latin typeface="Calibri"/>
              <a:ea typeface="Calibri"/>
              <a:cs typeface="Calibri"/>
              <a:sym typeface="Calibri"/>
            </a:endParaRPr>
          </a:p>
        </p:txBody>
      </p:sp>
      <p:sp>
        <p:nvSpPr>
          <p:cNvPr id="1003" name="Google Shape;1003;p6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hyperlink" Target="https://creativecommons.org/licenses/by-nc/4.0" TargetMode="Externa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Alg I_Title Slide">
  <p:cSld name="2_Alg I_Title Slide">
    <p:bg>
      <p:bgPr>
        <a:solidFill>
          <a:schemeClr val="lt1"/>
        </a:solidFill>
        <a:effectLst/>
      </p:bgPr>
    </p:bg>
    <p:spTree>
      <p:nvGrpSpPr>
        <p:cNvPr id="1" name="Shape 10"/>
        <p:cNvGrpSpPr/>
        <p:nvPr/>
      </p:nvGrpSpPr>
      <p:grpSpPr>
        <a:xfrm>
          <a:off x="0" y="0"/>
          <a:ext cx="0" cy="0"/>
          <a:chOff x="0" y="0"/>
          <a:chExt cx="0" cy="0"/>
        </a:xfrm>
      </p:grpSpPr>
      <p:sp>
        <p:nvSpPr>
          <p:cNvPr id="11" name="Google Shape;11;p70"/>
          <p:cNvSpPr txBox="1">
            <a:spLocks noGrp="1"/>
          </p:cNvSpPr>
          <p:nvPr>
            <p:ph type="body" idx="1"/>
          </p:nvPr>
        </p:nvSpPr>
        <p:spPr>
          <a:xfrm>
            <a:off x="-1590" y="1622759"/>
            <a:ext cx="12192003" cy="181913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236739"/>
              </a:buClr>
              <a:buSzPts val="6000"/>
              <a:buFont typeface="Arial"/>
              <a:buNone/>
              <a:defRPr sz="6000" b="1" i="0" u="none" strike="noStrike" cap="none">
                <a:solidFill>
                  <a:srgbClr val="236739"/>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70"/>
          <p:cNvSpPr txBox="1">
            <a:spLocks noGrp="1"/>
          </p:cNvSpPr>
          <p:nvPr>
            <p:ph type="body" idx="2"/>
          </p:nvPr>
        </p:nvSpPr>
        <p:spPr>
          <a:xfrm>
            <a:off x="-1590" y="3641189"/>
            <a:ext cx="12190413" cy="82245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236739"/>
              </a:buClr>
              <a:buSzPts val="4400"/>
              <a:buFont typeface="Arial"/>
              <a:buNone/>
              <a:defRPr sz="4400" b="0" i="0" u="none" strike="noStrike" cap="none">
                <a:solidFill>
                  <a:srgbClr val="236739"/>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 name="Google Shape;13;p70"/>
          <p:cNvSpPr/>
          <p:nvPr/>
        </p:nvSpPr>
        <p:spPr>
          <a:xfrm rot="10800000" flipH="1">
            <a:off x="0" y="0"/>
            <a:ext cx="2467555" cy="954942"/>
          </a:xfrm>
          <a:prstGeom prst="round1Rect">
            <a:avLst>
              <a:gd name="adj" fmla="val 16667"/>
            </a:avLst>
          </a:prstGeom>
          <a:solidFill>
            <a:srgbClr val="2B81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 name="Google Shape;14;p70"/>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0" u="none" strike="noStrike" cap="none">
                <a:solidFill>
                  <a:schemeClr val="lt1"/>
                </a:solidFill>
                <a:latin typeface="Calibri"/>
                <a:ea typeface="Calibri"/>
                <a:cs typeface="Calibri"/>
                <a:sym typeface="Calibri"/>
              </a:rPr>
              <a:t>ENGLISH</a:t>
            </a:r>
            <a:endParaRPr/>
          </a:p>
        </p:txBody>
      </p:sp>
      <p:pic>
        <p:nvPicPr>
          <p:cNvPr id="15" name="Google Shape;15;p70" descr="A blue and black logo&#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16" name="Google Shape;16;p70"/>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u="none" strike="noStrike" cap="none">
                <a:solidFill>
                  <a:srgbClr val="000000"/>
                </a:solidFill>
                <a:latin typeface="Calibri"/>
                <a:ea typeface="Calibri"/>
                <a:cs typeface="Calibri"/>
                <a:sym typeface="Calibri"/>
              </a:rPr>
              <a:t>Secondary Mathematics</a:t>
            </a:r>
            <a:endParaRPr/>
          </a:p>
        </p:txBody>
      </p:sp>
      <p:sp>
        <p:nvSpPr>
          <p:cNvPr id="17" name="Google Shape;17;p70"/>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 name="Google Shape;18;p70"/>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u="none" strike="noStrike" cap="none">
                <a:solidFill>
                  <a:srgbClr val="757070"/>
                </a:solidFill>
                <a:latin typeface="Calibri"/>
                <a:ea typeface="Calibri"/>
                <a:cs typeface="Calibri"/>
                <a:sym typeface="Calibri"/>
              </a:rPr>
              <a:t>EDITION 1</a:t>
            </a:r>
            <a:endParaRPr/>
          </a:p>
        </p:txBody>
      </p:sp>
      <p:pic>
        <p:nvPicPr>
          <p:cNvPr id="19" name="Google Shape;19;p70"/>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4663225"/>
            <a:ext cx="12190413" cy="219477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bjective">
  <p:cSld name="Objective">
    <p:spTree>
      <p:nvGrpSpPr>
        <p:cNvPr id="1" name="Shape 20"/>
        <p:cNvGrpSpPr/>
        <p:nvPr/>
      </p:nvGrpSpPr>
      <p:grpSpPr>
        <a:xfrm>
          <a:off x="0" y="0"/>
          <a:ext cx="0" cy="0"/>
          <a:chOff x="0" y="0"/>
          <a:chExt cx="0" cy="0"/>
        </a:xfrm>
      </p:grpSpPr>
      <p:sp>
        <p:nvSpPr>
          <p:cNvPr id="21" name="Google Shape;21;p71"/>
          <p:cNvSpPr/>
          <p:nvPr/>
        </p:nvSpPr>
        <p:spPr>
          <a:xfrm>
            <a:off x="-1586" y="1392600"/>
            <a:ext cx="12192000" cy="549097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 name="Google Shape;22;p71"/>
          <p:cNvSpPr txBox="1">
            <a:spLocks noGrp="1"/>
          </p:cNvSpPr>
          <p:nvPr>
            <p:ph type="body" idx="1"/>
          </p:nvPr>
        </p:nvSpPr>
        <p:spPr>
          <a:xfrm>
            <a:off x="836614" y="2159879"/>
            <a:ext cx="10515599" cy="395641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3A3838"/>
              </a:buClr>
              <a:buSzPts val="4400"/>
              <a:buFont typeface="Arial"/>
              <a:buNone/>
              <a:defRPr sz="4400" b="0" i="0" u="none" strike="noStrike" cap="none">
                <a:solidFill>
                  <a:srgbClr val="3A3838"/>
                </a:solidFill>
                <a:latin typeface="Calibri"/>
                <a:ea typeface="Calibri"/>
                <a:cs typeface="Calibri"/>
                <a:sym typeface="Calibri"/>
              </a:defRPr>
            </a:lvl1pPr>
            <a:lvl2pPr marL="914400" marR="0" lvl="1"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2pPr>
            <a:lvl3pPr marL="1371600" marR="0" lvl="2"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3pPr>
            <a:lvl4pPr marL="1828800" marR="0" lvl="3"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 name="Google Shape;23;p71"/>
          <p:cNvSpPr/>
          <p:nvPr/>
        </p:nvSpPr>
        <p:spPr>
          <a:xfrm>
            <a:off x="0" y="0"/>
            <a:ext cx="7575442" cy="927652"/>
          </a:xfrm>
          <a:prstGeom prst="rect">
            <a:avLst/>
          </a:prstGeom>
          <a:solidFill>
            <a:srgbClr val="2367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4" name="Google Shape;24;p71"/>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7575441" y="0"/>
            <a:ext cx="4614971" cy="931321"/>
          </a:xfrm>
          <a:prstGeom prst="rect">
            <a:avLst/>
          </a:prstGeom>
          <a:noFill/>
          <a:ln>
            <a:noFill/>
          </a:ln>
        </p:spPr>
      </p:pic>
      <p:sp>
        <p:nvSpPr>
          <p:cNvPr id="25" name="Google Shape;25;p71"/>
          <p:cNvSpPr txBox="1">
            <a:spLocks noGrp="1"/>
          </p:cNvSpPr>
          <p:nvPr>
            <p:ph type="title"/>
          </p:nvPr>
        </p:nvSpPr>
        <p:spPr>
          <a:xfrm>
            <a:off x="0" y="0"/>
            <a:ext cx="6094413" cy="926757"/>
          </a:xfrm>
          <a:prstGeom prst="rect">
            <a:avLst/>
          </a:prstGeom>
          <a:noFill/>
          <a:ln>
            <a:noFill/>
          </a:ln>
        </p:spPr>
        <p:txBody>
          <a:bodyPr spcFirstLastPara="1" wrap="square" lIns="457200" tIns="45700" rIns="91425" bIns="45700" anchor="ctr" anchorCtr="0">
            <a:noAutofit/>
          </a:bodyPr>
          <a:lstStyle>
            <a:lvl1pPr marR="0" lvl="0" algn="l" rtl="0">
              <a:lnSpc>
                <a:spcPct val="90000"/>
              </a:lnSpc>
              <a:spcBef>
                <a:spcPts val="0"/>
              </a:spcBef>
              <a:spcAft>
                <a:spcPts val="0"/>
              </a:spcAft>
              <a:buClr>
                <a:schemeClr val="lt1"/>
              </a:buClr>
              <a:buSzPts val="4000"/>
              <a:buFont typeface="Calibri"/>
              <a:buNone/>
              <a:defRPr sz="4000" b="1"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rminology">
  <p:cSld name="Terminology">
    <p:bg>
      <p:bgPr>
        <a:solidFill>
          <a:schemeClr val="lt1"/>
        </a:solidFill>
        <a:effectLst/>
      </p:bgPr>
    </p:bg>
    <p:spTree>
      <p:nvGrpSpPr>
        <p:cNvPr id="1" name="Shape 26"/>
        <p:cNvGrpSpPr/>
        <p:nvPr/>
      </p:nvGrpSpPr>
      <p:grpSpPr>
        <a:xfrm>
          <a:off x="0" y="0"/>
          <a:ext cx="0" cy="0"/>
          <a:chOff x="0" y="0"/>
          <a:chExt cx="0" cy="0"/>
        </a:xfrm>
      </p:grpSpPr>
      <p:sp>
        <p:nvSpPr>
          <p:cNvPr id="27" name="Google Shape;27;p72"/>
          <p:cNvSpPr txBox="1">
            <a:spLocks noGrp="1"/>
          </p:cNvSpPr>
          <p:nvPr>
            <p:ph type="body" idx="1"/>
          </p:nvPr>
        </p:nvSpPr>
        <p:spPr>
          <a:xfrm>
            <a:off x="852488" y="1652588"/>
            <a:ext cx="10515600" cy="116974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8" name="Google Shape;28;p72"/>
          <p:cNvSpPr>
            <a:spLocks noGrp="1"/>
          </p:cNvSpPr>
          <p:nvPr>
            <p:ph type="pic" idx="2"/>
          </p:nvPr>
        </p:nvSpPr>
        <p:spPr>
          <a:xfrm>
            <a:off x="3427412" y="3217943"/>
            <a:ext cx="5335588" cy="2505075"/>
          </a:xfrm>
          <a:prstGeom prst="rect">
            <a:avLst/>
          </a:prstGeom>
          <a:noFill/>
          <a:ln>
            <a:noFill/>
          </a:ln>
        </p:spPr>
      </p:sp>
      <p:sp>
        <p:nvSpPr>
          <p:cNvPr id="29" name="Google Shape;29;p72"/>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2B8147"/>
              </a:buClr>
              <a:buSzPts val="4000"/>
              <a:buFont typeface="Calibri"/>
              <a:buNone/>
              <a:defRPr sz="4000" b="0" i="0" u="none" strike="noStrike" cap="none">
                <a:solidFill>
                  <a:srgbClr val="2B8147"/>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0" name="Google Shape;30;p72"/>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lg I_Session Divider">
  <p:cSld name="Alg I_Session Divider">
    <p:bg>
      <p:bgPr>
        <a:solidFill>
          <a:schemeClr val="lt1"/>
        </a:solidFill>
        <a:effectLst/>
      </p:bgPr>
    </p:bg>
    <p:spTree>
      <p:nvGrpSpPr>
        <p:cNvPr id="1" name="Shape 31"/>
        <p:cNvGrpSpPr/>
        <p:nvPr/>
      </p:nvGrpSpPr>
      <p:grpSpPr>
        <a:xfrm>
          <a:off x="0" y="0"/>
          <a:ext cx="0" cy="0"/>
          <a:chOff x="0" y="0"/>
          <a:chExt cx="0" cy="0"/>
        </a:xfrm>
      </p:grpSpPr>
      <p:sp>
        <p:nvSpPr>
          <p:cNvPr id="32" name="Google Shape;32;p73"/>
          <p:cNvSpPr txBox="1"/>
          <p:nvPr/>
        </p:nvSpPr>
        <p:spPr>
          <a:xfrm>
            <a:off x="4687911" y="2955793"/>
            <a:ext cx="1742284" cy="946413"/>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7500" b="1" dirty="0">
                <a:solidFill>
                  <a:srgbClr val="171616"/>
                </a:solidFill>
                <a:latin typeface="Calibri"/>
                <a:ea typeface="Calibri"/>
                <a:cs typeface="Calibri"/>
                <a:sym typeface="Calibri"/>
              </a:rPr>
              <a:t>Day</a:t>
            </a:r>
            <a:endParaRPr sz="7500" b="1" dirty="0">
              <a:solidFill>
                <a:srgbClr val="171616"/>
              </a:solidFill>
              <a:latin typeface="Calibri"/>
              <a:ea typeface="Calibri"/>
              <a:cs typeface="Calibri"/>
              <a:sym typeface="Calibri"/>
            </a:endParaRPr>
          </a:p>
        </p:txBody>
      </p:sp>
      <p:sp>
        <p:nvSpPr>
          <p:cNvPr id="33" name="Google Shape;33;p73"/>
          <p:cNvSpPr txBox="1">
            <a:spLocks noGrp="1"/>
          </p:cNvSpPr>
          <p:nvPr>
            <p:ph type="body" idx="1"/>
          </p:nvPr>
        </p:nvSpPr>
        <p:spPr>
          <a:xfrm>
            <a:off x="6537582" y="2834375"/>
            <a:ext cx="1093150" cy="107156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000000"/>
              </a:buClr>
              <a:buSzPts val="7500"/>
              <a:buFont typeface="Arial"/>
              <a:buNone/>
              <a:defRPr sz="7500" b="1" i="0" u="none" strike="noStrike" cap="none">
                <a:solidFill>
                  <a:srgbClr val="000000"/>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4" name="Google Shape;34;p73"/>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4663225"/>
            <a:ext cx="12190413" cy="2194775"/>
          </a:xfrm>
          <a:prstGeom prst="rect">
            <a:avLst/>
          </a:prstGeom>
          <a:noFill/>
          <a:ln>
            <a:noFill/>
          </a:ln>
        </p:spPr>
      </p:pic>
      <p:pic>
        <p:nvPicPr>
          <p:cNvPr id="35" name="Google Shape;35;p73"/>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rot="10800000">
            <a:off x="-794" y="-12700"/>
            <a:ext cx="12190413" cy="21947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Alg I_Getting Started">
  <p:cSld name="Alg I_Getting Started">
    <p:bg>
      <p:bgPr>
        <a:solidFill>
          <a:schemeClr val="lt1"/>
        </a:solidFill>
        <a:effectLst/>
      </p:bgPr>
    </p:bg>
    <p:spTree>
      <p:nvGrpSpPr>
        <p:cNvPr id="1" name="Shape 36"/>
        <p:cNvGrpSpPr/>
        <p:nvPr/>
      </p:nvGrpSpPr>
      <p:grpSpPr>
        <a:xfrm>
          <a:off x="0" y="0"/>
          <a:ext cx="0" cy="0"/>
          <a:chOff x="0" y="0"/>
          <a:chExt cx="0" cy="0"/>
        </a:xfrm>
      </p:grpSpPr>
      <p:pic>
        <p:nvPicPr>
          <p:cNvPr id="37" name="Google Shape;37;p74" descr="A green and black pattern&#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2316529"/>
            <a:ext cx="12190415" cy="2682142"/>
          </a:xfrm>
          <a:prstGeom prst="rect">
            <a:avLst/>
          </a:prstGeom>
          <a:noFill/>
          <a:ln>
            <a:noFill/>
          </a:ln>
        </p:spPr>
      </p:pic>
      <p:sp>
        <p:nvSpPr>
          <p:cNvPr id="38" name="Google Shape;38;p74" descr="A green and black pattern&#10;&#10;AI-generated content may be incorrect."/>
          <p:cNvSpPr txBox="1"/>
          <p:nvPr/>
        </p:nvSpPr>
        <p:spPr>
          <a:xfrm>
            <a:off x="2767915" y="2984501"/>
            <a:ext cx="6660292" cy="1143000"/>
          </a:xfrm>
          <a:prstGeom prst="rect">
            <a:avLst/>
          </a:prstGeom>
          <a:solidFill>
            <a:srgbClr val="2B8147"/>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Getting Started</a:t>
            </a:r>
            <a:endParaRPr sz="7500" b="1">
              <a:solidFill>
                <a:schemeClr val="lt1"/>
              </a:solidFill>
              <a:latin typeface="Calibri"/>
              <a:ea typeface="Calibri"/>
              <a:cs typeface="Calibri"/>
              <a:sym typeface="Calibri"/>
            </a:endParaRPr>
          </a:p>
        </p:txBody>
      </p:sp>
      <p:pic>
        <p:nvPicPr>
          <p:cNvPr id="39" name="Google Shape;39;p74"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40" name="Google Shape;40;p74"/>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Alg I_Activity">
  <p:cSld name="Alg I_Activity">
    <p:bg>
      <p:bgPr>
        <a:solidFill>
          <a:schemeClr val="lt1"/>
        </a:solidFill>
        <a:effectLst/>
      </p:bgPr>
    </p:bg>
    <p:spTree>
      <p:nvGrpSpPr>
        <p:cNvPr id="1" name="Shape 41"/>
        <p:cNvGrpSpPr/>
        <p:nvPr/>
      </p:nvGrpSpPr>
      <p:grpSpPr>
        <a:xfrm>
          <a:off x="0" y="0"/>
          <a:ext cx="0" cy="0"/>
          <a:chOff x="0" y="0"/>
          <a:chExt cx="0" cy="0"/>
        </a:xfrm>
      </p:grpSpPr>
      <p:pic>
        <p:nvPicPr>
          <p:cNvPr id="42" name="Google Shape;42;p75"/>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2316529"/>
            <a:ext cx="12190413" cy="2682142"/>
          </a:xfrm>
          <a:prstGeom prst="rect">
            <a:avLst/>
          </a:prstGeom>
          <a:noFill/>
          <a:ln>
            <a:noFill/>
          </a:ln>
        </p:spPr>
      </p:pic>
      <p:sp>
        <p:nvSpPr>
          <p:cNvPr id="43" name="Google Shape;43;p75"/>
          <p:cNvSpPr txBox="1"/>
          <p:nvPr/>
        </p:nvSpPr>
        <p:spPr>
          <a:xfrm>
            <a:off x="3352800" y="2984501"/>
            <a:ext cx="5499100" cy="1143000"/>
          </a:xfrm>
          <a:prstGeom prst="rect">
            <a:avLst/>
          </a:prstGeom>
          <a:solidFill>
            <a:srgbClr val="2B8147"/>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endParaRPr sz="7500" b="1">
              <a:solidFill>
                <a:schemeClr val="lt1"/>
              </a:solidFill>
              <a:latin typeface="Calibri"/>
              <a:ea typeface="Calibri"/>
              <a:cs typeface="Calibri"/>
              <a:sym typeface="Calibri"/>
            </a:endParaRPr>
          </a:p>
        </p:txBody>
      </p:sp>
      <p:sp>
        <p:nvSpPr>
          <p:cNvPr id="44" name="Google Shape;44;p75"/>
          <p:cNvSpPr txBox="1"/>
          <p:nvPr/>
        </p:nvSpPr>
        <p:spPr>
          <a:xfrm>
            <a:off x="3340100" y="3136900"/>
            <a:ext cx="3302000" cy="946413"/>
          </a:xfrm>
          <a:prstGeom prst="rect">
            <a:avLst/>
          </a:prstGeom>
          <a:noFill/>
          <a:ln>
            <a:noFill/>
          </a:ln>
        </p:spPr>
        <p:txBody>
          <a:bodyPr spcFirstLastPara="1" wrap="square" lIns="0" tIns="0" rIns="0" bIns="0" anchor="t" anchorCtr="0">
            <a:spAutoFit/>
          </a:bodyPr>
          <a:lstStyle/>
          <a:p>
            <a:pPr marL="0" marR="0" lvl="0" indent="0" algn="r" rtl="0">
              <a:lnSpc>
                <a:spcPct val="80000"/>
              </a:lnSpc>
              <a:spcBef>
                <a:spcPts val="0"/>
              </a:spcBef>
              <a:spcAft>
                <a:spcPts val="0"/>
              </a:spcAft>
              <a:buNone/>
            </a:pPr>
            <a:r>
              <a:rPr lang="en-US" sz="7500" b="1">
                <a:solidFill>
                  <a:schemeClr val="lt1"/>
                </a:solidFill>
                <a:latin typeface="Calibri"/>
                <a:ea typeface="Calibri"/>
                <a:cs typeface="Calibri"/>
                <a:sym typeface="Calibri"/>
              </a:rPr>
              <a:t>Activity </a:t>
            </a:r>
            <a:endParaRPr sz="7500" b="1">
              <a:solidFill>
                <a:schemeClr val="lt1"/>
              </a:solidFill>
              <a:latin typeface="Calibri"/>
              <a:ea typeface="Calibri"/>
              <a:cs typeface="Calibri"/>
              <a:sym typeface="Calibri"/>
            </a:endParaRPr>
          </a:p>
        </p:txBody>
      </p:sp>
      <p:sp>
        <p:nvSpPr>
          <p:cNvPr id="45" name="Google Shape;45;p75"/>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7500"/>
              <a:buFont typeface="Arial"/>
              <a:buNone/>
              <a:defRPr sz="7500" b="1"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46" name="Google Shape;46;p75"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47" name="Google Shape;47;p75"/>
          <p:cNvSpPr txBox="1">
            <a:spLocks noGrp="1"/>
          </p:cNvSpPr>
          <p:nvPr>
            <p:ph type="body" idx="2"/>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lg I_Talk the Talk">
  <p:cSld name="Alg I_Talk the Talk">
    <p:bg>
      <p:bgPr>
        <a:solidFill>
          <a:schemeClr val="lt1"/>
        </a:solidFill>
        <a:effectLst/>
      </p:bgPr>
    </p:bg>
    <p:spTree>
      <p:nvGrpSpPr>
        <p:cNvPr id="1" name="Shape 48"/>
        <p:cNvGrpSpPr/>
        <p:nvPr/>
      </p:nvGrpSpPr>
      <p:grpSpPr>
        <a:xfrm>
          <a:off x="0" y="0"/>
          <a:ext cx="0" cy="0"/>
          <a:chOff x="0" y="0"/>
          <a:chExt cx="0" cy="0"/>
        </a:xfrm>
      </p:grpSpPr>
      <p:pic>
        <p:nvPicPr>
          <p:cNvPr id="49" name="Google Shape;49;p76"/>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2316529"/>
            <a:ext cx="12190413" cy="2682142"/>
          </a:xfrm>
          <a:prstGeom prst="rect">
            <a:avLst/>
          </a:prstGeom>
          <a:noFill/>
          <a:ln>
            <a:noFill/>
          </a:ln>
        </p:spPr>
      </p:pic>
      <p:sp>
        <p:nvSpPr>
          <p:cNvPr id="50" name="Google Shape;50;p76"/>
          <p:cNvSpPr txBox="1"/>
          <p:nvPr/>
        </p:nvSpPr>
        <p:spPr>
          <a:xfrm>
            <a:off x="3352800" y="2984501"/>
            <a:ext cx="5499100" cy="1143000"/>
          </a:xfrm>
          <a:prstGeom prst="rect">
            <a:avLst/>
          </a:prstGeom>
          <a:solidFill>
            <a:srgbClr val="2B8147"/>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Talk the Talk</a:t>
            </a:r>
            <a:endParaRPr sz="7500" b="1">
              <a:solidFill>
                <a:schemeClr val="lt1"/>
              </a:solidFill>
              <a:latin typeface="Calibri"/>
              <a:ea typeface="Calibri"/>
              <a:cs typeface="Calibri"/>
              <a:sym typeface="Calibri"/>
            </a:endParaRPr>
          </a:p>
        </p:txBody>
      </p:sp>
      <p:pic>
        <p:nvPicPr>
          <p:cNvPr id="51" name="Google Shape;51;p76"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52" name="Google Shape;52;p76"/>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Alg I_Getting Started">
  <p:cSld name="1_Alg I_Getting Started">
    <p:bg>
      <p:bgPr>
        <a:solidFill>
          <a:schemeClr val="lt1"/>
        </a:solidFill>
        <a:effectLst/>
      </p:bgPr>
    </p:bg>
    <p:spTree>
      <p:nvGrpSpPr>
        <p:cNvPr id="1" name="Shape 53"/>
        <p:cNvGrpSpPr/>
        <p:nvPr/>
      </p:nvGrpSpPr>
      <p:grpSpPr>
        <a:xfrm>
          <a:off x="0" y="0"/>
          <a:ext cx="0" cy="0"/>
          <a:chOff x="0" y="0"/>
          <a:chExt cx="0" cy="0"/>
        </a:xfrm>
      </p:grpSpPr>
      <p:pic>
        <p:nvPicPr>
          <p:cNvPr id="54" name="Google Shape;54;p77" descr="A green and black pattern&#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2316529"/>
            <a:ext cx="12190415" cy="2682142"/>
          </a:xfrm>
          <a:prstGeom prst="rect">
            <a:avLst/>
          </a:prstGeom>
          <a:noFill/>
          <a:ln>
            <a:noFill/>
          </a:ln>
        </p:spPr>
      </p:pic>
      <p:sp>
        <p:nvSpPr>
          <p:cNvPr id="55" name="Google Shape;55;p77" descr="A green and black pattern&#10;&#10;AI-generated content may be incorrect."/>
          <p:cNvSpPr txBox="1"/>
          <p:nvPr/>
        </p:nvSpPr>
        <p:spPr>
          <a:xfrm>
            <a:off x="3866323" y="2984501"/>
            <a:ext cx="4432852" cy="1143000"/>
          </a:xfrm>
          <a:prstGeom prst="rect">
            <a:avLst/>
          </a:prstGeom>
          <a:solidFill>
            <a:srgbClr val="2B8147"/>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Prepare</a:t>
            </a:r>
            <a:endParaRPr sz="7500" b="1">
              <a:solidFill>
                <a:schemeClr val="lt1"/>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9_G2 Copyright">
  <p:cSld name="9_G2 Copyright">
    <p:bg>
      <p:bgPr>
        <a:solidFill>
          <a:schemeClr val="lt1"/>
        </a:solidFill>
        <a:effectLst/>
      </p:bgPr>
    </p:bg>
    <p:spTree>
      <p:nvGrpSpPr>
        <p:cNvPr id="1" name="Shape 56"/>
        <p:cNvGrpSpPr/>
        <p:nvPr/>
      </p:nvGrpSpPr>
      <p:grpSpPr>
        <a:xfrm>
          <a:off x="0" y="0"/>
          <a:ext cx="0" cy="0"/>
          <a:chOff x="0" y="0"/>
          <a:chExt cx="0" cy="0"/>
        </a:xfrm>
      </p:grpSpPr>
      <p:pic>
        <p:nvPicPr>
          <p:cNvPr id="57" name="Google Shape;57;p78" descr="A pattern with circles and lines&#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932192"/>
            <a:ext cx="12190413" cy="5925808"/>
          </a:xfrm>
          <a:prstGeom prst="rect">
            <a:avLst/>
          </a:prstGeom>
          <a:noFill/>
          <a:ln>
            <a:noFill/>
          </a:ln>
        </p:spPr>
      </p:pic>
      <p:sp>
        <p:nvSpPr>
          <p:cNvPr id="58" name="Google Shape;58;p78"/>
          <p:cNvSpPr/>
          <p:nvPr/>
        </p:nvSpPr>
        <p:spPr>
          <a:xfrm>
            <a:off x="1668545" y="2356700"/>
            <a:ext cx="1715678" cy="2648931"/>
          </a:xfrm>
          <a:prstGeom prst="ellipse">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 name="Google Shape;59;p78"/>
          <p:cNvSpPr/>
          <p:nvPr/>
        </p:nvSpPr>
        <p:spPr>
          <a:xfrm>
            <a:off x="1310326" y="4873659"/>
            <a:ext cx="2073897" cy="679000"/>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 name="Google Shape;60;p78"/>
          <p:cNvSpPr txBox="1"/>
          <p:nvPr/>
        </p:nvSpPr>
        <p:spPr>
          <a:xfrm>
            <a:off x="1023907" y="1792363"/>
            <a:ext cx="10141011" cy="4247317"/>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0000"/>
                </a:solidFill>
                <a:latin typeface="Calibri"/>
                <a:ea typeface="Calibri"/>
                <a:cs typeface="Calibri"/>
                <a:sym typeface="Calibri"/>
              </a:rPr>
              <a:t>Acknowledgment</a:t>
            </a:r>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Thank you to all the Texas educators and stakeholders who supported the review process and provided feedback. These materials are the result of the work of numerous individuals, and we are deeply grateful for their contributions.</a:t>
            </a:r>
            <a:endParaRPr sz="1800">
              <a:solidFill>
                <a:srgbClr val="000000"/>
              </a:solidFill>
              <a:latin typeface="Calibri"/>
              <a:ea typeface="Calibri"/>
              <a:cs typeface="Calibri"/>
              <a:sym typeface="Calibri"/>
            </a:endParaRPr>
          </a:p>
          <a:p>
            <a:pPr marL="0" marR="0" lvl="0" indent="0" algn="l" rtl="0">
              <a:spcBef>
                <a:spcPts val="0"/>
              </a:spcBef>
              <a:spcAft>
                <a:spcPts val="0"/>
              </a:spcAft>
              <a:buNone/>
            </a:pPr>
            <a:endParaRPr sz="1800">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b="1">
                <a:solidFill>
                  <a:srgbClr val="000000"/>
                </a:solidFill>
                <a:latin typeface="Calibri"/>
                <a:ea typeface="Calibri"/>
                <a:cs typeface="Calibri"/>
                <a:sym typeface="Calibri"/>
              </a:rPr>
              <a:t>Notice</a:t>
            </a:r>
            <a:endParaRPr sz="1800" b="1">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These learning resources have been built for Texas students, aligned to the Texas Essential Knowledge and Skills, and are made available pursuant to Chapter 31, Subchapter B-1 of the Texas Education Code.</a:t>
            </a:r>
            <a:endParaRPr sz="1800">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If you have further questions or to report an error, please email </a:t>
            </a:r>
            <a:r>
              <a:rPr lang="en-US" sz="1800" u="sng">
                <a:solidFill>
                  <a:srgbClr val="000000"/>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openeducationresources@tea.texas.gov</a:t>
            </a:r>
            <a:r>
              <a:rPr lang="en-US" sz="1800">
                <a:solidFill>
                  <a:srgbClr val="000000"/>
                </a:solidFill>
                <a:latin typeface="Calibri"/>
                <a:ea typeface="Calibri"/>
                <a:cs typeface="Calibri"/>
                <a:sym typeface="Calibri"/>
              </a:rPr>
              <a:t>.</a:t>
            </a:r>
            <a:endParaRPr/>
          </a:p>
          <a:p>
            <a:pPr marL="0" marR="0" lvl="0" indent="0" algn="l" rtl="0">
              <a:spcBef>
                <a:spcPts val="0"/>
              </a:spcBef>
              <a:spcAft>
                <a:spcPts val="0"/>
              </a:spcAft>
              <a:buNone/>
            </a:pPr>
            <a:endParaRPr sz="1800">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©2024-2025 Texas Education Agency. Portions of this work are adapted, with permission, from the originals created by and copyright ©2021 Carnegie Learning, Inc. </a:t>
            </a:r>
            <a:endParaRPr/>
          </a:p>
          <a:p>
            <a:pPr marL="0" marR="0" lvl="0" indent="0" algn="l" rtl="0">
              <a:spcBef>
                <a:spcPts val="0"/>
              </a:spcBef>
              <a:spcAft>
                <a:spcPts val="0"/>
              </a:spcAft>
              <a:buNone/>
            </a:pPr>
            <a:endParaRPr sz="1800">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This work is licensed under a Creative Commons Attribution-Non-Commercial-4.0 International License. For information, visit: </a:t>
            </a:r>
            <a:r>
              <a:rPr lang="en-US" sz="1800" u="sng">
                <a:solidFill>
                  <a:srgbClr val="000000"/>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https://creativecommons.org/licenses/by-nc/4.0</a:t>
            </a:r>
            <a:r>
              <a:rPr lang="en-US" sz="1800">
                <a:solidFill>
                  <a:srgbClr val="000000"/>
                </a:solidFill>
                <a:latin typeface="Calibri"/>
                <a:ea typeface="Calibri"/>
                <a:cs typeface="Calibri"/>
                <a:sym typeface="Calibri"/>
              </a:rPr>
              <a:t>. </a:t>
            </a:r>
            <a:endParaRPr/>
          </a:p>
        </p:txBody>
      </p:sp>
      <p:pic>
        <p:nvPicPr>
          <p:cNvPr id="61" name="Google Shape;61;p78" descr="A blue and black logo&#10;&#10;AI-generated content may be incorrect."/>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84963" y="101527"/>
            <a:ext cx="2080268" cy="682524"/>
          </a:xfrm>
          <a:prstGeom prst="rect">
            <a:avLst/>
          </a:prstGeom>
          <a:noFill/>
          <a:ln>
            <a:noFill/>
          </a:ln>
        </p:spPr>
      </p:pic>
      <p:sp>
        <p:nvSpPr>
          <p:cNvPr id="62" name="Google Shape;62;p78"/>
          <p:cNvSpPr txBox="1"/>
          <p:nvPr/>
        </p:nvSpPr>
        <p:spPr>
          <a:xfrm>
            <a:off x="862304" y="69238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Alg I_Back Cover">
  <p:cSld name="Alg I_Back Cover">
    <p:bg>
      <p:bgPr>
        <a:solidFill>
          <a:schemeClr val="lt1"/>
        </a:solidFill>
        <a:effectLst/>
      </p:bgPr>
    </p:bg>
    <p:spTree>
      <p:nvGrpSpPr>
        <p:cNvPr id="1" name="Shape 63"/>
        <p:cNvGrpSpPr/>
        <p:nvPr/>
      </p:nvGrpSpPr>
      <p:grpSpPr>
        <a:xfrm>
          <a:off x="0" y="0"/>
          <a:ext cx="0" cy="0"/>
          <a:chOff x="0" y="0"/>
          <a:chExt cx="0" cy="0"/>
        </a:xfrm>
      </p:grpSpPr>
      <p:pic>
        <p:nvPicPr>
          <p:cNvPr id="64" name="Google Shape;64;p79"/>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4663225"/>
            <a:ext cx="12190413" cy="2194775"/>
          </a:xfrm>
          <a:prstGeom prst="rect">
            <a:avLst/>
          </a:prstGeom>
          <a:noFill/>
          <a:ln>
            <a:noFill/>
          </a:ln>
        </p:spPr>
      </p:pic>
      <p:sp>
        <p:nvSpPr>
          <p:cNvPr id="65" name="Google Shape;65;p79"/>
          <p:cNvSpPr txBox="1">
            <a:spLocks noGrp="1"/>
          </p:cNvSpPr>
          <p:nvPr>
            <p:ph type="body" idx="1"/>
          </p:nvPr>
        </p:nvSpPr>
        <p:spPr>
          <a:xfrm>
            <a:off x="8155889" y="4975063"/>
            <a:ext cx="3431356" cy="414778"/>
          </a:xfrm>
          <a:prstGeom prst="rect">
            <a:avLst/>
          </a:prstGeom>
          <a:solidFill>
            <a:srgbClr val="2B8147"/>
          </a:solidFill>
          <a:ln>
            <a:noFill/>
          </a:ln>
        </p:spPr>
        <p:txBody>
          <a:bodyPr spcFirstLastPara="1" wrap="square" lIns="0" tIns="45700" rIns="0" bIns="45700" anchor="ctr" anchorCtr="0">
            <a:noAutofit/>
          </a:bodyPr>
          <a:lstStyle>
            <a:lvl1pPr marL="457200" marR="0" lvl="0" indent="-228600" algn="ctr"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66" name="Google Shape;66;p79"/>
          <p:cNvGrpSpPr/>
          <p:nvPr/>
        </p:nvGrpSpPr>
        <p:grpSpPr>
          <a:xfrm>
            <a:off x="9053008" y="227306"/>
            <a:ext cx="2910578" cy="1472169"/>
            <a:chOff x="8940726" y="132485"/>
            <a:chExt cx="2910578" cy="1472169"/>
          </a:xfrm>
        </p:grpSpPr>
        <p:pic>
          <p:nvPicPr>
            <p:cNvPr id="67" name="Google Shape;67;p79" descr="A blue and black logo&#10;&#10;AI-generated content may be incorrect."/>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68" name="Google Shape;68;p79"/>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
          <p:nvSpPr>
            <p:cNvPr id="69" name="Google Shape;69;p79"/>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 name="Google Shape;70;p79"/>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a:solidFill>
                    <a:srgbClr val="757070"/>
                  </a:solidFill>
                  <a:latin typeface="Calibri"/>
                  <a:ea typeface="Calibri"/>
                  <a:cs typeface="Calibri"/>
                  <a:sym typeface="Calibri"/>
                </a:rPr>
                <a:t>EDITION 1</a:t>
              </a:r>
              <a:endParaRPr/>
            </a:p>
          </p:txBody>
        </p:sp>
      </p:grpSp>
      <p:sp>
        <p:nvSpPr>
          <p:cNvPr id="71" name="Google Shape;71;p79"/>
          <p:cNvSpPr/>
          <p:nvPr/>
        </p:nvSpPr>
        <p:spPr>
          <a:xfrm rot="10800000" flipH="1">
            <a:off x="0" y="0"/>
            <a:ext cx="2467555" cy="954942"/>
          </a:xfrm>
          <a:prstGeom prst="round1Rect">
            <a:avLst>
              <a:gd name="adj" fmla="val 16667"/>
            </a:avLst>
          </a:prstGeom>
          <a:solidFill>
            <a:srgbClr val="2B81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 name="Google Shape;72;p79"/>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ENGLISH</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Alg I_Cutouts Divider">
  <p:cSld name="Alg I_Cutouts Divider">
    <p:bg>
      <p:bgPr>
        <a:solidFill>
          <a:schemeClr val="lt1"/>
        </a:solidFill>
        <a:effectLst/>
      </p:bgPr>
    </p:bg>
    <p:spTree>
      <p:nvGrpSpPr>
        <p:cNvPr id="1" name="Shape 73"/>
        <p:cNvGrpSpPr/>
        <p:nvPr/>
      </p:nvGrpSpPr>
      <p:grpSpPr>
        <a:xfrm>
          <a:off x="0" y="0"/>
          <a:ext cx="0" cy="0"/>
          <a:chOff x="0" y="0"/>
          <a:chExt cx="0" cy="0"/>
        </a:xfrm>
      </p:grpSpPr>
      <p:sp>
        <p:nvSpPr>
          <p:cNvPr id="74" name="Google Shape;74;p80"/>
          <p:cNvSpPr txBox="1">
            <a:spLocks noGrp="1"/>
          </p:cNvSpPr>
          <p:nvPr>
            <p:ph type="body" idx="1"/>
          </p:nvPr>
        </p:nvSpPr>
        <p:spPr>
          <a:xfrm>
            <a:off x="5171005" y="2395538"/>
            <a:ext cx="1848402" cy="1033462"/>
          </a:xfrm>
          <a:prstGeom prst="rect">
            <a:avLst/>
          </a:prstGeom>
          <a:noFill/>
          <a:ln>
            <a:noFill/>
          </a:ln>
        </p:spPr>
        <p:txBody>
          <a:bodyPr spcFirstLastPara="1" wrap="square" lIns="91425" tIns="45700" rIns="91425" bIns="45700" anchor="t" anchorCtr="0">
            <a:noAutofit/>
          </a:bodyPr>
          <a:lstStyle>
            <a:lvl1pPr marL="457200" marR="0" lvl="0" indent="-704850" algn="l" rtl="0">
              <a:lnSpc>
                <a:spcPct val="90000"/>
              </a:lnSpc>
              <a:spcBef>
                <a:spcPts val="10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1pPr>
            <a:lvl2pPr marL="914400" marR="0" lvl="1"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2pPr>
            <a:lvl3pPr marL="1371600" marR="0" lvl="2"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3pPr>
            <a:lvl4pPr marL="1828800" marR="0" lvl="3"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4pPr>
            <a:lvl5pPr marL="2286000" marR="0" lvl="4"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75" name="Google Shape;75;p80"/>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4663225"/>
            <a:ext cx="12190413" cy="21947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pplication Problem Text">
  <p:cSld name="Application Problem Text">
    <p:spTree>
      <p:nvGrpSpPr>
        <p:cNvPr id="1" name="Shape 76"/>
        <p:cNvGrpSpPr/>
        <p:nvPr/>
      </p:nvGrpSpPr>
      <p:grpSpPr>
        <a:xfrm>
          <a:off x="0" y="0"/>
          <a:ext cx="0" cy="0"/>
          <a:chOff x="0" y="0"/>
          <a:chExt cx="0" cy="0"/>
        </a:xfrm>
      </p:grpSpPr>
      <p:pic>
        <p:nvPicPr>
          <p:cNvPr id="77" name="Google Shape;77;p81"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78" name="Google Shape;78;p81"/>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9" name="Google Shape;79;p81"/>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0" name="Google Shape;80;p81"/>
          <p:cNvSpPr txBox="1">
            <a:spLocks noGrp="1"/>
          </p:cNvSpPr>
          <p:nvPr>
            <p:ph type="title"/>
          </p:nvPr>
        </p:nvSpPr>
        <p:spPr>
          <a:xfrm>
            <a:off x="777240" y="0"/>
            <a:ext cx="11389135" cy="1253765"/>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81" name="Google Shape;81;p8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RDW_Horizontal">
  <p:cSld name="1_RDW_Horizontal">
    <p:spTree>
      <p:nvGrpSpPr>
        <p:cNvPr id="1" name="Shape 82"/>
        <p:cNvGrpSpPr/>
        <p:nvPr/>
      </p:nvGrpSpPr>
      <p:grpSpPr>
        <a:xfrm>
          <a:off x="0" y="0"/>
          <a:ext cx="0" cy="0"/>
          <a:chOff x="0" y="0"/>
          <a:chExt cx="0" cy="0"/>
        </a:xfrm>
      </p:grpSpPr>
      <p:graphicFrame>
        <p:nvGraphicFramePr>
          <p:cNvPr id="83" name="Google Shape;83;p82"/>
          <p:cNvGraphicFramePr/>
          <p:nvPr/>
        </p:nvGraphicFramePr>
        <p:xfrm>
          <a:off x="775252" y="3783769"/>
          <a:ext cx="3000000" cy="3000000"/>
        </p:xfrm>
        <a:graphic>
          <a:graphicData uri="http://schemas.openxmlformats.org/drawingml/2006/table">
            <a:tbl>
              <a:tblPr>
                <a:noFill/>
                <a:tableStyleId>{A49AC34E-657E-4A3B-9C05-DC8BE6C80247}</a:tableStyleId>
              </a:tblPr>
              <a:tblGrid>
                <a:gridCol w="3694050">
                  <a:extLst>
                    <a:ext uri="{9D8B030D-6E8A-4147-A177-3AD203B41FA5}">
                      <a16:colId xmlns:a16="http://schemas.microsoft.com/office/drawing/2014/main" val="20000"/>
                    </a:ext>
                  </a:extLst>
                </a:gridCol>
                <a:gridCol w="3694050">
                  <a:extLst>
                    <a:ext uri="{9D8B030D-6E8A-4147-A177-3AD203B41FA5}">
                      <a16:colId xmlns:a16="http://schemas.microsoft.com/office/drawing/2014/main" val="20001"/>
                    </a:ext>
                  </a:extLst>
                </a:gridCol>
                <a:gridCol w="3694050">
                  <a:extLst>
                    <a:ext uri="{9D8B030D-6E8A-4147-A177-3AD203B41FA5}">
                      <a16:colId xmlns:a16="http://schemas.microsoft.com/office/drawing/2014/main" val="20002"/>
                    </a:ext>
                  </a:extLst>
                </a:gridCol>
              </a:tblGrid>
              <a:tr h="244000">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Read</a:t>
                      </a:r>
                      <a:endParaRPr sz="1800" b="1" u="none" strike="noStrike" cap="none">
                        <a:solidFill>
                          <a:srgbClr val="3A3838"/>
                        </a:solidFill>
                      </a:endParaRPr>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Draw</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Write</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309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84" name="Google Shape;84;p82"/>
          <p:cNvSpPr txBox="1">
            <a:spLocks noGrp="1"/>
          </p:cNvSpPr>
          <p:nvPr>
            <p:ph type="body" idx="1"/>
          </p:nvPr>
        </p:nvSpPr>
        <p:spPr>
          <a:xfrm>
            <a:off x="765313" y="1479938"/>
            <a:ext cx="11060341" cy="20721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200"/>
              <a:buFont typeface="Arial"/>
              <a:buNone/>
              <a:defRPr sz="22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5" name="Google Shape;85;p82"/>
          <p:cNvSpPr txBox="1">
            <a:spLocks noGrp="1"/>
          </p:cNvSpPr>
          <p:nvPr>
            <p:ph type="title"/>
          </p:nvPr>
        </p:nvSpPr>
        <p:spPr>
          <a:xfrm>
            <a:off x="772211" y="0"/>
            <a:ext cx="1141820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86" name="Google Shape;86;p82"/>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luency w/Timer">
  <p:cSld name="Fluency w/Timer">
    <p:spTree>
      <p:nvGrpSpPr>
        <p:cNvPr id="1" name="Shape 87"/>
        <p:cNvGrpSpPr/>
        <p:nvPr/>
      </p:nvGrpSpPr>
      <p:grpSpPr>
        <a:xfrm>
          <a:off x="0" y="0"/>
          <a:ext cx="0" cy="0"/>
          <a:chOff x="0" y="0"/>
          <a:chExt cx="0" cy="0"/>
        </a:xfrm>
      </p:grpSpPr>
      <p:pic>
        <p:nvPicPr>
          <p:cNvPr id="88" name="Google Shape;88;p83"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89" name="Google Shape;89;p83"/>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0" name="Google Shape;90;p83"/>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1" name="Google Shape;91;p83"/>
          <p:cNvSpPr txBox="1">
            <a:spLocks noGrp="1"/>
          </p:cNvSpPr>
          <p:nvPr>
            <p:ph type="title"/>
          </p:nvPr>
        </p:nvSpPr>
        <p:spPr>
          <a:xfrm>
            <a:off x="777240" y="7968"/>
            <a:ext cx="11413173" cy="12694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3A3838"/>
              </a:buClr>
              <a:buSzPts val="4400"/>
              <a:buFont typeface="Calibri"/>
              <a:buNone/>
              <a:defRPr sz="4400" b="1">
                <a:solidFill>
                  <a:srgbClr val="3A3838"/>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92" name="Google Shape;92;p8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cept Development">
  <p:cSld name="Concept Development">
    <p:spTree>
      <p:nvGrpSpPr>
        <p:cNvPr id="1" name="Shape 93"/>
        <p:cNvGrpSpPr/>
        <p:nvPr/>
      </p:nvGrpSpPr>
      <p:grpSpPr>
        <a:xfrm>
          <a:off x="0" y="0"/>
          <a:ext cx="0" cy="0"/>
          <a:chOff x="0" y="0"/>
          <a:chExt cx="0" cy="0"/>
        </a:xfrm>
      </p:grpSpPr>
      <p:sp>
        <p:nvSpPr>
          <p:cNvPr id="94" name="Google Shape;94;p8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5" name="Google Shape;95;p84"/>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96" name="Google Shape;96;p84"/>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cept Development with Timer">
  <p:cSld name="Concept Development with Timer">
    <p:spTree>
      <p:nvGrpSpPr>
        <p:cNvPr id="1" name="Shape 97"/>
        <p:cNvGrpSpPr/>
        <p:nvPr/>
      </p:nvGrpSpPr>
      <p:grpSpPr>
        <a:xfrm>
          <a:off x="0" y="0"/>
          <a:ext cx="0" cy="0"/>
          <a:chOff x="0" y="0"/>
          <a:chExt cx="0" cy="0"/>
        </a:xfrm>
      </p:grpSpPr>
      <p:pic>
        <p:nvPicPr>
          <p:cNvPr id="98" name="Google Shape;98;p85"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99" name="Google Shape;99;p85"/>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0" name="Google Shape;100;p85"/>
          <p:cNvSpPr txBox="1">
            <a:spLocks noGrp="1"/>
          </p:cNvSpPr>
          <p:nvPr>
            <p:ph type="body" idx="2"/>
          </p:nvPr>
        </p:nvSpPr>
        <p:spPr>
          <a:xfrm>
            <a:off x="11127570" y="6036181"/>
            <a:ext cx="654121"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1" name="Google Shape;101;p85"/>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02" name="Google Shape;102;p85"/>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roblem Set with Text">
  <p:cSld name="Problem Set with Text">
    <p:spTree>
      <p:nvGrpSpPr>
        <p:cNvPr id="1" name="Shape 103"/>
        <p:cNvGrpSpPr/>
        <p:nvPr/>
      </p:nvGrpSpPr>
      <p:grpSpPr>
        <a:xfrm>
          <a:off x="0" y="0"/>
          <a:ext cx="0" cy="0"/>
          <a:chOff x="0" y="0"/>
          <a:chExt cx="0" cy="0"/>
        </a:xfrm>
      </p:grpSpPr>
      <p:pic>
        <p:nvPicPr>
          <p:cNvPr id="104" name="Google Shape;104;p86"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105" name="Google Shape;105;p86"/>
          <p:cNvSpPr txBox="1">
            <a:spLocks noGrp="1"/>
          </p:cNvSpPr>
          <p:nvPr>
            <p:ph type="body" idx="1"/>
          </p:nvPr>
        </p:nvSpPr>
        <p:spPr>
          <a:xfrm>
            <a:off x="11140001" y="6036181"/>
            <a:ext cx="622969"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6" name="Google Shape;106;p86"/>
          <p:cNvSpPr txBox="1">
            <a:spLocks noGrp="1"/>
          </p:cNvSpPr>
          <p:nvPr>
            <p:ph type="title"/>
          </p:nvPr>
        </p:nvSpPr>
        <p:spPr>
          <a:xfrm>
            <a:off x="777240" y="1"/>
            <a:ext cx="11407898"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7" name="Google Shape;107;p86"/>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08" name="Google Shape;108;p8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tudent Debrief">
  <p:cSld name="Student Debrief">
    <p:spTree>
      <p:nvGrpSpPr>
        <p:cNvPr id="1" name="Shape 109"/>
        <p:cNvGrpSpPr/>
        <p:nvPr/>
      </p:nvGrpSpPr>
      <p:grpSpPr>
        <a:xfrm>
          <a:off x="0" y="0"/>
          <a:ext cx="0" cy="0"/>
          <a:chOff x="0" y="0"/>
          <a:chExt cx="0" cy="0"/>
        </a:xfrm>
      </p:grpSpPr>
      <p:pic>
        <p:nvPicPr>
          <p:cNvPr id="110" name="Google Shape;110;p87"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111" name="Google Shape;111;p87"/>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dk1"/>
              </a:buClr>
              <a:buSzPts val="2800"/>
              <a:buFont typeface="Arial"/>
              <a:buChar char="•"/>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2" name="Google Shape;112;p87"/>
          <p:cNvSpPr txBox="1">
            <a:spLocks noGrp="1"/>
          </p:cNvSpPr>
          <p:nvPr>
            <p:ph type="body" idx="2"/>
          </p:nvPr>
        </p:nvSpPr>
        <p:spPr>
          <a:xfrm>
            <a:off x="11127570" y="6036181"/>
            <a:ext cx="64533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3" name="Google Shape;113;p87"/>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14" name="Google Shape;114;p8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Exit Ticket">
  <p:cSld name="Exit Ticket">
    <p:spTree>
      <p:nvGrpSpPr>
        <p:cNvPr id="1" name="Shape 115"/>
        <p:cNvGrpSpPr/>
        <p:nvPr/>
      </p:nvGrpSpPr>
      <p:grpSpPr>
        <a:xfrm>
          <a:off x="0" y="0"/>
          <a:ext cx="0" cy="0"/>
          <a:chOff x="0" y="0"/>
          <a:chExt cx="0" cy="0"/>
        </a:xfrm>
      </p:grpSpPr>
      <p:pic>
        <p:nvPicPr>
          <p:cNvPr id="116" name="Google Shape;116;p88"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117" name="Google Shape;117;p88"/>
          <p:cNvSpPr txBox="1">
            <a:spLocks noGrp="1"/>
          </p:cNvSpPr>
          <p:nvPr>
            <p:ph type="body" idx="1"/>
          </p:nvPr>
        </p:nvSpPr>
        <p:spPr>
          <a:xfrm>
            <a:off x="11127571" y="6036181"/>
            <a:ext cx="63540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8" name="Google Shape;118;p88"/>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1000"/>
              </a:spcBef>
              <a:spcAft>
                <a:spcPts val="0"/>
              </a:spcAft>
              <a:buClr>
                <a:schemeClr val="dk1"/>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9" name="Google Shape;119;p8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20" name="Google Shape;120;p8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1.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31.png"/><Relationship Id="rId4" Type="http://schemas.openxmlformats.org/officeDocument/2006/relationships/image" Target="../media/image28.png"/></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2.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32.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7.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4.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9.xml"/><Relationship Id="rId1" Type="http://schemas.openxmlformats.org/officeDocument/2006/relationships/slideLayout" Target="../slideLayouts/slideLayout3.xml"/><Relationship Id="rId5" Type="http://schemas.openxmlformats.org/officeDocument/2006/relationships/image" Target="../media/image39.png"/><Relationship Id="rId4" Type="http://schemas.openxmlformats.org/officeDocument/2006/relationships/image" Target="../media/image38.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1"/>
          <p:cNvSpPr txBox="1">
            <a:spLocks noGrp="1"/>
          </p:cNvSpPr>
          <p:nvPr>
            <p:ph type="title"/>
          </p:nvPr>
        </p:nvSpPr>
        <p:spPr>
          <a:xfrm>
            <a:off x="-1590" y="1601919"/>
            <a:ext cx="12192003" cy="182708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236739"/>
              </a:buClr>
              <a:buSzPts val="6000"/>
              <a:buFont typeface="Arial"/>
              <a:buNone/>
            </a:pPr>
            <a:r>
              <a:rPr lang="en-US" sz="6000" b="1" dirty="0">
                <a:solidFill>
                  <a:srgbClr val="236739"/>
                </a:solidFill>
                <a:latin typeface="Calibri"/>
                <a:ea typeface="Calibri"/>
                <a:cs typeface="Calibri"/>
                <a:sym typeface="Calibri"/>
              </a:rPr>
              <a:t>Transforming Linear Functions</a:t>
            </a:r>
            <a:endParaRPr dirty="0"/>
          </a:p>
        </p:txBody>
      </p:sp>
      <p:sp>
        <p:nvSpPr>
          <p:cNvPr id="463" name="Google Shape;463;p1"/>
          <p:cNvSpPr txBox="1">
            <a:spLocks noGrp="1"/>
          </p:cNvSpPr>
          <p:nvPr>
            <p:ph type="body" idx="2"/>
          </p:nvPr>
        </p:nvSpPr>
        <p:spPr>
          <a:xfrm>
            <a:off x="-1590" y="3641189"/>
            <a:ext cx="12190413" cy="82245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36739"/>
              </a:buClr>
              <a:buSzPts val="4400"/>
              <a:buNone/>
            </a:pPr>
            <a:r>
              <a:rPr lang="en-US"/>
              <a:t>Algebra I | Module 2 | Topic 2 | Lesson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
          <p:cNvSpPr txBox="1">
            <a:spLocks noGrp="1"/>
          </p:cNvSpPr>
          <p:nvPr>
            <p:ph type="title"/>
          </p:nvPr>
        </p:nvSpPr>
        <p:spPr>
          <a:xfrm>
            <a:off x="1587" y="13855"/>
            <a:ext cx="6094413" cy="926757"/>
          </a:xfrm>
          <a:prstGeom prst="rect">
            <a:avLst/>
          </a:prstGeom>
          <a:noFill/>
          <a:ln>
            <a:noFill/>
          </a:ln>
        </p:spPr>
        <p:txBody>
          <a:bodyPr spcFirstLastPara="1" wrap="square" lIns="457200" tIns="45700" rIns="91425" bIns="45700" anchor="ctr" anchorCtr="0">
            <a:noAutofit/>
          </a:bodyPr>
          <a:lstStyle/>
          <a:p>
            <a:pPr marL="0" lvl="0" indent="0" algn="l" rtl="0">
              <a:lnSpc>
                <a:spcPct val="90000"/>
              </a:lnSpc>
              <a:spcBef>
                <a:spcPts val="0"/>
              </a:spcBef>
              <a:spcAft>
                <a:spcPts val="0"/>
              </a:spcAft>
              <a:buClr>
                <a:schemeClr val="lt1"/>
              </a:buClr>
              <a:buSzPts val="4000"/>
              <a:buFont typeface="Calibri"/>
              <a:buNone/>
            </a:pPr>
            <a:r>
              <a:rPr lang="en-US" sz="4000"/>
              <a:t>Objectives</a:t>
            </a:r>
            <a:endParaRPr/>
          </a:p>
        </p:txBody>
      </p:sp>
      <p:sp>
        <p:nvSpPr>
          <p:cNvPr id="3" name="Text Placeholder 2">
            <a:extLst>
              <a:ext uri="{FF2B5EF4-FFF2-40B4-BE49-F238E27FC236}">
                <a16:creationId xmlns:a16="http://schemas.microsoft.com/office/drawing/2014/main" id="{B2EEEC91-34A7-62AC-491B-12E0AC349D8D}"/>
              </a:ext>
            </a:extLst>
          </p:cNvPr>
          <p:cNvSpPr>
            <a:spLocks noGrp="1"/>
          </p:cNvSpPr>
          <p:nvPr>
            <p:ph type="body" idx="1"/>
          </p:nvPr>
        </p:nvSpPr>
        <p:spPr>
          <a:xfrm>
            <a:off x="836615" y="1596189"/>
            <a:ext cx="9831386" cy="4520108"/>
          </a:xfrm>
        </p:spPr>
        <p:txBody>
          <a:bodyPr/>
          <a:lstStyle/>
          <a:p>
            <a:pPr indent="-457200" algn="l">
              <a:buSzPct val="100000"/>
              <a:buFont typeface="Arial" panose="020B0604020202020204" pitchFamily="34" charset="0"/>
              <a:buChar char="•"/>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Determine the effects on the graph of a linear function when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is replaced by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or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indent="-457200" algn="l">
              <a:buSzPct val="100000"/>
              <a:buFont typeface="Arial" panose="020B0604020202020204" pitchFamily="34" charset="0"/>
              <a:buChar char="•"/>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Graph linear function transformations expressed symbolically and show intercepts.</a:t>
            </a:r>
          </a:p>
          <a:p>
            <a:pPr indent="-457200" algn="l">
              <a:buSzPct val="100000"/>
              <a:buFont typeface="Arial" panose="020B0604020202020204" pitchFamily="34" charset="0"/>
              <a:buChar char="•"/>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Identify key characteristics of the graphs of linear functions, such as slope and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y</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-intercept, in terms of quantities from a verbal description.</a:t>
            </a:r>
          </a:p>
          <a:p>
            <a:pPr indent="-457200" algn="l">
              <a:buSzPct val="100000"/>
              <a:buFont typeface="Arial" panose="020B0604020202020204" pitchFamily="34" charset="0"/>
              <a:buChar char="•"/>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Prove that a translated line and its pre-image have the same slope and are, therefore, parallel.</a:t>
            </a:r>
          </a:p>
          <a:p>
            <a:pPr indent="-457200" algn="l">
              <a:buSzPct val="100000"/>
              <a:buFont typeface="Arial" panose="020B0604020202020204" pitchFamily="34" charset="0"/>
              <a:buChar char="•"/>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Write equations of parallel lines.</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Key Term</a:t>
            </a:r>
            <a:endParaRPr dirty="0"/>
          </a:p>
        </p:txBody>
      </p:sp>
      <p:sp>
        <p:nvSpPr>
          <p:cNvPr id="5" name="Text Placeholder 4">
            <a:extLst>
              <a:ext uri="{FF2B5EF4-FFF2-40B4-BE49-F238E27FC236}">
                <a16:creationId xmlns:a16="http://schemas.microsoft.com/office/drawing/2014/main" id="{DE2FAB43-ED95-9FE3-3D33-4AE3AE7E3CF8}"/>
              </a:ext>
            </a:extLst>
          </p:cNvPr>
          <p:cNvSpPr>
            <a:spLocks noGrp="1"/>
          </p:cNvSpPr>
          <p:nvPr>
            <p:ph type="body" idx="1"/>
          </p:nvPr>
        </p:nvSpPr>
        <p:spPr>
          <a:xfrm>
            <a:off x="777240" y="1559140"/>
            <a:ext cx="10590848" cy="1263192"/>
          </a:xfrm>
        </p:spPr>
        <p:txBody>
          <a:bodyPr/>
          <a:lstStyle/>
          <a:p>
            <a:pPr marL="0" indent="4763">
              <a:spcBef>
                <a:spcPts val="0"/>
              </a:spcBef>
            </a:pPr>
            <a:r>
              <a:rPr lang="en-US" b="1" dirty="0">
                <a:solidFill>
                  <a:srgbClr val="000000"/>
                </a:solidFill>
              </a:rPr>
              <a:t>parent function: </a:t>
            </a:r>
            <a:r>
              <a:rPr lang="en-US" dirty="0"/>
              <a:t>the simplest function of its type </a:t>
            </a:r>
            <a:endParaRPr lang="en-US" b="0" i="0" u="none" dirty="0">
              <a:solidFill>
                <a:srgbClr val="000000"/>
              </a:solidFill>
            </a:endParaRPr>
          </a:p>
        </p:txBody>
      </p:sp>
      <p:sp>
        <p:nvSpPr>
          <p:cNvPr id="6" name="Text Placeholder 4">
            <a:extLst>
              <a:ext uri="{FF2B5EF4-FFF2-40B4-BE49-F238E27FC236}">
                <a16:creationId xmlns:a16="http://schemas.microsoft.com/office/drawing/2014/main" id="{C86FBC3D-4099-8728-62D2-C600D2D19F8B}"/>
              </a:ext>
            </a:extLst>
          </p:cNvPr>
          <p:cNvSpPr txBox="1">
            <a:spLocks/>
          </p:cNvSpPr>
          <p:nvPr/>
        </p:nvSpPr>
        <p:spPr>
          <a:xfrm>
            <a:off x="777240" y="3428999"/>
            <a:ext cx="10590848" cy="123826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rgbClr val="3A3838"/>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4763">
              <a:spcBef>
                <a:spcPts val="0"/>
              </a:spcBef>
            </a:pPr>
            <a:r>
              <a:rPr lang="en-US" b="1" dirty="0">
                <a:solidFill>
                  <a:srgbClr val="000000"/>
                </a:solidFill>
              </a:rPr>
              <a:t>Example </a:t>
            </a:r>
            <a:endParaRPr lang="en-US" dirty="0"/>
          </a:p>
          <a:p>
            <a:pPr marL="0" indent="4763">
              <a:spcBef>
                <a:spcPts val="0"/>
              </a:spcBef>
            </a:pPr>
            <a:endParaRPr lang="en-US" dirty="0">
              <a:solidFill>
                <a:srgbClr val="000000"/>
              </a:solidFill>
            </a:endParaRPr>
          </a:p>
          <a:p>
            <a:pPr marL="457200" lvl="1" indent="0">
              <a:spcBef>
                <a:spcPts val="0"/>
              </a:spcBef>
              <a:buNone/>
            </a:pP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is the parent function for the linear function family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3">
          <a:extLst>
            <a:ext uri="{FF2B5EF4-FFF2-40B4-BE49-F238E27FC236}">
              <a16:creationId xmlns:a16="http://schemas.microsoft.com/office/drawing/2014/main" id="{A0A105E1-1C81-AFF2-43C5-382D8CB7DB8F}"/>
            </a:ext>
          </a:extLst>
        </p:cNvPr>
        <p:cNvGrpSpPr/>
        <p:nvPr/>
      </p:nvGrpSpPr>
      <p:grpSpPr>
        <a:xfrm>
          <a:off x="0" y="0"/>
          <a:ext cx="0" cy="0"/>
          <a:chOff x="0" y="0"/>
          <a:chExt cx="0" cy="0"/>
        </a:xfrm>
      </p:grpSpPr>
      <p:sp>
        <p:nvSpPr>
          <p:cNvPr id="484" name="Google Shape;484;p4">
            <a:extLst>
              <a:ext uri="{FF2B5EF4-FFF2-40B4-BE49-F238E27FC236}">
                <a16:creationId xmlns:a16="http://schemas.microsoft.com/office/drawing/2014/main" id="{104053DC-5CDF-B0EF-AB81-3DC9F953819F}"/>
              </a:ext>
            </a:extLst>
          </p:cNvPr>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Essential Question </a:t>
            </a:r>
            <a:r>
              <a:rPr lang="en-US" sz="2000" b="1" dirty="0">
                <a:solidFill>
                  <a:schemeClr val="bg1"/>
                </a:solidFill>
              </a:rPr>
              <a:t>(1 of 3)</a:t>
            </a:r>
            <a:endParaRPr dirty="0">
              <a:solidFill>
                <a:schemeClr val="bg1"/>
              </a:solidFill>
            </a:endParaRPr>
          </a:p>
        </p:txBody>
      </p:sp>
      <p:sp>
        <p:nvSpPr>
          <p:cNvPr id="2" name="Text Placeholder 4">
            <a:extLst>
              <a:ext uri="{FF2B5EF4-FFF2-40B4-BE49-F238E27FC236}">
                <a16:creationId xmlns:a16="http://schemas.microsoft.com/office/drawing/2014/main" id="{88DE4603-608D-686E-77CD-5F6EF8348709}"/>
              </a:ext>
            </a:extLst>
          </p:cNvPr>
          <p:cNvSpPr>
            <a:spLocks noGrp="1"/>
          </p:cNvSpPr>
          <p:nvPr>
            <p:ph type="body" idx="1"/>
          </p:nvPr>
        </p:nvSpPr>
        <p:spPr>
          <a:xfrm>
            <a:off x="777240" y="1559139"/>
            <a:ext cx="10590848" cy="4609049"/>
          </a:xfrm>
        </p:spPr>
        <p:txBody>
          <a:bodyPr/>
          <a:lstStyle/>
          <a:p>
            <a:pPr marL="4763" indent="-4763" algn="l">
              <a:spcBef>
                <a:spcPts val="0"/>
              </a:spcBef>
            </a:pPr>
            <a:r>
              <a:rPr lang="en-US" b="0" i="0" u="none" strike="noStrike" baseline="0" dirty="0">
                <a:latin typeface="Calibri" panose="020F0502020204030204" pitchFamily="34" charset="0"/>
                <a:ea typeface="Calibri" panose="020F0502020204030204" pitchFamily="34" charset="0"/>
                <a:cs typeface="Calibri" panose="020F0502020204030204" pitchFamily="34" charset="0"/>
              </a:rPr>
              <a:t>You have learned about linear functions and their characteristics, including slope and </a:t>
            </a:r>
            <a:r>
              <a:rPr lang="en-US" b="0" i="1" u="none" strike="noStrike" baseline="0" dirty="0">
                <a:latin typeface="Calibri" panose="020F0502020204030204" pitchFamily="34" charset="0"/>
                <a:ea typeface="Calibri" panose="020F0502020204030204" pitchFamily="34" charset="0"/>
                <a:cs typeface="Calibri" panose="020F0502020204030204" pitchFamily="34" charset="0"/>
              </a:rPr>
              <a:t>y</a:t>
            </a:r>
            <a:r>
              <a:rPr lang="en-US" b="0" i="0" u="none" strike="noStrike" baseline="0" dirty="0">
                <a:latin typeface="Calibri" panose="020F0502020204030204" pitchFamily="34" charset="0"/>
                <a:ea typeface="Calibri" panose="020F0502020204030204" pitchFamily="34" charset="0"/>
                <a:cs typeface="Calibri" panose="020F0502020204030204" pitchFamily="34" charset="0"/>
              </a:rPr>
              <a:t>-intercept.</a:t>
            </a:r>
          </a:p>
          <a:p>
            <a:pPr marL="4763" indent="-4763" algn="l">
              <a:spcBef>
                <a:spcPts val="0"/>
              </a:spcBef>
            </a:pP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4763" indent="-4763" algn="l">
              <a:spcBef>
                <a:spcPts val="0"/>
              </a:spcBef>
            </a:pPr>
            <a:endParaRPr lang="en-US" b="0" i="0" u="none"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4763" indent="-4763" algn="l">
              <a:spcBef>
                <a:spcPts val="0"/>
              </a:spcBef>
            </a:pP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4763" algn="l"/>
            <a:r>
              <a:rPr lang="en-US" b="0" i="0" u="none" strike="noStrike" baseline="0" dirty="0">
                <a:latin typeface="Calibri" panose="020F0502020204030204" pitchFamily="34" charset="0"/>
                <a:ea typeface="Calibri" panose="020F0502020204030204" pitchFamily="34" charset="0"/>
                <a:cs typeface="Calibri" panose="020F0502020204030204" pitchFamily="34" charset="0"/>
              </a:rPr>
              <a:t>How can you transform a function? What effects do different transformations have on the characteristics of linear functions?</a:t>
            </a:r>
            <a:endParaRPr lang="en-US" b="0" i="0" u="none"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27046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5"/>
          <p:cNvSpPr txBox="1">
            <a:spLocks noGrp="1"/>
          </p:cNvSpPr>
          <p:nvPr>
            <p:ph type="title"/>
          </p:nvPr>
        </p:nvSpPr>
        <p:spPr>
          <a:xfrm>
            <a:off x="838200" y="-457200"/>
            <a:ext cx="10514013" cy="4572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b="0" i="0" u="none" strike="noStrike" cap="none">
                <a:solidFill>
                  <a:schemeClr val="lt2"/>
                </a:solidFill>
                <a:latin typeface="Calibri"/>
                <a:ea typeface="Calibri"/>
                <a:cs typeface="Calibri"/>
                <a:sym typeface="Calibri"/>
              </a:rPr>
              <a:t>Day 1</a:t>
            </a:r>
            <a:endParaRPr/>
          </a:p>
        </p:txBody>
      </p:sp>
      <p:sp>
        <p:nvSpPr>
          <p:cNvPr id="492" name="Google Shape;492;p5"/>
          <p:cNvSpPr txBox="1">
            <a:spLocks noGrp="1"/>
          </p:cNvSpPr>
          <p:nvPr>
            <p:ph type="body" idx="1"/>
          </p:nvPr>
        </p:nvSpPr>
        <p:spPr>
          <a:xfrm>
            <a:off x="6569242" y="2832927"/>
            <a:ext cx="999215" cy="107156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7500"/>
              <a:buNone/>
            </a:pPr>
            <a:r>
              <a:rPr lang="en-US" sz="7500" b="1" dirty="0">
                <a:solidFill>
                  <a:srgbClr val="000000"/>
                </a:solidFill>
                <a:latin typeface="Calibri"/>
                <a:ea typeface="Calibri"/>
                <a:cs typeface="Calibri"/>
                <a:sym typeface="Calibri"/>
              </a:rPr>
              <a:t>1</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6"/>
          <p:cNvSpPr txBox="1">
            <a:spLocks noGrp="1"/>
          </p:cNvSpPr>
          <p:nvPr>
            <p:ph type="title"/>
          </p:nvPr>
        </p:nvSpPr>
        <p:spPr>
          <a:xfrm>
            <a:off x="838200" y="-336884"/>
            <a:ext cx="10514013" cy="336884"/>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dirty="0">
                <a:solidFill>
                  <a:schemeClr val="lt2"/>
                </a:solidFill>
                <a:latin typeface="Calibri"/>
                <a:ea typeface="Calibri"/>
                <a:cs typeface="Calibri"/>
                <a:sym typeface="Calibri"/>
              </a:rPr>
              <a:t>Getting Started</a:t>
            </a:r>
            <a:endParaRPr dirty="0"/>
          </a:p>
        </p:txBody>
      </p:sp>
      <p:sp>
        <p:nvSpPr>
          <p:cNvPr id="499" name="Google Shape;499;p6" descr="15 to 20 minutes"/>
          <p:cNvSpPr txBox="1">
            <a:spLocks noGrp="1"/>
          </p:cNvSpPr>
          <p:nvPr>
            <p:ph type="body" idx="1"/>
          </p:nvPr>
        </p:nvSpPr>
        <p:spPr>
          <a:xfrm>
            <a:off x="10623011" y="5774424"/>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15–20</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7"/>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Returning to Transformation Station </a:t>
            </a:r>
            <a:r>
              <a:rPr lang="en-US" sz="2000" b="1" dirty="0">
                <a:solidFill>
                  <a:schemeClr val="bg1"/>
                </a:solidFill>
              </a:rPr>
              <a:t>(1 of 8)</a:t>
            </a:r>
            <a:endParaRPr dirty="0">
              <a:solidFill>
                <a:schemeClr val="bg1"/>
              </a:solidFill>
            </a:endParaRPr>
          </a:p>
        </p:txBody>
      </p:sp>
      <p:pic>
        <p:nvPicPr>
          <p:cNvPr id="507" name="Google Shape;507;p7" descr="A graph of line segment A B on the coordinate plane. The line segment rises from left to right, from point A at (negative 8, negative 8) to point B at (8, 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56996" y="1616140"/>
            <a:ext cx="3937863" cy="4049312"/>
          </a:xfrm>
          <a:prstGeom prst="rect">
            <a:avLst/>
          </a:prstGeom>
          <a:noFill/>
          <a:ln>
            <a:noFill/>
          </a:ln>
        </p:spPr>
      </p:pic>
      <mc:AlternateContent xmlns:mc="http://schemas.openxmlformats.org/markup-compatibility/2006" xmlns:a14="http://schemas.microsoft.com/office/drawing/2010/main">
        <mc:Choice Requires="a14">
          <p:sp>
            <p:nvSpPr>
              <p:cNvPr id="508" name="Google Shape;508;p7"/>
              <p:cNvSpPr txBox="1"/>
              <p:nvPr/>
            </p:nvSpPr>
            <p:spPr>
              <a:xfrm>
                <a:off x="4740442" y="1616140"/>
                <a:ext cx="7223760" cy="4786783"/>
              </a:xfrm>
              <a:prstGeom prst="rect">
                <a:avLst/>
              </a:prstGeom>
              <a:noFill/>
              <a:ln>
                <a:noFill/>
              </a:ln>
            </p:spPr>
            <p:txBody>
              <a:bodyPr spcFirstLastPara="1" wrap="square" lIns="91425" tIns="45700" rIns="91425" bIns="45700" anchor="t" anchorCtr="0">
                <a:spAutoFit/>
              </a:bodyPr>
              <a:lstStyle/>
              <a:p>
                <a:pPr marR="0" lvl="0" algn="l" rtl="0">
                  <a:spcBef>
                    <a:spcPts val="0"/>
                  </a:spcBef>
                  <a:spcAft>
                    <a:spcPts val="1800"/>
                  </a:spcAft>
                  <a:buClr>
                    <a:srgbClr val="000000"/>
                  </a:buClr>
                  <a:buSzPts val="2400"/>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Consider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𝐴𝐵</m:t>
                        </m:r>
                      </m:e>
                    </m:acc>
                  </m:oMath>
                </a14:m>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with coordinates </a:t>
                </a:r>
                <a14:m>
                  <m:oMath xmlns:m="http://schemas.openxmlformats.org/officeDocument/2006/math">
                    <m:r>
                      <a:rPr lang="en-US" sz="2800" b="0" i="1" smtClean="0">
                        <a:solidFill>
                          <a:srgbClr val="000000"/>
                        </a:solidFill>
                        <a:latin typeface="Cambria Math" panose="02040503050406030204" pitchFamily="18" charset="0"/>
                        <a:ea typeface="Calibri"/>
                        <a:cs typeface="Calibri"/>
                        <a:sym typeface="Calibri"/>
                      </a:rPr>
                      <m:t>𝐴</m:t>
                    </m:r>
                    <m:d>
                      <m:dPr>
                        <m:ctrlPr>
                          <a:rPr lang="en-US" sz="2800" b="0" i="1" smtClean="0">
                            <a:solidFill>
                              <a:srgbClr val="000000"/>
                            </a:solidFill>
                            <a:latin typeface="Cambria Math" panose="02040503050406030204" pitchFamily="18" charset="0"/>
                            <a:ea typeface="Calibri"/>
                            <a:cs typeface="Calibri"/>
                            <a:sym typeface="Calibri"/>
                          </a:rPr>
                        </m:ctrlPr>
                      </m:dPr>
                      <m:e>
                        <m:r>
                          <a:rPr lang="en-US" sz="2800" b="0" i="1" smtClean="0">
                            <a:solidFill>
                              <a:srgbClr val="000000"/>
                            </a:solidFill>
                            <a:latin typeface="Cambria Math" panose="02040503050406030204" pitchFamily="18" charset="0"/>
                            <a:ea typeface="Calibri"/>
                            <a:cs typeface="Calibri"/>
                            <a:sym typeface="Calibri"/>
                          </a:rPr>
                          <m:t>−8, −8</m:t>
                        </m:r>
                      </m:e>
                    </m:d>
                  </m:oMath>
                </a14:m>
                <a:br>
                  <a:rPr lang="en-US" sz="2800" b="0" dirty="0">
                    <a:solidFill>
                      <a:srgbClr val="000000"/>
                    </a:solidFill>
                    <a:latin typeface="Calibri" panose="020F0502020204030204" pitchFamily="34" charset="0"/>
                    <a:ea typeface="Calibri"/>
                    <a:cs typeface="Calibri"/>
                    <a:sym typeface="Calibri"/>
                  </a:rPr>
                </a:b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and </a:t>
                </a:r>
                <a14:m>
                  <m:oMath xmlns:m="http://schemas.openxmlformats.org/officeDocument/2006/math">
                    <m:r>
                      <a:rPr lang="en-US" sz="2800" b="0" i="1" smtClean="0">
                        <a:solidFill>
                          <a:srgbClr val="000000"/>
                        </a:solidFill>
                        <a:latin typeface="Cambria Math" panose="02040503050406030204" pitchFamily="18" charset="0"/>
                        <a:ea typeface="Calibri"/>
                        <a:cs typeface="Calibri"/>
                        <a:sym typeface="Calibri"/>
                      </a:rPr>
                      <m:t>𝐵</m:t>
                    </m:r>
                    <m:r>
                      <a:rPr lang="en-US" sz="2800" b="0" i="1" smtClean="0">
                        <a:solidFill>
                          <a:srgbClr val="000000"/>
                        </a:solidFill>
                        <a:latin typeface="Cambria Math" panose="02040503050406030204" pitchFamily="18" charset="0"/>
                        <a:ea typeface="Calibri"/>
                        <a:cs typeface="Calibri"/>
                        <a:sym typeface="Calibri"/>
                      </a:rPr>
                      <m:t>(8, 8)</m:t>
                    </m:r>
                  </m:oMath>
                </a14:m>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p>
              <a:p>
                <a:pPr marR="0" lvl="0" algn="l" rtl="0">
                  <a:spcBef>
                    <a:spcPts val="0"/>
                  </a:spcBef>
                  <a:spcAft>
                    <a:spcPts val="1200"/>
                  </a:spcAft>
                  <a:buClr>
                    <a:srgbClr val="000000"/>
                  </a:buClr>
                  <a:buSzPts val="2400"/>
                </a:pPr>
                <a:r>
                  <a:rPr lang="en-US" sz="2800" dirty="0">
                    <a:latin typeface="Calibri" panose="020F0502020204030204" pitchFamily="34" charset="0"/>
                    <a:ea typeface="Calibri" panose="020F0502020204030204" pitchFamily="34" charset="0"/>
                    <a:cs typeface="Calibri" panose="020F0502020204030204" pitchFamily="34" charset="0"/>
                    <a:sym typeface="Calibri"/>
                  </a:rPr>
                  <a:t>Follow your teacher’s instructions to copy this line segment on a coordinate plane on the floor of your classroom, with different students standing at different points on the line segment.</a:t>
                </a:r>
                <a:endPar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457200" marR="0" lvl="0" indent="-457200" algn="l" rtl="0">
                  <a:spcBef>
                    <a:spcPts val="0"/>
                  </a:spcBef>
                  <a:spcAft>
                    <a:spcPts val="0"/>
                  </a:spcAft>
                  <a:buClr>
                    <a:srgbClr val="000000"/>
                  </a:buClr>
                  <a:buSzPct val="100000"/>
                  <a:buFont typeface="Calibri"/>
                  <a:buAutoNum type="arabicPeriod"/>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Move on the coordinate plane to translate the entire line segment up 4 units and then down 4 units. Describe how the student “points” move.</a:t>
                </a:r>
                <a:endParaRPr sz="2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08" name="Google Shape;508;p7"/>
              <p:cNvSpPr txBox="1">
                <a:spLocks noRot="1" noChangeAspect="1" noMove="1" noResize="1" noEditPoints="1" noAdjustHandles="1" noChangeArrowheads="1" noChangeShapeType="1" noTextEdit="1"/>
              </p:cNvSpPr>
              <p:nvPr/>
            </p:nvSpPr>
            <p:spPr>
              <a:xfrm>
                <a:off x="4740442" y="1616140"/>
                <a:ext cx="7223760" cy="4786783"/>
              </a:xfrm>
              <a:prstGeom prst="rect">
                <a:avLst/>
              </a:prstGeom>
              <a:blipFill>
                <a:blip r:embed="rId4"/>
                <a:stretch>
                  <a:fillRect l="-1772" t="-1146" r="-759" b="-2675"/>
                </a:stretch>
              </a:blipFill>
              <a:ln>
                <a:noFill/>
              </a:ln>
            </p:spPr>
            <p:txBody>
              <a:bodyPr/>
              <a:lstStyle/>
              <a:p>
                <a:r>
                  <a:rPr 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Returning to Transformation Station </a:t>
            </a:r>
            <a:r>
              <a:rPr lang="en-US" sz="2000" b="1" dirty="0">
                <a:solidFill>
                  <a:schemeClr val="bg1"/>
                </a:solidFill>
              </a:rPr>
              <a:t>(2 of 8)</a:t>
            </a:r>
            <a:endParaRPr dirty="0">
              <a:solidFill>
                <a:schemeClr val="bg1"/>
              </a:solidFill>
            </a:endParaRPr>
          </a:p>
        </p:txBody>
      </p:sp>
      <p:graphicFrame>
        <p:nvGraphicFramePr>
          <p:cNvPr id="516" name="Google Shape;516;p8"/>
          <p:cNvGraphicFramePr/>
          <p:nvPr>
            <p:extLst>
              <p:ext uri="{D42A27DB-BD31-4B8C-83A1-F6EECF244321}">
                <p14:modId xmlns:p14="http://schemas.microsoft.com/office/powerpoint/2010/main" val="3621066502"/>
              </p:ext>
            </p:extLst>
          </p:nvPr>
        </p:nvGraphicFramePr>
        <p:xfrm>
          <a:off x="1428728" y="2401833"/>
          <a:ext cx="6858000" cy="1828800"/>
        </p:xfrm>
        <a:graphic>
          <a:graphicData uri="http://schemas.openxmlformats.org/drawingml/2006/table">
            <a:tbl>
              <a:tblPr firstRow="1" bandRow="1">
                <a:noFill/>
                <a:tableStyleId>{279AD5BC-A5CE-4E06-8A13-34D5E8DF52F5}</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914400">
                <a:tc>
                  <a:txBody>
                    <a:bodyPr/>
                    <a:lstStyle/>
                    <a:p>
                      <a:pPr marL="0" marR="0" lvl="0" indent="0" algn="ctr" rtl="0">
                        <a:spcBef>
                          <a:spcPts val="0"/>
                        </a:spcBef>
                        <a:spcAft>
                          <a:spcPts val="0"/>
                        </a:spcAft>
                        <a:buNone/>
                      </a:pPr>
                      <a:r>
                        <a:rPr lang="en-US" sz="2000" u="none" strike="noStrike" cap="none" dirty="0">
                          <a:solidFill>
                            <a:schemeClr val="lt1"/>
                          </a:solidFill>
                        </a:rPr>
                        <a:t>Original Point</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2B8147"/>
                    </a:solidFill>
                  </a:tcPr>
                </a:tc>
                <a:tc>
                  <a:txBody>
                    <a:bodyPr/>
                    <a:lstStyle/>
                    <a:p>
                      <a:pPr marL="0" marR="0" lvl="0" indent="0" algn="ctr" rtl="0">
                        <a:spcBef>
                          <a:spcPts val="0"/>
                        </a:spcBef>
                        <a:spcAft>
                          <a:spcPts val="0"/>
                        </a:spcAft>
                        <a:buNone/>
                      </a:pPr>
                      <a:r>
                        <a:rPr lang="en-US" sz="2000" u="none" strike="noStrike" cap="none" dirty="0">
                          <a:solidFill>
                            <a:schemeClr val="lt1"/>
                          </a:solidFill>
                        </a:rPr>
                        <a:t>4 Units Up</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2B8147"/>
                    </a:solidFill>
                  </a:tcPr>
                </a:tc>
                <a:tc>
                  <a:txBody>
                    <a:bodyPr/>
                    <a:lstStyle/>
                    <a:p>
                      <a:pPr marL="0" marR="0" lvl="0" indent="0" algn="ctr" rtl="0">
                        <a:spcBef>
                          <a:spcPts val="0"/>
                        </a:spcBef>
                        <a:spcAft>
                          <a:spcPts val="0"/>
                        </a:spcAft>
                        <a:buNone/>
                      </a:pPr>
                      <a:r>
                        <a:rPr lang="en-US" sz="2000" u="none" strike="noStrike" cap="none" dirty="0">
                          <a:solidFill>
                            <a:schemeClr val="lt1"/>
                          </a:solidFill>
                        </a:rPr>
                        <a:t>4 Units Down</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2B8147"/>
                    </a:solidFill>
                  </a:tcPr>
                </a:tc>
                <a:extLst>
                  <a:ext uri="{0D108BD9-81ED-4DB2-BD59-A6C34878D82A}">
                    <a16:rowId xmlns:a16="http://schemas.microsoft.com/office/drawing/2014/main" val="10000"/>
                  </a:ext>
                </a:extLst>
              </a:tr>
              <a:tr h="914400">
                <a:tc>
                  <a:txBody>
                    <a:bodyPr/>
                    <a:lstStyle/>
                    <a:p>
                      <a:pPr marL="0" marR="0" lvl="0" indent="0" algn="ctr" rtl="0">
                        <a:spcBef>
                          <a:spcPts val="0"/>
                        </a:spcBef>
                        <a:spcAft>
                          <a:spcPts val="0"/>
                        </a:spcAft>
                        <a:buNone/>
                      </a:pPr>
                      <a:r>
                        <a:rPr lang="en-US" sz="2000" dirty="0">
                          <a:solidFill>
                            <a:srgbClr val="000000"/>
                          </a:solidFill>
                        </a:rPr>
                        <a:t>(</a:t>
                      </a:r>
                      <a:r>
                        <a:rPr lang="en-US" sz="2000" i="1" dirty="0">
                          <a:solidFill>
                            <a:srgbClr val="000000"/>
                          </a:solidFill>
                        </a:rPr>
                        <a:t>x</a:t>
                      </a:r>
                      <a:r>
                        <a:rPr lang="en-US" sz="2000" dirty="0">
                          <a:solidFill>
                            <a:srgbClr val="000000"/>
                          </a:solidFill>
                        </a:rPr>
                        <a:t>, </a:t>
                      </a:r>
                      <a:r>
                        <a:rPr lang="en-US" sz="2000" i="1" dirty="0">
                          <a:solidFill>
                            <a:srgbClr val="000000"/>
                          </a:solidFill>
                        </a:rPr>
                        <a:t>y</a:t>
                      </a:r>
                      <a:r>
                        <a:rPr lang="en-US" sz="2000" dirty="0">
                          <a:solidFill>
                            <a:srgbClr val="000000"/>
                          </a:solidFill>
                        </a:rPr>
                        <a:t>)</a:t>
                      </a: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bl>
          </a:graphicData>
        </a:graphic>
      </p:graphicFrame>
      <p:sp>
        <p:nvSpPr>
          <p:cNvPr id="517" name="Google Shape;517;p8"/>
          <p:cNvSpPr txBox="1"/>
          <p:nvPr/>
        </p:nvSpPr>
        <p:spPr>
          <a:xfrm>
            <a:off x="777240" y="1615095"/>
            <a:ext cx="10024110" cy="523220"/>
          </a:xfrm>
          <a:prstGeom prst="rect">
            <a:avLst/>
          </a:prstGeom>
          <a:noFill/>
          <a:ln>
            <a:noFill/>
          </a:ln>
        </p:spPr>
        <p:txBody>
          <a:bodyPr spcFirstLastPara="1" wrap="square" lIns="91425" tIns="45700" rIns="91425" bIns="45700" anchor="t" anchorCtr="0">
            <a:spAutoFit/>
          </a:bodyPr>
          <a:lstStyle/>
          <a:p>
            <a:pPr marL="514350" marR="0" lvl="0" indent="-514350" algn="l" rtl="0">
              <a:spcBef>
                <a:spcPts val="0"/>
              </a:spcBef>
              <a:spcAft>
                <a:spcPts val="0"/>
              </a:spcAft>
              <a:buFont typeface="+mj-lt"/>
              <a:buAutoNum type="arabicPeriod" startAt="2"/>
            </a:pPr>
            <a:r>
              <a:rPr lang="en-US" sz="2800" dirty="0">
                <a:solidFill>
                  <a:srgbClr val="000000"/>
                </a:solidFill>
                <a:latin typeface="Calibri"/>
                <a:ea typeface="Calibri"/>
                <a:cs typeface="Calibri"/>
                <a:sym typeface="Calibri"/>
              </a:rPr>
              <a:t>How do the translations affect the coordinates of the figure? </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9"/>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Returning to Transformation Station </a:t>
            </a:r>
            <a:r>
              <a:rPr lang="en-US" sz="2000" b="1" dirty="0">
                <a:solidFill>
                  <a:schemeClr val="bg1"/>
                </a:solidFill>
              </a:rPr>
              <a:t>(3 of 8)</a:t>
            </a:r>
            <a:endParaRPr dirty="0">
              <a:solidFill>
                <a:schemeClr val="bg1"/>
              </a:solidFill>
            </a:endParaRPr>
          </a:p>
        </p:txBody>
      </p:sp>
      <p:pic>
        <p:nvPicPr>
          <p:cNvPr id="525" name="Google Shape;525;p9" descr="A graph of line segment A B on the coordinate plane. The line segment rises from left to right, from point A at (negative 8, negative 8) to point B at (8, 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571974" y="3001845"/>
            <a:ext cx="3046464" cy="3062931"/>
          </a:xfrm>
          <a:prstGeom prst="rect">
            <a:avLst/>
          </a:prstGeom>
          <a:noFill/>
          <a:ln>
            <a:noFill/>
          </a:ln>
        </p:spPr>
      </p:pic>
      <mc:AlternateContent xmlns:mc="http://schemas.openxmlformats.org/markup-compatibility/2006" xmlns:a14="http://schemas.microsoft.com/office/drawing/2010/main">
        <mc:Choice Requires="a14">
          <p:sp>
            <p:nvSpPr>
              <p:cNvPr id="2" name="Google Shape;517;p8">
                <a:extLst>
                  <a:ext uri="{FF2B5EF4-FFF2-40B4-BE49-F238E27FC236}">
                    <a16:creationId xmlns:a16="http://schemas.microsoft.com/office/drawing/2014/main" id="{7E4BA802-88DF-01BB-2374-EB1633A922E5}"/>
                  </a:ext>
                </a:extLst>
              </p:cNvPr>
              <p:cNvSpPr txBox="1"/>
              <p:nvPr/>
            </p:nvSpPr>
            <p:spPr>
              <a:xfrm>
                <a:off x="777239" y="1615095"/>
                <a:ext cx="10372023" cy="1386750"/>
              </a:xfrm>
              <a:prstGeom prst="rect">
                <a:avLst/>
              </a:prstGeom>
              <a:noFill/>
              <a:ln>
                <a:noFill/>
              </a:ln>
            </p:spPr>
            <p:txBody>
              <a:bodyPr spcFirstLastPara="1" wrap="square" lIns="91425" tIns="45700" rIns="91425" bIns="45700" anchor="t" anchorCtr="0">
                <a:spAutoFit/>
              </a:bodyPr>
              <a:lstStyle/>
              <a:p>
                <a:pPr marL="514350" marR="0" lvl="0" indent="-514350" algn="l" rtl="0">
                  <a:spcBef>
                    <a:spcPts val="0"/>
                  </a:spcBef>
                  <a:spcAft>
                    <a:spcPts val="0"/>
                  </a:spcAft>
                  <a:buFont typeface="+mj-lt"/>
                  <a:buAutoNum type="arabicPeriod" startAt="3"/>
                </a:pPr>
                <a:r>
                  <a:rPr lang="en-US" sz="2800" dirty="0">
                    <a:solidFill>
                      <a:srgbClr val="000000"/>
                    </a:solidFill>
                    <a:latin typeface="Calibri"/>
                    <a:ea typeface="Calibri"/>
                    <a:cs typeface="Calibri"/>
                    <a:sym typeface="Calibri"/>
                  </a:rPr>
                  <a:t>Draw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𝐶𝐷</m:t>
                        </m:r>
                      </m:e>
                    </m:acc>
                  </m:oMath>
                </a14:m>
                <a:r>
                  <a:rPr lang="en-US" sz="2800" dirty="0">
                    <a:solidFill>
                      <a:srgbClr val="000000"/>
                    </a:solidFill>
                    <a:latin typeface="Calibri"/>
                    <a:ea typeface="Calibri"/>
                    <a:cs typeface="Calibri"/>
                    <a:sym typeface="Calibri"/>
                  </a:rPr>
                  <a:t> on the coordinate plane so that it is a vertical translation of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𝐴𝐵</m:t>
                        </m:r>
                      </m:e>
                    </m:acc>
                  </m:oMath>
                </a14:m>
                <a:r>
                  <a:rPr lang="en-US" sz="2800" dirty="0">
                    <a:solidFill>
                      <a:srgbClr val="000000"/>
                    </a:solidFill>
                    <a:latin typeface="Calibri"/>
                    <a:ea typeface="Calibri"/>
                    <a:cs typeface="Calibri"/>
                    <a:sym typeface="Calibri"/>
                  </a:rPr>
                  <a:t> up 4 units. Compare the two line segments. Describe how they are related. </a:t>
                </a:r>
                <a:endParaRPr dirty="0"/>
              </a:p>
            </p:txBody>
          </p:sp>
        </mc:Choice>
        <mc:Fallback xmlns="">
          <p:sp>
            <p:nvSpPr>
              <p:cNvPr id="2" name="Google Shape;517;p8">
                <a:extLst>
                  <a:ext uri="{FF2B5EF4-FFF2-40B4-BE49-F238E27FC236}">
                    <a16:creationId xmlns:a16="http://schemas.microsoft.com/office/drawing/2014/main" id="{7E4BA802-88DF-01BB-2374-EB1633A922E5}"/>
                  </a:ext>
                </a:extLst>
              </p:cNvPr>
              <p:cNvSpPr txBox="1">
                <a:spLocks noRot="1" noChangeAspect="1" noMove="1" noResize="1" noEditPoints="1" noAdjustHandles="1" noChangeArrowheads="1" noChangeShapeType="1" noTextEdit="1"/>
              </p:cNvSpPr>
              <p:nvPr/>
            </p:nvSpPr>
            <p:spPr>
              <a:xfrm>
                <a:off x="777239" y="1615095"/>
                <a:ext cx="10372023" cy="1386750"/>
              </a:xfrm>
              <a:prstGeom prst="rect">
                <a:avLst/>
              </a:prstGeom>
              <a:blipFill>
                <a:blip r:embed="rId4"/>
                <a:stretch>
                  <a:fillRect l="-1234" t="-4846" r="-999" b="-11894"/>
                </a:stretch>
              </a:blipFill>
              <a:ln>
                <a:noFill/>
              </a:ln>
            </p:spPr>
            <p:txBody>
              <a:bodyPr/>
              <a:lstStyle/>
              <a:p>
                <a:r>
                  <a:rPr 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2">
          <a:extLst>
            <a:ext uri="{FF2B5EF4-FFF2-40B4-BE49-F238E27FC236}">
              <a16:creationId xmlns:a16="http://schemas.microsoft.com/office/drawing/2014/main" id="{CF2CC8DD-23A1-B8D2-4F21-BD48469BDD4E}"/>
            </a:ext>
          </a:extLst>
        </p:cNvPr>
        <p:cNvGrpSpPr/>
        <p:nvPr/>
      </p:nvGrpSpPr>
      <p:grpSpPr>
        <a:xfrm>
          <a:off x="0" y="0"/>
          <a:ext cx="0" cy="0"/>
          <a:chOff x="0" y="0"/>
          <a:chExt cx="0" cy="0"/>
        </a:xfrm>
      </p:grpSpPr>
      <p:sp>
        <p:nvSpPr>
          <p:cNvPr id="523" name="Google Shape;523;p9">
            <a:extLst>
              <a:ext uri="{FF2B5EF4-FFF2-40B4-BE49-F238E27FC236}">
                <a16:creationId xmlns:a16="http://schemas.microsoft.com/office/drawing/2014/main" id="{645F5695-6CC4-ECA1-B5E5-F023D0D135BB}"/>
              </a:ext>
            </a:extLst>
          </p:cNvPr>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Returning to Transformation Station </a:t>
            </a:r>
            <a:r>
              <a:rPr lang="en-US" sz="2000" b="1" dirty="0">
                <a:solidFill>
                  <a:schemeClr val="bg1"/>
                </a:solidFill>
              </a:rPr>
              <a:t>(4 of 8)</a:t>
            </a:r>
            <a:endParaRPr dirty="0">
              <a:solidFill>
                <a:schemeClr val="bg1"/>
              </a:solidFill>
            </a:endParaRPr>
          </a:p>
        </p:txBody>
      </p:sp>
      <p:sp>
        <p:nvSpPr>
          <p:cNvPr id="2" name="Google Shape;517;p8">
            <a:extLst>
              <a:ext uri="{FF2B5EF4-FFF2-40B4-BE49-F238E27FC236}">
                <a16:creationId xmlns:a16="http://schemas.microsoft.com/office/drawing/2014/main" id="{BA0CA76D-BD1B-7A86-F3FF-104E5AE134A6}"/>
              </a:ext>
            </a:extLst>
          </p:cNvPr>
          <p:cNvSpPr txBox="1"/>
          <p:nvPr/>
        </p:nvSpPr>
        <p:spPr>
          <a:xfrm>
            <a:off x="777239" y="1615095"/>
            <a:ext cx="10805161" cy="954067"/>
          </a:xfrm>
          <a:prstGeom prst="rect">
            <a:avLst/>
          </a:prstGeom>
          <a:noFill/>
          <a:ln>
            <a:noFill/>
          </a:ln>
        </p:spPr>
        <p:txBody>
          <a:bodyPr spcFirstLastPara="1" wrap="square" lIns="91425" tIns="45700" rIns="91425" bIns="45700" anchor="t" anchorCtr="0">
            <a:spAutoFit/>
          </a:bodyPr>
          <a:lstStyle/>
          <a:p>
            <a:pPr marL="514350" marR="0" lvl="0" indent="-514350" algn="l" rtl="0">
              <a:spcBef>
                <a:spcPts val="0"/>
              </a:spcBef>
              <a:spcAft>
                <a:spcPts val="0"/>
              </a:spcAft>
              <a:buFont typeface="+mj-lt"/>
              <a:buAutoNum type="arabicPeriod" startAt="4"/>
            </a:pPr>
            <a:r>
              <a:rPr lang="en-US" sz="2800" dirty="0">
                <a:solidFill>
                  <a:srgbClr val="000000"/>
                </a:solidFill>
                <a:latin typeface="Calibri"/>
                <a:ea typeface="Calibri"/>
                <a:cs typeface="Calibri"/>
                <a:sym typeface="Calibri"/>
              </a:rPr>
              <a:t>Move back to where you started. Then, multiply all the </a:t>
            </a:r>
            <a:r>
              <a:rPr lang="en-US" sz="2800" i="1" dirty="0">
                <a:solidFill>
                  <a:srgbClr val="000000"/>
                </a:solidFill>
                <a:latin typeface="Calibri"/>
                <a:ea typeface="Calibri"/>
                <a:cs typeface="Calibri"/>
                <a:sym typeface="Calibri"/>
              </a:rPr>
              <a:t>y</a:t>
            </a:r>
            <a:r>
              <a:rPr lang="en-US" sz="2800" dirty="0">
                <a:solidFill>
                  <a:srgbClr val="000000"/>
                </a:solidFill>
                <a:latin typeface="Calibri"/>
                <a:ea typeface="Calibri"/>
                <a:cs typeface="Calibri"/>
                <a:sym typeface="Calibri"/>
              </a:rPr>
              <a:t>-coordinates by 2 and then by −2. Describe how the student “points” move. </a:t>
            </a:r>
            <a:endParaRPr dirty="0"/>
          </a:p>
        </p:txBody>
      </p:sp>
    </p:spTree>
    <p:extLst>
      <p:ext uri="{BB962C8B-B14F-4D97-AF65-F5344CB8AC3E}">
        <p14:creationId xmlns:p14="http://schemas.microsoft.com/office/powerpoint/2010/main" val="2088828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10"/>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Returning to Transformation Station </a:t>
            </a:r>
            <a:r>
              <a:rPr lang="en-US" sz="2000" b="1" dirty="0">
                <a:solidFill>
                  <a:schemeClr val="bg1"/>
                </a:solidFill>
              </a:rPr>
              <a:t>(5 of 8)</a:t>
            </a:r>
            <a:endParaRPr dirty="0">
              <a:solidFill>
                <a:schemeClr val="bg1"/>
              </a:solidFill>
            </a:endParaRPr>
          </a:p>
        </p:txBody>
      </p:sp>
      <p:pic>
        <p:nvPicPr>
          <p:cNvPr id="534" name="Google Shape;534;p10" descr="A graph of line segment A B on the coordinate plane. The line segment rises from left to right, from point A at (negative 8, negative 8) to point B at (8, 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498848" y="2854693"/>
            <a:ext cx="3192715" cy="3821585"/>
          </a:xfrm>
          <a:prstGeom prst="rect">
            <a:avLst/>
          </a:prstGeom>
          <a:noFill/>
          <a:ln>
            <a:noFill/>
          </a:ln>
        </p:spPr>
      </p:pic>
      <mc:AlternateContent xmlns:mc="http://schemas.openxmlformats.org/markup-compatibility/2006" xmlns:a14="http://schemas.microsoft.com/office/drawing/2010/main">
        <mc:Choice Requires="a14">
          <p:sp>
            <p:nvSpPr>
              <p:cNvPr id="2" name="Google Shape;517;p8">
                <a:extLst>
                  <a:ext uri="{FF2B5EF4-FFF2-40B4-BE49-F238E27FC236}">
                    <a16:creationId xmlns:a16="http://schemas.microsoft.com/office/drawing/2014/main" id="{18640970-F361-462C-25EC-8CED0D60591B}"/>
                  </a:ext>
                </a:extLst>
              </p:cNvPr>
              <p:cNvSpPr txBox="1"/>
              <p:nvPr/>
            </p:nvSpPr>
            <p:spPr>
              <a:xfrm>
                <a:off x="777239" y="1615095"/>
                <a:ext cx="10805161" cy="1385852"/>
              </a:xfrm>
              <a:prstGeom prst="rect">
                <a:avLst/>
              </a:prstGeom>
              <a:noFill/>
              <a:ln>
                <a:noFill/>
              </a:ln>
            </p:spPr>
            <p:txBody>
              <a:bodyPr spcFirstLastPara="1" wrap="square" lIns="91425" tIns="45700" rIns="91425" bIns="45700" anchor="t" anchorCtr="0">
                <a:spAutoFit/>
              </a:bodyPr>
              <a:lstStyle/>
              <a:p>
                <a:pPr marL="514350" marR="0" lvl="0" indent="-514350" algn="l" rtl="0">
                  <a:spcBef>
                    <a:spcPts val="0"/>
                  </a:spcBef>
                  <a:spcAft>
                    <a:spcPts val="0"/>
                  </a:spcAft>
                  <a:buFont typeface="+mj-lt"/>
                  <a:buAutoNum type="arabicPeriod" startAt="5"/>
                </a:pPr>
                <a:r>
                  <a:rPr lang="en-US" sz="2800" dirty="0">
                    <a:solidFill>
                      <a:srgbClr val="000000"/>
                    </a:solidFill>
                    <a:latin typeface="Calibri"/>
                    <a:ea typeface="Calibri"/>
                    <a:cs typeface="Calibri"/>
                    <a:sym typeface="Calibri"/>
                  </a:rPr>
                  <a:t>Draw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𝐸𝐹</m:t>
                        </m:r>
                      </m:e>
                    </m:acc>
                  </m:oMath>
                </a14:m>
                <a:r>
                  <a:rPr lang="en-US" sz="2800" dirty="0">
                    <a:solidFill>
                      <a:srgbClr val="000000"/>
                    </a:solidFill>
                    <a:latin typeface="Calibri"/>
                    <a:ea typeface="Calibri"/>
                    <a:cs typeface="Calibri"/>
                    <a:sym typeface="Calibri"/>
                  </a:rPr>
                  <a:t> on the coordinate plane by multiplying all the </a:t>
                </a:r>
                <a:r>
                  <a:rPr lang="en-US" sz="2800" i="1" dirty="0">
                    <a:solidFill>
                      <a:srgbClr val="000000"/>
                    </a:solidFill>
                    <a:latin typeface="Calibri"/>
                    <a:ea typeface="Calibri"/>
                    <a:cs typeface="Calibri"/>
                    <a:sym typeface="Calibri"/>
                  </a:rPr>
                  <a:t>y</a:t>
                </a:r>
                <a:r>
                  <a:rPr lang="en-US" sz="2800" dirty="0">
                    <a:solidFill>
                      <a:srgbClr val="000000"/>
                    </a:solidFill>
                    <a:latin typeface="Calibri"/>
                    <a:ea typeface="Calibri"/>
                    <a:cs typeface="Calibri"/>
                    <a:sym typeface="Calibri"/>
                  </a:rPr>
                  <a:t>-coordinates of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𝐴𝐵</m:t>
                        </m:r>
                      </m:e>
                    </m:acc>
                  </m:oMath>
                </a14:m>
                <a:r>
                  <a:rPr lang="en-US" sz="2800" dirty="0">
                    <a:solidFill>
                      <a:srgbClr val="000000"/>
                    </a:solidFill>
                    <a:latin typeface="Calibri"/>
                    <a:ea typeface="Calibri"/>
                    <a:cs typeface="Calibri"/>
                    <a:sym typeface="Calibri"/>
                  </a:rPr>
                  <a:t> by 2. Compare the two line segments. Describe how they</a:t>
                </a:r>
                <a:br>
                  <a:rPr lang="en-US" sz="2800" dirty="0">
                    <a:solidFill>
                      <a:srgbClr val="000000"/>
                    </a:solidFill>
                    <a:latin typeface="Calibri"/>
                    <a:ea typeface="Calibri"/>
                    <a:cs typeface="Calibri"/>
                    <a:sym typeface="Calibri"/>
                  </a:rPr>
                </a:br>
                <a:r>
                  <a:rPr lang="en-US" sz="2800" dirty="0">
                    <a:solidFill>
                      <a:srgbClr val="000000"/>
                    </a:solidFill>
                    <a:latin typeface="Calibri"/>
                    <a:ea typeface="Calibri"/>
                    <a:cs typeface="Calibri"/>
                    <a:sym typeface="Calibri"/>
                  </a:rPr>
                  <a:t>are related. </a:t>
                </a:r>
                <a:endParaRPr dirty="0"/>
              </a:p>
            </p:txBody>
          </p:sp>
        </mc:Choice>
        <mc:Fallback xmlns="">
          <p:sp>
            <p:nvSpPr>
              <p:cNvPr id="2" name="Google Shape;517;p8">
                <a:extLst>
                  <a:ext uri="{FF2B5EF4-FFF2-40B4-BE49-F238E27FC236}">
                    <a16:creationId xmlns:a16="http://schemas.microsoft.com/office/drawing/2014/main" id="{18640970-F361-462C-25EC-8CED0D60591B}"/>
                  </a:ext>
                </a:extLst>
              </p:cNvPr>
              <p:cNvSpPr txBox="1">
                <a:spLocks noRot="1" noChangeAspect="1" noMove="1" noResize="1" noEditPoints="1" noAdjustHandles="1" noChangeArrowheads="1" noChangeShapeType="1" noTextEdit="1"/>
              </p:cNvSpPr>
              <p:nvPr/>
            </p:nvSpPr>
            <p:spPr>
              <a:xfrm>
                <a:off x="777239" y="1615095"/>
                <a:ext cx="10805161" cy="1385852"/>
              </a:xfrm>
              <a:prstGeom prst="rect">
                <a:avLst/>
              </a:prstGeom>
              <a:blipFill>
                <a:blip r:embed="rId4"/>
                <a:stretch>
                  <a:fillRect l="-1184" t="-4846" r="-1015" b="-11894"/>
                </a:stretch>
              </a:blipFill>
              <a:ln>
                <a:noFill/>
              </a:ln>
            </p:spPr>
            <p:txBody>
              <a:bodyPr/>
              <a:lstStyle/>
              <a:p>
                <a:r>
                  <a:rPr 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11"/>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Returning to Transformation Station </a:t>
            </a:r>
            <a:r>
              <a:rPr lang="en-US" sz="2000" b="1" dirty="0">
                <a:solidFill>
                  <a:schemeClr val="bg1"/>
                </a:solidFill>
              </a:rPr>
              <a:t>(6 of 8)</a:t>
            </a:r>
            <a:endParaRPr dirty="0">
              <a:solidFill>
                <a:schemeClr val="bg1"/>
              </a:solidFill>
            </a:endParaRPr>
          </a:p>
        </p:txBody>
      </p:sp>
      <p:pic>
        <p:nvPicPr>
          <p:cNvPr id="2" name="Google Shape;534;p10" descr="A graph of line segment A B on the coordinate plane. The line segment rises from left to right, from point A at (negative 8, negative 8) to point B at (8, 8).">
            <a:extLst>
              <a:ext uri="{FF2B5EF4-FFF2-40B4-BE49-F238E27FC236}">
                <a16:creationId xmlns:a16="http://schemas.microsoft.com/office/drawing/2014/main" id="{BE21F2D1-A40B-92F1-6DD1-A694FD3168C8}"/>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498848" y="2854693"/>
            <a:ext cx="3192715" cy="3821585"/>
          </a:xfrm>
          <a:prstGeom prst="rect">
            <a:avLst/>
          </a:prstGeom>
          <a:noFill/>
          <a:ln>
            <a:noFill/>
          </a:ln>
        </p:spPr>
      </p:pic>
      <mc:AlternateContent xmlns:mc="http://schemas.openxmlformats.org/markup-compatibility/2006" xmlns:a14="http://schemas.microsoft.com/office/drawing/2010/main">
        <mc:Choice Requires="a14">
          <p:sp>
            <p:nvSpPr>
              <p:cNvPr id="3" name="Google Shape;517;p8">
                <a:extLst>
                  <a:ext uri="{FF2B5EF4-FFF2-40B4-BE49-F238E27FC236}">
                    <a16:creationId xmlns:a16="http://schemas.microsoft.com/office/drawing/2014/main" id="{13D782E1-CE2A-2015-9B6C-524A9BD26A08}"/>
                  </a:ext>
                </a:extLst>
              </p:cNvPr>
              <p:cNvSpPr txBox="1"/>
              <p:nvPr/>
            </p:nvSpPr>
            <p:spPr>
              <a:xfrm>
                <a:off x="777239" y="1615095"/>
                <a:ext cx="10805161" cy="1386750"/>
              </a:xfrm>
              <a:prstGeom prst="rect">
                <a:avLst/>
              </a:prstGeom>
              <a:noFill/>
              <a:ln>
                <a:noFill/>
              </a:ln>
            </p:spPr>
            <p:txBody>
              <a:bodyPr spcFirstLastPara="1" wrap="square" lIns="91425" tIns="45700" rIns="91425" bIns="45700" anchor="t" anchorCtr="0">
                <a:spAutoFit/>
              </a:bodyPr>
              <a:lstStyle/>
              <a:p>
                <a:pPr marL="514350" marR="0" lvl="0" indent="-514350" algn="l" rtl="0">
                  <a:spcBef>
                    <a:spcPts val="0"/>
                  </a:spcBef>
                  <a:spcAft>
                    <a:spcPts val="0"/>
                  </a:spcAft>
                  <a:buFont typeface="+mj-lt"/>
                  <a:buAutoNum type="arabicPeriod" startAt="6"/>
                </a:pPr>
                <a:r>
                  <a:rPr lang="en-US" sz="2800" dirty="0">
                    <a:solidFill>
                      <a:srgbClr val="000000"/>
                    </a:solidFill>
                    <a:latin typeface="Calibri"/>
                    <a:ea typeface="Calibri"/>
                    <a:cs typeface="Calibri"/>
                    <a:sym typeface="Calibri"/>
                  </a:rPr>
                  <a:t>Draw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𝐺𝐻</m:t>
                        </m:r>
                      </m:e>
                    </m:acc>
                  </m:oMath>
                </a14:m>
                <a:r>
                  <a:rPr lang="en-US" sz="2800" dirty="0">
                    <a:solidFill>
                      <a:srgbClr val="000000"/>
                    </a:solidFill>
                    <a:latin typeface="Calibri"/>
                    <a:ea typeface="Calibri"/>
                    <a:cs typeface="Calibri"/>
                    <a:sym typeface="Calibri"/>
                  </a:rPr>
                  <a:t> on the coordinate plane by multiplying all the </a:t>
                </a:r>
                <a:r>
                  <a:rPr lang="en-US" sz="2800" i="1" dirty="0">
                    <a:solidFill>
                      <a:srgbClr val="000000"/>
                    </a:solidFill>
                    <a:latin typeface="Calibri"/>
                    <a:ea typeface="Calibri"/>
                    <a:cs typeface="Calibri"/>
                    <a:sym typeface="Calibri"/>
                  </a:rPr>
                  <a:t>y</a:t>
                </a:r>
                <a:r>
                  <a:rPr lang="en-US" sz="2800" dirty="0">
                    <a:solidFill>
                      <a:srgbClr val="000000"/>
                    </a:solidFill>
                    <a:latin typeface="Calibri"/>
                    <a:ea typeface="Calibri"/>
                    <a:cs typeface="Calibri"/>
                    <a:sym typeface="Calibri"/>
                  </a:rPr>
                  <a:t>-coordinates of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𝐴𝐵</m:t>
                        </m:r>
                      </m:e>
                    </m:acc>
                  </m:oMath>
                </a14:m>
                <a:r>
                  <a:rPr lang="en-US" sz="2800" dirty="0">
                    <a:solidFill>
                      <a:srgbClr val="000000"/>
                    </a:solidFill>
                    <a:latin typeface="Calibri"/>
                    <a:ea typeface="Calibri"/>
                    <a:cs typeface="Calibri"/>
                    <a:sym typeface="Calibri"/>
                  </a:rPr>
                  <a:t> by −2. Compare the two line segments. Describe how they</a:t>
                </a:r>
                <a:br>
                  <a:rPr lang="en-US" sz="2800" dirty="0">
                    <a:solidFill>
                      <a:srgbClr val="000000"/>
                    </a:solidFill>
                    <a:latin typeface="Calibri"/>
                    <a:ea typeface="Calibri"/>
                    <a:cs typeface="Calibri"/>
                    <a:sym typeface="Calibri"/>
                  </a:rPr>
                </a:br>
                <a:r>
                  <a:rPr lang="en-US" sz="2800" dirty="0">
                    <a:solidFill>
                      <a:srgbClr val="000000"/>
                    </a:solidFill>
                    <a:latin typeface="Calibri"/>
                    <a:ea typeface="Calibri"/>
                    <a:cs typeface="Calibri"/>
                    <a:sym typeface="Calibri"/>
                  </a:rPr>
                  <a:t>are related. </a:t>
                </a:r>
                <a:endParaRPr dirty="0"/>
              </a:p>
            </p:txBody>
          </p:sp>
        </mc:Choice>
        <mc:Fallback xmlns="">
          <p:sp>
            <p:nvSpPr>
              <p:cNvPr id="3" name="Google Shape;517;p8">
                <a:extLst>
                  <a:ext uri="{FF2B5EF4-FFF2-40B4-BE49-F238E27FC236}">
                    <a16:creationId xmlns:a16="http://schemas.microsoft.com/office/drawing/2014/main" id="{13D782E1-CE2A-2015-9B6C-524A9BD26A08}"/>
                  </a:ext>
                </a:extLst>
              </p:cNvPr>
              <p:cNvSpPr txBox="1">
                <a:spLocks noRot="1" noChangeAspect="1" noMove="1" noResize="1" noEditPoints="1" noAdjustHandles="1" noChangeArrowheads="1" noChangeShapeType="1" noTextEdit="1"/>
              </p:cNvSpPr>
              <p:nvPr/>
            </p:nvSpPr>
            <p:spPr>
              <a:xfrm>
                <a:off x="777239" y="1615095"/>
                <a:ext cx="10805161" cy="1386750"/>
              </a:xfrm>
              <a:prstGeom prst="rect">
                <a:avLst/>
              </a:prstGeom>
              <a:blipFill>
                <a:blip r:embed="rId4"/>
                <a:stretch>
                  <a:fillRect l="-1184" t="-4846" r="-1410" b="-11894"/>
                </a:stretch>
              </a:blipFill>
              <a:ln>
                <a:noFill/>
              </a:ln>
            </p:spPr>
            <p:txBody>
              <a:bodyPr/>
              <a:lstStyle/>
              <a:p>
                <a:r>
                  <a:rPr 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12"/>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Returning to Transformation Station </a:t>
            </a:r>
            <a:r>
              <a:rPr lang="en-US" sz="2000" b="1" dirty="0">
                <a:solidFill>
                  <a:schemeClr val="bg1"/>
                </a:solidFill>
              </a:rPr>
              <a:t>(7 of 8)</a:t>
            </a:r>
            <a:endParaRPr dirty="0">
              <a:solidFill>
                <a:schemeClr val="bg1"/>
              </a:solidFill>
            </a:endParaRPr>
          </a:p>
        </p:txBody>
      </p:sp>
      <p:sp>
        <p:nvSpPr>
          <p:cNvPr id="549" name="Google Shape;549;p12"/>
          <p:cNvSpPr txBox="1"/>
          <p:nvPr/>
        </p:nvSpPr>
        <p:spPr>
          <a:xfrm>
            <a:off x="777240" y="1616140"/>
            <a:ext cx="9902597"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dirty="0">
                <a:solidFill>
                  <a:srgbClr val="000000"/>
                </a:solidFill>
                <a:latin typeface="Calibri"/>
                <a:ea typeface="Calibri"/>
                <a:cs typeface="Calibri"/>
                <a:sym typeface="Calibri"/>
              </a:rPr>
              <a:t>Let’s summarize our learning from the Getting Started!</a:t>
            </a:r>
            <a:endParaRPr dirty="0"/>
          </a:p>
        </p:txBody>
      </p:sp>
      <p:pic>
        <p:nvPicPr>
          <p:cNvPr id="550" name="Google Shape;550;p12">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325025" y="372494"/>
            <a:ext cx="1501270" cy="51820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13"/>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Returning to Transformation Station </a:t>
            </a:r>
            <a:r>
              <a:rPr lang="en-US" sz="2000" b="1" dirty="0">
                <a:solidFill>
                  <a:schemeClr val="bg1"/>
                </a:solidFill>
              </a:rPr>
              <a:t>(8 of 8)</a:t>
            </a:r>
            <a:endParaRPr dirty="0">
              <a:solidFill>
                <a:schemeClr val="bg1"/>
              </a:solidFill>
            </a:endParaRPr>
          </a:p>
        </p:txBody>
      </p:sp>
      <p:sp>
        <p:nvSpPr>
          <p:cNvPr id="557" name="Google Shape;557;p13">
            <a:extLst>
              <a:ext uri="{C183D7F6-B498-43B3-948B-1728B52AA6E4}">
                <adec:decorative xmlns:adec="http://schemas.microsoft.com/office/drawing/2017/decorative" val="1"/>
              </a:ext>
            </a:extLst>
          </p:cNvPr>
          <p:cNvSpPr txBox="1"/>
          <p:nvPr/>
        </p:nvSpPr>
        <p:spPr>
          <a:xfrm>
            <a:off x="777240" y="1616140"/>
            <a:ext cx="9900285"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b="0" i="0" u="none" strike="noStrike">
              <a:solidFill>
                <a:srgbClr val="3A3838"/>
              </a:solidFill>
              <a:latin typeface="Calibri"/>
              <a:ea typeface="Calibri"/>
              <a:cs typeface="Calibri"/>
              <a:sym typeface="Calibri"/>
            </a:endParaRPr>
          </a:p>
          <a:p>
            <a:pPr marL="0" marR="0" lvl="0" indent="0" algn="ctr" rtl="0">
              <a:spcBef>
                <a:spcPts val="56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14"/>
          <p:cNvSpPr txBox="1">
            <a:spLocks noGrp="1"/>
          </p:cNvSpPr>
          <p:nvPr>
            <p:ph type="title"/>
          </p:nvPr>
        </p:nvSpPr>
        <p:spPr>
          <a:xfrm>
            <a:off x="838200" y="-335560"/>
            <a:ext cx="10514013" cy="33556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a:solidFill>
                  <a:schemeClr val="lt2"/>
                </a:solidFill>
                <a:latin typeface="Calibri"/>
                <a:ea typeface="Calibri"/>
                <a:cs typeface="Calibri"/>
                <a:sym typeface="Calibri"/>
              </a:rPr>
              <a:t>Activity 1.1</a:t>
            </a:r>
            <a:endParaRPr/>
          </a:p>
        </p:txBody>
      </p:sp>
      <p:sp>
        <p:nvSpPr>
          <p:cNvPr id="565" name="Google Shape;565;p14">
            <a:extLst>
              <a:ext uri="{C183D7F6-B498-43B3-948B-1728B52AA6E4}">
                <adec:decorative xmlns:adec="http://schemas.microsoft.com/office/drawing/2017/decorative" val="1"/>
              </a:ext>
            </a:extLst>
          </p:cNvPr>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500"/>
              <a:buNone/>
            </a:pPr>
            <a:r>
              <a:rPr lang="en-US"/>
              <a:t>1.1</a:t>
            </a:r>
            <a:endParaRPr/>
          </a:p>
        </p:txBody>
      </p:sp>
      <p:sp>
        <p:nvSpPr>
          <p:cNvPr id="564" name="Google Shape;564;p14" descr="20 to 25 minutes"/>
          <p:cNvSpPr txBox="1">
            <a:spLocks noGrp="1"/>
          </p:cNvSpPr>
          <p:nvPr>
            <p:ph type="body" idx="2"/>
          </p:nvPr>
        </p:nvSpPr>
        <p:spPr>
          <a:xfrm>
            <a:off x="10623379"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20–25</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15"/>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Translations of Functions </a:t>
            </a:r>
            <a:r>
              <a:rPr lang="en-US" sz="2000" b="1" dirty="0">
                <a:solidFill>
                  <a:schemeClr val="bg1"/>
                </a:solidFill>
              </a:rPr>
              <a:t>(1 of 10)</a:t>
            </a:r>
            <a:endParaRPr dirty="0">
              <a:solidFill>
                <a:schemeClr val="bg1"/>
              </a:solidFill>
            </a:endParaRPr>
          </a:p>
        </p:txBody>
      </p:sp>
      <p:sp>
        <p:nvSpPr>
          <p:cNvPr id="573" name="Google Shape;573;p15"/>
          <p:cNvSpPr txBox="1"/>
          <p:nvPr/>
        </p:nvSpPr>
        <p:spPr>
          <a:xfrm>
            <a:off x="777240" y="1602297"/>
            <a:ext cx="9910334" cy="493456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dirty="0">
                <a:solidFill>
                  <a:srgbClr val="000000"/>
                </a:solidFill>
                <a:latin typeface="Calibri"/>
                <a:ea typeface="Calibri"/>
                <a:cs typeface="Calibri"/>
                <a:sym typeface="Calibri"/>
              </a:rPr>
              <a:t>Let’s determine how translations impact the graph of the linear function </a:t>
            </a:r>
            <a:r>
              <a:rPr lang="en-US" sz="2800" i="1" dirty="0">
                <a:solidFill>
                  <a:srgbClr val="000000"/>
                </a:solidFill>
                <a:latin typeface="Calibri"/>
                <a:ea typeface="Calibri"/>
                <a:cs typeface="Calibri"/>
                <a:sym typeface="Calibri"/>
              </a:rPr>
              <a:t>f</a:t>
            </a:r>
            <a:r>
              <a:rPr lang="en-US" sz="2800" dirty="0">
                <a:solidFill>
                  <a:srgbClr val="000000"/>
                </a:solidFill>
                <a:latin typeface="Calibri"/>
                <a:ea typeface="Calibri"/>
                <a:cs typeface="Calibri"/>
                <a:sym typeface="Calibri"/>
              </a:rPr>
              <a:t>(</a:t>
            </a:r>
            <a:r>
              <a:rPr lang="en-US" sz="2800" i="1" dirty="0">
                <a:solidFill>
                  <a:srgbClr val="000000"/>
                </a:solidFill>
                <a:latin typeface="Calibri"/>
                <a:ea typeface="Calibri"/>
                <a:cs typeface="Calibri"/>
                <a:sym typeface="Calibri"/>
              </a:rPr>
              <a:t>x</a:t>
            </a:r>
            <a:r>
              <a:rPr lang="en-US" sz="2800" dirty="0">
                <a:solidFill>
                  <a:srgbClr val="000000"/>
                </a:solidFill>
                <a:latin typeface="Calibri"/>
                <a:ea typeface="Calibri"/>
                <a:cs typeface="Calibri"/>
                <a:sym typeface="Calibri"/>
              </a:rPr>
              <a:t>) = </a:t>
            </a:r>
            <a:r>
              <a:rPr lang="en-US" sz="2800" i="1" dirty="0">
                <a:solidFill>
                  <a:srgbClr val="000000"/>
                </a:solidFill>
                <a:latin typeface="Calibri"/>
                <a:ea typeface="Calibri"/>
                <a:cs typeface="Calibri"/>
                <a:sym typeface="Calibri"/>
              </a:rPr>
              <a:t>x</a:t>
            </a:r>
            <a:r>
              <a:rPr lang="en-US" sz="2800" dirty="0">
                <a:solidFill>
                  <a:srgbClr val="000000"/>
                </a:solidFill>
                <a:latin typeface="Calibri"/>
                <a:ea typeface="Calibri"/>
                <a:cs typeface="Calibri"/>
                <a:sym typeface="Calibri"/>
              </a:rPr>
              <a:t>. The function </a:t>
            </a:r>
            <a:r>
              <a:rPr lang="en-US" sz="2800" i="1" dirty="0">
                <a:solidFill>
                  <a:srgbClr val="000000"/>
                </a:solidFill>
                <a:latin typeface="Calibri"/>
                <a:ea typeface="Calibri"/>
                <a:cs typeface="Calibri"/>
                <a:sym typeface="Calibri"/>
              </a:rPr>
              <a:t>f</a:t>
            </a:r>
            <a:r>
              <a:rPr lang="en-US" sz="2800" dirty="0">
                <a:solidFill>
                  <a:srgbClr val="000000"/>
                </a:solidFill>
                <a:latin typeface="Calibri"/>
                <a:ea typeface="Calibri"/>
                <a:cs typeface="Calibri"/>
                <a:sym typeface="Calibri"/>
              </a:rPr>
              <a:t>(</a:t>
            </a:r>
            <a:r>
              <a:rPr lang="en-US" sz="2800" i="1" dirty="0">
                <a:solidFill>
                  <a:srgbClr val="000000"/>
                </a:solidFill>
                <a:latin typeface="Calibri"/>
                <a:ea typeface="Calibri"/>
                <a:cs typeface="Calibri"/>
                <a:sym typeface="Calibri"/>
              </a:rPr>
              <a:t>x</a:t>
            </a:r>
            <a:r>
              <a:rPr lang="en-US" sz="2800" dirty="0">
                <a:solidFill>
                  <a:srgbClr val="000000"/>
                </a:solidFill>
                <a:latin typeface="Calibri"/>
                <a:ea typeface="Calibri"/>
                <a:cs typeface="Calibri"/>
                <a:sym typeface="Calibri"/>
              </a:rPr>
              <a:t>) = </a:t>
            </a:r>
            <a:r>
              <a:rPr lang="en-US" sz="2800" i="1" dirty="0">
                <a:solidFill>
                  <a:srgbClr val="000000"/>
                </a:solidFill>
                <a:latin typeface="Calibri"/>
                <a:ea typeface="Calibri"/>
                <a:cs typeface="Calibri"/>
                <a:sym typeface="Calibri"/>
              </a:rPr>
              <a:t>x</a:t>
            </a:r>
            <a:r>
              <a:rPr lang="en-US" sz="2800" dirty="0">
                <a:solidFill>
                  <a:srgbClr val="000000"/>
                </a:solidFill>
                <a:latin typeface="Calibri"/>
                <a:ea typeface="Calibri"/>
                <a:cs typeface="Calibri"/>
                <a:sym typeface="Calibri"/>
              </a:rPr>
              <a:t> is the </a:t>
            </a:r>
            <a:r>
              <a:rPr lang="en-US" sz="2800" i="1" dirty="0">
                <a:solidFill>
                  <a:srgbClr val="000000"/>
                </a:solidFill>
                <a:latin typeface="Calibri"/>
                <a:ea typeface="Calibri"/>
                <a:cs typeface="Calibri"/>
                <a:sym typeface="Calibri"/>
              </a:rPr>
              <a:t>parent function</a:t>
            </a:r>
            <a:r>
              <a:rPr lang="en-US" sz="2800" dirty="0">
                <a:solidFill>
                  <a:srgbClr val="000000"/>
                </a:solidFill>
                <a:latin typeface="Calibri"/>
                <a:ea typeface="Calibri"/>
                <a:cs typeface="Calibri"/>
                <a:sym typeface="Calibri"/>
              </a:rPr>
              <a:t> for the linear function family. A </a:t>
            </a:r>
            <a:r>
              <a:rPr lang="en-US" sz="2800" b="1" dirty="0">
                <a:solidFill>
                  <a:srgbClr val="000000"/>
                </a:solidFill>
                <a:latin typeface="Calibri"/>
                <a:ea typeface="Calibri"/>
                <a:cs typeface="Calibri"/>
                <a:sym typeface="Calibri"/>
              </a:rPr>
              <a:t>parent function</a:t>
            </a:r>
            <a:r>
              <a:rPr lang="en-US" sz="2800" dirty="0">
                <a:solidFill>
                  <a:srgbClr val="000000"/>
                </a:solidFill>
                <a:latin typeface="Calibri"/>
                <a:ea typeface="Calibri"/>
                <a:cs typeface="Calibri"/>
                <a:sym typeface="Calibri"/>
              </a:rPr>
              <a:t> is the simplest function of its type.</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16">
            <a:extLst>
              <a:ext uri="{C183D7F6-B498-43B3-948B-1728B52AA6E4}">
                <adec:decorative xmlns:adec="http://schemas.microsoft.com/office/drawing/2017/decorative" val="1"/>
              </a:ext>
            </a:extLst>
          </p:cNvPr>
          <p:cNvSpPr/>
          <p:nvPr/>
        </p:nvSpPr>
        <p:spPr>
          <a:xfrm>
            <a:off x="3363984" y="1484851"/>
            <a:ext cx="8229601" cy="5251509"/>
          </a:xfrm>
          <a:prstGeom prst="roundRect">
            <a:avLst>
              <a:gd name="adj" fmla="val 16667"/>
            </a:avLst>
          </a:prstGeom>
          <a:noFill/>
          <a:ln w="50800" cap="flat" cmpd="dbl">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0" name="Google Shape;580;p16"/>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200"/>
              <a:buFont typeface="Calibri"/>
              <a:buNone/>
            </a:pPr>
            <a:r>
              <a:rPr lang="en-US" b="1" dirty="0"/>
              <a:t>Vertical Translations of Functions </a:t>
            </a:r>
            <a:r>
              <a:rPr lang="en-US" sz="2000" b="1" dirty="0">
                <a:solidFill>
                  <a:schemeClr val="bg1"/>
                </a:solidFill>
              </a:rPr>
              <a:t>(2 of 10)</a:t>
            </a:r>
            <a:endParaRPr dirty="0">
              <a:solidFill>
                <a:schemeClr val="bg1"/>
              </a:solidFill>
            </a:endParaRPr>
          </a:p>
        </p:txBody>
      </p:sp>
      <p:sp>
        <p:nvSpPr>
          <p:cNvPr id="2" name="Rectangle 1">
            <a:extLst>
              <a:ext uri="{FF2B5EF4-FFF2-40B4-BE49-F238E27FC236}">
                <a16:creationId xmlns:a16="http://schemas.microsoft.com/office/drawing/2014/main" id="{4CCD9999-D8F5-3165-933B-F1C098709A1F}"/>
              </a:ext>
            </a:extLst>
          </p:cNvPr>
          <p:cNvSpPr/>
          <p:nvPr/>
        </p:nvSpPr>
        <p:spPr>
          <a:xfrm>
            <a:off x="777239" y="2063692"/>
            <a:ext cx="2267965" cy="3967992"/>
          </a:xfrm>
          <a:prstGeom prst="rect">
            <a:avLst/>
          </a:prstGeom>
          <a:noFill/>
          <a:ln w="38100">
            <a:solidFill>
              <a:schemeClr val="accent3">
                <a:lumMod val="7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For the family of linear functions having the general form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ax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where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are any real numbers, the function</a:t>
            </a: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where</a:t>
            </a: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1 and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0, is the parent function. It is the simplest linear function.</a:t>
            </a:r>
          </a:p>
        </p:txBody>
      </p:sp>
      <p:pic>
        <p:nvPicPr>
          <p:cNvPr id="581" name="Google Shape;581;p16" descr="Worked Example"/>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162298" y="1271472"/>
            <a:ext cx="2758679" cy="426757"/>
          </a:xfrm>
          <a:prstGeom prst="rect">
            <a:avLst/>
          </a:prstGeom>
          <a:noFill/>
          <a:ln>
            <a:noFill/>
          </a:ln>
        </p:spPr>
      </p:pic>
      <p:sp>
        <p:nvSpPr>
          <p:cNvPr id="3" name="TextBox 2">
            <a:extLst>
              <a:ext uri="{FF2B5EF4-FFF2-40B4-BE49-F238E27FC236}">
                <a16:creationId xmlns:a16="http://schemas.microsoft.com/office/drawing/2014/main" id="{57F3613B-1B32-5534-C374-D5A1B637609A}"/>
              </a:ext>
            </a:extLst>
          </p:cNvPr>
          <p:cNvSpPr txBox="1"/>
          <p:nvPr/>
        </p:nvSpPr>
        <p:spPr>
          <a:xfrm>
            <a:off x="3607265" y="1728132"/>
            <a:ext cx="7747185" cy="2092881"/>
          </a:xfrm>
          <a:prstGeom prst="rect">
            <a:avLst/>
          </a:prstGeom>
          <a:noFill/>
        </p:spPr>
        <p:txBody>
          <a:bodyPr wrap="square" rtlCol="0">
            <a:spAutoFit/>
          </a:bodyPr>
          <a:lstStyle/>
          <a:p>
            <a:pPr algn="l">
              <a:spcAft>
                <a:spcPts val="1200"/>
              </a:spcAft>
            </a:pP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You can translate the graph of </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 down 5 units by moving each point 5 units down. The transformed graph is labeled as </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m</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algn="l"/>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To translate the point (−2, −2) on </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 subtract 5 units from the output value, or </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y</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-value. The input value, or </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-value, remains unchanged. The coordinates of the translated point on </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m</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 are (−2, −7). The coordinates of four additional points on </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 are translated for you.</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descr="A graph of two lines on the coordinate plane. The line f of x = x rises from left to right through the points from the table, including the points (0, 0) and (2, 2). The line m of x rises from left to right through the points from the table, including the points (0, negative 5) and (2, negative 3). Vertical arrows extend 5 units from each point on line f of x to a point below it on line m of x.">
            <a:extLst>
              <a:ext uri="{FF2B5EF4-FFF2-40B4-BE49-F238E27FC236}">
                <a16:creationId xmlns:a16="http://schemas.microsoft.com/office/drawing/2014/main" id="{78FA687F-D04F-F652-9937-38E5B5CD265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103573" y="3980402"/>
            <a:ext cx="2656562" cy="2656562"/>
          </a:xfrm>
          <a:prstGeom prst="rect">
            <a:avLst/>
          </a:prstGeom>
        </p:spPr>
      </p:pic>
      <p:graphicFrame>
        <p:nvGraphicFramePr>
          <p:cNvPr id="8" name="Table 7">
            <a:extLst>
              <a:ext uri="{FF2B5EF4-FFF2-40B4-BE49-F238E27FC236}">
                <a16:creationId xmlns:a16="http://schemas.microsoft.com/office/drawing/2014/main" id="{2528C5C1-A73F-6ADA-88E8-40ED62888986}"/>
              </a:ext>
            </a:extLst>
          </p:cNvPr>
          <p:cNvGraphicFramePr>
            <a:graphicFrameLocks noGrp="1"/>
          </p:cNvGraphicFramePr>
          <p:nvPr>
            <p:extLst>
              <p:ext uri="{D42A27DB-BD31-4B8C-83A1-F6EECF244321}">
                <p14:modId xmlns:p14="http://schemas.microsoft.com/office/powerpoint/2010/main" val="2680519871"/>
              </p:ext>
            </p:extLst>
          </p:nvPr>
        </p:nvGraphicFramePr>
        <p:xfrm>
          <a:off x="7006407" y="3781660"/>
          <a:ext cx="1365806" cy="640080"/>
        </p:xfrm>
        <a:graphic>
          <a:graphicData uri="http://schemas.openxmlformats.org/drawingml/2006/table">
            <a:tbl>
              <a:tblPr firstRow="1" bandRow="1">
                <a:tableStyleId>{A49AC34E-657E-4A3B-9C05-DC8BE6C80247}</a:tableStyleId>
              </a:tblPr>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6" name="Table 5">
            <a:extLst>
              <a:ext uri="{FF2B5EF4-FFF2-40B4-BE49-F238E27FC236}">
                <a16:creationId xmlns:a16="http://schemas.microsoft.com/office/drawing/2014/main" id="{EC937E16-0A17-A552-01B6-C1C0DD6DA216}"/>
              </a:ext>
            </a:extLst>
          </p:cNvPr>
          <p:cNvGraphicFramePr>
            <a:graphicFrameLocks noGrp="1"/>
          </p:cNvGraphicFramePr>
          <p:nvPr>
            <p:extLst>
              <p:ext uri="{D42A27DB-BD31-4B8C-83A1-F6EECF244321}">
                <p14:modId xmlns:p14="http://schemas.microsoft.com/office/powerpoint/2010/main" val="3852151508"/>
              </p:ext>
            </p:extLst>
          </p:nvPr>
        </p:nvGraphicFramePr>
        <p:xfrm>
          <a:off x="7006407" y="4420947"/>
          <a:ext cx="1365806" cy="2225040"/>
        </p:xfrm>
        <a:graphic>
          <a:graphicData uri="http://schemas.openxmlformats.org/drawingml/2006/table">
            <a:tbl>
              <a:tblPr firstRow="1" bandRow="1">
                <a:tableStyleId>{A49AC34E-657E-4A3B-9C05-DC8BE6C80247}</a:tableStyleId>
              </a:tblPr>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9" name="Table 8">
            <a:extLst>
              <a:ext uri="{FF2B5EF4-FFF2-40B4-BE49-F238E27FC236}">
                <a16:creationId xmlns:a16="http://schemas.microsoft.com/office/drawing/2014/main" id="{9C6C8806-3F5C-738B-438D-E7552F92CF34}"/>
              </a:ext>
            </a:extLst>
          </p:cNvPr>
          <p:cNvGraphicFramePr>
            <a:graphicFrameLocks noGrp="1"/>
          </p:cNvGraphicFramePr>
          <p:nvPr>
            <p:extLst>
              <p:ext uri="{D42A27DB-BD31-4B8C-83A1-F6EECF244321}">
                <p14:modId xmlns:p14="http://schemas.microsoft.com/office/powerpoint/2010/main" val="3939477802"/>
              </p:ext>
            </p:extLst>
          </p:nvPr>
        </p:nvGraphicFramePr>
        <p:xfrm>
          <a:off x="8690993" y="3781660"/>
          <a:ext cx="1468284" cy="640080"/>
        </p:xfrm>
        <a:graphic>
          <a:graphicData uri="http://schemas.openxmlformats.org/drawingml/2006/table">
            <a:tbl>
              <a:tblPr firstRow="1" bandRow="1">
                <a:tableStyleId>{A49AC34E-657E-4A3B-9C05-DC8BE6C80247}</a:tableStyleId>
              </a:tblPr>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7" name="Table 6">
            <a:extLst>
              <a:ext uri="{FF2B5EF4-FFF2-40B4-BE49-F238E27FC236}">
                <a16:creationId xmlns:a16="http://schemas.microsoft.com/office/drawing/2014/main" id="{AD6AD6D1-5F4F-FB0C-1CB6-FFB859B70A30}"/>
              </a:ext>
            </a:extLst>
          </p:cNvPr>
          <p:cNvGraphicFramePr>
            <a:graphicFrameLocks noGrp="1"/>
          </p:cNvGraphicFramePr>
          <p:nvPr>
            <p:extLst>
              <p:ext uri="{D42A27DB-BD31-4B8C-83A1-F6EECF244321}">
                <p14:modId xmlns:p14="http://schemas.microsoft.com/office/powerpoint/2010/main" val="684825957"/>
              </p:ext>
            </p:extLst>
          </p:nvPr>
        </p:nvGraphicFramePr>
        <p:xfrm>
          <a:off x="8690993" y="4420947"/>
          <a:ext cx="1468284" cy="2225040"/>
        </p:xfrm>
        <a:graphic>
          <a:graphicData uri="http://schemas.openxmlformats.org/drawingml/2006/table">
            <a:tbl>
              <a:tblPr firstRow="1" bandRow="1">
                <a:tableStyleId>{A49AC34E-657E-4A3B-9C05-DC8BE6C80247}</a:tableStyleId>
              </a:tblPr>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−7</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−6</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−5</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−4</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−3</a:t>
                      </a:r>
                    </a:p>
                  </a:txBody>
                  <a:tcPr anchor="ctr"/>
                </a:tc>
                <a:extLst>
                  <a:ext uri="{0D108BD9-81ED-4DB2-BD59-A6C34878D82A}">
                    <a16:rowId xmlns:a16="http://schemas.microsoft.com/office/drawing/2014/main" val="24239994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17"/>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Translations of Functions </a:t>
            </a:r>
            <a:r>
              <a:rPr lang="en-US" sz="2000" b="1" dirty="0">
                <a:solidFill>
                  <a:schemeClr val="bg1"/>
                </a:solidFill>
              </a:rPr>
              <a:t>(3 of 10)</a:t>
            </a:r>
            <a:endParaRPr dirty="0">
              <a:solidFill>
                <a:schemeClr val="bg1"/>
              </a:solidFill>
            </a:endParaRPr>
          </a:p>
        </p:txBody>
      </p:sp>
      <p:sp>
        <p:nvSpPr>
          <p:cNvPr id="2" name="Google Shape;573;p15">
            <a:extLst>
              <a:ext uri="{FF2B5EF4-FFF2-40B4-BE49-F238E27FC236}">
                <a16:creationId xmlns:a16="http://schemas.microsoft.com/office/drawing/2014/main" id="{0F1C6D8C-A53E-8869-B5C2-2FEE474675BC}"/>
              </a:ext>
            </a:extLst>
          </p:cNvPr>
          <p:cNvSpPr txBox="1"/>
          <p:nvPr/>
        </p:nvSpPr>
        <p:spPr>
          <a:xfrm>
            <a:off x="777239" y="1602297"/>
            <a:ext cx="10136837" cy="4934561"/>
          </a:xfrm>
          <a:prstGeom prst="rect">
            <a:avLst/>
          </a:prstGeom>
          <a:noFill/>
          <a:ln>
            <a:noFill/>
          </a:ln>
        </p:spPr>
        <p:txBody>
          <a:bodyPr spcFirstLastPara="1" wrap="square" lIns="91425" tIns="45700" rIns="91425" bIns="45700" anchor="t" anchorCtr="0">
            <a:noAutofit/>
          </a:bodyPr>
          <a:lstStyle/>
          <a:p>
            <a:pPr marL="511175" indent="-511175" algn="l">
              <a:buFont typeface="+mj-lt"/>
              <a:buAutoNum type="arabicPeriod"/>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Consider the translated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m</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Identify the slope and</a:t>
            </a:r>
            <a:b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b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y</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-intercept of the graph of the function. Then, write the equation for the function in general form</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endParaRPr sz="28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8" name="Google Shape;598;p1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Translations of Functions </a:t>
            </a:r>
            <a:r>
              <a:rPr lang="en-US" sz="2000" b="1" dirty="0">
                <a:solidFill>
                  <a:schemeClr val="bg1"/>
                </a:solidFill>
              </a:rPr>
              <a:t>(4 of 10)</a:t>
            </a:r>
            <a:endParaRPr dirty="0">
              <a:solidFill>
                <a:schemeClr val="bg1"/>
              </a:solidFill>
            </a:endParaRPr>
          </a:p>
        </p:txBody>
      </p:sp>
      <p:sp>
        <p:nvSpPr>
          <p:cNvPr id="2" name="Google Shape;573;p15">
            <a:extLst>
              <a:ext uri="{FF2B5EF4-FFF2-40B4-BE49-F238E27FC236}">
                <a16:creationId xmlns:a16="http://schemas.microsoft.com/office/drawing/2014/main" id="{D733FEA7-2825-BF64-7DEE-85C51F26D218}"/>
              </a:ext>
            </a:extLst>
          </p:cNvPr>
          <p:cNvSpPr txBox="1"/>
          <p:nvPr/>
        </p:nvSpPr>
        <p:spPr>
          <a:xfrm>
            <a:off x="777239" y="1602297"/>
            <a:ext cx="10136837" cy="1401471"/>
          </a:xfrm>
          <a:prstGeom prst="rect">
            <a:avLst/>
          </a:prstGeom>
          <a:noFill/>
          <a:ln>
            <a:noFill/>
          </a:ln>
        </p:spPr>
        <p:txBody>
          <a:bodyPr spcFirstLastPara="1" wrap="square" lIns="91425" tIns="45700" rIns="91425" bIns="45700" anchor="t" anchorCtr="0">
            <a:noAutofit/>
          </a:bodyPr>
          <a:lstStyle/>
          <a:p>
            <a:pPr marL="514350" indent="-514350" algn="l">
              <a:spcAft>
                <a:spcPts val="600"/>
              </a:spcAft>
              <a:buFont typeface="+mj-lt"/>
              <a:buAutoNum type="arabicPeriod" startAt="2"/>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Translate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again to create a new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p</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marL="1031875" lvl="2" indent="-514350">
              <a:buFont typeface="+mj-lt"/>
              <a:buAutoNum type="alphaLcPeriod"/>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Translate the graph of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f</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up 5 units. Label your graph as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p</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Complete the table of corresponding points on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p</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endParaRPr sz="2800" dirty="0">
              <a:latin typeface="Calibri" panose="020F0502020204030204" pitchFamily="34" charset="0"/>
              <a:ea typeface="Calibri" panose="020F0502020204030204" pitchFamily="34" charset="0"/>
              <a:cs typeface="Calibri" panose="020F0502020204030204" pitchFamily="34" charset="0"/>
            </a:endParaRPr>
          </a:p>
        </p:txBody>
      </p:sp>
      <p:pic>
        <p:nvPicPr>
          <p:cNvPr id="597" name="Google Shape;597;p18" descr="A graph of line f of x = x on the coordinate plane. The line rises from left to right through the points from the table, including the points (0, 0) and (2, 2)."/>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1799872" y="3079269"/>
            <a:ext cx="3877826" cy="3622226"/>
          </a:xfrm>
          <a:prstGeom prst="rect">
            <a:avLst/>
          </a:prstGeom>
          <a:noFill/>
          <a:ln>
            <a:noFill/>
          </a:ln>
        </p:spPr>
      </p:pic>
      <p:graphicFrame>
        <p:nvGraphicFramePr>
          <p:cNvPr id="5" name="Table 4">
            <a:extLst>
              <a:ext uri="{FF2B5EF4-FFF2-40B4-BE49-F238E27FC236}">
                <a16:creationId xmlns:a16="http://schemas.microsoft.com/office/drawing/2014/main" id="{328BE05C-E4EE-EDCE-5FD8-778174FDA001}"/>
              </a:ext>
            </a:extLst>
          </p:cNvPr>
          <p:cNvGraphicFramePr>
            <a:graphicFrameLocks noGrp="1"/>
          </p:cNvGraphicFramePr>
          <p:nvPr>
            <p:extLst>
              <p:ext uri="{D42A27DB-BD31-4B8C-83A1-F6EECF244321}">
                <p14:modId xmlns:p14="http://schemas.microsoft.com/office/powerpoint/2010/main" val="3453632045"/>
              </p:ext>
            </p:extLst>
          </p:nvPr>
        </p:nvGraphicFramePr>
        <p:xfrm>
          <a:off x="6512716" y="3342872"/>
          <a:ext cx="1365806" cy="640080"/>
        </p:xfrm>
        <a:graphic>
          <a:graphicData uri="http://schemas.openxmlformats.org/drawingml/2006/table">
            <a:tbl>
              <a:tblPr firstRow="1" bandRow="1">
                <a:tableStyleId>{A49AC34E-657E-4A3B-9C05-DC8BE6C80247}</a:tableStyleId>
              </a:tblPr>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3" name="Table 2">
            <a:extLst>
              <a:ext uri="{FF2B5EF4-FFF2-40B4-BE49-F238E27FC236}">
                <a16:creationId xmlns:a16="http://schemas.microsoft.com/office/drawing/2014/main" id="{3ADA399E-387B-E108-C3D0-0642B9943127}"/>
              </a:ext>
            </a:extLst>
          </p:cNvPr>
          <p:cNvGraphicFramePr>
            <a:graphicFrameLocks noGrp="1"/>
          </p:cNvGraphicFramePr>
          <p:nvPr>
            <p:extLst>
              <p:ext uri="{D42A27DB-BD31-4B8C-83A1-F6EECF244321}">
                <p14:modId xmlns:p14="http://schemas.microsoft.com/office/powerpoint/2010/main" val="1268328403"/>
              </p:ext>
            </p:extLst>
          </p:nvPr>
        </p:nvGraphicFramePr>
        <p:xfrm>
          <a:off x="6512716" y="3982159"/>
          <a:ext cx="1365806" cy="2225040"/>
        </p:xfrm>
        <a:graphic>
          <a:graphicData uri="http://schemas.openxmlformats.org/drawingml/2006/table">
            <a:tbl>
              <a:tblPr firstRow="1" bandRow="1">
                <a:tableStyleId>{A49AC34E-657E-4A3B-9C05-DC8BE6C80247}</a:tableStyleId>
              </a:tblPr>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6" name="Table 5">
            <a:extLst>
              <a:ext uri="{FF2B5EF4-FFF2-40B4-BE49-F238E27FC236}">
                <a16:creationId xmlns:a16="http://schemas.microsoft.com/office/drawing/2014/main" id="{98629BFB-19BC-E69B-A87B-4CD7A0E3FB39}"/>
              </a:ext>
            </a:extLst>
          </p:cNvPr>
          <p:cNvGraphicFramePr>
            <a:graphicFrameLocks noGrp="1"/>
          </p:cNvGraphicFramePr>
          <p:nvPr>
            <p:extLst>
              <p:ext uri="{D42A27DB-BD31-4B8C-83A1-F6EECF244321}">
                <p14:modId xmlns:p14="http://schemas.microsoft.com/office/powerpoint/2010/main" val="3284003831"/>
              </p:ext>
            </p:extLst>
          </p:nvPr>
        </p:nvGraphicFramePr>
        <p:xfrm>
          <a:off x="8197302" y="3342872"/>
          <a:ext cx="1468284" cy="640080"/>
        </p:xfrm>
        <a:graphic>
          <a:graphicData uri="http://schemas.openxmlformats.org/drawingml/2006/table">
            <a:tbl>
              <a:tblPr firstRow="1" bandRow="1">
                <a:tableStyleId>{A49AC34E-657E-4A3B-9C05-DC8BE6C80247}</a:tableStyleId>
              </a:tblPr>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4" name="Table 3">
            <a:extLst>
              <a:ext uri="{FF2B5EF4-FFF2-40B4-BE49-F238E27FC236}">
                <a16:creationId xmlns:a16="http://schemas.microsoft.com/office/drawing/2014/main" id="{F84A9D00-48BF-EE6E-AC12-2208EF20CAD8}"/>
              </a:ext>
            </a:extLst>
          </p:cNvPr>
          <p:cNvGraphicFramePr>
            <a:graphicFrameLocks noGrp="1"/>
          </p:cNvGraphicFramePr>
          <p:nvPr>
            <p:extLst>
              <p:ext uri="{D42A27DB-BD31-4B8C-83A1-F6EECF244321}">
                <p14:modId xmlns:p14="http://schemas.microsoft.com/office/powerpoint/2010/main" val="2365514222"/>
              </p:ext>
            </p:extLst>
          </p:nvPr>
        </p:nvGraphicFramePr>
        <p:xfrm>
          <a:off x="8197302" y="3982159"/>
          <a:ext cx="1468284" cy="2225040"/>
        </p:xfrm>
        <a:graphic>
          <a:graphicData uri="http://schemas.openxmlformats.org/drawingml/2006/table">
            <a:tbl>
              <a:tblPr firstRow="1" bandRow="1">
                <a:tableStyleId>{A49AC34E-657E-4A3B-9C05-DC8BE6C80247}</a:tableStyleId>
              </a:tblPr>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01988286"/>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78128217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73188255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4239994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19"/>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Translations of Functions </a:t>
            </a:r>
            <a:r>
              <a:rPr lang="en-US" sz="2000" b="1" dirty="0">
                <a:solidFill>
                  <a:schemeClr val="bg1"/>
                </a:solidFill>
              </a:rPr>
              <a:t>(5 of 10)</a:t>
            </a:r>
            <a:endParaRPr dirty="0">
              <a:solidFill>
                <a:schemeClr val="bg1"/>
              </a:solidFill>
            </a:endParaRPr>
          </a:p>
        </p:txBody>
      </p:sp>
      <p:sp>
        <p:nvSpPr>
          <p:cNvPr id="2" name="Google Shape;573;p15">
            <a:extLst>
              <a:ext uri="{FF2B5EF4-FFF2-40B4-BE49-F238E27FC236}">
                <a16:creationId xmlns:a16="http://schemas.microsoft.com/office/drawing/2014/main" id="{10E0F62F-9408-96E3-35EE-5A6EF0D6496C}"/>
              </a:ext>
            </a:extLst>
          </p:cNvPr>
          <p:cNvSpPr txBox="1"/>
          <p:nvPr/>
        </p:nvSpPr>
        <p:spPr>
          <a:xfrm>
            <a:off x="777239" y="1602297"/>
            <a:ext cx="10136837" cy="1401471"/>
          </a:xfrm>
          <a:prstGeom prst="rect">
            <a:avLst/>
          </a:prstGeom>
          <a:noFill/>
          <a:ln>
            <a:noFill/>
          </a:ln>
        </p:spPr>
        <p:txBody>
          <a:bodyPr spcFirstLastPara="1" wrap="square" lIns="91425" tIns="45700" rIns="91425" bIns="45700" anchor="t" anchorCtr="0">
            <a:noAutofit/>
          </a:bodyPr>
          <a:lstStyle/>
          <a:p>
            <a:pPr marL="514350" lvl="2" indent="-514350">
              <a:buFont typeface="+mj-lt"/>
              <a:buAutoNum type="alphaLcPeriod" startAt="2"/>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Identify the slope and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y</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-intercept of th</a:t>
            </a:r>
            <a:r>
              <a:rPr lang="en-US" sz="2800" dirty="0">
                <a:latin typeface="Calibri" panose="020F0502020204030204" pitchFamily="34" charset="0"/>
                <a:ea typeface="Calibri" panose="020F0502020204030204" pitchFamily="34" charset="0"/>
                <a:cs typeface="Calibri" panose="020F0502020204030204" pitchFamily="34" charset="0"/>
                <a:sym typeface="Calibri"/>
              </a:rPr>
              <a:t>e graph of the function. Then, write the equation for the function in general form</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endParaRPr sz="28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20"/>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Translations of Functions </a:t>
            </a:r>
            <a:r>
              <a:rPr lang="en-US" sz="2000" b="1" dirty="0">
                <a:solidFill>
                  <a:schemeClr val="bg1"/>
                </a:solidFill>
              </a:rPr>
              <a:t>(6 of 10)</a:t>
            </a:r>
            <a:endParaRPr dirty="0">
              <a:solidFill>
                <a:schemeClr val="bg1"/>
              </a:solidFill>
            </a:endParaRPr>
          </a:p>
        </p:txBody>
      </p:sp>
      <p:sp>
        <p:nvSpPr>
          <p:cNvPr id="2" name="Google Shape;573;p15">
            <a:extLst>
              <a:ext uri="{FF2B5EF4-FFF2-40B4-BE49-F238E27FC236}">
                <a16:creationId xmlns:a16="http://schemas.microsoft.com/office/drawing/2014/main" id="{87B65744-7B6C-6798-F906-D186F0966DFA}"/>
              </a:ext>
            </a:extLst>
          </p:cNvPr>
          <p:cNvSpPr txBox="1"/>
          <p:nvPr/>
        </p:nvSpPr>
        <p:spPr>
          <a:xfrm>
            <a:off x="777239" y="1602297"/>
            <a:ext cx="10136837" cy="5041784"/>
          </a:xfrm>
          <a:prstGeom prst="rect">
            <a:avLst/>
          </a:prstGeom>
          <a:noFill/>
          <a:ln>
            <a:noFill/>
          </a:ln>
        </p:spPr>
        <p:txBody>
          <a:bodyPr spcFirstLastPara="1" wrap="square" lIns="91425" tIns="45700" rIns="91425" bIns="45700" anchor="t" anchorCtr="0">
            <a:noAutofit/>
          </a:bodyPr>
          <a:lstStyle/>
          <a:p>
            <a:pPr algn="l">
              <a:spcAft>
                <a:spcPts val="1200"/>
              </a:spcAft>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For the parent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the transformed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y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shows a vertical translation of the function. This translation affects the output values, or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y</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-values, of the function. For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&gt; 0, the resulting graph vertically shifts up. For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&lt; 0, the resulting graph vertically shifts down. The distance the graph is shifted is the absolute value of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or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marL="514350" indent="-514350" algn="l">
              <a:buFont typeface="+mj-lt"/>
              <a:buAutoNum type="arabicPeriod" startAt="3"/>
            </a:pPr>
            <a:r>
              <a:rPr lang="en-US" sz="2800" dirty="0">
                <a:latin typeface="Calibri" panose="020F0502020204030204" pitchFamily="34" charset="0"/>
                <a:ea typeface="Calibri" panose="020F0502020204030204" pitchFamily="34" charset="0"/>
                <a:cs typeface="Calibri" panose="020F0502020204030204" pitchFamily="34" charset="0"/>
              </a:rPr>
              <a:t>Compare the values of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(2) and </a:t>
            </a:r>
            <a:r>
              <a:rPr lang="en-US" sz="2800" i="1" dirty="0">
                <a:latin typeface="Calibri" panose="020F0502020204030204" pitchFamily="34" charset="0"/>
                <a:ea typeface="Calibri" panose="020F0502020204030204" pitchFamily="34" charset="0"/>
                <a:cs typeface="Calibri" panose="020F0502020204030204" pitchFamily="34" charset="0"/>
              </a:rPr>
              <a:t>p</a:t>
            </a:r>
            <a:r>
              <a:rPr lang="en-US" sz="2800" dirty="0">
                <a:latin typeface="Calibri" panose="020F0502020204030204" pitchFamily="34" charset="0"/>
                <a:ea typeface="Calibri" panose="020F0502020204030204" pitchFamily="34" charset="0"/>
                <a:cs typeface="Calibri" panose="020F0502020204030204" pitchFamily="34" charset="0"/>
              </a:rPr>
              <a:t>(2). How did the transformation of the function affect the value of the function at </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2?</a:t>
            </a:r>
            <a:endParaRPr sz="28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21"/>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Translations of Functions </a:t>
            </a:r>
            <a:r>
              <a:rPr lang="en-US" sz="2000" b="1" dirty="0">
                <a:solidFill>
                  <a:schemeClr val="bg1"/>
                </a:solidFill>
              </a:rPr>
              <a:t>(7 of 10)</a:t>
            </a:r>
            <a:endParaRPr dirty="0">
              <a:solidFill>
                <a:schemeClr val="bg1"/>
              </a:solidFill>
            </a:endParaRPr>
          </a:p>
        </p:txBody>
      </p:sp>
      <p:sp>
        <p:nvSpPr>
          <p:cNvPr id="2" name="Google Shape;573;p15">
            <a:extLst>
              <a:ext uri="{FF2B5EF4-FFF2-40B4-BE49-F238E27FC236}">
                <a16:creationId xmlns:a16="http://schemas.microsoft.com/office/drawing/2014/main" id="{D0FEF7CC-7173-A3AF-2B46-8BE9CD675FD8}"/>
              </a:ext>
            </a:extLst>
          </p:cNvPr>
          <p:cNvSpPr txBox="1"/>
          <p:nvPr/>
        </p:nvSpPr>
        <p:spPr>
          <a:xfrm>
            <a:off x="777239" y="1602298"/>
            <a:ext cx="10136837" cy="813732"/>
          </a:xfrm>
          <a:prstGeom prst="rect">
            <a:avLst/>
          </a:prstGeom>
          <a:noFill/>
          <a:ln>
            <a:noFill/>
          </a:ln>
        </p:spPr>
        <p:txBody>
          <a:bodyPr spcFirstLastPara="1" wrap="square" lIns="91425" tIns="45700" rIns="91425" bIns="45700" anchor="t" anchorCtr="0">
            <a:noAutofit/>
          </a:bodyPr>
          <a:lstStyle/>
          <a:p>
            <a:pPr marL="514350" lvl="2" indent="-514350">
              <a:buFont typeface="+mj-lt"/>
              <a:buAutoNum type="arabicPeriod" startAt="4"/>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Consider the graph of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j</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 2</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− 1.</a:t>
            </a:r>
            <a:endParaRPr sz="2800" dirty="0">
              <a:latin typeface="Calibri" panose="020F0502020204030204" pitchFamily="34" charset="0"/>
              <a:ea typeface="Calibri" panose="020F0502020204030204" pitchFamily="34" charset="0"/>
              <a:cs typeface="Calibri" panose="020F0502020204030204" pitchFamily="34" charset="0"/>
            </a:endParaRPr>
          </a:p>
        </p:txBody>
      </p:sp>
      <p:pic>
        <p:nvPicPr>
          <p:cNvPr id="622" name="Google Shape;622;p21" descr="Two graphs. Both graphs of line j of x = 2 x minus 1 on the coordinate plane. The line rises from left to right through the points from the table, including the points (0, negative 1) and (1, 1)."/>
          <p:cNvPicPr preferRelativeResize="0"/>
          <p:nvPr/>
        </p:nvPicPr>
        <p:blipFill rotWithShape="1">
          <a:blip r:embed="rId3">
            <a:alphaModFix/>
          </a:blip>
          <a:srcRect/>
          <a:stretch/>
        </p:blipFill>
        <p:spPr>
          <a:xfrm>
            <a:off x="2653243" y="2299093"/>
            <a:ext cx="6883925" cy="3331900"/>
          </a:xfrm>
          <a:prstGeom prst="rect">
            <a:avLst/>
          </a:prstGeom>
          <a:noFill/>
          <a:ln>
            <a:noFill/>
          </a:ln>
        </p:spPr>
      </p:pic>
      <p:sp>
        <p:nvSpPr>
          <p:cNvPr id="3" name="Google Shape;573;p15">
            <a:extLst>
              <a:ext uri="{FF2B5EF4-FFF2-40B4-BE49-F238E27FC236}">
                <a16:creationId xmlns:a16="http://schemas.microsoft.com/office/drawing/2014/main" id="{D3E20108-F9D2-BACF-352F-6DEBBA5156AB}"/>
              </a:ext>
            </a:extLst>
          </p:cNvPr>
          <p:cNvSpPr txBox="1"/>
          <p:nvPr/>
        </p:nvSpPr>
        <p:spPr>
          <a:xfrm>
            <a:off x="777238" y="5630992"/>
            <a:ext cx="10136837" cy="987921"/>
          </a:xfrm>
          <a:prstGeom prst="rect">
            <a:avLst/>
          </a:prstGeom>
          <a:noFill/>
          <a:ln>
            <a:noFill/>
          </a:ln>
        </p:spPr>
        <p:txBody>
          <a:bodyPr spcFirstLastPara="1" wrap="square" lIns="91425" tIns="45700" rIns="91425" bIns="45700" anchor="t" anchorCtr="0">
            <a:noAutofit/>
          </a:bodyPr>
          <a:lstStyle/>
          <a:p>
            <a:pPr marL="1031875" lvl="2" indent="-514350">
              <a:buFont typeface="+mj-lt"/>
              <a:buAutoNum type="alphaLcPeriod"/>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Translate the graph of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j</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up 4 units. Label the graph as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Then, write an equation for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in terms of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j</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endParaRPr sz="28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22"/>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Translations of Functions </a:t>
            </a:r>
            <a:r>
              <a:rPr lang="en-US" sz="2000" b="1" dirty="0">
                <a:solidFill>
                  <a:schemeClr val="bg1"/>
                </a:solidFill>
              </a:rPr>
              <a:t>(8 of 10)</a:t>
            </a:r>
            <a:endParaRPr dirty="0">
              <a:solidFill>
                <a:schemeClr val="bg1"/>
              </a:solidFill>
            </a:endParaRPr>
          </a:p>
        </p:txBody>
      </p:sp>
      <p:sp>
        <p:nvSpPr>
          <p:cNvPr id="3" name="Speech Bubble: Rectangle with Corners Rounded 2">
            <a:extLst>
              <a:ext uri="{FF2B5EF4-FFF2-40B4-BE49-F238E27FC236}">
                <a16:creationId xmlns:a16="http://schemas.microsoft.com/office/drawing/2014/main" id="{779730D7-744F-A6C4-6217-0B8F60DF803F}"/>
              </a:ext>
            </a:extLst>
          </p:cNvPr>
          <p:cNvSpPr/>
          <p:nvPr/>
        </p:nvSpPr>
        <p:spPr>
          <a:xfrm>
            <a:off x="777239" y="4790114"/>
            <a:ext cx="2209241" cy="1585519"/>
          </a:xfrm>
          <a:prstGeom prst="wedgeRoundRectCallout">
            <a:avLst>
              <a:gd name="adj1" fmla="val -34970"/>
              <a:gd name="adj2" fmla="val -67659"/>
              <a:gd name="adj3" fmla="val 16667"/>
            </a:avLst>
          </a:prstGeom>
          <a:no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accent3">
                    <a:lumMod val="75000"/>
                  </a:schemeClr>
                </a:solidFill>
                <a:latin typeface="Calibri" panose="020F0502020204030204" pitchFamily="34" charset="0"/>
                <a:ea typeface="Calibri" panose="020F0502020204030204" pitchFamily="34" charset="0"/>
                <a:cs typeface="Calibri" panose="020F0502020204030204" pitchFamily="34" charset="0"/>
              </a:rPr>
              <a:t>Ask Yourself… </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Will the graphs of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ever intersect?</a:t>
            </a:r>
          </a:p>
        </p:txBody>
      </p:sp>
      <p:sp>
        <p:nvSpPr>
          <p:cNvPr id="2" name="Google Shape;573;p15">
            <a:extLst>
              <a:ext uri="{FF2B5EF4-FFF2-40B4-BE49-F238E27FC236}">
                <a16:creationId xmlns:a16="http://schemas.microsoft.com/office/drawing/2014/main" id="{D41161D6-DDF7-7389-E2F9-D93936034DB8}"/>
              </a:ext>
            </a:extLst>
          </p:cNvPr>
          <p:cNvSpPr txBox="1"/>
          <p:nvPr/>
        </p:nvSpPr>
        <p:spPr>
          <a:xfrm>
            <a:off x="3246538" y="1602297"/>
            <a:ext cx="8800053" cy="4588777"/>
          </a:xfrm>
          <a:prstGeom prst="rect">
            <a:avLst/>
          </a:prstGeom>
          <a:noFill/>
          <a:ln>
            <a:noFill/>
          </a:ln>
        </p:spPr>
        <p:txBody>
          <a:bodyPr spcFirstLastPara="1" wrap="square" lIns="91425" tIns="45700" rIns="91425" bIns="45700" anchor="t" anchorCtr="0">
            <a:noAutofit/>
          </a:bodyPr>
          <a:lstStyle/>
          <a:p>
            <a:pPr marL="514350" lvl="2" indent="-514350">
              <a:buFont typeface="+mj-lt"/>
              <a:buAutoNum type="alphaLcPeriod" startAt="2"/>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Translate the graph of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j</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down 4 units. Label the graph as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r</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Then, write an equation for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r</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in terms of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j</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b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b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endPar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514350" lvl="2" indent="-514350">
              <a:buFont typeface="+mj-lt"/>
              <a:buAutoNum type="alphaLcPeriod" startAt="2"/>
            </a:pPr>
            <a:r>
              <a:rPr lang="en-US" sz="2800" dirty="0">
                <a:latin typeface="Calibri" panose="020F0502020204030204" pitchFamily="34" charset="0"/>
                <a:ea typeface="Calibri" panose="020F0502020204030204" pitchFamily="34" charset="0"/>
                <a:cs typeface="Calibri" panose="020F0502020204030204" pitchFamily="34" charset="0"/>
                <a:sym typeface="Calibri"/>
              </a:rPr>
              <a:t>Rewrite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q</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and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r</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in general form.</a:t>
            </a:r>
            <a:br>
              <a:rPr lang="en-US" sz="2800" dirty="0">
                <a:latin typeface="Calibri" panose="020F0502020204030204" pitchFamily="34" charset="0"/>
                <a:ea typeface="Calibri" panose="020F0502020204030204" pitchFamily="34" charset="0"/>
                <a:cs typeface="Calibri" panose="020F0502020204030204" pitchFamily="34" charset="0"/>
                <a:sym typeface="Calibri"/>
              </a:rPr>
            </a:br>
            <a:br>
              <a:rPr lang="en-US" sz="2800" dirty="0">
                <a:latin typeface="Calibri" panose="020F0502020204030204" pitchFamily="34" charset="0"/>
                <a:ea typeface="Calibri" panose="020F0502020204030204" pitchFamily="34" charset="0"/>
                <a:cs typeface="Calibri" panose="020F0502020204030204" pitchFamily="34" charset="0"/>
                <a:sym typeface="Calibri"/>
              </a:rPr>
            </a:br>
            <a:endParaRPr lang="en-US" sz="2800" dirty="0">
              <a:latin typeface="Calibri" panose="020F0502020204030204" pitchFamily="34" charset="0"/>
              <a:ea typeface="Calibri" panose="020F0502020204030204" pitchFamily="34" charset="0"/>
              <a:cs typeface="Calibri" panose="020F0502020204030204" pitchFamily="34" charset="0"/>
              <a:sym typeface="Calibri"/>
            </a:endParaRPr>
          </a:p>
          <a:p>
            <a:pPr marL="514350" lvl="2" indent="-514350">
              <a:buFont typeface="+mj-lt"/>
              <a:buAutoNum type="alphaLcPeriod" startAt="2"/>
            </a:pPr>
            <a:r>
              <a:rPr lang="en-US" sz="2800" dirty="0">
                <a:latin typeface="Calibri" panose="020F0502020204030204" pitchFamily="34" charset="0"/>
                <a:ea typeface="Calibri" panose="020F0502020204030204" pitchFamily="34" charset="0"/>
                <a:cs typeface="Calibri" panose="020F0502020204030204" pitchFamily="34" charset="0"/>
                <a:sym typeface="Calibri"/>
              </a:rPr>
              <a:t>Compare the equations and graphs of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j</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q</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and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r</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What do you notice?</a:t>
            </a:r>
            <a:endParaRPr sz="28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23"/>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200"/>
              <a:buFont typeface="Calibri"/>
              <a:buNone/>
            </a:pPr>
            <a:r>
              <a:rPr lang="en-US" b="1" dirty="0"/>
              <a:t>Vertical Translations of Functions </a:t>
            </a:r>
            <a:r>
              <a:rPr lang="en-US" sz="2000" b="1" dirty="0">
                <a:solidFill>
                  <a:schemeClr val="bg1"/>
                </a:solidFill>
              </a:rPr>
              <a:t>(9 of 10)</a:t>
            </a:r>
            <a:endParaRPr dirty="0">
              <a:solidFill>
                <a:schemeClr val="bg1"/>
              </a:solidFill>
            </a:endParaRPr>
          </a:p>
        </p:txBody>
      </p:sp>
      <p:sp>
        <p:nvSpPr>
          <p:cNvPr id="637" name="Google Shape;637;p23"/>
          <p:cNvSpPr txBox="1"/>
          <p:nvPr/>
        </p:nvSpPr>
        <p:spPr>
          <a:xfrm>
            <a:off x="777240" y="1616140"/>
            <a:ext cx="989371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dirty="0">
                <a:solidFill>
                  <a:srgbClr val="000000"/>
                </a:solidFill>
                <a:latin typeface="Calibri"/>
                <a:ea typeface="Calibri"/>
                <a:cs typeface="Calibri"/>
                <a:sym typeface="Calibri"/>
              </a:rPr>
              <a:t>Let’s revisit the Essential Question and summarize our learning from Activity 1.1!</a:t>
            </a:r>
            <a:endParaRPr dirty="0"/>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rgbClr val="000000"/>
              </a:buClr>
              <a:buSzPts val="2800"/>
              <a:buFont typeface="Arial"/>
              <a:buNone/>
            </a:pPr>
            <a:r>
              <a:rPr lang="en-US" sz="2800" b="1" dirty="0">
                <a:solidFill>
                  <a:srgbClr val="000000"/>
                </a:solidFill>
                <a:latin typeface="Calibri"/>
                <a:ea typeface="Calibri"/>
                <a:cs typeface="Calibri"/>
                <a:sym typeface="Calibri"/>
              </a:rPr>
              <a:t>Essential Question: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How can you transform a function? What effects do different transformations have on the characteristics</a:t>
            </a:r>
            <a:b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b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of linear functions</a:t>
            </a:r>
            <a:r>
              <a:rPr lang="en-US" sz="2800" dirty="0">
                <a:solidFill>
                  <a:srgbClr val="000000"/>
                </a:solidFill>
                <a:latin typeface="Calibri"/>
                <a:ea typeface="Calibri"/>
                <a:cs typeface="Calibri"/>
                <a:sym typeface="Calibri"/>
              </a:rPr>
              <a:t>?</a:t>
            </a:r>
            <a:endParaRPr dirty="0"/>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p:txBody>
      </p:sp>
      <p:pic>
        <p:nvPicPr>
          <p:cNvPr id="638" name="Google Shape;638;p23">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174023" y="372494"/>
            <a:ext cx="1501270" cy="51820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2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200"/>
              <a:buFont typeface="Calibri"/>
              <a:buNone/>
            </a:pPr>
            <a:r>
              <a:rPr lang="en-US" b="1" dirty="0"/>
              <a:t>Vertical Translations of Functions </a:t>
            </a:r>
            <a:r>
              <a:rPr lang="en-US" sz="2000" b="1" dirty="0">
                <a:solidFill>
                  <a:schemeClr val="bg1"/>
                </a:solidFill>
              </a:rPr>
              <a:t>(10 of 10)</a:t>
            </a:r>
            <a:endParaRPr dirty="0">
              <a:solidFill>
                <a:schemeClr val="bg1"/>
              </a:solidFill>
            </a:endParaRPr>
          </a:p>
        </p:txBody>
      </p:sp>
      <p:sp>
        <p:nvSpPr>
          <p:cNvPr id="645" name="Google Shape;645;p24">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25"/>
          <p:cNvSpPr txBox="1">
            <a:spLocks noGrp="1"/>
          </p:cNvSpPr>
          <p:nvPr>
            <p:ph type="title"/>
          </p:nvPr>
        </p:nvSpPr>
        <p:spPr>
          <a:xfrm>
            <a:off x="838200" y="-310394"/>
            <a:ext cx="10514013" cy="31039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a:solidFill>
                  <a:schemeClr val="lt2"/>
                </a:solidFill>
                <a:latin typeface="Calibri"/>
                <a:ea typeface="Calibri"/>
                <a:cs typeface="Calibri"/>
                <a:sym typeface="Calibri"/>
              </a:rPr>
              <a:t>Day 2</a:t>
            </a:r>
            <a:endParaRPr/>
          </a:p>
        </p:txBody>
      </p:sp>
      <p:sp>
        <p:nvSpPr>
          <p:cNvPr id="652" name="Google Shape;652;p25"/>
          <p:cNvSpPr txBox="1">
            <a:spLocks noGrp="1"/>
          </p:cNvSpPr>
          <p:nvPr>
            <p:ph type="body" idx="1"/>
          </p:nvPr>
        </p:nvSpPr>
        <p:spPr>
          <a:xfrm>
            <a:off x="6568581" y="2832927"/>
            <a:ext cx="1152278" cy="107156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7500"/>
              <a:buNone/>
            </a:pPr>
            <a:r>
              <a:rPr lang="en-US" sz="7500" b="1">
                <a:solidFill>
                  <a:srgbClr val="000000"/>
                </a:solidFill>
                <a:latin typeface="Calibri"/>
                <a:ea typeface="Calibri"/>
                <a:cs typeface="Calibri"/>
                <a:sym typeface="Calibri"/>
              </a:rPr>
              <a:t>2</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26"/>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Essential Question </a:t>
            </a:r>
            <a:r>
              <a:rPr lang="en-US" sz="2000" b="1" dirty="0">
                <a:solidFill>
                  <a:schemeClr val="bg1"/>
                </a:solidFill>
              </a:rPr>
              <a:t>(2 of 3)</a:t>
            </a:r>
            <a:endParaRPr dirty="0">
              <a:solidFill>
                <a:schemeClr val="bg1"/>
              </a:solidFill>
            </a:endParaRPr>
          </a:p>
        </p:txBody>
      </p:sp>
      <p:sp>
        <p:nvSpPr>
          <p:cNvPr id="659" name="Google Shape;659;p26"/>
          <p:cNvSpPr txBox="1"/>
          <p:nvPr/>
        </p:nvSpPr>
        <p:spPr>
          <a:xfrm>
            <a:off x="777240" y="1596189"/>
            <a:ext cx="10090582" cy="429386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How can you transform a function? What effects do different transformations have on the characteristics of linear functions</a:t>
            </a:r>
            <a:r>
              <a:rPr lang="en-US" sz="2800" dirty="0">
                <a:solidFill>
                  <a:srgbClr val="000000"/>
                </a:solidFill>
                <a:latin typeface="Calibri"/>
                <a:ea typeface="Calibri"/>
                <a:cs typeface="Calibri"/>
                <a:sym typeface="Calibri"/>
              </a:rPr>
              <a:t>?</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27"/>
          <p:cNvSpPr txBox="1">
            <a:spLocks noGrp="1"/>
          </p:cNvSpPr>
          <p:nvPr>
            <p:ph type="title"/>
          </p:nvPr>
        </p:nvSpPr>
        <p:spPr>
          <a:xfrm>
            <a:off x="838200" y="-352338"/>
            <a:ext cx="10514013" cy="352338"/>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a:solidFill>
                  <a:schemeClr val="lt2"/>
                </a:solidFill>
                <a:latin typeface="Calibri"/>
                <a:ea typeface="Calibri"/>
                <a:cs typeface="Calibri"/>
                <a:sym typeface="Calibri"/>
              </a:rPr>
              <a:t>Activity 1.2</a:t>
            </a:r>
            <a:endParaRPr/>
          </a:p>
        </p:txBody>
      </p:sp>
      <p:sp>
        <p:nvSpPr>
          <p:cNvPr id="666" name="Google Shape;666;p27" descr="15 to 20 minutes"/>
          <p:cNvSpPr txBox="1">
            <a:spLocks noGrp="1"/>
          </p:cNvSpPr>
          <p:nvPr>
            <p:ph type="body" idx="2"/>
          </p:nvPr>
        </p:nvSpPr>
        <p:spPr>
          <a:xfrm>
            <a:off x="10623379"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15–20</a:t>
            </a:r>
            <a:endParaRPr dirty="0"/>
          </a:p>
        </p:txBody>
      </p:sp>
      <p:sp>
        <p:nvSpPr>
          <p:cNvPr id="667" name="Google Shape;667;p27">
            <a:extLst>
              <a:ext uri="{C183D7F6-B498-43B3-948B-1728B52AA6E4}">
                <adec:decorative xmlns:adec="http://schemas.microsoft.com/office/drawing/2017/decorative" val="1"/>
              </a:ext>
            </a:extLst>
          </p:cNvPr>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500"/>
              <a:buNone/>
            </a:pPr>
            <a:r>
              <a:rPr lang="en-US"/>
              <a:t>1.2</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2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Parallel Lines </a:t>
            </a:r>
            <a:r>
              <a:rPr lang="en-US" sz="2000" b="1" dirty="0">
                <a:solidFill>
                  <a:schemeClr val="bg1"/>
                </a:solidFill>
              </a:rPr>
              <a:t>(1 of 8)</a:t>
            </a:r>
            <a:endParaRPr dirty="0">
              <a:solidFill>
                <a:schemeClr val="bg1"/>
              </a:solidFill>
            </a:endParaRPr>
          </a:p>
        </p:txBody>
      </p:sp>
      <p:sp>
        <p:nvSpPr>
          <p:cNvPr id="2" name="Google Shape;659;p26">
            <a:extLst>
              <a:ext uri="{FF2B5EF4-FFF2-40B4-BE49-F238E27FC236}">
                <a16:creationId xmlns:a16="http://schemas.microsoft.com/office/drawing/2014/main" id="{2646E6CD-0DEE-2F07-3DA1-CF8880940742}"/>
              </a:ext>
            </a:extLst>
          </p:cNvPr>
          <p:cNvSpPr txBox="1"/>
          <p:nvPr/>
        </p:nvSpPr>
        <p:spPr>
          <a:xfrm>
            <a:off x="777240" y="1596189"/>
            <a:ext cx="10791178" cy="429386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1200"/>
              </a:spcAft>
              <a:buClr>
                <a:srgbClr val="000000"/>
              </a:buClr>
              <a:buSzPts val="2800"/>
              <a:buFont typeface="Arial"/>
              <a:buNone/>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In the previous activity, you translated the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j</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2</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− 1 up</a:t>
            </a:r>
            <a:b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b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4 units to create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q</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2</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+ 3.</a:t>
            </a:r>
          </a:p>
          <a:p>
            <a:pPr marL="514350" marR="0" lvl="0" indent="-514350" algn="l" rtl="0">
              <a:spcBef>
                <a:spcPts val="0"/>
              </a:spcBef>
              <a:spcAft>
                <a:spcPts val="0"/>
              </a:spcAft>
              <a:buClr>
                <a:srgbClr val="000000"/>
              </a:buClr>
              <a:buSzPts val="2800"/>
              <a:buFont typeface="+mj-lt"/>
              <a:buAutoNum type="arabicPeriod"/>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Will the graphs of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j</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and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q</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ever intersect? Explain your reasoning.</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29"/>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Parallel Lines </a:t>
            </a:r>
            <a:r>
              <a:rPr lang="en-US" sz="2000" b="1" dirty="0">
                <a:solidFill>
                  <a:schemeClr val="bg1"/>
                </a:solidFill>
              </a:rPr>
              <a:t>(2 of 8)</a:t>
            </a:r>
            <a:endParaRPr dirty="0">
              <a:solidFill>
                <a:schemeClr val="bg1"/>
              </a:solidFill>
            </a:endParaRPr>
          </a:p>
        </p:txBody>
      </p:sp>
      <p:pic>
        <p:nvPicPr>
          <p:cNvPr id="682" name="Google Shape;682;p29" descr="A graph of 2 lines on the coordinate plane. The lines rise from left to right. One line rises through the points A prime and B prime. The other line rises through the points A (x sub 1, y sub 1), below point A prime, and B (x sub 2, y sub 2), below point B prime."/>
          <p:cNvPicPr preferRelativeResize="0"/>
          <p:nvPr/>
        </p:nvPicPr>
        <p:blipFill rotWithShape="1">
          <a:blip r:embed="rId3">
            <a:alphaModFix/>
          </a:blip>
          <a:srcRect/>
          <a:stretch/>
        </p:blipFill>
        <p:spPr>
          <a:xfrm>
            <a:off x="1201703" y="3537842"/>
            <a:ext cx="2940257" cy="2712560"/>
          </a:xfrm>
          <a:prstGeom prst="rect">
            <a:avLst/>
          </a:prstGeom>
          <a:noFill/>
          <a:ln>
            <a:noFill/>
          </a:ln>
        </p:spPr>
      </p:pic>
      <p:sp>
        <p:nvSpPr>
          <p:cNvPr id="2" name="Google Shape;659;p26">
            <a:extLst>
              <a:ext uri="{FF2B5EF4-FFF2-40B4-BE49-F238E27FC236}">
                <a16:creationId xmlns:a16="http://schemas.microsoft.com/office/drawing/2014/main" id="{03DD5C7A-70D1-ED07-D59D-D5F6841095A6}"/>
              </a:ext>
            </a:extLst>
          </p:cNvPr>
          <p:cNvSpPr txBox="1"/>
          <p:nvPr/>
        </p:nvSpPr>
        <p:spPr>
          <a:xfrm>
            <a:off x="777240" y="1596189"/>
            <a:ext cx="10791178" cy="183281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1200"/>
              </a:spcAft>
              <a:buClr>
                <a:srgbClr val="000000"/>
              </a:buClr>
              <a:buSzPts val="2800"/>
              <a:buFont typeface="Arial"/>
              <a:buNone/>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You can algebraically prove that a line and its translation are parallel to each other.</a:t>
            </a:r>
          </a:p>
          <a:p>
            <a:pPr marL="514350" marR="0" lvl="0" indent="-514350" algn="l" rtl="0">
              <a:spcBef>
                <a:spcPts val="0"/>
              </a:spcBef>
              <a:spcAft>
                <a:spcPts val="0"/>
              </a:spcAft>
              <a:buClr>
                <a:srgbClr val="000000"/>
              </a:buClr>
              <a:buSzPts val="2800"/>
              <a:buFont typeface="+mj-lt"/>
              <a:buAutoNum type="arabicPeriod" startAt="2"/>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Line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AB</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was translated a units up to create line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B</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30"/>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Parallel Lines </a:t>
            </a:r>
            <a:r>
              <a:rPr lang="en-US" sz="2000" b="1" dirty="0">
                <a:solidFill>
                  <a:schemeClr val="bg1"/>
                </a:solidFill>
              </a:rPr>
              <a:t>(3 of 8)</a:t>
            </a:r>
            <a:endParaRPr dirty="0">
              <a:solidFill>
                <a:schemeClr val="bg1"/>
              </a:solidFill>
            </a:endParaRPr>
          </a:p>
        </p:txBody>
      </p:sp>
      <p:sp>
        <p:nvSpPr>
          <p:cNvPr id="2" name="Google Shape;659;p26">
            <a:extLst>
              <a:ext uri="{FF2B5EF4-FFF2-40B4-BE49-F238E27FC236}">
                <a16:creationId xmlns:a16="http://schemas.microsoft.com/office/drawing/2014/main" id="{5F473C4F-F15C-3BD8-15A8-9B7B3E74036C}"/>
              </a:ext>
            </a:extLst>
          </p:cNvPr>
          <p:cNvSpPr txBox="1"/>
          <p:nvPr/>
        </p:nvSpPr>
        <p:spPr>
          <a:xfrm>
            <a:off x="777240" y="1596189"/>
            <a:ext cx="10371729" cy="4293866"/>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0"/>
              </a:spcAft>
              <a:buClr>
                <a:srgbClr val="000000"/>
              </a:buClr>
              <a:buSzPts val="2800"/>
              <a:buFont typeface="+mj-lt"/>
              <a:buAutoNum type="alphaLcPeriod"/>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Identify the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and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y</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-coordinates of each corresponding point on the image</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br>
              <a:rPr lang="en-US" sz="2800" dirty="0">
                <a:latin typeface="Calibri" panose="020F0502020204030204" pitchFamily="34" charset="0"/>
                <a:ea typeface="Calibri" panose="020F0502020204030204" pitchFamily="34" charset="0"/>
                <a:cs typeface="Calibri" panose="020F0502020204030204" pitchFamily="34" charset="0"/>
                <a:sym typeface="Calibri"/>
              </a:rPr>
            </a:br>
            <a:br>
              <a:rPr lang="en-US" sz="2800" dirty="0">
                <a:latin typeface="Calibri" panose="020F0502020204030204" pitchFamily="34" charset="0"/>
                <a:ea typeface="Calibri" panose="020F0502020204030204" pitchFamily="34" charset="0"/>
                <a:cs typeface="Calibri" panose="020F0502020204030204" pitchFamily="34" charset="0"/>
                <a:sym typeface="Calibri"/>
              </a:rPr>
            </a:br>
            <a:br>
              <a:rPr lang="en-US" sz="2800" dirty="0">
                <a:latin typeface="Calibri" panose="020F0502020204030204" pitchFamily="34" charset="0"/>
                <a:ea typeface="Calibri" panose="020F0502020204030204" pitchFamily="34" charset="0"/>
                <a:cs typeface="Calibri" panose="020F0502020204030204" pitchFamily="34" charset="0"/>
                <a:sym typeface="Calibri"/>
              </a:rPr>
            </a:br>
            <a:endParaRPr lang="en-US" sz="2800" dirty="0">
              <a:latin typeface="Calibri" panose="020F0502020204030204" pitchFamily="34" charset="0"/>
              <a:ea typeface="Calibri" panose="020F0502020204030204" pitchFamily="34" charset="0"/>
              <a:cs typeface="Calibri" panose="020F0502020204030204" pitchFamily="34" charset="0"/>
              <a:sym typeface="Calibri"/>
            </a:endParaRPr>
          </a:p>
          <a:p>
            <a:pPr marL="514350" marR="0" lvl="0" indent="-514350" algn="l" rtl="0">
              <a:spcBef>
                <a:spcPts val="0"/>
              </a:spcBef>
              <a:spcAft>
                <a:spcPts val="0"/>
              </a:spcAft>
              <a:buClr>
                <a:srgbClr val="000000"/>
              </a:buClr>
              <a:buSzPts val="280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sym typeface="Calibri"/>
              </a:rPr>
              <a:t>Use the slope formula to calculate the slope of the pre-image.</a:t>
            </a:r>
            <a:br>
              <a:rPr lang="en-US" sz="2800" dirty="0">
                <a:latin typeface="Calibri" panose="020F0502020204030204" pitchFamily="34" charset="0"/>
                <a:ea typeface="Calibri" panose="020F0502020204030204" pitchFamily="34" charset="0"/>
                <a:cs typeface="Calibri" panose="020F0502020204030204" pitchFamily="34" charset="0"/>
                <a:sym typeface="Calibri"/>
              </a:rPr>
            </a:br>
            <a:br>
              <a:rPr lang="en-US" sz="2800" dirty="0">
                <a:latin typeface="Calibri" panose="020F0502020204030204" pitchFamily="34" charset="0"/>
                <a:ea typeface="Calibri" panose="020F0502020204030204" pitchFamily="34" charset="0"/>
                <a:cs typeface="Calibri" panose="020F0502020204030204" pitchFamily="34" charset="0"/>
                <a:sym typeface="Calibri"/>
              </a:rPr>
            </a:br>
            <a:br>
              <a:rPr lang="en-US" sz="2800" dirty="0">
                <a:latin typeface="Calibri" panose="020F0502020204030204" pitchFamily="34" charset="0"/>
                <a:ea typeface="Calibri" panose="020F0502020204030204" pitchFamily="34" charset="0"/>
                <a:cs typeface="Calibri" panose="020F0502020204030204" pitchFamily="34" charset="0"/>
                <a:sym typeface="Calibri"/>
              </a:rPr>
            </a:br>
            <a:endParaRPr lang="en-US" sz="2800" dirty="0">
              <a:latin typeface="Calibri" panose="020F0502020204030204" pitchFamily="34" charset="0"/>
              <a:ea typeface="Calibri" panose="020F0502020204030204" pitchFamily="34" charset="0"/>
              <a:cs typeface="Calibri" panose="020F0502020204030204" pitchFamily="34" charset="0"/>
              <a:sym typeface="Calibri"/>
            </a:endParaRPr>
          </a:p>
          <a:p>
            <a:pPr marL="514350" marR="0" lvl="0" indent="-514350" algn="l" rtl="0">
              <a:spcBef>
                <a:spcPts val="0"/>
              </a:spcBef>
              <a:spcAft>
                <a:spcPts val="0"/>
              </a:spcAft>
              <a:buClr>
                <a:srgbClr val="000000"/>
              </a:buClr>
              <a:buSzPts val="280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sym typeface="Calibri"/>
              </a:rPr>
              <a:t>Use the slope formula to calculate the slope of the image.</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31"/>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Parallel Lines </a:t>
            </a:r>
            <a:r>
              <a:rPr lang="en-US" sz="2000" b="1" dirty="0">
                <a:solidFill>
                  <a:schemeClr val="bg1"/>
                </a:solidFill>
              </a:rPr>
              <a:t>(4 of 8)</a:t>
            </a:r>
            <a:endParaRPr dirty="0">
              <a:solidFill>
                <a:schemeClr val="bg1"/>
              </a:solidFill>
            </a:endParaRPr>
          </a:p>
        </p:txBody>
      </p:sp>
      <p:sp>
        <p:nvSpPr>
          <p:cNvPr id="697" name="Google Shape;697;p31"/>
          <p:cNvSpPr/>
          <p:nvPr/>
        </p:nvSpPr>
        <p:spPr>
          <a:xfrm>
            <a:off x="777240" y="1922862"/>
            <a:ext cx="2335077" cy="2640749"/>
          </a:xfrm>
          <a:prstGeom prst="wedgeRoundRectCallout">
            <a:avLst>
              <a:gd name="adj1" fmla="val -34578"/>
              <a:gd name="adj2" fmla="val -60903"/>
              <a:gd name="adj3" fmla="val 16667"/>
            </a:avLst>
          </a:prstGeom>
          <a:solidFill>
            <a:schemeClr val="lt1"/>
          </a:solidFill>
          <a:ln w="19050" cap="flat" cmpd="sng">
            <a:solidFill>
              <a:srgbClr val="008F4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dirty="0">
                <a:solidFill>
                  <a:schemeClr val="accent3">
                    <a:lumMod val="75000"/>
                  </a:schemeClr>
                </a:solidFill>
                <a:latin typeface="Calibri" panose="020F0502020204030204" pitchFamily="34" charset="0"/>
                <a:ea typeface="Calibri" panose="020F0502020204030204" pitchFamily="34" charset="0"/>
                <a:cs typeface="Calibri" panose="020F0502020204030204" pitchFamily="34" charset="0"/>
                <a:sym typeface="Calibri"/>
              </a:rPr>
              <a:t>Ask Yourself…</a:t>
            </a:r>
            <a:endParaRPr sz="2000" dirty="0">
              <a:solidFill>
                <a:schemeClr val="accent3">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The original</a:t>
            </a: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figure is the</a:t>
            </a: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pre-image and the transformation of the figure is</a:t>
            </a: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the image.</a:t>
            </a:r>
            <a:endParaRPr sz="2000" dirty="0">
              <a:latin typeface="Calibri" panose="020F0502020204030204" pitchFamily="34" charset="0"/>
              <a:ea typeface="Calibri" panose="020F0502020204030204" pitchFamily="34" charset="0"/>
              <a:cs typeface="Calibri" panose="020F0502020204030204" pitchFamily="34" charset="0"/>
            </a:endParaRPr>
          </a:p>
        </p:txBody>
      </p:sp>
      <p:sp>
        <p:nvSpPr>
          <p:cNvPr id="696" name="Google Shape;696;p31"/>
          <p:cNvSpPr txBox="1"/>
          <p:nvPr/>
        </p:nvSpPr>
        <p:spPr>
          <a:xfrm>
            <a:off x="3347206" y="1602297"/>
            <a:ext cx="8581939" cy="4641341"/>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0"/>
              </a:spcAft>
              <a:buClr>
                <a:srgbClr val="000000"/>
              </a:buClr>
              <a:buSzPts val="2800"/>
              <a:buFont typeface="Calibri"/>
              <a:buAutoNum type="alphaLcPeriod" startAt="4"/>
            </a:pPr>
            <a:r>
              <a:rPr lang="en-US" sz="2800" dirty="0">
                <a:solidFill>
                  <a:srgbClr val="000000"/>
                </a:solidFill>
                <a:latin typeface="Calibri"/>
                <a:ea typeface="Calibri"/>
                <a:cs typeface="Calibri"/>
                <a:sym typeface="Calibri"/>
              </a:rPr>
              <a:t>How does the slope of the image compare to the slope of the pre-image?</a:t>
            </a:r>
            <a:br>
              <a:rPr lang="en-US" sz="2800" dirty="0">
                <a:solidFill>
                  <a:srgbClr val="000000"/>
                </a:solidFill>
                <a:latin typeface="Calibri"/>
                <a:ea typeface="Calibri"/>
                <a:cs typeface="Calibri"/>
                <a:sym typeface="Calibri"/>
              </a:rPr>
            </a:br>
            <a:br>
              <a:rPr lang="en-US" sz="2800" dirty="0">
                <a:solidFill>
                  <a:srgbClr val="000000"/>
                </a:solidFill>
                <a:latin typeface="Calibri"/>
                <a:ea typeface="Calibri"/>
                <a:cs typeface="Calibri"/>
                <a:sym typeface="Calibri"/>
              </a:rPr>
            </a:br>
            <a:br>
              <a:rPr lang="en-US" sz="2800" dirty="0">
                <a:solidFill>
                  <a:srgbClr val="000000"/>
                </a:solidFill>
                <a:latin typeface="Calibri"/>
                <a:ea typeface="Calibri"/>
                <a:cs typeface="Calibri"/>
                <a:sym typeface="Calibri"/>
              </a:rPr>
            </a:br>
            <a:endParaRPr lang="en-US" sz="2800" dirty="0">
              <a:solidFill>
                <a:srgbClr val="000000"/>
              </a:solidFill>
              <a:latin typeface="Calibri"/>
              <a:ea typeface="Calibri"/>
              <a:cs typeface="Calibri"/>
              <a:sym typeface="Calibri"/>
            </a:endParaRPr>
          </a:p>
          <a:p>
            <a:pPr marL="514350" marR="0" lvl="0" indent="-514350" algn="l" rtl="0">
              <a:spcBef>
                <a:spcPts val="0"/>
              </a:spcBef>
              <a:spcAft>
                <a:spcPts val="0"/>
              </a:spcAft>
              <a:buClr>
                <a:srgbClr val="000000"/>
              </a:buClr>
              <a:buSzPts val="2800"/>
              <a:buFont typeface="Calibri"/>
              <a:buAutoNum type="alphaLcPeriod" startAt="4"/>
            </a:pPr>
            <a:r>
              <a:rPr lang="en-US" sz="2800" dirty="0">
                <a:solidFill>
                  <a:srgbClr val="000000"/>
                </a:solidFill>
                <a:latin typeface="Calibri"/>
                <a:ea typeface="Calibri"/>
                <a:cs typeface="Calibri"/>
                <a:sym typeface="Calibri"/>
              </a:rPr>
              <a:t>How would you describe the relationship between the graph of the image and the graph of the pre-image? </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32"/>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Parallel Lines </a:t>
            </a:r>
            <a:r>
              <a:rPr lang="en-US" sz="2000" b="1" dirty="0">
                <a:solidFill>
                  <a:schemeClr val="bg1"/>
                </a:solidFill>
              </a:rPr>
              <a:t>(5 of 8)</a:t>
            </a:r>
            <a:endParaRPr dirty="0">
              <a:solidFill>
                <a:schemeClr val="bg1"/>
              </a:solidFill>
            </a:endParaRPr>
          </a:p>
        </p:txBody>
      </p:sp>
      <mc:AlternateContent xmlns:mc="http://schemas.openxmlformats.org/markup-compatibility/2006" xmlns:a14="http://schemas.microsoft.com/office/drawing/2010/main">
        <mc:Choice Requires="a14">
          <p:sp>
            <p:nvSpPr>
              <p:cNvPr id="3" name="Google Shape;659;p26">
                <a:extLst>
                  <a:ext uri="{FF2B5EF4-FFF2-40B4-BE49-F238E27FC236}">
                    <a16:creationId xmlns:a16="http://schemas.microsoft.com/office/drawing/2014/main" id="{64EBE237-92A2-0957-92DC-ADC76B41DACC}"/>
                  </a:ext>
                </a:extLst>
              </p:cNvPr>
              <p:cNvSpPr txBox="1"/>
              <p:nvPr/>
            </p:nvSpPr>
            <p:spPr>
              <a:xfrm>
                <a:off x="777240" y="1596190"/>
                <a:ext cx="9893556" cy="126319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1200"/>
                  </a:spcAft>
                  <a:buClr>
                    <a:srgbClr val="000000"/>
                  </a:buClr>
                  <a:buSzPts val="2800"/>
                  <a:buFont typeface="Arial"/>
                  <a:buNone/>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Catalina and James each write the equation of a line that is parallel to </a:t>
                </a:r>
                <a14:m>
                  <m:oMath xmlns:m="http://schemas.openxmlformats.org/officeDocument/2006/math">
                    <m:r>
                      <a:rPr lang="en-US" sz="2800" b="0" i="1" u="none" strike="noStrike" baseline="0" smtClean="0">
                        <a:latin typeface="Cambria Math" panose="02040503050406030204" pitchFamily="18" charset="0"/>
                        <a:ea typeface="Calibri" panose="020F0502020204030204" pitchFamily="34" charset="0"/>
                        <a:cs typeface="Calibri" panose="020F0502020204030204" pitchFamily="34" charset="0"/>
                      </a:rPr>
                      <m:t>𝑦</m:t>
                    </m:r>
                    <m:r>
                      <a:rPr lang="en-US" sz="2800" b="0" i="1" u="none" strike="noStrike" baseline="0" smtClean="0">
                        <a:latin typeface="Cambria Math" panose="02040503050406030204" pitchFamily="18" charset="0"/>
                        <a:ea typeface="Calibri" panose="020F0502020204030204" pitchFamily="34" charset="0"/>
                        <a:cs typeface="Calibri" panose="020F0502020204030204" pitchFamily="34" charset="0"/>
                      </a:rPr>
                      <m:t>=</m:t>
                    </m:r>
                    <m:f>
                      <m:fPr>
                        <m:ctrlPr>
                          <a:rPr lang="en-US" sz="2800" b="0" i="1" u="none" strike="noStrike" baseline="0" smtClean="0">
                            <a:latin typeface="Cambria Math" panose="02040503050406030204" pitchFamily="18" charset="0"/>
                            <a:ea typeface="Calibri" panose="020F0502020204030204" pitchFamily="34" charset="0"/>
                            <a:cs typeface="Calibri" panose="020F0502020204030204" pitchFamily="34" charset="0"/>
                          </a:rPr>
                        </m:ctrlPr>
                      </m:fPr>
                      <m:num>
                        <m:r>
                          <a:rPr lang="en-US" sz="2800" b="0" i="1" u="none" strike="noStrike" baseline="0" smtClean="0">
                            <a:latin typeface="Cambria Math" panose="02040503050406030204" pitchFamily="18" charset="0"/>
                            <a:ea typeface="Calibri" panose="020F0502020204030204" pitchFamily="34" charset="0"/>
                            <a:cs typeface="Calibri" panose="020F0502020204030204" pitchFamily="34" charset="0"/>
                          </a:rPr>
                          <m:t>1</m:t>
                        </m:r>
                      </m:num>
                      <m:den>
                        <m:r>
                          <a:rPr lang="en-US" sz="2800" b="0" i="1" u="none" strike="noStrike" baseline="0" smtClean="0">
                            <a:latin typeface="Cambria Math" panose="02040503050406030204" pitchFamily="18" charset="0"/>
                            <a:ea typeface="Calibri" panose="020F0502020204030204" pitchFamily="34" charset="0"/>
                            <a:cs typeface="Calibri" panose="020F0502020204030204" pitchFamily="34" charset="0"/>
                          </a:rPr>
                          <m:t>2</m:t>
                        </m:r>
                      </m:den>
                    </m:f>
                    <m:r>
                      <a:rPr lang="en-US" sz="2800" b="0" i="1" u="none" strike="noStrike" baseline="0" smtClean="0">
                        <a:latin typeface="Cambria Math" panose="02040503050406030204" pitchFamily="18" charset="0"/>
                        <a:ea typeface="Calibri" panose="020F0502020204030204" pitchFamily="34" charset="0"/>
                        <a:cs typeface="Calibri" panose="020F0502020204030204" pitchFamily="34" charset="0"/>
                      </a:rPr>
                      <m:t>𝑥</m:t>
                    </m:r>
                    <m:r>
                      <a:rPr lang="en-US" sz="2800" b="0" i="1" u="none" strike="noStrike" baseline="0" smtClean="0">
                        <a:latin typeface="Cambria Math" panose="02040503050406030204" pitchFamily="18" charset="0"/>
                        <a:ea typeface="Calibri" panose="020F0502020204030204" pitchFamily="34" charset="0"/>
                        <a:cs typeface="Calibri" panose="020F0502020204030204" pitchFamily="34" charset="0"/>
                      </a:rPr>
                      <m:t>+3</m:t>
                    </m:r>
                  </m:oMath>
                </a14:m>
                <a:r>
                  <a:rPr lang="en-US" sz="2800" dirty="0">
                    <a:latin typeface="Calibri" panose="020F0502020204030204" pitchFamily="34" charset="0"/>
                    <a:ea typeface="Calibri" panose="020F0502020204030204" pitchFamily="34" charset="0"/>
                    <a:cs typeface="Calibri" panose="020F0502020204030204" pitchFamily="34" charset="0"/>
                    <a:sym typeface="Calibri"/>
                  </a:rPr>
                  <a:t> and passes through the point (2, 9).</a:t>
                </a:r>
                <a:endParaRPr dirty="0"/>
              </a:p>
            </p:txBody>
          </p:sp>
        </mc:Choice>
        <mc:Fallback xmlns="">
          <p:sp>
            <p:nvSpPr>
              <p:cNvPr id="3" name="Google Shape;659;p26">
                <a:extLst>
                  <a:ext uri="{FF2B5EF4-FFF2-40B4-BE49-F238E27FC236}">
                    <a16:creationId xmlns:a16="http://schemas.microsoft.com/office/drawing/2014/main" id="{64EBE237-92A2-0957-92DC-ADC76B41DACC}"/>
                  </a:ext>
                </a:extLst>
              </p:cNvPr>
              <p:cNvSpPr txBox="1">
                <a:spLocks noRot="1" noChangeAspect="1" noMove="1" noResize="1" noEditPoints="1" noAdjustHandles="1" noChangeArrowheads="1" noChangeShapeType="1" noTextEdit="1"/>
              </p:cNvSpPr>
              <p:nvPr/>
            </p:nvSpPr>
            <p:spPr>
              <a:xfrm>
                <a:off x="777240" y="1596190"/>
                <a:ext cx="9893556" cy="1263192"/>
              </a:xfrm>
              <a:prstGeom prst="rect">
                <a:avLst/>
              </a:prstGeom>
              <a:blipFill>
                <a:blip r:embed="rId3"/>
                <a:stretch>
                  <a:fillRect l="-1295" t="-4831" r="-1603"/>
                </a:stretch>
              </a:blipFill>
              <a:ln>
                <a:noFill/>
              </a:ln>
            </p:spPr>
            <p:txBody>
              <a:bodyPr/>
              <a:lstStyle/>
              <a:p>
                <a:r>
                  <a:rPr lang="en-US">
                    <a:noFill/>
                  </a:rPr>
                  <a:t> </a:t>
                </a:r>
              </a:p>
            </p:txBody>
          </p:sp>
        </mc:Fallback>
      </mc:AlternateContent>
      <p:pic>
        <p:nvPicPr>
          <p:cNvPr id="5" name="Picture 4" descr="Catalina.&#10;I know that since the line are parallel, the new line is a translation of y equals one-half x plus 3. I can substitute the x value from ordered pair 2, 9 into y equals one-half x plus 3 to determine the corresponding point on the pre-image.&#10;y equals one-half times 2, plus 3 equals 4.&#10;The point that corresponds to the point 2, 9 on y equals one-half x plus 3 is 2, 4. Going from 2, 4 to 2, 9 is a translation up five units.&#10;Since y equals the sum of one-half x plus 3, plus 5 equals one-half x plus 8, the equation of the parallel line is y equals one-half x plus 8.">
            <a:extLst>
              <a:ext uri="{FF2B5EF4-FFF2-40B4-BE49-F238E27FC236}">
                <a16:creationId xmlns:a16="http://schemas.microsoft.com/office/drawing/2014/main" id="{F644DCB4-542B-AB52-1EAE-7D171E8BF68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77240" y="3413378"/>
            <a:ext cx="5395428" cy="2933954"/>
          </a:xfrm>
          <a:prstGeom prst="rect">
            <a:avLst/>
          </a:prstGeom>
        </p:spPr>
      </p:pic>
      <p:pic>
        <p:nvPicPr>
          <p:cNvPr id="7" name="Picture 6" descr="James.&#10;To write the eqation of the line, all I need to know is the slope formula, m equals y-sub 2 minus y-sub 1 over x-sub 2 minus x-sub 1.&#10;I used m equals one-half and 2, 9 for x, y.&#10;one-half equals y minus 9 over x minus 2.&#10;Then, I rearranged the equation to write it in general form.&#10;2 times the difference y minus 9 equals x minus 2.&#10;y minus 9 equals one-half times the difference x minus 2.&#10;y equals one-half times the difference x minus 2, plus 9.&#10;y equals one-half x minus 1 plus 9.&#10;y equals one-half x plus 8.">
            <a:extLst>
              <a:ext uri="{FF2B5EF4-FFF2-40B4-BE49-F238E27FC236}">
                <a16:creationId xmlns:a16="http://schemas.microsoft.com/office/drawing/2014/main" id="{92597626-7FD1-A854-1FC5-DAE71D99F2E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373623" y="3192379"/>
            <a:ext cx="5395428" cy="337595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3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Parallel Lines </a:t>
            </a:r>
            <a:r>
              <a:rPr lang="en-US" sz="2000" b="1" dirty="0">
                <a:solidFill>
                  <a:schemeClr val="bg1"/>
                </a:solidFill>
              </a:rPr>
              <a:t>(6 of 8)</a:t>
            </a:r>
            <a:endParaRPr dirty="0">
              <a:solidFill>
                <a:schemeClr val="bg1"/>
              </a:solidFill>
            </a:endParaRPr>
          </a:p>
        </p:txBody>
      </p:sp>
      <p:sp>
        <p:nvSpPr>
          <p:cNvPr id="2" name="Google Shape;659;p26">
            <a:extLst>
              <a:ext uri="{FF2B5EF4-FFF2-40B4-BE49-F238E27FC236}">
                <a16:creationId xmlns:a16="http://schemas.microsoft.com/office/drawing/2014/main" id="{D33246F4-6CB8-CB5A-3BB8-F7D5EAE0A012}"/>
              </a:ext>
            </a:extLst>
          </p:cNvPr>
          <p:cNvSpPr txBox="1"/>
          <p:nvPr/>
        </p:nvSpPr>
        <p:spPr>
          <a:xfrm>
            <a:off x="777240" y="1596190"/>
            <a:ext cx="9893556" cy="4125102"/>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1200"/>
              </a:spcAft>
              <a:buClr>
                <a:srgbClr val="000000"/>
              </a:buClr>
              <a:buSzPts val="2800"/>
              <a:buFont typeface="+mj-lt"/>
              <a:buAutoNum type="arabicPeriod" startAt="3"/>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Which student’s method do you prefer and why?</a:t>
            </a:r>
            <a:b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br>
            <a:b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br>
            <a:b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br>
            <a:b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br>
            <a:endParaRPr lang="en-US" sz="28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marL="514350" marR="0" lvl="0" indent="-514350" algn="l" rtl="0">
              <a:spcBef>
                <a:spcPts val="0"/>
              </a:spcBef>
              <a:spcAft>
                <a:spcPts val="1200"/>
              </a:spcAft>
              <a:buClr>
                <a:srgbClr val="000000"/>
              </a:buClr>
              <a:buSzPts val="2800"/>
              <a:buFont typeface="+mj-lt"/>
              <a:buAutoNum type="arabicPeriod" startAt="3"/>
            </a:pPr>
            <a:r>
              <a:rPr lang="en-US" sz="2800" dirty="0">
                <a:latin typeface="Calibri" panose="020F0502020204030204" pitchFamily="34" charset="0"/>
                <a:ea typeface="Calibri" panose="020F0502020204030204" pitchFamily="34" charset="0"/>
                <a:cs typeface="Calibri" panose="020F0502020204030204" pitchFamily="34" charset="0"/>
              </a:rPr>
              <a:t>Write the equation of a line that is parallel to </a:t>
            </a:r>
            <a:r>
              <a:rPr lang="en-US" sz="2800" i="1" dirty="0">
                <a:latin typeface="Calibri" panose="020F0502020204030204" pitchFamily="34" charset="0"/>
                <a:ea typeface="Calibri" panose="020F0502020204030204" pitchFamily="34" charset="0"/>
                <a:cs typeface="Calibri" panose="020F0502020204030204" pitchFamily="34" charset="0"/>
              </a:rPr>
              <a:t>y</a:t>
            </a:r>
            <a:r>
              <a:rPr lang="en-US" sz="2800" dirty="0">
                <a:latin typeface="Calibri" panose="020F0502020204030204" pitchFamily="34" charset="0"/>
                <a:ea typeface="Calibri" panose="020F0502020204030204" pitchFamily="34" charset="0"/>
                <a:cs typeface="Calibri" panose="020F0502020204030204" pitchFamily="34" charset="0"/>
              </a:rPr>
              <a:t> = −3</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− 1 and passes through the point (−1, 5).</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35"/>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Parallel Lines </a:t>
            </a:r>
            <a:r>
              <a:rPr lang="en-US" sz="2000" b="1" dirty="0">
                <a:solidFill>
                  <a:schemeClr val="bg1"/>
                </a:solidFill>
              </a:rPr>
              <a:t>(7 of 8)</a:t>
            </a:r>
            <a:endParaRPr dirty="0">
              <a:solidFill>
                <a:schemeClr val="bg1"/>
              </a:solidFill>
            </a:endParaRPr>
          </a:p>
        </p:txBody>
      </p:sp>
      <p:sp>
        <p:nvSpPr>
          <p:cNvPr id="727" name="Google Shape;727;p35"/>
          <p:cNvSpPr txBox="1"/>
          <p:nvPr/>
        </p:nvSpPr>
        <p:spPr>
          <a:xfrm>
            <a:off x="777240" y="1616140"/>
            <a:ext cx="989371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a:solidFill>
                  <a:srgbClr val="000000"/>
                </a:solidFill>
                <a:latin typeface="Calibri"/>
                <a:ea typeface="Calibri"/>
                <a:cs typeface="Calibri"/>
                <a:sym typeface="Calibri"/>
              </a:rPr>
              <a:t>Let’s summarize our learning from Activity 1.2!</a:t>
            </a:r>
            <a:endParaRPr/>
          </a:p>
        </p:txBody>
      </p:sp>
      <p:pic>
        <p:nvPicPr>
          <p:cNvPr id="728" name="Google Shape;728;p35">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174023" y="372494"/>
            <a:ext cx="1501270" cy="51820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36"/>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Parallel Lines </a:t>
            </a:r>
            <a:r>
              <a:rPr lang="en-US" sz="2000" b="1" dirty="0">
                <a:solidFill>
                  <a:schemeClr val="bg1"/>
                </a:solidFill>
              </a:rPr>
              <a:t>(8 of 8)</a:t>
            </a:r>
            <a:endParaRPr dirty="0">
              <a:solidFill>
                <a:schemeClr val="bg1"/>
              </a:solidFill>
            </a:endParaRPr>
          </a:p>
        </p:txBody>
      </p:sp>
      <p:sp>
        <p:nvSpPr>
          <p:cNvPr id="735" name="Google Shape;735;p36">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37"/>
          <p:cNvSpPr txBox="1">
            <a:spLocks noGrp="1"/>
          </p:cNvSpPr>
          <p:nvPr>
            <p:ph type="title"/>
          </p:nvPr>
        </p:nvSpPr>
        <p:spPr>
          <a:xfrm>
            <a:off x="838200" y="-318782"/>
            <a:ext cx="10514013" cy="31878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dirty="0">
                <a:solidFill>
                  <a:schemeClr val="lt2"/>
                </a:solidFill>
                <a:latin typeface="Calibri"/>
                <a:ea typeface="Calibri"/>
                <a:cs typeface="Calibri"/>
                <a:sym typeface="Calibri"/>
              </a:rPr>
              <a:t>Activity 1.3</a:t>
            </a:r>
            <a:endParaRPr dirty="0"/>
          </a:p>
        </p:txBody>
      </p:sp>
      <p:sp>
        <p:nvSpPr>
          <p:cNvPr id="742" name="Google Shape;742;p37" descr="20 to 25 minutes"/>
          <p:cNvSpPr txBox="1">
            <a:spLocks noGrp="1"/>
          </p:cNvSpPr>
          <p:nvPr>
            <p:ph type="body" idx="2"/>
          </p:nvPr>
        </p:nvSpPr>
        <p:spPr>
          <a:xfrm>
            <a:off x="10623379"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20–25</a:t>
            </a:r>
            <a:endParaRPr dirty="0"/>
          </a:p>
        </p:txBody>
      </p:sp>
      <p:sp>
        <p:nvSpPr>
          <p:cNvPr id="743" name="Google Shape;743;p37">
            <a:extLst>
              <a:ext uri="{C183D7F6-B498-43B3-948B-1728B52AA6E4}">
                <adec:decorative xmlns:adec="http://schemas.microsoft.com/office/drawing/2017/decorative" val="1"/>
              </a:ext>
            </a:extLst>
          </p:cNvPr>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500"/>
              <a:buNone/>
            </a:pPr>
            <a:r>
              <a:rPr lang="en-US"/>
              <a:t>1.3</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3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Dilations of Functions </a:t>
            </a:r>
            <a:r>
              <a:rPr lang="en-US" sz="2000" b="1" dirty="0">
                <a:solidFill>
                  <a:schemeClr val="bg1"/>
                </a:solidFill>
              </a:rPr>
              <a:t>(1 of 9)</a:t>
            </a:r>
            <a:endParaRPr dirty="0">
              <a:solidFill>
                <a:schemeClr val="bg1"/>
              </a:solidFill>
            </a:endParaRPr>
          </a:p>
        </p:txBody>
      </p:sp>
      <p:sp>
        <p:nvSpPr>
          <p:cNvPr id="2" name="Google Shape;659;p26">
            <a:extLst>
              <a:ext uri="{FF2B5EF4-FFF2-40B4-BE49-F238E27FC236}">
                <a16:creationId xmlns:a16="http://schemas.microsoft.com/office/drawing/2014/main" id="{7B07923D-D9B2-28AD-9B91-D6DC19DD0699}"/>
              </a:ext>
            </a:extLst>
          </p:cNvPr>
          <p:cNvSpPr txBox="1"/>
          <p:nvPr/>
        </p:nvSpPr>
        <p:spPr>
          <a:xfrm>
            <a:off x="777240" y="1263193"/>
            <a:ext cx="10791178" cy="293969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1200"/>
              </a:spcAft>
              <a:buClr>
                <a:srgbClr val="000000"/>
              </a:buClr>
              <a:buSzPts val="2800"/>
              <a:buFont typeface="Arial"/>
              <a:buNone/>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In this activity, let’s consider how dilations impact the graph of the linear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marL="514350" marR="0" lvl="0" indent="-514350" algn="l" rtl="0">
              <a:spcBef>
                <a:spcPts val="0"/>
              </a:spcBef>
              <a:spcAft>
                <a:spcPts val="600"/>
              </a:spcAft>
              <a:buClr>
                <a:srgbClr val="000000"/>
              </a:buClr>
              <a:buSzPts val="2800"/>
              <a:buFont typeface="+mj-lt"/>
              <a:buAutoNum type="arabicPeriod"/>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Suppose the output values of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are changed by a factor of 4 to create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p>
          <a:p>
            <a:pPr marL="1031875" lvl="2" indent="-514350">
              <a:buSzPts val="280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sym typeface="Calibri"/>
              </a:rPr>
              <a:t>Sketch the graph of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a</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and complete the table of values.</a:t>
            </a:r>
            <a:endParaRPr sz="2800" dirty="0"/>
          </a:p>
        </p:txBody>
      </p:sp>
      <p:pic>
        <p:nvPicPr>
          <p:cNvPr id="753" name="Google Shape;753;p38" descr="A graph of line f of x = x on the coordinate plane. The line rises from left to right through the points from the table, including the points (0, 0) and (2, 2)."/>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1684304" y="3900718"/>
            <a:ext cx="2937661" cy="2880508"/>
          </a:xfrm>
          <a:prstGeom prst="rect">
            <a:avLst/>
          </a:prstGeom>
          <a:noFill/>
          <a:ln>
            <a:noFill/>
          </a:ln>
        </p:spPr>
      </p:pic>
      <p:graphicFrame>
        <p:nvGraphicFramePr>
          <p:cNvPr id="5" name="Table 4">
            <a:extLst>
              <a:ext uri="{FF2B5EF4-FFF2-40B4-BE49-F238E27FC236}">
                <a16:creationId xmlns:a16="http://schemas.microsoft.com/office/drawing/2014/main" id="{10D6A821-2047-A7BF-914C-B6AA482EB4A4}"/>
              </a:ext>
            </a:extLst>
          </p:cNvPr>
          <p:cNvGraphicFramePr>
            <a:graphicFrameLocks noGrp="1"/>
          </p:cNvGraphicFramePr>
          <p:nvPr>
            <p:extLst>
              <p:ext uri="{D42A27DB-BD31-4B8C-83A1-F6EECF244321}">
                <p14:modId xmlns:p14="http://schemas.microsoft.com/office/powerpoint/2010/main" val="3171744844"/>
              </p:ext>
            </p:extLst>
          </p:nvPr>
        </p:nvGraphicFramePr>
        <p:xfrm>
          <a:off x="5529029" y="3916899"/>
          <a:ext cx="1365806" cy="640080"/>
        </p:xfrm>
        <a:graphic>
          <a:graphicData uri="http://schemas.openxmlformats.org/drawingml/2006/table">
            <a:tbl>
              <a:tblPr firstRow="1" bandRow="1">
                <a:tableStyleId>{A49AC34E-657E-4A3B-9C05-DC8BE6C80247}</a:tableStyleId>
              </a:tblPr>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3" name="Table 2">
            <a:extLst>
              <a:ext uri="{FF2B5EF4-FFF2-40B4-BE49-F238E27FC236}">
                <a16:creationId xmlns:a16="http://schemas.microsoft.com/office/drawing/2014/main" id="{FEBEB89F-FE8C-A0BC-4241-10D8B33B61F8}"/>
              </a:ext>
            </a:extLst>
          </p:cNvPr>
          <p:cNvGraphicFramePr>
            <a:graphicFrameLocks noGrp="1"/>
          </p:cNvGraphicFramePr>
          <p:nvPr>
            <p:extLst>
              <p:ext uri="{D42A27DB-BD31-4B8C-83A1-F6EECF244321}">
                <p14:modId xmlns:p14="http://schemas.microsoft.com/office/powerpoint/2010/main" val="3155997650"/>
              </p:ext>
            </p:extLst>
          </p:nvPr>
        </p:nvGraphicFramePr>
        <p:xfrm>
          <a:off x="5529029" y="4556186"/>
          <a:ext cx="1365806" cy="2225040"/>
        </p:xfrm>
        <a:graphic>
          <a:graphicData uri="http://schemas.openxmlformats.org/drawingml/2006/table">
            <a:tbl>
              <a:tblPr firstRow="1" bandRow="1">
                <a:tableStyleId>{A49AC34E-657E-4A3B-9C05-DC8BE6C80247}</a:tableStyleId>
              </a:tblPr>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6" name="Table 5">
            <a:extLst>
              <a:ext uri="{FF2B5EF4-FFF2-40B4-BE49-F238E27FC236}">
                <a16:creationId xmlns:a16="http://schemas.microsoft.com/office/drawing/2014/main" id="{CFBACBFD-1114-C3D7-8571-73A104F0EE5B}"/>
              </a:ext>
            </a:extLst>
          </p:cNvPr>
          <p:cNvGraphicFramePr>
            <a:graphicFrameLocks noGrp="1"/>
          </p:cNvGraphicFramePr>
          <p:nvPr>
            <p:extLst>
              <p:ext uri="{D42A27DB-BD31-4B8C-83A1-F6EECF244321}">
                <p14:modId xmlns:p14="http://schemas.microsoft.com/office/powerpoint/2010/main" val="3216935715"/>
              </p:ext>
            </p:extLst>
          </p:nvPr>
        </p:nvGraphicFramePr>
        <p:xfrm>
          <a:off x="7213615" y="3916899"/>
          <a:ext cx="1468284" cy="640080"/>
        </p:xfrm>
        <a:graphic>
          <a:graphicData uri="http://schemas.openxmlformats.org/drawingml/2006/table">
            <a:tbl>
              <a:tblPr firstRow="1" bandRow="1">
                <a:tableStyleId>{A49AC34E-657E-4A3B-9C05-DC8BE6C80247}</a:tableStyleId>
              </a:tblPr>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4" name="Table 3">
            <a:extLst>
              <a:ext uri="{FF2B5EF4-FFF2-40B4-BE49-F238E27FC236}">
                <a16:creationId xmlns:a16="http://schemas.microsoft.com/office/drawing/2014/main" id="{2B048231-A374-35C0-1D30-820F0EC52753}"/>
              </a:ext>
            </a:extLst>
          </p:cNvPr>
          <p:cNvGraphicFramePr>
            <a:graphicFrameLocks noGrp="1"/>
          </p:cNvGraphicFramePr>
          <p:nvPr>
            <p:extLst>
              <p:ext uri="{D42A27DB-BD31-4B8C-83A1-F6EECF244321}">
                <p14:modId xmlns:p14="http://schemas.microsoft.com/office/powerpoint/2010/main" val="296210533"/>
              </p:ext>
            </p:extLst>
          </p:nvPr>
        </p:nvGraphicFramePr>
        <p:xfrm>
          <a:off x="7213615" y="4556186"/>
          <a:ext cx="1468284" cy="2225040"/>
        </p:xfrm>
        <a:graphic>
          <a:graphicData uri="http://schemas.openxmlformats.org/drawingml/2006/table">
            <a:tbl>
              <a:tblPr firstRow="1" bandRow="1">
                <a:tableStyleId>{A49AC34E-657E-4A3B-9C05-DC8BE6C80247}</a:tableStyleId>
              </a:tblPr>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42399944"/>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39"/>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Dilations of Functions </a:t>
            </a:r>
            <a:r>
              <a:rPr lang="en-US" sz="2000" b="1" dirty="0">
                <a:solidFill>
                  <a:schemeClr val="bg1"/>
                </a:solidFill>
              </a:rPr>
              <a:t>(2 of 9)</a:t>
            </a:r>
            <a:endParaRPr dirty="0">
              <a:solidFill>
                <a:schemeClr val="bg1"/>
              </a:solidFill>
            </a:endParaRPr>
          </a:p>
        </p:txBody>
      </p:sp>
      <p:sp>
        <p:nvSpPr>
          <p:cNvPr id="2" name="Google Shape;659;p26">
            <a:extLst>
              <a:ext uri="{FF2B5EF4-FFF2-40B4-BE49-F238E27FC236}">
                <a16:creationId xmlns:a16="http://schemas.microsoft.com/office/drawing/2014/main" id="{B100799E-3180-D2B7-69CF-C41894B886CF}"/>
              </a:ext>
            </a:extLst>
          </p:cNvPr>
          <p:cNvSpPr txBox="1"/>
          <p:nvPr/>
        </p:nvSpPr>
        <p:spPr>
          <a:xfrm>
            <a:off x="777240" y="1593907"/>
            <a:ext cx="10346562" cy="2608977"/>
          </a:xfrm>
          <a:prstGeom prst="rect">
            <a:avLst/>
          </a:prstGeom>
          <a:noFill/>
          <a:ln>
            <a:noFill/>
          </a:ln>
        </p:spPr>
        <p:txBody>
          <a:bodyPr spcFirstLastPara="1" wrap="square" lIns="91425" tIns="45700" rIns="91425" bIns="45700" anchor="t" anchorCtr="0">
            <a:noAutofit/>
          </a:bodyPr>
          <a:lstStyle/>
          <a:p>
            <a:pPr marL="514350" lvl="2" indent="-514350">
              <a:buSzPts val="2800"/>
              <a:buFont typeface="+mj-lt"/>
              <a:buAutoNum type="alphaLcPeriod" startAt="2"/>
            </a:pPr>
            <a:r>
              <a:rPr lang="en-US" sz="2800" dirty="0">
                <a:latin typeface="Calibri" panose="020F0502020204030204" pitchFamily="34" charset="0"/>
                <a:ea typeface="Calibri" panose="020F0502020204030204" pitchFamily="34" charset="0"/>
                <a:cs typeface="Calibri" panose="020F0502020204030204" pitchFamily="34" charset="0"/>
                <a:sym typeface="Calibri"/>
              </a:rPr>
              <a:t>Identify the slope and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y</a:t>
            </a:r>
            <a:r>
              <a:rPr lang="en-US" sz="2800" dirty="0">
                <a:latin typeface="Calibri" panose="020F0502020204030204" pitchFamily="34" charset="0"/>
                <a:ea typeface="Calibri" panose="020F0502020204030204" pitchFamily="34" charset="0"/>
                <a:cs typeface="Calibri" panose="020F0502020204030204" pitchFamily="34" charset="0"/>
                <a:sym typeface="Calibri"/>
              </a:rPr>
              <a:t>-intercept of the function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a</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Then, write the equation for the function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a</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in general form.</a:t>
            </a:r>
            <a:endParaRPr sz="2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8">
          <a:extLst>
            <a:ext uri="{FF2B5EF4-FFF2-40B4-BE49-F238E27FC236}">
              <a16:creationId xmlns:a16="http://schemas.microsoft.com/office/drawing/2014/main" id="{83ECC9F4-5D00-C4F4-37A6-CAA330484704}"/>
            </a:ext>
          </a:extLst>
        </p:cNvPr>
        <p:cNvGrpSpPr/>
        <p:nvPr/>
      </p:nvGrpSpPr>
      <p:grpSpPr>
        <a:xfrm>
          <a:off x="0" y="0"/>
          <a:ext cx="0" cy="0"/>
          <a:chOff x="0" y="0"/>
          <a:chExt cx="0" cy="0"/>
        </a:xfrm>
      </p:grpSpPr>
      <p:sp>
        <p:nvSpPr>
          <p:cNvPr id="749" name="Google Shape;749;p38">
            <a:extLst>
              <a:ext uri="{FF2B5EF4-FFF2-40B4-BE49-F238E27FC236}">
                <a16:creationId xmlns:a16="http://schemas.microsoft.com/office/drawing/2014/main" id="{1CE0DB58-223B-5A49-6533-F64527316E13}"/>
              </a:ext>
            </a:extLst>
          </p:cNvPr>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Dilations of Functions </a:t>
            </a:r>
            <a:r>
              <a:rPr lang="en-US" sz="2000" b="1" dirty="0">
                <a:solidFill>
                  <a:schemeClr val="bg1"/>
                </a:solidFill>
              </a:rPr>
              <a:t>(3 of 9)</a:t>
            </a:r>
            <a:endParaRPr dirty="0">
              <a:solidFill>
                <a:schemeClr val="bg1"/>
              </a:solidFill>
            </a:endParaRPr>
          </a:p>
        </p:txBody>
      </p:sp>
      <mc:AlternateContent xmlns:mc="http://schemas.openxmlformats.org/markup-compatibility/2006" xmlns:a14="http://schemas.microsoft.com/office/drawing/2010/main">
        <mc:Choice Requires="a14">
          <p:sp>
            <p:nvSpPr>
              <p:cNvPr id="2" name="Google Shape;659;p26">
                <a:extLst>
                  <a:ext uri="{FF2B5EF4-FFF2-40B4-BE49-F238E27FC236}">
                    <a16:creationId xmlns:a16="http://schemas.microsoft.com/office/drawing/2014/main" id="{C5FCD884-0764-6B4B-81BC-62183E1016C2}"/>
                  </a:ext>
                </a:extLst>
              </p:cNvPr>
              <p:cNvSpPr txBox="1"/>
              <p:nvPr/>
            </p:nvSpPr>
            <p:spPr>
              <a:xfrm>
                <a:off x="777240" y="1602297"/>
                <a:ext cx="10791178" cy="2600588"/>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600"/>
                  </a:spcAft>
                  <a:buClr>
                    <a:srgbClr val="000000"/>
                  </a:buClr>
                  <a:buSzPts val="2800"/>
                  <a:buFont typeface="+mj-lt"/>
                  <a:buAutoNum type="arabicPeriod" startAt="2"/>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Suppose the output values of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are changed by a factor of </a:t>
                </a:r>
                <a14:m>
                  <m:oMath xmlns:m="http://schemas.openxmlformats.org/officeDocument/2006/math">
                    <m:f>
                      <m:fPr>
                        <m:ctrlPr>
                          <a:rPr lang="en-US" sz="2800" i="1" smtClean="0">
                            <a:solidFill>
                              <a:srgbClr val="000000"/>
                            </a:solidFill>
                            <a:latin typeface="Cambria Math" panose="02040503050406030204" pitchFamily="18" charset="0"/>
                            <a:ea typeface="Calibri" panose="020F0502020204030204" pitchFamily="34" charset="0"/>
                            <a:cs typeface="Calibri" panose="020F0502020204030204" pitchFamily="34" charset="0"/>
                            <a:sym typeface="Calibri"/>
                          </a:rPr>
                        </m:ctrlPr>
                      </m:fPr>
                      <m:num>
                        <m:r>
                          <a:rPr lang="en-US" sz="2800" b="0" i="1" smtClean="0">
                            <a:solidFill>
                              <a:srgbClr val="000000"/>
                            </a:solidFill>
                            <a:latin typeface="Cambria Math" panose="02040503050406030204" pitchFamily="18" charset="0"/>
                            <a:ea typeface="Calibri" panose="020F0502020204030204" pitchFamily="34" charset="0"/>
                            <a:cs typeface="Calibri" panose="020F0502020204030204" pitchFamily="34" charset="0"/>
                            <a:sym typeface="Calibri"/>
                          </a:rPr>
                          <m:t>2</m:t>
                        </m:r>
                      </m:num>
                      <m:den>
                        <m:r>
                          <a:rPr lang="en-US" sz="2800" b="0" i="1" smtClean="0">
                            <a:solidFill>
                              <a:srgbClr val="000000"/>
                            </a:solidFill>
                            <a:latin typeface="Cambria Math" panose="02040503050406030204" pitchFamily="18" charset="0"/>
                            <a:ea typeface="Calibri" panose="020F0502020204030204" pitchFamily="34" charset="0"/>
                            <a:cs typeface="Calibri" panose="020F0502020204030204" pitchFamily="34" charset="0"/>
                            <a:sym typeface="Calibri"/>
                          </a:rPr>
                          <m:t>3</m:t>
                        </m:r>
                      </m:den>
                    </m:f>
                  </m:oMath>
                </a14:m>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to create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b</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p>
              <a:p>
                <a:pPr marL="1031875" lvl="2" indent="-514350">
                  <a:buSzPts val="280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sym typeface="Calibri"/>
                  </a:rPr>
                  <a:t>Sketch the graph of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b</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and complete the table of values.</a:t>
                </a:r>
                <a:endParaRPr sz="2800" dirty="0"/>
              </a:p>
            </p:txBody>
          </p:sp>
        </mc:Choice>
        <mc:Fallback xmlns="">
          <p:sp>
            <p:nvSpPr>
              <p:cNvPr id="2" name="Google Shape;659;p26">
                <a:extLst>
                  <a:ext uri="{FF2B5EF4-FFF2-40B4-BE49-F238E27FC236}">
                    <a16:creationId xmlns:a16="http://schemas.microsoft.com/office/drawing/2014/main" id="{C5FCD884-0764-6B4B-81BC-62183E1016C2}"/>
                  </a:ext>
                </a:extLst>
              </p:cNvPr>
              <p:cNvSpPr txBox="1">
                <a:spLocks noRot="1" noChangeAspect="1" noMove="1" noResize="1" noEditPoints="1" noAdjustHandles="1" noChangeArrowheads="1" noChangeShapeType="1" noTextEdit="1"/>
              </p:cNvSpPr>
              <p:nvPr/>
            </p:nvSpPr>
            <p:spPr>
              <a:xfrm>
                <a:off x="777240" y="1602297"/>
                <a:ext cx="10791178" cy="2600588"/>
              </a:xfrm>
              <a:prstGeom prst="rect">
                <a:avLst/>
              </a:prstGeom>
              <a:blipFill>
                <a:blip r:embed="rId3"/>
                <a:stretch>
                  <a:fillRect l="-1243"/>
                </a:stretch>
              </a:blipFill>
              <a:ln>
                <a:noFill/>
              </a:ln>
            </p:spPr>
            <p:txBody>
              <a:bodyPr/>
              <a:lstStyle/>
              <a:p>
                <a:r>
                  <a:rPr lang="en-US">
                    <a:noFill/>
                  </a:rPr>
                  <a:t> </a:t>
                </a:r>
              </a:p>
            </p:txBody>
          </p:sp>
        </mc:Fallback>
      </mc:AlternateContent>
      <p:pic>
        <p:nvPicPr>
          <p:cNvPr id="753" name="Google Shape;753;p38" descr="A graph of line f of x = x on the coordinate plane. The line rises from left to right through the points from the table, including the points (0, 0) and (2, 2).">
            <a:extLst>
              <a:ext uri="{FF2B5EF4-FFF2-40B4-BE49-F238E27FC236}">
                <a16:creationId xmlns:a16="http://schemas.microsoft.com/office/drawing/2014/main" id="{A67A6609-D04C-A4FF-E586-DDCAEFC3C808}"/>
              </a:ext>
            </a:extLst>
          </p:cNvPr>
          <p:cNvPicPr>
            <a:picLocks noChangeAspect="1"/>
          </p:cNvPicPr>
          <p:nvPr/>
        </p:nvPicPr>
        <p:blipFill rotWithShape="1">
          <a:blip r:embed="rId4" cstate="email">
            <a:alphaModFix/>
            <a:extLst>
              <a:ext uri="{28A0092B-C50C-407E-A947-70E740481C1C}">
                <a14:useLocalDpi xmlns:a14="http://schemas.microsoft.com/office/drawing/2010/main"/>
              </a:ext>
            </a:extLst>
          </a:blip>
          <a:srcRect/>
          <a:stretch/>
        </p:blipFill>
        <p:spPr>
          <a:xfrm>
            <a:off x="1684304" y="3623881"/>
            <a:ext cx="2937661" cy="2880508"/>
          </a:xfrm>
          <a:prstGeom prst="rect">
            <a:avLst/>
          </a:prstGeom>
          <a:noFill/>
          <a:ln>
            <a:noFill/>
          </a:ln>
        </p:spPr>
      </p:pic>
      <p:graphicFrame>
        <p:nvGraphicFramePr>
          <p:cNvPr id="5" name="Table 4">
            <a:extLst>
              <a:ext uri="{FF2B5EF4-FFF2-40B4-BE49-F238E27FC236}">
                <a16:creationId xmlns:a16="http://schemas.microsoft.com/office/drawing/2014/main" id="{6C479491-C0EA-27D9-0F34-5D22D726414C}"/>
              </a:ext>
            </a:extLst>
          </p:cNvPr>
          <p:cNvGraphicFramePr>
            <a:graphicFrameLocks noGrp="1"/>
          </p:cNvGraphicFramePr>
          <p:nvPr>
            <p:extLst>
              <p:ext uri="{D42A27DB-BD31-4B8C-83A1-F6EECF244321}">
                <p14:modId xmlns:p14="http://schemas.microsoft.com/office/powerpoint/2010/main" val="1867432652"/>
              </p:ext>
            </p:extLst>
          </p:nvPr>
        </p:nvGraphicFramePr>
        <p:xfrm>
          <a:off x="5529029" y="3640062"/>
          <a:ext cx="1365806" cy="640080"/>
        </p:xfrm>
        <a:graphic>
          <a:graphicData uri="http://schemas.openxmlformats.org/drawingml/2006/table">
            <a:tbl>
              <a:tblPr firstRow="1" bandRow="1">
                <a:tableStyleId>{A49AC34E-657E-4A3B-9C05-DC8BE6C80247}</a:tableStyleId>
              </a:tblPr>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3" name="Table 2">
            <a:extLst>
              <a:ext uri="{FF2B5EF4-FFF2-40B4-BE49-F238E27FC236}">
                <a16:creationId xmlns:a16="http://schemas.microsoft.com/office/drawing/2014/main" id="{5364C6AC-1892-CBB3-ABCA-21EC04A83A80}"/>
              </a:ext>
            </a:extLst>
          </p:cNvPr>
          <p:cNvGraphicFramePr>
            <a:graphicFrameLocks noGrp="1"/>
          </p:cNvGraphicFramePr>
          <p:nvPr>
            <p:extLst>
              <p:ext uri="{D42A27DB-BD31-4B8C-83A1-F6EECF244321}">
                <p14:modId xmlns:p14="http://schemas.microsoft.com/office/powerpoint/2010/main" val="4261692620"/>
              </p:ext>
            </p:extLst>
          </p:nvPr>
        </p:nvGraphicFramePr>
        <p:xfrm>
          <a:off x="5529029" y="4279349"/>
          <a:ext cx="1365806" cy="2225040"/>
        </p:xfrm>
        <a:graphic>
          <a:graphicData uri="http://schemas.openxmlformats.org/drawingml/2006/table">
            <a:tbl>
              <a:tblPr firstRow="1" bandRow="1">
                <a:tableStyleId>{A49AC34E-657E-4A3B-9C05-DC8BE6C80247}</a:tableStyleId>
              </a:tblPr>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6" name="Table 5">
            <a:extLst>
              <a:ext uri="{FF2B5EF4-FFF2-40B4-BE49-F238E27FC236}">
                <a16:creationId xmlns:a16="http://schemas.microsoft.com/office/drawing/2014/main" id="{D37BC2CC-2BEB-51C3-5279-974264B04BEB}"/>
              </a:ext>
            </a:extLst>
          </p:cNvPr>
          <p:cNvGraphicFramePr>
            <a:graphicFrameLocks noGrp="1"/>
          </p:cNvGraphicFramePr>
          <p:nvPr>
            <p:extLst>
              <p:ext uri="{D42A27DB-BD31-4B8C-83A1-F6EECF244321}">
                <p14:modId xmlns:p14="http://schemas.microsoft.com/office/powerpoint/2010/main" val="2903245087"/>
              </p:ext>
            </p:extLst>
          </p:nvPr>
        </p:nvGraphicFramePr>
        <p:xfrm>
          <a:off x="7213615" y="3640062"/>
          <a:ext cx="1468284" cy="640080"/>
        </p:xfrm>
        <a:graphic>
          <a:graphicData uri="http://schemas.openxmlformats.org/drawingml/2006/table">
            <a:tbl>
              <a:tblPr firstRow="1" bandRow="1">
                <a:tableStyleId>{A49AC34E-657E-4A3B-9C05-DC8BE6C80247}</a:tableStyleId>
              </a:tblPr>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4" name="Table 3">
            <a:extLst>
              <a:ext uri="{FF2B5EF4-FFF2-40B4-BE49-F238E27FC236}">
                <a16:creationId xmlns:a16="http://schemas.microsoft.com/office/drawing/2014/main" id="{4A4367A3-9597-65E8-33C4-9BD44919EE81}"/>
              </a:ext>
            </a:extLst>
          </p:cNvPr>
          <p:cNvGraphicFramePr>
            <a:graphicFrameLocks noGrp="1"/>
          </p:cNvGraphicFramePr>
          <p:nvPr>
            <p:extLst>
              <p:ext uri="{D42A27DB-BD31-4B8C-83A1-F6EECF244321}">
                <p14:modId xmlns:p14="http://schemas.microsoft.com/office/powerpoint/2010/main" val="1590656683"/>
              </p:ext>
            </p:extLst>
          </p:nvPr>
        </p:nvGraphicFramePr>
        <p:xfrm>
          <a:off x="7213615" y="4279349"/>
          <a:ext cx="1468284" cy="2225040"/>
        </p:xfrm>
        <a:graphic>
          <a:graphicData uri="http://schemas.openxmlformats.org/drawingml/2006/table">
            <a:tbl>
              <a:tblPr firstRow="1" bandRow="1">
                <a:tableStyleId>{A49AC34E-657E-4A3B-9C05-DC8BE6C80247}</a:tableStyleId>
              </a:tblPr>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42399944"/>
                  </a:ext>
                </a:extLst>
              </a:tr>
            </a:tbl>
          </a:graphicData>
        </a:graphic>
      </p:graphicFrame>
    </p:spTree>
    <p:extLst>
      <p:ext uri="{BB962C8B-B14F-4D97-AF65-F5344CB8AC3E}">
        <p14:creationId xmlns:p14="http://schemas.microsoft.com/office/powerpoint/2010/main" val="11955930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60">
          <a:extLst>
            <a:ext uri="{FF2B5EF4-FFF2-40B4-BE49-F238E27FC236}">
              <a16:creationId xmlns:a16="http://schemas.microsoft.com/office/drawing/2014/main" id="{CD1E5CCA-C01A-E48E-8850-6AE846051A5C}"/>
            </a:ext>
          </a:extLst>
        </p:cNvPr>
        <p:cNvGrpSpPr/>
        <p:nvPr/>
      </p:nvGrpSpPr>
      <p:grpSpPr>
        <a:xfrm>
          <a:off x="0" y="0"/>
          <a:ext cx="0" cy="0"/>
          <a:chOff x="0" y="0"/>
          <a:chExt cx="0" cy="0"/>
        </a:xfrm>
      </p:grpSpPr>
      <p:sp>
        <p:nvSpPr>
          <p:cNvPr id="761" name="Google Shape;761;p39">
            <a:extLst>
              <a:ext uri="{FF2B5EF4-FFF2-40B4-BE49-F238E27FC236}">
                <a16:creationId xmlns:a16="http://schemas.microsoft.com/office/drawing/2014/main" id="{D1106310-D8A7-3D41-B1E2-64226B532F0D}"/>
              </a:ext>
            </a:extLst>
          </p:cNvPr>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Dilations of Functions </a:t>
            </a:r>
            <a:r>
              <a:rPr lang="en-US" sz="2000" b="1" dirty="0">
                <a:solidFill>
                  <a:schemeClr val="bg1"/>
                </a:solidFill>
              </a:rPr>
              <a:t>(4 of 9)</a:t>
            </a:r>
            <a:endParaRPr dirty="0">
              <a:solidFill>
                <a:schemeClr val="bg1"/>
              </a:solidFill>
            </a:endParaRPr>
          </a:p>
        </p:txBody>
      </p:sp>
      <p:sp>
        <p:nvSpPr>
          <p:cNvPr id="2" name="Google Shape;659;p26">
            <a:extLst>
              <a:ext uri="{FF2B5EF4-FFF2-40B4-BE49-F238E27FC236}">
                <a16:creationId xmlns:a16="http://schemas.microsoft.com/office/drawing/2014/main" id="{6453F125-8162-5F34-C20D-6CF7F09BFFE9}"/>
              </a:ext>
            </a:extLst>
          </p:cNvPr>
          <p:cNvSpPr txBox="1"/>
          <p:nvPr/>
        </p:nvSpPr>
        <p:spPr>
          <a:xfrm>
            <a:off x="777240" y="1593907"/>
            <a:ext cx="10346562" cy="2608977"/>
          </a:xfrm>
          <a:prstGeom prst="rect">
            <a:avLst/>
          </a:prstGeom>
          <a:noFill/>
          <a:ln>
            <a:noFill/>
          </a:ln>
        </p:spPr>
        <p:txBody>
          <a:bodyPr spcFirstLastPara="1" wrap="square" lIns="91425" tIns="45700" rIns="91425" bIns="45700" anchor="t" anchorCtr="0">
            <a:noAutofit/>
          </a:bodyPr>
          <a:lstStyle/>
          <a:p>
            <a:pPr marL="514350" lvl="2" indent="-514350">
              <a:buSzPts val="2800"/>
              <a:buFont typeface="+mj-lt"/>
              <a:buAutoNum type="alphaLcPeriod" startAt="2"/>
            </a:pPr>
            <a:r>
              <a:rPr lang="en-US" sz="2800" dirty="0">
                <a:latin typeface="Calibri" panose="020F0502020204030204" pitchFamily="34" charset="0"/>
                <a:ea typeface="Calibri" panose="020F0502020204030204" pitchFamily="34" charset="0"/>
                <a:cs typeface="Calibri" panose="020F0502020204030204" pitchFamily="34" charset="0"/>
                <a:sym typeface="Calibri"/>
              </a:rPr>
              <a:t>Identify the slope and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y</a:t>
            </a:r>
            <a:r>
              <a:rPr lang="en-US" sz="2800" dirty="0">
                <a:latin typeface="Calibri" panose="020F0502020204030204" pitchFamily="34" charset="0"/>
                <a:ea typeface="Calibri" panose="020F0502020204030204" pitchFamily="34" charset="0"/>
                <a:cs typeface="Calibri" panose="020F0502020204030204" pitchFamily="34" charset="0"/>
                <a:sym typeface="Calibri"/>
              </a:rPr>
              <a:t>-intercept of the function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b</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Then, write the equation for the function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b</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in general form.</a:t>
            </a:r>
            <a:endParaRPr sz="2800" dirty="0"/>
          </a:p>
        </p:txBody>
      </p:sp>
    </p:spTree>
    <p:extLst>
      <p:ext uri="{BB962C8B-B14F-4D97-AF65-F5344CB8AC3E}">
        <p14:creationId xmlns:p14="http://schemas.microsoft.com/office/powerpoint/2010/main" val="5054254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48">
          <a:extLst>
            <a:ext uri="{FF2B5EF4-FFF2-40B4-BE49-F238E27FC236}">
              <a16:creationId xmlns:a16="http://schemas.microsoft.com/office/drawing/2014/main" id="{90D80A15-183C-1EE7-75CF-154C9E886C75}"/>
            </a:ext>
          </a:extLst>
        </p:cNvPr>
        <p:cNvGrpSpPr/>
        <p:nvPr/>
      </p:nvGrpSpPr>
      <p:grpSpPr>
        <a:xfrm>
          <a:off x="0" y="0"/>
          <a:ext cx="0" cy="0"/>
          <a:chOff x="0" y="0"/>
          <a:chExt cx="0" cy="0"/>
        </a:xfrm>
      </p:grpSpPr>
      <p:sp>
        <p:nvSpPr>
          <p:cNvPr id="749" name="Google Shape;749;p38">
            <a:extLst>
              <a:ext uri="{FF2B5EF4-FFF2-40B4-BE49-F238E27FC236}">
                <a16:creationId xmlns:a16="http://schemas.microsoft.com/office/drawing/2014/main" id="{86A82F3B-E848-4976-6DF6-2CDE86FA38A8}"/>
              </a:ext>
            </a:extLst>
          </p:cNvPr>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Dilations of Functions </a:t>
            </a:r>
            <a:r>
              <a:rPr lang="en-US" sz="2000" b="1" dirty="0">
                <a:solidFill>
                  <a:schemeClr val="bg1"/>
                </a:solidFill>
              </a:rPr>
              <a:t>(5 of 9)</a:t>
            </a:r>
            <a:endParaRPr dirty="0">
              <a:solidFill>
                <a:schemeClr val="bg1"/>
              </a:solidFill>
            </a:endParaRPr>
          </a:p>
        </p:txBody>
      </p:sp>
      <p:sp>
        <p:nvSpPr>
          <p:cNvPr id="2" name="Google Shape;659;p26">
            <a:extLst>
              <a:ext uri="{FF2B5EF4-FFF2-40B4-BE49-F238E27FC236}">
                <a16:creationId xmlns:a16="http://schemas.microsoft.com/office/drawing/2014/main" id="{0EC8441A-9E69-0D69-F411-1FC952BBDF62}"/>
              </a:ext>
            </a:extLst>
          </p:cNvPr>
          <p:cNvSpPr txBox="1"/>
          <p:nvPr/>
        </p:nvSpPr>
        <p:spPr>
          <a:xfrm>
            <a:off x="777240" y="1610686"/>
            <a:ext cx="10791178" cy="1937858"/>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600"/>
              </a:spcAft>
              <a:buClr>
                <a:srgbClr val="000000"/>
              </a:buClr>
              <a:buSzPts val="2800"/>
              <a:buFont typeface="+mj-lt"/>
              <a:buAutoNum type="arabicPeriod" startAt="3"/>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Suppose the output values of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are changed by a factor of −4 to create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c</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p>
          <a:p>
            <a:pPr marL="1031875" lvl="2" indent="-514350">
              <a:buSzPts val="280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sym typeface="Calibri"/>
              </a:rPr>
              <a:t>Sketch the graph of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c</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and complete the table of values.</a:t>
            </a:r>
            <a:endParaRPr sz="2800" dirty="0"/>
          </a:p>
        </p:txBody>
      </p:sp>
      <p:pic>
        <p:nvPicPr>
          <p:cNvPr id="7" name="Google Shape;753;p38" descr="A graph of line f of x = x on the coordinate plane. The line rises from left to right through the points from the table, including the points (0, 0) and (2, 2).">
            <a:extLst>
              <a:ext uri="{FF2B5EF4-FFF2-40B4-BE49-F238E27FC236}">
                <a16:creationId xmlns:a16="http://schemas.microsoft.com/office/drawing/2014/main" id="{3AD59954-5A78-0CF2-E0D5-38EFCAB60D20}"/>
              </a:ext>
            </a:extLst>
          </p:cNvPr>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1684304" y="3623881"/>
            <a:ext cx="2937661" cy="2880508"/>
          </a:xfrm>
          <a:prstGeom prst="rect">
            <a:avLst/>
          </a:prstGeom>
          <a:noFill/>
          <a:ln>
            <a:noFill/>
          </a:ln>
        </p:spPr>
      </p:pic>
      <p:graphicFrame>
        <p:nvGraphicFramePr>
          <p:cNvPr id="10" name="Table 9">
            <a:extLst>
              <a:ext uri="{FF2B5EF4-FFF2-40B4-BE49-F238E27FC236}">
                <a16:creationId xmlns:a16="http://schemas.microsoft.com/office/drawing/2014/main" id="{7E2B8956-7EF5-8821-E83A-519BEDCB62B4}"/>
              </a:ext>
            </a:extLst>
          </p:cNvPr>
          <p:cNvGraphicFramePr>
            <a:graphicFrameLocks noGrp="1"/>
          </p:cNvGraphicFramePr>
          <p:nvPr>
            <p:extLst>
              <p:ext uri="{D42A27DB-BD31-4B8C-83A1-F6EECF244321}">
                <p14:modId xmlns:p14="http://schemas.microsoft.com/office/powerpoint/2010/main" val="217399188"/>
              </p:ext>
            </p:extLst>
          </p:nvPr>
        </p:nvGraphicFramePr>
        <p:xfrm>
          <a:off x="5529029" y="3640062"/>
          <a:ext cx="1365806" cy="640080"/>
        </p:xfrm>
        <a:graphic>
          <a:graphicData uri="http://schemas.openxmlformats.org/drawingml/2006/table">
            <a:tbl>
              <a:tblPr firstRow="1" bandRow="1">
                <a:tableStyleId>{A49AC34E-657E-4A3B-9C05-DC8BE6C80247}</a:tableStyleId>
              </a:tblPr>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8" name="Table 7">
            <a:extLst>
              <a:ext uri="{FF2B5EF4-FFF2-40B4-BE49-F238E27FC236}">
                <a16:creationId xmlns:a16="http://schemas.microsoft.com/office/drawing/2014/main" id="{98A080EA-9F65-BD24-C6BF-678F06809315}"/>
              </a:ext>
            </a:extLst>
          </p:cNvPr>
          <p:cNvGraphicFramePr>
            <a:graphicFrameLocks noGrp="1"/>
          </p:cNvGraphicFramePr>
          <p:nvPr>
            <p:extLst>
              <p:ext uri="{D42A27DB-BD31-4B8C-83A1-F6EECF244321}">
                <p14:modId xmlns:p14="http://schemas.microsoft.com/office/powerpoint/2010/main" val="18030100"/>
              </p:ext>
            </p:extLst>
          </p:nvPr>
        </p:nvGraphicFramePr>
        <p:xfrm>
          <a:off x="5529029" y="4279349"/>
          <a:ext cx="1365806" cy="2225040"/>
        </p:xfrm>
        <a:graphic>
          <a:graphicData uri="http://schemas.openxmlformats.org/drawingml/2006/table">
            <a:tbl>
              <a:tblPr firstRow="1" bandRow="1">
                <a:tableStyleId>{A49AC34E-657E-4A3B-9C05-DC8BE6C80247}</a:tableStyleId>
              </a:tblPr>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11" name="Table 10">
            <a:extLst>
              <a:ext uri="{FF2B5EF4-FFF2-40B4-BE49-F238E27FC236}">
                <a16:creationId xmlns:a16="http://schemas.microsoft.com/office/drawing/2014/main" id="{B668B3F0-F262-32AC-48C8-CF8BA77E0B60}"/>
              </a:ext>
            </a:extLst>
          </p:cNvPr>
          <p:cNvGraphicFramePr>
            <a:graphicFrameLocks noGrp="1"/>
          </p:cNvGraphicFramePr>
          <p:nvPr>
            <p:extLst>
              <p:ext uri="{D42A27DB-BD31-4B8C-83A1-F6EECF244321}">
                <p14:modId xmlns:p14="http://schemas.microsoft.com/office/powerpoint/2010/main" val="390253862"/>
              </p:ext>
            </p:extLst>
          </p:nvPr>
        </p:nvGraphicFramePr>
        <p:xfrm>
          <a:off x="7213615" y="3640062"/>
          <a:ext cx="1468284" cy="640080"/>
        </p:xfrm>
        <a:graphic>
          <a:graphicData uri="http://schemas.openxmlformats.org/drawingml/2006/table">
            <a:tbl>
              <a:tblPr firstRow="1" bandRow="1">
                <a:tableStyleId>{A49AC34E-657E-4A3B-9C05-DC8BE6C80247}</a:tableStyleId>
              </a:tblPr>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9" name="Table 8">
            <a:extLst>
              <a:ext uri="{FF2B5EF4-FFF2-40B4-BE49-F238E27FC236}">
                <a16:creationId xmlns:a16="http://schemas.microsoft.com/office/drawing/2014/main" id="{77BAF37C-A200-B659-0B8D-11A476A6702C}"/>
              </a:ext>
            </a:extLst>
          </p:cNvPr>
          <p:cNvGraphicFramePr>
            <a:graphicFrameLocks noGrp="1"/>
          </p:cNvGraphicFramePr>
          <p:nvPr>
            <p:extLst>
              <p:ext uri="{D42A27DB-BD31-4B8C-83A1-F6EECF244321}">
                <p14:modId xmlns:p14="http://schemas.microsoft.com/office/powerpoint/2010/main" val="3343087689"/>
              </p:ext>
            </p:extLst>
          </p:nvPr>
        </p:nvGraphicFramePr>
        <p:xfrm>
          <a:off x="7213615" y="4279349"/>
          <a:ext cx="1468284" cy="2225040"/>
        </p:xfrm>
        <a:graphic>
          <a:graphicData uri="http://schemas.openxmlformats.org/drawingml/2006/table">
            <a:tbl>
              <a:tblPr firstRow="1" bandRow="1">
                <a:tableStyleId>{A49AC34E-657E-4A3B-9C05-DC8BE6C80247}</a:tableStyleId>
              </a:tblPr>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42399944"/>
                  </a:ext>
                </a:extLst>
              </a:tr>
            </a:tbl>
          </a:graphicData>
        </a:graphic>
      </p:graphicFrame>
    </p:spTree>
    <p:extLst>
      <p:ext uri="{BB962C8B-B14F-4D97-AF65-F5344CB8AC3E}">
        <p14:creationId xmlns:p14="http://schemas.microsoft.com/office/powerpoint/2010/main" val="22033276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60">
          <a:extLst>
            <a:ext uri="{FF2B5EF4-FFF2-40B4-BE49-F238E27FC236}">
              <a16:creationId xmlns:a16="http://schemas.microsoft.com/office/drawing/2014/main" id="{C98C0242-CF7D-03BD-6FC5-B8425D502999}"/>
            </a:ext>
          </a:extLst>
        </p:cNvPr>
        <p:cNvGrpSpPr/>
        <p:nvPr/>
      </p:nvGrpSpPr>
      <p:grpSpPr>
        <a:xfrm>
          <a:off x="0" y="0"/>
          <a:ext cx="0" cy="0"/>
          <a:chOff x="0" y="0"/>
          <a:chExt cx="0" cy="0"/>
        </a:xfrm>
      </p:grpSpPr>
      <p:sp>
        <p:nvSpPr>
          <p:cNvPr id="761" name="Google Shape;761;p39">
            <a:extLst>
              <a:ext uri="{FF2B5EF4-FFF2-40B4-BE49-F238E27FC236}">
                <a16:creationId xmlns:a16="http://schemas.microsoft.com/office/drawing/2014/main" id="{0F35B7F3-9815-70C1-C503-411C7D5AF9FA}"/>
              </a:ext>
            </a:extLst>
          </p:cNvPr>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Dilations of Functions </a:t>
            </a:r>
            <a:r>
              <a:rPr lang="en-US" sz="2000" b="1" dirty="0">
                <a:solidFill>
                  <a:schemeClr val="bg1"/>
                </a:solidFill>
              </a:rPr>
              <a:t>(6 of 9)</a:t>
            </a:r>
            <a:endParaRPr dirty="0">
              <a:solidFill>
                <a:schemeClr val="bg1"/>
              </a:solidFill>
            </a:endParaRPr>
          </a:p>
        </p:txBody>
      </p:sp>
      <p:sp>
        <p:nvSpPr>
          <p:cNvPr id="2" name="Google Shape;659;p26">
            <a:extLst>
              <a:ext uri="{FF2B5EF4-FFF2-40B4-BE49-F238E27FC236}">
                <a16:creationId xmlns:a16="http://schemas.microsoft.com/office/drawing/2014/main" id="{49F0BA96-BA50-71D0-2032-242C3322C69F}"/>
              </a:ext>
            </a:extLst>
          </p:cNvPr>
          <p:cNvSpPr txBox="1"/>
          <p:nvPr/>
        </p:nvSpPr>
        <p:spPr>
          <a:xfrm>
            <a:off x="777240" y="1593907"/>
            <a:ext cx="10346562" cy="2608977"/>
          </a:xfrm>
          <a:prstGeom prst="rect">
            <a:avLst/>
          </a:prstGeom>
          <a:noFill/>
          <a:ln>
            <a:noFill/>
          </a:ln>
        </p:spPr>
        <p:txBody>
          <a:bodyPr spcFirstLastPara="1" wrap="square" lIns="91425" tIns="45700" rIns="91425" bIns="45700" anchor="t" anchorCtr="0">
            <a:noAutofit/>
          </a:bodyPr>
          <a:lstStyle/>
          <a:p>
            <a:pPr marL="514350" lvl="2" indent="-514350">
              <a:buSzPts val="2800"/>
              <a:buFont typeface="+mj-lt"/>
              <a:buAutoNum type="alphaLcPeriod" startAt="2"/>
            </a:pPr>
            <a:r>
              <a:rPr lang="en-US" sz="2800" dirty="0">
                <a:latin typeface="Calibri" panose="020F0502020204030204" pitchFamily="34" charset="0"/>
                <a:ea typeface="Calibri" panose="020F0502020204030204" pitchFamily="34" charset="0"/>
                <a:cs typeface="Calibri" panose="020F0502020204030204" pitchFamily="34" charset="0"/>
                <a:sym typeface="Calibri"/>
              </a:rPr>
              <a:t>Identify the slope and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y</a:t>
            </a:r>
            <a:r>
              <a:rPr lang="en-US" sz="2800" dirty="0">
                <a:latin typeface="Calibri" panose="020F0502020204030204" pitchFamily="34" charset="0"/>
                <a:ea typeface="Calibri" panose="020F0502020204030204" pitchFamily="34" charset="0"/>
                <a:cs typeface="Calibri" panose="020F0502020204030204" pitchFamily="34" charset="0"/>
                <a:sym typeface="Calibri"/>
              </a:rPr>
              <a:t>-intercept of the function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c</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Then, write the equation for the function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c</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in general form.</a:t>
            </a:r>
            <a:endParaRPr sz="2800" dirty="0"/>
          </a:p>
        </p:txBody>
      </p:sp>
    </p:spTree>
    <p:extLst>
      <p:ext uri="{BB962C8B-B14F-4D97-AF65-F5344CB8AC3E}">
        <p14:creationId xmlns:p14="http://schemas.microsoft.com/office/powerpoint/2010/main" val="16794824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41"/>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Dilations of Functions </a:t>
            </a:r>
            <a:r>
              <a:rPr lang="en-US" sz="2000" b="1" dirty="0">
                <a:solidFill>
                  <a:schemeClr val="bg1"/>
                </a:solidFill>
              </a:rPr>
              <a:t>(7 of 9)</a:t>
            </a:r>
            <a:endParaRPr dirty="0">
              <a:solidFill>
                <a:schemeClr val="bg1"/>
              </a:solidFill>
            </a:endParaRPr>
          </a:p>
        </p:txBody>
      </p:sp>
      <p:sp>
        <p:nvSpPr>
          <p:cNvPr id="2" name="Google Shape;659;p26">
            <a:extLst>
              <a:ext uri="{FF2B5EF4-FFF2-40B4-BE49-F238E27FC236}">
                <a16:creationId xmlns:a16="http://schemas.microsoft.com/office/drawing/2014/main" id="{63D09408-7ECD-0F8E-DAAD-19439B3309DA}"/>
              </a:ext>
            </a:extLst>
          </p:cNvPr>
          <p:cNvSpPr txBox="1"/>
          <p:nvPr/>
        </p:nvSpPr>
        <p:spPr>
          <a:xfrm>
            <a:off x="777240" y="1593907"/>
            <a:ext cx="10346562" cy="5050174"/>
          </a:xfrm>
          <a:prstGeom prst="rect">
            <a:avLst/>
          </a:prstGeom>
          <a:noFill/>
          <a:ln>
            <a:noFill/>
          </a:ln>
        </p:spPr>
        <p:txBody>
          <a:bodyPr spcFirstLastPara="1" wrap="square" lIns="91425" tIns="45700" rIns="91425" bIns="45700" anchor="t" anchorCtr="0">
            <a:noAutofit/>
          </a:bodyPr>
          <a:lstStyle/>
          <a:p>
            <a:pPr algn="l">
              <a:spcAft>
                <a:spcPts val="1200"/>
              </a:spcAft>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For the parent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the transformed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y </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shows a vertical dilation of the function. This dilation affects the output values, or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y</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-values, of the function. For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&gt; 1, the resulting graph vertically stretches by a factor of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units. For 0 &lt;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&lt; 1, the resulting graph vertically compresses by a factor of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units. For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&lt; 0, the resulting graph is vertically stretched or compressed and is reflected across the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-axis.</a:t>
            </a:r>
          </a:p>
          <a:p>
            <a:pPr marL="514350" indent="-514350" algn="l">
              <a:buFont typeface="+mj-lt"/>
              <a:buAutoNum type="arabicPeriod" startAt="4"/>
            </a:pPr>
            <a:r>
              <a:rPr lang="en-US" sz="2800" dirty="0">
                <a:latin typeface="Calibri" panose="020F0502020204030204" pitchFamily="34" charset="0"/>
                <a:ea typeface="Calibri" panose="020F0502020204030204" pitchFamily="34" charset="0"/>
                <a:cs typeface="Calibri" panose="020F0502020204030204" pitchFamily="34" charset="0"/>
              </a:rPr>
              <a:t>Compare the values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(−1) and </a:t>
            </a:r>
            <a:r>
              <a:rPr lang="en-US" sz="2800" i="1" dirty="0">
                <a:latin typeface="Calibri" panose="020F0502020204030204" pitchFamily="34" charset="0"/>
                <a:ea typeface="Calibri" panose="020F0502020204030204" pitchFamily="34" charset="0"/>
                <a:cs typeface="Calibri" panose="020F0502020204030204" pitchFamily="34" charset="0"/>
              </a:rPr>
              <a:t>c</a:t>
            </a:r>
            <a:r>
              <a:rPr lang="en-US" sz="2800" dirty="0">
                <a:latin typeface="Calibri" panose="020F0502020204030204" pitchFamily="34" charset="0"/>
                <a:ea typeface="Calibri" panose="020F0502020204030204" pitchFamily="34" charset="0"/>
                <a:cs typeface="Calibri" panose="020F0502020204030204" pitchFamily="34" charset="0"/>
              </a:rPr>
              <a:t>(−1). How did the transformation of the function affect the value of the function at </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−1?</a:t>
            </a:r>
            <a:endParaRPr sz="28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p42"/>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Dilations of Functions </a:t>
            </a:r>
            <a:r>
              <a:rPr lang="en-US" sz="2000" b="1" dirty="0">
                <a:solidFill>
                  <a:schemeClr val="bg1"/>
                </a:solidFill>
              </a:rPr>
              <a:t>(8 of 9)</a:t>
            </a:r>
            <a:endParaRPr dirty="0">
              <a:solidFill>
                <a:schemeClr val="bg1"/>
              </a:solidFill>
            </a:endParaRPr>
          </a:p>
        </p:txBody>
      </p:sp>
      <p:sp>
        <p:nvSpPr>
          <p:cNvPr id="792" name="Google Shape;792;p42"/>
          <p:cNvSpPr txBox="1"/>
          <p:nvPr/>
        </p:nvSpPr>
        <p:spPr>
          <a:xfrm>
            <a:off x="777240" y="1616140"/>
            <a:ext cx="989371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dirty="0">
                <a:solidFill>
                  <a:srgbClr val="000000"/>
                </a:solidFill>
                <a:latin typeface="Calibri"/>
                <a:ea typeface="Calibri"/>
                <a:cs typeface="Calibri"/>
                <a:sym typeface="Calibri"/>
              </a:rPr>
              <a:t>Let’s revisit the Essential Question and summarize our learning from Activity 1.3!</a:t>
            </a:r>
            <a:endParaRPr dirty="0"/>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rgbClr val="000000"/>
              </a:buClr>
              <a:buSzPts val="2800"/>
              <a:buFont typeface="Arial"/>
              <a:buNone/>
            </a:pPr>
            <a:r>
              <a:rPr lang="en-US" sz="2800" b="1" dirty="0">
                <a:solidFill>
                  <a:srgbClr val="000000"/>
                </a:solidFill>
                <a:latin typeface="Calibri"/>
                <a:ea typeface="Calibri"/>
                <a:cs typeface="Calibri"/>
                <a:sym typeface="Calibri"/>
              </a:rPr>
              <a:t>Essential Question: </a:t>
            </a:r>
            <a:r>
              <a:rPr lang="en-US" sz="2800" dirty="0">
                <a:solidFill>
                  <a:srgbClr val="000000"/>
                </a:solidFill>
                <a:latin typeface="Calibri"/>
                <a:ea typeface="Calibri"/>
                <a:cs typeface="Calibri"/>
                <a:sym typeface="Calibri"/>
              </a:rPr>
              <a:t>How can you transform a function? What effects do different transformations have on the characteristics of linear functions?</a:t>
            </a:r>
            <a:endParaRPr dirty="0"/>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p:txBody>
      </p:sp>
      <p:pic>
        <p:nvPicPr>
          <p:cNvPr id="793" name="Google Shape;793;p42">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157245" y="372494"/>
            <a:ext cx="1501270" cy="51820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43"/>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Dilations of Functions </a:t>
            </a:r>
            <a:r>
              <a:rPr lang="en-US" sz="2000" b="1" dirty="0">
                <a:solidFill>
                  <a:schemeClr val="bg1"/>
                </a:solidFill>
              </a:rPr>
              <a:t>(9 of 9)</a:t>
            </a:r>
            <a:endParaRPr dirty="0">
              <a:solidFill>
                <a:schemeClr val="bg1"/>
              </a:solidFill>
            </a:endParaRPr>
          </a:p>
        </p:txBody>
      </p:sp>
      <p:sp>
        <p:nvSpPr>
          <p:cNvPr id="800" name="Google Shape;800;p43">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44"/>
          <p:cNvSpPr txBox="1">
            <a:spLocks noGrp="1"/>
          </p:cNvSpPr>
          <p:nvPr>
            <p:ph type="title"/>
          </p:nvPr>
        </p:nvSpPr>
        <p:spPr>
          <a:xfrm>
            <a:off x="838200" y="-302004"/>
            <a:ext cx="10514013" cy="302004"/>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dirty="0">
                <a:solidFill>
                  <a:schemeClr val="lt2"/>
                </a:solidFill>
                <a:latin typeface="Calibri"/>
                <a:ea typeface="Calibri"/>
                <a:cs typeface="Calibri"/>
                <a:sym typeface="Calibri"/>
              </a:rPr>
              <a:t>Day 3</a:t>
            </a:r>
            <a:endParaRPr dirty="0"/>
          </a:p>
        </p:txBody>
      </p:sp>
      <p:sp>
        <p:nvSpPr>
          <p:cNvPr id="807" name="Google Shape;807;p44"/>
          <p:cNvSpPr txBox="1">
            <a:spLocks noGrp="1"/>
          </p:cNvSpPr>
          <p:nvPr>
            <p:ph type="body" idx="1"/>
          </p:nvPr>
        </p:nvSpPr>
        <p:spPr>
          <a:xfrm>
            <a:off x="6658975" y="2832927"/>
            <a:ext cx="1061883" cy="107156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7500"/>
              <a:buNone/>
            </a:pPr>
            <a:r>
              <a:rPr lang="en-US" sz="7500" b="1">
                <a:solidFill>
                  <a:srgbClr val="000000"/>
                </a:solidFill>
                <a:latin typeface="Calibri"/>
                <a:ea typeface="Calibri"/>
                <a:cs typeface="Calibri"/>
                <a:sym typeface="Calibri"/>
              </a:rPr>
              <a:t>3</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p45"/>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Essential Question </a:t>
            </a:r>
            <a:r>
              <a:rPr lang="en-US" sz="2000" b="1" dirty="0">
                <a:solidFill>
                  <a:schemeClr val="bg1"/>
                </a:solidFill>
              </a:rPr>
              <a:t>(3 of 3)</a:t>
            </a:r>
            <a:endParaRPr dirty="0">
              <a:solidFill>
                <a:schemeClr val="bg1"/>
              </a:solidFill>
            </a:endParaRPr>
          </a:p>
        </p:txBody>
      </p:sp>
      <p:sp>
        <p:nvSpPr>
          <p:cNvPr id="814" name="Google Shape;814;p45"/>
          <p:cNvSpPr txBox="1"/>
          <p:nvPr/>
        </p:nvSpPr>
        <p:spPr>
          <a:xfrm>
            <a:off x="777240" y="1612231"/>
            <a:ext cx="9884842" cy="4323543"/>
          </a:xfrm>
          <a:prstGeom prst="rect">
            <a:avLst/>
          </a:prstGeom>
          <a:noFill/>
          <a:ln>
            <a:noFill/>
          </a:ln>
        </p:spPr>
        <p:txBody>
          <a:bodyPr spcFirstLastPara="1" wrap="square" lIns="91425" tIns="45700" rIns="91425" bIns="45700" anchor="t" anchorCtr="0">
            <a:noAutofit/>
          </a:bodyPr>
          <a:lstStyle/>
          <a:p>
            <a:pPr marL="0" marR="0" lvl="0" indent="0" algn="l" rtl="0">
              <a:spcBef>
                <a:spcPts val="24"/>
              </a:spcBef>
              <a:spcAft>
                <a:spcPts val="0"/>
              </a:spcAft>
              <a:buClr>
                <a:srgbClr val="000000"/>
              </a:buClr>
              <a:buSzPts val="2800"/>
              <a:buFont typeface="Arial"/>
              <a:buNone/>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How can you transform a function? What effects do different transformations have on the characteristics of linear functions</a:t>
            </a:r>
            <a:r>
              <a:rPr lang="en-US" sz="2800" dirty="0">
                <a:solidFill>
                  <a:srgbClr val="000000"/>
                </a:solidFill>
                <a:latin typeface="Calibri"/>
                <a:ea typeface="Calibri"/>
                <a:cs typeface="Calibri"/>
                <a:sym typeface="Calibri"/>
              </a:rPr>
              <a:t>?</a:t>
            </a:r>
            <a:endParaRP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46"/>
          <p:cNvSpPr txBox="1">
            <a:spLocks noGrp="1"/>
          </p:cNvSpPr>
          <p:nvPr>
            <p:ph type="title"/>
          </p:nvPr>
        </p:nvSpPr>
        <p:spPr>
          <a:xfrm>
            <a:off x="838200" y="-310393"/>
            <a:ext cx="10514013" cy="31039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dirty="0">
                <a:solidFill>
                  <a:schemeClr val="lt2"/>
                </a:solidFill>
                <a:latin typeface="Calibri"/>
                <a:ea typeface="Calibri"/>
                <a:cs typeface="Calibri"/>
                <a:sym typeface="Calibri"/>
              </a:rPr>
              <a:t>Activity 1.4</a:t>
            </a:r>
            <a:endParaRPr dirty="0"/>
          </a:p>
        </p:txBody>
      </p:sp>
      <p:sp>
        <p:nvSpPr>
          <p:cNvPr id="821" name="Google Shape;821;p46" descr="15 to 20 minutes"/>
          <p:cNvSpPr txBox="1">
            <a:spLocks noGrp="1"/>
          </p:cNvSpPr>
          <p:nvPr>
            <p:ph type="body" idx="2"/>
          </p:nvPr>
        </p:nvSpPr>
        <p:spPr>
          <a:xfrm>
            <a:off x="10623379"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15–20</a:t>
            </a:r>
            <a:endParaRPr dirty="0"/>
          </a:p>
        </p:txBody>
      </p:sp>
      <p:sp>
        <p:nvSpPr>
          <p:cNvPr id="822" name="Google Shape;822;p46">
            <a:extLst>
              <a:ext uri="{C183D7F6-B498-43B3-948B-1728B52AA6E4}">
                <adec:decorative xmlns:adec="http://schemas.microsoft.com/office/drawing/2017/decorative" val="1"/>
              </a:ext>
            </a:extLst>
          </p:cNvPr>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500"/>
              <a:buNone/>
            </a:pPr>
            <a:r>
              <a:rPr lang="en-US"/>
              <a:t>1.4</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47"/>
          <p:cNvSpPr txBox="1">
            <a:spLocks noGrp="1"/>
          </p:cNvSpPr>
          <p:nvPr>
            <p:ph type="title"/>
          </p:nvPr>
        </p:nvSpPr>
        <p:spPr>
          <a:xfrm>
            <a:off x="764931" y="0"/>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200"/>
              <a:buFont typeface="Calibri"/>
              <a:buNone/>
            </a:pPr>
            <a:r>
              <a:rPr lang="en-US" sz="3200" b="1" dirty="0"/>
              <a:t>Vertical Dilations and Vertical Translations of Functions </a:t>
            </a:r>
            <a:r>
              <a:rPr lang="en-US" sz="2000" b="1" dirty="0">
                <a:solidFill>
                  <a:schemeClr val="bg1"/>
                </a:solidFill>
              </a:rPr>
              <a:t>(1 of 6)</a:t>
            </a:r>
            <a:endParaRPr dirty="0">
              <a:solidFill>
                <a:schemeClr val="bg1"/>
              </a:solidFill>
            </a:endParaRPr>
          </a:p>
        </p:txBody>
      </p:sp>
      <p:sp>
        <p:nvSpPr>
          <p:cNvPr id="2" name="Google Shape;659;p26">
            <a:extLst>
              <a:ext uri="{FF2B5EF4-FFF2-40B4-BE49-F238E27FC236}">
                <a16:creationId xmlns:a16="http://schemas.microsoft.com/office/drawing/2014/main" id="{E560C3F9-0259-D99D-424A-6AE8AB525D1D}"/>
              </a:ext>
            </a:extLst>
          </p:cNvPr>
          <p:cNvSpPr txBox="1"/>
          <p:nvPr/>
        </p:nvSpPr>
        <p:spPr>
          <a:xfrm>
            <a:off x="764931" y="1263193"/>
            <a:ext cx="10791178" cy="166456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1200"/>
              </a:spcAft>
              <a:buClr>
                <a:srgbClr val="000000"/>
              </a:buClr>
              <a:buSzPts val="2800"/>
              <a:buFont typeface="Arial"/>
              <a:buNone/>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Let’s consider more transformations of the parent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marL="514350" marR="0" lvl="0" indent="-514350" algn="l" rtl="0">
              <a:spcBef>
                <a:spcPts val="0"/>
              </a:spcBef>
              <a:spcAft>
                <a:spcPts val="600"/>
              </a:spcAft>
              <a:buClr>
                <a:srgbClr val="000000"/>
              </a:buClr>
              <a:buSzPts val="2800"/>
              <a:buFont typeface="+mj-lt"/>
              <a:buAutoNum type="arabicPeriod"/>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Describe the transformations performed on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to produce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g</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Then, graph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g</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Write the function equation in general form.</a:t>
            </a:r>
            <a:endParaRPr sz="2800" dirty="0"/>
          </a:p>
        </p:txBody>
      </p:sp>
      <p:sp>
        <p:nvSpPr>
          <p:cNvPr id="3" name="Google Shape;659;p26">
            <a:extLst>
              <a:ext uri="{FF2B5EF4-FFF2-40B4-BE49-F238E27FC236}">
                <a16:creationId xmlns:a16="http://schemas.microsoft.com/office/drawing/2014/main" id="{3EE023B9-B2F0-F1F0-A544-AE3ED2E8FDE4}"/>
              </a:ext>
            </a:extLst>
          </p:cNvPr>
          <p:cNvSpPr txBox="1"/>
          <p:nvPr/>
        </p:nvSpPr>
        <p:spPr>
          <a:xfrm>
            <a:off x="764931" y="2927758"/>
            <a:ext cx="4394298" cy="653581"/>
          </a:xfrm>
          <a:prstGeom prst="rect">
            <a:avLst/>
          </a:prstGeom>
          <a:noFill/>
          <a:ln>
            <a:noFill/>
          </a:ln>
        </p:spPr>
        <p:txBody>
          <a:bodyPr spcFirstLastPara="1" wrap="square" lIns="91425" tIns="45700" rIns="91425" bIns="45700" anchor="t" anchorCtr="0">
            <a:noAutofit/>
          </a:bodyPr>
          <a:lstStyle/>
          <a:p>
            <a:pPr marL="1031875" marR="0" lvl="0" indent="-514350" algn="l" rtl="0">
              <a:spcBef>
                <a:spcPts val="0"/>
              </a:spcBef>
              <a:spcAft>
                <a:spcPts val="600"/>
              </a:spcAft>
              <a:buClr>
                <a:srgbClr val="000000"/>
              </a:buClr>
              <a:buSzPts val="280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i="1" dirty="0">
                <a:latin typeface="Calibri" panose="020F0502020204030204" pitchFamily="34" charset="0"/>
                <a:ea typeface="Calibri" panose="020F0502020204030204" pitchFamily="34" charset="0"/>
                <a:cs typeface="Calibri" panose="020F0502020204030204" pitchFamily="34" charset="0"/>
              </a:rPr>
              <a:t>g</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2 ∙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+ 7</a:t>
            </a:r>
            <a:endParaRPr sz="2800" dirty="0">
              <a:latin typeface="Calibri" panose="020F0502020204030204" pitchFamily="34" charset="0"/>
              <a:ea typeface="Calibri" panose="020F0502020204030204" pitchFamily="34" charset="0"/>
              <a:cs typeface="Calibri" panose="020F0502020204030204" pitchFamily="34" charset="0"/>
            </a:endParaRPr>
          </a:p>
        </p:txBody>
      </p:sp>
      <p:pic>
        <p:nvPicPr>
          <p:cNvPr id="831" name="Google Shape;831;p47" descr="A graph of line f of x = x on the coordinate plane. The line rises from left to right through the points (0, 0) and (2, 2)."/>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1811021" y="3793870"/>
            <a:ext cx="2636338" cy="2672852"/>
          </a:xfrm>
          <a:prstGeom prst="rect">
            <a:avLst/>
          </a:prstGeom>
          <a:noFill/>
          <a:ln>
            <a:noFill/>
          </a:ln>
        </p:spPr>
      </p:pic>
      <p:sp>
        <p:nvSpPr>
          <p:cNvPr id="4" name="Google Shape;659;p26">
            <a:extLst>
              <a:ext uri="{FF2B5EF4-FFF2-40B4-BE49-F238E27FC236}">
                <a16:creationId xmlns:a16="http://schemas.microsoft.com/office/drawing/2014/main" id="{090938B8-1EDE-D174-95B8-B85E17EBB907}"/>
              </a:ext>
            </a:extLst>
          </p:cNvPr>
          <p:cNvSpPr txBox="1"/>
          <p:nvPr/>
        </p:nvSpPr>
        <p:spPr>
          <a:xfrm>
            <a:off x="5463814" y="2927757"/>
            <a:ext cx="4394298" cy="653581"/>
          </a:xfrm>
          <a:prstGeom prst="rect">
            <a:avLst/>
          </a:prstGeom>
          <a:noFill/>
          <a:ln>
            <a:noFill/>
          </a:ln>
        </p:spPr>
        <p:txBody>
          <a:bodyPr spcFirstLastPara="1" wrap="square" lIns="91425" tIns="45700" rIns="91425" bIns="45700" anchor="t" anchorCtr="0">
            <a:noAutofit/>
          </a:bodyPr>
          <a:lstStyle/>
          <a:p>
            <a:pPr marL="1031875" marR="0" lvl="0" indent="-514350" algn="l" rtl="0">
              <a:spcBef>
                <a:spcPts val="0"/>
              </a:spcBef>
              <a:spcAft>
                <a:spcPts val="600"/>
              </a:spcAft>
              <a:buClr>
                <a:srgbClr val="000000"/>
              </a:buClr>
              <a:buSzPts val="2800"/>
              <a:buFont typeface="+mj-lt"/>
              <a:buAutoNum type="alphaLcPeriod" startAt="2"/>
            </a:pP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i="1" dirty="0">
                <a:latin typeface="Calibri" panose="020F0502020204030204" pitchFamily="34" charset="0"/>
                <a:ea typeface="Calibri" panose="020F0502020204030204" pitchFamily="34" charset="0"/>
                <a:cs typeface="Calibri" panose="020F0502020204030204" pitchFamily="34" charset="0"/>
              </a:rPr>
              <a:t>g</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3 ∙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− 1</a:t>
            </a:r>
            <a:endParaRPr sz="2800" dirty="0">
              <a:latin typeface="Calibri" panose="020F0502020204030204" pitchFamily="34" charset="0"/>
              <a:ea typeface="Calibri" panose="020F0502020204030204" pitchFamily="34" charset="0"/>
              <a:cs typeface="Calibri" panose="020F0502020204030204" pitchFamily="34" charset="0"/>
            </a:endParaRPr>
          </a:p>
        </p:txBody>
      </p:sp>
      <p:pic>
        <p:nvPicPr>
          <p:cNvPr id="832" name="Google Shape;832;p47" descr="A graph of line f of x = x on the coordinate plane. The line rises from left to right through the points (0, 0) and (2, 2)."/>
          <p:cNvPicPr>
            <a:picLocks noChangeAspect="1"/>
          </p:cNvPicPr>
          <p:nvPr/>
        </p:nvPicPr>
        <p:blipFill rotWithShape="1">
          <a:blip r:embed="rId4" cstate="email">
            <a:alphaModFix/>
            <a:extLst>
              <a:ext uri="{28A0092B-C50C-407E-A947-70E740481C1C}">
                <a14:useLocalDpi xmlns:a14="http://schemas.microsoft.com/office/drawing/2010/main"/>
              </a:ext>
            </a:extLst>
          </a:blip>
          <a:srcRect/>
          <a:stretch/>
        </p:blipFill>
        <p:spPr>
          <a:xfrm>
            <a:off x="6477672" y="3874201"/>
            <a:ext cx="2636338" cy="2592521"/>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27">
          <a:extLst>
            <a:ext uri="{FF2B5EF4-FFF2-40B4-BE49-F238E27FC236}">
              <a16:creationId xmlns:a16="http://schemas.microsoft.com/office/drawing/2014/main" id="{6A7FDF52-38E6-D85C-684E-A506D30D026F}"/>
            </a:ext>
          </a:extLst>
        </p:cNvPr>
        <p:cNvGrpSpPr/>
        <p:nvPr/>
      </p:nvGrpSpPr>
      <p:grpSpPr>
        <a:xfrm>
          <a:off x="0" y="0"/>
          <a:ext cx="0" cy="0"/>
          <a:chOff x="0" y="0"/>
          <a:chExt cx="0" cy="0"/>
        </a:xfrm>
      </p:grpSpPr>
      <p:sp>
        <p:nvSpPr>
          <p:cNvPr id="828" name="Google Shape;828;p47">
            <a:extLst>
              <a:ext uri="{FF2B5EF4-FFF2-40B4-BE49-F238E27FC236}">
                <a16:creationId xmlns:a16="http://schemas.microsoft.com/office/drawing/2014/main" id="{9B7434C7-A4E8-610B-08B2-3812E2D0C6F2}"/>
              </a:ext>
            </a:extLst>
          </p:cNvPr>
          <p:cNvSpPr txBox="1">
            <a:spLocks noGrp="1"/>
          </p:cNvSpPr>
          <p:nvPr>
            <p:ph type="title"/>
          </p:nvPr>
        </p:nvSpPr>
        <p:spPr>
          <a:xfrm>
            <a:off x="764931" y="0"/>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200"/>
              <a:buFont typeface="Calibri"/>
              <a:buNone/>
            </a:pPr>
            <a:r>
              <a:rPr lang="en-US" sz="3200" b="1" dirty="0"/>
              <a:t>Vertical Dilations and Vertical Translations of Functions </a:t>
            </a:r>
            <a:r>
              <a:rPr lang="en-US" sz="2000" b="1" dirty="0">
                <a:solidFill>
                  <a:schemeClr val="bg1"/>
                </a:solidFill>
              </a:rPr>
              <a:t>(2 of 6)</a:t>
            </a:r>
            <a:endParaRPr dirty="0">
              <a:solidFill>
                <a:schemeClr val="bg1"/>
              </a:solidFill>
            </a:endParaRPr>
          </a:p>
        </p:txBody>
      </p:sp>
      <mc:AlternateContent xmlns:mc="http://schemas.openxmlformats.org/markup-compatibility/2006" xmlns:a14="http://schemas.microsoft.com/office/drawing/2010/main">
        <mc:Choice Requires="a14">
          <p:sp>
            <p:nvSpPr>
              <p:cNvPr id="3" name="Google Shape;659;p26">
                <a:extLst>
                  <a:ext uri="{FF2B5EF4-FFF2-40B4-BE49-F238E27FC236}">
                    <a16:creationId xmlns:a16="http://schemas.microsoft.com/office/drawing/2014/main" id="{E4EB07F6-E015-709E-9E54-9EB9892FCC82}"/>
                  </a:ext>
                </a:extLst>
              </p:cNvPr>
              <p:cNvSpPr txBox="1"/>
              <p:nvPr/>
            </p:nvSpPr>
            <p:spPr>
              <a:xfrm>
                <a:off x="764931" y="1627464"/>
                <a:ext cx="4394298" cy="653581"/>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600"/>
                  </a:spcAft>
                  <a:buClr>
                    <a:srgbClr val="000000"/>
                  </a:buClr>
                  <a:buSzPts val="2800"/>
                  <a:buFont typeface="+mj-lt"/>
                  <a:buAutoNum type="alphaLcPeriod" startAt="3"/>
                </a:pP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i="1" dirty="0">
                    <a:latin typeface="Calibri" panose="020F0502020204030204" pitchFamily="34" charset="0"/>
                    <a:ea typeface="Calibri" panose="020F0502020204030204" pitchFamily="34" charset="0"/>
                    <a:cs typeface="Calibri" panose="020F0502020204030204" pitchFamily="34" charset="0"/>
                  </a:rPr>
                  <a:t>g</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f>
                      <m:fPr>
                        <m:ctrlPr>
                          <a:rPr lang="en-US" sz="2800" i="1" smtClean="0">
                            <a:latin typeface="Cambria Math" panose="02040503050406030204" pitchFamily="18" charset="0"/>
                            <a:ea typeface="Calibri" panose="020F0502020204030204" pitchFamily="34" charset="0"/>
                            <a:cs typeface="Calibri" panose="020F0502020204030204" pitchFamily="34" charset="0"/>
                          </a:rPr>
                        </m:ctrlPr>
                      </m:fPr>
                      <m:num>
                        <m:r>
                          <a:rPr lang="en-US" sz="2800" b="0" i="1" smtClean="0">
                            <a:latin typeface="Cambria Math" panose="02040503050406030204" pitchFamily="18" charset="0"/>
                            <a:ea typeface="Calibri" panose="020F0502020204030204" pitchFamily="34" charset="0"/>
                            <a:cs typeface="Calibri" panose="020F0502020204030204" pitchFamily="34" charset="0"/>
                          </a:rPr>
                          <m:t>1</m:t>
                        </m:r>
                      </m:num>
                      <m:den>
                        <m:r>
                          <a:rPr lang="en-US" sz="2800" b="0" i="1" smtClean="0">
                            <a:latin typeface="Cambria Math" panose="02040503050406030204" pitchFamily="18" charset="0"/>
                            <a:ea typeface="Calibri" panose="020F0502020204030204" pitchFamily="34" charset="0"/>
                            <a:cs typeface="Calibri" panose="020F0502020204030204" pitchFamily="34" charset="0"/>
                          </a:rPr>
                          <m:t>3</m:t>
                        </m:r>
                      </m:den>
                    </m:f>
                  </m:oMath>
                </a14:m>
                <a:r>
                  <a:rPr lang="en-US" sz="2800" dirty="0">
                    <a:latin typeface="Calibri" panose="020F0502020204030204" pitchFamily="34" charset="0"/>
                    <a:ea typeface="Calibri" panose="020F0502020204030204" pitchFamily="34" charset="0"/>
                    <a:cs typeface="Calibri" panose="020F0502020204030204" pitchFamily="34" charset="0"/>
                  </a:rPr>
                  <a:t> ∙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+ 2</a:t>
                </a:r>
                <a:endParaRPr sz="2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Google Shape;659;p26">
                <a:extLst>
                  <a:ext uri="{FF2B5EF4-FFF2-40B4-BE49-F238E27FC236}">
                    <a16:creationId xmlns:a16="http://schemas.microsoft.com/office/drawing/2014/main" id="{E4EB07F6-E015-709E-9E54-9EB9892FCC82}"/>
                  </a:ext>
                </a:extLst>
              </p:cNvPr>
              <p:cNvSpPr txBox="1">
                <a:spLocks noRot="1" noChangeAspect="1" noMove="1" noResize="1" noEditPoints="1" noAdjustHandles="1" noChangeArrowheads="1" noChangeShapeType="1" noTextEdit="1"/>
              </p:cNvSpPr>
              <p:nvPr/>
            </p:nvSpPr>
            <p:spPr>
              <a:xfrm>
                <a:off x="764931" y="1627464"/>
                <a:ext cx="4394298" cy="653581"/>
              </a:xfrm>
              <a:prstGeom prst="rect">
                <a:avLst/>
              </a:prstGeom>
              <a:blipFill>
                <a:blip r:embed="rId3"/>
                <a:stretch>
                  <a:fillRect l="-2913" b="-20561"/>
                </a:stretch>
              </a:blipFill>
              <a:ln>
                <a:noFill/>
              </a:ln>
            </p:spPr>
            <p:txBody>
              <a:bodyPr/>
              <a:lstStyle/>
              <a:p>
                <a:r>
                  <a:rPr lang="en-US">
                    <a:noFill/>
                  </a:rPr>
                  <a:t> </a:t>
                </a:r>
              </a:p>
            </p:txBody>
          </p:sp>
        </mc:Fallback>
      </mc:AlternateContent>
      <p:pic>
        <p:nvPicPr>
          <p:cNvPr id="831" name="Google Shape;831;p47" descr="A graph of line f of x = x on the coordinate plane. The line rises from left to right through the points (0, 0) and (2, 2).">
            <a:extLst>
              <a:ext uri="{FF2B5EF4-FFF2-40B4-BE49-F238E27FC236}">
                <a16:creationId xmlns:a16="http://schemas.microsoft.com/office/drawing/2014/main" id="{015265C5-1062-95C3-181A-1F28F3FBABFC}"/>
              </a:ext>
            </a:extLst>
          </p:cNvPr>
          <p:cNvPicPr>
            <a:picLocks noChangeAspect="1"/>
          </p:cNvPicPr>
          <p:nvPr/>
        </p:nvPicPr>
        <p:blipFill rotWithShape="1">
          <a:blip r:embed="rId4" cstate="email">
            <a:alphaModFix/>
            <a:extLst>
              <a:ext uri="{28A0092B-C50C-407E-A947-70E740481C1C}">
                <a14:useLocalDpi xmlns:a14="http://schemas.microsoft.com/office/drawing/2010/main"/>
              </a:ext>
            </a:extLst>
          </a:blip>
          <a:srcRect/>
          <a:stretch/>
        </p:blipFill>
        <p:spPr>
          <a:xfrm>
            <a:off x="1811021" y="2493576"/>
            <a:ext cx="2636338" cy="2672852"/>
          </a:xfrm>
          <a:prstGeom prst="rect">
            <a:avLst/>
          </a:prstGeom>
          <a:noFill/>
          <a:ln>
            <a:noFill/>
          </a:ln>
        </p:spPr>
      </p:pic>
      <mc:AlternateContent xmlns:mc="http://schemas.openxmlformats.org/markup-compatibility/2006" xmlns:a14="http://schemas.microsoft.com/office/drawing/2010/main">
        <mc:Choice Requires="a14">
          <p:sp>
            <p:nvSpPr>
              <p:cNvPr id="4" name="Google Shape;659;p26">
                <a:extLst>
                  <a:ext uri="{FF2B5EF4-FFF2-40B4-BE49-F238E27FC236}">
                    <a16:creationId xmlns:a16="http://schemas.microsoft.com/office/drawing/2014/main" id="{5474CCAE-BF4D-3DFD-6A2E-2D16590BB74A}"/>
                  </a:ext>
                </a:extLst>
              </p:cNvPr>
              <p:cNvSpPr txBox="1"/>
              <p:nvPr/>
            </p:nvSpPr>
            <p:spPr>
              <a:xfrm>
                <a:off x="5463814" y="1627463"/>
                <a:ext cx="4394298" cy="653581"/>
              </a:xfrm>
              <a:prstGeom prst="rect">
                <a:avLst/>
              </a:prstGeom>
              <a:noFill/>
              <a:ln>
                <a:noFill/>
              </a:ln>
            </p:spPr>
            <p:txBody>
              <a:bodyPr spcFirstLastPara="1" wrap="square" lIns="91425" tIns="45700" rIns="91425" bIns="45700" anchor="t" anchorCtr="0">
                <a:noAutofit/>
              </a:bodyPr>
              <a:lstStyle/>
              <a:p>
                <a:pPr marL="1031875" marR="0" lvl="0" indent="-514350" algn="l" rtl="0">
                  <a:spcBef>
                    <a:spcPts val="0"/>
                  </a:spcBef>
                  <a:spcAft>
                    <a:spcPts val="600"/>
                  </a:spcAft>
                  <a:buClr>
                    <a:srgbClr val="000000"/>
                  </a:buClr>
                  <a:buSzPts val="2800"/>
                  <a:buFont typeface="+mj-lt"/>
                  <a:buAutoNum type="alphaLcPeriod" startAt="4"/>
                </a:pP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i="1" dirty="0">
                    <a:latin typeface="Calibri" panose="020F0502020204030204" pitchFamily="34" charset="0"/>
                    <a:ea typeface="Calibri" panose="020F0502020204030204" pitchFamily="34" charset="0"/>
                    <a:cs typeface="Calibri" panose="020F0502020204030204" pitchFamily="34" charset="0"/>
                  </a:rPr>
                  <a:t>g</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f>
                      <m:fPr>
                        <m:ctrlPr>
                          <a:rPr lang="en-US" sz="2800" i="1" smtClean="0">
                            <a:latin typeface="Cambria Math" panose="02040503050406030204" pitchFamily="18" charset="0"/>
                            <a:ea typeface="Calibri" panose="020F0502020204030204" pitchFamily="34" charset="0"/>
                            <a:cs typeface="Calibri" panose="020F0502020204030204" pitchFamily="34" charset="0"/>
                          </a:rPr>
                        </m:ctrlPr>
                      </m:fPr>
                      <m:num>
                        <m:r>
                          <a:rPr lang="en-US" sz="2800" b="0" i="1" smtClean="0">
                            <a:latin typeface="Cambria Math" panose="02040503050406030204" pitchFamily="18" charset="0"/>
                            <a:ea typeface="Calibri" panose="020F0502020204030204" pitchFamily="34" charset="0"/>
                            <a:cs typeface="Calibri" panose="020F0502020204030204" pitchFamily="34" charset="0"/>
                          </a:rPr>
                          <m:t>1</m:t>
                        </m:r>
                      </m:num>
                      <m:den>
                        <m:r>
                          <a:rPr lang="en-US" sz="2800" b="0" i="1" smtClean="0">
                            <a:latin typeface="Cambria Math" panose="02040503050406030204" pitchFamily="18" charset="0"/>
                            <a:ea typeface="Calibri" panose="020F0502020204030204" pitchFamily="34" charset="0"/>
                            <a:cs typeface="Calibri" panose="020F0502020204030204" pitchFamily="34" charset="0"/>
                          </a:rPr>
                          <m:t>2</m:t>
                        </m:r>
                      </m:den>
                    </m:f>
                  </m:oMath>
                </a14:m>
                <a:r>
                  <a:rPr lang="en-US" sz="2800" dirty="0">
                    <a:latin typeface="Calibri" panose="020F0502020204030204" pitchFamily="34" charset="0"/>
                    <a:ea typeface="Calibri" panose="020F0502020204030204" pitchFamily="34" charset="0"/>
                    <a:cs typeface="Calibri" panose="020F0502020204030204" pitchFamily="34" charset="0"/>
                  </a:rPr>
                  <a:t> ∙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− 3</a:t>
                </a:r>
                <a:endParaRPr sz="2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 name="Google Shape;659;p26">
                <a:extLst>
                  <a:ext uri="{FF2B5EF4-FFF2-40B4-BE49-F238E27FC236}">
                    <a16:creationId xmlns:a16="http://schemas.microsoft.com/office/drawing/2014/main" id="{5474CCAE-BF4D-3DFD-6A2E-2D16590BB74A}"/>
                  </a:ext>
                </a:extLst>
              </p:cNvPr>
              <p:cNvSpPr txBox="1">
                <a:spLocks noRot="1" noChangeAspect="1" noMove="1" noResize="1" noEditPoints="1" noAdjustHandles="1" noChangeArrowheads="1" noChangeShapeType="1" noTextEdit="1"/>
              </p:cNvSpPr>
              <p:nvPr/>
            </p:nvSpPr>
            <p:spPr>
              <a:xfrm>
                <a:off x="5463814" y="1627463"/>
                <a:ext cx="4394298" cy="653581"/>
              </a:xfrm>
              <a:prstGeom prst="rect">
                <a:avLst/>
              </a:prstGeom>
              <a:blipFill>
                <a:blip r:embed="rId5"/>
                <a:stretch>
                  <a:fillRect b="-20561"/>
                </a:stretch>
              </a:blipFill>
              <a:ln>
                <a:noFill/>
              </a:ln>
            </p:spPr>
            <p:txBody>
              <a:bodyPr/>
              <a:lstStyle/>
              <a:p>
                <a:r>
                  <a:rPr lang="en-US">
                    <a:noFill/>
                  </a:rPr>
                  <a:t> </a:t>
                </a:r>
              </a:p>
            </p:txBody>
          </p:sp>
        </mc:Fallback>
      </mc:AlternateContent>
      <p:pic>
        <p:nvPicPr>
          <p:cNvPr id="832" name="Google Shape;832;p47" descr="A graph of line f of x = x on the coordinate plane. The line rises from left to right through the points (0, 0) and (2, 2).">
            <a:extLst>
              <a:ext uri="{FF2B5EF4-FFF2-40B4-BE49-F238E27FC236}">
                <a16:creationId xmlns:a16="http://schemas.microsoft.com/office/drawing/2014/main" id="{11505A71-19A1-5C79-212B-306770095FDE}"/>
              </a:ext>
            </a:extLst>
          </p:cNvPr>
          <p:cNvPicPr>
            <a:picLocks noChangeAspect="1"/>
          </p:cNvPicPr>
          <p:nvPr/>
        </p:nvPicPr>
        <p:blipFill rotWithShape="1">
          <a:blip r:embed="rId6" cstate="email">
            <a:alphaModFix/>
            <a:extLst>
              <a:ext uri="{28A0092B-C50C-407E-A947-70E740481C1C}">
                <a14:useLocalDpi xmlns:a14="http://schemas.microsoft.com/office/drawing/2010/main"/>
              </a:ext>
            </a:extLst>
          </a:blip>
          <a:srcRect/>
          <a:stretch/>
        </p:blipFill>
        <p:spPr>
          <a:xfrm>
            <a:off x="6477672" y="2573907"/>
            <a:ext cx="2636338" cy="2592521"/>
          </a:xfrm>
          <a:prstGeom prst="rect">
            <a:avLst/>
          </a:prstGeom>
          <a:noFill/>
          <a:ln>
            <a:noFill/>
          </a:ln>
        </p:spPr>
      </p:pic>
    </p:spTree>
    <p:extLst>
      <p:ext uri="{BB962C8B-B14F-4D97-AF65-F5344CB8AC3E}">
        <p14:creationId xmlns:p14="http://schemas.microsoft.com/office/powerpoint/2010/main" val="25172053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27">
          <a:extLst>
            <a:ext uri="{FF2B5EF4-FFF2-40B4-BE49-F238E27FC236}">
              <a16:creationId xmlns:a16="http://schemas.microsoft.com/office/drawing/2014/main" id="{835ECF12-8D48-7659-19E8-CA1C4DF4B74B}"/>
            </a:ext>
          </a:extLst>
        </p:cNvPr>
        <p:cNvGrpSpPr/>
        <p:nvPr/>
      </p:nvGrpSpPr>
      <p:grpSpPr>
        <a:xfrm>
          <a:off x="0" y="0"/>
          <a:ext cx="0" cy="0"/>
          <a:chOff x="0" y="0"/>
          <a:chExt cx="0" cy="0"/>
        </a:xfrm>
      </p:grpSpPr>
      <p:sp>
        <p:nvSpPr>
          <p:cNvPr id="828" name="Google Shape;828;p47">
            <a:extLst>
              <a:ext uri="{FF2B5EF4-FFF2-40B4-BE49-F238E27FC236}">
                <a16:creationId xmlns:a16="http://schemas.microsoft.com/office/drawing/2014/main" id="{899ABEBE-8516-1B4D-8475-6C3D81E3A23E}"/>
              </a:ext>
            </a:extLst>
          </p:cNvPr>
          <p:cNvSpPr txBox="1">
            <a:spLocks noGrp="1"/>
          </p:cNvSpPr>
          <p:nvPr>
            <p:ph type="title"/>
          </p:nvPr>
        </p:nvSpPr>
        <p:spPr>
          <a:xfrm>
            <a:off x="764931" y="0"/>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200"/>
              <a:buFont typeface="Calibri"/>
              <a:buNone/>
            </a:pPr>
            <a:r>
              <a:rPr lang="en-US" sz="3200" b="1" dirty="0"/>
              <a:t>Vertical Dilations and Vertical Translations of Functions </a:t>
            </a:r>
            <a:r>
              <a:rPr lang="en-US" sz="2000" b="1" dirty="0">
                <a:solidFill>
                  <a:schemeClr val="bg1"/>
                </a:solidFill>
              </a:rPr>
              <a:t>(3 of 6)</a:t>
            </a:r>
            <a:endParaRPr dirty="0">
              <a:solidFill>
                <a:schemeClr val="bg1"/>
              </a:solidFill>
            </a:endParaRPr>
          </a:p>
        </p:txBody>
      </p:sp>
      <p:sp>
        <p:nvSpPr>
          <p:cNvPr id="3" name="Google Shape;659;p26">
            <a:extLst>
              <a:ext uri="{FF2B5EF4-FFF2-40B4-BE49-F238E27FC236}">
                <a16:creationId xmlns:a16="http://schemas.microsoft.com/office/drawing/2014/main" id="{F823ACBA-5EAC-2AE5-58DB-5FFF483BB513}"/>
              </a:ext>
            </a:extLst>
          </p:cNvPr>
          <p:cNvSpPr txBox="1"/>
          <p:nvPr/>
        </p:nvSpPr>
        <p:spPr>
          <a:xfrm>
            <a:off x="764931" y="1758684"/>
            <a:ext cx="4394298" cy="589473"/>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600"/>
              </a:spcAft>
              <a:buClr>
                <a:srgbClr val="000000"/>
              </a:buClr>
              <a:buSzPts val="2800"/>
              <a:buFont typeface="+mj-lt"/>
              <a:buAutoNum type="alphaLcPeriod" startAt="5"/>
            </a:pP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i="1" dirty="0">
                <a:latin typeface="Calibri" panose="020F0502020204030204" pitchFamily="34" charset="0"/>
                <a:ea typeface="Calibri" panose="020F0502020204030204" pitchFamily="34" charset="0"/>
                <a:cs typeface="Calibri" panose="020F0502020204030204" pitchFamily="34" charset="0"/>
              </a:rPr>
              <a:t>g</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−1 ∙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− 4</a:t>
            </a:r>
            <a:endParaRPr sz="2800" dirty="0">
              <a:latin typeface="Calibri" panose="020F0502020204030204" pitchFamily="34" charset="0"/>
              <a:ea typeface="Calibri" panose="020F0502020204030204" pitchFamily="34" charset="0"/>
              <a:cs typeface="Calibri" panose="020F0502020204030204" pitchFamily="34" charset="0"/>
            </a:endParaRPr>
          </a:p>
        </p:txBody>
      </p:sp>
      <p:pic>
        <p:nvPicPr>
          <p:cNvPr id="831" name="Google Shape;831;p47" descr="A graph of line f of x = x on the coordinate plane. The line rises from left to right through the points (0, 0) and (2, 2).">
            <a:extLst>
              <a:ext uri="{FF2B5EF4-FFF2-40B4-BE49-F238E27FC236}">
                <a16:creationId xmlns:a16="http://schemas.microsoft.com/office/drawing/2014/main" id="{2CA8A1BC-D053-A25D-49CD-D2ADCC6AF3AC}"/>
              </a:ext>
            </a:extLst>
          </p:cNvPr>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1811021" y="2493576"/>
            <a:ext cx="2636338" cy="2672852"/>
          </a:xfrm>
          <a:prstGeom prst="rect">
            <a:avLst/>
          </a:prstGeom>
          <a:noFill/>
          <a:ln>
            <a:noFill/>
          </a:ln>
        </p:spPr>
      </p:pic>
      <mc:AlternateContent xmlns:mc="http://schemas.openxmlformats.org/markup-compatibility/2006" xmlns:a14="http://schemas.microsoft.com/office/drawing/2010/main">
        <mc:Choice Requires="a14">
          <p:sp>
            <p:nvSpPr>
              <p:cNvPr id="4" name="Google Shape;659;p26">
                <a:extLst>
                  <a:ext uri="{FF2B5EF4-FFF2-40B4-BE49-F238E27FC236}">
                    <a16:creationId xmlns:a16="http://schemas.microsoft.com/office/drawing/2014/main" id="{E42A4738-F0B5-F269-B6D2-45A710EB0FAF}"/>
                  </a:ext>
                </a:extLst>
              </p:cNvPr>
              <p:cNvSpPr txBox="1"/>
              <p:nvPr/>
            </p:nvSpPr>
            <p:spPr>
              <a:xfrm>
                <a:off x="5463814" y="1627463"/>
                <a:ext cx="4394298" cy="653581"/>
              </a:xfrm>
              <a:prstGeom prst="rect">
                <a:avLst/>
              </a:prstGeom>
              <a:noFill/>
              <a:ln>
                <a:noFill/>
              </a:ln>
            </p:spPr>
            <p:txBody>
              <a:bodyPr spcFirstLastPara="1" wrap="square" lIns="91425" tIns="45700" rIns="91425" bIns="45700" anchor="t" anchorCtr="0">
                <a:noAutofit/>
              </a:bodyPr>
              <a:lstStyle/>
              <a:p>
                <a:pPr marL="1031875" marR="0" lvl="0" indent="-514350" algn="l" rtl="0">
                  <a:spcBef>
                    <a:spcPts val="0"/>
                  </a:spcBef>
                  <a:spcAft>
                    <a:spcPts val="600"/>
                  </a:spcAft>
                  <a:buClr>
                    <a:srgbClr val="000000"/>
                  </a:buClr>
                  <a:buSzPts val="2800"/>
                  <a:buFont typeface="+mj-lt"/>
                  <a:buAutoNum type="alphaLcPeriod" startAt="6"/>
                </a:pP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i="1" dirty="0">
                    <a:latin typeface="Calibri" panose="020F0502020204030204" pitchFamily="34" charset="0"/>
                    <a:ea typeface="Calibri" panose="020F0502020204030204" pitchFamily="34" charset="0"/>
                    <a:cs typeface="Calibri" panose="020F0502020204030204" pitchFamily="34" charset="0"/>
                  </a:rPr>
                  <a:t>g</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r>
                      <a:rPr lang="en-US" sz="2800" b="0" i="0" smtClean="0">
                        <a:latin typeface="Cambria Math" panose="02040503050406030204" pitchFamily="18" charset="0"/>
                        <a:ea typeface="Calibri" panose="020F0502020204030204" pitchFamily="34" charset="0"/>
                        <a:cs typeface="Calibri" panose="020F0502020204030204" pitchFamily="34" charset="0"/>
                      </a:rPr>
                      <m:t>−</m:t>
                    </m:r>
                    <m:f>
                      <m:fPr>
                        <m:ctrlPr>
                          <a:rPr lang="en-US" sz="2800" i="1" smtClean="0">
                            <a:latin typeface="Cambria Math" panose="02040503050406030204" pitchFamily="18" charset="0"/>
                            <a:ea typeface="Calibri" panose="020F0502020204030204" pitchFamily="34" charset="0"/>
                            <a:cs typeface="Calibri" panose="020F0502020204030204" pitchFamily="34" charset="0"/>
                          </a:rPr>
                        </m:ctrlPr>
                      </m:fPr>
                      <m:num>
                        <m:r>
                          <a:rPr lang="en-US" sz="2800" b="0" i="1" smtClean="0">
                            <a:latin typeface="Cambria Math" panose="02040503050406030204" pitchFamily="18" charset="0"/>
                            <a:ea typeface="Calibri" panose="020F0502020204030204" pitchFamily="34" charset="0"/>
                            <a:cs typeface="Calibri" panose="020F0502020204030204" pitchFamily="34" charset="0"/>
                          </a:rPr>
                          <m:t>2</m:t>
                        </m:r>
                      </m:num>
                      <m:den>
                        <m:r>
                          <a:rPr lang="en-US" sz="2800" b="0" i="1" smtClean="0">
                            <a:latin typeface="Cambria Math" panose="02040503050406030204" pitchFamily="18" charset="0"/>
                            <a:ea typeface="Calibri" panose="020F0502020204030204" pitchFamily="34" charset="0"/>
                            <a:cs typeface="Calibri" panose="020F0502020204030204" pitchFamily="34" charset="0"/>
                          </a:rPr>
                          <m:t>3</m:t>
                        </m:r>
                      </m:den>
                    </m:f>
                  </m:oMath>
                </a14:m>
                <a:r>
                  <a:rPr lang="en-US" sz="2800" dirty="0">
                    <a:latin typeface="Calibri" panose="020F0502020204030204" pitchFamily="34" charset="0"/>
                    <a:ea typeface="Calibri" panose="020F0502020204030204" pitchFamily="34" charset="0"/>
                    <a:cs typeface="Calibri" panose="020F0502020204030204" pitchFamily="34" charset="0"/>
                  </a:rPr>
                  <a:t> ∙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+ 5</a:t>
                </a:r>
                <a:endParaRPr sz="2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 name="Google Shape;659;p26">
                <a:extLst>
                  <a:ext uri="{FF2B5EF4-FFF2-40B4-BE49-F238E27FC236}">
                    <a16:creationId xmlns:a16="http://schemas.microsoft.com/office/drawing/2014/main" id="{E42A4738-F0B5-F269-B6D2-45A710EB0FAF}"/>
                  </a:ext>
                </a:extLst>
              </p:cNvPr>
              <p:cNvSpPr txBox="1">
                <a:spLocks noRot="1" noChangeAspect="1" noMove="1" noResize="1" noEditPoints="1" noAdjustHandles="1" noChangeArrowheads="1" noChangeShapeType="1" noTextEdit="1"/>
              </p:cNvSpPr>
              <p:nvPr/>
            </p:nvSpPr>
            <p:spPr>
              <a:xfrm>
                <a:off x="5463814" y="1627463"/>
                <a:ext cx="4394298" cy="653581"/>
              </a:xfrm>
              <a:prstGeom prst="rect">
                <a:avLst/>
              </a:prstGeom>
              <a:blipFill>
                <a:blip r:embed="rId4"/>
                <a:stretch>
                  <a:fillRect b="-20561"/>
                </a:stretch>
              </a:blipFill>
              <a:ln>
                <a:noFill/>
              </a:ln>
            </p:spPr>
            <p:txBody>
              <a:bodyPr/>
              <a:lstStyle/>
              <a:p>
                <a:r>
                  <a:rPr lang="en-US">
                    <a:noFill/>
                  </a:rPr>
                  <a:t> </a:t>
                </a:r>
              </a:p>
            </p:txBody>
          </p:sp>
        </mc:Fallback>
      </mc:AlternateContent>
      <p:pic>
        <p:nvPicPr>
          <p:cNvPr id="832" name="Google Shape;832;p47" descr="A graph of line f of x = x on the coordinate plane. The line rises from left to right through the points (0, 0) and (2, 2).">
            <a:extLst>
              <a:ext uri="{FF2B5EF4-FFF2-40B4-BE49-F238E27FC236}">
                <a16:creationId xmlns:a16="http://schemas.microsoft.com/office/drawing/2014/main" id="{502ED35A-E289-0A6F-13A9-CA8ED671B9BD}"/>
              </a:ext>
            </a:extLst>
          </p:cNvPr>
          <p:cNvPicPr>
            <a:picLocks noChangeAspect="1"/>
          </p:cNvPicPr>
          <p:nvPr/>
        </p:nvPicPr>
        <p:blipFill rotWithShape="1">
          <a:blip r:embed="rId5" cstate="email">
            <a:alphaModFix/>
            <a:extLst>
              <a:ext uri="{28A0092B-C50C-407E-A947-70E740481C1C}">
                <a14:useLocalDpi xmlns:a14="http://schemas.microsoft.com/office/drawing/2010/main"/>
              </a:ext>
            </a:extLst>
          </a:blip>
          <a:srcRect/>
          <a:stretch/>
        </p:blipFill>
        <p:spPr>
          <a:xfrm>
            <a:off x="6477672" y="2573907"/>
            <a:ext cx="2636338" cy="2592521"/>
          </a:xfrm>
          <a:prstGeom prst="rect">
            <a:avLst/>
          </a:prstGeom>
          <a:noFill/>
          <a:ln>
            <a:noFill/>
          </a:ln>
        </p:spPr>
      </p:pic>
    </p:spTree>
    <p:extLst>
      <p:ext uri="{BB962C8B-B14F-4D97-AF65-F5344CB8AC3E}">
        <p14:creationId xmlns:p14="http://schemas.microsoft.com/office/powerpoint/2010/main" val="40991458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4" name="Google Shape;828;p47">
            <a:extLst>
              <a:ext uri="{FF2B5EF4-FFF2-40B4-BE49-F238E27FC236}">
                <a16:creationId xmlns:a16="http://schemas.microsoft.com/office/drawing/2014/main" id="{7D53C5AA-5A40-41A8-C4EB-427B8F3E39A6}"/>
              </a:ext>
            </a:extLst>
          </p:cNvPr>
          <p:cNvSpPr txBox="1">
            <a:spLocks noGrp="1"/>
          </p:cNvSpPr>
          <p:nvPr>
            <p:ph type="title"/>
          </p:nvPr>
        </p:nvSpPr>
        <p:spPr>
          <a:xfrm>
            <a:off x="764931" y="0"/>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200"/>
              <a:buFont typeface="Calibri"/>
              <a:buNone/>
            </a:pPr>
            <a:r>
              <a:rPr lang="en-US" sz="3200" b="1" dirty="0"/>
              <a:t>Vertical Dilations and Vertical Translations of Functions </a:t>
            </a:r>
            <a:r>
              <a:rPr lang="en-US" sz="2000" b="1" dirty="0">
                <a:solidFill>
                  <a:schemeClr val="bg1"/>
                </a:solidFill>
              </a:rPr>
              <a:t>(4 of 6)</a:t>
            </a:r>
            <a:endParaRPr dirty="0">
              <a:solidFill>
                <a:schemeClr val="bg1"/>
              </a:solidFill>
            </a:endParaRPr>
          </a:p>
        </p:txBody>
      </p:sp>
      <p:sp>
        <p:nvSpPr>
          <p:cNvPr id="5" name="Google Shape;659;p26">
            <a:extLst>
              <a:ext uri="{FF2B5EF4-FFF2-40B4-BE49-F238E27FC236}">
                <a16:creationId xmlns:a16="http://schemas.microsoft.com/office/drawing/2014/main" id="{E4502B54-403A-1CD8-CAB7-5A56912E679F}"/>
              </a:ext>
            </a:extLst>
          </p:cNvPr>
          <p:cNvSpPr txBox="1"/>
          <p:nvPr/>
        </p:nvSpPr>
        <p:spPr>
          <a:xfrm>
            <a:off x="764931" y="1367406"/>
            <a:ext cx="10791178" cy="526828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1200"/>
              </a:spcAft>
              <a:buClr>
                <a:srgbClr val="000000"/>
              </a:buClr>
              <a:buSzPts val="2800"/>
              <a:buFont typeface="Arial"/>
              <a:buNone/>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When a function is both translated and stretched vertically, the resulting function can be written in the form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where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represents the vertical translation of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and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represents the vertical dilation of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p>
          <a:p>
            <a:pPr marL="514350" marR="0" lvl="0" indent="-514350" algn="l" rtl="0">
              <a:spcBef>
                <a:spcPts val="0"/>
              </a:spcBef>
              <a:spcAft>
                <a:spcPts val="1200"/>
              </a:spcAft>
              <a:buClr>
                <a:srgbClr val="000000"/>
              </a:buClr>
              <a:buSzPts val="2800"/>
              <a:buFont typeface="+mj-lt"/>
              <a:buAutoNum type="arabicPeriod" startAt="2"/>
            </a:pPr>
            <a:r>
              <a:rPr lang="en-US" sz="2800" dirty="0">
                <a:latin typeface="Calibri" panose="020F0502020204030204" pitchFamily="34" charset="0"/>
                <a:ea typeface="Calibri" panose="020F0502020204030204" pitchFamily="34" charset="0"/>
                <a:cs typeface="Calibri" panose="020F0502020204030204" pitchFamily="34" charset="0"/>
              </a:rPr>
              <a:t>Consider the function </a:t>
            </a:r>
            <a:r>
              <a:rPr lang="en-US" sz="2800" i="1" dirty="0">
                <a:latin typeface="Calibri" panose="020F0502020204030204" pitchFamily="34" charset="0"/>
                <a:ea typeface="Calibri" panose="020F0502020204030204" pitchFamily="34" charset="0"/>
                <a:cs typeface="Calibri" panose="020F0502020204030204" pitchFamily="34" charset="0"/>
              </a:rPr>
              <a:t>g</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a:t>
            </a:r>
            <a:r>
              <a:rPr lang="en-US" sz="2800" b="0" u="none" strike="noStrike" baseline="0" dirty="0">
                <a:latin typeface="Calibri" panose="020F0502020204030204" pitchFamily="34" charset="0"/>
                <a:ea typeface="Calibri" panose="020F0502020204030204" pitchFamily="34" charset="0"/>
                <a:cs typeface="Calibri" panose="020F0502020204030204" pitchFamily="34" charset="0"/>
              </a:rPr>
              <a:t>.</a:t>
            </a:r>
          </a:p>
          <a:p>
            <a:pPr marL="1031875" lvl="1" indent="-514350">
              <a:spcAft>
                <a:spcPts val="1200"/>
              </a:spcAft>
              <a:buSzPts val="280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rPr>
              <a:t>How does changing the </a:t>
            </a:r>
            <a:r>
              <a:rPr lang="en-US" sz="2800" i="1" dirty="0">
                <a:latin typeface="Calibri" panose="020F0502020204030204" pitchFamily="34" charset="0"/>
                <a:ea typeface="Calibri" panose="020F0502020204030204" pitchFamily="34" charset="0"/>
                <a:cs typeface="Calibri" panose="020F0502020204030204" pitchFamily="34" charset="0"/>
              </a:rPr>
              <a:t>a</a:t>
            </a:r>
            <a:r>
              <a:rPr lang="en-US" sz="2800" dirty="0">
                <a:latin typeface="Calibri" panose="020F0502020204030204" pitchFamily="34" charset="0"/>
                <a:ea typeface="Calibri" panose="020F0502020204030204" pitchFamily="34" charset="0"/>
                <a:cs typeface="Calibri" panose="020F0502020204030204" pitchFamily="34" charset="0"/>
              </a:rPr>
              <a:t>-value affect the slope of the function? The </a:t>
            </a:r>
            <a:r>
              <a:rPr lang="en-US" sz="2800" i="1" dirty="0">
                <a:latin typeface="Calibri" panose="020F0502020204030204" pitchFamily="34" charset="0"/>
                <a:ea typeface="Calibri" panose="020F0502020204030204" pitchFamily="34" charset="0"/>
                <a:cs typeface="Calibri" panose="020F0502020204030204" pitchFamily="34" charset="0"/>
              </a:rPr>
              <a:t>y</a:t>
            </a:r>
            <a:r>
              <a:rPr lang="en-US" sz="2800" dirty="0">
                <a:latin typeface="Calibri" panose="020F0502020204030204" pitchFamily="34" charset="0"/>
                <a:ea typeface="Calibri" panose="020F0502020204030204" pitchFamily="34" charset="0"/>
                <a:cs typeface="Calibri" panose="020F0502020204030204" pitchFamily="34" charset="0"/>
              </a:rPr>
              <a:t>-intercept of the function?</a:t>
            </a: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1031875" lvl="1" indent="-514350">
              <a:spcAft>
                <a:spcPts val="1200"/>
              </a:spcAft>
              <a:buSzPts val="280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rPr>
              <a:t>How does changing the </a:t>
            </a:r>
            <a:r>
              <a:rPr lang="en-US" sz="2800" i="1" dirty="0">
                <a:latin typeface="Calibri" panose="020F0502020204030204" pitchFamily="34" charset="0"/>
                <a:ea typeface="Calibri" panose="020F0502020204030204" pitchFamily="34" charset="0"/>
                <a:cs typeface="Calibri" panose="020F0502020204030204" pitchFamily="34" charset="0"/>
              </a:rPr>
              <a:t>d</a:t>
            </a:r>
            <a:r>
              <a:rPr lang="en-US" sz="2800" dirty="0">
                <a:latin typeface="Calibri" panose="020F0502020204030204" pitchFamily="34" charset="0"/>
                <a:ea typeface="Calibri" panose="020F0502020204030204" pitchFamily="34" charset="0"/>
                <a:cs typeface="Calibri" panose="020F0502020204030204" pitchFamily="34" charset="0"/>
              </a:rPr>
              <a:t>-value affect the slope of the function? The </a:t>
            </a:r>
            <a:r>
              <a:rPr lang="en-US" sz="2800" i="1" dirty="0">
                <a:latin typeface="Calibri" panose="020F0502020204030204" pitchFamily="34" charset="0"/>
                <a:ea typeface="Calibri" panose="020F0502020204030204" pitchFamily="34" charset="0"/>
                <a:cs typeface="Calibri" panose="020F0502020204030204" pitchFamily="34" charset="0"/>
              </a:rPr>
              <a:t>y</a:t>
            </a:r>
            <a:r>
              <a:rPr lang="en-US" sz="2800" dirty="0">
                <a:latin typeface="Calibri" panose="020F0502020204030204" pitchFamily="34" charset="0"/>
                <a:ea typeface="Calibri" panose="020F0502020204030204" pitchFamily="34" charset="0"/>
                <a:cs typeface="Calibri" panose="020F0502020204030204" pitchFamily="34" charset="0"/>
              </a:rPr>
              <a:t>-intercept of the function?</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4" name="Google Shape;828;p47">
            <a:extLst>
              <a:ext uri="{FF2B5EF4-FFF2-40B4-BE49-F238E27FC236}">
                <a16:creationId xmlns:a16="http://schemas.microsoft.com/office/drawing/2014/main" id="{ED376AD8-39B7-9866-4BF4-CB7D2FE8A54B}"/>
              </a:ext>
            </a:extLst>
          </p:cNvPr>
          <p:cNvSpPr txBox="1">
            <a:spLocks noGrp="1"/>
          </p:cNvSpPr>
          <p:nvPr>
            <p:ph type="title"/>
          </p:nvPr>
        </p:nvSpPr>
        <p:spPr>
          <a:xfrm>
            <a:off x="764931" y="0"/>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200"/>
              <a:buFont typeface="Calibri"/>
              <a:buNone/>
            </a:pPr>
            <a:r>
              <a:rPr lang="en-US" sz="3200" b="1" dirty="0"/>
              <a:t>Vertical Dilations and Vertical Translations of Functions </a:t>
            </a:r>
            <a:r>
              <a:rPr lang="en-US" sz="2000" b="1" dirty="0">
                <a:solidFill>
                  <a:schemeClr val="bg1"/>
                </a:solidFill>
              </a:rPr>
              <a:t>(5 of 6)</a:t>
            </a:r>
            <a:endParaRPr dirty="0">
              <a:solidFill>
                <a:schemeClr val="bg1"/>
              </a:solidFill>
            </a:endParaRPr>
          </a:p>
        </p:txBody>
      </p:sp>
      <p:sp>
        <p:nvSpPr>
          <p:cNvPr id="872" name="Google Shape;872;p51"/>
          <p:cNvSpPr txBox="1"/>
          <p:nvPr/>
        </p:nvSpPr>
        <p:spPr>
          <a:xfrm>
            <a:off x="764932" y="1616140"/>
            <a:ext cx="9906028"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dirty="0">
                <a:solidFill>
                  <a:srgbClr val="000000"/>
                </a:solidFill>
                <a:latin typeface="Calibri"/>
                <a:ea typeface="Calibri"/>
                <a:cs typeface="Calibri"/>
                <a:sym typeface="Calibri"/>
              </a:rPr>
              <a:t>Let’s summarize our learning from Activity 1.4!</a:t>
            </a:r>
            <a:endParaRPr dirty="0"/>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p:txBody>
      </p:sp>
      <p:pic>
        <p:nvPicPr>
          <p:cNvPr id="873" name="Google Shape;873;p51">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467637" y="372493"/>
            <a:ext cx="1501270" cy="51820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80" name="Google Shape;880;p52">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
        <p:nvSpPr>
          <p:cNvPr id="4" name="Google Shape;828;p47">
            <a:extLst>
              <a:ext uri="{FF2B5EF4-FFF2-40B4-BE49-F238E27FC236}">
                <a16:creationId xmlns:a16="http://schemas.microsoft.com/office/drawing/2014/main" id="{59D2EF21-1FB3-FE45-63C5-88C7DCA93AF5}"/>
              </a:ext>
            </a:extLst>
          </p:cNvPr>
          <p:cNvSpPr txBox="1">
            <a:spLocks noGrp="1"/>
          </p:cNvSpPr>
          <p:nvPr>
            <p:ph type="title"/>
          </p:nvPr>
        </p:nvSpPr>
        <p:spPr>
          <a:xfrm>
            <a:off x="764931" y="0"/>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200"/>
              <a:buFont typeface="Calibri"/>
              <a:buNone/>
            </a:pPr>
            <a:r>
              <a:rPr lang="en-US" sz="3200" b="1" dirty="0"/>
              <a:t>Vertical Dilations and Vertical Translations of Functions </a:t>
            </a:r>
            <a:r>
              <a:rPr lang="en-US" sz="2000" b="1" dirty="0">
                <a:solidFill>
                  <a:schemeClr val="bg1"/>
                </a:solidFill>
              </a:rPr>
              <a:t>(6 of 6)</a:t>
            </a:r>
            <a:endParaRPr dirty="0">
              <a:solidFill>
                <a:schemeClr val="bg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53"/>
          <p:cNvSpPr txBox="1">
            <a:spLocks noGrp="1"/>
          </p:cNvSpPr>
          <p:nvPr>
            <p:ph type="title"/>
          </p:nvPr>
        </p:nvSpPr>
        <p:spPr>
          <a:xfrm>
            <a:off x="838200" y="-310393"/>
            <a:ext cx="10514013" cy="31039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dirty="0">
                <a:solidFill>
                  <a:schemeClr val="lt2"/>
                </a:solidFill>
                <a:latin typeface="Calibri"/>
                <a:ea typeface="Calibri"/>
                <a:cs typeface="Calibri"/>
                <a:sym typeface="Calibri"/>
              </a:rPr>
              <a:t>Activity 1.5</a:t>
            </a:r>
            <a:endParaRPr dirty="0"/>
          </a:p>
        </p:txBody>
      </p:sp>
      <p:sp>
        <p:nvSpPr>
          <p:cNvPr id="887" name="Google Shape;887;p53" descr="15 to 20 minutes"/>
          <p:cNvSpPr txBox="1">
            <a:spLocks noGrp="1"/>
          </p:cNvSpPr>
          <p:nvPr>
            <p:ph type="body" idx="2"/>
          </p:nvPr>
        </p:nvSpPr>
        <p:spPr>
          <a:xfrm>
            <a:off x="10614990"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15–20</a:t>
            </a:r>
            <a:endParaRPr dirty="0"/>
          </a:p>
        </p:txBody>
      </p:sp>
      <p:sp>
        <p:nvSpPr>
          <p:cNvPr id="888" name="Google Shape;888;p53">
            <a:extLst>
              <a:ext uri="{C183D7F6-B498-43B3-948B-1728B52AA6E4}">
                <adec:decorative xmlns:adec="http://schemas.microsoft.com/office/drawing/2017/decorative" val="1"/>
              </a:ext>
            </a:extLst>
          </p:cNvPr>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500"/>
              <a:buNone/>
            </a:pPr>
            <a:r>
              <a:rPr lang="en-US"/>
              <a:t>1.5</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p5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Applying Linear Function Transformations </a:t>
            </a:r>
            <a:r>
              <a:rPr lang="en-US" sz="2000" b="1" dirty="0">
                <a:solidFill>
                  <a:schemeClr val="bg1"/>
                </a:solidFill>
              </a:rPr>
              <a:t>(1 of 6)</a:t>
            </a:r>
            <a:endParaRPr dirty="0">
              <a:solidFill>
                <a:schemeClr val="bg1"/>
              </a:solidFill>
            </a:endParaRPr>
          </a:p>
        </p:txBody>
      </p:sp>
      <p:pic>
        <p:nvPicPr>
          <p:cNvPr id="3" name="Picture 2" descr="Problem solving has 5 steps. Notice, organize, analyze, interpret, and report. Interpreting may also lead back to organizing.">
            <a:extLst>
              <a:ext uri="{FF2B5EF4-FFF2-40B4-BE49-F238E27FC236}">
                <a16:creationId xmlns:a16="http://schemas.microsoft.com/office/drawing/2014/main" id="{A6D4AC7F-2B44-5BD7-387C-023D2F41D69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7240" y="1481326"/>
            <a:ext cx="1546994" cy="2301439"/>
          </a:xfrm>
          <a:prstGeom prst="rect">
            <a:avLst/>
          </a:prstGeom>
        </p:spPr>
      </p:pic>
      <p:sp>
        <p:nvSpPr>
          <p:cNvPr id="4" name="TextBox 3">
            <a:extLst>
              <a:ext uri="{FF2B5EF4-FFF2-40B4-BE49-F238E27FC236}">
                <a16:creationId xmlns:a16="http://schemas.microsoft.com/office/drawing/2014/main" id="{538D0FEC-F3A9-ED6F-8145-DBE621093152}"/>
              </a:ext>
            </a:extLst>
          </p:cNvPr>
          <p:cNvSpPr txBox="1"/>
          <p:nvPr/>
        </p:nvSpPr>
        <p:spPr>
          <a:xfrm>
            <a:off x="2910980" y="1361448"/>
            <a:ext cx="8254767" cy="1815882"/>
          </a:xfrm>
          <a:prstGeom prst="rect">
            <a:avLst/>
          </a:prstGeom>
          <a:noFill/>
        </p:spPr>
        <p:txBody>
          <a:bodyPr wrap="square" rtlCol="0">
            <a:spAutoFit/>
          </a:bodyPr>
          <a:lstStyle/>
          <a:p>
            <a:pPr algn="l"/>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Your company is developing a new video game for kids, which involves scoring points by shooting targets with a cannon. The cannon starts at the origin of a coordinate system as shown.</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pic>
        <p:nvPicPr>
          <p:cNvPr id="5" name="Google Shape;903;p55" descr="A graph of a cannon and four targets on the unnumbered coordinate plane. The cannon is at the origin, aimed along a line that rises from left to right through the points (1, 1) and (2, 2). The targets are at the approximate points (5, 3.5) and (negative 3, 6) and (negative 4, 0.5) and (1, negative 3).">
            <a:extLst>
              <a:ext uri="{FF2B5EF4-FFF2-40B4-BE49-F238E27FC236}">
                <a16:creationId xmlns:a16="http://schemas.microsoft.com/office/drawing/2014/main" id="{142AAAE7-52B0-5B25-A6C0-55FA2C9792C5}"/>
              </a:ext>
            </a:extLst>
          </p:cNvPr>
          <p:cNvPicPr>
            <a:picLocks noChangeAspect="1"/>
          </p:cNvPicPr>
          <p:nvPr/>
        </p:nvPicPr>
        <p:blipFill rotWithShape="1">
          <a:blip r:embed="rId4" cstate="email">
            <a:alphaModFix/>
            <a:extLst>
              <a:ext uri="{28A0092B-C50C-407E-A947-70E740481C1C}">
                <a14:useLocalDpi xmlns:a14="http://schemas.microsoft.com/office/drawing/2010/main"/>
              </a:ext>
            </a:extLst>
          </a:blip>
          <a:srcRect/>
          <a:stretch/>
        </p:blipFill>
        <p:spPr>
          <a:xfrm>
            <a:off x="5096312" y="3275585"/>
            <a:ext cx="3884102" cy="3414319"/>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55"/>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Applying Linear Function Transformations </a:t>
            </a:r>
            <a:r>
              <a:rPr lang="en-US" sz="2000" b="1" dirty="0">
                <a:solidFill>
                  <a:schemeClr val="bg1"/>
                </a:solidFill>
              </a:rPr>
              <a:t>(2 of 6)</a:t>
            </a:r>
            <a:endParaRPr dirty="0">
              <a:solidFill>
                <a:schemeClr val="bg1"/>
              </a:solidFill>
            </a:endParaRPr>
          </a:p>
        </p:txBody>
      </p:sp>
      <p:sp>
        <p:nvSpPr>
          <p:cNvPr id="2" name="TextBox 1">
            <a:extLst>
              <a:ext uri="{FF2B5EF4-FFF2-40B4-BE49-F238E27FC236}">
                <a16:creationId xmlns:a16="http://schemas.microsoft.com/office/drawing/2014/main" id="{EAFE80F6-AD31-23E9-7BED-521A7C3679AE}"/>
              </a:ext>
            </a:extLst>
          </p:cNvPr>
          <p:cNvSpPr txBox="1"/>
          <p:nvPr/>
        </p:nvSpPr>
        <p:spPr>
          <a:xfrm>
            <a:off x="777240" y="1168502"/>
            <a:ext cx="10715677" cy="2246769"/>
          </a:xfrm>
          <a:prstGeom prst="rect">
            <a:avLst/>
          </a:prstGeom>
          <a:noFill/>
        </p:spPr>
        <p:txBody>
          <a:bodyPr wrap="square" rtlCol="0">
            <a:spAutoFit/>
          </a:bodyPr>
          <a:lstStyle/>
          <a:p>
            <a:pPr algn="l"/>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By default, it shoots along the line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Players can move the cannon up and down the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y</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-axis and also change the angle of the cannon. When a player shoots the cannon, the game program determines the values of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and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for the linear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If the target is on that line, the program will show an animation of the cannonball hitting the target.</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pic>
        <p:nvPicPr>
          <p:cNvPr id="3" name="Google Shape;903;p55" descr="A graph of a cannon and four targets on the unnumbered coordinate plane. The cannon is at the origin, aimed along a line that rises from left to right through the points (1, 1) and (2, 2). The targets are at the approximate points (5, 3.5) and (negative 3, 6) and (negative 4, 0.5) and (1, negative 3).">
            <a:extLst>
              <a:ext uri="{FF2B5EF4-FFF2-40B4-BE49-F238E27FC236}">
                <a16:creationId xmlns:a16="http://schemas.microsoft.com/office/drawing/2014/main" id="{B8A1EF6B-68A7-0E49-D3D2-DCF65013BD43}"/>
              </a:ext>
            </a:extLst>
          </p:cNvPr>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4193027" y="3380763"/>
            <a:ext cx="3884102" cy="3414319"/>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p56"/>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Applying Linear Function Transformations </a:t>
            </a:r>
            <a:r>
              <a:rPr lang="en-US" sz="2000" b="1" dirty="0">
                <a:solidFill>
                  <a:schemeClr val="bg1"/>
                </a:solidFill>
              </a:rPr>
              <a:t>(3 of 6)</a:t>
            </a:r>
            <a:endParaRPr dirty="0">
              <a:solidFill>
                <a:schemeClr val="bg1"/>
              </a:solidFill>
            </a:endParaRPr>
          </a:p>
        </p:txBody>
      </p:sp>
      <p:sp>
        <p:nvSpPr>
          <p:cNvPr id="2" name="Google Shape;904;p55">
            <a:extLst>
              <a:ext uri="{FF2B5EF4-FFF2-40B4-BE49-F238E27FC236}">
                <a16:creationId xmlns:a16="http://schemas.microsoft.com/office/drawing/2014/main" id="{60F33350-2598-C623-5A9E-36C97572C3C2}"/>
              </a:ext>
            </a:extLst>
          </p:cNvPr>
          <p:cNvSpPr/>
          <p:nvPr/>
        </p:nvSpPr>
        <p:spPr>
          <a:xfrm>
            <a:off x="777240" y="1918877"/>
            <a:ext cx="2091690" cy="2548889"/>
          </a:xfrm>
          <a:prstGeom prst="wedgeRoundRectCallout">
            <a:avLst>
              <a:gd name="adj1" fmla="val -36583"/>
              <a:gd name="adj2" fmla="val -61466"/>
              <a:gd name="adj3" fmla="val 16667"/>
            </a:avLst>
          </a:prstGeom>
          <a:solidFill>
            <a:schemeClr val="lt1"/>
          </a:solidFill>
          <a:ln w="19050" cap="flat" cmpd="sng">
            <a:solidFill>
              <a:schemeClr val="accent3">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dirty="0">
                <a:solidFill>
                  <a:schemeClr val="accent3">
                    <a:lumMod val="75000"/>
                  </a:schemeClr>
                </a:solidFill>
                <a:latin typeface="Calibri"/>
                <a:ea typeface="Calibri"/>
                <a:cs typeface="Calibri"/>
                <a:sym typeface="Calibri"/>
              </a:rPr>
              <a:t>Ask Yourself…</a:t>
            </a:r>
            <a:endParaRPr dirty="0">
              <a:solidFill>
                <a:schemeClr val="accent3">
                  <a:lumMod val="75000"/>
                </a:schemeClr>
              </a:solidFill>
            </a:endParaRPr>
          </a:p>
          <a:p>
            <a:pPr marL="0" marR="0" lvl="0" indent="0" algn="l" rtl="0">
              <a:spcBef>
                <a:spcPts val="0"/>
              </a:spcBef>
              <a:spcAft>
                <a:spcPts val="0"/>
              </a:spcAft>
              <a:buNone/>
            </a:pPr>
            <a:r>
              <a:rPr lang="en-US" sz="1800" dirty="0">
                <a:solidFill>
                  <a:srgbClr val="000000"/>
                </a:solidFill>
                <a:latin typeface="Calibri"/>
                <a:ea typeface="Calibri"/>
                <a:cs typeface="Calibri"/>
                <a:sym typeface="Calibri"/>
              </a:rPr>
              <a:t>The cannon can shoot in only one direction. Does that affect the domain or range of the linear function? </a:t>
            </a:r>
            <a:endParaRPr dirty="0"/>
          </a:p>
        </p:txBody>
      </p:sp>
      <p:sp>
        <p:nvSpPr>
          <p:cNvPr id="3" name="TextBox 2">
            <a:extLst>
              <a:ext uri="{FF2B5EF4-FFF2-40B4-BE49-F238E27FC236}">
                <a16:creationId xmlns:a16="http://schemas.microsoft.com/office/drawing/2014/main" id="{768A6C3A-83DE-38DD-901E-1BFB393D11CE}"/>
              </a:ext>
            </a:extLst>
          </p:cNvPr>
          <p:cNvSpPr txBox="1"/>
          <p:nvPr/>
        </p:nvSpPr>
        <p:spPr>
          <a:xfrm>
            <a:off x="3397541" y="1610686"/>
            <a:ext cx="7306811" cy="3539430"/>
          </a:xfrm>
          <a:prstGeom prst="rect">
            <a:avLst/>
          </a:prstGeom>
          <a:noFill/>
        </p:spPr>
        <p:txBody>
          <a:bodyPr wrap="square" rtlCol="0">
            <a:spAutoFit/>
          </a:bodyPr>
          <a:lstStyle/>
          <a:p>
            <a:pPr marL="511175" indent="-511175">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Test the program. Determine values for </a:t>
            </a:r>
            <a:r>
              <a:rPr lang="en-US" sz="2800" i="1" dirty="0">
                <a:latin typeface="Calibri" panose="020F0502020204030204" pitchFamily="34" charset="0"/>
                <a:ea typeface="Calibri" panose="020F0502020204030204" pitchFamily="34" charset="0"/>
                <a:cs typeface="Calibri" panose="020F0502020204030204" pitchFamily="34" charset="0"/>
              </a:rPr>
              <a:t>a</a:t>
            </a:r>
            <a:r>
              <a:rPr lang="en-US" sz="2800" dirty="0">
                <a:latin typeface="Calibri" panose="020F0502020204030204" pitchFamily="34" charset="0"/>
                <a:ea typeface="Calibri" panose="020F0502020204030204" pitchFamily="34" charset="0"/>
                <a:cs typeface="Calibri" panose="020F0502020204030204" pitchFamily="34" charset="0"/>
              </a:rPr>
              <a:t> and </a:t>
            </a:r>
            <a:r>
              <a:rPr lang="en-US" sz="2800" i="1" dirty="0">
                <a:latin typeface="Calibri" panose="020F0502020204030204" pitchFamily="34" charset="0"/>
                <a:ea typeface="Calibri" panose="020F0502020204030204" pitchFamily="34" charset="0"/>
                <a:cs typeface="Calibri" panose="020F0502020204030204" pitchFamily="34" charset="0"/>
              </a:rPr>
              <a:t>d</a:t>
            </a:r>
            <a:r>
              <a:rPr lang="en-US" sz="2800" dirty="0">
                <a:latin typeface="Calibri" panose="020F0502020204030204" pitchFamily="34" charset="0"/>
                <a:ea typeface="Calibri" panose="020F0502020204030204" pitchFamily="34" charset="0"/>
                <a:cs typeface="Calibri" panose="020F0502020204030204" pitchFamily="34" charset="0"/>
              </a:rPr>
              <a:t> for four linear functions that should hit the targets shown.</a:t>
            </a: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511175" indent="-511175">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Identify the domain on which each graph hits the target.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57"/>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Applying Linear Function Transformations </a:t>
            </a:r>
            <a:r>
              <a:rPr lang="en-US" sz="2000" b="1" dirty="0">
                <a:solidFill>
                  <a:schemeClr val="bg1"/>
                </a:solidFill>
              </a:rPr>
              <a:t>(4 of 6)</a:t>
            </a:r>
            <a:endParaRPr dirty="0">
              <a:solidFill>
                <a:schemeClr val="bg1"/>
              </a:solidFill>
            </a:endParaRPr>
          </a:p>
        </p:txBody>
      </p:sp>
      <p:sp>
        <p:nvSpPr>
          <p:cNvPr id="918" name="Google Shape;918;p57"/>
          <p:cNvSpPr txBox="1"/>
          <p:nvPr/>
        </p:nvSpPr>
        <p:spPr>
          <a:xfrm>
            <a:off x="777240" y="1595735"/>
            <a:ext cx="9910334" cy="9258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400"/>
              <a:buFont typeface="Arial"/>
              <a:buNone/>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The game developer is also testing two other versions of the game, with different abilities for the cannon.</a:t>
            </a:r>
            <a:endParaRPr sz="28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spcBef>
                <a:spcPts val="320"/>
              </a:spcBef>
              <a:spcAft>
                <a:spcPts val="0"/>
              </a:spcAft>
              <a:buClr>
                <a:schemeClr val="dk1"/>
              </a:buClr>
              <a:buSzPts val="1600"/>
              <a:buFont typeface="Arial"/>
              <a:buNone/>
            </a:pPr>
            <a:endParaRPr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2" name="TextBox 1">
            <a:extLst>
              <a:ext uri="{FF2B5EF4-FFF2-40B4-BE49-F238E27FC236}">
                <a16:creationId xmlns:a16="http://schemas.microsoft.com/office/drawing/2014/main" id="{5C3064C4-6DAA-0B0A-C257-95737BD25D25}"/>
              </a:ext>
            </a:extLst>
          </p:cNvPr>
          <p:cNvSpPr txBox="1"/>
          <p:nvPr/>
        </p:nvSpPr>
        <p:spPr>
          <a:xfrm>
            <a:off x="777240" y="2608976"/>
            <a:ext cx="5317966" cy="1815882"/>
          </a:xfrm>
          <a:prstGeom prst="rect">
            <a:avLst/>
          </a:prstGeom>
          <a:noFill/>
        </p:spPr>
        <p:txBody>
          <a:bodyPr wrap="square" rtlCol="0">
            <a:sp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Version B</a:t>
            </a:r>
          </a:p>
          <a:p>
            <a:r>
              <a:rPr lang="en-US" sz="2800" dirty="0">
                <a:latin typeface="Calibri" panose="020F0502020204030204" pitchFamily="34" charset="0"/>
                <a:ea typeface="Calibri" panose="020F0502020204030204" pitchFamily="34" charset="0"/>
                <a:cs typeface="Calibri" panose="020F0502020204030204" pitchFamily="34" charset="0"/>
              </a:rPr>
              <a:t>The cannon can only shoot along a line parallel to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or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It can move up and down the </a:t>
            </a:r>
            <a:r>
              <a:rPr lang="en-US" sz="2800" i="1" dirty="0">
                <a:latin typeface="Calibri" panose="020F0502020204030204" pitchFamily="34" charset="0"/>
                <a:ea typeface="Calibri" panose="020F0502020204030204" pitchFamily="34" charset="0"/>
                <a:cs typeface="Calibri" panose="020F0502020204030204" pitchFamily="34" charset="0"/>
              </a:rPr>
              <a:t>y</a:t>
            </a:r>
            <a:r>
              <a:rPr lang="en-US" sz="2800" dirty="0">
                <a:latin typeface="Calibri" panose="020F0502020204030204" pitchFamily="34" charset="0"/>
                <a:ea typeface="Calibri" panose="020F0502020204030204" pitchFamily="34" charset="0"/>
                <a:cs typeface="Calibri" panose="020F0502020204030204" pitchFamily="34" charset="0"/>
              </a:rPr>
              <a:t>-axis.</a:t>
            </a:r>
          </a:p>
        </p:txBody>
      </p:sp>
      <p:sp>
        <p:nvSpPr>
          <p:cNvPr id="3" name="TextBox 2">
            <a:extLst>
              <a:ext uri="{FF2B5EF4-FFF2-40B4-BE49-F238E27FC236}">
                <a16:creationId xmlns:a16="http://schemas.microsoft.com/office/drawing/2014/main" id="{6639901B-2E0D-8778-EEBF-C2C8973F3F57}"/>
              </a:ext>
            </a:extLst>
          </p:cNvPr>
          <p:cNvSpPr txBox="1"/>
          <p:nvPr/>
        </p:nvSpPr>
        <p:spPr>
          <a:xfrm>
            <a:off x="7004807" y="2608976"/>
            <a:ext cx="4408366" cy="1815882"/>
          </a:xfrm>
          <a:prstGeom prst="rect">
            <a:avLst/>
          </a:prstGeom>
          <a:noFill/>
        </p:spPr>
        <p:txBody>
          <a:bodyPr wrap="square" rtlCol="0">
            <a:sp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Version C</a:t>
            </a:r>
          </a:p>
          <a:p>
            <a:r>
              <a:rPr lang="en-US" sz="2800" dirty="0">
                <a:latin typeface="Calibri" panose="020F0502020204030204" pitchFamily="34" charset="0"/>
                <a:ea typeface="Calibri" panose="020F0502020204030204" pitchFamily="34" charset="0"/>
                <a:cs typeface="Calibri" panose="020F0502020204030204" pitchFamily="34" charset="0"/>
              </a:rPr>
              <a:t>The cannon can change angles but remains fixed at the origin.</a:t>
            </a:r>
          </a:p>
        </p:txBody>
      </p:sp>
      <p:sp>
        <p:nvSpPr>
          <p:cNvPr id="4" name="Google Shape;918;p57">
            <a:extLst>
              <a:ext uri="{FF2B5EF4-FFF2-40B4-BE49-F238E27FC236}">
                <a16:creationId xmlns:a16="http://schemas.microsoft.com/office/drawing/2014/main" id="{A25028ED-4212-8C69-A279-6D284E3DE217}"/>
              </a:ext>
            </a:extLst>
          </p:cNvPr>
          <p:cNvSpPr txBox="1"/>
          <p:nvPr/>
        </p:nvSpPr>
        <p:spPr>
          <a:xfrm>
            <a:off x="777240" y="4558446"/>
            <a:ext cx="10111670" cy="1926243"/>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0"/>
              </a:spcAft>
              <a:buClr>
                <a:srgbClr val="000000"/>
              </a:buClr>
              <a:buSzPct val="100000"/>
              <a:buFont typeface="+mj-lt"/>
              <a:buAutoNum type="arabicPeriod" startAt="3"/>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Determine the values for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and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d</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along with their corresponding domains, for four linear functions that can hit the targets in each version of the game. Show your work.</a:t>
            </a:r>
            <a:endParaRPr sz="28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spcBef>
                <a:spcPts val="320"/>
              </a:spcBef>
              <a:spcAft>
                <a:spcPts val="0"/>
              </a:spcAft>
              <a:buClr>
                <a:schemeClr val="dk1"/>
              </a:buClr>
              <a:buSzPts val="1600"/>
              <a:buFont typeface="Arial"/>
              <a:buNone/>
            </a:pPr>
            <a:endParaRPr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p5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600"/>
              <a:buFont typeface="Calibri"/>
              <a:buNone/>
            </a:pPr>
            <a:r>
              <a:rPr lang="en-US" b="1" dirty="0"/>
              <a:t>Applying Linear Function Transformations </a:t>
            </a:r>
            <a:r>
              <a:rPr lang="en-US" sz="2000" b="1" dirty="0">
                <a:solidFill>
                  <a:schemeClr val="bg1"/>
                </a:solidFill>
              </a:rPr>
              <a:t>(5 of 6)</a:t>
            </a:r>
            <a:endParaRPr dirty="0">
              <a:solidFill>
                <a:schemeClr val="bg1"/>
              </a:solidFill>
            </a:endParaRPr>
          </a:p>
        </p:txBody>
      </p:sp>
      <p:sp>
        <p:nvSpPr>
          <p:cNvPr id="927" name="Google Shape;927;p58"/>
          <p:cNvSpPr txBox="1"/>
          <p:nvPr/>
        </p:nvSpPr>
        <p:spPr>
          <a:xfrm>
            <a:off x="777240" y="1616140"/>
            <a:ext cx="989371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a:solidFill>
                  <a:srgbClr val="000000"/>
                </a:solidFill>
                <a:latin typeface="Calibri"/>
                <a:ea typeface="Calibri"/>
                <a:cs typeface="Calibri"/>
                <a:sym typeface="Calibri"/>
              </a:rPr>
              <a:t>Let’s summarize our learning from Activity 1.5!</a:t>
            </a:r>
            <a:endParaRPr/>
          </a:p>
          <a:p>
            <a:pPr marL="0" marR="0" lvl="0" indent="0" algn="l" rtl="0">
              <a:spcBef>
                <a:spcPts val="560"/>
              </a:spcBef>
              <a:spcAft>
                <a:spcPts val="0"/>
              </a:spcAft>
              <a:buClr>
                <a:schemeClr val="dk1"/>
              </a:buClr>
              <a:buSzPts val="2800"/>
              <a:buFont typeface="Arial"/>
              <a:buNone/>
            </a:pPr>
            <a:endParaRPr sz="280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a:solidFill>
                <a:srgbClr val="000000"/>
              </a:solidFill>
              <a:latin typeface="Calibri"/>
              <a:ea typeface="Calibri"/>
              <a:cs typeface="Calibri"/>
              <a:sym typeface="Calibri"/>
            </a:endParaRPr>
          </a:p>
        </p:txBody>
      </p:sp>
      <p:pic>
        <p:nvPicPr>
          <p:cNvPr id="928" name="Google Shape;928;p58">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174023" y="372494"/>
            <a:ext cx="1501270" cy="51820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p59"/>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Applying Linear Function Transformations </a:t>
            </a:r>
            <a:r>
              <a:rPr lang="en-US" sz="2000" b="1" dirty="0">
                <a:solidFill>
                  <a:schemeClr val="bg1"/>
                </a:solidFill>
              </a:rPr>
              <a:t>(6 of 6)</a:t>
            </a:r>
            <a:endParaRPr dirty="0">
              <a:solidFill>
                <a:schemeClr val="bg1"/>
              </a:solidFill>
            </a:endParaRPr>
          </a:p>
        </p:txBody>
      </p:sp>
      <p:sp>
        <p:nvSpPr>
          <p:cNvPr id="935" name="Google Shape;935;p59">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p60"/>
          <p:cNvSpPr txBox="1">
            <a:spLocks noGrp="1"/>
          </p:cNvSpPr>
          <p:nvPr>
            <p:ph type="title"/>
          </p:nvPr>
        </p:nvSpPr>
        <p:spPr>
          <a:xfrm>
            <a:off x="838200" y="-302004"/>
            <a:ext cx="10514013" cy="302004"/>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dirty="0">
                <a:solidFill>
                  <a:schemeClr val="lt2"/>
                </a:solidFill>
                <a:latin typeface="Calibri"/>
                <a:ea typeface="Calibri"/>
                <a:cs typeface="Calibri"/>
                <a:sym typeface="Calibri"/>
              </a:rPr>
              <a:t>Talk the Talk</a:t>
            </a:r>
            <a:endParaRPr dirty="0"/>
          </a:p>
        </p:txBody>
      </p:sp>
      <p:sp>
        <p:nvSpPr>
          <p:cNvPr id="942" name="Google Shape;942;p60" descr="5 minutes"/>
          <p:cNvSpPr txBox="1">
            <a:spLocks noGrp="1"/>
          </p:cNvSpPr>
          <p:nvPr>
            <p:ph type="body" idx="1"/>
          </p:nvPr>
        </p:nvSpPr>
        <p:spPr>
          <a:xfrm>
            <a:off x="10623379"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5</a:t>
            </a:r>
            <a:endParaRPr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p61"/>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Function Matching </a:t>
            </a:r>
            <a:r>
              <a:rPr lang="en-US" sz="2000" b="1" dirty="0">
                <a:solidFill>
                  <a:schemeClr val="bg1"/>
                </a:solidFill>
              </a:rPr>
              <a:t>(1 of 4)</a:t>
            </a:r>
            <a:endParaRPr dirty="0">
              <a:solidFill>
                <a:schemeClr val="bg1"/>
              </a:solidFill>
            </a:endParaRPr>
          </a:p>
        </p:txBody>
      </p:sp>
      <p:pic>
        <p:nvPicPr>
          <p:cNvPr id="950" name="Google Shape;950;p61" descr="A graph of 5 lines on the coordinate plane. Each line rises from left to right. The line f of x = x rises through the points (0, 0) and (2, 2). The line k of x rises through the points (0, 8) and (2, 10). The line h of x rises through the points (0, 0) and (2, 4). The line g of x rises through the points (0, 0) and (6, 2). The line j of x rises through the points (0, negative 7) and (2, negative 5)."/>
          <p:cNvPicPr>
            <a:picLocks noChangeAspect="1"/>
          </p:cNvPicPr>
          <p:nvPr/>
        </p:nvPicPr>
        <p:blipFill rotWithShape="1">
          <a:blip r:embed="rId3">
            <a:alphaModFix/>
          </a:blip>
          <a:srcRect/>
          <a:stretch/>
        </p:blipFill>
        <p:spPr>
          <a:xfrm>
            <a:off x="922145" y="2813688"/>
            <a:ext cx="3895925" cy="3743517"/>
          </a:xfrm>
          <a:prstGeom prst="rect">
            <a:avLst/>
          </a:prstGeom>
          <a:noFill/>
          <a:ln>
            <a:noFill/>
          </a:ln>
        </p:spPr>
      </p:pic>
      <mc:AlternateContent xmlns:mc="http://schemas.openxmlformats.org/markup-compatibility/2006" xmlns:a14="http://schemas.microsoft.com/office/drawing/2010/main">
        <mc:Choice Requires="a14">
          <p:graphicFrame>
            <p:nvGraphicFramePr>
              <p:cNvPr id="952" name="Google Shape;952;p61"/>
              <p:cNvGraphicFramePr/>
              <p:nvPr>
                <p:extLst>
                  <p:ext uri="{D42A27DB-BD31-4B8C-83A1-F6EECF244321}">
                    <p14:modId xmlns:p14="http://schemas.microsoft.com/office/powerpoint/2010/main" val="3455437189"/>
                  </p:ext>
                </p:extLst>
              </p:nvPr>
            </p:nvGraphicFramePr>
            <p:xfrm>
              <a:off x="6095206" y="3161349"/>
              <a:ext cx="2330252" cy="2980125"/>
            </p:xfrm>
            <a:graphic>
              <a:graphicData uri="http://schemas.openxmlformats.org/drawingml/2006/table">
                <a:tbl>
                  <a:tblPr firstRow="1" bandRow="1">
                    <a:noFill/>
                    <a:tableStyleId>{279AD5BC-A5CE-4E06-8A13-34D5E8DF52F5}</a:tableStyleId>
                  </a:tblPr>
                  <a:tblGrid>
                    <a:gridCol w="2330252">
                      <a:extLst>
                        <a:ext uri="{9D8B030D-6E8A-4147-A177-3AD203B41FA5}">
                          <a16:colId xmlns:a16="http://schemas.microsoft.com/office/drawing/2014/main" val="20000"/>
                        </a:ext>
                      </a:extLst>
                    </a:gridCol>
                  </a:tblGrid>
                  <a:tr h="596025">
                    <a:tc>
                      <a:txBody>
                        <a:bodyPr/>
                        <a:lstStyle/>
                        <a:p>
                          <a:pPr marL="0" marR="0" lvl="0" indent="0" algn="ctr" rtl="0">
                            <a:spcBef>
                              <a:spcPts val="0"/>
                            </a:spcBef>
                            <a:spcAft>
                              <a:spcPts val="0"/>
                            </a:spcAft>
                            <a:buNone/>
                          </a:pPr>
                          <a:r>
                            <a:rPr lang="en-US" sz="2000" dirty="0">
                              <a:latin typeface="Calibri" panose="020F0502020204030204" pitchFamily="34" charset="0"/>
                              <a:ea typeface="Calibri" panose="020F0502020204030204" pitchFamily="34" charset="0"/>
                              <a:cs typeface="Calibri" panose="020F0502020204030204" pitchFamily="34" charset="0"/>
                            </a:rPr>
                            <a:t>Transformations</a:t>
                          </a:r>
                          <a:endParaRPr sz="2000" dirty="0">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2B8147"/>
                        </a:solidFill>
                      </a:tcPr>
                    </a:tc>
                    <a:extLst>
                      <a:ext uri="{0D108BD9-81ED-4DB2-BD59-A6C34878D82A}">
                        <a16:rowId xmlns:a16="http://schemas.microsoft.com/office/drawing/2014/main" val="10000"/>
                      </a:ext>
                    </a:extLst>
                  </a:tr>
                  <a:tr h="596025">
                    <a:tc>
                      <a:txBody>
                        <a:bodyPr/>
                        <a:lstStyle/>
                        <a:p>
                          <a:pPr marL="0" marR="0" lvl="0" indent="0" algn="ctr" rtl="0">
                            <a:spcBef>
                              <a:spcPts val="0"/>
                            </a:spcBef>
                            <a:spcAft>
                              <a:spcPts val="0"/>
                            </a:spcAft>
                            <a:buNone/>
                          </a:pPr>
                          <a14:m>
                            <m:oMath xmlns:m="http://schemas.openxmlformats.org/officeDocument/2006/math">
                              <m:f>
                                <m:fPr>
                                  <m:ctrlPr>
                                    <a:rPr lang="en-US" sz="200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ctrlPr>
                                </m:fPr>
                                <m:num>
                                  <m:r>
                                    <a:rPr lang="en-US" sz="20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1</m:t>
                                  </m:r>
                                </m:num>
                                <m:den>
                                  <m:r>
                                    <a:rPr lang="en-US" sz="20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den>
                              </m:f>
                            </m:oMath>
                          </a14:m>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596025">
                    <a:tc>
                      <a:txBody>
                        <a:bodyPr/>
                        <a:lstStyle/>
                        <a:p>
                          <a:pPr marL="0" marR="0" lvl="0" indent="0" algn="ctr" rtl="0">
                            <a:spcBef>
                              <a:spcPts val="0"/>
                            </a:spcBef>
                            <a:spcAft>
                              <a:spcPts val="0"/>
                            </a:spcAft>
                            <a:buNone/>
                          </a:pPr>
                          <a:r>
                            <a:rPr lang="en-US" sz="2000" b="0" dirty="0">
                              <a:solidFill>
                                <a:srgbClr val="000000"/>
                              </a:solidFill>
                              <a:ea typeface="Calibri" panose="020F0502020204030204" pitchFamily="34" charset="0"/>
                              <a:cs typeface="Calibri" panose="020F0502020204030204" pitchFamily="34" charset="0"/>
                            </a:rPr>
                            <a:t>2 ∙ </a:t>
                          </a:r>
                          <a:r>
                            <a:rPr lang="en-US" sz="2000" b="0" i="1" dirty="0">
                              <a:solidFill>
                                <a:srgbClr val="000000"/>
                              </a:solidFill>
                              <a:ea typeface="Calibri" panose="020F0502020204030204" pitchFamily="34" charset="0"/>
                              <a:cs typeface="Calibri" panose="020F0502020204030204" pitchFamily="34" charset="0"/>
                            </a:rPr>
                            <a:t>f</a:t>
                          </a:r>
                          <a:r>
                            <a:rPr lang="en-US" sz="2000" b="0" dirty="0">
                              <a:solidFill>
                                <a:srgbClr val="000000"/>
                              </a:solidFill>
                              <a:ea typeface="Calibri" panose="020F0502020204030204" pitchFamily="34" charset="0"/>
                              <a:cs typeface="Calibri" panose="020F0502020204030204" pitchFamily="34" charset="0"/>
                            </a:rPr>
                            <a:t>(</a:t>
                          </a:r>
                          <a:r>
                            <a:rPr lang="en-US" sz="2000" b="0" i="1" dirty="0">
                              <a:solidFill>
                                <a:srgbClr val="000000"/>
                              </a:solidFill>
                              <a:ea typeface="Calibri" panose="020F0502020204030204" pitchFamily="34" charset="0"/>
                              <a:cs typeface="Calibri" panose="020F0502020204030204" pitchFamily="34" charset="0"/>
                            </a:rPr>
                            <a:t>x</a:t>
                          </a:r>
                          <a:r>
                            <a:rPr lang="en-US" sz="2000" b="0" dirty="0">
                              <a:solidFill>
                                <a:srgbClr val="000000"/>
                              </a:solidFill>
                              <a:ea typeface="Calibri" panose="020F0502020204030204" pitchFamily="34" charset="0"/>
                              <a:cs typeface="Calibri" panose="020F0502020204030204" pitchFamily="34" charset="0"/>
                            </a:rPr>
                            <a:t>)</a:t>
                          </a:r>
                          <a:endParaRPr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596025">
                    <a:tc>
                      <a:txBody>
                        <a:bodyPr/>
                        <a:lstStyle/>
                        <a:p>
                          <a:pPr marL="0" marR="0" lvl="0" indent="0" algn="ctr" rtl="0">
                            <a:spcBef>
                              <a:spcPts val="0"/>
                            </a:spcBef>
                            <a:spcAft>
                              <a:spcPts val="0"/>
                            </a:spcAft>
                            <a:buNone/>
                          </a:pPr>
                          <a:r>
                            <a:rPr lang="en-US" sz="2000" b="0" i="1" dirty="0">
                              <a:solidFill>
                                <a:srgbClr val="000000"/>
                              </a:solidFill>
                              <a:ea typeface="Calibri" panose="020F0502020204030204" pitchFamily="34" charset="0"/>
                              <a:cs typeface="Calibri" panose="020F0502020204030204" pitchFamily="34" charset="0"/>
                            </a:rPr>
                            <a:t>f</a:t>
                          </a:r>
                          <a:r>
                            <a:rPr lang="en-US" sz="2000" b="0" dirty="0">
                              <a:solidFill>
                                <a:srgbClr val="000000"/>
                              </a:solidFill>
                              <a:ea typeface="Calibri" panose="020F0502020204030204" pitchFamily="34" charset="0"/>
                              <a:cs typeface="Calibri" panose="020F0502020204030204" pitchFamily="34" charset="0"/>
                            </a:rPr>
                            <a:t>(</a:t>
                          </a:r>
                          <a:r>
                            <a:rPr lang="en-US" sz="2000" b="0" i="1" dirty="0">
                              <a:solidFill>
                                <a:srgbClr val="000000"/>
                              </a:solidFill>
                              <a:ea typeface="Calibri" panose="020F0502020204030204" pitchFamily="34" charset="0"/>
                              <a:cs typeface="Calibri" panose="020F0502020204030204" pitchFamily="34" charset="0"/>
                            </a:rPr>
                            <a:t>x</a:t>
                          </a:r>
                          <a:r>
                            <a:rPr lang="en-US" sz="2000" b="0" dirty="0">
                              <a:solidFill>
                                <a:srgbClr val="000000"/>
                              </a:solidFill>
                              <a:ea typeface="Calibri" panose="020F0502020204030204" pitchFamily="34" charset="0"/>
                              <a:cs typeface="Calibri" panose="020F0502020204030204" pitchFamily="34" charset="0"/>
                            </a:rPr>
                            <a:t>) – 7</a:t>
                          </a:r>
                          <a:endParaRPr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596025">
                    <a:tc>
                      <a:txBody>
                        <a:bodyPr/>
                        <a:lstStyle/>
                        <a:p>
                          <a:pPr marL="0" marR="0" lvl="0" indent="0" algn="ctr" rtl="0">
                            <a:spcBef>
                              <a:spcPts val="0"/>
                            </a:spcBef>
                            <a:spcAft>
                              <a:spcPts val="0"/>
                            </a:spcAft>
                            <a:buNone/>
                          </a:pPr>
                          <a:r>
                            <a:rPr lang="en-US" sz="2000" b="0" i="1" dirty="0">
                              <a:solidFill>
                                <a:srgbClr val="000000"/>
                              </a:solidFill>
                              <a:ea typeface="Calibri" panose="020F0502020204030204" pitchFamily="34" charset="0"/>
                              <a:cs typeface="Calibri" panose="020F0502020204030204" pitchFamily="34" charset="0"/>
                            </a:rPr>
                            <a:t>f</a:t>
                          </a:r>
                          <a:r>
                            <a:rPr lang="en-US" sz="2000" b="0" dirty="0">
                              <a:solidFill>
                                <a:srgbClr val="000000"/>
                              </a:solidFill>
                              <a:ea typeface="Calibri" panose="020F0502020204030204" pitchFamily="34" charset="0"/>
                              <a:cs typeface="Calibri" panose="020F0502020204030204" pitchFamily="34" charset="0"/>
                            </a:rPr>
                            <a:t>(</a:t>
                          </a:r>
                          <a:r>
                            <a:rPr lang="en-US" sz="2000" b="0" i="1" dirty="0">
                              <a:solidFill>
                                <a:srgbClr val="000000"/>
                              </a:solidFill>
                              <a:ea typeface="Calibri" panose="020F0502020204030204" pitchFamily="34" charset="0"/>
                              <a:cs typeface="Calibri" panose="020F0502020204030204" pitchFamily="34" charset="0"/>
                            </a:rPr>
                            <a:t>x</a:t>
                          </a:r>
                          <a:r>
                            <a:rPr lang="en-US" sz="2000" b="0" dirty="0">
                              <a:solidFill>
                                <a:srgbClr val="000000"/>
                              </a:solidFill>
                              <a:ea typeface="Calibri" panose="020F0502020204030204" pitchFamily="34" charset="0"/>
                              <a:cs typeface="Calibri" panose="020F0502020204030204" pitchFamily="34" charset="0"/>
                            </a:rPr>
                            <a:t>) + 8</a:t>
                          </a:r>
                          <a:endParaRPr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bl>
              </a:graphicData>
            </a:graphic>
          </p:graphicFrame>
        </mc:Choice>
        <mc:Fallback xmlns="">
          <p:graphicFrame>
            <p:nvGraphicFramePr>
              <p:cNvPr id="952" name="Google Shape;952;p61"/>
              <p:cNvGraphicFramePr/>
              <p:nvPr>
                <p:extLst>
                  <p:ext uri="{D42A27DB-BD31-4B8C-83A1-F6EECF244321}">
                    <p14:modId xmlns:p14="http://schemas.microsoft.com/office/powerpoint/2010/main" val="3455437189"/>
                  </p:ext>
                </p:extLst>
              </p:nvPr>
            </p:nvGraphicFramePr>
            <p:xfrm>
              <a:off x="6095206" y="3161349"/>
              <a:ext cx="2330252" cy="2980125"/>
            </p:xfrm>
            <a:graphic>
              <a:graphicData uri="http://schemas.openxmlformats.org/drawingml/2006/table">
                <a:tbl>
                  <a:tblPr firstRow="1" bandRow="1">
                    <a:noFill/>
                    <a:tableStyleId>{279AD5BC-A5CE-4E06-8A13-34D5E8DF52F5}</a:tableStyleId>
                  </a:tblPr>
                  <a:tblGrid>
                    <a:gridCol w="2330252">
                      <a:extLst>
                        <a:ext uri="{9D8B030D-6E8A-4147-A177-3AD203B41FA5}">
                          <a16:colId xmlns:a16="http://schemas.microsoft.com/office/drawing/2014/main" val="20000"/>
                        </a:ext>
                      </a:extLst>
                    </a:gridCol>
                  </a:tblGrid>
                  <a:tr h="596025">
                    <a:tc>
                      <a:txBody>
                        <a:bodyPr/>
                        <a:lstStyle/>
                        <a:p>
                          <a:pPr marL="0" marR="0" lvl="0" indent="0" algn="ctr" rtl="0">
                            <a:spcBef>
                              <a:spcPts val="0"/>
                            </a:spcBef>
                            <a:spcAft>
                              <a:spcPts val="0"/>
                            </a:spcAft>
                            <a:buNone/>
                          </a:pPr>
                          <a:r>
                            <a:rPr lang="en-US" sz="2000" dirty="0">
                              <a:latin typeface="Calibri" panose="020F0502020204030204" pitchFamily="34" charset="0"/>
                              <a:ea typeface="Calibri" panose="020F0502020204030204" pitchFamily="34" charset="0"/>
                              <a:cs typeface="Calibri" panose="020F0502020204030204" pitchFamily="34" charset="0"/>
                            </a:rPr>
                            <a:t>Transformations</a:t>
                          </a:r>
                          <a:endParaRPr sz="2000" dirty="0">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2B8147"/>
                        </a:solidFill>
                      </a:tcPr>
                    </a:tc>
                    <a:extLst>
                      <a:ext uri="{0D108BD9-81ED-4DB2-BD59-A6C34878D82A}">
                        <a16:rowId xmlns:a16="http://schemas.microsoft.com/office/drawing/2014/main" val="10000"/>
                      </a:ext>
                    </a:extLst>
                  </a:tr>
                  <a:tr h="596025">
                    <a:tc>
                      <a:txBody>
                        <a:bodyPr/>
                        <a:lstStyle/>
                        <a:p>
                          <a:endParaRPr lang="en-US"/>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blipFill>
                          <a:blip r:embed="rId4"/>
                          <a:stretch>
                            <a:fillRect l="-260" t="-101020" r="-521" b="-302041"/>
                          </a:stretch>
                        </a:blipFill>
                      </a:tcPr>
                    </a:tc>
                    <a:extLst>
                      <a:ext uri="{0D108BD9-81ED-4DB2-BD59-A6C34878D82A}">
                        <a16:rowId xmlns:a16="http://schemas.microsoft.com/office/drawing/2014/main" val="10001"/>
                      </a:ext>
                    </a:extLst>
                  </a:tr>
                  <a:tr h="596025">
                    <a:tc>
                      <a:txBody>
                        <a:bodyPr/>
                        <a:lstStyle/>
                        <a:p>
                          <a:pPr marL="0" marR="0" lvl="0" indent="0" algn="ctr" rtl="0">
                            <a:spcBef>
                              <a:spcPts val="0"/>
                            </a:spcBef>
                            <a:spcAft>
                              <a:spcPts val="0"/>
                            </a:spcAft>
                            <a:buNone/>
                          </a:pPr>
                          <a:r>
                            <a:rPr lang="en-US" sz="2000" b="0" dirty="0">
                              <a:solidFill>
                                <a:srgbClr val="000000"/>
                              </a:solidFill>
                              <a:ea typeface="Calibri" panose="020F0502020204030204" pitchFamily="34" charset="0"/>
                              <a:cs typeface="Calibri" panose="020F0502020204030204" pitchFamily="34" charset="0"/>
                            </a:rPr>
                            <a:t>2 ∙ </a:t>
                          </a:r>
                          <a:r>
                            <a:rPr lang="en-US" sz="2000" b="0" i="1" dirty="0">
                              <a:solidFill>
                                <a:srgbClr val="000000"/>
                              </a:solidFill>
                              <a:ea typeface="Calibri" panose="020F0502020204030204" pitchFamily="34" charset="0"/>
                              <a:cs typeface="Calibri" panose="020F0502020204030204" pitchFamily="34" charset="0"/>
                            </a:rPr>
                            <a:t>f</a:t>
                          </a:r>
                          <a:r>
                            <a:rPr lang="en-US" sz="2000" b="0" dirty="0">
                              <a:solidFill>
                                <a:srgbClr val="000000"/>
                              </a:solidFill>
                              <a:ea typeface="Calibri" panose="020F0502020204030204" pitchFamily="34" charset="0"/>
                              <a:cs typeface="Calibri" panose="020F0502020204030204" pitchFamily="34" charset="0"/>
                            </a:rPr>
                            <a:t>(</a:t>
                          </a:r>
                          <a:r>
                            <a:rPr lang="en-US" sz="2000" b="0" i="1" dirty="0">
                              <a:solidFill>
                                <a:srgbClr val="000000"/>
                              </a:solidFill>
                              <a:ea typeface="Calibri" panose="020F0502020204030204" pitchFamily="34" charset="0"/>
                              <a:cs typeface="Calibri" panose="020F0502020204030204" pitchFamily="34" charset="0"/>
                            </a:rPr>
                            <a:t>x</a:t>
                          </a:r>
                          <a:r>
                            <a:rPr lang="en-US" sz="2000" b="0" dirty="0">
                              <a:solidFill>
                                <a:srgbClr val="000000"/>
                              </a:solidFill>
                              <a:ea typeface="Calibri" panose="020F0502020204030204" pitchFamily="34" charset="0"/>
                              <a:cs typeface="Calibri" panose="020F0502020204030204" pitchFamily="34" charset="0"/>
                            </a:rPr>
                            <a:t>)</a:t>
                          </a:r>
                          <a:endParaRPr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596025">
                    <a:tc>
                      <a:txBody>
                        <a:bodyPr/>
                        <a:lstStyle/>
                        <a:p>
                          <a:pPr marL="0" marR="0" lvl="0" indent="0" algn="ctr" rtl="0">
                            <a:spcBef>
                              <a:spcPts val="0"/>
                            </a:spcBef>
                            <a:spcAft>
                              <a:spcPts val="0"/>
                            </a:spcAft>
                            <a:buNone/>
                          </a:pPr>
                          <a:r>
                            <a:rPr lang="en-US" sz="2000" b="0" i="1" dirty="0">
                              <a:solidFill>
                                <a:srgbClr val="000000"/>
                              </a:solidFill>
                              <a:ea typeface="Calibri" panose="020F0502020204030204" pitchFamily="34" charset="0"/>
                              <a:cs typeface="Calibri" panose="020F0502020204030204" pitchFamily="34" charset="0"/>
                            </a:rPr>
                            <a:t>f</a:t>
                          </a:r>
                          <a:r>
                            <a:rPr lang="en-US" sz="2000" b="0" dirty="0">
                              <a:solidFill>
                                <a:srgbClr val="000000"/>
                              </a:solidFill>
                              <a:ea typeface="Calibri" panose="020F0502020204030204" pitchFamily="34" charset="0"/>
                              <a:cs typeface="Calibri" panose="020F0502020204030204" pitchFamily="34" charset="0"/>
                            </a:rPr>
                            <a:t>(</a:t>
                          </a:r>
                          <a:r>
                            <a:rPr lang="en-US" sz="2000" b="0" i="1" dirty="0">
                              <a:solidFill>
                                <a:srgbClr val="000000"/>
                              </a:solidFill>
                              <a:ea typeface="Calibri" panose="020F0502020204030204" pitchFamily="34" charset="0"/>
                              <a:cs typeface="Calibri" panose="020F0502020204030204" pitchFamily="34" charset="0"/>
                            </a:rPr>
                            <a:t>x</a:t>
                          </a:r>
                          <a:r>
                            <a:rPr lang="en-US" sz="2000" b="0" dirty="0">
                              <a:solidFill>
                                <a:srgbClr val="000000"/>
                              </a:solidFill>
                              <a:ea typeface="Calibri" panose="020F0502020204030204" pitchFamily="34" charset="0"/>
                              <a:cs typeface="Calibri" panose="020F0502020204030204" pitchFamily="34" charset="0"/>
                            </a:rPr>
                            <a:t>) – 7</a:t>
                          </a:r>
                          <a:endParaRPr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596025">
                    <a:tc>
                      <a:txBody>
                        <a:bodyPr/>
                        <a:lstStyle/>
                        <a:p>
                          <a:pPr marL="0" marR="0" lvl="0" indent="0" algn="ctr" rtl="0">
                            <a:spcBef>
                              <a:spcPts val="0"/>
                            </a:spcBef>
                            <a:spcAft>
                              <a:spcPts val="0"/>
                            </a:spcAft>
                            <a:buNone/>
                          </a:pPr>
                          <a:r>
                            <a:rPr lang="en-US" sz="2000" b="0" i="1" dirty="0">
                              <a:solidFill>
                                <a:srgbClr val="000000"/>
                              </a:solidFill>
                              <a:ea typeface="Calibri" panose="020F0502020204030204" pitchFamily="34" charset="0"/>
                              <a:cs typeface="Calibri" panose="020F0502020204030204" pitchFamily="34" charset="0"/>
                            </a:rPr>
                            <a:t>f</a:t>
                          </a:r>
                          <a:r>
                            <a:rPr lang="en-US" sz="2000" b="0" dirty="0">
                              <a:solidFill>
                                <a:srgbClr val="000000"/>
                              </a:solidFill>
                              <a:ea typeface="Calibri" panose="020F0502020204030204" pitchFamily="34" charset="0"/>
                              <a:cs typeface="Calibri" panose="020F0502020204030204" pitchFamily="34" charset="0"/>
                            </a:rPr>
                            <a:t>(</a:t>
                          </a:r>
                          <a:r>
                            <a:rPr lang="en-US" sz="2000" b="0" i="1" dirty="0">
                              <a:solidFill>
                                <a:srgbClr val="000000"/>
                              </a:solidFill>
                              <a:ea typeface="Calibri" panose="020F0502020204030204" pitchFamily="34" charset="0"/>
                              <a:cs typeface="Calibri" panose="020F0502020204030204" pitchFamily="34" charset="0"/>
                            </a:rPr>
                            <a:t>x</a:t>
                          </a:r>
                          <a:r>
                            <a:rPr lang="en-US" sz="2000" b="0" dirty="0">
                              <a:solidFill>
                                <a:srgbClr val="000000"/>
                              </a:solidFill>
                              <a:ea typeface="Calibri" panose="020F0502020204030204" pitchFamily="34" charset="0"/>
                              <a:cs typeface="Calibri" panose="020F0502020204030204" pitchFamily="34" charset="0"/>
                            </a:rPr>
                            <a:t>) + 8</a:t>
                          </a:r>
                          <a:endParaRPr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bl>
              </a:graphicData>
            </a:graphic>
          </p:graphicFrame>
        </mc:Fallback>
      </mc:AlternateContent>
      <p:sp>
        <p:nvSpPr>
          <p:cNvPr id="2" name="TextBox 1">
            <a:extLst>
              <a:ext uri="{FF2B5EF4-FFF2-40B4-BE49-F238E27FC236}">
                <a16:creationId xmlns:a16="http://schemas.microsoft.com/office/drawing/2014/main" id="{EB590765-BE7F-B865-9D51-11B4475F99F4}"/>
              </a:ext>
            </a:extLst>
          </p:cNvPr>
          <p:cNvSpPr txBox="1"/>
          <p:nvPr/>
        </p:nvSpPr>
        <p:spPr>
          <a:xfrm>
            <a:off x="922146" y="1610686"/>
            <a:ext cx="9740262" cy="954107"/>
          </a:xfrm>
          <a:prstGeom prst="rect">
            <a:avLst/>
          </a:prstGeom>
          <a:noFill/>
        </p:spPr>
        <p:txBody>
          <a:bodyPr wrap="square" rtlCol="0">
            <a:spAutoFit/>
          </a:bodyPr>
          <a:lstStyle/>
          <a:p>
            <a:pPr algn="l"/>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The graph shows the linear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and four transformations of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p62"/>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Function Matching </a:t>
            </a:r>
            <a:r>
              <a:rPr lang="en-US" sz="2000" b="1" dirty="0">
                <a:solidFill>
                  <a:schemeClr val="bg1"/>
                </a:solidFill>
              </a:rPr>
              <a:t>(2 of 4)</a:t>
            </a:r>
            <a:endParaRPr dirty="0">
              <a:solidFill>
                <a:schemeClr val="bg1"/>
              </a:solidFill>
            </a:endParaRPr>
          </a:p>
        </p:txBody>
      </p:sp>
      <p:sp>
        <p:nvSpPr>
          <p:cNvPr id="2" name="Google Shape;951;p61">
            <a:extLst>
              <a:ext uri="{FF2B5EF4-FFF2-40B4-BE49-F238E27FC236}">
                <a16:creationId xmlns:a16="http://schemas.microsoft.com/office/drawing/2014/main" id="{7E87F3A4-23C7-406C-F142-34C5D62FEC7C}"/>
              </a:ext>
            </a:extLst>
          </p:cNvPr>
          <p:cNvSpPr/>
          <p:nvPr/>
        </p:nvSpPr>
        <p:spPr>
          <a:xfrm>
            <a:off x="777240" y="1846159"/>
            <a:ext cx="2326687" cy="1693996"/>
          </a:xfrm>
          <a:prstGeom prst="wedgeRoundRectCallout">
            <a:avLst>
              <a:gd name="adj1" fmla="val -30166"/>
              <a:gd name="adj2" fmla="val -65415"/>
              <a:gd name="adj3" fmla="val 16667"/>
            </a:avLst>
          </a:prstGeom>
          <a:solidFill>
            <a:schemeClr val="lt1"/>
          </a:solidFill>
          <a:ln w="19050" cap="flat" cmpd="sng">
            <a:solidFill>
              <a:schemeClr val="accent3">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dirty="0">
                <a:solidFill>
                  <a:schemeClr val="accent3">
                    <a:lumMod val="75000"/>
                  </a:schemeClr>
                </a:solidFill>
                <a:latin typeface="Calibri" panose="020F0502020204030204" pitchFamily="34" charset="0"/>
                <a:ea typeface="Calibri" panose="020F0502020204030204" pitchFamily="34" charset="0"/>
                <a:cs typeface="Calibri" panose="020F0502020204030204" pitchFamily="34" charset="0"/>
                <a:sym typeface="Calibri"/>
              </a:rPr>
              <a:t>Ask Yourself…</a:t>
            </a:r>
            <a:endParaRPr sz="2000" dirty="0">
              <a:solidFill>
                <a:schemeClr val="accent3">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Did you justify your mathematical reasoning?</a:t>
            </a:r>
            <a:endParaRPr sz="2000" dirty="0">
              <a:latin typeface="Calibri" panose="020F0502020204030204" pitchFamily="34" charset="0"/>
              <a:ea typeface="Calibri" panose="020F0502020204030204" pitchFamily="34" charset="0"/>
              <a:cs typeface="Calibri" panose="020F0502020204030204" pitchFamily="34" charset="0"/>
            </a:endParaRPr>
          </a:p>
        </p:txBody>
      </p:sp>
      <p:sp>
        <p:nvSpPr>
          <p:cNvPr id="959" name="Google Shape;959;p62"/>
          <p:cNvSpPr txBox="1"/>
          <p:nvPr/>
        </p:nvSpPr>
        <p:spPr>
          <a:xfrm>
            <a:off x="3347206" y="1628044"/>
            <a:ext cx="7877264" cy="45546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1200"/>
              </a:spcAft>
              <a:buClr>
                <a:srgbClr val="000000"/>
              </a:buClr>
              <a:buSzPts val="2800"/>
              <a:buFont typeface="Arial"/>
              <a:buNone/>
            </a:pPr>
            <a:r>
              <a:rPr lang="en-US" sz="2800" dirty="0">
                <a:solidFill>
                  <a:srgbClr val="000000"/>
                </a:solidFill>
                <a:latin typeface="Calibri"/>
                <a:ea typeface="Calibri"/>
                <a:cs typeface="Calibri"/>
                <a:sym typeface="Calibri"/>
              </a:rPr>
              <a:t>Match each transformed graph to one of the transformations in the table. Explain your reasoning.</a:t>
            </a:r>
          </a:p>
          <a:p>
            <a:pPr marL="514350" marR="0" lvl="0" indent="-514350" algn="l" rtl="0">
              <a:spcBef>
                <a:spcPts val="0"/>
              </a:spcBef>
              <a:spcAft>
                <a:spcPts val="0"/>
              </a:spcAft>
              <a:buClr>
                <a:srgbClr val="000000"/>
              </a:buClr>
              <a:buSzPts val="2800"/>
              <a:buFont typeface="+mj-lt"/>
              <a:buAutoNum type="arabicPeriod"/>
            </a:pPr>
            <a:r>
              <a:rPr lang="en-US" sz="2800" b="0" i="0" u="none" strike="noStrike" dirty="0">
                <a:latin typeface="Calibri"/>
                <a:ea typeface="Calibri"/>
                <a:cs typeface="Calibri"/>
                <a:sym typeface="Calibri"/>
              </a:rPr>
              <a:t> </a:t>
            </a:r>
            <a:r>
              <a:rPr lang="en-US" sz="2800" b="0" i="1" u="none" strike="noStrike" dirty="0">
                <a:latin typeface="Calibri"/>
                <a:ea typeface="Calibri"/>
                <a:cs typeface="Calibri"/>
                <a:sym typeface="Calibri"/>
              </a:rPr>
              <a:t>k</a:t>
            </a:r>
            <a:r>
              <a:rPr lang="en-US" sz="2800" b="0" i="0" u="none" strike="noStrike" dirty="0">
                <a:latin typeface="Calibri"/>
                <a:ea typeface="Calibri"/>
                <a:cs typeface="Calibri"/>
                <a:sym typeface="Calibri"/>
              </a:rPr>
              <a:t>(</a:t>
            </a:r>
            <a:r>
              <a:rPr lang="en-US" sz="2800" b="0" i="1" u="none" strike="noStrike" dirty="0">
                <a:latin typeface="Calibri"/>
                <a:ea typeface="Calibri"/>
                <a:cs typeface="Calibri"/>
                <a:sym typeface="Calibri"/>
              </a:rPr>
              <a:t>x</a:t>
            </a:r>
            <a:r>
              <a:rPr lang="en-US" sz="2800" b="0" i="0" u="none" strike="noStrike" dirty="0">
                <a:latin typeface="Calibri"/>
                <a:ea typeface="Calibri"/>
                <a:cs typeface="Calibri"/>
                <a:sym typeface="Calibri"/>
              </a:rPr>
              <a:t>) = _______________</a:t>
            </a:r>
            <a:br>
              <a:rPr lang="en-US" sz="2800" b="0" i="0" u="none" strike="noStrike" dirty="0">
                <a:latin typeface="Calibri"/>
                <a:ea typeface="Calibri"/>
                <a:cs typeface="Calibri"/>
                <a:sym typeface="Calibri"/>
              </a:rPr>
            </a:br>
            <a:endParaRPr lang="en-US" sz="2800" b="0" i="0" u="none" strike="noStrike" dirty="0">
              <a:latin typeface="Calibri"/>
              <a:ea typeface="Calibri"/>
              <a:cs typeface="Calibri"/>
              <a:sym typeface="Calibri"/>
            </a:endParaRPr>
          </a:p>
          <a:p>
            <a:pPr marL="514350" marR="0" lvl="0" indent="-514350" algn="l" rtl="0">
              <a:spcBef>
                <a:spcPts val="0"/>
              </a:spcBef>
              <a:spcAft>
                <a:spcPts val="0"/>
              </a:spcAft>
              <a:buClr>
                <a:srgbClr val="000000"/>
              </a:buClr>
              <a:buSzPts val="2800"/>
              <a:buFont typeface="+mj-lt"/>
              <a:buAutoNum type="arabicPeriod"/>
            </a:pPr>
            <a:r>
              <a:rPr lang="en-US" sz="2800" dirty="0">
                <a:solidFill>
                  <a:srgbClr val="000000"/>
                </a:solidFill>
                <a:latin typeface="Calibri"/>
                <a:ea typeface="Calibri"/>
                <a:cs typeface="Calibri"/>
                <a:sym typeface="Calibri"/>
              </a:rPr>
              <a:t> </a:t>
            </a:r>
            <a:r>
              <a:rPr lang="en-US" sz="2800" i="1" dirty="0">
                <a:solidFill>
                  <a:srgbClr val="000000"/>
                </a:solidFill>
                <a:latin typeface="Calibri"/>
                <a:ea typeface="Calibri"/>
                <a:cs typeface="Calibri"/>
                <a:sym typeface="Calibri"/>
              </a:rPr>
              <a:t>h</a:t>
            </a:r>
            <a:r>
              <a:rPr lang="en-US" sz="2800" dirty="0">
                <a:solidFill>
                  <a:srgbClr val="000000"/>
                </a:solidFill>
                <a:latin typeface="Calibri"/>
                <a:ea typeface="Calibri"/>
                <a:cs typeface="Calibri"/>
                <a:sym typeface="Calibri"/>
              </a:rPr>
              <a:t>(</a:t>
            </a:r>
            <a:r>
              <a:rPr lang="en-US" sz="2800" i="1" dirty="0">
                <a:solidFill>
                  <a:srgbClr val="000000"/>
                </a:solidFill>
                <a:latin typeface="Calibri"/>
                <a:ea typeface="Calibri"/>
                <a:cs typeface="Calibri"/>
                <a:sym typeface="Calibri"/>
              </a:rPr>
              <a:t>x</a:t>
            </a:r>
            <a:r>
              <a:rPr lang="en-US" sz="2800" dirty="0">
                <a:solidFill>
                  <a:srgbClr val="000000"/>
                </a:solidFill>
                <a:latin typeface="Calibri"/>
                <a:ea typeface="Calibri"/>
                <a:cs typeface="Calibri"/>
                <a:sym typeface="Calibri"/>
              </a:rPr>
              <a:t>) = _______________</a:t>
            </a:r>
            <a:br>
              <a:rPr lang="en-US" sz="2800" dirty="0">
                <a:solidFill>
                  <a:srgbClr val="000000"/>
                </a:solidFill>
                <a:latin typeface="Calibri"/>
                <a:ea typeface="Calibri"/>
                <a:cs typeface="Calibri"/>
                <a:sym typeface="Calibri"/>
              </a:rPr>
            </a:br>
            <a:endParaRPr lang="en-US" sz="2800" dirty="0">
              <a:solidFill>
                <a:srgbClr val="000000"/>
              </a:solidFill>
              <a:latin typeface="Calibri"/>
              <a:ea typeface="Calibri"/>
              <a:cs typeface="Calibri"/>
              <a:sym typeface="Calibri"/>
            </a:endParaRPr>
          </a:p>
          <a:p>
            <a:pPr marL="514350" marR="0" lvl="0" indent="-514350" algn="l" rtl="0">
              <a:spcBef>
                <a:spcPts val="0"/>
              </a:spcBef>
              <a:spcAft>
                <a:spcPts val="0"/>
              </a:spcAft>
              <a:buClr>
                <a:srgbClr val="000000"/>
              </a:buClr>
              <a:buSzPts val="2800"/>
              <a:buFont typeface="+mj-lt"/>
              <a:buAutoNum type="arabicPeriod"/>
            </a:pPr>
            <a:r>
              <a:rPr lang="en-US" sz="2800" b="0" i="0" u="none" strike="noStrike" dirty="0">
                <a:latin typeface="Calibri"/>
                <a:ea typeface="Calibri"/>
                <a:cs typeface="Calibri"/>
                <a:sym typeface="Calibri"/>
              </a:rPr>
              <a:t> </a:t>
            </a:r>
            <a:r>
              <a:rPr lang="en-US" sz="2800" b="0" i="1" u="none" strike="noStrike" dirty="0">
                <a:latin typeface="Calibri"/>
                <a:ea typeface="Calibri"/>
                <a:cs typeface="Calibri"/>
                <a:sym typeface="Calibri"/>
              </a:rPr>
              <a:t>g</a:t>
            </a:r>
            <a:r>
              <a:rPr lang="en-US" sz="2800" b="0" i="0" u="none" strike="noStrike" dirty="0">
                <a:latin typeface="Calibri"/>
                <a:ea typeface="Calibri"/>
                <a:cs typeface="Calibri"/>
                <a:sym typeface="Calibri"/>
              </a:rPr>
              <a:t>(</a:t>
            </a:r>
            <a:r>
              <a:rPr lang="en-US" sz="2800" b="0" i="1" u="none" strike="noStrike" dirty="0">
                <a:latin typeface="Calibri"/>
                <a:ea typeface="Calibri"/>
                <a:cs typeface="Calibri"/>
                <a:sym typeface="Calibri"/>
              </a:rPr>
              <a:t>x</a:t>
            </a:r>
            <a:r>
              <a:rPr lang="en-US" sz="2800" b="0" i="0" u="none" strike="noStrike" dirty="0">
                <a:latin typeface="Calibri"/>
                <a:ea typeface="Calibri"/>
                <a:cs typeface="Calibri"/>
                <a:sym typeface="Calibri"/>
              </a:rPr>
              <a:t>) = _______________</a:t>
            </a:r>
            <a:br>
              <a:rPr lang="en-US" sz="2800" b="0" i="0" u="none" strike="noStrike" dirty="0">
                <a:latin typeface="Calibri"/>
                <a:ea typeface="Calibri"/>
                <a:cs typeface="Calibri"/>
                <a:sym typeface="Calibri"/>
              </a:rPr>
            </a:br>
            <a:endParaRPr lang="en-US" sz="2800" b="0" i="0" u="none" strike="noStrike" dirty="0">
              <a:latin typeface="Calibri"/>
              <a:ea typeface="Calibri"/>
              <a:cs typeface="Calibri"/>
              <a:sym typeface="Calibri"/>
            </a:endParaRPr>
          </a:p>
          <a:p>
            <a:pPr marL="514350" marR="0" lvl="0" indent="-514350" algn="l" rtl="0">
              <a:spcBef>
                <a:spcPts val="0"/>
              </a:spcBef>
              <a:spcAft>
                <a:spcPts val="0"/>
              </a:spcAft>
              <a:buClr>
                <a:srgbClr val="000000"/>
              </a:buClr>
              <a:buSzPts val="2800"/>
              <a:buFont typeface="+mj-lt"/>
              <a:buAutoNum type="arabicPeriod"/>
            </a:pPr>
            <a:r>
              <a:rPr lang="en-US" sz="2800" dirty="0">
                <a:solidFill>
                  <a:srgbClr val="000000"/>
                </a:solidFill>
                <a:latin typeface="Calibri"/>
                <a:ea typeface="Calibri"/>
                <a:cs typeface="Calibri"/>
                <a:sym typeface="Calibri"/>
              </a:rPr>
              <a:t>  </a:t>
            </a:r>
            <a:r>
              <a:rPr lang="en-US" sz="2800" i="1" dirty="0">
                <a:solidFill>
                  <a:srgbClr val="000000"/>
                </a:solidFill>
                <a:latin typeface="Calibri"/>
                <a:ea typeface="Calibri"/>
                <a:cs typeface="Calibri"/>
                <a:sym typeface="Calibri"/>
              </a:rPr>
              <a:t>j</a:t>
            </a:r>
            <a:r>
              <a:rPr lang="en-US" sz="2800" dirty="0">
                <a:solidFill>
                  <a:srgbClr val="000000"/>
                </a:solidFill>
                <a:latin typeface="Calibri"/>
                <a:ea typeface="Calibri"/>
                <a:cs typeface="Calibri"/>
                <a:sym typeface="Calibri"/>
              </a:rPr>
              <a:t>(</a:t>
            </a:r>
            <a:r>
              <a:rPr lang="en-US" sz="2800" i="1" dirty="0">
                <a:solidFill>
                  <a:srgbClr val="000000"/>
                </a:solidFill>
                <a:latin typeface="Calibri"/>
                <a:ea typeface="Calibri"/>
                <a:cs typeface="Calibri"/>
                <a:sym typeface="Calibri"/>
              </a:rPr>
              <a:t>x</a:t>
            </a:r>
            <a:r>
              <a:rPr lang="en-US" sz="2800" dirty="0">
                <a:solidFill>
                  <a:srgbClr val="000000"/>
                </a:solidFill>
                <a:latin typeface="Calibri"/>
                <a:ea typeface="Calibri"/>
                <a:cs typeface="Calibri"/>
                <a:sym typeface="Calibri"/>
              </a:rPr>
              <a:t>) = _______________</a:t>
            </a:r>
            <a:endParaRPr sz="2800" b="0" i="0" u="none" strike="noStrike" dirty="0">
              <a:solidFill>
                <a:srgbClr val="000000"/>
              </a:solidFill>
              <a:latin typeface="Calibri"/>
              <a:ea typeface="Calibri"/>
              <a:cs typeface="Calibri"/>
              <a:sym typeface="Calibri"/>
            </a:endParaRPr>
          </a:p>
          <a:p>
            <a:pPr marL="0" marR="0" lvl="0" indent="0" algn="ctr" rtl="0">
              <a:spcBef>
                <a:spcPts val="560"/>
              </a:spcBef>
              <a:spcAft>
                <a:spcPts val="0"/>
              </a:spcAft>
              <a:buClr>
                <a:schemeClr val="dk1"/>
              </a:buClr>
              <a:buSzPts val="2800"/>
              <a:buFont typeface="Arial"/>
              <a:buNone/>
            </a:pPr>
            <a:endParaRPr sz="2800" dirty="0">
              <a:solidFill>
                <a:srgbClr val="3A3838"/>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63"/>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Function Matching </a:t>
            </a:r>
            <a:r>
              <a:rPr lang="en-US" sz="2000" b="1" dirty="0">
                <a:solidFill>
                  <a:schemeClr val="bg1"/>
                </a:solidFill>
              </a:rPr>
              <a:t>(3 of 4)</a:t>
            </a:r>
            <a:endParaRPr dirty="0">
              <a:solidFill>
                <a:schemeClr val="bg1"/>
              </a:solidFill>
            </a:endParaRPr>
          </a:p>
        </p:txBody>
      </p:sp>
      <p:sp>
        <p:nvSpPr>
          <p:cNvPr id="967" name="Google Shape;967;p63"/>
          <p:cNvSpPr txBox="1"/>
          <p:nvPr/>
        </p:nvSpPr>
        <p:spPr>
          <a:xfrm>
            <a:off x="777240" y="1616140"/>
            <a:ext cx="989371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dirty="0">
                <a:solidFill>
                  <a:srgbClr val="000000"/>
                </a:solidFill>
                <a:latin typeface="Calibri"/>
                <a:ea typeface="Calibri"/>
                <a:cs typeface="Calibri"/>
                <a:sym typeface="Calibri"/>
              </a:rPr>
              <a:t>Let’s answer the Essential Question and summarize our learning from the Talk the Talk!</a:t>
            </a:r>
            <a:endParaRPr dirty="0"/>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rgbClr val="000000"/>
              </a:buClr>
              <a:buSzPts val="2800"/>
              <a:buFont typeface="Arial"/>
              <a:buNone/>
            </a:pPr>
            <a:r>
              <a:rPr lang="en-US" sz="2800" b="1" dirty="0">
                <a:solidFill>
                  <a:srgbClr val="000000"/>
                </a:solidFill>
                <a:latin typeface="Calibri"/>
                <a:ea typeface="Calibri"/>
                <a:cs typeface="Calibri"/>
                <a:sym typeface="Calibri"/>
              </a:rPr>
              <a:t>Essential Question: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How can you transform a function? What effects do different transformations have on the characteristics</a:t>
            </a:r>
            <a:b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b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of linear functions</a:t>
            </a:r>
            <a:r>
              <a:rPr lang="en-US" sz="2800" dirty="0">
                <a:solidFill>
                  <a:srgbClr val="000000"/>
                </a:solidFill>
                <a:latin typeface="Calibri"/>
                <a:ea typeface="Calibri"/>
                <a:cs typeface="Calibri"/>
                <a:sym typeface="Calibri"/>
              </a:rPr>
              <a:t>?</a:t>
            </a:r>
            <a:endParaRPr sz="2800" b="0" i="0" u="none" strike="noStrike" dirty="0">
              <a:solidFill>
                <a:srgbClr val="000000"/>
              </a:solidFill>
              <a:latin typeface="Calibri"/>
              <a:ea typeface="Calibri"/>
              <a:cs typeface="Calibri"/>
              <a:sym typeface="Calibri"/>
            </a:endParaRPr>
          </a:p>
        </p:txBody>
      </p:sp>
      <p:pic>
        <p:nvPicPr>
          <p:cNvPr id="968" name="Google Shape;968;p63">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174023" y="372494"/>
            <a:ext cx="1501270" cy="51820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p6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Function Matching </a:t>
            </a:r>
            <a:r>
              <a:rPr lang="en-US" sz="2000" b="1" dirty="0">
                <a:solidFill>
                  <a:schemeClr val="bg1"/>
                </a:solidFill>
              </a:rPr>
              <a:t>(4 of 4)</a:t>
            </a:r>
            <a:endParaRPr dirty="0">
              <a:solidFill>
                <a:schemeClr val="bg1"/>
              </a:solidFill>
            </a:endParaRPr>
          </a:p>
        </p:txBody>
      </p:sp>
      <p:sp>
        <p:nvSpPr>
          <p:cNvPr id="975" name="Google Shape;975;p64">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b="0" i="0" u="none" strike="noStrike">
              <a:solidFill>
                <a:srgbClr val="3A3838"/>
              </a:solidFill>
              <a:latin typeface="Calibri"/>
              <a:ea typeface="Calibri"/>
              <a:cs typeface="Calibri"/>
              <a:sym typeface="Calibri"/>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p65"/>
          <p:cNvSpPr txBox="1">
            <a:spLocks noGrp="1"/>
          </p:cNvSpPr>
          <p:nvPr>
            <p:ph type="title"/>
          </p:nvPr>
        </p:nvSpPr>
        <p:spPr>
          <a:xfrm>
            <a:off x="838200" y="-318782"/>
            <a:ext cx="10514013" cy="31878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dirty="0">
                <a:solidFill>
                  <a:schemeClr val="lt2"/>
                </a:solidFill>
                <a:latin typeface="Calibri"/>
                <a:ea typeface="Calibri"/>
                <a:cs typeface="Calibri"/>
                <a:sym typeface="Calibri"/>
              </a:rPr>
              <a:t>Prepare</a:t>
            </a:r>
            <a:endParaRPr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66"/>
          <p:cNvSpPr txBox="1">
            <a:spLocks noGrp="1"/>
          </p:cNvSpPr>
          <p:nvPr>
            <p:ph type="title"/>
          </p:nvPr>
        </p:nvSpPr>
        <p:spPr>
          <a:xfrm>
            <a:off x="59436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600"/>
              <a:buFont typeface="Calibri"/>
              <a:buNone/>
            </a:pPr>
            <a:r>
              <a:rPr lang="en-US" sz="3600" b="1"/>
              <a:t>Prepare for Module 2 Topic 2 Lesson 2</a:t>
            </a:r>
            <a:endParaRPr/>
          </a:p>
        </p:txBody>
      </p:sp>
      <p:sp>
        <p:nvSpPr>
          <p:cNvPr id="988" name="Google Shape;988;p66"/>
          <p:cNvSpPr txBox="1"/>
          <p:nvPr/>
        </p:nvSpPr>
        <p:spPr>
          <a:xfrm>
            <a:off x="594360" y="1614894"/>
            <a:ext cx="912114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Write a linear function for each graph. </a:t>
            </a:r>
            <a:endParaRPr dirty="0"/>
          </a:p>
        </p:txBody>
      </p:sp>
      <p:sp>
        <p:nvSpPr>
          <p:cNvPr id="992" name="Google Shape;992;p66"/>
          <p:cNvSpPr txBox="1"/>
          <p:nvPr/>
        </p:nvSpPr>
        <p:spPr>
          <a:xfrm>
            <a:off x="594360" y="2554111"/>
            <a:ext cx="88011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1.</a:t>
            </a:r>
            <a:endParaRPr dirty="0"/>
          </a:p>
        </p:txBody>
      </p:sp>
      <p:pic>
        <p:nvPicPr>
          <p:cNvPr id="989" name="Google Shape;989;p66" descr="A graph of line f of x on the coordinate plane. The line rises from left to right through the points (negative 8, negative 10) and (negative 2, negative 6) and (4, negative 2)."/>
          <p:cNvPicPr>
            <a:picLocks noChangeAspect="1"/>
          </p:cNvPicPr>
          <p:nvPr/>
        </p:nvPicPr>
        <p:blipFill rotWithShape="1">
          <a:blip r:embed="rId3">
            <a:alphaModFix/>
          </a:blip>
          <a:srcRect/>
          <a:stretch/>
        </p:blipFill>
        <p:spPr>
          <a:xfrm>
            <a:off x="1034415" y="2684244"/>
            <a:ext cx="3324396" cy="3486329"/>
          </a:xfrm>
          <a:prstGeom prst="rect">
            <a:avLst/>
          </a:prstGeom>
          <a:noFill/>
          <a:ln>
            <a:noFill/>
          </a:ln>
        </p:spPr>
      </p:pic>
      <p:sp>
        <p:nvSpPr>
          <p:cNvPr id="993" name="Google Shape;993;p66"/>
          <p:cNvSpPr txBox="1"/>
          <p:nvPr/>
        </p:nvSpPr>
        <p:spPr>
          <a:xfrm>
            <a:off x="6463665" y="2554111"/>
            <a:ext cx="58293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2.</a:t>
            </a:r>
            <a:endParaRPr dirty="0"/>
          </a:p>
        </p:txBody>
      </p:sp>
      <p:pic>
        <p:nvPicPr>
          <p:cNvPr id="990" name="Google Shape;990;p66" descr="A graph of line g of x on the coordinate plane. The line falls from left to right through the points (negative 8, 4) and (0, 2) and (8, 0)."/>
          <p:cNvPicPr>
            <a:picLocks noChangeAspect="1"/>
          </p:cNvPicPr>
          <p:nvPr/>
        </p:nvPicPr>
        <p:blipFill rotWithShape="1">
          <a:blip r:embed="rId4">
            <a:alphaModFix/>
          </a:blip>
          <a:srcRect/>
          <a:stretch/>
        </p:blipFill>
        <p:spPr>
          <a:xfrm>
            <a:off x="7145611" y="2617816"/>
            <a:ext cx="3352973" cy="3495855"/>
          </a:xfrm>
          <a:prstGeom prst="rect">
            <a:avLst/>
          </a:prstGeom>
          <a:noFill/>
          <a:ln>
            <a:noFill/>
          </a:ln>
        </p:spPr>
      </p:pic>
      <p:pic>
        <p:nvPicPr>
          <p:cNvPr id="991" name="Google Shape;991;p66">
            <a:extLst>
              <a:ext uri="{C183D7F6-B498-43B3-948B-1728B52AA6E4}">
                <adec:decorative xmlns:adec="http://schemas.microsoft.com/office/drawing/2017/decorative" val="1"/>
              </a:ext>
            </a:extLst>
          </p:cNvPr>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932069" y="2620413"/>
            <a:ext cx="314642" cy="3498362"/>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67"/>
          <p:cNvSpPr txBox="1">
            <a:spLocks noGrp="1"/>
          </p:cNvSpPr>
          <p:nvPr>
            <p:ph type="title"/>
          </p:nvPr>
        </p:nvSpPr>
        <p:spPr>
          <a:xfrm>
            <a:off x="838200" y="-360727"/>
            <a:ext cx="10514013" cy="360727"/>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dirty="0">
                <a:solidFill>
                  <a:schemeClr val="lt2"/>
                </a:solidFill>
                <a:latin typeface="Calibri"/>
                <a:ea typeface="Calibri"/>
                <a:cs typeface="Calibri"/>
                <a:sym typeface="Calibri"/>
              </a:rPr>
              <a:t>Acknowledgment and Notice</a:t>
            </a:r>
            <a:endParaRPr sz="2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p68"/>
          <p:cNvSpPr txBox="1">
            <a:spLocks noGrp="1"/>
          </p:cNvSpPr>
          <p:nvPr>
            <p:ph type="title"/>
          </p:nvPr>
        </p:nvSpPr>
        <p:spPr>
          <a:xfrm>
            <a:off x="8155889" y="4975063"/>
            <a:ext cx="3431356" cy="414778"/>
          </a:xfrm>
          <a:prstGeom prst="rect">
            <a:avLst/>
          </a:prstGeom>
          <a:solidFill>
            <a:srgbClr val="2B8147"/>
          </a:solid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b="0" i="0" u="none" strike="noStrike" cap="none">
                <a:solidFill>
                  <a:schemeClr val="lt1"/>
                </a:solidFill>
                <a:latin typeface="Calibri"/>
                <a:ea typeface="Calibri"/>
                <a:cs typeface="Calibri"/>
                <a:sym typeface="Calibri"/>
              </a:rPr>
              <a:t>BLMATH_AlgI_M2_T2_L1_DCS_ENG</a:t>
            </a: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A1_green">
  <a:themeElements>
    <a:clrScheme name="TEA K-5">
      <a:dk1>
        <a:srgbClr val="002060"/>
      </a:dk1>
      <a:lt1>
        <a:srgbClr val="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Uploaded xmlns="33e0dbe9-2ee3-4e40-8d2a-c14405aa398e">true</Uploaded>
    <lcf76f155ced4ddcb4097134ff3c332f xmlns="33e0dbe9-2ee3-4e40-8d2a-c14405aa398e">
      <Terms xmlns="http://schemas.microsoft.com/office/infopath/2007/PartnerControls"/>
    </lcf76f155ced4ddcb4097134ff3c332f>
    <TaxCatchAll xmlns="5aa991ed-cfdb-45f0-90fe-74f6c83d7f1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AE0C664B4FDA64F8529B02C06F03698" ma:contentTypeVersion="15" ma:contentTypeDescription="Create a new document." ma:contentTypeScope="" ma:versionID="4bf8706da78cd0fcda70025af99f6a26">
  <xsd:schema xmlns:xsd="http://www.w3.org/2001/XMLSchema" xmlns:xs="http://www.w3.org/2001/XMLSchema" xmlns:p="http://schemas.microsoft.com/office/2006/metadata/properties" xmlns:ns2="33e0dbe9-2ee3-4e40-8d2a-c14405aa398e" xmlns:ns3="5aa991ed-cfdb-45f0-90fe-74f6c83d7f1e" targetNamespace="http://schemas.microsoft.com/office/2006/metadata/properties" ma:root="true" ma:fieldsID="aff2f77c8a19f3557e1e9d39b143470b" ns2:_="" ns3:_="">
    <xsd:import namespace="33e0dbe9-2ee3-4e40-8d2a-c14405aa398e"/>
    <xsd:import namespace="5aa991ed-cfdb-45f0-90fe-74f6c83d7f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Upload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0dbe9-2ee3-4e40-8d2a-c14405aa3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Uploaded" ma:index="22" nillable="true" ma:displayName="Uploaded" ma:default="1" ma:description="Check for uploaded into Sharefile" ma:format="Dropdown" ma:internalName="Upload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aa991ed-cfdb-45f0-90fe-74f6c83d7f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5ce4-92a5-4ced-b4fb-968b1592fafc}" ma:internalName="TaxCatchAll" ma:showField="CatchAllData" ma:web="5aa991ed-cfdb-45f0-90fe-74f6c83d7f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B45C4A7-6891-443F-9535-D1FBCB4BD1E2}">
  <ds:schemaRefs>
    <ds:schemaRef ds:uri="http://purl.org/dc/elements/1.1/"/>
    <ds:schemaRef ds:uri="http://schemas.microsoft.com/office/2006/metadata/properties"/>
    <ds:schemaRef ds:uri="http://purl.org/dc/terms/"/>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33e0dbe9-2ee3-4e40-8d2a-c14405aa398e"/>
    <ds:schemaRef ds:uri="http://www.w3.org/XML/1998/namespace"/>
    <ds:schemaRef ds:uri="http://purl.org/dc/dcmitype/"/>
  </ds:schemaRefs>
</ds:datastoreItem>
</file>

<file path=customXml/itemProps2.xml><?xml version="1.0" encoding="utf-8"?>
<ds:datastoreItem xmlns:ds="http://schemas.openxmlformats.org/officeDocument/2006/customXml" ds:itemID="{AEC99491-3A95-4F83-BABA-62BF948F79F6}">
  <ds:schemaRefs>
    <ds:schemaRef ds:uri="http://schemas.microsoft.com/sharepoint/v3/contenttype/forms"/>
  </ds:schemaRefs>
</ds:datastoreItem>
</file>

<file path=customXml/itemProps3.xml><?xml version="1.0" encoding="utf-8"?>
<ds:datastoreItem xmlns:ds="http://schemas.openxmlformats.org/officeDocument/2006/customXml" ds:itemID="{FEF79C62-3C7F-4C8F-8888-7B0081936F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e0dbe9-2ee3-4e40-8d2a-c14405aa398e"/>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312</TotalTime>
  <Words>8086</Words>
  <Application>Microsoft Office PowerPoint</Application>
  <PresentationFormat>Custom</PresentationFormat>
  <Paragraphs>802</Paragraphs>
  <Slides>71</Slides>
  <Notes>71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71</vt:i4>
      </vt:variant>
    </vt:vector>
  </HeadingPairs>
  <TitlesOfParts>
    <vt:vector size="76" baseType="lpstr">
      <vt:lpstr>Cambria Math</vt:lpstr>
      <vt:lpstr>Noto Sans Symbols</vt:lpstr>
      <vt:lpstr>Calibri</vt:lpstr>
      <vt:lpstr>Arial</vt:lpstr>
      <vt:lpstr>A1_green</vt:lpstr>
      <vt:lpstr>Transforming Linear Functions</vt:lpstr>
      <vt:lpstr>Objectives</vt:lpstr>
      <vt:lpstr>Key Term</vt:lpstr>
      <vt:lpstr>Essential Question (1 of 3)</vt:lpstr>
      <vt:lpstr>Day 1</vt:lpstr>
      <vt:lpstr>Getting Started</vt:lpstr>
      <vt:lpstr>Returning to Transformation Station (1 of 8)</vt:lpstr>
      <vt:lpstr>Returning to Transformation Station (2 of 8)</vt:lpstr>
      <vt:lpstr>Returning to Transformation Station (3 of 8)</vt:lpstr>
      <vt:lpstr>Returning to Transformation Station (4 of 8)</vt:lpstr>
      <vt:lpstr>Returning to Transformation Station (5 of 8)</vt:lpstr>
      <vt:lpstr>Returning to Transformation Station (6 of 8)</vt:lpstr>
      <vt:lpstr>Returning to Transformation Station (7 of 8)</vt:lpstr>
      <vt:lpstr>Returning to Transformation Station (8 of 8)</vt:lpstr>
      <vt:lpstr>Activity 1.1</vt:lpstr>
      <vt:lpstr>Vertical Translations of Functions (1 of 10)</vt:lpstr>
      <vt:lpstr>Vertical Translations of Functions (2 of 10)</vt:lpstr>
      <vt:lpstr>Vertical Translations of Functions (3 of 10)</vt:lpstr>
      <vt:lpstr>Vertical Translations of Functions (4 of 10)</vt:lpstr>
      <vt:lpstr>Vertical Translations of Functions (5 of 10)</vt:lpstr>
      <vt:lpstr>Vertical Translations of Functions (6 of 10)</vt:lpstr>
      <vt:lpstr>Vertical Translations of Functions (7 of 10)</vt:lpstr>
      <vt:lpstr>Vertical Translations of Functions (8 of 10)</vt:lpstr>
      <vt:lpstr>Vertical Translations of Functions (9 of 10)</vt:lpstr>
      <vt:lpstr>Vertical Translations of Functions (10 of 10)</vt:lpstr>
      <vt:lpstr>Day 2</vt:lpstr>
      <vt:lpstr>Essential Question (2 of 3)</vt:lpstr>
      <vt:lpstr>Activity 1.2</vt:lpstr>
      <vt:lpstr>Slopes of Parallel Lines (1 of 8)</vt:lpstr>
      <vt:lpstr>Slopes of Parallel Lines (2 of 8)</vt:lpstr>
      <vt:lpstr>Slopes of Parallel Lines (3 of 8)</vt:lpstr>
      <vt:lpstr>Slopes of Parallel Lines (4 of 8)</vt:lpstr>
      <vt:lpstr>Slopes of Parallel Lines (5 of 8)</vt:lpstr>
      <vt:lpstr>Slopes of Parallel Lines (6 of 8)</vt:lpstr>
      <vt:lpstr>Slopes of Parallel Lines (7 of 8)</vt:lpstr>
      <vt:lpstr>Slopes of Parallel Lines (8 of 8)</vt:lpstr>
      <vt:lpstr>Activity 1.3</vt:lpstr>
      <vt:lpstr>Vertical Dilations of Functions (1 of 9)</vt:lpstr>
      <vt:lpstr>Vertical Dilations of Functions (2 of 9)</vt:lpstr>
      <vt:lpstr>Vertical Dilations of Functions (3 of 9)</vt:lpstr>
      <vt:lpstr>Vertical Dilations of Functions (4 of 9)</vt:lpstr>
      <vt:lpstr>Vertical Dilations of Functions (5 of 9)</vt:lpstr>
      <vt:lpstr>Vertical Dilations of Functions (6 of 9)</vt:lpstr>
      <vt:lpstr>Vertical Dilations of Functions (7 of 9)</vt:lpstr>
      <vt:lpstr>Vertical Dilations of Functions (8 of 9)</vt:lpstr>
      <vt:lpstr>Vertical Dilations of Functions (9 of 9)</vt:lpstr>
      <vt:lpstr>Day 3</vt:lpstr>
      <vt:lpstr>Essential Question (3 of 3)</vt:lpstr>
      <vt:lpstr>Activity 1.4</vt:lpstr>
      <vt:lpstr>Vertical Dilations and Vertical Translations of Functions (1 of 6)</vt:lpstr>
      <vt:lpstr>Vertical Dilations and Vertical Translations of Functions (2 of 6)</vt:lpstr>
      <vt:lpstr>Vertical Dilations and Vertical Translations of Functions (3 of 6)</vt:lpstr>
      <vt:lpstr>Vertical Dilations and Vertical Translations of Functions (4 of 6)</vt:lpstr>
      <vt:lpstr>Vertical Dilations and Vertical Translations of Functions (5 of 6)</vt:lpstr>
      <vt:lpstr>Vertical Dilations and Vertical Translations of Functions (6 of 6)</vt:lpstr>
      <vt:lpstr>Activity 1.5</vt:lpstr>
      <vt:lpstr>Applying Linear Function Transformations (1 of 6)</vt:lpstr>
      <vt:lpstr>Applying Linear Function Transformations (2 of 6)</vt:lpstr>
      <vt:lpstr>Applying Linear Function Transformations (3 of 6)</vt:lpstr>
      <vt:lpstr>Applying Linear Function Transformations (4 of 6)</vt:lpstr>
      <vt:lpstr>Applying Linear Function Transformations (5 of 6)</vt:lpstr>
      <vt:lpstr>Applying Linear Function Transformations (6 of 6)</vt:lpstr>
      <vt:lpstr>Talk the Talk</vt:lpstr>
      <vt:lpstr>Function Matching (1 of 4)</vt:lpstr>
      <vt:lpstr>Function Matching (2 of 4)</vt:lpstr>
      <vt:lpstr>Function Matching (3 of 4)</vt:lpstr>
      <vt:lpstr>Function Matching (4 of 4)</vt:lpstr>
      <vt:lpstr>Prepare</vt:lpstr>
      <vt:lpstr>Prepare for Module 2 Topic 2 Lesson 2</vt:lpstr>
      <vt:lpstr>Acknowledgment and Notice</vt:lpstr>
      <vt:lpstr>BLMATH_AlgI_M2_T2_L1_DCS_ENG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Transforming Linear Functions</dc:title>
  <dc:creator>Singh Amandeep</dc:creator>
  <cp:lastModifiedBy>Gann, Nickole</cp:lastModifiedBy>
  <cp:revision>66</cp:revision>
  <dcterms:created xsi:type="dcterms:W3CDTF">2024-02-22T09:58:00Z</dcterms:created>
  <dcterms:modified xsi:type="dcterms:W3CDTF">2025-05-28T18:54:33Z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A7190AC9080C4877A6E26CA982D6CC88_12</vt:lpwstr>
  </property>
  <property fmtid="{D5CDD505-2E9C-101B-9397-08002B2CF9AE}" pid="3" name="KSOProductBuildVer">
    <vt:lpwstr>1033-12.2.0.16731</vt:lpwstr>
  </property>
  <property fmtid="{D5CDD505-2E9C-101B-9397-08002B2CF9AE}" pid="4" name="ContentTypeId">
    <vt:lpwstr>0x0101009AE0C664B4FDA64F8529B02C06F03698</vt:lpwstr>
  </property>
  <property fmtid="{D5CDD505-2E9C-101B-9397-08002B2CF9AE}" pid="5" name="MediaServiceImageTags">
    <vt:lpwstr/>
  </property>
  <property fmtid="{D5CDD505-2E9C-101B-9397-08002B2CF9AE}" pid="6" name="Order">
    <vt:r8>3629600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