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Override PartName="/ppt/slides/slide72.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4"/>
  </p:sldMasterIdLst>
  <p:notesMasterIdLst>
    <p:notesMasterId r:id="rId76"/>
  </p:notesMasterIdLst>
  <p:sldIdLst>
    <p:sldId id="256" r:id="rId5"/>
    <p:sldId id="257" r:id="rId6"/>
    <p:sldId id="259" r:id="rId7"/>
    <p:sldId id="326" r:id="rId8"/>
    <p:sldId id="260" r:id="rId9"/>
    <p:sldId id="261" r:id="rId10"/>
    <p:sldId id="262" r:id="rId11"/>
    <p:sldId id="263" r:id="rId12"/>
    <p:sldId id="264" r:id="rId13"/>
    <p:sldId id="327"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9" r:id="rId38"/>
    <p:sldId id="290" r:id="rId39"/>
    <p:sldId id="291" r:id="rId40"/>
    <p:sldId id="292" r:id="rId41"/>
    <p:sldId id="293" r:id="rId42"/>
    <p:sldId id="294" r:id="rId43"/>
    <p:sldId id="328" r:id="rId44"/>
    <p:sldId id="329" r:id="rId45"/>
    <p:sldId id="330" r:id="rId46"/>
    <p:sldId id="331" r:id="rId47"/>
    <p:sldId id="296" r:id="rId48"/>
    <p:sldId id="297" r:id="rId49"/>
    <p:sldId id="298" r:id="rId50"/>
    <p:sldId id="299" r:id="rId51"/>
    <p:sldId id="300" r:id="rId52"/>
    <p:sldId id="301" r:id="rId53"/>
    <p:sldId id="302" r:id="rId54"/>
    <p:sldId id="332" r:id="rId55"/>
    <p:sldId id="333"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34" r:id="rId89"/>
    <p:sldId id="320" r:id="rId72"/>
    <p:sldId id="321" r:id="rId73"/>
    <p:sldId id="322" r:id="rId74"/>
    <p:sldId id="323" r:id="rId75"/>
  </p:sldIdLst>
  <p:sldSz cx="12190413" cy="6858000"/>
  <p:notesSz cx="6858000" cy="9144000"/>
  <p:embeddedFontLst>
    <p:embeddedFont>
      <p:font typeface="Cambria Math" panose="02040503050406030204" pitchFamily="18" charset="0"/>
      <p:regular r:id="rId7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82" roundtripDataSignature="AMtx7mjwNCD9ftmr4pUf+McDWQwZOPR8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A7EA89-3F07-4389-9B86-E936E9259881}" v="2" dt="2025-05-28T18:54:24.230"/>
  </p1510:revLst>
</p1510:revInfo>
</file>

<file path=ppt/tableStyles.xml><?xml version="1.0" encoding="utf-8"?>
<a:tblStyleLst xmlns:a="http://schemas.openxmlformats.org/drawingml/2006/main" def="{A49AC34E-657E-4A3B-9C05-DC8BE6C80247}">
  <a:tblStyle styleId="{A49AC34E-657E-4A3B-9C05-DC8BE6C80247}"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279AD5BC-A5CE-4E06-8A13-34D5E8DF52F5}" styleName="Table_1">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7F4F2"/>
          </a:solidFill>
        </a:fill>
      </a:tcStyle>
    </a:wholeTbl>
    <a:band1H>
      <a:tcTxStyle/>
      <a:tcStyle>
        <a:tcBdr/>
        <a:fill>
          <a:solidFill>
            <a:srgbClr val="CCE7E5"/>
          </a:solidFill>
        </a:fill>
      </a:tcStyle>
    </a:band1H>
    <a:band2H>
      <a:tcTxStyle/>
      <a:tcStyle>
        <a:tcBdr/>
      </a:tcStyle>
    </a:band2H>
    <a:band1V>
      <a:tcTxStyle/>
      <a:tcStyle>
        <a:tcBdr/>
        <a:fill>
          <a:solidFill>
            <a:srgbClr val="CCE7E5"/>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600" autoAdjust="0"/>
  </p:normalViewPr>
  <p:slideViewPr>
    <p:cSldViewPr snapToGrid="0">
      <p:cViewPr varScale="1">
        <p:scale>
          <a:sx n="52" d="100"/>
          <a:sy n="52" d="100"/>
        </p:scale>
        <p:origin x="1586" y="43"/>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slide" Target="slides/slide59.xml"/><Relationship Id="rId68" Type="http://schemas.openxmlformats.org/officeDocument/2006/relationships/slide" Target="slides/slide64.xml"/><Relationship Id="rId76" Type="http://schemas.openxmlformats.org/officeDocument/2006/relationships/notesMaster" Target="notesMasters/notesMaster1.xml"/><Relationship Id="rId84" Type="http://schemas.openxmlformats.org/officeDocument/2006/relationships/viewProps" Target="viewProps.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slide" Target="slides/slide70.xml"/><Relationship Id="rId87" Type="http://schemas.microsoft.com/office/2016/11/relationships/changesInfo" Target="changesInfos/changesInfo1.xml"/><Relationship Id="rId5" Type="http://schemas.openxmlformats.org/officeDocument/2006/relationships/slide" Target="slides/slide1.xml"/><Relationship Id="rId61" Type="http://schemas.openxmlformats.org/officeDocument/2006/relationships/slide" Target="slides/slide57.xml"/><Relationship Id="rId82" Type="http://customschemas.google.com/relationships/presentationmetadata" Target="metadata"/><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86"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font" Target="fonts/font1.fntdata"/><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5"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presProps" Target="presProps.xml"/><Relationship Id="rId88"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89" Type="http://schemas.openxmlformats.org/officeDocument/2006/relationships/slide" Target="slides/slide7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yer Montague, Kristina" userId="63c103e5-6141-480e-825f-260f173eba02" providerId="ADAL" clId="{AA9B5061-D3A8-4DB3-9424-DBE604ADC813}"/>
    <pc:docChg chg="modSld">
      <pc:chgData name="Moyer Montague, Kristina" userId="63c103e5-6141-480e-825f-260f173eba02" providerId="ADAL" clId="{AA9B5061-D3A8-4DB3-9424-DBE604ADC813}" dt="2025-05-06T20:44:44.144" v="19" actId="20577"/>
      <pc:docMkLst>
        <pc:docMk/>
      </pc:docMkLst>
      <pc:sldChg chg="modSp mod">
        <pc:chgData name="Moyer Montague, Kristina" userId="63c103e5-6141-480e-825f-260f173eba02" providerId="ADAL" clId="{AA9B5061-D3A8-4DB3-9424-DBE604ADC813}" dt="2025-05-06T20:39:56.883" v="0" actId="20577"/>
        <pc:sldMkLst>
          <pc:docMk/>
          <pc:sldMk cId="0" sldId="273"/>
        </pc:sldMkLst>
        <pc:spChg chg="mod">
          <ac:chgData name="Moyer Montague, Kristina" userId="63c103e5-6141-480e-825f-260f173eba02" providerId="ADAL" clId="{AA9B5061-D3A8-4DB3-9424-DBE604ADC813}" dt="2025-05-06T20:39:56.883" v="0" actId="20577"/>
          <ac:spMkLst>
            <pc:docMk/>
            <pc:sldMk cId="0" sldId="273"/>
            <ac:spMk id="2" creationId="{D733FEA7-2825-BF64-7DEE-85C51F26D218}"/>
          </ac:spMkLst>
        </pc:spChg>
      </pc:sldChg>
      <pc:sldChg chg="modSp mod">
        <pc:chgData name="Moyer Montague, Kristina" userId="63c103e5-6141-480e-825f-260f173eba02" providerId="ADAL" clId="{AA9B5061-D3A8-4DB3-9424-DBE604ADC813}" dt="2025-05-06T20:40:32.582" v="3" actId="20577"/>
        <pc:sldMkLst>
          <pc:docMk/>
          <pc:sldMk cId="0" sldId="277"/>
        </pc:sldMkLst>
        <pc:spChg chg="mod">
          <ac:chgData name="Moyer Montague, Kristina" userId="63c103e5-6141-480e-825f-260f173eba02" providerId="ADAL" clId="{AA9B5061-D3A8-4DB3-9424-DBE604ADC813}" dt="2025-05-06T20:40:32.582" v="3" actId="20577"/>
          <ac:spMkLst>
            <pc:docMk/>
            <pc:sldMk cId="0" sldId="277"/>
            <ac:spMk id="2" creationId="{D41161D6-DDF7-7389-E2F9-D93936034DB8}"/>
          </ac:spMkLst>
        </pc:spChg>
      </pc:sldChg>
      <pc:sldChg chg="modNotesTx">
        <pc:chgData name="Moyer Montague, Kristina" userId="63c103e5-6141-480e-825f-260f173eba02" providerId="ADAL" clId="{AA9B5061-D3A8-4DB3-9424-DBE604ADC813}" dt="2025-05-06T20:41:37.270" v="4" actId="114"/>
        <pc:sldMkLst>
          <pc:docMk/>
          <pc:sldMk cId="0" sldId="293"/>
        </pc:sldMkLst>
      </pc:sldChg>
      <pc:sldChg chg="modNotesTx">
        <pc:chgData name="Moyer Montague, Kristina" userId="63c103e5-6141-480e-825f-260f173eba02" providerId="ADAL" clId="{AA9B5061-D3A8-4DB3-9424-DBE604ADC813}" dt="2025-05-06T20:41:41.483" v="5" actId="114"/>
        <pc:sldMkLst>
          <pc:docMk/>
          <pc:sldMk cId="0" sldId="294"/>
        </pc:sldMkLst>
      </pc:sldChg>
      <pc:sldChg chg="modNotesTx">
        <pc:chgData name="Moyer Montague, Kristina" userId="63c103e5-6141-480e-825f-260f173eba02" providerId="ADAL" clId="{AA9B5061-D3A8-4DB3-9424-DBE604ADC813}" dt="2025-05-06T20:42:48.945" v="15" actId="6549"/>
        <pc:sldMkLst>
          <pc:docMk/>
          <pc:sldMk cId="0" sldId="296"/>
        </pc:sldMkLst>
      </pc:sldChg>
      <pc:sldChg chg="modSp mod">
        <pc:chgData name="Moyer Montague, Kristina" userId="63c103e5-6141-480e-825f-260f173eba02" providerId="ADAL" clId="{AA9B5061-D3A8-4DB3-9424-DBE604ADC813}" dt="2025-05-06T20:44:44.144" v="19" actId="20577"/>
        <pc:sldMkLst>
          <pc:docMk/>
          <pc:sldMk cId="0" sldId="312"/>
        </pc:sldMkLst>
        <pc:spChg chg="mod">
          <ac:chgData name="Moyer Montague, Kristina" userId="63c103e5-6141-480e-825f-260f173eba02" providerId="ADAL" clId="{AA9B5061-D3A8-4DB3-9424-DBE604ADC813}" dt="2025-05-06T20:44:21.002" v="16" actId="20577"/>
          <ac:spMkLst>
            <pc:docMk/>
            <pc:sldMk cId="0" sldId="312"/>
            <ac:spMk id="3" creationId="{6639901B-2E0D-8778-EEBF-C2C8973F3F57}"/>
          </ac:spMkLst>
        </pc:spChg>
        <pc:spChg chg="mod">
          <ac:chgData name="Moyer Montague, Kristina" userId="63c103e5-6141-480e-825f-260f173eba02" providerId="ADAL" clId="{AA9B5061-D3A8-4DB3-9424-DBE604ADC813}" dt="2025-05-06T20:44:44.144" v="19" actId="20577"/>
          <ac:spMkLst>
            <pc:docMk/>
            <pc:sldMk cId="0" sldId="312"/>
            <ac:spMk id="4" creationId="{A25028ED-4212-8C69-A279-6D284E3DE217}"/>
          </ac:spMkLst>
        </pc:spChg>
      </pc:sldChg>
      <pc:sldChg chg="modNotesTx">
        <pc:chgData name="Moyer Montague, Kristina" userId="63c103e5-6141-480e-825f-260f173eba02" providerId="ADAL" clId="{AA9B5061-D3A8-4DB3-9424-DBE604ADC813}" dt="2025-05-06T20:42:29.771" v="7" actId="20577"/>
        <pc:sldMkLst>
          <pc:docMk/>
          <pc:sldMk cId="1195593053" sldId="328"/>
        </pc:sldMkLst>
      </pc:sldChg>
      <pc:sldChg chg="modNotesTx">
        <pc:chgData name="Moyer Montague, Kristina" userId="63c103e5-6141-480e-825f-260f173eba02" providerId="ADAL" clId="{AA9B5061-D3A8-4DB3-9424-DBE604ADC813}" dt="2025-05-06T20:42:35.144" v="9" actId="6549"/>
        <pc:sldMkLst>
          <pc:docMk/>
          <pc:sldMk cId="505425452" sldId="329"/>
        </pc:sldMkLst>
      </pc:sldChg>
      <pc:sldChg chg="modNotesTx">
        <pc:chgData name="Moyer Montague, Kristina" userId="63c103e5-6141-480e-825f-260f173eba02" providerId="ADAL" clId="{AA9B5061-D3A8-4DB3-9424-DBE604ADC813}" dt="2025-05-06T20:42:39.757" v="11" actId="6549"/>
        <pc:sldMkLst>
          <pc:docMk/>
          <pc:sldMk cId="2203327660" sldId="330"/>
        </pc:sldMkLst>
      </pc:sldChg>
      <pc:sldChg chg="modNotesTx">
        <pc:chgData name="Moyer Montague, Kristina" userId="63c103e5-6141-480e-825f-260f173eba02" providerId="ADAL" clId="{AA9B5061-D3A8-4DB3-9424-DBE604ADC813}" dt="2025-05-06T20:42:43.941" v="13" actId="6549"/>
        <pc:sldMkLst>
          <pc:docMk/>
          <pc:sldMk cId="1679482497" sldId="33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7"/>
        <p:cNvGrpSpPr/>
        <p:nvPr/>
      </p:nvGrpSpPr>
      <p:grpSpPr>
        <a:xfrm>
          <a:off x="0" y="0"/>
          <a:ext cx="0" cy="0"/>
          <a:chOff x="0" y="0"/>
          <a:chExt cx="0" cy="0"/>
        </a:xfrm>
      </p:grpSpPr>
      <p:sp>
        <p:nvSpPr>
          <p:cNvPr id="458" name="Google Shape;458;p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59" name="Google Shape;459;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suggested pacing for this lesson is three 45-minute sessions.</a:t>
            </a:r>
            <a:endParaRPr dirty="0">
              <a:solidFill>
                <a:srgbClr val="000000"/>
              </a:solidFill>
            </a:endParaRPr>
          </a:p>
        </p:txBody>
      </p:sp>
      <p:sp>
        <p:nvSpPr>
          <p:cNvPr id="460" name="Google Shape;460;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p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66" name="Google Shape;466;p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TEKS: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A.1F: analyze mathematical relationships to connect and communicate mathematical ideas.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A.1G: display, explain, and justify mathematical ideas and arguments using precise mathematical language in written or oral communication.</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A.2A: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determine the domain and range of a linear function in mathematical problems, determine reasonable domain and range values for real-world situations, both continuous and discrete; and represent domain and range using inequalities.</a:t>
            </a:r>
            <a:b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A.2C:</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write linear equations in two variables given a table of values, a graph, and a verbal description.</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A.2E: write the equation of a line that contains a given point and is parallel to a given line.</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A.3C:</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graph linear functions on the coordinate plane and identify key features, including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zeros, and slope, in mathematical and real-world problems.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A.3E: determine the effects on the graph of the parent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when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is replaced by </a:t>
            </a:r>
            <a:r>
              <a:rPr lang="en-US" sz="1200" i="1" dirty="0" err="1">
                <a:solidFill>
                  <a:srgbClr val="000000"/>
                </a:solidFill>
                <a:latin typeface="Calibri" panose="020F0502020204030204" pitchFamily="34" charset="0"/>
                <a:ea typeface="Calibri" panose="020F0502020204030204" pitchFamily="34" charset="0"/>
                <a:cs typeface="Calibri" panose="020F0502020204030204" pitchFamily="34" charset="0"/>
              </a:rPr>
              <a:t>af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bx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for specific values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endParaRPr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ELPS: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2.H: understand implicit ideas and information in increasingly complex spoken language commensurate with grade-level learning expectations.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3.F: ask and give information ranging from using a very limited bank of high-frequency, high-need, concrete vocabulary, including key words and expressions needed for basic communication in academic and social contexts, to using abstract and content-based vocabulary during extended speaking assignments.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4.F: use visual and contextual support and support from peers and teachers to read grade-appropriate content area text, enhance and confirm understanding, and develop vocabulary, grasp of language structures, and background knowledge needed to comprehend increasingly challenging language.</a:t>
            </a:r>
            <a:endParaRPr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467" name="Google Shape;467;p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p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1" name="Google Shape;481;p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Parent function is introduced on Day 1</a:t>
            </a:r>
            <a:r>
              <a:rPr lang="en-US" dirty="0">
                <a:solidFill>
                  <a:srgbClr val="000000"/>
                </a:solidFill>
              </a:rPr>
              <a:t>.</a:t>
            </a:r>
            <a:endParaRPr sz="1200" b="1" dirty="0">
              <a:solidFill>
                <a:srgbClr val="000000"/>
              </a:solidFill>
              <a:latin typeface="Calibri"/>
              <a:ea typeface="Calibri"/>
              <a:cs typeface="Calibri"/>
              <a:sym typeface="Calibri"/>
            </a:endParaRPr>
          </a:p>
        </p:txBody>
      </p:sp>
      <p:sp>
        <p:nvSpPr>
          <p:cNvPr id="482" name="Google Shape;482;p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a:extLst>
            <a:ext uri="{FF2B5EF4-FFF2-40B4-BE49-F238E27FC236}">
              <a16:creationId xmlns:a16="http://schemas.microsoft.com/office/drawing/2014/main" id="{925A97E4-D5C5-AD48-49D7-1A11A7005722}"/>
            </a:ext>
          </a:extLst>
        </p:cNvPr>
        <p:cNvGrpSpPr/>
        <p:nvPr/>
      </p:nvGrpSpPr>
      <p:grpSpPr>
        <a:xfrm>
          <a:off x="0" y="0"/>
          <a:ext cx="0" cy="0"/>
          <a:chOff x="0" y="0"/>
          <a:chExt cx="0" cy="0"/>
        </a:xfrm>
      </p:grpSpPr>
      <p:sp>
        <p:nvSpPr>
          <p:cNvPr id="480" name="Google Shape;480;p4:notes">
            <a:extLst>
              <a:ext uri="{FF2B5EF4-FFF2-40B4-BE49-F238E27FC236}">
                <a16:creationId xmlns:a16="http://schemas.microsoft.com/office/drawing/2014/main" id="{3E87CE0D-8002-1CC2-13E4-55C817EFB587}"/>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1" name="Google Shape;481;p4:notes">
            <a:extLst>
              <a:ext uri="{FF2B5EF4-FFF2-40B4-BE49-F238E27FC236}">
                <a16:creationId xmlns:a16="http://schemas.microsoft.com/office/drawing/2014/main" id="{1B945410-8A3F-507A-D5AF-0B1478B1871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Setting the Stage: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Tap into your students’ prior learning by reading the narrative statement.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Provide a sense of direction by reading the Essential Question.</a:t>
            </a:r>
            <a:endParaRPr sz="1200" b="1" dirty="0">
              <a:solidFill>
                <a:srgbClr val="000000"/>
              </a:solidFill>
              <a:latin typeface="Calibri"/>
              <a:ea typeface="Calibri"/>
              <a:cs typeface="Calibri"/>
              <a:sym typeface="Calibri"/>
            </a:endParaRPr>
          </a:p>
        </p:txBody>
      </p:sp>
      <p:sp>
        <p:nvSpPr>
          <p:cNvPr id="482" name="Google Shape;482;p4:notes">
            <a:extLst>
              <a:ext uri="{FF2B5EF4-FFF2-40B4-BE49-F238E27FC236}">
                <a16:creationId xmlns:a16="http://schemas.microsoft.com/office/drawing/2014/main" id="{1EA9EB42-FC4D-E541-A90A-DD74FB0AD4EF}"/>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extLst>
      <p:ext uri="{BB962C8B-B14F-4D97-AF65-F5344CB8AC3E}">
        <p14:creationId xmlns:p14="http://schemas.microsoft.com/office/powerpoint/2010/main" val="1069440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p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8" name="Google Shape;488;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suggested pacing for Day 1 is 45 minutes.</a:t>
            </a:r>
            <a:endParaRPr dirty="0">
              <a:solidFill>
                <a:srgbClr val="000000"/>
              </a:solidFill>
            </a:endParaRPr>
          </a:p>
        </p:txBody>
      </p:sp>
      <p:sp>
        <p:nvSpPr>
          <p:cNvPr id="489" name="Google Shape;489;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p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5" name="Google Shape;495;p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the Getting Started.</a:t>
            </a:r>
            <a:endParaRPr dirty="0">
              <a:solidFill>
                <a:srgbClr val="000000"/>
              </a:solidFill>
            </a:endParaRPr>
          </a:p>
        </p:txBody>
      </p:sp>
      <p:sp>
        <p:nvSpPr>
          <p:cNvPr id="496" name="Google Shape;496;p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p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02" name="Google Shape;502;p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03" name="Google Shape;503;p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p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11" name="Google Shape;511;p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12" name="Google Shape;512;p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8"/>
        <p:cNvGrpSpPr/>
        <p:nvPr/>
      </p:nvGrpSpPr>
      <p:grpSpPr>
        <a:xfrm>
          <a:off x="0" y="0"/>
          <a:ext cx="0" cy="0"/>
          <a:chOff x="0" y="0"/>
          <a:chExt cx="0" cy="0"/>
        </a:xfrm>
      </p:grpSpPr>
      <p:sp>
        <p:nvSpPr>
          <p:cNvPr id="519" name="Google Shape;519;p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0" name="Google Shape;520;p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21" name="Google Shape;521;p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8">
          <a:extLst>
            <a:ext uri="{FF2B5EF4-FFF2-40B4-BE49-F238E27FC236}">
              <a16:creationId xmlns:a16="http://schemas.microsoft.com/office/drawing/2014/main" id="{0CA5A1C9-2FD3-A846-D867-5DCA7B4B631D}"/>
            </a:ext>
          </a:extLst>
        </p:cNvPr>
        <p:cNvGrpSpPr/>
        <p:nvPr/>
      </p:nvGrpSpPr>
      <p:grpSpPr>
        <a:xfrm>
          <a:off x="0" y="0"/>
          <a:ext cx="0" cy="0"/>
          <a:chOff x="0" y="0"/>
          <a:chExt cx="0" cy="0"/>
        </a:xfrm>
      </p:grpSpPr>
      <p:sp>
        <p:nvSpPr>
          <p:cNvPr id="519" name="Google Shape;519;p9:notes">
            <a:extLst>
              <a:ext uri="{FF2B5EF4-FFF2-40B4-BE49-F238E27FC236}">
                <a16:creationId xmlns:a16="http://schemas.microsoft.com/office/drawing/2014/main" id="{0180EB4E-83B7-CD06-B047-A6CF47A9AD41}"/>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0" name="Google Shape;520;p9:notes">
            <a:extLst>
              <a:ext uri="{FF2B5EF4-FFF2-40B4-BE49-F238E27FC236}">
                <a16:creationId xmlns:a16="http://schemas.microsoft.com/office/drawing/2014/main" id="{AEEB8E79-A7E3-923A-56C4-94FB78D843B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21" name="Google Shape;521;p9:notes">
            <a:extLst>
              <a:ext uri="{FF2B5EF4-FFF2-40B4-BE49-F238E27FC236}">
                <a16:creationId xmlns:a16="http://schemas.microsoft.com/office/drawing/2014/main" id="{4DB9FE17-3745-637B-6022-DE778AB683AF}"/>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extLst>
      <p:ext uri="{BB962C8B-B14F-4D97-AF65-F5344CB8AC3E}">
        <p14:creationId xmlns:p14="http://schemas.microsoft.com/office/powerpoint/2010/main" val="23803835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7"/>
        <p:cNvGrpSpPr/>
        <p:nvPr/>
      </p:nvGrpSpPr>
      <p:grpSpPr>
        <a:xfrm>
          <a:off x="0" y="0"/>
          <a:ext cx="0" cy="0"/>
          <a:chOff x="0" y="0"/>
          <a:chExt cx="0" cy="0"/>
        </a:xfrm>
      </p:grpSpPr>
      <p:sp>
        <p:nvSpPr>
          <p:cNvPr id="528" name="Google Shape;528;p1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9" name="Google Shape;529;p1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30" name="Google Shape;530;p1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5"/>
        <p:cNvGrpSpPr/>
        <p:nvPr/>
      </p:nvGrpSpPr>
      <p:grpSpPr>
        <a:xfrm>
          <a:off x="0" y="0"/>
          <a:ext cx="0" cy="0"/>
          <a:chOff x="0" y="0"/>
          <a:chExt cx="0" cy="0"/>
        </a:xfrm>
      </p:grpSpPr>
      <p:sp>
        <p:nvSpPr>
          <p:cNvPr id="536" name="Google Shape;536;p1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7" name="Google Shape;537;p1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38" name="Google Shape;538;p1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3"/>
        <p:cNvGrpSpPr/>
        <p:nvPr/>
      </p:nvGrpSpPr>
      <p:grpSpPr>
        <a:xfrm>
          <a:off x="0" y="0"/>
          <a:ext cx="0" cy="0"/>
          <a:chOff x="0" y="0"/>
          <a:chExt cx="0" cy="0"/>
        </a:xfrm>
      </p:grpSpPr>
      <p:sp>
        <p:nvSpPr>
          <p:cNvPr id="544" name="Google Shape;544;p1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45" name="Google Shape;545;p1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Getting Started Summary:</a:t>
            </a:r>
            <a:endParaRPr dirty="0">
              <a:solidFill>
                <a:srgbClr val="000000"/>
              </a:solidFill>
            </a:endParaRPr>
          </a:p>
          <a:p>
            <a:pPr marL="0" lvl="0" indent="0" algn="l" rtl="0">
              <a:spcBef>
                <a:spcPts val="0"/>
              </a:spcBef>
              <a:spcAft>
                <a:spcPts val="0"/>
              </a:spcAft>
              <a:buNone/>
            </a:pPr>
            <a:r>
              <a:rPr lang="en-US" dirty="0">
                <a:solidFill>
                  <a:srgbClr val="000000"/>
                </a:solidFill>
              </a:rPr>
              <a:t>When a line segment is vertically translated on the coordinate plane, the </a:t>
            </a:r>
            <a:r>
              <a:rPr lang="en-US" i="1" dirty="0">
                <a:solidFill>
                  <a:srgbClr val="000000"/>
                </a:solidFill>
              </a:rPr>
              <a:t>x</a:t>
            </a:r>
            <a:r>
              <a:rPr lang="en-US" dirty="0">
                <a:solidFill>
                  <a:srgbClr val="000000"/>
                </a:solidFill>
              </a:rPr>
              <a:t>-value of each point remains unchanged, and the </a:t>
            </a:r>
            <a:r>
              <a:rPr lang="en-US" i="1" dirty="0">
                <a:solidFill>
                  <a:srgbClr val="000000"/>
                </a:solidFill>
              </a:rPr>
              <a:t>y</a:t>
            </a:r>
            <a:r>
              <a:rPr lang="en-US" dirty="0">
                <a:solidFill>
                  <a:srgbClr val="000000"/>
                </a:solidFill>
              </a:rPr>
              <a:t>-value changes according to the translation.</a:t>
            </a:r>
            <a:endParaRPr sz="1200" b="1" dirty="0">
              <a:solidFill>
                <a:srgbClr val="000000"/>
              </a:solidFill>
              <a:latin typeface="Calibri"/>
              <a:ea typeface="Calibri"/>
              <a:cs typeface="Calibri"/>
              <a:sym typeface="Calibri"/>
            </a:endParaRPr>
          </a:p>
        </p:txBody>
      </p:sp>
      <p:sp>
        <p:nvSpPr>
          <p:cNvPr id="546" name="Google Shape;546;p1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1"/>
        <p:cNvGrpSpPr/>
        <p:nvPr/>
      </p:nvGrpSpPr>
      <p:grpSpPr>
        <a:xfrm>
          <a:off x="0" y="0"/>
          <a:ext cx="0" cy="0"/>
          <a:chOff x="0" y="0"/>
          <a:chExt cx="0" cy="0"/>
        </a:xfrm>
      </p:grpSpPr>
      <p:sp>
        <p:nvSpPr>
          <p:cNvPr id="552" name="Google Shape;552;p1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53" name="Google Shape;553;p1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 </a:t>
            </a:r>
            <a:r>
              <a:rPr lang="en-US" b="0" dirty="0">
                <a:solidFill>
                  <a:srgbClr val="000000"/>
                </a:solidFill>
                <a:latin typeface="Calibri"/>
                <a:ea typeface="Calibri"/>
                <a:cs typeface="Calibri"/>
                <a:sym typeface="Calibri"/>
              </a:rPr>
              <a:t>This slide is blank for optional use with displaying work.</a:t>
            </a:r>
            <a:endParaRPr b="1" dirty="0">
              <a:solidFill>
                <a:srgbClr val="000000"/>
              </a:solidFill>
              <a:latin typeface="Calibri"/>
              <a:ea typeface="Calibri"/>
              <a:cs typeface="Calibri"/>
              <a:sym typeface="Calibri"/>
            </a:endParaRPr>
          </a:p>
        </p:txBody>
      </p:sp>
      <p:sp>
        <p:nvSpPr>
          <p:cNvPr id="554" name="Google Shape;554;p1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8"/>
        <p:cNvGrpSpPr/>
        <p:nvPr/>
      </p:nvGrpSpPr>
      <p:grpSpPr>
        <a:xfrm>
          <a:off x="0" y="0"/>
          <a:ext cx="0" cy="0"/>
          <a:chOff x="0" y="0"/>
          <a:chExt cx="0" cy="0"/>
        </a:xfrm>
      </p:grpSpPr>
      <p:sp>
        <p:nvSpPr>
          <p:cNvPr id="559" name="Google Shape;559;p1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60" name="Google Shape;560;p1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20-25 minutes allotted for Activity 1.1.</a:t>
            </a:r>
            <a:endParaRPr dirty="0">
              <a:solidFill>
                <a:srgbClr val="000000"/>
              </a:solidFill>
            </a:endParaRPr>
          </a:p>
        </p:txBody>
      </p:sp>
      <p:sp>
        <p:nvSpPr>
          <p:cNvPr id="561" name="Google Shape;561;p1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6"/>
        <p:cNvGrpSpPr/>
        <p:nvPr/>
      </p:nvGrpSpPr>
      <p:grpSpPr>
        <a:xfrm>
          <a:off x="0" y="0"/>
          <a:ext cx="0" cy="0"/>
          <a:chOff x="0" y="0"/>
          <a:chExt cx="0" cy="0"/>
        </a:xfrm>
      </p:grpSpPr>
      <p:sp>
        <p:nvSpPr>
          <p:cNvPr id="567" name="Google Shape;567;p1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68" name="Google Shape;568;p1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sz="1200" b="0" dirty="0">
              <a:solidFill>
                <a:srgbClr val="000000"/>
              </a:solidFill>
              <a:latin typeface="Calibri"/>
              <a:ea typeface="Calibri"/>
              <a:cs typeface="Calibri"/>
              <a:sym typeface="Calibri"/>
            </a:endParaRPr>
          </a:p>
        </p:txBody>
      </p:sp>
      <p:sp>
        <p:nvSpPr>
          <p:cNvPr id="569" name="Google Shape;569;p1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4"/>
        <p:cNvGrpSpPr/>
        <p:nvPr/>
      </p:nvGrpSpPr>
      <p:grpSpPr>
        <a:xfrm>
          <a:off x="0" y="0"/>
          <a:ext cx="0" cy="0"/>
          <a:chOff x="0" y="0"/>
          <a:chExt cx="0" cy="0"/>
        </a:xfrm>
      </p:grpSpPr>
      <p:sp>
        <p:nvSpPr>
          <p:cNvPr id="575" name="Google Shape;575;p1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76" name="Google Shape;576;p1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p:txBody>
      </p:sp>
      <p:sp>
        <p:nvSpPr>
          <p:cNvPr id="577" name="Google Shape;577;p1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5"/>
        <p:cNvGrpSpPr/>
        <p:nvPr/>
      </p:nvGrpSpPr>
      <p:grpSpPr>
        <a:xfrm>
          <a:off x="0" y="0"/>
          <a:ext cx="0" cy="0"/>
          <a:chOff x="0" y="0"/>
          <a:chExt cx="0" cy="0"/>
        </a:xfrm>
      </p:grpSpPr>
      <p:sp>
        <p:nvSpPr>
          <p:cNvPr id="586" name="Google Shape;586;p1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87" name="Google Shape;587;p1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is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of the transformed graph (0, −5)? </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complete any calculations to determine the slope? Explain. </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points that lie 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range? Why not? </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relationship between the graph, table, and equation.</a:t>
            </a:r>
            <a:endParaRPr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88" name="Google Shape;588;p1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18</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2"/>
        <p:cNvGrpSpPr/>
        <p:nvPr/>
      </p:nvGrpSpPr>
      <p:grpSpPr>
        <a:xfrm>
          <a:off x="0" y="0"/>
          <a:ext cx="0" cy="0"/>
          <a:chOff x="0" y="0"/>
          <a:chExt cx="0" cy="0"/>
        </a:xfrm>
      </p:grpSpPr>
      <p:sp>
        <p:nvSpPr>
          <p:cNvPr id="593" name="Google Shape;593;p1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94" name="Google Shape;594;p1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is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of the transformed graph (0, −5)?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complete any calculations to determine the slope? Explain.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points that lie 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range?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relationship between the graph, table, and equation.</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95" name="Google Shape;595;p1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19</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1"/>
        <p:cNvGrpSpPr/>
        <p:nvPr/>
      </p:nvGrpSpPr>
      <p:grpSpPr>
        <a:xfrm>
          <a:off x="0" y="0"/>
          <a:ext cx="0" cy="0"/>
          <a:chOff x="0" y="0"/>
          <a:chExt cx="0" cy="0"/>
        </a:xfrm>
      </p:grpSpPr>
      <p:sp>
        <p:nvSpPr>
          <p:cNvPr id="602" name="Google Shape;602;p1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03" name="Google Shape;603;p1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is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of the transformed graph (0, −5)?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complete any calculations to determine the slope? Explain.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points that lie 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range?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relationship between the graph, table, and equation.</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604" name="Google Shape;604;p1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8"/>
        <p:cNvGrpSpPr/>
        <p:nvPr/>
      </p:nvGrpSpPr>
      <p:grpSpPr>
        <a:xfrm>
          <a:off x="0" y="0"/>
          <a:ext cx="0" cy="0"/>
          <a:chOff x="0" y="0"/>
          <a:chExt cx="0" cy="0"/>
        </a:xfrm>
      </p:grpSpPr>
      <p:sp>
        <p:nvSpPr>
          <p:cNvPr id="609" name="Google Shape;609;p2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0" name="Google Shape;610;p2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is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of the transformed graph (0, −5)?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complete any calculations to determine the slope? Explain.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points that lie 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range?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relationship between the graph, table, and equation.</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611" name="Google Shape;611;p2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21</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5"/>
        <p:cNvGrpSpPr/>
        <p:nvPr/>
      </p:nvGrpSpPr>
      <p:grpSpPr>
        <a:xfrm>
          <a:off x="0" y="0"/>
          <a:ext cx="0" cy="0"/>
          <a:chOff x="0" y="0"/>
          <a:chExt cx="0" cy="0"/>
        </a:xfrm>
      </p:grpSpPr>
      <p:sp>
        <p:nvSpPr>
          <p:cNvPr id="616" name="Google Shape;616;p2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7" name="Google Shape;617;p2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which operation to include with </a:t>
            </a:r>
            <a:r>
              <a:rPr lang="en-US" i="1" dirty="0">
                <a:solidFill>
                  <a:srgbClr val="000000"/>
                </a:solidFill>
              </a:rPr>
              <a:t>q</a:t>
            </a:r>
            <a:r>
              <a:rPr lang="en-US" dirty="0">
                <a:solidFill>
                  <a:srgbClr val="000000"/>
                </a:solidFill>
              </a:rPr>
              <a:t>(</a:t>
            </a:r>
            <a:r>
              <a:rPr lang="en-US" i="1" dirty="0">
                <a:solidFill>
                  <a:srgbClr val="000000"/>
                </a:solidFill>
              </a:rPr>
              <a:t>x</a:t>
            </a:r>
            <a:r>
              <a:rPr lang="en-US" dirty="0">
                <a:solidFill>
                  <a:srgbClr val="000000"/>
                </a:solidFill>
              </a:rPr>
              <a:t>)?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rewrote each function in terms of </a:t>
            </a:r>
            <a:r>
              <a:rPr lang="en-US" i="1" dirty="0">
                <a:solidFill>
                  <a:srgbClr val="000000"/>
                </a:solidFill>
              </a:rPr>
              <a:t>x</a:t>
            </a:r>
            <a:r>
              <a:rPr lang="en-US" dirty="0">
                <a:solidFill>
                  <a:srgbClr val="000000"/>
                </a:solidFill>
              </a:rPr>
              <a:t>.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is writing the equation of a translated function the same and different when the original function is not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a:t>
            </a:r>
            <a:endParaRPr b="1" dirty="0">
              <a:solidFill>
                <a:srgbClr val="000000"/>
              </a:solidFill>
            </a:endParaRPr>
          </a:p>
        </p:txBody>
      </p:sp>
      <p:sp>
        <p:nvSpPr>
          <p:cNvPr id="618" name="Google Shape;618;p2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22</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3"/>
        <p:cNvGrpSpPr/>
        <p:nvPr/>
      </p:nvGrpSpPr>
      <p:grpSpPr>
        <a:xfrm>
          <a:off x="0" y="0"/>
          <a:ext cx="0" cy="0"/>
          <a:chOff x="0" y="0"/>
          <a:chExt cx="0" cy="0"/>
        </a:xfrm>
      </p:grpSpPr>
      <p:sp>
        <p:nvSpPr>
          <p:cNvPr id="624" name="Google Shape;624;p2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25" name="Google Shape;625;p2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which operation to include with </a:t>
            </a:r>
            <a:r>
              <a:rPr lang="en-US" i="1" dirty="0">
                <a:solidFill>
                  <a:srgbClr val="000000"/>
                </a:solidFill>
              </a:rPr>
              <a:t>q</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rewrote each function in terms of </a:t>
            </a:r>
            <a:r>
              <a:rPr lang="en-US" i="1" dirty="0">
                <a:solidFill>
                  <a:srgbClr val="000000"/>
                </a:solidFill>
              </a:rPr>
              <a:t>x</a:t>
            </a:r>
            <a:r>
              <a:rPr lang="en-US" dirty="0">
                <a:solidFill>
                  <a:srgbClr val="000000"/>
                </a:solidFill>
              </a:rPr>
              <a: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is writing the equation of a translated function the same and different when the original function is not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a:t>
            </a:r>
            <a:endParaRPr lang="en-US" b="1" dirty="0">
              <a:solidFill>
                <a:srgbClr val="000000"/>
              </a:solidFill>
            </a:endParaRPr>
          </a:p>
        </p:txBody>
      </p:sp>
      <p:sp>
        <p:nvSpPr>
          <p:cNvPr id="626" name="Google Shape;626;p2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23</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1"/>
        <p:cNvGrpSpPr/>
        <p:nvPr/>
      </p:nvGrpSpPr>
      <p:grpSpPr>
        <a:xfrm>
          <a:off x="0" y="0"/>
          <a:ext cx="0" cy="0"/>
          <a:chOff x="0" y="0"/>
          <a:chExt cx="0" cy="0"/>
        </a:xfrm>
      </p:grpSpPr>
      <p:sp>
        <p:nvSpPr>
          <p:cNvPr id="632" name="Google Shape;632;p2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33" name="Google Shape;633;p2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Note:</a:t>
            </a:r>
            <a:r>
              <a:rPr lang="en-US" sz="1200" b="0" dirty="0">
                <a:solidFill>
                  <a:srgbClr val="000000"/>
                </a:solidFill>
                <a:latin typeface="Calibri"/>
                <a:ea typeface="Calibri"/>
                <a:cs typeface="Calibri"/>
                <a:sym typeface="Calibri"/>
              </a:rPr>
              <a:t> To close Day 1, have students reread the Essential Question and then read the Stamp the Learning summary aloud.</a:t>
            </a:r>
            <a:endParaRPr dirty="0">
              <a:solidFill>
                <a:srgbClr val="000000"/>
              </a:solidFill>
            </a:endParaRPr>
          </a:p>
          <a:p>
            <a:pPr marL="0" lvl="0" indent="0" algn="l" rtl="0">
              <a:spcBef>
                <a:spcPts val="0"/>
              </a:spcBef>
              <a:spcAft>
                <a:spcPts val="0"/>
              </a:spcAft>
              <a:buNone/>
            </a:pP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1.1 Summary:</a:t>
            </a:r>
            <a:endParaRPr dirty="0">
              <a:solidFill>
                <a:srgbClr val="000000"/>
              </a:solidFill>
            </a:endParaRPr>
          </a:p>
          <a:p>
            <a:pPr marL="0" lvl="0" indent="0" algn="l" rtl="0">
              <a:spcBef>
                <a:spcPts val="0"/>
              </a:spcBef>
              <a:spcAft>
                <a:spcPts val="0"/>
              </a:spcAft>
              <a:buNone/>
            </a:pPr>
            <a:r>
              <a:rPr lang="en-US" dirty="0">
                <a:solidFill>
                  <a:srgbClr val="000000"/>
                </a:solidFill>
              </a:rPr>
              <a:t>For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the transformed function </a:t>
            </a:r>
            <a:r>
              <a:rPr lang="en-US" i="1" dirty="0">
                <a:solidFill>
                  <a:srgbClr val="000000"/>
                </a:solidFill>
              </a:rPr>
              <a:t>y</a:t>
            </a:r>
            <a:r>
              <a:rPr lang="en-US" dirty="0">
                <a:solidFill>
                  <a:srgbClr val="000000"/>
                </a:solidFill>
              </a:rPr>
              <a:t> =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d</a:t>
            </a:r>
            <a:r>
              <a:rPr lang="en-US" dirty="0">
                <a:solidFill>
                  <a:srgbClr val="000000"/>
                </a:solidFill>
              </a:rPr>
              <a:t> shows a vertical translation of the function. The slopes of vertically translated linear functions do not change, which means that the graphs of the functions are parallel lines.</a:t>
            </a:r>
            <a:endParaRPr sz="1200" b="1" dirty="0">
              <a:solidFill>
                <a:srgbClr val="000000"/>
              </a:solidFill>
              <a:latin typeface="Calibri"/>
              <a:ea typeface="Calibri"/>
              <a:cs typeface="Calibri"/>
              <a:sym typeface="Calibri"/>
            </a:endParaRPr>
          </a:p>
        </p:txBody>
      </p:sp>
      <p:sp>
        <p:nvSpPr>
          <p:cNvPr id="634" name="Google Shape;634;p2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24</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9"/>
        <p:cNvGrpSpPr/>
        <p:nvPr/>
      </p:nvGrpSpPr>
      <p:grpSpPr>
        <a:xfrm>
          <a:off x="0" y="0"/>
          <a:ext cx="0" cy="0"/>
          <a:chOff x="0" y="0"/>
          <a:chExt cx="0" cy="0"/>
        </a:xfrm>
      </p:grpSpPr>
      <p:sp>
        <p:nvSpPr>
          <p:cNvPr id="640" name="Google Shape;640;p2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41" name="Google Shape;641;p2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This slide is blank for optional use with displaying work.</a:t>
            </a:r>
            <a:endParaRPr b="0" dirty="0">
              <a:solidFill>
                <a:srgbClr val="000000"/>
              </a:solidFill>
              <a:latin typeface="Calibri"/>
              <a:ea typeface="Calibri"/>
              <a:cs typeface="Calibri"/>
              <a:sym typeface="Calibri"/>
            </a:endParaRPr>
          </a:p>
        </p:txBody>
      </p:sp>
      <p:sp>
        <p:nvSpPr>
          <p:cNvPr id="642" name="Google Shape;642;p2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25</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6"/>
        <p:cNvGrpSpPr/>
        <p:nvPr/>
      </p:nvGrpSpPr>
      <p:grpSpPr>
        <a:xfrm>
          <a:off x="0" y="0"/>
          <a:ext cx="0" cy="0"/>
          <a:chOff x="0" y="0"/>
          <a:chExt cx="0" cy="0"/>
        </a:xfrm>
      </p:grpSpPr>
      <p:sp>
        <p:nvSpPr>
          <p:cNvPr id="647" name="Google Shape;647;p2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48" name="Google Shape;648;p2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Total suggested pacing for Day 2 is 45 minutes.</a:t>
            </a:r>
            <a:endParaRPr dirty="0">
              <a:solidFill>
                <a:srgbClr val="000000"/>
              </a:solidFill>
            </a:endParaRPr>
          </a:p>
        </p:txBody>
      </p:sp>
      <p:sp>
        <p:nvSpPr>
          <p:cNvPr id="649" name="Google Shape;649;p2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26</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3"/>
        <p:cNvGrpSpPr/>
        <p:nvPr/>
      </p:nvGrpSpPr>
      <p:grpSpPr>
        <a:xfrm>
          <a:off x="0" y="0"/>
          <a:ext cx="0" cy="0"/>
          <a:chOff x="0" y="0"/>
          <a:chExt cx="0" cy="0"/>
        </a:xfrm>
      </p:grpSpPr>
      <p:sp>
        <p:nvSpPr>
          <p:cNvPr id="654" name="Google Shape;654;p2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55" name="Google Shape;655;p2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 begin Day 2, have a student read the Essential Question aloud.</a:t>
            </a: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endParaRPr sz="1200" b="1" dirty="0">
              <a:latin typeface="Calibri"/>
              <a:ea typeface="Calibri"/>
              <a:cs typeface="Calibri"/>
              <a:sym typeface="Calibri"/>
            </a:endParaRPr>
          </a:p>
        </p:txBody>
      </p:sp>
      <p:sp>
        <p:nvSpPr>
          <p:cNvPr id="656" name="Google Shape;656;p2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27</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0"/>
        <p:cNvGrpSpPr/>
        <p:nvPr/>
      </p:nvGrpSpPr>
      <p:grpSpPr>
        <a:xfrm>
          <a:off x="0" y="0"/>
          <a:ext cx="0" cy="0"/>
          <a:chOff x="0" y="0"/>
          <a:chExt cx="0" cy="0"/>
        </a:xfrm>
      </p:grpSpPr>
      <p:sp>
        <p:nvSpPr>
          <p:cNvPr id="661" name="Google Shape;661;p2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62" name="Google Shape;662;p2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1.2.</a:t>
            </a:r>
            <a:endParaRPr dirty="0">
              <a:solidFill>
                <a:srgbClr val="000000"/>
              </a:solidFill>
            </a:endParaRPr>
          </a:p>
        </p:txBody>
      </p:sp>
      <p:sp>
        <p:nvSpPr>
          <p:cNvPr id="663" name="Google Shape;663;p2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28</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8"/>
        <p:cNvGrpSpPr/>
        <p:nvPr/>
      </p:nvGrpSpPr>
      <p:grpSpPr>
        <a:xfrm>
          <a:off x="0" y="0"/>
          <a:ext cx="0" cy="0"/>
          <a:chOff x="0" y="0"/>
          <a:chExt cx="0" cy="0"/>
        </a:xfrm>
      </p:grpSpPr>
      <p:sp>
        <p:nvSpPr>
          <p:cNvPr id="669" name="Google Shape;669;p2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0" name="Google Shape;670;p2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line is the image? Which is the pre-image?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Are the </a:t>
            </a:r>
            <a:r>
              <a:rPr lang="en-US" i="1" dirty="0">
                <a:solidFill>
                  <a:srgbClr val="000000"/>
                </a:solidFill>
              </a:rPr>
              <a:t>x</a:t>
            </a:r>
            <a:r>
              <a:rPr lang="en-US" dirty="0">
                <a:solidFill>
                  <a:srgbClr val="000000"/>
                </a:solidFill>
              </a:rPr>
              <a:t>-coordinates, </a:t>
            </a:r>
            <a:r>
              <a:rPr lang="en-US" i="1" dirty="0">
                <a:solidFill>
                  <a:srgbClr val="000000"/>
                </a:solidFill>
              </a:rPr>
              <a:t>y</a:t>
            </a:r>
            <a:r>
              <a:rPr lang="en-US" dirty="0">
                <a:solidFill>
                  <a:srgbClr val="000000"/>
                </a:solidFill>
              </a:rPr>
              <a:t>-coordinates, or both, changed when completing a translation? How do you know?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order of the coordinates matter when using the slope formula? Explain.</a:t>
            </a:r>
            <a:endParaRPr sz="1200" dirty="0">
              <a:solidFill>
                <a:srgbClr val="000000"/>
              </a:solidFill>
              <a:latin typeface="Calibri"/>
              <a:ea typeface="Calibri"/>
              <a:cs typeface="Calibri"/>
              <a:sym typeface="Calibri"/>
            </a:endParaRPr>
          </a:p>
        </p:txBody>
      </p:sp>
      <p:sp>
        <p:nvSpPr>
          <p:cNvPr id="671" name="Google Shape;671;p2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29</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5"/>
        <p:cNvGrpSpPr/>
        <p:nvPr/>
      </p:nvGrpSpPr>
      <p:grpSpPr>
        <a:xfrm>
          <a:off x="0" y="0"/>
          <a:ext cx="0" cy="0"/>
          <a:chOff x="0" y="0"/>
          <a:chExt cx="0" cy="0"/>
        </a:xfrm>
      </p:grpSpPr>
      <p:sp>
        <p:nvSpPr>
          <p:cNvPr id="676" name="Google Shape;676;p2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7" name="Google Shape;677;p2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line is the image? Which is the pre-image?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Are the </a:t>
            </a:r>
            <a:r>
              <a:rPr lang="en-US" i="1" dirty="0">
                <a:solidFill>
                  <a:srgbClr val="000000"/>
                </a:solidFill>
              </a:rPr>
              <a:t>x</a:t>
            </a:r>
            <a:r>
              <a:rPr lang="en-US" dirty="0">
                <a:solidFill>
                  <a:srgbClr val="000000"/>
                </a:solidFill>
              </a:rPr>
              <a:t>-coordinates, </a:t>
            </a:r>
            <a:r>
              <a:rPr lang="en-US" i="1" dirty="0">
                <a:solidFill>
                  <a:srgbClr val="000000"/>
                </a:solidFill>
              </a:rPr>
              <a:t>y</a:t>
            </a:r>
            <a:r>
              <a:rPr lang="en-US" dirty="0">
                <a:solidFill>
                  <a:srgbClr val="000000"/>
                </a:solidFill>
              </a:rPr>
              <a:t>-coordinates, or both, changed when completing a translation? How do you know?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order of the coordinates matter when using the slope formula? Explain.</a:t>
            </a:r>
            <a:endParaRPr lang="en-US" sz="1200" dirty="0">
              <a:solidFill>
                <a:srgbClr val="000000"/>
              </a:solidFill>
              <a:latin typeface="Calibri"/>
              <a:ea typeface="Calibri"/>
              <a:cs typeface="Calibri"/>
              <a:sym typeface="Calibri"/>
            </a:endParaRPr>
          </a:p>
        </p:txBody>
      </p:sp>
      <p:sp>
        <p:nvSpPr>
          <p:cNvPr id="678" name="Google Shape;678;p2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30</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3"/>
        <p:cNvGrpSpPr/>
        <p:nvPr/>
      </p:nvGrpSpPr>
      <p:grpSpPr>
        <a:xfrm>
          <a:off x="0" y="0"/>
          <a:ext cx="0" cy="0"/>
          <a:chOff x="0" y="0"/>
          <a:chExt cx="0" cy="0"/>
        </a:xfrm>
      </p:grpSpPr>
      <p:sp>
        <p:nvSpPr>
          <p:cNvPr id="684" name="Google Shape;684;p3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85" name="Google Shape;685;p3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line is the image? Which is the pre-image?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Are the </a:t>
            </a:r>
            <a:r>
              <a:rPr lang="en-US" i="1" dirty="0">
                <a:solidFill>
                  <a:srgbClr val="000000"/>
                </a:solidFill>
              </a:rPr>
              <a:t>x</a:t>
            </a:r>
            <a:r>
              <a:rPr lang="en-US" dirty="0">
                <a:solidFill>
                  <a:srgbClr val="000000"/>
                </a:solidFill>
              </a:rPr>
              <a:t>-coordinates, </a:t>
            </a:r>
            <a:r>
              <a:rPr lang="en-US" i="1" dirty="0">
                <a:solidFill>
                  <a:srgbClr val="000000"/>
                </a:solidFill>
              </a:rPr>
              <a:t>y</a:t>
            </a:r>
            <a:r>
              <a:rPr lang="en-US" dirty="0">
                <a:solidFill>
                  <a:srgbClr val="000000"/>
                </a:solidFill>
              </a:rPr>
              <a:t>-coordinates, or both, changed when completing a translation? How do you know?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order of the coordinates matter when using the slope formula? Explain.</a:t>
            </a:r>
            <a:endParaRPr lang="en-US" sz="1200" dirty="0">
              <a:solidFill>
                <a:srgbClr val="000000"/>
              </a:solidFill>
              <a:latin typeface="Calibri"/>
              <a:ea typeface="Calibri"/>
              <a:cs typeface="Calibri"/>
              <a:sym typeface="Calibri"/>
            </a:endParaRPr>
          </a:p>
        </p:txBody>
      </p:sp>
      <p:sp>
        <p:nvSpPr>
          <p:cNvPr id="686" name="Google Shape;686;p3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31</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0"/>
        <p:cNvGrpSpPr/>
        <p:nvPr/>
      </p:nvGrpSpPr>
      <p:grpSpPr>
        <a:xfrm>
          <a:off x="0" y="0"/>
          <a:ext cx="0" cy="0"/>
          <a:chOff x="0" y="0"/>
          <a:chExt cx="0" cy="0"/>
        </a:xfrm>
      </p:grpSpPr>
      <p:sp>
        <p:nvSpPr>
          <p:cNvPr id="691" name="Google Shape;691;p3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92" name="Google Shape;692;p3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line is the image? Which is the pre-image?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Are the </a:t>
            </a:r>
            <a:r>
              <a:rPr lang="en-US" i="1" dirty="0">
                <a:solidFill>
                  <a:srgbClr val="000000"/>
                </a:solidFill>
              </a:rPr>
              <a:t>x</a:t>
            </a:r>
            <a:r>
              <a:rPr lang="en-US" dirty="0">
                <a:solidFill>
                  <a:srgbClr val="000000"/>
                </a:solidFill>
              </a:rPr>
              <a:t>-coordinates, </a:t>
            </a:r>
            <a:r>
              <a:rPr lang="en-US" i="1" dirty="0">
                <a:solidFill>
                  <a:srgbClr val="000000"/>
                </a:solidFill>
              </a:rPr>
              <a:t>y</a:t>
            </a:r>
            <a:r>
              <a:rPr lang="en-US" dirty="0">
                <a:solidFill>
                  <a:srgbClr val="000000"/>
                </a:solidFill>
              </a:rPr>
              <a:t>-coordinates, or both, changed when completing a translation? How do you know?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order of the coordinates matter when using the slope formula? Explain.</a:t>
            </a:r>
            <a:endParaRPr lang="en-US" sz="1200" dirty="0">
              <a:solidFill>
                <a:srgbClr val="000000"/>
              </a:solidFill>
              <a:latin typeface="Calibri"/>
              <a:ea typeface="Calibri"/>
              <a:cs typeface="Calibri"/>
              <a:sym typeface="Calibri"/>
            </a:endParaRPr>
          </a:p>
        </p:txBody>
      </p:sp>
      <p:sp>
        <p:nvSpPr>
          <p:cNvPr id="693" name="Google Shape;693;p3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32</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8"/>
        <p:cNvGrpSpPr/>
        <p:nvPr/>
      </p:nvGrpSpPr>
      <p:grpSpPr>
        <a:xfrm>
          <a:off x="0" y="0"/>
          <a:ext cx="0" cy="0"/>
          <a:chOff x="0" y="0"/>
          <a:chExt cx="0" cy="0"/>
        </a:xfrm>
      </p:grpSpPr>
      <p:sp>
        <p:nvSpPr>
          <p:cNvPr id="699" name="Google Shape;699;p3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00" name="Google Shape;700;p3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Why did Catalina substitute the value of </a:t>
            </a:r>
            <a:r>
              <a:rPr lang="en-US" b="0" i="1" dirty="0">
                <a:solidFill>
                  <a:srgbClr val="000000"/>
                </a:solidFill>
              </a:rPr>
              <a:t>x</a:t>
            </a:r>
            <a:r>
              <a:rPr lang="en-US" b="0" dirty="0">
                <a:solidFill>
                  <a:srgbClr val="000000"/>
                </a:solidFill>
              </a:rPr>
              <a:t> into her equation?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How was the value of </a:t>
            </a:r>
            <a:r>
              <a:rPr lang="en-US" b="0" i="1" dirty="0">
                <a:solidFill>
                  <a:srgbClr val="000000"/>
                </a:solidFill>
              </a:rPr>
              <a:t>y</a:t>
            </a:r>
            <a:r>
              <a:rPr lang="en-US" b="0" dirty="0">
                <a:solidFill>
                  <a:srgbClr val="000000"/>
                </a:solidFill>
              </a:rPr>
              <a:t> when </a:t>
            </a:r>
            <a:r>
              <a:rPr lang="en-US" b="0" i="1" dirty="0">
                <a:solidFill>
                  <a:srgbClr val="000000"/>
                </a:solidFill>
              </a:rPr>
              <a:t>x</a:t>
            </a:r>
            <a:r>
              <a:rPr lang="en-US" b="0" dirty="0">
                <a:solidFill>
                  <a:srgbClr val="000000"/>
                </a:solidFill>
              </a:rPr>
              <a:t> = 2 helpful to Catalina?</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How did Catalina know the translation was up 5 units rather than down 5 units?</a:t>
            </a:r>
          </a:p>
          <a:p>
            <a:pPr marL="0" marR="0" lvl="0" indent="0" algn="l" rtl="0">
              <a:lnSpc>
                <a:spcPct val="100000"/>
              </a:lnSpc>
              <a:spcBef>
                <a:spcPts val="0"/>
              </a:spcBef>
              <a:spcAft>
                <a:spcPts val="0"/>
              </a:spcAft>
              <a:buClr>
                <a:schemeClr val="dk1"/>
              </a:buClr>
              <a:buSzPts val="1200"/>
              <a:buFont typeface="Calibri"/>
              <a:buNone/>
            </a:pPr>
            <a:endParaRPr lang="en-US" b="0"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Reflecting and Justifying: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Why did James use both the </a:t>
            </a:r>
            <a:r>
              <a:rPr lang="en-US" b="0" i="1" dirty="0">
                <a:solidFill>
                  <a:srgbClr val="000000"/>
                </a:solidFill>
              </a:rPr>
              <a:t>x</a:t>
            </a:r>
            <a:r>
              <a:rPr lang="en-US" b="0" dirty="0">
                <a:solidFill>
                  <a:srgbClr val="000000"/>
                </a:solidFill>
              </a:rPr>
              <a:t>-value and the </a:t>
            </a:r>
            <a:r>
              <a:rPr lang="en-US" b="0" i="1" dirty="0">
                <a:solidFill>
                  <a:srgbClr val="000000"/>
                </a:solidFill>
              </a:rPr>
              <a:t>y</a:t>
            </a:r>
            <a:r>
              <a:rPr lang="en-US" b="0" dirty="0">
                <a:solidFill>
                  <a:srgbClr val="000000"/>
                </a:solidFill>
              </a:rPr>
              <a:t>-value in his substitution step, but Catalina only used the </a:t>
            </a:r>
            <a:r>
              <a:rPr lang="en-US" b="0" i="1" dirty="0">
                <a:solidFill>
                  <a:srgbClr val="000000"/>
                </a:solidFill>
              </a:rPr>
              <a:t>x</a:t>
            </a:r>
            <a:r>
              <a:rPr lang="en-US" b="0" dirty="0">
                <a:solidFill>
                  <a:srgbClr val="000000"/>
                </a:solidFill>
              </a:rPr>
              <a:t>-value in her substitution step?</a:t>
            </a:r>
          </a:p>
          <a:p>
            <a:pPr marL="0" marR="0" lvl="0" indent="0" algn="l" rtl="0">
              <a:lnSpc>
                <a:spcPct val="100000"/>
              </a:lnSpc>
              <a:spcBef>
                <a:spcPts val="0"/>
              </a:spcBef>
              <a:spcAft>
                <a:spcPts val="0"/>
              </a:spcAft>
              <a:buClr>
                <a:schemeClr val="dk1"/>
              </a:buClr>
              <a:buSzPts val="1200"/>
              <a:buFont typeface="Calibri"/>
              <a:buNone/>
            </a:pPr>
            <a:endParaRPr lang="en-US" b="0"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get the slope of your equation?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a:ea typeface="Calibri"/>
                <a:cs typeface="Calibri"/>
                <a:sym typeface="Calibri"/>
              </a:rPr>
              <a:t>How did you use the given point to write the equation of the line?</a:t>
            </a:r>
            <a:endParaRPr sz="1200" dirty="0">
              <a:solidFill>
                <a:srgbClr val="000000"/>
              </a:solidFill>
              <a:latin typeface="Calibri"/>
              <a:ea typeface="Calibri"/>
              <a:cs typeface="Calibri"/>
              <a:sym typeface="Calibri"/>
            </a:endParaRPr>
          </a:p>
        </p:txBody>
      </p:sp>
      <p:sp>
        <p:nvSpPr>
          <p:cNvPr id="701" name="Google Shape;701;p3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33</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4"/>
        <p:cNvGrpSpPr/>
        <p:nvPr/>
      </p:nvGrpSpPr>
      <p:grpSpPr>
        <a:xfrm>
          <a:off x="0" y="0"/>
          <a:ext cx="0" cy="0"/>
          <a:chOff x="0" y="0"/>
          <a:chExt cx="0" cy="0"/>
        </a:xfrm>
      </p:grpSpPr>
      <p:sp>
        <p:nvSpPr>
          <p:cNvPr id="715" name="Google Shape;715;p3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6" name="Google Shape;716;p3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Why did Catalina substitute the value of </a:t>
            </a:r>
            <a:r>
              <a:rPr lang="en-US" b="0" i="1" dirty="0">
                <a:solidFill>
                  <a:srgbClr val="000000"/>
                </a:solidFill>
              </a:rPr>
              <a:t>x</a:t>
            </a:r>
            <a:r>
              <a:rPr lang="en-US" b="0" dirty="0">
                <a:solidFill>
                  <a:srgbClr val="000000"/>
                </a:solidFill>
              </a:rPr>
              <a:t> into her equation?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How was the value of </a:t>
            </a:r>
            <a:r>
              <a:rPr lang="en-US" b="0" i="1" dirty="0">
                <a:solidFill>
                  <a:srgbClr val="000000"/>
                </a:solidFill>
              </a:rPr>
              <a:t>y</a:t>
            </a:r>
            <a:r>
              <a:rPr lang="en-US" b="0" dirty="0">
                <a:solidFill>
                  <a:srgbClr val="000000"/>
                </a:solidFill>
              </a:rPr>
              <a:t> when </a:t>
            </a:r>
            <a:r>
              <a:rPr lang="en-US" b="0" i="1" dirty="0">
                <a:solidFill>
                  <a:srgbClr val="000000"/>
                </a:solidFill>
              </a:rPr>
              <a:t>x</a:t>
            </a:r>
            <a:r>
              <a:rPr lang="en-US" b="0" dirty="0">
                <a:solidFill>
                  <a:srgbClr val="000000"/>
                </a:solidFill>
              </a:rPr>
              <a:t> = 2 helpful to Catalina?</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How did Catalina know the translation was up 5 units rather than down 5 units?</a:t>
            </a:r>
          </a:p>
          <a:p>
            <a:pPr marL="0" marR="0" lvl="0" indent="0" algn="l" rtl="0">
              <a:lnSpc>
                <a:spcPct val="100000"/>
              </a:lnSpc>
              <a:spcBef>
                <a:spcPts val="0"/>
              </a:spcBef>
              <a:spcAft>
                <a:spcPts val="0"/>
              </a:spcAft>
              <a:buClr>
                <a:schemeClr val="dk1"/>
              </a:buClr>
              <a:buSzPts val="1200"/>
              <a:buFont typeface="Calibri"/>
              <a:buNone/>
            </a:pPr>
            <a:endParaRPr lang="en-US" b="0"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Reflecting and Justifying: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Why did James use both the </a:t>
            </a:r>
            <a:r>
              <a:rPr lang="en-US" b="0" i="1" dirty="0">
                <a:solidFill>
                  <a:srgbClr val="000000"/>
                </a:solidFill>
              </a:rPr>
              <a:t>x</a:t>
            </a:r>
            <a:r>
              <a:rPr lang="en-US" b="0" dirty="0">
                <a:solidFill>
                  <a:srgbClr val="000000"/>
                </a:solidFill>
              </a:rPr>
              <a:t>-value and the </a:t>
            </a:r>
            <a:r>
              <a:rPr lang="en-US" b="0" i="1" dirty="0">
                <a:solidFill>
                  <a:srgbClr val="000000"/>
                </a:solidFill>
              </a:rPr>
              <a:t>y</a:t>
            </a:r>
            <a:r>
              <a:rPr lang="en-US" b="0" dirty="0">
                <a:solidFill>
                  <a:srgbClr val="000000"/>
                </a:solidFill>
              </a:rPr>
              <a:t>-value in his substitution step, but Catalina only used the </a:t>
            </a:r>
            <a:r>
              <a:rPr lang="en-US" b="0" i="1" dirty="0">
                <a:solidFill>
                  <a:srgbClr val="000000"/>
                </a:solidFill>
              </a:rPr>
              <a:t>x</a:t>
            </a:r>
            <a:r>
              <a:rPr lang="en-US" b="0" dirty="0">
                <a:solidFill>
                  <a:srgbClr val="000000"/>
                </a:solidFill>
              </a:rPr>
              <a:t>-value in her substitution step?</a:t>
            </a:r>
          </a:p>
          <a:p>
            <a:pPr marL="0" marR="0" lvl="0" indent="0" algn="l" rtl="0">
              <a:lnSpc>
                <a:spcPct val="100000"/>
              </a:lnSpc>
              <a:spcBef>
                <a:spcPts val="0"/>
              </a:spcBef>
              <a:spcAft>
                <a:spcPts val="0"/>
              </a:spcAft>
              <a:buClr>
                <a:schemeClr val="dk1"/>
              </a:buClr>
              <a:buSzPts val="1200"/>
              <a:buFont typeface="Calibri"/>
              <a:buNone/>
            </a:pPr>
            <a:endParaRPr lang="en-US" b="0"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get the slope of your equation?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a:ea typeface="Calibri"/>
                <a:cs typeface="Calibri"/>
                <a:sym typeface="Calibri"/>
              </a:rPr>
              <a:t>How did you use the given point to write the equation of the line?</a:t>
            </a:r>
          </a:p>
          <a:p>
            <a:r>
              <a:rPr lang="en-US" b="1" dirty="0"/>
              <a:t>Q1 has no single answer; let students defend either method.</a:t>
            </a:r>
          </a:p>
        </p:txBody>
      </p:sp>
      <p:sp>
        <p:nvSpPr>
          <p:cNvPr id="717" name="Google Shape;717;p3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34</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1"/>
        <p:cNvGrpSpPr/>
        <p:nvPr/>
      </p:nvGrpSpPr>
      <p:grpSpPr>
        <a:xfrm>
          <a:off x="0" y="0"/>
          <a:ext cx="0" cy="0"/>
          <a:chOff x="0" y="0"/>
          <a:chExt cx="0" cy="0"/>
        </a:xfrm>
      </p:grpSpPr>
      <p:sp>
        <p:nvSpPr>
          <p:cNvPr id="722" name="Google Shape;722;p3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23" name="Google Shape;723;p3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1.2 Summary:</a:t>
            </a:r>
            <a:br>
              <a:rPr lang="en-US" sz="1200" b="1" dirty="0">
                <a:solidFill>
                  <a:srgbClr val="000000"/>
                </a:solidFill>
                <a:latin typeface="Calibri"/>
                <a:ea typeface="Calibri"/>
                <a:cs typeface="Calibri"/>
                <a:sym typeface="Calibri"/>
              </a:rPr>
            </a:br>
            <a:r>
              <a:rPr lang="en-US" dirty="0">
                <a:solidFill>
                  <a:srgbClr val="000000"/>
                </a:solidFill>
              </a:rPr>
              <a:t>A line and its translation are parallel to one another.</a:t>
            </a:r>
            <a:endParaRPr sz="1200" b="1" dirty="0">
              <a:solidFill>
                <a:srgbClr val="000000"/>
              </a:solidFill>
              <a:latin typeface="Calibri"/>
              <a:ea typeface="Calibri"/>
              <a:cs typeface="Calibri"/>
              <a:sym typeface="Calibri"/>
            </a:endParaRPr>
          </a:p>
        </p:txBody>
      </p:sp>
      <p:sp>
        <p:nvSpPr>
          <p:cNvPr id="724" name="Google Shape;724;p3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35</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9"/>
        <p:cNvGrpSpPr/>
        <p:nvPr/>
      </p:nvGrpSpPr>
      <p:grpSpPr>
        <a:xfrm>
          <a:off x="0" y="0"/>
          <a:ext cx="0" cy="0"/>
          <a:chOff x="0" y="0"/>
          <a:chExt cx="0" cy="0"/>
        </a:xfrm>
      </p:grpSpPr>
      <p:sp>
        <p:nvSpPr>
          <p:cNvPr id="730" name="Google Shape;730;p3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31" name="Google Shape;731;p3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732" name="Google Shape;732;p3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36</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6"/>
        <p:cNvGrpSpPr/>
        <p:nvPr/>
      </p:nvGrpSpPr>
      <p:grpSpPr>
        <a:xfrm>
          <a:off x="0" y="0"/>
          <a:ext cx="0" cy="0"/>
          <a:chOff x="0" y="0"/>
          <a:chExt cx="0" cy="0"/>
        </a:xfrm>
      </p:grpSpPr>
      <p:sp>
        <p:nvSpPr>
          <p:cNvPr id="737" name="Google Shape;737;p3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38" name="Google Shape;738;p3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20-25 minutes allotted for Activity 1.3.</a:t>
            </a:r>
            <a:endParaRPr dirty="0">
              <a:solidFill>
                <a:srgbClr val="000000"/>
              </a:solidFill>
            </a:endParaRPr>
          </a:p>
        </p:txBody>
      </p:sp>
      <p:sp>
        <p:nvSpPr>
          <p:cNvPr id="739" name="Google Shape;739;p3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37</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4"/>
        <p:cNvGrpSpPr/>
        <p:nvPr/>
      </p:nvGrpSpPr>
      <p:grpSpPr>
        <a:xfrm>
          <a:off x="0" y="0"/>
          <a:ext cx="0" cy="0"/>
          <a:chOff x="0" y="0"/>
          <a:chExt cx="0" cy="0"/>
        </a:xfrm>
      </p:grpSpPr>
      <p:sp>
        <p:nvSpPr>
          <p:cNvPr id="745" name="Google Shape;745;p3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6" name="Google Shape;746;p3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Gathering: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 this transformation called a </a:t>
            </a:r>
            <a:r>
              <a:rPr lang="en-US" i="1" dirty="0">
                <a:solidFill>
                  <a:srgbClr val="000000"/>
                </a:solidFill>
              </a:rPr>
              <a:t>vertical dilation</a:t>
            </a:r>
            <a:r>
              <a:rPr lang="en-US" dirty="0">
                <a:solidFill>
                  <a:srgbClr val="000000"/>
                </a:solidFill>
              </a:rPr>
              <a:t>?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complete the table?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is the graph affected by the dilation by a factor of 4?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you think the graph would be affected by a factor of 10?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The </a:t>
            </a:r>
            <a:r>
              <a:rPr lang="en-US" i="1" dirty="0">
                <a:solidFill>
                  <a:srgbClr val="000000"/>
                </a:solidFill>
              </a:rPr>
              <a:t>y</a:t>
            </a:r>
            <a:r>
              <a:rPr lang="en-US" dirty="0">
                <a:solidFill>
                  <a:srgbClr val="000000"/>
                </a:solidFill>
              </a:rPr>
              <a:t>-intercept?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from the equation that a dilation occurred?</a:t>
            </a:r>
            <a:endParaRPr sz="1200" b="0" dirty="0">
              <a:solidFill>
                <a:srgbClr val="000000"/>
              </a:solidFill>
              <a:latin typeface="Calibri"/>
              <a:ea typeface="Calibri"/>
              <a:cs typeface="Calibri"/>
              <a:sym typeface="Calibri"/>
            </a:endParaRPr>
          </a:p>
        </p:txBody>
      </p:sp>
      <p:sp>
        <p:nvSpPr>
          <p:cNvPr id="747" name="Google Shape;747;p3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38</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p:cNvGrpSpPr/>
        <p:nvPr/>
      </p:nvGrpSpPr>
      <p:grpSpPr>
        <a:xfrm>
          <a:off x="0" y="0"/>
          <a:ext cx="0" cy="0"/>
          <a:chOff x="0" y="0"/>
          <a:chExt cx="0" cy="0"/>
        </a:xfrm>
      </p:grpSpPr>
      <p:sp>
        <p:nvSpPr>
          <p:cNvPr id="757" name="Google Shape;757;p3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8" name="Google Shape;758;p3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Gathering: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 this transformation called a </a:t>
            </a:r>
            <a:r>
              <a:rPr lang="en-US" i="1" dirty="0">
                <a:solidFill>
                  <a:srgbClr val="000000"/>
                </a:solidFill>
              </a:rPr>
              <a:t>vertical dilation</a:t>
            </a:r>
            <a:r>
              <a:rPr lang="en-US" dirty="0">
                <a:solidFill>
                  <a:srgbClr val="000000"/>
                </a:solidFill>
              </a:rPr>
              <a: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complete the table?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is the graph affected by the dilation by a factor of 4?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you think the graph would be affected by a factor of 10?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The </a:t>
            </a:r>
            <a:r>
              <a:rPr lang="en-US" i="1" dirty="0">
                <a:solidFill>
                  <a:srgbClr val="000000"/>
                </a:solidFill>
              </a:rPr>
              <a:t>y</a:t>
            </a:r>
            <a:r>
              <a:rPr lang="en-US" dirty="0">
                <a:solidFill>
                  <a:srgbClr val="000000"/>
                </a:solidFill>
              </a:rPr>
              <a:t>-intercept?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from the equation that a dilation occurred?</a:t>
            </a:r>
            <a:endParaRPr lang="en-US" sz="1200" b="0" dirty="0">
              <a:solidFill>
                <a:srgbClr val="000000"/>
              </a:solidFill>
              <a:latin typeface="Calibri"/>
              <a:ea typeface="Calibri"/>
              <a:cs typeface="Calibri"/>
              <a:sym typeface="Calibri"/>
            </a:endParaRPr>
          </a:p>
        </p:txBody>
      </p:sp>
      <p:sp>
        <p:nvSpPr>
          <p:cNvPr id="759" name="Google Shape;759;p3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39</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4">
          <a:extLst>
            <a:ext uri="{FF2B5EF4-FFF2-40B4-BE49-F238E27FC236}">
              <a16:creationId xmlns:a16="http://schemas.microsoft.com/office/drawing/2014/main" id="{53E0CF96-86B1-4B08-7E63-15226F469362}"/>
            </a:ext>
          </a:extLst>
        </p:cNvPr>
        <p:cNvGrpSpPr/>
        <p:nvPr/>
      </p:nvGrpSpPr>
      <p:grpSpPr>
        <a:xfrm>
          <a:off x="0" y="0"/>
          <a:ext cx="0" cy="0"/>
          <a:chOff x="0" y="0"/>
          <a:chExt cx="0" cy="0"/>
        </a:xfrm>
      </p:grpSpPr>
      <p:sp>
        <p:nvSpPr>
          <p:cNvPr id="745" name="Google Shape;745;p38:notes">
            <a:extLst>
              <a:ext uri="{FF2B5EF4-FFF2-40B4-BE49-F238E27FC236}">
                <a16:creationId xmlns:a16="http://schemas.microsoft.com/office/drawing/2014/main" id="{A2FB2D6A-DECB-6326-CC77-D6154A40DC5A}"/>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6" name="Google Shape;746;p38:notes">
            <a:extLst>
              <a:ext uri="{FF2B5EF4-FFF2-40B4-BE49-F238E27FC236}">
                <a16:creationId xmlns:a16="http://schemas.microsoft.com/office/drawing/2014/main" id="{5D006947-3FB1-7109-49EA-BD9ABC5051F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p:txBody>
      </p:sp>
      <p:sp>
        <p:nvSpPr>
          <p:cNvPr id="747" name="Google Shape;747;p38:notes">
            <a:extLst>
              <a:ext uri="{FF2B5EF4-FFF2-40B4-BE49-F238E27FC236}">
                <a16:creationId xmlns:a16="http://schemas.microsoft.com/office/drawing/2014/main" id="{EC71E99B-4EDB-33CF-0B44-E75FBA261BA8}"/>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40</a:t>
            </a:fld>
            <a:endParaRPr/>
          </a:p>
        </p:txBody>
      </p:sp>
    </p:spTree>
    <p:extLst>
      <p:ext uri="{BB962C8B-B14F-4D97-AF65-F5344CB8AC3E}">
        <p14:creationId xmlns:p14="http://schemas.microsoft.com/office/powerpoint/2010/main" val="184718051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a:extLst>
            <a:ext uri="{FF2B5EF4-FFF2-40B4-BE49-F238E27FC236}">
              <a16:creationId xmlns:a16="http://schemas.microsoft.com/office/drawing/2014/main" id="{EC5C4A9B-03C8-8F51-0739-FA1CFBBA2084}"/>
            </a:ext>
          </a:extLst>
        </p:cNvPr>
        <p:cNvGrpSpPr/>
        <p:nvPr/>
      </p:nvGrpSpPr>
      <p:grpSpPr>
        <a:xfrm>
          <a:off x="0" y="0"/>
          <a:ext cx="0" cy="0"/>
          <a:chOff x="0" y="0"/>
          <a:chExt cx="0" cy="0"/>
        </a:xfrm>
      </p:grpSpPr>
      <p:sp>
        <p:nvSpPr>
          <p:cNvPr id="757" name="Google Shape;757;p39:notes">
            <a:extLst>
              <a:ext uri="{FF2B5EF4-FFF2-40B4-BE49-F238E27FC236}">
                <a16:creationId xmlns:a16="http://schemas.microsoft.com/office/drawing/2014/main" id="{4602DE6B-B410-9436-D3FD-8F7E4B0204C0}"/>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8" name="Google Shape;758;p39:notes">
            <a:extLst>
              <a:ext uri="{FF2B5EF4-FFF2-40B4-BE49-F238E27FC236}">
                <a16:creationId xmlns:a16="http://schemas.microsoft.com/office/drawing/2014/main" id="{EFA6AB1C-CEE7-345A-B5ED-326917E4383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p:txBody>
      </p:sp>
      <p:sp>
        <p:nvSpPr>
          <p:cNvPr id="759" name="Google Shape;759;p39:notes">
            <a:extLst>
              <a:ext uri="{FF2B5EF4-FFF2-40B4-BE49-F238E27FC236}">
                <a16:creationId xmlns:a16="http://schemas.microsoft.com/office/drawing/2014/main" id="{0290792E-6583-5949-2835-7B5BA1DEC337}"/>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41</a:t>
            </a:fld>
            <a:endParaRPr/>
          </a:p>
        </p:txBody>
      </p:sp>
    </p:spTree>
    <p:extLst>
      <p:ext uri="{BB962C8B-B14F-4D97-AF65-F5344CB8AC3E}">
        <p14:creationId xmlns:p14="http://schemas.microsoft.com/office/powerpoint/2010/main" val="34539911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4">
          <a:extLst>
            <a:ext uri="{FF2B5EF4-FFF2-40B4-BE49-F238E27FC236}">
              <a16:creationId xmlns:a16="http://schemas.microsoft.com/office/drawing/2014/main" id="{8603E85A-A085-2AB7-1307-5A26FBFEAB6A}"/>
            </a:ext>
          </a:extLst>
        </p:cNvPr>
        <p:cNvGrpSpPr/>
        <p:nvPr/>
      </p:nvGrpSpPr>
      <p:grpSpPr>
        <a:xfrm>
          <a:off x="0" y="0"/>
          <a:ext cx="0" cy="0"/>
          <a:chOff x="0" y="0"/>
          <a:chExt cx="0" cy="0"/>
        </a:xfrm>
      </p:grpSpPr>
      <p:sp>
        <p:nvSpPr>
          <p:cNvPr id="745" name="Google Shape;745;p38:notes">
            <a:extLst>
              <a:ext uri="{FF2B5EF4-FFF2-40B4-BE49-F238E27FC236}">
                <a16:creationId xmlns:a16="http://schemas.microsoft.com/office/drawing/2014/main" id="{D8556927-CEF9-2333-D2CF-AF6C807F28ED}"/>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6" name="Google Shape;746;p38:notes">
            <a:extLst>
              <a:ext uri="{FF2B5EF4-FFF2-40B4-BE49-F238E27FC236}">
                <a16:creationId xmlns:a16="http://schemas.microsoft.com/office/drawing/2014/main" id="{EDE80438-0B5A-EC73-8572-C4058D7C531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a:p>
            <a:pPr marL="0" lvl="0" indent="0" algn="l" rtl="0">
              <a:spcBef>
                <a:spcPts val="0"/>
              </a:spcBef>
              <a:spcAft>
                <a:spcPts val="0"/>
              </a:spcAft>
              <a:buNone/>
            </a:pPr>
            <a:endParaRPr sz="1200" b="0" dirty="0">
              <a:latin typeface="Calibri"/>
              <a:ea typeface="Calibri"/>
              <a:cs typeface="Calibri"/>
              <a:sym typeface="Calibri"/>
            </a:endParaRPr>
          </a:p>
        </p:txBody>
      </p:sp>
      <p:sp>
        <p:nvSpPr>
          <p:cNvPr id="747" name="Google Shape;747;p38:notes">
            <a:extLst>
              <a:ext uri="{FF2B5EF4-FFF2-40B4-BE49-F238E27FC236}">
                <a16:creationId xmlns:a16="http://schemas.microsoft.com/office/drawing/2014/main" id="{C64E56CB-9534-FCAF-FA73-67338F017ADD}"/>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42</a:t>
            </a:fld>
            <a:endParaRPr/>
          </a:p>
        </p:txBody>
      </p:sp>
    </p:spTree>
    <p:extLst>
      <p:ext uri="{BB962C8B-B14F-4D97-AF65-F5344CB8AC3E}">
        <p14:creationId xmlns:p14="http://schemas.microsoft.com/office/powerpoint/2010/main" val="41633211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a:extLst>
            <a:ext uri="{FF2B5EF4-FFF2-40B4-BE49-F238E27FC236}">
              <a16:creationId xmlns:a16="http://schemas.microsoft.com/office/drawing/2014/main" id="{3D5700E4-3D50-D724-1247-7FE9055258DB}"/>
            </a:ext>
          </a:extLst>
        </p:cNvPr>
        <p:cNvGrpSpPr/>
        <p:nvPr/>
      </p:nvGrpSpPr>
      <p:grpSpPr>
        <a:xfrm>
          <a:off x="0" y="0"/>
          <a:ext cx="0" cy="0"/>
          <a:chOff x="0" y="0"/>
          <a:chExt cx="0" cy="0"/>
        </a:xfrm>
      </p:grpSpPr>
      <p:sp>
        <p:nvSpPr>
          <p:cNvPr id="757" name="Google Shape;757;p39:notes">
            <a:extLst>
              <a:ext uri="{FF2B5EF4-FFF2-40B4-BE49-F238E27FC236}">
                <a16:creationId xmlns:a16="http://schemas.microsoft.com/office/drawing/2014/main" id="{B380B9C8-A3E2-2BF0-A2B5-D2C731E53B77}"/>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8" name="Google Shape;758;p39:notes">
            <a:extLst>
              <a:ext uri="{FF2B5EF4-FFF2-40B4-BE49-F238E27FC236}">
                <a16:creationId xmlns:a16="http://schemas.microsoft.com/office/drawing/2014/main" id="{A624425C-2D5C-1CE8-D37E-E4024A9E6F8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p:txBody>
      </p:sp>
      <p:sp>
        <p:nvSpPr>
          <p:cNvPr id="759" name="Google Shape;759;p39:notes">
            <a:extLst>
              <a:ext uri="{FF2B5EF4-FFF2-40B4-BE49-F238E27FC236}">
                <a16:creationId xmlns:a16="http://schemas.microsoft.com/office/drawing/2014/main" id="{9686EF86-17AF-4874-08EE-45320C458A10}"/>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43</a:t>
            </a:fld>
            <a:endParaRPr/>
          </a:p>
        </p:txBody>
      </p:sp>
    </p:spTree>
    <p:extLst>
      <p:ext uri="{BB962C8B-B14F-4D97-AF65-F5344CB8AC3E}">
        <p14:creationId xmlns:p14="http://schemas.microsoft.com/office/powerpoint/2010/main" val="402180675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8"/>
        <p:cNvGrpSpPr/>
        <p:nvPr/>
      </p:nvGrpSpPr>
      <p:grpSpPr>
        <a:xfrm>
          <a:off x="0" y="0"/>
          <a:ext cx="0" cy="0"/>
          <a:chOff x="0" y="0"/>
          <a:chExt cx="0" cy="0"/>
        </a:xfrm>
      </p:grpSpPr>
      <p:sp>
        <p:nvSpPr>
          <p:cNvPr id="779" name="Google Shape;779;p4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80" name="Google Shape;780;p4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p:txBody>
      </p:sp>
      <p:sp>
        <p:nvSpPr>
          <p:cNvPr id="781" name="Google Shape;781;p4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44</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6"/>
        <p:cNvGrpSpPr/>
        <p:nvPr/>
      </p:nvGrpSpPr>
      <p:grpSpPr>
        <a:xfrm>
          <a:off x="0" y="0"/>
          <a:ext cx="0" cy="0"/>
          <a:chOff x="0" y="0"/>
          <a:chExt cx="0" cy="0"/>
        </a:xfrm>
      </p:grpSpPr>
      <p:sp>
        <p:nvSpPr>
          <p:cNvPr id="787" name="Google Shape;787;p4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88" name="Google Shape;788;p4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Note: </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To close Day 2, have students reread the Essential Question and then read the Stamp the Learning summary aloud. </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Activity 1.3 Summary:</a:t>
            </a:r>
            <a:b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transformed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dilation of the function. When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negative, the function is reflected across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-axis.</a:t>
            </a:r>
            <a:endParaRPr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789" name="Google Shape;789;p4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45</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4"/>
        <p:cNvGrpSpPr/>
        <p:nvPr/>
      </p:nvGrpSpPr>
      <p:grpSpPr>
        <a:xfrm>
          <a:off x="0" y="0"/>
          <a:ext cx="0" cy="0"/>
          <a:chOff x="0" y="0"/>
          <a:chExt cx="0" cy="0"/>
        </a:xfrm>
      </p:grpSpPr>
      <p:sp>
        <p:nvSpPr>
          <p:cNvPr id="795" name="Google Shape;795;p4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96" name="Google Shape;796;p4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797" name="Google Shape;797;p4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46</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1"/>
        <p:cNvGrpSpPr/>
        <p:nvPr/>
      </p:nvGrpSpPr>
      <p:grpSpPr>
        <a:xfrm>
          <a:off x="0" y="0"/>
          <a:ext cx="0" cy="0"/>
          <a:chOff x="0" y="0"/>
          <a:chExt cx="0" cy="0"/>
        </a:xfrm>
      </p:grpSpPr>
      <p:sp>
        <p:nvSpPr>
          <p:cNvPr id="802" name="Google Shape;802;p4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03" name="Google Shape;803;p4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Total suggested pacing for Day 3 is 45 minutes.</a:t>
            </a:r>
            <a:endParaRPr dirty="0">
              <a:solidFill>
                <a:srgbClr val="000000"/>
              </a:solidFill>
            </a:endParaRPr>
          </a:p>
        </p:txBody>
      </p:sp>
      <p:sp>
        <p:nvSpPr>
          <p:cNvPr id="804" name="Google Shape;804;p4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47</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8"/>
        <p:cNvGrpSpPr/>
        <p:nvPr/>
      </p:nvGrpSpPr>
      <p:grpSpPr>
        <a:xfrm>
          <a:off x="0" y="0"/>
          <a:ext cx="0" cy="0"/>
          <a:chOff x="0" y="0"/>
          <a:chExt cx="0" cy="0"/>
        </a:xfrm>
      </p:grpSpPr>
      <p:sp>
        <p:nvSpPr>
          <p:cNvPr id="809" name="Google Shape;809;p4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10" name="Google Shape;810;p4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 begin Day 3, have a student read the Essential Question aloud.</a:t>
            </a: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endParaRPr sz="1200" b="1" dirty="0">
              <a:latin typeface="Calibri"/>
              <a:ea typeface="Calibri"/>
              <a:cs typeface="Calibri"/>
              <a:sym typeface="Calibri"/>
            </a:endParaRPr>
          </a:p>
        </p:txBody>
      </p:sp>
      <p:sp>
        <p:nvSpPr>
          <p:cNvPr id="811" name="Google Shape;811;p4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48</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5"/>
        <p:cNvGrpSpPr/>
        <p:nvPr/>
      </p:nvGrpSpPr>
      <p:grpSpPr>
        <a:xfrm>
          <a:off x="0" y="0"/>
          <a:ext cx="0" cy="0"/>
          <a:chOff x="0" y="0"/>
          <a:chExt cx="0" cy="0"/>
        </a:xfrm>
      </p:grpSpPr>
      <p:sp>
        <p:nvSpPr>
          <p:cNvPr id="816" name="Google Shape;816;p4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17" name="Google Shape;817;p4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1.4.</a:t>
            </a:r>
            <a:endParaRPr dirty="0">
              <a:solidFill>
                <a:srgbClr val="000000"/>
              </a:solidFill>
            </a:endParaRPr>
          </a:p>
        </p:txBody>
      </p:sp>
      <p:sp>
        <p:nvSpPr>
          <p:cNvPr id="818" name="Google Shape;818;p4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49</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3"/>
        <p:cNvGrpSpPr/>
        <p:nvPr/>
      </p:nvGrpSpPr>
      <p:grpSpPr>
        <a:xfrm>
          <a:off x="0" y="0"/>
          <a:ext cx="0" cy="0"/>
          <a:chOff x="0" y="0"/>
          <a:chExt cx="0" cy="0"/>
        </a:xfrm>
      </p:grpSpPr>
      <p:sp>
        <p:nvSpPr>
          <p:cNvPr id="824" name="Google Shape;824;p4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25" name="Google Shape;825;p4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rewrite the function in general form?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graph the line? Explain your process.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Is the transformed graph a vertical stretch or compression? How can you tell from the equation and graph?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ordered pair in the transformed function corresponds to (1, 1) in the original function?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an </a:t>
            </a:r>
            <a:r>
              <a:rPr lang="en-US" i="1" dirty="0">
                <a:solidFill>
                  <a:srgbClr val="000000"/>
                </a:solidFill>
              </a:rPr>
              <a:t>a</a:t>
            </a:r>
            <a:r>
              <a:rPr lang="en-US" dirty="0">
                <a:solidFill>
                  <a:srgbClr val="000000"/>
                </a:solidFill>
              </a:rPr>
              <a:t>-value greater than 1? An </a:t>
            </a:r>
            <a:r>
              <a:rPr lang="en-US" i="1" dirty="0">
                <a:solidFill>
                  <a:srgbClr val="000000"/>
                </a:solidFill>
              </a:rPr>
              <a:t>a</a:t>
            </a:r>
            <a:r>
              <a:rPr lang="en-US" dirty="0">
                <a:solidFill>
                  <a:srgbClr val="000000"/>
                </a:solidFill>
              </a:rPr>
              <a:t>-value between 0 and 1? A negative </a:t>
            </a:r>
            <a:r>
              <a:rPr lang="en-US" i="1" dirty="0">
                <a:solidFill>
                  <a:srgbClr val="000000"/>
                </a:solidFill>
              </a:rPr>
              <a:t>a</a:t>
            </a:r>
            <a:r>
              <a:rPr lang="en-US" dirty="0">
                <a:solidFill>
                  <a:srgbClr val="000000"/>
                </a:solidFill>
              </a:rPr>
              <a:t>-value?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describe the effects using the terms </a:t>
            </a:r>
            <a:r>
              <a:rPr lang="en-US" i="1" dirty="0">
                <a:solidFill>
                  <a:srgbClr val="000000"/>
                </a:solidFill>
              </a:rPr>
              <a:t>vertical stretch </a:t>
            </a:r>
            <a:r>
              <a:rPr lang="en-US" dirty="0">
                <a:solidFill>
                  <a:srgbClr val="000000"/>
                </a:solidFill>
              </a:rPr>
              <a:t>and </a:t>
            </a:r>
            <a:r>
              <a:rPr lang="en-US" i="1" dirty="0">
                <a:solidFill>
                  <a:srgbClr val="000000"/>
                </a:solidFill>
              </a:rPr>
              <a:t>vertical compression</a:t>
            </a:r>
            <a:r>
              <a:rPr lang="en-US" dirty="0">
                <a:solidFill>
                  <a:srgbClr val="000000"/>
                </a:solidFill>
              </a:rPr>
              <a:t>?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 </a:t>
            </a:r>
            <a:r>
              <a:rPr lang="en-US" i="1" dirty="0">
                <a:solidFill>
                  <a:srgbClr val="000000"/>
                </a:solidFill>
              </a:rPr>
              <a:t>d</a:t>
            </a:r>
            <a:r>
              <a:rPr lang="en-US" dirty="0">
                <a:solidFill>
                  <a:srgbClr val="000000"/>
                </a:solidFill>
              </a:rPr>
              <a:t>-value greater than 1? A </a:t>
            </a:r>
            <a:r>
              <a:rPr lang="en-US" i="1" dirty="0">
                <a:solidFill>
                  <a:srgbClr val="000000"/>
                </a:solidFill>
              </a:rPr>
              <a:t>d</a:t>
            </a:r>
            <a:r>
              <a:rPr lang="en-US" dirty="0">
                <a:solidFill>
                  <a:srgbClr val="000000"/>
                </a:solidFill>
              </a:rPr>
              <a:t>-value less than 1?</a:t>
            </a:r>
            <a:endParaRPr sz="1200" dirty="0">
              <a:solidFill>
                <a:srgbClr val="000000"/>
              </a:solidFill>
              <a:latin typeface="Calibri"/>
              <a:ea typeface="Calibri"/>
              <a:cs typeface="Calibri"/>
              <a:sym typeface="Calibri"/>
            </a:endParaRPr>
          </a:p>
          <a:p>
            <a:r>
              <a:rPr lang="en-US" b="1" dirty="0"/>
              <a:t>Slide typo: the second item is labeled 'a.'; it is item b.</a:t>
            </a:r>
          </a:p>
        </p:txBody>
      </p:sp>
      <p:sp>
        <p:nvSpPr>
          <p:cNvPr id="826" name="Google Shape;826;p4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50</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3">
          <a:extLst>
            <a:ext uri="{FF2B5EF4-FFF2-40B4-BE49-F238E27FC236}">
              <a16:creationId xmlns:a16="http://schemas.microsoft.com/office/drawing/2014/main" id="{82B08B0E-A76E-C4F8-1CF1-1D76781D6041}"/>
            </a:ext>
          </a:extLst>
        </p:cNvPr>
        <p:cNvGrpSpPr/>
        <p:nvPr/>
      </p:nvGrpSpPr>
      <p:grpSpPr>
        <a:xfrm>
          <a:off x="0" y="0"/>
          <a:ext cx="0" cy="0"/>
          <a:chOff x="0" y="0"/>
          <a:chExt cx="0" cy="0"/>
        </a:xfrm>
      </p:grpSpPr>
      <p:sp>
        <p:nvSpPr>
          <p:cNvPr id="824" name="Google Shape;824;p47:notes">
            <a:extLst>
              <a:ext uri="{FF2B5EF4-FFF2-40B4-BE49-F238E27FC236}">
                <a16:creationId xmlns:a16="http://schemas.microsoft.com/office/drawing/2014/main" id="{5EB1116F-37CC-9623-96EE-57A6B8D800F4}"/>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25" name="Google Shape;825;p47:notes">
            <a:extLst>
              <a:ext uri="{FF2B5EF4-FFF2-40B4-BE49-F238E27FC236}">
                <a16:creationId xmlns:a16="http://schemas.microsoft.com/office/drawing/2014/main" id="{C5629509-E7D1-8652-6A7A-45DDEDAAE95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rewrite the function in general form?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graph the line? Explain your process.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Is the transformed graph a vertical stretch or compression? How can you tell from the equation and graph?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ordered pair in the transformed function corresponds to (1, 1) in the original function?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an </a:t>
            </a:r>
            <a:r>
              <a:rPr lang="en-US" i="1" dirty="0">
                <a:solidFill>
                  <a:srgbClr val="000000"/>
                </a:solidFill>
              </a:rPr>
              <a:t>a</a:t>
            </a:r>
            <a:r>
              <a:rPr lang="en-US" dirty="0">
                <a:solidFill>
                  <a:srgbClr val="000000"/>
                </a:solidFill>
              </a:rPr>
              <a:t>-value greater than 1? An </a:t>
            </a:r>
            <a:r>
              <a:rPr lang="en-US" i="1" dirty="0">
                <a:solidFill>
                  <a:srgbClr val="000000"/>
                </a:solidFill>
              </a:rPr>
              <a:t>a</a:t>
            </a:r>
            <a:r>
              <a:rPr lang="en-US" dirty="0">
                <a:solidFill>
                  <a:srgbClr val="000000"/>
                </a:solidFill>
              </a:rPr>
              <a:t>-value between 0 and 1? A negative </a:t>
            </a:r>
            <a:r>
              <a:rPr lang="en-US" i="1" dirty="0">
                <a:solidFill>
                  <a:srgbClr val="000000"/>
                </a:solidFill>
              </a:rPr>
              <a:t>a</a:t>
            </a:r>
            <a:r>
              <a:rPr lang="en-US" dirty="0">
                <a:solidFill>
                  <a:srgbClr val="000000"/>
                </a:solidFill>
              </a:rPr>
              <a:t>-value?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describe the effects using the terms </a:t>
            </a:r>
            <a:r>
              <a:rPr lang="en-US" i="1" dirty="0">
                <a:solidFill>
                  <a:srgbClr val="000000"/>
                </a:solidFill>
              </a:rPr>
              <a:t>vertical stretch </a:t>
            </a:r>
            <a:r>
              <a:rPr lang="en-US" dirty="0">
                <a:solidFill>
                  <a:srgbClr val="000000"/>
                </a:solidFill>
              </a:rPr>
              <a:t>and </a:t>
            </a:r>
            <a:r>
              <a:rPr lang="en-US" i="1" dirty="0">
                <a:solidFill>
                  <a:srgbClr val="000000"/>
                </a:solidFill>
              </a:rPr>
              <a:t>vertical compression</a:t>
            </a:r>
            <a:r>
              <a:rPr lang="en-US" dirty="0">
                <a:solidFill>
                  <a:srgbClr val="000000"/>
                </a:solidFill>
              </a:rPr>
              <a:t>?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 </a:t>
            </a:r>
            <a:r>
              <a:rPr lang="en-US" i="1" dirty="0">
                <a:solidFill>
                  <a:srgbClr val="000000"/>
                </a:solidFill>
              </a:rPr>
              <a:t>d</a:t>
            </a:r>
            <a:r>
              <a:rPr lang="en-US" dirty="0">
                <a:solidFill>
                  <a:srgbClr val="000000"/>
                </a:solidFill>
              </a:rPr>
              <a:t>-value greater than 1? A </a:t>
            </a:r>
            <a:r>
              <a:rPr lang="en-US" i="1" dirty="0">
                <a:solidFill>
                  <a:srgbClr val="000000"/>
                </a:solidFill>
              </a:rPr>
              <a:t>d</a:t>
            </a:r>
            <a:r>
              <a:rPr lang="en-US" dirty="0">
                <a:solidFill>
                  <a:srgbClr val="000000"/>
                </a:solidFill>
              </a:rPr>
              <a:t>-value less than 1?</a:t>
            </a:r>
            <a:endParaRPr lang="en-US" sz="1200" dirty="0">
              <a:solidFill>
                <a:srgbClr val="000000"/>
              </a:solidFill>
              <a:latin typeface="Calibri"/>
              <a:ea typeface="Calibri"/>
              <a:cs typeface="Calibri"/>
              <a:sym typeface="Calibri"/>
            </a:endParaRPr>
          </a:p>
        </p:txBody>
      </p:sp>
      <p:sp>
        <p:nvSpPr>
          <p:cNvPr id="826" name="Google Shape;826;p47:notes">
            <a:extLst>
              <a:ext uri="{FF2B5EF4-FFF2-40B4-BE49-F238E27FC236}">
                <a16:creationId xmlns:a16="http://schemas.microsoft.com/office/drawing/2014/main" id="{76E2DC9C-5996-347F-7FF5-C48533C73D9D}"/>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51</a:t>
            </a:fld>
            <a:endParaRPr/>
          </a:p>
        </p:txBody>
      </p:sp>
    </p:spTree>
    <p:extLst>
      <p:ext uri="{BB962C8B-B14F-4D97-AF65-F5344CB8AC3E}">
        <p14:creationId xmlns:p14="http://schemas.microsoft.com/office/powerpoint/2010/main" val="356002247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3">
          <a:extLst>
            <a:ext uri="{FF2B5EF4-FFF2-40B4-BE49-F238E27FC236}">
              <a16:creationId xmlns:a16="http://schemas.microsoft.com/office/drawing/2014/main" id="{D6246EF5-CB01-119C-D525-03FAAC693D0A}"/>
            </a:ext>
          </a:extLst>
        </p:cNvPr>
        <p:cNvGrpSpPr/>
        <p:nvPr/>
      </p:nvGrpSpPr>
      <p:grpSpPr>
        <a:xfrm>
          <a:off x="0" y="0"/>
          <a:ext cx="0" cy="0"/>
          <a:chOff x="0" y="0"/>
          <a:chExt cx="0" cy="0"/>
        </a:xfrm>
      </p:grpSpPr>
      <p:sp>
        <p:nvSpPr>
          <p:cNvPr id="824" name="Google Shape;824;p47:notes">
            <a:extLst>
              <a:ext uri="{FF2B5EF4-FFF2-40B4-BE49-F238E27FC236}">
                <a16:creationId xmlns:a16="http://schemas.microsoft.com/office/drawing/2014/main" id="{01F8AA91-C2B0-CC73-2FA0-08C19505657A}"/>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25" name="Google Shape;825;p47:notes">
            <a:extLst>
              <a:ext uri="{FF2B5EF4-FFF2-40B4-BE49-F238E27FC236}">
                <a16:creationId xmlns:a16="http://schemas.microsoft.com/office/drawing/2014/main" id="{67A468B6-C338-B6C4-95D7-F5BC6C86C65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rewrite the function in general form?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graph the line? Explain your process.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Is the transformed graph a vertical stretch or compression? How can you tell from the equation and graph?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ordered pair in the transformed function corresponds to (1, 1) in the original function?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an </a:t>
            </a:r>
            <a:r>
              <a:rPr lang="en-US" i="1" dirty="0">
                <a:solidFill>
                  <a:srgbClr val="000000"/>
                </a:solidFill>
              </a:rPr>
              <a:t>a</a:t>
            </a:r>
            <a:r>
              <a:rPr lang="en-US" dirty="0">
                <a:solidFill>
                  <a:srgbClr val="000000"/>
                </a:solidFill>
              </a:rPr>
              <a:t>-value greater than 1? An </a:t>
            </a:r>
            <a:r>
              <a:rPr lang="en-US" i="1" dirty="0">
                <a:solidFill>
                  <a:srgbClr val="000000"/>
                </a:solidFill>
              </a:rPr>
              <a:t>a</a:t>
            </a:r>
            <a:r>
              <a:rPr lang="en-US" dirty="0">
                <a:solidFill>
                  <a:srgbClr val="000000"/>
                </a:solidFill>
              </a:rPr>
              <a:t>-value between 0 and 1? A negative </a:t>
            </a:r>
            <a:r>
              <a:rPr lang="en-US" i="1" dirty="0">
                <a:solidFill>
                  <a:srgbClr val="000000"/>
                </a:solidFill>
              </a:rPr>
              <a:t>a</a:t>
            </a:r>
            <a:r>
              <a:rPr lang="en-US" dirty="0">
                <a:solidFill>
                  <a:srgbClr val="000000"/>
                </a:solidFill>
              </a:rPr>
              <a:t>-value?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describe the effects using the terms </a:t>
            </a:r>
            <a:r>
              <a:rPr lang="en-US" i="1" dirty="0">
                <a:solidFill>
                  <a:srgbClr val="000000"/>
                </a:solidFill>
              </a:rPr>
              <a:t>vertical stretch </a:t>
            </a:r>
            <a:r>
              <a:rPr lang="en-US" dirty="0">
                <a:solidFill>
                  <a:srgbClr val="000000"/>
                </a:solidFill>
              </a:rPr>
              <a:t>and </a:t>
            </a:r>
            <a:r>
              <a:rPr lang="en-US" i="1" dirty="0">
                <a:solidFill>
                  <a:srgbClr val="000000"/>
                </a:solidFill>
              </a:rPr>
              <a:t>vertical compression</a:t>
            </a:r>
            <a:r>
              <a:rPr lang="en-US" dirty="0">
                <a:solidFill>
                  <a:srgbClr val="000000"/>
                </a:solidFill>
              </a:rPr>
              <a:t>?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 </a:t>
            </a:r>
            <a:r>
              <a:rPr lang="en-US" i="1" dirty="0">
                <a:solidFill>
                  <a:srgbClr val="000000"/>
                </a:solidFill>
              </a:rPr>
              <a:t>d</a:t>
            </a:r>
            <a:r>
              <a:rPr lang="en-US" dirty="0">
                <a:solidFill>
                  <a:srgbClr val="000000"/>
                </a:solidFill>
              </a:rPr>
              <a:t>-value greater than 1? A </a:t>
            </a:r>
            <a:r>
              <a:rPr lang="en-US" i="1" dirty="0">
                <a:solidFill>
                  <a:srgbClr val="000000"/>
                </a:solidFill>
              </a:rPr>
              <a:t>d</a:t>
            </a:r>
            <a:r>
              <a:rPr lang="en-US" dirty="0">
                <a:solidFill>
                  <a:srgbClr val="000000"/>
                </a:solidFill>
              </a:rPr>
              <a:t>-value less than 1?</a:t>
            </a:r>
            <a:endParaRPr lang="en-US" sz="1200" dirty="0">
              <a:solidFill>
                <a:srgbClr val="000000"/>
              </a:solidFill>
              <a:latin typeface="Calibri"/>
              <a:ea typeface="Calibri"/>
              <a:cs typeface="Calibri"/>
              <a:sym typeface="Calibri"/>
            </a:endParaRPr>
          </a:p>
          <a:p>
            <a:r>
              <a:rPr lang="en-US" b="1" dirty="0"/>
              <a:t>Slide typo: the first item is labeled 'a.'; it is item e.</a:t>
            </a:r>
          </a:p>
        </p:txBody>
      </p:sp>
      <p:sp>
        <p:nvSpPr>
          <p:cNvPr id="826" name="Google Shape;826;p47:notes">
            <a:extLst>
              <a:ext uri="{FF2B5EF4-FFF2-40B4-BE49-F238E27FC236}">
                <a16:creationId xmlns:a16="http://schemas.microsoft.com/office/drawing/2014/main" id="{52533098-D29F-E37F-B3F6-37C90A491881}"/>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52</a:t>
            </a:fld>
            <a:endParaRPr/>
          </a:p>
        </p:txBody>
      </p:sp>
    </p:spTree>
    <p:extLst>
      <p:ext uri="{BB962C8B-B14F-4D97-AF65-F5344CB8AC3E}">
        <p14:creationId xmlns:p14="http://schemas.microsoft.com/office/powerpoint/2010/main" val="28264797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8"/>
        <p:cNvGrpSpPr/>
        <p:nvPr/>
      </p:nvGrpSpPr>
      <p:grpSpPr>
        <a:xfrm>
          <a:off x="0" y="0"/>
          <a:ext cx="0" cy="0"/>
          <a:chOff x="0" y="0"/>
          <a:chExt cx="0" cy="0"/>
        </a:xfrm>
      </p:grpSpPr>
      <p:sp>
        <p:nvSpPr>
          <p:cNvPr id="859" name="Google Shape;859;p5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0" name="Google Shape;860;p5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rewrite the function in general form?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graph the line? Explain your process.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Is the transformed graph a vertical stretch or compression? How can you tell from the equation and graph?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ordered pair in the transformed function corresponds to (1, 1) in the original function?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an </a:t>
            </a:r>
            <a:r>
              <a:rPr lang="en-US" i="1" dirty="0">
                <a:solidFill>
                  <a:srgbClr val="000000"/>
                </a:solidFill>
              </a:rPr>
              <a:t>a</a:t>
            </a:r>
            <a:r>
              <a:rPr lang="en-US" dirty="0">
                <a:solidFill>
                  <a:srgbClr val="000000"/>
                </a:solidFill>
              </a:rPr>
              <a:t>-value greater than 1? An </a:t>
            </a:r>
            <a:r>
              <a:rPr lang="en-US" i="1" dirty="0">
                <a:solidFill>
                  <a:srgbClr val="000000"/>
                </a:solidFill>
              </a:rPr>
              <a:t>a</a:t>
            </a:r>
            <a:r>
              <a:rPr lang="en-US" dirty="0">
                <a:solidFill>
                  <a:srgbClr val="000000"/>
                </a:solidFill>
              </a:rPr>
              <a:t>-value between 0 and 1? A negative </a:t>
            </a:r>
            <a:r>
              <a:rPr lang="en-US" i="1" dirty="0">
                <a:solidFill>
                  <a:srgbClr val="000000"/>
                </a:solidFill>
              </a:rPr>
              <a:t>a</a:t>
            </a:r>
            <a:r>
              <a:rPr lang="en-US" dirty="0">
                <a:solidFill>
                  <a:srgbClr val="000000"/>
                </a:solidFill>
              </a:rPr>
              <a:t>-value?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describe the effects using the terms </a:t>
            </a:r>
            <a:r>
              <a:rPr lang="en-US" i="1" dirty="0">
                <a:solidFill>
                  <a:srgbClr val="000000"/>
                </a:solidFill>
              </a:rPr>
              <a:t>vertical stretch </a:t>
            </a:r>
            <a:r>
              <a:rPr lang="en-US" dirty="0">
                <a:solidFill>
                  <a:srgbClr val="000000"/>
                </a:solidFill>
              </a:rPr>
              <a:t>and </a:t>
            </a:r>
            <a:r>
              <a:rPr lang="en-US" i="1" dirty="0">
                <a:solidFill>
                  <a:srgbClr val="000000"/>
                </a:solidFill>
              </a:rPr>
              <a:t>vertical compression</a:t>
            </a:r>
            <a:r>
              <a:rPr lang="en-US" dirty="0">
                <a:solidFill>
                  <a:srgbClr val="000000"/>
                </a:solidFill>
              </a:rPr>
              <a:t>?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 </a:t>
            </a:r>
            <a:r>
              <a:rPr lang="en-US" i="1" dirty="0">
                <a:solidFill>
                  <a:srgbClr val="000000"/>
                </a:solidFill>
              </a:rPr>
              <a:t>d</a:t>
            </a:r>
            <a:r>
              <a:rPr lang="en-US" dirty="0">
                <a:solidFill>
                  <a:srgbClr val="000000"/>
                </a:solidFill>
              </a:rPr>
              <a:t>-value greater than 1? A </a:t>
            </a:r>
            <a:r>
              <a:rPr lang="en-US" i="1" dirty="0">
                <a:solidFill>
                  <a:srgbClr val="000000"/>
                </a:solidFill>
              </a:rPr>
              <a:t>d</a:t>
            </a:r>
            <a:r>
              <a:rPr lang="en-US" dirty="0">
                <a:solidFill>
                  <a:srgbClr val="000000"/>
                </a:solidFill>
              </a:rPr>
              <a:t>-value less than 1?</a:t>
            </a:r>
            <a:endParaRPr lang="en-US" sz="1200" dirty="0">
              <a:solidFill>
                <a:srgbClr val="000000"/>
              </a:solidFill>
              <a:latin typeface="Calibri"/>
              <a:ea typeface="Calibri"/>
              <a:cs typeface="Calibri"/>
              <a:sym typeface="Calibri"/>
            </a:endParaRPr>
          </a:p>
          <a:p>
            <a:r>
              <a:rPr lang="en-US" b="1" dirty="0"/>
              <a:t>TE correction (part a): the TE says the slope 'increases' when a &gt; 1 or a &lt; −1 and 'decreases' between −1 and 1. That describes steepness, not slope: for a = −3 the slope is −3. For f(x) = x the new slope is a.</a:t>
            </a:r>
          </a:p>
        </p:txBody>
      </p:sp>
      <p:sp>
        <p:nvSpPr>
          <p:cNvPr id="861" name="Google Shape;861;p5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53</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6"/>
        <p:cNvGrpSpPr/>
        <p:nvPr/>
      </p:nvGrpSpPr>
      <p:grpSpPr>
        <a:xfrm>
          <a:off x="0" y="0"/>
          <a:ext cx="0" cy="0"/>
          <a:chOff x="0" y="0"/>
          <a:chExt cx="0" cy="0"/>
        </a:xfrm>
      </p:grpSpPr>
      <p:sp>
        <p:nvSpPr>
          <p:cNvPr id="867" name="Google Shape;867;p5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8" name="Google Shape;868;p5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Activity 1.4 Summary:</a:t>
            </a:r>
            <a:b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When a function is both translated and stretched vertically, the resulting function can be written in the form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𝑎 ∙ 𝑓(𝑥) + 𝑑</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where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𝑑</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represents the vertical translation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𝑎</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represents the vertical dilation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9" name="Google Shape;869;p5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54</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4"/>
        <p:cNvGrpSpPr/>
        <p:nvPr/>
      </p:nvGrpSpPr>
      <p:grpSpPr>
        <a:xfrm>
          <a:off x="0" y="0"/>
          <a:ext cx="0" cy="0"/>
          <a:chOff x="0" y="0"/>
          <a:chExt cx="0" cy="0"/>
        </a:xfrm>
      </p:grpSpPr>
      <p:sp>
        <p:nvSpPr>
          <p:cNvPr id="875" name="Google Shape;875;p5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76" name="Google Shape;876;p5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877" name="Google Shape;877;p5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55</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1"/>
        <p:cNvGrpSpPr/>
        <p:nvPr/>
      </p:nvGrpSpPr>
      <p:grpSpPr>
        <a:xfrm>
          <a:off x="0" y="0"/>
          <a:ext cx="0" cy="0"/>
          <a:chOff x="0" y="0"/>
          <a:chExt cx="0" cy="0"/>
        </a:xfrm>
      </p:grpSpPr>
      <p:sp>
        <p:nvSpPr>
          <p:cNvPr id="882" name="Google Shape;882;p5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83" name="Google Shape;883;p5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1.5.</a:t>
            </a:r>
            <a:endParaRPr dirty="0">
              <a:solidFill>
                <a:srgbClr val="000000"/>
              </a:solidFill>
            </a:endParaRPr>
          </a:p>
        </p:txBody>
      </p:sp>
      <p:sp>
        <p:nvSpPr>
          <p:cNvPr id="884" name="Google Shape;884;p5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56</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9"/>
        <p:cNvGrpSpPr/>
        <p:nvPr/>
      </p:nvGrpSpPr>
      <p:grpSpPr>
        <a:xfrm>
          <a:off x="0" y="0"/>
          <a:ext cx="0" cy="0"/>
          <a:chOff x="0" y="0"/>
          <a:chExt cx="0" cy="0"/>
        </a:xfrm>
      </p:grpSpPr>
      <p:sp>
        <p:nvSpPr>
          <p:cNvPr id="890" name="Google Shape;890;p5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91" name="Google Shape;891;p5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p:txBody>
      </p:sp>
      <p:sp>
        <p:nvSpPr>
          <p:cNvPr id="892" name="Google Shape;892;p5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57</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7"/>
        <p:cNvGrpSpPr/>
        <p:nvPr/>
      </p:nvGrpSpPr>
      <p:grpSpPr>
        <a:xfrm>
          <a:off x="0" y="0"/>
          <a:ext cx="0" cy="0"/>
          <a:chOff x="0" y="0"/>
          <a:chExt cx="0" cy="0"/>
        </a:xfrm>
      </p:grpSpPr>
      <p:sp>
        <p:nvSpPr>
          <p:cNvPr id="898" name="Google Shape;898;p5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99" name="Google Shape;899;p5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p:txBody>
      </p:sp>
      <p:sp>
        <p:nvSpPr>
          <p:cNvPr id="900" name="Google Shape;900;p5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58</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5"/>
        <p:cNvGrpSpPr/>
        <p:nvPr/>
      </p:nvGrpSpPr>
      <p:grpSpPr>
        <a:xfrm>
          <a:off x="0" y="0"/>
          <a:ext cx="0" cy="0"/>
          <a:chOff x="0" y="0"/>
          <a:chExt cx="0" cy="0"/>
        </a:xfrm>
      </p:grpSpPr>
      <p:sp>
        <p:nvSpPr>
          <p:cNvPr id="906" name="Google Shape;906;p5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07" name="Google Shape;907;p5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write an equation to change the cannon’s angle? The cannon’s location on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-axis?</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What are the approximate coordinates of the target in Quadrant I?</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could you hit the targets with horizontal lines?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For Version B, why is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 the same every time?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For Version B, how did you identify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 that would hit the target?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When using Version C, how did you know when you needed a negative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version of the game uses only a translation?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version of the game uses only a dilation?</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8" name="Google Shape;908;p5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59</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2"/>
        <p:cNvGrpSpPr/>
        <p:nvPr/>
      </p:nvGrpSpPr>
      <p:grpSpPr>
        <a:xfrm>
          <a:off x="0" y="0"/>
          <a:ext cx="0" cy="0"/>
          <a:chOff x="0" y="0"/>
          <a:chExt cx="0" cy="0"/>
        </a:xfrm>
      </p:grpSpPr>
      <p:sp>
        <p:nvSpPr>
          <p:cNvPr id="913" name="Google Shape;913;p5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14" name="Google Shape;914;p5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write an equation to change the cannon’s angle? The cannon’s location on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-axis?</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What are the approximate coordinates of the target in Quadrant I?</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could you hit the targets with horizontal lines?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For Version B, why is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 the same every time?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For Version B, how did you identify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 that would hit the target?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When using Version C, how did you know when you needed a negative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version of the game uses only a translation?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version of the game uses only a dilation?</a:t>
            </a:r>
            <a:endParaRPr sz="1200" dirty="0">
              <a:solidFill>
                <a:srgbClr val="000000"/>
              </a:solidFill>
              <a:latin typeface="Calibri"/>
              <a:ea typeface="Calibri"/>
              <a:cs typeface="Calibri"/>
              <a:sym typeface="Calibri"/>
            </a:endParaRPr>
          </a:p>
          <a:p>
            <a:r>
              <a:rPr lang="en-US" b="1" dirty="0"/>
              <a:t>The targets, read from the picture as the TE does: (−4, 6), (5, 4), (1, −3), (−5, 1). Other answers: Version B also a = 1, d = 10; a = −1, d = 9; a = 1, d = −4; a = 1, d = 6. TE correction: for the lower Quadrant II target the TE's alternative a = 1, d = 4 gives y = x + 4, which misses (−5, 1); it is d = 6. The TE's Version C slope −6/4 simplifies to −3/2.</a:t>
            </a:r>
          </a:p>
        </p:txBody>
      </p:sp>
      <p:sp>
        <p:nvSpPr>
          <p:cNvPr id="915" name="Google Shape;915;p5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60</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1"/>
        <p:cNvGrpSpPr/>
        <p:nvPr/>
      </p:nvGrpSpPr>
      <p:grpSpPr>
        <a:xfrm>
          <a:off x="0" y="0"/>
          <a:ext cx="0" cy="0"/>
          <a:chOff x="0" y="0"/>
          <a:chExt cx="0" cy="0"/>
        </a:xfrm>
      </p:grpSpPr>
      <p:sp>
        <p:nvSpPr>
          <p:cNvPr id="922" name="Google Shape;922;p5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23" name="Google Shape;923;p5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1.5 Summary:</a:t>
            </a:r>
            <a:br>
              <a:rPr lang="en-US" sz="1200" b="1" dirty="0">
                <a:solidFill>
                  <a:srgbClr val="000000"/>
                </a:solidFill>
                <a:latin typeface="Calibri"/>
                <a:ea typeface="Calibri"/>
                <a:cs typeface="Calibri"/>
                <a:sym typeface="Calibri"/>
              </a:rPr>
            </a:br>
            <a:r>
              <a:rPr lang="en-US" dirty="0">
                <a:solidFill>
                  <a:srgbClr val="000000"/>
                </a:solidFill>
              </a:rPr>
              <a:t>Linear function transformations are used in real-life situations.</a:t>
            </a:r>
            <a:endParaRPr sz="1200" b="1" dirty="0">
              <a:solidFill>
                <a:srgbClr val="000000"/>
              </a:solidFill>
              <a:latin typeface="Calibri"/>
              <a:ea typeface="Calibri"/>
              <a:cs typeface="Calibri"/>
              <a:sym typeface="Calibri"/>
            </a:endParaRPr>
          </a:p>
        </p:txBody>
      </p:sp>
      <p:sp>
        <p:nvSpPr>
          <p:cNvPr id="924" name="Google Shape;924;p5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61</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9"/>
        <p:cNvGrpSpPr/>
        <p:nvPr/>
      </p:nvGrpSpPr>
      <p:grpSpPr>
        <a:xfrm>
          <a:off x="0" y="0"/>
          <a:ext cx="0" cy="0"/>
          <a:chOff x="0" y="0"/>
          <a:chExt cx="0" cy="0"/>
        </a:xfrm>
      </p:grpSpPr>
      <p:sp>
        <p:nvSpPr>
          <p:cNvPr id="930" name="Google Shape;930;p5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31" name="Google Shape;931;p5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932" name="Google Shape;932;p5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62</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6"/>
        <p:cNvGrpSpPr/>
        <p:nvPr/>
      </p:nvGrpSpPr>
      <p:grpSpPr>
        <a:xfrm>
          <a:off x="0" y="0"/>
          <a:ext cx="0" cy="0"/>
          <a:chOff x="0" y="0"/>
          <a:chExt cx="0" cy="0"/>
        </a:xfrm>
      </p:grpSpPr>
      <p:sp>
        <p:nvSpPr>
          <p:cNvPr id="937" name="Google Shape;937;p6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38" name="Google Shape;938;p6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5 minutes allotted for the Talk the Talk.</a:t>
            </a:r>
            <a:endParaRPr dirty="0">
              <a:solidFill>
                <a:srgbClr val="000000"/>
              </a:solidFill>
            </a:endParaRPr>
          </a:p>
        </p:txBody>
      </p:sp>
      <p:sp>
        <p:nvSpPr>
          <p:cNvPr id="939" name="Google Shape;939;p6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63</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3"/>
        <p:cNvGrpSpPr/>
        <p:nvPr/>
      </p:nvGrpSpPr>
      <p:grpSpPr>
        <a:xfrm>
          <a:off x="0" y="0"/>
          <a:ext cx="0" cy="0"/>
          <a:chOff x="0" y="0"/>
          <a:chExt cx="0" cy="0"/>
        </a:xfrm>
      </p:grpSpPr>
      <p:sp>
        <p:nvSpPr>
          <p:cNvPr id="944" name="Google Shape;944;p6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45" name="Google Shape;945;p6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sz="1200" dirty="0">
              <a:solidFill>
                <a:srgbClr val="000000"/>
              </a:solidFill>
              <a:latin typeface="Calibri"/>
              <a:ea typeface="Calibri"/>
              <a:cs typeface="Calibri"/>
              <a:sym typeface="Calibri"/>
            </a:endParaRPr>
          </a:p>
        </p:txBody>
      </p:sp>
      <p:sp>
        <p:nvSpPr>
          <p:cNvPr id="946" name="Google Shape;946;p6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64</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3"/>
        <p:cNvGrpSpPr/>
        <p:nvPr/>
      </p:nvGrpSpPr>
      <p:grpSpPr>
        <a:xfrm>
          <a:off x="0" y="0"/>
          <a:ext cx="0" cy="0"/>
          <a:chOff x="0" y="0"/>
          <a:chExt cx="0" cy="0"/>
        </a:xfrm>
      </p:grpSpPr>
      <p:sp>
        <p:nvSpPr>
          <p:cNvPr id="954" name="Google Shape;954;p6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55" name="Google Shape;955;p6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Which characteristic of the line did you use to identify it? </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Which two lines included a vertical dilation? How can you tell which </a:t>
            </a:r>
            <a:r>
              <a:rPr lang="en-US" i="1" dirty="0">
                <a:solidFill>
                  <a:srgbClr val="000000"/>
                </a:solidFill>
              </a:rPr>
              <a:t>a</a:t>
            </a:r>
            <a:r>
              <a:rPr lang="en-US" dirty="0">
                <a:solidFill>
                  <a:srgbClr val="000000"/>
                </a:solidFill>
              </a:rPr>
              <a:t>-value applies to each line? </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Which two lines included a vertical translation? </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tell which </a:t>
            </a:r>
            <a:r>
              <a:rPr lang="en-US" i="1" dirty="0">
                <a:solidFill>
                  <a:srgbClr val="000000"/>
                </a:solidFill>
              </a:rPr>
              <a:t>d</a:t>
            </a:r>
            <a:r>
              <a:rPr lang="en-US" dirty="0">
                <a:solidFill>
                  <a:srgbClr val="000000"/>
                </a:solidFill>
              </a:rPr>
              <a:t>-value applies to each line?</a:t>
            </a:r>
            <a:endParaRPr sz="1200" dirty="0">
              <a:solidFill>
                <a:srgbClr val="000000"/>
              </a:solidFill>
              <a:latin typeface="Calibri"/>
              <a:ea typeface="Calibri"/>
              <a:cs typeface="Calibri"/>
              <a:sym typeface="Calibri"/>
            </a:endParaRPr>
          </a:p>
        </p:txBody>
      </p:sp>
      <p:sp>
        <p:nvSpPr>
          <p:cNvPr id="956" name="Google Shape;956;p6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65</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1"/>
        <p:cNvGrpSpPr/>
        <p:nvPr/>
      </p:nvGrpSpPr>
      <p:grpSpPr>
        <a:xfrm>
          <a:off x="0" y="0"/>
          <a:ext cx="0" cy="0"/>
          <a:chOff x="0" y="0"/>
          <a:chExt cx="0" cy="0"/>
        </a:xfrm>
      </p:grpSpPr>
      <p:sp>
        <p:nvSpPr>
          <p:cNvPr id="962" name="Google Shape;962;p6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63" name="Google Shape;963;p6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To close Day 3, have students read and answer the Essential Question and then read the Stamp the Learning summary aloud.</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endParaRPr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Essential Question:</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Sample answer: 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transformed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shows a vertical translation of the function. For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𝑑 &gt; 0</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vertically shifts up. For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𝑑 &lt; 0</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vertically shifts down. The parent function and the resulting graph are parallel because they have the same slope but different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-intercepts. The transformed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err="1">
                <a:solidFill>
                  <a:srgbClr val="000000"/>
                </a:solidFill>
                <a:latin typeface="Calibri" panose="020F0502020204030204" pitchFamily="34" charset="0"/>
                <a:ea typeface="Calibri" panose="020F0502020204030204" pitchFamily="34" charset="0"/>
                <a:cs typeface="Calibri" panose="020F0502020204030204" pitchFamily="34" charset="0"/>
              </a:rPr>
              <a:t>af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shows a vertical dilation of the function. For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𝑎|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&gt;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1</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vertically stretches by a factor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units. For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0 &lt; |𝑎| &lt; 1</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vertically compresses by a factor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units. For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𝑎 &lt; 0</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is vertically stretched or compressed and is reflected across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-axis.</a:t>
            </a:r>
            <a:endParaRPr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Talk the Talk Summary:</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An equation can be generated given the graph of a function transformation.</a:t>
            </a:r>
            <a:endParaRPr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64" name="Google Shape;964;p6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66</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9"/>
        <p:cNvGrpSpPr/>
        <p:nvPr/>
      </p:nvGrpSpPr>
      <p:grpSpPr>
        <a:xfrm>
          <a:off x="0" y="0"/>
          <a:ext cx="0" cy="0"/>
          <a:chOff x="0" y="0"/>
          <a:chExt cx="0" cy="0"/>
        </a:xfrm>
      </p:grpSpPr>
      <p:sp>
        <p:nvSpPr>
          <p:cNvPr id="970" name="Google Shape;970;p6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71" name="Google Shape;971;p6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sz="1200" dirty="0">
                <a:solidFill>
                  <a:srgbClr val="000000"/>
                </a:solidFill>
                <a:latin typeface="Calibri"/>
                <a:ea typeface="Calibri"/>
                <a:cs typeface="Calibri"/>
                <a:sym typeface="Calibri"/>
              </a:rPr>
              <a:t>This slide is blank for optional use with displaying work.</a:t>
            </a:r>
            <a:endParaRPr sz="1200" b="0" dirty="0">
              <a:solidFill>
                <a:srgbClr val="000000"/>
              </a:solidFill>
              <a:latin typeface="Calibri"/>
              <a:ea typeface="Calibri"/>
              <a:cs typeface="Calibri"/>
              <a:sym typeface="Calibri"/>
            </a:endParaRPr>
          </a:p>
        </p:txBody>
      </p:sp>
      <p:sp>
        <p:nvSpPr>
          <p:cNvPr id="972" name="Google Shape;972;p6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67</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6"/>
        <p:cNvGrpSpPr/>
        <p:nvPr/>
      </p:nvGrpSpPr>
      <p:grpSpPr>
        <a:xfrm>
          <a:off x="0" y="0"/>
          <a:ext cx="0" cy="0"/>
          <a:chOff x="0" y="0"/>
          <a:chExt cx="0" cy="0"/>
        </a:xfrm>
      </p:grpSpPr>
      <p:sp>
        <p:nvSpPr>
          <p:cNvPr id="977" name="Google Shape;977;p6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78" name="Google Shape;978;p6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i="0" u="none" strike="noStrike" dirty="0">
                <a:solidFill>
                  <a:srgbClr val="000000"/>
                </a:solidFill>
                <a:latin typeface="Calibri"/>
                <a:ea typeface="Calibri"/>
                <a:cs typeface="Calibri"/>
                <a:sym typeface="Calibri"/>
              </a:rPr>
              <a:t>How can you identify whether students are ready for new learning?</a:t>
            </a:r>
            <a:r>
              <a:rPr lang="en-US" sz="1200" b="0" i="0" u="none" strike="noStrike" dirty="0">
                <a:solidFill>
                  <a:srgbClr val="000000"/>
                </a:solidFill>
                <a:latin typeface="Calibri"/>
                <a:ea typeface="Calibri"/>
                <a:cs typeface="Calibri"/>
                <a:sym typeface="Calibri"/>
              </a:rPr>
              <a:t> </a:t>
            </a:r>
            <a:r>
              <a:rPr lang="en-US" sz="1200" b="0" i="0" dirty="0">
                <a:solidFill>
                  <a:srgbClr val="000000"/>
                </a:solidFill>
                <a:latin typeface="Calibri"/>
                <a:ea typeface="Calibri"/>
                <a:cs typeface="Calibri"/>
                <a:sym typeface="Calibri"/>
              </a:rPr>
              <a:t>​</a:t>
            </a:r>
            <a:endParaRPr dirty="0">
              <a:solidFill>
                <a:srgbClr val="000000"/>
              </a:solidFill>
            </a:endParaRPr>
          </a:p>
          <a:p>
            <a:pPr marL="0" lvl="0" indent="0" algn="l" rtl="0">
              <a:spcBef>
                <a:spcPts val="0"/>
              </a:spcBef>
              <a:spcAft>
                <a:spcPts val="0"/>
              </a:spcAft>
              <a:buNone/>
            </a:pPr>
            <a:r>
              <a:rPr lang="en-US" sz="1200" b="0" i="0" u="none" strike="noStrike" dirty="0">
                <a:solidFill>
                  <a:srgbClr val="000000"/>
                </a:solidFill>
                <a:latin typeface="Calibri"/>
                <a:ea typeface="Calibri"/>
                <a:cs typeface="Calibri"/>
                <a:sym typeface="Calibri"/>
              </a:rPr>
              <a:t>Depending on available time, you can assign the Prepare section of the Lesson Assignments as homework or as a warm-up to identify students' prior knowledge for the upcoming lesson's activities.</a:t>
            </a:r>
            <a:endParaRPr sz="1200" dirty="0">
              <a:solidFill>
                <a:srgbClr val="000000"/>
              </a:solidFill>
              <a:latin typeface="Calibri"/>
              <a:ea typeface="Calibri"/>
              <a:cs typeface="Calibri"/>
              <a:sym typeface="Calibri"/>
            </a:endParaRPr>
          </a:p>
        </p:txBody>
      </p:sp>
      <p:sp>
        <p:nvSpPr>
          <p:cNvPr id="979" name="Google Shape;979;p6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68</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2"/>
        <p:cNvGrpSpPr/>
        <p:nvPr/>
      </p:nvGrpSpPr>
      <p:grpSpPr>
        <a:xfrm>
          <a:off x="0" y="0"/>
          <a:ext cx="0" cy="0"/>
          <a:chOff x="0" y="0"/>
          <a:chExt cx="0" cy="0"/>
        </a:xfrm>
      </p:grpSpPr>
      <p:sp>
        <p:nvSpPr>
          <p:cNvPr id="983" name="Google Shape;983;p6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84" name="Google Shape;984;p6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a:p>
            <a:r>
              <a:rPr lang="en-US" b="1" dirty="0"/>
              <a:t>TE correction: the TE gives f(x) = (2/3)x − 5. The marked points (−8, −10), (−2, −6) and (4, −2) give slope 2/3 and y-intercept (0, −14/3), so f(x) = (2/3)x − 14/3.</a:t>
            </a:r>
          </a:p>
        </p:txBody>
      </p:sp>
      <p:sp>
        <p:nvSpPr>
          <p:cNvPr id="985" name="Google Shape;985;p6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69</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4"/>
        <p:cNvGrpSpPr/>
        <p:nvPr/>
      </p:nvGrpSpPr>
      <p:grpSpPr>
        <a:xfrm>
          <a:off x="0" y="0"/>
          <a:ext cx="0" cy="0"/>
          <a:chOff x="0" y="0"/>
          <a:chExt cx="0" cy="0"/>
        </a:xfrm>
      </p:grpSpPr>
      <p:sp>
        <p:nvSpPr>
          <p:cNvPr id="995" name="Google Shape;995;p6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96" name="Google Shape;996;p6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997" name="Google Shape;997;p6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70</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0"/>
        <p:cNvGrpSpPr/>
        <p:nvPr/>
      </p:nvGrpSpPr>
      <p:grpSpPr>
        <a:xfrm>
          <a:off x="0" y="0"/>
          <a:ext cx="0" cy="0"/>
          <a:chOff x="0" y="0"/>
          <a:chExt cx="0" cy="0"/>
        </a:xfrm>
      </p:grpSpPr>
      <p:sp>
        <p:nvSpPr>
          <p:cNvPr id="1001" name="Google Shape;1001;p6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02" name="Google Shape;1002;p6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1003" name="Google Shape;1003;p6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8.png"/><Relationship Id="rId1" Type="http://schemas.openxmlformats.org/officeDocument/2006/relationships/slideMaster" Target="../slideMasters/slideMaster1.xml"/><Relationship Id="rId5" Type="http://schemas.openxmlformats.org/officeDocument/2006/relationships/image" Target="../media/image9.png"/><Relationship Id="rId4" Type="http://schemas.openxmlformats.org/officeDocument/2006/relationships/hyperlink" Target="https://creativecommons.org/licenses/by-nc/4.0" TargetMode="Externa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10"/>
        <p:cNvGrpSpPr/>
        <p:nvPr/>
      </p:nvGrpSpPr>
      <p:grpSpPr>
        <a:xfrm>
          <a:off x="0" y="0"/>
          <a:ext cx="0" cy="0"/>
          <a:chOff x="0" y="0"/>
          <a:chExt cx="0" cy="0"/>
        </a:xfrm>
      </p:grpSpPr>
      <p:sp>
        <p:nvSpPr>
          <p:cNvPr id="11" name="Google Shape;11;p70"/>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236739"/>
              </a:buClr>
              <a:buSzPts val="6000"/>
              <a:buFont typeface="Arial"/>
              <a:buNone/>
              <a:defRPr sz="6000" b="1" i="0" u="none" strike="noStrike" cap="none">
                <a:solidFill>
                  <a:srgbClr val="236739"/>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70"/>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236739"/>
              </a:buClr>
              <a:buSzPts val="4400"/>
              <a:buFont typeface="Arial"/>
              <a:buNone/>
              <a:defRPr sz="4400" b="0" i="0" u="none" strike="noStrike" cap="none">
                <a:solidFill>
                  <a:srgbClr val="236739"/>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3" name="Google Shape;13;p70"/>
          <p:cNvSpPr/>
          <p:nvPr/>
        </p:nvSpPr>
        <p:spPr>
          <a:xfrm rot="10800000" flipH="1">
            <a:off x="0" y="0"/>
            <a:ext cx="2467555" cy="954942"/>
          </a:xfrm>
          <a:prstGeom prst="round1Rect">
            <a:avLst>
              <a:gd name="adj" fmla="val 16667"/>
            </a:avLst>
          </a:prstGeom>
          <a:solidFill>
            <a:srgbClr val="2B814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4" name="Google Shape;14;p70"/>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0" i="0" u="none" strike="noStrike" cap="none">
                <a:solidFill>
                  <a:schemeClr val="lt1"/>
                </a:solidFill>
                <a:latin typeface="Calibri"/>
                <a:ea typeface="Calibri"/>
                <a:cs typeface="Calibri"/>
                <a:sym typeface="Calibri"/>
              </a:rPr>
              <a:t>ENGLISH</a:t>
            </a:r>
            <a:endParaRPr/>
          </a:p>
        </p:txBody>
      </p:sp>
      <p:pic>
        <p:nvPicPr>
          <p:cNvPr id="15" name="Google Shape;15;p70"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16" name="Google Shape;16;p70"/>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u="none" strike="noStrike" cap="none">
                <a:solidFill>
                  <a:srgbClr val="000000"/>
                </a:solidFill>
                <a:latin typeface="Calibri"/>
                <a:ea typeface="Calibri"/>
                <a:cs typeface="Calibri"/>
                <a:sym typeface="Calibri"/>
              </a:rPr>
              <a:t>Secondary Mathematics</a:t>
            </a:r>
            <a:endParaRPr/>
          </a:p>
        </p:txBody>
      </p:sp>
      <p:sp>
        <p:nvSpPr>
          <p:cNvPr id="17" name="Google Shape;17;p70"/>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8" name="Google Shape;18;p70"/>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u="none" strike="noStrike" cap="none">
                <a:solidFill>
                  <a:srgbClr val="757070"/>
                </a:solidFill>
                <a:latin typeface="Calibri"/>
                <a:ea typeface="Calibri"/>
                <a:cs typeface="Calibri"/>
                <a:sym typeface="Calibri"/>
              </a:rPr>
              <a:t>EDITION 1</a:t>
            </a:r>
            <a:endParaRPr/>
          </a:p>
        </p:txBody>
      </p:sp>
      <p:pic>
        <p:nvPicPr>
          <p:cNvPr id="19" name="Google Shape;19;p70"/>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4663225"/>
            <a:ext cx="12190413" cy="219477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20"/>
        <p:cNvGrpSpPr/>
        <p:nvPr/>
      </p:nvGrpSpPr>
      <p:grpSpPr>
        <a:xfrm>
          <a:off x="0" y="0"/>
          <a:ext cx="0" cy="0"/>
          <a:chOff x="0" y="0"/>
          <a:chExt cx="0" cy="0"/>
        </a:xfrm>
      </p:grpSpPr>
      <p:sp>
        <p:nvSpPr>
          <p:cNvPr id="21" name="Google Shape;21;p71"/>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2" name="Google Shape;22;p71"/>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 name="Google Shape;23;p71"/>
          <p:cNvSpPr/>
          <p:nvPr/>
        </p:nvSpPr>
        <p:spPr>
          <a:xfrm>
            <a:off x="0" y="0"/>
            <a:ext cx="7575442" cy="927652"/>
          </a:xfrm>
          <a:prstGeom prst="rect">
            <a:avLst/>
          </a:prstGeom>
          <a:solidFill>
            <a:srgbClr val="23673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24" name="Google Shape;24;p7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1" y="0"/>
            <a:ext cx="4614971" cy="931321"/>
          </a:xfrm>
          <a:prstGeom prst="rect">
            <a:avLst/>
          </a:prstGeom>
          <a:noFill/>
          <a:ln>
            <a:noFill/>
          </a:ln>
        </p:spPr>
      </p:pic>
      <p:sp>
        <p:nvSpPr>
          <p:cNvPr id="25" name="Google Shape;25;p71"/>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26"/>
        <p:cNvGrpSpPr/>
        <p:nvPr/>
      </p:nvGrpSpPr>
      <p:grpSpPr>
        <a:xfrm>
          <a:off x="0" y="0"/>
          <a:ext cx="0" cy="0"/>
          <a:chOff x="0" y="0"/>
          <a:chExt cx="0" cy="0"/>
        </a:xfrm>
      </p:grpSpPr>
      <p:sp>
        <p:nvSpPr>
          <p:cNvPr id="27" name="Google Shape;27;p72"/>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8" name="Google Shape;28;p72"/>
          <p:cNvSpPr>
            <a:spLocks noGrp="1"/>
          </p:cNvSpPr>
          <p:nvPr>
            <p:ph type="pic" idx="2"/>
          </p:nvPr>
        </p:nvSpPr>
        <p:spPr>
          <a:xfrm>
            <a:off x="3427412" y="3217943"/>
            <a:ext cx="5335588" cy="2505075"/>
          </a:xfrm>
          <a:prstGeom prst="rect">
            <a:avLst/>
          </a:prstGeom>
          <a:noFill/>
          <a:ln>
            <a:noFill/>
          </a:ln>
        </p:spPr>
      </p:sp>
      <p:sp>
        <p:nvSpPr>
          <p:cNvPr id="29" name="Google Shape;29;p7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0" name="Google Shape;30;p7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31"/>
        <p:cNvGrpSpPr/>
        <p:nvPr/>
      </p:nvGrpSpPr>
      <p:grpSpPr>
        <a:xfrm>
          <a:off x="0" y="0"/>
          <a:ext cx="0" cy="0"/>
          <a:chOff x="0" y="0"/>
          <a:chExt cx="0" cy="0"/>
        </a:xfrm>
      </p:grpSpPr>
      <p:sp>
        <p:nvSpPr>
          <p:cNvPr id="32" name="Google Shape;32;p73"/>
          <p:cNvSpPr txBox="1"/>
          <p:nvPr/>
        </p:nvSpPr>
        <p:spPr>
          <a:xfrm>
            <a:off x="4687911" y="2955793"/>
            <a:ext cx="1742284"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dirty="0">
                <a:solidFill>
                  <a:srgbClr val="171616"/>
                </a:solidFill>
                <a:latin typeface="Calibri"/>
                <a:ea typeface="Calibri"/>
                <a:cs typeface="Calibri"/>
                <a:sym typeface="Calibri"/>
              </a:rPr>
              <a:t>Day</a:t>
            </a:r>
            <a:endParaRPr sz="7500" b="1" dirty="0">
              <a:solidFill>
                <a:srgbClr val="171616"/>
              </a:solidFill>
              <a:latin typeface="Calibri"/>
              <a:ea typeface="Calibri"/>
              <a:cs typeface="Calibri"/>
              <a:sym typeface="Calibri"/>
            </a:endParaRPr>
          </a:p>
        </p:txBody>
      </p:sp>
      <p:sp>
        <p:nvSpPr>
          <p:cNvPr id="33" name="Google Shape;33;p73"/>
          <p:cNvSpPr txBox="1">
            <a:spLocks noGrp="1"/>
          </p:cNvSpPr>
          <p:nvPr>
            <p:ph type="body" idx="1"/>
          </p:nvPr>
        </p:nvSpPr>
        <p:spPr>
          <a:xfrm>
            <a:off x="6537582" y="2834375"/>
            <a:ext cx="1093150"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4" name="Google Shape;34;p73"/>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pic>
        <p:nvPicPr>
          <p:cNvPr id="35" name="Google Shape;35;p73"/>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794" y="-12700"/>
            <a:ext cx="12190413" cy="219477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36"/>
        <p:cNvGrpSpPr/>
        <p:nvPr/>
      </p:nvGrpSpPr>
      <p:grpSpPr>
        <a:xfrm>
          <a:off x="0" y="0"/>
          <a:ext cx="0" cy="0"/>
          <a:chOff x="0" y="0"/>
          <a:chExt cx="0" cy="0"/>
        </a:xfrm>
      </p:grpSpPr>
      <p:pic>
        <p:nvPicPr>
          <p:cNvPr id="37" name="Google Shape;37;p74" descr="A green and black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2316529"/>
            <a:ext cx="12190415" cy="2682142"/>
          </a:xfrm>
          <a:prstGeom prst="rect">
            <a:avLst/>
          </a:prstGeom>
          <a:noFill/>
          <a:ln>
            <a:noFill/>
          </a:ln>
        </p:spPr>
      </p:pic>
      <p:sp>
        <p:nvSpPr>
          <p:cNvPr id="38" name="Google Shape;38;p74" descr="A green and black pattern&#10;&#10;AI-generated content may be incorrect."/>
          <p:cNvSpPr txBox="1"/>
          <p:nvPr/>
        </p:nvSpPr>
        <p:spPr>
          <a:xfrm>
            <a:off x="2767915" y="2984501"/>
            <a:ext cx="6660292"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Getting Started</a:t>
            </a:r>
            <a:endParaRPr sz="7500" b="1">
              <a:solidFill>
                <a:schemeClr val="lt1"/>
              </a:solidFill>
              <a:latin typeface="Calibri"/>
              <a:ea typeface="Calibri"/>
              <a:cs typeface="Calibri"/>
              <a:sym typeface="Calibri"/>
            </a:endParaRPr>
          </a:p>
        </p:txBody>
      </p:sp>
      <p:pic>
        <p:nvPicPr>
          <p:cNvPr id="39" name="Google Shape;39;p74"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40" name="Google Shape;40;p74"/>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41"/>
        <p:cNvGrpSpPr/>
        <p:nvPr/>
      </p:nvGrpSpPr>
      <p:grpSpPr>
        <a:xfrm>
          <a:off x="0" y="0"/>
          <a:ext cx="0" cy="0"/>
          <a:chOff x="0" y="0"/>
          <a:chExt cx="0" cy="0"/>
        </a:xfrm>
      </p:grpSpPr>
      <p:pic>
        <p:nvPicPr>
          <p:cNvPr id="42" name="Google Shape;42;p7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2"/>
          </a:xfrm>
          <a:prstGeom prst="rect">
            <a:avLst/>
          </a:prstGeom>
          <a:noFill/>
          <a:ln>
            <a:noFill/>
          </a:ln>
        </p:spPr>
      </p:pic>
      <p:sp>
        <p:nvSpPr>
          <p:cNvPr id="43" name="Google Shape;43;p75"/>
          <p:cNvSpPr txBox="1"/>
          <p:nvPr/>
        </p:nvSpPr>
        <p:spPr>
          <a:xfrm>
            <a:off x="3352800" y="2984501"/>
            <a:ext cx="5499100"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44" name="Google Shape;44;p75"/>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45" name="Google Shape;45;p75"/>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46" name="Google Shape;46;p75"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47" name="Google Shape;47;p75"/>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48"/>
        <p:cNvGrpSpPr/>
        <p:nvPr/>
      </p:nvGrpSpPr>
      <p:grpSpPr>
        <a:xfrm>
          <a:off x="0" y="0"/>
          <a:ext cx="0" cy="0"/>
          <a:chOff x="0" y="0"/>
          <a:chExt cx="0" cy="0"/>
        </a:xfrm>
      </p:grpSpPr>
      <p:pic>
        <p:nvPicPr>
          <p:cNvPr id="49" name="Google Shape;49;p7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2"/>
          </a:xfrm>
          <a:prstGeom prst="rect">
            <a:avLst/>
          </a:prstGeom>
          <a:noFill/>
          <a:ln>
            <a:noFill/>
          </a:ln>
        </p:spPr>
      </p:pic>
      <p:sp>
        <p:nvSpPr>
          <p:cNvPr id="50" name="Google Shape;50;p76"/>
          <p:cNvSpPr txBox="1"/>
          <p:nvPr/>
        </p:nvSpPr>
        <p:spPr>
          <a:xfrm>
            <a:off x="3352800" y="2984501"/>
            <a:ext cx="5499100"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51" name="Google Shape;51;p76"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52" name="Google Shape;52;p76"/>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53"/>
        <p:cNvGrpSpPr/>
        <p:nvPr/>
      </p:nvGrpSpPr>
      <p:grpSpPr>
        <a:xfrm>
          <a:off x="0" y="0"/>
          <a:ext cx="0" cy="0"/>
          <a:chOff x="0" y="0"/>
          <a:chExt cx="0" cy="0"/>
        </a:xfrm>
      </p:grpSpPr>
      <p:pic>
        <p:nvPicPr>
          <p:cNvPr id="54" name="Google Shape;54;p77" descr="A green and black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2316529"/>
            <a:ext cx="12190415" cy="2682142"/>
          </a:xfrm>
          <a:prstGeom prst="rect">
            <a:avLst/>
          </a:prstGeom>
          <a:noFill/>
          <a:ln>
            <a:noFill/>
          </a:ln>
        </p:spPr>
      </p:pic>
      <p:sp>
        <p:nvSpPr>
          <p:cNvPr id="55" name="Google Shape;55;p77" descr="A green and black pattern&#10;&#10;AI-generated content may be incorrect."/>
          <p:cNvSpPr txBox="1"/>
          <p:nvPr/>
        </p:nvSpPr>
        <p:spPr>
          <a:xfrm>
            <a:off x="3866323" y="2984501"/>
            <a:ext cx="4432852"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56"/>
        <p:cNvGrpSpPr/>
        <p:nvPr/>
      </p:nvGrpSpPr>
      <p:grpSpPr>
        <a:xfrm>
          <a:off x="0" y="0"/>
          <a:ext cx="0" cy="0"/>
          <a:chOff x="0" y="0"/>
          <a:chExt cx="0" cy="0"/>
        </a:xfrm>
      </p:grpSpPr>
      <p:pic>
        <p:nvPicPr>
          <p:cNvPr id="57" name="Google Shape;57;p78" descr="A pattern with circles and lines&#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932192"/>
            <a:ext cx="12190413" cy="5925808"/>
          </a:xfrm>
          <a:prstGeom prst="rect">
            <a:avLst/>
          </a:prstGeom>
          <a:noFill/>
          <a:ln>
            <a:noFill/>
          </a:ln>
        </p:spPr>
      </p:pic>
      <p:sp>
        <p:nvSpPr>
          <p:cNvPr id="58" name="Google Shape;58;p78"/>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9" name="Google Shape;59;p78"/>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60" name="Google Shape;60;p78"/>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0000"/>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000000"/>
              </a:solidFill>
              <a:latin typeface="Calibri"/>
              <a:ea typeface="Calibri"/>
              <a:cs typeface="Calibri"/>
              <a:sym typeface="Calibri"/>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b="1">
                <a:solidFill>
                  <a:srgbClr val="000000"/>
                </a:solidFill>
                <a:latin typeface="Calibri"/>
                <a:ea typeface="Calibri"/>
                <a:cs typeface="Calibri"/>
                <a:sym typeface="Calibri"/>
              </a:rPr>
              <a:t>Notice</a:t>
            </a:r>
            <a:endParaRPr sz="1800" b="1">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If you have further questions or to report an error, please email </a:t>
            </a:r>
            <a:r>
              <a:rPr lang="en-US" sz="1800" u="sng">
                <a:solidFill>
                  <a:srgbClr val="000000"/>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000000"/>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©2024-2025 Texas Education Agency. Portions of this work are adapted, with permission, from the originals created by and copyright ©2021 Carnegie Learning, Inc. </a:t>
            </a:r>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This work is licensed under a Creative Commons Attribution-Non-Commercial-4.0 International License. For information, visit: </a:t>
            </a:r>
            <a:r>
              <a:rPr lang="en-US" sz="1800" u="sng">
                <a:solidFill>
                  <a:srgbClr val="000000"/>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https://creativecommons.org/licenses/by-nc/4.0</a:t>
            </a:r>
            <a:r>
              <a:rPr lang="en-US" sz="1800">
                <a:solidFill>
                  <a:srgbClr val="000000"/>
                </a:solidFill>
                <a:latin typeface="Calibri"/>
                <a:ea typeface="Calibri"/>
                <a:cs typeface="Calibri"/>
                <a:sym typeface="Calibri"/>
              </a:rPr>
              <a:t>. </a:t>
            </a:r>
            <a:endParaRPr/>
          </a:p>
        </p:txBody>
      </p:sp>
      <p:pic>
        <p:nvPicPr>
          <p:cNvPr id="61" name="Google Shape;61;p78"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62" name="Google Shape;62;p78"/>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63"/>
        <p:cNvGrpSpPr/>
        <p:nvPr/>
      </p:nvGrpSpPr>
      <p:grpSpPr>
        <a:xfrm>
          <a:off x="0" y="0"/>
          <a:ext cx="0" cy="0"/>
          <a:chOff x="0" y="0"/>
          <a:chExt cx="0" cy="0"/>
        </a:xfrm>
      </p:grpSpPr>
      <p:pic>
        <p:nvPicPr>
          <p:cNvPr id="64" name="Google Shape;64;p7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4663225"/>
            <a:ext cx="12190413" cy="2194775"/>
          </a:xfrm>
          <a:prstGeom prst="rect">
            <a:avLst/>
          </a:prstGeom>
          <a:noFill/>
          <a:ln>
            <a:noFill/>
          </a:ln>
        </p:spPr>
      </p:pic>
      <p:sp>
        <p:nvSpPr>
          <p:cNvPr id="65" name="Google Shape;65;p79"/>
          <p:cNvSpPr txBox="1">
            <a:spLocks noGrp="1"/>
          </p:cNvSpPr>
          <p:nvPr>
            <p:ph type="body" idx="1"/>
          </p:nvPr>
        </p:nvSpPr>
        <p:spPr>
          <a:xfrm>
            <a:off x="8155889" y="4975063"/>
            <a:ext cx="3431356" cy="414778"/>
          </a:xfrm>
          <a:prstGeom prst="rect">
            <a:avLst/>
          </a:prstGeom>
          <a:solidFill>
            <a:srgbClr val="2B8147"/>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66" name="Google Shape;66;p79"/>
          <p:cNvGrpSpPr/>
          <p:nvPr/>
        </p:nvGrpSpPr>
        <p:grpSpPr>
          <a:xfrm>
            <a:off x="9053008" y="227306"/>
            <a:ext cx="2910578" cy="1472169"/>
            <a:chOff x="8940726" y="132485"/>
            <a:chExt cx="2910578" cy="1472169"/>
          </a:xfrm>
        </p:grpSpPr>
        <p:pic>
          <p:nvPicPr>
            <p:cNvPr id="67" name="Google Shape;67;p79" descr="A blue and black logo&#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68" name="Google Shape;68;p79"/>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69" name="Google Shape;69;p79"/>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0" name="Google Shape;70;p79"/>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71" name="Google Shape;71;p79"/>
          <p:cNvSpPr/>
          <p:nvPr/>
        </p:nvSpPr>
        <p:spPr>
          <a:xfrm rot="10800000" flipH="1">
            <a:off x="0" y="0"/>
            <a:ext cx="2467555" cy="954942"/>
          </a:xfrm>
          <a:prstGeom prst="round1Rect">
            <a:avLst>
              <a:gd name="adj" fmla="val 16667"/>
            </a:avLst>
          </a:prstGeom>
          <a:solidFill>
            <a:srgbClr val="2B814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2" name="Google Shape;72;p79"/>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73"/>
        <p:cNvGrpSpPr/>
        <p:nvPr/>
      </p:nvGrpSpPr>
      <p:grpSpPr>
        <a:xfrm>
          <a:off x="0" y="0"/>
          <a:ext cx="0" cy="0"/>
          <a:chOff x="0" y="0"/>
          <a:chExt cx="0" cy="0"/>
        </a:xfrm>
      </p:grpSpPr>
      <p:sp>
        <p:nvSpPr>
          <p:cNvPr id="74" name="Google Shape;74;p80"/>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75" name="Google Shape;75;p8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76"/>
        <p:cNvGrpSpPr/>
        <p:nvPr/>
      </p:nvGrpSpPr>
      <p:grpSpPr>
        <a:xfrm>
          <a:off x="0" y="0"/>
          <a:ext cx="0" cy="0"/>
          <a:chOff x="0" y="0"/>
          <a:chExt cx="0" cy="0"/>
        </a:xfrm>
      </p:grpSpPr>
      <p:pic>
        <p:nvPicPr>
          <p:cNvPr id="77" name="Google Shape;77;p8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78" name="Google Shape;78;p8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9" name="Google Shape;79;p81"/>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0" name="Google Shape;80;p81"/>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81" name="Google Shape;81;p8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82"/>
        <p:cNvGrpSpPr/>
        <p:nvPr/>
      </p:nvGrpSpPr>
      <p:grpSpPr>
        <a:xfrm>
          <a:off x="0" y="0"/>
          <a:ext cx="0" cy="0"/>
          <a:chOff x="0" y="0"/>
          <a:chExt cx="0" cy="0"/>
        </a:xfrm>
      </p:grpSpPr>
      <p:graphicFrame>
        <p:nvGraphicFramePr>
          <p:cNvPr id="83" name="Google Shape;83;p82"/>
          <p:cNvGraphicFramePr/>
          <p:nvPr/>
        </p:nvGraphicFramePr>
        <p:xfrm>
          <a:off x="775252" y="3783769"/>
          <a:ext cx="3000000" cy="3000000"/>
        </p:xfrm>
        <a:graphic>
          <a:graphicData uri="http://schemas.openxmlformats.org/drawingml/2006/table">
            <a:tbl>
              <a:tblPr>
                <a:noFill/>
                <a:tableStyleId>{A49AC34E-657E-4A3B-9C05-DC8BE6C80247}</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84" name="Google Shape;84;p82"/>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5" name="Google Shape;85;p82"/>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86" name="Google Shape;86;p8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87"/>
        <p:cNvGrpSpPr/>
        <p:nvPr/>
      </p:nvGrpSpPr>
      <p:grpSpPr>
        <a:xfrm>
          <a:off x="0" y="0"/>
          <a:ext cx="0" cy="0"/>
          <a:chOff x="0" y="0"/>
          <a:chExt cx="0" cy="0"/>
        </a:xfrm>
      </p:grpSpPr>
      <p:pic>
        <p:nvPicPr>
          <p:cNvPr id="88" name="Google Shape;88;p8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89" name="Google Shape;89;p8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0" name="Google Shape;90;p83"/>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1" name="Google Shape;91;p83"/>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92" name="Google Shape;92;p8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93"/>
        <p:cNvGrpSpPr/>
        <p:nvPr/>
      </p:nvGrpSpPr>
      <p:grpSpPr>
        <a:xfrm>
          <a:off x="0" y="0"/>
          <a:ext cx="0" cy="0"/>
          <a:chOff x="0" y="0"/>
          <a:chExt cx="0" cy="0"/>
        </a:xfrm>
      </p:grpSpPr>
      <p:sp>
        <p:nvSpPr>
          <p:cNvPr id="94" name="Google Shape;94;p8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5" name="Google Shape;95;p84"/>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96" name="Google Shape;96;p84"/>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97"/>
        <p:cNvGrpSpPr/>
        <p:nvPr/>
      </p:nvGrpSpPr>
      <p:grpSpPr>
        <a:xfrm>
          <a:off x="0" y="0"/>
          <a:ext cx="0" cy="0"/>
          <a:chOff x="0" y="0"/>
          <a:chExt cx="0" cy="0"/>
        </a:xfrm>
      </p:grpSpPr>
      <p:pic>
        <p:nvPicPr>
          <p:cNvPr id="98" name="Google Shape;98;p85"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99" name="Google Shape;99;p85"/>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0" name="Google Shape;100;p85"/>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1" name="Google Shape;101;p85"/>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02" name="Google Shape;102;p85"/>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103"/>
        <p:cNvGrpSpPr/>
        <p:nvPr/>
      </p:nvGrpSpPr>
      <p:grpSpPr>
        <a:xfrm>
          <a:off x="0" y="0"/>
          <a:ext cx="0" cy="0"/>
          <a:chOff x="0" y="0"/>
          <a:chExt cx="0" cy="0"/>
        </a:xfrm>
      </p:grpSpPr>
      <p:pic>
        <p:nvPicPr>
          <p:cNvPr id="104" name="Google Shape;104;p86"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05" name="Google Shape;105;p86"/>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6" name="Google Shape;106;p86"/>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7" name="Google Shape;107;p86"/>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08" name="Google Shape;108;p86"/>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109"/>
        <p:cNvGrpSpPr/>
        <p:nvPr/>
      </p:nvGrpSpPr>
      <p:grpSpPr>
        <a:xfrm>
          <a:off x="0" y="0"/>
          <a:ext cx="0" cy="0"/>
          <a:chOff x="0" y="0"/>
          <a:chExt cx="0" cy="0"/>
        </a:xfrm>
      </p:grpSpPr>
      <p:pic>
        <p:nvPicPr>
          <p:cNvPr id="110" name="Google Shape;110;p8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11" name="Google Shape;111;p8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2" name="Google Shape;112;p87"/>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3" name="Google Shape;113;p87"/>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14" name="Google Shape;114;p8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115"/>
        <p:cNvGrpSpPr/>
        <p:nvPr/>
      </p:nvGrpSpPr>
      <p:grpSpPr>
        <a:xfrm>
          <a:off x="0" y="0"/>
          <a:ext cx="0" cy="0"/>
          <a:chOff x="0" y="0"/>
          <a:chExt cx="0" cy="0"/>
        </a:xfrm>
      </p:grpSpPr>
      <p:pic>
        <p:nvPicPr>
          <p:cNvPr id="116" name="Google Shape;116;p88"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17" name="Google Shape;117;p88"/>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8" name="Google Shape;118;p88"/>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9" name="Google Shape;119;p8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20" name="Google Shape;120;p8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1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3.xml"/><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3.xml"/><Relationship Id="rId1" Type="http://schemas.openxmlformats.org/officeDocument/2006/relationships/slideLayout" Target="../slideLayouts/slideLayout3.xml"/><Relationship Id="rId5" Type="http://schemas.openxmlformats.org/officeDocument/2006/relationships/image" Target="../media/image25.png"/><Relationship Id="rId4" Type="http://schemas.openxmlformats.org/officeDocument/2006/relationships/image" Target="../media/image24.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50.xml"/><Relationship Id="rId1" Type="http://schemas.openxmlformats.org/officeDocument/2006/relationships/slideLayout" Target="../slideLayouts/slideLayout3.xml"/><Relationship Id="rId4" Type="http://schemas.openxmlformats.org/officeDocument/2006/relationships/image" Target="../media/image29.png"/></Relationships>
</file>

<file path=ppt/slides/_rels/slide5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51.xml"/><Relationship Id="rId1" Type="http://schemas.openxmlformats.org/officeDocument/2006/relationships/slideLayout" Target="../slideLayouts/slideLayout3.xml"/><Relationship Id="rId6" Type="http://schemas.openxmlformats.org/officeDocument/2006/relationships/image" Target="../media/image29.png"/><Relationship Id="rId5" Type="http://schemas.openxmlformats.org/officeDocument/2006/relationships/image" Target="../media/image31.png"/><Relationship Id="rId4" Type="http://schemas.openxmlformats.org/officeDocument/2006/relationships/image" Target="../media/image28.png"/></Relationships>
</file>

<file path=ppt/slides/_rels/slide5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52.xml"/><Relationship Id="rId1" Type="http://schemas.openxmlformats.org/officeDocument/2006/relationships/slideLayout" Target="../slideLayouts/slideLayout3.xml"/><Relationship Id="rId5" Type="http://schemas.openxmlformats.org/officeDocument/2006/relationships/image" Target="../media/image29.png"/><Relationship Id="rId4" Type="http://schemas.openxmlformats.org/officeDocument/2006/relationships/image" Target="../media/image32.pn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4.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7.xml"/><Relationship Id="rId1" Type="http://schemas.openxmlformats.org/officeDocument/2006/relationships/slideLayout" Target="../slideLayouts/slideLayout3.xml"/><Relationship Id="rId4" Type="http://schemas.openxmlformats.org/officeDocument/2006/relationships/image" Target="../media/image34.png"/></Relationships>
</file>

<file path=ppt/slides/_rels/slide5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58.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1.xml"/><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64.xml"/><Relationship Id="rId1" Type="http://schemas.openxmlformats.org/officeDocument/2006/relationships/slideLayout" Target="../slideLayouts/slideLayout3.xml"/><Relationship Id="rId4" Type="http://schemas.openxmlformats.org/officeDocument/2006/relationships/image" Target="../media/image36.png"/></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8.xml"/></Relationships>
</file>

<file path=ppt/slides/_rels/slide6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69.xml"/><Relationship Id="rId1" Type="http://schemas.openxmlformats.org/officeDocument/2006/relationships/slideLayout" Target="../slideLayouts/slideLayout3.xml"/><Relationship Id="rId5" Type="http://schemas.openxmlformats.org/officeDocument/2006/relationships/image" Target="../media/image39.png"/><Relationship Id="rId4" Type="http://schemas.openxmlformats.org/officeDocument/2006/relationships/image" Target="../media/image38.png"/></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9.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1"/>
          <p:cNvSpPr txBox="1">
            <a:spLocks noGrp="1"/>
          </p:cNvSpPr>
          <p:nvPr>
            <p:ph type="title"/>
          </p:nvPr>
        </p:nvSpPr>
        <p:spPr>
          <a:xfrm>
            <a:off x="-1590" y="1601919"/>
            <a:ext cx="12192003" cy="1827081"/>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236739"/>
              </a:buClr>
              <a:buSzPts val="6000"/>
              <a:buFont typeface="Arial"/>
              <a:buNone/>
            </a:pPr>
            <a:r>
              <a:rPr lang="en-US" sz="6000" b="1" dirty="0">
                <a:solidFill>
                  <a:srgbClr val="236739"/>
                </a:solidFill>
                <a:latin typeface="Calibri"/>
                <a:ea typeface="Calibri"/>
                <a:cs typeface="Calibri"/>
                <a:sym typeface="Calibri"/>
              </a:rPr>
              <a:t>Transforming Linear Functions</a:t>
            </a:r>
            <a:endParaRPr dirty="0"/>
          </a:p>
        </p:txBody>
      </p:sp>
      <p:sp>
        <p:nvSpPr>
          <p:cNvPr id="463" name="Google Shape;463;p1"/>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236739"/>
              </a:buClr>
              <a:buSzPts val="4400"/>
              <a:buNone/>
            </a:pPr>
            <a:r>
              <a:rPr lang="en-US"/>
              <a:t>Algebra I | Module 2 | Topic 2 | Lesson 1</a:t>
            </a:r>
            <a:endParaRPr/>
          </a:p>
        </p:txBody>
      </p:sp>
      <p:sp>
        <p:nvSpPr>
          <p:cNvPr id="1463" name="Slide Number 146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2"/>
          <p:cNvSpPr txBox="1">
            <a:spLocks noGrp="1"/>
          </p:cNvSpPr>
          <p:nvPr>
            <p:ph type="title"/>
          </p:nvPr>
        </p:nvSpPr>
        <p:spPr>
          <a:xfrm>
            <a:off x="1587" y="13855"/>
            <a:ext cx="6094413" cy="926757"/>
          </a:xfrm>
          <a:prstGeom prst="rect">
            <a:avLst/>
          </a:prstGeom>
          <a:noFill/>
          <a:ln>
            <a:noFill/>
          </a:ln>
        </p:spPr>
        <p:txBody>
          <a:bodyPr spcFirstLastPara="1" wrap="square" lIns="457200" tIns="45700" rIns="91425" bIns="45700" anchor="ctr" anchorCtr="0">
            <a:noAutofit/>
          </a:bodyPr>
          <a:lstStyle/>
          <a:p>
            <a:pPr marL="0" lvl="0" indent="0" algn="l" rtl="0">
              <a:lnSpc>
                <a:spcPct val="90000"/>
              </a:lnSpc>
              <a:spcBef>
                <a:spcPts val="0"/>
              </a:spcBef>
              <a:spcAft>
                <a:spcPts val="0"/>
              </a:spcAft>
              <a:buClr>
                <a:schemeClr val="lt1"/>
              </a:buClr>
              <a:buSzPts val="4000"/>
              <a:buFont typeface="Calibri"/>
              <a:buNone/>
            </a:pPr>
            <a:r>
              <a:rPr lang="en-US" sz="4000"/>
              <a:t>Objectives</a:t>
            </a:r>
            <a:endParaRPr/>
          </a:p>
        </p:txBody>
      </p:sp>
      <p:sp>
        <p:nvSpPr>
          <p:cNvPr id="3" name="Text Placeholder 2">
            <a:extLst>
              <a:ext uri="{FF2B5EF4-FFF2-40B4-BE49-F238E27FC236}">
                <a16:creationId xmlns:a16="http://schemas.microsoft.com/office/drawing/2014/main" id="{B2EEEC91-34A7-62AC-491B-12E0AC349D8D}"/>
              </a:ext>
            </a:extLst>
          </p:cNvPr>
          <p:cNvSpPr>
            <a:spLocks noGrp="1"/>
          </p:cNvSpPr>
          <p:nvPr>
            <p:ph type="body" idx="1"/>
          </p:nvPr>
        </p:nvSpPr>
        <p:spPr>
          <a:xfrm>
            <a:off x="836615" y="1596189"/>
            <a:ext cx="9831386" cy="4520108"/>
          </a:xfrm>
        </p:spPr>
        <p:txBody>
          <a:bodyPr/>
          <a:lstStyle/>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Determine the effects on the graph of a linear function when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is replaced by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Graph linear function transformations expressed symbolically and show intercepts.</a:t>
            </a:r>
          </a:p>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Identify key characteristics of the graphs of linear functions, such as slope and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-intercept, in terms of quantities from a verbal description.</a:t>
            </a:r>
          </a:p>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Prove that a translated line and its pre-image have the same slope and are, therefore, parallel.</a:t>
            </a:r>
          </a:p>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Write equations of parallel lines.</a:t>
            </a:r>
            <a:endParaRPr lang="en-US" sz="2800" dirty="0">
              <a:latin typeface="Calibri" panose="020F0502020204030204" pitchFamily="34" charset="0"/>
              <a:ea typeface="Calibri" panose="020F0502020204030204" pitchFamily="34" charset="0"/>
              <a:cs typeface="Calibri" panose="020F0502020204030204" pitchFamily="34" charset="0"/>
            </a:endParaRPr>
          </a:p>
        </p:txBody>
      </p:sp>
      <p:sp>
        <p:nvSpPr>
          <p:cNvPr id="1469" name="Slide Number 146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83"/>
        <p:cNvGrpSpPr/>
        <p:nvPr/>
      </p:nvGrpSpPr>
      <p:grpSpPr>
        <a:xfrm>
          <a:off x="0" y="0"/>
          <a:ext cx="0" cy="0"/>
          <a:chOff x="0" y="0"/>
          <a:chExt cx="0" cy="0"/>
        </a:xfrm>
      </p:grpSpPr>
      <p:sp>
        <p:nvSpPr>
          <p:cNvPr id="484" name="Google Shape;484;p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Key Term</a:t>
            </a:r>
            <a:endParaRPr dirty="0"/>
          </a:p>
        </p:txBody>
      </p:sp>
      <p:sp>
        <p:nvSpPr>
          <p:cNvPr id="5" name="Text Placeholder 4">
            <a:extLst>
              <a:ext uri="{FF2B5EF4-FFF2-40B4-BE49-F238E27FC236}">
                <a16:creationId xmlns:a16="http://schemas.microsoft.com/office/drawing/2014/main" id="{DE2FAB43-ED95-9FE3-3D33-4AE3AE7E3CF8}"/>
              </a:ext>
            </a:extLst>
          </p:cNvPr>
          <p:cNvSpPr>
            <a:spLocks noGrp="1"/>
          </p:cNvSpPr>
          <p:nvPr>
            <p:ph type="body" idx="1"/>
          </p:nvPr>
        </p:nvSpPr>
        <p:spPr>
          <a:xfrm>
            <a:off x="777240" y="1559140"/>
            <a:ext cx="10590848" cy="1263192"/>
          </a:xfrm>
        </p:spPr>
        <p:txBody>
          <a:bodyPr/>
          <a:lstStyle/>
          <a:p>
            <a:pPr marL="0" indent="4763">
              <a:spcBef>
                <a:spcPts val="0"/>
              </a:spcBef>
            </a:pPr>
            <a:r>
              <a:rPr lang="en-US" b="1" dirty="0">
                <a:solidFill>
                  <a:srgbClr val="000000"/>
                </a:solidFill>
              </a:rPr>
              <a:t>parent function: </a:t>
            </a:r>
            <a:r>
              <a:rPr lang="en-US" dirty="0"/>
              <a:t>the simplest function of its type </a:t>
            </a:r>
            <a:endParaRPr lang="en-US" b="0" i="0" u="none" dirty="0">
              <a:solidFill>
                <a:srgbClr val="000000"/>
              </a:solidFill>
            </a:endParaRPr>
          </a:p>
        </p:txBody>
      </p:sp>
      <p:sp>
        <p:nvSpPr>
          <p:cNvPr id="6" name="Text Placeholder 4">
            <a:extLst>
              <a:ext uri="{FF2B5EF4-FFF2-40B4-BE49-F238E27FC236}">
                <a16:creationId xmlns:a16="http://schemas.microsoft.com/office/drawing/2014/main" id="{C86FBC3D-4099-8728-62D2-C600D2D19F8B}"/>
              </a:ext>
            </a:extLst>
          </p:cNvPr>
          <p:cNvSpPr txBox="1">
            <a:spLocks/>
          </p:cNvSpPr>
          <p:nvPr/>
        </p:nvSpPr>
        <p:spPr>
          <a:xfrm>
            <a:off x="777240" y="3428999"/>
            <a:ext cx="10590848" cy="1238265"/>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4763">
              <a:spcBef>
                <a:spcPts val="0"/>
              </a:spcBef>
            </a:pPr>
            <a:r>
              <a:rPr lang="en-US" b="1" dirty="0">
                <a:solidFill>
                  <a:srgbClr val="000000"/>
                </a:solidFill>
              </a:rPr>
              <a:t>Example </a:t>
            </a:r>
            <a:endParaRPr lang="en-US" dirty="0"/>
          </a:p>
          <a:p>
            <a:pPr marL="0" indent="4763">
              <a:spcBef>
                <a:spcPts val="0"/>
              </a:spcBef>
            </a:pPr>
            <a:endParaRPr lang="en-US" dirty="0">
              <a:solidFill>
                <a:srgbClr val="000000"/>
              </a:solidFill>
            </a:endParaRPr>
          </a:p>
          <a:p>
            <a:pPr marL="457200" lvl="1" indent="0">
              <a:spcBef>
                <a:spcPts val="0"/>
              </a:spcBef>
              <a:buNone/>
            </a:pP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is the parent function for the linear function family</a:t>
            </a:r>
          </a:p>
        </p:txBody>
      </p:sp>
      <p:sp>
        <p:nvSpPr>
          <p:cNvPr id="1484" name="Slide Number 148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83">
          <a:extLst>
            <a:ext uri="{FF2B5EF4-FFF2-40B4-BE49-F238E27FC236}">
              <a16:creationId xmlns:a16="http://schemas.microsoft.com/office/drawing/2014/main" id="{A0A105E1-1C81-AFF2-43C5-382D8CB7DB8F}"/>
            </a:ext>
          </a:extLst>
        </p:cNvPr>
        <p:cNvGrpSpPr/>
        <p:nvPr/>
      </p:nvGrpSpPr>
      <p:grpSpPr>
        <a:xfrm>
          <a:off x="0" y="0"/>
          <a:ext cx="0" cy="0"/>
          <a:chOff x="0" y="0"/>
          <a:chExt cx="0" cy="0"/>
        </a:xfrm>
      </p:grpSpPr>
      <p:sp>
        <p:nvSpPr>
          <p:cNvPr id="484" name="Google Shape;484;p4">
            <a:extLst>
              <a:ext uri="{FF2B5EF4-FFF2-40B4-BE49-F238E27FC236}">
                <a16:creationId xmlns:a16="http://schemas.microsoft.com/office/drawing/2014/main" id="{104053DC-5CDF-B0EF-AB81-3DC9F953819F}"/>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(1 of 3)</a:t>
            </a:r>
            <a:endParaRPr dirty="0">
              <a:solidFill>
                <a:schemeClr val="bg1"/>
              </a:solidFill>
            </a:endParaRPr>
          </a:p>
        </p:txBody>
      </p:sp>
      <p:sp>
        <p:nvSpPr>
          <p:cNvPr id="2" name="Text Placeholder 4">
            <a:extLst>
              <a:ext uri="{FF2B5EF4-FFF2-40B4-BE49-F238E27FC236}">
                <a16:creationId xmlns:a16="http://schemas.microsoft.com/office/drawing/2014/main" id="{88DE4603-608D-686E-77CD-5F6EF8348709}"/>
              </a:ext>
            </a:extLst>
          </p:cNvPr>
          <p:cNvSpPr>
            <a:spLocks noGrp="1"/>
          </p:cNvSpPr>
          <p:nvPr>
            <p:ph type="body" idx="1"/>
          </p:nvPr>
        </p:nvSpPr>
        <p:spPr>
          <a:xfrm>
            <a:off x="777240" y="1559139"/>
            <a:ext cx="10590848" cy="4609049"/>
          </a:xfrm>
        </p:spPr>
        <p:txBody>
          <a:bodyPr/>
          <a:lstStyle/>
          <a:p>
            <a:pPr marL="4763" indent="-4763" algn="l">
              <a:spcBef>
                <a:spcPts val="0"/>
              </a:spcBef>
            </a:pPr>
            <a:r>
              <a:rPr lang="en-US" b="0" i="0" u="none" strike="noStrike" baseline="0" dirty="0">
                <a:latin typeface="Calibri" panose="020F0502020204030204" pitchFamily="34" charset="0"/>
                <a:ea typeface="Calibri" panose="020F0502020204030204" pitchFamily="34" charset="0"/>
                <a:cs typeface="Calibri" panose="020F0502020204030204" pitchFamily="34" charset="0"/>
              </a:rPr>
              <a:t>You have learned about linear functions and their characteristics, including slope and </a:t>
            </a:r>
            <a:r>
              <a:rPr lang="en-US"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b="0" i="0" u="none" strike="noStrike" baseline="0" dirty="0">
                <a:latin typeface="Calibri" panose="020F0502020204030204" pitchFamily="34" charset="0"/>
                <a:ea typeface="Calibri" panose="020F0502020204030204" pitchFamily="34" charset="0"/>
                <a:cs typeface="Calibri" panose="020F0502020204030204" pitchFamily="34" charset="0"/>
              </a:rPr>
              <a:t>-intercept.</a:t>
            </a:r>
          </a:p>
          <a:p>
            <a:pPr marL="4763" indent="-4763" algn="l">
              <a:spcBef>
                <a:spcPts val="0"/>
              </a:spcBef>
            </a:pPr>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4763" indent="-4763" algn="l">
              <a:spcBef>
                <a:spcPts val="0"/>
              </a:spcBef>
            </a:pPr>
            <a:endParaRPr lang="en-US" b="0" i="0" u="none"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4763" indent="-4763" algn="l">
              <a:spcBef>
                <a:spcPts val="0"/>
              </a:spcBef>
            </a:pPr>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indent="4763" algn="l"/>
            <a:r>
              <a:rPr lang="en-US"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 of linear functions?</a:t>
            </a:r>
            <a:endParaRPr lang="en-US" b="0" i="0" u="none"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1484" name="Slide Number 148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
        <p:nvSpPr>
          <p:cNvPr id="1485" name="Answer 1485"/>
          <p:cNvSpPr txBox="1"/>
          <p:nvPr/>
        </p:nvSpPr>
        <p:spPr>
          <a:xfrm>
            <a:off x="774700" y="4445000"/>
            <a:ext cx="10731500" cy="2349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Translation: y = f(x) + d moves the graph up (d &gt; 0) or down (d &lt; 0) by |d| units. The slope stays the same, so the new line is parallel to the original; the y-intercept changes.</a:t>
            </a:r>
          </a:p>
          <a:p>
            <a:pPr marL="0" indent="0" algn="l">
              <a:spcBef>
                <a:spcPts val="0"/>
              </a:spcBef>
              <a:spcAft>
                <a:spcPts val="300"/>
              </a:spcAft>
              <a:buNone/>
            </a:pPr>
            <a:r>
              <a:rPr lang="en-US" sz="1700" dirty="0">
                <a:solidFill>
                  <a:srgbClr val="FF0000"/>
                </a:solidFill>
              </a:rPr>
              <a:t>Dilation: y = a · f(x) stretches the graph vertically when |a| &gt; 1 and compresses it when 0 &lt; |a| &lt; 1; when a &lt; 0 it is also reflected across the x-axis. The slope changes; for f(x) = x the new slope is a.</a:t>
            </a:r>
          </a:p>
        </p:txBody>
      </p:sp>
    </p:spTree>
    <p:extLst>
      <p:ext uri="{BB962C8B-B14F-4D97-AF65-F5344CB8AC3E}">
        <p14:creationId xmlns:p14="http://schemas.microsoft.com/office/powerpoint/2010/main" val="1627046145"/>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48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90"/>
        <p:cNvGrpSpPr/>
        <p:nvPr/>
      </p:nvGrpSpPr>
      <p:grpSpPr>
        <a:xfrm>
          <a:off x="0" y="0"/>
          <a:ext cx="0" cy="0"/>
          <a:chOff x="0" y="0"/>
          <a:chExt cx="0" cy="0"/>
        </a:xfrm>
      </p:grpSpPr>
      <p:sp>
        <p:nvSpPr>
          <p:cNvPr id="491" name="Google Shape;491;p5"/>
          <p:cNvSpPr txBox="1">
            <a:spLocks noGrp="1"/>
          </p:cNvSpPr>
          <p:nvPr>
            <p:ph type="title"/>
          </p:nvPr>
        </p:nvSpPr>
        <p:spPr>
          <a:xfrm>
            <a:off x="838200" y="-457200"/>
            <a:ext cx="10514013" cy="457200"/>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b="0" i="0" u="none" strike="noStrike" cap="none">
                <a:solidFill>
                  <a:schemeClr val="lt2"/>
                </a:solidFill>
                <a:latin typeface="Calibri"/>
                <a:ea typeface="Calibri"/>
                <a:cs typeface="Calibri"/>
                <a:sym typeface="Calibri"/>
              </a:rPr>
              <a:t>Day 1</a:t>
            </a:r>
            <a:endParaRPr/>
          </a:p>
        </p:txBody>
      </p:sp>
      <p:sp>
        <p:nvSpPr>
          <p:cNvPr id="492" name="Google Shape;492;p5"/>
          <p:cNvSpPr txBox="1">
            <a:spLocks noGrp="1"/>
          </p:cNvSpPr>
          <p:nvPr>
            <p:ph type="body" idx="1"/>
          </p:nvPr>
        </p:nvSpPr>
        <p:spPr>
          <a:xfrm>
            <a:off x="6569242" y="2832927"/>
            <a:ext cx="999215"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dirty="0">
                <a:solidFill>
                  <a:srgbClr val="000000"/>
                </a:solidFill>
                <a:latin typeface="Calibri"/>
                <a:ea typeface="Calibri"/>
                <a:cs typeface="Calibri"/>
                <a:sym typeface="Calibri"/>
              </a:rPr>
              <a:t>1</a:t>
            </a:r>
            <a:endParaRPr dirty="0"/>
          </a:p>
        </p:txBody>
      </p:sp>
      <p:sp>
        <p:nvSpPr>
          <p:cNvPr id="1492" name="Slide Number 149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97"/>
        <p:cNvGrpSpPr/>
        <p:nvPr/>
      </p:nvGrpSpPr>
      <p:grpSpPr>
        <a:xfrm>
          <a:off x="0" y="0"/>
          <a:ext cx="0" cy="0"/>
          <a:chOff x="0" y="0"/>
          <a:chExt cx="0" cy="0"/>
        </a:xfrm>
      </p:grpSpPr>
      <p:sp>
        <p:nvSpPr>
          <p:cNvPr id="498" name="Google Shape;498;p6"/>
          <p:cNvSpPr txBox="1">
            <a:spLocks noGrp="1"/>
          </p:cNvSpPr>
          <p:nvPr>
            <p:ph type="title"/>
          </p:nvPr>
        </p:nvSpPr>
        <p:spPr>
          <a:xfrm>
            <a:off x="838200" y="-336884"/>
            <a:ext cx="10514013" cy="336884"/>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Getting Started</a:t>
            </a:r>
            <a:endParaRPr dirty="0"/>
          </a:p>
        </p:txBody>
      </p:sp>
      <p:sp>
        <p:nvSpPr>
          <p:cNvPr id="499" name="Google Shape;499;p6" descr="15 to 20 minutes"/>
          <p:cNvSpPr txBox="1">
            <a:spLocks noGrp="1"/>
          </p:cNvSpPr>
          <p:nvPr>
            <p:ph type="body" idx="1"/>
          </p:nvPr>
        </p:nvSpPr>
        <p:spPr>
          <a:xfrm>
            <a:off x="10623011" y="5774424"/>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1499" name="Slide Number 14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04"/>
        <p:cNvGrpSpPr/>
        <p:nvPr/>
      </p:nvGrpSpPr>
      <p:grpSpPr>
        <a:xfrm>
          <a:off x="0" y="0"/>
          <a:ext cx="0" cy="0"/>
          <a:chOff x="0" y="0"/>
          <a:chExt cx="0" cy="0"/>
        </a:xfrm>
      </p:grpSpPr>
      <p:sp>
        <p:nvSpPr>
          <p:cNvPr id="505" name="Google Shape;505;p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(1 of 8)</a:t>
            </a:r>
            <a:endParaRPr dirty="0">
              <a:solidFill>
                <a:schemeClr val="bg1"/>
              </a:solidFill>
            </a:endParaRPr>
          </a:p>
        </p:txBody>
      </p:sp>
      <p:pic>
        <p:nvPicPr>
          <p:cNvPr id="507" name="Google Shape;507;p7" descr="A graph of line segment A B on the coordinate plane. The line segment rises from left to right, from point A at (negative 8, negative 8) to point B at (8, 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56996" y="1616140"/>
            <a:ext cx="3937863" cy="4049312"/>
          </a:xfrm>
          <a:prstGeom prst="rect">
            <a:avLst/>
          </a:prstGeom>
          <a:noFill/>
          <a:ln>
            <a:noFill/>
          </a:ln>
        </p:spPr>
      </p:pic>
      <mc:AlternateContent xmlns:mc="http://schemas.openxmlformats.org/markup-compatibility/2006" xmlns:a14="http://schemas.microsoft.com/office/drawing/2010/main">
        <mc:Choice Requires="a14">
          <p:sp>
            <p:nvSpPr>
              <p:cNvPr id="508" name="Google Shape;508;p7"/>
              <p:cNvSpPr txBox="1"/>
              <p:nvPr/>
            </p:nvSpPr>
            <p:spPr>
              <a:xfrm>
                <a:off x="4740442" y="1616140"/>
                <a:ext cx="7223760" cy="4786783"/>
              </a:xfrm>
              <a:prstGeom prst="rect">
                <a:avLst/>
              </a:prstGeom>
              <a:noFill/>
              <a:ln>
                <a:noFill/>
              </a:ln>
            </p:spPr>
            <p:txBody>
              <a:bodyPr spcFirstLastPara="1" wrap="square" lIns="91425" tIns="45700" rIns="91425" bIns="45700" anchor="t" anchorCtr="0">
                <a:spAutoFit/>
              </a:bodyPr>
              <a:lstStyle/>
              <a:p>
                <a:pPr marR="0" lvl="0" algn="l" rtl="0">
                  <a:spcBef>
                    <a:spcPts val="0"/>
                  </a:spcBef>
                  <a:spcAft>
                    <a:spcPts val="1800"/>
                  </a:spcAft>
                  <a:buClr>
                    <a:srgbClr val="000000"/>
                  </a:buClr>
                  <a:buSzPts val="2400"/>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Consider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𝐴𝐵</m:t>
                        </m:r>
                      </m:e>
                    </m:acc>
                  </m:oMath>
                </a14:m>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with coordinates </a:t>
                </a:r>
                <a14:m>
                  <m:oMath xmlns:m="http://schemas.openxmlformats.org/officeDocument/2006/math">
                    <m:r>
                      <a:rPr lang="en-US" sz="2800" b="0" i="1" smtClean="0">
                        <a:solidFill>
                          <a:srgbClr val="000000"/>
                        </a:solidFill>
                        <a:latin typeface="Cambria Math" panose="02040503050406030204" pitchFamily="18" charset="0"/>
                        <a:ea typeface="Calibri"/>
                        <a:cs typeface="Calibri"/>
                        <a:sym typeface="Calibri"/>
                      </a:rPr>
                      <m:t>𝐴</m:t>
                    </m:r>
                    <m:d>
                      <m:dPr>
                        <m:ctrlPr>
                          <a:rPr lang="en-US" sz="2800" b="0" i="1" smtClean="0">
                            <a:solidFill>
                              <a:srgbClr val="000000"/>
                            </a:solidFill>
                            <a:latin typeface="Cambria Math" panose="02040503050406030204" pitchFamily="18" charset="0"/>
                            <a:ea typeface="Calibri"/>
                            <a:cs typeface="Calibri"/>
                            <a:sym typeface="Calibri"/>
                          </a:rPr>
                        </m:ctrlPr>
                      </m:dPr>
                      <m:e>
                        <m:r>
                          <a:rPr lang="en-US" sz="2800" b="0" i="1" smtClean="0">
                            <a:solidFill>
                              <a:srgbClr val="000000"/>
                            </a:solidFill>
                            <a:latin typeface="Cambria Math" panose="02040503050406030204" pitchFamily="18" charset="0"/>
                            <a:ea typeface="Calibri"/>
                            <a:cs typeface="Calibri"/>
                            <a:sym typeface="Calibri"/>
                          </a:rPr>
                          <m:t>−8, −8</m:t>
                        </m:r>
                      </m:e>
                    </m:d>
                  </m:oMath>
                </a14:m>
                <a:br>
                  <a:rPr lang="en-US" sz="2800" b="0" dirty="0">
                    <a:solidFill>
                      <a:srgbClr val="000000"/>
                    </a:solidFill>
                    <a:latin typeface="Calibri" panose="020F0502020204030204" pitchFamily="34" charset="0"/>
                    <a:ea typeface="Calibri"/>
                    <a:cs typeface="Calibri"/>
                    <a:sym typeface="Calibri"/>
                  </a:rPr>
                </a:b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and </a:t>
                </a:r>
                <a14:m>
                  <m:oMath xmlns:m="http://schemas.openxmlformats.org/officeDocument/2006/math">
                    <m:r>
                      <a:rPr lang="en-US" sz="2800" b="0" i="1" smtClean="0">
                        <a:solidFill>
                          <a:srgbClr val="000000"/>
                        </a:solidFill>
                        <a:latin typeface="Cambria Math" panose="02040503050406030204" pitchFamily="18" charset="0"/>
                        <a:ea typeface="Calibri"/>
                        <a:cs typeface="Calibri"/>
                        <a:sym typeface="Calibri"/>
                      </a:rPr>
                      <m:t>𝐵</m:t>
                    </m:r>
                    <m:r>
                      <a:rPr lang="en-US" sz="2800" b="0" i="1" smtClean="0">
                        <a:solidFill>
                          <a:srgbClr val="000000"/>
                        </a:solidFill>
                        <a:latin typeface="Cambria Math" panose="02040503050406030204" pitchFamily="18" charset="0"/>
                        <a:ea typeface="Calibri"/>
                        <a:cs typeface="Calibri"/>
                        <a:sym typeface="Calibri"/>
                      </a:rPr>
                      <m:t>(8, 8)</m:t>
                    </m:r>
                  </m:oMath>
                </a14:m>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p>
              <a:p>
                <a:pPr marR="0" lvl="0" algn="l" rtl="0">
                  <a:spcBef>
                    <a:spcPts val="0"/>
                  </a:spcBef>
                  <a:spcAft>
                    <a:spcPts val="1200"/>
                  </a:spcAft>
                  <a:buClr>
                    <a:srgbClr val="000000"/>
                  </a:buClr>
                  <a:buSzPts val="2400"/>
                </a:pPr>
                <a:r>
                  <a:rPr lang="en-US" sz="2800" dirty="0">
                    <a:latin typeface="Calibri" panose="020F0502020204030204" pitchFamily="34" charset="0"/>
                    <a:ea typeface="Calibri" panose="020F0502020204030204" pitchFamily="34" charset="0"/>
                    <a:cs typeface="Calibri" panose="020F0502020204030204" pitchFamily="34" charset="0"/>
                    <a:sym typeface="Calibri"/>
                  </a:rPr>
                  <a:t>Follow your teacher’s instructions to copy this line segment on a coordinate plane on the floor of your classroom, with different students standing at different points on the line segment.</a:t>
                </a:r>
                <a:endPar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457200" marR="0" lvl="0" indent="-457200" algn="l" rtl="0">
                  <a:spcBef>
                    <a:spcPts val="0"/>
                  </a:spcBef>
                  <a:spcAft>
                    <a:spcPts val="0"/>
                  </a:spcAft>
                  <a:buClr>
                    <a:srgbClr val="000000"/>
                  </a:buClr>
                  <a:buSzPct val="100000"/>
                  <a:buFont typeface="Calibri"/>
                  <a:buAutoNum type="arabi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Move on the coordinate plane to translate the entire line segment up 4 units and then down 4 units. Describe how the student “points” move.</a:t>
                </a:r>
                <a:endParaRPr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08" name="Google Shape;508;p7"/>
              <p:cNvSpPr txBox="1">
                <a:spLocks noRot="1" noChangeAspect="1" noMove="1" noResize="1" noEditPoints="1" noAdjustHandles="1" noChangeArrowheads="1" noChangeShapeType="1" noTextEdit="1"/>
              </p:cNvSpPr>
              <p:nvPr/>
            </p:nvSpPr>
            <p:spPr>
              <a:xfrm>
                <a:off x="4740442" y="1616140"/>
                <a:ext cx="7223760" cy="4786783"/>
              </a:xfrm>
              <a:prstGeom prst="rect">
                <a:avLst/>
              </a:prstGeom>
              <a:blipFill>
                <a:blip r:embed="rId4"/>
                <a:stretch>
                  <a:fillRect l="-1772" t="-1146" r="-759" b="-2675"/>
                </a:stretch>
              </a:blipFill>
              <a:ln>
                <a:noFill/>
              </a:ln>
            </p:spPr>
            <p:txBody>
              <a:bodyPr/>
              <a:lstStyle/>
              <a:p>
                <a:r>
                  <a:rPr lang="en-US">
                    <a:noFill/>
                  </a:rPr>
                  <a:t> </a:t>
                </a:r>
              </a:p>
            </p:txBody>
          </p:sp>
        </mc:Fallback>
      </mc:AlternateContent>
      <p:sp>
        <p:nvSpPr>
          <p:cNvPr id="1508" name="Slide Number 150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
        <p:nvSpPr>
          <p:cNvPr id="1509" name="Answer 1509"/>
          <p:cNvSpPr txBox="1"/>
          <p:nvPr/>
        </p:nvSpPr>
        <p:spPr>
          <a:xfrm>
            <a:off x="698500" y="5746750"/>
            <a:ext cx="4064000" cy="1047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The points move straight up or straight down. There is no movement left or right.</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0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13"/>
        <p:cNvGrpSpPr/>
        <p:nvPr/>
      </p:nvGrpSpPr>
      <p:grpSpPr>
        <a:xfrm>
          <a:off x="0" y="0"/>
          <a:ext cx="0" cy="0"/>
          <a:chOff x="0" y="0"/>
          <a:chExt cx="0" cy="0"/>
        </a:xfrm>
      </p:grpSpPr>
      <p:sp>
        <p:nvSpPr>
          <p:cNvPr id="514" name="Google Shape;514;p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(2 of 8)</a:t>
            </a:r>
            <a:endParaRPr dirty="0">
              <a:solidFill>
                <a:schemeClr val="bg1"/>
              </a:solidFill>
            </a:endParaRPr>
          </a:p>
        </p:txBody>
      </p:sp>
      <p:graphicFrame>
        <p:nvGraphicFramePr>
          <p:cNvPr id="516" name="Google Shape;516;p8"/>
          <p:cNvGraphicFramePr/>
          <p:nvPr>
            <p:extLst>
              <p:ext uri="{D42A27DB-BD31-4B8C-83A1-F6EECF244321}">
                <p14:modId xmlns:p14="http://schemas.microsoft.com/office/powerpoint/2010/main" val="3621066502"/>
              </p:ext>
            </p:extLst>
          </p:nvPr>
        </p:nvGraphicFramePr>
        <p:xfrm>
          <a:off x="1428728" y="2401833"/>
          <a:ext cx="6858000" cy="1828800"/>
        </p:xfrm>
        <a:graphic>
          <a:graphicData uri="http://schemas.openxmlformats.org/drawingml/2006/table">
            <a:tbl>
              <a:tblPr firstRow="1" bandRow="1">
                <a:noFill/>
                <a:tableStyleId>{279AD5BC-A5CE-4E06-8A13-34D5E8DF52F5}</a:tableStyleId>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914400">
                <a:tc>
                  <a:txBody>
                    <a:bodyPr/>
                    <a:lstStyle/>
                    <a:p>
                      <a:pPr marL="0" marR="0" lvl="0" indent="0" algn="ctr" rtl="0">
                        <a:spcBef>
                          <a:spcPts val="0"/>
                        </a:spcBef>
                        <a:spcAft>
                          <a:spcPts val="0"/>
                        </a:spcAft>
                        <a:buNone/>
                      </a:pPr>
                      <a:r>
                        <a:rPr lang="en-US" sz="2000" u="none" strike="noStrike" cap="none" dirty="0">
                          <a:solidFill>
                            <a:schemeClr val="lt1"/>
                          </a:solidFill>
                        </a:rPr>
                        <a:t>Original Point</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tc>
                  <a:txBody>
                    <a:bodyPr/>
                    <a:lstStyle/>
                    <a:p>
                      <a:pPr marL="0" marR="0" lvl="0" indent="0" algn="ctr" rtl="0">
                        <a:spcBef>
                          <a:spcPts val="0"/>
                        </a:spcBef>
                        <a:spcAft>
                          <a:spcPts val="0"/>
                        </a:spcAft>
                        <a:buNone/>
                      </a:pPr>
                      <a:r>
                        <a:rPr lang="en-US" sz="2000" u="none" strike="noStrike" cap="none" dirty="0">
                          <a:solidFill>
                            <a:schemeClr val="lt1"/>
                          </a:solidFill>
                        </a:rPr>
                        <a:t>4 Units Up</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tc>
                  <a:txBody>
                    <a:bodyPr/>
                    <a:lstStyle/>
                    <a:p>
                      <a:pPr marL="0" marR="0" lvl="0" indent="0" algn="ctr" rtl="0">
                        <a:spcBef>
                          <a:spcPts val="0"/>
                        </a:spcBef>
                        <a:spcAft>
                          <a:spcPts val="0"/>
                        </a:spcAft>
                        <a:buNone/>
                      </a:pPr>
                      <a:r>
                        <a:rPr lang="en-US" sz="2000" u="none" strike="noStrike" cap="none" dirty="0">
                          <a:solidFill>
                            <a:schemeClr val="lt1"/>
                          </a:solidFill>
                        </a:rPr>
                        <a:t>4 Units Down</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extLst>
                  <a:ext uri="{0D108BD9-81ED-4DB2-BD59-A6C34878D82A}">
                    <a16:rowId xmlns:a16="http://schemas.microsoft.com/office/drawing/2014/main" val="10000"/>
                  </a:ext>
                </a:extLst>
              </a:tr>
              <a:tr h="914400">
                <a:tc>
                  <a:txBody>
                    <a:bodyPr/>
                    <a:lstStyle/>
                    <a:p>
                      <a:pPr marL="0" marR="0" lvl="0" indent="0" algn="ctr" rtl="0">
                        <a:spcBef>
                          <a:spcPts val="0"/>
                        </a:spcBef>
                        <a:spcAft>
                          <a:spcPts val="0"/>
                        </a:spcAft>
                        <a:buNone/>
                      </a:pPr>
                      <a:r>
                        <a:rPr lang="en-US" sz="2000" dirty="0">
                          <a:solidFill>
                            <a:srgbClr val="000000"/>
                          </a:solidFill>
                        </a:rPr>
                        <a:t>(</a:t>
                      </a:r>
                      <a:r>
                        <a:rPr lang="en-US" sz="2000" i="1" dirty="0">
                          <a:solidFill>
                            <a:srgbClr val="000000"/>
                          </a:solidFill>
                        </a:rPr>
                        <a:t>x</a:t>
                      </a:r>
                      <a:r>
                        <a:rPr lang="en-US" sz="2000" dirty="0">
                          <a:solidFill>
                            <a:srgbClr val="000000"/>
                          </a:solidFill>
                        </a:rPr>
                        <a:t>, </a:t>
                      </a:r>
                      <a:r>
                        <a:rPr lang="en-US" sz="2000" i="1" dirty="0">
                          <a:solidFill>
                            <a:srgbClr val="000000"/>
                          </a:solidFill>
                        </a:rPr>
                        <a:t>y</a:t>
                      </a:r>
                      <a:r>
                        <a:rPr lang="en-US" sz="2000" dirty="0">
                          <a:solidFill>
                            <a:srgbClr val="000000"/>
                          </a:solidFill>
                        </a:rPr>
                        <a:t>)</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bl>
          </a:graphicData>
        </a:graphic>
      </p:graphicFrame>
      <p:sp>
        <p:nvSpPr>
          <p:cNvPr id="517" name="Google Shape;517;p8"/>
          <p:cNvSpPr txBox="1"/>
          <p:nvPr/>
        </p:nvSpPr>
        <p:spPr>
          <a:xfrm>
            <a:off x="777240" y="1615095"/>
            <a:ext cx="10024110" cy="523220"/>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2"/>
            </a:pPr>
            <a:r>
              <a:rPr lang="en-US" sz="2800" dirty="0">
                <a:solidFill>
                  <a:srgbClr val="000000"/>
                </a:solidFill>
                <a:latin typeface="Calibri"/>
                <a:ea typeface="Calibri"/>
                <a:cs typeface="Calibri"/>
                <a:sym typeface="Calibri"/>
              </a:rPr>
              <a:t>How do the translations affect the coordinates of the figure? </a:t>
            </a:r>
            <a:endParaRPr dirty="0"/>
          </a:p>
        </p:txBody>
      </p:sp>
      <p:sp>
        <p:nvSpPr>
          <p:cNvPr id="1517" name="Slide Number 151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
        <p:nvSpPr>
          <p:cNvPr id="1518" name="Answer 1518"/>
          <p:cNvSpPr txBox="1"/>
          <p:nvPr/>
        </p:nvSpPr>
        <p:spPr>
          <a:xfrm>
            <a:off x="3714750" y="3314700"/>
            <a:ext cx="2286000" cy="9144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600" dirty="0">
                <a:solidFill>
                  <a:srgbClr val="FF0000"/>
                </a:solidFill>
              </a:rPr>
              <a:t>(x, y + 4)</a:t>
            </a:r>
          </a:p>
        </p:txBody>
      </p:sp>
      <p:sp>
        <p:nvSpPr>
          <p:cNvPr id="1519" name="Answer 1519"/>
          <p:cNvSpPr txBox="1"/>
          <p:nvPr/>
        </p:nvSpPr>
        <p:spPr>
          <a:xfrm>
            <a:off x="6000750" y="3314700"/>
            <a:ext cx="2286000" cy="9144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600" dirty="0">
                <a:solidFill>
                  <a:srgbClr val="FF0000"/>
                </a:solidFill>
              </a:rPr>
              <a:t>(x, y − 4)</a:t>
            </a:r>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18"/>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5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22"/>
        <p:cNvGrpSpPr/>
        <p:nvPr/>
      </p:nvGrpSpPr>
      <p:grpSpPr>
        <a:xfrm>
          <a:off x="0" y="0"/>
          <a:ext cx="0" cy="0"/>
          <a:chOff x="0" y="0"/>
          <a:chExt cx="0" cy="0"/>
        </a:xfrm>
      </p:grpSpPr>
      <p:sp>
        <p:nvSpPr>
          <p:cNvPr id="523" name="Google Shape;523;p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(3 of 8)</a:t>
            </a:r>
            <a:endParaRPr dirty="0">
              <a:solidFill>
                <a:schemeClr val="bg1"/>
              </a:solidFill>
            </a:endParaRPr>
          </a:p>
        </p:txBody>
      </p:sp>
      <p:pic>
        <p:nvPicPr>
          <p:cNvPr id="525" name="Google Shape;525;p9" descr="A graph of line segment A B on the coordinate plane. The line segment rises from left to right, from point A at (negative 8, negative 8) to point B at (8, 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571974" y="3001845"/>
            <a:ext cx="3046464" cy="3062931"/>
          </a:xfrm>
          <a:prstGeom prst="rect">
            <a:avLst/>
          </a:prstGeom>
          <a:noFill/>
          <a:ln>
            <a:noFill/>
          </a:ln>
        </p:spPr>
      </p:pic>
      <mc:AlternateContent xmlns:mc="http://schemas.openxmlformats.org/markup-compatibility/2006" xmlns:a14="http://schemas.microsoft.com/office/drawing/2010/main">
        <mc:Choice Requires="a14">
          <p:sp>
            <p:nvSpPr>
              <p:cNvPr id="2" name="Google Shape;517;p8">
                <a:extLst>
                  <a:ext uri="{FF2B5EF4-FFF2-40B4-BE49-F238E27FC236}">
                    <a16:creationId xmlns:a16="http://schemas.microsoft.com/office/drawing/2014/main" id="{7E4BA802-88DF-01BB-2374-EB1633A922E5}"/>
                  </a:ext>
                </a:extLst>
              </p:cNvPr>
              <p:cNvSpPr txBox="1"/>
              <p:nvPr/>
            </p:nvSpPr>
            <p:spPr>
              <a:xfrm>
                <a:off x="777239" y="1615095"/>
                <a:ext cx="10372023" cy="1386750"/>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3"/>
                </a:pPr>
                <a:r>
                  <a:rPr lang="en-US" sz="2800" dirty="0">
                    <a:solidFill>
                      <a:srgbClr val="000000"/>
                    </a:solidFill>
                    <a:latin typeface="Calibri"/>
                    <a:ea typeface="Calibri"/>
                    <a:cs typeface="Calibri"/>
                    <a:sym typeface="Calibri"/>
                  </a:rPr>
                  <a:t>Draw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𝐶𝐷</m:t>
                        </m:r>
                      </m:e>
                    </m:acc>
                  </m:oMath>
                </a14:m>
                <a:r>
                  <a:rPr lang="en-US" sz="2800" dirty="0">
                    <a:solidFill>
                      <a:srgbClr val="000000"/>
                    </a:solidFill>
                    <a:latin typeface="Calibri"/>
                    <a:ea typeface="Calibri"/>
                    <a:cs typeface="Calibri"/>
                    <a:sym typeface="Calibri"/>
                  </a:rPr>
                  <a:t> on the coordinate plane so that it is a vertical translation of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𝐴𝐵</m:t>
                        </m:r>
                      </m:e>
                    </m:acc>
                  </m:oMath>
                </a14:m>
                <a:r>
                  <a:rPr lang="en-US" sz="2800" dirty="0">
                    <a:solidFill>
                      <a:srgbClr val="000000"/>
                    </a:solidFill>
                    <a:latin typeface="Calibri"/>
                    <a:ea typeface="Calibri"/>
                    <a:cs typeface="Calibri"/>
                    <a:sym typeface="Calibri"/>
                  </a:rPr>
                  <a:t> up 4 units. Compare the two line segments. Describe how they are related. </a:t>
                </a:r>
                <a:endParaRPr dirty="0"/>
              </a:p>
            </p:txBody>
          </p:sp>
        </mc:Choice>
        <mc:Fallback xmlns="">
          <p:sp>
            <p:nvSpPr>
              <p:cNvPr id="2" name="Google Shape;517;p8">
                <a:extLst>
                  <a:ext uri="{FF2B5EF4-FFF2-40B4-BE49-F238E27FC236}">
                    <a16:creationId xmlns:a16="http://schemas.microsoft.com/office/drawing/2014/main" id="{7E4BA802-88DF-01BB-2374-EB1633A922E5}"/>
                  </a:ext>
                </a:extLst>
              </p:cNvPr>
              <p:cNvSpPr txBox="1">
                <a:spLocks noRot="1" noChangeAspect="1" noMove="1" noResize="1" noEditPoints="1" noAdjustHandles="1" noChangeArrowheads="1" noChangeShapeType="1" noTextEdit="1"/>
              </p:cNvSpPr>
              <p:nvPr/>
            </p:nvSpPr>
            <p:spPr>
              <a:xfrm>
                <a:off x="777239" y="1615095"/>
                <a:ext cx="10372023" cy="1386750"/>
              </a:xfrm>
              <a:prstGeom prst="rect">
                <a:avLst/>
              </a:prstGeom>
              <a:blipFill>
                <a:blip r:embed="rId4"/>
                <a:stretch>
                  <a:fillRect l="-1234" t="-4846" r="-999" b="-11894"/>
                </a:stretch>
              </a:blipFill>
              <a:ln>
                <a:noFill/>
              </a:ln>
            </p:spPr>
            <p:txBody>
              <a:bodyPr/>
              <a:lstStyle/>
              <a:p>
                <a:r>
                  <a:rPr lang="en-US">
                    <a:noFill/>
                  </a:rPr>
                  <a:t> </a:t>
                </a:r>
              </a:p>
            </p:txBody>
          </p:sp>
        </mc:Fallback>
      </mc:AlternateContent>
      <p:sp>
        <p:nvSpPr>
          <p:cNvPr id="1525" name="Slide Number 152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
        <p:nvSpPr>
          <p:cNvPr id="1526" name="Answer 1526"/>
          <p:cNvSpPr txBox="1"/>
          <p:nvPr/>
        </p:nvSpPr>
        <p:spPr>
          <a:xfrm>
            <a:off x="7874000" y="3048000"/>
            <a:ext cx="4064000" cy="304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C(−8, −4) and D(8, 12): every point of AB moves up 4.</a:t>
            </a:r>
          </a:p>
          <a:p>
            <a:pPr marL="0" indent="0" algn="l">
              <a:spcBef>
                <a:spcPts val="0"/>
              </a:spcBef>
              <a:spcAft>
                <a:spcPts val="300"/>
              </a:spcAft>
              <a:buNone/>
            </a:pPr>
            <a:r>
              <a:rPr lang="en-US" sz="2000" dirty="0">
                <a:solidFill>
                  <a:srgbClr val="FF0000"/>
                </a:solidFill>
              </a:rPr>
              <a:t>The segments are parallel, with CD 4 units above AB.</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22">
          <a:extLst>
            <a:ext uri="{FF2B5EF4-FFF2-40B4-BE49-F238E27FC236}">
              <a16:creationId xmlns:a16="http://schemas.microsoft.com/office/drawing/2014/main" id="{CF2CC8DD-23A1-B8D2-4F21-BD48469BDD4E}"/>
            </a:ext>
          </a:extLst>
        </p:cNvPr>
        <p:cNvGrpSpPr/>
        <p:nvPr/>
      </p:nvGrpSpPr>
      <p:grpSpPr>
        <a:xfrm>
          <a:off x="0" y="0"/>
          <a:ext cx="0" cy="0"/>
          <a:chOff x="0" y="0"/>
          <a:chExt cx="0" cy="0"/>
        </a:xfrm>
      </p:grpSpPr>
      <p:sp>
        <p:nvSpPr>
          <p:cNvPr id="523" name="Google Shape;523;p9">
            <a:extLst>
              <a:ext uri="{FF2B5EF4-FFF2-40B4-BE49-F238E27FC236}">
                <a16:creationId xmlns:a16="http://schemas.microsoft.com/office/drawing/2014/main" id="{645F5695-6CC4-ECA1-B5E5-F023D0D135BB}"/>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(4 of 8)</a:t>
            </a:r>
            <a:endParaRPr dirty="0">
              <a:solidFill>
                <a:schemeClr val="bg1"/>
              </a:solidFill>
            </a:endParaRPr>
          </a:p>
        </p:txBody>
      </p:sp>
      <p:sp>
        <p:nvSpPr>
          <p:cNvPr id="2" name="Google Shape;517;p8">
            <a:extLst>
              <a:ext uri="{FF2B5EF4-FFF2-40B4-BE49-F238E27FC236}">
                <a16:creationId xmlns:a16="http://schemas.microsoft.com/office/drawing/2014/main" id="{BA0CA76D-BD1B-7A86-F3FF-104E5AE134A6}"/>
              </a:ext>
            </a:extLst>
          </p:cNvPr>
          <p:cNvSpPr txBox="1"/>
          <p:nvPr/>
        </p:nvSpPr>
        <p:spPr>
          <a:xfrm>
            <a:off x="777239" y="1615095"/>
            <a:ext cx="10805161" cy="954067"/>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4"/>
            </a:pPr>
            <a:r>
              <a:rPr lang="en-US" sz="2800" dirty="0">
                <a:solidFill>
                  <a:srgbClr val="000000"/>
                </a:solidFill>
                <a:latin typeface="Calibri"/>
                <a:ea typeface="Calibri"/>
                <a:cs typeface="Calibri"/>
                <a:sym typeface="Calibri"/>
              </a:rPr>
              <a:t>Move back to where you started. Then, multiply all the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-coordinates by 2 and then by −2. Describe how the student “points” move. </a:t>
            </a:r>
            <a:endParaRPr dirty="0"/>
          </a:p>
        </p:txBody>
      </p:sp>
      <p:sp>
        <p:nvSpPr>
          <p:cNvPr id="1523" name="Slide Number 152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
        <p:nvSpPr>
          <p:cNvPr id="1524" name="Answer 1524"/>
          <p:cNvSpPr txBox="1"/>
          <p:nvPr/>
        </p:nvSpPr>
        <p:spPr>
          <a:xfrm>
            <a:off x="774700" y="2540000"/>
            <a:ext cx="10795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Each point moves straight up or down, away from the x-axis (twice as far). The segment gets steeper: a vertical stretch. When the factor is −2, the points also reflect across the x-axis.</a:t>
            </a:r>
          </a:p>
        </p:txBody>
      </p:sp>
    </p:spTree>
    <p:extLst>
      <p:ext uri="{BB962C8B-B14F-4D97-AF65-F5344CB8AC3E}">
        <p14:creationId xmlns:p14="http://schemas.microsoft.com/office/powerpoint/2010/main" val="208882810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31"/>
        <p:cNvGrpSpPr/>
        <p:nvPr/>
      </p:nvGrpSpPr>
      <p:grpSpPr>
        <a:xfrm>
          <a:off x="0" y="0"/>
          <a:ext cx="0" cy="0"/>
          <a:chOff x="0" y="0"/>
          <a:chExt cx="0" cy="0"/>
        </a:xfrm>
      </p:grpSpPr>
      <p:sp>
        <p:nvSpPr>
          <p:cNvPr id="532" name="Google Shape;532;p10"/>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(5 of 8)</a:t>
            </a:r>
            <a:endParaRPr dirty="0">
              <a:solidFill>
                <a:schemeClr val="bg1"/>
              </a:solidFill>
            </a:endParaRPr>
          </a:p>
        </p:txBody>
      </p:sp>
      <p:pic>
        <p:nvPicPr>
          <p:cNvPr id="534" name="Google Shape;534;p10" descr="A graph of line segment A B on the coordinate plane. The line segment rises from left to right, from point A at (negative 8, negative 8) to point B at (8, 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498848" y="2854693"/>
            <a:ext cx="3192715" cy="3821585"/>
          </a:xfrm>
          <a:prstGeom prst="rect">
            <a:avLst/>
          </a:prstGeom>
          <a:noFill/>
          <a:ln>
            <a:noFill/>
          </a:ln>
        </p:spPr>
      </p:pic>
      <mc:AlternateContent xmlns:mc="http://schemas.openxmlformats.org/markup-compatibility/2006" xmlns:a14="http://schemas.microsoft.com/office/drawing/2010/main">
        <mc:Choice Requires="a14">
          <p:sp>
            <p:nvSpPr>
              <p:cNvPr id="2" name="Google Shape;517;p8">
                <a:extLst>
                  <a:ext uri="{FF2B5EF4-FFF2-40B4-BE49-F238E27FC236}">
                    <a16:creationId xmlns:a16="http://schemas.microsoft.com/office/drawing/2014/main" id="{18640970-F361-462C-25EC-8CED0D60591B}"/>
                  </a:ext>
                </a:extLst>
              </p:cNvPr>
              <p:cNvSpPr txBox="1"/>
              <p:nvPr/>
            </p:nvSpPr>
            <p:spPr>
              <a:xfrm>
                <a:off x="777239" y="1615095"/>
                <a:ext cx="10805161" cy="1385852"/>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5"/>
                </a:pPr>
                <a:r>
                  <a:rPr lang="en-US" sz="2800" dirty="0">
                    <a:solidFill>
                      <a:srgbClr val="000000"/>
                    </a:solidFill>
                    <a:latin typeface="Calibri"/>
                    <a:ea typeface="Calibri"/>
                    <a:cs typeface="Calibri"/>
                    <a:sym typeface="Calibri"/>
                  </a:rPr>
                  <a:t>Draw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𝐸𝐹</m:t>
                        </m:r>
                      </m:e>
                    </m:acc>
                  </m:oMath>
                </a14:m>
                <a:r>
                  <a:rPr lang="en-US" sz="2800" dirty="0">
                    <a:solidFill>
                      <a:srgbClr val="000000"/>
                    </a:solidFill>
                    <a:latin typeface="Calibri"/>
                    <a:ea typeface="Calibri"/>
                    <a:cs typeface="Calibri"/>
                    <a:sym typeface="Calibri"/>
                  </a:rPr>
                  <a:t> on the coordinate plane by multiplying all the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-coordinates of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𝐴𝐵</m:t>
                        </m:r>
                      </m:e>
                    </m:acc>
                  </m:oMath>
                </a14:m>
                <a:r>
                  <a:rPr lang="en-US" sz="2800" dirty="0">
                    <a:solidFill>
                      <a:srgbClr val="000000"/>
                    </a:solidFill>
                    <a:latin typeface="Calibri"/>
                    <a:ea typeface="Calibri"/>
                    <a:cs typeface="Calibri"/>
                    <a:sym typeface="Calibri"/>
                  </a:rPr>
                  <a:t> by 2. Compare the two line segments. Describe how they</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are related. </a:t>
                </a:r>
                <a:endParaRPr dirty="0"/>
              </a:p>
            </p:txBody>
          </p:sp>
        </mc:Choice>
        <mc:Fallback xmlns="">
          <p:sp>
            <p:nvSpPr>
              <p:cNvPr id="2" name="Google Shape;517;p8">
                <a:extLst>
                  <a:ext uri="{FF2B5EF4-FFF2-40B4-BE49-F238E27FC236}">
                    <a16:creationId xmlns:a16="http://schemas.microsoft.com/office/drawing/2014/main" id="{18640970-F361-462C-25EC-8CED0D60591B}"/>
                  </a:ext>
                </a:extLst>
              </p:cNvPr>
              <p:cNvSpPr txBox="1">
                <a:spLocks noRot="1" noChangeAspect="1" noMove="1" noResize="1" noEditPoints="1" noAdjustHandles="1" noChangeArrowheads="1" noChangeShapeType="1" noTextEdit="1"/>
              </p:cNvSpPr>
              <p:nvPr/>
            </p:nvSpPr>
            <p:spPr>
              <a:xfrm>
                <a:off x="777239" y="1615095"/>
                <a:ext cx="10805161" cy="1385852"/>
              </a:xfrm>
              <a:prstGeom prst="rect">
                <a:avLst/>
              </a:prstGeom>
              <a:blipFill>
                <a:blip r:embed="rId4"/>
                <a:stretch>
                  <a:fillRect l="-1184" t="-4846" r="-1015" b="-11894"/>
                </a:stretch>
              </a:blipFill>
              <a:ln>
                <a:noFill/>
              </a:ln>
            </p:spPr>
            <p:txBody>
              <a:bodyPr/>
              <a:lstStyle/>
              <a:p>
                <a:r>
                  <a:rPr lang="en-US">
                    <a:noFill/>
                  </a:rPr>
                  <a:t> </a:t>
                </a:r>
              </a:p>
            </p:txBody>
          </p:sp>
        </mc:Fallback>
      </mc:AlternateContent>
      <p:sp>
        <p:nvSpPr>
          <p:cNvPr id="1534" name="Slide Number 153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
        <p:nvSpPr>
          <p:cNvPr id="1535" name="Answer 1535"/>
          <p:cNvSpPr txBox="1"/>
          <p:nvPr/>
        </p:nvSpPr>
        <p:spPr>
          <a:xfrm>
            <a:off x="7937500" y="2984500"/>
            <a:ext cx="4064000" cy="317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E(−8, −16) and F(8, 16).</a:t>
            </a:r>
          </a:p>
          <a:p>
            <a:pPr marL="0" indent="0" algn="l">
              <a:spcBef>
                <a:spcPts val="0"/>
              </a:spcBef>
              <a:spcAft>
                <a:spcPts val="300"/>
              </a:spcAft>
              <a:buNone/>
            </a:pPr>
            <a:r>
              <a:rPr lang="en-US" sz="2000" dirty="0">
                <a:solidFill>
                  <a:srgbClr val="FF0000"/>
                </a:solidFill>
              </a:rPr>
              <a:t>EF is steeper than AB (stretched vertically by a factor of 2); both pass through the origin.</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1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(6 of 8)</a:t>
            </a:r>
            <a:endParaRPr dirty="0">
              <a:solidFill>
                <a:schemeClr val="bg1"/>
              </a:solidFill>
            </a:endParaRPr>
          </a:p>
        </p:txBody>
      </p:sp>
      <p:pic>
        <p:nvPicPr>
          <p:cNvPr id="2" name="Google Shape;534;p10" descr="A graph of line segment A B on the coordinate plane. The line segment rises from left to right, from point A at (negative 8, negative 8) to point B at (8, 8).">
            <a:extLst>
              <a:ext uri="{FF2B5EF4-FFF2-40B4-BE49-F238E27FC236}">
                <a16:creationId xmlns:a16="http://schemas.microsoft.com/office/drawing/2014/main" id="{BE21F2D1-A40B-92F1-6DD1-A694FD3168C8}"/>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498848" y="2854693"/>
            <a:ext cx="3192715" cy="3821585"/>
          </a:xfrm>
          <a:prstGeom prst="rect">
            <a:avLst/>
          </a:prstGeom>
          <a:noFill/>
          <a:ln>
            <a:noFill/>
          </a:ln>
        </p:spPr>
      </p:pic>
      <mc:AlternateContent xmlns:mc="http://schemas.openxmlformats.org/markup-compatibility/2006" xmlns:a14="http://schemas.microsoft.com/office/drawing/2010/main">
        <mc:Choice Requires="a14">
          <p:sp>
            <p:nvSpPr>
              <p:cNvPr id="3" name="Google Shape;517;p8">
                <a:extLst>
                  <a:ext uri="{FF2B5EF4-FFF2-40B4-BE49-F238E27FC236}">
                    <a16:creationId xmlns:a16="http://schemas.microsoft.com/office/drawing/2014/main" id="{13D782E1-CE2A-2015-9B6C-524A9BD26A08}"/>
                  </a:ext>
                </a:extLst>
              </p:cNvPr>
              <p:cNvSpPr txBox="1"/>
              <p:nvPr/>
            </p:nvSpPr>
            <p:spPr>
              <a:xfrm>
                <a:off x="777239" y="1615095"/>
                <a:ext cx="10805161" cy="1386750"/>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6"/>
                </a:pPr>
                <a:r>
                  <a:rPr lang="en-US" sz="2800" dirty="0">
                    <a:solidFill>
                      <a:srgbClr val="000000"/>
                    </a:solidFill>
                    <a:latin typeface="Calibri"/>
                    <a:ea typeface="Calibri"/>
                    <a:cs typeface="Calibri"/>
                    <a:sym typeface="Calibri"/>
                  </a:rPr>
                  <a:t>Draw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𝐺𝐻</m:t>
                        </m:r>
                      </m:e>
                    </m:acc>
                  </m:oMath>
                </a14:m>
                <a:r>
                  <a:rPr lang="en-US" sz="2800" dirty="0">
                    <a:solidFill>
                      <a:srgbClr val="000000"/>
                    </a:solidFill>
                    <a:latin typeface="Calibri"/>
                    <a:ea typeface="Calibri"/>
                    <a:cs typeface="Calibri"/>
                    <a:sym typeface="Calibri"/>
                  </a:rPr>
                  <a:t> on the coordinate plane by multiplying all the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-coordinates of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𝐴𝐵</m:t>
                        </m:r>
                      </m:e>
                    </m:acc>
                  </m:oMath>
                </a14:m>
                <a:r>
                  <a:rPr lang="en-US" sz="2800" dirty="0">
                    <a:solidFill>
                      <a:srgbClr val="000000"/>
                    </a:solidFill>
                    <a:latin typeface="Calibri"/>
                    <a:ea typeface="Calibri"/>
                    <a:cs typeface="Calibri"/>
                    <a:sym typeface="Calibri"/>
                  </a:rPr>
                  <a:t> by −2. Compare the two line segments. Describe how they</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are related. </a:t>
                </a:r>
                <a:endParaRPr dirty="0"/>
              </a:p>
            </p:txBody>
          </p:sp>
        </mc:Choice>
        <mc:Fallback xmlns="">
          <p:sp>
            <p:nvSpPr>
              <p:cNvPr id="3" name="Google Shape;517;p8">
                <a:extLst>
                  <a:ext uri="{FF2B5EF4-FFF2-40B4-BE49-F238E27FC236}">
                    <a16:creationId xmlns:a16="http://schemas.microsoft.com/office/drawing/2014/main" id="{13D782E1-CE2A-2015-9B6C-524A9BD26A08}"/>
                  </a:ext>
                </a:extLst>
              </p:cNvPr>
              <p:cNvSpPr txBox="1">
                <a:spLocks noRot="1" noChangeAspect="1" noMove="1" noResize="1" noEditPoints="1" noAdjustHandles="1" noChangeArrowheads="1" noChangeShapeType="1" noTextEdit="1"/>
              </p:cNvSpPr>
              <p:nvPr/>
            </p:nvSpPr>
            <p:spPr>
              <a:xfrm>
                <a:off x="777239" y="1615095"/>
                <a:ext cx="10805161" cy="1386750"/>
              </a:xfrm>
              <a:prstGeom prst="rect">
                <a:avLst/>
              </a:prstGeom>
              <a:blipFill>
                <a:blip r:embed="rId4"/>
                <a:stretch>
                  <a:fillRect l="-1184" t="-4846" r="-1410" b="-11894"/>
                </a:stretch>
              </a:blipFill>
              <a:ln>
                <a:noFill/>
              </a:ln>
            </p:spPr>
            <p:txBody>
              <a:bodyPr/>
              <a:lstStyle/>
              <a:p>
                <a:r>
                  <a:rPr lang="en-US">
                    <a:noFill/>
                  </a:rPr>
                  <a:t> </a:t>
                </a:r>
              </a:p>
            </p:txBody>
          </p:sp>
        </mc:Fallback>
      </mc:AlternateContent>
      <p:sp>
        <p:nvSpPr>
          <p:cNvPr id="1540" name="Slide Number 154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
        <p:nvSpPr>
          <p:cNvPr id="1541" name="Answer 1541"/>
          <p:cNvSpPr txBox="1"/>
          <p:nvPr/>
        </p:nvSpPr>
        <p:spPr>
          <a:xfrm>
            <a:off x="7937500" y="2984500"/>
            <a:ext cx="4064000" cy="317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G(−8, 16) and H(8, −16).</a:t>
            </a:r>
          </a:p>
          <a:p>
            <a:pPr marL="0" indent="0" algn="l">
              <a:spcBef>
                <a:spcPts val="0"/>
              </a:spcBef>
              <a:spcAft>
                <a:spcPts val="300"/>
              </a:spcAft>
              <a:buNone/>
            </a:pPr>
            <a:r>
              <a:rPr lang="en-US" sz="2000" dirty="0">
                <a:solidFill>
                  <a:srgbClr val="FF0000"/>
                </a:solidFill>
              </a:rPr>
              <a:t>GH is steeper than AB, and it is reflected across the x-axis.</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47"/>
        <p:cNvGrpSpPr/>
        <p:nvPr/>
      </p:nvGrpSpPr>
      <p:grpSpPr>
        <a:xfrm>
          <a:off x="0" y="0"/>
          <a:ext cx="0" cy="0"/>
          <a:chOff x="0" y="0"/>
          <a:chExt cx="0" cy="0"/>
        </a:xfrm>
      </p:grpSpPr>
      <p:sp>
        <p:nvSpPr>
          <p:cNvPr id="548" name="Google Shape;548;p1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(7 of 8)</a:t>
            </a:r>
            <a:endParaRPr dirty="0">
              <a:solidFill>
                <a:schemeClr val="bg1"/>
              </a:solidFill>
            </a:endParaRPr>
          </a:p>
        </p:txBody>
      </p:sp>
      <p:sp>
        <p:nvSpPr>
          <p:cNvPr id="549" name="Google Shape;549;p12"/>
          <p:cNvSpPr txBox="1"/>
          <p:nvPr/>
        </p:nvSpPr>
        <p:spPr>
          <a:xfrm>
            <a:off x="777240" y="1616140"/>
            <a:ext cx="9902597"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summarize our learning from the Getting Started!</a:t>
            </a:r>
            <a:endParaRPr dirty="0"/>
          </a:p>
        </p:txBody>
      </p:sp>
      <p:pic>
        <p:nvPicPr>
          <p:cNvPr id="550" name="Google Shape;550;p12">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325025" y="372494"/>
            <a:ext cx="1501270" cy="518205"/>
          </a:xfrm>
          <a:prstGeom prst="rect">
            <a:avLst/>
          </a:prstGeom>
          <a:noFill/>
          <a:ln>
            <a:noFill/>
          </a:ln>
        </p:spPr>
      </p:pic>
      <p:sp>
        <p:nvSpPr>
          <p:cNvPr id="1550" name="Slide Number 155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55"/>
        <p:cNvGrpSpPr/>
        <p:nvPr/>
      </p:nvGrpSpPr>
      <p:grpSpPr>
        <a:xfrm>
          <a:off x="0" y="0"/>
          <a:ext cx="0" cy="0"/>
          <a:chOff x="0" y="0"/>
          <a:chExt cx="0" cy="0"/>
        </a:xfrm>
      </p:grpSpPr>
      <p:sp>
        <p:nvSpPr>
          <p:cNvPr id="556" name="Google Shape;556;p1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(8 of 8)</a:t>
            </a:r>
            <a:endParaRPr dirty="0">
              <a:solidFill>
                <a:schemeClr val="bg1"/>
              </a:solidFill>
            </a:endParaRPr>
          </a:p>
        </p:txBody>
      </p:sp>
      <p:sp>
        <p:nvSpPr>
          <p:cNvPr id="557" name="Google Shape;557;p13">
            <a:extLst>
              <a:ext uri="{C183D7F6-B498-43B3-948B-1728B52AA6E4}">
                <adec:decorative xmlns:adec="http://schemas.microsoft.com/office/drawing/2017/decorative" val="1"/>
              </a:ext>
            </a:extLst>
          </p:cNvPr>
          <p:cNvSpPr txBox="1"/>
          <p:nvPr/>
        </p:nvSpPr>
        <p:spPr>
          <a:xfrm>
            <a:off x="777240" y="1616140"/>
            <a:ext cx="9900285"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b="0" i="0" u="none" strike="noStrike">
              <a:solidFill>
                <a:srgbClr val="3A3838"/>
              </a:solidFill>
              <a:latin typeface="Calibri"/>
              <a:ea typeface="Calibri"/>
              <a:cs typeface="Calibri"/>
              <a:sym typeface="Calibri"/>
            </a:endParaRPr>
          </a:p>
          <a:p>
            <a:pPr marL="0" marR="0" lvl="0" indent="0" algn="ctr" rtl="0">
              <a:spcBef>
                <a:spcPts val="56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557" name="Slide Number 155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62"/>
        <p:cNvGrpSpPr/>
        <p:nvPr/>
      </p:nvGrpSpPr>
      <p:grpSpPr>
        <a:xfrm>
          <a:off x="0" y="0"/>
          <a:ext cx="0" cy="0"/>
          <a:chOff x="0" y="0"/>
          <a:chExt cx="0" cy="0"/>
        </a:xfrm>
      </p:grpSpPr>
      <p:sp>
        <p:nvSpPr>
          <p:cNvPr id="563" name="Google Shape;563;p14"/>
          <p:cNvSpPr txBox="1">
            <a:spLocks noGrp="1"/>
          </p:cNvSpPr>
          <p:nvPr>
            <p:ph type="title"/>
          </p:nvPr>
        </p:nvSpPr>
        <p:spPr>
          <a:xfrm>
            <a:off x="838200" y="-335560"/>
            <a:ext cx="10514013" cy="335560"/>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a:solidFill>
                  <a:schemeClr val="lt2"/>
                </a:solidFill>
                <a:latin typeface="Calibri"/>
                <a:ea typeface="Calibri"/>
                <a:cs typeface="Calibri"/>
                <a:sym typeface="Calibri"/>
              </a:rPr>
              <a:t>Activity 1.1</a:t>
            </a:r>
            <a:endParaRPr/>
          </a:p>
        </p:txBody>
      </p:sp>
      <p:sp>
        <p:nvSpPr>
          <p:cNvPr id="565" name="Google Shape;565;p14">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1.1</a:t>
            </a:r>
            <a:endParaRPr/>
          </a:p>
        </p:txBody>
      </p:sp>
      <p:sp>
        <p:nvSpPr>
          <p:cNvPr id="564" name="Google Shape;564;p14" descr="20 to 25 minutes"/>
          <p:cNvSpPr txBox="1">
            <a:spLocks noGrp="1"/>
          </p:cNvSpPr>
          <p:nvPr>
            <p:ph type="body" idx="2"/>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20–25</a:t>
            </a:r>
            <a:endParaRPr dirty="0"/>
          </a:p>
        </p:txBody>
      </p:sp>
      <p:sp>
        <p:nvSpPr>
          <p:cNvPr id="1565" name="Slide Number 156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70"/>
        <p:cNvGrpSpPr/>
        <p:nvPr/>
      </p:nvGrpSpPr>
      <p:grpSpPr>
        <a:xfrm>
          <a:off x="0" y="0"/>
          <a:ext cx="0" cy="0"/>
          <a:chOff x="0" y="0"/>
          <a:chExt cx="0" cy="0"/>
        </a:xfrm>
      </p:grpSpPr>
      <p:sp>
        <p:nvSpPr>
          <p:cNvPr id="571" name="Google Shape;571;p1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(1 of 10)</a:t>
            </a:r>
            <a:endParaRPr dirty="0">
              <a:solidFill>
                <a:schemeClr val="bg1"/>
              </a:solidFill>
            </a:endParaRPr>
          </a:p>
        </p:txBody>
      </p:sp>
      <p:sp>
        <p:nvSpPr>
          <p:cNvPr id="573" name="Google Shape;573;p15"/>
          <p:cNvSpPr txBox="1"/>
          <p:nvPr/>
        </p:nvSpPr>
        <p:spPr>
          <a:xfrm>
            <a:off x="777240" y="1602297"/>
            <a:ext cx="9910334" cy="493456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dirty="0">
                <a:solidFill>
                  <a:srgbClr val="000000"/>
                </a:solidFill>
                <a:latin typeface="Calibri"/>
                <a:ea typeface="Calibri"/>
                <a:cs typeface="Calibri"/>
                <a:sym typeface="Calibri"/>
              </a:rPr>
              <a:t>Let’s determine how translations impact the graph of the linear function </a:t>
            </a:r>
            <a:r>
              <a:rPr lang="en-US" sz="2800" i="1" dirty="0">
                <a:solidFill>
                  <a:srgbClr val="000000"/>
                </a:solidFill>
                <a:latin typeface="Calibri"/>
                <a:ea typeface="Calibri"/>
                <a:cs typeface="Calibri"/>
                <a:sym typeface="Calibri"/>
              </a:rPr>
              <a:t>f</a:t>
            </a:r>
            <a:r>
              <a:rPr lang="en-US" sz="2800" dirty="0">
                <a:solidFill>
                  <a:srgbClr val="000000"/>
                </a:solidFill>
                <a:latin typeface="Calibri"/>
                <a:ea typeface="Calibri"/>
                <a:cs typeface="Calibri"/>
                <a:sym typeface="Calibri"/>
              </a:rPr>
              <a:t>(</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 </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The function </a:t>
            </a:r>
            <a:r>
              <a:rPr lang="en-US" sz="2800" i="1" dirty="0">
                <a:solidFill>
                  <a:srgbClr val="000000"/>
                </a:solidFill>
                <a:latin typeface="Calibri"/>
                <a:ea typeface="Calibri"/>
                <a:cs typeface="Calibri"/>
                <a:sym typeface="Calibri"/>
              </a:rPr>
              <a:t>f</a:t>
            </a:r>
            <a:r>
              <a:rPr lang="en-US" sz="2800" dirty="0">
                <a:solidFill>
                  <a:srgbClr val="000000"/>
                </a:solidFill>
                <a:latin typeface="Calibri"/>
                <a:ea typeface="Calibri"/>
                <a:cs typeface="Calibri"/>
                <a:sym typeface="Calibri"/>
              </a:rPr>
              <a:t>(</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 </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is the </a:t>
            </a:r>
            <a:r>
              <a:rPr lang="en-US" sz="2800" i="1" dirty="0">
                <a:solidFill>
                  <a:srgbClr val="000000"/>
                </a:solidFill>
                <a:latin typeface="Calibri"/>
                <a:ea typeface="Calibri"/>
                <a:cs typeface="Calibri"/>
                <a:sym typeface="Calibri"/>
              </a:rPr>
              <a:t>parent function</a:t>
            </a:r>
            <a:r>
              <a:rPr lang="en-US" sz="2800" dirty="0">
                <a:solidFill>
                  <a:srgbClr val="000000"/>
                </a:solidFill>
                <a:latin typeface="Calibri"/>
                <a:ea typeface="Calibri"/>
                <a:cs typeface="Calibri"/>
                <a:sym typeface="Calibri"/>
              </a:rPr>
              <a:t> for the linear function family. A </a:t>
            </a:r>
            <a:r>
              <a:rPr lang="en-US" sz="2800" b="1" dirty="0">
                <a:solidFill>
                  <a:srgbClr val="000000"/>
                </a:solidFill>
                <a:latin typeface="Calibri"/>
                <a:ea typeface="Calibri"/>
                <a:cs typeface="Calibri"/>
                <a:sym typeface="Calibri"/>
              </a:rPr>
              <a:t>parent function</a:t>
            </a:r>
            <a:r>
              <a:rPr lang="en-US" sz="2800" dirty="0">
                <a:solidFill>
                  <a:srgbClr val="000000"/>
                </a:solidFill>
                <a:latin typeface="Calibri"/>
                <a:ea typeface="Calibri"/>
                <a:cs typeface="Calibri"/>
                <a:sym typeface="Calibri"/>
              </a:rPr>
              <a:t> is the simplest function of its type.</a:t>
            </a:r>
            <a:endParaRPr dirty="0"/>
          </a:p>
        </p:txBody>
      </p:sp>
      <p:sp>
        <p:nvSpPr>
          <p:cNvPr id="1573" name="Slide Number 157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78"/>
        <p:cNvGrpSpPr/>
        <p:nvPr/>
      </p:nvGrpSpPr>
      <p:grpSpPr>
        <a:xfrm>
          <a:off x="0" y="0"/>
          <a:ext cx="0" cy="0"/>
          <a:chOff x="0" y="0"/>
          <a:chExt cx="0" cy="0"/>
        </a:xfrm>
      </p:grpSpPr>
      <p:sp>
        <p:nvSpPr>
          <p:cNvPr id="579" name="Google Shape;579;p16">
            <a:extLst>
              <a:ext uri="{C183D7F6-B498-43B3-948B-1728B52AA6E4}">
                <adec:decorative xmlns:adec="http://schemas.microsoft.com/office/drawing/2017/decorative" val="1"/>
              </a:ext>
            </a:extLst>
          </p:cNvPr>
          <p:cNvSpPr/>
          <p:nvPr/>
        </p:nvSpPr>
        <p:spPr>
          <a:xfrm>
            <a:off x="3363984" y="1484851"/>
            <a:ext cx="8229601" cy="5251509"/>
          </a:xfrm>
          <a:prstGeom prst="roundRect">
            <a:avLst>
              <a:gd name="adj" fmla="val 16667"/>
            </a:avLst>
          </a:prstGeom>
          <a:noFill/>
          <a:ln w="50800" cap="flat" cmpd="dbl">
            <a:solidFill>
              <a:srgbClr val="75707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80" name="Google Shape;580;p1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b="1" dirty="0"/>
              <a:t>Vertical Translations of Functions </a:t>
            </a:r>
            <a:r>
              <a:rPr lang="en-US" sz="2000" b="1" dirty="0">
                <a:solidFill>
                  <a:schemeClr val="bg1"/>
                </a:solidFill>
              </a:rPr>
              <a:t>(2 of 10)</a:t>
            </a:r>
            <a:endParaRPr dirty="0">
              <a:solidFill>
                <a:schemeClr val="bg1"/>
              </a:solidFill>
            </a:endParaRPr>
          </a:p>
        </p:txBody>
      </p:sp>
      <p:sp>
        <p:nvSpPr>
          <p:cNvPr id="2" name="Rectangle 1">
            <a:extLst>
              <a:ext uri="{FF2B5EF4-FFF2-40B4-BE49-F238E27FC236}">
                <a16:creationId xmlns:a16="http://schemas.microsoft.com/office/drawing/2014/main" id="{4CCD9999-D8F5-3165-933B-F1C098709A1F}"/>
              </a:ext>
            </a:extLst>
          </p:cNvPr>
          <p:cNvSpPr/>
          <p:nvPr/>
        </p:nvSpPr>
        <p:spPr>
          <a:xfrm>
            <a:off x="777239" y="2063692"/>
            <a:ext cx="2267965" cy="3967992"/>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For the family of linear functions having the general form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ax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where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are any real numbers, the function</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where</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1 and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0, is the parent function. It is the simplest linear function.</a:t>
            </a:r>
          </a:p>
        </p:txBody>
      </p:sp>
      <p:pic>
        <p:nvPicPr>
          <p:cNvPr id="581" name="Google Shape;581;p16" descr="Worked Example"/>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162298" y="1271472"/>
            <a:ext cx="2758679" cy="426757"/>
          </a:xfrm>
          <a:prstGeom prst="rect">
            <a:avLst/>
          </a:prstGeom>
          <a:noFill/>
          <a:ln>
            <a:noFill/>
          </a:ln>
        </p:spPr>
      </p:pic>
      <p:sp>
        <p:nvSpPr>
          <p:cNvPr id="3" name="TextBox 2">
            <a:extLst>
              <a:ext uri="{FF2B5EF4-FFF2-40B4-BE49-F238E27FC236}">
                <a16:creationId xmlns:a16="http://schemas.microsoft.com/office/drawing/2014/main" id="{57F3613B-1B32-5534-C374-D5A1B637609A}"/>
              </a:ext>
            </a:extLst>
          </p:cNvPr>
          <p:cNvSpPr txBox="1"/>
          <p:nvPr/>
        </p:nvSpPr>
        <p:spPr>
          <a:xfrm>
            <a:off x="3607265" y="1728132"/>
            <a:ext cx="7747185" cy="2092881"/>
          </a:xfrm>
          <a:prstGeom prst="rect">
            <a:avLst/>
          </a:prstGeom>
          <a:noFill/>
        </p:spPr>
        <p:txBody>
          <a:bodyPr wrap="square" rtlCol="0">
            <a:spAutoFit/>
          </a:bodyPr>
          <a:lstStyle/>
          <a:p>
            <a:pPr algn="l">
              <a:spcAft>
                <a:spcPts val="1200"/>
              </a:spcAft>
            </a:pP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You can translate the graph of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 down 5 units by moving each point 5 units down. The transformed graph is labeled as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m</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algn="l"/>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To translate the point (−2, −2) on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 subtract 5 units from the output value, or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-value. The input value, or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-value, remains unchanged. The coordinates of the translated point on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m</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 are (−2, −7). The coordinates of four additional points on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 are translated for you.</a:t>
            </a:r>
            <a:endParaRPr lang="en-US" sz="2000" dirty="0">
              <a:latin typeface="Calibri" panose="020F0502020204030204" pitchFamily="34" charset="0"/>
              <a:ea typeface="Calibri" panose="020F0502020204030204" pitchFamily="34" charset="0"/>
              <a:cs typeface="Calibri" panose="020F0502020204030204" pitchFamily="34" charset="0"/>
            </a:endParaRPr>
          </a:p>
        </p:txBody>
      </p:sp>
      <p:pic>
        <p:nvPicPr>
          <p:cNvPr id="5" name="Picture 4" descr="A graph of two lines on the coordinate plane. The line f of x = x rises from left to right through the points from the table, including the points (0, 0) and (2, 2). The line m of x rises from left to right through the points from the table, including the points (0, negative 5) and (2, negative 3). Vertical arrows extend 5 units from each point on line f of x to a point below it on line m of x.">
            <a:extLst>
              <a:ext uri="{FF2B5EF4-FFF2-40B4-BE49-F238E27FC236}">
                <a16:creationId xmlns:a16="http://schemas.microsoft.com/office/drawing/2014/main" id="{78FA687F-D04F-F652-9937-38E5B5CD265B}"/>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103573" y="3980402"/>
            <a:ext cx="2656562" cy="2656562"/>
          </a:xfrm>
          <a:prstGeom prst="rect">
            <a:avLst/>
          </a:prstGeom>
        </p:spPr>
      </p:pic>
      <p:graphicFrame>
        <p:nvGraphicFramePr>
          <p:cNvPr id="8" name="Table 7">
            <a:extLst>
              <a:ext uri="{FF2B5EF4-FFF2-40B4-BE49-F238E27FC236}">
                <a16:creationId xmlns:a16="http://schemas.microsoft.com/office/drawing/2014/main" id="{2528C5C1-A73F-6ADA-88E8-40ED62888986}"/>
              </a:ext>
            </a:extLst>
          </p:cNvPr>
          <p:cNvGraphicFramePr>
            <a:graphicFrameLocks noGrp="1"/>
          </p:cNvGraphicFramePr>
          <p:nvPr>
            <p:extLst>
              <p:ext uri="{D42A27DB-BD31-4B8C-83A1-F6EECF244321}">
                <p14:modId xmlns:p14="http://schemas.microsoft.com/office/powerpoint/2010/main" val="2680519871"/>
              </p:ext>
            </p:extLst>
          </p:nvPr>
        </p:nvGraphicFramePr>
        <p:xfrm>
          <a:off x="7006407" y="3781660"/>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6" name="Table 5">
            <a:extLst>
              <a:ext uri="{FF2B5EF4-FFF2-40B4-BE49-F238E27FC236}">
                <a16:creationId xmlns:a16="http://schemas.microsoft.com/office/drawing/2014/main" id="{EC937E16-0A17-A552-01B6-C1C0DD6DA216}"/>
              </a:ext>
            </a:extLst>
          </p:cNvPr>
          <p:cNvGraphicFramePr>
            <a:graphicFrameLocks noGrp="1"/>
          </p:cNvGraphicFramePr>
          <p:nvPr>
            <p:extLst>
              <p:ext uri="{D42A27DB-BD31-4B8C-83A1-F6EECF244321}">
                <p14:modId xmlns:p14="http://schemas.microsoft.com/office/powerpoint/2010/main" val="3852151508"/>
              </p:ext>
            </p:extLst>
          </p:nvPr>
        </p:nvGraphicFramePr>
        <p:xfrm>
          <a:off x="7006407" y="4420947"/>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9" name="Table 8">
            <a:extLst>
              <a:ext uri="{FF2B5EF4-FFF2-40B4-BE49-F238E27FC236}">
                <a16:creationId xmlns:a16="http://schemas.microsoft.com/office/drawing/2014/main" id="{9C6C8806-3F5C-738B-438D-E7552F92CF34}"/>
              </a:ext>
            </a:extLst>
          </p:cNvPr>
          <p:cNvGraphicFramePr>
            <a:graphicFrameLocks noGrp="1"/>
          </p:cNvGraphicFramePr>
          <p:nvPr>
            <p:extLst>
              <p:ext uri="{D42A27DB-BD31-4B8C-83A1-F6EECF244321}">
                <p14:modId xmlns:p14="http://schemas.microsoft.com/office/powerpoint/2010/main" val="3939477802"/>
              </p:ext>
            </p:extLst>
          </p:nvPr>
        </p:nvGraphicFramePr>
        <p:xfrm>
          <a:off x="8690993" y="3781660"/>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7" name="Table 6">
            <a:extLst>
              <a:ext uri="{FF2B5EF4-FFF2-40B4-BE49-F238E27FC236}">
                <a16:creationId xmlns:a16="http://schemas.microsoft.com/office/drawing/2014/main" id="{AD6AD6D1-5F4F-FB0C-1CB6-FFB859B70A30}"/>
              </a:ext>
            </a:extLst>
          </p:cNvPr>
          <p:cNvGraphicFramePr>
            <a:graphicFrameLocks noGrp="1"/>
          </p:cNvGraphicFramePr>
          <p:nvPr>
            <p:extLst>
              <p:ext uri="{D42A27DB-BD31-4B8C-83A1-F6EECF244321}">
                <p14:modId xmlns:p14="http://schemas.microsoft.com/office/powerpoint/2010/main" val="684825957"/>
              </p:ext>
            </p:extLst>
          </p:nvPr>
        </p:nvGraphicFramePr>
        <p:xfrm>
          <a:off x="8690993" y="4420947"/>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−7</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−6</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−5</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−4</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−3</a:t>
                      </a:r>
                    </a:p>
                  </a:txBody>
                  <a:tcPr anchor="ctr"/>
                </a:tc>
                <a:extLst>
                  <a:ext uri="{0D108BD9-81ED-4DB2-BD59-A6C34878D82A}">
                    <a16:rowId xmlns:a16="http://schemas.microsoft.com/office/drawing/2014/main" val="242399944"/>
                  </a:ext>
                </a:extLst>
              </a:tr>
            </a:tbl>
          </a:graphicData>
        </a:graphic>
      </p:graphicFrame>
      <p:sp>
        <p:nvSpPr>
          <p:cNvPr id="1581" name="Slide Number 158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89"/>
        <p:cNvGrpSpPr/>
        <p:nvPr/>
      </p:nvGrpSpPr>
      <p:grpSpPr>
        <a:xfrm>
          <a:off x="0" y="0"/>
          <a:ext cx="0" cy="0"/>
          <a:chOff x="0" y="0"/>
          <a:chExt cx="0" cy="0"/>
        </a:xfrm>
      </p:grpSpPr>
      <p:sp>
        <p:nvSpPr>
          <p:cNvPr id="590" name="Google Shape;590;p1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(3 of 10)</a:t>
            </a:r>
            <a:endParaRPr dirty="0">
              <a:solidFill>
                <a:schemeClr val="bg1"/>
              </a:solidFill>
            </a:endParaRPr>
          </a:p>
        </p:txBody>
      </p:sp>
      <p:sp>
        <p:nvSpPr>
          <p:cNvPr id="2" name="Google Shape;573;p15">
            <a:extLst>
              <a:ext uri="{FF2B5EF4-FFF2-40B4-BE49-F238E27FC236}">
                <a16:creationId xmlns:a16="http://schemas.microsoft.com/office/drawing/2014/main" id="{0F1C6D8C-A53E-8869-B5C2-2FEE474675BC}"/>
              </a:ext>
            </a:extLst>
          </p:cNvPr>
          <p:cNvSpPr txBox="1"/>
          <p:nvPr/>
        </p:nvSpPr>
        <p:spPr>
          <a:xfrm>
            <a:off x="777239" y="1602297"/>
            <a:ext cx="10136837" cy="4934561"/>
          </a:xfrm>
          <a:prstGeom prst="rect">
            <a:avLst/>
          </a:prstGeom>
          <a:noFill/>
          <a:ln>
            <a:noFill/>
          </a:ln>
        </p:spPr>
        <p:txBody>
          <a:bodyPr spcFirstLastPara="1" wrap="square" lIns="91425" tIns="45700" rIns="91425" bIns="45700" anchor="t" anchorCtr="0">
            <a:noAutofit/>
          </a:bodyPr>
          <a:lstStyle/>
          <a:p>
            <a:pPr marL="511175" indent="-511175" algn="l">
              <a:buFont typeface="+mj-lt"/>
              <a:buAutoNum type="arabicPeriod"/>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Consider the translated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m</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Identify the slope and</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-intercept of the graph of the function. Then, write the equation for the function in general form</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endParaRPr sz="2800" dirty="0">
              <a:latin typeface="Calibri" panose="020F0502020204030204" pitchFamily="34" charset="0"/>
              <a:ea typeface="Calibri" panose="020F0502020204030204" pitchFamily="34" charset="0"/>
              <a:cs typeface="Calibri" panose="020F0502020204030204" pitchFamily="34" charset="0"/>
            </a:endParaRPr>
          </a:p>
        </p:txBody>
      </p:sp>
      <p:sp>
        <p:nvSpPr>
          <p:cNvPr id="1590" name="Slide Number 159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
        <p:nvSpPr>
          <p:cNvPr id="1591" name="Answer 1591"/>
          <p:cNvSpPr txBox="1"/>
          <p:nvPr/>
        </p:nvSpPr>
        <p:spPr>
          <a:xfrm>
            <a:off x="774700" y="29845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Slope: 1;  y-intercept: (0, −5)</a:t>
            </a:r>
          </a:p>
          <a:p>
            <a:pPr marL="0" indent="0" algn="l">
              <a:spcBef>
                <a:spcPts val="0"/>
              </a:spcBef>
              <a:spcAft>
                <a:spcPts val="300"/>
              </a:spcAft>
              <a:buNone/>
            </a:pPr>
            <a:r>
              <a:rPr lang="en-US" sz="2400" dirty="0">
                <a:solidFill>
                  <a:srgbClr val="FF0000"/>
                </a:solidFill>
              </a:rPr>
              <a:t>m(x) = x − 5</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596"/>
        <p:cNvGrpSpPr/>
        <p:nvPr/>
      </p:nvGrpSpPr>
      <p:grpSpPr>
        <a:xfrm>
          <a:off x="0" y="0"/>
          <a:ext cx="0" cy="0"/>
          <a:chOff x="0" y="0"/>
          <a:chExt cx="0" cy="0"/>
        </a:xfrm>
      </p:grpSpPr>
      <p:sp>
        <p:nvSpPr>
          <p:cNvPr id="598" name="Google Shape;598;p1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(4 of 10)</a:t>
            </a:r>
            <a:endParaRPr dirty="0">
              <a:solidFill>
                <a:schemeClr val="bg1"/>
              </a:solidFill>
            </a:endParaRPr>
          </a:p>
        </p:txBody>
      </p:sp>
      <p:sp>
        <p:nvSpPr>
          <p:cNvPr id="2" name="Google Shape;573;p15">
            <a:extLst>
              <a:ext uri="{FF2B5EF4-FFF2-40B4-BE49-F238E27FC236}">
                <a16:creationId xmlns:a16="http://schemas.microsoft.com/office/drawing/2014/main" id="{D733FEA7-2825-BF64-7DEE-85C51F26D218}"/>
              </a:ext>
            </a:extLst>
          </p:cNvPr>
          <p:cNvSpPr txBox="1"/>
          <p:nvPr/>
        </p:nvSpPr>
        <p:spPr>
          <a:xfrm>
            <a:off x="777239" y="1602297"/>
            <a:ext cx="10136837" cy="1401471"/>
          </a:xfrm>
          <a:prstGeom prst="rect">
            <a:avLst/>
          </a:prstGeom>
          <a:noFill/>
          <a:ln>
            <a:noFill/>
          </a:ln>
        </p:spPr>
        <p:txBody>
          <a:bodyPr spcFirstLastPara="1" wrap="square" lIns="91425" tIns="45700" rIns="91425" bIns="45700" anchor="t" anchorCtr="0">
            <a:noAutofit/>
          </a:bodyPr>
          <a:lstStyle/>
          <a:p>
            <a:pPr marL="514350" indent="-514350" algn="l">
              <a:spcAft>
                <a:spcPts val="600"/>
              </a:spcAft>
              <a:buFont typeface="+mj-lt"/>
              <a:buAutoNum type="arabicPeriod" startAt="2"/>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Translate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again to create a new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p</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1031875" lvl="2" indent="-514350">
              <a:buFont typeface="+mj-lt"/>
              <a:buAutoNum type="alphaL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Translate the graph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up 5 units. Label your graph as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p</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Complete the table of corresponding points 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p</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597" name="Google Shape;597;p18" descr="A graph of line f of x = x on the coordinate plane. The line rises from left to right through the points from the table, including the points (0, 0) and (2, 2)."/>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799872" y="3079269"/>
            <a:ext cx="3877826" cy="3622226"/>
          </a:xfrm>
          <a:prstGeom prst="rect">
            <a:avLst/>
          </a:prstGeom>
          <a:noFill/>
          <a:ln>
            <a:noFill/>
          </a:ln>
        </p:spPr>
      </p:pic>
      <p:graphicFrame>
        <p:nvGraphicFramePr>
          <p:cNvPr id="5" name="Table 4">
            <a:extLst>
              <a:ext uri="{FF2B5EF4-FFF2-40B4-BE49-F238E27FC236}">
                <a16:creationId xmlns:a16="http://schemas.microsoft.com/office/drawing/2014/main" id="{328BE05C-E4EE-EDCE-5FD8-778174FDA001}"/>
              </a:ext>
            </a:extLst>
          </p:cNvPr>
          <p:cNvGraphicFramePr>
            <a:graphicFrameLocks noGrp="1"/>
          </p:cNvGraphicFramePr>
          <p:nvPr>
            <p:extLst>
              <p:ext uri="{D42A27DB-BD31-4B8C-83A1-F6EECF244321}">
                <p14:modId xmlns:p14="http://schemas.microsoft.com/office/powerpoint/2010/main" val="3453632045"/>
              </p:ext>
            </p:extLst>
          </p:nvPr>
        </p:nvGraphicFramePr>
        <p:xfrm>
          <a:off x="6512716" y="3342872"/>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3" name="Table 2">
            <a:extLst>
              <a:ext uri="{FF2B5EF4-FFF2-40B4-BE49-F238E27FC236}">
                <a16:creationId xmlns:a16="http://schemas.microsoft.com/office/drawing/2014/main" id="{3ADA399E-387B-E108-C3D0-0642B9943127}"/>
              </a:ext>
            </a:extLst>
          </p:cNvPr>
          <p:cNvGraphicFramePr>
            <a:graphicFrameLocks noGrp="1"/>
          </p:cNvGraphicFramePr>
          <p:nvPr>
            <p:extLst>
              <p:ext uri="{D42A27DB-BD31-4B8C-83A1-F6EECF244321}">
                <p14:modId xmlns:p14="http://schemas.microsoft.com/office/powerpoint/2010/main" val="1268328403"/>
              </p:ext>
            </p:extLst>
          </p:nvPr>
        </p:nvGraphicFramePr>
        <p:xfrm>
          <a:off x="6512716" y="3982159"/>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6" name="Table 5">
            <a:extLst>
              <a:ext uri="{FF2B5EF4-FFF2-40B4-BE49-F238E27FC236}">
                <a16:creationId xmlns:a16="http://schemas.microsoft.com/office/drawing/2014/main" id="{98629BFB-19BC-E69B-A87B-4CD7A0E3FB39}"/>
              </a:ext>
            </a:extLst>
          </p:cNvPr>
          <p:cNvGraphicFramePr>
            <a:graphicFrameLocks noGrp="1"/>
          </p:cNvGraphicFramePr>
          <p:nvPr>
            <p:extLst>
              <p:ext uri="{D42A27DB-BD31-4B8C-83A1-F6EECF244321}">
                <p14:modId xmlns:p14="http://schemas.microsoft.com/office/powerpoint/2010/main" val="3284003831"/>
              </p:ext>
            </p:extLst>
          </p:nvPr>
        </p:nvGraphicFramePr>
        <p:xfrm>
          <a:off x="8197302" y="3342872"/>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4" name="Table 3">
            <a:extLst>
              <a:ext uri="{FF2B5EF4-FFF2-40B4-BE49-F238E27FC236}">
                <a16:creationId xmlns:a16="http://schemas.microsoft.com/office/drawing/2014/main" id="{F84A9D00-48BF-EE6E-AC12-2208EF20CAD8}"/>
              </a:ext>
            </a:extLst>
          </p:cNvPr>
          <p:cNvGraphicFramePr>
            <a:graphicFrameLocks noGrp="1"/>
          </p:cNvGraphicFramePr>
          <p:nvPr>
            <p:extLst>
              <p:ext uri="{D42A27DB-BD31-4B8C-83A1-F6EECF244321}">
                <p14:modId xmlns:p14="http://schemas.microsoft.com/office/powerpoint/2010/main" val="2365514222"/>
              </p:ext>
            </p:extLst>
          </p:nvPr>
        </p:nvGraphicFramePr>
        <p:xfrm>
          <a:off x="8197302" y="3982159"/>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598" name="Slide Number 159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
        <p:nvSpPr>
          <p:cNvPr id="1599" name="Answer 1599"/>
          <p:cNvSpPr txBox="1"/>
          <p:nvPr/>
        </p:nvSpPr>
        <p:spPr>
          <a:xfrm>
            <a:off x="8934450" y="43497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3</a:t>
            </a:r>
          </a:p>
        </p:txBody>
      </p:sp>
      <p:sp>
        <p:nvSpPr>
          <p:cNvPr id="1600" name="Answer 1600"/>
          <p:cNvSpPr txBox="1"/>
          <p:nvPr/>
        </p:nvSpPr>
        <p:spPr>
          <a:xfrm>
            <a:off x="8934450" y="47180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601" name="Answer 1601"/>
          <p:cNvSpPr txBox="1"/>
          <p:nvPr/>
        </p:nvSpPr>
        <p:spPr>
          <a:xfrm>
            <a:off x="8934450" y="50863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a:t>
            </a:r>
          </a:p>
        </p:txBody>
      </p:sp>
      <p:sp>
        <p:nvSpPr>
          <p:cNvPr id="1602" name="Answer 1602"/>
          <p:cNvSpPr txBox="1"/>
          <p:nvPr/>
        </p:nvSpPr>
        <p:spPr>
          <a:xfrm>
            <a:off x="8934450" y="54546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6</a:t>
            </a:r>
          </a:p>
        </p:txBody>
      </p:sp>
      <p:sp>
        <p:nvSpPr>
          <p:cNvPr id="1603" name="Answer 1603"/>
          <p:cNvSpPr txBox="1"/>
          <p:nvPr/>
        </p:nvSpPr>
        <p:spPr>
          <a:xfrm>
            <a:off x="8934450" y="58229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7</a:t>
            </a:r>
          </a:p>
        </p:txBody>
      </p:sp>
      <p:sp>
        <p:nvSpPr>
          <p:cNvPr id="1604" name="Answer 1604"/>
          <p:cNvSpPr txBox="1"/>
          <p:nvPr/>
        </p:nvSpPr>
        <p:spPr>
          <a:xfrm>
            <a:off x="6515100" y="6286500"/>
            <a:ext cx="5461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Graph p(x): the line through (0, 5), parallel to f(x)</a:t>
            </a:r>
          </a:p>
        </p:txBody>
      </p:sp>
    </p:spTree>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99"/>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60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0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0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60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6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05"/>
        <p:cNvGrpSpPr/>
        <p:nvPr/>
      </p:nvGrpSpPr>
      <p:grpSpPr>
        <a:xfrm>
          <a:off x="0" y="0"/>
          <a:ext cx="0" cy="0"/>
          <a:chOff x="0" y="0"/>
          <a:chExt cx="0" cy="0"/>
        </a:xfrm>
      </p:grpSpPr>
      <p:sp>
        <p:nvSpPr>
          <p:cNvPr id="606" name="Google Shape;606;p1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(5 of 10)</a:t>
            </a:r>
            <a:endParaRPr dirty="0">
              <a:solidFill>
                <a:schemeClr val="bg1"/>
              </a:solidFill>
            </a:endParaRPr>
          </a:p>
        </p:txBody>
      </p:sp>
      <p:sp>
        <p:nvSpPr>
          <p:cNvPr id="2" name="Google Shape;573;p15">
            <a:extLst>
              <a:ext uri="{FF2B5EF4-FFF2-40B4-BE49-F238E27FC236}">
                <a16:creationId xmlns:a16="http://schemas.microsoft.com/office/drawing/2014/main" id="{10E0F62F-9408-96E3-35EE-5A6EF0D6496C}"/>
              </a:ext>
            </a:extLst>
          </p:cNvPr>
          <p:cNvSpPr txBox="1"/>
          <p:nvPr/>
        </p:nvSpPr>
        <p:spPr>
          <a:xfrm>
            <a:off x="777239" y="1602297"/>
            <a:ext cx="10136837" cy="1401471"/>
          </a:xfrm>
          <a:prstGeom prst="rect">
            <a:avLst/>
          </a:prstGeom>
          <a:noFill/>
          <a:ln>
            <a:noFill/>
          </a:ln>
        </p:spPr>
        <p:txBody>
          <a:bodyPr spcFirstLastPara="1" wrap="square" lIns="91425" tIns="45700" rIns="91425" bIns="45700" anchor="t" anchorCtr="0">
            <a:noAutofit/>
          </a:bodyPr>
          <a:lstStyle/>
          <a:p>
            <a:pPr marL="514350" lvl="2" indent="-514350">
              <a:buFont typeface="+mj-lt"/>
              <a:buAutoNum type="alphaLcPeriod" startAt="2"/>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Identify the slope and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-intercept of th</a:t>
            </a:r>
            <a:r>
              <a:rPr lang="en-US" sz="2800" dirty="0">
                <a:latin typeface="Calibri" panose="020F0502020204030204" pitchFamily="34" charset="0"/>
                <a:ea typeface="Calibri" panose="020F0502020204030204" pitchFamily="34" charset="0"/>
                <a:cs typeface="Calibri" panose="020F0502020204030204" pitchFamily="34" charset="0"/>
                <a:sym typeface="Calibri"/>
              </a:rPr>
              <a:t>e graph of the function. Then, write the equation for the function in general form</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endParaRPr sz="2800" dirty="0">
              <a:latin typeface="Calibri" panose="020F0502020204030204" pitchFamily="34" charset="0"/>
              <a:ea typeface="Calibri" panose="020F0502020204030204" pitchFamily="34" charset="0"/>
              <a:cs typeface="Calibri" panose="020F0502020204030204" pitchFamily="34" charset="0"/>
            </a:endParaRPr>
          </a:p>
        </p:txBody>
      </p:sp>
      <p:sp>
        <p:nvSpPr>
          <p:cNvPr id="1606" name="Slide Number 16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
        <p:nvSpPr>
          <p:cNvPr id="1607" name="Answer 1607"/>
          <p:cNvSpPr txBox="1"/>
          <p:nvPr/>
        </p:nvSpPr>
        <p:spPr>
          <a:xfrm>
            <a:off x="774700" y="26670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Slope: 1;  y-intercept: (0, 5)</a:t>
            </a:r>
          </a:p>
          <a:p>
            <a:pPr marL="0" indent="0" algn="l">
              <a:spcBef>
                <a:spcPts val="0"/>
              </a:spcBef>
              <a:spcAft>
                <a:spcPts val="300"/>
              </a:spcAft>
              <a:buNone/>
            </a:pPr>
            <a:r>
              <a:rPr lang="en-US" sz="2400" dirty="0">
                <a:solidFill>
                  <a:srgbClr val="FF0000"/>
                </a:solidFill>
              </a:rPr>
              <a:t>p(x) = x + 5</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12"/>
        <p:cNvGrpSpPr/>
        <p:nvPr/>
      </p:nvGrpSpPr>
      <p:grpSpPr>
        <a:xfrm>
          <a:off x="0" y="0"/>
          <a:ext cx="0" cy="0"/>
          <a:chOff x="0" y="0"/>
          <a:chExt cx="0" cy="0"/>
        </a:xfrm>
      </p:grpSpPr>
      <p:sp>
        <p:nvSpPr>
          <p:cNvPr id="613" name="Google Shape;613;p20"/>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(6 of 10)</a:t>
            </a:r>
            <a:endParaRPr dirty="0">
              <a:solidFill>
                <a:schemeClr val="bg1"/>
              </a:solidFill>
            </a:endParaRPr>
          </a:p>
        </p:txBody>
      </p:sp>
      <p:sp>
        <p:nvSpPr>
          <p:cNvPr id="2" name="Google Shape;573;p15">
            <a:extLst>
              <a:ext uri="{FF2B5EF4-FFF2-40B4-BE49-F238E27FC236}">
                <a16:creationId xmlns:a16="http://schemas.microsoft.com/office/drawing/2014/main" id="{87B65744-7B6C-6798-F906-D186F0966DFA}"/>
              </a:ext>
            </a:extLst>
          </p:cNvPr>
          <p:cNvSpPr txBox="1"/>
          <p:nvPr/>
        </p:nvSpPr>
        <p:spPr>
          <a:xfrm>
            <a:off x="777239" y="1602297"/>
            <a:ext cx="10136837" cy="5041784"/>
          </a:xfrm>
          <a:prstGeom prst="rect">
            <a:avLst/>
          </a:prstGeom>
          <a:noFill/>
          <a:ln>
            <a:noFill/>
          </a:ln>
        </p:spPr>
        <p:txBody>
          <a:bodyPr spcFirstLastPara="1" wrap="square" lIns="91425" tIns="45700" rIns="91425" bIns="45700" anchor="t" anchorCtr="0">
            <a:noAutofit/>
          </a:bodyPr>
          <a:lstStyle/>
          <a:p>
            <a:pPr algn="l">
              <a:spcAft>
                <a:spcPts val="1200"/>
              </a:spcAft>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For the parent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the transformed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shows a vertical translation of the function. This translation affects the output values, 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-values, of the function. For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&gt; 0, the resulting graph vertically shifts up. For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&lt; 0, the resulting graph vertically shifts down. The distance the graph is shifted is the absolute value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514350" indent="-514350" algn="l">
              <a:buFont typeface="+mj-lt"/>
              <a:buAutoNum type="arabicPeriod" startAt="3"/>
            </a:pPr>
            <a:r>
              <a:rPr lang="en-US" sz="2800" dirty="0">
                <a:latin typeface="Calibri" panose="020F0502020204030204" pitchFamily="34" charset="0"/>
                <a:ea typeface="Calibri" panose="020F0502020204030204" pitchFamily="34" charset="0"/>
                <a:cs typeface="Calibri" panose="020F0502020204030204" pitchFamily="34" charset="0"/>
              </a:rPr>
              <a:t>Compare the values of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(2) and </a:t>
            </a:r>
            <a:r>
              <a:rPr lang="en-US" sz="2800" i="1" dirty="0">
                <a:latin typeface="Calibri" panose="020F0502020204030204" pitchFamily="34" charset="0"/>
                <a:ea typeface="Calibri" panose="020F0502020204030204" pitchFamily="34" charset="0"/>
                <a:cs typeface="Calibri" panose="020F0502020204030204" pitchFamily="34" charset="0"/>
              </a:rPr>
              <a:t>p</a:t>
            </a:r>
            <a:r>
              <a:rPr lang="en-US" sz="2800" dirty="0">
                <a:latin typeface="Calibri" panose="020F0502020204030204" pitchFamily="34" charset="0"/>
                <a:ea typeface="Calibri" panose="020F0502020204030204" pitchFamily="34" charset="0"/>
                <a:cs typeface="Calibri" panose="020F0502020204030204" pitchFamily="34" charset="0"/>
              </a:rPr>
              <a:t>(2). How did the transformation of the function affect the value of the function at </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2?</a:t>
            </a:r>
            <a:endParaRPr sz="2800" dirty="0">
              <a:latin typeface="Calibri" panose="020F0502020204030204" pitchFamily="34" charset="0"/>
              <a:ea typeface="Calibri" panose="020F0502020204030204" pitchFamily="34" charset="0"/>
              <a:cs typeface="Calibri" panose="020F0502020204030204" pitchFamily="34" charset="0"/>
            </a:endParaRPr>
          </a:p>
        </p:txBody>
      </p:sp>
      <p:sp>
        <p:nvSpPr>
          <p:cNvPr id="1613" name="Slide Number 161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
        <p:nvSpPr>
          <p:cNvPr id="1614" name="Answer 1614"/>
          <p:cNvSpPr txBox="1"/>
          <p:nvPr/>
        </p:nvSpPr>
        <p:spPr>
          <a:xfrm>
            <a:off x="774700" y="48895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f(2) = 2 and p(2) = 7.</a:t>
            </a:r>
          </a:p>
          <a:p>
            <a:pPr marL="0" indent="0" algn="l">
              <a:spcBef>
                <a:spcPts val="0"/>
              </a:spcBef>
              <a:spcAft>
                <a:spcPts val="300"/>
              </a:spcAft>
              <a:buNone/>
            </a:pPr>
            <a:r>
              <a:rPr lang="en-US" sz="2400" dirty="0">
                <a:solidFill>
                  <a:srgbClr val="FF0000"/>
                </a:solidFill>
              </a:rPr>
              <a:t>The vertical translation increased the value at x = 2 by 5.</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19"/>
        <p:cNvGrpSpPr/>
        <p:nvPr/>
      </p:nvGrpSpPr>
      <p:grpSpPr>
        <a:xfrm>
          <a:off x="0" y="0"/>
          <a:ext cx="0" cy="0"/>
          <a:chOff x="0" y="0"/>
          <a:chExt cx="0" cy="0"/>
        </a:xfrm>
      </p:grpSpPr>
      <p:sp>
        <p:nvSpPr>
          <p:cNvPr id="620" name="Google Shape;620;p2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(7 of 10)</a:t>
            </a:r>
            <a:endParaRPr dirty="0">
              <a:solidFill>
                <a:schemeClr val="bg1"/>
              </a:solidFill>
            </a:endParaRPr>
          </a:p>
        </p:txBody>
      </p:sp>
      <p:sp>
        <p:nvSpPr>
          <p:cNvPr id="2" name="Google Shape;573;p15">
            <a:extLst>
              <a:ext uri="{FF2B5EF4-FFF2-40B4-BE49-F238E27FC236}">
                <a16:creationId xmlns:a16="http://schemas.microsoft.com/office/drawing/2014/main" id="{D0FEF7CC-7173-A3AF-2B46-8BE9CD675FD8}"/>
              </a:ext>
            </a:extLst>
          </p:cNvPr>
          <p:cNvSpPr txBox="1"/>
          <p:nvPr/>
        </p:nvSpPr>
        <p:spPr>
          <a:xfrm>
            <a:off x="777239" y="1602298"/>
            <a:ext cx="10136837" cy="813732"/>
          </a:xfrm>
          <a:prstGeom prst="rect">
            <a:avLst/>
          </a:prstGeom>
          <a:noFill/>
          <a:ln>
            <a:noFill/>
          </a:ln>
        </p:spPr>
        <p:txBody>
          <a:bodyPr spcFirstLastPara="1" wrap="square" lIns="91425" tIns="45700" rIns="91425" bIns="45700" anchor="t" anchorCtr="0">
            <a:noAutofit/>
          </a:bodyPr>
          <a:lstStyle/>
          <a:p>
            <a:pPr marL="514350" lvl="2" indent="-514350">
              <a:buFont typeface="+mj-lt"/>
              <a:buAutoNum type="arabicPeriod" startAt="4"/>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Consider the graph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 2</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− 1.</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622" name="Google Shape;622;p21" descr="Two graphs. Both graphs of line j of x = 2 x minus 1 on the coordinate plane. The line rises from left to right through the points from the table, including the points (0, negative 1) and (1, 1)."/>
          <p:cNvPicPr preferRelativeResize="0"/>
          <p:nvPr/>
        </p:nvPicPr>
        <p:blipFill rotWithShape="1">
          <a:blip r:embed="rId3">
            <a:alphaModFix/>
          </a:blip>
          <a:srcRect/>
          <a:stretch/>
        </p:blipFill>
        <p:spPr>
          <a:xfrm>
            <a:off x="2653243" y="2299093"/>
            <a:ext cx="6883925" cy="3331900"/>
          </a:xfrm>
          <a:prstGeom prst="rect">
            <a:avLst/>
          </a:prstGeom>
          <a:noFill/>
          <a:ln>
            <a:noFill/>
          </a:ln>
        </p:spPr>
      </p:pic>
      <p:sp>
        <p:nvSpPr>
          <p:cNvPr id="3" name="Google Shape;573;p15">
            <a:extLst>
              <a:ext uri="{FF2B5EF4-FFF2-40B4-BE49-F238E27FC236}">
                <a16:creationId xmlns:a16="http://schemas.microsoft.com/office/drawing/2014/main" id="{D3E20108-F9D2-BACF-352F-6DEBBA5156AB}"/>
              </a:ext>
            </a:extLst>
          </p:cNvPr>
          <p:cNvSpPr txBox="1"/>
          <p:nvPr/>
        </p:nvSpPr>
        <p:spPr>
          <a:xfrm>
            <a:off x="777238" y="5630992"/>
            <a:ext cx="10136837" cy="987921"/>
          </a:xfrm>
          <a:prstGeom prst="rect">
            <a:avLst/>
          </a:prstGeom>
          <a:noFill/>
          <a:ln>
            <a:noFill/>
          </a:ln>
        </p:spPr>
        <p:txBody>
          <a:bodyPr spcFirstLastPara="1" wrap="square" lIns="91425" tIns="45700" rIns="91425" bIns="45700" anchor="t" anchorCtr="0">
            <a:noAutofit/>
          </a:bodyPr>
          <a:lstStyle/>
          <a:p>
            <a:pPr marL="1031875" lvl="2" indent="-514350">
              <a:buFont typeface="+mj-lt"/>
              <a:buAutoNum type="alphaL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Translate the graph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up 4 units. Label the graph as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Then, write an equation for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in terms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endParaRPr sz="2800" dirty="0">
              <a:latin typeface="Calibri" panose="020F0502020204030204" pitchFamily="34" charset="0"/>
              <a:ea typeface="Calibri" panose="020F0502020204030204" pitchFamily="34" charset="0"/>
              <a:cs typeface="Calibri" panose="020F0502020204030204" pitchFamily="34" charset="0"/>
            </a:endParaRPr>
          </a:p>
        </p:txBody>
      </p:sp>
      <p:sp>
        <p:nvSpPr>
          <p:cNvPr id="1622" name="Slide Number 162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
        <p:nvSpPr>
          <p:cNvPr id="1623" name="Answer 1623"/>
          <p:cNvSpPr txBox="1"/>
          <p:nvPr/>
        </p:nvSpPr>
        <p:spPr>
          <a:xfrm>
            <a:off x="9461500" y="2667000"/>
            <a:ext cx="26035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q(x) = j(x) + 4</a:t>
            </a:r>
          </a:p>
          <a:p>
            <a:pPr marL="0" indent="0" algn="l">
              <a:spcBef>
                <a:spcPts val="0"/>
              </a:spcBef>
              <a:spcAft>
                <a:spcPts val="300"/>
              </a:spcAft>
              <a:buNone/>
            </a:pPr>
            <a:r>
              <a:rPr lang="en-US" sz="2200" dirty="0">
                <a:solidFill>
                  <a:srgbClr val="FF0000"/>
                </a:solidFill>
              </a:rPr>
              <a:t>Graph: the line through (0, 3), parallel to j(x)</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27"/>
        <p:cNvGrpSpPr/>
        <p:nvPr/>
      </p:nvGrpSpPr>
      <p:grpSpPr>
        <a:xfrm>
          <a:off x="0" y="0"/>
          <a:ext cx="0" cy="0"/>
          <a:chOff x="0" y="0"/>
          <a:chExt cx="0" cy="0"/>
        </a:xfrm>
      </p:grpSpPr>
      <p:sp>
        <p:nvSpPr>
          <p:cNvPr id="628" name="Google Shape;628;p2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(8 of 10)</a:t>
            </a:r>
            <a:endParaRPr dirty="0">
              <a:solidFill>
                <a:schemeClr val="bg1"/>
              </a:solidFill>
            </a:endParaRPr>
          </a:p>
        </p:txBody>
      </p:sp>
      <p:sp>
        <p:nvSpPr>
          <p:cNvPr id="3" name="Speech Bubble: Rectangle with Corners Rounded 2">
            <a:extLst>
              <a:ext uri="{FF2B5EF4-FFF2-40B4-BE49-F238E27FC236}">
                <a16:creationId xmlns:a16="http://schemas.microsoft.com/office/drawing/2014/main" id="{779730D7-744F-A6C4-6217-0B8F60DF803F}"/>
              </a:ext>
            </a:extLst>
          </p:cNvPr>
          <p:cNvSpPr/>
          <p:nvPr/>
        </p:nvSpPr>
        <p:spPr>
          <a:xfrm>
            <a:off x="777239" y="4790114"/>
            <a:ext cx="2209241" cy="1585519"/>
          </a:xfrm>
          <a:prstGeom prst="wedgeRoundRectCallout">
            <a:avLst>
              <a:gd name="adj1" fmla="val -34970"/>
              <a:gd name="adj2" fmla="val -67659"/>
              <a:gd name="adj3" fmla="val 16667"/>
            </a:avLst>
          </a:prstGeom>
          <a:noFill/>
          <a:ln>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rPr>
              <a:t>Ask Yourself… </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Will the graphs of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ever intersect?</a:t>
            </a:r>
          </a:p>
        </p:txBody>
      </p:sp>
      <p:sp>
        <p:nvSpPr>
          <p:cNvPr id="2" name="Google Shape;573;p15">
            <a:extLst>
              <a:ext uri="{FF2B5EF4-FFF2-40B4-BE49-F238E27FC236}">
                <a16:creationId xmlns:a16="http://schemas.microsoft.com/office/drawing/2014/main" id="{D41161D6-DDF7-7389-E2F9-D93936034DB8}"/>
              </a:ext>
            </a:extLst>
          </p:cNvPr>
          <p:cNvSpPr txBox="1"/>
          <p:nvPr/>
        </p:nvSpPr>
        <p:spPr>
          <a:xfrm>
            <a:off x="3246538" y="1602297"/>
            <a:ext cx="8800053" cy="4588777"/>
          </a:xfrm>
          <a:prstGeom prst="rect">
            <a:avLst/>
          </a:prstGeom>
          <a:noFill/>
          <a:ln>
            <a:noFill/>
          </a:ln>
        </p:spPr>
        <p:txBody>
          <a:bodyPr spcFirstLastPara="1" wrap="square" lIns="91425" tIns="45700" rIns="91425" bIns="45700" anchor="t" anchorCtr="0">
            <a:noAutofit/>
          </a:bodyPr>
          <a:lstStyle/>
          <a:p>
            <a:pPr marL="514350" lvl="2" indent="-514350">
              <a:buFont typeface="+mj-lt"/>
              <a:buAutoNum type="alphaLcPeriod" startAt="2"/>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Translate the graph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down 4 units. Label the graph as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Then, write an equation for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in terms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b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b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514350" lvl="2" indent="-51435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Rewrite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r</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in general form.</a:t>
            </a: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lvl="2" indent="-51435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Compare the equations and graphs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r</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What do you notice?</a:t>
            </a:r>
            <a:endParaRPr sz="2800" dirty="0">
              <a:latin typeface="Calibri" panose="020F0502020204030204" pitchFamily="34" charset="0"/>
              <a:ea typeface="Calibri" panose="020F0502020204030204" pitchFamily="34" charset="0"/>
              <a:cs typeface="Calibri" panose="020F0502020204030204" pitchFamily="34" charset="0"/>
            </a:endParaRPr>
          </a:p>
        </p:txBody>
      </p:sp>
      <p:sp>
        <p:nvSpPr>
          <p:cNvPr id="1628" name="Slide Number 162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
        <p:nvSpPr>
          <p:cNvPr id="1629" name="Answer 1629"/>
          <p:cNvSpPr txBox="1"/>
          <p:nvPr/>
        </p:nvSpPr>
        <p:spPr>
          <a:xfrm>
            <a:off x="3340100" y="4889500"/>
            <a:ext cx="8699500" cy="3492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a. r(x) = j(x) − 4  (graph: the line through (0, −5), parallel to j(x))</a:t>
            </a:r>
          </a:p>
        </p:txBody>
      </p:sp>
      <p:sp>
        <p:nvSpPr>
          <p:cNvPr id="1630" name="Answer 1630"/>
          <p:cNvSpPr txBox="1"/>
          <p:nvPr/>
        </p:nvSpPr>
        <p:spPr>
          <a:xfrm>
            <a:off x="3340100" y="5270500"/>
            <a:ext cx="8699500" cy="3492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b. q(x) = 2x + 3;  r(x) = 2x − 5</a:t>
            </a:r>
          </a:p>
        </p:txBody>
      </p:sp>
      <p:sp>
        <p:nvSpPr>
          <p:cNvPr id="1631" name="Answer 1631"/>
          <p:cNvSpPr txBox="1"/>
          <p:nvPr/>
        </p:nvSpPr>
        <p:spPr>
          <a:xfrm>
            <a:off x="3340100" y="5651500"/>
            <a:ext cx="8699500" cy="698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c. All three have slope 2 but different y-intercepts: (0, −1), (0, 3), (0, −5). The lines are parallel, so they never intersect.</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2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63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6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635"/>
        <p:cNvGrpSpPr/>
        <p:nvPr/>
      </p:nvGrpSpPr>
      <p:grpSpPr>
        <a:xfrm>
          <a:off x="0" y="0"/>
          <a:ext cx="0" cy="0"/>
          <a:chOff x="0" y="0"/>
          <a:chExt cx="0" cy="0"/>
        </a:xfrm>
      </p:grpSpPr>
      <p:sp>
        <p:nvSpPr>
          <p:cNvPr id="636" name="Google Shape;636;p2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b="1" dirty="0"/>
              <a:t>Vertical Translations of Functions </a:t>
            </a:r>
            <a:r>
              <a:rPr lang="en-US" sz="2000" b="1" dirty="0">
                <a:solidFill>
                  <a:schemeClr val="bg1"/>
                </a:solidFill>
              </a:rPr>
              <a:t>(9 of 10)</a:t>
            </a:r>
            <a:endParaRPr dirty="0">
              <a:solidFill>
                <a:schemeClr val="bg1"/>
              </a:solidFill>
            </a:endParaRPr>
          </a:p>
        </p:txBody>
      </p:sp>
      <p:sp>
        <p:nvSpPr>
          <p:cNvPr id="637" name="Google Shape;637;p23"/>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revisit the Essential Question and summarize our learning from Activity 1.1!</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of linear functions</a:t>
            </a:r>
            <a:r>
              <a:rPr lang="en-US" sz="2800" dirty="0">
                <a:solidFill>
                  <a:srgbClr val="000000"/>
                </a:solidFill>
                <a:latin typeface="Calibri"/>
                <a:ea typeface="Calibri"/>
                <a:cs typeface="Calibri"/>
                <a:sym typeface="Calibri"/>
              </a:rPr>
              <a:t>?</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p:txBody>
      </p:sp>
      <p:pic>
        <p:nvPicPr>
          <p:cNvPr id="638" name="Google Shape;638;p23">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638" name="Slide Number 163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43"/>
        <p:cNvGrpSpPr/>
        <p:nvPr/>
      </p:nvGrpSpPr>
      <p:grpSpPr>
        <a:xfrm>
          <a:off x="0" y="0"/>
          <a:ext cx="0" cy="0"/>
          <a:chOff x="0" y="0"/>
          <a:chExt cx="0" cy="0"/>
        </a:xfrm>
      </p:grpSpPr>
      <p:sp>
        <p:nvSpPr>
          <p:cNvPr id="644" name="Google Shape;644;p2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b="1" dirty="0"/>
              <a:t>Vertical Translations of Functions </a:t>
            </a:r>
            <a:r>
              <a:rPr lang="en-US" sz="2000" b="1" dirty="0">
                <a:solidFill>
                  <a:schemeClr val="bg1"/>
                </a:solidFill>
              </a:rPr>
              <a:t>(10 of 10)</a:t>
            </a:r>
            <a:endParaRPr dirty="0">
              <a:solidFill>
                <a:schemeClr val="bg1"/>
              </a:solidFill>
            </a:endParaRPr>
          </a:p>
        </p:txBody>
      </p:sp>
      <p:sp>
        <p:nvSpPr>
          <p:cNvPr id="645" name="Google Shape;645;p24">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645" name="Slide Number 164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50"/>
        <p:cNvGrpSpPr/>
        <p:nvPr/>
      </p:nvGrpSpPr>
      <p:grpSpPr>
        <a:xfrm>
          <a:off x="0" y="0"/>
          <a:ext cx="0" cy="0"/>
          <a:chOff x="0" y="0"/>
          <a:chExt cx="0" cy="0"/>
        </a:xfrm>
      </p:grpSpPr>
      <p:sp>
        <p:nvSpPr>
          <p:cNvPr id="651" name="Google Shape;651;p25"/>
          <p:cNvSpPr txBox="1">
            <a:spLocks noGrp="1"/>
          </p:cNvSpPr>
          <p:nvPr>
            <p:ph type="title"/>
          </p:nvPr>
        </p:nvSpPr>
        <p:spPr>
          <a:xfrm>
            <a:off x="838200" y="-310394"/>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a:solidFill>
                  <a:schemeClr val="lt2"/>
                </a:solidFill>
                <a:latin typeface="Calibri"/>
                <a:ea typeface="Calibri"/>
                <a:cs typeface="Calibri"/>
                <a:sym typeface="Calibri"/>
              </a:rPr>
              <a:t>Day 2</a:t>
            </a:r>
            <a:endParaRPr/>
          </a:p>
        </p:txBody>
      </p:sp>
      <p:sp>
        <p:nvSpPr>
          <p:cNvPr id="652" name="Google Shape;652;p25"/>
          <p:cNvSpPr txBox="1">
            <a:spLocks noGrp="1"/>
          </p:cNvSpPr>
          <p:nvPr>
            <p:ph type="body" idx="1"/>
          </p:nvPr>
        </p:nvSpPr>
        <p:spPr>
          <a:xfrm>
            <a:off x="6568581" y="2832927"/>
            <a:ext cx="1152278"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a:solidFill>
                  <a:srgbClr val="000000"/>
                </a:solidFill>
                <a:latin typeface="Calibri"/>
                <a:ea typeface="Calibri"/>
                <a:cs typeface="Calibri"/>
                <a:sym typeface="Calibri"/>
              </a:rPr>
              <a:t>2</a:t>
            </a:r>
            <a:endParaRPr/>
          </a:p>
        </p:txBody>
      </p:sp>
      <p:sp>
        <p:nvSpPr>
          <p:cNvPr id="1652" name="Slide Number 165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57"/>
        <p:cNvGrpSpPr/>
        <p:nvPr/>
      </p:nvGrpSpPr>
      <p:grpSpPr>
        <a:xfrm>
          <a:off x="0" y="0"/>
          <a:ext cx="0" cy="0"/>
          <a:chOff x="0" y="0"/>
          <a:chExt cx="0" cy="0"/>
        </a:xfrm>
      </p:grpSpPr>
      <p:sp>
        <p:nvSpPr>
          <p:cNvPr id="658" name="Google Shape;658;p2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(2 of 3)</a:t>
            </a:r>
            <a:endParaRPr dirty="0">
              <a:solidFill>
                <a:schemeClr val="bg1"/>
              </a:solidFill>
            </a:endParaRPr>
          </a:p>
        </p:txBody>
      </p:sp>
      <p:sp>
        <p:nvSpPr>
          <p:cNvPr id="659" name="Google Shape;659;p26"/>
          <p:cNvSpPr txBox="1"/>
          <p:nvPr/>
        </p:nvSpPr>
        <p:spPr>
          <a:xfrm>
            <a:off x="777240" y="1596189"/>
            <a:ext cx="10090582" cy="429386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 of linear functions</a:t>
            </a:r>
            <a:r>
              <a:rPr lang="en-US" sz="2800" dirty="0">
                <a:solidFill>
                  <a:srgbClr val="000000"/>
                </a:solidFill>
                <a:latin typeface="Calibri"/>
                <a:ea typeface="Calibri"/>
                <a:cs typeface="Calibri"/>
                <a:sym typeface="Calibri"/>
              </a:rPr>
              <a:t>?</a:t>
            </a:r>
            <a:endParaRPr dirty="0"/>
          </a:p>
        </p:txBody>
      </p:sp>
      <p:sp>
        <p:nvSpPr>
          <p:cNvPr id="1659" name="Slide Number 165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4"/>
        <p:cNvGrpSpPr/>
        <p:nvPr/>
      </p:nvGrpSpPr>
      <p:grpSpPr>
        <a:xfrm>
          <a:off x="0" y="0"/>
          <a:ext cx="0" cy="0"/>
          <a:chOff x="0" y="0"/>
          <a:chExt cx="0" cy="0"/>
        </a:xfrm>
      </p:grpSpPr>
      <p:sp>
        <p:nvSpPr>
          <p:cNvPr id="665" name="Google Shape;665;p27"/>
          <p:cNvSpPr txBox="1">
            <a:spLocks noGrp="1"/>
          </p:cNvSpPr>
          <p:nvPr>
            <p:ph type="title"/>
          </p:nvPr>
        </p:nvSpPr>
        <p:spPr>
          <a:xfrm>
            <a:off x="838200" y="-352338"/>
            <a:ext cx="10514013" cy="352338"/>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a:solidFill>
                  <a:schemeClr val="lt2"/>
                </a:solidFill>
                <a:latin typeface="Calibri"/>
                <a:ea typeface="Calibri"/>
                <a:cs typeface="Calibri"/>
                <a:sym typeface="Calibri"/>
              </a:rPr>
              <a:t>Activity 1.2</a:t>
            </a:r>
            <a:endParaRPr/>
          </a:p>
        </p:txBody>
      </p:sp>
      <p:sp>
        <p:nvSpPr>
          <p:cNvPr id="666" name="Google Shape;666;p27" descr="15 to 20 minutes"/>
          <p:cNvSpPr txBox="1">
            <a:spLocks noGrp="1"/>
          </p:cNvSpPr>
          <p:nvPr>
            <p:ph type="body" idx="2"/>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667" name="Google Shape;667;p27">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1.2</a:t>
            </a:r>
            <a:endParaRPr/>
          </a:p>
        </p:txBody>
      </p:sp>
      <p:sp>
        <p:nvSpPr>
          <p:cNvPr id="1667" name="Slide Number 166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72"/>
        <p:cNvGrpSpPr/>
        <p:nvPr/>
      </p:nvGrpSpPr>
      <p:grpSpPr>
        <a:xfrm>
          <a:off x="0" y="0"/>
          <a:ext cx="0" cy="0"/>
          <a:chOff x="0" y="0"/>
          <a:chExt cx="0" cy="0"/>
        </a:xfrm>
      </p:grpSpPr>
      <p:sp>
        <p:nvSpPr>
          <p:cNvPr id="673" name="Google Shape;673;p2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(1 of 8)</a:t>
            </a:r>
            <a:endParaRPr dirty="0">
              <a:solidFill>
                <a:schemeClr val="bg1"/>
              </a:solidFill>
            </a:endParaRPr>
          </a:p>
        </p:txBody>
      </p:sp>
      <p:sp>
        <p:nvSpPr>
          <p:cNvPr id="2" name="Google Shape;659;p26">
            <a:extLst>
              <a:ext uri="{FF2B5EF4-FFF2-40B4-BE49-F238E27FC236}">
                <a16:creationId xmlns:a16="http://schemas.microsoft.com/office/drawing/2014/main" id="{2646E6CD-0DEE-2F07-3DA1-CF8880940742}"/>
              </a:ext>
            </a:extLst>
          </p:cNvPr>
          <p:cNvSpPr txBox="1"/>
          <p:nvPr/>
        </p:nvSpPr>
        <p:spPr>
          <a:xfrm>
            <a:off x="777240" y="1596189"/>
            <a:ext cx="10791178" cy="429386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 the previous activity, you translated the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j</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2</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− 1 up</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4 units to create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q</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2</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+ 3.</a:t>
            </a:r>
          </a:p>
          <a:p>
            <a:pPr marL="514350" marR="0" lvl="0" indent="-514350" algn="l" rtl="0">
              <a:spcBef>
                <a:spcPts val="0"/>
              </a:spcBef>
              <a:spcAft>
                <a:spcPts val="0"/>
              </a:spcAft>
              <a:buClr>
                <a:srgbClr val="000000"/>
              </a:buClr>
              <a:buSzPts val="2800"/>
              <a:buFont typeface="+mj-lt"/>
              <a:buAutoNum type="arabi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Will the graphs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ever intersect? Explain your reasoning.</a:t>
            </a:r>
            <a:endParaRPr dirty="0"/>
          </a:p>
        </p:txBody>
      </p:sp>
      <p:sp>
        <p:nvSpPr>
          <p:cNvPr id="1673" name="Slide Number 167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
        <p:nvSpPr>
          <p:cNvPr id="1674" name="Answer 1674"/>
          <p:cNvSpPr txBox="1"/>
          <p:nvPr/>
        </p:nvSpPr>
        <p:spPr>
          <a:xfrm>
            <a:off x="774700" y="31750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No. Both lines have slope 2 and stay 4 units apart, so they are parallel.</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7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79"/>
        <p:cNvGrpSpPr/>
        <p:nvPr/>
      </p:nvGrpSpPr>
      <p:grpSpPr>
        <a:xfrm>
          <a:off x="0" y="0"/>
          <a:ext cx="0" cy="0"/>
          <a:chOff x="0" y="0"/>
          <a:chExt cx="0" cy="0"/>
        </a:xfrm>
      </p:grpSpPr>
      <p:sp>
        <p:nvSpPr>
          <p:cNvPr id="680" name="Google Shape;680;p2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(2 of 8)</a:t>
            </a:r>
            <a:endParaRPr dirty="0">
              <a:solidFill>
                <a:schemeClr val="bg1"/>
              </a:solidFill>
            </a:endParaRPr>
          </a:p>
        </p:txBody>
      </p:sp>
      <p:pic>
        <p:nvPicPr>
          <p:cNvPr id="682" name="Google Shape;682;p29" descr="A graph of 2 lines on the coordinate plane. The lines rise from left to right. One line rises through the points A prime and B prime. The other line rises through the points A (x sub 1, y sub 1), below point A prime, and B (x sub 2, y sub 2), below point B prime."/>
          <p:cNvPicPr preferRelativeResize="0"/>
          <p:nvPr/>
        </p:nvPicPr>
        <p:blipFill rotWithShape="1">
          <a:blip r:embed="rId3">
            <a:alphaModFix/>
          </a:blip>
          <a:srcRect/>
          <a:stretch/>
        </p:blipFill>
        <p:spPr>
          <a:xfrm>
            <a:off x="1201703" y="3537842"/>
            <a:ext cx="2940257" cy="2712560"/>
          </a:xfrm>
          <a:prstGeom prst="rect">
            <a:avLst/>
          </a:prstGeom>
          <a:noFill/>
          <a:ln>
            <a:noFill/>
          </a:ln>
        </p:spPr>
      </p:pic>
      <p:sp>
        <p:nvSpPr>
          <p:cNvPr id="2" name="Google Shape;659;p26">
            <a:extLst>
              <a:ext uri="{FF2B5EF4-FFF2-40B4-BE49-F238E27FC236}">
                <a16:creationId xmlns:a16="http://schemas.microsoft.com/office/drawing/2014/main" id="{03DD5C7A-70D1-ED07-D59D-D5F6841095A6}"/>
              </a:ext>
            </a:extLst>
          </p:cNvPr>
          <p:cNvSpPr txBox="1"/>
          <p:nvPr/>
        </p:nvSpPr>
        <p:spPr>
          <a:xfrm>
            <a:off x="777240" y="1596189"/>
            <a:ext cx="10791178" cy="183281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You can algebraically prove that a line and its translation are parallel to each other.</a:t>
            </a:r>
          </a:p>
          <a:p>
            <a:pPr marL="514350" marR="0" lvl="0" indent="-514350" algn="l" rtl="0">
              <a:spcBef>
                <a:spcPts val="0"/>
              </a:spcBef>
              <a:spcAft>
                <a:spcPts val="0"/>
              </a:spcAft>
              <a:buClr>
                <a:srgbClr val="000000"/>
              </a:buClr>
              <a:buSzPts val="2800"/>
              <a:buFont typeface="+mj-lt"/>
              <a:buAutoNum type="arabicPeriod" startAt="2"/>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Line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AB</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was translated a units up to create line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endParaRPr dirty="0"/>
          </a:p>
        </p:txBody>
      </p:sp>
      <p:sp>
        <p:nvSpPr>
          <p:cNvPr id="1682" name="Slide Number 168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87"/>
        <p:cNvGrpSpPr/>
        <p:nvPr/>
      </p:nvGrpSpPr>
      <p:grpSpPr>
        <a:xfrm>
          <a:off x="0" y="0"/>
          <a:ext cx="0" cy="0"/>
          <a:chOff x="0" y="0"/>
          <a:chExt cx="0" cy="0"/>
        </a:xfrm>
      </p:grpSpPr>
      <p:sp>
        <p:nvSpPr>
          <p:cNvPr id="688" name="Google Shape;688;p30"/>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(3 of 8)</a:t>
            </a:r>
            <a:endParaRPr dirty="0">
              <a:solidFill>
                <a:schemeClr val="bg1"/>
              </a:solidFill>
            </a:endParaRPr>
          </a:p>
        </p:txBody>
      </p:sp>
      <p:sp>
        <p:nvSpPr>
          <p:cNvPr id="2" name="Google Shape;659;p26">
            <a:extLst>
              <a:ext uri="{FF2B5EF4-FFF2-40B4-BE49-F238E27FC236}">
                <a16:creationId xmlns:a16="http://schemas.microsoft.com/office/drawing/2014/main" id="{5F473C4F-F15C-3BD8-15A8-9B7B3E74036C}"/>
              </a:ext>
            </a:extLst>
          </p:cNvPr>
          <p:cNvSpPr txBox="1"/>
          <p:nvPr/>
        </p:nvSpPr>
        <p:spPr>
          <a:xfrm>
            <a:off x="777240" y="1596189"/>
            <a:ext cx="10371729" cy="4293866"/>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ts val="2800"/>
              <a:buFont typeface="+mj-lt"/>
              <a:buAutoNum type="alphaL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Identify the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-coordinates of each corresponding point on the image</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marR="0" lvl="0" indent="-514350" algn="l" rtl="0">
              <a:spcBef>
                <a:spcPts val="0"/>
              </a:spcBef>
              <a:spcAft>
                <a:spcPts val="0"/>
              </a:spcAft>
              <a:buClr>
                <a:srgbClr val="000000"/>
              </a:buClr>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Use the slope formula to calculate the slope of the pre-image.</a:t>
            </a: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marR="0" lvl="0" indent="-514350" algn="l" rtl="0">
              <a:spcBef>
                <a:spcPts val="0"/>
              </a:spcBef>
              <a:spcAft>
                <a:spcPts val="0"/>
              </a:spcAft>
              <a:buClr>
                <a:srgbClr val="000000"/>
              </a:buClr>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Use the slope formula to calculate the slope of the image.</a:t>
            </a:r>
            <a:endParaRPr dirty="0"/>
          </a:p>
        </p:txBody>
      </p:sp>
      <p:sp>
        <p:nvSpPr>
          <p:cNvPr id="1688" name="Slide Number 168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
        <p:nvSpPr>
          <p:cNvPr id="1689" name="Answer 1689"/>
          <p:cNvSpPr txBox="1"/>
          <p:nvPr/>
        </p:nvSpPr>
        <p:spPr>
          <a:xfrm>
            <a:off x="1016000" y="2508250"/>
            <a:ext cx="1016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A′(x1, y1 + a)  and  B′(x2, y2 + a)</a:t>
            </a:r>
          </a:p>
        </p:txBody>
      </p:sp>
      <p:sp>
        <p:nvSpPr>
          <p:cNvPr id="1690" name="Answer 1690"/>
          <p:cNvSpPr txBox="1"/>
          <p:nvPr/>
        </p:nvSpPr>
        <p:spPr>
          <a:xfrm>
            <a:off x="1016000" y="3619500"/>
            <a:ext cx="1016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(y2 − y1) / (x2 − x1)</a:t>
            </a:r>
          </a:p>
        </p:txBody>
      </p:sp>
      <p:sp>
        <p:nvSpPr>
          <p:cNvPr id="1691" name="Answer 1691"/>
          <p:cNvSpPr txBox="1"/>
          <p:nvPr/>
        </p:nvSpPr>
        <p:spPr>
          <a:xfrm>
            <a:off x="1016000" y="4762500"/>
            <a:ext cx="101600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((y2 + a) − (y1 + a)) / (x2 − x1) = (y2 − y1) / (x2 − x1)</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8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69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6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94"/>
        <p:cNvGrpSpPr/>
        <p:nvPr/>
      </p:nvGrpSpPr>
      <p:grpSpPr>
        <a:xfrm>
          <a:off x="0" y="0"/>
          <a:ext cx="0" cy="0"/>
          <a:chOff x="0" y="0"/>
          <a:chExt cx="0" cy="0"/>
        </a:xfrm>
      </p:grpSpPr>
      <p:sp>
        <p:nvSpPr>
          <p:cNvPr id="695" name="Google Shape;695;p3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(4 of 8)</a:t>
            </a:r>
            <a:endParaRPr dirty="0">
              <a:solidFill>
                <a:schemeClr val="bg1"/>
              </a:solidFill>
            </a:endParaRPr>
          </a:p>
        </p:txBody>
      </p:sp>
      <p:sp>
        <p:nvSpPr>
          <p:cNvPr id="697" name="Google Shape;697;p31"/>
          <p:cNvSpPr/>
          <p:nvPr/>
        </p:nvSpPr>
        <p:spPr>
          <a:xfrm>
            <a:off x="777240" y="1922862"/>
            <a:ext cx="2335077" cy="2640749"/>
          </a:xfrm>
          <a:prstGeom prst="wedgeRoundRectCallout">
            <a:avLst>
              <a:gd name="adj1" fmla="val -34578"/>
              <a:gd name="adj2" fmla="val -60903"/>
              <a:gd name="adj3" fmla="val 16667"/>
            </a:avLst>
          </a:prstGeom>
          <a:solidFill>
            <a:schemeClr val="lt1"/>
          </a:solidFill>
          <a:ln w="19050" cap="flat" cmpd="sng">
            <a:solidFill>
              <a:srgbClr val="008F4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b="1"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sym typeface="Calibri"/>
              </a:rPr>
              <a:t>Ask Yourself…</a:t>
            </a:r>
            <a:endParaRPr sz="2000"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The original</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figure is the</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pre-image and the transformation of the figure is</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the image.</a:t>
            </a:r>
            <a:endParaRPr sz="2000" dirty="0">
              <a:latin typeface="Calibri" panose="020F0502020204030204" pitchFamily="34" charset="0"/>
              <a:ea typeface="Calibri" panose="020F0502020204030204" pitchFamily="34" charset="0"/>
              <a:cs typeface="Calibri" panose="020F0502020204030204" pitchFamily="34" charset="0"/>
            </a:endParaRPr>
          </a:p>
        </p:txBody>
      </p:sp>
      <p:sp>
        <p:nvSpPr>
          <p:cNvPr id="696" name="Google Shape;696;p31"/>
          <p:cNvSpPr txBox="1"/>
          <p:nvPr/>
        </p:nvSpPr>
        <p:spPr>
          <a:xfrm>
            <a:off x="3347206" y="1602297"/>
            <a:ext cx="8581939" cy="4641341"/>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ts val="2800"/>
              <a:buFont typeface="Calibri"/>
              <a:buAutoNum type="alphaLcPeriod" startAt="4"/>
            </a:pPr>
            <a:r>
              <a:rPr lang="en-US" sz="2800" dirty="0">
                <a:solidFill>
                  <a:srgbClr val="000000"/>
                </a:solidFill>
                <a:latin typeface="Calibri"/>
                <a:ea typeface="Calibri"/>
                <a:cs typeface="Calibri"/>
                <a:sym typeface="Calibri"/>
              </a:rPr>
              <a:t>How does the slope of the image compare to the slope of the pre-image?</a:t>
            </a: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endParaRPr lang="en-US" sz="2800" dirty="0">
              <a:solidFill>
                <a:srgbClr val="000000"/>
              </a:solidFill>
              <a:latin typeface="Calibri"/>
              <a:ea typeface="Calibri"/>
              <a:cs typeface="Calibri"/>
              <a:sym typeface="Calibri"/>
            </a:endParaRPr>
          </a:p>
          <a:p>
            <a:pPr marL="514350" marR="0" lvl="0" indent="-514350" algn="l" rtl="0">
              <a:spcBef>
                <a:spcPts val="0"/>
              </a:spcBef>
              <a:spcAft>
                <a:spcPts val="0"/>
              </a:spcAft>
              <a:buClr>
                <a:srgbClr val="000000"/>
              </a:buClr>
              <a:buSzPts val="2800"/>
              <a:buFont typeface="Calibri"/>
              <a:buAutoNum type="alphaLcPeriod" startAt="4"/>
            </a:pPr>
            <a:r>
              <a:rPr lang="en-US" sz="2800" dirty="0">
                <a:solidFill>
                  <a:srgbClr val="000000"/>
                </a:solidFill>
                <a:latin typeface="Calibri"/>
                <a:ea typeface="Calibri"/>
                <a:cs typeface="Calibri"/>
                <a:sym typeface="Calibri"/>
              </a:rPr>
              <a:t>How would you describe the relationship between the graph of the image and the graph of the pre-image? </a:t>
            </a:r>
            <a:endParaRPr dirty="0"/>
          </a:p>
        </p:txBody>
      </p:sp>
      <p:sp>
        <p:nvSpPr>
          <p:cNvPr id="1697" name="Slide Number 169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
        <p:nvSpPr>
          <p:cNvPr id="1698" name="Answer 1698"/>
          <p:cNvSpPr txBox="1"/>
          <p:nvPr/>
        </p:nvSpPr>
        <p:spPr>
          <a:xfrm>
            <a:off x="3441700" y="2540000"/>
            <a:ext cx="85725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The slopes are the same.</a:t>
            </a:r>
          </a:p>
        </p:txBody>
      </p:sp>
      <p:sp>
        <p:nvSpPr>
          <p:cNvPr id="1699" name="Answer 1699"/>
          <p:cNvSpPr txBox="1"/>
          <p:nvPr/>
        </p:nvSpPr>
        <p:spPr>
          <a:xfrm>
            <a:off x="3441700" y="4064000"/>
            <a:ext cx="8572500" cy="571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The graphs are parallel lines.</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9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69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702"/>
        <p:cNvGrpSpPr/>
        <p:nvPr/>
      </p:nvGrpSpPr>
      <p:grpSpPr>
        <a:xfrm>
          <a:off x="0" y="0"/>
          <a:ext cx="0" cy="0"/>
          <a:chOff x="0" y="0"/>
          <a:chExt cx="0" cy="0"/>
        </a:xfrm>
      </p:grpSpPr>
      <p:sp>
        <p:nvSpPr>
          <p:cNvPr id="703" name="Google Shape;703;p3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(5 of 8)</a:t>
            </a:r>
            <a:endParaRPr dirty="0">
              <a:solidFill>
                <a:schemeClr val="bg1"/>
              </a:solidFill>
            </a:endParaRPr>
          </a:p>
        </p:txBody>
      </p:sp>
      <mc:AlternateContent xmlns:mc="http://schemas.openxmlformats.org/markup-compatibility/2006" xmlns:a14="http://schemas.microsoft.com/office/drawing/2010/main">
        <mc:Choice Requires="a14">
          <p:sp>
            <p:nvSpPr>
              <p:cNvPr id="3" name="Google Shape;659;p26">
                <a:extLst>
                  <a:ext uri="{FF2B5EF4-FFF2-40B4-BE49-F238E27FC236}">
                    <a16:creationId xmlns:a16="http://schemas.microsoft.com/office/drawing/2014/main" id="{64EBE237-92A2-0957-92DC-ADC76B41DACC}"/>
                  </a:ext>
                </a:extLst>
              </p:cNvPr>
              <p:cNvSpPr txBox="1"/>
              <p:nvPr/>
            </p:nvSpPr>
            <p:spPr>
              <a:xfrm>
                <a:off x="777240" y="1596190"/>
                <a:ext cx="9893556" cy="126319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Catalina and James each write the equation of a line that is parallel to </a:t>
                </a:r>
                <a14:m>
                  <m:oMath xmlns:m="http://schemas.openxmlformats.org/officeDocument/2006/math">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𝑦</m:t>
                    </m:r>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m:t>
                    </m:r>
                    <m:f>
                      <m:fPr>
                        <m:ctrlP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1</m:t>
                        </m:r>
                      </m:num>
                      <m:den>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2</m:t>
                        </m:r>
                      </m:den>
                    </m:f>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𝑥</m:t>
                    </m:r>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+3</m:t>
                    </m:r>
                  </m:oMath>
                </a14:m>
                <a:r>
                  <a:rPr lang="en-US" sz="2800" dirty="0">
                    <a:latin typeface="Calibri" panose="020F0502020204030204" pitchFamily="34" charset="0"/>
                    <a:ea typeface="Calibri" panose="020F0502020204030204" pitchFamily="34" charset="0"/>
                    <a:cs typeface="Calibri" panose="020F0502020204030204" pitchFamily="34" charset="0"/>
                    <a:sym typeface="Calibri"/>
                  </a:rPr>
                  <a:t> and passes through the point (2, 9).</a:t>
                </a:r>
                <a:endParaRPr dirty="0"/>
              </a:p>
            </p:txBody>
          </p:sp>
        </mc:Choice>
        <mc:Fallback xmlns="">
          <p:sp>
            <p:nvSpPr>
              <p:cNvPr id="3" name="Google Shape;659;p26">
                <a:extLst>
                  <a:ext uri="{FF2B5EF4-FFF2-40B4-BE49-F238E27FC236}">
                    <a16:creationId xmlns:a16="http://schemas.microsoft.com/office/drawing/2014/main" id="{64EBE237-92A2-0957-92DC-ADC76B41DACC}"/>
                  </a:ext>
                </a:extLst>
              </p:cNvPr>
              <p:cNvSpPr txBox="1">
                <a:spLocks noRot="1" noChangeAspect="1" noMove="1" noResize="1" noEditPoints="1" noAdjustHandles="1" noChangeArrowheads="1" noChangeShapeType="1" noTextEdit="1"/>
              </p:cNvSpPr>
              <p:nvPr/>
            </p:nvSpPr>
            <p:spPr>
              <a:xfrm>
                <a:off x="777240" y="1596190"/>
                <a:ext cx="9893556" cy="1263192"/>
              </a:xfrm>
              <a:prstGeom prst="rect">
                <a:avLst/>
              </a:prstGeom>
              <a:blipFill>
                <a:blip r:embed="rId3"/>
                <a:stretch>
                  <a:fillRect l="-1295" t="-4831" r="-1603"/>
                </a:stretch>
              </a:blipFill>
              <a:ln>
                <a:noFill/>
              </a:ln>
            </p:spPr>
            <p:txBody>
              <a:bodyPr/>
              <a:lstStyle/>
              <a:p>
                <a:r>
                  <a:rPr lang="en-US">
                    <a:noFill/>
                  </a:rPr>
                  <a:t> </a:t>
                </a:r>
              </a:p>
            </p:txBody>
          </p:sp>
        </mc:Fallback>
      </mc:AlternateContent>
      <p:pic>
        <p:nvPicPr>
          <p:cNvPr id="5" name="Picture 4" descr="Catalina.&#10;I know that since the line are parallel, the new line is a translation of y equals one-half x plus 3. I can substitute the x value from ordered pair 2, 9 into y equals one-half x plus 3 to determine the corresponding point on the pre-image.&#10;y equals one-half times 2, plus 3 equals 4.&#10;The point that corresponds to the point 2, 9 on y equals one-half x plus 3 is 2, 4. Going from 2, 4 to 2, 9 is a translation up five units.&#10;Since y equals the sum of one-half x plus 3, plus 5 equals one-half x plus 8, the equation of the parallel line is y equals one-half x plus 8.">
            <a:extLst>
              <a:ext uri="{FF2B5EF4-FFF2-40B4-BE49-F238E27FC236}">
                <a16:creationId xmlns:a16="http://schemas.microsoft.com/office/drawing/2014/main" id="{F644DCB4-542B-AB52-1EAE-7D171E8BF68A}"/>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77240" y="3413378"/>
            <a:ext cx="5395428" cy="2933954"/>
          </a:xfrm>
          <a:prstGeom prst="rect">
            <a:avLst/>
          </a:prstGeom>
        </p:spPr>
      </p:pic>
      <p:pic>
        <p:nvPicPr>
          <p:cNvPr id="7" name="Picture 6" descr="James.&#10;To write the eqation of the line, all I need to know is the slope formula, m equals y-sub 2 minus y-sub 1 over x-sub 2 minus x-sub 1.&#10;I used m equals one-half and 2, 9 for x, y.&#10;one-half equals y minus 9 over x minus 2.&#10;Then, I rearranged the equation to write it in general form.&#10;2 times the difference y minus 9 equals x minus 2.&#10;y minus 9 equals one-half times the difference x minus 2.&#10;y equals one-half times the difference x minus 2, plus 9.&#10;y equals one-half x minus 1 plus 9.&#10;y equals one-half x plus 8.">
            <a:extLst>
              <a:ext uri="{FF2B5EF4-FFF2-40B4-BE49-F238E27FC236}">
                <a16:creationId xmlns:a16="http://schemas.microsoft.com/office/drawing/2014/main" id="{92597626-7FD1-A854-1FC5-DAE71D99F2E5}"/>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373623" y="3192379"/>
            <a:ext cx="5395428" cy="3375953"/>
          </a:xfrm>
          <a:prstGeom prst="rect">
            <a:avLst/>
          </a:prstGeom>
        </p:spPr>
      </p:pic>
      <p:sp>
        <p:nvSpPr>
          <p:cNvPr id="1703" name="Slide Number 17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718"/>
        <p:cNvGrpSpPr/>
        <p:nvPr/>
      </p:nvGrpSpPr>
      <p:grpSpPr>
        <a:xfrm>
          <a:off x="0" y="0"/>
          <a:ext cx="0" cy="0"/>
          <a:chOff x="0" y="0"/>
          <a:chExt cx="0" cy="0"/>
        </a:xfrm>
      </p:grpSpPr>
      <p:sp>
        <p:nvSpPr>
          <p:cNvPr id="719" name="Google Shape;719;p3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(6 of 8)</a:t>
            </a:r>
            <a:endParaRPr dirty="0">
              <a:solidFill>
                <a:schemeClr val="bg1"/>
              </a:solidFill>
            </a:endParaRPr>
          </a:p>
        </p:txBody>
      </p:sp>
      <p:sp>
        <p:nvSpPr>
          <p:cNvPr id="2" name="Google Shape;659;p26">
            <a:extLst>
              <a:ext uri="{FF2B5EF4-FFF2-40B4-BE49-F238E27FC236}">
                <a16:creationId xmlns:a16="http://schemas.microsoft.com/office/drawing/2014/main" id="{D33246F4-6CB8-CB5A-3BB8-F7D5EAE0A012}"/>
              </a:ext>
            </a:extLst>
          </p:cNvPr>
          <p:cNvSpPr txBox="1"/>
          <p:nvPr/>
        </p:nvSpPr>
        <p:spPr>
          <a:xfrm>
            <a:off x="777240" y="1596190"/>
            <a:ext cx="9893556" cy="4125102"/>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1200"/>
              </a:spcAft>
              <a:buClr>
                <a:srgbClr val="000000"/>
              </a:buClr>
              <a:buSzPts val="2800"/>
              <a:buFont typeface="+mj-lt"/>
              <a:buAutoNum type="arabicPeriod" startAt="3"/>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Which student’s method do you prefer and why?</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endParaRPr lang="en-US" sz="2800" b="0" i="0" u="none" strike="noStrike" baseline="0" dirty="0">
              <a:latin typeface="Calibri" panose="020F0502020204030204" pitchFamily="34" charset="0"/>
              <a:ea typeface="Calibri" panose="020F0502020204030204" pitchFamily="34" charset="0"/>
              <a:cs typeface="Calibri" panose="020F0502020204030204" pitchFamily="34" charset="0"/>
            </a:endParaRPr>
          </a:p>
          <a:p>
            <a:pPr marL="514350" marR="0" lvl="0" indent="-514350" algn="l" rtl="0">
              <a:spcBef>
                <a:spcPts val="0"/>
              </a:spcBef>
              <a:spcAft>
                <a:spcPts val="1200"/>
              </a:spcAft>
              <a:buClr>
                <a:srgbClr val="000000"/>
              </a:buClr>
              <a:buSzPts val="2800"/>
              <a:buFont typeface="+mj-lt"/>
              <a:buAutoNum type="arabicPeriod" startAt="3"/>
            </a:pPr>
            <a:r>
              <a:rPr lang="en-US" sz="2800" dirty="0">
                <a:latin typeface="Calibri" panose="020F0502020204030204" pitchFamily="34" charset="0"/>
                <a:ea typeface="Calibri" panose="020F0502020204030204" pitchFamily="34" charset="0"/>
                <a:cs typeface="Calibri" panose="020F0502020204030204" pitchFamily="34" charset="0"/>
              </a:rPr>
              <a:t>Write the equation of a line that is parallel to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 = −3</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 and passes through the point (−1, 5).</a:t>
            </a:r>
            <a:endParaRPr dirty="0"/>
          </a:p>
        </p:txBody>
      </p:sp>
      <p:sp>
        <p:nvSpPr>
          <p:cNvPr id="1719" name="Slide Number 171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
        <p:nvSpPr>
          <p:cNvPr id="1720" name="Answer 1720"/>
          <p:cNvSpPr txBox="1"/>
          <p:nvPr/>
        </p:nvSpPr>
        <p:spPr>
          <a:xfrm>
            <a:off x="774700" y="25400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Answers will vary. Catalina translates the given line up 5; James uses the slope formula with the point (2, 9). Both get y = (1/2)x + 8.</a:t>
            </a:r>
          </a:p>
        </p:txBody>
      </p:sp>
      <p:sp>
        <p:nvSpPr>
          <p:cNvPr id="1721" name="Answer 1721"/>
          <p:cNvSpPr txBox="1"/>
          <p:nvPr/>
        </p:nvSpPr>
        <p:spPr>
          <a:xfrm>
            <a:off x="774700" y="4318000"/>
            <a:ext cx="10795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y = −3x + 2</a:t>
            </a:r>
          </a:p>
          <a:p>
            <a:pPr marL="0" indent="0" algn="l">
              <a:spcBef>
                <a:spcPts val="0"/>
              </a:spcBef>
              <a:spcAft>
                <a:spcPts val="300"/>
              </a:spcAft>
              <a:buNone/>
            </a:pPr>
            <a:r>
              <a:rPr lang="en-US" sz="2400" dirty="0">
                <a:solidFill>
                  <a:srgbClr val="FF0000"/>
                </a:solidFill>
              </a:rPr>
              <a:t>Parallel, so the slope is −3: 5 = −3(−1) + b, so b = 2.</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7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725"/>
        <p:cNvGrpSpPr/>
        <p:nvPr/>
      </p:nvGrpSpPr>
      <p:grpSpPr>
        <a:xfrm>
          <a:off x="0" y="0"/>
          <a:ext cx="0" cy="0"/>
          <a:chOff x="0" y="0"/>
          <a:chExt cx="0" cy="0"/>
        </a:xfrm>
      </p:grpSpPr>
      <p:sp>
        <p:nvSpPr>
          <p:cNvPr id="726" name="Google Shape;726;p3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(7 of 8)</a:t>
            </a:r>
            <a:endParaRPr dirty="0">
              <a:solidFill>
                <a:schemeClr val="bg1"/>
              </a:solidFill>
            </a:endParaRPr>
          </a:p>
        </p:txBody>
      </p:sp>
      <p:sp>
        <p:nvSpPr>
          <p:cNvPr id="727" name="Google Shape;727;p35"/>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Activity 1.2!</a:t>
            </a:r>
            <a:endParaRPr/>
          </a:p>
        </p:txBody>
      </p:sp>
      <p:pic>
        <p:nvPicPr>
          <p:cNvPr id="728" name="Google Shape;728;p35">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728" name="Slide Number 172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733"/>
        <p:cNvGrpSpPr/>
        <p:nvPr/>
      </p:nvGrpSpPr>
      <p:grpSpPr>
        <a:xfrm>
          <a:off x="0" y="0"/>
          <a:ext cx="0" cy="0"/>
          <a:chOff x="0" y="0"/>
          <a:chExt cx="0" cy="0"/>
        </a:xfrm>
      </p:grpSpPr>
      <p:sp>
        <p:nvSpPr>
          <p:cNvPr id="734" name="Google Shape;734;p3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(8 of 8)</a:t>
            </a:r>
            <a:endParaRPr dirty="0">
              <a:solidFill>
                <a:schemeClr val="bg1"/>
              </a:solidFill>
            </a:endParaRPr>
          </a:p>
        </p:txBody>
      </p:sp>
      <p:sp>
        <p:nvSpPr>
          <p:cNvPr id="735" name="Google Shape;735;p36">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735" name="Slide Number 173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740"/>
        <p:cNvGrpSpPr/>
        <p:nvPr/>
      </p:nvGrpSpPr>
      <p:grpSpPr>
        <a:xfrm>
          <a:off x="0" y="0"/>
          <a:ext cx="0" cy="0"/>
          <a:chOff x="0" y="0"/>
          <a:chExt cx="0" cy="0"/>
        </a:xfrm>
      </p:grpSpPr>
      <p:sp>
        <p:nvSpPr>
          <p:cNvPr id="741" name="Google Shape;741;p37"/>
          <p:cNvSpPr txBox="1">
            <a:spLocks noGrp="1"/>
          </p:cNvSpPr>
          <p:nvPr>
            <p:ph type="title"/>
          </p:nvPr>
        </p:nvSpPr>
        <p:spPr>
          <a:xfrm>
            <a:off x="838200" y="-318782"/>
            <a:ext cx="10514013" cy="318782"/>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Activity 1.3</a:t>
            </a:r>
            <a:endParaRPr dirty="0"/>
          </a:p>
        </p:txBody>
      </p:sp>
      <p:sp>
        <p:nvSpPr>
          <p:cNvPr id="742" name="Google Shape;742;p37" descr="20 to 25 minutes"/>
          <p:cNvSpPr txBox="1">
            <a:spLocks noGrp="1"/>
          </p:cNvSpPr>
          <p:nvPr>
            <p:ph type="body" idx="2"/>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20–25</a:t>
            </a:r>
            <a:endParaRPr dirty="0"/>
          </a:p>
        </p:txBody>
      </p:sp>
      <p:sp>
        <p:nvSpPr>
          <p:cNvPr id="743" name="Google Shape;743;p37">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1.3</a:t>
            </a:r>
            <a:endParaRPr/>
          </a:p>
        </p:txBody>
      </p:sp>
      <p:sp>
        <p:nvSpPr>
          <p:cNvPr id="1743" name="Slide Number 174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748"/>
        <p:cNvGrpSpPr/>
        <p:nvPr/>
      </p:nvGrpSpPr>
      <p:grpSpPr>
        <a:xfrm>
          <a:off x="0" y="0"/>
          <a:ext cx="0" cy="0"/>
          <a:chOff x="0" y="0"/>
          <a:chExt cx="0" cy="0"/>
        </a:xfrm>
      </p:grpSpPr>
      <p:sp>
        <p:nvSpPr>
          <p:cNvPr id="749" name="Google Shape;749;p3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(1 of 9)</a:t>
            </a:r>
            <a:endParaRPr dirty="0">
              <a:solidFill>
                <a:schemeClr val="bg1"/>
              </a:solidFill>
            </a:endParaRPr>
          </a:p>
        </p:txBody>
      </p:sp>
      <p:sp>
        <p:nvSpPr>
          <p:cNvPr id="2" name="Google Shape;659;p26">
            <a:extLst>
              <a:ext uri="{FF2B5EF4-FFF2-40B4-BE49-F238E27FC236}">
                <a16:creationId xmlns:a16="http://schemas.microsoft.com/office/drawing/2014/main" id="{7B07923D-D9B2-28AD-9B91-D6DC19DD0699}"/>
              </a:ext>
            </a:extLst>
          </p:cNvPr>
          <p:cNvSpPr txBox="1"/>
          <p:nvPr/>
        </p:nvSpPr>
        <p:spPr>
          <a:xfrm>
            <a:off x="777240" y="1263193"/>
            <a:ext cx="10791178" cy="293969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 this activity, let’s consider how dilations impact the graph of the linear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514350" marR="0" lvl="0" indent="-514350" algn="l" rtl="0">
              <a:spcBef>
                <a:spcPts val="0"/>
              </a:spcBef>
              <a:spcAft>
                <a:spcPts val="600"/>
              </a:spcAft>
              <a:buClr>
                <a:srgbClr val="000000"/>
              </a:buClr>
              <a:buSzPts val="2800"/>
              <a:buFont typeface="+mj-lt"/>
              <a:buAutoNum type="arabi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Suppose the output values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are changed by a factor of 4 to create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p>
          <a:p>
            <a:pPr marL="1031875" lvl="2" indent="-514350">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Sketch the graph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complete the table of values.</a:t>
            </a:r>
            <a:endParaRPr sz="2800" dirty="0"/>
          </a:p>
        </p:txBody>
      </p:sp>
      <p:pic>
        <p:nvPicPr>
          <p:cNvPr id="753" name="Google Shape;753;p38" descr="A graph of line f of x = x on the coordinate plane. The line rises from left to right through the points from the table, including the points (0, 0) and (2, 2)."/>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684304" y="3900718"/>
            <a:ext cx="2937661" cy="2880508"/>
          </a:xfrm>
          <a:prstGeom prst="rect">
            <a:avLst/>
          </a:prstGeom>
          <a:noFill/>
          <a:ln>
            <a:noFill/>
          </a:ln>
        </p:spPr>
      </p:pic>
      <p:graphicFrame>
        <p:nvGraphicFramePr>
          <p:cNvPr id="5" name="Table 4">
            <a:extLst>
              <a:ext uri="{FF2B5EF4-FFF2-40B4-BE49-F238E27FC236}">
                <a16:creationId xmlns:a16="http://schemas.microsoft.com/office/drawing/2014/main" id="{10D6A821-2047-A7BF-914C-B6AA482EB4A4}"/>
              </a:ext>
            </a:extLst>
          </p:cNvPr>
          <p:cNvGraphicFramePr>
            <a:graphicFrameLocks noGrp="1"/>
          </p:cNvGraphicFramePr>
          <p:nvPr>
            <p:extLst>
              <p:ext uri="{D42A27DB-BD31-4B8C-83A1-F6EECF244321}">
                <p14:modId xmlns:p14="http://schemas.microsoft.com/office/powerpoint/2010/main" val="3171744844"/>
              </p:ext>
            </p:extLst>
          </p:nvPr>
        </p:nvGraphicFramePr>
        <p:xfrm>
          <a:off x="5529029" y="3916899"/>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3" name="Table 2">
            <a:extLst>
              <a:ext uri="{FF2B5EF4-FFF2-40B4-BE49-F238E27FC236}">
                <a16:creationId xmlns:a16="http://schemas.microsoft.com/office/drawing/2014/main" id="{FEBEB89F-FE8C-A0BC-4241-10D8B33B61F8}"/>
              </a:ext>
            </a:extLst>
          </p:cNvPr>
          <p:cNvGraphicFramePr>
            <a:graphicFrameLocks noGrp="1"/>
          </p:cNvGraphicFramePr>
          <p:nvPr>
            <p:extLst>
              <p:ext uri="{D42A27DB-BD31-4B8C-83A1-F6EECF244321}">
                <p14:modId xmlns:p14="http://schemas.microsoft.com/office/powerpoint/2010/main" val="3155997650"/>
              </p:ext>
            </p:extLst>
          </p:nvPr>
        </p:nvGraphicFramePr>
        <p:xfrm>
          <a:off x="5529029" y="4556186"/>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6" name="Table 5">
            <a:extLst>
              <a:ext uri="{FF2B5EF4-FFF2-40B4-BE49-F238E27FC236}">
                <a16:creationId xmlns:a16="http://schemas.microsoft.com/office/drawing/2014/main" id="{CFBACBFD-1114-C3D7-8571-73A104F0EE5B}"/>
              </a:ext>
            </a:extLst>
          </p:cNvPr>
          <p:cNvGraphicFramePr>
            <a:graphicFrameLocks noGrp="1"/>
          </p:cNvGraphicFramePr>
          <p:nvPr>
            <p:extLst>
              <p:ext uri="{D42A27DB-BD31-4B8C-83A1-F6EECF244321}">
                <p14:modId xmlns:p14="http://schemas.microsoft.com/office/powerpoint/2010/main" val="3216935715"/>
              </p:ext>
            </p:extLst>
          </p:nvPr>
        </p:nvGraphicFramePr>
        <p:xfrm>
          <a:off x="7213615" y="3916899"/>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4" name="Table 3">
            <a:extLst>
              <a:ext uri="{FF2B5EF4-FFF2-40B4-BE49-F238E27FC236}">
                <a16:creationId xmlns:a16="http://schemas.microsoft.com/office/drawing/2014/main" id="{2B048231-A374-35C0-1D30-820F0EC52753}"/>
              </a:ext>
            </a:extLst>
          </p:cNvPr>
          <p:cNvGraphicFramePr>
            <a:graphicFrameLocks noGrp="1"/>
          </p:cNvGraphicFramePr>
          <p:nvPr>
            <p:extLst>
              <p:ext uri="{D42A27DB-BD31-4B8C-83A1-F6EECF244321}">
                <p14:modId xmlns:p14="http://schemas.microsoft.com/office/powerpoint/2010/main" val="296210533"/>
              </p:ext>
            </p:extLst>
          </p:nvPr>
        </p:nvGraphicFramePr>
        <p:xfrm>
          <a:off x="7213615" y="4556186"/>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753" name="Slide Number 175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
        <p:nvSpPr>
          <p:cNvPr id="1754" name="Answer 1754"/>
          <p:cNvSpPr txBox="1"/>
          <p:nvPr/>
        </p:nvSpPr>
        <p:spPr>
          <a:xfrm>
            <a:off x="7950200" y="49276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a:t>
            </a:r>
          </a:p>
        </p:txBody>
      </p:sp>
      <p:sp>
        <p:nvSpPr>
          <p:cNvPr id="1755" name="Answer 1755"/>
          <p:cNvSpPr txBox="1"/>
          <p:nvPr/>
        </p:nvSpPr>
        <p:spPr>
          <a:xfrm>
            <a:off x="7950200" y="52959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756" name="Answer 1756"/>
          <p:cNvSpPr txBox="1"/>
          <p:nvPr/>
        </p:nvSpPr>
        <p:spPr>
          <a:xfrm>
            <a:off x="7950200" y="5664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757" name="Answer 1757"/>
          <p:cNvSpPr txBox="1"/>
          <p:nvPr/>
        </p:nvSpPr>
        <p:spPr>
          <a:xfrm>
            <a:off x="7950200" y="6032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758" name="Answer 1758"/>
          <p:cNvSpPr txBox="1"/>
          <p:nvPr/>
        </p:nvSpPr>
        <p:spPr>
          <a:xfrm>
            <a:off x="7950200" y="6400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a:t>
            </a:r>
          </a:p>
        </p:txBody>
      </p:sp>
      <p:sp>
        <p:nvSpPr>
          <p:cNvPr id="1759" name="Answer 1759"/>
          <p:cNvSpPr txBox="1"/>
          <p:nvPr/>
        </p:nvSpPr>
        <p:spPr>
          <a:xfrm>
            <a:off x="8890000" y="4064000"/>
            <a:ext cx="3048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a(x): through (0, 0) and (1, 4)</a:t>
            </a:r>
          </a:p>
        </p:txBody>
      </p:sp>
    </p:spTree>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54"/>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75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5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75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5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760"/>
        <p:cNvGrpSpPr/>
        <p:nvPr/>
      </p:nvGrpSpPr>
      <p:grpSpPr>
        <a:xfrm>
          <a:off x="0" y="0"/>
          <a:ext cx="0" cy="0"/>
          <a:chOff x="0" y="0"/>
          <a:chExt cx="0" cy="0"/>
        </a:xfrm>
      </p:grpSpPr>
      <p:sp>
        <p:nvSpPr>
          <p:cNvPr id="761" name="Google Shape;761;p3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(2 of 9)</a:t>
            </a:r>
            <a:endParaRPr dirty="0">
              <a:solidFill>
                <a:schemeClr val="bg1"/>
              </a:solidFill>
            </a:endParaRPr>
          </a:p>
        </p:txBody>
      </p:sp>
      <p:sp>
        <p:nvSpPr>
          <p:cNvPr id="2" name="Google Shape;659;p26">
            <a:extLst>
              <a:ext uri="{FF2B5EF4-FFF2-40B4-BE49-F238E27FC236}">
                <a16:creationId xmlns:a16="http://schemas.microsoft.com/office/drawing/2014/main" id="{B100799E-3180-D2B7-69CF-C41894B886CF}"/>
              </a:ext>
            </a:extLst>
          </p:cNvPr>
          <p:cNvSpPr txBox="1"/>
          <p:nvPr/>
        </p:nvSpPr>
        <p:spPr>
          <a:xfrm>
            <a:off x="777240" y="1593907"/>
            <a:ext cx="10346562" cy="2608977"/>
          </a:xfrm>
          <a:prstGeom prst="rect">
            <a:avLst/>
          </a:prstGeom>
          <a:noFill/>
          <a:ln>
            <a:noFill/>
          </a:ln>
        </p:spPr>
        <p:txBody>
          <a:bodyPr spcFirstLastPara="1" wrap="square" lIns="91425" tIns="45700" rIns="91425" bIns="45700" anchor="t" anchorCtr="0">
            <a:noAutofit/>
          </a:bodyPr>
          <a:lstStyle/>
          <a:p>
            <a:pPr marL="514350" lvl="2" indent="-514350">
              <a:buSzPts val="280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Identify the slope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latin typeface="Calibri" panose="020F0502020204030204" pitchFamily="34" charset="0"/>
                <a:ea typeface="Calibri" panose="020F0502020204030204" pitchFamily="34" charset="0"/>
                <a:cs typeface="Calibri" panose="020F0502020204030204" pitchFamily="34" charset="0"/>
                <a:sym typeface="Calibri"/>
              </a:rPr>
              <a:t>-intercept of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Then, write the equation for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in general form.</a:t>
            </a:r>
            <a:endParaRPr sz="2800" dirty="0"/>
          </a:p>
        </p:txBody>
      </p:sp>
      <p:sp>
        <p:nvSpPr>
          <p:cNvPr id="1761" name="Slide Number 176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39</a:t>
            </a:fld>
          </a:p>
        </p:txBody>
      </p:sp>
      <p:sp>
        <p:nvSpPr>
          <p:cNvPr id="1762" name="Answer 1762"/>
          <p:cNvSpPr txBox="1"/>
          <p:nvPr/>
        </p:nvSpPr>
        <p:spPr>
          <a:xfrm>
            <a:off x="774700" y="26670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Slope: 4;  y-intercept: (0, 0)</a:t>
            </a:r>
          </a:p>
          <a:p>
            <a:pPr marL="0" indent="0" algn="l">
              <a:spcBef>
                <a:spcPts val="0"/>
              </a:spcBef>
              <a:spcAft>
                <a:spcPts val="300"/>
              </a:spcAft>
              <a:buNone/>
            </a:pPr>
            <a:r>
              <a:rPr lang="en-US" sz="2400" dirty="0">
                <a:solidFill>
                  <a:srgbClr val="FF0000"/>
                </a:solidFill>
              </a:rPr>
              <a:t>a(x) = 4x</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748">
          <a:extLst>
            <a:ext uri="{FF2B5EF4-FFF2-40B4-BE49-F238E27FC236}">
              <a16:creationId xmlns:a16="http://schemas.microsoft.com/office/drawing/2014/main" id="{83ECC9F4-5D00-C4F4-37A6-CAA330484704}"/>
            </a:ext>
          </a:extLst>
        </p:cNvPr>
        <p:cNvGrpSpPr/>
        <p:nvPr/>
      </p:nvGrpSpPr>
      <p:grpSpPr>
        <a:xfrm>
          <a:off x="0" y="0"/>
          <a:ext cx="0" cy="0"/>
          <a:chOff x="0" y="0"/>
          <a:chExt cx="0" cy="0"/>
        </a:xfrm>
      </p:grpSpPr>
      <p:sp>
        <p:nvSpPr>
          <p:cNvPr id="749" name="Google Shape;749;p38">
            <a:extLst>
              <a:ext uri="{FF2B5EF4-FFF2-40B4-BE49-F238E27FC236}">
                <a16:creationId xmlns:a16="http://schemas.microsoft.com/office/drawing/2014/main" id="{1CE0DB58-223B-5A49-6533-F64527316E13}"/>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(3 of 9)</a:t>
            </a:r>
            <a:endParaRPr dirty="0">
              <a:solidFill>
                <a:schemeClr val="bg1"/>
              </a:solidFill>
            </a:endParaRPr>
          </a:p>
        </p:txBody>
      </p:sp>
      <mc:AlternateContent xmlns:mc="http://schemas.openxmlformats.org/markup-compatibility/2006" xmlns:a14="http://schemas.microsoft.com/office/drawing/2010/main">
        <mc:Choice Requires="a14">
          <p:sp>
            <p:nvSpPr>
              <p:cNvPr id="2" name="Google Shape;659;p26">
                <a:extLst>
                  <a:ext uri="{FF2B5EF4-FFF2-40B4-BE49-F238E27FC236}">
                    <a16:creationId xmlns:a16="http://schemas.microsoft.com/office/drawing/2014/main" id="{C5FCD884-0764-6B4B-81BC-62183E1016C2}"/>
                  </a:ext>
                </a:extLst>
              </p:cNvPr>
              <p:cNvSpPr txBox="1"/>
              <p:nvPr/>
            </p:nvSpPr>
            <p:spPr>
              <a:xfrm>
                <a:off x="777240" y="1602297"/>
                <a:ext cx="10791178" cy="2600588"/>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ts val="2800"/>
                  <a:buFont typeface="+mj-lt"/>
                  <a:buAutoNum type="arabicPeriod" startAt="2"/>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Suppose the output values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are changed by a factor of </a:t>
                </a:r>
                <a14:m>
                  <m:oMath xmlns:m="http://schemas.openxmlformats.org/officeDocument/2006/math">
                    <m:f>
                      <m:fPr>
                        <m:ctrlPr>
                          <a:rPr lang="en-US" sz="2800" i="1" smtClean="0">
                            <a:solidFill>
                              <a:srgbClr val="000000"/>
                            </a:solidFill>
                            <a:latin typeface="Cambria Math" panose="02040503050406030204" pitchFamily="18" charset="0"/>
                            <a:ea typeface="Calibri" panose="020F0502020204030204" pitchFamily="34" charset="0"/>
                            <a:cs typeface="Calibri" panose="020F0502020204030204" pitchFamily="34" charset="0"/>
                            <a:sym typeface="Calibri"/>
                          </a:rPr>
                        </m:ctrlPr>
                      </m:fPr>
                      <m:num>
                        <m:r>
                          <a:rPr lang="en-US" sz="2800" b="0" i="1" smtClean="0">
                            <a:solidFill>
                              <a:srgbClr val="000000"/>
                            </a:solidFill>
                            <a:latin typeface="Cambria Math" panose="02040503050406030204" pitchFamily="18" charset="0"/>
                            <a:ea typeface="Calibri" panose="020F0502020204030204" pitchFamily="34" charset="0"/>
                            <a:cs typeface="Calibri" panose="020F0502020204030204" pitchFamily="34" charset="0"/>
                            <a:sym typeface="Calibri"/>
                          </a:rPr>
                          <m:t>2</m:t>
                        </m:r>
                      </m:num>
                      <m:den>
                        <m:r>
                          <a:rPr lang="en-US" sz="2800" b="0" i="1" smtClean="0">
                            <a:solidFill>
                              <a:srgbClr val="000000"/>
                            </a:solidFill>
                            <a:latin typeface="Cambria Math" panose="02040503050406030204" pitchFamily="18" charset="0"/>
                            <a:ea typeface="Calibri" panose="020F0502020204030204" pitchFamily="34" charset="0"/>
                            <a:cs typeface="Calibri" panose="020F0502020204030204" pitchFamily="34" charset="0"/>
                            <a:sym typeface="Calibri"/>
                          </a:rPr>
                          <m:t>3</m:t>
                        </m:r>
                      </m:den>
                    </m:f>
                  </m:oMath>
                </a14:m>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to create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p>
              <a:p>
                <a:pPr marL="1031875" lvl="2" indent="-514350">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Sketch the graph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complete the table of values.</a:t>
                </a:r>
                <a:endParaRPr sz="2800" dirty="0"/>
              </a:p>
            </p:txBody>
          </p:sp>
        </mc:Choice>
        <mc:Fallback xmlns="">
          <p:sp>
            <p:nvSpPr>
              <p:cNvPr id="2" name="Google Shape;659;p26">
                <a:extLst>
                  <a:ext uri="{FF2B5EF4-FFF2-40B4-BE49-F238E27FC236}">
                    <a16:creationId xmlns:a16="http://schemas.microsoft.com/office/drawing/2014/main" id="{C5FCD884-0764-6B4B-81BC-62183E1016C2}"/>
                  </a:ext>
                </a:extLst>
              </p:cNvPr>
              <p:cNvSpPr txBox="1">
                <a:spLocks noRot="1" noChangeAspect="1" noMove="1" noResize="1" noEditPoints="1" noAdjustHandles="1" noChangeArrowheads="1" noChangeShapeType="1" noTextEdit="1"/>
              </p:cNvSpPr>
              <p:nvPr/>
            </p:nvSpPr>
            <p:spPr>
              <a:xfrm>
                <a:off x="777240" y="1602297"/>
                <a:ext cx="10791178" cy="2600588"/>
              </a:xfrm>
              <a:prstGeom prst="rect">
                <a:avLst/>
              </a:prstGeom>
              <a:blipFill>
                <a:blip r:embed="rId3"/>
                <a:stretch>
                  <a:fillRect l="-1243"/>
                </a:stretch>
              </a:blipFill>
              <a:ln>
                <a:noFill/>
              </a:ln>
            </p:spPr>
            <p:txBody>
              <a:bodyPr/>
              <a:lstStyle/>
              <a:p>
                <a:r>
                  <a:rPr lang="en-US">
                    <a:noFill/>
                  </a:rPr>
                  <a:t> </a:t>
                </a:r>
              </a:p>
            </p:txBody>
          </p:sp>
        </mc:Fallback>
      </mc:AlternateContent>
      <p:pic>
        <p:nvPicPr>
          <p:cNvPr id="753" name="Google Shape;753;p38" descr="A graph of line f of x = x on the coordinate plane. The line rises from left to right through the points from the table, including the points (0, 0) and (2, 2).">
            <a:extLst>
              <a:ext uri="{FF2B5EF4-FFF2-40B4-BE49-F238E27FC236}">
                <a16:creationId xmlns:a16="http://schemas.microsoft.com/office/drawing/2014/main" id="{A67A6609-D04C-A4FF-E586-DDCAEFC3C808}"/>
              </a:ext>
            </a:extLst>
          </p:cNvPr>
          <p:cNvPicPr>
            <a:picLocks noChangeAspect="1"/>
          </p:cNvPicPr>
          <p:nvPr/>
        </p:nvPicPr>
        <p:blipFill rotWithShape="1">
          <a:blip r:embed="rId4" cstate="email">
            <a:alphaModFix/>
            <a:extLst>
              <a:ext uri="{28A0092B-C50C-407E-A947-70E740481C1C}">
                <a14:useLocalDpi xmlns:a14="http://schemas.microsoft.com/office/drawing/2010/main"/>
              </a:ext>
            </a:extLst>
          </a:blip>
          <a:srcRect/>
          <a:stretch/>
        </p:blipFill>
        <p:spPr>
          <a:xfrm>
            <a:off x="1684304" y="3623881"/>
            <a:ext cx="2937661" cy="2880508"/>
          </a:xfrm>
          <a:prstGeom prst="rect">
            <a:avLst/>
          </a:prstGeom>
          <a:noFill/>
          <a:ln>
            <a:noFill/>
          </a:ln>
        </p:spPr>
      </p:pic>
      <p:graphicFrame>
        <p:nvGraphicFramePr>
          <p:cNvPr id="5" name="Table 4">
            <a:extLst>
              <a:ext uri="{FF2B5EF4-FFF2-40B4-BE49-F238E27FC236}">
                <a16:creationId xmlns:a16="http://schemas.microsoft.com/office/drawing/2014/main" id="{6C479491-C0EA-27D9-0F34-5D22D726414C}"/>
              </a:ext>
            </a:extLst>
          </p:cNvPr>
          <p:cNvGraphicFramePr>
            <a:graphicFrameLocks noGrp="1"/>
          </p:cNvGraphicFramePr>
          <p:nvPr>
            <p:extLst>
              <p:ext uri="{D42A27DB-BD31-4B8C-83A1-F6EECF244321}">
                <p14:modId xmlns:p14="http://schemas.microsoft.com/office/powerpoint/2010/main" val="1867432652"/>
              </p:ext>
            </p:extLst>
          </p:nvPr>
        </p:nvGraphicFramePr>
        <p:xfrm>
          <a:off x="5529029" y="3640062"/>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3" name="Table 2">
            <a:extLst>
              <a:ext uri="{FF2B5EF4-FFF2-40B4-BE49-F238E27FC236}">
                <a16:creationId xmlns:a16="http://schemas.microsoft.com/office/drawing/2014/main" id="{5364C6AC-1892-CBB3-ABCA-21EC04A83A80}"/>
              </a:ext>
            </a:extLst>
          </p:cNvPr>
          <p:cNvGraphicFramePr>
            <a:graphicFrameLocks noGrp="1"/>
          </p:cNvGraphicFramePr>
          <p:nvPr>
            <p:extLst>
              <p:ext uri="{D42A27DB-BD31-4B8C-83A1-F6EECF244321}">
                <p14:modId xmlns:p14="http://schemas.microsoft.com/office/powerpoint/2010/main" val="4261692620"/>
              </p:ext>
            </p:extLst>
          </p:nvPr>
        </p:nvGraphicFramePr>
        <p:xfrm>
          <a:off x="5529029" y="4279349"/>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6" name="Table 5">
            <a:extLst>
              <a:ext uri="{FF2B5EF4-FFF2-40B4-BE49-F238E27FC236}">
                <a16:creationId xmlns:a16="http://schemas.microsoft.com/office/drawing/2014/main" id="{D37BC2CC-2BEB-51C3-5279-974264B04BEB}"/>
              </a:ext>
            </a:extLst>
          </p:cNvPr>
          <p:cNvGraphicFramePr>
            <a:graphicFrameLocks noGrp="1"/>
          </p:cNvGraphicFramePr>
          <p:nvPr>
            <p:extLst>
              <p:ext uri="{D42A27DB-BD31-4B8C-83A1-F6EECF244321}">
                <p14:modId xmlns:p14="http://schemas.microsoft.com/office/powerpoint/2010/main" val="2903245087"/>
              </p:ext>
            </p:extLst>
          </p:nvPr>
        </p:nvGraphicFramePr>
        <p:xfrm>
          <a:off x="7213615" y="3640062"/>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4" name="Table 3">
            <a:extLst>
              <a:ext uri="{FF2B5EF4-FFF2-40B4-BE49-F238E27FC236}">
                <a16:creationId xmlns:a16="http://schemas.microsoft.com/office/drawing/2014/main" id="{4A4367A3-9597-65E8-33C4-9BD44919EE81}"/>
              </a:ext>
            </a:extLst>
          </p:cNvPr>
          <p:cNvGraphicFramePr>
            <a:graphicFrameLocks noGrp="1"/>
          </p:cNvGraphicFramePr>
          <p:nvPr>
            <p:extLst>
              <p:ext uri="{D42A27DB-BD31-4B8C-83A1-F6EECF244321}">
                <p14:modId xmlns:p14="http://schemas.microsoft.com/office/powerpoint/2010/main" val="1590656683"/>
              </p:ext>
            </p:extLst>
          </p:nvPr>
        </p:nvGraphicFramePr>
        <p:xfrm>
          <a:off x="7213615" y="4279349"/>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753" name="Slide Number 175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40</a:t>
            </a:fld>
          </a:p>
        </p:txBody>
      </p:sp>
      <p:sp>
        <p:nvSpPr>
          <p:cNvPr id="1754" name="Answer 1754"/>
          <p:cNvSpPr txBox="1"/>
          <p:nvPr/>
        </p:nvSpPr>
        <p:spPr>
          <a:xfrm>
            <a:off x="7950200" y="4648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−4/3</a:t>
            </a:r>
          </a:p>
        </p:txBody>
      </p:sp>
      <p:sp>
        <p:nvSpPr>
          <p:cNvPr id="1755" name="Answer 1755"/>
          <p:cNvSpPr txBox="1"/>
          <p:nvPr/>
        </p:nvSpPr>
        <p:spPr>
          <a:xfrm>
            <a:off x="7950200" y="5016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−2/3</a:t>
            </a:r>
          </a:p>
        </p:txBody>
      </p:sp>
      <p:sp>
        <p:nvSpPr>
          <p:cNvPr id="1756" name="Answer 1756"/>
          <p:cNvSpPr txBox="1"/>
          <p:nvPr/>
        </p:nvSpPr>
        <p:spPr>
          <a:xfrm>
            <a:off x="7950200" y="5384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757" name="Answer 1757"/>
          <p:cNvSpPr txBox="1"/>
          <p:nvPr/>
        </p:nvSpPr>
        <p:spPr>
          <a:xfrm>
            <a:off x="7950200" y="57531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2/3</a:t>
            </a:r>
          </a:p>
        </p:txBody>
      </p:sp>
      <p:sp>
        <p:nvSpPr>
          <p:cNvPr id="1758" name="Answer 1758"/>
          <p:cNvSpPr txBox="1"/>
          <p:nvPr/>
        </p:nvSpPr>
        <p:spPr>
          <a:xfrm>
            <a:off x="7950200" y="61214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4/3</a:t>
            </a:r>
          </a:p>
        </p:txBody>
      </p:sp>
      <p:sp>
        <p:nvSpPr>
          <p:cNvPr id="1759" name="Answer 1759"/>
          <p:cNvSpPr txBox="1"/>
          <p:nvPr/>
        </p:nvSpPr>
        <p:spPr>
          <a:xfrm>
            <a:off x="8890000" y="3746500"/>
            <a:ext cx="3048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b(x): through (0, 0) and (3, 2)</a:t>
            </a:r>
          </a:p>
        </p:txBody>
      </p:sp>
    </p:spTree>
    <p:extLst>
      <p:ext uri="{BB962C8B-B14F-4D97-AF65-F5344CB8AC3E}">
        <p14:creationId xmlns:p14="http://schemas.microsoft.com/office/powerpoint/2010/main" val="1195593053"/>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54"/>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75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5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75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5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760">
          <a:extLst>
            <a:ext uri="{FF2B5EF4-FFF2-40B4-BE49-F238E27FC236}">
              <a16:creationId xmlns:a16="http://schemas.microsoft.com/office/drawing/2014/main" id="{CD1E5CCA-C01A-E48E-8850-6AE846051A5C}"/>
            </a:ext>
          </a:extLst>
        </p:cNvPr>
        <p:cNvGrpSpPr/>
        <p:nvPr/>
      </p:nvGrpSpPr>
      <p:grpSpPr>
        <a:xfrm>
          <a:off x="0" y="0"/>
          <a:ext cx="0" cy="0"/>
          <a:chOff x="0" y="0"/>
          <a:chExt cx="0" cy="0"/>
        </a:xfrm>
      </p:grpSpPr>
      <p:sp>
        <p:nvSpPr>
          <p:cNvPr id="761" name="Google Shape;761;p39">
            <a:extLst>
              <a:ext uri="{FF2B5EF4-FFF2-40B4-BE49-F238E27FC236}">
                <a16:creationId xmlns:a16="http://schemas.microsoft.com/office/drawing/2014/main" id="{D1106310-D8A7-3D41-B1E2-64226B532F0D}"/>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(4 of 9)</a:t>
            </a:r>
            <a:endParaRPr dirty="0">
              <a:solidFill>
                <a:schemeClr val="bg1"/>
              </a:solidFill>
            </a:endParaRPr>
          </a:p>
        </p:txBody>
      </p:sp>
      <p:sp>
        <p:nvSpPr>
          <p:cNvPr id="2" name="Google Shape;659;p26">
            <a:extLst>
              <a:ext uri="{FF2B5EF4-FFF2-40B4-BE49-F238E27FC236}">
                <a16:creationId xmlns:a16="http://schemas.microsoft.com/office/drawing/2014/main" id="{6453F125-8162-5F34-C20D-6CF7F09BFFE9}"/>
              </a:ext>
            </a:extLst>
          </p:cNvPr>
          <p:cNvSpPr txBox="1"/>
          <p:nvPr/>
        </p:nvSpPr>
        <p:spPr>
          <a:xfrm>
            <a:off x="777240" y="1593907"/>
            <a:ext cx="10346562" cy="2608977"/>
          </a:xfrm>
          <a:prstGeom prst="rect">
            <a:avLst/>
          </a:prstGeom>
          <a:noFill/>
          <a:ln>
            <a:noFill/>
          </a:ln>
        </p:spPr>
        <p:txBody>
          <a:bodyPr spcFirstLastPara="1" wrap="square" lIns="91425" tIns="45700" rIns="91425" bIns="45700" anchor="t" anchorCtr="0">
            <a:noAutofit/>
          </a:bodyPr>
          <a:lstStyle/>
          <a:p>
            <a:pPr marL="514350" lvl="2" indent="-514350">
              <a:buSzPts val="280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Identify the slope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latin typeface="Calibri" panose="020F0502020204030204" pitchFamily="34" charset="0"/>
                <a:ea typeface="Calibri" panose="020F0502020204030204" pitchFamily="34" charset="0"/>
                <a:cs typeface="Calibri" panose="020F0502020204030204" pitchFamily="34" charset="0"/>
                <a:sym typeface="Calibri"/>
              </a:rPr>
              <a:t>-intercept of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Then, write the equation for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in general form.</a:t>
            </a:r>
            <a:endParaRPr sz="2800" dirty="0"/>
          </a:p>
        </p:txBody>
      </p:sp>
      <p:sp>
        <p:nvSpPr>
          <p:cNvPr id="1761" name="Slide Number 176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41</a:t>
            </a:fld>
          </a:p>
        </p:txBody>
      </p:sp>
      <p:sp>
        <p:nvSpPr>
          <p:cNvPr id="1762" name="Answer 1762"/>
          <p:cNvSpPr txBox="1"/>
          <p:nvPr/>
        </p:nvSpPr>
        <p:spPr>
          <a:xfrm>
            <a:off x="774700" y="26670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Slope: 2/3;  y-intercept: (0, 0)</a:t>
            </a:r>
          </a:p>
          <a:p>
            <a:pPr marL="0" indent="0" algn="l">
              <a:spcBef>
                <a:spcPts val="0"/>
              </a:spcBef>
              <a:spcAft>
                <a:spcPts val="300"/>
              </a:spcAft>
              <a:buNone/>
            </a:pPr>
            <a:r>
              <a:rPr lang="en-US" sz="2400" dirty="0">
                <a:solidFill>
                  <a:srgbClr val="FF0000"/>
                </a:solidFill>
              </a:rPr>
              <a:t>b(x) = (2/3)x</a:t>
            </a:r>
          </a:p>
        </p:txBody>
      </p:sp>
    </p:spTree>
    <p:extLst>
      <p:ext uri="{BB962C8B-B14F-4D97-AF65-F5344CB8AC3E}">
        <p14:creationId xmlns:p14="http://schemas.microsoft.com/office/powerpoint/2010/main" val="50542545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748">
          <a:extLst>
            <a:ext uri="{FF2B5EF4-FFF2-40B4-BE49-F238E27FC236}">
              <a16:creationId xmlns:a16="http://schemas.microsoft.com/office/drawing/2014/main" id="{90D80A15-183C-1EE7-75CF-154C9E886C75}"/>
            </a:ext>
          </a:extLst>
        </p:cNvPr>
        <p:cNvGrpSpPr/>
        <p:nvPr/>
      </p:nvGrpSpPr>
      <p:grpSpPr>
        <a:xfrm>
          <a:off x="0" y="0"/>
          <a:ext cx="0" cy="0"/>
          <a:chOff x="0" y="0"/>
          <a:chExt cx="0" cy="0"/>
        </a:xfrm>
      </p:grpSpPr>
      <p:sp>
        <p:nvSpPr>
          <p:cNvPr id="749" name="Google Shape;749;p38">
            <a:extLst>
              <a:ext uri="{FF2B5EF4-FFF2-40B4-BE49-F238E27FC236}">
                <a16:creationId xmlns:a16="http://schemas.microsoft.com/office/drawing/2014/main" id="{86A82F3B-E848-4976-6DF6-2CDE86FA38A8}"/>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(5 of 9)</a:t>
            </a:r>
            <a:endParaRPr dirty="0">
              <a:solidFill>
                <a:schemeClr val="bg1"/>
              </a:solidFill>
            </a:endParaRPr>
          </a:p>
        </p:txBody>
      </p:sp>
      <p:sp>
        <p:nvSpPr>
          <p:cNvPr id="2" name="Google Shape;659;p26">
            <a:extLst>
              <a:ext uri="{FF2B5EF4-FFF2-40B4-BE49-F238E27FC236}">
                <a16:creationId xmlns:a16="http://schemas.microsoft.com/office/drawing/2014/main" id="{0EC8441A-9E69-0D69-F411-1FC952BBDF62}"/>
              </a:ext>
            </a:extLst>
          </p:cNvPr>
          <p:cNvSpPr txBox="1"/>
          <p:nvPr/>
        </p:nvSpPr>
        <p:spPr>
          <a:xfrm>
            <a:off x="777240" y="1610686"/>
            <a:ext cx="10791178" cy="1937858"/>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ts val="2800"/>
              <a:buFont typeface="+mj-lt"/>
              <a:buAutoNum type="arabicPeriod" startAt="3"/>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Suppose the output values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are changed by a factor of −4 to create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p>
          <a:p>
            <a:pPr marL="1031875" lvl="2" indent="-514350">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Sketch the graph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c</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complete the table of values.</a:t>
            </a:r>
            <a:endParaRPr sz="2800" dirty="0"/>
          </a:p>
        </p:txBody>
      </p:sp>
      <p:pic>
        <p:nvPicPr>
          <p:cNvPr id="7" name="Google Shape;753;p38" descr="A graph of line f of x = x on the coordinate plane. The line rises from left to right through the points from the table, including the points (0, 0) and (2, 2).">
            <a:extLst>
              <a:ext uri="{FF2B5EF4-FFF2-40B4-BE49-F238E27FC236}">
                <a16:creationId xmlns:a16="http://schemas.microsoft.com/office/drawing/2014/main" id="{3AD59954-5A78-0CF2-E0D5-38EFCAB60D20}"/>
              </a:ext>
            </a:extLst>
          </p:cNvPr>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684304" y="3623881"/>
            <a:ext cx="2937661" cy="2880508"/>
          </a:xfrm>
          <a:prstGeom prst="rect">
            <a:avLst/>
          </a:prstGeom>
          <a:noFill/>
          <a:ln>
            <a:noFill/>
          </a:ln>
        </p:spPr>
      </p:pic>
      <p:graphicFrame>
        <p:nvGraphicFramePr>
          <p:cNvPr id="10" name="Table 9">
            <a:extLst>
              <a:ext uri="{FF2B5EF4-FFF2-40B4-BE49-F238E27FC236}">
                <a16:creationId xmlns:a16="http://schemas.microsoft.com/office/drawing/2014/main" id="{7E2B8956-7EF5-8821-E83A-519BEDCB62B4}"/>
              </a:ext>
            </a:extLst>
          </p:cNvPr>
          <p:cNvGraphicFramePr>
            <a:graphicFrameLocks noGrp="1"/>
          </p:cNvGraphicFramePr>
          <p:nvPr>
            <p:extLst>
              <p:ext uri="{D42A27DB-BD31-4B8C-83A1-F6EECF244321}">
                <p14:modId xmlns:p14="http://schemas.microsoft.com/office/powerpoint/2010/main" val="217399188"/>
              </p:ext>
            </p:extLst>
          </p:nvPr>
        </p:nvGraphicFramePr>
        <p:xfrm>
          <a:off x="5529029" y="3640062"/>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8" name="Table 7">
            <a:extLst>
              <a:ext uri="{FF2B5EF4-FFF2-40B4-BE49-F238E27FC236}">
                <a16:creationId xmlns:a16="http://schemas.microsoft.com/office/drawing/2014/main" id="{98A080EA-9F65-BD24-C6BF-678F06809315}"/>
              </a:ext>
            </a:extLst>
          </p:cNvPr>
          <p:cNvGraphicFramePr>
            <a:graphicFrameLocks noGrp="1"/>
          </p:cNvGraphicFramePr>
          <p:nvPr>
            <p:extLst>
              <p:ext uri="{D42A27DB-BD31-4B8C-83A1-F6EECF244321}">
                <p14:modId xmlns:p14="http://schemas.microsoft.com/office/powerpoint/2010/main" val="18030100"/>
              </p:ext>
            </p:extLst>
          </p:nvPr>
        </p:nvGraphicFramePr>
        <p:xfrm>
          <a:off x="5529029" y="4279349"/>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1" name="Table 10">
            <a:extLst>
              <a:ext uri="{FF2B5EF4-FFF2-40B4-BE49-F238E27FC236}">
                <a16:creationId xmlns:a16="http://schemas.microsoft.com/office/drawing/2014/main" id="{B668B3F0-F262-32AC-48C8-CF8BA77E0B60}"/>
              </a:ext>
            </a:extLst>
          </p:cNvPr>
          <p:cNvGraphicFramePr>
            <a:graphicFrameLocks noGrp="1"/>
          </p:cNvGraphicFramePr>
          <p:nvPr>
            <p:extLst>
              <p:ext uri="{D42A27DB-BD31-4B8C-83A1-F6EECF244321}">
                <p14:modId xmlns:p14="http://schemas.microsoft.com/office/powerpoint/2010/main" val="390253862"/>
              </p:ext>
            </p:extLst>
          </p:nvPr>
        </p:nvGraphicFramePr>
        <p:xfrm>
          <a:off x="7213615" y="3640062"/>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9" name="Table 8">
            <a:extLst>
              <a:ext uri="{FF2B5EF4-FFF2-40B4-BE49-F238E27FC236}">
                <a16:creationId xmlns:a16="http://schemas.microsoft.com/office/drawing/2014/main" id="{77BAF37C-A200-B659-0B8D-11A476A6702C}"/>
              </a:ext>
            </a:extLst>
          </p:cNvPr>
          <p:cNvGraphicFramePr>
            <a:graphicFrameLocks noGrp="1"/>
          </p:cNvGraphicFramePr>
          <p:nvPr>
            <p:extLst>
              <p:ext uri="{D42A27DB-BD31-4B8C-83A1-F6EECF244321}">
                <p14:modId xmlns:p14="http://schemas.microsoft.com/office/powerpoint/2010/main" val="3343087689"/>
              </p:ext>
            </p:extLst>
          </p:nvPr>
        </p:nvGraphicFramePr>
        <p:xfrm>
          <a:off x="7213615" y="4279349"/>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749" name="Slide Number 174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42</a:t>
            </a:fld>
          </a:p>
        </p:txBody>
      </p:sp>
      <p:sp>
        <p:nvSpPr>
          <p:cNvPr id="1750" name="Answer 1750"/>
          <p:cNvSpPr txBox="1"/>
          <p:nvPr/>
        </p:nvSpPr>
        <p:spPr>
          <a:xfrm>
            <a:off x="7950200" y="4648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a:t>
            </a:r>
          </a:p>
        </p:txBody>
      </p:sp>
      <p:sp>
        <p:nvSpPr>
          <p:cNvPr id="1751" name="Answer 1751"/>
          <p:cNvSpPr txBox="1"/>
          <p:nvPr/>
        </p:nvSpPr>
        <p:spPr>
          <a:xfrm>
            <a:off x="7950200" y="5016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752" name="Answer 1752"/>
          <p:cNvSpPr txBox="1"/>
          <p:nvPr/>
        </p:nvSpPr>
        <p:spPr>
          <a:xfrm>
            <a:off x="7950200" y="5384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753" name="Answer 1753"/>
          <p:cNvSpPr txBox="1"/>
          <p:nvPr/>
        </p:nvSpPr>
        <p:spPr>
          <a:xfrm>
            <a:off x="7950200" y="57531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754" name="Answer 1754"/>
          <p:cNvSpPr txBox="1"/>
          <p:nvPr/>
        </p:nvSpPr>
        <p:spPr>
          <a:xfrm>
            <a:off x="7950200" y="61214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a:t>
            </a:r>
          </a:p>
        </p:txBody>
      </p:sp>
      <p:sp>
        <p:nvSpPr>
          <p:cNvPr id="1755" name="Answer 1755"/>
          <p:cNvSpPr txBox="1"/>
          <p:nvPr/>
        </p:nvSpPr>
        <p:spPr>
          <a:xfrm>
            <a:off x="8890000" y="3746500"/>
            <a:ext cx="3048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c(x): through (0, 0) and (1, −4)</a:t>
            </a:r>
          </a:p>
        </p:txBody>
      </p:sp>
    </p:spTree>
    <p:extLst>
      <p:ext uri="{BB962C8B-B14F-4D97-AF65-F5344CB8AC3E}">
        <p14:creationId xmlns:p14="http://schemas.microsoft.com/office/powerpoint/2010/main" val="2203327660"/>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50"/>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75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5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75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5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760">
          <a:extLst>
            <a:ext uri="{FF2B5EF4-FFF2-40B4-BE49-F238E27FC236}">
              <a16:creationId xmlns:a16="http://schemas.microsoft.com/office/drawing/2014/main" id="{C98C0242-CF7D-03BD-6FC5-B8425D502999}"/>
            </a:ext>
          </a:extLst>
        </p:cNvPr>
        <p:cNvGrpSpPr/>
        <p:nvPr/>
      </p:nvGrpSpPr>
      <p:grpSpPr>
        <a:xfrm>
          <a:off x="0" y="0"/>
          <a:ext cx="0" cy="0"/>
          <a:chOff x="0" y="0"/>
          <a:chExt cx="0" cy="0"/>
        </a:xfrm>
      </p:grpSpPr>
      <p:sp>
        <p:nvSpPr>
          <p:cNvPr id="761" name="Google Shape;761;p39">
            <a:extLst>
              <a:ext uri="{FF2B5EF4-FFF2-40B4-BE49-F238E27FC236}">
                <a16:creationId xmlns:a16="http://schemas.microsoft.com/office/drawing/2014/main" id="{0F35B7F3-9815-70C1-C503-411C7D5AF9FA}"/>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(6 of 9)</a:t>
            </a:r>
            <a:endParaRPr dirty="0">
              <a:solidFill>
                <a:schemeClr val="bg1"/>
              </a:solidFill>
            </a:endParaRPr>
          </a:p>
        </p:txBody>
      </p:sp>
      <p:sp>
        <p:nvSpPr>
          <p:cNvPr id="2" name="Google Shape;659;p26">
            <a:extLst>
              <a:ext uri="{FF2B5EF4-FFF2-40B4-BE49-F238E27FC236}">
                <a16:creationId xmlns:a16="http://schemas.microsoft.com/office/drawing/2014/main" id="{49F0BA96-BA50-71D0-2032-242C3322C69F}"/>
              </a:ext>
            </a:extLst>
          </p:cNvPr>
          <p:cNvSpPr txBox="1"/>
          <p:nvPr/>
        </p:nvSpPr>
        <p:spPr>
          <a:xfrm>
            <a:off x="777240" y="1593907"/>
            <a:ext cx="10346562" cy="2608977"/>
          </a:xfrm>
          <a:prstGeom prst="rect">
            <a:avLst/>
          </a:prstGeom>
          <a:noFill/>
          <a:ln>
            <a:noFill/>
          </a:ln>
        </p:spPr>
        <p:txBody>
          <a:bodyPr spcFirstLastPara="1" wrap="square" lIns="91425" tIns="45700" rIns="91425" bIns="45700" anchor="t" anchorCtr="0">
            <a:noAutofit/>
          </a:bodyPr>
          <a:lstStyle/>
          <a:p>
            <a:pPr marL="514350" lvl="2" indent="-514350">
              <a:buSzPts val="280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Identify the slope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latin typeface="Calibri" panose="020F0502020204030204" pitchFamily="34" charset="0"/>
                <a:ea typeface="Calibri" panose="020F0502020204030204" pitchFamily="34" charset="0"/>
                <a:cs typeface="Calibri" panose="020F0502020204030204" pitchFamily="34" charset="0"/>
                <a:sym typeface="Calibri"/>
              </a:rPr>
              <a:t>-intercept of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c</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Then, write the equation for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c</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in general form.</a:t>
            </a:r>
            <a:endParaRPr sz="2800" dirty="0"/>
          </a:p>
        </p:txBody>
      </p:sp>
      <p:sp>
        <p:nvSpPr>
          <p:cNvPr id="1761" name="Slide Number 176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43</a:t>
            </a:fld>
          </a:p>
        </p:txBody>
      </p:sp>
      <p:sp>
        <p:nvSpPr>
          <p:cNvPr id="1762" name="Answer 1762"/>
          <p:cNvSpPr txBox="1"/>
          <p:nvPr/>
        </p:nvSpPr>
        <p:spPr>
          <a:xfrm>
            <a:off x="774700" y="26670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Slope: −4;  y-intercept: (0, 0)</a:t>
            </a:r>
          </a:p>
          <a:p>
            <a:pPr marL="0" indent="0" algn="l">
              <a:spcBef>
                <a:spcPts val="0"/>
              </a:spcBef>
              <a:spcAft>
                <a:spcPts val="300"/>
              </a:spcAft>
              <a:buNone/>
            </a:pPr>
            <a:r>
              <a:rPr lang="en-US" sz="2400" dirty="0">
                <a:solidFill>
                  <a:srgbClr val="FF0000"/>
                </a:solidFill>
              </a:rPr>
              <a:t>c(x) = −4x</a:t>
            </a:r>
          </a:p>
        </p:txBody>
      </p:sp>
    </p:spTree>
    <p:extLst>
      <p:ext uri="{BB962C8B-B14F-4D97-AF65-F5344CB8AC3E}">
        <p14:creationId xmlns:p14="http://schemas.microsoft.com/office/powerpoint/2010/main" val="167948249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782"/>
        <p:cNvGrpSpPr/>
        <p:nvPr/>
      </p:nvGrpSpPr>
      <p:grpSpPr>
        <a:xfrm>
          <a:off x="0" y="0"/>
          <a:ext cx="0" cy="0"/>
          <a:chOff x="0" y="0"/>
          <a:chExt cx="0" cy="0"/>
        </a:xfrm>
      </p:grpSpPr>
      <p:sp>
        <p:nvSpPr>
          <p:cNvPr id="783" name="Google Shape;783;p4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(7 of 9)</a:t>
            </a:r>
            <a:endParaRPr dirty="0">
              <a:solidFill>
                <a:schemeClr val="bg1"/>
              </a:solidFill>
            </a:endParaRPr>
          </a:p>
        </p:txBody>
      </p:sp>
      <p:sp>
        <p:nvSpPr>
          <p:cNvPr id="2" name="Google Shape;659;p26">
            <a:extLst>
              <a:ext uri="{FF2B5EF4-FFF2-40B4-BE49-F238E27FC236}">
                <a16:creationId xmlns:a16="http://schemas.microsoft.com/office/drawing/2014/main" id="{63D09408-7ECD-0F8E-DAAD-19439B3309DA}"/>
              </a:ext>
            </a:extLst>
          </p:cNvPr>
          <p:cNvSpPr txBox="1"/>
          <p:nvPr/>
        </p:nvSpPr>
        <p:spPr>
          <a:xfrm>
            <a:off x="777240" y="1593907"/>
            <a:ext cx="10346562" cy="5050174"/>
          </a:xfrm>
          <a:prstGeom prst="rect">
            <a:avLst/>
          </a:prstGeom>
          <a:noFill/>
          <a:ln>
            <a:noFill/>
          </a:ln>
        </p:spPr>
        <p:txBody>
          <a:bodyPr spcFirstLastPara="1" wrap="square" lIns="91425" tIns="45700" rIns="91425" bIns="45700" anchor="t" anchorCtr="0">
            <a:noAutofit/>
          </a:bodyPr>
          <a:lstStyle/>
          <a:p>
            <a:pPr algn="l">
              <a:spcAft>
                <a:spcPts val="1200"/>
              </a:spcAft>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For the parent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the transformed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 </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shows a vertical dilation of the function. This dilation affects the output values, 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-values, of the function. For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&gt; 1, the resulting graph vertically stretches by a factor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units. For 0 &lt;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&lt; 1, the resulting graph vertically compresses by a factor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units. For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&lt; 0, the resulting graph is vertically stretched or compressed and is reflected across the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-axis.</a:t>
            </a:r>
          </a:p>
          <a:p>
            <a:pPr marL="514350" indent="-514350" algn="l">
              <a:buFont typeface="+mj-lt"/>
              <a:buAutoNum type="arabicPeriod" startAt="4"/>
            </a:pPr>
            <a:r>
              <a:rPr lang="en-US" sz="2800" dirty="0">
                <a:latin typeface="Calibri" panose="020F0502020204030204" pitchFamily="34" charset="0"/>
                <a:ea typeface="Calibri" panose="020F0502020204030204" pitchFamily="34" charset="0"/>
                <a:cs typeface="Calibri" panose="020F0502020204030204" pitchFamily="34" charset="0"/>
              </a:rPr>
              <a:t>Compare the values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(−1) and </a:t>
            </a:r>
            <a:r>
              <a:rPr lang="en-US" sz="2800" i="1" dirty="0">
                <a:latin typeface="Calibri" panose="020F0502020204030204" pitchFamily="34" charset="0"/>
                <a:ea typeface="Calibri" panose="020F0502020204030204" pitchFamily="34" charset="0"/>
                <a:cs typeface="Calibri" panose="020F0502020204030204" pitchFamily="34" charset="0"/>
              </a:rPr>
              <a:t>c</a:t>
            </a:r>
            <a:r>
              <a:rPr lang="en-US" sz="2800" dirty="0">
                <a:latin typeface="Calibri" panose="020F0502020204030204" pitchFamily="34" charset="0"/>
                <a:ea typeface="Calibri" panose="020F0502020204030204" pitchFamily="34" charset="0"/>
                <a:cs typeface="Calibri" panose="020F0502020204030204" pitchFamily="34" charset="0"/>
              </a:rPr>
              <a:t>(−1). How did the transformation of the function affect the value of the function at </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a:t>
            </a:r>
            <a:endParaRPr sz="2800" dirty="0">
              <a:latin typeface="Calibri" panose="020F0502020204030204" pitchFamily="34" charset="0"/>
              <a:ea typeface="Calibri" panose="020F0502020204030204" pitchFamily="34" charset="0"/>
              <a:cs typeface="Calibri" panose="020F0502020204030204" pitchFamily="34" charset="0"/>
            </a:endParaRPr>
          </a:p>
        </p:txBody>
      </p:sp>
      <p:sp>
        <p:nvSpPr>
          <p:cNvPr id="1783" name="Slide Number 178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44</a:t>
            </a:fld>
          </a:p>
        </p:txBody>
      </p:sp>
      <p:sp>
        <p:nvSpPr>
          <p:cNvPr id="1784" name="Answer 1784"/>
          <p:cNvSpPr txBox="1"/>
          <p:nvPr/>
        </p:nvSpPr>
        <p:spPr>
          <a:xfrm>
            <a:off x="774700" y="52705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f(−1) = −1 and c(−1) = 4.</a:t>
            </a:r>
          </a:p>
          <a:p>
            <a:pPr marL="0" indent="0" algn="l">
              <a:spcBef>
                <a:spcPts val="0"/>
              </a:spcBef>
              <a:spcAft>
                <a:spcPts val="300"/>
              </a:spcAft>
              <a:buNone/>
            </a:pPr>
            <a:r>
              <a:rPr lang="en-US" sz="2400" dirty="0">
                <a:solidFill>
                  <a:srgbClr val="FF0000"/>
                </a:solidFill>
              </a:rPr>
              <a:t>The vertical dilation multiplied the value at x = −1 by −4.</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8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790"/>
        <p:cNvGrpSpPr/>
        <p:nvPr/>
      </p:nvGrpSpPr>
      <p:grpSpPr>
        <a:xfrm>
          <a:off x="0" y="0"/>
          <a:ext cx="0" cy="0"/>
          <a:chOff x="0" y="0"/>
          <a:chExt cx="0" cy="0"/>
        </a:xfrm>
      </p:grpSpPr>
      <p:sp>
        <p:nvSpPr>
          <p:cNvPr id="791" name="Google Shape;791;p4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(8 of 9)</a:t>
            </a:r>
            <a:endParaRPr dirty="0">
              <a:solidFill>
                <a:schemeClr val="bg1"/>
              </a:solidFill>
            </a:endParaRPr>
          </a:p>
        </p:txBody>
      </p:sp>
      <p:sp>
        <p:nvSpPr>
          <p:cNvPr id="792" name="Google Shape;792;p42"/>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revisit the Essential Question and summarize our learning from Activity 1.3!</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dirty="0">
                <a:solidFill>
                  <a:srgbClr val="000000"/>
                </a:solidFill>
                <a:latin typeface="Calibri"/>
                <a:ea typeface="Calibri"/>
                <a:cs typeface="Calibri"/>
                <a:sym typeface="Calibri"/>
              </a:rPr>
              <a:t>How can you transform a function? What effects do different transformations have on the characteristics of linear functions?</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p:txBody>
      </p:sp>
      <p:pic>
        <p:nvPicPr>
          <p:cNvPr id="793" name="Google Shape;793;p42">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57245" y="372494"/>
            <a:ext cx="1501270" cy="518205"/>
          </a:xfrm>
          <a:prstGeom prst="rect">
            <a:avLst/>
          </a:prstGeom>
          <a:noFill/>
          <a:ln>
            <a:noFill/>
          </a:ln>
        </p:spPr>
      </p:pic>
      <p:sp>
        <p:nvSpPr>
          <p:cNvPr id="1793" name="Slide Number 179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45</a:t>
            </a:fld>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798"/>
        <p:cNvGrpSpPr/>
        <p:nvPr/>
      </p:nvGrpSpPr>
      <p:grpSpPr>
        <a:xfrm>
          <a:off x="0" y="0"/>
          <a:ext cx="0" cy="0"/>
          <a:chOff x="0" y="0"/>
          <a:chExt cx="0" cy="0"/>
        </a:xfrm>
      </p:grpSpPr>
      <p:sp>
        <p:nvSpPr>
          <p:cNvPr id="799" name="Google Shape;799;p4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(9 of 9)</a:t>
            </a:r>
            <a:endParaRPr dirty="0">
              <a:solidFill>
                <a:schemeClr val="bg1"/>
              </a:solidFill>
            </a:endParaRPr>
          </a:p>
        </p:txBody>
      </p:sp>
      <p:sp>
        <p:nvSpPr>
          <p:cNvPr id="800" name="Google Shape;800;p43">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800" name="Slide Number 180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46</a:t>
            </a:fld>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805"/>
        <p:cNvGrpSpPr/>
        <p:nvPr/>
      </p:nvGrpSpPr>
      <p:grpSpPr>
        <a:xfrm>
          <a:off x="0" y="0"/>
          <a:ext cx="0" cy="0"/>
          <a:chOff x="0" y="0"/>
          <a:chExt cx="0" cy="0"/>
        </a:xfrm>
      </p:grpSpPr>
      <p:sp>
        <p:nvSpPr>
          <p:cNvPr id="806" name="Google Shape;806;p44"/>
          <p:cNvSpPr txBox="1">
            <a:spLocks noGrp="1"/>
          </p:cNvSpPr>
          <p:nvPr>
            <p:ph type="title"/>
          </p:nvPr>
        </p:nvSpPr>
        <p:spPr>
          <a:xfrm>
            <a:off x="838200" y="-302004"/>
            <a:ext cx="10514013" cy="302004"/>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Day 3</a:t>
            </a:r>
            <a:endParaRPr dirty="0"/>
          </a:p>
        </p:txBody>
      </p:sp>
      <p:sp>
        <p:nvSpPr>
          <p:cNvPr id="807" name="Google Shape;807;p44"/>
          <p:cNvSpPr txBox="1">
            <a:spLocks noGrp="1"/>
          </p:cNvSpPr>
          <p:nvPr>
            <p:ph type="body" idx="1"/>
          </p:nvPr>
        </p:nvSpPr>
        <p:spPr>
          <a:xfrm>
            <a:off x="6658975" y="2832927"/>
            <a:ext cx="1061883"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a:solidFill>
                  <a:srgbClr val="000000"/>
                </a:solidFill>
                <a:latin typeface="Calibri"/>
                <a:ea typeface="Calibri"/>
                <a:cs typeface="Calibri"/>
                <a:sym typeface="Calibri"/>
              </a:rPr>
              <a:t>3</a:t>
            </a:r>
            <a:endParaRPr/>
          </a:p>
        </p:txBody>
      </p:sp>
      <p:sp>
        <p:nvSpPr>
          <p:cNvPr id="1807" name="Slide Number 180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47</a:t>
            </a:fld>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812"/>
        <p:cNvGrpSpPr/>
        <p:nvPr/>
      </p:nvGrpSpPr>
      <p:grpSpPr>
        <a:xfrm>
          <a:off x="0" y="0"/>
          <a:ext cx="0" cy="0"/>
          <a:chOff x="0" y="0"/>
          <a:chExt cx="0" cy="0"/>
        </a:xfrm>
      </p:grpSpPr>
      <p:sp>
        <p:nvSpPr>
          <p:cNvPr id="813" name="Google Shape;813;p4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(3 of 3)</a:t>
            </a:r>
            <a:endParaRPr dirty="0">
              <a:solidFill>
                <a:schemeClr val="bg1"/>
              </a:solidFill>
            </a:endParaRPr>
          </a:p>
        </p:txBody>
      </p:sp>
      <p:sp>
        <p:nvSpPr>
          <p:cNvPr id="814" name="Google Shape;814;p45"/>
          <p:cNvSpPr txBox="1"/>
          <p:nvPr/>
        </p:nvSpPr>
        <p:spPr>
          <a:xfrm>
            <a:off x="777240" y="1612231"/>
            <a:ext cx="9884842" cy="4323543"/>
          </a:xfrm>
          <a:prstGeom prst="rect">
            <a:avLst/>
          </a:prstGeom>
          <a:noFill/>
          <a:ln>
            <a:noFill/>
          </a:ln>
        </p:spPr>
        <p:txBody>
          <a:bodyPr spcFirstLastPara="1" wrap="square" lIns="91425" tIns="45700" rIns="91425" bIns="45700" anchor="t" anchorCtr="0">
            <a:noAutofit/>
          </a:bodyPr>
          <a:lstStyle/>
          <a:p>
            <a:pPr marL="0" marR="0" lvl="0" indent="0" algn="l" rtl="0">
              <a:spcBef>
                <a:spcPts val="24"/>
              </a:spcBef>
              <a:spcAft>
                <a:spcPts val="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 of linear functions</a:t>
            </a:r>
            <a:r>
              <a:rPr lang="en-US" sz="2800" dirty="0">
                <a:solidFill>
                  <a:srgbClr val="000000"/>
                </a:solidFill>
                <a:latin typeface="Calibri"/>
                <a:ea typeface="Calibri"/>
                <a:cs typeface="Calibri"/>
                <a:sym typeface="Calibri"/>
              </a:rPr>
              <a:t>?</a:t>
            </a:r>
            <a:endParaRPr dirty="0"/>
          </a:p>
        </p:txBody>
      </p:sp>
      <p:sp>
        <p:nvSpPr>
          <p:cNvPr id="1814" name="Slide Number 181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48</a:t>
            </a:fld>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819"/>
        <p:cNvGrpSpPr/>
        <p:nvPr/>
      </p:nvGrpSpPr>
      <p:grpSpPr>
        <a:xfrm>
          <a:off x="0" y="0"/>
          <a:ext cx="0" cy="0"/>
          <a:chOff x="0" y="0"/>
          <a:chExt cx="0" cy="0"/>
        </a:xfrm>
      </p:grpSpPr>
      <p:sp>
        <p:nvSpPr>
          <p:cNvPr id="820" name="Google Shape;820;p46"/>
          <p:cNvSpPr txBox="1">
            <a:spLocks noGrp="1"/>
          </p:cNvSpPr>
          <p:nvPr>
            <p:ph type="title"/>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Activity 1.4</a:t>
            </a:r>
            <a:endParaRPr dirty="0"/>
          </a:p>
        </p:txBody>
      </p:sp>
      <p:sp>
        <p:nvSpPr>
          <p:cNvPr id="821" name="Google Shape;821;p46" descr="15 to 20 minutes"/>
          <p:cNvSpPr txBox="1">
            <a:spLocks noGrp="1"/>
          </p:cNvSpPr>
          <p:nvPr>
            <p:ph type="body" idx="2"/>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822" name="Google Shape;822;p46">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1.4</a:t>
            </a:r>
            <a:endParaRPr/>
          </a:p>
        </p:txBody>
      </p:sp>
      <p:sp>
        <p:nvSpPr>
          <p:cNvPr id="1822" name="Slide Number 182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49</a:t>
            </a:fld>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827"/>
        <p:cNvGrpSpPr/>
        <p:nvPr/>
      </p:nvGrpSpPr>
      <p:grpSpPr>
        <a:xfrm>
          <a:off x="0" y="0"/>
          <a:ext cx="0" cy="0"/>
          <a:chOff x="0" y="0"/>
          <a:chExt cx="0" cy="0"/>
        </a:xfrm>
      </p:grpSpPr>
      <p:sp>
        <p:nvSpPr>
          <p:cNvPr id="828" name="Google Shape;828;p47"/>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(1 of 6)</a:t>
            </a:r>
            <a:endParaRPr dirty="0">
              <a:solidFill>
                <a:schemeClr val="bg1"/>
              </a:solidFill>
            </a:endParaRPr>
          </a:p>
        </p:txBody>
      </p:sp>
      <p:sp>
        <p:nvSpPr>
          <p:cNvPr id="2" name="Google Shape;659;p26">
            <a:extLst>
              <a:ext uri="{FF2B5EF4-FFF2-40B4-BE49-F238E27FC236}">
                <a16:creationId xmlns:a16="http://schemas.microsoft.com/office/drawing/2014/main" id="{E560C3F9-0259-D99D-424A-6AE8AB525D1D}"/>
              </a:ext>
            </a:extLst>
          </p:cNvPr>
          <p:cNvSpPr txBox="1"/>
          <p:nvPr/>
        </p:nvSpPr>
        <p:spPr>
          <a:xfrm>
            <a:off x="764931" y="1263193"/>
            <a:ext cx="10791178" cy="166456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Let’s consider more transformations of the parent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514350" marR="0" lvl="0" indent="-514350" algn="l" rtl="0">
              <a:spcBef>
                <a:spcPts val="0"/>
              </a:spcBef>
              <a:spcAft>
                <a:spcPts val="600"/>
              </a:spcAft>
              <a:buClr>
                <a:srgbClr val="000000"/>
              </a:buClr>
              <a:buSzPts val="2800"/>
              <a:buFont typeface="+mj-lt"/>
              <a:buAutoNum type="arabi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Describe the transformations performed on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to produce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g</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Then, graph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g</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Write the function equation in general form.</a:t>
            </a:r>
            <a:endParaRPr sz="2800" dirty="0"/>
          </a:p>
        </p:txBody>
      </p:sp>
      <p:sp>
        <p:nvSpPr>
          <p:cNvPr id="3" name="Google Shape;659;p26">
            <a:extLst>
              <a:ext uri="{FF2B5EF4-FFF2-40B4-BE49-F238E27FC236}">
                <a16:creationId xmlns:a16="http://schemas.microsoft.com/office/drawing/2014/main" id="{3EE023B9-B2F0-F1F0-A544-AE3ED2E8FDE4}"/>
              </a:ext>
            </a:extLst>
          </p:cNvPr>
          <p:cNvSpPr txBox="1"/>
          <p:nvPr/>
        </p:nvSpPr>
        <p:spPr>
          <a:xfrm>
            <a:off x="764931" y="2927758"/>
            <a:ext cx="4394298" cy="653581"/>
          </a:xfrm>
          <a:prstGeom prst="rect">
            <a:avLst/>
          </a:prstGeom>
          <a:noFill/>
          <a:ln>
            <a:noFill/>
          </a:ln>
        </p:spPr>
        <p:txBody>
          <a:bodyPr spcFirstLastPara="1" wrap="square" lIns="91425" tIns="45700" rIns="91425" bIns="45700" anchor="t" anchorCtr="0">
            <a:noAutofit/>
          </a:bodyPr>
          <a:lstStyle/>
          <a:p>
            <a:pPr marL="1031875" marR="0" lvl="0" indent="-514350" algn="l" rtl="0">
              <a:spcBef>
                <a:spcPts val="0"/>
              </a:spcBef>
              <a:spcAft>
                <a:spcPts val="600"/>
              </a:spcAft>
              <a:buClr>
                <a:srgbClr val="000000"/>
              </a:buClr>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2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+ 7</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831" name="Google Shape;831;p47" descr="A graph of line f of x = x on the coordinate plane. The line rises from left to right through the points (0, 0) and (2, 2)."/>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811021" y="3793870"/>
            <a:ext cx="2636338" cy="2672852"/>
          </a:xfrm>
          <a:prstGeom prst="rect">
            <a:avLst/>
          </a:prstGeom>
          <a:noFill/>
          <a:ln>
            <a:noFill/>
          </a:ln>
        </p:spPr>
      </p:pic>
      <p:sp>
        <p:nvSpPr>
          <p:cNvPr id="4" name="Google Shape;659;p26">
            <a:extLst>
              <a:ext uri="{FF2B5EF4-FFF2-40B4-BE49-F238E27FC236}">
                <a16:creationId xmlns:a16="http://schemas.microsoft.com/office/drawing/2014/main" id="{090938B8-1EDE-D174-95B8-B85E17EBB907}"/>
              </a:ext>
            </a:extLst>
          </p:cNvPr>
          <p:cNvSpPr txBox="1"/>
          <p:nvPr/>
        </p:nvSpPr>
        <p:spPr>
          <a:xfrm>
            <a:off x="5463814" y="2927757"/>
            <a:ext cx="4394298" cy="653581"/>
          </a:xfrm>
          <a:prstGeom prst="rect">
            <a:avLst/>
          </a:prstGeom>
          <a:noFill/>
          <a:ln>
            <a:noFill/>
          </a:ln>
        </p:spPr>
        <p:txBody>
          <a:bodyPr spcFirstLastPara="1" wrap="square" lIns="91425" tIns="45700" rIns="91425" bIns="45700" anchor="t" anchorCtr="0">
            <a:noAutofit/>
          </a:bodyPr>
          <a:lstStyle/>
          <a:p>
            <a:pPr marL="1031875" marR="0" lvl="0" indent="-514350" algn="l" rtl="0">
              <a:spcBef>
                <a:spcPts val="0"/>
              </a:spcBef>
              <a:spcAft>
                <a:spcPts val="600"/>
              </a:spcAft>
              <a:buClr>
                <a:srgbClr val="000000"/>
              </a:buClr>
              <a:buSzPts val="280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3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832" name="Google Shape;832;p47" descr="A graph of line f of x = x on the coordinate plane. The line rises from left to right through the points (0, 0) and (2, 2)."/>
          <p:cNvPicPr>
            <a:picLocks noChangeAspect="1"/>
          </p:cNvPicPr>
          <p:nvPr/>
        </p:nvPicPr>
        <p:blipFill rotWithShape="1">
          <a:blip r:embed="rId4" cstate="email">
            <a:alphaModFix/>
            <a:extLst>
              <a:ext uri="{28A0092B-C50C-407E-A947-70E740481C1C}">
                <a14:useLocalDpi xmlns:a14="http://schemas.microsoft.com/office/drawing/2010/main"/>
              </a:ext>
            </a:extLst>
          </a:blip>
          <a:srcRect/>
          <a:stretch/>
        </p:blipFill>
        <p:spPr>
          <a:xfrm>
            <a:off x="6477672" y="3874201"/>
            <a:ext cx="2636338" cy="2592521"/>
          </a:xfrm>
          <a:prstGeom prst="rect">
            <a:avLst/>
          </a:prstGeom>
          <a:noFill/>
          <a:ln>
            <a:noFill/>
          </a:ln>
        </p:spPr>
      </p:pic>
      <p:sp>
        <p:nvSpPr>
          <p:cNvPr id="1832" name="Slide Number 183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50</a:t>
            </a:fld>
          </a:p>
        </p:txBody>
      </p:sp>
      <p:sp>
        <p:nvSpPr>
          <p:cNvPr id="1833" name="Answer 1833"/>
          <p:cNvSpPr txBox="1"/>
          <p:nvPr/>
        </p:nvSpPr>
        <p:spPr>
          <a:xfrm>
            <a:off x="9207500" y="2984500"/>
            <a:ext cx="2857500" cy="177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 g(x) = 2x + 7</a:t>
            </a:r>
          </a:p>
          <a:p>
            <a:pPr marL="0" indent="0" algn="l">
              <a:spcBef>
                <a:spcPts val="0"/>
              </a:spcBef>
              <a:spcAft>
                <a:spcPts val="300"/>
              </a:spcAft>
              <a:buNone/>
            </a:pPr>
            <a:r>
              <a:rPr lang="en-US" sz="1800" dirty="0">
                <a:solidFill>
                  <a:srgbClr val="FF0000"/>
                </a:solidFill>
              </a:rPr>
              <a:t>Vertical stretch by a factor of 2, then up 7. Graph: through (0, 7), slope 2.</a:t>
            </a:r>
          </a:p>
        </p:txBody>
      </p:sp>
      <p:sp>
        <p:nvSpPr>
          <p:cNvPr id="1834" name="Answer 1834"/>
          <p:cNvSpPr txBox="1"/>
          <p:nvPr/>
        </p:nvSpPr>
        <p:spPr>
          <a:xfrm>
            <a:off x="9207500" y="4889500"/>
            <a:ext cx="2857500" cy="177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b. g(x) = 3x − 1</a:t>
            </a:r>
          </a:p>
          <a:p>
            <a:pPr marL="0" indent="0" algn="l">
              <a:spcBef>
                <a:spcPts val="0"/>
              </a:spcBef>
              <a:spcAft>
                <a:spcPts val="300"/>
              </a:spcAft>
              <a:buNone/>
            </a:pPr>
            <a:r>
              <a:rPr lang="en-US" sz="1800" dirty="0">
                <a:solidFill>
                  <a:srgbClr val="FF0000"/>
                </a:solidFill>
              </a:rPr>
              <a:t>Vertical stretch by a factor of 3, then down 1. Graph: through (0, −1), slope 3.</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83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8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827">
          <a:extLst>
            <a:ext uri="{FF2B5EF4-FFF2-40B4-BE49-F238E27FC236}">
              <a16:creationId xmlns:a16="http://schemas.microsoft.com/office/drawing/2014/main" id="{6A7FDF52-38E6-D85C-684E-A506D30D026F}"/>
            </a:ext>
          </a:extLst>
        </p:cNvPr>
        <p:cNvGrpSpPr/>
        <p:nvPr/>
      </p:nvGrpSpPr>
      <p:grpSpPr>
        <a:xfrm>
          <a:off x="0" y="0"/>
          <a:ext cx="0" cy="0"/>
          <a:chOff x="0" y="0"/>
          <a:chExt cx="0" cy="0"/>
        </a:xfrm>
      </p:grpSpPr>
      <p:sp>
        <p:nvSpPr>
          <p:cNvPr id="828" name="Google Shape;828;p47">
            <a:extLst>
              <a:ext uri="{FF2B5EF4-FFF2-40B4-BE49-F238E27FC236}">
                <a16:creationId xmlns:a16="http://schemas.microsoft.com/office/drawing/2014/main" id="{9B7434C7-A4E8-610B-08B2-3812E2D0C6F2}"/>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(2 of 6)</a:t>
            </a:r>
            <a:endParaRPr dirty="0">
              <a:solidFill>
                <a:schemeClr val="bg1"/>
              </a:solidFill>
            </a:endParaRPr>
          </a:p>
        </p:txBody>
      </p:sp>
      <mc:AlternateContent xmlns:mc="http://schemas.openxmlformats.org/markup-compatibility/2006" xmlns:a14="http://schemas.microsoft.com/office/drawing/2010/main">
        <mc:Choice Requires="a14">
          <p:sp>
            <p:nvSpPr>
              <p:cNvPr id="3" name="Google Shape;659;p26">
                <a:extLst>
                  <a:ext uri="{FF2B5EF4-FFF2-40B4-BE49-F238E27FC236}">
                    <a16:creationId xmlns:a16="http://schemas.microsoft.com/office/drawing/2014/main" id="{E4EB07F6-E015-709E-9E54-9EB9892FCC82}"/>
                  </a:ext>
                </a:extLst>
              </p:cNvPr>
              <p:cNvSpPr txBox="1"/>
              <p:nvPr/>
            </p:nvSpPr>
            <p:spPr>
              <a:xfrm>
                <a:off x="764931" y="1627464"/>
                <a:ext cx="4394298" cy="653581"/>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ts val="2800"/>
                  <a:buFont typeface="+mj-lt"/>
                  <a:buAutoNum type="alphaLcPeriod" startAt="3"/>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f>
                      <m:fPr>
                        <m:ctrlPr>
                          <a:rPr lang="en-US" sz="280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1</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3</m:t>
                        </m:r>
                      </m:den>
                    </m:f>
                  </m:oMath>
                </a14:m>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+ 2</a:t>
                </a:r>
                <a:endParaRPr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Google Shape;659;p26">
                <a:extLst>
                  <a:ext uri="{FF2B5EF4-FFF2-40B4-BE49-F238E27FC236}">
                    <a16:creationId xmlns:a16="http://schemas.microsoft.com/office/drawing/2014/main" id="{E4EB07F6-E015-709E-9E54-9EB9892FCC82}"/>
                  </a:ext>
                </a:extLst>
              </p:cNvPr>
              <p:cNvSpPr txBox="1">
                <a:spLocks noRot="1" noChangeAspect="1" noMove="1" noResize="1" noEditPoints="1" noAdjustHandles="1" noChangeArrowheads="1" noChangeShapeType="1" noTextEdit="1"/>
              </p:cNvSpPr>
              <p:nvPr/>
            </p:nvSpPr>
            <p:spPr>
              <a:xfrm>
                <a:off x="764931" y="1627464"/>
                <a:ext cx="4394298" cy="653581"/>
              </a:xfrm>
              <a:prstGeom prst="rect">
                <a:avLst/>
              </a:prstGeom>
              <a:blipFill>
                <a:blip r:embed="rId3"/>
                <a:stretch>
                  <a:fillRect l="-2913" b="-20561"/>
                </a:stretch>
              </a:blipFill>
              <a:ln>
                <a:noFill/>
              </a:ln>
            </p:spPr>
            <p:txBody>
              <a:bodyPr/>
              <a:lstStyle/>
              <a:p>
                <a:r>
                  <a:rPr lang="en-US">
                    <a:noFill/>
                  </a:rPr>
                  <a:t> </a:t>
                </a:r>
              </a:p>
            </p:txBody>
          </p:sp>
        </mc:Fallback>
      </mc:AlternateContent>
      <p:pic>
        <p:nvPicPr>
          <p:cNvPr id="831" name="Google Shape;831;p47" descr="A graph of line f of x = x on the coordinate plane. The line rises from left to right through the points (0, 0) and (2, 2).">
            <a:extLst>
              <a:ext uri="{FF2B5EF4-FFF2-40B4-BE49-F238E27FC236}">
                <a16:creationId xmlns:a16="http://schemas.microsoft.com/office/drawing/2014/main" id="{015265C5-1062-95C3-181A-1F28F3FBABFC}"/>
              </a:ext>
            </a:extLst>
          </p:cNvPr>
          <p:cNvPicPr>
            <a:picLocks noChangeAspect="1"/>
          </p:cNvPicPr>
          <p:nvPr/>
        </p:nvPicPr>
        <p:blipFill rotWithShape="1">
          <a:blip r:embed="rId4" cstate="email">
            <a:alphaModFix/>
            <a:extLst>
              <a:ext uri="{28A0092B-C50C-407E-A947-70E740481C1C}">
                <a14:useLocalDpi xmlns:a14="http://schemas.microsoft.com/office/drawing/2010/main"/>
              </a:ext>
            </a:extLst>
          </a:blip>
          <a:srcRect/>
          <a:stretch/>
        </p:blipFill>
        <p:spPr>
          <a:xfrm>
            <a:off x="1811021" y="2493576"/>
            <a:ext cx="2636338" cy="2672852"/>
          </a:xfrm>
          <a:prstGeom prst="rect">
            <a:avLst/>
          </a:prstGeom>
          <a:noFill/>
          <a:ln>
            <a:noFill/>
          </a:ln>
        </p:spPr>
      </p:pic>
      <mc:AlternateContent xmlns:mc="http://schemas.openxmlformats.org/markup-compatibility/2006" xmlns:a14="http://schemas.microsoft.com/office/drawing/2010/main">
        <mc:Choice Requires="a14">
          <p:sp>
            <p:nvSpPr>
              <p:cNvPr id="4" name="Google Shape;659;p26">
                <a:extLst>
                  <a:ext uri="{FF2B5EF4-FFF2-40B4-BE49-F238E27FC236}">
                    <a16:creationId xmlns:a16="http://schemas.microsoft.com/office/drawing/2014/main" id="{5474CCAE-BF4D-3DFD-6A2E-2D16590BB74A}"/>
                  </a:ext>
                </a:extLst>
              </p:cNvPr>
              <p:cNvSpPr txBox="1"/>
              <p:nvPr/>
            </p:nvSpPr>
            <p:spPr>
              <a:xfrm>
                <a:off x="5463814" y="1627463"/>
                <a:ext cx="4394298" cy="653581"/>
              </a:xfrm>
              <a:prstGeom prst="rect">
                <a:avLst/>
              </a:prstGeom>
              <a:noFill/>
              <a:ln>
                <a:noFill/>
              </a:ln>
            </p:spPr>
            <p:txBody>
              <a:bodyPr spcFirstLastPara="1" wrap="square" lIns="91425" tIns="45700" rIns="91425" bIns="45700" anchor="t" anchorCtr="0">
                <a:noAutofit/>
              </a:bodyPr>
              <a:lstStyle/>
              <a:p>
                <a:pPr marL="1031875" marR="0" lvl="0" indent="-514350" algn="l" rtl="0">
                  <a:spcBef>
                    <a:spcPts val="0"/>
                  </a:spcBef>
                  <a:spcAft>
                    <a:spcPts val="600"/>
                  </a:spcAft>
                  <a:buClr>
                    <a:srgbClr val="000000"/>
                  </a:buClr>
                  <a:buSzPts val="2800"/>
                  <a:buFont typeface="+mj-lt"/>
                  <a:buAutoNum type="alphaLcPeriod" startAt="4"/>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f>
                      <m:fPr>
                        <m:ctrlPr>
                          <a:rPr lang="en-US" sz="280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1</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2</m:t>
                        </m:r>
                      </m:den>
                    </m:f>
                  </m:oMath>
                </a14:m>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− 3</a:t>
                </a:r>
                <a:endParaRPr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 name="Google Shape;659;p26">
                <a:extLst>
                  <a:ext uri="{FF2B5EF4-FFF2-40B4-BE49-F238E27FC236}">
                    <a16:creationId xmlns:a16="http://schemas.microsoft.com/office/drawing/2014/main" id="{5474CCAE-BF4D-3DFD-6A2E-2D16590BB74A}"/>
                  </a:ext>
                </a:extLst>
              </p:cNvPr>
              <p:cNvSpPr txBox="1">
                <a:spLocks noRot="1" noChangeAspect="1" noMove="1" noResize="1" noEditPoints="1" noAdjustHandles="1" noChangeArrowheads="1" noChangeShapeType="1" noTextEdit="1"/>
              </p:cNvSpPr>
              <p:nvPr/>
            </p:nvSpPr>
            <p:spPr>
              <a:xfrm>
                <a:off x="5463814" y="1627463"/>
                <a:ext cx="4394298" cy="653581"/>
              </a:xfrm>
              <a:prstGeom prst="rect">
                <a:avLst/>
              </a:prstGeom>
              <a:blipFill>
                <a:blip r:embed="rId5"/>
                <a:stretch>
                  <a:fillRect b="-20561"/>
                </a:stretch>
              </a:blipFill>
              <a:ln>
                <a:noFill/>
              </a:ln>
            </p:spPr>
            <p:txBody>
              <a:bodyPr/>
              <a:lstStyle/>
              <a:p>
                <a:r>
                  <a:rPr lang="en-US">
                    <a:noFill/>
                  </a:rPr>
                  <a:t> </a:t>
                </a:r>
              </a:p>
            </p:txBody>
          </p:sp>
        </mc:Fallback>
      </mc:AlternateContent>
      <p:pic>
        <p:nvPicPr>
          <p:cNvPr id="832" name="Google Shape;832;p47" descr="A graph of line f of x = x on the coordinate plane. The line rises from left to right through the points (0, 0) and (2, 2).">
            <a:extLst>
              <a:ext uri="{FF2B5EF4-FFF2-40B4-BE49-F238E27FC236}">
                <a16:creationId xmlns:a16="http://schemas.microsoft.com/office/drawing/2014/main" id="{11505A71-19A1-5C79-212B-306770095FDE}"/>
              </a:ext>
            </a:extLst>
          </p:cNvPr>
          <p:cNvPicPr>
            <a:picLocks noChangeAspect="1"/>
          </p:cNvPicPr>
          <p:nvPr/>
        </p:nvPicPr>
        <p:blipFill rotWithShape="1">
          <a:blip r:embed="rId6" cstate="email">
            <a:alphaModFix/>
            <a:extLst>
              <a:ext uri="{28A0092B-C50C-407E-A947-70E740481C1C}">
                <a14:useLocalDpi xmlns:a14="http://schemas.microsoft.com/office/drawing/2010/main"/>
              </a:ext>
            </a:extLst>
          </a:blip>
          <a:srcRect/>
          <a:stretch/>
        </p:blipFill>
        <p:spPr>
          <a:xfrm>
            <a:off x="6477672" y="2573907"/>
            <a:ext cx="2636338" cy="2592521"/>
          </a:xfrm>
          <a:prstGeom prst="rect">
            <a:avLst/>
          </a:prstGeom>
          <a:noFill/>
          <a:ln>
            <a:noFill/>
          </a:ln>
        </p:spPr>
      </p:pic>
      <p:sp>
        <p:nvSpPr>
          <p:cNvPr id="1832" name="Slide Number 183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51</a:t>
            </a:fld>
          </a:p>
        </p:txBody>
      </p:sp>
      <p:sp>
        <p:nvSpPr>
          <p:cNvPr id="1833" name="Answer 1833"/>
          <p:cNvSpPr txBox="1"/>
          <p:nvPr/>
        </p:nvSpPr>
        <p:spPr>
          <a:xfrm>
            <a:off x="762000" y="5334000"/>
            <a:ext cx="4826000" cy="1397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g(x) = (1/3)x + 2</a:t>
            </a:r>
          </a:p>
          <a:p>
            <a:pPr marL="0" indent="0" algn="l">
              <a:spcBef>
                <a:spcPts val="0"/>
              </a:spcBef>
              <a:spcAft>
                <a:spcPts val="300"/>
              </a:spcAft>
              <a:buNone/>
            </a:pPr>
            <a:r>
              <a:rPr lang="en-US" sz="1800" dirty="0">
                <a:solidFill>
                  <a:srgbClr val="FF0000"/>
                </a:solidFill>
              </a:rPr>
              <a:t>Vertical compression by a factor of 1/3, then up 2. Graph: through (0, 2), slope 1/3.</a:t>
            </a:r>
          </a:p>
        </p:txBody>
      </p:sp>
      <p:sp>
        <p:nvSpPr>
          <p:cNvPr id="1834" name="Answer 1834"/>
          <p:cNvSpPr txBox="1"/>
          <p:nvPr/>
        </p:nvSpPr>
        <p:spPr>
          <a:xfrm>
            <a:off x="5461000" y="5334000"/>
            <a:ext cx="5715000" cy="1397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g(x) = (1/2)x − 3</a:t>
            </a:r>
          </a:p>
          <a:p>
            <a:pPr marL="0" indent="0" algn="l">
              <a:spcBef>
                <a:spcPts val="0"/>
              </a:spcBef>
              <a:spcAft>
                <a:spcPts val="300"/>
              </a:spcAft>
              <a:buNone/>
            </a:pPr>
            <a:r>
              <a:rPr lang="en-US" sz="1800" dirty="0">
                <a:solidFill>
                  <a:srgbClr val="FF0000"/>
                </a:solidFill>
              </a:rPr>
              <a:t>Vertical compression by a factor of 1/2, then down 3. Graph: through (0, −3), slope 1/2.</a:t>
            </a:r>
          </a:p>
        </p:txBody>
      </p:sp>
    </p:spTree>
    <p:extLst>
      <p:ext uri="{BB962C8B-B14F-4D97-AF65-F5344CB8AC3E}">
        <p14:creationId xmlns:p14="http://schemas.microsoft.com/office/powerpoint/2010/main" val="251720532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83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8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827">
          <a:extLst>
            <a:ext uri="{FF2B5EF4-FFF2-40B4-BE49-F238E27FC236}">
              <a16:creationId xmlns:a16="http://schemas.microsoft.com/office/drawing/2014/main" id="{835ECF12-8D48-7659-19E8-CA1C4DF4B74B}"/>
            </a:ext>
          </a:extLst>
        </p:cNvPr>
        <p:cNvGrpSpPr/>
        <p:nvPr/>
      </p:nvGrpSpPr>
      <p:grpSpPr>
        <a:xfrm>
          <a:off x="0" y="0"/>
          <a:ext cx="0" cy="0"/>
          <a:chOff x="0" y="0"/>
          <a:chExt cx="0" cy="0"/>
        </a:xfrm>
      </p:grpSpPr>
      <p:sp>
        <p:nvSpPr>
          <p:cNvPr id="828" name="Google Shape;828;p47">
            <a:extLst>
              <a:ext uri="{FF2B5EF4-FFF2-40B4-BE49-F238E27FC236}">
                <a16:creationId xmlns:a16="http://schemas.microsoft.com/office/drawing/2014/main" id="{899ABEBE-8516-1B4D-8475-6C3D81E3A23E}"/>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(3 of 6)</a:t>
            </a:r>
            <a:endParaRPr dirty="0">
              <a:solidFill>
                <a:schemeClr val="bg1"/>
              </a:solidFill>
            </a:endParaRPr>
          </a:p>
        </p:txBody>
      </p:sp>
      <p:sp>
        <p:nvSpPr>
          <p:cNvPr id="3" name="Google Shape;659;p26">
            <a:extLst>
              <a:ext uri="{FF2B5EF4-FFF2-40B4-BE49-F238E27FC236}">
                <a16:creationId xmlns:a16="http://schemas.microsoft.com/office/drawing/2014/main" id="{F823ACBA-5EAC-2AE5-58DB-5FFF483BB513}"/>
              </a:ext>
            </a:extLst>
          </p:cNvPr>
          <p:cNvSpPr txBox="1"/>
          <p:nvPr/>
        </p:nvSpPr>
        <p:spPr>
          <a:xfrm>
            <a:off x="764931" y="1758684"/>
            <a:ext cx="4394298" cy="589473"/>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ts val="2800"/>
              <a:buFont typeface="+mj-lt"/>
              <a:buAutoNum type="alphaLcPeriod" startAt="5"/>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− 4</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831" name="Google Shape;831;p47" descr="A graph of line f of x = x on the coordinate plane. The line rises from left to right through the points (0, 0) and (2, 2).">
            <a:extLst>
              <a:ext uri="{FF2B5EF4-FFF2-40B4-BE49-F238E27FC236}">
                <a16:creationId xmlns:a16="http://schemas.microsoft.com/office/drawing/2014/main" id="{2CA8A1BC-D053-A25D-49CD-D2ADCC6AF3AC}"/>
              </a:ext>
            </a:extLst>
          </p:cNvPr>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811021" y="2493576"/>
            <a:ext cx="2636338" cy="2672852"/>
          </a:xfrm>
          <a:prstGeom prst="rect">
            <a:avLst/>
          </a:prstGeom>
          <a:noFill/>
          <a:ln>
            <a:noFill/>
          </a:ln>
        </p:spPr>
      </p:pic>
      <mc:AlternateContent xmlns:mc="http://schemas.openxmlformats.org/markup-compatibility/2006" xmlns:a14="http://schemas.microsoft.com/office/drawing/2010/main">
        <mc:Choice Requires="a14">
          <p:sp>
            <p:nvSpPr>
              <p:cNvPr id="4" name="Google Shape;659;p26">
                <a:extLst>
                  <a:ext uri="{FF2B5EF4-FFF2-40B4-BE49-F238E27FC236}">
                    <a16:creationId xmlns:a16="http://schemas.microsoft.com/office/drawing/2014/main" id="{E42A4738-F0B5-F269-B6D2-45A710EB0FAF}"/>
                  </a:ext>
                </a:extLst>
              </p:cNvPr>
              <p:cNvSpPr txBox="1"/>
              <p:nvPr/>
            </p:nvSpPr>
            <p:spPr>
              <a:xfrm>
                <a:off x="5463814" y="1627463"/>
                <a:ext cx="4394298" cy="653581"/>
              </a:xfrm>
              <a:prstGeom prst="rect">
                <a:avLst/>
              </a:prstGeom>
              <a:noFill/>
              <a:ln>
                <a:noFill/>
              </a:ln>
            </p:spPr>
            <p:txBody>
              <a:bodyPr spcFirstLastPara="1" wrap="square" lIns="91425" tIns="45700" rIns="91425" bIns="45700" anchor="t" anchorCtr="0">
                <a:noAutofit/>
              </a:bodyPr>
              <a:lstStyle/>
              <a:p>
                <a:pPr marL="1031875" marR="0" lvl="0" indent="-514350" algn="l" rtl="0">
                  <a:spcBef>
                    <a:spcPts val="0"/>
                  </a:spcBef>
                  <a:spcAft>
                    <a:spcPts val="600"/>
                  </a:spcAft>
                  <a:buClr>
                    <a:srgbClr val="000000"/>
                  </a:buClr>
                  <a:buSzPts val="2800"/>
                  <a:buFont typeface="+mj-lt"/>
                  <a:buAutoNum type="alphaLcPeriod" startAt="6"/>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r>
                      <a:rPr lang="en-US" sz="2800" b="0" i="0" smtClean="0">
                        <a:latin typeface="Cambria Math" panose="02040503050406030204" pitchFamily="18" charset="0"/>
                        <a:ea typeface="Calibri" panose="020F0502020204030204" pitchFamily="34" charset="0"/>
                        <a:cs typeface="Calibri" panose="020F0502020204030204" pitchFamily="34" charset="0"/>
                      </a:rPr>
                      <m:t>−</m:t>
                    </m:r>
                    <m:f>
                      <m:fPr>
                        <m:ctrlPr>
                          <a:rPr lang="en-US" sz="280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2</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3</m:t>
                        </m:r>
                      </m:den>
                    </m:f>
                  </m:oMath>
                </a14:m>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+ 5</a:t>
                </a:r>
                <a:endParaRPr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 name="Google Shape;659;p26">
                <a:extLst>
                  <a:ext uri="{FF2B5EF4-FFF2-40B4-BE49-F238E27FC236}">
                    <a16:creationId xmlns:a16="http://schemas.microsoft.com/office/drawing/2014/main" id="{E42A4738-F0B5-F269-B6D2-45A710EB0FAF}"/>
                  </a:ext>
                </a:extLst>
              </p:cNvPr>
              <p:cNvSpPr txBox="1">
                <a:spLocks noRot="1" noChangeAspect="1" noMove="1" noResize="1" noEditPoints="1" noAdjustHandles="1" noChangeArrowheads="1" noChangeShapeType="1" noTextEdit="1"/>
              </p:cNvSpPr>
              <p:nvPr/>
            </p:nvSpPr>
            <p:spPr>
              <a:xfrm>
                <a:off x="5463814" y="1627463"/>
                <a:ext cx="4394298" cy="653581"/>
              </a:xfrm>
              <a:prstGeom prst="rect">
                <a:avLst/>
              </a:prstGeom>
              <a:blipFill>
                <a:blip r:embed="rId4"/>
                <a:stretch>
                  <a:fillRect b="-20561"/>
                </a:stretch>
              </a:blipFill>
              <a:ln>
                <a:noFill/>
              </a:ln>
            </p:spPr>
            <p:txBody>
              <a:bodyPr/>
              <a:lstStyle/>
              <a:p>
                <a:r>
                  <a:rPr lang="en-US">
                    <a:noFill/>
                  </a:rPr>
                  <a:t> </a:t>
                </a:r>
              </a:p>
            </p:txBody>
          </p:sp>
        </mc:Fallback>
      </mc:AlternateContent>
      <p:pic>
        <p:nvPicPr>
          <p:cNvPr id="832" name="Google Shape;832;p47" descr="A graph of line f of x = x on the coordinate plane. The line rises from left to right through the points (0, 0) and (2, 2).">
            <a:extLst>
              <a:ext uri="{FF2B5EF4-FFF2-40B4-BE49-F238E27FC236}">
                <a16:creationId xmlns:a16="http://schemas.microsoft.com/office/drawing/2014/main" id="{502ED35A-E289-0A6F-13A9-CA8ED671B9BD}"/>
              </a:ext>
            </a:extLst>
          </p:cNvPr>
          <p:cNvPicPr>
            <a:picLocks noChangeAspect="1"/>
          </p:cNvPicPr>
          <p:nvPr/>
        </p:nvPicPr>
        <p:blipFill rotWithShape="1">
          <a:blip r:embed="rId5" cstate="email">
            <a:alphaModFix/>
            <a:extLst>
              <a:ext uri="{28A0092B-C50C-407E-A947-70E740481C1C}">
                <a14:useLocalDpi xmlns:a14="http://schemas.microsoft.com/office/drawing/2010/main"/>
              </a:ext>
            </a:extLst>
          </a:blip>
          <a:srcRect/>
          <a:stretch/>
        </p:blipFill>
        <p:spPr>
          <a:xfrm>
            <a:off x="6477672" y="2573907"/>
            <a:ext cx="2636338" cy="2592521"/>
          </a:xfrm>
          <a:prstGeom prst="rect">
            <a:avLst/>
          </a:prstGeom>
          <a:noFill/>
          <a:ln>
            <a:noFill/>
          </a:ln>
        </p:spPr>
      </p:pic>
      <p:sp>
        <p:nvSpPr>
          <p:cNvPr id="1832" name="Slide Number 183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52</a:t>
            </a:fld>
          </a:p>
        </p:txBody>
      </p:sp>
      <p:sp>
        <p:nvSpPr>
          <p:cNvPr id="1833" name="Answer 1833"/>
          <p:cNvSpPr txBox="1"/>
          <p:nvPr/>
        </p:nvSpPr>
        <p:spPr>
          <a:xfrm>
            <a:off x="762000" y="5270500"/>
            <a:ext cx="4826000" cy="1460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g(x) = −x − 4</a:t>
            </a:r>
          </a:p>
          <a:p>
            <a:pPr marL="0" indent="0" algn="l">
              <a:spcBef>
                <a:spcPts val="0"/>
              </a:spcBef>
              <a:spcAft>
                <a:spcPts val="300"/>
              </a:spcAft>
              <a:buNone/>
            </a:pPr>
            <a:r>
              <a:rPr lang="en-US" sz="1800" dirty="0">
                <a:solidFill>
                  <a:srgbClr val="FF0000"/>
                </a:solidFill>
              </a:rPr>
              <a:t>Reflection across the x-axis, then down 4. Graph: through (0, −4), slope −1.</a:t>
            </a:r>
          </a:p>
        </p:txBody>
      </p:sp>
      <p:sp>
        <p:nvSpPr>
          <p:cNvPr id="1834" name="Answer 1834"/>
          <p:cNvSpPr txBox="1"/>
          <p:nvPr/>
        </p:nvSpPr>
        <p:spPr>
          <a:xfrm>
            <a:off x="5461000" y="5270500"/>
            <a:ext cx="5715000" cy="1460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g(x) = −(2/3)x + 5</a:t>
            </a:r>
          </a:p>
          <a:p>
            <a:pPr marL="0" indent="0" algn="l">
              <a:spcBef>
                <a:spcPts val="0"/>
              </a:spcBef>
              <a:spcAft>
                <a:spcPts val="300"/>
              </a:spcAft>
              <a:buNone/>
            </a:pPr>
            <a:r>
              <a:rPr lang="en-US" sz="1800" dirty="0">
                <a:solidFill>
                  <a:srgbClr val="FF0000"/>
                </a:solidFill>
              </a:rPr>
              <a:t>Reflection across the x-axis and vertical compression by a factor of 2/3, then up 5. Graph: through (0, 5), slope −2/3.</a:t>
            </a:r>
          </a:p>
        </p:txBody>
      </p:sp>
    </p:spTree>
    <p:extLst>
      <p:ext uri="{BB962C8B-B14F-4D97-AF65-F5344CB8AC3E}">
        <p14:creationId xmlns:p14="http://schemas.microsoft.com/office/powerpoint/2010/main" val="409914586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83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8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862"/>
        <p:cNvGrpSpPr/>
        <p:nvPr/>
      </p:nvGrpSpPr>
      <p:grpSpPr>
        <a:xfrm>
          <a:off x="0" y="0"/>
          <a:ext cx="0" cy="0"/>
          <a:chOff x="0" y="0"/>
          <a:chExt cx="0" cy="0"/>
        </a:xfrm>
      </p:grpSpPr>
      <p:sp>
        <p:nvSpPr>
          <p:cNvPr id="4" name="Google Shape;828;p47">
            <a:extLst>
              <a:ext uri="{FF2B5EF4-FFF2-40B4-BE49-F238E27FC236}">
                <a16:creationId xmlns:a16="http://schemas.microsoft.com/office/drawing/2014/main" id="{7D53C5AA-5A40-41A8-C4EB-427B8F3E39A6}"/>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(4 of 6)</a:t>
            </a:r>
            <a:endParaRPr dirty="0">
              <a:solidFill>
                <a:schemeClr val="bg1"/>
              </a:solidFill>
            </a:endParaRPr>
          </a:p>
        </p:txBody>
      </p:sp>
      <p:sp>
        <p:nvSpPr>
          <p:cNvPr id="5" name="Google Shape;659;p26">
            <a:extLst>
              <a:ext uri="{FF2B5EF4-FFF2-40B4-BE49-F238E27FC236}">
                <a16:creationId xmlns:a16="http://schemas.microsoft.com/office/drawing/2014/main" id="{E4502B54-403A-1CD8-CAB7-5A56912E679F}"/>
              </a:ext>
            </a:extLst>
          </p:cNvPr>
          <p:cNvSpPr txBox="1"/>
          <p:nvPr/>
        </p:nvSpPr>
        <p:spPr>
          <a:xfrm>
            <a:off x="764931" y="1367406"/>
            <a:ext cx="10791178" cy="526828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When a function is both translated and stretched vertically, the resulting function can be written in the form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where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represents the vertical translation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and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represents the vertical dilation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p>
          <a:p>
            <a:pPr marL="514350" marR="0" lvl="0" indent="-514350" algn="l" rtl="0">
              <a:spcBef>
                <a:spcPts val="0"/>
              </a:spcBef>
              <a:spcAft>
                <a:spcPts val="1200"/>
              </a:spcAft>
              <a:buClr>
                <a:srgbClr val="000000"/>
              </a:buClr>
              <a:buSzPts val="2800"/>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Consider the function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1031875" lvl="1" indent="-514350">
              <a:spcAft>
                <a:spcPts val="1200"/>
              </a:spcAft>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How does changing the </a:t>
            </a:r>
            <a:r>
              <a:rPr lang="en-US" sz="2800" i="1" dirty="0">
                <a:latin typeface="Calibri" panose="020F0502020204030204" pitchFamily="34" charset="0"/>
                <a:ea typeface="Calibri" panose="020F0502020204030204" pitchFamily="34" charset="0"/>
                <a:cs typeface="Calibri" panose="020F0502020204030204" pitchFamily="34" charset="0"/>
              </a:rPr>
              <a:t>a</a:t>
            </a:r>
            <a:r>
              <a:rPr lang="en-US" sz="2800" dirty="0">
                <a:latin typeface="Calibri" panose="020F0502020204030204" pitchFamily="34" charset="0"/>
                <a:ea typeface="Calibri" panose="020F0502020204030204" pitchFamily="34" charset="0"/>
                <a:cs typeface="Calibri" panose="020F0502020204030204" pitchFamily="34" charset="0"/>
              </a:rPr>
              <a:t>-value affect the slope of the function? The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-intercept of the function?</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1031875" lvl="1" indent="-514350">
              <a:spcAft>
                <a:spcPts val="1200"/>
              </a:spcAft>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How does changing the </a:t>
            </a:r>
            <a:r>
              <a:rPr lang="en-US" sz="2800" i="1" dirty="0">
                <a:latin typeface="Calibri" panose="020F0502020204030204" pitchFamily="34" charset="0"/>
                <a:ea typeface="Calibri" panose="020F0502020204030204" pitchFamily="34" charset="0"/>
                <a:cs typeface="Calibri" panose="020F0502020204030204" pitchFamily="34" charset="0"/>
              </a:rPr>
              <a:t>d</a:t>
            </a:r>
            <a:r>
              <a:rPr lang="en-US" sz="2800" dirty="0">
                <a:latin typeface="Calibri" panose="020F0502020204030204" pitchFamily="34" charset="0"/>
                <a:ea typeface="Calibri" panose="020F0502020204030204" pitchFamily="34" charset="0"/>
                <a:cs typeface="Calibri" panose="020F0502020204030204" pitchFamily="34" charset="0"/>
              </a:rPr>
              <a:t>-value affect the slope of the function? The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-intercept of the function?</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53</a:t>
            </a:fld>
          </a:p>
        </p:txBody>
      </p:sp>
      <p:sp>
        <p:nvSpPr>
          <p:cNvPr id="1006" name="Answer 1006"/>
          <p:cNvSpPr txBox="1"/>
          <p:nvPr/>
        </p:nvSpPr>
        <p:spPr>
          <a:xfrm>
            <a:off x="1371600" y="5334000"/>
            <a:ext cx="9779000" cy="6032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 a changes the slope (for f(x) = x the slope becomes a: |a| &gt; 1 steeper, 0 &lt; |a| &lt; 1 less steep, a &lt; 0 reflected). It does not change the y-intercept.</a:t>
            </a:r>
          </a:p>
        </p:txBody>
      </p:sp>
      <p:sp>
        <p:nvSpPr>
          <p:cNvPr id="1007" name="Answer 1007"/>
          <p:cNvSpPr txBox="1"/>
          <p:nvPr/>
        </p:nvSpPr>
        <p:spPr>
          <a:xfrm>
            <a:off x="1371600" y="6000750"/>
            <a:ext cx="9779000" cy="6032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b. d does not change the slope. It changes the y-intercept to (0, d): d &gt; 0 moves the line up, d &lt; 0 moves it down.</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870"/>
        <p:cNvGrpSpPr/>
        <p:nvPr/>
      </p:nvGrpSpPr>
      <p:grpSpPr>
        <a:xfrm>
          <a:off x="0" y="0"/>
          <a:ext cx="0" cy="0"/>
          <a:chOff x="0" y="0"/>
          <a:chExt cx="0" cy="0"/>
        </a:xfrm>
      </p:grpSpPr>
      <p:sp>
        <p:nvSpPr>
          <p:cNvPr id="4" name="Google Shape;828;p47">
            <a:extLst>
              <a:ext uri="{FF2B5EF4-FFF2-40B4-BE49-F238E27FC236}">
                <a16:creationId xmlns:a16="http://schemas.microsoft.com/office/drawing/2014/main" id="{ED376AD8-39B7-9866-4BF4-CB7D2FE8A54B}"/>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(5 of 6)</a:t>
            </a:r>
            <a:endParaRPr dirty="0">
              <a:solidFill>
                <a:schemeClr val="bg1"/>
              </a:solidFill>
            </a:endParaRPr>
          </a:p>
        </p:txBody>
      </p:sp>
      <p:sp>
        <p:nvSpPr>
          <p:cNvPr id="872" name="Google Shape;872;p51"/>
          <p:cNvSpPr txBox="1"/>
          <p:nvPr/>
        </p:nvSpPr>
        <p:spPr>
          <a:xfrm>
            <a:off x="764932" y="1616140"/>
            <a:ext cx="9906028"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summarize our learning from Activity 1.4!</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p:txBody>
      </p:sp>
      <p:pic>
        <p:nvPicPr>
          <p:cNvPr id="873" name="Google Shape;873;p51">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467637" y="372493"/>
            <a:ext cx="1501270" cy="518205"/>
          </a:xfrm>
          <a:prstGeom prst="rect">
            <a:avLst/>
          </a:prstGeom>
          <a:noFill/>
          <a:ln>
            <a:noFill/>
          </a:ln>
        </p:spPr>
      </p:pic>
      <p:sp>
        <p:nvSpPr>
          <p:cNvPr id="1873" name="Slide Number 187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54</a:t>
            </a:fld>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878"/>
        <p:cNvGrpSpPr/>
        <p:nvPr/>
      </p:nvGrpSpPr>
      <p:grpSpPr>
        <a:xfrm>
          <a:off x="0" y="0"/>
          <a:ext cx="0" cy="0"/>
          <a:chOff x="0" y="0"/>
          <a:chExt cx="0" cy="0"/>
        </a:xfrm>
      </p:grpSpPr>
      <p:sp>
        <p:nvSpPr>
          <p:cNvPr id="880" name="Google Shape;880;p52">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4" name="Google Shape;828;p47">
            <a:extLst>
              <a:ext uri="{FF2B5EF4-FFF2-40B4-BE49-F238E27FC236}">
                <a16:creationId xmlns:a16="http://schemas.microsoft.com/office/drawing/2014/main" id="{59D2EF21-1FB3-FE45-63C5-88C7DCA93AF5}"/>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(6 of 6)</a:t>
            </a:r>
            <a:endParaRPr dirty="0">
              <a:solidFill>
                <a:schemeClr val="bg1"/>
              </a:solidFill>
            </a:endParaRPr>
          </a:p>
        </p:txBody>
      </p:sp>
      <p:sp>
        <p:nvSpPr>
          <p:cNvPr id="1880" name="Slide Number 188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55</a:t>
            </a:fld>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885"/>
        <p:cNvGrpSpPr/>
        <p:nvPr/>
      </p:nvGrpSpPr>
      <p:grpSpPr>
        <a:xfrm>
          <a:off x="0" y="0"/>
          <a:ext cx="0" cy="0"/>
          <a:chOff x="0" y="0"/>
          <a:chExt cx="0" cy="0"/>
        </a:xfrm>
      </p:grpSpPr>
      <p:sp>
        <p:nvSpPr>
          <p:cNvPr id="886" name="Google Shape;886;p53"/>
          <p:cNvSpPr txBox="1">
            <a:spLocks noGrp="1"/>
          </p:cNvSpPr>
          <p:nvPr>
            <p:ph type="title"/>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Activity 1.5</a:t>
            </a:r>
            <a:endParaRPr dirty="0"/>
          </a:p>
        </p:txBody>
      </p:sp>
      <p:sp>
        <p:nvSpPr>
          <p:cNvPr id="887" name="Google Shape;887;p53" descr="15 to 20 minutes"/>
          <p:cNvSpPr txBox="1">
            <a:spLocks noGrp="1"/>
          </p:cNvSpPr>
          <p:nvPr>
            <p:ph type="body" idx="2"/>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888" name="Google Shape;888;p53">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1.5</a:t>
            </a:r>
            <a:endParaRPr/>
          </a:p>
        </p:txBody>
      </p:sp>
      <p:sp>
        <p:nvSpPr>
          <p:cNvPr id="1888" name="Slide Number 188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56</a:t>
            </a:fld>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893"/>
        <p:cNvGrpSpPr/>
        <p:nvPr/>
      </p:nvGrpSpPr>
      <p:grpSpPr>
        <a:xfrm>
          <a:off x="0" y="0"/>
          <a:ext cx="0" cy="0"/>
          <a:chOff x="0" y="0"/>
          <a:chExt cx="0" cy="0"/>
        </a:xfrm>
      </p:grpSpPr>
      <p:sp>
        <p:nvSpPr>
          <p:cNvPr id="894" name="Google Shape;894;p5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(1 of 6)</a:t>
            </a:r>
            <a:endParaRPr dirty="0">
              <a:solidFill>
                <a:schemeClr val="bg1"/>
              </a:solidFill>
            </a:endParaRPr>
          </a:p>
        </p:txBody>
      </p:sp>
      <p:pic>
        <p:nvPicPr>
          <p:cNvPr id="3" name="Picture 2" descr="Problem solving has 5 steps. Notice, organize, analyze, interpret, and report. Interpreting may also lead back to organizing.">
            <a:extLst>
              <a:ext uri="{FF2B5EF4-FFF2-40B4-BE49-F238E27FC236}">
                <a16:creationId xmlns:a16="http://schemas.microsoft.com/office/drawing/2014/main" id="{A6D4AC7F-2B44-5BD7-387C-023D2F41D695}"/>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77240" y="1481326"/>
            <a:ext cx="1546994" cy="2301439"/>
          </a:xfrm>
          <a:prstGeom prst="rect">
            <a:avLst/>
          </a:prstGeom>
        </p:spPr>
      </p:pic>
      <p:sp>
        <p:nvSpPr>
          <p:cNvPr id="4" name="TextBox 3">
            <a:extLst>
              <a:ext uri="{FF2B5EF4-FFF2-40B4-BE49-F238E27FC236}">
                <a16:creationId xmlns:a16="http://schemas.microsoft.com/office/drawing/2014/main" id="{538D0FEC-F3A9-ED6F-8145-DBE621093152}"/>
              </a:ext>
            </a:extLst>
          </p:cNvPr>
          <p:cNvSpPr txBox="1"/>
          <p:nvPr/>
        </p:nvSpPr>
        <p:spPr>
          <a:xfrm>
            <a:off x="2910980" y="1361448"/>
            <a:ext cx="8254767" cy="1815882"/>
          </a:xfrm>
          <a:prstGeom prst="rect">
            <a:avLst/>
          </a:prstGeom>
          <a:noFill/>
        </p:spPr>
        <p:txBody>
          <a:bodyPr wrap="square" rtlCol="0">
            <a:spAutoFit/>
          </a:bodyPr>
          <a:lstStyle/>
          <a:p>
            <a:pPr algn="l"/>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Your company is developing a new video game for kids, which involves scoring points by shooting targets with a cannon. The cannon starts at the origin of a coordinate system as shown.</a:t>
            </a:r>
            <a:endParaRPr lang="en-US" sz="2800" dirty="0">
              <a:latin typeface="Calibri" panose="020F0502020204030204" pitchFamily="34" charset="0"/>
              <a:ea typeface="Calibri" panose="020F0502020204030204" pitchFamily="34" charset="0"/>
              <a:cs typeface="Calibri" panose="020F0502020204030204" pitchFamily="34" charset="0"/>
            </a:endParaRPr>
          </a:p>
        </p:txBody>
      </p:sp>
      <p:pic>
        <p:nvPicPr>
          <p:cNvPr id="5" name="Google Shape;903;p55" descr="A graph of a cannon and four targets on the unnumbered coordinate plane. The cannon is at the origin, aimed along a line that rises from left to right through the points (1, 1) and (2, 2). The targets are at the approximate points (5, 3.5) and (negative 3, 6) and (negative 4, 0.5) and (1, negative 3).">
            <a:extLst>
              <a:ext uri="{FF2B5EF4-FFF2-40B4-BE49-F238E27FC236}">
                <a16:creationId xmlns:a16="http://schemas.microsoft.com/office/drawing/2014/main" id="{142AAAE7-52B0-5B25-A6C0-55FA2C9792C5}"/>
              </a:ext>
            </a:extLst>
          </p:cNvPr>
          <p:cNvPicPr>
            <a:picLocks noChangeAspect="1"/>
          </p:cNvPicPr>
          <p:nvPr/>
        </p:nvPicPr>
        <p:blipFill rotWithShape="1">
          <a:blip r:embed="rId4" cstate="email">
            <a:alphaModFix/>
            <a:extLst>
              <a:ext uri="{28A0092B-C50C-407E-A947-70E740481C1C}">
                <a14:useLocalDpi xmlns:a14="http://schemas.microsoft.com/office/drawing/2010/main"/>
              </a:ext>
            </a:extLst>
          </a:blip>
          <a:srcRect/>
          <a:stretch/>
        </p:blipFill>
        <p:spPr>
          <a:xfrm>
            <a:off x="5096312" y="3275585"/>
            <a:ext cx="3884102" cy="3414319"/>
          </a:xfrm>
          <a:prstGeom prst="rect">
            <a:avLst/>
          </a:prstGeom>
          <a:noFill/>
          <a:ln>
            <a:noFill/>
          </a:ln>
        </p:spPr>
      </p:pic>
      <p:sp>
        <p:nvSpPr>
          <p:cNvPr id="1894" name="Slide Number 189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57</a:t>
            </a:fld>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901"/>
        <p:cNvGrpSpPr/>
        <p:nvPr/>
      </p:nvGrpSpPr>
      <p:grpSpPr>
        <a:xfrm>
          <a:off x="0" y="0"/>
          <a:ext cx="0" cy="0"/>
          <a:chOff x="0" y="0"/>
          <a:chExt cx="0" cy="0"/>
        </a:xfrm>
      </p:grpSpPr>
      <p:sp>
        <p:nvSpPr>
          <p:cNvPr id="902" name="Google Shape;902;p5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(2 of 6)</a:t>
            </a:r>
            <a:endParaRPr dirty="0">
              <a:solidFill>
                <a:schemeClr val="bg1"/>
              </a:solidFill>
            </a:endParaRPr>
          </a:p>
        </p:txBody>
      </p:sp>
      <p:sp>
        <p:nvSpPr>
          <p:cNvPr id="2" name="TextBox 1">
            <a:extLst>
              <a:ext uri="{FF2B5EF4-FFF2-40B4-BE49-F238E27FC236}">
                <a16:creationId xmlns:a16="http://schemas.microsoft.com/office/drawing/2014/main" id="{EAFE80F6-AD31-23E9-7BED-521A7C3679AE}"/>
              </a:ext>
            </a:extLst>
          </p:cNvPr>
          <p:cNvSpPr txBox="1"/>
          <p:nvPr/>
        </p:nvSpPr>
        <p:spPr>
          <a:xfrm>
            <a:off x="777240" y="1168502"/>
            <a:ext cx="10715677" cy="2246769"/>
          </a:xfrm>
          <a:prstGeom prst="rect">
            <a:avLst/>
          </a:prstGeom>
          <a:noFill/>
        </p:spPr>
        <p:txBody>
          <a:bodyPr wrap="square" rtlCol="0">
            <a:spAutoFit/>
          </a:bodyPr>
          <a:lstStyle/>
          <a:p>
            <a:pPr algn="l"/>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By default, it shoots along the line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Players can move the cannon up and down the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-axis and also change the angle of the cannon. When a player shoots the cannon, the game program determines the values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and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for the linear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If the target is on that line, the program will show an animation of the cannonball hitting the target.</a:t>
            </a:r>
            <a:endParaRPr lang="en-US" sz="2800" dirty="0">
              <a:latin typeface="Calibri" panose="020F0502020204030204" pitchFamily="34" charset="0"/>
              <a:ea typeface="Calibri" panose="020F0502020204030204" pitchFamily="34" charset="0"/>
              <a:cs typeface="Calibri" panose="020F0502020204030204" pitchFamily="34" charset="0"/>
            </a:endParaRPr>
          </a:p>
        </p:txBody>
      </p:sp>
      <p:pic>
        <p:nvPicPr>
          <p:cNvPr id="3" name="Google Shape;903;p55" descr="A graph of a cannon and four targets on the unnumbered coordinate plane. The cannon is at the origin, aimed along a line that rises from left to right through the points (1, 1) and (2, 2). The targets are at the approximate points (5, 3.5) and (negative 3, 6) and (negative 4, 0.5) and (1, negative 3).">
            <a:extLst>
              <a:ext uri="{FF2B5EF4-FFF2-40B4-BE49-F238E27FC236}">
                <a16:creationId xmlns:a16="http://schemas.microsoft.com/office/drawing/2014/main" id="{B8A1EF6B-68A7-0E49-D3D2-DCF65013BD43}"/>
              </a:ext>
            </a:extLst>
          </p:cNvPr>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4193027" y="3380763"/>
            <a:ext cx="3884102" cy="3414319"/>
          </a:xfrm>
          <a:prstGeom prst="rect">
            <a:avLst/>
          </a:prstGeom>
          <a:noFill/>
          <a:ln>
            <a:noFill/>
          </a:ln>
        </p:spPr>
      </p:pic>
      <p:sp>
        <p:nvSpPr>
          <p:cNvPr id="1902" name="Slide Number 190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58</a:t>
            </a:fld>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909"/>
        <p:cNvGrpSpPr/>
        <p:nvPr/>
      </p:nvGrpSpPr>
      <p:grpSpPr>
        <a:xfrm>
          <a:off x="0" y="0"/>
          <a:ext cx="0" cy="0"/>
          <a:chOff x="0" y="0"/>
          <a:chExt cx="0" cy="0"/>
        </a:xfrm>
      </p:grpSpPr>
      <p:sp>
        <p:nvSpPr>
          <p:cNvPr id="910" name="Google Shape;910;p5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(3 of 6)</a:t>
            </a:r>
            <a:endParaRPr dirty="0">
              <a:solidFill>
                <a:schemeClr val="bg1"/>
              </a:solidFill>
            </a:endParaRPr>
          </a:p>
        </p:txBody>
      </p:sp>
      <p:sp>
        <p:nvSpPr>
          <p:cNvPr id="2" name="Google Shape;904;p55">
            <a:extLst>
              <a:ext uri="{FF2B5EF4-FFF2-40B4-BE49-F238E27FC236}">
                <a16:creationId xmlns:a16="http://schemas.microsoft.com/office/drawing/2014/main" id="{60F33350-2598-C623-5A9E-36C97572C3C2}"/>
              </a:ext>
            </a:extLst>
          </p:cNvPr>
          <p:cNvSpPr/>
          <p:nvPr/>
        </p:nvSpPr>
        <p:spPr>
          <a:xfrm>
            <a:off x="777240" y="1918877"/>
            <a:ext cx="2091690" cy="2548889"/>
          </a:xfrm>
          <a:prstGeom prst="wedgeRoundRectCallout">
            <a:avLst>
              <a:gd name="adj1" fmla="val -36583"/>
              <a:gd name="adj2" fmla="val -61466"/>
              <a:gd name="adj3" fmla="val 16667"/>
            </a:avLst>
          </a:prstGeom>
          <a:solidFill>
            <a:schemeClr val="lt1"/>
          </a:solidFill>
          <a:ln w="19050" cap="flat" cmpd="sng">
            <a:solidFill>
              <a:schemeClr val="accent3">
                <a:lumMod val="75000"/>
              </a:schemeClr>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b="1" dirty="0">
                <a:solidFill>
                  <a:schemeClr val="accent3">
                    <a:lumMod val="75000"/>
                  </a:schemeClr>
                </a:solidFill>
                <a:latin typeface="Calibri"/>
                <a:ea typeface="Calibri"/>
                <a:cs typeface="Calibri"/>
                <a:sym typeface="Calibri"/>
              </a:rPr>
              <a:t>Ask Yourself…</a:t>
            </a:r>
            <a:endParaRPr dirty="0">
              <a:solidFill>
                <a:schemeClr val="accent3">
                  <a:lumMod val="75000"/>
                </a:schemeClr>
              </a:solidFill>
            </a:endParaRPr>
          </a:p>
          <a:p>
            <a:pPr marL="0" marR="0" lvl="0" indent="0" algn="l" rtl="0">
              <a:spcBef>
                <a:spcPts val="0"/>
              </a:spcBef>
              <a:spcAft>
                <a:spcPts val="0"/>
              </a:spcAft>
              <a:buNone/>
            </a:pPr>
            <a:r>
              <a:rPr lang="en-US" sz="1800" dirty="0">
                <a:solidFill>
                  <a:srgbClr val="000000"/>
                </a:solidFill>
                <a:latin typeface="Calibri"/>
                <a:ea typeface="Calibri"/>
                <a:cs typeface="Calibri"/>
                <a:sym typeface="Calibri"/>
              </a:rPr>
              <a:t>The cannon can shoot in only one direction. Does that affect the domain or range of the linear function? </a:t>
            </a:r>
            <a:endParaRPr dirty="0"/>
          </a:p>
        </p:txBody>
      </p:sp>
      <p:sp>
        <p:nvSpPr>
          <p:cNvPr id="3" name="TextBox 2">
            <a:extLst>
              <a:ext uri="{FF2B5EF4-FFF2-40B4-BE49-F238E27FC236}">
                <a16:creationId xmlns:a16="http://schemas.microsoft.com/office/drawing/2014/main" id="{768A6C3A-83DE-38DD-901E-1BFB393D11CE}"/>
              </a:ext>
            </a:extLst>
          </p:cNvPr>
          <p:cNvSpPr txBox="1"/>
          <p:nvPr/>
        </p:nvSpPr>
        <p:spPr>
          <a:xfrm>
            <a:off x="3397541" y="1610686"/>
            <a:ext cx="7306811" cy="3539430"/>
          </a:xfrm>
          <a:prstGeom prst="rect">
            <a:avLst/>
          </a:prstGeom>
          <a:noFill/>
        </p:spPr>
        <p:txBody>
          <a:bodyPr wrap="square" rtlCol="0">
            <a:spAutoFit/>
          </a:bodyPr>
          <a:lstStyle/>
          <a:p>
            <a:pPr marL="511175" indent="-511175">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Test the program. Determine values for </a:t>
            </a:r>
            <a:r>
              <a:rPr lang="en-US" sz="2800" i="1" dirty="0">
                <a:latin typeface="Calibri" panose="020F0502020204030204" pitchFamily="34" charset="0"/>
                <a:ea typeface="Calibri" panose="020F0502020204030204" pitchFamily="34" charset="0"/>
                <a:cs typeface="Calibri" panose="020F0502020204030204" pitchFamily="34" charset="0"/>
              </a:rPr>
              <a:t>a</a:t>
            </a:r>
            <a:r>
              <a:rPr lang="en-US" sz="2800" dirty="0">
                <a:latin typeface="Calibri" panose="020F0502020204030204" pitchFamily="34" charset="0"/>
                <a:ea typeface="Calibri" panose="020F0502020204030204" pitchFamily="34" charset="0"/>
                <a:cs typeface="Calibri" panose="020F0502020204030204" pitchFamily="34" charset="0"/>
              </a:rPr>
              <a:t> and </a:t>
            </a:r>
            <a:r>
              <a:rPr lang="en-US" sz="2800" i="1" dirty="0">
                <a:latin typeface="Calibri" panose="020F0502020204030204" pitchFamily="34" charset="0"/>
                <a:ea typeface="Calibri" panose="020F0502020204030204" pitchFamily="34" charset="0"/>
                <a:cs typeface="Calibri" panose="020F0502020204030204" pitchFamily="34" charset="0"/>
              </a:rPr>
              <a:t>d</a:t>
            </a:r>
            <a:r>
              <a:rPr lang="en-US" sz="2800" dirty="0">
                <a:latin typeface="Calibri" panose="020F0502020204030204" pitchFamily="34" charset="0"/>
                <a:ea typeface="Calibri" panose="020F0502020204030204" pitchFamily="34" charset="0"/>
                <a:cs typeface="Calibri" panose="020F0502020204030204" pitchFamily="34" charset="0"/>
              </a:rPr>
              <a:t> for four linear functions that should hit the targets shown.</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511175" indent="-511175">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Identify the domain on which each graph hits the target.</a:t>
            </a:r>
          </a:p>
        </p:txBody>
      </p:sp>
      <p:sp>
        <p:nvSpPr>
          <p:cNvPr id="1910" name="Slide Number 191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59</a:t>
            </a:fld>
          </a:p>
        </p:txBody>
      </p:sp>
      <p:sp>
        <p:nvSpPr>
          <p:cNvPr id="1911" name="Answer 1911"/>
          <p:cNvSpPr txBox="1"/>
          <p:nvPr/>
        </p:nvSpPr>
        <p:spPr>
          <a:xfrm>
            <a:off x="3467100" y="2857500"/>
            <a:ext cx="85090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Sample: a = 0 with d = 6, 4, 1 and −3: horizontal lines through each target (move the cannon to (0, d)).</a:t>
            </a:r>
          </a:p>
        </p:txBody>
      </p:sp>
      <p:sp>
        <p:nvSpPr>
          <p:cNvPr id="1912" name="Answer 1912"/>
          <p:cNvSpPr txBox="1"/>
          <p:nvPr/>
        </p:nvSpPr>
        <p:spPr>
          <a:xfrm>
            <a:off x="3467100" y="4445000"/>
            <a:ext cx="8509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The cannon shoots in only one direction. Targets in Quadrant II (left of the y-axis): domain x ≤ 0. Targets in Quadrants I and IV: domain x ≥ 0.</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9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9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916"/>
        <p:cNvGrpSpPr/>
        <p:nvPr/>
      </p:nvGrpSpPr>
      <p:grpSpPr>
        <a:xfrm>
          <a:off x="0" y="0"/>
          <a:ext cx="0" cy="0"/>
          <a:chOff x="0" y="0"/>
          <a:chExt cx="0" cy="0"/>
        </a:xfrm>
      </p:grpSpPr>
      <p:sp>
        <p:nvSpPr>
          <p:cNvPr id="917" name="Google Shape;917;p5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(4 of 6)</a:t>
            </a:r>
            <a:endParaRPr dirty="0">
              <a:solidFill>
                <a:schemeClr val="bg1"/>
              </a:solidFill>
            </a:endParaRPr>
          </a:p>
        </p:txBody>
      </p:sp>
      <p:sp>
        <p:nvSpPr>
          <p:cNvPr id="918" name="Google Shape;918;p57"/>
          <p:cNvSpPr txBox="1"/>
          <p:nvPr/>
        </p:nvSpPr>
        <p:spPr>
          <a:xfrm>
            <a:off x="777240" y="1595735"/>
            <a:ext cx="9910334" cy="92583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400"/>
              <a:buFont typeface="Arial"/>
              <a:buNone/>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The game developer is also testing two other versions of the game, with different abilities for the cannon.</a:t>
            </a:r>
            <a:endParaRPr sz="2800" dirty="0">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320"/>
              </a:spcBef>
              <a:spcAft>
                <a:spcPts val="0"/>
              </a:spcAft>
              <a:buClr>
                <a:schemeClr val="dk1"/>
              </a:buClr>
              <a:buSzPts val="1600"/>
              <a:buFont typeface="Arial"/>
              <a:buNone/>
            </a:pPr>
            <a:endParaRPr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2" name="TextBox 1">
            <a:extLst>
              <a:ext uri="{FF2B5EF4-FFF2-40B4-BE49-F238E27FC236}">
                <a16:creationId xmlns:a16="http://schemas.microsoft.com/office/drawing/2014/main" id="{5C3064C4-6DAA-0B0A-C257-95737BD25D25}"/>
              </a:ext>
            </a:extLst>
          </p:cNvPr>
          <p:cNvSpPr txBox="1"/>
          <p:nvPr/>
        </p:nvSpPr>
        <p:spPr>
          <a:xfrm>
            <a:off x="777240" y="2608976"/>
            <a:ext cx="5317966" cy="1815882"/>
          </a:xfrm>
          <a:prstGeom prst="rect">
            <a:avLst/>
          </a:prstGeom>
          <a:noFill/>
        </p:spPr>
        <p:txBody>
          <a:bodyPr wrap="square" rtlCol="0">
            <a:spAutoFit/>
          </a:bodyPr>
          <a:lstStyle/>
          <a:p>
            <a:r>
              <a:rPr lang="en-US" sz="2800" b="1" dirty="0">
                <a:latin typeface="Calibri" panose="020F0502020204030204" pitchFamily="34" charset="0"/>
                <a:ea typeface="Calibri" panose="020F0502020204030204" pitchFamily="34" charset="0"/>
                <a:cs typeface="Calibri" panose="020F0502020204030204" pitchFamily="34" charset="0"/>
              </a:rPr>
              <a:t>Version B</a:t>
            </a:r>
          </a:p>
          <a:p>
            <a:r>
              <a:rPr lang="en-US" sz="2800" dirty="0">
                <a:latin typeface="Calibri" panose="020F0502020204030204" pitchFamily="34" charset="0"/>
                <a:ea typeface="Calibri" panose="020F0502020204030204" pitchFamily="34" charset="0"/>
                <a:cs typeface="Calibri" panose="020F0502020204030204" pitchFamily="34" charset="0"/>
              </a:rPr>
              <a:t>The cannon can only shoot along a line parallel to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or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It can move up and down the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-axis.</a:t>
            </a:r>
          </a:p>
        </p:txBody>
      </p:sp>
      <p:sp>
        <p:nvSpPr>
          <p:cNvPr id="3" name="TextBox 2">
            <a:extLst>
              <a:ext uri="{FF2B5EF4-FFF2-40B4-BE49-F238E27FC236}">
                <a16:creationId xmlns:a16="http://schemas.microsoft.com/office/drawing/2014/main" id="{6639901B-2E0D-8778-EEBF-C2C8973F3F57}"/>
              </a:ext>
            </a:extLst>
          </p:cNvPr>
          <p:cNvSpPr txBox="1"/>
          <p:nvPr/>
        </p:nvSpPr>
        <p:spPr>
          <a:xfrm>
            <a:off x="7004807" y="2608976"/>
            <a:ext cx="4408366" cy="1815882"/>
          </a:xfrm>
          <a:prstGeom prst="rect">
            <a:avLst/>
          </a:prstGeom>
          <a:noFill/>
        </p:spPr>
        <p:txBody>
          <a:bodyPr wrap="square" rtlCol="0">
            <a:spAutoFit/>
          </a:bodyPr>
          <a:lstStyle/>
          <a:p>
            <a:r>
              <a:rPr lang="en-US" sz="2800" b="1" dirty="0">
                <a:latin typeface="Calibri" panose="020F0502020204030204" pitchFamily="34" charset="0"/>
                <a:ea typeface="Calibri" panose="020F0502020204030204" pitchFamily="34" charset="0"/>
                <a:cs typeface="Calibri" panose="020F0502020204030204" pitchFamily="34" charset="0"/>
              </a:rPr>
              <a:t>Version C</a:t>
            </a:r>
          </a:p>
          <a:p>
            <a:r>
              <a:rPr lang="en-US" sz="2800" dirty="0">
                <a:latin typeface="Calibri" panose="020F0502020204030204" pitchFamily="34" charset="0"/>
                <a:ea typeface="Calibri" panose="020F0502020204030204" pitchFamily="34" charset="0"/>
                <a:cs typeface="Calibri" panose="020F0502020204030204" pitchFamily="34" charset="0"/>
              </a:rPr>
              <a:t>The cannon can change angles but remains fixed at the origin.</a:t>
            </a:r>
          </a:p>
        </p:txBody>
      </p:sp>
      <p:sp>
        <p:nvSpPr>
          <p:cNvPr id="4" name="Google Shape;918;p57">
            <a:extLst>
              <a:ext uri="{FF2B5EF4-FFF2-40B4-BE49-F238E27FC236}">
                <a16:creationId xmlns:a16="http://schemas.microsoft.com/office/drawing/2014/main" id="{A25028ED-4212-8C69-A279-6D284E3DE217}"/>
              </a:ext>
            </a:extLst>
          </p:cNvPr>
          <p:cNvSpPr txBox="1"/>
          <p:nvPr/>
        </p:nvSpPr>
        <p:spPr>
          <a:xfrm>
            <a:off x="777240" y="4558446"/>
            <a:ext cx="10111670" cy="1926243"/>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ct val="100000"/>
              <a:buFont typeface="+mj-lt"/>
              <a:buAutoNum type="arabicPeriod" startAt="3"/>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Determine the values for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along with their corresponding domains, for four linear functions that can hit the targets in each version of the game. Show your work.</a:t>
            </a:r>
            <a:endParaRPr sz="2800" dirty="0">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320"/>
              </a:spcBef>
              <a:spcAft>
                <a:spcPts val="0"/>
              </a:spcAft>
              <a:buClr>
                <a:schemeClr val="dk1"/>
              </a:buClr>
              <a:buSzPts val="1600"/>
              <a:buFont typeface="Arial"/>
              <a:buNone/>
            </a:pPr>
            <a:endParaRPr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918" name="Slide Number 191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60</a:t>
            </a:fld>
          </a:p>
        </p:txBody>
      </p:sp>
      <p:sp>
        <p:nvSpPr>
          <p:cNvPr id="1919" name="Answer 1919"/>
          <p:cNvSpPr txBox="1"/>
          <p:nvPr/>
        </p:nvSpPr>
        <p:spPr>
          <a:xfrm>
            <a:off x="774700" y="5683250"/>
            <a:ext cx="5524500" cy="1143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600" dirty="0">
                <a:solidFill>
                  <a:srgbClr val="FF0000"/>
                </a:solidFill>
              </a:rPr>
              <a:t>Version B (a = 1 or −1; move d), clockwise from top left:</a:t>
            </a:r>
          </a:p>
          <a:p>
            <a:pPr marL="0" indent="0" algn="l">
              <a:spcBef>
                <a:spcPts val="0"/>
              </a:spcBef>
              <a:spcAft>
                <a:spcPts val="300"/>
              </a:spcAft>
              <a:buNone/>
            </a:pPr>
            <a:r>
              <a:rPr lang="en-US" sz="1600" dirty="0">
                <a:solidFill>
                  <a:srgbClr val="FF0000"/>
                </a:solidFill>
              </a:rPr>
              <a:t>a = −1, d = 2 (x ≤ 0);  a = 1, d = −1 (x ≥ 0);</a:t>
            </a:r>
          </a:p>
          <a:p>
            <a:pPr marL="0" indent="0" algn="l">
              <a:spcBef>
                <a:spcPts val="0"/>
              </a:spcBef>
              <a:spcAft>
                <a:spcPts val="300"/>
              </a:spcAft>
              <a:buNone/>
            </a:pPr>
            <a:r>
              <a:rPr lang="en-US" sz="1600" dirty="0">
                <a:solidFill>
                  <a:srgbClr val="FF0000"/>
                </a:solidFill>
              </a:rPr>
              <a:t>a = −1, d = −2 (x ≥ 0);  a = −1, d = −4 (x ≤ 0)</a:t>
            </a:r>
          </a:p>
        </p:txBody>
      </p:sp>
      <p:sp>
        <p:nvSpPr>
          <p:cNvPr id="1920" name="Answer 1920"/>
          <p:cNvSpPr txBox="1"/>
          <p:nvPr/>
        </p:nvSpPr>
        <p:spPr>
          <a:xfrm>
            <a:off x="6413500" y="5683250"/>
            <a:ext cx="5588000" cy="1143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600" dirty="0">
                <a:solidFill>
                  <a:srgbClr val="FF0000"/>
                </a:solidFill>
              </a:rPr>
              <a:t>Version C (d = 0; change a), clockwise from top left:</a:t>
            </a:r>
          </a:p>
          <a:p>
            <a:pPr marL="0" indent="0" algn="l">
              <a:spcBef>
                <a:spcPts val="0"/>
              </a:spcBef>
              <a:spcAft>
                <a:spcPts val="300"/>
              </a:spcAft>
              <a:buNone/>
            </a:pPr>
            <a:r>
              <a:rPr lang="en-US" sz="1600" dirty="0">
                <a:solidFill>
                  <a:srgbClr val="FF0000"/>
                </a:solidFill>
              </a:rPr>
              <a:t>a = −3/2 (x ≤ 0);  a = 4/5 (x ≥ 0);</a:t>
            </a:r>
          </a:p>
          <a:p>
            <a:pPr marL="0" indent="0" algn="l">
              <a:spcBef>
                <a:spcPts val="0"/>
              </a:spcBef>
              <a:spcAft>
                <a:spcPts val="300"/>
              </a:spcAft>
              <a:buNone/>
            </a:pPr>
            <a:r>
              <a:rPr lang="en-US" sz="1600" dirty="0">
                <a:solidFill>
                  <a:srgbClr val="FF0000"/>
                </a:solidFill>
              </a:rPr>
              <a:t>a = −3 (x ≥ 0);  a = −1/5 (x ≤ 0)</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9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9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925"/>
        <p:cNvGrpSpPr/>
        <p:nvPr/>
      </p:nvGrpSpPr>
      <p:grpSpPr>
        <a:xfrm>
          <a:off x="0" y="0"/>
          <a:ext cx="0" cy="0"/>
          <a:chOff x="0" y="0"/>
          <a:chExt cx="0" cy="0"/>
        </a:xfrm>
      </p:grpSpPr>
      <p:sp>
        <p:nvSpPr>
          <p:cNvPr id="926" name="Google Shape;926;p5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600"/>
              <a:buFont typeface="Calibri"/>
              <a:buNone/>
            </a:pPr>
            <a:r>
              <a:rPr lang="en-US" b="1" dirty="0"/>
              <a:t>Applying Linear Function Transformations </a:t>
            </a:r>
            <a:r>
              <a:rPr lang="en-US" sz="2000" b="1" dirty="0">
                <a:solidFill>
                  <a:schemeClr val="bg1"/>
                </a:solidFill>
              </a:rPr>
              <a:t>(5 of 6)</a:t>
            </a:r>
            <a:endParaRPr dirty="0">
              <a:solidFill>
                <a:schemeClr val="bg1"/>
              </a:solidFill>
            </a:endParaRPr>
          </a:p>
        </p:txBody>
      </p:sp>
      <p:sp>
        <p:nvSpPr>
          <p:cNvPr id="927" name="Google Shape;927;p58"/>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Activity 1.5!</a:t>
            </a:r>
            <a:endParaRPr/>
          </a:p>
          <a:p>
            <a:pPr marL="0" marR="0" lvl="0" indent="0" algn="l" rtl="0">
              <a:spcBef>
                <a:spcPts val="560"/>
              </a:spcBef>
              <a:spcAft>
                <a:spcPts val="0"/>
              </a:spcAft>
              <a:buClr>
                <a:schemeClr val="dk1"/>
              </a:buClr>
              <a:buSzPts val="2800"/>
              <a:buFont typeface="Arial"/>
              <a:buNone/>
            </a:pPr>
            <a:endParaRPr sz="280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a:solidFill>
                <a:srgbClr val="000000"/>
              </a:solidFill>
              <a:latin typeface="Calibri"/>
              <a:ea typeface="Calibri"/>
              <a:cs typeface="Calibri"/>
              <a:sym typeface="Calibri"/>
            </a:endParaRPr>
          </a:p>
        </p:txBody>
      </p:sp>
      <p:pic>
        <p:nvPicPr>
          <p:cNvPr id="928" name="Google Shape;928;p58">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928" name="Slide Number 192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61</a:t>
            </a:fld>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933"/>
        <p:cNvGrpSpPr/>
        <p:nvPr/>
      </p:nvGrpSpPr>
      <p:grpSpPr>
        <a:xfrm>
          <a:off x="0" y="0"/>
          <a:ext cx="0" cy="0"/>
          <a:chOff x="0" y="0"/>
          <a:chExt cx="0" cy="0"/>
        </a:xfrm>
      </p:grpSpPr>
      <p:sp>
        <p:nvSpPr>
          <p:cNvPr id="934" name="Google Shape;934;p5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(6 of 6)</a:t>
            </a:r>
            <a:endParaRPr dirty="0">
              <a:solidFill>
                <a:schemeClr val="bg1"/>
              </a:solidFill>
            </a:endParaRPr>
          </a:p>
        </p:txBody>
      </p:sp>
      <p:sp>
        <p:nvSpPr>
          <p:cNvPr id="935" name="Google Shape;935;p59">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935" name="Slide Number 193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62</a:t>
            </a:fld>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940"/>
        <p:cNvGrpSpPr/>
        <p:nvPr/>
      </p:nvGrpSpPr>
      <p:grpSpPr>
        <a:xfrm>
          <a:off x="0" y="0"/>
          <a:ext cx="0" cy="0"/>
          <a:chOff x="0" y="0"/>
          <a:chExt cx="0" cy="0"/>
        </a:xfrm>
      </p:grpSpPr>
      <p:sp>
        <p:nvSpPr>
          <p:cNvPr id="941" name="Google Shape;941;p60"/>
          <p:cNvSpPr txBox="1">
            <a:spLocks noGrp="1"/>
          </p:cNvSpPr>
          <p:nvPr>
            <p:ph type="title"/>
          </p:nvPr>
        </p:nvSpPr>
        <p:spPr>
          <a:xfrm>
            <a:off x="838200" y="-302004"/>
            <a:ext cx="10514013" cy="302004"/>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Talk the Talk</a:t>
            </a:r>
            <a:endParaRPr dirty="0"/>
          </a:p>
        </p:txBody>
      </p:sp>
      <p:sp>
        <p:nvSpPr>
          <p:cNvPr id="942" name="Google Shape;942;p60" descr="5 minutes"/>
          <p:cNvSpPr txBox="1">
            <a:spLocks noGrp="1"/>
          </p:cNvSpPr>
          <p:nvPr>
            <p:ph type="body" idx="1"/>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5</a:t>
            </a:r>
            <a:endParaRPr dirty="0"/>
          </a:p>
        </p:txBody>
      </p:sp>
      <p:sp>
        <p:nvSpPr>
          <p:cNvPr id="1942" name="Slide Number 194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63</a:t>
            </a:fld>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947"/>
        <p:cNvGrpSpPr/>
        <p:nvPr/>
      </p:nvGrpSpPr>
      <p:grpSpPr>
        <a:xfrm>
          <a:off x="0" y="0"/>
          <a:ext cx="0" cy="0"/>
          <a:chOff x="0" y="0"/>
          <a:chExt cx="0" cy="0"/>
        </a:xfrm>
      </p:grpSpPr>
      <p:sp>
        <p:nvSpPr>
          <p:cNvPr id="948" name="Google Shape;948;p6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Function Matching </a:t>
            </a:r>
            <a:r>
              <a:rPr lang="en-US" sz="2000" b="1" dirty="0">
                <a:solidFill>
                  <a:schemeClr val="bg1"/>
                </a:solidFill>
              </a:rPr>
              <a:t>(1 of 4)</a:t>
            </a:r>
            <a:endParaRPr dirty="0">
              <a:solidFill>
                <a:schemeClr val="bg1"/>
              </a:solidFill>
            </a:endParaRPr>
          </a:p>
        </p:txBody>
      </p:sp>
      <p:pic>
        <p:nvPicPr>
          <p:cNvPr id="950" name="Google Shape;950;p61" descr="A graph of 5 lines on the coordinate plane. Each line rises from left to right. The line f of x = x rises through the points (0, 0) and (2, 2). The line k of x rises through the points (0, 8) and (2, 10). The line h of x rises through the points (0, 0) and (2, 4). The line g of x rises through the points (0, 0) and (6, 2). The line j of x rises through the points (0, negative 7) and (2, negative 5)."/>
          <p:cNvPicPr>
            <a:picLocks noChangeAspect="1"/>
          </p:cNvPicPr>
          <p:nvPr/>
        </p:nvPicPr>
        <p:blipFill rotWithShape="1">
          <a:blip r:embed="rId3">
            <a:alphaModFix/>
          </a:blip>
          <a:srcRect/>
          <a:stretch/>
        </p:blipFill>
        <p:spPr>
          <a:xfrm>
            <a:off x="922145" y="2813688"/>
            <a:ext cx="3895925" cy="3743517"/>
          </a:xfrm>
          <a:prstGeom prst="rect">
            <a:avLst/>
          </a:prstGeom>
          <a:noFill/>
          <a:ln>
            <a:noFill/>
          </a:ln>
        </p:spPr>
      </p:pic>
      <mc:AlternateContent xmlns:mc="http://schemas.openxmlformats.org/markup-compatibility/2006" xmlns:a14="http://schemas.microsoft.com/office/drawing/2010/main">
        <mc:Choice Requires="a14">
          <p:graphicFrame>
            <p:nvGraphicFramePr>
              <p:cNvPr id="952" name="Google Shape;952;p61"/>
              <p:cNvGraphicFramePr/>
              <p:nvPr>
                <p:extLst>
                  <p:ext uri="{D42A27DB-BD31-4B8C-83A1-F6EECF244321}">
                    <p14:modId xmlns:p14="http://schemas.microsoft.com/office/powerpoint/2010/main" val="3455437189"/>
                  </p:ext>
                </p:extLst>
              </p:nvPr>
            </p:nvGraphicFramePr>
            <p:xfrm>
              <a:off x="6095206" y="3161349"/>
              <a:ext cx="2330252" cy="2980125"/>
            </p:xfrm>
            <a:graphic>
              <a:graphicData uri="http://schemas.openxmlformats.org/drawingml/2006/table">
                <a:tbl>
                  <a:tblPr firstRow="1" bandRow="1">
                    <a:noFill/>
                    <a:tableStyleId>{279AD5BC-A5CE-4E06-8A13-34D5E8DF52F5}</a:tableStyleId>
                  </a:tblPr>
                  <a:tblGrid>
                    <a:gridCol w="2330252">
                      <a:extLst>
                        <a:ext uri="{9D8B030D-6E8A-4147-A177-3AD203B41FA5}">
                          <a16:colId xmlns:a16="http://schemas.microsoft.com/office/drawing/2014/main" val="20000"/>
                        </a:ext>
                      </a:extLst>
                    </a:gridCol>
                  </a:tblGrid>
                  <a:tr h="596025">
                    <a:tc>
                      <a:txBody>
                        <a:bodyPr/>
                        <a:lstStyle/>
                        <a:p>
                          <a:pPr marL="0" marR="0" lvl="0" indent="0" algn="ctr" rtl="0">
                            <a:spcBef>
                              <a:spcPts val="0"/>
                            </a:spcBef>
                            <a:spcAft>
                              <a:spcPts val="0"/>
                            </a:spcAft>
                            <a:buNone/>
                          </a:pPr>
                          <a:r>
                            <a:rPr lang="en-US" sz="2000" dirty="0">
                              <a:latin typeface="Calibri" panose="020F0502020204030204" pitchFamily="34" charset="0"/>
                              <a:ea typeface="Calibri" panose="020F0502020204030204" pitchFamily="34" charset="0"/>
                              <a:cs typeface="Calibri" panose="020F0502020204030204" pitchFamily="34" charset="0"/>
                            </a:rPr>
                            <a:t>Transformations</a:t>
                          </a:r>
                          <a:endParaRPr sz="2000" dirty="0">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extLst>
                      <a:ext uri="{0D108BD9-81ED-4DB2-BD59-A6C34878D82A}">
                        <a16:rowId xmlns:a16="http://schemas.microsoft.com/office/drawing/2014/main" val="10000"/>
                      </a:ext>
                    </a:extLst>
                  </a:tr>
                  <a:tr h="596025">
                    <a:tc>
                      <a:txBody>
                        <a:bodyPr/>
                        <a:lstStyle/>
                        <a:p>
                          <a:pPr marL="0" marR="0" lvl="0" indent="0" algn="ctr" rtl="0">
                            <a:spcBef>
                              <a:spcPts val="0"/>
                            </a:spcBef>
                            <a:spcAft>
                              <a:spcPts val="0"/>
                            </a:spcAft>
                            <a:buNone/>
                          </a:pPr>
                          <a14:m>
                            <m:oMath xmlns:m="http://schemas.openxmlformats.org/officeDocument/2006/math">
                              <m:f>
                                <m:fPr>
                                  <m:ctrlPr>
                                    <a:rPr lang="en-US" sz="200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ctrlPr>
                                </m:fPr>
                                <m:num>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1</m:t>
                                  </m:r>
                                </m:num>
                                <m:den>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3</m:t>
                                  </m:r>
                                </m:den>
                              </m:f>
                            </m:oMath>
                          </a14:m>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r h="596025">
                    <a:tc>
                      <a:txBody>
                        <a:bodyPr/>
                        <a:lstStyle/>
                        <a:p>
                          <a:pPr marL="0" marR="0" lvl="0" indent="0" algn="ctr" rtl="0">
                            <a:spcBef>
                              <a:spcPts val="0"/>
                            </a:spcBef>
                            <a:spcAft>
                              <a:spcPts val="0"/>
                            </a:spcAft>
                            <a:buNone/>
                          </a:pPr>
                          <a:r>
                            <a:rPr lang="en-US" sz="2000" b="0" dirty="0">
                              <a:solidFill>
                                <a:srgbClr val="000000"/>
                              </a:solidFill>
                              <a:ea typeface="Calibri" panose="020F0502020204030204" pitchFamily="34" charset="0"/>
                              <a:cs typeface="Calibri" panose="020F0502020204030204" pitchFamily="34" charset="0"/>
                            </a:rPr>
                            <a:t>2 ∙ </a:t>
                          </a: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596025">
                    <a:tc>
                      <a:txBody>
                        <a:bodyPr/>
                        <a:lstStyle/>
                        <a:p>
                          <a:pPr marL="0" marR="0" lvl="0" indent="0" algn="ctr" rtl="0">
                            <a:spcBef>
                              <a:spcPts val="0"/>
                            </a:spcBef>
                            <a:spcAft>
                              <a:spcPts val="0"/>
                            </a:spcAft>
                            <a:buNone/>
                          </a:pP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 – 7</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r h="596025">
                    <a:tc>
                      <a:txBody>
                        <a:bodyPr/>
                        <a:lstStyle/>
                        <a:p>
                          <a:pPr marL="0" marR="0" lvl="0" indent="0" algn="ctr" rtl="0">
                            <a:spcBef>
                              <a:spcPts val="0"/>
                            </a:spcBef>
                            <a:spcAft>
                              <a:spcPts val="0"/>
                            </a:spcAft>
                            <a:buNone/>
                          </a:pP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 + 8</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4"/>
                      </a:ext>
                    </a:extLst>
                  </a:tr>
                </a:tbl>
              </a:graphicData>
            </a:graphic>
          </p:graphicFrame>
        </mc:Choice>
        <mc:Fallback xmlns="">
          <p:graphicFrame>
            <p:nvGraphicFramePr>
              <p:cNvPr id="952" name="Google Shape;952;p61"/>
              <p:cNvGraphicFramePr/>
              <p:nvPr>
                <p:extLst>
                  <p:ext uri="{D42A27DB-BD31-4B8C-83A1-F6EECF244321}">
                    <p14:modId xmlns:p14="http://schemas.microsoft.com/office/powerpoint/2010/main" val="3455437189"/>
                  </p:ext>
                </p:extLst>
              </p:nvPr>
            </p:nvGraphicFramePr>
            <p:xfrm>
              <a:off x="6095206" y="3161349"/>
              <a:ext cx="2330252" cy="2980125"/>
            </p:xfrm>
            <a:graphic>
              <a:graphicData uri="http://schemas.openxmlformats.org/drawingml/2006/table">
                <a:tbl>
                  <a:tblPr firstRow="1" bandRow="1">
                    <a:noFill/>
                    <a:tableStyleId>{279AD5BC-A5CE-4E06-8A13-34D5E8DF52F5}</a:tableStyleId>
                  </a:tblPr>
                  <a:tblGrid>
                    <a:gridCol w="2330252">
                      <a:extLst>
                        <a:ext uri="{9D8B030D-6E8A-4147-A177-3AD203B41FA5}">
                          <a16:colId xmlns:a16="http://schemas.microsoft.com/office/drawing/2014/main" val="20000"/>
                        </a:ext>
                      </a:extLst>
                    </a:gridCol>
                  </a:tblGrid>
                  <a:tr h="596025">
                    <a:tc>
                      <a:txBody>
                        <a:bodyPr/>
                        <a:lstStyle/>
                        <a:p>
                          <a:pPr marL="0" marR="0" lvl="0" indent="0" algn="ctr" rtl="0">
                            <a:spcBef>
                              <a:spcPts val="0"/>
                            </a:spcBef>
                            <a:spcAft>
                              <a:spcPts val="0"/>
                            </a:spcAft>
                            <a:buNone/>
                          </a:pPr>
                          <a:r>
                            <a:rPr lang="en-US" sz="2000" dirty="0">
                              <a:latin typeface="Calibri" panose="020F0502020204030204" pitchFamily="34" charset="0"/>
                              <a:ea typeface="Calibri" panose="020F0502020204030204" pitchFamily="34" charset="0"/>
                              <a:cs typeface="Calibri" panose="020F0502020204030204" pitchFamily="34" charset="0"/>
                            </a:rPr>
                            <a:t>Transformations</a:t>
                          </a:r>
                          <a:endParaRPr sz="2000" dirty="0">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extLst>
                      <a:ext uri="{0D108BD9-81ED-4DB2-BD59-A6C34878D82A}">
                        <a16:rowId xmlns:a16="http://schemas.microsoft.com/office/drawing/2014/main" val="10000"/>
                      </a:ext>
                    </a:extLst>
                  </a:tr>
                  <a:tr h="596025">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4"/>
                          <a:stretch>
                            <a:fillRect l="-260" t="-101020" r="-521" b="-302041"/>
                          </a:stretch>
                        </a:blipFill>
                      </a:tcPr>
                    </a:tc>
                    <a:extLst>
                      <a:ext uri="{0D108BD9-81ED-4DB2-BD59-A6C34878D82A}">
                        <a16:rowId xmlns:a16="http://schemas.microsoft.com/office/drawing/2014/main" val="10001"/>
                      </a:ext>
                    </a:extLst>
                  </a:tr>
                  <a:tr h="596025">
                    <a:tc>
                      <a:txBody>
                        <a:bodyPr/>
                        <a:lstStyle/>
                        <a:p>
                          <a:pPr marL="0" marR="0" lvl="0" indent="0" algn="ctr" rtl="0">
                            <a:spcBef>
                              <a:spcPts val="0"/>
                            </a:spcBef>
                            <a:spcAft>
                              <a:spcPts val="0"/>
                            </a:spcAft>
                            <a:buNone/>
                          </a:pPr>
                          <a:r>
                            <a:rPr lang="en-US" sz="2000" b="0" dirty="0">
                              <a:solidFill>
                                <a:srgbClr val="000000"/>
                              </a:solidFill>
                              <a:ea typeface="Calibri" panose="020F0502020204030204" pitchFamily="34" charset="0"/>
                              <a:cs typeface="Calibri" panose="020F0502020204030204" pitchFamily="34" charset="0"/>
                            </a:rPr>
                            <a:t>2 ∙ </a:t>
                          </a: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596025">
                    <a:tc>
                      <a:txBody>
                        <a:bodyPr/>
                        <a:lstStyle/>
                        <a:p>
                          <a:pPr marL="0" marR="0" lvl="0" indent="0" algn="ctr" rtl="0">
                            <a:spcBef>
                              <a:spcPts val="0"/>
                            </a:spcBef>
                            <a:spcAft>
                              <a:spcPts val="0"/>
                            </a:spcAft>
                            <a:buNone/>
                          </a:pP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 – 7</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r h="596025">
                    <a:tc>
                      <a:txBody>
                        <a:bodyPr/>
                        <a:lstStyle/>
                        <a:p>
                          <a:pPr marL="0" marR="0" lvl="0" indent="0" algn="ctr" rtl="0">
                            <a:spcBef>
                              <a:spcPts val="0"/>
                            </a:spcBef>
                            <a:spcAft>
                              <a:spcPts val="0"/>
                            </a:spcAft>
                            <a:buNone/>
                          </a:pP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 + 8</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4"/>
                      </a:ext>
                    </a:extLst>
                  </a:tr>
                </a:tbl>
              </a:graphicData>
            </a:graphic>
          </p:graphicFrame>
        </mc:Fallback>
      </mc:AlternateContent>
      <p:sp>
        <p:nvSpPr>
          <p:cNvPr id="2" name="TextBox 1">
            <a:extLst>
              <a:ext uri="{FF2B5EF4-FFF2-40B4-BE49-F238E27FC236}">
                <a16:creationId xmlns:a16="http://schemas.microsoft.com/office/drawing/2014/main" id="{EB590765-BE7F-B865-9D51-11B4475F99F4}"/>
              </a:ext>
            </a:extLst>
          </p:cNvPr>
          <p:cNvSpPr txBox="1"/>
          <p:nvPr/>
        </p:nvSpPr>
        <p:spPr>
          <a:xfrm>
            <a:off x="922146" y="1610686"/>
            <a:ext cx="9740262" cy="954107"/>
          </a:xfrm>
          <a:prstGeom prst="rect">
            <a:avLst/>
          </a:prstGeom>
          <a:noFill/>
        </p:spPr>
        <p:txBody>
          <a:bodyPr wrap="square" rtlCol="0">
            <a:spAutoFit/>
          </a:bodyPr>
          <a:lstStyle/>
          <a:p>
            <a:pPr algn="l"/>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The graph shows the linear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and four transformations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endParaRPr lang="en-US" sz="2800" dirty="0">
              <a:latin typeface="Calibri" panose="020F0502020204030204" pitchFamily="34" charset="0"/>
              <a:ea typeface="Calibri" panose="020F0502020204030204" pitchFamily="34" charset="0"/>
              <a:cs typeface="Calibri" panose="020F0502020204030204" pitchFamily="34" charset="0"/>
            </a:endParaRPr>
          </a:p>
        </p:txBody>
      </p:sp>
      <p:sp>
        <p:nvSpPr>
          <p:cNvPr id="1952" name="Slide Number 195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64</a:t>
            </a:fld>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957"/>
        <p:cNvGrpSpPr/>
        <p:nvPr/>
      </p:nvGrpSpPr>
      <p:grpSpPr>
        <a:xfrm>
          <a:off x="0" y="0"/>
          <a:ext cx="0" cy="0"/>
          <a:chOff x="0" y="0"/>
          <a:chExt cx="0" cy="0"/>
        </a:xfrm>
      </p:grpSpPr>
      <p:sp>
        <p:nvSpPr>
          <p:cNvPr id="958" name="Google Shape;958;p6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Function Matching </a:t>
            </a:r>
            <a:r>
              <a:rPr lang="en-US" sz="2000" b="1" dirty="0">
                <a:solidFill>
                  <a:schemeClr val="bg1"/>
                </a:solidFill>
              </a:rPr>
              <a:t>(2 of 4)</a:t>
            </a:r>
            <a:endParaRPr dirty="0">
              <a:solidFill>
                <a:schemeClr val="bg1"/>
              </a:solidFill>
            </a:endParaRPr>
          </a:p>
        </p:txBody>
      </p:sp>
      <p:sp>
        <p:nvSpPr>
          <p:cNvPr id="2" name="Google Shape;951;p61">
            <a:extLst>
              <a:ext uri="{FF2B5EF4-FFF2-40B4-BE49-F238E27FC236}">
                <a16:creationId xmlns:a16="http://schemas.microsoft.com/office/drawing/2014/main" id="{7E87F3A4-23C7-406C-F142-34C5D62FEC7C}"/>
              </a:ext>
            </a:extLst>
          </p:cNvPr>
          <p:cNvSpPr/>
          <p:nvPr/>
        </p:nvSpPr>
        <p:spPr>
          <a:xfrm>
            <a:off x="777240" y="1846159"/>
            <a:ext cx="2326687" cy="1693996"/>
          </a:xfrm>
          <a:prstGeom prst="wedgeRoundRectCallout">
            <a:avLst>
              <a:gd name="adj1" fmla="val -30166"/>
              <a:gd name="adj2" fmla="val -65415"/>
              <a:gd name="adj3" fmla="val 16667"/>
            </a:avLst>
          </a:prstGeom>
          <a:solidFill>
            <a:schemeClr val="lt1"/>
          </a:solidFill>
          <a:ln w="19050" cap="flat" cmpd="sng">
            <a:solidFill>
              <a:schemeClr val="accent3">
                <a:lumMod val="75000"/>
              </a:schemeClr>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b="1"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sym typeface="Calibri"/>
              </a:rPr>
              <a:t>Ask Yourself…</a:t>
            </a:r>
            <a:endParaRPr sz="2000"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Did you justify your mathematical reasoning?</a:t>
            </a:r>
            <a:endParaRPr sz="2000" dirty="0">
              <a:latin typeface="Calibri" panose="020F0502020204030204" pitchFamily="34" charset="0"/>
              <a:ea typeface="Calibri" panose="020F0502020204030204" pitchFamily="34" charset="0"/>
              <a:cs typeface="Calibri" panose="020F0502020204030204" pitchFamily="34" charset="0"/>
            </a:endParaRPr>
          </a:p>
        </p:txBody>
      </p:sp>
      <p:sp>
        <p:nvSpPr>
          <p:cNvPr id="959" name="Google Shape;959;p62"/>
          <p:cNvSpPr txBox="1"/>
          <p:nvPr/>
        </p:nvSpPr>
        <p:spPr>
          <a:xfrm>
            <a:off x="3347206" y="1628044"/>
            <a:ext cx="7877264" cy="455464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dirty="0">
                <a:solidFill>
                  <a:srgbClr val="000000"/>
                </a:solidFill>
                <a:latin typeface="Calibri"/>
                <a:ea typeface="Calibri"/>
                <a:cs typeface="Calibri"/>
                <a:sym typeface="Calibri"/>
              </a:rPr>
              <a:t>Match each transformed graph to one of the transformations in the table. Explain your reasoning.</a:t>
            </a:r>
          </a:p>
          <a:p>
            <a:pPr marL="514350" marR="0" lvl="0" indent="-514350" algn="l" rtl="0">
              <a:spcBef>
                <a:spcPts val="0"/>
              </a:spcBef>
              <a:spcAft>
                <a:spcPts val="0"/>
              </a:spcAft>
              <a:buClr>
                <a:srgbClr val="000000"/>
              </a:buClr>
              <a:buSzPts val="2800"/>
              <a:buFont typeface="+mj-lt"/>
              <a:buAutoNum type="arabicPeriod"/>
            </a:pPr>
            <a:r>
              <a:rPr lang="en-US" sz="2800" b="0" i="0" u="none" strike="noStrike" dirty="0">
                <a:latin typeface="Calibri"/>
                <a:ea typeface="Calibri"/>
                <a:cs typeface="Calibri"/>
                <a:sym typeface="Calibri"/>
              </a:rPr>
              <a:t> </a:t>
            </a:r>
            <a:r>
              <a:rPr lang="en-US" sz="2800" b="0" i="1" u="none" strike="noStrike" dirty="0">
                <a:latin typeface="Calibri"/>
                <a:ea typeface="Calibri"/>
                <a:cs typeface="Calibri"/>
                <a:sym typeface="Calibri"/>
              </a:rPr>
              <a:t>k</a:t>
            </a:r>
            <a:r>
              <a:rPr lang="en-US" sz="2800" b="0" i="0" u="none" strike="noStrike" dirty="0">
                <a:latin typeface="Calibri"/>
                <a:ea typeface="Calibri"/>
                <a:cs typeface="Calibri"/>
                <a:sym typeface="Calibri"/>
              </a:rPr>
              <a:t>(</a:t>
            </a:r>
            <a:r>
              <a:rPr lang="en-US" sz="2800" b="0" i="1" u="none" strike="noStrike" dirty="0">
                <a:latin typeface="Calibri"/>
                <a:ea typeface="Calibri"/>
                <a:cs typeface="Calibri"/>
                <a:sym typeface="Calibri"/>
              </a:rPr>
              <a:t>x</a:t>
            </a:r>
            <a:r>
              <a:rPr lang="en-US" sz="2800" b="0" i="0" u="none" strike="noStrike" dirty="0">
                <a:latin typeface="Calibri"/>
                <a:ea typeface="Calibri"/>
                <a:cs typeface="Calibri"/>
                <a:sym typeface="Calibri"/>
              </a:rPr>
              <a:t>) = _______________</a:t>
            </a:r>
            <a:br>
              <a:rPr lang="en-US" sz="2800" b="0" i="0" u="none" strike="noStrike" dirty="0">
                <a:latin typeface="Calibri"/>
                <a:ea typeface="Calibri"/>
                <a:cs typeface="Calibri"/>
                <a:sym typeface="Calibri"/>
              </a:rPr>
            </a:br>
            <a:endParaRPr lang="en-US" sz="2800" b="0" i="0" u="none" strike="noStrike" dirty="0">
              <a:latin typeface="Calibri"/>
              <a:ea typeface="Calibri"/>
              <a:cs typeface="Calibri"/>
              <a:sym typeface="Calibri"/>
            </a:endParaRPr>
          </a:p>
          <a:p>
            <a:pPr marL="514350" marR="0" lvl="0" indent="-514350" algn="l" rtl="0">
              <a:spcBef>
                <a:spcPts val="0"/>
              </a:spcBef>
              <a:spcAft>
                <a:spcPts val="0"/>
              </a:spcAft>
              <a:buClr>
                <a:srgbClr val="000000"/>
              </a:buClr>
              <a:buSzPts val="2800"/>
              <a:buFont typeface="+mj-lt"/>
              <a:buAutoNum type="arabicPeriod"/>
            </a:pP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h</a:t>
            </a:r>
            <a:r>
              <a:rPr lang="en-US" sz="2800" dirty="0">
                <a:solidFill>
                  <a:srgbClr val="000000"/>
                </a:solidFill>
                <a:latin typeface="Calibri"/>
                <a:ea typeface="Calibri"/>
                <a:cs typeface="Calibri"/>
                <a:sym typeface="Calibri"/>
              </a:rPr>
              <a:t>(</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 _______________</a:t>
            </a:r>
            <a:br>
              <a:rPr lang="en-US" sz="2800" dirty="0">
                <a:solidFill>
                  <a:srgbClr val="000000"/>
                </a:solidFill>
                <a:latin typeface="Calibri"/>
                <a:ea typeface="Calibri"/>
                <a:cs typeface="Calibri"/>
                <a:sym typeface="Calibri"/>
              </a:rPr>
            </a:br>
            <a:endParaRPr lang="en-US" sz="2800" dirty="0">
              <a:solidFill>
                <a:srgbClr val="000000"/>
              </a:solidFill>
              <a:latin typeface="Calibri"/>
              <a:ea typeface="Calibri"/>
              <a:cs typeface="Calibri"/>
              <a:sym typeface="Calibri"/>
            </a:endParaRPr>
          </a:p>
          <a:p>
            <a:pPr marL="514350" marR="0" lvl="0" indent="-514350" algn="l" rtl="0">
              <a:spcBef>
                <a:spcPts val="0"/>
              </a:spcBef>
              <a:spcAft>
                <a:spcPts val="0"/>
              </a:spcAft>
              <a:buClr>
                <a:srgbClr val="000000"/>
              </a:buClr>
              <a:buSzPts val="2800"/>
              <a:buFont typeface="+mj-lt"/>
              <a:buAutoNum type="arabicPeriod"/>
            </a:pPr>
            <a:r>
              <a:rPr lang="en-US" sz="2800" b="0" i="0" u="none" strike="noStrike" dirty="0">
                <a:latin typeface="Calibri"/>
                <a:ea typeface="Calibri"/>
                <a:cs typeface="Calibri"/>
                <a:sym typeface="Calibri"/>
              </a:rPr>
              <a:t> </a:t>
            </a:r>
            <a:r>
              <a:rPr lang="en-US" sz="2800" b="0" i="1" u="none" strike="noStrike" dirty="0">
                <a:latin typeface="Calibri"/>
                <a:ea typeface="Calibri"/>
                <a:cs typeface="Calibri"/>
                <a:sym typeface="Calibri"/>
              </a:rPr>
              <a:t>g</a:t>
            </a:r>
            <a:r>
              <a:rPr lang="en-US" sz="2800" b="0" i="0" u="none" strike="noStrike" dirty="0">
                <a:latin typeface="Calibri"/>
                <a:ea typeface="Calibri"/>
                <a:cs typeface="Calibri"/>
                <a:sym typeface="Calibri"/>
              </a:rPr>
              <a:t>(</a:t>
            </a:r>
            <a:r>
              <a:rPr lang="en-US" sz="2800" b="0" i="1" u="none" strike="noStrike" dirty="0">
                <a:latin typeface="Calibri"/>
                <a:ea typeface="Calibri"/>
                <a:cs typeface="Calibri"/>
                <a:sym typeface="Calibri"/>
              </a:rPr>
              <a:t>x</a:t>
            </a:r>
            <a:r>
              <a:rPr lang="en-US" sz="2800" b="0" i="0" u="none" strike="noStrike" dirty="0">
                <a:latin typeface="Calibri"/>
                <a:ea typeface="Calibri"/>
                <a:cs typeface="Calibri"/>
                <a:sym typeface="Calibri"/>
              </a:rPr>
              <a:t>) = _______________</a:t>
            </a:r>
            <a:br>
              <a:rPr lang="en-US" sz="2800" b="0" i="0" u="none" strike="noStrike" dirty="0">
                <a:latin typeface="Calibri"/>
                <a:ea typeface="Calibri"/>
                <a:cs typeface="Calibri"/>
                <a:sym typeface="Calibri"/>
              </a:rPr>
            </a:br>
            <a:endParaRPr lang="en-US" sz="2800" b="0" i="0" u="none" strike="noStrike" dirty="0">
              <a:latin typeface="Calibri"/>
              <a:ea typeface="Calibri"/>
              <a:cs typeface="Calibri"/>
              <a:sym typeface="Calibri"/>
            </a:endParaRPr>
          </a:p>
          <a:p>
            <a:pPr marL="514350" marR="0" lvl="0" indent="-514350" algn="l" rtl="0">
              <a:spcBef>
                <a:spcPts val="0"/>
              </a:spcBef>
              <a:spcAft>
                <a:spcPts val="0"/>
              </a:spcAft>
              <a:buClr>
                <a:srgbClr val="000000"/>
              </a:buClr>
              <a:buSzPts val="2800"/>
              <a:buFont typeface="+mj-lt"/>
              <a:buAutoNum type="arabicPeriod"/>
            </a:pP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j</a:t>
            </a:r>
            <a:r>
              <a:rPr lang="en-US" sz="2800" dirty="0">
                <a:solidFill>
                  <a:srgbClr val="000000"/>
                </a:solidFill>
                <a:latin typeface="Calibri"/>
                <a:ea typeface="Calibri"/>
                <a:cs typeface="Calibri"/>
                <a:sym typeface="Calibri"/>
              </a:rPr>
              <a:t>(</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 _______________</a:t>
            </a:r>
            <a:endParaRPr sz="2800" b="0" i="0" u="none" strike="noStrike" dirty="0">
              <a:solidFill>
                <a:srgbClr val="000000"/>
              </a:solidFill>
              <a:latin typeface="Calibri"/>
              <a:ea typeface="Calibri"/>
              <a:cs typeface="Calibri"/>
              <a:sym typeface="Calibri"/>
            </a:endParaRPr>
          </a:p>
          <a:p>
            <a:pPr marL="0" marR="0" lvl="0" indent="0" algn="ctr" rtl="0">
              <a:spcBef>
                <a:spcPts val="560"/>
              </a:spcBef>
              <a:spcAft>
                <a:spcPts val="0"/>
              </a:spcAft>
              <a:buClr>
                <a:schemeClr val="dk1"/>
              </a:buClr>
              <a:buSzPts val="2800"/>
              <a:buFont typeface="Arial"/>
              <a:buNone/>
            </a:pPr>
            <a:endParaRPr sz="2800" dirty="0">
              <a:solidFill>
                <a:srgbClr val="3A3838"/>
              </a:solidFill>
              <a:latin typeface="Calibri"/>
              <a:ea typeface="Calibri"/>
              <a:cs typeface="Calibri"/>
              <a:sym typeface="Calibri"/>
            </a:endParaRPr>
          </a:p>
        </p:txBody>
      </p:sp>
      <p:sp>
        <p:nvSpPr>
          <p:cNvPr id="1959" name="Slide Number 195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65</a:t>
            </a:fld>
          </a:p>
        </p:txBody>
      </p:sp>
      <p:sp>
        <p:nvSpPr>
          <p:cNvPr id="1960" name="Answer 1960"/>
          <p:cNvSpPr txBox="1"/>
          <p:nvPr/>
        </p:nvSpPr>
        <p:spPr>
          <a:xfrm>
            <a:off x="7778750" y="2654300"/>
            <a:ext cx="3048000" cy="3556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f(x) + 8</a:t>
            </a:r>
          </a:p>
        </p:txBody>
      </p:sp>
      <p:sp>
        <p:nvSpPr>
          <p:cNvPr id="1961" name="Answer 1961"/>
          <p:cNvSpPr txBox="1"/>
          <p:nvPr/>
        </p:nvSpPr>
        <p:spPr>
          <a:xfrm>
            <a:off x="3429000" y="4381500"/>
            <a:ext cx="8509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k(x): f(x) translated up 8 units.</a:t>
            </a:r>
          </a:p>
        </p:txBody>
      </p:sp>
      <p:sp>
        <p:nvSpPr>
          <p:cNvPr id="1962" name="Answer 1962"/>
          <p:cNvSpPr txBox="1"/>
          <p:nvPr/>
        </p:nvSpPr>
        <p:spPr>
          <a:xfrm>
            <a:off x="7778750" y="3073400"/>
            <a:ext cx="3048000" cy="3556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2 · f(x)</a:t>
            </a:r>
          </a:p>
        </p:txBody>
      </p:sp>
      <p:sp>
        <p:nvSpPr>
          <p:cNvPr id="1963" name="Answer 1963"/>
          <p:cNvSpPr txBox="1"/>
          <p:nvPr/>
        </p:nvSpPr>
        <p:spPr>
          <a:xfrm>
            <a:off x="3429000" y="4794250"/>
            <a:ext cx="8509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h(x): f(x) stretched vertically by a factor of 2 (through the origin, steeper).</a:t>
            </a:r>
          </a:p>
        </p:txBody>
      </p:sp>
      <p:sp>
        <p:nvSpPr>
          <p:cNvPr id="1964" name="Answer 1964"/>
          <p:cNvSpPr txBox="1"/>
          <p:nvPr/>
        </p:nvSpPr>
        <p:spPr>
          <a:xfrm>
            <a:off x="7778750" y="3492500"/>
            <a:ext cx="3048000" cy="3556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(1/3) · f(x)</a:t>
            </a:r>
          </a:p>
        </p:txBody>
      </p:sp>
      <p:sp>
        <p:nvSpPr>
          <p:cNvPr id="1965" name="Answer 1965"/>
          <p:cNvSpPr txBox="1"/>
          <p:nvPr/>
        </p:nvSpPr>
        <p:spPr>
          <a:xfrm>
            <a:off x="3429000" y="5207000"/>
            <a:ext cx="8509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g(x): f(x) compressed vertically by a factor of 1/3 (through the origin, less steep).</a:t>
            </a:r>
          </a:p>
        </p:txBody>
      </p:sp>
      <p:sp>
        <p:nvSpPr>
          <p:cNvPr id="1966" name="Answer 1966"/>
          <p:cNvSpPr txBox="1"/>
          <p:nvPr/>
        </p:nvSpPr>
        <p:spPr>
          <a:xfrm>
            <a:off x="7778750" y="3911600"/>
            <a:ext cx="3048000" cy="3556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f(x) − 7</a:t>
            </a:r>
          </a:p>
        </p:txBody>
      </p:sp>
      <p:sp>
        <p:nvSpPr>
          <p:cNvPr id="1967" name="Answer 1967"/>
          <p:cNvSpPr txBox="1"/>
          <p:nvPr/>
        </p:nvSpPr>
        <p:spPr>
          <a:xfrm>
            <a:off x="3429000" y="5619750"/>
            <a:ext cx="8509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j(x): f(x) translated down 7 units.</a:t>
            </a:r>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960"/>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96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6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96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96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96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6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96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965"/>
        <p:cNvGrpSpPr/>
        <p:nvPr/>
      </p:nvGrpSpPr>
      <p:grpSpPr>
        <a:xfrm>
          <a:off x="0" y="0"/>
          <a:ext cx="0" cy="0"/>
          <a:chOff x="0" y="0"/>
          <a:chExt cx="0" cy="0"/>
        </a:xfrm>
      </p:grpSpPr>
      <p:sp>
        <p:nvSpPr>
          <p:cNvPr id="966" name="Google Shape;966;p6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Function Matching </a:t>
            </a:r>
            <a:r>
              <a:rPr lang="en-US" sz="2000" b="1" dirty="0">
                <a:solidFill>
                  <a:schemeClr val="bg1"/>
                </a:solidFill>
              </a:rPr>
              <a:t>(3 of 4)</a:t>
            </a:r>
            <a:endParaRPr dirty="0">
              <a:solidFill>
                <a:schemeClr val="bg1"/>
              </a:solidFill>
            </a:endParaRPr>
          </a:p>
        </p:txBody>
      </p:sp>
      <p:sp>
        <p:nvSpPr>
          <p:cNvPr id="967" name="Google Shape;967;p63"/>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answer the Essential Question and summarize our learning from the Talk the Talk!</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of linear functions</a:t>
            </a:r>
            <a:r>
              <a:rPr lang="en-US" sz="2800" dirty="0">
                <a:solidFill>
                  <a:srgbClr val="000000"/>
                </a:solidFill>
                <a:latin typeface="Calibri"/>
                <a:ea typeface="Calibri"/>
                <a:cs typeface="Calibri"/>
                <a:sym typeface="Calibri"/>
              </a:rPr>
              <a:t>?</a:t>
            </a:r>
            <a:endParaRPr sz="2800" b="0" i="0" u="none" strike="noStrike" dirty="0">
              <a:solidFill>
                <a:srgbClr val="000000"/>
              </a:solidFill>
              <a:latin typeface="Calibri"/>
              <a:ea typeface="Calibri"/>
              <a:cs typeface="Calibri"/>
              <a:sym typeface="Calibri"/>
            </a:endParaRPr>
          </a:p>
        </p:txBody>
      </p:sp>
      <p:pic>
        <p:nvPicPr>
          <p:cNvPr id="968" name="Google Shape;968;p63">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968" name="Slide Number 196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66</a:t>
            </a:fld>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973"/>
        <p:cNvGrpSpPr/>
        <p:nvPr/>
      </p:nvGrpSpPr>
      <p:grpSpPr>
        <a:xfrm>
          <a:off x="0" y="0"/>
          <a:ext cx="0" cy="0"/>
          <a:chOff x="0" y="0"/>
          <a:chExt cx="0" cy="0"/>
        </a:xfrm>
      </p:grpSpPr>
      <p:sp>
        <p:nvSpPr>
          <p:cNvPr id="974" name="Google Shape;974;p6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Function Matching </a:t>
            </a:r>
            <a:r>
              <a:rPr lang="en-US" sz="2000" b="1" dirty="0">
                <a:solidFill>
                  <a:schemeClr val="bg1"/>
                </a:solidFill>
              </a:rPr>
              <a:t>(4 of 4)</a:t>
            </a:r>
            <a:endParaRPr dirty="0">
              <a:solidFill>
                <a:schemeClr val="bg1"/>
              </a:solidFill>
            </a:endParaRPr>
          </a:p>
        </p:txBody>
      </p:sp>
      <p:sp>
        <p:nvSpPr>
          <p:cNvPr id="975" name="Google Shape;975;p64">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b="0" i="0" u="none" strike="noStrike">
              <a:solidFill>
                <a:srgbClr val="3A3838"/>
              </a:solidFill>
              <a:latin typeface="Calibri"/>
              <a:ea typeface="Calibri"/>
              <a:cs typeface="Calibri"/>
              <a:sym typeface="Calibri"/>
            </a:endParaRPr>
          </a:p>
        </p:txBody>
      </p:sp>
      <p:sp>
        <p:nvSpPr>
          <p:cNvPr id="1975" name="Slide Number 197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67</a:t>
            </a:fld>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980"/>
        <p:cNvGrpSpPr/>
        <p:nvPr/>
      </p:nvGrpSpPr>
      <p:grpSpPr>
        <a:xfrm>
          <a:off x="0" y="0"/>
          <a:ext cx="0" cy="0"/>
          <a:chOff x="0" y="0"/>
          <a:chExt cx="0" cy="0"/>
        </a:xfrm>
      </p:grpSpPr>
      <p:sp>
        <p:nvSpPr>
          <p:cNvPr id="981" name="Google Shape;981;p65"/>
          <p:cNvSpPr txBox="1">
            <a:spLocks noGrp="1"/>
          </p:cNvSpPr>
          <p:nvPr>
            <p:ph type="title"/>
          </p:nvPr>
        </p:nvSpPr>
        <p:spPr>
          <a:xfrm>
            <a:off x="838200" y="-318782"/>
            <a:ext cx="10514013" cy="318782"/>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Prepare</a:t>
            </a:r>
            <a:endParaRPr dirty="0"/>
          </a:p>
        </p:txBody>
      </p:sp>
      <p:sp>
        <p:nvSpPr>
          <p:cNvPr id="1981" name="Slide Number 198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69</a:t>
            </a:fld>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986"/>
        <p:cNvGrpSpPr/>
        <p:nvPr/>
      </p:nvGrpSpPr>
      <p:grpSpPr>
        <a:xfrm>
          <a:off x="0" y="0"/>
          <a:ext cx="0" cy="0"/>
          <a:chOff x="0" y="0"/>
          <a:chExt cx="0" cy="0"/>
        </a:xfrm>
      </p:grpSpPr>
      <p:sp>
        <p:nvSpPr>
          <p:cNvPr id="987" name="Google Shape;987;p66"/>
          <p:cNvSpPr txBox="1">
            <a:spLocks noGrp="1"/>
          </p:cNvSpPr>
          <p:nvPr>
            <p:ph type="title"/>
          </p:nvPr>
        </p:nvSpPr>
        <p:spPr>
          <a:xfrm>
            <a:off x="59436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600"/>
              <a:buFont typeface="Calibri"/>
              <a:buNone/>
            </a:pPr>
            <a:r>
              <a:rPr lang="en-US" sz="3600" b="1"/>
              <a:t>Prepare for Module 2 Topic 2 Lesson 2</a:t>
            </a:r>
            <a:endParaRPr/>
          </a:p>
        </p:txBody>
      </p:sp>
      <p:sp>
        <p:nvSpPr>
          <p:cNvPr id="988" name="Google Shape;988;p66"/>
          <p:cNvSpPr txBox="1"/>
          <p:nvPr/>
        </p:nvSpPr>
        <p:spPr>
          <a:xfrm>
            <a:off x="594360" y="1614894"/>
            <a:ext cx="912114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000000"/>
                </a:solidFill>
                <a:latin typeface="Calibri"/>
                <a:ea typeface="Calibri"/>
                <a:cs typeface="Calibri"/>
                <a:sym typeface="Calibri"/>
              </a:rPr>
              <a:t>Write a linear function for each graph. </a:t>
            </a:r>
            <a:endParaRPr dirty="0"/>
          </a:p>
        </p:txBody>
      </p:sp>
      <p:sp>
        <p:nvSpPr>
          <p:cNvPr id="992" name="Google Shape;992;p66"/>
          <p:cNvSpPr txBox="1"/>
          <p:nvPr/>
        </p:nvSpPr>
        <p:spPr>
          <a:xfrm>
            <a:off x="594360" y="2554111"/>
            <a:ext cx="88011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000000"/>
                </a:solidFill>
                <a:latin typeface="Calibri"/>
                <a:ea typeface="Calibri"/>
                <a:cs typeface="Calibri"/>
                <a:sym typeface="Calibri"/>
              </a:rPr>
              <a:t>1.</a:t>
            </a:r>
            <a:endParaRPr dirty="0"/>
          </a:p>
        </p:txBody>
      </p:sp>
      <p:pic>
        <p:nvPicPr>
          <p:cNvPr id="989" name="Google Shape;989;p66" descr="A graph of line f of x on the coordinate plane. The line rises from left to right through the points (negative 8, negative 10) and (negative 2, negative 6) and (4, negative 2)."/>
          <p:cNvPicPr>
            <a:picLocks noChangeAspect="1"/>
          </p:cNvPicPr>
          <p:nvPr/>
        </p:nvPicPr>
        <p:blipFill rotWithShape="1">
          <a:blip r:embed="rId3">
            <a:alphaModFix/>
          </a:blip>
          <a:srcRect/>
          <a:stretch/>
        </p:blipFill>
        <p:spPr>
          <a:xfrm>
            <a:off x="1034415" y="2684244"/>
            <a:ext cx="3324396" cy="3486329"/>
          </a:xfrm>
          <a:prstGeom prst="rect">
            <a:avLst/>
          </a:prstGeom>
          <a:noFill/>
          <a:ln>
            <a:noFill/>
          </a:ln>
        </p:spPr>
      </p:pic>
      <p:sp>
        <p:nvSpPr>
          <p:cNvPr id="993" name="Google Shape;993;p66"/>
          <p:cNvSpPr txBox="1"/>
          <p:nvPr/>
        </p:nvSpPr>
        <p:spPr>
          <a:xfrm>
            <a:off x="6463665" y="2554111"/>
            <a:ext cx="58293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000000"/>
                </a:solidFill>
                <a:latin typeface="Calibri"/>
                <a:ea typeface="Calibri"/>
                <a:cs typeface="Calibri"/>
                <a:sym typeface="Calibri"/>
              </a:rPr>
              <a:t>2.</a:t>
            </a:r>
            <a:endParaRPr dirty="0"/>
          </a:p>
        </p:txBody>
      </p:sp>
      <p:pic>
        <p:nvPicPr>
          <p:cNvPr id="990" name="Google Shape;990;p66" descr="A graph of line g of x on the coordinate plane. The line falls from left to right through the points (negative 8, 4) and (0, 2) and (8, 0)."/>
          <p:cNvPicPr>
            <a:picLocks noChangeAspect="1"/>
          </p:cNvPicPr>
          <p:nvPr/>
        </p:nvPicPr>
        <p:blipFill rotWithShape="1">
          <a:blip r:embed="rId4">
            <a:alphaModFix/>
          </a:blip>
          <a:srcRect/>
          <a:stretch/>
        </p:blipFill>
        <p:spPr>
          <a:xfrm>
            <a:off x="7145611" y="2617816"/>
            <a:ext cx="3352973" cy="3495855"/>
          </a:xfrm>
          <a:prstGeom prst="rect">
            <a:avLst/>
          </a:prstGeom>
          <a:noFill/>
          <a:ln>
            <a:noFill/>
          </a:ln>
        </p:spPr>
      </p:pic>
      <p:pic>
        <p:nvPicPr>
          <p:cNvPr id="991" name="Google Shape;991;p66">
            <a:extLst>
              <a:ext uri="{C183D7F6-B498-43B3-948B-1728B52AA6E4}">
                <adec:decorative xmlns:adec="http://schemas.microsoft.com/office/drawing/2017/decorative" val="1"/>
              </a:ext>
            </a:extLst>
          </p:cNvPr>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5932069" y="2620413"/>
            <a:ext cx="314642" cy="3498362"/>
          </a:xfrm>
          <a:prstGeom prst="rect">
            <a:avLst/>
          </a:prstGeom>
          <a:noFill/>
          <a:ln>
            <a:noFill/>
          </a:ln>
        </p:spPr>
      </p:pic>
      <p:sp>
        <p:nvSpPr>
          <p:cNvPr id="1993" name="Slide Number 199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70</a:t>
            </a:fld>
          </a:p>
        </p:txBody>
      </p:sp>
      <p:sp>
        <p:nvSpPr>
          <p:cNvPr id="1994" name="Answer 1994"/>
          <p:cNvSpPr txBox="1"/>
          <p:nvPr/>
        </p:nvSpPr>
        <p:spPr>
          <a:xfrm>
            <a:off x="1035050" y="6254750"/>
            <a:ext cx="4445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f(x) = (2/3)x − 14/3</a:t>
            </a:r>
          </a:p>
        </p:txBody>
      </p:sp>
      <p:sp>
        <p:nvSpPr>
          <p:cNvPr id="1995" name="Answer 1995"/>
          <p:cNvSpPr txBox="1"/>
          <p:nvPr/>
        </p:nvSpPr>
        <p:spPr>
          <a:xfrm>
            <a:off x="7143750" y="6254750"/>
            <a:ext cx="4445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g(x) = −(1/4)x + 2</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99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99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998"/>
        <p:cNvGrpSpPr/>
        <p:nvPr/>
      </p:nvGrpSpPr>
      <p:grpSpPr>
        <a:xfrm>
          <a:off x="0" y="0"/>
          <a:ext cx="0" cy="0"/>
          <a:chOff x="0" y="0"/>
          <a:chExt cx="0" cy="0"/>
        </a:xfrm>
      </p:grpSpPr>
      <p:sp>
        <p:nvSpPr>
          <p:cNvPr id="999" name="Google Shape;999;p67"/>
          <p:cNvSpPr txBox="1">
            <a:spLocks noGrp="1"/>
          </p:cNvSpPr>
          <p:nvPr>
            <p:ph type="title"/>
          </p:nvPr>
        </p:nvSpPr>
        <p:spPr>
          <a:xfrm>
            <a:off x="838200" y="-360727"/>
            <a:ext cx="10514013" cy="360727"/>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Acknowledgment and Notice</a:t>
            </a:r>
            <a:endParaRPr sz="2000" dirty="0"/>
          </a:p>
        </p:txBody>
      </p:sp>
      <p:sp>
        <p:nvSpPr>
          <p:cNvPr id="1999" name="Slide Number 19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71</a:t>
            </a:fld>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004"/>
        <p:cNvGrpSpPr/>
        <p:nvPr/>
      </p:nvGrpSpPr>
      <p:grpSpPr>
        <a:xfrm>
          <a:off x="0" y="0"/>
          <a:ext cx="0" cy="0"/>
          <a:chOff x="0" y="0"/>
          <a:chExt cx="0" cy="0"/>
        </a:xfrm>
      </p:grpSpPr>
      <p:sp>
        <p:nvSpPr>
          <p:cNvPr id="1005" name="Google Shape;1005;p68"/>
          <p:cNvSpPr txBox="1">
            <a:spLocks noGrp="1"/>
          </p:cNvSpPr>
          <p:nvPr>
            <p:ph type="title"/>
          </p:nvPr>
        </p:nvSpPr>
        <p:spPr>
          <a:xfrm>
            <a:off x="8155889" y="4975063"/>
            <a:ext cx="3431356" cy="414778"/>
          </a:xfrm>
          <a:prstGeom prst="rect">
            <a:avLst/>
          </a:prstGeom>
          <a:solidFill>
            <a:srgbClr val="2B8147"/>
          </a:solid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chemeClr val="lt1"/>
              </a:buClr>
              <a:buSzPts val="1800"/>
              <a:buFont typeface="Arial"/>
              <a:buNone/>
            </a:pPr>
            <a:r>
              <a:rPr lang="en-US" sz="1800" b="0" i="0" u="none" strike="noStrike" cap="none">
                <a:solidFill>
                  <a:schemeClr val="lt1"/>
                </a:solidFill>
                <a:latin typeface="Calibri"/>
                <a:ea typeface="Calibri"/>
                <a:cs typeface="Calibri"/>
                <a:sym typeface="Calibri"/>
              </a:rPr>
              <a:t>BLMATH_AlgI_M2_T2_L1_DCS_ENG</a:t>
            </a:r>
            <a:endParaRPr sz="1800" b="0" i="0" u="none" strike="noStrike" cap="none">
              <a:solidFill>
                <a:schemeClr val="lt1"/>
              </a:solidFill>
              <a:latin typeface="Calibri"/>
              <a:ea typeface="Calibri"/>
              <a:cs typeface="Calibri"/>
              <a:sym typeface="Calibri"/>
            </a:endParaRPr>
          </a:p>
        </p:txBody>
      </p:sp>
      <p:sp>
        <p:nvSpPr>
          <p:cNvPr id="2005" name="Slide Number 2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72</a:t>
            </a:fld>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nswer 2"/>
          <p:cNvSpPr txBox="1"/>
          <p:nvPr/>
        </p:nvSpPr>
        <p:spPr>
          <a:xfrm>
            <a:off x="869950" y="57150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3400" b="1" dirty="0">
                <a:solidFill>
                  <a:srgbClr val="2E7D4F"/>
                </a:solidFill>
              </a:rPr>
              <a:t>Teacher Edition corrections in this deck</a:t>
            </a:r>
          </a:p>
        </p:txBody>
      </p:sp>
      <p:sp>
        <p:nvSpPr>
          <p:cNvPr id="3" name="Answer 3"/>
          <p:cNvSpPr txBox="1"/>
          <p:nvPr/>
        </p:nvSpPr>
        <p:spPr>
          <a:xfrm>
            <a:off x="869950" y="160655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1.4 Q2a: the TE says the slope 'increases' or 'decreases'; it means steepness. For f(x) = x the new slope is a.</a:t>
            </a:r>
          </a:p>
        </p:txBody>
      </p:sp>
      <p:sp>
        <p:nvSpPr>
          <p:cNvPr id="4" name="Answer 4"/>
          <p:cNvSpPr txBox="1"/>
          <p:nvPr/>
        </p:nvSpPr>
        <p:spPr>
          <a:xfrm>
            <a:off x="869950" y="264160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1.5 Q3 Version B: for the lower Quadrant II target (−5, 1), the TE's a = 1, d = 4 misses; it is a = 1, d = 6.</a:t>
            </a:r>
          </a:p>
        </p:txBody>
      </p:sp>
      <p:sp>
        <p:nvSpPr>
          <p:cNvPr id="5" name="Answer 5"/>
          <p:cNvSpPr txBox="1"/>
          <p:nvPr/>
        </p:nvSpPr>
        <p:spPr>
          <a:xfrm>
            <a:off x="869950" y="367665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Prepare Q1: the TE gives f(x) = (2/3)x − 5. The graph's points give f(x) = (2/3)x − 14/3.</a:t>
            </a:r>
          </a:p>
        </p:txBody>
      </p:sp>
      <p:sp>
        <p:nvSpPr>
          <p:cNvPr id="6" name="Answer 6"/>
          <p:cNvSpPr txBox="1"/>
          <p:nvPr/>
        </p:nvSpPr>
        <p:spPr>
          <a:xfrm>
            <a:off x="869950" y="471170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Slide typos: slide 50's second item 'a.' is b; slide 52's first item 'a.' is e.</a:t>
            </a:r>
          </a:p>
        </p:txBody>
      </p:sp>
      <p:sp>
        <p:nvSpPr>
          <p:cNvPr id="7" name="Answer 7"/>
          <p:cNvSpPr txBox="1"/>
          <p:nvPr/>
        </p:nvSpPr>
        <p:spPr>
          <a:xfrm>
            <a:off x="869950" y="574675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16171D"/>
                </a:solidFill>
              </a:rPr>
              <a:t>• Every other TE answer was re-solved and is correct, including the Assignment (pp. 285-286) and Prepare Q2.</a:t>
            </a:r>
          </a:p>
        </p:txBody>
      </p:sp>
      <p:sp>
        <p:nvSpPr>
          <p:cNvPr id="999" name="Slide Number 9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68</a:t>
            </a:fld>
          </a:p>
        </p:txBody>
      </p:sp>
    </p:spTree>
  </p:cSld>
  <p:clrMapOvr>
    <a:masterClrMapping/>
  </p:clrMapOvr>
</p:sld>
</file>

<file path=ppt/theme/theme1.xml><?xml version="1.0" encoding="utf-8"?>
<a:theme xmlns:a="http://schemas.openxmlformats.org/drawingml/2006/main" name="A1_green">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Uploaded xmlns="33e0dbe9-2ee3-4e40-8d2a-c14405aa398e">true</Uploaded>
    <lcf76f155ced4ddcb4097134ff3c332f xmlns="33e0dbe9-2ee3-4e40-8d2a-c14405aa398e">
      <Terms xmlns="http://schemas.microsoft.com/office/infopath/2007/PartnerControls"/>
    </lcf76f155ced4ddcb4097134ff3c332f>
    <TaxCatchAll xmlns="5aa991ed-cfdb-45f0-90fe-74f6c83d7f1e"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9AE0C664B4FDA64F8529B02C06F03698" ma:contentTypeVersion="15" ma:contentTypeDescription="Create a new document." ma:contentTypeScope="" ma:versionID="4bf8706da78cd0fcda70025af99f6a26">
  <xsd:schema xmlns:xsd="http://www.w3.org/2001/XMLSchema" xmlns:xs="http://www.w3.org/2001/XMLSchema" xmlns:p="http://schemas.microsoft.com/office/2006/metadata/properties" xmlns:ns2="33e0dbe9-2ee3-4e40-8d2a-c14405aa398e" xmlns:ns3="5aa991ed-cfdb-45f0-90fe-74f6c83d7f1e" targetNamespace="http://schemas.microsoft.com/office/2006/metadata/properties" ma:root="true" ma:fieldsID="aff2f77c8a19f3557e1e9d39b143470b" ns2:_="" ns3:_="">
    <xsd:import namespace="33e0dbe9-2ee3-4e40-8d2a-c14405aa398e"/>
    <xsd:import namespace="5aa991ed-cfdb-45f0-90fe-74f6c83d7f1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Uploade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3e0dbe9-2ee3-4e40-8d2a-c14405aa398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b7a77b5-e59d-49f3-97a2-3dde868dbe2d"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Uploaded" ma:index="22" nillable="true" ma:displayName="Uploaded" ma:default="1" ma:description="Check for uploaded into Sharefile" ma:format="Dropdown" ma:internalName="Uploade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5aa991ed-cfdb-45f0-90fe-74f6c83d7f1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57405ce4-92a5-4ced-b4fb-968b1592fafc}" ma:internalName="TaxCatchAll" ma:showField="CatchAllData" ma:web="5aa991ed-cfdb-45f0-90fe-74f6c83d7f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B45C4A7-6891-443F-9535-D1FBCB4BD1E2}">
  <ds:schemaRefs>
    <ds:schemaRef ds:uri="http://purl.org/dc/elements/1.1/"/>
    <ds:schemaRef ds:uri="http://schemas.microsoft.com/office/2006/metadata/properties"/>
    <ds:schemaRef ds:uri="http://purl.org/dc/terms/"/>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33e0dbe9-2ee3-4e40-8d2a-c14405aa398e"/>
    <ds:schemaRef ds:uri="http://www.w3.org/XML/1998/namespace"/>
    <ds:schemaRef ds:uri="http://purl.org/dc/dcmitype/"/>
  </ds:schemaRefs>
</ds:datastoreItem>
</file>

<file path=customXml/itemProps2.xml><?xml version="1.0" encoding="utf-8"?>
<ds:datastoreItem xmlns:ds="http://schemas.openxmlformats.org/officeDocument/2006/customXml" ds:itemID="{AEC99491-3A95-4F83-BABA-62BF948F79F6}">
  <ds:schemaRefs>
    <ds:schemaRef ds:uri="http://schemas.microsoft.com/sharepoint/v3/contenttype/forms"/>
  </ds:schemaRefs>
</ds:datastoreItem>
</file>

<file path=customXml/itemProps3.xml><?xml version="1.0" encoding="utf-8"?>
<ds:datastoreItem xmlns:ds="http://schemas.openxmlformats.org/officeDocument/2006/customXml" ds:itemID="{FEF79C62-3C7F-4C8F-8888-7B0081936F9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3e0dbe9-2ee3-4e40-8d2a-c14405aa398e"/>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312</TotalTime>
  <Words>8086</Words>
  <Application>Microsoft Office PowerPoint</Application>
  <PresentationFormat>Custom</PresentationFormat>
  <Paragraphs>802</Paragraphs>
  <Slides>71</Slides>
  <Notes>71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71</vt:i4>
      </vt:variant>
    </vt:vector>
  </HeadingPairs>
  <TitlesOfParts>
    <vt:vector size="76" baseType="lpstr">
      <vt:lpstr>Cambria Math</vt:lpstr>
      <vt:lpstr>Noto Sans Symbols</vt:lpstr>
      <vt:lpstr>Calibri</vt:lpstr>
      <vt:lpstr>Arial</vt:lpstr>
      <vt:lpstr>A1_green</vt:lpstr>
      <vt:lpstr>Transforming Linear Functions</vt:lpstr>
      <vt:lpstr>Objectives</vt:lpstr>
      <vt:lpstr>Key Term</vt:lpstr>
      <vt:lpstr>Essential Question (1 of 3)</vt:lpstr>
      <vt:lpstr>Day 1</vt:lpstr>
      <vt:lpstr>Getting Started</vt:lpstr>
      <vt:lpstr>Returning to Transformation Station (1 of 8)</vt:lpstr>
      <vt:lpstr>Returning to Transformation Station (2 of 8)</vt:lpstr>
      <vt:lpstr>Returning to Transformation Station (3 of 8)</vt:lpstr>
      <vt:lpstr>Returning to Transformation Station (4 of 8)</vt:lpstr>
      <vt:lpstr>Returning to Transformation Station (5 of 8)</vt:lpstr>
      <vt:lpstr>Returning to Transformation Station (6 of 8)</vt:lpstr>
      <vt:lpstr>Returning to Transformation Station (7 of 8)</vt:lpstr>
      <vt:lpstr>Returning to Transformation Station (8 of 8)</vt:lpstr>
      <vt:lpstr>Activity 1.1</vt:lpstr>
      <vt:lpstr>Vertical Translations of Functions (1 of 10)</vt:lpstr>
      <vt:lpstr>Vertical Translations of Functions (2 of 10)</vt:lpstr>
      <vt:lpstr>Vertical Translations of Functions (3 of 10)</vt:lpstr>
      <vt:lpstr>Vertical Translations of Functions (4 of 10)</vt:lpstr>
      <vt:lpstr>Vertical Translations of Functions (5 of 10)</vt:lpstr>
      <vt:lpstr>Vertical Translations of Functions (6 of 10)</vt:lpstr>
      <vt:lpstr>Vertical Translations of Functions (7 of 10)</vt:lpstr>
      <vt:lpstr>Vertical Translations of Functions (8 of 10)</vt:lpstr>
      <vt:lpstr>Vertical Translations of Functions (9 of 10)</vt:lpstr>
      <vt:lpstr>Vertical Translations of Functions (10 of 10)</vt:lpstr>
      <vt:lpstr>Day 2</vt:lpstr>
      <vt:lpstr>Essential Question (2 of 3)</vt:lpstr>
      <vt:lpstr>Activity 1.2</vt:lpstr>
      <vt:lpstr>Slopes of Parallel Lines (1 of 8)</vt:lpstr>
      <vt:lpstr>Slopes of Parallel Lines (2 of 8)</vt:lpstr>
      <vt:lpstr>Slopes of Parallel Lines (3 of 8)</vt:lpstr>
      <vt:lpstr>Slopes of Parallel Lines (4 of 8)</vt:lpstr>
      <vt:lpstr>Slopes of Parallel Lines (5 of 8)</vt:lpstr>
      <vt:lpstr>Slopes of Parallel Lines (6 of 8)</vt:lpstr>
      <vt:lpstr>Slopes of Parallel Lines (7 of 8)</vt:lpstr>
      <vt:lpstr>Slopes of Parallel Lines (8 of 8)</vt:lpstr>
      <vt:lpstr>Activity 1.3</vt:lpstr>
      <vt:lpstr>Vertical Dilations of Functions (1 of 9)</vt:lpstr>
      <vt:lpstr>Vertical Dilations of Functions (2 of 9)</vt:lpstr>
      <vt:lpstr>Vertical Dilations of Functions (3 of 9)</vt:lpstr>
      <vt:lpstr>Vertical Dilations of Functions (4 of 9)</vt:lpstr>
      <vt:lpstr>Vertical Dilations of Functions (5 of 9)</vt:lpstr>
      <vt:lpstr>Vertical Dilations of Functions (6 of 9)</vt:lpstr>
      <vt:lpstr>Vertical Dilations of Functions (7 of 9)</vt:lpstr>
      <vt:lpstr>Vertical Dilations of Functions (8 of 9)</vt:lpstr>
      <vt:lpstr>Vertical Dilations of Functions (9 of 9)</vt:lpstr>
      <vt:lpstr>Day 3</vt:lpstr>
      <vt:lpstr>Essential Question (3 of 3)</vt:lpstr>
      <vt:lpstr>Activity 1.4</vt:lpstr>
      <vt:lpstr>Vertical Dilations and Vertical Translations of Functions (1 of 6)</vt:lpstr>
      <vt:lpstr>Vertical Dilations and Vertical Translations of Functions (2 of 6)</vt:lpstr>
      <vt:lpstr>Vertical Dilations and Vertical Translations of Functions (3 of 6)</vt:lpstr>
      <vt:lpstr>Vertical Dilations and Vertical Translations of Functions (4 of 6)</vt:lpstr>
      <vt:lpstr>Vertical Dilations and Vertical Translations of Functions (5 of 6)</vt:lpstr>
      <vt:lpstr>Vertical Dilations and Vertical Translations of Functions (6 of 6)</vt:lpstr>
      <vt:lpstr>Activity 1.5</vt:lpstr>
      <vt:lpstr>Applying Linear Function Transformations (1 of 6)</vt:lpstr>
      <vt:lpstr>Applying Linear Function Transformations (2 of 6)</vt:lpstr>
      <vt:lpstr>Applying Linear Function Transformations (3 of 6)</vt:lpstr>
      <vt:lpstr>Applying Linear Function Transformations (4 of 6)</vt:lpstr>
      <vt:lpstr>Applying Linear Function Transformations (5 of 6)</vt:lpstr>
      <vt:lpstr>Applying Linear Function Transformations (6 of 6)</vt:lpstr>
      <vt:lpstr>Talk the Talk</vt:lpstr>
      <vt:lpstr>Function Matching (1 of 4)</vt:lpstr>
      <vt:lpstr>Function Matching (2 of 4)</vt:lpstr>
      <vt:lpstr>Function Matching (3 of 4)</vt:lpstr>
      <vt:lpstr>Function Matching (4 of 4)</vt:lpstr>
      <vt:lpstr>Prepare</vt:lpstr>
      <vt:lpstr>Prepare for Module 2 Topic 2 Lesson 2</vt:lpstr>
      <vt:lpstr>Acknowledgment and Notice</vt:lpstr>
      <vt:lpstr>BLMATH_AlgI_M2_T2_L1_DCS_ENG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Transforming Linear Functions</dc:title>
  <dc:creator>Singh Amandeep</dc:creator>
  <cp:lastModifiedBy>Gann, Nickole</cp:lastModifiedBy>
  <cp:revision>66</cp:revision>
  <dcterms:created xsi:type="dcterms:W3CDTF">2024-02-22T09:58:00Z</dcterms:created>
  <dcterms:modified xsi:type="dcterms:W3CDTF">2025-05-28T18:54:33Z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A7190AC9080C4877A6E26CA982D6CC88_12</vt:lpwstr>
  </property>
  <property fmtid="{D5CDD505-2E9C-101B-9397-08002B2CF9AE}" pid="3" name="KSOProductBuildVer">
    <vt:lpwstr>1033-12.2.0.16731</vt:lpwstr>
  </property>
  <property fmtid="{D5CDD505-2E9C-101B-9397-08002B2CF9AE}" pid="4" name="ContentTypeId">
    <vt:lpwstr>0x0101009AE0C664B4FDA64F8529B02C06F03698</vt:lpwstr>
  </property>
  <property fmtid="{D5CDD505-2E9C-101B-9397-08002B2CF9AE}" pid="5" name="MediaServiceImageTags">
    <vt:lpwstr/>
  </property>
  <property fmtid="{D5CDD505-2E9C-101B-9397-08002B2CF9AE}" pid="6" name="Order">
    <vt:r8>3629600</vt:r8>
  </property>
  <property fmtid="{D5CDD505-2E9C-101B-9397-08002B2CF9AE}" pid="7" name="xd_Signature">
    <vt:bool>false</vt:bool>
  </property>
  <property fmtid="{D5CDD505-2E9C-101B-9397-08002B2CF9AE}" pid="8" name="xd_ProgID">
    <vt:lpwstr/>
  </property>
  <property fmtid="{D5CDD505-2E9C-101B-9397-08002B2CF9AE}" pid="9" name="ComplianceAssetId">
    <vt:lpwstr/>
  </property>
  <property fmtid="{D5CDD505-2E9C-101B-9397-08002B2CF9AE}" pid="10" name="TemplateUrl">
    <vt:lpwstr/>
  </property>
  <property fmtid="{D5CDD505-2E9C-101B-9397-08002B2CF9AE}" pid="11" name="_ExtendedDescription">
    <vt:lpwstr/>
  </property>
  <property fmtid="{D5CDD505-2E9C-101B-9397-08002B2CF9AE}" pid="12" name="TriggerFlowInfo">
    <vt:lpwstr/>
  </property>
</Properties>
</file>