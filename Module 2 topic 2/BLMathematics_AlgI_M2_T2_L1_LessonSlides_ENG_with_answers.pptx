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0" name="Answer 147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272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
        <p:nvSpPr>
          <p:cNvPr id="1486" name="Answer 1486"/>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0" name="Answer 1510"/>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9" name="Answer 1519"/>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20" name="Answer 1520"/>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27" name="Answer 1527"/>
          <p:cNvSpPr txBox="1"/>
          <p:nvPr/>
        </p:nvSpPr>
        <p:spPr>
          <a:xfrm>
            <a:off x="7874000" y="32512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a:p>
            <a:pPr marL="514350" lvl="1" indent="0">
              <a:lnSpc>
                <a:spcPct val="100000"/>
              </a:lnSpc>
              <a:spcBef>
                <a:spcPts val="200"/>
              </a:spcBef>
              <a:spcAft>
                <a:spcPts val="6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36" name="Answer 1536"/>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42" name="Answer 1542"/>
          <p:cNvSpPr txBox="1"/>
          <p:nvPr/>
        </p:nvSpPr>
        <p:spPr>
          <a:xfrm>
            <a:off x="7937500" y="32512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1" name="Answer 155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58" name="Answer 155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67" name="Answer 156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74" name="Answer 15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582" name="Answer 15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m(x) = x − 5</a:t>
            </a: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0" name="Answer 1600"/>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1" name="Answer 1601"/>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2" name="Answer 1602"/>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3" name="Answer 1603"/>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4" name="Answer 1604"/>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5" name="Answer 1605"/>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400" dirty="0">
                <a:solidFill>
                  <a:srgbClr val="FF0000"/>
                </a:solidFill>
              </a:rPr>
              <a:t>Slope: 1;  y-intercept: (0, 5)</a:t>
            </a:r>
            <a:br/>
            <a:r>
              <a:rPr lang="en-US" sz="2400" dirty="0">
                <a:solidFill>
                  <a:srgbClr val="FF0000"/>
                </a:solidFill>
              </a:rPr>
              <a:t>p(x) = x + 5</a:t>
            </a: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400" dirty="0">
                <a:solidFill>
                  <a:srgbClr val="FF0000"/>
                </a:solidFill>
              </a:rPr>
              <a:t>f(2) = 2 and p(2) = 7.</a:t>
            </a:r>
            <a:br/>
            <a:r>
              <a:rPr lang="en-US" sz="2400" dirty="0">
                <a:solidFill>
                  <a:srgbClr val="FF0000"/>
                </a:solidFill>
              </a:rPr>
              <a:t>The vertical translation increased the value at x = 2 by 5.</a:t>
            </a: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24" name="Answer 1624"/>
          <p:cNvSpPr txBox="1"/>
          <p:nvPr/>
        </p:nvSpPr>
        <p:spPr>
          <a:xfrm>
            <a:off x="9613900" y="2667000"/>
            <a:ext cx="2451100" cy="1466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b. r(x) = j(x) − 4  (graph: the line through (0, −5), parallel to j(x))</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c. q(x) = 2x + 3;  r(x) = 2x − 5</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000" dirty="0">
                <a:solidFill>
                  <a:srgbClr val="FF0000"/>
                </a:solidFill>
              </a:rPr>
              <a:t>d. All three have slope 2 but different y-intercepts: (0, −1), (0, 3), (0, −5). The lines are parallel, so they never intersect.</a:t>
            </a: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39" name="Answer 163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46" name="Answer 164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69" name="Answer 1669"/>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a:p>
            <a:pPr marL="514350" lvl="1" indent="0">
              <a:lnSpc>
                <a:spcPct val="100000"/>
              </a:lnSpc>
              <a:spcBef>
                <a:spcPts val="200"/>
              </a:spcBef>
              <a:spcAft>
                <a:spcPts val="600"/>
              </a:spcAft>
              <a:buNone/>
            </a:pPr>
            <a:r>
              <a:rPr lang="en-US" sz="2400" dirty="0">
                <a:solidFill>
                  <a:srgbClr val="FF0000"/>
                </a:solidFill>
              </a:rPr>
              <a:t>No. Both lines have slope 2 and stay 4 units apart, so they are parallel.</a:t>
            </a:r>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83" name="Answer 168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A′(x1, y1 + a)  and  B′(x2, y2 + a)</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m = (y2 − y1) / (x2 − x1)</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slopes are the same.</a:t>
            </a: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a:p>
            <a:pPr marL="514350" lvl="1" indent="0">
              <a:lnSpc>
                <a:spcPct val="100000"/>
              </a:lnSpc>
              <a:spcBef>
                <a:spcPts val="200"/>
              </a:spcBef>
              <a:spcAft>
                <a:spcPts val="600"/>
              </a:spcAft>
              <a:buNone/>
            </a:pPr>
            <a:r>
              <a:rPr lang="en-US" sz="2200" dirty="0">
                <a:solidFill>
                  <a:srgbClr val="FF0000"/>
                </a:solidFill>
              </a:rPr>
              <a:t>The graphs are parallel lines.</a:t>
            </a:r>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
        <p:nvSpPr>
          <p:cNvPr id="1699" name="Answer 1699"/>
          <p:cNvSpPr txBox="1"/>
          <p:nvPr/>
        </p:nvSpPr>
        <p:spPr>
          <a:xfrm>
            <a:off x="3346450" y="1270000"/>
            <a:ext cx="857885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 275 c.  m = ((y2 + a) − (y1 + a)) / (x2 − x1) = (y2 − y1) / (x2 − x1)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9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04" name="Answer 17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Answers will vary. Catalina translates the given line up 5; James uses the slope formula with the point (2, 9). Both get y = (1/2)x + 8.</a:t>
            </a: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a:p>
            <a:pPr marL="514350" lvl="1" indent="0">
              <a:lnSpc>
                <a:spcPct val="100000"/>
              </a:lnSpc>
              <a:spcBef>
                <a:spcPts val="200"/>
              </a:spcBef>
              <a:spcAft>
                <a:spcPts val="600"/>
              </a:spcAft>
              <a:buNone/>
            </a:pPr>
            <a:r>
              <a:rPr lang="en-US" sz="2400" dirty="0">
                <a:solidFill>
                  <a:srgbClr val="FF0000"/>
                </a:solidFill>
              </a:rPr>
              <a:t>y = −3x + 2</a:t>
            </a:r>
            <a:br/>
            <a:r>
              <a:rPr lang="en-US" sz="2400" dirty="0">
                <a:solidFill>
                  <a:srgbClr val="FF0000"/>
                </a:solidFill>
              </a:rPr>
              <a:t>Parallel, so the slope is −3: 5 = −3(−1) + b, so b = 2.</a:t>
            </a:r>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29" name="Answer 17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36" name="Answer 17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745" name="Answer 174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7" name="Answer 1757"/>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9" name="Answer 1759"/>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60" name="Answer 1760"/>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a(x)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6" name="Answer 1756"/>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7" name="Answer 1757"/>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9" name="Answer 1759"/>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60" name="Answer 1760"/>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2/3;  y-intercept: (0, 0)</a:t>
            </a:r>
            <a:br/>
            <a:r>
              <a:rPr lang="en-US" sz="2400" dirty="0">
                <a:solidFill>
                  <a:srgbClr val="FF0000"/>
                </a:solidFill>
              </a:rPr>
              <a:t>b(x) = (2/3)x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1" name="Answer 1751"/>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2" name="Answer 1752"/>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3" name="Answer 1753"/>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4" name="Answer 1754"/>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5" name="Answer 1755"/>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a:p>
            <a:pPr marL="514350" lvl="3" indent="0">
              <a:lnSpc>
                <a:spcPct val="100000"/>
              </a:lnSpc>
              <a:spcBef>
                <a:spcPts val="200"/>
              </a:spcBef>
              <a:spcAft>
                <a:spcPts val="600"/>
              </a:spcAft>
              <a:buNone/>
            </a:pPr>
            <a:r>
              <a:rPr lang="en-US" sz="2400" dirty="0">
                <a:solidFill>
                  <a:srgbClr val="FF0000"/>
                </a:solidFill>
              </a:rPr>
              <a:t>Slope: −4;  y-intercept: (0, 0)</a:t>
            </a:r>
            <a:br/>
            <a:r>
              <a:rPr lang="en-US" sz="2400" dirty="0">
                <a:solidFill>
                  <a:srgbClr val="FF0000"/>
                </a:solidFill>
              </a:rPr>
              <a:t>c(x) = −4x</a:t>
            </a:r>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f(−1) = −1 and c(−1) = 4.</a:t>
            </a:r>
            <a:br/>
            <a:r>
              <a:rPr lang="en-US" sz="2200" dirty="0">
                <a:solidFill>
                  <a:srgbClr val="FF0000"/>
                </a:solidFill>
              </a:rPr>
              <a:t>The vertical dilation multiplied the value at x = −1 by −4.</a:t>
            </a: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801" name="Answer 18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815" name="Answer 181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824" name="Answer 1824"/>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4629150" y="3746500"/>
            <a:ext cx="18796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5" name="Answer 1835"/>
          <p:cNvSpPr txBox="1"/>
          <p:nvPr/>
        </p:nvSpPr>
        <p:spPr>
          <a:xfrm>
            <a:off x="9296400" y="3746500"/>
            <a:ext cx="2768600" cy="1219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5" name="Answer 1835"/>
          <p:cNvSpPr txBox="1"/>
          <p:nvPr/>
        </p:nvSpPr>
        <p:spPr>
          <a:xfrm>
            <a:off x="5613400" y="5334000"/>
            <a:ext cx="5562600" cy="9398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5" name="Answer 1835"/>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2" indent="0">
              <a:lnSpc>
                <a:spcPct val="100000"/>
              </a:lnSpc>
              <a:spcBef>
                <a:spcPts val="200"/>
              </a:spcBef>
              <a:spcAft>
                <a:spcPts val="600"/>
              </a:spcAft>
              <a:buNone/>
            </a:pPr>
            <a:r>
              <a:rPr lang="en-US" sz="1600" dirty="0">
                <a:solidFill>
                  <a:srgbClr val="FF0000"/>
                </a:solidFill>
              </a:rPr>
              <a:t>a. a changes the slope (|a| &gt; 1 steeper, 0 &lt; |a| &lt; 1 less steep, a &lt; 0 reflects). It does not change the y-intercept.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874" name="Answer 18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
        <p:nvSpPr>
          <p:cNvPr id="1875" name="Answer 1875"/>
          <p:cNvSpPr txBox="1"/>
          <p:nvPr/>
        </p:nvSpPr>
        <p:spPr>
          <a:xfrm>
            <a:off x="774700" y="1270000"/>
            <a:ext cx="1079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p. 281 b.  d does not change the slope. It moves the y-intercept to (0, d): up if d &gt; 0, down if d &lt;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881" name="Answer 18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895" name="Answer 189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
        <p:nvSpPr>
          <p:cNvPr id="1903" name="Answer 190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Sample: a = 0 with d = 6, 4, 1 and −3: horizontal lines through each target (move the cannon to (0, d)).</a:t>
            </a: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a:p>
            <a:pPr marL="511175" lvl="1" indent="0">
              <a:lnSpc>
                <a:spcPct val="100000"/>
              </a:lnSpc>
              <a:spcBef>
                <a:spcPts val="200"/>
              </a:spcBef>
              <a:spcAft>
                <a:spcPts val="600"/>
              </a:spcAft>
              <a:buNone/>
            </a:pPr>
            <a:r>
              <a:rPr lang="en-US" sz="1800" dirty="0">
                <a:solidFill>
                  <a:srgbClr val="FF0000"/>
                </a:solidFill>
              </a:rPr>
              <a:t>The cannon shoots in only one direction. Targets in Quadrant II (left of the y-axis): domain x ≤ 0. Targets in Quadrants I and IV: domain x ≥ 0.</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1400" dirty="0">
                <a:solidFill>
                  <a:srgbClr val="FF0000"/>
                </a:solidFill>
              </a:rPr>
              <a:t>Version B: a = −1, d = 2 (x ≤ 0); a = 1, d = −1 (x ≥ 0); a = −1, d = −2 (x ≥ 0); a = −1, d = −4 (x ≤ 0)</a:t>
            </a:r>
          </a:p>
          <a:p>
            <a:pPr marL="514350" lvl="1" indent="0">
              <a:lnSpc>
                <a:spcPct val="100000"/>
              </a:lnSpc>
              <a:spcBef>
                <a:spcPts val="200"/>
              </a:spcBef>
              <a:spcAft>
                <a:spcPts val="600"/>
              </a:spcAft>
              <a:buNone/>
            </a:pPr>
            <a:r>
              <a:rPr lang="en-US" sz="1400" dirty="0">
                <a:solidFill>
                  <a:srgbClr val="FF0000"/>
                </a:solidFill>
              </a:rPr>
              <a:t>Version C: a = −3/2 (x ≤ 0); a = 4/5 (x ≥ 0); a = −3 (x ≥ 0); a = −1/5 (x ≤ 0)</a:t>
            </a: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929" name="Answer 19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936" name="Answer 19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953" name="Answer 195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
        <p:nvSpPr>
          <p:cNvPr id="1954" name="Answer 1954"/>
          <p:cNvSpPr txBox="1"/>
          <p:nvPr/>
        </p:nvSpPr>
        <p:spPr>
          <a:xfrm>
            <a:off x="8763000" y="2984500"/>
            <a:ext cx="3238500" cy="209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Matching (see the next slide):</a:t>
            </a:r>
          </a:p>
          <a:p>
            <a:pPr marL="0" indent="0" algn="l">
              <a:spcBef>
                <a:spcPts val="0"/>
              </a:spcBef>
              <a:spcAft>
                <a:spcPts val="300"/>
              </a:spcAft>
              <a:buNone/>
            </a:pPr>
            <a:r>
              <a:rPr lang="en-US" sz="2000" dirty="0">
                <a:solidFill>
                  <a:srgbClr val="FF0000"/>
                </a:solidFill>
              </a:rPr>
              <a:t>k(x) = f(x) + 8</a:t>
            </a:r>
          </a:p>
          <a:p>
            <a:pPr marL="0" indent="0" algn="l">
              <a:spcBef>
                <a:spcPts val="0"/>
              </a:spcBef>
              <a:spcAft>
                <a:spcPts val="300"/>
              </a:spcAft>
              <a:buNone/>
            </a:pPr>
            <a:r>
              <a:rPr lang="en-US" sz="2000" dirty="0">
                <a:solidFill>
                  <a:srgbClr val="FF0000"/>
                </a:solidFill>
              </a:rPr>
              <a:t>h(x) = 2 · f(x)</a:t>
            </a:r>
          </a:p>
          <a:p>
            <a:pPr marL="0" indent="0" algn="l">
              <a:spcBef>
                <a:spcPts val="0"/>
              </a:spcBef>
              <a:spcAft>
                <a:spcPts val="300"/>
              </a:spcAft>
              <a:buNone/>
            </a:pPr>
            <a:r>
              <a:rPr lang="en-US" sz="2000" dirty="0">
                <a:solidFill>
                  <a:srgbClr val="FF0000"/>
                </a:solidFill>
              </a:rPr>
              <a:t>g(x) = (1/3) · f(x)</a:t>
            </a:r>
          </a:p>
          <a:p>
            <a:pPr marL="0" indent="0" algn="l">
              <a:spcBef>
                <a:spcPts val="0"/>
              </a:spcBef>
              <a:spcAft>
                <a:spcPts val="300"/>
              </a:spcAft>
              <a:buNone/>
            </a:pPr>
            <a:r>
              <a:rPr lang="en-US" sz="2000" dirty="0">
                <a:solidFill>
                  <a:srgbClr val="FF0000"/>
                </a:solidFill>
              </a:rPr>
              <a:t>j(x) = f(x) − 7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+ 8: translated up 8 units.</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2 · f(x): stretched vertically by a factor of 2 (through the origin, steeper).</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(1/3) · f(x): compressed vertically by a factor of 1/3 (through the origin, less steep).</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− 7: translated down 7 units.</a:t>
            </a: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59">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5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5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9"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
        <p:nvSpPr>
          <p:cNvPr id="1969" name="Answer 196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976" name="Answer 197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286</a:t>
            </a:r>
          </a:p>
        </p:txBody>
      </p:sp>
      <p:sp>
        <p:nvSpPr>
          <p:cNvPr id="1995" name="Answer 1995"/>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6" name="Answer 1996"/>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