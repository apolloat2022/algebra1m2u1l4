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Lst>
  <p:notesMasterIdLst>
    <p:notesMasterId r:id="rId76"/>
  </p:notesMasterIdLst>
  <p:sldIdLst>
    <p:sldId id="256" r:id="rId5"/>
    <p:sldId id="257" r:id="rId6"/>
    <p:sldId id="259" r:id="rId7"/>
    <p:sldId id="326" r:id="rId8"/>
    <p:sldId id="260" r:id="rId9"/>
    <p:sldId id="261" r:id="rId10"/>
    <p:sldId id="262" r:id="rId11"/>
    <p:sldId id="263" r:id="rId12"/>
    <p:sldId id="264" r:id="rId13"/>
    <p:sldId id="327"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9" r:id="rId38"/>
    <p:sldId id="290" r:id="rId39"/>
    <p:sldId id="291" r:id="rId40"/>
    <p:sldId id="292" r:id="rId41"/>
    <p:sldId id="293" r:id="rId42"/>
    <p:sldId id="294" r:id="rId43"/>
    <p:sldId id="328" r:id="rId44"/>
    <p:sldId id="329" r:id="rId45"/>
    <p:sldId id="330" r:id="rId46"/>
    <p:sldId id="331" r:id="rId47"/>
    <p:sldId id="296" r:id="rId48"/>
    <p:sldId id="297" r:id="rId49"/>
    <p:sldId id="298" r:id="rId50"/>
    <p:sldId id="299" r:id="rId51"/>
    <p:sldId id="300" r:id="rId52"/>
    <p:sldId id="301" r:id="rId53"/>
    <p:sldId id="302" r:id="rId54"/>
    <p:sldId id="332" r:id="rId55"/>
    <p:sldId id="333"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34" r:id="rId89"/>
    <p:sldId id="320" r:id="rId72"/>
    <p:sldId id="321" r:id="rId73"/>
    <p:sldId id="322" r:id="rId74"/>
    <p:sldId id="323" r:id="rId75"/>
  </p:sldIdLst>
  <p:sldSz cx="12190413" cy="6858000"/>
  <p:notesSz cx="6858000" cy="9144000"/>
  <p:embeddedFontLst>
    <p:embeddedFont>
      <p:font typeface="Cambria Math" panose="02040503050406030204" pitchFamily="18" charset="0"/>
      <p:regular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2" roundtripDataSignature="AMtx7mjwNCD9ftmr4pUf+McDWQwZOPR8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EA89-3F07-4389-9B86-E936E9259881}" v="2" dt="2025-05-28T18:54:24.230"/>
  </p1510:revLst>
</p1510:revInfo>
</file>

<file path=ppt/tableStyles.xml><?xml version="1.0" encoding="utf-8"?>
<a:tblStyleLst xmlns:a="http://schemas.openxmlformats.org/drawingml/2006/main" def="{A49AC34E-657E-4A3B-9C05-DC8BE6C80247}">
  <a:tblStyle styleId="{A49AC34E-657E-4A3B-9C05-DC8BE6C8024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79AD5BC-A5CE-4E06-8A13-34D5E8DF52F5}"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600" autoAdjust="0"/>
  </p:normalViewPr>
  <p:slideViewPr>
    <p:cSldViewPr snapToGrid="0">
      <p:cViewPr varScale="1">
        <p:scale>
          <a:sx n="52" d="100"/>
          <a:sy n="52" d="100"/>
        </p:scale>
        <p:origin x="1586" y="4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notesMaster" Target="notesMasters/notesMaster1.xml"/><Relationship Id="rId84"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87" Type="http://schemas.microsoft.com/office/2016/11/relationships/changesInfo" Target="changesInfos/changesInfo1.xml"/><Relationship Id="rId5" Type="http://schemas.openxmlformats.org/officeDocument/2006/relationships/slide" Target="slides/slide1.xml"/><Relationship Id="rId61" Type="http://schemas.openxmlformats.org/officeDocument/2006/relationships/slide" Target="slides/slide57.xml"/><Relationship Id="rId82" Type="http://customschemas.google.com/relationships/presentationmetadata" Target="meta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86"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font" Target="fonts/font1.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5"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presProps" Target="presProps.xml"/><Relationship Id="rId88"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89" Type="http://schemas.openxmlformats.org/officeDocument/2006/relationships/slide" Target="slides/slide7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AA9B5061-D3A8-4DB3-9424-DBE604ADC813}"/>
    <pc:docChg chg="modSld">
      <pc:chgData name="Moyer Montague, Kristina" userId="63c103e5-6141-480e-825f-260f173eba02" providerId="ADAL" clId="{AA9B5061-D3A8-4DB3-9424-DBE604ADC813}" dt="2025-05-06T20:44:44.144" v="19" actId="20577"/>
      <pc:docMkLst>
        <pc:docMk/>
      </pc:docMkLst>
      <pc:sldChg chg="modSp mod">
        <pc:chgData name="Moyer Montague, Kristina" userId="63c103e5-6141-480e-825f-260f173eba02" providerId="ADAL" clId="{AA9B5061-D3A8-4DB3-9424-DBE604ADC813}" dt="2025-05-06T20:39:56.883" v="0" actId="20577"/>
        <pc:sldMkLst>
          <pc:docMk/>
          <pc:sldMk cId="0" sldId="273"/>
        </pc:sldMkLst>
        <pc:spChg chg="mod">
          <ac:chgData name="Moyer Montague, Kristina" userId="63c103e5-6141-480e-825f-260f173eba02" providerId="ADAL" clId="{AA9B5061-D3A8-4DB3-9424-DBE604ADC813}" dt="2025-05-06T20:39:56.883" v="0" actId="20577"/>
          <ac:spMkLst>
            <pc:docMk/>
            <pc:sldMk cId="0" sldId="273"/>
            <ac:spMk id="2" creationId="{D733FEA7-2825-BF64-7DEE-85C51F26D218}"/>
          </ac:spMkLst>
        </pc:spChg>
      </pc:sldChg>
      <pc:sldChg chg="modSp mod">
        <pc:chgData name="Moyer Montague, Kristina" userId="63c103e5-6141-480e-825f-260f173eba02" providerId="ADAL" clId="{AA9B5061-D3A8-4DB3-9424-DBE604ADC813}" dt="2025-05-06T20:40:32.582" v="3" actId="20577"/>
        <pc:sldMkLst>
          <pc:docMk/>
          <pc:sldMk cId="0" sldId="277"/>
        </pc:sldMkLst>
        <pc:spChg chg="mod">
          <ac:chgData name="Moyer Montague, Kristina" userId="63c103e5-6141-480e-825f-260f173eba02" providerId="ADAL" clId="{AA9B5061-D3A8-4DB3-9424-DBE604ADC813}" dt="2025-05-06T20:40:32.582" v="3" actId="20577"/>
          <ac:spMkLst>
            <pc:docMk/>
            <pc:sldMk cId="0" sldId="277"/>
            <ac:spMk id="2" creationId="{D41161D6-DDF7-7389-E2F9-D93936034DB8}"/>
          </ac:spMkLst>
        </pc:spChg>
      </pc:sldChg>
      <pc:sldChg chg="modNotesTx">
        <pc:chgData name="Moyer Montague, Kristina" userId="63c103e5-6141-480e-825f-260f173eba02" providerId="ADAL" clId="{AA9B5061-D3A8-4DB3-9424-DBE604ADC813}" dt="2025-05-06T20:41:37.270" v="4" actId="114"/>
        <pc:sldMkLst>
          <pc:docMk/>
          <pc:sldMk cId="0" sldId="293"/>
        </pc:sldMkLst>
      </pc:sldChg>
      <pc:sldChg chg="modNotesTx">
        <pc:chgData name="Moyer Montague, Kristina" userId="63c103e5-6141-480e-825f-260f173eba02" providerId="ADAL" clId="{AA9B5061-D3A8-4DB3-9424-DBE604ADC813}" dt="2025-05-06T20:41:41.483" v="5" actId="114"/>
        <pc:sldMkLst>
          <pc:docMk/>
          <pc:sldMk cId="0" sldId="294"/>
        </pc:sldMkLst>
      </pc:sldChg>
      <pc:sldChg chg="modNotesTx">
        <pc:chgData name="Moyer Montague, Kristina" userId="63c103e5-6141-480e-825f-260f173eba02" providerId="ADAL" clId="{AA9B5061-D3A8-4DB3-9424-DBE604ADC813}" dt="2025-05-06T20:42:48.945" v="15" actId="6549"/>
        <pc:sldMkLst>
          <pc:docMk/>
          <pc:sldMk cId="0" sldId="296"/>
        </pc:sldMkLst>
      </pc:sldChg>
      <pc:sldChg chg="modSp mod">
        <pc:chgData name="Moyer Montague, Kristina" userId="63c103e5-6141-480e-825f-260f173eba02" providerId="ADAL" clId="{AA9B5061-D3A8-4DB3-9424-DBE604ADC813}" dt="2025-05-06T20:44:44.144" v="19" actId="20577"/>
        <pc:sldMkLst>
          <pc:docMk/>
          <pc:sldMk cId="0" sldId="312"/>
        </pc:sldMkLst>
        <pc:spChg chg="mod">
          <ac:chgData name="Moyer Montague, Kristina" userId="63c103e5-6141-480e-825f-260f173eba02" providerId="ADAL" clId="{AA9B5061-D3A8-4DB3-9424-DBE604ADC813}" dt="2025-05-06T20:44:21.002" v="16" actId="20577"/>
          <ac:spMkLst>
            <pc:docMk/>
            <pc:sldMk cId="0" sldId="312"/>
            <ac:spMk id="3" creationId="{6639901B-2E0D-8778-EEBF-C2C8973F3F57}"/>
          </ac:spMkLst>
        </pc:spChg>
        <pc:spChg chg="mod">
          <ac:chgData name="Moyer Montague, Kristina" userId="63c103e5-6141-480e-825f-260f173eba02" providerId="ADAL" clId="{AA9B5061-D3A8-4DB3-9424-DBE604ADC813}" dt="2025-05-06T20:44:44.144" v="19" actId="20577"/>
          <ac:spMkLst>
            <pc:docMk/>
            <pc:sldMk cId="0" sldId="312"/>
            <ac:spMk id="4" creationId="{A25028ED-4212-8C69-A279-6D284E3DE217}"/>
          </ac:spMkLst>
        </pc:spChg>
      </pc:sldChg>
      <pc:sldChg chg="modNotesTx">
        <pc:chgData name="Moyer Montague, Kristina" userId="63c103e5-6141-480e-825f-260f173eba02" providerId="ADAL" clId="{AA9B5061-D3A8-4DB3-9424-DBE604ADC813}" dt="2025-05-06T20:42:29.771" v="7" actId="20577"/>
        <pc:sldMkLst>
          <pc:docMk/>
          <pc:sldMk cId="1195593053" sldId="328"/>
        </pc:sldMkLst>
      </pc:sldChg>
      <pc:sldChg chg="modNotesTx">
        <pc:chgData name="Moyer Montague, Kristina" userId="63c103e5-6141-480e-825f-260f173eba02" providerId="ADAL" clId="{AA9B5061-D3A8-4DB3-9424-DBE604ADC813}" dt="2025-05-06T20:42:35.144" v="9" actId="6549"/>
        <pc:sldMkLst>
          <pc:docMk/>
          <pc:sldMk cId="505425452" sldId="329"/>
        </pc:sldMkLst>
      </pc:sldChg>
      <pc:sldChg chg="modNotesTx">
        <pc:chgData name="Moyer Montague, Kristina" userId="63c103e5-6141-480e-825f-260f173eba02" providerId="ADAL" clId="{AA9B5061-D3A8-4DB3-9424-DBE604ADC813}" dt="2025-05-06T20:42:39.757" v="11" actId="6549"/>
        <pc:sldMkLst>
          <pc:docMk/>
          <pc:sldMk cId="2203327660" sldId="330"/>
        </pc:sldMkLst>
      </pc:sldChg>
      <pc:sldChg chg="modNotesTx">
        <pc:chgData name="Moyer Montague, Kristina" userId="63c103e5-6141-480e-825f-260f173eba02" providerId="ADAL" clId="{AA9B5061-D3A8-4DB3-9424-DBE604ADC813}" dt="2025-05-06T20:42:43.941" v="13" actId="6549"/>
        <pc:sldMkLst>
          <pc:docMk/>
          <pc:sldMk cId="1679482497" sldId="33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three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b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write linear equations in two variables given a table of values, a graph, and a verbal description.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A.2E: write the equation of a line that contains a given point and is parallel to a given line.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sz="1200"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2.H: understand implicit ideas and information in increasingly complex spoken language commensurate with grade-level learning expectations.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3.F: ask and give information ranging from using a very limited bank of high-frequency, high-need, concrete vocabulary, including key words and expressions needed for basic communication in academic and social contexts, to using abstract and content-based vocabulary during extended speaking assignments.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4.F: use visual and contextual support and support from peers and teachers to read grade-appropriate content area text, enhance and confirm understanding, and develop vocabulary, grasp of language structures, and background knowledge needed to comprehend increasingly challenging language.</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Parent function is introduced on Day 1</a:t>
            </a:r>
            <a:r>
              <a:rPr lang="en-US" dirty="0">
                <a:solidFill>
                  <a:srgbClr val="000000"/>
                </a:solidFill>
              </a:rPr>
              <a:t>.</a:t>
            </a:r>
            <a:endParaRPr sz="1200" b="1" dirty="0">
              <a:solidFill>
                <a:srgbClr val="000000"/>
              </a:solidFill>
              <a:latin typeface="Calibri"/>
              <a:ea typeface="Calibri"/>
              <a:cs typeface="Calibri"/>
              <a:sym typeface="Calibri"/>
            </a:endParaRPr>
          </a:p>
        </p:txBody>
      </p:sp>
      <p:sp>
        <p:nvSpPr>
          <p:cNvPr id="482" name="Google Shape;482;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a:extLst>
            <a:ext uri="{FF2B5EF4-FFF2-40B4-BE49-F238E27FC236}">
              <a16:creationId xmlns:a16="http://schemas.microsoft.com/office/drawing/2014/main" id="{925A97E4-D5C5-AD48-49D7-1A11A7005722}"/>
            </a:ext>
          </a:extLst>
        </p:cNvPr>
        <p:cNvGrpSpPr/>
        <p:nvPr/>
      </p:nvGrpSpPr>
      <p:grpSpPr>
        <a:xfrm>
          <a:off x="0" y="0"/>
          <a:ext cx="0" cy="0"/>
          <a:chOff x="0" y="0"/>
          <a:chExt cx="0" cy="0"/>
        </a:xfrm>
      </p:grpSpPr>
      <p:sp>
        <p:nvSpPr>
          <p:cNvPr id="480" name="Google Shape;480;p4:notes">
            <a:extLst>
              <a:ext uri="{FF2B5EF4-FFF2-40B4-BE49-F238E27FC236}">
                <a16:creationId xmlns:a16="http://schemas.microsoft.com/office/drawing/2014/main" id="{3E87CE0D-8002-1CC2-13E4-55C817EFB58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a:extLst>
              <a:ext uri="{FF2B5EF4-FFF2-40B4-BE49-F238E27FC236}">
                <a16:creationId xmlns:a16="http://schemas.microsoft.com/office/drawing/2014/main" id="{1B945410-8A3F-507A-D5AF-0B1478B187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Setting the Stage: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Tap into your students’ prior learning by reading the narrative statement.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Provide a sense of direction by reading the Essential Question.</a:t>
            </a:r>
            <a:endParaRPr sz="1200" b="1" dirty="0">
              <a:solidFill>
                <a:srgbClr val="000000"/>
              </a:solidFill>
              <a:latin typeface="Calibri"/>
              <a:ea typeface="Calibri"/>
              <a:cs typeface="Calibri"/>
              <a:sym typeface="Calibri"/>
            </a:endParaRPr>
          </a:p>
        </p:txBody>
      </p:sp>
      <p:sp>
        <p:nvSpPr>
          <p:cNvPr id="482" name="Google Shape;482;p4:notes">
            <a:extLst>
              <a:ext uri="{FF2B5EF4-FFF2-40B4-BE49-F238E27FC236}">
                <a16:creationId xmlns:a16="http://schemas.microsoft.com/office/drawing/2014/main" id="{1EA9EB42-FC4D-E541-A90A-DD74FB0AD4E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extLst>
      <p:ext uri="{BB962C8B-B14F-4D97-AF65-F5344CB8AC3E}">
        <p14:creationId xmlns:p14="http://schemas.microsoft.com/office/powerpoint/2010/main" val="1069440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8" name="Google Shape;488;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9" name="Google Shape;489;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5" name="Google Shape;495;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96" name="Google Shape;496;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2" name="Google Shape;502;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03" name="Google Shape;503;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1" name="Google Shape;511;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12" name="Google Shape;512;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a:extLst>
            <a:ext uri="{FF2B5EF4-FFF2-40B4-BE49-F238E27FC236}">
              <a16:creationId xmlns:a16="http://schemas.microsoft.com/office/drawing/2014/main" id="{0CA5A1C9-2FD3-A846-D867-5DCA7B4B631D}"/>
            </a:ext>
          </a:extLst>
        </p:cNvPr>
        <p:cNvGrpSpPr/>
        <p:nvPr/>
      </p:nvGrpSpPr>
      <p:grpSpPr>
        <a:xfrm>
          <a:off x="0" y="0"/>
          <a:ext cx="0" cy="0"/>
          <a:chOff x="0" y="0"/>
          <a:chExt cx="0" cy="0"/>
        </a:xfrm>
      </p:grpSpPr>
      <p:sp>
        <p:nvSpPr>
          <p:cNvPr id="519" name="Google Shape;519;p9:notes">
            <a:extLst>
              <a:ext uri="{FF2B5EF4-FFF2-40B4-BE49-F238E27FC236}">
                <a16:creationId xmlns:a16="http://schemas.microsoft.com/office/drawing/2014/main" id="{0180EB4E-83B7-CD06-B047-A6CF47A9AD41}"/>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a:extLst>
              <a:ext uri="{FF2B5EF4-FFF2-40B4-BE49-F238E27FC236}">
                <a16:creationId xmlns:a16="http://schemas.microsoft.com/office/drawing/2014/main" id="{AEEB8E79-A7E3-923A-56C4-94FB78D843B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a:extLst>
              <a:ext uri="{FF2B5EF4-FFF2-40B4-BE49-F238E27FC236}">
                <a16:creationId xmlns:a16="http://schemas.microsoft.com/office/drawing/2014/main" id="{4DB9FE17-3745-637B-6022-DE778AB683A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extLst>
      <p:ext uri="{BB962C8B-B14F-4D97-AF65-F5344CB8AC3E}">
        <p14:creationId xmlns:p14="http://schemas.microsoft.com/office/powerpoint/2010/main" val="23803835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9" name="Google Shape;529;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0" name="Google Shape;530;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7" name="Google Shape;537;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8" name="Google Shape;538;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5" name="Google Shape;545;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When a line segment is vertically translated on the coordinate plane, the </a:t>
            </a:r>
            <a:r>
              <a:rPr lang="en-US" i="1" dirty="0">
                <a:solidFill>
                  <a:srgbClr val="000000"/>
                </a:solidFill>
              </a:rPr>
              <a:t>x</a:t>
            </a:r>
            <a:r>
              <a:rPr lang="en-US" dirty="0">
                <a:solidFill>
                  <a:srgbClr val="000000"/>
                </a:solidFill>
              </a:rPr>
              <a:t>-value of each point remains unchanged, and the </a:t>
            </a:r>
            <a:r>
              <a:rPr lang="en-US" i="1" dirty="0">
                <a:solidFill>
                  <a:srgbClr val="000000"/>
                </a:solidFill>
              </a:rPr>
              <a:t>y</a:t>
            </a:r>
            <a:r>
              <a:rPr lang="en-US" dirty="0">
                <a:solidFill>
                  <a:srgbClr val="000000"/>
                </a:solidFill>
              </a:rPr>
              <a:t>-value changes according to the translation.</a:t>
            </a:r>
            <a:endParaRPr sz="1200" b="1" dirty="0">
              <a:solidFill>
                <a:srgbClr val="000000"/>
              </a:solidFill>
              <a:latin typeface="Calibri"/>
              <a:ea typeface="Calibri"/>
              <a:cs typeface="Calibri"/>
              <a:sym typeface="Calibri"/>
            </a:endParaRPr>
          </a:p>
        </p:txBody>
      </p:sp>
      <p:sp>
        <p:nvSpPr>
          <p:cNvPr id="546" name="Google Shape;546;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1"/>
        <p:cNvGrpSpPr/>
        <p:nvPr/>
      </p:nvGrpSpPr>
      <p:grpSpPr>
        <a:xfrm>
          <a:off x="0" y="0"/>
          <a:ext cx="0" cy="0"/>
          <a:chOff x="0" y="0"/>
          <a:chExt cx="0" cy="0"/>
        </a:xfrm>
      </p:grpSpPr>
      <p:sp>
        <p:nvSpPr>
          <p:cNvPr id="552" name="Google Shape;552;p1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3" name="Google Shape;553;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54" name="Google Shape;554;p1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0" name="Google Shape;560;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1.1.</a:t>
            </a:r>
            <a:endParaRPr dirty="0">
              <a:solidFill>
                <a:srgbClr val="000000"/>
              </a:solidFill>
            </a:endParaRPr>
          </a:p>
        </p:txBody>
      </p:sp>
      <p:sp>
        <p:nvSpPr>
          <p:cNvPr id="561" name="Google Shape;561;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8" name="Google Shape;568;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200" b="0" dirty="0">
              <a:solidFill>
                <a:srgbClr val="000000"/>
              </a:solidFill>
              <a:latin typeface="Calibri"/>
              <a:ea typeface="Calibri"/>
              <a:cs typeface="Calibri"/>
              <a:sym typeface="Calibri"/>
            </a:endParaRPr>
          </a:p>
        </p:txBody>
      </p:sp>
      <p:sp>
        <p:nvSpPr>
          <p:cNvPr id="569" name="Google Shape;569;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p1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6" name="Google Shape;576;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577" name="Google Shape;577;p1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88" name="Google Shape;588;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4" name="Google Shape;594;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95" name="Google Shape;595;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3" name="Google Shape;603;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04" name="Google Shape;604;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11" name="Google Shape;611;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7" name="Google Shape;617;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b="1" dirty="0">
              <a:solidFill>
                <a:srgbClr val="000000"/>
              </a:solidFill>
            </a:endParaRPr>
          </a:p>
        </p:txBody>
      </p:sp>
      <p:sp>
        <p:nvSpPr>
          <p:cNvPr id="618" name="Google Shape;618;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lang="en-US" b="1" dirty="0">
              <a:solidFill>
                <a:srgbClr val="000000"/>
              </a:solidFill>
            </a:endParaRPr>
          </a:p>
        </p:txBody>
      </p:sp>
      <p:sp>
        <p:nvSpPr>
          <p:cNvPr id="626" name="Google Shape;626;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3" name="Google Shape;633;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1.1 Summary:</a:t>
            </a:r>
            <a:endParaRPr dirty="0">
              <a:solidFill>
                <a:srgbClr val="000000"/>
              </a:solidFill>
            </a:endParaRPr>
          </a:p>
          <a:p>
            <a:pPr marL="0" lvl="0" indent="0" algn="l" rtl="0">
              <a:spcBef>
                <a:spcPts val="0"/>
              </a:spcBef>
              <a:spcAft>
                <a:spcPts val="0"/>
              </a:spcAft>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shows a vertical translation of the function. The slopes of vertically translated linear functions do not change, which means that the graphs of the functions are parallel lines.</a:t>
            </a:r>
            <a:endParaRPr sz="1200" b="1" dirty="0">
              <a:solidFill>
                <a:srgbClr val="000000"/>
              </a:solidFill>
              <a:latin typeface="Calibri"/>
              <a:ea typeface="Calibri"/>
              <a:cs typeface="Calibri"/>
              <a:sym typeface="Calibri"/>
            </a:endParaRPr>
          </a:p>
        </p:txBody>
      </p:sp>
      <p:sp>
        <p:nvSpPr>
          <p:cNvPr id="634" name="Google Shape;634;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9"/>
        <p:cNvGrpSpPr/>
        <p:nvPr/>
      </p:nvGrpSpPr>
      <p:grpSpPr>
        <a:xfrm>
          <a:off x="0" y="0"/>
          <a:ext cx="0" cy="0"/>
          <a:chOff x="0" y="0"/>
          <a:chExt cx="0" cy="0"/>
        </a:xfrm>
      </p:grpSpPr>
      <p:sp>
        <p:nvSpPr>
          <p:cNvPr id="640" name="Google Shape;640;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1" name="Google Shape;641;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42" name="Google Shape;642;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8" name="Google Shape;648;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49" name="Google Shape;649;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5" name="Google Shape;655;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656" name="Google Shape;656;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2" name="Google Shape;662;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1.2.</a:t>
            </a:r>
            <a:endParaRPr dirty="0">
              <a:solidFill>
                <a:srgbClr val="000000"/>
              </a:solidFill>
            </a:endParaRPr>
          </a:p>
        </p:txBody>
      </p:sp>
      <p:sp>
        <p:nvSpPr>
          <p:cNvPr id="663" name="Google Shape;663;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sz="1200" dirty="0">
              <a:solidFill>
                <a:srgbClr val="000000"/>
              </a:solidFill>
              <a:latin typeface="Calibri"/>
              <a:ea typeface="Calibri"/>
              <a:cs typeface="Calibri"/>
              <a:sym typeface="Calibri"/>
            </a:endParaRPr>
          </a:p>
        </p:txBody>
      </p:sp>
      <p:sp>
        <p:nvSpPr>
          <p:cNvPr id="671" name="Google Shape;671;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78" name="Google Shape;678;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5" name="Google Shape;685;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86" name="Google Shape;686;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93" name="Google Shape;693;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0" name="Google Shape;700;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endParaRPr sz="1200" dirty="0">
              <a:solidFill>
                <a:srgbClr val="000000"/>
              </a:solidFill>
              <a:latin typeface="Calibri"/>
              <a:ea typeface="Calibri"/>
              <a:cs typeface="Calibri"/>
              <a:sym typeface="Calibri"/>
            </a:endParaRPr>
          </a:p>
        </p:txBody>
      </p:sp>
      <p:sp>
        <p:nvSpPr>
          <p:cNvPr id="701" name="Google Shape;701;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
        <p:cNvGrpSpPr/>
        <p:nvPr/>
      </p:nvGrpSpPr>
      <p:grpSpPr>
        <a:xfrm>
          <a:off x="0" y="0"/>
          <a:ext cx="0" cy="0"/>
          <a:chOff x="0" y="0"/>
          <a:chExt cx="0" cy="0"/>
        </a:xfrm>
      </p:grpSpPr>
      <p:sp>
        <p:nvSpPr>
          <p:cNvPr id="715" name="Google Shape;715;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6" name="Google Shape;716;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p>
          <a:p>
            <a:r>
              <a:rPr lang="en-US" b="1" dirty="0"/>
              <a:t>Q1 has no single answer; let students defend either method.</a:t>
            </a:r>
          </a:p>
        </p:txBody>
      </p:sp>
      <p:sp>
        <p:nvSpPr>
          <p:cNvPr id="717" name="Google Shape;717;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1"/>
        <p:cNvGrpSpPr/>
        <p:nvPr/>
      </p:nvGrpSpPr>
      <p:grpSpPr>
        <a:xfrm>
          <a:off x="0" y="0"/>
          <a:ext cx="0" cy="0"/>
          <a:chOff x="0" y="0"/>
          <a:chExt cx="0" cy="0"/>
        </a:xfrm>
      </p:grpSpPr>
      <p:sp>
        <p:nvSpPr>
          <p:cNvPr id="722" name="Google Shape;722;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3" name="Google Shape;723;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1.2 Summary:</a:t>
            </a:r>
            <a:br>
              <a:rPr lang="en-US" sz="1200" b="1" dirty="0">
                <a:solidFill>
                  <a:srgbClr val="000000"/>
                </a:solidFill>
                <a:latin typeface="Calibri"/>
                <a:ea typeface="Calibri"/>
                <a:cs typeface="Calibri"/>
                <a:sym typeface="Calibri"/>
              </a:rPr>
            </a:br>
            <a:r>
              <a:rPr lang="en-US" dirty="0">
                <a:solidFill>
                  <a:srgbClr val="000000"/>
                </a:solidFill>
              </a:rPr>
              <a:t>A line and its translation are parallel to one another.</a:t>
            </a:r>
            <a:endParaRPr sz="1200" b="1" dirty="0">
              <a:solidFill>
                <a:srgbClr val="000000"/>
              </a:solidFill>
              <a:latin typeface="Calibri"/>
              <a:ea typeface="Calibri"/>
              <a:cs typeface="Calibri"/>
              <a:sym typeface="Calibri"/>
            </a:endParaRPr>
          </a:p>
        </p:txBody>
      </p:sp>
      <p:sp>
        <p:nvSpPr>
          <p:cNvPr id="724" name="Google Shape;724;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1" name="Google Shape;731;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2" name="Google Shape;732;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8" name="Google Shape;738;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1.3.</a:t>
            </a:r>
            <a:endParaRPr dirty="0">
              <a:solidFill>
                <a:srgbClr val="000000"/>
              </a:solidFill>
            </a:endParaRPr>
          </a:p>
        </p:txBody>
      </p:sp>
      <p:sp>
        <p:nvSpPr>
          <p:cNvPr id="739" name="Google Shape;739;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p:cNvGrpSpPr/>
        <p:nvPr/>
      </p:nvGrpSpPr>
      <p:grpSpPr>
        <a:xfrm>
          <a:off x="0" y="0"/>
          <a:ext cx="0" cy="0"/>
          <a:chOff x="0" y="0"/>
          <a:chExt cx="0" cy="0"/>
        </a:xfrm>
      </p:grpSpPr>
      <p:sp>
        <p:nvSpPr>
          <p:cNvPr id="745" name="Google Shape;745;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sz="1200" b="0" dirty="0">
              <a:solidFill>
                <a:srgbClr val="000000"/>
              </a:solidFill>
              <a:latin typeface="Calibri"/>
              <a:ea typeface="Calibri"/>
              <a:cs typeface="Calibri"/>
              <a:sym typeface="Calibri"/>
            </a:endParaRPr>
          </a:p>
        </p:txBody>
      </p:sp>
      <p:sp>
        <p:nvSpPr>
          <p:cNvPr id="747" name="Google Shape;747;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lang="en-US" sz="1200" b="0" dirty="0">
              <a:solidFill>
                <a:srgbClr val="000000"/>
              </a:solidFill>
              <a:latin typeface="Calibri"/>
              <a:ea typeface="Calibri"/>
              <a:cs typeface="Calibri"/>
              <a:sym typeface="Calibri"/>
            </a:endParaRPr>
          </a:p>
        </p:txBody>
      </p:sp>
      <p:sp>
        <p:nvSpPr>
          <p:cNvPr id="759" name="Google Shape;759;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53E0CF96-86B1-4B08-7E63-15226F469362}"/>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A2FB2D6A-DECB-6326-CC77-D6154A40DC5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5D006947-3FB1-7109-49EA-BD9ABC5051F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EC71E99B-4EDB-33CF-0B44-E75FBA261BA8}"/>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extLst>
      <p:ext uri="{BB962C8B-B14F-4D97-AF65-F5344CB8AC3E}">
        <p14:creationId xmlns:p14="http://schemas.microsoft.com/office/powerpoint/2010/main" val="18471805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EC5C4A9B-03C8-8F51-0739-FA1CFBBA2084}"/>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4602DE6B-B410-9436-D3FD-8F7E4B0204C0}"/>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EFA6AB1C-CEE7-345A-B5ED-326917E43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0290792E-6583-5949-2835-7B5BA1DEC337}"/>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extLst>
      <p:ext uri="{BB962C8B-B14F-4D97-AF65-F5344CB8AC3E}">
        <p14:creationId xmlns:p14="http://schemas.microsoft.com/office/powerpoint/2010/main" val="3453991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8603E85A-A085-2AB7-1307-5A26FBFEAB6A}"/>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D8556927-CEF9-2333-D2CF-AF6C807F28ED}"/>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EDE80438-0B5A-EC73-8572-C4058D7C53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a:p>
            <a:pPr marL="0" lvl="0" indent="0" algn="l" rtl="0">
              <a:spcBef>
                <a:spcPts val="0"/>
              </a:spcBef>
              <a:spcAft>
                <a:spcPts val="0"/>
              </a:spcAft>
              <a:buNone/>
            </a:pPr>
            <a:endParaRPr sz="1200" b="0" dirty="0">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C64E56CB-9534-FCAF-FA73-67338F017AD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extLst>
      <p:ext uri="{BB962C8B-B14F-4D97-AF65-F5344CB8AC3E}">
        <p14:creationId xmlns:p14="http://schemas.microsoft.com/office/powerpoint/2010/main" val="4163321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3D5700E4-3D50-D724-1247-7FE9055258DB}"/>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B380B9C8-A3E2-2BF0-A2B5-D2C731E53B7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A624425C-2D5C-1CE8-D37E-E4024A9E6F8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9686EF86-17AF-4874-08EE-45320C458A10}"/>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extLst>
      <p:ext uri="{BB962C8B-B14F-4D97-AF65-F5344CB8AC3E}">
        <p14:creationId xmlns:p14="http://schemas.microsoft.com/office/powerpoint/2010/main" val="402180675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0" name="Google Shape;780;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81" name="Google Shape;781;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
        <p:cNvGrpSpPr/>
        <p:nvPr/>
      </p:nvGrpSpPr>
      <p:grpSpPr>
        <a:xfrm>
          <a:off x="0" y="0"/>
          <a:ext cx="0" cy="0"/>
          <a:chOff x="0" y="0"/>
          <a:chExt cx="0" cy="0"/>
        </a:xfrm>
      </p:grpSpPr>
      <p:sp>
        <p:nvSpPr>
          <p:cNvPr id="787" name="Google Shape;787;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8" name="Google Shape;788;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 </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To close Day 2, have students reread the Essential Question and then read the Stamp the Learning summary aloud. </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1.3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dilation of the function.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negative, the function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789" name="Google Shape;789;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6" name="Google Shape;796;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97" name="Google Shape;797;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3 is 45 minutes.</a:t>
            </a:r>
            <a:endParaRPr dirty="0">
              <a:solidFill>
                <a:srgbClr val="000000"/>
              </a:solidFill>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p4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0" name="Google Shape;810;p4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3,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811" name="Google Shape;811;p4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p4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7" name="Google Shape;817;p4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1.4.</a:t>
            </a:r>
            <a:endParaRPr dirty="0">
              <a:solidFill>
                <a:srgbClr val="000000"/>
              </a:solidFill>
            </a:endParaRPr>
          </a:p>
        </p:txBody>
      </p:sp>
      <p:sp>
        <p:nvSpPr>
          <p:cNvPr id="818" name="Google Shape;818;p4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49</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p4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sz="1200" dirty="0">
              <a:solidFill>
                <a:srgbClr val="000000"/>
              </a:solidFill>
              <a:latin typeface="Calibri"/>
              <a:ea typeface="Calibri"/>
              <a:cs typeface="Calibri"/>
              <a:sym typeface="Calibri"/>
            </a:endParaRPr>
          </a:p>
          <a:p>
            <a:r>
              <a:rPr lang="en-US" b="1" dirty="0"/>
              <a:t>Slide typo: the second item is labeled 'a.'; it is item b.</a:t>
            </a:r>
          </a:p>
        </p:txBody>
      </p:sp>
      <p:sp>
        <p:nvSpPr>
          <p:cNvPr id="826" name="Google Shape;826;p4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50</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82B08B0E-A76E-C4F8-1CF1-1D76781D6041}"/>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5EB1116F-37CC-9623-96EE-57A6B8D800F4}"/>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C5629509-E7D1-8652-6A7A-45DDEDAAE9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p:txBody>
      </p:sp>
      <p:sp>
        <p:nvSpPr>
          <p:cNvPr id="826" name="Google Shape;826;p47:notes">
            <a:extLst>
              <a:ext uri="{FF2B5EF4-FFF2-40B4-BE49-F238E27FC236}">
                <a16:creationId xmlns:a16="http://schemas.microsoft.com/office/drawing/2014/main" id="{76E2DC9C-5996-347F-7FF5-C48533C73D9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51</a:t>
            </a:fld>
            <a:endParaRPr/>
          </a:p>
        </p:txBody>
      </p:sp>
    </p:spTree>
    <p:extLst>
      <p:ext uri="{BB962C8B-B14F-4D97-AF65-F5344CB8AC3E}">
        <p14:creationId xmlns:p14="http://schemas.microsoft.com/office/powerpoint/2010/main" val="356002247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D6246EF5-CB01-119C-D525-03FAAC693D0A}"/>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01F8AA91-C2B0-CC73-2FA0-08C19505657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67A468B6-C338-B6C4-95D7-F5BC6C86C65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Slide typo: the first item is labeled 'a.'; it is item e.</a:t>
            </a:r>
          </a:p>
        </p:txBody>
      </p:sp>
      <p:sp>
        <p:nvSpPr>
          <p:cNvPr id="826" name="Google Shape;826;p47:notes">
            <a:extLst>
              <a:ext uri="{FF2B5EF4-FFF2-40B4-BE49-F238E27FC236}">
                <a16:creationId xmlns:a16="http://schemas.microsoft.com/office/drawing/2014/main" id="{52533098-D29F-E37F-B3F6-37C90A4918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2826479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p5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0" name="Google Shape;860;p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TE correction (part a): the TE says the slope 'increases' when a &gt; 1 or a &lt; −1 and 'decreases' between −1 and 1. That describes steepness, not slope: for a = −3 the slope is −3. For f(x) = x the new slope is a.</a:t>
            </a:r>
          </a:p>
        </p:txBody>
      </p:sp>
      <p:sp>
        <p:nvSpPr>
          <p:cNvPr id="861" name="Google Shape;861;p5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53</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6"/>
        <p:cNvGrpSpPr/>
        <p:nvPr/>
      </p:nvGrpSpPr>
      <p:grpSpPr>
        <a:xfrm>
          <a:off x="0" y="0"/>
          <a:ext cx="0" cy="0"/>
          <a:chOff x="0" y="0"/>
          <a:chExt cx="0" cy="0"/>
        </a:xfrm>
      </p:grpSpPr>
      <p:sp>
        <p:nvSpPr>
          <p:cNvPr id="867" name="Google Shape;867;p5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8" name="Google Shape;868;p5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1.4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 𝑓(𝑥) + 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5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54</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p5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6" name="Google Shape;876;p5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877" name="Google Shape;877;p5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55</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p5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3" name="Google Shape;883;p5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1.5.</a:t>
            </a:r>
            <a:endParaRPr dirty="0">
              <a:solidFill>
                <a:srgbClr val="000000"/>
              </a:solidFill>
            </a:endParaRPr>
          </a:p>
        </p:txBody>
      </p:sp>
      <p:sp>
        <p:nvSpPr>
          <p:cNvPr id="884" name="Google Shape;884;p5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56</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p:cNvGrpSpPr/>
        <p:nvPr/>
      </p:nvGrpSpPr>
      <p:grpSpPr>
        <a:xfrm>
          <a:off x="0" y="0"/>
          <a:ext cx="0" cy="0"/>
          <a:chOff x="0" y="0"/>
          <a:chExt cx="0" cy="0"/>
        </a:xfrm>
      </p:grpSpPr>
      <p:sp>
        <p:nvSpPr>
          <p:cNvPr id="890" name="Google Shape;890;p5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1" name="Google Shape;891;p5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892" name="Google Shape;892;p5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57</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p5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9" name="Google Shape;899;p5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900" name="Google Shape;900;p5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58</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5"/>
        <p:cNvGrpSpPr/>
        <p:nvPr/>
      </p:nvGrpSpPr>
      <p:grpSpPr>
        <a:xfrm>
          <a:off x="0" y="0"/>
          <a:ext cx="0" cy="0"/>
          <a:chOff x="0" y="0"/>
          <a:chExt cx="0" cy="0"/>
        </a:xfrm>
      </p:grpSpPr>
      <p:sp>
        <p:nvSpPr>
          <p:cNvPr id="906" name="Google Shape;906;p5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7" name="Google Shape;907;p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5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59</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p5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4" name="Google Shape;914;p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a:ea typeface="Calibri"/>
              <a:cs typeface="Calibri"/>
              <a:sym typeface="Calibri"/>
            </a:endParaRPr>
          </a:p>
          <a:p>
            <a:r>
              <a:rPr lang="en-US" b="1" dirty="0"/>
              <a:t>The targets, read from the picture as the TE does: (−4, 6), (5, 4), (1, −3), (−5, 1). Other answers: Version B also a = 1, d = 10; a = −1, d = 9; a = 1, d = −4; a = 1, d = 6. TE correction: for the lower Quadrant II target the TE's alternative a = 1, d = 4 gives y = x + 4, which misses (−5, 1); it is d = 6. The TE's Version C slope −6/4 simplifies to −3/2.</a:t>
            </a:r>
          </a:p>
        </p:txBody>
      </p:sp>
      <p:sp>
        <p:nvSpPr>
          <p:cNvPr id="915" name="Google Shape;915;p5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60</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p5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3" name="Google Shape;923;p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1.5 Summary:</a:t>
            </a:r>
            <a:br>
              <a:rPr lang="en-US" sz="1200" b="1" dirty="0">
                <a:solidFill>
                  <a:srgbClr val="000000"/>
                </a:solidFill>
                <a:latin typeface="Calibri"/>
                <a:ea typeface="Calibri"/>
                <a:cs typeface="Calibri"/>
                <a:sym typeface="Calibri"/>
              </a:rPr>
            </a:br>
            <a:r>
              <a:rPr lang="en-US" dirty="0">
                <a:solidFill>
                  <a:srgbClr val="000000"/>
                </a:solidFill>
              </a:rPr>
              <a:t>Linear function transformations are used in real-life situations.</a:t>
            </a:r>
            <a:endParaRPr sz="1200" b="1" dirty="0">
              <a:solidFill>
                <a:srgbClr val="000000"/>
              </a:solidFill>
              <a:latin typeface="Calibri"/>
              <a:ea typeface="Calibri"/>
              <a:cs typeface="Calibri"/>
              <a:sym typeface="Calibri"/>
            </a:endParaRPr>
          </a:p>
        </p:txBody>
      </p:sp>
      <p:sp>
        <p:nvSpPr>
          <p:cNvPr id="924" name="Google Shape;924;p5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61</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5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1" name="Google Shape;931;p5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932" name="Google Shape;932;p5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p6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8" name="Google Shape;938;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939" name="Google Shape;939;p6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63</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3"/>
        <p:cNvGrpSpPr/>
        <p:nvPr/>
      </p:nvGrpSpPr>
      <p:grpSpPr>
        <a:xfrm>
          <a:off x="0" y="0"/>
          <a:ext cx="0" cy="0"/>
          <a:chOff x="0" y="0"/>
          <a:chExt cx="0" cy="0"/>
        </a:xfrm>
      </p:grpSpPr>
      <p:sp>
        <p:nvSpPr>
          <p:cNvPr id="944" name="Google Shape;944;p6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5" name="Google Shape;945;p6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946" name="Google Shape;946;p6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64</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3"/>
        <p:cNvGrpSpPr/>
        <p:nvPr/>
      </p:nvGrpSpPr>
      <p:grpSpPr>
        <a:xfrm>
          <a:off x="0" y="0"/>
          <a:ext cx="0" cy="0"/>
          <a:chOff x="0" y="0"/>
          <a:chExt cx="0" cy="0"/>
        </a:xfrm>
      </p:grpSpPr>
      <p:sp>
        <p:nvSpPr>
          <p:cNvPr id="954" name="Google Shape;954;p6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5" name="Google Shape;955;p6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characteristic of the line did you use to identify it?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dilation? How can you tell which </a:t>
            </a:r>
            <a:r>
              <a:rPr lang="en-US" i="1" dirty="0">
                <a:solidFill>
                  <a:srgbClr val="000000"/>
                </a:solidFill>
              </a:rPr>
              <a:t>a</a:t>
            </a:r>
            <a:r>
              <a:rPr lang="en-US" dirty="0">
                <a:solidFill>
                  <a:srgbClr val="000000"/>
                </a:solidFill>
              </a:rPr>
              <a:t>-value applies to each line?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translation?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tell which </a:t>
            </a:r>
            <a:r>
              <a:rPr lang="en-US" i="1" dirty="0">
                <a:solidFill>
                  <a:srgbClr val="000000"/>
                </a:solidFill>
              </a:rPr>
              <a:t>d</a:t>
            </a:r>
            <a:r>
              <a:rPr lang="en-US" dirty="0">
                <a:solidFill>
                  <a:srgbClr val="000000"/>
                </a:solidFill>
              </a:rPr>
              <a:t>-value applies to each line?</a:t>
            </a:r>
            <a:endParaRPr sz="1200" dirty="0">
              <a:solidFill>
                <a:srgbClr val="000000"/>
              </a:solidFill>
              <a:latin typeface="Calibri"/>
              <a:ea typeface="Calibri"/>
              <a:cs typeface="Calibri"/>
              <a:sym typeface="Calibri"/>
            </a:endParaRPr>
          </a:p>
        </p:txBody>
      </p:sp>
      <p:sp>
        <p:nvSpPr>
          <p:cNvPr id="956" name="Google Shape;956;p6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65</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1"/>
        <p:cNvGrpSpPr/>
        <p:nvPr/>
      </p:nvGrpSpPr>
      <p:grpSpPr>
        <a:xfrm>
          <a:off x="0" y="0"/>
          <a:ext cx="0" cy="0"/>
          <a:chOff x="0" y="0"/>
          <a:chExt cx="0" cy="0"/>
        </a:xfrm>
      </p:grpSpPr>
      <p:sp>
        <p:nvSpPr>
          <p:cNvPr id="962" name="Google Shape;962;p6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63" name="Google Shape;963;p6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close Day 3, have students read and answer the Essential Question and then read the Stamp the Learning summary aloud.</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Essential Question:</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translation of the function.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&gt;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up.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down. The parent function and the resulting graph are parallel because they have the same slope but different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dilation of the function. For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&gt;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stretches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0 &lt; |𝑎| &lt; 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compresses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is vertically stretched or compressed and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Talk the Talk Summary:</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An equation can be generated given the graph of a function transformation.</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4" name="Google Shape;964;p6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66</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p6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1" name="Google Shape;971;p6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972" name="Google Shape;972;p6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67</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6"/>
        <p:cNvGrpSpPr/>
        <p:nvPr/>
      </p:nvGrpSpPr>
      <p:grpSpPr>
        <a:xfrm>
          <a:off x="0" y="0"/>
          <a:ext cx="0" cy="0"/>
          <a:chOff x="0" y="0"/>
          <a:chExt cx="0" cy="0"/>
        </a:xfrm>
      </p:grpSpPr>
      <p:sp>
        <p:nvSpPr>
          <p:cNvPr id="977" name="Google Shape;977;p6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8" name="Google Shape;978;p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979" name="Google Shape;979;p6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68</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2"/>
        <p:cNvGrpSpPr/>
        <p:nvPr/>
      </p:nvGrpSpPr>
      <p:grpSpPr>
        <a:xfrm>
          <a:off x="0" y="0"/>
          <a:ext cx="0" cy="0"/>
          <a:chOff x="0" y="0"/>
          <a:chExt cx="0" cy="0"/>
        </a:xfrm>
      </p:grpSpPr>
      <p:sp>
        <p:nvSpPr>
          <p:cNvPr id="983" name="Google Shape;983;p6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4" name="Google Shape;984;p6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a:p>
            <a:r>
              <a:rPr lang="en-US" b="1" dirty="0"/>
              <a:t>TE correction: the TE gives f(x) = (2/3)x − 5. The marked points (−8, −10), (−2, −6) and (4, −2) give slope 2/3 and y-intercept (0, −14/3), so f(x) = (2/3)x − 14/3.</a:t>
            </a:r>
          </a:p>
        </p:txBody>
      </p:sp>
      <p:sp>
        <p:nvSpPr>
          <p:cNvPr id="985" name="Google Shape;985;p6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69</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4"/>
        <p:cNvGrpSpPr/>
        <p:nvPr/>
      </p:nvGrpSpPr>
      <p:grpSpPr>
        <a:xfrm>
          <a:off x="0" y="0"/>
          <a:ext cx="0" cy="0"/>
          <a:chOff x="0" y="0"/>
          <a:chExt cx="0" cy="0"/>
        </a:xfrm>
      </p:grpSpPr>
      <p:sp>
        <p:nvSpPr>
          <p:cNvPr id="995" name="Google Shape;995;p6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6" name="Google Shape;996;p6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997" name="Google Shape;997;p6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70</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6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2" name="Google Shape;1002;p6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1003" name="Google Shape;1003;p6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70"/>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70"/>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70"/>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70"/>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70"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70"/>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70"/>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70"/>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70"/>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71"/>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71"/>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71"/>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71"/>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72"/>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72"/>
          <p:cNvSpPr>
            <a:spLocks noGrp="1"/>
          </p:cNvSpPr>
          <p:nvPr>
            <p:ph type="pic" idx="2"/>
          </p:nvPr>
        </p:nvSpPr>
        <p:spPr>
          <a:xfrm>
            <a:off x="3427412" y="3217943"/>
            <a:ext cx="5335588" cy="2505075"/>
          </a:xfrm>
          <a:prstGeom prst="rect">
            <a:avLst/>
          </a:prstGeom>
          <a:noFill/>
          <a:ln>
            <a:noFill/>
          </a:ln>
        </p:spPr>
      </p:sp>
      <p:sp>
        <p:nvSpPr>
          <p:cNvPr id="29" name="Google Shape;29;p7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7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73"/>
          <p:cNvSpPr txBox="1"/>
          <p:nvPr/>
        </p:nvSpPr>
        <p:spPr>
          <a:xfrm>
            <a:off x="4687911" y="2955793"/>
            <a:ext cx="1742284"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dirty="0">
                <a:solidFill>
                  <a:srgbClr val="171616"/>
                </a:solidFill>
                <a:latin typeface="Calibri"/>
                <a:ea typeface="Calibri"/>
                <a:cs typeface="Calibri"/>
                <a:sym typeface="Calibri"/>
              </a:rPr>
              <a:t>Day</a:t>
            </a:r>
            <a:endParaRPr sz="7500" b="1" dirty="0">
              <a:solidFill>
                <a:srgbClr val="171616"/>
              </a:solidFill>
              <a:latin typeface="Calibri"/>
              <a:ea typeface="Calibri"/>
              <a:cs typeface="Calibri"/>
              <a:sym typeface="Calibri"/>
            </a:endParaRPr>
          </a:p>
        </p:txBody>
      </p:sp>
      <p:sp>
        <p:nvSpPr>
          <p:cNvPr id="33" name="Google Shape;33;p73"/>
          <p:cNvSpPr txBox="1">
            <a:spLocks noGrp="1"/>
          </p:cNvSpPr>
          <p:nvPr>
            <p:ph type="body" idx="1"/>
          </p:nvPr>
        </p:nvSpPr>
        <p:spPr>
          <a:xfrm>
            <a:off x="6537582" y="2834375"/>
            <a:ext cx="1093150"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74"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74"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9" name="Google Shape;39;p74"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74"/>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75"/>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75"/>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75"/>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75"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75"/>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76"/>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76"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76"/>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77"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77"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78"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78"/>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78"/>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78"/>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78"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78"/>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7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79"/>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79"/>
          <p:cNvGrpSpPr/>
          <p:nvPr/>
        </p:nvGrpSpPr>
        <p:grpSpPr>
          <a:xfrm>
            <a:off x="9053008" y="227306"/>
            <a:ext cx="2910578" cy="1472169"/>
            <a:chOff x="8940726" y="132485"/>
            <a:chExt cx="2910578" cy="1472169"/>
          </a:xfrm>
        </p:grpSpPr>
        <p:pic>
          <p:nvPicPr>
            <p:cNvPr id="67" name="Google Shape;67;p79"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79"/>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79"/>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79"/>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79"/>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79"/>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80"/>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81"/>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81"/>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82"/>
          <p:cNvGraphicFramePr/>
          <p:nvPr/>
        </p:nvGraphicFramePr>
        <p:xfrm>
          <a:off x="775252" y="3783769"/>
          <a:ext cx="3000000" cy="3000000"/>
        </p:xfrm>
        <a:graphic>
          <a:graphicData uri="http://schemas.openxmlformats.org/drawingml/2006/table">
            <a:tbl>
              <a:tblPr>
                <a:noFill/>
                <a:tableStyleId>{A49AC34E-657E-4A3B-9C05-DC8BE6C80247}</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82"/>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82"/>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8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83"/>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83"/>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8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84"/>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8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85"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85"/>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85"/>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85"/>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8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86"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86"/>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86"/>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86"/>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8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8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87"/>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87"/>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8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88"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88"/>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88"/>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8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8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25.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0.xml"/><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5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1.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31.png"/><Relationship Id="rId4" Type="http://schemas.openxmlformats.org/officeDocument/2006/relationships/image" Target="../media/image28.png"/></Relationships>
</file>

<file path=ppt/slides/_rels/slide5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2.xml"/><Relationship Id="rId1" Type="http://schemas.openxmlformats.org/officeDocument/2006/relationships/slideLayout" Target="../slideLayouts/slideLayout3.xml"/><Relationship Id="rId5" Type="http://schemas.openxmlformats.org/officeDocument/2006/relationships/image" Target="../media/image29.png"/><Relationship Id="rId4" Type="http://schemas.openxmlformats.org/officeDocument/2006/relationships/image" Target="../media/image32.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7.xml"/><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5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4.xml"/><Relationship Id="rId1" Type="http://schemas.openxmlformats.org/officeDocument/2006/relationships/slideLayout" Target="../slideLayouts/slideLayout3.xml"/><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9.xml"/><Relationship Id="rId1" Type="http://schemas.openxmlformats.org/officeDocument/2006/relationships/slideLayout" Target="../slideLayouts/slideLayout3.xml"/><Relationship Id="rId5" Type="http://schemas.openxmlformats.org/officeDocument/2006/relationships/image" Target="../media/image39.png"/><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p:nvPr>
        </p:nvSpPr>
        <p:spPr>
          <a:xfrm>
            <a:off x="-1590" y="1601919"/>
            <a:ext cx="12192003" cy="1827081"/>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Transforming Linear Functions</a:t>
            </a:r>
            <a:endParaRPr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1</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3" name="Text Placeholder 2">
            <a:extLst>
              <a:ext uri="{FF2B5EF4-FFF2-40B4-BE49-F238E27FC236}">
                <a16:creationId xmlns:a16="http://schemas.microsoft.com/office/drawing/2014/main" id="{B2EEEC91-34A7-62AC-491B-12E0AC349D8D}"/>
              </a:ext>
            </a:extLst>
          </p:cNvPr>
          <p:cNvSpPr>
            <a:spLocks noGrp="1"/>
          </p:cNvSpPr>
          <p:nvPr>
            <p:ph type="body" idx="1"/>
          </p:nvPr>
        </p:nvSpPr>
        <p:spPr>
          <a:xfrm>
            <a:off x="836615" y="1596189"/>
            <a:ext cx="9831386" cy="4520108"/>
          </a:xfrm>
        </p:spPr>
        <p:txBody>
          <a:bodyPr/>
          <a:lstStyle/>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Determine the effects on the graph of a linear function when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is replaced by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Graph linear function transformations expressed symbolically and show intercepts.</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Identify key characteristics of the graphs of linear functions, such as slope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in terms of quantities from a verbal description.</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Prove that a translated line and its pre-image have the same slope and are, therefore, parallel.</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Write equations of parallel lines.</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83"/>
        <p:cNvGrpSpPr/>
        <p:nvPr/>
      </p:nvGrpSpPr>
      <p:grpSpPr>
        <a:xfrm>
          <a:off x="0" y="0"/>
          <a:ext cx="0" cy="0"/>
          <a:chOff x="0" y="0"/>
          <a:chExt cx="0" cy="0"/>
        </a:xfrm>
      </p:grpSpPr>
      <p:sp>
        <p:nvSpPr>
          <p:cNvPr id="484" name="Google Shape;484;p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Key Term</a:t>
            </a:r>
            <a:endParaRPr dirty="0"/>
          </a:p>
        </p:txBody>
      </p:sp>
      <p:sp>
        <p:nvSpPr>
          <p:cNvPr id="5" name="Text Placeholder 4">
            <a:extLst>
              <a:ext uri="{FF2B5EF4-FFF2-40B4-BE49-F238E27FC236}">
                <a16:creationId xmlns:a16="http://schemas.microsoft.com/office/drawing/2014/main" id="{DE2FAB43-ED95-9FE3-3D33-4AE3AE7E3CF8}"/>
              </a:ext>
            </a:extLst>
          </p:cNvPr>
          <p:cNvSpPr>
            <a:spLocks noGrp="1"/>
          </p:cNvSpPr>
          <p:nvPr>
            <p:ph type="body" idx="1"/>
          </p:nvPr>
        </p:nvSpPr>
        <p:spPr>
          <a:xfrm>
            <a:off x="777240" y="1559140"/>
            <a:ext cx="10590848" cy="1263192"/>
          </a:xfrm>
        </p:spPr>
        <p:txBody>
          <a:bodyPr/>
          <a:lstStyle/>
          <a:p>
            <a:pPr marL="0" indent="4763">
              <a:spcBef>
                <a:spcPts val="0"/>
              </a:spcBef>
            </a:pPr>
            <a:r>
              <a:rPr lang="en-US" b="1" dirty="0">
                <a:solidFill>
                  <a:srgbClr val="000000"/>
                </a:solidFill>
              </a:rPr>
              <a:t>parent function: </a:t>
            </a:r>
            <a:r>
              <a:rPr lang="en-US" dirty="0"/>
              <a:t>the simplest function of its type </a:t>
            </a:r>
            <a:endParaRPr lang="en-US" b="0" i="0" u="none" dirty="0">
              <a:solidFill>
                <a:srgbClr val="000000"/>
              </a:solidFill>
            </a:endParaRPr>
          </a:p>
        </p:txBody>
      </p:sp>
      <p:sp>
        <p:nvSpPr>
          <p:cNvPr id="6" name="Text Placeholder 4">
            <a:extLst>
              <a:ext uri="{FF2B5EF4-FFF2-40B4-BE49-F238E27FC236}">
                <a16:creationId xmlns:a16="http://schemas.microsoft.com/office/drawing/2014/main" id="{C86FBC3D-4099-8728-62D2-C600D2D19F8B}"/>
              </a:ext>
            </a:extLst>
          </p:cNvPr>
          <p:cNvSpPr txBox="1">
            <a:spLocks/>
          </p:cNvSpPr>
          <p:nvPr/>
        </p:nvSpPr>
        <p:spPr>
          <a:xfrm>
            <a:off x="777240" y="3428999"/>
            <a:ext cx="10590848" cy="123826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4763">
              <a:spcBef>
                <a:spcPts val="0"/>
              </a:spcBef>
            </a:pPr>
            <a:r>
              <a:rPr lang="en-US" b="1" dirty="0">
                <a:solidFill>
                  <a:srgbClr val="000000"/>
                </a:solidFill>
              </a:rPr>
              <a:t>Example </a:t>
            </a:r>
            <a:endParaRPr lang="en-US" dirty="0"/>
          </a:p>
          <a:p>
            <a:pPr marL="0" indent="4763">
              <a:spcBef>
                <a:spcPts val="0"/>
              </a:spcBef>
            </a:pPr>
            <a:endParaRPr lang="en-US" dirty="0">
              <a:solidFill>
                <a:srgbClr val="000000"/>
              </a:solidFill>
            </a:endParaRPr>
          </a:p>
          <a:p>
            <a:pPr marL="457200" lvl="1" indent="0">
              <a:spcBef>
                <a:spcPts val="0"/>
              </a:spcBef>
              <a:buNone/>
            </a:pP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is the parent function for the linear function family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3">
          <a:extLst>
            <a:ext uri="{FF2B5EF4-FFF2-40B4-BE49-F238E27FC236}">
              <a16:creationId xmlns:a16="http://schemas.microsoft.com/office/drawing/2014/main" id="{A0A105E1-1C81-AFF2-43C5-382D8CB7DB8F}"/>
            </a:ext>
          </a:extLst>
        </p:cNvPr>
        <p:cNvGrpSpPr/>
        <p:nvPr/>
      </p:nvGrpSpPr>
      <p:grpSpPr>
        <a:xfrm>
          <a:off x="0" y="0"/>
          <a:ext cx="0" cy="0"/>
          <a:chOff x="0" y="0"/>
          <a:chExt cx="0" cy="0"/>
        </a:xfrm>
      </p:grpSpPr>
      <p:sp>
        <p:nvSpPr>
          <p:cNvPr id="484" name="Google Shape;484;p4">
            <a:extLst>
              <a:ext uri="{FF2B5EF4-FFF2-40B4-BE49-F238E27FC236}">
                <a16:creationId xmlns:a16="http://schemas.microsoft.com/office/drawing/2014/main" id="{104053DC-5CDF-B0EF-AB81-3DC9F953819F}"/>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3)</a:t>
            </a:r>
            <a:endParaRPr dirty="0">
              <a:solidFill>
                <a:schemeClr val="bg1"/>
              </a:solidFill>
            </a:endParaRPr>
          </a:p>
        </p:txBody>
      </p:sp>
      <p:sp>
        <p:nvSpPr>
          <p:cNvPr id="2" name="Text Placeholder 4">
            <a:extLst>
              <a:ext uri="{FF2B5EF4-FFF2-40B4-BE49-F238E27FC236}">
                <a16:creationId xmlns:a16="http://schemas.microsoft.com/office/drawing/2014/main" id="{88DE4603-608D-686E-77CD-5F6EF8348709}"/>
              </a:ext>
            </a:extLst>
          </p:cNvPr>
          <p:cNvSpPr>
            <a:spLocks noGrp="1"/>
          </p:cNvSpPr>
          <p:nvPr>
            <p:ph type="body" idx="1"/>
          </p:nvPr>
        </p:nvSpPr>
        <p:spPr>
          <a:xfrm>
            <a:off x="777240" y="1559139"/>
            <a:ext cx="10590848" cy="4609049"/>
          </a:xfrm>
        </p:spPr>
        <p:txBody>
          <a:bodyPr/>
          <a:lstStyle/>
          <a:p>
            <a:pPr marL="4763" indent="-4763" algn="l">
              <a:spcBef>
                <a:spcPts val="0"/>
              </a:spcBef>
            </a:pP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You have learned about linear functions and their characteristics, including slope and </a:t>
            </a:r>
            <a:r>
              <a:rPr lang="en-US"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-intercept.</a:t>
            </a: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4763" algn="l"/>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85" name="Answer 485"/>
          <p:cNvSpPr txBox="1"/>
          <p:nvPr/>
        </p:nvSpPr>
        <p:spPr>
          <a:xfrm>
            <a:off x="774700" y="4445000"/>
            <a:ext cx="10731500" cy="2349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Translation: y = f(x) + d moves the graph up (d &gt; 0) or down (d &lt; 0) by |d| units. The slope stays the same, so the new line is parallel to the original; the y-intercept changes.</a:t>
            </a:r>
          </a:p>
          <a:p>
            <a:pPr marL="0" indent="0" algn="l">
              <a:spcBef>
                <a:spcPts val="0"/>
              </a:spcBef>
              <a:spcAft>
                <a:spcPts val="300"/>
              </a:spcAft>
              <a:buNone/>
            </a:pPr>
            <a:r>
              <a:rPr lang="en-US" sz="1700" dirty="0">
                <a:solidFill>
                  <a:srgbClr val="FF0000"/>
                </a:solidFill>
              </a:rPr>
              <a:t>Dilation: y = a · f(x) stretches the graph vertically when |a| &gt; 1 and compresses it when 0 &lt; |a| &lt; 1; when a &lt; 0 it is also reflected across the x-axis. The slope changes; for f(x) = x the new slope is a.</a:t>
            </a:r>
          </a:p>
        </p:txBody>
      </p:sp>
    </p:spTree>
    <p:extLst>
      <p:ext uri="{BB962C8B-B14F-4D97-AF65-F5344CB8AC3E}">
        <p14:creationId xmlns:p14="http://schemas.microsoft.com/office/powerpoint/2010/main" val="162704614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4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
          <p:cNvSpPr txBox="1">
            <a:spLocks noGrp="1"/>
          </p:cNvSpPr>
          <p:nvPr>
            <p:ph type="title"/>
          </p:nvPr>
        </p:nvSpPr>
        <p:spPr>
          <a:xfrm>
            <a:off x="838200" y="-457200"/>
            <a:ext cx="10514013" cy="45720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b="0" i="0" u="none" strike="noStrike" cap="none">
                <a:solidFill>
                  <a:schemeClr val="lt2"/>
                </a:solidFill>
                <a:latin typeface="Calibri"/>
                <a:ea typeface="Calibri"/>
                <a:cs typeface="Calibri"/>
                <a:sym typeface="Calibri"/>
              </a:rPr>
              <a:t>Day 1</a:t>
            </a:r>
            <a:endParaRPr/>
          </a:p>
        </p:txBody>
      </p:sp>
      <p:sp>
        <p:nvSpPr>
          <p:cNvPr id="492" name="Google Shape;492;p5"/>
          <p:cNvSpPr txBox="1">
            <a:spLocks noGrp="1"/>
          </p:cNvSpPr>
          <p:nvPr>
            <p:ph type="body" idx="1"/>
          </p:nvPr>
        </p:nvSpPr>
        <p:spPr>
          <a:xfrm>
            <a:off x="6569242" y="2832927"/>
            <a:ext cx="999215"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6"/>
          <p:cNvSpPr txBox="1">
            <a:spLocks noGrp="1"/>
          </p:cNvSpPr>
          <p:nvPr>
            <p:ph type="title"/>
          </p:nvPr>
        </p:nvSpPr>
        <p:spPr>
          <a:xfrm>
            <a:off x="838200" y="-336884"/>
            <a:ext cx="10514013" cy="33688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Getting Started</a:t>
            </a:r>
            <a:endParaRPr dirty="0"/>
          </a:p>
        </p:txBody>
      </p:sp>
      <p:sp>
        <p:nvSpPr>
          <p:cNvPr id="499" name="Google Shape;499;p6" descr="15 to 20 minutes"/>
          <p:cNvSpPr txBox="1">
            <a:spLocks noGrp="1"/>
          </p:cNvSpPr>
          <p:nvPr>
            <p:ph type="body" idx="1"/>
          </p:nvPr>
        </p:nvSpPr>
        <p:spPr>
          <a:xfrm>
            <a:off x="10623011" y="5774424"/>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(1 of 8)</a:t>
            </a:r>
            <a:endParaRPr dirty="0">
              <a:solidFill>
                <a:schemeClr val="bg1"/>
              </a:solidFill>
            </a:endParaRPr>
          </a:p>
        </p:txBody>
      </p:sp>
      <p:pic>
        <p:nvPicPr>
          <p:cNvPr id="507" name="Google Shape;507;p7"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56996" y="1616140"/>
            <a:ext cx="3937863" cy="4049312"/>
          </a:xfrm>
          <a:prstGeom prst="rect">
            <a:avLst/>
          </a:prstGeom>
          <a:noFill/>
          <a:ln>
            <a:noFill/>
          </a:ln>
        </p:spPr>
      </p:pic>
      <mc:AlternateContent xmlns:mc="http://schemas.openxmlformats.org/markup-compatibility/2006" xmlns:a14="http://schemas.microsoft.com/office/drawing/2010/main">
        <mc:Choice Requires="a14">
          <p:sp>
            <p:nvSpPr>
              <p:cNvPr id="508" name="Google Shape;508;p7"/>
              <p:cNvSpPr txBox="1"/>
              <p:nvPr/>
            </p:nvSpPr>
            <p:spPr>
              <a:xfrm>
                <a:off x="4740442" y="1616140"/>
                <a:ext cx="7223760" cy="4786783"/>
              </a:xfrm>
              <a:prstGeom prst="rect">
                <a:avLst/>
              </a:prstGeom>
              <a:noFill/>
              <a:ln>
                <a:noFill/>
              </a:ln>
            </p:spPr>
            <p:txBody>
              <a:bodyPr spcFirstLastPara="1" wrap="square" lIns="91425" tIns="45700" rIns="91425" bIns="45700" anchor="t" anchorCtr="0">
                <a:spAutoFit/>
              </a:bodyPr>
              <a:lstStyle/>
              <a:p>
                <a:pPr marR="0" lvl="0" algn="l" rtl="0">
                  <a:spcBef>
                    <a:spcPts val="0"/>
                  </a:spcBef>
                  <a:spcAft>
                    <a:spcPts val="1800"/>
                  </a:spcAft>
                  <a:buClr>
                    <a:srgbClr val="000000"/>
                  </a:buClr>
                  <a:buSzPts val="2400"/>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with coordinates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𝐴</m:t>
                    </m:r>
                    <m:d>
                      <m:dPr>
                        <m:ctrlPr>
                          <a:rPr lang="en-US" sz="2800" b="0" i="1" smtClean="0">
                            <a:solidFill>
                              <a:srgbClr val="000000"/>
                            </a:solidFill>
                            <a:latin typeface="Cambria Math" panose="02040503050406030204" pitchFamily="18" charset="0"/>
                            <a:ea typeface="Calibri"/>
                            <a:cs typeface="Calibri"/>
                            <a:sym typeface="Calibri"/>
                          </a:rPr>
                        </m:ctrlPr>
                      </m:dPr>
                      <m:e>
                        <m:r>
                          <a:rPr lang="en-US" sz="2800" b="0" i="1" smtClean="0">
                            <a:solidFill>
                              <a:srgbClr val="000000"/>
                            </a:solidFill>
                            <a:latin typeface="Cambria Math" panose="02040503050406030204" pitchFamily="18" charset="0"/>
                            <a:ea typeface="Calibri"/>
                            <a:cs typeface="Calibri"/>
                            <a:sym typeface="Calibri"/>
                          </a:rPr>
                          <m:t>−8, −8</m:t>
                        </m:r>
                      </m:e>
                    </m:d>
                  </m:oMath>
                </a14:m>
                <a:br>
                  <a:rPr lang="en-US" sz="2800" b="0" dirty="0">
                    <a:solidFill>
                      <a:srgbClr val="000000"/>
                    </a:solidFill>
                    <a:latin typeface="Calibri" panose="020F0502020204030204" pitchFamily="34" charset="0"/>
                    <a:ea typeface="Calibri"/>
                    <a:cs typeface="Calibri"/>
                    <a:sym typeface="Calibri"/>
                  </a:rPr>
                </a:b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and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𝐵</m:t>
                    </m:r>
                    <m:r>
                      <a:rPr lang="en-US" sz="2800" b="0" i="1" smtClean="0">
                        <a:solidFill>
                          <a:srgbClr val="000000"/>
                        </a:solidFill>
                        <a:latin typeface="Cambria Math" panose="02040503050406030204" pitchFamily="18" charset="0"/>
                        <a:ea typeface="Calibri"/>
                        <a:cs typeface="Calibri"/>
                        <a:sym typeface="Calibri"/>
                      </a:rPr>
                      <m:t>(8, 8)</m:t>
                    </m:r>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R="0" lvl="0" algn="l" rtl="0">
                  <a:spcBef>
                    <a:spcPts val="0"/>
                  </a:spcBef>
                  <a:spcAft>
                    <a:spcPts val="1200"/>
                  </a:spcAft>
                  <a:buClr>
                    <a:srgbClr val="000000"/>
                  </a:buClr>
                  <a:buSzPts val="2400"/>
                </a:pPr>
                <a:r>
                  <a:rPr lang="en-US" sz="2800" dirty="0">
                    <a:latin typeface="Calibri" panose="020F0502020204030204" pitchFamily="34" charset="0"/>
                    <a:ea typeface="Calibri" panose="020F0502020204030204" pitchFamily="34" charset="0"/>
                    <a:cs typeface="Calibri" panose="020F0502020204030204" pitchFamily="34" charset="0"/>
                    <a:sym typeface="Calibri"/>
                  </a:rPr>
                  <a:t>Follow your teacher’s instructions to copy this line segment on a coordinate plane on the floor of your classroom, with different students standing at different points on the line segment.</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457200" marR="0" lvl="0" indent="-457200" algn="l" rtl="0">
                  <a:spcBef>
                    <a:spcPts val="0"/>
                  </a:spcBef>
                  <a:spcAft>
                    <a:spcPts val="0"/>
                  </a:spcAft>
                  <a:buClr>
                    <a:srgbClr val="000000"/>
                  </a:buClr>
                  <a:buSzPct val="100000"/>
                  <a:buFont typeface="Calibri"/>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Move on the coordinate plane to translate the entire line segment up 4 units and then down 4 units. Describe how the student “points” move.</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8" name="Google Shape;508;p7"/>
              <p:cNvSpPr txBox="1">
                <a:spLocks noRot="1" noChangeAspect="1" noMove="1" noResize="1" noEditPoints="1" noAdjustHandles="1" noChangeArrowheads="1" noChangeShapeType="1" noTextEdit="1"/>
              </p:cNvSpPr>
              <p:nvPr/>
            </p:nvSpPr>
            <p:spPr>
              <a:xfrm>
                <a:off x="4740442" y="1616140"/>
                <a:ext cx="7223760" cy="4786783"/>
              </a:xfrm>
              <a:prstGeom prst="rect">
                <a:avLst/>
              </a:prstGeom>
              <a:blipFill>
                <a:blip r:embed="rId4"/>
                <a:stretch>
                  <a:fillRect l="-1772" t="-1146" r="-759" b="-2675"/>
                </a:stretch>
              </a:blipFill>
              <a:ln>
                <a:noFill/>
              </a:ln>
            </p:spPr>
            <p:txBody>
              <a:bodyPr/>
              <a:lstStyle/>
              <a:p>
                <a:r>
                  <a:rPr lang="en-US">
                    <a:noFill/>
                  </a:rPr>
                  <a:t> </a:t>
                </a:r>
              </a:p>
            </p:txBody>
          </p:sp>
        </mc:Fallback>
      </mc:AlternateContent>
      <p:sp>
        <p:nvSpPr>
          <p:cNvPr id="509" name="Answer 509"/>
          <p:cNvSpPr txBox="1"/>
          <p:nvPr/>
        </p:nvSpPr>
        <p:spPr>
          <a:xfrm>
            <a:off x="698500" y="5746750"/>
            <a:ext cx="4064000" cy="1047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points move straight up or straight down. There is no movement left or right.</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(2 of 8)</a:t>
            </a:r>
            <a:endParaRPr dirty="0">
              <a:solidFill>
                <a:schemeClr val="bg1"/>
              </a:solidFill>
            </a:endParaRPr>
          </a:p>
        </p:txBody>
      </p:sp>
      <p:graphicFrame>
        <p:nvGraphicFramePr>
          <p:cNvPr id="516" name="Google Shape;516;p8"/>
          <p:cNvGraphicFramePr/>
          <p:nvPr>
            <p:extLst>
              <p:ext uri="{D42A27DB-BD31-4B8C-83A1-F6EECF244321}">
                <p14:modId xmlns:p14="http://schemas.microsoft.com/office/powerpoint/2010/main" val="3621066502"/>
              </p:ext>
            </p:extLst>
          </p:nvPr>
        </p:nvGraphicFramePr>
        <p:xfrm>
          <a:off x="1428728" y="2401833"/>
          <a:ext cx="6858000" cy="1828800"/>
        </p:xfrm>
        <a:graphic>
          <a:graphicData uri="http://schemas.openxmlformats.org/drawingml/2006/table">
            <a:tbl>
              <a:tblPr firstRow="1" bandRow="1">
                <a:noFill/>
                <a:tableStyleId>{279AD5BC-A5CE-4E06-8A13-34D5E8DF52F5}</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914400">
                <a:tc>
                  <a:txBody>
                    <a:bodyPr/>
                    <a:lstStyle/>
                    <a:p>
                      <a:pPr marL="0" marR="0" lvl="0" indent="0" algn="ctr" rtl="0">
                        <a:spcBef>
                          <a:spcPts val="0"/>
                        </a:spcBef>
                        <a:spcAft>
                          <a:spcPts val="0"/>
                        </a:spcAft>
                        <a:buNone/>
                      </a:pPr>
                      <a:r>
                        <a:rPr lang="en-US" sz="2000" u="none" strike="noStrike" cap="none" dirty="0">
                          <a:solidFill>
                            <a:schemeClr val="lt1"/>
                          </a:solidFill>
                        </a:rPr>
                        <a:t>Original Point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Up</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Down</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914400">
                <a:tc>
                  <a:txBody>
                    <a:bodyPr/>
                    <a:lstStyle/>
                    <a:p>
                      <a:pPr marL="0" marR="0" lvl="0" indent="0" algn="ctr" rtl="0">
                        <a:spcBef>
                          <a:spcPts val="0"/>
                        </a:spcBef>
                        <a:spcAft>
                          <a:spcPts val="0"/>
                        </a:spcAft>
                        <a:buNone/>
                      </a:pPr>
                      <a:r>
                        <a:rPr lang="en-US" sz="2000" dirty="0">
                          <a:solidFill>
                            <a:srgbClr val="000000"/>
                          </a:solidFill>
                        </a:rPr>
                        <a:t>(</a:t>
                      </a:r>
                      <a:r>
                        <a:rPr lang="en-US" sz="2000" i="1" dirty="0">
                          <a:solidFill>
                            <a:srgbClr val="000000"/>
                          </a:solidFill>
                        </a:rPr>
                        <a:t>x</a:t>
                      </a:r>
                      <a:r>
                        <a:rPr lang="en-US" sz="2000" dirty="0">
                          <a:solidFill>
                            <a:srgbClr val="000000"/>
                          </a:solidFill>
                        </a:rPr>
                        <a:t>, </a:t>
                      </a:r>
                      <a:r>
                        <a:rPr lang="en-US" sz="2000" i="1" dirty="0">
                          <a:solidFill>
                            <a:srgbClr val="000000"/>
                          </a:solidFill>
                        </a:rPr>
                        <a:t>y</a:t>
                      </a:r>
                      <a:r>
                        <a:rPr lang="en-US" sz="2000" dirty="0">
                          <a:solidFill>
                            <a:srgbClr val="000000"/>
                          </a:solidFill>
                        </a:rPr>
                        <a:t>)</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bl>
          </a:graphicData>
        </a:graphic>
      </p:graphicFrame>
      <p:sp>
        <p:nvSpPr>
          <p:cNvPr id="517" name="Google Shape;517;p8"/>
          <p:cNvSpPr txBox="1"/>
          <p:nvPr/>
        </p:nvSpPr>
        <p:spPr>
          <a:xfrm>
            <a:off x="777240" y="1615095"/>
            <a:ext cx="10024110" cy="52322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How do the translations affect the coordinates of the figure? </a:t>
            </a:r>
            <a:endParaRPr dirty="0"/>
          </a:p>
        </p:txBody>
      </p:sp>
      <p:sp>
        <p:nvSpPr>
          <p:cNvPr id="518" name="Answer 518"/>
          <p:cNvSpPr txBox="1"/>
          <p:nvPr/>
        </p:nvSpPr>
        <p:spPr>
          <a:xfrm>
            <a:off x="3714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
        <p:nvSpPr>
          <p:cNvPr id="519" name="Answer 519"/>
          <p:cNvSpPr txBox="1"/>
          <p:nvPr/>
        </p:nvSpPr>
        <p:spPr>
          <a:xfrm>
            <a:off x="6000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18"/>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5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(3 of 8)</a:t>
            </a:r>
            <a:endParaRPr dirty="0">
              <a:solidFill>
                <a:schemeClr val="bg1"/>
              </a:solidFill>
            </a:endParaRPr>
          </a:p>
        </p:txBody>
      </p:sp>
      <p:pic>
        <p:nvPicPr>
          <p:cNvPr id="525" name="Google Shape;525;p9"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571974" y="3001845"/>
            <a:ext cx="3046464" cy="3062931"/>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7E4BA802-88DF-01BB-2374-EB1633A922E5}"/>
                  </a:ext>
                </a:extLst>
              </p:cNvPr>
              <p:cNvSpPr txBox="1"/>
              <p:nvPr/>
            </p:nvSpPr>
            <p:spPr>
              <a:xfrm>
                <a:off x="777239" y="1615095"/>
                <a:ext cx="10372023"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3"/>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𝐶𝐷</m:t>
                        </m:r>
                      </m:e>
                    </m:acc>
                  </m:oMath>
                </a14:m>
                <a:r>
                  <a:rPr lang="en-US" sz="2800" dirty="0">
                    <a:solidFill>
                      <a:srgbClr val="000000"/>
                    </a:solidFill>
                    <a:latin typeface="Calibri"/>
                    <a:ea typeface="Calibri"/>
                    <a:cs typeface="Calibri"/>
                    <a:sym typeface="Calibri"/>
                  </a:rPr>
                  <a:t> on the coordinate plane so that it is a vertical translation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up 4 units. Compare the two line segments. Describe how they are related. </a:t>
                </a:r>
                <a:endParaRPr dirty="0"/>
              </a:p>
            </p:txBody>
          </p:sp>
        </mc:Choice>
        <mc:Fallback xmlns="">
          <p:sp>
            <p:nvSpPr>
              <p:cNvPr id="2" name="Google Shape;517;p8">
                <a:extLst>
                  <a:ext uri="{FF2B5EF4-FFF2-40B4-BE49-F238E27FC236}">
                    <a16:creationId xmlns:a16="http://schemas.microsoft.com/office/drawing/2014/main" id="{7E4BA802-88DF-01BB-2374-EB1633A922E5}"/>
                  </a:ext>
                </a:extLst>
              </p:cNvPr>
              <p:cNvSpPr txBox="1">
                <a:spLocks noRot="1" noChangeAspect="1" noMove="1" noResize="1" noEditPoints="1" noAdjustHandles="1" noChangeArrowheads="1" noChangeShapeType="1" noTextEdit="1"/>
              </p:cNvSpPr>
              <p:nvPr/>
            </p:nvSpPr>
            <p:spPr>
              <a:xfrm>
                <a:off x="777239" y="1615095"/>
                <a:ext cx="10372023" cy="1386750"/>
              </a:xfrm>
              <a:prstGeom prst="rect">
                <a:avLst/>
              </a:prstGeom>
              <a:blipFill>
                <a:blip r:embed="rId4"/>
                <a:stretch>
                  <a:fillRect l="-1234" t="-4846" r="-999" b="-11894"/>
                </a:stretch>
              </a:blipFill>
              <a:ln>
                <a:noFill/>
              </a:ln>
            </p:spPr>
            <p:txBody>
              <a:bodyPr/>
              <a:lstStyle/>
              <a:p>
                <a:r>
                  <a:rPr lang="en-US">
                    <a:noFill/>
                  </a:rPr>
                  <a:t> </a:t>
                </a:r>
              </a:p>
            </p:txBody>
          </p:sp>
        </mc:Fallback>
      </mc:AlternateContent>
      <p:sp>
        <p:nvSpPr>
          <p:cNvPr id="526" name="Answer 526"/>
          <p:cNvSpPr txBox="1"/>
          <p:nvPr/>
        </p:nvSpPr>
        <p:spPr>
          <a:xfrm>
            <a:off x="7874000" y="3048000"/>
            <a:ext cx="4064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C(−8, −4) and D(8, 12): every point of AB moves up 4.</a:t>
            </a:r>
          </a:p>
          <a:p>
            <a:pPr marL="0" indent="0" algn="l">
              <a:spcBef>
                <a:spcPts val="0"/>
              </a:spcBef>
              <a:spcAft>
                <a:spcPts val="300"/>
              </a:spcAft>
              <a:buNone/>
            </a:pPr>
            <a:r>
              <a:rPr lang="en-US" sz="2000" dirty="0">
                <a:solidFill>
                  <a:srgbClr val="FF0000"/>
                </a:solidFill>
              </a:rPr>
              <a:t>The segments are parallel, with CD 4 units above AB.</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2">
          <a:extLst>
            <a:ext uri="{FF2B5EF4-FFF2-40B4-BE49-F238E27FC236}">
              <a16:creationId xmlns:a16="http://schemas.microsoft.com/office/drawing/2014/main" id="{CF2CC8DD-23A1-B8D2-4F21-BD48469BDD4E}"/>
            </a:ext>
          </a:extLst>
        </p:cNvPr>
        <p:cNvGrpSpPr/>
        <p:nvPr/>
      </p:nvGrpSpPr>
      <p:grpSpPr>
        <a:xfrm>
          <a:off x="0" y="0"/>
          <a:ext cx="0" cy="0"/>
          <a:chOff x="0" y="0"/>
          <a:chExt cx="0" cy="0"/>
        </a:xfrm>
      </p:grpSpPr>
      <p:sp>
        <p:nvSpPr>
          <p:cNvPr id="523" name="Google Shape;523;p9">
            <a:extLst>
              <a:ext uri="{FF2B5EF4-FFF2-40B4-BE49-F238E27FC236}">
                <a16:creationId xmlns:a16="http://schemas.microsoft.com/office/drawing/2014/main" id="{645F5695-6CC4-ECA1-B5E5-F023D0D135BB}"/>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(4 of 8)</a:t>
            </a:r>
            <a:endParaRPr dirty="0">
              <a:solidFill>
                <a:schemeClr val="bg1"/>
              </a:solidFill>
            </a:endParaRPr>
          </a:p>
        </p:txBody>
      </p:sp>
      <p:sp>
        <p:nvSpPr>
          <p:cNvPr id="2" name="Google Shape;517;p8">
            <a:extLst>
              <a:ext uri="{FF2B5EF4-FFF2-40B4-BE49-F238E27FC236}">
                <a16:creationId xmlns:a16="http://schemas.microsoft.com/office/drawing/2014/main" id="{BA0CA76D-BD1B-7A86-F3FF-104E5AE134A6}"/>
              </a:ext>
            </a:extLst>
          </p:cNvPr>
          <p:cNvSpPr txBox="1"/>
          <p:nvPr/>
        </p:nvSpPr>
        <p:spPr>
          <a:xfrm>
            <a:off x="777239" y="1615095"/>
            <a:ext cx="10805161" cy="954067"/>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Move back to where you started. Then, multiply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by 2 and then by −2. Describe how the student “points” move. </a:t>
            </a:r>
            <a:endParaRPr dirty="0"/>
          </a:p>
        </p:txBody>
      </p:sp>
      <p:sp>
        <p:nvSpPr>
          <p:cNvPr id="524" name="Answer 524"/>
          <p:cNvSpPr txBox="1"/>
          <p:nvPr/>
        </p:nvSpPr>
        <p:spPr>
          <a:xfrm>
            <a:off x="774700" y="2540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Each point moves straight up or down, away from the x-axis (twice as far). The segment gets steeper: a vertical stretch. When the factor is −2, the points also reflect across the x-axis.</a:t>
            </a:r>
          </a:p>
        </p:txBody>
      </p:sp>
    </p:spTree>
    <p:extLst>
      <p:ext uri="{BB962C8B-B14F-4D97-AF65-F5344CB8AC3E}">
        <p14:creationId xmlns:p14="http://schemas.microsoft.com/office/powerpoint/2010/main" val="208882810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1"/>
        <p:cNvGrpSpPr/>
        <p:nvPr/>
      </p:nvGrpSpPr>
      <p:grpSpPr>
        <a:xfrm>
          <a:off x="0" y="0"/>
          <a:ext cx="0" cy="0"/>
          <a:chOff x="0" y="0"/>
          <a:chExt cx="0" cy="0"/>
        </a:xfrm>
      </p:grpSpPr>
      <p:sp>
        <p:nvSpPr>
          <p:cNvPr id="532" name="Google Shape;532;p1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(5 of 8)</a:t>
            </a:r>
            <a:endParaRPr dirty="0">
              <a:solidFill>
                <a:schemeClr val="bg1"/>
              </a:solidFill>
            </a:endParaRPr>
          </a:p>
        </p:txBody>
      </p:sp>
      <p:pic>
        <p:nvPicPr>
          <p:cNvPr id="534" name="Google Shape;534;p10"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18640970-F361-462C-25EC-8CED0D60591B}"/>
                  </a:ext>
                </a:extLst>
              </p:cNvPr>
              <p:cNvSpPr txBox="1"/>
              <p:nvPr/>
            </p:nvSpPr>
            <p:spPr>
              <a:xfrm>
                <a:off x="777239" y="1615095"/>
                <a:ext cx="10805161" cy="1385852"/>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5"/>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𝐸𝐹</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2" name="Google Shape;517;p8">
                <a:extLst>
                  <a:ext uri="{FF2B5EF4-FFF2-40B4-BE49-F238E27FC236}">
                    <a16:creationId xmlns:a16="http://schemas.microsoft.com/office/drawing/2014/main" id="{18640970-F361-462C-25EC-8CED0D60591B}"/>
                  </a:ext>
                </a:extLst>
              </p:cNvPr>
              <p:cNvSpPr txBox="1">
                <a:spLocks noRot="1" noChangeAspect="1" noMove="1" noResize="1" noEditPoints="1" noAdjustHandles="1" noChangeArrowheads="1" noChangeShapeType="1" noTextEdit="1"/>
              </p:cNvSpPr>
              <p:nvPr/>
            </p:nvSpPr>
            <p:spPr>
              <a:xfrm>
                <a:off x="777239" y="1615095"/>
                <a:ext cx="10805161" cy="1385852"/>
              </a:xfrm>
              <a:prstGeom prst="rect">
                <a:avLst/>
              </a:prstGeom>
              <a:blipFill>
                <a:blip r:embed="rId4"/>
                <a:stretch>
                  <a:fillRect l="-1184" t="-4846" r="-1015" b="-11894"/>
                </a:stretch>
              </a:blipFill>
              <a:ln>
                <a:noFill/>
              </a:ln>
            </p:spPr>
            <p:txBody>
              <a:bodyPr/>
              <a:lstStyle/>
              <a:p>
                <a:r>
                  <a:rPr lang="en-US">
                    <a:noFill/>
                  </a:rPr>
                  <a:t> </a:t>
                </a:r>
              </a:p>
            </p:txBody>
          </p:sp>
        </mc:Fallback>
      </mc:AlternateContent>
      <p:sp>
        <p:nvSpPr>
          <p:cNvPr id="535" name="Answer 535"/>
          <p:cNvSpPr txBox="1"/>
          <p:nvPr/>
        </p:nvSpPr>
        <p:spPr>
          <a:xfrm>
            <a:off x="7937500" y="29845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E(−8, −16) and F(8, 16).</a:t>
            </a:r>
          </a:p>
          <a:p>
            <a:pPr marL="0" indent="0" algn="l">
              <a:spcBef>
                <a:spcPts val="0"/>
              </a:spcBef>
              <a:spcAft>
                <a:spcPts val="300"/>
              </a:spcAft>
              <a:buNone/>
            </a:pPr>
            <a:r>
              <a:rPr lang="en-US" sz="2000" dirty="0">
                <a:solidFill>
                  <a:srgbClr val="FF0000"/>
                </a:solidFill>
              </a:rPr>
              <a:t>EF is steeper than AB (stretched vertically by a factor of 2); both pass through the origin.</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(6 of 8)</a:t>
            </a:r>
            <a:endParaRPr dirty="0">
              <a:solidFill>
                <a:schemeClr val="bg1"/>
              </a:solidFill>
            </a:endParaRPr>
          </a:p>
        </p:txBody>
      </p:sp>
      <p:pic>
        <p:nvPicPr>
          <p:cNvPr id="2" name="Google Shape;534;p10" descr="A graph of line segment A B on the coordinate plane. The line segment rises from left to right, from point A at (negative 8, negative 8) to point B at (8, 8).">
            <a:extLst>
              <a:ext uri="{FF2B5EF4-FFF2-40B4-BE49-F238E27FC236}">
                <a16:creationId xmlns:a16="http://schemas.microsoft.com/office/drawing/2014/main" id="{BE21F2D1-A40B-92F1-6DD1-A694FD3168C8}"/>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3" name="Google Shape;517;p8">
                <a:extLst>
                  <a:ext uri="{FF2B5EF4-FFF2-40B4-BE49-F238E27FC236}">
                    <a16:creationId xmlns:a16="http://schemas.microsoft.com/office/drawing/2014/main" id="{13D782E1-CE2A-2015-9B6C-524A9BD26A08}"/>
                  </a:ext>
                </a:extLst>
              </p:cNvPr>
              <p:cNvSpPr txBox="1"/>
              <p:nvPr/>
            </p:nvSpPr>
            <p:spPr>
              <a:xfrm>
                <a:off x="777239" y="1615095"/>
                <a:ext cx="10805161"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6"/>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3" name="Google Shape;517;p8">
                <a:extLst>
                  <a:ext uri="{FF2B5EF4-FFF2-40B4-BE49-F238E27FC236}">
                    <a16:creationId xmlns:a16="http://schemas.microsoft.com/office/drawing/2014/main" id="{13D782E1-CE2A-2015-9B6C-524A9BD26A08}"/>
                  </a:ext>
                </a:extLst>
              </p:cNvPr>
              <p:cNvSpPr txBox="1">
                <a:spLocks noRot="1" noChangeAspect="1" noMove="1" noResize="1" noEditPoints="1" noAdjustHandles="1" noChangeArrowheads="1" noChangeShapeType="1" noTextEdit="1"/>
              </p:cNvSpPr>
              <p:nvPr/>
            </p:nvSpPr>
            <p:spPr>
              <a:xfrm>
                <a:off x="777239" y="1615095"/>
                <a:ext cx="10805161" cy="1386750"/>
              </a:xfrm>
              <a:prstGeom prst="rect">
                <a:avLst/>
              </a:prstGeom>
              <a:blipFill>
                <a:blip r:embed="rId4"/>
                <a:stretch>
                  <a:fillRect l="-1184" t="-4846" r="-1410" b="-11894"/>
                </a:stretch>
              </a:blipFill>
              <a:ln>
                <a:noFill/>
              </a:ln>
            </p:spPr>
            <p:txBody>
              <a:bodyPr/>
              <a:lstStyle/>
              <a:p>
                <a:r>
                  <a:rPr lang="en-US">
                    <a:noFill/>
                  </a:rPr>
                  <a:t> </a:t>
                </a:r>
              </a:p>
            </p:txBody>
          </p:sp>
        </mc:Fallback>
      </mc:AlternateContent>
      <p:sp>
        <p:nvSpPr>
          <p:cNvPr id="541" name="Answer 541"/>
          <p:cNvSpPr txBox="1"/>
          <p:nvPr/>
        </p:nvSpPr>
        <p:spPr>
          <a:xfrm>
            <a:off x="7937500" y="29845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G(−8, 16) and H(8, −16).</a:t>
            </a:r>
          </a:p>
          <a:p>
            <a:pPr marL="0" indent="0" algn="l">
              <a:spcBef>
                <a:spcPts val="0"/>
              </a:spcBef>
              <a:spcAft>
                <a:spcPts val="300"/>
              </a:spcAft>
              <a:buNone/>
            </a:pPr>
            <a:r>
              <a:rPr lang="en-US" sz="2000" dirty="0">
                <a:solidFill>
                  <a:srgbClr val="FF0000"/>
                </a:solidFill>
              </a:rPr>
              <a:t>GH is steeper than AB, and it is reflected across the x-axis.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(7 of 8)</a:t>
            </a:r>
            <a:endParaRPr dirty="0">
              <a:solidFill>
                <a:schemeClr val="bg1"/>
              </a:solidFill>
            </a:endParaRPr>
          </a:p>
        </p:txBody>
      </p:sp>
      <p:sp>
        <p:nvSpPr>
          <p:cNvPr id="549" name="Google Shape;549;p12"/>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the Getting Started!</a:t>
            </a:r>
            <a:endParaRPr dirty="0"/>
          </a:p>
        </p:txBody>
      </p:sp>
      <p:pic>
        <p:nvPicPr>
          <p:cNvPr id="550" name="Google Shape;550;p1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25025" y="372494"/>
            <a:ext cx="1501270" cy="51820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1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(8 of 8)</a:t>
            </a:r>
            <a:endParaRPr dirty="0">
              <a:solidFill>
                <a:schemeClr val="bg1"/>
              </a:solidFill>
            </a:endParaRPr>
          </a:p>
        </p:txBody>
      </p:sp>
      <p:sp>
        <p:nvSpPr>
          <p:cNvPr id="557" name="Google Shape;557;p13">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14"/>
          <p:cNvSpPr txBox="1">
            <a:spLocks noGrp="1"/>
          </p:cNvSpPr>
          <p:nvPr>
            <p:ph type="title"/>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1.1</a:t>
            </a:r>
            <a:endParaRPr/>
          </a:p>
        </p:txBody>
      </p:sp>
      <p:sp>
        <p:nvSpPr>
          <p:cNvPr id="565" name="Google Shape;565;p14">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1.1</a:t>
            </a:r>
            <a:endParaRPr/>
          </a:p>
        </p:txBody>
      </p:sp>
      <p:sp>
        <p:nvSpPr>
          <p:cNvPr id="564" name="Google Shape;564;p14"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sp>
        <p:nvSpPr>
          <p:cNvPr id="571" name="Google Shape;571;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(1 of 10)</a:t>
            </a:r>
            <a:endParaRPr dirty="0">
              <a:solidFill>
                <a:schemeClr val="bg1"/>
              </a:solidFill>
            </a:endParaRPr>
          </a:p>
        </p:txBody>
      </p:sp>
      <p:sp>
        <p:nvSpPr>
          <p:cNvPr id="573" name="Google Shape;573;p15"/>
          <p:cNvSpPr txBox="1"/>
          <p:nvPr/>
        </p:nvSpPr>
        <p:spPr>
          <a:xfrm>
            <a:off x="777240" y="1602297"/>
            <a:ext cx="9910334" cy="493456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dirty="0">
                <a:solidFill>
                  <a:srgbClr val="000000"/>
                </a:solidFill>
                <a:latin typeface="Calibri"/>
                <a:ea typeface="Calibri"/>
                <a:cs typeface="Calibri"/>
                <a:sym typeface="Calibri"/>
              </a:rPr>
              <a:t>Let’s determine how translations impact the graph of the linear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The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is the </a:t>
            </a:r>
            <a:r>
              <a:rPr lang="en-US" sz="2800" i="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for the linear function family. A </a:t>
            </a:r>
            <a:r>
              <a:rPr lang="en-US" sz="2800" b="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is the simplest function of its type.</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16">
            <a:extLst>
              <a:ext uri="{C183D7F6-B498-43B3-948B-1728B52AA6E4}">
                <adec:decorative xmlns:adec="http://schemas.microsoft.com/office/drawing/2017/decorative" val="1"/>
              </a:ext>
            </a:extLst>
          </p:cNvPr>
          <p:cNvSpPr/>
          <p:nvPr/>
        </p:nvSpPr>
        <p:spPr>
          <a:xfrm>
            <a:off x="3363984" y="1484851"/>
            <a:ext cx="8229601" cy="5251509"/>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80" name="Google Shape;580;p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(2 of 10)</a:t>
            </a:r>
            <a:endParaRPr dirty="0">
              <a:solidFill>
                <a:schemeClr val="bg1"/>
              </a:solidFill>
            </a:endParaRPr>
          </a:p>
        </p:txBody>
      </p:sp>
      <p:sp>
        <p:nvSpPr>
          <p:cNvPr id="2" name="Rectangle 1">
            <a:extLst>
              <a:ext uri="{FF2B5EF4-FFF2-40B4-BE49-F238E27FC236}">
                <a16:creationId xmlns:a16="http://schemas.microsoft.com/office/drawing/2014/main" id="{4CCD9999-D8F5-3165-933B-F1C098709A1F}"/>
              </a:ext>
            </a:extLst>
          </p:cNvPr>
          <p:cNvSpPr/>
          <p:nvPr/>
        </p:nvSpPr>
        <p:spPr>
          <a:xfrm>
            <a:off x="777239" y="2063692"/>
            <a:ext cx="2267965" cy="396799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For the family of linear functions having the general form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any real numbers, the function</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1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0, is the parent function. It is the simplest linear function.</a:t>
            </a:r>
          </a:p>
        </p:txBody>
      </p:sp>
      <p:pic>
        <p:nvPicPr>
          <p:cNvPr id="581" name="Google Shape;581;p16"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2298" y="1271472"/>
            <a:ext cx="2758679" cy="426757"/>
          </a:xfrm>
          <a:prstGeom prst="rect">
            <a:avLst/>
          </a:prstGeom>
          <a:noFill/>
          <a:ln>
            <a:noFill/>
          </a:ln>
        </p:spPr>
      </p:pic>
      <p:sp>
        <p:nvSpPr>
          <p:cNvPr id="3" name="TextBox 2">
            <a:extLst>
              <a:ext uri="{FF2B5EF4-FFF2-40B4-BE49-F238E27FC236}">
                <a16:creationId xmlns:a16="http://schemas.microsoft.com/office/drawing/2014/main" id="{57F3613B-1B32-5534-C374-D5A1B637609A}"/>
              </a:ext>
            </a:extLst>
          </p:cNvPr>
          <p:cNvSpPr txBox="1"/>
          <p:nvPr/>
        </p:nvSpPr>
        <p:spPr>
          <a:xfrm>
            <a:off x="3607265" y="1728132"/>
            <a:ext cx="7747185" cy="2092881"/>
          </a:xfrm>
          <a:prstGeom prst="rect">
            <a:avLst/>
          </a:prstGeom>
          <a:noFill/>
        </p:spPr>
        <p:txBody>
          <a:bodyPr wrap="square" rtlCol="0">
            <a:spAutoFit/>
          </a:bodyPr>
          <a:lstStyle/>
          <a:p>
            <a:pPr algn="l">
              <a:spcAft>
                <a:spcPts val="1200"/>
              </a:spcAft>
            </a:pP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You can translate the graph of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down 5 units by moving each point 5 units down. The transformed graph is labeled as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algn="l"/>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To translate the point (−2, −2)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subtract 5 units from the output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The input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remains unchanged. The coordinates of the translated point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(−2, −7). The coordinates of four additional points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translated for you.</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pic>
        <p:nvPicPr>
          <p:cNvPr id="5" name="Picture 4" descr="A graph of two lines on the coordinate plane. The line f of x = x rises from left to right through the points from the table, including the points (0, 0) and (2, 2). The line m of x rises from left to right through the points from the table, including the points (0, negative 5) and (2, negative 3). Vertical arrows extend 5 units from each point on line f of x to a point below it on line m of x.">
            <a:extLst>
              <a:ext uri="{FF2B5EF4-FFF2-40B4-BE49-F238E27FC236}">
                <a16:creationId xmlns:a16="http://schemas.microsoft.com/office/drawing/2014/main" id="{78FA687F-D04F-F652-9937-38E5B5CD265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3573" y="3980402"/>
            <a:ext cx="2656562" cy="2656562"/>
          </a:xfrm>
          <a:prstGeom prst="rect">
            <a:avLst/>
          </a:prstGeom>
        </p:spPr>
      </p:pic>
      <p:graphicFrame>
        <p:nvGraphicFramePr>
          <p:cNvPr id="8" name="Table 7">
            <a:extLst>
              <a:ext uri="{FF2B5EF4-FFF2-40B4-BE49-F238E27FC236}">
                <a16:creationId xmlns:a16="http://schemas.microsoft.com/office/drawing/2014/main" id="{2528C5C1-A73F-6ADA-88E8-40ED62888986}"/>
              </a:ext>
            </a:extLst>
          </p:cNvPr>
          <p:cNvGraphicFramePr>
            <a:graphicFrameLocks noGrp="1"/>
          </p:cNvGraphicFramePr>
          <p:nvPr>
            <p:extLst>
              <p:ext uri="{D42A27DB-BD31-4B8C-83A1-F6EECF244321}">
                <p14:modId xmlns:p14="http://schemas.microsoft.com/office/powerpoint/2010/main" val="2680519871"/>
              </p:ext>
            </p:extLst>
          </p:nvPr>
        </p:nvGraphicFramePr>
        <p:xfrm>
          <a:off x="7006407" y="3781660"/>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EC937E16-0A17-A552-01B6-C1C0DD6DA216}"/>
              </a:ext>
            </a:extLst>
          </p:cNvPr>
          <p:cNvGraphicFramePr>
            <a:graphicFrameLocks noGrp="1"/>
          </p:cNvGraphicFramePr>
          <p:nvPr>
            <p:extLst>
              <p:ext uri="{D42A27DB-BD31-4B8C-83A1-F6EECF244321}">
                <p14:modId xmlns:p14="http://schemas.microsoft.com/office/powerpoint/2010/main" val="3852151508"/>
              </p:ext>
            </p:extLst>
          </p:nvPr>
        </p:nvGraphicFramePr>
        <p:xfrm>
          <a:off x="7006407" y="4420947"/>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9" name="Table 8">
            <a:extLst>
              <a:ext uri="{FF2B5EF4-FFF2-40B4-BE49-F238E27FC236}">
                <a16:creationId xmlns:a16="http://schemas.microsoft.com/office/drawing/2014/main" id="{9C6C8806-3F5C-738B-438D-E7552F92CF34}"/>
              </a:ext>
            </a:extLst>
          </p:cNvPr>
          <p:cNvGraphicFramePr>
            <a:graphicFrameLocks noGrp="1"/>
          </p:cNvGraphicFramePr>
          <p:nvPr>
            <p:extLst>
              <p:ext uri="{D42A27DB-BD31-4B8C-83A1-F6EECF244321}">
                <p14:modId xmlns:p14="http://schemas.microsoft.com/office/powerpoint/2010/main" val="3939477802"/>
              </p:ext>
            </p:extLst>
          </p:nvPr>
        </p:nvGraphicFramePr>
        <p:xfrm>
          <a:off x="8690993" y="3781660"/>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AD6AD6D1-5F4F-FB0C-1CB6-FFB859B70A30}"/>
              </a:ext>
            </a:extLst>
          </p:cNvPr>
          <p:cNvGraphicFramePr>
            <a:graphicFrameLocks noGrp="1"/>
          </p:cNvGraphicFramePr>
          <p:nvPr>
            <p:extLst>
              <p:ext uri="{D42A27DB-BD31-4B8C-83A1-F6EECF244321}">
                <p14:modId xmlns:p14="http://schemas.microsoft.com/office/powerpoint/2010/main" val="684825957"/>
              </p:ext>
            </p:extLst>
          </p:nvPr>
        </p:nvGraphicFramePr>
        <p:xfrm>
          <a:off x="8690993" y="4420947"/>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extLst>
                  <a:ext uri="{0D108BD9-81ED-4DB2-BD59-A6C34878D82A}">
                    <a16:rowId xmlns:a16="http://schemas.microsoft.com/office/drawing/2014/main" val="242399944"/>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sp>
        <p:nvSpPr>
          <p:cNvPr id="590" name="Google Shape;590;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(3 of 10)</a:t>
            </a:r>
            <a:endParaRPr dirty="0">
              <a:solidFill>
                <a:schemeClr val="bg1"/>
              </a:solidFill>
            </a:endParaRPr>
          </a:p>
        </p:txBody>
      </p:sp>
      <p:sp>
        <p:nvSpPr>
          <p:cNvPr id="2" name="Google Shape;573;p15">
            <a:extLst>
              <a:ext uri="{FF2B5EF4-FFF2-40B4-BE49-F238E27FC236}">
                <a16:creationId xmlns:a16="http://schemas.microsoft.com/office/drawing/2014/main" id="{0F1C6D8C-A53E-8869-B5C2-2FEE474675BC}"/>
              </a:ext>
            </a:extLst>
          </p:cNvPr>
          <p:cNvSpPr txBox="1"/>
          <p:nvPr/>
        </p:nvSpPr>
        <p:spPr>
          <a:xfrm>
            <a:off x="777239" y="1602297"/>
            <a:ext cx="10136837" cy="4934561"/>
          </a:xfrm>
          <a:prstGeom prst="rect">
            <a:avLst/>
          </a:prstGeom>
          <a:noFill/>
          <a:ln>
            <a:noFill/>
          </a:ln>
        </p:spPr>
        <p:txBody>
          <a:bodyPr spcFirstLastPara="1" wrap="square" lIns="91425" tIns="45700" rIns="91425" bIns="45700" anchor="t" anchorCtr="0">
            <a:noAutofit/>
          </a:bodyPr>
          <a:lstStyle/>
          <a:p>
            <a:pPr marL="511175" indent="-511175" algn="l">
              <a:buFont typeface="+mj-lt"/>
              <a:buAutoNum type="arabicPeriod"/>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Consider the translated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Identify the slope and</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of the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591" name="Answer 591"/>
          <p:cNvSpPr txBox="1"/>
          <p:nvPr/>
        </p:nvSpPr>
        <p:spPr>
          <a:xfrm>
            <a:off x="774700" y="29845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1;  y-intercept: (0, −5)</a:t>
            </a:r>
          </a:p>
          <a:p>
            <a:pPr marL="0" indent="0" algn="l">
              <a:spcBef>
                <a:spcPts val="0"/>
              </a:spcBef>
              <a:spcAft>
                <a:spcPts val="300"/>
              </a:spcAft>
              <a:buNone/>
            </a:pPr>
            <a:r>
              <a:rPr lang="en-US" sz="2400" dirty="0">
                <a:solidFill>
                  <a:srgbClr val="FF0000"/>
                </a:solidFill>
              </a:rPr>
              <a:t>m(x) = x − 5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96"/>
        <p:cNvGrpSpPr/>
        <p:nvPr/>
      </p:nvGrpSpPr>
      <p:grpSpPr>
        <a:xfrm>
          <a:off x="0" y="0"/>
          <a:ext cx="0" cy="0"/>
          <a:chOff x="0" y="0"/>
          <a:chExt cx="0" cy="0"/>
        </a:xfrm>
      </p:grpSpPr>
      <p:sp>
        <p:nvSpPr>
          <p:cNvPr id="598" name="Google Shape;598;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(4 of 10)</a:t>
            </a:r>
            <a:endParaRPr dirty="0">
              <a:solidFill>
                <a:schemeClr val="bg1"/>
              </a:solidFill>
            </a:endParaRPr>
          </a:p>
        </p:txBody>
      </p:sp>
      <p:sp>
        <p:nvSpPr>
          <p:cNvPr id="2" name="Google Shape;573;p15">
            <a:extLst>
              <a:ext uri="{FF2B5EF4-FFF2-40B4-BE49-F238E27FC236}">
                <a16:creationId xmlns:a16="http://schemas.microsoft.com/office/drawing/2014/main" id="{D733FEA7-2825-BF64-7DEE-85C51F26D218}"/>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indent="-514350" algn="l">
              <a:spcAft>
                <a:spcPts val="600"/>
              </a:spcAft>
              <a:buFont typeface="+mj-lt"/>
              <a:buAutoNum type="arabicPeriod" startAt="2"/>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Translate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again to create a new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p</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up 5 units. Label your graph as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Complete the table of corresponding points 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597" name="Google Shape;597;p1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799872" y="3079269"/>
            <a:ext cx="3877826" cy="3622226"/>
          </a:xfrm>
          <a:prstGeom prst="rect">
            <a:avLst/>
          </a:prstGeom>
          <a:noFill/>
          <a:ln>
            <a:noFill/>
          </a:ln>
        </p:spPr>
      </p:pic>
      <p:graphicFrame>
        <p:nvGraphicFramePr>
          <p:cNvPr id="5" name="Table 4">
            <a:extLst>
              <a:ext uri="{FF2B5EF4-FFF2-40B4-BE49-F238E27FC236}">
                <a16:creationId xmlns:a16="http://schemas.microsoft.com/office/drawing/2014/main" id="{328BE05C-E4EE-EDCE-5FD8-778174FDA001}"/>
              </a:ext>
            </a:extLst>
          </p:cNvPr>
          <p:cNvGraphicFramePr>
            <a:graphicFrameLocks noGrp="1"/>
          </p:cNvGraphicFramePr>
          <p:nvPr>
            <p:extLst>
              <p:ext uri="{D42A27DB-BD31-4B8C-83A1-F6EECF244321}">
                <p14:modId xmlns:p14="http://schemas.microsoft.com/office/powerpoint/2010/main" val="3453632045"/>
              </p:ext>
            </p:extLst>
          </p:nvPr>
        </p:nvGraphicFramePr>
        <p:xfrm>
          <a:off x="6512716" y="334287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3ADA399E-387B-E108-C3D0-0642B9943127}"/>
              </a:ext>
            </a:extLst>
          </p:cNvPr>
          <p:cNvGraphicFramePr>
            <a:graphicFrameLocks noGrp="1"/>
          </p:cNvGraphicFramePr>
          <p:nvPr>
            <p:extLst>
              <p:ext uri="{D42A27DB-BD31-4B8C-83A1-F6EECF244321}">
                <p14:modId xmlns:p14="http://schemas.microsoft.com/office/powerpoint/2010/main" val="1268328403"/>
              </p:ext>
            </p:extLst>
          </p:nvPr>
        </p:nvGraphicFramePr>
        <p:xfrm>
          <a:off x="6512716" y="398215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98629BFB-19BC-E69B-A87B-4CD7A0E3FB39}"/>
              </a:ext>
            </a:extLst>
          </p:cNvPr>
          <p:cNvGraphicFramePr>
            <a:graphicFrameLocks noGrp="1"/>
          </p:cNvGraphicFramePr>
          <p:nvPr>
            <p:extLst>
              <p:ext uri="{D42A27DB-BD31-4B8C-83A1-F6EECF244321}">
                <p14:modId xmlns:p14="http://schemas.microsoft.com/office/powerpoint/2010/main" val="3284003831"/>
              </p:ext>
            </p:extLst>
          </p:nvPr>
        </p:nvGraphicFramePr>
        <p:xfrm>
          <a:off x="8197302" y="334287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F84A9D00-48BF-EE6E-AC12-2208EF20CAD8}"/>
              </a:ext>
            </a:extLst>
          </p:cNvPr>
          <p:cNvGraphicFramePr>
            <a:graphicFrameLocks noGrp="1"/>
          </p:cNvGraphicFramePr>
          <p:nvPr>
            <p:extLst>
              <p:ext uri="{D42A27DB-BD31-4B8C-83A1-F6EECF244321}">
                <p14:modId xmlns:p14="http://schemas.microsoft.com/office/powerpoint/2010/main" val="2365514222"/>
              </p:ext>
            </p:extLst>
          </p:nvPr>
        </p:nvGraphicFramePr>
        <p:xfrm>
          <a:off x="8197302" y="398215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599" name="Answer 599"/>
          <p:cNvSpPr txBox="1"/>
          <p:nvPr/>
        </p:nvSpPr>
        <p:spPr>
          <a:xfrm>
            <a:off x="8934450" y="4349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600" name="Answer 600"/>
          <p:cNvSpPr txBox="1"/>
          <p:nvPr/>
        </p:nvSpPr>
        <p:spPr>
          <a:xfrm>
            <a:off x="8934450" y="4718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601" name="Answer 601"/>
          <p:cNvSpPr txBox="1"/>
          <p:nvPr/>
        </p:nvSpPr>
        <p:spPr>
          <a:xfrm>
            <a:off x="8934450" y="5086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602" name="Answer 602"/>
          <p:cNvSpPr txBox="1"/>
          <p:nvPr/>
        </p:nvSpPr>
        <p:spPr>
          <a:xfrm>
            <a:off x="8934450" y="545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6</a:t>
            </a:r>
          </a:p>
        </p:txBody>
      </p:sp>
      <p:sp>
        <p:nvSpPr>
          <p:cNvPr id="603" name="Answer 603"/>
          <p:cNvSpPr txBox="1"/>
          <p:nvPr/>
        </p:nvSpPr>
        <p:spPr>
          <a:xfrm>
            <a:off x="8934450" y="582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7</a:t>
            </a:r>
          </a:p>
        </p:txBody>
      </p:sp>
      <p:sp>
        <p:nvSpPr>
          <p:cNvPr id="604" name="Answer 604"/>
          <p:cNvSpPr txBox="1"/>
          <p:nvPr/>
        </p:nvSpPr>
        <p:spPr>
          <a:xfrm>
            <a:off x="6515100" y="6286500"/>
            <a:ext cx="5461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p(x): the line through (0, 5), parallel to f(x)</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99"/>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60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0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0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0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(5 of 10)</a:t>
            </a:r>
            <a:endParaRPr dirty="0">
              <a:solidFill>
                <a:schemeClr val="bg1"/>
              </a:solidFill>
            </a:endParaRPr>
          </a:p>
        </p:txBody>
      </p:sp>
      <p:sp>
        <p:nvSpPr>
          <p:cNvPr id="2" name="Google Shape;573;p15">
            <a:extLst>
              <a:ext uri="{FF2B5EF4-FFF2-40B4-BE49-F238E27FC236}">
                <a16:creationId xmlns:a16="http://schemas.microsoft.com/office/drawing/2014/main" id="{10E0F62F-9408-96E3-35EE-5A6EF0D6496C}"/>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-intercept of th</a:t>
            </a:r>
            <a:r>
              <a:rPr lang="en-US" sz="2800" dirty="0">
                <a:latin typeface="Calibri" panose="020F0502020204030204" pitchFamily="34" charset="0"/>
                <a:ea typeface="Calibri" panose="020F0502020204030204" pitchFamily="34" charset="0"/>
                <a:cs typeface="Calibri" panose="020F0502020204030204" pitchFamily="34" charset="0"/>
                <a:sym typeface="Calibri"/>
              </a:rPr>
              <a:t>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607" name="Answer 607"/>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1;  y-intercept: (0, 5)</a:t>
            </a:r>
          </a:p>
          <a:p>
            <a:pPr marL="0" indent="0" algn="l">
              <a:spcBef>
                <a:spcPts val="0"/>
              </a:spcBef>
              <a:spcAft>
                <a:spcPts val="300"/>
              </a:spcAft>
              <a:buNone/>
            </a:pPr>
            <a:r>
              <a:rPr lang="en-US" sz="2400" dirty="0">
                <a:solidFill>
                  <a:srgbClr val="FF0000"/>
                </a:solidFill>
              </a:rPr>
              <a:t>p(x) = x + 5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2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(6 of 10)</a:t>
            </a:r>
            <a:endParaRPr dirty="0">
              <a:solidFill>
                <a:schemeClr val="bg1"/>
              </a:solidFill>
            </a:endParaRPr>
          </a:p>
        </p:txBody>
      </p:sp>
      <p:sp>
        <p:nvSpPr>
          <p:cNvPr id="2" name="Google Shape;573;p15">
            <a:extLst>
              <a:ext uri="{FF2B5EF4-FFF2-40B4-BE49-F238E27FC236}">
                <a16:creationId xmlns:a16="http://schemas.microsoft.com/office/drawing/2014/main" id="{87B65744-7B6C-6798-F906-D186F0966DFA}"/>
              </a:ext>
            </a:extLst>
          </p:cNvPr>
          <p:cNvSpPr txBox="1"/>
          <p:nvPr/>
        </p:nvSpPr>
        <p:spPr>
          <a:xfrm>
            <a:off x="777239" y="1602297"/>
            <a:ext cx="10136837" cy="504178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shows a vertical translation of the function. This translation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&gt; 0, the resulting graph vertically shifts up.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vertically shifts down. The distance the graph is shifted is the absolute value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indent="-514350"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Compare the values of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(2) and </a:t>
            </a:r>
            <a:r>
              <a:rPr lang="en-US" sz="2800" i="1" dirty="0">
                <a:latin typeface="Calibri" panose="020F0502020204030204" pitchFamily="34" charset="0"/>
                <a:ea typeface="Calibri" panose="020F0502020204030204" pitchFamily="34" charset="0"/>
                <a:cs typeface="Calibri" panose="020F0502020204030204" pitchFamily="34" charset="0"/>
              </a:rPr>
              <a:t>p</a:t>
            </a:r>
            <a:r>
              <a:rPr lang="en-US" sz="2800" dirty="0">
                <a:latin typeface="Calibri" panose="020F0502020204030204" pitchFamily="34" charset="0"/>
                <a:ea typeface="Calibri" panose="020F0502020204030204" pitchFamily="34" charset="0"/>
                <a:cs typeface="Calibri" panose="020F0502020204030204" pitchFamily="34" charset="0"/>
              </a:rPr>
              <a:t>(2).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614" name="Answer 614"/>
          <p:cNvSpPr txBox="1"/>
          <p:nvPr/>
        </p:nvSpPr>
        <p:spPr>
          <a:xfrm>
            <a:off x="774700" y="48895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f(2) = 2 and p(2) = 7.</a:t>
            </a:r>
          </a:p>
          <a:p>
            <a:pPr marL="0" indent="0" algn="l">
              <a:spcBef>
                <a:spcPts val="0"/>
              </a:spcBef>
              <a:spcAft>
                <a:spcPts val="300"/>
              </a:spcAft>
              <a:buNone/>
            </a:pPr>
            <a:r>
              <a:rPr lang="en-US" sz="2400" dirty="0">
                <a:solidFill>
                  <a:srgbClr val="FF0000"/>
                </a:solidFill>
              </a:rPr>
              <a:t>The vertical translation increased the value at x = 2 by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sp>
        <p:nvSpPr>
          <p:cNvPr id="620" name="Google Shape;620;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(7 of 10)</a:t>
            </a:r>
            <a:endParaRPr dirty="0">
              <a:solidFill>
                <a:schemeClr val="bg1"/>
              </a:solidFill>
            </a:endParaRPr>
          </a:p>
        </p:txBody>
      </p:sp>
      <p:sp>
        <p:nvSpPr>
          <p:cNvPr id="2" name="Google Shape;573;p15">
            <a:extLst>
              <a:ext uri="{FF2B5EF4-FFF2-40B4-BE49-F238E27FC236}">
                <a16:creationId xmlns:a16="http://schemas.microsoft.com/office/drawing/2014/main" id="{D0FEF7CC-7173-A3AF-2B46-8BE9CD675FD8}"/>
              </a:ext>
            </a:extLst>
          </p:cNvPr>
          <p:cNvSpPr txBox="1"/>
          <p:nvPr/>
        </p:nvSpPr>
        <p:spPr>
          <a:xfrm>
            <a:off x="777239" y="1602298"/>
            <a:ext cx="10136837" cy="813732"/>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rabicPeriod" startAt="4"/>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2</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622" name="Google Shape;622;p21" descr="Two graphs. Both graphs of line j of x = 2 x minus 1 on the coordinate plane. The line rises from left to right through the points from the table, including the points (0, negative 1) and (1, 1)."/>
          <p:cNvPicPr preferRelativeResize="0"/>
          <p:nvPr/>
        </p:nvPicPr>
        <p:blipFill rotWithShape="1">
          <a:blip r:embed="rId3">
            <a:alphaModFix/>
          </a:blip>
          <a:srcRect/>
          <a:stretch/>
        </p:blipFill>
        <p:spPr>
          <a:xfrm>
            <a:off x="2653243" y="2299093"/>
            <a:ext cx="6883925" cy="3331900"/>
          </a:xfrm>
          <a:prstGeom prst="rect">
            <a:avLst/>
          </a:prstGeom>
          <a:noFill/>
          <a:ln>
            <a:noFill/>
          </a:ln>
        </p:spPr>
      </p:pic>
      <p:sp>
        <p:nvSpPr>
          <p:cNvPr id="3" name="Google Shape;573;p15">
            <a:extLst>
              <a:ext uri="{FF2B5EF4-FFF2-40B4-BE49-F238E27FC236}">
                <a16:creationId xmlns:a16="http://schemas.microsoft.com/office/drawing/2014/main" id="{D3E20108-F9D2-BACF-352F-6DEBBA5156AB}"/>
              </a:ext>
            </a:extLst>
          </p:cNvPr>
          <p:cNvSpPr txBox="1"/>
          <p:nvPr/>
        </p:nvSpPr>
        <p:spPr>
          <a:xfrm>
            <a:off x="777238" y="5630992"/>
            <a:ext cx="10136837" cy="987921"/>
          </a:xfrm>
          <a:prstGeom prst="rect">
            <a:avLst/>
          </a:prstGeom>
          <a:noFill/>
          <a:ln>
            <a:noFill/>
          </a:ln>
        </p:spPr>
        <p:txBody>
          <a:bodyPr spcFirstLastPara="1" wrap="square" lIns="91425" tIns="45700" rIns="91425" bIns="45700" anchor="t" anchorCtr="0">
            <a:noAutofit/>
          </a:bodyPr>
          <a:lstStyle/>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up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623" name="Answer 623"/>
          <p:cNvSpPr txBox="1"/>
          <p:nvPr/>
        </p:nvSpPr>
        <p:spPr>
          <a:xfrm>
            <a:off x="9461500" y="2667000"/>
            <a:ext cx="26035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q(x) = j(x) + 4</a:t>
            </a:r>
          </a:p>
          <a:p>
            <a:pPr marL="0" indent="0" algn="l">
              <a:spcBef>
                <a:spcPts val="0"/>
              </a:spcBef>
              <a:spcAft>
                <a:spcPts val="300"/>
              </a:spcAft>
              <a:buNone/>
            </a:pPr>
            <a:r>
              <a:rPr lang="en-US" sz="2200" dirty="0">
                <a:solidFill>
                  <a:srgbClr val="FF0000"/>
                </a:solidFill>
              </a:rPr>
              <a:t>Graph: the line through (0, 3), parallel to j(x)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(8 of 10)</a:t>
            </a:r>
            <a:endParaRPr dirty="0">
              <a:solidFill>
                <a:schemeClr val="bg1"/>
              </a:solidFill>
            </a:endParaRPr>
          </a:p>
        </p:txBody>
      </p:sp>
      <p:sp>
        <p:nvSpPr>
          <p:cNvPr id="3" name="Speech Bubble: Rectangle with Corners Rounded 2">
            <a:extLst>
              <a:ext uri="{FF2B5EF4-FFF2-40B4-BE49-F238E27FC236}">
                <a16:creationId xmlns:a16="http://schemas.microsoft.com/office/drawing/2014/main" id="{779730D7-744F-A6C4-6217-0B8F60DF803F}"/>
              </a:ext>
            </a:extLst>
          </p:cNvPr>
          <p:cNvSpPr/>
          <p:nvPr/>
        </p:nvSpPr>
        <p:spPr>
          <a:xfrm>
            <a:off x="777239" y="4790114"/>
            <a:ext cx="2209241" cy="1585519"/>
          </a:xfrm>
          <a:prstGeom prst="wedgeRoundRectCallout">
            <a:avLst>
              <a:gd name="adj1" fmla="val -34970"/>
              <a:gd name="adj2" fmla="val -67659"/>
              <a:gd name="adj3" fmla="val 16667"/>
            </a:avLst>
          </a:prstGeom>
          <a:no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rPr>
              <a:t>Ask Yourself… </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Will the graphs of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ever intersect?</a:t>
            </a:r>
          </a:p>
        </p:txBody>
      </p:sp>
      <p:sp>
        <p:nvSpPr>
          <p:cNvPr id="2" name="Google Shape;573;p15">
            <a:extLst>
              <a:ext uri="{FF2B5EF4-FFF2-40B4-BE49-F238E27FC236}">
                <a16:creationId xmlns:a16="http://schemas.microsoft.com/office/drawing/2014/main" id="{D41161D6-DDF7-7389-E2F9-D93936034DB8}"/>
              </a:ext>
            </a:extLst>
          </p:cNvPr>
          <p:cNvSpPr txBox="1"/>
          <p:nvPr/>
        </p:nvSpPr>
        <p:spPr>
          <a:xfrm>
            <a:off x="3246538" y="1602297"/>
            <a:ext cx="8800053" cy="4588777"/>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down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Rewrite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Compare the equations and graphs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What do you notice?</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629" name="Answer 629"/>
          <p:cNvSpPr txBox="1"/>
          <p:nvPr/>
        </p:nvSpPr>
        <p:spPr>
          <a:xfrm>
            <a:off x="3340100" y="2336800"/>
            <a:ext cx="8763000" cy="3492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r(x) = j(x) − 4  (graph: the line through (0, −5), parallel to j(x))</a:t>
            </a:r>
          </a:p>
        </p:txBody>
      </p:sp>
      <p:sp>
        <p:nvSpPr>
          <p:cNvPr id="630" name="Answer 630"/>
          <p:cNvSpPr txBox="1"/>
          <p:nvPr/>
        </p:nvSpPr>
        <p:spPr>
          <a:xfrm>
            <a:off x="3340100" y="3206750"/>
            <a:ext cx="8763000" cy="3492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q(x) = 2x + 3;  r(x) = 2x − 5</a:t>
            </a:r>
          </a:p>
        </p:txBody>
      </p:sp>
      <p:sp>
        <p:nvSpPr>
          <p:cNvPr id="631" name="Answer 631"/>
          <p:cNvSpPr txBox="1"/>
          <p:nvPr/>
        </p:nvSpPr>
        <p:spPr>
          <a:xfrm>
            <a:off x="3340100" y="4381500"/>
            <a:ext cx="8763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All three have slope 2 but different y-intercepts: (0, −1), (0, 3), (0, −5). The lines are parallel, so they never intersect.</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2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(9 of 10)</a:t>
            </a:r>
            <a:endParaRPr dirty="0">
              <a:solidFill>
                <a:schemeClr val="bg1"/>
              </a:solidFill>
            </a:endParaRPr>
          </a:p>
        </p:txBody>
      </p:sp>
      <p:sp>
        <p:nvSpPr>
          <p:cNvPr id="637" name="Google Shape;637;p2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638" name="Google Shape;638;p2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43"/>
        <p:cNvGrpSpPr/>
        <p:nvPr/>
      </p:nvGrpSpPr>
      <p:grpSpPr>
        <a:xfrm>
          <a:off x="0" y="0"/>
          <a:ext cx="0" cy="0"/>
          <a:chOff x="0" y="0"/>
          <a:chExt cx="0" cy="0"/>
        </a:xfrm>
      </p:grpSpPr>
      <p:sp>
        <p:nvSpPr>
          <p:cNvPr id="644" name="Google Shape;644;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(10 of 10)</a:t>
            </a:r>
            <a:endParaRPr dirty="0">
              <a:solidFill>
                <a:schemeClr val="bg1"/>
              </a:solidFill>
            </a:endParaRPr>
          </a:p>
        </p:txBody>
      </p:sp>
      <p:sp>
        <p:nvSpPr>
          <p:cNvPr id="645" name="Google Shape;645;p2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651" name="Google Shape;651;p25"/>
          <p:cNvSpPr txBox="1">
            <a:spLocks noGrp="1"/>
          </p:cNvSpPr>
          <p:nvPr>
            <p:ph type="title"/>
          </p:nvPr>
        </p:nvSpPr>
        <p:spPr>
          <a:xfrm>
            <a:off x="838200" y="-310394"/>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Day 2</a:t>
            </a:r>
            <a:endParaRPr/>
          </a:p>
        </p:txBody>
      </p:sp>
      <p:sp>
        <p:nvSpPr>
          <p:cNvPr id="652" name="Google Shape;652;p25"/>
          <p:cNvSpPr txBox="1">
            <a:spLocks noGrp="1"/>
          </p:cNvSpPr>
          <p:nvPr>
            <p:ph type="body" idx="1"/>
          </p:nvPr>
        </p:nvSpPr>
        <p:spPr>
          <a:xfrm>
            <a:off x="6568581" y="2832927"/>
            <a:ext cx="1152278"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2</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7"/>
        <p:cNvGrpSpPr/>
        <p:nvPr/>
      </p:nvGrpSpPr>
      <p:grpSpPr>
        <a:xfrm>
          <a:off x="0" y="0"/>
          <a:ext cx="0" cy="0"/>
          <a:chOff x="0" y="0"/>
          <a:chExt cx="0" cy="0"/>
        </a:xfrm>
      </p:grpSpPr>
      <p:sp>
        <p:nvSpPr>
          <p:cNvPr id="658" name="Google Shape;658;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3)</a:t>
            </a:r>
            <a:endParaRPr dirty="0">
              <a:solidFill>
                <a:schemeClr val="bg1"/>
              </a:solidFill>
            </a:endParaRPr>
          </a:p>
        </p:txBody>
      </p:sp>
      <p:sp>
        <p:nvSpPr>
          <p:cNvPr id="659" name="Google Shape;659;p26"/>
          <p:cNvSpPr txBox="1"/>
          <p:nvPr/>
        </p:nvSpPr>
        <p:spPr>
          <a:xfrm>
            <a:off x="777240" y="1596189"/>
            <a:ext cx="10090582"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27"/>
          <p:cNvSpPr txBox="1">
            <a:spLocks noGrp="1"/>
          </p:cNvSpPr>
          <p:nvPr>
            <p:ph type="title"/>
          </p:nvPr>
        </p:nvSpPr>
        <p:spPr>
          <a:xfrm>
            <a:off x="838200" y="-352338"/>
            <a:ext cx="10514013" cy="352338"/>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1.2</a:t>
            </a:r>
            <a:endParaRPr/>
          </a:p>
        </p:txBody>
      </p:sp>
      <p:sp>
        <p:nvSpPr>
          <p:cNvPr id="666" name="Google Shape;666;p27"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67" name="Google Shape;667;p2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1.2</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(1 of 8)</a:t>
            </a:r>
            <a:endParaRPr dirty="0">
              <a:solidFill>
                <a:schemeClr val="bg1"/>
              </a:solidFill>
            </a:endParaRPr>
          </a:p>
        </p:txBody>
      </p:sp>
      <p:sp>
        <p:nvSpPr>
          <p:cNvPr id="2" name="Google Shape;659;p26">
            <a:extLst>
              <a:ext uri="{FF2B5EF4-FFF2-40B4-BE49-F238E27FC236}">
                <a16:creationId xmlns:a16="http://schemas.microsoft.com/office/drawing/2014/main" id="{2646E6CD-0DEE-2F07-3DA1-CF8880940742}"/>
              </a:ext>
            </a:extLst>
          </p:cNvPr>
          <p:cNvSpPr txBox="1"/>
          <p:nvPr/>
        </p:nvSpPr>
        <p:spPr>
          <a:xfrm>
            <a:off x="777240" y="1596189"/>
            <a:ext cx="10791178"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the previous activity, you translated the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j</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− 1 up</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4 units to create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q</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+ 3.</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Will the graphs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ever intersect? Explain your reasoning.</a:t>
            </a:r>
            <a:endParaRPr dirty="0"/>
          </a:p>
        </p:txBody>
      </p:sp>
      <p:sp>
        <p:nvSpPr>
          <p:cNvPr id="674" name="Answer 674"/>
          <p:cNvSpPr txBox="1"/>
          <p:nvPr/>
        </p:nvSpPr>
        <p:spPr>
          <a:xfrm>
            <a:off x="774700" y="3175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No. Both lines have slope 2 and stay 4 units apart, so they are parallel.</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(2 of 8)</a:t>
            </a:r>
            <a:endParaRPr dirty="0">
              <a:solidFill>
                <a:schemeClr val="bg1"/>
              </a:solidFill>
            </a:endParaRPr>
          </a:p>
        </p:txBody>
      </p:sp>
      <p:pic>
        <p:nvPicPr>
          <p:cNvPr id="682" name="Google Shape;682;p29" descr="A graph of 2 lines on the coordinate plane. The lines rise from left to right. One line rises through the points A prime and B prime. The other line rises through the points A (x sub 1, y sub 1), below point A prime, and B (x sub 2, y sub 2), below point B prime."/>
          <p:cNvPicPr preferRelativeResize="0"/>
          <p:nvPr/>
        </p:nvPicPr>
        <p:blipFill rotWithShape="1">
          <a:blip r:embed="rId3">
            <a:alphaModFix/>
          </a:blip>
          <a:srcRect/>
          <a:stretch/>
        </p:blipFill>
        <p:spPr>
          <a:xfrm>
            <a:off x="1201703" y="3537842"/>
            <a:ext cx="2940257" cy="2712560"/>
          </a:xfrm>
          <a:prstGeom prst="rect">
            <a:avLst/>
          </a:prstGeom>
          <a:noFill/>
          <a:ln>
            <a:noFill/>
          </a:ln>
        </p:spPr>
      </p:pic>
      <p:sp>
        <p:nvSpPr>
          <p:cNvPr id="2" name="Google Shape;659;p26">
            <a:extLst>
              <a:ext uri="{FF2B5EF4-FFF2-40B4-BE49-F238E27FC236}">
                <a16:creationId xmlns:a16="http://schemas.microsoft.com/office/drawing/2014/main" id="{03DD5C7A-70D1-ED07-D59D-D5F6841095A6}"/>
              </a:ext>
            </a:extLst>
          </p:cNvPr>
          <p:cNvSpPr txBox="1"/>
          <p:nvPr/>
        </p:nvSpPr>
        <p:spPr>
          <a:xfrm>
            <a:off x="777240" y="1596189"/>
            <a:ext cx="10791178" cy="183281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 can algebraically prove that a line and its translation are parallel to each other.</a:t>
            </a:r>
          </a:p>
          <a:p>
            <a:pPr marL="514350" marR="0" lvl="0" indent="-514350" algn="l" rtl="0">
              <a:spcBef>
                <a:spcPts val="0"/>
              </a:spcBef>
              <a:spcAft>
                <a:spcPts val="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was translated a units up to create 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endParaRPr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Google Shape;688;p3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(3 of 8)</a:t>
            </a:r>
            <a:endParaRPr dirty="0">
              <a:solidFill>
                <a:schemeClr val="bg1"/>
              </a:solidFill>
            </a:endParaRPr>
          </a:p>
        </p:txBody>
      </p:sp>
      <p:sp>
        <p:nvSpPr>
          <p:cNvPr id="2" name="Google Shape;659;p26">
            <a:extLst>
              <a:ext uri="{FF2B5EF4-FFF2-40B4-BE49-F238E27FC236}">
                <a16:creationId xmlns:a16="http://schemas.microsoft.com/office/drawing/2014/main" id="{5F473C4F-F15C-3BD8-15A8-9B7B3E74036C}"/>
              </a:ext>
            </a:extLst>
          </p:cNvPr>
          <p:cNvSpPr txBox="1"/>
          <p:nvPr/>
        </p:nvSpPr>
        <p:spPr>
          <a:xfrm>
            <a:off x="777240" y="1596189"/>
            <a:ext cx="10371729" cy="4293866"/>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-coordinates of each corresponding point on the image</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pre-image.</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image.</a:t>
            </a:r>
            <a:endParaRPr dirty="0"/>
          </a:p>
        </p:txBody>
      </p:sp>
      <p:sp>
        <p:nvSpPr>
          <p:cNvPr id="689" name="Answer 689"/>
          <p:cNvSpPr txBox="1"/>
          <p:nvPr/>
        </p:nvSpPr>
        <p:spPr>
          <a:xfrm>
            <a:off x="1016000" y="2508250"/>
            <a:ext cx="1016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A′(x1, y1 + a)  and  B′(x2, y2 + a)</a:t>
            </a:r>
          </a:p>
        </p:txBody>
      </p:sp>
      <p:sp>
        <p:nvSpPr>
          <p:cNvPr id="690" name="Answer 690"/>
          <p:cNvSpPr txBox="1"/>
          <p:nvPr/>
        </p:nvSpPr>
        <p:spPr>
          <a:xfrm>
            <a:off x="1016000" y="3619500"/>
            <a:ext cx="1016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(y2 − y1) / (x2 − x1)</a:t>
            </a:r>
          </a:p>
        </p:txBody>
      </p:sp>
      <p:sp>
        <p:nvSpPr>
          <p:cNvPr id="691" name="Answer 691"/>
          <p:cNvSpPr txBox="1"/>
          <p:nvPr/>
        </p:nvSpPr>
        <p:spPr>
          <a:xfrm>
            <a:off x="1016000" y="4762500"/>
            <a:ext cx="10160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((y2 + a) − (y1 + a)) / (x2 − x1) = (y2 − y1) / (x2 − x1)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8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9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(4 of 8)</a:t>
            </a:r>
            <a:endParaRPr dirty="0">
              <a:solidFill>
                <a:schemeClr val="bg1"/>
              </a:solidFill>
            </a:endParaRPr>
          </a:p>
        </p:txBody>
      </p:sp>
      <p:sp>
        <p:nvSpPr>
          <p:cNvPr id="697" name="Google Shape;697;p31"/>
          <p:cNvSpPr/>
          <p:nvPr/>
        </p:nvSpPr>
        <p:spPr>
          <a:xfrm>
            <a:off x="777240" y="1922862"/>
            <a:ext cx="2335077" cy="2640749"/>
          </a:xfrm>
          <a:prstGeom prst="wedgeRoundRectCallout">
            <a:avLst>
              <a:gd name="adj1" fmla="val -34578"/>
              <a:gd name="adj2" fmla="val -60903"/>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original</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figure is the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pre-image and the transformation of the figure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image.</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696" name="Google Shape;696;p31"/>
          <p:cNvSpPr txBox="1"/>
          <p:nvPr/>
        </p:nvSpPr>
        <p:spPr>
          <a:xfrm>
            <a:off x="3347206" y="1602297"/>
            <a:ext cx="8581939" cy="464134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does the slope of the image compare to the slope of the pre-image?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would you describe the relationship between the graph of the image and the graph of the pre-image? </a:t>
            </a:r>
            <a:endParaRPr dirty="0"/>
          </a:p>
        </p:txBody>
      </p:sp>
      <p:sp>
        <p:nvSpPr>
          <p:cNvPr id="698" name="Answer 698"/>
          <p:cNvSpPr txBox="1"/>
          <p:nvPr/>
        </p:nvSpPr>
        <p:spPr>
          <a:xfrm>
            <a:off x="3441700" y="2540000"/>
            <a:ext cx="85725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slopes are the same.</a:t>
            </a:r>
          </a:p>
        </p:txBody>
      </p:sp>
      <p:sp>
        <p:nvSpPr>
          <p:cNvPr id="699" name="Answer 699"/>
          <p:cNvSpPr txBox="1"/>
          <p:nvPr/>
        </p:nvSpPr>
        <p:spPr>
          <a:xfrm>
            <a:off x="3441700" y="4064000"/>
            <a:ext cx="85725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graphs are parallel lines.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9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(5 of 8)</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64EBE237-92A2-0957-92DC-ADC76B41DACC}"/>
                  </a:ext>
                </a:extLst>
              </p:cNvPr>
              <p:cNvSpPr txBox="1"/>
              <p:nvPr/>
            </p:nvSpPr>
            <p:spPr>
              <a:xfrm>
                <a:off x="777240" y="1596190"/>
                <a:ext cx="9893556" cy="12631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Catalina and James each write the equation of a line that is parallel to </a:t>
                </a:r>
                <a14:m>
                  <m:oMath xmlns:m="http://schemas.openxmlformats.org/officeDocument/2006/math">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𝑦</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2</m:t>
                        </m:r>
                      </m:den>
                    </m:f>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𝑥</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+3</m:t>
                    </m:r>
                  </m:oMath>
                </a14:m>
                <a:r>
                  <a:rPr lang="en-US" sz="2800" dirty="0">
                    <a:latin typeface="Calibri" panose="020F0502020204030204" pitchFamily="34" charset="0"/>
                    <a:ea typeface="Calibri" panose="020F0502020204030204" pitchFamily="34" charset="0"/>
                    <a:cs typeface="Calibri" panose="020F0502020204030204" pitchFamily="34" charset="0"/>
                    <a:sym typeface="Calibri"/>
                  </a:rPr>
                  <a:t> and passes through the point (2, 9).</a:t>
                </a:r>
                <a:endParaRPr dirty="0"/>
              </a:p>
            </p:txBody>
          </p:sp>
        </mc:Choice>
        <mc:Fallback xmlns="">
          <p:sp>
            <p:nvSpPr>
              <p:cNvPr id="3" name="Google Shape;659;p26">
                <a:extLst>
                  <a:ext uri="{FF2B5EF4-FFF2-40B4-BE49-F238E27FC236}">
                    <a16:creationId xmlns:a16="http://schemas.microsoft.com/office/drawing/2014/main" id="{64EBE237-92A2-0957-92DC-ADC76B41DACC}"/>
                  </a:ext>
                </a:extLst>
              </p:cNvPr>
              <p:cNvSpPr txBox="1">
                <a:spLocks noRot="1" noChangeAspect="1" noMove="1" noResize="1" noEditPoints="1" noAdjustHandles="1" noChangeArrowheads="1" noChangeShapeType="1" noTextEdit="1"/>
              </p:cNvSpPr>
              <p:nvPr/>
            </p:nvSpPr>
            <p:spPr>
              <a:xfrm>
                <a:off x="777240" y="1596190"/>
                <a:ext cx="9893556" cy="1263192"/>
              </a:xfrm>
              <a:prstGeom prst="rect">
                <a:avLst/>
              </a:prstGeom>
              <a:blipFill>
                <a:blip r:embed="rId3"/>
                <a:stretch>
                  <a:fillRect l="-1295" t="-4831" r="-1603"/>
                </a:stretch>
              </a:blipFill>
              <a:ln>
                <a:noFill/>
              </a:ln>
            </p:spPr>
            <p:txBody>
              <a:bodyPr/>
              <a:lstStyle/>
              <a:p>
                <a:r>
                  <a:rPr lang="en-US">
                    <a:noFill/>
                  </a:rPr>
                  <a:t> </a:t>
                </a:r>
              </a:p>
            </p:txBody>
          </p:sp>
        </mc:Fallback>
      </mc:AlternateContent>
      <p:pic>
        <p:nvPicPr>
          <p:cNvPr id="5" name="Picture 4" descr="Catalina.&#10;I know that since the line are parallel, the new line is a translation of y equals one-half x plus 3. I can substitute the x value from ordered pair 2, 9 into y equals one-half x plus 3 to determine the corresponding point on the pre-image.&#10;y equals one-half times 2, plus 3 equals 4.&#10;The point that corresponds to the point 2, 9 on y equals one-half x plus 3 is 2, 4. Going from 2, 4 to 2, 9 is a translation up five units.&#10;Since y equals the sum of one-half x plus 3, plus 5 equals one-half x plus 8, the equation of the parallel line is y equals one-half x plus 8.">
            <a:extLst>
              <a:ext uri="{FF2B5EF4-FFF2-40B4-BE49-F238E27FC236}">
                <a16:creationId xmlns:a16="http://schemas.microsoft.com/office/drawing/2014/main" id="{F644DCB4-542B-AB52-1EAE-7D171E8BF68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7240" y="3413378"/>
            <a:ext cx="5395428" cy="2933954"/>
          </a:xfrm>
          <a:prstGeom prst="rect">
            <a:avLst/>
          </a:prstGeom>
        </p:spPr>
      </p:pic>
      <p:pic>
        <p:nvPicPr>
          <p:cNvPr id="7" name="Picture 6" descr="James.&#10;To write the eqation of the line, all I need to know is the slope formula, m equals y-sub 2 minus y-sub 1 over x-sub 2 minus x-sub 1.&#10;I used m equals one-half and 2, 9 for x, y.&#10;one-half equals y minus 9 over x minus 2.&#10;Then, I rearranged the equation to write it in general form.&#10;2 times the difference y minus 9 equals x minus 2.&#10;y minus 9 equals one-half times the difference x minus 2.&#10;y equals one-half times the difference x minus 2, plus 9.&#10;y equals one-half x minus 1 plus 9.&#10;y equals one-half x plus 8.">
            <a:extLst>
              <a:ext uri="{FF2B5EF4-FFF2-40B4-BE49-F238E27FC236}">
                <a16:creationId xmlns:a16="http://schemas.microsoft.com/office/drawing/2014/main" id="{92597626-7FD1-A854-1FC5-DAE71D99F2E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73623" y="3192379"/>
            <a:ext cx="5395428" cy="337595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18"/>
        <p:cNvGrpSpPr/>
        <p:nvPr/>
      </p:nvGrpSpPr>
      <p:grpSpPr>
        <a:xfrm>
          <a:off x="0" y="0"/>
          <a:ext cx="0" cy="0"/>
          <a:chOff x="0" y="0"/>
          <a:chExt cx="0" cy="0"/>
        </a:xfrm>
      </p:grpSpPr>
      <p:sp>
        <p:nvSpPr>
          <p:cNvPr id="719" name="Google Shape;719;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(6 of 8)</a:t>
            </a:r>
            <a:endParaRPr dirty="0">
              <a:solidFill>
                <a:schemeClr val="bg1"/>
              </a:solidFill>
            </a:endParaRPr>
          </a:p>
        </p:txBody>
      </p:sp>
      <p:sp>
        <p:nvSpPr>
          <p:cNvPr id="2" name="Google Shape;659;p26">
            <a:extLst>
              <a:ext uri="{FF2B5EF4-FFF2-40B4-BE49-F238E27FC236}">
                <a16:creationId xmlns:a16="http://schemas.microsoft.com/office/drawing/2014/main" id="{D33246F4-6CB8-CB5A-3BB8-F7D5EAE0A012}"/>
              </a:ext>
            </a:extLst>
          </p:cNvPr>
          <p:cNvSpPr txBox="1"/>
          <p:nvPr/>
        </p:nvSpPr>
        <p:spPr>
          <a:xfrm>
            <a:off x="777240" y="1596190"/>
            <a:ext cx="9893556" cy="41251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1200"/>
              </a:spcAft>
              <a:buClr>
                <a:srgbClr val="000000"/>
              </a:buClr>
              <a:buSzPts val="2800"/>
              <a:buFont typeface="+mj-lt"/>
              <a:buAutoNum type="arabicPeriod" startAt="3"/>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Which student’s method do you prefer and why?</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endParaRPr lang="en-US" sz="28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marL="514350" marR="0" lvl="0" indent="-514350" algn="l" rtl="0">
              <a:spcBef>
                <a:spcPts val="0"/>
              </a:spcBef>
              <a:spcAft>
                <a:spcPts val="1200"/>
              </a:spcAft>
              <a:buClr>
                <a:srgbClr val="000000"/>
              </a:buClr>
              <a:buSzPts val="2800"/>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is parallel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−3</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and passes through the point (−1, 5).</a:t>
            </a:r>
            <a:endParaRPr dirty="0"/>
          </a:p>
        </p:txBody>
      </p:sp>
      <p:sp>
        <p:nvSpPr>
          <p:cNvPr id="720" name="Answer 720"/>
          <p:cNvSpPr txBox="1"/>
          <p:nvPr/>
        </p:nvSpPr>
        <p:spPr>
          <a:xfrm>
            <a:off x="774700" y="2540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Answers will vary. Catalina translates the given line up 5; James uses the slope formula with the point (2, 9). Both get y = (1/2)x + 8.</a:t>
            </a:r>
          </a:p>
        </p:txBody>
      </p:sp>
      <p:sp>
        <p:nvSpPr>
          <p:cNvPr id="721" name="Answer 721"/>
          <p:cNvSpPr txBox="1"/>
          <p:nvPr/>
        </p:nvSpPr>
        <p:spPr>
          <a:xfrm>
            <a:off x="774700" y="4318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y = −3x + 2</a:t>
            </a:r>
          </a:p>
          <a:p>
            <a:pPr marL="0" indent="0" algn="l">
              <a:spcBef>
                <a:spcPts val="0"/>
              </a:spcBef>
              <a:spcAft>
                <a:spcPts val="300"/>
              </a:spcAft>
              <a:buNone/>
            </a:pPr>
            <a:r>
              <a:rPr lang="en-US" sz="2400" dirty="0">
                <a:solidFill>
                  <a:srgbClr val="FF0000"/>
                </a:solidFill>
              </a:rPr>
              <a:t>Parallel, so the slope is −3: 5 = −3(−1) + b, so b = 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7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25"/>
        <p:cNvGrpSpPr/>
        <p:nvPr/>
      </p:nvGrpSpPr>
      <p:grpSpPr>
        <a:xfrm>
          <a:off x="0" y="0"/>
          <a:ext cx="0" cy="0"/>
          <a:chOff x="0" y="0"/>
          <a:chExt cx="0" cy="0"/>
        </a:xfrm>
      </p:grpSpPr>
      <p:sp>
        <p:nvSpPr>
          <p:cNvPr id="726" name="Google Shape;726;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(7 of 8)</a:t>
            </a:r>
            <a:endParaRPr dirty="0">
              <a:solidFill>
                <a:schemeClr val="bg1"/>
              </a:solidFill>
            </a:endParaRPr>
          </a:p>
        </p:txBody>
      </p:sp>
      <p:sp>
        <p:nvSpPr>
          <p:cNvPr id="727" name="Google Shape;727;p35"/>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1.2!</a:t>
            </a:r>
            <a:endParaRPr/>
          </a:p>
        </p:txBody>
      </p:sp>
      <p:pic>
        <p:nvPicPr>
          <p:cNvPr id="728" name="Google Shape;728;p35">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3"/>
        <p:cNvGrpSpPr/>
        <p:nvPr/>
      </p:nvGrpSpPr>
      <p:grpSpPr>
        <a:xfrm>
          <a:off x="0" y="0"/>
          <a:ext cx="0" cy="0"/>
          <a:chOff x="0" y="0"/>
          <a:chExt cx="0" cy="0"/>
        </a:xfrm>
      </p:grpSpPr>
      <p:sp>
        <p:nvSpPr>
          <p:cNvPr id="734" name="Google Shape;734;p3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(8 of 8)</a:t>
            </a:r>
            <a:endParaRPr dirty="0">
              <a:solidFill>
                <a:schemeClr val="bg1"/>
              </a:solidFill>
            </a:endParaRPr>
          </a:p>
        </p:txBody>
      </p:sp>
      <p:sp>
        <p:nvSpPr>
          <p:cNvPr id="735" name="Google Shape;735;p36">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0"/>
        <p:cNvGrpSpPr/>
        <p:nvPr/>
      </p:nvGrpSpPr>
      <p:grpSpPr>
        <a:xfrm>
          <a:off x="0" y="0"/>
          <a:ext cx="0" cy="0"/>
          <a:chOff x="0" y="0"/>
          <a:chExt cx="0" cy="0"/>
        </a:xfrm>
      </p:grpSpPr>
      <p:sp>
        <p:nvSpPr>
          <p:cNvPr id="741" name="Google Shape;741;p37"/>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1.3</a:t>
            </a:r>
            <a:endParaRPr dirty="0"/>
          </a:p>
        </p:txBody>
      </p:sp>
      <p:sp>
        <p:nvSpPr>
          <p:cNvPr id="742" name="Google Shape;742;p37"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743" name="Google Shape;743;p3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1.3</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(1 of 9)</a:t>
            </a:r>
            <a:endParaRPr dirty="0">
              <a:solidFill>
                <a:schemeClr val="bg1"/>
              </a:solidFill>
            </a:endParaRPr>
          </a:p>
        </p:txBody>
      </p:sp>
      <p:sp>
        <p:nvSpPr>
          <p:cNvPr id="2" name="Google Shape;659;p26">
            <a:extLst>
              <a:ext uri="{FF2B5EF4-FFF2-40B4-BE49-F238E27FC236}">
                <a16:creationId xmlns:a16="http://schemas.microsoft.com/office/drawing/2014/main" id="{7B07923D-D9B2-28AD-9B91-D6DC19DD0699}"/>
              </a:ext>
            </a:extLst>
          </p:cNvPr>
          <p:cNvSpPr txBox="1"/>
          <p:nvPr/>
        </p:nvSpPr>
        <p:spPr>
          <a:xfrm>
            <a:off x="777240" y="1263193"/>
            <a:ext cx="10791178" cy="29396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this activity, let’s consider how dilations impact the graph of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53" name="Google Shape;753;p3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900718"/>
            <a:ext cx="2937661" cy="2880508"/>
          </a:xfrm>
          <a:prstGeom prst="rect">
            <a:avLst/>
          </a:prstGeom>
          <a:noFill/>
          <a:ln>
            <a:noFill/>
          </a:ln>
        </p:spPr>
      </p:pic>
      <p:graphicFrame>
        <p:nvGraphicFramePr>
          <p:cNvPr id="5" name="Table 4">
            <a:extLst>
              <a:ext uri="{FF2B5EF4-FFF2-40B4-BE49-F238E27FC236}">
                <a16:creationId xmlns:a16="http://schemas.microsoft.com/office/drawing/2014/main" id="{10D6A821-2047-A7BF-914C-B6AA482EB4A4}"/>
              </a:ext>
            </a:extLst>
          </p:cNvPr>
          <p:cNvGraphicFramePr>
            <a:graphicFrameLocks noGrp="1"/>
          </p:cNvGraphicFramePr>
          <p:nvPr>
            <p:extLst>
              <p:ext uri="{D42A27DB-BD31-4B8C-83A1-F6EECF244321}">
                <p14:modId xmlns:p14="http://schemas.microsoft.com/office/powerpoint/2010/main" val="3171744844"/>
              </p:ext>
            </p:extLst>
          </p:nvPr>
        </p:nvGraphicFramePr>
        <p:xfrm>
          <a:off x="5529029" y="3916899"/>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FEBEB89F-FE8C-A0BC-4241-10D8B33B61F8}"/>
              </a:ext>
            </a:extLst>
          </p:cNvPr>
          <p:cNvGraphicFramePr>
            <a:graphicFrameLocks noGrp="1"/>
          </p:cNvGraphicFramePr>
          <p:nvPr>
            <p:extLst>
              <p:ext uri="{D42A27DB-BD31-4B8C-83A1-F6EECF244321}">
                <p14:modId xmlns:p14="http://schemas.microsoft.com/office/powerpoint/2010/main" val="3155997650"/>
              </p:ext>
            </p:extLst>
          </p:nvPr>
        </p:nvGraphicFramePr>
        <p:xfrm>
          <a:off x="5529029" y="4556186"/>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CFBACBFD-1114-C3D7-8571-73A104F0EE5B}"/>
              </a:ext>
            </a:extLst>
          </p:cNvPr>
          <p:cNvGraphicFramePr>
            <a:graphicFrameLocks noGrp="1"/>
          </p:cNvGraphicFramePr>
          <p:nvPr>
            <p:extLst>
              <p:ext uri="{D42A27DB-BD31-4B8C-83A1-F6EECF244321}">
                <p14:modId xmlns:p14="http://schemas.microsoft.com/office/powerpoint/2010/main" val="3216935715"/>
              </p:ext>
            </p:extLst>
          </p:nvPr>
        </p:nvGraphicFramePr>
        <p:xfrm>
          <a:off x="7213615" y="3916899"/>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2B048231-A374-35C0-1D30-820F0EC52753}"/>
              </a:ext>
            </a:extLst>
          </p:cNvPr>
          <p:cNvGraphicFramePr>
            <a:graphicFrameLocks noGrp="1"/>
          </p:cNvGraphicFramePr>
          <p:nvPr>
            <p:extLst>
              <p:ext uri="{D42A27DB-BD31-4B8C-83A1-F6EECF244321}">
                <p14:modId xmlns:p14="http://schemas.microsoft.com/office/powerpoint/2010/main" val="296210533"/>
              </p:ext>
            </p:extLst>
          </p:nvPr>
        </p:nvGraphicFramePr>
        <p:xfrm>
          <a:off x="7213615" y="4556186"/>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754" name="Answer 754"/>
          <p:cNvSpPr txBox="1"/>
          <p:nvPr/>
        </p:nvSpPr>
        <p:spPr>
          <a:xfrm>
            <a:off x="79502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755" name="Answer 755"/>
          <p:cNvSpPr txBox="1"/>
          <p:nvPr/>
        </p:nvSpPr>
        <p:spPr>
          <a:xfrm>
            <a:off x="79502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756" name="Answer 756"/>
          <p:cNvSpPr txBox="1"/>
          <p:nvPr/>
        </p:nvSpPr>
        <p:spPr>
          <a:xfrm>
            <a:off x="79502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757" name="Answer 757"/>
          <p:cNvSpPr txBox="1"/>
          <p:nvPr/>
        </p:nvSpPr>
        <p:spPr>
          <a:xfrm>
            <a:off x="7950200" y="6032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758" name="Answer 758"/>
          <p:cNvSpPr txBox="1"/>
          <p:nvPr/>
        </p:nvSpPr>
        <p:spPr>
          <a:xfrm>
            <a:off x="7950200" y="6400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759" name="Answer 759"/>
          <p:cNvSpPr txBox="1"/>
          <p:nvPr/>
        </p:nvSpPr>
        <p:spPr>
          <a:xfrm>
            <a:off x="8890000" y="40640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4)</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54"/>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75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5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5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5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(2 of 9)</a:t>
            </a:r>
            <a:endParaRPr dirty="0">
              <a:solidFill>
                <a:schemeClr val="bg1"/>
              </a:solidFill>
            </a:endParaRPr>
          </a:p>
        </p:txBody>
      </p:sp>
      <p:sp>
        <p:nvSpPr>
          <p:cNvPr id="2" name="Google Shape;659;p26">
            <a:extLst>
              <a:ext uri="{FF2B5EF4-FFF2-40B4-BE49-F238E27FC236}">
                <a16:creationId xmlns:a16="http://schemas.microsoft.com/office/drawing/2014/main" id="{B100799E-3180-D2B7-69CF-C41894B886C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p:txBody>
      </p:sp>
      <p:sp>
        <p:nvSpPr>
          <p:cNvPr id="762" name="Answer 762"/>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4;  y-intercept: (0, 0)</a:t>
            </a:r>
          </a:p>
          <a:p>
            <a:pPr marL="0" indent="0" algn="l">
              <a:spcBef>
                <a:spcPts val="0"/>
              </a:spcBef>
              <a:spcAft>
                <a:spcPts val="300"/>
              </a:spcAft>
              <a:buNone/>
            </a:pPr>
            <a:r>
              <a:rPr lang="en-US" sz="2400" dirty="0">
                <a:solidFill>
                  <a:srgbClr val="FF0000"/>
                </a:solidFill>
              </a:rPr>
              <a:t>a(x) = 4x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83ECC9F4-5D00-C4F4-37A6-CAA330484704}"/>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1CE0DB58-223B-5A49-6533-F64527316E13}"/>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(3 of 9)</a:t>
            </a:r>
            <a:endParaRPr dirty="0">
              <a:solidFill>
                <a:schemeClr val="bg1"/>
              </a:solidFill>
            </a:endParaRPr>
          </a:p>
        </p:txBody>
      </p:sp>
      <mc:AlternateContent xmlns:mc="http://schemas.openxmlformats.org/markup-compatibility/2006" xmlns:a14="http://schemas.microsoft.com/office/drawing/2010/main">
        <mc:Choice Requires="a14">
          <p:sp>
            <p:nvSpPr>
              <p:cNvPr id="2" name="Google Shape;659;p26">
                <a:extLst>
                  <a:ext uri="{FF2B5EF4-FFF2-40B4-BE49-F238E27FC236}">
                    <a16:creationId xmlns:a16="http://schemas.microsoft.com/office/drawing/2014/main" id="{C5FCD884-0764-6B4B-81BC-62183E1016C2}"/>
                  </a:ext>
                </a:extLst>
              </p:cNvPr>
              <p:cNvSpPr txBox="1"/>
              <p:nvPr/>
            </p:nvSpPr>
            <p:spPr>
              <a:xfrm>
                <a:off x="777240" y="1602297"/>
                <a:ext cx="10791178" cy="260058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ctrlPr>
                      </m:fPr>
                      <m:num>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2</m:t>
                        </m:r>
                      </m:num>
                      <m:den>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3</m:t>
                        </m:r>
                      </m:den>
                    </m:f>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mc:Choice>
        <mc:Fallback xmlns="">
          <p:sp>
            <p:nvSpPr>
              <p:cNvPr id="2" name="Google Shape;659;p26">
                <a:extLst>
                  <a:ext uri="{FF2B5EF4-FFF2-40B4-BE49-F238E27FC236}">
                    <a16:creationId xmlns:a16="http://schemas.microsoft.com/office/drawing/2014/main" id="{C5FCD884-0764-6B4B-81BC-62183E1016C2}"/>
                  </a:ext>
                </a:extLst>
              </p:cNvPr>
              <p:cNvSpPr txBox="1">
                <a:spLocks noRot="1" noChangeAspect="1" noMove="1" noResize="1" noEditPoints="1" noAdjustHandles="1" noChangeArrowheads="1" noChangeShapeType="1" noTextEdit="1"/>
              </p:cNvSpPr>
              <p:nvPr/>
            </p:nvSpPr>
            <p:spPr>
              <a:xfrm>
                <a:off x="777240" y="1602297"/>
                <a:ext cx="10791178" cy="2600588"/>
              </a:xfrm>
              <a:prstGeom prst="rect">
                <a:avLst/>
              </a:prstGeom>
              <a:blipFill>
                <a:blip r:embed="rId3"/>
                <a:stretch>
                  <a:fillRect l="-1243"/>
                </a:stretch>
              </a:blipFill>
              <a:ln>
                <a:noFill/>
              </a:ln>
            </p:spPr>
            <p:txBody>
              <a:bodyPr/>
              <a:lstStyle/>
              <a:p>
                <a:r>
                  <a:rPr lang="en-US">
                    <a:noFill/>
                  </a:rPr>
                  <a:t> </a:t>
                </a:r>
              </a:p>
            </p:txBody>
          </p:sp>
        </mc:Fallback>
      </mc:AlternateContent>
      <p:pic>
        <p:nvPicPr>
          <p:cNvPr id="753"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A67A6609-D04C-A4FF-E586-DDCAEFC3C808}"/>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5" name="Table 4">
            <a:extLst>
              <a:ext uri="{FF2B5EF4-FFF2-40B4-BE49-F238E27FC236}">
                <a16:creationId xmlns:a16="http://schemas.microsoft.com/office/drawing/2014/main" id="{6C479491-C0EA-27D9-0F34-5D22D726414C}"/>
              </a:ext>
            </a:extLst>
          </p:cNvPr>
          <p:cNvGraphicFramePr>
            <a:graphicFrameLocks noGrp="1"/>
          </p:cNvGraphicFramePr>
          <p:nvPr>
            <p:extLst>
              <p:ext uri="{D42A27DB-BD31-4B8C-83A1-F6EECF244321}">
                <p14:modId xmlns:p14="http://schemas.microsoft.com/office/powerpoint/2010/main" val="1867432652"/>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5364C6AC-1892-CBB3-ABCA-21EC04A83A80}"/>
              </a:ext>
            </a:extLst>
          </p:cNvPr>
          <p:cNvGraphicFramePr>
            <a:graphicFrameLocks noGrp="1"/>
          </p:cNvGraphicFramePr>
          <p:nvPr>
            <p:extLst>
              <p:ext uri="{D42A27DB-BD31-4B8C-83A1-F6EECF244321}">
                <p14:modId xmlns:p14="http://schemas.microsoft.com/office/powerpoint/2010/main" val="426169262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D37BC2CC-2BEB-51C3-5279-974264B04BEB}"/>
              </a:ext>
            </a:extLst>
          </p:cNvPr>
          <p:cNvGraphicFramePr>
            <a:graphicFrameLocks noGrp="1"/>
          </p:cNvGraphicFramePr>
          <p:nvPr>
            <p:extLst>
              <p:ext uri="{D42A27DB-BD31-4B8C-83A1-F6EECF244321}">
                <p14:modId xmlns:p14="http://schemas.microsoft.com/office/powerpoint/2010/main" val="2903245087"/>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4A4367A3-9597-65E8-33C4-9BD44919EE81}"/>
              </a:ext>
            </a:extLst>
          </p:cNvPr>
          <p:cNvGraphicFramePr>
            <a:graphicFrameLocks noGrp="1"/>
          </p:cNvGraphicFramePr>
          <p:nvPr>
            <p:extLst>
              <p:ext uri="{D42A27DB-BD31-4B8C-83A1-F6EECF244321}">
                <p14:modId xmlns:p14="http://schemas.microsoft.com/office/powerpoint/2010/main" val="1590656683"/>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754" name="Answer 754"/>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755" name="Answer 755"/>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756" name="Answer 756"/>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757" name="Answer 757"/>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758" name="Answer 758"/>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759" name="Answer 759"/>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(3, 2)</a:t>
            </a:r>
          </a:p>
        </p:txBody>
      </p:sp>
    </p:spTree>
    <p:extLst>
      <p:ext uri="{BB962C8B-B14F-4D97-AF65-F5344CB8AC3E}">
        <p14:creationId xmlns:p14="http://schemas.microsoft.com/office/powerpoint/2010/main" val="1195593053"/>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54"/>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75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5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5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5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D1E5CCA-C01A-E48E-8850-6AE846051A5C}"/>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D1106310-D8A7-3D41-B1E2-64226B532F0D}"/>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(4 of 9)</a:t>
            </a:r>
            <a:endParaRPr dirty="0">
              <a:solidFill>
                <a:schemeClr val="bg1"/>
              </a:solidFill>
            </a:endParaRPr>
          </a:p>
        </p:txBody>
      </p:sp>
      <p:sp>
        <p:nvSpPr>
          <p:cNvPr id="2" name="Google Shape;659;p26">
            <a:extLst>
              <a:ext uri="{FF2B5EF4-FFF2-40B4-BE49-F238E27FC236}">
                <a16:creationId xmlns:a16="http://schemas.microsoft.com/office/drawing/2014/main" id="{6453F125-8162-5F34-C20D-6CF7F09BFFE9}"/>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p:txBody>
      </p:sp>
      <p:sp>
        <p:nvSpPr>
          <p:cNvPr id="762" name="Answer 762"/>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2/3;  y-intercept: (0, 0)</a:t>
            </a:r>
          </a:p>
          <a:p>
            <a:pPr marL="0" indent="0" algn="l">
              <a:spcBef>
                <a:spcPts val="0"/>
              </a:spcBef>
              <a:spcAft>
                <a:spcPts val="300"/>
              </a:spcAft>
              <a:buNone/>
            </a:pPr>
            <a:r>
              <a:rPr lang="en-US" sz="2400" dirty="0">
                <a:solidFill>
                  <a:srgbClr val="FF0000"/>
                </a:solidFill>
              </a:rPr>
              <a:t>b(x) = (2/3)x</a:t>
            </a:r>
          </a:p>
        </p:txBody>
      </p:sp>
    </p:spTree>
    <p:extLst>
      <p:ext uri="{BB962C8B-B14F-4D97-AF65-F5344CB8AC3E}">
        <p14:creationId xmlns:p14="http://schemas.microsoft.com/office/powerpoint/2010/main" val="50542545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90D80A15-183C-1EE7-75CF-154C9E886C75}"/>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86A82F3B-E848-4976-6DF6-2CDE86FA38A8}"/>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(5 of 9)</a:t>
            </a:r>
            <a:endParaRPr dirty="0">
              <a:solidFill>
                <a:schemeClr val="bg1"/>
              </a:solidFill>
            </a:endParaRPr>
          </a:p>
        </p:txBody>
      </p:sp>
      <p:sp>
        <p:nvSpPr>
          <p:cNvPr id="2" name="Google Shape;659;p26">
            <a:extLst>
              <a:ext uri="{FF2B5EF4-FFF2-40B4-BE49-F238E27FC236}">
                <a16:creationId xmlns:a16="http://schemas.microsoft.com/office/drawing/2014/main" id="{0EC8441A-9E69-0D69-F411-1FC952BBDF62}"/>
              </a:ext>
            </a:extLst>
          </p:cNvPr>
          <p:cNvSpPr txBox="1"/>
          <p:nvPr/>
        </p:nvSpPr>
        <p:spPr>
          <a:xfrm>
            <a:off x="777240" y="1610686"/>
            <a:ext cx="10791178" cy="193785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3AD59954-5A78-0CF2-E0D5-38EFCAB60D20}"/>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10" name="Table 9">
            <a:extLst>
              <a:ext uri="{FF2B5EF4-FFF2-40B4-BE49-F238E27FC236}">
                <a16:creationId xmlns:a16="http://schemas.microsoft.com/office/drawing/2014/main" id="{7E2B8956-7EF5-8821-E83A-519BEDCB62B4}"/>
              </a:ext>
            </a:extLst>
          </p:cNvPr>
          <p:cNvGraphicFramePr>
            <a:graphicFrameLocks noGrp="1"/>
          </p:cNvGraphicFramePr>
          <p:nvPr>
            <p:extLst>
              <p:ext uri="{D42A27DB-BD31-4B8C-83A1-F6EECF244321}">
                <p14:modId xmlns:p14="http://schemas.microsoft.com/office/powerpoint/2010/main" val="217399188"/>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98A080EA-9F65-BD24-C6BF-678F06809315}"/>
              </a:ext>
            </a:extLst>
          </p:cNvPr>
          <p:cNvGraphicFramePr>
            <a:graphicFrameLocks noGrp="1"/>
          </p:cNvGraphicFramePr>
          <p:nvPr>
            <p:extLst>
              <p:ext uri="{D42A27DB-BD31-4B8C-83A1-F6EECF244321}">
                <p14:modId xmlns:p14="http://schemas.microsoft.com/office/powerpoint/2010/main" val="1803010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1" name="Table 10">
            <a:extLst>
              <a:ext uri="{FF2B5EF4-FFF2-40B4-BE49-F238E27FC236}">
                <a16:creationId xmlns:a16="http://schemas.microsoft.com/office/drawing/2014/main" id="{B668B3F0-F262-32AC-48C8-CF8BA77E0B60}"/>
              </a:ext>
            </a:extLst>
          </p:cNvPr>
          <p:cNvGraphicFramePr>
            <a:graphicFrameLocks noGrp="1"/>
          </p:cNvGraphicFramePr>
          <p:nvPr>
            <p:extLst>
              <p:ext uri="{D42A27DB-BD31-4B8C-83A1-F6EECF244321}">
                <p14:modId xmlns:p14="http://schemas.microsoft.com/office/powerpoint/2010/main" val="390253862"/>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9" name="Table 8">
            <a:extLst>
              <a:ext uri="{FF2B5EF4-FFF2-40B4-BE49-F238E27FC236}">
                <a16:creationId xmlns:a16="http://schemas.microsoft.com/office/drawing/2014/main" id="{77BAF37C-A200-B659-0B8D-11A476A6702C}"/>
              </a:ext>
            </a:extLst>
          </p:cNvPr>
          <p:cNvGraphicFramePr>
            <a:graphicFrameLocks noGrp="1"/>
          </p:cNvGraphicFramePr>
          <p:nvPr>
            <p:extLst>
              <p:ext uri="{D42A27DB-BD31-4B8C-83A1-F6EECF244321}">
                <p14:modId xmlns:p14="http://schemas.microsoft.com/office/powerpoint/2010/main" val="3343087689"/>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750" name="Answer 750"/>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751" name="Answer 751"/>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752" name="Answer 752"/>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753" name="Answer 753"/>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754" name="Answer 754"/>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755" name="Answer 755"/>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(1, −4)</a:t>
            </a:r>
          </a:p>
        </p:txBody>
      </p:sp>
    </p:spTree>
    <p:extLst>
      <p:ext uri="{BB962C8B-B14F-4D97-AF65-F5344CB8AC3E}">
        <p14:creationId xmlns:p14="http://schemas.microsoft.com/office/powerpoint/2010/main" val="2203327660"/>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5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75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5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5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5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98C0242-CF7D-03BD-6FC5-B8425D502999}"/>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0F35B7F3-9815-70C1-C503-411C7D5AF9F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(6 of 9)</a:t>
            </a:r>
            <a:endParaRPr dirty="0">
              <a:solidFill>
                <a:schemeClr val="bg1"/>
              </a:solidFill>
            </a:endParaRPr>
          </a:p>
        </p:txBody>
      </p:sp>
      <p:sp>
        <p:nvSpPr>
          <p:cNvPr id="2" name="Google Shape;659;p26">
            <a:extLst>
              <a:ext uri="{FF2B5EF4-FFF2-40B4-BE49-F238E27FC236}">
                <a16:creationId xmlns:a16="http://schemas.microsoft.com/office/drawing/2014/main" id="{49F0BA96-BA50-71D0-2032-242C3322C69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p:txBody>
      </p:sp>
      <p:sp>
        <p:nvSpPr>
          <p:cNvPr id="762" name="Answer 762"/>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−4;  y-intercept: (0, 0)</a:t>
            </a:r>
          </a:p>
          <a:p>
            <a:pPr marL="0" indent="0" algn="l">
              <a:spcBef>
                <a:spcPts val="0"/>
              </a:spcBef>
              <a:spcAft>
                <a:spcPts val="300"/>
              </a:spcAft>
              <a:buNone/>
            </a:pPr>
            <a:r>
              <a:rPr lang="en-US" sz="2400" dirty="0">
                <a:solidFill>
                  <a:srgbClr val="FF0000"/>
                </a:solidFill>
              </a:rPr>
              <a:t>c(x) = −4x</a:t>
            </a:r>
          </a:p>
        </p:txBody>
      </p:sp>
    </p:spTree>
    <p:extLst>
      <p:ext uri="{BB962C8B-B14F-4D97-AF65-F5344CB8AC3E}">
        <p14:creationId xmlns:p14="http://schemas.microsoft.com/office/powerpoint/2010/main" val="167948249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82"/>
        <p:cNvGrpSpPr/>
        <p:nvPr/>
      </p:nvGrpSpPr>
      <p:grpSpPr>
        <a:xfrm>
          <a:off x="0" y="0"/>
          <a:ext cx="0" cy="0"/>
          <a:chOff x="0" y="0"/>
          <a:chExt cx="0" cy="0"/>
        </a:xfrm>
      </p:grpSpPr>
      <p:sp>
        <p:nvSpPr>
          <p:cNvPr id="783" name="Google Shape;783;p4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(7 of 9)</a:t>
            </a:r>
            <a:endParaRPr dirty="0">
              <a:solidFill>
                <a:schemeClr val="bg1"/>
              </a:solidFill>
            </a:endParaRPr>
          </a:p>
        </p:txBody>
      </p:sp>
      <p:sp>
        <p:nvSpPr>
          <p:cNvPr id="2" name="Google Shape;659;p26">
            <a:extLst>
              <a:ext uri="{FF2B5EF4-FFF2-40B4-BE49-F238E27FC236}">
                <a16:creationId xmlns:a16="http://schemas.microsoft.com/office/drawing/2014/main" id="{63D09408-7ECD-0F8E-DAAD-19439B3309DA}"/>
              </a:ext>
            </a:extLst>
          </p:cNvPr>
          <p:cNvSpPr txBox="1"/>
          <p:nvPr/>
        </p:nvSpPr>
        <p:spPr>
          <a:xfrm>
            <a:off x="777240" y="1593907"/>
            <a:ext cx="10346562" cy="505017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shows a vertical dilation of the function. This dilation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&gt; 1, the resulting graph vertically stretches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0 &lt;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&lt; 1, the resulting graph vertically compresses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is vertically stretched or compressed and is reflected across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a:t>
            </a: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Compare the values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(−1) and </a:t>
            </a:r>
            <a:r>
              <a:rPr lang="en-US" sz="2800" i="1" dirty="0">
                <a:latin typeface="Calibri" panose="020F0502020204030204" pitchFamily="34" charset="0"/>
                <a:ea typeface="Calibri" panose="020F0502020204030204" pitchFamily="34" charset="0"/>
                <a:cs typeface="Calibri" panose="020F0502020204030204" pitchFamily="34" charset="0"/>
              </a:rPr>
              <a:t>c</a:t>
            </a:r>
            <a:r>
              <a:rPr lang="en-US" sz="2800" dirty="0">
                <a:latin typeface="Calibri" panose="020F0502020204030204" pitchFamily="34" charset="0"/>
                <a:ea typeface="Calibri" panose="020F0502020204030204" pitchFamily="34" charset="0"/>
                <a:cs typeface="Calibri" panose="020F0502020204030204" pitchFamily="34" charset="0"/>
              </a:rPr>
              <a:t>(−1).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784" name="Answer 784"/>
          <p:cNvSpPr txBox="1"/>
          <p:nvPr/>
        </p:nvSpPr>
        <p:spPr>
          <a:xfrm>
            <a:off x="774700" y="52705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f(−1) = −1 and c(−1) = 4.</a:t>
            </a:r>
          </a:p>
          <a:p>
            <a:pPr marL="0" indent="0" algn="l">
              <a:spcBef>
                <a:spcPts val="0"/>
              </a:spcBef>
              <a:spcAft>
                <a:spcPts val="300"/>
              </a:spcAft>
              <a:buNone/>
            </a:pPr>
            <a:r>
              <a:rPr lang="en-US" sz="2400" dirty="0">
                <a:solidFill>
                  <a:srgbClr val="FF0000"/>
                </a:solidFill>
              </a:rPr>
              <a:t>The vertical dilation multiplied the value at x = −1 by −4.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790"/>
        <p:cNvGrpSpPr/>
        <p:nvPr/>
      </p:nvGrpSpPr>
      <p:grpSpPr>
        <a:xfrm>
          <a:off x="0" y="0"/>
          <a:ext cx="0" cy="0"/>
          <a:chOff x="0" y="0"/>
          <a:chExt cx="0" cy="0"/>
        </a:xfrm>
      </p:grpSpPr>
      <p:sp>
        <p:nvSpPr>
          <p:cNvPr id="791" name="Google Shape;791;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(8 of 9)</a:t>
            </a:r>
            <a:endParaRPr dirty="0">
              <a:solidFill>
                <a:schemeClr val="bg1"/>
              </a:solidFill>
            </a:endParaRPr>
          </a:p>
        </p:txBody>
      </p:sp>
      <p:sp>
        <p:nvSpPr>
          <p:cNvPr id="792" name="Google Shape;792;p42"/>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1.3!</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dirty="0">
                <a:solidFill>
                  <a:srgbClr val="000000"/>
                </a:solidFill>
                <a:latin typeface="Calibri"/>
                <a:ea typeface="Calibri"/>
                <a:cs typeface="Calibri"/>
                <a:sym typeface="Calibri"/>
              </a:rPr>
              <a:t>How can you transform a function? What effects do different transformations have on the characteristics of linear functions?</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793" name="Google Shape;793;p4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57245" y="372494"/>
            <a:ext cx="1501270" cy="518205"/>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798"/>
        <p:cNvGrpSpPr/>
        <p:nvPr/>
      </p:nvGrpSpPr>
      <p:grpSpPr>
        <a:xfrm>
          <a:off x="0" y="0"/>
          <a:ext cx="0" cy="0"/>
          <a:chOff x="0" y="0"/>
          <a:chExt cx="0" cy="0"/>
        </a:xfrm>
      </p:grpSpPr>
      <p:sp>
        <p:nvSpPr>
          <p:cNvPr id="799" name="Google Shape;799;p4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(9 of 9)</a:t>
            </a:r>
            <a:endParaRPr dirty="0">
              <a:solidFill>
                <a:schemeClr val="bg1"/>
              </a:solidFill>
            </a:endParaRPr>
          </a:p>
        </p:txBody>
      </p:sp>
      <p:sp>
        <p:nvSpPr>
          <p:cNvPr id="800" name="Google Shape;800;p43">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Day 3</a:t>
            </a:r>
            <a:endParaRPr dirty="0"/>
          </a:p>
        </p:txBody>
      </p:sp>
      <p:sp>
        <p:nvSpPr>
          <p:cNvPr id="807" name="Google Shape;807;p44"/>
          <p:cNvSpPr txBox="1">
            <a:spLocks noGrp="1"/>
          </p:cNvSpPr>
          <p:nvPr>
            <p:ph type="body" idx="1"/>
          </p:nvPr>
        </p:nvSpPr>
        <p:spPr>
          <a:xfrm>
            <a:off x="6658975" y="2832927"/>
            <a:ext cx="1061883"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3</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sp>
        <p:nvSpPr>
          <p:cNvPr id="813" name="Google Shape;813;p4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(3 of 3)</a:t>
            </a:r>
            <a:endParaRPr dirty="0">
              <a:solidFill>
                <a:schemeClr val="bg1"/>
              </a:solidFill>
            </a:endParaRPr>
          </a:p>
        </p:txBody>
      </p:sp>
      <p:sp>
        <p:nvSpPr>
          <p:cNvPr id="814" name="Google Shape;814;p45"/>
          <p:cNvSpPr txBox="1"/>
          <p:nvPr/>
        </p:nvSpPr>
        <p:spPr>
          <a:xfrm>
            <a:off x="777240" y="1612231"/>
            <a:ext cx="9884842" cy="4323543"/>
          </a:xfrm>
          <a:prstGeom prst="rect">
            <a:avLst/>
          </a:prstGeom>
          <a:noFill/>
          <a:ln>
            <a:noFill/>
          </a:ln>
        </p:spPr>
        <p:txBody>
          <a:bodyPr spcFirstLastPara="1" wrap="square" lIns="91425" tIns="45700" rIns="91425" bIns="45700" anchor="t" anchorCtr="0">
            <a:noAutofit/>
          </a:bodyPr>
          <a:lstStyle/>
          <a:p>
            <a:pPr marL="0" marR="0" lvl="0" indent="0" algn="l" rtl="0">
              <a:spcBef>
                <a:spcPts val="24"/>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19"/>
        <p:cNvGrpSpPr/>
        <p:nvPr/>
      </p:nvGrpSpPr>
      <p:grpSpPr>
        <a:xfrm>
          <a:off x="0" y="0"/>
          <a:ext cx="0" cy="0"/>
          <a:chOff x="0" y="0"/>
          <a:chExt cx="0" cy="0"/>
        </a:xfrm>
      </p:grpSpPr>
      <p:sp>
        <p:nvSpPr>
          <p:cNvPr id="820" name="Google Shape;820;p46"/>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1.4</a:t>
            </a:r>
            <a:endParaRPr dirty="0"/>
          </a:p>
        </p:txBody>
      </p:sp>
      <p:sp>
        <p:nvSpPr>
          <p:cNvPr id="821" name="Google Shape;821;p46"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22" name="Google Shape;822;p46">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1.4</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sp>
        <p:nvSpPr>
          <p:cNvPr id="828" name="Google Shape;828;p47"/>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(1 of 6)</a:t>
            </a:r>
            <a:endParaRPr dirty="0">
              <a:solidFill>
                <a:schemeClr val="bg1"/>
              </a:solidFill>
            </a:endParaRPr>
          </a:p>
        </p:txBody>
      </p:sp>
      <p:sp>
        <p:nvSpPr>
          <p:cNvPr id="2" name="Google Shape;659;p26">
            <a:extLst>
              <a:ext uri="{FF2B5EF4-FFF2-40B4-BE49-F238E27FC236}">
                <a16:creationId xmlns:a16="http://schemas.microsoft.com/office/drawing/2014/main" id="{E560C3F9-0259-D99D-424A-6AE8AB525D1D}"/>
              </a:ext>
            </a:extLst>
          </p:cNvPr>
          <p:cNvSpPr txBox="1"/>
          <p:nvPr/>
        </p:nvSpPr>
        <p:spPr>
          <a:xfrm>
            <a:off x="764931" y="1263193"/>
            <a:ext cx="10791178" cy="16645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Let’s consider more transformations of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transformations performed on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produce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graph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Write the function equation in general form.</a:t>
            </a:r>
            <a:endParaRPr sz="2800" dirty="0"/>
          </a:p>
        </p:txBody>
      </p:sp>
      <p:sp>
        <p:nvSpPr>
          <p:cNvPr id="3" name="Google Shape;659;p26">
            <a:extLst>
              <a:ext uri="{FF2B5EF4-FFF2-40B4-BE49-F238E27FC236}">
                <a16:creationId xmlns:a16="http://schemas.microsoft.com/office/drawing/2014/main" id="{3EE023B9-B2F0-F1F0-A544-AE3ED2E8FDE4}"/>
              </a:ext>
            </a:extLst>
          </p:cNvPr>
          <p:cNvSpPr txBox="1"/>
          <p:nvPr/>
        </p:nvSpPr>
        <p:spPr>
          <a:xfrm>
            <a:off x="764931" y="2927758"/>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+ 7</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3793870"/>
            <a:ext cx="2636338" cy="2672852"/>
          </a:xfrm>
          <a:prstGeom prst="rect">
            <a:avLst/>
          </a:prstGeom>
          <a:noFill/>
          <a:ln>
            <a:noFill/>
          </a:ln>
        </p:spPr>
      </p:pic>
      <p:sp>
        <p:nvSpPr>
          <p:cNvPr id="4" name="Google Shape;659;p26">
            <a:extLst>
              <a:ext uri="{FF2B5EF4-FFF2-40B4-BE49-F238E27FC236}">
                <a16:creationId xmlns:a16="http://schemas.microsoft.com/office/drawing/2014/main" id="{090938B8-1EDE-D174-95B8-B85E17EBB907}"/>
              </a:ext>
            </a:extLst>
          </p:cNvPr>
          <p:cNvSpPr txBox="1"/>
          <p:nvPr/>
        </p:nvSpPr>
        <p:spPr>
          <a:xfrm>
            <a:off x="5463814" y="2927757"/>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2" name="Google Shape;832;p47" descr="A graph of line f of x = x on the coordinate plane. The line rises from left to right through the points (0, 0) and (2, 2)."/>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6477672" y="3874201"/>
            <a:ext cx="2636338" cy="2592521"/>
          </a:xfrm>
          <a:prstGeom prst="rect">
            <a:avLst/>
          </a:prstGeom>
          <a:noFill/>
          <a:ln>
            <a:noFill/>
          </a:ln>
        </p:spPr>
      </p:pic>
      <p:sp>
        <p:nvSpPr>
          <p:cNvPr id="833" name="Answer 833"/>
          <p:cNvSpPr txBox="1"/>
          <p:nvPr/>
        </p:nvSpPr>
        <p:spPr>
          <a:xfrm>
            <a:off x="9207500" y="2984500"/>
            <a:ext cx="2857500" cy="177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g(x) = 2x + 7</a:t>
            </a:r>
          </a:p>
          <a:p>
            <a:pPr marL="0" indent="0" algn="l">
              <a:spcBef>
                <a:spcPts val="0"/>
              </a:spcBef>
              <a:spcAft>
                <a:spcPts val="300"/>
              </a:spcAft>
              <a:buNone/>
            </a:pPr>
            <a:r>
              <a:rPr lang="en-US" sz="1800" dirty="0">
                <a:solidFill>
                  <a:srgbClr val="FF0000"/>
                </a:solidFill>
              </a:rPr>
              <a:t>Vertical stretch by a factor of 2, then up 7. Graph: through (0, 7), slope 2.</a:t>
            </a:r>
          </a:p>
        </p:txBody>
      </p:sp>
      <p:sp>
        <p:nvSpPr>
          <p:cNvPr id="834" name="Answer 834"/>
          <p:cNvSpPr txBox="1"/>
          <p:nvPr/>
        </p:nvSpPr>
        <p:spPr>
          <a:xfrm>
            <a:off x="9207500" y="4889500"/>
            <a:ext cx="2857500" cy="177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g(x) = 3x − 1</a:t>
            </a:r>
          </a:p>
          <a:p>
            <a:pPr marL="0" indent="0" algn="l">
              <a:spcBef>
                <a:spcPts val="0"/>
              </a:spcBef>
              <a:spcAft>
                <a:spcPts val="300"/>
              </a:spcAft>
              <a:buNone/>
            </a:pPr>
            <a:r>
              <a:rPr lang="en-US" sz="1800" dirty="0">
                <a:solidFill>
                  <a:srgbClr val="FF0000"/>
                </a:solidFill>
              </a:rPr>
              <a:t>Vertical stretch by a factor of 3, then down 1. Graph: through (0, −1), slope 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83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8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6A7FDF52-38E6-D85C-684E-A506D30D026F}"/>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9B7434C7-A4E8-610B-08B2-3812E2D0C6F2}"/>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(2 of 6)</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E4EB07F6-E015-709E-9E54-9EB9892FCC82}"/>
                  </a:ext>
                </a:extLst>
              </p:cNvPr>
              <p:cNvSpPr txBox="1"/>
              <p:nvPr/>
            </p:nvSpPr>
            <p:spPr>
              <a:xfrm>
                <a:off x="764931" y="1627464"/>
                <a:ext cx="4394298" cy="65358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3"/>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Google Shape;659;p26">
                <a:extLst>
                  <a:ext uri="{FF2B5EF4-FFF2-40B4-BE49-F238E27FC236}">
                    <a16:creationId xmlns:a16="http://schemas.microsoft.com/office/drawing/2014/main" id="{E4EB07F6-E015-709E-9E54-9EB9892FCC82}"/>
                  </a:ext>
                </a:extLst>
              </p:cNvPr>
              <p:cNvSpPr txBox="1">
                <a:spLocks noRot="1" noChangeAspect="1" noMove="1" noResize="1" noEditPoints="1" noAdjustHandles="1" noChangeArrowheads="1" noChangeShapeType="1" noTextEdit="1"/>
              </p:cNvSpPr>
              <p:nvPr/>
            </p:nvSpPr>
            <p:spPr>
              <a:xfrm>
                <a:off x="764931" y="1627464"/>
                <a:ext cx="4394298" cy="653581"/>
              </a:xfrm>
              <a:prstGeom prst="rect">
                <a:avLst/>
              </a:prstGeom>
              <a:blipFill>
                <a:blip r:embed="rId3"/>
                <a:stretch>
                  <a:fillRect l="-2913" b="-20561"/>
                </a:stretch>
              </a:blipFill>
              <a:ln>
                <a:noFill/>
              </a:ln>
            </p:spPr>
            <p:txBody>
              <a:bodyPr/>
              <a:lstStyle/>
              <a:p>
                <a:r>
                  <a:rPr lang="en-US">
                    <a:noFill/>
                  </a:rPr>
                  <a:t> </a:t>
                </a:r>
              </a:p>
            </p:txBody>
          </p:sp>
        </mc:Fallback>
      </mc:AlternateContent>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015265C5-1062-95C3-181A-1F28F3FBABFC}"/>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5474CCAE-BF4D-3DFD-6A2E-2D16590BB74A}"/>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4"/>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2</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5474CCAE-BF4D-3DFD-6A2E-2D16590BB74A}"/>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5"/>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11505A71-19A1-5C79-212B-306770095FDE}"/>
              </a:ext>
            </a:extLst>
          </p:cNvPr>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833" name="Answer 833"/>
          <p:cNvSpPr txBox="1"/>
          <p:nvPr/>
        </p:nvSpPr>
        <p:spPr>
          <a:xfrm>
            <a:off x="762000" y="5334000"/>
            <a:ext cx="4826000" cy="139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(1/3)x + 2</a:t>
            </a:r>
          </a:p>
          <a:p>
            <a:pPr marL="0" indent="0" algn="l">
              <a:spcBef>
                <a:spcPts val="0"/>
              </a:spcBef>
              <a:spcAft>
                <a:spcPts val="300"/>
              </a:spcAft>
              <a:buNone/>
            </a:pPr>
            <a:r>
              <a:rPr lang="en-US" sz="1800" dirty="0">
                <a:solidFill>
                  <a:srgbClr val="FF0000"/>
                </a:solidFill>
              </a:rPr>
              <a:t>Vertical compression by a factor of 1/3, then up 2. Graph: through (0, 2), slope 1/3.</a:t>
            </a:r>
          </a:p>
        </p:txBody>
      </p:sp>
      <p:sp>
        <p:nvSpPr>
          <p:cNvPr id="834" name="Answer 834"/>
          <p:cNvSpPr txBox="1"/>
          <p:nvPr/>
        </p:nvSpPr>
        <p:spPr>
          <a:xfrm>
            <a:off x="5461000" y="5334000"/>
            <a:ext cx="5715000" cy="139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(1/2)x − 3</a:t>
            </a:r>
          </a:p>
          <a:p>
            <a:pPr marL="0" indent="0" algn="l">
              <a:spcBef>
                <a:spcPts val="0"/>
              </a:spcBef>
              <a:spcAft>
                <a:spcPts val="300"/>
              </a:spcAft>
              <a:buNone/>
            </a:pPr>
            <a:r>
              <a:rPr lang="en-US" sz="1800" dirty="0">
                <a:solidFill>
                  <a:srgbClr val="FF0000"/>
                </a:solidFill>
              </a:rPr>
              <a:t>Vertical compression by a factor of 1/2, then down 3. Graph: through (0, −3), slope 1/2.</a:t>
            </a:r>
          </a:p>
        </p:txBody>
      </p:sp>
    </p:spTree>
    <p:extLst>
      <p:ext uri="{BB962C8B-B14F-4D97-AF65-F5344CB8AC3E}">
        <p14:creationId xmlns:p14="http://schemas.microsoft.com/office/powerpoint/2010/main" val="251720532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83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8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835ECF12-8D48-7659-19E8-CA1C4DF4B74B}"/>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899ABEBE-8516-1B4D-8475-6C3D81E3A23E}"/>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(3 of 6)</a:t>
            </a:r>
            <a:endParaRPr dirty="0">
              <a:solidFill>
                <a:schemeClr val="bg1"/>
              </a:solidFill>
            </a:endParaRPr>
          </a:p>
        </p:txBody>
      </p:sp>
      <p:sp>
        <p:nvSpPr>
          <p:cNvPr id="3" name="Google Shape;659;p26">
            <a:extLst>
              <a:ext uri="{FF2B5EF4-FFF2-40B4-BE49-F238E27FC236}">
                <a16:creationId xmlns:a16="http://schemas.microsoft.com/office/drawing/2014/main" id="{F823ACBA-5EAC-2AE5-58DB-5FFF483BB513}"/>
              </a:ext>
            </a:extLst>
          </p:cNvPr>
          <p:cNvSpPr txBox="1"/>
          <p:nvPr/>
        </p:nvSpPr>
        <p:spPr>
          <a:xfrm>
            <a:off x="764931" y="1758684"/>
            <a:ext cx="4394298" cy="58947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5"/>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− 4</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2CA8A1BC-D053-A25D-49CD-D2ADCC6AF3AC}"/>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E42A4738-F0B5-F269-B6D2-45A710EB0FAF}"/>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6"/>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+ 5</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E42A4738-F0B5-F269-B6D2-45A710EB0FAF}"/>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4"/>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502ED35A-E289-0A6F-13A9-CA8ED671B9BD}"/>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833" name="Answer 833"/>
          <p:cNvSpPr txBox="1"/>
          <p:nvPr/>
        </p:nvSpPr>
        <p:spPr>
          <a:xfrm>
            <a:off x="762000" y="5270500"/>
            <a:ext cx="4826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−x − 4</a:t>
            </a:r>
          </a:p>
          <a:p>
            <a:pPr marL="0" indent="0" algn="l">
              <a:spcBef>
                <a:spcPts val="0"/>
              </a:spcBef>
              <a:spcAft>
                <a:spcPts val="300"/>
              </a:spcAft>
              <a:buNone/>
            </a:pPr>
            <a:r>
              <a:rPr lang="en-US" sz="1800" dirty="0">
                <a:solidFill>
                  <a:srgbClr val="FF0000"/>
                </a:solidFill>
              </a:rPr>
              <a:t>Reflection across the x-axis, then down 4. Graph: through (0, −4), slope −1.</a:t>
            </a:r>
          </a:p>
        </p:txBody>
      </p:sp>
      <p:sp>
        <p:nvSpPr>
          <p:cNvPr id="834" name="Answer 834"/>
          <p:cNvSpPr txBox="1"/>
          <p:nvPr/>
        </p:nvSpPr>
        <p:spPr>
          <a:xfrm>
            <a:off x="5461000" y="5270500"/>
            <a:ext cx="5715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−(2/3)x + 5</a:t>
            </a:r>
          </a:p>
          <a:p>
            <a:pPr marL="0" indent="0" algn="l">
              <a:spcBef>
                <a:spcPts val="0"/>
              </a:spcBef>
              <a:spcAft>
                <a:spcPts val="300"/>
              </a:spcAft>
              <a:buNone/>
            </a:pPr>
            <a:r>
              <a:rPr lang="en-US" sz="1800" dirty="0">
                <a:solidFill>
                  <a:srgbClr val="FF0000"/>
                </a:solidFill>
              </a:rPr>
              <a:t>Reflection across the x-axis and vertical compression by a factor of 2/3, then up 5. Graph: through (0, 5), slope −2/3.</a:t>
            </a:r>
          </a:p>
        </p:txBody>
      </p:sp>
    </p:spTree>
    <p:extLst>
      <p:ext uri="{BB962C8B-B14F-4D97-AF65-F5344CB8AC3E}">
        <p14:creationId xmlns:p14="http://schemas.microsoft.com/office/powerpoint/2010/main" val="409914586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83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8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sp>
        <p:nvSpPr>
          <p:cNvPr id="4" name="Google Shape;828;p47">
            <a:extLst>
              <a:ext uri="{FF2B5EF4-FFF2-40B4-BE49-F238E27FC236}">
                <a16:creationId xmlns:a16="http://schemas.microsoft.com/office/drawing/2014/main" id="{7D53C5AA-5A40-41A8-C4EB-427B8F3E39A6}"/>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(4 of 6)</a:t>
            </a:r>
            <a:endParaRPr dirty="0">
              <a:solidFill>
                <a:schemeClr val="bg1"/>
              </a:solidFill>
            </a:endParaRPr>
          </a:p>
        </p:txBody>
      </p:sp>
      <p:sp>
        <p:nvSpPr>
          <p:cNvPr id="5" name="Google Shape;659;p26">
            <a:extLst>
              <a:ext uri="{FF2B5EF4-FFF2-40B4-BE49-F238E27FC236}">
                <a16:creationId xmlns:a16="http://schemas.microsoft.com/office/drawing/2014/main" id="{E4502B54-403A-1CD8-CAB7-5A56912E679F}"/>
              </a:ext>
            </a:extLst>
          </p:cNvPr>
          <p:cNvSpPr txBox="1"/>
          <p:nvPr/>
        </p:nvSpPr>
        <p:spPr>
          <a:xfrm>
            <a:off x="764931" y="1367406"/>
            <a:ext cx="10791178" cy="52682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where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L="514350" marR="0" lvl="0" indent="-514350" algn="l" rtl="0">
              <a:spcBef>
                <a:spcPts val="0"/>
              </a:spcBef>
              <a:spcAft>
                <a:spcPts val="1200"/>
              </a:spcAft>
              <a:buClr>
                <a:srgbClr val="000000"/>
              </a:buClr>
              <a:buSzPts val="2800"/>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Consider the function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p>
        </p:txBody>
      </p:sp>
      <p:sp>
        <p:nvSpPr>
          <p:cNvPr id="6" name="Answer 6"/>
          <p:cNvSpPr txBox="1"/>
          <p:nvPr/>
        </p:nvSpPr>
        <p:spPr>
          <a:xfrm>
            <a:off x="1371600" y="4064000"/>
            <a:ext cx="10414000" cy="6032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changes the slope (for f(x) = x the slope becomes a: |a| &gt; 1 steeper, 0 &lt; |a| &lt; 1 less steep, a &lt; 0 reflected). It does not change the y-intercept.</a:t>
            </a:r>
          </a:p>
        </p:txBody>
      </p:sp>
      <p:sp>
        <p:nvSpPr>
          <p:cNvPr id="7" name="Answer 7"/>
          <p:cNvSpPr txBox="1"/>
          <p:nvPr/>
        </p:nvSpPr>
        <p:spPr>
          <a:xfrm>
            <a:off x="1371600" y="5397500"/>
            <a:ext cx="10414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 does not change the slope. It changes the y-intercept to (0, d): d &gt; 0 moves the line up, d &lt; 0 moves it down.</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4" name="Google Shape;828;p47">
            <a:extLst>
              <a:ext uri="{FF2B5EF4-FFF2-40B4-BE49-F238E27FC236}">
                <a16:creationId xmlns:a16="http://schemas.microsoft.com/office/drawing/2014/main" id="{ED376AD8-39B7-9866-4BF4-CB7D2FE8A54B}"/>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(5 of 6)</a:t>
            </a:r>
            <a:endParaRPr dirty="0">
              <a:solidFill>
                <a:schemeClr val="bg1"/>
              </a:solidFill>
            </a:endParaRPr>
          </a:p>
        </p:txBody>
      </p:sp>
      <p:sp>
        <p:nvSpPr>
          <p:cNvPr id="872" name="Google Shape;872;p51"/>
          <p:cNvSpPr txBox="1"/>
          <p:nvPr/>
        </p:nvSpPr>
        <p:spPr>
          <a:xfrm>
            <a:off x="764932" y="1616140"/>
            <a:ext cx="9906028"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Activity 1.4!</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873" name="Google Shape;873;p51">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467637" y="372493"/>
            <a:ext cx="1501270" cy="518205"/>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80" name="Google Shape;880;p52">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4" name="Google Shape;828;p47">
            <a:extLst>
              <a:ext uri="{FF2B5EF4-FFF2-40B4-BE49-F238E27FC236}">
                <a16:creationId xmlns:a16="http://schemas.microsoft.com/office/drawing/2014/main" id="{59D2EF21-1FB3-FE45-63C5-88C7DCA93AF5}"/>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(6 of 6)</a:t>
            </a:r>
            <a:endParaRPr dirty="0">
              <a:solidFill>
                <a:schemeClr val="bg1"/>
              </a:solidFil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sp>
        <p:nvSpPr>
          <p:cNvPr id="886" name="Google Shape;886;p53"/>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1.5</a:t>
            </a:r>
            <a:endParaRPr dirty="0"/>
          </a:p>
        </p:txBody>
      </p:sp>
      <p:sp>
        <p:nvSpPr>
          <p:cNvPr id="887" name="Google Shape;887;p53"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88" name="Google Shape;888;p53">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1.5</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3"/>
        <p:cNvGrpSpPr/>
        <p:nvPr/>
      </p:nvGrpSpPr>
      <p:grpSpPr>
        <a:xfrm>
          <a:off x="0" y="0"/>
          <a:ext cx="0" cy="0"/>
          <a:chOff x="0" y="0"/>
          <a:chExt cx="0" cy="0"/>
        </a:xfrm>
      </p:grpSpPr>
      <p:sp>
        <p:nvSpPr>
          <p:cNvPr id="894" name="Google Shape;894;p5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(1 of 6)</a:t>
            </a:r>
            <a:endParaRPr dirty="0">
              <a:solidFill>
                <a:schemeClr val="bg1"/>
              </a:solidFill>
            </a:endParaRPr>
          </a:p>
        </p:txBody>
      </p:sp>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A6D4AC7F-2B44-5BD7-387C-023D2F41D69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1481326"/>
            <a:ext cx="1546994" cy="2301439"/>
          </a:xfrm>
          <a:prstGeom prst="rect">
            <a:avLst/>
          </a:prstGeom>
        </p:spPr>
      </p:pic>
      <p:sp>
        <p:nvSpPr>
          <p:cNvPr id="4" name="TextBox 3">
            <a:extLst>
              <a:ext uri="{FF2B5EF4-FFF2-40B4-BE49-F238E27FC236}">
                <a16:creationId xmlns:a16="http://schemas.microsoft.com/office/drawing/2014/main" id="{538D0FEC-F3A9-ED6F-8145-DBE621093152}"/>
              </a:ext>
            </a:extLst>
          </p:cNvPr>
          <p:cNvSpPr txBox="1"/>
          <p:nvPr/>
        </p:nvSpPr>
        <p:spPr>
          <a:xfrm>
            <a:off x="2910980" y="1361448"/>
            <a:ext cx="8254767" cy="1815882"/>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Your company is developing a new video game for kids, which involves scoring points by shooting targets with a cannon. The cannon starts at the origin of a coordinate system as shown.</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5"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142AAAE7-52B0-5B25-A6C0-55FA2C9792C5}"/>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5096312" y="3275585"/>
            <a:ext cx="3884102" cy="3414319"/>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p5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(2 of 6)</a:t>
            </a:r>
            <a:endParaRPr dirty="0">
              <a:solidFill>
                <a:schemeClr val="bg1"/>
              </a:solidFill>
            </a:endParaRPr>
          </a:p>
        </p:txBody>
      </p:sp>
      <p:sp>
        <p:nvSpPr>
          <p:cNvPr id="2" name="TextBox 1">
            <a:extLst>
              <a:ext uri="{FF2B5EF4-FFF2-40B4-BE49-F238E27FC236}">
                <a16:creationId xmlns:a16="http://schemas.microsoft.com/office/drawing/2014/main" id="{EAFE80F6-AD31-23E9-7BED-521A7C3679AE}"/>
              </a:ext>
            </a:extLst>
          </p:cNvPr>
          <p:cNvSpPr txBox="1"/>
          <p:nvPr/>
        </p:nvSpPr>
        <p:spPr>
          <a:xfrm>
            <a:off x="777240" y="1168502"/>
            <a:ext cx="10715677" cy="2246769"/>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By default, it shoots along the line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Players can move the cannon up and down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 and also change the angle of the cannon. When a player shoots the cannon, the game program determines the values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If the target is on that line, the program will show an animation of the cannonball hitting the target.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B8A1EF6B-68A7-0E49-D3D2-DCF65013BD43}"/>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4193027" y="3380763"/>
            <a:ext cx="3884102" cy="341431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09"/>
        <p:cNvGrpSpPr/>
        <p:nvPr/>
      </p:nvGrpSpPr>
      <p:grpSpPr>
        <a:xfrm>
          <a:off x="0" y="0"/>
          <a:ext cx="0" cy="0"/>
          <a:chOff x="0" y="0"/>
          <a:chExt cx="0" cy="0"/>
        </a:xfrm>
      </p:grpSpPr>
      <p:sp>
        <p:nvSpPr>
          <p:cNvPr id="910" name="Google Shape;910;p5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(3 of 6)</a:t>
            </a:r>
            <a:endParaRPr dirty="0">
              <a:solidFill>
                <a:schemeClr val="bg1"/>
              </a:solidFill>
            </a:endParaRPr>
          </a:p>
        </p:txBody>
      </p:sp>
      <p:sp>
        <p:nvSpPr>
          <p:cNvPr id="2" name="Google Shape;904;p55">
            <a:extLst>
              <a:ext uri="{FF2B5EF4-FFF2-40B4-BE49-F238E27FC236}">
                <a16:creationId xmlns:a16="http://schemas.microsoft.com/office/drawing/2014/main" id="{60F33350-2598-C623-5A9E-36C97572C3C2}"/>
              </a:ext>
            </a:extLst>
          </p:cNvPr>
          <p:cNvSpPr/>
          <p:nvPr/>
        </p:nvSpPr>
        <p:spPr>
          <a:xfrm>
            <a:off x="777240" y="1918877"/>
            <a:ext cx="2091690" cy="2548889"/>
          </a:xfrm>
          <a:prstGeom prst="wedgeRoundRectCallout">
            <a:avLst>
              <a:gd name="adj1" fmla="val -36583"/>
              <a:gd name="adj2" fmla="val -61466"/>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a:ea typeface="Calibri"/>
                <a:cs typeface="Calibri"/>
                <a:sym typeface="Calibri"/>
              </a:rPr>
              <a:t>Ask Yourself…</a:t>
            </a:r>
            <a:endParaRPr dirty="0">
              <a:solidFill>
                <a:schemeClr val="accent3">
                  <a:lumMod val="75000"/>
                </a:schemeClr>
              </a:solidFill>
            </a:endParaRPr>
          </a:p>
          <a:p>
            <a:pPr marL="0" marR="0" lvl="0" indent="0" algn="l" rtl="0">
              <a:spcBef>
                <a:spcPts val="0"/>
              </a:spcBef>
              <a:spcAft>
                <a:spcPts val="0"/>
              </a:spcAft>
              <a:buNone/>
            </a:pPr>
            <a:r>
              <a:rPr lang="en-US" sz="1800" dirty="0">
                <a:solidFill>
                  <a:srgbClr val="000000"/>
                </a:solidFill>
                <a:latin typeface="Calibri"/>
                <a:ea typeface="Calibri"/>
                <a:cs typeface="Calibri"/>
                <a:sym typeface="Calibri"/>
              </a:rPr>
              <a:t>The cannon can shoot in only one direction. Does that affect the domain or range of the linear function? </a:t>
            </a:r>
            <a:endParaRPr dirty="0"/>
          </a:p>
        </p:txBody>
      </p:sp>
      <p:sp>
        <p:nvSpPr>
          <p:cNvPr id="3" name="TextBox 2">
            <a:extLst>
              <a:ext uri="{FF2B5EF4-FFF2-40B4-BE49-F238E27FC236}">
                <a16:creationId xmlns:a16="http://schemas.microsoft.com/office/drawing/2014/main" id="{768A6C3A-83DE-38DD-901E-1BFB393D11CE}"/>
              </a:ext>
            </a:extLst>
          </p:cNvPr>
          <p:cNvSpPr txBox="1"/>
          <p:nvPr/>
        </p:nvSpPr>
        <p:spPr>
          <a:xfrm>
            <a:off x="3397541" y="1610686"/>
            <a:ext cx="7306811" cy="3539430"/>
          </a:xfrm>
          <a:prstGeom prst="rect">
            <a:avLst/>
          </a:prstGeom>
          <a:noFill/>
        </p:spPr>
        <p:txBody>
          <a:bodyPr wrap="square" rtlCol="0">
            <a:spAutoFit/>
          </a:bodyPr>
          <a:lstStyle/>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Test the program. Determine values for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 and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 for four linear functions that should hit the targets shown.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Identify the domain on which each graph hits the target.</a:t>
            </a:r>
          </a:p>
        </p:txBody>
      </p:sp>
      <p:sp>
        <p:nvSpPr>
          <p:cNvPr id="911" name="Answer 911"/>
          <p:cNvSpPr txBox="1"/>
          <p:nvPr/>
        </p:nvSpPr>
        <p:spPr>
          <a:xfrm>
            <a:off x="3467100" y="2857500"/>
            <a:ext cx="8509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Sample: a = 0 with d = 6, 4, 1 and −3: horizontal lines through each target (move the cannon to (0, d)).</a:t>
            </a:r>
          </a:p>
        </p:txBody>
      </p:sp>
      <p:sp>
        <p:nvSpPr>
          <p:cNvPr id="912" name="Answer 912"/>
          <p:cNvSpPr txBox="1"/>
          <p:nvPr/>
        </p:nvSpPr>
        <p:spPr>
          <a:xfrm>
            <a:off x="3467100" y="4445000"/>
            <a:ext cx="8509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cannon shoots in only one direction. Targets in Quadrant II (left of the y-axis): domain x ≤ 0. Targets in Quadrants I and IV: domain x ≥ 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9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9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16"/>
        <p:cNvGrpSpPr/>
        <p:nvPr/>
      </p:nvGrpSpPr>
      <p:grpSpPr>
        <a:xfrm>
          <a:off x="0" y="0"/>
          <a:ext cx="0" cy="0"/>
          <a:chOff x="0" y="0"/>
          <a:chExt cx="0" cy="0"/>
        </a:xfrm>
      </p:grpSpPr>
      <p:sp>
        <p:nvSpPr>
          <p:cNvPr id="917" name="Google Shape;917;p5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(4 of 6)</a:t>
            </a:r>
            <a:endParaRPr dirty="0">
              <a:solidFill>
                <a:schemeClr val="bg1"/>
              </a:solidFill>
            </a:endParaRPr>
          </a:p>
        </p:txBody>
      </p:sp>
      <p:sp>
        <p:nvSpPr>
          <p:cNvPr id="918" name="Google Shape;918;p57"/>
          <p:cNvSpPr txBox="1"/>
          <p:nvPr/>
        </p:nvSpPr>
        <p:spPr>
          <a:xfrm>
            <a:off x="777240" y="1595735"/>
            <a:ext cx="9910334" cy="9258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game developer is also testing two other versions of the game, with different abilities for the cannon.</a:t>
            </a:r>
            <a:endParaRPr sz="28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TextBox 1">
            <a:extLst>
              <a:ext uri="{FF2B5EF4-FFF2-40B4-BE49-F238E27FC236}">
                <a16:creationId xmlns:a16="http://schemas.microsoft.com/office/drawing/2014/main" id="{5C3064C4-6DAA-0B0A-C257-95737BD25D25}"/>
              </a:ext>
            </a:extLst>
          </p:cNvPr>
          <p:cNvSpPr txBox="1"/>
          <p:nvPr/>
        </p:nvSpPr>
        <p:spPr>
          <a:xfrm>
            <a:off x="777240" y="2608976"/>
            <a:ext cx="53179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B</a:t>
            </a:r>
          </a:p>
          <a:p>
            <a:r>
              <a:rPr lang="en-US" sz="2800" dirty="0">
                <a:latin typeface="Calibri" panose="020F0502020204030204" pitchFamily="34" charset="0"/>
                <a:ea typeface="Calibri" panose="020F0502020204030204" pitchFamily="34" charset="0"/>
                <a:cs typeface="Calibri" panose="020F0502020204030204" pitchFamily="34" charset="0"/>
              </a:rPr>
              <a:t>The cannon can only shoot along a line parallel to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or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It can move up and down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-axis.</a:t>
            </a:r>
          </a:p>
        </p:txBody>
      </p:sp>
      <p:sp>
        <p:nvSpPr>
          <p:cNvPr id="3" name="TextBox 2">
            <a:extLst>
              <a:ext uri="{FF2B5EF4-FFF2-40B4-BE49-F238E27FC236}">
                <a16:creationId xmlns:a16="http://schemas.microsoft.com/office/drawing/2014/main" id="{6639901B-2E0D-8778-EEBF-C2C8973F3F57}"/>
              </a:ext>
            </a:extLst>
          </p:cNvPr>
          <p:cNvSpPr txBox="1"/>
          <p:nvPr/>
        </p:nvSpPr>
        <p:spPr>
          <a:xfrm>
            <a:off x="7004807" y="2608976"/>
            <a:ext cx="44083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C</a:t>
            </a:r>
          </a:p>
          <a:p>
            <a:r>
              <a:rPr lang="en-US" sz="2800" dirty="0">
                <a:latin typeface="Calibri" panose="020F0502020204030204" pitchFamily="34" charset="0"/>
                <a:ea typeface="Calibri" panose="020F0502020204030204" pitchFamily="34" charset="0"/>
                <a:cs typeface="Calibri" panose="020F0502020204030204" pitchFamily="34" charset="0"/>
              </a:rPr>
              <a:t>The cannon can change angles but remains fixed at the origin.</a:t>
            </a:r>
          </a:p>
        </p:txBody>
      </p:sp>
      <p:sp>
        <p:nvSpPr>
          <p:cNvPr id="4" name="Google Shape;918;p57">
            <a:extLst>
              <a:ext uri="{FF2B5EF4-FFF2-40B4-BE49-F238E27FC236}">
                <a16:creationId xmlns:a16="http://schemas.microsoft.com/office/drawing/2014/main" id="{A25028ED-4212-8C69-A279-6D284E3DE217}"/>
              </a:ext>
            </a:extLst>
          </p:cNvPr>
          <p:cNvSpPr txBox="1"/>
          <p:nvPr/>
        </p:nvSpPr>
        <p:spPr>
          <a:xfrm>
            <a:off x="777240" y="4558446"/>
            <a:ext cx="10111670" cy="192624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ct val="1000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the values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along with their corresponding domains, for four linear functions that can hit the targets in each version of the game. Show your work.</a:t>
            </a:r>
            <a:endParaRPr sz="28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9" name="Answer 919"/>
          <p:cNvSpPr txBox="1"/>
          <p:nvPr/>
        </p:nvSpPr>
        <p:spPr>
          <a:xfrm>
            <a:off x="774700" y="5683250"/>
            <a:ext cx="55245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Version B (a = 1 or −1; move d), clockwise from top left:</a:t>
            </a:r>
          </a:p>
          <a:p>
            <a:pPr marL="0" indent="0" algn="l">
              <a:spcBef>
                <a:spcPts val="0"/>
              </a:spcBef>
              <a:spcAft>
                <a:spcPts val="300"/>
              </a:spcAft>
              <a:buNone/>
            </a:pPr>
            <a:r>
              <a:rPr lang="en-US" sz="1600" dirty="0">
                <a:solidFill>
                  <a:srgbClr val="FF0000"/>
                </a:solidFill>
              </a:rPr>
              <a:t>a = −1, d = 2 (x ≤ 0);  a = 1, d = −1 (x ≥ 0);</a:t>
            </a:r>
          </a:p>
          <a:p>
            <a:pPr marL="0" indent="0" algn="l">
              <a:spcBef>
                <a:spcPts val="0"/>
              </a:spcBef>
              <a:spcAft>
                <a:spcPts val="300"/>
              </a:spcAft>
              <a:buNone/>
            </a:pPr>
            <a:r>
              <a:rPr lang="en-US" sz="1600" dirty="0">
                <a:solidFill>
                  <a:srgbClr val="FF0000"/>
                </a:solidFill>
              </a:rPr>
              <a:t>a = −1, d = −2 (x ≥ 0);  a = −1, d = −4 (x ≤ 0)</a:t>
            </a:r>
          </a:p>
        </p:txBody>
      </p:sp>
      <p:sp>
        <p:nvSpPr>
          <p:cNvPr id="920" name="Answer 920"/>
          <p:cNvSpPr txBox="1"/>
          <p:nvPr/>
        </p:nvSpPr>
        <p:spPr>
          <a:xfrm>
            <a:off x="6413500" y="5683250"/>
            <a:ext cx="55880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Version C (d = 0; change a), clockwise from top left:</a:t>
            </a:r>
          </a:p>
          <a:p>
            <a:pPr marL="0" indent="0" algn="l">
              <a:spcBef>
                <a:spcPts val="0"/>
              </a:spcBef>
              <a:spcAft>
                <a:spcPts val="300"/>
              </a:spcAft>
              <a:buNone/>
            </a:pPr>
            <a:r>
              <a:rPr lang="en-US" sz="1600" dirty="0">
                <a:solidFill>
                  <a:srgbClr val="FF0000"/>
                </a:solidFill>
              </a:rPr>
              <a:t>a = −3/2 (x ≤ 0);  a = 4/5 (x ≥ 0);</a:t>
            </a:r>
          </a:p>
          <a:p>
            <a:pPr marL="0" indent="0" algn="l">
              <a:spcBef>
                <a:spcPts val="0"/>
              </a:spcBef>
              <a:spcAft>
                <a:spcPts val="300"/>
              </a:spcAft>
              <a:buNone/>
            </a:pPr>
            <a:r>
              <a:rPr lang="en-US" sz="1600" dirty="0">
                <a:solidFill>
                  <a:srgbClr val="FF0000"/>
                </a:solidFill>
              </a:rPr>
              <a:t>a = −3 (x ≥ 0);  a = −1/5 (x ≤ 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9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9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5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b="1" dirty="0"/>
              <a:t>Applying Linear Function Transformations </a:t>
            </a:r>
            <a:r>
              <a:rPr lang="en-US" sz="2000" b="1" dirty="0">
                <a:solidFill>
                  <a:schemeClr val="bg1"/>
                </a:solidFill>
              </a:rPr>
              <a:t>(5 of 6)</a:t>
            </a:r>
            <a:endParaRPr dirty="0">
              <a:solidFill>
                <a:schemeClr val="bg1"/>
              </a:solidFill>
            </a:endParaRPr>
          </a:p>
        </p:txBody>
      </p:sp>
      <p:sp>
        <p:nvSpPr>
          <p:cNvPr id="927" name="Google Shape;927;p5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1.5!</a:t>
            </a:r>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p:txBody>
      </p:sp>
      <p:pic>
        <p:nvPicPr>
          <p:cNvPr id="928" name="Google Shape;928;p5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933"/>
        <p:cNvGrpSpPr/>
        <p:nvPr/>
      </p:nvGrpSpPr>
      <p:grpSpPr>
        <a:xfrm>
          <a:off x="0" y="0"/>
          <a:ext cx="0" cy="0"/>
          <a:chOff x="0" y="0"/>
          <a:chExt cx="0" cy="0"/>
        </a:xfrm>
      </p:grpSpPr>
      <p:sp>
        <p:nvSpPr>
          <p:cNvPr id="934" name="Google Shape;934;p5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(6 of 6)</a:t>
            </a:r>
            <a:endParaRPr dirty="0">
              <a:solidFill>
                <a:schemeClr val="bg1"/>
              </a:solidFill>
            </a:endParaRPr>
          </a:p>
        </p:txBody>
      </p:sp>
      <p:sp>
        <p:nvSpPr>
          <p:cNvPr id="935" name="Google Shape;935;p5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941" name="Google Shape;941;p60"/>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Talk the Talk</a:t>
            </a:r>
            <a:endParaRPr dirty="0"/>
          </a:p>
        </p:txBody>
      </p:sp>
      <p:sp>
        <p:nvSpPr>
          <p:cNvPr id="942" name="Google Shape;942;p60" descr="5 minutes"/>
          <p:cNvSpPr txBox="1">
            <a:spLocks noGrp="1"/>
          </p:cNvSpPr>
          <p:nvPr>
            <p:ph type="body" idx="1"/>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947"/>
        <p:cNvGrpSpPr/>
        <p:nvPr/>
      </p:nvGrpSpPr>
      <p:grpSpPr>
        <a:xfrm>
          <a:off x="0" y="0"/>
          <a:ext cx="0" cy="0"/>
          <a:chOff x="0" y="0"/>
          <a:chExt cx="0" cy="0"/>
        </a:xfrm>
      </p:grpSpPr>
      <p:sp>
        <p:nvSpPr>
          <p:cNvPr id="948" name="Google Shape;948;p6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(1 of 4)</a:t>
            </a:r>
            <a:endParaRPr dirty="0">
              <a:solidFill>
                <a:schemeClr val="bg1"/>
              </a:solidFill>
            </a:endParaRPr>
          </a:p>
        </p:txBody>
      </p:sp>
      <p:pic>
        <p:nvPicPr>
          <p:cNvPr id="950" name="Google Shape;950;p61"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p:cNvPicPr>
            <a:picLocks noChangeAspect="1"/>
          </p:cNvPicPr>
          <p:nvPr/>
        </p:nvPicPr>
        <p:blipFill rotWithShape="1">
          <a:blip r:embed="rId3">
            <a:alphaModFix/>
          </a:blip>
          <a:srcRect/>
          <a:stretch/>
        </p:blipFill>
        <p:spPr>
          <a:xfrm>
            <a:off x="922145" y="2813688"/>
            <a:ext cx="3895925" cy="3743517"/>
          </a:xfrm>
          <a:prstGeom prst="rect">
            <a:avLst/>
          </a:prstGeom>
          <a:noFill/>
          <a:ln>
            <a:noFill/>
          </a:ln>
        </p:spPr>
      </p:pic>
      <mc:AlternateContent xmlns:mc="http://schemas.openxmlformats.org/markup-compatibility/2006" xmlns:a14="http://schemas.microsoft.com/office/drawing/2010/main">
        <mc:Choice Requires="a14">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pPr marL="0" marR="0" lvl="0" indent="0" algn="ctr" rtl="0">
                            <a:spcBef>
                              <a:spcPts val="0"/>
                            </a:spcBef>
                            <a:spcAft>
                              <a:spcPts val="0"/>
                            </a:spcAft>
                            <a:buNone/>
                          </a:pP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1</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Choice>
        <mc:Fallback xmlns="">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4"/>
                          <a:stretch>
                            <a:fillRect l="-260" t="-101020" r="-521" b="-302041"/>
                          </a:stretch>
                        </a:blip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Fallback>
      </mc:AlternateContent>
      <p:sp>
        <p:nvSpPr>
          <p:cNvPr id="2" name="TextBox 1">
            <a:extLst>
              <a:ext uri="{FF2B5EF4-FFF2-40B4-BE49-F238E27FC236}">
                <a16:creationId xmlns:a16="http://schemas.microsoft.com/office/drawing/2014/main" id="{EB590765-BE7F-B865-9D51-11B4475F99F4}"/>
              </a:ext>
            </a:extLst>
          </p:cNvPr>
          <p:cNvSpPr txBox="1"/>
          <p:nvPr/>
        </p:nvSpPr>
        <p:spPr>
          <a:xfrm>
            <a:off x="922146" y="1610686"/>
            <a:ext cx="9740262" cy="954107"/>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 graph shows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four transformations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957"/>
        <p:cNvGrpSpPr/>
        <p:nvPr/>
      </p:nvGrpSpPr>
      <p:grpSpPr>
        <a:xfrm>
          <a:off x="0" y="0"/>
          <a:ext cx="0" cy="0"/>
          <a:chOff x="0" y="0"/>
          <a:chExt cx="0" cy="0"/>
        </a:xfrm>
      </p:grpSpPr>
      <p:sp>
        <p:nvSpPr>
          <p:cNvPr id="958" name="Google Shape;958;p6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(2 of 4)</a:t>
            </a:r>
            <a:endParaRPr dirty="0">
              <a:solidFill>
                <a:schemeClr val="bg1"/>
              </a:solidFill>
            </a:endParaRPr>
          </a:p>
        </p:txBody>
      </p:sp>
      <p:sp>
        <p:nvSpPr>
          <p:cNvPr id="2" name="Google Shape;951;p61">
            <a:extLst>
              <a:ext uri="{FF2B5EF4-FFF2-40B4-BE49-F238E27FC236}">
                <a16:creationId xmlns:a16="http://schemas.microsoft.com/office/drawing/2014/main" id="{7E87F3A4-23C7-406C-F142-34C5D62FEC7C}"/>
              </a:ext>
            </a:extLst>
          </p:cNvPr>
          <p:cNvSpPr/>
          <p:nvPr/>
        </p:nvSpPr>
        <p:spPr>
          <a:xfrm>
            <a:off x="777240" y="1846159"/>
            <a:ext cx="2326687" cy="1693996"/>
          </a:xfrm>
          <a:prstGeom prst="wedgeRoundRectCallout">
            <a:avLst>
              <a:gd name="adj1" fmla="val -30166"/>
              <a:gd name="adj2" fmla="val -65415"/>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Did you justify your mathematical reasoning?</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959" name="Google Shape;959;p62"/>
          <p:cNvSpPr txBox="1"/>
          <p:nvPr/>
        </p:nvSpPr>
        <p:spPr>
          <a:xfrm>
            <a:off x="3347206" y="1628044"/>
            <a:ext cx="7877264" cy="455464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dirty="0">
                <a:solidFill>
                  <a:srgbClr val="000000"/>
                </a:solidFill>
                <a:latin typeface="Calibri"/>
                <a:ea typeface="Calibri"/>
                <a:cs typeface="Calibri"/>
                <a:sym typeface="Calibri"/>
              </a:rPr>
              <a:t>Match each transformed graph to one of the transformations in the table. Explain your reasoning.</a:t>
            </a: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k</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br>
              <a:rPr lang="en-US" sz="2800" b="0" i="0" u="none" strike="noStrike" dirty="0">
                <a:latin typeface="Calibri"/>
                <a:ea typeface="Calibri"/>
                <a:cs typeface="Calibri"/>
                <a:sym typeface="Calibri"/>
              </a:rPr>
            </a:br>
            <a:endParaRPr lang="en-US" sz="2800" b="0" i="0" u="none" strike="noStrike" dirty="0">
              <a:latin typeface="Calibri"/>
              <a:ea typeface="Calibri"/>
              <a:cs typeface="Calibri"/>
              <a:sym typeface="Calibri"/>
            </a:endParaRP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h</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g</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br>
              <a:rPr lang="en-US" sz="2800" b="0" i="0" u="none" strike="noStrike" dirty="0">
                <a:latin typeface="Calibri"/>
                <a:ea typeface="Calibri"/>
                <a:cs typeface="Calibri"/>
                <a:sym typeface="Calibri"/>
              </a:rPr>
            </a:br>
            <a:endParaRPr lang="en-US" sz="2800" b="0" i="0" u="none" strike="noStrike" dirty="0">
              <a:latin typeface="Calibri"/>
              <a:ea typeface="Calibri"/>
              <a:cs typeface="Calibri"/>
              <a:sym typeface="Calibri"/>
            </a:endParaRP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j</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endParaRPr sz="2800" b="0" i="0" u="none" strike="noStrike" dirty="0">
              <a:solidFill>
                <a:srgbClr val="000000"/>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960" name="Answer 960"/>
          <p:cNvSpPr txBox="1"/>
          <p:nvPr/>
        </p:nvSpPr>
        <p:spPr>
          <a:xfrm>
            <a:off x="4826000" y="2654300"/>
            <a:ext cx="2667000" cy="3556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400" dirty="0">
                <a:solidFill>
                  <a:srgbClr val="FF0000"/>
                </a:solidFill>
              </a:rPr>
              <a:t>f(x) + 8</a:t>
            </a:r>
          </a:p>
        </p:txBody>
      </p:sp>
      <p:sp>
        <p:nvSpPr>
          <p:cNvPr id="961" name="Answer 961"/>
          <p:cNvSpPr txBox="1"/>
          <p:nvPr/>
        </p:nvSpPr>
        <p:spPr>
          <a:xfrm>
            <a:off x="3429000" y="4381500"/>
            <a:ext cx="850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k(x): f(x) translated up 8 units.</a:t>
            </a:r>
          </a:p>
        </p:txBody>
      </p:sp>
      <p:sp>
        <p:nvSpPr>
          <p:cNvPr id="962" name="Answer 962"/>
          <p:cNvSpPr txBox="1"/>
          <p:nvPr/>
        </p:nvSpPr>
        <p:spPr>
          <a:xfrm>
            <a:off x="4826000" y="3073400"/>
            <a:ext cx="2667000" cy="3556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400" dirty="0">
                <a:solidFill>
                  <a:srgbClr val="FF0000"/>
                </a:solidFill>
              </a:rPr>
              <a:t>2 · f(x)</a:t>
            </a:r>
          </a:p>
        </p:txBody>
      </p:sp>
      <p:sp>
        <p:nvSpPr>
          <p:cNvPr id="963" name="Answer 963"/>
          <p:cNvSpPr txBox="1"/>
          <p:nvPr/>
        </p:nvSpPr>
        <p:spPr>
          <a:xfrm>
            <a:off x="3429000" y="4794250"/>
            <a:ext cx="850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h(x): f(x) stretched vertically by a factor of 2 (through the origin, steeper).</a:t>
            </a:r>
          </a:p>
        </p:txBody>
      </p:sp>
      <p:sp>
        <p:nvSpPr>
          <p:cNvPr id="964" name="Answer 964"/>
          <p:cNvSpPr txBox="1"/>
          <p:nvPr/>
        </p:nvSpPr>
        <p:spPr>
          <a:xfrm>
            <a:off x="4826000" y="3492500"/>
            <a:ext cx="2667000" cy="3556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400" dirty="0">
                <a:solidFill>
                  <a:srgbClr val="FF0000"/>
                </a:solidFill>
              </a:rPr>
              <a:t>(1/3) · f(x)</a:t>
            </a:r>
          </a:p>
        </p:txBody>
      </p:sp>
      <p:sp>
        <p:nvSpPr>
          <p:cNvPr id="965" name="Answer 965"/>
          <p:cNvSpPr txBox="1"/>
          <p:nvPr/>
        </p:nvSpPr>
        <p:spPr>
          <a:xfrm>
            <a:off x="3429000" y="5207000"/>
            <a:ext cx="850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f(x) compressed vertically by a factor of 1/3 (through the origin, less steep).</a:t>
            </a:r>
          </a:p>
        </p:txBody>
      </p:sp>
      <p:sp>
        <p:nvSpPr>
          <p:cNvPr id="966" name="Answer 966"/>
          <p:cNvSpPr txBox="1"/>
          <p:nvPr/>
        </p:nvSpPr>
        <p:spPr>
          <a:xfrm>
            <a:off x="4826000" y="3911600"/>
            <a:ext cx="2667000" cy="3556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400" dirty="0">
                <a:solidFill>
                  <a:srgbClr val="FF0000"/>
                </a:solidFill>
              </a:rPr>
              <a:t>f(x) − 7</a:t>
            </a:r>
          </a:p>
        </p:txBody>
      </p:sp>
      <p:sp>
        <p:nvSpPr>
          <p:cNvPr id="967" name="Answer 967"/>
          <p:cNvSpPr txBox="1"/>
          <p:nvPr/>
        </p:nvSpPr>
        <p:spPr>
          <a:xfrm>
            <a:off x="3429000" y="5619750"/>
            <a:ext cx="850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j(x): f(x) translated down 7 units.</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96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96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6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6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6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6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6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6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(3 of 4)</a:t>
            </a:r>
            <a:endParaRPr dirty="0">
              <a:solidFill>
                <a:schemeClr val="bg1"/>
              </a:solidFill>
            </a:endParaRPr>
          </a:p>
        </p:txBody>
      </p:sp>
      <p:sp>
        <p:nvSpPr>
          <p:cNvPr id="967" name="Google Shape;967;p6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sz="2800" b="0" i="0" u="none" strike="noStrike" dirty="0">
              <a:solidFill>
                <a:srgbClr val="000000"/>
              </a:solidFill>
              <a:latin typeface="Calibri"/>
              <a:ea typeface="Calibri"/>
              <a:cs typeface="Calibri"/>
              <a:sym typeface="Calibri"/>
            </a:endParaRPr>
          </a:p>
        </p:txBody>
      </p:sp>
      <p:pic>
        <p:nvPicPr>
          <p:cNvPr id="968" name="Google Shape;968;p6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973"/>
        <p:cNvGrpSpPr/>
        <p:nvPr/>
      </p:nvGrpSpPr>
      <p:grpSpPr>
        <a:xfrm>
          <a:off x="0" y="0"/>
          <a:ext cx="0" cy="0"/>
          <a:chOff x="0" y="0"/>
          <a:chExt cx="0" cy="0"/>
        </a:xfrm>
      </p:grpSpPr>
      <p:sp>
        <p:nvSpPr>
          <p:cNvPr id="974" name="Google Shape;974;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(4 of 4)</a:t>
            </a:r>
            <a:endParaRPr dirty="0">
              <a:solidFill>
                <a:schemeClr val="bg1"/>
              </a:solidFill>
            </a:endParaRPr>
          </a:p>
        </p:txBody>
      </p:sp>
      <p:sp>
        <p:nvSpPr>
          <p:cNvPr id="975" name="Google Shape;975;p6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980"/>
        <p:cNvGrpSpPr/>
        <p:nvPr/>
      </p:nvGrpSpPr>
      <p:grpSpPr>
        <a:xfrm>
          <a:off x="0" y="0"/>
          <a:ext cx="0" cy="0"/>
          <a:chOff x="0" y="0"/>
          <a:chExt cx="0" cy="0"/>
        </a:xfrm>
      </p:grpSpPr>
      <p:sp>
        <p:nvSpPr>
          <p:cNvPr id="981" name="Google Shape;981;p65"/>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Prepare</a:t>
            </a:r>
            <a:endParaRPr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986"/>
        <p:cNvGrpSpPr/>
        <p:nvPr/>
      </p:nvGrpSpPr>
      <p:grpSpPr>
        <a:xfrm>
          <a:off x="0" y="0"/>
          <a:ext cx="0" cy="0"/>
          <a:chOff x="0" y="0"/>
          <a:chExt cx="0" cy="0"/>
        </a:xfrm>
      </p:grpSpPr>
      <p:sp>
        <p:nvSpPr>
          <p:cNvPr id="987" name="Google Shape;987;p66"/>
          <p:cNvSpPr txBox="1">
            <a:spLocks noGrp="1"/>
          </p:cNvSpPr>
          <p:nvPr>
            <p:ph type="title"/>
          </p:nvPr>
        </p:nvSpPr>
        <p:spPr>
          <a:xfrm>
            <a:off x="59436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sz="3600" b="1"/>
              <a:t>Prepare for Module 2 Topic 2 Lesson 2</a:t>
            </a:r>
            <a:endParaRPr/>
          </a:p>
        </p:txBody>
      </p:sp>
      <p:sp>
        <p:nvSpPr>
          <p:cNvPr id="988" name="Google Shape;988;p66"/>
          <p:cNvSpPr txBox="1"/>
          <p:nvPr/>
        </p:nvSpPr>
        <p:spPr>
          <a:xfrm>
            <a:off x="594360" y="1614894"/>
            <a:ext cx="912114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Write a linear function for each graph. </a:t>
            </a:r>
            <a:endParaRPr dirty="0"/>
          </a:p>
        </p:txBody>
      </p:sp>
      <p:sp>
        <p:nvSpPr>
          <p:cNvPr id="992" name="Google Shape;992;p66"/>
          <p:cNvSpPr txBox="1"/>
          <p:nvPr/>
        </p:nvSpPr>
        <p:spPr>
          <a:xfrm>
            <a:off x="594360" y="2554111"/>
            <a:ext cx="88011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1.</a:t>
            </a:r>
            <a:endParaRPr dirty="0"/>
          </a:p>
        </p:txBody>
      </p:sp>
      <p:pic>
        <p:nvPicPr>
          <p:cNvPr id="989" name="Google Shape;989;p66" descr="A graph of line f of x on the coordinate plane. The line rises from left to right through the points (negative 8, negative 10) and (negative 2, negative 6) and (4, negative 2)."/>
          <p:cNvPicPr>
            <a:picLocks noChangeAspect="1"/>
          </p:cNvPicPr>
          <p:nvPr/>
        </p:nvPicPr>
        <p:blipFill rotWithShape="1">
          <a:blip r:embed="rId3">
            <a:alphaModFix/>
          </a:blip>
          <a:srcRect/>
          <a:stretch/>
        </p:blipFill>
        <p:spPr>
          <a:xfrm>
            <a:off x="1034415" y="2684244"/>
            <a:ext cx="3324396" cy="3486329"/>
          </a:xfrm>
          <a:prstGeom prst="rect">
            <a:avLst/>
          </a:prstGeom>
          <a:noFill/>
          <a:ln>
            <a:noFill/>
          </a:ln>
        </p:spPr>
      </p:pic>
      <p:sp>
        <p:nvSpPr>
          <p:cNvPr id="993" name="Google Shape;993;p66"/>
          <p:cNvSpPr txBox="1"/>
          <p:nvPr/>
        </p:nvSpPr>
        <p:spPr>
          <a:xfrm>
            <a:off x="6463665" y="2554111"/>
            <a:ext cx="58293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2.</a:t>
            </a:r>
            <a:endParaRPr dirty="0"/>
          </a:p>
        </p:txBody>
      </p:sp>
      <p:pic>
        <p:nvPicPr>
          <p:cNvPr id="990" name="Google Shape;990;p66" descr="A graph of line g of x on the coordinate plane. The line falls from left to right through the points (negative 8, 4) and (0, 2) and (8, 0)."/>
          <p:cNvPicPr>
            <a:picLocks noChangeAspect="1"/>
          </p:cNvPicPr>
          <p:nvPr/>
        </p:nvPicPr>
        <p:blipFill rotWithShape="1">
          <a:blip r:embed="rId4">
            <a:alphaModFix/>
          </a:blip>
          <a:srcRect/>
          <a:stretch/>
        </p:blipFill>
        <p:spPr>
          <a:xfrm>
            <a:off x="7145611" y="2617816"/>
            <a:ext cx="3352973" cy="3495855"/>
          </a:xfrm>
          <a:prstGeom prst="rect">
            <a:avLst/>
          </a:prstGeom>
          <a:noFill/>
          <a:ln>
            <a:noFill/>
          </a:ln>
        </p:spPr>
      </p:pic>
      <p:pic>
        <p:nvPicPr>
          <p:cNvPr id="991" name="Google Shape;991;p66">
            <a:extLst>
              <a:ext uri="{C183D7F6-B498-43B3-948B-1728B52AA6E4}">
                <adec:decorative xmlns:adec="http://schemas.microsoft.com/office/drawing/2017/decorative" val="1"/>
              </a:ext>
            </a:extLst>
          </p:cNvPr>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932069" y="2620413"/>
            <a:ext cx="314642" cy="3498362"/>
          </a:xfrm>
          <a:prstGeom prst="rect">
            <a:avLst/>
          </a:prstGeom>
          <a:noFill/>
          <a:ln>
            <a:noFill/>
          </a:ln>
        </p:spPr>
      </p:pic>
      <p:sp>
        <p:nvSpPr>
          <p:cNvPr id="994" name="Answer 994"/>
          <p:cNvSpPr txBox="1"/>
          <p:nvPr/>
        </p:nvSpPr>
        <p:spPr>
          <a:xfrm>
            <a:off x="10350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f(x) = (2/3)x − 14/3</a:t>
            </a:r>
          </a:p>
        </p:txBody>
      </p:sp>
      <p:sp>
        <p:nvSpPr>
          <p:cNvPr id="995" name="Answer 995"/>
          <p:cNvSpPr txBox="1"/>
          <p:nvPr/>
        </p:nvSpPr>
        <p:spPr>
          <a:xfrm>
            <a:off x="71437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g(x) = −(1/4)x + 2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99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99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98"/>
        <p:cNvGrpSpPr/>
        <p:nvPr/>
      </p:nvGrpSpPr>
      <p:grpSpPr>
        <a:xfrm>
          <a:off x="0" y="0"/>
          <a:ext cx="0" cy="0"/>
          <a:chOff x="0" y="0"/>
          <a:chExt cx="0" cy="0"/>
        </a:xfrm>
      </p:grpSpPr>
      <p:sp>
        <p:nvSpPr>
          <p:cNvPr id="999" name="Google Shape;999;p67"/>
          <p:cNvSpPr txBox="1">
            <a:spLocks noGrp="1"/>
          </p:cNvSpPr>
          <p:nvPr>
            <p:ph type="title"/>
          </p:nvPr>
        </p:nvSpPr>
        <p:spPr>
          <a:xfrm>
            <a:off x="838200" y="-360727"/>
            <a:ext cx="10514013" cy="360727"/>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68"/>
          <p:cNvSpPr txBox="1">
            <a:spLocks noGrp="1"/>
          </p:cNvSpPr>
          <p:nvPr>
            <p:ph type="title"/>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chemeClr val="lt1"/>
              </a:buClr>
              <a:buSzPts val="1800"/>
              <a:buFont typeface="Arial"/>
              <a:buNone/>
            </a:pPr>
            <a:r>
              <a:rPr lang="en-US" sz="1800" b="0" i="0" u="none" strike="noStrike" cap="none">
                <a:solidFill>
                  <a:schemeClr val="lt1"/>
                </a:solidFill>
                <a:latin typeface="Calibri"/>
                <a:ea typeface="Calibri"/>
                <a:cs typeface="Calibri"/>
                <a:sym typeface="Calibri"/>
              </a:rPr>
              <a:t>BLMATH_AlgI_M2_T2_L1_DCS_ENG</a:t>
            </a:r>
            <a:endParaRPr sz="1800" b="0" i="0" u="none" strike="noStrike" cap="none">
              <a:solidFill>
                <a:schemeClr val="lt1"/>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16065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1.4 Q2a: the TE says the slope 'increases' or 'decreases'; it means steepness. For f(x) = x the new slope is a.</a:t>
            </a:r>
          </a:p>
        </p:txBody>
      </p:sp>
      <p:sp>
        <p:nvSpPr>
          <p:cNvPr id="4" name="Answer 4"/>
          <p:cNvSpPr txBox="1"/>
          <p:nvPr/>
        </p:nvSpPr>
        <p:spPr>
          <a:xfrm>
            <a:off x="869950" y="26416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1.5 Q3 Version B: for the lower Quadrant II target (−5, 1), the TE's a = 1, d = 4 misses; it is a = 1, d = 6.</a:t>
            </a:r>
          </a:p>
        </p:txBody>
      </p:sp>
      <p:sp>
        <p:nvSpPr>
          <p:cNvPr id="5" name="Answer 5"/>
          <p:cNvSpPr txBox="1"/>
          <p:nvPr/>
        </p:nvSpPr>
        <p:spPr>
          <a:xfrm>
            <a:off x="869950" y="36766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Q1: the TE gives f(x) = (2/3)x − 5. The graph's points give f(x) = (2/3)x − 14/3.</a:t>
            </a:r>
          </a:p>
        </p:txBody>
      </p:sp>
      <p:sp>
        <p:nvSpPr>
          <p:cNvPr id="6" name="Answer 6"/>
          <p:cNvSpPr txBox="1"/>
          <p:nvPr/>
        </p:nvSpPr>
        <p:spPr>
          <a:xfrm>
            <a:off x="869950" y="47117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50's second item 'a.' is b; slide 52's first item 'a.' is e.</a:t>
            </a:r>
          </a:p>
        </p:txBody>
      </p:sp>
      <p:sp>
        <p:nvSpPr>
          <p:cNvPr id="7" name="Answer 7"/>
          <p:cNvSpPr txBox="1"/>
          <p:nvPr/>
        </p:nvSpPr>
        <p:spPr>
          <a:xfrm>
            <a:off x="869950" y="57467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 including the Assignment (pp. 285-286) and Prepare Q2.</a:t>
            </a:r>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B45C4A7-6891-443F-9535-D1FBCB4BD1E2}">
  <ds:schemaRefs>
    <ds:schemaRef ds:uri="http://purl.org/dc/elements/1.1/"/>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AEC99491-3A95-4F83-BABA-62BF948F79F6}">
  <ds:schemaRefs>
    <ds:schemaRef ds:uri="http://schemas.microsoft.com/sharepoint/v3/contenttype/forms"/>
  </ds:schemaRefs>
</ds:datastoreItem>
</file>

<file path=customXml/itemProps3.xml><?xml version="1.0" encoding="utf-8"?>
<ds:datastoreItem xmlns:ds="http://schemas.openxmlformats.org/officeDocument/2006/customXml" ds:itemID="{FEF79C62-3C7F-4C8F-8888-7B0081936F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312</TotalTime>
  <Words>8086</Words>
  <Application>Microsoft Office PowerPoint</Application>
  <PresentationFormat>Custom</PresentationFormat>
  <Paragraphs>802</Paragraphs>
  <Slides>71</Slides>
  <Notes>71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Cambria Math</vt:lpstr>
      <vt:lpstr>Noto Sans Symbols</vt:lpstr>
      <vt:lpstr>Calibri</vt:lpstr>
      <vt:lpstr>Arial</vt:lpstr>
      <vt:lpstr>A1_green</vt:lpstr>
      <vt:lpstr>Transforming Linear Functions</vt:lpstr>
      <vt:lpstr>Objectives</vt:lpstr>
      <vt:lpstr>Key Term</vt:lpstr>
      <vt:lpstr>Essential Question (1 of 3)</vt:lpstr>
      <vt:lpstr>Day 1</vt:lpstr>
      <vt:lpstr>Getting Started</vt:lpstr>
      <vt:lpstr>Returning to Transformation Station (1 of 8)</vt:lpstr>
      <vt:lpstr>Returning to Transformation Station (2 of 8)</vt:lpstr>
      <vt:lpstr>Returning to Transformation Station (3 of 8)</vt:lpstr>
      <vt:lpstr>Returning to Transformation Station (4 of 8)</vt:lpstr>
      <vt:lpstr>Returning to Transformation Station (5 of 8)</vt:lpstr>
      <vt:lpstr>Returning to Transformation Station (6 of 8)</vt:lpstr>
      <vt:lpstr>Returning to Transformation Station (7 of 8)</vt:lpstr>
      <vt:lpstr>Returning to Transformation Station (8 of 8)</vt:lpstr>
      <vt:lpstr>Activity 1.1</vt:lpstr>
      <vt:lpstr>Vertical Translations of Functions (1 of 10)</vt:lpstr>
      <vt:lpstr>Vertical Translations of Functions (2 of 10)</vt:lpstr>
      <vt:lpstr>Vertical Translations of Functions (3 of 10)</vt:lpstr>
      <vt:lpstr>Vertical Translations of Functions (4 of 10)</vt:lpstr>
      <vt:lpstr>Vertical Translations of Functions (5 of 10)</vt:lpstr>
      <vt:lpstr>Vertical Translations of Functions (6 of 10)</vt:lpstr>
      <vt:lpstr>Vertical Translations of Functions (7 of 10)</vt:lpstr>
      <vt:lpstr>Vertical Translations of Functions (8 of 10)</vt:lpstr>
      <vt:lpstr>Vertical Translations of Functions (9 of 10)</vt:lpstr>
      <vt:lpstr>Vertical Translations of Functions (10 of 10)</vt:lpstr>
      <vt:lpstr>Day 2</vt:lpstr>
      <vt:lpstr>Essential Question (2 of 3)</vt:lpstr>
      <vt:lpstr>Activity 1.2</vt:lpstr>
      <vt:lpstr>Slopes of Parallel Lines (1 of 8)</vt:lpstr>
      <vt:lpstr>Slopes of Parallel Lines (2 of 8)</vt:lpstr>
      <vt:lpstr>Slopes of Parallel Lines (3 of 8)</vt:lpstr>
      <vt:lpstr>Slopes of Parallel Lines (4 of 8)</vt:lpstr>
      <vt:lpstr>Slopes of Parallel Lines (5 of 8)</vt:lpstr>
      <vt:lpstr>Slopes of Parallel Lines (6 of 8)</vt:lpstr>
      <vt:lpstr>Slopes of Parallel Lines (7 of 8)</vt:lpstr>
      <vt:lpstr>Slopes of Parallel Lines (8 of 8)</vt:lpstr>
      <vt:lpstr>Activity 1.3</vt:lpstr>
      <vt:lpstr>Vertical Dilations of Functions (1 of 9)</vt:lpstr>
      <vt:lpstr>Vertical Dilations of Functions (2 of 9)</vt:lpstr>
      <vt:lpstr>Vertical Dilations of Functions (3 of 9)</vt:lpstr>
      <vt:lpstr>Vertical Dilations of Functions (4 of 9)</vt:lpstr>
      <vt:lpstr>Vertical Dilations of Functions (5 of 9)</vt:lpstr>
      <vt:lpstr>Vertical Dilations of Functions (6 of 9)</vt:lpstr>
      <vt:lpstr>Vertical Dilations of Functions (7 of 9)</vt:lpstr>
      <vt:lpstr>Vertical Dilations of Functions (8 of 9)</vt:lpstr>
      <vt:lpstr>Vertical Dilations of Functions (9 of 9)</vt:lpstr>
      <vt:lpstr>Day 3</vt:lpstr>
      <vt:lpstr>Essential Question (3 of 3)</vt:lpstr>
      <vt:lpstr>Activity 1.4</vt:lpstr>
      <vt:lpstr>Vertical Dilations and Vertical Translations of Functions (1 of 6)</vt:lpstr>
      <vt:lpstr>Vertical Dilations and Vertical Translations of Functions (2 of 6)</vt:lpstr>
      <vt:lpstr>Vertical Dilations and Vertical Translations of Functions (3 of 6)</vt:lpstr>
      <vt:lpstr>Vertical Dilations and Vertical Translations of Functions (4 of 6)</vt:lpstr>
      <vt:lpstr>Vertical Dilations and Vertical Translations of Functions (5 of 6)</vt:lpstr>
      <vt:lpstr>Vertical Dilations and Vertical Translations of Functions (6 of 6)</vt:lpstr>
      <vt:lpstr>Activity 1.5</vt:lpstr>
      <vt:lpstr>Applying Linear Function Transformations (1 of 6)</vt:lpstr>
      <vt:lpstr>Applying Linear Function Transformations (2 of 6)</vt:lpstr>
      <vt:lpstr>Applying Linear Function Transformations (3 of 6)</vt:lpstr>
      <vt:lpstr>Applying Linear Function Transformations (4 of 6)</vt:lpstr>
      <vt:lpstr>Applying Linear Function Transformations (5 of 6)</vt:lpstr>
      <vt:lpstr>Applying Linear Function Transformations (6 of 6)</vt:lpstr>
      <vt:lpstr>Talk the Talk</vt:lpstr>
      <vt:lpstr>Function Matching (1 of 4)</vt:lpstr>
      <vt:lpstr>Function Matching (2 of 4)</vt:lpstr>
      <vt:lpstr>Function Matching (3 of 4)</vt:lpstr>
      <vt:lpstr>Function Matching (4 of 4)</vt:lpstr>
      <vt:lpstr>Prepare</vt:lpstr>
      <vt:lpstr>Prepare for Module 2 Topic 2 Lesson 2</vt:lpstr>
      <vt:lpstr>Acknowledgment and Notice</vt:lpstr>
      <vt:lpstr>BLMATH_AlgI_M2_T2_L1_DCS_ENG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Transforming Linear Functions</dc:title>
  <dc:creator>Singh Amandeep</dc:creator>
  <cp:lastModifiedBy>Gann, Nickole</cp:lastModifiedBy>
  <cp:revision>66</cp:revision>
  <dcterms:created xsi:type="dcterms:W3CDTF">2024-02-22T09:58:00Z</dcterms:created>
  <dcterms:modified xsi:type="dcterms:W3CDTF">2025-05-28T18:54:33Z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