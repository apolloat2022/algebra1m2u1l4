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Override PartName="/ppt/slides/slide72.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76"/>
  </p:notesMasterIdLst>
  <p:sldIdLst>
    <p:sldId id="256" r:id="rId5"/>
    <p:sldId id="257" r:id="rId6"/>
    <p:sldId id="259" r:id="rId7"/>
    <p:sldId id="326" r:id="rId8"/>
    <p:sldId id="260" r:id="rId9"/>
    <p:sldId id="261" r:id="rId10"/>
    <p:sldId id="262" r:id="rId11"/>
    <p:sldId id="263" r:id="rId12"/>
    <p:sldId id="264" r:id="rId13"/>
    <p:sldId id="327"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9" r:id="rId38"/>
    <p:sldId id="290" r:id="rId39"/>
    <p:sldId id="291" r:id="rId40"/>
    <p:sldId id="292" r:id="rId41"/>
    <p:sldId id="293" r:id="rId42"/>
    <p:sldId id="294" r:id="rId43"/>
    <p:sldId id="328" r:id="rId44"/>
    <p:sldId id="329" r:id="rId45"/>
    <p:sldId id="330" r:id="rId46"/>
    <p:sldId id="331" r:id="rId47"/>
    <p:sldId id="296" r:id="rId48"/>
    <p:sldId id="297" r:id="rId49"/>
    <p:sldId id="298" r:id="rId50"/>
    <p:sldId id="299" r:id="rId51"/>
    <p:sldId id="300" r:id="rId52"/>
    <p:sldId id="301" r:id="rId53"/>
    <p:sldId id="302" r:id="rId54"/>
    <p:sldId id="332" r:id="rId55"/>
    <p:sldId id="333"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34" r:id="rId89"/>
    <p:sldId id="320" r:id="rId72"/>
    <p:sldId id="321" r:id="rId73"/>
    <p:sldId id="322" r:id="rId74"/>
    <p:sldId id="323" r:id="rId75"/>
  </p:sldIdLst>
  <p:sldSz cx="12190413" cy="6858000"/>
  <p:notesSz cx="6858000" cy="9144000"/>
  <p:embeddedFontLst>
    <p:embeddedFont>
      <p:font typeface="Cambria Math" panose="02040503050406030204" pitchFamily="18" charset="0"/>
      <p:regular r:id="rId7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2" roundtripDataSignature="AMtx7mjwNCD9ftmr4pUf+McDWQwZOPR8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A7EA89-3F07-4389-9B86-E936E9259881}" v="2" dt="2025-05-28T18:54:24.230"/>
  </p1510:revLst>
</p1510:revInfo>
</file>

<file path=ppt/tableStyles.xml><?xml version="1.0" encoding="utf-8"?>
<a:tblStyleLst xmlns:a="http://schemas.openxmlformats.org/drawingml/2006/main" def="{A49AC34E-657E-4A3B-9C05-DC8BE6C80247}">
  <a:tblStyle styleId="{A49AC34E-657E-4A3B-9C05-DC8BE6C80247}"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79AD5BC-A5CE-4E06-8A13-34D5E8DF52F5}"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F4F2"/>
          </a:solidFill>
        </a:fill>
      </a:tcStyle>
    </a:wholeTbl>
    <a:band1H>
      <a:tcTxStyle/>
      <a:tcStyle>
        <a:tcBdr/>
        <a:fill>
          <a:solidFill>
            <a:srgbClr val="CCE7E5"/>
          </a:solidFill>
        </a:fill>
      </a:tcStyle>
    </a:band1H>
    <a:band2H>
      <a:tcTxStyle/>
      <a:tcStyle>
        <a:tcBdr/>
      </a:tcStyle>
    </a:band2H>
    <a:band1V>
      <a:tcTxStyle/>
      <a:tcStyle>
        <a:tcBdr/>
        <a:fill>
          <a:solidFill>
            <a:srgbClr val="CCE7E5"/>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7600" autoAdjust="0"/>
  </p:normalViewPr>
  <p:slideViewPr>
    <p:cSldViewPr snapToGrid="0">
      <p:cViewPr varScale="1">
        <p:scale>
          <a:sx n="52" d="100"/>
          <a:sy n="52" d="100"/>
        </p:scale>
        <p:origin x="1586" y="4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notesMaster" Target="notesMasters/notesMaster1.xml"/><Relationship Id="rId84"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87" Type="http://schemas.microsoft.com/office/2016/11/relationships/changesInfo" Target="changesInfos/changesInfo1.xml"/><Relationship Id="rId5" Type="http://schemas.openxmlformats.org/officeDocument/2006/relationships/slide" Target="slides/slide1.xml"/><Relationship Id="rId61" Type="http://schemas.openxmlformats.org/officeDocument/2006/relationships/slide" Target="slides/slide57.xml"/><Relationship Id="rId82" Type="http://customschemas.google.com/relationships/presentationmetadata" Target="meta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86"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font" Target="fonts/font1.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5"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presProps" Target="presProps.xml"/><Relationship Id="rId88"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89" Type="http://schemas.openxmlformats.org/officeDocument/2006/relationships/slide" Target="slides/slide7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yer Montague, Kristina" userId="63c103e5-6141-480e-825f-260f173eba02" providerId="ADAL" clId="{AA9B5061-D3A8-4DB3-9424-DBE604ADC813}"/>
    <pc:docChg chg="modSld">
      <pc:chgData name="Moyer Montague, Kristina" userId="63c103e5-6141-480e-825f-260f173eba02" providerId="ADAL" clId="{AA9B5061-D3A8-4DB3-9424-DBE604ADC813}" dt="2025-05-06T20:44:44.144" v="19" actId="20577"/>
      <pc:docMkLst>
        <pc:docMk/>
      </pc:docMkLst>
      <pc:sldChg chg="modSp mod">
        <pc:chgData name="Moyer Montague, Kristina" userId="63c103e5-6141-480e-825f-260f173eba02" providerId="ADAL" clId="{AA9B5061-D3A8-4DB3-9424-DBE604ADC813}" dt="2025-05-06T20:39:56.883" v="0" actId="20577"/>
        <pc:sldMkLst>
          <pc:docMk/>
          <pc:sldMk cId="0" sldId="273"/>
        </pc:sldMkLst>
        <pc:spChg chg="mod">
          <ac:chgData name="Moyer Montague, Kristina" userId="63c103e5-6141-480e-825f-260f173eba02" providerId="ADAL" clId="{AA9B5061-D3A8-4DB3-9424-DBE604ADC813}" dt="2025-05-06T20:39:56.883" v="0" actId="20577"/>
          <ac:spMkLst>
            <pc:docMk/>
            <pc:sldMk cId="0" sldId="273"/>
            <ac:spMk id="2" creationId="{D733FEA7-2825-BF64-7DEE-85C51F26D218}"/>
          </ac:spMkLst>
        </pc:spChg>
      </pc:sldChg>
      <pc:sldChg chg="modSp mod">
        <pc:chgData name="Moyer Montague, Kristina" userId="63c103e5-6141-480e-825f-260f173eba02" providerId="ADAL" clId="{AA9B5061-D3A8-4DB3-9424-DBE604ADC813}" dt="2025-05-06T20:40:32.582" v="3" actId="20577"/>
        <pc:sldMkLst>
          <pc:docMk/>
          <pc:sldMk cId="0" sldId="277"/>
        </pc:sldMkLst>
        <pc:spChg chg="mod">
          <ac:chgData name="Moyer Montague, Kristina" userId="63c103e5-6141-480e-825f-260f173eba02" providerId="ADAL" clId="{AA9B5061-D3A8-4DB3-9424-DBE604ADC813}" dt="2025-05-06T20:40:32.582" v="3" actId="20577"/>
          <ac:spMkLst>
            <pc:docMk/>
            <pc:sldMk cId="0" sldId="277"/>
            <ac:spMk id="2" creationId="{D41161D6-DDF7-7389-E2F9-D93936034DB8}"/>
          </ac:spMkLst>
        </pc:spChg>
      </pc:sldChg>
      <pc:sldChg chg="modNotesTx">
        <pc:chgData name="Moyer Montague, Kristina" userId="63c103e5-6141-480e-825f-260f173eba02" providerId="ADAL" clId="{AA9B5061-D3A8-4DB3-9424-DBE604ADC813}" dt="2025-05-06T20:41:37.270" v="4" actId="114"/>
        <pc:sldMkLst>
          <pc:docMk/>
          <pc:sldMk cId="0" sldId="293"/>
        </pc:sldMkLst>
      </pc:sldChg>
      <pc:sldChg chg="modNotesTx">
        <pc:chgData name="Moyer Montague, Kristina" userId="63c103e5-6141-480e-825f-260f173eba02" providerId="ADAL" clId="{AA9B5061-D3A8-4DB3-9424-DBE604ADC813}" dt="2025-05-06T20:41:41.483" v="5" actId="114"/>
        <pc:sldMkLst>
          <pc:docMk/>
          <pc:sldMk cId="0" sldId="294"/>
        </pc:sldMkLst>
      </pc:sldChg>
      <pc:sldChg chg="modNotesTx">
        <pc:chgData name="Moyer Montague, Kristina" userId="63c103e5-6141-480e-825f-260f173eba02" providerId="ADAL" clId="{AA9B5061-D3A8-4DB3-9424-DBE604ADC813}" dt="2025-05-06T20:42:48.945" v="15" actId="6549"/>
        <pc:sldMkLst>
          <pc:docMk/>
          <pc:sldMk cId="0" sldId="296"/>
        </pc:sldMkLst>
      </pc:sldChg>
      <pc:sldChg chg="modSp mod">
        <pc:chgData name="Moyer Montague, Kristina" userId="63c103e5-6141-480e-825f-260f173eba02" providerId="ADAL" clId="{AA9B5061-D3A8-4DB3-9424-DBE604ADC813}" dt="2025-05-06T20:44:44.144" v="19" actId="20577"/>
        <pc:sldMkLst>
          <pc:docMk/>
          <pc:sldMk cId="0" sldId="312"/>
        </pc:sldMkLst>
        <pc:spChg chg="mod">
          <ac:chgData name="Moyer Montague, Kristina" userId="63c103e5-6141-480e-825f-260f173eba02" providerId="ADAL" clId="{AA9B5061-D3A8-4DB3-9424-DBE604ADC813}" dt="2025-05-06T20:44:21.002" v="16" actId="20577"/>
          <ac:spMkLst>
            <pc:docMk/>
            <pc:sldMk cId="0" sldId="312"/>
            <ac:spMk id="3" creationId="{6639901B-2E0D-8778-EEBF-C2C8973F3F57}"/>
          </ac:spMkLst>
        </pc:spChg>
        <pc:spChg chg="mod">
          <ac:chgData name="Moyer Montague, Kristina" userId="63c103e5-6141-480e-825f-260f173eba02" providerId="ADAL" clId="{AA9B5061-D3A8-4DB3-9424-DBE604ADC813}" dt="2025-05-06T20:44:44.144" v="19" actId="20577"/>
          <ac:spMkLst>
            <pc:docMk/>
            <pc:sldMk cId="0" sldId="312"/>
            <ac:spMk id="4" creationId="{A25028ED-4212-8C69-A279-6D284E3DE217}"/>
          </ac:spMkLst>
        </pc:spChg>
      </pc:sldChg>
      <pc:sldChg chg="modNotesTx">
        <pc:chgData name="Moyer Montague, Kristina" userId="63c103e5-6141-480e-825f-260f173eba02" providerId="ADAL" clId="{AA9B5061-D3A8-4DB3-9424-DBE604ADC813}" dt="2025-05-06T20:42:29.771" v="7" actId="20577"/>
        <pc:sldMkLst>
          <pc:docMk/>
          <pc:sldMk cId="1195593053" sldId="328"/>
        </pc:sldMkLst>
      </pc:sldChg>
      <pc:sldChg chg="modNotesTx">
        <pc:chgData name="Moyer Montague, Kristina" userId="63c103e5-6141-480e-825f-260f173eba02" providerId="ADAL" clId="{AA9B5061-D3A8-4DB3-9424-DBE604ADC813}" dt="2025-05-06T20:42:35.144" v="9" actId="6549"/>
        <pc:sldMkLst>
          <pc:docMk/>
          <pc:sldMk cId="505425452" sldId="329"/>
        </pc:sldMkLst>
      </pc:sldChg>
      <pc:sldChg chg="modNotesTx">
        <pc:chgData name="Moyer Montague, Kristina" userId="63c103e5-6141-480e-825f-260f173eba02" providerId="ADAL" clId="{AA9B5061-D3A8-4DB3-9424-DBE604ADC813}" dt="2025-05-06T20:42:39.757" v="11" actId="6549"/>
        <pc:sldMkLst>
          <pc:docMk/>
          <pc:sldMk cId="2203327660" sldId="330"/>
        </pc:sldMkLst>
      </pc:sldChg>
      <pc:sldChg chg="modNotesTx">
        <pc:chgData name="Moyer Montague, Kristina" userId="63c103e5-6141-480e-825f-260f173eba02" providerId="ADAL" clId="{AA9B5061-D3A8-4DB3-9424-DBE604ADC813}" dt="2025-05-06T20:42:43.941" v="13" actId="6549"/>
        <pc:sldMkLst>
          <pc:docMk/>
          <pc:sldMk cId="1679482497" sldId="33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9" name="Google Shape;459;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Total suggested pacing for this lesson is three 45-minute sessions.</a:t>
            </a:r>
            <a:endParaRPr dirty="0">
              <a:solidFill>
                <a:srgbClr val="000000"/>
              </a:solidFill>
            </a:endParaRPr>
          </a:p>
        </p:txBody>
      </p:sp>
      <p:sp>
        <p:nvSpPr>
          <p:cNvPr id="460" name="Google Shape;460;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6" name="Google Shape;466;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TEKS:</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A.1F: analyze mathematical relationships to connect and communicate mathematical ideas.</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A.1G: display, explain, and justify mathematical ideas and arguments using precise mathematical language in written or oral communication.</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A.2A: </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determine the domain and range of a linear function in mathematical problems, determine reasonable domain and range values for real-world situations, both continuous and discrete; and represent domain and range using inequalities.</a:t>
            </a:r>
            <a:b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b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A.2C:</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write linear equations in two variables given a table of values, a graph, and a verbal description.</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A.2E: write the equation of a line that contains a given point and is parallel to a given line.</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A.3C:</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graph linear functions on the coordinate plane and identify key features, including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zeros, and slope, in mathematical and real-world problems.</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A.3E: determine the effects on the graph of the parent function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when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is replaced by </a:t>
            </a:r>
            <a:r>
              <a:rPr lang="en-US" sz="1200" i="1" dirty="0" err="1">
                <a:solidFill>
                  <a:srgbClr val="000000"/>
                </a:solidFill>
                <a:latin typeface="Calibri" panose="020F0502020204030204" pitchFamily="34" charset="0"/>
                <a:ea typeface="Calibri" panose="020F0502020204030204" pitchFamily="34" charset="0"/>
                <a:cs typeface="Calibri" panose="020F0502020204030204" pitchFamily="34" charset="0"/>
              </a:rPr>
              <a:t>af</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bx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for specific values of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sz="1200" b="1"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lvl="0" indent="0" algn="l" rtl="0">
              <a:spcBef>
                <a:spcPts val="0"/>
              </a:spcBef>
              <a:spcAft>
                <a:spcPts val="0"/>
              </a:spcAft>
              <a:buNone/>
            </a:pPr>
            <a:endParaRPr sz="1200" b="1"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lvl="0" indent="0" algn="l" rtl="0">
              <a:spcBef>
                <a:spcPts val="0"/>
              </a:spcBef>
              <a:spcAft>
                <a:spcPts val="0"/>
              </a:spcAft>
              <a:buNone/>
            </a:pPr>
            <a:r>
              <a:rPr lang="en-US" sz="1200" b="1"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ELPS:</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2.H: understand implicit ideas and information in increasingly complex spoken language commensurate with grade-level learning expectations.</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3.F: ask and give information ranging from using a very limited bank of high-frequency, high-need, concrete vocabulary, including key words and expressions needed for basic communication in academic and social contexts, to using abstract and content-based vocabulary during extended speaking assignments.</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4.F: use visual and contextual support and support from peers and teachers to read grade-appropriate content area text, enhance and confirm understanding, and develop vocabulary, grasp of language structures, and background knowledge needed to comprehend increasingly challenging language.</a:t>
            </a:r>
            <a:endParaRPr sz="1200" b="1"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467" name="Google Shape;467;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1" name="Google Shape;481;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Parent function is introduced on Day 1</a:t>
            </a:r>
            <a:r>
              <a:rPr lang="en-US" dirty="0">
                <a:solidFill>
                  <a:srgbClr val="000000"/>
                </a:solidFill>
              </a:rPr>
              <a:t>.</a:t>
            </a:r>
            <a:endParaRPr sz="1200" b="1" dirty="0">
              <a:solidFill>
                <a:srgbClr val="000000"/>
              </a:solidFill>
              <a:latin typeface="Calibri"/>
              <a:ea typeface="Calibri"/>
              <a:cs typeface="Calibri"/>
              <a:sym typeface="Calibri"/>
            </a:endParaRPr>
          </a:p>
        </p:txBody>
      </p:sp>
      <p:sp>
        <p:nvSpPr>
          <p:cNvPr id="482" name="Google Shape;482;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a:extLst>
            <a:ext uri="{FF2B5EF4-FFF2-40B4-BE49-F238E27FC236}">
              <a16:creationId xmlns:a16="http://schemas.microsoft.com/office/drawing/2014/main" id="{925A97E4-D5C5-AD48-49D7-1A11A7005722}"/>
            </a:ext>
          </a:extLst>
        </p:cNvPr>
        <p:cNvGrpSpPr/>
        <p:nvPr/>
      </p:nvGrpSpPr>
      <p:grpSpPr>
        <a:xfrm>
          <a:off x="0" y="0"/>
          <a:ext cx="0" cy="0"/>
          <a:chOff x="0" y="0"/>
          <a:chExt cx="0" cy="0"/>
        </a:xfrm>
      </p:grpSpPr>
      <p:sp>
        <p:nvSpPr>
          <p:cNvPr id="480" name="Google Shape;480;p4:notes">
            <a:extLst>
              <a:ext uri="{FF2B5EF4-FFF2-40B4-BE49-F238E27FC236}">
                <a16:creationId xmlns:a16="http://schemas.microsoft.com/office/drawing/2014/main" id="{3E87CE0D-8002-1CC2-13E4-55C817EFB587}"/>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1" name="Google Shape;481;p4:notes">
            <a:extLst>
              <a:ext uri="{FF2B5EF4-FFF2-40B4-BE49-F238E27FC236}">
                <a16:creationId xmlns:a16="http://schemas.microsoft.com/office/drawing/2014/main" id="{1B945410-8A3F-507A-D5AF-0B1478B187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a:ea typeface="Calibri"/>
                <a:cs typeface="Calibri"/>
                <a:sym typeface="Calibri"/>
              </a:rPr>
              <a:t>Setting the Stage:</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Tap into your students’ prior learning by reading the narrative statement. </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Provide a sense of direction by reading the Essential Question.</a:t>
            </a:r>
            <a:endParaRPr sz="1200" b="1" dirty="0">
              <a:solidFill>
                <a:srgbClr val="000000"/>
              </a:solidFill>
              <a:latin typeface="Calibri"/>
              <a:ea typeface="Calibri"/>
              <a:cs typeface="Calibri"/>
              <a:sym typeface="Calibri"/>
            </a:endParaRPr>
          </a:p>
        </p:txBody>
      </p:sp>
      <p:sp>
        <p:nvSpPr>
          <p:cNvPr id="482" name="Google Shape;482;p4:notes">
            <a:extLst>
              <a:ext uri="{FF2B5EF4-FFF2-40B4-BE49-F238E27FC236}">
                <a16:creationId xmlns:a16="http://schemas.microsoft.com/office/drawing/2014/main" id="{1EA9EB42-FC4D-E541-A90A-DD74FB0AD4EF}"/>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1069440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Total suggested pacing for Day 1 is 45 minutes.</a:t>
            </a:r>
            <a:endParaRPr dirty="0">
              <a:solidFill>
                <a:srgbClr val="000000"/>
              </a:solidFill>
            </a:endParaRPr>
          </a:p>
        </p:txBody>
      </p:sp>
      <p:sp>
        <p:nvSpPr>
          <p:cNvPr id="489" name="Google Shape;489;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5" name="Google Shape;495;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Total time of 15-20 minutes allotted for the Getting Started.</a:t>
            </a:r>
            <a:endParaRPr dirty="0">
              <a:solidFill>
                <a:srgbClr val="000000"/>
              </a:solidFill>
            </a:endParaRPr>
          </a:p>
        </p:txBody>
      </p:sp>
      <p:sp>
        <p:nvSpPr>
          <p:cNvPr id="496" name="Google Shape;496;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2" name="Google Shape;502;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does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translate</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mean?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When you moved on the coordinate plane, did you change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or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of the original coordinate pair? Explain.</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the translated line still go through the origin? Why not?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What’s the difference between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-values on the original and translated lines for the same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does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in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+ 4 represent?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are the lines parallel?</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Compare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When you moved on the coordinate plane, did you change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or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of the original coordinate pair? Explain your thinking.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the newly graphed line still pass through the origin? Why?</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does it make sense that the line is steeper?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are the lines graphed by multiplying by 2 and −2 the same? Different?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503" name="Google Shape;503;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8: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1" name="Google Shape;511;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does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translate</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mean?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When you moved on the coordinate plane, did you change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or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of the original coordinate pair? Explain.</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the translated line still go through the origin? Why not?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What’s the difference between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-values on the original and translated lines for the same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does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in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+ 4 represent?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are the lines parallel?</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Compare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When you moved on the coordinate plane, did you change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or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of the original coordinate pair? Explain your thinking.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the newly graphed line still pass through the origin? Why?</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does it make sense that the line is steeper?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are the lines graphed by multiplying by 2 and −2 the same? Different?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512" name="Google Shape;512;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9: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0" name="Google Shape;520;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does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translate</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mean?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When you moved on the coordinate plane, did you change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or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of the original coordinate pair? Explain.</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the translated line still go through the origin? Why not?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What’s the difference between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-values on the original and translated lines for the same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does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in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+ 4 represent?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are the lines parallel?</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Compare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When you moved on the coordinate plane, did you change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or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of the original coordinate pair? Explain your thinking.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the newly graphed line still pass through the origin? Why?</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does it make sense that the line is steeper?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are the lines graphed by multiplying by 2 and −2 the same? Different?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521" name="Google Shape;521;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a:extLst>
            <a:ext uri="{FF2B5EF4-FFF2-40B4-BE49-F238E27FC236}">
              <a16:creationId xmlns:a16="http://schemas.microsoft.com/office/drawing/2014/main" id="{0CA5A1C9-2FD3-A846-D867-5DCA7B4B631D}"/>
            </a:ext>
          </a:extLst>
        </p:cNvPr>
        <p:cNvGrpSpPr/>
        <p:nvPr/>
      </p:nvGrpSpPr>
      <p:grpSpPr>
        <a:xfrm>
          <a:off x="0" y="0"/>
          <a:ext cx="0" cy="0"/>
          <a:chOff x="0" y="0"/>
          <a:chExt cx="0" cy="0"/>
        </a:xfrm>
      </p:grpSpPr>
      <p:sp>
        <p:nvSpPr>
          <p:cNvPr id="519" name="Google Shape;519;p9:notes">
            <a:extLst>
              <a:ext uri="{FF2B5EF4-FFF2-40B4-BE49-F238E27FC236}">
                <a16:creationId xmlns:a16="http://schemas.microsoft.com/office/drawing/2014/main" id="{0180EB4E-83B7-CD06-B047-A6CF47A9AD41}"/>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0" name="Google Shape;520;p9:notes">
            <a:extLst>
              <a:ext uri="{FF2B5EF4-FFF2-40B4-BE49-F238E27FC236}">
                <a16:creationId xmlns:a16="http://schemas.microsoft.com/office/drawing/2014/main" id="{AEEB8E79-A7E3-923A-56C4-94FB78D843B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does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translate</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mean?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When you moved on the coordinate plane, did you change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or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of the original coordinate pair? Explain.</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the translated line still go through the origin? Why not?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What’s the difference between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-values on the original and translated lines for the same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does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in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+ 4 represent?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are the lines parallel?</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Compare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When you moved on the coordinate plane, did you change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or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of the original coordinate pair? Explain your thinking.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the newly graphed line still pass through the origin? Why?</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does it make sense that the line is steeper?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are the lines graphed by multiplying by 2 and −2 the same? Different?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521" name="Google Shape;521;p9:notes">
            <a:extLst>
              <a:ext uri="{FF2B5EF4-FFF2-40B4-BE49-F238E27FC236}">
                <a16:creationId xmlns:a16="http://schemas.microsoft.com/office/drawing/2014/main" id="{4DB9FE17-3745-637B-6022-DE778AB683AF}"/>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23803835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10: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9" name="Google Shape;529;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does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translate</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mean?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When you moved on the coordinate plane, did you change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or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of the original coordinate pair? Explain.</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the translated line still go through the origin? Why not?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What’s the difference between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-values on the original and translated lines for the same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does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in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+ 4 represent?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are the lines parallel?</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Compare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When you moved on the coordinate plane, did you change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or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of the original coordinate pair? Explain your thinking.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the newly graphed line still pass through the origin? Why?</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does it make sense that the line is steeper?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are the lines graphed by multiplying by 2 and −2 the same? Different?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530" name="Google Shape;530;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1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7" name="Google Shape;537;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does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translate</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mean?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When you moved on the coordinate plane, did you change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or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of the original coordinate pair? Explain.</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the translated line still go through the origin? Why not?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What’s the difference between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-values on the original and translated lines for the same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What does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in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+ 4 represent?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are the lines parallel?</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Compare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When you moved on the coordinate plane, did you change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or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-value of the original coordinate pair? Explain your thinking.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Does the newly graphed line still pass through the origin? Why?</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does it make sense that the line is steeper?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are the lines graphed by multiplying by 2 and −2 the same? Different?</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538" name="Google Shape;538;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1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5" name="Google Shape;545;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a:ea typeface="Calibri"/>
                <a:cs typeface="Calibri"/>
                <a:sym typeface="Calibri"/>
              </a:rPr>
              <a:t>Getting Started Summary:</a:t>
            </a:r>
            <a:endParaRPr dirty="0">
              <a:solidFill>
                <a:srgbClr val="000000"/>
              </a:solidFill>
            </a:endParaRPr>
          </a:p>
          <a:p>
            <a:pPr marL="0" lvl="0" indent="0" algn="l" rtl="0">
              <a:spcBef>
                <a:spcPts val="0"/>
              </a:spcBef>
              <a:spcAft>
                <a:spcPts val="0"/>
              </a:spcAft>
              <a:buNone/>
            </a:pPr>
            <a:r>
              <a:rPr lang="en-US" dirty="0">
                <a:solidFill>
                  <a:srgbClr val="000000"/>
                </a:solidFill>
              </a:rPr>
              <a:t>When a line segment is vertically translated on the coordinate plane, the </a:t>
            </a:r>
            <a:r>
              <a:rPr lang="en-US" i="1" dirty="0">
                <a:solidFill>
                  <a:srgbClr val="000000"/>
                </a:solidFill>
              </a:rPr>
              <a:t>x</a:t>
            </a:r>
            <a:r>
              <a:rPr lang="en-US" dirty="0">
                <a:solidFill>
                  <a:srgbClr val="000000"/>
                </a:solidFill>
              </a:rPr>
              <a:t>-value of each point remains unchanged, and the </a:t>
            </a:r>
            <a:r>
              <a:rPr lang="en-US" i="1" dirty="0">
                <a:solidFill>
                  <a:srgbClr val="000000"/>
                </a:solidFill>
              </a:rPr>
              <a:t>y</a:t>
            </a:r>
            <a:r>
              <a:rPr lang="en-US" dirty="0">
                <a:solidFill>
                  <a:srgbClr val="000000"/>
                </a:solidFill>
              </a:rPr>
              <a:t>-value changes according to the translation.</a:t>
            </a:r>
            <a:endParaRPr sz="1200" b="1" dirty="0">
              <a:solidFill>
                <a:srgbClr val="000000"/>
              </a:solidFill>
              <a:latin typeface="Calibri"/>
              <a:ea typeface="Calibri"/>
              <a:cs typeface="Calibri"/>
              <a:sym typeface="Calibri"/>
            </a:endParaRPr>
          </a:p>
        </p:txBody>
      </p:sp>
      <p:sp>
        <p:nvSpPr>
          <p:cNvPr id="546" name="Google Shape;546;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p13: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3" name="Google Shape;553;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 </a:t>
            </a:r>
            <a:r>
              <a:rPr lang="en-US" b="0" dirty="0">
                <a:solidFill>
                  <a:srgbClr val="000000"/>
                </a:solidFill>
                <a:latin typeface="Calibri"/>
                <a:ea typeface="Calibri"/>
                <a:cs typeface="Calibri"/>
                <a:sym typeface="Calibri"/>
              </a:rPr>
              <a:t>This slide is blank for optional use with displaying work.</a:t>
            </a:r>
            <a:endParaRPr b="1" dirty="0">
              <a:solidFill>
                <a:srgbClr val="000000"/>
              </a:solidFill>
              <a:latin typeface="Calibri"/>
              <a:ea typeface="Calibri"/>
              <a:cs typeface="Calibri"/>
              <a:sym typeface="Calibri"/>
            </a:endParaRPr>
          </a:p>
        </p:txBody>
      </p:sp>
      <p:sp>
        <p:nvSpPr>
          <p:cNvPr id="554" name="Google Shape;554;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1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0" name="Google Shape;560;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Total time of 20-25 minutes allotted for Activity 1.1.</a:t>
            </a:r>
            <a:endParaRPr dirty="0">
              <a:solidFill>
                <a:srgbClr val="000000"/>
              </a:solidFill>
            </a:endParaRPr>
          </a:p>
        </p:txBody>
      </p:sp>
      <p:sp>
        <p:nvSpPr>
          <p:cNvPr id="561" name="Google Shape;561;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1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8" name="Google Shape;568;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b="0" dirty="0">
              <a:solidFill>
                <a:srgbClr val="000000"/>
              </a:solidFill>
              <a:latin typeface="Calibri"/>
              <a:ea typeface="Calibri"/>
              <a:cs typeface="Calibri"/>
              <a:sym typeface="Calibri"/>
            </a:endParaRPr>
          </a:p>
        </p:txBody>
      </p:sp>
      <p:sp>
        <p:nvSpPr>
          <p:cNvPr id="569" name="Google Shape;569;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1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6" name="Google Shape;576;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sz="1200" dirty="0">
              <a:solidFill>
                <a:srgbClr val="000000"/>
              </a:solidFill>
              <a:latin typeface="Calibri"/>
              <a:ea typeface="Calibri"/>
              <a:cs typeface="Calibri"/>
              <a:sym typeface="Calibri"/>
            </a:endParaRPr>
          </a:p>
        </p:txBody>
      </p:sp>
      <p:sp>
        <p:nvSpPr>
          <p:cNvPr id="577" name="Google Shape;577;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p1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7" name="Google Shape;587;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is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of the transformed graph (0, −5)? </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Did you complete any calculations to determine the slope? Explain. </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points that lie 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p</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 vertical translations of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such as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p</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range? Why not? </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relationship between the graph, table, and equation.</a:t>
            </a:r>
            <a:endParaRPr sz="1200" b="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588" name="Google Shape;588;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p18: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4" name="Google Shape;594;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is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of the transformed graph (0, −5)? </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Did you complete any calculations to determine the slope? Explain. </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points that lie 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p</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 vertical translations of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such as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p</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range? Why not?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relationship between the graph, table, and equation.</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595" name="Google Shape;595;p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p19: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3" name="Google Shape;603;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is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of the transformed graph (0, −5)? </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Did you complete any calculations to determine the slope? Explain. </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points that lie 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p</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 vertical translations of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such as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p</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range? Why not?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relationship between the graph, table, and equation.</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604" name="Google Shape;604;p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p20: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0" name="Google Shape;610;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Why is the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of the transformed graph (0, −5)? </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Did you complete any calculations to determine the slope? Explain. </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points that lie on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p</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Do vertical translations of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such as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p</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 affect the range? Why not? </a:t>
            </a:r>
          </a:p>
          <a:p>
            <a:pPr marL="0" marR="0" lvl="0" indent="0" algn="l" rtl="0">
              <a:lnSpc>
                <a:spcPct val="100000"/>
              </a:lnSpc>
              <a:spcBef>
                <a:spcPts val="0"/>
              </a:spcBef>
              <a:spcAft>
                <a:spcPts val="0"/>
              </a:spcAft>
              <a:buClr>
                <a:schemeClr val="dk1"/>
              </a:buClr>
              <a:buSzPts val="1200"/>
              <a:buFont typeface="Calibri"/>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lvl="0" indent="-171450" algn="l" rtl="0">
              <a:spcBef>
                <a:spcPts val="0"/>
              </a:spcBef>
              <a:spcAft>
                <a:spcPts val="0"/>
              </a:spcAft>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relationship between the graph, table, and equation.</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611" name="Google Shape;611;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p2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7" name="Google Shape;617;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rPr>
              <a:t>Questions to Support Discourse – Probing:</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did you know which operation to include with </a:t>
            </a:r>
            <a:r>
              <a:rPr lang="en-US" i="1" dirty="0">
                <a:solidFill>
                  <a:srgbClr val="000000"/>
                </a:solidFill>
              </a:rPr>
              <a:t>q</a:t>
            </a:r>
            <a:r>
              <a:rPr lang="en-US" dirty="0">
                <a:solidFill>
                  <a:srgbClr val="000000"/>
                </a:solidFill>
              </a:rPr>
              <a:t>(</a:t>
            </a:r>
            <a:r>
              <a:rPr lang="en-US" i="1" dirty="0">
                <a:solidFill>
                  <a:srgbClr val="000000"/>
                </a:solidFill>
              </a:rPr>
              <a:t>x</a:t>
            </a:r>
            <a:r>
              <a:rPr lang="en-US" dirty="0">
                <a:solidFill>
                  <a:srgbClr val="000000"/>
                </a:solidFill>
              </a:rPr>
              <a:t>)? </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Explain how you rewrote each function in terms of </a:t>
            </a:r>
            <a:r>
              <a:rPr lang="en-US" i="1" dirty="0">
                <a:solidFill>
                  <a:srgbClr val="000000"/>
                </a:solidFill>
              </a:rPr>
              <a:t>x</a:t>
            </a:r>
            <a:r>
              <a:rPr lang="en-US" dirty="0">
                <a:solidFill>
                  <a:srgbClr val="000000"/>
                </a:solidFill>
              </a:rPr>
              <a:t>. </a:t>
            </a:r>
            <a:endParaRPr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is writing the equation of a translated function the same and different when the original function is not the parent function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 </a:t>
            </a:r>
            <a:r>
              <a:rPr lang="en-US" i="1" dirty="0">
                <a:solidFill>
                  <a:srgbClr val="000000"/>
                </a:solidFill>
              </a:rPr>
              <a:t>x</a:t>
            </a:r>
            <a:r>
              <a:rPr lang="en-US" dirty="0">
                <a:solidFill>
                  <a:srgbClr val="000000"/>
                </a:solidFill>
              </a:rPr>
              <a:t>?</a:t>
            </a:r>
            <a:endParaRPr b="1" dirty="0">
              <a:solidFill>
                <a:srgbClr val="000000"/>
              </a:solidFill>
            </a:endParaRPr>
          </a:p>
        </p:txBody>
      </p:sp>
      <p:sp>
        <p:nvSpPr>
          <p:cNvPr id="618" name="Google Shape;618;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p2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5" name="Google Shape;625;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rPr>
              <a:t>Questions to Support Discourse – Probing:</a:t>
            </a:r>
            <a:endParaRPr lang="en-US"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did you know which operation to include with </a:t>
            </a:r>
            <a:r>
              <a:rPr lang="en-US" i="1" dirty="0">
                <a:solidFill>
                  <a:srgbClr val="000000"/>
                </a:solidFill>
              </a:rPr>
              <a:t>q</a:t>
            </a:r>
            <a:r>
              <a:rPr lang="en-US" dirty="0">
                <a:solidFill>
                  <a:srgbClr val="000000"/>
                </a:solidFill>
              </a:rPr>
              <a:t>(</a:t>
            </a:r>
            <a:r>
              <a:rPr lang="en-US" i="1" dirty="0">
                <a:solidFill>
                  <a:srgbClr val="000000"/>
                </a:solidFill>
              </a:rPr>
              <a:t>x</a:t>
            </a:r>
            <a:r>
              <a:rPr lang="en-US" dirty="0">
                <a:solidFill>
                  <a:srgbClr val="000000"/>
                </a:solidFill>
              </a:rPr>
              <a:t>)? </a:t>
            </a:r>
          </a:p>
          <a:p>
            <a:pPr marL="171450" lvl="0" indent="-171450" algn="l" rtl="0">
              <a:spcBef>
                <a:spcPts val="0"/>
              </a:spcBef>
              <a:spcAft>
                <a:spcPts val="0"/>
              </a:spcAft>
              <a:buFont typeface="Arial" panose="020B0604020202020204" pitchFamily="34" charset="0"/>
              <a:buChar char="•"/>
            </a:pPr>
            <a:r>
              <a:rPr lang="en-US" dirty="0">
                <a:solidFill>
                  <a:srgbClr val="000000"/>
                </a:solidFill>
              </a:rPr>
              <a:t>Explain how you rewrote each function in terms of </a:t>
            </a:r>
            <a:r>
              <a:rPr lang="en-US" i="1" dirty="0">
                <a:solidFill>
                  <a:srgbClr val="000000"/>
                </a:solidFill>
              </a:rPr>
              <a:t>x</a:t>
            </a:r>
            <a:r>
              <a:rPr lang="en-US" dirty="0">
                <a:solidFill>
                  <a:srgbClr val="000000"/>
                </a:solidFill>
              </a:rPr>
              <a:t>. </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a:t>
            </a:r>
            <a:endParaRPr lang="en-US"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is writing the equation of a translated function the same and different when the original function is not the parent function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 </a:t>
            </a:r>
            <a:r>
              <a:rPr lang="en-US" i="1" dirty="0">
                <a:solidFill>
                  <a:srgbClr val="000000"/>
                </a:solidFill>
              </a:rPr>
              <a:t>x</a:t>
            </a:r>
            <a:r>
              <a:rPr lang="en-US" dirty="0">
                <a:solidFill>
                  <a:srgbClr val="000000"/>
                </a:solidFill>
              </a:rPr>
              <a:t>?</a:t>
            </a:r>
            <a:endParaRPr lang="en-US" b="1" dirty="0">
              <a:solidFill>
                <a:srgbClr val="000000"/>
              </a:solidFill>
            </a:endParaRPr>
          </a:p>
        </p:txBody>
      </p:sp>
      <p:sp>
        <p:nvSpPr>
          <p:cNvPr id="626" name="Google Shape;626;p2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p23: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3" name="Google Shape;633;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a:ea typeface="Calibri"/>
                <a:cs typeface="Calibri"/>
                <a:sym typeface="Calibri"/>
              </a:rPr>
              <a:t>Note:</a:t>
            </a:r>
            <a:r>
              <a:rPr lang="en-US" sz="1200" b="0" dirty="0">
                <a:solidFill>
                  <a:srgbClr val="000000"/>
                </a:solidFill>
                <a:latin typeface="Calibri"/>
                <a:ea typeface="Calibri"/>
                <a:cs typeface="Calibri"/>
                <a:sym typeface="Calibri"/>
              </a:rPr>
              <a:t> To close Day 1, have students reread the Essential Question and then read the Stamp the Learning summary aloud.</a:t>
            </a:r>
            <a:endParaRPr dirty="0">
              <a:solidFill>
                <a:srgbClr val="000000"/>
              </a:solidFill>
            </a:endParaRPr>
          </a:p>
          <a:p>
            <a:pPr marL="0" lvl="0" indent="0" algn="l" rtl="0">
              <a:spcBef>
                <a:spcPts val="0"/>
              </a:spcBef>
              <a:spcAft>
                <a:spcPts val="0"/>
              </a:spcAft>
              <a:buNone/>
            </a:pPr>
            <a:endParaRPr sz="1200" b="1" dirty="0">
              <a:solidFill>
                <a:srgbClr val="000000"/>
              </a:solidFill>
              <a:latin typeface="Calibri"/>
              <a:ea typeface="Calibri"/>
              <a:cs typeface="Calibri"/>
              <a:sym typeface="Calibri"/>
            </a:endParaRPr>
          </a:p>
          <a:p>
            <a:pPr marL="0" lvl="0" indent="0" algn="l" rtl="0">
              <a:spcBef>
                <a:spcPts val="0"/>
              </a:spcBef>
              <a:spcAft>
                <a:spcPts val="0"/>
              </a:spcAft>
              <a:buNone/>
            </a:pPr>
            <a:r>
              <a:rPr lang="en-US" sz="1200" b="1" dirty="0">
                <a:solidFill>
                  <a:srgbClr val="000000"/>
                </a:solidFill>
                <a:latin typeface="Calibri"/>
                <a:ea typeface="Calibri"/>
                <a:cs typeface="Calibri"/>
                <a:sym typeface="Calibri"/>
              </a:rPr>
              <a:t>Activity 1.1 Summary:</a:t>
            </a:r>
            <a:endParaRPr dirty="0">
              <a:solidFill>
                <a:srgbClr val="000000"/>
              </a:solidFill>
            </a:endParaRPr>
          </a:p>
          <a:p>
            <a:pPr marL="0" lvl="0" indent="0" algn="l" rtl="0">
              <a:spcBef>
                <a:spcPts val="0"/>
              </a:spcBef>
              <a:spcAft>
                <a:spcPts val="0"/>
              </a:spcAft>
              <a:buNone/>
            </a:pPr>
            <a:r>
              <a:rPr lang="en-US" dirty="0">
                <a:solidFill>
                  <a:srgbClr val="000000"/>
                </a:solidFill>
              </a:rPr>
              <a:t>For the parent function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 </a:t>
            </a:r>
            <a:r>
              <a:rPr lang="en-US" i="1" dirty="0">
                <a:solidFill>
                  <a:srgbClr val="000000"/>
                </a:solidFill>
              </a:rPr>
              <a:t>x</a:t>
            </a:r>
            <a:r>
              <a:rPr lang="en-US" dirty="0">
                <a:solidFill>
                  <a:srgbClr val="000000"/>
                </a:solidFill>
              </a:rPr>
              <a:t>, the transformed function </a:t>
            </a:r>
            <a:r>
              <a:rPr lang="en-US" i="1" dirty="0">
                <a:solidFill>
                  <a:srgbClr val="000000"/>
                </a:solidFill>
              </a:rPr>
              <a:t>y</a:t>
            </a:r>
            <a:r>
              <a:rPr lang="en-US" dirty="0">
                <a:solidFill>
                  <a:srgbClr val="000000"/>
                </a:solidFill>
              </a:rPr>
              <a:t> =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 </a:t>
            </a:r>
            <a:r>
              <a:rPr lang="en-US" i="1" dirty="0">
                <a:solidFill>
                  <a:srgbClr val="000000"/>
                </a:solidFill>
              </a:rPr>
              <a:t>d</a:t>
            </a:r>
            <a:r>
              <a:rPr lang="en-US" dirty="0">
                <a:solidFill>
                  <a:srgbClr val="000000"/>
                </a:solidFill>
              </a:rPr>
              <a:t> shows a vertical translation of the function. The slopes of vertically translated linear functions do not change, which means that the graphs of the functions are parallel lines.</a:t>
            </a:r>
            <a:endParaRPr sz="1200" b="1" dirty="0">
              <a:solidFill>
                <a:srgbClr val="000000"/>
              </a:solidFill>
              <a:latin typeface="Calibri"/>
              <a:ea typeface="Calibri"/>
              <a:cs typeface="Calibri"/>
              <a:sym typeface="Calibri"/>
            </a:endParaRPr>
          </a:p>
        </p:txBody>
      </p:sp>
      <p:sp>
        <p:nvSpPr>
          <p:cNvPr id="634" name="Google Shape;634;p2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2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1" name="Google Shape;641;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 </a:t>
            </a:r>
            <a:r>
              <a:rPr lang="en-US" dirty="0">
                <a:solidFill>
                  <a:srgbClr val="000000"/>
                </a:solidFill>
                <a:latin typeface="Calibri"/>
                <a:ea typeface="Calibri"/>
                <a:cs typeface="Calibri"/>
                <a:sym typeface="Calibri"/>
              </a:rPr>
              <a:t>This slide is blank for optional use with displaying work.</a:t>
            </a:r>
            <a:endParaRPr b="0" dirty="0">
              <a:solidFill>
                <a:srgbClr val="000000"/>
              </a:solidFill>
              <a:latin typeface="Calibri"/>
              <a:ea typeface="Calibri"/>
              <a:cs typeface="Calibri"/>
              <a:sym typeface="Calibri"/>
            </a:endParaRPr>
          </a:p>
        </p:txBody>
      </p:sp>
      <p:sp>
        <p:nvSpPr>
          <p:cNvPr id="642" name="Google Shape;642;p2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p2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8" name="Google Shape;648;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latin typeface="Calibri"/>
                <a:ea typeface="Calibri"/>
                <a:cs typeface="Calibri"/>
                <a:sym typeface="Calibri"/>
              </a:rPr>
              <a:t>Note: </a:t>
            </a:r>
            <a:r>
              <a:rPr lang="en-US" dirty="0">
                <a:solidFill>
                  <a:srgbClr val="000000"/>
                </a:solidFill>
                <a:latin typeface="Calibri"/>
                <a:ea typeface="Calibri"/>
                <a:cs typeface="Calibri"/>
                <a:sym typeface="Calibri"/>
              </a:rPr>
              <a:t>Total suggested pacing for Day 2 is 45 minutes.</a:t>
            </a:r>
            <a:endParaRPr dirty="0">
              <a:solidFill>
                <a:srgbClr val="000000"/>
              </a:solidFill>
            </a:endParaRPr>
          </a:p>
        </p:txBody>
      </p:sp>
      <p:sp>
        <p:nvSpPr>
          <p:cNvPr id="649" name="Google Shape;649;p2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p2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5" name="Google Shape;655;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a:ea typeface="Calibri"/>
                <a:cs typeface="Calibri"/>
                <a:sym typeface="Calibri"/>
              </a:rPr>
              <a:t>Note: </a:t>
            </a:r>
            <a:r>
              <a:rPr lang="en-US" dirty="0">
                <a:solidFill>
                  <a:srgbClr val="000000"/>
                </a:solidFill>
                <a:latin typeface="Calibri"/>
                <a:ea typeface="Calibri"/>
                <a:cs typeface="Calibri"/>
                <a:sym typeface="Calibri"/>
              </a:rPr>
              <a:t>To begin Day 2, have a student read the Essential Question aloud.</a:t>
            </a:r>
            <a:endParaRPr sz="1200" b="1" dirty="0">
              <a:solidFill>
                <a:srgbClr val="000000"/>
              </a:solidFill>
              <a:latin typeface="Calibri"/>
              <a:ea typeface="Calibri"/>
              <a:cs typeface="Calibri"/>
              <a:sym typeface="Calibri"/>
            </a:endParaRPr>
          </a:p>
          <a:p>
            <a:pPr marL="0" lvl="0" indent="0" algn="l" rtl="0">
              <a:spcBef>
                <a:spcPts val="0"/>
              </a:spcBef>
              <a:spcAft>
                <a:spcPts val="0"/>
              </a:spcAft>
              <a:buNone/>
            </a:pPr>
            <a:endParaRPr sz="1200" b="1" dirty="0">
              <a:latin typeface="Calibri"/>
              <a:ea typeface="Calibri"/>
              <a:cs typeface="Calibri"/>
              <a:sym typeface="Calibri"/>
            </a:endParaRPr>
          </a:p>
        </p:txBody>
      </p:sp>
      <p:sp>
        <p:nvSpPr>
          <p:cNvPr id="656" name="Google Shape;656;p2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p2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2" name="Google Shape;662;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Total time of 15-20 minutes allotted for Activity 1.2.</a:t>
            </a:r>
            <a:endParaRPr dirty="0">
              <a:solidFill>
                <a:srgbClr val="000000"/>
              </a:solidFill>
            </a:endParaRPr>
          </a:p>
        </p:txBody>
      </p:sp>
      <p:sp>
        <p:nvSpPr>
          <p:cNvPr id="663" name="Google Shape;663;p2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p28: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0" name="Google Shape;670;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 </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Which line is the image? Which is the pre-image? </a:t>
            </a:r>
            <a:endParaRPr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 </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Are the </a:t>
            </a:r>
            <a:r>
              <a:rPr lang="en-US" i="1" dirty="0">
                <a:solidFill>
                  <a:srgbClr val="000000"/>
                </a:solidFill>
              </a:rPr>
              <a:t>x</a:t>
            </a:r>
            <a:r>
              <a:rPr lang="en-US" dirty="0">
                <a:solidFill>
                  <a:srgbClr val="000000"/>
                </a:solidFill>
              </a:rPr>
              <a:t>-coordinates, </a:t>
            </a:r>
            <a:r>
              <a:rPr lang="en-US" i="1" dirty="0">
                <a:solidFill>
                  <a:srgbClr val="000000"/>
                </a:solidFill>
              </a:rPr>
              <a:t>y</a:t>
            </a:r>
            <a:r>
              <a:rPr lang="en-US" dirty="0">
                <a:solidFill>
                  <a:srgbClr val="000000"/>
                </a:solidFill>
              </a:rPr>
              <a:t>-coordinates, or both, changed when completing a translation? How do you know? </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Does the order of the coordinates matter when using the slope formula? Explain.</a:t>
            </a:r>
            <a:endParaRPr sz="1200" dirty="0">
              <a:solidFill>
                <a:srgbClr val="000000"/>
              </a:solidFill>
              <a:latin typeface="Calibri"/>
              <a:ea typeface="Calibri"/>
              <a:cs typeface="Calibri"/>
              <a:sym typeface="Calibri"/>
            </a:endParaRPr>
          </a:p>
        </p:txBody>
      </p:sp>
      <p:sp>
        <p:nvSpPr>
          <p:cNvPr id="671" name="Google Shape;671;p2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p29: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7" name="Google Shape;677;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 </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Which line is the image? Which is the pre-image? </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 </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Are the </a:t>
            </a:r>
            <a:r>
              <a:rPr lang="en-US" i="1" dirty="0">
                <a:solidFill>
                  <a:srgbClr val="000000"/>
                </a:solidFill>
              </a:rPr>
              <a:t>x</a:t>
            </a:r>
            <a:r>
              <a:rPr lang="en-US" dirty="0">
                <a:solidFill>
                  <a:srgbClr val="000000"/>
                </a:solidFill>
              </a:rPr>
              <a:t>-coordinates, </a:t>
            </a:r>
            <a:r>
              <a:rPr lang="en-US" i="1" dirty="0">
                <a:solidFill>
                  <a:srgbClr val="000000"/>
                </a:solidFill>
              </a:rPr>
              <a:t>y</a:t>
            </a:r>
            <a:r>
              <a:rPr lang="en-US" dirty="0">
                <a:solidFill>
                  <a:srgbClr val="000000"/>
                </a:solidFill>
              </a:rPr>
              <a:t>-coordinates, or both, changed when completing a translation? How do you know?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Does the order of the coordinates matter when using the slope formula? Explain.</a:t>
            </a:r>
            <a:endParaRPr lang="en-US" sz="1200" dirty="0">
              <a:solidFill>
                <a:srgbClr val="000000"/>
              </a:solidFill>
              <a:latin typeface="Calibri"/>
              <a:ea typeface="Calibri"/>
              <a:cs typeface="Calibri"/>
              <a:sym typeface="Calibri"/>
            </a:endParaRPr>
          </a:p>
        </p:txBody>
      </p:sp>
      <p:sp>
        <p:nvSpPr>
          <p:cNvPr id="678" name="Google Shape;678;p2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p30: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5" name="Google Shape;685;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 </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Which line is the image? Which is the pre-image? </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 </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Are the </a:t>
            </a:r>
            <a:r>
              <a:rPr lang="en-US" i="1" dirty="0">
                <a:solidFill>
                  <a:srgbClr val="000000"/>
                </a:solidFill>
              </a:rPr>
              <a:t>x</a:t>
            </a:r>
            <a:r>
              <a:rPr lang="en-US" dirty="0">
                <a:solidFill>
                  <a:srgbClr val="000000"/>
                </a:solidFill>
              </a:rPr>
              <a:t>-coordinates, </a:t>
            </a:r>
            <a:r>
              <a:rPr lang="en-US" i="1" dirty="0">
                <a:solidFill>
                  <a:srgbClr val="000000"/>
                </a:solidFill>
              </a:rPr>
              <a:t>y</a:t>
            </a:r>
            <a:r>
              <a:rPr lang="en-US" dirty="0">
                <a:solidFill>
                  <a:srgbClr val="000000"/>
                </a:solidFill>
              </a:rPr>
              <a:t>-coordinates, or both, changed when completing a translation? How do you know?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Does the order of the coordinates matter when using the slope formula? Explain.</a:t>
            </a:r>
            <a:endParaRPr lang="en-US" sz="1200" dirty="0">
              <a:solidFill>
                <a:srgbClr val="000000"/>
              </a:solidFill>
              <a:latin typeface="Calibri"/>
              <a:ea typeface="Calibri"/>
              <a:cs typeface="Calibri"/>
              <a:sym typeface="Calibri"/>
            </a:endParaRPr>
          </a:p>
        </p:txBody>
      </p:sp>
      <p:sp>
        <p:nvSpPr>
          <p:cNvPr id="686" name="Google Shape;686;p3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p3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2" name="Google Shape;692;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 </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Which line is the image? Which is the pre-image? </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 </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Are the </a:t>
            </a:r>
            <a:r>
              <a:rPr lang="en-US" i="1" dirty="0">
                <a:solidFill>
                  <a:srgbClr val="000000"/>
                </a:solidFill>
              </a:rPr>
              <a:t>x</a:t>
            </a:r>
            <a:r>
              <a:rPr lang="en-US" dirty="0">
                <a:solidFill>
                  <a:srgbClr val="000000"/>
                </a:solidFill>
              </a:rPr>
              <a:t>-coordinates, </a:t>
            </a:r>
            <a:r>
              <a:rPr lang="en-US" i="1" dirty="0">
                <a:solidFill>
                  <a:srgbClr val="000000"/>
                </a:solidFill>
              </a:rPr>
              <a:t>y</a:t>
            </a:r>
            <a:r>
              <a:rPr lang="en-US" dirty="0">
                <a:solidFill>
                  <a:srgbClr val="000000"/>
                </a:solidFill>
              </a:rPr>
              <a:t>-coordinates, or both, changed when completing a translation? How do you know?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Does the order of the coordinates matter when using the slope formula? Explain.</a:t>
            </a:r>
            <a:endParaRPr lang="en-US" sz="1200" dirty="0">
              <a:solidFill>
                <a:srgbClr val="000000"/>
              </a:solidFill>
              <a:latin typeface="Calibri"/>
              <a:ea typeface="Calibri"/>
              <a:cs typeface="Calibri"/>
              <a:sym typeface="Calibri"/>
            </a:endParaRPr>
          </a:p>
        </p:txBody>
      </p:sp>
      <p:sp>
        <p:nvSpPr>
          <p:cNvPr id="693" name="Google Shape;693;p3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p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0" name="Google Shape;700;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 </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b="0" dirty="0">
                <a:solidFill>
                  <a:srgbClr val="000000"/>
                </a:solidFill>
              </a:rPr>
              <a:t>Why did Catalina substitute the value of </a:t>
            </a:r>
            <a:r>
              <a:rPr lang="en-US" b="0" i="1" dirty="0">
                <a:solidFill>
                  <a:srgbClr val="000000"/>
                </a:solidFill>
              </a:rPr>
              <a:t>x</a:t>
            </a:r>
            <a:r>
              <a:rPr lang="en-US" b="0" dirty="0">
                <a:solidFill>
                  <a:srgbClr val="000000"/>
                </a:solidFill>
              </a:rPr>
              <a:t> into her equation?</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b="0" dirty="0">
                <a:solidFill>
                  <a:srgbClr val="000000"/>
                </a:solidFill>
              </a:rPr>
              <a:t>How was the value of </a:t>
            </a:r>
            <a:r>
              <a:rPr lang="en-US" b="0" i="1" dirty="0">
                <a:solidFill>
                  <a:srgbClr val="000000"/>
                </a:solidFill>
              </a:rPr>
              <a:t>y</a:t>
            </a:r>
            <a:r>
              <a:rPr lang="en-US" b="0" dirty="0">
                <a:solidFill>
                  <a:srgbClr val="000000"/>
                </a:solidFill>
              </a:rPr>
              <a:t> when </a:t>
            </a:r>
            <a:r>
              <a:rPr lang="en-US" b="0" i="1" dirty="0">
                <a:solidFill>
                  <a:srgbClr val="000000"/>
                </a:solidFill>
              </a:rPr>
              <a:t>x</a:t>
            </a:r>
            <a:r>
              <a:rPr lang="en-US" b="0" dirty="0">
                <a:solidFill>
                  <a:srgbClr val="000000"/>
                </a:solidFill>
              </a:rPr>
              <a:t> = 2 helpful to Catalina?</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b="0" dirty="0">
                <a:solidFill>
                  <a:srgbClr val="000000"/>
                </a:solidFill>
              </a:rPr>
              <a:t>How did Catalina know the translation was up 5 units rather than down 5 units?</a:t>
            </a:r>
          </a:p>
          <a:p>
            <a:pPr marL="0" marR="0" lvl="0" indent="0" algn="l" rtl="0">
              <a:lnSpc>
                <a:spcPct val="100000"/>
              </a:lnSpc>
              <a:spcBef>
                <a:spcPts val="0"/>
              </a:spcBef>
              <a:spcAft>
                <a:spcPts val="0"/>
              </a:spcAft>
              <a:buClr>
                <a:schemeClr val="dk1"/>
              </a:buClr>
              <a:buSzPts val="1200"/>
              <a:buFont typeface="Calibri"/>
              <a:buNone/>
            </a:pPr>
            <a:endParaRPr lang="en-US" b="0"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Reflecting and Justifying: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b="0" dirty="0">
                <a:solidFill>
                  <a:srgbClr val="000000"/>
                </a:solidFill>
              </a:rPr>
              <a:t>Why did James use both the </a:t>
            </a:r>
            <a:r>
              <a:rPr lang="en-US" b="0" i="1" dirty="0">
                <a:solidFill>
                  <a:srgbClr val="000000"/>
                </a:solidFill>
              </a:rPr>
              <a:t>x</a:t>
            </a:r>
            <a:r>
              <a:rPr lang="en-US" b="0" dirty="0">
                <a:solidFill>
                  <a:srgbClr val="000000"/>
                </a:solidFill>
              </a:rPr>
              <a:t>-value and the </a:t>
            </a:r>
            <a:r>
              <a:rPr lang="en-US" b="0" i="1" dirty="0">
                <a:solidFill>
                  <a:srgbClr val="000000"/>
                </a:solidFill>
              </a:rPr>
              <a:t>y</a:t>
            </a:r>
            <a:r>
              <a:rPr lang="en-US" b="0" dirty="0">
                <a:solidFill>
                  <a:srgbClr val="000000"/>
                </a:solidFill>
              </a:rPr>
              <a:t>-value in his substitution step, but Catalina only used the </a:t>
            </a:r>
            <a:r>
              <a:rPr lang="en-US" b="0" i="1" dirty="0">
                <a:solidFill>
                  <a:srgbClr val="000000"/>
                </a:solidFill>
              </a:rPr>
              <a:t>x</a:t>
            </a:r>
            <a:r>
              <a:rPr lang="en-US" b="0" dirty="0">
                <a:solidFill>
                  <a:srgbClr val="000000"/>
                </a:solidFill>
              </a:rPr>
              <a:t>-value in her substitution step?</a:t>
            </a:r>
          </a:p>
          <a:p>
            <a:pPr marL="0" marR="0" lvl="0" indent="0" algn="l" rtl="0">
              <a:lnSpc>
                <a:spcPct val="100000"/>
              </a:lnSpc>
              <a:spcBef>
                <a:spcPts val="0"/>
              </a:spcBef>
              <a:spcAft>
                <a:spcPts val="0"/>
              </a:spcAft>
              <a:buClr>
                <a:schemeClr val="dk1"/>
              </a:buClr>
              <a:buSzPts val="1200"/>
              <a:buFont typeface="Calibri"/>
              <a:buNone/>
            </a:pPr>
            <a:endParaRPr lang="en-US" b="0"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 </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did you get the slope of your equation?</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a:ea typeface="Calibri"/>
                <a:cs typeface="Calibri"/>
                <a:sym typeface="Calibri"/>
              </a:rPr>
              <a:t>How did you use the given point to write the equation of the line?</a:t>
            </a:r>
            <a:endParaRPr sz="1200" dirty="0">
              <a:solidFill>
                <a:srgbClr val="000000"/>
              </a:solidFill>
              <a:latin typeface="Calibri"/>
              <a:ea typeface="Calibri"/>
              <a:cs typeface="Calibri"/>
              <a:sym typeface="Calibri"/>
            </a:endParaRPr>
          </a:p>
        </p:txBody>
      </p:sp>
      <p:sp>
        <p:nvSpPr>
          <p:cNvPr id="701" name="Google Shape;701;p3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p3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6" name="Google Shape;716;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 </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b="0" dirty="0">
                <a:solidFill>
                  <a:srgbClr val="000000"/>
                </a:solidFill>
              </a:rPr>
              <a:t>Why did Catalina substitute the value of </a:t>
            </a:r>
            <a:r>
              <a:rPr lang="en-US" b="0" i="1" dirty="0">
                <a:solidFill>
                  <a:srgbClr val="000000"/>
                </a:solidFill>
              </a:rPr>
              <a:t>x</a:t>
            </a:r>
            <a:r>
              <a:rPr lang="en-US" b="0" dirty="0">
                <a:solidFill>
                  <a:srgbClr val="000000"/>
                </a:solidFill>
              </a:rPr>
              <a:t> into her equation?</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b="0" dirty="0">
                <a:solidFill>
                  <a:srgbClr val="000000"/>
                </a:solidFill>
              </a:rPr>
              <a:t>How was the value of </a:t>
            </a:r>
            <a:r>
              <a:rPr lang="en-US" b="0" i="1" dirty="0">
                <a:solidFill>
                  <a:srgbClr val="000000"/>
                </a:solidFill>
              </a:rPr>
              <a:t>y</a:t>
            </a:r>
            <a:r>
              <a:rPr lang="en-US" b="0" dirty="0">
                <a:solidFill>
                  <a:srgbClr val="000000"/>
                </a:solidFill>
              </a:rPr>
              <a:t> when </a:t>
            </a:r>
            <a:r>
              <a:rPr lang="en-US" b="0" i="1" dirty="0">
                <a:solidFill>
                  <a:srgbClr val="000000"/>
                </a:solidFill>
              </a:rPr>
              <a:t>x</a:t>
            </a:r>
            <a:r>
              <a:rPr lang="en-US" b="0" dirty="0">
                <a:solidFill>
                  <a:srgbClr val="000000"/>
                </a:solidFill>
              </a:rPr>
              <a:t> = 2 helpful to Catalina?</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b="0" dirty="0">
                <a:solidFill>
                  <a:srgbClr val="000000"/>
                </a:solidFill>
              </a:rPr>
              <a:t>How did Catalina know the translation was up 5 units rather than down 5 units?</a:t>
            </a:r>
          </a:p>
          <a:p>
            <a:pPr marL="0" marR="0" lvl="0" indent="0" algn="l" rtl="0">
              <a:lnSpc>
                <a:spcPct val="100000"/>
              </a:lnSpc>
              <a:spcBef>
                <a:spcPts val="0"/>
              </a:spcBef>
              <a:spcAft>
                <a:spcPts val="0"/>
              </a:spcAft>
              <a:buClr>
                <a:schemeClr val="dk1"/>
              </a:buClr>
              <a:buSzPts val="1200"/>
              <a:buFont typeface="Calibri"/>
              <a:buNone/>
            </a:pPr>
            <a:endParaRPr lang="en-US" b="0"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Reflecting and Justifying: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b="0" dirty="0">
                <a:solidFill>
                  <a:srgbClr val="000000"/>
                </a:solidFill>
              </a:rPr>
              <a:t>Why did James use both the </a:t>
            </a:r>
            <a:r>
              <a:rPr lang="en-US" b="0" i="1" dirty="0">
                <a:solidFill>
                  <a:srgbClr val="000000"/>
                </a:solidFill>
              </a:rPr>
              <a:t>x</a:t>
            </a:r>
            <a:r>
              <a:rPr lang="en-US" b="0" dirty="0">
                <a:solidFill>
                  <a:srgbClr val="000000"/>
                </a:solidFill>
              </a:rPr>
              <a:t>-value and the </a:t>
            </a:r>
            <a:r>
              <a:rPr lang="en-US" b="0" i="1" dirty="0">
                <a:solidFill>
                  <a:srgbClr val="000000"/>
                </a:solidFill>
              </a:rPr>
              <a:t>y</a:t>
            </a:r>
            <a:r>
              <a:rPr lang="en-US" b="0" dirty="0">
                <a:solidFill>
                  <a:srgbClr val="000000"/>
                </a:solidFill>
              </a:rPr>
              <a:t>-value in his substitution step, but Catalina only used the </a:t>
            </a:r>
            <a:r>
              <a:rPr lang="en-US" b="0" i="1" dirty="0">
                <a:solidFill>
                  <a:srgbClr val="000000"/>
                </a:solidFill>
              </a:rPr>
              <a:t>x</a:t>
            </a:r>
            <a:r>
              <a:rPr lang="en-US" b="0" dirty="0">
                <a:solidFill>
                  <a:srgbClr val="000000"/>
                </a:solidFill>
              </a:rPr>
              <a:t>-value in her substitution step?</a:t>
            </a:r>
          </a:p>
          <a:p>
            <a:pPr marL="0" marR="0" lvl="0" indent="0" algn="l" rtl="0">
              <a:lnSpc>
                <a:spcPct val="100000"/>
              </a:lnSpc>
              <a:spcBef>
                <a:spcPts val="0"/>
              </a:spcBef>
              <a:spcAft>
                <a:spcPts val="0"/>
              </a:spcAft>
              <a:buClr>
                <a:schemeClr val="dk1"/>
              </a:buClr>
              <a:buSzPts val="1200"/>
              <a:buFont typeface="Calibri"/>
              <a:buNone/>
            </a:pPr>
            <a:endParaRPr lang="en-US" b="0"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 </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did you get the slope of your equation?</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dirty="0">
                <a:solidFill>
                  <a:srgbClr val="000000"/>
                </a:solidFill>
                <a:latin typeface="Calibri"/>
                <a:ea typeface="Calibri"/>
                <a:cs typeface="Calibri"/>
                <a:sym typeface="Calibri"/>
              </a:rPr>
              <a:t>How did you use the given point to write the equation of the line?</a:t>
            </a:r>
          </a:p>
          <a:p>
            <a:r>
              <a:rPr lang="en-US" b="1" dirty="0"/>
              <a:t>Q1 has no single answer; let students defend either method.</a:t>
            </a:r>
          </a:p>
        </p:txBody>
      </p:sp>
      <p:sp>
        <p:nvSpPr>
          <p:cNvPr id="717" name="Google Shape;717;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p3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3" name="Google Shape;723;p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a:ea typeface="Calibri"/>
                <a:cs typeface="Calibri"/>
                <a:sym typeface="Calibri"/>
              </a:rPr>
              <a:t>Activity 1.2 Summary:</a:t>
            </a:r>
            <a:br>
              <a:rPr lang="en-US" sz="1200" b="1" dirty="0">
                <a:solidFill>
                  <a:srgbClr val="000000"/>
                </a:solidFill>
                <a:latin typeface="Calibri"/>
                <a:ea typeface="Calibri"/>
                <a:cs typeface="Calibri"/>
                <a:sym typeface="Calibri"/>
              </a:rPr>
            </a:br>
            <a:r>
              <a:rPr lang="en-US" dirty="0">
                <a:solidFill>
                  <a:srgbClr val="000000"/>
                </a:solidFill>
              </a:rPr>
              <a:t>A line and its translation are parallel to one another.</a:t>
            </a:r>
            <a:endParaRPr sz="1200" b="1" dirty="0">
              <a:solidFill>
                <a:srgbClr val="000000"/>
              </a:solidFill>
              <a:latin typeface="Calibri"/>
              <a:ea typeface="Calibri"/>
              <a:cs typeface="Calibri"/>
              <a:sym typeface="Calibri"/>
            </a:endParaRPr>
          </a:p>
        </p:txBody>
      </p:sp>
      <p:sp>
        <p:nvSpPr>
          <p:cNvPr id="724" name="Google Shape;724;p3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p3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1" name="Google Shape;731;p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This slide is blank for optional use with displaying work.</a:t>
            </a:r>
            <a:endParaRPr dirty="0">
              <a:solidFill>
                <a:srgbClr val="000000"/>
              </a:solidFill>
            </a:endParaRPr>
          </a:p>
        </p:txBody>
      </p:sp>
      <p:sp>
        <p:nvSpPr>
          <p:cNvPr id="732" name="Google Shape;732;p3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p3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8" name="Google Shape;738;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Total time of 20-25 minutes allotted for Activity 1.3.</a:t>
            </a:r>
            <a:endParaRPr dirty="0">
              <a:solidFill>
                <a:srgbClr val="000000"/>
              </a:solidFill>
            </a:endParaRPr>
          </a:p>
        </p:txBody>
      </p:sp>
      <p:sp>
        <p:nvSpPr>
          <p:cNvPr id="739" name="Google Shape;739;p3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p38: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6" name="Google Shape;746;p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rPr>
              <a:t>Questions to Support Discourse – Gathering:</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Why is this transformation called a </a:t>
            </a:r>
            <a:r>
              <a:rPr lang="en-US" i="1" dirty="0">
                <a:solidFill>
                  <a:srgbClr val="000000"/>
                </a:solidFill>
              </a:rPr>
              <a:t>vertical dilation</a:t>
            </a:r>
            <a:r>
              <a:rPr lang="en-US" dirty="0">
                <a:solidFill>
                  <a:srgbClr val="000000"/>
                </a:solidFill>
              </a:rPr>
              <a:t>? </a:t>
            </a:r>
            <a:endParaRPr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did you complete the table? </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is the graph affected by the dilation by a factor of 4? </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do you think the graph would be affected by a factor of 10? </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did you determine the slope? The </a:t>
            </a:r>
            <a:r>
              <a:rPr lang="en-US" i="1" dirty="0">
                <a:solidFill>
                  <a:srgbClr val="000000"/>
                </a:solidFill>
              </a:rPr>
              <a:t>y</a:t>
            </a:r>
            <a:r>
              <a:rPr lang="en-US" dirty="0">
                <a:solidFill>
                  <a:srgbClr val="000000"/>
                </a:solidFill>
              </a:rPr>
              <a:t>-intercept? </a:t>
            </a:r>
            <a:endParaRPr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a:t>
            </a:r>
            <a:endParaRPr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can you tell from the equation that a dilation occurred?</a:t>
            </a:r>
            <a:endParaRPr sz="1200" b="0" dirty="0">
              <a:solidFill>
                <a:srgbClr val="000000"/>
              </a:solidFill>
              <a:latin typeface="Calibri"/>
              <a:ea typeface="Calibri"/>
              <a:cs typeface="Calibri"/>
              <a:sym typeface="Calibri"/>
            </a:endParaRPr>
          </a:p>
        </p:txBody>
      </p:sp>
      <p:sp>
        <p:nvSpPr>
          <p:cNvPr id="747" name="Google Shape;747;p3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p39: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8" name="Google Shape;758;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rPr>
              <a:t>Questions to Support Discourse – Gathering:</a:t>
            </a:r>
            <a:endParaRPr lang="en-US"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Why is this transformation called a </a:t>
            </a:r>
            <a:r>
              <a:rPr lang="en-US" i="1" dirty="0">
                <a:solidFill>
                  <a:srgbClr val="000000"/>
                </a:solidFill>
              </a:rPr>
              <a:t>vertical dilation</a:t>
            </a:r>
            <a:r>
              <a:rPr lang="en-US" dirty="0">
                <a:solidFill>
                  <a:srgbClr val="000000"/>
                </a:solidFill>
              </a:rPr>
              <a:t>? </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a:t>
            </a:r>
            <a:endParaRPr lang="en-US"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did you complete the table?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is the graph affected by the dilation by a factor of 4?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do you think the graph would be affected by a factor of 10?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did you determine the slope? The </a:t>
            </a:r>
            <a:r>
              <a:rPr lang="en-US" i="1" dirty="0">
                <a:solidFill>
                  <a:srgbClr val="000000"/>
                </a:solidFill>
              </a:rPr>
              <a:t>y</a:t>
            </a:r>
            <a:r>
              <a:rPr lang="en-US" dirty="0">
                <a:solidFill>
                  <a:srgbClr val="000000"/>
                </a:solidFill>
              </a:rPr>
              <a:t>-intercept? </a:t>
            </a:r>
          </a:p>
          <a:p>
            <a:pPr marL="0" marR="0" lvl="0" indent="0" algn="l" rtl="0">
              <a:lnSpc>
                <a:spcPct val="100000"/>
              </a:lnSpc>
              <a:spcBef>
                <a:spcPts val="0"/>
              </a:spcBef>
              <a:spcAft>
                <a:spcPts val="0"/>
              </a:spcAft>
              <a:buClr>
                <a:schemeClr val="dk1"/>
              </a:buClr>
              <a:buSzPts val="1200"/>
              <a:buFont typeface="Calibri"/>
              <a:buNone/>
            </a:pPr>
            <a:endParaRPr lang="en-US" b="1" dirty="0">
              <a:solidFill>
                <a:srgbClr val="000000"/>
              </a:solidFill>
            </a:endParaRPr>
          </a:p>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Seeing Structure:</a:t>
            </a:r>
            <a:endParaRPr lang="en-US"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How can you tell from the equation that a dilation occurred?</a:t>
            </a:r>
            <a:endParaRPr lang="en-US" sz="1200" b="0" dirty="0">
              <a:solidFill>
                <a:srgbClr val="000000"/>
              </a:solidFill>
              <a:latin typeface="Calibri"/>
              <a:ea typeface="Calibri"/>
              <a:cs typeface="Calibri"/>
              <a:sym typeface="Calibri"/>
            </a:endParaRPr>
          </a:p>
        </p:txBody>
      </p:sp>
      <p:sp>
        <p:nvSpPr>
          <p:cNvPr id="759" name="Google Shape;759;p3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a:extLst>
            <a:ext uri="{FF2B5EF4-FFF2-40B4-BE49-F238E27FC236}">
              <a16:creationId xmlns:a16="http://schemas.microsoft.com/office/drawing/2014/main" id="{53E0CF96-86B1-4B08-7E63-15226F469362}"/>
            </a:ext>
          </a:extLst>
        </p:cNvPr>
        <p:cNvGrpSpPr/>
        <p:nvPr/>
      </p:nvGrpSpPr>
      <p:grpSpPr>
        <a:xfrm>
          <a:off x="0" y="0"/>
          <a:ext cx="0" cy="0"/>
          <a:chOff x="0" y="0"/>
          <a:chExt cx="0" cy="0"/>
        </a:xfrm>
      </p:grpSpPr>
      <p:sp>
        <p:nvSpPr>
          <p:cNvPr id="745" name="Google Shape;745;p38:notes">
            <a:extLst>
              <a:ext uri="{FF2B5EF4-FFF2-40B4-BE49-F238E27FC236}">
                <a16:creationId xmlns:a16="http://schemas.microsoft.com/office/drawing/2014/main" id="{A2FB2D6A-DECB-6326-CC77-D6154A40DC5A}"/>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6" name="Google Shape;746;p38:notes">
            <a:extLst>
              <a:ext uri="{FF2B5EF4-FFF2-40B4-BE49-F238E27FC236}">
                <a16:creationId xmlns:a16="http://schemas.microsoft.com/office/drawing/2014/main" id="{5D006947-3FB1-7109-49EA-BD9ABC5051F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rPr>
              <a:t>Questions to Support Discourse – Probing: </a:t>
            </a:r>
            <a:endParaRPr lang="en-US"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Why isn’t the transformed line as steep as the original line?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What is the slope of a line less steep than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What is the slope of a line that lies between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and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Why did the </a:t>
            </a:r>
            <a:r>
              <a:rPr lang="en-US" i="1" dirty="0">
                <a:solidFill>
                  <a:srgbClr val="000000"/>
                </a:solidFill>
              </a:rPr>
              <a:t>y</a:t>
            </a:r>
            <a:r>
              <a:rPr lang="en-US" dirty="0">
                <a:solidFill>
                  <a:srgbClr val="000000"/>
                </a:solidFill>
              </a:rPr>
              <a:t>-intercept remain at the origin? </a:t>
            </a:r>
          </a:p>
          <a:p>
            <a:pPr marL="171450" lvl="0" indent="-171450" algn="l" rtl="0">
              <a:spcBef>
                <a:spcPts val="0"/>
              </a:spcBef>
              <a:spcAft>
                <a:spcPts val="0"/>
              </a:spcAft>
              <a:buFont typeface="Arial" panose="020B0604020202020204" pitchFamily="34" charset="0"/>
              <a:buChar char="•"/>
            </a:pPr>
            <a:r>
              <a:rPr lang="en-US" dirty="0">
                <a:solidFill>
                  <a:srgbClr val="000000"/>
                </a:solidFill>
              </a:rPr>
              <a:t>Describe two ways the graph of </a:t>
            </a:r>
            <a:r>
              <a:rPr lang="en-US" i="1" dirty="0">
                <a:solidFill>
                  <a:srgbClr val="000000"/>
                </a:solidFill>
              </a:rPr>
              <a:t>c</a:t>
            </a:r>
            <a:r>
              <a:rPr lang="en-US" dirty="0">
                <a:solidFill>
                  <a:srgbClr val="000000"/>
                </a:solidFill>
              </a:rPr>
              <a:t>(</a:t>
            </a:r>
            <a:r>
              <a:rPr lang="en-US" i="1" dirty="0">
                <a:solidFill>
                  <a:srgbClr val="000000"/>
                </a:solidFill>
              </a:rPr>
              <a:t>x</a:t>
            </a:r>
            <a:r>
              <a:rPr lang="en-US" dirty="0">
                <a:solidFill>
                  <a:srgbClr val="000000"/>
                </a:solidFill>
              </a:rPr>
              <a:t>) is different from the graph of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does the factor of 4 affect the graph?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does multiplication by a negative number affect the graph?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What does a vertical stretch look like?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Why does the name vertical compression make sense?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can you tell that the reflection is across the </a:t>
            </a:r>
            <a:r>
              <a:rPr lang="en-US" i="1" dirty="0">
                <a:solidFill>
                  <a:srgbClr val="000000"/>
                </a:solidFill>
              </a:rPr>
              <a:t>x</a:t>
            </a:r>
            <a:r>
              <a:rPr lang="en-US" dirty="0">
                <a:solidFill>
                  <a:srgbClr val="000000"/>
                </a:solidFill>
              </a:rPr>
              <a:t>-axis rather than the </a:t>
            </a:r>
            <a:r>
              <a:rPr lang="en-US" i="1" dirty="0">
                <a:solidFill>
                  <a:srgbClr val="000000"/>
                </a:solidFill>
              </a:rPr>
              <a:t>y</a:t>
            </a:r>
            <a:r>
              <a:rPr lang="en-US" dirty="0">
                <a:solidFill>
                  <a:srgbClr val="000000"/>
                </a:solidFill>
              </a:rPr>
              <a:t>-axis?</a:t>
            </a:r>
            <a:endParaRPr lang="en-US" sz="1200" b="0" dirty="0">
              <a:solidFill>
                <a:srgbClr val="000000"/>
              </a:solidFill>
              <a:latin typeface="Calibri"/>
              <a:ea typeface="Calibri"/>
              <a:cs typeface="Calibri"/>
              <a:sym typeface="Calibri"/>
            </a:endParaRPr>
          </a:p>
        </p:txBody>
      </p:sp>
      <p:sp>
        <p:nvSpPr>
          <p:cNvPr id="747" name="Google Shape;747;p38:notes">
            <a:extLst>
              <a:ext uri="{FF2B5EF4-FFF2-40B4-BE49-F238E27FC236}">
                <a16:creationId xmlns:a16="http://schemas.microsoft.com/office/drawing/2014/main" id="{EC71E99B-4EDB-33CF-0B44-E75FBA261BA8}"/>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extLst>
      <p:ext uri="{BB962C8B-B14F-4D97-AF65-F5344CB8AC3E}">
        <p14:creationId xmlns:p14="http://schemas.microsoft.com/office/powerpoint/2010/main" val="18471805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a:extLst>
            <a:ext uri="{FF2B5EF4-FFF2-40B4-BE49-F238E27FC236}">
              <a16:creationId xmlns:a16="http://schemas.microsoft.com/office/drawing/2014/main" id="{EC5C4A9B-03C8-8F51-0739-FA1CFBBA2084}"/>
            </a:ext>
          </a:extLst>
        </p:cNvPr>
        <p:cNvGrpSpPr/>
        <p:nvPr/>
      </p:nvGrpSpPr>
      <p:grpSpPr>
        <a:xfrm>
          <a:off x="0" y="0"/>
          <a:ext cx="0" cy="0"/>
          <a:chOff x="0" y="0"/>
          <a:chExt cx="0" cy="0"/>
        </a:xfrm>
      </p:grpSpPr>
      <p:sp>
        <p:nvSpPr>
          <p:cNvPr id="757" name="Google Shape;757;p39:notes">
            <a:extLst>
              <a:ext uri="{FF2B5EF4-FFF2-40B4-BE49-F238E27FC236}">
                <a16:creationId xmlns:a16="http://schemas.microsoft.com/office/drawing/2014/main" id="{4602DE6B-B410-9436-D3FD-8F7E4B0204C0}"/>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8" name="Google Shape;758;p39:notes">
            <a:extLst>
              <a:ext uri="{FF2B5EF4-FFF2-40B4-BE49-F238E27FC236}">
                <a16:creationId xmlns:a16="http://schemas.microsoft.com/office/drawing/2014/main" id="{EFA6AB1C-CEE7-345A-B5ED-326917E4383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rPr>
              <a:t>Questions to Support Discourse – Probing: </a:t>
            </a:r>
            <a:endParaRPr lang="en-US"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Why isn’t the transformed line as steep as the original line?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What is the slope of a line less steep than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What is the slope of a line that lies between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and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Why did the </a:t>
            </a:r>
            <a:r>
              <a:rPr lang="en-US" i="1" dirty="0">
                <a:solidFill>
                  <a:srgbClr val="000000"/>
                </a:solidFill>
              </a:rPr>
              <a:t>y</a:t>
            </a:r>
            <a:r>
              <a:rPr lang="en-US" dirty="0">
                <a:solidFill>
                  <a:srgbClr val="000000"/>
                </a:solidFill>
              </a:rPr>
              <a:t>-intercept remain at the origin? </a:t>
            </a:r>
          </a:p>
          <a:p>
            <a:pPr marL="171450" lvl="0" indent="-171450" algn="l" rtl="0">
              <a:spcBef>
                <a:spcPts val="0"/>
              </a:spcBef>
              <a:spcAft>
                <a:spcPts val="0"/>
              </a:spcAft>
              <a:buFont typeface="Arial" panose="020B0604020202020204" pitchFamily="34" charset="0"/>
              <a:buChar char="•"/>
            </a:pPr>
            <a:r>
              <a:rPr lang="en-US" dirty="0">
                <a:solidFill>
                  <a:srgbClr val="000000"/>
                </a:solidFill>
              </a:rPr>
              <a:t>Describe two ways the graph of </a:t>
            </a:r>
            <a:r>
              <a:rPr lang="en-US" i="1" dirty="0">
                <a:solidFill>
                  <a:srgbClr val="000000"/>
                </a:solidFill>
              </a:rPr>
              <a:t>c</a:t>
            </a:r>
            <a:r>
              <a:rPr lang="en-US" dirty="0">
                <a:solidFill>
                  <a:srgbClr val="000000"/>
                </a:solidFill>
              </a:rPr>
              <a:t>(</a:t>
            </a:r>
            <a:r>
              <a:rPr lang="en-US" i="1" dirty="0">
                <a:solidFill>
                  <a:srgbClr val="000000"/>
                </a:solidFill>
              </a:rPr>
              <a:t>x</a:t>
            </a:r>
            <a:r>
              <a:rPr lang="en-US" dirty="0">
                <a:solidFill>
                  <a:srgbClr val="000000"/>
                </a:solidFill>
              </a:rPr>
              <a:t>) is different from the graph of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does the factor of 4 affect the graph?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does multiplication by a negative number affect the graph?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What does a vertical stretch look like?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Why does the name vertical compression make sense?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can you tell that the reflection is across the </a:t>
            </a:r>
            <a:r>
              <a:rPr lang="en-US" i="1" dirty="0">
                <a:solidFill>
                  <a:srgbClr val="000000"/>
                </a:solidFill>
              </a:rPr>
              <a:t>x</a:t>
            </a:r>
            <a:r>
              <a:rPr lang="en-US" dirty="0">
                <a:solidFill>
                  <a:srgbClr val="000000"/>
                </a:solidFill>
              </a:rPr>
              <a:t>-axis rather than the </a:t>
            </a:r>
            <a:r>
              <a:rPr lang="en-US" i="1" dirty="0">
                <a:solidFill>
                  <a:srgbClr val="000000"/>
                </a:solidFill>
              </a:rPr>
              <a:t>y</a:t>
            </a:r>
            <a:r>
              <a:rPr lang="en-US" dirty="0">
                <a:solidFill>
                  <a:srgbClr val="000000"/>
                </a:solidFill>
              </a:rPr>
              <a:t>-axis?</a:t>
            </a:r>
            <a:endParaRPr lang="en-US" sz="1200" b="0" dirty="0">
              <a:solidFill>
                <a:srgbClr val="000000"/>
              </a:solidFill>
              <a:latin typeface="Calibri"/>
              <a:ea typeface="Calibri"/>
              <a:cs typeface="Calibri"/>
              <a:sym typeface="Calibri"/>
            </a:endParaRPr>
          </a:p>
        </p:txBody>
      </p:sp>
      <p:sp>
        <p:nvSpPr>
          <p:cNvPr id="759" name="Google Shape;759;p39:notes">
            <a:extLst>
              <a:ext uri="{FF2B5EF4-FFF2-40B4-BE49-F238E27FC236}">
                <a16:creationId xmlns:a16="http://schemas.microsoft.com/office/drawing/2014/main" id="{0290792E-6583-5949-2835-7B5BA1DEC337}"/>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extLst>
      <p:ext uri="{BB962C8B-B14F-4D97-AF65-F5344CB8AC3E}">
        <p14:creationId xmlns:p14="http://schemas.microsoft.com/office/powerpoint/2010/main" val="34539911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a:extLst>
            <a:ext uri="{FF2B5EF4-FFF2-40B4-BE49-F238E27FC236}">
              <a16:creationId xmlns:a16="http://schemas.microsoft.com/office/drawing/2014/main" id="{8603E85A-A085-2AB7-1307-5A26FBFEAB6A}"/>
            </a:ext>
          </a:extLst>
        </p:cNvPr>
        <p:cNvGrpSpPr/>
        <p:nvPr/>
      </p:nvGrpSpPr>
      <p:grpSpPr>
        <a:xfrm>
          <a:off x="0" y="0"/>
          <a:ext cx="0" cy="0"/>
          <a:chOff x="0" y="0"/>
          <a:chExt cx="0" cy="0"/>
        </a:xfrm>
      </p:grpSpPr>
      <p:sp>
        <p:nvSpPr>
          <p:cNvPr id="745" name="Google Shape;745;p38:notes">
            <a:extLst>
              <a:ext uri="{FF2B5EF4-FFF2-40B4-BE49-F238E27FC236}">
                <a16:creationId xmlns:a16="http://schemas.microsoft.com/office/drawing/2014/main" id="{D8556927-CEF9-2333-D2CF-AF6C807F28ED}"/>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6" name="Google Shape;746;p38:notes">
            <a:extLst>
              <a:ext uri="{FF2B5EF4-FFF2-40B4-BE49-F238E27FC236}">
                <a16:creationId xmlns:a16="http://schemas.microsoft.com/office/drawing/2014/main" id="{EDE80438-0B5A-EC73-8572-C4058D7C531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rPr>
              <a:t>Questions to Support Discourse – Probing: </a:t>
            </a:r>
            <a:endParaRPr lang="en-US"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Why isn’t the transformed line as steep as the original line?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What is the slope of a line less steep than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What is the slope of a line that lies between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and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Why did the </a:t>
            </a:r>
            <a:r>
              <a:rPr lang="en-US" i="1" dirty="0">
                <a:solidFill>
                  <a:srgbClr val="000000"/>
                </a:solidFill>
              </a:rPr>
              <a:t>y</a:t>
            </a:r>
            <a:r>
              <a:rPr lang="en-US" dirty="0">
                <a:solidFill>
                  <a:srgbClr val="000000"/>
                </a:solidFill>
              </a:rPr>
              <a:t>-intercept remain at the origin? </a:t>
            </a:r>
          </a:p>
          <a:p>
            <a:pPr marL="171450" lvl="0" indent="-171450" algn="l" rtl="0">
              <a:spcBef>
                <a:spcPts val="0"/>
              </a:spcBef>
              <a:spcAft>
                <a:spcPts val="0"/>
              </a:spcAft>
              <a:buFont typeface="Arial" panose="020B0604020202020204" pitchFamily="34" charset="0"/>
              <a:buChar char="•"/>
            </a:pPr>
            <a:r>
              <a:rPr lang="en-US" dirty="0">
                <a:solidFill>
                  <a:srgbClr val="000000"/>
                </a:solidFill>
              </a:rPr>
              <a:t>Describe two ways the graph of </a:t>
            </a:r>
            <a:r>
              <a:rPr lang="en-US" i="1" dirty="0">
                <a:solidFill>
                  <a:srgbClr val="000000"/>
                </a:solidFill>
              </a:rPr>
              <a:t>c</a:t>
            </a:r>
            <a:r>
              <a:rPr lang="en-US" dirty="0">
                <a:solidFill>
                  <a:srgbClr val="000000"/>
                </a:solidFill>
              </a:rPr>
              <a:t>(</a:t>
            </a:r>
            <a:r>
              <a:rPr lang="en-US" i="1" dirty="0">
                <a:solidFill>
                  <a:srgbClr val="000000"/>
                </a:solidFill>
              </a:rPr>
              <a:t>x</a:t>
            </a:r>
            <a:r>
              <a:rPr lang="en-US" dirty="0">
                <a:solidFill>
                  <a:srgbClr val="000000"/>
                </a:solidFill>
              </a:rPr>
              <a:t>) is different from the graph of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does the factor of 4 affect the graph?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does multiplication by a negative number affect the graph?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What does a vertical stretch look like?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Why does the name vertical compression make sense?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can you tell that the reflection is across the </a:t>
            </a:r>
            <a:r>
              <a:rPr lang="en-US" i="1" dirty="0">
                <a:solidFill>
                  <a:srgbClr val="000000"/>
                </a:solidFill>
              </a:rPr>
              <a:t>x</a:t>
            </a:r>
            <a:r>
              <a:rPr lang="en-US" dirty="0">
                <a:solidFill>
                  <a:srgbClr val="000000"/>
                </a:solidFill>
              </a:rPr>
              <a:t>-axis rather than the </a:t>
            </a:r>
            <a:r>
              <a:rPr lang="en-US" i="1" dirty="0">
                <a:solidFill>
                  <a:srgbClr val="000000"/>
                </a:solidFill>
              </a:rPr>
              <a:t>y</a:t>
            </a:r>
            <a:r>
              <a:rPr lang="en-US" dirty="0">
                <a:solidFill>
                  <a:srgbClr val="000000"/>
                </a:solidFill>
              </a:rPr>
              <a:t>-axis?</a:t>
            </a:r>
            <a:endParaRPr lang="en-US" sz="1200" b="0" dirty="0">
              <a:solidFill>
                <a:srgbClr val="000000"/>
              </a:solidFill>
              <a:latin typeface="Calibri"/>
              <a:ea typeface="Calibri"/>
              <a:cs typeface="Calibri"/>
              <a:sym typeface="Calibri"/>
            </a:endParaRPr>
          </a:p>
          <a:p>
            <a:pPr marL="0" lvl="0" indent="0" algn="l" rtl="0">
              <a:spcBef>
                <a:spcPts val="0"/>
              </a:spcBef>
              <a:spcAft>
                <a:spcPts val="0"/>
              </a:spcAft>
              <a:buNone/>
            </a:pPr>
            <a:endParaRPr sz="1200" b="0" dirty="0">
              <a:latin typeface="Calibri"/>
              <a:ea typeface="Calibri"/>
              <a:cs typeface="Calibri"/>
              <a:sym typeface="Calibri"/>
            </a:endParaRPr>
          </a:p>
        </p:txBody>
      </p:sp>
      <p:sp>
        <p:nvSpPr>
          <p:cNvPr id="747" name="Google Shape;747;p38:notes">
            <a:extLst>
              <a:ext uri="{FF2B5EF4-FFF2-40B4-BE49-F238E27FC236}">
                <a16:creationId xmlns:a16="http://schemas.microsoft.com/office/drawing/2014/main" id="{C64E56CB-9534-FCAF-FA73-67338F017ADD}"/>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a:p>
        </p:txBody>
      </p:sp>
    </p:spTree>
    <p:extLst>
      <p:ext uri="{BB962C8B-B14F-4D97-AF65-F5344CB8AC3E}">
        <p14:creationId xmlns:p14="http://schemas.microsoft.com/office/powerpoint/2010/main" val="41633211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a:extLst>
            <a:ext uri="{FF2B5EF4-FFF2-40B4-BE49-F238E27FC236}">
              <a16:creationId xmlns:a16="http://schemas.microsoft.com/office/drawing/2014/main" id="{3D5700E4-3D50-D724-1247-7FE9055258DB}"/>
            </a:ext>
          </a:extLst>
        </p:cNvPr>
        <p:cNvGrpSpPr/>
        <p:nvPr/>
      </p:nvGrpSpPr>
      <p:grpSpPr>
        <a:xfrm>
          <a:off x="0" y="0"/>
          <a:ext cx="0" cy="0"/>
          <a:chOff x="0" y="0"/>
          <a:chExt cx="0" cy="0"/>
        </a:xfrm>
      </p:grpSpPr>
      <p:sp>
        <p:nvSpPr>
          <p:cNvPr id="757" name="Google Shape;757;p39:notes">
            <a:extLst>
              <a:ext uri="{FF2B5EF4-FFF2-40B4-BE49-F238E27FC236}">
                <a16:creationId xmlns:a16="http://schemas.microsoft.com/office/drawing/2014/main" id="{B380B9C8-A3E2-2BF0-A2B5-D2C731E53B77}"/>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8" name="Google Shape;758;p39:notes">
            <a:extLst>
              <a:ext uri="{FF2B5EF4-FFF2-40B4-BE49-F238E27FC236}">
                <a16:creationId xmlns:a16="http://schemas.microsoft.com/office/drawing/2014/main" id="{A624425C-2D5C-1CE8-D37E-E4024A9E6F8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rPr>
              <a:t>Questions to Support Discourse – Probing: </a:t>
            </a:r>
            <a:endParaRPr lang="en-US"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Why isn’t the transformed line as steep as the original line?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What is the slope of a line less steep than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What is the slope of a line that lies between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and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Why did the </a:t>
            </a:r>
            <a:r>
              <a:rPr lang="en-US" i="1" dirty="0">
                <a:solidFill>
                  <a:srgbClr val="000000"/>
                </a:solidFill>
              </a:rPr>
              <a:t>y</a:t>
            </a:r>
            <a:r>
              <a:rPr lang="en-US" dirty="0">
                <a:solidFill>
                  <a:srgbClr val="000000"/>
                </a:solidFill>
              </a:rPr>
              <a:t>-intercept remain at the origin? </a:t>
            </a:r>
          </a:p>
          <a:p>
            <a:pPr marL="171450" lvl="0" indent="-171450" algn="l" rtl="0">
              <a:spcBef>
                <a:spcPts val="0"/>
              </a:spcBef>
              <a:spcAft>
                <a:spcPts val="0"/>
              </a:spcAft>
              <a:buFont typeface="Arial" panose="020B0604020202020204" pitchFamily="34" charset="0"/>
              <a:buChar char="•"/>
            </a:pPr>
            <a:r>
              <a:rPr lang="en-US" dirty="0">
                <a:solidFill>
                  <a:srgbClr val="000000"/>
                </a:solidFill>
              </a:rPr>
              <a:t>Describe two ways the graph of </a:t>
            </a:r>
            <a:r>
              <a:rPr lang="en-US" i="1" dirty="0">
                <a:solidFill>
                  <a:srgbClr val="000000"/>
                </a:solidFill>
              </a:rPr>
              <a:t>c</a:t>
            </a:r>
            <a:r>
              <a:rPr lang="en-US" dirty="0">
                <a:solidFill>
                  <a:srgbClr val="000000"/>
                </a:solidFill>
              </a:rPr>
              <a:t>(</a:t>
            </a:r>
            <a:r>
              <a:rPr lang="en-US" i="1" dirty="0">
                <a:solidFill>
                  <a:srgbClr val="000000"/>
                </a:solidFill>
              </a:rPr>
              <a:t>x</a:t>
            </a:r>
            <a:r>
              <a:rPr lang="en-US" dirty="0">
                <a:solidFill>
                  <a:srgbClr val="000000"/>
                </a:solidFill>
              </a:rPr>
              <a:t>) is different from the graph of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does the factor of 4 affect the graph?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does multiplication by a negative number affect the graph?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What does a vertical stretch look like?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Why does the name vertical compression make sense?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can you tell that the reflection is across the </a:t>
            </a:r>
            <a:r>
              <a:rPr lang="en-US" i="1" dirty="0">
                <a:solidFill>
                  <a:srgbClr val="000000"/>
                </a:solidFill>
              </a:rPr>
              <a:t>x</a:t>
            </a:r>
            <a:r>
              <a:rPr lang="en-US" dirty="0">
                <a:solidFill>
                  <a:srgbClr val="000000"/>
                </a:solidFill>
              </a:rPr>
              <a:t>-axis rather than the </a:t>
            </a:r>
            <a:r>
              <a:rPr lang="en-US" i="1" dirty="0">
                <a:solidFill>
                  <a:srgbClr val="000000"/>
                </a:solidFill>
              </a:rPr>
              <a:t>y</a:t>
            </a:r>
            <a:r>
              <a:rPr lang="en-US" dirty="0">
                <a:solidFill>
                  <a:srgbClr val="000000"/>
                </a:solidFill>
              </a:rPr>
              <a:t>-axis?</a:t>
            </a:r>
            <a:endParaRPr lang="en-US" sz="1200" b="0" dirty="0">
              <a:solidFill>
                <a:srgbClr val="000000"/>
              </a:solidFill>
              <a:latin typeface="Calibri"/>
              <a:ea typeface="Calibri"/>
              <a:cs typeface="Calibri"/>
              <a:sym typeface="Calibri"/>
            </a:endParaRPr>
          </a:p>
        </p:txBody>
      </p:sp>
      <p:sp>
        <p:nvSpPr>
          <p:cNvPr id="759" name="Google Shape;759;p39:notes">
            <a:extLst>
              <a:ext uri="{FF2B5EF4-FFF2-40B4-BE49-F238E27FC236}">
                <a16:creationId xmlns:a16="http://schemas.microsoft.com/office/drawing/2014/main" id="{9686EF86-17AF-4874-08EE-45320C458A10}"/>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43</a:t>
            </a:fld>
            <a:endParaRPr/>
          </a:p>
        </p:txBody>
      </p:sp>
    </p:spTree>
    <p:extLst>
      <p:ext uri="{BB962C8B-B14F-4D97-AF65-F5344CB8AC3E}">
        <p14:creationId xmlns:p14="http://schemas.microsoft.com/office/powerpoint/2010/main" val="402180675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p4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0" name="Google Shape;780;p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rPr>
              <a:t>Questions to Support Discourse – Probing: </a:t>
            </a:r>
            <a:endParaRPr lang="en-US" dirty="0">
              <a:solidFill>
                <a:srgbClr val="000000"/>
              </a:solidFill>
            </a:endParaRPr>
          </a:p>
          <a:p>
            <a:pPr marL="171450" lvl="0" indent="-171450" algn="l" rtl="0">
              <a:spcBef>
                <a:spcPts val="0"/>
              </a:spcBef>
              <a:spcAft>
                <a:spcPts val="0"/>
              </a:spcAft>
              <a:buFont typeface="Arial" panose="020B0604020202020204" pitchFamily="34" charset="0"/>
              <a:buChar char="•"/>
            </a:pPr>
            <a:r>
              <a:rPr lang="en-US" dirty="0">
                <a:solidFill>
                  <a:srgbClr val="000000"/>
                </a:solidFill>
              </a:rPr>
              <a:t>Why isn’t the transformed line as steep as the original line?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What is the slope of a line less steep than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What is the slope of a line that lies between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and </a:t>
            </a:r>
            <a:r>
              <a:rPr lang="en-US" i="1" dirty="0">
                <a:solidFill>
                  <a:srgbClr val="000000"/>
                </a:solidFill>
              </a:rPr>
              <a:t>b</a:t>
            </a:r>
            <a:r>
              <a:rPr lang="en-US" dirty="0">
                <a:solidFill>
                  <a:srgbClr val="000000"/>
                </a:solidFill>
              </a:rPr>
              <a:t>(</a:t>
            </a:r>
            <a:r>
              <a:rPr lang="en-US" i="1" dirty="0">
                <a:solidFill>
                  <a:srgbClr val="000000"/>
                </a:solidFill>
              </a:rPr>
              <a:t>x</a:t>
            </a:r>
            <a:r>
              <a:rPr lang="en-US" dirty="0">
                <a:solidFill>
                  <a:srgbClr val="000000"/>
                </a:solidFill>
              </a:rPr>
              <a:t>)?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Why did the </a:t>
            </a:r>
            <a:r>
              <a:rPr lang="en-US" i="1" dirty="0">
                <a:solidFill>
                  <a:srgbClr val="000000"/>
                </a:solidFill>
              </a:rPr>
              <a:t>y</a:t>
            </a:r>
            <a:r>
              <a:rPr lang="en-US" dirty="0">
                <a:solidFill>
                  <a:srgbClr val="000000"/>
                </a:solidFill>
              </a:rPr>
              <a:t>-intercept remain at the origin? </a:t>
            </a:r>
          </a:p>
          <a:p>
            <a:pPr marL="171450" lvl="0" indent="-171450" algn="l" rtl="0">
              <a:spcBef>
                <a:spcPts val="0"/>
              </a:spcBef>
              <a:spcAft>
                <a:spcPts val="0"/>
              </a:spcAft>
              <a:buFont typeface="Arial" panose="020B0604020202020204" pitchFamily="34" charset="0"/>
              <a:buChar char="•"/>
            </a:pPr>
            <a:r>
              <a:rPr lang="en-US" dirty="0">
                <a:solidFill>
                  <a:srgbClr val="000000"/>
                </a:solidFill>
              </a:rPr>
              <a:t>Describe two ways the graph of </a:t>
            </a:r>
            <a:r>
              <a:rPr lang="en-US" i="1" dirty="0">
                <a:solidFill>
                  <a:srgbClr val="000000"/>
                </a:solidFill>
              </a:rPr>
              <a:t>c</a:t>
            </a:r>
            <a:r>
              <a:rPr lang="en-US" dirty="0">
                <a:solidFill>
                  <a:srgbClr val="000000"/>
                </a:solidFill>
              </a:rPr>
              <a:t>(</a:t>
            </a:r>
            <a:r>
              <a:rPr lang="en-US" i="1" dirty="0">
                <a:solidFill>
                  <a:srgbClr val="000000"/>
                </a:solidFill>
              </a:rPr>
              <a:t>x</a:t>
            </a:r>
            <a:r>
              <a:rPr lang="en-US" dirty="0">
                <a:solidFill>
                  <a:srgbClr val="000000"/>
                </a:solidFill>
              </a:rPr>
              <a:t>) is different from the graph of </a:t>
            </a:r>
            <a:r>
              <a:rPr lang="en-US" i="1" dirty="0">
                <a:solidFill>
                  <a:srgbClr val="000000"/>
                </a:solidFill>
              </a:rPr>
              <a:t>f</a:t>
            </a:r>
            <a:r>
              <a:rPr lang="en-US" dirty="0">
                <a:solidFill>
                  <a:srgbClr val="000000"/>
                </a:solidFill>
              </a:rPr>
              <a:t>(</a:t>
            </a:r>
            <a:r>
              <a:rPr lang="en-US" i="1" dirty="0">
                <a:solidFill>
                  <a:srgbClr val="000000"/>
                </a:solidFill>
              </a:rPr>
              <a:t>x</a:t>
            </a:r>
            <a:r>
              <a:rPr lang="en-US" dirty="0">
                <a:solidFill>
                  <a:srgbClr val="000000"/>
                </a:solidFill>
              </a:rPr>
              <a:t>).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does the factor of 4 affect the graph?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does multiplication by a negative number affect the graph?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What does a vertical stretch look like? </a:t>
            </a:r>
          </a:p>
          <a:p>
            <a:pPr marL="171450" lvl="0" indent="-171450" algn="l" rtl="0">
              <a:spcBef>
                <a:spcPts val="0"/>
              </a:spcBef>
              <a:spcAft>
                <a:spcPts val="0"/>
              </a:spcAft>
              <a:buFont typeface="Arial" panose="020B0604020202020204" pitchFamily="34" charset="0"/>
              <a:buChar char="•"/>
            </a:pPr>
            <a:r>
              <a:rPr lang="en-US" dirty="0">
                <a:solidFill>
                  <a:srgbClr val="000000"/>
                </a:solidFill>
              </a:rPr>
              <a:t>Why does the name vertical compression make sense? </a:t>
            </a:r>
          </a:p>
          <a:p>
            <a:pPr marL="171450" lvl="0" indent="-171450" algn="l" rtl="0">
              <a:spcBef>
                <a:spcPts val="0"/>
              </a:spcBef>
              <a:spcAft>
                <a:spcPts val="0"/>
              </a:spcAft>
              <a:buFont typeface="Arial" panose="020B0604020202020204" pitchFamily="34" charset="0"/>
              <a:buChar char="•"/>
            </a:pPr>
            <a:r>
              <a:rPr lang="en-US" dirty="0">
                <a:solidFill>
                  <a:srgbClr val="000000"/>
                </a:solidFill>
              </a:rPr>
              <a:t>How can you tell that the reflection is across the </a:t>
            </a:r>
            <a:r>
              <a:rPr lang="en-US" i="1" dirty="0">
                <a:solidFill>
                  <a:srgbClr val="000000"/>
                </a:solidFill>
              </a:rPr>
              <a:t>x</a:t>
            </a:r>
            <a:r>
              <a:rPr lang="en-US" dirty="0">
                <a:solidFill>
                  <a:srgbClr val="000000"/>
                </a:solidFill>
              </a:rPr>
              <a:t>-axis rather than the </a:t>
            </a:r>
            <a:r>
              <a:rPr lang="en-US" i="1" dirty="0">
                <a:solidFill>
                  <a:srgbClr val="000000"/>
                </a:solidFill>
              </a:rPr>
              <a:t>y</a:t>
            </a:r>
            <a:r>
              <a:rPr lang="en-US" dirty="0">
                <a:solidFill>
                  <a:srgbClr val="000000"/>
                </a:solidFill>
              </a:rPr>
              <a:t>-axis?</a:t>
            </a:r>
            <a:endParaRPr lang="en-US" sz="1200" b="0" dirty="0">
              <a:solidFill>
                <a:srgbClr val="000000"/>
              </a:solidFill>
              <a:latin typeface="Calibri"/>
              <a:ea typeface="Calibri"/>
              <a:cs typeface="Calibri"/>
              <a:sym typeface="Calibri"/>
            </a:endParaRPr>
          </a:p>
        </p:txBody>
      </p:sp>
      <p:sp>
        <p:nvSpPr>
          <p:cNvPr id="781" name="Google Shape;781;p4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p4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8" name="Google Shape;788;p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Note: </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To close Day 2, have students reread the Essential Question and then read the Stamp the Learning summary aloud. </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lvl="0" indent="0" algn="l" rtl="0">
              <a:spcBef>
                <a:spcPts val="0"/>
              </a:spcBef>
              <a:spcAft>
                <a:spcPts val="0"/>
              </a:spcAft>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Activity 1.3 Summary:</a:t>
            </a:r>
            <a:b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b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For the parent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the transformed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i="0" dirty="0">
                <a:solidFill>
                  <a:srgbClr val="000000"/>
                </a:solidFill>
                <a:latin typeface="Calibri" panose="020F0502020204030204" pitchFamily="34" charset="0"/>
                <a:ea typeface="Calibri" panose="020F0502020204030204" pitchFamily="34" charset="0"/>
                <a:cs typeface="Calibri" panose="020F0502020204030204" pitchFamily="34" charset="0"/>
                <a:sym typeface="Cambria Math"/>
              </a:rPr>
              <a:t>∙</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is a vertical dilation of the function. When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is negative, the function is reflected across the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-axis.</a:t>
            </a:r>
            <a:endParaRPr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789" name="Google Shape;789;p4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p43: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6" name="Google Shape;796;p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This slide is blank for optional use with displaying work.</a:t>
            </a:r>
            <a:endParaRPr dirty="0">
              <a:solidFill>
                <a:srgbClr val="000000"/>
              </a:solidFill>
            </a:endParaRPr>
          </a:p>
        </p:txBody>
      </p:sp>
      <p:sp>
        <p:nvSpPr>
          <p:cNvPr id="797" name="Google Shape;797;p4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p4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3" name="Google Shape;803;p4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dirty="0">
                <a:solidFill>
                  <a:srgbClr val="000000"/>
                </a:solidFill>
                <a:latin typeface="Calibri"/>
                <a:ea typeface="Calibri"/>
                <a:cs typeface="Calibri"/>
                <a:sym typeface="Calibri"/>
              </a:rPr>
              <a:t>Note: </a:t>
            </a:r>
            <a:r>
              <a:rPr lang="en-US" dirty="0">
                <a:solidFill>
                  <a:srgbClr val="000000"/>
                </a:solidFill>
                <a:latin typeface="Calibri"/>
                <a:ea typeface="Calibri"/>
                <a:cs typeface="Calibri"/>
                <a:sym typeface="Calibri"/>
              </a:rPr>
              <a:t>Total suggested pacing for Day 3 is 45 minutes.</a:t>
            </a:r>
            <a:endParaRPr dirty="0">
              <a:solidFill>
                <a:srgbClr val="000000"/>
              </a:solidFill>
            </a:endParaRPr>
          </a:p>
        </p:txBody>
      </p:sp>
      <p:sp>
        <p:nvSpPr>
          <p:cNvPr id="804" name="Google Shape;804;p4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p4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0" name="Google Shape;810;p4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a:ea typeface="Calibri"/>
                <a:cs typeface="Calibri"/>
                <a:sym typeface="Calibri"/>
              </a:rPr>
              <a:t>Note: </a:t>
            </a:r>
            <a:r>
              <a:rPr lang="en-US" dirty="0">
                <a:solidFill>
                  <a:srgbClr val="000000"/>
                </a:solidFill>
                <a:latin typeface="Calibri"/>
                <a:ea typeface="Calibri"/>
                <a:cs typeface="Calibri"/>
                <a:sym typeface="Calibri"/>
              </a:rPr>
              <a:t>To begin Day 3, have a student read the Essential Question aloud.</a:t>
            </a:r>
            <a:endParaRPr sz="1200" b="1" dirty="0">
              <a:solidFill>
                <a:srgbClr val="000000"/>
              </a:solidFill>
              <a:latin typeface="Calibri"/>
              <a:ea typeface="Calibri"/>
              <a:cs typeface="Calibri"/>
              <a:sym typeface="Calibri"/>
            </a:endParaRPr>
          </a:p>
          <a:p>
            <a:pPr marL="0" lvl="0" indent="0" algn="l" rtl="0">
              <a:spcBef>
                <a:spcPts val="0"/>
              </a:spcBef>
              <a:spcAft>
                <a:spcPts val="0"/>
              </a:spcAft>
              <a:buNone/>
            </a:pPr>
            <a:endParaRPr sz="1200" b="1" dirty="0">
              <a:latin typeface="Calibri"/>
              <a:ea typeface="Calibri"/>
              <a:cs typeface="Calibri"/>
              <a:sym typeface="Calibri"/>
            </a:endParaRPr>
          </a:p>
        </p:txBody>
      </p:sp>
      <p:sp>
        <p:nvSpPr>
          <p:cNvPr id="811" name="Google Shape;811;p4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48</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p4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7" name="Google Shape;817;p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Total time of 15-20 minutes allotted for Activity 1.4.</a:t>
            </a:r>
            <a:endParaRPr dirty="0">
              <a:solidFill>
                <a:srgbClr val="000000"/>
              </a:solidFill>
            </a:endParaRPr>
          </a:p>
        </p:txBody>
      </p:sp>
      <p:sp>
        <p:nvSpPr>
          <p:cNvPr id="818" name="Google Shape;818;p4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p4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5" name="Google Shape;825;p4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did you rewrite the function in general form? </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did you graph the line? Explain your process. </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Is the transformed graph a vertical stretch or compression? How can you tell from the equation and graph? </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Which ordered pair in the transformed function corresponds to (1, 1) in the original function? </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is the graph affected by an </a:t>
            </a:r>
            <a:r>
              <a:rPr lang="en-US" i="1" dirty="0">
                <a:solidFill>
                  <a:srgbClr val="000000"/>
                </a:solidFill>
              </a:rPr>
              <a:t>a</a:t>
            </a:r>
            <a:r>
              <a:rPr lang="en-US" dirty="0">
                <a:solidFill>
                  <a:srgbClr val="000000"/>
                </a:solidFill>
              </a:rPr>
              <a:t>-value greater than 1? An </a:t>
            </a:r>
            <a:r>
              <a:rPr lang="en-US" i="1" dirty="0">
                <a:solidFill>
                  <a:srgbClr val="000000"/>
                </a:solidFill>
              </a:rPr>
              <a:t>a</a:t>
            </a:r>
            <a:r>
              <a:rPr lang="en-US" dirty="0">
                <a:solidFill>
                  <a:srgbClr val="000000"/>
                </a:solidFill>
              </a:rPr>
              <a:t>-value between 0 and 1? A negative </a:t>
            </a:r>
            <a:r>
              <a:rPr lang="en-US" i="1" dirty="0">
                <a:solidFill>
                  <a:srgbClr val="000000"/>
                </a:solidFill>
              </a:rPr>
              <a:t>a</a:t>
            </a:r>
            <a:r>
              <a:rPr lang="en-US" dirty="0">
                <a:solidFill>
                  <a:srgbClr val="000000"/>
                </a:solidFill>
              </a:rPr>
              <a:t>-value? </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can you describe the effects using the terms </a:t>
            </a:r>
            <a:r>
              <a:rPr lang="en-US" i="1" dirty="0">
                <a:solidFill>
                  <a:srgbClr val="000000"/>
                </a:solidFill>
              </a:rPr>
              <a:t>vertical stretch </a:t>
            </a:r>
            <a:r>
              <a:rPr lang="en-US" dirty="0">
                <a:solidFill>
                  <a:srgbClr val="000000"/>
                </a:solidFill>
              </a:rPr>
              <a:t>and </a:t>
            </a:r>
            <a:r>
              <a:rPr lang="en-US" i="1" dirty="0">
                <a:solidFill>
                  <a:srgbClr val="000000"/>
                </a:solidFill>
              </a:rPr>
              <a:t>vertical compression</a:t>
            </a:r>
            <a:r>
              <a:rPr lang="en-US" dirty="0">
                <a:solidFill>
                  <a:srgbClr val="000000"/>
                </a:solidFill>
              </a:rPr>
              <a:t>? </a:t>
            </a:r>
            <a:endParaRPr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is the graph affected by a </a:t>
            </a:r>
            <a:r>
              <a:rPr lang="en-US" i="1" dirty="0">
                <a:solidFill>
                  <a:srgbClr val="000000"/>
                </a:solidFill>
              </a:rPr>
              <a:t>d</a:t>
            </a:r>
            <a:r>
              <a:rPr lang="en-US" dirty="0">
                <a:solidFill>
                  <a:srgbClr val="000000"/>
                </a:solidFill>
              </a:rPr>
              <a:t>-value greater than 1? A </a:t>
            </a:r>
            <a:r>
              <a:rPr lang="en-US" i="1" dirty="0">
                <a:solidFill>
                  <a:srgbClr val="000000"/>
                </a:solidFill>
              </a:rPr>
              <a:t>d</a:t>
            </a:r>
            <a:r>
              <a:rPr lang="en-US" dirty="0">
                <a:solidFill>
                  <a:srgbClr val="000000"/>
                </a:solidFill>
              </a:rPr>
              <a:t>-value less than 1?</a:t>
            </a:r>
            <a:endParaRPr sz="1200" dirty="0">
              <a:solidFill>
                <a:srgbClr val="000000"/>
              </a:solidFill>
              <a:latin typeface="Calibri"/>
              <a:ea typeface="Calibri"/>
              <a:cs typeface="Calibri"/>
              <a:sym typeface="Calibri"/>
            </a:endParaRPr>
          </a:p>
          <a:p>
            <a:r>
              <a:rPr lang="en-US" b="1" dirty="0"/>
              <a:t>Slide typo: the second item is labeled 'a.'; it is item b.</a:t>
            </a:r>
          </a:p>
        </p:txBody>
      </p:sp>
      <p:sp>
        <p:nvSpPr>
          <p:cNvPr id="826" name="Google Shape;826;p4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a:extLst>
            <a:ext uri="{FF2B5EF4-FFF2-40B4-BE49-F238E27FC236}">
              <a16:creationId xmlns:a16="http://schemas.microsoft.com/office/drawing/2014/main" id="{82B08B0E-A76E-C4F8-1CF1-1D76781D6041}"/>
            </a:ext>
          </a:extLst>
        </p:cNvPr>
        <p:cNvGrpSpPr/>
        <p:nvPr/>
      </p:nvGrpSpPr>
      <p:grpSpPr>
        <a:xfrm>
          <a:off x="0" y="0"/>
          <a:ext cx="0" cy="0"/>
          <a:chOff x="0" y="0"/>
          <a:chExt cx="0" cy="0"/>
        </a:xfrm>
      </p:grpSpPr>
      <p:sp>
        <p:nvSpPr>
          <p:cNvPr id="824" name="Google Shape;824;p47:notes">
            <a:extLst>
              <a:ext uri="{FF2B5EF4-FFF2-40B4-BE49-F238E27FC236}">
                <a16:creationId xmlns:a16="http://schemas.microsoft.com/office/drawing/2014/main" id="{5EB1116F-37CC-9623-96EE-57A6B8D800F4}"/>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5" name="Google Shape;825;p47:notes">
            <a:extLst>
              <a:ext uri="{FF2B5EF4-FFF2-40B4-BE49-F238E27FC236}">
                <a16:creationId xmlns:a16="http://schemas.microsoft.com/office/drawing/2014/main" id="{C5629509-E7D1-8652-6A7A-45DDEDAAE95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did you rewrite the function in general form?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did you graph the line? Explain your process.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Is the transformed graph a vertical stretch or compression? How can you tell from the equation and graph?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Which ordered pair in the transformed function corresponds to (1, 1) in the original function?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is the graph affected by an </a:t>
            </a:r>
            <a:r>
              <a:rPr lang="en-US" i="1" dirty="0">
                <a:solidFill>
                  <a:srgbClr val="000000"/>
                </a:solidFill>
              </a:rPr>
              <a:t>a</a:t>
            </a:r>
            <a:r>
              <a:rPr lang="en-US" dirty="0">
                <a:solidFill>
                  <a:srgbClr val="000000"/>
                </a:solidFill>
              </a:rPr>
              <a:t>-value greater than 1? An </a:t>
            </a:r>
            <a:r>
              <a:rPr lang="en-US" i="1" dirty="0">
                <a:solidFill>
                  <a:srgbClr val="000000"/>
                </a:solidFill>
              </a:rPr>
              <a:t>a</a:t>
            </a:r>
            <a:r>
              <a:rPr lang="en-US" dirty="0">
                <a:solidFill>
                  <a:srgbClr val="000000"/>
                </a:solidFill>
              </a:rPr>
              <a:t>-value between 0 and 1? A negative </a:t>
            </a:r>
            <a:r>
              <a:rPr lang="en-US" i="1" dirty="0">
                <a:solidFill>
                  <a:srgbClr val="000000"/>
                </a:solidFill>
              </a:rPr>
              <a:t>a</a:t>
            </a:r>
            <a:r>
              <a:rPr lang="en-US" dirty="0">
                <a:solidFill>
                  <a:srgbClr val="000000"/>
                </a:solidFill>
              </a:rPr>
              <a:t>-value?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can you describe the effects using the terms </a:t>
            </a:r>
            <a:r>
              <a:rPr lang="en-US" i="1" dirty="0">
                <a:solidFill>
                  <a:srgbClr val="000000"/>
                </a:solidFill>
              </a:rPr>
              <a:t>vertical stretch </a:t>
            </a:r>
            <a:r>
              <a:rPr lang="en-US" dirty="0">
                <a:solidFill>
                  <a:srgbClr val="000000"/>
                </a:solidFill>
              </a:rPr>
              <a:t>and </a:t>
            </a:r>
            <a:r>
              <a:rPr lang="en-US" i="1" dirty="0">
                <a:solidFill>
                  <a:srgbClr val="000000"/>
                </a:solidFill>
              </a:rPr>
              <a:t>vertical compression</a:t>
            </a:r>
            <a:r>
              <a:rPr lang="en-US" dirty="0">
                <a:solidFill>
                  <a:srgbClr val="000000"/>
                </a:solidFill>
              </a:rPr>
              <a:t>?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is the graph affected by a </a:t>
            </a:r>
            <a:r>
              <a:rPr lang="en-US" i="1" dirty="0">
                <a:solidFill>
                  <a:srgbClr val="000000"/>
                </a:solidFill>
              </a:rPr>
              <a:t>d</a:t>
            </a:r>
            <a:r>
              <a:rPr lang="en-US" dirty="0">
                <a:solidFill>
                  <a:srgbClr val="000000"/>
                </a:solidFill>
              </a:rPr>
              <a:t>-value greater than 1? A </a:t>
            </a:r>
            <a:r>
              <a:rPr lang="en-US" i="1" dirty="0">
                <a:solidFill>
                  <a:srgbClr val="000000"/>
                </a:solidFill>
              </a:rPr>
              <a:t>d</a:t>
            </a:r>
            <a:r>
              <a:rPr lang="en-US" dirty="0">
                <a:solidFill>
                  <a:srgbClr val="000000"/>
                </a:solidFill>
              </a:rPr>
              <a:t>-value less than 1?</a:t>
            </a:r>
            <a:endParaRPr lang="en-US" sz="1200" dirty="0">
              <a:solidFill>
                <a:srgbClr val="000000"/>
              </a:solidFill>
              <a:latin typeface="Calibri"/>
              <a:ea typeface="Calibri"/>
              <a:cs typeface="Calibri"/>
              <a:sym typeface="Calibri"/>
            </a:endParaRPr>
          </a:p>
        </p:txBody>
      </p:sp>
      <p:sp>
        <p:nvSpPr>
          <p:cNvPr id="826" name="Google Shape;826;p47:notes">
            <a:extLst>
              <a:ext uri="{FF2B5EF4-FFF2-40B4-BE49-F238E27FC236}">
                <a16:creationId xmlns:a16="http://schemas.microsoft.com/office/drawing/2014/main" id="{76E2DC9C-5996-347F-7FF5-C48533C73D9D}"/>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51</a:t>
            </a:fld>
            <a:endParaRPr/>
          </a:p>
        </p:txBody>
      </p:sp>
    </p:spTree>
    <p:extLst>
      <p:ext uri="{BB962C8B-B14F-4D97-AF65-F5344CB8AC3E}">
        <p14:creationId xmlns:p14="http://schemas.microsoft.com/office/powerpoint/2010/main" val="356002247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a:extLst>
            <a:ext uri="{FF2B5EF4-FFF2-40B4-BE49-F238E27FC236}">
              <a16:creationId xmlns:a16="http://schemas.microsoft.com/office/drawing/2014/main" id="{D6246EF5-CB01-119C-D525-03FAAC693D0A}"/>
            </a:ext>
          </a:extLst>
        </p:cNvPr>
        <p:cNvGrpSpPr/>
        <p:nvPr/>
      </p:nvGrpSpPr>
      <p:grpSpPr>
        <a:xfrm>
          <a:off x="0" y="0"/>
          <a:ext cx="0" cy="0"/>
          <a:chOff x="0" y="0"/>
          <a:chExt cx="0" cy="0"/>
        </a:xfrm>
      </p:grpSpPr>
      <p:sp>
        <p:nvSpPr>
          <p:cNvPr id="824" name="Google Shape;824;p47:notes">
            <a:extLst>
              <a:ext uri="{FF2B5EF4-FFF2-40B4-BE49-F238E27FC236}">
                <a16:creationId xmlns:a16="http://schemas.microsoft.com/office/drawing/2014/main" id="{01F8AA91-C2B0-CC73-2FA0-08C19505657A}"/>
              </a:ext>
            </a:extLst>
          </p:cNvPr>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5" name="Google Shape;825;p47:notes">
            <a:extLst>
              <a:ext uri="{FF2B5EF4-FFF2-40B4-BE49-F238E27FC236}">
                <a16:creationId xmlns:a16="http://schemas.microsoft.com/office/drawing/2014/main" id="{67A468B6-C338-B6C4-95D7-F5BC6C86C65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did you rewrite the function in general form?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did you graph the line? Explain your process.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Is the transformed graph a vertical stretch or compression? How can you tell from the equation and graph?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Which ordered pair in the transformed function corresponds to (1, 1) in the original function?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is the graph affected by an </a:t>
            </a:r>
            <a:r>
              <a:rPr lang="en-US" i="1" dirty="0">
                <a:solidFill>
                  <a:srgbClr val="000000"/>
                </a:solidFill>
              </a:rPr>
              <a:t>a</a:t>
            </a:r>
            <a:r>
              <a:rPr lang="en-US" dirty="0">
                <a:solidFill>
                  <a:srgbClr val="000000"/>
                </a:solidFill>
              </a:rPr>
              <a:t>-value greater than 1? An </a:t>
            </a:r>
            <a:r>
              <a:rPr lang="en-US" i="1" dirty="0">
                <a:solidFill>
                  <a:srgbClr val="000000"/>
                </a:solidFill>
              </a:rPr>
              <a:t>a</a:t>
            </a:r>
            <a:r>
              <a:rPr lang="en-US" dirty="0">
                <a:solidFill>
                  <a:srgbClr val="000000"/>
                </a:solidFill>
              </a:rPr>
              <a:t>-value between 0 and 1? A negative </a:t>
            </a:r>
            <a:r>
              <a:rPr lang="en-US" i="1" dirty="0">
                <a:solidFill>
                  <a:srgbClr val="000000"/>
                </a:solidFill>
              </a:rPr>
              <a:t>a</a:t>
            </a:r>
            <a:r>
              <a:rPr lang="en-US" dirty="0">
                <a:solidFill>
                  <a:srgbClr val="000000"/>
                </a:solidFill>
              </a:rPr>
              <a:t>-value?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can you describe the effects using the terms </a:t>
            </a:r>
            <a:r>
              <a:rPr lang="en-US" i="1" dirty="0">
                <a:solidFill>
                  <a:srgbClr val="000000"/>
                </a:solidFill>
              </a:rPr>
              <a:t>vertical stretch </a:t>
            </a:r>
            <a:r>
              <a:rPr lang="en-US" dirty="0">
                <a:solidFill>
                  <a:srgbClr val="000000"/>
                </a:solidFill>
              </a:rPr>
              <a:t>and </a:t>
            </a:r>
            <a:r>
              <a:rPr lang="en-US" i="1" dirty="0">
                <a:solidFill>
                  <a:srgbClr val="000000"/>
                </a:solidFill>
              </a:rPr>
              <a:t>vertical compression</a:t>
            </a:r>
            <a:r>
              <a:rPr lang="en-US" dirty="0">
                <a:solidFill>
                  <a:srgbClr val="000000"/>
                </a:solidFill>
              </a:rPr>
              <a:t>?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is the graph affected by a </a:t>
            </a:r>
            <a:r>
              <a:rPr lang="en-US" i="1" dirty="0">
                <a:solidFill>
                  <a:srgbClr val="000000"/>
                </a:solidFill>
              </a:rPr>
              <a:t>d</a:t>
            </a:r>
            <a:r>
              <a:rPr lang="en-US" dirty="0">
                <a:solidFill>
                  <a:srgbClr val="000000"/>
                </a:solidFill>
              </a:rPr>
              <a:t>-value greater than 1? A </a:t>
            </a:r>
            <a:r>
              <a:rPr lang="en-US" i="1" dirty="0">
                <a:solidFill>
                  <a:srgbClr val="000000"/>
                </a:solidFill>
              </a:rPr>
              <a:t>d</a:t>
            </a:r>
            <a:r>
              <a:rPr lang="en-US" dirty="0">
                <a:solidFill>
                  <a:srgbClr val="000000"/>
                </a:solidFill>
              </a:rPr>
              <a:t>-value less than 1?</a:t>
            </a:r>
            <a:endParaRPr lang="en-US" sz="1200" dirty="0">
              <a:solidFill>
                <a:srgbClr val="000000"/>
              </a:solidFill>
              <a:latin typeface="Calibri"/>
              <a:ea typeface="Calibri"/>
              <a:cs typeface="Calibri"/>
              <a:sym typeface="Calibri"/>
            </a:endParaRPr>
          </a:p>
          <a:p>
            <a:r>
              <a:rPr lang="en-US" b="1" dirty="0"/>
              <a:t>Slide typo: the first item is labeled 'a.'; it is item e.</a:t>
            </a:r>
          </a:p>
        </p:txBody>
      </p:sp>
      <p:sp>
        <p:nvSpPr>
          <p:cNvPr id="826" name="Google Shape;826;p47:notes">
            <a:extLst>
              <a:ext uri="{FF2B5EF4-FFF2-40B4-BE49-F238E27FC236}">
                <a16:creationId xmlns:a16="http://schemas.microsoft.com/office/drawing/2014/main" id="{52533098-D29F-E37F-B3F6-37C90A491881}"/>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52</a:t>
            </a:fld>
            <a:endParaRPr/>
          </a:p>
        </p:txBody>
      </p:sp>
    </p:spTree>
    <p:extLst>
      <p:ext uri="{BB962C8B-B14F-4D97-AF65-F5344CB8AC3E}">
        <p14:creationId xmlns:p14="http://schemas.microsoft.com/office/powerpoint/2010/main" val="28264797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p50: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0" name="Google Shape;860;p5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rPr>
              <a:t>Questions to Support Discourse – Probing:</a:t>
            </a:r>
            <a:endParaRPr lang="en-US" dirty="0">
              <a:solidFill>
                <a:srgbClr val="000000"/>
              </a:solidFill>
            </a:endParaRP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did you rewrite the function in general form?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did you graph the line? Explain your process.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Is the transformed graph a vertical stretch or compression? How can you tell from the equation and graph?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Which ordered pair in the transformed function corresponds to (1, 1) in the original function?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is the graph affected by an </a:t>
            </a:r>
            <a:r>
              <a:rPr lang="en-US" i="1" dirty="0">
                <a:solidFill>
                  <a:srgbClr val="000000"/>
                </a:solidFill>
              </a:rPr>
              <a:t>a</a:t>
            </a:r>
            <a:r>
              <a:rPr lang="en-US" dirty="0">
                <a:solidFill>
                  <a:srgbClr val="000000"/>
                </a:solidFill>
              </a:rPr>
              <a:t>-value greater than 1? An </a:t>
            </a:r>
            <a:r>
              <a:rPr lang="en-US" i="1" dirty="0">
                <a:solidFill>
                  <a:srgbClr val="000000"/>
                </a:solidFill>
              </a:rPr>
              <a:t>a</a:t>
            </a:r>
            <a:r>
              <a:rPr lang="en-US" dirty="0">
                <a:solidFill>
                  <a:srgbClr val="000000"/>
                </a:solidFill>
              </a:rPr>
              <a:t>-value between 0 and 1? A negative </a:t>
            </a:r>
            <a:r>
              <a:rPr lang="en-US" i="1" dirty="0">
                <a:solidFill>
                  <a:srgbClr val="000000"/>
                </a:solidFill>
              </a:rPr>
              <a:t>a</a:t>
            </a:r>
            <a:r>
              <a:rPr lang="en-US" dirty="0">
                <a:solidFill>
                  <a:srgbClr val="000000"/>
                </a:solidFill>
              </a:rPr>
              <a:t>-value?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can you describe the effects using the terms </a:t>
            </a:r>
            <a:r>
              <a:rPr lang="en-US" i="1" dirty="0">
                <a:solidFill>
                  <a:srgbClr val="000000"/>
                </a:solidFill>
              </a:rPr>
              <a:t>vertical stretch </a:t>
            </a:r>
            <a:r>
              <a:rPr lang="en-US" dirty="0">
                <a:solidFill>
                  <a:srgbClr val="000000"/>
                </a:solidFill>
              </a:rPr>
              <a:t>and </a:t>
            </a:r>
            <a:r>
              <a:rPr lang="en-US" i="1" dirty="0">
                <a:solidFill>
                  <a:srgbClr val="000000"/>
                </a:solidFill>
              </a:rPr>
              <a:t>vertical compression</a:t>
            </a:r>
            <a:r>
              <a:rPr lang="en-US" dirty="0">
                <a:solidFill>
                  <a:srgbClr val="000000"/>
                </a:solidFill>
              </a:rPr>
              <a:t>? </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dirty="0">
                <a:solidFill>
                  <a:srgbClr val="000000"/>
                </a:solidFill>
              </a:rPr>
              <a:t>How is the graph affected by a </a:t>
            </a:r>
            <a:r>
              <a:rPr lang="en-US" i="1" dirty="0">
                <a:solidFill>
                  <a:srgbClr val="000000"/>
                </a:solidFill>
              </a:rPr>
              <a:t>d</a:t>
            </a:r>
            <a:r>
              <a:rPr lang="en-US" dirty="0">
                <a:solidFill>
                  <a:srgbClr val="000000"/>
                </a:solidFill>
              </a:rPr>
              <a:t>-value greater than 1? A </a:t>
            </a:r>
            <a:r>
              <a:rPr lang="en-US" i="1" dirty="0">
                <a:solidFill>
                  <a:srgbClr val="000000"/>
                </a:solidFill>
              </a:rPr>
              <a:t>d</a:t>
            </a:r>
            <a:r>
              <a:rPr lang="en-US" dirty="0">
                <a:solidFill>
                  <a:srgbClr val="000000"/>
                </a:solidFill>
              </a:rPr>
              <a:t>-value less than 1?</a:t>
            </a:r>
            <a:endParaRPr lang="en-US" sz="1200" dirty="0">
              <a:solidFill>
                <a:srgbClr val="000000"/>
              </a:solidFill>
              <a:latin typeface="Calibri"/>
              <a:ea typeface="Calibri"/>
              <a:cs typeface="Calibri"/>
              <a:sym typeface="Calibri"/>
            </a:endParaRPr>
          </a:p>
          <a:p>
            <a:r>
              <a:rPr lang="en-US" b="1" dirty="0"/>
              <a:t>TE correction (part a): the TE says the slope 'increases' when a &gt; 1 or a &lt; −1 and 'decreases' between −1 and 1. That describes steepness, not slope: for a = −3 the slope is −3. For f(x) = x the new slope is a.</a:t>
            </a:r>
          </a:p>
        </p:txBody>
      </p:sp>
      <p:sp>
        <p:nvSpPr>
          <p:cNvPr id="861" name="Google Shape;861;p5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53</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p5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8" name="Google Shape;868;p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Activity 1.4 Summary:</a:t>
            </a:r>
            <a:b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b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When a function is both translated and stretched vertically, the resulting function can be written in the form </a:t>
            </a:r>
            <a:r>
              <a:rPr lang="en-US" i="0" dirty="0">
                <a:solidFill>
                  <a:srgbClr val="000000"/>
                </a:solidFill>
                <a:latin typeface="Calibri" panose="020F0502020204030204" pitchFamily="34" charset="0"/>
                <a:ea typeface="Calibri" panose="020F0502020204030204" pitchFamily="34" charset="0"/>
                <a:cs typeface="Calibri" panose="020F0502020204030204" pitchFamily="34" charset="0"/>
                <a:sym typeface="Cambria Math"/>
              </a:rPr>
              <a:t>𝑎 ∙ 𝑓(𝑥) + 𝑑</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where </a:t>
            </a:r>
            <a:r>
              <a:rPr lang="en-US" i="0" dirty="0">
                <a:solidFill>
                  <a:srgbClr val="000000"/>
                </a:solidFill>
                <a:latin typeface="Calibri" panose="020F0502020204030204" pitchFamily="34" charset="0"/>
                <a:ea typeface="Calibri" panose="020F0502020204030204" pitchFamily="34" charset="0"/>
                <a:cs typeface="Calibri" panose="020F0502020204030204" pitchFamily="34" charset="0"/>
                <a:sym typeface="Cambria Math"/>
              </a:rPr>
              <a:t>𝑑</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represents the vertical translation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i="0" dirty="0">
                <a:solidFill>
                  <a:srgbClr val="000000"/>
                </a:solidFill>
                <a:latin typeface="Calibri" panose="020F0502020204030204" pitchFamily="34" charset="0"/>
                <a:ea typeface="Calibri" panose="020F0502020204030204" pitchFamily="34" charset="0"/>
                <a:cs typeface="Calibri" panose="020F0502020204030204" pitchFamily="34" charset="0"/>
                <a:sym typeface="Cambria Math"/>
              </a:rPr>
              <a:t>𝑎</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represents the vertical dilation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869" name="Google Shape;869;p5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54</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p5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6" name="Google Shape;876;p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This slide is blank for optional use with displaying work.</a:t>
            </a:r>
            <a:endParaRPr dirty="0">
              <a:solidFill>
                <a:srgbClr val="000000"/>
              </a:solidFill>
            </a:endParaRPr>
          </a:p>
        </p:txBody>
      </p:sp>
      <p:sp>
        <p:nvSpPr>
          <p:cNvPr id="877" name="Google Shape;877;p5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55</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p53: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3" name="Google Shape;883;p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Total time of 15-20 minutes allotted for Activity 1.5.</a:t>
            </a:r>
            <a:endParaRPr dirty="0">
              <a:solidFill>
                <a:srgbClr val="000000"/>
              </a:solidFill>
            </a:endParaRPr>
          </a:p>
        </p:txBody>
      </p:sp>
      <p:sp>
        <p:nvSpPr>
          <p:cNvPr id="884" name="Google Shape;884;p5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56</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p5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1" name="Google Shape;891;p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sz="1200" dirty="0">
              <a:solidFill>
                <a:srgbClr val="000000"/>
              </a:solidFill>
              <a:latin typeface="Calibri"/>
              <a:ea typeface="Calibri"/>
              <a:cs typeface="Calibri"/>
              <a:sym typeface="Calibri"/>
            </a:endParaRPr>
          </a:p>
        </p:txBody>
      </p:sp>
      <p:sp>
        <p:nvSpPr>
          <p:cNvPr id="892" name="Google Shape;892;p5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57</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p5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9" name="Google Shape;899;p5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sz="1200" dirty="0">
              <a:solidFill>
                <a:srgbClr val="000000"/>
              </a:solidFill>
              <a:latin typeface="Calibri"/>
              <a:ea typeface="Calibri"/>
              <a:cs typeface="Calibri"/>
              <a:sym typeface="Calibri"/>
            </a:endParaRPr>
          </a:p>
        </p:txBody>
      </p:sp>
      <p:sp>
        <p:nvSpPr>
          <p:cNvPr id="900" name="Google Shape;900;p5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58</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p5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7" name="Google Shape;907;p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write an equation to change the cannon’s angle? The cannon’s location on the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-axis?</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Questions to Support Discourse – Gathering: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What are the approximate coordinates of the target in Quadrant I?</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could you hit the targets with horizontal lines?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For Version B, why is the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-value the same every time?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For Version B, how did you identify the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-value that would hit the target?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When using Version C, how did you know when you needed a negative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-value?</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version of the game uses only a translation?</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version of the game uses only a dilation?</a:t>
            </a:r>
            <a:endParaRPr sz="12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08" name="Google Shape;908;p5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59</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p5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4" name="Google Shape;914;p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write an equation to change the cannon’s angle? The cannon’s location on the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-axis?</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Questions to Support Discourse – Gathering: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What are the approximate coordinates of the target in Quadrant I?</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Questions to Support Discourse – Probing:</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could you hit the targets with horizontal lines?</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For Version B, why is the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-value the same every time?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For Version B, how did you identify the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-value that would hit the target?</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When using Version C, how did you know when you needed a negative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-value?</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Questions to Support Discourse – Seeing Structure:</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version of the game uses only a translation?</a:t>
            </a:r>
          </a:p>
          <a:p>
            <a:pPr marL="171450" marR="0" lvl="0" indent="-171450" algn="l" rtl="0">
              <a:lnSpc>
                <a:spcPct val="100000"/>
              </a:lnSpc>
              <a:spcBef>
                <a:spcPts val="0"/>
              </a:spcBef>
              <a:spcAft>
                <a:spcPts val="0"/>
              </a:spcAft>
              <a:buClr>
                <a:schemeClr val="dk1"/>
              </a:buClr>
              <a:buSzPts val="1200"/>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version of the game uses only a dilation?</a:t>
            </a:r>
            <a:endParaRPr sz="1200" dirty="0">
              <a:solidFill>
                <a:srgbClr val="000000"/>
              </a:solidFill>
              <a:latin typeface="Calibri"/>
              <a:ea typeface="Calibri"/>
              <a:cs typeface="Calibri"/>
              <a:sym typeface="Calibri"/>
            </a:endParaRPr>
          </a:p>
          <a:p>
            <a:r>
              <a:rPr lang="en-US" b="1" dirty="0"/>
              <a:t>The targets, read from the picture as the TE does: (−4, 6), (5, 4), (1, −3), (−5, 1). Other answers: Version B also a = 1, d = 10; a = −1, d = 9; a = 1, d = −4; a = 1, d = 6. TE correction: for the lower Quadrant II target the TE's alternative a = 1, d = 4 gives y = x + 4, which misses (−5, 1); it is d = 6. The TE's Version C slope −6/4 simplifies to −3/2.</a:t>
            </a:r>
          </a:p>
        </p:txBody>
      </p:sp>
      <p:sp>
        <p:nvSpPr>
          <p:cNvPr id="915" name="Google Shape;915;p5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60</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p58: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3" name="Google Shape;923;p5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dirty="0">
                <a:solidFill>
                  <a:srgbClr val="000000"/>
                </a:solidFill>
                <a:latin typeface="Calibri"/>
                <a:ea typeface="Calibri"/>
                <a:cs typeface="Calibri"/>
                <a:sym typeface="Calibri"/>
              </a:rPr>
              <a:t>Activity 1.5 Summary:</a:t>
            </a:r>
            <a:br>
              <a:rPr lang="en-US" sz="1200" b="1" dirty="0">
                <a:solidFill>
                  <a:srgbClr val="000000"/>
                </a:solidFill>
                <a:latin typeface="Calibri"/>
                <a:ea typeface="Calibri"/>
                <a:cs typeface="Calibri"/>
                <a:sym typeface="Calibri"/>
              </a:rPr>
            </a:br>
            <a:r>
              <a:rPr lang="en-US" dirty="0">
                <a:solidFill>
                  <a:srgbClr val="000000"/>
                </a:solidFill>
              </a:rPr>
              <a:t>Linear function transformations are used in real-life situations.</a:t>
            </a:r>
            <a:endParaRPr sz="1200" b="1" dirty="0">
              <a:solidFill>
                <a:srgbClr val="000000"/>
              </a:solidFill>
              <a:latin typeface="Calibri"/>
              <a:ea typeface="Calibri"/>
              <a:cs typeface="Calibri"/>
              <a:sym typeface="Calibri"/>
            </a:endParaRPr>
          </a:p>
        </p:txBody>
      </p:sp>
      <p:sp>
        <p:nvSpPr>
          <p:cNvPr id="924" name="Google Shape;924;p5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61</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p59: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1" name="Google Shape;931;p5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This slide is blank for optional use with displaying work.</a:t>
            </a:r>
            <a:endParaRPr dirty="0">
              <a:solidFill>
                <a:srgbClr val="000000"/>
              </a:solidFill>
            </a:endParaRPr>
          </a:p>
        </p:txBody>
      </p:sp>
      <p:sp>
        <p:nvSpPr>
          <p:cNvPr id="932" name="Google Shape;932;p5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62</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p60: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8" name="Google Shape;938;p6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b="1" dirty="0">
                <a:solidFill>
                  <a:srgbClr val="000000"/>
                </a:solidFill>
                <a:latin typeface="Calibri"/>
                <a:ea typeface="Calibri"/>
                <a:cs typeface="Calibri"/>
                <a:sym typeface="Calibri"/>
              </a:rPr>
              <a:t>Note:</a:t>
            </a:r>
            <a:r>
              <a:rPr lang="en-US" dirty="0">
                <a:solidFill>
                  <a:srgbClr val="000000"/>
                </a:solidFill>
                <a:latin typeface="Calibri"/>
                <a:ea typeface="Calibri"/>
                <a:cs typeface="Calibri"/>
                <a:sym typeface="Calibri"/>
              </a:rPr>
              <a:t> Total time of 5 minutes allotted for the Talk the Talk.</a:t>
            </a:r>
            <a:endParaRPr dirty="0">
              <a:solidFill>
                <a:srgbClr val="000000"/>
              </a:solidFill>
            </a:endParaRPr>
          </a:p>
        </p:txBody>
      </p:sp>
      <p:sp>
        <p:nvSpPr>
          <p:cNvPr id="939" name="Google Shape;939;p6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63</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p6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5" name="Google Shape;945;p6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sz="1200" dirty="0">
              <a:solidFill>
                <a:srgbClr val="000000"/>
              </a:solidFill>
              <a:latin typeface="Calibri"/>
              <a:ea typeface="Calibri"/>
              <a:cs typeface="Calibri"/>
              <a:sym typeface="Calibri"/>
            </a:endParaRPr>
          </a:p>
        </p:txBody>
      </p:sp>
      <p:sp>
        <p:nvSpPr>
          <p:cNvPr id="946" name="Google Shape;946;p6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64</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p6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5" name="Google Shape;955;p6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r>
              <a:rPr lang="en-US" b="1" dirty="0">
                <a:solidFill>
                  <a:srgbClr val="000000"/>
                </a:solidFill>
              </a:rPr>
              <a:t>Questions to Support Discourse – Probing:</a:t>
            </a:r>
            <a:endParaRPr dirty="0">
              <a:solidFill>
                <a:srgbClr val="000000"/>
              </a:solidFill>
            </a:endParaRPr>
          </a:p>
          <a:p>
            <a:pPr marL="171450" lvl="0" indent="-171450" algn="l" rtl="0">
              <a:spcBef>
                <a:spcPts val="0"/>
              </a:spcBef>
              <a:spcAft>
                <a:spcPts val="0"/>
              </a:spcAft>
              <a:buClr>
                <a:schemeClr val="dk1"/>
              </a:buClr>
              <a:buSzPts val="1200"/>
              <a:buFont typeface="Arial" panose="020B0604020202020204" pitchFamily="34" charset="0"/>
              <a:buChar char="•"/>
            </a:pPr>
            <a:r>
              <a:rPr lang="en-US" dirty="0">
                <a:solidFill>
                  <a:srgbClr val="000000"/>
                </a:solidFill>
              </a:rPr>
              <a:t>Which characteristic of the line did you use to identify it? </a:t>
            </a:r>
            <a:endParaRPr dirty="0">
              <a:solidFill>
                <a:srgbClr val="000000"/>
              </a:solidFill>
            </a:endParaRPr>
          </a:p>
          <a:p>
            <a:pPr marL="171450" lvl="0" indent="-171450" algn="l" rtl="0">
              <a:spcBef>
                <a:spcPts val="0"/>
              </a:spcBef>
              <a:spcAft>
                <a:spcPts val="0"/>
              </a:spcAft>
              <a:buClr>
                <a:schemeClr val="dk1"/>
              </a:buClr>
              <a:buSzPts val="1200"/>
              <a:buFont typeface="Arial" panose="020B0604020202020204" pitchFamily="34" charset="0"/>
              <a:buChar char="•"/>
            </a:pPr>
            <a:r>
              <a:rPr lang="en-US" dirty="0">
                <a:solidFill>
                  <a:srgbClr val="000000"/>
                </a:solidFill>
              </a:rPr>
              <a:t>Which two lines included a vertical dilation? How can you tell which </a:t>
            </a:r>
            <a:r>
              <a:rPr lang="en-US" i="1" dirty="0">
                <a:solidFill>
                  <a:srgbClr val="000000"/>
                </a:solidFill>
              </a:rPr>
              <a:t>a</a:t>
            </a:r>
            <a:r>
              <a:rPr lang="en-US" dirty="0">
                <a:solidFill>
                  <a:srgbClr val="000000"/>
                </a:solidFill>
              </a:rPr>
              <a:t>-value applies to each line? </a:t>
            </a:r>
            <a:endParaRPr dirty="0">
              <a:solidFill>
                <a:srgbClr val="000000"/>
              </a:solidFill>
            </a:endParaRPr>
          </a:p>
          <a:p>
            <a:pPr marL="171450" lvl="0" indent="-171450" algn="l" rtl="0">
              <a:spcBef>
                <a:spcPts val="0"/>
              </a:spcBef>
              <a:spcAft>
                <a:spcPts val="0"/>
              </a:spcAft>
              <a:buClr>
                <a:schemeClr val="dk1"/>
              </a:buClr>
              <a:buSzPts val="1200"/>
              <a:buFont typeface="Arial" panose="020B0604020202020204" pitchFamily="34" charset="0"/>
              <a:buChar char="•"/>
            </a:pPr>
            <a:r>
              <a:rPr lang="en-US" dirty="0">
                <a:solidFill>
                  <a:srgbClr val="000000"/>
                </a:solidFill>
              </a:rPr>
              <a:t>Which two lines included a vertical translation? </a:t>
            </a:r>
            <a:endParaRPr dirty="0">
              <a:solidFill>
                <a:srgbClr val="000000"/>
              </a:solidFill>
            </a:endParaRPr>
          </a:p>
          <a:p>
            <a:pPr marL="171450" lvl="0" indent="-171450" algn="l" rtl="0">
              <a:spcBef>
                <a:spcPts val="0"/>
              </a:spcBef>
              <a:spcAft>
                <a:spcPts val="0"/>
              </a:spcAft>
              <a:buClr>
                <a:schemeClr val="dk1"/>
              </a:buClr>
              <a:buSzPts val="1200"/>
              <a:buFont typeface="Arial" panose="020B0604020202020204" pitchFamily="34" charset="0"/>
              <a:buChar char="•"/>
            </a:pPr>
            <a:r>
              <a:rPr lang="en-US" dirty="0">
                <a:solidFill>
                  <a:srgbClr val="000000"/>
                </a:solidFill>
              </a:rPr>
              <a:t>How can you tell which </a:t>
            </a:r>
            <a:r>
              <a:rPr lang="en-US" i="1" dirty="0">
                <a:solidFill>
                  <a:srgbClr val="000000"/>
                </a:solidFill>
              </a:rPr>
              <a:t>d</a:t>
            </a:r>
            <a:r>
              <a:rPr lang="en-US" dirty="0">
                <a:solidFill>
                  <a:srgbClr val="000000"/>
                </a:solidFill>
              </a:rPr>
              <a:t>-value applies to each line?</a:t>
            </a:r>
            <a:endParaRPr sz="1200" dirty="0">
              <a:solidFill>
                <a:srgbClr val="000000"/>
              </a:solidFill>
              <a:latin typeface="Calibri"/>
              <a:ea typeface="Calibri"/>
              <a:cs typeface="Calibri"/>
              <a:sym typeface="Calibri"/>
            </a:endParaRPr>
          </a:p>
        </p:txBody>
      </p:sp>
      <p:sp>
        <p:nvSpPr>
          <p:cNvPr id="956" name="Google Shape;956;p6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65</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p63: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3" name="Google Shape;963;p6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Note:</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To close Day 3, have students read and answer the Essential Question and then read the Stamp the Learning summary aloud.</a:t>
            </a:r>
            <a:endParaRPr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chemeClr val="dk1"/>
              </a:buClr>
              <a:buSzPts val="1200"/>
              <a:buFont typeface="Calibri"/>
              <a:buNone/>
            </a:pPr>
            <a:endParaRPr sz="1200" b="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Essential Question:</a:t>
            </a:r>
            <a:endParaRPr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Sample answer: For the parent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the transformed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d</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shows a vertical translation of the function. For </a:t>
            </a:r>
            <a:r>
              <a:rPr lang="en-US" b="0" i="0" dirty="0">
                <a:solidFill>
                  <a:srgbClr val="000000"/>
                </a:solidFill>
                <a:latin typeface="Calibri" panose="020F0502020204030204" pitchFamily="34" charset="0"/>
                <a:ea typeface="Calibri" panose="020F0502020204030204" pitchFamily="34" charset="0"/>
                <a:cs typeface="Calibri" panose="020F0502020204030204" pitchFamily="34" charset="0"/>
                <a:sym typeface="Cambria Math"/>
              </a:rPr>
              <a:t>𝑑 &gt; 0</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the resulting graph vertically shifts up. For </a:t>
            </a:r>
            <a:r>
              <a:rPr lang="en-US" b="0" i="0" dirty="0">
                <a:solidFill>
                  <a:srgbClr val="000000"/>
                </a:solidFill>
                <a:latin typeface="Calibri" panose="020F0502020204030204" pitchFamily="34" charset="0"/>
                <a:ea typeface="Calibri" panose="020F0502020204030204" pitchFamily="34" charset="0"/>
                <a:cs typeface="Calibri" panose="020F0502020204030204" pitchFamily="34" charset="0"/>
                <a:sym typeface="Cambria Math"/>
              </a:rPr>
              <a:t>𝑑 &lt; 0</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the resulting graph vertically shifts down. The parent function and the resulting graph are parallel because they have the same slope but different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-intercepts. The transformed function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i="1" dirty="0" err="1">
                <a:solidFill>
                  <a:srgbClr val="000000"/>
                </a:solidFill>
                <a:latin typeface="Calibri" panose="020F0502020204030204" pitchFamily="34" charset="0"/>
                <a:ea typeface="Calibri" panose="020F0502020204030204" pitchFamily="34" charset="0"/>
                <a:cs typeface="Calibri" panose="020F0502020204030204" pitchFamily="34" charset="0"/>
              </a:rPr>
              <a:t>af</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shows a vertical dilation of the function. For </a:t>
            </a:r>
            <a:r>
              <a:rPr lang="en-US" i="0" dirty="0">
                <a:solidFill>
                  <a:srgbClr val="000000"/>
                </a:solidFill>
                <a:latin typeface="Calibri" panose="020F0502020204030204" pitchFamily="34" charset="0"/>
                <a:ea typeface="Calibri" panose="020F0502020204030204" pitchFamily="34" charset="0"/>
                <a:cs typeface="Calibri" panose="020F0502020204030204" pitchFamily="34" charset="0"/>
                <a:sym typeface="Cambria Math"/>
              </a:rPr>
              <a:t>|</a:t>
            </a:r>
            <a:r>
              <a:rPr lang="en-US" b="0" i="0" dirty="0">
                <a:solidFill>
                  <a:srgbClr val="000000"/>
                </a:solidFill>
                <a:latin typeface="Calibri" panose="020F0502020204030204" pitchFamily="34" charset="0"/>
                <a:ea typeface="Calibri" panose="020F0502020204030204" pitchFamily="34" charset="0"/>
                <a:cs typeface="Calibri" panose="020F0502020204030204" pitchFamily="34" charset="0"/>
                <a:sym typeface="Cambria Math"/>
              </a:rPr>
              <a:t>𝑎| </a:t>
            </a:r>
            <a:r>
              <a:rPr lang="en-US" i="0" dirty="0">
                <a:solidFill>
                  <a:srgbClr val="000000"/>
                </a:solidFill>
                <a:latin typeface="Calibri" panose="020F0502020204030204" pitchFamily="34" charset="0"/>
                <a:ea typeface="Calibri" panose="020F0502020204030204" pitchFamily="34" charset="0"/>
                <a:cs typeface="Calibri" panose="020F0502020204030204" pitchFamily="34" charset="0"/>
                <a:sym typeface="Cambria Math"/>
              </a:rPr>
              <a:t>&gt; </a:t>
            </a:r>
            <a:r>
              <a:rPr lang="en-US" b="0" i="0" dirty="0">
                <a:solidFill>
                  <a:srgbClr val="000000"/>
                </a:solidFill>
                <a:latin typeface="Calibri" panose="020F0502020204030204" pitchFamily="34" charset="0"/>
                <a:ea typeface="Calibri" panose="020F0502020204030204" pitchFamily="34" charset="0"/>
                <a:cs typeface="Calibri" panose="020F0502020204030204" pitchFamily="34" charset="0"/>
                <a:sym typeface="Cambria Math"/>
              </a:rPr>
              <a:t>1</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the resulting graph vertically stretches by a factor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units. For </a:t>
            </a:r>
            <a:r>
              <a:rPr lang="en-US" b="0" i="0" dirty="0">
                <a:solidFill>
                  <a:srgbClr val="000000"/>
                </a:solidFill>
                <a:latin typeface="Calibri" panose="020F0502020204030204" pitchFamily="34" charset="0"/>
                <a:ea typeface="Calibri" panose="020F0502020204030204" pitchFamily="34" charset="0"/>
                <a:cs typeface="Calibri" panose="020F0502020204030204" pitchFamily="34" charset="0"/>
                <a:sym typeface="Cambria Math"/>
              </a:rPr>
              <a:t>0 &lt; |𝑎| &lt; 1</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the resulting graph vertically compresses by a factor of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units. For </a:t>
            </a:r>
            <a:r>
              <a:rPr lang="en-US" b="0" i="0" dirty="0">
                <a:solidFill>
                  <a:srgbClr val="000000"/>
                </a:solidFill>
                <a:latin typeface="Calibri" panose="020F0502020204030204" pitchFamily="34" charset="0"/>
                <a:ea typeface="Calibri" panose="020F0502020204030204" pitchFamily="34" charset="0"/>
                <a:cs typeface="Calibri" panose="020F0502020204030204" pitchFamily="34" charset="0"/>
                <a:sym typeface="Cambria Math"/>
              </a:rPr>
              <a:t>𝑎 &lt; 0</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the resulting graph is vertically stretched or compressed and is reflected across the </a:t>
            </a:r>
            <a:r>
              <a:rPr lang="en-US"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-axis.</a:t>
            </a:r>
            <a:endParaRPr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lvl="0" indent="0" algn="l" rtl="0">
              <a:spcBef>
                <a:spcPts val="0"/>
              </a:spcBef>
              <a:spcAft>
                <a:spcPts val="0"/>
              </a:spcAft>
              <a:buNone/>
            </a:pP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0" lvl="0" indent="0" algn="l" rtl="0">
              <a:spcBef>
                <a:spcPts val="0"/>
              </a:spcBef>
              <a:spcAft>
                <a:spcPts val="0"/>
              </a:spcAft>
              <a:buNone/>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Talk the Talk Summary:</a:t>
            </a:r>
            <a:endParaRPr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An equation can be generated given the graph of a function transformation.</a:t>
            </a:r>
            <a:endParaRPr sz="1200" b="0" i="0" u="none" strike="noStrike"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964" name="Google Shape;964;p6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66</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p6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1" name="Google Shape;971;p6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1" dirty="0">
                <a:solidFill>
                  <a:srgbClr val="000000"/>
                </a:solidFill>
                <a:latin typeface="Calibri"/>
                <a:ea typeface="Calibri"/>
                <a:cs typeface="Calibri"/>
                <a:sym typeface="Calibri"/>
              </a:rPr>
              <a:t>Note: </a:t>
            </a:r>
            <a:r>
              <a:rPr lang="en-US" sz="1200" dirty="0">
                <a:solidFill>
                  <a:srgbClr val="000000"/>
                </a:solidFill>
                <a:latin typeface="Calibri"/>
                <a:ea typeface="Calibri"/>
                <a:cs typeface="Calibri"/>
                <a:sym typeface="Calibri"/>
              </a:rPr>
              <a:t>This slide is blank for optional use with displaying work.</a:t>
            </a:r>
            <a:endParaRPr sz="1200" b="0" dirty="0">
              <a:solidFill>
                <a:srgbClr val="000000"/>
              </a:solidFill>
              <a:latin typeface="Calibri"/>
              <a:ea typeface="Calibri"/>
              <a:cs typeface="Calibri"/>
              <a:sym typeface="Calibri"/>
            </a:endParaRPr>
          </a:p>
        </p:txBody>
      </p:sp>
      <p:sp>
        <p:nvSpPr>
          <p:cNvPr id="972" name="Google Shape;972;p6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67</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6"/>
        <p:cNvGrpSpPr/>
        <p:nvPr/>
      </p:nvGrpSpPr>
      <p:grpSpPr>
        <a:xfrm>
          <a:off x="0" y="0"/>
          <a:ext cx="0" cy="0"/>
          <a:chOff x="0" y="0"/>
          <a:chExt cx="0" cy="0"/>
        </a:xfrm>
      </p:grpSpPr>
      <p:sp>
        <p:nvSpPr>
          <p:cNvPr id="977" name="Google Shape;977;p6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8" name="Google Shape;978;p6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1" i="0" u="none" strike="noStrike" dirty="0">
                <a:solidFill>
                  <a:srgbClr val="000000"/>
                </a:solidFill>
                <a:latin typeface="Calibri"/>
                <a:ea typeface="Calibri"/>
                <a:cs typeface="Calibri"/>
                <a:sym typeface="Calibri"/>
              </a:rPr>
              <a:t>How can you identify whether students are ready for new learning?</a:t>
            </a:r>
            <a:r>
              <a:rPr lang="en-US" sz="1200" b="0" i="0" u="none" strike="noStrike" dirty="0">
                <a:solidFill>
                  <a:srgbClr val="000000"/>
                </a:solidFill>
                <a:latin typeface="Calibri"/>
                <a:ea typeface="Calibri"/>
                <a:cs typeface="Calibri"/>
                <a:sym typeface="Calibri"/>
              </a:rPr>
              <a:t> </a:t>
            </a:r>
            <a:r>
              <a:rPr lang="en-US" sz="1200" b="0" i="0" dirty="0">
                <a:solidFill>
                  <a:srgbClr val="000000"/>
                </a:solidFill>
                <a:latin typeface="Calibri"/>
                <a:ea typeface="Calibri"/>
                <a:cs typeface="Calibri"/>
                <a:sym typeface="Calibri"/>
              </a:rPr>
              <a:t>​</a:t>
            </a:r>
            <a:endParaRPr dirty="0">
              <a:solidFill>
                <a:srgbClr val="000000"/>
              </a:solidFill>
            </a:endParaRPr>
          </a:p>
          <a:p>
            <a:pPr marL="0" lvl="0" indent="0" algn="l" rtl="0">
              <a:spcBef>
                <a:spcPts val="0"/>
              </a:spcBef>
              <a:spcAft>
                <a:spcPts val="0"/>
              </a:spcAft>
              <a:buNone/>
            </a:pPr>
            <a:r>
              <a:rPr lang="en-US" sz="1200" b="0" i="0" u="none" strike="noStrike" dirty="0">
                <a:solidFill>
                  <a:srgbClr val="000000"/>
                </a:solidFill>
                <a:latin typeface="Calibri"/>
                <a:ea typeface="Calibri"/>
                <a:cs typeface="Calibri"/>
                <a:sym typeface="Calibri"/>
              </a:rPr>
              <a:t>Depending on available time, you can assign the Prepare section of the Lesson Assignments as homework or as a warm-up to identify students' prior knowledge for the upcoming lesson's activities.</a:t>
            </a:r>
            <a:endParaRPr sz="1200" dirty="0">
              <a:solidFill>
                <a:srgbClr val="000000"/>
              </a:solidFill>
              <a:latin typeface="Calibri"/>
              <a:ea typeface="Calibri"/>
              <a:cs typeface="Calibri"/>
              <a:sym typeface="Calibri"/>
            </a:endParaRPr>
          </a:p>
        </p:txBody>
      </p:sp>
      <p:sp>
        <p:nvSpPr>
          <p:cNvPr id="979" name="Google Shape;979;p6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68</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
        <p:cNvGrpSpPr/>
        <p:nvPr/>
      </p:nvGrpSpPr>
      <p:grpSpPr>
        <a:xfrm>
          <a:off x="0" y="0"/>
          <a:ext cx="0" cy="0"/>
          <a:chOff x="0" y="0"/>
          <a:chExt cx="0" cy="0"/>
        </a:xfrm>
      </p:grpSpPr>
      <p:sp>
        <p:nvSpPr>
          <p:cNvPr id="983" name="Google Shape;983;p6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4" name="Google Shape;984;p6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sz="1200" dirty="0">
              <a:solidFill>
                <a:srgbClr val="000000"/>
              </a:solidFill>
              <a:latin typeface="Calibri"/>
              <a:ea typeface="Calibri"/>
              <a:cs typeface="Calibri"/>
              <a:sym typeface="Calibri"/>
            </a:endParaRPr>
          </a:p>
          <a:p>
            <a:r>
              <a:rPr lang="en-US" b="1" dirty="0"/>
              <a:t>TE correction: the TE gives f(x) = (2/3)x − 5. The marked points (−8, −10), (−2, −6) and (4, −2) give slope 2/3 and y-intercept (0, −14/3), so f(x) = (2/3)x − 14/3.</a:t>
            </a:r>
          </a:p>
        </p:txBody>
      </p:sp>
      <p:sp>
        <p:nvSpPr>
          <p:cNvPr id="985" name="Google Shape;985;p6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69</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p6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6" name="Google Shape;996;p6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solidFill>
                <a:srgbClr val="000000"/>
              </a:solidFill>
              <a:latin typeface="Calibri"/>
              <a:ea typeface="Calibri"/>
              <a:cs typeface="Calibri"/>
              <a:sym typeface="Calibri"/>
            </a:endParaRPr>
          </a:p>
        </p:txBody>
      </p:sp>
      <p:sp>
        <p:nvSpPr>
          <p:cNvPr id="997" name="Google Shape;997;p6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70</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0"/>
        <p:cNvGrpSpPr/>
        <p:nvPr/>
      </p:nvGrpSpPr>
      <p:grpSpPr>
        <a:xfrm>
          <a:off x="0" y="0"/>
          <a:ext cx="0" cy="0"/>
          <a:chOff x="0" y="0"/>
          <a:chExt cx="0" cy="0"/>
        </a:xfrm>
      </p:grpSpPr>
      <p:sp>
        <p:nvSpPr>
          <p:cNvPr id="1001" name="Google Shape;1001;p68: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2" name="Google Shape;1002;p6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solidFill>
                <a:srgbClr val="000000"/>
              </a:solidFill>
              <a:latin typeface="Calibri"/>
              <a:ea typeface="Calibri"/>
              <a:cs typeface="Calibri"/>
              <a:sym typeface="Calibri"/>
            </a:endParaRPr>
          </a:p>
        </p:txBody>
      </p:sp>
      <p:sp>
        <p:nvSpPr>
          <p:cNvPr id="1003" name="Google Shape;1003;p6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hyperlink" Target="https://creativecommons.org/licenses/by-nc/4.0" TargetMode="Externa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Alg I_Title Slide">
  <p:cSld name="2_Alg I_Title Slide">
    <p:bg>
      <p:bgPr>
        <a:solidFill>
          <a:schemeClr val="lt1"/>
        </a:solidFill>
        <a:effectLst/>
      </p:bgPr>
    </p:bg>
    <p:spTree>
      <p:nvGrpSpPr>
        <p:cNvPr id="1" name="Shape 10"/>
        <p:cNvGrpSpPr/>
        <p:nvPr/>
      </p:nvGrpSpPr>
      <p:grpSpPr>
        <a:xfrm>
          <a:off x="0" y="0"/>
          <a:ext cx="0" cy="0"/>
          <a:chOff x="0" y="0"/>
          <a:chExt cx="0" cy="0"/>
        </a:xfrm>
      </p:grpSpPr>
      <p:sp>
        <p:nvSpPr>
          <p:cNvPr id="11" name="Google Shape;11;p70"/>
          <p:cNvSpPr txBox="1">
            <a:spLocks noGrp="1"/>
          </p:cNvSpPr>
          <p:nvPr>
            <p:ph type="body" idx="1"/>
          </p:nvPr>
        </p:nvSpPr>
        <p:spPr>
          <a:xfrm>
            <a:off x="-1590" y="1622759"/>
            <a:ext cx="12192003" cy="1819137"/>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rgbClr val="236739"/>
              </a:buClr>
              <a:buSzPts val="6000"/>
              <a:buFont typeface="Arial"/>
              <a:buNone/>
              <a:defRPr sz="6000" b="1" i="0" u="none" strike="noStrike" cap="none">
                <a:solidFill>
                  <a:srgbClr val="236739"/>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70"/>
          <p:cNvSpPr txBox="1">
            <a:spLocks noGrp="1"/>
          </p:cNvSpPr>
          <p:nvPr>
            <p:ph type="body" idx="2"/>
          </p:nvPr>
        </p:nvSpPr>
        <p:spPr>
          <a:xfrm>
            <a:off x="-1590" y="3641189"/>
            <a:ext cx="12190413" cy="822457"/>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236739"/>
              </a:buClr>
              <a:buSzPts val="4400"/>
              <a:buFont typeface="Arial"/>
              <a:buNone/>
              <a:defRPr sz="4400" b="0" i="0" u="none" strike="noStrike" cap="none">
                <a:solidFill>
                  <a:srgbClr val="236739"/>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3" name="Google Shape;13;p70"/>
          <p:cNvSpPr/>
          <p:nvPr/>
        </p:nvSpPr>
        <p:spPr>
          <a:xfrm rot="10800000" flipH="1">
            <a:off x="0" y="0"/>
            <a:ext cx="2467555" cy="954942"/>
          </a:xfrm>
          <a:prstGeom prst="round1Rect">
            <a:avLst>
              <a:gd name="adj" fmla="val 16667"/>
            </a:avLst>
          </a:prstGeom>
          <a:solidFill>
            <a:srgbClr val="2B81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4" name="Google Shape;14;p70"/>
          <p:cNvSpPr txBox="1"/>
          <p:nvPr/>
        </p:nvSpPr>
        <p:spPr>
          <a:xfrm>
            <a:off x="0" y="280732"/>
            <a:ext cx="246755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0" i="0" u="none" strike="noStrike" cap="none">
                <a:solidFill>
                  <a:schemeClr val="lt1"/>
                </a:solidFill>
                <a:latin typeface="Calibri"/>
                <a:ea typeface="Calibri"/>
                <a:cs typeface="Calibri"/>
                <a:sym typeface="Calibri"/>
              </a:rPr>
              <a:t>ENGLISH</a:t>
            </a:r>
            <a:endParaRPr/>
          </a:p>
        </p:txBody>
      </p:sp>
      <p:pic>
        <p:nvPicPr>
          <p:cNvPr id="15" name="Google Shape;15;p70" descr="A blue and black logo&#10;&#10;AI-generated content may be incorrect."/>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8940726" y="132485"/>
            <a:ext cx="2910578" cy="954944"/>
          </a:xfrm>
          <a:prstGeom prst="rect">
            <a:avLst/>
          </a:prstGeom>
          <a:noFill/>
          <a:ln>
            <a:noFill/>
          </a:ln>
        </p:spPr>
      </p:pic>
      <p:sp>
        <p:nvSpPr>
          <p:cNvPr id="16" name="Google Shape;16;p70"/>
          <p:cNvSpPr txBox="1"/>
          <p:nvPr/>
        </p:nvSpPr>
        <p:spPr>
          <a:xfrm>
            <a:off x="10111407" y="1007699"/>
            <a:ext cx="1643271" cy="267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i="0" u="none" strike="noStrike" cap="none">
                <a:solidFill>
                  <a:srgbClr val="000000"/>
                </a:solidFill>
                <a:latin typeface="Calibri"/>
                <a:ea typeface="Calibri"/>
                <a:cs typeface="Calibri"/>
                <a:sym typeface="Calibri"/>
              </a:rPr>
              <a:t>Secondary Mathematics</a:t>
            </a:r>
            <a:endParaRPr/>
          </a:p>
        </p:txBody>
      </p:sp>
      <p:sp>
        <p:nvSpPr>
          <p:cNvPr id="17" name="Google Shape;17;p70"/>
          <p:cNvSpPr/>
          <p:nvPr/>
        </p:nvSpPr>
        <p:spPr>
          <a:xfrm>
            <a:off x="10236991" y="1306046"/>
            <a:ext cx="907774" cy="298608"/>
          </a:xfrm>
          <a:prstGeom prst="roundRect">
            <a:avLst>
              <a:gd name="adj" fmla="val 16667"/>
            </a:avLst>
          </a:prstGeom>
          <a:solidFill>
            <a:srgbClr val="D0CE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8" name="Google Shape;18;p70"/>
          <p:cNvSpPr txBox="1"/>
          <p:nvPr/>
        </p:nvSpPr>
        <p:spPr>
          <a:xfrm>
            <a:off x="10252484" y="1335768"/>
            <a:ext cx="868018" cy="2378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i="0" u="none" strike="noStrike" cap="none">
                <a:solidFill>
                  <a:srgbClr val="757070"/>
                </a:solidFill>
                <a:latin typeface="Calibri"/>
                <a:ea typeface="Calibri"/>
                <a:cs typeface="Calibri"/>
                <a:sym typeface="Calibri"/>
              </a:rPr>
              <a:t>EDITION 1</a:t>
            </a:r>
            <a:endParaRPr/>
          </a:p>
        </p:txBody>
      </p:sp>
      <p:pic>
        <p:nvPicPr>
          <p:cNvPr id="19" name="Google Shape;19;p70"/>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4663225"/>
            <a:ext cx="12190413" cy="219477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bjective">
  <p:cSld name="Objective">
    <p:spTree>
      <p:nvGrpSpPr>
        <p:cNvPr id="1" name="Shape 20"/>
        <p:cNvGrpSpPr/>
        <p:nvPr/>
      </p:nvGrpSpPr>
      <p:grpSpPr>
        <a:xfrm>
          <a:off x="0" y="0"/>
          <a:ext cx="0" cy="0"/>
          <a:chOff x="0" y="0"/>
          <a:chExt cx="0" cy="0"/>
        </a:xfrm>
      </p:grpSpPr>
      <p:sp>
        <p:nvSpPr>
          <p:cNvPr id="21" name="Google Shape;21;p71"/>
          <p:cNvSpPr/>
          <p:nvPr/>
        </p:nvSpPr>
        <p:spPr>
          <a:xfrm>
            <a:off x="-1586" y="1392600"/>
            <a:ext cx="12192000" cy="549097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 name="Google Shape;22;p71"/>
          <p:cNvSpPr txBox="1">
            <a:spLocks noGrp="1"/>
          </p:cNvSpPr>
          <p:nvPr>
            <p:ph type="body" idx="1"/>
          </p:nvPr>
        </p:nvSpPr>
        <p:spPr>
          <a:xfrm>
            <a:off x="836614" y="2159879"/>
            <a:ext cx="10515599" cy="3956418"/>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rgbClr val="3A3838"/>
              </a:buClr>
              <a:buSzPts val="4400"/>
              <a:buFont typeface="Arial"/>
              <a:buNone/>
              <a:defRPr sz="4400" b="0" i="0" u="none" strike="noStrike" cap="none">
                <a:solidFill>
                  <a:srgbClr val="3A3838"/>
                </a:solidFill>
                <a:latin typeface="Calibri"/>
                <a:ea typeface="Calibri"/>
                <a:cs typeface="Calibri"/>
                <a:sym typeface="Calibri"/>
              </a:defRPr>
            </a:lvl1pPr>
            <a:lvl2pPr marL="914400" marR="0" lvl="1"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2pPr>
            <a:lvl3pPr marL="1371600" marR="0" lvl="2"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3pPr>
            <a:lvl4pPr marL="1828800" marR="0" lvl="3"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4pPr>
            <a:lvl5pPr marL="2286000" marR="0" lvl="4" indent="-228600" algn="ctr" rtl="0">
              <a:lnSpc>
                <a:spcPct val="90000"/>
              </a:lnSpc>
              <a:spcBef>
                <a:spcPts val="500"/>
              </a:spcBef>
              <a:spcAft>
                <a:spcPts val="0"/>
              </a:spcAft>
              <a:buClr>
                <a:schemeClr val="dk1"/>
              </a:buClr>
              <a:buSzPts val="4400"/>
              <a:buFont typeface="Arial"/>
              <a:buNone/>
              <a:defRPr sz="44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 name="Google Shape;23;p71"/>
          <p:cNvSpPr/>
          <p:nvPr/>
        </p:nvSpPr>
        <p:spPr>
          <a:xfrm>
            <a:off x="0" y="0"/>
            <a:ext cx="7575442" cy="927652"/>
          </a:xfrm>
          <a:prstGeom prst="rect">
            <a:avLst/>
          </a:prstGeom>
          <a:solidFill>
            <a:srgbClr val="2367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24" name="Google Shape;24;p71"/>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7575441" y="0"/>
            <a:ext cx="4614971" cy="931321"/>
          </a:xfrm>
          <a:prstGeom prst="rect">
            <a:avLst/>
          </a:prstGeom>
          <a:noFill/>
          <a:ln>
            <a:noFill/>
          </a:ln>
        </p:spPr>
      </p:pic>
      <p:sp>
        <p:nvSpPr>
          <p:cNvPr id="25" name="Google Shape;25;p71"/>
          <p:cNvSpPr txBox="1">
            <a:spLocks noGrp="1"/>
          </p:cNvSpPr>
          <p:nvPr>
            <p:ph type="title"/>
          </p:nvPr>
        </p:nvSpPr>
        <p:spPr>
          <a:xfrm>
            <a:off x="0" y="0"/>
            <a:ext cx="6094413" cy="926757"/>
          </a:xfrm>
          <a:prstGeom prst="rect">
            <a:avLst/>
          </a:prstGeom>
          <a:noFill/>
          <a:ln>
            <a:noFill/>
          </a:ln>
        </p:spPr>
        <p:txBody>
          <a:bodyPr spcFirstLastPara="1" wrap="square" lIns="457200" tIns="45700" rIns="91425" bIns="45700" anchor="ctr" anchorCtr="0">
            <a:noAutofit/>
          </a:bodyPr>
          <a:lstStyle>
            <a:lvl1pPr marR="0" lvl="0" algn="l" rtl="0">
              <a:lnSpc>
                <a:spcPct val="90000"/>
              </a:lnSpc>
              <a:spcBef>
                <a:spcPts val="0"/>
              </a:spcBef>
              <a:spcAft>
                <a:spcPts val="0"/>
              </a:spcAft>
              <a:buClr>
                <a:schemeClr val="lt1"/>
              </a:buClr>
              <a:buSzPts val="4000"/>
              <a:buFont typeface="Calibri"/>
              <a:buNone/>
              <a:defRPr sz="4000" b="1"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erminology">
  <p:cSld name="Terminology">
    <p:bg>
      <p:bgPr>
        <a:solidFill>
          <a:schemeClr val="lt1"/>
        </a:solidFill>
        <a:effectLst/>
      </p:bgPr>
    </p:bg>
    <p:spTree>
      <p:nvGrpSpPr>
        <p:cNvPr id="1" name="Shape 26"/>
        <p:cNvGrpSpPr/>
        <p:nvPr/>
      </p:nvGrpSpPr>
      <p:grpSpPr>
        <a:xfrm>
          <a:off x="0" y="0"/>
          <a:ext cx="0" cy="0"/>
          <a:chOff x="0" y="0"/>
          <a:chExt cx="0" cy="0"/>
        </a:xfrm>
      </p:grpSpPr>
      <p:sp>
        <p:nvSpPr>
          <p:cNvPr id="27" name="Google Shape;27;p72"/>
          <p:cNvSpPr txBox="1">
            <a:spLocks noGrp="1"/>
          </p:cNvSpPr>
          <p:nvPr>
            <p:ph type="body" idx="1"/>
          </p:nvPr>
        </p:nvSpPr>
        <p:spPr>
          <a:xfrm>
            <a:off x="852488" y="1652588"/>
            <a:ext cx="10515600" cy="116974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3A3838"/>
              </a:buClr>
              <a:buSzPts val="2800"/>
              <a:buFont typeface="Arial"/>
              <a:buNone/>
              <a:defRPr sz="2800" b="0" i="0" u="none" strike="noStrike" cap="none">
                <a:solidFill>
                  <a:srgbClr val="3A3838"/>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8" name="Google Shape;28;p72"/>
          <p:cNvSpPr>
            <a:spLocks noGrp="1"/>
          </p:cNvSpPr>
          <p:nvPr>
            <p:ph type="pic" idx="2"/>
          </p:nvPr>
        </p:nvSpPr>
        <p:spPr>
          <a:xfrm>
            <a:off x="3427412" y="3217943"/>
            <a:ext cx="5335588" cy="2505075"/>
          </a:xfrm>
          <a:prstGeom prst="rect">
            <a:avLst/>
          </a:prstGeom>
          <a:noFill/>
          <a:ln>
            <a:noFill/>
          </a:ln>
        </p:spPr>
      </p:sp>
      <p:sp>
        <p:nvSpPr>
          <p:cNvPr id="29" name="Google Shape;29;p72"/>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2B8147"/>
              </a:buClr>
              <a:buSzPts val="4000"/>
              <a:buFont typeface="Calibri"/>
              <a:buNone/>
              <a:defRPr sz="4000" b="0" i="0" u="none" strike="noStrike" cap="none">
                <a:solidFill>
                  <a:srgbClr val="2B8147"/>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30" name="Google Shape;30;p72"/>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Alg I_Session Divider">
  <p:cSld name="Alg I_Session Divider">
    <p:bg>
      <p:bgPr>
        <a:solidFill>
          <a:schemeClr val="lt1"/>
        </a:solidFill>
        <a:effectLst/>
      </p:bgPr>
    </p:bg>
    <p:spTree>
      <p:nvGrpSpPr>
        <p:cNvPr id="1" name="Shape 31"/>
        <p:cNvGrpSpPr/>
        <p:nvPr/>
      </p:nvGrpSpPr>
      <p:grpSpPr>
        <a:xfrm>
          <a:off x="0" y="0"/>
          <a:ext cx="0" cy="0"/>
          <a:chOff x="0" y="0"/>
          <a:chExt cx="0" cy="0"/>
        </a:xfrm>
      </p:grpSpPr>
      <p:sp>
        <p:nvSpPr>
          <p:cNvPr id="32" name="Google Shape;32;p73"/>
          <p:cNvSpPr txBox="1"/>
          <p:nvPr/>
        </p:nvSpPr>
        <p:spPr>
          <a:xfrm>
            <a:off x="4687911" y="2955793"/>
            <a:ext cx="1742284" cy="946413"/>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7500" b="1" dirty="0">
                <a:solidFill>
                  <a:srgbClr val="171616"/>
                </a:solidFill>
                <a:latin typeface="Calibri"/>
                <a:ea typeface="Calibri"/>
                <a:cs typeface="Calibri"/>
                <a:sym typeface="Calibri"/>
              </a:rPr>
              <a:t>Day</a:t>
            </a:r>
            <a:endParaRPr sz="7500" b="1" dirty="0">
              <a:solidFill>
                <a:srgbClr val="171616"/>
              </a:solidFill>
              <a:latin typeface="Calibri"/>
              <a:ea typeface="Calibri"/>
              <a:cs typeface="Calibri"/>
              <a:sym typeface="Calibri"/>
            </a:endParaRPr>
          </a:p>
        </p:txBody>
      </p:sp>
      <p:sp>
        <p:nvSpPr>
          <p:cNvPr id="33" name="Google Shape;33;p73"/>
          <p:cNvSpPr txBox="1">
            <a:spLocks noGrp="1"/>
          </p:cNvSpPr>
          <p:nvPr>
            <p:ph type="body" idx="1"/>
          </p:nvPr>
        </p:nvSpPr>
        <p:spPr>
          <a:xfrm>
            <a:off x="6537582" y="2834375"/>
            <a:ext cx="1093150" cy="1071562"/>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000000"/>
              </a:buClr>
              <a:buSzPts val="7500"/>
              <a:buFont typeface="Arial"/>
              <a:buNone/>
              <a:defRPr sz="7500" b="1" i="0" u="none" strike="noStrike" cap="none">
                <a:solidFill>
                  <a:srgbClr val="000000"/>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34" name="Google Shape;34;p73"/>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4663225"/>
            <a:ext cx="12190413" cy="2194775"/>
          </a:xfrm>
          <a:prstGeom prst="rect">
            <a:avLst/>
          </a:prstGeom>
          <a:noFill/>
          <a:ln>
            <a:noFill/>
          </a:ln>
        </p:spPr>
      </p:pic>
      <p:pic>
        <p:nvPicPr>
          <p:cNvPr id="35" name="Google Shape;35;p73"/>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rot="10800000">
            <a:off x="-794" y="-12700"/>
            <a:ext cx="12190413" cy="21947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Alg I_Getting Started">
  <p:cSld name="Alg I_Getting Started">
    <p:bg>
      <p:bgPr>
        <a:solidFill>
          <a:schemeClr val="lt1"/>
        </a:solidFill>
        <a:effectLst/>
      </p:bgPr>
    </p:bg>
    <p:spTree>
      <p:nvGrpSpPr>
        <p:cNvPr id="1" name="Shape 36"/>
        <p:cNvGrpSpPr/>
        <p:nvPr/>
      </p:nvGrpSpPr>
      <p:grpSpPr>
        <a:xfrm>
          <a:off x="0" y="0"/>
          <a:ext cx="0" cy="0"/>
          <a:chOff x="0" y="0"/>
          <a:chExt cx="0" cy="0"/>
        </a:xfrm>
      </p:grpSpPr>
      <p:pic>
        <p:nvPicPr>
          <p:cNvPr id="37" name="Google Shape;37;p74" descr="A green and black pattern&#10;&#10;AI-generated content may be incorrect."/>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2316529"/>
            <a:ext cx="12190415" cy="2682142"/>
          </a:xfrm>
          <a:prstGeom prst="rect">
            <a:avLst/>
          </a:prstGeom>
          <a:noFill/>
          <a:ln>
            <a:noFill/>
          </a:ln>
        </p:spPr>
      </p:pic>
      <p:sp>
        <p:nvSpPr>
          <p:cNvPr id="38" name="Google Shape;38;p74" descr="A green and black pattern&#10;&#10;AI-generated content may be incorrect."/>
          <p:cNvSpPr txBox="1"/>
          <p:nvPr/>
        </p:nvSpPr>
        <p:spPr>
          <a:xfrm>
            <a:off x="2767915" y="2984501"/>
            <a:ext cx="6660292" cy="1143000"/>
          </a:xfrm>
          <a:prstGeom prst="rect">
            <a:avLst/>
          </a:prstGeom>
          <a:solidFill>
            <a:srgbClr val="2B8147"/>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r>
              <a:rPr lang="en-US" sz="7500" b="1">
                <a:solidFill>
                  <a:schemeClr val="lt1"/>
                </a:solidFill>
                <a:latin typeface="Calibri"/>
                <a:ea typeface="Calibri"/>
                <a:cs typeface="Calibri"/>
                <a:sym typeface="Calibri"/>
              </a:rPr>
              <a:t>Getting Started</a:t>
            </a:r>
            <a:endParaRPr sz="7500" b="1">
              <a:solidFill>
                <a:schemeClr val="lt1"/>
              </a:solidFill>
              <a:latin typeface="Calibri"/>
              <a:ea typeface="Calibri"/>
              <a:cs typeface="Calibri"/>
              <a:sym typeface="Calibri"/>
            </a:endParaRPr>
          </a:p>
        </p:txBody>
      </p:sp>
      <p:pic>
        <p:nvPicPr>
          <p:cNvPr id="39" name="Google Shape;39;p74" descr="A black and white image of a stopwatch&#10;&#10;Description automatically generated"/>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585174" y="5576768"/>
            <a:ext cx="1746598" cy="1130153"/>
          </a:xfrm>
          <a:prstGeom prst="rect">
            <a:avLst/>
          </a:prstGeom>
          <a:noFill/>
          <a:ln>
            <a:noFill/>
          </a:ln>
        </p:spPr>
      </p:pic>
      <p:sp>
        <p:nvSpPr>
          <p:cNvPr id="40" name="Google Shape;40;p74"/>
          <p:cNvSpPr txBox="1">
            <a:spLocks noGrp="1"/>
          </p:cNvSpPr>
          <p:nvPr>
            <p:ph type="body" idx="1"/>
          </p:nvPr>
        </p:nvSpPr>
        <p:spPr>
          <a:xfrm>
            <a:off x="10614990" y="5814529"/>
            <a:ext cx="863947" cy="795338"/>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1pPr>
            <a:lvl2pPr marL="914400" marR="0" lvl="1"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2pPr>
            <a:lvl3pPr marL="1371600" marR="0" lvl="2"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3pPr>
            <a:lvl4pPr marL="1828800" marR="0" lvl="3"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Alg I_Activity">
  <p:cSld name="Alg I_Activity">
    <p:bg>
      <p:bgPr>
        <a:solidFill>
          <a:schemeClr val="lt1"/>
        </a:solidFill>
        <a:effectLst/>
      </p:bgPr>
    </p:bg>
    <p:spTree>
      <p:nvGrpSpPr>
        <p:cNvPr id="1" name="Shape 41"/>
        <p:cNvGrpSpPr/>
        <p:nvPr/>
      </p:nvGrpSpPr>
      <p:grpSpPr>
        <a:xfrm>
          <a:off x="0" y="0"/>
          <a:ext cx="0" cy="0"/>
          <a:chOff x="0" y="0"/>
          <a:chExt cx="0" cy="0"/>
        </a:xfrm>
      </p:grpSpPr>
      <p:pic>
        <p:nvPicPr>
          <p:cNvPr id="42" name="Google Shape;42;p75"/>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2316529"/>
            <a:ext cx="12190413" cy="2682142"/>
          </a:xfrm>
          <a:prstGeom prst="rect">
            <a:avLst/>
          </a:prstGeom>
          <a:noFill/>
          <a:ln>
            <a:noFill/>
          </a:ln>
        </p:spPr>
      </p:pic>
      <p:sp>
        <p:nvSpPr>
          <p:cNvPr id="43" name="Google Shape;43;p75"/>
          <p:cNvSpPr txBox="1"/>
          <p:nvPr/>
        </p:nvSpPr>
        <p:spPr>
          <a:xfrm>
            <a:off x="3352800" y="2984501"/>
            <a:ext cx="5499100" cy="1143000"/>
          </a:xfrm>
          <a:prstGeom prst="rect">
            <a:avLst/>
          </a:prstGeom>
          <a:solidFill>
            <a:srgbClr val="2B8147"/>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endParaRPr sz="7500" b="1">
              <a:solidFill>
                <a:schemeClr val="lt1"/>
              </a:solidFill>
              <a:latin typeface="Calibri"/>
              <a:ea typeface="Calibri"/>
              <a:cs typeface="Calibri"/>
              <a:sym typeface="Calibri"/>
            </a:endParaRPr>
          </a:p>
        </p:txBody>
      </p:sp>
      <p:sp>
        <p:nvSpPr>
          <p:cNvPr id="44" name="Google Shape;44;p75"/>
          <p:cNvSpPr txBox="1"/>
          <p:nvPr/>
        </p:nvSpPr>
        <p:spPr>
          <a:xfrm>
            <a:off x="3340100" y="3136900"/>
            <a:ext cx="3302000" cy="946413"/>
          </a:xfrm>
          <a:prstGeom prst="rect">
            <a:avLst/>
          </a:prstGeom>
          <a:noFill/>
          <a:ln>
            <a:noFill/>
          </a:ln>
        </p:spPr>
        <p:txBody>
          <a:bodyPr spcFirstLastPara="1" wrap="square" lIns="0" tIns="0" rIns="0" bIns="0" anchor="t" anchorCtr="0">
            <a:spAutoFit/>
          </a:bodyPr>
          <a:lstStyle/>
          <a:p>
            <a:pPr marL="0" marR="0" lvl="0" indent="0" algn="r" rtl="0">
              <a:lnSpc>
                <a:spcPct val="80000"/>
              </a:lnSpc>
              <a:spcBef>
                <a:spcPts val="0"/>
              </a:spcBef>
              <a:spcAft>
                <a:spcPts val="0"/>
              </a:spcAft>
              <a:buNone/>
            </a:pPr>
            <a:r>
              <a:rPr lang="en-US" sz="7500" b="1">
                <a:solidFill>
                  <a:schemeClr val="lt1"/>
                </a:solidFill>
                <a:latin typeface="Calibri"/>
                <a:ea typeface="Calibri"/>
                <a:cs typeface="Calibri"/>
                <a:sym typeface="Calibri"/>
              </a:rPr>
              <a:t>Activity </a:t>
            </a:r>
            <a:endParaRPr sz="7500" b="1">
              <a:solidFill>
                <a:schemeClr val="lt1"/>
              </a:solidFill>
              <a:latin typeface="Calibri"/>
              <a:ea typeface="Calibri"/>
              <a:cs typeface="Calibri"/>
              <a:sym typeface="Calibri"/>
            </a:endParaRPr>
          </a:p>
        </p:txBody>
      </p:sp>
      <p:sp>
        <p:nvSpPr>
          <p:cNvPr id="45" name="Google Shape;45;p75"/>
          <p:cNvSpPr txBox="1">
            <a:spLocks noGrp="1"/>
          </p:cNvSpPr>
          <p:nvPr>
            <p:ph type="body" idx="1"/>
          </p:nvPr>
        </p:nvSpPr>
        <p:spPr>
          <a:xfrm>
            <a:off x="6769100" y="2957776"/>
            <a:ext cx="2025986" cy="11255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7500"/>
              <a:buFont typeface="Arial"/>
              <a:buNone/>
              <a:defRPr sz="7500" b="1" i="0" u="none" strike="noStrike" cap="none">
                <a:solidFill>
                  <a:schemeClr val="lt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46" name="Google Shape;46;p75" descr="A black and white image of a stopwatch&#10;&#10;Description automatically generated"/>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585174" y="5576768"/>
            <a:ext cx="1746598" cy="1130153"/>
          </a:xfrm>
          <a:prstGeom prst="rect">
            <a:avLst/>
          </a:prstGeom>
          <a:noFill/>
          <a:ln>
            <a:noFill/>
          </a:ln>
        </p:spPr>
      </p:pic>
      <p:sp>
        <p:nvSpPr>
          <p:cNvPr id="47" name="Google Shape;47;p75"/>
          <p:cNvSpPr txBox="1">
            <a:spLocks noGrp="1"/>
          </p:cNvSpPr>
          <p:nvPr>
            <p:ph type="body" idx="2"/>
          </p:nvPr>
        </p:nvSpPr>
        <p:spPr>
          <a:xfrm>
            <a:off x="10614990" y="5814529"/>
            <a:ext cx="863947" cy="795338"/>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1pPr>
            <a:lvl2pPr marL="914400" marR="0" lvl="1"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2pPr>
            <a:lvl3pPr marL="1371600" marR="0" lvl="2"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3pPr>
            <a:lvl4pPr marL="1828800" marR="0" lvl="3"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Alg I_Talk the Talk">
  <p:cSld name="Alg I_Talk the Talk">
    <p:bg>
      <p:bgPr>
        <a:solidFill>
          <a:schemeClr val="lt1"/>
        </a:solidFill>
        <a:effectLst/>
      </p:bgPr>
    </p:bg>
    <p:spTree>
      <p:nvGrpSpPr>
        <p:cNvPr id="1" name="Shape 48"/>
        <p:cNvGrpSpPr/>
        <p:nvPr/>
      </p:nvGrpSpPr>
      <p:grpSpPr>
        <a:xfrm>
          <a:off x="0" y="0"/>
          <a:ext cx="0" cy="0"/>
          <a:chOff x="0" y="0"/>
          <a:chExt cx="0" cy="0"/>
        </a:xfrm>
      </p:grpSpPr>
      <p:pic>
        <p:nvPicPr>
          <p:cNvPr id="49" name="Google Shape;49;p76"/>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2316529"/>
            <a:ext cx="12190413" cy="2682142"/>
          </a:xfrm>
          <a:prstGeom prst="rect">
            <a:avLst/>
          </a:prstGeom>
          <a:noFill/>
          <a:ln>
            <a:noFill/>
          </a:ln>
        </p:spPr>
      </p:pic>
      <p:sp>
        <p:nvSpPr>
          <p:cNvPr id="50" name="Google Shape;50;p76"/>
          <p:cNvSpPr txBox="1"/>
          <p:nvPr/>
        </p:nvSpPr>
        <p:spPr>
          <a:xfrm>
            <a:off x="3352800" y="2984501"/>
            <a:ext cx="5499100" cy="1143000"/>
          </a:xfrm>
          <a:prstGeom prst="rect">
            <a:avLst/>
          </a:prstGeom>
          <a:solidFill>
            <a:srgbClr val="2B8147"/>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r>
              <a:rPr lang="en-US" sz="7500" b="1">
                <a:solidFill>
                  <a:schemeClr val="lt1"/>
                </a:solidFill>
                <a:latin typeface="Calibri"/>
                <a:ea typeface="Calibri"/>
                <a:cs typeface="Calibri"/>
                <a:sym typeface="Calibri"/>
              </a:rPr>
              <a:t>Talk the Talk</a:t>
            </a:r>
            <a:endParaRPr sz="7500" b="1">
              <a:solidFill>
                <a:schemeClr val="lt1"/>
              </a:solidFill>
              <a:latin typeface="Calibri"/>
              <a:ea typeface="Calibri"/>
              <a:cs typeface="Calibri"/>
              <a:sym typeface="Calibri"/>
            </a:endParaRPr>
          </a:p>
        </p:txBody>
      </p:sp>
      <p:pic>
        <p:nvPicPr>
          <p:cNvPr id="51" name="Google Shape;51;p76" descr="A black and white image of a stopwatch&#10;&#10;Description automatically generated"/>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585174" y="5576768"/>
            <a:ext cx="1746598" cy="1130153"/>
          </a:xfrm>
          <a:prstGeom prst="rect">
            <a:avLst/>
          </a:prstGeom>
          <a:noFill/>
          <a:ln>
            <a:noFill/>
          </a:ln>
        </p:spPr>
      </p:pic>
      <p:sp>
        <p:nvSpPr>
          <p:cNvPr id="52" name="Google Shape;52;p76"/>
          <p:cNvSpPr txBox="1">
            <a:spLocks noGrp="1"/>
          </p:cNvSpPr>
          <p:nvPr>
            <p:ph type="body" idx="1"/>
          </p:nvPr>
        </p:nvSpPr>
        <p:spPr>
          <a:xfrm>
            <a:off x="10614990" y="5814529"/>
            <a:ext cx="863947" cy="795338"/>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1pPr>
            <a:lvl2pPr marL="914400" marR="0" lvl="1"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2pPr>
            <a:lvl3pPr marL="1371600" marR="0" lvl="2"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3pPr>
            <a:lvl4pPr marL="1828800" marR="0" lvl="3"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4pPr>
            <a:lvl5pPr marL="2286000" marR="0" lvl="4" indent="-228600" algn="ctr" rtl="0">
              <a:lnSpc>
                <a:spcPct val="90000"/>
              </a:lnSpc>
              <a:spcBef>
                <a:spcPts val="500"/>
              </a:spcBef>
              <a:spcAft>
                <a:spcPts val="0"/>
              </a:spcAft>
              <a:buClr>
                <a:srgbClr val="171616"/>
              </a:buClr>
              <a:buSzPts val="2000"/>
              <a:buFont typeface="Arial"/>
              <a:buNone/>
              <a:defRPr sz="2000" b="0" i="0" u="none" strike="noStrike" cap="none">
                <a:solidFill>
                  <a:srgbClr val="171616"/>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Alg I_Getting Started">
  <p:cSld name="1_Alg I_Getting Started">
    <p:bg>
      <p:bgPr>
        <a:solidFill>
          <a:schemeClr val="lt1"/>
        </a:solidFill>
        <a:effectLst/>
      </p:bgPr>
    </p:bg>
    <p:spTree>
      <p:nvGrpSpPr>
        <p:cNvPr id="1" name="Shape 53"/>
        <p:cNvGrpSpPr/>
        <p:nvPr/>
      </p:nvGrpSpPr>
      <p:grpSpPr>
        <a:xfrm>
          <a:off x="0" y="0"/>
          <a:ext cx="0" cy="0"/>
          <a:chOff x="0" y="0"/>
          <a:chExt cx="0" cy="0"/>
        </a:xfrm>
      </p:grpSpPr>
      <p:pic>
        <p:nvPicPr>
          <p:cNvPr id="54" name="Google Shape;54;p77" descr="A green and black pattern&#10;&#10;AI-generated content may be incorrect."/>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2316529"/>
            <a:ext cx="12190415" cy="2682142"/>
          </a:xfrm>
          <a:prstGeom prst="rect">
            <a:avLst/>
          </a:prstGeom>
          <a:noFill/>
          <a:ln>
            <a:noFill/>
          </a:ln>
        </p:spPr>
      </p:pic>
      <p:sp>
        <p:nvSpPr>
          <p:cNvPr id="55" name="Google Shape;55;p77" descr="A green and black pattern&#10;&#10;AI-generated content may be incorrect."/>
          <p:cNvSpPr txBox="1"/>
          <p:nvPr/>
        </p:nvSpPr>
        <p:spPr>
          <a:xfrm>
            <a:off x="3866323" y="2984501"/>
            <a:ext cx="4432852" cy="1143000"/>
          </a:xfrm>
          <a:prstGeom prst="rect">
            <a:avLst/>
          </a:prstGeom>
          <a:solidFill>
            <a:srgbClr val="2B8147"/>
          </a:solidFill>
          <a:ln>
            <a:noFill/>
          </a:ln>
        </p:spPr>
        <p:txBody>
          <a:bodyPr spcFirstLastPara="1" wrap="square" lIns="0" tIns="0" rIns="0" bIns="0" anchor="b" anchorCtr="0">
            <a:noAutofit/>
          </a:bodyPr>
          <a:lstStyle/>
          <a:p>
            <a:pPr marL="0" marR="0" lvl="0" indent="0" algn="ctr" rtl="0">
              <a:lnSpc>
                <a:spcPct val="80000"/>
              </a:lnSpc>
              <a:spcBef>
                <a:spcPts val="0"/>
              </a:spcBef>
              <a:spcAft>
                <a:spcPts val="0"/>
              </a:spcAft>
              <a:buNone/>
            </a:pPr>
            <a:r>
              <a:rPr lang="en-US" sz="7500" b="1">
                <a:solidFill>
                  <a:schemeClr val="lt1"/>
                </a:solidFill>
                <a:latin typeface="Calibri"/>
                <a:ea typeface="Calibri"/>
                <a:cs typeface="Calibri"/>
                <a:sym typeface="Calibri"/>
              </a:rPr>
              <a:t>Prepare</a:t>
            </a:r>
            <a:endParaRPr sz="7500" b="1">
              <a:solidFill>
                <a:schemeClr val="lt1"/>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9_G2 Copyright">
  <p:cSld name="9_G2 Copyright">
    <p:bg>
      <p:bgPr>
        <a:solidFill>
          <a:schemeClr val="lt1"/>
        </a:solidFill>
        <a:effectLst/>
      </p:bgPr>
    </p:bg>
    <p:spTree>
      <p:nvGrpSpPr>
        <p:cNvPr id="1" name="Shape 56"/>
        <p:cNvGrpSpPr/>
        <p:nvPr/>
      </p:nvGrpSpPr>
      <p:grpSpPr>
        <a:xfrm>
          <a:off x="0" y="0"/>
          <a:ext cx="0" cy="0"/>
          <a:chOff x="0" y="0"/>
          <a:chExt cx="0" cy="0"/>
        </a:xfrm>
      </p:grpSpPr>
      <p:pic>
        <p:nvPicPr>
          <p:cNvPr id="57" name="Google Shape;57;p78" descr="A pattern with circles and lines&#10;&#10;AI-generated content may be incorrect."/>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932192"/>
            <a:ext cx="12190413" cy="5925808"/>
          </a:xfrm>
          <a:prstGeom prst="rect">
            <a:avLst/>
          </a:prstGeom>
          <a:noFill/>
          <a:ln>
            <a:noFill/>
          </a:ln>
        </p:spPr>
      </p:pic>
      <p:sp>
        <p:nvSpPr>
          <p:cNvPr id="58" name="Google Shape;58;p78"/>
          <p:cNvSpPr/>
          <p:nvPr/>
        </p:nvSpPr>
        <p:spPr>
          <a:xfrm>
            <a:off x="1668545" y="2356700"/>
            <a:ext cx="1715678" cy="2648931"/>
          </a:xfrm>
          <a:prstGeom prst="ellipse">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 name="Google Shape;59;p78"/>
          <p:cNvSpPr/>
          <p:nvPr/>
        </p:nvSpPr>
        <p:spPr>
          <a:xfrm>
            <a:off x="1310326" y="4873659"/>
            <a:ext cx="2073897" cy="679000"/>
          </a:xfrm>
          <a:prstGeom prst="rect">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 name="Google Shape;60;p78"/>
          <p:cNvSpPr txBox="1"/>
          <p:nvPr/>
        </p:nvSpPr>
        <p:spPr>
          <a:xfrm>
            <a:off x="1023907" y="1792363"/>
            <a:ext cx="10141011" cy="4247317"/>
          </a:xfrm>
          <a:prstGeom prst="rect">
            <a:avLst/>
          </a:prstGeom>
          <a:solidFill>
            <a:schemeClr val="lt1"/>
          </a:solidFill>
          <a:ln w="38100"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00000"/>
                </a:solidFill>
                <a:latin typeface="Calibri"/>
                <a:ea typeface="Calibri"/>
                <a:cs typeface="Calibri"/>
                <a:sym typeface="Calibri"/>
              </a:rPr>
              <a:t>Acknowledgment</a:t>
            </a:r>
            <a:endParaRPr/>
          </a:p>
          <a:p>
            <a:pPr marL="0" marR="0" lvl="0" indent="0" algn="l" rtl="0">
              <a:spcBef>
                <a:spcPts val="0"/>
              </a:spcBef>
              <a:spcAft>
                <a:spcPts val="0"/>
              </a:spcAft>
              <a:buNone/>
            </a:pPr>
            <a:r>
              <a:rPr lang="en-US" sz="1800">
                <a:solidFill>
                  <a:srgbClr val="000000"/>
                </a:solidFill>
                <a:latin typeface="Calibri"/>
                <a:ea typeface="Calibri"/>
                <a:cs typeface="Calibri"/>
                <a:sym typeface="Calibri"/>
              </a:rPr>
              <a:t>Thank you to all the Texas educators and stakeholders who supported the review process and provided feedback. These materials are the result of the work of numerous individuals, and we are deeply grateful for their contributions.</a:t>
            </a:r>
            <a:endParaRPr sz="1800">
              <a:solidFill>
                <a:srgbClr val="000000"/>
              </a:solidFill>
              <a:latin typeface="Calibri"/>
              <a:ea typeface="Calibri"/>
              <a:cs typeface="Calibri"/>
              <a:sym typeface="Calibri"/>
            </a:endParaRPr>
          </a:p>
          <a:p>
            <a:pPr marL="0" marR="0" lvl="0" indent="0" algn="l" rtl="0">
              <a:spcBef>
                <a:spcPts val="0"/>
              </a:spcBef>
              <a:spcAft>
                <a:spcPts val="0"/>
              </a:spcAft>
              <a:buNone/>
            </a:pPr>
            <a:endParaRPr sz="1800">
              <a:solidFill>
                <a:srgbClr val="000000"/>
              </a:solidFill>
              <a:latin typeface="Calibri"/>
              <a:ea typeface="Calibri"/>
              <a:cs typeface="Calibri"/>
              <a:sym typeface="Calibri"/>
            </a:endParaRPr>
          </a:p>
          <a:p>
            <a:pPr marL="0" marR="0" lvl="0" indent="0" algn="l" rtl="0">
              <a:spcBef>
                <a:spcPts val="0"/>
              </a:spcBef>
              <a:spcAft>
                <a:spcPts val="0"/>
              </a:spcAft>
              <a:buNone/>
            </a:pPr>
            <a:r>
              <a:rPr lang="en-US" sz="1800" b="1">
                <a:solidFill>
                  <a:srgbClr val="000000"/>
                </a:solidFill>
                <a:latin typeface="Calibri"/>
                <a:ea typeface="Calibri"/>
                <a:cs typeface="Calibri"/>
                <a:sym typeface="Calibri"/>
              </a:rPr>
              <a:t>Notice</a:t>
            </a:r>
            <a:endParaRPr sz="1800" b="1">
              <a:solidFill>
                <a:srgbClr val="000000"/>
              </a:solidFill>
              <a:latin typeface="Calibri"/>
              <a:ea typeface="Calibri"/>
              <a:cs typeface="Calibri"/>
              <a:sym typeface="Calibri"/>
            </a:endParaRPr>
          </a:p>
          <a:p>
            <a:pPr marL="0" marR="0" lvl="0" indent="0" algn="l" rtl="0">
              <a:spcBef>
                <a:spcPts val="0"/>
              </a:spcBef>
              <a:spcAft>
                <a:spcPts val="0"/>
              </a:spcAft>
              <a:buNone/>
            </a:pPr>
            <a:r>
              <a:rPr lang="en-US" sz="1800">
                <a:solidFill>
                  <a:srgbClr val="000000"/>
                </a:solidFill>
                <a:latin typeface="Calibri"/>
                <a:ea typeface="Calibri"/>
                <a:cs typeface="Calibri"/>
                <a:sym typeface="Calibri"/>
              </a:rPr>
              <a:t>These learning resources have been built for Texas students, aligned to the Texas Essential Knowledge and Skills, and are made available pursuant to Chapter 31, Subchapter B-1 of the Texas Education Code.</a:t>
            </a:r>
            <a:endParaRPr sz="1800">
              <a:solidFill>
                <a:srgbClr val="000000"/>
              </a:solidFill>
              <a:latin typeface="Calibri"/>
              <a:ea typeface="Calibri"/>
              <a:cs typeface="Calibri"/>
              <a:sym typeface="Calibri"/>
            </a:endParaRPr>
          </a:p>
          <a:p>
            <a:pPr marL="0" marR="0" lvl="0" indent="0" algn="l" rtl="0">
              <a:spcBef>
                <a:spcPts val="0"/>
              </a:spcBef>
              <a:spcAft>
                <a:spcPts val="0"/>
              </a:spcAft>
              <a:buNone/>
            </a:pPr>
            <a:r>
              <a:rPr lang="en-US" sz="1800">
                <a:solidFill>
                  <a:srgbClr val="000000"/>
                </a:solidFill>
                <a:latin typeface="Calibri"/>
                <a:ea typeface="Calibri"/>
                <a:cs typeface="Calibri"/>
                <a:sym typeface="Calibri"/>
              </a:rPr>
              <a:t>If you have further questions or to report an error, please email </a:t>
            </a:r>
            <a:r>
              <a:rPr lang="en-US" sz="1800" u="sng">
                <a:solidFill>
                  <a:srgbClr val="000000"/>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openeducationresources@tea.texas.gov</a:t>
            </a:r>
            <a:r>
              <a:rPr lang="en-US" sz="1800">
                <a:solidFill>
                  <a:srgbClr val="000000"/>
                </a:solidFill>
                <a:latin typeface="Calibri"/>
                <a:ea typeface="Calibri"/>
                <a:cs typeface="Calibri"/>
                <a:sym typeface="Calibri"/>
              </a:rPr>
              <a:t>.</a:t>
            </a:r>
            <a:endParaRPr/>
          </a:p>
          <a:p>
            <a:pPr marL="0" marR="0" lvl="0" indent="0" algn="l" rtl="0">
              <a:spcBef>
                <a:spcPts val="0"/>
              </a:spcBef>
              <a:spcAft>
                <a:spcPts val="0"/>
              </a:spcAft>
              <a:buNone/>
            </a:pPr>
            <a:endParaRPr sz="1800">
              <a:solidFill>
                <a:srgbClr val="000000"/>
              </a:solidFill>
              <a:latin typeface="Calibri"/>
              <a:ea typeface="Calibri"/>
              <a:cs typeface="Calibri"/>
              <a:sym typeface="Calibri"/>
            </a:endParaRPr>
          </a:p>
          <a:p>
            <a:pPr marL="0" marR="0" lvl="0" indent="0" algn="l" rtl="0">
              <a:spcBef>
                <a:spcPts val="0"/>
              </a:spcBef>
              <a:spcAft>
                <a:spcPts val="0"/>
              </a:spcAft>
              <a:buNone/>
            </a:pPr>
            <a:r>
              <a:rPr lang="en-US" sz="1800">
                <a:solidFill>
                  <a:srgbClr val="000000"/>
                </a:solidFill>
                <a:latin typeface="Calibri"/>
                <a:ea typeface="Calibri"/>
                <a:cs typeface="Calibri"/>
                <a:sym typeface="Calibri"/>
              </a:rPr>
              <a:t>©2024-2025 Texas Education Agency. Portions of this work are adapted, with permission, from the originals created by and copyright ©2021 Carnegie Learning, Inc. </a:t>
            </a:r>
            <a:endParaRPr/>
          </a:p>
          <a:p>
            <a:pPr marL="0" marR="0" lvl="0" indent="0" algn="l" rtl="0">
              <a:spcBef>
                <a:spcPts val="0"/>
              </a:spcBef>
              <a:spcAft>
                <a:spcPts val="0"/>
              </a:spcAft>
              <a:buNone/>
            </a:pPr>
            <a:endParaRPr sz="1800">
              <a:solidFill>
                <a:srgbClr val="000000"/>
              </a:solidFill>
              <a:latin typeface="Calibri"/>
              <a:ea typeface="Calibri"/>
              <a:cs typeface="Calibri"/>
              <a:sym typeface="Calibri"/>
            </a:endParaRPr>
          </a:p>
          <a:p>
            <a:pPr marL="0" marR="0" lvl="0" indent="0" algn="l" rtl="0">
              <a:spcBef>
                <a:spcPts val="0"/>
              </a:spcBef>
              <a:spcAft>
                <a:spcPts val="0"/>
              </a:spcAft>
              <a:buNone/>
            </a:pPr>
            <a:r>
              <a:rPr lang="en-US" sz="1800">
                <a:solidFill>
                  <a:srgbClr val="000000"/>
                </a:solidFill>
                <a:latin typeface="Calibri"/>
                <a:ea typeface="Calibri"/>
                <a:cs typeface="Calibri"/>
                <a:sym typeface="Calibri"/>
              </a:rPr>
              <a:t>This work is licensed under a Creative Commons Attribution-Non-Commercial-4.0 International License. For information, visit: </a:t>
            </a:r>
            <a:r>
              <a:rPr lang="en-US" sz="1800" u="sng">
                <a:solidFill>
                  <a:srgbClr val="000000"/>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https://creativecommons.org/licenses/by-nc/4.0</a:t>
            </a:r>
            <a:r>
              <a:rPr lang="en-US" sz="1800">
                <a:solidFill>
                  <a:srgbClr val="000000"/>
                </a:solidFill>
                <a:latin typeface="Calibri"/>
                <a:ea typeface="Calibri"/>
                <a:cs typeface="Calibri"/>
                <a:sym typeface="Calibri"/>
              </a:rPr>
              <a:t>. </a:t>
            </a:r>
            <a:endParaRPr/>
          </a:p>
        </p:txBody>
      </p:sp>
      <p:pic>
        <p:nvPicPr>
          <p:cNvPr id="61" name="Google Shape;61;p78" descr="A blue and black logo&#10;&#10;AI-generated content may be incorrect."/>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84963" y="101527"/>
            <a:ext cx="2080268" cy="682524"/>
          </a:xfrm>
          <a:prstGeom prst="rect">
            <a:avLst/>
          </a:prstGeom>
          <a:noFill/>
          <a:ln>
            <a:noFill/>
          </a:ln>
        </p:spPr>
      </p:pic>
      <p:sp>
        <p:nvSpPr>
          <p:cNvPr id="62" name="Google Shape;62;p78"/>
          <p:cNvSpPr txBox="1"/>
          <p:nvPr/>
        </p:nvSpPr>
        <p:spPr>
          <a:xfrm>
            <a:off x="862304" y="692389"/>
            <a:ext cx="1643271" cy="267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a:solidFill>
                  <a:srgbClr val="000000"/>
                </a:solidFill>
                <a:latin typeface="Calibri"/>
                <a:ea typeface="Calibri"/>
                <a:cs typeface="Calibri"/>
                <a:sym typeface="Calibri"/>
              </a:rPr>
              <a:t>Secondary Mathematics</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Alg I_Back Cover">
  <p:cSld name="Alg I_Back Cover">
    <p:bg>
      <p:bgPr>
        <a:solidFill>
          <a:schemeClr val="lt1"/>
        </a:solidFill>
        <a:effectLst/>
      </p:bgPr>
    </p:bg>
    <p:spTree>
      <p:nvGrpSpPr>
        <p:cNvPr id="1" name="Shape 63"/>
        <p:cNvGrpSpPr/>
        <p:nvPr/>
      </p:nvGrpSpPr>
      <p:grpSpPr>
        <a:xfrm>
          <a:off x="0" y="0"/>
          <a:ext cx="0" cy="0"/>
          <a:chOff x="0" y="0"/>
          <a:chExt cx="0" cy="0"/>
        </a:xfrm>
      </p:grpSpPr>
      <p:pic>
        <p:nvPicPr>
          <p:cNvPr id="64" name="Google Shape;64;p79"/>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4663225"/>
            <a:ext cx="12190413" cy="2194775"/>
          </a:xfrm>
          <a:prstGeom prst="rect">
            <a:avLst/>
          </a:prstGeom>
          <a:noFill/>
          <a:ln>
            <a:noFill/>
          </a:ln>
        </p:spPr>
      </p:pic>
      <p:sp>
        <p:nvSpPr>
          <p:cNvPr id="65" name="Google Shape;65;p79"/>
          <p:cNvSpPr txBox="1">
            <a:spLocks noGrp="1"/>
          </p:cNvSpPr>
          <p:nvPr>
            <p:ph type="body" idx="1"/>
          </p:nvPr>
        </p:nvSpPr>
        <p:spPr>
          <a:xfrm>
            <a:off x="8155889" y="4975063"/>
            <a:ext cx="3431356" cy="414778"/>
          </a:xfrm>
          <a:prstGeom prst="rect">
            <a:avLst/>
          </a:prstGeom>
          <a:solidFill>
            <a:srgbClr val="2B8147"/>
          </a:solidFill>
          <a:ln>
            <a:noFill/>
          </a:ln>
        </p:spPr>
        <p:txBody>
          <a:bodyPr spcFirstLastPara="1" wrap="square" lIns="0" tIns="45700" rIns="0" bIns="45700" anchor="ctr" anchorCtr="0">
            <a:noAutofit/>
          </a:bodyPr>
          <a:lstStyle>
            <a:lvl1pPr marL="457200" marR="0" lvl="0" indent="-228600" algn="ctr" rtl="0">
              <a:lnSpc>
                <a:spcPct val="90000"/>
              </a:lnSpc>
              <a:spcBef>
                <a:spcPts val="1000"/>
              </a:spcBef>
              <a:spcAft>
                <a:spcPts val="0"/>
              </a:spcAft>
              <a:buClr>
                <a:schemeClr val="lt1"/>
              </a:buClr>
              <a:buSzPts val="1800"/>
              <a:buFont typeface="Arial"/>
              <a:buNone/>
              <a:defRPr sz="1800" b="0" i="0" u="none" strike="noStrike" cap="none">
                <a:solidFill>
                  <a:schemeClr val="lt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grpSp>
        <p:nvGrpSpPr>
          <p:cNvPr id="66" name="Google Shape;66;p79"/>
          <p:cNvGrpSpPr/>
          <p:nvPr/>
        </p:nvGrpSpPr>
        <p:grpSpPr>
          <a:xfrm>
            <a:off x="9053008" y="227306"/>
            <a:ext cx="2910578" cy="1472169"/>
            <a:chOff x="8940726" y="132485"/>
            <a:chExt cx="2910578" cy="1472169"/>
          </a:xfrm>
        </p:grpSpPr>
        <p:pic>
          <p:nvPicPr>
            <p:cNvPr id="67" name="Google Shape;67;p79" descr="A blue and black logo&#10;&#10;AI-generated content may be incorrect."/>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8940726" y="132485"/>
              <a:ext cx="2910578" cy="954944"/>
            </a:xfrm>
            <a:prstGeom prst="rect">
              <a:avLst/>
            </a:prstGeom>
            <a:noFill/>
            <a:ln>
              <a:noFill/>
            </a:ln>
          </p:spPr>
        </p:pic>
        <p:sp>
          <p:nvSpPr>
            <p:cNvPr id="68" name="Google Shape;68;p79"/>
            <p:cNvSpPr txBox="1"/>
            <p:nvPr/>
          </p:nvSpPr>
          <p:spPr>
            <a:xfrm>
              <a:off x="10111407" y="1007699"/>
              <a:ext cx="1643271" cy="267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a:solidFill>
                    <a:srgbClr val="000000"/>
                  </a:solidFill>
                  <a:latin typeface="Calibri"/>
                  <a:ea typeface="Calibri"/>
                  <a:cs typeface="Calibri"/>
                  <a:sym typeface="Calibri"/>
                </a:rPr>
                <a:t>Secondary Mathematics</a:t>
              </a:r>
              <a:endParaRPr/>
            </a:p>
          </p:txBody>
        </p:sp>
        <p:sp>
          <p:nvSpPr>
            <p:cNvPr id="69" name="Google Shape;69;p79"/>
            <p:cNvSpPr/>
            <p:nvPr/>
          </p:nvSpPr>
          <p:spPr>
            <a:xfrm>
              <a:off x="10236991" y="1306046"/>
              <a:ext cx="907774" cy="298608"/>
            </a:xfrm>
            <a:prstGeom prst="roundRect">
              <a:avLst>
                <a:gd name="adj" fmla="val 16667"/>
              </a:avLst>
            </a:prstGeom>
            <a:solidFill>
              <a:srgbClr val="D0CE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0" name="Google Shape;70;p79"/>
            <p:cNvSpPr txBox="1"/>
            <p:nvPr/>
          </p:nvSpPr>
          <p:spPr>
            <a:xfrm>
              <a:off x="10252484" y="1335768"/>
              <a:ext cx="868018" cy="2378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100" b="1" i="0">
                  <a:solidFill>
                    <a:srgbClr val="757070"/>
                  </a:solidFill>
                  <a:latin typeface="Calibri"/>
                  <a:ea typeface="Calibri"/>
                  <a:cs typeface="Calibri"/>
                  <a:sym typeface="Calibri"/>
                </a:rPr>
                <a:t>EDITION 1</a:t>
              </a:r>
              <a:endParaRPr/>
            </a:p>
          </p:txBody>
        </p:sp>
      </p:grpSp>
      <p:sp>
        <p:nvSpPr>
          <p:cNvPr id="71" name="Google Shape;71;p79"/>
          <p:cNvSpPr/>
          <p:nvPr/>
        </p:nvSpPr>
        <p:spPr>
          <a:xfrm rot="10800000" flipH="1">
            <a:off x="0" y="0"/>
            <a:ext cx="2467555" cy="954942"/>
          </a:xfrm>
          <a:prstGeom prst="round1Rect">
            <a:avLst>
              <a:gd name="adj" fmla="val 16667"/>
            </a:avLst>
          </a:prstGeom>
          <a:solidFill>
            <a:srgbClr val="2B81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2" name="Google Shape;72;p79"/>
          <p:cNvSpPr txBox="1"/>
          <p:nvPr/>
        </p:nvSpPr>
        <p:spPr>
          <a:xfrm>
            <a:off x="0" y="280732"/>
            <a:ext cx="2467555"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ENGLISH</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Alg I_Cutouts Divider">
  <p:cSld name="Alg I_Cutouts Divider">
    <p:bg>
      <p:bgPr>
        <a:solidFill>
          <a:schemeClr val="lt1"/>
        </a:solidFill>
        <a:effectLst/>
      </p:bgPr>
    </p:bg>
    <p:spTree>
      <p:nvGrpSpPr>
        <p:cNvPr id="1" name="Shape 73"/>
        <p:cNvGrpSpPr/>
        <p:nvPr/>
      </p:nvGrpSpPr>
      <p:grpSpPr>
        <a:xfrm>
          <a:off x="0" y="0"/>
          <a:ext cx="0" cy="0"/>
          <a:chOff x="0" y="0"/>
          <a:chExt cx="0" cy="0"/>
        </a:xfrm>
      </p:grpSpPr>
      <p:sp>
        <p:nvSpPr>
          <p:cNvPr id="74" name="Google Shape;74;p80"/>
          <p:cNvSpPr txBox="1">
            <a:spLocks noGrp="1"/>
          </p:cNvSpPr>
          <p:nvPr>
            <p:ph type="body" idx="1"/>
          </p:nvPr>
        </p:nvSpPr>
        <p:spPr>
          <a:xfrm>
            <a:off x="5171005" y="2395538"/>
            <a:ext cx="1848402" cy="1033462"/>
          </a:xfrm>
          <a:prstGeom prst="rect">
            <a:avLst/>
          </a:prstGeom>
          <a:noFill/>
          <a:ln>
            <a:noFill/>
          </a:ln>
        </p:spPr>
        <p:txBody>
          <a:bodyPr spcFirstLastPara="1" wrap="square" lIns="91425" tIns="45700" rIns="91425" bIns="45700" anchor="t" anchorCtr="0">
            <a:noAutofit/>
          </a:bodyPr>
          <a:lstStyle>
            <a:lvl1pPr marL="457200" marR="0" lvl="0" indent="-704850" algn="l" rtl="0">
              <a:lnSpc>
                <a:spcPct val="90000"/>
              </a:lnSpc>
              <a:spcBef>
                <a:spcPts val="10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1pPr>
            <a:lvl2pPr marL="914400" marR="0" lvl="1"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2pPr>
            <a:lvl3pPr marL="1371600" marR="0" lvl="2"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3pPr>
            <a:lvl4pPr marL="1828800" marR="0" lvl="3"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4pPr>
            <a:lvl5pPr marL="2286000" marR="0" lvl="4" indent="-704850" algn="l" rtl="0">
              <a:lnSpc>
                <a:spcPct val="90000"/>
              </a:lnSpc>
              <a:spcBef>
                <a:spcPts val="500"/>
              </a:spcBef>
              <a:spcAft>
                <a:spcPts val="0"/>
              </a:spcAft>
              <a:buClr>
                <a:srgbClr val="3A3838"/>
              </a:buClr>
              <a:buSzPts val="7500"/>
              <a:buFont typeface="Arial"/>
              <a:buChar char="•"/>
              <a:defRPr sz="7500" b="1" i="0" u="none" strike="noStrike" cap="none">
                <a:solidFill>
                  <a:srgbClr val="3A3838"/>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75" name="Google Shape;75;p80"/>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 y="4663225"/>
            <a:ext cx="12190413" cy="21947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Application Problem Text">
  <p:cSld name="Application Problem Text">
    <p:spTree>
      <p:nvGrpSpPr>
        <p:cNvPr id="1" name="Shape 76"/>
        <p:cNvGrpSpPr/>
        <p:nvPr/>
      </p:nvGrpSpPr>
      <p:grpSpPr>
        <a:xfrm>
          <a:off x="0" y="0"/>
          <a:ext cx="0" cy="0"/>
          <a:chOff x="0" y="0"/>
          <a:chExt cx="0" cy="0"/>
        </a:xfrm>
      </p:grpSpPr>
      <p:pic>
        <p:nvPicPr>
          <p:cNvPr id="77" name="Google Shape;77;p81"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78" name="Google Shape;78;p81"/>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Arial"/>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9" name="Google Shape;79;p81"/>
          <p:cNvSpPr txBox="1">
            <a:spLocks noGrp="1"/>
          </p:cNvSpPr>
          <p:nvPr>
            <p:ph type="body" idx="2"/>
          </p:nvPr>
        </p:nvSpPr>
        <p:spPr>
          <a:xfrm>
            <a:off x="11127476" y="6036181"/>
            <a:ext cx="654216"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0" name="Google Shape;80;p81"/>
          <p:cNvSpPr txBox="1">
            <a:spLocks noGrp="1"/>
          </p:cNvSpPr>
          <p:nvPr>
            <p:ph type="title"/>
          </p:nvPr>
        </p:nvSpPr>
        <p:spPr>
          <a:xfrm>
            <a:off x="777240" y="0"/>
            <a:ext cx="11389135" cy="1253765"/>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81" name="Google Shape;81;p81"/>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RDW_Horizontal">
  <p:cSld name="1_RDW_Horizontal">
    <p:spTree>
      <p:nvGrpSpPr>
        <p:cNvPr id="1" name="Shape 82"/>
        <p:cNvGrpSpPr/>
        <p:nvPr/>
      </p:nvGrpSpPr>
      <p:grpSpPr>
        <a:xfrm>
          <a:off x="0" y="0"/>
          <a:ext cx="0" cy="0"/>
          <a:chOff x="0" y="0"/>
          <a:chExt cx="0" cy="0"/>
        </a:xfrm>
      </p:grpSpPr>
      <p:graphicFrame>
        <p:nvGraphicFramePr>
          <p:cNvPr id="83" name="Google Shape;83;p82"/>
          <p:cNvGraphicFramePr/>
          <p:nvPr/>
        </p:nvGraphicFramePr>
        <p:xfrm>
          <a:off x="775252" y="3783769"/>
          <a:ext cx="3000000" cy="3000000"/>
        </p:xfrm>
        <a:graphic>
          <a:graphicData uri="http://schemas.openxmlformats.org/drawingml/2006/table">
            <a:tbl>
              <a:tblPr>
                <a:noFill/>
                <a:tableStyleId>{A49AC34E-657E-4A3B-9C05-DC8BE6C80247}</a:tableStyleId>
              </a:tblPr>
              <a:tblGrid>
                <a:gridCol w="3694050">
                  <a:extLst>
                    <a:ext uri="{9D8B030D-6E8A-4147-A177-3AD203B41FA5}">
                      <a16:colId xmlns:a16="http://schemas.microsoft.com/office/drawing/2014/main" val="20000"/>
                    </a:ext>
                  </a:extLst>
                </a:gridCol>
                <a:gridCol w="3694050">
                  <a:extLst>
                    <a:ext uri="{9D8B030D-6E8A-4147-A177-3AD203B41FA5}">
                      <a16:colId xmlns:a16="http://schemas.microsoft.com/office/drawing/2014/main" val="20001"/>
                    </a:ext>
                  </a:extLst>
                </a:gridCol>
                <a:gridCol w="3694050">
                  <a:extLst>
                    <a:ext uri="{9D8B030D-6E8A-4147-A177-3AD203B41FA5}">
                      <a16:colId xmlns:a16="http://schemas.microsoft.com/office/drawing/2014/main" val="20002"/>
                    </a:ext>
                  </a:extLst>
                </a:gridCol>
              </a:tblGrid>
              <a:tr h="244000">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solidFill>
                            <a:srgbClr val="3A3838"/>
                          </a:solidFill>
                        </a:rPr>
                        <a:t>Read</a:t>
                      </a:r>
                      <a:endParaRPr sz="1800" b="1" u="none" strike="noStrike" cap="none">
                        <a:solidFill>
                          <a:srgbClr val="3A3838"/>
                        </a:solidFill>
                      </a:endParaRPr>
                    </a:p>
                  </a:txBody>
                  <a:tcPr marL="91450" marR="91450" marT="45725" marB="45725">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solidFill>
                            <a:srgbClr val="3A3838"/>
                          </a:solidFill>
                        </a:rPr>
                        <a:t>Draw</a:t>
                      </a:r>
                      <a:endParaRPr sz="1800" b="1" u="none" strike="noStrike" cap="none">
                        <a:solidFill>
                          <a:srgbClr val="3A3838"/>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400"/>
                        <a:buFont typeface="Arial"/>
                        <a:buNone/>
                      </a:pPr>
                      <a:r>
                        <a:rPr lang="en-US" sz="2400" b="1" u="none" strike="noStrike" cap="none">
                          <a:solidFill>
                            <a:srgbClr val="3A3838"/>
                          </a:solidFill>
                        </a:rPr>
                        <a:t>Write</a:t>
                      </a:r>
                      <a:endParaRPr sz="1800" b="1" u="none" strike="noStrike" cap="none">
                        <a:solidFill>
                          <a:srgbClr val="3A3838"/>
                        </a:solidFill>
                      </a:endParaRPr>
                    </a:p>
                  </a:txBody>
                  <a:tcPr marL="91450" marR="91450" marT="45725" marB="45725">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2430900">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84" name="Google Shape;84;p82"/>
          <p:cNvSpPr txBox="1">
            <a:spLocks noGrp="1"/>
          </p:cNvSpPr>
          <p:nvPr>
            <p:ph type="body" idx="1"/>
          </p:nvPr>
        </p:nvSpPr>
        <p:spPr>
          <a:xfrm>
            <a:off x="765313" y="1479938"/>
            <a:ext cx="11060341" cy="207215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3A3838"/>
              </a:buClr>
              <a:buSzPts val="2200"/>
              <a:buFont typeface="Arial"/>
              <a:buNone/>
              <a:defRPr sz="2200" b="0" i="0" u="none" strike="noStrike" cap="none">
                <a:solidFill>
                  <a:srgbClr val="3A3838"/>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5" name="Google Shape;85;p82"/>
          <p:cNvSpPr txBox="1">
            <a:spLocks noGrp="1"/>
          </p:cNvSpPr>
          <p:nvPr>
            <p:ph type="title"/>
          </p:nvPr>
        </p:nvSpPr>
        <p:spPr>
          <a:xfrm>
            <a:off x="772211" y="0"/>
            <a:ext cx="11418202"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86" name="Google Shape;86;p82"/>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luency w/Timer">
  <p:cSld name="Fluency w/Timer">
    <p:spTree>
      <p:nvGrpSpPr>
        <p:cNvPr id="1" name="Shape 87"/>
        <p:cNvGrpSpPr/>
        <p:nvPr/>
      </p:nvGrpSpPr>
      <p:grpSpPr>
        <a:xfrm>
          <a:off x="0" y="0"/>
          <a:ext cx="0" cy="0"/>
          <a:chOff x="0" y="0"/>
          <a:chExt cx="0" cy="0"/>
        </a:xfrm>
      </p:grpSpPr>
      <p:pic>
        <p:nvPicPr>
          <p:cNvPr id="88" name="Google Shape;88;p83"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89" name="Google Shape;89;p83"/>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Arial"/>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0" name="Google Shape;90;p83"/>
          <p:cNvSpPr txBox="1">
            <a:spLocks noGrp="1"/>
          </p:cNvSpPr>
          <p:nvPr>
            <p:ph type="body" idx="2"/>
          </p:nvPr>
        </p:nvSpPr>
        <p:spPr>
          <a:xfrm>
            <a:off x="11127476" y="6036181"/>
            <a:ext cx="654216"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1" name="Google Shape;91;p83"/>
          <p:cNvSpPr txBox="1">
            <a:spLocks noGrp="1"/>
          </p:cNvSpPr>
          <p:nvPr>
            <p:ph type="title"/>
          </p:nvPr>
        </p:nvSpPr>
        <p:spPr>
          <a:xfrm>
            <a:off x="777240" y="7968"/>
            <a:ext cx="11413173" cy="12694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3A3838"/>
              </a:buClr>
              <a:buSzPts val="4400"/>
              <a:buFont typeface="Calibri"/>
              <a:buNone/>
              <a:defRPr sz="4400" b="1">
                <a:solidFill>
                  <a:srgbClr val="3A3838"/>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92" name="Google Shape;92;p83"/>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ncept Development">
  <p:cSld name="Concept Development">
    <p:spTree>
      <p:nvGrpSpPr>
        <p:cNvPr id="1" name="Shape 93"/>
        <p:cNvGrpSpPr/>
        <p:nvPr/>
      </p:nvGrpSpPr>
      <p:grpSpPr>
        <a:xfrm>
          <a:off x="0" y="0"/>
          <a:ext cx="0" cy="0"/>
          <a:chOff x="0" y="0"/>
          <a:chExt cx="0" cy="0"/>
        </a:xfrm>
      </p:grpSpPr>
      <p:sp>
        <p:nvSpPr>
          <p:cNvPr id="94" name="Google Shape;94;p8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Noto Sans Symbols"/>
              <a:buNone/>
              <a:defRPr sz="28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5" name="Google Shape;95;p84"/>
          <p:cNvSpPr txBox="1">
            <a:spLocks noGrp="1"/>
          </p:cNvSpPr>
          <p:nvPr>
            <p:ph type="title"/>
          </p:nvPr>
        </p:nvSpPr>
        <p:spPr>
          <a:xfrm>
            <a:off x="777240" y="1"/>
            <a:ext cx="11390313"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96" name="Google Shape;96;p84"/>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cept Development with Timer">
  <p:cSld name="Concept Development with Timer">
    <p:spTree>
      <p:nvGrpSpPr>
        <p:cNvPr id="1" name="Shape 97"/>
        <p:cNvGrpSpPr/>
        <p:nvPr/>
      </p:nvGrpSpPr>
      <p:grpSpPr>
        <a:xfrm>
          <a:off x="0" y="0"/>
          <a:ext cx="0" cy="0"/>
          <a:chOff x="0" y="0"/>
          <a:chExt cx="0" cy="0"/>
        </a:xfrm>
      </p:grpSpPr>
      <p:pic>
        <p:nvPicPr>
          <p:cNvPr id="98" name="Google Shape;98;p85"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99" name="Google Shape;99;p85"/>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Noto Sans Symbols"/>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0" name="Google Shape;100;p85"/>
          <p:cNvSpPr txBox="1">
            <a:spLocks noGrp="1"/>
          </p:cNvSpPr>
          <p:nvPr>
            <p:ph type="body" idx="2"/>
          </p:nvPr>
        </p:nvSpPr>
        <p:spPr>
          <a:xfrm>
            <a:off x="11127570" y="6036181"/>
            <a:ext cx="654121"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1" name="Google Shape;101;p85"/>
          <p:cNvSpPr txBox="1">
            <a:spLocks noGrp="1"/>
          </p:cNvSpPr>
          <p:nvPr>
            <p:ph type="title"/>
          </p:nvPr>
        </p:nvSpPr>
        <p:spPr>
          <a:xfrm>
            <a:off x="777240" y="1"/>
            <a:ext cx="11390313"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102" name="Google Shape;102;p85"/>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roblem Set with Text">
  <p:cSld name="Problem Set with Text">
    <p:spTree>
      <p:nvGrpSpPr>
        <p:cNvPr id="1" name="Shape 103"/>
        <p:cNvGrpSpPr/>
        <p:nvPr/>
      </p:nvGrpSpPr>
      <p:grpSpPr>
        <a:xfrm>
          <a:off x="0" y="0"/>
          <a:ext cx="0" cy="0"/>
          <a:chOff x="0" y="0"/>
          <a:chExt cx="0" cy="0"/>
        </a:xfrm>
      </p:grpSpPr>
      <p:pic>
        <p:nvPicPr>
          <p:cNvPr id="104" name="Google Shape;104;p86"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105" name="Google Shape;105;p86"/>
          <p:cNvSpPr txBox="1">
            <a:spLocks noGrp="1"/>
          </p:cNvSpPr>
          <p:nvPr>
            <p:ph type="body" idx="1"/>
          </p:nvPr>
        </p:nvSpPr>
        <p:spPr>
          <a:xfrm>
            <a:off x="11140001" y="6036181"/>
            <a:ext cx="622969"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6" name="Google Shape;106;p86"/>
          <p:cNvSpPr txBox="1">
            <a:spLocks noGrp="1"/>
          </p:cNvSpPr>
          <p:nvPr>
            <p:ph type="title"/>
          </p:nvPr>
        </p:nvSpPr>
        <p:spPr>
          <a:xfrm>
            <a:off x="777240" y="1"/>
            <a:ext cx="11407898"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7" name="Google Shape;107;p86"/>
          <p:cNvSpPr txBox="1">
            <a:spLocks noGrp="1"/>
          </p:cNvSpPr>
          <p:nvPr>
            <p:ph type="body" idx="2"/>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dk1"/>
              </a:buClr>
              <a:buSzPts val="1800"/>
              <a:buFont typeface="Noto Sans Symbols"/>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108" name="Google Shape;108;p86"/>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tudent Debrief">
  <p:cSld name="Student Debrief">
    <p:spTree>
      <p:nvGrpSpPr>
        <p:cNvPr id="1" name="Shape 109"/>
        <p:cNvGrpSpPr/>
        <p:nvPr/>
      </p:nvGrpSpPr>
      <p:grpSpPr>
        <a:xfrm>
          <a:off x="0" y="0"/>
          <a:ext cx="0" cy="0"/>
          <a:chOff x="0" y="0"/>
          <a:chExt cx="0" cy="0"/>
        </a:xfrm>
      </p:grpSpPr>
      <p:pic>
        <p:nvPicPr>
          <p:cNvPr id="110" name="Google Shape;110;p87"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111" name="Google Shape;111;p87"/>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1000"/>
              </a:spcBef>
              <a:spcAft>
                <a:spcPts val="0"/>
              </a:spcAft>
              <a:buClr>
                <a:schemeClr val="dk1"/>
              </a:buClr>
              <a:buSzPts val="2800"/>
              <a:buFont typeface="Arial"/>
              <a:buChar char="•"/>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10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10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1000"/>
              </a:spcBef>
              <a:spcAft>
                <a:spcPts val="100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2" name="Google Shape;112;p87"/>
          <p:cNvSpPr txBox="1">
            <a:spLocks noGrp="1"/>
          </p:cNvSpPr>
          <p:nvPr>
            <p:ph type="body" idx="2"/>
          </p:nvPr>
        </p:nvSpPr>
        <p:spPr>
          <a:xfrm>
            <a:off x="11127570" y="6036181"/>
            <a:ext cx="645330"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3" name="Google Shape;113;p87"/>
          <p:cNvSpPr txBox="1">
            <a:spLocks noGrp="1"/>
          </p:cNvSpPr>
          <p:nvPr>
            <p:ph type="title"/>
          </p:nvPr>
        </p:nvSpPr>
        <p:spPr>
          <a:xfrm>
            <a:off x="777240" y="1"/>
            <a:ext cx="11390313"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114" name="Google Shape;114;p87"/>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Exit Ticket">
  <p:cSld name="Exit Ticket">
    <p:spTree>
      <p:nvGrpSpPr>
        <p:cNvPr id="1" name="Shape 115"/>
        <p:cNvGrpSpPr/>
        <p:nvPr/>
      </p:nvGrpSpPr>
      <p:grpSpPr>
        <a:xfrm>
          <a:off x="0" y="0"/>
          <a:ext cx="0" cy="0"/>
          <a:chOff x="0" y="0"/>
          <a:chExt cx="0" cy="0"/>
        </a:xfrm>
      </p:grpSpPr>
      <p:pic>
        <p:nvPicPr>
          <p:cNvPr id="116" name="Google Shape;116;p88" descr="A black and white image of a stopwatch&#10;&#10;Description automatically generated"/>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1140002" y="5935775"/>
            <a:ext cx="1191770" cy="771146"/>
          </a:xfrm>
          <a:prstGeom prst="rect">
            <a:avLst/>
          </a:prstGeom>
          <a:noFill/>
          <a:ln>
            <a:noFill/>
          </a:ln>
        </p:spPr>
      </p:pic>
      <p:sp>
        <p:nvSpPr>
          <p:cNvPr id="117" name="Google Shape;117;p88"/>
          <p:cNvSpPr txBox="1">
            <a:spLocks noGrp="1"/>
          </p:cNvSpPr>
          <p:nvPr>
            <p:ph type="body" idx="1"/>
          </p:nvPr>
        </p:nvSpPr>
        <p:spPr>
          <a:xfrm>
            <a:off x="11127571" y="6036181"/>
            <a:ext cx="635400" cy="648543"/>
          </a:xfrm>
          <a:prstGeom prst="rect">
            <a:avLst/>
          </a:prstGeom>
          <a:noFill/>
          <a:ln>
            <a:noFill/>
          </a:ln>
        </p:spPr>
        <p:txBody>
          <a:bodyPr spcFirstLastPara="1" wrap="square" lIns="91425" tIns="45700" rIns="91425" bIns="45700" anchor="ctr" anchorCtr="0">
            <a:normAutofit/>
          </a:bodyPr>
          <a:lstStyle>
            <a:lvl1pPr marL="457200" marR="0" lvl="0" indent="-228600" algn="ctr" rtl="0">
              <a:lnSpc>
                <a:spcPct val="90000"/>
              </a:lnSpc>
              <a:spcBef>
                <a:spcPts val="1000"/>
              </a:spcBef>
              <a:spcAft>
                <a:spcPts val="0"/>
              </a:spcAft>
              <a:buClr>
                <a:schemeClr val="dk1"/>
              </a:buClr>
              <a:buSzPts val="2800"/>
              <a:buFont typeface="Arial"/>
              <a:buNone/>
              <a:defRPr sz="28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8" name="Google Shape;118;p88"/>
          <p:cNvSpPr txBox="1">
            <a:spLocks noGrp="1"/>
          </p:cNvSpPr>
          <p:nvPr>
            <p:ph type="body" idx="2"/>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1000"/>
              </a:spcBef>
              <a:spcAft>
                <a:spcPts val="0"/>
              </a:spcAft>
              <a:buClr>
                <a:schemeClr val="dk1"/>
              </a:buClr>
              <a:buSzPts val="2800"/>
              <a:buFont typeface="Arial"/>
              <a:buNone/>
              <a:defRPr sz="2800" b="0" i="0" u="none" strike="noStrike" cap="none">
                <a:solidFill>
                  <a:srgbClr val="3A3838"/>
                </a:solidFill>
                <a:latin typeface="Calibri"/>
                <a:ea typeface="Calibri"/>
                <a:cs typeface="Calibri"/>
                <a:sym typeface="Calibri"/>
              </a:defRPr>
            </a:lvl1pPr>
            <a:lvl2pPr marL="914400" marR="0" lvl="1" indent="-342900" algn="l" rtl="0">
              <a:lnSpc>
                <a:spcPct val="100000"/>
              </a:lnSpc>
              <a:spcBef>
                <a:spcPts val="10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10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10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1000"/>
              </a:spcBef>
              <a:spcAft>
                <a:spcPts val="100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9" name="Google Shape;119;p88"/>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120" name="Google Shape;120;p88"/>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0" y="0"/>
            <a:ext cx="322983" cy="68580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0.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5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1.xml"/><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31.png"/><Relationship Id="rId4" Type="http://schemas.openxmlformats.org/officeDocument/2006/relationships/image" Target="../media/image28.png"/></Relationships>
</file>

<file path=ppt/slides/_rels/slide5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2.xml"/><Relationship Id="rId1" Type="http://schemas.openxmlformats.org/officeDocument/2006/relationships/slideLayout" Target="../slideLayouts/slideLayout3.xml"/><Relationship Id="rId5" Type="http://schemas.openxmlformats.org/officeDocument/2006/relationships/image" Target="../media/image29.png"/><Relationship Id="rId4" Type="http://schemas.openxmlformats.org/officeDocument/2006/relationships/image" Target="../media/image32.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7.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5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4.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9.xml"/><Relationship Id="rId1" Type="http://schemas.openxmlformats.org/officeDocument/2006/relationships/slideLayout" Target="../slideLayouts/slideLayout3.xml"/><Relationship Id="rId5" Type="http://schemas.openxmlformats.org/officeDocument/2006/relationships/image" Target="../media/image39.png"/><Relationship Id="rId4" Type="http://schemas.openxmlformats.org/officeDocument/2006/relationships/image" Target="../media/image38.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1"/>
          <p:cNvSpPr txBox="1">
            <a:spLocks noGrp="1"/>
          </p:cNvSpPr>
          <p:nvPr>
            <p:ph type="title"/>
          </p:nvPr>
        </p:nvSpPr>
        <p:spPr>
          <a:xfrm>
            <a:off x="-1590" y="1601919"/>
            <a:ext cx="12192003" cy="1827081"/>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236739"/>
              </a:buClr>
              <a:buSzPts val="6000"/>
              <a:buFont typeface="Arial"/>
              <a:buNone/>
            </a:pPr>
            <a:r>
              <a:rPr lang="en-US" sz="6000" b="1" dirty="0">
                <a:solidFill>
                  <a:srgbClr val="236739"/>
                </a:solidFill>
                <a:latin typeface="Calibri"/>
                <a:ea typeface="Calibri"/>
                <a:cs typeface="Calibri"/>
                <a:sym typeface="Calibri"/>
              </a:rPr>
              <a:t>Transforming Linear Functions</a:t>
            </a:r>
            <a:endParaRPr dirty="0"/>
          </a:p>
        </p:txBody>
      </p:sp>
      <p:sp>
        <p:nvSpPr>
          <p:cNvPr id="463" name="Google Shape;463;p1"/>
          <p:cNvSpPr txBox="1">
            <a:spLocks noGrp="1"/>
          </p:cNvSpPr>
          <p:nvPr>
            <p:ph type="body" idx="2"/>
          </p:nvPr>
        </p:nvSpPr>
        <p:spPr>
          <a:xfrm>
            <a:off x="-1590" y="3641189"/>
            <a:ext cx="12190413" cy="822457"/>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236739"/>
              </a:buClr>
              <a:buSzPts val="4400"/>
              <a:buNone/>
            </a:pPr>
            <a:r>
              <a:rPr lang="en-US"/>
              <a:t>Algebra I | Module 2 | Topic 2 | Lesson 1</a:t>
            </a:r>
            <a:endParaRPr/>
          </a:p>
        </p:txBody>
      </p:sp>
      <p:sp>
        <p:nvSpPr>
          <p:cNvPr id="1463" name="Slide Number 1463"/>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a:t>
            </a:fld>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
          <p:cNvSpPr txBox="1">
            <a:spLocks noGrp="1"/>
          </p:cNvSpPr>
          <p:nvPr>
            <p:ph type="title"/>
          </p:nvPr>
        </p:nvSpPr>
        <p:spPr>
          <a:xfrm>
            <a:off x="1587" y="13855"/>
            <a:ext cx="6094413" cy="926757"/>
          </a:xfrm>
          <a:prstGeom prst="rect">
            <a:avLst/>
          </a:prstGeom>
          <a:noFill/>
          <a:ln>
            <a:noFill/>
          </a:ln>
        </p:spPr>
        <p:txBody>
          <a:bodyPr spcFirstLastPara="1" wrap="square" lIns="457200" tIns="45700" rIns="91425" bIns="45700" anchor="ctr" anchorCtr="0">
            <a:noAutofit/>
          </a:bodyPr>
          <a:lstStyle/>
          <a:p>
            <a:pPr marL="0" lvl="0" indent="0" algn="l" rtl="0">
              <a:lnSpc>
                <a:spcPct val="90000"/>
              </a:lnSpc>
              <a:spcBef>
                <a:spcPts val="0"/>
              </a:spcBef>
              <a:spcAft>
                <a:spcPts val="0"/>
              </a:spcAft>
              <a:buClr>
                <a:schemeClr val="lt1"/>
              </a:buClr>
              <a:buSzPts val="4000"/>
              <a:buFont typeface="Calibri"/>
              <a:buNone/>
            </a:pPr>
            <a:r>
              <a:rPr lang="en-US" sz="4000"/>
              <a:t>Objectives</a:t>
            </a:r>
            <a:endParaRPr/>
          </a:p>
        </p:txBody>
      </p:sp>
      <p:sp>
        <p:nvSpPr>
          <p:cNvPr id="3" name="Text Placeholder 2">
            <a:extLst>
              <a:ext uri="{FF2B5EF4-FFF2-40B4-BE49-F238E27FC236}">
                <a16:creationId xmlns:a16="http://schemas.microsoft.com/office/drawing/2014/main" id="{B2EEEC91-34A7-62AC-491B-12E0AC349D8D}"/>
              </a:ext>
            </a:extLst>
          </p:cNvPr>
          <p:cNvSpPr>
            <a:spLocks noGrp="1"/>
          </p:cNvSpPr>
          <p:nvPr>
            <p:ph type="body" idx="1"/>
          </p:nvPr>
        </p:nvSpPr>
        <p:spPr>
          <a:xfrm>
            <a:off x="836615" y="1596189"/>
            <a:ext cx="9831386" cy="4520108"/>
          </a:xfrm>
        </p:spPr>
        <p:txBody>
          <a:bodyPr/>
          <a:lstStyle/>
          <a:p>
            <a:pPr indent="-457200" algn="l">
              <a:buSzPct val="100000"/>
              <a:buFont typeface="Arial" panose="020B0604020202020204" pitchFamily="34" charset="0"/>
              <a:buChar char="•"/>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Determine the effects on the graph of a linear function when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is replaced by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d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or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a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p>
          <a:p>
            <a:pPr indent="-457200" algn="l">
              <a:buSzPct val="100000"/>
              <a:buFont typeface="Arial" panose="020B0604020202020204" pitchFamily="34" charset="0"/>
              <a:buChar char="•"/>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Graph linear function transformations expressed symbolically and show intercepts.</a:t>
            </a:r>
          </a:p>
          <a:p>
            <a:pPr indent="-457200" algn="l">
              <a:buSzPct val="100000"/>
              <a:buFont typeface="Arial" panose="020B0604020202020204" pitchFamily="34" charset="0"/>
              <a:buChar char="•"/>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Identify key characteristics of the graphs of linear functions, such as slope and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y</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-intercept, in terms of quantities from a verbal description.</a:t>
            </a:r>
          </a:p>
          <a:p>
            <a:pPr indent="-457200" algn="l">
              <a:buSzPct val="100000"/>
              <a:buFont typeface="Arial" panose="020B0604020202020204" pitchFamily="34" charset="0"/>
              <a:buChar char="•"/>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Prove that a translated line and its pre-image have the same slope and are, therefore, parallel.</a:t>
            </a:r>
          </a:p>
          <a:p>
            <a:pPr indent="-457200" algn="l">
              <a:buSzPct val="100000"/>
              <a:buFont typeface="Arial" panose="020B0604020202020204" pitchFamily="34" charset="0"/>
              <a:buChar char="•"/>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Write equations of parallel lines.</a:t>
            </a: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
        <p:nvSpPr>
          <p:cNvPr id="1469" name="Slide Number 146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a:t>
            </a:fld>
          </a:p>
        </p:txBody>
      </p:sp>
      <p:sp>
        <p:nvSpPr>
          <p:cNvPr id="1470" name="Answer 147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269</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4"/>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Key Term</a:t>
            </a:r>
            <a:endParaRPr dirty="0"/>
          </a:p>
        </p:txBody>
      </p:sp>
      <p:sp>
        <p:nvSpPr>
          <p:cNvPr id="5" name="Text Placeholder 4">
            <a:extLst>
              <a:ext uri="{FF2B5EF4-FFF2-40B4-BE49-F238E27FC236}">
                <a16:creationId xmlns:a16="http://schemas.microsoft.com/office/drawing/2014/main" id="{DE2FAB43-ED95-9FE3-3D33-4AE3AE7E3CF8}"/>
              </a:ext>
            </a:extLst>
          </p:cNvPr>
          <p:cNvSpPr>
            <a:spLocks noGrp="1"/>
          </p:cNvSpPr>
          <p:nvPr>
            <p:ph type="body" idx="1"/>
          </p:nvPr>
        </p:nvSpPr>
        <p:spPr>
          <a:xfrm>
            <a:off x="777240" y="1559140"/>
            <a:ext cx="10590848" cy="1263192"/>
          </a:xfrm>
        </p:spPr>
        <p:txBody>
          <a:bodyPr/>
          <a:lstStyle/>
          <a:p>
            <a:pPr marL="0" indent="4763">
              <a:spcBef>
                <a:spcPts val="0"/>
              </a:spcBef>
            </a:pPr>
            <a:r>
              <a:rPr lang="en-US" b="1" dirty="0">
                <a:solidFill>
                  <a:srgbClr val="000000"/>
                </a:solidFill>
              </a:rPr>
              <a:t>parent function: </a:t>
            </a:r>
            <a:r>
              <a:rPr lang="en-US" dirty="0"/>
              <a:t>the simplest function of its type </a:t>
            </a:r>
            <a:endParaRPr lang="en-US" b="0" i="0" u="none" dirty="0">
              <a:solidFill>
                <a:srgbClr val="000000"/>
              </a:solidFill>
            </a:endParaRPr>
          </a:p>
        </p:txBody>
      </p:sp>
      <p:sp>
        <p:nvSpPr>
          <p:cNvPr id="6" name="Text Placeholder 4">
            <a:extLst>
              <a:ext uri="{FF2B5EF4-FFF2-40B4-BE49-F238E27FC236}">
                <a16:creationId xmlns:a16="http://schemas.microsoft.com/office/drawing/2014/main" id="{C86FBC3D-4099-8728-62D2-C600D2D19F8B}"/>
              </a:ext>
            </a:extLst>
          </p:cNvPr>
          <p:cNvSpPr txBox="1">
            <a:spLocks/>
          </p:cNvSpPr>
          <p:nvPr/>
        </p:nvSpPr>
        <p:spPr>
          <a:xfrm>
            <a:off x="777240" y="3428999"/>
            <a:ext cx="10590848" cy="123826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rgbClr val="3A3838"/>
              </a:buClr>
              <a:buSzPts val="2800"/>
              <a:buFont typeface="Arial"/>
              <a:buNone/>
              <a:defRPr sz="2800" b="0" i="0" u="none" strike="noStrike" cap="none">
                <a:solidFill>
                  <a:srgbClr val="3A3838"/>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4763">
              <a:spcBef>
                <a:spcPts val="0"/>
              </a:spcBef>
            </a:pPr>
            <a:r>
              <a:rPr lang="en-US" b="1" dirty="0">
                <a:solidFill>
                  <a:srgbClr val="000000"/>
                </a:solidFill>
              </a:rPr>
              <a:t>Example </a:t>
            </a:r>
            <a:endParaRPr lang="en-US" dirty="0"/>
          </a:p>
          <a:p>
            <a:pPr marL="0" indent="4763">
              <a:spcBef>
                <a:spcPts val="0"/>
              </a:spcBef>
            </a:pPr>
            <a:endParaRPr lang="en-US" dirty="0">
              <a:solidFill>
                <a:srgbClr val="000000"/>
              </a:solidFill>
            </a:endParaRPr>
          </a:p>
          <a:p>
            <a:pPr marL="457200" lvl="1" indent="0">
              <a:spcBef>
                <a:spcPts val="0"/>
              </a:spcBef>
              <a:buNone/>
            </a:pPr>
            <a:r>
              <a:rPr lang="en-US" sz="2800" i="1" dirty="0">
                <a:solidFill>
                  <a:srgbClr val="000000"/>
                </a:solidFill>
              </a:rPr>
              <a:t>f</a:t>
            </a:r>
            <a:r>
              <a:rPr lang="en-US" sz="2800" dirty="0">
                <a:solidFill>
                  <a:srgbClr val="000000"/>
                </a:solidFill>
              </a:rPr>
              <a:t>(</a:t>
            </a:r>
            <a:r>
              <a:rPr lang="en-US" sz="2800" i="1" dirty="0">
                <a:solidFill>
                  <a:srgbClr val="000000"/>
                </a:solidFill>
              </a:rPr>
              <a:t>x</a:t>
            </a:r>
            <a:r>
              <a:rPr lang="en-US" sz="2800" dirty="0">
                <a:solidFill>
                  <a:srgbClr val="000000"/>
                </a:solidFill>
              </a:rPr>
              <a:t>) = </a:t>
            </a:r>
            <a:r>
              <a:rPr lang="en-US" sz="2800" i="1" dirty="0">
                <a:solidFill>
                  <a:srgbClr val="000000"/>
                </a:solidFill>
              </a:rPr>
              <a:t>x</a:t>
            </a:r>
            <a:r>
              <a:rPr lang="en-US" sz="2800" dirty="0">
                <a:solidFill>
                  <a:srgbClr val="000000"/>
                </a:solidFill>
              </a:rPr>
              <a:t> is the parent function for the linear function family</a:t>
            </a:r>
          </a:p>
        </p:txBody>
      </p:sp>
      <p:sp>
        <p:nvSpPr>
          <p:cNvPr id="1484" name="Slide Number 148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a:t>
            </a:fld>
          </a:p>
        </p:txBody>
      </p:sp>
      <p:sp>
        <p:nvSpPr>
          <p:cNvPr id="1485" name="Answer 148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272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83">
          <a:extLst>
            <a:ext uri="{FF2B5EF4-FFF2-40B4-BE49-F238E27FC236}">
              <a16:creationId xmlns:a16="http://schemas.microsoft.com/office/drawing/2014/main" id="{A0A105E1-1C81-AFF2-43C5-382D8CB7DB8F}"/>
            </a:ext>
          </a:extLst>
        </p:cNvPr>
        <p:cNvGrpSpPr/>
        <p:nvPr/>
      </p:nvGrpSpPr>
      <p:grpSpPr>
        <a:xfrm>
          <a:off x="0" y="0"/>
          <a:ext cx="0" cy="0"/>
          <a:chOff x="0" y="0"/>
          <a:chExt cx="0" cy="0"/>
        </a:xfrm>
      </p:grpSpPr>
      <p:sp>
        <p:nvSpPr>
          <p:cNvPr id="484" name="Google Shape;484;p4">
            <a:extLst>
              <a:ext uri="{FF2B5EF4-FFF2-40B4-BE49-F238E27FC236}">
                <a16:creationId xmlns:a16="http://schemas.microsoft.com/office/drawing/2014/main" id="{104053DC-5CDF-B0EF-AB81-3DC9F953819F}"/>
              </a:ext>
            </a:extLst>
          </p:cNvPr>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Essential Question </a:t>
            </a:r>
            <a:r>
              <a:rPr lang="en-US" sz="2000" b="1" dirty="0">
                <a:solidFill>
                  <a:schemeClr val="bg1"/>
                </a:solidFill>
              </a:rPr>
              <a:t>(1 of 3)</a:t>
            </a:r>
            <a:endParaRPr dirty="0">
              <a:solidFill>
                <a:schemeClr val="bg1"/>
              </a:solidFill>
            </a:endParaRPr>
          </a:p>
        </p:txBody>
      </p:sp>
      <p:sp>
        <p:nvSpPr>
          <p:cNvPr id="2" name="Text Placeholder 4">
            <a:extLst>
              <a:ext uri="{FF2B5EF4-FFF2-40B4-BE49-F238E27FC236}">
                <a16:creationId xmlns:a16="http://schemas.microsoft.com/office/drawing/2014/main" id="{88DE4603-608D-686E-77CD-5F6EF8348709}"/>
              </a:ext>
            </a:extLst>
          </p:cNvPr>
          <p:cNvSpPr>
            <a:spLocks noGrp="1"/>
          </p:cNvSpPr>
          <p:nvPr>
            <p:ph type="body" idx="1"/>
          </p:nvPr>
        </p:nvSpPr>
        <p:spPr>
          <a:xfrm>
            <a:off x="777240" y="1559139"/>
            <a:ext cx="10590848" cy="4609049"/>
          </a:xfrm>
        </p:spPr>
        <p:txBody>
          <a:bodyPr/>
          <a:lstStyle/>
          <a:p>
            <a:pPr marL="4763" indent="-4763" algn="l">
              <a:spcBef>
                <a:spcPts val="0"/>
              </a:spcBef>
            </a:pPr>
            <a:r>
              <a:rPr lang="en-US" b="0" i="0" u="none" strike="noStrike" baseline="0" dirty="0">
                <a:latin typeface="Calibri" panose="020F0502020204030204" pitchFamily="34" charset="0"/>
                <a:ea typeface="Calibri" panose="020F0502020204030204" pitchFamily="34" charset="0"/>
                <a:cs typeface="Calibri" panose="020F0502020204030204" pitchFamily="34" charset="0"/>
              </a:rPr>
              <a:t>You have learned about linear functions and their characteristics, including slope and </a:t>
            </a:r>
            <a:r>
              <a:rPr lang="en-US" b="0" i="1" u="none" strike="noStrike" baseline="0" dirty="0">
                <a:latin typeface="Calibri" panose="020F0502020204030204" pitchFamily="34" charset="0"/>
                <a:ea typeface="Calibri" panose="020F0502020204030204" pitchFamily="34" charset="0"/>
                <a:cs typeface="Calibri" panose="020F0502020204030204" pitchFamily="34" charset="0"/>
              </a:rPr>
              <a:t>y</a:t>
            </a:r>
            <a:r>
              <a:rPr lang="en-US" b="0" i="0" u="none" strike="noStrike" baseline="0" dirty="0">
                <a:latin typeface="Calibri" panose="020F0502020204030204" pitchFamily="34" charset="0"/>
                <a:ea typeface="Calibri" panose="020F0502020204030204" pitchFamily="34" charset="0"/>
                <a:cs typeface="Calibri" panose="020F0502020204030204" pitchFamily="34" charset="0"/>
              </a:rPr>
              <a:t>-intercept.</a:t>
            </a:r>
          </a:p>
          <a:p>
            <a:pPr marL="4763" indent="-4763" algn="l">
              <a:spcBef>
                <a:spcPts val="0"/>
              </a:spcBef>
            </a:pP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4763" indent="-4763" algn="l">
              <a:spcBef>
                <a:spcPts val="0"/>
              </a:spcBef>
            </a:pPr>
            <a:endParaRPr lang="en-US" b="0" i="0" u="none"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4763" indent="-4763" algn="l">
              <a:spcBef>
                <a:spcPts val="0"/>
              </a:spcBef>
            </a:pP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4763" algn="l"/>
            <a:r>
              <a:rPr lang="en-US" b="0" i="0" u="none" strike="noStrike" baseline="0" dirty="0">
                <a:latin typeface="Calibri" panose="020F0502020204030204" pitchFamily="34" charset="0"/>
                <a:ea typeface="Calibri" panose="020F0502020204030204" pitchFamily="34" charset="0"/>
                <a:cs typeface="Calibri" panose="020F0502020204030204" pitchFamily="34" charset="0"/>
              </a:rPr>
              <a:t>How can you transform a function? What effects do different transformations have on the characteristics of linear functions?</a:t>
            </a:r>
            <a:endParaRPr lang="en-US" b="0" i="0" u="none"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1484" name="Slide Number 148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a:t>
            </a:fld>
          </a:p>
        </p:txBody>
      </p:sp>
      <p:sp>
        <p:nvSpPr>
          <p:cNvPr id="1485" name="Answer 148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269</a:t>
            </a:r>
          </a:p>
        </p:txBody>
      </p:sp>
      <p:sp>
        <p:nvSpPr>
          <p:cNvPr id="1486" name="Answer 1486"/>
          <p:cNvSpPr txBox="1"/>
          <p:nvPr/>
        </p:nvSpPr>
        <p:spPr>
          <a:xfrm>
            <a:off x="774700" y="4445000"/>
            <a:ext cx="10731500" cy="2349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700" dirty="0">
                <a:solidFill>
                  <a:srgbClr val="FF0000"/>
                </a:solidFill>
              </a:rPr>
              <a:t>Translation: y = f(x) + d moves the graph up (d &gt; 0) or down (d &lt; 0) by |d| units. The slope stays the same, so the new line is parallel to the original; the y-intercept changes.</a:t>
            </a:r>
          </a:p>
          <a:p>
            <a:pPr marL="0" indent="0" algn="l">
              <a:spcBef>
                <a:spcPts val="0"/>
              </a:spcBef>
              <a:spcAft>
                <a:spcPts val="300"/>
              </a:spcAft>
              <a:buNone/>
            </a:pPr>
            <a:r>
              <a:rPr lang="en-US" sz="1700" dirty="0">
                <a:solidFill>
                  <a:srgbClr val="FF0000"/>
                </a:solidFill>
              </a:rPr>
              <a:t>Dilation: y = a · f(x) stretches the graph vertically when |a| &gt; 1 and compresses it when 0 &lt; |a| &lt; 1; when a &lt; 0 it is also reflected across the x-axis. The slope changes; for f(x) = x the new slope is a.</a:t>
            </a:r>
          </a:p>
        </p:txBody>
      </p:sp>
    </p:spTree>
    <p:extLst>
      <p:ext uri="{BB962C8B-B14F-4D97-AF65-F5344CB8AC3E}">
        <p14:creationId xmlns:p14="http://schemas.microsoft.com/office/powerpoint/2010/main" val="1627046145"/>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4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5"/>
          <p:cNvSpPr txBox="1">
            <a:spLocks noGrp="1"/>
          </p:cNvSpPr>
          <p:nvPr>
            <p:ph type="title"/>
          </p:nvPr>
        </p:nvSpPr>
        <p:spPr>
          <a:xfrm>
            <a:off x="838200" y="-457200"/>
            <a:ext cx="10514013" cy="45720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2000"/>
              <a:buFont typeface="Calibri"/>
              <a:buNone/>
            </a:pPr>
            <a:r>
              <a:rPr lang="en-US" sz="2000" b="0" i="0" u="none" strike="noStrike" cap="none">
                <a:solidFill>
                  <a:schemeClr val="lt2"/>
                </a:solidFill>
                <a:latin typeface="Calibri"/>
                <a:ea typeface="Calibri"/>
                <a:cs typeface="Calibri"/>
                <a:sym typeface="Calibri"/>
              </a:rPr>
              <a:t>Day 1</a:t>
            </a:r>
            <a:endParaRPr/>
          </a:p>
        </p:txBody>
      </p:sp>
      <p:sp>
        <p:nvSpPr>
          <p:cNvPr id="492" name="Google Shape;492;p5"/>
          <p:cNvSpPr txBox="1">
            <a:spLocks noGrp="1"/>
          </p:cNvSpPr>
          <p:nvPr>
            <p:ph type="body" idx="1"/>
          </p:nvPr>
        </p:nvSpPr>
        <p:spPr>
          <a:xfrm>
            <a:off x="6569242" y="2832927"/>
            <a:ext cx="999215" cy="107156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0000"/>
              </a:buClr>
              <a:buSzPts val="7500"/>
              <a:buNone/>
            </a:pPr>
            <a:r>
              <a:rPr lang="en-US" sz="7500" b="1" dirty="0">
                <a:solidFill>
                  <a:srgbClr val="000000"/>
                </a:solidFill>
                <a:latin typeface="Calibri"/>
                <a:ea typeface="Calibri"/>
                <a:cs typeface="Calibri"/>
                <a:sym typeface="Calibri"/>
              </a:rPr>
              <a:t>1</a:t>
            </a:r>
            <a:endParaRPr dirty="0"/>
          </a:p>
        </p:txBody>
      </p:sp>
      <p:sp>
        <p:nvSpPr>
          <p:cNvPr id="1492" name="Slide Number 1492"/>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a:t>
            </a:fld>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6"/>
          <p:cNvSpPr txBox="1">
            <a:spLocks noGrp="1"/>
          </p:cNvSpPr>
          <p:nvPr>
            <p:ph type="title"/>
          </p:nvPr>
        </p:nvSpPr>
        <p:spPr>
          <a:xfrm>
            <a:off x="838200" y="-336884"/>
            <a:ext cx="10514013" cy="336884"/>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2000"/>
              <a:buFont typeface="Calibri"/>
              <a:buNone/>
            </a:pPr>
            <a:r>
              <a:rPr lang="en-US" sz="2000" dirty="0">
                <a:solidFill>
                  <a:schemeClr val="lt2"/>
                </a:solidFill>
                <a:latin typeface="Calibri"/>
                <a:ea typeface="Calibri"/>
                <a:cs typeface="Calibri"/>
                <a:sym typeface="Calibri"/>
              </a:rPr>
              <a:t>Getting Started</a:t>
            </a:r>
            <a:endParaRPr dirty="0"/>
          </a:p>
        </p:txBody>
      </p:sp>
      <p:sp>
        <p:nvSpPr>
          <p:cNvPr id="499" name="Google Shape;499;p6" descr="15 to 20 minutes"/>
          <p:cNvSpPr txBox="1">
            <a:spLocks noGrp="1"/>
          </p:cNvSpPr>
          <p:nvPr>
            <p:ph type="body" idx="1"/>
          </p:nvPr>
        </p:nvSpPr>
        <p:spPr>
          <a:xfrm>
            <a:off x="10623011" y="5774424"/>
            <a:ext cx="863947" cy="795338"/>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71616"/>
              </a:buClr>
              <a:buSzPts val="2000"/>
              <a:buNone/>
            </a:pPr>
            <a:r>
              <a:rPr lang="en-US" b="1" dirty="0"/>
              <a:t>15–20</a:t>
            </a:r>
            <a:endParaRPr dirty="0"/>
          </a:p>
        </p:txBody>
      </p:sp>
      <p:sp>
        <p:nvSpPr>
          <p:cNvPr id="1499" name="Slide Number 149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a:t>
            </a:fld>
          </a:p>
        </p:txBody>
      </p:sp>
      <p:sp>
        <p:nvSpPr>
          <p:cNvPr id="1501" name="Answer 1501"/>
          <p:cNvSpPr txBox="1"/>
          <p:nvPr/>
        </p:nvSpPr>
        <p:spPr>
          <a:xfrm>
            <a:off x="1016000" y="952500"/>
            <a:ext cx="10160000" cy="7620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4400" b="1" dirty="0">
                <a:solidFill>
                  <a:srgbClr val="2E7D3C"/>
                </a:solidFill>
              </a:rPr>
              <a:t>★ Essential activity: do not skip</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7"/>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Returning to Transformation Station </a:t>
            </a:r>
            <a:r>
              <a:rPr lang="en-US" sz="2000" b="1" dirty="0">
                <a:solidFill>
                  <a:schemeClr val="bg1"/>
                </a:solidFill>
              </a:rPr>
              <a:t>(1 of 8)</a:t>
            </a:r>
            <a:endParaRPr dirty="0">
              <a:solidFill>
                <a:schemeClr val="bg1"/>
              </a:solidFill>
            </a:endParaRPr>
          </a:p>
        </p:txBody>
      </p:sp>
      <p:pic>
        <p:nvPicPr>
          <p:cNvPr id="507" name="Google Shape;507;p7" descr="A graph of line segment A B on the coordinate plane. The line segment rises from left to right, from point A at (negative 8, negative 8) to point B at (8, 8)."/>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56996" y="1616140"/>
            <a:ext cx="3937863" cy="4049312"/>
          </a:xfrm>
          <a:prstGeom prst="rect">
            <a:avLst/>
          </a:prstGeom>
          <a:noFill/>
          <a:ln>
            <a:noFill/>
          </a:ln>
        </p:spPr>
      </p:pic>
      <mc:AlternateContent xmlns:mc="http://schemas.openxmlformats.org/markup-compatibility/2006" xmlns:a14="http://schemas.microsoft.com/office/drawing/2010/main">
        <mc:Choice Requires="a14">
          <p:sp>
            <p:nvSpPr>
              <p:cNvPr id="508" name="Google Shape;508;p7"/>
              <p:cNvSpPr txBox="1"/>
              <p:nvPr/>
            </p:nvSpPr>
            <p:spPr>
              <a:xfrm>
                <a:off x="4740442" y="1616140"/>
                <a:ext cx="7223760" cy="4786783"/>
              </a:xfrm>
              <a:prstGeom prst="rect">
                <a:avLst/>
              </a:prstGeom>
              <a:noFill/>
              <a:ln>
                <a:noFill/>
              </a:ln>
            </p:spPr>
            <p:txBody>
              <a:bodyPr spcFirstLastPara="1" wrap="square" lIns="91425" tIns="45700" rIns="91425" bIns="45700" anchor="t" anchorCtr="0">
                <a:spAutoFit/>
              </a:bodyPr>
              <a:lstStyle/>
              <a:p>
                <a:pPr marR="0" lvl="0" algn="l" rtl="0">
                  <a:spcBef>
                    <a:spcPts val="0"/>
                  </a:spcBef>
                  <a:spcAft>
                    <a:spcPts val="1800"/>
                  </a:spcAft>
                  <a:buClr>
                    <a:srgbClr val="000000"/>
                  </a:buClr>
                  <a:buSzPts val="2400"/>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Consider </a:t>
                </a:r>
                <a14:m>
                  <m:oMath xmlns:m="http://schemas.openxmlformats.org/officeDocument/2006/math">
                    <m:acc>
                      <m:accPr>
                        <m:chr m:val="̅"/>
                        <m:ctrlPr>
                          <a:rPr lang="en-US" sz="2800" i="1" smtClean="0">
                            <a:solidFill>
                              <a:srgbClr val="000000"/>
                            </a:solidFill>
                            <a:latin typeface="Cambria Math" panose="02040503050406030204" pitchFamily="18" charset="0"/>
                            <a:ea typeface="Calibri"/>
                            <a:cs typeface="Calibri"/>
                            <a:sym typeface="Calibri"/>
                          </a:rPr>
                        </m:ctrlPr>
                      </m:accPr>
                      <m:e>
                        <m:r>
                          <a:rPr lang="en-US" sz="2800" b="0" i="1" smtClean="0">
                            <a:solidFill>
                              <a:srgbClr val="000000"/>
                            </a:solidFill>
                            <a:latin typeface="Cambria Math" panose="02040503050406030204" pitchFamily="18" charset="0"/>
                            <a:ea typeface="Calibri"/>
                            <a:cs typeface="Calibri"/>
                            <a:sym typeface="Calibri"/>
                          </a:rPr>
                          <m:t>𝐴𝐵</m:t>
                        </m:r>
                      </m:e>
                    </m:acc>
                  </m:oMath>
                </a14:m>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with coordinates </a:t>
                </a:r>
                <a14:m>
                  <m:oMath xmlns:m="http://schemas.openxmlformats.org/officeDocument/2006/math">
                    <m:r>
                      <a:rPr lang="en-US" sz="2800" b="0" i="1" smtClean="0">
                        <a:solidFill>
                          <a:srgbClr val="000000"/>
                        </a:solidFill>
                        <a:latin typeface="Cambria Math" panose="02040503050406030204" pitchFamily="18" charset="0"/>
                        <a:ea typeface="Calibri"/>
                        <a:cs typeface="Calibri"/>
                        <a:sym typeface="Calibri"/>
                      </a:rPr>
                      <m:t>𝐴</m:t>
                    </m:r>
                    <m:d>
                      <m:dPr>
                        <m:ctrlPr>
                          <a:rPr lang="en-US" sz="2800" b="0" i="1" smtClean="0">
                            <a:solidFill>
                              <a:srgbClr val="000000"/>
                            </a:solidFill>
                            <a:latin typeface="Cambria Math" panose="02040503050406030204" pitchFamily="18" charset="0"/>
                            <a:ea typeface="Calibri"/>
                            <a:cs typeface="Calibri"/>
                            <a:sym typeface="Calibri"/>
                          </a:rPr>
                        </m:ctrlPr>
                      </m:dPr>
                      <m:e>
                        <m:r>
                          <a:rPr lang="en-US" sz="2800" b="0" i="1" smtClean="0">
                            <a:solidFill>
                              <a:srgbClr val="000000"/>
                            </a:solidFill>
                            <a:latin typeface="Cambria Math" panose="02040503050406030204" pitchFamily="18" charset="0"/>
                            <a:ea typeface="Calibri"/>
                            <a:cs typeface="Calibri"/>
                            <a:sym typeface="Calibri"/>
                          </a:rPr>
                          <m:t>−8, −8</m:t>
                        </m:r>
                      </m:e>
                    </m:d>
                  </m:oMath>
                </a14:m>
                <a:br>
                  <a:rPr lang="en-US" sz="2800" b="0" dirty="0">
                    <a:solidFill>
                      <a:srgbClr val="000000"/>
                    </a:solidFill>
                    <a:latin typeface="Calibri" panose="020F0502020204030204" pitchFamily="34" charset="0"/>
                    <a:ea typeface="Calibri"/>
                    <a:cs typeface="Calibri"/>
                    <a:sym typeface="Calibri"/>
                  </a:rPr>
                </a:b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and </a:t>
                </a:r>
                <a14:m>
                  <m:oMath xmlns:m="http://schemas.openxmlformats.org/officeDocument/2006/math">
                    <m:r>
                      <a:rPr lang="en-US" sz="2800" b="0" i="1" smtClean="0">
                        <a:solidFill>
                          <a:srgbClr val="000000"/>
                        </a:solidFill>
                        <a:latin typeface="Cambria Math" panose="02040503050406030204" pitchFamily="18" charset="0"/>
                        <a:ea typeface="Calibri"/>
                        <a:cs typeface="Calibri"/>
                        <a:sym typeface="Calibri"/>
                      </a:rPr>
                      <m:t>𝐵</m:t>
                    </m:r>
                    <m:r>
                      <a:rPr lang="en-US" sz="2800" b="0" i="1" smtClean="0">
                        <a:solidFill>
                          <a:srgbClr val="000000"/>
                        </a:solidFill>
                        <a:latin typeface="Cambria Math" panose="02040503050406030204" pitchFamily="18" charset="0"/>
                        <a:ea typeface="Calibri"/>
                        <a:cs typeface="Calibri"/>
                        <a:sym typeface="Calibri"/>
                      </a:rPr>
                      <m:t>(8, 8)</m:t>
                    </m:r>
                  </m:oMath>
                </a14:m>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p>
              <a:p>
                <a:pPr marR="0" lvl="0" algn="l" rtl="0">
                  <a:spcBef>
                    <a:spcPts val="0"/>
                  </a:spcBef>
                  <a:spcAft>
                    <a:spcPts val="1200"/>
                  </a:spcAft>
                  <a:buClr>
                    <a:srgbClr val="000000"/>
                  </a:buClr>
                  <a:buSzPts val="2400"/>
                </a:pPr>
                <a:r>
                  <a:rPr lang="en-US" sz="2800" dirty="0">
                    <a:latin typeface="Calibri" panose="020F0502020204030204" pitchFamily="34" charset="0"/>
                    <a:ea typeface="Calibri" panose="020F0502020204030204" pitchFamily="34" charset="0"/>
                    <a:cs typeface="Calibri" panose="020F0502020204030204" pitchFamily="34" charset="0"/>
                    <a:sym typeface="Calibri"/>
                  </a:rPr>
                  <a:t>Follow your teacher’s instructions to copy this line segment on a coordinate plane on the floor of your classroom, with different students standing at different points on the line segment.</a:t>
                </a:r>
                <a:endPar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457200" marR="0" lvl="0" indent="-457200" algn="l" rtl="0">
                  <a:spcBef>
                    <a:spcPts val="0"/>
                  </a:spcBef>
                  <a:spcAft>
                    <a:spcPts val="0"/>
                  </a:spcAft>
                  <a:buClr>
                    <a:srgbClr val="000000"/>
                  </a:buClr>
                  <a:buSzPct val="100000"/>
                  <a:buFont typeface="Calibri"/>
                  <a:buAutoNum type="arabicPeriod"/>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Move on the coordinate plane to translate the entire line segment up 4 units and then down 4 units. Describe how the student “points” move.</a:t>
                </a:r>
                <a:endParaRPr sz="2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08" name="Google Shape;508;p7"/>
              <p:cNvSpPr txBox="1">
                <a:spLocks noRot="1" noChangeAspect="1" noMove="1" noResize="1" noEditPoints="1" noAdjustHandles="1" noChangeArrowheads="1" noChangeShapeType="1" noTextEdit="1"/>
              </p:cNvSpPr>
              <p:nvPr/>
            </p:nvSpPr>
            <p:spPr>
              <a:xfrm>
                <a:off x="4740442" y="1616140"/>
                <a:ext cx="7223760" cy="4786783"/>
              </a:xfrm>
              <a:prstGeom prst="rect">
                <a:avLst/>
              </a:prstGeom>
              <a:blipFill>
                <a:blip r:embed="rId4"/>
                <a:stretch>
                  <a:fillRect l="-1772" t="-1146" r="-759" b="-2675"/>
                </a:stretch>
              </a:blipFill>
              <a:ln>
                <a:noFill/>
              </a:ln>
            </p:spPr>
            <p:txBody>
              <a:bodyPr/>
              <a:lstStyle/>
              <a:p>
                <a:r>
                  <a:rPr lang="en-US">
                    <a:noFill/>
                  </a:rPr>
                  <a:t> </a:t>
                </a:r>
              </a:p>
            </p:txBody>
          </p:sp>
        </mc:Fallback>
      </mc:AlternateContent>
      <p:sp>
        <p:nvSpPr>
          <p:cNvPr id="1508" name="Slide Number 1508"/>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7</a:t>
            </a:fld>
          </a:p>
        </p:txBody>
      </p:sp>
      <p:sp>
        <p:nvSpPr>
          <p:cNvPr id="1509" name="Answer 1509"/>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270</a:t>
            </a:r>
          </a:p>
        </p:txBody>
      </p:sp>
      <p:sp>
        <p:nvSpPr>
          <p:cNvPr id="1510" name="Answer 1510"/>
          <p:cNvSpPr txBox="1"/>
          <p:nvPr/>
        </p:nvSpPr>
        <p:spPr>
          <a:xfrm>
            <a:off x="698500" y="5746750"/>
            <a:ext cx="4064000" cy="10477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The points move straight up or straight down. There is no movement left or right.</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5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8"/>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Returning to Transformation Station </a:t>
            </a:r>
            <a:r>
              <a:rPr lang="en-US" sz="2000" b="1" dirty="0">
                <a:solidFill>
                  <a:schemeClr val="bg1"/>
                </a:solidFill>
              </a:rPr>
              <a:t>(2 of 8)</a:t>
            </a:r>
            <a:endParaRPr dirty="0">
              <a:solidFill>
                <a:schemeClr val="bg1"/>
              </a:solidFill>
            </a:endParaRPr>
          </a:p>
        </p:txBody>
      </p:sp>
      <p:graphicFrame>
        <p:nvGraphicFramePr>
          <p:cNvPr id="516" name="Google Shape;516;p8"/>
          <p:cNvGraphicFramePr/>
          <p:nvPr>
            <p:extLst>
              <p:ext uri="{D42A27DB-BD31-4B8C-83A1-F6EECF244321}">
                <p14:modId xmlns:p14="http://schemas.microsoft.com/office/powerpoint/2010/main" val="3621066502"/>
              </p:ext>
            </p:extLst>
          </p:nvPr>
        </p:nvGraphicFramePr>
        <p:xfrm>
          <a:off x="1428728" y="2401833"/>
          <a:ext cx="6858000" cy="1828800"/>
        </p:xfrm>
        <a:graphic>
          <a:graphicData uri="http://schemas.openxmlformats.org/drawingml/2006/table">
            <a:tbl>
              <a:tblPr firstRow="1" bandRow="1">
                <a:noFill/>
                <a:tableStyleId>{279AD5BC-A5CE-4E06-8A13-34D5E8DF52F5}</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914400">
                <a:tc>
                  <a:txBody>
                    <a:bodyPr/>
                    <a:lstStyle/>
                    <a:p>
                      <a:pPr marL="0" marR="0" lvl="0" indent="0" algn="ctr" rtl="0">
                        <a:spcBef>
                          <a:spcPts val="0"/>
                        </a:spcBef>
                        <a:spcAft>
                          <a:spcPts val="0"/>
                        </a:spcAft>
                        <a:buNone/>
                      </a:pPr>
                      <a:r>
                        <a:rPr lang="en-US" sz="2000" u="none" strike="noStrike" cap="none" dirty="0">
                          <a:solidFill>
                            <a:schemeClr val="lt1"/>
                          </a:solidFill>
                        </a:rPr>
                        <a:t>Original Point</a:t>
                      </a:r>
                      <a:endParaRPr sz="2000" dirty="0"/>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2B8147"/>
                    </a:solidFill>
                  </a:tcPr>
                </a:tc>
                <a:tc>
                  <a:txBody>
                    <a:bodyPr/>
                    <a:lstStyle/>
                    <a:p>
                      <a:pPr marL="0" marR="0" lvl="0" indent="0" algn="ctr" rtl="0">
                        <a:spcBef>
                          <a:spcPts val="0"/>
                        </a:spcBef>
                        <a:spcAft>
                          <a:spcPts val="0"/>
                        </a:spcAft>
                        <a:buNone/>
                      </a:pPr>
                      <a:r>
                        <a:rPr lang="en-US" sz="2000" u="none" strike="noStrike" cap="none" dirty="0">
                          <a:solidFill>
                            <a:schemeClr val="lt1"/>
                          </a:solidFill>
                        </a:rPr>
                        <a:t>4 Units Up</a:t>
                      </a:r>
                      <a:endParaRPr sz="2000" dirty="0"/>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2B8147"/>
                    </a:solidFill>
                  </a:tcPr>
                </a:tc>
                <a:tc>
                  <a:txBody>
                    <a:bodyPr/>
                    <a:lstStyle/>
                    <a:p>
                      <a:pPr marL="0" marR="0" lvl="0" indent="0" algn="ctr" rtl="0">
                        <a:spcBef>
                          <a:spcPts val="0"/>
                        </a:spcBef>
                        <a:spcAft>
                          <a:spcPts val="0"/>
                        </a:spcAft>
                        <a:buNone/>
                      </a:pPr>
                      <a:r>
                        <a:rPr lang="en-US" sz="2000" u="none" strike="noStrike" cap="none" dirty="0">
                          <a:solidFill>
                            <a:schemeClr val="lt1"/>
                          </a:solidFill>
                        </a:rPr>
                        <a:t>4 Units Down</a:t>
                      </a:r>
                      <a:endParaRPr sz="2000" dirty="0"/>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2B8147"/>
                    </a:solidFill>
                  </a:tcPr>
                </a:tc>
                <a:extLst>
                  <a:ext uri="{0D108BD9-81ED-4DB2-BD59-A6C34878D82A}">
                    <a16:rowId xmlns:a16="http://schemas.microsoft.com/office/drawing/2014/main" val="10000"/>
                  </a:ext>
                </a:extLst>
              </a:tr>
              <a:tr h="914400">
                <a:tc>
                  <a:txBody>
                    <a:bodyPr/>
                    <a:lstStyle/>
                    <a:p>
                      <a:pPr marL="0" marR="0" lvl="0" indent="0" algn="ctr" rtl="0">
                        <a:spcBef>
                          <a:spcPts val="0"/>
                        </a:spcBef>
                        <a:spcAft>
                          <a:spcPts val="0"/>
                        </a:spcAft>
                        <a:buNone/>
                      </a:pPr>
                      <a:r>
                        <a:rPr lang="en-US" sz="2000" dirty="0">
                          <a:solidFill>
                            <a:srgbClr val="000000"/>
                          </a:solidFill>
                        </a:rPr>
                        <a:t>(</a:t>
                      </a:r>
                      <a:r>
                        <a:rPr lang="en-US" sz="2000" i="1" dirty="0">
                          <a:solidFill>
                            <a:srgbClr val="000000"/>
                          </a:solidFill>
                        </a:rPr>
                        <a:t>x</a:t>
                      </a:r>
                      <a:r>
                        <a:rPr lang="en-US" sz="2000" dirty="0">
                          <a:solidFill>
                            <a:srgbClr val="000000"/>
                          </a:solidFill>
                        </a:rPr>
                        <a:t>, </a:t>
                      </a:r>
                      <a:r>
                        <a:rPr lang="en-US" sz="2000" i="1" dirty="0">
                          <a:solidFill>
                            <a:srgbClr val="000000"/>
                          </a:solidFill>
                        </a:rPr>
                        <a:t>y</a:t>
                      </a:r>
                      <a:r>
                        <a:rPr lang="en-US" sz="2000" dirty="0">
                          <a:solidFill>
                            <a:srgbClr val="000000"/>
                          </a:solidFill>
                        </a:rPr>
                        <a:t>)</a:t>
                      </a: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ctr" rtl="0">
                        <a:spcBef>
                          <a:spcPts val="0"/>
                        </a:spcBef>
                        <a:spcAft>
                          <a:spcPts val="0"/>
                        </a:spcAft>
                        <a:buNone/>
                      </a:pP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tc>
                  <a:txBody>
                    <a:bodyPr/>
                    <a:lstStyle/>
                    <a:p>
                      <a:pPr marL="0" marR="0" lvl="0" indent="0" algn="ctr" rtl="0">
                        <a:spcBef>
                          <a:spcPts val="0"/>
                        </a:spcBef>
                        <a:spcAft>
                          <a:spcPts val="0"/>
                        </a:spcAft>
                        <a:buNone/>
                      </a:pPr>
                      <a:endParaRPr sz="2000" dirty="0">
                        <a:solidFill>
                          <a:srgbClr val="000000"/>
                        </a:solidFill>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bl>
          </a:graphicData>
        </a:graphic>
      </p:graphicFrame>
      <p:sp>
        <p:nvSpPr>
          <p:cNvPr id="517" name="Google Shape;517;p8"/>
          <p:cNvSpPr txBox="1"/>
          <p:nvPr/>
        </p:nvSpPr>
        <p:spPr>
          <a:xfrm>
            <a:off x="777240" y="1615095"/>
            <a:ext cx="10024110" cy="523220"/>
          </a:xfrm>
          <a:prstGeom prst="rect">
            <a:avLst/>
          </a:prstGeom>
          <a:noFill/>
          <a:ln>
            <a:noFill/>
          </a:ln>
        </p:spPr>
        <p:txBody>
          <a:bodyPr spcFirstLastPara="1" wrap="square" lIns="91425" tIns="45700" rIns="91425" bIns="45700" anchor="t" anchorCtr="0">
            <a:spAutoFit/>
          </a:bodyPr>
          <a:lstStyle/>
          <a:p>
            <a:pPr marL="514350" marR="0" lvl="0" indent="-514350" algn="l" rtl="0">
              <a:spcBef>
                <a:spcPts val="0"/>
              </a:spcBef>
              <a:spcAft>
                <a:spcPts val="0"/>
              </a:spcAft>
              <a:buFont typeface="+mj-lt"/>
              <a:buAutoNum type="arabicPeriod" startAt="2"/>
            </a:pPr>
            <a:r>
              <a:rPr lang="en-US" sz="2800" dirty="0">
                <a:solidFill>
                  <a:srgbClr val="000000"/>
                </a:solidFill>
                <a:latin typeface="Calibri"/>
                <a:ea typeface="Calibri"/>
                <a:cs typeface="Calibri"/>
                <a:sym typeface="Calibri"/>
              </a:rPr>
              <a:t>How do the translations affect the coordinates of the figure? </a:t>
            </a:r>
            <a:endParaRPr dirty="0"/>
          </a:p>
        </p:txBody>
      </p:sp>
      <p:sp>
        <p:nvSpPr>
          <p:cNvPr id="1517" name="Slide Number 1517"/>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8</a:t>
            </a:fld>
          </a:p>
        </p:txBody>
      </p:sp>
      <p:sp>
        <p:nvSpPr>
          <p:cNvPr id="1518" name="Answer 1518"/>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270</a:t>
            </a:r>
          </a:p>
        </p:txBody>
      </p:sp>
      <p:sp>
        <p:nvSpPr>
          <p:cNvPr id="1519" name="Answer 1519"/>
          <p:cNvSpPr txBox="1"/>
          <p:nvPr/>
        </p:nvSpPr>
        <p:spPr>
          <a:xfrm>
            <a:off x="3714750" y="3314700"/>
            <a:ext cx="2286000" cy="9144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600" dirty="0">
                <a:solidFill>
                  <a:srgbClr val="FF0000"/>
                </a:solidFill>
              </a:rPr>
              <a:t>(x, y + 4)</a:t>
            </a:r>
          </a:p>
        </p:txBody>
      </p:sp>
      <p:sp>
        <p:nvSpPr>
          <p:cNvPr id="1520" name="Answer 1520"/>
          <p:cNvSpPr txBox="1"/>
          <p:nvPr/>
        </p:nvSpPr>
        <p:spPr>
          <a:xfrm>
            <a:off x="6000750" y="3314700"/>
            <a:ext cx="2286000" cy="9144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600" dirty="0">
                <a:solidFill>
                  <a:srgbClr val="FF0000"/>
                </a:solidFill>
              </a:rPr>
              <a:t>(x, y − 4)</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519"/>
                                        </p:tgtEl>
                                        <p:attrNameLst>
                                          <p:attrName>style.visibility</p:attrName>
                                        </p:attrNameLst>
                                      </p:cBhvr>
                                      <p:to>
                                        <p:strVal val="visible"/>
                                      </p:to>
                                    </p:set>
                                  </p:childTnLst>
                                </p:cTn>
                              </p:par>
                              <p:par>
                                <p:cTn id="5" presetID="1" presetClass="entr" presetSubtype="0" fill="hold" nodeType="withEffect">
                                  <p:stCondLst>
                                    <p:cond delay="0"/>
                                  </p:stCondLst>
                                  <p:childTnLst>
                                    <p:set>
                                      <p:cBhvr>
                                        <p:cTn id="6" dur="1" fill="hold">
                                          <p:stCondLst>
                                            <p:cond delay="0"/>
                                          </p:stCondLst>
                                        </p:cTn>
                                        <p:tgtEl>
                                          <p:spTgt spid="15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9"/>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Returning to Transformation Station </a:t>
            </a:r>
            <a:r>
              <a:rPr lang="en-US" sz="2000" b="1" dirty="0">
                <a:solidFill>
                  <a:schemeClr val="bg1"/>
                </a:solidFill>
              </a:rPr>
              <a:t>(3 of 8)</a:t>
            </a:r>
            <a:endParaRPr dirty="0">
              <a:solidFill>
                <a:schemeClr val="bg1"/>
              </a:solidFill>
            </a:endParaRPr>
          </a:p>
        </p:txBody>
      </p:sp>
      <p:pic>
        <p:nvPicPr>
          <p:cNvPr id="525" name="Google Shape;525;p9" descr="A graph of line segment A B on the coordinate plane. The line segment rises from left to right, from point A at (negative 8, negative 8) to point B at (8, 8)."/>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4571974" y="3001845"/>
            <a:ext cx="3046464" cy="3062931"/>
          </a:xfrm>
          <a:prstGeom prst="rect">
            <a:avLst/>
          </a:prstGeom>
          <a:noFill/>
          <a:ln>
            <a:noFill/>
          </a:ln>
        </p:spPr>
      </p:pic>
      <mc:AlternateContent xmlns:mc="http://schemas.openxmlformats.org/markup-compatibility/2006" xmlns:a14="http://schemas.microsoft.com/office/drawing/2010/main">
        <mc:Choice Requires="a14">
          <p:sp>
            <p:nvSpPr>
              <p:cNvPr id="2" name="Google Shape;517;p8">
                <a:extLst>
                  <a:ext uri="{FF2B5EF4-FFF2-40B4-BE49-F238E27FC236}">
                    <a16:creationId xmlns:a16="http://schemas.microsoft.com/office/drawing/2014/main" id="{7E4BA802-88DF-01BB-2374-EB1633A922E5}"/>
                  </a:ext>
                </a:extLst>
              </p:cNvPr>
              <p:cNvSpPr txBox="1"/>
              <p:nvPr/>
            </p:nvSpPr>
            <p:spPr>
              <a:xfrm>
                <a:off x="777239" y="1615095"/>
                <a:ext cx="10372023" cy="1386750"/>
              </a:xfrm>
              <a:prstGeom prst="rect">
                <a:avLst/>
              </a:prstGeom>
              <a:noFill/>
              <a:ln>
                <a:noFill/>
              </a:ln>
            </p:spPr>
            <p:txBody>
              <a:bodyPr spcFirstLastPara="1" wrap="square" lIns="91425" tIns="45700" rIns="91425" bIns="45700" anchor="t" anchorCtr="0">
                <a:spAutoFit/>
              </a:bodyPr>
              <a:lstStyle/>
              <a:p>
                <a:pPr marL="514350" marR="0" lvl="0" indent="-514350" algn="l" rtl="0">
                  <a:spcBef>
                    <a:spcPts val="0"/>
                  </a:spcBef>
                  <a:spcAft>
                    <a:spcPts val="0"/>
                  </a:spcAft>
                  <a:buFont typeface="+mj-lt"/>
                  <a:buAutoNum type="arabicPeriod" startAt="3"/>
                </a:pPr>
                <a:r>
                  <a:rPr lang="en-US" sz="2800" dirty="0">
                    <a:solidFill>
                      <a:srgbClr val="000000"/>
                    </a:solidFill>
                    <a:latin typeface="Calibri"/>
                    <a:ea typeface="Calibri"/>
                    <a:cs typeface="Calibri"/>
                    <a:sym typeface="Calibri"/>
                  </a:rPr>
                  <a:t>Draw </a:t>
                </a:r>
                <a14:m>
                  <m:oMath xmlns:m="http://schemas.openxmlformats.org/officeDocument/2006/math">
                    <m:acc>
                      <m:accPr>
                        <m:chr m:val="̅"/>
                        <m:ctrlPr>
                          <a:rPr lang="en-US" sz="2800" i="1" smtClean="0">
                            <a:solidFill>
                              <a:srgbClr val="000000"/>
                            </a:solidFill>
                            <a:latin typeface="Cambria Math" panose="02040503050406030204" pitchFamily="18" charset="0"/>
                            <a:ea typeface="Calibri"/>
                            <a:cs typeface="Calibri"/>
                            <a:sym typeface="Calibri"/>
                          </a:rPr>
                        </m:ctrlPr>
                      </m:accPr>
                      <m:e>
                        <m:r>
                          <a:rPr lang="en-US" sz="2800" b="0" i="1" smtClean="0">
                            <a:solidFill>
                              <a:srgbClr val="000000"/>
                            </a:solidFill>
                            <a:latin typeface="Cambria Math" panose="02040503050406030204" pitchFamily="18" charset="0"/>
                            <a:ea typeface="Calibri"/>
                            <a:cs typeface="Calibri"/>
                            <a:sym typeface="Calibri"/>
                          </a:rPr>
                          <m:t>𝐶𝐷</m:t>
                        </m:r>
                      </m:e>
                    </m:acc>
                  </m:oMath>
                </a14:m>
                <a:r>
                  <a:rPr lang="en-US" sz="2800" dirty="0">
                    <a:solidFill>
                      <a:srgbClr val="000000"/>
                    </a:solidFill>
                    <a:latin typeface="Calibri"/>
                    <a:ea typeface="Calibri"/>
                    <a:cs typeface="Calibri"/>
                    <a:sym typeface="Calibri"/>
                  </a:rPr>
                  <a:t> on the coordinate plane so that it is a vertical translation of </a:t>
                </a:r>
                <a14:m>
                  <m:oMath xmlns:m="http://schemas.openxmlformats.org/officeDocument/2006/math">
                    <m:acc>
                      <m:accPr>
                        <m:chr m:val="̅"/>
                        <m:ctrlPr>
                          <a:rPr lang="en-US" sz="2800" i="1" smtClean="0">
                            <a:solidFill>
                              <a:srgbClr val="000000"/>
                            </a:solidFill>
                            <a:latin typeface="Cambria Math" panose="02040503050406030204" pitchFamily="18" charset="0"/>
                            <a:ea typeface="Calibri"/>
                            <a:cs typeface="Calibri"/>
                            <a:sym typeface="Calibri"/>
                          </a:rPr>
                        </m:ctrlPr>
                      </m:accPr>
                      <m:e>
                        <m:r>
                          <a:rPr lang="en-US" sz="2800" b="0" i="1" smtClean="0">
                            <a:solidFill>
                              <a:srgbClr val="000000"/>
                            </a:solidFill>
                            <a:latin typeface="Cambria Math" panose="02040503050406030204" pitchFamily="18" charset="0"/>
                            <a:ea typeface="Calibri"/>
                            <a:cs typeface="Calibri"/>
                            <a:sym typeface="Calibri"/>
                          </a:rPr>
                          <m:t>𝐴𝐵</m:t>
                        </m:r>
                      </m:e>
                    </m:acc>
                  </m:oMath>
                </a14:m>
                <a:r>
                  <a:rPr lang="en-US" sz="2800" dirty="0">
                    <a:solidFill>
                      <a:srgbClr val="000000"/>
                    </a:solidFill>
                    <a:latin typeface="Calibri"/>
                    <a:ea typeface="Calibri"/>
                    <a:cs typeface="Calibri"/>
                    <a:sym typeface="Calibri"/>
                  </a:rPr>
                  <a:t> up 4 units. Compare the two line segments. Describe how they are related. </a:t>
                </a:r>
                <a:endParaRPr dirty="0"/>
              </a:p>
            </p:txBody>
          </p:sp>
        </mc:Choice>
        <mc:Fallback xmlns="">
          <p:sp>
            <p:nvSpPr>
              <p:cNvPr id="2" name="Google Shape;517;p8">
                <a:extLst>
                  <a:ext uri="{FF2B5EF4-FFF2-40B4-BE49-F238E27FC236}">
                    <a16:creationId xmlns:a16="http://schemas.microsoft.com/office/drawing/2014/main" id="{7E4BA802-88DF-01BB-2374-EB1633A922E5}"/>
                  </a:ext>
                </a:extLst>
              </p:cNvPr>
              <p:cNvSpPr txBox="1">
                <a:spLocks noRot="1" noChangeAspect="1" noMove="1" noResize="1" noEditPoints="1" noAdjustHandles="1" noChangeArrowheads="1" noChangeShapeType="1" noTextEdit="1"/>
              </p:cNvSpPr>
              <p:nvPr/>
            </p:nvSpPr>
            <p:spPr>
              <a:xfrm>
                <a:off x="777239" y="1615095"/>
                <a:ext cx="10372023" cy="1386750"/>
              </a:xfrm>
              <a:prstGeom prst="rect">
                <a:avLst/>
              </a:prstGeom>
              <a:blipFill>
                <a:blip r:embed="rId4"/>
                <a:stretch>
                  <a:fillRect l="-1234" t="-4846" r="-999" b="-11894"/>
                </a:stretch>
              </a:blipFill>
              <a:ln>
                <a:noFill/>
              </a:ln>
            </p:spPr>
            <p:txBody>
              <a:bodyPr/>
              <a:lstStyle/>
              <a:p>
                <a:r>
                  <a:rPr lang="en-US">
                    <a:noFill/>
                  </a:rPr>
                  <a:t> </a:t>
                </a:r>
              </a:p>
            </p:txBody>
          </p:sp>
        </mc:Fallback>
      </mc:AlternateContent>
      <p:sp>
        <p:nvSpPr>
          <p:cNvPr id="1525" name="Slide Number 152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9</a:t>
            </a:fld>
          </a:p>
        </p:txBody>
      </p:sp>
      <p:sp>
        <p:nvSpPr>
          <p:cNvPr id="1526" name="Answer 1526"/>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270</a:t>
            </a:r>
          </a:p>
        </p:txBody>
      </p:sp>
      <p:sp>
        <p:nvSpPr>
          <p:cNvPr id="1527" name="Answer 1527"/>
          <p:cNvSpPr txBox="1"/>
          <p:nvPr/>
        </p:nvSpPr>
        <p:spPr>
          <a:xfrm>
            <a:off x="7874000" y="3048000"/>
            <a:ext cx="4064000" cy="3048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C(−8, −4) and D(8, 12): every point of AB moves up 4.</a:t>
            </a:r>
          </a:p>
          <a:p>
            <a:pPr marL="0" indent="0" algn="l">
              <a:spcBef>
                <a:spcPts val="0"/>
              </a:spcBef>
              <a:spcAft>
                <a:spcPts val="300"/>
              </a:spcAft>
              <a:buNone/>
            </a:pPr>
            <a:r>
              <a:rPr lang="en-US" sz="2000" dirty="0">
                <a:solidFill>
                  <a:srgbClr val="FF0000"/>
                </a:solidFill>
              </a:rPr>
              <a:t>The segments are parallel, with CD 4 units above AB.</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5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22">
          <a:extLst>
            <a:ext uri="{FF2B5EF4-FFF2-40B4-BE49-F238E27FC236}">
              <a16:creationId xmlns:a16="http://schemas.microsoft.com/office/drawing/2014/main" id="{CF2CC8DD-23A1-B8D2-4F21-BD48469BDD4E}"/>
            </a:ext>
          </a:extLst>
        </p:cNvPr>
        <p:cNvGrpSpPr/>
        <p:nvPr/>
      </p:nvGrpSpPr>
      <p:grpSpPr>
        <a:xfrm>
          <a:off x="0" y="0"/>
          <a:ext cx="0" cy="0"/>
          <a:chOff x="0" y="0"/>
          <a:chExt cx="0" cy="0"/>
        </a:xfrm>
      </p:grpSpPr>
      <p:sp>
        <p:nvSpPr>
          <p:cNvPr id="523" name="Google Shape;523;p9">
            <a:extLst>
              <a:ext uri="{FF2B5EF4-FFF2-40B4-BE49-F238E27FC236}">
                <a16:creationId xmlns:a16="http://schemas.microsoft.com/office/drawing/2014/main" id="{645F5695-6CC4-ECA1-B5E5-F023D0D135BB}"/>
              </a:ext>
            </a:extLst>
          </p:cNvPr>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Returning to Transformation Station </a:t>
            </a:r>
            <a:r>
              <a:rPr lang="en-US" sz="2000" b="1" dirty="0">
                <a:solidFill>
                  <a:schemeClr val="bg1"/>
                </a:solidFill>
              </a:rPr>
              <a:t>(4 of 8)</a:t>
            </a:r>
            <a:endParaRPr dirty="0">
              <a:solidFill>
                <a:schemeClr val="bg1"/>
              </a:solidFill>
            </a:endParaRPr>
          </a:p>
        </p:txBody>
      </p:sp>
      <p:sp>
        <p:nvSpPr>
          <p:cNvPr id="2" name="Google Shape;517;p8">
            <a:extLst>
              <a:ext uri="{FF2B5EF4-FFF2-40B4-BE49-F238E27FC236}">
                <a16:creationId xmlns:a16="http://schemas.microsoft.com/office/drawing/2014/main" id="{BA0CA76D-BD1B-7A86-F3FF-104E5AE134A6}"/>
              </a:ext>
            </a:extLst>
          </p:cNvPr>
          <p:cNvSpPr txBox="1"/>
          <p:nvPr/>
        </p:nvSpPr>
        <p:spPr>
          <a:xfrm>
            <a:off x="777239" y="1615095"/>
            <a:ext cx="10805161" cy="954067"/>
          </a:xfrm>
          <a:prstGeom prst="rect">
            <a:avLst/>
          </a:prstGeom>
          <a:noFill/>
          <a:ln>
            <a:noFill/>
          </a:ln>
        </p:spPr>
        <p:txBody>
          <a:bodyPr spcFirstLastPara="1" wrap="square" lIns="91425" tIns="45700" rIns="91425" bIns="45700" anchor="t" anchorCtr="0">
            <a:spAutoFit/>
          </a:bodyPr>
          <a:lstStyle/>
          <a:p>
            <a:pPr marL="514350" marR="0" lvl="0" indent="-514350" algn="l" rtl="0">
              <a:spcBef>
                <a:spcPts val="0"/>
              </a:spcBef>
              <a:spcAft>
                <a:spcPts val="0"/>
              </a:spcAft>
              <a:buFont typeface="+mj-lt"/>
              <a:buAutoNum type="arabicPeriod" startAt="4"/>
            </a:pPr>
            <a:r>
              <a:rPr lang="en-US" sz="2800" dirty="0">
                <a:solidFill>
                  <a:srgbClr val="000000"/>
                </a:solidFill>
                <a:latin typeface="Calibri"/>
                <a:ea typeface="Calibri"/>
                <a:cs typeface="Calibri"/>
                <a:sym typeface="Calibri"/>
              </a:rPr>
              <a:t>Move back to where you started. Then, multiply all the </a:t>
            </a:r>
            <a:r>
              <a:rPr lang="en-US" sz="2800" i="1" dirty="0">
                <a:solidFill>
                  <a:srgbClr val="000000"/>
                </a:solidFill>
                <a:latin typeface="Calibri"/>
                <a:ea typeface="Calibri"/>
                <a:cs typeface="Calibri"/>
                <a:sym typeface="Calibri"/>
              </a:rPr>
              <a:t>y</a:t>
            </a:r>
            <a:r>
              <a:rPr lang="en-US" sz="2800" dirty="0">
                <a:solidFill>
                  <a:srgbClr val="000000"/>
                </a:solidFill>
                <a:latin typeface="Calibri"/>
                <a:ea typeface="Calibri"/>
                <a:cs typeface="Calibri"/>
                <a:sym typeface="Calibri"/>
              </a:rPr>
              <a:t>-coordinates by 2 and then by −2. Describe how the student “points” move. </a:t>
            </a:r>
            <a:endParaRPr dirty="0"/>
          </a:p>
        </p:txBody>
      </p:sp>
      <p:sp>
        <p:nvSpPr>
          <p:cNvPr id="1523" name="Slide Number 1523"/>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10</a:t>
            </a:fld>
          </a:p>
        </p:txBody>
      </p:sp>
      <p:sp>
        <p:nvSpPr>
          <p:cNvPr id="1524" name="Answer 1524"/>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271</a:t>
            </a:r>
          </a:p>
        </p:txBody>
      </p:sp>
      <p:sp>
        <p:nvSpPr>
          <p:cNvPr id="1525" name="Answer 1525"/>
          <p:cNvSpPr txBox="1"/>
          <p:nvPr/>
        </p:nvSpPr>
        <p:spPr>
          <a:xfrm>
            <a:off x="774700" y="2540000"/>
            <a:ext cx="10795000" cy="1270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Each point moves straight up or down, away from the x-axis (twice as far). The segment gets steeper: a vertical stretch. When the factor is −2, the points also reflect across the x-axis.</a:t>
            </a:r>
          </a:p>
        </p:txBody>
      </p:sp>
    </p:spTree>
    <p:extLst>
      <p:ext uri="{BB962C8B-B14F-4D97-AF65-F5344CB8AC3E}">
        <p14:creationId xmlns:p14="http://schemas.microsoft.com/office/powerpoint/2010/main" val="2088828109"/>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5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31"/>
        <p:cNvGrpSpPr/>
        <p:nvPr/>
      </p:nvGrpSpPr>
      <p:grpSpPr>
        <a:xfrm>
          <a:off x="0" y="0"/>
          <a:ext cx="0" cy="0"/>
          <a:chOff x="0" y="0"/>
          <a:chExt cx="0" cy="0"/>
        </a:xfrm>
      </p:grpSpPr>
      <p:sp>
        <p:nvSpPr>
          <p:cNvPr id="532" name="Google Shape;532;p10"/>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Returning to Transformation Station </a:t>
            </a:r>
            <a:r>
              <a:rPr lang="en-US" sz="2000" b="1" dirty="0">
                <a:solidFill>
                  <a:schemeClr val="bg1"/>
                </a:solidFill>
              </a:rPr>
              <a:t>(5 of 8)</a:t>
            </a:r>
            <a:endParaRPr dirty="0">
              <a:solidFill>
                <a:schemeClr val="bg1"/>
              </a:solidFill>
            </a:endParaRPr>
          </a:p>
        </p:txBody>
      </p:sp>
      <p:pic>
        <p:nvPicPr>
          <p:cNvPr id="534" name="Google Shape;534;p10" descr="A graph of line segment A B on the coordinate plane. The line segment rises from left to right, from point A at (negative 8, negative 8) to point B at (8, 8)."/>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4498848" y="2854693"/>
            <a:ext cx="3192715" cy="3821585"/>
          </a:xfrm>
          <a:prstGeom prst="rect">
            <a:avLst/>
          </a:prstGeom>
          <a:noFill/>
          <a:ln>
            <a:noFill/>
          </a:ln>
        </p:spPr>
      </p:pic>
      <mc:AlternateContent xmlns:mc="http://schemas.openxmlformats.org/markup-compatibility/2006" xmlns:a14="http://schemas.microsoft.com/office/drawing/2010/main">
        <mc:Choice Requires="a14">
          <p:sp>
            <p:nvSpPr>
              <p:cNvPr id="2" name="Google Shape;517;p8">
                <a:extLst>
                  <a:ext uri="{FF2B5EF4-FFF2-40B4-BE49-F238E27FC236}">
                    <a16:creationId xmlns:a16="http://schemas.microsoft.com/office/drawing/2014/main" id="{18640970-F361-462C-25EC-8CED0D60591B}"/>
                  </a:ext>
                </a:extLst>
              </p:cNvPr>
              <p:cNvSpPr txBox="1"/>
              <p:nvPr/>
            </p:nvSpPr>
            <p:spPr>
              <a:xfrm>
                <a:off x="777239" y="1615095"/>
                <a:ext cx="10805161" cy="1385852"/>
              </a:xfrm>
              <a:prstGeom prst="rect">
                <a:avLst/>
              </a:prstGeom>
              <a:noFill/>
              <a:ln>
                <a:noFill/>
              </a:ln>
            </p:spPr>
            <p:txBody>
              <a:bodyPr spcFirstLastPara="1" wrap="square" lIns="91425" tIns="45700" rIns="91425" bIns="45700" anchor="t" anchorCtr="0">
                <a:spAutoFit/>
              </a:bodyPr>
              <a:lstStyle/>
              <a:p>
                <a:pPr marL="514350" marR="0" lvl="0" indent="-514350" algn="l" rtl="0">
                  <a:spcBef>
                    <a:spcPts val="0"/>
                  </a:spcBef>
                  <a:spcAft>
                    <a:spcPts val="0"/>
                  </a:spcAft>
                  <a:buFont typeface="+mj-lt"/>
                  <a:buAutoNum type="arabicPeriod" startAt="5"/>
                </a:pPr>
                <a:r>
                  <a:rPr lang="en-US" sz="2800" dirty="0">
                    <a:solidFill>
                      <a:srgbClr val="000000"/>
                    </a:solidFill>
                    <a:latin typeface="Calibri"/>
                    <a:ea typeface="Calibri"/>
                    <a:cs typeface="Calibri"/>
                    <a:sym typeface="Calibri"/>
                  </a:rPr>
                  <a:t>Draw </a:t>
                </a:r>
                <a14:m>
                  <m:oMath xmlns:m="http://schemas.openxmlformats.org/officeDocument/2006/math">
                    <m:acc>
                      <m:accPr>
                        <m:chr m:val="̅"/>
                        <m:ctrlPr>
                          <a:rPr lang="en-US" sz="2800" i="1" smtClean="0">
                            <a:solidFill>
                              <a:srgbClr val="000000"/>
                            </a:solidFill>
                            <a:latin typeface="Cambria Math" panose="02040503050406030204" pitchFamily="18" charset="0"/>
                            <a:ea typeface="Calibri"/>
                            <a:cs typeface="Calibri"/>
                            <a:sym typeface="Calibri"/>
                          </a:rPr>
                        </m:ctrlPr>
                      </m:accPr>
                      <m:e>
                        <m:r>
                          <a:rPr lang="en-US" sz="2800" b="0" i="1" smtClean="0">
                            <a:solidFill>
                              <a:srgbClr val="000000"/>
                            </a:solidFill>
                            <a:latin typeface="Cambria Math" panose="02040503050406030204" pitchFamily="18" charset="0"/>
                            <a:ea typeface="Calibri"/>
                            <a:cs typeface="Calibri"/>
                            <a:sym typeface="Calibri"/>
                          </a:rPr>
                          <m:t>𝐸𝐹</m:t>
                        </m:r>
                      </m:e>
                    </m:acc>
                  </m:oMath>
                </a14:m>
                <a:r>
                  <a:rPr lang="en-US" sz="2800" dirty="0">
                    <a:solidFill>
                      <a:srgbClr val="000000"/>
                    </a:solidFill>
                    <a:latin typeface="Calibri"/>
                    <a:ea typeface="Calibri"/>
                    <a:cs typeface="Calibri"/>
                    <a:sym typeface="Calibri"/>
                  </a:rPr>
                  <a:t> on the coordinate plane by multiplying all the </a:t>
                </a:r>
                <a:r>
                  <a:rPr lang="en-US" sz="2800" i="1" dirty="0">
                    <a:solidFill>
                      <a:srgbClr val="000000"/>
                    </a:solidFill>
                    <a:latin typeface="Calibri"/>
                    <a:ea typeface="Calibri"/>
                    <a:cs typeface="Calibri"/>
                    <a:sym typeface="Calibri"/>
                  </a:rPr>
                  <a:t>y</a:t>
                </a:r>
                <a:r>
                  <a:rPr lang="en-US" sz="2800" dirty="0">
                    <a:solidFill>
                      <a:srgbClr val="000000"/>
                    </a:solidFill>
                    <a:latin typeface="Calibri"/>
                    <a:ea typeface="Calibri"/>
                    <a:cs typeface="Calibri"/>
                    <a:sym typeface="Calibri"/>
                  </a:rPr>
                  <a:t>-coordinates of </a:t>
                </a:r>
                <a14:m>
                  <m:oMath xmlns:m="http://schemas.openxmlformats.org/officeDocument/2006/math">
                    <m:acc>
                      <m:accPr>
                        <m:chr m:val="̅"/>
                        <m:ctrlPr>
                          <a:rPr lang="en-US" sz="2800" i="1" smtClean="0">
                            <a:solidFill>
                              <a:srgbClr val="000000"/>
                            </a:solidFill>
                            <a:latin typeface="Cambria Math" panose="02040503050406030204" pitchFamily="18" charset="0"/>
                            <a:ea typeface="Calibri"/>
                            <a:cs typeface="Calibri"/>
                            <a:sym typeface="Calibri"/>
                          </a:rPr>
                        </m:ctrlPr>
                      </m:accPr>
                      <m:e>
                        <m:r>
                          <a:rPr lang="en-US" sz="2800" b="0" i="1" smtClean="0">
                            <a:solidFill>
                              <a:srgbClr val="000000"/>
                            </a:solidFill>
                            <a:latin typeface="Cambria Math" panose="02040503050406030204" pitchFamily="18" charset="0"/>
                            <a:ea typeface="Calibri"/>
                            <a:cs typeface="Calibri"/>
                            <a:sym typeface="Calibri"/>
                          </a:rPr>
                          <m:t>𝐴𝐵</m:t>
                        </m:r>
                      </m:e>
                    </m:acc>
                  </m:oMath>
                </a14:m>
                <a:r>
                  <a:rPr lang="en-US" sz="2800" dirty="0">
                    <a:solidFill>
                      <a:srgbClr val="000000"/>
                    </a:solidFill>
                    <a:latin typeface="Calibri"/>
                    <a:ea typeface="Calibri"/>
                    <a:cs typeface="Calibri"/>
                    <a:sym typeface="Calibri"/>
                  </a:rPr>
                  <a:t> by 2. Compare the two line segments. Describe how they</a:t>
                </a:r>
                <a:br>
                  <a:rPr lang="en-US" sz="2800" dirty="0">
                    <a:solidFill>
                      <a:srgbClr val="000000"/>
                    </a:solidFill>
                    <a:latin typeface="Calibri"/>
                    <a:ea typeface="Calibri"/>
                    <a:cs typeface="Calibri"/>
                    <a:sym typeface="Calibri"/>
                  </a:rPr>
                </a:br>
                <a:r>
                  <a:rPr lang="en-US" sz="2800" dirty="0">
                    <a:solidFill>
                      <a:srgbClr val="000000"/>
                    </a:solidFill>
                    <a:latin typeface="Calibri"/>
                    <a:ea typeface="Calibri"/>
                    <a:cs typeface="Calibri"/>
                    <a:sym typeface="Calibri"/>
                  </a:rPr>
                  <a:t>are related. </a:t>
                </a:r>
                <a:endParaRPr dirty="0"/>
              </a:p>
            </p:txBody>
          </p:sp>
        </mc:Choice>
        <mc:Fallback xmlns="">
          <p:sp>
            <p:nvSpPr>
              <p:cNvPr id="2" name="Google Shape;517;p8">
                <a:extLst>
                  <a:ext uri="{FF2B5EF4-FFF2-40B4-BE49-F238E27FC236}">
                    <a16:creationId xmlns:a16="http://schemas.microsoft.com/office/drawing/2014/main" id="{18640970-F361-462C-25EC-8CED0D60591B}"/>
                  </a:ext>
                </a:extLst>
              </p:cNvPr>
              <p:cNvSpPr txBox="1">
                <a:spLocks noRot="1" noChangeAspect="1" noMove="1" noResize="1" noEditPoints="1" noAdjustHandles="1" noChangeArrowheads="1" noChangeShapeType="1" noTextEdit="1"/>
              </p:cNvSpPr>
              <p:nvPr/>
            </p:nvSpPr>
            <p:spPr>
              <a:xfrm>
                <a:off x="777239" y="1615095"/>
                <a:ext cx="10805161" cy="1385852"/>
              </a:xfrm>
              <a:prstGeom prst="rect">
                <a:avLst/>
              </a:prstGeom>
              <a:blipFill>
                <a:blip r:embed="rId4"/>
                <a:stretch>
                  <a:fillRect l="-1184" t="-4846" r="-1015" b="-11894"/>
                </a:stretch>
              </a:blipFill>
              <a:ln>
                <a:noFill/>
              </a:ln>
            </p:spPr>
            <p:txBody>
              <a:bodyPr/>
              <a:lstStyle/>
              <a:p>
                <a:r>
                  <a:rPr lang="en-US">
                    <a:noFill/>
                  </a:rPr>
                  <a:t> </a:t>
                </a:r>
              </a:p>
            </p:txBody>
          </p:sp>
        </mc:Fallback>
      </mc:AlternateContent>
      <p:sp>
        <p:nvSpPr>
          <p:cNvPr id="1534" name="Slide Number 153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11</a:t>
            </a:fld>
          </a:p>
        </p:txBody>
      </p:sp>
      <p:sp>
        <p:nvSpPr>
          <p:cNvPr id="1535" name="Answer 153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271</a:t>
            </a:r>
          </a:p>
        </p:txBody>
      </p:sp>
      <p:sp>
        <p:nvSpPr>
          <p:cNvPr id="1536" name="Answer 1536"/>
          <p:cNvSpPr txBox="1"/>
          <p:nvPr/>
        </p:nvSpPr>
        <p:spPr>
          <a:xfrm>
            <a:off x="7937500" y="2984500"/>
            <a:ext cx="4064000" cy="317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E(−8, −16) and F(8, 16).</a:t>
            </a:r>
          </a:p>
          <a:p>
            <a:pPr marL="0" indent="0" algn="l">
              <a:spcBef>
                <a:spcPts val="0"/>
              </a:spcBef>
              <a:spcAft>
                <a:spcPts val="300"/>
              </a:spcAft>
              <a:buNone/>
            </a:pPr>
            <a:r>
              <a:rPr lang="en-US" sz="2000" dirty="0">
                <a:solidFill>
                  <a:srgbClr val="FF0000"/>
                </a:solidFill>
              </a:rPr>
              <a:t>EF is steeper than AB (stretched vertically by a factor of 2); both pass through the origin.</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5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11"/>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Returning to Transformation Station </a:t>
            </a:r>
            <a:r>
              <a:rPr lang="en-US" sz="2000" b="1" dirty="0">
                <a:solidFill>
                  <a:schemeClr val="bg1"/>
                </a:solidFill>
              </a:rPr>
              <a:t>(6 of 8)</a:t>
            </a:r>
            <a:endParaRPr dirty="0">
              <a:solidFill>
                <a:schemeClr val="bg1"/>
              </a:solidFill>
            </a:endParaRPr>
          </a:p>
        </p:txBody>
      </p:sp>
      <p:pic>
        <p:nvPicPr>
          <p:cNvPr id="2" name="Google Shape;534;p10" descr="A graph of line segment A B on the coordinate plane. The line segment rises from left to right, from point A at (negative 8, negative 8) to point B at (8, 8).">
            <a:extLst>
              <a:ext uri="{FF2B5EF4-FFF2-40B4-BE49-F238E27FC236}">
                <a16:creationId xmlns:a16="http://schemas.microsoft.com/office/drawing/2014/main" id="{BE21F2D1-A40B-92F1-6DD1-A694FD3168C8}"/>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4498848" y="2854693"/>
            <a:ext cx="3192715" cy="3821585"/>
          </a:xfrm>
          <a:prstGeom prst="rect">
            <a:avLst/>
          </a:prstGeom>
          <a:noFill/>
          <a:ln>
            <a:noFill/>
          </a:ln>
        </p:spPr>
      </p:pic>
      <mc:AlternateContent xmlns:mc="http://schemas.openxmlformats.org/markup-compatibility/2006" xmlns:a14="http://schemas.microsoft.com/office/drawing/2010/main">
        <mc:Choice Requires="a14">
          <p:sp>
            <p:nvSpPr>
              <p:cNvPr id="3" name="Google Shape;517;p8">
                <a:extLst>
                  <a:ext uri="{FF2B5EF4-FFF2-40B4-BE49-F238E27FC236}">
                    <a16:creationId xmlns:a16="http://schemas.microsoft.com/office/drawing/2014/main" id="{13D782E1-CE2A-2015-9B6C-524A9BD26A08}"/>
                  </a:ext>
                </a:extLst>
              </p:cNvPr>
              <p:cNvSpPr txBox="1"/>
              <p:nvPr/>
            </p:nvSpPr>
            <p:spPr>
              <a:xfrm>
                <a:off x="777239" y="1615095"/>
                <a:ext cx="10805161" cy="1386750"/>
              </a:xfrm>
              <a:prstGeom prst="rect">
                <a:avLst/>
              </a:prstGeom>
              <a:noFill/>
              <a:ln>
                <a:noFill/>
              </a:ln>
            </p:spPr>
            <p:txBody>
              <a:bodyPr spcFirstLastPara="1" wrap="square" lIns="91425" tIns="45700" rIns="91425" bIns="45700" anchor="t" anchorCtr="0">
                <a:spAutoFit/>
              </a:bodyPr>
              <a:lstStyle/>
              <a:p>
                <a:pPr marL="514350" marR="0" lvl="0" indent="-514350" algn="l" rtl="0">
                  <a:spcBef>
                    <a:spcPts val="0"/>
                  </a:spcBef>
                  <a:spcAft>
                    <a:spcPts val="0"/>
                  </a:spcAft>
                  <a:buFont typeface="+mj-lt"/>
                  <a:buAutoNum type="arabicPeriod" startAt="6"/>
                </a:pPr>
                <a:r>
                  <a:rPr lang="en-US" sz="2800" dirty="0">
                    <a:solidFill>
                      <a:srgbClr val="000000"/>
                    </a:solidFill>
                    <a:latin typeface="Calibri"/>
                    <a:ea typeface="Calibri"/>
                    <a:cs typeface="Calibri"/>
                    <a:sym typeface="Calibri"/>
                  </a:rPr>
                  <a:t>Draw </a:t>
                </a:r>
                <a14:m>
                  <m:oMath xmlns:m="http://schemas.openxmlformats.org/officeDocument/2006/math">
                    <m:acc>
                      <m:accPr>
                        <m:chr m:val="̅"/>
                        <m:ctrlPr>
                          <a:rPr lang="en-US" sz="2800" i="1" smtClean="0">
                            <a:solidFill>
                              <a:srgbClr val="000000"/>
                            </a:solidFill>
                            <a:latin typeface="Cambria Math" panose="02040503050406030204" pitchFamily="18" charset="0"/>
                            <a:ea typeface="Calibri"/>
                            <a:cs typeface="Calibri"/>
                            <a:sym typeface="Calibri"/>
                          </a:rPr>
                        </m:ctrlPr>
                      </m:accPr>
                      <m:e>
                        <m:r>
                          <a:rPr lang="en-US" sz="2800" b="0" i="1" smtClean="0">
                            <a:solidFill>
                              <a:srgbClr val="000000"/>
                            </a:solidFill>
                            <a:latin typeface="Cambria Math" panose="02040503050406030204" pitchFamily="18" charset="0"/>
                            <a:ea typeface="Calibri"/>
                            <a:cs typeface="Calibri"/>
                            <a:sym typeface="Calibri"/>
                          </a:rPr>
                          <m:t>𝐺𝐻</m:t>
                        </m:r>
                      </m:e>
                    </m:acc>
                  </m:oMath>
                </a14:m>
                <a:r>
                  <a:rPr lang="en-US" sz="2800" dirty="0">
                    <a:solidFill>
                      <a:srgbClr val="000000"/>
                    </a:solidFill>
                    <a:latin typeface="Calibri"/>
                    <a:ea typeface="Calibri"/>
                    <a:cs typeface="Calibri"/>
                    <a:sym typeface="Calibri"/>
                  </a:rPr>
                  <a:t> on the coordinate plane by multiplying all the </a:t>
                </a:r>
                <a:r>
                  <a:rPr lang="en-US" sz="2800" i="1" dirty="0">
                    <a:solidFill>
                      <a:srgbClr val="000000"/>
                    </a:solidFill>
                    <a:latin typeface="Calibri"/>
                    <a:ea typeface="Calibri"/>
                    <a:cs typeface="Calibri"/>
                    <a:sym typeface="Calibri"/>
                  </a:rPr>
                  <a:t>y</a:t>
                </a:r>
                <a:r>
                  <a:rPr lang="en-US" sz="2800" dirty="0">
                    <a:solidFill>
                      <a:srgbClr val="000000"/>
                    </a:solidFill>
                    <a:latin typeface="Calibri"/>
                    <a:ea typeface="Calibri"/>
                    <a:cs typeface="Calibri"/>
                    <a:sym typeface="Calibri"/>
                  </a:rPr>
                  <a:t>-coordinates of </a:t>
                </a:r>
                <a14:m>
                  <m:oMath xmlns:m="http://schemas.openxmlformats.org/officeDocument/2006/math">
                    <m:acc>
                      <m:accPr>
                        <m:chr m:val="̅"/>
                        <m:ctrlPr>
                          <a:rPr lang="en-US" sz="2800" i="1" smtClean="0">
                            <a:solidFill>
                              <a:srgbClr val="000000"/>
                            </a:solidFill>
                            <a:latin typeface="Cambria Math" panose="02040503050406030204" pitchFamily="18" charset="0"/>
                            <a:ea typeface="Calibri"/>
                            <a:cs typeface="Calibri"/>
                            <a:sym typeface="Calibri"/>
                          </a:rPr>
                        </m:ctrlPr>
                      </m:accPr>
                      <m:e>
                        <m:r>
                          <a:rPr lang="en-US" sz="2800" b="0" i="1" smtClean="0">
                            <a:solidFill>
                              <a:srgbClr val="000000"/>
                            </a:solidFill>
                            <a:latin typeface="Cambria Math" panose="02040503050406030204" pitchFamily="18" charset="0"/>
                            <a:ea typeface="Calibri"/>
                            <a:cs typeface="Calibri"/>
                            <a:sym typeface="Calibri"/>
                          </a:rPr>
                          <m:t>𝐴𝐵</m:t>
                        </m:r>
                      </m:e>
                    </m:acc>
                  </m:oMath>
                </a14:m>
                <a:r>
                  <a:rPr lang="en-US" sz="2800" dirty="0">
                    <a:solidFill>
                      <a:srgbClr val="000000"/>
                    </a:solidFill>
                    <a:latin typeface="Calibri"/>
                    <a:ea typeface="Calibri"/>
                    <a:cs typeface="Calibri"/>
                    <a:sym typeface="Calibri"/>
                  </a:rPr>
                  <a:t> by −2. Compare the two line segments. Describe how they</a:t>
                </a:r>
                <a:br>
                  <a:rPr lang="en-US" sz="2800" dirty="0">
                    <a:solidFill>
                      <a:srgbClr val="000000"/>
                    </a:solidFill>
                    <a:latin typeface="Calibri"/>
                    <a:ea typeface="Calibri"/>
                    <a:cs typeface="Calibri"/>
                    <a:sym typeface="Calibri"/>
                  </a:rPr>
                </a:br>
                <a:r>
                  <a:rPr lang="en-US" sz="2800" dirty="0">
                    <a:solidFill>
                      <a:srgbClr val="000000"/>
                    </a:solidFill>
                    <a:latin typeface="Calibri"/>
                    <a:ea typeface="Calibri"/>
                    <a:cs typeface="Calibri"/>
                    <a:sym typeface="Calibri"/>
                  </a:rPr>
                  <a:t>are related. </a:t>
                </a:r>
                <a:endParaRPr dirty="0"/>
              </a:p>
            </p:txBody>
          </p:sp>
        </mc:Choice>
        <mc:Fallback xmlns="">
          <p:sp>
            <p:nvSpPr>
              <p:cNvPr id="3" name="Google Shape;517;p8">
                <a:extLst>
                  <a:ext uri="{FF2B5EF4-FFF2-40B4-BE49-F238E27FC236}">
                    <a16:creationId xmlns:a16="http://schemas.microsoft.com/office/drawing/2014/main" id="{13D782E1-CE2A-2015-9B6C-524A9BD26A08}"/>
                  </a:ext>
                </a:extLst>
              </p:cNvPr>
              <p:cNvSpPr txBox="1">
                <a:spLocks noRot="1" noChangeAspect="1" noMove="1" noResize="1" noEditPoints="1" noAdjustHandles="1" noChangeArrowheads="1" noChangeShapeType="1" noTextEdit="1"/>
              </p:cNvSpPr>
              <p:nvPr/>
            </p:nvSpPr>
            <p:spPr>
              <a:xfrm>
                <a:off x="777239" y="1615095"/>
                <a:ext cx="10805161" cy="1386750"/>
              </a:xfrm>
              <a:prstGeom prst="rect">
                <a:avLst/>
              </a:prstGeom>
              <a:blipFill>
                <a:blip r:embed="rId4"/>
                <a:stretch>
                  <a:fillRect l="-1184" t="-4846" r="-1410" b="-11894"/>
                </a:stretch>
              </a:blipFill>
              <a:ln>
                <a:noFill/>
              </a:ln>
            </p:spPr>
            <p:txBody>
              <a:bodyPr/>
              <a:lstStyle/>
              <a:p>
                <a:r>
                  <a:rPr lang="en-US">
                    <a:noFill/>
                  </a:rPr>
                  <a:t> </a:t>
                </a:r>
              </a:p>
            </p:txBody>
          </p:sp>
        </mc:Fallback>
      </mc:AlternateContent>
      <p:sp>
        <p:nvSpPr>
          <p:cNvPr id="1540" name="Slide Number 1540"/>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12</a:t>
            </a:fld>
          </a:p>
        </p:txBody>
      </p:sp>
      <p:sp>
        <p:nvSpPr>
          <p:cNvPr id="1541" name="Answer 1541"/>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271</a:t>
            </a:r>
          </a:p>
        </p:txBody>
      </p:sp>
      <p:sp>
        <p:nvSpPr>
          <p:cNvPr id="1542" name="Answer 1542"/>
          <p:cNvSpPr txBox="1"/>
          <p:nvPr/>
        </p:nvSpPr>
        <p:spPr>
          <a:xfrm>
            <a:off x="7937500" y="2984500"/>
            <a:ext cx="4064000" cy="317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G(−8, 16) and H(8, −16).</a:t>
            </a:r>
          </a:p>
          <a:p>
            <a:pPr marL="0" indent="0" algn="l">
              <a:spcBef>
                <a:spcPts val="0"/>
              </a:spcBef>
              <a:spcAft>
                <a:spcPts val="300"/>
              </a:spcAft>
              <a:buNone/>
            </a:pPr>
            <a:r>
              <a:rPr lang="en-US" sz="2000" dirty="0">
                <a:solidFill>
                  <a:srgbClr val="FF0000"/>
                </a:solidFill>
              </a:rPr>
              <a:t>GH is steeper than AB, and it is reflected across the x-axis.</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5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12"/>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Returning to Transformation Station </a:t>
            </a:r>
            <a:r>
              <a:rPr lang="en-US" sz="2000" b="1" dirty="0">
                <a:solidFill>
                  <a:schemeClr val="bg1"/>
                </a:solidFill>
              </a:rPr>
              <a:t>(7 of 8)</a:t>
            </a:r>
            <a:endParaRPr dirty="0">
              <a:solidFill>
                <a:schemeClr val="bg1"/>
              </a:solidFill>
            </a:endParaRPr>
          </a:p>
        </p:txBody>
      </p:sp>
      <p:sp>
        <p:nvSpPr>
          <p:cNvPr id="549" name="Google Shape;549;p12"/>
          <p:cNvSpPr txBox="1"/>
          <p:nvPr/>
        </p:nvSpPr>
        <p:spPr>
          <a:xfrm>
            <a:off x="777240" y="1616140"/>
            <a:ext cx="9902597"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b="0" i="0" u="none" strike="noStrike" dirty="0">
                <a:solidFill>
                  <a:srgbClr val="000000"/>
                </a:solidFill>
                <a:latin typeface="Calibri"/>
                <a:ea typeface="Calibri"/>
                <a:cs typeface="Calibri"/>
                <a:sym typeface="Calibri"/>
              </a:rPr>
              <a:t>Let’s summarize our learning from the Getting Started!</a:t>
            </a:r>
            <a:endParaRPr dirty="0"/>
          </a:p>
        </p:txBody>
      </p:sp>
      <p:pic>
        <p:nvPicPr>
          <p:cNvPr id="550" name="Google Shape;550;p12">
            <a:extLst>
              <a:ext uri="{C183D7F6-B498-43B3-948B-1728B52AA6E4}">
                <adec:decorative xmlns:adec="http://schemas.microsoft.com/office/drawing/2017/decorative" val="1"/>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325025" y="372494"/>
            <a:ext cx="1501270" cy="518205"/>
          </a:xfrm>
          <a:prstGeom prst="rect">
            <a:avLst/>
          </a:prstGeom>
          <a:noFill/>
          <a:ln>
            <a:noFill/>
          </a:ln>
        </p:spPr>
      </p:pic>
      <p:sp>
        <p:nvSpPr>
          <p:cNvPr id="1550" name="Slide Number 1550"/>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13</a:t>
            </a:fld>
          </a:p>
        </p:txBody>
      </p:sp>
      <p:sp>
        <p:nvSpPr>
          <p:cNvPr id="1551" name="Answer 1551"/>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13"/>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Returning to Transformation Station </a:t>
            </a:r>
            <a:r>
              <a:rPr lang="en-US" sz="2000" b="1" dirty="0">
                <a:solidFill>
                  <a:schemeClr val="bg1"/>
                </a:solidFill>
              </a:rPr>
              <a:t>(8 of 8)</a:t>
            </a:r>
            <a:endParaRPr dirty="0">
              <a:solidFill>
                <a:schemeClr val="bg1"/>
              </a:solidFill>
            </a:endParaRPr>
          </a:p>
        </p:txBody>
      </p:sp>
      <p:sp>
        <p:nvSpPr>
          <p:cNvPr id="557" name="Google Shape;557;p13">
            <a:extLst>
              <a:ext uri="{C183D7F6-B498-43B3-948B-1728B52AA6E4}">
                <adec:decorative xmlns:adec="http://schemas.microsoft.com/office/drawing/2017/decorative" val="1"/>
              </a:ext>
            </a:extLst>
          </p:cNvPr>
          <p:cNvSpPr txBox="1"/>
          <p:nvPr/>
        </p:nvSpPr>
        <p:spPr>
          <a:xfrm>
            <a:off x="777240" y="1616140"/>
            <a:ext cx="9900285"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800"/>
              <a:buFont typeface="Arial"/>
              <a:buNone/>
            </a:pPr>
            <a:endParaRPr sz="2800" b="0" i="0" u="none" strike="noStrike">
              <a:solidFill>
                <a:srgbClr val="3A3838"/>
              </a:solidFill>
              <a:latin typeface="Calibri"/>
              <a:ea typeface="Calibri"/>
              <a:cs typeface="Calibri"/>
              <a:sym typeface="Calibri"/>
            </a:endParaRPr>
          </a:p>
          <a:p>
            <a:pPr marL="0" marR="0" lvl="0" indent="0" algn="ctr" rtl="0">
              <a:spcBef>
                <a:spcPts val="560"/>
              </a:spcBef>
              <a:spcAft>
                <a:spcPts val="0"/>
              </a:spcAft>
              <a:buClr>
                <a:schemeClr val="dk1"/>
              </a:buClr>
              <a:buSzPts val="2800"/>
              <a:buFont typeface="Arial"/>
              <a:buNone/>
            </a:pPr>
            <a:endParaRPr sz="2800">
              <a:solidFill>
                <a:srgbClr val="3A3838"/>
              </a:solidFill>
              <a:latin typeface="Calibri"/>
              <a:ea typeface="Calibri"/>
              <a:cs typeface="Calibri"/>
              <a:sym typeface="Calibri"/>
            </a:endParaRPr>
          </a:p>
        </p:txBody>
      </p:sp>
      <p:sp>
        <p:nvSpPr>
          <p:cNvPr id="1557" name="Slide Number 1557"/>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14</a:t>
            </a:fld>
          </a:p>
        </p:txBody>
      </p:sp>
      <p:sp>
        <p:nvSpPr>
          <p:cNvPr id="1558" name="Answer 1558"/>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14"/>
          <p:cNvSpPr txBox="1">
            <a:spLocks noGrp="1"/>
          </p:cNvSpPr>
          <p:nvPr>
            <p:ph type="title"/>
          </p:nvPr>
        </p:nvSpPr>
        <p:spPr>
          <a:xfrm>
            <a:off x="838200" y="-335560"/>
            <a:ext cx="10514013" cy="335560"/>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2000"/>
              <a:buFont typeface="Calibri"/>
              <a:buNone/>
            </a:pPr>
            <a:r>
              <a:rPr lang="en-US" sz="2000">
                <a:solidFill>
                  <a:schemeClr val="lt2"/>
                </a:solidFill>
                <a:latin typeface="Calibri"/>
                <a:ea typeface="Calibri"/>
                <a:cs typeface="Calibri"/>
                <a:sym typeface="Calibri"/>
              </a:rPr>
              <a:t>Activity 1.1</a:t>
            </a:r>
            <a:endParaRPr/>
          </a:p>
        </p:txBody>
      </p:sp>
      <p:sp>
        <p:nvSpPr>
          <p:cNvPr id="565" name="Google Shape;565;p14">
            <a:extLst>
              <a:ext uri="{C183D7F6-B498-43B3-948B-1728B52AA6E4}">
                <adec:decorative xmlns:adec="http://schemas.microsoft.com/office/drawing/2017/decorative" val="1"/>
              </a:ext>
            </a:extLst>
          </p:cNvPr>
          <p:cNvSpPr txBox="1">
            <a:spLocks noGrp="1"/>
          </p:cNvSpPr>
          <p:nvPr>
            <p:ph type="body" idx="1"/>
          </p:nvPr>
        </p:nvSpPr>
        <p:spPr>
          <a:xfrm>
            <a:off x="6769100" y="2957776"/>
            <a:ext cx="2025986" cy="112553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7500"/>
              <a:buNone/>
            </a:pPr>
            <a:r>
              <a:rPr lang="en-US"/>
              <a:t>1.1</a:t>
            </a:r>
            <a:endParaRPr/>
          </a:p>
        </p:txBody>
      </p:sp>
      <p:sp>
        <p:nvSpPr>
          <p:cNvPr id="564" name="Google Shape;564;p14" descr="20 to 25 minutes"/>
          <p:cNvSpPr txBox="1">
            <a:spLocks noGrp="1"/>
          </p:cNvSpPr>
          <p:nvPr>
            <p:ph type="body" idx="2"/>
          </p:nvPr>
        </p:nvSpPr>
        <p:spPr>
          <a:xfrm>
            <a:off x="10623379" y="5780973"/>
            <a:ext cx="863947" cy="795338"/>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71616"/>
              </a:buClr>
              <a:buSzPts val="2000"/>
              <a:buNone/>
            </a:pPr>
            <a:r>
              <a:rPr lang="en-US" b="1" dirty="0"/>
              <a:t>20–25</a:t>
            </a:r>
            <a:endParaRPr dirty="0"/>
          </a:p>
        </p:txBody>
      </p:sp>
      <p:sp>
        <p:nvSpPr>
          <p:cNvPr id="1565" name="Slide Number 156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15</a:t>
            </a:fld>
          </a:p>
        </p:txBody>
      </p:sp>
      <p:sp>
        <p:nvSpPr>
          <p:cNvPr id="1567" name="Answer 1567"/>
          <p:cNvSpPr txBox="1"/>
          <p:nvPr/>
        </p:nvSpPr>
        <p:spPr>
          <a:xfrm>
            <a:off x="1016000" y="952500"/>
            <a:ext cx="10160000" cy="7620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4400" b="1" dirty="0">
                <a:solidFill>
                  <a:srgbClr val="2E7D3C"/>
                </a:solidFill>
              </a:rPr>
              <a:t>★ Essential activity: do not skip</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p15"/>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Vertical Translations of Functions </a:t>
            </a:r>
            <a:r>
              <a:rPr lang="en-US" sz="2000" b="1" dirty="0">
                <a:solidFill>
                  <a:schemeClr val="bg1"/>
                </a:solidFill>
              </a:rPr>
              <a:t>(1 of 10)</a:t>
            </a:r>
            <a:endParaRPr dirty="0">
              <a:solidFill>
                <a:schemeClr val="bg1"/>
              </a:solidFill>
            </a:endParaRPr>
          </a:p>
        </p:txBody>
      </p:sp>
      <p:sp>
        <p:nvSpPr>
          <p:cNvPr id="573" name="Google Shape;573;p15"/>
          <p:cNvSpPr txBox="1"/>
          <p:nvPr/>
        </p:nvSpPr>
        <p:spPr>
          <a:xfrm>
            <a:off x="777240" y="1602297"/>
            <a:ext cx="9910334" cy="493456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dirty="0">
                <a:solidFill>
                  <a:srgbClr val="000000"/>
                </a:solidFill>
                <a:latin typeface="Calibri"/>
                <a:ea typeface="Calibri"/>
                <a:cs typeface="Calibri"/>
                <a:sym typeface="Calibri"/>
              </a:rPr>
              <a:t>Let’s determine how translations impact the graph of the linear function </a:t>
            </a:r>
            <a:r>
              <a:rPr lang="en-US" sz="2800" i="1" dirty="0">
                <a:solidFill>
                  <a:srgbClr val="000000"/>
                </a:solidFill>
                <a:latin typeface="Calibri"/>
                <a:ea typeface="Calibri"/>
                <a:cs typeface="Calibri"/>
                <a:sym typeface="Calibri"/>
              </a:rPr>
              <a:t>f</a:t>
            </a:r>
            <a:r>
              <a:rPr lang="en-US" sz="2800" dirty="0">
                <a:solidFill>
                  <a:srgbClr val="000000"/>
                </a:solidFill>
                <a:latin typeface="Calibri"/>
                <a:ea typeface="Calibri"/>
                <a:cs typeface="Calibri"/>
                <a:sym typeface="Calibri"/>
              </a:rPr>
              <a:t>(</a:t>
            </a:r>
            <a:r>
              <a:rPr lang="en-US" sz="2800" i="1" dirty="0">
                <a:solidFill>
                  <a:srgbClr val="000000"/>
                </a:solidFill>
                <a:latin typeface="Calibri"/>
                <a:ea typeface="Calibri"/>
                <a:cs typeface="Calibri"/>
                <a:sym typeface="Calibri"/>
              </a:rPr>
              <a:t>x</a:t>
            </a:r>
            <a:r>
              <a:rPr lang="en-US" sz="2800" dirty="0">
                <a:solidFill>
                  <a:srgbClr val="000000"/>
                </a:solidFill>
                <a:latin typeface="Calibri"/>
                <a:ea typeface="Calibri"/>
                <a:cs typeface="Calibri"/>
                <a:sym typeface="Calibri"/>
              </a:rPr>
              <a:t>) = </a:t>
            </a:r>
            <a:r>
              <a:rPr lang="en-US" sz="2800" i="1" dirty="0">
                <a:solidFill>
                  <a:srgbClr val="000000"/>
                </a:solidFill>
                <a:latin typeface="Calibri"/>
                <a:ea typeface="Calibri"/>
                <a:cs typeface="Calibri"/>
                <a:sym typeface="Calibri"/>
              </a:rPr>
              <a:t>x</a:t>
            </a:r>
            <a:r>
              <a:rPr lang="en-US" sz="2800" dirty="0">
                <a:solidFill>
                  <a:srgbClr val="000000"/>
                </a:solidFill>
                <a:latin typeface="Calibri"/>
                <a:ea typeface="Calibri"/>
                <a:cs typeface="Calibri"/>
                <a:sym typeface="Calibri"/>
              </a:rPr>
              <a:t>. The function </a:t>
            </a:r>
            <a:r>
              <a:rPr lang="en-US" sz="2800" i="1" dirty="0">
                <a:solidFill>
                  <a:srgbClr val="000000"/>
                </a:solidFill>
                <a:latin typeface="Calibri"/>
                <a:ea typeface="Calibri"/>
                <a:cs typeface="Calibri"/>
                <a:sym typeface="Calibri"/>
              </a:rPr>
              <a:t>f</a:t>
            </a:r>
            <a:r>
              <a:rPr lang="en-US" sz="2800" dirty="0">
                <a:solidFill>
                  <a:srgbClr val="000000"/>
                </a:solidFill>
                <a:latin typeface="Calibri"/>
                <a:ea typeface="Calibri"/>
                <a:cs typeface="Calibri"/>
                <a:sym typeface="Calibri"/>
              </a:rPr>
              <a:t>(</a:t>
            </a:r>
            <a:r>
              <a:rPr lang="en-US" sz="2800" i="1" dirty="0">
                <a:solidFill>
                  <a:srgbClr val="000000"/>
                </a:solidFill>
                <a:latin typeface="Calibri"/>
                <a:ea typeface="Calibri"/>
                <a:cs typeface="Calibri"/>
                <a:sym typeface="Calibri"/>
              </a:rPr>
              <a:t>x</a:t>
            </a:r>
            <a:r>
              <a:rPr lang="en-US" sz="2800" dirty="0">
                <a:solidFill>
                  <a:srgbClr val="000000"/>
                </a:solidFill>
                <a:latin typeface="Calibri"/>
                <a:ea typeface="Calibri"/>
                <a:cs typeface="Calibri"/>
                <a:sym typeface="Calibri"/>
              </a:rPr>
              <a:t>) = </a:t>
            </a:r>
            <a:r>
              <a:rPr lang="en-US" sz="2800" i="1" dirty="0">
                <a:solidFill>
                  <a:srgbClr val="000000"/>
                </a:solidFill>
                <a:latin typeface="Calibri"/>
                <a:ea typeface="Calibri"/>
                <a:cs typeface="Calibri"/>
                <a:sym typeface="Calibri"/>
              </a:rPr>
              <a:t>x</a:t>
            </a:r>
            <a:r>
              <a:rPr lang="en-US" sz="2800" dirty="0">
                <a:solidFill>
                  <a:srgbClr val="000000"/>
                </a:solidFill>
                <a:latin typeface="Calibri"/>
                <a:ea typeface="Calibri"/>
                <a:cs typeface="Calibri"/>
                <a:sym typeface="Calibri"/>
              </a:rPr>
              <a:t> is the </a:t>
            </a:r>
            <a:r>
              <a:rPr lang="en-US" sz="2800" i="1" dirty="0">
                <a:solidFill>
                  <a:srgbClr val="000000"/>
                </a:solidFill>
                <a:latin typeface="Calibri"/>
                <a:ea typeface="Calibri"/>
                <a:cs typeface="Calibri"/>
                <a:sym typeface="Calibri"/>
              </a:rPr>
              <a:t>parent function</a:t>
            </a:r>
            <a:r>
              <a:rPr lang="en-US" sz="2800" dirty="0">
                <a:solidFill>
                  <a:srgbClr val="000000"/>
                </a:solidFill>
                <a:latin typeface="Calibri"/>
                <a:ea typeface="Calibri"/>
                <a:cs typeface="Calibri"/>
                <a:sym typeface="Calibri"/>
              </a:rPr>
              <a:t> for the linear function family. A </a:t>
            </a:r>
            <a:r>
              <a:rPr lang="en-US" sz="2800" b="1" dirty="0">
                <a:solidFill>
                  <a:srgbClr val="000000"/>
                </a:solidFill>
                <a:latin typeface="Calibri"/>
                <a:ea typeface="Calibri"/>
                <a:cs typeface="Calibri"/>
                <a:sym typeface="Calibri"/>
              </a:rPr>
              <a:t>parent function</a:t>
            </a:r>
            <a:r>
              <a:rPr lang="en-US" sz="2800" dirty="0">
                <a:solidFill>
                  <a:srgbClr val="000000"/>
                </a:solidFill>
                <a:latin typeface="Calibri"/>
                <a:ea typeface="Calibri"/>
                <a:cs typeface="Calibri"/>
                <a:sym typeface="Calibri"/>
              </a:rPr>
              <a:t> is the simplest function of its type.</a:t>
            </a:r>
            <a:endParaRPr dirty="0"/>
          </a:p>
        </p:txBody>
      </p:sp>
      <p:sp>
        <p:nvSpPr>
          <p:cNvPr id="1573" name="Slide Number 1573"/>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16</a:t>
            </a:fld>
          </a:p>
        </p:txBody>
      </p:sp>
      <p:sp>
        <p:nvSpPr>
          <p:cNvPr id="1574" name="Answer 1574"/>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16">
            <a:extLst>
              <a:ext uri="{C183D7F6-B498-43B3-948B-1728B52AA6E4}">
                <adec:decorative xmlns:adec="http://schemas.microsoft.com/office/drawing/2017/decorative" val="1"/>
              </a:ext>
            </a:extLst>
          </p:cNvPr>
          <p:cNvSpPr/>
          <p:nvPr/>
        </p:nvSpPr>
        <p:spPr>
          <a:xfrm>
            <a:off x="3363984" y="1484851"/>
            <a:ext cx="8229601" cy="5251509"/>
          </a:xfrm>
          <a:prstGeom prst="roundRect">
            <a:avLst>
              <a:gd name="adj" fmla="val 16667"/>
            </a:avLst>
          </a:prstGeom>
          <a:noFill/>
          <a:ln w="50800" cap="flat" cmpd="dbl">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0" name="Google Shape;580;p16"/>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3200"/>
              <a:buFont typeface="Calibri"/>
              <a:buNone/>
            </a:pPr>
            <a:r>
              <a:rPr lang="en-US" b="1" dirty="0"/>
              <a:t>Vertical Translations of Functions </a:t>
            </a:r>
            <a:r>
              <a:rPr lang="en-US" sz="2000" b="1" dirty="0">
                <a:solidFill>
                  <a:schemeClr val="bg1"/>
                </a:solidFill>
              </a:rPr>
              <a:t>(2 of 10)</a:t>
            </a:r>
            <a:endParaRPr dirty="0">
              <a:solidFill>
                <a:schemeClr val="bg1"/>
              </a:solidFill>
            </a:endParaRPr>
          </a:p>
        </p:txBody>
      </p:sp>
      <p:sp>
        <p:nvSpPr>
          <p:cNvPr id="2" name="Rectangle 1">
            <a:extLst>
              <a:ext uri="{FF2B5EF4-FFF2-40B4-BE49-F238E27FC236}">
                <a16:creationId xmlns:a16="http://schemas.microsoft.com/office/drawing/2014/main" id="{4CCD9999-D8F5-3165-933B-F1C098709A1F}"/>
              </a:ext>
            </a:extLst>
          </p:cNvPr>
          <p:cNvSpPr/>
          <p:nvPr/>
        </p:nvSpPr>
        <p:spPr>
          <a:xfrm>
            <a:off x="777239" y="2063692"/>
            <a:ext cx="2267965" cy="3967992"/>
          </a:xfrm>
          <a:prstGeom prst="rect">
            <a:avLst/>
          </a:prstGeom>
          <a:noFill/>
          <a:ln w="38100">
            <a:solidFill>
              <a:schemeClr val="accent3">
                <a:lumMod val="75000"/>
              </a:schemeClr>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For the family of linear functions having the general form </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ax</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where </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are any real numbers, the function</a:t>
            </a:r>
            <a:b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b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where</a:t>
            </a:r>
            <a:b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b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 1 and </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 0, is the parent function. It is the simplest linear function.</a:t>
            </a:r>
          </a:p>
        </p:txBody>
      </p:sp>
      <p:pic>
        <p:nvPicPr>
          <p:cNvPr id="581" name="Google Shape;581;p16" descr="Worked Example"/>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4162298" y="1271472"/>
            <a:ext cx="2758679" cy="426757"/>
          </a:xfrm>
          <a:prstGeom prst="rect">
            <a:avLst/>
          </a:prstGeom>
          <a:noFill/>
          <a:ln>
            <a:noFill/>
          </a:ln>
        </p:spPr>
      </p:pic>
      <p:sp>
        <p:nvSpPr>
          <p:cNvPr id="3" name="TextBox 2">
            <a:extLst>
              <a:ext uri="{FF2B5EF4-FFF2-40B4-BE49-F238E27FC236}">
                <a16:creationId xmlns:a16="http://schemas.microsoft.com/office/drawing/2014/main" id="{57F3613B-1B32-5534-C374-D5A1B637609A}"/>
              </a:ext>
            </a:extLst>
          </p:cNvPr>
          <p:cNvSpPr txBox="1"/>
          <p:nvPr/>
        </p:nvSpPr>
        <p:spPr>
          <a:xfrm>
            <a:off x="3607265" y="1728132"/>
            <a:ext cx="7747185" cy="2092881"/>
          </a:xfrm>
          <a:prstGeom prst="rect">
            <a:avLst/>
          </a:prstGeom>
          <a:noFill/>
        </p:spPr>
        <p:txBody>
          <a:bodyPr wrap="square" rtlCol="0">
            <a:spAutoFit/>
          </a:bodyPr>
          <a:lstStyle/>
          <a:p>
            <a:pPr algn="l">
              <a:spcAft>
                <a:spcPts val="1200"/>
              </a:spcAft>
            </a:pPr>
            <a:r>
              <a:rPr lang="en-US" sz="2000" b="0" i="0" u="none" strike="noStrike" baseline="0" dirty="0">
                <a:latin typeface="Calibri" panose="020F0502020204030204" pitchFamily="34" charset="0"/>
                <a:ea typeface="Calibri" panose="020F0502020204030204" pitchFamily="34" charset="0"/>
                <a:cs typeface="Calibri" panose="020F0502020204030204" pitchFamily="34" charset="0"/>
              </a:rPr>
              <a:t>You can translate the graph of </a:t>
            </a:r>
            <a:r>
              <a:rPr lang="en-US" sz="20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0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0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000" b="0" i="0" u="none" strike="noStrike" baseline="0" dirty="0">
                <a:latin typeface="Calibri" panose="020F0502020204030204" pitchFamily="34" charset="0"/>
                <a:ea typeface="Calibri" panose="020F0502020204030204" pitchFamily="34" charset="0"/>
                <a:cs typeface="Calibri" panose="020F0502020204030204" pitchFamily="34" charset="0"/>
              </a:rPr>
              <a:t>) down 5 units by moving each point 5 units down. The transformed graph is labeled as </a:t>
            </a:r>
            <a:r>
              <a:rPr lang="en-US" sz="2000" b="0" i="1" u="none" strike="noStrike" baseline="0" dirty="0">
                <a:latin typeface="Calibri" panose="020F0502020204030204" pitchFamily="34" charset="0"/>
                <a:ea typeface="Calibri" panose="020F0502020204030204" pitchFamily="34" charset="0"/>
                <a:cs typeface="Calibri" panose="020F0502020204030204" pitchFamily="34" charset="0"/>
              </a:rPr>
              <a:t>m</a:t>
            </a:r>
            <a:r>
              <a:rPr lang="en-US" sz="20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0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000" b="0" i="0" u="none" strike="noStrike" baseline="0" dirty="0">
                <a:latin typeface="Calibri" panose="020F0502020204030204" pitchFamily="34" charset="0"/>
                <a:ea typeface="Calibri" panose="020F0502020204030204" pitchFamily="34" charset="0"/>
                <a:cs typeface="Calibri" panose="020F0502020204030204" pitchFamily="34" charset="0"/>
              </a:rPr>
              <a:t>).</a:t>
            </a:r>
          </a:p>
          <a:p>
            <a:pPr algn="l"/>
            <a:r>
              <a:rPr lang="en-US" sz="2000" b="0" i="0" u="none" strike="noStrike" baseline="0" dirty="0">
                <a:latin typeface="Calibri" panose="020F0502020204030204" pitchFamily="34" charset="0"/>
                <a:ea typeface="Calibri" panose="020F0502020204030204" pitchFamily="34" charset="0"/>
                <a:cs typeface="Calibri" panose="020F0502020204030204" pitchFamily="34" charset="0"/>
              </a:rPr>
              <a:t>To translate the point (−2, −2) on </a:t>
            </a:r>
            <a:r>
              <a:rPr lang="en-US" sz="20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0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0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000" b="0" i="0" u="none" strike="noStrike" baseline="0" dirty="0">
                <a:latin typeface="Calibri" panose="020F0502020204030204" pitchFamily="34" charset="0"/>
                <a:ea typeface="Calibri" panose="020F0502020204030204" pitchFamily="34" charset="0"/>
                <a:cs typeface="Calibri" panose="020F0502020204030204" pitchFamily="34" charset="0"/>
              </a:rPr>
              <a:t>), subtract 5 units from the output value, or </a:t>
            </a:r>
            <a:r>
              <a:rPr lang="en-US" sz="2000" b="0" i="1" u="none" strike="noStrike" baseline="0" dirty="0">
                <a:latin typeface="Calibri" panose="020F0502020204030204" pitchFamily="34" charset="0"/>
                <a:ea typeface="Calibri" panose="020F0502020204030204" pitchFamily="34" charset="0"/>
                <a:cs typeface="Calibri" panose="020F0502020204030204" pitchFamily="34" charset="0"/>
              </a:rPr>
              <a:t>y</a:t>
            </a:r>
            <a:r>
              <a:rPr lang="en-US" sz="2000" b="0" i="0" u="none" strike="noStrike" baseline="0" dirty="0">
                <a:latin typeface="Calibri" panose="020F0502020204030204" pitchFamily="34" charset="0"/>
                <a:ea typeface="Calibri" panose="020F0502020204030204" pitchFamily="34" charset="0"/>
                <a:cs typeface="Calibri" panose="020F0502020204030204" pitchFamily="34" charset="0"/>
              </a:rPr>
              <a:t>-value. The input value, or </a:t>
            </a:r>
            <a:r>
              <a:rPr lang="en-US" sz="20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000" b="0" i="0" u="none" strike="noStrike" baseline="0" dirty="0">
                <a:latin typeface="Calibri" panose="020F0502020204030204" pitchFamily="34" charset="0"/>
                <a:ea typeface="Calibri" panose="020F0502020204030204" pitchFamily="34" charset="0"/>
                <a:cs typeface="Calibri" panose="020F0502020204030204" pitchFamily="34" charset="0"/>
              </a:rPr>
              <a:t>-value, remains unchanged. The coordinates of the translated point on </a:t>
            </a:r>
            <a:r>
              <a:rPr lang="en-US" sz="2000" b="0" i="1" u="none" strike="noStrike" baseline="0" dirty="0">
                <a:latin typeface="Calibri" panose="020F0502020204030204" pitchFamily="34" charset="0"/>
                <a:ea typeface="Calibri" panose="020F0502020204030204" pitchFamily="34" charset="0"/>
                <a:cs typeface="Calibri" panose="020F0502020204030204" pitchFamily="34" charset="0"/>
              </a:rPr>
              <a:t>m</a:t>
            </a:r>
            <a:r>
              <a:rPr lang="en-US" sz="20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0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000" b="0" i="0" u="none" strike="noStrike" baseline="0" dirty="0">
                <a:latin typeface="Calibri" panose="020F0502020204030204" pitchFamily="34" charset="0"/>
                <a:ea typeface="Calibri" panose="020F0502020204030204" pitchFamily="34" charset="0"/>
                <a:cs typeface="Calibri" panose="020F0502020204030204" pitchFamily="34" charset="0"/>
              </a:rPr>
              <a:t>) are (−2, −7). The coordinates of four additional points on </a:t>
            </a:r>
            <a:r>
              <a:rPr lang="en-US" sz="20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0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0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000" b="0" i="0" u="none" strike="noStrike" baseline="0" dirty="0">
                <a:latin typeface="Calibri" panose="020F0502020204030204" pitchFamily="34" charset="0"/>
                <a:ea typeface="Calibri" panose="020F0502020204030204" pitchFamily="34" charset="0"/>
                <a:cs typeface="Calibri" panose="020F0502020204030204" pitchFamily="34" charset="0"/>
              </a:rPr>
              <a:t>) are translated for you.</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descr="A graph of two lines on the coordinate plane. The line f of x = x rises from left to right through the points from the table, including the points (0, 0) and (2, 2). The line m of x rises from left to right through the points from the table, including the points (0, negative 5) and (2, negative 3). Vertical arrows extend 5 units from each point on line f of x to a point below it on line m of x.">
            <a:extLst>
              <a:ext uri="{FF2B5EF4-FFF2-40B4-BE49-F238E27FC236}">
                <a16:creationId xmlns:a16="http://schemas.microsoft.com/office/drawing/2014/main" id="{78FA687F-D04F-F652-9937-38E5B5CD265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103573" y="3980402"/>
            <a:ext cx="2656562" cy="2656562"/>
          </a:xfrm>
          <a:prstGeom prst="rect">
            <a:avLst/>
          </a:prstGeom>
        </p:spPr>
      </p:pic>
      <p:graphicFrame>
        <p:nvGraphicFramePr>
          <p:cNvPr id="8" name="Table 7">
            <a:extLst>
              <a:ext uri="{FF2B5EF4-FFF2-40B4-BE49-F238E27FC236}">
                <a16:creationId xmlns:a16="http://schemas.microsoft.com/office/drawing/2014/main" id="{2528C5C1-A73F-6ADA-88E8-40ED62888986}"/>
              </a:ext>
            </a:extLst>
          </p:cNvPr>
          <p:cNvGraphicFramePr>
            <a:graphicFrameLocks noGrp="1"/>
          </p:cNvGraphicFramePr>
          <p:nvPr>
            <p:extLst>
              <p:ext uri="{D42A27DB-BD31-4B8C-83A1-F6EECF244321}">
                <p14:modId xmlns:p14="http://schemas.microsoft.com/office/powerpoint/2010/main" val="2680519871"/>
              </p:ext>
            </p:extLst>
          </p:nvPr>
        </p:nvGraphicFramePr>
        <p:xfrm>
          <a:off x="7006407" y="3781660"/>
          <a:ext cx="1365806" cy="640080"/>
        </p:xfrm>
        <a:graphic>
          <a:graphicData uri="http://schemas.openxmlformats.org/drawingml/2006/table">
            <a:tbl>
              <a:tblPr firstRow="1" bandRow="1">
                <a:tableStyleId>{A49AC34E-657E-4A3B-9C05-DC8BE6C80247}</a:tableStyleId>
              </a:tblPr>
              <a:tblGrid>
                <a:gridCol w="1365806">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Original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6" name="Table 5">
            <a:extLst>
              <a:ext uri="{FF2B5EF4-FFF2-40B4-BE49-F238E27FC236}">
                <a16:creationId xmlns:a16="http://schemas.microsoft.com/office/drawing/2014/main" id="{EC937E16-0A17-A552-01B6-C1C0DD6DA216}"/>
              </a:ext>
            </a:extLst>
          </p:cNvPr>
          <p:cNvGraphicFramePr>
            <a:graphicFrameLocks noGrp="1"/>
          </p:cNvGraphicFramePr>
          <p:nvPr>
            <p:extLst>
              <p:ext uri="{D42A27DB-BD31-4B8C-83A1-F6EECF244321}">
                <p14:modId xmlns:p14="http://schemas.microsoft.com/office/powerpoint/2010/main" val="3852151508"/>
              </p:ext>
            </p:extLst>
          </p:nvPr>
        </p:nvGraphicFramePr>
        <p:xfrm>
          <a:off x="7006407" y="4420947"/>
          <a:ext cx="1365806" cy="2225040"/>
        </p:xfrm>
        <a:graphic>
          <a:graphicData uri="http://schemas.openxmlformats.org/drawingml/2006/table">
            <a:tbl>
              <a:tblPr firstRow="1" bandRow="1">
                <a:tableStyleId>{A49AC34E-657E-4A3B-9C05-DC8BE6C80247}</a:tableStyleId>
              </a:tblPr>
              <a:tblGrid>
                <a:gridCol w="682903">
                  <a:extLst>
                    <a:ext uri="{9D8B030D-6E8A-4147-A177-3AD203B41FA5}">
                      <a16:colId xmlns:a16="http://schemas.microsoft.com/office/drawing/2014/main" val="189482869"/>
                    </a:ext>
                  </a:extLst>
                </a:gridCol>
                <a:gridCol w="682903">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42399944"/>
                  </a:ext>
                </a:extLst>
              </a:tr>
            </a:tbl>
          </a:graphicData>
        </a:graphic>
      </p:graphicFrame>
      <p:graphicFrame>
        <p:nvGraphicFramePr>
          <p:cNvPr id="9" name="Table 8">
            <a:extLst>
              <a:ext uri="{FF2B5EF4-FFF2-40B4-BE49-F238E27FC236}">
                <a16:creationId xmlns:a16="http://schemas.microsoft.com/office/drawing/2014/main" id="{9C6C8806-3F5C-738B-438D-E7552F92CF34}"/>
              </a:ext>
            </a:extLst>
          </p:cNvPr>
          <p:cNvGraphicFramePr>
            <a:graphicFrameLocks noGrp="1"/>
          </p:cNvGraphicFramePr>
          <p:nvPr>
            <p:extLst>
              <p:ext uri="{D42A27DB-BD31-4B8C-83A1-F6EECF244321}">
                <p14:modId xmlns:p14="http://schemas.microsoft.com/office/powerpoint/2010/main" val="3939477802"/>
              </p:ext>
            </p:extLst>
          </p:nvPr>
        </p:nvGraphicFramePr>
        <p:xfrm>
          <a:off x="8690993" y="3781660"/>
          <a:ext cx="1468284" cy="640080"/>
        </p:xfrm>
        <a:graphic>
          <a:graphicData uri="http://schemas.openxmlformats.org/drawingml/2006/table">
            <a:tbl>
              <a:tblPr firstRow="1" bandRow="1">
                <a:tableStyleId>{A49AC34E-657E-4A3B-9C05-DC8BE6C80247}</a:tableStyleId>
              </a:tblPr>
              <a:tblGrid>
                <a:gridCol w="1468284">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Transformed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7" name="Table 6">
            <a:extLst>
              <a:ext uri="{FF2B5EF4-FFF2-40B4-BE49-F238E27FC236}">
                <a16:creationId xmlns:a16="http://schemas.microsoft.com/office/drawing/2014/main" id="{AD6AD6D1-5F4F-FB0C-1CB6-FFB859B70A30}"/>
              </a:ext>
            </a:extLst>
          </p:cNvPr>
          <p:cNvGraphicFramePr>
            <a:graphicFrameLocks noGrp="1"/>
          </p:cNvGraphicFramePr>
          <p:nvPr>
            <p:extLst>
              <p:ext uri="{D42A27DB-BD31-4B8C-83A1-F6EECF244321}">
                <p14:modId xmlns:p14="http://schemas.microsoft.com/office/powerpoint/2010/main" val="684825957"/>
              </p:ext>
            </p:extLst>
          </p:nvPr>
        </p:nvGraphicFramePr>
        <p:xfrm>
          <a:off x="8690993" y="4420947"/>
          <a:ext cx="1468284" cy="2225040"/>
        </p:xfrm>
        <a:graphic>
          <a:graphicData uri="http://schemas.openxmlformats.org/drawingml/2006/table">
            <a:tbl>
              <a:tblPr firstRow="1" bandRow="1">
                <a:tableStyleId>{A49AC34E-657E-4A3B-9C05-DC8BE6C80247}</a:tableStyleId>
              </a:tblPr>
              <a:tblGrid>
                <a:gridCol w="734142">
                  <a:extLst>
                    <a:ext uri="{9D8B030D-6E8A-4147-A177-3AD203B41FA5}">
                      <a16:colId xmlns:a16="http://schemas.microsoft.com/office/drawing/2014/main" val="189482869"/>
                    </a:ext>
                  </a:extLst>
                </a:gridCol>
                <a:gridCol w="734142">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−7</a:t>
                      </a: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−6</a:t>
                      </a: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−5</a:t>
                      </a: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−4</a:t>
                      </a: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−3</a:t>
                      </a:r>
                    </a:p>
                  </a:txBody>
                  <a:tcPr anchor="ctr"/>
                </a:tc>
                <a:extLst>
                  <a:ext uri="{0D108BD9-81ED-4DB2-BD59-A6C34878D82A}">
                    <a16:rowId xmlns:a16="http://schemas.microsoft.com/office/drawing/2014/main" val="242399944"/>
                  </a:ext>
                </a:extLst>
              </a:tr>
            </a:tbl>
          </a:graphicData>
        </a:graphic>
      </p:graphicFrame>
      <p:sp>
        <p:nvSpPr>
          <p:cNvPr id="1581" name="Slide Number 1581"/>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17</a:t>
            </a:fld>
          </a:p>
        </p:txBody>
      </p:sp>
      <p:sp>
        <p:nvSpPr>
          <p:cNvPr id="1582" name="Answer 1582"/>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sp>
        <p:nvSpPr>
          <p:cNvPr id="590" name="Google Shape;590;p17"/>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Vertical Translations of Functions </a:t>
            </a:r>
            <a:r>
              <a:rPr lang="en-US" sz="2000" b="1" dirty="0">
                <a:solidFill>
                  <a:schemeClr val="bg1"/>
                </a:solidFill>
              </a:rPr>
              <a:t>(3 of 10)</a:t>
            </a:r>
            <a:endParaRPr dirty="0">
              <a:solidFill>
                <a:schemeClr val="bg1"/>
              </a:solidFill>
            </a:endParaRPr>
          </a:p>
        </p:txBody>
      </p:sp>
      <p:sp>
        <p:nvSpPr>
          <p:cNvPr id="2" name="Google Shape;573;p15">
            <a:extLst>
              <a:ext uri="{FF2B5EF4-FFF2-40B4-BE49-F238E27FC236}">
                <a16:creationId xmlns:a16="http://schemas.microsoft.com/office/drawing/2014/main" id="{0F1C6D8C-A53E-8869-B5C2-2FEE474675BC}"/>
              </a:ext>
            </a:extLst>
          </p:cNvPr>
          <p:cNvSpPr txBox="1"/>
          <p:nvPr/>
        </p:nvSpPr>
        <p:spPr>
          <a:xfrm>
            <a:off x="777239" y="1602297"/>
            <a:ext cx="10136837" cy="4934561"/>
          </a:xfrm>
          <a:prstGeom prst="rect">
            <a:avLst/>
          </a:prstGeom>
          <a:noFill/>
          <a:ln>
            <a:noFill/>
          </a:ln>
        </p:spPr>
        <p:txBody>
          <a:bodyPr spcFirstLastPara="1" wrap="square" lIns="91425" tIns="45700" rIns="91425" bIns="45700" anchor="t" anchorCtr="0">
            <a:noAutofit/>
          </a:bodyPr>
          <a:lstStyle/>
          <a:p>
            <a:pPr marL="511175" indent="-511175" algn="l">
              <a:buFont typeface="+mj-lt"/>
              <a:buAutoNum type="arabicPeriod"/>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Consider the translated function,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m</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Identify the slope and</a:t>
            </a:r>
            <a:b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b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y</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-intercept of the graph of the function. Then, write the equation for the function in general form</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endParaRPr sz="2800" dirty="0">
              <a:latin typeface="Calibri" panose="020F0502020204030204" pitchFamily="34" charset="0"/>
              <a:ea typeface="Calibri" panose="020F0502020204030204" pitchFamily="34" charset="0"/>
              <a:cs typeface="Calibri" panose="020F0502020204030204" pitchFamily="34" charset="0"/>
            </a:endParaRPr>
          </a:p>
        </p:txBody>
      </p:sp>
      <p:sp>
        <p:nvSpPr>
          <p:cNvPr id="1590" name="Slide Number 1590"/>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18</a:t>
            </a:fld>
          </a:p>
        </p:txBody>
      </p:sp>
      <p:sp>
        <p:nvSpPr>
          <p:cNvPr id="1591" name="Answer 1591"/>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272</a:t>
            </a:r>
          </a:p>
        </p:txBody>
      </p:sp>
      <p:sp>
        <p:nvSpPr>
          <p:cNvPr id="1592" name="Answer 1592"/>
          <p:cNvSpPr txBox="1"/>
          <p:nvPr/>
        </p:nvSpPr>
        <p:spPr>
          <a:xfrm>
            <a:off x="774700" y="2984500"/>
            <a:ext cx="10795000" cy="825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Slope: 1;  y-intercept: (0, −5)</a:t>
            </a:r>
          </a:p>
          <a:p>
            <a:pPr marL="0" indent="0" algn="l">
              <a:spcBef>
                <a:spcPts val="0"/>
              </a:spcBef>
              <a:spcAft>
                <a:spcPts val="300"/>
              </a:spcAft>
              <a:buNone/>
            </a:pPr>
            <a:r>
              <a:rPr lang="en-US" sz="2400" dirty="0">
                <a:solidFill>
                  <a:srgbClr val="FF0000"/>
                </a:solidFill>
              </a:rPr>
              <a:t>m(x) = x − 5</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5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sp>
        <p:nvSpPr>
          <p:cNvPr id="598" name="Google Shape;598;p18"/>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Vertical Translations of Functions </a:t>
            </a:r>
            <a:r>
              <a:rPr lang="en-US" sz="2000" b="1" dirty="0">
                <a:solidFill>
                  <a:schemeClr val="bg1"/>
                </a:solidFill>
              </a:rPr>
              <a:t>(4 of 10)</a:t>
            </a:r>
            <a:endParaRPr dirty="0">
              <a:solidFill>
                <a:schemeClr val="bg1"/>
              </a:solidFill>
            </a:endParaRPr>
          </a:p>
        </p:txBody>
      </p:sp>
      <p:sp>
        <p:nvSpPr>
          <p:cNvPr id="2" name="Google Shape;573;p15">
            <a:extLst>
              <a:ext uri="{FF2B5EF4-FFF2-40B4-BE49-F238E27FC236}">
                <a16:creationId xmlns:a16="http://schemas.microsoft.com/office/drawing/2014/main" id="{D733FEA7-2825-BF64-7DEE-85C51F26D218}"/>
              </a:ext>
            </a:extLst>
          </p:cNvPr>
          <p:cNvSpPr txBox="1"/>
          <p:nvPr/>
        </p:nvSpPr>
        <p:spPr>
          <a:xfrm>
            <a:off x="777239" y="1602297"/>
            <a:ext cx="10136837" cy="1401471"/>
          </a:xfrm>
          <a:prstGeom prst="rect">
            <a:avLst/>
          </a:prstGeom>
          <a:noFill/>
          <a:ln>
            <a:noFill/>
          </a:ln>
        </p:spPr>
        <p:txBody>
          <a:bodyPr spcFirstLastPara="1" wrap="square" lIns="91425" tIns="45700" rIns="91425" bIns="45700" anchor="t" anchorCtr="0">
            <a:noAutofit/>
          </a:bodyPr>
          <a:lstStyle/>
          <a:p>
            <a:pPr marL="514350" indent="-514350" algn="l">
              <a:spcAft>
                <a:spcPts val="600"/>
              </a:spcAft>
              <a:buFont typeface="+mj-lt"/>
              <a:buAutoNum type="arabicPeriod" startAt="2"/>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Translate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again to create a new function,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p</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p>
          <a:p>
            <a:pPr marL="1031875" lvl="2" indent="-514350">
              <a:buFont typeface="+mj-lt"/>
              <a:buAutoNum type="alphaLcPeriod"/>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Translate the graph of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f</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up 5 units. Label your graph as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p</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Complete the table of corresponding points on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p</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endParaRPr sz="2800" dirty="0">
              <a:latin typeface="Calibri" panose="020F0502020204030204" pitchFamily="34" charset="0"/>
              <a:ea typeface="Calibri" panose="020F0502020204030204" pitchFamily="34" charset="0"/>
              <a:cs typeface="Calibri" panose="020F0502020204030204" pitchFamily="34" charset="0"/>
            </a:endParaRPr>
          </a:p>
        </p:txBody>
      </p:sp>
      <p:pic>
        <p:nvPicPr>
          <p:cNvPr id="597" name="Google Shape;597;p18" descr="A graph of line f of x = x on the coordinate plane. The line rises from left to right through the points from the table, including the points (0, 0) and (2, 2)."/>
          <p:cNvPicPr>
            <a:picLocks noChangeAspect="1"/>
          </p:cNvPicPr>
          <p:nvPr/>
        </p:nvPicPr>
        <p:blipFill rotWithShape="1">
          <a:blip r:embed="rId3" cstate="email">
            <a:alphaModFix/>
            <a:extLst>
              <a:ext uri="{28A0092B-C50C-407E-A947-70E740481C1C}">
                <a14:useLocalDpi xmlns:a14="http://schemas.microsoft.com/office/drawing/2010/main"/>
              </a:ext>
            </a:extLst>
          </a:blip>
          <a:srcRect/>
          <a:stretch/>
        </p:blipFill>
        <p:spPr>
          <a:xfrm>
            <a:off x="1799872" y="3079269"/>
            <a:ext cx="3877826" cy="3622226"/>
          </a:xfrm>
          <a:prstGeom prst="rect">
            <a:avLst/>
          </a:prstGeom>
          <a:noFill/>
          <a:ln>
            <a:noFill/>
          </a:ln>
        </p:spPr>
      </p:pic>
      <p:graphicFrame>
        <p:nvGraphicFramePr>
          <p:cNvPr id="5" name="Table 4">
            <a:extLst>
              <a:ext uri="{FF2B5EF4-FFF2-40B4-BE49-F238E27FC236}">
                <a16:creationId xmlns:a16="http://schemas.microsoft.com/office/drawing/2014/main" id="{328BE05C-E4EE-EDCE-5FD8-778174FDA001}"/>
              </a:ext>
            </a:extLst>
          </p:cNvPr>
          <p:cNvGraphicFramePr>
            <a:graphicFrameLocks noGrp="1"/>
          </p:cNvGraphicFramePr>
          <p:nvPr>
            <p:extLst>
              <p:ext uri="{D42A27DB-BD31-4B8C-83A1-F6EECF244321}">
                <p14:modId xmlns:p14="http://schemas.microsoft.com/office/powerpoint/2010/main" val="3453632045"/>
              </p:ext>
            </p:extLst>
          </p:nvPr>
        </p:nvGraphicFramePr>
        <p:xfrm>
          <a:off x="6512716" y="3342872"/>
          <a:ext cx="1365806" cy="640080"/>
        </p:xfrm>
        <a:graphic>
          <a:graphicData uri="http://schemas.openxmlformats.org/drawingml/2006/table">
            <a:tbl>
              <a:tblPr firstRow="1" bandRow="1">
                <a:tableStyleId>{A49AC34E-657E-4A3B-9C05-DC8BE6C80247}</a:tableStyleId>
              </a:tblPr>
              <a:tblGrid>
                <a:gridCol w="1365806">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Original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3" name="Table 2">
            <a:extLst>
              <a:ext uri="{FF2B5EF4-FFF2-40B4-BE49-F238E27FC236}">
                <a16:creationId xmlns:a16="http://schemas.microsoft.com/office/drawing/2014/main" id="{3ADA399E-387B-E108-C3D0-0642B9943127}"/>
              </a:ext>
            </a:extLst>
          </p:cNvPr>
          <p:cNvGraphicFramePr>
            <a:graphicFrameLocks noGrp="1"/>
          </p:cNvGraphicFramePr>
          <p:nvPr>
            <p:extLst>
              <p:ext uri="{D42A27DB-BD31-4B8C-83A1-F6EECF244321}">
                <p14:modId xmlns:p14="http://schemas.microsoft.com/office/powerpoint/2010/main" val="1268328403"/>
              </p:ext>
            </p:extLst>
          </p:nvPr>
        </p:nvGraphicFramePr>
        <p:xfrm>
          <a:off x="6512716" y="3982159"/>
          <a:ext cx="1365806" cy="2225040"/>
        </p:xfrm>
        <a:graphic>
          <a:graphicData uri="http://schemas.openxmlformats.org/drawingml/2006/table">
            <a:tbl>
              <a:tblPr firstRow="1" bandRow="1">
                <a:tableStyleId>{A49AC34E-657E-4A3B-9C05-DC8BE6C80247}</a:tableStyleId>
              </a:tblPr>
              <a:tblGrid>
                <a:gridCol w="682903">
                  <a:extLst>
                    <a:ext uri="{9D8B030D-6E8A-4147-A177-3AD203B41FA5}">
                      <a16:colId xmlns:a16="http://schemas.microsoft.com/office/drawing/2014/main" val="189482869"/>
                    </a:ext>
                  </a:extLst>
                </a:gridCol>
                <a:gridCol w="682903">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42399944"/>
                  </a:ext>
                </a:extLst>
              </a:tr>
            </a:tbl>
          </a:graphicData>
        </a:graphic>
      </p:graphicFrame>
      <p:graphicFrame>
        <p:nvGraphicFramePr>
          <p:cNvPr id="6" name="Table 5">
            <a:extLst>
              <a:ext uri="{FF2B5EF4-FFF2-40B4-BE49-F238E27FC236}">
                <a16:creationId xmlns:a16="http://schemas.microsoft.com/office/drawing/2014/main" id="{98629BFB-19BC-E69B-A87B-4CD7A0E3FB39}"/>
              </a:ext>
            </a:extLst>
          </p:cNvPr>
          <p:cNvGraphicFramePr>
            <a:graphicFrameLocks noGrp="1"/>
          </p:cNvGraphicFramePr>
          <p:nvPr>
            <p:extLst>
              <p:ext uri="{D42A27DB-BD31-4B8C-83A1-F6EECF244321}">
                <p14:modId xmlns:p14="http://schemas.microsoft.com/office/powerpoint/2010/main" val="3284003831"/>
              </p:ext>
            </p:extLst>
          </p:nvPr>
        </p:nvGraphicFramePr>
        <p:xfrm>
          <a:off x="8197302" y="3342872"/>
          <a:ext cx="1468284" cy="640080"/>
        </p:xfrm>
        <a:graphic>
          <a:graphicData uri="http://schemas.openxmlformats.org/drawingml/2006/table">
            <a:tbl>
              <a:tblPr firstRow="1" bandRow="1">
                <a:tableStyleId>{A49AC34E-657E-4A3B-9C05-DC8BE6C80247}</a:tableStyleId>
              </a:tblPr>
              <a:tblGrid>
                <a:gridCol w="1468284">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Transformed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4" name="Table 3">
            <a:extLst>
              <a:ext uri="{FF2B5EF4-FFF2-40B4-BE49-F238E27FC236}">
                <a16:creationId xmlns:a16="http://schemas.microsoft.com/office/drawing/2014/main" id="{F84A9D00-48BF-EE6E-AC12-2208EF20CAD8}"/>
              </a:ext>
            </a:extLst>
          </p:cNvPr>
          <p:cNvGraphicFramePr>
            <a:graphicFrameLocks noGrp="1"/>
          </p:cNvGraphicFramePr>
          <p:nvPr>
            <p:extLst>
              <p:ext uri="{D42A27DB-BD31-4B8C-83A1-F6EECF244321}">
                <p14:modId xmlns:p14="http://schemas.microsoft.com/office/powerpoint/2010/main" val="2365514222"/>
              </p:ext>
            </p:extLst>
          </p:nvPr>
        </p:nvGraphicFramePr>
        <p:xfrm>
          <a:off x="8197302" y="3982159"/>
          <a:ext cx="1468284" cy="2225040"/>
        </p:xfrm>
        <a:graphic>
          <a:graphicData uri="http://schemas.openxmlformats.org/drawingml/2006/table">
            <a:tbl>
              <a:tblPr firstRow="1" bandRow="1">
                <a:tableStyleId>{A49AC34E-657E-4A3B-9C05-DC8BE6C80247}</a:tableStyleId>
              </a:tblPr>
              <a:tblGrid>
                <a:gridCol w="734142">
                  <a:extLst>
                    <a:ext uri="{9D8B030D-6E8A-4147-A177-3AD203B41FA5}">
                      <a16:colId xmlns:a16="http://schemas.microsoft.com/office/drawing/2014/main" val="189482869"/>
                    </a:ext>
                  </a:extLst>
                </a:gridCol>
                <a:gridCol w="734142">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p</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01988286"/>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781282175"/>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731882555"/>
                  </a:ext>
                </a:extLst>
              </a:tr>
              <a:tr h="370840">
                <a:tc>
                  <a:txBody>
                    <a:bodyPr/>
                    <a:lstStyle/>
                    <a:p>
                      <a:pPr algn="ct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42399944"/>
                  </a:ext>
                </a:extLst>
              </a:tr>
            </a:tbl>
          </a:graphicData>
        </a:graphic>
      </p:graphicFrame>
      <p:sp>
        <p:nvSpPr>
          <p:cNvPr id="1598" name="Slide Number 1598"/>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19</a:t>
            </a:fld>
          </a:p>
        </p:txBody>
      </p:sp>
      <p:sp>
        <p:nvSpPr>
          <p:cNvPr id="1599" name="Answer 1599"/>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273</a:t>
            </a:r>
          </a:p>
        </p:txBody>
      </p:sp>
      <p:sp>
        <p:nvSpPr>
          <p:cNvPr id="1600" name="Answer 1600"/>
          <p:cNvSpPr txBox="1"/>
          <p:nvPr/>
        </p:nvSpPr>
        <p:spPr>
          <a:xfrm>
            <a:off x="8934450" y="434975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3</a:t>
            </a:r>
          </a:p>
        </p:txBody>
      </p:sp>
      <p:sp>
        <p:nvSpPr>
          <p:cNvPr id="1601" name="Answer 1601"/>
          <p:cNvSpPr txBox="1"/>
          <p:nvPr/>
        </p:nvSpPr>
        <p:spPr>
          <a:xfrm>
            <a:off x="8934450" y="471805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4</a:t>
            </a:r>
          </a:p>
        </p:txBody>
      </p:sp>
      <p:sp>
        <p:nvSpPr>
          <p:cNvPr id="1602" name="Answer 1602"/>
          <p:cNvSpPr txBox="1"/>
          <p:nvPr/>
        </p:nvSpPr>
        <p:spPr>
          <a:xfrm>
            <a:off x="8934450" y="508635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5</a:t>
            </a:r>
          </a:p>
        </p:txBody>
      </p:sp>
      <p:sp>
        <p:nvSpPr>
          <p:cNvPr id="1603" name="Answer 1603"/>
          <p:cNvSpPr txBox="1"/>
          <p:nvPr/>
        </p:nvSpPr>
        <p:spPr>
          <a:xfrm>
            <a:off x="8934450" y="545465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6</a:t>
            </a:r>
          </a:p>
        </p:txBody>
      </p:sp>
      <p:sp>
        <p:nvSpPr>
          <p:cNvPr id="1604" name="Answer 1604"/>
          <p:cNvSpPr txBox="1"/>
          <p:nvPr/>
        </p:nvSpPr>
        <p:spPr>
          <a:xfrm>
            <a:off x="8934450" y="582295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7</a:t>
            </a:r>
          </a:p>
        </p:txBody>
      </p:sp>
      <p:sp>
        <p:nvSpPr>
          <p:cNvPr id="1605" name="Answer 1605"/>
          <p:cNvSpPr txBox="1"/>
          <p:nvPr/>
        </p:nvSpPr>
        <p:spPr>
          <a:xfrm>
            <a:off x="6515100" y="6286500"/>
            <a:ext cx="5461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Graph p(x): the line through (0, 5), parallel to f(x)</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600"/>
                                        </p:tgtEl>
                                        <p:attrNameLst>
                                          <p:attrName>style.visibility</p:attrName>
                                        </p:attrNameLst>
                                      </p:cBhvr>
                                      <p:to>
                                        <p:strVal val="visible"/>
                                      </p:to>
                                    </p:set>
                                  </p:childTnLst>
                                </p:cTn>
                              </p:par>
                              <p:par>
                                <p:cTn id="5" presetID="1" presetClass="entr" presetSubtype="0" fill="hold" nodeType="withEffect">
                                  <p:stCondLst>
                                    <p:cond delay="0"/>
                                  </p:stCondLst>
                                  <p:childTnLst>
                                    <p:set>
                                      <p:cBhvr>
                                        <p:cTn id="6" dur="1" fill="hold">
                                          <p:stCondLst>
                                            <p:cond delay="0"/>
                                          </p:stCondLst>
                                        </p:cTn>
                                        <p:tgtEl>
                                          <p:spTgt spid="160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0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0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0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6" name="Google Shape;606;p19"/>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Vertical Translations of Functions </a:t>
            </a:r>
            <a:r>
              <a:rPr lang="en-US" sz="2000" b="1" dirty="0">
                <a:solidFill>
                  <a:schemeClr val="bg1"/>
                </a:solidFill>
              </a:rPr>
              <a:t>(5 of 10)</a:t>
            </a:r>
            <a:endParaRPr dirty="0">
              <a:solidFill>
                <a:schemeClr val="bg1"/>
              </a:solidFill>
            </a:endParaRPr>
          </a:p>
        </p:txBody>
      </p:sp>
      <p:sp>
        <p:nvSpPr>
          <p:cNvPr id="2" name="Google Shape;573;p15">
            <a:extLst>
              <a:ext uri="{FF2B5EF4-FFF2-40B4-BE49-F238E27FC236}">
                <a16:creationId xmlns:a16="http://schemas.microsoft.com/office/drawing/2014/main" id="{10E0F62F-9408-96E3-35EE-5A6EF0D6496C}"/>
              </a:ext>
            </a:extLst>
          </p:cNvPr>
          <p:cNvSpPr txBox="1"/>
          <p:nvPr/>
        </p:nvSpPr>
        <p:spPr>
          <a:xfrm>
            <a:off x="777239" y="1602297"/>
            <a:ext cx="10136837" cy="1401471"/>
          </a:xfrm>
          <a:prstGeom prst="rect">
            <a:avLst/>
          </a:prstGeom>
          <a:noFill/>
          <a:ln>
            <a:noFill/>
          </a:ln>
        </p:spPr>
        <p:txBody>
          <a:bodyPr spcFirstLastPara="1" wrap="square" lIns="91425" tIns="45700" rIns="91425" bIns="45700" anchor="t" anchorCtr="0">
            <a:noAutofit/>
          </a:bodyPr>
          <a:lstStyle/>
          <a:p>
            <a:pPr marL="514350" lvl="2" indent="-514350">
              <a:buFont typeface="+mj-lt"/>
              <a:buAutoNum type="alphaLcPeriod" startAt="2"/>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Identify the slope and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y</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-intercept of th</a:t>
            </a:r>
            <a:r>
              <a:rPr lang="en-US" sz="2800" dirty="0">
                <a:latin typeface="Calibri" panose="020F0502020204030204" pitchFamily="34" charset="0"/>
                <a:ea typeface="Calibri" panose="020F0502020204030204" pitchFamily="34" charset="0"/>
                <a:cs typeface="Calibri" panose="020F0502020204030204" pitchFamily="34" charset="0"/>
                <a:sym typeface="Calibri"/>
              </a:rPr>
              <a:t>e graph of the function. Then, write the equation for the function in general form</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endParaRPr sz="2800" dirty="0">
              <a:latin typeface="Calibri" panose="020F0502020204030204" pitchFamily="34" charset="0"/>
              <a:ea typeface="Calibri" panose="020F0502020204030204" pitchFamily="34" charset="0"/>
              <a:cs typeface="Calibri" panose="020F0502020204030204" pitchFamily="34" charset="0"/>
            </a:endParaRPr>
          </a:p>
        </p:txBody>
      </p:sp>
      <p:sp>
        <p:nvSpPr>
          <p:cNvPr id="1606" name="Slide Number 1606"/>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20</a:t>
            </a:fld>
          </a:p>
        </p:txBody>
      </p:sp>
      <p:sp>
        <p:nvSpPr>
          <p:cNvPr id="1607" name="Answer 1607"/>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273</a:t>
            </a:r>
          </a:p>
        </p:txBody>
      </p:sp>
      <p:sp>
        <p:nvSpPr>
          <p:cNvPr id="1608" name="Answer 1608"/>
          <p:cNvSpPr txBox="1"/>
          <p:nvPr/>
        </p:nvSpPr>
        <p:spPr>
          <a:xfrm>
            <a:off x="774700" y="2667000"/>
            <a:ext cx="10795000" cy="825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Slope: 1;  y-intercept: (0, 5)</a:t>
            </a:r>
          </a:p>
          <a:p>
            <a:pPr marL="0" indent="0" algn="l">
              <a:spcBef>
                <a:spcPts val="0"/>
              </a:spcBef>
              <a:spcAft>
                <a:spcPts val="300"/>
              </a:spcAft>
              <a:buNone/>
            </a:pPr>
            <a:r>
              <a:rPr lang="en-US" sz="2400" dirty="0">
                <a:solidFill>
                  <a:srgbClr val="FF0000"/>
                </a:solidFill>
              </a:rPr>
              <a:t>p(x) = x + 5</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6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613" name="Google Shape;613;p20"/>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Vertical Translations of Functions </a:t>
            </a:r>
            <a:r>
              <a:rPr lang="en-US" sz="2000" b="1" dirty="0">
                <a:solidFill>
                  <a:schemeClr val="bg1"/>
                </a:solidFill>
              </a:rPr>
              <a:t>(6 of 10)</a:t>
            </a:r>
            <a:endParaRPr dirty="0">
              <a:solidFill>
                <a:schemeClr val="bg1"/>
              </a:solidFill>
            </a:endParaRPr>
          </a:p>
        </p:txBody>
      </p:sp>
      <p:sp>
        <p:nvSpPr>
          <p:cNvPr id="2" name="Google Shape;573;p15">
            <a:extLst>
              <a:ext uri="{FF2B5EF4-FFF2-40B4-BE49-F238E27FC236}">
                <a16:creationId xmlns:a16="http://schemas.microsoft.com/office/drawing/2014/main" id="{87B65744-7B6C-6798-F906-D186F0966DFA}"/>
              </a:ext>
            </a:extLst>
          </p:cNvPr>
          <p:cNvSpPr txBox="1"/>
          <p:nvPr/>
        </p:nvSpPr>
        <p:spPr>
          <a:xfrm>
            <a:off x="777239" y="1602297"/>
            <a:ext cx="10136837" cy="5041784"/>
          </a:xfrm>
          <a:prstGeom prst="rect">
            <a:avLst/>
          </a:prstGeom>
          <a:noFill/>
          <a:ln>
            <a:noFill/>
          </a:ln>
        </p:spPr>
        <p:txBody>
          <a:bodyPr spcFirstLastPara="1" wrap="square" lIns="91425" tIns="45700" rIns="91425" bIns="45700" anchor="t" anchorCtr="0">
            <a:noAutofit/>
          </a:bodyPr>
          <a:lstStyle/>
          <a:p>
            <a:pPr algn="l">
              <a:spcAft>
                <a:spcPts val="1200"/>
              </a:spcAft>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For the parent function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the transformed function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y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d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shows a vertical translation of the function. This translation affects the output values, or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y</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-values, of the function. For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d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&gt; 0, the resulting graph vertically shifts up. For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d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&lt; 0, the resulting graph vertically shifts down. The distance the graph is shifted is the absolute value of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d</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or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d</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p>
          <a:p>
            <a:pPr marL="514350" indent="-514350" algn="l">
              <a:buFont typeface="+mj-lt"/>
              <a:buAutoNum type="arabicPeriod" startAt="3"/>
            </a:pPr>
            <a:r>
              <a:rPr lang="en-US" sz="2800" dirty="0">
                <a:latin typeface="Calibri" panose="020F0502020204030204" pitchFamily="34" charset="0"/>
                <a:ea typeface="Calibri" panose="020F0502020204030204" pitchFamily="34" charset="0"/>
                <a:cs typeface="Calibri" panose="020F0502020204030204" pitchFamily="34" charset="0"/>
              </a:rPr>
              <a:t>Compare the values of </a:t>
            </a:r>
            <a:r>
              <a:rPr lang="en-US" sz="2800" i="1" dirty="0">
                <a:latin typeface="Calibri" panose="020F0502020204030204" pitchFamily="34" charset="0"/>
                <a:ea typeface="Calibri" panose="020F0502020204030204" pitchFamily="34" charset="0"/>
                <a:cs typeface="Calibri" panose="020F0502020204030204" pitchFamily="34" charset="0"/>
              </a:rPr>
              <a:t>f</a:t>
            </a:r>
            <a:r>
              <a:rPr lang="en-US" sz="2800" dirty="0">
                <a:latin typeface="Calibri" panose="020F0502020204030204" pitchFamily="34" charset="0"/>
                <a:ea typeface="Calibri" panose="020F0502020204030204" pitchFamily="34" charset="0"/>
                <a:cs typeface="Calibri" panose="020F0502020204030204" pitchFamily="34" charset="0"/>
              </a:rPr>
              <a:t>(2) and </a:t>
            </a:r>
            <a:r>
              <a:rPr lang="en-US" sz="2800" i="1" dirty="0">
                <a:latin typeface="Calibri" panose="020F0502020204030204" pitchFamily="34" charset="0"/>
                <a:ea typeface="Calibri" panose="020F0502020204030204" pitchFamily="34" charset="0"/>
                <a:cs typeface="Calibri" panose="020F0502020204030204" pitchFamily="34" charset="0"/>
              </a:rPr>
              <a:t>p</a:t>
            </a:r>
            <a:r>
              <a:rPr lang="en-US" sz="2800" dirty="0">
                <a:latin typeface="Calibri" panose="020F0502020204030204" pitchFamily="34" charset="0"/>
                <a:ea typeface="Calibri" panose="020F0502020204030204" pitchFamily="34" charset="0"/>
                <a:cs typeface="Calibri" panose="020F0502020204030204" pitchFamily="34" charset="0"/>
              </a:rPr>
              <a:t>(2). How did the transformation of the function affect the value of the function at </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2?</a:t>
            </a:r>
            <a:endParaRPr sz="2800" dirty="0">
              <a:latin typeface="Calibri" panose="020F0502020204030204" pitchFamily="34" charset="0"/>
              <a:ea typeface="Calibri" panose="020F0502020204030204" pitchFamily="34" charset="0"/>
              <a:cs typeface="Calibri" panose="020F0502020204030204" pitchFamily="34" charset="0"/>
            </a:endParaRPr>
          </a:p>
        </p:txBody>
      </p:sp>
      <p:sp>
        <p:nvSpPr>
          <p:cNvPr id="1613" name="Slide Number 1613"/>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21</a:t>
            </a:fld>
          </a:p>
        </p:txBody>
      </p:sp>
      <p:sp>
        <p:nvSpPr>
          <p:cNvPr id="1614" name="Answer 1614"/>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273</a:t>
            </a:r>
          </a:p>
        </p:txBody>
      </p:sp>
      <p:sp>
        <p:nvSpPr>
          <p:cNvPr id="1615" name="Answer 1615"/>
          <p:cNvSpPr txBox="1"/>
          <p:nvPr/>
        </p:nvSpPr>
        <p:spPr>
          <a:xfrm>
            <a:off x="774700" y="5245100"/>
            <a:ext cx="10795000" cy="8445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f(2) = 2 and p(2) = 7.</a:t>
            </a:r>
          </a:p>
          <a:p>
            <a:pPr marL="0" indent="0" algn="l">
              <a:spcBef>
                <a:spcPts val="0"/>
              </a:spcBef>
              <a:spcAft>
                <a:spcPts val="300"/>
              </a:spcAft>
              <a:buNone/>
            </a:pPr>
            <a:r>
              <a:rPr lang="en-US" sz="2400" dirty="0">
                <a:solidFill>
                  <a:srgbClr val="FF0000"/>
                </a:solidFill>
              </a:rPr>
              <a:t>The vertical translation increased the value at x = 2 by 5.</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6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620" name="Google Shape;620;p21"/>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Vertical Translations of Functions </a:t>
            </a:r>
            <a:r>
              <a:rPr lang="en-US" sz="2000" b="1" dirty="0">
                <a:solidFill>
                  <a:schemeClr val="bg1"/>
                </a:solidFill>
              </a:rPr>
              <a:t>(7 of 10)</a:t>
            </a:r>
            <a:endParaRPr dirty="0">
              <a:solidFill>
                <a:schemeClr val="bg1"/>
              </a:solidFill>
            </a:endParaRPr>
          </a:p>
        </p:txBody>
      </p:sp>
      <p:sp>
        <p:nvSpPr>
          <p:cNvPr id="2" name="Google Shape;573;p15">
            <a:extLst>
              <a:ext uri="{FF2B5EF4-FFF2-40B4-BE49-F238E27FC236}">
                <a16:creationId xmlns:a16="http://schemas.microsoft.com/office/drawing/2014/main" id="{D0FEF7CC-7173-A3AF-2B46-8BE9CD675FD8}"/>
              </a:ext>
            </a:extLst>
          </p:cNvPr>
          <p:cNvSpPr txBox="1"/>
          <p:nvPr/>
        </p:nvSpPr>
        <p:spPr>
          <a:xfrm>
            <a:off x="777239" y="1602298"/>
            <a:ext cx="10136837" cy="813732"/>
          </a:xfrm>
          <a:prstGeom prst="rect">
            <a:avLst/>
          </a:prstGeom>
          <a:noFill/>
          <a:ln>
            <a:noFill/>
          </a:ln>
        </p:spPr>
        <p:txBody>
          <a:bodyPr spcFirstLastPara="1" wrap="square" lIns="91425" tIns="45700" rIns="91425" bIns="45700" anchor="t" anchorCtr="0">
            <a:noAutofit/>
          </a:bodyPr>
          <a:lstStyle/>
          <a:p>
            <a:pPr marL="514350" lvl="2" indent="-514350">
              <a:buFont typeface="+mj-lt"/>
              <a:buAutoNum type="arabicPeriod" startAt="4"/>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Consider the graph of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j</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 2</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− 1.</a:t>
            </a:r>
            <a:endParaRPr sz="2800" dirty="0">
              <a:latin typeface="Calibri" panose="020F0502020204030204" pitchFamily="34" charset="0"/>
              <a:ea typeface="Calibri" panose="020F0502020204030204" pitchFamily="34" charset="0"/>
              <a:cs typeface="Calibri" panose="020F0502020204030204" pitchFamily="34" charset="0"/>
            </a:endParaRPr>
          </a:p>
        </p:txBody>
      </p:sp>
      <p:pic>
        <p:nvPicPr>
          <p:cNvPr id="622" name="Google Shape;622;p21" descr="Two graphs. Both graphs of line j of x = 2 x minus 1 on the coordinate plane. The line rises from left to right through the points from the table, including the points (0, negative 1) and (1, 1)."/>
          <p:cNvPicPr preferRelativeResize="0"/>
          <p:nvPr/>
        </p:nvPicPr>
        <p:blipFill rotWithShape="1">
          <a:blip r:embed="rId3">
            <a:alphaModFix/>
          </a:blip>
          <a:srcRect/>
          <a:stretch/>
        </p:blipFill>
        <p:spPr>
          <a:xfrm>
            <a:off x="2653243" y="2299093"/>
            <a:ext cx="6883925" cy="3331900"/>
          </a:xfrm>
          <a:prstGeom prst="rect">
            <a:avLst/>
          </a:prstGeom>
          <a:noFill/>
          <a:ln>
            <a:noFill/>
          </a:ln>
        </p:spPr>
      </p:pic>
      <p:sp>
        <p:nvSpPr>
          <p:cNvPr id="3" name="Google Shape;573;p15">
            <a:extLst>
              <a:ext uri="{FF2B5EF4-FFF2-40B4-BE49-F238E27FC236}">
                <a16:creationId xmlns:a16="http://schemas.microsoft.com/office/drawing/2014/main" id="{D3E20108-F9D2-BACF-352F-6DEBBA5156AB}"/>
              </a:ext>
            </a:extLst>
          </p:cNvPr>
          <p:cNvSpPr txBox="1"/>
          <p:nvPr/>
        </p:nvSpPr>
        <p:spPr>
          <a:xfrm>
            <a:off x="777238" y="5630992"/>
            <a:ext cx="10136837" cy="987921"/>
          </a:xfrm>
          <a:prstGeom prst="rect">
            <a:avLst/>
          </a:prstGeom>
          <a:noFill/>
          <a:ln>
            <a:noFill/>
          </a:ln>
        </p:spPr>
        <p:txBody>
          <a:bodyPr spcFirstLastPara="1" wrap="square" lIns="91425" tIns="45700" rIns="91425" bIns="45700" anchor="t" anchorCtr="0">
            <a:noAutofit/>
          </a:bodyPr>
          <a:lstStyle/>
          <a:p>
            <a:pPr marL="1031875" lvl="2" indent="-514350">
              <a:buFont typeface="+mj-lt"/>
              <a:buAutoNum type="alphaLcPeriod"/>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Translate the graph of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j</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up 4 units. Label the graph as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q</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Then, write an equation for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q</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in terms of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j</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endParaRPr sz="2800" dirty="0">
              <a:latin typeface="Calibri" panose="020F0502020204030204" pitchFamily="34" charset="0"/>
              <a:ea typeface="Calibri" panose="020F0502020204030204" pitchFamily="34" charset="0"/>
              <a:cs typeface="Calibri" panose="020F0502020204030204" pitchFamily="34" charset="0"/>
            </a:endParaRPr>
          </a:p>
        </p:txBody>
      </p:sp>
      <p:sp>
        <p:nvSpPr>
          <p:cNvPr id="1622" name="Slide Number 1622"/>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22</a:t>
            </a:fld>
          </a:p>
        </p:txBody>
      </p:sp>
      <p:sp>
        <p:nvSpPr>
          <p:cNvPr id="1623" name="Answer 1623"/>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274</a:t>
            </a:r>
          </a:p>
        </p:txBody>
      </p:sp>
      <p:sp>
        <p:nvSpPr>
          <p:cNvPr id="1624" name="Answer 1624"/>
          <p:cNvSpPr txBox="1"/>
          <p:nvPr/>
        </p:nvSpPr>
        <p:spPr>
          <a:xfrm>
            <a:off x="9613900" y="2667000"/>
            <a:ext cx="2451100" cy="14668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q(x) = j(x) + 4</a:t>
            </a:r>
          </a:p>
          <a:p>
            <a:pPr marL="0" indent="0" algn="l">
              <a:spcBef>
                <a:spcPts val="0"/>
              </a:spcBef>
              <a:spcAft>
                <a:spcPts val="300"/>
              </a:spcAft>
              <a:buNone/>
            </a:pPr>
            <a:r>
              <a:rPr lang="en-US" sz="2200" dirty="0">
                <a:solidFill>
                  <a:srgbClr val="FF0000"/>
                </a:solidFill>
              </a:rPr>
              <a:t>Graph: the line through (0, 3), parallel to j(x)</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6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27"/>
        <p:cNvGrpSpPr/>
        <p:nvPr/>
      </p:nvGrpSpPr>
      <p:grpSpPr>
        <a:xfrm>
          <a:off x="0" y="0"/>
          <a:ext cx="0" cy="0"/>
          <a:chOff x="0" y="0"/>
          <a:chExt cx="0" cy="0"/>
        </a:xfrm>
      </p:grpSpPr>
      <p:sp>
        <p:nvSpPr>
          <p:cNvPr id="628" name="Google Shape;628;p22"/>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Vertical Translations of Functions </a:t>
            </a:r>
            <a:r>
              <a:rPr lang="en-US" sz="2000" b="1" dirty="0">
                <a:solidFill>
                  <a:schemeClr val="bg1"/>
                </a:solidFill>
              </a:rPr>
              <a:t>(8 of 10)</a:t>
            </a:r>
            <a:endParaRPr dirty="0">
              <a:solidFill>
                <a:schemeClr val="bg1"/>
              </a:solidFill>
            </a:endParaRPr>
          </a:p>
        </p:txBody>
      </p:sp>
      <p:sp>
        <p:nvSpPr>
          <p:cNvPr id="3" name="Speech Bubble: Rectangle with Corners Rounded 2">
            <a:extLst>
              <a:ext uri="{FF2B5EF4-FFF2-40B4-BE49-F238E27FC236}">
                <a16:creationId xmlns:a16="http://schemas.microsoft.com/office/drawing/2014/main" id="{779730D7-744F-A6C4-6217-0B8F60DF803F}"/>
              </a:ext>
            </a:extLst>
          </p:cNvPr>
          <p:cNvSpPr/>
          <p:nvPr/>
        </p:nvSpPr>
        <p:spPr>
          <a:xfrm>
            <a:off x="777239" y="4790114"/>
            <a:ext cx="2209241" cy="1585519"/>
          </a:xfrm>
          <a:prstGeom prst="wedgeRoundRectCallout">
            <a:avLst>
              <a:gd name="adj1" fmla="val -34970"/>
              <a:gd name="adj2" fmla="val -67659"/>
              <a:gd name="adj3" fmla="val 16667"/>
            </a:avLst>
          </a:prstGeom>
          <a:no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chemeClr val="accent3">
                    <a:lumMod val="75000"/>
                  </a:schemeClr>
                </a:solidFill>
                <a:latin typeface="Calibri" panose="020F0502020204030204" pitchFamily="34" charset="0"/>
                <a:ea typeface="Calibri" panose="020F0502020204030204" pitchFamily="34" charset="0"/>
                <a:cs typeface="Calibri" panose="020F0502020204030204" pitchFamily="34" charset="0"/>
              </a:rPr>
              <a:t>Ask Yourself… </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Will the graphs of </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j</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q</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r</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ever intersect?</a:t>
            </a:r>
          </a:p>
        </p:txBody>
      </p:sp>
      <p:sp>
        <p:nvSpPr>
          <p:cNvPr id="2" name="Google Shape;573;p15">
            <a:extLst>
              <a:ext uri="{FF2B5EF4-FFF2-40B4-BE49-F238E27FC236}">
                <a16:creationId xmlns:a16="http://schemas.microsoft.com/office/drawing/2014/main" id="{D41161D6-DDF7-7389-E2F9-D93936034DB8}"/>
              </a:ext>
            </a:extLst>
          </p:cNvPr>
          <p:cNvSpPr txBox="1"/>
          <p:nvPr/>
        </p:nvSpPr>
        <p:spPr>
          <a:xfrm>
            <a:off x="3246538" y="1602297"/>
            <a:ext cx="8800053" cy="4588777"/>
          </a:xfrm>
          <a:prstGeom prst="rect">
            <a:avLst/>
          </a:prstGeom>
          <a:noFill/>
          <a:ln>
            <a:noFill/>
          </a:ln>
        </p:spPr>
        <p:txBody>
          <a:bodyPr spcFirstLastPara="1" wrap="square" lIns="91425" tIns="45700" rIns="91425" bIns="45700" anchor="t" anchorCtr="0">
            <a:noAutofit/>
          </a:bodyPr>
          <a:lstStyle/>
          <a:p>
            <a:pPr marL="514350" lvl="2" indent="-514350">
              <a:spcAft>
                <a:spcPts val="3240"/>
              </a:spcAft>
              <a:buFont typeface="+mj-lt"/>
              <a:buAutoNum type="alphaLcPeriod" startAt="2"/>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Translate the graph of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j</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down 4 units. Label the graph as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r</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Then, write an equation for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r</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in terms of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j</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b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br>
            <a:b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br>
            <a:endPar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a:p>
            <a:pPr marL="514350" lvl="2" indent="-514350">
              <a:spcAft>
                <a:spcPts val="3240"/>
              </a:spcAft>
              <a:buFont typeface="+mj-lt"/>
              <a:buAutoNum type="alphaLcPeriod" startAt="2"/>
            </a:pPr>
            <a:r>
              <a:rPr lang="en-US" sz="2800" dirty="0">
                <a:latin typeface="Calibri" panose="020F0502020204030204" pitchFamily="34" charset="0"/>
                <a:ea typeface="Calibri" panose="020F0502020204030204" pitchFamily="34" charset="0"/>
                <a:cs typeface="Calibri" panose="020F0502020204030204" pitchFamily="34" charset="0"/>
                <a:sym typeface="Calibri"/>
              </a:rPr>
              <a:t>Rewrite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q</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and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r</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in general form.</a:t>
            </a:r>
            <a:br>
              <a:rPr lang="en-US" sz="2800" dirty="0">
                <a:latin typeface="Calibri" panose="020F0502020204030204" pitchFamily="34" charset="0"/>
                <a:ea typeface="Calibri" panose="020F0502020204030204" pitchFamily="34" charset="0"/>
                <a:cs typeface="Calibri" panose="020F0502020204030204" pitchFamily="34" charset="0"/>
                <a:sym typeface="Calibri"/>
              </a:rPr>
            </a:br>
            <a:br>
              <a:rPr lang="en-US" sz="2800" dirty="0">
                <a:latin typeface="Calibri" panose="020F0502020204030204" pitchFamily="34" charset="0"/>
                <a:ea typeface="Calibri" panose="020F0502020204030204" pitchFamily="34" charset="0"/>
                <a:cs typeface="Calibri" panose="020F0502020204030204" pitchFamily="34" charset="0"/>
                <a:sym typeface="Calibri"/>
              </a:rPr>
            </a:br>
            <a:endParaRPr lang="en-US" sz="2800" dirty="0">
              <a:latin typeface="Calibri" panose="020F0502020204030204" pitchFamily="34" charset="0"/>
              <a:ea typeface="Calibri" panose="020F0502020204030204" pitchFamily="34" charset="0"/>
              <a:cs typeface="Calibri" panose="020F0502020204030204" pitchFamily="34" charset="0"/>
              <a:sym typeface="Calibri"/>
            </a:endParaRPr>
          </a:p>
          <a:p>
            <a:pPr marL="514350" lvl="2" indent="-514350">
              <a:spcAft>
                <a:spcPts val="5680"/>
              </a:spcAft>
              <a:buFont typeface="+mj-lt"/>
              <a:buAutoNum type="alphaLcPeriod" startAt="2"/>
            </a:pPr>
            <a:r>
              <a:rPr lang="en-US" sz="2800" dirty="0">
                <a:latin typeface="Calibri" panose="020F0502020204030204" pitchFamily="34" charset="0"/>
                <a:ea typeface="Calibri" panose="020F0502020204030204" pitchFamily="34" charset="0"/>
                <a:cs typeface="Calibri" panose="020F0502020204030204" pitchFamily="34" charset="0"/>
                <a:sym typeface="Calibri"/>
              </a:rPr>
              <a:t>Compare the equations and graphs of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j</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q</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and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r</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What do you notice?</a:t>
            </a:r>
            <a:endParaRPr sz="2800" dirty="0">
              <a:latin typeface="Calibri" panose="020F0502020204030204" pitchFamily="34" charset="0"/>
              <a:ea typeface="Calibri" panose="020F0502020204030204" pitchFamily="34" charset="0"/>
              <a:cs typeface="Calibri" panose="020F0502020204030204" pitchFamily="34" charset="0"/>
            </a:endParaRPr>
          </a:p>
        </p:txBody>
      </p:sp>
      <p:sp>
        <p:nvSpPr>
          <p:cNvPr id="1628" name="Slide Number 1628"/>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23</a:t>
            </a:fld>
          </a:p>
        </p:txBody>
      </p:sp>
      <p:sp>
        <p:nvSpPr>
          <p:cNvPr id="1629" name="Answer 1629"/>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274</a:t>
            </a:r>
          </a:p>
        </p:txBody>
      </p:sp>
      <p:sp>
        <p:nvSpPr>
          <p:cNvPr id="1630" name="Answer 1630"/>
          <p:cNvSpPr txBox="1"/>
          <p:nvPr/>
        </p:nvSpPr>
        <p:spPr>
          <a:xfrm>
            <a:off x="3810000" y="2959100"/>
            <a:ext cx="8147050" cy="3619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b. r(x) = j(x) − 4  (graph: the line through (0, −5), parallel to j(x))</a:t>
            </a:r>
          </a:p>
        </p:txBody>
      </p:sp>
      <p:sp>
        <p:nvSpPr>
          <p:cNvPr id="1631" name="Answer 1631"/>
          <p:cNvSpPr txBox="1"/>
          <p:nvPr/>
        </p:nvSpPr>
        <p:spPr>
          <a:xfrm>
            <a:off x="3810000" y="3810000"/>
            <a:ext cx="8147050" cy="3619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c. q(x) = 2x + 3;  r(x) = 2x − 5</a:t>
            </a:r>
          </a:p>
        </p:txBody>
      </p:sp>
      <p:sp>
        <p:nvSpPr>
          <p:cNvPr id="1632" name="Answer 1632"/>
          <p:cNvSpPr txBox="1"/>
          <p:nvPr/>
        </p:nvSpPr>
        <p:spPr>
          <a:xfrm>
            <a:off x="3810000" y="5086350"/>
            <a:ext cx="8147050" cy="6731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d. All three have slope 2 but different y-intercepts: (0, −1), (0, 3), (0, −5). The lines are parallel, so they never intersect.</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6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6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p23"/>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3200"/>
              <a:buFont typeface="Calibri"/>
              <a:buNone/>
            </a:pPr>
            <a:r>
              <a:rPr lang="en-US" b="1" dirty="0"/>
              <a:t>Vertical Translations of Functions </a:t>
            </a:r>
            <a:r>
              <a:rPr lang="en-US" sz="2000" b="1" dirty="0">
                <a:solidFill>
                  <a:schemeClr val="bg1"/>
                </a:solidFill>
              </a:rPr>
              <a:t>(9 of 10)</a:t>
            </a:r>
            <a:endParaRPr dirty="0">
              <a:solidFill>
                <a:schemeClr val="bg1"/>
              </a:solidFill>
            </a:endParaRPr>
          </a:p>
        </p:txBody>
      </p:sp>
      <p:sp>
        <p:nvSpPr>
          <p:cNvPr id="637" name="Google Shape;637;p23"/>
          <p:cNvSpPr txBox="1"/>
          <p:nvPr/>
        </p:nvSpPr>
        <p:spPr>
          <a:xfrm>
            <a:off x="777240" y="1616140"/>
            <a:ext cx="989371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b="0" i="0" u="none" strike="noStrike" dirty="0">
                <a:solidFill>
                  <a:srgbClr val="000000"/>
                </a:solidFill>
                <a:latin typeface="Calibri"/>
                <a:ea typeface="Calibri"/>
                <a:cs typeface="Calibri"/>
                <a:sym typeface="Calibri"/>
              </a:rPr>
              <a:t>Let’s revisit the Essential Question and summarize our learning from Activity 1.1!</a:t>
            </a:r>
            <a:endParaRPr dirty="0"/>
          </a:p>
          <a:p>
            <a:pPr marL="0" marR="0" lvl="0" indent="0" algn="l" rtl="0">
              <a:spcBef>
                <a:spcPts val="560"/>
              </a:spcBef>
              <a:spcAft>
                <a:spcPts val="0"/>
              </a:spcAft>
              <a:buClr>
                <a:schemeClr val="dk1"/>
              </a:buClr>
              <a:buSzPts val="2800"/>
              <a:buFont typeface="Arial"/>
              <a:buNone/>
            </a:pPr>
            <a:endParaRPr sz="2800" dirty="0">
              <a:solidFill>
                <a:srgbClr val="000000"/>
              </a:solidFill>
              <a:latin typeface="Calibri"/>
              <a:ea typeface="Calibri"/>
              <a:cs typeface="Calibri"/>
              <a:sym typeface="Calibri"/>
            </a:endParaRPr>
          </a:p>
          <a:p>
            <a:pPr marL="0" marR="0" lvl="0" indent="0" algn="l" rtl="0">
              <a:spcBef>
                <a:spcPts val="560"/>
              </a:spcBef>
              <a:spcAft>
                <a:spcPts val="0"/>
              </a:spcAft>
              <a:buClr>
                <a:schemeClr val="dk1"/>
              </a:buClr>
              <a:buSzPts val="2800"/>
              <a:buFont typeface="Arial"/>
              <a:buNone/>
            </a:pPr>
            <a:endParaRPr sz="2800" dirty="0">
              <a:solidFill>
                <a:srgbClr val="000000"/>
              </a:solidFill>
              <a:latin typeface="Calibri"/>
              <a:ea typeface="Calibri"/>
              <a:cs typeface="Calibri"/>
              <a:sym typeface="Calibri"/>
            </a:endParaRPr>
          </a:p>
          <a:p>
            <a:pPr marL="0" marR="0" lvl="0" indent="0" algn="l" rtl="0">
              <a:spcBef>
                <a:spcPts val="560"/>
              </a:spcBef>
              <a:spcAft>
                <a:spcPts val="0"/>
              </a:spcAft>
              <a:buClr>
                <a:srgbClr val="000000"/>
              </a:buClr>
              <a:buSzPts val="2800"/>
              <a:buFont typeface="Arial"/>
              <a:buNone/>
            </a:pPr>
            <a:r>
              <a:rPr lang="en-US" sz="2800" b="1" dirty="0">
                <a:solidFill>
                  <a:srgbClr val="000000"/>
                </a:solidFill>
                <a:latin typeface="Calibri"/>
                <a:ea typeface="Calibri"/>
                <a:cs typeface="Calibri"/>
                <a:sym typeface="Calibri"/>
              </a:rPr>
              <a:t>Essential Question: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How can you transform a function? What effects do different transformations have on the characteristics</a:t>
            </a:r>
            <a:b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b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of linear functions</a:t>
            </a:r>
            <a:r>
              <a:rPr lang="en-US" sz="2800" dirty="0">
                <a:solidFill>
                  <a:srgbClr val="000000"/>
                </a:solidFill>
                <a:latin typeface="Calibri"/>
                <a:ea typeface="Calibri"/>
                <a:cs typeface="Calibri"/>
                <a:sym typeface="Calibri"/>
              </a:rPr>
              <a:t>?</a:t>
            </a:r>
            <a:endParaRPr dirty="0"/>
          </a:p>
          <a:p>
            <a:pPr marL="0" marR="0" lvl="0" indent="0" algn="l" rtl="0">
              <a:spcBef>
                <a:spcPts val="560"/>
              </a:spcBef>
              <a:spcAft>
                <a:spcPts val="0"/>
              </a:spcAft>
              <a:buClr>
                <a:schemeClr val="dk1"/>
              </a:buClr>
              <a:buSzPts val="2800"/>
              <a:buFont typeface="Arial"/>
              <a:buNone/>
            </a:pPr>
            <a:endParaRPr sz="2800" dirty="0">
              <a:solidFill>
                <a:srgbClr val="000000"/>
              </a:solidFill>
              <a:latin typeface="Calibri"/>
              <a:ea typeface="Calibri"/>
              <a:cs typeface="Calibri"/>
              <a:sym typeface="Calibri"/>
            </a:endParaRPr>
          </a:p>
        </p:txBody>
      </p:sp>
      <p:pic>
        <p:nvPicPr>
          <p:cNvPr id="638" name="Google Shape;638;p23">
            <a:extLst>
              <a:ext uri="{C183D7F6-B498-43B3-948B-1728B52AA6E4}">
                <adec:decorative xmlns:adec="http://schemas.microsoft.com/office/drawing/2017/decorative" val="1"/>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174023" y="372494"/>
            <a:ext cx="1501270" cy="518205"/>
          </a:xfrm>
          <a:prstGeom prst="rect">
            <a:avLst/>
          </a:prstGeom>
          <a:noFill/>
          <a:ln>
            <a:noFill/>
          </a:ln>
        </p:spPr>
      </p:pic>
      <p:sp>
        <p:nvSpPr>
          <p:cNvPr id="1638" name="Slide Number 1638"/>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24</a:t>
            </a:fld>
          </a:p>
        </p:txBody>
      </p:sp>
      <p:sp>
        <p:nvSpPr>
          <p:cNvPr id="1639" name="Answer 1639"/>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4" name="Google Shape;644;p24"/>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3200"/>
              <a:buFont typeface="Calibri"/>
              <a:buNone/>
            </a:pPr>
            <a:r>
              <a:rPr lang="en-US" b="1" dirty="0"/>
              <a:t>Vertical Translations of Functions </a:t>
            </a:r>
            <a:r>
              <a:rPr lang="en-US" sz="2000" b="1" dirty="0">
                <a:solidFill>
                  <a:schemeClr val="bg1"/>
                </a:solidFill>
              </a:rPr>
              <a:t>(10 of 10)</a:t>
            </a:r>
            <a:endParaRPr dirty="0">
              <a:solidFill>
                <a:schemeClr val="bg1"/>
              </a:solidFill>
            </a:endParaRPr>
          </a:p>
        </p:txBody>
      </p:sp>
      <p:sp>
        <p:nvSpPr>
          <p:cNvPr id="645" name="Google Shape;645;p24">
            <a:extLst>
              <a:ext uri="{C183D7F6-B498-43B3-948B-1728B52AA6E4}">
                <adec:decorative xmlns:adec="http://schemas.microsoft.com/office/drawing/2017/decorative" val="1"/>
              </a:ext>
            </a:extLst>
          </p:cNvPr>
          <p:cNvSpPr txBox="1"/>
          <p:nvPr/>
        </p:nvSpPr>
        <p:spPr>
          <a:xfrm>
            <a:off x="777240" y="1616140"/>
            <a:ext cx="1047175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800"/>
              <a:buFont typeface="Arial"/>
              <a:buNone/>
            </a:pPr>
            <a:endParaRPr sz="2800">
              <a:solidFill>
                <a:srgbClr val="3A3838"/>
              </a:solidFill>
              <a:latin typeface="Calibri"/>
              <a:ea typeface="Calibri"/>
              <a:cs typeface="Calibri"/>
              <a:sym typeface="Calibri"/>
            </a:endParaRPr>
          </a:p>
        </p:txBody>
      </p:sp>
      <p:sp>
        <p:nvSpPr>
          <p:cNvPr id="1645" name="Slide Number 164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25</a:t>
            </a:fld>
          </a:p>
        </p:txBody>
      </p:sp>
      <p:sp>
        <p:nvSpPr>
          <p:cNvPr id="1646" name="Answer 1646"/>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274</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25"/>
          <p:cNvSpPr txBox="1">
            <a:spLocks noGrp="1"/>
          </p:cNvSpPr>
          <p:nvPr>
            <p:ph type="title"/>
          </p:nvPr>
        </p:nvSpPr>
        <p:spPr>
          <a:xfrm>
            <a:off x="838200" y="-310394"/>
            <a:ext cx="10514013" cy="31039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2000"/>
              <a:buFont typeface="Calibri"/>
              <a:buNone/>
            </a:pPr>
            <a:r>
              <a:rPr lang="en-US" sz="2000">
                <a:solidFill>
                  <a:schemeClr val="lt2"/>
                </a:solidFill>
                <a:latin typeface="Calibri"/>
                <a:ea typeface="Calibri"/>
                <a:cs typeface="Calibri"/>
                <a:sym typeface="Calibri"/>
              </a:rPr>
              <a:t>Day 2</a:t>
            </a:r>
            <a:endParaRPr/>
          </a:p>
        </p:txBody>
      </p:sp>
      <p:sp>
        <p:nvSpPr>
          <p:cNvPr id="652" name="Google Shape;652;p25"/>
          <p:cNvSpPr txBox="1">
            <a:spLocks noGrp="1"/>
          </p:cNvSpPr>
          <p:nvPr>
            <p:ph type="body" idx="1"/>
          </p:nvPr>
        </p:nvSpPr>
        <p:spPr>
          <a:xfrm>
            <a:off x="6568581" y="2832927"/>
            <a:ext cx="1152278" cy="107156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0000"/>
              </a:buClr>
              <a:buSzPts val="7500"/>
              <a:buNone/>
            </a:pPr>
            <a:r>
              <a:rPr lang="en-US" sz="7500" b="1">
                <a:solidFill>
                  <a:srgbClr val="000000"/>
                </a:solidFill>
                <a:latin typeface="Calibri"/>
                <a:ea typeface="Calibri"/>
                <a:cs typeface="Calibri"/>
                <a:sym typeface="Calibri"/>
              </a:rPr>
              <a:t>2</a:t>
            </a:r>
            <a:endParaRPr/>
          </a:p>
        </p:txBody>
      </p:sp>
      <p:sp>
        <p:nvSpPr>
          <p:cNvPr id="1652" name="Slide Number 1652"/>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26</a:t>
            </a:fld>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658" name="Google Shape;658;p26"/>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Essential Question </a:t>
            </a:r>
            <a:r>
              <a:rPr lang="en-US" sz="2000" b="1" dirty="0">
                <a:solidFill>
                  <a:schemeClr val="bg1"/>
                </a:solidFill>
              </a:rPr>
              <a:t>(2 of 3)</a:t>
            </a:r>
            <a:endParaRPr dirty="0">
              <a:solidFill>
                <a:schemeClr val="bg1"/>
              </a:solidFill>
            </a:endParaRPr>
          </a:p>
        </p:txBody>
      </p:sp>
      <p:sp>
        <p:nvSpPr>
          <p:cNvPr id="659" name="Google Shape;659;p26"/>
          <p:cNvSpPr txBox="1"/>
          <p:nvPr/>
        </p:nvSpPr>
        <p:spPr>
          <a:xfrm>
            <a:off x="777240" y="1596189"/>
            <a:ext cx="10090582" cy="429386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How can you transform a function? What effects do different transformations have on the characteristics of linear functions</a:t>
            </a:r>
            <a:r>
              <a:rPr lang="en-US" sz="2800" dirty="0">
                <a:solidFill>
                  <a:srgbClr val="000000"/>
                </a:solidFill>
                <a:latin typeface="Calibri"/>
                <a:ea typeface="Calibri"/>
                <a:cs typeface="Calibri"/>
                <a:sym typeface="Calibri"/>
              </a:rPr>
              <a:t>?</a:t>
            </a:r>
            <a:endParaRPr dirty="0"/>
          </a:p>
        </p:txBody>
      </p:sp>
      <p:sp>
        <p:nvSpPr>
          <p:cNvPr id="1659" name="Slide Number 165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27</a:t>
            </a:fld>
          </a:p>
        </p:txBody>
      </p:sp>
      <p:sp>
        <p:nvSpPr>
          <p:cNvPr id="1660" name="Answer 166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269</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p27"/>
          <p:cNvSpPr txBox="1">
            <a:spLocks noGrp="1"/>
          </p:cNvSpPr>
          <p:nvPr>
            <p:ph type="title"/>
          </p:nvPr>
        </p:nvSpPr>
        <p:spPr>
          <a:xfrm>
            <a:off x="838200" y="-352338"/>
            <a:ext cx="10514013" cy="352338"/>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2000"/>
              <a:buFont typeface="Calibri"/>
              <a:buNone/>
            </a:pPr>
            <a:r>
              <a:rPr lang="en-US" sz="2000">
                <a:solidFill>
                  <a:schemeClr val="lt2"/>
                </a:solidFill>
                <a:latin typeface="Calibri"/>
                <a:ea typeface="Calibri"/>
                <a:cs typeface="Calibri"/>
                <a:sym typeface="Calibri"/>
              </a:rPr>
              <a:t>Activity 1.2</a:t>
            </a:r>
            <a:endParaRPr/>
          </a:p>
        </p:txBody>
      </p:sp>
      <p:sp>
        <p:nvSpPr>
          <p:cNvPr id="666" name="Google Shape;666;p27" descr="15 to 20 minutes"/>
          <p:cNvSpPr txBox="1">
            <a:spLocks noGrp="1"/>
          </p:cNvSpPr>
          <p:nvPr>
            <p:ph type="body" idx="2"/>
          </p:nvPr>
        </p:nvSpPr>
        <p:spPr>
          <a:xfrm>
            <a:off x="10623379" y="5780973"/>
            <a:ext cx="863947" cy="795338"/>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71616"/>
              </a:buClr>
              <a:buSzPts val="2000"/>
              <a:buNone/>
            </a:pPr>
            <a:r>
              <a:rPr lang="en-US" b="1" dirty="0"/>
              <a:t>15–20</a:t>
            </a:r>
            <a:endParaRPr dirty="0"/>
          </a:p>
        </p:txBody>
      </p:sp>
      <p:sp>
        <p:nvSpPr>
          <p:cNvPr id="667" name="Google Shape;667;p27">
            <a:extLst>
              <a:ext uri="{C183D7F6-B498-43B3-948B-1728B52AA6E4}">
                <adec:decorative xmlns:adec="http://schemas.microsoft.com/office/drawing/2017/decorative" val="1"/>
              </a:ext>
            </a:extLst>
          </p:cNvPr>
          <p:cNvSpPr txBox="1">
            <a:spLocks noGrp="1"/>
          </p:cNvSpPr>
          <p:nvPr>
            <p:ph type="body" idx="1"/>
          </p:nvPr>
        </p:nvSpPr>
        <p:spPr>
          <a:xfrm>
            <a:off x="6769100" y="2957776"/>
            <a:ext cx="2025986" cy="112553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7500"/>
              <a:buNone/>
            </a:pPr>
            <a:r>
              <a:rPr lang="en-US"/>
              <a:t>1.2</a:t>
            </a:r>
            <a:endParaRPr/>
          </a:p>
        </p:txBody>
      </p:sp>
      <p:sp>
        <p:nvSpPr>
          <p:cNvPr id="1667" name="Slide Number 1667"/>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28</a:t>
            </a:fld>
          </a:p>
        </p:txBody>
      </p:sp>
      <p:sp>
        <p:nvSpPr>
          <p:cNvPr id="1669" name="Answer 1669"/>
          <p:cNvSpPr txBox="1"/>
          <p:nvPr/>
        </p:nvSpPr>
        <p:spPr>
          <a:xfrm>
            <a:off x="1016000" y="952500"/>
            <a:ext cx="10160000" cy="7620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4400" b="1" dirty="0">
                <a:solidFill>
                  <a:srgbClr val="2E7D3C"/>
                </a:solidFill>
              </a:rPr>
              <a:t>★ Essential activity: do not skip</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28"/>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Parallel Lines </a:t>
            </a:r>
            <a:r>
              <a:rPr lang="en-US" sz="2000" b="1" dirty="0">
                <a:solidFill>
                  <a:schemeClr val="bg1"/>
                </a:solidFill>
              </a:rPr>
              <a:t>(1 of 8)</a:t>
            </a:r>
            <a:endParaRPr dirty="0">
              <a:solidFill>
                <a:schemeClr val="bg1"/>
              </a:solidFill>
            </a:endParaRPr>
          </a:p>
        </p:txBody>
      </p:sp>
      <p:sp>
        <p:nvSpPr>
          <p:cNvPr id="2" name="Google Shape;659;p26">
            <a:extLst>
              <a:ext uri="{FF2B5EF4-FFF2-40B4-BE49-F238E27FC236}">
                <a16:creationId xmlns:a16="http://schemas.microsoft.com/office/drawing/2014/main" id="{2646E6CD-0DEE-2F07-3DA1-CF8880940742}"/>
              </a:ext>
            </a:extLst>
          </p:cNvPr>
          <p:cNvSpPr txBox="1"/>
          <p:nvPr/>
        </p:nvSpPr>
        <p:spPr>
          <a:xfrm>
            <a:off x="777240" y="1596189"/>
            <a:ext cx="10791178" cy="429386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1200"/>
              </a:spcAft>
              <a:buClr>
                <a:srgbClr val="000000"/>
              </a:buClr>
              <a:buSzPts val="2800"/>
              <a:buFont typeface="Arial"/>
              <a:buNone/>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In the previous activity, you translated the function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j</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2</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− 1 up</a:t>
            </a:r>
            <a:b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b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4 units to create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q</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2</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+ 3.</a:t>
            </a:r>
          </a:p>
          <a:p>
            <a:pPr marL="514350" marR="0" lvl="0" indent="-514350" algn="l" rtl="0">
              <a:spcBef>
                <a:spcPts val="0"/>
              </a:spcBef>
              <a:spcAft>
                <a:spcPts val="0"/>
              </a:spcAft>
              <a:buClr>
                <a:srgbClr val="000000"/>
              </a:buClr>
              <a:buSzPts val="2800"/>
              <a:buFont typeface="+mj-lt"/>
              <a:buAutoNum type="arabicPeriod"/>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Will the graphs of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j</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and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q</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ever intersect? Explain your reasoning.</a:t>
            </a:r>
            <a:endParaRPr dirty="0"/>
          </a:p>
        </p:txBody>
      </p:sp>
      <p:sp>
        <p:nvSpPr>
          <p:cNvPr id="1673" name="Slide Number 1673"/>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29</a:t>
            </a:fld>
          </a:p>
        </p:txBody>
      </p:sp>
      <p:sp>
        <p:nvSpPr>
          <p:cNvPr id="1674" name="Answer 1674"/>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275</a:t>
            </a:r>
          </a:p>
        </p:txBody>
      </p:sp>
      <p:sp>
        <p:nvSpPr>
          <p:cNvPr id="1675" name="Answer 1675"/>
          <p:cNvSpPr txBox="1"/>
          <p:nvPr/>
        </p:nvSpPr>
        <p:spPr>
          <a:xfrm>
            <a:off x="774700" y="3175000"/>
            <a:ext cx="10795000" cy="825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No. Both lines have slope 2 and stay 4 units apart, so they are parallel.</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6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p29"/>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Parallel Lines </a:t>
            </a:r>
            <a:r>
              <a:rPr lang="en-US" sz="2000" b="1" dirty="0">
                <a:solidFill>
                  <a:schemeClr val="bg1"/>
                </a:solidFill>
              </a:rPr>
              <a:t>(2 of 8)</a:t>
            </a:r>
            <a:endParaRPr dirty="0">
              <a:solidFill>
                <a:schemeClr val="bg1"/>
              </a:solidFill>
            </a:endParaRPr>
          </a:p>
        </p:txBody>
      </p:sp>
      <p:pic>
        <p:nvPicPr>
          <p:cNvPr id="682" name="Google Shape;682;p29" descr="A graph of 2 lines on the coordinate plane. The lines rise from left to right. One line rises through the points A prime and B prime. The other line rises through the points A (x sub 1, y sub 1), below point A prime, and B (x sub 2, y sub 2), below point B prime."/>
          <p:cNvPicPr preferRelativeResize="0"/>
          <p:nvPr/>
        </p:nvPicPr>
        <p:blipFill rotWithShape="1">
          <a:blip r:embed="rId3">
            <a:alphaModFix/>
          </a:blip>
          <a:srcRect/>
          <a:stretch/>
        </p:blipFill>
        <p:spPr>
          <a:xfrm>
            <a:off x="1201703" y="3537842"/>
            <a:ext cx="2940257" cy="2712560"/>
          </a:xfrm>
          <a:prstGeom prst="rect">
            <a:avLst/>
          </a:prstGeom>
          <a:noFill/>
          <a:ln>
            <a:noFill/>
          </a:ln>
        </p:spPr>
      </p:pic>
      <p:sp>
        <p:nvSpPr>
          <p:cNvPr id="2" name="Google Shape;659;p26">
            <a:extLst>
              <a:ext uri="{FF2B5EF4-FFF2-40B4-BE49-F238E27FC236}">
                <a16:creationId xmlns:a16="http://schemas.microsoft.com/office/drawing/2014/main" id="{03DD5C7A-70D1-ED07-D59D-D5F6841095A6}"/>
              </a:ext>
            </a:extLst>
          </p:cNvPr>
          <p:cNvSpPr txBox="1"/>
          <p:nvPr/>
        </p:nvSpPr>
        <p:spPr>
          <a:xfrm>
            <a:off x="777240" y="1596189"/>
            <a:ext cx="10791178" cy="183281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1200"/>
              </a:spcAft>
              <a:buClr>
                <a:srgbClr val="000000"/>
              </a:buClr>
              <a:buSzPts val="2800"/>
              <a:buFont typeface="Arial"/>
              <a:buNone/>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You can algebraically prove that a line and its translation are parallel to each other.</a:t>
            </a:r>
          </a:p>
          <a:p>
            <a:pPr marL="514350" marR="0" lvl="0" indent="-514350" algn="l" rtl="0">
              <a:spcBef>
                <a:spcPts val="0"/>
              </a:spcBef>
              <a:spcAft>
                <a:spcPts val="0"/>
              </a:spcAft>
              <a:buClr>
                <a:srgbClr val="000000"/>
              </a:buClr>
              <a:buSzPts val="2800"/>
              <a:buFont typeface="+mj-lt"/>
              <a:buAutoNum type="arabicPeriod" startAt="2"/>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Line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AB</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was translated a units up to create line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B</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endParaRPr dirty="0"/>
          </a:p>
        </p:txBody>
      </p:sp>
      <p:sp>
        <p:nvSpPr>
          <p:cNvPr id="1682" name="Slide Number 1682"/>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30</a:t>
            </a:fld>
          </a:p>
        </p:txBody>
      </p:sp>
      <p:sp>
        <p:nvSpPr>
          <p:cNvPr id="1683" name="Answer 1683"/>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275</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8" name="Google Shape;688;p30"/>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Parallel Lines </a:t>
            </a:r>
            <a:r>
              <a:rPr lang="en-US" sz="2000" b="1" dirty="0">
                <a:solidFill>
                  <a:schemeClr val="bg1"/>
                </a:solidFill>
              </a:rPr>
              <a:t>(3 of 8)</a:t>
            </a:r>
            <a:endParaRPr dirty="0">
              <a:solidFill>
                <a:schemeClr val="bg1"/>
              </a:solidFill>
            </a:endParaRPr>
          </a:p>
        </p:txBody>
      </p:sp>
      <p:sp>
        <p:nvSpPr>
          <p:cNvPr id="2" name="Google Shape;659;p26">
            <a:extLst>
              <a:ext uri="{FF2B5EF4-FFF2-40B4-BE49-F238E27FC236}">
                <a16:creationId xmlns:a16="http://schemas.microsoft.com/office/drawing/2014/main" id="{5F473C4F-F15C-3BD8-15A8-9B7B3E74036C}"/>
              </a:ext>
            </a:extLst>
          </p:cNvPr>
          <p:cNvSpPr txBox="1"/>
          <p:nvPr/>
        </p:nvSpPr>
        <p:spPr>
          <a:xfrm>
            <a:off x="777240" y="1596189"/>
            <a:ext cx="10371729" cy="4293866"/>
          </a:xfrm>
          <a:prstGeom prst="rect">
            <a:avLst/>
          </a:prstGeom>
          <a:noFill/>
          <a:ln>
            <a:noFill/>
          </a:ln>
        </p:spPr>
        <p:txBody>
          <a:bodyPr spcFirstLastPara="1" wrap="square" lIns="91425" tIns="45700" rIns="91425" bIns="45700" anchor="t" anchorCtr="0">
            <a:noAutofit/>
          </a:bodyPr>
          <a:lstStyle/>
          <a:p>
            <a:pPr marL="514350" marR="0" lvl="0" indent="-514350" algn="l" rtl="0">
              <a:spcBef>
                <a:spcPts val="0"/>
              </a:spcBef>
              <a:spcAft>
                <a:spcPts val="3730"/>
              </a:spcAft>
              <a:buClr>
                <a:srgbClr val="000000"/>
              </a:buClr>
              <a:buSzPts val="2800"/>
              <a:buFont typeface="+mj-lt"/>
              <a:buAutoNum type="alphaLcPeriod"/>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Identify the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and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y</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-coordinates of each corresponding point on the image</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br>
              <a:rPr lang="en-US" sz="2800" dirty="0">
                <a:latin typeface="Calibri" panose="020F0502020204030204" pitchFamily="34" charset="0"/>
                <a:ea typeface="Calibri" panose="020F0502020204030204" pitchFamily="34" charset="0"/>
                <a:cs typeface="Calibri" panose="020F0502020204030204" pitchFamily="34" charset="0"/>
                <a:sym typeface="Calibri"/>
              </a:rPr>
            </a:br>
            <a:br>
              <a:rPr lang="en-US" sz="2800" dirty="0">
                <a:latin typeface="Calibri" panose="020F0502020204030204" pitchFamily="34" charset="0"/>
                <a:ea typeface="Calibri" panose="020F0502020204030204" pitchFamily="34" charset="0"/>
                <a:cs typeface="Calibri" panose="020F0502020204030204" pitchFamily="34" charset="0"/>
                <a:sym typeface="Calibri"/>
              </a:rPr>
            </a:br>
            <a:br>
              <a:rPr lang="en-US" sz="2800" dirty="0">
                <a:latin typeface="Calibri" panose="020F0502020204030204" pitchFamily="34" charset="0"/>
                <a:ea typeface="Calibri" panose="020F0502020204030204" pitchFamily="34" charset="0"/>
                <a:cs typeface="Calibri" panose="020F0502020204030204" pitchFamily="34" charset="0"/>
                <a:sym typeface="Calibri"/>
              </a:rPr>
            </a:br>
            <a:endParaRPr lang="en-US" sz="2800" dirty="0">
              <a:latin typeface="Calibri" panose="020F0502020204030204" pitchFamily="34" charset="0"/>
              <a:ea typeface="Calibri" panose="020F0502020204030204" pitchFamily="34" charset="0"/>
              <a:cs typeface="Calibri" panose="020F0502020204030204" pitchFamily="34" charset="0"/>
              <a:sym typeface="Calibri"/>
            </a:endParaRPr>
          </a:p>
          <a:p>
            <a:pPr marL="514350" marR="0" lvl="0" indent="-514350" algn="l" rtl="0">
              <a:spcBef>
                <a:spcPts val="0"/>
              </a:spcBef>
              <a:spcAft>
                <a:spcPts val="3730"/>
              </a:spcAft>
              <a:buClr>
                <a:srgbClr val="000000"/>
              </a:buClr>
              <a:buSzPts val="2800"/>
              <a:buFont typeface="+mj-lt"/>
              <a:buAutoNum type="alphaLcPeriod"/>
            </a:pPr>
            <a:r>
              <a:rPr lang="en-US" sz="2800" dirty="0">
                <a:latin typeface="Calibri" panose="020F0502020204030204" pitchFamily="34" charset="0"/>
                <a:ea typeface="Calibri" panose="020F0502020204030204" pitchFamily="34" charset="0"/>
                <a:cs typeface="Calibri" panose="020F0502020204030204" pitchFamily="34" charset="0"/>
                <a:sym typeface="Calibri"/>
              </a:rPr>
              <a:t>Use the slope formula to calculate the slope of the pre-image.</a:t>
            </a:r>
            <a:br>
              <a:rPr lang="en-US" sz="2800" dirty="0">
                <a:latin typeface="Calibri" panose="020F0502020204030204" pitchFamily="34" charset="0"/>
                <a:ea typeface="Calibri" panose="020F0502020204030204" pitchFamily="34" charset="0"/>
                <a:cs typeface="Calibri" panose="020F0502020204030204" pitchFamily="34" charset="0"/>
                <a:sym typeface="Calibri"/>
              </a:rPr>
            </a:br>
            <a:br>
              <a:rPr lang="en-US" sz="2800" dirty="0">
                <a:latin typeface="Calibri" panose="020F0502020204030204" pitchFamily="34" charset="0"/>
                <a:ea typeface="Calibri" panose="020F0502020204030204" pitchFamily="34" charset="0"/>
                <a:cs typeface="Calibri" panose="020F0502020204030204" pitchFamily="34" charset="0"/>
                <a:sym typeface="Calibri"/>
              </a:rPr>
            </a:br>
            <a:br>
              <a:rPr lang="en-US" sz="2800" dirty="0">
                <a:latin typeface="Calibri" panose="020F0502020204030204" pitchFamily="34" charset="0"/>
                <a:ea typeface="Calibri" panose="020F0502020204030204" pitchFamily="34" charset="0"/>
                <a:cs typeface="Calibri" panose="020F0502020204030204" pitchFamily="34" charset="0"/>
                <a:sym typeface="Calibri"/>
              </a:rPr>
            </a:br>
            <a:endParaRPr lang="en-US" sz="2800" dirty="0">
              <a:latin typeface="Calibri" panose="020F0502020204030204" pitchFamily="34" charset="0"/>
              <a:ea typeface="Calibri" panose="020F0502020204030204" pitchFamily="34" charset="0"/>
              <a:cs typeface="Calibri" panose="020F0502020204030204" pitchFamily="34" charset="0"/>
              <a:sym typeface="Calibri"/>
            </a:endParaRPr>
          </a:p>
          <a:p>
            <a:pPr marL="514350" marR="0" lvl="0" indent="-514350" algn="l" rtl="0">
              <a:spcBef>
                <a:spcPts val="0"/>
              </a:spcBef>
              <a:spcAft>
                <a:spcPts val="3730"/>
              </a:spcAft>
              <a:buClr>
                <a:srgbClr val="000000"/>
              </a:buClr>
              <a:buSzPts val="2800"/>
              <a:buFont typeface="+mj-lt"/>
              <a:buAutoNum type="alphaLcPeriod"/>
            </a:pPr>
            <a:r>
              <a:rPr lang="en-US" sz="2800" dirty="0">
                <a:latin typeface="Calibri" panose="020F0502020204030204" pitchFamily="34" charset="0"/>
                <a:ea typeface="Calibri" panose="020F0502020204030204" pitchFamily="34" charset="0"/>
                <a:cs typeface="Calibri" panose="020F0502020204030204" pitchFamily="34" charset="0"/>
                <a:sym typeface="Calibri"/>
              </a:rPr>
              <a:t>Use the slope formula to calculate the slope of the image.</a:t>
            </a:r>
            <a:endParaRPr dirty="0"/>
          </a:p>
        </p:txBody>
      </p:sp>
      <p:sp>
        <p:nvSpPr>
          <p:cNvPr id="1688" name="Slide Number 1688"/>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31</a:t>
            </a:fld>
          </a:p>
        </p:txBody>
      </p:sp>
      <p:sp>
        <p:nvSpPr>
          <p:cNvPr id="1689" name="Answer 1689"/>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275</a:t>
            </a:r>
          </a:p>
        </p:txBody>
      </p:sp>
      <p:sp>
        <p:nvSpPr>
          <p:cNvPr id="1690" name="Answer 1690"/>
          <p:cNvSpPr txBox="1"/>
          <p:nvPr/>
        </p:nvSpPr>
        <p:spPr>
          <a:xfrm>
            <a:off x="1339850" y="2520950"/>
            <a:ext cx="9721850" cy="4254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A′(x1, y1 + a)  and  B′(x2, y2 + a)</a:t>
            </a:r>
          </a:p>
        </p:txBody>
      </p:sp>
      <p:sp>
        <p:nvSpPr>
          <p:cNvPr id="1691" name="Answer 1691"/>
          <p:cNvSpPr txBox="1"/>
          <p:nvPr/>
        </p:nvSpPr>
        <p:spPr>
          <a:xfrm>
            <a:off x="1339850" y="3429000"/>
            <a:ext cx="9721850" cy="4254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m = (y2 − y1) / (x2 − x1)</a:t>
            </a:r>
          </a:p>
        </p:txBody>
      </p:sp>
      <p:sp>
        <p:nvSpPr>
          <p:cNvPr id="1692" name="Answer 1692"/>
          <p:cNvSpPr txBox="1"/>
          <p:nvPr/>
        </p:nvSpPr>
        <p:spPr>
          <a:xfrm>
            <a:off x="1339850" y="4337050"/>
            <a:ext cx="9721850" cy="4254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m = ((y2 + a) − (y1 + a)) / (x2 − x1) = (y2 − y1) / (x2 − x1)</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69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69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p31"/>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Parallel Lines </a:t>
            </a:r>
            <a:r>
              <a:rPr lang="en-US" sz="2000" b="1" dirty="0">
                <a:solidFill>
                  <a:schemeClr val="bg1"/>
                </a:solidFill>
              </a:rPr>
              <a:t>(4 of 8)</a:t>
            </a:r>
            <a:endParaRPr dirty="0">
              <a:solidFill>
                <a:schemeClr val="bg1"/>
              </a:solidFill>
            </a:endParaRPr>
          </a:p>
        </p:txBody>
      </p:sp>
      <p:sp>
        <p:nvSpPr>
          <p:cNvPr id="697" name="Google Shape;697;p31"/>
          <p:cNvSpPr/>
          <p:nvPr/>
        </p:nvSpPr>
        <p:spPr>
          <a:xfrm>
            <a:off x="777240" y="1922862"/>
            <a:ext cx="2335077" cy="2640749"/>
          </a:xfrm>
          <a:prstGeom prst="wedgeRoundRectCallout">
            <a:avLst>
              <a:gd name="adj1" fmla="val -34578"/>
              <a:gd name="adj2" fmla="val -60903"/>
              <a:gd name="adj3" fmla="val 16667"/>
            </a:avLst>
          </a:prstGeom>
          <a:solidFill>
            <a:schemeClr val="lt1"/>
          </a:solidFill>
          <a:ln w="19050" cap="flat" cmpd="sng">
            <a:solidFill>
              <a:srgbClr val="008F4C"/>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b="1" dirty="0">
                <a:solidFill>
                  <a:schemeClr val="accent3">
                    <a:lumMod val="75000"/>
                  </a:schemeClr>
                </a:solidFill>
                <a:latin typeface="Calibri" panose="020F0502020204030204" pitchFamily="34" charset="0"/>
                <a:ea typeface="Calibri" panose="020F0502020204030204" pitchFamily="34" charset="0"/>
                <a:cs typeface="Calibri" panose="020F0502020204030204" pitchFamily="34" charset="0"/>
                <a:sym typeface="Calibri"/>
              </a:rPr>
              <a:t>Ask Yourself…</a:t>
            </a:r>
            <a:endParaRPr sz="2000" dirty="0">
              <a:solidFill>
                <a:schemeClr val="accent3">
                  <a:lumMod val="75000"/>
                </a:schemeClr>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spcBef>
                <a:spcPts val="0"/>
              </a:spcBef>
              <a:spcAft>
                <a:spcPts val="0"/>
              </a:spcAft>
              <a:buNone/>
            </a:pP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The original</a:t>
            </a:r>
            <a:b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b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figure is the</a:t>
            </a:r>
            <a:b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b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pre-image and the transformation of the figure is</a:t>
            </a:r>
            <a:b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b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the image.</a:t>
            </a:r>
            <a:endParaRPr sz="2000" dirty="0">
              <a:latin typeface="Calibri" panose="020F0502020204030204" pitchFamily="34" charset="0"/>
              <a:ea typeface="Calibri" panose="020F0502020204030204" pitchFamily="34" charset="0"/>
              <a:cs typeface="Calibri" panose="020F0502020204030204" pitchFamily="34" charset="0"/>
            </a:endParaRPr>
          </a:p>
        </p:txBody>
      </p:sp>
      <p:sp>
        <p:nvSpPr>
          <p:cNvPr id="696" name="Google Shape;696;p31"/>
          <p:cNvSpPr txBox="1"/>
          <p:nvPr/>
        </p:nvSpPr>
        <p:spPr>
          <a:xfrm>
            <a:off x="3347206" y="1602297"/>
            <a:ext cx="8581939" cy="4641341"/>
          </a:xfrm>
          <a:prstGeom prst="rect">
            <a:avLst/>
          </a:prstGeom>
          <a:noFill/>
          <a:ln>
            <a:noFill/>
          </a:ln>
        </p:spPr>
        <p:txBody>
          <a:bodyPr spcFirstLastPara="1" wrap="square" lIns="91425" tIns="45700" rIns="91425" bIns="45700" anchor="t" anchorCtr="0">
            <a:noAutofit/>
          </a:bodyPr>
          <a:lstStyle/>
          <a:p>
            <a:pPr marL="514350" marR="0" lvl="0" indent="-514350" algn="l" rtl="0">
              <a:spcBef>
                <a:spcPts val="0"/>
              </a:spcBef>
              <a:spcAft>
                <a:spcPts val="3480"/>
              </a:spcAft>
              <a:buClr>
                <a:srgbClr val="000000"/>
              </a:buClr>
              <a:buSzPts val="2800"/>
              <a:buFont typeface="Calibri"/>
              <a:buAutoNum type="alphaLcPeriod" startAt="4"/>
            </a:pPr>
            <a:r>
              <a:rPr lang="en-US" sz="2800" dirty="0">
                <a:solidFill>
                  <a:srgbClr val="000000"/>
                </a:solidFill>
                <a:latin typeface="Calibri"/>
                <a:ea typeface="Calibri"/>
                <a:cs typeface="Calibri"/>
                <a:sym typeface="Calibri"/>
              </a:rPr>
              <a:t>How does the slope of the image compare to the slope of the pre-image?</a:t>
            </a:r>
            <a:br>
              <a:rPr lang="en-US" sz="2800" dirty="0">
                <a:solidFill>
                  <a:srgbClr val="000000"/>
                </a:solidFill>
                <a:latin typeface="Calibri"/>
                <a:ea typeface="Calibri"/>
                <a:cs typeface="Calibri"/>
                <a:sym typeface="Calibri"/>
              </a:rPr>
            </a:br>
            <a:br>
              <a:rPr lang="en-US" sz="2800" dirty="0">
                <a:solidFill>
                  <a:srgbClr val="000000"/>
                </a:solidFill>
                <a:latin typeface="Calibri"/>
                <a:ea typeface="Calibri"/>
                <a:cs typeface="Calibri"/>
                <a:sym typeface="Calibri"/>
              </a:rPr>
            </a:br>
            <a:br>
              <a:rPr lang="en-US" sz="2800" dirty="0">
                <a:solidFill>
                  <a:srgbClr val="000000"/>
                </a:solidFill>
                <a:latin typeface="Calibri"/>
                <a:ea typeface="Calibri"/>
                <a:cs typeface="Calibri"/>
                <a:sym typeface="Calibri"/>
              </a:rPr>
            </a:br>
            <a:endParaRPr lang="en-US" sz="2800" dirty="0">
              <a:solidFill>
                <a:srgbClr val="000000"/>
              </a:solidFill>
              <a:latin typeface="Calibri"/>
              <a:ea typeface="Calibri"/>
              <a:cs typeface="Calibri"/>
              <a:sym typeface="Calibri"/>
            </a:endParaRPr>
          </a:p>
          <a:p>
            <a:pPr marL="514350" marR="0" lvl="0" indent="-514350" algn="l" rtl="0">
              <a:spcBef>
                <a:spcPts val="0"/>
              </a:spcBef>
              <a:spcAft>
                <a:spcPts val="3480"/>
              </a:spcAft>
              <a:buClr>
                <a:srgbClr val="000000"/>
              </a:buClr>
              <a:buSzPts val="2800"/>
              <a:buFont typeface="Calibri"/>
              <a:buAutoNum type="alphaLcPeriod" startAt="4"/>
            </a:pPr>
            <a:r>
              <a:rPr lang="en-US" sz="2800" dirty="0">
                <a:solidFill>
                  <a:srgbClr val="000000"/>
                </a:solidFill>
                <a:latin typeface="Calibri"/>
                <a:ea typeface="Calibri"/>
                <a:cs typeface="Calibri"/>
                <a:sym typeface="Calibri"/>
              </a:rPr>
              <a:t>How would you describe the relationship between the graph of the image and the graph of the pre-image? </a:t>
            </a:r>
            <a:endParaRPr dirty="0"/>
          </a:p>
        </p:txBody>
      </p:sp>
      <p:sp>
        <p:nvSpPr>
          <p:cNvPr id="1697" name="Slide Number 1697"/>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32</a:t>
            </a:fld>
          </a:p>
        </p:txBody>
      </p:sp>
      <p:sp>
        <p:nvSpPr>
          <p:cNvPr id="1698" name="Answer 1698"/>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276</a:t>
            </a:r>
          </a:p>
        </p:txBody>
      </p:sp>
      <p:sp>
        <p:nvSpPr>
          <p:cNvPr id="1699" name="Answer 1699"/>
          <p:cNvSpPr txBox="1"/>
          <p:nvPr/>
        </p:nvSpPr>
        <p:spPr>
          <a:xfrm>
            <a:off x="3911600" y="2527300"/>
            <a:ext cx="7931150" cy="3937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The slopes are the same.</a:t>
            </a:r>
          </a:p>
        </p:txBody>
      </p:sp>
      <p:sp>
        <p:nvSpPr>
          <p:cNvPr id="1700" name="Answer 1700"/>
          <p:cNvSpPr txBox="1"/>
          <p:nvPr/>
        </p:nvSpPr>
        <p:spPr>
          <a:xfrm>
            <a:off x="3911600" y="3835400"/>
            <a:ext cx="7931150" cy="3937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The graphs are parallel lines.</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69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7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02"/>
        <p:cNvGrpSpPr/>
        <p:nvPr/>
      </p:nvGrpSpPr>
      <p:grpSpPr>
        <a:xfrm>
          <a:off x="0" y="0"/>
          <a:ext cx="0" cy="0"/>
          <a:chOff x="0" y="0"/>
          <a:chExt cx="0" cy="0"/>
        </a:xfrm>
      </p:grpSpPr>
      <p:sp>
        <p:nvSpPr>
          <p:cNvPr id="703" name="Google Shape;703;p32"/>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Parallel Lines </a:t>
            </a:r>
            <a:r>
              <a:rPr lang="en-US" sz="2000" b="1" dirty="0">
                <a:solidFill>
                  <a:schemeClr val="bg1"/>
                </a:solidFill>
              </a:rPr>
              <a:t>(5 of 8)</a:t>
            </a:r>
            <a:endParaRPr dirty="0">
              <a:solidFill>
                <a:schemeClr val="bg1"/>
              </a:solidFill>
            </a:endParaRPr>
          </a:p>
        </p:txBody>
      </p:sp>
      <mc:AlternateContent xmlns:mc="http://schemas.openxmlformats.org/markup-compatibility/2006" xmlns:a14="http://schemas.microsoft.com/office/drawing/2010/main">
        <mc:Choice Requires="a14">
          <p:sp>
            <p:nvSpPr>
              <p:cNvPr id="3" name="Google Shape;659;p26">
                <a:extLst>
                  <a:ext uri="{FF2B5EF4-FFF2-40B4-BE49-F238E27FC236}">
                    <a16:creationId xmlns:a16="http://schemas.microsoft.com/office/drawing/2014/main" id="{64EBE237-92A2-0957-92DC-ADC76B41DACC}"/>
                  </a:ext>
                </a:extLst>
              </p:cNvPr>
              <p:cNvSpPr txBox="1"/>
              <p:nvPr/>
            </p:nvSpPr>
            <p:spPr>
              <a:xfrm>
                <a:off x="777240" y="1596190"/>
                <a:ext cx="9893556" cy="126319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1200"/>
                  </a:spcAft>
                  <a:buClr>
                    <a:srgbClr val="000000"/>
                  </a:buClr>
                  <a:buSzPts val="2800"/>
                  <a:buFont typeface="Arial"/>
                  <a:buNone/>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Catalina and James each write the equation of a line that is parallel to </a:t>
                </a:r>
                <a14:m>
                  <m:oMath xmlns:m="http://schemas.openxmlformats.org/officeDocument/2006/math">
                    <m:r>
                      <a:rPr lang="en-US" sz="2800" b="0" i="1" u="none" strike="noStrike" baseline="0" smtClean="0">
                        <a:latin typeface="Cambria Math" panose="02040503050406030204" pitchFamily="18" charset="0"/>
                        <a:ea typeface="Calibri" panose="020F0502020204030204" pitchFamily="34" charset="0"/>
                        <a:cs typeface="Calibri" panose="020F0502020204030204" pitchFamily="34" charset="0"/>
                      </a:rPr>
                      <m:t>𝑦</m:t>
                    </m:r>
                    <m:r>
                      <a:rPr lang="en-US" sz="2800" b="0" i="1" u="none" strike="noStrike" baseline="0" smtClean="0">
                        <a:latin typeface="Cambria Math" panose="02040503050406030204" pitchFamily="18" charset="0"/>
                        <a:ea typeface="Calibri" panose="020F0502020204030204" pitchFamily="34" charset="0"/>
                        <a:cs typeface="Calibri" panose="020F0502020204030204" pitchFamily="34" charset="0"/>
                      </a:rPr>
                      <m:t>=</m:t>
                    </m:r>
                    <m:f>
                      <m:fPr>
                        <m:ctrlPr>
                          <a:rPr lang="en-US" sz="2800" b="0" i="1" u="none" strike="noStrike" baseline="0" smtClean="0">
                            <a:latin typeface="Cambria Math" panose="02040503050406030204" pitchFamily="18" charset="0"/>
                            <a:ea typeface="Calibri" panose="020F0502020204030204" pitchFamily="34" charset="0"/>
                            <a:cs typeface="Calibri" panose="020F0502020204030204" pitchFamily="34" charset="0"/>
                          </a:rPr>
                        </m:ctrlPr>
                      </m:fPr>
                      <m:num>
                        <m:r>
                          <a:rPr lang="en-US" sz="2800" b="0" i="1" u="none" strike="noStrike" baseline="0" smtClean="0">
                            <a:latin typeface="Cambria Math" panose="02040503050406030204" pitchFamily="18" charset="0"/>
                            <a:ea typeface="Calibri" panose="020F0502020204030204" pitchFamily="34" charset="0"/>
                            <a:cs typeface="Calibri" panose="020F0502020204030204" pitchFamily="34" charset="0"/>
                          </a:rPr>
                          <m:t>1</m:t>
                        </m:r>
                      </m:num>
                      <m:den>
                        <m:r>
                          <a:rPr lang="en-US" sz="2800" b="0" i="1" u="none" strike="noStrike" baseline="0" smtClean="0">
                            <a:latin typeface="Cambria Math" panose="02040503050406030204" pitchFamily="18" charset="0"/>
                            <a:ea typeface="Calibri" panose="020F0502020204030204" pitchFamily="34" charset="0"/>
                            <a:cs typeface="Calibri" panose="020F0502020204030204" pitchFamily="34" charset="0"/>
                          </a:rPr>
                          <m:t>2</m:t>
                        </m:r>
                      </m:den>
                    </m:f>
                    <m:r>
                      <a:rPr lang="en-US" sz="2800" b="0" i="1" u="none" strike="noStrike" baseline="0" smtClean="0">
                        <a:latin typeface="Cambria Math" panose="02040503050406030204" pitchFamily="18" charset="0"/>
                        <a:ea typeface="Calibri" panose="020F0502020204030204" pitchFamily="34" charset="0"/>
                        <a:cs typeface="Calibri" panose="020F0502020204030204" pitchFamily="34" charset="0"/>
                      </a:rPr>
                      <m:t>𝑥</m:t>
                    </m:r>
                    <m:r>
                      <a:rPr lang="en-US" sz="2800" b="0" i="1" u="none" strike="noStrike" baseline="0" smtClean="0">
                        <a:latin typeface="Cambria Math" panose="02040503050406030204" pitchFamily="18" charset="0"/>
                        <a:ea typeface="Calibri" panose="020F0502020204030204" pitchFamily="34" charset="0"/>
                        <a:cs typeface="Calibri" panose="020F0502020204030204" pitchFamily="34" charset="0"/>
                      </a:rPr>
                      <m:t>+3</m:t>
                    </m:r>
                  </m:oMath>
                </a14:m>
                <a:r>
                  <a:rPr lang="en-US" sz="2800" dirty="0">
                    <a:latin typeface="Calibri" panose="020F0502020204030204" pitchFamily="34" charset="0"/>
                    <a:ea typeface="Calibri" panose="020F0502020204030204" pitchFamily="34" charset="0"/>
                    <a:cs typeface="Calibri" panose="020F0502020204030204" pitchFamily="34" charset="0"/>
                    <a:sym typeface="Calibri"/>
                  </a:rPr>
                  <a:t> and passes through the point (2, 9).</a:t>
                </a:r>
                <a:endParaRPr dirty="0"/>
              </a:p>
            </p:txBody>
          </p:sp>
        </mc:Choice>
        <mc:Fallback xmlns="">
          <p:sp>
            <p:nvSpPr>
              <p:cNvPr id="3" name="Google Shape;659;p26">
                <a:extLst>
                  <a:ext uri="{FF2B5EF4-FFF2-40B4-BE49-F238E27FC236}">
                    <a16:creationId xmlns:a16="http://schemas.microsoft.com/office/drawing/2014/main" id="{64EBE237-92A2-0957-92DC-ADC76B41DACC}"/>
                  </a:ext>
                </a:extLst>
              </p:cNvPr>
              <p:cNvSpPr txBox="1">
                <a:spLocks noRot="1" noChangeAspect="1" noMove="1" noResize="1" noEditPoints="1" noAdjustHandles="1" noChangeArrowheads="1" noChangeShapeType="1" noTextEdit="1"/>
              </p:cNvSpPr>
              <p:nvPr/>
            </p:nvSpPr>
            <p:spPr>
              <a:xfrm>
                <a:off x="777240" y="1596190"/>
                <a:ext cx="9893556" cy="1263192"/>
              </a:xfrm>
              <a:prstGeom prst="rect">
                <a:avLst/>
              </a:prstGeom>
              <a:blipFill>
                <a:blip r:embed="rId3"/>
                <a:stretch>
                  <a:fillRect l="-1295" t="-4831" r="-1603"/>
                </a:stretch>
              </a:blipFill>
              <a:ln>
                <a:noFill/>
              </a:ln>
            </p:spPr>
            <p:txBody>
              <a:bodyPr/>
              <a:lstStyle/>
              <a:p>
                <a:r>
                  <a:rPr lang="en-US">
                    <a:noFill/>
                  </a:rPr>
                  <a:t> </a:t>
                </a:r>
              </a:p>
            </p:txBody>
          </p:sp>
        </mc:Fallback>
      </mc:AlternateContent>
      <p:pic>
        <p:nvPicPr>
          <p:cNvPr id="5" name="Picture 4" descr="Catalina.&#10;I know that since the line are parallel, the new line is a translation of y equals one-half x plus 3. I can substitute the x value from ordered pair 2, 9 into y equals one-half x plus 3 to determine the corresponding point on the pre-image.&#10;y equals one-half times 2, plus 3 equals 4.&#10;The point that corresponds to the point 2, 9 on y equals one-half x plus 3 is 2, 4. Going from 2, 4 to 2, 9 is a translation up five units.&#10;Since y equals the sum of one-half x plus 3, plus 5 equals one-half x plus 8, the equation of the parallel line is y equals one-half x plus 8.">
            <a:extLst>
              <a:ext uri="{FF2B5EF4-FFF2-40B4-BE49-F238E27FC236}">
                <a16:creationId xmlns:a16="http://schemas.microsoft.com/office/drawing/2014/main" id="{F644DCB4-542B-AB52-1EAE-7D171E8BF68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77240" y="3413378"/>
            <a:ext cx="5395428" cy="2933954"/>
          </a:xfrm>
          <a:prstGeom prst="rect">
            <a:avLst/>
          </a:prstGeom>
        </p:spPr>
      </p:pic>
      <p:pic>
        <p:nvPicPr>
          <p:cNvPr id="7" name="Picture 6" descr="James.&#10;To write the eqation of the line, all I need to know is the slope formula, m equals y-sub 2 minus y-sub 1 over x-sub 2 minus x-sub 1.&#10;I used m equals one-half and 2, 9 for x, y.&#10;one-half equals y minus 9 over x minus 2.&#10;Then, I rearranged the equation to write it in general form.&#10;2 times the difference y minus 9 equals x minus 2.&#10;y minus 9 equals one-half times the difference x minus 2.&#10;y equals one-half times the difference x minus 2, plus 9.&#10;y equals one-half x minus 1 plus 9.&#10;y equals one-half x plus 8.">
            <a:extLst>
              <a:ext uri="{FF2B5EF4-FFF2-40B4-BE49-F238E27FC236}">
                <a16:creationId xmlns:a16="http://schemas.microsoft.com/office/drawing/2014/main" id="{92597626-7FD1-A854-1FC5-DAE71D99F2E5}"/>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373623" y="3192379"/>
            <a:ext cx="5395428" cy="3375953"/>
          </a:xfrm>
          <a:prstGeom prst="rect">
            <a:avLst/>
          </a:prstGeom>
        </p:spPr>
      </p:pic>
      <p:sp>
        <p:nvSpPr>
          <p:cNvPr id="1703" name="Slide Number 1703"/>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33</a:t>
            </a:fld>
          </a:p>
        </p:txBody>
      </p:sp>
      <p:sp>
        <p:nvSpPr>
          <p:cNvPr id="1704" name="Answer 1704"/>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276</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19" name="Google Shape;719;p34"/>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Parallel Lines </a:t>
            </a:r>
            <a:r>
              <a:rPr lang="en-US" sz="2000" b="1" dirty="0">
                <a:solidFill>
                  <a:schemeClr val="bg1"/>
                </a:solidFill>
              </a:rPr>
              <a:t>(6 of 8)</a:t>
            </a:r>
            <a:endParaRPr dirty="0">
              <a:solidFill>
                <a:schemeClr val="bg1"/>
              </a:solidFill>
            </a:endParaRPr>
          </a:p>
        </p:txBody>
      </p:sp>
      <p:sp>
        <p:nvSpPr>
          <p:cNvPr id="2" name="Google Shape;659;p26">
            <a:extLst>
              <a:ext uri="{FF2B5EF4-FFF2-40B4-BE49-F238E27FC236}">
                <a16:creationId xmlns:a16="http://schemas.microsoft.com/office/drawing/2014/main" id="{D33246F4-6CB8-CB5A-3BB8-F7D5EAE0A012}"/>
              </a:ext>
            </a:extLst>
          </p:cNvPr>
          <p:cNvSpPr txBox="1"/>
          <p:nvPr/>
        </p:nvSpPr>
        <p:spPr>
          <a:xfrm>
            <a:off x="777240" y="1596190"/>
            <a:ext cx="9893556" cy="4125102"/>
          </a:xfrm>
          <a:prstGeom prst="rect">
            <a:avLst/>
          </a:prstGeom>
          <a:noFill/>
          <a:ln>
            <a:noFill/>
          </a:ln>
        </p:spPr>
        <p:txBody>
          <a:bodyPr spcFirstLastPara="1" wrap="square" lIns="91425" tIns="45700" rIns="91425" bIns="45700" anchor="t" anchorCtr="0">
            <a:noAutofit/>
          </a:bodyPr>
          <a:lstStyle/>
          <a:p>
            <a:pPr marL="514350" marR="0" lvl="0" indent="-514350" algn="l" rtl="0">
              <a:spcBef>
                <a:spcPts val="0"/>
              </a:spcBef>
              <a:spcAft>
                <a:spcPts val="6170"/>
              </a:spcAft>
              <a:buClr>
                <a:srgbClr val="000000"/>
              </a:buClr>
              <a:buSzPts val="2800"/>
              <a:buFont typeface="+mj-lt"/>
              <a:buAutoNum type="arabicPeriod" startAt="3"/>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Which student’s method do you prefer and why?</a:t>
            </a:r>
            <a:b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br>
            <a:b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br>
            <a:b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br>
            <a:b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br>
            <a:endParaRPr lang="en-US" sz="2800" b="0" i="0" u="none" strike="noStrike" baseline="0" dirty="0">
              <a:latin typeface="Calibri" panose="020F0502020204030204" pitchFamily="34" charset="0"/>
              <a:ea typeface="Calibri" panose="020F0502020204030204" pitchFamily="34" charset="0"/>
              <a:cs typeface="Calibri" panose="020F0502020204030204" pitchFamily="34" charset="0"/>
            </a:endParaRPr>
          </a:p>
          <a:p>
            <a:pPr marL="514350" marR="0" lvl="0" indent="-514350" algn="l" rtl="0">
              <a:spcBef>
                <a:spcPts val="0"/>
              </a:spcBef>
              <a:spcAft>
                <a:spcPts val="6960"/>
              </a:spcAft>
              <a:buClr>
                <a:srgbClr val="000000"/>
              </a:buClr>
              <a:buSzPts val="2800"/>
              <a:buFont typeface="+mj-lt"/>
              <a:buAutoNum type="arabicPeriod" startAt="3"/>
            </a:pPr>
            <a:r>
              <a:rPr lang="en-US" sz="2800" dirty="0">
                <a:latin typeface="Calibri" panose="020F0502020204030204" pitchFamily="34" charset="0"/>
                <a:ea typeface="Calibri" panose="020F0502020204030204" pitchFamily="34" charset="0"/>
                <a:cs typeface="Calibri" panose="020F0502020204030204" pitchFamily="34" charset="0"/>
              </a:rPr>
              <a:t>Write the equation of a line that is parallel to </a:t>
            </a:r>
            <a:r>
              <a:rPr lang="en-US" sz="2800" i="1" dirty="0">
                <a:latin typeface="Calibri" panose="020F0502020204030204" pitchFamily="34" charset="0"/>
                <a:ea typeface="Calibri" panose="020F0502020204030204" pitchFamily="34" charset="0"/>
                <a:cs typeface="Calibri" panose="020F0502020204030204" pitchFamily="34" charset="0"/>
              </a:rPr>
              <a:t>y</a:t>
            </a:r>
            <a:r>
              <a:rPr lang="en-US" sz="2800" dirty="0">
                <a:latin typeface="Calibri" panose="020F0502020204030204" pitchFamily="34" charset="0"/>
                <a:ea typeface="Calibri" panose="020F0502020204030204" pitchFamily="34" charset="0"/>
                <a:cs typeface="Calibri" panose="020F0502020204030204" pitchFamily="34" charset="0"/>
              </a:rPr>
              <a:t> = −3</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− 1 and passes through the point (−1, 5).</a:t>
            </a:r>
            <a:endParaRPr dirty="0"/>
          </a:p>
        </p:txBody>
      </p:sp>
      <p:sp>
        <p:nvSpPr>
          <p:cNvPr id="1719" name="Slide Number 171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34</a:t>
            </a:fld>
          </a:p>
        </p:txBody>
      </p:sp>
      <p:sp>
        <p:nvSpPr>
          <p:cNvPr id="1720" name="Answer 172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276</a:t>
            </a:r>
          </a:p>
        </p:txBody>
      </p:sp>
      <p:sp>
        <p:nvSpPr>
          <p:cNvPr id="1721" name="Answer 1721"/>
          <p:cNvSpPr txBox="1"/>
          <p:nvPr/>
        </p:nvSpPr>
        <p:spPr>
          <a:xfrm>
            <a:off x="1339850" y="2089150"/>
            <a:ext cx="9239250" cy="7302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Answers will vary. Catalina translates the given line up 5; James uses the slope formula with the point (2, 9). Both get y = (1/2)x + 8.</a:t>
            </a:r>
          </a:p>
        </p:txBody>
      </p:sp>
      <p:sp>
        <p:nvSpPr>
          <p:cNvPr id="1722" name="Answer 1722"/>
          <p:cNvSpPr txBox="1"/>
          <p:nvPr/>
        </p:nvSpPr>
        <p:spPr>
          <a:xfrm>
            <a:off x="1339850" y="3740150"/>
            <a:ext cx="9239250" cy="8318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y = −3x + 2</a:t>
            </a:r>
          </a:p>
          <a:p>
            <a:pPr marL="0" indent="0" algn="l">
              <a:spcBef>
                <a:spcPts val="0"/>
              </a:spcBef>
              <a:spcAft>
                <a:spcPts val="300"/>
              </a:spcAft>
              <a:buNone/>
            </a:pPr>
            <a:r>
              <a:rPr lang="en-US" sz="2400" dirty="0">
                <a:solidFill>
                  <a:srgbClr val="FF0000"/>
                </a:solidFill>
              </a:rPr>
              <a:t>Parallel, so the slope is −3: 5 = −3(−1) + b, so b = 2.</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7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7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sp>
        <p:nvSpPr>
          <p:cNvPr id="726" name="Google Shape;726;p35"/>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Parallel Lines </a:t>
            </a:r>
            <a:r>
              <a:rPr lang="en-US" sz="2000" b="1" dirty="0">
                <a:solidFill>
                  <a:schemeClr val="bg1"/>
                </a:solidFill>
              </a:rPr>
              <a:t>(7 of 8)</a:t>
            </a:r>
            <a:endParaRPr dirty="0">
              <a:solidFill>
                <a:schemeClr val="bg1"/>
              </a:solidFill>
            </a:endParaRPr>
          </a:p>
        </p:txBody>
      </p:sp>
      <p:sp>
        <p:nvSpPr>
          <p:cNvPr id="727" name="Google Shape;727;p35"/>
          <p:cNvSpPr txBox="1"/>
          <p:nvPr/>
        </p:nvSpPr>
        <p:spPr>
          <a:xfrm>
            <a:off x="777240" y="1616140"/>
            <a:ext cx="989371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b="0" i="0" u="none" strike="noStrike">
                <a:solidFill>
                  <a:srgbClr val="000000"/>
                </a:solidFill>
                <a:latin typeface="Calibri"/>
                <a:ea typeface="Calibri"/>
                <a:cs typeface="Calibri"/>
                <a:sym typeface="Calibri"/>
              </a:rPr>
              <a:t>Let’s summarize our learning from Activity 1.2!</a:t>
            </a:r>
            <a:endParaRPr/>
          </a:p>
        </p:txBody>
      </p:sp>
      <p:pic>
        <p:nvPicPr>
          <p:cNvPr id="728" name="Google Shape;728;p35">
            <a:extLst>
              <a:ext uri="{C183D7F6-B498-43B3-948B-1728B52AA6E4}">
                <adec:decorative xmlns:adec="http://schemas.microsoft.com/office/drawing/2017/decorative" val="1"/>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174023" y="372494"/>
            <a:ext cx="1501270" cy="518205"/>
          </a:xfrm>
          <a:prstGeom prst="rect">
            <a:avLst/>
          </a:prstGeom>
          <a:noFill/>
          <a:ln>
            <a:noFill/>
          </a:ln>
        </p:spPr>
      </p:pic>
      <p:sp>
        <p:nvSpPr>
          <p:cNvPr id="1728" name="Slide Number 1728"/>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35</a:t>
            </a:fld>
          </a:p>
        </p:txBody>
      </p:sp>
      <p:sp>
        <p:nvSpPr>
          <p:cNvPr id="1729" name="Answer 1729"/>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276</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sp>
        <p:nvSpPr>
          <p:cNvPr id="734" name="Google Shape;734;p36"/>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Slopes of Parallel Lines </a:t>
            </a:r>
            <a:r>
              <a:rPr lang="en-US" sz="2000" b="1" dirty="0">
                <a:solidFill>
                  <a:schemeClr val="bg1"/>
                </a:solidFill>
              </a:rPr>
              <a:t>(8 of 8)</a:t>
            </a:r>
            <a:endParaRPr dirty="0">
              <a:solidFill>
                <a:schemeClr val="bg1"/>
              </a:solidFill>
            </a:endParaRPr>
          </a:p>
        </p:txBody>
      </p:sp>
      <p:sp>
        <p:nvSpPr>
          <p:cNvPr id="735" name="Google Shape;735;p36">
            <a:extLst>
              <a:ext uri="{C183D7F6-B498-43B3-948B-1728B52AA6E4}">
                <adec:decorative xmlns:adec="http://schemas.microsoft.com/office/drawing/2017/decorative" val="1"/>
              </a:ext>
            </a:extLst>
          </p:cNvPr>
          <p:cNvSpPr txBox="1"/>
          <p:nvPr/>
        </p:nvSpPr>
        <p:spPr>
          <a:xfrm>
            <a:off x="777240" y="1616140"/>
            <a:ext cx="1047175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800"/>
              <a:buFont typeface="Arial"/>
              <a:buNone/>
            </a:pPr>
            <a:endParaRPr sz="2800">
              <a:solidFill>
                <a:srgbClr val="3A3838"/>
              </a:solidFill>
              <a:latin typeface="Calibri"/>
              <a:ea typeface="Calibri"/>
              <a:cs typeface="Calibri"/>
              <a:sym typeface="Calibri"/>
            </a:endParaRPr>
          </a:p>
        </p:txBody>
      </p:sp>
      <p:sp>
        <p:nvSpPr>
          <p:cNvPr id="1735" name="Slide Number 173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36</a:t>
            </a:fld>
          </a:p>
        </p:txBody>
      </p:sp>
      <p:sp>
        <p:nvSpPr>
          <p:cNvPr id="1736" name="Answer 1736"/>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741" name="Google Shape;741;p37"/>
          <p:cNvSpPr txBox="1">
            <a:spLocks noGrp="1"/>
          </p:cNvSpPr>
          <p:nvPr>
            <p:ph type="title"/>
          </p:nvPr>
        </p:nvSpPr>
        <p:spPr>
          <a:xfrm>
            <a:off x="838200" y="-318782"/>
            <a:ext cx="10514013" cy="318782"/>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2000"/>
              <a:buFont typeface="Calibri"/>
              <a:buNone/>
            </a:pPr>
            <a:r>
              <a:rPr lang="en-US" sz="2000" dirty="0">
                <a:solidFill>
                  <a:schemeClr val="lt2"/>
                </a:solidFill>
                <a:latin typeface="Calibri"/>
                <a:ea typeface="Calibri"/>
                <a:cs typeface="Calibri"/>
                <a:sym typeface="Calibri"/>
              </a:rPr>
              <a:t>Activity 1.3</a:t>
            </a:r>
            <a:endParaRPr dirty="0"/>
          </a:p>
        </p:txBody>
      </p:sp>
      <p:sp>
        <p:nvSpPr>
          <p:cNvPr id="742" name="Google Shape;742;p37" descr="20 to 25 minutes"/>
          <p:cNvSpPr txBox="1">
            <a:spLocks noGrp="1"/>
          </p:cNvSpPr>
          <p:nvPr>
            <p:ph type="body" idx="2"/>
          </p:nvPr>
        </p:nvSpPr>
        <p:spPr>
          <a:xfrm>
            <a:off x="10623379" y="5780973"/>
            <a:ext cx="863947" cy="795338"/>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71616"/>
              </a:buClr>
              <a:buSzPts val="2000"/>
              <a:buNone/>
            </a:pPr>
            <a:r>
              <a:rPr lang="en-US" b="1" dirty="0"/>
              <a:t>20–25</a:t>
            </a:r>
            <a:endParaRPr dirty="0"/>
          </a:p>
        </p:txBody>
      </p:sp>
      <p:sp>
        <p:nvSpPr>
          <p:cNvPr id="743" name="Google Shape;743;p37">
            <a:extLst>
              <a:ext uri="{C183D7F6-B498-43B3-948B-1728B52AA6E4}">
                <adec:decorative xmlns:adec="http://schemas.microsoft.com/office/drawing/2017/decorative" val="1"/>
              </a:ext>
            </a:extLst>
          </p:cNvPr>
          <p:cNvSpPr txBox="1">
            <a:spLocks noGrp="1"/>
          </p:cNvSpPr>
          <p:nvPr>
            <p:ph type="body" idx="1"/>
          </p:nvPr>
        </p:nvSpPr>
        <p:spPr>
          <a:xfrm>
            <a:off x="6769100" y="2957776"/>
            <a:ext cx="2025986" cy="112553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7500"/>
              <a:buNone/>
            </a:pPr>
            <a:r>
              <a:rPr lang="en-US"/>
              <a:t>1.3</a:t>
            </a:r>
            <a:endParaRPr/>
          </a:p>
        </p:txBody>
      </p:sp>
      <p:sp>
        <p:nvSpPr>
          <p:cNvPr id="1743" name="Slide Number 1743"/>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37</a:t>
            </a:fld>
          </a:p>
        </p:txBody>
      </p:sp>
      <p:sp>
        <p:nvSpPr>
          <p:cNvPr id="1745" name="Answer 1745"/>
          <p:cNvSpPr txBox="1"/>
          <p:nvPr/>
        </p:nvSpPr>
        <p:spPr>
          <a:xfrm>
            <a:off x="1016000" y="952500"/>
            <a:ext cx="10160000" cy="7620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4400" b="1" dirty="0">
                <a:solidFill>
                  <a:srgbClr val="2E7D3C"/>
                </a:solidFill>
              </a:rPr>
              <a:t>★ Essential activity: do not skip</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sp>
        <p:nvSpPr>
          <p:cNvPr id="749" name="Google Shape;749;p38"/>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Vertical Dilations of Functions </a:t>
            </a:r>
            <a:r>
              <a:rPr lang="en-US" sz="2000" b="1" dirty="0">
                <a:solidFill>
                  <a:schemeClr val="bg1"/>
                </a:solidFill>
              </a:rPr>
              <a:t>(1 of 9)</a:t>
            </a:r>
            <a:endParaRPr dirty="0">
              <a:solidFill>
                <a:schemeClr val="bg1"/>
              </a:solidFill>
            </a:endParaRPr>
          </a:p>
        </p:txBody>
      </p:sp>
      <p:sp>
        <p:nvSpPr>
          <p:cNvPr id="2" name="Google Shape;659;p26">
            <a:extLst>
              <a:ext uri="{FF2B5EF4-FFF2-40B4-BE49-F238E27FC236}">
                <a16:creationId xmlns:a16="http://schemas.microsoft.com/office/drawing/2014/main" id="{7B07923D-D9B2-28AD-9B91-D6DC19DD0699}"/>
              </a:ext>
            </a:extLst>
          </p:cNvPr>
          <p:cNvSpPr txBox="1"/>
          <p:nvPr/>
        </p:nvSpPr>
        <p:spPr>
          <a:xfrm>
            <a:off x="777240" y="1263193"/>
            <a:ext cx="10791178" cy="293969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1200"/>
              </a:spcAft>
              <a:buClr>
                <a:srgbClr val="000000"/>
              </a:buClr>
              <a:buSzPts val="2800"/>
              <a:buFont typeface="Arial"/>
              <a:buNone/>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In this activity, let’s consider how dilations impact the graph of the linear function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p>
          <a:p>
            <a:pPr marL="514350" marR="0" lvl="0" indent="-514350" algn="l" rtl="0">
              <a:spcBef>
                <a:spcPts val="0"/>
              </a:spcBef>
              <a:spcAft>
                <a:spcPts val="600"/>
              </a:spcAft>
              <a:buClr>
                <a:srgbClr val="000000"/>
              </a:buClr>
              <a:buSzPts val="2800"/>
              <a:buFont typeface="+mj-lt"/>
              <a:buAutoNum type="arabicPeriod"/>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Suppose the output values of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f</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are changed by a factor of 4 to create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p>
          <a:p>
            <a:pPr marL="1031875" lvl="2" indent="-514350">
              <a:buSzPts val="2800"/>
              <a:buFont typeface="+mj-lt"/>
              <a:buAutoNum type="alphaLcPeriod"/>
            </a:pPr>
            <a:r>
              <a:rPr lang="en-US" sz="2800" dirty="0">
                <a:latin typeface="Calibri" panose="020F0502020204030204" pitchFamily="34" charset="0"/>
                <a:ea typeface="Calibri" panose="020F0502020204030204" pitchFamily="34" charset="0"/>
                <a:cs typeface="Calibri" panose="020F0502020204030204" pitchFamily="34" charset="0"/>
                <a:sym typeface="Calibri"/>
              </a:rPr>
              <a:t>Sketch the graph of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a</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and complete the table of values.</a:t>
            </a:r>
            <a:endParaRPr sz="2800" dirty="0"/>
          </a:p>
        </p:txBody>
      </p:sp>
      <p:pic>
        <p:nvPicPr>
          <p:cNvPr id="753" name="Google Shape;753;p38" descr="A graph of line f of x = x on the coordinate plane. The line rises from left to right through the points from the table, including the points (0, 0) and (2, 2)."/>
          <p:cNvPicPr>
            <a:picLocks noChangeAspect="1"/>
          </p:cNvPicPr>
          <p:nvPr/>
        </p:nvPicPr>
        <p:blipFill rotWithShape="1">
          <a:blip r:embed="rId3" cstate="email">
            <a:alphaModFix/>
            <a:extLst>
              <a:ext uri="{28A0092B-C50C-407E-A947-70E740481C1C}">
                <a14:useLocalDpi xmlns:a14="http://schemas.microsoft.com/office/drawing/2010/main"/>
              </a:ext>
            </a:extLst>
          </a:blip>
          <a:srcRect/>
          <a:stretch/>
        </p:blipFill>
        <p:spPr>
          <a:xfrm>
            <a:off x="1684304" y="3900718"/>
            <a:ext cx="2937661" cy="2880508"/>
          </a:xfrm>
          <a:prstGeom prst="rect">
            <a:avLst/>
          </a:prstGeom>
          <a:noFill/>
          <a:ln>
            <a:noFill/>
          </a:ln>
        </p:spPr>
      </p:pic>
      <p:graphicFrame>
        <p:nvGraphicFramePr>
          <p:cNvPr id="5" name="Table 4">
            <a:extLst>
              <a:ext uri="{FF2B5EF4-FFF2-40B4-BE49-F238E27FC236}">
                <a16:creationId xmlns:a16="http://schemas.microsoft.com/office/drawing/2014/main" id="{10D6A821-2047-A7BF-914C-B6AA482EB4A4}"/>
              </a:ext>
            </a:extLst>
          </p:cNvPr>
          <p:cNvGraphicFramePr>
            <a:graphicFrameLocks noGrp="1"/>
          </p:cNvGraphicFramePr>
          <p:nvPr>
            <p:extLst>
              <p:ext uri="{D42A27DB-BD31-4B8C-83A1-F6EECF244321}">
                <p14:modId xmlns:p14="http://schemas.microsoft.com/office/powerpoint/2010/main" val="3171744844"/>
              </p:ext>
            </p:extLst>
          </p:nvPr>
        </p:nvGraphicFramePr>
        <p:xfrm>
          <a:off x="5529029" y="3916899"/>
          <a:ext cx="1365806" cy="640080"/>
        </p:xfrm>
        <a:graphic>
          <a:graphicData uri="http://schemas.openxmlformats.org/drawingml/2006/table">
            <a:tbl>
              <a:tblPr firstRow="1" bandRow="1">
                <a:tableStyleId>{A49AC34E-657E-4A3B-9C05-DC8BE6C80247}</a:tableStyleId>
              </a:tblPr>
              <a:tblGrid>
                <a:gridCol w="1365806">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Original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3" name="Table 2">
            <a:extLst>
              <a:ext uri="{FF2B5EF4-FFF2-40B4-BE49-F238E27FC236}">
                <a16:creationId xmlns:a16="http://schemas.microsoft.com/office/drawing/2014/main" id="{FEBEB89F-FE8C-A0BC-4241-10D8B33B61F8}"/>
              </a:ext>
            </a:extLst>
          </p:cNvPr>
          <p:cNvGraphicFramePr>
            <a:graphicFrameLocks noGrp="1"/>
          </p:cNvGraphicFramePr>
          <p:nvPr>
            <p:extLst>
              <p:ext uri="{D42A27DB-BD31-4B8C-83A1-F6EECF244321}">
                <p14:modId xmlns:p14="http://schemas.microsoft.com/office/powerpoint/2010/main" val="3155997650"/>
              </p:ext>
            </p:extLst>
          </p:nvPr>
        </p:nvGraphicFramePr>
        <p:xfrm>
          <a:off x="5529029" y="4556186"/>
          <a:ext cx="1365806" cy="2225040"/>
        </p:xfrm>
        <a:graphic>
          <a:graphicData uri="http://schemas.openxmlformats.org/drawingml/2006/table">
            <a:tbl>
              <a:tblPr firstRow="1" bandRow="1">
                <a:tableStyleId>{A49AC34E-657E-4A3B-9C05-DC8BE6C80247}</a:tableStyleId>
              </a:tblPr>
              <a:tblGrid>
                <a:gridCol w="682903">
                  <a:extLst>
                    <a:ext uri="{9D8B030D-6E8A-4147-A177-3AD203B41FA5}">
                      <a16:colId xmlns:a16="http://schemas.microsoft.com/office/drawing/2014/main" val="189482869"/>
                    </a:ext>
                  </a:extLst>
                </a:gridCol>
                <a:gridCol w="682903">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42399944"/>
                  </a:ext>
                </a:extLst>
              </a:tr>
            </a:tbl>
          </a:graphicData>
        </a:graphic>
      </p:graphicFrame>
      <p:graphicFrame>
        <p:nvGraphicFramePr>
          <p:cNvPr id="6" name="Table 5">
            <a:extLst>
              <a:ext uri="{FF2B5EF4-FFF2-40B4-BE49-F238E27FC236}">
                <a16:creationId xmlns:a16="http://schemas.microsoft.com/office/drawing/2014/main" id="{CFBACBFD-1114-C3D7-8571-73A104F0EE5B}"/>
              </a:ext>
            </a:extLst>
          </p:cNvPr>
          <p:cNvGraphicFramePr>
            <a:graphicFrameLocks noGrp="1"/>
          </p:cNvGraphicFramePr>
          <p:nvPr>
            <p:extLst>
              <p:ext uri="{D42A27DB-BD31-4B8C-83A1-F6EECF244321}">
                <p14:modId xmlns:p14="http://schemas.microsoft.com/office/powerpoint/2010/main" val="3216935715"/>
              </p:ext>
            </p:extLst>
          </p:nvPr>
        </p:nvGraphicFramePr>
        <p:xfrm>
          <a:off x="7213615" y="3916899"/>
          <a:ext cx="1468284" cy="640080"/>
        </p:xfrm>
        <a:graphic>
          <a:graphicData uri="http://schemas.openxmlformats.org/drawingml/2006/table">
            <a:tbl>
              <a:tblPr firstRow="1" bandRow="1">
                <a:tableStyleId>{A49AC34E-657E-4A3B-9C05-DC8BE6C80247}</a:tableStyleId>
              </a:tblPr>
              <a:tblGrid>
                <a:gridCol w="1468284">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Transformed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4" name="Table 3">
            <a:extLst>
              <a:ext uri="{FF2B5EF4-FFF2-40B4-BE49-F238E27FC236}">
                <a16:creationId xmlns:a16="http://schemas.microsoft.com/office/drawing/2014/main" id="{2B048231-A374-35C0-1D30-820F0EC52753}"/>
              </a:ext>
            </a:extLst>
          </p:cNvPr>
          <p:cNvGraphicFramePr>
            <a:graphicFrameLocks noGrp="1"/>
          </p:cNvGraphicFramePr>
          <p:nvPr>
            <p:extLst>
              <p:ext uri="{D42A27DB-BD31-4B8C-83A1-F6EECF244321}">
                <p14:modId xmlns:p14="http://schemas.microsoft.com/office/powerpoint/2010/main" val="296210533"/>
              </p:ext>
            </p:extLst>
          </p:nvPr>
        </p:nvGraphicFramePr>
        <p:xfrm>
          <a:off x="7213615" y="4556186"/>
          <a:ext cx="1468284" cy="2225040"/>
        </p:xfrm>
        <a:graphic>
          <a:graphicData uri="http://schemas.openxmlformats.org/drawingml/2006/table">
            <a:tbl>
              <a:tblPr firstRow="1" bandRow="1">
                <a:tableStyleId>{A49AC34E-657E-4A3B-9C05-DC8BE6C80247}</a:tableStyleId>
              </a:tblPr>
              <a:tblGrid>
                <a:gridCol w="734142">
                  <a:extLst>
                    <a:ext uri="{9D8B030D-6E8A-4147-A177-3AD203B41FA5}">
                      <a16:colId xmlns:a16="http://schemas.microsoft.com/office/drawing/2014/main" val="189482869"/>
                    </a:ext>
                  </a:extLst>
                </a:gridCol>
                <a:gridCol w="734142">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a</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42399944"/>
                  </a:ext>
                </a:extLst>
              </a:tr>
            </a:tbl>
          </a:graphicData>
        </a:graphic>
      </p:graphicFrame>
      <p:sp>
        <p:nvSpPr>
          <p:cNvPr id="1753" name="Slide Number 1753"/>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38</a:t>
            </a:fld>
          </a:p>
        </p:txBody>
      </p:sp>
      <p:sp>
        <p:nvSpPr>
          <p:cNvPr id="1754" name="Answer 1754"/>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277</a:t>
            </a:r>
          </a:p>
        </p:txBody>
      </p:sp>
      <p:sp>
        <p:nvSpPr>
          <p:cNvPr id="1755" name="Answer 1755"/>
          <p:cNvSpPr txBox="1"/>
          <p:nvPr/>
        </p:nvSpPr>
        <p:spPr>
          <a:xfrm>
            <a:off x="7950200" y="49276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−8</a:t>
            </a:r>
          </a:p>
        </p:txBody>
      </p:sp>
      <p:sp>
        <p:nvSpPr>
          <p:cNvPr id="1756" name="Answer 1756"/>
          <p:cNvSpPr txBox="1"/>
          <p:nvPr/>
        </p:nvSpPr>
        <p:spPr>
          <a:xfrm>
            <a:off x="7950200" y="52959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−4</a:t>
            </a:r>
          </a:p>
        </p:txBody>
      </p:sp>
      <p:sp>
        <p:nvSpPr>
          <p:cNvPr id="1757" name="Answer 1757"/>
          <p:cNvSpPr txBox="1"/>
          <p:nvPr/>
        </p:nvSpPr>
        <p:spPr>
          <a:xfrm>
            <a:off x="7950200" y="56642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0</a:t>
            </a:r>
          </a:p>
        </p:txBody>
      </p:sp>
      <p:sp>
        <p:nvSpPr>
          <p:cNvPr id="1758" name="Answer 1758"/>
          <p:cNvSpPr txBox="1"/>
          <p:nvPr/>
        </p:nvSpPr>
        <p:spPr>
          <a:xfrm>
            <a:off x="7950200" y="60325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4</a:t>
            </a:r>
          </a:p>
        </p:txBody>
      </p:sp>
      <p:sp>
        <p:nvSpPr>
          <p:cNvPr id="1759" name="Answer 1759"/>
          <p:cNvSpPr txBox="1"/>
          <p:nvPr/>
        </p:nvSpPr>
        <p:spPr>
          <a:xfrm>
            <a:off x="7950200" y="64008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8</a:t>
            </a:r>
          </a:p>
        </p:txBody>
      </p:sp>
      <p:sp>
        <p:nvSpPr>
          <p:cNvPr id="1760" name="Answer 1760"/>
          <p:cNvSpPr txBox="1"/>
          <p:nvPr/>
        </p:nvSpPr>
        <p:spPr>
          <a:xfrm>
            <a:off x="8890000" y="4064000"/>
            <a:ext cx="3048000" cy="825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Graph a(x): through (0, 0) and (1, 4)</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755"/>
                                        </p:tgtEl>
                                        <p:attrNameLst>
                                          <p:attrName>style.visibility</p:attrName>
                                        </p:attrNameLst>
                                      </p:cBhvr>
                                      <p:to>
                                        <p:strVal val="visible"/>
                                      </p:to>
                                    </p:set>
                                  </p:childTnLst>
                                </p:cTn>
                              </p:par>
                              <p:par>
                                <p:cTn id="5" presetID="1" presetClass="entr" presetSubtype="0" fill="hold" nodeType="withEffect">
                                  <p:stCondLst>
                                    <p:cond delay="0"/>
                                  </p:stCondLst>
                                  <p:childTnLst>
                                    <p:set>
                                      <p:cBhvr>
                                        <p:cTn id="6" dur="1" fill="hold">
                                          <p:stCondLst>
                                            <p:cond delay="0"/>
                                          </p:stCondLst>
                                        </p:cTn>
                                        <p:tgtEl>
                                          <p:spTgt spid="175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5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5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5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sp>
        <p:nvSpPr>
          <p:cNvPr id="761" name="Google Shape;761;p39"/>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Vertical Dilations of Functions </a:t>
            </a:r>
            <a:r>
              <a:rPr lang="en-US" sz="2000" b="1" dirty="0">
                <a:solidFill>
                  <a:schemeClr val="bg1"/>
                </a:solidFill>
              </a:rPr>
              <a:t>(2 of 9)</a:t>
            </a:r>
            <a:endParaRPr dirty="0">
              <a:solidFill>
                <a:schemeClr val="bg1"/>
              </a:solidFill>
            </a:endParaRPr>
          </a:p>
        </p:txBody>
      </p:sp>
      <p:sp>
        <p:nvSpPr>
          <p:cNvPr id="2" name="Google Shape;659;p26">
            <a:extLst>
              <a:ext uri="{FF2B5EF4-FFF2-40B4-BE49-F238E27FC236}">
                <a16:creationId xmlns:a16="http://schemas.microsoft.com/office/drawing/2014/main" id="{B100799E-3180-D2B7-69CF-C41894B886CF}"/>
              </a:ext>
            </a:extLst>
          </p:cNvPr>
          <p:cNvSpPr txBox="1"/>
          <p:nvPr/>
        </p:nvSpPr>
        <p:spPr>
          <a:xfrm>
            <a:off x="777240" y="1593907"/>
            <a:ext cx="10346562" cy="2608977"/>
          </a:xfrm>
          <a:prstGeom prst="rect">
            <a:avLst/>
          </a:prstGeom>
          <a:noFill/>
          <a:ln>
            <a:noFill/>
          </a:ln>
        </p:spPr>
        <p:txBody>
          <a:bodyPr spcFirstLastPara="1" wrap="square" lIns="91425" tIns="45700" rIns="91425" bIns="45700" anchor="t" anchorCtr="0">
            <a:noAutofit/>
          </a:bodyPr>
          <a:lstStyle/>
          <a:p>
            <a:pPr marL="514350" lvl="2" indent="-514350">
              <a:buSzPts val="2800"/>
              <a:buFont typeface="+mj-lt"/>
              <a:buAutoNum type="alphaLcPeriod" startAt="2"/>
            </a:pPr>
            <a:r>
              <a:rPr lang="en-US" sz="2800" dirty="0">
                <a:latin typeface="Calibri" panose="020F0502020204030204" pitchFamily="34" charset="0"/>
                <a:ea typeface="Calibri" panose="020F0502020204030204" pitchFamily="34" charset="0"/>
                <a:cs typeface="Calibri" panose="020F0502020204030204" pitchFamily="34" charset="0"/>
                <a:sym typeface="Calibri"/>
              </a:rPr>
              <a:t>Identify the slope and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y</a:t>
            </a:r>
            <a:r>
              <a:rPr lang="en-US" sz="2800" dirty="0">
                <a:latin typeface="Calibri" panose="020F0502020204030204" pitchFamily="34" charset="0"/>
                <a:ea typeface="Calibri" panose="020F0502020204030204" pitchFamily="34" charset="0"/>
                <a:cs typeface="Calibri" panose="020F0502020204030204" pitchFamily="34" charset="0"/>
                <a:sym typeface="Calibri"/>
              </a:rPr>
              <a:t>-intercept of the function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a</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Then, write the equation for the function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a</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in general form.</a:t>
            </a:r>
            <a:endParaRPr sz="2800" dirty="0"/>
          </a:p>
        </p:txBody>
      </p:sp>
      <p:sp>
        <p:nvSpPr>
          <p:cNvPr id="1761" name="Slide Number 1761"/>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39</a:t>
            </a:fld>
          </a:p>
        </p:txBody>
      </p:sp>
      <p:sp>
        <p:nvSpPr>
          <p:cNvPr id="1762" name="Answer 1762"/>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277</a:t>
            </a:r>
          </a:p>
        </p:txBody>
      </p:sp>
      <p:sp>
        <p:nvSpPr>
          <p:cNvPr id="1763" name="Answer 1763"/>
          <p:cNvSpPr txBox="1"/>
          <p:nvPr/>
        </p:nvSpPr>
        <p:spPr>
          <a:xfrm>
            <a:off x="774700" y="2667000"/>
            <a:ext cx="10795000" cy="825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Slope: 4;  y-intercept: (0, 0)</a:t>
            </a:r>
          </a:p>
          <a:p>
            <a:pPr marL="0" indent="0" algn="l">
              <a:spcBef>
                <a:spcPts val="0"/>
              </a:spcBef>
              <a:spcAft>
                <a:spcPts val="300"/>
              </a:spcAft>
              <a:buNone/>
            </a:pPr>
            <a:r>
              <a:rPr lang="en-US" sz="2400" dirty="0">
                <a:solidFill>
                  <a:srgbClr val="FF0000"/>
                </a:solidFill>
              </a:rPr>
              <a:t>a(x) = 4x</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7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48">
          <a:extLst>
            <a:ext uri="{FF2B5EF4-FFF2-40B4-BE49-F238E27FC236}">
              <a16:creationId xmlns:a16="http://schemas.microsoft.com/office/drawing/2014/main" id="{83ECC9F4-5D00-C4F4-37A6-CAA330484704}"/>
            </a:ext>
          </a:extLst>
        </p:cNvPr>
        <p:cNvGrpSpPr/>
        <p:nvPr/>
      </p:nvGrpSpPr>
      <p:grpSpPr>
        <a:xfrm>
          <a:off x="0" y="0"/>
          <a:ext cx="0" cy="0"/>
          <a:chOff x="0" y="0"/>
          <a:chExt cx="0" cy="0"/>
        </a:xfrm>
      </p:grpSpPr>
      <p:sp>
        <p:nvSpPr>
          <p:cNvPr id="749" name="Google Shape;749;p38">
            <a:extLst>
              <a:ext uri="{FF2B5EF4-FFF2-40B4-BE49-F238E27FC236}">
                <a16:creationId xmlns:a16="http://schemas.microsoft.com/office/drawing/2014/main" id="{1CE0DB58-223B-5A49-6533-F64527316E13}"/>
              </a:ext>
            </a:extLst>
          </p:cNvPr>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Vertical Dilations of Functions </a:t>
            </a:r>
            <a:r>
              <a:rPr lang="en-US" sz="2000" b="1" dirty="0">
                <a:solidFill>
                  <a:schemeClr val="bg1"/>
                </a:solidFill>
              </a:rPr>
              <a:t>(3 of 9)</a:t>
            </a:r>
            <a:endParaRPr dirty="0">
              <a:solidFill>
                <a:schemeClr val="bg1"/>
              </a:solidFill>
            </a:endParaRPr>
          </a:p>
        </p:txBody>
      </p:sp>
      <mc:AlternateContent xmlns:mc="http://schemas.openxmlformats.org/markup-compatibility/2006" xmlns:a14="http://schemas.microsoft.com/office/drawing/2010/main">
        <mc:Choice Requires="a14">
          <p:sp>
            <p:nvSpPr>
              <p:cNvPr id="2" name="Google Shape;659;p26">
                <a:extLst>
                  <a:ext uri="{FF2B5EF4-FFF2-40B4-BE49-F238E27FC236}">
                    <a16:creationId xmlns:a16="http://schemas.microsoft.com/office/drawing/2014/main" id="{C5FCD884-0764-6B4B-81BC-62183E1016C2}"/>
                  </a:ext>
                </a:extLst>
              </p:cNvPr>
              <p:cNvSpPr txBox="1"/>
              <p:nvPr/>
            </p:nvSpPr>
            <p:spPr>
              <a:xfrm>
                <a:off x="777240" y="1602297"/>
                <a:ext cx="10791178" cy="2600588"/>
              </a:xfrm>
              <a:prstGeom prst="rect">
                <a:avLst/>
              </a:prstGeom>
              <a:noFill/>
              <a:ln>
                <a:noFill/>
              </a:ln>
            </p:spPr>
            <p:txBody>
              <a:bodyPr spcFirstLastPara="1" wrap="square" lIns="91425" tIns="45700" rIns="91425" bIns="45700" anchor="t" anchorCtr="0">
                <a:noAutofit/>
              </a:bodyPr>
              <a:lstStyle/>
              <a:p>
                <a:pPr marL="514350" marR="0" lvl="0" indent="-514350" algn="l" rtl="0">
                  <a:spcBef>
                    <a:spcPts val="0"/>
                  </a:spcBef>
                  <a:spcAft>
                    <a:spcPts val="600"/>
                  </a:spcAft>
                  <a:buClr>
                    <a:srgbClr val="000000"/>
                  </a:buClr>
                  <a:buSzPts val="2800"/>
                  <a:buFont typeface="+mj-lt"/>
                  <a:buAutoNum type="arabicPeriod" startAt="2"/>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Suppose the output values of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f</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are changed by a factor of </a:t>
                </a:r>
                <a14:m>
                  <m:oMath xmlns:m="http://schemas.openxmlformats.org/officeDocument/2006/math">
                    <m:f>
                      <m:fPr>
                        <m:ctrlPr>
                          <a:rPr lang="en-US" sz="2800" i="1" smtClean="0">
                            <a:solidFill>
                              <a:srgbClr val="000000"/>
                            </a:solidFill>
                            <a:latin typeface="Cambria Math" panose="02040503050406030204" pitchFamily="18" charset="0"/>
                            <a:ea typeface="Calibri" panose="020F0502020204030204" pitchFamily="34" charset="0"/>
                            <a:cs typeface="Calibri" panose="020F0502020204030204" pitchFamily="34" charset="0"/>
                            <a:sym typeface="Calibri"/>
                          </a:rPr>
                        </m:ctrlPr>
                      </m:fPr>
                      <m:num>
                        <m:r>
                          <a:rPr lang="en-US" sz="2800" b="0" i="1" smtClean="0">
                            <a:solidFill>
                              <a:srgbClr val="000000"/>
                            </a:solidFill>
                            <a:latin typeface="Cambria Math" panose="02040503050406030204" pitchFamily="18" charset="0"/>
                            <a:ea typeface="Calibri" panose="020F0502020204030204" pitchFamily="34" charset="0"/>
                            <a:cs typeface="Calibri" panose="020F0502020204030204" pitchFamily="34" charset="0"/>
                            <a:sym typeface="Calibri"/>
                          </a:rPr>
                          <m:t>2</m:t>
                        </m:r>
                      </m:num>
                      <m:den>
                        <m:r>
                          <a:rPr lang="en-US" sz="2800" b="0" i="1" smtClean="0">
                            <a:solidFill>
                              <a:srgbClr val="000000"/>
                            </a:solidFill>
                            <a:latin typeface="Cambria Math" panose="02040503050406030204" pitchFamily="18" charset="0"/>
                            <a:ea typeface="Calibri" panose="020F0502020204030204" pitchFamily="34" charset="0"/>
                            <a:cs typeface="Calibri" panose="020F0502020204030204" pitchFamily="34" charset="0"/>
                            <a:sym typeface="Calibri"/>
                          </a:rPr>
                          <m:t>3</m:t>
                        </m:r>
                      </m:den>
                    </m:f>
                  </m:oMath>
                </a14:m>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to create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b</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p>
              <a:p>
                <a:pPr marL="1031875" lvl="2" indent="-514350">
                  <a:buSzPts val="2800"/>
                  <a:buFont typeface="+mj-lt"/>
                  <a:buAutoNum type="alphaLcPeriod"/>
                </a:pPr>
                <a:r>
                  <a:rPr lang="en-US" sz="2800" dirty="0">
                    <a:latin typeface="Calibri" panose="020F0502020204030204" pitchFamily="34" charset="0"/>
                    <a:ea typeface="Calibri" panose="020F0502020204030204" pitchFamily="34" charset="0"/>
                    <a:cs typeface="Calibri" panose="020F0502020204030204" pitchFamily="34" charset="0"/>
                    <a:sym typeface="Calibri"/>
                  </a:rPr>
                  <a:t>Sketch the graph of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b</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and complete the table of values.</a:t>
                </a:r>
                <a:endParaRPr sz="2800" dirty="0"/>
              </a:p>
            </p:txBody>
          </p:sp>
        </mc:Choice>
        <mc:Fallback xmlns="">
          <p:sp>
            <p:nvSpPr>
              <p:cNvPr id="2" name="Google Shape;659;p26">
                <a:extLst>
                  <a:ext uri="{FF2B5EF4-FFF2-40B4-BE49-F238E27FC236}">
                    <a16:creationId xmlns:a16="http://schemas.microsoft.com/office/drawing/2014/main" id="{C5FCD884-0764-6B4B-81BC-62183E1016C2}"/>
                  </a:ext>
                </a:extLst>
              </p:cNvPr>
              <p:cNvSpPr txBox="1">
                <a:spLocks noRot="1" noChangeAspect="1" noMove="1" noResize="1" noEditPoints="1" noAdjustHandles="1" noChangeArrowheads="1" noChangeShapeType="1" noTextEdit="1"/>
              </p:cNvSpPr>
              <p:nvPr/>
            </p:nvSpPr>
            <p:spPr>
              <a:xfrm>
                <a:off x="777240" y="1602297"/>
                <a:ext cx="10791178" cy="2600588"/>
              </a:xfrm>
              <a:prstGeom prst="rect">
                <a:avLst/>
              </a:prstGeom>
              <a:blipFill>
                <a:blip r:embed="rId3"/>
                <a:stretch>
                  <a:fillRect l="-1243"/>
                </a:stretch>
              </a:blipFill>
              <a:ln>
                <a:noFill/>
              </a:ln>
            </p:spPr>
            <p:txBody>
              <a:bodyPr/>
              <a:lstStyle/>
              <a:p>
                <a:r>
                  <a:rPr lang="en-US">
                    <a:noFill/>
                  </a:rPr>
                  <a:t> </a:t>
                </a:r>
              </a:p>
            </p:txBody>
          </p:sp>
        </mc:Fallback>
      </mc:AlternateContent>
      <p:pic>
        <p:nvPicPr>
          <p:cNvPr id="753" name="Google Shape;753;p38" descr="A graph of line f of x = x on the coordinate plane. The line rises from left to right through the points from the table, including the points (0, 0) and (2, 2).">
            <a:extLst>
              <a:ext uri="{FF2B5EF4-FFF2-40B4-BE49-F238E27FC236}">
                <a16:creationId xmlns:a16="http://schemas.microsoft.com/office/drawing/2014/main" id="{A67A6609-D04C-A4FF-E586-DDCAEFC3C808}"/>
              </a:ext>
            </a:extLst>
          </p:cNvPr>
          <p:cNvPicPr>
            <a:picLocks noChangeAspect="1"/>
          </p:cNvPicPr>
          <p:nvPr/>
        </p:nvPicPr>
        <p:blipFill rotWithShape="1">
          <a:blip r:embed="rId4" cstate="email">
            <a:alphaModFix/>
            <a:extLst>
              <a:ext uri="{28A0092B-C50C-407E-A947-70E740481C1C}">
                <a14:useLocalDpi xmlns:a14="http://schemas.microsoft.com/office/drawing/2010/main"/>
              </a:ext>
            </a:extLst>
          </a:blip>
          <a:srcRect/>
          <a:stretch/>
        </p:blipFill>
        <p:spPr>
          <a:xfrm>
            <a:off x="1684304" y="3623881"/>
            <a:ext cx="2937661" cy="2880508"/>
          </a:xfrm>
          <a:prstGeom prst="rect">
            <a:avLst/>
          </a:prstGeom>
          <a:noFill/>
          <a:ln>
            <a:noFill/>
          </a:ln>
        </p:spPr>
      </p:pic>
      <p:graphicFrame>
        <p:nvGraphicFramePr>
          <p:cNvPr id="5" name="Table 4">
            <a:extLst>
              <a:ext uri="{FF2B5EF4-FFF2-40B4-BE49-F238E27FC236}">
                <a16:creationId xmlns:a16="http://schemas.microsoft.com/office/drawing/2014/main" id="{6C479491-C0EA-27D9-0F34-5D22D726414C}"/>
              </a:ext>
            </a:extLst>
          </p:cNvPr>
          <p:cNvGraphicFramePr>
            <a:graphicFrameLocks noGrp="1"/>
          </p:cNvGraphicFramePr>
          <p:nvPr>
            <p:extLst>
              <p:ext uri="{D42A27DB-BD31-4B8C-83A1-F6EECF244321}">
                <p14:modId xmlns:p14="http://schemas.microsoft.com/office/powerpoint/2010/main" val="1867432652"/>
              </p:ext>
            </p:extLst>
          </p:nvPr>
        </p:nvGraphicFramePr>
        <p:xfrm>
          <a:off x="5529029" y="3640062"/>
          <a:ext cx="1365806" cy="640080"/>
        </p:xfrm>
        <a:graphic>
          <a:graphicData uri="http://schemas.openxmlformats.org/drawingml/2006/table">
            <a:tbl>
              <a:tblPr firstRow="1" bandRow="1">
                <a:tableStyleId>{A49AC34E-657E-4A3B-9C05-DC8BE6C80247}</a:tableStyleId>
              </a:tblPr>
              <a:tblGrid>
                <a:gridCol w="1365806">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Original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3" name="Table 2">
            <a:extLst>
              <a:ext uri="{FF2B5EF4-FFF2-40B4-BE49-F238E27FC236}">
                <a16:creationId xmlns:a16="http://schemas.microsoft.com/office/drawing/2014/main" id="{5364C6AC-1892-CBB3-ABCA-21EC04A83A80}"/>
              </a:ext>
            </a:extLst>
          </p:cNvPr>
          <p:cNvGraphicFramePr>
            <a:graphicFrameLocks noGrp="1"/>
          </p:cNvGraphicFramePr>
          <p:nvPr>
            <p:extLst>
              <p:ext uri="{D42A27DB-BD31-4B8C-83A1-F6EECF244321}">
                <p14:modId xmlns:p14="http://schemas.microsoft.com/office/powerpoint/2010/main" val="4261692620"/>
              </p:ext>
            </p:extLst>
          </p:nvPr>
        </p:nvGraphicFramePr>
        <p:xfrm>
          <a:off x="5529029" y="4279349"/>
          <a:ext cx="1365806" cy="2225040"/>
        </p:xfrm>
        <a:graphic>
          <a:graphicData uri="http://schemas.openxmlformats.org/drawingml/2006/table">
            <a:tbl>
              <a:tblPr firstRow="1" bandRow="1">
                <a:tableStyleId>{A49AC34E-657E-4A3B-9C05-DC8BE6C80247}</a:tableStyleId>
              </a:tblPr>
              <a:tblGrid>
                <a:gridCol w="682903">
                  <a:extLst>
                    <a:ext uri="{9D8B030D-6E8A-4147-A177-3AD203B41FA5}">
                      <a16:colId xmlns:a16="http://schemas.microsoft.com/office/drawing/2014/main" val="189482869"/>
                    </a:ext>
                  </a:extLst>
                </a:gridCol>
                <a:gridCol w="682903">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42399944"/>
                  </a:ext>
                </a:extLst>
              </a:tr>
            </a:tbl>
          </a:graphicData>
        </a:graphic>
      </p:graphicFrame>
      <p:graphicFrame>
        <p:nvGraphicFramePr>
          <p:cNvPr id="6" name="Table 5">
            <a:extLst>
              <a:ext uri="{FF2B5EF4-FFF2-40B4-BE49-F238E27FC236}">
                <a16:creationId xmlns:a16="http://schemas.microsoft.com/office/drawing/2014/main" id="{D37BC2CC-2BEB-51C3-5279-974264B04BEB}"/>
              </a:ext>
            </a:extLst>
          </p:cNvPr>
          <p:cNvGraphicFramePr>
            <a:graphicFrameLocks noGrp="1"/>
          </p:cNvGraphicFramePr>
          <p:nvPr>
            <p:extLst>
              <p:ext uri="{D42A27DB-BD31-4B8C-83A1-F6EECF244321}">
                <p14:modId xmlns:p14="http://schemas.microsoft.com/office/powerpoint/2010/main" val="2903245087"/>
              </p:ext>
            </p:extLst>
          </p:nvPr>
        </p:nvGraphicFramePr>
        <p:xfrm>
          <a:off x="7213615" y="3640062"/>
          <a:ext cx="1468284" cy="640080"/>
        </p:xfrm>
        <a:graphic>
          <a:graphicData uri="http://schemas.openxmlformats.org/drawingml/2006/table">
            <a:tbl>
              <a:tblPr firstRow="1" bandRow="1">
                <a:tableStyleId>{A49AC34E-657E-4A3B-9C05-DC8BE6C80247}</a:tableStyleId>
              </a:tblPr>
              <a:tblGrid>
                <a:gridCol w="1468284">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Transformed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4" name="Table 3">
            <a:extLst>
              <a:ext uri="{FF2B5EF4-FFF2-40B4-BE49-F238E27FC236}">
                <a16:creationId xmlns:a16="http://schemas.microsoft.com/office/drawing/2014/main" id="{4A4367A3-9597-65E8-33C4-9BD44919EE81}"/>
              </a:ext>
            </a:extLst>
          </p:cNvPr>
          <p:cNvGraphicFramePr>
            <a:graphicFrameLocks noGrp="1"/>
          </p:cNvGraphicFramePr>
          <p:nvPr>
            <p:extLst>
              <p:ext uri="{D42A27DB-BD31-4B8C-83A1-F6EECF244321}">
                <p14:modId xmlns:p14="http://schemas.microsoft.com/office/powerpoint/2010/main" val="1590656683"/>
              </p:ext>
            </p:extLst>
          </p:nvPr>
        </p:nvGraphicFramePr>
        <p:xfrm>
          <a:off x="7213615" y="4279349"/>
          <a:ext cx="1468284" cy="2225040"/>
        </p:xfrm>
        <a:graphic>
          <a:graphicData uri="http://schemas.openxmlformats.org/drawingml/2006/table">
            <a:tbl>
              <a:tblPr firstRow="1" bandRow="1">
                <a:tableStyleId>{A49AC34E-657E-4A3B-9C05-DC8BE6C80247}</a:tableStyleId>
              </a:tblPr>
              <a:tblGrid>
                <a:gridCol w="734142">
                  <a:extLst>
                    <a:ext uri="{9D8B030D-6E8A-4147-A177-3AD203B41FA5}">
                      <a16:colId xmlns:a16="http://schemas.microsoft.com/office/drawing/2014/main" val="189482869"/>
                    </a:ext>
                  </a:extLst>
                </a:gridCol>
                <a:gridCol w="734142">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42399944"/>
                  </a:ext>
                </a:extLst>
              </a:tr>
            </a:tbl>
          </a:graphicData>
        </a:graphic>
      </p:graphicFrame>
      <p:sp>
        <p:nvSpPr>
          <p:cNvPr id="1753" name="Slide Number 1753"/>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40</a:t>
            </a:fld>
          </a:p>
        </p:txBody>
      </p:sp>
      <p:sp>
        <p:nvSpPr>
          <p:cNvPr id="1754" name="Answer 1754"/>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277</a:t>
            </a:r>
          </a:p>
        </p:txBody>
      </p:sp>
      <p:sp>
        <p:nvSpPr>
          <p:cNvPr id="1755" name="Answer 1755"/>
          <p:cNvSpPr txBox="1"/>
          <p:nvPr/>
        </p:nvSpPr>
        <p:spPr>
          <a:xfrm>
            <a:off x="7950200" y="46482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−4/3</a:t>
            </a:r>
          </a:p>
        </p:txBody>
      </p:sp>
      <p:sp>
        <p:nvSpPr>
          <p:cNvPr id="1756" name="Answer 1756"/>
          <p:cNvSpPr txBox="1"/>
          <p:nvPr/>
        </p:nvSpPr>
        <p:spPr>
          <a:xfrm>
            <a:off x="7950200" y="50165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−2/3</a:t>
            </a:r>
          </a:p>
        </p:txBody>
      </p:sp>
      <p:sp>
        <p:nvSpPr>
          <p:cNvPr id="1757" name="Answer 1757"/>
          <p:cNvSpPr txBox="1"/>
          <p:nvPr/>
        </p:nvSpPr>
        <p:spPr>
          <a:xfrm>
            <a:off x="7950200" y="53848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0</a:t>
            </a:r>
          </a:p>
        </p:txBody>
      </p:sp>
      <p:sp>
        <p:nvSpPr>
          <p:cNvPr id="1758" name="Answer 1758"/>
          <p:cNvSpPr txBox="1"/>
          <p:nvPr/>
        </p:nvSpPr>
        <p:spPr>
          <a:xfrm>
            <a:off x="7950200" y="57531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2/3</a:t>
            </a:r>
          </a:p>
        </p:txBody>
      </p:sp>
      <p:sp>
        <p:nvSpPr>
          <p:cNvPr id="1759" name="Answer 1759"/>
          <p:cNvSpPr txBox="1"/>
          <p:nvPr/>
        </p:nvSpPr>
        <p:spPr>
          <a:xfrm>
            <a:off x="7950200" y="61214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4/3</a:t>
            </a:r>
          </a:p>
        </p:txBody>
      </p:sp>
      <p:sp>
        <p:nvSpPr>
          <p:cNvPr id="1760" name="Answer 1760"/>
          <p:cNvSpPr txBox="1"/>
          <p:nvPr/>
        </p:nvSpPr>
        <p:spPr>
          <a:xfrm>
            <a:off x="8890000" y="3746500"/>
            <a:ext cx="3048000" cy="825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Graph b(x): through (0, 0) and (3, 2)</a:t>
            </a:r>
          </a:p>
        </p:txBody>
      </p:sp>
    </p:spTree>
    <p:extLst>
      <p:ext uri="{BB962C8B-B14F-4D97-AF65-F5344CB8AC3E}">
        <p14:creationId xmlns:p14="http://schemas.microsoft.com/office/powerpoint/2010/main" val="1195593053"/>
      </p:ext>
    </p:extLst>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755"/>
                                        </p:tgtEl>
                                        <p:attrNameLst>
                                          <p:attrName>style.visibility</p:attrName>
                                        </p:attrNameLst>
                                      </p:cBhvr>
                                      <p:to>
                                        <p:strVal val="visible"/>
                                      </p:to>
                                    </p:set>
                                  </p:childTnLst>
                                </p:cTn>
                              </p:par>
                              <p:par>
                                <p:cTn id="5" presetID="1" presetClass="entr" presetSubtype="0" fill="hold" nodeType="withEffect">
                                  <p:stCondLst>
                                    <p:cond delay="0"/>
                                  </p:stCondLst>
                                  <p:childTnLst>
                                    <p:set>
                                      <p:cBhvr>
                                        <p:cTn id="6" dur="1" fill="hold">
                                          <p:stCondLst>
                                            <p:cond delay="0"/>
                                          </p:stCondLst>
                                        </p:cTn>
                                        <p:tgtEl>
                                          <p:spTgt spid="175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5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5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5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60">
          <a:extLst>
            <a:ext uri="{FF2B5EF4-FFF2-40B4-BE49-F238E27FC236}">
              <a16:creationId xmlns:a16="http://schemas.microsoft.com/office/drawing/2014/main" id="{CD1E5CCA-C01A-E48E-8850-6AE846051A5C}"/>
            </a:ext>
          </a:extLst>
        </p:cNvPr>
        <p:cNvGrpSpPr/>
        <p:nvPr/>
      </p:nvGrpSpPr>
      <p:grpSpPr>
        <a:xfrm>
          <a:off x="0" y="0"/>
          <a:ext cx="0" cy="0"/>
          <a:chOff x="0" y="0"/>
          <a:chExt cx="0" cy="0"/>
        </a:xfrm>
      </p:grpSpPr>
      <p:sp>
        <p:nvSpPr>
          <p:cNvPr id="761" name="Google Shape;761;p39">
            <a:extLst>
              <a:ext uri="{FF2B5EF4-FFF2-40B4-BE49-F238E27FC236}">
                <a16:creationId xmlns:a16="http://schemas.microsoft.com/office/drawing/2014/main" id="{D1106310-D8A7-3D41-B1E2-64226B532F0D}"/>
              </a:ext>
            </a:extLst>
          </p:cNvPr>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Vertical Dilations of Functions </a:t>
            </a:r>
            <a:r>
              <a:rPr lang="en-US" sz="2000" b="1" dirty="0">
                <a:solidFill>
                  <a:schemeClr val="bg1"/>
                </a:solidFill>
              </a:rPr>
              <a:t>(4 of 9)</a:t>
            </a:r>
            <a:endParaRPr dirty="0">
              <a:solidFill>
                <a:schemeClr val="bg1"/>
              </a:solidFill>
            </a:endParaRPr>
          </a:p>
        </p:txBody>
      </p:sp>
      <p:sp>
        <p:nvSpPr>
          <p:cNvPr id="2" name="Google Shape;659;p26">
            <a:extLst>
              <a:ext uri="{FF2B5EF4-FFF2-40B4-BE49-F238E27FC236}">
                <a16:creationId xmlns:a16="http://schemas.microsoft.com/office/drawing/2014/main" id="{6453F125-8162-5F34-C20D-6CF7F09BFFE9}"/>
              </a:ext>
            </a:extLst>
          </p:cNvPr>
          <p:cNvSpPr txBox="1"/>
          <p:nvPr/>
        </p:nvSpPr>
        <p:spPr>
          <a:xfrm>
            <a:off x="777240" y="1593907"/>
            <a:ext cx="10346562" cy="2608977"/>
          </a:xfrm>
          <a:prstGeom prst="rect">
            <a:avLst/>
          </a:prstGeom>
          <a:noFill/>
          <a:ln>
            <a:noFill/>
          </a:ln>
        </p:spPr>
        <p:txBody>
          <a:bodyPr spcFirstLastPara="1" wrap="square" lIns="91425" tIns="45700" rIns="91425" bIns="45700" anchor="t" anchorCtr="0">
            <a:noAutofit/>
          </a:bodyPr>
          <a:lstStyle/>
          <a:p>
            <a:pPr marL="514350" lvl="2" indent="-514350">
              <a:buSzPts val="2800"/>
              <a:buFont typeface="+mj-lt"/>
              <a:buAutoNum type="alphaLcPeriod" startAt="2"/>
            </a:pPr>
            <a:r>
              <a:rPr lang="en-US" sz="2800" dirty="0">
                <a:latin typeface="Calibri" panose="020F0502020204030204" pitchFamily="34" charset="0"/>
                <a:ea typeface="Calibri" panose="020F0502020204030204" pitchFamily="34" charset="0"/>
                <a:cs typeface="Calibri" panose="020F0502020204030204" pitchFamily="34" charset="0"/>
                <a:sym typeface="Calibri"/>
              </a:rPr>
              <a:t>Identify the slope and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y</a:t>
            </a:r>
            <a:r>
              <a:rPr lang="en-US" sz="2800" dirty="0">
                <a:latin typeface="Calibri" panose="020F0502020204030204" pitchFamily="34" charset="0"/>
                <a:ea typeface="Calibri" panose="020F0502020204030204" pitchFamily="34" charset="0"/>
                <a:cs typeface="Calibri" panose="020F0502020204030204" pitchFamily="34" charset="0"/>
                <a:sym typeface="Calibri"/>
              </a:rPr>
              <a:t>-intercept of the function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b</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Then, write the equation for the function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b</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in general form.</a:t>
            </a:r>
            <a:endParaRPr sz="2800" dirty="0"/>
          </a:p>
        </p:txBody>
      </p:sp>
      <p:sp>
        <p:nvSpPr>
          <p:cNvPr id="1761" name="Slide Number 1761"/>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41</a:t>
            </a:fld>
          </a:p>
        </p:txBody>
      </p:sp>
      <p:sp>
        <p:nvSpPr>
          <p:cNvPr id="1762" name="Answer 1762"/>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277</a:t>
            </a:r>
          </a:p>
        </p:txBody>
      </p:sp>
      <p:sp>
        <p:nvSpPr>
          <p:cNvPr id="1763" name="Answer 1763"/>
          <p:cNvSpPr txBox="1"/>
          <p:nvPr/>
        </p:nvSpPr>
        <p:spPr>
          <a:xfrm>
            <a:off x="774700" y="2667000"/>
            <a:ext cx="10795000" cy="825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Slope: 2/3;  y-intercept: (0, 0)</a:t>
            </a:r>
          </a:p>
          <a:p>
            <a:pPr marL="0" indent="0" algn="l">
              <a:spcBef>
                <a:spcPts val="0"/>
              </a:spcBef>
              <a:spcAft>
                <a:spcPts val="300"/>
              </a:spcAft>
              <a:buNone/>
            </a:pPr>
            <a:r>
              <a:rPr lang="en-US" sz="2400" dirty="0">
                <a:solidFill>
                  <a:srgbClr val="FF0000"/>
                </a:solidFill>
              </a:rPr>
              <a:t>b(x) = (2/3)x</a:t>
            </a:r>
          </a:p>
        </p:txBody>
      </p:sp>
    </p:spTree>
    <p:extLst>
      <p:ext uri="{BB962C8B-B14F-4D97-AF65-F5344CB8AC3E}">
        <p14:creationId xmlns:p14="http://schemas.microsoft.com/office/powerpoint/2010/main" val="505425452"/>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7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48">
          <a:extLst>
            <a:ext uri="{FF2B5EF4-FFF2-40B4-BE49-F238E27FC236}">
              <a16:creationId xmlns:a16="http://schemas.microsoft.com/office/drawing/2014/main" id="{90D80A15-183C-1EE7-75CF-154C9E886C75}"/>
            </a:ext>
          </a:extLst>
        </p:cNvPr>
        <p:cNvGrpSpPr/>
        <p:nvPr/>
      </p:nvGrpSpPr>
      <p:grpSpPr>
        <a:xfrm>
          <a:off x="0" y="0"/>
          <a:ext cx="0" cy="0"/>
          <a:chOff x="0" y="0"/>
          <a:chExt cx="0" cy="0"/>
        </a:xfrm>
      </p:grpSpPr>
      <p:sp>
        <p:nvSpPr>
          <p:cNvPr id="749" name="Google Shape;749;p38">
            <a:extLst>
              <a:ext uri="{FF2B5EF4-FFF2-40B4-BE49-F238E27FC236}">
                <a16:creationId xmlns:a16="http://schemas.microsoft.com/office/drawing/2014/main" id="{86A82F3B-E848-4976-6DF6-2CDE86FA38A8}"/>
              </a:ext>
            </a:extLst>
          </p:cNvPr>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Vertical Dilations of Functions </a:t>
            </a:r>
            <a:r>
              <a:rPr lang="en-US" sz="2000" b="1" dirty="0">
                <a:solidFill>
                  <a:schemeClr val="bg1"/>
                </a:solidFill>
              </a:rPr>
              <a:t>(5 of 9)</a:t>
            </a:r>
            <a:endParaRPr dirty="0">
              <a:solidFill>
                <a:schemeClr val="bg1"/>
              </a:solidFill>
            </a:endParaRPr>
          </a:p>
        </p:txBody>
      </p:sp>
      <p:sp>
        <p:nvSpPr>
          <p:cNvPr id="2" name="Google Shape;659;p26">
            <a:extLst>
              <a:ext uri="{FF2B5EF4-FFF2-40B4-BE49-F238E27FC236}">
                <a16:creationId xmlns:a16="http://schemas.microsoft.com/office/drawing/2014/main" id="{0EC8441A-9E69-0D69-F411-1FC952BBDF62}"/>
              </a:ext>
            </a:extLst>
          </p:cNvPr>
          <p:cNvSpPr txBox="1"/>
          <p:nvPr/>
        </p:nvSpPr>
        <p:spPr>
          <a:xfrm>
            <a:off x="777240" y="1610686"/>
            <a:ext cx="10791178" cy="1937858"/>
          </a:xfrm>
          <a:prstGeom prst="rect">
            <a:avLst/>
          </a:prstGeom>
          <a:noFill/>
          <a:ln>
            <a:noFill/>
          </a:ln>
        </p:spPr>
        <p:txBody>
          <a:bodyPr spcFirstLastPara="1" wrap="square" lIns="91425" tIns="45700" rIns="91425" bIns="45700" anchor="t" anchorCtr="0">
            <a:noAutofit/>
          </a:bodyPr>
          <a:lstStyle/>
          <a:p>
            <a:pPr marL="514350" marR="0" lvl="0" indent="-514350" algn="l" rtl="0">
              <a:spcBef>
                <a:spcPts val="0"/>
              </a:spcBef>
              <a:spcAft>
                <a:spcPts val="600"/>
              </a:spcAft>
              <a:buClr>
                <a:srgbClr val="000000"/>
              </a:buClr>
              <a:buSzPts val="2800"/>
              <a:buFont typeface="+mj-lt"/>
              <a:buAutoNum type="arabicPeriod" startAt="3"/>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Suppose the output values of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f</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are changed by a factor of −4 to create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c</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p>
          <a:p>
            <a:pPr marL="1031875" lvl="2" indent="-514350">
              <a:buSzPts val="2800"/>
              <a:buFont typeface="+mj-lt"/>
              <a:buAutoNum type="alphaLcPeriod"/>
            </a:pPr>
            <a:r>
              <a:rPr lang="en-US" sz="2800" dirty="0">
                <a:latin typeface="Calibri" panose="020F0502020204030204" pitchFamily="34" charset="0"/>
                <a:ea typeface="Calibri" panose="020F0502020204030204" pitchFamily="34" charset="0"/>
                <a:cs typeface="Calibri" panose="020F0502020204030204" pitchFamily="34" charset="0"/>
                <a:sym typeface="Calibri"/>
              </a:rPr>
              <a:t>Sketch the graph of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c</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and complete the table of values.</a:t>
            </a:r>
            <a:endParaRPr sz="2800" dirty="0"/>
          </a:p>
        </p:txBody>
      </p:sp>
      <p:pic>
        <p:nvPicPr>
          <p:cNvPr id="7" name="Google Shape;753;p38" descr="A graph of line f of x = x on the coordinate plane. The line rises from left to right through the points from the table, including the points (0, 0) and (2, 2).">
            <a:extLst>
              <a:ext uri="{FF2B5EF4-FFF2-40B4-BE49-F238E27FC236}">
                <a16:creationId xmlns:a16="http://schemas.microsoft.com/office/drawing/2014/main" id="{3AD59954-5A78-0CF2-E0D5-38EFCAB60D20}"/>
              </a:ext>
            </a:extLst>
          </p:cNvPr>
          <p:cNvPicPr>
            <a:picLocks noChangeAspect="1"/>
          </p:cNvPicPr>
          <p:nvPr/>
        </p:nvPicPr>
        <p:blipFill rotWithShape="1">
          <a:blip r:embed="rId3" cstate="email">
            <a:alphaModFix/>
            <a:extLst>
              <a:ext uri="{28A0092B-C50C-407E-A947-70E740481C1C}">
                <a14:useLocalDpi xmlns:a14="http://schemas.microsoft.com/office/drawing/2010/main"/>
              </a:ext>
            </a:extLst>
          </a:blip>
          <a:srcRect/>
          <a:stretch/>
        </p:blipFill>
        <p:spPr>
          <a:xfrm>
            <a:off x="1684304" y="3623881"/>
            <a:ext cx="2937661" cy="2880508"/>
          </a:xfrm>
          <a:prstGeom prst="rect">
            <a:avLst/>
          </a:prstGeom>
          <a:noFill/>
          <a:ln>
            <a:noFill/>
          </a:ln>
        </p:spPr>
      </p:pic>
      <p:graphicFrame>
        <p:nvGraphicFramePr>
          <p:cNvPr id="10" name="Table 9">
            <a:extLst>
              <a:ext uri="{FF2B5EF4-FFF2-40B4-BE49-F238E27FC236}">
                <a16:creationId xmlns:a16="http://schemas.microsoft.com/office/drawing/2014/main" id="{7E2B8956-7EF5-8821-E83A-519BEDCB62B4}"/>
              </a:ext>
            </a:extLst>
          </p:cNvPr>
          <p:cNvGraphicFramePr>
            <a:graphicFrameLocks noGrp="1"/>
          </p:cNvGraphicFramePr>
          <p:nvPr>
            <p:extLst>
              <p:ext uri="{D42A27DB-BD31-4B8C-83A1-F6EECF244321}">
                <p14:modId xmlns:p14="http://schemas.microsoft.com/office/powerpoint/2010/main" val="217399188"/>
              </p:ext>
            </p:extLst>
          </p:nvPr>
        </p:nvGraphicFramePr>
        <p:xfrm>
          <a:off x="5529029" y="3640062"/>
          <a:ext cx="1365806" cy="640080"/>
        </p:xfrm>
        <a:graphic>
          <a:graphicData uri="http://schemas.openxmlformats.org/drawingml/2006/table">
            <a:tbl>
              <a:tblPr firstRow="1" bandRow="1">
                <a:tableStyleId>{A49AC34E-657E-4A3B-9C05-DC8BE6C80247}</a:tableStyleId>
              </a:tblPr>
              <a:tblGrid>
                <a:gridCol w="1365806">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Original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8" name="Table 7">
            <a:extLst>
              <a:ext uri="{FF2B5EF4-FFF2-40B4-BE49-F238E27FC236}">
                <a16:creationId xmlns:a16="http://schemas.microsoft.com/office/drawing/2014/main" id="{98A080EA-9F65-BD24-C6BF-678F06809315}"/>
              </a:ext>
            </a:extLst>
          </p:cNvPr>
          <p:cNvGraphicFramePr>
            <a:graphicFrameLocks noGrp="1"/>
          </p:cNvGraphicFramePr>
          <p:nvPr>
            <p:extLst>
              <p:ext uri="{D42A27DB-BD31-4B8C-83A1-F6EECF244321}">
                <p14:modId xmlns:p14="http://schemas.microsoft.com/office/powerpoint/2010/main" val="18030100"/>
              </p:ext>
            </p:extLst>
          </p:nvPr>
        </p:nvGraphicFramePr>
        <p:xfrm>
          <a:off x="5529029" y="4279349"/>
          <a:ext cx="1365806" cy="2225040"/>
        </p:xfrm>
        <a:graphic>
          <a:graphicData uri="http://schemas.openxmlformats.org/drawingml/2006/table">
            <a:tbl>
              <a:tblPr firstRow="1" bandRow="1">
                <a:tableStyleId>{A49AC34E-657E-4A3B-9C05-DC8BE6C80247}</a:tableStyleId>
              </a:tblPr>
              <a:tblGrid>
                <a:gridCol w="682903">
                  <a:extLst>
                    <a:ext uri="{9D8B030D-6E8A-4147-A177-3AD203B41FA5}">
                      <a16:colId xmlns:a16="http://schemas.microsoft.com/office/drawing/2014/main" val="189482869"/>
                    </a:ext>
                  </a:extLst>
                </a:gridCol>
                <a:gridCol w="682903">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extLst>
                  <a:ext uri="{0D108BD9-81ED-4DB2-BD59-A6C34878D82A}">
                    <a16:rowId xmlns:a16="http://schemas.microsoft.com/office/drawing/2014/main" val="242399944"/>
                  </a:ext>
                </a:extLst>
              </a:tr>
            </a:tbl>
          </a:graphicData>
        </a:graphic>
      </p:graphicFrame>
      <p:graphicFrame>
        <p:nvGraphicFramePr>
          <p:cNvPr id="11" name="Table 10">
            <a:extLst>
              <a:ext uri="{FF2B5EF4-FFF2-40B4-BE49-F238E27FC236}">
                <a16:creationId xmlns:a16="http://schemas.microsoft.com/office/drawing/2014/main" id="{B668B3F0-F262-32AC-48C8-CF8BA77E0B60}"/>
              </a:ext>
            </a:extLst>
          </p:cNvPr>
          <p:cNvGraphicFramePr>
            <a:graphicFrameLocks noGrp="1"/>
          </p:cNvGraphicFramePr>
          <p:nvPr>
            <p:extLst>
              <p:ext uri="{D42A27DB-BD31-4B8C-83A1-F6EECF244321}">
                <p14:modId xmlns:p14="http://schemas.microsoft.com/office/powerpoint/2010/main" val="390253862"/>
              </p:ext>
            </p:extLst>
          </p:nvPr>
        </p:nvGraphicFramePr>
        <p:xfrm>
          <a:off x="7213615" y="3640062"/>
          <a:ext cx="1468284" cy="640080"/>
        </p:xfrm>
        <a:graphic>
          <a:graphicData uri="http://schemas.openxmlformats.org/drawingml/2006/table">
            <a:tbl>
              <a:tblPr firstRow="1" bandRow="1">
                <a:tableStyleId>{A49AC34E-657E-4A3B-9C05-DC8BE6C80247}</a:tableStyleId>
              </a:tblPr>
              <a:tblGrid>
                <a:gridCol w="1468284">
                  <a:extLst>
                    <a:ext uri="{9D8B030D-6E8A-4147-A177-3AD203B41FA5}">
                      <a16:colId xmlns:a16="http://schemas.microsoft.com/office/drawing/2014/main" val="2147017792"/>
                    </a:ext>
                  </a:extLst>
                </a:gridCol>
              </a:tblGrid>
              <a:tr h="370840">
                <a:tc>
                  <a:txBody>
                    <a:bodyPr/>
                    <a:lstStyle/>
                    <a:p>
                      <a:pPr algn="ctr"/>
                      <a:r>
                        <a:rPr lang="en-US" sz="1800" b="1" dirty="0">
                          <a:solidFill>
                            <a:schemeClr val="bg1"/>
                          </a:solidFill>
                          <a:latin typeface="Calibri" panose="020F0502020204030204" pitchFamily="34" charset="0"/>
                          <a:ea typeface="Calibri" panose="020F0502020204030204" pitchFamily="34" charset="0"/>
                          <a:cs typeface="Calibri" panose="020F0502020204030204" pitchFamily="34" charset="0"/>
                        </a:rPr>
                        <a:t>Transformed Graph</a:t>
                      </a:r>
                    </a:p>
                  </a:txBody>
                  <a:tcPr anchor="ctr">
                    <a:solidFill>
                      <a:schemeClr val="accent3">
                        <a:lumMod val="75000"/>
                      </a:schemeClr>
                    </a:solidFill>
                  </a:tcPr>
                </a:tc>
                <a:extLst>
                  <a:ext uri="{0D108BD9-81ED-4DB2-BD59-A6C34878D82A}">
                    <a16:rowId xmlns:a16="http://schemas.microsoft.com/office/drawing/2014/main" val="1833552639"/>
                  </a:ext>
                </a:extLst>
              </a:tr>
            </a:tbl>
          </a:graphicData>
        </a:graphic>
      </p:graphicFrame>
      <p:graphicFrame>
        <p:nvGraphicFramePr>
          <p:cNvPr id="9" name="Table 8">
            <a:extLst>
              <a:ext uri="{FF2B5EF4-FFF2-40B4-BE49-F238E27FC236}">
                <a16:creationId xmlns:a16="http://schemas.microsoft.com/office/drawing/2014/main" id="{77BAF37C-A200-B659-0B8D-11A476A6702C}"/>
              </a:ext>
            </a:extLst>
          </p:cNvPr>
          <p:cNvGraphicFramePr>
            <a:graphicFrameLocks noGrp="1"/>
          </p:cNvGraphicFramePr>
          <p:nvPr>
            <p:extLst>
              <p:ext uri="{D42A27DB-BD31-4B8C-83A1-F6EECF244321}">
                <p14:modId xmlns:p14="http://schemas.microsoft.com/office/powerpoint/2010/main" val="3343087689"/>
              </p:ext>
            </p:extLst>
          </p:nvPr>
        </p:nvGraphicFramePr>
        <p:xfrm>
          <a:off x="7213615" y="4279349"/>
          <a:ext cx="1468284" cy="2225040"/>
        </p:xfrm>
        <a:graphic>
          <a:graphicData uri="http://schemas.openxmlformats.org/drawingml/2006/table">
            <a:tbl>
              <a:tblPr firstRow="1" bandRow="1">
                <a:tableStyleId>{A49AC34E-657E-4A3B-9C05-DC8BE6C80247}</a:tableStyleId>
              </a:tblPr>
              <a:tblGrid>
                <a:gridCol w="734142">
                  <a:extLst>
                    <a:ext uri="{9D8B030D-6E8A-4147-A177-3AD203B41FA5}">
                      <a16:colId xmlns:a16="http://schemas.microsoft.com/office/drawing/2014/main" val="189482869"/>
                    </a:ext>
                  </a:extLst>
                </a:gridCol>
                <a:gridCol w="734142">
                  <a:extLst>
                    <a:ext uri="{9D8B030D-6E8A-4147-A177-3AD203B41FA5}">
                      <a16:colId xmlns:a16="http://schemas.microsoft.com/office/drawing/2014/main" val="3393633035"/>
                    </a:ext>
                  </a:extLst>
                </a:gridCol>
              </a:tblGrid>
              <a:tr h="370840">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p>
                  </a:txBody>
                  <a:tcPr anchor="ctr">
                    <a:solidFill>
                      <a:schemeClr val="accent3">
                        <a:lumMod val="20000"/>
                        <a:lumOff val="80000"/>
                      </a:schemeClr>
                    </a:solidFill>
                  </a:tcPr>
                </a:tc>
                <a:tc>
                  <a:txBody>
                    <a:bodyPr/>
                    <a:lstStyle/>
                    <a:p>
                      <a:pPr algn="ct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8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txBody>
                  <a:tcPr anchor="ctr">
                    <a:solidFill>
                      <a:schemeClr val="accent3">
                        <a:lumMod val="20000"/>
                        <a:lumOff val="80000"/>
                      </a:schemeClr>
                    </a:solidFill>
                  </a:tcPr>
                </a:tc>
                <a:extLst>
                  <a:ext uri="{0D108BD9-81ED-4DB2-BD59-A6C34878D82A}">
                    <a16:rowId xmlns:a16="http://schemas.microsoft.com/office/drawing/2014/main" val="2415707070"/>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214199010"/>
                  </a:ext>
                </a:extLst>
              </a:tr>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301988286"/>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0</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178128217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731882555"/>
                  </a:ext>
                </a:extLst>
              </a:tr>
              <a:tr h="370840">
                <a:tc>
                  <a:txBody>
                    <a:bodyPr/>
                    <a:lstStyle/>
                    <a:p>
                      <a:pPr algn="ctr"/>
                      <a:r>
                        <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42399944"/>
                  </a:ext>
                </a:extLst>
              </a:tr>
            </a:tbl>
          </a:graphicData>
        </a:graphic>
      </p:graphicFrame>
      <p:sp>
        <p:nvSpPr>
          <p:cNvPr id="1749" name="Slide Number 174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42</a:t>
            </a:fld>
          </a:p>
        </p:txBody>
      </p:sp>
      <p:sp>
        <p:nvSpPr>
          <p:cNvPr id="1750" name="Answer 175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277</a:t>
            </a:r>
          </a:p>
        </p:txBody>
      </p:sp>
      <p:sp>
        <p:nvSpPr>
          <p:cNvPr id="1751" name="Answer 1751"/>
          <p:cNvSpPr txBox="1"/>
          <p:nvPr/>
        </p:nvSpPr>
        <p:spPr>
          <a:xfrm>
            <a:off x="7950200" y="46482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8</a:t>
            </a:r>
          </a:p>
        </p:txBody>
      </p:sp>
      <p:sp>
        <p:nvSpPr>
          <p:cNvPr id="1752" name="Answer 1752"/>
          <p:cNvSpPr txBox="1"/>
          <p:nvPr/>
        </p:nvSpPr>
        <p:spPr>
          <a:xfrm>
            <a:off x="7950200" y="50165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4</a:t>
            </a:r>
          </a:p>
        </p:txBody>
      </p:sp>
      <p:sp>
        <p:nvSpPr>
          <p:cNvPr id="1753" name="Answer 1753"/>
          <p:cNvSpPr txBox="1"/>
          <p:nvPr/>
        </p:nvSpPr>
        <p:spPr>
          <a:xfrm>
            <a:off x="7950200" y="53848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0</a:t>
            </a:r>
          </a:p>
        </p:txBody>
      </p:sp>
      <p:sp>
        <p:nvSpPr>
          <p:cNvPr id="1754" name="Answer 1754"/>
          <p:cNvSpPr txBox="1"/>
          <p:nvPr/>
        </p:nvSpPr>
        <p:spPr>
          <a:xfrm>
            <a:off x="7950200" y="57531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−4</a:t>
            </a:r>
          </a:p>
        </p:txBody>
      </p:sp>
      <p:sp>
        <p:nvSpPr>
          <p:cNvPr id="1755" name="Answer 1755"/>
          <p:cNvSpPr txBox="1"/>
          <p:nvPr/>
        </p:nvSpPr>
        <p:spPr>
          <a:xfrm>
            <a:off x="7950200" y="6121400"/>
            <a:ext cx="736600" cy="3683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2000" dirty="0">
                <a:solidFill>
                  <a:srgbClr val="FF0000"/>
                </a:solidFill>
              </a:rPr>
              <a:t>−8</a:t>
            </a:r>
          </a:p>
        </p:txBody>
      </p:sp>
      <p:sp>
        <p:nvSpPr>
          <p:cNvPr id="1756" name="Answer 1756"/>
          <p:cNvSpPr txBox="1"/>
          <p:nvPr/>
        </p:nvSpPr>
        <p:spPr>
          <a:xfrm>
            <a:off x="8890000" y="3746500"/>
            <a:ext cx="3048000" cy="825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Graph c(x): through (0, 0) and (1, −4)</a:t>
            </a:r>
          </a:p>
        </p:txBody>
      </p:sp>
    </p:spTree>
    <p:extLst>
      <p:ext uri="{BB962C8B-B14F-4D97-AF65-F5344CB8AC3E}">
        <p14:creationId xmlns:p14="http://schemas.microsoft.com/office/powerpoint/2010/main" val="2203327660"/>
      </p:ext>
    </p:extLst>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751"/>
                                        </p:tgtEl>
                                        <p:attrNameLst>
                                          <p:attrName>style.visibility</p:attrName>
                                        </p:attrNameLst>
                                      </p:cBhvr>
                                      <p:to>
                                        <p:strVal val="visible"/>
                                      </p:to>
                                    </p:set>
                                  </p:childTnLst>
                                </p:cTn>
                              </p:par>
                              <p:par>
                                <p:cTn id="5" presetID="1" presetClass="entr" presetSubtype="0" fill="hold" nodeType="withEffect">
                                  <p:stCondLst>
                                    <p:cond delay="0"/>
                                  </p:stCondLst>
                                  <p:childTnLst>
                                    <p:set>
                                      <p:cBhvr>
                                        <p:cTn id="6" dur="1" fill="hold">
                                          <p:stCondLst>
                                            <p:cond delay="0"/>
                                          </p:stCondLst>
                                        </p:cTn>
                                        <p:tgtEl>
                                          <p:spTgt spid="175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5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5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5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60">
          <a:extLst>
            <a:ext uri="{FF2B5EF4-FFF2-40B4-BE49-F238E27FC236}">
              <a16:creationId xmlns:a16="http://schemas.microsoft.com/office/drawing/2014/main" id="{C98C0242-CF7D-03BD-6FC5-B8425D502999}"/>
            </a:ext>
          </a:extLst>
        </p:cNvPr>
        <p:cNvGrpSpPr/>
        <p:nvPr/>
      </p:nvGrpSpPr>
      <p:grpSpPr>
        <a:xfrm>
          <a:off x="0" y="0"/>
          <a:ext cx="0" cy="0"/>
          <a:chOff x="0" y="0"/>
          <a:chExt cx="0" cy="0"/>
        </a:xfrm>
      </p:grpSpPr>
      <p:sp>
        <p:nvSpPr>
          <p:cNvPr id="761" name="Google Shape;761;p39">
            <a:extLst>
              <a:ext uri="{FF2B5EF4-FFF2-40B4-BE49-F238E27FC236}">
                <a16:creationId xmlns:a16="http://schemas.microsoft.com/office/drawing/2014/main" id="{0F35B7F3-9815-70C1-C503-411C7D5AF9FA}"/>
              </a:ext>
            </a:extLst>
          </p:cNvPr>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Vertical Dilations of Functions </a:t>
            </a:r>
            <a:r>
              <a:rPr lang="en-US" sz="2000" b="1" dirty="0">
                <a:solidFill>
                  <a:schemeClr val="bg1"/>
                </a:solidFill>
              </a:rPr>
              <a:t>(6 of 9)</a:t>
            </a:r>
            <a:endParaRPr dirty="0">
              <a:solidFill>
                <a:schemeClr val="bg1"/>
              </a:solidFill>
            </a:endParaRPr>
          </a:p>
        </p:txBody>
      </p:sp>
      <p:sp>
        <p:nvSpPr>
          <p:cNvPr id="2" name="Google Shape;659;p26">
            <a:extLst>
              <a:ext uri="{FF2B5EF4-FFF2-40B4-BE49-F238E27FC236}">
                <a16:creationId xmlns:a16="http://schemas.microsoft.com/office/drawing/2014/main" id="{49F0BA96-BA50-71D0-2032-242C3322C69F}"/>
              </a:ext>
            </a:extLst>
          </p:cNvPr>
          <p:cNvSpPr txBox="1"/>
          <p:nvPr/>
        </p:nvSpPr>
        <p:spPr>
          <a:xfrm>
            <a:off x="777240" y="1593907"/>
            <a:ext cx="10346562" cy="2608977"/>
          </a:xfrm>
          <a:prstGeom prst="rect">
            <a:avLst/>
          </a:prstGeom>
          <a:noFill/>
          <a:ln>
            <a:noFill/>
          </a:ln>
        </p:spPr>
        <p:txBody>
          <a:bodyPr spcFirstLastPara="1" wrap="square" lIns="91425" tIns="45700" rIns="91425" bIns="45700" anchor="t" anchorCtr="0">
            <a:noAutofit/>
          </a:bodyPr>
          <a:lstStyle/>
          <a:p>
            <a:pPr marL="514350" lvl="2" indent="-514350">
              <a:buSzPts val="2800"/>
              <a:buFont typeface="+mj-lt"/>
              <a:buAutoNum type="alphaLcPeriod" startAt="2"/>
            </a:pPr>
            <a:r>
              <a:rPr lang="en-US" sz="2800" dirty="0">
                <a:latin typeface="Calibri" panose="020F0502020204030204" pitchFamily="34" charset="0"/>
                <a:ea typeface="Calibri" panose="020F0502020204030204" pitchFamily="34" charset="0"/>
                <a:cs typeface="Calibri" panose="020F0502020204030204" pitchFamily="34" charset="0"/>
                <a:sym typeface="Calibri"/>
              </a:rPr>
              <a:t>Identify the slope and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y</a:t>
            </a:r>
            <a:r>
              <a:rPr lang="en-US" sz="2800" dirty="0">
                <a:latin typeface="Calibri" panose="020F0502020204030204" pitchFamily="34" charset="0"/>
                <a:ea typeface="Calibri" panose="020F0502020204030204" pitchFamily="34" charset="0"/>
                <a:cs typeface="Calibri" panose="020F0502020204030204" pitchFamily="34" charset="0"/>
                <a:sym typeface="Calibri"/>
              </a:rPr>
              <a:t>-intercept of the function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c</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Then, write the equation for the function </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c</a:t>
            </a:r>
            <a:r>
              <a:rPr lang="en-US" sz="2800" dirty="0">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latin typeface="Calibri" panose="020F0502020204030204" pitchFamily="34" charset="0"/>
                <a:ea typeface="Calibri" panose="020F0502020204030204" pitchFamily="34" charset="0"/>
                <a:cs typeface="Calibri" panose="020F0502020204030204" pitchFamily="34" charset="0"/>
                <a:sym typeface="Calibri"/>
              </a:rPr>
              <a:t>) in general form.</a:t>
            </a:r>
            <a:endParaRPr sz="2800" dirty="0"/>
          </a:p>
        </p:txBody>
      </p:sp>
      <p:sp>
        <p:nvSpPr>
          <p:cNvPr id="1761" name="Slide Number 1761"/>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43</a:t>
            </a:fld>
          </a:p>
        </p:txBody>
      </p:sp>
      <p:sp>
        <p:nvSpPr>
          <p:cNvPr id="1762" name="Answer 1762"/>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277</a:t>
            </a:r>
          </a:p>
        </p:txBody>
      </p:sp>
      <p:sp>
        <p:nvSpPr>
          <p:cNvPr id="1763" name="Answer 1763"/>
          <p:cNvSpPr txBox="1"/>
          <p:nvPr/>
        </p:nvSpPr>
        <p:spPr>
          <a:xfrm>
            <a:off x="774700" y="2667000"/>
            <a:ext cx="10795000" cy="825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Slope: −4;  y-intercept: (0, 0)</a:t>
            </a:r>
          </a:p>
          <a:p>
            <a:pPr marL="0" indent="0" algn="l">
              <a:spcBef>
                <a:spcPts val="0"/>
              </a:spcBef>
              <a:spcAft>
                <a:spcPts val="300"/>
              </a:spcAft>
              <a:buNone/>
            </a:pPr>
            <a:r>
              <a:rPr lang="en-US" sz="2400" dirty="0">
                <a:solidFill>
                  <a:srgbClr val="FF0000"/>
                </a:solidFill>
              </a:rPr>
              <a:t>c(x) = −4x</a:t>
            </a:r>
          </a:p>
        </p:txBody>
      </p:sp>
    </p:spTree>
    <p:extLst>
      <p:ext uri="{BB962C8B-B14F-4D97-AF65-F5344CB8AC3E}">
        <p14:creationId xmlns:p14="http://schemas.microsoft.com/office/powerpoint/2010/main" val="1679482497"/>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7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p41"/>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Vertical Dilations of Functions </a:t>
            </a:r>
            <a:r>
              <a:rPr lang="en-US" sz="2000" b="1" dirty="0">
                <a:solidFill>
                  <a:schemeClr val="bg1"/>
                </a:solidFill>
              </a:rPr>
              <a:t>(7 of 9)</a:t>
            </a:r>
            <a:endParaRPr dirty="0">
              <a:solidFill>
                <a:schemeClr val="bg1"/>
              </a:solidFill>
            </a:endParaRPr>
          </a:p>
        </p:txBody>
      </p:sp>
      <p:sp>
        <p:nvSpPr>
          <p:cNvPr id="2" name="Google Shape;659;p26">
            <a:extLst>
              <a:ext uri="{FF2B5EF4-FFF2-40B4-BE49-F238E27FC236}">
                <a16:creationId xmlns:a16="http://schemas.microsoft.com/office/drawing/2014/main" id="{63D09408-7ECD-0F8E-DAAD-19439B3309DA}"/>
              </a:ext>
            </a:extLst>
          </p:cNvPr>
          <p:cNvSpPr txBox="1"/>
          <p:nvPr/>
        </p:nvSpPr>
        <p:spPr>
          <a:xfrm>
            <a:off x="777240" y="1593907"/>
            <a:ext cx="10346562" cy="5050174"/>
          </a:xfrm>
          <a:prstGeom prst="rect">
            <a:avLst/>
          </a:prstGeom>
          <a:noFill/>
          <a:ln>
            <a:noFill/>
          </a:ln>
        </p:spPr>
        <p:txBody>
          <a:bodyPr spcFirstLastPara="1" wrap="square" lIns="91425" tIns="45700" rIns="91425" bIns="45700" anchor="t" anchorCtr="0">
            <a:noAutofit/>
          </a:bodyPr>
          <a:lstStyle/>
          <a:p>
            <a:pPr algn="l">
              <a:spcAft>
                <a:spcPts val="1200"/>
              </a:spcAft>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For the parent function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the transformed function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y </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a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shows a vertical dilation of the function. This dilation affects the output values, or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y</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-values, of the function. For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a</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&gt; 1, the resulting graph vertically stretches by a factor of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a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units. For 0 &lt;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a</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&lt; 1, the resulting graph vertically compresses by a factor of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a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units. For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a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&lt; 0, the resulting graph is vertically stretched or compressed and is reflected across the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-axis.</a:t>
            </a:r>
          </a:p>
          <a:p>
            <a:pPr marL="514350" indent="-514350" algn="l">
              <a:buFont typeface="+mj-lt"/>
              <a:buAutoNum type="arabicPeriod" startAt="4"/>
            </a:pPr>
            <a:r>
              <a:rPr lang="en-US" sz="2800" dirty="0">
                <a:latin typeface="Calibri" panose="020F0502020204030204" pitchFamily="34" charset="0"/>
                <a:ea typeface="Calibri" panose="020F0502020204030204" pitchFamily="34" charset="0"/>
                <a:cs typeface="Calibri" panose="020F0502020204030204" pitchFamily="34" charset="0"/>
              </a:rPr>
              <a:t>Compare the values </a:t>
            </a:r>
            <a:r>
              <a:rPr lang="en-US" sz="2800" i="1" dirty="0">
                <a:latin typeface="Calibri" panose="020F0502020204030204" pitchFamily="34" charset="0"/>
                <a:ea typeface="Calibri" panose="020F0502020204030204" pitchFamily="34" charset="0"/>
                <a:cs typeface="Calibri" panose="020F0502020204030204" pitchFamily="34" charset="0"/>
              </a:rPr>
              <a:t>f</a:t>
            </a:r>
            <a:r>
              <a:rPr lang="en-US" sz="2800" dirty="0">
                <a:latin typeface="Calibri" panose="020F0502020204030204" pitchFamily="34" charset="0"/>
                <a:ea typeface="Calibri" panose="020F0502020204030204" pitchFamily="34" charset="0"/>
                <a:cs typeface="Calibri" panose="020F0502020204030204" pitchFamily="34" charset="0"/>
              </a:rPr>
              <a:t>(−1) and </a:t>
            </a:r>
            <a:r>
              <a:rPr lang="en-US" sz="2800" i="1" dirty="0">
                <a:latin typeface="Calibri" panose="020F0502020204030204" pitchFamily="34" charset="0"/>
                <a:ea typeface="Calibri" panose="020F0502020204030204" pitchFamily="34" charset="0"/>
                <a:cs typeface="Calibri" panose="020F0502020204030204" pitchFamily="34" charset="0"/>
              </a:rPr>
              <a:t>c</a:t>
            </a:r>
            <a:r>
              <a:rPr lang="en-US" sz="2800" dirty="0">
                <a:latin typeface="Calibri" panose="020F0502020204030204" pitchFamily="34" charset="0"/>
                <a:ea typeface="Calibri" panose="020F0502020204030204" pitchFamily="34" charset="0"/>
                <a:cs typeface="Calibri" panose="020F0502020204030204" pitchFamily="34" charset="0"/>
              </a:rPr>
              <a:t>(−1). How did the transformation of the function affect the value of the function at </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−1?</a:t>
            </a:r>
            <a:endParaRPr sz="2800" dirty="0">
              <a:latin typeface="Calibri" panose="020F0502020204030204" pitchFamily="34" charset="0"/>
              <a:ea typeface="Calibri" panose="020F0502020204030204" pitchFamily="34" charset="0"/>
              <a:cs typeface="Calibri" panose="020F0502020204030204" pitchFamily="34" charset="0"/>
            </a:endParaRPr>
          </a:p>
        </p:txBody>
      </p:sp>
      <p:sp>
        <p:nvSpPr>
          <p:cNvPr id="1783" name="Slide Number 1783"/>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44</a:t>
            </a:fld>
          </a:p>
        </p:txBody>
      </p:sp>
      <p:sp>
        <p:nvSpPr>
          <p:cNvPr id="1784" name="Answer 1784"/>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279</a:t>
            </a:r>
          </a:p>
        </p:txBody>
      </p:sp>
      <p:sp>
        <p:nvSpPr>
          <p:cNvPr id="1785" name="Answer 1785"/>
          <p:cNvSpPr txBox="1"/>
          <p:nvPr/>
        </p:nvSpPr>
        <p:spPr>
          <a:xfrm>
            <a:off x="774700" y="5613400"/>
            <a:ext cx="10795000" cy="762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200" dirty="0">
                <a:solidFill>
                  <a:srgbClr val="FF0000"/>
                </a:solidFill>
              </a:rPr>
              <a:t>f(−1) = −1 and c(−1) = 4.</a:t>
            </a:r>
          </a:p>
          <a:p>
            <a:pPr marL="0" indent="0" algn="l">
              <a:spcBef>
                <a:spcPts val="0"/>
              </a:spcBef>
              <a:spcAft>
                <a:spcPts val="300"/>
              </a:spcAft>
              <a:buNone/>
            </a:pPr>
            <a:r>
              <a:rPr lang="en-US" sz="2200" dirty="0">
                <a:solidFill>
                  <a:srgbClr val="FF0000"/>
                </a:solidFill>
              </a:rPr>
              <a:t>The vertical dilation multiplied the value at x = −1 by −4.</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7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90"/>
        <p:cNvGrpSpPr/>
        <p:nvPr/>
      </p:nvGrpSpPr>
      <p:grpSpPr>
        <a:xfrm>
          <a:off x="0" y="0"/>
          <a:ext cx="0" cy="0"/>
          <a:chOff x="0" y="0"/>
          <a:chExt cx="0" cy="0"/>
        </a:xfrm>
      </p:grpSpPr>
      <p:sp>
        <p:nvSpPr>
          <p:cNvPr id="791" name="Google Shape;791;p42"/>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Vertical Dilations of Functions </a:t>
            </a:r>
            <a:r>
              <a:rPr lang="en-US" sz="2000" b="1" dirty="0">
                <a:solidFill>
                  <a:schemeClr val="bg1"/>
                </a:solidFill>
              </a:rPr>
              <a:t>(8 of 9)</a:t>
            </a:r>
            <a:endParaRPr dirty="0">
              <a:solidFill>
                <a:schemeClr val="bg1"/>
              </a:solidFill>
            </a:endParaRPr>
          </a:p>
        </p:txBody>
      </p:sp>
      <p:sp>
        <p:nvSpPr>
          <p:cNvPr id="792" name="Google Shape;792;p42"/>
          <p:cNvSpPr txBox="1"/>
          <p:nvPr/>
        </p:nvSpPr>
        <p:spPr>
          <a:xfrm>
            <a:off x="777240" y="1616140"/>
            <a:ext cx="989371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b="0" i="0" u="none" strike="noStrike" dirty="0">
                <a:solidFill>
                  <a:srgbClr val="000000"/>
                </a:solidFill>
                <a:latin typeface="Calibri"/>
                <a:ea typeface="Calibri"/>
                <a:cs typeface="Calibri"/>
                <a:sym typeface="Calibri"/>
              </a:rPr>
              <a:t>Let’s revisit the Essential Question and summarize our learning from Activity 1.3!</a:t>
            </a:r>
            <a:endParaRPr dirty="0"/>
          </a:p>
          <a:p>
            <a:pPr marL="0" marR="0" lvl="0" indent="0" algn="l" rtl="0">
              <a:spcBef>
                <a:spcPts val="560"/>
              </a:spcBef>
              <a:spcAft>
                <a:spcPts val="0"/>
              </a:spcAft>
              <a:buClr>
                <a:schemeClr val="dk1"/>
              </a:buClr>
              <a:buSzPts val="2800"/>
              <a:buFont typeface="Arial"/>
              <a:buNone/>
            </a:pPr>
            <a:endParaRPr sz="2800" dirty="0">
              <a:solidFill>
                <a:srgbClr val="000000"/>
              </a:solidFill>
              <a:latin typeface="Calibri"/>
              <a:ea typeface="Calibri"/>
              <a:cs typeface="Calibri"/>
              <a:sym typeface="Calibri"/>
            </a:endParaRPr>
          </a:p>
          <a:p>
            <a:pPr marL="0" marR="0" lvl="0" indent="0" algn="l" rtl="0">
              <a:spcBef>
                <a:spcPts val="560"/>
              </a:spcBef>
              <a:spcAft>
                <a:spcPts val="0"/>
              </a:spcAft>
              <a:buClr>
                <a:schemeClr val="dk1"/>
              </a:buClr>
              <a:buSzPts val="2800"/>
              <a:buFont typeface="Arial"/>
              <a:buNone/>
            </a:pPr>
            <a:endParaRPr sz="2800" dirty="0">
              <a:solidFill>
                <a:srgbClr val="000000"/>
              </a:solidFill>
              <a:latin typeface="Calibri"/>
              <a:ea typeface="Calibri"/>
              <a:cs typeface="Calibri"/>
              <a:sym typeface="Calibri"/>
            </a:endParaRPr>
          </a:p>
          <a:p>
            <a:pPr marL="0" marR="0" lvl="0" indent="0" algn="l" rtl="0">
              <a:spcBef>
                <a:spcPts val="560"/>
              </a:spcBef>
              <a:spcAft>
                <a:spcPts val="0"/>
              </a:spcAft>
              <a:buClr>
                <a:srgbClr val="000000"/>
              </a:buClr>
              <a:buSzPts val="2800"/>
              <a:buFont typeface="Arial"/>
              <a:buNone/>
            </a:pPr>
            <a:r>
              <a:rPr lang="en-US" sz="2800" b="1" dirty="0">
                <a:solidFill>
                  <a:srgbClr val="000000"/>
                </a:solidFill>
                <a:latin typeface="Calibri"/>
                <a:ea typeface="Calibri"/>
                <a:cs typeface="Calibri"/>
                <a:sym typeface="Calibri"/>
              </a:rPr>
              <a:t>Essential Question: </a:t>
            </a:r>
            <a:r>
              <a:rPr lang="en-US" sz="2800" dirty="0">
                <a:solidFill>
                  <a:srgbClr val="000000"/>
                </a:solidFill>
                <a:latin typeface="Calibri"/>
                <a:ea typeface="Calibri"/>
                <a:cs typeface="Calibri"/>
                <a:sym typeface="Calibri"/>
              </a:rPr>
              <a:t>How can you transform a function? What effects do different transformations have on the characteristics of linear functions?</a:t>
            </a:r>
            <a:endParaRPr dirty="0"/>
          </a:p>
          <a:p>
            <a:pPr marL="0" marR="0" lvl="0" indent="0" algn="l" rtl="0">
              <a:spcBef>
                <a:spcPts val="560"/>
              </a:spcBef>
              <a:spcAft>
                <a:spcPts val="0"/>
              </a:spcAft>
              <a:buClr>
                <a:schemeClr val="dk1"/>
              </a:buClr>
              <a:buSzPts val="2800"/>
              <a:buFont typeface="Arial"/>
              <a:buNone/>
            </a:pPr>
            <a:endParaRPr sz="2800" dirty="0">
              <a:solidFill>
                <a:srgbClr val="000000"/>
              </a:solidFill>
              <a:latin typeface="Calibri"/>
              <a:ea typeface="Calibri"/>
              <a:cs typeface="Calibri"/>
              <a:sym typeface="Calibri"/>
            </a:endParaRPr>
          </a:p>
        </p:txBody>
      </p:sp>
      <p:pic>
        <p:nvPicPr>
          <p:cNvPr id="793" name="Google Shape;793;p42">
            <a:extLst>
              <a:ext uri="{C183D7F6-B498-43B3-948B-1728B52AA6E4}">
                <adec:decorative xmlns:adec="http://schemas.microsoft.com/office/drawing/2017/decorative" val="1"/>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157245" y="372494"/>
            <a:ext cx="1501270" cy="518205"/>
          </a:xfrm>
          <a:prstGeom prst="rect">
            <a:avLst/>
          </a:prstGeom>
          <a:noFill/>
          <a:ln>
            <a:noFill/>
          </a:ln>
        </p:spPr>
      </p:pic>
      <p:sp>
        <p:nvSpPr>
          <p:cNvPr id="1793" name="Slide Number 1793"/>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45</a:t>
            </a:fld>
          </a:p>
        </p:txBody>
      </p:sp>
      <p:sp>
        <p:nvSpPr>
          <p:cNvPr id="1794" name="Answer 1794"/>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279</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p43"/>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Vertical Dilations of Functions </a:t>
            </a:r>
            <a:r>
              <a:rPr lang="en-US" sz="2000" b="1" dirty="0">
                <a:solidFill>
                  <a:schemeClr val="bg1"/>
                </a:solidFill>
              </a:rPr>
              <a:t>(9 of 9)</a:t>
            </a:r>
            <a:endParaRPr dirty="0">
              <a:solidFill>
                <a:schemeClr val="bg1"/>
              </a:solidFill>
            </a:endParaRPr>
          </a:p>
        </p:txBody>
      </p:sp>
      <p:sp>
        <p:nvSpPr>
          <p:cNvPr id="800" name="Google Shape;800;p43">
            <a:extLst>
              <a:ext uri="{C183D7F6-B498-43B3-948B-1728B52AA6E4}">
                <adec:decorative xmlns:adec="http://schemas.microsoft.com/office/drawing/2017/decorative" val="1"/>
              </a:ext>
            </a:extLst>
          </p:cNvPr>
          <p:cNvSpPr txBox="1"/>
          <p:nvPr/>
        </p:nvSpPr>
        <p:spPr>
          <a:xfrm>
            <a:off x="777240" y="1616140"/>
            <a:ext cx="1047175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800"/>
              <a:buFont typeface="Arial"/>
              <a:buNone/>
            </a:pPr>
            <a:endParaRPr sz="2800">
              <a:solidFill>
                <a:srgbClr val="3A3838"/>
              </a:solidFill>
              <a:latin typeface="Calibri"/>
              <a:ea typeface="Calibri"/>
              <a:cs typeface="Calibri"/>
              <a:sym typeface="Calibri"/>
            </a:endParaRPr>
          </a:p>
        </p:txBody>
      </p:sp>
      <p:sp>
        <p:nvSpPr>
          <p:cNvPr id="1800" name="Slide Number 1800"/>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46</a:t>
            </a:fld>
          </a:p>
        </p:txBody>
      </p:sp>
      <p:sp>
        <p:nvSpPr>
          <p:cNvPr id="1801" name="Answer 1801"/>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279</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6" name="Google Shape;806;p44"/>
          <p:cNvSpPr txBox="1">
            <a:spLocks noGrp="1"/>
          </p:cNvSpPr>
          <p:nvPr>
            <p:ph type="title"/>
          </p:nvPr>
        </p:nvSpPr>
        <p:spPr>
          <a:xfrm>
            <a:off x="838200" y="-302004"/>
            <a:ext cx="10514013" cy="302004"/>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2000"/>
              <a:buFont typeface="Calibri"/>
              <a:buNone/>
            </a:pPr>
            <a:r>
              <a:rPr lang="en-US" sz="2000" dirty="0">
                <a:solidFill>
                  <a:schemeClr val="lt2"/>
                </a:solidFill>
                <a:latin typeface="Calibri"/>
                <a:ea typeface="Calibri"/>
                <a:cs typeface="Calibri"/>
                <a:sym typeface="Calibri"/>
              </a:rPr>
              <a:t>Day 3</a:t>
            </a:r>
            <a:endParaRPr dirty="0"/>
          </a:p>
        </p:txBody>
      </p:sp>
      <p:sp>
        <p:nvSpPr>
          <p:cNvPr id="807" name="Google Shape;807;p44"/>
          <p:cNvSpPr txBox="1">
            <a:spLocks noGrp="1"/>
          </p:cNvSpPr>
          <p:nvPr>
            <p:ph type="body" idx="1"/>
          </p:nvPr>
        </p:nvSpPr>
        <p:spPr>
          <a:xfrm>
            <a:off x="6658975" y="2832927"/>
            <a:ext cx="1061883" cy="1071562"/>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0000"/>
              </a:buClr>
              <a:buSzPts val="7500"/>
              <a:buNone/>
            </a:pPr>
            <a:r>
              <a:rPr lang="en-US" sz="7500" b="1">
                <a:solidFill>
                  <a:srgbClr val="000000"/>
                </a:solidFill>
                <a:latin typeface="Calibri"/>
                <a:ea typeface="Calibri"/>
                <a:cs typeface="Calibri"/>
                <a:sym typeface="Calibri"/>
              </a:rPr>
              <a:t>3</a:t>
            </a:r>
            <a:endParaRPr/>
          </a:p>
        </p:txBody>
      </p:sp>
      <p:sp>
        <p:nvSpPr>
          <p:cNvPr id="1807" name="Slide Number 1807"/>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47</a:t>
            </a:fld>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p45"/>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Essential Question </a:t>
            </a:r>
            <a:r>
              <a:rPr lang="en-US" sz="2000" b="1" dirty="0">
                <a:solidFill>
                  <a:schemeClr val="bg1"/>
                </a:solidFill>
              </a:rPr>
              <a:t>(3 of 3)</a:t>
            </a:r>
            <a:endParaRPr dirty="0">
              <a:solidFill>
                <a:schemeClr val="bg1"/>
              </a:solidFill>
            </a:endParaRPr>
          </a:p>
        </p:txBody>
      </p:sp>
      <p:sp>
        <p:nvSpPr>
          <p:cNvPr id="814" name="Google Shape;814;p45"/>
          <p:cNvSpPr txBox="1"/>
          <p:nvPr/>
        </p:nvSpPr>
        <p:spPr>
          <a:xfrm>
            <a:off x="777240" y="1612231"/>
            <a:ext cx="9884842" cy="4323543"/>
          </a:xfrm>
          <a:prstGeom prst="rect">
            <a:avLst/>
          </a:prstGeom>
          <a:noFill/>
          <a:ln>
            <a:noFill/>
          </a:ln>
        </p:spPr>
        <p:txBody>
          <a:bodyPr spcFirstLastPara="1" wrap="square" lIns="91425" tIns="45700" rIns="91425" bIns="45700" anchor="t" anchorCtr="0">
            <a:noAutofit/>
          </a:bodyPr>
          <a:lstStyle/>
          <a:p>
            <a:pPr marL="0" marR="0" lvl="0" indent="0" algn="l" rtl="0">
              <a:spcBef>
                <a:spcPts val="24"/>
              </a:spcBef>
              <a:spcAft>
                <a:spcPts val="0"/>
              </a:spcAft>
              <a:buClr>
                <a:srgbClr val="000000"/>
              </a:buClr>
              <a:buSzPts val="2800"/>
              <a:buFont typeface="Arial"/>
              <a:buNone/>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How can you transform a function? What effects do different transformations have on the characteristics of linear functions</a:t>
            </a:r>
            <a:r>
              <a:rPr lang="en-US" sz="2800" dirty="0">
                <a:solidFill>
                  <a:srgbClr val="000000"/>
                </a:solidFill>
                <a:latin typeface="Calibri"/>
                <a:ea typeface="Calibri"/>
                <a:cs typeface="Calibri"/>
                <a:sym typeface="Calibri"/>
              </a:rPr>
              <a:t>?</a:t>
            </a:r>
            <a:endParaRPr dirty="0"/>
          </a:p>
        </p:txBody>
      </p:sp>
      <p:sp>
        <p:nvSpPr>
          <p:cNvPr id="1814" name="Slide Number 181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48</a:t>
            </a:fld>
          </a:p>
        </p:txBody>
      </p:sp>
      <p:sp>
        <p:nvSpPr>
          <p:cNvPr id="1815" name="Answer 181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269</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sp>
        <p:nvSpPr>
          <p:cNvPr id="820" name="Google Shape;820;p46"/>
          <p:cNvSpPr txBox="1">
            <a:spLocks noGrp="1"/>
          </p:cNvSpPr>
          <p:nvPr>
            <p:ph type="title"/>
          </p:nvPr>
        </p:nvSpPr>
        <p:spPr>
          <a:xfrm>
            <a:off x="838200" y="-310393"/>
            <a:ext cx="10514013" cy="31039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2000"/>
              <a:buFont typeface="Calibri"/>
              <a:buNone/>
            </a:pPr>
            <a:r>
              <a:rPr lang="en-US" sz="2000" dirty="0">
                <a:solidFill>
                  <a:schemeClr val="lt2"/>
                </a:solidFill>
                <a:latin typeface="Calibri"/>
                <a:ea typeface="Calibri"/>
                <a:cs typeface="Calibri"/>
                <a:sym typeface="Calibri"/>
              </a:rPr>
              <a:t>Activity 1.4</a:t>
            </a:r>
            <a:endParaRPr dirty="0"/>
          </a:p>
        </p:txBody>
      </p:sp>
      <p:sp>
        <p:nvSpPr>
          <p:cNvPr id="821" name="Google Shape;821;p46" descr="15 to 20 minutes"/>
          <p:cNvSpPr txBox="1">
            <a:spLocks noGrp="1"/>
          </p:cNvSpPr>
          <p:nvPr>
            <p:ph type="body" idx="2"/>
          </p:nvPr>
        </p:nvSpPr>
        <p:spPr>
          <a:xfrm>
            <a:off x="10623379" y="5780973"/>
            <a:ext cx="863947" cy="795338"/>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71616"/>
              </a:buClr>
              <a:buSzPts val="2000"/>
              <a:buNone/>
            </a:pPr>
            <a:r>
              <a:rPr lang="en-US" b="1" dirty="0"/>
              <a:t>15–20</a:t>
            </a:r>
            <a:endParaRPr dirty="0"/>
          </a:p>
        </p:txBody>
      </p:sp>
      <p:sp>
        <p:nvSpPr>
          <p:cNvPr id="822" name="Google Shape;822;p46">
            <a:extLst>
              <a:ext uri="{C183D7F6-B498-43B3-948B-1728B52AA6E4}">
                <adec:decorative xmlns:adec="http://schemas.microsoft.com/office/drawing/2017/decorative" val="1"/>
              </a:ext>
            </a:extLst>
          </p:cNvPr>
          <p:cNvSpPr txBox="1">
            <a:spLocks noGrp="1"/>
          </p:cNvSpPr>
          <p:nvPr>
            <p:ph type="body" idx="1"/>
          </p:nvPr>
        </p:nvSpPr>
        <p:spPr>
          <a:xfrm>
            <a:off x="6769100" y="2957776"/>
            <a:ext cx="2025986" cy="112553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7500"/>
              <a:buNone/>
            </a:pPr>
            <a:r>
              <a:rPr lang="en-US"/>
              <a:t>1.4</a:t>
            </a:r>
            <a:endParaRPr/>
          </a:p>
        </p:txBody>
      </p:sp>
      <p:sp>
        <p:nvSpPr>
          <p:cNvPr id="1822" name="Slide Number 1822"/>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49</a:t>
            </a:fld>
          </a:p>
        </p:txBody>
      </p:sp>
      <p:sp>
        <p:nvSpPr>
          <p:cNvPr id="1824" name="Answer 1824"/>
          <p:cNvSpPr txBox="1"/>
          <p:nvPr/>
        </p:nvSpPr>
        <p:spPr>
          <a:xfrm>
            <a:off x="1016000" y="952500"/>
            <a:ext cx="10160000" cy="762000"/>
          </a:xfrm>
          <a:prstGeom prst="rect">
            <a:avLst/>
          </a:prstGeom>
          <a:noFill/>
        </p:spPr>
        <p:txBody>
          <a:bodyPr wrap="square" lIns="45720" tIns="18288" rIns="45720" bIns="18288" anchor="ctr">
            <a:noAutofit/>
          </a:bodyPr>
          <a:lstStyle/>
          <a:p>
            <a:pPr marL="0" indent="0" algn="ctr">
              <a:spcBef>
                <a:spcPts val="0"/>
              </a:spcBef>
              <a:spcAft>
                <a:spcPts val="300"/>
              </a:spcAft>
              <a:buNone/>
            </a:pPr>
            <a:r>
              <a:rPr lang="en-US" sz="4400" b="1" dirty="0">
                <a:solidFill>
                  <a:srgbClr val="2E7D3C"/>
                </a:solidFill>
              </a:rPr>
              <a:t>★ Essential activity: do not skip</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p47"/>
          <p:cNvSpPr txBox="1">
            <a:spLocks noGrp="1"/>
          </p:cNvSpPr>
          <p:nvPr>
            <p:ph type="title"/>
          </p:nvPr>
        </p:nvSpPr>
        <p:spPr>
          <a:xfrm>
            <a:off x="764931" y="0"/>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3200"/>
              <a:buFont typeface="Calibri"/>
              <a:buNone/>
            </a:pPr>
            <a:r>
              <a:rPr lang="en-US" sz="3200" b="1" dirty="0"/>
              <a:t>Vertical Dilations and Vertical Translations of Functions </a:t>
            </a:r>
            <a:r>
              <a:rPr lang="en-US" sz="2000" b="1" dirty="0">
                <a:solidFill>
                  <a:schemeClr val="bg1"/>
                </a:solidFill>
              </a:rPr>
              <a:t>(1 of 6)</a:t>
            </a:r>
            <a:endParaRPr dirty="0">
              <a:solidFill>
                <a:schemeClr val="bg1"/>
              </a:solidFill>
            </a:endParaRPr>
          </a:p>
        </p:txBody>
      </p:sp>
      <p:sp>
        <p:nvSpPr>
          <p:cNvPr id="2" name="Google Shape;659;p26">
            <a:extLst>
              <a:ext uri="{FF2B5EF4-FFF2-40B4-BE49-F238E27FC236}">
                <a16:creationId xmlns:a16="http://schemas.microsoft.com/office/drawing/2014/main" id="{E560C3F9-0259-D99D-424A-6AE8AB525D1D}"/>
              </a:ext>
            </a:extLst>
          </p:cNvPr>
          <p:cNvSpPr txBox="1"/>
          <p:nvPr/>
        </p:nvSpPr>
        <p:spPr>
          <a:xfrm>
            <a:off x="764931" y="1263193"/>
            <a:ext cx="10791178" cy="166456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1200"/>
              </a:spcAft>
              <a:buClr>
                <a:srgbClr val="000000"/>
              </a:buClr>
              <a:buSzPts val="2800"/>
              <a:buFont typeface="Arial"/>
              <a:buNone/>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Let’s consider more transformations of the parent function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p>
          <a:p>
            <a:pPr marL="514350" marR="0" lvl="0" indent="-514350" algn="l" rtl="0">
              <a:spcBef>
                <a:spcPts val="0"/>
              </a:spcBef>
              <a:spcAft>
                <a:spcPts val="600"/>
              </a:spcAft>
              <a:buClr>
                <a:srgbClr val="000000"/>
              </a:buClr>
              <a:buSzPts val="2800"/>
              <a:buFont typeface="+mj-lt"/>
              <a:buAutoNum type="arabicPeriod"/>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Describe the transformations performed on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f</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to produce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g</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Then, graph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g</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x</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Write the function equation in general form.</a:t>
            </a:r>
            <a:endParaRPr sz="2800" dirty="0"/>
          </a:p>
        </p:txBody>
      </p:sp>
      <p:sp>
        <p:nvSpPr>
          <p:cNvPr id="3" name="Google Shape;659;p26">
            <a:extLst>
              <a:ext uri="{FF2B5EF4-FFF2-40B4-BE49-F238E27FC236}">
                <a16:creationId xmlns:a16="http://schemas.microsoft.com/office/drawing/2014/main" id="{3EE023B9-B2F0-F1F0-A544-AE3ED2E8FDE4}"/>
              </a:ext>
            </a:extLst>
          </p:cNvPr>
          <p:cNvSpPr txBox="1"/>
          <p:nvPr/>
        </p:nvSpPr>
        <p:spPr>
          <a:xfrm>
            <a:off x="764931" y="2927758"/>
            <a:ext cx="4394298" cy="653581"/>
          </a:xfrm>
          <a:prstGeom prst="rect">
            <a:avLst/>
          </a:prstGeom>
          <a:noFill/>
          <a:ln>
            <a:noFill/>
          </a:ln>
        </p:spPr>
        <p:txBody>
          <a:bodyPr spcFirstLastPara="1" wrap="square" lIns="91425" tIns="45700" rIns="91425" bIns="45700" anchor="t" anchorCtr="0">
            <a:noAutofit/>
          </a:bodyPr>
          <a:lstStyle/>
          <a:p>
            <a:pPr marL="1031875" marR="0" lvl="0" indent="-514350" algn="l" rtl="0">
              <a:spcBef>
                <a:spcPts val="0"/>
              </a:spcBef>
              <a:spcAft>
                <a:spcPts val="600"/>
              </a:spcAft>
              <a:buClr>
                <a:srgbClr val="000000"/>
              </a:buClr>
              <a:buSzPts val="2800"/>
              <a:buFont typeface="+mj-lt"/>
              <a:buAutoNum type="alphaLcPeriod"/>
            </a:pPr>
            <a:r>
              <a:rPr lang="en-US" sz="2800" dirty="0">
                <a:latin typeface="Calibri" panose="020F0502020204030204" pitchFamily="34" charset="0"/>
                <a:ea typeface="Calibri" panose="020F0502020204030204" pitchFamily="34" charset="0"/>
                <a:cs typeface="Calibri" panose="020F0502020204030204" pitchFamily="34" charset="0"/>
              </a:rPr>
              <a:t> </a:t>
            </a:r>
            <a:r>
              <a:rPr lang="en-US" sz="2800" i="1" dirty="0">
                <a:latin typeface="Calibri" panose="020F0502020204030204" pitchFamily="34" charset="0"/>
                <a:ea typeface="Calibri" panose="020F0502020204030204" pitchFamily="34" charset="0"/>
                <a:cs typeface="Calibri" panose="020F0502020204030204" pitchFamily="34" charset="0"/>
              </a:rPr>
              <a:t>g</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2 ∙ </a:t>
            </a:r>
            <a:r>
              <a:rPr lang="en-US" sz="2800" i="1" dirty="0">
                <a:latin typeface="Calibri" panose="020F0502020204030204" pitchFamily="34" charset="0"/>
                <a:ea typeface="Calibri" panose="020F0502020204030204" pitchFamily="34" charset="0"/>
                <a:cs typeface="Calibri" panose="020F0502020204030204" pitchFamily="34" charset="0"/>
              </a:rPr>
              <a:t>f</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+ 7</a:t>
            </a:r>
            <a:endParaRPr sz="2800" dirty="0">
              <a:latin typeface="Calibri" panose="020F0502020204030204" pitchFamily="34" charset="0"/>
              <a:ea typeface="Calibri" panose="020F0502020204030204" pitchFamily="34" charset="0"/>
              <a:cs typeface="Calibri" panose="020F0502020204030204" pitchFamily="34" charset="0"/>
            </a:endParaRPr>
          </a:p>
        </p:txBody>
      </p:sp>
      <p:pic>
        <p:nvPicPr>
          <p:cNvPr id="831" name="Google Shape;831;p47" descr="A graph of line f of x = x on the coordinate plane. The line rises from left to right through the points (0, 0) and (2, 2)."/>
          <p:cNvPicPr>
            <a:picLocks noChangeAspect="1"/>
          </p:cNvPicPr>
          <p:nvPr/>
        </p:nvPicPr>
        <p:blipFill rotWithShape="1">
          <a:blip r:embed="rId3" cstate="email">
            <a:alphaModFix/>
            <a:extLst>
              <a:ext uri="{28A0092B-C50C-407E-A947-70E740481C1C}">
                <a14:useLocalDpi xmlns:a14="http://schemas.microsoft.com/office/drawing/2010/main"/>
              </a:ext>
            </a:extLst>
          </a:blip>
          <a:srcRect/>
          <a:stretch/>
        </p:blipFill>
        <p:spPr>
          <a:xfrm>
            <a:off x="1811021" y="3793870"/>
            <a:ext cx="2636338" cy="2672852"/>
          </a:xfrm>
          <a:prstGeom prst="rect">
            <a:avLst/>
          </a:prstGeom>
          <a:noFill/>
          <a:ln>
            <a:noFill/>
          </a:ln>
        </p:spPr>
      </p:pic>
      <p:sp>
        <p:nvSpPr>
          <p:cNvPr id="4" name="Google Shape;659;p26">
            <a:extLst>
              <a:ext uri="{FF2B5EF4-FFF2-40B4-BE49-F238E27FC236}">
                <a16:creationId xmlns:a16="http://schemas.microsoft.com/office/drawing/2014/main" id="{090938B8-1EDE-D174-95B8-B85E17EBB907}"/>
              </a:ext>
            </a:extLst>
          </p:cNvPr>
          <p:cNvSpPr txBox="1"/>
          <p:nvPr/>
        </p:nvSpPr>
        <p:spPr>
          <a:xfrm>
            <a:off x="5463814" y="2927757"/>
            <a:ext cx="4394298" cy="653581"/>
          </a:xfrm>
          <a:prstGeom prst="rect">
            <a:avLst/>
          </a:prstGeom>
          <a:noFill/>
          <a:ln>
            <a:noFill/>
          </a:ln>
        </p:spPr>
        <p:txBody>
          <a:bodyPr spcFirstLastPara="1" wrap="square" lIns="91425" tIns="45700" rIns="91425" bIns="45700" anchor="t" anchorCtr="0">
            <a:noAutofit/>
          </a:bodyPr>
          <a:lstStyle/>
          <a:p>
            <a:pPr marL="1031875" marR="0" lvl="0" indent="-514350" algn="l" rtl="0">
              <a:spcBef>
                <a:spcPts val="0"/>
              </a:spcBef>
              <a:spcAft>
                <a:spcPts val="600"/>
              </a:spcAft>
              <a:buClr>
                <a:srgbClr val="000000"/>
              </a:buClr>
              <a:buSzPts val="2800"/>
              <a:buFont typeface="+mj-lt"/>
              <a:buAutoNum type="alphaLcPeriod" startAt="2"/>
            </a:pPr>
            <a:r>
              <a:rPr lang="en-US" sz="2800" dirty="0">
                <a:latin typeface="Calibri" panose="020F0502020204030204" pitchFamily="34" charset="0"/>
                <a:ea typeface="Calibri" panose="020F0502020204030204" pitchFamily="34" charset="0"/>
                <a:cs typeface="Calibri" panose="020F0502020204030204" pitchFamily="34" charset="0"/>
              </a:rPr>
              <a:t> </a:t>
            </a:r>
            <a:r>
              <a:rPr lang="en-US" sz="2800" i="1" dirty="0">
                <a:latin typeface="Calibri" panose="020F0502020204030204" pitchFamily="34" charset="0"/>
                <a:ea typeface="Calibri" panose="020F0502020204030204" pitchFamily="34" charset="0"/>
                <a:cs typeface="Calibri" panose="020F0502020204030204" pitchFamily="34" charset="0"/>
              </a:rPr>
              <a:t>g</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3 ∙ </a:t>
            </a:r>
            <a:r>
              <a:rPr lang="en-US" sz="2800" i="1" dirty="0">
                <a:latin typeface="Calibri" panose="020F0502020204030204" pitchFamily="34" charset="0"/>
                <a:ea typeface="Calibri" panose="020F0502020204030204" pitchFamily="34" charset="0"/>
                <a:cs typeface="Calibri" panose="020F0502020204030204" pitchFamily="34" charset="0"/>
              </a:rPr>
              <a:t>f</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− 1</a:t>
            </a:r>
            <a:endParaRPr sz="2800" dirty="0">
              <a:latin typeface="Calibri" panose="020F0502020204030204" pitchFamily="34" charset="0"/>
              <a:ea typeface="Calibri" panose="020F0502020204030204" pitchFamily="34" charset="0"/>
              <a:cs typeface="Calibri" panose="020F0502020204030204" pitchFamily="34" charset="0"/>
            </a:endParaRPr>
          </a:p>
        </p:txBody>
      </p:sp>
      <p:pic>
        <p:nvPicPr>
          <p:cNvPr id="832" name="Google Shape;832;p47" descr="A graph of line f of x = x on the coordinate plane. The line rises from left to right through the points (0, 0) and (2, 2)."/>
          <p:cNvPicPr>
            <a:picLocks noChangeAspect="1"/>
          </p:cNvPicPr>
          <p:nvPr/>
        </p:nvPicPr>
        <p:blipFill rotWithShape="1">
          <a:blip r:embed="rId4" cstate="email">
            <a:alphaModFix/>
            <a:extLst>
              <a:ext uri="{28A0092B-C50C-407E-A947-70E740481C1C}">
                <a14:useLocalDpi xmlns:a14="http://schemas.microsoft.com/office/drawing/2010/main"/>
              </a:ext>
            </a:extLst>
          </a:blip>
          <a:srcRect/>
          <a:stretch/>
        </p:blipFill>
        <p:spPr>
          <a:xfrm>
            <a:off x="6477672" y="3874201"/>
            <a:ext cx="2636338" cy="2592521"/>
          </a:xfrm>
          <a:prstGeom prst="rect">
            <a:avLst/>
          </a:prstGeom>
          <a:noFill/>
          <a:ln>
            <a:noFill/>
          </a:ln>
        </p:spPr>
      </p:pic>
      <p:sp>
        <p:nvSpPr>
          <p:cNvPr id="1832" name="Slide Number 1832"/>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50</a:t>
            </a:fld>
          </a:p>
        </p:txBody>
      </p:sp>
      <p:sp>
        <p:nvSpPr>
          <p:cNvPr id="1833" name="Answer 1833"/>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280</a:t>
            </a:r>
          </a:p>
        </p:txBody>
      </p:sp>
      <p:sp>
        <p:nvSpPr>
          <p:cNvPr id="1834" name="Answer 1834"/>
          <p:cNvSpPr txBox="1"/>
          <p:nvPr/>
        </p:nvSpPr>
        <p:spPr>
          <a:xfrm>
            <a:off x="4629150" y="3746500"/>
            <a:ext cx="1879600" cy="1778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a. g(x) = 2x + 7</a:t>
            </a:r>
          </a:p>
          <a:p>
            <a:pPr marL="0" indent="0" algn="l">
              <a:spcBef>
                <a:spcPts val="0"/>
              </a:spcBef>
              <a:spcAft>
                <a:spcPts val="300"/>
              </a:spcAft>
              <a:buNone/>
            </a:pPr>
            <a:r>
              <a:rPr lang="en-US" sz="1800" dirty="0">
                <a:solidFill>
                  <a:srgbClr val="FF0000"/>
                </a:solidFill>
              </a:rPr>
              <a:t>Vertical stretch by a factor of 2, then up 7. Graph: through (0, 7), slope 2.</a:t>
            </a:r>
          </a:p>
        </p:txBody>
      </p:sp>
      <p:sp>
        <p:nvSpPr>
          <p:cNvPr id="1835" name="Answer 1835"/>
          <p:cNvSpPr txBox="1"/>
          <p:nvPr/>
        </p:nvSpPr>
        <p:spPr>
          <a:xfrm>
            <a:off x="9296400" y="3746500"/>
            <a:ext cx="2768600" cy="12192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b. g(x) = 3x − 1</a:t>
            </a:r>
          </a:p>
          <a:p>
            <a:pPr marL="0" indent="0" algn="l">
              <a:spcBef>
                <a:spcPts val="0"/>
              </a:spcBef>
              <a:spcAft>
                <a:spcPts val="300"/>
              </a:spcAft>
              <a:buNone/>
            </a:pPr>
            <a:r>
              <a:rPr lang="en-US" sz="1800" dirty="0">
                <a:solidFill>
                  <a:srgbClr val="FF0000"/>
                </a:solidFill>
              </a:rPr>
              <a:t>Vertical stretch by a factor of 3, then down 1. Graph: through (0, −1), slope 3.</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83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8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27">
          <a:extLst>
            <a:ext uri="{FF2B5EF4-FFF2-40B4-BE49-F238E27FC236}">
              <a16:creationId xmlns:a16="http://schemas.microsoft.com/office/drawing/2014/main" id="{6A7FDF52-38E6-D85C-684E-A506D30D026F}"/>
            </a:ext>
          </a:extLst>
        </p:cNvPr>
        <p:cNvGrpSpPr/>
        <p:nvPr/>
      </p:nvGrpSpPr>
      <p:grpSpPr>
        <a:xfrm>
          <a:off x="0" y="0"/>
          <a:ext cx="0" cy="0"/>
          <a:chOff x="0" y="0"/>
          <a:chExt cx="0" cy="0"/>
        </a:xfrm>
      </p:grpSpPr>
      <p:sp>
        <p:nvSpPr>
          <p:cNvPr id="828" name="Google Shape;828;p47">
            <a:extLst>
              <a:ext uri="{FF2B5EF4-FFF2-40B4-BE49-F238E27FC236}">
                <a16:creationId xmlns:a16="http://schemas.microsoft.com/office/drawing/2014/main" id="{9B7434C7-A4E8-610B-08B2-3812E2D0C6F2}"/>
              </a:ext>
            </a:extLst>
          </p:cNvPr>
          <p:cNvSpPr txBox="1">
            <a:spLocks noGrp="1"/>
          </p:cNvSpPr>
          <p:nvPr>
            <p:ph type="title"/>
          </p:nvPr>
        </p:nvSpPr>
        <p:spPr>
          <a:xfrm>
            <a:off x="764931" y="0"/>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3200"/>
              <a:buFont typeface="Calibri"/>
              <a:buNone/>
            </a:pPr>
            <a:r>
              <a:rPr lang="en-US" sz="3200" b="1" dirty="0"/>
              <a:t>Vertical Dilations and Vertical Translations of Functions </a:t>
            </a:r>
            <a:r>
              <a:rPr lang="en-US" sz="2000" b="1" dirty="0">
                <a:solidFill>
                  <a:schemeClr val="bg1"/>
                </a:solidFill>
              </a:rPr>
              <a:t>(2 of 6)</a:t>
            </a:r>
            <a:endParaRPr dirty="0">
              <a:solidFill>
                <a:schemeClr val="bg1"/>
              </a:solidFill>
            </a:endParaRPr>
          </a:p>
        </p:txBody>
      </p:sp>
      <mc:AlternateContent xmlns:mc="http://schemas.openxmlformats.org/markup-compatibility/2006" xmlns:a14="http://schemas.microsoft.com/office/drawing/2010/main">
        <mc:Choice Requires="a14">
          <p:sp>
            <p:nvSpPr>
              <p:cNvPr id="3" name="Google Shape;659;p26">
                <a:extLst>
                  <a:ext uri="{FF2B5EF4-FFF2-40B4-BE49-F238E27FC236}">
                    <a16:creationId xmlns:a16="http://schemas.microsoft.com/office/drawing/2014/main" id="{E4EB07F6-E015-709E-9E54-9EB9892FCC82}"/>
                  </a:ext>
                </a:extLst>
              </p:cNvPr>
              <p:cNvSpPr txBox="1"/>
              <p:nvPr/>
            </p:nvSpPr>
            <p:spPr>
              <a:xfrm>
                <a:off x="764931" y="1627464"/>
                <a:ext cx="4394298" cy="653581"/>
              </a:xfrm>
              <a:prstGeom prst="rect">
                <a:avLst/>
              </a:prstGeom>
              <a:noFill/>
              <a:ln>
                <a:noFill/>
              </a:ln>
            </p:spPr>
            <p:txBody>
              <a:bodyPr spcFirstLastPara="1" wrap="square" lIns="91425" tIns="45700" rIns="91425" bIns="45700" anchor="t" anchorCtr="0">
                <a:noAutofit/>
              </a:bodyPr>
              <a:lstStyle/>
              <a:p>
                <a:pPr marL="514350" marR="0" lvl="0" indent="-514350" algn="l" rtl="0">
                  <a:spcBef>
                    <a:spcPts val="0"/>
                  </a:spcBef>
                  <a:spcAft>
                    <a:spcPts val="600"/>
                  </a:spcAft>
                  <a:buClr>
                    <a:srgbClr val="000000"/>
                  </a:buClr>
                  <a:buSzPts val="2800"/>
                  <a:buFont typeface="+mj-lt"/>
                  <a:buAutoNum type="alphaLcPeriod" startAt="3"/>
                </a:pPr>
                <a:r>
                  <a:rPr lang="en-US" sz="2800" dirty="0">
                    <a:latin typeface="Calibri" panose="020F0502020204030204" pitchFamily="34" charset="0"/>
                    <a:ea typeface="Calibri" panose="020F0502020204030204" pitchFamily="34" charset="0"/>
                    <a:cs typeface="Calibri" panose="020F0502020204030204" pitchFamily="34" charset="0"/>
                  </a:rPr>
                  <a:t> </a:t>
                </a:r>
                <a:r>
                  <a:rPr lang="en-US" sz="2800" i="1" dirty="0">
                    <a:latin typeface="Calibri" panose="020F0502020204030204" pitchFamily="34" charset="0"/>
                    <a:ea typeface="Calibri" panose="020F0502020204030204" pitchFamily="34" charset="0"/>
                    <a:cs typeface="Calibri" panose="020F0502020204030204" pitchFamily="34" charset="0"/>
                  </a:rPr>
                  <a:t>g</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a:t>
                </a:r>
                <a14:m>
                  <m:oMath xmlns:m="http://schemas.openxmlformats.org/officeDocument/2006/math">
                    <m:f>
                      <m:fPr>
                        <m:ctrlPr>
                          <a:rPr lang="en-US" sz="2800" i="1" smtClean="0">
                            <a:latin typeface="Cambria Math" panose="02040503050406030204" pitchFamily="18" charset="0"/>
                            <a:ea typeface="Calibri" panose="020F0502020204030204" pitchFamily="34" charset="0"/>
                            <a:cs typeface="Calibri" panose="020F0502020204030204" pitchFamily="34" charset="0"/>
                          </a:rPr>
                        </m:ctrlPr>
                      </m:fPr>
                      <m:num>
                        <m:r>
                          <a:rPr lang="en-US" sz="2800" b="0" i="1" smtClean="0">
                            <a:latin typeface="Cambria Math" panose="02040503050406030204" pitchFamily="18" charset="0"/>
                            <a:ea typeface="Calibri" panose="020F0502020204030204" pitchFamily="34" charset="0"/>
                            <a:cs typeface="Calibri" panose="020F0502020204030204" pitchFamily="34" charset="0"/>
                          </a:rPr>
                          <m:t>1</m:t>
                        </m:r>
                      </m:num>
                      <m:den>
                        <m:r>
                          <a:rPr lang="en-US" sz="2800" b="0" i="1" smtClean="0">
                            <a:latin typeface="Cambria Math" panose="02040503050406030204" pitchFamily="18" charset="0"/>
                            <a:ea typeface="Calibri" panose="020F0502020204030204" pitchFamily="34" charset="0"/>
                            <a:cs typeface="Calibri" panose="020F0502020204030204" pitchFamily="34" charset="0"/>
                          </a:rPr>
                          <m:t>3</m:t>
                        </m:r>
                      </m:den>
                    </m:f>
                  </m:oMath>
                </a14:m>
                <a:r>
                  <a:rPr lang="en-US" sz="2800" dirty="0">
                    <a:latin typeface="Calibri" panose="020F0502020204030204" pitchFamily="34" charset="0"/>
                    <a:ea typeface="Calibri" panose="020F0502020204030204" pitchFamily="34" charset="0"/>
                    <a:cs typeface="Calibri" panose="020F0502020204030204" pitchFamily="34" charset="0"/>
                  </a:rPr>
                  <a:t> ∙ </a:t>
                </a:r>
                <a:r>
                  <a:rPr lang="en-US" sz="2800" i="1" dirty="0">
                    <a:latin typeface="Calibri" panose="020F0502020204030204" pitchFamily="34" charset="0"/>
                    <a:ea typeface="Calibri" panose="020F0502020204030204" pitchFamily="34" charset="0"/>
                    <a:cs typeface="Calibri" panose="020F0502020204030204" pitchFamily="34" charset="0"/>
                  </a:rPr>
                  <a:t>f</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+ 2</a:t>
                </a:r>
                <a:endParaRPr sz="2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Google Shape;659;p26">
                <a:extLst>
                  <a:ext uri="{FF2B5EF4-FFF2-40B4-BE49-F238E27FC236}">
                    <a16:creationId xmlns:a16="http://schemas.microsoft.com/office/drawing/2014/main" id="{E4EB07F6-E015-709E-9E54-9EB9892FCC82}"/>
                  </a:ext>
                </a:extLst>
              </p:cNvPr>
              <p:cNvSpPr txBox="1">
                <a:spLocks noRot="1" noChangeAspect="1" noMove="1" noResize="1" noEditPoints="1" noAdjustHandles="1" noChangeArrowheads="1" noChangeShapeType="1" noTextEdit="1"/>
              </p:cNvSpPr>
              <p:nvPr/>
            </p:nvSpPr>
            <p:spPr>
              <a:xfrm>
                <a:off x="764931" y="1627464"/>
                <a:ext cx="4394298" cy="653581"/>
              </a:xfrm>
              <a:prstGeom prst="rect">
                <a:avLst/>
              </a:prstGeom>
              <a:blipFill>
                <a:blip r:embed="rId3"/>
                <a:stretch>
                  <a:fillRect l="-2913" b="-20561"/>
                </a:stretch>
              </a:blipFill>
              <a:ln>
                <a:noFill/>
              </a:ln>
            </p:spPr>
            <p:txBody>
              <a:bodyPr/>
              <a:lstStyle/>
              <a:p>
                <a:r>
                  <a:rPr lang="en-US">
                    <a:noFill/>
                  </a:rPr>
                  <a:t> </a:t>
                </a:r>
              </a:p>
            </p:txBody>
          </p:sp>
        </mc:Fallback>
      </mc:AlternateContent>
      <p:pic>
        <p:nvPicPr>
          <p:cNvPr id="831" name="Google Shape;831;p47" descr="A graph of line f of x = x on the coordinate plane. The line rises from left to right through the points (0, 0) and (2, 2).">
            <a:extLst>
              <a:ext uri="{FF2B5EF4-FFF2-40B4-BE49-F238E27FC236}">
                <a16:creationId xmlns:a16="http://schemas.microsoft.com/office/drawing/2014/main" id="{015265C5-1062-95C3-181A-1F28F3FBABFC}"/>
              </a:ext>
            </a:extLst>
          </p:cNvPr>
          <p:cNvPicPr>
            <a:picLocks noChangeAspect="1"/>
          </p:cNvPicPr>
          <p:nvPr/>
        </p:nvPicPr>
        <p:blipFill rotWithShape="1">
          <a:blip r:embed="rId4" cstate="email">
            <a:alphaModFix/>
            <a:extLst>
              <a:ext uri="{28A0092B-C50C-407E-A947-70E740481C1C}">
                <a14:useLocalDpi xmlns:a14="http://schemas.microsoft.com/office/drawing/2010/main"/>
              </a:ext>
            </a:extLst>
          </a:blip>
          <a:srcRect/>
          <a:stretch/>
        </p:blipFill>
        <p:spPr>
          <a:xfrm>
            <a:off x="1811021" y="2493576"/>
            <a:ext cx="2636338" cy="2672852"/>
          </a:xfrm>
          <a:prstGeom prst="rect">
            <a:avLst/>
          </a:prstGeom>
          <a:noFill/>
          <a:ln>
            <a:noFill/>
          </a:ln>
        </p:spPr>
      </p:pic>
      <mc:AlternateContent xmlns:mc="http://schemas.openxmlformats.org/markup-compatibility/2006" xmlns:a14="http://schemas.microsoft.com/office/drawing/2010/main">
        <mc:Choice Requires="a14">
          <p:sp>
            <p:nvSpPr>
              <p:cNvPr id="4" name="Google Shape;659;p26">
                <a:extLst>
                  <a:ext uri="{FF2B5EF4-FFF2-40B4-BE49-F238E27FC236}">
                    <a16:creationId xmlns:a16="http://schemas.microsoft.com/office/drawing/2014/main" id="{5474CCAE-BF4D-3DFD-6A2E-2D16590BB74A}"/>
                  </a:ext>
                </a:extLst>
              </p:cNvPr>
              <p:cNvSpPr txBox="1"/>
              <p:nvPr/>
            </p:nvSpPr>
            <p:spPr>
              <a:xfrm>
                <a:off x="5463814" y="1627463"/>
                <a:ext cx="4394298" cy="653581"/>
              </a:xfrm>
              <a:prstGeom prst="rect">
                <a:avLst/>
              </a:prstGeom>
              <a:noFill/>
              <a:ln>
                <a:noFill/>
              </a:ln>
            </p:spPr>
            <p:txBody>
              <a:bodyPr spcFirstLastPara="1" wrap="square" lIns="91425" tIns="45700" rIns="91425" bIns="45700" anchor="t" anchorCtr="0">
                <a:noAutofit/>
              </a:bodyPr>
              <a:lstStyle/>
              <a:p>
                <a:pPr marL="1031875" marR="0" lvl="0" indent="-514350" algn="l" rtl="0">
                  <a:spcBef>
                    <a:spcPts val="0"/>
                  </a:spcBef>
                  <a:spcAft>
                    <a:spcPts val="600"/>
                  </a:spcAft>
                  <a:buClr>
                    <a:srgbClr val="000000"/>
                  </a:buClr>
                  <a:buSzPts val="2800"/>
                  <a:buFont typeface="+mj-lt"/>
                  <a:buAutoNum type="alphaLcPeriod" startAt="4"/>
                </a:pPr>
                <a:r>
                  <a:rPr lang="en-US" sz="2800" dirty="0">
                    <a:latin typeface="Calibri" panose="020F0502020204030204" pitchFamily="34" charset="0"/>
                    <a:ea typeface="Calibri" panose="020F0502020204030204" pitchFamily="34" charset="0"/>
                    <a:cs typeface="Calibri" panose="020F0502020204030204" pitchFamily="34" charset="0"/>
                  </a:rPr>
                  <a:t> </a:t>
                </a:r>
                <a:r>
                  <a:rPr lang="en-US" sz="2800" i="1" dirty="0">
                    <a:latin typeface="Calibri" panose="020F0502020204030204" pitchFamily="34" charset="0"/>
                    <a:ea typeface="Calibri" panose="020F0502020204030204" pitchFamily="34" charset="0"/>
                    <a:cs typeface="Calibri" panose="020F0502020204030204" pitchFamily="34" charset="0"/>
                  </a:rPr>
                  <a:t>g</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a:t>
                </a:r>
                <a14:m>
                  <m:oMath xmlns:m="http://schemas.openxmlformats.org/officeDocument/2006/math">
                    <m:f>
                      <m:fPr>
                        <m:ctrlPr>
                          <a:rPr lang="en-US" sz="2800" i="1" smtClean="0">
                            <a:latin typeface="Cambria Math" panose="02040503050406030204" pitchFamily="18" charset="0"/>
                            <a:ea typeface="Calibri" panose="020F0502020204030204" pitchFamily="34" charset="0"/>
                            <a:cs typeface="Calibri" panose="020F0502020204030204" pitchFamily="34" charset="0"/>
                          </a:rPr>
                        </m:ctrlPr>
                      </m:fPr>
                      <m:num>
                        <m:r>
                          <a:rPr lang="en-US" sz="2800" b="0" i="1" smtClean="0">
                            <a:latin typeface="Cambria Math" panose="02040503050406030204" pitchFamily="18" charset="0"/>
                            <a:ea typeface="Calibri" panose="020F0502020204030204" pitchFamily="34" charset="0"/>
                            <a:cs typeface="Calibri" panose="020F0502020204030204" pitchFamily="34" charset="0"/>
                          </a:rPr>
                          <m:t>1</m:t>
                        </m:r>
                      </m:num>
                      <m:den>
                        <m:r>
                          <a:rPr lang="en-US" sz="2800" b="0" i="1" smtClean="0">
                            <a:latin typeface="Cambria Math" panose="02040503050406030204" pitchFamily="18" charset="0"/>
                            <a:ea typeface="Calibri" panose="020F0502020204030204" pitchFamily="34" charset="0"/>
                            <a:cs typeface="Calibri" panose="020F0502020204030204" pitchFamily="34" charset="0"/>
                          </a:rPr>
                          <m:t>2</m:t>
                        </m:r>
                      </m:den>
                    </m:f>
                  </m:oMath>
                </a14:m>
                <a:r>
                  <a:rPr lang="en-US" sz="2800" dirty="0">
                    <a:latin typeface="Calibri" panose="020F0502020204030204" pitchFamily="34" charset="0"/>
                    <a:ea typeface="Calibri" panose="020F0502020204030204" pitchFamily="34" charset="0"/>
                    <a:cs typeface="Calibri" panose="020F0502020204030204" pitchFamily="34" charset="0"/>
                  </a:rPr>
                  <a:t> ∙ </a:t>
                </a:r>
                <a:r>
                  <a:rPr lang="en-US" sz="2800" i="1" dirty="0">
                    <a:latin typeface="Calibri" panose="020F0502020204030204" pitchFamily="34" charset="0"/>
                    <a:ea typeface="Calibri" panose="020F0502020204030204" pitchFamily="34" charset="0"/>
                    <a:cs typeface="Calibri" panose="020F0502020204030204" pitchFamily="34" charset="0"/>
                  </a:rPr>
                  <a:t>f</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− 3</a:t>
                </a:r>
                <a:endParaRPr sz="2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 name="Google Shape;659;p26">
                <a:extLst>
                  <a:ext uri="{FF2B5EF4-FFF2-40B4-BE49-F238E27FC236}">
                    <a16:creationId xmlns:a16="http://schemas.microsoft.com/office/drawing/2014/main" id="{5474CCAE-BF4D-3DFD-6A2E-2D16590BB74A}"/>
                  </a:ext>
                </a:extLst>
              </p:cNvPr>
              <p:cNvSpPr txBox="1">
                <a:spLocks noRot="1" noChangeAspect="1" noMove="1" noResize="1" noEditPoints="1" noAdjustHandles="1" noChangeArrowheads="1" noChangeShapeType="1" noTextEdit="1"/>
              </p:cNvSpPr>
              <p:nvPr/>
            </p:nvSpPr>
            <p:spPr>
              <a:xfrm>
                <a:off x="5463814" y="1627463"/>
                <a:ext cx="4394298" cy="653581"/>
              </a:xfrm>
              <a:prstGeom prst="rect">
                <a:avLst/>
              </a:prstGeom>
              <a:blipFill>
                <a:blip r:embed="rId5"/>
                <a:stretch>
                  <a:fillRect b="-20561"/>
                </a:stretch>
              </a:blipFill>
              <a:ln>
                <a:noFill/>
              </a:ln>
            </p:spPr>
            <p:txBody>
              <a:bodyPr/>
              <a:lstStyle/>
              <a:p>
                <a:r>
                  <a:rPr lang="en-US">
                    <a:noFill/>
                  </a:rPr>
                  <a:t> </a:t>
                </a:r>
              </a:p>
            </p:txBody>
          </p:sp>
        </mc:Fallback>
      </mc:AlternateContent>
      <p:pic>
        <p:nvPicPr>
          <p:cNvPr id="832" name="Google Shape;832;p47" descr="A graph of line f of x = x on the coordinate plane. The line rises from left to right through the points (0, 0) and (2, 2).">
            <a:extLst>
              <a:ext uri="{FF2B5EF4-FFF2-40B4-BE49-F238E27FC236}">
                <a16:creationId xmlns:a16="http://schemas.microsoft.com/office/drawing/2014/main" id="{11505A71-19A1-5C79-212B-306770095FDE}"/>
              </a:ext>
            </a:extLst>
          </p:cNvPr>
          <p:cNvPicPr>
            <a:picLocks noChangeAspect="1"/>
          </p:cNvPicPr>
          <p:nvPr/>
        </p:nvPicPr>
        <p:blipFill rotWithShape="1">
          <a:blip r:embed="rId6" cstate="email">
            <a:alphaModFix/>
            <a:extLst>
              <a:ext uri="{28A0092B-C50C-407E-A947-70E740481C1C}">
                <a14:useLocalDpi xmlns:a14="http://schemas.microsoft.com/office/drawing/2010/main"/>
              </a:ext>
            </a:extLst>
          </a:blip>
          <a:srcRect/>
          <a:stretch/>
        </p:blipFill>
        <p:spPr>
          <a:xfrm>
            <a:off x="6477672" y="2573907"/>
            <a:ext cx="2636338" cy="2592521"/>
          </a:xfrm>
          <a:prstGeom prst="rect">
            <a:avLst/>
          </a:prstGeom>
          <a:noFill/>
          <a:ln>
            <a:noFill/>
          </a:ln>
        </p:spPr>
      </p:pic>
      <p:sp>
        <p:nvSpPr>
          <p:cNvPr id="1832" name="Slide Number 1832"/>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51</a:t>
            </a:fld>
          </a:p>
        </p:txBody>
      </p:sp>
      <p:sp>
        <p:nvSpPr>
          <p:cNvPr id="1833" name="Answer 1833"/>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280</a:t>
            </a:r>
          </a:p>
        </p:txBody>
      </p:sp>
      <p:sp>
        <p:nvSpPr>
          <p:cNvPr id="1834" name="Answer 1834"/>
          <p:cNvSpPr txBox="1"/>
          <p:nvPr/>
        </p:nvSpPr>
        <p:spPr>
          <a:xfrm>
            <a:off x="762000" y="5334000"/>
            <a:ext cx="4826000" cy="1397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g(x) = (1/3)x + 2</a:t>
            </a:r>
          </a:p>
          <a:p>
            <a:pPr marL="0" indent="0" algn="l">
              <a:spcBef>
                <a:spcPts val="0"/>
              </a:spcBef>
              <a:spcAft>
                <a:spcPts val="300"/>
              </a:spcAft>
              <a:buNone/>
            </a:pPr>
            <a:r>
              <a:rPr lang="en-US" sz="1800" dirty="0">
                <a:solidFill>
                  <a:srgbClr val="FF0000"/>
                </a:solidFill>
              </a:rPr>
              <a:t>Vertical compression by a factor of 1/3, then up 2. Graph: through (0, 2), slope 1/3.</a:t>
            </a:r>
          </a:p>
        </p:txBody>
      </p:sp>
      <p:sp>
        <p:nvSpPr>
          <p:cNvPr id="1835" name="Answer 1835"/>
          <p:cNvSpPr txBox="1"/>
          <p:nvPr/>
        </p:nvSpPr>
        <p:spPr>
          <a:xfrm>
            <a:off x="5613400" y="5334000"/>
            <a:ext cx="5562600" cy="9398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g(x) = (1/2)x − 3</a:t>
            </a:r>
          </a:p>
          <a:p>
            <a:pPr marL="0" indent="0" algn="l">
              <a:spcBef>
                <a:spcPts val="0"/>
              </a:spcBef>
              <a:spcAft>
                <a:spcPts val="300"/>
              </a:spcAft>
              <a:buNone/>
            </a:pPr>
            <a:r>
              <a:rPr lang="en-US" sz="1800" dirty="0">
                <a:solidFill>
                  <a:srgbClr val="FF0000"/>
                </a:solidFill>
              </a:rPr>
              <a:t>Vertical compression by a factor of 1/2, then down 3. Graph: through (0, −3), slope 1/2.</a:t>
            </a:r>
          </a:p>
        </p:txBody>
      </p:sp>
    </p:spTree>
    <p:extLst>
      <p:ext uri="{BB962C8B-B14F-4D97-AF65-F5344CB8AC3E}">
        <p14:creationId xmlns:p14="http://schemas.microsoft.com/office/powerpoint/2010/main" val="2517205320"/>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83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8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27">
          <a:extLst>
            <a:ext uri="{FF2B5EF4-FFF2-40B4-BE49-F238E27FC236}">
              <a16:creationId xmlns:a16="http://schemas.microsoft.com/office/drawing/2014/main" id="{835ECF12-8D48-7659-19E8-CA1C4DF4B74B}"/>
            </a:ext>
          </a:extLst>
        </p:cNvPr>
        <p:cNvGrpSpPr/>
        <p:nvPr/>
      </p:nvGrpSpPr>
      <p:grpSpPr>
        <a:xfrm>
          <a:off x="0" y="0"/>
          <a:ext cx="0" cy="0"/>
          <a:chOff x="0" y="0"/>
          <a:chExt cx="0" cy="0"/>
        </a:xfrm>
      </p:grpSpPr>
      <p:sp>
        <p:nvSpPr>
          <p:cNvPr id="828" name="Google Shape;828;p47">
            <a:extLst>
              <a:ext uri="{FF2B5EF4-FFF2-40B4-BE49-F238E27FC236}">
                <a16:creationId xmlns:a16="http://schemas.microsoft.com/office/drawing/2014/main" id="{899ABEBE-8516-1B4D-8475-6C3D81E3A23E}"/>
              </a:ext>
            </a:extLst>
          </p:cNvPr>
          <p:cNvSpPr txBox="1">
            <a:spLocks noGrp="1"/>
          </p:cNvSpPr>
          <p:nvPr>
            <p:ph type="title"/>
          </p:nvPr>
        </p:nvSpPr>
        <p:spPr>
          <a:xfrm>
            <a:off x="764931" y="0"/>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3200"/>
              <a:buFont typeface="Calibri"/>
              <a:buNone/>
            </a:pPr>
            <a:r>
              <a:rPr lang="en-US" sz="3200" b="1" dirty="0"/>
              <a:t>Vertical Dilations and Vertical Translations of Functions </a:t>
            </a:r>
            <a:r>
              <a:rPr lang="en-US" sz="2000" b="1" dirty="0">
                <a:solidFill>
                  <a:schemeClr val="bg1"/>
                </a:solidFill>
              </a:rPr>
              <a:t>(3 of 6)</a:t>
            </a:r>
            <a:endParaRPr dirty="0">
              <a:solidFill>
                <a:schemeClr val="bg1"/>
              </a:solidFill>
            </a:endParaRPr>
          </a:p>
        </p:txBody>
      </p:sp>
      <p:sp>
        <p:nvSpPr>
          <p:cNvPr id="3" name="Google Shape;659;p26">
            <a:extLst>
              <a:ext uri="{FF2B5EF4-FFF2-40B4-BE49-F238E27FC236}">
                <a16:creationId xmlns:a16="http://schemas.microsoft.com/office/drawing/2014/main" id="{F823ACBA-5EAC-2AE5-58DB-5FFF483BB513}"/>
              </a:ext>
            </a:extLst>
          </p:cNvPr>
          <p:cNvSpPr txBox="1"/>
          <p:nvPr/>
        </p:nvSpPr>
        <p:spPr>
          <a:xfrm>
            <a:off x="764931" y="1758684"/>
            <a:ext cx="4394298" cy="589473"/>
          </a:xfrm>
          <a:prstGeom prst="rect">
            <a:avLst/>
          </a:prstGeom>
          <a:noFill/>
          <a:ln>
            <a:noFill/>
          </a:ln>
        </p:spPr>
        <p:txBody>
          <a:bodyPr spcFirstLastPara="1" wrap="square" lIns="91425" tIns="45700" rIns="91425" bIns="45700" anchor="t" anchorCtr="0">
            <a:noAutofit/>
          </a:bodyPr>
          <a:lstStyle/>
          <a:p>
            <a:pPr marL="514350" marR="0" lvl="0" indent="-514350" algn="l" rtl="0">
              <a:spcBef>
                <a:spcPts val="0"/>
              </a:spcBef>
              <a:spcAft>
                <a:spcPts val="600"/>
              </a:spcAft>
              <a:buClr>
                <a:srgbClr val="000000"/>
              </a:buClr>
              <a:buSzPts val="2800"/>
              <a:buFont typeface="+mj-lt"/>
              <a:buAutoNum type="alphaLcPeriod" startAt="5"/>
            </a:pPr>
            <a:r>
              <a:rPr lang="en-US" sz="2800" dirty="0">
                <a:latin typeface="Calibri" panose="020F0502020204030204" pitchFamily="34" charset="0"/>
                <a:ea typeface="Calibri" panose="020F0502020204030204" pitchFamily="34" charset="0"/>
                <a:cs typeface="Calibri" panose="020F0502020204030204" pitchFamily="34" charset="0"/>
              </a:rPr>
              <a:t> </a:t>
            </a:r>
            <a:r>
              <a:rPr lang="en-US" sz="2800" i="1" dirty="0">
                <a:latin typeface="Calibri" panose="020F0502020204030204" pitchFamily="34" charset="0"/>
                <a:ea typeface="Calibri" panose="020F0502020204030204" pitchFamily="34" charset="0"/>
                <a:cs typeface="Calibri" panose="020F0502020204030204" pitchFamily="34" charset="0"/>
              </a:rPr>
              <a:t>g</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−1 ∙ </a:t>
            </a:r>
            <a:r>
              <a:rPr lang="en-US" sz="2800" i="1" dirty="0">
                <a:latin typeface="Calibri" panose="020F0502020204030204" pitchFamily="34" charset="0"/>
                <a:ea typeface="Calibri" panose="020F0502020204030204" pitchFamily="34" charset="0"/>
                <a:cs typeface="Calibri" panose="020F0502020204030204" pitchFamily="34" charset="0"/>
              </a:rPr>
              <a:t>f</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− 4</a:t>
            </a:r>
            <a:endParaRPr sz="2800" dirty="0">
              <a:latin typeface="Calibri" panose="020F0502020204030204" pitchFamily="34" charset="0"/>
              <a:ea typeface="Calibri" panose="020F0502020204030204" pitchFamily="34" charset="0"/>
              <a:cs typeface="Calibri" panose="020F0502020204030204" pitchFamily="34" charset="0"/>
            </a:endParaRPr>
          </a:p>
        </p:txBody>
      </p:sp>
      <p:pic>
        <p:nvPicPr>
          <p:cNvPr id="831" name="Google Shape;831;p47" descr="A graph of line f of x = x on the coordinate plane. The line rises from left to right through the points (0, 0) and (2, 2).">
            <a:extLst>
              <a:ext uri="{FF2B5EF4-FFF2-40B4-BE49-F238E27FC236}">
                <a16:creationId xmlns:a16="http://schemas.microsoft.com/office/drawing/2014/main" id="{2CA8A1BC-D053-A25D-49CD-D2ADCC6AF3AC}"/>
              </a:ext>
            </a:extLst>
          </p:cNvPr>
          <p:cNvPicPr>
            <a:picLocks noChangeAspect="1"/>
          </p:cNvPicPr>
          <p:nvPr/>
        </p:nvPicPr>
        <p:blipFill rotWithShape="1">
          <a:blip r:embed="rId3" cstate="email">
            <a:alphaModFix/>
            <a:extLst>
              <a:ext uri="{28A0092B-C50C-407E-A947-70E740481C1C}">
                <a14:useLocalDpi xmlns:a14="http://schemas.microsoft.com/office/drawing/2010/main"/>
              </a:ext>
            </a:extLst>
          </a:blip>
          <a:srcRect/>
          <a:stretch/>
        </p:blipFill>
        <p:spPr>
          <a:xfrm>
            <a:off x="1811021" y="2493576"/>
            <a:ext cx="2636338" cy="2672852"/>
          </a:xfrm>
          <a:prstGeom prst="rect">
            <a:avLst/>
          </a:prstGeom>
          <a:noFill/>
          <a:ln>
            <a:noFill/>
          </a:ln>
        </p:spPr>
      </p:pic>
      <mc:AlternateContent xmlns:mc="http://schemas.openxmlformats.org/markup-compatibility/2006" xmlns:a14="http://schemas.microsoft.com/office/drawing/2010/main">
        <mc:Choice Requires="a14">
          <p:sp>
            <p:nvSpPr>
              <p:cNvPr id="4" name="Google Shape;659;p26">
                <a:extLst>
                  <a:ext uri="{FF2B5EF4-FFF2-40B4-BE49-F238E27FC236}">
                    <a16:creationId xmlns:a16="http://schemas.microsoft.com/office/drawing/2014/main" id="{E42A4738-F0B5-F269-B6D2-45A710EB0FAF}"/>
                  </a:ext>
                </a:extLst>
              </p:cNvPr>
              <p:cNvSpPr txBox="1"/>
              <p:nvPr/>
            </p:nvSpPr>
            <p:spPr>
              <a:xfrm>
                <a:off x="5463814" y="1627463"/>
                <a:ext cx="4394298" cy="653581"/>
              </a:xfrm>
              <a:prstGeom prst="rect">
                <a:avLst/>
              </a:prstGeom>
              <a:noFill/>
              <a:ln>
                <a:noFill/>
              </a:ln>
            </p:spPr>
            <p:txBody>
              <a:bodyPr spcFirstLastPara="1" wrap="square" lIns="91425" tIns="45700" rIns="91425" bIns="45700" anchor="t" anchorCtr="0">
                <a:noAutofit/>
              </a:bodyPr>
              <a:lstStyle/>
              <a:p>
                <a:pPr marL="1031875" marR="0" lvl="0" indent="-514350" algn="l" rtl="0">
                  <a:spcBef>
                    <a:spcPts val="0"/>
                  </a:spcBef>
                  <a:spcAft>
                    <a:spcPts val="600"/>
                  </a:spcAft>
                  <a:buClr>
                    <a:srgbClr val="000000"/>
                  </a:buClr>
                  <a:buSzPts val="2800"/>
                  <a:buFont typeface="+mj-lt"/>
                  <a:buAutoNum type="alphaLcPeriod" startAt="6"/>
                </a:pPr>
                <a:r>
                  <a:rPr lang="en-US" sz="2800" dirty="0">
                    <a:latin typeface="Calibri" panose="020F0502020204030204" pitchFamily="34" charset="0"/>
                    <a:ea typeface="Calibri" panose="020F0502020204030204" pitchFamily="34" charset="0"/>
                    <a:cs typeface="Calibri" panose="020F0502020204030204" pitchFamily="34" charset="0"/>
                  </a:rPr>
                  <a:t> </a:t>
                </a:r>
                <a:r>
                  <a:rPr lang="en-US" sz="2800" i="1" dirty="0">
                    <a:latin typeface="Calibri" panose="020F0502020204030204" pitchFamily="34" charset="0"/>
                    <a:ea typeface="Calibri" panose="020F0502020204030204" pitchFamily="34" charset="0"/>
                    <a:cs typeface="Calibri" panose="020F0502020204030204" pitchFamily="34" charset="0"/>
                  </a:rPr>
                  <a:t>g</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a:t>
                </a:r>
                <a14:m>
                  <m:oMath xmlns:m="http://schemas.openxmlformats.org/officeDocument/2006/math">
                    <m:r>
                      <a:rPr lang="en-US" sz="2800" b="0" i="0" smtClean="0">
                        <a:latin typeface="Cambria Math" panose="02040503050406030204" pitchFamily="18" charset="0"/>
                        <a:ea typeface="Calibri" panose="020F0502020204030204" pitchFamily="34" charset="0"/>
                        <a:cs typeface="Calibri" panose="020F0502020204030204" pitchFamily="34" charset="0"/>
                      </a:rPr>
                      <m:t>−</m:t>
                    </m:r>
                    <m:f>
                      <m:fPr>
                        <m:ctrlPr>
                          <a:rPr lang="en-US" sz="2800" i="1" smtClean="0">
                            <a:latin typeface="Cambria Math" panose="02040503050406030204" pitchFamily="18" charset="0"/>
                            <a:ea typeface="Calibri" panose="020F0502020204030204" pitchFamily="34" charset="0"/>
                            <a:cs typeface="Calibri" panose="020F0502020204030204" pitchFamily="34" charset="0"/>
                          </a:rPr>
                        </m:ctrlPr>
                      </m:fPr>
                      <m:num>
                        <m:r>
                          <a:rPr lang="en-US" sz="2800" b="0" i="1" smtClean="0">
                            <a:latin typeface="Cambria Math" panose="02040503050406030204" pitchFamily="18" charset="0"/>
                            <a:ea typeface="Calibri" panose="020F0502020204030204" pitchFamily="34" charset="0"/>
                            <a:cs typeface="Calibri" panose="020F0502020204030204" pitchFamily="34" charset="0"/>
                          </a:rPr>
                          <m:t>2</m:t>
                        </m:r>
                      </m:num>
                      <m:den>
                        <m:r>
                          <a:rPr lang="en-US" sz="2800" b="0" i="1" smtClean="0">
                            <a:latin typeface="Cambria Math" panose="02040503050406030204" pitchFamily="18" charset="0"/>
                            <a:ea typeface="Calibri" panose="020F0502020204030204" pitchFamily="34" charset="0"/>
                            <a:cs typeface="Calibri" panose="020F0502020204030204" pitchFamily="34" charset="0"/>
                          </a:rPr>
                          <m:t>3</m:t>
                        </m:r>
                      </m:den>
                    </m:f>
                  </m:oMath>
                </a14:m>
                <a:r>
                  <a:rPr lang="en-US" sz="2800" dirty="0">
                    <a:latin typeface="Calibri" panose="020F0502020204030204" pitchFamily="34" charset="0"/>
                    <a:ea typeface="Calibri" panose="020F0502020204030204" pitchFamily="34" charset="0"/>
                    <a:cs typeface="Calibri" panose="020F0502020204030204" pitchFamily="34" charset="0"/>
                  </a:rPr>
                  <a:t> ∙ </a:t>
                </a:r>
                <a:r>
                  <a:rPr lang="en-US" sz="2800" i="1" dirty="0">
                    <a:latin typeface="Calibri" panose="020F0502020204030204" pitchFamily="34" charset="0"/>
                    <a:ea typeface="Calibri" panose="020F0502020204030204" pitchFamily="34" charset="0"/>
                    <a:cs typeface="Calibri" panose="020F0502020204030204" pitchFamily="34" charset="0"/>
                  </a:rPr>
                  <a:t>f</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+ 5</a:t>
                </a:r>
                <a:endParaRPr sz="2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 name="Google Shape;659;p26">
                <a:extLst>
                  <a:ext uri="{FF2B5EF4-FFF2-40B4-BE49-F238E27FC236}">
                    <a16:creationId xmlns:a16="http://schemas.microsoft.com/office/drawing/2014/main" id="{E42A4738-F0B5-F269-B6D2-45A710EB0FAF}"/>
                  </a:ext>
                </a:extLst>
              </p:cNvPr>
              <p:cNvSpPr txBox="1">
                <a:spLocks noRot="1" noChangeAspect="1" noMove="1" noResize="1" noEditPoints="1" noAdjustHandles="1" noChangeArrowheads="1" noChangeShapeType="1" noTextEdit="1"/>
              </p:cNvSpPr>
              <p:nvPr/>
            </p:nvSpPr>
            <p:spPr>
              <a:xfrm>
                <a:off x="5463814" y="1627463"/>
                <a:ext cx="4394298" cy="653581"/>
              </a:xfrm>
              <a:prstGeom prst="rect">
                <a:avLst/>
              </a:prstGeom>
              <a:blipFill>
                <a:blip r:embed="rId4"/>
                <a:stretch>
                  <a:fillRect b="-20561"/>
                </a:stretch>
              </a:blipFill>
              <a:ln>
                <a:noFill/>
              </a:ln>
            </p:spPr>
            <p:txBody>
              <a:bodyPr/>
              <a:lstStyle/>
              <a:p>
                <a:r>
                  <a:rPr lang="en-US">
                    <a:noFill/>
                  </a:rPr>
                  <a:t> </a:t>
                </a:r>
              </a:p>
            </p:txBody>
          </p:sp>
        </mc:Fallback>
      </mc:AlternateContent>
      <p:pic>
        <p:nvPicPr>
          <p:cNvPr id="832" name="Google Shape;832;p47" descr="A graph of line f of x = x on the coordinate plane. The line rises from left to right through the points (0, 0) and (2, 2).">
            <a:extLst>
              <a:ext uri="{FF2B5EF4-FFF2-40B4-BE49-F238E27FC236}">
                <a16:creationId xmlns:a16="http://schemas.microsoft.com/office/drawing/2014/main" id="{502ED35A-E289-0A6F-13A9-CA8ED671B9BD}"/>
              </a:ext>
            </a:extLst>
          </p:cNvPr>
          <p:cNvPicPr>
            <a:picLocks noChangeAspect="1"/>
          </p:cNvPicPr>
          <p:nvPr/>
        </p:nvPicPr>
        <p:blipFill rotWithShape="1">
          <a:blip r:embed="rId5" cstate="email">
            <a:alphaModFix/>
            <a:extLst>
              <a:ext uri="{28A0092B-C50C-407E-A947-70E740481C1C}">
                <a14:useLocalDpi xmlns:a14="http://schemas.microsoft.com/office/drawing/2010/main"/>
              </a:ext>
            </a:extLst>
          </a:blip>
          <a:srcRect/>
          <a:stretch/>
        </p:blipFill>
        <p:spPr>
          <a:xfrm>
            <a:off x="6477672" y="2573907"/>
            <a:ext cx="2636338" cy="2592521"/>
          </a:xfrm>
          <a:prstGeom prst="rect">
            <a:avLst/>
          </a:prstGeom>
          <a:noFill/>
          <a:ln>
            <a:noFill/>
          </a:ln>
        </p:spPr>
      </p:pic>
      <p:sp>
        <p:nvSpPr>
          <p:cNvPr id="1832" name="Slide Number 1832"/>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52</a:t>
            </a:fld>
          </a:p>
        </p:txBody>
      </p:sp>
      <p:sp>
        <p:nvSpPr>
          <p:cNvPr id="1833" name="Answer 1833"/>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280</a:t>
            </a:r>
          </a:p>
        </p:txBody>
      </p:sp>
      <p:sp>
        <p:nvSpPr>
          <p:cNvPr id="1834" name="Answer 1834"/>
          <p:cNvSpPr txBox="1"/>
          <p:nvPr/>
        </p:nvSpPr>
        <p:spPr>
          <a:xfrm>
            <a:off x="762000" y="5270500"/>
            <a:ext cx="4826000" cy="1460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g(x) = −x − 4</a:t>
            </a:r>
          </a:p>
          <a:p>
            <a:pPr marL="0" indent="0" algn="l">
              <a:spcBef>
                <a:spcPts val="0"/>
              </a:spcBef>
              <a:spcAft>
                <a:spcPts val="300"/>
              </a:spcAft>
              <a:buNone/>
            </a:pPr>
            <a:r>
              <a:rPr lang="en-US" sz="1800" dirty="0">
                <a:solidFill>
                  <a:srgbClr val="FF0000"/>
                </a:solidFill>
              </a:rPr>
              <a:t>Reflection across the x-axis, then down 4. Graph: through (0, −4), slope −1.</a:t>
            </a:r>
          </a:p>
        </p:txBody>
      </p:sp>
      <p:sp>
        <p:nvSpPr>
          <p:cNvPr id="1835" name="Answer 1835"/>
          <p:cNvSpPr txBox="1"/>
          <p:nvPr/>
        </p:nvSpPr>
        <p:spPr>
          <a:xfrm>
            <a:off x="5461000" y="5270500"/>
            <a:ext cx="5715000" cy="14605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g(x) = −(2/3)x + 5</a:t>
            </a:r>
          </a:p>
          <a:p>
            <a:pPr marL="0" indent="0" algn="l">
              <a:spcBef>
                <a:spcPts val="0"/>
              </a:spcBef>
              <a:spcAft>
                <a:spcPts val="300"/>
              </a:spcAft>
              <a:buNone/>
            </a:pPr>
            <a:r>
              <a:rPr lang="en-US" sz="1800" dirty="0">
                <a:solidFill>
                  <a:srgbClr val="FF0000"/>
                </a:solidFill>
              </a:rPr>
              <a:t>Reflection across the x-axis and vertical compression by a factor of 2/3, then up 5. Graph: through (0, 5), slope −2/3.</a:t>
            </a:r>
          </a:p>
        </p:txBody>
      </p:sp>
    </p:spTree>
    <p:extLst>
      <p:ext uri="{BB962C8B-B14F-4D97-AF65-F5344CB8AC3E}">
        <p14:creationId xmlns:p14="http://schemas.microsoft.com/office/powerpoint/2010/main" val="4099145866"/>
      </p:ext>
    </p:extLst>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83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8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4" name="Google Shape;828;p47">
            <a:extLst>
              <a:ext uri="{FF2B5EF4-FFF2-40B4-BE49-F238E27FC236}">
                <a16:creationId xmlns:a16="http://schemas.microsoft.com/office/drawing/2014/main" id="{7D53C5AA-5A40-41A8-C4EB-427B8F3E39A6}"/>
              </a:ext>
            </a:extLst>
          </p:cNvPr>
          <p:cNvSpPr txBox="1">
            <a:spLocks noGrp="1"/>
          </p:cNvSpPr>
          <p:nvPr>
            <p:ph type="title"/>
          </p:nvPr>
        </p:nvSpPr>
        <p:spPr>
          <a:xfrm>
            <a:off x="764931" y="0"/>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3200"/>
              <a:buFont typeface="Calibri"/>
              <a:buNone/>
            </a:pPr>
            <a:r>
              <a:rPr lang="en-US" sz="3200" b="1" dirty="0"/>
              <a:t>Vertical Dilations and Vertical Translations of Functions </a:t>
            </a:r>
            <a:r>
              <a:rPr lang="en-US" sz="2000" b="1" dirty="0">
                <a:solidFill>
                  <a:schemeClr val="bg1"/>
                </a:solidFill>
              </a:rPr>
              <a:t>(4 of 6)</a:t>
            </a:r>
            <a:endParaRPr dirty="0">
              <a:solidFill>
                <a:schemeClr val="bg1"/>
              </a:solidFill>
            </a:endParaRPr>
          </a:p>
        </p:txBody>
      </p:sp>
      <p:sp>
        <p:nvSpPr>
          <p:cNvPr id="5" name="Google Shape;659;p26">
            <a:extLst>
              <a:ext uri="{FF2B5EF4-FFF2-40B4-BE49-F238E27FC236}">
                <a16:creationId xmlns:a16="http://schemas.microsoft.com/office/drawing/2014/main" id="{E4502B54-403A-1CD8-CAB7-5A56912E679F}"/>
              </a:ext>
            </a:extLst>
          </p:cNvPr>
          <p:cNvSpPr txBox="1"/>
          <p:nvPr/>
        </p:nvSpPr>
        <p:spPr>
          <a:xfrm>
            <a:off x="764931" y="1367406"/>
            <a:ext cx="10791178" cy="526828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1200"/>
              </a:spcAft>
              <a:buClr>
                <a:srgbClr val="000000"/>
              </a:buClr>
              <a:buSzPts val="2800"/>
              <a:buFont typeface="Arial"/>
              <a:buNone/>
            </a:pP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When a function is both translated and stretched vertically, the resulting function can be written in the form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a</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d</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where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d</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represents the vertical translation of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and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a</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represents the vertical dilation of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t>
            </a:r>
          </a:p>
          <a:p>
            <a:pPr marL="514350" marR="0" lvl="0" indent="-514350" algn="l" rtl="0">
              <a:spcBef>
                <a:spcPts val="0"/>
              </a:spcBef>
              <a:spcAft>
                <a:spcPts val="1200"/>
              </a:spcAft>
              <a:buClr>
                <a:srgbClr val="000000"/>
              </a:buClr>
              <a:buSzPts val="2800"/>
              <a:buFont typeface="+mj-lt"/>
              <a:buAutoNum type="arabicPeriod" startAt="2"/>
            </a:pPr>
            <a:r>
              <a:rPr lang="en-US" sz="2800" dirty="0">
                <a:latin typeface="Calibri" panose="020F0502020204030204" pitchFamily="34" charset="0"/>
                <a:ea typeface="Calibri" panose="020F0502020204030204" pitchFamily="34" charset="0"/>
                <a:cs typeface="Calibri" panose="020F0502020204030204" pitchFamily="34" charset="0"/>
              </a:rPr>
              <a:t>Consider the function </a:t>
            </a:r>
            <a:r>
              <a:rPr lang="en-US" sz="2800" i="1" dirty="0">
                <a:latin typeface="Calibri" panose="020F0502020204030204" pitchFamily="34" charset="0"/>
                <a:ea typeface="Calibri" panose="020F0502020204030204" pitchFamily="34" charset="0"/>
                <a:cs typeface="Calibri" panose="020F0502020204030204" pitchFamily="34" charset="0"/>
              </a:rPr>
              <a:t>g</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a</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d</a:t>
            </a:r>
            <a:r>
              <a:rPr lang="en-US" sz="2800" b="0" u="none" strike="noStrike" baseline="0" dirty="0">
                <a:latin typeface="Calibri" panose="020F0502020204030204" pitchFamily="34" charset="0"/>
                <a:ea typeface="Calibri" panose="020F0502020204030204" pitchFamily="34" charset="0"/>
                <a:cs typeface="Calibri" panose="020F0502020204030204" pitchFamily="34" charset="0"/>
              </a:rPr>
              <a:t>.</a:t>
            </a:r>
          </a:p>
          <a:p>
            <a:pPr marL="1031875" lvl="1" indent="-514350">
              <a:spcAft>
                <a:spcPts val="5190"/>
              </a:spcAft>
              <a:buSzPts val="2800"/>
              <a:buFont typeface="+mj-lt"/>
              <a:buAutoNum type="alphaLcPeriod"/>
            </a:pPr>
            <a:r>
              <a:rPr lang="en-US" sz="2800" dirty="0">
                <a:latin typeface="Calibri" panose="020F0502020204030204" pitchFamily="34" charset="0"/>
                <a:ea typeface="Calibri" panose="020F0502020204030204" pitchFamily="34" charset="0"/>
                <a:cs typeface="Calibri" panose="020F0502020204030204" pitchFamily="34" charset="0"/>
              </a:rPr>
              <a:t>How does changing the </a:t>
            </a:r>
            <a:r>
              <a:rPr lang="en-US" sz="2800" i="1" dirty="0">
                <a:latin typeface="Calibri" panose="020F0502020204030204" pitchFamily="34" charset="0"/>
                <a:ea typeface="Calibri" panose="020F0502020204030204" pitchFamily="34" charset="0"/>
                <a:cs typeface="Calibri" panose="020F0502020204030204" pitchFamily="34" charset="0"/>
              </a:rPr>
              <a:t>a</a:t>
            </a:r>
            <a:r>
              <a:rPr lang="en-US" sz="2800" dirty="0">
                <a:latin typeface="Calibri" panose="020F0502020204030204" pitchFamily="34" charset="0"/>
                <a:ea typeface="Calibri" panose="020F0502020204030204" pitchFamily="34" charset="0"/>
                <a:cs typeface="Calibri" panose="020F0502020204030204" pitchFamily="34" charset="0"/>
              </a:rPr>
              <a:t>-value affect the slope of the function? The </a:t>
            </a:r>
            <a:r>
              <a:rPr lang="en-US" sz="2800" i="1" dirty="0">
                <a:latin typeface="Calibri" panose="020F0502020204030204" pitchFamily="34" charset="0"/>
                <a:ea typeface="Calibri" panose="020F0502020204030204" pitchFamily="34" charset="0"/>
                <a:cs typeface="Calibri" panose="020F0502020204030204" pitchFamily="34" charset="0"/>
              </a:rPr>
              <a:t>y</a:t>
            </a:r>
            <a:r>
              <a:rPr lang="en-US" sz="2800" dirty="0">
                <a:latin typeface="Calibri" panose="020F0502020204030204" pitchFamily="34" charset="0"/>
                <a:ea typeface="Calibri" panose="020F0502020204030204" pitchFamily="34" charset="0"/>
                <a:cs typeface="Calibri" panose="020F0502020204030204" pitchFamily="34" charset="0"/>
              </a:rPr>
              <a:t>-intercept of the function?</a:t>
            </a: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endParaRPr lang="en-US" sz="2800" dirty="0">
              <a:latin typeface="Calibri" panose="020F0502020204030204" pitchFamily="34" charset="0"/>
              <a:ea typeface="Calibri" panose="020F0502020204030204" pitchFamily="34" charset="0"/>
              <a:cs typeface="Calibri" panose="020F0502020204030204" pitchFamily="34" charset="0"/>
            </a:endParaRPr>
          </a:p>
          <a:p>
            <a:pPr marL="1031875" lvl="1" indent="-514350">
              <a:spcAft>
                <a:spcPts val="5190"/>
              </a:spcAft>
              <a:buSzPts val="2800"/>
              <a:buFont typeface="+mj-lt"/>
              <a:buAutoNum type="alphaLcPeriod"/>
            </a:pPr>
            <a:r>
              <a:rPr lang="en-US" sz="2800" dirty="0">
                <a:latin typeface="Calibri" panose="020F0502020204030204" pitchFamily="34" charset="0"/>
                <a:ea typeface="Calibri" panose="020F0502020204030204" pitchFamily="34" charset="0"/>
                <a:cs typeface="Calibri" panose="020F0502020204030204" pitchFamily="34" charset="0"/>
              </a:rPr>
              <a:t>How does changing the </a:t>
            </a:r>
            <a:r>
              <a:rPr lang="en-US" sz="2800" i="1" dirty="0">
                <a:latin typeface="Calibri" panose="020F0502020204030204" pitchFamily="34" charset="0"/>
                <a:ea typeface="Calibri" panose="020F0502020204030204" pitchFamily="34" charset="0"/>
                <a:cs typeface="Calibri" panose="020F0502020204030204" pitchFamily="34" charset="0"/>
              </a:rPr>
              <a:t>d</a:t>
            </a:r>
            <a:r>
              <a:rPr lang="en-US" sz="2800" dirty="0">
                <a:latin typeface="Calibri" panose="020F0502020204030204" pitchFamily="34" charset="0"/>
                <a:ea typeface="Calibri" panose="020F0502020204030204" pitchFamily="34" charset="0"/>
                <a:cs typeface="Calibri" panose="020F0502020204030204" pitchFamily="34" charset="0"/>
              </a:rPr>
              <a:t>-value affect the slope of the function? The </a:t>
            </a:r>
            <a:r>
              <a:rPr lang="en-US" sz="2800" i="1" dirty="0">
                <a:latin typeface="Calibri" panose="020F0502020204030204" pitchFamily="34" charset="0"/>
                <a:ea typeface="Calibri" panose="020F0502020204030204" pitchFamily="34" charset="0"/>
                <a:cs typeface="Calibri" panose="020F0502020204030204" pitchFamily="34" charset="0"/>
              </a:rPr>
              <a:t>y</a:t>
            </a:r>
            <a:r>
              <a:rPr lang="en-US" sz="2800" dirty="0">
                <a:latin typeface="Calibri" panose="020F0502020204030204" pitchFamily="34" charset="0"/>
                <a:ea typeface="Calibri" panose="020F0502020204030204" pitchFamily="34" charset="0"/>
                <a:cs typeface="Calibri" panose="020F0502020204030204" pitchFamily="34" charset="0"/>
              </a:rPr>
              <a:t>-intercept of the function?</a:t>
            </a:r>
          </a:p>
        </p:txBody>
      </p:sp>
      <p:sp>
        <p:nvSpPr>
          <p:cNvPr id="1005" name="Slide Number 100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53</a:t>
            </a:fld>
          </a:p>
        </p:txBody>
      </p:sp>
      <p:sp>
        <p:nvSpPr>
          <p:cNvPr id="1006" name="Answer 1006"/>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281</a:t>
            </a:r>
          </a:p>
        </p:txBody>
      </p:sp>
      <p:sp>
        <p:nvSpPr>
          <p:cNvPr id="1007" name="Answer 1007"/>
          <p:cNvSpPr txBox="1"/>
          <p:nvPr/>
        </p:nvSpPr>
        <p:spPr>
          <a:xfrm>
            <a:off x="1841500" y="4330700"/>
            <a:ext cx="9620250" cy="6096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a. a changes the slope (for f(x) = x the slope becomes a: |a| &gt; 1 steeper, 0 &lt; |a| &lt; 1 less steep, a &lt; 0 reflected). It does not change the y-intercept.</a:t>
            </a:r>
          </a:p>
        </p:txBody>
      </p:sp>
      <p:sp>
        <p:nvSpPr>
          <p:cNvPr id="1008" name="Answer 1008"/>
          <p:cNvSpPr txBox="1"/>
          <p:nvPr/>
        </p:nvSpPr>
        <p:spPr>
          <a:xfrm>
            <a:off x="1841500" y="5861050"/>
            <a:ext cx="9620250" cy="6096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b. d does not change the slope. It changes the y-intercept to (0, d): d &gt; 0 moves the line up, d &lt; 0 moves it down.</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00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0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4" name="Google Shape;828;p47">
            <a:extLst>
              <a:ext uri="{FF2B5EF4-FFF2-40B4-BE49-F238E27FC236}">
                <a16:creationId xmlns:a16="http://schemas.microsoft.com/office/drawing/2014/main" id="{ED376AD8-39B7-9866-4BF4-CB7D2FE8A54B}"/>
              </a:ext>
            </a:extLst>
          </p:cNvPr>
          <p:cNvSpPr txBox="1">
            <a:spLocks noGrp="1"/>
          </p:cNvSpPr>
          <p:nvPr>
            <p:ph type="title"/>
          </p:nvPr>
        </p:nvSpPr>
        <p:spPr>
          <a:xfrm>
            <a:off x="764931" y="0"/>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3200"/>
              <a:buFont typeface="Calibri"/>
              <a:buNone/>
            </a:pPr>
            <a:r>
              <a:rPr lang="en-US" sz="3200" b="1" dirty="0"/>
              <a:t>Vertical Dilations and Vertical Translations of Functions </a:t>
            </a:r>
            <a:r>
              <a:rPr lang="en-US" sz="2000" b="1" dirty="0">
                <a:solidFill>
                  <a:schemeClr val="bg1"/>
                </a:solidFill>
              </a:rPr>
              <a:t>(5 of 6)</a:t>
            </a:r>
            <a:endParaRPr dirty="0">
              <a:solidFill>
                <a:schemeClr val="bg1"/>
              </a:solidFill>
            </a:endParaRPr>
          </a:p>
        </p:txBody>
      </p:sp>
      <p:sp>
        <p:nvSpPr>
          <p:cNvPr id="872" name="Google Shape;872;p51"/>
          <p:cNvSpPr txBox="1"/>
          <p:nvPr/>
        </p:nvSpPr>
        <p:spPr>
          <a:xfrm>
            <a:off x="764932" y="1616140"/>
            <a:ext cx="9906028"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b="0" i="0" u="none" strike="noStrike" dirty="0">
                <a:solidFill>
                  <a:srgbClr val="000000"/>
                </a:solidFill>
                <a:latin typeface="Calibri"/>
                <a:ea typeface="Calibri"/>
                <a:cs typeface="Calibri"/>
                <a:sym typeface="Calibri"/>
              </a:rPr>
              <a:t>Let’s summarize our learning from Activity 1.4!</a:t>
            </a:r>
            <a:endParaRPr dirty="0"/>
          </a:p>
          <a:p>
            <a:pPr marL="0" marR="0" lvl="0" indent="0" algn="l" rtl="0">
              <a:spcBef>
                <a:spcPts val="560"/>
              </a:spcBef>
              <a:spcAft>
                <a:spcPts val="0"/>
              </a:spcAft>
              <a:buClr>
                <a:schemeClr val="dk1"/>
              </a:buClr>
              <a:buSzPts val="2800"/>
              <a:buFont typeface="Arial"/>
              <a:buNone/>
            </a:pPr>
            <a:endParaRPr sz="2800" dirty="0">
              <a:solidFill>
                <a:srgbClr val="000000"/>
              </a:solidFill>
              <a:latin typeface="Calibri"/>
              <a:ea typeface="Calibri"/>
              <a:cs typeface="Calibri"/>
              <a:sym typeface="Calibri"/>
            </a:endParaRPr>
          </a:p>
          <a:p>
            <a:pPr marL="0" marR="0" lvl="0" indent="0" algn="l" rtl="0">
              <a:spcBef>
                <a:spcPts val="560"/>
              </a:spcBef>
              <a:spcAft>
                <a:spcPts val="0"/>
              </a:spcAft>
              <a:buClr>
                <a:schemeClr val="dk1"/>
              </a:buClr>
              <a:buSzPts val="2800"/>
              <a:buFont typeface="Arial"/>
              <a:buNone/>
            </a:pPr>
            <a:endParaRPr sz="2800" dirty="0">
              <a:solidFill>
                <a:srgbClr val="000000"/>
              </a:solidFill>
              <a:latin typeface="Calibri"/>
              <a:ea typeface="Calibri"/>
              <a:cs typeface="Calibri"/>
              <a:sym typeface="Calibri"/>
            </a:endParaRPr>
          </a:p>
          <a:p>
            <a:pPr marL="0" marR="0" lvl="0" indent="0" algn="l" rtl="0">
              <a:spcBef>
                <a:spcPts val="560"/>
              </a:spcBef>
              <a:spcAft>
                <a:spcPts val="0"/>
              </a:spcAft>
              <a:buClr>
                <a:schemeClr val="dk1"/>
              </a:buClr>
              <a:buSzPts val="2800"/>
              <a:buFont typeface="Arial"/>
              <a:buNone/>
            </a:pPr>
            <a:endParaRPr sz="2800" dirty="0">
              <a:solidFill>
                <a:srgbClr val="000000"/>
              </a:solidFill>
              <a:latin typeface="Calibri"/>
              <a:ea typeface="Calibri"/>
              <a:cs typeface="Calibri"/>
              <a:sym typeface="Calibri"/>
            </a:endParaRPr>
          </a:p>
        </p:txBody>
      </p:sp>
      <p:pic>
        <p:nvPicPr>
          <p:cNvPr id="873" name="Google Shape;873;p51">
            <a:extLst>
              <a:ext uri="{C183D7F6-B498-43B3-948B-1728B52AA6E4}">
                <adec:decorative xmlns:adec="http://schemas.microsoft.com/office/drawing/2017/decorative" val="1"/>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467637" y="372493"/>
            <a:ext cx="1501270" cy="518205"/>
          </a:xfrm>
          <a:prstGeom prst="rect">
            <a:avLst/>
          </a:prstGeom>
          <a:noFill/>
          <a:ln>
            <a:noFill/>
          </a:ln>
        </p:spPr>
      </p:pic>
      <p:sp>
        <p:nvSpPr>
          <p:cNvPr id="1873" name="Slide Number 1873"/>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54</a:t>
            </a:fld>
          </a:p>
        </p:txBody>
      </p:sp>
      <p:sp>
        <p:nvSpPr>
          <p:cNvPr id="1874" name="Answer 1874"/>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281</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878"/>
        <p:cNvGrpSpPr/>
        <p:nvPr/>
      </p:nvGrpSpPr>
      <p:grpSpPr>
        <a:xfrm>
          <a:off x="0" y="0"/>
          <a:ext cx="0" cy="0"/>
          <a:chOff x="0" y="0"/>
          <a:chExt cx="0" cy="0"/>
        </a:xfrm>
      </p:grpSpPr>
      <p:sp>
        <p:nvSpPr>
          <p:cNvPr id="880" name="Google Shape;880;p52">
            <a:extLst>
              <a:ext uri="{C183D7F6-B498-43B3-948B-1728B52AA6E4}">
                <adec:decorative xmlns:adec="http://schemas.microsoft.com/office/drawing/2017/decorative" val="1"/>
              </a:ext>
            </a:extLst>
          </p:cNvPr>
          <p:cNvSpPr txBox="1"/>
          <p:nvPr/>
        </p:nvSpPr>
        <p:spPr>
          <a:xfrm>
            <a:off x="777240" y="1616140"/>
            <a:ext cx="1047175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800"/>
              <a:buFont typeface="Arial"/>
              <a:buNone/>
            </a:pPr>
            <a:endParaRPr sz="2800">
              <a:solidFill>
                <a:srgbClr val="3A3838"/>
              </a:solidFill>
              <a:latin typeface="Calibri"/>
              <a:ea typeface="Calibri"/>
              <a:cs typeface="Calibri"/>
              <a:sym typeface="Calibri"/>
            </a:endParaRPr>
          </a:p>
        </p:txBody>
      </p:sp>
      <p:sp>
        <p:nvSpPr>
          <p:cNvPr id="4" name="Google Shape;828;p47">
            <a:extLst>
              <a:ext uri="{FF2B5EF4-FFF2-40B4-BE49-F238E27FC236}">
                <a16:creationId xmlns:a16="http://schemas.microsoft.com/office/drawing/2014/main" id="{59D2EF21-1FB3-FE45-63C5-88C7DCA93AF5}"/>
              </a:ext>
            </a:extLst>
          </p:cNvPr>
          <p:cNvSpPr txBox="1">
            <a:spLocks noGrp="1"/>
          </p:cNvSpPr>
          <p:nvPr>
            <p:ph type="title"/>
          </p:nvPr>
        </p:nvSpPr>
        <p:spPr>
          <a:xfrm>
            <a:off x="764931" y="0"/>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3200"/>
              <a:buFont typeface="Calibri"/>
              <a:buNone/>
            </a:pPr>
            <a:r>
              <a:rPr lang="en-US" sz="3200" b="1" dirty="0"/>
              <a:t>Vertical Dilations and Vertical Translations of Functions </a:t>
            </a:r>
            <a:r>
              <a:rPr lang="en-US" sz="2000" b="1" dirty="0">
                <a:solidFill>
                  <a:schemeClr val="bg1"/>
                </a:solidFill>
              </a:rPr>
              <a:t>(6 of 6)</a:t>
            </a:r>
            <a:endParaRPr dirty="0">
              <a:solidFill>
                <a:schemeClr val="bg1"/>
              </a:solidFill>
            </a:endParaRPr>
          </a:p>
        </p:txBody>
      </p:sp>
      <p:sp>
        <p:nvSpPr>
          <p:cNvPr id="1880" name="Slide Number 1880"/>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55</a:t>
            </a:fld>
          </a:p>
        </p:txBody>
      </p:sp>
      <p:sp>
        <p:nvSpPr>
          <p:cNvPr id="1881" name="Answer 1881"/>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 Essential · SE p. 281</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p53"/>
          <p:cNvSpPr txBox="1">
            <a:spLocks noGrp="1"/>
          </p:cNvSpPr>
          <p:nvPr>
            <p:ph type="title"/>
          </p:nvPr>
        </p:nvSpPr>
        <p:spPr>
          <a:xfrm>
            <a:off x="838200" y="-310393"/>
            <a:ext cx="10514013" cy="310393"/>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2000"/>
              <a:buFont typeface="Calibri"/>
              <a:buNone/>
            </a:pPr>
            <a:r>
              <a:rPr lang="en-US" sz="2000" dirty="0">
                <a:solidFill>
                  <a:schemeClr val="lt2"/>
                </a:solidFill>
                <a:latin typeface="Calibri"/>
                <a:ea typeface="Calibri"/>
                <a:cs typeface="Calibri"/>
                <a:sym typeface="Calibri"/>
              </a:rPr>
              <a:t>Activity 1.5</a:t>
            </a:r>
            <a:endParaRPr dirty="0"/>
          </a:p>
        </p:txBody>
      </p:sp>
      <p:sp>
        <p:nvSpPr>
          <p:cNvPr id="887" name="Google Shape;887;p53" descr="15 to 20 minutes"/>
          <p:cNvSpPr txBox="1">
            <a:spLocks noGrp="1"/>
          </p:cNvSpPr>
          <p:nvPr>
            <p:ph type="body" idx="2"/>
          </p:nvPr>
        </p:nvSpPr>
        <p:spPr>
          <a:xfrm>
            <a:off x="10614990" y="5780973"/>
            <a:ext cx="863947" cy="795338"/>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71616"/>
              </a:buClr>
              <a:buSzPts val="2000"/>
              <a:buNone/>
            </a:pPr>
            <a:r>
              <a:rPr lang="en-US" b="1" dirty="0"/>
              <a:t>15–20</a:t>
            </a:r>
            <a:endParaRPr dirty="0"/>
          </a:p>
        </p:txBody>
      </p:sp>
      <p:sp>
        <p:nvSpPr>
          <p:cNvPr id="888" name="Google Shape;888;p53">
            <a:extLst>
              <a:ext uri="{C183D7F6-B498-43B3-948B-1728B52AA6E4}">
                <adec:decorative xmlns:adec="http://schemas.microsoft.com/office/drawing/2017/decorative" val="1"/>
              </a:ext>
            </a:extLst>
          </p:cNvPr>
          <p:cNvSpPr txBox="1">
            <a:spLocks noGrp="1"/>
          </p:cNvSpPr>
          <p:nvPr>
            <p:ph type="body" idx="1"/>
          </p:nvPr>
        </p:nvSpPr>
        <p:spPr>
          <a:xfrm>
            <a:off x="6769100" y="2957776"/>
            <a:ext cx="2025986" cy="112553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7500"/>
              <a:buNone/>
            </a:pPr>
            <a:r>
              <a:rPr lang="en-US"/>
              <a:t>1.5</a:t>
            </a:r>
            <a:endParaRPr/>
          </a:p>
        </p:txBody>
      </p:sp>
      <p:sp>
        <p:nvSpPr>
          <p:cNvPr id="1888" name="Slide Number 1888"/>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56</a:t>
            </a:fld>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sp>
        <p:nvSpPr>
          <p:cNvPr id="894" name="Google Shape;894;p54"/>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Applying Linear Function Transformations </a:t>
            </a:r>
            <a:r>
              <a:rPr lang="en-US" sz="2000" b="1" dirty="0">
                <a:solidFill>
                  <a:schemeClr val="bg1"/>
                </a:solidFill>
              </a:rPr>
              <a:t>(1 of 6)</a:t>
            </a:r>
            <a:endParaRPr dirty="0">
              <a:solidFill>
                <a:schemeClr val="bg1"/>
              </a:solidFill>
            </a:endParaRPr>
          </a:p>
        </p:txBody>
      </p:sp>
      <p:pic>
        <p:nvPicPr>
          <p:cNvPr id="3" name="Picture 2" descr="Problem solving has 5 steps. Notice, organize, analyze, interpret, and report. Interpreting may also lead back to organizing.">
            <a:extLst>
              <a:ext uri="{FF2B5EF4-FFF2-40B4-BE49-F238E27FC236}">
                <a16:creationId xmlns:a16="http://schemas.microsoft.com/office/drawing/2014/main" id="{A6D4AC7F-2B44-5BD7-387C-023D2F41D69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77240" y="1481326"/>
            <a:ext cx="1546994" cy="2301439"/>
          </a:xfrm>
          <a:prstGeom prst="rect">
            <a:avLst/>
          </a:prstGeom>
        </p:spPr>
      </p:pic>
      <p:sp>
        <p:nvSpPr>
          <p:cNvPr id="4" name="TextBox 3">
            <a:extLst>
              <a:ext uri="{FF2B5EF4-FFF2-40B4-BE49-F238E27FC236}">
                <a16:creationId xmlns:a16="http://schemas.microsoft.com/office/drawing/2014/main" id="{538D0FEC-F3A9-ED6F-8145-DBE621093152}"/>
              </a:ext>
            </a:extLst>
          </p:cNvPr>
          <p:cNvSpPr txBox="1"/>
          <p:nvPr/>
        </p:nvSpPr>
        <p:spPr>
          <a:xfrm>
            <a:off x="2910980" y="1361448"/>
            <a:ext cx="8254767" cy="1815882"/>
          </a:xfrm>
          <a:prstGeom prst="rect">
            <a:avLst/>
          </a:prstGeom>
          <a:noFill/>
        </p:spPr>
        <p:txBody>
          <a:bodyPr wrap="square" rtlCol="0">
            <a:spAutoFit/>
          </a:bodyPr>
          <a:lstStyle/>
          <a:p>
            <a:pPr algn="l"/>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Your company is developing a new video game for kids, which involves scoring points by shooting targets with a cannon. The cannon starts at the origin of a coordinate system as shown.</a:t>
            </a:r>
            <a:endParaRPr lang="en-US" sz="2800" dirty="0">
              <a:latin typeface="Calibri" panose="020F0502020204030204" pitchFamily="34" charset="0"/>
              <a:ea typeface="Calibri" panose="020F0502020204030204" pitchFamily="34" charset="0"/>
              <a:cs typeface="Calibri" panose="020F0502020204030204" pitchFamily="34" charset="0"/>
            </a:endParaRPr>
          </a:p>
        </p:txBody>
      </p:sp>
      <p:pic>
        <p:nvPicPr>
          <p:cNvPr id="5" name="Google Shape;903;p55" descr="A graph of a cannon and four targets on the unnumbered coordinate plane. The cannon is at the origin, aimed along a line that rises from left to right through the points (1, 1) and (2, 2). The targets are at the approximate points (5, 3.5) and (negative 3, 6) and (negative 4, 0.5) and (1, negative 3).">
            <a:extLst>
              <a:ext uri="{FF2B5EF4-FFF2-40B4-BE49-F238E27FC236}">
                <a16:creationId xmlns:a16="http://schemas.microsoft.com/office/drawing/2014/main" id="{142AAAE7-52B0-5B25-A6C0-55FA2C9792C5}"/>
              </a:ext>
            </a:extLst>
          </p:cNvPr>
          <p:cNvPicPr>
            <a:picLocks noChangeAspect="1"/>
          </p:cNvPicPr>
          <p:nvPr/>
        </p:nvPicPr>
        <p:blipFill rotWithShape="1">
          <a:blip r:embed="rId4" cstate="email">
            <a:alphaModFix/>
            <a:extLst>
              <a:ext uri="{28A0092B-C50C-407E-A947-70E740481C1C}">
                <a14:useLocalDpi xmlns:a14="http://schemas.microsoft.com/office/drawing/2010/main"/>
              </a:ext>
            </a:extLst>
          </a:blip>
          <a:srcRect/>
          <a:stretch/>
        </p:blipFill>
        <p:spPr>
          <a:xfrm>
            <a:off x="5096312" y="3275585"/>
            <a:ext cx="3884102" cy="3414319"/>
          </a:xfrm>
          <a:prstGeom prst="rect">
            <a:avLst/>
          </a:prstGeom>
          <a:noFill/>
          <a:ln>
            <a:noFill/>
          </a:ln>
        </p:spPr>
      </p:pic>
      <p:sp>
        <p:nvSpPr>
          <p:cNvPr id="1894" name="Slide Number 1894"/>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57</a:t>
            </a:fld>
          </a:p>
        </p:txBody>
      </p:sp>
      <p:sp>
        <p:nvSpPr>
          <p:cNvPr id="1895" name="Answer 1895"/>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282</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p55"/>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Applying Linear Function Transformations </a:t>
            </a:r>
            <a:r>
              <a:rPr lang="en-US" sz="2000" b="1" dirty="0">
                <a:solidFill>
                  <a:schemeClr val="bg1"/>
                </a:solidFill>
              </a:rPr>
              <a:t>(2 of 6)</a:t>
            </a:r>
            <a:endParaRPr dirty="0">
              <a:solidFill>
                <a:schemeClr val="bg1"/>
              </a:solidFill>
            </a:endParaRPr>
          </a:p>
        </p:txBody>
      </p:sp>
      <p:sp>
        <p:nvSpPr>
          <p:cNvPr id="2" name="TextBox 1">
            <a:extLst>
              <a:ext uri="{FF2B5EF4-FFF2-40B4-BE49-F238E27FC236}">
                <a16:creationId xmlns:a16="http://schemas.microsoft.com/office/drawing/2014/main" id="{EAFE80F6-AD31-23E9-7BED-521A7C3679AE}"/>
              </a:ext>
            </a:extLst>
          </p:cNvPr>
          <p:cNvSpPr txBox="1"/>
          <p:nvPr/>
        </p:nvSpPr>
        <p:spPr>
          <a:xfrm>
            <a:off x="777240" y="1168502"/>
            <a:ext cx="10715677" cy="2246769"/>
          </a:xfrm>
          <a:prstGeom prst="rect">
            <a:avLst/>
          </a:prstGeom>
          <a:noFill/>
        </p:spPr>
        <p:txBody>
          <a:bodyPr wrap="square" rtlCol="0">
            <a:spAutoFit/>
          </a:bodyPr>
          <a:lstStyle/>
          <a:p>
            <a:pPr algn="l"/>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By default, it shoots along the line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Players can move the cannon up and down the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y</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-axis and also change the angle of the cannon. When a player shoots the cannon, the game program determines the values of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a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and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d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for the linear function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a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d</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If the target is on that line, the program will show an animation of the cannonball hitting the target.</a:t>
            </a:r>
            <a:endParaRPr lang="en-US" sz="2800" dirty="0">
              <a:latin typeface="Calibri" panose="020F0502020204030204" pitchFamily="34" charset="0"/>
              <a:ea typeface="Calibri" panose="020F0502020204030204" pitchFamily="34" charset="0"/>
              <a:cs typeface="Calibri" panose="020F0502020204030204" pitchFamily="34" charset="0"/>
            </a:endParaRPr>
          </a:p>
        </p:txBody>
      </p:sp>
      <p:pic>
        <p:nvPicPr>
          <p:cNvPr id="3" name="Google Shape;903;p55" descr="A graph of a cannon and four targets on the unnumbered coordinate plane. The cannon is at the origin, aimed along a line that rises from left to right through the points (1, 1) and (2, 2). The targets are at the approximate points (5, 3.5) and (negative 3, 6) and (negative 4, 0.5) and (1, negative 3).">
            <a:extLst>
              <a:ext uri="{FF2B5EF4-FFF2-40B4-BE49-F238E27FC236}">
                <a16:creationId xmlns:a16="http://schemas.microsoft.com/office/drawing/2014/main" id="{B8A1EF6B-68A7-0E49-D3D2-DCF65013BD43}"/>
              </a:ext>
            </a:extLst>
          </p:cNvPr>
          <p:cNvPicPr>
            <a:picLocks noChangeAspect="1"/>
          </p:cNvPicPr>
          <p:nvPr/>
        </p:nvPicPr>
        <p:blipFill rotWithShape="1">
          <a:blip r:embed="rId3" cstate="email">
            <a:alphaModFix/>
            <a:extLst>
              <a:ext uri="{28A0092B-C50C-407E-A947-70E740481C1C}">
                <a14:useLocalDpi xmlns:a14="http://schemas.microsoft.com/office/drawing/2010/main"/>
              </a:ext>
            </a:extLst>
          </a:blip>
          <a:srcRect/>
          <a:stretch/>
        </p:blipFill>
        <p:spPr>
          <a:xfrm>
            <a:off x="4193027" y="3380763"/>
            <a:ext cx="3884102" cy="3414319"/>
          </a:xfrm>
          <a:prstGeom prst="rect">
            <a:avLst/>
          </a:prstGeom>
          <a:noFill/>
          <a:ln>
            <a:noFill/>
          </a:ln>
        </p:spPr>
      </p:pic>
      <p:sp>
        <p:nvSpPr>
          <p:cNvPr id="1902" name="Slide Number 1902"/>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58</a:t>
            </a:fld>
          </a:p>
        </p:txBody>
      </p:sp>
      <p:sp>
        <p:nvSpPr>
          <p:cNvPr id="1903" name="Answer 1903"/>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282</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p56"/>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Applying Linear Function Transformations </a:t>
            </a:r>
            <a:r>
              <a:rPr lang="en-US" sz="2000" b="1" dirty="0">
                <a:solidFill>
                  <a:schemeClr val="bg1"/>
                </a:solidFill>
              </a:rPr>
              <a:t>(3 of 6)</a:t>
            </a:r>
            <a:endParaRPr dirty="0">
              <a:solidFill>
                <a:schemeClr val="bg1"/>
              </a:solidFill>
            </a:endParaRPr>
          </a:p>
        </p:txBody>
      </p:sp>
      <p:sp>
        <p:nvSpPr>
          <p:cNvPr id="2" name="Google Shape;904;p55">
            <a:extLst>
              <a:ext uri="{FF2B5EF4-FFF2-40B4-BE49-F238E27FC236}">
                <a16:creationId xmlns:a16="http://schemas.microsoft.com/office/drawing/2014/main" id="{60F33350-2598-C623-5A9E-36C97572C3C2}"/>
              </a:ext>
            </a:extLst>
          </p:cNvPr>
          <p:cNvSpPr/>
          <p:nvPr/>
        </p:nvSpPr>
        <p:spPr>
          <a:xfrm>
            <a:off x="777240" y="1918877"/>
            <a:ext cx="2091690" cy="2548889"/>
          </a:xfrm>
          <a:prstGeom prst="wedgeRoundRectCallout">
            <a:avLst>
              <a:gd name="adj1" fmla="val -36583"/>
              <a:gd name="adj2" fmla="val -61466"/>
              <a:gd name="adj3" fmla="val 16667"/>
            </a:avLst>
          </a:prstGeom>
          <a:solidFill>
            <a:schemeClr val="lt1"/>
          </a:solidFill>
          <a:ln w="19050" cap="flat" cmpd="sng">
            <a:solidFill>
              <a:schemeClr val="accent3">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b="1" dirty="0">
                <a:solidFill>
                  <a:schemeClr val="accent3">
                    <a:lumMod val="75000"/>
                  </a:schemeClr>
                </a:solidFill>
                <a:latin typeface="Calibri"/>
                <a:ea typeface="Calibri"/>
                <a:cs typeface="Calibri"/>
                <a:sym typeface="Calibri"/>
              </a:rPr>
              <a:t>Ask Yourself…</a:t>
            </a:r>
            <a:endParaRPr dirty="0">
              <a:solidFill>
                <a:schemeClr val="accent3">
                  <a:lumMod val="75000"/>
                </a:schemeClr>
              </a:solidFill>
            </a:endParaRPr>
          </a:p>
          <a:p>
            <a:pPr marL="0" marR="0" lvl="0" indent="0" algn="l" rtl="0">
              <a:spcBef>
                <a:spcPts val="0"/>
              </a:spcBef>
              <a:spcAft>
                <a:spcPts val="0"/>
              </a:spcAft>
              <a:buNone/>
            </a:pPr>
            <a:r>
              <a:rPr lang="en-US" sz="1800" dirty="0">
                <a:solidFill>
                  <a:srgbClr val="000000"/>
                </a:solidFill>
                <a:latin typeface="Calibri"/>
                <a:ea typeface="Calibri"/>
                <a:cs typeface="Calibri"/>
                <a:sym typeface="Calibri"/>
              </a:rPr>
              <a:t>The cannon can shoot in only one direction. Does that affect the domain or range of the linear function? </a:t>
            </a:r>
            <a:endParaRPr dirty="0"/>
          </a:p>
        </p:txBody>
      </p:sp>
      <p:sp>
        <p:nvSpPr>
          <p:cNvPr id="3" name="TextBox 2">
            <a:extLst>
              <a:ext uri="{FF2B5EF4-FFF2-40B4-BE49-F238E27FC236}">
                <a16:creationId xmlns:a16="http://schemas.microsoft.com/office/drawing/2014/main" id="{768A6C3A-83DE-38DD-901E-1BFB393D11CE}"/>
              </a:ext>
            </a:extLst>
          </p:cNvPr>
          <p:cNvSpPr txBox="1"/>
          <p:nvPr/>
        </p:nvSpPr>
        <p:spPr>
          <a:xfrm>
            <a:off x="3397541" y="1610686"/>
            <a:ext cx="7306811" cy="3539430"/>
          </a:xfrm>
          <a:prstGeom prst="rect">
            <a:avLst/>
          </a:prstGeom>
          <a:noFill/>
        </p:spPr>
        <p:txBody>
          <a:bodyPr wrap="square" rtlCol="0">
            <a:spAutoFit/>
          </a:bodyPr>
          <a:lstStyle/>
          <a:p>
            <a:pPr marL="511175" indent="-511175">
              <a:spcAft>
                <a:spcPts val="5680"/>
              </a:spcAft>
              <a:buFont typeface="+mj-lt"/>
              <a:buAutoNum type="arabicPeriod"/>
            </a:pPr>
            <a:r>
              <a:rPr lang="en-US" sz="2800" dirty="0">
                <a:latin typeface="Calibri" panose="020F0502020204030204" pitchFamily="34" charset="0"/>
                <a:ea typeface="Calibri" panose="020F0502020204030204" pitchFamily="34" charset="0"/>
                <a:cs typeface="Calibri" panose="020F0502020204030204" pitchFamily="34" charset="0"/>
              </a:rPr>
              <a:t>Test the program. Determine values for </a:t>
            </a:r>
            <a:r>
              <a:rPr lang="en-US" sz="2800" i="1" dirty="0">
                <a:latin typeface="Calibri" panose="020F0502020204030204" pitchFamily="34" charset="0"/>
                <a:ea typeface="Calibri" panose="020F0502020204030204" pitchFamily="34" charset="0"/>
                <a:cs typeface="Calibri" panose="020F0502020204030204" pitchFamily="34" charset="0"/>
              </a:rPr>
              <a:t>a</a:t>
            </a:r>
            <a:r>
              <a:rPr lang="en-US" sz="2800" dirty="0">
                <a:latin typeface="Calibri" panose="020F0502020204030204" pitchFamily="34" charset="0"/>
                <a:ea typeface="Calibri" panose="020F0502020204030204" pitchFamily="34" charset="0"/>
                <a:cs typeface="Calibri" panose="020F0502020204030204" pitchFamily="34" charset="0"/>
              </a:rPr>
              <a:t> and </a:t>
            </a:r>
            <a:r>
              <a:rPr lang="en-US" sz="2800" i="1" dirty="0">
                <a:latin typeface="Calibri" panose="020F0502020204030204" pitchFamily="34" charset="0"/>
                <a:ea typeface="Calibri" panose="020F0502020204030204" pitchFamily="34" charset="0"/>
                <a:cs typeface="Calibri" panose="020F0502020204030204" pitchFamily="34" charset="0"/>
              </a:rPr>
              <a:t>d</a:t>
            </a:r>
            <a:r>
              <a:rPr lang="en-US" sz="2800" dirty="0">
                <a:latin typeface="Calibri" panose="020F0502020204030204" pitchFamily="34" charset="0"/>
                <a:ea typeface="Calibri" panose="020F0502020204030204" pitchFamily="34" charset="0"/>
                <a:cs typeface="Calibri" panose="020F0502020204030204" pitchFamily="34" charset="0"/>
              </a:rPr>
              <a:t> for four linear functions that should hit the targets shown.</a:t>
            </a: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endParaRPr lang="en-US" sz="2800" dirty="0">
              <a:latin typeface="Calibri" panose="020F0502020204030204" pitchFamily="34" charset="0"/>
              <a:ea typeface="Calibri" panose="020F0502020204030204" pitchFamily="34" charset="0"/>
              <a:cs typeface="Calibri" panose="020F0502020204030204" pitchFamily="34" charset="0"/>
            </a:endParaRPr>
          </a:p>
          <a:p>
            <a:pPr marL="511175" indent="-511175">
              <a:spcAft>
                <a:spcPts val="5190"/>
              </a:spcAft>
              <a:buFont typeface="+mj-lt"/>
              <a:buAutoNum type="arabicPeriod"/>
            </a:pPr>
            <a:r>
              <a:rPr lang="en-US" sz="2800" dirty="0">
                <a:latin typeface="Calibri" panose="020F0502020204030204" pitchFamily="34" charset="0"/>
                <a:ea typeface="Calibri" panose="020F0502020204030204" pitchFamily="34" charset="0"/>
                <a:cs typeface="Calibri" panose="020F0502020204030204" pitchFamily="34" charset="0"/>
              </a:rPr>
              <a:t>Identify the domain on which each graph hits the target.</a:t>
            </a:r>
          </a:p>
        </p:txBody>
      </p:sp>
      <p:sp>
        <p:nvSpPr>
          <p:cNvPr id="1910" name="Slide Number 1910"/>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59</a:t>
            </a:fld>
          </a:p>
        </p:txBody>
      </p:sp>
      <p:sp>
        <p:nvSpPr>
          <p:cNvPr id="1911" name="Answer 1911"/>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282</a:t>
            </a:r>
          </a:p>
        </p:txBody>
      </p:sp>
      <p:sp>
        <p:nvSpPr>
          <p:cNvPr id="1912" name="Answer 1912"/>
          <p:cNvSpPr txBox="1"/>
          <p:nvPr/>
        </p:nvSpPr>
        <p:spPr>
          <a:xfrm>
            <a:off x="3956050" y="2971800"/>
            <a:ext cx="6654800" cy="6731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000" dirty="0">
                <a:solidFill>
                  <a:srgbClr val="FF0000"/>
                </a:solidFill>
              </a:rPr>
              <a:t>Sample: a = 0 with d = 6, 4, 1 and −3: horizontal lines through each target (move the cannon to (0, d)).</a:t>
            </a:r>
          </a:p>
        </p:txBody>
      </p:sp>
      <p:sp>
        <p:nvSpPr>
          <p:cNvPr id="1913" name="Answer 1913"/>
          <p:cNvSpPr txBox="1"/>
          <p:nvPr/>
        </p:nvSpPr>
        <p:spPr>
          <a:xfrm>
            <a:off x="3956050" y="4559300"/>
            <a:ext cx="6654800" cy="6096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The cannon shoots in only one direction. Targets in Quadrant II (left of the y-axis): domain x ≤ 0. Targets in Quadrants I and IV: domain x ≥ 0.</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9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9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7" name="Google Shape;917;p57"/>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Applying Linear Function Transformations </a:t>
            </a:r>
            <a:r>
              <a:rPr lang="en-US" sz="2000" b="1" dirty="0">
                <a:solidFill>
                  <a:schemeClr val="bg1"/>
                </a:solidFill>
              </a:rPr>
              <a:t>(4 of 6)</a:t>
            </a:r>
            <a:endParaRPr dirty="0">
              <a:solidFill>
                <a:schemeClr val="bg1"/>
              </a:solidFill>
            </a:endParaRPr>
          </a:p>
        </p:txBody>
      </p:sp>
      <p:sp>
        <p:nvSpPr>
          <p:cNvPr id="918" name="Google Shape;918;p57"/>
          <p:cNvSpPr txBox="1"/>
          <p:nvPr/>
        </p:nvSpPr>
        <p:spPr>
          <a:xfrm>
            <a:off x="777240" y="1595735"/>
            <a:ext cx="9910334" cy="92583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400"/>
              <a:buFont typeface="Arial"/>
              <a:buNone/>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The game developer is also testing two other versions of the game, with different abilities for the cannon.</a:t>
            </a:r>
            <a:endParaRPr sz="28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spcBef>
                <a:spcPts val="320"/>
              </a:spcBef>
              <a:spcAft>
                <a:spcPts val="0"/>
              </a:spcAft>
              <a:buClr>
                <a:schemeClr val="dk1"/>
              </a:buClr>
              <a:buSzPts val="1600"/>
              <a:buFont typeface="Arial"/>
              <a:buNone/>
            </a:pPr>
            <a:endParaRPr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2" name="TextBox 1">
            <a:extLst>
              <a:ext uri="{FF2B5EF4-FFF2-40B4-BE49-F238E27FC236}">
                <a16:creationId xmlns:a16="http://schemas.microsoft.com/office/drawing/2014/main" id="{5C3064C4-6DAA-0B0A-C257-95737BD25D25}"/>
              </a:ext>
            </a:extLst>
          </p:cNvPr>
          <p:cNvSpPr txBox="1"/>
          <p:nvPr/>
        </p:nvSpPr>
        <p:spPr>
          <a:xfrm>
            <a:off x="777240" y="2608976"/>
            <a:ext cx="5317966" cy="1815882"/>
          </a:xfrm>
          <a:prstGeom prst="rect">
            <a:avLst/>
          </a:prstGeom>
          <a:noFill/>
        </p:spPr>
        <p:txBody>
          <a:bodyPr wrap="square" rtlCol="0">
            <a:spAutoFit/>
          </a:bodyPr>
          <a:lstStyle/>
          <a:p>
            <a:r>
              <a:rPr lang="en-US" sz="2800" b="1" dirty="0">
                <a:latin typeface="Calibri" panose="020F0502020204030204" pitchFamily="34" charset="0"/>
                <a:ea typeface="Calibri" panose="020F0502020204030204" pitchFamily="34" charset="0"/>
                <a:cs typeface="Calibri" panose="020F0502020204030204" pitchFamily="34" charset="0"/>
              </a:rPr>
              <a:t>Version B</a:t>
            </a:r>
          </a:p>
          <a:p>
            <a:r>
              <a:rPr lang="en-US" sz="2800" dirty="0">
                <a:latin typeface="Calibri" panose="020F0502020204030204" pitchFamily="34" charset="0"/>
                <a:ea typeface="Calibri" panose="020F0502020204030204" pitchFamily="34" charset="0"/>
                <a:cs typeface="Calibri" panose="020F0502020204030204" pitchFamily="34" charset="0"/>
              </a:rPr>
              <a:t>The cannon can only shoot along a line parallel to </a:t>
            </a:r>
            <a:r>
              <a:rPr lang="en-US" sz="2800" i="1" dirty="0">
                <a:latin typeface="Calibri" panose="020F0502020204030204" pitchFamily="34" charset="0"/>
                <a:ea typeface="Calibri" panose="020F0502020204030204" pitchFamily="34" charset="0"/>
                <a:cs typeface="Calibri" panose="020F0502020204030204" pitchFamily="34" charset="0"/>
              </a:rPr>
              <a:t>f</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or </a:t>
            </a:r>
            <a:r>
              <a:rPr lang="en-US" sz="2800" i="1" dirty="0">
                <a:latin typeface="Calibri" panose="020F0502020204030204" pitchFamily="34" charset="0"/>
                <a:ea typeface="Calibri" panose="020F0502020204030204" pitchFamily="34" charset="0"/>
                <a:cs typeface="Calibri" panose="020F0502020204030204" pitchFamily="34" charset="0"/>
              </a:rPr>
              <a:t>f</a:t>
            </a:r>
            <a:r>
              <a:rPr lang="en-US" sz="2800" dirty="0">
                <a:latin typeface="Calibri" panose="020F0502020204030204" pitchFamily="34" charset="0"/>
                <a:ea typeface="Calibri" panose="020F0502020204030204" pitchFamily="34" charset="0"/>
                <a:cs typeface="Calibri" panose="020F0502020204030204" pitchFamily="34" charset="0"/>
              </a:rPr>
              <a:t>(</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 −</a:t>
            </a:r>
            <a:r>
              <a:rPr lang="en-US" sz="2800" i="1" dirty="0">
                <a:latin typeface="Calibri" panose="020F0502020204030204" pitchFamily="34" charset="0"/>
                <a:ea typeface="Calibri" panose="020F0502020204030204" pitchFamily="34" charset="0"/>
                <a:cs typeface="Calibri" panose="020F0502020204030204" pitchFamily="34" charset="0"/>
              </a:rPr>
              <a:t>x</a:t>
            </a:r>
            <a:r>
              <a:rPr lang="en-US" sz="2800" dirty="0">
                <a:latin typeface="Calibri" panose="020F0502020204030204" pitchFamily="34" charset="0"/>
                <a:ea typeface="Calibri" panose="020F0502020204030204" pitchFamily="34" charset="0"/>
                <a:cs typeface="Calibri" panose="020F0502020204030204" pitchFamily="34" charset="0"/>
              </a:rPr>
              <a:t>. It can move up and down the </a:t>
            </a:r>
            <a:r>
              <a:rPr lang="en-US" sz="2800" i="1" dirty="0">
                <a:latin typeface="Calibri" panose="020F0502020204030204" pitchFamily="34" charset="0"/>
                <a:ea typeface="Calibri" panose="020F0502020204030204" pitchFamily="34" charset="0"/>
                <a:cs typeface="Calibri" panose="020F0502020204030204" pitchFamily="34" charset="0"/>
              </a:rPr>
              <a:t>y</a:t>
            </a:r>
            <a:r>
              <a:rPr lang="en-US" sz="2800" dirty="0">
                <a:latin typeface="Calibri" panose="020F0502020204030204" pitchFamily="34" charset="0"/>
                <a:ea typeface="Calibri" panose="020F0502020204030204" pitchFamily="34" charset="0"/>
                <a:cs typeface="Calibri" panose="020F0502020204030204" pitchFamily="34" charset="0"/>
              </a:rPr>
              <a:t>-axis.</a:t>
            </a:r>
          </a:p>
        </p:txBody>
      </p:sp>
      <p:sp>
        <p:nvSpPr>
          <p:cNvPr id="3" name="TextBox 2">
            <a:extLst>
              <a:ext uri="{FF2B5EF4-FFF2-40B4-BE49-F238E27FC236}">
                <a16:creationId xmlns:a16="http://schemas.microsoft.com/office/drawing/2014/main" id="{6639901B-2E0D-8778-EEBF-C2C8973F3F57}"/>
              </a:ext>
            </a:extLst>
          </p:cNvPr>
          <p:cNvSpPr txBox="1"/>
          <p:nvPr/>
        </p:nvSpPr>
        <p:spPr>
          <a:xfrm>
            <a:off x="7004807" y="2608976"/>
            <a:ext cx="4408366" cy="1815882"/>
          </a:xfrm>
          <a:prstGeom prst="rect">
            <a:avLst/>
          </a:prstGeom>
          <a:noFill/>
        </p:spPr>
        <p:txBody>
          <a:bodyPr wrap="square" rtlCol="0">
            <a:spAutoFit/>
          </a:bodyPr>
          <a:lstStyle/>
          <a:p>
            <a:r>
              <a:rPr lang="en-US" sz="2800" b="1" dirty="0">
                <a:latin typeface="Calibri" panose="020F0502020204030204" pitchFamily="34" charset="0"/>
                <a:ea typeface="Calibri" panose="020F0502020204030204" pitchFamily="34" charset="0"/>
                <a:cs typeface="Calibri" panose="020F0502020204030204" pitchFamily="34" charset="0"/>
              </a:rPr>
              <a:t>Version C</a:t>
            </a:r>
          </a:p>
          <a:p>
            <a:r>
              <a:rPr lang="en-US" sz="2800" dirty="0">
                <a:latin typeface="Calibri" panose="020F0502020204030204" pitchFamily="34" charset="0"/>
                <a:ea typeface="Calibri" panose="020F0502020204030204" pitchFamily="34" charset="0"/>
                <a:cs typeface="Calibri" panose="020F0502020204030204" pitchFamily="34" charset="0"/>
              </a:rPr>
              <a:t>The cannon can change angles but remains fixed at the origin.</a:t>
            </a:r>
          </a:p>
        </p:txBody>
      </p:sp>
      <p:sp>
        <p:nvSpPr>
          <p:cNvPr id="4" name="Google Shape;918;p57">
            <a:extLst>
              <a:ext uri="{FF2B5EF4-FFF2-40B4-BE49-F238E27FC236}">
                <a16:creationId xmlns:a16="http://schemas.microsoft.com/office/drawing/2014/main" id="{A25028ED-4212-8C69-A279-6D284E3DE217}"/>
              </a:ext>
            </a:extLst>
          </p:cNvPr>
          <p:cNvSpPr txBox="1"/>
          <p:nvPr/>
        </p:nvSpPr>
        <p:spPr>
          <a:xfrm>
            <a:off x="777240" y="4558446"/>
            <a:ext cx="10111670" cy="1926243"/>
          </a:xfrm>
          <a:prstGeom prst="rect">
            <a:avLst/>
          </a:prstGeom>
          <a:noFill/>
          <a:ln>
            <a:noFill/>
          </a:ln>
        </p:spPr>
        <p:txBody>
          <a:bodyPr spcFirstLastPara="1" wrap="square" lIns="91425" tIns="45700" rIns="91425" bIns="45700" anchor="t" anchorCtr="0">
            <a:noAutofit/>
          </a:bodyPr>
          <a:lstStyle/>
          <a:p>
            <a:pPr marL="514350" marR="0" lvl="0" indent="-514350" algn="l" rtl="0">
              <a:spcBef>
                <a:spcPts val="0"/>
              </a:spcBef>
              <a:spcAft>
                <a:spcPts val="0"/>
              </a:spcAft>
              <a:buClr>
                <a:srgbClr val="000000"/>
              </a:buClr>
              <a:buSzPct val="100000"/>
              <a:buFont typeface="+mj-lt"/>
              <a:buAutoNum type="arabicPeriod" startAt="3"/>
            </a:pP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Determine the values for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a</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and </a:t>
            </a:r>
            <a:r>
              <a:rPr lang="en-US" sz="2800" i="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d</a:t>
            </a:r>
            <a:r>
              <a:rPr lang="en-US"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along with their corresponding domains, for four linear functions that can hit the targets in each version of the game. Show your work.</a:t>
            </a:r>
            <a:endParaRPr sz="2800" dirty="0">
              <a:latin typeface="Calibri" panose="020F0502020204030204" pitchFamily="34" charset="0"/>
              <a:ea typeface="Calibri" panose="020F0502020204030204" pitchFamily="34" charset="0"/>
              <a:cs typeface="Calibri" panose="020F0502020204030204" pitchFamily="34" charset="0"/>
            </a:endParaRPr>
          </a:p>
          <a:p>
            <a:pPr marL="0" marR="0" lvl="0" indent="0" algn="l" rtl="0">
              <a:spcBef>
                <a:spcPts val="320"/>
              </a:spcBef>
              <a:spcAft>
                <a:spcPts val="0"/>
              </a:spcAft>
              <a:buClr>
                <a:schemeClr val="dk1"/>
              </a:buClr>
              <a:buSzPts val="1600"/>
              <a:buFont typeface="Arial"/>
              <a:buNone/>
            </a:pPr>
            <a:endParaRPr sz="28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endParaRPr>
          </a:p>
        </p:txBody>
      </p:sp>
      <p:sp>
        <p:nvSpPr>
          <p:cNvPr id="1918" name="Slide Number 1918"/>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60</a:t>
            </a:fld>
          </a:p>
        </p:txBody>
      </p:sp>
      <p:sp>
        <p:nvSpPr>
          <p:cNvPr id="1919" name="Answer 1919"/>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283</a:t>
            </a:r>
          </a:p>
        </p:txBody>
      </p:sp>
      <p:sp>
        <p:nvSpPr>
          <p:cNvPr id="1920" name="Answer 1920"/>
          <p:cNvSpPr txBox="1"/>
          <p:nvPr/>
        </p:nvSpPr>
        <p:spPr>
          <a:xfrm>
            <a:off x="774700" y="5842000"/>
            <a:ext cx="5524500" cy="63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600" dirty="0">
                <a:solidFill>
                  <a:srgbClr val="FF0000"/>
                </a:solidFill>
              </a:rPr>
              <a:t>B (a = ±1, move d), clockwise from top left: a = −1, d = 2 (x ≤ 0);  a = 1, d = −1 (x ≥ 0);  a = −1, d = −2 (x ≥ 0);  a = −1, d = −4 (x ≤ 0)</a:t>
            </a:r>
          </a:p>
        </p:txBody>
      </p:sp>
      <p:sp>
        <p:nvSpPr>
          <p:cNvPr id="1921" name="Answer 1921"/>
          <p:cNvSpPr txBox="1"/>
          <p:nvPr/>
        </p:nvSpPr>
        <p:spPr>
          <a:xfrm>
            <a:off x="6413500" y="5842000"/>
            <a:ext cx="5588000" cy="635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600" dirty="0">
                <a:solidFill>
                  <a:srgbClr val="FF0000"/>
                </a:solidFill>
              </a:rPr>
              <a:t>C (d = 0, change a), clockwise from top left: a = −3/2 (x ≤ 0);  a = 4/5 (x ≥ 0);  a = −3 (x ≥ 0);  a = −1/5 (x ≤ 0)</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9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9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25"/>
        <p:cNvGrpSpPr/>
        <p:nvPr/>
      </p:nvGrpSpPr>
      <p:grpSpPr>
        <a:xfrm>
          <a:off x="0" y="0"/>
          <a:ext cx="0" cy="0"/>
          <a:chOff x="0" y="0"/>
          <a:chExt cx="0" cy="0"/>
        </a:xfrm>
      </p:grpSpPr>
      <p:sp>
        <p:nvSpPr>
          <p:cNvPr id="926" name="Google Shape;926;p58"/>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3600"/>
              <a:buFont typeface="Calibri"/>
              <a:buNone/>
            </a:pPr>
            <a:r>
              <a:rPr lang="en-US" b="1" dirty="0"/>
              <a:t>Applying Linear Function Transformations </a:t>
            </a:r>
            <a:r>
              <a:rPr lang="en-US" sz="2000" b="1" dirty="0">
                <a:solidFill>
                  <a:schemeClr val="bg1"/>
                </a:solidFill>
              </a:rPr>
              <a:t>(5 of 6)</a:t>
            </a:r>
            <a:endParaRPr dirty="0">
              <a:solidFill>
                <a:schemeClr val="bg1"/>
              </a:solidFill>
            </a:endParaRPr>
          </a:p>
        </p:txBody>
      </p:sp>
      <p:sp>
        <p:nvSpPr>
          <p:cNvPr id="927" name="Google Shape;927;p58"/>
          <p:cNvSpPr txBox="1"/>
          <p:nvPr/>
        </p:nvSpPr>
        <p:spPr>
          <a:xfrm>
            <a:off x="777240" y="1616140"/>
            <a:ext cx="989371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b="0" i="0" u="none" strike="noStrike">
                <a:solidFill>
                  <a:srgbClr val="000000"/>
                </a:solidFill>
                <a:latin typeface="Calibri"/>
                <a:ea typeface="Calibri"/>
                <a:cs typeface="Calibri"/>
                <a:sym typeface="Calibri"/>
              </a:rPr>
              <a:t>Let’s summarize our learning from Activity 1.5!</a:t>
            </a:r>
            <a:endParaRPr/>
          </a:p>
          <a:p>
            <a:pPr marL="0" marR="0" lvl="0" indent="0" algn="l" rtl="0">
              <a:spcBef>
                <a:spcPts val="560"/>
              </a:spcBef>
              <a:spcAft>
                <a:spcPts val="0"/>
              </a:spcAft>
              <a:buClr>
                <a:schemeClr val="dk1"/>
              </a:buClr>
              <a:buSzPts val="2800"/>
              <a:buFont typeface="Arial"/>
              <a:buNone/>
            </a:pPr>
            <a:endParaRPr sz="2800">
              <a:solidFill>
                <a:srgbClr val="000000"/>
              </a:solidFill>
              <a:latin typeface="Calibri"/>
              <a:ea typeface="Calibri"/>
              <a:cs typeface="Calibri"/>
              <a:sym typeface="Calibri"/>
            </a:endParaRPr>
          </a:p>
          <a:p>
            <a:pPr marL="0" marR="0" lvl="0" indent="0" algn="l" rtl="0">
              <a:spcBef>
                <a:spcPts val="560"/>
              </a:spcBef>
              <a:spcAft>
                <a:spcPts val="0"/>
              </a:spcAft>
              <a:buClr>
                <a:schemeClr val="dk1"/>
              </a:buClr>
              <a:buSzPts val="2800"/>
              <a:buFont typeface="Arial"/>
              <a:buNone/>
            </a:pPr>
            <a:endParaRPr sz="2800">
              <a:solidFill>
                <a:srgbClr val="000000"/>
              </a:solidFill>
              <a:latin typeface="Calibri"/>
              <a:ea typeface="Calibri"/>
              <a:cs typeface="Calibri"/>
              <a:sym typeface="Calibri"/>
            </a:endParaRPr>
          </a:p>
          <a:p>
            <a:pPr marL="0" marR="0" lvl="0" indent="0" algn="l" rtl="0">
              <a:spcBef>
                <a:spcPts val="560"/>
              </a:spcBef>
              <a:spcAft>
                <a:spcPts val="0"/>
              </a:spcAft>
              <a:buClr>
                <a:schemeClr val="dk1"/>
              </a:buClr>
              <a:buSzPts val="2800"/>
              <a:buFont typeface="Arial"/>
              <a:buNone/>
            </a:pPr>
            <a:endParaRPr sz="2800">
              <a:solidFill>
                <a:srgbClr val="000000"/>
              </a:solidFill>
              <a:latin typeface="Calibri"/>
              <a:ea typeface="Calibri"/>
              <a:cs typeface="Calibri"/>
              <a:sym typeface="Calibri"/>
            </a:endParaRPr>
          </a:p>
        </p:txBody>
      </p:sp>
      <p:pic>
        <p:nvPicPr>
          <p:cNvPr id="928" name="Google Shape;928;p58">
            <a:extLst>
              <a:ext uri="{C183D7F6-B498-43B3-948B-1728B52AA6E4}">
                <adec:decorative xmlns:adec="http://schemas.microsoft.com/office/drawing/2017/decorative" val="1"/>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174023" y="372494"/>
            <a:ext cx="1501270" cy="518205"/>
          </a:xfrm>
          <a:prstGeom prst="rect">
            <a:avLst/>
          </a:prstGeom>
          <a:noFill/>
          <a:ln>
            <a:noFill/>
          </a:ln>
        </p:spPr>
      </p:pic>
      <p:sp>
        <p:nvSpPr>
          <p:cNvPr id="1928" name="Slide Number 1928"/>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61</a:t>
            </a:fld>
          </a:p>
        </p:txBody>
      </p:sp>
      <p:sp>
        <p:nvSpPr>
          <p:cNvPr id="1929" name="Answer 1929"/>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283</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933"/>
        <p:cNvGrpSpPr/>
        <p:nvPr/>
      </p:nvGrpSpPr>
      <p:grpSpPr>
        <a:xfrm>
          <a:off x="0" y="0"/>
          <a:ext cx="0" cy="0"/>
          <a:chOff x="0" y="0"/>
          <a:chExt cx="0" cy="0"/>
        </a:xfrm>
      </p:grpSpPr>
      <p:sp>
        <p:nvSpPr>
          <p:cNvPr id="934" name="Google Shape;934;p59"/>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Applying Linear Function Transformations </a:t>
            </a:r>
            <a:r>
              <a:rPr lang="en-US" sz="2000" b="1" dirty="0">
                <a:solidFill>
                  <a:schemeClr val="bg1"/>
                </a:solidFill>
              </a:rPr>
              <a:t>(6 of 6)</a:t>
            </a:r>
            <a:endParaRPr dirty="0">
              <a:solidFill>
                <a:schemeClr val="bg1"/>
              </a:solidFill>
            </a:endParaRPr>
          </a:p>
        </p:txBody>
      </p:sp>
      <p:sp>
        <p:nvSpPr>
          <p:cNvPr id="935" name="Google Shape;935;p59">
            <a:extLst>
              <a:ext uri="{C183D7F6-B498-43B3-948B-1728B52AA6E4}">
                <adec:decorative xmlns:adec="http://schemas.microsoft.com/office/drawing/2017/decorative" val="1"/>
              </a:ext>
            </a:extLst>
          </p:cNvPr>
          <p:cNvSpPr txBox="1"/>
          <p:nvPr/>
        </p:nvSpPr>
        <p:spPr>
          <a:xfrm>
            <a:off x="777240" y="1616140"/>
            <a:ext cx="1047175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800"/>
              <a:buFont typeface="Arial"/>
              <a:buNone/>
            </a:pPr>
            <a:endParaRPr sz="2800">
              <a:solidFill>
                <a:srgbClr val="3A3838"/>
              </a:solidFill>
              <a:latin typeface="Calibri"/>
              <a:ea typeface="Calibri"/>
              <a:cs typeface="Calibri"/>
              <a:sym typeface="Calibri"/>
            </a:endParaRPr>
          </a:p>
        </p:txBody>
      </p:sp>
      <p:sp>
        <p:nvSpPr>
          <p:cNvPr id="1935" name="Slide Number 193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62</a:t>
            </a:fld>
          </a:p>
        </p:txBody>
      </p:sp>
      <p:sp>
        <p:nvSpPr>
          <p:cNvPr id="1936" name="Answer 1936"/>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283</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941" name="Google Shape;941;p60"/>
          <p:cNvSpPr txBox="1">
            <a:spLocks noGrp="1"/>
          </p:cNvSpPr>
          <p:nvPr>
            <p:ph type="title"/>
          </p:nvPr>
        </p:nvSpPr>
        <p:spPr>
          <a:xfrm>
            <a:off x="838200" y="-302004"/>
            <a:ext cx="10514013" cy="302004"/>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2000"/>
              <a:buFont typeface="Calibri"/>
              <a:buNone/>
            </a:pPr>
            <a:r>
              <a:rPr lang="en-US" sz="2000" dirty="0">
                <a:solidFill>
                  <a:schemeClr val="lt2"/>
                </a:solidFill>
                <a:latin typeface="Calibri"/>
                <a:ea typeface="Calibri"/>
                <a:cs typeface="Calibri"/>
                <a:sym typeface="Calibri"/>
              </a:rPr>
              <a:t>Talk the Talk</a:t>
            </a:r>
            <a:endParaRPr dirty="0"/>
          </a:p>
        </p:txBody>
      </p:sp>
      <p:sp>
        <p:nvSpPr>
          <p:cNvPr id="942" name="Google Shape;942;p60" descr="5 minutes"/>
          <p:cNvSpPr txBox="1">
            <a:spLocks noGrp="1"/>
          </p:cNvSpPr>
          <p:nvPr>
            <p:ph type="body" idx="1"/>
          </p:nvPr>
        </p:nvSpPr>
        <p:spPr>
          <a:xfrm>
            <a:off x="10623379" y="5780973"/>
            <a:ext cx="863947" cy="795338"/>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71616"/>
              </a:buClr>
              <a:buSzPts val="2000"/>
              <a:buNone/>
            </a:pPr>
            <a:r>
              <a:rPr lang="en-US" b="1" dirty="0"/>
              <a:t>5</a:t>
            </a:r>
            <a:endParaRPr dirty="0"/>
          </a:p>
        </p:txBody>
      </p:sp>
      <p:sp>
        <p:nvSpPr>
          <p:cNvPr id="1942" name="Slide Number 1942"/>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63</a:t>
            </a:fld>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8" name="Google Shape;948;p61"/>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Function Matching </a:t>
            </a:r>
            <a:r>
              <a:rPr lang="en-US" sz="2000" b="1" dirty="0">
                <a:solidFill>
                  <a:schemeClr val="bg1"/>
                </a:solidFill>
              </a:rPr>
              <a:t>(1 of 4)</a:t>
            </a:r>
            <a:endParaRPr dirty="0">
              <a:solidFill>
                <a:schemeClr val="bg1"/>
              </a:solidFill>
            </a:endParaRPr>
          </a:p>
        </p:txBody>
      </p:sp>
      <p:pic>
        <p:nvPicPr>
          <p:cNvPr id="950" name="Google Shape;950;p61" descr="A graph of 5 lines on the coordinate plane. Each line rises from left to right. The line f of x = x rises through the points (0, 0) and (2, 2). The line k of x rises through the points (0, 8) and (2, 10). The line h of x rises through the points (0, 0) and (2, 4). The line g of x rises through the points (0, 0) and (6, 2). The line j of x rises through the points (0, negative 7) and (2, negative 5)."/>
          <p:cNvPicPr>
            <a:picLocks noChangeAspect="1"/>
          </p:cNvPicPr>
          <p:nvPr/>
        </p:nvPicPr>
        <p:blipFill rotWithShape="1">
          <a:blip r:embed="rId3">
            <a:alphaModFix/>
          </a:blip>
          <a:srcRect/>
          <a:stretch/>
        </p:blipFill>
        <p:spPr>
          <a:xfrm>
            <a:off x="922145" y="2813688"/>
            <a:ext cx="3895925" cy="3743517"/>
          </a:xfrm>
          <a:prstGeom prst="rect">
            <a:avLst/>
          </a:prstGeom>
          <a:noFill/>
          <a:ln>
            <a:noFill/>
          </a:ln>
        </p:spPr>
      </p:pic>
      <mc:AlternateContent xmlns:mc="http://schemas.openxmlformats.org/markup-compatibility/2006" xmlns:a14="http://schemas.microsoft.com/office/drawing/2010/main">
        <mc:Choice Requires="a14">
          <p:graphicFrame>
            <p:nvGraphicFramePr>
              <p:cNvPr id="952" name="Google Shape;952;p61"/>
              <p:cNvGraphicFramePr/>
              <p:nvPr>
                <p:extLst>
                  <p:ext uri="{D42A27DB-BD31-4B8C-83A1-F6EECF244321}">
                    <p14:modId xmlns:p14="http://schemas.microsoft.com/office/powerpoint/2010/main" val="3455437189"/>
                  </p:ext>
                </p:extLst>
              </p:nvPr>
            </p:nvGraphicFramePr>
            <p:xfrm>
              <a:off x="6095206" y="3161349"/>
              <a:ext cx="2330252" cy="2980125"/>
            </p:xfrm>
            <a:graphic>
              <a:graphicData uri="http://schemas.openxmlformats.org/drawingml/2006/table">
                <a:tbl>
                  <a:tblPr firstRow="1" bandRow="1">
                    <a:noFill/>
                    <a:tableStyleId>{279AD5BC-A5CE-4E06-8A13-34D5E8DF52F5}</a:tableStyleId>
                  </a:tblPr>
                  <a:tblGrid>
                    <a:gridCol w="2330252">
                      <a:extLst>
                        <a:ext uri="{9D8B030D-6E8A-4147-A177-3AD203B41FA5}">
                          <a16:colId xmlns:a16="http://schemas.microsoft.com/office/drawing/2014/main" val="20000"/>
                        </a:ext>
                      </a:extLst>
                    </a:gridCol>
                  </a:tblGrid>
                  <a:tr h="596025">
                    <a:tc>
                      <a:txBody>
                        <a:bodyPr/>
                        <a:lstStyle/>
                        <a:p>
                          <a:pPr marL="0" marR="0" lvl="0" indent="0" algn="ctr" rtl="0">
                            <a:spcBef>
                              <a:spcPts val="0"/>
                            </a:spcBef>
                            <a:spcAft>
                              <a:spcPts val="0"/>
                            </a:spcAft>
                            <a:buNone/>
                          </a:pPr>
                          <a:r>
                            <a:rPr lang="en-US" sz="2000" dirty="0">
                              <a:latin typeface="Calibri" panose="020F0502020204030204" pitchFamily="34" charset="0"/>
                              <a:ea typeface="Calibri" panose="020F0502020204030204" pitchFamily="34" charset="0"/>
                              <a:cs typeface="Calibri" panose="020F0502020204030204" pitchFamily="34" charset="0"/>
                            </a:rPr>
                            <a:t>Transformations</a:t>
                          </a:r>
                          <a:endParaRPr sz="2000" dirty="0">
                            <a:latin typeface="Calibri" panose="020F0502020204030204" pitchFamily="34" charset="0"/>
                            <a:ea typeface="Calibri" panose="020F0502020204030204" pitchFamily="34" charset="0"/>
                            <a:cs typeface="Calibri" panose="020F0502020204030204" pitchFamily="34" charset="0"/>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2B8147"/>
                        </a:solidFill>
                      </a:tcPr>
                    </a:tc>
                    <a:extLst>
                      <a:ext uri="{0D108BD9-81ED-4DB2-BD59-A6C34878D82A}">
                        <a16:rowId xmlns:a16="http://schemas.microsoft.com/office/drawing/2014/main" val="10000"/>
                      </a:ext>
                    </a:extLst>
                  </a:tr>
                  <a:tr h="596025">
                    <a:tc>
                      <a:txBody>
                        <a:bodyPr/>
                        <a:lstStyle/>
                        <a:p>
                          <a:pPr marL="0" marR="0" lvl="0" indent="0" algn="ctr" rtl="0">
                            <a:spcBef>
                              <a:spcPts val="0"/>
                            </a:spcBef>
                            <a:spcAft>
                              <a:spcPts val="0"/>
                            </a:spcAft>
                            <a:buNone/>
                          </a:pPr>
                          <a14:m>
                            <m:oMath xmlns:m="http://schemas.openxmlformats.org/officeDocument/2006/math">
                              <m:f>
                                <m:fPr>
                                  <m:ctrlPr>
                                    <a:rPr lang="en-US" sz="200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ctrlPr>
                                </m:fPr>
                                <m:num>
                                  <m:r>
                                    <a:rPr lang="en-US" sz="2000" b="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t>1</m:t>
                                  </m:r>
                                </m:num>
                                <m:den>
                                  <m:r>
                                    <a:rPr lang="en-US" sz="2000" b="0" i="1" smtClean="0">
                                      <a:solidFill>
                                        <a:srgbClr val="000000"/>
                                      </a:solidFill>
                                      <a:latin typeface="Cambria Math" panose="02040503050406030204" pitchFamily="18" charset="0"/>
                                      <a:ea typeface="Calibri" panose="020F0502020204030204" pitchFamily="34" charset="0"/>
                                      <a:cs typeface="Calibri" panose="020F0502020204030204" pitchFamily="34" charset="0"/>
                                    </a:rPr>
                                    <m:t>3</m:t>
                                  </m:r>
                                </m:den>
                              </m:f>
                            </m:oMath>
                          </a14:m>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2000" i="1"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rPr>
                            <a:t>)</a:t>
                          </a:r>
                          <a:endParaRPr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596025">
                    <a:tc>
                      <a:txBody>
                        <a:bodyPr/>
                        <a:lstStyle/>
                        <a:p>
                          <a:pPr marL="0" marR="0" lvl="0" indent="0" algn="ctr" rtl="0">
                            <a:spcBef>
                              <a:spcPts val="0"/>
                            </a:spcBef>
                            <a:spcAft>
                              <a:spcPts val="0"/>
                            </a:spcAft>
                            <a:buNone/>
                          </a:pPr>
                          <a:r>
                            <a:rPr lang="en-US" sz="2000" b="0" dirty="0">
                              <a:solidFill>
                                <a:srgbClr val="000000"/>
                              </a:solidFill>
                              <a:ea typeface="Calibri" panose="020F0502020204030204" pitchFamily="34" charset="0"/>
                              <a:cs typeface="Calibri" panose="020F0502020204030204" pitchFamily="34" charset="0"/>
                            </a:rPr>
                            <a:t>2 ∙ </a:t>
                          </a:r>
                          <a:r>
                            <a:rPr lang="en-US" sz="2000" b="0" i="1" dirty="0">
                              <a:solidFill>
                                <a:srgbClr val="000000"/>
                              </a:solidFill>
                              <a:ea typeface="Calibri" panose="020F0502020204030204" pitchFamily="34" charset="0"/>
                              <a:cs typeface="Calibri" panose="020F0502020204030204" pitchFamily="34" charset="0"/>
                            </a:rPr>
                            <a:t>f</a:t>
                          </a:r>
                          <a:r>
                            <a:rPr lang="en-US" sz="2000" b="0" dirty="0">
                              <a:solidFill>
                                <a:srgbClr val="000000"/>
                              </a:solidFill>
                              <a:ea typeface="Calibri" panose="020F0502020204030204" pitchFamily="34" charset="0"/>
                              <a:cs typeface="Calibri" panose="020F0502020204030204" pitchFamily="34" charset="0"/>
                            </a:rPr>
                            <a:t>(</a:t>
                          </a:r>
                          <a:r>
                            <a:rPr lang="en-US" sz="2000" b="0" i="1" dirty="0">
                              <a:solidFill>
                                <a:srgbClr val="000000"/>
                              </a:solidFill>
                              <a:ea typeface="Calibri" panose="020F0502020204030204" pitchFamily="34" charset="0"/>
                              <a:cs typeface="Calibri" panose="020F0502020204030204" pitchFamily="34" charset="0"/>
                            </a:rPr>
                            <a:t>x</a:t>
                          </a:r>
                          <a:r>
                            <a:rPr lang="en-US" sz="2000" b="0" dirty="0">
                              <a:solidFill>
                                <a:srgbClr val="000000"/>
                              </a:solidFill>
                              <a:ea typeface="Calibri" panose="020F0502020204030204" pitchFamily="34" charset="0"/>
                              <a:cs typeface="Calibri" panose="020F0502020204030204" pitchFamily="34" charset="0"/>
                            </a:rPr>
                            <a:t>)</a:t>
                          </a:r>
                          <a:endParaRPr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596025">
                    <a:tc>
                      <a:txBody>
                        <a:bodyPr/>
                        <a:lstStyle/>
                        <a:p>
                          <a:pPr marL="0" marR="0" lvl="0" indent="0" algn="ctr" rtl="0">
                            <a:spcBef>
                              <a:spcPts val="0"/>
                            </a:spcBef>
                            <a:spcAft>
                              <a:spcPts val="0"/>
                            </a:spcAft>
                            <a:buNone/>
                          </a:pPr>
                          <a:r>
                            <a:rPr lang="en-US" sz="2000" b="0" i="1" dirty="0">
                              <a:solidFill>
                                <a:srgbClr val="000000"/>
                              </a:solidFill>
                              <a:ea typeface="Calibri" panose="020F0502020204030204" pitchFamily="34" charset="0"/>
                              <a:cs typeface="Calibri" panose="020F0502020204030204" pitchFamily="34" charset="0"/>
                            </a:rPr>
                            <a:t>f</a:t>
                          </a:r>
                          <a:r>
                            <a:rPr lang="en-US" sz="2000" b="0" dirty="0">
                              <a:solidFill>
                                <a:srgbClr val="000000"/>
                              </a:solidFill>
                              <a:ea typeface="Calibri" panose="020F0502020204030204" pitchFamily="34" charset="0"/>
                              <a:cs typeface="Calibri" panose="020F0502020204030204" pitchFamily="34" charset="0"/>
                            </a:rPr>
                            <a:t>(</a:t>
                          </a:r>
                          <a:r>
                            <a:rPr lang="en-US" sz="2000" b="0" i="1" dirty="0">
                              <a:solidFill>
                                <a:srgbClr val="000000"/>
                              </a:solidFill>
                              <a:ea typeface="Calibri" panose="020F0502020204030204" pitchFamily="34" charset="0"/>
                              <a:cs typeface="Calibri" panose="020F0502020204030204" pitchFamily="34" charset="0"/>
                            </a:rPr>
                            <a:t>x</a:t>
                          </a:r>
                          <a:r>
                            <a:rPr lang="en-US" sz="2000" b="0" dirty="0">
                              <a:solidFill>
                                <a:srgbClr val="000000"/>
                              </a:solidFill>
                              <a:ea typeface="Calibri" panose="020F0502020204030204" pitchFamily="34" charset="0"/>
                              <a:cs typeface="Calibri" panose="020F0502020204030204" pitchFamily="34" charset="0"/>
                            </a:rPr>
                            <a:t>) – 7</a:t>
                          </a:r>
                          <a:endParaRPr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596025">
                    <a:tc>
                      <a:txBody>
                        <a:bodyPr/>
                        <a:lstStyle/>
                        <a:p>
                          <a:pPr marL="0" marR="0" lvl="0" indent="0" algn="ctr" rtl="0">
                            <a:spcBef>
                              <a:spcPts val="0"/>
                            </a:spcBef>
                            <a:spcAft>
                              <a:spcPts val="0"/>
                            </a:spcAft>
                            <a:buNone/>
                          </a:pPr>
                          <a:r>
                            <a:rPr lang="en-US" sz="2000" b="0" i="1" dirty="0">
                              <a:solidFill>
                                <a:srgbClr val="000000"/>
                              </a:solidFill>
                              <a:ea typeface="Calibri" panose="020F0502020204030204" pitchFamily="34" charset="0"/>
                              <a:cs typeface="Calibri" panose="020F0502020204030204" pitchFamily="34" charset="0"/>
                            </a:rPr>
                            <a:t>f</a:t>
                          </a:r>
                          <a:r>
                            <a:rPr lang="en-US" sz="2000" b="0" dirty="0">
                              <a:solidFill>
                                <a:srgbClr val="000000"/>
                              </a:solidFill>
                              <a:ea typeface="Calibri" panose="020F0502020204030204" pitchFamily="34" charset="0"/>
                              <a:cs typeface="Calibri" panose="020F0502020204030204" pitchFamily="34" charset="0"/>
                            </a:rPr>
                            <a:t>(</a:t>
                          </a:r>
                          <a:r>
                            <a:rPr lang="en-US" sz="2000" b="0" i="1" dirty="0">
                              <a:solidFill>
                                <a:srgbClr val="000000"/>
                              </a:solidFill>
                              <a:ea typeface="Calibri" panose="020F0502020204030204" pitchFamily="34" charset="0"/>
                              <a:cs typeface="Calibri" panose="020F0502020204030204" pitchFamily="34" charset="0"/>
                            </a:rPr>
                            <a:t>x</a:t>
                          </a:r>
                          <a:r>
                            <a:rPr lang="en-US" sz="2000" b="0" dirty="0">
                              <a:solidFill>
                                <a:srgbClr val="000000"/>
                              </a:solidFill>
                              <a:ea typeface="Calibri" panose="020F0502020204030204" pitchFamily="34" charset="0"/>
                              <a:cs typeface="Calibri" panose="020F0502020204030204" pitchFamily="34" charset="0"/>
                            </a:rPr>
                            <a:t>) + 8</a:t>
                          </a:r>
                          <a:endParaRPr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bl>
              </a:graphicData>
            </a:graphic>
          </p:graphicFrame>
        </mc:Choice>
        <mc:Fallback xmlns="">
          <p:graphicFrame>
            <p:nvGraphicFramePr>
              <p:cNvPr id="952" name="Google Shape;952;p61"/>
              <p:cNvGraphicFramePr/>
              <p:nvPr>
                <p:extLst>
                  <p:ext uri="{D42A27DB-BD31-4B8C-83A1-F6EECF244321}">
                    <p14:modId xmlns:p14="http://schemas.microsoft.com/office/powerpoint/2010/main" val="3455437189"/>
                  </p:ext>
                </p:extLst>
              </p:nvPr>
            </p:nvGraphicFramePr>
            <p:xfrm>
              <a:off x="6095206" y="3161349"/>
              <a:ext cx="2330252" cy="2980125"/>
            </p:xfrm>
            <a:graphic>
              <a:graphicData uri="http://schemas.openxmlformats.org/drawingml/2006/table">
                <a:tbl>
                  <a:tblPr firstRow="1" bandRow="1">
                    <a:noFill/>
                    <a:tableStyleId>{279AD5BC-A5CE-4E06-8A13-34D5E8DF52F5}</a:tableStyleId>
                  </a:tblPr>
                  <a:tblGrid>
                    <a:gridCol w="2330252">
                      <a:extLst>
                        <a:ext uri="{9D8B030D-6E8A-4147-A177-3AD203B41FA5}">
                          <a16:colId xmlns:a16="http://schemas.microsoft.com/office/drawing/2014/main" val="20000"/>
                        </a:ext>
                      </a:extLst>
                    </a:gridCol>
                  </a:tblGrid>
                  <a:tr h="596025">
                    <a:tc>
                      <a:txBody>
                        <a:bodyPr/>
                        <a:lstStyle/>
                        <a:p>
                          <a:pPr marL="0" marR="0" lvl="0" indent="0" algn="ctr" rtl="0">
                            <a:spcBef>
                              <a:spcPts val="0"/>
                            </a:spcBef>
                            <a:spcAft>
                              <a:spcPts val="0"/>
                            </a:spcAft>
                            <a:buNone/>
                          </a:pPr>
                          <a:r>
                            <a:rPr lang="en-US" sz="2000" dirty="0">
                              <a:latin typeface="Calibri" panose="020F0502020204030204" pitchFamily="34" charset="0"/>
                              <a:ea typeface="Calibri" panose="020F0502020204030204" pitchFamily="34" charset="0"/>
                              <a:cs typeface="Calibri" panose="020F0502020204030204" pitchFamily="34" charset="0"/>
                            </a:rPr>
                            <a:t>Transformations</a:t>
                          </a:r>
                          <a:endParaRPr sz="2000" dirty="0">
                            <a:latin typeface="Calibri" panose="020F0502020204030204" pitchFamily="34" charset="0"/>
                            <a:ea typeface="Calibri" panose="020F0502020204030204" pitchFamily="34" charset="0"/>
                            <a:cs typeface="Calibri" panose="020F0502020204030204" pitchFamily="34" charset="0"/>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2B8147"/>
                        </a:solidFill>
                      </a:tcPr>
                    </a:tc>
                    <a:extLst>
                      <a:ext uri="{0D108BD9-81ED-4DB2-BD59-A6C34878D82A}">
                        <a16:rowId xmlns:a16="http://schemas.microsoft.com/office/drawing/2014/main" val="10000"/>
                      </a:ext>
                    </a:extLst>
                  </a:tr>
                  <a:tr h="596025">
                    <a:tc>
                      <a:txBody>
                        <a:bodyPr/>
                        <a:lstStyle/>
                        <a:p>
                          <a:endParaRPr lang="en-US"/>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blipFill>
                          <a:blip r:embed="rId4"/>
                          <a:stretch>
                            <a:fillRect l="-260" t="-101020" r="-521" b="-302041"/>
                          </a:stretch>
                        </a:blipFill>
                      </a:tcPr>
                    </a:tc>
                    <a:extLst>
                      <a:ext uri="{0D108BD9-81ED-4DB2-BD59-A6C34878D82A}">
                        <a16:rowId xmlns:a16="http://schemas.microsoft.com/office/drawing/2014/main" val="10001"/>
                      </a:ext>
                    </a:extLst>
                  </a:tr>
                  <a:tr h="596025">
                    <a:tc>
                      <a:txBody>
                        <a:bodyPr/>
                        <a:lstStyle/>
                        <a:p>
                          <a:pPr marL="0" marR="0" lvl="0" indent="0" algn="ctr" rtl="0">
                            <a:spcBef>
                              <a:spcPts val="0"/>
                            </a:spcBef>
                            <a:spcAft>
                              <a:spcPts val="0"/>
                            </a:spcAft>
                            <a:buNone/>
                          </a:pPr>
                          <a:r>
                            <a:rPr lang="en-US" sz="2000" b="0" dirty="0">
                              <a:solidFill>
                                <a:srgbClr val="000000"/>
                              </a:solidFill>
                              <a:ea typeface="Calibri" panose="020F0502020204030204" pitchFamily="34" charset="0"/>
                              <a:cs typeface="Calibri" panose="020F0502020204030204" pitchFamily="34" charset="0"/>
                            </a:rPr>
                            <a:t>2 ∙ </a:t>
                          </a:r>
                          <a:r>
                            <a:rPr lang="en-US" sz="2000" b="0" i="1" dirty="0">
                              <a:solidFill>
                                <a:srgbClr val="000000"/>
                              </a:solidFill>
                              <a:ea typeface="Calibri" panose="020F0502020204030204" pitchFamily="34" charset="0"/>
                              <a:cs typeface="Calibri" panose="020F0502020204030204" pitchFamily="34" charset="0"/>
                            </a:rPr>
                            <a:t>f</a:t>
                          </a:r>
                          <a:r>
                            <a:rPr lang="en-US" sz="2000" b="0" dirty="0">
                              <a:solidFill>
                                <a:srgbClr val="000000"/>
                              </a:solidFill>
                              <a:ea typeface="Calibri" panose="020F0502020204030204" pitchFamily="34" charset="0"/>
                              <a:cs typeface="Calibri" panose="020F0502020204030204" pitchFamily="34" charset="0"/>
                            </a:rPr>
                            <a:t>(</a:t>
                          </a:r>
                          <a:r>
                            <a:rPr lang="en-US" sz="2000" b="0" i="1" dirty="0">
                              <a:solidFill>
                                <a:srgbClr val="000000"/>
                              </a:solidFill>
                              <a:ea typeface="Calibri" panose="020F0502020204030204" pitchFamily="34" charset="0"/>
                              <a:cs typeface="Calibri" panose="020F0502020204030204" pitchFamily="34" charset="0"/>
                            </a:rPr>
                            <a:t>x</a:t>
                          </a:r>
                          <a:r>
                            <a:rPr lang="en-US" sz="2000" b="0" dirty="0">
                              <a:solidFill>
                                <a:srgbClr val="000000"/>
                              </a:solidFill>
                              <a:ea typeface="Calibri" panose="020F0502020204030204" pitchFamily="34" charset="0"/>
                              <a:cs typeface="Calibri" panose="020F0502020204030204" pitchFamily="34" charset="0"/>
                            </a:rPr>
                            <a:t>)</a:t>
                          </a:r>
                          <a:endParaRPr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596025">
                    <a:tc>
                      <a:txBody>
                        <a:bodyPr/>
                        <a:lstStyle/>
                        <a:p>
                          <a:pPr marL="0" marR="0" lvl="0" indent="0" algn="ctr" rtl="0">
                            <a:spcBef>
                              <a:spcPts val="0"/>
                            </a:spcBef>
                            <a:spcAft>
                              <a:spcPts val="0"/>
                            </a:spcAft>
                            <a:buNone/>
                          </a:pPr>
                          <a:r>
                            <a:rPr lang="en-US" sz="2000" b="0" i="1" dirty="0">
                              <a:solidFill>
                                <a:srgbClr val="000000"/>
                              </a:solidFill>
                              <a:ea typeface="Calibri" panose="020F0502020204030204" pitchFamily="34" charset="0"/>
                              <a:cs typeface="Calibri" panose="020F0502020204030204" pitchFamily="34" charset="0"/>
                            </a:rPr>
                            <a:t>f</a:t>
                          </a:r>
                          <a:r>
                            <a:rPr lang="en-US" sz="2000" b="0" dirty="0">
                              <a:solidFill>
                                <a:srgbClr val="000000"/>
                              </a:solidFill>
                              <a:ea typeface="Calibri" panose="020F0502020204030204" pitchFamily="34" charset="0"/>
                              <a:cs typeface="Calibri" panose="020F0502020204030204" pitchFamily="34" charset="0"/>
                            </a:rPr>
                            <a:t>(</a:t>
                          </a:r>
                          <a:r>
                            <a:rPr lang="en-US" sz="2000" b="0" i="1" dirty="0">
                              <a:solidFill>
                                <a:srgbClr val="000000"/>
                              </a:solidFill>
                              <a:ea typeface="Calibri" panose="020F0502020204030204" pitchFamily="34" charset="0"/>
                              <a:cs typeface="Calibri" panose="020F0502020204030204" pitchFamily="34" charset="0"/>
                            </a:rPr>
                            <a:t>x</a:t>
                          </a:r>
                          <a:r>
                            <a:rPr lang="en-US" sz="2000" b="0" dirty="0">
                              <a:solidFill>
                                <a:srgbClr val="000000"/>
                              </a:solidFill>
                              <a:ea typeface="Calibri" panose="020F0502020204030204" pitchFamily="34" charset="0"/>
                              <a:cs typeface="Calibri" panose="020F0502020204030204" pitchFamily="34" charset="0"/>
                            </a:rPr>
                            <a:t>) – 7</a:t>
                          </a:r>
                          <a:endParaRPr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596025">
                    <a:tc>
                      <a:txBody>
                        <a:bodyPr/>
                        <a:lstStyle/>
                        <a:p>
                          <a:pPr marL="0" marR="0" lvl="0" indent="0" algn="ctr" rtl="0">
                            <a:spcBef>
                              <a:spcPts val="0"/>
                            </a:spcBef>
                            <a:spcAft>
                              <a:spcPts val="0"/>
                            </a:spcAft>
                            <a:buNone/>
                          </a:pPr>
                          <a:r>
                            <a:rPr lang="en-US" sz="2000" b="0" i="1" dirty="0">
                              <a:solidFill>
                                <a:srgbClr val="000000"/>
                              </a:solidFill>
                              <a:ea typeface="Calibri" panose="020F0502020204030204" pitchFamily="34" charset="0"/>
                              <a:cs typeface="Calibri" panose="020F0502020204030204" pitchFamily="34" charset="0"/>
                            </a:rPr>
                            <a:t>f</a:t>
                          </a:r>
                          <a:r>
                            <a:rPr lang="en-US" sz="2000" b="0" dirty="0">
                              <a:solidFill>
                                <a:srgbClr val="000000"/>
                              </a:solidFill>
                              <a:ea typeface="Calibri" panose="020F0502020204030204" pitchFamily="34" charset="0"/>
                              <a:cs typeface="Calibri" panose="020F0502020204030204" pitchFamily="34" charset="0"/>
                            </a:rPr>
                            <a:t>(</a:t>
                          </a:r>
                          <a:r>
                            <a:rPr lang="en-US" sz="2000" b="0" i="1" dirty="0">
                              <a:solidFill>
                                <a:srgbClr val="000000"/>
                              </a:solidFill>
                              <a:ea typeface="Calibri" panose="020F0502020204030204" pitchFamily="34" charset="0"/>
                              <a:cs typeface="Calibri" panose="020F0502020204030204" pitchFamily="34" charset="0"/>
                            </a:rPr>
                            <a:t>x</a:t>
                          </a:r>
                          <a:r>
                            <a:rPr lang="en-US" sz="2000" b="0" dirty="0">
                              <a:solidFill>
                                <a:srgbClr val="000000"/>
                              </a:solidFill>
                              <a:ea typeface="Calibri" panose="020F0502020204030204" pitchFamily="34" charset="0"/>
                              <a:cs typeface="Calibri" panose="020F0502020204030204" pitchFamily="34" charset="0"/>
                            </a:rPr>
                            <a:t>) + 8</a:t>
                          </a:r>
                          <a:endParaRPr sz="2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txBody>
                      <a:tcPr marL="91450" marR="91450" marT="45725" marB="45725" anchor="ctr">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4"/>
                      </a:ext>
                    </a:extLst>
                  </a:tr>
                </a:tbl>
              </a:graphicData>
            </a:graphic>
          </p:graphicFrame>
        </mc:Fallback>
      </mc:AlternateContent>
      <p:sp>
        <p:nvSpPr>
          <p:cNvPr id="2" name="TextBox 1">
            <a:extLst>
              <a:ext uri="{FF2B5EF4-FFF2-40B4-BE49-F238E27FC236}">
                <a16:creationId xmlns:a16="http://schemas.microsoft.com/office/drawing/2014/main" id="{EB590765-BE7F-B865-9D51-11B4475F99F4}"/>
              </a:ext>
            </a:extLst>
          </p:cNvPr>
          <p:cNvSpPr txBox="1"/>
          <p:nvPr/>
        </p:nvSpPr>
        <p:spPr>
          <a:xfrm>
            <a:off x="922146" y="1610686"/>
            <a:ext cx="9740262" cy="954107"/>
          </a:xfrm>
          <a:prstGeom prst="rect">
            <a:avLst/>
          </a:prstGeom>
          <a:noFill/>
        </p:spPr>
        <p:txBody>
          <a:bodyPr wrap="square" rtlCol="0">
            <a:spAutoFit/>
          </a:bodyPr>
          <a:lstStyle/>
          <a:p>
            <a:pPr algn="l"/>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The graph shows the linear function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 =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and four transformations of </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f</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r>
              <a:rPr lang="en-US" sz="2800" b="0" i="1" u="none" strike="noStrike" baseline="0" dirty="0">
                <a:latin typeface="Calibri" panose="020F0502020204030204" pitchFamily="34" charset="0"/>
                <a:ea typeface="Calibri" panose="020F0502020204030204" pitchFamily="34" charset="0"/>
                <a:cs typeface="Calibri" panose="020F0502020204030204" pitchFamily="34" charset="0"/>
              </a:rPr>
              <a:t>x</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a:t>
            </a: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
        <p:nvSpPr>
          <p:cNvPr id="1952" name="Slide Number 1952"/>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64</a:t>
            </a:fld>
          </a:p>
        </p:txBody>
      </p:sp>
      <p:sp>
        <p:nvSpPr>
          <p:cNvPr id="1953" name="Answer 1953"/>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284</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sp>
        <p:nvSpPr>
          <p:cNvPr id="958" name="Google Shape;958;p62"/>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Function Matching </a:t>
            </a:r>
            <a:r>
              <a:rPr lang="en-US" sz="2000" b="1" dirty="0">
                <a:solidFill>
                  <a:schemeClr val="bg1"/>
                </a:solidFill>
              </a:rPr>
              <a:t>(2 of 4)</a:t>
            </a:r>
            <a:endParaRPr dirty="0">
              <a:solidFill>
                <a:schemeClr val="bg1"/>
              </a:solidFill>
            </a:endParaRPr>
          </a:p>
        </p:txBody>
      </p:sp>
      <p:sp>
        <p:nvSpPr>
          <p:cNvPr id="2" name="Google Shape;951;p61">
            <a:extLst>
              <a:ext uri="{FF2B5EF4-FFF2-40B4-BE49-F238E27FC236}">
                <a16:creationId xmlns:a16="http://schemas.microsoft.com/office/drawing/2014/main" id="{7E87F3A4-23C7-406C-F142-34C5D62FEC7C}"/>
              </a:ext>
            </a:extLst>
          </p:cNvPr>
          <p:cNvSpPr/>
          <p:nvPr/>
        </p:nvSpPr>
        <p:spPr>
          <a:xfrm>
            <a:off x="777240" y="1846159"/>
            <a:ext cx="2326687" cy="1693996"/>
          </a:xfrm>
          <a:prstGeom prst="wedgeRoundRectCallout">
            <a:avLst>
              <a:gd name="adj1" fmla="val -30166"/>
              <a:gd name="adj2" fmla="val -65415"/>
              <a:gd name="adj3" fmla="val 16667"/>
            </a:avLst>
          </a:prstGeom>
          <a:solidFill>
            <a:schemeClr val="lt1"/>
          </a:solidFill>
          <a:ln w="19050" cap="flat" cmpd="sng">
            <a:solidFill>
              <a:schemeClr val="accent3">
                <a:lumMod val="75000"/>
              </a:schemeClr>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000" b="1" dirty="0">
                <a:solidFill>
                  <a:schemeClr val="accent3">
                    <a:lumMod val="75000"/>
                  </a:schemeClr>
                </a:solidFill>
                <a:latin typeface="Calibri" panose="020F0502020204030204" pitchFamily="34" charset="0"/>
                <a:ea typeface="Calibri" panose="020F0502020204030204" pitchFamily="34" charset="0"/>
                <a:cs typeface="Calibri" panose="020F0502020204030204" pitchFamily="34" charset="0"/>
                <a:sym typeface="Calibri"/>
              </a:rPr>
              <a:t>Ask Yourself…</a:t>
            </a:r>
            <a:endParaRPr sz="2000" dirty="0">
              <a:solidFill>
                <a:schemeClr val="accent3">
                  <a:lumMod val="75000"/>
                </a:schemeClr>
              </a:solidFill>
              <a:latin typeface="Calibri" panose="020F0502020204030204" pitchFamily="34" charset="0"/>
              <a:ea typeface="Calibri" panose="020F0502020204030204" pitchFamily="34" charset="0"/>
              <a:cs typeface="Calibri" panose="020F0502020204030204" pitchFamily="34" charset="0"/>
            </a:endParaRPr>
          </a:p>
          <a:p>
            <a:pPr marL="0" marR="0" lvl="0" indent="0" algn="l" rtl="0">
              <a:spcBef>
                <a:spcPts val="0"/>
              </a:spcBef>
              <a:spcAft>
                <a:spcPts val="0"/>
              </a:spcAft>
              <a:buNone/>
            </a:pPr>
            <a:r>
              <a:rPr lang="en-US" sz="200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Did you justify your mathematical reasoning?</a:t>
            </a:r>
            <a:endParaRPr sz="2000" dirty="0">
              <a:latin typeface="Calibri" panose="020F0502020204030204" pitchFamily="34" charset="0"/>
              <a:ea typeface="Calibri" panose="020F0502020204030204" pitchFamily="34" charset="0"/>
              <a:cs typeface="Calibri" panose="020F0502020204030204" pitchFamily="34" charset="0"/>
            </a:endParaRPr>
          </a:p>
        </p:txBody>
      </p:sp>
      <p:sp>
        <p:nvSpPr>
          <p:cNvPr id="959" name="Google Shape;959;p62"/>
          <p:cNvSpPr txBox="1"/>
          <p:nvPr/>
        </p:nvSpPr>
        <p:spPr>
          <a:xfrm>
            <a:off x="3347206" y="1628044"/>
            <a:ext cx="7877264" cy="45546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1200"/>
              </a:spcAft>
              <a:buClr>
                <a:srgbClr val="000000"/>
              </a:buClr>
              <a:buSzPts val="2800"/>
              <a:buFont typeface="Arial"/>
              <a:buNone/>
            </a:pPr>
            <a:r>
              <a:rPr lang="en-US" sz="2800" dirty="0">
                <a:solidFill>
                  <a:srgbClr val="000000"/>
                </a:solidFill>
                <a:latin typeface="Calibri"/>
                <a:ea typeface="Calibri"/>
                <a:cs typeface="Calibri"/>
                <a:sym typeface="Calibri"/>
              </a:rPr>
              <a:t>Match each transformed graph to one of the transformations in the table. Explain your reasoning.</a:t>
            </a:r>
          </a:p>
          <a:p>
            <a:pPr marL="514350" marR="0" lvl="0" indent="-514350" algn="l" rtl="0">
              <a:spcBef>
                <a:spcPts val="0"/>
              </a:spcBef>
              <a:spcAft>
                <a:spcPts val="0"/>
              </a:spcAft>
              <a:buClr>
                <a:srgbClr val="000000"/>
              </a:buClr>
              <a:buSzPts val="2800"/>
              <a:buFont typeface="+mj-lt"/>
              <a:buAutoNum type="arabicPeriod"/>
            </a:pPr>
            <a:r>
              <a:rPr lang="en-US" sz="2800" b="0" i="0" u="none" strike="noStrike" dirty="0">
                <a:latin typeface="Calibri"/>
                <a:ea typeface="Calibri"/>
                <a:cs typeface="Calibri"/>
                <a:sym typeface="Calibri"/>
              </a:rPr>
              <a:t> </a:t>
            </a:r>
            <a:r>
              <a:rPr lang="en-US" sz="2800" b="0" i="1" u="none" strike="noStrike" dirty="0">
                <a:latin typeface="Calibri"/>
                <a:ea typeface="Calibri"/>
                <a:cs typeface="Calibri"/>
                <a:sym typeface="Calibri"/>
              </a:rPr>
              <a:t>k</a:t>
            </a:r>
            <a:r>
              <a:rPr lang="en-US" sz="2800" b="0" i="0" u="none" strike="noStrike" dirty="0">
                <a:latin typeface="Calibri"/>
                <a:ea typeface="Calibri"/>
                <a:cs typeface="Calibri"/>
                <a:sym typeface="Calibri"/>
              </a:rPr>
              <a:t>(</a:t>
            </a:r>
            <a:r>
              <a:rPr lang="en-US" sz="2800" b="0" i="1" u="none" strike="noStrike" dirty="0">
                <a:latin typeface="Calibri"/>
                <a:ea typeface="Calibri"/>
                <a:cs typeface="Calibri"/>
                <a:sym typeface="Calibri"/>
              </a:rPr>
              <a:t>x</a:t>
            </a:r>
            <a:r>
              <a:rPr lang="en-US" sz="2800" b="0" i="0" u="none" strike="noStrike" dirty="0">
                <a:latin typeface="Calibri"/>
                <a:ea typeface="Calibri"/>
                <a:cs typeface="Calibri"/>
                <a:sym typeface="Calibri"/>
              </a:rPr>
              <a:t>) = _______________</a:t>
            </a:r>
            <a:br>
              <a:rPr lang="en-US" sz="2800" b="0" i="0" u="none" strike="noStrike" dirty="0">
                <a:latin typeface="Calibri"/>
                <a:ea typeface="Calibri"/>
                <a:cs typeface="Calibri"/>
                <a:sym typeface="Calibri"/>
              </a:rPr>
            </a:br>
            <a:endParaRPr lang="en-US" sz="2800" b="0" i="0" u="none" strike="noStrike" dirty="0">
              <a:latin typeface="Calibri"/>
              <a:ea typeface="Calibri"/>
              <a:cs typeface="Calibri"/>
              <a:sym typeface="Calibri"/>
            </a:endParaRPr>
          </a:p>
          <a:p>
            <a:pPr marL="514350" marR="0" lvl="0" indent="-514350" algn="l" rtl="0">
              <a:spcBef>
                <a:spcPts val="0"/>
              </a:spcBef>
              <a:spcAft>
                <a:spcPts val="0"/>
              </a:spcAft>
              <a:buClr>
                <a:srgbClr val="000000"/>
              </a:buClr>
              <a:buSzPts val="2800"/>
              <a:buFont typeface="+mj-lt"/>
              <a:buAutoNum type="arabicPeriod"/>
            </a:pPr>
            <a:r>
              <a:rPr lang="en-US" sz="2800" dirty="0">
                <a:solidFill>
                  <a:srgbClr val="000000"/>
                </a:solidFill>
                <a:latin typeface="Calibri"/>
                <a:ea typeface="Calibri"/>
                <a:cs typeface="Calibri"/>
                <a:sym typeface="Calibri"/>
              </a:rPr>
              <a:t> </a:t>
            </a:r>
            <a:r>
              <a:rPr lang="en-US" sz="2800" i="1" dirty="0">
                <a:solidFill>
                  <a:srgbClr val="000000"/>
                </a:solidFill>
                <a:latin typeface="Calibri"/>
                <a:ea typeface="Calibri"/>
                <a:cs typeface="Calibri"/>
                <a:sym typeface="Calibri"/>
              </a:rPr>
              <a:t>h</a:t>
            </a:r>
            <a:r>
              <a:rPr lang="en-US" sz="2800" dirty="0">
                <a:solidFill>
                  <a:srgbClr val="000000"/>
                </a:solidFill>
                <a:latin typeface="Calibri"/>
                <a:ea typeface="Calibri"/>
                <a:cs typeface="Calibri"/>
                <a:sym typeface="Calibri"/>
              </a:rPr>
              <a:t>(</a:t>
            </a:r>
            <a:r>
              <a:rPr lang="en-US" sz="2800" i="1" dirty="0">
                <a:solidFill>
                  <a:srgbClr val="000000"/>
                </a:solidFill>
                <a:latin typeface="Calibri"/>
                <a:ea typeface="Calibri"/>
                <a:cs typeface="Calibri"/>
                <a:sym typeface="Calibri"/>
              </a:rPr>
              <a:t>x</a:t>
            </a:r>
            <a:r>
              <a:rPr lang="en-US" sz="2800" dirty="0">
                <a:solidFill>
                  <a:srgbClr val="000000"/>
                </a:solidFill>
                <a:latin typeface="Calibri"/>
                <a:ea typeface="Calibri"/>
                <a:cs typeface="Calibri"/>
                <a:sym typeface="Calibri"/>
              </a:rPr>
              <a:t>) = _______________</a:t>
            </a:r>
            <a:br>
              <a:rPr lang="en-US" sz="2800" dirty="0">
                <a:solidFill>
                  <a:srgbClr val="000000"/>
                </a:solidFill>
                <a:latin typeface="Calibri"/>
                <a:ea typeface="Calibri"/>
                <a:cs typeface="Calibri"/>
                <a:sym typeface="Calibri"/>
              </a:rPr>
            </a:br>
            <a:endParaRPr lang="en-US" sz="2800" dirty="0">
              <a:solidFill>
                <a:srgbClr val="000000"/>
              </a:solidFill>
              <a:latin typeface="Calibri"/>
              <a:ea typeface="Calibri"/>
              <a:cs typeface="Calibri"/>
              <a:sym typeface="Calibri"/>
            </a:endParaRPr>
          </a:p>
          <a:p>
            <a:pPr marL="514350" marR="0" lvl="0" indent="-514350" algn="l" rtl="0">
              <a:spcBef>
                <a:spcPts val="0"/>
              </a:spcBef>
              <a:spcAft>
                <a:spcPts val="0"/>
              </a:spcAft>
              <a:buClr>
                <a:srgbClr val="000000"/>
              </a:buClr>
              <a:buSzPts val="2800"/>
              <a:buFont typeface="+mj-lt"/>
              <a:buAutoNum type="arabicPeriod"/>
            </a:pPr>
            <a:r>
              <a:rPr lang="en-US" sz="2800" b="0" i="0" u="none" strike="noStrike" dirty="0">
                <a:latin typeface="Calibri"/>
                <a:ea typeface="Calibri"/>
                <a:cs typeface="Calibri"/>
                <a:sym typeface="Calibri"/>
              </a:rPr>
              <a:t> </a:t>
            </a:r>
            <a:r>
              <a:rPr lang="en-US" sz="2800" b="0" i="1" u="none" strike="noStrike" dirty="0">
                <a:latin typeface="Calibri"/>
                <a:ea typeface="Calibri"/>
                <a:cs typeface="Calibri"/>
                <a:sym typeface="Calibri"/>
              </a:rPr>
              <a:t>g</a:t>
            </a:r>
            <a:r>
              <a:rPr lang="en-US" sz="2800" b="0" i="0" u="none" strike="noStrike" dirty="0">
                <a:latin typeface="Calibri"/>
                <a:ea typeface="Calibri"/>
                <a:cs typeface="Calibri"/>
                <a:sym typeface="Calibri"/>
              </a:rPr>
              <a:t>(</a:t>
            </a:r>
            <a:r>
              <a:rPr lang="en-US" sz="2800" b="0" i="1" u="none" strike="noStrike" dirty="0">
                <a:latin typeface="Calibri"/>
                <a:ea typeface="Calibri"/>
                <a:cs typeface="Calibri"/>
                <a:sym typeface="Calibri"/>
              </a:rPr>
              <a:t>x</a:t>
            </a:r>
            <a:r>
              <a:rPr lang="en-US" sz="2800" b="0" i="0" u="none" strike="noStrike" dirty="0">
                <a:latin typeface="Calibri"/>
                <a:ea typeface="Calibri"/>
                <a:cs typeface="Calibri"/>
                <a:sym typeface="Calibri"/>
              </a:rPr>
              <a:t>) = _______________</a:t>
            </a:r>
            <a:br>
              <a:rPr lang="en-US" sz="2800" b="0" i="0" u="none" strike="noStrike" dirty="0">
                <a:latin typeface="Calibri"/>
                <a:ea typeface="Calibri"/>
                <a:cs typeface="Calibri"/>
                <a:sym typeface="Calibri"/>
              </a:rPr>
            </a:br>
            <a:endParaRPr lang="en-US" sz="2800" b="0" i="0" u="none" strike="noStrike" dirty="0">
              <a:latin typeface="Calibri"/>
              <a:ea typeface="Calibri"/>
              <a:cs typeface="Calibri"/>
              <a:sym typeface="Calibri"/>
            </a:endParaRPr>
          </a:p>
          <a:p>
            <a:pPr marL="514350" marR="0" lvl="0" indent="-514350" algn="l" rtl="0">
              <a:spcBef>
                <a:spcPts val="0"/>
              </a:spcBef>
              <a:spcAft>
                <a:spcPts val="0"/>
              </a:spcAft>
              <a:buClr>
                <a:srgbClr val="000000"/>
              </a:buClr>
              <a:buSzPts val="2800"/>
              <a:buFont typeface="+mj-lt"/>
              <a:buAutoNum type="arabicPeriod"/>
            </a:pPr>
            <a:r>
              <a:rPr lang="en-US" sz="2800" dirty="0">
                <a:solidFill>
                  <a:srgbClr val="000000"/>
                </a:solidFill>
                <a:latin typeface="Calibri"/>
                <a:ea typeface="Calibri"/>
                <a:cs typeface="Calibri"/>
                <a:sym typeface="Calibri"/>
              </a:rPr>
              <a:t>  </a:t>
            </a:r>
            <a:r>
              <a:rPr lang="en-US" sz="2800" i="1" dirty="0">
                <a:solidFill>
                  <a:srgbClr val="000000"/>
                </a:solidFill>
                <a:latin typeface="Calibri"/>
                <a:ea typeface="Calibri"/>
                <a:cs typeface="Calibri"/>
                <a:sym typeface="Calibri"/>
              </a:rPr>
              <a:t>j</a:t>
            </a:r>
            <a:r>
              <a:rPr lang="en-US" sz="2800" dirty="0">
                <a:solidFill>
                  <a:srgbClr val="000000"/>
                </a:solidFill>
                <a:latin typeface="Calibri"/>
                <a:ea typeface="Calibri"/>
                <a:cs typeface="Calibri"/>
                <a:sym typeface="Calibri"/>
              </a:rPr>
              <a:t>(</a:t>
            </a:r>
            <a:r>
              <a:rPr lang="en-US" sz="2800" i="1" dirty="0">
                <a:solidFill>
                  <a:srgbClr val="000000"/>
                </a:solidFill>
                <a:latin typeface="Calibri"/>
                <a:ea typeface="Calibri"/>
                <a:cs typeface="Calibri"/>
                <a:sym typeface="Calibri"/>
              </a:rPr>
              <a:t>x</a:t>
            </a:r>
            <a:r>
              <a:rPr lang="en-US" sz="2800" dirty="0">
                <a:solidFill>
                  <a:srgbClr val="000000"/>
                </a:solidFill>
                <a:latin typeface="Calibri"/>
                <a:ea typeface="Calibri"/>
                <a:cs typeface="Calibri"/>
                <a:sym typeface="Calibri"/>
              </a:rPr>
              <a:t>) = _______________</a:t>
            </a:r>
            <a:endParaRPr sz="2800" b="0" i="0" u="none" strike="noStrike" dirty="0">
              <a:solidFill>
                <a:srgbClr val="000000"/>
              </a:solidFill>
              <a:latin typeface="Calibri"/>
              <a:ea typeface="Calibri"/>
              <a:cs typeface="Calibri"/>
              <a:sym typeface="Calibri"/>
            </a:endParaRPr>
          </a:p>
          <a:p>
            <a:pPr marL="0" marR="0" lvl="0" indent="0" algn="ctr" rtl="0">
              <a:spcBef>
                <a:spcPts val="560"/>
              </a:spcBef>
              <a:spcAft>
                <a:spcPts val="0"/>
              </a:spcAft>
              <a:buClr>
                <a:schemeClr val="dk1"/>
              </a:buClr>
              <a:buSzPts val="2800"/>
              <a:buFont typeface="Arial"/>
              <a:buNone/>
            </a:pPr>
            <a:endParaRPr sz="2800" dirty="0">
              <a:solidFill>
                <a:srgbClr val="3A3838"/>
              </a:solidFill>
              <a:latin typeface="Calibri"/>
              <a:ea typeface="Calibri"/>
              <a:cs typeface="Calibri"/>
              <a:sym typeface="Calibri"/>
            </a:endParaRPr>
          </a:p>
        </p:txBody>
      </p:sp>
      <p:sp>
        <p:nvSpPr>
          <p:cNvPr id="1959" name="Slide Number 195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65</a:t>
            </a:fld>
          </a:p>
        </p:txBody>
      </p:sp>
      <p:sp>
        <p:nvSpPr>
          <p:cNvPr id="1960" name="Answer 1960"/>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284</a:t>
            </a:r>
          </a:p>
        </p:txBody>
      </p:sp>
      <p:sp>
        <p:nvSpPr>
          <p:cNvPr id="1961" name="Answer 1961"/>
          <p:cNvSpPr txBox="1"/>
          <p:nvPr/>
        </p:nvSpPr>
        <p:spPr>
          <a:xfrm>
            <a:off x="7778750" y="2654300"/>
            <a:ext cx="3048000" cy="3556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f(x) + 8</a:t>
            </a:r>
          </a:p>
        </p:txBody>
      </p:sp>
      <p:sp>
        <p:nvSpPr>
          <p:cNvPr id="1962" name="Answer 1962"/>
          <p:cNvSpPr txBox="1"/>
          <p:nvPr/>
        </p:nvSpPr>
        <p:spPr>
          <a:xfrm>
            <a:off x="3429000" y="4406900"/>
            <a:ext cx="8509000" cy="3429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k(x): f(x) translated up 8 units.</a:t>
            </a:r>
          </a:p>
        </p:txBody>
      </p:sp>
      <p:sp>
        <p:nvSpPr>
          <p:cNvPr id="1963" name="Answer 1963"/>
          <p:cNvSpPr txBox="1"/>
          <p:nvPr/>
        </p:nvSpPr>
        <p:spPr>
          <a:xfrm>
            <a:off x="7778750" y="3098800"/>
            <a:ext cx="3048000" cy="4381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2 · f(x)</a:t>
            </a:r>
          </a:p>
        </p:txBody>
      </p:sp>
      <p:sp>
        <p:nvSpPr>
          <p:cNvPr id="1964" name="Answer 1964"/>
          <p:cNvSpPr txBox="1"/>
          <p:nvPr/>
        </p:nvSpPr>
        <p:spPr>
          <a:xfrm>
            <a:off x="3429000" y="4794250"/>
            <a:ext cx="8509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h(x): f(x) stretched vertically by a factor of 2 (through the origin, steeper).</a:t>
            </a:r>
          </a:p>
        </p:txBody>
      </p:sp>
      <p:sp>
        <p:nvSpPr>
          <p:cNvPr id="1965" name="Answer 1965"/>
          <p:cNvSpPr txBox="1"/>
          <p:nvPr/>
        </p:nvSpPr>
        <p:spPr>
          <a:xfrm>
            <a:off x="7778750" y="3543300"/>
            <a:ext cx="3048000" cy="4381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(1/3) · f(x)</a:t>
            </a:r>
          </a:p>
        </p:txBody>
      </p:sp>
      <p:sp>
        <p:nvSpPr>
          <p:cNvPr id="1966" name="Answer 1966"/>
          <p:cNvSpPr txBox="1"/>
          <p:nvPr/>
        </p:nvSpPr>
        <p:spPr>
          <a:xfrm>
            <a:off x="3429000" y="5207000"/>
            <a:ext cx="8509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g(x): f(x) compressed vertically by a factor of 1/3 (through the origin, less steep).</a:t>
            </a:r>
          </a:p>
        </p:txBody>
      </p:sp>
      <p:sp>
        <p:nvSpPr>
          <p:cNvPr id="1967" name="Answer 1967"/>
          <p:cNvSpPr txBox="1"/>
          <p:nvPr/>
        </p:nvSpPr>
        <p:spPr>
          <a:xfrm>
            <a:off x="7778750" y="3987800"/>
            <a:ext cx="3048000" cy="4381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f(x) − 7</a:t>
            </a:r>
          </a:p>
        </p:txBody>
      </p:sp>
      <p:sp>
        <p:nvSpPr>
          <p:cNvPr id="1968" name="Answer 1968"/>
          <p:cNvSpPr txBox="1"/>
          <p:nvPr/>
        </p:nvSpPr>
        <p:spPr>
          <a:xfrm>
            <a:off x="3429000" y="5619750"/>
            <a:ext cx="8509000" cy="381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1800" dirty="0">
                <a:solidFill>
                  <a:srgbClr val="FF0000"/>
                </a:solidFill>
              </a:rPr>
              <a:t>j(x): f(x) translated down 7 units.</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961"/>
                                        </p:tgtEl>
                                        <p:attrNameLst>
                                          <p:attrName>style.visibility</p:attrName>
                                        </p:attrNameLst>
                                      </p:cBhvr>
                                      <p:to>
                                        <p:strVal val="visible"/>
                                      </p:to>
                                    </p:set>
                                  </p:childTnLst>
                                </p:cTn>
                              </p:par>
                              <p:par>
                                <p:cTn id="5" presetID="1" presetClass="entr" presetSubtype="0" fill="hold" nodeType="withEffect">
                                  <p:stCondLst>
                                    <p:cond delay="0"/>
                                  </p:stCondLst>
                                  <p:childTnLst>
                                    <p:set>
                                      <p:cBhvr>
                                        <p:cTn id="6" dur="1" fill="hold">
                                          <p:stCondLst>
                                            <p:cond delay="0"/>
                                          </p:stCondLst>
                                        </p:cTn>
                                        <p:tgtEl>
                                          <p:spTgt spid="196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6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6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6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6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6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p63"/>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Function Matching </a:t>
            </a:r>
            <a:r>
              <a:rPr lang="en-US" sz="2000" b="1" dirty="0">
                <a:solidFill>
                  <a:schemeClr val="bg1"/>
                </a:solidFill>
              </a:rPr>
              <a:t>(3 of 4)</a:t>
            </a:r>
            <a:endParaRPr dirty="0">
              <a:solidFill>
                <a:schemeClr val="bg1"/>
              </a:solidFill>
            </a:endParaRPr>
          </a:p>
        </p:txBody>
      </p:sp>
      <p:sp>
        <p:nvSpPr>
          <p:cNvPr id="967" name="Google Shape;967;p63"/>
          <p:cNvSpPr txBox="1"/>
          <p:nvPr/>
        </p:nvSpPr>
        <p:spPr>
          <a:xfrm>
            <a:off x="777240" y="1616140"/>
            <a:ext cx="989371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000000"/>
              </a:buClr>
              <a:buSzPts val="2800"/>
              <a:buFont typeface="Arial"/>
              <a:buNone/>
            </a:pPr>
            <a:r>
              <a:rPr lang="en-US" sz="2800" b="0" i="0" u="none" strike="noStrike" dirty="0">
                <a:solidFill>
                  <a:srgbClr val="000000"/>
                </a:solidFill>
                <a:latin typeface="Calibri"/>
                <a:ea typeface="Calibri"/>
                <a:cs typeface="Calibri"/>
                <a:sym typeface="Calibri"/>
              </a:rPr>
              <a:t>Let’s answer the Essential Question and summarize our learning from the Talk the Talk!</a:t>
            </a:r>
            <a:endParaRPr dirty="0"/>
          </a:p>
          <a:p>
            <a:pPr marL="0" marR="0" lvl="0" indent="0" algn="l" rtl="0">
              <a:spcBef>
                <a:spcPts val="560"/>
              </a:spcBef>
              <a:spcAft>
                <a:spcPts val="0"/>
              </a:spcAft>
              <a:buClr>
                <a:schemeClr val="dk1"/>
              </a:buClr>
              <a:buSzPts val="2800"/>
              <a:buFont typeface="Arial"/>
              <a:buNone/>
            </a:pPr>
            <a:endParaRPr sz="2800" dirty="0">
              <a:solidFill>
                <a:srgbClr val="000000"/>
              </a:solidFill>
              <a:latin typeface="Calibri"/>
              <a:ea typeface="Calibri"/>
              <a:cs typeface="Calibri"/>
              <a:sym typeface="Calibri"/>
            </a:endParaRPr>
          </a:p>
          <a:p>
            <a:pPr marL="0" marR="0" lvl="0" indent="0" algn="l" rtl="0">
              <a:spcBef>
                <a:spcPts val="560"/>
              </a:spcBef>
              <a:spcAft>
                <a:spcPts val="0"/>
              </a:spcAft>
              <a:buClr>
                <a:schemeClr val="dk1"/>
              </a:buClr>
              <a:buSzPts val="2800"/>
              <a:buFont typeface="Arial"/>
              <a:buNone/>
            </a:pPr>
            <a:endParaRPr sz="2800" dirty="0">
              <a:solidFill>
                <a:srgbClr val="000000"/>
              </a:solidFill>
              <a:latin typeface="Calibri"/>
              <a:ea typeface="Calibri"/>
              <a:cs typeface="Calibri"/>
              <a:sym typeface="Calibri"/>
            </a:endParaRPr>
          </a:p>
          <a:p>
            <a:pPr marL="0" marR="0" lvl="0" indent="0" algn="l" rtl="0">
              <a:spcBef>
                <a:spcPts val="560"/>
              </a:spcBef>
              <a:spcAft>
                <a:spcPts val="0"/>
              </a:spcAft>
              <a:buClr>
                <a:srgbClr val="000000"/>
              </a:buClr>
              <a:buSzPts val="2800"/>
              <a:buFont typeface="Arial"/>
              <a:buNone/>
            </a:pPr>
            <a:r>
              <a:rPr lang="en-US" sz="2800" b="1" dirty="0">
                <a:solidFill>
                  <a:srgbClr val="000000"/>
                </a:solidFill>
                <a:latin typeface="Calibri"/>
                <a:ea typeface="Calibri"/>
                <a:cs typeface="Calibri"/>
                <a:sym typeface="Calibri"/>
              </a:rPr>
              <a:t>Essential Question: </a:t>
            </a: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How can you transform a function? What effects do different transformations have on the characteristics</a:t>
            </a:r>
            <a:b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br>
            <a:r>
              <a:rPr lang="en-US" sz="2800" b="0" i="0" u="none" strike="noStrike" baseline="0" dirty="0">
                <a:latin typeface="Calibri" panose="020F0502020204030204" pitchFamily="34" charset="0"/>
                <a:ea typeface="Calibri" panose="020F0502020204030204" pitchFamily="34" charset="0"/>
                <a:cs typeface="Calibri" panose="020F0502020204030204" pitchFamily="34" charset="0"/>
              </a:rPr>
              <a:t>of linear functions</a:t>
            </a:r>
            <a:r>
              <a:rPr lang="en-US" sz="2800" dirty="0">
                <a:solidFill>
                  <a:srgbClr val="000000"/>
                </a:solidFill>
                <a:latin typeface="Calibri"/>
                <a:ea typeface="Calibri"/>
                <a:cs typeface="Calibri"/>
                <a:sym typeface="Calibri"/>
              </a:rPr>
              <a:t>?</a:t>
            </a:r>
            <a:endParaRPr sz="2800" b="0" i="0" u="none" strike="noStrike" dirty="0">
              <a:solidFill>
                <a:srgbClr val="000000"/>
              </a:solidFill>
              <a:latin typeface="Calibri"/>
              <a:ea typeface="Calibri"/>
              <a:cs typeface="Calibri"/>
              <a:sym typeface="Calibri"/>
            </a:endParaRPr>
          </a:p>
        </p:txBody>
      </p:sp>
      <p:pic>
        <p:nvPicPr>
          <p:cNvPr id="968" name="Google Shape;968;p63">
            <a:extLst>
              <a:ext uri="{C183D7F6-B498-43B3-948B-1728B52AA6E4}">
                <adec:decorative xmlns:adec="http://schemas.microsoft.com/office/drawing/2017/decorative" val="1"/>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10174023" y="372494"/>
            <a:ext cx="1501270" cy="518205"/>
          </a:xfrm>
          <a:prstGeom prst="rect">
            <a:avLst/>
          </a:prstGeom>
          <a:noFill/>
          <a:ln>
            <a:noFill/>
          </a:ln>
        </p:spPr>
      </p:pic>
      <p:sp>
        <p:nvSpPr>
          <p:cNvPr id="1968" name="Slide Number 1968"/>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66</a:t>
            </a:fld>
          </a:p>
        </p:txBody>
      </p:sp>
      <p:sp>
        <p:nvSpPr>
          <p:cNvPr id="1969" name="Answer 1969"/>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284</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973"/>
        <p:cNvGrpSpPr/>
        <p:nvPr/>
      </p:nvGrpSpPr>
      <p:grpSpPr>
        <a:xfrm>
          <a:off x="0" y="0"/>
          <a:ext cx="0" cy="0"/>
          <a:chOff x="0" y="0"/>
          <a:chExt cx="0" cy="0"/>
        </a:xfrm>
      </p:grpSpPr>
      <p:sp>
        <p:nvSpPr>
          <p:cNvPr id="974" name="Google Shape;974;p64"/>
          <p:cNvSpPr txBox="1">
            <a:spLocks noGrp="1"/>
          </p:cNvSpPr>
          <p:nvPr>
            <p:ph type="title"/>
          </p:nvPr>
        </p:nvSpPr>
        <p:spPr>
          <a:xfrm>
            <a:off x="77724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4000"/>
              <a:buFont typeface="Calibri"/>
              <a:buNone/>
            </a:pPr>
            <a:r>
              <a:rPr lang="en-US" b="1" dirty="0"/>
              <a:t>Function Matching </a:t>
            </a:r>
            <a:r>
              <a:rPr lang="en-US" sz="2000" b="1" dirty="0">
                <a:solidFill>
                  <a:schemeClr val="bg1"/>
                </a:solidFill>
              </a:rPr>
              <a:t>(4 of 4)</a:t>
            </a:r>
            <a:endParaRPr dirty="0">
              <a:solidFill>
                <a:schemeClr val="bg1"/>
              </a:solidFill>
            </a:endParaRPr>
          </a:p>
        </p:txBody>
      </p:sp>
      <p:sp>
        <p:nvSpPr>
          <p:cNvPr id="975" name="Google Shape;975;p64">
            <a:extLst>
              <a:ext uri="{C183D7F6-B498-43B3-948B-1728B52AA6E4}">
                <adec:decorative xmlns:adec="http://schemas.microsoft.com/office/drawing/2017/decorative" val="1"/>
              </a:ext>
            </a:extLst>
          </p:cNvPr>
          <p:cNvSpPr txBox="1"/>
          <p:nvPr/>
        </p:nvSpPr>
        <p:spPr>
          <a:xfrm>
            <a:off x="777240" y="1616140"/>
            <a:ext cx="10471759" cy="4021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800"/>
              <a:buFont typeface="Arial"/>
              <a:buNone/>
            </a:pPr>
            <a:endParaRPr sz="2800" b="0" i="0" u="none" strike="noStrike">
              <a:solidFill>
                <a:srgbClr val="3A3838"/>
              </a:solidFill>
              <a:latin typeface="Calibri"/>
              <a:ea typeface="Calibri"/>
              <a:cs typeface="Calibri"/>
              <a:sym typeface="Calibri"/>
            </a:endParaRPr>
          </a:p>
        </p:txBody>
      </p:sp>
      <p:sp>
        <p:nvSpPr>
          <p:cNvPr id="1975" name="Slide Number 197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67</a:t>
            </a:fld>
          </a:p>
        </p:txBody>
      </p:sp>
      <p:sp>
        <p:nvSpPr>
          <p:cNvPr id="1976" name="Answer 1976"/>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284</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980"/>
        <p:cNvGrpSpPr/>
        <p:nvPr/>
      </p:nvGrpSpPr>
      <p:grpSpPr>
        <a:xfrm>
          <a:off x="0" y="0"/>
          <a:ext cx="0" cy="0"/>
          <a:chOff x="0" y="0"/>
          <a:chExt cx="0" cy="0"/>
        </a:xfrm>
      </p:grpSpPr>
      <p:sp>
        <p:nvSpPr>
          <p:cNvPr id="981" name="Google Shape;981;p65"/>
          <p:cNvSpPr txBox="1">
            <a:spLocks noGrp="1"/>
          </p:cNvSpPr>
          <p:nvPr>
            <p:ph type="title"/>
          </p:nvPr>
        </p:nvSpPr>
        <p:spPr>
          <a:xfrm>
            <a:off x="838200" y="-318782"/>
            <a:ext cx="10514013" cy="318782"/>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2000"/>
              <a:buFont typeface="Calibri"/>
              <a:buNone/>
            </a:pPr>
            <a:r>
              <a:rPr lang="en-US" sz="2000" dirty="0">
                <a:solidFill>
                  <a:schemeClr val="lt2"/>
                </a:solidFill>
                <a:latin typeface="Calibri"/>
                <a:ea typeface="Calibri"/>
                <a:cs typeface="Calibri"/>
                <a:sym typeface="Calibri"/>
              </a:rPr>
              <a:t>Prepare</a:t>
            </a:r>
            <a:endParaRPr dirty="0"/>
          </a:p>
        </p:txBody>
      </p:sp>
      <p:sp>
        <p:nvSpPr>
          <p:cNvPr id="1981" name="Slide Number 1981"/>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69</a:t>
            </a:fld>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p66"/>
          <p:cNvSpPr txBox="1">
            <a:spLocks noGrp="1"/>
          </p:cNvSpPr>
          <p:nvPr>
            <p:ph type="title"/>
          </p:nvPr>
        </p:nvSpPr>
        <p:spPr>
          <a:xfrm>
            <a:off x="594360" y="1"/>
            <a:ext cx="11425482" cy="126319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B8147"/>
              </a:buClr>
              <a:buSzPts val="3600"/>
              <a:buFont typeface="Calibri"/>
              <a:buNone/>
            </a:pPr>
            <a:r>
              <a:rPr lang="en-US" sz="3600" b="1"/>
              <a:t>Prepare for Module 2 Topic 2 Lesson 2</a:t>
            </a:r>
            <a:endParaRPr/>
          </a:p>
        </p:txBody>
      </p:sp>
      <p:sp>
        <p:nvSpPr>
          <p:cNvPr id="988" name="Google Shape;988;p66"/>
          <p:cNvSpPr txBox="1"/>
          <p:nvPr/>
        </p:nvSpPr>
        <p:spPr>
          <a:xfrm>
            <a:off x="594360" y="1614894"/>
            <a:ext cx="912114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Write a linear function for each graph. </a:t>
            </a:r>
            <a:endParaRPr dirty="0"/>
          </a:p>
        </p:txBody>
      </p:sp>
      <p:sp>
        <p:nvSpPr>
          <p:cNvPr id="992" name="Google Shape;992;p66"/>
          <p:cNvSpPr txBox="1"/>
          <p:nvPr/>
        </p:nvSpPr>
        <p:spPr>
          <a:xfrm>
            <a:off x="594360" y="2554111"/>
            <a:ext cx="88011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1.</a:t>
            </a:r>
            <a:endParaRPr dirty="0"/>
          </a:p>
        </p:txBody>
      </p:sp>
      <p:pic>
        <p:nvPicPr>
          <p:cNvPr id="989" name="Google Shape;989;p66" descr="A graph of line f of x on the coordinate plane. The line rises from left to right through the points (negative 8, negative 10) and (negative 2, negative 6) and (4, negative 2)."/>
          <p:cNvPicPr>
            <a:picLocks noChangeAspect="1"/>
          </p:cNvPicPr>
          <p:nvPr/>
        </p:nvPicPr>
        <p:blipFill rotWithShape="1">
          <a:blip r:embed="rId3">
            <a:alphaModFix/>
          </a:blip>
          <a:srcRect/>
          <a:stretch/>
        </p:blipFill>
        <p:spPr>
          <a:xfrm>
            <a:off x="1034415" y="2684244"/>
            <a:ext cx="3324396" cy="3486329"/>
          </a:xfrm>
          <a:prstGeom prst="rect">
            <a:avLst/>
          </a:prstGeom>
          <a:noFill/>
          <a:ln>
            <a:noFill/>
          </a:ln>
        </p:spPr>
      </p:pic>
      <p:sp>
        <p:nvSpPr>
          <p:cNvPr id="993" name="Google Shape;993;p66"/>
          <p:cNvSpPr txBox="1"/>
          <p:nvPr/>
        </p:nvSpPr>
        <p:spPr>
          <a:xfrm>
            <a:off x="6463665" y="2554111"/>
            <a:ext cx="58293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dirty="0">
                <a:solidFill>
                  <a:srgbClr val="000000"/>
                </a:solidFill>
                <a:latin typeface="Calibri"/>
                <a:ea typeface="Calibri"/>
                <a:cs typeface="Calibri"/>
                <a:sym typeface="Calibri"/>
              </a:rPr>
              <a:t>2.</a:t>
            </a:r>
            <a:endParaRPr dirty="0"/>
          </a:p>
        </p:txBody>
      </p:sp>
      <p:pic>
        <p:nvPicPr>
          <p:cNvPr id="990" name="Google Shape;990;p66" descr="A graph of line g of x on the coordinate plane. The line falls from left to right through the points (negative 8, 4) and (0, 2) and (8, 0)."/>
          <p:cNvPicPr>
            <a:picLocks noChangeAspect="1"/>
          </p:cNvPicPr>
          <p:nvPr/>
        </p:nvPicPr>
        <p:blipFill rotWithShape="1">
          <a:blip r:embed="rId4">
            <a:alphaModFix/>
          </a:blip>
          <a:srcRect/>
          <a:stretch/>
        </p:blipFill>
        <p:spPr>
          <a:xfrm>
            <a:off x="7145611" y="2617816"/>
            <a:ext cx="3352973" cy="3495855"/>
          </a:xfrm>
          <a:prstGeom prst="rect">
            <a:avLst/>
          </a:prstGeom>
          <a:noFill/>
          <a:ln>
            <a:noFill/>
          </a:ln>
        </p:spPr>
      </p:pic>
      <p:pic>
        <p:nvPicPr>
          <p:cNvPr id="991" name="Google Shape;991;p66">
            <a:extLst>
              <a:ext uri="{C183D7F6-B498-43B3-948B-1728B52AA6E4}">
                <adec:decorative xmlns:adec="http://schemas.microsoft.com/office/drawing/2017/decorative" val="1"/>
              </a:ext>
            </a:extLst>
          </p:cNvPr>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5932069" y="2620413"/>
            <a:ext cx="314642" cy="3498362"/>
          </a:xfrm>
          <a:prstGeom prst="rect">
            <a:avLst/>
          </a:prstGeom>
          <a:noFill/>
          <a:ln>
            <a:noFill/>
          </a:ln>
        </p:spPr>
      </p:pic>
      <p:sp>
        <p:nvSpPr>
          <p:cNvPr id="1993" name="Slide Number 1993"/>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70</a:t>
            </a:fld>
          </a:p>
        </p:txBody>
      </p:sp>
      <p:sp>
        <p:nvSpPr>
          <p:cNvPr id="1994" name="Answer 1994"/>
          <p:cNvSpPr txBox="1"/>
          <p:nvPr/>
        </p:nvSpPr>
        <p:spPr>
          <a:xfrm>
            <a:off x="7493000" y="6540500"/>
            <a:ext cx="3810000" cy="279400"/>
          </a:xfrm>
          <a:prstGeom prst="rect">
            <a:avLst/>
          </a:prstGeom>
          <a:noFill/>
        </p:spPr>
        <p:txBody>
          <a:bodyPr wrap="square" lIns="45720" tIns="18288" rIns="45720" bIns="18288" anchor="t">
            <a:noAutofit/>
          </a:bodyPr>
          <a:lstStyle/>
          <a:p>
            <a:pPr marL="0" indent="0" algn="r">
              <a:spcBef>
                <a:spcPts val="0"/>
              </a:spcBef>
              <a:spcAft>
                <a:spcPts val="300"/>
              </a:spcAft>
              <a:buNone/>
            </a:pPr>
            <a:r>
              <a:rPr lang="en-US" sz="1600" b="1" dirty="0">
                <a:solidFill>
                  <a:srgbClr val="2E7D3C"/>
                </a:solidFill>
              </a:rPr>
              <a:t>SE p. 286</a:t>
            </a:r>
          </a:p>
        </p:txBody>
      </p:sp>
      <p:sp>
        <p:nvSpPr>
          <p:cNvPr id="1995" name="Answer 1995"/>
          <p:cNvSpPr txBox="1"/>
          <p:nvPr/>
        </p:nvSpPr>
        <p:spPr>
          <a:xfrm>
            <a:off x="1035050" y="6254750"/>
            <a:ext cx="4445000" cy="508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f(x) = (2/3)x − 14/3</a:t>
            </a:r>
          </a:p>
        </p:txBody>
      </p:sp>
      <p:sp>
        <p:nvSpPr>
          <p:cNvPr id="1996" name="Answer 1996"/>
          <p:cNvSpPr txBox="1"/>
          <p:nvPr/>
        </p:nvSpPr>
        <p:spPr>
          <a:xfrm>
            <a:off x="7143750" y="6254750"/>
            <a:ext cx="4445000" cy="50800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400" dirty="0">
                <a:solidFill>
                  <a:srgbClr val="FF0000"/>
                </a:solidFill>
              </a:rPr>
              <a:t>g(x) = −(1/4)x + 2</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99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nodeType="clickEffect">
                                  <p:stCondLst>
                                    <p:cond delay="0"/>
                                  </p:stCondLst>
                                  <p:childTnLst>
                                    <p:set>
                                      <p:cBhvr>
                                        <p:cTn id="8" dur="1" fill="hold">
                                          <p:stCondLst>
                                            <p:cond delay="0"/>
                                          </p:stCondLst>
                                        </p:cTn>
                                        <p:tgtEl>
                                          <p:spTgt spid="19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p67"/>
          <p:cNvSpPr txBox="1">
            <a:spLocks noGrp="1"/>
          </p:cNvSpPr>
          <p:nvPr>
            <p:ph type="title"/>
          </p:nvPr>
        </p:nvSpPr>
        <p:spPr>
          <a:xfrm>
            <a:off x="838200" y="-360727"/>
            <a:ext cx="10514013" cy="360727"/>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chemeClr val="lt2"/>
              </a:buClr>
              <a:buSzPts val="4400"/>
              <a:buFont typeface="Calibri"/>
              <a:buNone/>
            </a:pPr>
            <a:r>
              <a:rPr lang="en-US" sz="2000" dirty="0">
                <a:solidFill>
                  <a:schemeClr val="lt2"/>
                </a:solidFill>
                <a:latin typeface="Calibri"/>
                <a:ea typeface="Calibri"/>
                <a:cs typeface="Calibri"/>
                <a:sym typeface="Calibri"/>
              </a:rPr>
              <a:t>Acknowledgment and Notice</a:t>
            </a:r>
            <a:endParaRPr sz="2000" dirty="0"/>
          </a:p>
        </p:txBody>
      </p:sp>
      <p:sp>
        <p:nvSpPr>
          <p:cNvPr id="1999" name="Slide Number 199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71</a:t>
            </a:fld>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004"/>
        <p:cNvGrpSpPr/>
        <p:nvPr/>
      </p:nvGrpSpPr>
      <p:grpSpPr>
        <a:xfrm>
          <a:off x="0" y="0"/>
          <a:ext cx="0" cy="0"/>
          <a:chOff x="0" y="0"/>
          <a:chExt cx="0" cy="0"/>
        </a:xfrm>
      </p:grpSpPr>
      <p:sp>
        <p:nvSpPr>
          <p:cNvPr id="1005" name="Google Shape;1005;p68"/>
          <p:cNvSpPr txBox="1">
            <a:spLocks noGrp="1"/>
          </p:cNvSpPr>
          <p:nvPr>
            <p:ph type="title"/>
          </p:nvPr>
        </p:nvSpPr>
        <p:spPr>
          <a:xfrm>
            <a:off x="8155889" y="4975063"/>
            <a:ext cx="3431356" cy="414778"/>
          </a:xfrm>
          <a:prstGeom prst="rect">
            <a:avLst/>
          </a:prstGeom>
          <a:solidFill>
            <a:srgbClr val="2B8147"/>
          </a:solid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chemeClr val="lt1"/>
              </a:buClr>
              <a:buSzPts val="1800"/>
              <a:buFont typeface="Arial"/>
              <a:buNone/>
            </a:pPr>
            <a:r>
              <a:rPr lang="en-US" sz="1800" b="0" i="0" u="none" strike="noStrike" cap="none">
                <a:solidFill>
                  <a:schemeClr val="lt1"/>
                </a:solidFill>
                <a:latin typeface="Calibri"/>
                <a:ea typeface="Calibri"/>
                <a:cs typeface="Calibri"/>
                <a:sym typeface="Calibri"/>
              </a:rPr>
              <a:t>BLMATH_AlgI_M2_T2_L1_DCS_ENG</a:t>
            </a:r>
            <a:endParaRPr sz="1800" b="0" i="0" u="none" strike="noStrike" cap="none">
              <a:solidFill>
                <a:schemeClr val="lt1"/>
              </a:solidFill>
              <a:latin typeface="Calibri"/>
              <a:ea typeface="Calibri"/>
              <a:cs typeface="Calibri"/>
              <a:sym typeface="Calibri"/>
            </a:endParaRPr>
          </a:p>
        </p:txBody>
      </p:sp>
      <p:sp>
        <p:nvSpPr>
          <p:cNvPr id="2005" name="Slide Number 2005"/>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72</a:t>
            </a:fld>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nswer 2"/>
          <p:cNvSpPr txBox="1"/>
          <p:nvPr/>
        </p:nvSpPr>
        <p:spPr>
          <a:xfrm>
            <a:off x="869950" y="571500"/>
            <a:ext cx="10795000" cy="10350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3400" b="1" dirty="0">
                <a:solidFill>
                  <a:srgbClr val="2E7D4F"/>
                </a:solidFill>
              </a:rPr>
              <a:t>Teacher Edition corrections in this deck</a:t>
            </a:r>
          </a:p>
        </p:txBody>
      </p:sp>
      <p:sp>
        <p:nvSpPr>
          <p:cNvPr id="3" name="Answer 3"/>
          <p:cNvSpPr txBox="1"/>
          <p:nvPr/>
        </p:nvSpPr>
        <p:spPr>
          <a:xfrm>
            <a:off x="869950" y="1606550"/>
            <a:ext cx="10795000" cy="10350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FF0000"/>
                </a:solidFill>
              </a:rPr>
              <a:t>• Activity 1.4 Q2a: the TE says the slope 'increases' or 'decreases'; it means steepness. For f(x) = x the new slope is a.</a:t>
            </a:r>
          </a:p>
        </p:txBody>
      </p:sp>
      <p:sp>
        <p:nvSpPr>
          <p:cNvPr id="4" name="Answer 4"/>
          <p:cNvSpPr txBox="1"/>
          <p:nvPr/>
        </p:nvSpPr>
        <p:spPr>
          <a:xfrm>
            <a:off x="869950" y="2641600"/>
            <a:ext cx="10795000" cy="10350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FF0000"/>
                </a:solidFill>
              </a:rPr>
              <a:t>• Activity 1.5 Q3 Version B: for the lower Quadrant II target (−5, 1), the TE's a = 1, d = 4 misses; it is a = 1, d = 6.</a:t>
            </a:r>
          </a:p>
        </p:txBody>
      </p:sp>
      <p:sp>
        <p:nvSpPr>
          <p:cNvPr id="5" name="Answer 5"/>
          <p:cNvSpPr txBox="1"/>
          <p:nvPr/>
        </p:nvSpPr>
        <p:spPr>
          <a:xfrm>
            <a:off x="869950" y="3676650"/>
            <a:ext cx="10795000" cy="10350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FF0000"/>
                </a:solidFill>
              </a:rPr>
              <a:t>• Prepare Q1: the TE gives f(x) = (2/3)x − 5. The graph's points give f(x) = (2/3)x − 14/3.</a:t>
            </a:r>
          </a:p>
        </p:txBody>
      </p:sp>
      <p:sp>
        <p:nvSpPr>
          <p:cNvPr id="6" name="Answer 6"/>
          <p:cNvSpPr txBox="1"/>
          <p:nvPr/>
        </p:nvSpPr>
        <p:spPr>
          <a:xfrm>
            <a:off x="869950" y="4711700"/>
            <a:ext cx="10795000" cy="10350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FF0000"/>
                </a:solidFill>
              </a:rPr>
              <a:t>• Slide typos: slide 50's second item 'a.' is b; slide 52's first item 'a.' is e.</a:t>
            </a:r>
          </a:p>
        </p:txBody>
      </p:sp>
      <p:sp>
        <p:nvSpPr>
          <p:cNvPr id="7" name="Answer 7"/>
          <p:cNvSpPr txBox="1"/>
          <p:nvPr/>
        </p:nvSpPr>
        <p:spPr>
          <a:xfrm>
            <a:off x="869950" y="5746750"/>
            <a:ext cx="10795000" cy="1035050"/>
          </a:xfrm>
          <a:prstGeom prst="rect">
            <a:avLst/>
          </a:prstGeom>
          <a:noFill/>
        </p:spPr>
        <p:txBody>
          <a:bodyPr wrap="square" lIns="45720" tIns="18288" rIns="45720" bIns="18288" anchor="t">
            <a:noAutofit/>
          </a:bodyPr>
          <a:lstStyle/>
          <a:p>
            <a:pPr marL="0" indent="0" algn="l">
              <a:spcBef>
                <a:spcPts val="0"/>
              </a:spcBef>
              <a:spcAft>
                <a:spcPts val="300"/>
              </a:spcAft>
              <a:buNone/>
            </a:pPr>
            <a:r>
              <a:rPr lang="en-US" sz="2100" dirty="0">
                <a:solidFill>
                  <a:srgbClr val="16171D"/>
                </a:solidFill>
              </a:rPr>
              <a:t>• Every other TE answer was re-solved and is correct, including the Assignment (pp. 285-286) and Prepare Q2.</a:t>
            </a:r>
          </a:p>
        </p:txBody>
      </p:sp>
      <p:sp>
        <p:nvSpPr>
          <p:cNvPr id="999" name="Slide Number 999"/>
          <p:cNvSpPr txBox="1"/>
          <p:nvPr/>
        </p:nvSpPr>
        <p:spPr>
          <a:xfrm>
            <a:off x="11366500" y="6604000"/>
            <a:ext cx="698500" cy="203200"/>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68</a:t>
            </a:fld>
          </a:p>
        </p:txBody>
      </p:sp>
    </p:spTree>
  </p:cSld>
  <p:clrMapOvr>
    <a:masterClrMapping/>
  </p:clrMapOvr>
</p:sld>
</file>

<file path=ppt/theme/theme1.xml><?xml version="1.0" encoding="utf-8"?>
<a:theme xmlns:a="http://schemas.openxmlformats.org/drawingml/2006/main" name="A1_green">
  <a:themeElements>
    <a:clrScheme name="TEA K-5">
      <a:dk1>
        <a:srgbClr val="002060"/>
      </a:dk1>
      <a:lt1>
        <a:srgbClr val="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Uploaded xmlns="33e0dbe9-2ee3-4e40-8d2a-c14405aa398e">true</Uploaded>
    <lcf76f155ced4ddcb4097134ff3c332f xmlns="33e0dbe9-2ee3-4e40-8d2a-c14405aa398e">
      <Terms xmlns="http://schemas.microsoft.com/office/infopath/2007/PartnerControls"/>
    </lcf76f155ced4ddcb4097134ff3c332f>
    <TaxCatchAll xmlns="5aa991ed-cfdb-45f0-90fe-74f6c83d7f1e"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AE0C664B4FDA64F8529B02C06F03698" ma:contentTypeVersion="15" ma:contentTypeDescription="Create a new document." ma:contentTypeScope="" ma:versionID="4bf8706da78cd0fcda70025af99f6a26">
  <xsd:schema xmlns:xsd="http://www.w3.org/2001/XMLSchema" xmlns:xs="http://www.w3.org/2001/XMLSchema" xmlns:p="http://schemas.microsoft.com/office/2006/metadata/properties" xmlns:ns2="33e0dbe9-2ee3-4e40-8d2a-c14405aa398e" xmlns:ns3="5aa991ed-cfdb-45f0-90fe-74f6c83d7f1e" targetNamespace="http://schemas.microsoft.com/office/2006/metadata/properties" ma:root="true" ma:fieldsID="aff2f77c8a19f3557e1e9d39b143470b" ns2:_="" ns3:_="">
    <xsd:import namespace="33e0dbe9-2ee3-4e40-8d2a-c14405aa398e"/>
    <xsd:import namespace="5aa991ed-cfdb-45f0-90fe-74f6c83d7f1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Upload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e0dbe9-2ee3-4e40-8d2a-c14405aa39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b7a77b5-e59d-49f3-97a2-3dde868dbe2d"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Uploaded" ma:index="22" nillable="true" ma:displayName="Uploaded" ma:default="1" ma:description="Check for uploaded into Sharefile" ma:format="Dropdown" ma:internalName="Uploade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5aa991ed-cfdb-45f0-90fe-74f6c83d7f1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57405ce4-92a5-4ced-b4fb-968b1592fafc}" ma:internalName="TaxCatchAll" ma:showField="CatchAllData" ma:web="5aa991ed-cfdb-45f0-90fe-74f6c83d7f1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B45C4A7-6891-443F-9535-D1FBCB4BD1E2}">
  <ds:schemaRefs>
    <ds:schemaRef ds:uri="http://purl.org/dc/elements/1.1/"/>
    <ds:schemaRef ds:uri="http://schemas.microsoft.com/office/2006/metadata/properties"/>
    <ds:schemaRef ds:uri="http://purl.org/dc/terms/"/>
    <ds:schemaRef ds:uri="5aa991ed-cfdb-45f0-90fe-74f6c83d7f1e"/>
    <ds:schemaRef ds:uri="http://schemas.microsoft.com/office/2006/documentManagement/types"/>
    <ds:schemaRef ds:uri="http://schemas.microsoft.com/office/infopath/2007/PartnerControls"/>
    <ds:schemaRef ds:uri="http://schemas.openxmlformats.org/package/2006/metadata/core-properties"/>
    <ds:schemaRef ds:uri="33e0dbe9-2ee3-4e40-8d2a-c14405aa398e"/>
    <ds:schemaRef ds:uri="http://www.w3.org/XML/1998/namespace"/>
    <ds:schemaRef ds:uri="http://purl.org/dc/dcmitype/"/>
  </ds:schemaRefs>
</ds:datastoreItem>
</file>

<file path=customXml/itemProps2.xml><?xml version="1.0" encoding="utf-8"?>
<ds:datastoreItem xmlns:ds="http://schemas.openxmlformats.org/officeDocument/2006/customXml" ds:itemID="{AEC99491-3A95-4F83-BABA-62BF948F79F6}">
  <ds:schemaRefs>
    <ds:schemaRef ds:uri="http://schemas.microsoft.com/sharepoint/v3/contenttype/forms"/>
  </ds:schemaRefs>
</ds:datastoreItem>
</file>

<file path=customXml/itemProps3.xml><?xml version="1.0" encoding="utf-8"?>
<ds:datastoreItem xmlns:ds="http://schemas.openxmlformats.org/officeDocument/2006/customXml" ds:itemID="{FEF79C62-3C7F-4C8F-8888-7B0081936F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3e0dbe9-2ee3-4e40-8d2a-c14405aa398e"/>
    <ds:schemaRef ds:uri="5aa991ed-cfdb-45f0-90fe-74f6c83d7f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312</TotalTime>
  <Words>8086</Words>
  <Application>Microsoft Office PowerPoint</Application>
  <PresentationFormat>Custom</PresentationFormat>
  <Paragraphs>802</Paragraphs>
  <Slides>71</Slides>
  <Notes>71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71</vt:i4>
      </vt:variant>
    </vt:vector>
  </HeadingPairs>
  <TitlesOfParts>
    <vt:vector size="76" baseType="lpstr">
      <vt:lpstr>Cambria Math</vt:lpstr>
      <vt:lpstr>Noto Sans Symbols</vt:lpstr>
      <vt:lpstr>Calibri</vt:lpstr>
      <vt:lpstr>Arial</vt:lpstr>
      <vt:lpstr>A1_green</vt:lpstr>
      <vt:lpstr>Transforming Linear Functions</vt:lpstr>
      <vt:lpstr>Objectives</vt:lpstr>
      <vt:lpstr>Key Term</vt:lpstr>
      <vt:lpstr>Essential Question (1 of 3)</vt:lpstr>
      <vt:lpstr>Day 1</vt:lpstr>
      <vt:lpstr>Getting Started</vt:lpstr>
      <vt:lpstr>Returning to Transformation Station (1 of 8)</vt:lpstr>
      <vt:lpstr>Returning to Transformation Station (2 of 8)</vt:lpstr>
      <vt:lpstr>Returning to Transformation Station (3 of 8)</vt:lpstr>
      <vt:lpstr>Returning to Transformation Station (4 of 8)</vt:lpstr>
      <vt:lpstr>Returning to Transformation Station (5 of 8)</vt:lpstr>
      <vt:lpstr>Returning to Transformation Station (6 of 8)</vt:lpstr>
      <vt:lpstr>Returning to Transformation Station (7 of 8)</vt:lpstr>
      <vt:lpstr>Returning to Transformation Station (8 of 8)</vt:lpstr>
      <vt:lpstr>Activity 1.1</vt:lpstr>
      <vt:lpstr>Vertical Translations of Functions (1 of 10)</vt:lpstr>
      <vt:lpstr>Vertical Translations of Functions (2 of 10)</vt:lpstr>
      <vt:lpstr>Vertical Translations of Functions (3 of 10)</vt:lpstr>
      <vt:lpstr>Vertical Translations of Functions (4 of 10)</vt:lpstr>
      <vt:lpstr>Vertical Translations of Functions (5 of 10)</vt:lpstr>
      <vt:lpstr>Vertical Translations of Functions (6 of 10)</vt:lpstr>
      <vt:lpstr>Vertical Translations of Functions (7 of 10)</vt:lpstr>
      <vt:lpstr>Vertical Translations of Functions (8 of 10)</vt:lpstr>
      <vt:lpstr>Vertical Translations of Functions (9 of 10)</vt:lpstr>
      <vt:lpstr>Vertical Translations of Functions (10 of 10)</vt:lpstr>
      <vt:lpstr>Day 2</vt:lpstr>
      <vt:lpstr>Essential Question (2 of 3)</vt:lpstr>
      <vt:lpstr>Activity 1.2</vt:lpstr>
      <vt:lpstr>Slopes of Parallel Lines (1 of 8)</vt:lpstr>
      <vt:lpstr>Slopes of Parallel Lines (2 of 8)</vt:lpstr>
      <vt:lpstr>Slopes of Parallel Lines (3 of 8)</vt:lpstr>
      <vt:lpstr>Slopes of Parallel Lines (4 of 8)</vt:lpstr>
      <vt:lpstr>Slopes of Parallel Lines (5 of 8)</vt:lpstr>
      <vt:lpstr>Slopes of Parallel Lines (6 of 8)</vt:lpstr>
      <vt:lpstr>Slopes of Parallel Lines (7 of 8)</vt:lpstr>
      <vt:lpstr>Slopes of Parallel Lines (8 of 8)</vt:lpstr>
      <vt:lpstr>Activity 1.3</vt:lpstr>
      <vt:lpstr>Vertical Dilations of Functions (1 of 9)</vt:lpstr>
      <vt:lpstr>Vertical Dilations of Functions (2 of 9)</vt:lpstr>
      <vt:lpstr>Vertical Dilations of Functions (3 of 9)</vt:lpstr>
      <vt:lpstr>Vertical Dilations of Functions (4 of 9)</vt:lpstr>
      <vt:lpstr>Vertical Dilations of Functions (5 of 9)</vt:lpstr>
      <vt:lpstr>Vertical Dilations of Functions (6 of 9)</vt:lpstr>
      <vt:lpstr>Vertical Dilations of Functions (7 of 9)</vt:lpstr>
      <vt:lpstr>Vertical Dilations of Functions (8 of 9)</vt:lpstr>
      <vt:lpstr>Vertical Dilations of Functions (9 of 9)</vt:lpstr>
      <vt:lpstr>Day 3</vt:lpstr>
      <vt:lpstr>Essential Question (3 of 3)</vt:lpstr>
      <vt:lpstr>Activity 1.4</vt:lpstr>
      <vt:lpstr>Vertical Dilations and Vertical Translations of Functions (1 of 6)</vt:lpstr>
      <vt:lpstr>Vertical Dilations and Vertical Translations of Functions (2 of 6)</vt:lpstr>
      <vt:lpstr>Vertical Dilations and Vertical Translations of Functions (3 of 6)</vt:lpstr>
      <vt:lpstr>Vertical Dilations and Vertical Translations of Functions (4 of 6)</vt:lpstr>
      <vt:lpstr>Vertical Dilations and Vertical Translations of Functions (5 of 6)</vt:lpstr>
      <vt:lpstr>Vertical Dilations and Vertical Translations of Functions (6 of 6)</vt:lpstr>
      <vt:lpstr>Activity 1.5</vt:lpstr>
      <vt:lpstr>Applying Linear Function Transformations (1 of 6)</vt:lpstr>
      <vt:lpstr>Applying Linear Function Transformations (2 of 6)</vt:lpstr>
      <vt:lpstr>Applying Linear Function Transformations (3 of 6)</vt:lpstr>
      <vt:lpstr>Applying Linear Function Transformations (4 of 6)</vt:lpstr>
      <vt:lpstr>Applying Linear Function Transformations (5 of 6)</vt:lpstr>
      <vt:lpstr>Applying Linear Function Transformations (6 of 6)</vt:lpstr>
      <vt:lpstr>Talk the Talk</vt:lpstr>
      <vt:lpstr>Function Matching (1 of 4)</vt:lpstr>
      <vt:lpstr>Function Matching (2 of 4)</vt:lpstr>
      <vt:lpstr>Function Matching (3 of 4)</vt:lpstr>
      <vt:lpstr>Function Matching (4 of 4)</vt:lpstr>
      <vt:lpstr>Prepare</vt:lpstr>
      <vt:lpstr>Prepare for Module 2 Topic 2 Lesson 2</vt:lpstr>
      <vt:lpstr>Acknowledgment and Notice</vt:lpstr>
      <vt:lpstr>BLMATH_AlgI_M2_T2_L1_DCS_ENG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Transforming Linear Functions</dc:title>
  <dc:creator>Singh Amandeep</dc:creator>
  <cp:lastModifiedBy>Gann, Nickole</cp:lastModifiedBy>
  <cp:revision>66</cp:revision>
  <dcterms:created xsi:type="dcterms:W3CDTF">2024-02-22T09:58:00Z</dcterms:created>
  <dcterms:modified xsi:type="dcterms:W3CDTF">2025-05-28T18:54:33Z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A7190AC9080C4877A6E26CA982D6CC88_12</vt:lpwstr>
  </property>
  <property fmtid="{D5CDD505-2E9C-101B-9397-08002B2CF9AE}" pid="3" name="KSOProductBuildVer">
    <vt:lpwstr>1033-12.2.0.16731</vt:lpwstr>
  </property>
  <property fmtid="{D5CDD505-2E9C-101B-9397-08002B2CF9AE}" pid="4" name="ContentTypeId">
    <vt:lpwstr>0x0101009AE0C664B4FDA64F8529B02C06F03698</vt:lpwstr>
  </property>
  <property fmtid="{D5CDD505-2E9C-101B-9397-08002B2CF9AE}" pid="5" name="MediaServiceImageTags">
    <vt:lpwstr/>
  </property>
  <property fmtid="{D5CDD505-2E9C-101B-9397-08002B2CF9AE}" pid="6" name="Order">
    <vt:r8>3629600</vt:r8>
  </property>
  <property fmtid="{D5CDD505-2E9C-101B-9397-08002B2CF9AE}" pid="7" name="xd_Signature">
    <vt:bool>false</vt:bool>
  </property>
  <property fmtid="{D5CDD505-2E9C-101B-9397-08002B2CF9AE}" pid="8" name="xd_ProgID">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