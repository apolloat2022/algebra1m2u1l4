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linear functions given as tables, graphs, equations and verbal descriptions: slope (parallel or perpendicular), y-intercept, and the units and scales in context. The 150-day guide omits this lesson, but the End of Topic 2 Assessment covers it (questions 11–14). On the class calendar: Day 1 (Mon Nov 2, review day) Getting Started, Activities 4.1 and 4.2, then the online Topic 2 Review practice test; Day 2 (Wed Nov 4, after the test, for students not retaking) Activities 4.3, 4.4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(4 − (−6)) ÷ (0 − (−2.5)) = 10 ÷ 2.5 = 4. 2. Parallel lines have equal slopes. 3. The negative reciprocal of 4 is −¼. 4. p has slope (4 − 1) ÷ 4 = ¾ = 0.75. y = x − 2 has slope 1, which is greater. (3x − 4y = 8 is y = ¾x − 2: equal, not greater.)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Any choice is correct if the justification is.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4.1, 15–20 minutes. Find each slope first, then compare it to 4: equal is parallel, a product of −1 is perpendicular.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did you find the slope from the graph? (From (0, −0.5), right 4 and up 1.)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4.2, 10–15 minutes. Question 1: label x = weight of cardboard (tons) and y = payout amount (dollars) on both. Travis: w(3) = 45; Hays: j(3) = 60. End of Day 1.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did you compare the recycling centers?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15 · 3 = 45. 2. Slope = 20 ÷ 1 = 20 dollars per ton. 3. 9/5 · 10 + 32 = 18 + 32 = 50, so 10°C is 50°F. 4. Range = the outputs, the gallons left: 200 at the start, down to 0 when t = 20.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4.3, 10–15 minutes. Think About: the units of the quantities matter. Joey's slope: (10 − (−12.2)) ÷ (50 − 10) = 22.2 ÷ 40 ≈ 0.56.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4.4, 10–15 minutes. Slide typo in the student slides: the introduction calls Lauren 'Michelle'. For more practice, assign Skills Practice Set 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10–15 minutes. TE wording slip: the teacher guide's sample starts Alejandra 'at the middle of page 2'; 2.5 pages read is the middle of page 3.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(11 − 3) ÷ 2 = 4. 2. (9 − 4) ÷ 1 = 5. 3. The slope is the output unit over the input unit.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4 Assignment; it previews Module 3.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4-bellwork-day1.html" TargetMode="External"/><Relationship Id="rId4" Type="http://schemas.openxmlformats.org/officeDocument/2006/relationships/hyperlink" Target="https://algebra1m2u1l4.vercel.app/Module 2 topic 2/t2-lesson4-bellwork-day2.html" TargetMode="External"/><Relationship Id="rId5" Type="http://schemas.openxmlformats.org/officeDocument/2006/relationships/hyperlink" Target="https://algebra1m2u1l4.vercel.app/Module 2 topic 2/t2-lesson4-homework.html" TargetMode="External"/><Relationship Id="rId6" Type="http://schemas.openxmlformats.org/officeDocument/2006/relationships/hyperlink" Target="https://algebra1m2u1l4.vercel.app/Module 2 topic 2/t2-lesson4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algebra1m2u1l4.vercel.app/Module 2 topic 2/t2-lesson4-bellwork-day1.html" TargetMode="External"/><Relationship Id="rId4" Type="http://schemas.openxmlformats.org/officeDocument/2006/relationships/hyperlink" Target="https://algebra1m2u1l4.vercel.app/Module 2 topic 2/t2-lesson4-bellwork-day2.html" TargetMode="External"/><Relationship Id="rId5" Type="http://schemas.openxmlformats.org/officeDocument/2006/relationships/hyperlink" Target="https://algebra1m2u1l4.vercel.app/Module 2 topic 2/t2-lesson4-homework.html" TargetMode="External"/><Relationship Id="rId6" Type="http://schemas.openxmlformats.org/officeDocument/2006/relationships/hyperlink" Target="https://algebra1m2u1l4.vercel.app/Module 2 topic 2/t2-lesson4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4 · Student Edition pp. 319–330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Comparing Linear Functions in Different Forms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table · graph · equation · description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of the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(−2.5, −6)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slope does a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slope does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−¼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function has a greater rate of change than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Compare linear functions represented algebraically, graphically, in tables, or with verbal descriptions.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Choose and interpret appropriate units to represent independent and dependent quantities in situations modeled by linear functions.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455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Choose and interpret appropriate scales and origins for graphs of linear functions.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represented linear functions in a variety of different ways.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each linear function representation compare with the others?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Odd One Out · SE p. 320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function does not belong? Justify your choice.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2605011" cy="33177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5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5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−1.5</a:t>
            </a:r>
            <a:endParaRPr lang="en-US" sz="15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5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150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5564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(slope −2).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3424161" y="2144268"/>
            <a:ext cx="2605011" cy="22181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3633711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3633711" y="2785872"/>
            <a:ext cx="2185911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 to 10th-graders is 1 : 1.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3633711" y="365607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domain of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6162523" y="2144268"/>
            <a:ext cx="2605011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6372073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6372073" y="2785872"/>
            <a:ext cx="2185911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⅕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6372073" y="329031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slope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between 0 and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8900884" y="2144268"/>
            <a:ext cx="2605011" cy="33482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5" name="Shape 25"/>
          <p:cNvSpPr txBox="1"/>
          <p:nvPr/>
        </p:nvSpPr>
        <p:spPr>
          <a:xfrm>
            <a:off x="9110434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endParaRPr lang="en-US" sz="2100" dirty="0"/>
          </a:p>
        </p:txBody>
      </p:sp>
      <p:sp>
        <p:nvSpPr>
          <p:cNvPr id="26" name="Shape 26"/>
          <p:cNvSpPr/>
          <p:nvPr/>
        </p:nvSpPr>
        <p:spPr>
          <a:xfrm>
            <a:off x="9110434" y="2785872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7" name="Line 27"/>
          <p:cNvCxnSpPr/>
          <p:nvPr/>
        </p:nvCxnSpPr>
        <p:spPr>
          <a:xfrm>
            <a:off x="943428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617640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800996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984353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351065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534421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717778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90113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434284" y="44432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9434284" y="43146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9434284" y="41860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9434284" y="40574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9434284" y="380028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9434284" y="367169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434284" y="354311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434284" y="34145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434284" y="32859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34284" y="31573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434284" y="30287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434284" y="29001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1" name="Shape 51"/>
          <p:cNvSpPr txBox="1"/>
          <p:nvPr/>
        </p:nvSpPr>
        <p:spPr>
          <a:xfrm>
            <a:off x="915996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9526676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9893389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10260101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1062681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67356" y="43517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8867356" y="40946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8867356" y="38374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867356" y="358025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8867356" y="33230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867356" y="30659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8867356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3" name="Line 63"/>
          <p:cNvCxnSpPr/>
          <p:nvPr/>
        </p:nvCxnSpPr>
        <p:spPr>
          <a:xfrm flipV="1">
            <a:off x="9837668" y="2900172"/>
            <a:ext cx="440055" cy="1543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4" name="Shape 64"/>
          <p:cNvSpPr/>
          <p:nvPr/>
        </p:nvSpPr>
        <p:spPr>
          <a:xfrm>
            <a:off x="10115321" y="323354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10253434" y="303828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(0, 5)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9110434" y="478612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whose </a:t>
            </a: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 isn't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8" name="Slide Number 6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4355998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4565548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4565548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026197" y="2144268"/>
            <a:ext cx="3479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35747" y="2785872"/>
            <a:ext cx="3060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8235747" y="3290316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· ¼ =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not −1.</a:t>
            </a:r>
            <a:endParaRPr lang="en-US" sz="1575" dirty="0"/>
          </a:p>
        </p:txBody>
      </p:sp>
      <p:sp>
        <p:nvSpPr>
          <p:cNvPr id="25" name="Slide Number 2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54" name="Shape 54"/>
          <p:cNvSpPr txBox="1"/>
          <p:nvPr/>
        </p:nvSpPr>
        <p:spPr>
          <a:xfrm>
            <a:off x="685800" y="2144268"/>
            <a:ext cx="3479698" cy="40606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endParaRPr lang="en-US" sz="2100" dirty="0"/>
          </a:p>
        </p:txBody>
      </p:sp>
      <p:sp>
        <p:nvSpPr>
          <p:cNvPr id="5" name="Shape 5"/>
          <p:cNvSpPr/>
          <p:nvPr/>
        </p:nvSpPr>
        <p:spPr>
          <a:xfrm>
            <a:off x="895350" y="278587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21920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7040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2161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672828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82403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97524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12645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7766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58008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273129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2882503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03371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18492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33613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348734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63855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219200" y="539572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219200" y="523975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219200" y="508377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219200" y="492780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219200" y="477183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219200" y="46158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219200" y="445989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219200" y="430391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219200" y="3991975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219200" y="383600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219200" y="368003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219200" y="352405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219200" y="33680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219200" y="321211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219200" y="305614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219200" y="29001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94488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549717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2154555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759392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336423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52272" y="53042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52272" y="468039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52272" y="4056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52272" y="34326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52272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1219200" y="3913989"/>
            <a:ext cx="2419350" cy="623888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895350" y="573862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4355998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</a:t>
            </a:r>
            <a:endParaRPr lang="en-US" sz="2100" dirty="0"/>
          </a:p>
        </p:txBody>
      </p:sp>
      <p:sp>
        <p:nvSpPr>
          <p:cNvPr id="56" name="Shape 56"/>
          <p:cNvSpPr txBox="1"/>
          <p:nvPr/>
        </p:nvSpPr>
        <p:spPr>
          <a:xfrm>
            <a:off x="4565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5708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4565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5708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4565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5708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4565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5708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4565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5708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4565548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1" name="Shape 71"/>
          <p:cNvSpPr txBox="1"/>
          <p:nvPr/>
        </p:nvSpPr>
        <p:spPr>
          <a:xfrm>
            <a:off x="8026197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8" name="Shape 68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endParaRPr lang="en-US" sz="2100" dirty="0"/>
          </a:p>
        </p:txBody>
      </p:sp>
      <p:sp>
        <p:nvSpPr>
          <p:cNvPr id="69" name="Shape 69"/>
          <p:cNvSpPr txBox="1"/>
          <p:nvPr/>
        </p:nvSpPr>
        <p:spPr>
          <a:xfrm>
            <a:off x="8235747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</a:t>
            </a:r>
            <a:endParaRPr lang="en-US" sz="1575" dirty="0"/>
          </a:p>
        </p:txBody>
      </p:sp>
      <p:sp>
        <p:nvSpPr>
          <p:cNvPr id="70" name="Shape 70"/>
          <p:cNvSpPr txBox="1"/>
          <p:nvPr/>
        </p:nvSpPr>
        <p:spPr>
          <a:xfrm>
            <a:off x="8235747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2" name="Slide Number 7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4.2 · Comparing Tables and Graphs · SE p. 322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Recycling cardboard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96519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Weight (tons)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650998" y="2008632"/>
            <a:ext cx="16383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Payout ($)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650998" y="2406396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7.50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650998" y="2804160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650998" y="3201924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22.50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650998" y="3599688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09270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endParaRPr lang="en-US" sz="1575" dirty="0"/>
          </a:p>
        </p:txBody>
      </p:sp>
      <p:sp>
        <p:nvSpPr>
          <p:cNvPr id="17" name="Shape 17"/>
          <p:cNvSpPr/>
          <p:nvPr/>
        </p:nvSpPr>
        <p:spPr>
          <a:xfrm>
            <a:off x="6286348" y="2008632"/>
            <a:ext cx="3048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8" name="Line 18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936429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2626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588891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7915123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41354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567585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93816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22004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50504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39161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27818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474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5131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93787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8244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71100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59757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48414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070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5727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14383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030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9169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80353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69010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5766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46323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3498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223636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212293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33587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9883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93265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94572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9598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39270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8255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2258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610198" y="2122932"/>
            <a:ext cx="717709" cy="2495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/>
          <p:nvPr/>
        </p:nvSpPr>
        <p:spPr>
          <a:xfrm>
            <a:off x="7210273" y="229741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4" name="Shape 64"/>
          <p:cNvSpPr txBox="1"/>
          <p:nvPr/>
        </p:nvSpPr>
        <p:spPr>
          <a:xfrm>
            <a:off x="7348385" y="210215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(1, 20)</a:t>
            </a:r>
            <a:endParaRPr lang="en-US" sz="1125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9613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 are 0: $0 for 0 tons.</a:t>
            </a:r>
            <a:endParaRPr lang="en-US" sz="1575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35152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pays more: $20 per ton vs. $15 per ton.</a:t>
            </a:r>
            <a:endParaRPr lang="en-US" sz="1575" dirty="0"/>
          </a:p>
        </p:txBody>
      </p:sp>
      <p:sp>
        <p:nvSpPr>
          <p:cNvPr id="67" name="Slide Number 6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does each linear function representation compare with the others?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Travis County pays $15 per ton of cardboard. How much is paid for 3 tons?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Hays County's graph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payout per ton?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62076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converts °C to °F.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323)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12435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200-gallon tank drains 10 gallons each minute: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200 − 10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range of the function for this situation?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62076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 ≤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≤ 200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4.3 · Comparing Equations and Tables · SE p. 323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Celsius and Fahrenheit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°F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°C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−12.2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−1.1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23.9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Xavier's equation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00863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251307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°C). Joey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°F to °C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14325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5/9 (each 9°F is about 5°C). Xavier's is 9/5 (each 5°C is 9°F).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7734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−17.8 (0°F ≈ −17.8°C). Xavier's is 32 (0°C = 32°F).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4.4 · Comparing Descriptions and Graphs · SE p. 324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Miguel and Lauren's bank accounts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Miguel</a:t>
            </a:r>
            <a:endParaRPr lang="en-US" sz="1575" dirty="0"/>
          </a:p>
        </p:txBody>
      </p:sp>
      <p:sp>
        <p:nvSpPr>
          <p:cNvPr id="5" name="Shape 5"/>
          <p:cNvSpPr/>
          <p:nvPr/>
        </p:nvSpPr>
        <p:spPr>
          <a:xfrm>
            <a:off x="685800" y="200863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49352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97739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4612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94513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42900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1193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62026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12115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62204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12293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73533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1" name="Shape 21"/>
          <p:cNvSpPr txBox="1"/>
          <p:nvPr/>
        </p:nvSpPr>
        <p:spPr>
          <a:xfrm>
            <a:off x="121920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2" name="Shape 22"/>
          <p:cNvSpPr txBox="1"/>
          <p:nvPr/>
        </p:nvSpPr>
        <p:spPr>
          <a:xfrm>
            <a:off x="170307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3" name="Shape 23"/>
          <p:cNvSpPr txBox="1"/>
          <p:nvPr/>
        </p:nvSpPr>
        <p:spPr>
          <a:xfrm>
            <a:off x="21869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267081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315468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442722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442722" y="40279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442722" y="352882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442722" y="302971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42722" y="253060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2722" y="203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32" name="Shape 32"/>
          <p:cNvSpPr/>
          <p:nvPr/>
        </p:nvSpPr>
        <p:spPr>
          <a:xfrm>
            <a:off x="1441132" y="406698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925003" y="356787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4" name="Shape 34"/>
          <p:cNvSpPr/>
          <p:nvPr/>
        </p:nvSpPr>
        <p:spPr>
          <a:xfrm>
            <a:off x="2408872" y="306876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5" name="Shape 35"/>
          <p:cNvSpPr/>
          <p:nvPr/>
        </p:nvSpPr>
        <p:spPr>
          <a:xfrm>
            <a:off x="2892742" y="256965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6" name="Shape 36"/>
          <p:cNvSpPr txBox="1"/>
          <p:nvPr/>
        </p:nvSpPr>
        <p:spPr>
          <a:xfrm>
            <a:off x="3030855" y="237439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(4, 80)</a:t>
            </a:r>
            <a:endParaRPr lang="en-US" sz="1125" dirty="0"/>
          </a:p>
        </p:txBody>
      </p:sp>
      <p:sp>
        <p:nvSpPr>
          <p:cNvPr id="37" name="Shape 37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</a:t>
            </a:r>
            <a:endParaRPr lang="en-US" sz="1575" dirty="0"/>
          </a:p>
        </p:txBody>
      </p:sp>
      <p:sp>
        <p:nvSpPr>
          <p:cNvPr id="38" name="Shape 38"/>
          <p:cNvSpPr txBox="1"/>
          <p:nvPr/>
        </p:nvSpPr>
        <p:spPr>
          <a:xfrm>
            <a:off x="6286348" y="2008632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1 month and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$20 ($80 after 4 months). The origin is (0 months, $0).</a:t>
            </a:r>
            <a:endParaRPr lang="en-US" sz="1575" dirty="0"/>
          </a:p>
        </p:txBody>
      </p:sp>
      <p:sp>
        <p:nvSpPr>
          <p:cNvPr id="39" name="Shape 39"/>
          <p:cNvSpPr txBox="1"/>
          <p:nvPr/>
        </p:nvSpPr>
        <p:spPr>
          <a:xfrm>
            <a:off x="6286348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saves $20 a month; Lauren saves $25 a month.</a:t>
            </a:r>
            <a:endParaRPr lang="en-US" sz="1575" dirty="0"/>
          </a:p>
        </p:txBody>
      </p:sp>
      <p:sp>
        <p:nvSpPr>
          <p:cNvPr id="40" name="Shape 40"/>
          <p:cNvSpPr txBox="1"/>
          <p:nvPr/>
        </p:nvSpPr>
        <p:spPr>
          <a:xfrm>
            <a:off x="6286348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started with $0; Lauren with $25.</a:t>
            </a:r>
            <a:endParaRPr lang="en-US" sz="1575" dirty="0"/>
          </a:p>
        </p:txBody>
      </p:sp>
      <p:sp>
        <p:nvSpPr>
          <p:cNvPr id="41" name="Slide Number 4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Function Maker Space · SE p. 325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Create and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−10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114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257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4114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5257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8.75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8546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A situation for the table: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9756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Sample: Alejandra has read 2.5 pages and reads 2.5 more every 10 minutes. Slope ¼,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2.5.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60578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A less steep equation: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99592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0.2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+ 30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258546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The graph shown in the book has slope ⅓ (through (0, −4)).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21564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It is steeper than the table (¼) and the equation (0.2).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384581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Strategies: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286348" y="423595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Answers vary: rate of change from two points; compare the slopes.</a:t>
            </a:r>
            <a:endParaRPr lang="en-US" sz="157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 the representations compare?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Every form (equation, table, graph, description) shows the same features: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rate and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starting value.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by finding these in each form: equal slopes are parallel; slopes with a product of −1 are perpendicular.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quantities and units tell what the slope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mean.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Parallel (slope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7238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38728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The table (slope 5 &gt; 3)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719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63829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per mile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 each equation for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− 9 =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5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12.7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12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4 Assignment (SE pp. 327–330).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omparing Linear Functions in Different Form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17</Slides>
  <Notes>17</Notes>
</Properties>
</file>

<file path=docProps/core.xml><?xml version="1.0" encoding="utf-8"?>
<cp:coreProperties xmlns:cp="http://schemas.openxmlformats.org/package/2006/metadata/core-properties" xmlns:dc="http://purl.org/dc/elements/1.1/">
  <dc:title>Comparing Linear Functions in Different Forms</dc:title>
  <dc:subject>Bluebonnet Algebra I</dc:subject>
</cp:coreProperties>
</file>