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20"/>
    <p:sldId id="266" r:id="rId21"/>
    <p:sldId id="267" r:id="rId22"/>
    <p:sldId id="268" r:id="rId23"/>
    <p:sldId id="269" r:id="rId24"/>
    <p:sldId id="270" r:id="rId25"/>
    <p:sldId id="271" r:id="rId26"/>
    <p:sldId id="272" r:id="rId27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slide" Target="slides/slide17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compare linear functions given as tables, graphs, equations and verbal descriptions: slope (parallel or perpendicular), y-intercept, and the units and scales in context. Two days on the 150-day calendar: Day 1 Getting Started, Activities 4.1 and 4.2; Day 2 Activities 4.3, 4.4 and Talk the Talk.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Added for this deck; not from the textbook. Have this up as students walk in; they work silently while you take attendance (about 5 minutes). The same 4 questions are on the online Day 1 bell work. Reveal the answers one at a time. Answer key: 1. Slope = (4 − (−6)) ÷ (0 − (−2.5)) = 10 ÷ 2.5 = 4. 2. Parallel lines have equal slopes. 3. The negative reciprocal of 4 is −¼. 4. Equal numbers of each grade: y = x, slope 1.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each objective aloud as it appears.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write the Essential Question at the top of their notes. Don't answer it yet; we come back to it at the end of the lesson.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Getting Started, 5–10 minutes. Any choice is correct if the justification is.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Activity 4.1, 15–20 minutes. Find each slope first, then compare it to 4: equal is parallel, a product of −1 is perpendicular.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Ask: How did you find the slope from the graph? (From (0, −0.5), right 4 and up 1.)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Activity 4.2, 10–15 minutes. Question 1: label x = weight of cardboard (tons) and y = payout amount (dollars) on both. Travis: w(3) = 45; Hays: j(3) = 60. End of Day 1.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this, then go to the bell work while you take attendance. Afterward, have a student read the Essential Question aloud and ask two or three students to summarize Day 1: How did you compare the recycling centers?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Added for this deck; not from the textbook. Have this up as students walk in; they work silently while you take attendance (about 5 minutes). The same 4 questions are on the online Day 2 bell work. Reveal the answers one at a time. Answer key: 1. 15 · 3 = 45. 2. Slope = 20 ÷ 1 = 20 dollars per ton. 3. 9/5 · 10 + 32 = 18 + 32 = 50, so 10°C is 50°F. 4. 80 ÷ 4 = 20 dollars per month.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Activity 4.3, 10–15 minutes. Think About: the units of the quantities matter. Joey's slope: (10 − (−12.2)) ÷ (50 − 10) = 22.2 ÷ 40 ≈ 0.56.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Activity 4.4, 10–15 minutes. Slide typo in the student slides: the introduction calls Lauren 'Michelle'. For more practice, assign Skills Practice Set A.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Talk the Talk, 10–15 minutes. TE wording slip: the teacher guide's sample starts Alejandra 'at the middle of page 2'; 2.5 pages read is the middle of page 3.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answer the Essential Question on the lesson opener page.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Added for this deck; not from the textbook. Give 3–4 minutes, collect the answers, and use them to decide who needs Skills Practice. Work: 1. (11 − 3) ÷ 2 = 4. 2. (9 − 4) ÷ 1 = 5. 3. The slope is the output unit over the input unit.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From the Lesson 4 Assignment; it previews Module 3.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Added for this deck; not from the textbook. Click a title to open it in a new tab. Put the day's bell work link up as students walk in. The 150-day pacing calendar (topic2-pacing-150.html) gives the day for each homework and quiz.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rgbClr val="E6E8F2"/>
          </a:fgClr>
          <a:bgClr>
            <a:srgbClr val="F7F7FB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rand 101"/>
          <p:cNvSpPr/>
          <p:nvPr userDrawn="1"/>
        </p:nvSpPr>
        <p:spPr>
          <a:xfrm>
            <a:off x="9631375" y="128016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3050B8"/>
          </a:solidFill>
          <a:ln>
            <a:noFill/>
          </a:ln>
        </p:spPr>
      </p:sp>
      <p:sp>
        <p:nvSpPr>
          <p:cNvPr id="102" name="Brand 102"/>
          <p:cNvSpPr/>
          <p:nvPr userDrawn="1"/>
        </p:nvSpPr>
        <p:spPr>
          <a:xfrm>
            <a:off x="9748818" y="172593"/>
            <a:ext cx="39434" cy="3943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3" name="Brand 103"/>
          <p:cNvSpPr/>
          <p:nvPr userDrawn="1"/>
        </p:nvSpPr>
        <p:spPr>
          <a:xfrm>
            <a:off x="9719672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4" name="Brand 104"/>
          <p:cNvSpPr/>
          <p:nvPr userDrawn="1"/>
        </p:nvSpPr>
        <p:spPr>
          <a:xfrm>
            <a:off x="9774536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5" name="Brand 105"/>
          <p:cNvSpPr/>
          <p:nvPr userDrawn="1"/>
        </p:nvSpPr>
        <p:spPr>
          <a:xfrm>
            <a:off x="9746247" y="230886"/>
            <a:ext cx="44577" cy="445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Brand 106"/>
          <p:cNvSpPr/>
          <p:nvPr userDrawn="1"/>
        </p:nvSpPr>
        <p:spPr>
          <a:xfrm>
            <a:off x="9709385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7" name="Brand 107"/>
          <p:cNvSpPr/>
          <p:nvPr userDrawn="1"/>
        </p:nvSpPr>
        <p:spPr>
          <a:xfrm>
            <a:off x="9781394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8" name="Brand 108"/>
          <p:cNvSpPr/>
          <p:nvPr userDrawn="1"/>
        </p:nvSpPr>
        <p:spPr>
          <a:xfrm>
            <a:off x="9761677" y="303752"/>
            <a:ext cx="13716" cy="55721"/>
          </a:xfrm>
          <a:prstGeom prst="roundRect">
            <a:avLst>
              <a:gd name="adj" fmla="val 50000"/>
            </a:avLst>
          </a:prstGeom>
          <a:solidFill>
            <a:srgbClr val="9FD18B"/>
          </a:solidFill>
          <a:ln>
            <a:noFill/>
          </a:ln>
        </p:spPr>
      </p:sp>
      <p:sp>
        <p:nvSpPr>
          <p:cNvPr id="109" name="Shape 109"/>
          <p:cNvSpPr txBox="1"/>
          <p:nvPr/>
        </p:nvSpPr>
        <p:spPr>
          <a:xfrm>
            <a:off x="9960559" y="109728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16171D"/>
                </a:solidFill>
                <a:latin typeface="Segoe UI"/>
                <a:cs typeface="Segoe UI"/>
              </a:rPr>
              <a:t xml:space="preserve">Bluebonnet </a:t>
            </a: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Algebra I</a:t>
            </a:r>
            <a:endParaRPr lang="en-US" sz="11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https://algebra1m2u1l4.vercel.app/Module 2 topic 2/t2-lesson4-bellwork-day1.html" TargetMode="External"/><Relationship Id="rId4" Type="http://schemas.openxmlformats.org/officeDocument/2006/relationships/hyperlink" Target="https://algebra1m2u1l4.vercel.app/Module 2 topic 2/t2-lesson4-bellwork-day2.html" TargetMode="External"/><Relationship Id="rId5" Type="http://schemas.openxmlformats.org/officeDocument/2006/relationships/hyperlink" Target="https://algebra1m2u1l4.vercel.app/Module 2 topic 2/t2-lesson4-homework.html" TargetMode="External"/><Relationship Id="rId6" Type="http://schemas.openxmlformats.org/officeDocument/2006/relationships/hyperlink" Target="https://algebra1m2u1l4.vercel.app/Module 2 topic 2/t2-lesson4-quiz.html" TargetMode="External"/><Relationship Id="rId7" Type="http://schemas.openxmlformats.org/officeDocument/2006/relationships/hyperlink" Target="https://creativecommons.org/licenses/by-nc/4.0/" TargetMode="Externa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algebra1m2u1l4.vercel.app/Module 2 topic 2/t2-lesson4-bellwork-day1.html" TargetMode="External"/><Relationship Id="rId4" Type="http://schemas.openxmlformats.org/officeDocument/2006/relationships/hyperlink" Target="https://algebra1m2u1l4.vercel.app/Module 2 topic 2/t2-lesson4-bellwork-day2.html" TargetMode="External"/><Relationship Id="rId5" Type="http://schemas.openxmlformats.org/officeDocument/2006/relationships/hyperlink" Target="https://algebra1m2u1l4.vercel.app/Module 2 topic 2/t2-lesson4-homework.html" TargetMode="External"/><Relationship Id="rId6" Type="http://schemas.openxmlformats.org/officeDocument/2006/relationships/hyperlink" Target="https://algebra1m2u1l4.vercel.app/Module 2 topic 2/t2-lesson4-quiz.html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Bluebonnet Algebra I · Module 2 · Topic 2 · Lesson 4 · Student Edition pp. 319–330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923544"/>
            <a:ext cx="10820095" cy="13350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42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Comparing Linear Functions in Different Forms</a:t>
            </a:r>
            <a:endParaRPr lang="en-US" sz="42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506218"/>
            <a:ext cx="10820095" cy="5120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000" dirty="0">
                <a:solidFill>
                  <a:srgbClr val="16171D"/>
                </a:solidFill>
                <a:latin typeface="Cambria"/>
                <a:cs typeface="Cambria"/>
              </a:rPr>
              <a:t xml:space="preserve">table · graph · equation · description</a:t>
            </a:r>
            <a:endParaRPr lang="en-US" sz="300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3246882"/>
            <a:ext cx="10820095" cy="32918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Bell work: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3"/>
              </a:rPr>
              <a:t xml:space="preserve">Day 1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4"/>
              </a:rPr>
              <a:t xml:space="preserve">Day 2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| Practice: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5"/>
              </a:rPr>
              <a:t xml:space="preserve">Homework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6"/>
              </a:rPr>
              <a:t xml:space="preserve">Quiz →</a:t>
            </a:r>
            <a:endParaRPr lang="en-US" sz="180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747516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Click, or press → / Space, to reveal each step. ← goes back. F = full screen.</a:t>
            </a:r>
            <a:endParaRPr lang="en-US" sz="1575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5500116"/>
            <a:ext cx="10820095" cy="10835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5F6272"/>
                </a:solidFill>
                <a:latin typeface="Segoe UI"/>
                <a:cs typeface="Segoe UI"/>
              </a:rPr>
              <a:t xml:space="preserve">Bluebonnet Algebra I</a:t>
            </a: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 · a companion to Bluebonnet Learning Secondary Mathematics, Algebra I, Edition 1</a:t>
            </a:r>
            <a:b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</a:b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This work is based on original works of the Texas Education Agency and Carnegie Learning, Inc. This work is made available under a Creative Commons Attribution-Non-Commercial-4.0 International License. This does not in any way imply endorsement by those authors of this work.</a:t>
            </a:r>
            <a:b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</a:b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©2024–2025 Texas Education Agency, portions ©2021 Carnegie Learning, Inc.</a:t>
            </a:r>
            <a:b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</a:b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Licensed </a:t>
            </a:r>
            <a:r>
              <a:rPr lang="en-US" sz="1125" dirty="0">
                <a:solidFill>
                  <a:srgbClr val="3050B8"/>
                </a:solidFill>
                <a:latin typeface="Segoe UI"/>
                <a:cs typeface="Segoe UI"/>
                <a:hlinkClick r:id="rId7"/>
              </a:rPr>
              <a:t xml:space="preserve">CC BY-NC 4.0</a:t>
            </a: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.</a:t>
            </a:r>
            <a:b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</a:br>
            <a:r>
              <a:rPr lang="en-US" sz="1125" dirty="0" b="1">
                <a:solidFill>
                  <a:srgbClr val="5F6272"/>
                </a:solidFill>
                <a:latin typeface="Segoe UI"/>
                <a:cs typeface="Segoe UI"/>
              </a:rPr>
              <a:t xml:space="preserve">This is a private site for Algebra I teachers and is not publicly available.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Bell Work · Review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Warm up: work these on your own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75638"/>
            <a:ext cx="51433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What is the slope of the line through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(−2.5, −6)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(0, 4)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321)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458212"/>
            <a:ext cx="2078888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4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243834"/>
            <a:ext cx="51433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2. What slope does a line parallel to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= 4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− 3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have?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321)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4026408"/>
            <a:ext cx="2078888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4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362548" y="1675638"/>
            <a:ext cx="51433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3. What slope does a line perpendicular to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= 4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− 3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have?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321)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6362548" y="2458212"/>
            <a:ext cx="2244715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−¼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6362548" y="3243834"/>
            <a:ext cx="5143348" cy="9464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4. The ratio of 9th-graders to 10th-graders is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1 : 1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 What is the slope of this relationship?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320)</a:t>
            </a: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6362548" y="4323588"/>
            <a:ext cx="2078888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1</a:t>
            </a:r>
            <a:endParaRPr lang="en-US" sz="2325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Lesson 4 · SE p. 319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Today you will…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56588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Compare linear functions represented algebraically, graphically, in tables, or with verbal descriptions.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401062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2. Choose and interpret appropriate units to represent independent and dependent quantities in situations modeled by linear functions.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145536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3. Choose and interpret appropriate scales and origins for graphs of linear functions.</a:t>
            </a:r>
            <a:endParaRPr lang="en-US" sz="19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Essential Question · SE p. 319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11064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You have represented linear functions in a variety of different ways.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525268"/>
            <a:ext cx="10820095" cy="8778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700" dirty="0">
                <a:solidFill>
                  <a:srgbClr val="16171D"/>
                </a:solidFill>
                <a:latin typeface="Segoe UI"/>
                <a:cs typeface="Segoe UI"/>
              </a:rPr>
              <a:t xml:space="preserve">How does each linear function representation compare with the others?</a:t>
            </a:r>
            <a:endParaRPr lang="en-US" sz="27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Getting Started · Odd One Out · SE p. 320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11064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Which function does not belong? Justify your choice.</a:t>
            </a:r>
            <a:endParaRPr lang="en-US" sz="3450" dirty="0"/>
          </a:p>
        </p:txBody>
      </p:sp>
      <p:sp>
        <p:nvSpPr>
          <p:cNvPr id="16" name="Shape 16"/>
          <p:cNvSpPr txBox="1"/>
          <p:nvPr/>
        </p:nvSpPr>
        <p:spPr>
          <a:xfrm>
            <a:off x="685800" y="2144268"/>
            <a:ext cx="2605011" cy="33177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2315718"/>
            <a:ext cx="2185911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785872"/>
            <a:ext cx="1143000" cy="37490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50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1500" dirty="0"/>
          </a:p>
        </p:txBody>
      </p:sp>
      <p:sp>
        <p:nvSpPr>
          <p:cNvPr id="6" name="Shape 6"/>
          <p:cNvSpPr txBox="1"/>
          <p:nvPr/>
        </p:nvSpPr>
        <p:spPr>
          <a:xfrm>
            <a:off x="2038350" y="2785872"/>
            <a:ext cx="1143000" cy="37490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50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endParaRPr lang="en-US" sz="1500" dirty="0"/>
          </a:p>
        </p:txBody>
      </p:sp>
      <p:sp>
        <p:nvSpPr>
          <p:cNvPr id="7" name="Shape 7"/>
          <p:cNvSpPr txBox="1"/>
          <p:nvPr/>
        </p:nvSpPr>
        <p:spPr>
          <a:xfrm>
            <a:off x="895350" y="3160776"/>
            <a:ext cx="114300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500" dirty="0">
                <a:solidFill>
                  <a:srgbClr val="16171D"/>
                </a:solidFill>
                <a:latin typeface="Cambria"/>
                <a:cs typeface="Cambria"/>
              </a:rPr>
              <a:t xml:space="preserve">−5</a:t>
            </a:r>
            <a:endParaRPr lang="en-US" sz="1500" dirty="0"/>
          </a:p>
        </p:txBody>
      </p:sp>
      <p:sp>
        <p:nvSpPr>
          <p:cNvPr id="8" name="Shape 8"/>
          <p:cNvSpPr txBox="1"/>
          <p:nvPr/>
        </p:nvSpPr>
        <p:spPr>
          <a:xfrm>
            <a:off x="2038350" y="3160776"/>
            <a:ext cx="114300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500" dirty="0">
                <a:solidFill>
                  <a:srgbClr val="16171D"/>
                </a:solidFill>
                <a:latin typeface="Cambria"/>
                <a:cs typeface="Cambria"/>
              </a:rPr>
              <a:t xml:space="preserve">10</a:t>
            </a:r>
            <a:endParaRPr lang="en-US" sz="1500" dirty="0"/>
          </a:p>
        </p:txBody>
      </p:sp>
      <p:sp>
        <p:nvSpPr>
          <p:cNvPr id="9" name="Shape 9"/>
          <p:cNvSpPr txBox="1"/>
          <p:nvPr/>
        </p:nvSpPr>
        <p:spPr>
          <a:xfrm>
            <a:off x="895350" y="3535680"/>
            <a:ext cx="114300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500" dirty="0">
                <a:solidFill>
                  <a:srgbClr val="16171D"/>
                </a:solidFill>
                <a:latin typeface="Cambria"/>
                <a:cs typeface="Cambria"/>
              </a:rPr>
              <a:t xml:space="preserve">−1.5</a:t>
            </a:r>
            <a:endParaRPr lang="en-US" sz="1500" dirty="0"/>
          </a:p>
        </p:txBody>
      </p:sp>
      <p:sp>
        <p:nvSpPr>
          <p:cNvPr id="10" name="Shape 10"/>
          <p:cNvSpPr txBox="1"/>
          <p:nvPr/>
        </p:nvSpPr>
        <p:spPr>
          <a:xfrm>
            <a:off x="2038350" y="3535680"/>
            <a:ext cx="114300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500" dirty="0">
                <a:solidFill>
                  <a:srgbClr val="16171D"/>
                </a:solidFill>
                <a:latin typeface="Cambria"/>
                <a:cs typeface="Cambria"/>
              </a:rPr>
              <a:t xml:space="preserve">3</a:t>
            </a:r>
            <a:endParaRPr lang="en-US" sz="1500" dirty="0"/>
          </a:p>
        </p:txBody>
      </p:sp>
      <p:sp>
        <p:nvSpPr>
          <p:cNvPr id="11" name="Shape 11"/>
          <p:cNvSpPr txBox="1"/>
          <p:nvPr/>
        </p:nvSpPr>
        <p:spPr>
          <a:xfrm>
            <a:off x="895350" y="3910584"/>
            <a:ext cx="114300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50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500" dirty="0"/>
          </a:p>
        </p:txBody>
      </p:sp>
      <p:sp>
        <p:nvSpPr>
          <p:cNvPr id="12" name="Shape 12"/>
          <p:cNvSpPr txBox="1"/>
          <p:nvPr/>
        </p:nvSpPr>
        <p:spPr>
          <a:xfrm>
            <a:off x="2038350" y="3910584"/>
            <a:ext cx="114300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50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500" dirty="0"/>
          </a:p>
        </p:txBody>
      </p:sp>
      <p:sp>
        <p:nvSpPr>
          <p:cNvPr id="13" name="Shape 13"/>
          <p:cNvSpPr txBox="1"/>
          <p:nvPr/>
        </p:nvSpPr>
        <p:spPr>
          <a:xfrm>
            <a:off x="895350" y="4285488"/>
            <a:ext cx="114300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500" dirty="0">
                <a:solidFill>
                  <a:srgbClr val="16171D"/>
                </a:solidFill>
                <a:latin typeface="Cambria"/>
                <a:cs typeface="Cambria"/>
              </a:rPr>
              <a:t xml:space="preserve">2.5</a:t>
            </a:r>
            <a:endParaRPr lang="en-US" sz="1500" dirty="0"/>
          </a:p>
        </p:txBody>
      </p:sp>
      <p:sp>
        <p:nvSpPr>
          <p:cNvPr id="14" name="Shape 14"/>
          <p:cNvSpPr txBox="1"/>
          <p:nvPr/>
        </p:nvSpPr>
        <p:spPr>
          <a:xfrm>
            <a:off x="2038350" y="4285488"/>
            <a:ext cx="114300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500" dirty="0">
                <a:solidFill>
                  <a:srgbClr val="16171D"/>
                </a:solidFill>
                <a:latin typeface="Cambria"/>
                <a:cs typeface="Cambria"/>
              </a:rPr>
              <a:t xml:space="preserve">−5</a:t>
            </a:r>
            <a:endParaRPr lang="en-US" sz="1500" dirty="0"/>
          </a:p>
        </p:txBody>
      </p:sp>
      <p:sp>
        <p:nvSpPr>
          <p:cNvPr id="15" name="Shape 15"/>
          <p:cNvSpPr txBox="1"/>
          <p:nvPr/>
        </p:nvSpPr>
        <p:spPr>
          <a:xfrm>
            <a:off x="895350" y="4755642"/>
            <a:ext cx="2185911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Only one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decreasing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(slope −2).</a:t>
            </a:r>
            <a:endParaRPr lang="en-US" sz="1575" dirty="0"/>
          </a:p>
        </p:txBody>
      </p:sp>
      <p:sp>
        <p:nvSpPr>
          <p:cNvPr id="20" name="Shape 20"/>
          <p:cNvSpPr txBox="1"/>
          <p:nvPr/>
        </p:nvSpPr>
        <p:spPr>
          <a:xfrm>
            <a:off x="3424161" y="2144268"/>
            <a:ext cx="2605011" cy="221818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7" name="Shape 17"/>
          <p:cNvSpPr txBox="1"/>
          <p:nvPr/>
        </p:nvSpPr>
        <p:spPr>
          <a:xfrm>
            <a:off x="3633711" y="2315718"/>
            <a:ext cx="2185911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</a:t>
            </a:r>
            <a:endParaRPr lang="en-US" sz="2100" dirty="0"/>
          </a:p>
        </p:txBody>
      </p:sp>
      <p:sp>
        <p:nvSpPr>
          <p:cNvPr id="18" name="Shape 18"/>
          <p:cNvSpPr txBox="1"/>
          <p:nvPr/>
        </p:nvSpPr>
        <p:spPr>
          <a:xfrm>
            <a:off x="3633711" y="2785872"/>
            <a:ext cx="2185911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The ratio of 9th- to 10th-graders is 1 : 1.</a:t>
            </a:r>
            <a:endParaRPr lang="en-US" sz="1575" dirty="0"/>
          </a:p>
        </p:txBody>
      </p:sp>
      <p:sp>
        <p:nvSpPr>
          <p:cNvPr id="19" name="Shape 19"/>
          <p:cNvSpPr txBox="1"/>
          <p:nvPr/>
        </p:nvSpPr>
        <p:spPr>
          <a:xfrm>
            <a:off x="3633711" y="3656076"/>
            <a:ext cx="2185911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Only one with a domain of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whole numbers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24" name="Shape 24"/>
          <p:cNvSpPr txBox="1"/>
          <p:nvPr/>
        </p:nvSpPr>
        <p:spPr>
          <a:xfrm>
            <a:off x="6162523" y="2144268"/>
            <a:ext cx="2605011" cy="18524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21" name="Shape 21"/>
          <p:cNvSpPr txBox="1"/>
          <p:nvPr/>
        </p:nvSpPr>
        <p:spPr>
          <a:xfrm>
            <a:off x="6372073" y="2315718"/>
            <a:ext cx="2185911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C</a:t>
            </a:r>
            <a:endParaRPr lang="en-US" sz="2100" dirty="0"/>
          </a:p>
        </p:txBody>
      </p:sp>
      <p:sp>
        <p:nvSpPr>
          <p:cNvPr id="22" name="Shape 22"/>
          <p:cNvSpPr txBox="1"/>
          <p:nvPr/>
        </p:nvSpPr>
        <p:spPr>
          <a:xfrm>
            <a:off x="6372073" y="2785872"/>
            <a:ext cx="2185911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c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⅕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2325" dirty="0"/>
          </a:p>
        </p:txBody>
      </p:sp>
      <p:sp>
        <p:nvSpPr>
          <p:cNvPr id="23" name="Shape 23"/>
          <p:cNvSpPr txBox="1"/>
          <p:nvPr/>
        </p:nvSpPr>
        <p:spPr>
          <a:xfrm>
            <a:off x="6372073" y="3290316"/>
            <a:ext cx="2185911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Only one with a slope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between 0 and 1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67" name="Shape 67"/>
          <p:cNvSpPr txBox="1"/>
          <p:nvPr/>
        </p:nvSpPr>
        <p:spPr>
          <a:xfrm>
            <a:off x="8900884" y="2144268"/>
            <a:ext cx="2605011" cy="33482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25" name="Shape 25"/>
          <p:cNvSpPr txBox="1"/>
          <p:nvPr/>
        </p:nvSpPr>
        <p:spPr>
          <a:xfrm>
            <a:off x="9110434" y="2315718"/>
            <a:ext cx="2185911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</a:t>
            </a:r>
            <a:endParaRPr lang="en-US" sz="2100" dirty="0"/>
          </a:p>
        </p:txBody>
      </p:sp>
      <p:sp>
        <p:nvSpPr>
          <p:cNvPr id="26" name="Shape 26"/>
          <p:cNvSpPr/>
          <p:nvPr/>
        </p:nvSpPr>
        <p:spPr>
          <a:xfrm>
            <a:off x="9110434" y="2785872"/>
            <a:ext cx="1905000" cy="1905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27" name="Line 27"/>
          <p:cNvCxnSpPr/>
          <p:nvPr/>
        </p:nvCxnSpPr>
        <p:spPr>
          <a:xfrm>
            <a:off x="9434284" y="2900172"/>
            <a:ext cx="0" cy="1543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8" name="Line 28"/>
          <p:cNvCxnSpPr/>
          <p:nvPr/>
        </p:nvCxnSpPr>
        <p:spPr>
          <a:xfrm>
            <a:off x="9617640" y="2900172"/>
            <a:ext cx="0" cy="1543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9" name="Line 29"/>
          <p:cNvCxnSpPr/>
          <p:nvPr/>
        </p:nvCxnSpPr>
        <p:spPr>
          <a:xfrm>
            <a:off x="9800996" y="2900172"/>
            <a:ext cx="0" cy="1543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9984353" y="2900172"/>
            <a:ext cx="0" cy="1543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10167709" y="2900172"/>
            <a:ext cx="0" cy="1543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2" name="Line 32"/>
          <p:cNvCxnSpPr/>
          <p:nvPr/>
        </p:nvCxnSpPr>
        <p:spPr>
          <a:xfrm>
            <a:off x="10351065" y="2900172"/>
            <a:ext cx="0" cy="1543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3" name="Line 33"/>
          <p:cNvCxnSpPr/>
          <p:nvPr/>
        </p:nvCxnSpPr>
        <p:spPr>
          <a:xfrm>
            <a:off x="10534421" y="2900172"/>
            <a:ext cx="0" cy="1543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4" name="Line 34"/>
          <p:cNvCxnSpPr/>
          <p:nvPr/>
        </p:nvCxnSpPr>
        <p:spPr>
          <a:xfrm>
            <a:off x="10717778" y="2900172"/>
            <a:ext cx="0" cy="1543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5" name="Line 35"/>
          <p:cNvCxnSpPr/>
          <p:nvPr/>
        </p:nvCxnSpPr>
        <p:spPr>
          <a:xfrm>
            <a:off x="10901134" y="2900172"/>
            <a:ext cx="0" cy="1543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6" name="Line 36"/>
          <p:cNvCxnSpPr/>
          <p:nvPr/>
        </p:nvCxnSpPr>
        <p:spPr>
          <a:xfrm>
            <a:off x="9434284" y="4443222"/>
            <a:ext cx="1466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7" name="Line 37"/>
          <p:cNvCxnSpPr/>
          <p:nvPr/>
        </p:nvCxnSpPr>
        <p:spPr>
          <a:xfrm>
            <a:off x="9434284" y="4314634"/>
            <a:ext cx="1466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8" name="Line 38"/>
          <p:cNvCxnSpPr/>
          <p:nvPr/>
        </p:nvCxnSpPr>
        <p:spPr>
          <a:xfrm>
            <a:off x="9434284" y="4186047"/>
            <a:ext cx="1466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9" name="Line 39"/>
          <p:cNvCxnSpPr/>
          <p:nvPr/>
        </p:nvCxnSpPr>
        <p:spPr>
          <a:xfrm>
            <a:off x="9434284" y="4057460"/>
            <a:ext cx="1466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0" name="Line 40"/>
          <p:cNvCxnSpPr/>
          <p:nvPr/>
        </p:nvCxnSpPr>
        <p:spPr>
          <a:xfrm>
            <a:off x="9434284" y="3928872"/>
            <a:ext cx="1466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1" name="Line 41"/>
          <p:cNvCxnSpPr/>
          <p:nvPr/>
        </p:nvCxnSpPr>
        <p:spPr>
          <a:xfrm>
            <a:off x="9434284" y="3800284"/>
            <a:ext cx="1466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2" name="Line 42"/>
          <p:cNvCxnSpPr/>
          <p:nvPr/>
        </p:nvCxnSpPr>
        <p:spPr>
          <a:xfrm>
            <a:off x="9434284" y="3671697"/>
            <a:ext cx="1466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3" name="Line 43"/>
          <p:cNvCxnSpPr/>
          <p:nvPr/>
        </p:nvCxnSpPr>
        <p:spPr>
          <a:xfrm>
            <a:off x="9434284" y="3543110"/>
            <a:ext cx="1466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4" name="Line 44"/>
          <p:cNvCxnSpPr/>
          <p:nvPr/>
        </p:nvCxnSpPr>
        <p:spPr>
          <a:xfrm>
            <a:off x="9434284" y="3414522"/>
            <a:ext cx="1466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5" name="Line 45"/>
          <p:cNvCxnSpPr/>
          <p:nvPr/>
        </p:nvCxnSpPr>
        <p:spPr>
          <a:xfrm>
            <a:off x="9434284" y="3285934"/>
            <a:ext cx="1466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6" name="Line 46"/>
          <p:cNvCxnSpPr/>
          <p:nvPr/>
        </p:nvCxnSpPr>
        <p:spPr>
          <a:xfrm>
            <a:off x="9434284" y="3157347"/>
            <a:ext cx="1466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7" name="Line 47"/>
          <p:cNvCxnSpPr/>
          <p:nvPr/>
        </p:nvCxnSpPr>
        <p:spPr>
          <a:xfrm>
            <a:off x="9434284" y="3028760"/>
            <a:ext cx="1466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8" name="Line 48"/>
          <p:cNvCxnSpPr/>
          <p:nvPr/>
        </p:nvCxnSpPr>
        <p:spPr>
          <a:xfrm>
            <a:off x="9434284" y="2900172"/>
            <a:ext cx="1466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9" name="Line 49"/>
          <p:cNvCxnSpPr/>
          <p:nvPr/>
        </p:nvCxnSpPr>
        <p:spPr>
          <a:xfrm>
            <a:off x="10167709" y="2900172"/>
            <a:ext cx="0" cy="15430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50" name="Line 50"/>
          <p:cNvCxnSpPr/>
          <p:nvPr/>
        </p:nvCxnSpPr>
        <p:spPr>
          <a:xfrm>
            <a:off x="9434284" y="3928872"/>
            <a:ext cx="146685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51" name="Shape 51"/>
          <p:cNvSpPr txBox="1"/>
          <p:nvPr/>
        </p:nvSpPr>
        <p:spPr>
          <a:xfrm>
            <a:off x="9159964" y="446227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52" name="Shape 52"/>
          <p:cNvSpPr txBox="1"/>
          <p:nvPr/>
        </p:nvSpPr>
        <p:spPr>
          <a:xfrm>
            <a:off x="9526676" y="446227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53" name="Shape 53"/>
          <p:cNvSpPr txBox="1"/>
          <p:nvPr/>
        </p:nvSpPr>
        <p:spPr>
          <a:xfrm>
            <a:off x="9893389" y="446227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54" name="Shape 54"/>
          <p:cNvSpPr txBox="1"/>
          <p:nvPr/>
        </p:nvSpPr>
        <p:spPr>
          <a:xfrm>
            <a:off x="10260101" y="446227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55" name="Shape 55"/>
          <p:cNvSpPr txBox="1"/>
          <p:nvPr/>
        </p:nvSpPr>
        <p:spPr>
          <a:xfrm>
            <a:off x="10626814" y="446227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56" name="Shape 56"/>
          <p:cNvSpPr txBox="1"/>
          <p:nvPr/>
        </p:nvSpPr>
        <p:spPr>
          <a:xfrm>
            <a:off x="8867356" y="4351782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57" name="Shape 57"/>
          <p:cNvSpPr txBox="1"/>
          <p:nvPr/>
        </p:nvSpPr>
        <p:spPr>
          <a:xfrm>
            <a:off x="8867356" y="4094607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58" name="Shape 58"/>
          <p:cNvSpPr txBox="1"/>
          <p:nvPr/>
        </p:nvSpPr>
        <p:spPr>
          <a:xfrm>
            <a:off x="8867356" y="3837432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59" name="Shape 59"/>
          <p:cNvSpPr txBox="1"/>
          <p:nvPr/>
        </p:nvSpPr>
        <p:spPr>
          <a:xfrm>
            <a:off x="8867356" y="3580257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60" name="Shape 60"/>
          <p:cNvSpPr txBox="1"/>
          <p:nvPr/>
        </p:nvSpPr>
        <p:spPr>
          <a:xfrm>
            <a:off x="8867356" y="3323082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61" name="Shape 61"/>
          <p:cNvSpPr txBox="1"/>
          <p:nvPr/>
        </p:nvSpPr>
        <p:spPr>
          <a:xfrm>
            <a:off x="8867356" y="3065907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62" name="Shape 62"/>
          <p:cNvSpPr txBox="1"/>
          <p:nvPr/>
        </p:nvSpPr>
        <p:spPr>
          <a:xfrm>
            <a:off x="8867356" y="2808732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8</a:t>
            </a:r>
            <a:endParaRPr lang="en-US" sz="975" dirty="0"/>
          </a:p>
        </p:txBody>
      </p:sp>
      <p:cxnSp>
        <p:nvCxnSpPr>
          <p:cNvPr id="63" name="Line 63"/>
          <p:cNvCxnSpPr/>
          <p:nvPr/>
        </p:nvCxnSpPr>
        <p:spPr>
          <a:xfrm flipV="1">
            <a:off x="9837668" y="2900172"/>
            <a:ext cx="440055" cy="1543050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sp>
        <p:nvSpPr>
          <p:cNvPr id="64" name="Shape 64"/>
          <p:cNvSpPr/>
          <p:nvPr/>
        </p:nvSpPr>
        <p:spPr>
          <a:xfrm>
            <a:off x="10115321" y="3233547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65" name="Shape 65"/>
          <p:cNvSpPr txBox="1"/>
          <p:nvPr/>
        </p:nvSpPr>
        <p:spPr>
          <a:xfrm>
            <a:off x="10253434" y="3038284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(0, 5)</a:t>
            </a:r>
            <a:endParaRPr lang="en-US" sz="1125" dirty="0"/>
          </a:p>
        </p:txBody>
      </p:sp>
      <p:sp>
        <p:nvSpPr>
          <p:cNvPr id="66" name="Shape 66"/>
          <p:cNvSpPr txBox="1"/>
          <p:nvPr/>
        </p:nvSpPr>
        <p:spPr>
          <a:xfrm>
            <a:off x="9110434" y="4786122"/>
            <a:ext cx="2185911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Only one whose </a:t>
            </a:r>
            <a:r>
              <a:rPr lang="en-US" sz="1575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-intercept isn't 0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Activity 4.1 · Slopes of Linear Relationships · SE p. 321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11064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Parallel, perpendicular, or neither to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 = 4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 − 3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?</a:t>
            </a:r>
            <a:endParaRPr lang="en-US" sz="3450" dirty="0"/>
          </a:p>
        </p:txBody>
      </p:sp>
      <p:sp>
        <p:nvSpPr>
          <p:cNvPr id="16" name="Shape 16"/>
          <p:cNvSpPr txBox="1"/>
          <p:nvPr/>
        </p:nvSpPr>
        <p:spPr>
          <a:xfrm>
            <a:off x="685800" y="2144268"/>
            <a:ext cx="3479698" cy="319201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2315718"/>
            <a:ext cx="30605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a.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78587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1650" dirty="0"/>
          </a:p>
        </p:txBody>
      </p:sp>
      <p:sp>
        <p:nvSpPr>
          <p:cNvPr id="6" name="Shape 6"/>
          <p:cNvSpPr txBox="1"/>
          <p:nvPr/>
        </p:nvSpPr>
        <p:spPr>
          <a:xfrm>
            <a:off x="2038350" y="278587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895350" y="318363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−2.5</a:t>
            </a:r>
            <a:endParaRPr lang="en-US" sz="1650" dirty="0"/>
          </a:p>
        </p:txBody>
      </p:sp>
      <p:sp>
        <p:nvSpPr>
          <p:cNvPr id="8" name="Shape 8"/>
          <p:cNvSpPr txBox="1"/>
          <p:nvPr/>
        </p:nvSpPr>
        <p:spPr>
          <a:xfrm>
            <a:off x="2038350" y="318363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−6</a:t>
            </a:r>
            <a:endParaRPr lang="en-US" sz="1650" dirty="0"/>
          </a:p>
        </p:txBody>
      </p:sp>
      <p:sp>
        <p:nvSpPr>
          <p:cNvPr id="9" name="Shape 9"/>
          <p:cNvSpPr txBox="1"/>
          <p:nvPr/>
        </p:nvSpPr>
        <p:spPr>
          <a:xfrm>
            <a:off x="895350" y="358140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10" name="Shape 10"/>
          <p:cNvSpPr txBox="1"/>
          <p:nvPr/>
        </p:nvSpPr>
        <p:spPr>
          <a:xfrm>
            <a:off x="2038350" y="358140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4</a:t>
            </a:r>
            <a:endParaRPr lang="en-US" sz="1650" dirty="0"/>
          </a:p>
        </p:txBody>
      </p:sp>
      <p:sp>
        <p:nvSpPr>
          <p:cNvPr id="11" name="Shape 11"/>
          <p:cNvSpPr txBox="1"/>
          <p:nvPr/>
        </p:nvSpPr>
        <p:spPr>
          <a:xfrm>
            <a:off x="895350" y="397916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0.5</a:t>
            </a:r>
            <a:endParaRPr lang="en-US" sz="1650" dirty="0"/>
          </a:p>
        </p:txBody>
      </p:sp>
      <p:sp>
        <p:nvSpPr>
          <p:cNvPr id="12" name="Shape 12"/>
          <p:cNvSpPr txBox="1"/>
          <p:nvPr/>
        </p:nvSpPr>
        <p:spPr>
          <a:xfrm>
            <a:off x="2038350" y="397916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6</a:t>
            </a:r>
            <a:endParaRPr lang="en-US" sz="1650" dirty="0"/>
          </a:p>
        </p:txBody>
      </p:sp>
      <p:sp>
        <p:nvSpPr>
          <p:cNvPr id="13" name="Shape 13"/>
          <p:cNvSpPr txBox="1"/>
          <p:nvPr/>
        </p:nvSpPr>
        <p:spPr>
          <a:xfrm>
            <a:off x="895350" y="437692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3</a:t>
            </a:r>
            <a:endParaRPr lang="en-US" sz="1650" dirty="0"/>
          </a:p>
        </p:txBody>
      </p:sp>
      <p:sp>
        <p:nvSpPr>
          <p:cNvPr id="14" name="Shape 14"/>
          <p:cNvSpPr txBox="1"/>
          <p:nvPr/>
        </p:nvSpPr>
        <p:spPr>
          <a:xfrm>
            <a:off x="2038350" y="437692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16</a:t>
            </a:r>
            <a:endParaRPr lang="en-US" sz="1650" dirty="0"/>
          </a:p>
        </p:txBody>
      </p:sp>
      <p:sp>
        <p:nvSpPr>
          <p:cNvPr id="15" name="Shape 15"/>
          <p:cNvSpPr txBox="1"/>
          <p:nvPr/>
        </p:nvSpPr>
        <p:spPr>
          <a:xfrm>
            <a:off x="895350" y="4869942"/>
            <a:ext cx="30605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Slope 4: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parallel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20" name="Shape 20"/>
          <p:cNvSpPr txBox="1"/>
          <p:nvPr/>
        </p:nvSpPr>
        <p:spPr>
          <a:xfrm>
            <a:off x="4355998" y="2144268"/>
            <a:ext cx="3479698" cy="17381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7" name="Shape 17"/>
          <p:cNvSpPr txBox="1"/>
          <p:nvPr/>
        </p:nvSpPr>
        <p:spPr>
          <a:xfrm>
            <a:off x="4565548" y="2315718"/>
            <a:ext cx="30605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b.</a:t>
            </a:r>
            <a:endParaRPr lang="en-US" sz="2100" dirty="0"/>
          </a:p>
        </p:txBody>
      </p:sp>
      <p:sp>
        <p:nvSpPr>
          <p:cNvPr id="18" name="Shape 18"/>
          <p:cNvSpPr txBox="1"/>
          <p:nvPr/>
        </p:nvSpPr>
        <p:spPr>
          <a:xfrm>
            <a:off x="4565548" y="2785872"/>
            <a:ext cx="30605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An elevator descends 4 feet every second.</a:t>
            </a:r>
            <a:endParaRPr lang="en-US" sz="1575" dirty="0"/>
          </a:p>
        </p:txBody>
      </p:sp>
      <p:sp>
        <p:nvSpPr>
          <p:cNvPr id="19" name="Shape 19"/>
          <p:cNvSpPr txBox="1"/>
          <p:nvPr/>
        </p:nvSpPr>
        <p:spPr>
          <a:xfrm>
            <a:off x="4565548" y="3416046"/>
            <a:ext cx="30605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Slope −4: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neither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24" name="Shape 24"/>
          <p:cNvSpPr txBox="1"/>
          <p:nvPr/>
        </p:nvSpPr>
        <p:spPr>
          <a:xfrm>
            <a:off x="8026197" y="2144268"/>
            <a:ext cx="3479698" cy="18524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21" name="Shape 21"/>
          <p:cNvSpPr txBox="1"/>
          <p:nvPr/>
        </p:nvSpPr>
        <p:spPr>
          <a:xfrm>
            <a:off x="8235747" y="2315718"/>
            <a:ext cx="30605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c.</a:t>
            </a:r>
            <a:endParaRPr lang="en-US" sz="2100" dirty="0"/>
          </a:p>
        </p:txBody>
      </p:sp>
      <p:sp>
        <p:nvSpPr>
          <p:cNvPr id="22" name="Shape 22"/>
          <p:cNvSpPr txBox="1"/>
          <p:nvPr/>
        </p:nvSpPr>
        <p:spPr>
          <a:xfrm>
            <a:off x="8235747" y="2785872"/>
            <a:ext cx="30605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¼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+ 5</a:t>
            </a:r>
            <a:endParaRPr lang="en-US" sz="2325" dirty="0"/>
          </a:p>
        </p:txBody>
      </p:sp>
      <p:sp>
        <p:nvSpPr>
          <p:cNvPr id="23" name="Shape 23"/>
          <p:cNvSpPr txBox="1"/>
          <p:nvPr/>
        </p:nvSpPr>
        <p:spPr>
          <a:xfrm>
            <a:off x="8235747" y="3290316"/>
            <a:ext cx="30605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Slope ¼: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neither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4 · ¼ = 1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not −1.</a:t>
            </a:r>
            <a:endParaRPr lang="en-US" sz="1575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Activity 4.1 · Slopes of Linear Relationships · SE p. 321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11064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Parallel, perpendicular, or neither to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 = 4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 − 3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?</a:t>
            </a:r>
            <a:endParaRPr lang="en-US" sz="3450" dirty="0"/>
          </a:p>
        </p:txBody>
      </p:sp>
      <p:sp>
        <p:nvSpPr>
          <p:cNvPr id="54" name="Shape 54"/>
          <p:cNvSpPr txBox="1"/>
          <p:nvPr/>
        </p:nvSpPr>
        <p:spPr>
          <a:xfrm>
            <a:off x="685800" y="2144268"/>
            <a:ext cx="3479698" cy="406069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2315718"/>
            <a:ext cx="30605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d.</a:t>
            </a:r>
            <a:endParaRPr lang="en-US" sz="2100" dirty="0"/>
          </a:p>
        </p:txBody>
      </p:sp>
      <p:sp>
        <p:nvSpPr>
          <p:cNvPr id="5" name="Shape 5"/>
          <p:cNvSpPr/>
          <p:nvPr/>
        </p:nvSpPr>
        <p:spPr>
          <a:xfrm>
            <a:off x="895350" y="2785872"/>
            <a:ext cx="28575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1219200" y="290017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" name="Line 7"/>
          <p:cNvCxnSpPr/>
          <p:nvPr/>
        </p:nvCxnSpPr>
        <p:spPr>
          <a:xfrm>
            <a:off x="1370409" y="290017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8" name="Line 8"/>
          <p:cNvCxnSpPr/>
          <p:nvPr/>
        </p:nvCxnSpPr>
        <p:spPr>
          <a:xfrm>
            <a:off x="1521619" y="290017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9" name="Line 9"/>
          <p:cNvCxnSpPr/>
          <p:nvPr/>
        </p:nvCxnSpPr>
        <p:spPr>
          <a:xfrm>
            <a:off x="1672828" y="290017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0" name="Line 10"/>
          <p:cNvCxnSpPr/>
          <p:nvPr/>
        </p:nvCxnSpPr>
        <p:spPr>
          <a:xfrm>
            <a:off x="1824037" y="290017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1" name="Line 11"/>
          <p:cNvCxnSpPr/>
          <p:nvPr/>
        </p:nvCxnSpPr>
        <p:spPr>
          <a:xfrm>
            <a:off x="1975247" y="290017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2" name="Line 12"/>
          <p:cNvCxnSpPr/>
          <p:nvPr/>
        </p:nvCxnSpPr>
        <p:spPr>
          <a:xfrm>
            <a:off x="2126456" y="290017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3" name="Line 13"/>
          <p:cNvCxnSpPr/>
          <p:nvPr/>
        </p:nvCxnSpPr>
        <p:spPr>
          <a:xfrm>
            <a:off x="2277666" y="290017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4" name="Line 14"/>
          <p:cNvCxnSpPr/>
          <p:nvPr/>
        </p:nvCxnSpPr>
        <p:spPr>
          <a:xfrm>
            <a:off x="2428875" y="290017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5" name="Line 15"/>
          <p:cNvCxnSpPr/>
          <p:nvPr/>
        </p:nvCxnSpPr>
        <p:spPr>
          <a:xfrm>
            <a:off x="2580084" y="290017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6" name="Line 16"/>
          <p:cNvCxnSpPr/>
          <p:nvPr/>
        </p:nvCxnSpPr>
        <p:spPr>
          <a:xfrm>
            <a:off x="2731294" y="290017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7" name="Line 17"/>
          <p:cNvCxnSpPr/>
          <p:nvPr/>
        </p:nvCxnSpPr>
        <p:spPr>
          <a:xfrm>
            <a:off x="2882503" y="290017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8" name="Line 18"/>
          <p:cNvCxnSpPr/>
          <p:nvPr/>
        </p:nvCxnSpPr>
        <p:spPr>
          <a:xfrm>
            <a:off x="3033712" y="290017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9" name="Line 19"/>
          <p:cNvCxnSpPr/>
          <p:nvPr/>
        </p:nvCxnSpPr>
        <p:spPr>
          <a:xfrm>
            <a:off x="3184922" y="290017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0" name="Line 20"/>
          <p:cNvCxnSpPr/>
          <p:nvPr/>
        </p:nvCxnSpPr>
        <p:spPr>
          <a:xfrm>
            <a:off x="3336131" y="290017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1" name="Line 21"/>
          <p:cNvCxnSpPr/>
          <p:nvPr/>
        </p:nvCxnSpPr>
        <p:spPr>
          <a:xfrm>
            <a:off x="3487341" y="290017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2" name="Line 22"/>
          <p:cNvCxnSpPr/>
          <p:nvPr/>
        </p:nvCxnSpPr>
        <p:spPr>
          <a:xfrm>
            <a:off x="3638550" y="290017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3" name="Line 23"/>
          <p:cNvCxnSpPr/>
          <p:nvPr/>
        </p:nvCxnSpPr>
        <p:spPr>
          <a:xfrm>
            <a:off x="1219200" y="5395722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4" name="Line 24"/>
          <p:cNvCxnSpPr/>
          <p:nvPr/>
        </p:nvCxnSpPr>
        <p:spPr>
          <a:xfrm>
            <a:off x="1219200" y="5239750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5" name="Line 25"/>
          <p:cNvCxnSpPr/>
          <p:nvPr/>
        </p:nvCxnSpPr>
        <p:spPr>
          <a:xfrm>
            <a:off x="1219200" y="5083778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6" name="Line 26"/>
          <p:cNvCxnSpPr/>
          <p:nvPr/>
        </p:nvCxnSpPr>
        <p:spPr>
          <a:xfrm>
            <a:off x="1219200" y="4927806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7" name="Line 27"/>
          <p:cNvCxnSpPr/>
          <p:nvPr/>
        </p:nvCxnSpPr>
        <p:spPr>
          <a:xfrm>
            <a:off x="1219200" y="4771834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8" name="Line 28"/>
          <p:cNvCxnSpPr/>
          <p:nvPr/>
        </p:nvCxnSpPr>
        <p:spPr>
          <a:xfrm>
            <a:off x="1219200" y="4615863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9" name="Line 29"/>
          <p:cNvCxnSpPr/>
          <p:nvPr/>
        </p:nvCxnSpPr>
        <p:spPr>
          <a:xfrm>
            <a:off x="1219200" y="4459891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1219200" y="4303919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1219200" y="4147947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2" name="Line 32"/>
          <p:cNvCxnSpPr/>
          <p:nvPr/>
        </p:nvCxnSpPr>
        <p:spPr>
          <a:xfrm>
            <a:off x="1219200" y="3991975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3" name="Line 33"/>
          <p:cNvCxnSpPr/>
          <p:nvPr/>
        </p:nvCxnSpPr>
        <p:spPr>
          <a:xfrm>
            <a:off x="1219200" y="3836003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4" name="Line 34"/>
          <p:cNvCxnSpPr/>
          <p:nvPr/>
        </p:nvCxnSpPr>
        <p:spPr>
          <a:xfrm>
            <a:off x="1219200" y="3680031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5" name="Line 35"/>
          <p:cNvCxnSpPr/>
          <p:nvPr/>
        </p:nvCxnSpPr>
        <p:spPr>
          <a:xfrm>
            <a:off x="1219200" y="3524059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6" name="Line 36"/>
          <p:cNvCxnSpPr/>
          <p:nvPr/>
        </p:nvCxnSpPr>
        <p:spPr>
          <a:xfrm>
            <a:off x="1219200" y="3368088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7" name="Line 37"/>
          <p:cNvCxnSpPr/>
          <p:nvPr/>
        </p:nvCxnSpPr>
        <p:spPr>
          <a:xfrm>
            <a:off x="1219200" y="3212116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8" name="Line 38"/>
          <p:cNvCxnSpPr/>
          <p:nvPr/>
        </p:nvCxnSpPr>
        <p:spPr>
          <a:xfrm>
            <a:off x="1219200" y="3056144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9" name="Line 39"/>
          <p:cNvCxnSpPr/>
          <p:nvPr/>
        </p:nvCxnSpPr>
        <p:spPr>
          <a:xfrm>
            <a:off x="1219200" y="2900172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0" name="Line 40"/>
          <p:cNvCxnSpPr/>
          <p:nvPr/>
        </p:nvCxnSpPr>
        <p:spPr>
          <a:xfrm>
            <a:off x="2428875" y="2900172"/>
            <a:ext cx="0" cy="24955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41" name="Line 41"/>
          <p:cNvCxnSpPr/>
          <p:nvPr/>
        </p:nvCxnSpPr>
        <p:spPr>
          <a:xfrm>
            <a:off x="1219200" y="4147947"/>
            <a:ext cx="241935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42" name="Shape 42"/>
          <p:cNvSpPr txBox="1"/>
          <p:nvPr/>
        </p:nvSpPr>
        <p:spPr>
          <a:xfrm>
            <a:off x="944880" y="541477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−8</a:t>
            </a:r>
            <a:endParaRPr lang="en-US" sz="975" dirty="0"/>
          </a:p>
        </p:txBody>
      </p:sp>
      <p:sp>
        <p:nvSpPr>
          <p:cNvPr id="43" name="Shape 43"/>
          <p:cNvSpPr txBox="1"/>
          <p:nvPr/>
        </p:nvSpPr>
        <p:spPr>
          <a:xfrm>
            <a:off x="1549717" y="541477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44" name="Shape 44"/>
          <p:cNvSpPr txBox="1"/>
          <p:nvPr/>
        </p:nvSpPr>
        <p:spPr>
          <a:xfrm>
            <a:off x="2154555" y="541477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45" name="Shape 45"/>
          <p:cNvSpPr txBox="1"/>
          <p:nvPr/>
        </p:nvSpPr>
        <p:spPr>
          <a:xfrm>
            <a:off x="2759392" y="541477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46" name="Shape 46"/>
          <p:cNvSpPr txBox="1"/>
          <p:nvPr/>
        </p:nvSpPr>
        <p:spPr>
          <a:xfrm>
            <a:off x="3364230" y="541477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8</a:t>
            </a:r>
            <a:endParaRPr lang="en-US" sz="975" dirty="0"/>
          </a:p>
        </p:txBody>
      </p:sp>
      <p:sp>
        <p:nvSpPr>
          <p:cNvPr id="47" name="Shape 47"/>
          <p:cNvSpPr txBox="1"/>
          <p:nvPr/>
        </p:nvSpPr>
        <p:spPr>
          <a:xfrm>
            <a:off x="652272" y="5304282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−8</a:t>
            </a:r>
            <a:endParaRPr lang="en-US" sz="975" dirty="0"/>
          </a:p>
        </p:txBody>
      </p:sp>
      <p:sp>
        <p:nvSpPr>
          <p:cNvPr id="48" name="Shape 48"/>
          <p:cNvSpPr txBox="1"/>
          <p:nvPr/>
        </p:nvSpPr>
        <p:spPr>
          <a:xfrm>
            <a:off x="652272" y="4680395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49" name="Shape 49"/>
          <p:cNvSpPr txBox="1"/>
          <p:nvPr/>
        </p:nvSpPr>
        <p:spPr>
          <a:xfrm>
            <a:off x="652272" y="4056507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50" name="Shape 50"/>
          <p:cNvSpPr txBox="1"/>
          <p:nvPr/>
        </p:nvSpPr>
        <p:spPr>
          <a:xfrm>
            <a:off x="652272" y="3432619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51" name="Shape 51"/>
          <p:cNvSpPr txBox="1"/>
          <p:nvPr/>
        </p:nvSpPr>
        <p:spPr>
          <a:xfrm>
            <a:off x="652272" y="2808732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8</a:t>
            </a:r>
            <a:endParaRPr lang="en-US" sz="975" dirty="0"/>
          </a:p>
        </p:txBody>
      </p:sp>
      <p:cxnSp>
        <p:nvCxnSpPr>
          <p:cNvPr id="52" name="Line 52"/>
          <p:cNvCxnSpPr/>
          <p:nvPr/>
        </p:nvCxnSpPr>
        <p:spPr>
          <a:xfrm flipV="1">
            <a:off x="1219200" y="3913989"/>
            <a:ext cx="2419350" cy="623888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sp>
        <p:nvSpPr>
          <p:cNvPr id="53" name="Shape 53"/>
          <p:cNvSpPr txBox="1"/>
          <p:nvPr/>
        </p:nvSpPr>
        <p:spPr>
          <a:xfrm>
            <a:off x="895350" y="5738622"/>
            <a:ext cx="30605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Slope ¼: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neither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67" name="Shape 67"/>
          <p:cNvSpPr txBox="1"/>
          <p:nvPr/>
        </p:nvSpPr>
        <p:spPr>
          <a:xfrm>
            <a:off x="4355998" y="2144268"/>
            <a:ext cx="3479698" cy="319201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55" name="Shape 55"/>
          <p:cNvSpPr txBox="1"/>
          <p:nvPr/>
        </p:nvSpPr>
        <p:spPr>
          <a:xfrm>
            <a:off x="4565548" y="2315718"/>
            <a:ext cx="30605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e.</a:t>
            </a:r>
            <a:endParaRPr lang="en-US" sz="2100" dirty="0"/>
          </a:p>
        </p:txBody>
      </p:sp>
      <p:sp>
        <p:nvSpPr>
          <p:cNvPr id="56" name="Shape 56"/>
          <p:cNvSpPr txBox="1"/>
          <p:nvPr/>
        </p:nvSpPr>
        <p:spPr>
          <a:xfrm>
            <a:off x="4565548" y="278587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1650" dirty="0"/>
          </a:p>
        </p:txBody>
      </p:sp>
      <p:sp>
        <p:nvSpPr>
          <p:cNvPr id="57" name="Shape 57"/>
          <p:cNvSpPr txBox="1"/>
          <p:nvPr/>
        </p:nvSpPr>
        <p:spPr>
          <a:xfrm>
            <a:off x="5708548" y="278587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endParaRPr lang="en-US" sz="1650" dirty="0"/>
          </a:p>
        </p:txBody>
      </p:sp>
      <p:sp>
        <p:nvSpPr>
          <p:cNvPr id="58" name="Shape 58"/>
          <p:cNvSpPr txBox="1"/>
          <p:nvPr/>
        </p:nvSpPr>
        <p:spPr>
          <a:xfrm>
            <a:off x="4565548" y="318363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−4</a:t>
            </a:r>
            <a:endParaRPr lang="en-US" sz="1650" dirty="0"/>
          </a:p>
        </p:txBody>
      </p:sp>
      <p:sp>
        <p:nvSpPr>
          <p:cNvPr id="59" name="Shape 59"/>
          <p:cNvSpPr txBox="1"/>
          <p:nvPr/>
        </p:nvSpPr>
        <p:spPr>
          <a:xfrm>
            <a:off x="5708548" y="318363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3</a:t>
            </a:r>
            <a:endParaRPr lang="en-US" sz="1650" dirty="0"/>
          </a:p>
        </p:txBody>
      </p:sp>
      <p:sp>
        <p:nvSpPr>
          <p:cNvPr id="60" name="Shape 60"/>
          <p:cNvSpPr txBox="1"/>
          <p:nvPr/>
        </p:nvSpPr>
        <p:spPr>
          <a:xfrm>
            <a:off x="4565548" y="358140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61" name="Shape 61"/>
          <p:cNvSpPr txBox="1"/>
          <p:nvPr/>
        </p:nvSpPr>
        <p:spPr>
          <a:xfrm>
            <a:off x="5708548" y="358140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1650" dirty="0"/>
          </a:p>
        </p:txBody>
      </p:sp>
      <p:sp>
        <p:nvSpPr>
          <p:cNvPr id="62" name="Shape 62"/>
          <p:cNvSpPr txBox="1"/>
          <p:nvPr/>
        </p:nvSpPr>
        <p:spPr>
          <a:xfrm>
            <a:off x="4565548" y="397916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1650" dirty="0"/>
          </a:p>
        </p:txBody>
      </p:sp>
      <p:sp>
        <p:nvSpPr>
          <p:cNvPr id="63" name="Shape 63"/>
          <p:cNvSpPr txBox="1"/>
          <p:nvPr/>
        </p:nvSpPr>
        <p:spPr>
          <a:xfrm>
            <a:off x="5708548" y="397916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1.5</a:t>
            </a:r>
            <a:endParaRPr lang="en-US" sz="1650" dirty="0"/>
          </a:p>
        </p:txBody>
      </p:sp>
      <p:sp>
        <p:nvSpPr>
          <p:cNvPr id="64" name="Shape 64"/>
          <p:cNvSpPr txBox="1"/>
          <p:nvPr/>
        </p:nvSpPr>
        <p:spPr>
          <a:xfrm>
            <a:off x="4565548" y="437692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8</a:t>
            </a:r>
            <a:endParaRPr lang="en-US" sz="1650" dirty="0"/>
          </a:p>
        </p:txBody>
      </p:sp>
      <p:sp>
        <p:nvSpPr>
          <p:cNvPr id="65" name="Shape 65"/>
          <p:cNvSpPr txBox="1"/>
          <p:nvPr/>
        </p:nvSpPr>
        <p:spPr>
          <a:xfrm>
            <a:off x="5708548" y="437692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66" name="Shape 66"/>
          <p:cNvSpPr txBox="1"/>
          <p:nvPr/>
        </p:nvSpPr>
        <p:spPr>
          <a:xfrm>
            <a:off x="4565548" y="4869942"/>
            <a:ext cx="30605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Slope −¼: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perpendicular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71" name="Shape 71"/>
          <p:cNvSpPr txBox="1"/>
          <p:nvPr/>
        </p:nvSpPr>
        <p:spPr>
          <a:xfrm>
            <a:off x="8026197" y="2144268"/>
            <a:ext cx="3479698" cy="17381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68" name="Shape 68"/>
          <p:cNvSpPr txBox="1"/>
          <p:nvPr/>
        </p:nvSpPr>
        <p:spPr>
          <a:xfrm>
            <a:off x="8235747" y="2315718"/>
            <a:ext cx="30605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f.</a:t>
            </a:r>
            <a:endParaRPr lang="en-US" sz="2100" dirty="0"/>
          </a:p>
        </p:txBody>
      </p:sp>
      <p:sp>
        <p:nvSpPr>
          <p:cNvPr id="69" name="Shape 69"/>
          <p:cNvSpPr txBox="1"/>
          <p:nvPr/>
        </p:nvSpPr>
        <p:spPr>
          <a:xfrm>
            <a:off x="8235747" y="2785872"/>
            <a:ext cx="30605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For every hour Chiletso bakes, she makes 4 dozen cookies.</a:t>
            </a:r>
            <a:endParaRPr lang="en-US" sz="1575" dirty="0"/>
          </a:p>
        </p:txBody>
      </p:sp>
      <p:sp>
        <p:nvSpPr>
          <p:cNvPr id="70" name="Shape 70"/>
          <p:cNvSpPr txBox="1"/>
          <p:nvPr/>
        </p:nvSpPr>
        <p:spPr>
          <a:xfrm>
            <a:off x="8235747" y="3416046"/>
            <a:ext cx="30605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Slope 4: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parallel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Activity 4.2 · Comparing Tables and Graphs · SE p. 322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Recycling cardboard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Travis County</a:t>
            </a:r>
            <a:endParaRPr lang="en-US" sz="157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008632"/>
            <a:ext cx="1965198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Weight (tons)</a:t>
            </a:r>
            <a:endParaRPr lang="en-US" sz="1650" dirty="0"/>
          </a:p>
        </p:txBody>
      </p:sp>
      <p:sp>
        <p:nvSpPr>
          <p:cNvPr id="6" name="Shape 6"/>
          <p:cNvSpPr txBox="1"/>
          <p:nvPr/>
        </p:nvSpPr>
        <p:spPr>
          <a:xfrm>
            <a:off x="2650998" y="2008632"/>
            <a:ext cx="16383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Payout ($)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2406396"/>
            <a:ext cx="1965198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0.5</a:t>
            </a:r>
            <a:endParaRPr lang="en-US" sz="1650" dirty="0"/>
          </a:p>
        </p:txBody>
      </p:sp>
      <p:sp>
        <p:nvSpPr>
          <p:cNvPr id="8" name="Shape 8"/>
          <p:cNvSpPr txBox="1"/>
          <p:nvPr/>
        </p:nvSpPr>
        <p:spPr>
          <a:xfrm>
            <a:off x="2650998" y="2406396"/>
            <a:ext cx="16383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7.50</a:t>
            </a:r>
            <a:endParaRPr lang="en-US" sz="1650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2804160"/>
            <a:ext cx="1965198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</a:t>
            </a:r>
            <a:endParaRPr lang="en-US" sz="1650" dirty="0"/>
          </a:p>
        </p:txBody>
      </p:sp>
      <p:sp>
        <p:nvSpPr>
          <p:cNvPr id="10" name="Shape 10"/>
          <p:cNvSpPr txBox="1"/>
          <p:nvPr/>
        </p:nvSpPr>
        <p:spPr>
          <a:xfrm>
            <a:off x="2650998" y="2804160"/>
            <a:ext cx="16383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15</a:t>
            </a:r>
            <a:endParaRPr lang="en-US" sz="1650" dirty="0"/>
          </a:p>
        </p:txBody>
      </p:sp>
      <p:sp>
        <p:nvSpPr>
          <p:cNvPr id="11" name="Shape 11"/>
          <p:cNvSpPr txBox="1"/>
          <p:nvPr/>
        </p:nvSpPr>
        <p:spPr>
          <a:xfrm>
            <a:off x="685800" y="3201924"/>
            <a:ext cx="1965198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1.5</a:t>
            </a:r>
            <a:endParaRPr lang="en-US" sz="1650" dirty="0"/>
          </a:p>
        </p:txBody>
      </p:sp>
      <p:sp>
        <p:nvSpPr>
          <p:cNvPr id="12" name="Shape 12"/>
          <p:cNvSpPr txBox="1"/>
          <p:nvPr/>
        </p:nvSpPr>
        <p:spPr>
          <a:xfrm>
            <a:off x="2650998" y="3201924"/>
            <a:ext cx="16383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22.50</a:t>
            </a:r>
            <a:endParaRPr lang="en-US" sz="1650" dirty="0"/>
          </a:p>
        </p:txBody>
      </p:sp>
      <p:sp>
        <p:nvSpPr>
          <p:cNvPr id="13" name="Shape 13"/>
          <p:cNvSpPr txBox="1"/>
          <p:nvPr/>
        </p:nvSpPr>
        <p:spPr>
          <a:xfrm>
            <a:off x="685800" y="3599688"/>
            <a:ext cx="1965198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1650" dirty="0"/>
          </a:p>
        </p:txBody>
      </p:sp>
      <p:sp>
        <p:nvSpPr>
          <p:cNvPr id="14" name="Shape 14"/>
          <p:cNvSpPr txBox="1"/>
          <p:nvPr/>
        </p:nvSpPr>
        <p:spPr>
          <a:xfrm>
            <a:off x="2650998" y="3599688"/>
            <a:ext cx="16383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30</a:t>
            </a:r>
            <a:endParaRPr lang="en-US" sz="1650" dirty="0"/>
          </a:p>
        </p:txBody>
      </p:sp>
      <p:sp>
        <p:nvSpPr>
          <p:cNvPr id="15" name="Shape 15"/>
          <p:cNvSpPr txBox="1"/>
          <p:nvPr/>
        </p:nvSpPr>
        <p:spPr>
          <a:xfrm>
            <a:off x="685800" y="4092702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w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(0.5)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&lt;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(0.5)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w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(1)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&lt;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(1)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w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(3)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&lt;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(3)</a:t>
            </a:r>
            <a:endParaRPr lang="en-US" sz="1575" dirty="0"/>
          </a:p>
        </p:txBody>
      </p:sp>
      <p:sp>
        <p:nvSpPr>
          <p:cNvPr id="16" name="Shape 16"/>
          <p:cNvSpPr txBox="1"/>
          <p:nvPr/>
        </p:nvSpPr>
        <p:spPr>
          <a:xfrm>
            <a:off x="6286348" y="1618488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Hays County</a:t>
            </a:r>
            <a:endParaRPr lang="en-US" sz="1575" dirty="0"/>
          </a:p>
        </p:txBody>
      </p:sp>
      <p:sp>
        <p:nvSpPr>
          <p:cNvPr id="17" name="Shape 17"/>
          <p:cNvSpPr/>
          <p:nvPr/>
        </p:nvSpPr>
        <p:spPr>
          <a:xfrm>
            <a:off x="6286348" y="2008632"/>
            <a:ext cx="3048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18" name="Line 18"/>
          <p:cNvCxnSpPr/>
          <p:nvPr/>
        </p:nvCxnSpPr>
        <p:spPr>
          <a:xfrm>
            <a:off x="6610198" y="212293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9" name="Line 19"/>
          <p:cNvCxnSpPr/>
          <p:nvPr/>
        </p:nvCxnSpPr>
        <p:spPr>
          <a:xfrm>
            <a:off x="6936429" y="212293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0" name="Line 20"/>
          <p:cNvCxnSpPr/>
          <p:nvPr/>
        </p:nvCxnSpPr>
        <p:spPr>
          <a:xfrm>
            <a:off x="7262660" y="212293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1" name="Line 21"/>
          <p:cNvCxnSpPr/>
          <p:nvPr/>
        </p:nvCxnSpPr>
        <p:spPr>
          <a:xfrm>
            <a:off x="7588891" y="212293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2" name="Line 22"/>
          <p:cNvCxnSpPr/>
          <p:nvPr/>
        </p:nvCxnSpPr>
        <p:spPr>
          <a:xfrm>
            <a:off x="7915123" y="212293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3" name="Line 23"/>
          <p:cNvCxnSpPr/>
          <p:nvPr/>
        </p:nvCxnSpPr>
        <p:spPr>
          <a:xfrm>
            <a:off x="8241354" y="212293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4" name="Line 24"/>
          <p:cNvCxnSpPr/>
          <p:nvPr/>
        </p:nvCxnSpPr>
        <p:spPr>
          <a:xfrm>
            <a:off x="8567585" y="212293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5" name="Line 25"/>
          <p:cNvCxnSpPr/>
          <p:nvPr/>
        </p:nvCxnSpPr>
        <p:spPr>
          <a:xfrm>
            <a:off x="8893816" y="212293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6" name="Line 26"/>
          <p:cNvCxnSpPr/>
          <p:nvPr/>
        </p:nvCxnSpPr>
        <p:spPr>
          <a:xfrm>
            <a:off x="9220048" y="212293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7" name="Line 27"/>
          <p:cNvCxnSpPr/>
          <p:nvPr/>
        </p:nvCxnSpPr>
        <p:spPr>
          <a:xfrm>
            <a:off x="6610198" y="4618482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8" name="Line 28"/>
          <p:cNvCxnSpPr/>
          <p:nvPr/>
        </p:nvCxnSpPr>
        <p:spPr>
          <a:xfrm>
            <a:off x="6610198" y="450504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9" name="Line 29"/>
          <p:cNvCxnSpPr/>
          <p:nvPr/>
        </p:nvCxnSpPr>
        <p:spPr>
          <a:xfrm>
            <a:off x="6610198" y="4391614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6610198" y="4278180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6610198" y="4164746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2" name="Line 32"/>
          <p:cNvCxnSpPr/>
          <p:nvPr/>
        </p:nvCxnSpPr>
        <p:spPr>
          <a:xfrm>
            <a:off x="6610198" y="4051312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3" name="Line 33"/>
          <p:cNvCxnSpPr/>
          <p:nvPr/>
        </p:nvCxnSpPr>
        <p:spPr>
          <a:xfrm>
            <a:off x="6610198" y="3937877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4" name="Line 34"/>
          <p:cNvCxnSpPr/>
          <p:nvPr/>
        </p:nvCxnSpPr>
        <p:spPr>
          <a:xfrm>
            <a:off x="6610198" y="382444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5" name="Line 35"/>
          <p:cNvCxnSpPr/>
          <p:nvPr/>
        </p:nvCxnSpPr>
        <p:spPr>
          <a:xfrm>
            <a:off x="6610198" y="3711009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6" name="Line 36"/>
          <p:cNvCxnSpPr/>
          <p:nvPr/>
        </p:nvCxnSpPr>
        <p:spPr>
          <a:xfrm>
            <a:off x="6610198" y="3597575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7" name="Line 37"/>
          <p:cNvCxnSpPr/>
          <p:nvPr/>
        </p:nvCxnSpPr>
        <p:spPr>
          <a:xfrm>
            <a:off x="6610198" y="3484141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8" name="Line 38"/>
          <p:cNvCxnSpPr/>
          <p:nvPr/>
        </p:nvCxnSpPr>
        <p:spPr>
          <a:xfrm>
            <a:off x="6610198" y="3370707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9" name="Line 39"/>
          <p:cNvCxnSpPr/>
          <p:nvPr/>
        </p:nvCxnSpPr>
        <p:spPr>
          <a:xfrm>
            <a:off x="6610198" y="325727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0" name="Line 40"/>
          <p:cNvCxnSpPr/>
          <p:nvPr/>
        </p:nvCxnSpPr>
        <p:spPr>
          <a:xfrm>
            <a:off x="6610198" y="3143839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1" name="Line 41"/>
          <p:cNvCxnSpPr/>
          <p:nvPr/>
        </p:nvCxnSpPr>
        <p:spPr>
          <a:xfrm>
            <a:off x="6610198" y="3030405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2" name="Line 42"/>
          <p:cNvCxnSpPr/>
          <p:nvPr/>
        </p:nvCxnSpPr>
        <p:spPr>
          <a:xfrm>
            <a:off x="6610198" y="2916971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3" name="Line 43"/>
          <p:cNvCxnSpPr/>
          <p:nvPr/>
        </p:nvCxnSpPr>
        <p:spPr>
          <a:xfrm>
            <a:off x="6610198" y="2803537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4" name="Line 44"/>
          <p:cNvCxnSpPr/>
          <p:nvPr/>
        </p:nvCxnSpPr>
        <p:spPr>
          <a:xfrm>
            <a:off x="6610198" y="2690102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5" name="Line 45"/>
          <p:cNvCxnSpPr/>
          <p:nvPr/>
        </p:nvCxnSpPr>
        <p:spPr>
          <a:xfrm>
            <a:off x="6610198" y="257666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6" name="Line 46"/>
          <p:cNvCxnSpPr/>
          <p:nvPr/>
        </p:nvCxnSpPr>
        <p:spPr>
          <a:xfrm>
            <a:off x="6610198" y="2463234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7" name="Line 47"/>
          <p:cNvCxnSpPr/>
          <p:nvPr/>
        </p:nvCxnSpPr>
        <p:spPr>
          <a:xfrm>
            <a:off x="6610198" y="2349800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8" name="Line 48"/>
          <p:cNvCxnSpPr/>
          <p:nvPr/>
        </p:nvCxnSpPr>
        <p:spPr>
          <a:xfrm>
            <a:off x="6610198" y="2236366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9" name="Line 49"/>
          <p:cNvCxnSpPr/>
          <p:nvPr/>
        </p:nvCxnSpPr>
        <p:spPr>
          <a:xfrm>
            <a:off x="6610198" y="2122932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0" name="Line 50"/>
          <p:cNvCxnSpPr/>
          <p:nvPr/>
        </p:nvCxnSpPr>
        <p:spPr>
          <a:xfrm>
            <a:off x="6610198" y="2122932"/>
            <a:ext cx="0" cy="24955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51" name="Line 51"/>
          <p:cNvCxnSpPr/>
          <p:nvPr/>
        </p:nvCxnSpPr>
        <p:spPr>
          <a:xfrm>
            <a:off x="6610198" y="4618482"/>
            <a:ext cx="260985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52" name="Shape 52"/>
          <p:cNvSpPr txBox="1"/>
          <p:nvPr/>
        </p:nvSpPr>
        <p:spPr>
          <a:xfrm>
            <a:off x="6335878" y="463753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53" name="Shape 53"/>
          <p:cNvSpPr txBox="1"/>
          <p:nvPr/>
        </p:nvSpPr>
        <p:spPr>
          <a:xfrm>
            <a:off x="6988340" y="463753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</a:t>
            </a:r>
            <a:endParaRPr lang="en-US" sz="975" dirty="0"/>
          </a:p>
        </p:txBody>
      </p:sp>
      <p:sp>
        <p:nvSpPr>
          <p:cNvPr id="54" name="Shape 54"/>
          <p:cNvSpPr txBox="1"/>
          <p:nvPr/>
        </p:nvSpPr>
        <p:spPr>
          <a:xfrm>
            <a:off x="7640803" y="463753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55" name="Shape 55"/>
          <p:cNvSpPr txBox="1"/>
          <p:nvPr/>
        </p:nvSpPr>
        <p:spPr>
          <a:xfrm>
            <a:off x="8293265" y="463753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3</a:t>
            </a:r>
            <a:endParaRPr lang="en-US" sz="975" dirty="0"/>
          </a:p>
        </p:txBody>
      </p:sp>
      <p:sp>
        <p:nvSpPr>
          <p:cNvPr id="56" name="Shape 56"/>
          <p:cNvSpPr txBox="1"/>
          <p:nvPr/>
        </p:nvSpPr>
        <p:spPr>
          <a:xfrm>
            <a:off x="8945728" y="463753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57" name="Shape 57"/>
          <p:cNvSpPr txBox="1"/>
          <p:nvPr/>
        </p:nvSpPr>
        <p:spPr>
          <a:xfrm>
            <a:off x="6043270" y="4527042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58" name="Shape 58"/>
          <p:cNvSpPr txBox="1"/>
          <p:nvPr/>
        </p:nvSpPr>
        <p:spPr>
          <a:xfrm>
            <a:off x="6043270" y="3959872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5</a:t>
            </a:r>
            <a:endParaRPr lang="en-US" sz="975" dirty="0"/>
          </a:p>
        </p:txBody>
      </p:sp>
      <p:sp>
        <p:nvSpPr>
          <p:cNvPr id="59" name="Shape 59"/>
          <p:cNvSpPr txBox="1"/>
          <p:nvPr/>
        </p:nvSpPr>
        <p:spPr>
          <a:xfrm>
            <a:off x="6043270" y="3392701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10</a:t>
            </a:r>
            <a:endParaRPr lang="en-US" sz="975" dirty="0"/>
          </a:p>
        </p:txBody>
      </p:sp>
      <p:sp>
        <p:nvSpPr>
          <p:cNvPr id="60" name="Shape 60"/>
          <p:cNvSpPr txBox="1"/>
          <p:nvPr/>
        </p:nvSpPr>
        <p:spPr>
          <a:xfrm>
            <a:off x="6043270" y="2825531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15</a:t>
            </a:r>
            <a:endParaRPr lang="en-US" sz="975" dirty="0"/>
          </a:p>
        </p:txBody>
      </p:sp>
      <p:sp>
        <p:nvSpPr>
          <p:cNvPr id="61" name="Shape 61"/>
          <p:cNvSpPr txBox="1"/>
          <p:nvPr/>
        </p:nvSpPr>
        <p:spPr>
          <a:xfrm>
            <a:off x="6043270" y="2258360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20</a:t>
            </a:r>
            <a:endParaRPr lang="en-US" sz="975" dirty="0"/>
          </a:p>
        </p:txBody>
      </p:sp>
      <p:cxnSp>
        <p:nvCxnSpPr>
          <p:cNvPr id="62" name="Line 62"/>
          <p:cNvCxnSpPr/>
          <p:nvPr/>
        </p:nvCxnSpPr>
        <p:spPr>
          <a:xfrm flipV="1">
            <a:off x="6610198" y="2122932"/>
            <a:ext cx="717709" cy="2495550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sp>
        <p:nvSpPr>
          <p:cNvPr id="63" name="Shape 63"/>
          <p:cNvSpPr/>
          <p:nvPr/>
        </p:nvSpPr>
        <p:spPr>
          <a:xfrm>
            <a:off x="7210273" y="2297413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64" name="Shape 64"/>
          <p:cNvSpPr txBox="1"/>
          <p:nvPr/>
        </p:nvSpPr>
        <p:spPr>
          <a:xfrm>
            <a:off x="7348385" y="2102150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(1, 20)</a:t>
            </a:r>
            <a:endParaRPr lang="en-US" sz="1125" dirty="0"/>
          </a:p>
        </p:txBody>
      </p:sp>
      <p:sp>
        <p:nvSpPr>
          <p:cNvPr id="65" name="Shape 65"/>
          <p:cNvSpPr txBox="1"/>
          <p:nvPr/>
        </p:nvSpPr>
        <p:spPr>
          <a:xfrm>
            <a:off x="6286348" y="4961382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Both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-intercepts are 0: $0 for 0 tons.</a:t>
            </a:r>
            <a:endParaRPr lang="en-US" sz="1575" dirty="0"/>
          </a:p>
        </p:txBody>
      </p:sp>
      <p:sp>
        <p:nvSpPr>
          <p:cNvPr id="66" name="Shape 66"/>
          <p:cNvSpPr txBox="1"/>
          <p:nvPr/>
        </p:nvSpPr>
        <p:spPr>
          <a:xfrm>
            <a:off x="6286348" y="5351526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Hays County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pays more: $20 per ton vs. $15 per ton.</a:t>
            </a:r>
            <a:endParaRPr lang="en-US" sz="1575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210312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Lesson 4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2512314"/>
            <a:ext cx="10820095" cy="13121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8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2</a:t>
            </a:r>
            <a:endParaRPr lang="en-US" sz="82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3995928"/>
            <a:ext cx="10820095" cy="78638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400" dirty="0">
                <a:solidFill>
                  <a:srgbClr val="16171D"/>
                </a:solidFill>
                <a:latin typeface="Segoe UI"/>
                <a:cs typeface="Segoe UI"/>
              </a:rPr>
              <a:t xml:space="preserve">Essential Question: How does each linear function representation compare with the others?</a:t>
            </a:r>
            <a:endParaRPr lang="en-US" sz="24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Bell Work · Review of Day 1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Warm up: work these on your own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75638"/>
            <a:ext cx="5143348" cy="9464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Travis County pays $15 per ton of cardboard. How much is paid for 3 tons?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322)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755392"/>
            <a:ext cx="241054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$45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541014"/>
            <a:ext cx="5143348" cy="9464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2. Hays County's graph passes through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(0, 0)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(1, 20)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 What is the payout per ton?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322)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4620768"/>
            <a:ext cx="241054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$20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362548" y="1675638"/>
            <a:ext cx="51433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3.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9/5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+ 32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converts °C to °F. What is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(10)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323)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6362548" y="2458212"/>
            <a:ext cx="2244715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50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6362548" y="3243834"/>
            <a:ext cx="5143348" cy="9464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4. Miguel started with $0 and had $80 after 4 months. How much did he save each month?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324)</a:t>
            </a: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6362548" y="4323588"/>
            <a:ext cx="241054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$20</a:t>
            </a:r>
            <a:endParaRPr lang="en-US" sz="2325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Activity 4.3 · Comparing Equations and Tables · SE p. 323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Celsius and Fahrenheit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Joey's table</a:t>
            </a:r>
            <a:endParaRPr lang="en-US" sz="157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00863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°F</a:t>
            </a:r>
            <a:endParaRPr lang="en-US" sz="1650" dirty="0"/>
          </a:p>
        </p:txBody>
      </p:sp>
      <p:sp>
        <p:nvSpPr>
          <p:cNvPr id="6" name="Shape 6"/>
          <p:cNvSpPr txBox="1"/>
          <p:nvPr/>
        </p:nvSpPr>
        <p:spPr>
          <a:xfrm>
            <a:off x="1828800" y="200863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°C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240639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10</a:t>
            </a:r>
            <a:endParaRPr lang="en-US" sz="1650" dirty="0"/>
          </a:p>
        </p:txBody>
      </p:sp>
      <p:sp>
        <p:nvSpPr>
          <p:cNvPr id="8" name="Shape 8"/>
          <p:cNvSpPr txBox="1"/>
          <p:nvPr/>
        </p:nvSpPr>
        <p:spPr>
          <a:xfrm>
            <a:off x="1828800" y="240639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−12.2</a:t>
            </a:r>
            <a:endParaRPr lang="en-US" sz="1650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280416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30</a:t>
            </a:r>
            <a:endParaRPr lang="en-US" sz="1650" dirty="0"/>
          </a:p>
        </p:txBody>
      </p:sp>
      <p:sp>
        <p:nvSpPr>
          <p:cNvPr id="10" name="Shape 10"/>
          <p:cNvSpPr txBox="1"/>
          <p:nvPr/>
        </p:nvSpPr>
        <p:spPr>
          <a:xfrm>
            <a:off x="1828800" y="280416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−1.1</a:t>
            </a:r>
            <a:endParaRPr lang="en-US" sz="1650" dirty="0"/>
          </a:p>
        </p:txBody>
      </p:sp>
      <p:sp>
        <p:nvSpPr>
          <p:cNvPr id="11" name="Shape 11"/>
          <p:cNvSpPr txBox="1"/>
          <p:nvPr/>
        </p:nvSpPr>
        <p:spPr>
          <a:xfrm>
            <a:off x="685800" y="320192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50</a:t>
            </a:r>
            <a:endParaRPr lang="en-US" sz="1650" dirty="0"/>
          </a:p>
        </p:txBody>
      </p:sp>
      <p:sp>
        <p:nvSpPr>
          <p:cNvPr id="12" name="Shape 12"/>
          <p:cNvSpPr txBox="1"/>
          <p:nvPr/>
        </p:nvSpPr>
        <p:spPr>
          <a:xfrm>
            <a:off x="1828800" y="320192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10</a:t>
            </a:r>
            <a:endParaRPr lang="en-US" sz="1650" dirty="0"/>
          </a:p>
        </p:txBody>
      </p:sp>
      <p:sp>
        <p:nvSpPr>
          <p:cNvPr id="13" name="Shape 13"/>
          <p:cNvSpPr txBox="1"/>
          <p:nvPr/>
        </p:nvSpPr>
        <p:spPr>
          <a:xfrm>
            <a:off x="685800" y="359968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75</a:t>
            </a:r>
            <a:endParaRPr lang="en-US" sz="1650" dirty="0"/>
          </a:p>
        </p:txBody>
      </p:sp>
      <p:sp>
        <p:nvSpPr>
          <p:cNvPr id="14" name="Shape 14"/>
          <p:cNvSpPr txBox="1"/>
          <p:nvPr/>
        </p:nvSpPr>
        <p:spPr>
          <a:xfrm>
            <a:off x="1828800" y="359968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23.9</a:t>
            </a:r>
            <a:endParaRPr lang="en-US" sz="1650" dirty="0"/>
          </a:p>
        </p:txBody>
      </p:sp>
      <p:sp>
        <p:nvSpPr>
          <p:cNvPr id="15" name="Shape 15"/>
          <p:cNvSpPr txBox="1"/>
          <p:nvPr/>
        </p:nvSpPr>
        <p:spPr>
          <a:xfrm>
            <a:off x="6286348" y="1618488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Xavier's equation</a:t>
            </a:r>
            <a:endParaRPr lang="en-US" sz="1575" dirty="0"/>
          </a:p>
        </p:txBody>
      </p:sp>
      <p:sp>
        <p:nvSpPr>
          <p:cNvPr id="16" name="Shape 16"/>
          <p:cNvSpPr txBox="1"/>
          <p:nvPr/>
        </p:nvSpPr>
        <p:spPr>
          <a:xfrm>
            <a:off x="6286348" y="2008632"/>
            <a:ext cx="521954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9/5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+ 32</a:t>
            </a:r>
            <a:endParaRPr lang="en-US" sz="2325" dirty="0"/>
          </a:p>
        </p:txBody>
      </p:sp>
      <p:sp>
        <p:nvSpPr>
          <p:cNvPr id="17" name="Shape 17"/>
          <p:cNvSpPr txBox="1"/>
          <p:nvPr/>
        </p:nvSpPr>
        <p:spPr>
          <a:xfrm>
            <a:off x="6286348" y="2513076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Xavier converts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°C to °F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(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is °C). Joey converts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°F to °C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18" name="Shape 18"/>
          <p:cNvSpPr txBox="1"/>
          <p:nvPr/>
        </p:nvSpPr>
        <p:spPr>
          <a:xfrm>
            <a:off x="6286348" y="3143250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Slope: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Joey's is about 5/9 (each 9°F is about 5°C). Xavier's is 9/5 (each 5°C is 9°F).</a:t>
            </a:r>
            <a:endParaRPr lang="en-US" sz="1575" dirty="0"/>
          </a:p>
        </p:txBody>
      </p:sp>
      <p:sp>
        <p:nvSpPr>
          <p:cNvPr id="19" name="Shape 19"/>
          <p:cNvSpPr txBox="1"/>
          <p:nvPr/>
        </p:nvSpPr>
        <p:spPr>
          <a:xfrm>
            <a:off x="6286348" y="3773424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-intercept: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Joey's is about −17.8 (0°F ≈ −17.8°C). Xavier's is 32 (0°C = 32°F).</a:t>
            </a:r>
            <a:endParaRPr lang="en-US" sz="1575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Activity 4.4 · Comparing Descriptions and Graphs · SE p. 324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Miguel and Lauren's bank accounts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Miguel</a:t>
            </a:r>
            <a:endParaRPr lang="en-US" sz="1575" dirty="0"/>
          </a:p>
        </p:txBody>
      </p:sp>
      <p:sp>
        <p:nvSpPr>
          <p:cNvPr id="5" name="Shape 5"/>
          <p:cNvSpPr/>
          <p:nvPr/>
        </p:nvSpPr>
        <p:spPr>
          <a:xfrm>
            <a:off x="685800" y="2008632"/>
            <a:ext cx="28575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1009650" y="212293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" name="Line 7"/>
          <p:cNvCxnSpPr/>
          <p:nvPr/>
        </p:nvCxnSpPr>
        <p:spPr>
          <a:xfrm>
            <a:off x="1493520" y="212293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8" name="Line 8"/>
          <p:cNvCxnSpPr/>
          <p:nvPr/>
        </p:nvCxnSpPr>
        <p:spPr>
          <a:xfrm>
            <a:off x="1977390" y="212293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9" name="Line 9"/>
          <p:cNvCxnSpPr/>
          <p:nvPr/>
        </p:nvCxnSpPr>
        <p:spPr>
          <a:xfrm>
            <a:off x="2461260" y="212293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0" name="Line 10"/>
          <p:cNvCxnSpPr/>
          <p:nvPr/>
        </p:nvCxnSpPr>
        <p:spPr>
          <a:xfrm>
            <a:off x="2945130" y="212293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1" name="Line 11"/>
          <p:cNvCxnSpPr/>
          <p:nvPr/>
        </p:nvCxnSpPr>
        <p:spPr>
          <a:xfrm>
            <a:off x="3429000" y="212293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2" name="Line 12"/>
          <p:cNvCxnSpPr/>
          <p:nvPr/>
        </p:nvCxnSpPr>
        <p:spPr>
          <a:xfrm>
            <a:off x="1009650" y="4618482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3" name="Line 13"/>
          <p:cNvCxnSpPr/>
          <p:nvPr/>
        </p:nvCxnSpPr>
        <p:spPr>
          <a:xfrm>
            <a:off x="1009650" y="4119372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4" name="Line 14"/>
          <p:cNvCxnSpPr/>
          <p:nvPr/>
        </p:nvCxnSpPr>
        <p:spPr>
          <a:xfrm>
            <a:off x="1009650" y="3620262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5" name="Line 15"/>
          <p:cNvCxnSpPr/>
          <p:nvPr/>
        </p:nvCxnSpPr>
        <p:spPr>
          <a:xfrm>
            <a:off x="1009650" y="3121152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6" name="Line 16"/>
          <p:cNvCxnSpPr/>
          <p:nvPr/>
        </p:nvCxnSpPr>
        <p:spPr>
          <a:xfrm>
            <a:off x="1009650" y="2622042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7" name="Line 17"/>
          <p:cNvCxnSpPr/>
          <p:nvPr/>
        </p:nvCxnSpPr>
        <p:spPr>
          <a:xfrm>
            <a:off x="1009650" y="2122932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8" name="Line 18"/>
          <p:cNvCxnSpPr/>
          <p:nvPr/>
        </p:nvCxnSpPr>
        <p:spPr>
          <a:xfrm>
            <a:off x="1009650" y="2122932"/>
            <a:ext cx="0" cy="24955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19" name="Line 19"/>
          <p:cNvCxnSpPr/>
          <p:nvPr/>
        </p:nvCxnSpPr>
        <p:spPr>
          <a:xfrm>
            <a:off x="1009650" y="4618482"/>
            <a:ext cx="241935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20" name="Shape 20"/>
          <p:cNvSpPr txBox="1"/>
          <p:nvPr/>
        </p:nvSpPr>
        <p:spPr>
          <a:xfrm>
            <a:off x="735330" y="463753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21" name="Shape 21"/>
          <p:cNvSpPr txBox="1"/>
          <p:nvPr/>
        </p:nvSpPr>
        <p:spPr>
          <a:xfrm>
            <a:off x="1219200" y="463753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</a:t>
            </a:r>
            <a:endParaRPr lang="en-US" sz="975" dirty="0"/>
          </a:p>
        </p:txBody>
      </p:sp>
      <p:sp>
        <p:nvSpPr>
          <p:cNvPr id="22" name="Shape 22"/>
          <p:cNvSpPr txBox="1"/>
          <p:nvPr/>
        </p:nvSpPr>
        <p:spPr>
          <a:xfrm>
            <a:off x="1703070" y="463753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23" name="Shape 23"/>
          <p:cNvSpPr txBox="1"/>
          <p:nvPr/>
        </p:nvSpPr>
        <p:spPr>
          <a:xfrm>
            <a:off x="2186940" y="463753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3</a:t>
            </a:r>
            <a:endParaRPr lang="en-US" sz="975" dirty="0"/>
          </a:p>
        </p:txBody>
      </p:sp>
      <p:sp>
        <p:nvSpPr>
          <p:cNvPr id="24" name="Shape 24"/>
          <p:cNvSpPr txBox="1"/>
          <p:nvPr/>
        </p:nvSpPr>
        <p:spPr>
          <a:xfrm>
            <a:off x="2670810" y="463753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25" name="Shape 25"/>
          <p:cNvSpPr txBox="1"/>
          <p:nvPr/>
        </p:nvSpPr>
        <p:spPr>
          <a:xfrm>
            <a:off x="3154680" y="463753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5</a:t>
            </a:r>
            <a:endParaRPr lang="en-US" sz="975" dirty="0"/>
          </a:p>
        </p:txBody>
      </p:sp>
      <p:sp>
        <p:nvSpPr>
          <p:cNvPr id="26" name="Shape 26"/>
          <p:cNvSpPr txBox="1"/>
          <p:nvPr/>
        </p:nvSpPr>
        <p:spPr>
          <a:xfrm>
            <a:off x="442722" y="4527042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27" name="Shape 27"/>
          <p:cNvSpPr txBox="1"/>
          <p:nvPr/>
        </p:nvSpPr>
        <p:spPr>
          <a:xfrm>
            <a:off x="442722" y="4027932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20</a:t>
            </a:r>
            <a:endParaRPr lang="en-US" sz="975" dirty="0"/>
          </a:p>
        </p:txBody>
      </p:sp>
      <p:sp>
        <p:nvSpPr>
          <p:cNvPr id="28" name="Shape 28"/>
          <p:cNvSpPr txBox="1"/>
          <p:nvPr/>
        </p:nvSpPr>
        <p:spPr>
          <a:xfrm>
            <a:off x="442722" y="3528822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40</a:t>
            </a:r>
            <a:endParaRPr lang="en-US" sz="975" dirty="0"/>
          </a:p>
        </p:txBody>
      </p:sp>
      <p:sp>
        <p:nvSpPr>
          <p:cNvPr id="29" name="Shape 29"/>
          <p:cNvSpPr txBox="1"/>
          <p:nvPr/>
        </p:nvSpPr>
        <p:spPr>
          <a:xfrm>
            <a:off x="442722" y="3029712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60</a:t>
            </a:r>
            <a:endParaRPr lang="en-US" sz="975" dirty="0"/>
          </a:p>
        </p:txBody>
      </p:sp>
      <p:sp>
        <p:nvSpPr>
          <p:cNvPr id="30" name="Shape 30"/>
          <p:cNvSpPr txBox="1"/>
          <p:nvPr/>
        </p:nvSpPr>
        <p:spPr>
          <a:xfrm>
            <a:off x="442722" y="2530602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80</a:t>
            </a:r>
            <a:endParaRPr lang="en-US" sz="975" dirty="0"/>
          </a:p>
        </p:txBody>
      </p:sp>
      <p:sp>
        <p:nvSpPr>
          <p:cNvPr id="31" name="Shape 31"/>
          <p:cNvSpPr txBox="1"/>
          <p:nvPr/>
        </p:nvSpPr>
        <p:spPr>
          <a:xfrm>
            <a:off x="442722" y="2031492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100</a:t>
            </a:r>
            <a:endParaRPr lang="en-US" sz="975" dirty="0"/>
          </a:p>
        </p:txBody>
      </p:sp>
      <p:sp>
        <p:nvSpPr>
          <p:cNvPr id="32" name="Shape 32"/>
          <p:cNvSpPr/>
          <p:nvPr/>
        </p:nvSpPr>
        <p:spPr>
          <a:xfrm>
            <a:off x="1441132" y="4066985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33" name="Shape 33"/>
          <p:cNvSpPr/>
          <p:nvPr/>
        </p:nvSpPr>
        <p:spPr>
          <a:xfrm>
            <a:off x="1925003" y="3567874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34" name="Shape 34"/>
          <p:cNvSpPr/>
          <p:nvPr/>
        </p:nvSpPr>
        <p:spPr>
          <a:xfrm>
            <a:off x="2408872" y="3068765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35" name="Shape 35"/>
          <p:cNvSpPr/>
          <p:nvPr/>
        </p:nvSpPr>
        <p:spPr>
          <a:xfrm>
            <a:off x="2892742" y="2569655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36" name="Shape 36"/>
          <p:cNvSpPr txBox="1"/>
          <p:nvPr/>
        </p:nvSpPr>
        <p:spPr>
          <a:xfrm>
            <a:off x="3030855" y="2374392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(4, 80)</a:t>
            </a:r>
            <a:endParaRPr lang="en-US" sz="1125" dirty="0"/>
          </a:p>
        </p:txBody>
      </p:sp>
      <p:sp>
        <p:nvSpPr>
          <p:cNvPr id="37" name="Shape 37"/>
          <p:cNvSpPr txBox="1"/>
          <p:nvPr/>
        </p:nvSpPr>
        <p:spPr>
          <a:xfrm>
            <a:off x="6286348" y="1618488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Lauren starts with $25 and deposits $25 each month.</a:t>
            </a:r>
            <a:endParaRPr lang="en-US" sz="1575" dirty="0"/>
          </a:p>
        </p:txBody>
      </p:sp>
      <p:sp>
        <p:nvSpPr>
          <p:cNvPr id="38" name="Shape 38"/>
          <p:cNvSpPr txBox="1"/>
          <p:nvPr/>
        </p:nvSpPr>
        <p:spPr>
          <a:xfrm>
            <a:off x="6286348" y="2008632"/>
            <a:ext cx="521954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Scales: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each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tick is 1 month and each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tick is $20 ($80 after 4 months). The origin is (0 months, $0).</a:t>
            </a:r>
            <a:endParaRPr lang="en-US" sz="1575" dirty="0"/>
          </a:p>
        </p:txBody>
      </p:sp>
      <p:sp>
        <p:nvSpPr>
          <p:cNvPr id="39" name="Shape 39"/>
          <p:cNvSpPr txBox="1"/>
          <p:nvPr/>
        </p:nvSpPr>
        <p:spPr>
          <a:xfrm>
            <a:off x="6286348" y="2878836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Slope: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Miguel saves $20 a month; Lauren saves $25 a month.</a:t>
            </a:r>
            <a:endParaRPr lang="en-US" sz="1575" dirty="0"/>
          </a:p>
        </p:txBody>
      </p:sp>
      <p:sp>
        <p:nvSpPr>
          <p:cNvPr id="40" name="Shape 40"/>
          <p:cNvSpPr txBox="1"/>
          <p:nvPr/>
        </p:nvSpPr>
        <p:spPr>
          <a:xfrm>
            <a:off x="6286348" y="3509010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-intercept: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Miguel started with $0; Lauren with $25.</a:t>
            </a:r>
            <a:endParaRPr lang="en-US" sz="1575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Talk the Talk · Function Maker Space · SE p. 325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Create and compare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1650" dirty="0"/>
          </a:p>
        </p:txBody>
      </p:sp>
      <p:sp>
        <p:nvSpPr>
          <p:cNvPr id="5" name="Shape 5"/>
          <p:cNvSpPr txBox="1"/>
          <p:nvPr/>
        </p:nvSpPr>
        <p:spPr>
          <a:xfrm>
            <a:off x="1828800" y="1618488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−10</a:t>
            </a:r>
            <a:endParaRPr lang="en-US" sz="1650" dirty="0"/>
          </a:p>
        </p:txBody>
      </p:sp>
      <p:sp>
        <p:nvSpPr>
          <p:cNvPr id="6" name="Shape 6"/>
          <p:cNvSpPr txBox="1"/>
          <p:nvPr/>
        </p:nvSpPr>
        <p:spPr>
          <a:xfrm>
            <a:off x="2971800" y="1618488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10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4114800" y="1618488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20</a:t>
            </a:r>
            <a:endParaRPr lang="en-US" sz="1650" dirty="0"/>
          </a:p>
        </p:txBody>
      </p:sp>
      <p:sp>
        <p:nvSpPr>
          <p:cNvPr id="8" name="Shape 8"/>
          <p:cNvSpPr txBox="1"/>
          <p:nvPr/>
        </p:nvSpPr>
        <p:spPr>
          <a:xfrm>
            <a:off x="5257800" y="1618488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25</a:t>
            </a:r>
            <a:endParaRPr lang="en-US" sz="1650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20162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endParaRPr lang="en-US" sz="1650" dirty="0"/>
          </a:p>
        </p:txBody>
      </p:sp>
      <p:sp>
        <p:nvSpPr>
          <p:cNvPr id="10" name="Shape 10"/>
          <p:cNvSpPr txBox="1"/>
          <p:nvPr/>
        </p:nvSpPr>
        <p:spPr>
          <a:xfrm>
            <a:off x="1828800" y="20162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11" name="Shape 11"/>
          <p:cNvSpPr txBox="1"/>
          <p:nvPr/>
        </p:nvSpPr>
        <p:spPr>
          <a:xfrm>
            <a:off x="2971800" y="20162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5</a:t>
            </a:r>
            <a:endParaRPr lang="en-US" sz="1650" dirty="0"/>
          </a:p>
        </p:txBody>
      </p:sp>
      <p:sp>
        <p:nvSpPr>
          <p:cNvPr id="12" name="Shape 12"/>
          <p:cNvSpPr txBox="1"/>
          <p:nvPr/>
        </p:nvSpPr>
        <p:spPr>
          <a:xfrm>
            <a:off x="4114800" y="20162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7.5</a:t>
            </a:r>
            <a:endParaRPr lang="en-US" sz="1650" dirty="0"/>
          </a:p>
        </p:txBody>
      </p:sp>
      <p:sp>
        <p:nvSpPr>
          <p:cNvPr id="13" name="Shape 13"/>
          <p:cNvSpPr txBox="1"/>
          <p:nvPr/>
        </p:nvSpPr>
        <p:spPr>
          <a:xfrm>
            <a:off x="5257800" y="20162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8.75</a:t>
            </a:r>
            <a:endParaRPr lang="en-US" sz="1650" dirty="0"/>
          </a:p>
        </p:txBody>
      </p:sp>
      <p:sp>
        <p:nvSpPr>
          <p:cNvPr id="14" name="Shape 14"/>
          <p:cNvSpPr txBox="1"/>
          <p:nvPr/>
        </p:nvSpPr>
        <p:spPr>
          <a:xfrm>
            <a:off x="685800" y="2585466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1. A situation for the table:</a:t>
            </a:r>
            <a:endParaRPr lang="en-US" sz="1575" dirty="0"/>
          </a:p>
        </p:txBody>
      </p:sp>
      <p:sp>
        <p:nvSpPr>
          <p:cNvPr id="15" name="Shape 15"/>
          <p:cNvSpPr txBox="1"/>
          <p:nvPr/>
        </p:nvSpPr>
        <p:spPr>
          <a:xfrm>
            <a:off x="685800" y="2975610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Sample: Alejandra has read 2.5 pages and reads 2.5 more every 10 minutes. Slope ¼,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 2.5.</a:t>
            </a:r>
            <a:endParaRPr lang="en-US" sz="1575" dirty="0"/>
          </a:p>
        </p:txBody>
      </p:sp>
      <p:sp>
        <p:nvSpPr>
          <p:cNvPr id="16" name="Shape 16"/>
          <p:cNvSpPr txBox="1"/>
          <p:nvPr/>
        </p:nvSpPr>
        <p:spPr>
          <a:xfrm>
            <a:off x="685800" y="3605784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2. A less steep equation:</a:t>
            </a:r>
            <a:endParaRPr lang="en-US" sz="1575" dirty="0"/>
          </a:p>
        </p:txBody>
      </p:sp>
      <p:sp>
        <p:nvSpPr>
          <p:cNvPr id="17" name="Shape 17"/>
          <p:cNvSpPr txBox="1"/>
          <p:nvPr/>
        </p:nvSpPr>
        <p:spPr>
          <a:xfrm>
            <a:off x="685800" y="3995928"/>
            <a:ext cx="4068806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0.2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+ 30</a:t>
            </a:r>
            <a:endParaRPr lang="en-US" sz="2325" dirty="0"/>
          </a:p>
        </p:txBody>
      </p:sp>
      <p:sp>
        <p:nvSpPr>
          <p:cNvPr id="18" name="Shape 18"/>
          <p:cNvSpPr txBox="1"/>
          <p:nvPr/>
        </p:nvSpPr>
        <p:spPr>
          <a:xfrm>
            <a:off x="6286348" y="2585466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3. The graph shown in the book has slope ⅓ (through (0, −4)).</a:t>
            </a:r>
            <a:endParaRPr lang="en-US" sz="1575" dirty="0"/>
          </a:p>
        </p:txBody>
      </p:sp>
      <p:sp>
        <p:nvSpPr>
          <p:cNvPr id="19" name="Shape 19"/>
          <p:cNvSpPr txBox="1"/>
          <p:nvPr/>
        </p:nvSpPr>
        <p:spPr>
          <a:xfrm>
            <a:off x="6286348" y="3215640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It is steeper than the table (¼) and the equation (0.2).</a:t>
            </a:r>
            <a:endParaRPr lang="en-US" sz="1575" dirty="0"/>
          </a:p>
        </p:txBody>
      </p:sp>
      <p:sp>
        <p:nvSpPr>
          <p:cNvPr id="20" name="Shape 20"/>
          <p:cNvSpPr txBox="1"/>
          <p:nvPr/>
        </p:nvSpPr>
        <p:spPr>
          <a:xfrm>
            <a:off x="6286348" y="3845814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4. Strategies:</a:t>
            </a:r>
            <a:endParaRPr lang="en-US" sz="1575" dirty="0"/>
          </a:p>
        </p:txBody>
      </p:sp>
      <p:sp>
        <p:nvSpPr>
          <p:cNvPr id="21" name="Shape 21"/>
          <p:cNvSpPr txBox="1"/>
          <p:nvPr/>
        </p:nvSpPr>
        <p:spPr>
          <a:xfrm>
            <a:off x="6286348" y="4235958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Answers vary: rate of change from two points; compare the slopes.</a:t>
            </a:r>
            <a:endParaRPr lang="en-US" sz="1575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Essential Question · Answered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How do the representations compare?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75638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Every form (equation, table, graph, description) shows the same features: the </a:t>
            </a: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slope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or rate and the </a:t>
            </a:r>
            <a:r>
              <a:rPr lang="en-US" sz="195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-intercept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or starting value.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515362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Compare by finding these in each form: equal slopes are parallel; slopes with a product of −1 are perpendicular.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355086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The quantities and units tell what the slope and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 mean.</a:t>
            </a:r>
            <a:endParaRPr lang="en-US" sz="19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Exit Ticket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Show what you know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75638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A table has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(0, 3)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(2, 11)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 Is its line parallel, perpendicular, or neither to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= 4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− 3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439162"/>
            <a:ext cx="4897938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Parallel (slope 4)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072384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2.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3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+ 10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and a table with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(0, 4), (1, 9)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 Which grows faster?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538728"/>
            <a:ext cx="5727070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The table (slope 5 &gt; 3)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4171950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3. A taxi charges $2.50 per mile plus $3. What are the units of the slope?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4638294"/>
            <a:ext cx="4566285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Dollars per mile</a:t>
            </a:r>
            <a:endParaRPr lang="en-US" sz="2325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Prepare · SE p. 330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Solve each equation for </a:t>
            </a:r>
            <a:r>
              <a:rPr lang="en-US" sz="345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521954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1. ⅓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8</a:t>
            </a:r>
            <a:endParaRPr lang="en-US" sz="232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22932"/>
            <a:ext cx="290802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24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737104"/>
            <a:ext cx="521954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3. 2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− 9 = 6</a:t>
            </a:r>
            <a:endParaRPr lang="en-US" sz="2325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241548"/>
            <a:ext cx="3073847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7.5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286348" y="1618488"/>
            <a:ext cx="521954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2. 5 +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12.7</a:t>
            </a:r>
            <a:endParaRPr lang="en-US" sz="2325" dirty="0"/>
          </a:p>
        </p:txBody>
      </p:sp>
      <p:sp>
        <p:nvSpPr>
          <p:cNvPr id="9" name="Shape 9"/>
          <p:cNvSpPr txBox="1"/>
          <p:nvPr/>
        </p:nvSpPr>
        <p:spPr>
          <a:xfrm>
            <a:off x="6286348" y="2122932"/>
            <a:ext cx="3073847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7.7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6286348" y="2737104"/>
            <a:ext cx="521954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4. 12 + 2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3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− 1</a:t>
            </a:r>
            <a:endParaRPr lang="en-US" sz="2325" dirty="0"/>
          </a:p>
        </p:txBody>
      </p:sp>
      <p:sp>
        <p:nvSpPr>
          <p:cNvPr id="11" name="Shape 11"/>
          <p:cNvSpPr txBox="1"/>
          <p:nvPr/>
        </p:nvSpPr>
        <p:spPr>
          <a:xfrm>
            <a:off x="6286348" y="3241548"/>
            <a:ext cx="290802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13</a:t>
            </a:r>
            <a:endParaRPr lang="en-US" sz="2325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Practice Online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Bell Work, Homework and Quiz</a:t>
            </a:r>
            <a:endParaRPr lang="en-US" sz="34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1808988"/>
            <a:ext cx="3378098" cy="1978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980438"/>
            <a:ext cx="29589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Bell work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450592"/>
            <a:ext cx="29589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3050B8"/>
                </a:solidFill>
                <a:latin typeface="Segoe UI"/>
                <a:cs typeface="Segoe UI"/>
                <a:hlinkClick r:id="rId3"/>
              </a:rPr>
              <a:t xml:space="preserve">Day 1 →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575" dirty="0" b="1">
                <a:solidFill>
                  <a:srgbClr val="3050B8"/>
                </a:solidFill>
                <a:latin typeface="Segoe UI"/>
                <a:cs typeface="Segoe UI"/>
                <a:hlinkClick r:id="rId4"/>
              </a:rPr>
              <a:t xml:space="preserve">Day 2 →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895350" y="2840736"/>
            <a:ext cx="295899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4 questions each, the same as the bell work slides. Scored when students submit.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4406798" y="1808988"/>
            <a:ext cx="3378098" cy="15880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4616348" y="1980438"/>
            <a:ext cx="29589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3050B8"/>
                </a:solidFill>
                <a:latin typeface="Segoe UI"/>
                <a:cs typeface="Segoe UI"/>
                <a:hlinkClick r:id="rId5"/>
              </a:rPr>
              <a:t xml:space="preserve">Homework →</a:t>
            </a:r>
            <a:endParaRPr lang="en-US" sz="2100" dirty="0"/>
          </a:p>
        </p:txBody>
      </p:sp>
      <p:sp>
        <p:nvSpPr>
          <p:cNvPr id="9" name="Shape 9"/>
          <p:cNvSpPr txBox="1"/>
          <p:nvPr/>
        </p:nvSpPr>
        <p:spPr>
          <a:xfrm>
            <a:off x="4616348" y="2450592"/>
            <a:ext cx="295899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10 practice questions. Each answer is checked right away, with an explanation.</a:t>
            </a:r>
            <a:endParaRPr lang="en-US" sz="1575" dirty="0"/>
          </a:p>
        </p:txBody>
      </p:sp>
      <p:sp>
        <p:nvSpPr>
          <p:cNvPr id="13" name="Shape 13"/>
          <p:cNvSpPr txBox="1"/>
          <p:nvPr/>
        </p:nvSpPr>
        <p:spPr>
          <a:xfrm>
            <a:off x="8127797" y="1808988"/>
            <a:ext cx="3378098" cy="15880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8337347" y="1980438"/>
            <a:ext cx="29589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3050B8"/>
                </a:solidFill>
                <a:latin typeface="Segoe UI"/>
                <a:cs typeface="Segoe UI"/>
                <a:hlinkClick r:id="rId6"/>
              </a:rPr>
              <a:t xml:space="preserve">Quiz →</a:t>
            </a:r>
            <a:endParaRPr lang="en-US" sz="2100" dirty="0"/>
          </a:p>
        </p:txBody>
      </p:sp>
      <p:sp>
        <p:nvSpPr>
          <p:cNvPr id="12" name="Shape 12"/>
          <p:cNvSpPr txBox="1"/>
          <p:nvPr/>
        </p:nvSpPr>
        <p:spPr>
          <a:xfrm>
            <a:off x="8337347" y="2450592"/>
            <a:ext cx="295899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10 questions, scored when students submit. Correct answers are shown after submitting.</a:t>
            </a:r>
            <a:endParaRPr lang="en-US" sz="1575" dirty="0"/>
          </a:p>
        </p:txBody>
      </p:sp>
      <p:sp>
        <p:nvSpPr>
          <p:cNvPr id="14" name="Shape 14"/>
          <p:cNvSpPr txBox="1"/>
          <p:nvPr/>
        </p:nvSpPr>
        <p:spPr>
          <a:xfrm>
            <a:off x="685800" y="4015740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All are multiple choice. The homework follows the Lesson 4 Assignment (SE pp. 327–330).</a:t>
            </a:r>
            <a:endParaRPr lang="en-US" sz="1575" dirty="0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Comparing Linear Functions in Different Form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17</Slides>
  <Notes>17</Notes>
</Properties>
</file>

<file path=docProps/core.xml><?xml version="1.0" encoding="utf-8"?>
<cp:coreProperties xmlns:cp="http://schemas.openxmlformats.org/package/2006/metadata/core-properties" xmlns:dc="http://purl.org/dc/elements/1.1/">
  <dc:title>Comparing Linear Functions in Different Forms</dc:title>
  <dc:subject>Bluebonnet Algebra I</dc:subject>
</cp:coreProperties>
</file>