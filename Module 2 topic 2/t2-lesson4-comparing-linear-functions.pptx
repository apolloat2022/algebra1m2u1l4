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compare linear functions given as tables, graphs, equations and verbal descriptions: slope (parallel or perpendicular), y-intercept, and the units and scales in context. Two days on the 150-day calendar: Day 1 Getting Started, Activities 4.1 and 4.2; Day 2 Activities 4.3, 4.4 and Talk the Talk.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Slope = (4 − (−6)) ÷ (0 − (−2.5)) = 10 ÷ 2.5 = 4. 2. Parallel lines have equal slopes. 3. The negative reciprocal of 4 is −¼. 4. p has slope (4 − 1) ÷ 4 = ¾ = 0.75. y = x − 2 has slope 1, which is greater. (3x − 4y = 8 is y = ¾x − 2: equal, not greater.)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5–10 minutes. Any choice is correct if the justification is.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4.1, 15–20 minutes. Find each slope first, then compare it to 4: equal is parallel, a product of −1 is perpendicular.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did you find the slope from the graph? (From (0, −0.5), right 4 and up 1.)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4.2, 10–15 minutes. Question 1: label x = weight of cardboard (tons) and y = payout amount (dollars) on both. Travis: w(3) = 45; Hays: j(3) = 60. End of Day 1.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have a student read the Essential Question aloud and ask two or three students to summarize Day 1: How did you compare the recycling centers?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2 bell work. Reveal the answers one at a time. Answer key: 1. 15 · 3 = 45. 2. Slope = 20 ÷ 1 = 20 dollars per ton. 3. 9/5 · 10 + 32 = 18 + 32 = 50, so 10°C is 50°F. 4. Range = the outputs, the gallons left: 200 at the start, down to 0 when t = 20.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4.3, 10–15 minutes. Think About: the units of the quantities matter. Joey's slope: (10 − (−12.2)) ÷ (50 − 10) = 22.2 ÷ 40 ≈ 0.56.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4.4, 10–15 minutes. Slide typo in the student slides: the introduction calls Lauren 'Michelle'. For more practice, assign Skills Practice Set A.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the Talk, 10–15 minutes. TE wording slip: the teacher guide's sample starts Alejandra 'at the middle of page 2'; 2.5 pages read is the middle of page 3.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Give 3–4 minutes, collect the answers, and use them to decide who needs Skills Practice. Work: 1. (11 − 3) ÷ 2 = 4. 2. (9 − 4) ÷ 1 = 5. 3. The slope is the output unit over the input unit.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Lesson 4 Assignment; it previews Module 3.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Click a title to open it in a new tab. Put the day's bell work link up as students walk in. The 150-day pacing calendar (topic2-pacing-150.html) gives the day for each homework and quiz.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Module 2 topic 2/t2-lesson4-bellwork-day1.html" TargetMode="External"/><Relationship Id="rId4" Type="http://schemas.openxmlformats.org/officeDocument/2006/relationships/hyperlink" Target="https://algebra1m2u1l4.vercel.app/Module 2 topic 2/t2-lesson4-bellwork-day2.html" TargetMode="External"/><Relationship Id="rId5" Type="http://schemas.openxmlformats.org/officeDocument/2006/relationships/hyperlink" Target="https://algebra1m2u1l4.vercel.app/Module 2 topic 2/t2-lesson4-homework.html" TargetMode="External"/><Relationship Id="rId6" Type="http://schemas.openxmlformats.org/officeDocument/2006/relationships/hyperlink" Target="https://algebra1m2u1l4.vercel.app/Module 2 topic 2/t2-lesson4-quiz.html" TargetMode="External"/><Relationship Id="rId7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algebra1m2u1l4.vercel.app/Module 2 topic 2/t2-lesson4-bellwork-day1.html" TargetMode="External"/><Relationship Id="rId4" Type="http://schemas.openxmlformats.org/officeDocument/2006/relationships/hyperlink" Target="https://algebra1m2u1l4.vercel.app/Module 2 topic 2/t2-lesson4-bellwork-day2.html" TargetMode="External"/><Relationship Id="rId5" Type="http://schemas.openxmlformats.org/officeDocument/2006/relationships/hyperlink" Target="https://algebra1m2u1l4.vercel.app/Module 2 topic 2/t2-lesson4-homework.html" TargetMode="External"/><Relationship Id="rId6" Type="http://schemas.openxmlformats.org/officeDocument/2006/relationships/hyperlink" Target="https://algebra1m2u1l4.vercel.app/Module 2 topic 2/t2-lesson4-quiz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2 · Topic 2 · Lesson 4 · Student Edition pp. 319–330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13350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Comparing Linear Functions in Different Forms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06218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table · graph · equation · description</a:t>
            </a:r>
            <a:endParaRPr lang="en-US" sz="30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324688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| Practice: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7475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7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slope of the line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(−2.5, −6)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(0, 4)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321)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slope does a line parallel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have?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321)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What slope does a line perpendicular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have?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321)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−¼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Function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passes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(0, 1)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(4, 4)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function has a greater rate of change than function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325)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323588"/>
            <a:ext cx="340550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4 · SE p. 319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Compare linear functions represented algebraically, graphically, in tables, or with verbal descriptions.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106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Choose and interpret appropriate units to represent independent and dependent quantities in situations modeled by linear functions.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4553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Choose and interpret appropriate scales and origins for graphs of linear functions.</a:t>
            </a:r>
            <a:endParaRPr lang="en-US" sz="19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319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have represented linear functions in a variety of different ways.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2526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How does each linear function representation compare with the others?</a:t>
            </a:r>
            <a:endParaRPr lang="en-US" sz="27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Odd One Out · SE p. 320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Which function does not belong? Justify your choice.</a:t>
            </a:r>
            <a:endParaRPr lang="en-US" sz="34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2144268"/>
            <a:ext cx="2605011" cy="33177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2315718"/>
            <a:ext cx="2185911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785872"/>
            <a:ext cx="1143000" cy="37490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500" dirty="0"/>
          </a:p>
        </p:txBody>
      </p:sp>
      <p:sp>
        <p:nvSpPr>
          <p:cNvPr id="6" name="Shape 6"/>
          <p:cNvSpPr txBox="1"/>
          <p:nvPr/>
        </p:nvSpPr>
        <p:spPr>
          <a:xfrm>
            <a:off x="2038350" y="2785872"/>
            <a:ext cx="1143000" cy="37490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endParaRPr lang="en-US" sz="1500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160776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−5</a:t>
            </a:r>
            <a:endParaRPr lang="en-US" sz="1500" dirty="0"/>
          </a:p>
        </p:txBody>
      </p:sp>
      <p:sp>
        <p:nvSpPr>
          <p:cNvPr id="8" name="Shape 8"/>
          <p:cNvSpPr txBox="1"/>
          <p:nvPr/>
        </p:nvSpPr>
        <p:spPr>
          <a:xfrm>
            <a:off x="2038350" y="3160776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endParaRPr lang="en-US" sz="150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3535680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−1.5</a:t>
            </a:r>
            <a:endParaRPr lang="en-US" sz="1500" dirty="0"/>
          </a:p>
        </p:txBody>
      </p:sp>
      <p:sp>
        <p:nvSpPr>
          <p:cNvPr id="10" name="Shape 10"/>
          <p:cNvSpPr txBox="1"/>
          <p:nvPr/>
        </p:nvSpPr>
        <p:spPr>
          <a:xfrm>
            <a:off x="2038350" y="3535680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500" dirty="0"/>
          </a:p>
        </p:txBody>
      </p:sp>
      <p:sp>
        <p:nvSpPr>
          <p:cNvPr id="11" name="Shape 11"/>
          <p:cNvSpPr txBox="1"/>
          <p:nvPr/>
        </p:nvSpPr>
        <p:spPr>
          <a:xfrm>
            <a:off x="895350" y="3910584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500" dirty="0"/>
          </a:p>
        </p:txBody>
      </p:sp>
      <p:sp>
        <p:nvSpPr>
          <p:cNvPr id="12" name="Shape 12"/>
          <p:cNvSpPr txBox="1"/>
          <p:nvPr/>
        </p:nvSpPr>
        <p:spPr>
          <a:xfrm>
            <a:off x="2038350" y="3910584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500" dirty="0"/>
          </a:p>
        </p:txBody>
      </p:sp>
      <p:sp>
        <p:nvSpPr>
          <p:cNvPr id="13" name="Shape 13"/>
          <p:cNvSpPr txBox="1"/>
          <p:nvPr/>
        </p:nvSpPr>
        <p:spPr>
          <a:xfrm>
            <a:off x="895350" y="4285488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2.5</a:t>
            </a:r>
            <a:endParaRPr lang="en-US" sz="1500" dirty="0"/>
          </a:p>
        </p:txBody>
      </p:sp>
      <p:sp>
        <p:nvSpPr>
          <p:cNvPr id="14" name="Shape 14"/>
          <p:cNvSpPr txBox="1"/>
          <p:nvPr/>
        </p:nvSpPr>
        <p:spPr>
          <a:xfrm>
            <a:off x="2038350" y="4285488"/>
            <a:ext cx="1143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−5</a:t>
            </a:r>
            <a:endParaRPr lang="en-US" sz="1500" dirty="0"/>
          </a:p>
        </p:txBody>
      </p:sp>
      <p:sp>
        <p:nvSpPr>
          <p:cNvPr id="15" name="Shape 15"/>
          <p:cNvSpPr txBox="1"/>
          <p:nvPr/>
        </p:nvSpPr>
        <p:spPr>
          <a:xfrm>
            <a:off x="895350" y="4755642"/>
            <a:ext cx="2185911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Only one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decreasing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(slope −2).</a:t>
            </a:r>
            <a:endParaRPr lang="en-US" sz="1575" dirty="0"/>
          </a:p>
        </p:txBody>
      </p:sp>
      <p:sp>
        <p:nvSpPr>
          <p:cNvPr id="20" name="Shape 20"/>
          <p:cNvSpPr txBox="1"/>
          <p:nvPr/>
        </p:nvSpPr>
        <p:spPr>
          <a:xfrm>
            <a:off x="3424161" y="2144268"/>
            <a:ext cx="2605011" cy="22181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3633711" y="2315718"/>
            <a:ext cx="2185911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endParaRPr lang="en-US" sz="2100" dirty="0"/>
          </a:p>
        </p:txBody>
      </p:sp>
      <p:sp>
        <p:nvSpPr>
          <p:cNvPr id="18" name="Shape 18"/>
          <p:cNvSpPr txBox="1"/>
          <p:nvPr/>
        </p:nvSpPr>
        <p:spPr>
          <a:xfrm>
            <a:off x="3633711" y="2785872"/>
            <a:ext cx="2185911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ratio of 9th- to 10th-graders is 1 : 1.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3633711" y="3656076"/>
            <a:ext cx="2185911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Only one with a domain of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whole numbers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24" name="Shape 24"/>
          <p:cNvSpPr txBox="1"/>
          <p:nvPr/>
        </p:nvSpPr>
        <p:spPr>
          <a:xfrm>
            <a:off x="6162523" y="2144268"/>
            <a:ext cx="2605011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1" name="Shape 21"/>
          <p:cNvSpPr txBox="1"/>
          <p:nvPr/>
        </p:nvSpPr>
        <p:spPr>
          <a:xfrm>
            <a:off x="6372073" y="2315718"/>
            <a:ext cx="2185911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endParaRPr lang="en-US" sz="2100" dirty="0"/>
          </a:p>
        </p:txBody>
      </p:sp>
      <p:sp>
        <p:nvSpPr>
          <p:cNvPr id="22" name="Shape 22"/>
          <p:cNvSpPr txBox="1"/>
          <p:nvPr/>
        </p:nvSpPr>
        <p:spPr>
          <a:xfrm>
            <a:off x="6372073" y="2785872"/>
            <a:ext cx="2185911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⅕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6372073" y="3290316"/>
            <a:ext cx="2185911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Only one with a slope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between 0 and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7" name="Shape 67"/>
          <p:cNvSpPr txBox="1"/>
          <p:nvPr/>
        </p:nvSpPr>
        <p:spPr>
          <a:xfrm>
            <a:off x="8900884" y="2144268"/>
            <a:ext cx="2605011" cy="33482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5" name="Shape 25"/>
          <p:cNvSpPr txBox="1"/>
          <p:nvPr/>
        </p:nvSpPr>
        <p:spPr>
          <a:xfrm>
            <a:off x="9110434" y="2315718"/>
            <a:ext cx="2185911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endParaRPr lang="en-US" sz="2100" dirty="0"/>
          </a:p>
        </p:txBody>
      </p:sp>
      <p:sp>
        <p:nvSpPr>
          <p:cNvPr id="26" name="Shape 26"/>
          <p:cNvSpPr/>
          <p:nvPr/>
        </p:nvSpPr>
        <p:spPr>
          <a:xfrm>
            <a:off x="9110434" y="2785872"/>
            <a:ext cx="1905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27" name="Line 27"/>
          <p:cNvCxnSpPr/>
          <p:nvPr/>
        </p:nvCxnSpPr>
        <p:spPr>
          <a:xfrm>
            <a:off x="9434284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9617640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9800996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9984353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167709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0351065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10534421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10717778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10901134" y="2900172"/>
            <a:ext cx="0" cy="1543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9434284" y="4443222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9434284" y="4314634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9434284" y="4186047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9434284" y="4057460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9434284" y="3928872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9434284" y="3800284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9434284" y="3671697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9434284" y="3543110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9434284" y="3414522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9434284" y="3285934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9434284" y="3157347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9434284" y="3028760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9434284" y="2900172"/>
            <a:ext cx="1466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10167709" y="2900172"/>
            <a:ext cx="0" cy="1543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9434284" y="3928872"/>
            <a:ext cx="1466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51" name="Shape 51"/>
          <p:cNvSpPr txBox="1"/>
          <p:nvPr/>
        </p:nvSpPr>
        <p:spPr>
          <a:xfrm>
            <a:off x="9159964" y="44622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9526676" y="44622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9893389" y="44622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10260101" y="44622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10626814" y="44622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8867356" y="435178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8867356" y="409460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58" name="Shape 58"/>
          <p:cNvSpPr txBox="1"/>
          <p:nvPr/>
        </p:nvSpPr>
        <p:spPr>
          <a:xfrm>
            <a:off x="8867356" y="383743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8867356" y="358025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60" name="Shape 60"/>
          <p:cNvSpPr txBox="1"/>
          <p:nvPr/>
        </p:nvSpPr>
        <p:spPr>
          <a:xfrm>
            <a:off x="8867356" y="332308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8867356" y="306590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62" name="Shape 62"/>
          <p:cNvSpPr txBox="1"/>
          <p:nvPr/>
        </p:nvSpPr>
        <p:spPr>
          <a:xfrm>
            <a:off x="8867356" y="280873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cxnSp>
        <p:nvCxnSpPr>
          <p:cNvPr id="63" name="Line 63"/>
          <p:cNvCxnSpPr/>
          <p:nvPr/>
        </p:nvCxnSpPr>
        <p:spPr>
          <a:xfrm flipV="1">
            <a:off x="9837668" y="2900172"/>
            <a:ext cx="440055" cy="15430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64" name="Shape 64"/>
          <p:cNvSpPr/>
          <p:nvPr/>
        </p:nvSpPr>
        <p:spPr>
          <a:xfrm>
            <a:off x="10115321" y="323354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5" name="Shape 65"/>
          <p:cNvSpPr txBox="1"/>
          <p:nvPr/>
        </p:nvSpPr>
        <p:spPr>
          <a:xfrm>
            <a:off x="10253434" y="303828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(0, 5)</a:t>
            </a:r>
            <a:endParaRPr lang="en-US" sz="1125" dirty="0"/>
          </a:p>
        </p:txBody>
      </p:sp>
      <p:sp>
        <p:nvSpPr>
          <p:cNvPr id="66" name="Shape 66"/>
          <p:cNvSpPr txBox="1"/>
          <p:nvPr/>
        </p:nvSpPr>
        <p:spPr>
          <a:xfrm>
            <a:off x="9110434" y="4786122"/>
            <a:ext cx="2185911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Only one whose </a:t>
            </a:r>
            <a:r>
              <a:rPr lang="en-US" sz="1575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 isn't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8" name="Slide Number 6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4.1 · Slopes of Linear Relationships · SE p. 321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Parallel, perpendicular, or neither to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34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2144268"/>
            <a:ext cx="3479698" cy="319201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231571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78587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2038350" y="278587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18363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−2.5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2038350" y="318363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−6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358140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2038350" y="358140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895350" y="397916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0.5</a:t>
            </a: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2038350" y="397916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895350" y="437692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2038350" y="437692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16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895350" y="4869942"/>
            <a:ext cx="30605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4: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20" name="Shape 20"/>
          <p:cNvSpPr txBox="1"/>
          <p:nvPr/>
        </p:nvSpPr>
        <p:spPr>
          <a:xfrm>
            <a:off x="4355998" y="2144268"/>
            <a:ext cx="3479698" cy="17381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4565548" y="231571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endParaRPr lang="en-US" sz="2100" dirty="0"/>
          </a:p>
        </p:txBody>
      </p:sp>
      <p:sp>
        <p:nvSpPr>
          <p:cNvPr id="18" name="Shape 18"/>
          <p:cNvSpPr txBox="1"/>
          <p:nvPr/>
        </p:nvSpPr>
        <p:spPr>
          <a:xfrm>
            <a:off x="4565548" y="2785872"/>
            <a:ext cx="30605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An elevator descends 4 feet every second.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4565548" y="3416046"/>
            <a:ext cx="30605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−4: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neither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24" name="Shape 24"/>
          <p:cNvSpPr txBox="1"/>
          <p:nvPr/>
        </p:nvSpPr>
        <p:spPr>
          <a:xfrm>
            <a:off x="8026197" y="2144268"/>
            <a:ext cx="34796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1" name="Shape 21"/>
          <p:cNvSpPr txBox="1"/>
          <p:nvPr/>
        </p:nvSpPr>
        <p:spPr>
          <a:xfrm>
            <a:off x="8235747" y="231571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endParaRPr lang="en-US" sz="2100" dirty="0"/>
          </a:p>
        </p:txBody>
      </p:sp>
      <p:sp>
        <p:nvSpPr>
          <p:cNvPr id="22" name="Shape 22"/>
          <p:cNvSpPr txBox="1"/>
          <p:nvPr/>
        </p:nvSpPr>
        <p:spPr>
          <a:xfrm>
            <a:off x="8235747" y="2785872"/>
            <a:ext cx="30605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¼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8235747" y="3290316"/>
            <a:ext cx="30605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¼: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neither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4 · ¼ =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not −1.</a:t>
            </a:r>
            <a:endParaRPr lang="en-US" sz="1575" dirty="0"/>
          </a:p>
        </p:txBody>
      </p:sp>
      <p:sp>
        <p:nvSpPr>
          <p:cNvPr id="25" name="Slide Number 2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4.1 · Slopes of Linear Relationships · SE p. 321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Parallel, perpendicular, or neither to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3450" dirty="0"/>
          </a:p>
        </p:txBody>
      </p:sp>
      <p:sp>
        <p:nvSpPr>
          <p:cNvPr id="54" name="Shape 54"/>
          <p:cNvSpPr txBox="1"/>
          <p:nvPr/>
        </p:nvSpPr>
        <p:spPr>
          <a:xfrm>
            <a:off x="685800" y="2144268"/>
            <a:ext cx="3479698" cy="406069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231571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endParaRPr lang="en-US" sz="2100" dirty="0"/>
          </a:p>
        </p:txBody>
      </p:sp>
      <p:sp>
        <p:nvSpPr>
          <p:cNvPr id="5" name="Shape 5"/>
          <p:cNvSpPr/>
          <p:nvPr/>
        </p:nvSpPr>
        <p:spPr>
          <a:xfrm>
            <a:off x="895350" y="2785872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1219200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370409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1521619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1672828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1824037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1975247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2126456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2277666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2428875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2580084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2731294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2882503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3033712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3184922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3336131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3487341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3638550" y="290017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219200" y="539572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219200" y="523975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219200" y="508377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219200" y="4927806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219200" y="4771834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219200" y="461586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219200" y="4459891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219200" y="4303919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219200" y="4147947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219200" y="3991975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1219200" y="383600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1219200" y="3680031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1219200" y="3524059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1219200" y="336808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1219200" y="3212116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1219200" y="3056144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1219200" y="290017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2428875" y="2900172"/>
            <a:ext cx="0" cy="2495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1219200" y="4147947"/>
            <a:ext cx="2419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2" name="Shape 42"/>
          <p:cNvSpPr txBox="1"/>
          <p:nvPr/>
        </p:nvSpPr>
        <p:spPr>
          <a:xfrm>
            <a:off x="944880" y="54147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1549717" y="54147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2154555" y="54147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2759392" y="54147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3364230" y="54147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52272" y="530428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52272" y="468039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52272" y="405650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52272" y="343261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52272" y="280873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cxnSp>
        <p:nvCxnSpPr>
          <p:cNvPr id="52" name="Line 52"/>
          <p:cNvCxnSpPr/>
          <p:nvPr/>
        </p:nvCxnSpPr>
        <p:spPr>
          <a:xfrm flipV="1">
            <a:off x="1219200" y="3913989"/>
            <a:ext cx="2419350" cy="623888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3" name="Shape 53"/>
          <p:cNvSpPr txBox="1"/>
          <p:nvPr/>
        </p:nvSpPr>
        <p:spPr>
          <a:xfrm>
            <a:off x="895350" y="5738622"/>
            <a:ext cx="30605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¼: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neither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7" name="Shape 67"/>
          <p:cNvSpPr txBox="1"/>
          <p:nvPr/>
        </p:nvSpPr>
        <p:spPr>
          <a:xfrm>
            <a:off x="4355998" y="2144268"/>
            <a:ext cx="3479698" cy="319201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5" name="Shape 55"/>
          <p:cNvSpPr txBox="1"/>
          <p:nvPr/>
        </p:nvSpPr>
        <p:spPr>
          <a:xfrm>
            <a:off x="4565548" y="231571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e.</a:t>
            </a:r>
            <a:endParaRPr lang="en-US" sz="2100" dirty="0"/>
          </a:p>
        </p:txBody>
      </p:sp>
      <p:sp>
        <p:nvSpPr>
          <p:cNvPr id="56" name="Shape 56"/>
          <p:cNvSpPr txBox="1"/>
          <p:nvPr/>
        </p:nvSpPr>
        <p:spPr>
          <a:xfrm>
            <a:off x="4565548" y="278587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57" name="Shape 57"/>
          <p:cNvSpPr txBox="1"/>
          <p:nvPr/>
        </p:nvSpPr>
        <p:spPr>
          <a:xfrm>
            <a:off x="5708548" y="278587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endParaRPr lang="en-US" sz="1650" dirty="0"/>
          </a:p>
        </p:txBody>
      </p:sp>
      <p:sp>
        <p:nvSpPr>
          <p:cNvPr id="58" name="Shape 58"/>
          <p:cNvSpPr txBox="1"/>
          <p:nvPr/>
        </p:nvSpPr>
        <p:spPr>
          <a:xfrm>
            <a:off x="4565548" y="318363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59" name="Shape 59"/>
          <p:cNvSpPr txBox="1"/>
          <p:nvPr/>
        </p:nvSpPr>
        <p:spPr>
          <a:xfrm>
            <a:off x="5708548" y="318363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650" dirty="0"/>
          </a:p>
        </p:txBody>
      </p:sp>
      <p:sp>
        <p:nvSpPr>
          <p:cNvPr id="60" name="Shape 60"/>
          <p:cNvSpPr txBox="1"/>
          <p:nvPr/>
        </p:nvSpPr>
        <p:spPr>
          <a:xfrm>
            <a:off x="4565548" y="358140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61" name="Shape 61"/>
          <p:cNvSpPr txBox="1"/>
          <p:nvPr/>
        </p:nvSpPr>
        <p:spPr>
          <a:xfrm>
            <a:off x="5708548" y="358140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62" name="Shape 62"/>
          <p:cNvSpPr txBox="1"/>
          <p:nvPr/>
        </p:nvSpPr>
        <p:spPr>
          <a:xfrm>
            <a:off x="4565548" y="397916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63" name="Shape 63"/>
          <p:cNvSpPr txBox="1"/>
          <p:nvPr/>
        </p:nvSpPr>
        <p:spPr>
          <a:xfrm>
            <a:off x="5708548" y="397916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1.5</a:t>
            </a:r>
            <a:endParaRPr lang="en-US" sz="1650" dirty="0"/>
          </a:p>
        </p:txBody>
      </p:sp>
      <p:sp>
        <p:nvSpPr>
          <p:cNvPr id="64" name="Shape 64"/>
          <p:cNvSpPr txBox="1"/>
          <p:nvPr/>
        </p:nvSpPr>
        <p:spPr>
          <a:xfrm>
            <a:off x="4565548" y="437692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8</a:t>
            </a:r>
            <a:endParaRPr lang="en-US" sz="1650" dirty="0"/>
          </a:p>
        </p:txBody>
      </p:sp>
      <p:sp>
        <p:nvSpPr>
          <p:cNvPr id="65" name="Shape 65"/>
          <p:cNvSpPr txBox="1"/>
          <p:nvPr/>
        </p:nvSpPr>
        <p:spPr>
          <a:xfrm>
            <a:off x="5708548" y="437692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66" name="Shape 66"/>
          <p:cNvSpPr txBox="1"/>
          <p:nvPr/>
        </p:nvSpPr>
        <p:spPr>
          <a:xfrm>
            <a:off x="4565548" y="4869942"/>
            <a:ext cx="30605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−¼: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71" name="Shape 71"/>
          <p:cNvSpPr txBox="1"/>
          <p:nvPr/>
        </p:nvSpPr>
        <p:spPr>
          <a:xfrm>
            <a:off x="8026197" y="2144268"/>
            <a:ext cx="3479698" cy="17381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8" name="Shape 68"/>
          <p:cNvSpPr txBox="1"/>
          <p:nvPr/>
        </p:nvSpPr>
        <p:spPr>
          <a:xfrm>
            <a:off x="8235747" y="231571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endParaRPr lang="en-US" sz="2100" dirty="0"/>
          </a:p>
        </p:txBody>
      </p:sp>
      <p:sp>
        <p:nvSpPr>
          <p:cNvPr id="69" name="Shape 69"/>
          <p:cNvSpPr txBox="1"/>
          <p:nvPr/>
        </p:nvSpPr>
        <p:spPr>
          <a:xfrm>
            <a:off x="8235747" y="2785872"/>
            <a:ext cx="30605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For every hour Chiletso bakes, she makes 4 dozen cookies.</a:t>
            </a:r>
            <a:endParaRPr lang="en-US" sz="1575" dirty="0"/>
          </a:p>
        </p:txBody>
      </p:sp>
      <p:sp>
        <p:nvSpPr>
          <p:cNvPr id="70" name="Shape 70"/>
          <p:cNvSpPr txBox="1"/>
          <p:nvPr/>
        </p:nvSpPr>
        <p:spPr>
          <a:xfrm>
            <a:off x="8235747" y="3416046"/>
            <a:ext cx="30605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4: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72" name="Slide Number 7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4.2 · Comparing Tables and Graphs · SE p. 322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Recycling cardboard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Travis County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965198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Weight (tons)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2650998" y="2008632"/>
            <a:ext cx="16383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Payout ($)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406396"/>
            <a:ext cx="196519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0.5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2650998" y="2406396"/>
            <a:ext cx="16383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7.50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804160"/>
            <a:ext cx="196519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2650998" y="2804160"/>
            <a:ext cx="16383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15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3201924"/>
            <a:ext cx="196519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1.5</a:t>
            </a: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2650998" y="3201924"/>
            <a:ext cx="16383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22.50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599688"/>
            <a:ext cx="196519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2650998" y="3599688"/>
            <a:ext cx="16383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30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409270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(0.5)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(0.5)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(1)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(1)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(3)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(3)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Hays County</a:t>
            </a:r>
            <a:endParaRPr lang="en-US" sz="1575" dirty="0"/>
          </a:p>
        </p:txBody>
      </p:sp>
      <p:sp>
        <p:nvSpPr>
          <p:cNvPr id="17" name="Shape 17"/>
          <p:cNvSpPr/>
          <p:nvPr/>
        </p:nvSpPr>
        <p:spPr>
          <a:xfrm>
            <a:off x="6286348" y="2008632"/>
            <a:ext cx="3048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8" name="Line 18"/>
          <p:cNvCxnSpPr/>
          <p:nvPr/>
        </p:nvCxnSpPr>
        <p:spPr>
          <a:xfrm>
            <a:off x="6610198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6936429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7262660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7588891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7915123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8241354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8567585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8893816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9220048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4618482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450504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4391614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427818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4164746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4051312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3937877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382444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3711009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3597575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3484141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3370707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6610198" y="325727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610198" y="3143839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6610198" y="3030405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6610198" y="2916971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6610198" y="2803537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6610198" y="2690102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6610198" y="257666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6610198" y="2463234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6610198" y="234980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6610198" y="2236366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6610198" y="2122932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6610198" y="2122932"/>
            <a:ext cx="0" cy="2495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6610198" y="4618482"/>
            <a:ext cx="2609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52" name="Shape 52"/>
          <p:cNvSpPr txBox="1"/>
          <p:nvPr/>
        </p:nvSpPr>
        <p:spPr>
          <a:xfrm>
            <a:off x="6335878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6988340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7640803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8293265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8945728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6043270" y="452704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8" name="Shape 58"/>
          <p:cNvSpPr txBox="1"/>
          <p:nvPr/>
        </p:nvSpPr>
        <p:spPr>
          <a:xfrm>
            <a:off x="6043270" y="395987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6043270" y="339270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60" name="Shape 60"/>
          <p:cNvSpPr txBox="1"/>
          <p:nvPr/>
        </p:nvSpPr>
        <p:spPr>
          <a:xfrm>
            <a:off x="6043270" y="282553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15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6043270" y="225836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</a:t>
            </a:r>
            <a:endParaRPr lang="en-US" sz="975" dirty="0"/>
          </a:p>
        </p:txBody>
      </p:sp>
      <p:cxnSp>
        <p:nvCxnSpPr>
          <p:cNvPr id="62" name="Line 62"/>
          <p:cNvCxnSpPr/>
          <p:nvPr/>
        </p:nvCxnSpPr>
        <p:spPr>
          <a:xfrm flipV="1">
            <a:off x="6610198" y="2122932"/>
            <a:ext cx="717709" cy="24955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63" name="Shape 63"/>
          <p:cNvSpPr/>
          <p:nvPr/>
        </p:nvSpPr>
        <p:spPr>
          <a:xfrm>
            <a:off x="7210273" y="2297413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4" name="Shape 64"/>
          <p:cNvSpPr txBox="1"/>
          <p:nvPr/>
        </p:nvSpPr>
        <p:spPr>
          <a:xfrm>
            <a:off x="7348385" y="210215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(1, 20)</a:t>
            </a:r>
            <a:endParaRPr lang="en-US" sz="1125" dirty="0"/>
          </a:p>
        </p:txBody>
      </p:sp>
      <p:sp>
        <p:nvSpPr>
          <p:cNvPr id="65" name="Shape 65"/>
          <p:cNvSpPr txBox="1"/>
          <p:nvPr/>
        </p:nvSpPr>
        <p:spPr>
          <a:xfrm>
            <a:off x="6286348" y="496138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Both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-intercepts are 0: $0 for 0 tons.</a:t>
            </a:r>
            <a:endParaRPr lang="en-US" sz="1575" dirty="0"/>
          </a:p>
        </p:txBody>
      </p:sp>
      <p:sp>
        <p:nvSpPr>
          <p:cNvPr id="66" name="Shape 66"/>
          <p:cNvSpPr txBox="1"/>
          <p:nvPr/>
        </p:nvSpPr>
        <p:spPr>
          <a:xfrm>
            <a:off x="6286348" y="535152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Hays County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pays more: $20 per ton vs. $15 per ton.</a:t>
            </a:r>
            <a:endParaRPr lang="en-US" sz="1575" dirty="0"/>
          </a:p>
        </p:txBody>
      </p:sp>
      <p:sp>
        <p:nvSpPr>
          <p:cNvPr id="67" name="Slide Number 6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How does each linear function representation compare with the others?</a:t>
            </a:r>
            <a:endParaRPr lang="en-US" sz="24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 of Day 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Travis County pays $15 per ton of cardboard. How much is paid for 3 tons?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322)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539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$45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54101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Hays County's graph passes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(1, 20)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the payout per ton?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322)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620768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$20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9/5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+ 32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converts °C to °F. What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(10)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323)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50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12435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A 200-gallon tank drains 10 gallons each minute: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200 − 10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the range of the function for this situation?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325)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620768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0 ≤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≤ 200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4.3 · Comparing Equations and Tables · SE p. 323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Celsius and Fahrenheit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Joey's table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°F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1828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°C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−12.2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30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−1.1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50</a:t>
            </a: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75</a:t>
            </a: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23.9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Xavier's equation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286348" y="2008632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9/5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+ 32</a:t>
            </a:r>
            <a:endParaRPr lang="en-US" sz="2325" dirty="0"/>
          </a:p>
        </p:txBody>
      </p:sp>
      <p:sp>
        <p:nvSpPr>
          <p:cNvPr id="17" name="Shape 17"/>
          <p:cNvSpPr txBox="1"/>
          <p:nvPr/>
        </p:nvSpPr>
        <p:spPr>
          <a:xfrm>
            <a:off x="6286348" y="2513076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Xavier converts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°C to °F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°C). Joey converts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°F to °C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6286348" y="314325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Joey's is about 5/9 (each 9°F is about 5°C). Xavier's is 9/5 (each 5°C is 9°F).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6286348" y="3773424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Joey's is about −17.8 (0°F ≈ −17.8°C). Xavier's is 32 (0°C = 32°F).</a:t>
            </a:r>
            <a:endParaRPr lang="en-US" sz="157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4.4 · Comparing Descriptions and Graphs · SE p. 324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Miguel and Lauren's bank accounts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Miguel</a:t>
            </a:r>
            <a:endParaRPr lang="en-US" sz="1575" dirty="0"/>
          </a:p>
        </p:txBody>
      </p:sp>
      <p:sp>
        <p:nvSpPr>
          <p:cNvPr id="5" name="Shape 5"/>
          <p:cNvSpPr/>
          <p:nvPr/>
        </p:nvSpPr>
        <p:spPr>
          <a:xfrm>
            <a:off x="685800" y="2008632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1009650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493520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1977390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461260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945130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3429000" y="2122932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1009650" y="461848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1009650" y="411937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1009650" y="362026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1009650" y="312115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1009650" y="262204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2122932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2122932"/>
            <a:ext cx="0" cy="2495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4618482"/>
            <a:ext cx="2419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20" name="Shape 20"/>
          <p:cNvSpPr txBox="1"/>
          <p:nvPr/>
        </p:nvSpPr>
        <p:spPr>
          <a:xfrm>
            <a:off x="735330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21" name="Shape 21"/>
          <p:cNvSpPr txBox="1"/>
          <p:nvPr/>
        </p:nvSpPr>
        <p:spPr>
          <a:xfrm>
            <a:off x="1219200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22" name="Shape 22"/>
          <p:cNvSpPr txBox="1"/>
          <p:nvPr/>
        </p:nvSpPr>
        <p:spPr>
          <a:xfrm>
            <a:off x="1703070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23" name="Shape 23"/>
          <p:cNvSpPr txBox="1"/>
          <p:nvPr/>
        </p:nvSpPr>
        <p:spPr>
          <a:xfrm>
            <a:off x="2186940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24" name="Shape 24"/>
          <p:cNvSpPr txBox="1"/>
          <p:nvPr/>
        </p:nvSpPr>
        <p:spPr>
          <a:xfrm>
            <a:off x="2670810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25" name="Shape 25"/>
          <p:cNvSpPr txBox="1"/>
          <p:nvPr/>
        </p:nvSpPr>
        <p:spPr>
          <a:xfrm>
            <a:off x="3154680" y="46375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26" name="Shape 26"/>
          <p:cNvSpPr txBox="1"/>
          <p:nvPr/>
        </p:nvSpPr>
        <p:spPr>
          <a:xfrm>
            <a:off x="442722" y="452704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27" name="Shape 27"/>
          <p:cNvSpPr txBox="1"/>
          <p:nvPr/>
        </p:nvSpPr>
        <p:spPr>
          <a:xfrm>
            <a:off x="442722" y="402793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</a:t>
            </a:r>
            <a:endParaRPr lang="en-US" sz="975" dirty="0"/>
          </a:p>
        </p:txBody>
      </p:sp>
      <p:sp>
        <p:nvSpPr>
          <p:cNvPr id="28" name="Shape 28"/>
          <p:cNvSpPr txBox="1"/>
          <p:nvPr/>
        </p:nvSpPr>
        <p:spPr>
          <a:xfrm>
            <a:off x="442722" y="352882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40</a:t>
            </a:r>
            <a:endParaRPr lang="en-US" sz="975" dirty="0"/>
          </a:p>
        </p:txBody>
      </p:sp>
      <p:sp>
        <p:nvSpPr>
          <p:cNvPr id="29" name="Shape 29"/>
          <p:cNvSpPr txBox="1"/>
          <p:nvPr/>
        </p:nvSpPr>
        <p:spPr>
          <a:xfrm>
            <a:off x="442722" y="302971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60</a:t>
            </a:r>
            <a:endParaRPr lang="en-US" sz="975" dirty="0"/>
          </a:p>
        </p:txBody>
      </p:sp>
      <p:sp>
        <p:nvSpPr>
          <p:cNvPr id="30" name="Shape 30"/>
          <p:cNvSpPr txBox="1"/>
          <p:nvPr/>
        </p:nvSpPr>
        <p:spPr>
          <a:xfrm>
            <a:off x="442722" y="253060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80</a:t>
            </a:r>
            <a:endParaRPr lang="en-US" sz="975" dirty="0"/>
          </a:p>
        </p:txBody>
      </p:sp>
      <p:sp>
        <p:nvSpPr>
          <p:cNvPr id="31" name="Shape 31"/>
          <p:cNvSpPr txBox="1"/>
          <p:nvPr/>
        </p:nvSpPr>
        <p:spPr>
          <a:xfrm>
            <a:off x="442722" y="203149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100</a:t>
            </a:r>
            <a:endParaRPr lang="en-US" sz="975" dirty="0"/>
          </a:p>
        </p:txBody>
      </p:sp>
      <p:sp>
        <p:nvSpPr>
          <p:cNvPr id="32" name="Shape 32"/>
          <p:cNvSpPr/>
          <p:nvPr/>
        </p:nvSpPr>
        <p:spPr>
          <a:xfrm>
            <a:off x="1441132" y="4066985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33" name="Shape 33"/>
          <p:cNvSpPr/>
          <p:nvPr/>
        </p:nvSpPr>
        <p:spPr>
          <a:xfrm>
            <a:off x="1925003" y="356787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34" name="Shape 34"/>
          <p:cNvSpPr/>
          <p:nvPr/>
        </p:nvSpPr>
        <p:spPr>
          <a:xfrm>
            <a:off x="2408872" y="3068765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35" name="Shape 35"/>
          <p:cNvSpPr/>
          <p:nvPr/>
        </p:nvSpPr>
        <p:spPr>
          <a:xfrm>
            <a:off x="2892742" y="2569655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36" name="Shape 36"/>
          <p:cNvSpPr txBox="1"/>
          <p:nvPr/>
        </p:nvSpPr>
        <p:spPr>
          <a:xfrm>
            <a:off x="3030855" y="237439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(4, 80)</a:t>
            </a:r>
            <a:endParaRPr lang="en-US" sz="1125" dirty="0"/>
          </a:p>
        </p:txBody>
      </p:sp>
      <p:sp>
        <p:nvSpPr>
          <p:cNvPr id="37" name="Shape 37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Lauren starts with $25 and deposits $25 each month.</a:t>
            </a:r>
            <a:endParaRPr lang="en-US" sz="1575" dirty="0"/>
          </a:p>
        </p:txBody>
      </p:sp>
      <p:sp>
        <p:nvSpPr>
          <p:cNvPr id="38" name="Shape 38"/>
          <p:cNvSpPr txBox="1"/>
          <p:nvPr/>
        </p:nvSpPr>
        <p:spPr>
          <a:xfrm>
            <a:off x="6286348" y="2008632"/>
            <a:ext cx="521954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Scales: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each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tick is 1 month and each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tick is $20 ($80 after 4 months). The origin is (0 months, $0).</a:t>
            </a:r>
            <a:endParaRPr lang="en-US" sz="1575" dirty="0"/>
          </a:p>
        </p:txBody>
      </p:sp>
      <p:sp>
        <p:nvSpPr>
          <p:cNvPr id="39" name="Shape 39"/>
          <p:cNvSpPr txBox="1"/>
          <p:nvPr/>
        </p:nvSpPr>
        <p:spPr>
          <a:xfrm>
            <a:off x="6286348" y="2878836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Miguel saves $20 a month; Lauren saves $25 a month.</a:t>
            </a:r>
            <a:endParaRPr lang="en-US" sz="1575" dirty="0"/>
          </a:p>
        </p:txBody>
      </p:sp>
      <p:sp>
        <p:nvSpPr>
          <p:cNvPr id="40" name="Shape 40"/>
          <p:cNvSpPr txBox="1"/>
          <p:nvPr/>
        </p:nvSpPr>
        <p:spPr>
          <a:xfrm>
            <a:off x="6286348" y="350901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Miguel started with $0; Lauren with $25.</a:t>
            </a:r>
            <a:endParaRPr lang="en-US" sz="1575" dirty="0"/>
          </a:p>
        </p:txBody>
      </p:sp>
      <p:sp>
        <p:nvSpPr>
          <p:cNvPr id="41" name="Slide Number 4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Talk the Talk · Function Maker Space · SE p. 325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Create and compare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1828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−10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2971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4114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20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5257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25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2971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4114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7.5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5257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8.75</a:t>
            </a: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258546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A situation for the table: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297561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Sample: Alejandra has read 2.5 pages and reads 2.5 more every 10 minutes. Slope ¼,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2.5.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60578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A less steep equation: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3995928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0.2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+ 30</a:t>
            </a:r>
            <a:endParaRPr lang="en-US" sz="2325" dirty="0"/>
          </a:p>
        </p:txBody>
      </p:sp>
      <p:sp>
        <p:nvSpPr>
          <p:cNvPr id="18" name="Shape 18"/>
          <p:cNvSpPr txBox="1"/>
          <p:nvPr/>
        </p:nvSpPr>
        <p:spPr>
          <a:xfrm>
            <a:off x="6286348" y="2585466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The graph shown in the book has slope ⅓ (through (0, −4)).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6286348" y="321564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It is steeper than the table (¼) and the equation (0.2).</a:t>
            </a:r>
            <a:endParaRPr lang="en-US" sz="1575" dirty="0"/>
          </a:p>
        </p:txBody>
      </p:sp>
      <p:sp>
        <p:nvSpPr>
          <p:cNvPr id="20" name="Shape 20"/>
          <p:cNvSpPr txBox="1"/>
          <p:nvPr/>
        </p:nvSpPr>
        <p:spPr>
          <a:xfrm>
            <a:off x="6286348" y="384581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4. Strategies:</a:t>
            </a:r>
            <a:endParaRPr lang="en-US" sz="1575" dirty="0"/>
          </a:p>
        </p:txBody>
      </p:sp>
      <p:sp>
        <p:nvSpPr>
          <p:cNvPr id="21" name="Shape 21"/>
          <p:cNvSpPr txBox="1"/>
          <p:nvPr/>
        </p:nvSpPr>
        <p:spPr>
          <a:xfrm>
            <a:off x="6286348" y="423595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Answers vary: rate of change from two points; compare the slopes.</a:t>
            </a:r>
            <a:endParaRPr lang="en-US" sz="1575" dirty="0"/>
          </a:p>
        </p:txBody>
      </p:sp>
      <p:sp>
        <p:nvSpPr>
          <p:cNvPr id="22" name="Slide Number 2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do the representations compare?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Every form (equation, table, graph, description) shows the same features: 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or rate and the </a:t>
            </a:r>
            <a:r>
              <a:rPr lang="en-US" sz="19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or starting value.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1536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Compare by finding these in each form: equal slopes are parallel; slopes with a product of −1 are perpendicular.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35508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The quantities and units tell what the slope and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mean.</a:t>
            </a:r>
            <a:endParaRPr lang="en-US" sz="19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A table has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(0, 3)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(2, 11)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Is its line parallel, perpendicular, or neither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39162"/>
            <a:ext cx="489793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Parallel (slope 4)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7238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a table with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(0, 4), (1, 9)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grows faster?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538728"/>
            <a:ext cx="572707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The table (slope 5 &gt; 3)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17195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A taxi charges $2.50 per mile plus $3. What are the units of the slope?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638294"/>
            <a:ext cx="456628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Dollars per mile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Prepare · SE p. 330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 each equation for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1. 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24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3710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3. 2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− 9 = 6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7.5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2. 5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12.7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122932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7.7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273710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4. 12 + 2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324154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13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Practice Online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Work, Homework and Quiz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08988"/>
            <a:ext cx="3378098" cy="1978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50592"/>
            <a:ext cx="29589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40736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 questions each, the same as the bell work slides. Scored when students submit.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406798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616348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616348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practice questions. Each answer is checked right away, with an explanation.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127797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337347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337347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scored when students submit. Correct answers are shown after submitting.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01574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All are multiple choice. The homework follows the Lesson 4 Assignment (SE pp. 327–330).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17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omparing Linear Functions in Different Form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17</Slides>
  <Notes>17</Notes>
</Properties>
</file>

<file path=docProps/core.xml><?xml version="1.0" encoding="utf-8"?>
<cp:coreProperties xmlns:cp="http://schemas.openxmlformats.org/package/2006/metadata/core-properties" xmlns:dc="http://purl.org/dc/elements/1.1/">
  <dc:title>Comparing Linear Functions in Different Forms</dc:title>
  <dc:subject>Bluebonnet Algebra I</dc:subject>
</cp:coreProperties>
</file>