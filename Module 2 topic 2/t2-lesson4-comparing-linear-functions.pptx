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compare linear functions given as tables, graphs, equations and verbal descriptions: slope (parallel or perpendicular), y-intercept, and the units and scales in context. The 150-day guide omits this lesson, but the End of Topic 2 Assessment covers it (questions 11–14). On the class calendar: Day 1 (Thu Oct 29) Getting Started, Activities 4.1 and 4.2, plus the rate of change and starting value of Activity 4.4 if time allows; Day 2 (Wed Nov 4, after the test, for students not retaking) Activities 4.3, 4.4 and Talk the Talk.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1 bell work. Reveal the answers one at a time. Answer key: 1. Slope = (4 − (−6)) ÷ (0 − (−2.5)) = 10 ÷ 2.5 = 4. 2. Parallel lines have equal slopes. 3. The negative reciprocal of 4 is −¼. 4. p has slope (4 − 1) ÷ 4 = ¾ = 0.75. y = x − 2 has slope 1, which is greater. (3x − 4y = 8 is y = ¾x − 2: equal, not greater.)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objective aloud as it appears.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write the Essential Question at the top of their notes. Don't answer it yet; we come back to it at the end of the lesson.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Getting Started, 5–10 minutes. Any choice is correct if the justification is.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4.1, 15–20 minutes. Find each slope first, then compare it to 4: equal is parallel, a product of −1 is perpendicular.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How did you find the slope from the graph? (From (0, −0.5), right 4 and up 1.)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4.2, 10–15 minutes. Question 1: label x = weight of cardboard (tons) and y = payout amount (dollars) on both. Travis: w(3) = 45; Hays: j(3) = 60. End of Day 1.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this, then go to the bell work while you take attendance. Afterward, have a student read the Essential Question aloud and ask two or three students to summarize Day 1: How did you compare the recycling centers?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Have this up as students walk in; they work silently while you take attendance (about 5 minutes). The same 4 questions are on the online Day 2 bell work. Reveal the answers one at a time. Answer key: 1. 15 · 3 = 45. 2. Slope = 20 ÷ 1 = 20 dollars per ton. 3. 9/5 · 10 + 32 = 18 + 32 = 50, so 10°C is 50°F. 4. Range = the outputs, the gallons left: 200 at the start, down to 0 when t = 20.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4.3, 10–15 minutes. Think About: the units of the quantities matter. Joey's slope: (10 − (−12.2)) ÷ (50 − 10) = 22.2 ÷ 40 ≈ 0.56.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Activity 4.4, 10–15 minutes. Slide typo in the student slides: the introduction calls Lauren 'Michelle'. For more practice, assign Skills Practice Set A.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the Talk, 10–15 minutes. TE wording slip: the teacher guide's sample starts Alejandra 'at the middle of page 2'; 2.5 pages read is the middle of page 3.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answer the Essential Question on the lesson opener page.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Give 3–4 minutes, collect the answers, and use them to decide who needs Skills Practice. Work: 1. (11 − 3) ÷ 2 = 4. 2. (9 − 4) ÷ 1 = 5. 3. The slope is the output unit over the input unit.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Lesson 4 Assignment; it previews Module 3.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for this deck; not from the textbook. Click a title to open it in a new tab. Put the day's bell work link up as students walk in. The 150-day pacing calendar (topic2-pacing-150.html) gives the day for each homework and quiz.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Relationship Id="rId7" Type="http://schemas.openxmlformats.org/officeDocument/2006/relationships/hyperlink" Target="https://creativecommons.org/licenses/by-nc/4.0/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algebra1m2u1l4.vercel.app/Module 2 topic 2/t2-lesson4-bellwork-day1.html" TargetMode="External"/><Relationship Id="rId4" Type="http://schemas.openxmlformats.org/officeDocument/2006/relationships/hyperlink" Target="https://algebra1m2u1l4.vercel.app/Module 2 topic 2/t2-lesson4-bellwork-day2.html" TargetMode="External"/><Relationship Id="rId5" Type="http://schemas.openxmlformats.org/officeDocument/2006/relationships/hyperlink" Target="https://algebra1m2u1l4.vercel.app/Module 2 topic 2/t2-lesson4-homework.html" TargetMode="External"/><Relationship Id="rId6" Type="http://schemas.openxmlformats.org/officeDocument/2006/relationships/hyperlink" Target="https://algebra1m2u1l4.vercel.app/Module 2 topic 2/t2-lesson4-quiz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 · Module 2 · Topic 2 · Lesson 4 · Student Edition pp. 319–330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923544"/>
            <a:ext cx="10820095" cy="13350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2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Comparing Linear Functions in Different Forms</a:t>
            </a:r>
            <a:endParaRPr lang="en-US" sz="42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06218"/>
            <a:ext cx="10820095" cy="5120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000" dirty="0">
                <a:solidFill>
                  <a:srgbClr val="16171D"/>
                </a:solidFill>
                <a:latin typeface="Cambria"/>
                <a:cs typeface="Cambria"/>
              </a:rPr>
              <a:t xml:space="preserve">table · graph · equation · description</a:t>
            </a:r>
            <a:endParaRPr lang="en-US" sz="300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3246882"/>
            <a:ext cx="10820095" cy="3291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Bell work: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| Practice: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8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47516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Click, or press → / Space, to reveal each step. ← goes back. F = full screen.</a:t>
            </a:r>
            <a:endParaRPr lang="en-US" sz="157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5500116"/>
            <a:ext cx="108200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Bluebonnet Algebra I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 · a companion to Bluebonnet Learning Secondary Mathematics, Algebra I, Edition 1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This work is based on original works of the Texas Education Agency and Carnegie Learning, Inc. This work is made available under a Creative Commons Attribution-Non-Commercial-4.0 International License. This does not in any way imply endorsement by those authors of this work.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©2024–2025 Texas Education Agency, portions ©2021 Carnegie Learning, Inc.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Licensed </a:t>
            </a:r>
            <a:r>
              <a:rPr lang="en-US" sz="1125" dirty="0">
                <a:solidFill>
                  <a:srgbClr val="3050B8"/>
                </a:solidFill>
                <a:latin typeface="Segoe UI"/>
                <a:cs typeface="Segoe UI"/>
                <a:hlinkClick r:id="rId7"/>
              </a:rPr>
              <a:t xml:space="preserve">CC BY-NC 4.0</a:t>
            </a: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.</a:t>
            </a:r>
            <a:b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</a:br>
            <a:r>
              <a:rPr lang="en-US" sz="1125" dirty="0" b="1">
                <a:solidFill>
                  <a:srgbClr val="5F6272"/>
                </a:solidFill>
                <a:latin typeface="Segoe UI"/>
                <a:cs typeface="Segoe UI"/>
              </a:rPr>
              <a:t xml:space="preserve">This is a private site for Algebra I teachers and is not publicly available.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Bell Work · Review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What is the slope of the line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(−2.5, −6)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58212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243834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What slope does a line parallel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026408"/>
            <a:ext cx="207888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What slope does a line perpendicular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have?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321)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−¼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(4, 4)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function has a greater rate of change than function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p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323588"/>
            <a:ext cx="340550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− 2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Today you will…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5658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Compare linear functions represented algebraically, graphically, in tables, or with verbal descriptions.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010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Choose and interpret appropriate units to represent independent and dependent quantities in situations modeled by linear functions.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14553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Choose and interpret appropriate scales and origins for graphs of linear functions.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SE p. 319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have represented linear functions in a variety of different ways.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525268"/>
            <a:ext cx="10820095" cy="8778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7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each linear function representation compare with the others?</a:t>
            </a:r>
            <a:endParaRPr lang="en-US" sz="27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Getting Started · Odd One Out · SE p. 320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Which function does not belong? Justify your choice.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2605011" cy="33177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50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7490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50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60776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50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−1.5</a:t>
            </a:r>
            <a:endParaRPr lang="en-US" sz="150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35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50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1058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50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2.5</a:t>
            </a:r>
            <a:endParaRPr lang="en-US" sz="150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285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500" dirty="0">
                <a:solidFill>
                  <a:srgbClr val="16171D"/>
                </a:solidFill>
                <a:latin typeface="Cambria"/>
                <a:cs typeface="Cambria"/>
              </a:rPr>
              <a:t xml:space="preserve">−5</a:t>
            </a:r>
            <a:endParaRPr lang="en-US" sz="150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5564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(slope −2).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3424161" y="2144268"/>
            <a:ext cx="2605011" cy="22181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3633711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3633711" y="2785872"/>
            <a:ext cx="2185911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The ratio of 9th- to 10th-graders is 1 : 1.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3633711" y="365607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domain of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whole numbers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6162523" y="2144268"/>
            <a:ext cx="2605011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6372073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6372073" y="2785872"/>
            <a:ext cx="2185911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c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⅕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6372073" y="3290316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with a slope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between 0 and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8900884" y="2144268"/>
            <a:ext cx="2605011" cy="33482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5" name="Shape 25"/>
          <p:cNvSpPr txBox="1"/>
          <p:nvPr/>
        </p:nvSpPr>
        <p:spPr>
          <a:xfrm>
            <a:off x="9110434" y="2315718"/>
            <a:ext cx="2185911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</a:t>
            </a:r>
            <a:endParaRPr lang="en-US" sz="2100" dirty="0"/>
          </a:p>
        </p:txBody>
      </p:sp>
      <p:sp>
        <p:nvSpPr>
          <p:cNvPr id="26" name="Shape 26"/>
          <p:cNvSpPr/>
          <p:nvPr/>
        </p:nvSpPr>
        <p:spPr>
          <a:xfrm>
            <a:off x="9110434" y="2785872"/>
            <a:ext cx="1905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27" name="Line 27"/>
          <p:cNvCxnSpPr/>
          <p:nvPr/>
        </p:nvCxnSpPr>
        <p:spPr>
          <a:xfrm>
            <a:off x="943428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9617640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9800996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9984353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351065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534421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717778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901134" y="2900172"/>
            <a:ext cx="0" cy="1543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434284" y="44432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9434284" y="43146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9434284" y="41860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9434284" y="40574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9434284" y="380028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9434284" y="367169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9434284" y="354311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9434284" y="341452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9434284" y="3285934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9434284" y="3157347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9434284" y="3028760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9434284" y="2900172"/>
            <a:ext cx="1466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10167709" y="2900172"/>
            <a:ext cx="0" cy="1543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9434284" y="3928872"/>
            <a:ext cx="1466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1" name="Shape 51"/>
          <p:cNvSpPr txBox="1"/>
          <p:nvPr/>
        </p:nvSpPr>
        <p:spPr>
          <a:xfrm>
            <a:off x="915996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9526676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9893389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10260101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10626814" y="44622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867356" y="43517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8867356" y="40946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−2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8867356" y="38374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8867356" y="358025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8867356" y="33230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8867356" y="30659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62" name="Shape 62"/>
          <p:cNvSpPr txBox="1"/>
          <p:nvPr/>
        </p:nvSpPr>
        <p:spPr>
          <a:xfrm>
            <a:off x="8867356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63" name="Line 63"/>
          <p:cNvCxnSpPr/>
          <p:nvPr/>
        </p:nvCxnSpPr>
        <p:spPr>
          <a:xfrm flipV="1">
            <a:off x="9837668" y="2900172"/>
            <a:ext cx="440055" cy="15430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4" name="Shape 64"/>
          <p:cNvSpPr/>
          <p:nvPr/>
        </p:nvSpPr>
        <p:spPr>
          <a:xfrm>
            <a:off x="10115321" y="323354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5" name="Shape 65"/>
          <p:cNvSpPr txBox="1"/>
          <p:nvPr/>
        </p:nvSpPr>
        <p:spPr>
          <a:xfrm>
            <a:off x="10253434" y="3038284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(0, 5)</a:t>
            </a:r>
            <a:endParaRPr lang="en-US" sz="1125" dirty="0"/>
          </a:p>
        </p:txBody>
      </p:sp>
      <p:sp>
        <p:nvSpPr>
          <p:cNvPr id="66" name="Shape 66"/>
          <p:cNvSpPr txBox="1"/>
          <p:nvPr/>
        </p:nvSpPr>
        <p:spPr>
          <a:xfrm>
            <a:off x="9110434" y="4786122"/>
            <a:ext cx="2185911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Only one whose </a:t>
            </a: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 isn't 0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8" name="Slide Number 6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038350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895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−2.5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038350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038350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895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038350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895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038350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4355998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endParaRPr lang="en-US" sz="2100" dirty="0"/>
          </a:p>
        </p:txBody>
      </p:sp>
      <p:sp>
        <p:nvSpPr>
          <p:cNvPr id="18" name="Shape 18"/>
          <p:cNvSpPr txBox="1"/>
          <p:nvPr/>
        </p:nvSpPr>
        <p:spPr>
          <a:xfrm>
            <a:off x="4565548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4565548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24" name="Shape 24"/>
          <p:cNvSpPr txBox="1"/>
          <p:nvPr/>
        </p:nvSpPr>
        <p:spPr>
          <a:xfrm>
            <a:off x="8026197" y="2144268"/>
            <a:ext cx="3479698" cy="18524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21" name="Shape 21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endParaRPr lang="en-US" sz="2100" dirty="0"/>
          </a:p>
        </p:txBody>
      </p:sp>
      <p:sp>
        <p:nvSpPr>
          <p:cNvPr id="22" name="Shape 22"/>
          <p:cNvSpPr txBox="1"/>
          <p:nvPr/>
        </p:nvSpPr>
        <p:spPr>
          <a:xfrm>
            <a:off x="8235747" y="2785872"/>
            <a:ext cx="306059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¼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+ 5</a:t>
            </a:r>
            <a:endParaRPr lang="en-US" sz="2325" dirty="0"/>
          </a:p>
        </p:txBody>
      </p:sp>
      <p:sp>
        <p:nvSpPr>
          <p:cNvPr id="23" name="Shape 23"/>
          <p:cNvSpPr txBox="1"/>
          <p:nvPr/>
        </p:nvSpPr>
        <p:spPr>
          <a:xfrm>
            <a:off x="8235747" y="3290316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4 · ¼ = 1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not −1.</a:t>
            </a:r>
            <a:endParaRPr lang="en-US" sz="1575" dirty="0"/>
          </a:p>
        </p:txBody>
      </p:sp>
      <p:sp>
        <p:nvSpPr>
          <p:cNvPr id="25" name="Slide Number 2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4.1 · Slopes of Linear Relationships · SE p. 321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Parallel, perpendicular, or neither to 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3450" dirty="0" b="1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3450" dirty="0" b="1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3450" dirty="0"/>
          </a:p>
        </p:txBody>
      </p:sp>
      <p:sp>
        <p:nvSpPr>
          <p:cNvPr id="54" name="Shape 54"/>
          <p:cNvSpPr txBox="1"/>
          <p:nvPr/>
        </p:nvSpPr>
        <p:spPr>
          <a:xfrm>
            <a:off x="685800" y="2144268"/>
            <a:ext cx="3479698" cy="406069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endParaRPr lang="en-US" sz="2100" dirty="0"/>
          </a:p>
        </p:txBody>
      </p:sp>
      <p:sp>
        <p:nvSpPr>
          <p:cNvPr id="5" name="Shape 5"/>
          <p:cNvSpPr/>
          <p:nvPr/>
        </p:nvSpPr>
        <p:spPr>
          <a:xfrm>
            <a:off x="895350" y="278587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21920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37040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521619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1672828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182403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1975247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212645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2277666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258008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2731294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2882503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303371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3184922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333613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3487341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638550" y="290017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219200" y="539572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219200" y="5239750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219200" y="508377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219200" y="492780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219200" y="477183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219200" y="461586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219200" y="445989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219200" y="430391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219200" y="3991975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219200" y="3836003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219200" y="3680031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219200" y="3524059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219200" y="3368088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219200" y="3212116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219200" y="3056144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219200" y="29001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2428875" y="290017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219200" y="4147947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2" name="Shape 42"/>
          <p:cNvSpPr txBox="1"/>
          <p:nvPr/>
        </p:nvSpPr>
        <p:spPr>
          <a:xfrm>
            <a:off x="94488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1549717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2154555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2759392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3364230" y="54147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652272" y="530428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−8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652272" y="468039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−4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652272" y="4056507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652272" y="34326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652272" y="28087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cxnSp>
        <p:nvCxnSpPr>
          <p:cNvPr id="52" name="Line 52"/>
          <p:cNvCxnSpPr/>
          <p:nvPr/>
        </p:nvCxnSpPr>
        <p:spPr>
          <a:xfrm flipV="1">
            <a:off x="1219200" y="3913989"/>
            <a:ext cx="2419350" cy="623888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3" name="Shape 53"/>
          <p:cNvSpPr txBox="1"/>
          <p:nvPr/>
        </p:nvSpPr>
        <p:spPr>
          <a:xfrm>
            <a:off x="895350" y="573862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67" name="Shape 67"/>
          <p:cNvSpPr txBox="1"/>
          <p:nvPr/>
        </p:nvSpPr>
        <p:spPr>
          <a:xfrm>
            <a:off x="4355998" y="2144268"/>
            <a:ext cx="3479698" cy="3192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 txBox="1"/>
          <p:nvPr/>
        </p:nvSpPr>
        <p:spPr>
          <a:xfrm>
            <a:off x="4565548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e.</a:t>
            </a:r>
            <a:endParaRPr lang="en-US" sz="2100" dirty="0"/>
          </a:p>
        </p:txBody>
      </p:sp>
      <p:sp>
        <p:nvSpPr>
          <p:cNvPr id="56" name="Shape 56"/>
          <p:cNvSpPr txBox="1"/>
          <p:nvPr/>
        </p:nvSpPr>
        <p:spPr>
          <a:xfrm>
            <a:off x="4565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7" name="Shape 57"/>
          <p:cNvSpPr txBox="1"/>
          <p:nvPr/>
        </p:nvSpPr>
        <p:spPr>
          <a:xfrm>
            <a:off x="5708548" y="278587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58" name="Shape 58"/>
          <p:cNvSpPr txBox="1"/>
          <p:nvPr/>
        </p:nvSpPr>
        <p:spPr>
          <a:xfrm>
            <a:off x="4565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−4</a:t>
            </a:r>
            <a:endParaRPr lang="en-US" sz="1650" dirty="0"/>
          </a:p>
        </p:txBody>
      </p:sp>
      <p:sp>
        <p:nvSpPr>
          <p:cNvPr id="59" name="Shape 59"/>
          <p:cNvSpPr txBox="1"/>
          <p:nvPr/>
        </p:nvSpPr>
        <p:spPr>
          <a:xfrm>
            <a:off x="5708548" y="318363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60" name="Shape 60"/>
          <p:cNvSpPr txBox="1"/>
          <p:nvPr/>
        </p:nvSpPr>
        <p:spPr>
          <a:xfrm>
            <a:off x="4565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1" name="Shape 61"/>
          <p:cNvSpPr txBox="1"/>
          <p:nvPr/>
        </p:nvSpPr>
        <p:spPr>
          <a:xfrm>
            <a:off x="5708548" y="358140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2" name="Shape 62"/>
          <p:cNvSpPr txBox="1"/>
          <p:nvPr/>
        </p:nvSpPr>
        <p:spPr>
          <a:xfrm>
            <a:off x="4565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63" name="Shape 63"/>
          <p:cNvSpPr txBox="1"/>
          <p:nvPr/>
        </p:nvSpPr>
        <p:spPr>
          <a:xfrm>
            <a:off x="5708548" y="397916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64" name="Shape 64"/>
          <p:cNvSpPr txBox="1"/>
          <p:nvPr/>
        </p:nvSpPr>
        <p:spPr>
          <a:xfrm>
            <a:off x="4565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650" dirty="0"/>
          </a:p>
        </p:txBody>
      </p:sp>
      <p:sp>
        <p:nvSpPr>
          <p:cNvPr id="65" name="Shape 65"/>
          <p:cNvSpPr txBox="1"/>
          <p:nvPr/>
        </p:nvSpPr>
        <p:spPr>
          <a:xfrm>
            <a:off x="5708548" y="437692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6" name="Shape 66"/>
          <p:cNvSpPr txBox="1"/>
          <p:nvPr/>
        </p:nvSpPr>
        <p:spPr>
          <a:xfrm>
            <a:off x="4565548" y="4869942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−¼: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1" name="Shape 71"/>
          <p:cNvSpPr txBox="1"/>
          <p:nvPr/>
        </p:nvSpPr>
        <p:spPr>
          <a:xfrm>
            <a:off x="8026197" y="2144268"/>
            <a:ext cx="3479698" cy="173812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8" name="Shape 68"/>
          <p:cNvSpPr txBox="1"/>
          <p:nvPr/>
        </p:nvSpPr>
        <p:spPr>
          <a:xfrm>
            <a:off x="8235747" y="2315718"/>
            <a:ext cx="30605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endParaRPr lang="en-US" sz="2100" dirty="0"/>
          </a:p>
        </p:txBody>
      </p:sp>
      <p:sp>
        <p:nvSpPr>
          <p:cNvPr id="69" name="Shape 69"/>
          <p:cNvSpPr txBox="1"/>
          <p:nvPr/>
        </p:nvSpPr>
        <p:spPr>
          <a:xfrm>
            <a:off x="8235747" y="2785872"/>
            <a:ext cx="306059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For every hour Chiletso bakes, she makes 4 dozen cookies.</a:t>
            </a:r>
            <a:endParaRPr lang="en-US" sz="1575" dirty="0"/>
          </a:p>
        </p:txBody>
      </p:sp>
      <p:sp>
        <p:nvSpPr>
          <p:cNvPr id="70" name="Shape 70"/>
          <p:cNvSpPr txBox="1"/>
          <p:nvPr/>
        </p:nvSpPr>
        <p:spPr>
          <a:xfrm>
            <a:off x="8235747" y="3416046"/>
            <a:ext cx="30605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Slope 4: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parallel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72" name="Slide Number 7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1 · Activity 4.2 · Comparing Tables and Graphs · SE p. 322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Recycling cardboard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Travis County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965198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Weight (tons)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650998" y="2008632"/>
            <a:ext cx="16383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Payout ($)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0.5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650998" y="2406396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7.50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650998" y="2804160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1.5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650998" y="3201924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22.50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965198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650998" y="3599688"/>
            <a:ext cx="16383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409270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(0.5)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(1)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,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 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&lt;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 </a:t>
            </a:r>
            <a:r>
              <a:rPr lang="en-US" sz="157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575" dirty="0">
                <a:solidFill>
                  <a:srgbClr val="16171D"/>
                </a:solidFill>
                <a:latin typeface="Cambria"/>
                <a:cs typeface="Cambria"/>
              </a:rPr>
              <a:t xml:space="preserve">(3)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endParaRPr lang="en-US" sz="1575" dirty="0"/>
          </a:p>
        </p:txBody>
      </p:sp>
      <p:sp>
        <p:nvSpPr>
          <p:cNvPr id="17" name="Shape 17"/>
          <p:cNvSpPr/>
          <p:nvPr/>
        </p:nvSpPr>
        <p:spPr>
          <a:xfrm>
            <a:off x="6286348" y="2008632"/>
            <a:ext cx="3048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18" name="Line 18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6936429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72626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7588891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7915123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8241354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8567585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8893816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9220048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610198" y="450504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610198" y="439161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610198" y="427818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610198" y="416474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610198" y="405131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6610198" y="393787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6610198" y="382444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6610198" y="371100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6610198" y="359757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6610198" y="348414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6610198" y="337070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6610198" y="3257273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6610198" y="3143839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6610198" y="3030405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6610198" y="2916971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6610198" y="2803537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4" name="Line 44"/>
          <p:cNvCxnSpPr/>
          <p:nvPr/>
        </p:nvCxnSpPr>
        <p:spPr>
          <a:xfrm>
            <a:off x="6610198" y="269010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5" name="Line 45"/>
          <p:cNvCxnSpPr/>
          <p:nvPr/>
        </p:nvCxnSpPr>
        <p:spPr>
          <a:xfrm>
            <a:off x="6610198" y="2576668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6" name="Line 46"/>
          <p:cNvCxnSpPr/>
          <p:nvPr/>
        </p:nvCxnSpPr>
        <p:spPr>
          <a:xfrm>
            <a:off x="6610198" y="2463234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7" name="Line 47"/>
          <p:cNvCxnSpPr/>
          <p:nvPr/>
        </p:nvCxnSpPr>
        <p:spPr>
          <a:xfrm>
            <a:off x="6610198" y="2349800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8" name="Line 48"/>
          <p:cNvCxnSpPr/>
          <p:nvPr/>
        </p:nvCxnSpPr>
        <p:spPr>
          <a:xfrm>
            <a:off x="6610198" y="2236366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9" name="Line 49"/>
          <p:cNvCxnSpPr/>
          <p:nvPr/>
        </p:nvCxnSpPr>
        <p:spPr>
          <a:xfrm>
            <a:off x="6610198" y="2122932"/>
            <a:ext cx="26098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0" name="Line 50"/>
          <p:cNvCxnSpPr/>
          <p:nvPr/>
        </p:nvCxnSpPr>
        <p:spPr>
          <a:xfrm>
            <a:off x="6610198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51" name="Line 51"/>
          <p:cNvCxnSpPr/>
          <p:nvPr/>
        </p:nvCxnSpPr>
        <p:spPr>
          <a:xfrm>
            <a:off x="6610198" y="4618482"/>
            <a:ext cx="26098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52" name="Shape 52"/>
          <p:cNvSpPr txBox="1"/>
          <p:nvPr/>
        </p:nvSpPr>
        <p:spPr>
          <a:xfrm>
            <a:off x="633587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69883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7640803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8293265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8945728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6043270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8" name="Shape 58"/>
          <p:cNvSpPr txBox="1"/>
          <p:nvPr/>
        </p:nvSpPr>
        <p:spPr>
          <a:xfrm>
            <a:off x="6043270" y="395987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59" name="Shape 59"/>
          <p:cNvSpPr txBox="1"/>
          <p:nvPr/>
        </p:nvSpPr>
        <p:spPr>
          <a:xfrm>
            <a:off x="6043270" y="339270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60" name="Shape 60"/>
          <p:cNvSpPr txBox="1"/>
          <p:nvPr/>
        </p:nvSpPr>
        <p:spPr>
          <a:xfrm>
            <a:off x="6043270" y="2825531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61" name="Shape 61"/>
          <p:cNvSpPr txBox="1"/>
          <p:nvPr/>
        </p:nvSpPr>
        <p:spPr>
          <a:xfrm>
            <a:off x="6043270" y="2258360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cxnSp>
        <p:nvCxnSpPr>
          <p:cNvPr id="62" name="Line 62"/>
          <p:cNvCxnSpPr/>
          <p:nvPr/>
        </p:nvCxnSpPr>
        <p:spPr>
          <a:xfrm flipV="1">
            <a:off x="6610198" y="2122932"/>
            <a:ext cx="717709" cy="2495550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63" name="Shape 63"/>
          <p:cNvSpPr/>
          <p:nvPr/>
        </p:nvSpPr>
        <p:spPr>
          <a:xfrm>
            <a:off x="7210273" y="2297413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4" name="Shape 64"/>
          <p:cNvSpPr txBox="1"/>
          <p:nvPr/>
        </p:nvSpPr>
        <p:spPr>
          <a:xfrm>
            <a:off x="7348385" y="210215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(1, 20)</a:t>
            </a:r>
            <a:endParaRPr lang="en-US" sz="1125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961382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Both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-intercepts are 0: $0 for 0 tons.</a:t>
            </a:r>
            <a:endParaRPr lang="en-US" sz="1575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35152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Hays County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pays more: $20 per ton vs. $15 per ton.</a:t>
            </a:r>
            <a:endParaRPr lang="en-US" sz="1575" dirty="0"/>
          </a:p>
        </p:txBody>
      </p:sp>
      <p:sp>
        <p:nvSpPr>
          <p:cNvPr id="67" name="Slide Number 6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210312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Lesson 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2512314"/>
            <a:ext cx="10820095" cy="1312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8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</a:t>
            </a:r>
            <a:endParaRPr lang="en-US" sz="8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3995928"/>
            <a:ext cx="10820095" cy="7863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400" dirty="0">
                <a:solidFill>
                  <a:srgbClr val="16171D"/>
                </a:solidFill>
                <a:latin typeface="Segoe UI"/>
                <a:cs typeface="Segoe UI"/>
              </a:rPr>
              <a:t xml:space="preserve">Essential Question: How does each linear function representation compare with the others?</a:t>
            </a:r>
            <a:endParaRPr lang="en-US" sz="2400" dirty="0"/>
          </a:p>
        </p:txBody>
      </p:sp>
      <p:sp>
        <p:nvSpPr>
          <p:cNvPr id="5" name="Slide Number 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Bell Work · Review of Day 1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Warm up: work these on your own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Travis County pays $15 per ton of cardboard. How much is paid for 3 tons?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755392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$45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541014"/>
            <a:ext cx="5143348" cy="9464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Hays County's graph passes through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(1, 20)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payout per ton?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322)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4620768"/>
            <a:ext cx="241054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$20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362548" y="1675638"/>
            <a:ext cx="5143348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converts °C to °F. What is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(10)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323)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362548" y="2458212"/>
            <a:ext cx="224471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362548" y="3243834"/>
            <a:ext cx="5143348" cy="124358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4. A 200-gallon tank drains 10 gallons each minute: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200 − 10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What is the range of the function for this situation? 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(SE p. 325)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362548" y="4620768"/>
            <a:ext cx="4234632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0 ≤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w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t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≤ 200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4.3 · Comparing Equations and Tables · SE p. 323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Celsius and Fahrenheit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</a:t>
            </a:r>
            <a:endParaRPr lang="en-US" sz="15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°F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1828800" y="2008632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°C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1828800" y="2406396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−12.2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30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804160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−1.1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50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1828800" y="3201924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1828800" y="3599688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23.9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Xavier's equation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286348" y="2008632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J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) = 9/5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+ 32</a:t>
            </a:r>
            <a:endParaRPr lang="en-US" sz="2325" dirty="0"/>
          </a:p>
        </p:txBody>
      </p:sp>
      <p:sp>
        <p:nvSpPr>
          <p:cNvPr id="17" name="Shape 17"/>
          <p:cNvSpPr txBox="1"/>
          <p:nvPr/>
        </p:nvSpPr>
        <p:spPr>
          <a:xfrm>
            <a:off x="6286348" y="251307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Xavier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(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is °C). Joey converts 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°F to °C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157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314325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5/9 (each 9°F is about 5°C). Xavier's is 9/5 (each 5°C is 9°F).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77342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Joey's is about −17.8 (0°F ≈ −17.8°C). Xavier's is 32 (0°C = 32°F).</a:t>
            </a:r>
            <a:endParaRPr lang="en-US" sz="157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Activity 4.4 · Comparing Descriptions and Graphs · SE p. 324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Miguel and Lauren's bank accounts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Miguel</a:t>
            </a:r>
            <a:endParaRPr lang="en-US" sz="1575" dirty="0"/>
          </a:p>
        </p:txBody>
      </p:sp>
      <p:sp>
        <p:nvSpPr>
          <p:cNvPr id="5" name="Shape 5"/>
          <p:cNvSpPr/>
          <p:nvPr/>
        </p:nvSpPr>
        <p:spPr>
          <a:xfrm>
            <a:off x="685800" y="2008632"/>
            <a:ext cx="28575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49352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197739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46126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94513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3429000" y="2122932"/>
            <a:ext cx="0" cy="24955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1009650" y="411937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1009650" y="362026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312115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262204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2122932"/>
            <a:ext cx="2419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2122932"/>
            <a:ext cx="0" cy="24955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4618482"/>
            <a:ext cx="2419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0" name="Shape 20"/>
          <p:cNvSpPr txBox="1"/>
          <p:nvPr/>
        </p:nvSpPr>
        <p:spPr>
          <a:xfrm>
            <a:off x="73533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1" name="Shape 21"/>
          <p:cNvSpPr txBox="1"/>
          <p:nvPr/>
        </p:nvSpPr>
        <p:spPr>
          <a:xfrm>
            <a:off x="121920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22" name="Shape 22"/>
          <p:cNvSpPr txBox="1"/>
          <p:nvPr/>
        </p:nvSpPr>
        <p:spPr>
          <a:xfrm>
            <a:off x="170307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23" name="Shape 23"/>
          <p:cNvSpPr txBox="1"/>
          <p:nvPr/>
        </p:nvSpPr>
        <p:spPr>
          <a:xfrm>
            <a:off x="218694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24" name="Shape 24"/>
          <p:cNvSpPr txBox="1"/>
          <p:nvPr/>
        </p:nvSpPr>
        <p:spPr>
          <a:xfrm>
            <a:off x="267081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25" name="Shape 25"/>
          <p:cNvSpPr txBox="1"/>
          <p:nvPr/>
        </p:nvSpPr>
        <p:spPr>
          <a:xfrm>
            <a:off x="3154680" y="46375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26" name="Shape 26"/>
          <p:cNvSpPr txBox="1"/>
          <p:nvPr/>
        </p:nvSpPr>
        <p:spPr>
          <a:xfrm>
            <a:off x="442722" y="452704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7" name="Shape 27"/>
          <p:cNvSpPr txBox="1"/>
          <p:nvPr/>
        </p:nvSpPr>
        <p:spPr>
          <a:xfrm>
            <a:off x="442722" y="402793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28" name="Shape 28"/>
          <p:cNvSpPr txBox="1"/>
          <p:nvPr/>
        </p:nvSpPr>
        <p:spPr>
          <a:xfrm>
            <a:off x="442722" y="352882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442722" y="302971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60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442722" y="253060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80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442722" y="2031492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100</a:t>
            </a:r>
            <a:endParaRPr lang="en-US" sz="975" dirty="0"/>
          </a:p>
        </p:txBody>
      </p:sp>
      <p:sp>
        <p:nvSpPr>
          <p:cNvPr id="32" name="Shape 32"/>
          <p:cNvSpPr/>
          <p:nvPr/>
        </p:nvSpPr>
        <p:spPr>
          <a:xfrm>
            <a:off x="1441132" y="406698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3" name="Shape 33"/>
          <p:cNvSpPr/>
          <p:nvPr/>
        </p:nvSpPr>
        <p:spPr>
          <a:xfrm>
            <a:off x="1925003" y="3567874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4" name="Shape 34"/>
          <p:cNvSpPr/>
          <p:nvPr/>
        </p:nvSpPr>
        <p:spPr>
          <a:xfrm>
            <a:off x="2408872" y="306876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5" name="Shape 35"/>
          <p:cNvSpPr/>
          <p:nvPr/>
        </p:nvSpPr>
        <p:spPr>
          <a:xfrm>
            <a:off x="2892742" y="2569655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6" name="Shape 36"/>
          <p:cNvSpPr txBox="1"/>
          <p:nvPr/>
        </p:nvSpPr>
        <p:spPr>
          <a:xfrm>
            <a:off x="3030855" y="2374392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(4, 80)</a:t>
            </a:r>
            <a:endParaRPr lang="en-US" sz="1125" dirty="0"/>
          </a:p>
        </p:txBody>
      </p:sp>
      <p:sp>
        <p:nvSpPr>
          <p:cNvPr id="37" name="Shape 37"/>
          <p:cNvSpPr txBox="1"/>
          <p:nvPr/>
        </p:nvSpPr>
        <p:spPr>
          <a:xfrm>
            <a:off x="6286348" y="1618488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</a:t>
            </a:r>
            <a:endParaRPr lang="en-US" sz="1575" dirty="0"/>
          </a:p>
        </p:txBody>
      </p:sp>
      <p:sp>
        <p:nvSpPr>
          <p:cNvPr id="38" name="Shape 38"/>
          <p:cNvSpPr txBox="1"/>
          <p:nvPr/>
        </p:nvSpPr>
        <p:spPr>
          <a:xfrm>
            <a:off x="6286348" y="2008632"/>
            <a:ext cx="521954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Scales: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1 month and each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tick is $20 ($80 after 4 months). The origin is (0 months, $0).</a:t>
            </a:r>
            <a:endParaRPr lang="en-US" sz="1575" dirty="0"/>
          </a:p>
        </p:txBody>
      </p:sp>
      <p:sp>
        <p:nvSpPr>
          <p:cNvPr id="39" name="Shape 39"/>
          <p:cNvSpPr txBox="1"/>
          <p:nvPr/>
        </p:nvSpPr>
        <p:spPr>
          <a:xfrm>
            <a:off x="6286348" y="287883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saves $20 a month; Lauren saves $25 a month.</a:t>
            </a:r>
            <a:endParaRPr lang="en-US" sz="1575" dirty="0"/>
          </a:p>
        </p:txBody>
      </p:sp>
      <p:sp>
        <p:nvSpPr>
          <p:cNvPr id="40" name="Shape 40"/>
          <p:cNvSpPr txBox="1"/>
          <p:nvPr/>
        </p:nvSpPr>
        <p:spPr>
          <a:xfrm>
            <a:off x="6286348" y="35090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-intercept: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Miguel started with $0; Lauren with $25.</a:t>
            </a:r>
            <a:endParaRPr lang="en-US" sz="1575" dirty="0"/>
          </a:p>
        </p:txBody>
      </p:sp>
      <p:sp>
        <p:nvSpPr>
          <p:cNvPr id="41" name="Slide Number 41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Day 2 · Talk the Talk · Function Maker Space · SE p. 325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Create and compare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1828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−10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971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4114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20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5257800" y="1618488"/>
            <a:ext cx="114300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 i="1">
                <a:solidFill>
                  <a:srgbClr val="16171D"/>
                </a:solidFill>
                <a:latin typeface="Cambria"/>
                <a:cs typeface="Cambria"/>
              </a:rPr>
              <a:t xml:space="preserve">25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1828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2971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4114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7.5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5257800" y="2016252"/>
            <a:ext cx="114300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8.75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85466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1. A situation for the table:</a:t>
            </a:r>
            <a:endParaRPr lang="en-US" sz="1575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297561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Sample: Alejandra has read 2.5 pages and reads 2.5 more every 10 minutes. Slope ¼, </a:t>
            </a:r>
            <a:r>
              <a:rPr lang="en-US" sz="157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2.5.</a:t>
            </a:r>
            <a:endParaRPr lang="en-US" sz="15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60578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2. A less steep equation:</a:t>
            </a:r>
            <a:endParaRPr lang="en-US" sz="1575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995928"/>
            <a:ext cx="4068806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0.2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+ 30</a:t>
            </a:r>
            <a:endParaRPr lang="en-US" sz="2325" dirty="0"/>
          </a:p>
        </p:txBody>
      </p:sp>
      <p:sp>
        <p:nvSpPr>
          <p:cNvPr id="18" name="Shape 18"/>
          <p:cNvSpPr txBox="1"/>
          <p:nvPr/>
        </p:nvSpPr>
        <p:spPr>
          <a:xfrm>
            <a:off x="6286348" y="2585466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3. The graph shown in the book has slope ⅓ (through (0, −4)).</a:t>
            </a:r>
            <a:endParaRPr lang="en-US" sz="1575" dirty="0"/>
          </a:p>
        </p:txBody>
      </p:sp>
      <p:sp>
        <p:nvSpPr>
          <p:cNvPr id="19" name="Shape 19"/>
          <p:cNvSpPr txBox="1"/>
          <p:nvPr/>
        </p:nvSpPr>
        <p:spPr>
          <a:xfrm>
            <a:off x="6286348" y="3215640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It is steeper than the table (¼) and the equation (0.2).</a:t>
            </a:r>
            <a:endParaRPr lang="en-US" sz="1575" dirty="0"/>
          </a:p>
        </p:txBody>
      </p:sp>
      <p:sp>
        <p:nvSpPr>
          <p:cNvPr id="20" name="Shape 20"/>
          <p:cNvSpPr txBox="1"/>
          <p:nvPr/>
        </p:nvSpPr>
        <p:spPr>
          <a:xfrm>
            <a:off x="6286348" y="3845814"/>
            <a:ext cx="521954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4. Strategies:</a:t>
            </a:r>
            <a:endParaRPr lang="en-US" sz="1575" dirty="0"/>
          </a:p>
        </p:txBody>
      </p:sp>
      <p:sp>
        <p:nvSpPr>
          <p:cNvPr id="21" name="Shape 21"/>
          <p:cNvSpPr txBox="1"/>
          <p:nvPr/>
        </p:nvSpPr>
        <p:spPr>
          <a:xfrm>
            <a:off x="6286348" y="4235958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Answers vary: rate of change from two points; compare the slopes.</a:t>
            </a:r>
            <a:endParaRPr lang="en-US" sz="157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Essential Question · Answered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How do the representations compare?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Every form (equation, table, graph, description) shows the same features: the 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rate and the </a:t>
            </a:r>
            <a:r>
              <a:rPr lang="en-US" sz="19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or starting value.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51536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Compare by finding these in each form: equal slopes are parallel; slopes with a product of −1 are perpendicular.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355086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The quantities and units tell what the slope and </a:t>
            </a:r>
            <a:r>
              <a:rPr lang="en-US" sz="19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 mean.</a:t>
            </a:r>
            <a:endParaRPr lang="en-US" sz="1950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Exit Ticket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Show what you know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7563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1. A table has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(0, 3)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(2, 11)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Is its line parallel, perpendicular, or neither to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= 4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− 3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439162"/>
            <a:ext cx="4897938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Parallel (slope 4)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072384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2. 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) = 3</a:t>
            </a:r>
            <a:r>
              <a:rPr lang="en-US" sz="19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 + 10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 and a table with </a:t>
            </a: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(0, 4), (1, 9)</a:t>
            </a: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. Which grows faster?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538728"/>
            <a:ext cx="5727070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The table (slope 5 &gt; 3)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4171950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3. A taxi charges $2.50 per mile plus $3. What are the units of the slope?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4638294"/>
            <a:ext cx="4566285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Dollars per mile</a:t>
            </a:r>
            <a:endParaRPr lang="en-US" sz="23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Prepare · SE p. 330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Solve each equation for </a:t>
            </a:r>
            <a:r>
              <a:rPr lang="en-US" sz="34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1. ⅓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8</a:t>
            </a:r>
            <a:endParaRPr lang="en-US" sz="232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22932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24</a:t>
            </a:r>
            <a:endParaRPr lang="en-US" sz="232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3. 2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− 9 = 6</a:t>
            </a:r>
            <a:endParaRPr lang="en-US" sz="2325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41548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7.5</a:t>
            </a:r>
            <a:endParaRPr lang="en-US" sz="2325" dirty="0"/>
          </a:p>
        </p:txBody>
      </p:sp>
      <p:sp>
        <p:nvSpPr>
          <p:cNvPr id="8" name="Shape 8"/>
          <p:cNvSpPr txBox="1"/>
          <p:nvPr/>
        </p:nvSpPr>
        <p:spPr>
          <a:xfrm>
            <a:off x="6286348" y="1618488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2. 5 +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12.7</a:t>
            </a:r>
            <a:endParaRPr lang="en-US" sz="2325" dirty="0"/>
          </a:p>
        </p:txBody>
      </p:sp>
      <p:sp>
        <p:nvSpPr>
          <p:cNvPr id="9" name="Shape 9"/>
          <p:cNvSpPr txBox="1"/>
          <p:nvPr/>
        </p:nvSpPr>
        <p:spPr>
          <a:xfrm>
            <a:off x="6286348" y="2122932"/>
            <a:ext cx="3073847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7.7</a:t>
            </a:r>
            <a:endParaRPr lang="en-US" sz="2325" dirty="0"/>
          </a:p>
        </p:txBody>
      </p:sp>
      <p:sp>
        <p:nvSpPr>
          <p:cNvPr id="10" name="Shape 10"/>
          <p:cNvSpPr txBox="1"/>
          <p:nvPr/>
        </p:nvSpPr>
        <p:spPr>
          <a:xfrm>
            <a:off x="6286348" y="2737104"/>
            <a:ext cx="5219548" cy="4091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4. 12 + 2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3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− 1</a:t>
            </a:r>
            <a:endParaRPr lang="en-US" sz="2325" dirty="0"/>
          </a:p>
        </p:txBody>
      </p:sp>
      <p:sp>
        <p:nvSpPr>
          <p:cNvPr id="11" name="Shape 11"/>
          <p:cNvSpPr txBox="1"/>
          <p:nvPr/>
        </p:nvSpPr>
        <p:spPr>
          <a:xfrm>
            <a:off x="6286348" y="3241548"/>
            <a:ext cx="2908021" cy="518922"/>
          </a:xfrm>
          <a:prstGeom prst="roundRect">
            <a:avLst>
              <a:gd name="adj" fmla="val 8000"/>
            </a:avLst>
          </a:prstGeom>
          <a:solidFill>
            <a:srgbClr val="EDF5E9"/>
          </a:solidFill>
          <a:ln>
            <a:noFill/>
          </a:ln>
        </p:spPr>
        <p:txBody>
          <a:bodyPr wrap="square" lIns="164592" tIns="64008" rIns="164592" bIns="6400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 b="1" spc="100">
                <a:solidFill>
                  <a:srgbClr val="4F8A3C"/>
                </a:solidFill>
                <a:latin typeface="Segoe UI"/>
                <a:cs typeface="Segoe UI"/>
              </a:rPr>
              <a:t xml:space="preserve">ANSWER   </a:t>
            </a:r>
            <a:r>
              <a:rPr lang="en-US" sz="2325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325" dirty="0">
                <a:solidFill>
                  <a:srgbClr val="16171D"/>
                </a:solidFill>
                <a:latin typeface="Cambria"/>
                <a:cs typeface="Cambria"/>
              </a:rPr>
              <a:t xml:space="preserve"> = 13</a:t>
            </a:r>
            <a:endParaRPr lang="en-US" sz="2325" dirty="0"/>
          </a:p>
        </p:txBody>
      </p:sp>
      <p:sp>
        <p:nvSpPr>
          <p:cNvPr id="12" name="Slide Number 1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2377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200" dirty="0" b="1" spc="150" cap="all">
                <a:solidFill>
                  <a:srgbClr val="5F6272"/>
                </a:solidFill>
                <a:latin typeface="Segoe UI"/>
                <a:cs typeface="Segoe UI"/>
              </a:rPr>
              <a:t xml:space="preserve">Practice Online</a:t>
            </a:r>
            <a:endParaRPr lang="en-US" sz="12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866394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Work, Homework and Quiz</a:t>
            </a:r>
            <a:endParaRPr lang="en-US" sz="34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08988"/>
            <a:ext cx="3378098" cy="19781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895350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Bell work</a:t>
            </a:r>
            <a:endParaRPr lang="en-US" sz="210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450592"/>
            <a:ext cx="2958998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3"/>
              </a:rPr>
              <a:t xml:space="preserve">Day 1 →</a:t>
            </a: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 · </a:t>
            </a:r>
            <a:r>
              <a:rPr lang="en-US" sz="1575" dirty="0" b="1">
                <a:solidFill>
                  <a:srgbClr val="3050B8"/>
                </a:solidFill>
                <a:latin typeface="Segoe UI"/>
                <a:cs typeface="Segoe UI"/>
                <a:hlinkClick r:id="rId4"/>
              </a:rPr>
              <a:t xml:space="preserve">Day 2 →</a:t>
            </a:r>
            <a:endParaRPr lang="en-US" sz="1575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2840736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4 questions each, the same as the bell work slides. Scored when students submit.</a:t>
            </a:r>
            <a:endParaRPr lang="en-US" sz="1575" dirty="0"/>
          </a:p>
        </p:txBody>
      </p:sp>
      <p:sp>
        <p:nvSpPr>
          <p:cNvPr id="10" name="Shape 10"/>
          <p:cNvSpPr txBox="1"/>
          <p:nvPr/>
        </p:nvSpPr>
        <p:spPr>
          <a:xfrm>
            <a:off x="4406798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616348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5"/>
              </a:rPr>
              <a:t xml:space="preserve">Homework →</a:t>
            </a:r>
            <a:endParaRPr lang="en-US" sz="2100" dirty="0"/>
          </a:p>
        </p:txBody>
      </p:sp>
      <p:sp>
        <p:nvSpPr>
          <p:cNvPr id="9" name="Shape 9"/>
          <p:cNvSpPr txBox="1"/>
          <p:nvPr/>
        </p:nvSpPr>
        <p:spPr>
          <a:xfrm>
            <a:off x="4616348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practice questions. Each answer is checked right away, with an explanation.</a:t>
            </a:r>
            <a:endParaRPr lang="en-US" sz="1575" dirty="0"/>
          </a:p>
        </p:txBody>
      </p:sp>
      <p:sp>
        <p:nvSpPr>
          <p:cNvPr id="13" name="Shape 13"/>
          <p:cNvSpPr txBox="1"/>
          <p:nvPr/>
        </p:nvSpPr>
        <p:spPr>
          <a:xfrm>
            <a:off x="8127797" y="1808988"/>
            <a:ext cx="3378098" cy="15880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8337347" y="1980438"/>
            <a:ext cx="2958998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3050B8"/>
                </a:solidFill>
                <a:latin typeface="Segoe UI"/>
                <a:cs typeface="Segoe UI"/>
                <a:hlinkClick r:id="rId6"/>
              </a:rPr>
              <a:t xml:space="preserve">Quiz →</a:t>
            </a:r>
            <a:endParaRPr lang="en-US" sz="2100" dirty="0"/>
          </a:p>
        </p:txBody>
      </p:sp>
      <p:sp>
        <p:nvSpPr>
          <p:cNvPr id="12" name="Shape 12"/>
          <p:cNvSpPr txBox="1"/>
          <p:nvPr/>
        </p:nvSpPr>
        <p:spPr>
          <a:xfrm>
            <a:off x="8337347" y="2450592"/>
            <a:ext cx="2958998" cy="77495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scored when students submit. Correct answers are shown after submitting.</a:t>
            </a:r>
            <a:endParaRPr lang="en-US" sz="1575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4015740"/>
            <a:ext cx="10820095" cy="29489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All are multiple choice. The homework follows the Lesson 4 Assignment (SE pp. 327–330).</a:t>
            </a:r>
            <a:endParaRPr lang="en-US" sz="1575" dirty="0"/>
          </a:p>
        </p:txBody>
      </p:sp>
      <p:sp>
        <p:nvSpPr>
          <p:cNvPr id="15" name="Slide Number 15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omparing Linear Functions in Different Form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Comparing Linear Functions in Different Forms</dc:title>
  <dc:subject>Bluebonnet Algebra I</dc:subject>
</cp:coreProperties>
</file>