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  <p:sldId id="273" r:id="rId28"/>
    <p:sldId id="274" r:id="rId29"/>
    <p:sldId id="275" r:id="rId30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compare horizontal transformations f(x − c) and f(bx) with the vertical ones from Lesson 1. For f(x) = x, a horizontal translation right n matches a vertical translation down n, and a vertical dilation by n matches a horizontal dilation by 1/n, but these pairs do not match for other linear functions. Two days on the 150-day calendar: Day 1 Getting Started and Activity 2.1; Day 2 Activities 2.2, 2.3 and Talk the Talk.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Have this up as students walk in; they work silently while you take attendance (about 5 minutes). The same 4 questions are on the online Day 1 bell work. Reveal the answers one at a time. Answer key: 1. Subtracting from the output is a vertical translation down 3. 2. In y = mx + b, m is the slope. 3. Set g(x) = 0: 3x − 8 = 0, so x = 8/3. 4. The slope −⅔ is negative, so the line falls from left to right.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each objective aloud as it appears.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write the Essential Question at the top of their notes. Don't answer it yet; we come back to it at the end of the lesson.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Getting Started, 5–10 minutes. To find the x-intercept, set the function equal to 0: 3x − 8 = 0 gives x = 8/3; −(2/3)x + 5 = 0 gives x = 7.5.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2.1, 30–35 minutes. A horizontal translation left 3 subtracts 3 from each input value; the outputs stay the same.Ask: Which values were affected? (Left 3 changed the inputs; up 3 changed the outputs.)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Watch the sign: f(x − 3) moves right 3, f(x + 3) moves left 3.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Teacher-guide misconception: students expect left 4 to equal up 4 for every line. It works only for slope 1. Slide typos in the student slides: some items labeled 'a.' are b, c and d.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of Day 1.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this, then go to the bell work while you take attendance. Afterward, have a student read the Essential Question aloud and ask two or three students to summarize Day 1: Does a translation right n always match a translation down n?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Have this up as students walk in; they work silently while you take attendance (about 5 minutes). The same 4 questions are on the online Day 2 bell work. Reveal the answers one at a time. Answer key: 1. A horizontal translation right 5 subtracts 5 from the input: f(x − 5). 2. f(x − 5) = x − 5 = f(x) − 5, a vertical translation down 5. 3. 2(x + 4) − 1 = 2x + 8 − 1 = 2x + 7. 4. f(2x) = 2x and 2f(x) = 2x. For the parent function they match.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2.2, 15–20 minutes. Changing the inputs by a factor of 1/2 is a horizontal compression: each point moves halfway to the y-axis.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Ask: Why are the tables different if the graphs are the same? (They list different points of the same line.)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Counterexamples will vary; any linear function other than f(x) = x works.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2.3, 15–20 minutes. Graph each g(x) on the grids in the book: plot the y-intercept and use the slope. Slide typo in the student slides: items 2, 3, 5 and 6 are numbered '1.'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 the Talk, 5 minutes. For f(x) = x, f(x) + 8 is also f(x + 8), and f(⅓x) is also ⅓f(x).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answer the Essential Question on the lesson opener page.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Give 3–4 minutes, collect the answers, and use them to decide who needs Skills Practice. Work: 1. Adding to the input moves left. 2. 3(x − 2) + 1 = 3x − 5. 3. f(5x) = 5x = 5f(x).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the Lesson 2 Assignment. TE correction: the teacher guide gives the reciprocal of −10 as 1/10; it is −1/10, since (−10)(−1/10) = 1.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Click a title to open it in a new tab. Put the day's bell work link up as students walk in. The 150-day pacing calendar (topic2-pacing-150.html) gives the day for each homework and quiz.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algebra1m2u1l4.vercel.app/Module 2 topic 2/t2-lesson2-bellwork-day1.html" TargetMode="External"/><Relationship Id="rId4" Type="http://schemas.openxmlformats.org/officeDocument/2006/relationships/hyperlink" Target="https://algebra1m2u1l4.vercel.app/Module 2 topic 2/t2-lesson2-bellwork-day2.html" TargetMode="External"/><Relationship Id="rId5" Type="http://schemas.openxmlformats.org/officeDocument/2006/relationships/hyperlink" Target="https://algebra1m2u1l4.vercel.app/Module 2 topic 2/t2-lesson2-homework.html" TargetMode="External"/><Relationship Id="rId6" Type="http://schemas.openxmlformats.org/officeDocument/2006/relationships/hyperlink" Target="https://algebra1m2u1l4.vercel.app/Module 2 topic 2/t2-lesson2-quiz.html" TargetMode="External"/><Relationship Id="rId7" Type="http://schemas.openxmlformats.org/officeDocument/2006/relationships/hyperlink" Target="https://creativecommons.org/licenses/by-nc/4.0/" TargetMode="Externa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algebra1m2u1l4.vercel.app/Module 2 topic 2/t2-lesson2-bellwork-day1.html" TargetMode="External"/><Relationship Id="rId4" Type="http://schemas.openxmlformats.org/officeDocument/2006/relationships/hyperlink" Target="https://algebra1m2u1l4.vercel.app/Module 2 topic 2/t2-lesson2-bellwork-day2.html" TargetMode="External"/><Relationship Id="rId5" Type="http://schemas.openxmlformats.org/officeDocument/2006/relationships/hyperlink" Target="https://algebra1m2u1l4.vercel.app/Module 2 topic 2/t2-lesson2-homework.html" TargetMode="External"/><Relationship Id="rId6" Type="http://schemas.openxmlformats.org/officeDocument/2006/relationships/hyperlink" Target="https://algebra1m2u1l4.vercel.app/Module 2 topic 2/t2-lesson2-quiz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Bluebonnet Algebra I · Module 2 · Topic 2 · Lesson 2 · Student Edition pp. 287–304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923544"/>
            <a:ext cx="10820095" cy="13350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42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Vertical and Horizontal Transformations of Linear Functions</a:t>
            </a:r>
            <a:endParaRPr lang="en-US" sz="42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506218"/>
            <a:ext cx="10820095" cy="5120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00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3000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a</a:t>
            </a: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 · </a:t>
            </a:r>
            <a:r>
              <a:rPr lang="en-US" sz="300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000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b</a:t>
            </a: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00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 − </a:t>
            </a:r>
            <a:r>
              <a:rPr lang="en-US" sz="3000" dirty="0" b="1" i="1">
                <a:solidFill>
                  <a:srgbClr val="3050B8"/>
                </a:solidFill>
                <a:latin typeface="Cambria"/>
                <a:cs typeface="Cambria"/>
              </a:rPr>
              <a:t xml:space="preserve">c</a:t>
            </a: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)) + </a:t>
            </a:r>
            <a:r>
              <a:rPr lang="en-US" sz="3000" dirty="0" b="1" i="1">
                <a:solidFill>
                  <a:srgbClr val="3050B8"/>
                </a:solidFill>
                <a:latin typeface="Cambria"/>
                <a:cs typeface="Cambria"/>
              </a:rPr>
              <a:t xml:space="preserve">d</a:t>
            </a:r>
            <a:endParaRPr lang="en-US" sz="300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3246882"/>
            <a:ext cx="10820095" cy="3291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Bell work: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Day 1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Day 2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| Practice: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5"/>
              </a:rPr>
              <a:t xml:space="preserve">Homework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6"/>
              </a:rPr>
              <a:t xml:space="preserve">Quiz →</a:t>
            </a:r>
            <a:endParaRPr lang="en-US" sz="180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747516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Click, or press → / Space, to reveal each step. ← goes back. F = full screen.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5500116"/>
            <a:ext cx="10820095" cy="10835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5F6272"/>
                </a:solidFill>
                <a:latin typeface="Segoe UI"/>
                <a:cs typeface="Segoe UI"/>
              </a:rPr>
              <a:t xml:space="preserve">Bluebonnet Algebra I</a:t>
            </a: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 · a companion to Bluebonnet Learning Secondary Mathematics, Algebra I, Edition 1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This work is based on original works of the Texas Education Agency and Carnegie Learning, Inc. This work is made available under a Creative Commons Attribution-Non-Commercial-4.0 International License. This does not in any way imply endorsement by those authors of this work.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©2024–2025 Texas Education Agency, portions ©2021 Carnegie Learning, Inc.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Licensed </a:t>
            </a:r>
            <a:r>
              <a:rPr lang="en-US" sz="1125" dirty="0">
                <a:solidFill>
                  <a:srgbClr val="3050B8"/>
                </a:solidFill>
                <a:latin typeface="Segoe UI"/>
                <a:cs typeface="Segoe UI"/>
                <a:hlinkClick r:id="rId7"/>
              </a:rPr>
              <a:t xml:space="preserve">CC BY-NC 4.0</a:t>
            </a: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 b="1">
                <a:solidFill>
                  <a:srgbClr val="5F6272"/>
                </a:solidFill>
                <a:latin typeface="Segoe UI"/>
                <a:cs typeface="Segoe UI"/>
              </a:rPr>
              <a:t xml:space="preserve">This is a private site for Algebra I teachers and is not publicly available.</a:t>
            </a:r>
            <a:endParaRPr lang="en-US" sz="1125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Bell Work · Review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Warm up: work these on your own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− 3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How does the graph move?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458212"/>
            <a:ext cx="3902979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Down 3 units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243834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What is the slope of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3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− 8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288)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4026408"/>
            <a:ext cx="207888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362548" y="1675638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What is the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 of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3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− 8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288)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362548" y="2458212"/>
            <a:ext cx="323967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(8/3, 0)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362548" y="3243834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4. Is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h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−⅔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+ 5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increasing or decreasing?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288)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6362548" y="4026408"/>
            <a:ext cx="3571326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Decreasing</a:t>
            </a:r>
            <a:endParaRPr lang="en-US" sz="232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Lesson 2 · SE p. 287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Today you will…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5658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Identify key characteristics of linear functions.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03882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Determine the effects on the graph of a linear function when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 is replaced by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 +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−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c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),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 and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).</a:t>
            </a:r>
            <a:endParaRPr lang="en-US" sz="1950" dirty="0"/>
          </a:p>
        </p:txBody>
      </p:sp>
      <p:sp>
        <p:nvSpPr>
          <p:cNvPr id="6" name="Slide Number 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Essential Question · SE p. 287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You have learned the effects of vertical transformations on linear functions.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525268"/>
            <a:ext cx="10820095" cy="8778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700" dirty="0">
                <a:solidFill>
                  <a:srgbClr val="16171D"/>
                </a:solidFill>
                <a:latin typeface="Segoe UI"/>
                <a:cs typeface="Segoe UI"/>
              </a:rPr>
              <a:t xml:space="preserve">What effect do horizontal transformations have on linear functions? How do they compare to vertical transformations?</a:t>
            </a:r>
            <a:endParaRPr lang="en-US" sz="27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4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Getting Started · Hey, I Remember This! · SE p. 288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Graph each function and describe its key characteristics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144268"/>
            <a:ext cx="33526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− 8</a:t>
            </a:r>
            <a:endParaRPr lang="en-US" sz="232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648712"/>
            <a:ext cx="1508714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Domain, range</a:t>
            </a:r>
            <a:endParaRPr lang="en-US" sz="1800" dirty="0"/>
          </a:p>
        </p:txBody>
      </p:sp>
      <p:sp>
        <p:nvSpPr>
          <p:cNvPr id="6" name="Shape 6"/>
          <p:cNvSpPr txBox="1"/>
          <p:nvPr/>
        </p:nvSpPr>
        <p:spPr>
          <a:xfrm>
            <a:off x="2194514" y="2648712"/>
            <a:ext cx="1843984" cy="749808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dirty="0"/>
          </a:p>
        </p:txBody>
      </p:sp>
      <p:sp>
        <p:nvSpPr>
          <p:cNvPr id="7" name="Shape 7"/>
          <p:cNvSpPr txBox="1"/>
          <p:nvPr/>
        </p:nvSpPr>
        <p:spPr>
          <a:xfrm>
            <a:off x="2194514" y="2648712"/>
            <a:ext cx="1843984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All real numbers</a:t>
            </a:r>
            <a:endParaRPr lang="en-US" sz="1800" dirty="0"/>
          </a:p>
        </p:txBody>
      </p:sp>
      <p:cxnSp>
        <p:nvCxnSpPr>
          <p:cNvPr id="8" name="Line 8"/>
          <p:cNvCxnSpPr/>
          <p:nvPr/>
        </p:nvCxnSpPr>
        <p:spPr>
          <a:xfrm>
            <a:off x="685800" y="3398520"/>
            <a:ext cx="3352698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9" name="Shape 9"/>
          <p:cNvSpPr txBox="1"/>
          <p:nvPr/>
        </p:nvSpPr>
        <p:spPr>
          <a:xfrm>
            <a:off x="685800" y="3398520"/>
            <a:ext cx="1508714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</a:t>
            </a:r>
            <a:endParaRPr lang="en-US" sz="1800" dirty="0"/>
          </a:p>
        </p:txBody>
      </p:sp>
      <p:sp>
        <p:nvSpPr>
          <p:cNvPr id="10" name="Shape 10"/>
          <p:cNvSpPr txBox="1"/>
          <p:nvPr/>
        </p:nvSpPr>
        <p:spPr>
          <a:xfrm>
            <a:off x="2194514" y="3398520"/>
            <a:ext cx="1843984" cy="475488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dirty="0"/>
          </a:p>
        </p:txBody>
      </p:sp>
      <p:sp>
        <p:nvSpPr>
          <p:cNvPr id="11" name="Shape 11"/>
          <p:cNvSpPr txBox="1"/>
          <p:nvPr/>
        </p:nvSpPr>
        <p:spPr>
          <a:xfrm>
            <a:off x="2194514" y="3398520"/>
            <a:ext cx="1843984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(8/3, 0)</a:t>
            </a:r>
            <a:endParaRPr lang="en-US" sz="1800" dirty="0"/>
          </a:p>
        </p:txBody>
      </p:sp>
      <p:cxnSp>
        <p:nvCxnSpPr>
          <p:cNvPr id="12" name="Line 12"/>
          <p:cNvCxnSpPr/>
          <p:nvPr/>
        </p:nvCxnSpPr>
        <p:spPr>
          <a:xfrm>
            <a:off x="685800" y="3874008"/>
            <a:ext cx="3352698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3" name="Shape 13"/>
          <p:cNvSpPr txBox="1"/>
          <p:nvPr/>
        </p:nvSpPr>
        <p:spPr>
          <a:xfrm>
            <a:off x="685800" y="3874008"/>
            <a:ext cx="1508714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</a:t>
            </a:r>
            <a:endParaRPr lang="en-US" sz="1800" dirty="0"/>
          </a:p>
        </p:txBody>
      </p:sp>
      <p:sp>
        <p:nvSpPr>
          <p:cNvPr id="14" name="Shape 14"/>
          <p:cNvSpPr txBox="1"/>
          <p:nvPr/>
        </p:nvSpPr>
        <p:spPr>
          <a:xfrm>
            <a:off x="2194514" y="3874008"/>
            <a:ext cx="1843984" cy="475488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dirty="0"/>
          </a:p>
        </p:txBody>
      </p:sp>
      <p:sp>
        <p:nvSpPr>
          <p:cNvPr id="15" name="Shape 15"/>
          <p:cNvSpPr txBox="1"/>
          <p:nvPr/>
        </p:nvSpPr>
        <p:spPr>
          <a:xfrm>
            <a:off x="2194514" y="3874008"/>
            <a:ext cx="1843984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(0, −8)</a:t>
            </a:r>
            <a:endParaRPr lang="en-US" sz="1800" dirty="0"/>
          </a:p>
        </p:txBody>
      </p:sp>
      <p:cxnSp>
        <p:nvCxnSpPr>
          <p:cNvPr id="16" name="Line 16"/>
          <p:cNvCxnSpPr/>
          <p:nvPr/>
        </p:nvCxnSpPr>
        <p:spPr>
          <a:xfrm>
            <a:off x="685800" y="4349496"/>
            <a:ext cx="3352698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7" name="Shape 17"/>
          <p:cNvSpPr txBox="1"/>
          <p:nvPr/>
        </p:nvSpPr>
        <p:spPr>
          <a:xfrm>
            <a:off x="685800" y="4349496"/>
            <a:ext cx="1508714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Slope</a:t>
            </a:r>
            <a:endParaRPr lang="en-US" sz="1800" dirty="0"/>
          </a:p>
        </p:txBody>
      </p:sp>
      <p:sp>
        <p:nvSpPr>
          <p:cNvPr id="18" name="Shape 18"/>
          <p:cNvSpPr txBox="1"/>
          <p:nvPr/>
        </p:nvSpPr>
        <p:spPr>
          <a:xfrm>
            <a:off x="2194514" y="4349496"/>
            <a:ext cx="1843984" cy="475488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dirty="0"/>
          </a:p>
        </p:txBody>
      </p:sp>
      <p:sp>
        <p:nvSpPr>
          <p:cNvPr id="19" name="Shape 19"/>
          <p:cNvSpPr txBox="1"/>
          <p:nvPr/>
        </p:nvSpPr>
        <p:spPr>
          <a:xfrm>
            <a:off x="2194514" y="4349496"/>
            <a:ext cx="1843984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3, increasing</a:t>
            </a:r>
            <a:endParaRPr lang="en-US" sz="1800" dirty="0"/>
          </a:p>
        </p:txBody>
      </p:sp>
      <p:cxnSp>
        <p:nvCxnSpPr>
          <p:cNvPr id="20" name="Line 20"/>
          <p:cNvCxnSpPr/>
          <p:nvPr/>
        </p:nvCxnSpPr>
        <p:spPr>
          <a:xfrm>
            <a:off x="685800" y="4824984"/>
            <a:ext cx="3352698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21" name="Shape 21"/>
          <p:cNvSpPr txBox="1"/>
          <p:nvPr/>
        </p:nvSpPr>
        <p:spPr>
          <a:xfrm>
            <a:off x="4419498" y="2144268"/>
            <a:ext cx="33526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h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−⅔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+ 5</a:t>
            </a:r>
            <a:endParaRPr lang="en-US" sz="2325" dirty="0"/>
          </a:p>
        </p:txBody>
      </p:sp>
      <p:sp>
        <p:nvSpPr>
          <p:cNvPr id="22" name="Shape 22"/>
          <p:cNvSpPr txBox="1"/>
          <p:nvPr/>
        </p:nvSpPr>
        <p:spPr>
          <a:xfrm>
            <a:off x="4419498" y="2648712"/>
            <a:ext cx="1508714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Domain, range</a:t>
            </a:r>
            <a:endParaRPr lang="en-US" sz="1800" dirty="0"/>
          </a:p>
        </p:txBody>
      </p:sp>
      <p:sp>
        <p:nvSpPr>
          <p:cNvPr id="23" name="Shape 23"/>
          <p:cNvSpPr txBox="1"/>
          <p:nvPr/>
        </p:nvSpPr>
        <p:spPr>
          <a:xfrm>
            <a:off x="5928213" y="2648712"/>
            <a:ext cx="1843984" cy="749808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dirty="0"/>
          </a:p>
        </p:txBody>
      </p:sp>
      <p:sp>
        <p:nvSpPr>
          <p:cNvPr id="24" name="Shape 24"/>
          <p:cNvSpPr txBox="1"/>
          <p:nvPr/>
        </p:nvSpPr>
        <p:spPr>
          <a:xfrm>
            <a:off x="5928213" y="2648712"/>
            <a:ext cx="1843984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All real numbers</a:t>
            </a:r>
            <a:endParaRPr lang="en-US" sz="1800" dirty="0"/>
          </a:p>
        </p:txBody>
      </p:sp>
      <p:cxnSp>
        <p:nvCxnSpPr>
          <p:cNvPr id="25" name="Line 25"/>
          <p:cNvCxnSpPr/>
          <p:nvPr/>
        </p:nvCxnSpPr>
        <p:spPr>
          <a:xfrm>
            <a:off x="4419498" y="3398520"/>
            <a:ext cx="3352698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26" name="Shape 26"/>
          <p:cNvSpPr txBox="1"/>
          <p:nvPr/>
        </p:nvSpPr>
        <p:spPr>
          <a:xfrm>
            <a:off x="4419498" y="3398520"/>
            <a:ext cx="1508714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</a:t>
            </a:r>
            <a:endParaRPr lang="en-US" sz="1800" dirty="0"/>
          </a:p>
        </p:txBody>
      </p:sp>
      <p:sp>
        <p:nvSpPr>
          <p:cNvPr id="27" name="Shape 27"/>
          <p:cNvSpPr txBox="1"/>
          <p:nvPr/>
        </p:nvSpPr>
        <p:spPr>
          <a:xfrm>
            <a:off x="5928213" y="3398520"/>
            <a:ext cx="1843984" cy="475488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dirty="0"/>
          </a:p>
        </p:txBody>
      </p:sp>
      <p:sp>
        <p:nvSpPr>
          <p:cNvPr id="28" name="Shape 28"/>
          <p:cNvSpPr txBox="1"/>
          <p:nvPr/>
        </p:nvSpPr>
        <p:spPr>
          <a:xfrm>
            <a:off x="5928213" y="3398520"/>
            <a:ext cx="1843984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(7.5, 0)</a:t>
            </a:r>
            <a:endParaRPr lang="en-US" sz="1800" dirty="0"/>
          </a:p>
        </p:txBody>
      </p:sp>
      <p:cxnSp>
        <p:nvCxnSpPr>
          <p:cNvPr id="29" name="Line 29"/>
          <p:cNvCxnSpPr/>
          <p:nvPr/>
        </p:nvCxnSpPr>
        <p:spPr>
          <a:xfrm>
            <a:off x="4419498" y="3874008"/>
            <a:ext cx="3352698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30" name="Shape 30"/>
          <p:cNvSpPr txBox="1"/>
          <p:nvPr/>
        </p:nvSpPr>
        <p:spPr>
          <a:xfrm>
            <a:off x="4419498" y="3874008"/>
            <a:ext cx="1508714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</a:t>
            </a:r>
            <a:endParaRPr lang="en-US" sz="1800" dirty="0"/>
          </a:p>
        </p:txBody>
      </p:sp>
      <p:sp>
        <p:nvSpPr>
          <p:cNvPr id="31" name="Shape 31"/>
          <p:cNvSpPr txBox="1"/>
          <p:nvPr/>
        </p:nvSpPr>
        <p:spPr>
          <a:xfrm>
            <a:off x="5928213" y="3874008"/>
            <a:ext cx="1843984" cy="475488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dirty="0"/>
          </a:p>
        </p:txBody>
      </p:sp>
      <p:sp>
        <p:nvSpPr>
          <p:cNvPr id="32" name="Shape 32"/>
          <p:cNvSpPr txBox="1"/>
          <p:nvPr/>
        </p:nvSpPr>
        <p:spPr>
          <a:xfrm>
            <a:off x="5928213" y="3874008"/>
            <a:ext cx="1843984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(0, 5)</a:t>
            </a:r>
            <a:endParaRPr lang="en-US" sz="1800" dirty="0"/>
          </a:p>
        </p:txBody>
      </p:sp>
      <p:cxnSp>
        <p:nvCxnSpPr>
          <p:cNvPr id="33" name="Line 33"/>
          <p:cNvCxnSpPr/>
          <p:nvPr/>
        </p:nvCxnSpPr>
        <p:spPr>
          <a:xfrm>
            <a:off x="4419498" y="4349496"/>
            <a:ext cx="3352698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34" name="Shape 34"/>
          <p:cNvSpPr txBox="1"/>
          <p:nvPr/>
        </p:nvSpPr>
        <p:spPr>
          <a:xfrm>
            <a:off x="4419498" y="4349496"/>
            <a:ext cx="1508714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Slope</a:t>
            </a:r>
            <a:endParaRPr lang="en-US" sz="1800" dirty="0"/>
          </a:p>
        </p:txBody>
      </p:sp>
      <p:sp>
        <p:nvSpPr>
          <p:cNvPr id="35" name="Shape 35"/>
          <p:cNvSpPr txBox="1"/>
          <p:nvPr/>
        </p:nvSpPr>
        <p:spPr>
          <a:xfrm>
            <a:off x="5928213" y="4349496"/>
            <a:ext cx="1843984" cy="475488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dirty="0"/>
          </a:p>
        </p:txBody>
      </p:sp>
      <p:sp>
        <p:nvSpPr>
          <p:cNvPr id="36" name="Shape 36"/>
          <p:cNvSpPr txBox="1"/>
          <p:nvPr/>
        </p:nvSpPr>
        <p:spPr>
          <a:xfrm>
            <a:off x="5928213" y="4349496"/>
            <a:ext cx="1843984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−⅔, decreasing</a:t>
            </a:r>
            <a:endParaRPr lang="en-US" sz="1800" dirty="0"/>
          </a:p>
        </p:txBody>
      </p:sp>
      <p:cxnSp>
        <p:nvCxnSpPr>
          <p:cNvPr id="37" name="Line 37"/>
          <p:cNvCxnSpPr/>
          <p:nvPr/>
        </p:nvCxnSpPr>
        <p:spPr>
          <a:xfrm>
            <a:off x="4419498" y="4824984"/>
            <a:ext cx="3352698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38" name="Shape 38"/>
          <p:cNvSpPr/>
          <p:nvPr/>
        </p:nvSpPr>
        <p:spPr>
          <a:xfrm>
            <a:off x="8153197" y="2144268"/>
            <a:ext cx="304800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39" name="Line 39"/>
          <p:cNvCxnSpPr/>
          <p:nvPr/>
        </p:nvCxnSpPr>
        <p:spPr>
          <a:xfrm>
            <a:off x="8477047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8622038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8767030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8912022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9057013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4" name="Line 44"/>
          <p:cNvCxnSpPr/>
          <p:nvPr/>
        </p:nvCxnSpPr>
        <p:spPr>
          <a:xfrm>
            <a:off x="9202005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5" name="Line 45"/>
          <p:cNvCxnSpPr/>
          <p:nvPr/>
        </p:nvCxnSpPr>
        <p:spPr>
          <a:xfrm>
            <a:off x="9346997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6" name="Line 46"/>
          <p:cNvCxnSpPr/>
          <p:nvPr/>
        </p:nvCxnSpPr>
        <p:spPr>
          <a:xfrm>
            <a:off x="9491988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7" name="Line 47"/>
          <p:cNvCxnSpPr/>
          <p:nvPr/>
        </p:nvCxnSpPr>
        <p:spPr>
          <a:xfrm>
            <a:off x="9636980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8" name="Line 48"/>
          <p:cNvCxnSpPr/>
          <p:nvPr/>
        </p:nvCxnSpPr>
        <p:spPr>
          <a:xfrm>
            <a:off x="9781972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9" name="Line 49"/>
          <p:cNvCxnSpPr/>
          <p:nvPr/>
        </p:nvCxnSpPr>
        <p:spPr>
          <a:xfrm>
            <a:off x="9926963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0" name="Line 50"/>
          <p:cNvCxnSpPr/>
          <p:nvPr/>
        </p:nvCxnSpPr>
        <p:spPr>
          <a:xfrm>
            <a:off x="10071955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1" name="Line 51"/>
          <p:cNvCxnSpPr/>
          <p:nvPr/>
        </p:nvCxnSpPr>
        <p:spPr>
          <a:xfrm>
            <a:off x="10216947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2" name="Line 52"/>
          <p:cNvCxnSpPr/>
          <p:nvPr/>
        </p:nvCxnSpPr>
        <p:spPr>
          <a:xfrm>
            <a:off x="10361938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3" name="Line 53"/>
          <p:cNvCxnSpPr/>
          <p:nvPr/>
        </p:nvCxnSpPr>
        <p:spPr>
          <a:xfrm>
            <a:off x="10506930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4" name="Line 54"/>
          <p:cNvCxnSpPr/>
          <p:nvPr/>
        </p:nvCxnSpPr>
        <p:spPr>
          <a:xfrm>
            <a:off x="10651922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5" name="Line 55"/>
          <p:cNvCxnSpPr/>
          <p:nvPr/>
        </p:nvCxnSpPr>
        <p:spPr>
          <a:xfrm>
            <a:off x="10796913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6" name="Line 56"/>
          <p:cNvCxnSpPr/>
          <p:nvPr/>
        </p:nvCxnSpPr>
        <p:spPr>
          <a:xfrm>
            <a:off x="10941905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7" name="Line 57"/>
          <p:cNvCxnSpPr/>
          <p:nvPr/>
        </p:nvCxnSpPr>
        <p:spPr>
          <a:xfrm>
            <a:off x="11086897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8" name="Line 58"/>
          <p:cNvCxnSpPr/>
          <p:nvPr/>
        </p:nvCxnSpPr>
        <p:spPr>
          <a:xfrm>
            <a:off x="8477047" y="494461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9" name="Line 59"/>
          <p:cNvCxnSpPr/>
          <p:nvPr/>
        </p:nvCxnSpPr>
        <p:spPr>
          <a:xfrm>
            <a:off x="8477047" y="479539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0" name="Line 60"/>
          <p:cNvCxnSpPr/>
          <p:nvPr/>
        </p:nvCxnSpPr>
        <p:spPr>
          <a:xfrm>
            <a:off x="8477047" y="464616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1" name="Line 61"/>
          <p:cNvCxnSpPr/>
          <p:nvPr/>
        </p:nvCxnSpPr>
        <p:spPr>
          <a:xfrm>
            <a:off x="8477047" y="449694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2" name="Line 62"/>
          <p:cNvCxnSpPr/>
          <p:nvPr/>
        </p:nvCxnSpPr>
        <p:spPr>
          <a:xfrm>
            <a:off x="8477047" y="434771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3" name="Line 63"/>
          <p:cNvCxnSpPr/>
          <p:nvPr/>
        </p:nvCxnSpPr>
        <p:spPr>
          <a:xfrm>
            <a:off x="8477047" y="419849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4" name="Line 64"/>
          <p:cNvCxnSpPr/>
          <p:nvPr/>
        </p:nvCxnSpPr>
        <p:spPr>
          <a:xfrm>
            <a:off x="8477047" y="404926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5" name="Line 65"/>
          <p:cNvCxnSpPr/>
          <p:nvPr/>
        </p:nvCxnSpPr>
        <p:spPr>
          <a:xfrm>
            <a:off x="8477047" y="390004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6" name="Line 66"/>
          <p:cNvCxnSpPr/>
          <p:nvPr/>
        </p:nvCxnSpPr>
        <p:spPr>
          <a:xfrm>
            <a:off x="8477047" y="375081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7" name="Line 67"/>
          <p:cNvCxnSpPr/>
          <p:nvPr/>
        </p:nvCxnSpPr>
        <p:spPr>
          <a:xfrm>
            <a:off x="8477047" y="360159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8" name="Line 68"/>
          <p:cNvCxnSpPr/>
          <p:nvPr/>
        </p:nvCxnSpPr>
        <p:spPr>
          <a:xfrm>
            <a:off x="8477047" y="345236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9" name="Line 69"/>
          <p:cNvCxnSpPr/>
          <p:nvPr/>
        </p:nvCxnSpPr>
        <p:spPr>
          <a:xfrm>
            <a:off x="8477047" y="330314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0" name="Line 70"/>
          <p:cNvCxnSpPr/>
          <p:nvPr/>
        </p:nvCxnSpPr>
        <p:spPr>
          <a:xfrm>
            <a:off x="8477047" y="315391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1" name="Line 71"/>
          <p:cNvCxnSpPr/>
          <p:nvPr/>
        </p:nvCxnSpPr>
        <p:spPr>
          <a:xfrm>
            <a:off x="8477047" y="300469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2" name="Line 72"/>
          <p:cNvCxnSpPr/>
          <p:nvPr/>
        </p:nvCxnSpPr>
        <p:spPr>
          <a:xfrm>
            <a:off x="8477047" y="285546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3" name="Line 73"/>
          <p:cNvCxnSpPr/>
          <p:nvPr/>
        </p:nvCxnSpPr>
        <p:spPr>
          <a:xfrm>
            <a:off x="8477047" y="270624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4" name="Line 74"/>
          <p:cNvCxnSpPr/>
          <p:nvPr/>
        </p:nvCxnSpPr>
        <p:spPr>
          <a:xfrm>
            <a:off x="8477047" y="255701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5" name="Line 75"/>
          <p:cNvCxnSpPr/>
          <p:nvPr/>
        </p:nvCxnSpPr>
        <p:spPr>
          <a:xfrm>
            <a:off x="8477047" y="240779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6" name="Line 76"/>
          <p:cNvCxnSpPr/>
          <p:nvPr/>
        </p:nvCxnSpPr>
        <p:spPr>
          <a:xfrm>
            <a:off x="8477047" y="225856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7" name="Line 77"/>
          <p:cNvCxnSpPr/>
          <p:nvPr/>
        </p:nvCxnSpPr>
        <p:spPr>
          <a:xfrm>
            <a:off x="9636980" y="2258568"/>
            <a:ext cx="0" cy="26860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78" name="Line 78"/>
          <p:cNvCxnSpPr/>
          <p:nvPr/>
        </p:nvCxnSpPr>
        <p:spPr>
          <a:xfrm>
            <a:off x="8477047" y="3452368"/>
            <a:ext cx="2609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79" name="Shape 79"/>
          <p:cNvSpPr txBox="1"/>
          <p:nvPr/>
        </p:nvSpPr>
        <p:spPr>
          <a:xfrm>
            <a:off x="8202727" y="49636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80" name="Shape 80"/>
          <p:cNvSpPr txBox="1"/>
          <p:nvPr/>
        </p:nvSpPr>
        <p:spPr>
          <a:xfrm>
            <a:off x="8492710" y="49636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81" name="Shape 81"/>
          <p:cNvSpPr txBox="1"/>
          <p:nvPr/>
        </p:nvSpPr>
        <p:spPr>
          <a:xfrm>
            <a:off x="8782693" y="49636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82" name="Shape 82"/>
          <p:cNvSpPr txBox="1"/>
          <p:nvPr/>
        </p:nvSpPr>
        <p:spPr>
          <a:xfrm>
            <a:off x="9072677" y="49636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83" name="Shape 83"/>
          <p:cNvSpPr txBox="1"/>
          <p:nvPr/>
        </p:nvSpPr>
        <p:spPr>
          <a:xfrm>
            <a:off x="9362660" y="49636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84" name="Shape 84"/>
          <p:cNvSpPr txBox="1"/>
          <p:nvPr/>
        </p:nvSpPr>
        <p:spPr>
          <a:xfrm>
            <a:off x="9652643" y="49636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85" name="Shape 85"/>
          <p:cNvSpPr txBox="1"/>
          <p:nvPr/>
        </p:nvSpPr>
        <p:spPr>
          <a:xfrm>
            <a:off x="9942627" y="49636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86" name="Shape 86"/>
          <p:cNvSpPr txBox="1"/>
          <p:nvPr/>
        </p:nvSpPr>
        <p:spPr>
          <a:xfrm>
            <a:off x="10232610" y="49636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87" name="Shape 87"/>
          <p:cNvSpPr txBox="1"/>
          <p:nvPr/>
        </p:nvSpPr>
        <p:spPr>
          <a:xfrm>
            <a:off x="10522593" y="49636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88" name="Shape 88"/>
          <p:cNvSpPr txBox="1"/>
          <p:nvPr/>
        </p:nvSpPr>
        <p:spPr>
          <a:xfrm>
            <a:off x="10812577" y="49636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10</a:t>
            </a:r>
            <a:endParaRPr lang="en-US" sz="975" dirty="0"/>
          </a:p>
        </p:txBody>
      </p:sp>
      <p:sp>
        <p:nvSpPr>
          <p:cNvPr id="89" name="Shape 89"/>
          <p:cNvSpPr txBox="1"/>
          <p:nvPr/>
        </p:nvSpPr>
        <p:spPr>
          <a:xfrm>
            <a:off x="7910119" y="485317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−10</a:t>
            </a:r>
            <a:endParaRPr lang="en-US" sz="975" dirty="0"/>
          </a:p>
        </p:txBody>
      </p:sp>
      <p:sp>
        <p:nvSpPr>
          <p:cNvPr id="90" name="Shape 90"/>
          <p:cNvSpPr txBox="1"/>
          <p:nvPr/>
        </p:nvSpPr>
        <p:spPr>
          <a:xfrm>
            <a:off x="7910119" y="455472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91" name="Shape 91"/>
          <p:cNvSpPr txBox="1"/>
          <p:nvPr/>
        </p:nvSpPr>
        <p:spPr>
          <a:xfrm>
            <a:off x="7910119" y="425627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92" name="Shape 92"/>
          <p:cNvSpPr txBox="1"/>
          <p:nvPr/>
        </p:nvSpPr>
        <p:spPr>
          <a:xfrm>
            <a:off x="7910119" y="395782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93" name="Shape 93"/>
          <p:cNvSpPr txBox="1"/>
          <p:nvPr/>
        </p:nvSpPr>
        <p:spPr>
          <a:xfrm>
            <a:off x="7910119" y="365937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94" name="Shape 94"/>
          <p:cNvSpPr txBox="1"/>
          <p:nvPr/>
        </p:nvSpPr>
        <p:spPr>
          <a:xfrm>
            <a:off x="7910119" y="336092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95" name="Shape 95"/>
          <p:cNvSpPr txBox="1"/>
          <p:nvPr/>
        </p:nvSpPr>
        <p:spPr>
          <a:xfrm>
            <a:off x="7910119" y="306247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96" name="Shape 96"/>
          <p:cNvSpPr txBox="1"/>
          <p:nvPr/>
        </p:nvSpPr>
        <p:spPr>
          <a:xfrm>
            <a:off x="7910119" y="276402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97" name="Shape 97"/>
          <p:cNvSpPr txBox="1"/>
          <p:nvPr/>
        </p:nvSpPr>
        <p:spPr>
          <a:xfrm>
            <a:off x="7910119" y="246557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98" name="Shape 98"/>
          <p:cNvSpPr txBox="1"/>
          <p:nvPr/>
        </p:nvSpPr>
        <p:spPr>
          <a:xfrm>
            <a:off x="7910119" y="216712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cxnSp>
        <p:nvCxnSpPr>
          <p:cNvPr id="99" name="Line 99"/>
          <p:cNvCxnSpPr/>
          <p:nvPr/>
        </p:nvCxnSpPr>
        <p:spPr>
          <a:xfrm flipV="1">
            <a:off x="9540319" y="2258568"/>
            <a:ext cx="869950" cy="2686050"/>
          </a:xfrm>
          <a:prstGeom prst="line">
            <a:avLst/>
          </a:prstGeom>
          <a:ln w="38100" cap="rnd">
            <a:solidFill>
              <a:srgbClr val="4F8A3C"/>
            </a:solidFill>
          </a:ln>
        </p:spPr>
      </p:cxnSp>
      <p:sp>
        <p:nvSpPr>
          <p:cNvPr id="100" name="Shape 100"/>
          <p:cNvSpPr txBox="1"/>
          <p:nvPr/>
        </p:nvSpPr>
        <p:spPr>
          <a:xfrm>
            <a:off x="7918529" y="227761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g(x)</a:t>
            </a:r>
            <a:endParaRPr lang="en-US" sz="1275" dirty="0"/>
          </a:p>
        </p:txBody>
      </p:sp>
      <p:cxnSp>
        <p:nvCxnSpPr>
          <p:cNvPr id="101" name="Line 101"/>
          <p:cNvCxnSpPr/>
          <p:nvPr/>
        </p:nvCxnSpPr>
        <p:spPr>
          <a:xfrm>
            <a:off x="8984518" y="2258568"/>
            <a:ext cx="2102379" cy="1442508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102" name="Shape 102"/>
          <p:cNvSpPr txBox="1"/>
          <p:nvPr/>
        </p:nvSpPr>
        <p:spPr>
          <a:xfrm>
            <a:off x="9060718" y="227761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h(x)</a:t>
            </a:r>
            <a:endParaRPr lang="en-US" sz="1275" dirty="0"/>
          </a:p>
        </p:txBody>
      </p:sp>
      <p:sp>
        <p:nvSpPr>
          <p:cNvPr id="103" name="Slide Number 103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5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7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7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7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7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2.1 · Comparing Vertical and Horizontal Translations · SE pp. 289–290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Translate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left 3, then up 3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33526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Left 3: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+ 3)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1828800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t(x)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240639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−5</a:t>
            </a:r>
            <a:endParaRPr lang="en-US" sz="1650" dirty="0"/>
          </a:p>
        </p:txBody>
      </p:sp>
      <p:sp>
        <p:nvSpPr>
          <p:cNvPr id="9" name="Shape 9"/>
          <p:cNvSpPr txBox="1"/>
          <p:nvPr/>
        </p:nvSpPr>
        <p:spPr>
          <a:xfrm>
            <a:off x="1828800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0" name="Shape 10"/>
          <p:cNvSpPr txBox="1"/>
          <p:nvPr/>
        </p:nvSpPr>
        <p:spPr>
          <a:xfrm>
            <a:off x="1828800" y="240639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11" name="Shape 11"/>
          <p:cNvSpPr txBox="1"/>
          <p:nvPr/>
        </p:nvSpPr>
        <p:spPr>
          <a:xfrm>
            <a:off x="685800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2" name="Shape 12"/>
          <p:cNvSpPr txBox="1"/>
          <p:nvPr/>
        </p:nvSpPr>
        <p:spPr>
          <a:xfrm>
            <a:off x="685800" y="280416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−4</a:t>
            </a:r>
            <a:endParaRPr lang="en-US" sz="1650" dirty="0"/>
          </a:p>
        </p:txBody>
      </p:sp>
      <p:sp>
        <p:nvSpPr>
          <p:cNvPr id="13" name="Shape 13"/>
          <p:cNvSpPr txBox="1"/>
          <p:nvPr/>
        </p:nvSpPr>
        <p:spPr>
          <a:xfrm>
            <a:off x="1828800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4" name="Shape 14"/>
          <p:cNvSpPr txBox="1"/>
          <p:nvPr/>
        </p:nvSpPr>
        <p:spPr>
          <a:xfrm>
            <a:off x="1828800" y="280416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15" name="Shape 15"/>
          <p:cNvSpPr txBox="1"/>
          <p:nvPr/>
        </p:nvSpPr>
        <p:spPr>
          <a:xfrm>
            <a:off x="685800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6" name="Shape 16"/>
          <p:cNvSpPr txBox="1"/>
          <p:nvPr/>
        </p:nvSpPr>
        <p:spPr>
          <a:xfrm>
            <a:off x="685800" y="320192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−3</a:t>
            </a:r>
            <a:endParaRPr lang="en-US" sz="1650" dirty="0"/>
          </a:p>
        </p:txBody>
      </p:sp>
      <p:sp>
        <p:nvSpPr>
          <p:cNvPr id="17" name="Shape 17"/>
          <p:cNvSpPr txBox="1"/>
          <p:nvPr/>
        </p:nvSpPr>
        <p:spPr>
          <a:xfrm>
            <a:off x="1828800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8" name="Shape 18"/>
          <p:cNvSpPr txBox="1"/>
          <p:nvPr/>
        </p:nvSpPr>
        <p:spPr>
          <a:xfrm>
            <a:off x="1828800" y="320192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19" name="Shape 19"/>
          <p:cNvSpPr txBox="1"/>
          <p:nvPr/>
        </p:nvSpPr>
        <p:spPr>
          <a:xfrm>
            <a:off x="685800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0" name="Shape 20"/>
          <p:cNvSpPr txBox="1"/>
          <p:nvPr/>
        </p:nvSpPr>
        <p:spPr>
          <a:xfrm>
            <a:off x="685800" y="359968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21" name="Shape 21"/>
          <p:cNvSpPr txBox="1"/>
          <p:nvPr/>
        </p:nvSpPr>
        <p:spPr>
          <a:xfrm>
            <a:off x="1828800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2" name="Shape 22"/>
          <p:cNvSpPr txBox="1"/>
          <p:nvPr/>
        </p:nvSpPr>
        <p:spPr>
          <a:xfrm>
            <a:off x="1828800" y="359968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23" name="Shape 23"/>
          <p:cNvSpPr txBox="1"/>
          <p:nvPr/>
        </p:nvSpPr>
        <p:spPr>
          <a:xfrm>
            <a:off x="685800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4" name="Shape 24"/>
          <p:cNvSpPr txBox="1"/>
          <p:nvPr/>
        </p:nvSpPr>
        <p:spPr>
          <a:xfrm>
            <a:off x="685800" y="39974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25" name="Shape 25"/>
          <p:cNvSpPr txBox="1"/>
          <p:nvPr/>
        </p:nvSpPr>
        <p:spPr>
          <a:xfrm>
            <a:off x="1828800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6" name="Shape 26"/>
          <p:cNvSpPr txBox="1"/>
          <p:nvPr/>
        </p:nvSpPr>
        <p:spPr>
          <a:xfrm>
            <a:off x="1828800" y="39974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27" name="Shape 27"/>
          <p:cNvSpPr txBox="1"/>
          <p:nvPr/>
        </p:nvSpPr>
        <p:spPr>
          <a:xfrm>
            <a:off x="685800" y="4490466"/>
            <a:ext cx="33526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inputs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change.</a:t>
            </a:r>
            <a:endParaRPr lang="en-US" sz="1575" dirty="0"/>
          </a:p>
        </p:txBody>
      </p:sp>
      <p:sp>
        <p:nvSpPr>
          <p:cNvPr id="28" name="Shape 28"/>
          <p:cNvSpPr txBox="1"/>
          <p:nvPr/>
        </p:nvSpPr>
        <p:spPr>
          <a:xfrm>
            <a:off x="4419498" y="1618488"/>
            <a:ext cx="33526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Up 3: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w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 + 3</a:t>
            </a:r>
            <a:endParaRPr lang="en-US" sz="1575" dirty="0"/>
          </a:p>
        </p:txBody>
      </p:sp>
      <p:sp>
        <p:nvSpPr>
          <p:cNvPr id="29" name="Shape 29"/>
          <p:cNvSpPr txBox="1"/>
          <p:nvPr/>
        </p:nvSpPr>
        <p:spPr>
          <a:xfrm>
            <a:off x="4419498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650" dirty="0"/>
          </a:p>
        </p:txBody>
      </p:sp>
      <p:sp>
        <p:nvSpPr>
          <p:cNvPr id="30" name="Shape 30"/>
          <p:cNvSpPr txBox="1"/>
          <p:nvPr/>
        </p:nvSpPr>
        <p:spPr>
          <a:xfrm>
            <a:off x="5562498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w(x)</a:t>
            </a:r>
            <a:endParaRPr lang="en-US" sz="1650" dirty="0"/>
          </a:p>
        </p:txBody>
      </p:sp>
      <p:sp>
        <p:nvSpPr>
          <p:cNvPr id="31" name="Shape 31"/>
          <p:cNvSpPr txBox="1"/>
          <p:nvPr/>
        </p:nvSpPr>
        <p:spPr>
          <a:xfrm>
            <a:off x="4419498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2" name="Shape 32"/>
          <p:cNvSpPr txBox="1"/>
          <p:nvPr/>
        </p:nvSpPr>
        <p:spPr>
          <a:xfrm>
            <a:off x="4419498" y="240639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33" name="Shape 33"/>
          <p:cNvSpPr txBox="1"/>
          <p:nvPr/>
        </p:nvSpPr>
        <p:spPr>
          <a:xfrm>
            <a:off x="5562498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4" name="Shape 34"/>
          <p:cNvSpPr txBox="1"/>
          <p:nvPr/>
        </p:nvSpPr>
        <p:spPr>
          <a:xfrm>
            <a:off x="5562498" y="240639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35" name="Shape 35"/>
          <p:cNvSpPr txBox="1"/>
          <p:nvPr/>
        </p:nvSpPr>
        <p:spPr>
          <a:xfrm>
            <a:off x="4419498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6" name="Shape 36"/>
          <p:cNvSpPr txBox="1"/>
          <p:nvPr/>
        </p:nvSpPr>
        <p:spPr>
          <a:xfrm>
            <a:off x="4419498" y="280416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37" name="Shape 37"/>
          <p:cNvSpPr txBox="1"/>
          <p:nvPr/>
        </p:nvSpPr>
        <p:spPr>
          <a:xfrm>
            <a:off x="5562498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8" name="Shape 38"/>
          <p:cNvSpPr txBox="1"/>
          <p:nvPr/>
        </p:nvSpPr>
        <p:spPr>
          <a:xfrm>
            <a:off x="5562498" y="280416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39" name="Shape 39"/>
          <p:cNvSpPr txBox="1"/>
          <p:nvPr/>
        </p:nvSpPr>
        <p:spPr>
          <a:xfrm>
            <a:off x="4419498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0" name="Shape 40"/>
          <p:cNvSpPr txBox="1"/>
          <p:nvPr/>
        </p:nvSpPr>
        <p:spPr>
          <a:xfrm>
            <a:off x="4419498" y="320192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41" name="Shape 41"/>
          <p:cNvSpPr txBox="1"/>
          <p:nvPr/>
        </p:nvSpPr>
        <p:spPr>
          <a:xfrm>
            <a:off x="5562498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2" name="Shape 42"/>
          <p:cNvSpPr txBox="1"/>
          <p:nvPr/>
        </p:nvSpPr>
        <p:spPr>
          <a:xfrm>
            <a:off x="5562498" y="320192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endParaRPr lang="en-US" sz="1650" dirty="0"/>
          </a:p>
        </p:txBody>
      </p:sp>
      <p:sp>
        <p:nvSpPr>
          <p:cNvPr id="43" name="Shape 43"/>
          <p:cNvSpPr txBox="1"/>
          <p:nvPr/>
        </p:nvSpPr>
        <p:spPr>
          <a:xfrm>
            <a:off x="4419498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4" name="Shape 44"/>
          <p:cNvSpPr txBox="1"/>
          <p:nvPr/>
        </p:nvSpPr>
        <p:spPr>
          <a:xfrm>
            <a:off x="4419498" y="359968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45" name="Shape 45"/>
          <p:cNvSpPr txBox="1"/>
          <p:nvPr/>
        </p:nvSpPr>
        <p:spPr>
          <a:xfrm>
            <a:off x="5562498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6" name="Shape 46"/>
          <p:cNvSpPr txBox="1"/>
          <p:nvPr/>
        </p:nvSpPr>
        <p:spPr>
          <a:xfrm>
            <a:off x="5562498" y="359968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4</a:t>
            </a:r>
            <a:endParaRPr lang="en-US" sz="1650" dirty="0"/>
          </a:p>
        </p:txBody>
      </p:sp>
      <p:sp>
        <p:nvSpPr>
          <p:cNvPr id="47" name="Shape 47"/>
          <p:cNvSpPr txBox="1"/>
          <p:nvPr/>
        </p:nvSpPr>
        <p:spPr>
          <a:xfrm>
            <a:off x="4419498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8" name="Shape 48"/>
          <p:cNvSpPr txBox="1"/>
          <p:nvPr/>
        </p:nvSpPr>
        <p:spPr>
          <a:xfrm>
            <a:off x="4419498" y="39974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49" name="Shape 49"/>
          <p:cNvSpPr txBox="1"/>
          <p:nvPr/>
        </p:nvSpPr>
        <p:spPr>
          <a:xfrm>
            <a:off x="5562498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50" name="Shape 50"/>
          <p:cNvSpPr txBox="1"/>
          <p:nvPr/>
        </p:nvSpPr>
        <p:spPr>
          <a:xfrm>
            <a:off x="5562498" y="39974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5</a:t>
            </a:r>
            <a:endParaRPr lang="en-US" sz="1650" dirty="0"/>
          </a:p>
        </p:txBody>
      </p:sp>
      <p:sp>
        <p:nvSpPr>
          <p:cNvPr id="51" name="Shape 51"/>
          <p:cNvSpPr txBox="1"/>
          <p:nvPr/>
        </p:nvSpPr>
        <p:spPr>
          <a:xfrm>
            <a:off x="4419498" y="4490466"/>
            <a:ext cx="33526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outputs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change.</a:t>
            </a:r>
            <a:endParaRPr lang="en-US" sz="1575" dirty="0"/>
          </a:p>
        </p:txBody>
      </p:sp>
      <p:sp>
        <p:nvSpPr>
          <p:cNvPr id="52" name="Shape 52"/>
          <p:cNvSpPr/>
          <p:nvPr/>
        </p:nvSpPr>
        <p:spPr>
          <a:xfrm>
            <a:off x="8153197" y="1618488"/>
            <a:ext cx="304800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53" name="Line 53"/>
          <p:cNvCxnSpPr/>
          <p:nvPr/>
        </p:nvCxnSpPr>
        <p:spPr>
          <a:xfrm>
            <a:off x="8477047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4" name="Line 54"/>
          <p:cNvCxnSpPr/>
          <p:nvPr/>
        </p:nvCxnSpPr>
        <p:spPr>
          <a:xfrm>
            <a:off x="8694534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5" name="Line 55"/>
          <p:cNvCxnSpPr/>
          <p:nvPr/>
        </p:nvCxnSpPr>
        <p:spPr>
          <a:xfrm>
            <a:off x="8912022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6" name="Line 56"/>
          <p:cNvCxnSpPr/>
          <p:nvPr/>
        </p:nvCxnSpPr>
        <p:spPr>
          <a:xfrm>
            <a:off x="9129509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7" name="Line 57"/>
          <p:cNvCxnSpPr/>
          <p:nvPr/>
        </p:nvCxnSpPr>
        <p:spPr>
          <a:xfrm>
            <a:off x="9346997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8" name="Line 58"/>
          <p:cNvCxnSpPr/>
          <p:nvPr/>
        </p:nvCxnSpPr>
        <p:spPr>
          <a:xfrm>
            <a:off x="9564484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9" name="Line 59"/>
          <p:cNvCxnSpPr/>
          <p:nvPr/>
        </p:nvCxnSpPr>
        <p:spPr>
          <a:xfrm>
            <a:off x="9781972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0" name="Line 60"/>
          <p:cNvCxnSpPr/>
          <p:nvPr/>
        </p:nvCxnSpPr>
        <p:spPr>
          <a:xfrm>
            <a:off x="9999459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1" name="Line 61"/>
          <p:cNvCxnSpPr/>
          <p:nvPr/>
        </p:nvCxnSpPr>
        <p:spPr>
          <a:xfrm>
            <a:off x="10216947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2" name="Line 62"/>
          <p:cNvCxnSpPr/>
          <p:nvPr/>
        </p:nvCxnSpPr>
        <p:spPr>
          <a:xfrm>
            <a:off x="10434434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3" name="Line 63"/>
          <p:cNvCxnSpPr/>
          <p:nvPr/>
        </p:nvCxnSpPr>
        <p:spPr>
          <a:xfrm>
            <a:off x="10651922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4" name="Line 64"/>
          <p:cNvCxnSpPr/>
          <p:nvPr/>
        </p:nvCxnSpPr>
        <p:spPr>
          <a:xfrm>
            <a:off x="10869409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5" name="Line 65"/>
          <p:cNvCxnSpPr/>
          <p:nvPr/>
        </p:nvCxnSpPr>
        <p:spPr>
          <a:xfrm>
            <a:off x="11086897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6" name="Line 66"/>
          <p:cNvCxnSpPr/>
          <p:nvPr/>
        </p:nvCxnSpPr>
        <p:spPr>
          <a:xfrm>
            <a:off x="8477047" y="441883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7" name="Line 67"/>
          <p:cNvCxnSpPr/>
          <p:nvPr/>
        </p:nvCxnSpPr>
        <p:spPr>
          <a:xfrm>
            <a:off x="8477047" y="4195000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8" name="Line 68"/>
          <p:cNvCxnSpPr/>
          <p:nvPr/>
        </p:nvCxnSpPr>
        <p:spPr>
          <a:xfrm>
            <a:off x="8477047" y="397116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9" name="Line 69"/>
          <p:cNvCxnSpPr/>
          <p:nvPr/>
        </p:nvCxnSpPr>
        <p:spPr>
          <a:xfrm>
            <a:off x="8477047" y="3747325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0" name="Line 70"/>
          <p:cNvCxnSpPr/>
          <p:nvPr/>
        </p:nvCxnSpPr>
        <p:spPr>
          <a:xfrm>
            <a:off x="8477047" y="352348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1" name="Line 71"/>
          <p:cNvCxnSpPr/>
          <p:nvPr/>
        </p:nvCxnSpPr>
        <p:spPr>
          <a:xfrm>
            <a:off x="8477047" y="3299650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2" name="Line 72"/>
          <p:cNvCxnSpPr/>
          <p:nvPr/>
        </p:nvCxnSpPr>
        <p:spPr>
          <a:xfrm>
            <a:off x="8477047" y="307581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3" name="Line 73"/>
          <p:cNvCxnSpPr/>
          <p:nvPr/>
        </p:nvCxnSpPr>
        <p:spPr>
          <a:xfrm>
            <a:off x="8477047" y="2851976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4" name="Line 74"/>
          <p:cNvCxnSpPr/>
          <p:nvPr/>
        </p:nvCxnSpPr>
        <p:spPr>
          <a:xfrm>
            <a:off x="8477047" y="262813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5" name="Line 75"/>
          <p:cNvCxnSpPr/>
          <p:nvPr/>
        </p:nvCxnSpPr>
        <p:spPr>
          <a:xfrm>
            <a:off x="8477047" y="2404300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6" name="Line 76"/>
          <p:cNvCxnSpPr/>
          <p:nvPr/>
        </p:nvCxnSpPr>
        <p:spPr>
          <a:xfrm>
            <a:off x="8477047" y="218046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7" name="Line 77"/>
          <p:cNvCxnSpPr/>
          <p:nvPr/>
        </p:nvCxnSpPr>
        <p:spPr>
          <a:xfrm>
            <a:off x="8477047" y="1956625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8" name="Line 78"/>
          <p:cNvCxnSpPr/>
          <p:nvPr/>
        </p:nvCxnSpPr>
        <p:spPr>
          <a:xfrm>
            <a:off x="8477047" y="173278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9" name="Line 79"/>
          <p:cNvCxnSpPr/>
          <p:nvPr/>
        </p:nvCxnSpPr>
        <p:spPr>
          <a:xfrm>
            <a:off x="9781972" y="1732788"/>
            <a:ext cx="0" cy="26860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80" name="Line 80"/>
          <p:cNvCxnSpPr/>
          <p:nvPr/>
        </p:nvCxnSpPr>
        <p:spPr>
          <a:xfrm>
            <a:off x="8477047" y="3075813"/>
            <a:ext cx="2609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81" name="Shape 81"/>
          <p:cNvSpPr txBox="1"/>
          <p:nvPr/>
        </p:nvSpPr>
        <p:spPr>
          <a:xfrm>
            <a:off x="8202727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82" name="Shape 82"/>
          <p:cNvSpPr txBox="1"/>
          <p:nvPr/>
        </p:nvSpPr>
        <p:spPr>
          <a:xfrm>
            <a:off x="8637702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83" name="Shape 83"/>
          <p:cNvSpPr txBox="1"/>
          <p:nvPr/>
        </p:nvSpPr>
        <p:spPr>
          <a:xfrm>
            <a:off x="9072677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84" name="Shape 84"/>
          <p:cNvSpPr txBox="1"/>
          <p:nvPr/>
        </p:nvSpPr>
        <p:spPr>
          <a:xfrm>
            <a:off x="9507652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85" name="Shape 85"/>
          <p:cNvSpPr txBox="1"/>
          <p:nvPr/>
        </p:nvSpPr>
        <p:spPr>
          <a:xfrm>
            <a:off x="9942627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86" name="Shape 86"/>
          <p:cNvSpPr txBox="1"/>
          <p:nvPr/>
        </p:nvSpPr>
        <p:spPr>
          <a:xfrm>
            <a:off x="10377602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87" name="Shape 87"/>
          <p:cNvSpPr txBox="1"/>
          <p:nvPr/>
        </p:nvSpPr>
        <p:spPr>
          <a:xfrm>
            <a:off x="10812577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88" name="Shape 88"/>
          <p:cNvSpPr txBox="1"/>
          <p:nvPr/>
        </p:nvSpPr>
        <p:spPr>
          <a:xfrm>
            <a:off x="7910119" y="43273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89" name="Shape 89"/>
          <p:cNvSpPr txBox="1"/>
          <p:nvPr/>
        </p:nvSpPr>
        <p:spPr>
          <a:xfrm>
            <a:off x="7910119" y="387972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90" name="Shape 90"/>
          <p:cNvSpPr txBox="1"/>
          <p:nvPr/>
        </p:nvSpPr>
        <p:spPr>
          <a:xfrm>
            <a:off x="7910119" y="34320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91" name="Shape 91"/>
          <p:cNvSpPr txBox="1"/>
          <p:nvPr/>
        </p:nvSpPr>
        <p:spPr>
          <a:xfrm>
            <a:off x="7910119" y="29843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92" name="Shape 92"/>
          <p:cNvSpPr txBox="1"/>
          <p:nvPr/>
        </p:nvSpPr>
        <p:spPr>
          <a:xfrm>
            <a:off x="7910119" y="25366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93" name="Shape 93"/>
          <p:cNvSpPr txBox="1"/>
          <p:nvPr/>
        </p:nvSpPr>
        <p:spPr>
          <a:xfrm>
            <a:off x="7910119" y="208902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94" name="Shape 94"/>
          <p:cNvSpPr txBox="1"/>
          <p:nvPr/>
        </p:nvSpPr>
        <p:spPr>
          <a:xfrm>
            <a:off x="7910119" y="16413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cxnSp>
        <p:nvCxnSpPr>
          <p:cNvPr id="95" name="Line 95"/>
          <p:cNvCxnSpPr/>
          <p:nvPr/>
        </p:nvCxnSpPr>
        <p:spPr>
          <a:xfrm flipV="1">
            <a:off x="8477047" y="1732788"/>
            <a:ext cx="2609850" cy="268605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96" name="Shape 96"/>
          <p:cNvSpPr txBox="1"/>
          <p:nvPr/>
        </p:nvSpPr>
        <p:spPr>
          <a:xfrm>
            <a:off x="8595157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f(x)</a:t>
            </a:r>
            <a:endParaRPr lang="en-US" sz="1275" dirty="0"/>
          </a:p>
        </p:txBody>
      </p:sp>
      <p:cxnSp>
        <p:nvCxnSpPr>
          <p:cNvPr id="97" name="Line 97"/>
          <p:cNvCxnSpPr/>
          <p:nvPr/>
        </p:nvCxnSpPr>
        <p:spPr>
          <a:xfrm flipV="1">
            <a:off x="8477047" y="1732788"/>
            <a:ext cx="1957388" cy="2014537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98" name="Shape 98"/>
          <p:cNvSpPr txBox="1"/>
          <p:nvPr/>
        </p:nvSpPr>
        <p:spPr>
          <a:xfrm>
            <a:off x="7942694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t(x) = w(x)</a:t>
            </a:r>
            <a:endParaRPr lang="en-US" sz="1275" dirty="0"/>
          </a:p>
        </p:txBody>
      </p:sp>
      <p:sp>
        <p:nvSpPr>
          <p:cNvPr id="99" name="Shape 99"/>
          <p:cNvSpPr txBox="1"/>
          <p:nvPr/>
        </p:nvSpPr>
        <p:spPr>
          <a:xfrm>
            <a:off x="8153197" y="4761738"/>
            <a:ext cx="33526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Same line,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+ 3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but different tables.</a:t>
            </a:r>
            <a:endParaRPr lang="en-US" sz="1575" dirty="0"/>
          </a:p>
        </p:txBody>
      </p:sp>
      <p:sp>
        <p:nvSpPr>
          <p:cNvPr id="100" name="Slide Number 10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6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0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1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7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8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4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5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4" fill="hold">
                      <p:stCondLst>
                        <p:cond delay="indefinite"/>
                      </p:stCondLst>
                      <p:childTnLst>
                        <p:par>
                          <p:cTn id="135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1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2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1" fill="hold">
                      <p:stCondLst>
                        <p:cond delay="indefinite"/>
                      </p:stCondLst>
                      <p:childTnLst>
                        <p:par>
                          <p:cTn id="142" fill="hold">
                            <p:stCondLst>
                              <p:cond delay="0"/>
                            </p:stCondLst>
                            <p:childTnLst>
                              <p:par>
                                <p:cTn id="14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8" fill="hold">
                      <p:stCondLst>
                        <p:cond delay="indefinite"/>
                      </p:stCondLst>
                      <p:childTnLst>
                        <p:par>
                          <p:cTn id="149" fill="hold">
                            <p:stCondLst>
                              <p:cond delay="0"/>
                            </p:stCondLst>
                            <p:childTnLst>
                              <p:par>
                                <p:cTn id="14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5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6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5" fill="hold">
                      <p:stCondLst>
                        <p:cond delay="indefinite"/>
                      </p:stCondLst>
                      <p:childTnLst>
                        <p:par>
                          <p:cTn id="156" fill="hold">
                            <p:stCondLst>
                              <p:cond delay="0"/>
                            </p:stCondLst>
                            <p:childTnLst>
                              <p:par>
                                <p:cTn id="15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2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3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3" fill="hold">
                      <p:stCondLst>
                        <p:cond delay="indefinite"/>
                      </p:stCondLst>
                      <p:childTnLst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id="15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8" dur="7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2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1" dur="7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0" fill="hold">
                      <p:stCondLst>
                        <p:cond delay="indefinite"/>
                      </p:stCondLst>
                      <p:childTnLst>
                        <p:par>
                          <p:cTn id="171" fill="hold">
                            <p:stCondLst>
                              <p:cond delay="0"/>
                            </p:stCondLst>
                            <p:childTnLst>
                              <p:par>
                                <p:cTn id="16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7" dur="500" fill="hold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8" dur="500" fill="hold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2.1 · Definitions · SE p. 291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Horizontal vs. vertical translations</a:t>
            </a:r>
            <a:endParaRPr lang="en-US" sz="34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1618488"/>
            <a:ext cx="5219548" cy="13479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 −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48004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Changes the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inputs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&gt; 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shift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right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shift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left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6286348" y="1618488"/>
            <a:ext cx="5219548" cy="13479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495898" y="1789938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+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endParaRPr lang="en-US" sz="2100" dirty="0"/>
          </a:p>
        </p:txBody>
      </p:sp>
      <p:sp>
        <p:nvSpPr>
          <p:cNvPr id="8" name="Shape 8"/>
          <p:cNvSpPr txBox="1"/>
          <p:nvPr/>
        </p:nvSpPr>
        <p:spPr>
          <a:xfrm>
            <a:off x="6495898" y="2260092"/>
            <a:ext cx="48004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Changes the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outputs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&gt; 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shift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up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shift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down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3137916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For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right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n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down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n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and left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n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up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n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1" name="Shape 11"/>
          <p:cNvSpPr txBox="1"/>
          <p:nvPr/>
        </p:nvSpPr>
        <p:spPr>
          <a:xfrm>
            <a:off x="685800" y="3604260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Does that work for </a:t>
            </a:r>
            <a:r>
              <a:rPr lang="en-US" sz="16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every</a:t>
            </a: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 linear function?</a:t>
            </a:r>
            <a:endParaRPr lang="en-US" sz="1650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7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2.1 · Questions 6–9 · SE pp. 292–294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Try it with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2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 − 1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Up 4 and left 4: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008632"/>
            <a:ext cx="521954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+ 4 = 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+ 3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977134"/>
            <a:ext cx="521954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r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+ 4) = 2(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+ 4) − 1 = 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+ 7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945636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Right 2 and down 2: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4335780"/>
            <a:ext cx="521954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− 2) = 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− 5</a:t>
            </a:r>
            <a:endParaRPr lang="en-US" sz="2325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5304282"/>
            <a:ext cx="521954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v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− 2 = 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− 3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6272784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Not the same.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The lines are parallel with different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-intercepts.</a:t>
            </a:r>
            <a:endParaRPr lang="en-US" sz="1575" dirty="0"/>
          </a:p>
        </p:txBody>
      </p:sp>
      <p:sp>
        <p:nvSpPr>
          <p:cNvPr id="11" name="Shape 11"/>
          <p:cNvSpPr/>
          <p:nvPr/>
        </p:nvSpPr>
        <p:spPr>
          <a:xfrm>
            <a:off x="6286348" y="1618488"/>
            <a:ext cx="3143250" cy="342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12" name="Line 12"/>
          <p:cNvCxnSpPr/>
          <p:nvPr/>
        </p:nvCxnSpPr>
        <p:spPr>
          <a:xfrm>
            <a:off x="6610198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6835623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7061048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7286473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7511898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7737323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7962748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8188173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8413598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8639023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8864448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9089873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9315298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6610198" y="479983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6610198" y="4608147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6610198" y="4416457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6610198" y="4224766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6610198" y="403307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6610198" y="384138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6610198" y="3649694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6610198" y="3458004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6610198" y="3266313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6610198" y="3074622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6610198" y="2882932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6610198" y="269124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6610198" y="2499550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6610198" y="2307860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6610198" y="2116169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6610198" y="1924479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6610198" y="17327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7962748" y="1732788"/>
            <a:ext cx="0" cy="30670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6610198" y="3266313"/>
            <a:ext cx="270510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44" name="Shape 44"/>
          <p:cNvSpPr txBox="1"/>
          <p:nvPr/>
        </p:nvSpPr>
        <p:spPr>
          <a:xfrm>
            <a:off x="6335878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45" name="Shape 45"/>
          <p:cNvSpPr txBox="1"/>
          <p:nvPr/>
        </p:nvSpPr>
        <p:spPr>
          <a:xfrm>
            <a:off x="6786728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46" name="Shape 46"/>
          <p:cNvSpPr txBox="1"/>
          <p:nvPr/>
        </p:nvSpPr>
        <p:spPr>
          <a:xfrm>
            <a:off x="7237578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47" name="Shape 47"/>
          <p:cNvSpPr txBox="1"/>
          <p:nvPr/>
        </p:nvSpPr>
        <p:spPr>
          <a:xfrm>
            <a:off x="7688428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48" name="Shape 48"/>
          <p:cNvSpPr txBox="1"/>
          <p:nvPr/>
        </p:nvSpPr>
        <p:spPr>
          <a:xfrm>
            <a:off x="8139278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49" name="Shape 49"/>
          <p:cNvSpPr txBox="1"/>
          <p:nvPr/>
        </p:nvSpPr>
        <p:spPr>
          <a:xfrm>
            <a:off x="8590128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50" name="Shape 50"/>
          <p:cNvSpPr txBox="1"/>
          <p:nvPr/>
        </p:nvSpPr>
        <p:spPr>
          <a:xfrm>
            <a:off x="9040978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51" name="Shape 51"/>
          <p:cNvSpPr txBox="1"/>
          <p:nvPr/>
        </p:nvSpPr>
        <p:spPr>
          <a:xfrm>
            <a:off x="6043270" y="47083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52" name="Shape 52"/>
          <p:cNvSpPr txBox="1"/>
          <p:nvPr/>
        </p:nvSpPr>
        <p:spPr>
          <a:xfrm>
            <a:off x="6043270" y="4325017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53" name="Shape 53"/>
          <p:cNvSpPr txBox="1"/>
          <p:nvPr/>
        </p:nvSpPr>
        <p:spPr>
          <a:xfrm>
            <a:off x="6043270" y="3941636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54" name="Shape 54"/>
          <p:cNvSpPr txBox="1"/>
          <p:nvPr/>
        </p:nvSpPr>
        <p:spPr>
          <a:xfrm>
            <a:off x="6043270" y="355825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55" name="Shape 55"/>
          <p:cNvSpPr txBox="1"/>
          <p:nvPr/>
        </p:nvSpPr>
        <p:spPr>
          <a:xfrm>
            <a:off x="6043270" y="31748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6" name="Shape 56"/>
          <p:cNvSpPr txBox="1"/>
          <p:nvPr/>
        </p:nvSpPr>
        <p:spPr>
          <a:xfrm>
            <a:off x="6043270" y="279149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57" name="Shape 57"/>
          <p:cNvSpPr txBox="1"/>
          <p:nvPr/>
        </p:nvSpPr>
        <p:spPr>
          <a:xfrm>
            <a:off x="6043270" y="240811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58" name="Shape 58"/>
          <p:cNvSpPr txBox="1"/>
          <p:nvPr/>
        </p:nvSpPr>
        <p:spPr>
          <a:xfrm>
            <a:off x="6043270" y="2024729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59" name="Shape 59"/>
          <p:cNvSpPr txBox="1"/>
          <p:nvPr/>
        </p:nvSpPr>
        <p:spPr>
          <a:xfrm>
            <a:off x="6043270" y="16413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cxnSp>
        <p:nvCxnSpPr>
          <p:cNvPr id="60" name="Line 60"/>
          <p:cNvCxnSpPr/>
          <p:nvPr/>
        </p:nvCxnSpPr>
        <p:spPr>
          <a:xfrm flipV="1">
            <a:off x="7173760" y="1732788"/>
            <a:ext cx="1803400" cy="306705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61" name="Shape 61"/>
          <p:cNvSpPr txBox="1"/>
          <p:nvPr/>
        </p:nvSpPr>
        <p:spPr>
          <a:xfrm>
            <a:off x="6485420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j(x)</a:t>
            </a:r>
            <a:endParaRPr lang="en-US" sz="1275" dirty="0"/>
          </a:p>
        </p:txBody>
      </p:sp>
      <p:cxnSp>
        <p:nvCxnSpPr>
          <p:cNvPr id="62" name="Line 62"/>
          <p:cNvCxnSpPr/>
          <p:nvPr/>
        </p:nvCxnSpPr>
        <p:spPr>
          <a:xfrm flipV="1">
            <a:off x="6722910" y="1732788"/>
            <a:ext cx="1803400" cy="3067050"/>
          </a:xfrm>
          <a:prstGeom prst="line">
            <a:avLst/>
          </a:prstGeom>
          <a:ln w="38100" cap="rnd">
            <a:solidFill>
              <a:srgbClr val="4F8A3C"/>
            </a:solidFill>
          </a:ln>
        </p:spPr>
      </p:cxnSp>
      <p:sp>
        <p:nvSpPr>
          <p:cNvPr id="63" name="Shape 63"/>
          <p:cNvSpPr txBox="1"/>
          <p:nvPr/>
        </p:nvSpPr>
        <p:spPr>
          <a:xfrm>
            <a:off x="6034570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q(x)</a:t>
            </a:r>
            <a:endParaRPr lang="en-US" sz="1275" dirty="0"/>
          </a:p>
        </p:txBody>
      </p:sp>
      <p:cxnSp>
        <p:nvCxnSpPr>
          <p:cNvPr id="64" name="Line 64"/>
          <p:cNvCxnSpPr/>
          <p:nvPr/>
        </p:nvCxnSpPr>
        <p:spPr>
          <a:xfrm flipV="1">
            <a:off x="6610198" y="1732788"/>
            <a:ext cx="1465262" cy="2491978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65" name="Shape 65"/>
          <p:cNvSpPr txBox="1"/>
          <p:nvPr/>
        </p:nvSpPr>
        <p:spPr>
          <a:xfrm>
            <a:off x="5583720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r(x)</a:t>
            </a:r>
            <a:endParaRPr lang="en-US" sz="1275" dirty="0"/>
          </a:p>
        </p:txBody>
      </p:sp>
      <p:sp>
        <p:nvSpPr>
          <p:cNvPr id="66" name="Slide Number 6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8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7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7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7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7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2.1 · Summary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Translations of linear functions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71373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Inside the parentheses changes the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input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(horizontal); outside changes the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output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(vertical).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57251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moves right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; the sign flips.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13410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Only for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does right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n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match down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n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7" name="Slide Number 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9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210312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Lesson 2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2512314"/>
            <a:ext cx="10820095" cy="13121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8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2</a:t>
            </a:r>
            <a:endParaRPr lang="en-US" sz="8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3995928"/>
            <a:ext cx="10820095" cy="7863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Essential Question: What effect do horizontal transformations have on linear functions? How do they compare to vertical transformations?</a:t>
            </a:r>
            <a:endParaRPr lang="en-US" sz="24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10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Bell Work · Review of Day 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Warm up: work these on your own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is translated right 5 units. Which equation is the new function?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289)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755392"/>
            <a:ext cx="514334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− 5)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− 5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895344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For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a translation right 5 gives the same graph as which other translation?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291)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4975098"/>
            <a:ext cx="3902979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Down 5 units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362548" y="1675638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2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− 1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r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+ 4)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Simplify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r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292)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362548" y="2458212"/>
            <a:ext cx="4068806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r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+ 7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362548" y="3243834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4. For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is the graph of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(2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the same as the graph of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295)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6362548" y="4026408"/>
            <a:ext cx="514334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Yes, both are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232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11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2.2 · Comparing Vertical and Horizontal Dilations · SE pp. 295–296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Change the outputs or the inputs of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33526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Outputs × 2: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 = 2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1828800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a(x)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240639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9" name="Shape 9"/>
          <p:cNvSpPr txBox="1"/>
          <p:nvPr/>
        </p:nvSpPr>
        <p:spPr>
          <a:xfrm>
            <a:off x="1828800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0" name="Shape 10"/>
          <p:cNvSpPr txBox="1"/>
          <p:nvPr/>
        </p:nvSpPr>
        <p:spPr>
          <a:xfrm>
            <a:off x="1828800" y="240639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−4</a:t>
            </a:r>
            <a:endParaRPr lang="en-US" sz="1650" dirty="0"/>
          </a:p>
        </p:txBody>
      </p:sp>
      <p:sp>
        <p:nvSpPr>
          <p:cNvPr id="11" name="Shape 11"/>
          <p:cNvSpPr txBox="1"/>
          <p:nvPr/>
        </p:nvSpPr>
        <p:spPr>
          <a:xfrm>
            <a:off x="685800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2" name="Shape 12"/>
          <p:cNvSpPr txBox="1"/>
          <p:nvPr/>
        </p:nvSpPr>
        <p:spPr>
          <a:xfrm>
            <a:off x="685800" y="280416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13" name="Shape 13"/>
          <p:cNvSpPr txBox="1"/>
          <p:nvPr/>
        </p:nvSpPr>
        <p:spPr>
          <a:xfrm>
            <a:off x="1828800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4" name="Shape 14"/>
          <p:cNvSpPr txBox="1"/>
          <p:nvPr/>
        </p:nvSpPr>
        <p:spPr>
          <a:xfrm>
            <a:off x="1828800" y="280416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15" name="Shape 15"/>
          <p:cNvSpPr txBox="1"/>
          <p:nvPr/>
        </p:nvSpPr>
        <p:spPr>
          <a:xfrm>
            <a:off x="685800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6" name="Shape 16"/>
          <p:cNvSpPr txBox="1"/>
          <p:nvPr/>
        </p:nvSpPr>
        <p:spPr>
          <a:xfrm>
            <a:off x="685800" y="320192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17" name="Shape 17"/>
          <p:cNvSpPr txBox="1"/>
          <p:nvPr/>
        </p:nvSpPr>
        <p:spPr>
          <a:xfrm>
            <a:off x="1828800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8" name="Shape 18"/>
          <p:cNvSpPr txBox="1"/>
          <p:nvPr/>
        </p:nvSpPr>
        <p:spPr>
          <a:xfrm>
            <a:off x="1828800" y="320192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19" name="Shape 19"/>
          <p:cNvSpPr txBox="1"/>
          <p:nvPr/>
        </p:nvSpPr>
        <p:spPr>
          <a:xfrm>
            <a:off x="685800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0" name="Shape 20"/>
          <p:cNvSpPr txBox="1"/>
          <p:nvPr/>
        </p:nvSpPr>
        <p:spPr>
          <a:xfrm>
            <a:off x="685800" y="359968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21" name="Shape 21"/>
          <p:cNvSpPr txBox="1"/>
          <p:nvPr/>
        </p:nvSpPr>
        <p:spPr>
          <a:xfrm>
            <a:off x="1828800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2" name="Shape 22"/>
          <p:cNvSpPr txBox="1"/>
          <p:nvPr/>
        </p:nvSpPr>
        <p:spPr>
          <a:xfrm>
            <a:off x="1828800" y="359968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23" name="Shape 23"/>
          <p:cNvSpPr txBox="1"/>
          <p:nvPr/>
        </p:nvSpPr>
        <p:spPr>
          <a:xfrm>
            <a:off x="685800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4" name="Shape 24"/>
          <p:cNvSpPr txBox="1"/>
          <p:nvPr/>
        </p:nvSpPr>
        <p:spPr>
          <a:xfrm>
            <a:off x="685800" y="39974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25" name="Shape 25"/>
          <p:cNvSpPr txBox="1"/>
          <p:nvPr/>
        </p:nvSpPr>
        <p:spPr>
          <a:xfrm>
            <a:off x="1828800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6" name="Shape 26"/>
          <p:cNvSpPr txBox="1"/>
          <p:nvPr/>
        </p:nvSpPr>
        <p:spPr>
          <a:xfrm>
            <a:off x="1828800" y="39974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4</a:t>
            </a:r>
            <a:endParaRPr lang="en-US" sz="1650" dirty="0"/>
          </a:p>
        </p:txBody>
      </p:sp>
      <p:sp>
        <p:nvSpPr>
          <p:cNvPr id="27" name="Shape 27"/>
          <p:cNvSpPr txBox="1"/>
          <p:nvPr/>
        </p:nvSpPr>
        <p:spPr>
          <a:xfrm>
            <a:off x="4419498" y="1618488"/>
            <a:ext cx="33526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Inputs × ½: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(2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1575" dirty="0"/>
          </a:p>
        </p:txBody>
      </p:sp>
      <p:sp>
        <p:nvSpPr>
          <p:cNvPr id="28" name="Shape 28"/>
          <p:cNvSpPr txBox="1"/>
          <p:nvPr/>
        </p:nvSpPr>
        <p:spPr>
          <a:xfrm>
            <a:off x="4419498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650" dirty="0"/>
          </a:p>
        </p:txBody>
      </p:sp>
      <p:sp>
        <p:nvSpPr>
          <p:cNvPr id="29" name="Shape 29"/>
          <p:cNvSpPr txBox="1"/>
          <p:nvPr/>
        </p:nvSpPr>
        <p:spPr>
          <a:xfrm>
            <a:off x="5562498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b(x)</a:t>
            </a:r>
            <a:endParaRPr lang="en-US" sz="1650" dirty="0"/>
          </a:p>
        </p:txBody>
      </p:sp>
      <p:sp>
        <p:nvSpPr>
          <p:cNvPr id="30" name="Shape 30"/>
          <p:cNvSpPr txBox="1"/>
          <p:nvPr/>
        </p:nvSpPr>
        <p:spPr>
          <a:xfrm>
            <a:off x="4419498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1" name="Shape 31"/>
          <p:cNvSpPr txBox="1"/>
          <p:nvPr/>
        </p:nvSpPr>
        <p:spPr>
          <a:xfrm>
            <a:off x="4419498" y="240639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32" name="Shape 32"/>
          <p:cNvSpPr txBox="1"/>
          <p:nvPr/>
        </p:nvSpPr>
        <p:spPr>
          <a:xfrm>
            <a:off x="5562498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3" name="Shape 33"/>
          <p:cNvSpPr txBox="1"/>
          <p:nvPr/>
        </p:nvSpPr>
        <p:spPr>
          <a:xfrm>
            <a:off x="5562498" y="240639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34" name="Shape 34"/>
          <p:cNvSpPr txBox="1"/>
          <p:nvPr/>
        </p:nvSpPr>
        <p:spPr>
          <a:xfrm>
            <a:off x="4419498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5" name="Shape 35"/>
          <p:cNvSpPr txBox="1"/>
          <p:nvPr/>
        </p:nvSpPr>
        <p:spPr>
          <a:xfrm>
            <a:off x="4419498" y="280416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−½</a:t>
            </a:r>
            <a:endParaRPr lang="en-US" sz="1650" dirty="0"/>
          </a:p>
        </p:txBody>
      </p:sp>
      <p:sp>
        <p:nvSpPr>
          <p:cNvPr id="36" name="Shape 36"/>
          <p:cNvSpPr txBox="1"/>
          <p:nvPr/>
        </p:nvSpPr>
        <p:spPr>
          <a:xfrm>
            <a:off x="5562498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7" name="Shape 37"/>
          <p:cNvSpPr txBox="1"/>
          <p:nvPr/>
        </p:nvSpPr>
        <p:spPr>
          <a:xfrm>
            <a:off x="5562498" y="280416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38" name="Shape 38"/>
          <p:cNvSpPr txBox="1"/>
          <p:nvPr/>
        </p:nvSpPr>
        <p:spPr>
          <a:xfrm>
            <a:off x="4419498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9" name="Shape 39"/>
          <p:cNvSpPr txBox="1"/>
          <p:nvPr/>
        </p:nvSpPr>
        <p:spPr>
          <a:xfrm>
            <a:off x="4419498" y="320192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40" name="Shape 40"/>
          <p:cNvSpPr txBox="1"/>
          <p:nvPr/>
        </p:nvSpPr>
        <p:spPr>
          <a:xfrm>
            <a:off x="5562498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1" name="Shape 41"/>
          <p:cNvSpPr txBox="1"/>
          <p:nvPr/>
        </p:nvSpPr>
        <p:spPr>
          <a:xfrm>
            <a:off x="5562498" y="320192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42" name="Shape 42"/>
          <p:cNvSpPr txBox="1"/>
          <p:nvPr/>
        </p:nvSpPr>
        <p:spPr>
          <a:xfrm>
            <a:off x="4419498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3" name="Shape 43"/>
          <p:cNvSpPr txBox="1"/>
          <p:nvPr/>
        </p:nvSpPr>
        <p:spPr>
          <a:xfrm>
            <a:off x="4419498" y="359968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½</a:t>
            </a:r>
            <a:endParaRPr lang="en-US" sz="1650" dirty="0"/>
          </a:p>
        </p:txBody>
      </p:sp>
      <p:sp>
        <p:nvSpPr>
          <p:cNvPr id="44" name="Shape 44"/>
          <p:cNvSpPr txBox="1"/>
          <p:nvPr/>
        </p:nvSpPr>
        <p:spPr>
          <a:xfrm>
            <a:off x="5562498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5" name="Shape 45"/>
          <p:cNvSpPr txBox="1"/>
          <p:nvPr/>
        </p:nvSpPr>
        <p:spPr>
          <a:xfrm>
            <a:off x="5562498" y="359968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46" name="Shape 46"/>
          <p:cNvSpPr txBox="1"/>
          <p:nvPr/>
        </p:nvSpPr>
        <p:spPr>
          <a:xfrm>
            <a:off x="4419498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7" name="Shape 47"/>
          <p:cNvSpPr txBox="1"/>
          <p:nvPr/>
        </p:nvSpPr>
        <p:spPr>
          <a:xfrm>
            <a:off x="4419498" y="39974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48" name="Shape 48"/>
          <p:cNvSpPr txBox="1"/>
          <p:nvPr/>
        </p:nvSpPr>
        <p:spPr>
          <a:xfrm>
            <a:off x="5562498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9" name="Shape 49"/>
          <p:cNvSpPr txBox="1"/>
          <p:nvPr/>
        </p:nvSpPr>
        <p:spPr>
          <a:xfrm>
            <a:off x="5562498" y="39974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50" name="Shape 50"/>
          <p:cNvSpPr/>
          <p:nvPr/>
        </p:nvSpPr>
        <p:spPr>
          <a:xfrm>
            <a:off x="8153197" y="1618488"/>
            <a:ext cx="28575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51" name="Line 51"/>
          <p:cNvCxnSpPr/>
          <p:nvPr/>
        </p:nvCxnSpPr>
        <p:spPr>
          <a:xfrm>
            <a:off x="8477047" y="173278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2" name="Line 52"/>
          <p:cNvCxnSpPr/>
          <p:nvPr/>
        </p:nvCxnSpPr>
        <p:spPr>
          <a:xfrm>
            <a:off x="8779466" y="173278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3" name="Line 53"/>
          <p:cNvCxnSpPr/>
          <p:nvPr/>
        </p:nvCxnSpPr>
        <p:spPr>
          <a:xfrm>
            <a:off x="9081884" y="173278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4" name="Line 54"/>
          <p:cNvCxnSpPr/>
          <p:nvPr/>
        </p:nvCxnSpPr>
        <p:spPr>
          <a:xfrm>
            <a:off x="9384303" y="173278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5" name="Line 55"/>
          <p:cNvCxnSpPr/>
          <p:nvPr/>
        </p:nvCxnSpPr>
        <p:spPr>
          <a:xfrm>
            <a:off x="9686722" y="173278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6" name="Line 56"/>
          <p:cNvCxnSpPr/>
          <p:nvPr/>
        </p:nvCxnSpPr>
        <p:spPr>
          <a:xfrm>
            <a:off x="9989141" y="173278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7" name="Line 57"/>
          <p:cNvCxnSpPr/>
          <p:nvPr/>
        </p:nvCxnSpPr>
        <p:spPr>
          <a:xfrm>
            <a:off x="10291559" y="173278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8" name="Line 58"/>
          <p:cNvCxnSpPr/>
          <p:nvPr/>
        </p:nvCxnSpPr>
        <p:spPr>
          <a:xfrm>
            <a:off x="10593978" y="173278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9" name="Line 59"/>
          <p:cNvCxnSpPr/>
          <p:nvPr/>
        </p:nvCxnSpPr>
        <p:spPr>
          <a:xfrm>
            <a:off x="10896397" y="173278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0" name="Line 60"/>
          <p:cNvCxnSpPr/>
          <p:nvPr/>
        </p:nvCxnSpPr>
        <p:spPr>
          <a:xfrm>
            <a:off x="8477047" y="4228338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1" name="Line 61"/>
          <p:cNvCxnSpPr/>
          <p:nvPr/>
        </p:nvCxnSpPr>
        <p:spPr>
          <a:xfrm>
            <a:off x="8477047" y="3978783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2" name="Line 62"/>
          <p:cNvCxnSpPr/>
          <p:nvPr/>
        </p:nvCxnSpPr>
        <p:spPr>
          <a:xfrm>
            <a:off x="8477047" y="3729228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3" name="Line 63"/>
          <p:cNvCxnSpPr/>
          <p:nvPr/>
        </p:nvCxnSpPr>
        <p:spPr>
          <a:xfrm>
            <a:off x="8477047" y="3479673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4" name="Line 64"/>
          <p:cNvCxnSpPr/>
          <p:nvPr/>
        </p:nvCxnSpPr>
        <p:spPr>
          <a:xfrm>
            <a:off x="8477047" y="3230118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5" name="Line 65"/>
          <p:cNvCxnSpPr/>
          <p:nvPr/>
        </p:nvCxnSpPr>
        <p:spPr>
          <a:xfrm>
            <a:off x="8477047" y="2980563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6" name="Line 66"/>
          <p:cNvCxnSpPr/>
          <p:nvPr/>
        </p:nvCxnSpPr>
        <p:spPr>
          <a:xfrm>
            <a:off x="8477047" y="2731008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7" name="Line 67"/>
          <p:cNvCxnSpPr/>
          <p:nvPr/>
        </p:nvCxnSpPr>
        <p:spPr>
          <a:xfrm>
            <a:off x="8477047" y="2481453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8" name="Line 68"/>
          <p:cNvCxnSpPr/>
          <p:nvPr/>
        </p:nvCxnSpPr>
        <p:spPr>
          <a:xfrm>
            <a:off x="8477047" y="2231898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9" name="Line 69"/>
          <p:cNvCxnSpPr/>
          <p:nvPr/>
        </p:nvCxnSpPr>
        <p:spPr>
          <a:xfrm>
            <a:off x="8477047" y="1982343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0" name="Line 70"/>
          <p:cNvCxnSpPr/>
          <p:nvPr/>
        </p:nvCxnSpPr>
        <p:spPr>
          <a:xfrm>
            <a:off x="8477047" y="1732788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1" name="Line 71"/>
          <p:cNvCxnSpPr/>
          <p:nvPr/>
        </p:nvCxnSpPr>
        <p:spPr>
          <a:xfrm>
            <a:off x="9686722" y="1732788"/>
            <a:ext cx="0" cy="2495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72" name="Line 72"/>
          <p:cNvCxnSpPr/>
          <p:nvPr/>
        </p:nvCxnSpPr>
        <p:spPr>
          <a:xfrm>
            <a:off x="8477047" y="2980563"/>
            <a:ext cx="24193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73" name="Shape 73"/>
          <p:cNvSpPr txBox="1"/>
          <p:nvPr/>
        </p:nvSpPr>
        <p:spPr>
          <a:xfrm>
            <a:off x="8202727" y="4247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74" name="Shape 74"/>
          <p:cNvSpPr txBox="1"/>
          <p:nvPr/>
        </p:nvSpPr>
        <p:spPr>
          <a:xfrm>
            <a:off x="8505146" y="4247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−3</a:t>
            </a:r>
            <a:endParaRPr lang="en-US" sz="975" dirty="0"/>
          </a:p>
        </p:txBody>
      </p:sp>
      <p:sp>
        <p:nvSpPr>
          <p:cNvPr id="75" name="Shape 75"/>
          <p:cNvSpPr txBox="1"/>
          <p:nvPr/>
        </p:nvSpPr>
        <p:spPr>
          <a:xfrm>
            <a:off x="8807564" y="4247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76" name="Shape 76"/>
          <p:cNvSpPr txBox="1"/>
          <p:nvPr/>
        </p:nvSpPr>
        <p:spPr>
          <a:xfrm>
            <a:off x="9109983" y="4247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</a:t>
            </a:r>
            <a:endParaRPr lang="en-US" sz="975" dirty="0"/>
          </a:p>
        </p:txBody>
      </p:sp>
      <p:sp>
        <p:nvSpPr>
          <p:cNvPr id="77" name="Shape 77"/>
          <p:cNvSpPr txBox="1"/>
          <p:nvPr/>
        </p:nvSpPr>
        <p:spPr>
          <a:xfrm>
            <a:off x="9412402" y="4247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78" name="Shape 78"/>
          <p:cNvSpPr txBox="1"/>
          <p:nvPr/>
        </p:nvSpPr>
        <p:spPr>
          <a:xfrm>
            <a:off x="9714821" y="4247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79" name="Shape 79"/>
          <p:cNvSpPr txBox="1"/>
          <p:nvPr/>
        </p:nvSpPr>
        <p:spPr>
          <a:xfrm>
            <a:off x="10017239" y="4247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80" name="Shape 80"/>
          <p:cNvSpPr txBox="1"/>
          <p:nvPr/>
        </p:nvSpPr>
        <p:spPr>
          <a:xfrm>
            <a:off x="10319658" y="4247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81" name="Shape 81"/>
          <p:cNvSpPr txBox="1"/>
          <p:nvPr/>
        </p:nvSpPr>
        <p:spPr>
          <a:xfrm>
            <a:off x="10622077" y="4247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82" name="Shape 82"/>
          <p:cNvSpPr txBox="1"/>
          <p:nvPr/>
        </p:nvSpPr>
        <p:spPr>
          <a:xfrm>
            <a:off x="7910119" y="41368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−5</a:t>
            </a:r>
            <a:endParaRPr lang="en-US" sz="975" dirty="0"/>
          </a:p>
        </p:txBody>
      </p:sp>
      <p:sp>
        <p:nvSpPr>
          <p:cNvPr id="83" name="Shape 83"/>
          <p:cNvSpPr txBox="1"/>
          <p:nvPr/>
        </p:nvSpPr>
        <p:spPr>
          <a:xfrm>
            <a:off x="7910119" y="388734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84" name="Shape 84"/>
          <p:cNvSpPr txBox="1"/>
          <p:nvPr/>
        </p:nvSpPr>
        <p:spPr>
          <a:xfrm>
            <a:off x="7910119" y="363778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−3</a:t>
            </a:r>
            <a:endParaRPr lang="en-US" sz="975" dirty="0"/>
          </a:p>
        </p:txBody>
      </p:sp>
      <p:sp>
        <p:nvSpPr>
          <p:cNvPr id="85" name="Shape 85"/>
          <p:cNvSpPr txBox="1"/>
          <p:nvPr/>
        </p:nvSpPr>
        <p:spPr>
          <a:xfrm>
            <a:off x="7910119" y="338823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86" name="Shape 86"/>
          <p:cNvSpPr txBox="1"/>
          <p:nvPr/>
        </p:nvSpPr>
        <p:spPr>
          <a:xfrm>
            <a:off x="7910119" y="313867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</a:t>
            </a:r>
            <a:endParaRPr lang="en-US" sz="975" dirty="0"/>
          </a:p>
        </p:txBody>
      </p:sp>
      <p:sp>
        <p:nvSpPr>
          <p:cNvPr id="87" name="Shape 87"/>
          <p:cNvSpPr txBox="1"/>
          <p:nvPr/>
        </p:nvSpPr>
        <p:spPr>
          <a:xfrm>
            <a:off x="7910119" y="288912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88" name="Shape 88"/>
          <p:cNvSpPr txBox="1"/>
          <p:nvPr/>
        </p:nvSpPr>
        <p:spPr>
          <a:xfrm>
            <a:off x="7910119" y="263956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89" name="Shape 89"/>
          <p:cNvSpPr txBox="1"/>
          <p:nvPr/>
        </p:nvSpPr>
        <p:spPr>
          <a:xfrm>
            <a:off x="7910119" y="239001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90" name="Shape 90"/>
          <p:cNvSpPr txBox="1"/>
          <p:nvPr/>
        </p:nvSpPr>
        <p:spPr>
          <a:xfrm>
            <a:off x="7910119" y="214045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91" name="Shape 91"/>
          <p:cNvSpPr txBox="1"/>
          <p:nvPr/>
        </p:nvSpPr>
        <p:spPr>
          <a:xfrm>
            <a:off x="7910119" y="189090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92" name="Shape 92"/>
          <p:cNvSpPr txBox="1"/>
          <p:nvPr/>
        </p:nvSpPr>
        <p:spPr>
          <a:xfrm>
            <a:off x="7910119" y="16413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</a:t>
            </a:r>
            <a:endParaRPr lang="en-US" sz="975" dirty="0"/>
          </a:p>
        </p:txBody>
      </p:sp>
      <p:cxnSp>
        <p:nvCxnSpPr>
          <p:cNvPr id="93" name="Line 93"/>
          <p:cNvCxnSpPr/>
          <p:nvPr/>
        </p:nvCxnSpPr>
        <p:spPr>
          <a:xfrm flipV="1">
            <a:off x="8477047" y="1982343"/>
            <a:ext cx="2419350" cy="199644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94" name="Shape 94"/>
          <p:cNvSpPr txBox="1"/>
          <p:nvPr/>
        </p:nvSpPr>
        <p:spPr>
          <a:xfrm>
            <a:off x="8404657" y="2001393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f(x)</a:t>
            </a:r>
            <a:endParaRPr lang="en-US" sz="1275" dirty="0"/>
          </a:p>
        </p:txBody>
      </p:sp>
      <p:cxnSp>
        <p:nvCxnSpPr>
          <p:cNvPr id="95" name="Line 95"/>
          <p:cNvCxnSpPr/>
          <p:nvPr/>
        </p:nvCxnSpPr>
        <p:spPr>
          <a:xfrm flipV="1">
            <a:off x="8930675" y="1732788"/>
            <a:ext cx="1512094" cy="2495550"/>
          </a:xfrm>
          <a:prstGeom prst="line">
            <a:avLst/>
          </a:prstGeom>
          <a:ln w="38100" cap="rnd">
            <a:solidFill>
              <a:srgbClr val="4F8A3C"/>
            </a:solidFill>
          </a:ln>
        </p:spPr>
      </p:cxnSp>
      <p:sp>
        <p:nvSpPr>
          <p:cNvPr id="96" name="Shape 96"/>
          <p:cNvSpPr txBox="1"/>
          <p:nvPr/>
        </p:nvSpPr>
        <p:spPr>
          <a:xfrm>
            <a:off x="7951029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y = 2x</a:t>
            </a:r>
            <a:endParaRPr lang="en-US" sz="1275" dirty="0"/>
          </a:p>
        </p:txBody>
      </p:sp>
      <p:sp>
        <p:nvSpPr>
          <p:cNvPr id="97" name="Shape 97"/>
          <p:cNvSpPr txBox="1"/>
          <p:nvPr/>
        </p:nvSpPr>
        <p:spPr>
          <a:xfrm>
            <a:off x="8153197" y="4571238"/>
            <a:ext cx="33526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Both are the line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2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with different tables.</a:t>
            </a:r>
            <a:endParaRPr lang="en-US" sz="1575" dirty="0"/>
          </a:p>
        </p:txBody>
      </p:sp>
      <p:sp>
        <p:nvSpPr>
          <p:cNvPr id="98" name="Slide Number 9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12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0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1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7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8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4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5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4" fill="hold">
                      <p:stCondLst>
                        <p:cond delay="indefinite"/>
                      </p:stCondLst>
                      <p:childTnLst>
                        <p:par>
                          <p:cTn id="135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1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2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1" fill="hold">
                      <p:stCondLst>
                        <p:cond delay="indefinite"/>
                      </p:stCondLst>
                      <p:childTnLst>
                        <p:par>
                          <p:cTn id="142" fill="hold">
                            <p:stCondLst>
                              <p:cond delay="0"/>
                            </p:stCondLst>
                            <p:childTnLst>
                              <p:par>
                                <p:cTn id="14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9" fill="hold">
                      <p:stCondLst>
                        <p:cond delay="indefinite"/>
                      </p:stCondLst>
                      <p:childTnLst>
                        <p:par>
                          <p:cTn id="150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4" dur="7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7" dur="7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6" fill="hold">
                      <p:stCondLst>
                        <p:cond delay="indefinite"/>
                      </p:stCondLst>
                      <p:childTnLst>
                        <p:par>
                          <p:cTn id="157" fill="hold">
                            <p:stCondLst>
                              <p:cond delay="0"/>
                            </p:stCondLst>
                            <p:childTnLst>
                              <p:par>
                                <p:cTn id="15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3" dur="5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4" dur="5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2.2 · Questions 2–3 · SE p. 296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Factors of ⅘ and 5/4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34288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Outputs × ⅘: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 = ⅘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1828800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c(x)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240639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9" name="Shape 9"/>
          <p:cNvSpPr txBox="1"/>
          <p:nvPr/>
        </p:nvSpPr>
        <p:spPr>
          <a:xfrm>
            <a:off x="1828800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0" name="Shape 10"/>
          <p:cNvSpPr txBox="1"/>
          <p:nvPr/>
        </p:nvSpPr>
        <p:spPr>
          <a:xfrm>
            <a:off x="1828800" y="240639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−8/5</a:t>
            </a:r>
            <a:endParaRPr lang="en-US" sz="1650" dirty="0"/>
          </a:p>
        </p:txBody>
      </p:sp>
      <p:sp>
        <p:nvSpPr>
          <p:cNvPr id="11" name="Shape 11"/>
          <p:cNvSpPr txBox="1"/>
          <p:nvPr/>
        </p:nvSpPr>
        <p:spPr>
          <a:xfrm>
            <a:off x="685800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2" name="Shape 12"/>
          <p:cNvSpPr txBox="1"/>
          <p:nvPr/>
        </p:nvSpPr>
        <p:spPr>
          <a:xfrm>
            <a:off x="685800" y="280416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13" name="Shape 13"/>
          <p:cNvSpPr txBox="1"/>
          <p:nvPr/>
        </p:nvSpPr>
        <p:spPr>
          <a:xfrm>
            <a:off x="1828800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4" name="Shape 14"/>
          <p:cNvSpPr txBox="1"/>
          <p:nvPr/>
        </p:nvSpPr>
        <p:spPr>
          <a:xfrm>
            <a:off x="1828800" y="280416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−4/5</a:t>
            </a:r>
            <a:endParaRPr lang="en-US" sz="1650" dirty="0"/>
          </a:p>
        </p:txBody>
      </p:sp>
      <p:sp>
        <p:nvSpPr>
          <p:cNvPr id="15" name="Shape 15"/>
          <p:cNvSpPr txBox="1"/>
          <p:nvPr/>
        </p:nvSpPr>
        <p:spPr>
          <a:xfrm>
            <a:off x="685800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6" name="Shape 16"/>
          <p:cNvSpPr txBox="1"/>
          <p:nvPr/>
        </p:nvSpPr>
        <p:spPr>
          <a:xfrm>
            <a:off x="685800" y="320192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17" name="Shape 17"/>
          <p:cNvSpPr txBox="1"/>
          <p:nvPr/>
        </p:nvSpPr>
        <p:spPr>
          <a:xfrm>
            <a:off x="1828800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8" name="Shape 18"/>
          <p:cNvSpPr txBox="1"/>
          <p:nvPr/>
        </p:nvSpPr>
        <p:spPr>
          <a:xfrm>
            <a:off x="1828800" y="320192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19" name="Shape 19"/>
          <p:cNvSpPr txBox="1"/>
          <p:nvPr/>
        </p:nvSpPr>
        <p:spPr>
          <a:xfrm>
            <a:off x="685800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0" name="Shape 20"/>
          <p:cNvSpPr txBox="1"/>
          <p:nvPr/>
        </p:nvSpPr>
        <p:spPr>
          <a:xfrm>
            <a:off x="685800" y="359968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21" name="Shape 21"/>
          <p:cNvSpPr txBox="1"/>
          <p:nvPr/>
        </p:nvSpPr>
        <p:spPr>
          <a:xfrm>
            <a:off x="1828800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2" name="Shape 22"/>
          <p:cNvSpPr txBox="1"/>
          <p:nvPr/>
        </p:nvSpPr>
        <p:spPr>
          <a:xfrm>
            <a:off x="1828800" y="359968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4/5</a:t>
            </a:r>
            <a:endParaRPr lang="en-US" sz="1650" dirty="0"/>
          </a:p>
        </p:txBody>
      </p:sp>
      <p:sp>
        <p:nvSpPr>
          <p:cNvPr id="23" name="Shape 23"/>
          <p:cNvSpPr txBox="1"/>
          <p:nvPr/>
        </p:nvSpPr>
        <p:spPr>
          <a:xfrm>
            <a:off x="685800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4" name="Shape 24"/>
          <p:cNvSpPr txBox="1"/>
          <p:nvPr/>
        </p:nvSpPr>
        <p:spPr>
          <a:xfrm>
            <a:off x="685800" y="39974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25" name="Shape 25"/>
          <p:cNvSpPr txBox="1"/>
          <p:nvPr/>
        </p:nvSpPr>
        <p:spPr>
          <a:xfrm>
            <a:off x="1828800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6" name="Shape 26"/>
          <p:cNvSpPr txBox="1"/>
          <p:nvPr/>
        </p:nvSpPr>
        <p:spPr>
          <a:xfrm>
            <a:off x="1828800" y="39974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8/5</a:t>
            </a:r>
            <a:endParaRPr lang="en-US" sz="1650" dirty="0"/>
          </a:p>
        </p:txBody>
      </p:sp>
      <p:sp>
        <p:nvSpPr>
          <p:cNvPr id="27" name="Shape 27"/>
          <p:cNvSpPr txBox="1"/>
          <p:nvPr/>
        </p:nvSpPr>
        <p:spPr>
          <a:xfrm>
            <a:off x="4381398" y="1618488"/>
            <a:ext cx="34288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Inputs × 5/4: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(⅘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1575" dirty="0"/>
          </a:p>
        </p:txBody>
      </p:sp>
      <p:sp>
        <p:nvSpPr>
          <p:cNvPr id="28" name="Shape 28"/>
          <p:cNvSpPr txBox="1"/>
          <p:nvPr/>
        </p:nvSpPr>
        <p:spPr>
          <a:xfrm>
            <a:off x="4381398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650" dirty="0"/>
          </a:p>
        </p:txBody>
      </p:sp>
      <p:sp>
        <p:nvSpPr>
          <p:cNvPr id="29" name="Shape 29"/>
          <p:cNvSpPr txBox="1"/>
          <p:nvPr/>
        </p:nvSpPr>
        <p:spPr>
          <a:xfrm>
            <a:off x="5524398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d(x)</a:t>
            </a:r>
            <a:endParaRPr lang="en-US" sz="1650" dirty="0"/>
          </a:p>
        </p:txBody>
      </p:sp>
      <p:sp>
        <p:nvSpPr>
          <p:cNvPr id="30" name="Shape 30"/>
          <p:cNvSpPr txBox="1"/>
          <p:nvPr/>
        </p:nvSpPr>
        <p:spPr>
          <a:xfrm>
            <a:off x="4381398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1" name="Shape 31"/>
          <p:cNvSpPr txBox="1"/>
          <p:nvPr/>
        </p:nvSpPr>
        <p:spPr>
          <a:xfrm>
            <a:off x="4381398" y="240639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−5/2</a:t>
            </a:r>
            <a:endParaRPr lang="en-US" sz="1650" dirty="0"/>
          </a:p>
        </p:txBody>
      </p:sp>
      <p:sp>
        <p:nvSpPr>
          <p:cNvPr id="32" name="Shape 32"/>
          <p:cNvSpPr txBox="1"/>
          <p:nvPr/>
        </p:nvSpPr>
        <p:spPr>
          <a:xfrm>
            <a:off x="5524398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3" name="Shape 33"/>
          <p:cNvSpPr txBox="1"/>
          <p:nvPr/>
        </p:nvSpPr>
        <p:spPr>
          <a:xfrm>
            <a:off x="5524398" y="240639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34" name="Shape 34"/>
          <p:cNvSpPr txBox="1"/>
          <p:nvPr/>
        </p:nvSpPr>
        <p:spPr>
          <a:xfrm>
            <a:off x="4381398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5" name="Shape 35"/>
          <p:cNvSpPr txBox="1"/>
          <p:nvPr/>
        </p:nvSpPr>
        <p:spPr>
          <a:xfrm>
            <a:off x="4381398" y="280416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−5/4</a:t>
            </a:r>
            <a:endParaRPr lang="en-US" sz="1650" dirty="0"/>
          </a:p>
        </p:txBody>
      </p:sp>
      <p:sp>
        <p:nvSpPr>
          <p:cNvPr id="36" name="Shape 36"/>
          <p:cNvSpPr txBox="1"/>
          <p:nvPr/>
        </p:nvSpPr>
        <p:spPr>
          <a:xfrm>
            <a:off x="5524398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7" name="Shape 37"/>
          <p:cNvSpPr txBox="1"/>
          <p:nvPr/>
        </p:nvSpPr>
        <p:spPr>
          <a:xfrm>
            <a:off x="5524398" y="280416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38" name="Shape 38"/>
          <p:cNvSpPr txBox="1"/>
          <p:nvPr/>
        </p:nvSpPr>
        <p:spPr>
          <a:xfrm>
            <a:off x="4381398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9" name="Shape 39"/>
          <p:cNvSpPr txBox="1"/>
          <p:nvPr/>
        </p:nvSpPr>
        <p:spPr>
          <a:xfrm>
            <a:off x="4381398" y="320192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40" name="Shape 40"/>
          <p:cNvSpPr txBox="1"/>
          <p:nvPr/>
        </p:nvSpPr>
        <p:spPr>
          <a:xfrm>
            <a:off x="5524398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1" name="Shape 41"/>
          <p:cNvSpPr txBox="1"/>
          <p:nvPr/>
        </p:nvSpPr>
        <p:spPr>
          <a:xfrm>
            <a:off x="5524398" y="320192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42" name="Shape 42"/>
          <p:cNvSpPr txBox="1"/>
          <p:nvPr/>
        </p:nvSpPr>
        <p:spPr>
          <a:xfrm>
            <a:off x="4381398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3" name="Shape 43"/>
          <p:cNvSpPr txBox="1"/>
          <p:nvPr/>
        </p:nvSpPr>
        <p:spPr>
          <a:xfrm>
            <a:off x="4381398" y="359968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5/4</a:t>
            </a:r>
            <a:endParaRPr lang="en-US" sz="1650" dirty="0"/>
          </a:p>
        </p:txBody>
      </p:sp>
      <p:sp>
        <p:nvSpPr>
          <p:cNvPr id="44" name="Shape 44"/>
          <p:cNvSpPr txBox="1"/>
          <p:nvPr/>
        </p:nvSpPr>
        <p:spPr>
          <a:xfrm>
            <a:off x="5524398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5" name="Shape 45"/>
          <p:cNvSpPr txBox="1"/>
          <p:nvPr/>
        </p:nvSpPr>
        <p:spPr>
          <a:xfrm>
            <a:off x="5524398" y="359968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46" name="Shape 46"/>
          <p:cNvSpPr txBox="1"/>
          <p:nvPr/>
        </p:nvSpPr>
        <p:spPr>
          <a:xfrm>
            <a:off x="4381398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7" name="Shape 47"/>
          <p:cNvSpPr txBox="1"/>
          <p:nvPr/>
        </p:nvSpPr>
        <p:spPr>
          <a:xfrm>
            <a:off x="4381398" y="39974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5/2</a:t>
            </a:r>
            <a:endParaRPr lang="en-US" sz="1650" dirty="0"/>
          </a:p>
        </p:txBody>
      </p:sp>
      <p:sp>
        <p:nvSpPr>
          <p:cNvPr id="48" name="Shape 48"/>
          <p:cNvSpPr txBox="1"/>
          <p:nvPr/>
        </p:nvSpPr>
        <p:spPr>
          <a:xfrm>
            <a:off x="5524398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9" name="Shape 49"/>
          <p:cNvSpPr txBox="1"/>
          <p:nvPr/>
        </p:nvSpPr>
        <p:spPr>
          <a:xfrm>
            <a:off x="5524398" y="39974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50" name="Shape 50"/>
          <p:cNvSpPr txBox="1"/>
          <p:nvPr/>
        </p:nvSpPr>
        <p:spPr>
          <a:xfrm>
            <a:off x="8076997" y="1618488"/>
            <a:ext cx="34288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Same line,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⅘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51" name="Shape 51"/>
          <p:cNvSpPr txBox="1"/>
          <p:nvPr/>
        </p:nvSpPr>
        <p:spPr>
          <a:xfrm>
            <a:off x="8076997" y="2008632"/>
            <a:ext cx="34288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For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a vertical dilation by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n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a horizontal dilation by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1/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n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54" name="Shape 54"/>
          <p:cNvSpPr txBox="1"/>
          <p:nvPr/>
        </p:nvSpPr>
        <p:spPr>
          <a:xfrm>
            <a:off x="8076997" y="2878836"/>
            <a:ext cx="3428898" cy="230809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2" name="Shape 52"/>
          <p:cNvSpPr txBox="1"/>
          <p:nvPr/>
        </p:nvSpPr>
        <p:spPr>
          <a:xfrm>
            <a:off x="8286547" y="3050286"/>
            <a:ext cx="30097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Definitions</a:t>
            </a:r>
            <a:endParaRPr lang="en-US" sz="2100" dirty="0"/>
          </a:p>
        </p:txBody>
      </p:sp>
      <p:sp>
        <p:nvSpPr>
          <p:cNvPr id="53" name="Shape 53"/>
          <p:cNvSpPr txBox="1"/>
          <p:nvPr/>
        </p:nvSpPr>
        <p:spPr>
          <a:xfrm>
            <a:off x="8286547" y="3520440"/>
            <a:ext cx="3009798" cy="1495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·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vertical, changes outputs.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horizontal, changes inputs;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|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| &gt; 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compresses,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0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|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|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stretches,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reflects across the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-axis.</a:t>
            </a:r>
            <a:endParaRPr lang="en-US" sz="1575" dirty="0"/>
          </a:p>
        </p:txBody>
      </p:sp>
      <p:sp>
        <p:nvSpPr>
          <p:cNvPr id="55" name="Slide Number 5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13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0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1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7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8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4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5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4" fill="hold">
                      <p:stCondLst>
                        <p:cond delay="indefinite"/>
                      </p:stCondLst>
                      <p:childTnLst>
                        <p:par>
                          <p:cTn id="135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1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2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1" fill="hold">
                      <p:stCondLst>
                        <p:cond delay="indefinite"/>
                      </p:stCondLst>
                      <p:childTnLst>
                        <p:par>
                          <p:cTn id="142" fill="hold">
                            <p:stCondLst>
                              <p:cond delay="0"/>
                            </p:stCondLst>
                            <p:childTnLst>
                              <p:par>
                                <p:cTn id="14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8" fill="hold">
                      <p:stCondLst>
                        <p:cond delay="indefinite"/>
                      </p:stCondLst>
                      <p:childTnLst>
                        <p:par>
                          <p:cTn id="149" fill="hold">
                            <p:stCondLst>
                              <p:cond delay="0"/>
                            </p:stCondLst>
                            <p:childTnLst>
                              <p:par>
                                <p:cTn id="14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5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6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5" fill="hold">
                      <p:stCondLst>
                        <p:cond delay="indefinite"/>
                      </p:stCondLst>
                      <p:childTnLst>
                        <p:par>
                          <p:cTn id="156" fill="hold">
                            <p:stCondLst>
                              <p:cond delay="0"/>
                            </p:stCondLst>
                            <p:childTnLst>
                              <p:par>
                                <p:cTn id="15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2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3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2.2 · Question 4 · SE p. 297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Does this hold for any linear function?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Counterexample: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2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− 1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065782"/>
            <a:ext cx="473211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b="1">
                <a:solidFill>
                  <a:srgbClr val="4F8A3C"/>
                </a:solidFill>
                <a:latin typeface="Cambria"/>
                <a:cs typeface="Cambria"/>
              </a:rPr>
              <a:t xml:space="preserve">3 · </a:t>
            </a:r>
            <a:r>
              <a:rPr lang="en-US" sz="2325" dirty="0" b="1" i="1">
                <a:solidFill>
                  <a:srgbClr val="4F8A3C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 b="1">
                <a:solidFill>
                  <a:srgbClr val="4F8A3C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b="1" i="1">
                <a:solidFill>
                  <a:srgbClr val="4F8A3C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 b="1">
                <a:solidFill>
                  <a:srgbClr val="4F8A3C"/>
                </a:solidFill>
                <a:latin typeface="Cambria"/>
                <a:cs typeface="Cambria"/>
              </a:rPr>
              <a:t xml:space="preserve">) = 6</a:t>
            </a:r>
            <a:r>
              <a:rPr lang="en-US" sz="2325" dirty="0" b="1" i="1">
                <a:solidFill>
                  <a:srgbClr val="4F8A3C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 b="1">
                <a:solidFill>
                  <a:srgbClr val="4F8A3C"/>
                </a:solidFill>
                <a:latin typeface="Cambria"/>
                <a:cs typeface="Cambria"/>
              </a:rPr>
              <a:t xml:space="preserve"> − 3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679954"/>
            <a:ext cx="4234632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b="1" i="1">
                <a:solidFill>
                  <a:srgbClr val="7A4FC4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 b="1">
                <a:solidFill>
                  <a:srgbClr val="7A4FC4"/>
                </a:solidFill>
                <a:latin typeface="Cambria"/>
                <a:cs typeface="Cambria"/>
              </a:rPr>
              <a:t xml:space="preserve">(3</a:t>
            </a:r>
            <a:r>
              <a:rPr lang="en-US" sz="2325" dirty="0" b="1" i="1">
                <a:solidFill>
                  <a:srgbClr val="7A4FC4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 b="1">
                <a:solidFill>
                  <a:srgbClr val="7A4FC4"/>
                </a:solidFill>
                <a:latin typeface="Cambria"/>
                <a:cs typeface="Cambria"/>
              </a:rPr>
              <a:t xml:space="preserve">) = 6</a:t>
            </a:r>
            <a:r>
              <a:rPr lang="en-US" sz="2325" dirty="0" b="1" i="1">
                <a:solidFill>
                  <a:srgbClr val="7A4FC4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 b="1">
                <a:solidFill>
                  <a:srgbClr val="7A4FC4"/>
                </a:solidFill>
                <a:latin typeface="Cambria"/>
                <a:cs typeface="Cambria"/>
              </a:rPr>
              <a:t xml:space="preserve"> − 1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294126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No.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The graphs are parallel, not the same. It works only for the parent function.</a:t>
            </a:r>
            <a:endParaRPr lang="en-US" sz="1575" dirty="0"/>
          </a:p>
        </p:txBody>
      </p:sp>
      <p:sp>
        <p:nvSpPr>
          <p:cNvPr id="8" name="Shape 8"/>
          <p:cNvSpPr/>
          <p:nvPr/>
        </p:nvSpPr>
        <p:spPr>
          <a:xfrm>
            <a:off x="6286348" y="1618488"/>
            <a:ext cx="3143250" cy="3238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9" name="Line 9"/>
          <p:cNvCxnSpPr/>
          <p:nvPr/>
        </p:nvCxnSpPr>
        <p:spPr>
          <a:xfrm>
            <a:off x="6610198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0" name="Line 10"/>
          <p:cNvCxnSpPr/>
          <p:nvPr/>
        </p:nvCxnSpPr>
        <p:spPr>
          <a:xfrm>
            <a:off x="6948335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7286473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7624610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7962748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8300885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8639023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8977160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9315298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6610198" y="460933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6610198" y="436962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6610198" y="4129913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6610198" y="3890200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6610198" y="36504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6610198" y="3410776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6610198" y="3171063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6610198" y="2931350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6610198" y="269163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6610198" y="2451926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6610198" y="2212213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6610198" y="1972500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6610198" y="17327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7962748" y="1732788"/>
            <a:ext cx="0" cy="2876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6610198" y="3171063"/>
            <a:ext cx="270510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33" name="Shape 33"/>
          <p:cNvSpPr txBox="1"/>
          <p:nvPr/>
        </p:nvSpPr>
        <p:spPr>
          <a:xfrm>
            <a:off x="6335878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34" name="Shape 34"/>
          <p:cNvSpPr txBox="1"/>
          <p:nvPr/>
        </p:nvSpPr>
        <p:spPr>
          <a:xfrm>
            <a:off x="6674015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−3</a:t>
            </a:r>
            <a:endParaRPr lang="en-US" sz="975" dirty="0"/>
          </a:p>
        </p:txBody>
      </p:sp>
      <p:sp>
        <p:nvSpPr>
          <p:cNvPr id="35" name="Shape 35"/>
          <p:cNvSpPr txBox="1"/>
          <p:nvPr/>
        </p:nvSpPr>
        <p:spPr>
          <a:xfrm>
            <a:off x="7012153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36" name="Shape 36"/>
          <p:cNvSpPr txBox="1"/>
          <p:nvPr/>
        </p:nvSpPr>
        <p:spPr>
          <a:xfrm>
            <a:off x="7350290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</a:t>
            </a:r>
            <a:endParaRPr lang="en-US" sz="975" dirty="0"/>
          </a:p>
        </p:txBody>
      </p:sp>
      <p:sp>
        <p:nvSpPr>
          <p:cNvPr id="37" name="Shape 37"/>
          <p:cNvSpPr txBox="1"/>
          <p:nvPr/>
        </p:nvSpPr>
        <p:spPr>
          <a:xfrm>
            <a:off x="7688428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38" name="Shape 38"/>
          <p:cNvSpPr txBox="1"/>
          <p:nvPr/>
        </p:nvSpPr>
        <p:spPr>
          <a:xfrm>
            <a:off x="8026565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39" name="Shape 39"/>
          <p:cNvSpPr txBox="1"/>
          <p:nvPr/>
        </p:nvSpPr>
        <p:spPr>
          <a:xfrm>
            <a:off x="8364703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40" name="Shape 40"/>
          <p:cNvSpPr txBox="1"/>
          <p:nvPr/>
        </p:nvSpPr>
        <p:spPr>
          <a:xfrm>
            <a:off x="8702840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41" name="Shape 41"/>
          <p:cNvSpPr txBox="1"/>
          <p:nvPr/>
        </p:nvSpPr>
        <p:spPr>
          <a:xfrm>
            <a:off x="9040978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42" name="Shape 42"/>
          <p:cNvSpPr txBox="1"/>
          <p:nvPr/>
        </p:nvSpPr>
        <p:spPr>
          <a:xfrm>
            <a:off x="6043270" y="45178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43" name="Shape 43"/>
          <p:cNvSpPr txBox="1"/>
          <p:nvPr/>
        </p:nvSpPr>
        <p:spPr>
          <a:xfrm>
            <a:off x="6043270" y="40384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44" name="Shape 44"/>
          <p:cNvSpPr txBox="1"/>
          <p:nvPr/>
        </p:nvSpPr>
        <p:spPr>
          <a:xfrm>
            <a:off x="6043270" y="35590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45" name="Shape 45"/>
          <p:cNvSpPr txBox="1"/>
          <p:nvPr/>
        </p:nvSpPr>
        <p:spPr>
          <a:xfrm>
            <a:off x="6043270" y="307962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46" name="Shape 46"/>
          <p:cNvSpPr txBox="1"/>
          <p:nvPr/>
        </p:nvSpPr>
        <p:spPr>
          <a:xfrm>
            <a:off x="6043270" y="26001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47" name="Shape 47"/>
          <p:cNvSpPr txBox="1"/>
          <p:nvPr/>
        </p:nvSpPr>
        <p:spPr>
          <a:xfrm>
            <a:off x="6043270" y="21207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48" name="Shape 48"/>
          <p:cNvSpPr txBox="1"/>
          <p:nvPr/>
        </p:nvSpPr>
        <p:spPr>
          <a:xfrm>
            <a:off x="6043270" y="16413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cxnSp>
        <p:nvCxnSpPr>
          <p:cNvPr id="49" name="Line 49"/>
          <p:cNvCxnSpPr/>
          <p:nvPr/>
        </p:nvCxnSpPr>
        <p:spPr>
          <a:xfrm flipV="1">
            <a:off x="7117404" y="1732788"/>
            <a:ext cx="2028825" cy="287655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50" name="Shape 50"/>
          <p:cNvSpPr txBox="1"/>
          <p:nvPr/>
        </p:nvSpPr>
        <p:spPr>
          <a:xfrm>
            <a:off x="6654489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m(x)</a:t>
            </a:r>
            <a:endParaRPr lang="en-US" sz="1275" dirty="0"/>
          </a:p>
        </p:txBody>
      </p:sp>
      <p:cxnSp>
        <p:nvCxnSpPr>
          <p:cNvPr id="51" name="Line 51"/>
          <p:cNvCxnSpPr/>
          <p:nvPr/>
        </p:nvCxnSpPr>
        <p:spPr>
          <a:xfrm flipV="1">
            <a:off x="7793679" y="1732788"/>
            <a:ext cx="676275" cy="2876550"/>
          </a:xfrm>
          <a:prstGeom prst="line">
            <a:avLst/>
          </a:prstGeom>
          <a:ln w="38100" cap="rnd">
            <a:solidFill>
              <a:srgbClr val="4F8A3C"/>
            </a:solidFill>
          </a:ln>
        </p:spPr>
      </p:cxnSp>
      <p:cxnSp>
        <p:nvCxnSpPr>
          <p:cNvPr id="52" name="Line 52"/>
          <p:cNvCxnSpPr/>
          <p:nvPr/>
        </p:nvCxnSpPr>
        <p:spPr>
          <a:xfrm flipV="1">
            <a:off x="7680966" y="1732788"/>
            <a:ext cx="676275" cy="2876550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53" name="Slide Number 53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14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7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7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2.3 · Graphing Linear Transformations · SE pp. 298–300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Describe each transformation of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618488"/>
            <a:ext cx="3492398" cy="2076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1.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 − 7)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Right 7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650236"/>
            <a:ext cx="30732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− 7</a:t>
            </a:r>
            <a:endParaRPr lang="en-US" sz="2325" dirty="0"/>
          </a:p>
        </p:txBody>
      </p:sp>
      <p:sp>
        <p:nvSpPr>
          <p:cNvPr id="11" name="Shape 11"/>
          <p:cNvSpPr txBox="1"/>
          <p:nvPr/>
        </p:nvSpPr>
        <p:spPr>
          <a:xfrm>
            <a:off x="4349648" y="1618488"/>
            <a:ext cx="3492398" cy="2076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4559198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2.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3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4559198" y="2260092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Vertical stretch by 3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4559198" y="2650236"/>
            <a:ext cx="30732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2325" dirty="0"/>
          </a:p>
        </p:txBody>
      </p:sp>
      <p:sp>
        <p:nvSpPr>
          <p:cNvPr id="15" name="Shape 15"/>
          <p:cNvSpPr txBox="1"/>
          <p:nvPr/>
        </p:nvSpPr>
        <p:spPr>
          <a:xfrm>
            <a:off x="8013497" y="1618488"/>
            <a:ext cx="3492398" cy="2076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2" name="Shape 12"/>
          <p:cNvSpPr txBox="1"/>
          <p:nvPr/>
        </p:nvSpPr>
        <p:spPr>
          <a:xfrm>
            <a:off x="8223047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3.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+ 2</a:t>
            </a:r>
            <a:endParaRPr lang="en-US" sz="2100" dirty="0"/>
          </a:p>
        </p:txBody>
      </p:sp>
      <p:sp>
        <p:nvSpPr>
          <p:cNvPr id="13" name="Shape 13"/>
          <p:cNvSpPr txBox="1"/>
          <p:nvPr/>
        </p:nvSpPr>
        <p:spPr>
          <a:xfrm>
            <a:off x="8223047" y="2260092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Up 2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8223047" y="2650236"/>
            <a:ext cx="30732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+ 2</a:t>
            </a:r>
            <a:endParaRPr lang="en-US" sz="2325" dirty="0"/>
          </a:p>
        </p:txBody>
      </p:sp>
      <p:sp>
        <p:nvSpPr>
          <p:cNvPr id="19" name="Shape 19"/>
          <p:cNvSpPr txBox="1"/>
          <p:nvPr/>
        </p:nvSpPr>
        <p:spPr>
          <a:xfrm>
            <a:off x="685800" y="3828288"/>
            <a:ext cx="3492398" cy="2076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6" name="Shape 16"/>
          <p:cNvSpPr txBox="1"/>
          <p:nvPr/>
        </p:nvSpPr>
        <p:spPr>
          <a:xfrm>
            <a:off x="895350" y="39997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4.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(½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100" dirty="0"/>
          </a:p>
        </p:txBody>
      </p:sp>
      <p:sp>
        <p:nvSpPr>
          <p:cNvPr id="17" name="Shape 17"/>
          <p:cNvSpPr txBox="1"/>
          <p:nvPr/>
        </p:nvSpPr>
        <p:spPr>
          <a:xfrm>
            <a:off x="895350" y="4469892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Horizontal stretch by 2</a:t>
            </a:r>
            <a:endParaRPr lang="en-US" sz="1575" dirty="0"/>
          </a:p>
        </p:txBody>
      </p:sp>
      <p:sp>
        <p:nvSpPr>
          <p:cNvPr id="18" name="Shape 18"/>
          <p:cNvSpPr txBox="1"/>
          <p:nvPr/>
        </p:nvSpPr>
        <p:spPr>
          <a:xfrm>
            <a:off x="895350" y="4860036"/>
            <a:ext cx="30732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½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2325" dirty="0"/>
          </a:p>
        </p:txBody>
      </p:sp>
      <p:sp>
        <p:nvSpPr>
          <p:cNvPr id="23" name="Shape 23"/>
          <p:cNvSpPr txBox="1"/>
          <p:nvPr/>
        </p:nvSpPr>
        <p:spPr>
          <a:xfrm>
            <a:off x="4349648" y="3828288"/>
            <a:ext cx="3492398" cy="2076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20" name="Shape 20"/>
          <p:cNvSpPr txBox="1"/>
          <p:nvPr/>
        </p:nvSpPr>
        <p:spPr>
          <a:xfrm>
            <a:off x="4559198" y="39997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5.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− 4</a:t>
            </a:r>
            <a:endParaRPr lang="en-US" sz="2100" dirty="0"/>
          </a:p>
        </p:txBody>
      </p:sp>
      <p:sp>
        <p:nvSpPr>
          <p:cNvPr id="21" name="Shape 21"/>
          <p:cNvSpPr txBox="1"/>
          <p:nvPr/>
        </p:nvSpPr>
        <p:spPr>
          <a:xfrm>
            <a:off x="4559198" y="4469892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Down 4</a:t>
            </a:r>
            <a:endParaRPr lang="en-US" sz="1575" dirty="0"/>
          </a:p>
        </p:txBody>
      </p:sp>
      <p:sp>
        <p:nvSpPr>
          <p:cNvPr id="22" name="Shape 22"/>
          <p:cNvSpPr txBox="1"/>
          <p:nvPr/>
        </p:nvSpPr>
        <p:spPr>
          <a:xfrm>
            <a:off x="4559198" y="4860036"/>
            <a:ext cx="30732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− 4</a:t>
            </a:r>
            <a:endParaRPr lang="en-US" sz="2325" dirty="0"/>
          </a:p>
        </p:txBody>
      </p:sp>
      <p:sp>
        <p:nvSpPr>
          <p:cNvPr id="27" name="Shape 27"/>
          <p:cNvSpPr txBox="1"/>
          <p:nvPr/>
        </p:nvSpPr>
        <p:spPr>
          <a:xfrm>
            <a:off x="8013497" y="3828288"/>
            <a:ext cx="3492398" cy="2076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24" name="Shape 24"/>
          <p:cNvSpPr txBox="1"/>
          <p:nvPr/>
        </p:nvSpPr>
        <p:spPr>
          <a:xfrm>
            <a:off x="8223047" y="39997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6.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 + 5)</a:t>
            </a:r>
            <a:endParaRPr lang="en-US" sz="2100" dirty="0"/>
          </a:p>
        </p:txBody>
      </p:sp>
      <p:sp>
        <p:nvSpPr>
          <p:cNvPr id="25" name="Shape 25"/>
          <p:cNvSpPr txBox="1"/>
          <p:nvPr/>
        </p:nvSpPr>
        <p:spPr>
          <a:xfrm>
            <a:off x="8223047" y="4469892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Left 5</a:t>
            </a:r>
            <a:endParaRPr lang="en-US" sz="1575" dirty="0"/>
          </a:p>
        </p:txBody>
      </p:sp>
      <p:sp>
        <p:nvSpPr>
          <p:cNvPr id="26" name="Shape 26"/>
          <p:cNvSpPr txBox="1"/>
          <p:nvPr/>
        </p:nvSpPr>
        <p:spPr>
          <a:xfrm>
            <a:off x="8223047" y="4860036"/>
            <a:ext cx="30732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+ 5</a:t>
            </a:r>
            <a:endParaRPr lang="en-US" sz="2325" dirty="0"/>
          </a:p>
        </p:txBody>
      </p:sp>
      <p:sp>
        <p:nvSpPr>
          <p:cNvPr id="28" name="Slide Number 2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15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Talk the Talk · Show Me What You've Got · SE p. 301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Match each graph to an equation in terms of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34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1618488"/>
            <a:ext cx="3492398" cy="1331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k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307329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+ 8</a:t>
            </a:r>
            <a:endParaRPr lang="en-US" sz="2325" dirty="0"/>
          </a:p>
        </p:txBody>
      </p:sp>
      <p:sp>
        <p:nvSpPr>
          <p:cNvPr id="9" name="Shape 9"/>
          <p:cNvSpPr txBox="1"/>
          <p:nvPr/>
        </p:nvSpPr>
        <p:spPr>
          <a:xfrm>
            <a:off x="4349648" y="1618488"/>
            <a:ext cx="3492398" cy="1331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4559198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h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100" dirty="0"/>
          </a:p>
        </p:txBody>
      </p:sp>
      <p:sp>
        <p:nvSpPr>
          <p:cNvPr id="8" name="Shape 8"/>
          <p:cNvSpPr txBox="1"/>
          <p:nvPr/>
        </p:nvSpPr>
        <p:spPr>
          <a:xfrm>
            <a:off x="4559198" y="2260092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325" dirty="0"/>
          </a:p>
        </p:txBody>
      </p:sp>
      <p:sp>
        <p:nvSpPr>
          <p:cNvPr id="12" name="Shape 12"/>
          <p:cNvSpPr txBox="1"/>
          <p:nvPr/>
        </p:nvSpPr>
        <p:spPr>
          <a:xfrm>
            <a:off x="8013497" y="1618488"/>
            <a:ext cx="3492398" cy="1331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0" name="Shape 10"/>
          <p:cNvSpPr txBox="1"/>
          <p:nvPr/>
        </p:nvSpPr>
        <p:spPr>
          <a:xfrm>
            <a:off x="8223047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100" dirty="0"/>
          </a:p>
        </p:txBody>
      </p:sp>
      <p:sp>
        <p:nvSpPr>
          <p:cNvPr id="11" name="Shape 11"/>
          <p:cNvSpPr txBox="1"/>
          <p:nvPr/>
        </p:nvSpPr>
        <p:spPr>
          <a:xfrm>
            <a:off x="8223047" y="2260092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(⅓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325" dirty="0"/>
          </a:p>
        </p:txBody>
      </p:sp>
      <p:sp>
        <p:nvSpPr>
          <p:cNvPr id="15" name="Shape 15"/>
          <p:cNvSpPr txBox="1"/>
          <p:nvPr/>
        </p:nvSpPr>
        <p:spPr>
          <a:xfrm>
            <a:off x="685800" y="3083814"/>
            <a:ext cx="3492398" cy="1331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3" name="Shape 13"/>
          <p:cNvSpPr txBox="1"/>
          <p:nvPr/>
        </p:nvSpPr>
        <p:spPr>
          <a:xfrm>
            <a:off x="895350" y="3255264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100" dirty="0"/>
          </a:p>
        </p:txBody>
      </p:sp>
      <p:sp>
        <p:nvSpPr>
          <p:cNvPr id="14" name="Shape 14"/>
          <p:cNvSpPr txBox="1"/>
          <p:nvPr/>
        </p:nvSpPr>
        <p:spPr>
          <a:xfrm>
            <a:off x="895350" y="3725418"/>
            <a:ext cx="307329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− 7)</a:t>
            </a:r>
            <a:endParaRPr lang="en-US" sz="23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16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Essential Question · Answered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What do horizontal transformations do?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In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·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)) +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950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b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 b="1" i="1">
                <a:solidFill>
                  <a:srgbClr val="3050B8"/>
                </a:solidFill>
                <a:latin typeface="Cambria"/>
                <a:cs typeface="Cambria"/>
              </a:rPr>
              <a:t xml:space="preserve">c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change the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inputs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(horizontal); </a:t>
            </a:r>
            <a:r>
              <a:rPr lang="en-US" sz="1950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 b="1" i="1">
                <a:solidFill>
                  <a:srgbClr val="3050B8"/>
                </a:solidFill>
                <a:latin typeface="Cambria"/>
                <a:cs typeface="Cambria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change the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outputs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(vertical).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515362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For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: right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n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= down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n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and a vertical dilation by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n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= a horizontal dilation by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1/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n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35508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For other linear functions these pairs are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not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the same.</a:t>
            </a:r>
            <a:endParaRPr lang="en-US" sz="1950" dirty="0"/>
          </a:p>
        </p:txBody>
      </p:sp>
      <p:sp>
        <p:nvSpPr>
          <p:cNvPr id="7" name="Slide Number 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17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Exit Ticket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Show what you know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+ 6)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Describe the transformation.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41982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Left 6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775204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3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+ 1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Simplify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− 2)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241548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− 5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874770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For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which vertical dilation gives the same graph as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(5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4341114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5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325" dirty="0"/>
          </a:p>
        </p:txBody>
      </p:sp>
      <p:sp>
        <p:nvSpPr>
          <p:cNvPr id="10" name="Slide Number 1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18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Prepare · SE p. 304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Determine the reciprocal of each value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1. 3</a:t>
            </a:r>
            <a:endParaRPr lang="en-US" sz="232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22932"/>
            <a:ext cx="241054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1/3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737104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3. 1/5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241548"/>
            <a:ext cx="207888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5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855720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5. −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endParaRPr lang="en-US" sz="2325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4360164"/>
            <a:ext cx="257636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−1/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286348" y="1618488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2. −10</a:t>
            </a:r>
            <a:endParaRPr lang="en-US" sz="2325" dirty="0"/>
          </a:p>
        </p:txBody>
      </p:sp>
      <p:sp>
        <p:nvSpPr>
          <p:cNvPr id="11" name="Shape 11"/>
          <p:cNvSpPr txBox="1"/>
          <p:nvPr/>
        </p:nvSpPr>
        <p:spPr>
          <a:xfrm>
            <a:off x="6286348" y="2122932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−1/10</a:t>
            </a:r>
            <a:endParaRPr lang="en-US" sz="2325" dirty="0"/>
          </a:p>
        </p:txBody>
      </p:sp>
      <p:sp>
        <p:nvSpPr>
          <p:cNvPr id="12" name="Shape 12"/>
          <p:cNvSpPr txBox="1"/>
          <p:nvPr/>
        </p:nvSpPr>
        <p:spPr>
          <a:xfrm>
            <a:off x="6286348" y="2737104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4. −5/4</a:t>
            </a:r>
            <a:endParaRPr lang="en-US" sz="2325" dirty="0"/>
          </a:p>
        </p:txBody>
      </p:sp>
      <p:sp>
        <p:nvSpPr>
          <p:cNvPr id="13" name="Shape 13"/>
          <p:cNvSpPr txBox="1"/>
          <p:nvPr/>
        </p:nvSpPr>
        <p:spPr>
          <a:xfrm>
            <a:off x="6286348" y="3241548"/>
            <a:ext cx="257636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−4/5</a:t>
            </a:r>
            <a:endParaRPr lang="en-US" sz="2325" dirty="0"/>
          </a:p>
        </p:txBody>
      </p:sp>
      <p:sp>
        <p:nvSpPr>
          <p:cNvPr id="14" name="Shape 14"/>
          <p:cNvSpPr txBox="1"/>
          <p:nvPr/>
        </p:nvSpPr>
        <p:spPr>
          <a:xfrm>
            <a:off x="6286348" y="3855720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6.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endParaRPr lang="en-US" sz="2325" dirty="0"/>
          </a:p>
        </p:txBody>
      </p:sp>
      <p:sp>
        <p:nvSpPr>
          <p:cNvPr id="15" name="Shape 15"/>
          <p:cNvSpPr txBox="1"/>
          <p:nvPr/>
        </p:nvSpPr>
        <p:spPr>
          <a:xfrm>
            <a:off x="6286348" y="4360164"/>
            <a:ext cx="241054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endParaRPr lang="en-US" sz="23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19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Practice Online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Bell Work, Homework and Quiz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808988"/>
            <a:ext cx="3378098" cy="1978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Bell work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450592"/>
            <a:ext cx="29589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Day 1 →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575" dirty="0" b="1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Day 2 →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840736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4 questions each, the same as the bell work slides. Scored when students submit.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4406798" y="1808988"/>
            <a:ext cx="3378098" cy="1588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4616348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3050B8"/>
                </a:solidFill>
                <a:latin typeface="Segoe UI"/>
                <a:cs typeface="Segoe UI"/>
                <a:hlinkClick r:id="rId5"/>
              </a:rPr>
              <a:t xml:space="preserve">Homework →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4616348" y="2450592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10 practice questions. Each answer is checked right away, with an explanation.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8127797" y="1808988"/>
            <a:ext cx="3378098" cy="1588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8337347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3050B8"/>
                </a:solidFill>
                <a:latin typeface="Segoe UI"/>
                <a:cs typeface="Segoe UI"/>
                <a:hlinkClick r:id="rId6"/>
              </a:rPr>
              <a:t xml:space="preserve">Quiz →</a:t>
            </a:r>
            <a:endParaRPr lang="en-US" sz="2100" dirty="0"/>
          </a:p>
        </p:txBody>
      </p:sp>
      <p:sp>
        <p:nvSpPr>
          <p:cNvPr id="12" name="Shape 12"/>
          <p:cNvSpPr txBox="1"/>
          <p:nvPr/>
        </p:nvSpPr>
        <p:spPr>
          <a:xfrm>
            <a:off x="8337347" y="2450592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10 questions, scored when students submit. Correct answers are shown after submitting.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685800" y="401574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All are multiple choice. The homework follows the Lesson 2 Assignment (SE pp. 303–304).</a:t>
            </a:r>
            <a:endParaRPr lang="en-US" sz="1575" dirty="0"/>
          </a:p>
        </p:txBody>
      </p:sp>
      <p:sp>
        <p:nvSpPr>
          <p:cNvPr id="15" name="Slide Number 1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20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Vertical and Horizontal Transformations of Linear Function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20</Slides>
  <Notes>20</Notes>
</Properties>
</file>

<file path=docProps/core.xml><?xml version="1.0" encoding="utf-8"?>
<cp:coreProperties xmlns:cp="http://schemas.openxmlformats.org/package/2006/metadata/core-properties" xmlns:dc="http://purl.org/dc/elements/1.1/">
  <dc:title>Vertical and Horizontal Transformations of Linear Functions</dc:title>
  <dc:subject>Bluebonnet Algebra I</dc:subject>
</cp:coreProperties>
</file>