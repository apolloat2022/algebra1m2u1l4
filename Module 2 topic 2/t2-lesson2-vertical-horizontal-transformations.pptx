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compare horizontal transformations f(x − c) and f(bx) with the vertical ones from Lesson 1. For f(x) = x, a horizontal translation right n matches a vertical translation down n, and a vertical dilation by n matches a horizontal dilation by 1/n, but these pairs do not match for other linear functions. Two days on the 150-day calendar: Day 1 Getting Started and Activity 2.1; Day 2 Activities 2.2, 2.3 and Talk the Talk.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Subtracting from the output is a vertical translation down 3. 2. In y = mx + b, m is the slope. 3. Set g(x) = 0: 3x − 8 = 0, so x = 8/3. 4. Replace f(x) with x: g(x) = 2x − 3, a vertical dilation by 2 and a translation down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5–10 minutes. To find the x-intercept, set the function equal to 0: 3x − 8 = 0 gives x = 8/3; −(2/3)x + 5 = 0 gives x = 7.5.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2.1, 30–35 minutes. A horizontal translation left 3 subtracts 3 from each input value; the outputs stay the same.Ask: Which values were affected? (Left 3 changed the inputs; up 3 changed the outputs.)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sign: f(x − 3) moves right 3, f(x + 3) moves left 3.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Teacher-guide misconception: students expect left 4 to equal up 4 for every line. It works only for slope 1. Slide typos in the student slides: some items labeled 'a.' are b, c and 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Does a translation right n always match a translation down n?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A horizontal translation right 5 subtracts 5 from the input: f(x − 5). 2. f(x − 5) = x − 5 = f(x) − 5, a vertical translation down 5. 3. 2(x + 4) − 1 = 2x + 8 − 1 = 2x + 7. 4. Right 2 means f(x − 2) = 3(x − 2). Distribute: 3x − 6.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Changing the inputs by a factor of 1/2 is a horizontal compression: each point moves halfway to the y-axis.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are the tables different if the graphs are the same? (They list different points of the same line.)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Counterexamples will vary; any linear function other than f(x) = x works.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2.3, 15–20 minutes. Graph each g(x) on the grids in the book: plot the y-intercept and use the slope. Slide typo in the student slides: items 2, 3, 5 and 6 are numbered '1.'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5 minutes. For f(x) = x, f(x) + 8 is also f(x + 8), and f(⅓x) is also ⅓f(x).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Adding to the input moves left. 2. 3(x − 2) + 1 = 3x − 5. 3. f(5x) = 5x = 5f(x).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2 Assignment. TE correction: the teacher guide gives the reciprocal of −10 as 1/10; it is −1/10, since (−10)(−1/10) = 1.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2 topic 2/t2-lesson2-bellwork-day1.html" TargetMode="External"/><Relationship Id="rId4" Type="http://schemas.openxmlformats.org/officeDocument/2006/relationships/hyperlink" Target="https://algebra1m2u1l4.vercel.app/Module 2 topic 2/t2-lesson2-bellwork-day2.html" TargetMode="External"/><Relationship Id="rId5" Type="http://schemas.openxmlformats.org/officeDocument/2006/relationships/hyperlink" Target="https://algebra1m2u1l4.vercel.app/Module 2 topic 2/t2-lesson2-homework.html" TargetMode="External"/><Relationship Id="rId6" Type="http://schemas.openxmlformats.org/officeDocument/2006/relationships/hyperlink" Target="https://algebra1m2u1l4.vercel.app/Module 2 topic 2/t2-lesson2-quiz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lgebra1m2u1l4.vercel.app/Module 2 topic 2/t2-lesson2-bellwork-day1.html" TargetMode="External"/><Relationship Id="rId4" Type="http://schemas.openxmlformats.org/officeDocument/2006/relationships/hyperlink" Target="https://algebra1m2u1l4.vercel.app/Module 2 topic 2/t2-lesson2-bellwork-day2.html" TargetMode="External"/><Relationship Id="rId5" Type="http://schemas.openxmlformats.org/officeDocument/2006/relationships/hyperlink" Target="https://algebra1m2u1l4.vercel.app/Module 2 topic 2/t2-lesson2-homework.html" TargetMode="External"/><Relationship Id="rId6" Type="http://schemas.openxmlformats.org/officeDocument/2006/relationships/hyperlink" Target="https://algebra1m2u1l4.vercel.app/Module 2 topic 2/t2-lesson2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2 · Student Edition pp. 287–304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and Horizontal Transformations of Linear Functions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c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)) +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475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How does the graph move?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3 units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Let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280)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SE p. 287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key characteristics of linear functions.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Determine the effects on the graph of a linear function when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is replaced by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287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learned the effects of vertical transformations on linear functions.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What effect do horizontal transformations have on linear functions? How do they compare to vertical transformations?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Hey, I Remember This! · SE p. 288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each function and describe its key characteristics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48712"/>
            <a:ext cx="150871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Domain, range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2194514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2194514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All real numbers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3398520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3398520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2194514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2194514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(8/3, 0)</a:t>
            </a:r>
            <a:endParaRPr lang="en-US" sz="1800" dirty="0"/>
          </a:p>
        </p:txBody>
      </p:sp>
      <p:cxnSp>
        <p:nvCxnSpPr>
          <p:cNvPr id="12" name="Line 12"/>
          <p:cNvCxnSpPr/>
          <p:nvPr/>
        </p:nvCxnSpPr>
        <p:spPr>
          <a:xfrm>
            <a:off x="685800" y="3874008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3" name="Shape 13"/>
          <p:cNvSpPr txBox="1"/>
          <p:nvPr/>
        </p:nvSpPr>
        <p:spPr>
          <a:xfrm>
            <a:off x="685800" y="3874008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2194514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2194514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−8)</a:t>
            </a:r>
            <a:endParaRPr lang="en-US" sz="1800" dirty="0"/>
          </a:p>
        </p:txBody>
      </p:sp>
      <p:cxnSp>
        <p:nvCxnSpPr>
          <p:cNvPr id="16" name="Line 16"/>
          <p:cNvCxnSpPr/>
          <p:nvPr/>
        </p:nvCxnSpPr>
        <p:spPr>
          <a:xfrm>
            <a:off x="685800" y="4349496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7" name="Shape 17"/>
          <p:cNvSpPr txBox="1"/>
          <p:nvPr/>
        </p:nvSpPr>
        <p:spPr>
          <a:xfrm>
            <a:off x="685800" y="4349496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2194514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2194514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3, increasing</a:t>
            </a:r>
            <a:endParaRPr lang="en-US" sz="1800" dirty="0"/>
          </a:p>
        </p:txBody>
      </p:sp>
      <p:cxnSp>
        <p:nvCxnSpPr>
          <p:cNvPr id="20" name="Line 20"/>
          <p:cNvCxnSpPr/>
          <p:nvPr/>
        </p:nvCxnSpPr>
        <p:spPr>
          <a:xfrm>
            <a:off x="685800" y="4824984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1" name="Shape 21"/>
          <p:cNvSpPr txBox="1"/>
          <p:nvPr/>
        </p:nvSpPr>
        <p:spPr>
          <a:xfrm>
            <a:off x="4419498" y="214426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4419498" y="2648712"/>
            <a:ext cx="150871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Domain, range</a:t>
            </a:r>
            <a:endParaRPr lang="en-US" sz="1800" dirty="0"/>
          </a:p>
        </p:txBody>
      </p:sp>
      <p:sp>
        <p:nvSpPr>
          <p:cNvPr id="23" name="Shape 23"/>
          <p:cNvSpPr txBox="1"/>
          <p:nvPr/>
        </p:nvSpPr>
        <p:spPr>
          <a:xfrm>
            <a:off x="5928213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4" name="Shape 24"/>
          <p:cNvSpPr txBox="1"/>
          <p:nvPr/>
        </p:nvSpPr>
        <p:spPr>
          <a:xfrm>
            <a:off x="5928213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All real numbers</a:t>
            </a:r>
            <a:endParaRPr lang="en-US" sz="1800" dirty="0"/>
          </a:p>
        </p:txBody>
      </p:sp>
      <p:cxnSp>
        <p:nvCxnSpPr>
          <p:cNvPr id="25" name="Line 25"/>
          <p:cNvCxnSpPr/>
          <p:nvPr/>
        </p:nvCxnSpPr>
        <p:spPr>
          <a:xfrm>
            <a:off x="4419498" y="3398520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6" name="Shape 26"/>
          <p:cNvSpPr txBox="1"/>
          <p:nvPr/>
        </p:nvSpPr>
        <p:spPr>
          <a:xfrm>
            <a:off x="4419498" y="3398520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27" name="Shape 27"/>
          <p:cNvSpPr txBox="1"/>
          <p:nvPr/>
        </p:nvSpPr>
        <p:spPr>
          <a:xfrm>
            <a:off x="5928213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5928213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(7.5, 0)</a:t>
            </a:r>
            <a:endParaRPr lang="en-US" sz="1800" dirty="0"/>
          </a:p>
        </p:txBody>
      </p:sp>
      <p:cxnSp>
        <p:nvCxnSpPr>
          <p:cNvPr id="29" name="Line 29"/>
          <p:cNvCxnSpPr/>
          <p:nvPr/>
        </p:nvCxnSpPr>
        <p:spPr>
          <a:xfrm>
            <a:off x="4419498" y="3874008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0" name="Shape 30"/>
          <p:cNvSpPr txBox="1"/>
          <p:nvPr/>
        </p:nvSpPr>
        <p:spPr>
          <a:xfrm>
            <a:off x="4419498" y="3874008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31" name="Shape 31"/>
          <p:cNvSpPr txBox="1"/>
          <p:nvPr/>
        </p:nvSpPr>
        <p:spPr>
          <a:xfrm>
            <a:off x="5928213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32" name="Shape 32"/>
          <p:cNvSpPr txBox="1"/>
          <p:nvPr/>
        </p:nvSpPr>
        <p:spPr>
          <a:xfrm>
            <a:off x="5928213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(0, 5)</a:t>
            </a:r>
            <a:endParaRPr lang="en-US" sz="1800" dirty="0"/>
          </a:p>
        </p:txBody>
      </p:sp>
      <p:cxnSp>
        <p:nvCxnSpPr>
          <p:cNvPr id="33" name="Line 33"/>
          <p:cNvCxnSpPr/>
          <p:nvPr/>
        </p:nvCxnSpPr>
        <p:spPr>
          <a:xfrm>
            <a:off x="4419498" y="4349496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4" name="Shape 34"/>
          <p:cNvSpPr txBox="1"/>
          <p:nvPr/>
        </p:nvSpPr>
        <p:spPr>
          <a:xfrm>
            <a:off x="4419498" y="4349496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endParaRPr lang="en-US" sz="1800" dirty="0"/>
          </a:p>
        </p:txBody>
      </p:sp>
      <p:sp>
        <p:nvSpPr>
          <p:cNvPr id="35" name="Shape 35"/>
          <p:cNvSpPr txBox="1"/>
          <p:nvPr/>
        </p:nvSpPr>
        <p:spPr>
          <a:xfrm>
            <a:off x="5928213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36" name="Shape 36"/>
          <p:cNvSpPr txBox="1"/>
          <p:nvPr/>
        </p:nvSpPr>
        <p:spPr>
          <a:xfrm>
            <a:off x="5928213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−⅔, decreasing</a:t>
            </a:r>
            <a:endParaRPr lang="en-US" sz="1800" dirty="0"/>
          </a:p>
        </p:txBody>
      </p:sp>
      <p:cxnSp>
        <p:nvCxnSpPr>
          <p:cNvPr id="37" name="Line 37"/>
          <p:cNvCxnSpPr/>
          <p:nvPr/>
        </p:nvCxnSpPr>
        <p:spPr>
          <a:xfrm>
            <a:off x="4419498" y="4824984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8" name="Shape 38"/>
          <p:cNvSpPr/>
          <p:nvPr/>
        </p:nvSpPr>
        <p:spPr>
          <a:xfrm>
            <a:off x="8153197" y="214426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39" name="Line 39"/>
          <p:cNvCxnSpPr/>
          <p:nvPr/>
        </p:nvCxnSpPr>
        <p:spPr>
          <a:xfrm>
            <a:off x="847704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62203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76703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91202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905701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920200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34699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49198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63698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978197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992696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1007195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1021694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1036193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1050693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1065192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1079691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1094190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108689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8477047" y="49446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8477047" y="47953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6461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44969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43477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41984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40492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39000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37508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36015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4523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3031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1539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0046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8554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7062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5570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77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2585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9636980" y="225856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3452368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9" name="Shape 79"/>
          <p:cNvSpPr txBox="1"/>
          <p:nvPr/>
        </p:nvSpPr>
        <p:spPr>
          <a:xfrm>
            <a:off x="820272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849271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878269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907267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36266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65264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23261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52259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1081257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48531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45547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42562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39578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36593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33609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5" name="Shape 95"/>
          <p:cNvSpPr txBox="1"/>
          <p:nvPr/>
        </p:nvSpPr>
        <p:spPr>
          <a:xfrm>
            <a:off x="7910119" y="30624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6" name="Shape 96"/>
          <p:cNvSpPr txBox="1"/>
          <p:nvPr/>
        </p:nvSpPr>
        <p:spPr>
          <a:xfrm>
            <a:off x="7910119" y="27640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7" name="Shape 97"/>
          <p:cNvSpPr txBox="1"/>
          <p:nvPr/>
        </p:nvSpPr>
        <p:spPr>
          <a:xfrm>
            <a:off x="7910119" y="24655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98" name="Shape 98"/>
          <p:cNvSpPr txBox="1"/>
          <p:nvPr/>
        </p:nvSpPr>
        <p:spPr>
          <a:xfrm>
            <a:off x="7910119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99" name="Line 99"/>
          <p:cNvCxnSpPr/>
          <p:nvPr/>
        </p:nvCxnSpPr>
        <p:spPr>
          <a:xfrm flipV="1">
            <a:off x="9540319" y="2258568"/>
            <a:ext cx="869950" cy="26860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100" name="Shape 100"/>
          <p:cNvSpPr txBox="1"/>
          <p:nvPr/>
        </p:nvSpPr>
        <p:spPr>
          <a:xfrm>
            <a:off x="7918529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cxnSp>
        <p:nvCxnSpPr>
          <p:cNvPr id="101" name="Line 101"/>
          <p:cNvCxnSpPr/>
          <p:nvPr/>
        </p:nvCxnSpPr>
        <p:spPr>
          <a:xfrm>
            <a:off x="8984518" y="2258568"/>
            <a:ext cx="2102379" cy="1442508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102" name="Shape 102"/>
          <p:cNvSpPr txBox="1"/>
          <p:nvPr/>
        </p:nvSpPr>
        <p:spPr>
          <a:xfrm>
            <a:off x="906071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h(x)</a:t>
            </a:r>
            <a:endParaRPr lang="en-US" sz="1275" dirty="0"/>
          </a:p>
        </p:txBody>
      </p:sp>
      <p:sp>
        <p:nvSpPr>
          <p:cNvPr id="103" name="Slide Number 10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Comparing Vertical and Horizontal Translations · SE pp. 289–290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left 3, then up 3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+ 3</a:t>
            </a:r>
            <a:endParaRPr lang="en-US" sz="1575" dirty="0"/>
          </a:p>
        </p:txBody>
      </p:sp>
      <p:sp>
        <p:nvSpPr>
          <p:cNvPr id="29" name="Shape 29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945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9120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1295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3469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56448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99945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102169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104344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6519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8694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10868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41950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7473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29965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85197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43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19566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1" name="Shape 81"/>
          <p:cNvSpPr txBox="1"/>
          <p:nvPr/>
        </p:nvSpPr>
        <p:spPr>
          <a:xfrm>
            <a:off x="82027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86377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0726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50765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3776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8125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4327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3879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3432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2536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2089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477047" y="1732788"/>
            <a:ext cx="260985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859515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7" name="Line 97"/>
          <p:cNvCxnSpPr/>
          <p:nvPr/>
        </p:nvCxnSpPr>
        <p:spPr>
          <a:xfrm flipV="1">
            <a:off x="8477047" y="1732788"/>
            <a:ext cx="1957388" cy="2014537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7942694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 = w(x)</a:t>
            </a:r>
            <a:endParaRPr lang="en-US" sz="1275" dirty="0"/>
          </a:p>
        </p:txBody>
      </p:sp>
      <p:sp>
        <p:nvSpPr>
          <p:cNvPr id="99" name="Shape 99"/>
          <p:cNvSpPr txBox="1"/>
          <p:nvPr/>
        </p:nvSpPr>
        <p:spPr>
          <a:xfrm>
            <a:off x="8153197" y="47617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but different tables.</a:t>
            </a:r>
            <a:endParaRPr lang="en-US" sz="1575" dirty="0"/>
          </a:p>
        </p:txBody>
      </p:sp>
      <p:sp>
        <p:nvSpPr>
          <p:cNvPr id="100" name="Slide Number 10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Definitions · SE p. 291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vs. vertical translations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left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up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604260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Does that work for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linear function?</a:t>
            </a:r>
            <a:endParaRPr lang="en-US" sz="1650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Questions 6–9 · SE pp. 292–294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Try it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4 and left 4: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77134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= 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− 1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9456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2 and down 2: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3578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530428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− 2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627278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 the same.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lines are parallel with different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143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8356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0610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2864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5118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7373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9627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1881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84135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6390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8644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0898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93152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7998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60814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4164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42247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03307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84138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6496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45800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266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07462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882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69124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49955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30786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1161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192447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962748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3266313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63358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7867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72375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76884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81392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85901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90409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43250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9416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35582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31748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6043270" y="279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24081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20247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60" name="Line 60"/>
          <p:cNvCxnSpPr/>
          <p:nvPr/>
        </p:nvCxnSpPr>
        <p:spPr>
          <a:xfrm flipV="1">
            <a:off x="7173760" y="1732788"/>
            <a:ext cx="1803400" cy="3067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1" name="Shape 61"/>
          <p:cNvSpPr txBox="1"/>
          <p:nvPr/>
        </p:nvSpPr>
        <p:spPr>
          <a:xfrm>
            <a:off x="648542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j(x)</a:t>
            </a:r>
            <a:endParaRPr lang="en-US" sz="12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6722910" y="1732788"/>
            <a:ext cx="1803400" cy="30670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603457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q(x)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 flipV="1">
            <a:off x="6610198" y="1732788"/>
            <a:ext cx="1465262" cy="2491978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558372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r(x)</a:t>
            </a:r>
            <a:endParaRPr lang="en-US" sz="1275" dirty="0"/>
          </a:p>
        </p:txBody>
      </p:sp>
      <p:sp>
        <p:nvSpPr>
          <p:cNvPr id="66" name="Slide Number 6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Summary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of linear functions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outside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725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sign flips.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341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match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What effect do horizontal transformations have on linear functions? How do they compare to vertical transformations?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right 5 units. Which equation is the new function?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51433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9534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 translation right 5 gives the same graph as which other translation?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291)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975098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5 units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292)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The graph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right 2 units. Which function represents the new graph?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293)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Comparing Vertical and Horizontal Dilations · SE pp. 295–296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Change the outputs or the inputs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½: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−½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/>
          <p:nvPr/>
        </p:nvSpPr>
        <p:spPr>
          <a:xfrm>
            <a:off x="8153197" y="1618488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1" name="Line 51"/>
          <p:cNvCxnSpPr/>
          <p:nvPr/>
        </p:nvCxnSpPr>
        <p:spPr>
          <a:xfrm>
            <a:off x="847704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8779466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9081884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9384303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989141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0291559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10593978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1089639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22833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397878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372922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347967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323011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273100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248145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223189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198234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17327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3" name="Shape 73"/>
          <p:cNvSpPr txBox="1"/>
          <p:nvPr/>
        </p:nvSpPr>
        <p:spPr>
          <a:xfrm>
            <a:off x="820272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05146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8807564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9109983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9412402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9714821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10017239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10319658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1062207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7910119" y="4136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7910119" y="38873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7910119" y="36377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7910119" y="338823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7910119" y="3138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7910119" y="2889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26395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239001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21404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1890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93" name="Line 93"/>
          <p:cNvCxnSpPr/>
          <p:nvPr/>
        </p:nvCxnSpPr>
        <p:spPr>
          <a:xfrm flipV="1">
            <a:off x="8477047" y="1982343"/>
            <a:ext cx="2419350" cy="199644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4" name="Shape 94"/>
          <p:cNvSpPr txBox="1"/>
          <p:nvPr/>
        </p:nvSpPr>
        <p:spPr>
          <a:xfrm>
            <a:off x="8404657" y="200139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930675" y="1732788"/>
            <a:ext cx="1512094" cy="2495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795102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2x</a:t>
            </a:r>
            <a:endParaRPr lang="en-US" sz="1275" dirty="0"/>
          </a:p>
        </p:txBody>
      </p:sp>
      <p:sp>
        <p:nvSpPr>
          <p:cNvPr id="97" name="Shape 97"/>
          <p:cNvSpPr txBox="1"/>
          <p:nvPr/>
        </p:nvSpPr>
        <p:spPr>
          <a:xfrm>
            <a:off x="8153197" y="45712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the 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with different tables.</a:t>
            </a:r>
            <a:endParaRPr lang="en-US" sz="1575" dirty="0"/>
          </a:p>
        </p:txBody>
      </p:sp>
      <p:sp>
        <p:nvSpPr>
          <p:cNvPr id="98" name="Slide Number 9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Questions 2–3 · SE p. 296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Factors of ⅘ and 5/4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⅘: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c(x)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−8/5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−4/5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4/5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8/5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381398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5/4: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381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24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d(x)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−5/4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5/4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5/2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8076997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1" name="Shape 51"/>
          <p:cNvSpPr txBox="1"/>
          <p:nvPr/>
        </p:nvSpPr>
        <p:spPr>
          <a:xfrm>
            <a:off x="8076997" y="2008632"/>
            <a:ext cx="34288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 vertical dilation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horizontal dilation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4" name="Shape 54"/>
          <p:cNvSpPr txBox="1"/>
          <p:nvPr/>
        </p:nvSpPr>
        <p:spPr>
          <a:xfrm>
            <a:off x="8076997" y="2878836"/>
            <a:ext cx="3428898" cy="2308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2" name="Shape 52"/>
          <p:cNvSpPr txBox="1"/>
          <p:nvPr/>
        </p:nvSpPr>
        <p:spPr>
          <a:xfrm>
            <a:off x="8286547" y="3050286"/>
            <a:ext cx="30097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Definitions</a:t>
            </a:r>
            <a:endParaRPr lang="en-US" sz="2100" dirty="0"/>
          </a:p>
        </p:txBody>
      </p:sp>
      <p:sp>
        <p:nvSpPr>
          <p:cNvPr id="53" name="Shape 53"/>
          <p:cNvSpPr txBox="1"/>
          <p:nvPr/>
        </p:nvSpPr>
        <p:spPr>
          <a:xfrm>
            <a:off x="8286547" y="3520440"/>
            <a:ext cx="3009798" cy="1495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vertical, changes outputs.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horizontal, changes inputs;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compresses,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stretches,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reflects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55" name="Slide Number 5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 4 · SE p. 297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this hold for any linear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Counterexample: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3 · 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) = 6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9954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(3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) = 6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9412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graphs are parallel, not the same. It works only for the parent function.</a:t>
            </a:r>
            <a:endParaRPr lang="en-US" sz="157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4833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28647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62461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9627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0088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63902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97716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3152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609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36962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1299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8902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6504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410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1710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93135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6916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4519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212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19725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962748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171063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3" name="Shape 33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67401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01215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35029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6884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2656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36470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70284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90409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038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3559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079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2600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21207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9" name="Line 49"/>
          <p:cNvCxnSpPr/>
          <p:nvPr/>
        </p:nvCxnSpPr>
        <p:spPr>
          <a:xfrm flipV="1">
            <a:off x="7117404" y="1732788"/>
            <a:ext cx="2028825" cy="2876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0" name="Shape 50"/>
          <p:cNvSpPr txBox="1"/>
          <p:nvPr/>
        </p:nvSpPr>
        <p:spPr>
          <a:xfrm>
            <a:off x="665448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2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7793679" y="1732788"/>
            <a:ext cx="676275" cy="2876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52" name="Line 52"/>
          <p:cNvCxnSpPr/>
          <p:nvPr/>
        </p:nvCxnSpPr>
        <p:spPr>
          <a:xfrm flipV="1">
            <a:off x="7680966" y="1732788"/>
            <a:ext cx="676275" cy="2876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3" name="Slide Number 5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Graphing Linear Transformations · SE pp. 298–300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stretch by 3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Horizontal stretch by 2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Show Me What You've Got · SE p. 301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Match each graph to an equation in terms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+ 8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083814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3255264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4" name="Shape 14"/>
          <p:cNvSpPr txBox="1"/>
          <p:nvPr/>
        </p:nvSpPr>
        <p:spPr>
          <a:xfrm>
            <a:off x="895350" y="3725418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 horizontal transformations do?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and a vertical dilation by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a horizontal dilation by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3550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other linear functions these pairs are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same.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+ 6)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Left 6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which vertical dilation gives the same graph as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304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Determine the reciprocal of each value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1. 3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1/3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1/5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5572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5.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60164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−10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−1/10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−5/4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241548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−4/5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85572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360164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2 Assignment (SE pp. 303–304).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ertical and Horizontal Transformations of Linear Func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20</Slides>
  <Notes>20</Notes>
</Properties>
</file>

<file path=docProps/core.xml><?xml version="1.0" encoding="utf-8"?>
<cp:coreProperties xmlns:cp="http://schemas.openxmlformats.org/package/2006/metadata/core-properties" xmlns:dc="http://purl.org/dc/elements/1.1/">
  <dc:title>Vertical and Horizontal Transformations of Linear Functions</dc:title>
  <dc:subject>Bluebonnet Algebra I</dc:subject>
</cp:coreProperties>
</file>