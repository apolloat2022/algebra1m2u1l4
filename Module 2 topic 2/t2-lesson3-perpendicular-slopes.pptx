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rotate a segment 90° at a time, prove that perpendicular lines have negative reciprocal slopes, work with horizontal and vertical lines, and write equations of perpendicular lines. Two days on the 150-day calendar: Day 1 Getting Started and Activity 3.1; Day 2 Activities 3.2, 3.3 and Talk the Talk. Materials: patty paper, straightedges.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1 bell work. Reveal the answers one at a time. Answer key: 1. Flip the fraction: ⅔ · 3/2 = 1. 2. A 90° counterclockwise rotation maps (x, y) to (−y, x). 3. Slope = (5 − 0) ÷ (8 − 0) = 5/8. 4. In y = mx + b, m = −3.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objective aloud as it appears.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write the Essential Question at the top of their notes. Don't answer it yet; we come back to it at the end of the lesson.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Started, 15–20 minutes. Patty paper helps: trace the segment and the axes, then turn the paper a quarter turn.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3.1, 20–25 minutes. Students read the three graphs in their book (SE p. 307) and write the equations.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restate each step. Question 3 asks for the same proof with a clockwise rotation: R(a, b) maps to D(b, −a), so m₂ = −a/b and again m₁ = −1/m₂.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Stamp the learning: perpendicular lines have slopes that are negative reciprocals. End of Day 1.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this, then go to the bell work while you take attendance. Afterward, have a student read the Essential Question aloud and ask two or three students to summarize Day 1: How do you find the slope of a perpendicular line?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2 bell work. Reveal the answers one at a time. Answer key: 1. Perpendicular slopes are negative reciprocals: ⅔ · (−3/2) = −1. 2. On a horizontal line y never changes, so the rise is 0. 3. Every point on a vertical line has the same x-value, here 2. 4. Negative reciprocals multiply to −1.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3.2, 15–20 minutes. Memory trick from Topic 1: HOY VUX.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8–10 assess the lesson. For more practice, assign Skills Practice Set A.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3.3, 15–20 minutes. TE wording slip: for Question 2 the teacher guide says the given slope is 3/4; it is −3/4.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teacher guide prints the slope formula with y₂ − y₁ in the denominator; it is x₂ − x₁. Its numbers are correct. For more practice, assign Skills Practice Set B.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graph in the book (SE p. 314). The x-axis counts 1 per square and the y-axis 1 per 2 squares, so the lines look perpendicular but aren't.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answer the Essential Question on the lesson opener page.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Give 3–4 minutes, collect the answers, and use them to decide who needs Skills Practice. Work: 1. Flip and change the sign. 2. Slope −1/3: 1 = −1/3(3) + b, so b = 2. 3. A vertical line keeps x the same.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Lesson 3 Assignment. In a function each input has exactly one output; in set 4 the input −1 has four outputs.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Click a title to open it in a new tab. Put the day's bell work link up as students walk in. The 150-day pacing calendar (topic2-pacing-150.html) gives the day for each homework and quiz.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Module 2 topic 2/t2-lesson3-bellwork-day1.html" TargetMode="External"/><Relationship Id="rId4" Type="http://schemas.openxmlformats.org/officeDocument/2006/relationships/hyperlink" Target="https://algebra1m2u1l4.vercel.app/Module 2 topic 2/t2-lesson3-bellwork-day2.html" TargetMode="External"/><Relationship Id="rId5" Type="http://schemas.openxmlformats.org/officeDocument/2006/relationships/hyperlink" Target="https://algebra1m2u1l4.vercel.app/Module 2 topic 2/t2-lesson3-homework.html" TargetMode="External"/><Relationship Id="rId6" Type="http://schemas.openxmlformats.org/officeDocument/2006/relationships/hyperlink" Target="https://algebra1m2u1l4.vercel.app/Module 2 topic 2/t2-lesson3-quiz.html" TargetMode="External"/><Relationship Id="rId7" Type="http://schemas.openxmlformats.org/officeDocument/2006/relationships/hyperlink" Target="https://creativecommons.org/licenses/by-nc/4.0/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algebra1m2u1l4.vercel.app/Module 2 topic 2/t2-lesson3-bellwork-day1.html" TargetMode="External"/><Relationship Id="rId4" Type="http://schemas.openxmlformats.org/officeDocument/2006/relationships/hyperlink" Target="https://algebra1m2u1l4.vercel.app/Module 2 topic 2/t2-lesson3-bellwork-day2.html" TargetMode="External"/><Relationship Id="rId5" Type="http://schemas.openxmlformats.org/officeDocument/2006/relationships/hyperlink" Target="https://algebra1m2u1l4.vercel.app/Module 2 topic 2/t2-lesson3-homework.html" TargetMode="External"/><Relationship Id="rId6" Type="http://schemas.openxmlformats.org/officeDocument/2006/relationships/hyperlink" Target="https://algebra1m2u1l4.vercel.app/Module 2 topic 2/t2-lesson3-quiz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2 · Topic 2 · Lesson 3 · Student Edition pp. 305–318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23544"/>
            <a:ext cx="10820095" cy="13350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2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Determining Slopes of Perpendicular Lines</a:t>
            </a:r>
            <a:endParaRPr lang="en-US" sz="42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506218"/>
            <a:ext cx="10820095" cy="5120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00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2550" dirty="0" b="1" baseline="-25000">
                <a:solidFill>
                  <a:srgbClr val="C9561F"/>
                </a:solidFill>
                <a:latin typeface="Cambria"/>
                <a:cs typeface="Cambria"/>
              </a:rPr>
              <a:t xml:space="preserve">1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300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2550" dirty="0" b="1" baseline="-25000">
                <a:solidFill>
                  <a:srgbClr val="C9561F"/>
                </a:solidFill>
                <a:latin typeface="Cambria"/>
                <a:cs typeface="Cambria"/>
              </a:rPr>
              <a:t xml:space="preserve">2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= −1</a:t>
            </a:r>
            <a:endParaRPr lang="en-US" sz="30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324688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| Practice: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Homework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Quiz →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74751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Click, or press → / Space, to reveal each step. ← goes back. F = full screen.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5500116"/>
            <a:ext cx="108200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 · a companion to Bluebonnet Learning Secondary Mathematics, Algebra I, Edition 1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This work is based on original works of the Texas Education Agency and Carnegie Learning, Inc. This work is made available under a Creative Commons Attribution-Non-Commercial-4.0 International License. This does not in any way imply endorsement by those authors of this work.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©2024–2025 Texas Education Agency, portions ©2021 Carnegie Learning, Inc.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Licensed </a:t>
            </a:r>
            <a:r>
              <a:rPr lang="en-US" sz="1125" dirty="0">
                <a:solidFill>
                  <a:srgbClr val="3050B8"/>
                </a:solidFill>
                <a:latin typeface="Segoe UI"/>
                <a:cs typeface="Segoe UI"/>
                <a:hlinkClick r:id="rId7"/>
              </a:rPr>
              <a:t xml:space="preserve">CC BY-NC 4.0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This is a private site for Algebra I teachers and is not publicly available.</a:t>
            </a:r>
            <a:endParaRPr lang="en-US" sz="112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is the reciprocal of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⅔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61032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3/2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4665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Rotate the point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(8, 5)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90° counterclockwise about the origin. Where does it go?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306)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026408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(−5, 8)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What is the slope of the segment from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(8, 5)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306)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5/8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What is the slope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3729228"/>
            <a:ext cx="224471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−3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3 · SE p. 305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 you will…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Identify and write the equations of lines perpendicular to given lines.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Identify and write the equations of horizontal and vertical lines.</a:t>
            </a:r>
            <a:endParaRPr lang="en-US" sz="195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SE p. 305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have translated graphs of linear equations to find the slopes of parallel lines.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525268"/>
            <a:ext cx="10820095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700" dirty="0">
                <a:solidFill>
                  <a:srgbClr val="16171D"/>
                </a:solidFill>
                <a:latin typeface="Segoe UI"/>
                <a:cs typeface="Segoe UI"/>
              </a:rPr>
              <a:t xml:space="preserve">How can you rotate the graphs of linear equations to determine the slopes of perpendicular lines?</a:t>
            </a:r>
            <a:endParaRPr lang="en-US" sz="27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Getting Started · Coordinate Rotation · SE p. 306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Rotate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(8, 5)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, about the origin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1828800" y="1618488"/>
            <a:ext cx="1420368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Original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3249168" y="1618488"/>
            <a:ext cx="1311402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90°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4560570" y="1618488"/>
            <a:ext cx="1420368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180°</a:t>
            </a: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5980938" y="1618488"/>
            <a:ext cx="1311402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270°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1828800" y="2016252"/>
            <a:ext cx="142036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3249168" y="2016252"/>
            <a:ext cx="131140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3249168" y="2016252"/>
            <a:ext cx="1311402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4560570" y="2016252"/>
            <a:ext cx="142036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4560570" y="2016252"/>
            <a:ext cx="1420368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5980938" y="2016252"/>
            <a:ext cx="131140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5980938" y="2016252"/>
            <a:ext cx="1311402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685800" y="241401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1828800" y="2414016"/>
            <a:ext cx="142036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(8, 5)</a:t>
            </a: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3249168" y="2414016"/>
            <a:ext cx="131140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3249168" y="2414016"/>
            <a:ext cx="1311402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(−5, 8)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4560570" y="2414016"/>
            <a:ext cx="142036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2" name="Shape 22"/>
          <p:cNvSpPr txBox="1"/>
          <p:nvPr/>
        </p:nvSpPr>
        <p:spPr>
          <a:xfrm>
            <a:off x="4560570" y="2414016"/>
            <a:ext cx="1420368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(−8, −5)</a:t>
            </a:r>
            <a:endParaRPr lang="en-US" sz="1650" dirty="0"/>
          </a:p>
        </p:txBody>
      </p:sp>
      <p:sp>
        <p:nvSpPr>
          <p:cNvPr id="23" name="Shape 23"/>
          <p:cNvSpPr txBox="1"/>
          <p:nvPr/>
        </p:nvSpPr>
        <p:spPr>
          <a:xfrm>
            <a:off x="5980938" y="2414016"/>
            <a:ext cx="131140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5980938" y="2414016"/>
            <a:ext cx="1311402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(5, −8)</a:t>
            </a:r>
            <a:endParaRPr lang="en-US" sz="1650" dirty="0"/>
          </a:p>
        </p:txBody>
      </p:sp>
      <p:sp>
        <p:nvSpPr>
          <p:cNvPr id="25" name="Shape 25"/>
          <p:cNvSpPr txBox="1"/>
          <p:nvPr/>
        </p:nvSpPr>
        <p:spPr>
          <a:xfrm>
            <a:off x="685800" y="2907030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Each 90° counterclockwise turn maps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A is the center, so it stays.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685800" y="353720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Slopes: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″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″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5/8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′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′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‴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‴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−8/5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27" name="Shape 27"/>
          <p:cNvSpPr txBox="1"/>
          <p:nvPr/>
        </p:nvSpPr>
        <p:spPr>
          <a:xfrm>
            <a:off x="685800" y="3927348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two slopes are reciprocals with opposite signs: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(5/8)(−8/5) = −1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28" name="Shape 28"/>
          <p:cNvSpPr/>
          <p:nvPr/>
        </p:nvSpPr>
        <p:spPr>
          <a:xfrm>
            <a:off x="6286348" y="1618488"/>
            <a:ext cx="314325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29" name="Line 29"/>
          <p:cNvCxnSpPr/>
          <p:nvPr/>
        </p:nvCxnSpPr>
        <p:spPr>
          <a:xfrm>
            <a:off x="66101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76048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91076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70610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721133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736161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75118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766218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781246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79627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811303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826331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84135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856388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871416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88644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901473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916501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93152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6610198" y="45140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6610198" y="435957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6610198" y="420505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6610198" y="40505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2" name="Line 52"/>
          <p:cNvCxnSpPr/>
          <p:nvPr/>
        </p:nvCxnSpPr>
        <p:spPr>
          <a:xfrm>
            <a:off x="6610198" y="389602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3" name="Line 53"/>
          <p:cNvCxnSpPr/>
          <p:nvPr/>
        </p:nvCxnSpPr>
        <p:spPr>
          <a:xfrm>
            <a:off x="6610198" y="374150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6610198" y="35869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6610198" y="343247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6610198" y="327795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6610198" y="31234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8" name="Line 58"/>
          <p:cNvCxnSpPr/>
          <p:nvPr/>
        </p:nvCxnSpPr>
        <p:spPr>
          <a:xfrm>
            <a:off x="6610198" y="296892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9" name="Line 59"/>
          <p:cNvCxnSpPr/>
          <p:nvPr/>
        </p:nvCxnSpPr>
        <p:spPr>
          <a:xfrm>
            <a:off x="6610198" y="281440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0" name="Line 60"/>
          <p:cNvCxnSpPr/>
          <p:nvPr/>
        </p:nvCxnSpPr>
        <p:spPr>
          <a:xfrm>
            <a:off x="6610198" y="26598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1" name="Line 61"/>
          <p:cNvCxnSpPr/>
          <p:nvPr/>
        </p:nvCxnSpPr>
        <p:spPr>
          <a:xfrm>
            <a:off x="6610198" y="250537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2" name="Line 62"/>
          <p:cNvCxnSpPr/>
          <p:nvPr/>
        </p:nvCxnSpPr>
        <p:spPr>
          <a:xfrm>
            <a:off x="6610198" y="235085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3" name="Line 63"/>
          <p:cNvCxnSpPr/>
          <p:nvPr/>
        </p:nvCxnSpPr>
        <p:spPr>
          <a:xfrm>
            <a:off x="6610198" y="21963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4" name="Line 64"/>
          <p:cNvCxnSpPr/>
          <p:nvPr/>
        </p:nvCxnSpPr>
        <p:spPr>
          <a:xfrm>
            <a:off x="6610198" y="204182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5" name="Line 65"/>
          <p:cNvCxnSpPr/>
          <p:nvPr/>
        </p:nvCxnSpPr>
        <p:spPr>
          <a:xfrm>
            <a:off x="6610198" y="188730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6" name="Line 66"/>
          <p:cNvCxnSpPr/>
          <p:nvPr/>
        </p:nvCxnSpPr>
        <p:spPr>
          <a:xfrm>
            <a:off x="6610198" y="17327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7" name="Line 67"/>
          <p:cNvCxnSpPr/>
          <p:nvPr/>
        </p:nvCxnSpPr>
        <p:spPr>
          <a:xfrm>
            <a:off x="7962748" y="1732788"/>
            <a:ext cx="0" cy="278130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68" name="Line 68"/>
          <p:cNvCxnSpPr/>
          <p:nvPr/>
        </p:nvCxnSpPr>
        <p:spPr>
          <a:xfrm>
            <a:off x="6610198" y="3123438"/>
            <a:ext cx="2705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69" name="Shape 69"/>
          <p:cNvSpPr txBox="1"/>
          <p:nvPr/>
        </p:nvSpPr>
        <p:spPr>
          <a:xfrm>
            <a:off x="63358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−9</a:t>
            </a:r>
            <a:endParaRPr lang="en-US" sz="975" dirty="0"/>
          </a:p>
        </p:txBody>
      </p:sp>
      <p:sp>
        <p:nvSpPr>
          <p:cNvPr id="70" name="Shape 70"/>
          <p:cNvSpPr txBox="1"/>
          <p:nvPr/>
        </p:nvSpPr>
        <p:spPr>
          <a:xfrm>
            <a:off x="67867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71" name="Shape 71"/>
          <p:cNvSpPr txBox="1"/>
          <p:nvPr/>
        </p:nvSpPr>
        <p:spPr>
          <a:xfrm>
            <a:off x="72375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72" name="Shape 72"/>
          <p:cNvSpPr txBox="1"/>
          <p:nvPr/>
        </p:nvSpPr>
        <p:spPr>
          <a:xfrm>
            <a:off x="76884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73" name="Shape 73"/>
          <p:cNvSpPr txBox="1"/>
          <p:nvPr/>
        </p:nvSpPr>
        <p:spPr>
          <a:xfrm>
            <a:off x="81392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74" name="Shape 74"/>
          <p:cNvSpPr txBox="1"/>
          <p:nvPr/>
        </p:nvSpPr>
        <p:spPr>
          <a:xfrm>
            <a:off x="85901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75" name="Shape 75"/>
          <p:cNvSpPr txBox="1"/>
          <p:nvPr/>
        </p:nvSpPr>
        <p:spPr>
          <a:xfrm>
            <a:off x="90409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9</a:t>
            </a:r>
            <a:endParaRPr lang="en-US" sz="975" dirty="0"/>
          </a:p>
        </p:txBody>
      </p:sp>
      <p:sp>
        <p:nvSpPr>
          <p:cNvPr id="76" name="Shape 76"/>
          <p:cNvSpPr txBox="1"/>
          <p:nvPr/>
        </p:nvSpPr>
        <p:spPr>
          <a:xfrm>
            <a:off x="6043270" y="44226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−9</a:t>
            </a:r>
            <a:endParaRPr lang="en-US" sz="975" dirty="0"/>
          </a:p>
        </p:txBody>
      </p:sp>
      <p:sp>
        <p:nvSpPr>
          <p:cNvPr id="77" name="Shape 77"/>
          <p:cNvSpPr txBox="1"/>
          <p:nvPr/>
        </p:nvSpPr>
        <p:spPr>
          <a:xfrm>
            <a:off x="6043270" y="39590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78" name="Shape 78"/>
          <p:cNvSpPr txBox="1"/>
          <p:nvPr/>
        </p:nvSpPr>
        <p:spPr>
          <a:xfrm>
            <a:off x="6043270" y="34955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79" name="Shape 79"/>
          <p:cNvSpPr txBox="1"/>
          <p:nvPr/>
        </p:nvSpPr>
        <p:spPr>
          <a:xfrm>
            <a:off x="6043270" y="30319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80" name="Shape 80"/>
          <p:cNvSpPr txBox="1"/>
          <p:nvPr/>
        </p:nvSpPr>
        <p:spPr>
          <a:xfrm>
            <a:off x="6043270" y="25684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81" name="Shape 81"/>
          <p:cNvSpPr txBox="1"/>
          <p:nvPr/>
        </p:nvSpPr>
        <p:spPr>
          <a:xfrm>
            <a:off x="6043270" y="2104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82" name="Shape 82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9</a:t>
            </a:r>
            <a:endParaRPr lang="en-US" sz="975" dirty="0"/>
          </a:p>
        </p:txBody>
      </p:sp>
      <p:cxnSp>
        <p:nvCxnSpPr>
          <p:cNvPr id="83" name="Line 83"/>
          <p:cNvCxnSpPr/>
          <p:nvPr/>
        </p:nvCxnSpPr>
        <p:spPr>
          <a:xfrm flipV="1">
            <a:off x="7962748" y="2350855"/>
            <a:ext cx="1202267" cy="772583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cxnSp>
        <p:nvCxnSpPr>
          <p:cNvPr id="84" name="Line 84"/>
          <p:cNvCxnSpPr/>
          <p:nvPr/>
        </p:nvCxnSpPr>
        <p:spPr>
          <a:xfrm>
            <a:off x="7211331" y="1887305"/>
            <a:ext cx="751417" cy="1236133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cxnSp>
        <p:nvCxnSpPr>
          <p:cNvPr id="85" name="Line 85"/>
          <p:cNvCxnSpPr/>
          <p:nvPr/>
        </p:nvCxnSpPr>
        <p:spPr>
          <a:xfrm flipV="1">
            <a:off x="6760481" y="3123438"/>
            <a:ext cx="1202267" cy="772583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cxnSp>
        <p:nvCxnSpPr>
          <p:cNvPr id="86" name="Line 86"/>
          <p:cNvCxnSpPr/>
          <p:nvPr/>
        </p:nvCxnSpPr>
        <p:spPr>
          <a:xfrm>
            <a:off x="7962748" y="3123438"/>
            <a:ext cx="751417" cy="1236133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87" name="Shape 87"/>
          <p:cNvSpPr/>
          <p:nvPr/>
        </p:nvSpPr>
        <p:spPr>
          <a:xfrm>
            <a:off x="9112627" y="2298467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8" name="Shape 88"/>
          <p:cNvSpPr txBox="1"/>
          <p:nvPr/>
        </p:nvSpPr>
        <p:spPr>
          <a:xfrm>
            <a:off x="9250739" y="2103205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B</a:t>
            </a:r>
            <a:endParaRPr lang="en-US" sz="1125" dirty="0"/>
          </a:p>
        </p:txBody>
      </p:sp>
      <p:sp>
        <p:nvSpPr>
          <p:cNvPr id="89" name="Shape 89"/>
          <p:cNvSpPr/>
          <p:nvPr/>
        </p:nvSpPr>
        <p:spPr>
          <a:xfrm>
            <a:off x="7158943" y="1834917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0" name="Shape 90"/>
          <p:cNvSpPr txBox="1"/>
          <p:nvPr/>
        </p:nvSpPr>
        <p:spPr>
          <a:xfrm>
            <a:off x="7297056" y="1639655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B′</a:t>
            </a:r>
            <a:endParaRPr lang="en-US" sz="1125" dirty="0"/>
          </a:p>
        </p:txBody>
      </p:sp>
      <p:sp>
        <p:nvSpPr>
          <p:cNvPr id="91" name="Shape 91"/>
          <p:cNvSpPr/>
          <p:nvPr/>
        </p:nvSpPr>
        <p:spPr>
          <a:xfrm>
            <a:off x="6708093" y="384363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2" name="Shape 92"/>
          <p:cNvSpPr txBox="1"/>
          <p:nvPr/>
        </p:nvSpPr>
        <p:spPr>
          <a:xfrm>
            <a:off x="6846206" y="3648371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B″</a:t>
            </a:r>
            <a:endParaRPr lang="en-US" sz="1125" dirty="0"/>
          </a:p>
        </p:txBody>
      </p:sp>
      <p:sp>
        <p:nvSpPr>
          <p:cNvPr id="93" name="Shape 93"/>
          <p:cNvSpPr/>
          <p:nvPr/>
        </p:nvSpPr>
        <p:spPr>
          <a:xfrm>
            <a:off x="8661777" y="430718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4" name="Shape 94"/>
          <p:cNvSpPr txBox="1"/>
          <p:nvPr/>
        </p:nvSpPr>
        <p:spPr>
          <a:xfrm>
            <a:off x="8799889" y="4111921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B‴</a:t>
            </a:r>
            <a:endParaRPr lang="en-US" sz="1125" dirty="0"/>
          </a:p>
        </p:txBody>
      </p:sp>
      <p:sp>
        <p:nvSpPr>
          <p:cNvPr id="95" name="Slide Number 9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3.1 · Slopes of Perpendicular Lines · SE p. 307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 line and its 90° rotation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79698" cy="19461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Pair A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74264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55998" y="1618488"/>
            <a:ext cx="3479698" cy="2654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65548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Pair B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65548" y="2260092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⅓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4565548" y="3228594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26197" y="1618488"/>
            <a:ext cx="3479698" cy="2654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35747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Pair C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35747" y="2260092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−⅔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+ 9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8235747" y="3228594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3/2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− 4</a:t>
            </a:r>
            <a:endParaRPr lang="en-US" sz="232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444474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Each line is rotated 90°, so the lines meet at a right angle: they are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7" name="Shape 17"/>
          <p:cNvSpPr txBox="1"/>
          <p:nvPr/>
        </p:nvSpPr>
        <p:spPr>
          <a:xfrm>
            <a:off x="685800" y="491109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slopes of each pair are reciprocals with opposite signs.</a:t>
            </a:r>
            <a:endParaRPr lang="en-US" sz="1575" dirty="0"/>
          </a:p>
        </p:txBody>
      </p:sp>
      <p:sp>
        <p:nvSpPr>
          <p:cNvPr id="18" name="Slide Number 1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3.1 · Worked Example · SE p. 308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Proof: perpendicular slopes are negative reciprocals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14426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Given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⊥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Point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on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10612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Rotate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90° counterclockwise about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it lands on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5983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₁ = 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/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Slope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₂ = 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/(−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669030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−1/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 = −1 · (−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19252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 = −1/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 ·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 = −1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9" name="Shape 9"/>
          <p:cNvSpPr/>
          <p:nvPr/>
        </p:nvSpPr>
        <p:spPr>
          <a:xfrm>
            <a:off x="6286348" y="2144268"/>
            <a:ext cx="32385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0" name="Line 10"/>
          <p:cNvCxnSpPr/>
          <p:nvPr/>
        </p:nvCxnSpPr>
        <p:spPr>
          <a:xfrm>
            <a:off x="661019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6890233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17026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450303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773033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8010373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29040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570443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885047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9130513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941054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6610198" y="475411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610198" y="4442174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4130230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3818287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350634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3194399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2882455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2570512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225856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7730338" y="2258568"/>
            <a:ext cx="0" cy="2495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3506343"/>
            <a:ext cx="2800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2" name="Shape 32"/>
          <p:cNvSpPr txBox="1"/>
          <p:nvPr/>
        </p:nvSpPr>
        <p:spPr>
          <a:xfrm>
            <a:off x="633587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6615913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689594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7175983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745601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7736053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801608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8296123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857615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8856193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913622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6043270" y="46626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6043270" y="435073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6043270" y="403879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6043270" y="372684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6043270" y="341490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6043270" y="310295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6043270" y="2791015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6043270" y="247907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6043270" y="216712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cxnSp>
        <p:nvCxnSpPr>
          <p:cNvPr id="52" name="Line 52"/>
          <p:cNvCxnSpPr/>
          <p:nvPr/>
        </p:nvCxnSpPr>
        <p:spPr>
          <a:xfrm flipV="1">
            <a:off x="6610198" y="2570512"/>
            <a:ext cx="2800350" cy="1559719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3" name="Shape 53"/>
          <p:cNvSpPr txBox="1"/>
          <p:nvPr/>
        </p:nvSpPr>
        <p:spPr>
          <a:xfrm>
            <a:off x="6918808" y="258956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endParaRPr lang="en-US" sz="1275" dirty="0"/>
          </a:p>
        </p:txBody>
      </p:sp>
      <p:cxnSp>
        <p:nvCxnSpPr>
          <p:cNvPr id="54" name="Line 54"/>
          <p:cNvCxnSpPr/>
          <p:nvPr/>
        </p:nvCxnSpPr>
        <p:spPr>
          <a:xfrm>
            <a:off x="7170268" y="2258568"/>
            <a:ext cx="1120140" cy="249555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55" name="Shape 55"/>
          <p:cNvSpPr txBox="1"/>
          <p:nvPr/>
        </p:nvSpPr>
        <p:spPr>
          <a:xfrm>
            <a:off x="7246468" y="227761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endParaRPr lang="en-US" sz="1275" dirty="0"/>
          </a:p>
        </p:txBody>
      </p:sp>
      <p:sp>
        <p:nvSpPr>
          <p:cNvPr id="56" name="Shape 56"/>
          <p:cNvSpPr/>
          <p:nvPr/>
        </p:nvSpPr>
        <p:spPr>
          <a:xfrm>
            <a:off x="8238020" y="3142012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7" name="Shape 57"/>
          <p:cNvSpPr txBox="1"/>
          <p:nvPr/>
        </p:nvSpPr>
        <p:spPr>
          <a:xfrm>
            <a:off x="8376133" y="2946749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R(a, b)</a:t>
            </a:r>
            <a:endParaRPr lang="en-US" sz="1125" dirty="0"/>
          </a:p>
        </p:txBody>
      </p:sp>
      <p:sp>
        <p:nvSpPr>
          <p:cNvPr id="58" name="Shape 58"/>
          <p:cNvSpPr/>
          <p:nvPr/>
        </p:nvSpPr>
        <p:spPr>
          <a:xfrm>
            <a:off x="7397915" y="2830068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9" name="Shape 59"/>
          <p:cNvSpPr txBox="1"/>
          <p:nvPr/>
        </p:nvSpPr>
        <p:spPr>
          <a:xfrm>
            <a:off x="7536028" y="2634805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D(−b, a)</a:t>
            </a:r>
            <a:endParaRPr lang="en-US" sz="1125" dirty="0"/>
          </a:p>
        </p:txBody>
      </p:sp>
      <p:sp>
        <p:nvSpPr>
          <p:cNvPr id="60" name="Slide Number 6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3.1 · Question 4 · SE p. 309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Line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⊥ line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k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. Find the slope of line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k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33526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⅔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22932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−3/2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4419498" y="1618488"/>
            <a:ext cx="33526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−⅘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4419498" y="2122932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5/4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8153197" y="1618488"/>
            <a:ext cx="33526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8153197" y="212293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⅓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2813304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Flip the fraction and change the sign. Check: the product is −1.</a:t>
            </a:r>
            <a:endParaRPr lang="en-US" sz="1575" dirty="0"/>
          </a:p>
        </p:txBody>
      </p:sp>
      <p:sp>
        <p:nvSpPr>
          <p:cNvPr id="11" name="Slide Number 11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Day 2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995928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Essential Question: How can you rotate the graphs of linear equations to determine the slopes of perpendicular lines?</a:t>
            </a:r>
            <a:endParaRPr lang="en-US" sz="2400" dirty="0"/>
          </a:p>
        </p:txBody>
      </p:sp>
      <p:sp>
        <p:nvSpPr>
          <p:cNvPr id="5" name="Slide Number 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Bell Work · Review of Day 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Line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has slope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⅔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Line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k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perpendicular to it. What is the slope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k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309)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755392"/>
            <a:ext cx="257636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−3/2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54101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What is the slope of any horizontal line?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310)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32358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Which is the equation of the vertical line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(2, −1)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311)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What is the product of the slopes of two perpendicular lines (neither vertical)?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308)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323588"/>
            <a:ext cx="224471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3.2 · Horizontal and Vertical Lines · SE pp. 310–311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Extend the segments into lines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Line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is vertical: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Lines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are horizontal: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8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12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248662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420112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</a:t>
            </a:r>
            <a:endParaRPr lang="en-US" sz="2100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90266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When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goes up 1,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doesn't change. Slope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= 0/(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 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₁) =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691890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3863340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4333494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When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goes up 1,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doesn't change. Slope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= 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 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₁)/0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undefined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1" name="Shape 11"/>
          <p:cNvSpPr/>
          <p:nvPr/>
        </p:nvSpPr>
        <p:spPr>
          <a:xfrm>
            <a:off x="6286348" y="1618488"/>
            <a:ext cx="3048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2" name="Line 12"/>
          <p:cNvCxnSpPr/>
          <p:nvPr/>
        </p:nvCxnSpPr>
        <p:spPr>
          <a:xfrm>
            <a:off x="6610198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675518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6900181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7045173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719016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7335156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7480148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762513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7770131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7915123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806011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8205106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8350098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849508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8640081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8785073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893006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9075056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9220048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44188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42696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41203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39711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6610198" y="38219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6610198" y="36727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6610198" y="35234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6610198" y="33742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6610198" y="32250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6610198" y="30758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6610198" y="29265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6610198" y="27773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6610198" y="26281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6610198" y="24789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6610198" y="23296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6610198" y="21804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6610198" y="20312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6610198" y="18820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6610198" y="17327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6755189" y="1732788"/>
            <a:ext cx="0" cy="2686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6610198" y="4269613"/>
            <a:ext cx="2609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52" name="Shape 52"/>
          <p:cNvSpPr txBox="1"/>
          <p:nvPr/>
        </p:nvSpPr>
        <p:spPr>
          <a:xfrm>
            <a:off x="6480869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7060836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7640803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8220769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8800736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16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6043270" y="41781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8" name="Shape 58"/>
          <p:cNvSpPr txBox="1"/>
          <p:nvPr/>
        </p:nvSpPr>
        <p:spPr>
          <a:xfrm>
            <a:off x="6043270" y="35812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9" name="Shape 59"/>
          <p:cNvSpPr txBox="1"/>
          <p:nvPr/>
        </p:nvSpPr>
        <p:spPr>
          <a:xfrm>
            <a:off x="6043270" y="29843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60" name="Shape 60"/>
          <p:cNvSpPr txBox="1"/>
          <p:nvPr/>
        </p:nvSpPr>
        <p:spPr>
          <a:xfrm>
            <a:off x="6043270" y="23874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</a:t>
            </a:r>
            <a:endParaRPr lang="en-US" sz="975" dirty="0"/>
          </a:p>
        </p:txBody>
      </p:sp>
      <p:sp>
        <p:nvSpPr>
          <p:cNvPr id="61" name="Shape 61"/>
          <p:cNvSpPr txBox="1"/>
          <p:nvPr/>
        </p:nvSpPr>
        <p:spPr>
          <a:xfrm>
            <a:off x="6043270" y="17905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16</a:t>
            </a:r>
            <a:endParaRPr lang="en-US" sz="975" dirty="0"/>
          </a:p>
        </p:txBody>
      </p:sp>
      <p:cxnSp>
        <p:nvCxnSpPr>
          <p:cNvPr id="62" name="Line 62"/>
          <p:cNvCxnSpPr/>
          <p:nvPr/>
        </p:nvCxnSpPr>
        <p:spPr>
          <a:xfrm flipV="1">
            <a:off x="7335156" y="1732788"/>
            <a:ext cx="0" cy="26860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63" name="Shape 63"/>
          <p:cNvSpPr txBox="1"/>
          <p:nvPr/>
        </p:nvSpPr>
        <p:spPr>
          <a:xfrm>
            <a:off x="7411356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endParaRPr lang="en-US" sz="1275" dirty="0"/>
          </a:p>
        </p:txBody>
      </p:sp>
      <p:cxnSp>
        <p:nvCxnSpPr>
          <p:cNvPr id="64" name="Line 64"/>
          <p:cNvCxnSpPr/>
          <p:nvPr/>
        </p:nvCxnSpPr>
        <p:spPr>
          <a:xfrm>
            <a:off x="6610198" y="3672713"/>
            <a:ext cx="2609850" cy="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65" name="Shape 65"/>
          <p:cNvSpPr txBox="1"/>
          <p:nvPr/>
        </p:nvSpPr>
        <p:spPr>
          <a:xfrm>
            <a:off x="6728308" y="3691763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endParaRPr lang="en-US" sz="1275" dirty="0"/>
          </a:p>
        </p:txBody>
      </p:sp>
      <p:cxnSp>
        <p:nvCxnSpPr>
          <p:cNvPr id="66" name="Line 66"/>
          <p:cNvCxnSpPr/>
          <p:nvPr/>
        </p:nvCxnSpPr>
        <p:spPr>
          <a:xfrm>
            <a:off x="6610198" y="3075813"/>
            <a:ext cx="2609850" cy="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67" name="Shape 67"/>
          <p:cNvSpPr txBox="1"/>
          <p:nvPr/>
        </p:nvSpPr>
        <p:spPr>
          <a:xfrm>
            <a:off x="6728308" y="3094863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endParaRPr lang="en-US" sz="1275" dirty="0"/>
          </a:p>
        </p:txBody>
      </p:sp>
      <p:cxnSp>
        <p:nvCxnSpPr>
          <p:cNvPr id="68" name="Line 68"/>
          <p:cNvCxnSpPr/>
          <p:nvPr/>
        </p:nvCxnSpPr>
        <p:spPr>
          <a:xfrm>
            <a:off x="6610198" y="2478913"/>
            <a:ext cx="2609850" cy="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69" name="Shape 69"/>
          <p:cNvSpPr txBox="1"/>
          <p:nvPr/>
        </p:nvSpPr>
        <p:spPr>
          <a:xfrm>
            <a:off x="6728308" y="2497963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endParaRPr lang="en-US" sz="1275" dirty="0"/>
          </a:p>
        </p:txBody>
      </p:sp>
      <p:sp>
        <p:nvSpPr>
          <p:cNvPr id="70" name="Shape 70"/>
          <p:cNvSpPr/>
          <p:nvPr/>
        </p:nvSpPr>
        <p:spPr>
          <a:xfrm>
            <a:off x="7282768" y="24265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1" name="Shape 71"/>
          <p:cNvSpPr txBox="1"/>
          <p:nvPr/>
        </p:nvSpPr>
        <p:spPr>
          <a:xfrm>
            <a:off x="7420881" y="22312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K</a:t>
            </a:r>
            <a:endParaRPr lang="en-US" sz="1125" dirty="0"/>
          </a:p>
        </p:txBody>
      </p:sp>
      <p:sp>
        <p:nvSpPr>
          <p:cNvPr id="72" name="Shape 72"/>
          <p:cNvSpPr/>
          <p:nvPr/>
        </p:nvSpPr>
        <p:spPr>
          <a:xfrm>
            <a:off x="7282768" y="30234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3" name="Shape 73"/>
          <p:cNvSpPr txBox="1"/>
          <p:nvPr/>
        </p:nvSpPr>
        <p:spPr>
          <a:xfrm>
            <a:off x="7420881" y="28281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F</a:t>
            </a:r>
            <a:endParaRPr lang="en-US" sz="1125" dirty="0"/>
          </a:p>
        </p:txBody>
      </p:sp>
      <p:sp>
        <p:nvSpPr>
          <p:cNvPr id="74" name="Shape 74"/>
          <p:cNvSpPr/>
          <p:nvPr/>
        </p:nvSpPr>
        <p:spPr>
          <a:xfrm>
            <a:off x="7282768" y="36203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5" name="Shape 75"/>
          <p:cNvSpPr txBox="1"/>
          <p:nvPr/>
        </p:nvSpPr>
        <p:spPr>
          <a:xfrm>
            <a:off x="7420881" y="34250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G</a:t>
            </a:r>
            <a:endParaRPr lang="en-US" sz="1125" dirty="0"/>
          </a:p>
        </p:txBody>
      </p:sp>
      <p:sp>
        <p:nvSpPr>
          <p:cNvPr id="76" name="Shape 76"/>
          <p:cNvSpPr/>
          <p:nvPr/>
        </p:nvSpPr>
        <p:spPr>
          <a:xfrm>
            <a:off x="8732685" y="24265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7" name="Shape 77"/>
          <p:cNvSpPr txBox="1"/>
          <p:nvPr/>
        </p:nvSpPr>
        <p:spPr>
          <a:xfrm>
            <a:off x="8870798" y="22312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L</a:t>
            </a:r>
            <a:endParaRPr lang="en-US" sz="1125" dirty="0"/>
          </a:p>
        </p:txBody>
      </p:sp>
      <p:sp>
        <p:nvSpPr>
          <p:cNvPr id="78" name="Shape 78"/>
          <p:cNvSpPr/>
          <p:nvPr/>
        </p:nvSpPr>
        <p:spPr>
          <a:xfrm>
            <a:off x="8732685" y="30234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9" name="Shape 79"/>
          <p:cNvSpPr txBox="1"/>
          <p:nvPr/>
        </p:nvSpPr>
        <p:spPr>
          <a:xfrm>
            <a:off x="8870798" y="28281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J</a:t>
            </a:r>
            <a:endParaRPr lang="en-US" sz="1125" dirty="0"/>
          </a:p>
        </p:txBody>
      </p:sp>
      <p:sp>
        <p:nvSpPr>
          <p:cNvPr id="80" name="Shape 80"/>
          <p:cNvSpPr/>
          <p:nvPr/>
        </p:nvSpPr>
        <p:spPr>
          <a:xfrm>
            <a:off x="8732685" y="36203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1" name="Shape 81"/>
          <p:cNvSpPr txBox="1"/>
          <p:nvPr/>
        </p:nvSpPr>
        <p:spPr>
          <a:xfrm>
            <a:off x="8870798" y="34250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H</a:t>
            </a:r>
            <a:endParaRPr lang="en-US" sz="1125" dirty="0"/>
          </a:p>
        </p:txBody>
      </p:sp>
      <p:sp>
        <p:nvSpPr>
          <p:cNvPr id="82" name="Slide Number 8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3.2 · Questions 6–10 · SE p. 311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Always, sometimes, or never?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All vertical lines are parallel.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Always.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Their slopes are all undefined.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39877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All horizontal lines are parallel.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78892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Always.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Their slopes are all 0.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17906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 vertical line and a horizontal line?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356920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Always perpendicular.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(2, −1)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2008632"/>
            <a:ext cx="456628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−1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286348" y="262280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⊥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(1, 0)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286348" y="3012948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0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6286348" y="362712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⊥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(5, 6)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</a:t>
            </a:r>
            <a:endParaRPr lang="en-US" sz="1575" dirty="0"/>
          </a:p>
        </p:txBody>
      </p:sp>
      <p:sp>
        <p:nvSpPr>
          <p:cNvPr id="15" name="Shape 15"/>
          <p:cNvSpPr txBox="1"/>
          <p:nvPr/>
        </p:nvSpPr>
        <p:spPr>
          <a:xfrm>
            <a:off x="6286348" y="4017264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5</a:t>
            </a:r>
            <a:endParaRPr lang="en-US" sz="2325" dirty="0"/>
          </a:p>
        </p:txBody>
      </p:sp>
      <p:sp>
        <p:nvSpPr>
          <p:cNvPr id="16" name="Slide Number 1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3.3 · Writing Equations of Perpendicular Lines · SE p. 312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Use the negative reciprocal slope and point-slope form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14426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⊥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(6, 2)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3441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−½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− 2 = −½(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− 6)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24556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286348" y="214426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2. ⊥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−¾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(3, −8)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253441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4/3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+ 8 = 4/3(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− 3)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924556"/>
            <a:ext cx="406880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4/3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− 12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3.3 · Questions 3–5 · SE pp. 312–313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First find the slope of the given line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34288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3.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(6, 2)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⊥ to the line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(−5, 3)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(−1, −9)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48662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−12/4 = −3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use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⅓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3880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⅓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4381398" y="1618488"/>
            <a:ext cx="34288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4.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(−2, 7)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⊥ to the line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(−6, 1)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(0, 4)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4381398" y="2248662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3/6 = ½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use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−2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81398" y="2638806"/>
            <a:ext cx="34288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8076997" y="1618488"/>
            <a:ext cx="34288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5. Lines meet at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(5, 9)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; one passes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(−4, 4)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8076997" y="2248662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5/9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use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−9/5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76997" y="2638806"/>
            <a:ext cx="34288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−9/5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+ 18</a:t>
            </a:r>
            <a:endParaRPr lang="en-US" sz="2325" dirty="0"/>
          </a:p>
        </p:txBody>
      </p:sp>
      <p:sp>
        <p:nvSpPr>
          <p:cNvPr id="13" name="Slide Number 1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14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Talk the Talk · Things Aren't Always What They Seem · SE p. 314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Linh or Jackson?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Linh says lines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are parallel to each other and perpendicular to lines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e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Jackson says they are parallel but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perpendicular to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e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39162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Jackson is correct.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axes use different scales.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0550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Lines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have slope 1, so they are parallel. Lines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have slope −¼.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37185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 · (−¼) ≠ −1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the slopes are not negative reciprocals, so the lines are not perpendicular.</a:t>
            </a:r>
            <a:endParaRPr lang="en-US" sz="1575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Answered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does rotation give perpendicular slopes?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 90° rotation maps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(−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so a slope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becomes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181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Perpendicular lines have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negative reciprocal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slopes: their product is −1.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6072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Any vertical line is perpendicular to any horizontal line.</a:t>
            </a:r>
            <a:endParaRPr lang="en-US" sz="19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slope is perpendicular to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−5/2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2/5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7520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Write the line ⊥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(3, 1)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41548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−⅓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747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Write the vertical line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(−4, 7)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341114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−4</a:t>
            </a:r>
            <a:endParaRPr lang="en-US" sz="2325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Prepare · SE p. 317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Does each set of ordered pairs represent a function?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144268"/>
            <a:ext cx="5267173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1. {(−1, −1), (0, 0), (1, 1), (2, 2)}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238723" y="2144268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Function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03042"/>
            <a:ext cx="5267173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2. {(−1, −2), (0, 0), (1, 2), (2, 4)}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238723" y="3003042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Function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61816"/>
            <a:ext cx="5267173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3. {(−1, −1), (0, −1), (1, −1), (2, −1)}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6238723" y="3861816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Function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4720590"/>
            <a:ext cx="5267173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4. {(−1, −1), (−1, 0), (−1, 1), (−1, 2)}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238723" y="4720590"/>
            <a:ext cx="4234632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Not a function</a:t>
            </a:r>
            <a:endParaRPr lang="en-US" sz="2325" dirty="0"/>
          </a:p>
        </p:txBody>
      </p:sp>
      <p:sp>
        <p:nvSpPr>
          <p:cNvPr id="12" name="Slide Number 12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Practice Online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Work, Homework and Quiz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08988"/>
            <a:ext cx="3378098" cy="1978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450592"/>
            <a:ext cx="29589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40736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4 questions each, the same as the bell work slides. Scored when students submit.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406798" y="1808988"/>
            <a:ext cx="33780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616348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Homework →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616348" y="2450592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10 practice questions. Each answer is checked right away, with an explanation.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8127797" y="1808988"/>
            <a:ext cx="33780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337347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Quiz →</a:t>
            </a:r>
            <a:endParaRPr lang="en-US" sz="2100" dirty="0"/>
          </a:p>
        </p:txBody>
      </p:sp>
      <p:sp>
        <p:nvSpPr>
          <p:cNvPr id="12" name="Shape 12"/>
          <p:cNvSpPr txBox="1"/>
          <p:nvPr/>
        </p:nvSpPr>
        <p:spPr>
          <a:xfrm>
            <a:off x="8337347" y="2450592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scored when students submit. Correct answers are shown after submitting.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401574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All are multiple choice. The homework follows the Lesson 3 Assignment (SE pp. 315–317).</a:t>
            </a:r>
            <a:endParaRPr lang="en-US" sz="1575" dirty="0"/>
          </a:p>
        </p:txBody>
      </p:sp>
      <p:sp>
        <p:nvSpPr>
          <p:cNvPr id="15" name="Slide Number 15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19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termining Slopes of Perpendicular Lin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19</Slides>
  <Notes>19</Notes>
</Properties>
</file>

<file path=docProps/core.xml><?xml version="1.0" encoding="utf-8"?>
<cp:coreProperties xmlns:cp="http://schemas.openxmlformats.org/package/2006/metadata/core-properties" xmlns:dc="http://purl.org/dc/elements/1.1/">
  <dc:title>Determining Slopes of Perpendicular Lines</dc:title>
  <dc:subject>Bluebonnet Algebra I</dc:subject>
</cp:coreProperties>
</file>