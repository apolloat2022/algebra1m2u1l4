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4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 id="2147483668" r:id="rId5"/>
    <p:sldMasterId id="2147483688" r:id="rId6"/>
    <p:sldMasterId id="2147483708" r:id="rId7"/>
  </p:sldMasterIdLst>
  <p:notesMasterIdLst>
    <p:notesMasterId r:id="rId53"/>
  </p:notesMasterIdLst>
  <p:sldIdLst>
    <p:sldId id="256" r:id="rId8"/>
    <p:sldId id="257" r:id="rId9"/>
    <p:sldId id="258" r:id="rId10"/>
    <p:sldId id="259" r:id="rId11"/>
    <p:sldId id="260" r:id="rId12"/>
    <p:sldId id="261" r:id="rId13"/>
    <p:sldId id="300" r:id="rId14"/>
    <p:sldId id="262" r:id="rId15"/>
    <p:sldId id="263" r:id="rId16"/>
    <p:sldId id="264" r:id="rId17"/>
    <p:sldId id="265" r:id="rId18"/>
    <p:sldId id="266" r:id="rId19"/>
    <p:sldId id="267" r:id="rId20"/>
    <p:sldId id="269" r:id="rId21"/>
    <p:sldId id="301" r:id="rId22"/>
    <p:sldId id="270" r:id="rId23"/>
    <p:sldId id="272" r:id="rId24"/>
    <p:sldId id="30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303" r:id="rId66"/>
    <p:sldId id="296" r:id="rId49"/>
    <p:sldId id="297" r:id="rId50"/>
    <p:sldId id="298" r:id="rId51"/>
    <p:sldId id="299" r:id="rId52"/>
  </p:sldIdLst>
  <p:sldSz cx="12190413" cy="6858000"/>
  <p:notesSz cx="6858000" cy="9144000"/>
  <p:embeddedFontLst>
    <p:embeddedFont>
      <p:font typeface="Cambria Math" panose="02040503050406030204" pitchFamily="18" charset="0"/>
      <p:regular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9" roundtripDataSignature="AMtx7mhmnjiLOi5Ppnsmhviu7A5qbhfvx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3535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A3754D-11DE-497B-99DB-DBC830F2583F}" v="2" dt="2025-05-28T18:59:41.328"/>
  </p1510:revLst>
</p1510:revInfo>
</file>

<file path=ppt/tableStyles.xml><?xml version="1.0" encoding="utf-8"?>
<a:tblStyleLst xmlns:a="http://schemas.openxmlformats.org/drawingml/2006/main" def="{F7D8C473-989F-46CF-8A33-2A7C700182BB}">
  <a:tblStyle styleId="{F7D8C473-989F-46CF-8A33-2A7C700182B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ABB7C7B1-2BA2-4552-A184-85BA7BCE1169}"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133" autoAdjust="0"/>
  </p:normalViewPr>
  <p:slideViewPr>
    <p:cSldViewPr snapToGrid="0">
      <p:cViewPr varScale="1">
        <p:scale>
          <a:sx n="53" d="100"/>
          <a:sy n="53" d="100"/>
        </p:scale>
        <p:origin x="1538" y="2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63"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font" Target="fonts/font1.fntdata"/><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61"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64"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customschemas.google.com/relationships/presentationmetadata" Target="metadata"/><Relationship Id="rId66" Type="http://schemas.openxmlformats.org/officeDocument/2006/relationships/slide" Target="slides/slide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E9675B3-CE13-4C2A-AA2A-7DC5ED9B423D}"/>
    <pc:docChg chg="modSld">
      <pc:chgData name="Moyer Montague, Kristina" userId="63c103e5-6141-480e-825f-260f173eba02" providerId="ADAL" clId="{DE9675B3-CE13-4C2A-AA2A-7DC5ED9B423D}" dt="2025-05-07T13:54:28.983" v="7" actId="114"/>
      <pc:docMkLst>
        <pc:docMk/>
      </pc:docMkLst>
      <pc:sldChg chg="modSp mod">
        <pc:chgData name="Moyer Montague, Kristina" userId="63c103e5-6141-480e-825f-260f173eba02" providerId="ADAL" clId="{DE9675B3-CE13-4C2A-AA2A-7DC5ED9B423D}" dt="2025-05-07T13:48:34.508" v="1" actId="6549"/>
        <pc:sldMkLst>
          <pc:docMk/>
          <pc:sldMk cId="0" sldId="261"/>
        </pc:sldMkLst>
        <pc:spChg chg="mod">
          <ac:chgData name="Moyer Montague, Kristina" userId="63c103e5-6141-480e-825f-260f173eba02" providerId="ADAL" clId="{DE9675B3-CE13-4C2A-AA2A-7DC5ED9B423D}" dt="2025-05-07T13:48:34.508" v="1" actId="6549"/>
          <ac:spMkLst>
            <pc:docMk/>
            <pc:sldMk cId="0" sldId="261"/>
            <ac:spMk id="2" creationId="{13D84506-D588-7F0E-6C79-D9ACB718E811}"/>
          </ac:spMkLst>
        </pc:spChg>
      </pc:sldChg>
      <pc:sldChg chg="modSp mod">
        <pc:chgData name="Moyer Montague, Kristina" userId="63c103e5-6141-480e-825f-260f173eba02" providerId="ADAL" clId="{DE9675B3-CE13-4C2A-AA2A-7DC5ED9B423D}" dt="2025-05-07T13:50:44.527" v="2" actId="20577"/>
        <pc:sldMkLst>
          <pc:docMk/>
          <pc:sldMk cId="0" sldId="262"/>
        </pc:sldMkLst>
        <pc:spChg chg="mod">
          <ac:chgData name="Moyer Montague, Kristina" userId="63c103e5-6141-480e-825f-260f173eba02" providerId="ADAL" clId="{DE9675B3-CE13-4C2A-AA2A-7DC5ED9B423D}" dt="2025-05-07T13:50:44.527" v="2" actId="20577"/>
          <ac:spMkLst>
            <pc:docMk/>
            <pc:sldMk cId="0" sldId="262"/>
            <ac:spMk id="3" creationId="{A1DA5E90-59FB-FF30-2BDD-07F9060D885E}"/>
          </ac:spMkLst>
        </pc:spChg>
      </pc:sldChg>
      <pc:sldChg chg="modSp">
        <pc:chgData name="Moyer Montague, Kristina" userId="63c103e5-6141-480e-825f-260f173eba02" providerId="ADAL" clId="{DE9675B3-CE13-4C2A-AA2A-7DC5ED9B423D}" dt="2025-05-07T13:53:22.353" v="6" actId="114"/>
        <pc:sldMkLst>
          <pc:docMk/>
          <pc:sldMk cId="0" sldId="267"/>
        </pc:sldMkLst>
        <pc:spChg chg="mod">
          <ac:chgData name="Moyer Montague, Kristina" userId="63c103e5-6141-480e-825f-260f173eba02" providerId="ADAL" clId="{DE9675B3-CE13-4C2A-AA2A-7DC5ED9B423D}" dt="2025-05-07T13:53:22.353" v="6" actId="114"/>
          <ac:spMkLst>
            <pc:docMk/>
            <pc:sldMk cId="0" sldId="267"/>
            <ac:spMk id="3" creationId="{881EDF44-CC55-218D-5A4F-1D03649A537A}"/>
          </ac:spMkLst>
        </pc:spChg>
      </pc:sldChg>
      <pc:sldChg chg="modSp mod">
        <pc:chgData name="Moyer Montague, Kristina" userId="63c103e5-6141-480e-825f-260f173eba02" providerId="ADAL" clId="{DE9675B3-CE13-4C2A-AA2A-7DC5ED9B423D}" dt="2025-05-07T13:54:28.983" v="7" actId="114"/>
        <pc:sldMkLst>
          <pc:docMk/>
          <pc:sldMk cId="0" sldId="272"/>
        </pc:sldMkLst>
        <pc:spChg chg="mod">
          <ac:chgData name="Moyer Montague, Kristina" userId="63c103e5-6141-480e-825f-260f173eba02" providerId="ADAL" clId="{DE9675B3-CE13-4C2A-AA2A-7DC5ED9B423D}" dt="2025-05-07T13:54:28.983" v="7" actId="114"/>
          <ac:spMkLst>
            <pc:docMk/>
            <pc:sldMk cId="0" sldId="272"/>
            <ac:spMk id="2" creationId="{399B7F68-0123-793A-C302-6E185690AD75}"/>
          </ac:spMkLst>
        </pc:spChg>
      </pc:sldChg>
      <pc:sldChg chg="modSp mod">
        <pc:chgData name="Moyer Montague, Kristina" userId="63c103e5-6141-480e-825f-260f173eba02" providerId="ADAL" clId="{DE9675B3-CE13-4C2A-AA2A-7DC5ED9B423D}" dt="2025-05-07T13:52:52.816" v="4" actId="114"/>
        <pc:sldMkLst>
          <pc:docMk/>
          <pc:sldMk cId="3398154548" sldId="301"/>
        </pc:sldMkLst>
        <pc:spChg chg="mod">
          <ac:chgData name="Moyer Montague, Kristina" userId="63c103e5-6141-480e-825f-260f173eba02" providerId="ADAL" clId="{DE9675B3-CE13-4C2A-AA2A-7DC5ED9B423D}" dt="2025-05-07T13:52:52.816" v="4" actId="114"/>
          <ac:spMkLst>
            <pc:docMk/>
            <pc:sldMk cId="3398154548" sldId="301"/>
            <ac:spMk id="571" creationId="{CE84560F-B97D-C1EA-C4CE-F9442E61558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two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 communicate mathematical ideas, reasoning, and their implications using multiple representations, including symbols, diagrams, graphs, and language as appropriate.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A.1E: create and use representations to organize, record, and communicate mathematical ideas.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A.2F: write the equation of a line that contains a given point and is perpendicular to a given line.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A.2G: write an equation of a line that is parallel or perpendicular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 and determine whether the slope of the line is zero or undefined.</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2.I: demonstrate listening comprehension of increasingly complex spoken English by following directions, retelling or summarizing spoken messages, responding to questions and requests, collaborating with peers, and taking notes commensurate with content and grade-level needs.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3.E: share information in cooperative learning interactions.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4.K: demonstrate English comprehension and expand reading skills by employing analytical skills such as evaluating written information and performing critical analyses commensurate with content area and grade-level needs.</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p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3" name="Google Shape;47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Setting the Stage: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Tap into your student’s prior learning by reading the narrative statement.</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Provide a sense of direction by reading the Essential Question.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74" name="Google Shape;47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0" name="Google Shape;480;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1" name="Google Shape;481;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7" name="Google Shape;487;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88" name="Google Shape;488;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𝐴𝐵</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m:t>
                        </m:r>
                        <m:r>
                          <a:rPr lang="ar-AE" sz="1200" b="0" i="1" smtClean="0">
                            <a:solidFill>
                              <a:srgbClr val="000000"/>
                            </a:solidFill>
                            <a:latin typeface="Cambria Math" panose="02040503050406030204" pitchFamily="18" charset="0"/>
                          </a:rPr>
                          <m:t>′′</m:t>
                        </m:r>
                        <m:r>
                          <a:rPr lang="ar-AE" sz="1200" b="0" i="1" smtClean="0">
                            <a:solidFill>
                              <a:srgbClr val="000000"/>
                            </a:solidFill>
                            <a:latin typeface="Cambria Math" panose="02040503050406030204" pitchFamily="18" charset="0"/>
                          </a:rPr>
                          <m:t>𝐵</m:t>
                        </m:r>
                        <m:r>
                          <a:rPr lang="ar-AE" sz="1200" b="0" i="1" smtClean="0">
                            <a:solidFill>
                              <a:srgbClr val="000000"/>
                            </a:solidFill>
                            <a:latin typeface="Cambria Math" panose="02040503050406030204" pitchFamily="18" charset="0"/>
                          </a:rPr>
                          <m:t>′′</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Choice>
        <mc:Fallback xmlns="">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Fallback>
      </mc:AlternateContent>
      <p:sp>
        <p:nvSpPr>
          <p:cNvPr id="495" name="Google Shape;495;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a:extLst>
            <a:ext uri="{FF2B5EF4-FFF2-40B4-BE49-F238E27FC236}">
              <a16:creationId xmlns:a16="http://schemas.microsoft.com/office/drawing/2014/main" id="{CF56DFD8-4598-B97D-E955-938BB94AD51C}"/>
            </a:ext>
          </a:extLst>
        </p:cNvPr>
        <p:cNvGrpSpPr/>
        <p:nvPr/>
      </p:nvGrpSpPr>
      <p:grpSpPr>
        <a:xfrm>
          <a:off x="0" y="0"/>
          <a:ext cx="0" cy="0"/>
          <a:chOff x="0" y="0"/>
          <a:chExt cx="0" cy="0"/>
        </a:xfrm>
      </p:grpSpPr>
      <p:sp>
        <p:nvSpPr>
          <p:cNvPr id="502" name="Google Shape;502;p7:notes">
            <a:extLst>
              <a:ext uri="{FF2B5EF4-FFF2-40B4-BE49-F238E27FC236}">
                <a16:creationId xmlns:a16="http://schemas.microsoft.com/office/drawing/2014/main" id="{6681D2D9-3065-9A00-B6A9-E6D1EFAB95A2}"/>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a:extLst>
              <a:ext uri="{FF2B5EF4-FFF2-40B4-BE49-F238E27FC236}">
                <a16:creationId xmlns:a16="http://schemas.microsoft.com/office/drawing/2014/main" id="{3C7414A0-958D-5EE0-8D00-AD966D00AE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sz="1200" b="0" dirty="0">
              <a:solidFill>
                <a:srgbClr val="000000"/>
              </a:solidFill>
              <a:latin typeface="Calibri"/>
              <a:ea typeface="Calibri"/>
              <a:cs typeface="Calibri"/>
              <a:sym typeface="Calibri"/>
            </a:endParaRPr>
          </a:p>
        </p:txBody>
      </p:sp>
      <p:sp>
        <p:nvSpPr>
          <p:cNvPr id="504" name="Google Shape;504;p7:notes">
            <a:extLst>
              <a:ext uri="{FF2B5EF4-FFF2-40B4-BE49-F238E27FC236}">
                <a16:creationId xmlns:a16="http://schemas.microsoft.com/office/drawing/2014/main" id="{B8EDF822-863F-6410-0743-520948A36A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1598222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lang="en-US" sz="1200" b="0" dirty="0">
              <a:solidFill>
                <a:srgbClr val="000000"/>
              </a:solidFill>
              <a:latin typeface="Calibri"/>
              <a:ea typeface="Calibri"/>
              <a:cs typeface="Calibri"/>
              <a:sym typeface="Calibri"/>
            </a:endParaRPr>
          </a:p>
        </p:txBody>
      </p:sp>
      <p:sp>
        <p:nvSpPr>
          <p:cNvPr id="504" name="Google Shape;504;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5" name="Google Shape;515;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A point </a:t>
            </a:r>
            <a:r>
              <a:rPr lang="en-US" i="0" dirty="0">
                <a:solidFill>
                  <a:srgbClr val="000000"/>
                </a:solidFill>
              </a:rPr>
              <a:t>(</a:t>
            </a:r>
            <a:r>
              <a:rPr lang="en-US" i="1" dirty="0">
                <a:solidFill>
                  <a:srgbClr val="000000"/>
                </a:solidFill>
              </a:rPr>
              <a:t>x, y</a:t>
            </a:r>
            <a:r>
              <a:rPr lang="en-US" i="0" dirty="0">
                <a:solidFill>
                  <a:srgbClr val="000000"/>
                </a:solidFill>
              </a:rPr>
              <a:t>) </a:t>
            </a:r>
            <a:r>
              <a:rPr lang="en-US" dirty="0">
                <a:solidFill>
                  <a:srgbClr val="000000"/>
                </a:solidFill>
              </a:rPr>
              <a:t>that is rotated 90° counterclockwise has the coordinates </a:t>
            </a:r>
            <a:r>
              <a:rPr lang="en-US" i="0" dirty="0">
                <a:solidFill>
                  <a:srgbClr val="000000"/>
                </a:solidFill>
              </a:rPr>
              <a:t>(−</a:t>
            </a:r>
            <a:r>
              <a:rPr lang="en-US" i="1" dirty="0">
                <a:solidFill>
                  <a:srgbClr val="000000"/>
                </a:solidFill>
              </a:rPr>
              <a:t>y, x</a:t>
            </a:r>
            <a:r>
              <a:rPr lang="en-US" i="0" dirty="0">
                <a:solidFill>
                  <a:srgbClr val="000000"/>
                </a:solidFill>
              </a:rPr>
              <a:t>).</a:t>
            </a:r>
            <a:endParaRPr sz="1200" b="1" i="0" dirty="0">
              <a:solidFill>
                <a:srgbClr val="000000"/>
              </a:solidFill>
              <a:latin typeface="Calibri"/>
              <a:ea typeface="Calibri"/>
              <a:cs typeface="Calibri"/>
              <a:sym typeface="Calibri"/>
            </a:endParaRPr>
          </a:p>
        </p:txBody>
      </p:sp>
      <p:sp>
        <p:nvSpPr>
          <p:cNvPr id="516" name="Google Shape;516;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3" name="Google Shape;523;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24" name="Google Shape;524;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0" name="Google Shape;530;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3.1.</a:t>
            </a:r>
            <a:endParaRPr dirty="0">
              <a:solidFill>
                <a:srgbClr val="000000"/>
              </a:solidFill>
            </a:endParaRPr>
          </a:p>
        </p:txBody>
      </p:sp>
      <p:sp>
        <p:nvSpPr>
          <p:cNvPr id="531" name="Google Shape;531;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8" name="Google Shape;538;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539" name="Google Shape;539;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6" name="Google Shape;546;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this specific rotation create perpendicular lines?</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use patty paper to verify that the lines are perpendicular?</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strategy did you use to write the equation of each line?</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slopes?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there any relationship between perpendicular lines and their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these equations to prove perpendicular lines have reciprocal slopes with opposite signs?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47" name="Google Shape;547;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a:extLst>
            <a:ext uri="{FF2B5EF4-FFF2-40B4-BE49-F238E27FC236}">
              <a16:creationId xmlns:a16="http://schemas.microsoft.com/office/drawing/2014/main" id="{3DE1233F-B5A5-58FF-9507-8F89BFFF1BFC}"/>
            </a:ext>
          </a:extLst>
        </p:cNvPr>
        <p:cNvGrpSpPr/>
        <p:nvPr/>
      </p:nvGrpSpPr>
      <p:grpSpPr>
        <a:xfrm>
          <a:off x="0" y="0"/>
          <a:ext cx="0" cy="0"/>
          <a:chOff x="0" y="0"/>
          <a:chExt cx="0" cy="0"/>
        </a:xfrm>
      </p:grpSpPr>
      <p:sp>
        <p:nvSpPr>
          <p:cNvPr id="561" name="Google Shape;561;p14:notes">
            <a:extLst>
              <a:ext uri="{FF2B5EF4-FFF2-40B4-BE49-F238E27FC236}">
                <a16:creationId xmlns:a16="http://schemas.microsoft.com/office/drawing/2014/main" id="{B1C748EE-6965-61DC-3A01-811B135BA3FF}"/>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a:extLst>
              <a:ext uri="{FF2B5EF4-FFF2-40B4-BE49-F238E27FC236}">
                <a16:creationId xmlns:a16="http://schemas.microsoft.com/office/drawing/2014/main" id="{C49844BB-D626-8E0B-4CB2-866E24226715}"/>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extLst>
      <p:ext uri="{BB962C8B-B14F-4D97-AF65-F5344CB8AC3E}">
        <p14:creationId xmlns:p14="http://schemas.microsoft.com/office/powerpoint/2010/main" val="33250610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81" name="Google Shape;581;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a:extLst>
            <a:ext uri="{FF2B5EF4-FFF2-40B4-BE49-F238E27FC236}">
              <a16:creationId xmlns:a16="http://schemas.microsoft.com/office/drawing/2014/main" id="{5BB8667E-D141-5D9C-5358-8204C0A3993C}"/>
            </a:ext>
          </a:extLst>
        </p:cNvPr>
        <p:cNvGrpSpPr/>
        <p:nvPr/>
      </p:nvGrpSpPr>
      <p:grpSpPr>
        <a:xfrm>
          <a:off x="0" y="0"/>
          <a:ext cx="0" cy="0"/>
          <a:chOff x="0" y="0"/>
          <a:chExt cx="0" cy="0"/>
        </a:xfrm>
      </p:grpSpPr>
      <p:sp>
        <p:nvSpPr>
          <p:cNvPr id="598" name="Google Shape;598;p17:notes">
            <a:extLst>
              <a:ext uri="{FF2B5EF4-FFF2-40B4-BE49-F238E27FC236}">
                <a16:creationId xmlns:a16="http://schemas.microsoft.com/office/drawing/2014/main" id="{25DB1832-930C-C1A5-55C4-D3CE239671B6}"/>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a:extLst>
              <a:ext uri="{FF2B5EF4-FFF2-40B4-BE49-F238E27FC236}">
                <a16:creationId xmlns:a16="http://schemas.microsoft.com/office/drawing/2014/main" id="{0A84622F-4531-F61D-C63D-BFA9B336D17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extLst>
      <p:ext uri="{BB962C8B-B14F-4D97-AF65-F5344CB8AC3E}">
        <p14:creationId xmlns:p14="http://schemas.microsoft.com/office/powerpoint/2010/main" val="10724861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3.1 Summary:</a:t>
            </a:r>
            <a:endParaRPr dirty="0">
              <a:solidFill>
                <a:srgbClr val="000000"/>
              </a:solidFill>
            </a:endParaRPr>
          </a:p>
          <a:p>
            <a:pPr marL="0" lvl="0" indent="0" algn="l" rtl="0">
              <a:spcBef>
                <a:spcPts val="0"/>
              </a:spcBef>
              <a:spcAft>
                <a:spcPts val="0"/>
              </a:spcAft>
              <a:buNone/>
            </a:pPr>
            <a:r>
              <a:rPr lang="en-US" dirty="0">
                <a:solidFill>
                  <a:srgbClr val="000000"/>
                </a:solidFill>
              </a:rPr>
              <a:t>If two lines are perpendicular, their slopes are negative reciprocals.</a:t>
            </a:r>
            <a:endParaRPr sz="1200" b="1" dirty="0">
              <a:solidFill>
                <a:srgbClr val="000000"/>
              </a:solidFill>
              <a:latin typeface="Calibri"/>
              <a:ea typeface="Calibri"/>
              <a:cs typeface="Calibri"/>
              <a:sym typeface="Calibri"/>
            </a:endParaRPr>
          </a:p>
        </p:txBody>
      </p:sp>
      <p:sp>
        <p:nvSpPr>
          <p:cNvPr id="611" name="Google Shape;611;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8" name="Google Shape;618;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19" name="Google Shape;619;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26" name="Google Shape;626;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2" name="Google Shape;632;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p:txBody>
      </p:sp>
      <p:sp>
        <p:nvSpPr>
          <p:cNvPr id="633" name="Google Shape;633;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9" name="Google Shape;639;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3.2.</a:t>
            </a:r>
            <a:endParaRPr dirty="0">
              <a:solidFill>
                <a:srgbClr val="000000"/>
              </a:solidFill>
            </a:endParaRPr>
          </a:p>
        </p:txBody>
      </p:sp>
      <p:sp>
        <p:nvSpPr>
          <p:cNvPr id="640" name="Google Shape;640;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7" name="Google Shape;64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sz="1200" dirty="0">
              <a:solidFill>
                <a:srgbClr val="000000"/>
              </a:solidFill>
              <a:latin typeface="Calibri"/>
              <a:ea typeface="Calibri"/>
              <a:cs typeface="Calibri"/>
              <a:sym typeface="Calibri"/>
            </a:endParaRPr>
          </a:p>
          <a:p>
            <a:r>
              <a:rPr lang="en-US" b="1" dirty="0"/>
              <a:t>Read from the graph: G and K are on x = 4; H and G are on y = 4, F and J on y = 8, K and L on y = 12.</a:t>
            </a:r>
          </a:p>
        </p:txBody>
      </p:sp>
      <p:sp>
        <p:nvSpPr>
          <p:cNvPr id="648" name="Google Shape;648;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57" name="Google Shape;657;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3" name="Google Shape;663;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64" name="Google Shape;664;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sz="1200" dirty="0">
              <a:solidFill>
                <a:srgbClr val="000000"/>
              </a:solidFill>
              <a:latin typeface="Calibri"/>
              <a:ea typeface="Calibri"/>
              <a:cs typeface="Calibri"/>
              <a:sym typeface="Calibri"/>
            </a:endParaRPr>
          </a:p>
        </p:txBody>
      </p:sp>
      <p:sp>
        <p:nvSpPr>
          <p:cNvPr id="671" name="Google Shape;671;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lang="en-US" sz="1200" dirty="0">
              <a:solidFill>
                <a:srgbClr val="000000"/>
              </a:solidFill>
              <a:latin typeface="Calibri"/>
              <a:ea typeface="Calibri"/>
              <a:cs typeface="Calibri"/>
              <a:sym typeface="Calibri"/>
            </a:endParaRPr>
          </a:p>
        </p:txBody>
      </p:sp>
      <p:sp>
        <p:nvSpPr>
          <p:cNvPr id="678" name="Google Shape;678;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4" name="Google Shape;684;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3.2 Summary:</a:t>
            </a:r>
            <a:endParaRPr dirty="0">
              <a:solidFill>
                <a:srgbClr val="000000"/>
              </a:solidFill>
            </a:endParaRPr>
          </a:p>
          <a:p>
            <a:pPr marL="0" lvl="0" indent="0" algn="l" rtl="0">
              <a:spcBef>
                <a:spcPts val="0"/>
              </a:spcBef>
              <a:spcAft>
                <a:spcPts val="0"/>
              </a:spcAft>
              <a:buNone/>
            </a:pPr>
            <a:r>
              <a:rPr lang="en-US" dirty="0">
                <a:solidFill>
                  <a:srgbClr val="000000"/>
                </a:solidFill>
              </a:rPr>
              <a:t>Any vertical line and any horizontal line are perpendicular to each other.</a:t>
            </a:r>
            <a:endParaRPr sz="1200" b="0" dirty="0">
              <a:solidFill>
                <a:srgbClr val="000000"/>
              </a:solidFill>
              <a:latin typeface="Calibri"/>
              <a:ea typeface="Calibri"/>
              <a:cs typeface="Calibri"/>
              <a:sym typeface="Calibri"/>
            </a:endParaRPr>
          </a:p>
        </p:txBody>
      </p:sp>
      <p:sp>
        <p:nvSpPr>
          <p:cNvPr id="685" name="Google Shape;685;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693" name="Google Shape;693;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9" name="Google Shape;699;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3.3.</a:t>
            </a:r>
            <a:endParaRPr dirty="0">
              <a:solidFill>
                <a:srgbClr val="000000"/>
              </a:solidFill>
            </a:endParaRPr>
          </a:p>
        </p:txBody>
      </p:sp>
      <p:sp>
        <p:nvSpPr>
          <p:cNvPr id="700" name="Google Shape;700;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5"/>
        <p:cNvGrpSpPr/>
        <p:nvPr/>
      </p:nvGrpSpPr>
      <p:grpSpPr>
        <a:xfrm>
          <a:off x="0" y="0"/>
          <a:ext cx="0" cy="0"/>
          <a:chOff x="0" y="0"/>
          <a:chExt cx="0" cy="0"/>
        </a:xfrm>
      </p:grpSpPr>
      <p:sp>
        <p:nvSpPr>
          <p:cNvPr id="706" name="Google Shape;706;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7" name="Google Shape;707;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sz="1200" dirty="0">
              <a:solidFill>
                <a:srgbClr val="000000"/>
              </a:solidFill>
              <a:latin typeface="Calibri"/>
              <a:ea typeface="Calibri"/>
              <a:cs typeface="Calibri"/>
              <a:sym typeface="Calibri"/>
            </a:endParaRPr>
          </a:p>
        </p:txBody>
      </p:sp>
      <p:sp>
        <p:nvSpPr>
          <p:cNvPr id="708" name="Google Shape;708;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5" name="Google Shape;715;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a:p>
            <a:r>
              <a:rPr lang="en-US" b="1" dirty="0"/>
              <a:t>TE wording slip (Q2): the TE says 'a line with a slope of 3/4'; the given line y = −(3/4)x has slope −3/4. The answer y = (4/3)x − 12 is correct. In Q3 to Q5 the TE writes the slope formula as (y2 − y1)/(y2 − y1); the denominator is x2 − x1. Its numbers are correct.</a:t>
            </a:r>
          </a:p>
        </p:txBody>
      </p:sp>
      <p:sp>
        <p:nvSpPr>
          <p:cNvPr id="716" name="Google Shape;716;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p3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2" name="Google Shape;722;p3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p:txBody>
      </p:sp>
      <p:sp>
        <p:nvSpPr>
          <p:cNvPr id="723" name="Google Shape;723;p3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9" name="Google Shape;729;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3.3 Summary:</a:t>
            </a:r>
            <a:endParaRPr dirty="0">
              <a:solidFill>
                <a:srgbClr val="000000"/>
              </a:solidFill>
            </a:endParaRPr>
          </a:p>
          <a:p>
            <a:pPr marL="0" lvl="0" indent="0" algn="l" rtl="0">
              <a:spcBef>
                <a:spcPts val="0"/>
              </a:spcBef>
              <a:spcAft>
                <a:spcPts val="0"/>
              </a:spcAft>
              <a:buNone/>
            </a:pPr>
            <a:r>
              <a:rPr lang="en-US" dirty="0">
                <a:solidFill>
                  <a:srgbClr val="000000"/>
                </a:solidFill>
              </a:rPr>
              <a:t>To write the equation of a line perpendicular to a given line, it is necessary to use the negative reciprocal relationship between their slopes.</a:t>
            </a:r>
            <a:endParaRPr sz="1200" b="0" dirty="0">
              <a:solidFill>
                <a:srgbClr val="000000"/>
              </a:solidFill>
              <a:latin typeface="Calibri"/>
              <a:ea typeface="Calibri"/>
              <a:cs typeface="Calibri"/>
              <a:sym typeface="Calibri"/>
            </a:endParaRPr>
          </a:p>
        </p:txBody>
      </p:sp>
      <p:sp>
        <p:nvSpPr>
          <p:cNvPr id="730" name="Google Shape;730;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5"/>
        <p:cNvGrpSpPr/>
        <p:nvPr/>
      </p:nvGrpSpPr>
      <p:grpSpPr>
        <a:xfrm>
          <a:off x="0" y="0"/>
          <a:ext cx="0" cy="0"/>
          <a:chOff x="0" y="0"/>
          <a:chExt cx="0" cy="0"/>
        </a:xfrm>
      </p:grpSpPr>
      <p:sp>
        <p:nvSpPr>
          <p:cNvPr id="736" name="Google Shape;736;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7" name="Google Shape;737;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8" name="Google Shape;738;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4" name="Google Shape;744;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745" name="Google Shape;745;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1" name="Google Shape;751;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752" name="Google Shape;752;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0" name="Google Shape;760;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algebra be used to determine whether the lines are perpendicular?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patty paper be used to determine whether the lines are perpendicular?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When you know that one line out of a set of parallel lines is not perpendicular to a line out of another set of parallel lines, can you conclude that none of the lines are perpendicular? Why or why not?</a:t>
            </a:r>
            <a:endParaRPr sz="1200" dirty="0">
              <a:solidFill>
                <a:srgbClr val="000000"/>
              </a:solidFill>
              <a:latin typeface="Calibri"/>
              <a:ea typeface="Calibri"/>
              <a:cs typeface="Calibri"/>
              <a:sym typeface="Calibri"/>
            </a:endParaRPr>
          </a:p>
          <a:p>
            <a:r>
              <a:rPr lang="en-US" b="1" dirty="0"/>
              <a:t>The x-axis counts 1 unit per grid square and the y-axis 1 unit per 2 squares, so the lines look perpendicular but are not.</a:t>
            </a:r>
          </a:p>
        </p:txBody>
      </p:sp>
      <p:sp>
        <p:nvSpPr>
          <p:cNvPr id="761" name="Google Shape;761;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9" name="Google Shape;769;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2, have students read and answer the Essential Question and then read the Stamp the Learning summary aloud.</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Essential Question:</a:t>
            </a:r>
            <a:endParaRPr dirty="0">
              <a:solidFill>
                <a:srgbClr val="000000"/>
              </a:solidFill>
            </a:endParaRPr>
          </a:p>
          <a:p>
            <a:pPr marL="0" lvl="0" indent="0" algn="l" rtl="0">
              <a:spcBef>
                <a:spcPts val="0"/>
              </a:spcBef>
              <a:spcAft>
                <a:spcPts val="0"/>
              </a:spcAft>
              <a:buNone/>
            </a:pPr>
            <a:r>
              <a:rPr lang="en-US" sz="1200" b="0" dirty="0">
                <a:solidFill>
                  <a:srgbClr val="000000"/>
                </a:solidFill>
                <a:latin typeface="Calibri"/>
                <a:ea typeface="Calibri"/>
                <a:cs typeface="Calibri"/>
                <a:sym typeface="Calibri"/>
              </a:rPr>
              <a:t>Sample answer: </a:t>
            </a:r>
            <a:r>
              <a:rPr lang="en-US" dirty="0">
                <a:solidFill>
                  <a:srgbClr val="000000"/>
                </a:solidFill>
              </a:rPr>
              <a:t>The slopes of perpendicular lines are negative reciprocals. Any vertical line is perpendicular to any horizontal line.</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Talk the Talk Summary:</a:t>
            </a:r>
            <a:endParaRPr dirty="0">
              <a:solidFill>
                <a:srgbClr val="000000"/>
              </a:solidFill>
            </a:endParaRPr>
          </a:p>
          <a:p>
            <a:pPr marL="0" lvl="0" indent="0" algn="l" rtl="0">
              <a:spcBef>
                <a:spcPts val="0"/>
              </a:spcBef>
              <a:spcAft>
                <a:spcPts val="0"/>
              </a:spcAft>
              <a:buNone/>
            </a:pPr>
            <a:r>
              <a:rPr lang="en-US" dirty="0">
                <a:solidFill>
                  <a:srgbClr val="000000"/>
                </a:solidFill>
              </a:rPr>
              <a:t>The slopes of lines graphed on a coordinate plane must be negative reciprocals in order for the lines to be defined as perpendicular</a:t>
            </a:r>
            <a:r>
              <a:rPr lang="en-US" sz="1200" b="0" i="0" u="none" strike="noStrike" dirty="0">
                <a:solidFill>
                  <a:srgbClr val="000000"/>
                </a:solidFill>
                <a:latin typeface="Calibri"/>
                <a:ea typeface="Calibri"/>
                <a:cs typeface="Calibri"/>
                <a:sym typeface="Calibri"/>
              </a:rPr>
              <a:t>.</a:t>
            </a:r>
            <a:endParaRPr dirty="0">
              <a:solidFill>
                <a:srgbClr val="000000"/>
              </a:solidFill>
            </a:endParaRPr>
          </a:p>
        </p:txBody>
      </p:sp>
      <p:sp>
        <p:nvSpPr>
          <p:cNvPr id="770" name="Google Shape;770;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p4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7" name="Google Shape;777;p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778" name="Google Shape;778;p4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4" name="Google Shape;784;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785" name="Google Shape;785;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0" name="Google Shape;790;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791" name="Google Shape;791;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7" name="Google Shape;797;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798" name="Google Shape;798;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4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46"/>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4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4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4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4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4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4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47"/>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47"/>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47"/>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4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47"/>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48"/>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48"/>
          <p:cNvSpPr>
            <a:spLocks noGrp="1"/>
          </p:cNvSpPr>
          <p:nvPr>
            <p:ph type="pic" idx="2"/>
          </p:nvPr>
        </p:nvSpPr>
        <p:spPr>
          <a:xfrm>
            <a:off x="3427412" y="3217943"/>
            <a:ext cx="5335588" cy="2505075"/>
          </a:xfrm>
          <a:prstGeom prst="rect">
            <a:avLst/>
          </a:prstGeom>
          <a:noFill/>
          <a:ln>
            <a:noFill/>
          </a:ln>
        </p:spPr>
      </p:sp>
      <p:sp>
        <p:nvSpPr>
          <p:cNvPr id="29" name="Google Shape;29;p4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4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49"/>
          <p:cNvSpPr txBox="1"/>
          <p:nvPr/>
        </p:nvSpPr>
        <p:spPr>
          <a:xfrm>
            <a:off x="4629955" y="2955793"/>
            <a:ext cx="1800239"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i="0" u="none" strike="noStrike" cap="none" dirty="0">
                <a:solidFill>
                  <a:srgbClr val="171616"/>
                </a:solidFill>
                <a:latin typeface="Calibri"/>
                <a:ea typeface="Calibri"/>
                <a:cs typeface="Calibri"/>
                <a:sym typeface="Calibri"/>
              </a:rPr>
              <a:t>Day</a:t>
            </a:r>
            <a:endParaRPr sz="7500" b="1" i="0" u="none" strike="noStrike" cap="none" dirty="0">
              <a:solidFill>
                <a:srgbClr val="171616"/>
              </a:solidFill>
              <a:latin typeface="Calibri"/>
              <a:ea typeface="Calibri"/>
              <a:cs typeface="Calibri"/>
              <a:sym typeface="Calibri"/>
            </a:endParaRPr>
          </a:p>
        </p:txBody>
      </p:sp>
      <p:sp>
        <p:nvSpPr>
          <p:cNvPr id="33" name="Google Shape;33;p49"/>
          <p:cNvSpPr txBox="1">
            <a:spLocks noGrp="1"/>
          </p:cNvSpPr>
          <p:nvPr>
            <p:ph type="body" idx="1"/>
          </p:nvPr>
        </p:nvSpPr>
        <p:spPr>
          <a:xfrm>
            <a:off x="6318634" y="2886869"/>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50"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50"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i="0" u="none" strike="noStrike" cap="none">
                <a:solidFill>
                  <a:schemeClr val="lt1"/>
                </a:solidFill>
                <a:latin typeface="Calibri"/>
                <a:ea typeface="Calibri"/>
                <a:cs typeface="Calibri"/>
                <a:sym typeface="Calibri"/>
              </a:rPr>
              <a:t>Getting Started</a:t>
            </a:r>
            <a:endParaRPr sz="7500" b="1" i="0" u="none" strike="noStrike" cap="none">
              <a:solidFill>
                <a:schemeClr val="lt1"/>
              </a:solidFill>
              <a:latin typeface="Calibri"/>
              <a:ea typeface="Calibri"/>
              <a:cs typeface="Calibri"/>
              <a:sym typeface="Calibri"/>
            </a:endParaRPr>
          </a:p>
        </p:txBody>
      </p:sp>
      <p:pic>
        <p:nvPicPr>
          <p:cNvPr id="39" name="Google Shape;39;p5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5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5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51"/>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51"/>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51"/>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51"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51"/>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5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52"/>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52"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52"/>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53"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53"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54"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54"/>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54"/>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54"/>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54"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54"/>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5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55"/>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55"/>
          <p:cNvGrpSpPr/>
          <p:nvPr/>
        </p:nvGrpSpPr>
        <p:grpSpPr>
          <a:xfrm>
            <a:off x="9053008" y="227306"/>
            <a:ext cx="2910578" cy="1472169"/>
            <a:chOff x="8940726" y="132485"/>
            <a:chExt cx="2910578" cy="1472169"/>
          </a:xfrm>
        </p:grpSpPr>
        <p:pic>
          <p:nvPicPr>
            <p:cNvPr id="67" name="Google Shape;67;p55"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55"/>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55"/>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55"/>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55"/>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55"/>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56"/>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5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5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5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5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5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5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5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5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5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5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5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5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5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5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5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6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6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6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6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6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6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6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6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6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6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6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6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6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6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6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6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6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6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6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6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6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6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22"/>
        <p:cNvGrpSpPr/>
        <p:nvPr/>
      </p:nvGrpSpPr>
      <p:grpSpPr>
        <a:xfrm>
          <a:off x="0" y="0"/>
          <a:ext cx="0" cy="0"/>
          <a:chOff x="0" y="0"/>
          <a:chExt cx="0" cy="0"/>
        </a:xfrm>
      </p:grpSpPr>
      <p:sp>
        <p:nvSpPr>
          <p:cNvPr id="123" name="Google Shape;123;p6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143965"/>
              </a:buClr>
              <a:buSzPts val="6000"/>
              <a:buFont typeface="Arial"/>
              <a:buNone/>
              <a:defRPr sz="6000" b="1"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4" name="Google Shape;124;p6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5" name="Google Shape;125;p66"/>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p6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127" name="Google Shape;127;p6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28" name="Google Shape;128;p6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29" name="Google Shape;129;p6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0" name="Google Shape;130;p6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131" name="Google Shape;131;p66" descr="A blue and white pattern&#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132"/>
        <p:cNvGrpSpPr/>
        <p:nvPr/>
      </p:nvGrpSpPr>
      <p:grpSpPr>
        <a:xfrm>
          <a:off x="0" y="0"/>
          <a:ext cx="0" cy="0"/>
          <a:chOff x="0" y="0"/>
          <a:chExt cx="0" cy="0"/>
        </a:xfrm>
      </p:grpSpPr>
      <p:pic>
        <p:nvPicPr>
          <p:cNvPr id="133" name="Google Shape;133;p6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8"/>
          </a:xfrm>
          <a:prstGeom prst="rect">
            <a:avLst/>
          </a:prstGeom>
          <a:noFill/>
          <a:ln>
            <a:noFill/>
          </a:ln>
        </p:spPr>
      </p:pic>
      <p:sp>
        <p:nvSpPr>
          <p:cNvPr id="134" name="Google Shape;134;p6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5" name="Google Shape;135;p6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6" name="Google Shape;136;p6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137" name="Google Shape;137;p6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138" name="Google Shape;138;p6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139"/>
        <p:cNvGrpSpPr/>
        <p:nvPr/>
      </p:nvGrpSpPr>
      <p:grpSpPr>
        <a:xfrm>
          <a:off x="0" y="0"/>
          <a:ext cx="0" cy="0"/>
          <a:chOff x="0" y="0"/>
          <a:chExt cx="0" cy="0"/>
        </a:xfrm>
      </p:grpSpPr>
      <p:pic>
        <p:nvPicPr>
          <p:cNvPr id="140" name="Google Shape;140;p6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1" name="Google Shape;141;p68"/>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142" name="Google Shape;142;p6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143" name="Google Shape;143;p6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44" name="Google Shape;144;p6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45" name="Google Shape;145;p6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146"/>
        <p:cNvGrpSpPr/>
        <p:nvPr/>
      </p:nvGrpSpPr>
      <p:grpSpPr>
        <a:xfrm>
          <a:off x="0" y="0"/>
          <a:ext cx="0" cy="0"/>
          <a:chOff x="0" y="0"/>
          <a:chExt cx="0" cy="0"/>
        </a:xfrm>
      </p:grpSpPr>
      <p:pic>
        <p:nvPicPr>
          <p:cNvPr id="147" name="Google Shape;147;p6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8" name="Google Shape;148;p69"/>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149" name="Google Shape;149;p6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0" name="Google Shape;150;p6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151"/>
        <p:cNvGrpSpPr/>
        <p:nvPr/>
      </p:nvGrpSpPr>
      <p:grpSpPr>
        <a:xfrm>
          <a:off x="0" y="0"/>
          <a:ext cx="0" cy="0"/>
          <a:chOff x="0" y="0"/>
          <a:chExt cx="0" cy="0"/>
        </a:xfrm>
      </p:grpSpPr>
      <p:pic>
        <p:nvPicPr>
          <p:cNvPr id="152" name="Google Shape;152;p7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3" name="Google Shape;153;p70" descr="A green and black pattern&#10;&#10;AI-generated content may be incorrect."/>
          <p:cNvSpPr txBox="1"/>
          <p:nvPr/>
        </p:nvSpPr>
        <p:spPr>
          <a:xfrm>
            <a:off x="2767915" y="2984501"/>
            <a:ext cx="666029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154" name="Google Shape;154;p7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5" name="Google Shape;155;p7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156"/>
        <p:cNvGrpSpPr/>
        <p:nvPr/>
      </p:nvGrpSpPr>
      <p:grpSpPr>
        <a:xfrm>
          <a:off x="0" y="0"/>
          <a:ext cx="0" cy="0"/>
          <a:chOff x="0" y="0"/>
          <a:chExt cx="0" cy="0"/>
        </a:xfrm>
      </p:grpSpPr>
      <p:pic>
        <p:nvPicPr>
          <p:cNvPr id="157" name="Google Shape;157;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8" name="Google Shape;158;p71" descr="A green and black pattern&#10;&#10;AI-generated content may be incorrect."/>
          <p:cNvSpPr txBox="1"/>
          <p:nvPr/>
        </p:nvSpPr>
        <p:spPr>
          <a:xfrm>
            <a:off x="3866323" y="2984501"/>
            <a:ext cx="443285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159"/>
        <p:cNvGrpSpPr/>
        <p:nvPr/>
      </p:nvGrpSpPr>
      <p:grpSpPr>
        <a:xfrm>
          <a:off x="0" y="0"/>
          <a:ext cx="0" cy="0"/>
          <a:chOff x="0" y="0"/>
          <a:chExt cx="0" cy="0"/>
        </a:xfrm>
      </p:grpSpPr>
      <p:sp>
        <p:nvSpPr>
          <p:cNvPr id="160" name="Google Shape;160;p7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161" name="Google Shape;161;p7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2" name="Google Shape;162;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163" name="Google Shape;163;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0"/>
            <a:ext cx="12190413" cy="219477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164"/>
        <p:cNvGrpSpPr/>
        <p:nvPr/>
      </p:nvGrpSpPr>
      <p:grpSpPr>
        <a:xfrm>
          <a:off x="0" y="0"/>
          <a:ext cx="0" cy="0"/>
          <a:chOff x="0" y="0"/>
          <a:chExt cx="0" cy="0"/>
        </a:xfrm>
      </p:grpSpPr>
      <p:sp>
        <p:nvSpPr>
          <p:cNvPr id="165" name="Google Shape;165;p7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6" name="Google Shape;166;p73"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167"/>
        <p:cNvGrpSpPr/>
        <p:nvPr/>
      </p:nvGrpSpPr>
      <p:grpSpPr>
        <a:xfrm>
          <a:off x="0" y="0"/>
          <a:ext cx="0" cy="0"/>
          <a:chOff x="0" y="0"/>
          <a:chExt cx="0" cy="0"/>
        </a:xfrm>
      </p:grpSpPr>
      <p:pic>
        <p:nvPicPr>
          <p:cNvPr id="168" name="Google Shape;168;p74"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
        <p:nvSpPr>
          <p:cNvPr id="169" name="Google Shape;169;p74"/>
          <p:cNvSpPr txBox="1">
            <a:spLocks noGrp="1"/>
          </p:cNvSpPr>
          <p:nvPr>
            <p:ph type="body" idx="1"/>
          </p:nvPr>
        </p:nvSpPr>
        <p:spPr>
          <a:xfrm>
            <a:off x="8155889" y="4975063"/>
            <a:ext cx="3431356" cy="414778"/>
          </a:xfrm>
          <a:prstGeom prst="rect">
            <a:avLst/>
          </a:prstGeom>
          <a:solidFill>
            <a:srgbClr val="143965"/>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170" name="Google Shape;170;p74"/>
          <p:cNvGrpSpPr/>
          <p:nvPr/>
        </p:nvGrpSpPr>
        <p:grpSpPr>
          <a:xfrm>
            <a:off x="9053008" y="227306"/>
            <a:ext cx="2910578" cy="1472169"/>
            <a:chOff x="8940726" y="132485"/>
            <a:chExt cx="2910578" cy="1472169"/>
          </a:xfrm>
        </p:grpSpPr>
        <p:pic>
          <p:nvPicPr>
            <p:cNvPr id="171" name="Google Shape;171;p7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72" name="Google Shape;172;p7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73" name="Google Shape;173;p7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4" name="Google Shape;174;p7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175" name="Google Shape;175;p74"/>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6" name="Google Shape;176;p7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177"/>
        <p:cNvGrpSpPr/>
        <p:nvPr/>
      </p:nvGrpSpPr>
      <p:grpSpPr>
        <a:xfrm>
          <a:off x="0" y="0"/>
          <a:ext cx="0" cy="0"/>
          <a:chOff x="0" y="0"/>
          <a:chExt cx="0" cy="0"/>
        </a:xfrm>
      </p:grpSpPr>
      <p:sp>
        <p:nvSpPr>
          <p:cNvPr id="178" name="Google Shape;178;p7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9" name="Google Shape;179;p7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0" name="Google Shape;180;p75"/>
          <p:cNvSpPr/>
          <p:nvPr/>
        </p:nvSpPr>
        <p:spPr>
          <a:xfrm>
            <a:off x="0" y="0"/>
            <a:ext cx="7575442" cy="927652"/>
          </a:xfrm>
          <a:prstGeom prst="rect">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81" name="Google Shape;181;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1"/>
          </a:xfrm>
          <a:prstGeom prst="rect">
            <a:avLst/>
          </a:prstGeom>
          <a:noFill/>
          <a:ln>
            <a:noFill/>
          </a:ln>
        </p:spPr>
      </p:pic>
      <p:sp>
        <p:nvSpPr>
          <p:cNvPr id="182" name="Google Shape;182;p7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183"/>
        <p:cNvGrpSpPr/>
        <p:nvPr/>
      </p:nvGrpSpPr>
      <p:grpSpPr>
        <a:xfrm>
          <a:off x="0" y="0"/>
          <a:ext cx="0" cy="0"/>
          <a:chOff x="0" y="0"/>
          <a:chExt cx="0" cy="0"/>
        </a:xfrm>
      </p:grpSpPr>
      <p:sp>
        <p:nvSpPr>
          <p:cNvPr id="184" name="Google Shape;184;p7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5" name="Google Shape;185;p76"/>
          <p:cNvSpPr>
            <a:spLocks noGrp="1"/>
          </p:cNvSpPr>
          <p:nvPr>
            <p:ph type="pic" idx="2"/>
          </p:nvPr>
        </p:nvSpPr>
        <p:spPr>
          <a:xfrm>
            <a:off x="3427412" y="3217943"/>
            <a:ext cx="5335588" cy="2505075"/>
          </a:xfrm>
          <a:prstGeom prst="rect">
            <a:avLst/>
          </a:prstGeom>
          <a:noFill/>
          <a:ln>
            <a:noFill/>
          </a:ln>
        </p:spPr>
      </p:sp>
      <p:sp>
        <p:nvSpPr>
          <p:cNvPr id="186" name="Google Shape;186;p7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7" name="Google Shape;187;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188"/>
        <p:cNvGrpSpPr/>
        <p:nvPr/>
      </p:nvGrpSpPr>
      <p:grpSpPr>
        <a:xfrm>
          <a:off x="0" y="0"/>
          <a:ext cx="0" cy="0"/>
          <a:chOff x="0" y="0"/>
          <a:chExt cx="0" cy="0"/>
        </a:xfrm>
      </p:grpSpPr>
      <p:pic>
        <p:nvPicPr>
          <p:cNvPr id="189" name="Google Shape;189;p7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90" name="Google Shape;190;p7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1" name="Google Shape;191;p7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2" name="Google Shape;192;p7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3" name="Google Shape;193;p7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194"/>
        <p:cNvGrpSpPr/>
        <p:nvPr/>
      </p:nvGrpSpPr>
      <p:grpSpPr>
        <a:xfrm>
          <a:off x="0" y="0"/>
          <a:ext cx="0" cy="0"/>
          <a:chOff x="0" y="0"/>
          <a:chExt cx="0" cy="0"/>
        </a:xfrm>
      </p:grpSpPr>
      <p:graphicFrame>
        <p:nvGraphicFramePr>
          <p:cNvPr id="195" name="Google Shape;195;p7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96" name="Google Shape;196;p7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7" name="Google Shape;197;p7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8" name="Google Shape;198;p7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199"/>
        <p:cNvGrpSpPr/>
        <p:nvPr/>
      </p:nvGrpSpPr>
      <p:grpSpPr>
        <a:xfrm>
          <a:off x="0" y="0"/>
          <a:ext cx="0" cy="0"/>
          <a:chOff x="0" y="0"/>
          <a:chExt cx="0" cy="0"/>
        </a:xfrm>
      </p:grpSpPr>
      <p:pic>
        <p:nvPicPr>
          <p:cNvPr id="200" name="Google Shape;200;p7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01" name="Google Shape;201;p7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2" name="Google Shape;202;p7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3" name="Google Shape;203;p7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4" name="Google Shape;204;p7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205"/>
        <p:cNvGrpSpPr/>
        <p:nvPr/>
      </p:nvGrpSpPr>
      <p:grpSpPr>
        <a:xfrm>
          <a:off x="0" y="0"/>
          <a:ext cx="0" cy="0"/>
          <a:chOff x="0" y="0"/>
          <a:chExt cx="0" cy="0"/>
        </a:xfrm>
      </p:grpSpPr>
      <p:sp>
        <p:nvSpPr>
          <p:cNvPr id="206" name="Google Shape;206;p8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7" name="Google Shape;207;p8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8" name="Google Shape;208;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209"/>
        <p:cNvGrpSpPr/>
        <p:nvPr/>
      </p:nvGrpSpPr>
      <p:grpSpPr>
        <a:xfrm>
          <a:off x="0" y="0"/>
          <a:ext cx="0" cy="0"/>
          <a:chOff x="0" y="0"/>
          <a:chExt cx="0" cy="0"/>
        </a:xfrm>
      </p:grpSpPr>
      <p:pic>
        <p:nvPicPr>
          <p:cNvPr id="210" name="Google Shape;210;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1" name="Google Shape;211;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2" name="Google Shape;212;p8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3" name="Google Shape;213;p8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14" name="Google Shape;214;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215"/>
        <p:cNvGrpSpPr/>
        <p:nvPr/>
      </p:nvGrpSpPr>
      <p:grpSpPr>
        <a:xfrm>
          <a:off x="0" y="0"/>
          <a:ext cx="0" cy="0"/>
          <a:chOff x="0" y="0"/>
          <a:chExt cx="0" cy="0"/>
        </a:xfrm>
      </p:grpSpPr>
      <p:pic>
        <p:nvPicPr>
          <p:cNvPr id="216" name="Google Shape;216;p8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7" name="Google Shape;217;p8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8" name="Google Shape;218;p8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19" name="Google Shape;219;p8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20" name="Google Shape;220;p8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221"/>
        <p:cNvGrpSpPr/>
        <p:nvPr/>
      </p:nvGrpSpPr>
      <p:grpSpPr>
        <a:xfrm>
          <a:off x="0" y="0"/>
          <a:ext cx="0" cy="0"/>
          <a:chOff x="0" y="0"/>
          <a:chExt cx="0" cy="0"/>
        </a:xfrm>
      </p:grpSpPr>
      <p:pic>
        <p:nvPicPr>
          <p:cNvPr id="222" name="Google Shape;222;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3" name="Google Shape;223;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4" name="Google Shape;224;p8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5" name="Google Shape;225;p8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26" name="Google Shape;226;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227"/>
        <p:cNvGrpSpPr/>
        <p:nvPr/>
      </p:nvGrpSpPr>
      <p:grpSpPr>
        <a:xfrm>
          <a:off x="0" y="0"/>
          <a:ext cx="0" cy="0"/>
          <a:chOff x="0" y="0"/>
          <a:chExt cx="0" cy="0"/>
        </a:xfrm>
      </p:grpSpPr>
      <p:pic>
        <p:nvPicPr>
          <p:cNvPr id="228" name="Google Shape;228;p8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9" name="Google Shape;229;p8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0" name="Google Shape;230;p8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1" name="Google Shape;231;p8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32" name="Google Shape;232;p8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234"/>
        <p:cNvGrpSpPr/>
        <p:nvPr/>
      </p:nvGrpSpPr>
      <p:grpSpPr>
        <a:xfrm>
          <a:off x="0" y="0"/>
          <a:ext cx="0" cy="0"/>
          <a:chOff x="0" y="0"/>
          <a:chExt cx="0" cy="0"/>
        </a:xfrm>
      </p:grpSpPr>
      <p:sp>
        <p:nvSpPr>
          <p:cNvPr id="235" name="Google Shape;235;p8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61449B"/>
              </a:buClr>
              <a:buSzPts val="6000"/>
              <a:buFont typeface="Arial"/>
              <a:buNone/>
              <a:defRPr sz="6000" b="1" i="0" u="none" strike="noStrike" cap="none">
                <a:solidFill>
                  <a:srgbClr val="61449B"/>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6" name="Google Shape;236;p8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7" name="Google Shape;237;p86"/>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p8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239" name="Google Shape;239;p8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40" name="Google Shape;240;p8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41" name="Google Shape;241;p8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2" name="Google Shape;242;p8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243" name="Google Shape;243;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244"/>
        <p:cNvGrpSpPr/>
        <p:nvPr/>
      </p:nvGrpSpPr>
      <p:grpSpPr>
        <a:xfrm>
          <a:off x="0" y="0"/>
          <a:ext cx="0" cy="0"/>
          <a:chOff x="0" y="0"/>
          <a:chExt cx="0" cy="0"/>
        </a:xfrm>
      </p:grpSpPr>
      <p:pic>
        <p:nvPicPr>
          <p:cNvPr id="245" name="Google Shape;245;p8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7"/>
          </a:xfrm>
          <a:prstGeom prst="rect">
            <a:avLst/>
          </a:prstGeom>
          <a:noFill/>
          <a:ln>
            <a:noFill/>
          </a:ln>
        </p:spPr>
      </p:pic>
      <p:sp>
        <p:nvSpPr>
          <p:cNvPr id="246" name="Google Shape;246;p8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7" name="Google Shape;247;p8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8" name="Google Shape;248;p8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249" name="Google Shape;249;p8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250" name="Google Shape;250;p8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251"/>
        <p:cNvGrpSpPr/>
        <p:nvPr/>
      </p:nvGrpSpPr>
      <p:grpSpPr>
        <a:xfrm>
          <a:off x="0" y="0"/>
          <a:ext cx="0" cy="0"/>
          <a:chOff x="0" y="0"/>
          <a:chExt cx="0" cy="0"/>
        </a:xfrm>
      </p:grpSpPr>
      <p:pic>
        <p:nvPicPr>
          <p:cNvPr id="252" name="Google Shape;252;p8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53" name="Google Shape;253;p88"/>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254" name="Google Shape;254;p8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255" name="Google Shape;255;p8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56" name="Google Shape;256;p8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57" name="Google Shape;257;p8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258"/>
        <p:cNvGrpSpPr/>
        <p:nvPr/>
      </p:nvGrpSpPr>
      <p:grpSpPr>
        <a:xfrm>
          <a:off x="0" y="0"/>
          <a:ext cx="0" cy="0"/>
          <a:chOff x="0" y="0"/>
          <a:chExt cx="0" cy="0"/>
        </a:xfrm>
      </p:grpSpPr>
      <p:pic>
        <p:nvPicPr>
          <p:cNvPr id="259" name="Google Shape;259;p8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0" name="Google Shape;260;p89"/>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261" name="Google Shape;261;p8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2" name="Google Shape;262;p8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263"/>
        <p:cNvGrpSpPr/>
        <p:nvPr/>
      </p:nvGrpSpPr>
      <p:grpSpPr>
        <a:xfrm>
          <a:off x="0" y="0"/>
          <a:ext cx="0" cy="0"/>
          <a:chOff x="0" y="0"/>
          <a:chExt cx="0" cy="0"/>
        </a:xfrm>
      </p:grpSpPr>
      <p:pic>
        <p:nvPicPr>
          <p:cNvPr id="264" name="Google Shape;264;p9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5" name="Google Shape;265;p90" descr="A green and black pattern&#10;&#10;AI-generated content may be incorrect."/>
          <p:cNvSpPr txBox="1"/>
          <p:nvPr/>
        </p:nvSpPr>
        <p:spPr>
          <a:xfrm>
            <a:off x="2767915" y="2984501"/>
            <a:ext cx="666029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266" name="Google Shape;266;p9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7" name="Google Shape;267;p9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268"/>
        <p:cNvGrpSpPr/>
        <p:nvPr/>
      </p:nvGrpSpPr>
      <p:grpSpPr>
        <a:xfrm>
          <a:off x="0" y="0"/>
          <a:ext cx="0" cy="0"/>
          <a:chOff x="0" y="0"/>
          <a:chExt cx="0" cy="0"/>
        </a:xfrm>
      </p:grpSpPr>
      <p:pic>
        <p:nvPicPr>
          <p:cNvPr id="269" name="Google Shape;269;p9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70" name="Google Shape;270;p91" descr="A green and black pattern&#10;&#10;AI-generated content may be incorrect."/>
          <p:cNvSpPr txBox="1"/>
          <p:nvPr/>
        </p:nvSpPr>
        <p:spPr>
          <a:xfrm>
            <a:off x="3866323" y="2984501"/>
            <a:ext cx="443285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271"/>
        <p:cNvGrpSpPr/>
        <p:nvPr/>
      </p:nvGrpSpPr>
      <p:grpSpPr>
        <a:xfrm>
          <a:off x="0" y="0"/>
          <a:ext cx="0" cy="0"/>
          <a:chOff x="0" y="0"/>
          <a:chExt cx="0" cy="0"/>
        </a:xfrm>
      </p:grpSpPr>
      <p:sp>
        <p:nvSpPr>
          <p:cNvPr id="272" name="Google Shape;272;p9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273" name="Google Shape;273;p9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4" name="Google Shape;274;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pic>
        <p:nvPicPr>
          <p:cNvPr id="275" name="Google Shape;275;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6" y="0"/>
            <a:ext cx="12190407" cy="2194775"/>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276"/>
        <p:cNvGrpSpPr/>
        <p:nvPr/>
      </p:nvGrpSpPr>
      <p:grpSpPr>
        <a:xfrm>
          <a:off x="0" y="0"/>
          <a:ext cx="0" cy="0"/>
          <a:chOff x="0" y="0"/>
          <a:chExt cx="0" cy="0"/>
        </a:xfrm>
      </p:grpSpPr>
      <p:sp>
        <p:nvSpPr>
          <p:cNvPr id="277" name="Google Shape;277;p9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8" name="Google Shape;278;p9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279"/>
        <p:cNvGrpSpPr/>
        <p:nvPr/>
      </p:nvGrpSpPr>
      <p:grpSpPr>
        <a:xfrm>
          <a:off x="0" y="0"/>
          <a:ext cx="0" cy="0"/>
          <a:chOff x="0" y="0"/>
          <a:chExt cx="0" cy="0"/>
        </a:xfrm>
      </p:grpSpPr>
      <p:pic>
        <p:nvPicPr>
          <p:cNvPr id="280" name="Google Shape;280;p9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
        <p:nvSpPr>
          <p:cNvPr id="281" name="Google Shape;281;p9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282" name="Google Shape;282;p94"/>
          <p:cNvGrpSpPr/>
          <p:nvPr/>
        </p:nvGrpSpPr>
        <p:grpSpPr>
          <a:xfrm>
            <a:off x="9053008" y="227306"/>
            <a:ext cx="2910578" cy="1472169"/>
            <a:chOff x="8940726" y="132485"/>
            <a:chExt cx="2910578" cy="1472169"/>
          </a:xfrm>
        </p:grpSpPr>
        <p:pic>
          <p:nvPicPr>
            <p:cNvPr id="283" name="Google Shape;283;p9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84" name="Google Shape;284;p9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85" name="Google Shape;285;p9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6" name="Google Shape;286;p9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287" name="Google Shape;287;p94"/>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8" name="Google Shape;288;p9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89"/>
        <p:cNvGrpSpPr/>
        <p:nvPr/>
      </p:nvGrpSpPr>
      <p:grpSpPr>
        <a:xfrm>
          <a:off x="0" y="0"/>
          <a:ext cx="0" cy="0"/>
          <a:chOff x="0" y="0"/>
          <a:chExt cx="0" cy="0"/>
        </a:xfrm>
      </p:grpSpPr>
      <p:sp>
        <p:nvSpPr>
          <p:cNvPr id="290" name="Google Shape;290;p9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91" name="Google Shape;291;p9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2" name="Google Shape;292;p95"/>
          <p:cNvSpPr/>
          <p:nvPr/>
        </p:nvSpPr>
        <p:spPr>
          <a:xfrm>
            <a:off x="0" y="0"/>
            <a:ext cx="7575442" cy="927652"/>
          </a:xfrm>
          <a:prstGeom prst="rect">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93" name="Google Shape;293;p9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0"/>
          </a:xfrm>
          <a:prstGeom prst="rect">
            <a:avLst/>
          </a:prstGeom>
          <a:noFill/>
          <a:ln>
            <a:noFill/>
          </a:ln>
        </p:spPr>
      </p:pic>
      <p:sp>
        <p:nvSpPr>
          <p:cNvPr id="294" name="Google Shape;294;p9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95"/>
        <p:cNvGrpSpPr/>
        <p:nvPr/>
      </p:nvGrpSpPr>
      <p:grpSpPr>
        <a:xfrm>
          <a:off x="0" y="0"/>
          <a:ext cx="0" cy="0"/>
          <a:chOff x="0" y="0"/>
          <a:chExt cx="0" cy="0"/>
        </a:xfrm>
      </p:grpSpPr>
      <p:sp>
        <p:nvSpPr>
          <p:cNvPr id="296" name="Google Shape;296;p9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7" name="Google Shape;297;p96"/>
          <p:cNvSpPr>
            <a:spLocks noGrp="1"/>
          </p:cNvSpPr>
          <p:nvPr>
            <p:ph type="pic" idx="2"/>
          </p:nvPr>
        </p:nvSpPr>
        <p:spPr>
          <a:xfrm>
            <a:off x="3427412" y="3217943"/>
            <a:ext cx="5335588" cy="2505075"/>
          </a:xfrm>
          <a:prstGeom prst="rect">
            <a:avLst/>
          </a:prstGeom>
          <a:noFill/>
          <a:ln>
            <a:noFill/>
          </a:ln>
        </p:spPr>
      </p:sp>
      <p:sp>
        <p:nvSpPr>
          <p:cNvPr id="298" name="Google Shape;298;p9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99" name="Google Shape;299;p9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300"/>
        <p:cNvGrpSpPr/>
        <p:nvPr/>
      </p:nvGrpSpPr>
      <p:grpSpPr>
        <a:xfrm>
          <a:off x="0" y="0"/>
          <a:ext cx="0" cy="0"/>
          <a:chOff x="0" y="0"/>
          <a:chExt cx="0" cy="0"/>
        </a:xfrm>
      </p:grpSpPr>
      <p:pic>
        <p:nvPicPr>
          <p:cNvPr id="301" name="Google Shape;301;p9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02" name="Google Shape;302;p9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3" name="Google Shape;303;p9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4" name="Google Shape;304;p9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5" name="Google Shape;305;p9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306"/>
        <p:cNvGrpSpPr/>
        <p:nvPr/>
      </p:nvGrpSpPr>
      <p:grpSpPr>
        <a:xfrm>
          <a:off x="0" y="0"/>
          <a:ext cx="0" cy="0"/>
          <a:chOff x="0" y="0"/>
          <a:chExt cx="0" cy="0"/>
        </a:xfrm>
      </p:grpSpPr>
      <p:graphicFrame>
        <p:nvGraphicFramePr>
          <p:cNvPr id="307" name="Google Shape;307;p9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08" name="Google Shape;308;p9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9" name="Google Shape;309;p9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0" name="Google Shape;310;p9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311"/>
        <p:cNvGrpSpPr/>
        <p:nvPr/>
      </p:nvGrpSpPr>
      <p:grpSpPr>
        <a:xfrm>
          <a:off x="0" y="0"/>
          <a:ext cx="0" cy="0"/>
          <a:chOff x="0" y="0"/>
          <a:chExt cx="0" cy="0"/>
        </a:xfrm>
      </p:grpSpPr>
      <p:pic>
        <p:nvPicPr>
          <p:cNvPr id="312" name="Google Shape;312;p9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13" name="Google Shape;313;p9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4" name="Google Shape;314;p9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5" name="Google Shape;315;p9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6" name="Google Shape;316;p9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317"/>
        <p:cNvGrpSpPr/>
        <p:nvPr/>
      </p:nvGrpSpPr>
      <p:grpSpPr>
        <a:xfrm>
          <a:off x="0" y="0"/>
          <a:ext cx="0" cy="0"/>
          <a:chOff x="0" y="0"/>
          <a:chExt cx="0" cy="0"/>
        </a:xfrm>
      </p:grpSpPr>
      <p:sp>
        <p:nvSpPr>
          <p:cNvPr id="318" name="Google Shape;318;p10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9" name="Google Shape;319;p10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0" name="Google Shape;320;p10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321"/>
        <p:cNvGrpSpPr/>
        <p:nvPr/>
      </p:nvGrpSpPr>
      <p:grpSpPr>
        <a:xfrm>
          <a:off x="0" y="0"/>
          <a:ext cx="0" cy="0"/>
          <a:chOff x="0" y="0"/>
          <a:chExt cx="0" cy="0"/>
        </a:xfrm>
      </p:grpSpPr>
      <p:pic>
        <p:nvPicPr>
          <p:cNvPr id="322" name="Google Shape;322;p10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3" name="Google Shape;323;p10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4" name="Google Shape;324;p10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5" name="Google Shape;325;p10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6" name="Google Shape;326;p10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327"/>
        <p:cNvGrpSpPr/>
        <p:nvPr/>
      </p:nvGrpSpPr>
      <p:grpSpPr>
        <a:xfrm>
          <a:off x="0" y="0"/>
          <a:ext cx="0" cy="0"/>
          <a:chOff x="0" y="0"/>
          <a:chExt cx="0" cy="0"/>
        </a:xfrm>
      </p:grpSpPr>
      <p:pic>
        <p:nvPicPr>
          <p:cNvPr id="328" name="Google Shape;328;p10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9" name="Google Shape;329;p10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0" name="Google Shape;330;p10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31" name="Google Shape;331;p10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32" name="Google Shape;332;p10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333"/>
        <p:cNvGrpSpPr/>
        <p:nvPr/>
      </p:nvGrpSpPr>
      <p:grpSpPr>
        <a:xfrm>
          <a:off x="0" y="0"/>
          <a:ext cx="0" cy="0"/>
          <a:chOff x="0" y="0"/>
          <a:chExt cx="0" cy="0"/>
        </a:xfrm>
      </p:grpSpPr>
      <p:pic>
        <p:nvPicPr>
          <p:cNvPr id="334" name="Google Shape;334;p10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35" name="Google Shape;335;p10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6" name="Google Shape;336;p10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7" name="Google Shape;337;p10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38" name="Google Shape;338;p10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339"/>
        <p:cNvGrpSpPr/>
        <p:nvPr/>
      </p:nvGrpSpPr>
      <p:grpSpPr>
        <a:xfrm>
          <a:off x="0" y="0"/>
          <a:ext cx="0" cy="0"/>
          <a:chOff x="0" y="0"/>
          <a:chExt cx="0" cy="0"/>
        </a:xfrm>
      </p:grpSpPr>
      <p:pic>
        <p:nvPicPr>
          <p:cNvPr id="340" name="Google Shape;340;p10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41" name="Google Shape;341;p10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2" name="Google Shape;342;p10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3" name="Google Shape;343;p10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44" name="Google Shape;344;p10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346"/>
        <p:cNvGrpSpPr/>
        <p:nvPr/>
      </p:nvGrpSpPr>
      <p:grpSpPr>
        <a:xfrm>
          <a:off x="0" y="0"/>
          <a:ext cx="0" cy="0"/>
          <a:chOff x="0" y="0"/>
          <a:chExt cx="0" cy="0"/>
        </a:xfrm>
      </p:grpSpPr>
      <p:sp>
        <p:nvSpPr>
          <p:cNvPr id="347" name="Google Shape;347;p10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0084AC"/>
              </a:buClr>
              <a:buSzPts val="6000"/>
              <a:buFont typeface="Arial"/>
              <a:buNone/>
              <a:defRPr sz="6000" b="1" i="0" u="none" strike="noStrike" cap="none">
                <a:solidFill>
                  <a:srgbClr val="0084AC"/>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8" name="Google Shape;348;p10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9" name="Google Shape;349;p106"/>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0" name="Google Shape;350;p10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351" name="Google Shape;351;p10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52" name="Google Shape;352;p10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53" name="Google Shape;353;p10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4" name="Google Shape;354;p10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355" name="Google Shape;355;p10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356"/>
        <p:cNvGrpSpPr/>
        <p:nvPr/>
      </p:nvGrpSpPr>
      <p:grpSpPr>
        <a:xfrm>
          <a:off x="0" y="0"/>
          <a:ext cx="0" cy="0"/>
          <a:chOff x="0" y="0"/>
          <a:chExt cx="0" cy="0"/>
        </a:xfrm>
      </p:grpSpPr>
      <p:pic>
        <p:nvPicPr>
          <p:cNvPr id="357" name="Google Shape;357;p10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932192"/>
            <a:ext cx="12190410" cy="5925807"/>
          </a:xfrm>
          <a:prstGeom prst="rect">
            <a:avLst/>
          </a:prstGeom>
          <a:noFill/>
          <a:ln>
            <a:noFill/>
          </a:ln>
        </p:spPr>
      </p:pic>
      <p:sp>
        <p:nvSpPr>
          <p:cNvPr id="358" name="Google Shape;358;p10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9" name="Google Shape;359;p10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0" name="Google Shape;360;p10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361" name="Google Shape;361;p10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362" name="Google Shape;362;p10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363"/>
        <p:cNvGrpSpPr/>
        <p:nvPr/>
      </p:nvGrpSpPr>
      <p:grpSpPr>
        <a:xfrm>
          <a:off x="0" y="0"/>
          <a:ext cx="0" cy="0"/>
          <a:chOff x="0" y="0"/>
          <a:chExt cx="0" cy="0"/>
        </a:xfrm>
      </p:grpSpPr>
      <p:pic>
        <p:nvPicPr>
          <p:cNvPr id="364" name="Google Shape;364;p10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65" name="Google Shape;365;p108"/>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366" name="Google Shape;366;p10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367" name="Google Shape;367;p10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68" name="Google Shape;368;p10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69" name="Google Shape;369;p10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370"/>
        <p:cNvGrpSpPr/>
        <p:nvPr/>
      </p:nvGrpSpPr>
      <p:grpSpPr>
        <a:xfrm>
          <a:off x="0" y="0"/>
          <a:ext cx="0" cy="0"/>
          <a:chOff x="0" y="0"/>
          <a:chExt cx="0" cy="0"/>
        </a:xfrm>
      </p:grpSpPr>
      <p:pic>
        <p:nvPicPr>
          <p:cNvPr id="371" name="Google Shape;371;p10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2" name="Google Shape;372;p109"/>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373" name="Google Shape;373;p10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4" name="Google Shape;374;p10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75"/>
        <p:cNvGrpSpPr/>
        <p:nvPr/>
      </p:nvGrpSpPr>
      <p:grpSpPr>
        <a:xfrm>
          <a:off x="0" y="0"/>
          <a:ext cx="0" cy="0"/>
          <a:chOff x="0" y="0"/>
          <a:chExt cx="0" cy="0"/>
        </a:xfrm>
      </p:grpSpPr>
      <p:pic>
        <p:nvPicPr>
          <p:cNvPr id="376" name="Google Shape;376;p11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7" name="Google Shape;377;p110" descr="A green and black pattern&#10;&#10;AI-generated content may be incorrect."/>
          <p:cNvSpPr txBox="1"/>
          <p:nvPr/>
        </p:nvSpPr>
        <p:spPr>
          <a:xfrm>
            <a:off x="2767915" y="2984501"/>
            <a:ext cx="666029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78" name="Google Shape;378;p11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9" name="Google Shape;379;p11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380"/>
        <p:cNvGrpSpPr/>
        <p:nvPr/>
      </p:nvGrpSpPr>
      <p:grpSpPr>
        <a:xfrm>
          <a:off x="0" y="0"/>
          <a:ext cx="0" cy="0"/>
          <a:chOff x="0" y="0"/>
          <a:chExt cx="0" cy="0"/>
        </a:xfrm>
      </p:grpSpPr>
      <p:pic>
        <p:nvPicPr>
          <p:cNvPr id="381" name="Google Shape;381;p11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82" name="Google Shape;382;p111" descr="A green and black pattern&#10;&#10;AI-generated content may be incorrect."/>
          <p:cNvSpPr txBox="1"/>
          <p:nvPr/>
        </p:nvSpPr>
        <p:spPr>
          <a:xfrm>
            <a:off x="3866323" y="2984501"/>
            <a:ext cx="443285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83"/>
        <p:cNvGrpSpPr/>
        <p:nvPr/>
      </p:nvGrpSpPr>
      <p:grpSpPr>
        <a:xfrm>
          <a:off x="0" y="0"/>
          <a:ext cx="0" cy="0"/>
          <a:chOff x="0" y="0"/>
          <a:chExt cx="0" cy="0"/>
        </a:xfrm>
      </p:grpSpPr>
      <p:sp>
        <p:nvSpPr>
          <p:cNvPr id="384" name="Google Shape;384;p11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385" name="Google Shape;385;p11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86" name="Google Shape;386;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pic>
        <p:nvPicPr>
          <p:cNvPr id="387" name="Google Shape;387;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1" y="0"/>
            <a:ext cx="12190407" cy="2194774"/>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388"/>
        <p:cNvGrpSpPr/>
        <p:nvPr/>
      </p:nvGrpSpPr>
      <p:grpSpPr>
        <a:xfrm>
          <a:off x="0" y="0"/>
          <a:ext cx="0" cy="0"/>
          <a:chOff x="0" y="0"/>
          <a:chExt cx="0" cy="0"/>
        </a:xfrm>
      </p:grpSpPr>
      <p:sp>
        <p:nvSpPr>
          <p:cNvPr id="389" name="Google Shape;389;p11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90" name="Google Shape;390;p11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391"/>
        <p:cNvGrpSpPr/>
        <p:nvPr/>
      </p:nvGrpSpPr>
      <p:grpSpPr>
        <a:xfrm>
          <a:off x="0" y="0"/>
          <a:ext cx="0" cy="0"/>
          <a:chOff x="0" y="0"/>
          <a:chExt cx="0" cy="0"/>
        </a:xfrm>
      </p:grpSpPr>
      <p:sp>
        <p:nvSpPr>
          <p:cNvPr id="392" name="Google Shape;392;p11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393" name="Google Shape;393;p114"/>
          <p:cNvGrpSpPr/>
          <p:nvPr/>
        </p:nvGrpSpPr>
        <p:grpSpPr>
          <a:xfrm>
            <a:off x="9053008" y="227306"/>
            <a:ext cx="2910578" cy="1472169"/>
            <a:chOff x="8940726" y="132485"/>
            <a:chExt cx="2910578" cy="1472169"/>
          </a:xfrm>
        </p:grpSpPr>
        <p:pic>
          <p:nvPicPr>
            <p:cNvPr id="394" name="Google Shape;394;p114"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95" name="Google Shape;395;p11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96" name="Google Shape;396;p11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7" name="Google Shape;397;p11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398" name="Google Shape;398;p114"/>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9" name="Google Shape;399;p11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400" name="Google Shape;400;p11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401"/>
        <p:cNvGrpSpPr/>
        <p:nvPr/>
      </p:nvGrpSpPr>
      <p:grpSpPr>
        <a:xfrm>
          <a:off x="0" y="0"/>
          <a:ext cx="0" cy="0"/>
          <a:chOff x="0" y="0"/>
          <a:chExt cx="0" cy="0"/>
        </a:xfrm>
      </p:grpSpPr>
      <p:sp>
        <p:nvSpPr>
          <p:cNvPr id="402" name="Google Shape;402;p11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03" name="Google Shape;403;p11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4" name="Google Shape;404;p115"/>
          <p:cNvSpPr/>
          <p:nvPr/>
        </p:nvSpPr>
        <p:spPr>
          <a:xfrm>
            <a:off x="0" y="0"/>
            <a:ext cx="7575442" cy="927652"/>
          </a:xfrm>
          <a:prstGeom prst="rect">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405" name="Google Shape;405;p11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4" y="0"/>
            <a:ext cx="4614964" cy="931320"/>
          </a:xfrm>
          <a:prstGeom prst="rect">
            <a:avLst/>
          </a:prstGeom>
          <a:noFill/>
          <a:ln>
            <a:noFill/>
          </a:ln>
        </p:spPr>
      </p:pic>
      <p:sp>
        <p:nvSpPr>
          <p:cNvPr id="406" name="Google Shape;406;p11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407"/>
        <p:cNvGrpSpPr/>
        <p:nvPr/>
      </p:nvGrpSpPr>
      <p:grpSpPr>
        <a:xfrm>
          <a:off x="0" y="0"/>
          <a:ext cx="0" cy="0"/>
          <a:chOff x="0" y="0"/>
          <a:chExt cx="0" cy="0"/>
        </a:xfrm>
      </p:grpSpPr>
      <p:sp>
        <p:nvSpPr>
          <p:cNvPr id="408" name="Google Shape;408;p11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9" name="Google Shape;409;p116"/>
          <p:cNvSpPr>
            <a:spLocks noGrp="1"/>
          </p:cNvSpPr>
          <p:nvPr>
            <p:ph type="pic" idx="2"/>
          </p:nvPr>
        </p:nvSpPr>
        <p:spPr>
          <a:xfrm>
            <a:off x="3427412" y="3217943"/>
            <a:ext cx="5335588" cy="2505075"/>
          </a:xfrm>
          <a:prstGeom prst="rect">
            <a:avLst/>
          </a:prstGeom>
          <a:noFill/>
          <a:ln>
            <a:noFill/>
          </a:ln>
        </p:spPr>
      </p:sp>
      <p:sp>
        <p:nvSpPr>
          <p:cNvPr id="410" name="Google Shape;410;p1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1" name="Google Shape;411;p11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412"/>
        <p:cNvGrpSpPr/>
        <p:nvPr/>
      </p:nvGrpSpPr>
      <p:grpSpPr>
        <a:xfrm>
          <a:off x="0" y="0"/>
          <a:ext cx="0" cy="0"/>
          <a:chOff x="0" y="0"/>
          <a:chExt cx="0" cy="0"/>
        </a:xfrm>
      </p:grpSpPr>
      <p:pic>
        <p:nvPicPr>
          <p:cNvPr id="413" name="Google Shape;413;p11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14" name="Google Shape;414;p11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5" name="Google Shape;415;p11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6" name="Google Shape;416;p11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7" name="Google Shape;417;p11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418"/>
        <p:cNvGrpSpPr/>
        <p:nvPr/>
      </p:nvGrpSpPr>
      <p:grpSpPr>
        <a:xfrm>
          <a:off x="0" y="0"/>
          <a:ext cx="0" cy="0"/>
          <a:chOff x="0" y="0"/>
          <a:chExt cx="0" cy="0"/>
        </a:xfrm>
      </p:grpSpPr>
      <p:graphicFrame>
        <p:nvGraphicFramePr>
          <p:cNvPr id="419" name="Google Shape;419;p11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420" name="Google Shape;420;p11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1" name="Google Shape;421;p11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2" name="Google Shape;422;p11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423"/>
        <p:cNvGrpSpPr/>
        <p:nvPr/>
      </p:nvGrpSpPr>
      <p:grpSpPr>
        <a:xfrm>
          <a:off x="0" y="0"/>
          <a:ext cx="0" cy="0"/>
          <a:chOff x="0" y="0"/>
          <a:chExt cx="0" cy="0"/>
        </a:xfrm>
      </p:grpSpPr>
      <p:pic>
        <p:nvPicPr>
          <p:cNvPr id="424" name="Google Shape;424;p11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25" name="Google Shape;425;p11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6" name="Google Shape;426;p11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7" name="Google Shape;427;p11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8" name="Google Shape;428;p11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429"/>
        <p:cNvGrpSpPr/>
        <p:nvPr/>
      </p:nvGrpSpPr>
      <p:grpSpPr>
        <a:xfrm>
          <a:off x="0" y="0"/>
          <a:ext cx="0" cy="0"/>
          <a:chOff x="0" y="0"/>
          <a:chExt cx="0" cy="0"/>
        </a:xfrm>
      </p:grpSpPr>
      <p:sp>
        <p:nvSpPr>
          <p:cNvPr id="430" name="Google Shape;430;p12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1" name="Google Shape;431;p12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2" name="Google Shape;432;p12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433"/>
        <p:cNvGrpSpPr/>
        <p:nvPr/>
      </p:nvGrpSpPr>
      <p:grpSpPr>
        <a:xfrm>
          <a:off x="0" y="0"/>
          <a:ext cx="0" cy="0"/>
          <a:chOff x="0" y="0"/>
          <a:chExt cx="0" cy="0"/>
        </a:xfrm>
      </p:grpSpPr>
      <p:pic>
        <p:nvPicPr>
          <p:cNvPr id="434" name="Google Shape;434;p12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35" name="Google Shape;435;p12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6" name="Google Shape;436;p12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7" name="Google Shape;437;p12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8" name="Google Shape;438;p12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439"/>
        <p:cNvGrpSpPr/>
        <p:nvPr/>
      </p:nvGrpSpPr>
      <p:grpSpPr>
        <a:xfrm>
          <a:off x="0" y="0"/>
          <a:ext cx="0" cy="0"/>
          <a:chOff x="0" y="0"/>
          <a:chExt cx="0" cy="0"/>
        </a:xfrm>
      </p:grpSpPr>
      <p:pic>
        <p:nvPicPr>
          <p:cNvPr id="440" name="Google Shape;440;p12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1" name="Google Shape;441;p12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2" name="Google Shape;442;p12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43" name="Google Shape;443;p12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44" name="Google Shape;444;p12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445"/>
        <p:cNvGrpSpPr/>
        <p:nvPr/>
      </p:nvGrpSpPr>
      <p:grpSpPr>
        <a:xfrm>
          <a:off x="0" y="0"/>
          <a:ext cx="0" cy="0"/>
          <a:chOff x="0" y="0"/>
          <a:chExt cx="0" cy="0"/>
        </a:xfrm>
      </p:grpSpPr>
      <p:pic>
        <p:nvPicPr>
          <p:cNvPr id="446" name="Google Shape;446;p12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7" name="Google Shape;447;p12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8" name="Google Shape;448;p12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9" name="Google Shape;449;p12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0" name="Google Shape;450;p12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451"/>
        <p:cNvGrpSpPr/>
        <p:nvPr/>
      </p:nvGrpSpPr>
      <p:grpSpPr>
        <a:xfrm>
          <a:off x="0" y="0"/>
          <a:ext cx="0" cy="0"/>
          <a:chOff x="0" y="0"/>
          <a:chExt cx="0" cy="0"/>
        </a:xfrm>
      </p:grpSpPr>
      <p:pic>
        <p:nvPicPr>
          <p:cNvPr id="452" name="Google Shape;452;p12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53" name="Google Shape;453;p12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4" name="Google Shape;454;p12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5" name="Google Shape;455;p1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6" name="Google Shape;456;p12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1"/>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3"/>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 id="2147483706" r:id="rId18"/>
    <p:sldLayoutId id="214748370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4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0.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37.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idx="4294967295"/>
          </p:nvPr>
        </p:nvSpPr>
        <p:spPr>
          <a:xfrm>
            <a:off x="1405213" y="1609800"/>
            <a:ext cx="9376800" cy="1819200"/>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Determining Slopes of Perpendicular Lines</a:t>
            </a:r>
            <a:endParaRPr sz="6000"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3</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470" name="Google Shape;470;p2"/>
          <p:cNvSpPr txBox="1">
            <a:spLocks noGrp="1"/>
          </p:cNvSpPr>
          <p:nvPr>
            <p:ph type="body" idx="1"/>
          </p:nvPr>
        </p:nvSpPr>
        <p:spPr>
          <a:xfrm>
            <a:off x="788565" y="1797205"/>
            <a:ext cx="9882231" cy="3956418"/>
          </a:xfrm>
          <a:prstGeom prst="rect">
            <a:avLst/>
          </a:prstGeom>
          <a:noFill/>
          <a:ln>
            <a:noFill/>
          </a:ln>
        </p:spPr>
        <p:txBody>
          <a:bodyPr spcFirstLastPara="1" wrap="square" lIns="91425" tIns="45700" rIns="91425" bIns="45700" anchor="t" anchorCtr="0">
            <a:noAutofit/>
          </a:bodyPr>
          <a:lstStyle/>
          <a:p>
            <a:pPr marL="511175" lvl="0" indent="-511175" algn="l" rtl="0">
              <a:lnSpc>
                <a:spcPct val="90000"/>
              </a:lnSpc>
              <a:spcBef>
                <a:spcPts val="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lines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given lines.</a:t>
            </a:r>
            <a:endParaRPr sz="2800" dirty="0">
              <a:latin typeface="Calibri" panose="020F0502020204030204" pitchFamily="34" charset="0"/>
              <a:ea typeface="Calibri" panose="020F0502020204030204" pitchFamily="34" charset="0"/>
              <a:cs typeface="Calibri" panose="020F0502020204030204" pitchFamily="34" charset="0"/>
            </a:endParaRPr>
          </a:p>
          <a:p>
            <a:pPr marL="511175" lvl="0" indent="-511175" algn="l" rtl="0">
              <a:lnSpc>
                <a:spcPct val="90000"/>
              </a:lnSpc>
              <a:spcBef>
                <a:spcPts val="100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horizontal and vertical lines.</a:t>
            </a: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2)</a:t>
            </a:r>
            <a:endParaRPr dirty="0">
              <a:solidFill>
                <a:schemeClr val="bg1"/>
              </a:solidFill>
            </a:endParaRPr>
          </a:p>
        </p:txBody>
      </p:sp>
      <p:sp>
        <p:nvSpPr>
          <p:cNvPr id="477" name="Google Shape;477;p3"/>
          <p:cNvSpPr txBox="1"/>
          <p:nvPr/>
        </p:nvSpPr>
        <p:spPr>
          <a:xfrm>
            <a:off x="777240" y="1584575"/>
            <a:ext cx="9884842"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You have translated the graphs of linear equations to determine the slopes of parallel lines. </a:t>
            </a:r>
            <a:endParaRPr dirty="0"/>
          </a:p>
          <a:p>
            <a:pPr marL="0" marR="0" lvl="0" indent="0" algn="l" rtl="0">
              <a:spcBef>
                <a:spcPts val="24"/>
              </a:spcBef>
              <a:spcAft>
                <a:spcPts val="0"/>
              </a:spcAft>
              <a:buClr>
                <a:schemeClr val="dk1"/>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dirty="0">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b="0" i="0" u="none" strike="noStrike" cap="none" dirty="0">
                <a:solidFill>
                  <a:schemeClr val="lt2"/>
                </a:solidFill>
                <a:latin typeface="Calibri"/>
                <a:ea typeface="Calibri"/>
                <a:cs typeface="Calibri"/>
                <a:sym typeface="Calibri"/>
              </a:rPr>
              <a:t>Day 1</a:t>
            </a:r>
            <a:endParaRPr sz="2000" dirty="0"/>
          </a:p>
        </p:txBody>
      </p:sp>
      <p:sp>
        <p:nvSpPr>
          <p:cNvPr id="484" name="Google Shape;484;p4"/>
          <p:cNvSpPr txBox="1">
            <a:spLocks noGrp="1"/>
          </p:cNvSpPr>
          <p:nvPr>
            <p:ph type="body" idx="1"/>
          </p:nvPr>
        </p:nvSpPr>
        <p:spPr>
          <a:xfrm>
            <a:off x="6451133" y="2824538"/>
            <a:ext cx="1152279"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5"/>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Getting Started</a:t>
            </a:r>
            <a:endParaRPr sz="2000" dirty="0"/>
          </a:p>
        </p:txBody>
      </p:sp>
      <p:sp>
        <p:nvSpPr>
          <p:cNvPr id="491" name="Google Shape;491;p5" descr="15 to 20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(1 of 5)</a:t>
            </a:r>
            <a:endParaRPr dirty="0">
              <a:solidFill>
                <a:schemeClr val="bg1"/>
              </a:solidFill>
            </a:endParaRPr>
          </a:p>
        </p:txBody>
      </p:sp>
      <p:pic>
        <p:nvPicPr>
          <p:cNvPr id="499" name="Google Shape;499;p6" descr="A graph of line segment A B on the coordinate plane. Endpoint A is at (0, 0). Endpoint B is at (8, 5)."/>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777240" y="1387126"/>
            <a:ext cx="3389486" cy="3286294"/>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3D84506-D588-7F0E-6C79-D9ACB718E811}"/>
                  </a:ext>
                </a:extLst>
              </p:cNvPr>
              <p:cNvSpPr txBox="1"/>
              <p:nvPr/>
            </p:nvSpPr>
            <p:spPr>
              <a:xfrm>
                <a:off x="4387442" y="1602297"/>
                <a:ext cx="7362598" cy="2401555"/>
              </a:xfrm>
              <a:prstGeom prst="rect">
                <a:avLst/>
              </a:prstGeom>
              <a:noFill/>
            </p:spPr>
            <p:txBody>
              <a:bodyPr wrap="square" rtlCol="0">
                <a:spAutoFit/>
              </a:bodyPr>
              <a:lstStyle/>
              <a:p>
                <a:pPr>
                  <a:spcAft>
                    <a:spcPts val="1200"/>
                  </a:spcAft>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Consider </a:t>
                </a:r>
                <a14:m>
                  <m:oMath xmlns:m="http://schemas.openxmlformats.org/officeDocument/2006/math">
                    <m:acc>
                      <m:accPr>
                        <m:chr m:val="̅"/>
                        <m:ctrlPr>
                          <a:rPr lang="en-US" sz="2800" i="1" smtClean="0">
                            <a:solidFill>
                              <a:srgbClr val="000000"/>
                            </a:solidFill>
                            <a:latin typeface="Cambria Math" panose="02040503050406030204" pitchFamily="18" charset="0"/>
                          </a:rPr>
                        </m:ctrlPr>
                      </m:accPr>
                      <m:e>
                        <m:r>
                          <a:rPr lang="en-US" sz="2800" b="0" i="1" smtClean="0">
                            <a:solidFill>
                              <a:srgbClr val="000000"/>
                            </a:solidFill>
                            <a:latin typeface="Cambria Math" panose="02040503050406030204" pitchFamily="18" charset="0"/>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 with coordinates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(0, 0)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(8, 5).</a:t>
                </a:r>
              </a:p>
              <a:p>
                <a:pPr marL="514350" indent="-51435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Suppose the line segment is rotated through an angle with the origin as the center of rotation. Complete the table with the coordinates of the rotated figure.</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13D84506-D588-7F0E-6C79-D9ACB718E811}"/>
                  </a:ext>
                </a:extLst>
              </p:cNvPr>
              <p:cNvSpPr txBox="1">
                <a:spLocks noRot="1" noChangeAspect="1" noMove="1" noResize="1" noEditPoints="1" noAdjustHandles="1" noChangeArrowheads="1" noChangeShapeType="1" noTextEdit="1"/>
              </p:cNvSpPr>
              <p:nvPr/>
            </p:nvSpPr>
            <p:spPr>
              <a:xfrm>
                <a:off x="4387442" y="1602297"/>
                <a:ext cx="7362598" cy="2401555"/>
              </a:xfrm>
              <a:prstGeom prst="rect">
                <a:avLst/>
              </a:prstGeom>
              <a:blipFill>
                <a:blip r:embed="rId4"/>
                <a:stretch>
                  <a:fillRect l="-1738" t="-2538" r="-662" b="-6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708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387150">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𝐴𝐵</m:t>
                                    </m:r>
                                  </m:e>
                                </m:acc>
                              </m:oMath>
                            </m:oMathPara>
                          </a14:m>
                          <a:endParaRPr lang="ar-AE"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6F1DB"/>
                        </a:solidFill>
                      </a:tcPr>
                    </a:tc>
                    <a:extLst>
                      <a:ext uri="{0D108BD9-81ED-4DB2-BD59-A6C34878D82A}">
                        <a16:rowId xmlns:a16="http://schemas.microsoft.com/office/drawing/2014/main" val="10001"/>
                      </a:ext>
                    </a:extLst>
                  </a:tr>
                  <a:tr h="3708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708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Choice>
        <mc:Fallback xmlns="">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962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420190">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22" t="-101449" r="-300667"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100000" t="-101449" r="-200000"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00444" t="-101449" r="-100444"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300444" t="-101449" r="-444" b="-215942"/>
                          </a:stretch>
                        </a:blipFill>
                      </a:tcPr>
                    </a:tc>
                    <a:extLst>
                      <a:ext uri="{0D108BD9-81ED-4DB2-BD59-A6C34878D82A}">
                        <a16:rowId xmlns:a16="http://schemas.microsoft.com/office/drawing/2014/main" val="10001"/>
                      </a:ext>
                    </a:extLst>
                  </a:tr>
                  <a:tr h="3962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962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Fallback>
      </mc:AlternateContent>
      <p:sp>
        <p:nvSpPr>
          <p:cNvPr id="501" name="Answer 501"/>
          <p:cNvSpPr txBox="1"/>
          <p:nvPr/>
        </p:nvSpPr>
        <p:spPr>
          <a:xfrm>
            <a:off x="35179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502" name="Answer 502"/>
          <p:cNvSpPr txBox="1"/>
          <p:nvPr/>
        </p:nvSpPr>
        <p:spPr>
          <a:xfrm>
            <a:off x="35179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
        <p:nvSpPr>
          <p:cNvPr id="503" name="Answer 503"/>
          <p:cNvSpPr txBox="1"/>
          <p:nvPr/>
        </p:nvSpPr>
        <p:spPr>
          <a:xfrm>
            <a:off x="62611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504" name="Answer 504"/>
          <p:cNvSpPr txBox="1"/>
          <p:nvPr/>
        </p:nvSpPr>
        <p:spPr>
          <a:xfrm>
            <a:off x="62611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B″(−8, −5)</a:t>
            </a:r>
          </a:p>
        </p:txBody>
      </p:sp>
      <p:sp>
        <p:nvSpPr>
          <p:cNvPr id="505" name="Answer 505"/>
          <p:cNvSpPr txBox="1"/>
          <p:nvPr/>
        </p:nvSpPr>
        <p:spPr>
          <a:xfrm>
            <a:off x="90043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506" name="Answer 506"/>
          <p:cNvSpPr txBox="1"/>
          <p:nvPr/>
        </p:nvSpPr>
        <p:spPr>
          <a:xfrm>
            <a:off x="90043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0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50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0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0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5">
          <a:extLst>
            <a:ext uri="{FF2B5EF4-FFF2-40B4-BE49-F238E27FC236}">
              <a16:creationId xmlns:a16="http://schemas.microsoft.com/office/drawing/2014/main" id="{D8B8BC1E-A8BD-8DC9-7647-E2ECE7AE1CEA}"/>
            </a:ext>
          </a:extLst>
        </p:cNvPr>
        <p:cNvGrpSpPr/>
        <p:nvPr/>
      </p:nvGrpSpPr>
      <p:grpSpPr>
        <a:xfrm>
          <a:off x="0" y="0"/>
          <a:ext cx="0" cy="0"/>
          <a:chOff x="0" y="0"/>
          <a:chExt cx="0" cy="0"/>
        </a:xfrm>
      </p:grpSpPr>
      <p:sp>
        <p:nvSpPr>
          <p:cNvPr id="506" name="Google Shape;506;p7">
            <a:extLst>
              <a:ext uri="{FF2B5EF4-FFF2-40B4-BE49-F238E27FC236}">
                <a16:creationId xmlns:a16="http://schemas.microsoft.com/office/drawing/2014/main" id="{45F64F3B-4787-3EA5-093C-EB787A90E22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ACA8BD3-FE42-396F-214E-7137DD6655F5}"/>
                  </a:ext>
                </a:extLst>
              </p:cNvPr>
              <p:cNvSpPr txBox="1"/>
              <p:nvPr/>
            </p:nvSpPr>
            <p:spPr>
              <a:xfrm>
                <a:off x="777240" y="1602297"/>
                <a:ext cx="10824734" cy="4468659"/>
              </a:xfrm>
              <a:prstGeom prst="rect">
                <a:avLst/>
              </a:prstGeom>
              <a:noFill/>
            </p:spPr>
            <p:txBody>
              <a:bodyPr wrap="square" rtlCol="0">
                <a:spAutoFit/>
              </a:bodyPr>
              <a:lstStyle/>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What do you notice about the coordinates of the endpoints of each rotated figure?</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Determine the slope of each line segment.</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a.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𝐴𝐵</m:t>
                        </m:r>
                      </m:e>
                    </m:acc>
                  </m:oMath>
                </a14:m>
                <a:r>
                  <a:rPr lang="en-US" sz="2800" dirty="0">
                    <a:latin typeface="Calibri" panose="020F0502020204030204" pitchFamily="34" charset="0"/>
                    <a:ea typeface="Calibri" panose="020F0502020204030204" pitchFamily="34" charset="0"/>
                    <a:cs typeface="Calibri" panose="020F0502020204030204" pitchFamily="34" charset="0"/>
                  </a:rPr>
                  <a:t>				b.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acc>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c.  </a:t>
                </a:r>
                <a14:m>
                  <m:oMath xmlns:m="http://schemas.openxmlformats.org/officeDocument/2006/math">
                    <m:acc>
                      <m:accPr>
                        <m:chr m:val="̅"/>
                        <m:ctrlPr>
                          <a:rPr lang="en-US" sz="2800" i="1">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i="1">
                            <a:latin typeface="Cambria Math" panose="02040503050406030204" pitchFamily="18" charset="0"/>
                          </a:rPr>
                          <m:t>𝐵</m:t>
                        </m:r>
                        <m:r>
                          <a:rPr lang="en-US" sz="2800" b="0" i="1" smtClean="0">
                            <a:latin typeface="Cambria Math" panose="02040503050406030204" pitchFamily="18" charset="0"/>
                          </a:rPr>
                          <m:t>′</m:t>
                        </m:r>
                        <m:r>
                          <a:rPr lang="en-US" sz="2800" i="1">
                            <a:latin typeface="Cambria Math" panose="02040503050406030204" pitchFamily="18" charset="0"/>
                          </a:rPr>
                          <m:t>′</m:t>
                        </m:r>
                      </m:e>
                    </m:acc>
                  </m:oMath>
                </a14:m>
                <a:r>
                  <a:rPr lang="en-US" sz="2800" dirty="0">
                    <a:latin typeface="Calibri" panose="020F0502020204030204" pitchFamily="34" charset="0"/>
                    <a:ea typeface="Calibri" panose="020F0502020204030204" pitchFamily="34" charset="0"/>
                    <a:cs typeface="Calibri" panose="020F0502020204030204" pitchFamily="34" charset="0"/>
                  </a:rPr>
                  <a:t>				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𝐴</m:t>
                        </m:r>
                        <m:r>
                          <a:rPr lang="en-US" sz="2800" i="1">
                            <a:latin typeface="Cambria Math" panose="02040503050406030204" pitchFamily="18" charset="0"/>
                          </a:rPr>
                          <m:t>′′′</m:t>
                        </m:r>
                        <m:r>
                          <a:rPr lang="en-US" sz="2800" i="1">
                            <a:latin typeface="Cambria Math" panose="02040503050406030204" pitchFamily="18" charset="0"/>
                          </a:rPr>
                          <m:t>𝐵</m:t>
                        </m:r>
                        <m:r>
                          <a:rPr lang="en-US" sz="2800" i="1">
                            <a:latin typeface="Cambria Math" panose="02040503050406030204" pitchFamily="18" charset="0"/>
                          </a:rPr>
                          <m:t>′′′</m:t>
                        </m:r>
                      </m:e>
                    </m:acc>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TextBox 2">
                <a:extLst>
                  <a:ext uri="{FF2B5EF4-FFF2-40B4-BE49-F238E27FC236}">
                    <a16:creationId xmlns:a16="http://schemas.microsoft.com/office/drawing/2014/main" id="{3ACA8BD3-FE42-396F-214E-7137DD6655F5}"/>
                  </a:ext>
                </a:extLst>
              </p:cNvPr>
              <p:cNvSpPr txBox="1">
                <a:spLocks noRot="1" noChangeAspect="1" noMove="1" noResize="1" noEditPoints="1" noAdjustHandles="1" noChangeArrowheads="1" noChangeShapeType="1" noTextEdit="1"/>
              </p:cNvSpPr>
              <p:nvPr/>
            </p:nvSpPr>
            <p:spPr>
              <a:xfrm>
                <a:off x="777240" y="1602297"/>
                <a:ext cx="10824734" cy="4468659"/>
              </a:xfrm>
              <a:prstGeom prst="rect">
                <a:avLst/>
              </a:prstGeom>
              <a:blipFill>
                <a:blip r:embed="rId3"/>
                <a:stretch>
                  <a:fillRect l="-1183" t="-1501" b="-3001"/>
                </a:stretch>
              </a:blipFill>
            </p:spPr>
            <p:txBody>
              <a:bodyPr/>
              <a:lstStyle/>
              <a:p>
                <a:r>
                  <a:rPr lang="en-US">
                    <a:noFill/>
                  </a:rPr>
                  <a:t> </a:t>
                </a:r>
              </a:p>
            </p:txBody>
          </p:sp>
        </mc:Fallback>
      </mc:AlternateContent>
      <p:sp>
        <p:nvSpPr>
          <p:cNvPr id="507" name="Answer 507"/>
          <p:cNvSpPr txBox="1"/>
          <p:nvPr/>
        </p:nvSpPr>
        <p:spPr>
          <a:xfrm>
            <a:off x="889000" y="2413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Each 90° counterclockwise rotation changes (x, y) to (−y, x): B(8, 5) → B′(−5, 8) → B″(−8, −5) → B‴(5, −8). Endpoint A is the center of rotation, so it does not change.</a:t>
            </a:r>
          </a:p>
        </p:txBody>
      </p:sp>
      <p:sp>
        <p:nvSpPr>
          <p:cNvPr id="508" name="Answer 508"/>
          <p:cNvSpPr txBox="1"/>
          <p:nvPr/>
        </p:nvSpPr>
        <p:spPr>
          <a:xfrm>
            <a:off x="2984500" y="469900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5/8</a:t>
            </a:r>
          </a:p>
        </p:txBody>
      </p:sp>
      <p:sp>
        <p:nvSpPr>
          <p:cNvPr id="509" name="Answer 509"/>
          <p:cNvSpPr txBox="1"/>
          <p:nvPr/>
        </p:nvSpPr>
        <p:spPr>
          <a:xfrm>
            <a:off x="7112000" y="469900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−8/5</a:t>
            </a:r>
          </a:p>
        </p:txBody>
      </p:sp>
      <p:sp>
        <p:nvSpPr>
          <p:cNvPr id="510" name="Answer 510"/>
          <p:cNvSpPr txBox="1"/>
          <p:nvPr/>
        </p:nvSpPr>
        <p:spPr>
          <a:xfrm>
            <a:off x="2984500" y="558800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5/8</a:t>
            </a:r>
          </a:p>
        </p:txBody>
      </p:sp>
      <p:sp>
        <p:nvSpPr>
          <p:cNvPr id="511" name="Answer 511"/>
          <p:cNvSpPr txBox="1"/>
          <p:nvPr/>
        </p:nvSpPr>
        <p:spPr>
          <a:xfrm>
            <a:off x="7112000" y="558800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−8/5</a:t>
            </a:r>
          </a:p>
        </p:txBody>
      </p:sp>
    </p:spTree>
    <p:extLst>
      <p:ext uri="{BB962C8B-B14F-4D97-AF65-F5344CB8AC3E}">
        <p14:creationId xmlns:p14="http://schemas.microsoft.com/office/powerpoint/2010/main" val="294407282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50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0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(3 of 5)</a:t>
            </a:r>
            <a:endParaRPr dirty="0">
              <a:solidFill>
                <a:schemeClr val="bg1"/>
              </a:solidFill>
            </a:endParaRPr>
          </a:p>
        </p:txBody>
      </p:sp>
      <p:sp>
        <p:nvSpPr>
          <p:cNvPr id="507" name="Google Shape;507;p7"/>
          <p:cNvSpPr txBox="1"/>
          <p:nvPr/>
        </p:nvSpPr>
        <p:spPr>
          <a:xfrm>
            <a:off x="777240" y="1598704"/>
            <a:ext cx="2462795" cy="1015663"/>
          </a:xfrm>
          <a:prstGeom prst="rect">
            <a:avLst/>
          </a:prstGeom>
          <a:noFill/>
          <a:ln w="38100" cap="flat" cmpd="sng">
            <a:solidFill>
              <a:srgbClr val="008F4C"/>
            </a:solidFill>
            <a:prstDash val="sysDot"/>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00000"/>
                </a:solidFill>
                <a:latin typeface="Calibri"/>
                <a:ea typeface="Calibri"/>
                <a:cs typeface="Calibri"/>
                <a:sym typeface="Calibri"/>
              </a:rPr>
              <a:t>Review the definition of </a:t>
            </a:r>
            <a:r>
              <a:rPr lang="en-US" sz="2000" b="1">
                <a:solidFill>
                  <a:srgbClr val="000000"/>
                </a:solidFill>
                <a:latin typeface="Calibri"/>
                <a:ea typeface="Calibri"/>
                <a:cs typeface="Calibri"/>
                <a:sym typeface="Calibri"/>
              </a:rPr>
              <a:t>describe</a:t>
            </a:r>
            <a:r>
              <a:rPr lang="en-US" sz="2000">
                <a:solidFill>
                  <a:srgbClr val="000000"/>
                </a:solidFill>
                <a:latin typeface="Calibri"/>
                <a:ea typeface="Calibri"/>
                <a:cs typeface="Calibri"/>
                <a:sym typeface="Calibri"/>
              </a:rPr>
              <a:t> in the Academic Glossary.</a:t>
            </a:r>
            <a:endParaRPr/>
          </a:p>
        </p:txBody>
      </p:sp>
      <p:sp>
        <p:nvSpPr>
          <p:cNvPr id="3" name="TextBox 2">
            <a:extLst>
              <a:ext uri="{FF2B5EF4-FFF2-40B4-BE49-F238E27FC236}">
                <a16:creationId xmlns:a16="http://schemas.microsoft.com/office/drawing/2014/main" id="{A1DA5E90-59FB-FF30-2BDD-07F9060D885E}"/>
              </a:ext>
            </a:extLst>
          </p:cNvPr>
          <p:cNvSpPr txBox="1"/>
          <p:nvPr/>
        </p:nvSpPr>
        <p:spPr>
          <a:xfrm>
            <a:off x="3842158" y="1602297"/>
            <a:ext cx="7743038" cy="954107"/>
          </a:xfrm>
          <a:prstGeom prst="rect">
            <a:avLst/>
          </a:prstGeom>
          <a:noFill/>
        </p:spPr>
        <p:txBody>
          <a:bodyPr wrap="square" rtlCol="0">
            <a:spAutoFit/>
          </a:bodyPr>
          <a:lstStyle/>
          <a:p>
            <a:pPr marL="461963" indent="-461963"/>
            <a:r>
              <a:rPr lang="en-US" sz="2800" dirty="0">
                <a:latin typeface="Calibri" panose="020F0502020204030204" pitchFamily="34" charset="0"/>
                <a:ea typeface="Calibri" panose="020F0502020204030204" pitchFamily="34" charset="0"/>
                <a:cs typeface="Calibri" panose="020F0502020204030204" pitchFamily="34" charset="0"/>
              </a:rPr>
              <a:t>4.  </a:t>
            </a:r>
            <a:r>
              <a:rPr lang="en-US" sz="2800" b="1" dirty="0">
                <a:latin typeface="Calibri" panose="020F0502020204030204" pitchFamily="34" charset="0"/>
                <a:ea typeface="Calibri" panose="020F0502020204030204" pitchFamily="34" charset="0"/>
                <a:cs typeface="Calibri" panose="020F0502020204030204" pitchFamily="34" charset="0"/>
              </a:rPr>
              <a:t>Describe</a:t>
            </a:r>
            <a:r>
              <a:rPr lang="en-US" sz="2800" dirty="0">
                <a:latin typeface="Calibri" panose="020F0502020204030204" pitchFamily="34" charset="0"/>
                <a:ea typeface="Calibri" panose="020F0502020204030204" pitchFamily="34" charset="0"/>
                <a:cs typeface="Calibri" panose="020F0502020204030204" pitchFamily="34" charset="0"/>
              </a:rPr>
              <a:t> any patterns you notice in the slopes of    the figures.</a:t>
            </a:r>
          </a:p>
        </p:txBody>
      </p:sp>
      <p:sp>
        <p:nvSpPr>
          <p:cNvPr id="508" name="Answer 508"/>
          <p:cNvSpPr txBox="1"/>
          <p:nvPr/>
        </p:nvSpPr>
        <p:spPr>
          <a:xfrm>
            <a:off x="3911600" y="2667000"/>
            <a:ext cx="8001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AB and A″B″ (0° and 180°) have equal slopes, 5/8. A′B′ and A‴B‴ (90° and 270°) have equal slopes, −8/5. The two slopes are reciprocals with opposite signs: (5/8)(−8/5) = −1.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(4 of 5)</a:t>
            </a:r>
            <a:endParaRPr dirty="0">
              <a:solidFill>
                <a:schemeClr val="bg1"/>
              </a:solidFill>
            </a:endParaRPr>
          </a:p>
        </p:txBody>
      </p:sp>
      <p:sp>
        <p:nvSpPr>
          <p:cNvPr id="519" name="Google Shape;519;p8"/>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the Getting Started!</a:t>
            </a:r>
            <a:endParaRPr/>
          </a:p>
        </p:txBody>
      </p:sp>
      <p:pic>
        <p:nvPicPr>
          <p:cNvPr id="520" name="Google Shape;520;p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(5 of 5)</a:t>
            </a:r>
            <a:endParaRPr dirty="0">
              <a:solidFill>
                <a:schemeClr val="bg1"/>
              </a:solidFill>
            </a:endParaRPr>
          </a:p>
        </p:txBody>
      </p:sp>
      <p:sp>
        <p:nvSpPr>
          <p:cNvPr id="527" name="Google Shape;527;p9">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10"/>
          <p:cNvSpPr txBox="1">
            <a:spLocks noGrp="1"/>
          </p:cNvSpPr>
          <p:nvPr>
            <p:ph type="title" idx="4294967295"/>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3.1</a:t>
            </a:r>
            <a:endParaRPr sz="2000" dirty="0">
              <a:solidFill>
                <a:schemeClr val="tx2"/>
              </a:solidFill>
            </a:endParaRPr>
          </a:p>
        </p:txBody>
      </p:sp>
      <p:sp>
        <p:nvSpPr>
          <p:cNvPr id="534" name="Google Shape;534;p10" descr="20 to 25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535" name="Google Shape;535;p1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(1 of 9)</a:t>
            </a:r>
            <a:endParaRPr dirty="0">
              <a:solidFill>
                <a:schemeClr val="bg1"/>
              </a:solidFill>
            </a:endParaRPr>
          </a:p>
        </p:txBody>
      </p:sp>
      <p:sp>
        <p:nvSpPr>
          <p:cNvPr id="542" name="Google Shape;542;p11"/>
          <p:cNvSpPr txBox="1"/>
          <p:nvPr/>
        </p:nvSpPr>
        <p:spPr>
          <a:xfrm>
            <a:off x="777240" y="1602297"/>
            <a:ext cx="9893555" cy="198819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Recall that perpendicular lines or line segments form a right angle at the point of intersection.</a:t>
            </a:r>
          </a:p>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three graphs shown. Each shows a line and its rotation 90° about a point, which is also the point of intersection.</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descr="A graph of 2 lines on the coordinate plane. Line A rises from left to right through the points (0, 0) and (2, 2). Line A prime falls from left to right through the points (0, 0) and (2, negative 2). The two lines intersect at the point (0, 0).">
            <a:extLst>
              <a:ext uri="{FF2B5EF4-FFF2-40B4-BE49-F238E27FC236}">
                <a16:creationId xmlns:a16="http://schemas.microsoft.com/office/drawing/2014/main" id="{FE5CB250-2888-5214-2EB8-EFB6DCE7F00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3765862"/>
            <a:ext cx="2728196" cy="2712955"/>
          </a:xfrm>
          <a:prstGeom prst="rect">
            <a:avLst/>
          </a:prstGeom>
        </p:spPr>
      </p:pic>
      <p:pic>
        <p:nvPicPr>
          <p:cNvPr id="5" name="Picture 4" descr="A graph of 2 lines on the coordinate plane. Line B rises from left to right through the points (0, 5) and (3, 6). Line B prime falls from left to right through the points (0, 5) and (1, 2). The two lines intersect at the point (0, 5).">
            <a:extLst>
              <a:ext uri="{FF2B5EF4-FFF2-40B4-BE49-F238E27FC236}">
                <a16:creationId xmlns:a16="http://schemas.microsoft.com/office/drawing/2014/main" id="{C0D23B6C-05C3-8472-5A7D-D77A244A458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344677" y="3765862"/>
            <a:ext cx="2758679" cy="2712955"/>
          </a:xfrm>
          <a:prstGeom prst="rect">
            <a:avLst/>
          </a:prstGeom>
        </p:spPr>
      </p:pic>
      <p:pic>
        <p:nvPicPr>
          <p:cNvPr id="7" name="Picture 6" descr="A graph of 2 lines on the coordinate plane. Line C rises from left to right through the points (0, negative 4) and (6, 5). Line C prime falls from left to right through the points (0, 9) and (6, 5). The two lines intersect at the point (6, 5).">
            <a:extLst>
              <a:ext uri="{FF2B5EF4-FFF2-40B4-BE49-F238E27FC236}">
                <a16:creationId xmlns:a16="http://schemas.microsoft.com/office/drawing/2014/main" id="{6C8268D6-971E-C481-5710-9CF55083C60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942597" y="3758241"/>
            <a:ext cx="2781541" cy="27281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(2 of 9)</a:t>
            </a:r>
            <a:endParaRPr dirty="0">
              <a:solidFill>
                <a:schemeClr val="bg1"/>
              </a:solidFill>
            </a:endParaRPr>
          </a:p>
        </p:txBody>
      </p:sp>
      <p:sp>
        <p:nvSpPr>
          <p:cNvPr id="2" name="Google Shape;559;p13">
            <a:extLst>
              <a:ext uri="{FF2B5EF4-FFF2-40B4-BE49-F238E27FC236}">
                <a16:creationId xmlns:a16="http://schemas.microsoft.com/office/drawing/2014/main" id="{E7579E60-15A9-40B4-3249-5ABF2A8814E8}"/>
              </a:ext>
            </a:extLst>
          </p:cNvPr>
          <p:cNvSpPr txBox="1"/>
          <p:nvPr/>
        </p:nvSpPr>
        <p:spPr>
          <a:xfrm>
            <a:off x="777241" y="1602297"/>
            <a:ext cx="7150356" cy="38086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Are the lines in each graph perpendicular? Explain your reasoning. </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sz="2800" dirty="0">
              <a:solidFill>
                <a:srgbClr val="000000"/>
              </a:solidFill>
              <a:latin typeface="Calibri"/>
              <a:ea typeface="Calibri"/>
              <a:cs typeface="Calibri"/>
              <a:sym typeface="Calibri"/>
            </a:endParaRPr>
          </a:p>
          <a:p>
            <a:pPr marL="514350" marR="0" lvl="0" indent="-514350" algn="l" rtl="0">
              <a:spcBef>
                <a:spcPts val="56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Write the equation for each line and its transformation. What do you notice?</a:t>
            </a:r>
            <a:endParaRPr dirty="0"/>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881EDF44-CC55-218D-5A4F-1D03649A537A}"/>
                  </a:ext>
                </a:extLst>
              </p:cNvPr>
              <p:cNvSpPr/>
              <p:nvPr/>
            </p:nvSpPr>
            <p:spPr>
              <a:xfrm>
                <a:off x="9068499" y="1719743"/>
                <a:ext cx="2344673" cy="455522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reciprocal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is the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nonzero numbers. Because the product of a number and its reciprocal is one, reciprocal numbers are also known as multiplicative inverses.</a:t>
                </a:r>
              </a:p>
            </p:txBody>
          </p:sp>
        </mc:Choice>
        <mc:Fallback xmlns="">
          <p:sp>
            <p:nvSpPr>
              <p:cNvPr id="3" name="Rectangle 2">
                <a:extLst>
                  <a:ext uri="{FF2B5EF4-FFF2-40B4-BE49-F238E27FC236}">
                    <a16:creationId xmlns:a16="http://schemas.microsoft.com/office/drawing/2014/main" id="{881EDF44-CC55-218D-5A4F-1D03649A537A}"/>
                  </a:ext>
                </a:extLst>
              </p:cNvPr>
              <p:cNvSpPr>
                <a:spLocks noRot="1" noChangeAspect="1" noMove="1" noResize="1" noEditPoints="1" noAdjustHandles="1" noChangeArrowheads="1" noChangeShapeType="1" noTextEdit="1"/>
              </p:cNvSpPr>
              <p:nvPr/>
            </p:nvSpPr>
            <p:spPr>
              <a:xfrm>
                <a:off x="9068499" y="1719743"/>
                <a:ext cx="2344673" cy="4555222"/>
              </a:xfrm>
              <a:prstGeom prst="rect">
                <a:avLst/>
              </a:prstGeom>
              <a:blipFill>
                <a:blip r:embed="rId3"/>
                <a:stretch>
                  <a:fillRect l="-2051"/>
                </a:stretch>
              </a:blipFill>
              <a:ln w="38100">
                <a:solidFill>
                  <a:schemeClr val="accent3">
                    <a:lumMod val="75000"/>
                  </a:schemeClr>
                </a:solidFill>
                <a:prstDash val="sysDot"/>
              </a:ln>
            </p:spPr>
            <p:txBody>
              <a:bodyPr/>
              <a:lstStyle/>
              <a:p>
                <a:r>
                  <a:rPr lang="en-US">
                    <a:noFill/>
                  </a:rPr>
                  <a:t> </a:t>
                </a:r>
              </a:p>
            </p:txBody>
          </p:sp>
        </mc:Fallback>
      </mc:AlternateContent>
      <p:sp>
        <p:nvSpPr>
          <p:cNvPr id="550" name="Answer 550"/>
          <p:cNvSpPr txBox="1"/>
          <p:nvPr/>
        </p:nvSpPr>
        <p:spPr>
          <a:xfrm>
            <a:off x="774700" y="2349500"/>
            <a:ext cx="793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Yes. Each line is rotated 90°, so the lines meet at a 90° angle, a right angle. Lines that form right angles are perpendicular.</a:t>
            </a:r>
          </a:p>
        </p:txBody>
      </p:sp>
      <p:sp>
        <p:nvSpPr>
          <p:cNvPr id="551" name="Answer 551"/>
          <p:cNvSpPr txBox="1"/>
          <p:nvPr/>
        </p:nvSpPr>
        <p:spPr>
          <a:xfrm>
            <a:off x="774700" y="3937000"/>
            <a:ext cx="8128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 y = x;   A′: y = −x</a:t>
            </a:r>
          </a:p>
          <a:p>
            <a:pPr marL="0" indent="0" algn="l">
              <a:spcBef>
                <a:spcPts val="0"/>
              </a:spcBef>
              <a:spcAft>
                <a:spcPts val="300"/>
              </a:spcAft>
              <a:buNone/>
            </a:pPr>
            <a:r>
              <a:rPr lang="en-US" sz="2000" dirty="0">
                <a:solidFill>
                  <a:srgbClr val="FF0000"/>
                </a:solidFill>
              </a:rPr>
              <a:t>B: y = (1/3)x + 5;   B′: y = −3x + 5</a:t>
            </a:r>
          </a:p>
          <a:p>
            <a:pPr marL="0" indent="0" algn="l">
              <a:spcBef>
                <a:spcPts val="0"/>
              </a:spcBef>
              <a:spcAft>
                <a:spcPts val="300"/>
              </a:spcAft>
              <a:buNone/>
            </a:pPr>
            <a:r>
              <a:rPr lang="en-US" sz="2000" dirty="0">
                <a:solidFill>
                  <a:srgbClr val="FF0000"/>
                </a:solidFill>
              </a:rPr>
              <a:t>C: y = −(2/3)x + 9;   C′: y = (3/2)x − 4</a:t>
            </a:r>
          </a:p>
          <a:p>
            <a:pPr marL="0" indent="0" algn="l">
              <a:spcBef>
                <a:spcPts val="0"/>
              </a:spcBef>
              <a:spcAft>
                <a:spcPts val="300"/>
              </a:spcAft>
              <a:buNone/>
            </a:pPr>
            <a:r>
              <a:rPr lang="en-US" sz="2000" dirty="0">
                <a:solidFill>
                  <a:srgbClr val="FF0000"/>
                </a:solidFill>
              </a:rPr>
              <a:t>The slopes of each pair are reciprocals with opposite signs.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5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5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9" name="Google Shape;569;p14">
            <a:extLst>
              <a:ext uri="{C183D7F6-B498-43B3-948B-1728B52AA6E4}">
                <adec:decorative xmlns:adec="http://schemas.microsoft.com/office/drawing/2017/decorative" val="1"/>
              </a:ext>
            </a:extLst>
          </p:cNvPr>
          <p:cNvSpPr/>
          <p:nvPr/>
        </p:nvSpPr>
        <p:spPr>
          <a:xfrm>
            <a:off x="3288483" y="2233987"/>
            <a:ext cx="8707774" cy="430530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66" name="Google Shape;566;p1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(3 of 9)</a:t>
            </a:r>
            <a:endParaRPr dirty="0">
              <a:solidFill>
                <a:schemeClr val="bg1"/>
              </a:solidFill>
            </a:endParaRPr>
          </a:p>
        </p:txBody>
      </p:sp>
      <p:sp>
        <p:nvSpPr>
          <p:cNvPr id="567" name="Google Shape;567;p14"/>
          <p:cNvSpPr txBox="1"/>
          <p:nvPr/>
        </p:nvSpPr>
        <p:spPr>
          <a:xfrm>
            <a:off x="777240" y="1352379"/>
            <a:ext cx="5749556" cy="5545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Consider the theorem.</a:t>
            </a:r>
            <a:endParaRPr sz="28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B3805B3E-FF8A-AC75-CECA-8CC432671309}"/>
                  </a:ext>
                </a:extLst>
              </p:cNvPr>
              <p:cNvSpPr/>
              <p:nvPr/>
            </p:nvSpPr>
            <p:spPr>
              <a:xfrm>
                <a:off x="777240" y="2726351"/>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symbol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rPr>
                      <m:t>⊥</m:t>
                    </m:r>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means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is perpendicular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to.</a:t>
                </a:r>
              </a:p>
            </p:txBody>
          </p:sp>
        </mc:Choice>
        <mc:Fallback xmlns="">
          <p:sp>
            <p:nvSpPr>
              <p:cNvPr id="2" name="Rectangle 1">
                <a:extLst>
                  <a:ext uri="{FF2B5EF4-FFF2-40B4-BE49-F238E27FC236}">
                    <a16:creationId xmlns:a16="http://schemas.microsoft.com/office/drawing/2014/main" id="{B3805B3E-FF8A-AC75-CECA-8CC432671309}"/>
                  </a:ext>
                </a:extLst>
              </p:cNvPr>
              <p:cNvSpPr>
                <a:spLocks noRot="1" noChangeAspect="1" noMove="1" noResize="1" noEditPoints="1" noAdjustHandles="1" noChangeArrowheads="1" noChangeShapeType="1" noTextEdit="1"/>
              </p:cNvSpPr>
              <p:nvPr/>
            </p:nvSpPr>
            <p:spPr>
              <a:xfrm>
                <a:off x="777240" y="2726351"/>
                <a:ext cx="2343464" cy="1541548"/>
              </a:xfrm>
              <a:prstGeom prst="rect">
                <a:avLst/>
              </a:prstGeom>
              <a:blipFill>
                <a:blip r:embed="rId3"/>
                <a:stretch>
                  <a:fillRect l="-2051" r="-3846"/>
                </a:stretch>
              </a:blipFill>
              <a:ln w="38100">
                <a:solidFill>
                  <a:schemeClr val="accent3">
                    <a:lumMod val="75000"/>
                  </a:schemeClr>
                </a:solidFill>
                <a:prstDash val="sysDot"/>
              </a:ln>
            </p:spPr>
            <p:txBody>
              <a:bodyPr/>
              <a:lstStyle/>
              <a:p>
                <a:r>
                  <a:rPr lang="en-US">
                    <a:noFill/>
                  </a:rPr>
                  <a:t> </a:t>
                </a:r>
              </a:p>
            </p:txBody>
          </p:sp>
        </mc:Fallback>
      </mc:AlternateContent>
      <p:sp>
        <p:nvSpPr>
          <p:cNvPr id="3" name="Rectangle 2">
            <a:extLst>
              <a:ext uri="{FF2B5EF4-FFF2-40B4-BE49-F238E27FC236}">
                <a16:creationId xmlns:a16="http://schemas.microsoft.com/office/drawing/2014/main" id="{B8AF56E1-86F9-1026-BA65-B1ADE08440D5}"/>
              </a:ext>
            </a:extLst>
          </p:cNvPr>
          <p:cNvSpPr/>
          <p:nvPr/>
        </p:nvSpPr>
        <p:spPr>
          <a:xfrm>
            <a:off x="730376" y="4658848"/>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product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perpendicular lines is −1.</a:t>
            </a:r>
          </a:p>
        </p:txBody>
      </p:sp>
      <p:pic>
        <p:nvPicPr>
          <p:cNvPr id="570" name="Google Shape;570;p14" descr="Worked Example"/>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3905281" y="2020608"/>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p:cNvSpPr txBox="1"/>
              <p:nvPr/>
            </p:nvSpPr>
            <p:spPr>
              <a:xfrm>
                <a:off x="3598499" y="2507437"/>
                <a:ext cx="5159608" cy="400195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Theorem: </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If two lines are perpendicular, their slopes are negative reciprocals.</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Use the graph and the proof shown to analyze the validity of the theorem.</a:t>
                </a:r>
              </a:p>
              <a:p>
                <a:pPr marL="0" marR="0" lvl="0" indent="0" algn="l" rtl="0">
                  <a:spcBef>
                    <a:spcPts val="0"/>
                  </a:spcBef>
                  <a:spcAft>
                    <a:spcPts val="600"/>
                  </a:spcAft>
                  <a:buNone/>
                </a:pPr>
                <a:r>
                  <a:rPr lang="en-US" sz="2200" b="1" dirty="0">
                    <a:latin typeface="Calibri" panose="020F0502020204030204" pitchFamily="34" charset="0"/>
                    <a:ea typeface="Calibri" panose="020F0502020204030204" pitchFamily="34" charset="0"/>
                    <a:cs typeface="Calibri" panose="020F0502020204030204" pitchFamily="34" charset="0"/>
                    <a:sym typeface="Calibri"/>
                  </a:rPr>
                  <a:t>Given:</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14:m>
                  <m:oMath xmlns:m="http://schemas.openxmlformats.org/officeDocument/2006/math">
                    <m:r>
                      <a:rPr lang="en-US" sz="2200" b="0" i="1" smtClean="0">
                        <a:latin typeface="Cambria Math" panose="02040503050406030204" pitchFamily="18" charset="0"/>
                        <a:ea typeface="Calibri"/>
                        <a:cs typeface="Calibri"/>
                        <a:sym typeface="Calibri"/>
                      </a:rPr>
                      <m:t>𝑝</m:t>
                    </m:r>
                    <m:r>
                      <a:rPr lang="en-US" sz="2200" b="0" i="1" smtClean="0">
                        <a:latin typeface="Cambria Math" panose="02040503050406030204" pitchFamily="18" charset="0"/>
                        <a:ea typeface="Cambria Math" panose="02040503050406030204" pitchFamily="18" charset="0"/>
                        <a:cs typeface="Calibri"/>
                        <a:sym typeface="Calibri"/>
                      </a:rPr>
                      <m:t>⊥</m:t>
                    </m:r>
                    <m:r>
                      <a:rPr lang="en-US" sz="2200" b="0" i="1" smtClean="0">
                        <a:latin typeface="Cambria Math" panose="02040503050406030204" pitchFamily="18" charset="0"/>
                        <a:ea typeface="Cambria Math" panose="02040503050406030204" pitchFamily="18" charset="0"/>
                        <a:cs typeface="Calibri"/>
                        <a:sym typeface="Calibri"/>
                      </a:rPr>
                      <m:t>𝑞</m:t>
                    </m:r>
                  </m:oMath>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1</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and</a:t>
                </a:r>
                <a:br>
                  <a:rPr lang="en-US" sz="2200" dirty="0">
                    <a:latin typeface="Calibri" panose="020F0502020204030204" pitchFamily="34" charset="0"/>
                    <a:ea typeface="Calibri" panose="020F0502020204030204" pitchFamily="34" charset="0"/>
                    <a:cs typeface="Calibri" panose="020F0502020204030204" pitchFamily="34" charset="0"/>
                  </a:rPr>
                </a:b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2</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Point </a:t>
                </a:r>
                <a:r>
                  <a:rPr lang="en-US" sz="2200" i="1" dirty="0">
                    <a:latin typeface="Calibri" panose="020F0502020204030204" pitchFamily="34" charset="0"/>
                    <a:ea typeface="Calibri" panose="020F0502020204030204" pitchFamily="34" charset="0"/>
                    <a:cs typeface="Calibri" panose="020F0502020204030204" pitchFamily="34" charset="0"/>
                  </a:rPr>
                  <a:t>R</a:t>
                </a:r>
                <a:r>
                  <a:rPr lang="en-US" sz="2200" dirty="0">
                    <a:latin typeface="Calibri" panose="020F0502020204030204" pitchFamily="34" charset="0"/>
                    <a:ea typeface="Calibri" panose="020F0502020204030204" pitchFamily="34" charset="0"/>
                    <a:cs typeface="Calibri" panose="020F0502020204030204" pitchFamily="34" charset="0"/>
                  </a:rPr>
                  <a:t> lies on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0"/>
                  </a:spcAft>
                  <a:buNone/>
                </a:pPr>
                <a:r>
                  <a:rPr lang="en-US" sz="2200" b="1" dirty="0">
                    <a:latin typeface="Calibri" panose="020F0502020204030204" pitchFamily="34" charset="0"/>
                    <a:ea typeface="Calibri" panose="020F0502020204030204" pitchFamily="34" charset="0"/>
                    <a:cs typeface="Calibri" panose="020F0502020204030204" pitchFamily="34" charset="0"/>
                  </a:rPr>
                  <a:t>Prove:</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endParaRPr lang="en-US" sz="2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71" name="Google Shape;571;p14"/>
              <p:cNvSpPr txBox="1">
                <a:spLocks noRot="1" noChangeAspect="1" noMove="1" noResize="1" noEditPoints="1" noAdjustHandles="1" noChangeArrowheads="1" noChangeShapeType="1" noTextEdit="1"/>
              </p:cNvSpPr>
              <p:nvPr/>
            </p:nvSpPr>
            <p:spPr>
              <a:xfrm>
                <a:off x="3598499" y="2507437"/>
                <a:ext cx="5159608" cy="4001953"/>
              </a:xfrm>
              <a:prstGeom prst="rect">
                <a:avLst/>
              </a:prstGeom>
              <a:blipFill>
                <a:blip r:embed="rId5"/>
                <a:stretch>
                  <a:fillRect l="-1535" t="-913"/>
                </a:stretch>
              </a:blipFill>
              <a:ln>
                <a:noFill/>
              </a:ln>
            </p:spPr>
            <p:txBody>
              <a:bodyPr/>
              <a:lstStyle/>
              <a:p>
                <a:r>
                  <a:rPr lang="en-US">
                    <a:noFill/>
                  </a:rPr>
                  <a:t> </a:t>
                </a:r>
              </a:p>
            </p:txBody>
          </p:sp>
        </mc:Fallback>
      </mc:AlternateContent>
      <p:pic>
        <p:nvPicPr>
          <p:cNvPr id="565"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8404389" y="2686826"/>
            <a:ext cx="3008784" cy="316214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4">
          <a:extLst>
            <a:ext uri="{FF2B5EF4-FFF2-40B4-BE49-F238E27FC236}">
              <a16:creationId xmlns:a16="http://schemas.microsoft.com/office/drawing/2014/main" id="{20B0E827-1402-6CC3-F885-716D2670F7F6}"/>
            </a:ext>
          </a:extLst>
        </p:cNvPr>
        <p:cNvGrpSpPr/>
        <p:nvPr/>
      </p:nvGrpSpPr>
      <p:grpSpPr>
        <a:xfrm>
          <a:off x="0" y="0"/>
          <a:ext cx="0" cy="0"/>
          <a:chOff x="0" y="0"/>
          <a:chExt cx="0" cy="0"/>
        </a:xfrm>
      </p:grpSpPr>
      <p:sp>
        <p:nvSpPr>
          <p:cNvPr id="566" name="Google Shape;566;p14">
            <a:extLst>
              <a:ext uri="{FF2B5EF4-FFF2-40B4-BE49-F238E27FC236}">
                <a16:creationId xmlns:a16="http://schemas.microsoft.com/office/drawing/2014/main" id="{C8924D3C-D5A5-987A-A6DF-29534CDD733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(4 of 9)</a:t>
            </a:r>
            <a:endParaRPr dirty="0">
              <a:solidFill>
                <a:schemeClr val="bg1"/>
              </a:solidFill>
            </a:endParaRPr>
          </a:p>
        </p:txBody>
      </p:sp>
      <p:sp>
        <p:nvSpPr>
          <p:cNvPr id="569" name="Google Shape;569;p14">
            <a:extLst>
              <a:ext uri="{FF2B5EF4-FFF2-40B4-BE49-F238E27FC236}">
                <a16:creationId xmlns:a16="http://schemas.microsoft.com/office/drawing/2014/main" id="{4E60DD7F-1345-3DBF-1C98-6BB3F5762C40}"/>
              </a:ext>
              <a:ext uri="{C183D7F6-B498-43B3-948B-1728B52AA6E4}">
                <adec:decorative xmlns:adec="http://schemas.microsoft.com/office/drawing/2017/decorative" val="1"/>
              </a:ext>
            </a:extLst>
          </p:cNvPr>
          <p:cNvSpPr/>
          <p:nvPr/>
        </p:nvSpPr>
        <p:spPr>
          <a:xfrm>
            <a:off x="3288483" y="1400961"/>
            <a:ext cx="8707774" cy="5301842"/>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59ABC63C-24B7-02DE-8CC6-DC8E539E56CE}"/>
              </a:ext>
            </a:extLst>
          </p:cNvPr>
          <p:cNvSpPr/>
          <p:nvPr/>
        </p:nvSpPr>
        <p:spPr>
          <a:xfrm>
            <a:off x="777240" y="2382402"/>
            <a:ext cx="2343464" cy="2919440"/>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proof shown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paragraph proof. You will learn different formats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of proof as you investigate more</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lines and figures.</a:t>
            </a:r>
          </a:p>
        </p:txBody>
      </p:sp>
      <p:pic>
        <p:nvPicPr>
          <p:cNvPr id="570" name="Google Shape;570;p14" descr="Worked Example">
            <a:extLst>
              <a:ext uri="{FF2B5EF4-FFF2-40B4-BE49-F238E27FC236}">
                <a16:creationId xmlns:a16="http://schemas.microsoft.com/office/drawing/2014/main" id="{D360FA40-1F09-9B7B-A67E-A935EB4072AB}"/>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5339" y="1182662"/>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a:extLst>
                  <a:ext uri="{FF2B5EF4-FFF2-40B4-BE49-F238E27FC236}">
                    <a16:creationId xmlns:a16="http://schemas.microsoft.com/office/drawing/2014/main" id="{CE84560F-B97D-C1EA-C4CE-F9442E61558A}"/>
                  </a:ext>
                </a:extLst>
              </p:cNvPr>
              <p:cNvSpPr txBox="1"/>
              <p:nvPr/>
            </p:nvSpPr>
            <p:spPr>
              <a:xfrm>
                <a:off x="3539775" y="1654599"/>
                <a:ext cx="5330155" cy="49879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Rotate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90° counterclockwise using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O</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as the center of rotation. Since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perpendicular, the image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will lie on line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under this 90° rotation.</a:t>
                </a:r>
              </a:p>
              <a:p>
                <a:pPr marL="0" marR="0" lvl="0" indent="0" algn="l" rtl="0">
                  <a:spcBef>
                    <a:spcPts val="0"/>
                  </a:spcBef>
                  <a:spcAft>
                    <a:spcPts val="6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Since this rotation maps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and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negative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then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are transformed into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Graphically, you can see the movement of lengths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under the rotation.</a:t>
                </a:r>
              </a:p>
              <a:p>
                <a:r>
                  <a:rPr lang="en-US" sz="2200" dirty="0">
                    <a:latin typeface="Calibri" panose="020F0502020204030204" pitchFamily="34" charset="0"/>
                    <a:ea typeface="Calibri" panose="020F0502020204030204" pitchFamily="34" charset="0"/>
                    <a:cs typeface="Calibri" panose="020F0502020204030204" pitchFamily="34" charset="0"/>
                  </a:rPr>
                  <a:t>The graph shows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oMath>
                </a14:m>
                <a:r>
                  <a:rPr lang="en-US" sz="2200" dirty="0">
                    <a:latin typeface="Calibri" panose="020F0502020204030204" pitchFamily="34" charset="0"/>
                    <a:ea typeface="Calibri" panose="020F0502020204030204" pitchFamily="34" charset="0"/>
                    <a:cs typeface="Calibri" panose="020F0502020204030204" pitchFamily="34" charset="0"/>
                  </a:rPr>
                  <a:t>, and 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a:latin typeface="Cambria Math" panose="02040503050406030204" pitchFamily="18" charset="0"/>
                            <a:ea typeface="Calibri" panose="020F0502020204030204" pitchFamily="34" charset="0"/>
                            <a:cs typeface="Calibri" panose="020F0502020204030204" pitchFamily="34" charset="0"/>
                          </a:rPr>
                        </m:ctrlPr>
                      </m:sSubPr>
                      <m:e>
                        <m:r>
                          <a:rPr lang="en-US" sz="2200" i="1">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r>
                      <a:rPr lang="en-US" sz="2200" i="1">
                        <a:latin typeface="Cambria Math" panose="02040503050406030204" pitchFamily="18" charset="0"/>
                        <a:ea typeface="Calibri" panose="020F0502020204030204" pitchFamily="34" charset="0"/>
                        <a:cs typeface="Calibri" panose="020F0502020204030204" pitchFamily="34" charset="0"/>
                      </a:rPr>
                      <m:t>=</m:t>
                    </m:r>
                    <m:f>
                      <m:fPr>
                        <m:ctrlPr>
                          <a:rPr lang="en-US" sz="2200" i="1">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571" name="Google Shape;571;p14">
                <a:extLst>
                  <a:ext uri="{FF2B5EF4-FFF2-40B4-BE49-F238E27FC236}">
                    <a16:creationId xmlns:a16="http://schemas.microsoft.com/office/drawing/2014/main" id="{CE84560F-B97D-C1EA-C4CE-F9442E61558A}"/>
                  </a:ext>
                </a:extLst>
              </p:cNvPr>
              <p:cNvSpPr txBox="1">
                <a:spLocks noRot="1" noChangeAspect="1" noMove="1" noResize="1" noEditPoints="1" noAdjustHandles="1" noChangeArrowheads="1" noChangeShapeType="1" noTextEdit="1"/>
              </p:cNvSpPr>
              <p:nvPr/>
            </p:nvSpPr>
            <p:spPr>
              <a:xfrm>
                <a:off x="3539775" y="1654599"/>
                <a:ext cx="5330155" cy="4987928"/>
              </a:xfrm>
              <a:prstGeom prst="rect">
                <a:avLst/>
              </a:prstGeom>
              <a:blipFill>
                <a:blip r:embed="rId4"/>
                <a:stretch>
                  <a:fillRect l="-1487" t="-733" r="-2403" b="-122"/>
                </a:stretch>
              </a:blipFill>
              <a:ln>
                <a:noFill/>
              </a:ln>
            </p:spPr>
            <p:txBody>
              <a:bodyPr/>
              <a:lstStyle/>
              <a:p>
                <a:r>
                  <a:rPr lang="en-US">
                    <a:noFill/>
                  </a:rPr>
                  <a:t> </a:t>
                </a:r>
              </a:p>
            </p:txBody>
          </p:sp>
        </mc:Fallback>
      </mc:AlternateContent>
      <p:pic>
        <p:nvPicPr>
          <p:cNvPr id="4"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139513E9-CF45-2C84-3CFC-302E936E6641}"/>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8928701" y="2470809"/>
            <a:ext cx="3008784" cy="3162145"/>
          </a:xfrm>
          <a:prstGeom prst="rect">
            <a:avLst/>
          </a:prstGeom>
          <a:noFill/>
          <a:ln>
            <a:noFill/>
          </a:ln>
        </p:spPr>
      </p:pic>
    </p:spTree>
    <p:extLst>
      <p:ext uri="{BB962C8B-B14F-4D97-AF65-F5344CB8AC3E}">
        <p14:creationId xmlns:p14="http://schemas.microsoft.com/office/powerpoint/2010/main" val="3398154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(5 of 9)</a:t>
            </a:r>
            <a:endParaRPr dirty="0">
              <a:solidFill>
                <a:schemeClr val="bg1"/>
              </a:solidFill>
            </a:endParaRPr>
          </a:p>
        </p:txBody>
      </p:sp>
      <p:sp>
        <p:nvSpPr>
          <p:cNvPr id="584" name="Google Shape;584;p15">
            <a:extLst>
              <a:ext uri="{C183D7F6-B498-43B3-948B-1728B52AA6E4}">
                <adec:decorative xmlns:adec="http://schemas.microsoft.com/office/drawing/2017/decorative" val="1"/>
              </a:ext>
            </a:extLst>
          </p:cNvPr>
          <p:cNvSpPr/>
          <p:nvPr/>
        </p:nvSpPr>
        <p:spPr>
          <a:xfrm>
            <a:off x="1760514" y="1990705"/>
            <a:ext cx="8669384" cy="449063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585" name="Google Shape;585;p15"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499409" y="1777326"/>
            <a:ext cx="2758679" cy="426757"/>
          </a:xfrm>
          <a:prstGeom prst="rect">
            <a:avLst/>
          </a:prstGeom>
          <a:noFill/>
          <a:ln>
            <a:noFill/>
          </a:ln>
        </p:spPr>
      </p:pic>
      <mc:AlternateContent xmlns:mc="http://schemas.openxmlformats.org/markup-compatibility/2006" xmlns:a14="http://schemas.microsoft.com/office/drawing/2010/main">
        <mc:Choice Requires="a14">
          <p:sp>
            <p:nvSpPr>
              <p:cNvPr id="3" name="Google Shape;571;p14">
                <a:extLst>
                  <a:ext uri="{FF2B5EF4-FFF2-40B4-BE49-F238E27FC236}">
                    <a16:creationId xmlns:a16="http://schemas.microsoft.com/office/drawing/2014/main" id="{C2BE9EF4-D191-007D-A56B-D8BB30DFA2BF}"/>
                  </a:ext>
                </a:extLst>
              </p:cNvPr>
              <p:cNvSpPr txBox="1"/>
              <p:nvPr/>
            </p:nvSpPr>
            <p:spPr>
              <a:xfrm>
                <a:off x="2214693" y="2244318"/>
                <a:ext cx="5159229" cy="423701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Using these slopes, you can demonstrate that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24"/>
                  </a:spcBef>
                  <a:spcAft>
                    <a:spcPts val="1200"/>
                  </a:spcAft>
                  <a:buNone/>
                </a:pPr>
                <a14:m>
                  <m:oMathPara xmlns:m="http://schemas.openxmlformats.org/officeDocument/2006/math">
                    <m:oMathParaPr>
                      <m:jc m:val="centerGroup"/>
                    </m:oMathParaPr>
                    <m:oMath xmlns:m="http://schemas.openxmlformats.org/officeDocument/2006/math">
                      <m:f>
                        <m:fPr>
                          <m:ctrlPr>
                            <a:rPr lang="en-US" sz="220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den>
                      </m:f>
                    </m:oMath>
                    <m:oMath xmlns:m="http://schemas.openxmlformats.org/officeDocument/2006/math">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1</m:t>
                      </m:r>
                      <m: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m:t>
                          </m:r>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 xmlns:m="http://schemas.openxmlformats.org/officeDocument/2006/math">
                      <m:r>
                        <m:rPr>
                          <m:aln/>
                        </m:rP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Para>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24"/>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is the negative reciprocal of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Google Shape;571;p14">
                <a:extLst>
                  <a:ext uri="{FF2B5EF4-FFF2-40B4-BE49-F238E27FC236}">
                    <a16:creationId xmlns:a16="http://schemas.microsoft.com/office/drawing/2014/main" id="{C2BE9EF4-D191-007D-A56B-D8BB30DFA2BF}"/>
                  </a:ext>
                </a:extLst>
              </p:cNvPr>
              <p:cNvSpPr txBox="1">
                <a:spLocks noRot="1" noChangeAspect="1" noMove="1" noResize="1" noEditPoints="1" noAdjustHandles="1" noChangeArrowheads="1" noChangeShapeType="1" noTextEdit="1"/>
              </p:cNvSpPr>
              <p:nvPr/>
            </p:nvSpPr>
            <p:spPr>
              <a:xfrm>
                <a:off x="2214693" y="2244318"/>
                <a:ext cx="5159229" cy="4237017"/>
              </a:xfrm>
              <a:prstGeom prst="rect">
                <a:avLst/>
              </a:prstGeom>
              <a:blipFill>
                <a:blip r:embed="rId4"/>
                <a:stretch>
                  <a:fillRect l="-1535" t="-1007" r="-2479"/>
                </a:stretch>
              </a:blipFill>
              <a:ln>
                <a:noFill/>
              </a:ln>
            </p:spPr>
            <p:txBody>
              <a:bodyPr/>
              <a:lstStyle/>
              <a:p>
                <a:r>
                  <a:rPr lang="en-US">
                    <a:noFill/>
                  </a:rPr>
                  <a:t> </a:t>
                </a:r>
              </a:p>
            </p:txBody>
          </p:sp>
        </mc:Fallback>
      </mc:AlternateContent>
      <p:pic>
        <p:nvPicPr>
          <p:cNvPr id="2"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0EFF3649-1EF5-939B-1248-E573A810C06E}"/>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7485603" y="2715852"/>
            <a:ext cx="2832614" cy="3040336"/>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3" name="Google Shape;603;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(6 of 9)</a:t>
            </a:r>
            <a:endParaRPr dirty="0">
              <a:solidFill>
                <a:schemeClr val="bg1"/>
              </a:solidFill>
            </a:endParaRPr>
          </a:p>
        </p:txBody>
      </p:sp>
      <p:sp>
        <p:nvSpPr>
          <p:cNvPr id="2" name="TextBox 1">
            <a:extLst>
              <a:ext uri="{FF2B5EF4-FFF2-40B4-BE49-F238E27FC236}">
                <a16:creationId xmlns:a16="http://schemas.microsoft.com/office/drawing/2014/main" id="{399B7F68-0123-793A-C302-6E185690AD75}"/>
              </a:ext>
            </a:extLst>
          </p:cNvPr>
          <p:cNvSpPr txBox="1"/>
          <p:nvPr/>
        </p:nvSpPr>
        <p:spPr>
          <a:xfrm>
            <a:off x="777240" y="1615188"/>
            <a:ext cx="7267802" cy="2400657"/>
          </a:xfrm>
          <a:prstGeom prst="rect">
            <a:avLst/>
          </a:prstGeom>
          <a:noFill/>
        </p:spPr>
        <p:txBody>
          <a:bodyPr wrap="square" rtlCol="0">
            <a:sp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There is often more than one way to prove a theorem. Suppose that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R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is rotated 90° clockwise using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O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as the center of rotation.</a:t>
            </a:r>
          </a:p>
          <a:p>
            <a:pPr marL="511175" indent="-511175"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Rewrite the proof using the clockwise rotation of point </a:t>
            </a:r>
            <a:r>
              <a:rPr lang="en-US" sz="2800" i="1" dirty="0">
                <a:latin typeface="Calibri" panose="020F0502020204030204" pitchFamily="34" charset="0"/>
                <a:ea typeface="Calibri" panose="020F0502020204030204" pitchFamily="34" charset="0"/>
                <a:cs typeface="Calibri" panose="020F0502020204030204" pitchFamily="34" charset="0"/>
              </a:rPr>
              <a:t>R</a:t>
            </a:r>
            <a:r>
              <a:rPr lang="en-US" sz="2800" dirty="0">
                <a:latin typeface="Calibri" panose="020F0502020204030204" pitchFamily="34" charset="0"/>
                <a:ea typeface="Calibri" panose="020F0502020204030204" pitchFamily="34" charset="0"/>
                <a:cs typeface="Calibri" panose="020F0502020204030204" pitchFamily="34" charset="0"/>
              </a:rPr>
              <a:t>.</a:t>
            </a:r>
          </a:p>
        </p:txBody>
      </p:sp>
      <p:pic>
        <p:nvPicPr>
          <p:cNvPr id="602" name="Google Shape;602;p17" descr="A graph of 2 lines on the coordinate plane. Line p rises from left to right through the origin and point R at in quadrant 1. Line q falls from left to right through the origin and point D in quadrant 4. A right angle is marked between the 2 lines at their intersection at the origin."/>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8465485" y="1615188"/>
            <a:ext cx="3000529" cy="3627624"/>
          </a:xfrm>
          <a:prstGeom prst="rect">
            <a:avLst/>
          </a:prstGeom>
          <a:noFill/>
          <a:ln>
            <a:noFill/>
          </a:ln>
        </p:spPr>
      </p:pic>
      <p:sp>
        <p:nvSpPr>
          <p:cNvPr id="604" name="Answer 604"/>
          <p:cNvSpPr txBox="1"/>
          <p:nvPr/>
        </p:nvSpPr>
        <p:spPr>
          <a:xfrm>
            <a:off x="774700" y="3746500"/>
            <a:ext cx="7493000" cy="298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Rotating R(a, b) 90° clockwise about O maps it onto line q at D(b, −a).</a:t>
            </a:r>
          </a:p>
          <a:p>
            <a:pPr marL="0" indent="0" algn="l">
              <a:spcBef>
                <a:spcPts val="0"/>
              </a:spcBef>
              <a:spcAft>
                <a:spcPts val="300"/>
              </a:spcAft>
              <a:buNone/>
            </a:pPr>
            <a:r>
              <a:rPr lang="en-US" sz="1800" dirty="0">
                <a:solidFill>
                  <a:srgbClr val="FF0000"/>
                </a:solidFill>
              </a:rPr>
              <a:t>Slope of p: m1 = b/a.   Slope of q: m2 = −a/b.</a:t>
            </a:r>
          </a:p>
          <a:p>
            <a:pPr marL="0" indent="0" algn="l">
              <a:spcBef>
                <a:spcPts val="0"/>
              </a:spcBef>
              <a:spcAft>
                <a:spcPts val="300"/>
              </a:spcAft>
              <a:buNone/>
            </a:pPr>
            <a:r>
              <a:rPr lang="en-US" sz="1800" dirty="0">
                <a:solidFill>
                  <a:srgbClr val="FF0000"/>
                </a:solidFill>
              </a:rPr>
              <a:t>−1/m2 = −1 ÷ (−a/b) = −1 · (b/−a) = b/a = m1, so m1 = −1/m2.</a:t>
            </a:r>
          </a:p>
          <a:p>
            <a:pPr marL="0" indent="0" algn="l">
              <a:spcBef>
                <a:spcPts val="0"/>
              </a:spcBef>
              <a:spcAft>
                <a:spcPts val="300"/>
              </a:spcAft>
              <a:buNone/>
            </a:pPr>
            <a:r>
              <a:rPr lang="en-US" sz="1800" dirty="0">
                <a:solidFill>
                  <a:srgbClr val="FF0000"/>
                </a:solidFill>
              </a:rPr>
              <a:t>The slopes are negative reciprocals.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01">
          <a:extLst>
            <a:ext uri="{FF2B5EF4-FFF2-40B4-BE49-F238E27FC236}">
              <a16:creationId xmlns:a16="http://schemas.microsoft.com/office/drawing/2014/main" id="{A3CEF403-885A-E16E-92D4-DFFF31065AA5}"/>
            </a:ext>
          </a:extLst>
        </p:cNvPr>
        <p:cNvGrpSpPr/>
        <p:nvPr/>
      </p:nvGrpSpPr>
      <p:grpSpPr>
        <a:xfrm>
          <a:off x="0" y="0"/>
          <a:ext cx="0" cy="0"/>
          <a:chOff x="0" y="0"/>
          <a:chExt cx="0" cy="0"/>
        </a:xfrm>
      </p:grpSpPr>
      <p:sp>
        <p:nvSpPr>
          <p:cNvPr id="603" name="Google Shape;603;p17">
            <a:extLst>
              <a:ext uri="{FF2B5EF4-FFF2-40B4-BE49-F238E27FC236}">
                <a16:creationId xmlns:a16="http://schemas.microsoft.com/office/drawing/2014/main" id="{B3D43CDF-8938-7970-0E77-849ACE3D5A9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(7 of 9)</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7FBF85B-F52A-3B8A-10FA-D9F384C38ED1}"/>
                  </a:ext>
                </a:extLst>
              </p:cNvPr>
              <p:cNvSpPr txBox="1"/>
              <p:nvPr/>
            </p:nvSpPr>
            <p:spPr>
              <a:xfrm>
                <a:off x="777240" y="1615188"/>
                <a:ext cx="9893556" cy="4407104"/>
              </a:xfrm>
              <a:prstGeom prst="rect">
                <a:avLst/>
              </a:prstGeom>
              <a:noFill/>
            </p:spPr>
            <p:txBody>
              <a:bodyPr wrap="square" rtlCol="0">
                <a:spAutoFit/>
              </a:bodyPr>
              <a:lstStyle/>
              <a:p>
                <a:pPr marL="514350" indent="-514350" algn="l">
                  <a:spcAft>
                    <a:spcPts val="600"/>
                  </a:spcAft>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and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 are perpendicular. Given each slope of 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determine the slope of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a:t>
                </a: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4</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5</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=−3</m:t>
                    </m:r>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07FBF85B-F52A-3B8A-10FA-D9F384C38ED1}"/>
                  </a:ext>
                </a:extLst>
              </p:cNvPr>
              <p:cNvSpPr txBox="1">
                <a:spLocks noRot="1" noChangeAspect="1" noMove="1" noResize="1" noEditPoints="1" noAdjustHandles="1" noChangeArrowheads="1" noChangeShapeType="1" noTextEdit="1"/>
              </p:cNvSpPr>
              <p:nvPr/>
            </p:nvSpPr>
            <p:spPr>
              <a:xfrm>
                <a:off x="777240" y="1615188"/>
                <a:ext cx="9893556" cy="4407104"/>
              </a:xfrm>
              <a:prstGeom prst="rect">
                <a:avLst/>
              </a:prstGeom>
              <a:blipFill>
                <a:blip r:embed="rId3"/>
                <a:stretch>
                  <a:fillRect l="-1295" t="-1521" b="-3043"/>
                </a:stretch>
              </a:blipFill>
            </p:spPr>
            <p:txBody>
              <a:bodyPr/>
              <a:lstStyle/>
              <a:p>
                <a:r>
                  <a:rPr lang="en-US">
                    <a:noFill/>
                  </a:rPr>
                  <a:t> </a:t>
                </a:r>
              </a:p>
            </p:txBody>
          </p:sp>
        </mc:Fallback>
      </mc:AlternateContent>
      <p:sp>
        <p:nvSpPr>
          <p:cNvPr id="604" name="Answer 604"/>
          <p:cNvSpPr txBox="1"/>
          <p:nvPr/>
        </p:nvSpPr>
        <p:spPr>
          <a:xfrm>
            <a:off x="3937000" y="27305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−3/2</a:t>
            </a:r>
          </a:p>
        </p:txBody>
      </p:sp>
      <p:sp>
        <p:nvSpPr>
          <p:cNvPr id="605" name="Answer 605"/>
          <p:cNvSpPr txBox="1"/>
          <p:nvPr/>
        </p:nvSpPr>
        <p:spPr>
          <a:xfrm>
            <a:off x="3937000" y="41656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5/4</a:t>
            </a:r>
          </a:p>
        </p:txBody>
      </p:sp>
      <p:sp>
        <p:nvSpPr>
          <p:cNvPr id="606" name="Answer 606"/>
          <p:cNvSpPr txBox="1"/>
          <p:nvPr/>
        </p:nvSpPr>
        <p:spPr>
          <a:xfrm>
            <a:off x="3937000" y="55372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1/3</a:t>
            </a:r>
          </a:p>
        </p:txBody>
      </p:sp>
    </p:spTree>
    <p:extLst>
      <p:ext uri="{BB962C8B-B14F-4D97-AF65-F5344CB8AC3E}">
        <p14:creationId xmlns:p14="http://schemas.microsoft.com/office/powerpoint/2010/main" val="8558918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0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0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(8 of 9)</a:t>
            </a:r>
            <a:endParaRPr dirty="0">
              <a:solidFill>
                <a:schemeClr val="bg1"/>
              </a:solidFill>
            </a:endParaRPr>
          </a:p>
        </p:txBody>
      </p:sp>
      <p:sp>
        <p:nvSpPr>
          <p:cNvPr id="614" name="Google Shape;614;p1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3.1!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pic>
        <p:nvPicPr>
          <p:cNvPr id="615" name="Google Shape;615;p1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21" name="Google Shape;621;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(9 of 9)</a:t>
            </a:r>
            <a:endParaRPr dirty="0">
              <a:solidFill>
                <a:schemeClr val="bg1"/>
              </a:solidFill>
            </a:endParaRPr>
          </a:p>
        </p:txBody>
      </p:sp>
      <p:sp>
        <p:nvSpPr>
          <p:cNvPr id="622" name="Google Shape;622;p1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0"/>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Day 2</a:t>
            </a:r>
            <a:endParaRPr sz="2000" dirty="0"/>
          </a:p>
        </p:txBody>
      </p:sp>
      <p:sp>
        <p:nvSpPr>
          <p:cNvPr id="629" name="Google Shape;629;p20"/>
          <p:cNvSpPr txBox="1">
            <a:spLocks noGrp="1"/>
          </p:cNvSpPr>
          <p:nvPr>
            <p:ph type="body" idx="1"/>
          </p:nvPr>
        </p:nvSpPr>
        <p:spPr>
          <a:xfrm>
            <a:off x="6451135" y="2832927"/>
            <a:ext cx="1269724"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2</a:t>
            </a: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4"/>
        <p:cNvGrpSpPr/>
        <p:nvPr/>
      </p:nvGrpSpPr>
      <p:grpSpPr>
        <a:xfrm>
          <a:off x="0" y="0"/>
          <a:ext cx="0" cy="0"/>
          <a:chOff x="0" y="0"/>
          <a:chExt cx="0" cy="0"/>
        </a:xfrm>
      </p:grpSpPr>
      <p:sp>
        <p:nvSpPr>
          <p:cNvPr id="635" name="Google Shape;635;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2)</a:t>
            </a:r>
            <a:endParaRPr dirty="0">
              <a:solidFill>
                <a:schemeClr val="bg1"/>
              </a:solidFill>
            </a:endParaRPr>
          </a:p>
        </p:txBody>
      </p:sp>
      <p:sp>
        <p:nvSpPr>
          <p:cNvPr id="636" name="Google Shape;636;p21"/>
          <p:cNvSpPr txBox="1"/>
          <p:nvPr/>
        </p:nvSpPr>
        <p:spPr>
          <a:xfrm>
            <a:off x="777240" y="1616140"/>
            <a:ext cx="10515600"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sp>
        <p:nvSpPr>
          <p:cNvPr id="637" name="Answer 637"/>
          <p:cNvSpPr txBox="1"/>
          <p:nvPr/>
        </p:nvSpPr>
        <p:spPr>
          <a:xfrm>
            <a:off x="774700" y="2667000"/>
            <a:ext cx="107315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Rotating a line 90° about a point maps (x, y) to (−y, x), so a slope b/a becomes −a/b. The slopes of perpendicular lines are negative reciprocals (their product is −1). Any vertical line is perpendicular to any horizontal line.</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sp>
        <p:nvSpPr>
          <p:cNvPr id="642" name="Google Shape;642;p22"/>
          <p:cNvSpPr txBox="1">
            <a:spLocks noGrp="1"/>
          </p:cNvSpPr>
          <p:nvPr>
            <p:ph type="title" idx="4294967295"/>
          </p:nvPr>
        </p:nvSpPr>
        <p:spPr>
          <a:xfrm>
            <a:off x="838200" y="-293615"/>
            <a:ext cx="10514013" cy="293615"/>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3.2</a:t>
            </a:r>
            <a:endParaRPr sz="2000" dirty="0">
              <a:solidFill>
                <a:schemeClr val="tx2"/>
              </a:solidFill>
            </a:endParaRPr>
          </a:p>
        </p:txBody>
      </p:sp>
      <p:sp>
        <p:nvSpPr>
          <p:cNvPr id="643" name="Google Shape;643;p22"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44" name="Google Shape;644;p22">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3.2</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(1 of 7)</a:t>
            </a:r>
            <a:endParaRPr dirty="0">
              <a:solidFill>
                <a:schemeClr val="bg1"/>
              </a:solidFill>
            </a:endParaRPr>
          </a:p>
        </p:txBody>
      </p:sp>
      <p:pic>
        <p:nvPicPr>
          <p:cNvPr id="652" name="Google Shape;652;p23" descr="A graph of a line and 3 points on the coordinate plane. The line extends vertical through the points K (4, 12) and F (4, 8) and G (4, 4). The 3 other points are aligned vertically, at L (13, 12) and J (13, 8) and H (13, 4)."/>
          <p:cNvPicPr preferRelativeResize="0"/>
          <p:nvPr/>
        </p:nvPicPr>
        <p:blipFill rotWithShape="1">
          <a:blip r:embed="rId3">
            <a:alphaModFix/>
          </a:blip>
          <a:srcRect/>
          <a:stretch/>
        </p:blipFill>
        <p:spPr>
          <a:xfrm>
            <a:off x="777240" y="3470338"/>
            <a:ext cx="4519264" cy="3150835"/>
          </a:xfrm>
          <a:prstGeom prst="rect">
            <a:avLst/>
          </a:prstGeom>
          <a:noFill/>
          <a:ln>
            <a:noFill/>
          </a:ln>
        </p:spPr>
      </p:pic>
      <mc:AlternateContent xmlns:mc="http://schemas.openxmlformats.org/markup-compatibility/2006" xmlns:a14="http://schemas.microsoft.com/office/drawing/2010/main">
        <mc:Choice Requires="a14">
          <p:sp>
            <p:nvSpPr>
              <p:cNvPr id="653" name="Google Shape;653;p23"/>
              <p:cNvSpPr txBox="1"/>
              <p:nvPr/>
            </p:nvSpPr>
            <p:spPr>
              <a:xfrm>
                <a:off x="777240" y="1499711"/>
                <a:ext cx="9893556" cy="197062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800" dirty="0">
                    <a:solidFill>
                      <a:srgbClr val="000000"/>
                    </a:solidFill>
                    <a:latin typeface="Calibri"/>
                    <a:ea typeface="Calibri"/>
                    <a:cs typeface="Calibri"/>
                    <a:sym typeface="Calibri"/>
                  </a:rPr>
                  <a:t>Consider the graph shown.</a:t>
                </a:r>
              </a:p>
              <a:p>
                <a:pPr marL="514350" marR="0" lvl="0" indent="-514350" algn="l" rtl="0">
                  <a:spcBef>
                    <a:spcPts val="0"/>
                  </a:spcBef>
                  <a:spcAft>
                    <a:spcPts val="0"/>
                  </a:spcAft>
                  <a:buFont typeface="+mj-lt"/>
                  <a:buAutoNum type="arabicPeriod"/>
                </a:pPr>
                <a:r>
                  <a:rPr lang="en-US" sz="2800" dirty="0">
                    <a:solidFill>
                      <a:srgbClr val="000000"/>
                    </a:solidFill>
                    <a:latin typeface="Calibri"/>
                    <a:ea typeface="Calibri"/>
                    <a:cs typeface="Calibri"/>
                    <a:sym typeface="Calibri"/>
                  </a:rPr>
                  <a:t>Use a straightedge to extend </a:t>
                </a:r>
                <a14:m>
                  <m:oMath xmlns:m="http://schemas.openxmlformats.org/officeDocument/2006/math">
                    <m:acc>
                      <m:accPr>
                        <m:chr m:val="̅"/>
                        <m:ctrlPr>
                          <a:rPr lang="ar-AE" sz="2800" i="1" smtClean="0">
                            <a:solidFill>
                              <a:srgbClr val="000000"/>
                            </a:solidFill>
                            <a:latin typeface="Cambria Math" panose="02040503050406030204" pitchFamily="18" charset="0"/>
                            <a:ea typeface="Calibri"/>
                            <a:cs typeface="Calibri"/>
                            <a:sym typeface="Calibri"/>
                          </a:rPr>
                        </m:ctrlPr>
                      </m:accPr>
                      <m:e>
                        <m:r>
                          <a:rPr lang="ar-AE" sz="2800" b="0" i="1" smtClean="0">
                            <a:solidFill>
                              <a:srgbClr val="000000"/>
                            </a:solidFill>
                            <a:latin typeface="Cambria Math" panose="02040503050406030204" pitchFamily="18" charset="0"/>
                            <a:ea typeface="Calibri"/>
                            <a:cs typeface="Calibri"/>
                            <a:sym typeface="Calibri"/>
                          </a:rPr>
                          <m:t>𝐺𝐾</m:t>
                        </m:r>
                      </m:e>
                    </m:acc>
                  </m:oMath>
                </a14:m>
                <a:r>
                  <a:rPr lang="ar-AE" sz="2800" dirty="0">
                    <a:solidFill>
                      <a:srgbClr val="000000"/>
                    </a:solidFill>
                    <a:latin typeface="Calibri"/>
                    <a:ea typeface="Calibri"/>
                    <a:cs typeface="Calibri"/>
                    <a:sym typeface="Calibri"/>
                  </a:rPr>
                  <a:t> </a:t>
                </a:r>
                <a:r>
                  <a:rPr lang="en-US" sz="2800" dirty="0">
                    <a:solidFill>
                      <a:srgbClr val="000000"/>
                    </a:solidFill>
                    <a:latin typeface="Calibri"/>
                    <a:ea typeface="Calibri"/>
                    <a:cs typeface="Calibri"/>
                    <a:sym typeface="Calibri"/>
                  </a:rPr>
                  <a:t>to create line </a:t>
                </a:r>
                <a:r>
                  <a:rPr lang="en-US" sz="2800" i="1" dirty="0">
                    <a:solidFill>
                      <a:srgbClr val="000000"/>
                    </a:solidFill>
                    <a:latin typeface="Calibri"/>
                    <a:ea typeface="Calibri"/>
                    <a:cs typeface="Calibri"/>
                    <a:sym typeface="Calibri"/>
                  </a:rPr>
                  <a:t>p</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q</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𝐹𝐽</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r</a:t>
                </a:r>
                <a:r>
                  <a:rPr lang="en-US" sz="2800" dirty="0">
                    <a:solidFill>
                      <a:srgbClr val="000000"/>
                    </a:solidFill>
                    <a:latin typeface="Calibri"/>
                    <a:ea typeface="Calibri"/>
                    <a:cs typeface="Calibri"/>
                    <a:sym typeface="Calibri"/>
                  </a:rPr>
                  <a:t>, and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𝐾𝐿</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s</a:t>
                </a:r>
                <a:r>
                  <a:rPr lang="en-US" sz="2800" dirty="0">
                    <a:solidFill>
                      <a:srgbClr val="000000"/>
                    </a:solidFill>
                    <a:latin typeface="Calibri"/>
                    <a:ea typeface="Calibri"/>
                    <a:cs typeface="Calibri"/>
                    <a:sym typeface="Calibri"/>
                  </a:rPr>
                  <a:t>.</a:t>
                </a:r>
              </a:p>
            </p:txBody>
          </p:sp>
        </mc:Choice>
        <mc:Fallback xmlns="">
          <p:sp>
            <p:nvSpPr>
              <p:cNvPr id="653" name="Google Shape;653;p23"/>
              <p:cNvSpPr txBox="1">
                <a:spLocks noRot="1" noChangeAspect="1" noMove="1" noResize="1" noEditPoints="1" noAdjustHandles="1" noChangeArrowheads="1" noChangeShapeType="1" noTextEdit="1"/>
              </p:cNvSpPr>
              <p:nvPr/>
            </p:nvSpPr>
            <p:spPr>
              <a:xfrm>
                <a:off x="777240" y="1499711"/>
                <a:ext cx="9893556" cy="1970627"/>
              </a:xfrm>
              <a:prstGeom prst="rect">
                <a:avLst/>
              </a:prstGeom>
              <a:blipFill>
                <a:blip r:embed="rId4"/>
                <a:stretch>
                  <a:fillRect l="-1356" t="-2786" r="-1171" b="-8050"/>
                </a:stretch>
              </a:blipFill>
              <a:ln>
                <a:noFill/>
              </a:ln>
            </p:spPr>
            <p:txBody>
              <a:bodyPr/>
              <a:lstStyle/>
              <a:p>
                <a:r>
                  <a:rPr lang="en-US">
                    <a:noFill/>
                  </a:rPr>
                  <a:t> </a:t>
                </a:r>
              </a:p>
            </p:txBody>
          </p:sp>
        </mc:Fallback>
      </mc:AlternateContent>
      <p:sp>
        <p:nvSpPr>
          <p:cNvPr id="654" name="Answer 654"/>
          <p:cNvSpPr txBox="1"/>
          <p:nvPr/>
        </p:nvSpPr>
        <p:spPr>
          <a:xfrm>
            <a:off x="5588000" y="3810000"/>
            <a:ext cx="6350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Line p is the vertical line x = 4.</a:t>
            </a:r>
          </a:p>
          <a:p>
            <a:pPr marL="0" indent="0" algn="l">
              <a:spcBef>
                <a:spcPts val="0"/>
              </a:spcBef>
              <a:spcAft>
                <a:spcPts val="300"/>
              </a:spcAft>
              <a:buNone/>
            </a:pPr>
            <a:r>
              <a:rPr lang="en-US" sz="2200" dirty="0">
                <a:solidFill>
                  <a:srgbClr val="FF0000"/>
                </a:solidFill>
              </a:rPr>
              <a:t>Lines q, r and s are the horizontal lines y = 4, y = 8 and y = 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59" name="Google Shape;659;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(2 of 7)</a:t>
            </a:r>
            <a:endParaRPr dirty="0">
              <a:solidFill>
                <a:schemeClr val="bg1"/>
              </a:solidFill>
            </a:endParaRPr>
          </a:p>
        </p:txBody>
      </p:sp>
      <p:sp>
        <p:nvSpPr>
          <p:cNvPr id="2" name="Google Shape;653;p23">
            <a:extLst>
              <a:ext uri="{FF2B5EF4-FFF2-40B4-BE49-F238E27FC236}">
                <a16:creationId xmlns:a16="http://schemas.microsoft.com/office/drawing/2014/main" id="{6DE2DED4-3C19-3539-2900-E12994A38867}"/>
              </a:ext>
            </a:extLst>
          </p:cNvPr>
          <p:cNvSpPr txBox="1"/>
          <p:nvPr/>
        </p:nvSpPr>
        <p:spPr>
          <a:xfrm>
            <a:off x="777239" y="1591990"/>
            <a:ext cx="10036169" cy="3108503"/>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Consider the three horizontal lines you drew for Question 1. For any horizontal line, if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Font typeface="+mj-lt"/>
              <a:buAutoNum type="arabicPeriod" startAt="2"/>
            </a:pPr>
            <a:r>
              <a:rPr lang="en-US" sz="2800" dirty="0">
                <a:latin typeface="Calibri"/>
                <a:ea typeface="Calibri"/>
                <a:cs typeface="Calibri"/>
                <a:sym typeface="Calibri"/>
              </a:rPr>
              <a:t>Describe the slope of any horizontal line. Explain your reasoning.</a:t>
            </a:r>
            <a:endParaRPr lang="en-US" sz="2800" dirty="0">
              <a:solidFill>
                <a:srgbClr val="000000"/>
              </a:solidFill>
              <a:latin typeface="Calibri"/>
              <a:ea typeface="Calibri"/>
              <a:cs typeface="Calibri"/>
              <a:sym typeface="Calibri"/>
            </a:endParaRPr>
          </a:p>
        </p:txBody>
      </p:sp>
      <p:sp>
        <p:nvSpPr>
          <p:cNvPr id="660" name="Answer 660"/>
          <p:cNvSpPr txBox="1"/>
          <p:nvPr/>
        </p:nvSpPr>
        <p:spPr>
          <a:xfrm>
            <a:off x="774700" y="27305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value of y does not change: it changes by 0 units.</a:t>
            </a:r>
          </a:p>
        </p:txBody>
      </p:sp>
      <p:sp>
        <p:nvSpPr>
          <p:cNvPr id="661" name="Answer 661"/>
          <p:cNvSpPr txBox="1"/>
          <p:nvPr/>
        </p:nvSpPr>
        <p:spPr>
          <a:xfrm>
            <a:off x="774700" y="4127500"/>
            <a:ext cx="1079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slope of any horizontal line is 0. The value of y stays the same, so m = (y2 − y1)/(x2 − x1) = 0/(x2 − x1) =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6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666" name="Google Shape;666;p2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(3 of 7)</a:t>
            </a:r>
            <a:endParaRPr dirty="0">
              <a:solidFill>
                <a:schemeClr val="bg1"/>
              </a:solidFill>
            </a:endParaRPr>
          </a:p>
        </p:txBody>
      </p:sp>
      <p:sp>
        <p:nvSpPr>
          <p:cNvPr id="2" name="Google Shape;653;p23">
            <a:extLst>
              <a:ext uri="{FF2B5EF4-FFF2-40B4-BE49-F238E27FC236}">
                <a16:creationId xmlns:a16="http://schemas.microsoft.com/office/drawing/2014/main" id="{0D555F19-AE41-A5F5-5E92-496F59924DD6}"/>
              </a:ext>
            </a:extLst>
          </p:cNvPr>
          <p:cNvSpPr txBox="1"/>
          <p:nvPr/>
        </p:nvSpPr>
        <p:spPr>
          <a:xfrm>
            <a:off x="777239" y="1591990"/>
            <a:ext cx="10036169" cy="2677616"/>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Consider the vertical line you drew in Question 1. Suppose that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Font typeface="+mj-lt"/>
              <a:buAutoNum type="arabicPeriod" startAt="4"/>
            </a:pPr>
            <a:r>
              <a:rPr lang="en-US" sz="2800" dirty="0">
                <a:latin typeface="Calibri"/>
                <a:ea typeface="Calibri"/>
                <a:cs typeface="Calibri"/>
                <a:sym typeface="Calibri"/>
              </a:rPr>
              <a:t>Describe the slope of any vertical line. Explain your reasoning.</a:t>
            </a:r>
            <a:endParaRPr lang="en-US" sz="2800" dirty="0">
              <a:solidFill>
                <a:srgbClr val="000000"/>
              </a:solidFill>
              <a:latin typeface="Calibri"/>
              <a:ea typeface="Calibri"/>
              <a:cs typeface="Calibri"/>
              <a:sym typeface="Calibri"/>
            </a:endParaRPr>
          </a:p>
        </p:txBody>
      </p:sp>
      <p:sp>
        <p:nvSpPr>
          <p:cNvPr id="667" name="Answer 667"/>
          <p:cNvSpPr txBox="1"/>
          <p:nvPr/>
        </p:nvSpPr>
        <p:spPr>
          <a:xfrm>
            <a:off x="774700" y="24130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value of x does not change: it changes by 0 units.</a:t>
            </a:r>
          </a:p>
        </p:txBody>
      </p:sp>
      <p:sp>
        <p:nvSpPr>
          <p:cNvPr id="668" name="Answer 668"/>
          <p:cNvSpPr txBox="1"/>
          <p:nvPr/>
        </p:nvSpPr>
        <p:spPr>
          <a:xfrm>
            <a:off x="774700" y="3810000"/>
            <a:ext cx="1079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slope of any vertical line is undefined. The value of x stays the same, so m = (y2 − y1)/(x2 − x1) = (y2 − y1)/0, which is undefined.</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(4 of 7)</a:t>
            </a:r>
            <a:endParaRPr dirty="0">
              <a:solidFill>
                <a:schemeClr val="bg1"/>
              </a:solidFill>
            </a:endParaRPr>
          </a:p>
        </p:txBody>
      </p:sp>
      <p:sp>
        <p:nvSpPr>
          <p:cNvPr id="674" name="Google Shape;674;p26"/>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1175" marR="0" lvl="0" indent="-511175" algn="l" rtl="0">
              <a:spcBef>
                <a:spcPts val="0"/>
              </a:spcBef>
              <a:spcAft>
                <a:spcPts val="600"/>
              </a:spcAft>
              <a:buClr>
                <a:srgbClr val="000000"/>
              </a:buClr>
              <a:buSzPct val="100000"/>
              <a:buFont typeface="Calibri"/>
              <a:buAutoNum type="arabicPeriod" startAt="6"/>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whether each of the given statements is always, sometimes, or never true. Explain your reasoning.</a:t>
            </a: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vertical lines are parallel.</a:t>
            </a: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horizontal lines are parallel. </a:t>
            </a:r>
            <a:endParaRPr sz="2800" dirty="0">
              <a:latin typeface="Calibri" panose="020F0502020204030204" pitchFamily="34" charset="0"/>
              <a:ea typeface="Calibri" panose="020F0502020204030204" pitchFamily="34" charset="0"/>
              <a:cs typeface="Calibri" panose="020F0502020204030204" pitchFamily="34" charset="0"/>
            </a:endParaRPr>
          </a:p>
          <a:p>
            <a:pPr marL="457200" marR="0" lvl="0" indent="-304800" algn="l" rtl="0">
              <a:spcBef>
                <a:spcPts val="480"/>
              </a:spcBef>
              <a:spcAft>
                <a:spcPts val="0"/>
              </a:spcAft>
              <a:buClr>
                <a:schemeClr val="dk1"/>
              </a:buClr>
              <a:buSzPts val="24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spcBef>
                <a:spcPts val="480"/>
              </a:spcBef>
              <a:spcAft>
                <a:spcPts val="0"/>
              </a:spcAft>
              <a:buClr>
                <a:srgbClr val="000000"/>
              </a:buClr>
              <a:buSzPts val="2400"/>
              <a:buFont typeface="Arial"/>
              <a:buNone/>
            </a:pP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480"/>
              </a:spcBef>
              <a:spcAft>
                <a:spcPts val="0"/>
              </a:spcAft>
              <a:buClr>
                <a:srgbClr val="000000"/>
              </a:buClr>
              <a:buSzPct val="100000"/>
              <a:buFont typeface="+mj-lt"/>
              <a:buAutoNum type="arabicPeriod" startAt="7"/>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relationship between any vertical line and any horizontal line.</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675" name="Answer 675"/>
          <p:cNvSpPr txBox="1"/>
          <p:nvPr/>
        </p:nvSpPr>
        <p:spPr>
          <a:xfrm>
            <a:off x="6413500" y="2603500"/>
            <a:ext cx="5588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Always. All vertical lines have an undefined slope, so they are parallel.</a:t>
            </a:r>
          </a:p>
        </p:txBody>
      </p:sp>
      <p:sp>
        <p:nvSpPr>
          <p:cNvPr id="676" name="Answer 676"/>
          <p:cNvSpPr txBox="1"/>
          <p:nvPr/>
        </p:nvSpPr>
        <p:spPr>
          <a:xfrm>
            <a:off x="6413500" y="3378200"/>
            <a:ext cx="5588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Always. All horizontal lines have slope 0, so they are parallel.</a:t>
            </a:r>
          </a:p>
        </p:txBody>
      </p:sp>
      <p:sp>
        <p:nvSpPr>
          <p:cNvPr id="677" name="Answer 677"/>
          <p:cNvSpPr txBox="1"/>
          <p:nvPr/>
        </p:nvSpPr>
        <p:spPr>
          <a:xfrm>
            <a:off x="774700" y="5016500"/>
            <a:ext cx="1079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Any vertical line and any horizontal line are always perpendicular.</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7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7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7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(5 of 7)</a:t>
            </a:r>
            <a:endParaRPr dirty="0">
              <a:solidFill>
                <a:schemeClr val="bg1"/>
              </a:solidFill>
            </a:endParaRPr>
          </a:p>
        </p:txBody>
      </p:sp>
      <p:sp>
        <p:nvSpPr>
          <p:cNvPr id="2" name="Google Shape;674;p26">
            <a:extLst>
              <a:ext uri="{FF2B5EF4-FFF2-40B4-BE49-F238E27FC236}">
                <a16:creationId xmlns:a16="http://schemas.microsoft.com/office/drawing/2014/main" id="{E9F5ADBA-90EE-8982-3AFE-26FE699D67DF}"/>
              </a:ext>
            </a:extLst>
          </p:cNvPr>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horizontal line and an equation for a vertical line that pass through the point (2, −</a:t>
            </a:r>
            <a:r>
              <a:rPr lang="en-US" sz="2800" dirty="0">
                <a:latin typeface="Calibri" panose="020F0502020204030204" pitchFamily="34" charset="0"/>
                <a:ea typeface="Calibri" panose="020F0502020204030204" pitchFamily="34" charset="0"/>
                <a:cs typeface="Calibri" panose="020F0502020204030204" pitchFamily="34" charset="0"/>
                <a:sym typeface="Calibri"/>
              </a:rPr>
              <a:t>1).</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5 and passes through the point (1, 0).</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600"/>
              </a:spcAft>
              <a:buClr>
                <a:srgbClr val="000000"/>
              </a:buClr>
              <a:buSzPct val="100000"/>
              <a:buFont typeface="+mj-lt"/>
              <a:buAutoNum type="arabicPeriod" startAt="8"/>
            </a:pPr>
            <a:r>
              <a:rPr lang="en-US" sz="2800" dirty="0">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 = −2 and passes through the point (5, 6).</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681" name="Answer 681"/>
          <p:cNvSpPr txBox="1"/>
          <p:nvPr/>
        </p:nvSpPr>
        <p:spPr>
          <a:xfrm>
            <a:off x="774700" y="23622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Horizontal line: y = −1;   vertical line: x = 2</a:t>
            </a:r>
          </a:p>
        </p:txBody>
      </p:sp>
      <p:sp>
        <p:nvSpPr>
          <p:cNvPr id="682" name="Answer 682"/>
          <p:cNvSpPr txBox="1"/>
          <p:nvPr/>
        </p:nvSpPr>
        <p:spPr>
          <a:xfrm>
            <a:off x="774700" y="35687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y = 0  (a horizontal line through (1, 0))</a:t>
            </a:r>
          </a:p>
        </p:txBody>
      </p:sp>
      <p:sp>
        <p:nvSpPr>
          <p:cNvPr id="683" name="Answer 683"/>
          <p:cNvSpPr txBox="1"/>
          <p:nvPr/>
        </p:nvSpPr>
        <p:spPr>
          <a:xfrm>
            <a:off x="774700" y="47752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x = 5  (a vertical line through (5, 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8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8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(6 of 7)</a:t>
            </a:r>
            <a:endParaRPr dirty="0">
              <a:solidFill>
                <a:schemeClr val="bg1"/>
              </a:solidFill>
            </a:endParaRPr>
          </a:p>
        </p:txBody>
      </p:sp>
      <p:sp>
        <p:nvSpPr>
          <p:cNvPr id="688" name="Google Shape;688;p2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3.2!</a:t>
            </a:r>
            <a:endParaRPr/>
          </a:p>
        </p:txBody>
      </p:sp>
      <p:pic>
        <p:nvPicPr>
          <p:cNvPr id="689" name="Google Shape;689;p2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(7 of 7)</a:t>
            </a:r>
            <a:endParaRPr dirty="0">
              <a:solidFill>
                <a:schemeClr val="bg1"/>
              </a:solidFill>
            </a:endParaRPr>
          </a:p>
        </p:txBody>
      </p:sp>
      <p:sp>
        <p:nvSpPr>
          <p:cNvPr id="696" name="Google Shape;696;p2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30"/>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Activity 3.3</a:t>
            </a:r>
            <a:endParaRPr sz="2000" dirty="0"/>
          </a:p>
        </p:txBody>
      </p:sp>
      <p:sp>
        <p:nvSpPr>
          <p:cNvPr id="703" name="Google Shape;703;p30"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704" name="Google Shape;704;p3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3.3</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(1 of 5)</a:t>
            </a:r>
            <a:endParaRPr dirty="0">
              <a:solidFill>
                <a:schemeClr val="bg1"/>
              </a:solidFill>
            </a:endParaRPr>
          </a:p>
        </p:txBody>
      </p:sp>
      <p:sp>
        <p:nvSpPr>
          <p:cNvPr id="711" name="Google Shape;711;p31"/>
          <p:cNvSpPr txBox="1"/>
          <p:nvPr/>
        </p:nvSpPr>
        <p:spPr>
          <a:xfrm>
            <a:off x="777240" y="1610687"/>
            <a:ext cx="2066628" cy="3238150"/>
          </a:xfrm>
          <a:prstGeom prst="rect">
            <a:avLst/>
          </a:prstGeom>
          <a:noFill/>
          <a:ln w="38100" cap="flat" cmpd="sng">
            <a:solidFill>
              <a:srgbClr val="2B8147"/>
            </a:solidFill>
            <a:prstDash val="sysDot"/>
            <a:round/>
            <a:headEnd type="none" w="sm" len="sm"/>
            <a:tailEnd type="none" w="sm" len="sm"/>
          </a:ln>
        </p:spPr>
        <p:txBody>
          <a:bodyPr spcFirstLastPara="1" wrap="square" lIns="182875" tIns="45700" rIns="91425" bIns="45700" anchor="ctr" anchorCtr="0">
            <a:noAutofit/>
          </a:bodyPr>
          <a:lstStyle/>
          <a:p>
            <a:pPr marL="0" marR="0" lvl="0" indent="0" algn="l" rtl="0">
              <a:spcBef>
                <a:spcPts val="0"/>
              </a:spcBef>
              <a:spcAft>
                <a:spcPts val="0"/>
              </a:spcAft>
              <a:buNone/>
            </a:pPr>
            <a:r>
              <a:rPr lang="en-US" sz="2000" b="1" dirty="0">
                <a:solidFill>
                  <a:srgbClr val="2B8147"/>
                </a:solidFill>
                <a:latin typeface="Calibri"/>
                <a:ea typeface="Calibri"/>
                <a:cs typeface="Calibri"/>
                <a:sym typeface="Calibri"/>
              </a:rPr>
              <a:t>Remember…</a:t>
            </a:r>
            <a:br>
              <a:rPr lang="en-US" sz="2000" b="1" dirty="0">
                <a:solidFill>
                  <a:srgbClr val="2B8147"/>
                </a:solidFill>
                <a:latin typeface="Calibri"/>
                <a:ea typeface="Calibri"/>
                <a:cs typeface="Calibri"/>
                <a:sym typeface="Calibri"/>
              </a:rPr>
            </a:br>
            <a:r>
              <a:rPr lang="en-US" sz="2000" dirty="0">
                <a:solidFill>
                  <a:srgbClr val="000000"/>
                </a:solidFill>
                <a:latin typeface="Calibri"/>
                <a:ea typeface="Calibri"/>
                <a:cs typeface="Calibri"/>
                <a:sym typeface="Calibri"/>
              </a:rPr>
              <a:t>You can use point-slope form to write an equation for any line when you know its slope and one point on that line.</a:t>
            </a:r>
            <a:endParaRPr dirty="0"/>
          </a:p>
        </p:txBody>
      </p:sp>
      <p:sp>
        <p:nvSpPr>
          <p:cNvPr id="2" name="TextBox 1">
            <a:extLst>
              <a:ext uri="{FF2B5EF4-FFF2-40B4-BE49-F238E27FC236}">
                <a16:creationId xmlns:a16="http://schemas.microsoft.com/office/drawing/2014/main" id="{861E244E-935E-04EA-774F-6E0250DB771D}"/>
              </a:ext>
            </a:extLst>
          </p:cNvPr>
          <p:cNvSpPr txBox="1"/>
          <p:nvPr/>
        </p:nvSpPr>
        <p:spPr>
          <a:xfrm>
            <a:off x="3355596" y="1610687"/>
            <a:ext cx="7784984" cy="3416320"/>
          </a:xfrm>
          <a:prstGeom prst="rect">
            <a:avLst/>
          </a:prstGeom>
          <a:noFill/>
        </p:spPr>
        <p:txBody>
          <a:bodyPr wrap="square" rtlCol="0">
            <a:spAutoFit/>
          </a:bodyPr>
          <a:lstStyle/>
          <a:p>
            <a:pPr algn="l">
              <a:spcAft>
                <a:spcPts val="24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a previous lesson, you wrote the equation of a line parallel to a given line that passes through a given point. You can write the equation of a perpendicular line using what you know about the slope of that line and any point on that line.</a:t>
            </a:r>
          </a:p>
          <a:p>
            <a:pPr marL="514350" indent="-514350" algn="l">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2</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that passes through the point (6, 2).</a:t>
            </a:r>
          </a:p>
        </p:txBody>
      </p:sp>
      <p:sp>
        <p:nvSpPr>
          <p:cNvPr id="712" name="Answer 712"/>
          <p:cNvSpPr txBox="1"/>
          <p:nvPr/>
        </p:nvSpPr>
        <p:spPr>
          <a:xfrm>
            <a:off x="3429000" y="4572000"/>
            <a:ext cx="8255000" cy="215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perpendicular slope is −1/2.</a:t>
            </a:r>
          </a:p>
          <a:p>
            <a:pPr marL="0" indent="0" algn="l">
              <a:spcBef>
                <a:spcPts val="0"/>
              </a:spcBef>
              <a:spcAft>
                <a:spcPts val="300"/>
              </a:spcAft>
              <a:buNone/>
            </a:pPr>
            <a:r>
              <a:rPr lang="en-US" sz="2000" dirty="0">
                <a:solidFill>
                  <a:srgbClr val="FF0000"/>
                </a:solidFill>
              </a:rPr>
              <a:t>y − 2 = −(1/2)(x − 6)</a:t>
            </a:r>
          </a:p>
          <a:p>
            <a:pPr marL="0" indent="0" algn="l">
              <a:spcBef>
                <a:spcPts val="0"/>
              </a:spcBef>
              <a:spcAft>
                <a:spcPts val="300"/>
              </a:spcAft>
              <a:buNone/>
            </a:pPr>
            <a:r>
              <a:rPr lang="en-US" sz="2000" dirty="0">
                <a:solidFill>
                  <a:srgbClr val="FF0000"/>
                </a:solidFill>
              </a:rPr>
              <a:t>y − 2 = −(1/2)x + 3</a:t>
            </a:r>
          </a:p>
          <a:p>
            <a:pPr marL="0" indent="0" algn="l">
              <a:spcBef>
                <a:spcPts val="0"/>
              </a:spcBef>
              <a:spcAft>
                <a:spcPts val="300"/>
              </a:spcAft>
              <a:buNone/>
            </a:pPr>
            <a:r>
              <a:rPr lang="en-US" sz="2000" dirty="0">
                <a:solidFill>
                  <a:srgbClr val="FF0000"/>
                </a:solidFill>
              </a:rPr>
              <a:t>y = −(1/2)x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5272E0E-17F8-AAC0-34F8-8CF8A361F09D}"/>
                  </a:ext>
                </a:extLst>
              </p:cNvPr>
              <p:cNvSpPr txBox="1"/>
              <p:nvPr/>
            </p:nvSpPr>
            <p:spPr>
              <a:xfrm>
                <a:off x="777240" y="1610687"/>
                <a:ext cx="9893556" cy="3717813"/>
              </a:xfrm>
              <a:prstGeom prst="rect">
                <a:avLst/>
              </a:prstGeom>
              <a:noFill/>
            </p:spPr>
            <p:txBody>
              <a:bodyPr wrap="square" rtlCol="0">
                <a:spAutoFit/>
              </a:bodyPr>
              <a:lstStyle/>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dirty="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dirty="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dirty="0" smtClean="0">
                            <a:latin typeface="Cambria Math" panose="02040503050406030204" pitchFamily="18" charset="0"/>
                            <a:ea typeface="Calibri" panose="020F0502020204030204" pitchFamily="34" charset="0"/>
                            <a:cs typeface="Calibri" panose="020F0502020204030204" pitchFamily="34" charset="0"/>
                          </a:rPr>
                          <m:t>3</m:t>
                        </m:r>
                      </m:num>
                      <m:den>
                        <m:r>
                          <a:rPr lang="en-US" sz="2800" b="0" i="1" dirty="0" smtClean="0">
                            <a:latin typeface="Cambria Math" panose="02040503050406030204" pitchFamily="18" charset="0"/>
                            <a:ea typeface="Calibri" panose="020F0502020204030204" pitchFamily="34" charset="0"/>
                            <a:cs typeface="Calibri" panose="020F0502020204030204" pitchFamily="34" charset="0"/>
                          </a:rPr>
                          <m:t>4</m:t>
                        </m:r>
                      </m:den>
                    </m:f>
                  </m:oMath>
                </a14:m>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that passes through the point (3, −8).</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(6, 2) and is perpendicular to a line that passes through the points (−5, 3) and (−1, −9).</a:t>
                </a:r>
              </a:p>
            </p:txBody>
          </p:sp>
        </mc:Choice>
        <mc:Fallback xmlns="">
          <p:sp>
            <p:nvSpPr>
              <p:cNvPr id="2" name="TextBox 1">
                <a:extLst>
                  <a:ext uri="{FF2B5EF4-FFF2-40B4-BE49-F238E27FC236}">
                    <a16:creationId xmlns:a16="http://schemas.microsoft.com/office/drawing/2014/main" id="{F5272E0E-17F8-AAC0-34F8-8CF8A361F09D}"/>
                  </a:ext>
                </a:extLst>
              </p:cNvPr>
              <p:cNvSpPr txBox="1">
                <a:spLocks noRot="1" noChangeAspect="1" noMove="1" noResize="1" noEditPoints="1" noAdjustHandles="1" noChangeArrowheads="1" noChangeShapeType="1" noTextEdit="1"/>
              </p:cNvSpPr>
              <p:nvPr/>
            </p:nvSpPr>
            <p:spPr>
              <a:xfrm>
                <a:off x="777240" y="1610687"/>
                <a:ext cx="9893556" cy="3717813"/>
              </a:xfrm>
              <a:prstGeom prst="rect">
                <a:avLst/>
              </a:prstGeom>
              <a:blipFill>
                <a:blip r:embed="rId3"/>
                <a:stretch>
                  <a:fillRect l="-1295" b="-3770"/>
                </a:stretch>
              </a:blipFill>
            </p:spPr>
            <p:txBody>
              <a:bodyPr/>
              <a:lstStyle/>
              <a:p>
                <a:r>
                  <a:rPr lang="en-US">
                    <a:noFill/>
                  </a:rPr>
                  <a:t> </a:t>
                </a:r>
              </a:p>
            </p:txBody>
          </p:sp>
        </mc:Fallback>
      </mc:AlternateContent>
      <p:sp>
        <p:nvSpPr>
          <p:cNvPr id="719" name="Answer 719"/>
          <p:cNvSpPr txBox="1"/>
          <p:nvPr/>
        </p:nvSpPr>
        <p:spPr>
          <a:xfrm>
            <a:off x="889000" y="2667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perpendicular slope is 4/3.</a:t>
            </a:r>
          </a:p>
          <a:p>
            <a:pPr marL="0" indent="0" algn="l">
              <a:spcBef>
                <a:spcPts val="0"/>
              </a:spcBef>
              <a:spcAft>
                <a:spcPts val="300"/>
              </a:spcAft>
              <a:buNone/>
            </a:pPr>
            <a:r>
              <a:rPr lang="en-US" sz="2000" dirty="0">
                <a:solidFill>
                  <a:srgbClr val="FF0000"/>
                </a:solidFill>
              </a:rPr>
              <a:t>y − (−8) = (4/3)(x − 3);   y + 8 = (4/3)x − 4;   y = (4/3)x − 12</a:t>
            </a:r>
          </a:p>
        </p:txBody>
      </p:sp>
      <p:sp>
        <p:nvSpPr>
          <p:cNvPr id="720" name="Answer 720"/>
          <p:cNvSpPr txBox="1"/>
          <p:nvPr/>
        </p:nvSpPr>
        <p:spPr>
          <a:xfrm>
            <a:off x="889000" y="5207000"/>
            <a:ext cx="10795000" cy="1524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 = (−9 − 3)/(−1 − (−5)) = −12/4 = −3, so the perpendicular slope is 1/3.</a:t>
            </a:r>
          </a:p>
          <a:p>
            <a:pPr marL="0" indent="0" algn="l">
              <a:spcBef>
                <a:spcPts val="0"/>
              </a:spcBef>
              <a:spcAft>
                <a:spcPts val="300"/>
              </a:spcAft>
              <a:buNone/>
            </a:pPr>
            <a:r>
              <a:rPr lang="en-US" sz="2000" dirty="0">
                <a:solidFill>
                  <a:srgbClr val="FF0000"/>
                </a:solidFill>
              </a:rPr>
              <a:t>y − 2 = (1/3)(x − 6);   y − 2 = (1/3)x − 2;   y = (1/3)x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7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24"/>
        <p:cNvGrpSpPr/>
        <p:nvPr/>
      </p:nvGrpSpPr>
      <p:grpSpPr>
        <a:xfrm>
          <a:off x="0" y="0"/>
          <a:ext cx="0" cy="0"/>
          <a:chOff x="0" y="0"/>
          <a:chExt cx="0" cy="0"/>
        </a:xfrm>
      </p:grpSpPr>
      <p:sp>
        <p:nvSpPr>
          <p:cNvPr id="725" name="Google Shape;725;p3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(3 of 5)</a:t>
            </a:r>
            <a:endParaRPr dirty="0">
              <a:solidFill>
                <a:schemeClr val="bg1"/>
              </a:solidFill>
            </a:endParaRPr>
          </a:p>
        </p:txBody>
      </p:sp>
      <p:sp>
        <p:nvSpPr>
          <p:cNvPr id="2" name="TextBox 1">
            <a:extLst>
              <a:ext uri="{FF2B5EF4-FFF2-40B4-BE49-F238E27FC236}">
                <a16:creationId xmlns:a16="http://schemas.microsoft.com/office/drawing/2014/main" id="{3C76E7D4-8B87-DDE5-9FD9-1F40778747F6}"/>
              </a:ext>
            </a:extLst>
          </p:cNvPr>
          <p:cNvSpPr txBox="1"/>
          <p:nvPr/>
        </p:nvSpPr>
        <p:spPr>
          <a:xfrm>
            <a:off x="777240" y="1610687"/>
            <a:ext cx="9893556" cy="3970318"/>
          </a:xfrm>
          <a:prstGeom prst="rect">
            <a:avLst/>
          </a:prstGeom>
          <a:noFill/>
        </p:spPr>
        <p:txBody>
          <a:bodyPr wrap="square" rtlCol="0">
            <a:spAutoFit/>
          </a:bodyPr>
          <a:lstStyle/>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(−2, 7) and is perpendicular to a line that passes through the points (−6, 1) and (0, 4).</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A pair of perpendicular lines intersect at the point (5, 9). Write the equation of the line that is perpendicular to the line that also passes through point (−4, 4).</a:t>
            </a:r>
          </a:p>
        </p:txBody>
      </p:sp>
      <p:sp>
        <p:nvSpPr>
          <p:cNvPr id="726" name="Answer 726"/>
          <p:cNvSpPr txBox="1"/>
          <p:nvPr/>
        </p:nvSpPr>
        <p:spPr>
          <a:xfrm>
            <a:off x="774700" y="2730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 = (4 − 1)/(0 − (−6)) = 3/6 = 1/2, so the perpendicular slope is −2.</a:t>
            </a:r>
          </a:p>
          <a:p>
            <a:pPr marL="0" indent="0" algn="l">
              <a:spcBef>
                <a:spcPts val="0"/>
              </a:spcBef>
              <a:spcAft>
                <a:spcPts val="300"/>
              </a:spcAft>
              <a:buNone/>
            </a:pPr>
            <a:r>
              <a:rPr lang="en-US" sz="2000" dirty="0">
                <a:solidFill>
                  <a:srgbClr val="FF0000"/>
                </a:solidFill>
              </a:rPr>
              <a:t>y − 7 = −2(x − (−2));   y − 7 = −2x − 4;   y = −2x + 3</a:t>
            </a:r>
          </a:p>
        </p:txBody>
      </p:sp>
      <p:sp>
        <p:nvSpPr>
          <p:cNvPr id="727" name="Answer 727"/>
          <p:cNvSpPr txBox="1"/>
          <p:nvPr/>
        </p:nvSpPr>
        <p:spPr>
          <a:xfrm>
            <a:off x="774700" y="4572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 = (4 − 9)/(−4 − 5) = −5/−9 = 5/9, so the perpendicular slope is −9/5.</a:t>
            </a:r>
          </a:p>
          <a:p>
            <a:pPr marL="0" indent="0" algn="l">
              <a:spcBef>
                <a:spcPts val="0"/>
              </a:spcBef>
              <a:spcAft>
                <a:spcPts val="300"/>
              </a:spcAft>
              <a:buNone/>
            </a:pPr>
            <a:r>
              <a:rPr lang="en-US" sz="2000" dirty="0">
                <a:solidFill>
                  <a:srgbClr val="FF0000"/>
                </a:solidFill>
              </a:rPr>
              <a:t>y − 9 = −(9/5)(x − 5);   y − 9 = −(9/5)x + 9;   y = −(9/5)x + 18</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7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31"/>
        <p:cNvGrpSpPr/>
        <p:nvPr/>
      </p:nvGrpSpPr>
      <p:grpSpPr>
        <a:xfrm>
          <a:off x="0" y="0"/>
          <a:ext cx="0" cy="0"/>
          <a:chOff x="0" y="0"/>
          <a:chExt cx="0" cy="0"/>
        </a:xfrm>
      </p:grpSpPr>
      <p:sp>
        <p:nvSpPr>
          <p:cNvPr id="732" name="Google Shape;732;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(4 of 5)</a:t>
            </a:r>
            <a:endParaRPr dirty="0">
              <a:solidFill>
                <a:schemeClr val="bg1"/>
              </a:solidFill>
            </a:endParaRPr>
          </a:p>
        </p:txBody>
      </p:sp>
      <p:sp>
        <p:nvSpPr>
          <p:cNvPr id="733" name="Google Shape;733;p34"/>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3.3!</a:t>
            </a:r>
            <a:endParaRPr/>
          </a:p>
        </p:txBody>
      </p:sp>
      <p:pic>
        <p:nvPicPr>
          <p:cNvPr id="734" name="Google Shape;734;p34">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299857" y="372494"/>
            <a:ext cx="1501270" cy="51820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(5 of 5)</a:t>
            </a:r>
            <a:endParaRPr dirty="0">
              <a:solidFill>
                <a:schemeClr val="bg1"/>
              </a:solidFill>
            </a:endParaRPr>
          </a:p>
        </p:txBody>
      </p:sp>
      <p:sp>
        <p:nvSpPr>
          <p:cNvPr id="741" name="Google Shape;741;p35">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36"/>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Talk the Talk</a:t>
            </a:r>
            <a:endParaRPr sz="2000" dirty="0"/>
          </a:p>
        </p:txBody>
      </p:sp>
      <p:sp>
        <p:nvSpPr>
          <p:cNvPr id="748" name="Google Shape;748;p36" descr="5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(1 of 4) </a:t>
            </a:r>
            <a:endParaRPr dirty="0">
              <a:solidFill>
                <a:schemeClr val="bg1"/>
              </a:solidFill>
            </a:endParaRPr>
          </a:p>
        </p:txBody>
      </p:sp>
      <p:sp>
        <p:nvSpPr>
          <p:cNvPr id="755" name="Google Shape;755;p37"/>
          <p:cNvSpPr txBox="1"/>
          <p:nvPr/>
        </p:nvSpPr>
        <p:spPr>
          <a:xfrm>
            <a:off x="777240" y="1616150"/>
            <a:ext cx="9887216" cy="758986"/>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2800"/>
            </a:pPr>
            <a:r>
              <a:rPr lang="en-US" sz="2800" dirty="0">
                <a:solidFill>
                  <a:srgbClr val="000000"/>
                </a:solidFill>
                <a:latin typeface="Calibri"/>
                <a:ea typeface="Calibri"/>
                <a:cs typeface="Calibri"/>
                <a:sym typeface="Calibri"/>
              </a:rPr>
              <a:t>Consider the graphs of six linear equations shown.</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pic>
        <p:nvPicPr>
          <p:cNvPr id="756" name="Google Shape;756;p37" descr="A graph of 6 lines on the coordinate plane. Lines a, b, and c rise from left to right. Line a rises through points (0, 4) and (1, 5). Line b rises through points (0, 0) and (1, 1). Line c rises through points (0, negative 4) and (1, negative 3). Lines d, e, and f fall from left to right. Line d falls through the points (0, negative 2) and (4, negative 3). Line e falls through the points (0, 0) and (4, negative 1). Line f falls through the points (0, 2) and (4, 1)."/>
          <p:cNvPicPr>
            <a:picLocks noChangeAspect="1"/>
          </p:cNvPicPr>
          <p:nvPr/>
        </p:nvPicPr>
        <p:blipFill rotWithShape="1">
          <a:blip r:embed="rId3">
            <a:alphaModFix/>
          </a:blip>
          <a:srcRect/>
          <a:stretch/>
        </p:blipFill>
        <p:spPr>
          <a:xfrm>
            <a:off x="2515364" y="2375136"/>
            <a:ext cx="4295996" cy="4153113"/>
          </a:xfrm>
          <a:prstGeom prst="rect">
            <a:avLst/>
          </a:prstGeom>
          <a:noFill/>
          <a:ln>
            <a:noFill/>
          </a:ln>
        </p:spPr>
      </p:pic>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C2321507-D021-AF1D-AAB2-A2DC1BE8E5E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885413" y="1699437"/>
            <a:ext cx="1779043" cy="2646655"/>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2"/>
        <p:cNvGrpSpPr/>
        <p:nvPr/>
      </p:nvGrpSpPr>
      <p:grpSpPr>
        <a:xfrm>
          <a:off x="0" y="0"/>
          <a:ext cx="0" cy="0"/>
          <a:chOff x="0" y="0"/>
          <a:chExt cx="0" cy="0"/>
        </a:xfrm>
      </p:grpSpPr>
      <p:sp>
        <p:nvSpPr>
          <p:cNvPr id="763" name="Google Shape;763;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(2 of 4) </a:t>
            </a:r>
            <a:endParaRPr dirty="0">
              <a:solidFill>
                <a:schemeClr val="bg1"/>
              </a:solidFill>
            </a:endParaRPr>
          </a:p>
        </p:txBody>
      </p:sp>
      <p:pic>
        <p:nvPicPr>
          <p:cNvPr id="765" name="Google Shape;765;p38">
            <a:extLst>
              <a:ext uri="{C183D7F6-B498-43B3-948B-1728B52AA6E4}">
                <adec:decorative xmlns:adec="http://schemas.microsoft.com/office/drawing/2017/decorative" val="1"/>
              </a:ext>
            </a:extLst>
          </p:cNvPr>
          <p:cNvPicPr>
            <a:picLocks noChangeAspect="1"/>
          </p:cNvPicPr>
          <p:nvPr/>
        </p:nvPicPr>
        <p:blipFill rotWithShape="1">
          <a:blip r:embed="rId3">
            <a:alphaModFix/>
          </a:blip>
          <a:srcRect/>
          <a:stretch/>
        </p:blipFill>
        <p:spPr>
          <a:xfrm>
            <a:off x="1896824" y="1430124"/>
            <a:ext cx="8396764" cy="5207794"/>
          </a:xfrm>
          <a:prstGeom prst="rect">
            <a:avLst/>
          </a:prstGeom>
          <a:noFill/>
          <a:ln>
            <a:noFill/>
          </a:ln>
        </p:spPr>
      </p:pic>
      <p:sp>
        <p:nvSpPr>
          <p:cNvPr id="2" name="Google Shape;755;p37">
            <a:extLst>
              <a:ext uri="{FF2B5EF4-FFF2-40B4-BE49-F238E27FC236}">
                <a16:creationId xmlns:a16="http://schemas.microsoft.com/office/drawing/2014/main" id="{1A64683F-2A01-144C-C564-B319873FECE9}"/>
              </a:ext>
            </a:extLst>
          </p:cNvPr>
          <p:cNvSpPr txBox="1"/>
          <p:nvPr/>
        </p:nvSpPr>
        <p:spPr>
          <a:xfrm>
            <a:off x="3221373" y="1934932"/>
            <a:ext cx="6484690" cy="401286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Linh says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each other and perpendicular</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Jackson agrees</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that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 to</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each other but says they are not perpendicular 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Who is correct? Justify your reasoning.</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766" name="Answer 766"/>
          <p:cNvSpPr txBox="1"/>
          <p:nvPr/>
        </p:nvSpPr>
        <p:spPr>
          <a:xfrm>
            <a:off x="3302000" y="4699000"/>
            <a:ext cx="6731000" cy="184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Jackson is correct. The axes have different scales. Lines a, b and c all have slope 1, so they are parallel. Lines d, e and f all have slope −1/4. Since 1 · (−1/4) ≠ −1, the slopes are not negative reciprocals, so the lines are not perpendicular.</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sp>
        <p:nvSpPr>
          <p:cNvPr id="772" name="Google Shape;772;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(3 of 4) </a:t>
            </a:r>
            <a:endParaRPr dirty="0">
              <a:solidFill>
                <a:schemeClr val="bg1"/>
              </a:solidFill>
            </a:endParaRPr>
          </a:p>
        </p:txBody>
      </p:sp>
      <p:sp>
        <p:nvSpPr>
          <p:cNvPr id="773" name="Google Shape;773;p39"/>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b="0" i="0" u="none" strike="noStrike" dirty="0">
              <a:solidFill>
                <a:srgbClr val="000000"/>
              </a:solidFill>
              <a:latin typeface="Calibri"/>
              <a:ea typeface="Calibri"/>
              <a:cs typeface="Calibri"/>
              <a:sym typeface="Calibri"/>
            </a:endParaRPr>
          </a:p>
        </p:txBody>
      </p:sp>
      <p:pic>
        <p:nvPicPr>
          <p:cNvPr id="774" name="Google Shape;774;p39">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41803" y="372494"/>
            <a:ext cx="1501270" cy="51820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4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(4 of 4) </a:t>
            </a:r>
            <a:endParaRPr dirty="0">
              <a:solidFill>
                <a:schemeClr val="bg1"/>
              </a:solidFill>
            </a:endParaRPr>
          </a:p>
        </p:txBody>
      </p:sp>
      <p:sp>
        <p:nvSpPr>
          <p:cNvPr id="781" name="Google Shape;781;p40">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sp>
        <p:nvSpPr>
          <p:cNvPr id="787" name="Google Shape;787;p41"/>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Prepare</a:t>
            </a:r>
            <a:endParaRPr sz="2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a:t>Prepare for Module 2 Topic 2 Lesson 4</a:t>
            </a:r>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6D39A36-54CA-641F-401E-0EAC4D5715F2}"/>
                  </a:ext>
                </a:extLst>
              </p:cNvPr>
              <p:cNvSpPr txBox="1"/>
              <p:nvPr/>
            </p:nvSpPr>
            <p:spPr>
              <a:xfrm>
                <a:off x="777239" y="1610686"/>
                <a:ext cx="10019391" cy="4124206"/>
              </a:xfrm>
              <a:prstGeom prst="rect">
                <a:avLst/>
              </a:prstGeom>
              <a:noFill/>
            </p:spPr>
            <p:txBody>
              <a:bodyPr wrap="square" rtlCol="0">
                <a:spAutoFit/>
              </a:bodyPr>
              <a:lstStyle/>
              <a:p>
                <a:r>
                  <a:rPr lang="en-US" sz="2800" dirty="0">
                    <a:latin typeface="Calibri" panose="020F0502020204030204" pitchFamily="34" charset="0"/>
                    <a:ea typeface="Calibri" panose="020F0502020204030204" pitchFamily="34" charset="0"/>
                    <a:cs typeface="Calibri" panose="020F0502020204030204" pitchFamily="34" charset="0"/>
                  </a:rPr>
                  <a:t>Determine whether each set of ordered pairs represents a function.</a:t>
                </a:r>
              </a:p>
              <a:p>
                <a:pPr>
                  <a:spcAft>
                    <a:spcPts val="1200"/>
                  </a:spcAft>
                </a:pPr>
                <a:r>
                  <a:rPr lang="en-US" sz="2800" dirty="0">
                    <a:latin typeface="Calibri" panose="020F0502020204030204" pitchFamily="34" charset="0"/>
                    <a:ea typeface="Calibri" panose="020F0502020204030204" pitchFamily="34" charset="0"/>
                    <a:cs typeface="Calibri" panose="020F0502020204030204" pitchFamily="34" charset="0"/>
                  </a:rPr>
                  <a:t>Explain your reasoning.</a:t>
                </a: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4</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96D39A36-54CA-641F-401E-0EAC4D5715F2}"/>
                  </a:ext>
                </a:extLst>
              </p:cNvPr>
              <p:cNvSpPr txBox="1">
                <a:spLocks noRot="1" noChangeAspect="1" noMove="1" noResize="1" noEditPoints="1" noAdjustHandles="1" noChangeArrowheads="1" noChangeShapeType="1" noTextEdit="1"/>
              </p:cNvSpPr>
              <p:nvPr/>
            </p:nvSpPr>
            <p:spPr>
              <a:xfrm>
                <a:off x="777239" y="1610686"/>
                <a:ext cx="10019391" cy="4124206"/>
              </a:xfrm>
              <a:prstGeom prst="rect">
                <a:avLst/>
              </a:prstGeom>
              <a:blipFill>
                <a:blip r:embed="rId3"/>
                <a:stretch>
                  <a:fillRect l="-1217" t="-1329" r="-669" b="-3397"/>
                </a:stretch>
              </a:blipFill>
            </p:spPr>
            <p:txBody>
              <a:bodyPr/>
              <a:lstStyle/>
              <a:p>
                <a:r>
                  <a:rPr lang="en-US">
                    <a:noFill/>
                  </a:rPr>
                  <a:t> </a:t>
                </a:r>
              </a:p>
            </p:txBody>
          </p:sp>
        </mc:Fallback>
      </mc:AlternateContent>
      <p:sp>
        <p:nvSpPr>
          <p:cNvPr id="794" name="Answer 794"/>
          <p:cNvSpPr txBox="1"/>
          <p:nvPr/>
        </p:nvSpPr>
        <p:spPr>
          <a:xfrm>
            <a:off x="6858000" y="26987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795" name="Answer 795"/>
          <p:cNvSpPr txBox="1"/>
          <p:nvPr/>
        </p:nvSpPr>
        <p:spPr>
          <a:xfrm>
            <a:off x="6858000" y="35496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796" name="Answer 796"/>
          <p:cNvSpPr txBox="1"/>
          <p:nvPr/>
        </p:nvSpPr>
        <p:spPr>
          <a:xfrm>
            <a:off x="6858000" y="44005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797" name="Answer 797"/>
          <p:cNvSpPr txBox="1"/>
          <p:nvPr/>
        </p:nvSpPr>
        <p:spPr>
          <a:xfrm>
            <a:off x="6858000" y="52514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the input −1 has 4 different outputs.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9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79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9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99"/>
        <p:cNvGrpSpPr/>
        <p:nvPr/>
      </p:nvGrpSpPr>
      <p:grpSpPr>
        <a:xfrm>
          <a:off x="0" y="0"/>
          <a:ext cx="0" cy="0"/>
          <a:chOff x="0" y="0"/>
          <a:chExt cx="0" cy="0"/>
        </a:xfrm>
      </p:grpSpPr>
      <p:sp>
        <p:nvSpPr>
          <p:cNvPr id="800" name="Google Shape;800;p43"/>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1" vertOverflow="overflow" horzOverflow="overflow" vert="horz" wrap="square" lIns="0" tIns="45700" rIns="0" bIns="457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
                <a:schemeClr val="lt1"/>
              </a:buClr>
              <a:buSzPts val="1800"/>
              <a:buFont typeface="Arial"/>
              <a:buNone/>
              <a:tabLst/>
              <a:defRPr/>
            </a:pPr>
            <a:r>
              <a:rPr kumimoji="0" lang="de-DE" sz="1800" b="0" i="0" u="none" strike="noStrike" kern="0" cap="none" spc="0" normalizeH="0" baseline="0" noProof="0" dirty="0">
                <a:ln>
                  <a:noFill/>
                </a:ln>
                <a:solidFill>
                  <a:schemeClr val="lt1"/>
                </a:solidFill>
                <a:effectLst/>
                <a:uLnTx/>
                <a:uFillTx/>
                <a:latin typeface="Calibri"/>
                <a:ea typeface="Calibri"/>
                <a:cs typeface="Calibri"/>
                <a:sym typeface="Calibri"/>
              </a:rPr>
              <a:t>BLMATH_AlgI_M2_T2_L3_DCS_ENG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Q2: the TE says the given line has slope 3/4; y = −(3/4)x has slope −3/4. Its answer, y = (4/3)x − 12, is correct.</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Q3 to Q5: the TE prints the slope formula as (y2 − y1)/(y2 − y1); the denominator is x2 − x1. The computed slopes are correct.</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315-317) and Prepare.</a:t>
            </a:r>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G7_navy">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G8_purple">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G6_teal">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564D1AC-7416-4C76-85E2-1371F5E4C736}">
  <ds:schemaRefs>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05B7EE12-50E8-445E-A04A-70FDE2FD7AD6}">
  <ds:schemaRefs>
    <ds:schemaRef ds:uri="http://schemas.microsoft.com/sharepoint/v3/contenttype/forms"/>
  </ds:schemaRefs>
</ds:datastoreItem>
</file>

<file path=customXml/itemProps3.xml><?xml version="1.0" encoding="utf-8"?>
<ds:datastoreItem xmlns:ds="http://schemas.openxmlformats.org/officeDocument/2006/customXml" ds:itemID="{99320EC2-6D75-4D34-A70A-0C8458639C9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1211</TotalTime>
  <Words>4495</Words>
  <Application>Microsoft Office PowerPoint</Application>
  <PresentationFormat>Custom</PresentationFormat>
  <Paragraphs>451</Paragraphs>
  <Slides>45</Slides>
  <Notes>45</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45</vt:i4>
      </vt:variant>
    </vt:vector>
  </HeadingPairs>
  <TitlesOfParts>
    <vt:vector size="53" baseType="lpstr">
      <vt:lpstr>Cambria Math</vt:lpstr>
      <vt:lpstr>Noto Sans Symbols</vt:lpstr>
      <vt:lpstr>Calibri</vt:lpstr>
      <vt:lpstr>Arial</vt:lpstr>
      <vt:lpstr>A1_green</vt:lpstr>
      <vt:lpstr>G7_navy</vt:lpstr>
      <vt:lpstr>G8_purple</vt:lpstr>
      <vt:lpstr>G6_teal</vt:lpstr>
      <vt:lpstr>Determining Slopes of Perpendicular Lines</vt:lpstr>
      <vt:lpstr>Objectives</vt:lpstr>
      <vt:lpstr>Essential Question (1 of 2)</vt:lpstr>
      <vt:lpstr>Day 1</vt:lpstr>
      <vt:lpstr>Getting Started</vt:lpstr>
      <vt:lpstr>Coordinate Rotation (1 of 5)</vt:lpstr>
      <vt:lpstr>Coordinate Rotation (2 of 5)</vt:lpstr>
      <vt:lpstr>Coordinate Rotation (3 of 5)</vt:lpstr>
      <vt:lpstr>Coordinate Rotation (4 of 5)</vt:lpstr>
      <vt:lpstr>Coordinate Rotation (5 of 5)</vt:lpstr>
      <vt:lpstr>Activity 3.1</vt:lpstr>
      <vt:lpstr>Slopes of Perpendicular Lines (1 of 9)</vt:lpstr>
      <vt:lpstr>Slopes of Perpendicular Lines (2 of 9)</vt:lpstr>
      <vt:lpstr>Slopes of Perpendicular Lines (3 of 9)</vt:lpstr>
      <vt:lpstr>Slopes of Perpendicular Lines (4 of 9)</vt:lpstr>
      <vt:lpstr>Slopes of Perpendicular Lines (5 of 9)</vt:lpstr>
      <vt:lpstr>Slopes of Perpendicular Lines (6 of 9)</vt:lpstr>
      <vt:lpstr>Slopes of Perpendicular Lines (7 of 9)</vt:lpstr>
      <vt:lpstr>Slopes of Perpendicular Lines (8 of 9)</vt:lpstr>
      <vt:lpstr>Slopes of Perpendicular Lines (9 of 9)</vt:lpstr>
      <vt:lpstr>Day 2</vt:lpstr>
      <vt:lpstr>Essential Question (2 of 2)</vt:lpstr>
      <vt:lpstr>Activity 3.2</vt:lpstr>
      <vt:lpstr>Horizontal and Vertical Lines (1 of 7)</vt:lpstr>
      <vt:lpstr>Horizontal and Vertical Lines (2 of 7)</vt:lpstr>
      <vt:lpstr>Horizontal and Vertical Lines (3 of 7)</vt:lpstr>
      <vt:lpstr>Horizontal and Vertical Lines (4 of 7)</vt:lpstr>
      <vt:lpstr>Horizontal and Vertical Lines (5 of 7)</vt:lpstr>
      <vt:lpstr>Horizontal and Vertical Lines (6 of 7)</vt:lpstr>
      <vt:lpstr>Horizontal and Vertical Lines (7 of 7)</vt:lpstr>
      <vt:lpstr>Activity 3.3</vt:lpstr>
      <vt:lpstr>Writing Equations of Perpendicular Lines (1 of 5)</vt:lpstr>
      <vt:lpstr>Writing Equations of Perpendicular Lines (2 of 5)</vt:lpstr>
      <vt:lpstr>Writing Equations of Perpendicular Lines (3 of 5)</vt:lpstr>
      <vt:lpstr>Writing Equations of Perpendicular Lines (4 of 5)</vt:lpstr>
      <vt:lpstr>Writing Equations of Perpendicular Lines (5 of 5)</vt:lpstr>
      <vt:lpstr>Talk the Talk</vt:lpstr>
      <vt:lpstr>Things Aren’t Always What They Seem (1 of 4) </vt:lpstr>
      <vt:lpstr>Things Aren’t Always What They Seem (2 of 4) </vt:lpstr>
      <vt:lpstr>Things Aren’t Always What They Seem (3 of 4) </vt:lpstr>
      <vt:lpstr>Things Aren’t Always What They Seem (4 of 4) </vt:lpstr>
      <vt:lpstr>Prepare</vt:lpstr>
      <vt:lpstr>Prepare for Module 2 Topic 2 Lesson 4</vt:lpstr>
      <vt:lpstr>Acknowledgment and Notice</vt:lpstr>
      <vt:lpstr>BLMATH_AlgI_M2_T2_L3_DCS_ENG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Determining Slopes of Perpendicular Lines</dc:title>
  <dc:creator>Singh Amandeep</dc:creator>
  <cp:lastModifiedBy>Gann, Nickole</cp:lastModifiedBy>
  <cp:revision>38</cp:revision>
  <dcterms:created xsi:type="dcterms:W3CDTF">2024-02-22T09:58:00Z</dcterms:created>
  <dcterms:modified xsi:type="dcterms:W3CDTF">2025-05-28T18:59:50Z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