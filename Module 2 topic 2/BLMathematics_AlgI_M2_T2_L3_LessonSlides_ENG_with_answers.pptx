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ppt/slides/slide46.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 id="2147483668" r:id="rId5"/>
    <p:sldMasterId id="2147483688" r:id="rId6"/>
    <p:sldMasterId id="2147483708" r:id="rId7"/>
  </p:sldMasterIdLst>
  <p:notesMasterIdLst>
    <p:notesMasterId r:id="rId53"/>
  </p:notesMasterIdLst>
  <p:sldIdLst>
    <p:sldId id="256" r:id="rId8"/>
    <p:sldId id="257" r:id="rId9"/>
    <p:sldId id="258" r:id="rId10"/>
    <p:sldId id="259" r:id="rId11"/>
    <p:sldId id="260" r:id="rId12"/>
    <p:sldId id="261" r:id="rId13"/>
    <p:sldId id="300" r:id="rId14"/>
    <p:sldId id="262" r:id="rId15"/>
    <p:sldId id="263" r:id="rId16"/>
    <p:sldId id="264" r:id="rId17"/>
    <p:sldId id="265" r:id="rId18"/>
    <p:sldId id="266" r:id="rId19"/>
    <p:sldId id="267" r:id="rId20"/>
    <p:sldId id="269" r:id="rId21"/>
    <p:sldId id="301" r:id="rId22"/>
    <p:sldId id="270" r:id="rId23"/>
    <p:sldId id="272" r:id="rId24"/>
    <p:sldId id="30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303" r:id="rId66"/>
    <p:sldId id="296" r:id="rId49"/>
    <p:sldId id="297" r:id="rId50"/>
    <p:sldId id="298" r:id="rId51"/>
    <p:sldId id="299" r:id="rId52"/>
  </p:sldIdLst>
  <p:sldSz cx="12190413" cy="6858000"/>
  <p:notesSz cx="6858000" cy="9144000"/>
  <p:embeddedFontLst>
    <p:embeddedFont>
      <p:font typeface="Cambria Math" panose="02040503050406030204" pitchFamily="18" charset="0"/>
      <p:regular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9" roundtripDataSignature="AMtx7mhmnjiLOi5Ppnsmhviu7A5qbhfvx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B8147"/>
    <a:srgbClr val="3535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A3754D-11DE-497B-99DB-DBC830F2583F}" v="2" dt="2025-05-28T18:59:41.328"/>
  </p1510:revLst>
</p1510:revInfo>
</file>

<file path=ppt/tableStyles.xml><?xml version="1.0" encoding="utf-8"?>
<a:tblStyleLst xmlns:a="http://schemas.openxmlformats.org/drawingml/2006/main" def="{F7D8C473-989F-46CF-8A33-2A7C700182BB}">
  <a:tblStyle styleId="{F7D8C473-989F-46CF-8A33-2A7C700182BB}"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BB7C7B1-2BA2-4552-A184-85BA7BCE1169}"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F4F2"/>
          </a:solidFill>
        </a:fill>
      </a:tcStyle>
    </a:wholeTbl>
    <a:band1H>
      <a:tcTxStyle/>
      <a:tcStyle>
        <a:tcBdr/>
        <a:fill>
          <a:solidFill>
            <a:srgbClr val="CCE7E5"/>
          </a:solidFill>
        </a:fill>
      </a:tcStyle>
    </a:band1H>
    <a:band2H>
      <a:tcTxStyle/>
      <a:tcStyle>
        <a:tcBdr/>
      </a:tcStyle>
    </a:band2H>
    <a:band1V>
      <a:tcTxStyle/>
      <a:tcStyle>
        <a:tcBdr/>
        <a:fill>
          <a:solidFill>
            <a:srgbClr val="CCE7E5"/>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133" autoAdjust="0"/>
  </p:normalViewPr>
  <p:slideViewPr>
    <p:cSldViewPr snapToGrid="0">
      <p:cViewPr varScale="1">
        <p:scale>
          <a:sx n="53" d="100"/>
          <a:sy n="53" d="100"/>
        </p:scale>
        <p:origin x="1538" y="2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63"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slide" Target="slides/slide34.xml"/><Relationship Id="rId54" Type="http://schemas.openxmlformats.org/officeDocument/2006/relationships/font" Target="fonts/font1.fntdata"/><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61"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64" Type="http://schemas.microsoft.com/office/2016/11/relationships/changesInfo" Target="changesInfos/changesInfo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customschemas.google.com/relationships/presentationmetadata" Target="metadata"/><Relationship Id="rId66" Type="http://schemas.openxmlformats.org/officeDocument/2006/relationships/slide" Target="slides/slide4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yer Montague, Kristina" userId="63c103e5-6141-480e-825f-260f173eba02" providerId="ADAL" clId="{DE9675B3-CE13-4C2A-AA2A-7DC5ED9B423D}"/>
    <pc:docChg chg="modSld">
      <pc:chgData name="Moyer Montague, Kristina" userId="63c103e5-6141-480e-825f-260f173eba02" providerId="ADAL" clId="{DE9675B3-CE13-4C2A-AA2A-7DC5ED9B423D}" dt="2025-05-07T13:54:28.983" v="7" actId="114"/>
      <pc:docMkLst>
        <pc:docMk/>
      </pc:docMkLst>
      <pc:sldChg chg="modSp mod">
        <pc:chgData name="Moyer Montague, Kristina" userId="63c103e5-6141-480e-825f-260f173eba02" providerId="ADAL" clId="{DE9675B3-CE13-4C2A-AA2A-7DC5ED9B423D}" dt="2025-05-07T13:48:34.508" v="1" actId="6549"/>
        <pc:sldMkLst>
          <pc:docMk/>
          <pc:sldMk cId="0" sldId="261"/>
        </pc:sldMkLst>
        <pc:spChg chg="mod">
          <ac:chgData name="Moyer Montague, Kristina" userId="63c103e5-6141-480e-825f-260f173eba02" providerId="ADAL" clId="{DE9675B3-CE13-4C2A-AA2A-7DC5ED9B423D}" dt="2025-05-07T13:48:34.508" v="1" actId="6549"/>
          <ac:spMkLst>
            <pc:docMk/>
            <pc:sldMk cId="0" sldId="261"/>
            <ac:spMk id="2" creationId="{13D84506-D588-7F0E-6C79-D9ACB718E811}"/>
          </ac:spMkLst>
        </pc:spChg>
      </pc:sldChg>
      <pc:sldChg chg="modSp mod">
        <pc:chgData name="Moyer Montague, Kristina" userId="63c103e5-6141-480e-825f-260f173eba02" providerId="ADAL" clId="{DE9675B3-CE13-4C2A-AA2A-7DC5ED9B423D}" dt="2025-05-07T13:50:44.527" v="2" actId="20577"/>
        <pc:sldMkLst>
          <pc:docMk/>
          <pc:sldMk cId="0" sldId="262"/>
        </pc:sldMkLst>
        <pc:spChg chg="mod">
          <ac:chgData name="Moyer Montague, Kristina" userId="63c103e5-6141-480e-825f-260f173eba02" providerId="ADAL" clId="{DE9675B3-CE13-4C2A-AA2A-7DC5ED9B423D}" dt="2025-05-07T13:50:44.527" v="2" actId="20577"/>
          <ac:spMkLst>
            <pc:docMk/>
            <pc:sldMk cId="0" sldId="262"/>
            <ac:spMk id="3" creationId="{A1DA5E90-59FB-FF30-2BDD-07F9060D885E}"/>
          </ac:spMkLst>
        </pc:spChg>
      </pc:sldChg>
      <pc:sldChg chg="modSp">
        <pc:chgData name="Moyer Montague, Kristina" userId="63c103e5-6141-480e-825f-260f173eba02" providerId="ADAL" clId="{DE9675B3-CE13-4C2A-AA2A-7DC5ED9B423D}" dt="2025-05-07T13:53:22.353" v="6" actId="114"/>
        <pc:sldMkLst>
          <pc:docMk/>
          <pc:sldMk cId="0" sldId="267"/>
        </pc:sldMkLst>
        <pc:spChg chg="mod">
          <ac:chgData name="Moyer Montague, Kristina" userId="63c103e5-6141-480e-825f-260f173eba02" providerId="ADAL" clId="{DE9675B3-CE13-4C2A-AA2A-7DC5ED9B423D}" dt="2025-05-07T13:53:22.353" v="6" actId="114"/>
          <ac:spMkLst>
            <pc:docMk/>
            <pc:sldMk cId="0" sldId="267"/>
            <ac:spMk id="3" creationId="{881EDF44-CC55-218D-5A4F-1D03649A537A}"/>
          </ac:spMkLst>
        </pc:spChg>
      </pc:sldChg>
      <pc:sldChg chg="modSp mod">
        <pc:chgData name="Moyer Montague, Kristina" userId="63c103e5-6141-480e-825f-260f173eba02" providerId="ADAL" clId="{DE9675B3-CE13-4C2A-AA2A-7DC5ED9B423D}" dt="2025-05-07T13:54:28.983" v="7" actId="114"/>
        <pc:sldMkLst>
          <pc:docMk/>
          <pc:sldMk cId="0" sldId="272"/>
        </pc:sldMkLst>
        <pc:spChg chg="mod">
          <ac:chgData name="Moyer Montague, Kristina" userId="63c103e5-6141-480e-825f-260f173eba02" providerId="ADAL" clId="{DE9675B3-CE13-4C2A-AA2A-7DC5ED9B423D}" dt="2025-05-07T13:54:28.983" v="7" actId="114"/>
          <ac:spMkLst>
            <pc:docMk/>
            <pc:sldMk cId="0" sldId="272"/>
            <ac:spMk id="2" creationId="{399B7F68-0123-793A-C302-6E185690AD75}"/>
          </ac:spMkLst>
        </pc:spChg>
      </pc:sldChg>
      <pc:sldChg chg="modSp mod">
        <pc:chgData name="Moyer Montague, Kristina" userId="63c103e5-6141-480e-825f-260f173eba02" providerId="ADAL" clId="{DE9675B3-CE13-4C2A-AA2A-7DC5ED9B423D}" dt="2025-05-07T13:52:52.816" v="4" actId="114"/>
        <pc:sldMkLst>
          <pc:docMk/>
          <pc:sldMk cId="3398154548" sldId="301"/>
        </pc:sldMkLst>
        <pc:spChg chg="mod">
          <ac:chgData name="Moyer Montague, Kristina" userId="63c103e5-6141-480e-825f-260f173eba02" providerId="ADAL" clId="{DE9675B3-CE13-4C2A-AA2A-7DC5ED9B423D}" dt="2025-05-07T13:52:52.816" v="4" actId="114"/>
          <ac:spMkLst>
            <pc:docMk/>
            <pc:sldMk cId="3398154548" sldId="301"/>
            <ac:spMk id="571" creationId="{CE84560F-B97D-C1EA-C4CE-F9442E61558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9" name="Google Shape;459;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suggested pacing for this lesson is two 45-minute sessions.</a:t>
            </a:r>
            <a:endParaRPr dirty="0">
              <a:solidFill>
                <a:srgbClr val="000000"/>
              </a:solidFill>
            </a:endParaRPr>
          </a:p>
        </p:txBody>
      </p:sp>
      <p:sp>
        <p:nvSpPr>
          <p:cNvPr id="460" name="Google Shape;460;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6" name="Google Shape;466;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TEKS:</a:t>
            </a:r>
            <a:endParaRPr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A.1D: communicate mathematical ideas, reasoning, and their implications using multiple representations, including symbols, diagrams, graphs, and language as appropriate.</a:t>
            </a:r>
            <a:endParaRPr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A.1E: create and use representations to organize, record, and communicate mathematical ideas.</a:t>
            </a:r>
            <a:endParaRPr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A.2F: write the equation of a line that contains a given point and is perpendicular to a given line.</a:t>
            </a:r>
            <a:endParaRPr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A.2G: write an equation of a line that is parallel or perpendicular to the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or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-axis and determine whether the slope of the line is zero or undefined.</a:t>
            </a:r>
            <a:endParaRPr sz="1200" b="0"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lvl="0" indent="0" algn="l" rtl="0">
              <a:spcBef>
                <a:spcPts val="0"/>
              </a:spcBef>
              <a:spcAft>
                <a:spcPts val="0"/>
              </a:spcAft>
              <a:buNone/>
            </a:pPr>
            <a:endParaRPr lang="en-US" sz="1200" b="1"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lvl="0" indent="0" algn="l" rtl="0">
              <a:spcBef>
                <a:spcPts val="0"/>
              </a:spcBef>
              <a:spcAft>
                <a:spcPts val="0"/>
              </a:spcAft>
              <a:buNone/>
            </a:pPr>
            <a:r>
              <a:rPr lang="en-US" sz="1200" b="1"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ELPS:</a:t>
            </a:r>
            <a:endParaRPr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2.I: demonstrate listening comprehension of increasingly complex spoken English by following directions, retelling or summarizing spoken messages, responding to questions and requests, collaborating with peers, and taking notes commensurate with content and grade-level needs.</a:t>
            </a:r>
            <a:endParaRPr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3.E: share information in cooperative learning interactions.</a:t>
            </a:r>
            <a:endParaRPr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4.K: demonstrate English comprehension and expand reading skills by employing analytical skills such as evaluating written information and performing critical analyses commensurate with content area and grade-level needs.</a:t>
            </a:r>
            <a:endParaRPr sz="1200" b="0"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467" name="Google Shape;467;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3" name="Google Shape;473;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Setting the Stage:</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Clr>
                <a:schemeClr val="dk1"/>
              </a:buClr>
              <a:buSzPts val="1200"/>
              <a:buFont typeface="Arial" panose="020B0604020202020204" pitchFamily="34" charset="0"/>
              <a:buChar char="•"/>
            </a:pPr>
            <a:r>
              <a:rPr lang="en-US" sz="1200" b="0"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Tap into your student’s prior learning by reading the narrative statement.</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Clr>
                <a:schemeClr val="dk1"/>
              </a:buClr>
              <a:buSzPts val="1200"/>
              <a:buFont typeface="Arial" panose="020B0604020202020204" pitchFamily="34" charset="0"/>
              <a:buChar char="•"/>
            </a:pPr>
            <a:r>
              <a:rPr lang="en-US" sz="1200" b="0"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Provide a sense of direction by reading the Essential Question.</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474" name="Google Shape;474;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suggested pacing for Day 1 is 45 minutes.</a:t>
            </a:r>
            <a:endParaRPr dirty="0">
              <a:solidFill>
                <a:srgbClr val="000000"/>
              </a:solidFill>
            </a:endParaRPr>
          </a:p>
        </p:txBody>
      </p:sp>
      <p:sp>
        <p:nvSpPr>
          <p:cNvPr id="481" name="Google Shape;481;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7" name="Google Shape;487;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time of 15-20 minutes allotted for the Getting Started.</a:t>
            </a:r>
            <a:endParaRPr dirty="0">
              <a:solidFill>
                <a:srgbClr val="000000"/>
              </a:solidFill>
            </a:endParaRPr>
          </a:p>
        </p:txBody>
      </p:sp>
      <p:sp>
        <p:nvSpPr>
          <p:cNvPr id="488" name="Google Shape;488;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xmlns:a14="http://schemas.microsoft.com/office/drawing/2010/main">
        <mc:Choice Requires="a14">
          <p:sp>
            <p:nvSpPr>
              <p:cNvPr id="494" name="Google Shape;494;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that your rotations are exactly 90°? </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Were you surprised by the locations of each rotated line segment? If so, why? </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do you think </a:t>
                </a:r>
                <a14:m>
                  <m:oMath xmlns:m="http://schemas.openxmlformats.org/officeDocument/2006/math">
                    <m:acc>
                      <m:accPr>
                        <m:chr m:val="̅"/>
                        <m:ctrlPr>
                          <a:rPr lang="ar-AE" sz="1200" i="1" smtClean="0">
                            <a:solidFill>
                              <a:srgbClr val="000000"/>
                            </a:solidFill>
                            <a:latin typeface="Cambria Math" panose="02040503050406030204" pitchFamily="18" charset="0"/>
                          </a:rPr>
                        </m:ctrlPr>
                      </m:accPr>
                      <m:e>
                        <m:r>
                          <a:rPr lang="ar-AE" sz="1200" b="0" i="1" smtClean="0">
                            <a:solidFill>
                              <a:srgbClr val="000000"/>
                            </a:solidFill>
                            <a:latin typeface="Cambria Math" panose="02040503050406030204" pitchFamily="18" charset="0"/>
                          </a:rPr>
                          <m:t>𝐴𝐵</m:t>
                        </m:r>
                      </m:e>
                    </m:acc>
                  </m:oMath>
                </a14:m>
                <a:r>
                  <a:rPr lang="ar-AE" sz="12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and </a:t>
                </a:r>
                <a14:m>
                  <m:oMath xmlns:m="http://schemas.openxmlformats.org/officeDocument/2006/math">
                    <m:acc>
                      <m:accPr>
                        <m:chr m:val="̅"/>
                        <m:ctrlPr>
                          <a:rPr lang="ar-AE" sz="1200" i="1" smtClean="0">
                            <a:solidFill>
                              <a:srgbClr val="000000"/>
                            </a:solidFill>
                            <a:latin typeface="Cambria Math" panose="02040503050406030204" pitchFamily="18" charset="0"/>
                          </a:rPr>
                        </m:ctrlPr>
                      </m:accPr>
                      <m:e>
                        <m:r>
                          <a:rPr lang="ar-AE" sz="1200" b="0" i="1" smtClean="0">
                            <a:solidFill>
                              <a:srgbClr val="000000"/>
                            </a:solidFill>
                            <a:latin typeface="Cambria Math" panose="02040503050406030204" pitchFamily="18" charset="0"/>
                          </a:rPr>
                          <m:t>𝐴</m:t>
                        </m:r>
                        <m:r>
                          <a:rPr lang="ar-AE" sz="1200" b="0" i="1" smtClean="0">
                            <a:solidFill>
                              <a:srgbClr val="000000"/>
                            </a:solidFill>
                            <a:latin typeface="Cambria Math" panose="02040503050406030204" pitchFamily="18" charset="0"/>
                          </a:rPr>
                          <m:t>′′</m:t>
                        </m:r>
                        <m:r>
                          <a:rPr lang="ar-AE" sz="1200" b="0" i="1" smtClean="0">
                            <a:solidFill>
                              <a:srgbClr val="000000"/>
                            </a:solidFill>
                            <a:latin typeface="Cambria Math" panose="02040503050406030204" pitchFamily="18" charset="0"/>
                          </a:rPr>
                          <m:t>𝐵</m:t>
                        </m:r>
                        <m:r>
                          <a:rPr lang="ar-AE" sz="1200" b="0" i="1" smtClean="0">
                            <a:solidFill>
                              <a:srgbClr val="000000"/>
                            </a:solidFill>
                            <a:latin typeface="Cambria Math" panose="02040503050406030204" pitchFamily="18" charset="0"/>
                          </a:rPr>
                          <m:t>′′</m:t>
                        </m:r>
                      </m:e>
                    </m:acc>
                  </m:oMath>
                </a14:m>
                <a:r>
                  <a:rPr lang="ar-AE" sz="12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connect to make a straight line?</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mc:Choice>
        <mc:Fallback xmlns="">
          <p:sp>
            <p:nvSpPr>
              <p:cNvPr id="494" name="Google Shape;494;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that your rotations are exactly 90°? </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Were you surprised by the locations of each rotated line segment? If so, why? </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do you think </a:t>
                </a:r>
                <a:r>
                  <a:rPr lang="ar-AE" sz="1200" i="0">
                    <a:solidFill>
                      <a:srgbClr val="000000"/>
                    </a:solidFill>
                    <a:latin typeface="Cambria Math" panose="02040503050406030204" pitchFamily="18" charset="0"/>
                  </a:rPr>
                  <a:t>(</a:t>
                </a:r>
                <a:r>
                  <a:rPr lang="ar-AE" sz="1200" b="0" i="0">
                    <a:solidFill>
                      <a:srgbClr val="000000"/>
                    </a:solidFill>
                    <a:latin typeface="Cambria Math" panose="02040503050406030204" pitchFamily="18" charset="0"/>
                  </a:rPr>
                  <a:t>𝐴𝐵) ̅</a:t>
                </a:r>
                <a:r>
                  <a:rPr lang="ar-AE" sz="12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and </a:t>
                </a:r>
                <a:r>
                  <a:rPr lang="ar-AE" sz="1200" i="0">
                    <a:solidFill>
                      <a:srgbClr val="000000"/>
                    </a:solidFill>
                    <a:latin typeface="Cambria Math" panose="02040503050406030204" pitchFamily="18" charset="0"/>
                  </a:rPr>
                  <a:t>(</a:t>
                </a:r>
                <a:r>
                  <a:rPr lang="ar-AE" sz="1200" b="0" i="0">
                    <a:solidFill>
                      <a:srgbClr val="000000"/>
                    </a:solidFill>
                    <a:latin typeface="Cambria Math" panose="02040503050406030204" pitchFamily="18" charset="0"/>
                  </a:rPr>
                  <a:t>𝐴′′𝐵′′) ̅</a:t>
                </a:r>
                <a:r>
                  <a:rPr lang="ar-AE" sz="12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connect to make a straight line?</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mc:Fallback>
      </mc:AlternateContent>
      <p:sp>
        <p:nvSpPr>
          <p:cNvPr id="495" name="Google Shape;495;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a:extLst>
            <a:ext uri="{FF2B5EF4-FFF2-40B4-BE49-F238E27FC236}">
              <a16:creationId xmlns:a16="http://schemas.microsoft.com/office/drawing/2014/main" id="{CF56DFD8-4598-B97D-E955-938BB94AD51C}"/>
            </a:ext>
          </a:extLst>
        </p:cNvPr>
        <p:cNvGrpSpPr/>
        <p:nvPr/>
      </p:nvGrpSpPr>
      <p:grpSpPr>
        <a:xfrm>
          <a:off x="0" y="0"/>
          <a:ext cx="0" cy="0"/>
          <a:chOff x="0" y="0"/>
          <a:chExt cx="0" cy="0"/>
        </a:xfrm>
      </p:grpSpPr>
      <p:sp>
        <p:nvSpPr>
          <p:cNvPr id="502" name="Google Shape;502;p7:notes">
            <a:extLst>
              <a:ext uri="{FF2B5EF4-FFF2-40B4-BE49-F238E27FC236}">
                <a16:creationId xmlns:a16="http://schemas.microsoft.com/office/drawing/2014/main" id="{6681D2D9-3065-9A00-B6A9-E6D1EFAB95A2}"/>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7:notes">
            <a:extLst>
              <a:ext uri="{FF2B5EF4-FFF2-40B4-BE49-F238E27FC236}">
                <a16:creationId xmlns:a16="http://schemas.microsoft.com/office/drawing/2014/main" id="{3C7414A0-958D-5EE0-8D00-AD966D00AEB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Seeing Structure</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do the endpoints of each line segment compare after any 90° rotation?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do the numeric components of the coordinates compare? How do the signs compare?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do the sign changes connect with what you know about the signs used in each quadrant of the coordinate plane?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Does it make a difference in the slope when the negative sign lies in the numerator or denominator of the fraction?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Which segments have the same slope? How can you tell from the graph? </a:t>
            </a:r>
            <a:endParaRPr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What two statements could you use to describe the difference in slopes of consecutive line segments?</a:t>
            </a:r>
            <a:endParaRPr sz="1200" b="0" dirty="0">
              <a:solidFill>
                <a:srgbClr val="000000"/>
              </a:solidFill>
              <a:latin typeface="Calibri"/>
              <a:ea typeface="Calibri"/>
              <a:cs typeface="Calibri"/>
              <a:sym typeface="Calibri"/>
            </a:endParaRPr>
          </a:p>
        </p:txBody>
      </p:sp>
      <p:sp>
        <p:nvSpPr>
          <p:cNvPr id="504" name="Google Shape;504;p7:notes">
            <a:extLst>
              <a:ext uri="{FF2B5EF4-FFF2-40B4-BE49-F238E27FC236}">
                <a16:creationId xmlns:a16="http://schemas.microsoft.com/office/drawing/2014/main" id="{B8EDF822-863F-6410-0743-520948A36A81}"/>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15982221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Seeing Structure</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do the endpoints of each line segment compare after any 90° rotation?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do the numeric components of the coordinates compare? How do the signs compare?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do the sign changes connect with what you know about the signs used in each quadrant of the coordinate plane? </a:t>
            </a:r>
          </a:p>
          <a:p>
            <a:pPr marL="171450" lvl="0" indent="-171450" algn="l" rtl="0">
              <a:spcBef>
                <a:spcPts val="0"/>
              </a:spcBef>
              <a:spcAft>
                <a:spcPts val="0"/>
              </a:spcAft>
              <a:buFont typeface="Arial" panose="020B0604020202020204" pitchFamily="34" charset="0"/>
              <a:buChar char="•"/>
            </a:pPr>
            <a:r>
              <a:rPr lang="en-US" dirty="0">
                <a:solidFill>
                  <a:srgbClr val="000000"/>
                </a:solidFill>
              </a:rPr>
              <a:t>Does it make a difference in the slope when the negative sign lies in the numerator or denominator of the fraction?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Which segments have the same slope? How can you tell from the graph?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What two statements could you use to describe the difference in slopes of consecutive line segments?</a:t>
            </a:r>
            <a:endParaRPr lang="en-US" sz="1200" b="0" dirty="0">
              <a:solidFill>
                <a:srgbClr val="000000"/>
              </a:solidFill>
              <a:latin typeface="Calibri"/>
              <a:ea typeface="Calibri"/>
              <a:cs typeface="Calibri"/>
              <a:sym typeface="Calibri"/>
            </a:endParaRPr>
          </a:p>
        </p:txBody>
      </p:sp>
      <p:sp>
        <p:nvSpPr>
          <p:cNvPr id="504" name="Google Shape;504;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5" name="Google Shape;515;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a:ea typeface="Calibri"/>
                <a:cs typeface="Calibri"/>
                <a:sym typeface="Calibri"/>
              </a:rPr>
              <a:t>Getting Started Summary:</a:t>
            </a:r>
            <a:endParaRPr dirty="0">
              <a:solidFill>
                <a:srgbClr val="000000"/>
              </a:solidFill>
            </a:endParaRPr>
          </a:p>
          <a:p>
            <a:pPr marL="0" lvl="0" indent="0" algn="l" rtl="0">
              <a:spcBef>
                <a:spcPts val="0"/>
              </a:spcBef>
              <a:spcAft>
                <a:spcPts val="0"/>
              </a:spcAft>
              <a:buNone/>
            </a:pPr>
            <a:r>
              <a:rPr lang="en-US" dirty="0">
                <a:solidFill>
                  <a:srgbClr val="000000"/>
                </a:solidFill>
              </a:rPr>
              <a:t>A point </a:t>
            </a:r>
            <a:r>
              <a:rPr lang="en-US" i="0" dirty="0">
                <a:solidFill>
                  <a:srgbClr val="000000"/>
                </a:solidFill>
              </a:rPr>
              <a:t>(</a:t>
            </a:r>
            <a:r>
              <a:rPr lang="en-US" i="1" dirty="0">
                <a:solidFill>
                  <a:srgbClr val="000000"/>
                </a:solidFill>
              </a:rPr>
              <a:t>x, y</a:t>
            </a:r>
            <a:r>
              <a:rPr lang="en-US" i="0" dirty="0">
                <a:solidFill>
                  <a:srgbClr val="000000"/>
                </a:solidFill>
              </a:rPr>
              <a:t>) </a:t>
            </a:r>
            <a:r>
              <a:rPr lang="en-US" dirty="0">
                <a:solidFill>
                  <a:srgbClr val="000000"/>
                </a:solidFill>
              </a:rPr>
              <a:t>that is rotated 90° counterclockwise has the coordinates </a:t>
            </a:r>
            <a:r>
              <a:rPr lang="en-US" i="0" dirty="0">
                <a:solidFill>
                  <a:srgbClr val="000000"/>
                </a:solidFill>
              </a:rPr>
              <a:t>(−</a:t>
            </a:r>
            <a:r>
              <a:rPr lang="en-US" i="1" dirty="0">
                <a:solidFill>
                  <a:srgbClr val="000000"/>
                </a:solidFill>
              </a:rPr>
              <a:t>y, x</a:t>
            </a:r>
            <a:r>
              <a:rPr lang="en-US" i="0" dirty="0">
                <a:solidFill>
                  <a:srgbClr val="000000"/>
                </a:solidFill>
              </a:rPr>
              <a:t>).</a:t>
            </a:r>
            <a:endParaRPr sz="1200" b="1" i="0" dirty="0">
              <a:solidFill>
                <a:srgbClr val="000000"/>
              </a:solidFill>
              <a:latin typeface="Calibri"/>
              <a:ea typeface="Calibri"/>
              <a:cs typeface="Calibri"/>
              <a:sym typeface="Calibri"/>
            </a:endParaRPr>
          </a:p>
        </p:txBody>
      </p:sp>
      <p:sp>
        <p:nvSpPr>
          <p:cNvPr id="516" name="Google Shape;516;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9: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3" name="Google Shape;523;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 </a:t>
            </a:r>
            <a:r>
              <a:rPr lang="en-US" b="0" dirty="0">
                <a:solidFill>
                  <a:srgbClr val="000000"/>
                </a:solidFill>
                <a:latin typeface="Calibri"/>
                <a:ea typeface="Calibri"/>
                <a:cs typeface="Calibri"/>
                <a:sym typeface="Calibri"/>
              </a:rPr>
              <a:t>This slide is blank for optional use with displaying work.</a:t>
            </a:r>
            <a:endParaRPr b="1" dirty="0">
              <a:solidFill>
                <a:srgbClr val="000000"/>
              </a:solidFill>
              <a:latin typeface="Calibri"/>
              <a:ea typeface="Calibri"/>
              <a:cs typeface="Calibri"/>
              <a:sym typeface="Calibri"/>
            </a:endParaRPr>
          </a:p>
        </p:txBody>
      </p:sp>
      <p:sp>
        <p:nvSpPr>
          <p:cNvPr id="524" name="Google Shape;524;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p1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0" name="Google Shape;530;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time of 20-25 minutes allotted for Activity 3.1.</a:t>
            </a:r>
            <a:endParaRPr dirty="0">
              <a:solidFill>
                <a:srgbClr val="000000"/>
              </a:solidFill>
            </a:endParaRPr>
          </a:p>
        </p:txBody>
      </p:sp>
      <p:sp>
        <p:nvSpPr>
          <p:cNvPr id="531" name="Google Shape;531;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p1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8" name="Google Shape;538;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solidFill>
                <a:srgbClr val="000000"/>
              </a:solidFill>
              <a:latin typeface="Calibri"/>
              <a:ea typeface="Calibri"/>
              <a:cs typeface="Calibri"/>
              <a:sym typeface="Calibri"/>
            </a:endParaRPr>
          </a:p>
        </p:txBody>
      </p:sp>
      <p:sp>
        <p:nvSpPr>
          <p:cNvPr id="539" name="Google Shape;539;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1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6" name="Google Shape;546;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Questions to Support Discourse – Probing:</a:t>
            </a:r>
          </a:p>
          <a:p>
            <a:pPr marL="171450" lvl="0" indent="-171450" algn="l" rtl="0">
              <a:spcBef>
                <a:spcPts val="0"/>
              </a:spcBef>
              <a:spcAft>
                <a:spcPts val="0"/>
              </a:spcAft>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this specific rotation create perpendicular lines?</a:t>
            </a:r>
          </a:p>
          <a:p>
            <a:pPr marL="0" lvl="0" indent="0" algn="l" rtl="0">
              <a:spcBef>
                <a:spcPts val="0"/>
              </a:spcBef>
              <a:spcAft>
                <a:spcPts val="0"/>
              </a:spcAft>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lvl="0" indent="0" algn="l" rtl="0">
              <a:spcBef>
                <a:spcPts val="0"/>
              </a:spcBef>
              <a:spcAft>
                <a:spcPts val="0"/>
              </a:spcAft>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Questions to Support Discourse – Seeing Structure:</a:t>
            </a:r>
          </a:p>
          <a:p>
            <a:pPr marL="171450" lvl="0" indent="-171450" algn="l" rtl="0">
              <a:spcBef>
                <a:spcPts val="0"/>
              </a:spcBef>
              <a:spcAft>
                <a:spcPts val="0"/>
              </a:spcAft>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could you use patty paper to verify that the lines are perpendicular?</a:t>
            </a:r>
          </a:p>
          <a:p>
            <a:pPr marL="0" lvl="0" indent="0" algn="l" rtl="0">
              <a:spcBef>
                <a:spcPts val="0"/>
              </a:spcBef>
              <a:spcAft>
                <a:spcPts val="0"/>
              </a:spcAft>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lvl="0" indent="0" algn="l" rtl="0">
              <a:spcBef>
                <a:spcPts val="0"/>
              </a:spcBef>
              <a:spcAft>
                <a:spcPts val="0"/>
              </a:spcAft>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Questions to Support Discourse – Probing:</a:t>
            </a:r>
          </a:p>
          <a:p>
            <a:pPr marL="171450" lvl="0" indent="-171450" algn="l" rtl="0">
              <a:spcBef>
                <a:spcPts val="0"/>
              </a:spcBef>
              <a:spcAft>
                <a:spcPts val="0"/>
              </a:spcAft>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strategy did you use to write the equation of each line?</a:t>
            </a:r>
          </a:p>
          <a:p>
            <a:pPr marL="0" lvl="0" indent="0" algn="l" rtl="0">
              <a:spcBef>
                <a:spcPts val="0"/>
              </a:spcBef>
              <a:spcAft>
                <a:spcPts val="0"/>
              </a:spcAft>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lvl="0" indent="0" algn="l" rtl="0">
              <a:spcBef>
                <a:spcPts val="0"/>
              </a:spcBef>
              <a:spcAft>
                <a:spcPts val="0"/>
              </a:spcAft>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Questions to Support Discourse – Seeing Structure:</a:t>
            </a:r>
          </a:p>
          <a:p>
            <a:pPr marL="171450" lvl="0" indent="-171450" algn="l" rtl="0">
              <a:spcBef>
                <a:spcPts val="0"/>
              </a:spcBef>
              <a:spcAft>
                <a:spcPts val="0"/>
              </a:spcAft>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relationship between the slopes?</a:t>
            </a:r>
          </a:p>
          <a:p>
            <a:pPr marL="171450" lvl="0" indent="-171450" algn="l" rtl="0">
              <a:spcBef>
                <a:spcPts val="0"/>
              </a:spcBef>
              <a:spcAft>
                <a:spcPts val="0"/>
              </a:spcAft>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Is there any relationship between perpendicular lines and their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-intercepts?</a:t>
            </a:r>
          </a:p>
          <a:p>
            <a:pPr marL="171450" lvl="0" indent="-171450" algn="l" rtl="0">
              <a:spcBef>
                <a:spcPts val="0"/>
              </a:spcBef>
              <a:spcAft>
                <a:spcPts val="0"/>
              </a:spcAft>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can’t you use these equations to prove perpendicular lines have reciprocal slopes with opposite signs?</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547" name="Google Shape;547;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1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xmlns:a14="http://schemas.microsoft.com/office/drawing/2010/main">
        <mc:Choice Requires="a14">
          <p:sp>
            <p:nvSpPr>
              <p:cNvPr id="562" name="Google Shape;562;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Assumption statement relate to the If Then statement? The Conclusion statement?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meant by negative reciprocals?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conclusion </a:t>
                </a:r>
                <a14:m>
                  <m:oMath xmlns:m="http://schemas.openxmlformats.org/officeDocument/2006/math">
                    <m:sSub>
                      <m:sSubPr>
                        <m:ctrlPr>
                          <a:rPr lang="ar-AE" sz="1200" b="0" i="1" u="none" strike="noStrike" baseline="0" smtClean="0">
                            <a:solidFill>
                              <a:srgbClr val="000000"/>
                            </a:solidFill>
                            <a:latin typeface="Cambria Math" panose="02040503050406030204" pitchFamily="18" charset="0"/>
                          </a:rPr>
                        </m:ctrlPr>
                      </m:sSubPr>
                      <m:e>
                        <m:r>
                          <a:rPr lang="ar-AE" sz="1200" b="0" i="1" u="none" strike="noStrike" baseline="0" smtClean="0">
                            <a:solidFill>
                              <a:srgbClr val="000000"/>
                            </a:solidFill>
                            <a:latin typeface="Cambria Math" panose="02040503050406030204" pitchFamily="18" charset="0"/>
                          </a:rPr>
                          <m:t>𝑚</m:t>
                        </m:r>
                      </m:e>
                      <m:sub>
                        <m:r>
                          <a:rPr lang="ar-AE" sz="1200" b="0" i="1" u="none" strike="noStrike" baseline="0" smtClean="0">
                            <a:solidFill>
                              <a:srgbClr val="000000"/>
                            </a:solidFill>
                            <a:latin typeface="Cambria Math" panose="02040503050406030204" pitchFamily="18" charset="0"/>
                          </a:rPr>
                          <m:t>1</m:t>
                        </m:r>
                      </m:sub>
                    </m:sSub>
                    <m:r>
                      <a:rPr lang="ar-AE" sz="1200" b="0" i="1" u="none" strike="noStrike" baseline="0" smtClean="0">
                        <a:solidFill>
                          <a:srgbClr val="000000"/>
                        </a:solidFill>
                        <a:latin typeface="Cambria Math" panose="02040503050406030204" pitchFamily="18" charset="0"/>
                      </a:rPr>
                      <m:t>=</m:t>
                    </m:r>
                    <m:r>
                      <a:rPr lang="en-US" sz="1200" b="0" i="1" u="none" strike="noStrike" baseline="0" smtClean="0">
                        <a:solidFill>
                          <a:srgbClr val="000000"/>
                        </a:solidFill>
                        <a:latin typeface="Cambria Math" panose="02040503050406030204" pitchFamily="18" charset="0"/>
                      </a:rPr>
                      <m:t>−</m:t>
                    </m:r>
                    <m:f>
                      <m:fPr>
                        <m:ctrlPr>
                          <a:rPr lang="ar-AE" sz="1200" b="0" i="1" u="none" strike="noStrike" baseline="0" smtClean="0">
                            <a:solidFill>
                              <a:srgbClr val="000000"/>
                            </a:solidFill>
                            <a:latin typeface="Cambria Math" panose="02040503050406030204" pitchFamily="18" charset="0"/>
                          </a:rPr>
                        </m:ctrlPr>
                      </m:fPr>
                      <m:num>
                        <m:r>
                          <a:rPr lang="ar-AE" sz="1200" b="0" i="1" u="none" strike="noStrike" baseline="0" smtClean="0">
                            <a:solidFill>
                              <a:srgbClr val="000000"/>
                            </a:solidFill>
                            <a:latin typeface="Cambria Math" panose="02040503050406030204" pitchFamily="18" charset="0"/>
                          </a:rPr>
                          <m:t>1</m:t>
                        </m:r>
                      </m:num>
                      <m:den>
                        <m:sSub>
                          <m:sSubPr>
                            <m:ctrlPr>
                              <a:rPr lang="ar-AE" sz="1200" b="0" i="1" u="none" strike="noStrike" baseline="0" smtClean="0">
                                <a:solidFill>
                                  <a:srgbClr val="000000"/>
                                </a:solidFill>
                                <a:latin typeface="Cambria Math" panose="02040503050406030204" pitchFamily="18" charset="0"/>
                              </a:rPr>
                            </m:ctrlPr>
                          </m:sSubPr>
                          <m:e>
                            <m:r>
                              <a:rPr lang="ar-AE" sz="1200" b="0" i="1" u="none" strike="noStrike" baseline="0" smtClean="0">
                                <a:solidFill>
                                  <a:srgbClr val="000000"/>
                                </a:solidFill>
                                <a:latin typeface="Cambria Math" panose="02040503050406030204" pitchFamily="18" charset="0"/>
                              </a:rPr>
                              <m:t>𝑚</m:t>
                            </m:r>
                          </m:e>
                          <m:sub>
                            <m:r>
                              <a:rPr lang="ar-AE" sz="1200" b="0" i="1" u="none" strike="noStrike" baseline="0" smtClean="0">
                                <a:solidFill>
                                  <a:srgbClr val="000000"/>
                                </a:solidFill>
                                <a:latin typeface="Cambria Math" panose="02040503050406030204" pitchFamily="18" charset="0"/>
                              </a:rPr>
                              <m:t>2</m:t>
                            </m:r>
                          </m:sub>
                        </m:sSub>
                      </m:den>
                    </m:f>
                  </m:oMath>
                </a14:m>
                <a:r>
                  <a:rPr lang="ar-AE"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means.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negative sign mean the second line always has a negative slope? Explain your thinking.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why the coordinates of point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are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side lengths of each triangle were determined.</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labeled diagram to determine each slope?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steps to rewrite the complex fraction.</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the Worked Example demonstrate formal reasoning?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negative reciprocal of −3?</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62" name="Google Shape;562;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Assumption statement relate to the If Then statement? The Conclusion statement?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meant by negative reciprocals?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conclusion </a:t>
                </a:r>
                <a:r>
                  <a:rPr lang="ar-AE" sz="1200" b="0" i="0" u="none" strike="noStrike" baseline="0">
                    <a:solidFill>
                      <a:srgbClr val="000000"/>
                    </a:solidFill>
                    <a:latin typeface="Cambria Math" panose="02040503050406030204" pitchFamily="18" charset="0"/>
                  </a:rPr>
                  <a:t>𝑚_1=</a:t>
                </a:r>
                <a:r>
                  <a:rPr lang="en-US" sz="1200" b="0" i="0" u="none" strike="noStrike" baseline="0">
                    <a:solidFill>
                      <a:srgbClr val="000000"/>
                    </a:solidFill>
                    <a:latin typeface="Cambria Math" panose="02040503050406030204" pitchFamily="18" charset="0"/>
                  </a:rPr>
                  <a:t>−</a:t>
                </a:r>
                <a:r>
                  <a:rPr lang="ar-AE" sz="1200" b="0" i="0" u="none" strike="noStrike" baseline="0">
                    <a:solidFill>
                      <a:srgbClr val="000000"/>
                    </a:solidFill>
                    <a:latin typeface="Cambria Math" panose="02040503050406030204" pitchFamily="18" charset="0"/>
                  </a:rPr>
                  <a:t>1/𝑚_2 </a:t>
                </a:r>
                <a:r>
                  <a:rPr lang="ar-AE"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means.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negative sign mean the second line always has a negative slope? Explain your thinking.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why the coordinates of point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are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side lengths of each triangle were determined.</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labeled diagram to determine each slope?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steps to rewrite the complex fraction.</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the Worked Example demonstrate formal reasoning?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negative reciprocal of −3?</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563" name="Google Shape;563;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a:extLst>
            <a:ext uri="{FF2B5EF4-FFF2-40B4-BE49-F238E27FC236}">
              <a16:creationId xmlns:a16="http://schemas.microsoft.com/office/drawing/2014/main" id="{3DE1233F-B5A5-58FF-9507-8F89BFFF1BFC}"/>
            </a:ext>
          </a:extLst>
        </p:cNvPr>
        <p:cNvGrpSpPr/>
        <p:nvPr/>
      </p:nvGrpSpPr>
      <p:grpSpPr>
        <a:xfrm>
          <a:off x="0" y="0"/>
          <a:ext cx="0" cy="0"/>
          <a:chOff x="0" y="0"/>
          <a:chExt cx="0" cy="0"/>
        </a:xfrm>
      </p:grpSpPr>
      <p:sp>
        <p:nvSpPr>
          <p:cNvPr id="561" name="Google Shape;561;p14:notes">
            <a:extLst>
              <a:ext uri="{FF2B5EF4-FFF2-40B4-BE49-F238E27FC236}">
                <a16:creationId xmlns:a16="http://schemas.microsoft.com/office/drawing/2014/main" id="{B1C748EE-6965-61DC-3A01-811B135BA3FF}"/>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xmlns:a14="http://schemas.microsoft.com/office/drawing/2010/main">
        <mc:Choice Requires="a14">
          <p:sp>
            <p:nvSpPr>
              <p:cNvPr id="562" name="Google Shape;562;p14:notes">
                <a:extLst>
                  <a:ext uri="{FF2B5EF4-FFF2-40B4-BE49-F238E27FC236}">
                    <a16:creationId xmlns:a16="http://schemas.microsoft.com/office/drawing/2014/main" id="{91349967-3289-94C2-0E3E-63D9DDD09D2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Assumption statement relate to the If Then statement? The Conclusion statement?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meant by negative reciprocals?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conclusion </a:t>
                </a:r>
                <a14:m>
                  <m:oMath xmlns:m="http://schemas.openxmlformats.org/officeDocument/2006/math">
                    <m:sSub>
                      <m:sSubPr>
                        <m:ctrlPr>
                          <a:rPr lang="ar-AE" sz="1200" b="0" i="1" u="none" strike="noStrike" baseline="0" smtClean="0">
                            <a:solidFill>
                              <a:srgbClr val="000000"/>
                            </a:solidFill>
                            <a:latin typeface="Cambria Math" panose="02040503050406030204" pitchFamily="18" charset="0"/>
                          </a:rPr>
                        </m:ctrlPr>
                      </m:sSubPr>
                      <m:e>
                        <m:r>
                          <a:rPr lang="ar-AE" sz="1200" b="0" i="1" u="none" strike="noStrike" baseline="0" smtClean="0">
                            <a:solidFill>
                              <a:srgbClr val="000000"/>
                            </a:solidFill>
                            <a:latin typeface="Cambria Math" panose="02040503050406030204" pitchFamily="18" charset="0"/>
                          </a:rPr>
                          <m:t>𝑚</m:t>
                        </m:r>
                      </m:e>
                      <m:sub>
                        <m:r>
                          <a:rPr lang="ar-AE" sz="1200" b="0" i="1" u="none" strike="noStrike" baseline="0" smtClean="0">
                            <a:solidFill>
                              <a:srgbClr val="000000"/>
                            </a:solidFill>
                            <a:latin typeface="Cambria Math" panose="02040503050406030204" pitchFamily="18" charset="0"/>
                          </a:rPr>
                          <m:t>1</m:t>
                        </m:r>
                      </m:sub>
                    </m:sSub>
                    <m:r>
                      <a:rPr lang="ar-AE" sz="1200" b="0" i="1" u="none" strike="noStrike" baseline="0" smtClean="0">
                        <a:solidFill>
                          <a:srgbClr val="000000"/>
                        </a:solidFill>
                        <a:latin typeface="Cambria Math" panose="02040503050406030204" pitchFamily="18" charset="0"/>
                      </a:rPr>
                      <m:t>=</m:t>
                    </m:r>
                    <m:r>
                      <a:rPr lang="en-US" sz="1200" b="0" i="1" u="none" strike="noStrike" baseline="0" smtClean="0">
                        <a:solidFill>
                          <a:srgbClr val="000000"/>
                        </a:solidFill>
                        <a:latin typeface="Cambria Math" panose="02040503050406030204" pitchFamily="18" charset="0"/>
                      </a:rPr>
                      <m:t>−</m:t>
                    </m:r>
                    <m:f>
                      <m:fPr>
                        <m:ctrlPr>
                          <a:rPr lang="ar-AE" sz="1200" b="0" i="1" u="none" strike="noStrike" baseline="0" smtClean="0">
                            <a:solidFill>
                              <a:srgbClr val="000000"/>
                            </a:solidFill>
                            <a:latin typeface="Cambria Math" panose="02040503050406030204" pitchFamily="18" charset="0"/>
                          </a:rPr>
                        </m:ctrlPr>
                      </m:fPr>
                      <m:num>
                        <m:r>
                          <a:rPr lang="ar-AE" sz="1200" b="0" i="1" u="none" strike="noStrike" baseline="0" smtClean="0">
                            <a:solidFill>
                              <a:srgbClr val="000000"/>
                            </a:solidFill>
                            <a:latin typeface="Cambria Math" panose="02040503050406030204" pitchFamily="18" charset="0"/>
                          </a:rPr>
                          <m:t>1</m:t>
                        </m:r>
                      </m:num>
                      <m:den>
                        <m:sSub>
                          <m:sSubPr>
                            <m:ctrlPr>
                              <a:rPr lang="ar-AE" sz="1200" b="0" i="1" u="none" strike="noStrike" baseline="0" smtClean="0">
                                <a:solidFill>
                                  <a:srgbClr val="000000"/>
                                </a:solidFill>
                                <a:latin typeface="Cambria Math" panose="02040503050406030204" pitchFamily="18" charset="0"/>
                              </a:rPr>
                            </m:ctrlPr>
                          </m:sSubPr>
                          <m:e>
                            <m:r>
                              <a:rPr lang="ar-AE" sz="1200" b="0" i="1" u="none" strike="noStrike" baseline="0" smtClean="0">
                                <a:solidFill>
                                  <a:srgbClr val="000000"/>
                                </a:solidFill>
                                <a:latin typeface="Cambria Math" panose="02040503050406030204" pitchFamily="18" charset="0"/>
                              </a:rPr>
                              <m:t>𝑚</m:t>
                            </m:r>
                          </m:e>
                          <m:sub>
                            <m:r>
                              <a:rPr lang="ar-AE" sz="1200" b="0" i="1" u="none" strike="noStrike" baseline="0" smtClean="0">
                                <a:solidFill>
                                  <a:srgbClr val="000000"/>
                                </a:solidFill>
                                <a:latin typeface="Cambria Math" panose="02040503050406030204" pitchFamily="18" charset="0"/>
                              </a:rPr>
                              <m:t>2</m:t>
                            </m:r>
                          </m:sub>
                        </m:sSub>
                      </m:den>
                    </m:f>
                  </m:oMath>
                </a14:m>
                <a:r>
                  <a:rPr lang="ar-AE"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means.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negative sign mean the second line always has a negative slope? Explain your thinking.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why the coordinates of point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are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side lengths of each triangle were determined.</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labeled diagram to determine each slope?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steps to rewrite the complex fraction.</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the Worked Example demonstrate formal reasoning?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negative reciprocal of −3?</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62" name="Google Shape;562;p14:notes">
                <a:extLst>
                  <a:ext uri="{FF2B5EF4-FFF2-40B4-BE49-F238E27FC236}">
                    <a16:creationId xmlns:a16="http://schemas.microsoft.com/office/drawing/2014/main" id="{91349967-3289-94C2-0E3E-63D9DDD09D2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Assumption statement relate to the If Then statement? The Conclusion statement?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meant by negative reciprocals?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conclusion </a:t>
                </a:r>
                <a:r>
                  <a:rPr lang="ar-AE" sz="1200" b="0" i="0" u="none" strike="noStrike" baseline="0">
                    <a:solidFill>
                      <a:srgbClr val="000000"/>
                    </a:solidFill>
                    <a:latin typeface="Cambria Math" panose="02040503050406030204" pitchFamily="18" charset="0"/>
                  </a:rPr>
                  <a:t>𝑚_1=</a:t>
                </a:r>
                <a:r>
                  <a:rPr lang="en-US" sz="1200" b="0" i="0" u="none" strike="noStrike" baseline="0">
                    <a:solidFill>
                      <a:srgbClr val="000000"/>
                    </a:solidFill>
                    <a:latin typeface="Cambria Math" panose="02040503050406030204" pitchFamily="18" charset="0"/>
                  </a:rPr>
                  <a:t>−</a:t>
                </a:r>
                <a:r>
                  <a:rPr lang="ar-AE" sz="1200" b="0" i="0" u="none" strike="noStrike" baseline="0">
                    <a:solidFill>
                      <a:srgbClr val="000000"/>
                    </a:solidFill>
                    <a:latin typeface="Cambria Math" panose="02040503050406030204" pitchFamily="18" charset="0"/>
                  </a:rPr>
                  <a:t>1/𝑚_2 </a:t>
                </a:r>
                <a:r>
                  <a:rPr lang="ar-AE"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means.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negative sign mean the second line always has a negative slope? Explain your thinking.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why the coordinates of point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are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side lengths of each triangle were determined.</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labeled diagram to determine each slope?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steps to rewrite the complex fraction.</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the Worked Example demonstrate formal reasoning?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negative reciprocal of −3?</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563" name="Google Shape;563;p14:notes">
            <a:extLst>
              <a:ext uri="{FF2B5EF4-FFF2-40B4-BE49-F238E27FC236}">
                <a16:creationId xmlns:a16="http://schemas.microsoft.com/office/drawing/2014/main" id="{C49844BB-D626-8E0B-4CB2-866E24226715}"/>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33250610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1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xmlns:a14="http://schemas.microsoft.com/office/drawing/2010/main">
        <mc:Choice Requires="a14">
          <p:sp>
            <p:nvSpPr>
              <p:cNvPr id="580" name="Google Shape;580;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Assumption statement relate to the If Then statement? The Conclusion statement?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meant by negative reciprocals?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conclusion </a:t>
                </a:r>
                <a14:m>
                  <m:oMath xmlns:m="http://schemas.openxmlformats.org/officeDocument/2006/math">
                    <m:sSub>
                      <m:sSubPr>
                        <m:ctrlPr>
                          <a:rPr lang="ar-AE" sz="1200" b="0" i="1" u="none" strike="noStrike" baseline="0" smtClean="0">
                            <a:solidFill>
                              <a:srgbClr val="000000"/>
                            </a:solidFill>
                            <a:latin typeface="Cambria Math" panose="02040503050406030204" pitchFamily="18" charset="0"/>
                          </a:rPr>
                        </m:ctrlPr>
                      </m:sSubPr>
                      <m:e>
                        <m:r>
                          <a:rPr lang="ar-AE" sz="1200" b="0" i="1" u="none" strike="noStrike" baseline="0" smtClean="0">
                            <a:solidFill>
                              <a:srgbClr val="000000"/>
                            </a:solidFill>
                            <a:latin typeface="Cambria Math" panose="02040503050406030204" pitchFamily="18" charset="0"/>
                          </a:rPr>
                          <m:t>𝑚</m:t>
                        </m:r>
                      </m:e>
                      <m:sub>
                        <m:r>
                          <a:rPr lang="ar-AE" sz="1200" b="0" i="1" u="none" strike="noStrike" baseline="0" smtClean="0">
                            <a:solidFill>
                              <a:srgbClr val="000000"/>
                            </a:solidFill>
                            <a:latin typeface="Cambria Math" panose="02040503050406030204" pitchFamily="18" charset="0"/>
                          </a:rPr>
                          <m:t>1</m:t>
                        </m:r>
                      </m:sub>
                    </m:sSub>
                    <m:r>
                      <a:rPr lang="ar-AE" sz="1200" b="0" i="1" u="none" strike="noStrike" baseline="0" smtClean="0">
                        <a:solidFill>
                          <a:srgbClr val="000000"/>
                        </a:solidFill>
                        <a:latin typeface="Cambria Math" panose="02040503050406030204" pitchFamily="18" charset="0"/>
                      </a:rPr>
                      <m:t>=</m:t>
                    </m:r>
                    <m:r>
                      <a:rPr lang="en-US" sz="1200" b="0" i="1" u="none" strike="noStrike" baseline="0" smtClean="0">
                        <a:solidFill>
                          <a:srgbClr val="000000"/>
                        </a:solidFill>
                        <a:latin typeface="Cambria Math" panose="02040503050406030204" pitchFamily="18" charset="0"/>
                      </a:rPr>
                      <m:t>−</m:t>
                    </m:r>
                    <m:f>
                      <m:fPr>
                        <m:ctrlPr>
                          <a:rPr lang="ar-AE" sz="1200" b="0" i="1" u="none" strike="noStrike" baseline="0" smtClean="0">
                            <a:solidFill>
                              <a:srgbClr val="000000"/>
                            </a:solidFill>
                            <a:latin typeface="Cambria Math" panose="02040503050406030204" pitchFamily="18" charset="0"/>
                          </a:rPr>
                        </m:ctrlPr>
                      </m:fPr>
                      <m:num>
                        <m:r>
                          <a:rPr lang="ar-AE" sz="1200" b="0" i="1" u="none" strike="noStrike" baseline="0" smtClean="0">
                            <a:solidFill>
                              <a:srgbClr val="000000"/>
                            </a:solidFill>
                            <a:latin typeface="Cambria Math" panose="02040503050406030204" pitchFamily="18" charset="0"/>
                          </a:rPr>
                          <m:t>1</m:t>
                        </m:r>
                      </m:num>
                      <m:den>
                        <m:sSub>
                          <m:sSubPr>
                            <m:ctrlPr>
                              <a:rPr lang="ar-AE" sz="1200" b="0" i="1" u="none" strike="noStrike" baseline="0" smtClean="0">
                                <a:solidFill>
                                  <a:srgbClr val="000000"/>
                                </a:solidFill>
                                <a:latin typeface="Cambria Math" panose="02040503050406030204" pitchFamily="18" charset="0"/>
                              </a:rPr>
                            </m:ctrlPr>
                          </m:sSubPr>
                          <m:e>
                            <m:r>
                              <a:rPr lang="ar-AE" sz="1200" b="0" i="1" u="none" strike="noStrike" baseline="0" smtClean="0">
                                <a:solidFill>
                                  <a:srgbClr val="000000"/>
                                </a:solidFill>
                                <a:latin typeface="Cambria Math" panose="02040503050406030204" pitchFamily="18" charset="0"/>
                              </a:rPr>
                              <m:t>𝑚</m:t>
                            </m:r>
                          </m:e>
                          <m:sub>
                            <m:r>
                              <a:rPr lang="ar-AE" sz="1200" b="0" i="1" u="none" strike="noStrike" baseline="0" smtClean="0">
                                <a:solidFill>
                                  <a:srgbClr val="000000"/>
                                </a:solidFill>
                                <a:latin typeface="Cambria Math" panose="02040503050406030204" pitchFamily="18" charset="0"/>
                              </a:rPr>
                              <m:t>2</m:t>
                            </m:r>
                          </m:sub>
                        </m:sSub>
                      </m:den>
                    </m:f>
                  </m:oMath>
                </a14:m>
                <a:r>
                  <a:rPr lang="ar-AE"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means.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negative sign mean the second line always has a negative slope? Explain your thinking.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why the coordinates of point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are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side lengths of each triangle were determined.</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labeled diagram to determine each slope?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steps to rewrite the complex fraction.</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the Worked Example demonstrate formal reasoning?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negative reciprocal of −3?</a:t>
                </a:r>
                <a:endParaRPr lang="en-US" sz="12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80" name="Google Shape;580;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Assumption statement relate to the If Then statement? The Conclusion statement?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meant by negative reciprocals?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conclusion </a:t>
                </a:r>
                <a:r>
                  <a:rPr lang="ar-AE" sz="1200" b="0" i="0" u="none" strike="noStrike" baseline="0">
                    <a:solidFill>
                      <a:srgbClr val="000000"/>
                    </a:solidFill>
                    <a:latin typeface="Cambria Math" panose="02040503050406030204" pitchFamily="18" charset="0"/>
                  </a:rPr>
                  <a:t>𝑚_1=</a:t>
                </a:r>
                <a:r>
                  <a:rPr lang="en-US" sz="1200" b="0" i="0" u="none" strike="noStrike" baseline="0">
                    <a:solidFill>
                      <a:srgbClr val="000000"/>
                    </a:solidFill>
                    <a:latin typeface="Cambria Math" panose="02040503050406030204" pitchFamily="18" charset="0"/>
                  </a:rPr>
                  <a:t>−</a:t>
                </a:r>
                <a:r>
                  <a:rPr lang="ar-AE" sz="1200" b="0" i="0" u="none" strike="noStrike" baseline="0">
                    <a:solidFill>
                      <a:srgbClr val="000000"/>
                    </a:solidFill>
                    <a:latin typeface="Cambria Math" panose="02040503050406030204" pitchFamily="18" charset="0"/>
                  </a:rPr>
                  <a:t>1/𝑚_2 </a:t>
                </a:r>
                <a:r>
                  <a:rPr lang="ar-AE"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means.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negative sign mean the second line always has a negative slope? Explain your thinking.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why the coordinates of point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are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side lengths of each triangle were determined.</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labeled diagram to determine each slope?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steps to rewrite the complex fraction.</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the Worked Example demonstrate formal reasoning?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negative reciprocal of −3?</a:t>
                </a: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581" name="Google Shape;581;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1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xmlns:a14="http://schemas.microsoft.com/office/drawing/2010/main">
        <mc:Choice Requires="a14">
          <p:sp>
            <p:nvSpPr>
              <p:cNvPr id="599" name="Google Shape;599;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Assumption statement relate to the If Then statement? The Conclusion statement?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meant by negative reciprocals?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conclusion </a:t>
                </a:r>
                <a14:m>
                  <m:oMath xmlns:m="http://schemas.openxmlformats.org/officeDocument/2006/math">
                    <m:sSub>
                      <m:sSubPr>
                        <m:ctrlPr>
                          <a:rPr lang="ar-AE" sz="1200" b="0" i="1" u="none" strike="noStrike" baseline="0" smtClean="0">
                            <a:solidFill>
                              <a:srgbClr val="000000"/>
                            </a:solidFill>
                            <a:latin typeface="Cambria Math" panose="02040503050406030204" pitchFamily="18" charset="0"/>
                          </a:rPr>
                        </m:ctrlPr>
                      </m:sSubPr>
                      <m:e>
                        <m:r>
                          <a:rPr lang="ar-AE" sz="1200" b="0" i="1" u="none" strike="noStrike" baseline="0" smtClean="0">
                            <a:solidFill>
                              <a:srgbClr val="000000"/>
                            </a:solidFill>
                            <a:latin typeface="Cambria Math" panose="02040503050406030204" pitchFamily="18" charset="0"/>
                          </a:rPr>
                          <m:t>𝑚</m:t>
                        </m:r>
                      </m:e>
                      <m:sub>
                        <m:r>
                          <a:rPr lang="ar-AE" sz="1200" b="0" i="1" u="none" strike="noStrike" baseline="0" smtClean="0">
                            <a:solidFill>
                              <a:srgbClr val="000000"/>
                            </a:solidFill>
                            <a:latin typeface="Cambria Math" panose="02040503050406030204" pitchFamily="18" charset="0"/>
                          </a:rPr>
                          <m:t>1</m:t>
                        </m:r>
                      </m:sub>
                    </m:sSub>
                    <m:r>
                      <a:rPr lang="ar-AE" sz="1200" b="0" i="1" u="none" strike="noStrike" baseline="0" smtClean="0">
                        <a:solidFill>
                          <a:srgbClr val="000000"/>
                        </a:solidFill>
                        <a:latin typeface="Cambria Math" panose="02040503050406030204" pitchFamily="18" charset="0"/>
                      </a:rPr>
                      <m:t>=</m:t>
                    </m:r>
                    <m:r>
                      <a:rPr lang="en-US" sz="1200" b="0" i="1" u="none" strike="noStrike" baseline="0" smtClean="0">
                        <a:solidFill>
                          <a:srgbClr val="000000"/>
                        </a:solidFill>
                        <a:latin typeface="Cambria Math" panose="02040503050406030204" pitchFamily="18" charset="0"/>
                      </a:rPr>
                      <m:t>−</m:t>
                    </m:r>
                    <m:f>
                      <m:fPr>
                        <m:ctrlPr>
                          <a:rPr lang="ar-AE" sz="1200" b="0" i="1" u="none" strike="noStrike" baseline="0" smtClean="0">
                            <a:solidFill>
                              <a:srgbClr val="000000"/>
                            </a:solidFill>
                            <a:latin typeface="Cambria Math" panose="02040503050406030204" pitchFamily="18" charset="0"/>
                          </a:rPr>
                        </m:ctrlPr>
                      </m:fPr>
                      <m:num>
                        <m:r>
                          <a:rPr lang="ar-AE" sz="1200" b="0" i="1" u="none" strike="noStrike" baseline="0" smtClean="0">
                            <a:solidFill>
                              <a:srgbClr val="000000"/>
                            </a:solidFill>
                            <a:latin typeface="Cambria Math" panose="02040503050406030204" pitchFamily="18" charset="0"/>
                          </a:rPr>
                          <m:t>1</m:t>
                        </m:r>
                      </m:num>
                      <m:den>
                        <m:sSub>
                          <m:sSubPr>
                            <m:ctrlPr>
                              <a:rPr lang="ar-AE" sz="1200" b="0" i="1" u="none" strike="noStrike" baseline="0" smtClean="0">
                                <a:solidFill>
                                  <a:srgbClr val="000000"/>
                                </a:solidFill>
                                <a:latin typeface="Cambria Math" panose="02040503050406030204" pitchFamily="18" charset="0"/>
                              </a:rPr>
                            </m:ctrlPr>
                          </m:sSubPr>
                          <m:e>
                            <m:r>
                              <a:rPr lang="ar-AE" sz="1200" b="0" i="1" u="none" strike="noStrike" baseline="0" smtClean="0">
                                <a:solidFill>
                                  <a:srgbClr val="000000"/>
                                </a:solidFill>
                                <a:latin typeface="Cambria Math" panose="02040503050406030204" pitchFamily="18" charset="0"/>
                              </a:rPr>
                              <m:t>𝑚</m:t>
                            </m:r>
                          </m:e>
                          <m:sub>
                            <m:r>
                              <a:rPr lang="ar-AE" sz="1200" b="0" i="1" u="none" strike="noStrike" baseline="0" smtClean="0">
                                <a:solidFill>
                                  <a:srgbClr val="000000"/>
                                </a:solidFill>
                                <a:latin typeface="Cambria Math" panose="02040503050406030204" pitchFamily="18" charset="0"/>
                              </a:rPr>
                              <m:t>2</m:t>
                            </m:r>
                          </m:sub>
                        </m:sSub>
                      </m:den>
                    </m:f>
                  </m:oMath>
                </a14:m>
                <a:r>
                  <a:rPr lang="ar-AE"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means.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negative sign mean the second line always has a negative slope? Explain your thinking.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why the coordinates of point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are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side lengths of each triangle were determined.</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labeled diagram to determine each slope?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steps to rewrite the complex fraction.</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the Worked Example demonstrate formal reasoning?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negative reciprocal of −3?</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99" name="Google Shape;599;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Assumption statement relate to the If Then statement? The Conclusion statement?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meant by negative reciprocals?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conclusion </a:t>
                </a:r>
                <a:r>
                  <a:rPr lang="ar-AE" sz="1200" b="0" i="0" u="none" strike="noStrike" baseline="0">
                    <a:solidFill>
                      <a:srgbClr val="000000"/>
                    </a:solidFill>
                    <a:latin typeface="Cambria Math" panose="02040503050406030204" pitchFamily="18" charset="0"/>
                  </a:rPr>
                  <a:t>𝑚_1=</a:t>
                </a:r>
                <a:r>
                  <a:rPr lang="en-US" sz="1200" b="0" i="0" u="none" strike="noStrike" baseline="0">
                    <a:solidFill>
                      <a:srgbClr val="000000"/>
                    </a:solidFill>
                    <a:latin typeface="Cambria Math" panose="02040503050406030204" pitchFamily="18" charset="0"/>
                  </a:rPr>
                  <a:t>−</a:t>
                </a:r>
                <a:r>
                  <a:rPr lang="ar-AE" sz="1200" b="0" i="0" u="none" strike="noStrike" baseline="0">
                    <a:solidFill>
                      <a:srgbClr val="000000"/>
                    </a:solidFill>
                    <a:latin typeface="Cambria Math" panose="02040503050406030204" pitchFamily="18" charset="0"/>
                  </a:rPr>
                  <a:t>1/𝑚_2 </a:t>
                </a:r>
                <a:r>
                  <a:rPr lang="ar-AE"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means.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negative sign mean the second line always has a negative slope? Explain your thinking.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why the coordinates of point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are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side lengths of each triangle were determined.</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labeled diagram to determine each slope?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steps to rewrite the complex fraction.</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the Worked Example demonstrate formal reasoning?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negative reciprocal of −3?</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600" name="Google Shape;600;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a:extLst>
            <a:ext uri="{FF2B5EF4-FFF2-40B4-BE49-F238E27FC236}">
              <a16:creationId xmlns:a16="http://schemas.microsoft.com/office/drawing/2014/main" id="{5BB8667E-D141-5D9C-5358-8204C0A3993C}"/>
            </a:ext>
          </a:extLst>
        </p:cNvPr>
        <p:cNvGrpSpPr/>
        <p:nvPr/>
      </p:nvGrpSpPr>
      <p:grpSpPr>
        <a:xfrm>
          <a:off x="0" y="0"/>
          <a:ext cx="0" cy="0"/>
          <a:chOff x="0" y="0"/>
          <a:chExt cx="0" cy="0"/>
        </a:xfrm>
      </p:grpSpPr>
      <p:sp>
        <p:nvSpPr>
          <p:cNvPr id="598" name="Google Shape;598;p17:notes">
            <a:extLst>
              <a:ext uri="{FF2B5EF4-FFF2-40B4-BE49-F238E27FC236}">
                <a16:creationId xmlns:a16="http://schemas.microsoft.com/office/drawing/2014/main" id="{25DB1832-930C-C1A5-55C4-D3CE239671B6}"/>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xmlns:a14="http://schemas.microsoft.com/office/drawing/2010/main">
        <mc:Choice Requires="a14">
          <p:sp>
            <p:nvSpPr>
              <p:cNvPr id="599" name="Google Shape;599;p17:notes">
                <a:extLst>
                  <a:ext uri="{FF2B5EF4-FFF2-40B4-BE49-F238E27FC236}">
                    <a16:creationId xmlns:a16="http://schemas.microsoft.com/office/drawing/2014/main" id="{E34C0609-21DE-C525-06E1-39B20EDBA62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Assumption statement relate to the If Then statement? The Conclusion statement?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meant by negative reciprocals?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conclusion </a:t>
                </a:r>
                <a14:m>
                  <m:oMath xmlns:m="http://schemas.openxmlformats.org/officeDocument/2006/math">
                    <m:sSub>
                      <m:sSubPr>
                        <m:ctrlPr>
                          <a:rPr lang="ar-AE" sz="1200" b="0" i="1" u="none" strike="noStrike" baseline="0" smtClean="0">
                            <a:solidFill>
                              <a:srgbClr val="000000"/>
                            </a:solidFill>
                            <a:latin typeface="Cambria Math" panose="02040503050406030204" pitchFamily="18" charset="0"/>
                          </a:rPr>
                        </m:ctrlPr>
                      </m:sSubPr>
                      <m:e>
                        <m:r>
                          <a:rPr lang="ar-AE" sz="1200" b="0" i="1" u="none" strike="noStrike" baseline="0" smtClean="0">
                            <a:solidFill>
                              <a:srgbClr val="000000"/>
                            </a:solidFill>
                            <a:latin typeface="Cambria Math" panose="02040503050406030204" pitchFamily="18" charset="0"/>
                          </a:rPr>
                          <m:t>𝑚</m:t>
                        </m:r>
                      </m:e>
                      <m:sub>
                        <m:r>
                          <a:rPr lang="ar-AE" sz="1200" b="0" i="1" u="none" strike="noStrike" baseline="0" smtClean="0">
                            <a:solidFill>
                              <a:srgbClr val="000000"/>
                            </a:solidFill>
                            <a:latin typeface="Cambria Math" panose="02040503050406030204" pitchFamily="18" charset="0"/>
                          </a:rPr>
                          <m:t>1</m:t>
                        </m:r>
                      </m:sub>
                    </m:sSub>
                    <m:r>
                      <a:rPr lang="ar-AE" sz="1200" b="0" i="1" u="none" strike="noStrike" baseline="0" smtClean="0">
                        <a:solidFill>
                          <a:srgbClr val="000000"/>
                        </a:solidFill>
                        <a:latin typeface="Cambria Math" panose="02040503050406030204" pitchFamily="18" charset="0"/>
                      </a:rPr>
                      <m:t>=</m:t>
                    </m:r>
                    <m:r>
                      <a:rPr lang="en-US" sz="1200" b="0" i="1" u="none" strike="noStrike" baseline="0" smtClean="0">
                        <a:solidFill>
                          <a:srgbClr val="000000"/>
                        </a:solidFill>
                        <a:latin typeface="Cambria Math" panose="02040503050406030204" pitchFamily="18" charset="0"/>
                      </a:rPr>
                      <m:t>−</m:t>
                    </m:r>
                    <m:f>
                      <m:fPr>
                        <m:ctrlPr>
                          <a:rPr lang="ar-AE" sz="1200" b="0" i="1" u="none" strike="noStrike" baseline="0" smtClean="0">
                            <a:solidFill>
                              <a:srgbClr val="000000"/>
                            </a:solidFill>
                            <a:latin typeface="Cambria Math" panose="02040503050406030204" pitchFamily="18" charset="0"/>
                          </a:rPr>
                        </m:ctrlPr>
                      </m:fPr>
                      <m:num>
                        <m:r>
                          <a:rPr lang="ar-AE" sz="1200" b="0" i="1" u="none" strike="noStrike" baseline="0" smtClean="0">
                            <a:solidFill>
                              <a:srgbClr val="000000"/>
                            </a:solidFill>
                            <a:latin typeface="Cambria Math" panose="02040503050406030204" pitchFamily="18" charset="0"/>
                          </a:rPr>
                          <m:t>1</m:t>
                        </m:r>
                      </m:num>
                      <m:den>
                        <m:sSub>
                          <m:sSubPr>
                            <m:ctrlPr>
                              <a:rPr lang="ar-AE" sz="1200" b="0" i="1" u="none" strike="noStrike" baseline="0" smtClean="0">
                                <a:solidFill>
                                  <a:srgbClr val="000000"/>
                                </a:solidFill>
                                <a:latin typeface="Cambria Math" panose="02040503050406030204" pitchFamily="18" charset="0"/>
                              </a:rPr>
                            </m:ctrlPr>
                          </m:sSubPr>
                          <m:e>
                            <m:r>
                              <a:rPr lang="ar-AE" sz="1200" b="0" i="1" u="none" strike="noStrike" baseline="0" smtClean="0">
                                <a:solidFill>
                                  <a:srgbClr val="000000"/>
                                </a:solidFill>
                                <a:latin typeface="Cambria Math" panose="02040503050406030204" pitchFamily="18" charset="0"/>
                              </a:rPr>
                              <m:t>𝑚</m:t>
                            </m:r>
                          </m:e>
                          <m:sub>
                            <m:r>
                              <a:rPr lang="ar-AE" sz="1200" b="0" i="1" u="none" strike="noStrike" baseline="0" smtClean="0">
                                <a:solidFill>
                                  <a:srgbClr val="000000"/>
                                </a:solidFill>
                                <a:latin typeface="Cambria Math" panose="02040503050406030204" pitchFamily="18" charset="0"/>
                              </a:rPr>
                              <m:t>2</m:t>
                            </m:r>
                          </m:sub>
                        </m:sSub>
                      </m:den>
                    </m:f>
                  </m:oMath>
                </a14:m>
                <a:r>
                  <a:rPr lang="ar-AE"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means.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negative sign mean the second line always has a negative slope? Explain your thinking.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why the coordinates of point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are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side lengths of each triangle were determined.</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labeled diagram to determine each slope?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steps to rewrite the complex fraction.</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the Worked Example demonstrate formal reasoning?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negative reciprocal of −3?</a:t>
                </a:r>
                <a:endParaRPr lang="en-US" sz="12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99" name="Google Shape;599;p17:notes">
                <a:extLst>
                  <a:ext uri="{FF2B5EF4-FFF2-40B4-BE49-F238E27FC236}">
                    <a16:creationId xmlns:a16="http://schemas.microsoft.com/office/drawing/2014/main" id="{E34C0609-21DE-C525-06E1-39B20EDBA62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Assumption statement relate to the If Then statement? The Conclusion statement?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meant by negative reciprocals?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conclusion </a:t>
                </a:r>
                <a:r>
                  <a:rPr lang="ar-AE" sz="1200" b="0" i="0" u="none" strike="noStrike" baseline="0">
                    <a:solidFill>
                      <a:srgbClr val="000000"/>
                    </a:solidFill>
                    <a:latin typeface="Cambria Math" panose="02040503050406030204" pitchFamily="18" charset="0"/>
                  </a:rPr>
                  <a:t>𝑚_1=</a:t>
                </a:r>
                <a:r>
                  <a:rPr lang="en-US" sz="1200" b="0" i="0" u="none" strike="noStrike" baseline="0">
                    <a:solidFill>
                      <a:srgbClr val="000000"/>
                    </a:solidFill>
                    <a:latin typeface="Cambria Math" panose="02040503050406030204" pitchFamily="18" charset="0"/>
                  </a:rPr>
                  <a:t>−</a:t>
                </a:r>
                <a:r>
                  <a:rPr lang="ar-AE" sz="1200" b="0" i="0" u="none" strike="noStrike" baseline="0">
                    <a:solidFill>
                      <a:srgbClr val="000000"/>
                    </a:solidFill>
                    <a:latin typeface="Cambria Math" panose="02040503050406030204" pitchFamily="18" charset="0"/>
                  </a:rPr>
                  <a:t>1/𝑚_2 </a:t>
                </a:r>
                <a:r>
                  <a:rPr lang="ar-AE"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means.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negative sign mean the second line always has a negative slope? Explain your thinking.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why the coordinates of point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are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side lengths of each triangle were determined.</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labeled diagram to determine each slope?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steps to rewrite the complex fraction.</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the Worked Example demonstrate formal reasoning?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negative reciprocal of −3?</a:t>
                </a: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600" name="Google Shape;600;p17:notes">
            <a:extLst>
              <a:ext uri="{FF2B5EF4-FFF2-40B4-BE49-F238E27FC236}">
                <a16:creationId xmlns:a16="http://schemas.microsoft.com/office/drawing/2014/main" id="{0A84622F-4531-F61D-C63D-BFA9B336D171}"/>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0724861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p1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0" name="Google Shape;610;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a:ea typeface="Calibri"/>
                <a:cs typeface="Calibri"/>
                <a:sym typeface="Calibri"/>
              </a:rPr>
              <a:t>Note:</a:t>
            </a:r>
            <a:r>
              <a:rPr lang="en-US" sz="1200" b="0" dirty="0">
                <a:solidFill>
                  <a:srgbClr val="000000"/>
                </a:solidFill>
                <a:latin typeface="Calibri"/>
                <a:ea typeface="Calibri"/>
                <a:cs typeface="Calibri"/>
                <a:sym typeface="Calibri"/>
              </a:rPr>
              <a:t> To close Day 1, have students reread the Essential Question and then read the Stamp the Learning summary aloud.</a:t>
            </a:r>
            <a:endParaRPr dirty="0">
              <a:solidFill>
                <a:srgbClr val="000000"/>
              </a:solidFill>
            </a:endParaRPr>
          </a:p>
          <a:p>
            <a:pPr marL="0" lvl="0" indent="0" algn="l" rtl="0">
              <a:spcBef>
                <a:spcPts val="0"/>
              </a:spcBef>
              <a:spcAft>
                <a:spcPts val="0"/>
              </a:spcAft>
              <a:buNone/>
            </a:pPr>
            <a:endParaRPr sz="1200" b="1" dirty="0">
              <a:solidFill>
                <a:srgbClr val="000000"/>
              </a:solidFill>
              <a:latin typeface="Calibri"/>
              <a:ea typeface="Calibri"/>
              <a:cs typeface="Calibri"/>
              <a:sym typeface="Calibri"/>
            </a:endParaRPr>
          </a:p>
          <a:p>
            <a:pPr marL="0" lvl="0" indent="0" algn="l" rtl="0">
              <a:spcBef>
                <a:spcPts val="0"/>
              </a:spcBef>
              <a:spcAft>
                <a:spcPts val="0"/>
              </a:spcAft>
              <a:buNone/>
            </a:pPr>
            <a:r>
              <a:rPr lang="en-US" sz="1200" b="1" dirty="0">
                <a:solidFill>
                  <a:srgbClr val="000000"/>
                </a:solidFill>
                <a:latin typeface="Calibri"/>
                <a:ea typeface="Calibri"/>
                <a:cs typeface="Calibri"/>
                <a:sym typeface="Calibri"/>
              </a:rPr>
              <a:t>Activity 3.1 Summary:</a:t>
            </a:r>
            <a:endParaRPr dirty="0">
              <a:solidFill>
                <a:srgbClr val="000000"/>
              </a:solidFill>
            </a:endParaRPr>
          </a:p>
          <a:p>
            <a:pPr marL="0" lvl="0" indent="0" algn="l" rtl="0">
              <a:spcBef>
                <a:spcPts val="0"/>
              </a:spcBef>
              <a:spcAft>
                <a:spcPts val="0"/>
              </a:spcAft>
              <a:buNone/>
            </a:pPr>
            <a:r>
              <a:rPr lang="en-US" dirty="0">
                <a:solidFill>
                  <a:srgbClr val="000000"/>
                </a:solidFill>
              </a:rPr>
              <a:t>If two lines are perpendicular, their slopes are negative reciprocals.</a:t>
            </a:r>
            <a:endParaRPr sz="1200" b="1" dirty="0">
              <a:solidFill>
                <a:srgbClr val="000000"/>
              </a:solidFill>
              <a:latin typeface="Calibri"/>
              <a:ea typeface="Calibri"/>
              <a:cs typeface="Calibri"/>
              <a:sym typeface="Calibri"/>
            </a:endParaRPr>
          </a:p>
        </p:txBody>
      </p:sp>
      <p:sp>
        <p:nvSpPr>
          <p:cNvPr id="611" name="Google Shape;611;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19: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8" name="Google Shape;618;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 </a:t>
            </a:r>
            <a:r>
              <a:rPr lang="en-US" dirty="0">
                <a:solidFill>
                  <a:srgbClr val="000000"/>
                </a:solidFill>
                <a:latin typeface="Calibri"/>
                <a:ea typeface="Calibri"/>
                <a:cs typeface="Calibri"/>
                <a:sym typeface="Calibri"/>
              </a:rPr>
              <a:t>This slide is blank for optional use with displaying work.</a:t>
            </a:r>
            <a:endParaRPr b="0" dirty="0">
              <a:solidFill>
                <a:srgbClr val="000000"/>
              </a:solidFill>
              <a:latin typeface="Calibri"/>
              <a:ea typeface="Calibri"/>
              <a:cs typeface="Calibri"/>
              <a:sym typeface="Calibri"/>
            </a:endParaRPr>
          </a:p>
        </p:txBody>
      </p:sp>
      <p:sp>
        <p:nvSpPr>
          <p:cNvPr id="619" name="Google Shape;619;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p2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5" name="Google Shape;625;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latin typeface="Calibri"/>
                <a:ea typeface="Calibri"/>
                <a:cs typeface="Calibri"/>
                <a:sym typeface="Calibri"/>
              </a:rPr>
              <a:t>Note: </a:t>
            </a:r>
            <a:r>
              <a:rPr lang="en-US" dirty="0">
                <a:solidFill>
                  <a:srgbClr val="000000"/>
                </a:solidFill>
                <a:latin typeface="Calibri"/>
                <a:ea typeface="Calibri"/>
                <a:cs typeface="Calibri"/>
                <a:sym typeface="Calibri"/>
              </a:rPr>
              <a:t>Total suggested pacing for Day 2 is 45 minutes.</a:t>
            </a:r>
            <a:endParaRPr dirty="0">
              <a:solidFill>
                <a:srgbClr val="000000"/>
              </a:solidFill>
            </a:endParaRPr>
          </a:p>
        </p:txBody>
      </p:sp>
      <p:sp>
        <p:nvSpPr>
          <p:cNvPr id="626" name="Google Shape;626;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2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2" name="Google Shape;632;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a:ea typeface="Calibri"/>
                <a:cs typeface="Calibri"/>
                <a:sym typeface="Calibri"/>
              </a:rPr>
              <a:t>Note: </a:t>
            </a:r>
            <a:r>
              <a:rPr lang="en-US" dirty="0">
                <a:solidFill>
                  <a:srgbClr val="000000"/>
                </a:solidFill>
                <a:latin typeface="Calibri"/>
                <a:ea typeface="Calibri"/>
                <a:cs typeface="Calibri"/>
                <a:sym typeface="Calibri"/>
              </a:rPr>
              <a:t>To begin Day 2, have a student read the Essential Question aloud.</a:t>
            </a:r>
            <a:endParaRPr sz="1200" b="1" dirty="0">
              <a:solidFill>
                <a:srgbClr val="000000"/>
              </a:solidFill>
              <a:latin typeface="Calibri"/>
              <a:ea typeface="Calibri"/>
              <a:cs typeface="Calibri"/>
              <a:sym typeface="Calibri"/>
            </a:endParaRPr>
          </a:p>
        </p:txBody>
      </p:sp>
      <p:sp>
        <p:nvSpPr>
          <p:cNvPr id="633" name="Google Shape;633;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p2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9" name="Google Shape;639;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time of 15-20 minutes allotted for Activity 3.2.</a:t>
            </a:r>
            <a:endParaRPr dirty="0">
              <a:solidFill>
                <a:srgbClr val="000000"/>
              </a:solidFill>
            </a:endParaRPr>
          </a:p>
        </p:txBody>
      </p:sp>
      <p:sp>
        <p:nvSpPr>
          <p:cNvPr id="640" name="Google Shape;640;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p2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7" name="Google Shape;647;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Demonstrate the slope is zero using two points from a line.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Demonstrate the slope is zero using points (</a:t>
            </a:r>
            <a:r>
              <a:rPr lang="en-US" i="1" dirty="0">
                <a:solidFill>
                  <a:srgbClr val="000000"/>
                </a:solidFill>
              </a:rPr>
              <a:t>x</a:t>
            </a:r>
            <a:r>
              <a:rPr lang="en-US" baseline="-25000" dirty="0">
                <a:solidFill>
                  <a:srgbClr val="000000"/>
                </a:solidFill>
              </a:rPr>
              <a:t>1</a:t>
            </a:r>
            <a:r>
              <a:rPr lang="en-US" dirty="0">
                <a:solidFill>
                  <a:srgbClr val="000000"/>
                </a:solidFill>
              </a:rPr>
              <a:t>, </a:t>
            </a:r>
            <a:r>
              <a:rPr lang="en-US" i="1" dirty="0">
                <a:solidFill>
                  <a:srgbClr val="000000"/>
                </a:solidFill>
              </a:rPr>
              <a:t>y</a:t>
            </a:r>
            <a:r>
              <a:rPr lang="en-US" baseline="-25000" dirty="0">
                <a:solidFill>
                  <a:srgbClr val="000000"/>
                </a:solidFill>
              </a:rPr>
              <a:t>1</a:t>
            </a:r>
            <a:r>
              <a:rPr lang="en-US" dirty="0">
                <a:solidFill>
                  <a:srgbClr val="000000"/>
                </a:solidFill>
              </a:rPr>
              <a:t>) and (</a:t>
            </a:r>
            <a:r>
              <a:rPr lang="en-US" i="1" dirty="0">
                <a:solidFill>
                  <a:srgbClr val="000000"/>
                </a:solidFill>
              </a:rPr>
              <a:t>x</a:t>
            </a:r>
            <a:r>
              <a:rPr lang="en-US" baseline="-25000" dirty="0">
                <a:solidFill>
                  <a:srgbClr val="000000"/>
                </a:solidFill>
              </a:rPr>
              <a:t>2</a:t>
            </a:r>
            <a:r>
              <a:rPr lang="en-US" dirty="0">
                <a:solidFill>
                  <a:srgbClr val="000000"/>
                </a:solidFill>
              </a:rPr>
              <a:t>, </a:t>
            </a:r>
            <a:r>
              <a:rPr lang="en-US" i="1" dirty="0">
                <a:solidFill>
                  <a:srgbClr val="000000"/>
                </a:solidFill>
              </a:rPr>
              <a:t>y</a:t>
            </a:r>
            <a:r>
              <a:rPr lang="en-US" baseline="-25000" dirty="0">
                <a:solidFill>
                  <a:srgbClr val="000000"/>
                </a:solidFill>
              </a:rPr>
              <a:t>2</a:t>
            </a:r>
            <a:r>
              <a:rPr lang="en-US" dirty="0">
                <a:solidFill>
                  <a:srgbClr val="000000"/>
                </a:solidFill>
              </a:rPr>
              <a:t>). </a:t>
            </a:r>
            <a:endParaRPr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If one line has a slope of zero, how do you know all the other lines have a slope of zero? </a:t>
            </a:r>
            <a:endParaRPr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What is another way to demonstrate the slope is undefined?</a:t>
            </a:r>
            <a:endParaRPr sz="1200" dirty="0">
              <a:solidFill>
                <a:srgbClr val="000000"/>
              </a:solidFill>
              <a:latin typeface="Calibri"/>
              <a:ea typeface="Calibri"/>
              <a:cs typeface="Calibri"/>
              <a:sym typeface="Calibri"/>
            </a:endParaRPr>
          </a:p>
          <a:p>
            <a:r>
              <a:rPr lang="en-US" b="1" dirty="0"/>
              <a:t>Read from the graph: G and K are on x = 4; H and G are on y = 4, F and J on y = 8, K and L on y = 12.</a:t>
            </a:r>
          </a:p>
        </p:txBody>
      </p:sp>
      <p:sp>
        <p:nvSpPr>
          <p:cNvPr id="648" name="Google Shape;648;p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p2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6" name="Google Shape;656;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Demonstrate the slope is zero using two points from a line.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Demonstrate the slope is zero using points (</a:t>
            </a:r>
            <a:r>
              <a:rPr lang="en-US" i="1" dirty="0">
                <a:solidFill>
                  <a:srgbClr val="000000"/>
                </a:solidFill>
              </a:rPr>
              <a:t>x</a:t>
            </a:r>
            <a:r>
              <a:rPr lang="en-US" baseline="-25000" dirty="0">
                <a:solidFill>
                  <a:srgbClr val="000000"/>
                </a:solidFill>
              </a:rPr>
              <a:t>1</a:t>
            </a:r>
            <a:r>
              <a:rPr lang="en-US" dirty="0">
                <a:solidFill>
                  <a:srgbClr val="000000"/>
                </a:solidFill>
              </a:rPr>
              <a:t>, </a:t>
            </a:r>
            <a:r>
              <a:rPr lang="en-US" i="1" dirty="0">
                <a:solidFill>
                  <a:srgbClr val="000000"/>
                </a:solidFill>
              </a:rPr>
              <a:t>y</a:t>
            </a:r>
            <a:r>
              <a:rPr lang="en-US" baseline="-25000" dirty="0">
                <a:solidFill>
                  <a:srgbClr val="000000"/>
                </a:solidFill>
              </a:rPr>
              <a:t>1</a:t>
            </a:r>
            <a:r>
              <a:rPr lang="en-US" dirty="0">
                <a:solidFill>
                  <a:srgbClr val="000000"/>
                </a:solidFill>
              </a:rPr>
              <a:t>) and (</a:t>
            </a:r>
            <a:r>
              <a:rPr lang="en-US" i="1" dirty="0">
                <a:solidFill>
                  <a:srgbClr val="000000"/>
                </a:solidFill>
              </a:rPr>
              <a:t>x</a:t>
            </a:r>
            <a:r>
              <a:rPr lang="en-US" baseline="-25000" dirty="0">
                <a:solidFill>
                  <a:srgbClr val="000000"/>
                </a:solidFill>
              </a:rPr>
              <a:t>2</a:t>
            </a:r>
            <a:r>
              <a:rPr lang="en-US" dirty="0">
                <a:solidFill>
                  <a:srgbClr val="000000"/>
                </a:solidFill>
              </a:rPr>
              <a:t>, </a:t>
            </a:r>
            <a:r>
              <a:rPr lang="en-US" i="1" dirty="0">
                <a:solidFill>
                  <a:srgbClr val="000000"/>
                </a:solidFill>
              </a:rPr>
              <a:t>y</a:t>
            </a:r>
            <a:r>
              <a:rPr lang="en-US" baseline="-25000" dirty="0">
                <a:solidFill>
                  <a:srgbClr val="000000"/>
                </a:solidFill>
              </a:rPr>
              <a:t>2</a:t>
            </a:r>
            <a:r>
              <a:rPr lang="en-US" dirty="0">
                <a:solidFill>
                  <a:srgbClr val="000000"/>
                </a:solidFill>
              </a:rPr>
              <a:t>).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If one line has a slope of zero, how do you know all the other lines have a slope of zero?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What is another way to demonstrate the slope is undefined?</a:t>
            </a:r>
            <a:endParaRPr lang="en-US" sz="1200" dirty="0">
              <a:solidFill>
                <a:srgbClr val="000000"/>
              </a:solidFill>
              <a:latin typeface="Calibri"/>
              <a:ea typeface="Calibri"/>
              <a:cs typeface="Calibri"/>
              <a:sym typeface="Calibri"/>
            </a:endParaRPr>
          </a:p>
        </p:txBody>
      </p:sp>
      <p:sp>
        <p:nvSpPr>
          <p:cNvPr id="657" name="Google Shape;657;p2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p2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3" name="Google Shape;663;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Demonstrate the slope is zero using two points from a line.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Demonstrate the slope is zero using points (</a:t>
            </a:r>
            <a:r>
              <a:rPr lang="en-US" i="1" dirty="0">
                <a:solidFill>
                  <a:srgbClr val="000000"/>
                </a:solidFill>
              </a:rPr>
              <a:t>x</a:t>
            </a:r>
            <a:r>
              <a:rPr lang="en-US" baseline="-25000" dirty="0">
                <a:solidFill>
                  <a:srgbClr val="000000"/>
                </a:solidFill>
              </a:rPr>
              <a:t>1</a:t>
            </a:r>
            <a:r>
              <a:rPr lang="en-US" dirty="0">
                <a:solidFill>
                  <a:srgbClr val="000000"/>
                </a:solidFill>
              </a:rPr>
              <a:t>, </a:t>
            </a:r>
            <a:r>
              <a:rPr lang="en-US" i="1" dirty="0">
                <a:solidFill>
                  <a:srgbClr val="000000"/>
                </a:solidFill>
              </a:rPr>
              <a:t>y</a:t>
            </a:r>
            <a:r>
              <a:rPr lang="en-US" baseline="-25000" dirty="0">
                <a:solidFill>
                  <a:srgbClr val="000000"/>
                </a:solidFill>
              </a:rPr>
              <a:t>1</a:t>
            </a:r>
            <a:r>
              <a:rPr lang="en-US" dirty="0">
                <a:solidFill>
                  <a:srgbClr val="000000"/>
                </a:solidFill>
              </a:rPr>
              <a:t>) and (</a:t>
            </a:r>
            <a:r>
              <a:rPr lang="en-US" i="1" dirty="0">
                <a:solidFill>
                  <a:srgbClr val="000000"/>
                </a:solidFill>
              </a:rPr>
              <a:t>x</a:t>
            </a:r>
            <a:r>
              <a:rPr lang="en-US" baseline="-25000" dirty="0">
                <a:solidFill>
                  <a:srgbClr val="000000"/>
                </a:solidFill>
              </a:rPr>
              <a:t>2</a:t>
            </a:r>
            <a:r>
              <a:rPr lang="en-US" dirty="0">
                <a:solidFill>
                  <a:srgbClr val="000000"/>
                </a:solidFill>
              </a:rPr>
              <a:t>, </a:t>
            </a:r>
            <a:r>
              <a:rPr lang="en-US" i="1" dirty="0">
                <a:solidFill>
                  <a:srgbClr val="000000"/>
                </a:solidFill>
              </a:rPr>
              <a:t>y</a:t>
            </a:r>
            <a:r>
              <a:rPr lang="en-US" baseline="-25000" dirty="0">
                <a:solidFill>
                  <a:srgbClr val="000000"/>
                </a:solidFill>
              </a:rPr>
              <a:t>2</a:t>
            </a:r>
            <a:r>
              <a:rPr lang="en-US" dirty="0">
                <a:solidFill>
                  <a:srgbClr val="000000"/>
                </a:solidFill>
              </a:rPr>
              <a:t>).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If one line has a slope of zero, how do you know all the other lines have a slope of zero?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What is another way to demonstrate the slope is undefined?</a:t>
            </a:r>
            <a:endParaRPr lang="en-US" sz="1200" dirty="0">
              <a:solidFill>
                <a:srgbClr val="000000"/>
              </a:solidFill>
              <a:latin typeface="Calibri"/>
              <a:ea typeface="Calibri"/>
              <a:cs typeface="Calibri"/>
              <a:sym typeface="Calibri"/>
            </a:endParaRPr>
          </a:p>
        </p:txBody>
      </p:sp>
      <p:sp>
        <p:nvSpPr>
          <p:cNvPr id="664" name="Google Shape;664;p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p2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0" name="Google Shape;670;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do you know the form of the equation for a horizontal or vertical line?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can you use a table of values to verify your reasoning? A graph? </a:t>
            </a:r>
            <a:endParaRPr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What is the slope of the original line? What is the reciprocal of that slope?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do you know which number from the ordered pair to use in your equation? </a:t>
            </a:r>
            <a:endParaRPr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Does the relationship that perpendicular lines have negative reciprocal slopes apply to vertical and horizontal lines? Explain your thinking.</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Reflecting and Justifying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Sketch a graph to verify your thinking.</a:t>
            </a:r>
            <a:endParaRPr sz="1200" dirty="0">
              <a:solidFill>
                <a:srgbClr val="000000"/>
              </a:solidFill>
              <a:latin typeface="Calibri"/>
              <a:ea typeface="Calibri"/>
              <a:cs typeface="Calibri"/>
              <a:sym typeface="Calibri"/>
            </a:endParaRPr>
          </a:p>
        </p:txBody>
      </p:sp>
      <p:sp>
        <p:nvSpPr>
          <p:cNvPr id="671" name="Google Shape;671;p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p2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do you know the form of the equation for a horizontal or vertical line?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can you use a table of values to verify your reasoning? A graph?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What is the slope of the original line? What is the reciprocal of that slope?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do you know which number from the ordered pair to use in your equation?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Does the relationship that perpendicular lines have negative reciprocal slopes apply to vertical and horizontal lines? Explain your thinking.</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Reflecting and Justifying </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Sketch a graph to verify your thinking.</a:t>
            </a:r>
            <a:endParaRPr lang="en-US" sz="1200" dirty="0">
              <a:solidFill>
                <a:srgbClr val="000000"/>
              </a:solidFill>
              <a:latin typeface="Calibri"/>
              <a:ea typeface="Calibri"/>
              <a:cs typeface="Calibri"/>
              <a:sym typeface="Calibri"/>
            </a:endParaRPr>
          </a:p>
        </p:txBody>
      </p:sp>
      <p:sp>
        <p:nvSpPr>
          <p:cNvPr id="678" name="Google Shape;678;p2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2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4" name="Google Shape;684;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a:ea typeface="Calibri"/>
                <a:cs typeface="Calibri"/>
                <a:sym typeface="Calibri"/>
              </a:rPr>
              <a:t>Activity 3.2 Summary:</a:t>
            </a:r>
            <a:endParaRPr dirty="0">
              <a:solidFill>
                <a:srgbClr val="000000"/>
              </a:solidFill>
            </a:endParaRPr>
          </a:p>
          <a:p>
            <a:pPr marL="0" lvl="0" indent="0" algn="l" rtl="0">
              <a:spcBef>
                <a:spcPts val="0"/>
              </a:spcBef>
              <a:spcAft>
                <a:spcPts val="0"/>
              </a:spcAft>
              <a:buNone/>
            </a:pPr>
            <a:r>
              <a:rPr lang="en-US" dirty="0">
                <a:solidFill>
                  <a:srgbClr val="000000"/>
                </a:solidFill>
              </a:rPr>
              <a:t>Any vertical line and any horizontal line are perpendicular to each other.</a:t>
            </a:r>
            <a:endParaRPr sz="1200" b="0" dirty="0">
              <a:solidFill>
                <a:srgbClr val="000000"/>
              </a:solidFill>
              <a:latin typeface="Calibri"/>
              <a:ea typeface="Calibri"/>
              <a:cs typeface="Calibri"/>
              <a:sym typeface="Calibri"/>
            </a:endParaRPr>
          </a:p>
        </p:txBody>
      </p:sp>
      <p:sp>
        <p:nvSpPr>
          <p:cNvPr id="685" name="Google Shape;685;p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p29: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2" name="Google Shape;692;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This slide is blank for optional use with displaying work.</a:t>
            </a:r>
            <a:endParaRPr dirty="0">
              <a:solidFill>
                <a:srgbClr val="000000"/>
              </a:solidFill>
            </a:endParaRPr>
          </a:p>
        </p:txBody>
      </p:sp>
      <p:sp>
        <p:nvSpPr>
          <p:cNvPr id="693" name="Google Shape;693;p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p3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9" name="Google Shape;699;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time of 15-20 minutes allotted for Activity 3.3.</a:t>
            </a:r>
            <a:endParaRPr dirty="0">
              <a:solidFill>
                <a:srgbClr val="000000"/>
              </a:solidFill>
            </a:endParaRPr>
          </a:p>
        </p:txBody>
      </p:sp>
      <p:sp>
        <p:nvSpPr>
          <p:cNvPr id="700" name="Google Shape;700;p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3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Probing:</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know what slope to use in your equation?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use the point the line passes through to help write your equation?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Explain how you used the slope formula to write the equation of the line.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can you check that your answer is correct?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determine the slope to use in your equation without being given a perpendicular slope? </a:t>
            </a:r>
            <a:endParaRPr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was knowing the point of intersection helpful?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was the information given in Question 5 similar to the information given in Questions 3 and 4?</a:t>
            </a:r>
            <a:endParaRPr sz="1200" dirty="0">
              <a:solidFill>
                <a:srgbClr val="000000"/>
              </a:solidFill>
              <a:latin typeface="Calibri"/>
              <a:ea typeface="Calibri"/>
              <a:cs typeface="Calibri"/>
              <a:sym typeface="Calibri"/>
            </a:endParaRPr>
          </a:p>
        </p:txBody>
      </p:sp>
      <p:sp>
        <p:nvSpPr>
          <p:cNvPr id="708" name="Google Shape;708;p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p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5" name="Google Shape;715;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Probing:</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know what slope to use in your equation?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use the point the line passes through to help write your equation? </a:t>
            </a:r>
          </a:p>
          <a:p>
            <a:pPr marL="171450" lvl="0" indent="-171450" algn="l" rtl="0">
              <a:spcBef>
                <a:spcPts val="0"/>
              </a:spcBef>
              <a:spcAft>
                <a:spcPts val="0"/>
              </a:spcAft>
              <a:buFont typeface="Arial" panose="020B0604020202020204" pitchFamily="34" charset="0"/>
              <a:buChar char="•"/>
            </a:pPr>
            <a:r>
              <a:rPr lang="en-US" dirty="0">
                <a:solidFill>
                  <a:srgbClr val="000000"/>
                </a:solidFill>
              </a:rPr>
              <a:t>Explain how you used the slope formula to write the equation of the line.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can you check that your answer is correct?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determine the slope to use in your equation without being given a perpendicular slope?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was knowing the point of intersection helpful?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was the information given in Question 5 similar to the information given in Questions 3 and 4?</a:t>
            </a:r>
            <a:endParaRPr lang="en-US" sz="1200" dirty="0">
              <a:solidFill>
                <a:srgbClr val="000000"/>
              </a:solidFill>
              <a:latin typeface="Calibri"/>
              <a:ea typeface="Calibri"/>
              <a:cs typeface="Calibri"/>
              <a:sym typeface="Calibri"/>
            </a:endParaRPr>
          </a:p>
          <a:p>
            <a:r>
              <a:rPr lang="en-US" b="1" dirty="0"/>
              <a:t>TE wording slip (Q2): the TE says 'a line with a slope of 3/4'; the given line y = −(3/4)x has slope −3/4. The answer y = (4/3)x − 12 is correct. In Q3 to Q5 the TE writes the slope formula as (y2 − y1)/(y2 − y1); the denominator is x2 − x1. Its numbers are correct.</a:t>
            </a:r>
          </a:p>
        </p:txBody>
      </p:sp>
      <p:sp>
        <p:nvSpPr>
          <p:cNvPr id="716" name="Google Shape;716;p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p3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2" name="Google Shape;722;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Probing:</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know what slope to use in your equation?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use the point the line passes through to help write your equation? </a:t>
            </a:r>
          </a:p>
          <a:p>
            <a:pPr marL="171450" lvl="0" indent="-171450" algn="l" rtl="0">
              <a:spcBef>
                <a:spcPts val="0"/>
              </a:spcBef>
              <a:spcAft>
                <a:spcPts val="0"/>
              </a:spcAft>
              <a:buFont typeface="Arial" panose="020B0604020202020204" pitchFamily="34" charset="0"/>
              <a:buChar char="•"/>
            </a:pPr>
            <a:r>
              <a:rPr lang="en-US" dirty="0">
                <a:solidFill>
                  <a:srgbClr val="000000"/>
                </a:solidFill>
              </a:rPr>
              <a:t>Explain how you used the slope formula to write the equation of the line.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can you check that your answer is correct?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determine the slope to use in your equation without being given a perpendicular slope?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was knowing the point of intersection helpful?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was the information given in Question 5 similar to the information given in Questions 3 and 4?</a:t>
            </a:r>
            <a:endParaRPr lang="en-US" sz="1200" dirty="0">
              <a:solidFill>
                <a:srgbClr val="000000"/>
              </a:solidFill>
              <a:latin typeface="Calibri"/>
              <a:ea typeface="Calibri"/>
              <a:cs typeface="Calibri"/>
              <a:sym typeface="Calibri"/>
            </a:endParaRPr>
          </a:p>
        </p:txBody>
      </p:sp>
      <p:sp>
        <p:nvSpPr>
          <p:cNvPr id="723" name="Google Shape;723;p3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p3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9" name="Google Shape;72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a:ea typeface="Calibri"/>
                <a:cs typeface="Calibri"/>
                <a:sym typeface="Calibri"/>
              </a:rPr>
              <a:t>Activity 3.3 Summary:</a:t>
            </a:r>
            <a:endParaRPr dirty="0">
              <a:solidFill>
                <a:srgbClr val="000000"/>
              </a:solidFill>
            </a:endParaRPr>
          </a:p>
          <a:p>
            <a:pPr marL="0" lvl="0" indent="0" algn="l" rtl="0">
              <a:spcBef>
                <a:spcPts val="0"/>
              </a:spcBef>
              <a:spcAft>
                <a:spcPts val="0"/>
              </a:spcAft>
              <a:buNone/>
            </a:pPr>
            <a:r>
              <a:rPr lang="en-US" dirty="0">
                <a:solidFill>
                  <a:srgbClr val="000000"/>
                </a:solidFill>
              </a:rPr>
              <a:t>To write the equation of a line perpendicular to a given line, it is necessary to use the negative reciprocal relationship between their slopes.</a:t>
            </a:r>
            <a:endParaRPr sz="1200" b="0" dirty="0">
              <a:solidFill>
                <a:srgbClr val="000000"/>
              </a:solidFill>
              <a:latin typeface="Calibri"/>
              <a:ea typeface="Calibri"/>
              <a:cs typeface="Calibri"/>
              <a:sym typeface="Calibri"/>
            </a:endParaRPr>
          </a:p>
        </p:txBody>
      </p:sp>
      <p:sp>
        <p:nvSpPr>
          <p:cNvPr id="730" name="Google Shape;73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p3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7" name="Google Shape;737;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This slide is blank for optional use with displaying work.</a:t>
            </a:r>
            <a:endParaRPr dirty="0">
              <a:solidFill>
                <a:srgbClr val="000000"/>
              </a:solidFill>
            </a:endParaRPr>
          </a:p>
        </p:txBody>
      </p:sp>
      <p:sp>
        <p:nvSpPr>
          <p:cNvPr id="738" name="Google Shape;738;p3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p3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4" name="Google Shape;744;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time of 5 minutes allotted for the Talk the Talk.</a:t>
            </a:r>
            <a:endParaRPr dirty="0">
              <a:solidFill>
                <a:srgbClr val="000000"/>
              </a:solidFill>
            </a:endParaRPr>
          </a:p>
        </p:txBody>
      </p:sp>
      <p:sp>
        <p:nvSpPr>
          <p:cNvPr id="745" name="Google Shape;745;p3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p3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1" name="Google Shape;751;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sz="1200" dirty="0">
              <a:solidFill>
                <a:srgbClr val="000000"/>
              </a:solidFill>
              <a:latin typeface="Calibri"/>
              <a:ea typeface="Calibri"/>
              <a:cs typeface="Calibri"/>
              <a:sym typeface="Calibri"/>
            </a:endParaRPr>
          </a:p>
        </p:txBody>
      </p:sp>
      <p:sp>
        <p:nvSpPr>
          <p:cNvPr id="752" name="Google Shape;752;p3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p3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0" name="Google Shape;760;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r>
              <a:rPr lang="en-US" b="1" dirty="0">
                <a:solidFill>
                  <a:srgbClr val="000000"/>
                </a:solidFill>
              </a:rPr>
              <a:t>Questions to Support Discourse – Gathering:</a:t>
            </a:r>
            <a:endParaRPr dirty="0">
              <a:solidFill>
                <a:srgbClr val="000000"/>
              </a:solidFill>
            </a:endParaRPr>
          </a:p>
          <a:p>
            <a:pPr marL="171450" lvl="0" indent="-171450" algn="l" rtl="0">
              <a:spcBef>
                <a:spcPts val="0"/>
              </a:spcBef>
              <a:spcAft>
                <a:spcPts val="0"/>
              </a:spcAft>
              <a:buClr>
                <a:schemeClr val="dk1"/>
              </a:buClr>
              <a:buSzPts val="1200"/>
              <a:buFont typeface="Arial" panose="020B0604020202020204" pitchFamily="34" charset="0"/>
              <a:buChar char="•"/>
            </a:pPr>
            <a:r>
              <a:rPr lang="en-US" dirty="0">
                <a:solidFill>
                  <a:srgbClr val="000000"/>
                </a:solidFill>
              </a:rPr>
              <a:t>How can algebra be used to determine whether the lines are perpendicular? </a:t>
            </a:r>
            <a:endParaRPr dirty="0">
              <a:solidFill>
                <a:srgbClr val="000000"/>
              </a:solidFill>
            </a:endParaRPr>
          </a:p>
          <a:p>
            <a:pPr marL="171450" lvl="0" indent="-171450" algn="l" rtl="0">
              <a:spcBef>
                <a:spcPts val="0"/>
              </a:spcBef>
              <a:spcAft>
                <a:spcPts val="0"/>
              </a:spcAft>
              <a:buClr>
                <a:schemeClr val="dk1"/>
              </a:buClr>
              <a:buSzPts val="1200"/>
              <a:buFont typeface="Arial" panose="020B0604020202020204" pitchFamily="34" charset="0"/>
              <a:buChar char="•"/>
            </a:pPr>
            <a:r>
              <a:rPr lang="en-US" dirty="0">
                <a:solidFill>
                  <a:srgbClr val="000000"/>
                </a:solidFill>
              </a:rPr>
              <a:t>How can patty paper be used to determine whether the lines are perpendicular? </a:t>
            </a:r>
            <a:endParaRPr dirty="0">
              <a:solidFill>
                <a:srgbClr val="000000"/>
              </a:solidFill>
            </a:endParaRPr>
          </a:p>
          <a:p>
            <a:pPr marL="0" marR="0" lvl="0" indent="0" algn="l" rtl="0">
              <a:lnSpc>
                <a:spcPct val="100000"/>
              </a:lnSpc>
              <a:spcBef>
                <a:spcPts val="0"/>
              </a:spcBef>
              <a:spcAft>
                <a:spcPts val="0"/>
              </a:spcAft>
              <a:buClr>
                <a:schemeClr val="dk1"/>
              </a:buClr>
              <a:buSzPts val="1200"/>
              <a:buFont typeface="Arial"/>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Arial"/>
              <a:buNone/>
            </a:pPr>
            <a:r>
              <a:rPr lang="en-US" b="1" dirty="0">
                <a:solidFill>
                  <a:srgbClr val="000000"/>
                </a:solidFill>
              </a:rPr>
              <a:t>Questions to Support Discourse – Probing:</a:t>
            </a:r>
            <a:endParaRPr dirty="0">
              <a:solidFill>
                <a:srgbClr val="000000"/>
              </a:solidFill>
            </a:endParaRPr>
          </a:p>
          <a:p>
            <a:pPr marL="171450" lvl="0" indent="-171450" algn="l" rtl="0">
              <a:spcBef>
                <a:spcPts val="0"/>
              </a:spcBef>
              <a:spcAft>
                <a:spcPts val="0"/>
              </a:spcAft>
              <a:buClr>
                <a:schemeClr val="dk1"/>
              </a:buClr>
              <a:buSzPts val="1200"/>
              <a:buFont typeface="Arial" panose="020B0604020202020204" pitchFamily="34" charset="0"/>
              <a:buChar char="•"/>
            </a:pPr>
            <a:r>
              <a:rPr lang="en-US" dirty="0">
                <a:solidFill>
                  <a:srgbClr val="000000"/>
                </a:solidFill>
              </a:rPr>
              <a:t>When you know that one line out of a set of parallel lines is not perpendicular to a line out of another set of parallel lines, can you conclude that none of the lines are perpendicular? Why or why not?</a:t>
            </a:r>
            <a:endParaRPr sz="1200" dirty="0">
              <a:solidFill>
                <a:srgbClr val="000000"/>
              </a:solidFill>
              <a:latin typeface="Calibri"/>
              <a:ea typeface="Calibri"/>
              <a:cs typeface="Calibri"/>
              <a:sym typeface="Calibri"/>
            </a:endParaRPr>
          </a:p>
          <a:p>
            <a:r>
              <a:rPr lang="en-US" b="1" dirty="0"/>
              <a:t>The x-axis counts 1 unit per grid square and the y-axis 1 unit per 2 squares, so the lines look perpendicular but are not.</a:t>
            </a:r>
          </a:p>
        </p:txBody>
      </p:sp>
      <p:sp>
        <p:nvSpPr>
          <p:cNvPr id="761" name="Google Shape;761;p3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p39: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9" name="Google Shape;769;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a:ea typeface="Calibri"/>
                <a:cs typeface="Calibri"/>
                <a:sym typeface="Calibri"/>
              </a:rPr>
              <a:t>Note:</a:t>
            </a:r>
            <a:r>
              <a:rPr lang="en-US" sz="1200" b="0" dirty="0">
                <a:solidFill>
                  <a:srgbClr val="000000"/>
                </a:solidFill>
                <a:latin typeface="Calibri"/>
                <a:ea typeface="Calibri"/>
                <a:cs typeface="Calibri"/>
                <a:sym typeface="Calibri"/>
              </a:rPr>
              <a:t> To close Day 2, have students read and answer the Essential Question and then read the Stamp the Learning summary aloud.</a:t>
            </a:r>
            <a:endParaRPr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endParaRPr sz="1200" b="0" dirty="0">
              <a:solidFill>
                <a:srgbClr val="000000"/>
              </a:solidFill>
              <a:latin typeface="Calibri"/>
              <a:ea typeface="Calibri"/>
              <a:cs typeface="Calibri"/>
              <a:sym typeface="Calibri"/>
            </a:endParaRPr>
          </a:p>
          <a:p>
            <a:pPr marL="0" lvl="0" indent="0" algn="l" rtl="0">
              <a:spcBef>
                <a:spcPts val="0"/>
              </a:spcBef>
              <a:spcAft>
                <a:spcPts val="0"/>
              </a:spcAft>
              <a:buNone/>
            </a:pPr>
            <a:r>
              <a:rPr lang="en-US" sz="1200" b="1" dirty="0">
                <a:solidFill>
                  <a:srgbClr val="000000"/>
                </a:solidFill>
                <a:latin typeface="Calibri"/>
                <a:ea typeface="Calibri"/>
                <a:cs typeface="Calibri"/>
                <a:sym typeface="Calibri"/>
              </a:rPr>
              <a:t>Essential Question:</a:t>
            </a:r>
            <a:endParaRPr dirty="0">
              <a:solidFill>
                <a:srgbClr val="000000"/>
              </a:solidFill>
            </a:endParaRPr>
          </a:p>
          <a:p>
            <a:pPr marL="0" lvl="0" indent="0" algn="l" rtl="0">
              <a:spcBef>
                <a:spcPts val="0"/>
              </a:spcBef>
              <a:spcAft>
                <a:spcPts val="0"/>
              </a:spcAft>
              <a:buNone/>
            </a:pPr>
            <a:r>
              <a:rPr lang="en-US" sz="1200" b="0" dirty="0">
                <a:solidFill>
                  <a:srgbClr val="000000"/>
                </a:solidFill>
                <a:latin typeface="Calibri"/>
                <a:ea typeface="Calibri"/>
                <a:cs typeface="Calibri"/>
                <a:sym typeface="Calibri"/>
              </a:rPr>
              <a:t>Sample answer: </a:t>
            </a:r>
            <a:r>
              <a:rPr lang="en-US" dirty="0">
                <a:solidFill>
                  <a:srgbClr val="000000"/>
                </a:solidFill>
              </a:rPr>
              <a:t>The slopes of perpendicular lines are negative reciprocals. Any vertical line is perpendicular to any horizontal line.</a:t>
            </a:r>
            <a:endParaRPr sz="1200" b="1" dirty="0">
              <a:solidFill>
                <a:srgbClr val="000000"/>
              </a:solidFill>
              <a:latin typeface="Calibri"/>
              <a:ea typeface="Calibri"/>
              <a:cs typeface="Calibri"/>
              <a:sym typeface="Calibri"/>
            </a:endParaRPr>
          </a:p>
          <a:p>
            <a:pPr marL="0" lvl="0" indent="0" algn="l" rtl="0">
              <a:spcBef>
                <a:spcPts val="0"/>
              </a:spcBef>
              <a:spcAft>
                <a:spcPts val="0"/>
              </a:spcAft>
              <a:buNone/>
            </a:pPr>
            <a:endParaRPr sz="1200" b="1" dirty="0">
              <a:solidFill>
                <a:srgbClr val="000000"/>
              </a:solidFill>
              <a:latin typeface="Calibri"/>
              <a:ea typeface="Calibri"/>
              <a:cs typeface="Calibri"/>
              <a:sym typeface="Calibri"/>
            </a:endParaRPr>
          </a:p>
          <a:p>
            <a:pPr marL="0" lvl="0" indent="0" algn="l" rtl="0">
              <a:spcBef>
                <a:spcPts val="0"/>
              </a:spcBef>
              <a:spcAft>
                <a:spcPts val="0"/>
              </a:spcAft>
              <a:buNone/>
            </a:pPr>
            <a:r>
              <a:rPr lang="en-US" sz="1200" b="1" dirty="0">
                <a:solidFill>
                  <a:srgbClr val="000000"/>
                </a:solidFill>
                <a:latin typeface="Calibri"/>
                <a:ea typeface="Calibri"/>
                <a:cs typeface="Calibri"/>
                <a:sym typeface="Calibri"/>
              </a:rPr>
              <a:t>Talk the Talk Summary:</a:t>
            </a:r>
            <a:endParaRPr dirty="0">
              <a:solidFill>
                <a:srgbClr val="000000"/>
              </a:solidFill>
            </a:endParaRPr>
          </a:p>
          <a:p>
            <a:pPr marL="0" lvl="0" indent="0" algn="l" rtl="0">
              <a:spcBef>
                <a:spcPts val="0"/>
              </a:spcBef>
              <a:spcAft>
                <a:spcPts val="0"/>
              </a:spcAft>
              <a:buNone/>
            </a:pPr>
            <a:r>
              <a:rPr lang="en-US" dirty="0">
                <a:solidFill>
                  <a:srgbClr val="000000"/>
                </a:solidFill>
              </a:rPr>
              <a:t>The slopes of lines graphed on a coordinate plane must be negative reciprocals in order for the lines to be defined as perpendicular</a:t>
            </a:r>
            <a:r>
              <a:rPr lang="en-US" sz="1200" b="0" i="0" u="none" strike="noStrike" dirty="0">
                <a:solidFill>
                  <a:srgbClr val="000000"/>
                </a:solidFill>
                <a:latin typeface="Calibri"/>
                <a:ea typeface="Calibri"/>
                <a:cs typeface="Calibri"/>
                <a:sym typeface="Calibri"/>
              </a:rPr>
              <a:t>.</a:t>
            </a:r>
            <a:endParaRPr dirty="0">
              <a:solidFill>
                <a:srgbClr val="000000"/>
              </a:solidFill>
            </a:endParaRPr>
          </a:p>
        </p:txBody>
      </p:sp>
      <p:sp>
        <p:nvSpPr>
          <p:cNvPr id="770" name="Google Shape;770;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p4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7" name="Google Shape;777;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a:ea typeface="Calibri"/>
                <a:cs typeface="Calibri"/>
                <a:sym typeface="Calibri"/>
              </a:rPr>
              <a:t>Note: </a:t>
            </a:r>
            <a:r>
              <a:rPr lang="en-US" sz="1200" dirty="0">
                <a:solidFill>
                  <a:srgbClr val="000000"/>
                </a:solidFill>
                <a:latin typeface="Calibri"/>
                <a:ea typeface="Calibri"/>
                <a:cs typeface="Calibri"/>
                <a:sym typeface="Calibri"/>
              </a:rPr>
              <a:t>This slide is blank for optional use with displaying work.</a:t>
            </a:r>
            <a:endParaRPr sz="1200" b="0" dirty="0">
              <a:solidFill>
                <a:srgbClr val="000000"/>
              </a:solidFill>
              <a:latin typeface="Calibri"/>
              <a:ea typeface="Calibri"/>
              <a:cs typeface="Calibri"/>
              <a:sym typeface="Calibri"/>
            </a:endParaRPr>
          </a:p>
        </p:txBody>
      </p:sp>
      <p:sp>
        <p:nvSpPr>
          <p:cNvPr id="778" name="Google Shape;778;p4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p4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4" name="Google Shape;784;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i="0" u="none" strike="noStrike" dirty="0">
                <a:solidFill>
                  <a:srgbClr val="000000"/>
                </a:solidFill>
                <a:latin typeface="Calibri"/>
                <a:ea typeface="Calibri"/>
                <a:cs typeface="Calibri"/>
                <a:sym typeface="Calibri"/>
              </a:rPr>
              <a:t>How can you identify whether students are ready for new learning?</a:t>
            </a:r>
            <a:r>
              <a:rPr lang="en-US" sz="1200" b="0" i="0" u="none" strike="noStrike" dirty="0">
                <a:solidFill>
                  <a:srgbClr val="000000"/>
                </a:solidFill>
                <a:latin typeface="Calibri"/>
                <a:ea typeface="Calibri"/>
                <a:cs typeface="Calibri"/>
                <a:sym typeface="Calibri"/>
              </a:rPr>
              <a:t> </a:t>
            </a:r>
            <a:r>
              <a:rPr lang="en-US" sz="1200" b="0" i="0" dirty="0">
                <a:solidFill>
                  <a:srgbClr val="000000"/>
                </a:solidFill>
                <a:latin typeface="Calibri"/>
                <a:ea typeface="Calibri"/>
                <a:cs typeface="Calibri"/>
                <a:sym typeface="Calibri"/>
              </a:rPr>
              <a:t>​</a:t>
            </a:r>
            <a:endParaRPr dirty="0">
              <a:solidFill>
                <a:srgbClr val="000000"/>
              </a:solidFill>
            </a:endParaRPr>
          </a:p>
          <a:p>
            <a:pPr marL="0" lvl="0" indent="0" algn="l" rtl="0">
              <a:spcBef>
                <a:spcPts val="0"/>
              </a:spcBef>
              <a:spcAft>
                <a:spcPts val="0"/>
              </a:spcAft>
              <a:buNone/>
            </a:pPr>
            <a:r>
              <a:rPr lang="en-US" sz="1200" b="0" i="0" u="none" strike="noStrike" dirty="0">
                <a:solidFill>
                  <a:srgbClr val="000000"/>
                </a:solidFill>
                <a:latin typeface="Calibri"/>
                <a:ea typeface="Calibri"/>
                <a:cs typeface="Calibri"/>
                <a:sym typeface="Calibri"/>
              </a:rPr>
              <a:t>Depending on available time, you can assign the Prepare section of the Lesson Assignments as homework or as a warm-up to identify students' prior knowledge for the upcoming lesson's activities.</a:t>
            </a:r>
            <a:endParaRPr sz="1200" dirty="0">
              <a:solidFill>
                <a:srgbClr val="000000"/>
              </a:solidFill>
              <a:latin typeface="Calibri"/>
              <a:ea typeface="Calibri"/>
              <a:cs typeface="Calibri"/>
              <a:sym typeface="Calibri"/>
            </a:endParaRPr>
          </a:p>
        </p:txBody>
      </p:sp>
      <p:sp>
        <p:nvSpPr>
          <p:cNvPr id="785" name="Google Shape;785;p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p4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0" name="Google Shape;790;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dirty="0">
              <a:solidFill>
                <a:srgbClr val="000000"/>
              </a:solidFill>
              <a:latin typeface="Calibri"/>
              <a:ea typeface="Calibri"/>
              <a:cs typeface="Calibri"/>
              <a:sym typeface="Calibri"/>
            </a:endParaRPr>
          </a:p>
        </p:txBody>
      </p:sp>
      <p:sp>
        <p:nvSpPr>
          <p:cNvPr id="791" name="Google Shape;791;p4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4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7" name="Google Shape;797;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solidFill>
                <a:srgbClr val="000000"/>
              </a:solidFill>
              <a:latin typeface="Calibri"/>
              <a:ea typeface="Calibri"/>
              <a:cs typeface="Calibri"/>
              <a:sym typeface="Calibri"/>
            </a:endParaRPr>
          </a:p>
        </p:txBody>
      </p:sp>
      <p:sp>
        <p:nvSpPr>
          <p:cNvPr id="798" name="Google Shape;798;p4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p4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3" name="Google Shape;803;p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solidFill>
                <a:srgbClr val="000000"/>
              </a:solidFill>
              <a:latin typeface="Calibri"/>
              <a:ea typeface="Calibri"/>
              <a:cs typeface="Calibri"/>
              <a:sym typeface="Calibri"/>
            </a:endParaRPr>
          </a:p>
        </p:txBody>
      </p:sp>
      <p:sp>
        <p:nvSpPr>
          <p:cNvPr id="804" name="Google Shape;804;p4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hyperlink" Target="https://creativecommons.org/licenses/by-nc/4.0" TargetMode="Externa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2.png"/><Relationship Id="rId1" Type="http://schemas.openxmlformats.org/officeDocument/2006/relationships/slideMaster" Target="../slideMasters/slideMaster2.xml"/><Relationship Id="rId5" Type="http://schemas.openxmlformats.org/officeDocument/2006/relationships/image" Target="../media/image9.png"/><Relationship Id="rId4" Type="http://schemas.openxmlformats.org/officeDocument/2006/relationships/hyperlink" Target="https://tea.texas.gov/K-5Math" TargetMode="Externa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7.png"/><Relationship Id="rId1" Type="http://schemas.openxmlformats.org/officeDocument/2006/relationships/slideMaster" Target="../slideMasters/slideMaster3.xml"/><Relationship Id="rId5" Type="http://schemas.openxmlformats.org/officeDocument/2006/relationships/image" Target="../media/image9.png"/><Relationship Id="rId4" Type="http://schemas.openxmlformats.org/officeDocument/2006/relationships/hyperlink" Target="https://tea.texas.gov/K-5Math" TargetMode="Externa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22.png"/><Relationship Id="rId1" Type="http://schemas.openxmlformats.org/officeDocument/2006/relationships/slideMaster" Target="../slideMasters/slideMaster4.xml"/><Relationship Id="rId5" Type="http://schemas.openxmlformats.org/officeDocument/2006/relationships/image" Target="../media/image9.png"/><Relationship Id="rId4" Type="http://schemas.openxmlformats.org/officeDocument/2006/relationships/hyperlink" Target="https://tea.texas.gov/K-5Math" TargetMode="Externa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Alg I_Title Slide">
  <p:cSld name="2_Alg I_Title Slide">
    <p:bg>
      <p:bgPr>
        <a:solidFill>
          <a:schemeClr val="lt1"/>
        </a:solidFill>
        <a:effectLst/>
      </p:bgPr>
    </p:bg>
    <p:spTree>
      <p:nvGrpSpPr>
        <p:cNvPr id="1" name="Shape 10"/>
        <p:cNvGrpSpPr/>
        <p:nvPr/>
      </p:nvGrpSpPr>
      <p:grpSpPr>
        <a:xfrm>
          <a:off x="0" y="0"/>
          <a:ext cx="0" cy="0"/>
          <a:chOff x="0" y="0"/>
          <a:chExt cx="0" cy="0"/>
        </a:xfrm>
      </p:grpSpPr>
      <p:sp>
        <p:nvSpPr>
          <p:cNvPr id="11" name="Google Shape;11;p46"/>
          <p:cNvSpPr txBox="1">
            <a:spLocks noGrp="1"/>
          </p:cNvSpPr>
          <p:nvPr>
            <p:ph type="body" idx="1"/>
          </p:nvPr>
        </p:nvSpPr>
        <p:spPr>
          <a:xfrm>
            <a:off x="-1590" y="1622759"/>
            <a:ext cx="12192003" cy="181913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236739"/>
              </a:buClr>
              <a:buSzPts val="6000"/>
              <a:buFont typeface="Arial"/>
              <a:buNone/>
              <a:defRPr sz="6000" b="1" i="0" u="none" strike="noStrike" cap="none">
                <a:solidFill>
                  <a:srgbClr val="236739"/>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6"/>
          <p:cNvSpPr txBox="1">
            <a:spLocks noGrp="1"/>
          </p:cNvSpPr>
          <p:nvPr>
            <p:ph type="body" idx="2"/>
          </p:nvPr>
        </p:nvSpPr>
        <p:spPr>
          <a:xfrm>
            <a:off x="-1590" y="3641189"/>
            <a:ext cx="12190413" cy="822457"/>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236739"/>
              </a:buClr>
              <a:buSzPts val="4400"/>
              <a:buFont typeface="Arial"/>
              <a:buNone/>
              <a:defRPr sz="4400" b="0" i="0" u="none" strike="noStrike" cap="none">
                <a:solidFill>
                  <a:srgbClr val="236739"/>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3" name="Google Shape;13;p46"/>
          <p:cNvSpPr/>
          <p:nvPr/>
        </p:nvSpPr>
        <p:spPr>
          <a:xfrm rot="10800000" flipH="1">
            <a:off x="0" y="0"/>
            <a:ext cx="2467555" cy="954942"/>
          </a:xfrm>
          <a:prstGeom prst="round1Rect">
            <a:avLst>
              <a:gd name="adj" fmla="val 16667"/>
            </a:avLst>
          </a:prstGeom>
          <a:solidFill>
            <a:srgbClr val="2B81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 name="Google Shape;14;p46"/>
          <p:cNvSpPr txBox="1"/>
          <p:nvPr/>
        </p:nvSpPr>
        <p:spPr>
          <a:xfrm>
            <a:off x="0" y="280732"/>
            <a:ext cx="246755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0" i="0" u="none" strike="noStrike" cap="none">
                <a:solidFill>
                  <a:schemeClr val="lt1"/>
                </a:solidFill>
                <a:latin typeface="Calibri"/>
                <a:ea typeface="Calibri"/>
                <a:cs typeface="Calibri"/>
                <a:sym typeface="Calibri"/>
              </a:rPr>
              <a:t>ENGLISH</a:t>
            </a:r>
            <a:endParaRPr/>
          </a:p>
        </p:txBody>
      </p:sp>
      <p:pic>
        <p:nvPicPr>
          <p:cNvPr id="15" name="Google Shape;15;p46" descr="A blue and black logo&#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8940726" y="132485"/>
            <a:ext cx="2910578" cy="954944"/>
          </a:xfrm>
          <a:prstGeom prst="rect">
            <a:avLst/>
          </a:prstGeom>
          <a:noFill/>
          <a:ln>
            <a:noFill/>
          </a:ln>
        </p:spPr>
      </p:pic>
      <p:sp>
        <p:nvSpPr>
          <p:cNvPr id="16" name="Google Shape;16;p46"/>
          <p:cNvSpPr txBox="1"/>
          <p:nvPr/>
        </p:nvSpPr>
        <p:spPr>
          <a:xfrm>
            <a:off x="10111407" y="100769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0" u="none" strike="noStrike" cap="none">
                <a:solidFill>
                  <a:srgbClr val="000000"/>
                </a:solidFill>
                <a:latin typeface="Calibri"/>
                <a:ea typeface="Calibri"/>
                <a:cs typeface="Calibri"/>
                <a:sym typeface="Calibri"/>
              </a:rPr>
              <a:t>Secondary Mathematics</a:t>
            </a:r>
            <a:endParaRPr/>
          </a:p>
        </p:txBody>
      </p:sp>
      <p:sp>
        <p:nvSpPr>
          <p:cNvPr id="17" name="Google Shape;17;p46"/>
          <p:cNvSpPr/>
          <p:nvPr/>
        </p:nvSpPr>
        <p:spPr>
          <a:xfrm>
            <a:off x="10236991" y="1306046"/>
            <a:ext cx="907774" cy="298608"/>
          </a:xfrm>
          <a:prstGeom prst="roundRect">
            <a:avLst>
              <a:gd name="adj" fmla="val 16667"/>
            </a:avLst>
          </a:prstGeom>
          <a:solidFill>
            <a:srgbClr val="D0CE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 name="Google Shape;18;p46"/>
          <p:cNvSpPr txBox="1"/>
          <p:nvPr/>
        </p:nvSpPr>
        <p:spPr>
          <a:xfrm>
            <a:off x="10252484" y="1335768"/>
            <a:ext cx="868018" cy="2378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0" u="none" strike="noStrike" cap="none">
                <a:solidFill>
                  <a:srgbClr val="757070"/>
                </a:solidFill>
                <a:latin typeface="Calibri"/>
                <a:ea typeface="Calibri"/>
                <a:cs typeface="Calibri"/>
                <a:sym typeface="Calibri"/>
              </a:rPr>
              <a:t>EDITION 1</a:t>
            </a:r>
            <a:endParaRPr/>
          </a:p>
        </p:txBody>
      </p:sp>
      <p:pic>
        <p:nvPicPr>
          <p:cNvPr id="19" name="Google Shape;19;p46"/>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4663225"/>
            <a:ext cx="12190413" cy="219477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bjective">
  <p:cSld name="Objective">
    <p:spTree>
      <p:nvGrpSpPr>
        <p:cNvPr id="1" name="Shape 20"/>
        <p:cNvGrpSpPr/>
        <p:nvPr/>
      </p:nvGrpSpPr>
      <p:grpSpPr>
        <a:xfrm>
          <a:off x="0" y="0"/>
          <a:ext cx="0" cy="0"/>
          <a:chOff x="0" y="0"/>
          <a:chExt cx="0" cy="0"/>
        </a:xfrm>
      </p:grpSpPr>
      <p:sp>
        <p:nvSpPr>
          <p:cNvPr id="21" name="Google Shape;21;p47"/>
          <p:cNvSpPr/>
          <p:nvPr/>
        </p:nvSpPr>
        <p:spPr>
          <a:xfrm>
            <a:off x="-1586" y="1392600"/>
            <a:ext cx="12192000" cy="549097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 name="Google Shape;22;p47"/>
          <p:cNvSpPr txBox="1">
            <a:spLocks noGrp="1"/>
          </p:cNvSpPr>
          <p:nvPr>
            <p:ph type="body" idx="1"/>
          </p:nvPr>
        </p:nvSpPr>
        <p:spPr>
          <a:xfrm>
            <a:off x="836614" y="2159879"/>
            <a:ext cx="10515599" cy="395641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3A3838"/>
              </a:buClr>
              <a:buSzPts val="4400"/>
              <a:buFont typeface="Arial"/>
              <a:buNone/>
              <a:defRPr sz="4400" b="0" i="0" u="none" strike="noStrike" cap="none">
                <a:solidFill>
                  <a:srgbClr val="3A3838"/>
                </a:solidFill>
                <a:latin typeface="Calibri"/>
                <a:ea typeface="Calibri"/>
                <a:cs typeface="Calibri"/>
                <a:sym typeface="Calibri"/>
              </a:defRPr>
            </a:lvl1pPr>
            <a:lvl2pPr marL="914400" marR="0" lvl="1"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2pPr>
            <a:lvl3pPr marL="1371600" marR="0" lvl="2"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3pPr>
            <a:lvl4pPr marL="1828800" marR="0" lvl="3"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4pPr>
            <a:lvl5pPr marL="2286000" marR="0" lvl="4"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 name="Google Shape;23;p47"/>
          <p:cNvSpPr/>
          <p:nvPr/>
        </p:nvSpPr>
        <p:spPr>
          <a:xfrm>
            <a:off x="0" y="0"/>
            <a:ext cx="7575442" cy="927652"/>
          </a:xfrm>
          <a:prstGeom prst="rect">
            <a:avLst/>
          </a:prstGeom>
          <a:solidFill>
            <a:srgbClr val="2367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4" name="Google Shape;24;p47"/>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7575441" y="0"/>
            <a:ext cx="4614971" cy="931321"/>
          </a:xfrm>
          <a:prstGeom prst="rect">
            <a:avLst/>
          </a:prstGeom>
          <a:noFill/>
          <a:ln>
            <a:noFill/>
          </a:ln>
        </p:spPr>
      </p:pic>
      <p:sp>
        <p:nvSpPr>
          <p:cNvPr id="25" name="Google Shape;25;p47"/>
          <p:cNvSpPr txBox="1">
            <a:spLocks noGrp="1"/>
          </p:cNvSpPr>
          <p:nvPr>
            <p:ph type="title"/>
          </p:nvPr>
        </p:nvSpPr>
        <p:spPr>
          <a:xfrm>
            <a:off x="0" y="0"/>
            <a:ext cx="6094413" cy="926757"/>
          </a:xfrm>
          <a:prstGeom prst="rect">
            <a:avLst/>
          </a:prstGeom>
          <a:noFill/>
          <a:ln>
            <a:noFill/>
          </a:ln>
        </p:spPr>
        <p:txBody>
          <a:bodyPr spcFirstLastPara="1" wrap="square" lIns="457200" tIns="45700" rIns="91425" bIns="45700" anchor="ctr" anchorCtr="0">
            <a:noAutofit/>
          </a:bodyPr>
          <a:lstStyle>
            <a:lvl1pPr marR="0" lvl="0" algn="l" rtl="0">
              <a:lnSpc>
                <a:spcPct val="90000"/>
              </a:lnSpc>
              <a:spcBef>
                <a:spcPts val="0"/>
              </a:spcBef>
              <a:spcAft>
                <a:spcPts val="0"/>
              </a:spcAft>
              <a:buClr>
                <a:schemeClr val="lt1"/>
              </a:buClr>
              <a:buSzPts val="4000"/>
              <a:buFont typeface="Calibri"/>
              <a:buNone/>
              <a:defRPr sz="4000" b="1"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rminology">
  <p:cSld name="Terminology">
    <p:bg>
      <p:bgPr>
        <a:solidFill>
          <a:schemeClr val="lt1"/>
        </a:solidFill>
        <a:effectLst/>
      </p:bgPr>
    </p:bg>
    <p:spTree>
      <p:nvGrpSpPr>
        <p:cNvPr id="1" name="Shape 26"/>
        <p:cNvGrpSpPr/>
        <p:nvPr/>
      </p:nvGrpSpPr>
      <p:grpSpPr>
        <a:xfrm>
          <a:off x="0" y="0"/>
          <a:ext cx="0" cy="0"/>
          <a:chOff x="0" y="0"/>
          <a:chExt cx="0" cy="0"/>
        </a:xfrm>
      </p:grpSpPr>
      <p:sp>
        <p:nvSpPr>
          <p:cNvPr id="27" name="Google Shape;27;p48"/>
          <p:cNvSpPr txBox="1">
            <a:spLocks noGrp="1"/>
          </p:cNvSpPr>
          <p:nvPr>
            <p:ph type="body" idx="1"/>
          </p:nvPr>
        </p:nvSpPr>
        <p:spPr>
          <a:xfrm>
            <a:off x="852488" y="1652588"/>
            <a:ext cx="10515600" cy="116974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A3838"/>
              </a:buClr>
              <a:buSzPts val="2800"/>
              <a:buFont typeface="Arial"/>
              <a:buNone/>
              <a:defRPr sz="2800" b="0" i="0" u="none" strike="noStrike" cap="none">
                <a:solidFill>
                  <a:srgbClr val="3A383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8" name="Google Shape;28;p48"/>
          <p:cNvSpPr>
            <a:spLocks noGrp="1"/>
          </p:cNvSpPr>
          <p:nvPr>
            <p:ph type="pic" idx="2"/>
          </p:nvPr>
        </p:nvSpPr>
        <p:spPr>
          <a:xfrm>
            <a:off x="3427412" y="3217943"/>
            <a:ext cx="5335588" cy="2505075"/>
          </a:xfrm>
          <a:prstGeom prst="rect">
            <a:avLst/>
          </a:prstGeom>
          <a:noFill/>
          <a:ln>
            <a:noFill/>
          </a:ln>
        </p:spPr>
      </p:sp>
      <p:sp>
        <p:nvSpPr>
          <p:cNvPr id="29" name="Google Shape;29;p48"/>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2B8147"/>
              </a:buClr>
              <a:buSzPts val="4000"/>
              <a:buFont typeface="Calibri"/>
              <a:buNone/>
              <a:defRPr sz="4000" b="0" i="0" u="none" strike="noStrike" cap="none">
                <a:solidFill>
                  <a:srgbClr val="2B8147"/>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30" name="Google Shape;30;p48"/>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lg I_Session Divider">
  <p:cSld name="Alg I_Session Divider">
    <p:bg>
      <p:bgPr>
        <a:solidFill>
          <a:schemeClr val="lt1"/>
        </a:solidFill>
        <a:effectLst/>
      </p:bgPr>
    </p:bg>
    <p:spTree>
      <p:nvGrpSpPr>
        <p:cNvPr id="1" name="Shape 31"/>
        <p:cNvGrpSpPr/>
        <p:nvPr/>
      </p:nvGrpSpPr>
      <p:grpSpPr>
        <a:xfrm>
          <a:off x="0" y="0"/>
          <a:ext cx="0" cy="0"/>
          <a:chOff x="0" y="0"/>
          <a:chExt cx="0" cy="0"/>
        </a:xfrm>
      </p:grpSpPr>
      <p:sp>
        <p:nvSpPr>
          <p:cNvPr id="32" name="Google Shape;32;p49"/>
          <p:cNvSpPr txBox="1"/>
          <p:nvPr/>
        </p:nvSpPr>
        <p:spPr>
          <a:xfrm>
            <a:off x="4629955" y="2955793"/>
            <a:ext cx="1800239" cy="946413"/>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7500" b="1" i="0" u="none" strike="noStrike" cap="none" dirty="0">
                <a:solidFill>
                  <a:srgbClr val="171616"/>
                </a:solidFill>
                <a:latin typeface="Calibri"/>
                <a:ea typeface="Calibri"/>
                <a:cs typeface="Calibri"/>
                <a:sym typeface="Calibri"/>
              </a:rPr>
              <a:t>Day</a:t>
            </a:r>
            <a:endParaRPr sz="7500" b="1" i="0" u="none" strike="noStrike" cap="none" dirty="0">
              <a:solidFill>
                <a:srgbClr val="171616"/>
              </a:solidFill>
              <a:latin typeface="Calibri"/>
              <a:ea typeface="Calibri"/>
              <a:cs typeface="Calibri"/>
              <a:sym typeface="Calibri"/>
            </a:endParaRPr>
          </a:p>
        </p:txBody>
      </p:sp>
      <p:sp>
        <p:nvSpPr>
          <p:cNvPr id="33" name="Google Shape;33;p49"/>
          <p:cNvSpPr txBox="1">
            <a:spLocks noGrp="1"/>
          </p:cNvSpPr>
          <p:nvPr>
            <p:ph type="body" idx="1"/>
          </p:nvPr>
        </p:nvSpPr>
        <p:spPr>
          <a:xfrm>
            <a:off x="6318634" y="2886869"/>
            <a:ext cx="1061883" cy="1071562"/>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000000"/>
              </a:buClr>
              <a:buSzPts val="7500"/>
              <a:buFont typeface="Arial"/>
              <a:buNone/>
              <a:defRPr sz="7500" b="1" i="0" u="none" strike="noStrike" cap="none">
                <a:solidFill>
                  <a:srgbClr val="000000"/>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34" name="Google Shape;34;p49"/>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4663225"/>
            <a:ext cx="12190413" cy="2194775"/>
          </a:xfrm>
          <a:prstGeom prst="rect">
            <a:avLst/>
          </a:prstGeom>
          <a:noFill/>
          <a:ln>
            <a:noFill/>
          </a:ln>
        </p:spPr>
      </p:pic>
      <p:pic>
        <p:nvPicPr>
          <p:cNvPr id="35" name="Google Shape;35;p49"/>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rot="10800000">
            <a:off x="-794" y="-12700"/>
            <a:ext cx="12190413" cy="21947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Alg I_Getting Started">
  <p:cSld name="Alg I_Getting Started">
    <p:bg>
      <p:bgPr>
        <a:solidFill>
          <a:schemeClr val="lt1"/>
        </a:solidFill>
        <a:effectLst/>
      </p:bgPr>
    </p:bg>
    <p:spTree>
      <p:nvGrpSpPr>
        <p:cNvPr id="1" name="Shape 36"/>
        <p:cNvGrpSpPr/>
        <p:nvPr/>
      </p:nvGrpSpPr>
      <p:grpSpPr>
        <a:xfrm>
          <a:off x="0" y="0"/>
          <a:ext cx="0" cy="0"/>
          <a:chOff x="0" y="0"/>
          <a:chExt cx="0" cy="0"/>
        </a:xfrm>
      </p:grpSpPr>
      <p:pic>
        <p:nvPicPr>
          <p:cNvPr id="37" name="Google Shape;37;p50" descr="A green and black pattern&#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2316529"/>
            <a:ext cx="12190415" cy="2682142"/>
          </a:xfrm>
          <a:prstGeom prst="rect">
            <a:avLst/>
          </a:prstGeom>
          <a:noFill/>
          <a:ln>
            <a:noFill/>
          </a:ln>
        </p:spPr>
      </p:pic>
      <p:sp>
        <p:nvSpPr>
          <p:cNvPr id="38" name="Google Shape;38;p50" descr="A green and black pattern&#10;&#10;AI-generated content may be incorrect."/>
          <p:cNvSpPr txBox="1"/>
          <p:nvPr/>
        </p:nvSpPr>
        <p:spPr>
          <a:xfrm>
            <a:off x="2767915" y="2984501"/>
            <a:ext cx="6660292" cy="1143000"/>
          </a:xfrm>
          <a:prstGeom prst="rect">
            <a:avLst/>
          </a:prstGeom>
          <a:solidFill>
            <a:srgbClr val="2B8147"/>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i="0" u="none" strike="noStrike" cap="none">
                <a:solidFill>
                  <a:schemeClr val="lt1"/>
                </a:solidFill>
                <a:latin typeface="Calibri"/>
                <a:ea typeface="Calibri"/>
                <a:cs typeface="Calibri"/>
                <a:sym typeface="Calibri"/>
              </a:rPr>
              <a:t>Getting Started</a:t>
            </a:r>
            <a:endParaRPr sz="7500" b="1" i="0" u="none" strike="noStrike" cap="none">
              <a:solidFill>
                <a:schemeClr val="lt1"/>
              </a:solidFill>
              <a:latin typeface="Calibri"/>
              <a:ea typeface="Calibri"/>
              <a:cs typeface="Calibri"/>
              <a:sym typeface="Calibri"/>
            </a:endParaRPr>
          </a:p>
        </p:txBody>
      </p:sp>
      <p:pic>
        <p:nvPicPr>
          <p:cNvPr id="39" name="Google Shape;39;p50"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40" name="Google Shape;40;p50"/>
          <p:cNvSpPr txBox="1">
            <a:spLocks noGrp="1"/>
          </p:cNvSpPr>
          <p:nvPr>
            <p:ph type="body" idx="1"/>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Alg I_Activity">
  <p:cSld name="Alg I_Activity">
    <p:bg>
      <p:bgPr>
        <a:solidFill>
          <a:schemeClr val="lt1"/>
        </a:solidFill>
        <a:effectLst/>
      </p:bgPr>
    </p:bg>
    <p:spTree>
      <p:nvGrpSpPr>
        <p:cNvPr id="1" name="Shape 41"/>
        <p:cNvGrpSpPr/>
        <p:nvPr/>
      </p:nvGrpSpPr>
      <p:grpSpPr>
        <a:xfrm>
          <a:off x="0" y="0"/>
          <a:ext cx="0" cy="0"/>
          <a:chOff x="0" y="0"/>
          <a:chExt cx="0" cy="0"/>
        </a:xfrm>
      </p:grpSpPr>
      <p:pic>
        <p:nvPicPr>
          <p:cNvPr id="42" name="Google Shape;42;p51"/>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2316529"/>
            <a:ext cx="12190413" cy="2682142"/>
          </a:xfrm>
          <a:prstGeom prst="rect">
            <a:avLst/>
          </a:prstGeom>
          <a:noFill/>
          <a:ln>
            <a:noFill/>
          </a:ln>
        </p:spPr>
      </p:pic>
      <p:sp>
        <p:nvSpPr>
          <p:cNvPr id="43" name="Google Shape;43;p51"/>
          <p:cNvSpPr txBox="1"/>
          <p:nvPr/>
        </p:nvSpPr>
        <p:spPr>
          <a:xfrm>
            <a:off x="3352800" y="2984501"/>
            <a:ext cx="5499100" cy="1143000"/>
          </a:xfrm>
          <a:prstGeom prst="rect">
            <a:avLst/>
          </a:prstGeom>
          <a:solidFill>
            <a:srgbClr val="2B8147"/>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endParaRPr sz="7500" b="1">
              <a:solidFill>
                <a:schemeClr val="lt1"/>
              </a:solidFill>
              <a:latin typeface="Calibri"/>
              <a:ea typeface="Calibri"/>
              <a:cs typeface="Calibri"/>
              <a:sym typeface="Calibri"/>
            </a:endParaRPr>
          </a:p>
        </p:txBody>
      </p:sp>
      <p:sp>
        <p:nvSpPr>
          <p:cNvPr id="44" name="Google Shape;44;p51"/>
          <p:cNvSpPr txBox="1"/>
          <p:nvPr/>
        </p:nvSpPr>
        <p:spPr>
          <a:xfrm>
            <a:off x="3340100" y="3136900"/>
            <a:ext cx="3302000" cy="946413"/>
          </a:xfrm>
          <a:prstGeom prst="rect">
            <a:avLst/>
          </a:prstGeom>
          <a:noFill/>
          <a:ln>
            <a:noFill/>
          </a:ln>
        </p:spPr>
        <p:txBody>
          <a:bodyPr spcFirstLastPara="1" wrap="square" lIns="0" tIns="0" rIns="0" bIns="0" anchor="t" anchorCtr="0">
            <a:spAutoFit/>
          </a:bodyPr>
          <a:lstStyle/>
          <a:p>
            <a:pPr marL="0" marR="0" lvl="0" indent="0" algn="r" rtl="0">
              <a:lnSpc>
                <a:spcPct val="80000"/>
              </a:lnSpc>
              <a:spcBef>
                <a:spcPts val="0"/>
              </a:spcBef>
              <a:spcAft>
                <a:spcPts val="0"/>
              </a:spcAft>
              <a:buNone/>
            </a:pPr>
            <a:r>
              <a:rPr lang="en-US" sz="7500" b="1">
                <a:solidFill>
                  <a:schemeClr val="lt1"/>
                </a:solidFill>
                <a:latin typeface="Calibri"/>
                <a:ea typeface="Calibri"/>
                <a:cs typeface="Calibri"/>
                <a:sym typeface="Calibri"/>
              </a:rPr>
              <a:t>Activity </a:t>
            </a:r>
            <a:endParaRPr sz="7500" b="1">
              <a:solidFill>
                <a:schemeClr val="lt1"/>
              </a:solidFill>
              <a:latin typeface="Calibri"/>
              <a:ea typeface="Calibri"/>
              <a:cs typeface="Calibri"/>
              <a:sym typeface="Calibri"/>
            </a:endParaRPr>
          </a:p>
        </p:txBody>
      </p:sp>
      <p:sp>
        <p:nvSpPr>
          <p:cNvPr id="45" name="Google Shape;45;p51"/>
          <p:cNvSpPr txBox="1">
            <a:spLocks noGrp="1"/>
          </p:cNvSpPr>
          <p:nvPr>
            <p:ph type="body" idx="1"/>
          </p:nvPr>
        </p:nvSpPr>
        <p:spPr>
          <a:xfrm>
            <a:off x="6769100" y="2957776"/>
            <a:ext cx="2025986" cy="11255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7500"/>
              <a:buFont typeface="Arial"/>
              <a:buNone/>
              <a:defRPr sz="7500" b="1"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46" name="Google Shape;46;p51"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47" name="Google Shape;47;p51"/>
          <p:cNvSpPr txBox="1">
            <a:spLocks noGrp="1"/>
          </p:cNvSpPr>
          <p:nvPr>
            <p:ph type="body" idx="2"/>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Alg I_Talk the Talk">
  <p:cSld name="Alg I_Talk the Talk">
    <p:bg>
      <p:bgPr>
        <a:solidFill>
          <a:schemeClr val="lt1"/>
        </a:solidFill>
        <a:effectLst/>
      </p:bgPr>
    </p:bg>
    <p:spTree>
      <p:nvGrpSpPr>
        <p:cNvPr id="1" name="Shape 48"/>
        <p:cNvGrpSpPr/>
        <p:nvPr/>
      </p:nvGrpSpPr>
      <p:grpSpPr>
        <a:xfrm>
          <a:off x="0" y="0"/>
          <a:ext cx="0" cy="0"/>
          <a:chOff x="0" y="0"/>
          <a:chExt cx="0" cy="0"/>
        </a:xfrm>
      </p:grpSpPr>
      <p:pic>
        <p:nvPicPr>
          <p:cNvPr id="49" name="Google Shape;49;p52"/>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2316529"/>
            <a:ext cx="12190413" cy="2682142"/>
          </a:xfrm>
          <a:prstGeom prst="rect">
            <a:avLst/>
          </a:prstGeom>
          <a:noFill/>
          <a:ln>
            <a:noFill/>
          </a:ln>
        </p:spPr>
      </p:pic>
      <p:sp>
        <p:nvSpPr>
          <p:cNvPr id="50" name="Google Shape;50;p52"/>
          <p:cNvSpPr txBox="1"/>
          <p:nvPr/>
        </p:nvSpPr>
        <p:spPr>
          <a:xfrm>
            <a:off x="3352800" y="2984501"/>
            <a:ext cx="5499100" cy="1143000"/>
          </a:xfrm>
          <a:prstGeom prst="rect">
            <a:avLst/>
          </a:prstGeom>
          <a:solidFill>
            <a:srgbClr val="2B8147"/>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Talk the Talk</a:t>
            </a:r>
            <a:endParaRPr sz="7500" b="1">
              <a:solidFill>
                <a:schemeClr val="lt1"/>
              </a:solidFill>
              <a:latin typeface="Calibri"/>
              <a:ea typeface="Calibri"/>
              <a:cs typeface="Calibri"/>
              <a:sym typeface="Calibri"/>
            </a:endParaRPr>
          </a:p>
        </p:txBody>
      </p:sp>
      <p:pic>
        <p:nvPicPr>
          <p:cNvPr id="51" name="Google Shape;51;p52"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52" name="Google Shape;52;p52"/>
          <p:cNvSpPr txBox="1">
            <a:spLocks noGrp="1"/>
          </p:cNvSpPr>
          <p:nvPr>
            <p:ph type="body" idx="1"/>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Alg I_Getting Started">
  <p:cSld name="1_Alg I_Getting Started">
    <p:bg>
      <p:bgPr>
        <a:solidFill>
          <a:schemeClr val="lt1"/>
        </a:solidFill>
        <a:effectLst/>
      </p:bgPr>
    </p:bg>
    <p:spTree>
      <p:nvGrpSpPr>
        <p:cNvPr id="1" name="Shape 53"/>
        <p:cNvGrpSpPr/>
        <p:nvPr/>
      </p:nvGrpSpPr>
      <p:grpSpPr>
        <a:xfrm>
          <a:off x="0" y="0"/>
          <a:ext cx="0" cy="0"/>
          <a:chOff x="0" y="0"/>
          <a:chExt cx="0" cy="0"/>
        </a:xfrm>
      </p:grpSpPr>
      <p:pic>
        <p:nvPicPr>
          <p:cNvPr id="54" name="Google Shape;54;p53" descr="A green and black pattern&#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2316529"/>
            <a:ext cx="12190415" cy="2682142"/>
          </a:xfrm>
          <a:prstGeom prst="rect">
            <a:avLst/>
          </a:prstGeom>
          <a:noFill/>
          <a:ln>
            <a:noFill/>
          </a:ln>
        </p:spPr>
      </p:pic>
      <p:sp>
        <p:nvSpPr>
          <p:cNvPr id="55" name="Google Shape;55;p53" descr="A green and black pattern&#10;&#10;AI-generated content may be incorrect."/>
          <p:cNvSpPr txBox="1"/>
          <p:nvPr/>
        </p:nvSpPr>
        <p:spPr>
          <a:xfrm>
            <a:off x="3866323" y="2984501"/>
            <a:ext cx="4432852" cy="1143000"/>
          </a:xfrm>
          <a:prstGeom prst="rect">
            <a:avLst/>
          </a:prstGeom>
          <a:solidFill>
            <a:srgbClr val="2B8147"/>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Prepare</a:t>
            </a:r>
            <a:endParaRPr sz="7500" b="1">
              <a:solidFill>
                <a:schemeClr val="lt1"/>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9_G2 Copyright">
  <p:cSld name="9_G2 Copyright">
    <p:bg>
      <p:bgPr>
        <a:solidFill>
          <a:schemeClr val="lt1"/>
        </a:solidFill>
        <a:effectLst/>
      </p:bgPr>
    </p:bg>
    <p:spTree>
      <p:nvGrpSpPr>
        <p:cNvPr id="1" name="Shape 56"/>
        <p:cNvGrpSpPr/>
        <p:nvPr/>
      </p:nvGrpSpPr>
      <p:grpSpPr>
        <a:xfrm>
          <a:off x="0" y="0"/>
          <a:ext cx="0" cy="0"/>
          <a:chOff x="0" y="0"/>
          <a:chExt cx="0" cy="0"/>
        </a:xfrm>
      </p:grpSpPr>
      <p:pic>
        <p:nvPicPr>
          <p:cNvPr id="57" name="Google Shape;57;p54" descr="A pattern with circles and lines&#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932192"/>
            <a:ext cx="12190413" cy="5925808"/>
          </a:xfrm>
          <a:prstGeom prst="rect">
            <a:avLst/>
          </a:prstGeom>
          <a:noFill/>
          <a:ln>
            <a:noFill/>
          </a:ln>
        </p:spPr>
      </p:pic>
      <p:sp>
        <p:nvSpPr>
          <p:cNvPr id="58" name="Google Shape;58;p54"/>
          <p:cNvSpPr/>
          <p:nvPr/>
        </p:nvSpPr>
        <p:spPr>
          <a:xfrm>
            <a:off x="1668545" y="2356700"/>
            <a:ext cx="1715678" cy="2648931"/>
          </a:xfrm>
          <a:prstGeom prst="ellipse">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 name="Google Shape;59;p54"/>
          <p:cNvSpPr/>
          <p:nvPr/>
        </p:nvSpPr>
        <p:spPr>
          <a:xfrm>
            <a:off x="1310326" y="4873659"/>
            <a:ext cx="2073897" cy="679000"/>
          </a:xfrm>
          <a:prstGeom prst="rect">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 name="Google Shape;60;p54"/>
          <p:cNvSpPr txBox="1"/>
          <p:nvPr/>
        </p:nvSpPr>
        <p:spPr>
          <a:xfrm>
            <a:off x="1023907" y="1792363"/>
            <a:ext cx="10141011" cy="4247317"/>
          </a:xfrm>
          <a:prstGeom prst="rect">
            <a:avLst/>
          </a:prstGeom>
          <a:solidFill>
            <a:schemeClr val="lt1"/>
          </a:solidFill>
          <a:ln w="38100"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0000"/>
                </a:solidFill>
                <a:latin typeface="Calibri"/>
                <a:ea typeface="Calibri"/>
                <a:cs typeface="Calibri"/>
                <a:sym typeface="Calibri"/>
              </a:rPr>
              <a:t>Acknowledgment</a:t>
            </a:r>
            <a:endParaRPr/>
          </a:p>
          <a:p>
            <a:pPr marL="0" marR="0" lvl="0" indent="0" algn="l" rtl="0">
              <a:spcBef>
                <a:spcPts val="0"/>
              </a:spcBef>
              <a:spcAft>
                <a:spcPts val="0"/>
              </a:spcAft>
              <a:buNone/>
            </a:pPr>
            <a:r>
              <a:rPr lang="en-US" sz="1800">
                <a:solidFill>
                  <a:srgbClr val="000000"/>
                </a:solidFill>
                <a:latin typeface="Calibri"/>
                <a:ea typeface="Calibri"/>
                <a:cs typeface="Calibri"/>
                <a:sym typeface="Calibri"/>
              </a:rPr>
              <a:t>Thank you to all the Texas educators and stakeholders who supported the review process and provided feedback. These materials are the result of the work of numerous individuals, and we are deeply grateful for their contributions.</a:t>
            </a:r>
            <a:endParaRPr sz="1800">
              <a:solidFill>
                <a:srgbClr val="000000"/>
              </a:solidFill>
              <a:latin typeface="Calibri"/>
              <a:ea typeface="Calibri"/>
              <a:cs typeface="Calibri"/>
              <a:sym typeface="Calibri"/>
            </a:endParaRPr>
          </a:p>
          <a:p>
            <a:pPr marL="0" marR="0" lvl="0" indent="0" algn="l" rtl="0">
              <a:spcBef>
                <a:spcPts val="0"/>
              </a:spcBef>
              <a:spcAft>
                <a:spcPts val="0"/>
              </a:spcAft>
              <a:buNone/>
            </a:pPr>
            <a:endParaRPr sz="1800">
              <a:solidFill>
                <a:srgbClr val="000000"/>
              </a:solidFill>
              <a:latin typeface="Calibri"/>
              <a:ea typeface="Calibri"/>
              <a:cs typeface="Calibri"/>
              <a:sym typeface="Calibri"/>
            </a:endParaRPr>
          </a:p>
          <a:p>
            <a:pPr marL="0" marR="0" lvl="0" indent="0" algn="l" rtl="0">
              <a:spcBef>
                <a:spcPts val="0"/>
              </a:spcBef>
              <a:spcAft>
                <a:spcPts val="0"/>
              </a:spcAft>
              <a:buNone/>
            </a:pPr>
            <a:r>
              <a:rPr lang="en-US" sz="1800" b="1">
                <a:solidFill>
                  <a:srgbClr val="000000"/>
                </a:solidFill>
                <a:latin typeface="Calibri"/>
                <a:ea typeface="Calibri"/>
                <a:cs typeface="Calibri"/>
                <a:sym typeface="Calibri"/>
              </a:rPr>
              <a:t>Notice</a:t>
            </a:r>
            <a:endParaRPr sz="1800" b="1">
              <a:solidFill>
                <a:srgbClr val="000000"/>
              </a:solidFill>
              <a:latin typeface="Calibri"/>
              <a:ea typeface="Calibri"/>
              <a:cs typeface="Calibri"/>
              <a:sym typeface="Calibri"/>
            </a:endParaRPr>
          </a:p>
          <a:p>
            <a:pPr marL="0" marR="0" lvl="0" indent="0" algn="l" rtl="0">
              <a:spcBef>
                <a:spcPts val="0"/>
              </a:spcBef>
              <a:spcAft>
                <a:spcPts val="0"/>
              </a:spcAft>
              <a:buNone/>
            </a:pPr>
            <a:r>
              <a:rPr lang="en-US" sz="1800">
                <a:solidFill>
                  <a:srgbClr val="000000"/>
                </a:solidFill>
                <a:latin typeface="Calibri"/>
                <a:ea typeface="Calibri"/>
                <a:cs typeface="Calibri"/>
                <a:sym typeface="Calibri"/>
              </a:rPr>
              <a:t>These learning resources have been built for Texas students, aligned to the Texas Essential Knowledge and Skills, and are made available pursuant to Chapter 31, Subchapter B-1 of the Texas Education Code.</a:t>
            </a:r>
            <a:endParaRPr sz="1800">
              <a:solidFill>
                <a:srgbClr val="000000"/>
              </a:solidFill>
              <a:latin typeface="Calibri"/>
              <a:ea typeface="Calibri"/>
              <a:cs typeface="Calibri"/>
              <a:sym typeface="Calibri"/>
            </a:endParaRPr>
          </a:p>
          <a:p>
            <a:pPr marL="0" marR="0" lvl="0" indent="0" algn="l" rtl="0">
              <a:spcBef>
                <a:spcPts val="0"/>
              </a:spcBef>
              <a:spcAft>
                <a:spcPts val="0"/>
              </a:spcAft>
              <a:buNone/>
            </a:pPr>
            <a:r>
              <a:rPr lang="en-US" sz="1800">
                <a:solidFill>
                  <a:srgbClr val="000000"/>
                </a:solidFill>
                <a:latin typeface="Calibri"/>
                <a:ea typeface="Calibri"/>
                <a:cs typeface="Calibri"/>
                <a:sym typeface="Calibri"/>
              </a:rPr>
              <a:t>If you have further questions or to report an error, please email </a:t>
            </a:r>
            <a:r>
              <a:rPr lang="en-US" sz="1800" u="sng">
                <a:solidFill>
                  <a:srgbClr val="000000"/>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openeducationresources@tea.texas.gov</a:t>
            </a:r>
            <a:r>
              <a:rPr lang="en-US" sz="1800">
                <a:solidFill>
                  <a:srgbClr val="000000"/>
                </a:solidFill>
                <a:latin typeface="Calibri"/>
                <a:ea typeface="Calibri"/>
                <a:cs typeface="Calibri"/>
                <a:sym typeface="Calibri"/>
              </a:rPr>
              <a:t>.</a:t>
            </a:r>
            <a:endParaRPr/>
          </a:p>
          <a:p>
            <a:pPr marL="0" marR="0" lvl="0" indent="0" algn="l" rtl="0">
              <a:spcBef>
                <a:spcPts val="0"/>
              </a:spcBef>
              <a:spcAft>
                <a:spcPts val="0"/>
              </a:spcAft>
              <a:buNone/>
            </a:pPr>
            <a:endParaRPr sz="1800">
              <a:solidFill>
                <a:srgbClr val="000000"/>
              </a:solidFill>
              <a:latin typeface="Calibri"/>
              <a:ea typeface="Calibri"/>
              <a:cs typeface="Calibri"/>
              <a:sym typeface="Calibri"/>
            </a:endParaRPr>
          </a:p>
          <a:p>
            <a:pPr marL="0" marR="0" lvl="0" indent="0" algn="l" rtl="0">
              <a:spcBef>
                <a:spcPts val="0"/>
              </a:spcBef>
              <a:spcAft>
                <a:spcPts val="0"/>
              </a:spcAft>
              <a:buNone/>
            </a:pPr>
            <a:r>
              <a:rPr lang="en-US" sz="1800">
                <a:solidFill>
                  <a:srgbClr val="000000"/>
                </a:solidFill>
                <a:latin typeface="Calibri"/>
                <a:ea typeface="Calibri"/>
                <a:cs typeface="Calibri"/>
                <a:sym typeface="Calibri"/>
              </a:rPr>
              <a:t>©2024-2025 Texas Education Agency. Portions of this work are adapted, with permission, from the originals created by and copyright ©2021 Carnegie Learning, Inc. </a:t>
            </a:r>
            <a:endParaRPr/>
          </a:p>
          <a:p>
            <a:pPr marL="0" marR="0" lvl="0" indent="0" algn="l" rtl="0">
              <a:spcBef>
                <a:spcPts val="0"/>
              </a:spcBef>
              <a:spcAft>
                <a:spcPts val="0"/>
              </a:spcAft>
              <a:buNone/>
            </a:pPr>
            <a:endParaRPr sz="1800">
              <a:solidFill>
                <a:srgbClr val="000000"/>
              </a:solidFill>
              <a:latin typeface="Calibri"/>
              <a:ea typeface="Calibri"/>
              <a:cs typeface="Calibri"/>
              <a:sym typeface="Calibri"/>
            </a:endParaRPr>
          </a:p>
          <a:p>
            <a:pPr marL="0" marR="0" lvl="0" indent="0" algn="l" rtl="0">
              <a:spcBef>
                <a:spcPts val="0"/>
              </a:spcBef>
              <a:spcAft>
                <a:spcPts val="0"/>
              </a:spcAft>
              <a:buNone/>
            </a:pPr>
            <a:r>
              <a:rPr lang="en-US" sz="1800">
                <a:solidFill>
                  <a:srgbClr val="000000"/>
                </a:solidFill>
                <a:latin typeface="Calibri"/>
                <a:ea typeface="Calibri"/>
                <a:cs typeface="Calibri"/>
                <a:sym typeface="Calibri"/>
              </a:rPr>
              <a:t>This work is licensed under a Creative Commons Attribution-Non-Commercial-4.0 International License. For information, visit: </a:t>
            </a:r>
            <a:r>
              <a:rPr lang="en-US" sz="1800" u="sng">
                <a:solidFill>
                  <a:srgbClr val="000000"/>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https://creativecommons.org/licenses/by-nc/4.0</a:t>
            </a:r>
            <a:r>
              <a:rPr lang="en-US" sz="1800">
                <a:solidFill>
                  <a:srgbClr val="000000"/>
                </a:solidFill>
                <a:latin typeface="Calibri"/>
                <a:ea typeface="Calibri"/>
                <a:cs typeface="Calibri"/>
                <a:sym typeface="Calibri"/>
              </a:rPr>
              <a:t>. </a:t>
            </a:r>
            <a:endParaRPr/>
          </a:p>
        </p:txBody>
      </p:sp>
      <p:pic>
        <p:nvPicPr>
          <p:cNvPr id="61" name="Google Shape;61;p54" descr="A blue and black logo&#10;&#10;AI-generated content may be incorrect."/>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84963" y="101527"/>
            <a:ext cx="2080268" cy="682524"/>
          </a:xfrm>
          <a:prstGeom prst="rect">
            <a:avLst/>
          </a:prstGeom>
          <a:noFill/>
          <a:ln>
            <a:noFill/>
          </a:ln>
        </p:spPr>
      </p:pic>
      <p:sp>
        <p:nvSpPr>
          <p:cNvPr id="62" name="Google Shape;62;p54"/>
          <p:cNvSpPr txBox="1"/>
          <p:nvPr/>
        </p:nvSpPr>
        <p:spPr>
          <a:xfrm>
            <a:off x="862304" y="69238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a:solidFill>
                  <a:srgbClr val="000000"/>
                </a:solidFill>
                <a:latin typeface="Calibri"/>
                <a:ea typeface="Calibri"/>
                <a:cs typeface="Calibri"/>
                <a:sym typeface="Calibri"/>
              </a:rPr>
              <a:t>Secondary Mathematics</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Alg I_Back Cover">
  <p:cSld name="Alg I_Back Cover">
    <p:bg>
      <p:bgPr>
        <a:solidFill>
          <a:schemeClr val="lt1"/>
        </a:solidFill>
        <a:effectLst/>
      </p:bgPr>
    </p:bg>
    <p:spTree>
      <p:nvGrpSpPr>
        <p:cNvPr id="1" name="Shape 63"/>
        <p:cNvGrpSpPr/>
        <p:nvPr/>
      </p:nvGrpSpPr>
      <p:grpSpPr>
        <a:xfrm>
          <a:off x="0" y="0"/>
          <a:ext cx="0" cy="0"/>
          <a:chOff x="0" y="0"/>
          <a:chExt cx="0" cy="0"/>
        </a:xfrm>
      </p:grpSpPr>
      <p:pic>
        <p:nvPicPr>
          <p:cNvPr id="64" name="Google Shape;64;p55"/>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4663225"/>
            <a:ext cx="12190413" cy="2194775"/>
          </a:xfrm>
          <a:prstGeom prst="rect">
            <a:avLst/>
          </a:prstGeom>
          <a:noFill/>
          <a:ln>
            <a:noFill/>
          </a:ln>
        </p:spPr>
      </p:pic>
      <p:sp>
        <p:nvSpPr>
          <p:cNvPr id="65" name="Google Shape;65;p55"/>
          <p:cNvSpPr txBox="1">
            <a:spLocks noGrp="1"/>
          </p:cNvSpPr>
          <p:nvPr>
            <p:ph type="body" idx="1"/>
          </p:nvPr>
        </p:nvSpPr>
        <p:spPr>
          <a:xfrm>
            <a:off x="8155889" y="4975063"/>
            <a:ext cx="3431356" cy="414778"/>
          </a:xfrm>
          <a:prstGeom prst="rect">
            <a:avLst/>
          </a:prstGeom>
          <a:solidFill>
            <a:srgbClr val="2B8147"/>
          </a:solidFill>
          <a:ln>
            <a:noFill/>
          </a:ln>
        </p:spPr>
        <p:txBody>
          <a:bodyPr spcFirstLastPara="1" wrap="square" lIns="0" tIns="45700" rIns="0" bIns="45700" anchor="ctr" anchorCtr="0">
            <a:noAutofit/>
          </a:bodyPr>
          <a:lstStyle>
            <a:lvl1pPr marL="457200" marR="0" lvl="0" indent="-228600" algn="ctr"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66" name="Google Shape;66;p55"/>
          <p:cNvGrpSpPr/>
          <p:nvPr/>
        </p:nvGrpSpPr>
        <p:grpSpPr>
          <a:xfrm>
            <a:off x="9053008" y="227306"/>
            <a:ext cx="2910578" cy="1472169"/>
            <a:chOff x="8940726" y="132485"/>
            <a:chExt cx="2910578" cy="1472169"/>
          </a:xfrm>
        </p:grpSpPr>
        <p:pic>
          <p:nvPicPr>
            <p:cNvPr id="67" name="Google Shape;67;p55" descr="A blue and black logo&#10;&#10;AI-generated content may be incorrect."/>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8940726" y="132485"/>
              <a:ext cx="2910578" cy="954944"/>
            </a:xfrm>
            <a:prstGeom prst="rect">
              <a:avLst/>
            </a:prstGeom>
            <a:noFill/>
            <a:ln>
              <a:noFill/>
            </a:ln>
          </p:spPr>
        </p:pic>
        <p:sp>
          <p:nvSpPr>
            <p:cNvPr id="68" name="Google Shape;68;p55"/>
            <p:cNvSpPr txBox="1"/>
            <p:nvPr/>
          </p:nvSpPr>
          <p:spPr>
            <a:xfrm>
              <a:off x="10111407" y="100769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a:solidFill>
                    <a:srgbClr val="000000"/>
                  </a:solidFill>
                  <a:latin typeface="Calibri"/>
                  <a:ea typeface="Calibri"/>
                  <a:cs typeface="Calibri"/>
                  <a:sym typeface="Calibri"/>
                </a:rPr>
                <a:t>Secondary Mathematics</a:t>
              </a:r>
              <a:endParaRPr/>
            </a:p>
          </p:txBody>
        </p:sp>
        <p:sp>
          <p:nvSpPr>
            <p:cNvPr id="69" name="Google Shape;69;p55"/>
            <p:cNvSpPr/>
            <p:nvPr/>
          </p:nvSpPr>
          <p:spPr>
            <a:xfrm>
              <a:off x="10236991" y="1306046"/>
              <a:ext cx="907774" cy="298608"/>
            </a:xfrm>
            <a:prstGeom prst="roundRect">
              <a:avLst>
                <a:gd name="adj" fmla="val 16667"/>
              </a:avLst>
            </a:prstGeom>
            <a:solidFill>
              <a:srgbClr val="D0CE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0" name="Google Shape;70;p55"/>
            <p:cNvSpPr txBox="1"/>
            <p:nvPr/>
          </p:nvSpPr>
          <p:spPr>
            <a:xfrm>
              <a:off x="10252484" y="1335768"/>
              <a:ext cx="868018" cy="2378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0">
                  <a:solidFill>
                    <a:srgbClr val="757070"/>
                  </a:solidFill>
                  <a:latin typeface="Calibri"/>
                  <a:ea typeface="Calibri"/>
                  <a:cs typeface="Calibri"/>
                  <a:sym typeface="Calibri"/>
                </a:rPr>
                <a:t>EDITION 1</a:t>
              </a:r>
              <a:endParaRPr/>
            </a:p>
          </p:txBody>
        </p:sp>
      </p:grpSp>
      <p:sp>
        <p:nvSpPr>
          <p:cNvPr id="71" name="Google Shape;71;p55"/>
          <p:cNvSpPr/>
          <p:nvPr/>
        </p:nvSpPr>
        <p:spPr>
          <a:xfrm rot="10800000" flipH="1">
            <a:off x="0" y="0"/>
            <a:ext cx="2467555" cy="954942"/>
          </a:xfrm>
          <a:prstGeom prst="round1Rect">
            <a:avLst>
              <a:gd name="adj" fmla="val 16667"/>
            </a:avLst>
          </a:prstGeom>
          <a:solidFill>
            <a:srgbClr val="2B81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2" name="Google Shape;72;p55"/>
          <p:cNvSpPr txBox="1"/>
          <p:nvPr/>
        </p:nvSpPr>
        <p:spPr>
          <a:xfrm>
            <a:off x="0" y="280732"/>
            <a:ext cx="246755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ENGLISH</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Alg I_Cutouts Divider">
  <p:cSld name="Alg I_Cutouts Divider">
    <p:bg>
      <p:bgPr>
        <a:solidFill>
          <a:schemeClr val="lt1"/>
        </a:solidFill>
        <a:effectLst/>
      </p:bgPr>
    </p:bg>
    <p:spTree>
      <p:nvGrpSpPr>
        <p:cNvPr id="1" name="Shape 73"/>
        <p:cNvGrpSpPr/>
        <p:nvPr/>
      </p:nvGrpSpPr>
      <p:grpSpPr>
        <a:xfrm>
          <a:off x="0" y="0"/>
          <a:ext cx="0" cy="0"/>
          <a:chOff x="0" y="0"/>
          <a:chExt cx="0" cy="0"/>
        </a:xfrm>
      </p:grpSpPr>
      <p:sp>
        <p:nvSpPr>
          <p:cNvPr id="74" name="Google Shape;74;p56"/>
          <p:cNvSpPr txBox="1">
            <a:spLocks noGrp="1"/>
          </p:cNvSpPr>
          <p:nvPr>
            <p:ph type="body" idx="1"/>
          </p:nvPr>
        </p:nvSpPr>
        <p:spPr>
          <a:xfrm>
            <a:off x="5171005" y="2395538"/>
            <a:ext cx="1848402" cy="1033462"/>
          </a:xfrm>
          <a:prstGeom prst="rect">
            <a:avLst/>
          </a:prstGeom>
          <a:noFill/>
          <a:ln>
            <a:noFill/>
          </a:ln>
        </p:spPr>
        <p:txBody>
          <a:bodyPr spcFirstLastPara="1" wrap="square" lIns="91425" tIns="45700" rIns="91425" bIns="45700" anchor="t" anchorCtr="0">
            <a:noAutofit/>
          </a:bodyPr>
          <a:lstStyle>
            <a:lvl1pPr marL="457200" marR="0" lvl="0" indent="-704850" algn="l" rtl="0">
              <a:lnSpc>
                <a:spcPct val="90000"/>
              </a:lnSpc>
              <a:spcBef>
                <a:spcPts val="10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1pPr>
            <a:lvl2pPr marL="914400" marR="0" lvl="1"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2pPr>
            <a:lvl3pPr marL="1371600" marR="0" lvl="2"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3pPr>
            <a:lvl4pPr marL="1828800" marR="0" lvl="3"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4pPr>
            <a:lvl5pPr marL="2286000" marR="0" lvl="4"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75" name="Google Shape;75;p56"/>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4663225"/>
            <a:ext cx="12190413" cy="21947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Application Problem Text">
  <p:cSld name="Application Problem Text">
    <p:spTree>
      <p:nvGrpSpPr>
        <p:cNvPr id="1" name="Shape 76"/>
        <p:cNvGrpSpPr/>
        <p:nvPr/>
      </p:nvGrpSpPr>
      <p:grpSpPr>
        <a:xfrm>
          <a:off x="0" y="0"/>
          <a:ext cx="0" cy="0"/>
          <a:chOff x="0" y="0"/>
          <a:chExt cx="0" cy="0"/>
        </a:xfrm>
      </p:grpSpPr>
      <p:pic>
        <p:nvPicPr>
          <p:cNvPr id="77" name="Google Shape;77;p57"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78" name="Google Shape;78;p57"/>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9" name="Google Shape;79;p57"/>
          <p:cNvSpPr txBox="1">
            <a:spLocks noGrp="1"/>
          </p:cNvSpPr>
          <p:nvPr>
            <p:ph type="body" idx="2"/>
          </p:nvPr>
        </p:nvSpPr>
        <p:spPr>
          <a:xfrm>
            <a:off x="11127476" y="6036181"/>
            <a:ext cx="654216"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0" name="Google Shape;80;p57"/>
          <p:cNvSpPr txBox="1">
            <a:spLocks noGrp="1"/>
          </p:cNvSpPr>
          <p:nvPr>
            <p:ph type="title"/>
          </p:nvPr>
        </p:nvSpPr>
        <p:spPr>
          <a:xfrm>
            <a:off x="777240" y="0"/>
            <a:ext cx="11389135" cy="1253765"/>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81" name="Google Shape;81;p57"/>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RDW_Horizontal">
  <p:cSld name="1_RDW_Horizontal">
    <p:spTree>
      <p:nvGrpSpPr>
        <p:cNvPr id="1" name="Shape 82"/>
        <p:cNvGrpSpPr/>
        <p:nvPr/>
      </p:nvGrpSpPr>
      <p:grpSpPr>
        <a:xfrm>
          <a:off x="0" y="0"/>
          <a:ext cx="0" cy="0"/>
          <a:chOff x="0" y="0"/>
          <a:chExt cx="0" cy="0"/>
        </a:xfrm>
      </p:grpSpPr>
      <p:graphicFrame>
        <p:nvGraphicFramePr>
          <p:cNvPr id="83" name="Google Shape;83;p58"/>
          <p:cNvGraphicFramePr/>
          <p:nvPr/>
        </p:nvGraphicFramePr>
        <p:xfrm>
          <a:off x="775252" y="3783769"/>
          <a:ext cx="3000000" cy="3000000"/>
        </p:xfrm>
        <a:graphic>
          <a:graphicData uri="http://schemas.openxmlformats.org/drawingml/2006/table">
            <a:tbl>
              <a:tblPr>
                <a:noFill/>
                <a:tableStyleId>{F7D8C473-989F-46CF-8A33-2A7C700182BB}</a:tableStyleId>
              </a:tblPr>
              <a:tblGrid>
                <a:gridCol w="3694050">
                  <a:extLst>
                    <a:ext uri="{9D8B030D-6E8A-4147-A177-3AD203B41FA5}">
                      <a16:colId xmlns:a16="http://schemas.microsoft.com/office/drawing/2014/main" val="20000"/>
                    </a:ext>
                  </a:extLst>
                </a:gridCol>
                <a:gridCol w="3694050">
                  <a:extLst>
                    <a:ext uri="{9D8B030D-6E8A-4147-A177-3AD203B41FA5}">
                      <a16:colId xmlns:a16="http://schemas.microsoft.com/office/drawing/2014/main" val="20001"/>
                    </a:ext>
                  </a:extLst>
                </a:gridCol>
                <a:gridCol w="3694050">
                  <a:extLst>
                    <a:ext uri="{9D8B030D-6E8A-4147-A177-3AD203B41FA5}">
                      <a16:colId xmlns:a16="http://schemas.microsoft.com/office/drawing/2014/main" val="20002"/>
                    </a:ext>
                  </a:extLst>
                </a:gridCol>
              </a:tblGrid>
              <a:tr h="244000">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Read</a:t>
                      </a:r>
                      <a:endParaRPr sz="1800" b="1" u="none" strike="noStrike" cap="none">
                        <a:solidFill>
                          <a:srgbClr val="3A3838"/>
                        </a:solidFill>
                      </a:endParaRPr>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Draw</a:t>
                      </a:r>
                      <a:endParaRPr sz="1800" b="1" u="none" strike="noStrike" cap="none">
                        <a:solidFill>
                          <a:srgbClr val="3A3838"/>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Write</a:t>
                      </a:r>
                      <a:endParaRPr sz="1800" b="1" u="none" strike="noStrike" cap="none">
                        <a:solidFill>
                          <a:srgbClr val="3A3838"/>
                        </a:solidFill>
                      </a:endParaRPr>
                    </a:p>
                  </a:txBody>
                  <a:tcPr marL="91450" marR="91450" marT="45725" marB="45725">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3090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84" name="Google Shape;84;p58"/>
          <p:cNvSpPr txBox="1">
            <a:spLocks noGrp="1"/>
          </p:cNvSpPr>
          <p:nvPr>
            <p:ph type="body" idx="1"/>
          </p:nvPr>
        </p:nvSpPr>
        <p:spPr>
          <a:xfrm>
            <a:off x="765313" y="1479938"/>
            <a:ext cx="11060341" cy="207215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A3838"/>
              </a:buClr>
              <a:buSzPts val="2200"/>
              <a:buFont typeface="Arial"/>
              <a:buNone/>
              <a:defRPr sz="2200" b="0" i="0" u="none" strike="noStrike" cap="none">
                <a:solidFill>
                  <a:srgbClr val="3A383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5" name="Google Shape;85;p58"/>
          <p:cNvSpPr txBox="1">
            <a:spLocks noGrp="1"/>
          </p:cNvSpPr>
          <p:nvPr>
            <p:ph type="title"/>
          </p:nvPr>
        </p:nvSpPr>
        <p:spPr>
          <a:xfrm>
            <a:off x="772211" y="0"/>
            <a:ext cx="1141820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86" name="Google Shape;86;p58"/>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luency w/Timer">
  <p:cSld name="Fluency w/Timer">
    <p:spTree>
      <p:nvGrpSpPr>
        <p:cNvPr id="1" name="Shape 87"/>
        <p:cNvGrpSpPr/>
        <p:nvPr/>
      </p:nvGrpSpPr>
      <p:grpSpPr>
        <a:xfrm>
          <a:off x="0" y="0"/>
          <a:ext cx="0" cy="0"/>
          <a:chOff x="0" y="0"/>
          <a:chExt cx="0" cy="0"/>
        </a:xfrm>
      </p:grpSpPr>
      <p:pic>
        <p:nvPicPr>
          <p:cNvPr id="88" name="Google Shape;88;p59"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89" name="Google Shape;89;p59"/>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0" name="Google Shape;90;p59"/>
          <p:cNvSpPr txBox="1">
            <a:spLocks noGrp="1"/>
          </p:cNvSpPr>
          <p:nvPr>
            <p:ph type="body" idx="2"/>
          </p:nvPr>
        </p:nvSpPr>
        <p:spPr>
          <a:xfrm>
            <a:off x="11127476" y="6036181"/>
            <a:ext cx="654216"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1" name="Google Shape;91;p59"/>
          <p:cNvSpPr txBox="1">
            <a:spLocks noGrp="1"/>
          </p:cNvSpPr>
          <p:nvPr>
            <p:ph type="title"/>
          </p:nvPr>
        </p:nvSpPr>
        <p:spPr>
          <a:xfrm>
            <a:off x="777240" y="7968"/>
            <a:ext cx="11413173" cy="12694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3A3838"/>
              </a:buClr>
              <a:buSzPts val="4400"/>
              <a:buFont typeface="Calibri"/>
              <a:buNone/>
              <a:defRPr sz="4400" b="1">
                <a:solidFill>
                  <a:srgbClr val="3A3838"/>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92" name="Google Shape;92;p59"/>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ncept Development">
  <p:cSld name="Concept Development">
    <p:spTree>
      <p:nvGrpSpPr>
        <p:cNvPr id="1" name="Shape 93"/>
        <p:cNvGrpSpPr/>
        <p:nvPr/>
      </p:nvGrpSpPr>
      <p:grpSpPr>
        <a:xfrm>
          <a:off x="0" y="0"/>
          <a:ext cx="0" cy="0"/>
          <a:chOff x="0" y="0"/>
          <a:chExt cx="0" cy="0"/>
        </a:xfrm>
      </p:grpSpPr>
      <p:sp>
        <p:nvSpPr>
          <p:cNvPr id="94" name="Google Shape;94;p6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5" name="Google Shape;95;p60"/>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96" name="Google Shape;96;p60"/>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cept Development with Timer">
  <p:cSld name="Concept Development with Timer">
    <p:spTree>
      <p:nvGrpSpPr>
        <p:cNvPr id="1" name="Shape 97"/>
        <p:cNvGrpSpPr/>
        <p:nvPr/>
      </p:nvGrpSpPr>
      <p:grpSpPr>
        <a:xfrm>
          <a:off x="0" y="0"/>
          <a:ext cx="0" cy="0"/>
          <a:chOff x="0" y="0"/>
          <a:chExt cx="0" cy="0"/>
        </a:xfrm>
      </p:grpSpPr>
      <p:pic>
        <p:nvPicPr>
          <p:cNvPr id="98" name="Google Shape;98;p61"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99" name="Google Shape;99;p61"/>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0" name="Google Shape;100;p61"/>
          <p:cNvSpPr txBox="1">
            <a:spLocks noGrp="1"/>
          </p:cNvSpPr>
          <p:nvPr>
            <p:ph type="body" idx="2"/>
          </p:nvPr>
        </p:nvSpPr>
        <p:spPr>
          <a:xfrm>
            <a:off x="11127570" y="6036181"/>
            <a:ext cx="654121"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1" name="Google Shape;101;p61"/>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02" name="Google Shape;102;p61"/>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roblem Set with Text">
  <p:cSld name="Problem Set with Text">
    <p:spTree>
      <p:nvGrpSpPr>
        <p:cNvPr id="1" name="Shape 103"/>
        <p:cNvGrpSpPr/>
        <p:nvPr/>
      </p:nvGrpSpPr>
      <p:grpSpPr>
        <a:xfrm>
          <a:off x="0" y="0"/>
          <a:ext cx="0" cy="0"/>
          <a:chOff x="0" y="0"/>
          <a:chExt cx="0" cy="0"/>
        </a:xfrm>
      </p:grpSpPr>
      <p:pic>
        <p:nvPicPr>
          <p:cNvPr id="104" name="Google Shape;104;p62"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105" name="Google Shape;105;p62"/>
          <p:cNvSpPr txBox="1">
            <a:spLocks noGrp="1"/>
          </p:cNvSpPr>
          <p:nvPr>
            <p:ph type="body" idx="1"/>
          </p:nvPr>
        </p:nvSpPr>
        <p:spPr>
          <a:xfrm>
            <a:off x="11140001" y="6036181"/>
            <a:ext cx="622969"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6" name="Google Shape;106;p62"/>
          <p:cNvSpPr txBox="1">
            <a:spLocks noGrp="1"/>
          </p:cNvSpPr>
          <p:nvPr>
            <p:ph type="title"/>
          </p:nvPr>
        </p:nvSpPr>
        <p:spPr>
          <a:xfrm>
            <a:off x="777240" y="1"/>
            <a:ext cx="11407898"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7" name="Google Shape;107;p62"/>
          <p:cNvSpPr txBox="1">
            <a:spLocks noGrp="1"/>
          </p:cNvSpPr>
          <p:nvPr>
            <p:ph type="body" idx="2"/>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108" name="Google Shape;108;p62"/>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tudent Debrief">
  <p:cSld name="Student Debrief">
    <p:spTree>
      <p:nvGrpSpPr>
        <p:cNvPr id="1" name="Shape 109"/>
        <p:cNvGrpSpPr/>
        <p:nvPr/>
      </p:nvGrpSpPr>
      <p:grpSpPr>
        <a:xfrm>
          <a:off x="0" y="0"/>
          <a:ext cx="0" cy="0"/>
          <a:chOff x="0" y="0"/>
          <a:chExt cx="0" cy="0"/>
        </a:xfrm>
      </p:grpSpPr>
      <p:pic>
        <p:nvPicPr>
          <p:cNvPr id="110" name="Google Shape;110;p63"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111" name="Google Shape;111;p63"/>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chemeClr val="dk1"/>
              </a:buClr>
              <a:buSzPts val="2800"/>
              <a:buFont typeface="Arial"/>
              <a:buChar char="•"/>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10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10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1000"/>
              </a:spcBef>
              <a:spcAft>
                <a:spcPts val="100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2" name="Google Shape;112;p63"/>
          <p:cNvSpPr txBox="1">
            <a:spLocks noGrp="1"/>
          </p:cNvSpPr>
          <p:nvPr>
            <p:ph type="body" idx="2"/>
          </p:nvPr>
        </p:nvSpPr>
        <p:spPr>
          <a:xfrm>
            <a:off x="11127570" y="6036181"/>
            <a:ext cx="645330"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3" name="Google Shape;113;p63"/>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14" name="Google Shape;114;p63"/>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Exit Ticket">
  <p:cSld name="Exit Ticket">
    <p:spTree>
      <p:nvGrpSpPr>
        <p:cNvPr id="1" name="Shape 115"/>
        <p:cNvGrpSpPr/>
        <p:nvPr/>
      </p:nvGrpSpPr>
      <p:grpSpPr>
        <a:xfrm>
          <a:off x="0" y="0"/>
          <a:ext cx="0" cy="0"/>
          <a:chOff x="0" y="0"/>
          <a:chExt cx="0" cy="0"/>
        </a:xfrm>
      </p:grpSpPr>
      <p:pic>
        <p:nvPicPr>
          <p:cNvPr id="116" name="Google Shape;116;p64"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117" name="Google Shape;117;p64"/>
          <p:cNvSpPr txBox="1">
            <a:spLocks noGrp="1"/>
          </p:cNvSpPr>
          <p:nvPr>
            <p:ph type="body" idx="1"/>
          </p:nvPr>
        </p:nvSpPr>
        <p:spPr>
          <a:xfrm>
            <a:off x="11127571" y="6036181"/>
            <a:ext cx="635400"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8" name="Google Shape;118;p64"/>
          <p:cNvSpPr txBox="1">
            <a:spLocks noGrp="1"/>
          </p:cNvSpPr>
          <p:nvPr>
            <p:ph type="body" idx="2"/>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1000"/>
              </a:spcBef>
              <a:spcAft>
                <a:spcPts val="0"/>
              </a:spcAft>
              <a:buClr>
                <a:schemeClr val="dk1"/>
              </a:buClr>
              <a:buSzPts val="2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10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10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1000"/>
              </a:spcBef>
              <a:spcAft>
                <a:spcPts val="100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9" name="Google Shape;119;p64"/>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20" name="Google Shape;120;p64"/>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_Alg I_Title Slide">
  <p:cSld name="2_Alg I_Title Slide">
    <p:bg>
      <p:bgPr>
        <a:solidFill>
          <a:schemeClr val="lt1"/>
        </a:solidFill>
        <a:effectLst/>
      </p:bgPr>
    </p:bg>
    <p:spTree>
      <p:nvGrpSpPr>
        <p:cNvPr id="1" name="Shape 122"/>
        <p:cNvGrpSpPr/>
        <p:nvPr/>
      </p:nvGrpSpPr>
      <p:grpSpPr>
        <a:xfrm>
          <a:off x="0" y="0"/>
          <a:ext cx="0" cy="0"/>
          <a:chOff x="0" y="0"/>
          <a:chExt cx="0" cy="0"/>
        </a:xfrm>
      </p:grpSpPr>
      <p:sp>
        <p:nvSpPr>
          <p:cNvPr id="123" name="Google Shape;123;p66"/>
          <p:cNvSpPr txBox="1">
            <a:spLocks noGrp="1"/>
          </p:cNvSpPr>
          <p:nvPr>
            <p:ph type="body" idx="1"/>
          </p:nvPr>
        </p:nvSpPr>
        <p:spPr>
          <a:xfrm>
            <a:off x="-1590" y="1622759"/>
            <a:ext cx="12192003" cy="181913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143965"/>
              </a:buClr>
              <a:buSzPts val="6000"/>
              <a:buFont typeface="Arial"/>
              <a:buNone/>
              <a:defRPr sz="6000" b="1" i="0" u="none" strike="noStrike" cap="none">
                <a:solidFill>
                  <a:srgbClr val="143965"/>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4" name="Google Shape;124;p66"/>
          <p:cNvSpPr txBox="1">
            <a:spLocks noGrp="1"/>
          </p:cNvSpPr>
          <p:nvPr>
            <p:ph type="body" idx="2"/>
          </p:nvPr>
        </p:nvSpPr>
        <p:spPr>
          <a:xfrm>
            <a:off x="-1590" y="3641189"/>
            <a:ext cx="12190413" cy="822457"/>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43965"/>
              </a:buClr>
              <a:buSzPts val="4400"/>
              <a:buFont typeface="Arial"/>
              <a:buNone/>
              <a:defRPr sz="4400" b="0" i="0" u="none" strike="noStrike" cap="none">
                <a:solidFill>
                  <a:srgbClr val="143965"/>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5" name="Google Shape;125;p66"/>
          <p:cNvSpPr/>
          <p:nvPr/>
        </p:nvSpPr>
        <p:spPr>
          <a:xfrm rot="10800000" flipH="1">
            <a:off x="0" y="0"/>
            <a:ext cx="2467555" cy="954942"/>
          </a:xfrm>
          <a:prstGeom prst="round1Rect">
            <a:avLst>
              <a:gd name="adj" fmla="val 16667"/>
            </a:avLst>
          </a:prstGeom>
          <a:solidFill>
            <a:srgbClr val="14396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 name="Google Shape;126;p66"/>
          <p:cNvSpPr txBox="1"/>
          <p:nvPr/>
        </p:nvSpPr>
        <p:spPr>
          <a:xfrm>
            <a:off x="0" y="280732"/>
            <a:ext cx="246755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ENGLISH</a:t>
            </a:r>
            <a:endParaRPr/>
          </a:p>
        </p:txBody>
      </p:sp>
      <p:pic>
        <p:nvPicPr>
          <p:cNvPr id="127" name="Google Shape;127;p66" descr="A blue and black logo&#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8940726" y="132485"/>
            <a:ext cx="2910578" cy="954944"/>
          </a:xfrm>
          <a:prstGeom prst="rect">
            <a:avLst/>
          </a:prstGeom>
          <a:noFill/>
          <a:ln>
            <a:noFill/>
          </a:ln>
        </p:spPr>
      </p:pic>
      <p:sp>
        <p:nvSpPr>
          <p:cNvPr id="128" name="Google Shape;128;p66"/>
          <p:cNvSpPr txBox="1"/>
          <p:nvPr/>
        </p:nvSpPr>
        <p:spPr>
          <a:xfrm>
            <a:off x="10111407" y="100769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a:solidFill>
                  <a:srgbClr val="000000"/>
                </a:solidFill>
                <a:latin typeface="Calibri"/>
                <a:ea typeface="Calibri"/>
                <a:cs typeface="Calibri"/>
                <a:sym typeface="Calibri"/>
              </a:rPr>
              <a:t>Secondary Mathematics</a:t>
            </a:r>
            <a:endParaRPr/>
          </a:p>
        </p:txBody>
      </p:sp>
      <p:sp>
        <p:nvSpPr>
          <p:cNvPr id="129" name="Google Shape;129;p66"/>
          <p:cNvSpPr/>
          <p:nvPr/>
        </p:nvSpPr>
        <p:spPr>
          <a:xfrm>
            <a:off x="10236991" y="1306046"/>
            <a:ext cx="907774" cy="298608"/>
          </a:xfrm>
          <a:prstGeom prst="roundRect">
            <a:avLst>
              <a:gd name="adj" fmla="val 16667"/>
            </a:avLst>
          </a:prstGeom>
          <a:solidFill>
            <a:srgbClr val="D0CE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0" name="Google Shape;130;p66"/>
          <p:cNvSpPr txBox="1"/>
          <p:nvPr/>
        </p:nvSpPr>
        <p:spPr>
          <a:xfrm>
            <a:off x="10252484" y="1335768"/>
            <a:ext cx="868018" cy="2378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0">
                <a:solidFill>
                  <a:srgbClr val="757070"/>
                </a:solidFill>
                <a:latin typeface="Calibri"/>
                <a:ea typeface="Calibri"/>
                <a:cs typeface="Calibri"/>
                <a:sym typeface="Calibri"/>
              </a:rPr>
              <a:t>EDITION 1</a:t>
            </a:r>
            <a:endParaRPr/>
          </a:p>
        </p:txBody>
      </p:sp>
      <p:pic>
        <p:nvPicPr>
          <p:cNvPr id="131" name="Google Shape;131;p66" descr="A blue and white pattern&#10;&#10;AI-generated content may be incorrect."/>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 y="4663225"/>
            <a:ext cx="12190413" cy="219477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9_G2 Copyright">
  <p:cSld name="9_G2 Copyright">
    <p:bg>
      <p:bgPr>
        <a:solidFill>
          <a:schemeClr val="lt1"/>
        </a:solidFill>
        <a:effectLst/>
      </p:bgPr>
    </p:bg>
    <p:spTree>
      <p:nvGrpSpPr>
        <p:cNvPr id="1" name="Shape 132"/>
        <p:cNvGrpSpPr/>
        <p:nvPr/>
      </p:nvGrpSpPr>
      <p:grpSpPr>
        <a:xfrm>
          <a:off x="0" y="0"/>
          <a:ext cx="0" cy="0"/>
          <a:chOff x="0" y="0"/>
          <a:chExt cx="0" cy="0"/>
        </a:xfrm>
      </p:grpSpPr>
      <p:pic>
        <p:nvPicPr>
          <p:cNvPr id="133" name="Google Shape;133;p67"/>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932192"/>
            <a:ext cx="12190412" cy="5925808"/>
          </a:xfrm>
          <a:prstGeom prst="rect">
            <a:avLst/>
          </a:prstGeom>
          <a:noFill/>
          <a:ln>
            <a:noFill/>
          </a:ln>
        </p:spPr>
      </p:pic>
      <p:sp>
        <p:nvSpPr>
          <p:cNvPr id="134" name="Google Shape;134;p67"/>
          <p:cNvSpPr/>
          <p:nvPr/>
        </p:nvSpPr>
        <p:spPr>
          <a:xfrm>
            <a:off x="1668545" y="2356700"/>
            <a:ext cx="1715678" cy="2648931"/>
          </a:xfrm>
          <a:prstGeom prst="ellipse">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5" name="Google Shape;135;p67"/>
          <p:cNvSpPr/>
          <p:nvPr/>
        </p:nvSpPr>
        <p:spPr>
          <a:xfrm>
            <a:off x="1310326" y="4873659"/>
            <a:ext cx="2073897" cy="679000"/>
          </a:xfrm>
          <a:prstGeom prst="rect">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6" name="Google Shape;136;p67"/>
          <p:cNvSpPr txBox="1"/>
          <p:nvPr/>
        </p:nvSpPr>
        <p:spPr>
          <a:xfrm>
            <a:off x="1023907" y="1792363"/>
            <a:ext cx="10141011" cy="4247317"/>
          </a:xfrm>
          <a:prstGeom prst="rect">
            <a:avLst/>
          </a:prstGeom>
          <a:solidFill>
            <a:schemeClr val="lt1"/>
          </a:solidFill>
          <a:ln w="38100"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3A3838"/>
                </a:solidFill>
                <a:latin typeface="Calibri"/>
                <a:ea typeface="Calibri"/>
                <a:cs typeface="Calibri"/>
                <a:sym typeface="Calibri"/>
              </a:rPr>
              <a:t>Acknowledgment</a:t>
            </a:r>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Thank you to all the Texas educators and stakeholders who supported the review process and provided feedback. These materials are the result of the work of numerous individuals, and we are deeply grateful for their contributions.</a:t>
            </a:r>
            <a:endParaRPr sz="1800">
              <a:solidFill>
                <a:srgbClr val="3A3838"/>
              </a:solidFill>
              <a:latin typeface="Calibri"/>
              <a:ea typeface="Calibri"/>
              <a:cs typeface="Calibri"/>
              <a:sym typeface="Calibri"/>
            </a:endParaRPr>
          </a:p>
          <a:p>
            <a:pPr marL="0" marR="0" lvl="0" indent="0" algn="l" rtl="0">
              <a:spcBef>
                <a:spcPts val="0"/>
              </a:spcBef>
              <a:spcAft>
                <a:spcPts val="0"/>
              </a:spcAft>
              <a:buNone/>
            </a:pPr>
            <a:endParaRPr sz="1800">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b="1">
                <a:solidFill>
                  <a:srgbClr val="3A3838"/>
                </a:solidFill>
                <a:latin typeface="Calibri"/>
                <a:ea typeface="Calibri"/>
                <a:cs typeface="Calibri"/>
                <a:sym typeface="Calibri"/>
              </a:rPr>
              <a:t>Notice</a:t>
            </a:r>
            <a:endParaRPr sz="1800" b="1">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These learning resources have been built for Texas students, aligned to the Texas Essential Knowledge and Skills, and are made available pursuant to Chapter 31, Subchapter B-1 of the Texas Education Code.</a:t>
            </a:r>
            <a:endParaRPr sz="1800">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If you have further questions or to report an error, please email </a:t>
            </a:r>
            <a:r>
              <a:rPr lang="en-US" sz="1800" u="sng">
                <a:solidFill>
                  <a:srgbClr val="3A3838"/>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openeducationresources@tea.texas.gov</a:t>
            </a:r>
            <a:r>
              <a:rPr lang="en-US" sz="1800">
                <a:solidFill>
                  <a:srgbClr val="3A3838"/>
                </a:solidFill>
                <a:latin typeface="Calibri"/>
                <a:ea typeface="Calibri"/>
                <a:cs typeface="Calibri"/>
                <a:sym typeface="Calibri"/>
              </a:rPr>
              <a:t>.</a:t>
            </a:r>
            <a:endParaRPr/>
          </a:p>
          <a:p>
            <a:pPr marL="0" marR="0" lvl="0" indent="0" algn="l" rtl="0">
              <a:spcBef>
                <a:spcPts val="0"/>
              </a:spcBef>
              <a:spcAft>
                <a:spcPts val="0"/>
              </a:spcAft>
              <a:buNone/>
            </a:pPr>
            <a:endParaRPr sz="1800">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Copyright ©2024 Texas Education Agency. This work based on or adapted from materials contained in Great Minds' Eureka Math® K-5 PDF files. </a:t>
            </a:r>
            <a:endParaRPr/>
          </a:p>
          <a:p>
            <a:pPr marL="0" marR="0" lvl="0" indent="0" algn="l" rtl="0">
              <a:spcBef>
                <a:spcPts val="0"/>
              </a:spcBef>
              <a:spcAft>
                <a:spcPts val="0"/>
              </a:spcAft>
              <a:buNone/>
            </a:pPr>
            <a:endParaRPr sz="1800">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These materials are made available by the Texas Education Agency under an open license. For information about the license and your rights to use the materials, visit: </a:t>
            </a:r>
            <a:r>
              <a:rPr lang="en-US" sz="1800" u="sng">
                <a:solidFill>
                  <a:srgbClr val="3A3838"/>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https://tea.texas.gov/K-5Math</a:t>
            </a:r>
            <a:r>
              <a:rPr lang="en-US" sz="1800">
                <a:solidFill>
                  <a:srgbClr val="3A3838"/>
                </a:solidFill>
                <a:latin typeface="Calibri"/>
                <a:ea typeface="Calibri"/>
                <a:cs typeface="Calibri"/>
                <a:sym typeface="Calibri"/>
              </a:rPr>
              <a:t>. </a:t>
            </a:r>
            <a:endParaRPr/>
          </a:p>
        </p:txBody>
      </p:sp>
      <p:pic>
        <p:nvPicPr>
          <p:cNvPr id="137" name="Google Shape;137;p67" descr="A blue and black logo&#10;&#10;AI-generated content may be incorrect."/>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84963" y="101527"/>
            <a:ext cx="2080268" cy="682524"/>
          </a:xfrm>
          <a:prstGeom prst="rect">
            <a:avLst/>
          </a:prstGeom>
          <a:noFill/>
          <a:ln>
            <a:noFill/>
          </a:ln>
        </p:spPr>
      </p:pic>
      <p:sp>
        <p:nvSpPr>
          <p:cNvPr id="138" name="Google Shape;138;p67"/>
          <p:cNvSpPr txBox="1"/>
          <p:nvPr/>
        </p:nvSpPr>
        <p:spPr>
          <a:xfrm>
            <a:off x="862304" y="69238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a:solidFill>
                  <a:srgbClr val="000000"/>
                </a:solidFill>
                <a:latin typeface="Calibri"/>
                <a:ea typeface="Calibri"/>
                <a:cs typeface="Calibri"/>
                <a:sym typeface="Calibri"/>
              </a:rPr>
              <a:t>Secondary Mathematics</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Alg I_Activity">
  <p:cSld name="Alg I_Activity">
    <p:bg>
      <p:bgPr>
        <a:solidFill>
          <a:schemeClr val="lt1"/>
        </a:solidFill>
        <a:effectLst/>
      </p:bgPr>
    </p:bg>
    <p:spTree>
      <p:nvGrpSpPr>
        <p:cNvPr id="1" name="Shape 139"/>
        <p:cNvGrpSpPr/>
        <p:nvPr/>
      </p:nvGrpSpPr>
      <p:grpSpPr>
        <a:xfrm>
          <a:off x="0" y="0"/>
          <a:ext cx="0" cy="0"/>
          <a:chOff x="0" y="0"/>
          <a:chExt cx="0" cy="0"/>
        </a:xfrm>
      </p:grpSpPr>
      <p:pic>
        <p:nvPicPr>
          <p:cNvPr id="140" name="Google Shape;140;p68"/>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2316529"/>
            <a:ext cx="12190413" cy="2682141"/>
          </a:xfrm>
          <a:prstGeom prst="rect">
            <a:avLst/>
          </a:prstGeom>
          <a:noFill/>
          <a:ln>
            <a:noFill/>
          </a:ln>
        </p:spPr>
      </p:pic>
      <p:sp>
        <p:nvSpPr>
          <p:cNvPr id="141" name="Google Shape;141;p68"/>
          <p:cNvSpPr txBox="1"/>
          <p:nvPr/>
        </p:nvSpPr>
        <p:spPr>
          <a:xfrm>
            <a:off x="3352800" y="2984501"/>
            <a:ext cx="5499100" cy="1143000"/>
          </a:xfrm>
          <a:prstGeom prst="rect">
            <a:avLst/>
          </a:prstGeom>
          <a:solidFill>
            <a:srgbClr val="143965"/>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endParaRPr sz="7500" b="1">
              <a:solidFill>
                <a:schemeClr val="lt1"/>
              </a:solidFill>
              <a:latin typeface="Calibri"/>
              <a:ea typeface="Calibri"/>
              <a:cs typeface="Calibri"/>
              <a:sym typeface="Calibri"/>
            </a:endParaRPr>
          </a:p>
        </p:txBody>
      </p:sp>
      <p:sp>
        <p:nvSpPr>
          <p:cNvPr id="142" name="Google Shape;142;p68"/>
          <p:cNvSpPr txBox="1"/>
          <p:nvPr/>
        </p:nvSpPr>
        <p:spPr>
          <a:xfrm>
            <a:off x="3340100" y="3136900"/>
            <a:ext cx="3302000" cy="946413"/>
          </a:xfrm>
          <a:prstGeom prst="rect">
            <a:avLst/>
          </a:prstGeom>
          <a:noFill/>
          <a:ln>
            <a:noFill/>
          </a:ln>
        </p:spPr>
        <p:txBody>
          <a:bodyPr spcFirstLastPara="1" wrap="square" lIns="0" tIns="0" rIns="0" bIns="0" anchor="t" anchorCtr="0">
            <a:spAutoFit/>
          </a:bodyPr>
          <a:lstStyle/>
          <a:p>
            <a:pPr marL="0" marR="0" lvl="0" indent="0" algn="r" rtl="0">
              <a:lnSpc>
                <a:spcPct val="80000"/>
              </a:lnSpc>
              <a:spcBef>
                <a:spcPts val="0"/>
              </a:spcBef>
              <a:spcAft>
                <a:spcPts val="0"/>
              </a:spcAft>
              <a:buNone/>
            </a:pPr>
            <a:r>
              <a:rPr lang="en-US" sz="7500" b="1">
                <a:solidFill>
                  <a:schemeClr val="lt1"/>
                </a:solidFill>
                <a:latin typeface="Calibri"/>
                <a:ea typeface="Calibri"/>
                <a:cs typeface="Calibri"/>
                <a:sym typeface="Calibri"/>
              </a:rPr>
              <a:t>Activity </a:t>
            </a:r>
            <a:endParaRPr sz="7500" b="1">
              <a:solidFill>
                <a:schemeClr val="lt1"/>
              </a:solidFill>
              <a:latin typeface="Calibri"/>
              <a:ea typeface="Calibri"/>
              <a:cs typeface="Calibri"/>
              <a:sym typeface="Calibri"/>
            </a:endParaRPr>
          </a:p>
        </p:txBody>
      </p:sp>
      <p:sp>
        <p:nvSpPr>
          <p:cNvPr id="143" name="Google Shape;143;p68"/>
          <p:cNvSpPr txBox="1">
            <a:spLocks noGrp="1"/>
          </p:cNvSpPr>
          <p:nvPr>
            <p:ph type="body" idx="1"/>
          </p:nvPr>
        </p:nvSpPr>
        <p:spPr>
          <a:xfrm>
            <a:off x="6769100" y="2957776"/>
            <a:ext cx="2025986" cy="11255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7500"/>
              <a:buFont typeface="Arial"/>
              <a:buNone/>
              <a:defRPr sz="7500" b="1"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144" name="Google Shape;144;p68"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145" name="Google Shape;145;p68"/>
          <p:cNvSpPr txBox="1">
            <a:spLocks noGrp="1"/>
          </p:cNvSpPr>
          <p:nvPr>
            <p:ph type="body" idx="2"/>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Alg I_Talk the Talk">
  <p:cSld name="Alg I_Talk the Talk">
    <p:bg>
      <p:bgPr>
        <a:solidFill>
          <a:schemeClr val="lt1"/>
        </a:solidFill>
        <a:effectLst/>
      </p:bgPr>
    </p:bg>
    <p:spTree>
      <p:nvGrpSpPr>
        <p:cNvPr id="1" name="Shape 146"/>
        <p:cNvGrpSpPr/>
        <p:nvPr/>
      </p:nvGrpSpPr>
      <p:grpSpPr>
        <a:xfrm>
          <a:off x="0" y="0"/>
          <a:ext cx="0" cy="0"/>
          <a:chOff x="0" y="0"/>
          <a:chExt cx="0" cy="0"/>
        </a:xfrm>
      </p:grpSpPr>
      <p:pic>
        <p:nvPicPr>
          <p:cNvPr id="147" name="Google Shape;147;p69"/>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2316529"/>
            <a:ext cx="12190413" cy="2682141"/>
          </a:xfrm>
          <a:prstGeom prst="rect">
            <a:avLst/>
          </a:prstGeom>
          <a:noFill/>
          <a:ln>
            <a:noFill/>
          </a:ln>
        </p:spPr>
      </p:pic>
      <p:sp>
        <p:nvSpPr>
          <p:cNvPr id="148" name="Google Shape;148;p69"/>
          <p:cNvSpPr txBox="1"/>
          <p:nvPr/>
        </p:nvSpPr>
        <p:spPr>
          <a:xfrm>
            <a:off x="3352800" y="2984501"/>
            <a:ext cx="5499100" cy="1143000"/>
          </a:xfrm>
          <a:prstGeom prst="rect">
            <a:avLst/>
          </a:prstGeom>
          <a:solidFill>
            <a:srgbClr val="143965"/>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Talk the Talk</a:t>
            </a:r>
            <a:endParaRPr sz="7500" b="1">
              <a:solidFill>
                <a:schemeClr val="lt1"/>
              </a:solidFill>
              <a:latin typeface="Calibri"/>
              <a:ea typeface="Calibri"/>
              <a:cs typeface="Calibri"/>
              <a:sym typeface="Calibri"/>
            </a:endParaRPr>
          </a:p>
        </p:txBody>
      </p:sp>
      <p:pic>
        <p:nvPicPr>
          <p:cNvPr id="149" name="Google Shape;149;p69"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150" name="Google Shape;150;p69"/>
          <p:cNvSpPr txBox="1">
            <a:spLocks noGrp="1"/>
          </p:cNvSpPr>
          <p:nvPr>
            <p:ph type="body" idx="1"/>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Alg I_Getting Started">
  <p:cSld name="Alg I_Getting Started">
    <p:bg>
      <p:bgPr>
        <a:solidFill>
          <a:schemeClr val="lt1"/>
        </a:solidFill>
        <a:effectLst/>
      </p:bgPr>
    </p:bg>
    <p:spTree>
      <p:nvGrpSpPr>
        <p:cNvPr id="1" name="Shape 151"/>
        <p:cNvGrpSpPr/>
        <p:nvPr/>
      </p:nvGrpSpPr>
      <p:grpSpPr>
        <a:xfrm>
          <a:off x="0" y="0"/>
          <a:ext cx="0" cy="0"/>
          <a:chOff x="0" y="0"/>
          <a:chExt cx="0" cy="0"/>
        </a:xfrm>
      </p:grpSpPr>
      <p:pic>
        <p:nvPicPr>
          <p:cNvPr id="152" name="Google Shape;152;p70"/>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2316529"/>
            <a:ext cx="12190413" cy="2682141"/>
          </a:xfrm>
          <a:prstGeom prst="rect">
            <a:avLst/>
          </a:prstGeom>
          <a:noFill/>
          <a:ln>
            <a:noFill/>
          </a:ln>
        </p:spPr>
      </p:pic>
      <p:sp>
        <p:nvSpPr>
          <p:cNvPr id="153" name="Google Shape;153;p70" descr="A green and black pattern&#10;&#10;AI-generated content may be incorrect."/>
          <p:cNvSpPr txBox="1"/>
          <p:nvPr/>
        </p:nvSpPr>
        <p:spPr>
          <a:xfrm>
            <a:off x="2767915" y="2984501"/>
            <a:ext cx="6660292" cy="1143000"/>
          </a:xfrm>
          <a:prstGeom prst="rect">
            <a:avLst/>
          </a:prstGeom>
          <a:solidFill>
            <a:srgbClr val="143965"/>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Getting Started</a:t>
            </a:r>
            <a:endParaRPr sz="7500" b="1">
              <a:solidFill>
                <a:schemeClr val="lt1"/>
              </a:solidFill>
              <a:latin typeface="Calibri"/>
              <a:ea typeface="Calibri"/>
              <a:cs typeface="Calibri"/>
              <a:sym typeface="Calibri"/>
            </a:endParaRPr>
          </a:p>
        </p:txBody>
      </p:sp>
      <p:pic>
        <p:nvPicPr>
          <p:cNvPr id="154" name="Google Shape;154;p70"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155" name="Google Shape;155;p70"/>
          <p:cNvSpPr txBox="1">
            <a:spLocks noGrp="1"/>
          </p:cNvSpPr>
          <p:nvPr>
            <p:ph type="body" idx="1"/>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_Alg I_Getting Started">
  <p:cSld name="1_Alg I_Getting Started">
    <p:bg>
      <p:bgPr>
        <a:solidFill>
          <a:schemeClr val="lt1"/>
        </a:solidFill>
        <a:effectLst/>
      </p:bgPr>
    </p:bg>
    <p:spTree>
      <p:nvGrpSpPr>
        <p:cNvPr id="1" name="Shape 156"/>
        <p:cNvGrpSpPr/>
        <p:nvPr/>
      </p:nvGrpSpPr>
      <p:grpSpPr>
        <a:xfrm>
          <a:off x="0" y="0"/>
          <a:ext cx="0" cy="0"/>
          <a:chOff x="0" y="0"/>
          <a:chExt cx="0" cy="0"/>
        </a:xfrm>
      </p:grpSpPr>
      <p:pic>
        <p:nvPicPr>
          <p:cNvPr id="157" name="Google Shape;157;p71"/>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2316529"/>
            <a:ext cx="12190413" cy="2682141"/>
          </a:xfrm>
          <a:prstGeom prst="rect">
            <a:avLst/>
          </a:prstGeom>
          <a:noFill/>
          <a:ln>
            <a:noFill/>
          </a:ln>
        </p:spPr>
      </p:pic>
      <p:sp>
        <p:nvSpPr>
          <p:cNvPr id="158" name="Google Shape;158;p71" descr="A green and black pattern&#10;&#10;AI-generated content may be incorrect."/>
          <p:cNvSpPr txBox="1"/>
          <p:nvPr/>
        </p:nvSpPr>
        <p:spPr>
          <a:xfrm>
            <a:off x="3866323" y="2984501"/>
            <a:ext cx="4432852" cy="1143000"/>
          </a:xfrm>
          <a:prstGeom prst="rect">
            <a:avLst/>
          </a:prstGeom>
          <a:solidFill>
            <a:srgbClr val="143965"/>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Prepare</a:t>
            </a:r>
            <a:endParaRPr sz="7500" b="1">
              <a:solidFill>
                <a:schemeClr val="lt1"/>
              </a:solidFill>
              <a:latin typeface="Calibri"/>
              <a:ea typeface="Calibri"/>
              <a:cs typeface="Calibri"/>
              <a:sym typeface="Calibri"/>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Alg I_Session Divider">
  <p:cSld name="Alg I_Session Divider">
    <p:bg>
      <p:bgPr>
        <a:solidFill>
          <a:schemeClr val="lt1"/>
        </a:solidFill>
        <a:effectLst/>
      </p:bgPr>
    </p:bg>
    <p:spTree>
      <p:nvGrpSpPr>
        <p:cNvPr id="1" name="Shape 159"/>
        <p:cNvGrpSpPr/>
        <p:nvPr/>
      </p:nvGrpSpPr>
      <p:grpSpPr>
        <a:xfrm>
          <a:off x="0" y="0"/>
          <a:ext cx="0" cy="0"/>
          <a:chOff x="0" y="0"/>
          <a:chExt cx="0" cy="0"/>
        </a:xfrm>
      </p:grpSpPr>
      <p:sp>
        <p:nvSpPr>
          <p:cNvPr id="160" name="Google Shape;160;p72"/>
          <p:cNvSpPr txBox="1"/>
          <p:nvPr/>
        </p:nvSpPr>
        <p:spPr>
          <a:xfrm>
            <a:off x="4918157" y="2955793"/>
            <a:ext cx="1512037" cy="946413"/>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7500" b="1">
                <a:solidFill>
                  <a:srgbClr val="171616"/>
                </a:solidFill>
                <a:latin typeface="Calibri"/>
                <a:ea typeface="Calibri"/>
                <a:cs typeface="Calibri"/>
                <a:sym typeface="Calibri"/>
              </a:rPr>
              <a:t>Day</a:t>
            </a:r>
            <a:endParaRPr sz="7500" b="1">
              <a:solidFill>
                <a:srgbClr val="171616"/>
              </a:solidFill>
              <a:latin typeface="Calibri"/>
              <a:ea typeface="Calibri"/>
              <a:cs typeface="Calibri"/>
              <a:sym typeface="Calibri"/>
            </a:endParaRPr>
          </a:p>
        </p:txBody>
      </p:sp>
      <p:sp>
        <p:nvSpPr>
          <p:cNvPr id="161" name="Google Shape;161;p72"/>
          <p:cNvSpPr txBox="1">
            <a:spLocks noGrp="1"/>
          </p:cNvSpPr>
          <p:nvPr>
            <p:ph type="body" idx="1"/>
          </p:nvPr>
        </p:nvSpPr>
        <p:spPr>
          <a:xfrm>
            <a:off x="5578106" y="2843523"/>
            <a:ext cx="1061883" cy="1071562"/>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000000"/>
              </a:buClr>
              <a:buSzPts val="7500"/>
              <a:buFont typeface="Arial"/>
              <a:buNone/>
              <a:defRPr sz="7500" b="1" i="0" u="none" strike="noStrike" cap="none">
                <a:solidFill>
                  <a:srgbClr val="000000"/>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162" name="Google Shape;162;p72" descr="A blue and white pattern&#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4663225"/>
            <a:ext cx="12190413" cy="2194775"/>
          </a:xfrm>
          <a:prstGeom prst="rect">
            <a:avLst/>
          </a:prstGeom>
          <a:noFill/>
          <a:ln>
            <a:noFill/>
          </a:ln>
        </p:spPr>
      </p:pic>
      <p:pic>
        <p:nvPicPr>
          <p:cNvPr id="163" name="Google Shape;163;p72" descr="A blue and white pattern&#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rot="10800000">
            <a:off x="-794" y="0"/>
            <a:ext cx="12190413" cy="2194775"/>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Alg I_Cutouts Divider">
  <p:cSld name="Alg I_Cutouts Divider">
    <p:bg>
      <p:bgPr>
        <a:solidFill>
          <a:schemeClr val="lt1"/>
        </a:solidFill>
        <a:effectLst/>
      </p:bgPr>
    </p:bg>
    <p:spTree>
      <p:nvGrpSpPr>
        <p:cNvPr id="1" name="Shape 164"/>
        <p:cNvGrpSpPr/>
        <p:nvPr/>
      </p:nvGrpSpPr>
      <p:grpSpPr>
        <a:xfrm>
          <a:off x="0" y="0"/>
          <a:ext cx="0" cy="0"/>
          <a:chOff x="0" y="0"/>
          <a:chExt cx="0" cy="0"/>
        </a:xfrm>
      </p:grpSpPr>
      <p:sp>
        <p:nvSpPr>
          <p:cNvPr id="165" name="Google Shape;165;p73"/>
          <p:cNvSpPr txBox="1">
            <a:spLocks noGrp="1"/>
          </p:cNvSpPr>
          <p:nvPr>
            <p:ph type="body" idx="1"/>
          </p:nvPr>
        </p:nvSpPr>
        <p:spPr>
          <a:xfrm>
            <a:off x="5171005" y="2395538"/>
            <a:ext cx="1848402" cy="1033462"/>
          </a:xfrm>
          <a:prstGeom prst="rect">
            <a:avLst/>
          </a:prstGeom>
          <a:noFill/>
          <a:ln>
            <a:noFill/>
          </a:ln>
        </p:spPr>
        <p:txBody>
          <a:bodyPr spcFirstLastPara="1" wrap="square" lIns="91425" tIns="45700" rIns="91425" bIns="45700" anchor="t" anchorCtr="0">
            <a:noAutofit/>
          </a:bodyPr>
          <a:lstStyle>
            <a:lvl1pPr marL="457200" marR="0" lvl="0" indent="-704850" algn="l" rtl="0">
              <a:lnSpc>
                <a:spcPct val="90000"/>
              </a:lnSpc>
              <a:spcBef>
                <a:spcPts val="10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1pPr>
            <a:lvl2pPr marL="914400" marR="0" lvl="1"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2pPr>
            <a:lvl3pPr marL="1371600" marR="0" lvl="2"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3pPr>
            <a:lvl4pPr marL="1828800" marR="0" lvl="3"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4pPr>
            <a:lvl5pPr marL="2286000" marR="0" lvl="4"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166" name="Google Shape;166;p73" descr="A blue and white pattern&#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4663225"/>
            <a:ext cx="12190413" cy="219477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Alg I_Back Cover">
  <p:cSld name="Alg I_Back Cover">
    <p:bg>
      <p:bgPr>
        <a:solidFill>
          <a:schemeClr val="lt1"/>
        </a:solidFill>
        <a:effectLst/>
      </p:bgPr>
    </p:bg>
    <p:spTree>
      <p:nvGrpSpPr>
        <p:cNvPr id="1" name="Shape 167"/>
        <p:cNvGrpSpPr/>
        <p:nvPr/>
      </p:nvGrpSpPr>
      <p:grpSpPr>
        <a:xfrm>
          <a:off x="0" y="0"/>
          <a:ext cx="0" cy="0"/>
          <a:chOff x="0" y="0"/>
          <a:chExt cx="0" cy="0"/>
        </a:xfrm>
      </p:grpSpPr>
      <p:pic>
        <p:nvPicPr>
          <p:cNvPr id="168" name="Google Shape;168;p74" descr="A blue and white pattern&#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4663225"/>
            <a:ext cx="12190413" cy="2194775"/>
          </a:xfrm>
          <a:prstGeom prst="rect">
            <a:avLst/>
          </a:prstGeom>
          <a:noFill/>
          <a:ln>
            <a:noFill/>
          </a:ln>
        </p:spPr>
      </p:pic>
      <p:sp>
        <p:nvSpPr>
          <p:cNvPr id="169" name="Google Shape;169;p74"/>
          <p:cNvSpPr txBox="1">
            <a:spLocks noGrp="1"/>
          </p:cNvSpPr>
          <p:nvPr>
            <p:ph type="body" idx="1"/>
          </p:nvPr>
        </p:nvSpPr>
        <p:spPr>
          <a:xfrm>
            <a:off x="8155889" y="4975063"/>
            <a:ext cx="3431356" cy="414778"/>
          </a:xfrm>
          <a:prstGeom prst="rect">
            <a:avLst/>
          </a:prstGeom>
          <a:solidFill>
            <a:srgbClr val="143965"/>
          </a:solidFill>
          <a:ln>
            <a:noFill/>
          </a:ln>
        </p:spPr>
        <p:txBody>
          <a:bodyPr spcFirstLastPara="1" wrap="square" lIns="0" tIns="45700" rIns="0" bIns="45700" anchor="ctr" anchorCtr="0">
            <a:noAutofit/>
          </a:bodyPr>
          <a:lstStyle>
            <a:lvl1pPr marL="457200" marR="0" lvl="0" indent="-228600" algn="ctr"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170" name="Google Shape;170;p74"/>
          <p:cNvGrpSpPr/>
          <p:nvPr/>
        </p:nvGrpSpPr>
        <p:grpSpPr>
          <a:xfrm>
            <a:off x="9053008" y="227306"/>
            <a:ext cx="2910578" cy="1472169"/>
            <a:chOff x="8940726" y="132485"/>
            <a:chExt cx="2910578" cy="1472169"/>
          </a:xfrm>
        </p:grpSpPr>
        <p:pic>
          <p:nvPicPr>
            <p:cNvPr id="171" name="Google Shape;171;p74" descr="A blue and black logo&#10;&#10;AI-generated content may be incorrect."/>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8940726" y="132485"/>
              <a:ext cx="2910578" cy="954944"/>
            </a:xfrm>
            <a:prstGeom prst="rect">
              <a:avLst/>
            </a:prstGeom>
            <a:noFill/>
            <a:ln>
              <a:noFill/>
            </a:ln>
          </p:spPr>
        </p:pic>
        <p:sp>
          <p:nvSpPr>
            <p:cNvPr id="172" name="Google Shape;172;p74"/>
            <p:cNvSpPr txBox="1"/>
            <p:nvPr/>
          </p:nvSpPr>
          <p:spPr>
            <a:xfrm>
              <a:off x="10111407" y="100769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a:solidFill>
                    <a:srgbClr val="000000"/>
                  </a:solidFill>
                  <a:latin typeface="Calibri"/>
                  <a:ea typeface="Calibri"/>
                  <a:cs typeface="Calibri"/>
                  <a:sym typeface="Calibri"/>
                </a:rPr>
                <a:t>Secondary Mathematics</a:t>
              </a:r>
              <a:endParaRPr/>
            </a:p>
          </p:txBody>
        </p:sp>
        <p:sp>
          <p:nvSpPr>
            <p:cNvPr id="173" name="Google Shape;173;p74"/>
            <p:cNvSpPr/>
            <p:nvPr/>
          </p:nvSpPr>
          <p:spPr>
            <a:xfrm>
              <a:off x="10236991" y="1306046"/>
              <a:ext cx="907774" cy="298608"/>
            </a:xfrm>
            <a:prstGeom prst="roundRect">
              <a:avLst>
                <a:gd name="adj" fmla="val 16667"/>
              </a:avLst>
            </a:prstGeom>
            <a:solidFill>
              <a:srgbClr val="D0CE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4" name="Google Shape;174;p74"/>
            <p:cNvSpPr txBox="1"/>
            <p:nvPr/>
          </p:nvSpPr>
          <p:spPr>
            <a:xfrm>
              <a:off x="10252484" y="1335768"/>
              <a:ext cx="868018" cy="2378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0">
                  <a:solidFill>
                    <a:srgbClr val="757070"/>
                  </a:solidFill>
                  <a:latin typeface="Calibri"/>
                  <a:ea typeface="Calibri"/>
                  <a:cs typeface="Calibri"/>
                  <a:sym typeface="Calibri"/>
                </a:rPr>
                <a:t>EDITION 1</a:t>
              </a:r>
              <a:endParaRPr/>
            </a:p>
          </p:txBody>
        </p:sp>
      </p:grpSp>
      <p:sp>
        <p:nvSpPr>
          <p:cNvPr id="175" name="Google Shape;175;p74"/>
          <p:cNvSpPr/>
          <p:nvPr/>
        </p:nvSpPr>
        <p:spPr>
          <a:xfrm rot="10800000" flipH="1">
            <a:off x="0" y="0"/>
            <a:ext cx="2467555" cy="954942"/>
          </a:xfrm>
          <a:prstGeom prst="round1Rect">
            <a:avLst>
              <a:gd name="adj" fmla="val 16667"/>
            </a:avLst>
          </a:prstGeom>
          <a:solidFill>
            <a:srgbClr val="14396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6" name="Google Shape;176;p74"/>
          <p:cNvSpPr txBox="1"/>
          <p:nvPr/>
        </p:nvSpPr>
        <p:spPr>
          <a:xfrm>
            <a:off x="0" y="280732"/>
            <a:ext cx="246755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ENGLISH</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Objective">
  <p:cSld name="Objective">
    <p:spTree>
      <p:nvGrpSpPr>
        <p:cNvPr id="1" name="Shape 177"/>
        <p:cNvGrpSpPr/>
        <p:nvPr/>
      </p:nvGrpSpPr>
      <p:grpSpPr>
        <a:xfrm>
          <a:off x="0" y="0"/>
          <a:ext cx="0" cy="0"/>
          <a:chOff x="0" y="0"/>
          <a:chExt cx="0" cy="0"/>
        </a:xfrm>
      </p:grpSpPr>
      <p:sp>
        <p:nvSpPr>
          <p:cNvPr id="178" name="Google Shape;178;p75"/>
          <p:cNvSpPr/>
          <p:nvPr/>
        </p:nvSpPr>
        <p:spPr>
          <a:xfrm>
            <a:off x="-1586" y="1392600"/>
            <a:ext cx="12192000" cy="549097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9" name="Google Shape;179;p75"/>
          <p:cNvSpPr txBox="1">
            <a:spLocks noGrp="1"/>
          </p:cNvSpPr>
          <p:nvPr>
            <p:ph type="body" idx="1"/>
          </p:nvPr>
        </p:nvSpPr>
        <p:spPr>
          <a:xfrm>
            <a:off x="836614" y="2159879"/>
            <a:ext cx="10515599" cy="395641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3A3838"/>
              </a:buClr>
              <a:buSzPts val="4400"/>
              <a:buFont typeface="Arial"/>
              <a:buNone/>
              <a:defRPr sz="4400" b="0" i="0" u="none" strike="noStrike" cap="none">
                <a:solidFill>
                  <a:srgbClr val="3A3838"/>
                </a:solidFill>
                <a:latin typeface="Calibri"/>
                <a:ea typeface="Calibri"/>
                <a:cs typeface="Calibri"/>
                <a:sym typeface="Calibri"/>
              </a:defRPr>
            </a:lvl1pPr>
            <a:lvl2pPr marL="914400" marR="0" lvl="1"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2pPr>
            <a:lvl3pPr marL="1371600" marR="0" lvl="2"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3pPr>
            <a:lvl4pPr marL="1828800" marR="0" lvl="3"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4pPr>
            <a:lvl5pPr marL="2286000" marR="0" lvl="4"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0" name="Google Shape;180;p75"/>
          <p:cNvSpPr/>
          <p:nvPr/>
        </p:nvSpPr>
        <p:spPr>
          <a:xfrm>
            <a:off x="0" y="0"/>
            <a:ext cx="7575442" cy="927652"/>
          </a:xfrm>
          <a:prstGeom prst="rect">
            <a:avLst/>
          </a:prstGeom>
          <a:solidFill>
            <a:srgbClr val="14396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81" name="Google Shape;181;p75"/>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7575442" y="0"/>
            <a:ext cx="4614969" cy="931321"/>
          </a:xfrm>
          <a:prstGeom prst="rect">
            <a:avLst/>
          </a:prstGeom>
          <a:noFill/>
          <a:ln>
            <a:noFill/>
          </a:ln>
        </p:spPr>
      </p:pic>
      <p:sp>
        <p:nvSpPr>
          <p:cNvPr id="182" name="Google Shape;182;p75"/>
          <p:cNvSpPr txBox="1">
            <a:spLocks noGrp="1"/>
          </p:cNvSpPr>
          <p:nvPr>
            <p:ph type="title"/>
          </p:nvPr>
        </p:nvSpPr>
        <p:spPr>
          <a:xfrm>
            <a:off x="0" y="0"/>
            <a:ext cx="6094413" cy="926757"/>
          </a:xfrm>
          <a:prstGeom prst="rect">
            <a:avLst/>
          </a:prstGeom>
          <a:noFill/>
          <a:ln>
            <a:noFill/>
          </a:ln>
        </p:spPr>
        <p:txBody>
          <a:bodyPr spcFirstLastPara="1" wrap="square" lIns="457200" tIns="45700" rIns="91425" bIns="45700" anchor="ctr" anchorCtr="0">
            <a:noAutofit/>
          </a:bodyPr>
          <a:lstStyle>
            <a:lvl1pPr marR="0" lvl="0" algn="l" rtl="0">
              <a:lnSpc>
                <a:spcPct val="90000"/>
              </a:lnSpc>
              <a:spcBef>
                <a:spcPts val="0"/>
              </a:spcBef>
              <a:spcAft>
                <a:spcPts val="0"/>
              </a:spcAft>
              <a:buClr>
                <a:schemeClr val="lt1"/>
              </a:buClr>
              <a:buSzPts val="4000"/>
              <a:buFont typeface="Calibri"/>
              <a:buNone/>
              <a:defRPr sz="4000" b="1"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erminology">
  <p:cSld name="Terminology">
    <p:bg>
      <p:bgPr>
        <a:solidFill>
          <a:schemeClr val="lt1"/>
        </a:solidFill>
        <a:effectLst/>
      </p:bgPr>
    </p:bg>
    <p:spTree>
      <p:nvGrpSpPr>
        <p:cNvPr id="1" name="Shape 183"/>
        <p:cNvGrpSpPr/>
        <p:nvPr/>
      </p:nvGrpSpPr>
      <p:grpSpPr>
        <a:xfrm>
          <a:off x="0" y="0"/>
          <a:ext cx="0" cy="0"/>
          <a:chOff x="0" y="0"/>
          <a:chExt cx="0" cy="0"/>
        </a:xfrm>
      </p:grpSpPr>
      <p:sp>
        <p:nvSpPr>
          <p:cNvPr id="184" name="Google Shape;184;p76"/>
          <p:cNvSpPr txBox="1">
            <a:spLocks noGrp="1"/>
          </p:cNvSpPr>
          <p:nvPr>
            <p:ph type="body" idx="1"/>
          </p:nvPr>
        </p:nvSpPr>
        <p:spPr>
          <a:xfrm>
            <a:off x="852488" y="1652588"/>
            <a:ext cx="10515600" cy="116974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A3838"/>
              </a:buClr>
              <a:buSzPts val="2800"/>
              <a:buFont typeface="Arial"/>
              <a:buNone/>
              <a:defRPr sz="2800" b="0" i="0" u="none" strike="noStrike" cap="none">
                <a:solidFill>
                  <a:srgbClr val="3A383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5" name="Google Shape;185;p76"/>
          <p:cNvSpPr>
            <a:spLocks noGrp="1"/>
          </p:cNvSpPr>
          <p:nvPr>
            <p:ph type="pic" idx="2"/>
          </p:nvPr>
        </p:nvSpPr>
        <p:spPr>
          <a:xfrm>
            <a:off x="3427412" y="3217943"/>
            <a:ext cx="5335588" cy="2505075"/>
          </a:xfrm>
          <a:prstGeom prst="rect">
            <a:avLst/>
          </a:prstGeom>
          <a:noFill/>
          <a:ln>
            <a:noFill/>
          </a:ln>
        </p:spPr>
      </p:sp>
      <p:sp>
        <p:nvSpPr>
          <p:cNvPr id="186" name="Google Shape;186;p76"/>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2B8147"/>
              </a:buClr>
              <a:buSzPts val="4000"/>
              <a:buFont typeface="Calibri"/>
              <a:buNone/>
              <a:defRPr sz="4000" b="0" i="0" u="none" strike="noStrike" cap="none">
                <a:solidFill>
                  <a:srgbClr val="2B8147"/>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87" name="Google Shape;187;p76"/>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0"/>
            <a:ext cx="322982" cy="685800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Application Problem Text">
  <p:cSld name="Application Problem Text">
    <p:spTree>
      <p:nvGrpSpPr>
        <p:cNvPr id="1" name="Shape 188"/>
        <p:cNvGrpSpPr/>
        <p:nvPr/>
      </p:nvGrpSpPr>
      <p:grpSpPr>
        <a:xfrm>
          <a:off x="0" y="0"/>
          <a:ext cx="0" cy="0"/>
          <a:chOff x="0" y="0"/>
          <a:chExt cx="0" cy="0"/>
        </a:xfrm>
      </p:grpSpPr>
      <p:pic>
        <p:nvPicPr>
          <p:cNvPr id="189" name="Google Shape;189;p77"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190" name="Google Shape;190;p77"/>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1" name="Google Shape;191;p77"/>
          <p:cNvSpPr txBox="1">
            <a:spLocks noGrp="1"/>
          </p:cNvSpPr>
          <p:nvPr>
            <p:ph type="body" idx="2"/>
          </p:nvPr>
        </p:nvSpPr>
        <p:spPr>
          <a:xfrm>
            <a:off x="11127476" y="6036181"/>
            <a:ext cx="654216"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2" name="Google Shape;192;p77"/>
          <p:cNvSpPr txBox="1">
            <a:spLocks noGrp="1"/>
          </p:cNvSpPr>
          <p:nvPr>
            <p:ph type="title"/>
          </p:nvPr>
        </p:nvSpPr>
        <p:spPr>
          <a:xfrm>
            <a:off x="777240" y="0"/>
            <a:ext cx="11389135" cy="1253765"/>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93" name="Google Shape;193;p77"/>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2" cy="685800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1_RDW_Horizontal">
  <p:cSld name="1_RDW_Horizontal">
    <p:spTree>
      <p:nvGrpSpPr>
        <p:cNvPr id="1" name="Shape 194"/>
        <p:cNvGrpSpPr/>
        <p:nvPr/>
      </p:nvGrpSpPr>
      <p:grpSpPr>
        <a:xfrm>
          <a:off x="0" y="0"/>
          <a:ext cx="0" cy="0"/>
          <a:chOff x="0" y="0"/>
          <a:chExt cx="0" cy="0"/>
        </a:xfrm>
      </p:grpSpPr>
      <p:graphicFrame>
        <p:nvGraphicFramePr>
          <p:cNvPr id="195" name="Google Shape;195;p78"/>
          <p:cNvGraphicFramePr/>
          <p:nvPr/>
        </p:nvGraphicFramePr>
        <p:xfrm>
          <a:off x="775252" y="3783769"/>
          <a:ext cx="3000000" cy="3000000"/>
        </p:xfrm>
        <a:graphic>
          <a:graphicData uri="http://schemas.openxmlformats.org/drawingml/2006/table">
            <a:tbl>
              <a:tblPr>
                <a:noFill/>
                <a:tableStyleId>{F7D8C473-989F-46CF-8A33-2A7C700182BB}</a:tableStyleId>
              </a:tblPr>
              <a:tblGrid>
                <a:gridCol w="3694050">
                  <a:extLst>
                    <a:ext uri="{9D8B030D-6E8A-4147-A177-3AD203B41FA5}">
                      <a16:colId xmlns:a16="http://schemas.microsoft.com/office/drawing/2014/main" val="20000"/>
                    </a:ext>
                  </a:extLst>
                </a:gridCol>
                <a:gridCol w="3694050">
                  <a:extLst>
                    <a:ext uri="{9D8B030D-6E8A-4147-A177-3AD203B41FA5}">
                      <a16:colId xmlns:a16="http://schemas.microsoft.com/office/drawing/2014/main" val="20001"/>
                    </a:ext>
                  </a:extLst>
                </a:gridCol>
                <a:gridCol w="3694050">
                  <a:extLst>
                    <a:ext uri="{9D8B030D-6E8A-4147-A177-3AD203B41FA5}">
                      <a16:colId xmlns:a16="http://schemas.microsoft.com/office/drawing/2014/main" val="20002"/>
                    </a:ext>
                  </a:extLst>
                </a:gridCol>
              </a:tblGrid>
              <a:tr h="244000">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Read</a:t>
                      </a:r>
                      <a:endParaRPr sz="1800" b="1" u="none" strike="noStrike" cap="none">
                        <a:solidFill>
                          <a:srgbClr val="3A3838"/>
                        </a:solidFill>
                      </a:endParaRPr>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Draw</a:t>
                      </a:r>
                      <a:endParaRPr sz="1800" b="1" u="none" strike="noStrike" cap="none">
                        <a:solidFill>
                          <a:srgbClr val="3A3838"/>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Write</a:t>
                      </a:r>
                      <a:endParaRPr sz="1800" b="1" u="none" strike="noStrike" cap="none">
                        <a:solidFill>
                          <a:srgbClr val="3A3838"/>
                        </a:solidFill>
                      </a:endParaRPr>
                    </a:p>
                  </a:txBody>
                  <a:tcPr marL="91450" marR="91450" marT="45725" marB="45725">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3090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96" name="Google Shape;196;p78"/>
          <p:cNvSpPr txBox="1">
            <a:spLocks noGrp="1"/>
          </p:cNvSpPr>
          <p:nvPr>
            <p:ph type="body" idx="1"/>
          </p:nvPr>
        </p:nvSpPr>
        <p:spPr>
          <a:xfrm>
            <a:off x="765313" y="1479938"/>
            <a:ext cx="11060341" cy="207215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A3838"/>
              </a:buClr>
              <a:buSzPts val="2200"/>
              <a:buFont typeface="Arial"/>
              <a:buNone/>
              <a:defRPr sz="2200" b="0" i="0" u="none" strike="noStrike" cap="none">
                <a:solidFill>
                  <a:srgbClr val="3A383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7" name="Google Shape;197;p78"/>
          <p:cNvSpPr txBox="1">
            <a:spLocks noGrp="1"/>
          </p:cNvSpPr>
          <p:nvPr>
            <p:ph type="title"/>
          </p:nvPr>
        </p:nvSpPr>
        <p:spPr>
          <a:xfrm>
            <a:off x="772211" y="0"/>
            <a:ext cx="1141820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98" name="Google Shape;198;p78"/>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0"/>
            <a:ext cx="322982" cy="685800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Fluency w/Timer">
  <p:cSld name="Fluency w/Timer">
    <p:spTree>
      <p:nvGrpSpPr>
        <p:cNvPr id="1" name="Shape 199"/>
        <p:cNvGrpSpPr/>
        <p:nvPr/>
      </p:nvGrpSpPr>
      <p:grpSpPr>
        <a:xfrm>
          <a:off x="0" y="0"/>
          <a:ext cx="0" cy="0"/>
          <a:chOff x="0" y="0"/>
          <a:chExt cx="0" cy="0"/>
        </a:xfrm>
      </p:grpSpPr>
      <p:pic>
        <p:nvPicPr>
          <p:cNvPr id="200" name="Google Shape;200;p79"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201" name="Google Shape;201;p79"/>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2" name="Google Shape;202;p79"/>
          <p:cNvSpPr txBox="1">
            <a:spLocks noGrp="1"/>
          </p:cNvSpPr>
          <p:nvPr>
            <p:ph type="body" idx="2"/>
          </p:nvPr>
        </p:nvSpPr>
        <p:spPr>
          <a:xfrm>
            <a:off x="11127476" y="6036181"/>
            <a:ext cx="654216"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3" name="Google Shape;203;p79"/>
          <p:cNvSpPr txBox="1">
            <a:spLocks noGrp="1"/>
          </p:cNvSpPr>
          <p:nvPr>
            <p:ph type="title"/>
          </p:nvPr>
        </p:nvSpPr>
        <p:spPr>
          <a:xfrm>
            <a:off x="777240" y="7968"/>
            <a:ext cx="11413173" cy="12694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3A3838"/>
              </a:buClr>
              <a:buSzPts val="4400"/>
              <a:buFont typeface="Calibri"/>
              <a:buNone/>
              <a:defRPr sz="4400" b="1" i="0" u="none" strike="noStrike" cap="none">
                <a:solidFill>
                  <a:srgbClr val="3A3838"/>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204" name="Google Shape;204;p79"/>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2" cy="68580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oncept Development">
  <p:cSld name="Concept Development">
    <p:spTree>
      <p:nvGrpSpPr>
        <p:cNvPr id="1" name="Shape 205"/>
        <p:cNvGrpSpPr/>
        <p:nvPr/>
      </p:nvGrpSpPr>
      <p:grpSpPr>
        <a:xfrm>
          <a:off x="0" y="0"/>
          <a:ext cx="0" cy="0"/>
          <a:chOff x="0" y="0"/>
          <a:chExt cx="0" cy="0"/>
        </a:xfrm>
      </p:grpSpPr>
      <p:sp>
        <p:nvSpPr>
          <p:cNvPr id="206" name="Google Shape;206;p8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7" name="Google Shape;207;p80"/>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208" name="Google Shape;208;p80"/>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0"/>
            <a:ext cx="322982" cy="6858000"/>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oncept Development with Timer">
  <p:cSld name="Concept Development with Timer">
    <p:spTree>
      <p:nvGrpSpPr>
        <p:cNvPr id="1" name="Shape 209"/>
        <p:cNvGrpSpPr/>
        <p:nvPr/>
      </p:nvGrpSpPr>
      <p:grpSpPr>
        <a:xfrm>
          <a:off x="0" y="0"/>
          <a:ext cx="0" cy="0"/>
          <a:chOff x="0" y="0"/>
          <a:chExt cx="0" cy="0"/>
        </a:xfrm>
      </p:grpSpPr>
      <p:pic>
        <p:nvPicPr>
          <p:cNvPr id="210" name="Google Shape;210;p81"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211" name="Google Shape;211;p81"/>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12" name="Google Shape;212;p81"/>
          <p:cNvSpPr txBox="1">
            <a:spLocks noGrp="1"/>
          </p:cNvSpPr>
          <p:nvPr>
            <p:ph type="body" idx="2"/>
          </p:nvPr>
        </p:nvSpPr>
        <p:spPr>
          <a:xfrm>
            <a:off x="11127570" y="6036181"/>
            <a:ext cx="654121"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13" name="Google Shape;213;p81"/>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214" name="Google Shape;214;p81"/>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2" cy="6858000"/>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Problem Set with Text">
  <p:cSld name="Problem Set with Text">
    <p:spTree>
      <p:nvGrpSpPr>
        <p:cNvPr id="1" name="Shape 215"/>
        <p:cNvGrpSpPr/>
        <p:nvPr/>
      </p:nvGrpSpPr>
      <p:grpSpPr>
        <a:xfrm>
          <a:off x="0" y="0"/>
          <a:ext cx="0" cy="0"/>
          <a:chOff x="0" y="0"/>
          <a:chExt cx="0" cy="0"/>
        </a:xfrm>
      </p:grpSpPr>
      <p:pic>
        <p:nvPicPr>
          <p:cNvPr id="216" name="Google Shape;216;p82"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217" name="Google Shape;217;p82"/>
          <p:cNvSpPr txBox="1">
            <a:spLocks noGrp="1"/>
          </p:cNvSpPr>
          <p:nvPr>
            <p:ph type="body" idx="1"/>
          </p:nvPr>
        </p:nvSpPr>
        <p:spPr>
          <a:xfrm>
            <a:off x="11140001" y="6036181"/>
            <a:ext cx="622969"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18" name="Google Shape;218;p82"/>
          <p:cNvSpPr txBox="1">
            <a:spLocks noGrp="1"/>
          </p:cNvSpPr>
          <p:nvPr>
            <p:ph type="title"/>
          </p:nvPr>
        </p:nvSpPr>
        <p:spPr>
          <a:xfrm>
            <a:off x="777240" y="1"/>
            <a:ext cx="11407898"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19" name="Google Shape;219;p82"/>
          <p:cNvSpPr txBox="1">
            <a:spLocks noGrp="1"/>
          </p:cNvSpPr>
          <p:nvPr>
            <p:ph type="body" idx="2"/>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220" name="Google Shape;220;p82"/>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2" cy="6858000"/>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tudent Debrief">
  <p:cSld name="Student Debrief">
    <p:spTree>
      <p:nvGrpSpPr>
        <p:cNvPr id="1" name="Shape 221"/>
        <p:cNvGrpSpPr/>
        <p:nvPr/>
      </p:nvGrpSpPr>
      <p:grpSpPr>
        <a:xfrm>
          <a:off x="0" y="0"/>
          <a:ext cx="0" cy="0"/>
          <a:chOff x="0" y="0"/>
          <a:chExt cx="0" cy="0"/>
        </a:xfrm>
      </p:grpSpPr>
      <p:pic>
        <p:nvPicPr>
          <p:cNvPr id="222" name="Google Shape;222;p83"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223" name="Google Shape;223;p83"/>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chemeClr val="dk1"/>
              </a:buClr>
              <a:buSzPts val="2800"/>
              <a:buFont typeface="Arial"/>
              <a:buChar char="•"/>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10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10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1000"/>
              </a:spcBef>
              <a:spcAft>
                <a:spcPts val="100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4" name="Google Shape;224;p83"/>
          <p:cNvSpPr txBox="1">
            <a:spLocks noGrp="1"/>
          </p:cNvSpPr>
          <p:nvPr>
            <p:ph type="body" idx="2"/>
          </p:nvPr>
        </p:nvSpPr>
        <p:spPr>
          <a:xfrm>
            <a:off x="11127570" y="6036181"/>
            <a:ext cx="645330"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5" name="Google Shape;225;p83"/>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226" name="Google Shape;226;p83"/>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2" cy="6858000"/>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Exit Ticket">
  <p:cSld name="Exit Ticket">
    <p:spTree>
      <p:nvGrpSpPr>
        <p:cNvPr id="1" name="Shape 227"/>
        <p:cNvGrpSpPr/>
        <p:nvPr/>
      </p:nvGrpSpPr>
      <p:grpSpPr>
        <a:xfrm>
          <a:off x="0" y="0"/>
          <a:ext cx="0" cy="0"/>
          <a:chOff x="0" y="0"/>
          <a:chExt cx="0" cy="0"/>
        </a:xfrm>
      </p:grpSpPr>
      <p:pic>
        <p:nvPicPr>
          <p:cNvPr id="228" name="Google Shape;228;p84"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229" name="Google Shape;229;p84"/>
          <p:cNvSpPr txBox="1">
            <a:spLocks noGrp="1"/>
          </p:cNvSpPr>
          <p:nvPr>
            <p:ph type="body" idx="1"/>
          </p:nvPr>
        </p:nvSpPr>
        <p:spPr>
          <a:xfrm>
            <a:off x="11127571" y="6036181"/>
            <a:ext cx="635400"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0" name="Google Shape;230;p84"/>
          <p:cNvSpPr txBox="1">
            <a:spLocks noGrp="1"/>
          </p:cNvSpPr>
          <p:nvPr>
            <p:ph type="body" idx="2"/>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1000"/>
              </a:spcBef>
              <a:spcAft>
                <a:spcPts val="0"/>
              </a:spcAft>
              <a:buClr>
                <a:schemeClr val="dk1"/>
              </a:buClr>
              <a:buSzPts val="2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10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10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1000"/>
              </a:spcBef>
              <a:spcAft>
                <a:spcPts val="100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1" name="Google Shape;231;p84"/>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232" name="Google Shape;232;p84"/>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2" cy="6858000"/>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2_Alg I_Title Slide">
  <p:cSld name="2_Alg I_Title Slide">
    <p:bg>
      <p:bgPr>
        <a:solidFill>
          <a:schemeClr val="lt1"/>
        </a:solidFill>
        <a:effectLst/>
      </p:bgPr>
    </p:bg>
    <p:spTree>
      <p:nvGrpSpPr>
        <p:cNvPr id="1" name="Shape 234"/>
        <p:cNvGrpSpPr/>
        <p:nvPr/>
      </p:nvGrpSpPr>
      <p:grpSpPr>
        <a:xfrm>
          <a:off x="0" y="0"/>
          <a:ext cx="0" cy="0"/>
          <a:chOff x="0" y="0"/>
          <a:chExt cx="0" cy="0"/>
        </a:xfrm>
      </p:grpSpPr>
      <p:sp>
        <p:nvSpPr>
          <p:cNvPr id="235" name="Google Shape;235;p86"/>
          <p:cNvSpPr txBox="1">
            <a:spLocks noGrp="1"/>
          </p:cNvSpPr>
          <p:nvPr>
            <p:ph type="body" idx="1"/>
          </p:nvPr>
        </p:nvSpPr>
        <p:spPr>
          <a:xfrm>
            <a:off x="-1590" y="1622759"/>
            <a:ext cx="12192003" cy="181913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61449B"/>
              </a:buClr>
              <a:buSzPts val="6000"/>
              <a:buFont typeface="Arial"/>
              <a:buNone/>
              <a:defRPr sz="6000" b="1" i="0" u="none" strike="noStrike" cap="none">
                <a:solidFill>
                  <a:srgbClr val="61449B"/>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6" name="Google Shape;236;p86"/>
          <p:cNvSpPr txBox="1">
            <a:spLocks noGrp="1"/>
          </p:cNvSpPr>
          <p:nvPr>
            <p:ph type="body" idx="2"/>
          </p:nvPr>
        </p:nvSpPr>
        <p:spPr>
          <a:xfrm>
            <a:off x="-1590" y="3641189"/>
            <a:ext cx="12190413" cy="822457"/>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43965"/>
              </a:buClr>
              <a:buSzPts val="4400"/>
              <a:buFont typeface="Arial"/>
              <a:buNone/>
              <a:defRPr sz="4400" b="0" i="0" u="none" strike="noStrike" cap="none">
                <a:solidFill>
                  <a:srgbClr val="143965"/>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7" name="Google Shape;237;p86"/>
          <p:cNvSpPr/>
          <p:nvPr/>
        </p:nvSpPr>
        <p:spPr>
          <a:xfrm rot="10800000" flipH="1">
            <a:off x="0" y="0"/>
            <a:ext cx="2467555" cy="954942"/>
          </a:xfrm>
          <a:prstGeom prst="round1Rect">
            <a:avLst>
              <a:gd name="adj" fmla="val 16667"/>
            </a:avLst>
          </a:prstGeom>
          <a:solidFill>
            <a:srgbClr val="61449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8" name="Google Shape;238;p86"/>
          <p:cNvSpPr txBox="1"/>
          <p:nvPr/>
        </p:nvSpPr>
        <p:spPr>
          <a:xfrm>
            <a:off x="0" y="280732"/>
            <a:ext cx="246755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ENGLISH</a:t>
            </a:r>
            <a:endParaRPr/>
          </a:p>
        </p:txBody>
      </p:sp>
      <p:pic>
        <p:nvPicPr>
          <p:cNvPr id="239" name="Google Shape;239;p86" descr="A blue and black logo&#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8940726" y="132485"/>
            <a:ext cx="2910578" cy="954944"/>
          </a:xfrm>
          <a:prstGeom prst="rect">
            <a:avLst/>
          </a:prstGeom>
          <a:noFill/>
          <a:ln>
            <a:noFill/>
          </a:ln>
        </p:spPr>
      </p:pic>
      <p:sp>
        <p:nvSpPr>
          <p:cNvPr id="240" name="Google Shape;240;p86"/>
          <p:cNvSpPr txBox="1"/>
          <p:nvPr/>
        </p:nvSpPr>
        <p:spPr>
          <a:xfrm>
            <a:off x="10111407" y="100769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a:solidFill>
                  <a:srgbClr val="000000"/>
                </a:solidFill>
                <a:latin typeface="Calibri"/>
                <a:ea typeface="Calibri"/>
                <a:cs typeface="Calibri"/>
                <a:sym typeface="Calibri"/>
              </a:rPr>
              <a:t>Secondary Mathematics</a:t>
            </a:r>
            <a:endParaRPr/>
          </a:p>
        </p:txBody>
      </p:sp>
      <p:sp>
        <p:nvSpPr>
          <p:cNvPr id="241" name="Google Shape;241;p86"/>
          <p:cNvSpPr/>
          <p:nvPr/>
        </p:nvSpPr>
        <p:spPr>
          <a:xfrm>
            <a:off x="10236991" y="1306046"/>
            <a:ext cx="907774" cy="298608"/>
          </a:xfrm>
          <a:prstGeom prst="roundRect">
            <a:avLst>
              <a:gd name="adj" fmla="val 16667"/>
            </a:avLst>
          </a:prstGeom>
          <a:solidFill>
            <a:srgbClr val="D0CE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2" name="Google Shape;242;p86"/>
          <p:cNvSpPr txBox="1"/>
          <p:nvPr/>
        </p:nvSpPr>
        <p:spPr>
          <a:xfrm>
            <a:off x="10252484" y="1335768"/>
            <a:ext cx="868018" cy="2378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0">
                <a:solidFill>
                  <a:srgbClr val="757070"/>
                </a:solidFill>
                <a:latin typeface="Calibri"/>
                <a:ea typeface="Calibri"/>
                <a:cs typeface="Calibri"/>
                <a:sym typeface="Calibri"/>
              </a:rPr>
              <a:t>EDITION 1</a:t>
            </a:r>
            <a:endParaRPr/>
          </a:p>
        </p:txBody>
      </p:sp>
      <p:pic>
        <p:nvPicPr>
          <p:cNvPr id="243" name="Google Shape;243;p86"/>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2" y="4663225"/>
            <a:ext cx="12190407" cy="219477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9_G2 Copyright">
  <p:cSld name="9_G2 Copyright">
    <p:bg>
      <p:bgPr>
        <a:solidFill>
          <a:schemeClr val="lt1"/>
        </a:solidFill>
        <a:effectLst/>
      </p:bgPr>
    </p:bg>
    <p:spTree>
      <p:nvGrpSpPr>
        <p:cNvPr id="1" name="Shape 244"/>
        <p:cNvGrpSpPr/>
        <p:nvPr/>
      </p:nvGrpSpPr>
      <p:grpSpPr>
        <a:xfrm>
          <a:off x="0" y="0"/>
          <a:ext cx="0" cy="0"/>
          <a:chOff x="0" y="0"/>
          <a:chExt cx="0" cy="0"/>
        </a:xfrm>
      </p:grpSpPr>
      <p:pic>
        <p:nvPicPr>
          <p:cNvPr id="245" name="Google Shape;245;p87"/>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932192"/>
            <a:ext cx="12190412" cy="5925807"/>
          </a:xfrm>
          <a:prstGeom prst="rect">
            <a:avLst/>
          </a:prstGeom>
          <a:noFill/>
          <a:ln>
            <a:noFill/>
          </a:ln>
        </p:spPr>
      </p:pic>
      <p:sp>
        <p:nvSpPr>
          <p:cNvPr id="246" name="Google Shape;246;p87"/>
          <p:cNvSpPr/>
          <p:nvPr/>
        </p:nvSpPr>
        <p:spPr>
          <a:xfrm>
            <a:off x="1668545" y="2356700"/>
            <a:ext cx="1715678" cy="2648931"/>
          </a:xfrm>
          <a:prstGeom prst="ellipse">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7" name="Google Shape;247;p87"/>
          <p:cNvSpPr/>
          <p:nvPr/>
        </p:nvSpPr>
        <p:spPr>
          <a:xfrm>
            <a:off x="1310326" y="4873659"/>
            <a:ext cx="2073897" cy="679000"/>
          </a:xfrm>
          <a:prstGeom prst="rect">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8" name="Google Shape;248;p87"/>
          <p:cNvSpPr txBox="1"/>
          <p:nvPr/>
        </p:nvSpPr>
        <p:spPr>
          <a:xfrm>
            <a:off x="1023907" y="1792363"/>
            <a:ext cx="10141011" cy="4247317"/>
          </a:xfrm>
          <a:prstGeom prst="rect">
            <a:avLst/>
          </a:prstGeom>
          <a:solidFill>
            <a:schemeClr val="lt1"/>
          </a:solidFill>
          <a:ln w="38100"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3A3838"/>
                </a:solidFill>
                <a:latin typeface="Calibri"/>
                <a:ea typeface="Calibri"/>
                <a:cs typeface="Calibri"/>
                <a:sym typeface="Calibri"/>
              </a:rPr>
              <a:t>Acknowledgment</a:t>
            </a:r>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Thank you to all the Texas educators and stakeholders who supported the review process and provided feedback. These materials are the result of the work of numerous individuals, and we are deeply grateful for their contributions.</a:t>
            </a:r>
            <a:endParaRPr sz="1800">
              <a:solidFill>
                <a:srgbClr val="3A3838"/>
              </a:solidFill>
              <a:latin typeface="Calibri"/>
              <a:ea typeface="Calibri"/>
              <a:cs typeface="Calibri"/>
              <a:sym typeface="Calibri"/>
            </a:endParaRPr>
          </a:p>
          <a:p>
            <a:pPr marL="0" marR="0" lvl="0" indent="0" algn="l" rtl="0">
              <a:spcBef>
                <a:spcPts val="0"/>
              </a:spcBef>
              <a:spcAft>
                <a:spcPts val="0"/>
              </a:spcAft>
              <a:buNone/>
            </a:pPr>
            <a:endParaRPr sz="1800">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b="1">
                <a:solidFill>
                  <a:srgbClr val="3A3838"/>
                </a:solidFill>
                <a:latin typeface="Calibri"/>
                <a:ea typeface="Calibri"/>
                <a:cs typeface="Calibri"/>
                <a:sym typeface="Calibri"/>
              </a:rPr>
              <a:t>Notice</a:t>
            </a:r>
            <a:endParaRPr sz="1800" b="1">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These learning resources have been built for Texas students, aligned to the Texas Essential Knowledge and Skills, and are made available pursuant to Chapter 31, Subchapter B-1 of the Texas Education Code.</a:t>
            </a:r>
            <a:endParaRPr sz="1800">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If you have further questions or to report an error, please email </a:t>
            </a:r>
            <a:r>
              <a:rPr lang="en-US" sz="1800" u="sng">
                <a:solidFill>
                  <a:srgbClr val="3A3838"/>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openeducationresources@tea.texas.gov</a:t>
            </a:r>
            <a:r>
              <a:rPr lang="en-US" sz="1800">
                <a:solidFill>
                  <a:srgbClr val="3A3838"/>
                </a:solidFill>
                <a:latin typeface="Calibri"/>
                <a:ea typeface="Calibri"/>
                <a:cs typeface="Calibri"/>
                <a:sym typeface="Calibri"/>
              </a:rPr>
              <a:t>.</a:t>
            </a:r>
            <a:endParaRPr/>
          </a:p>
          <a:p>
            <a:pPr marL="0" marR="0" lvl="0" indent="0" algn="l" rtl="0">
              <a:spcBef>
                <a:spcPts val="0"/>
              </a:spcBef>
              <a:spcAft>
                <a:spcPts val="0"/>
              </a:spcAft>
              <a:buNone/>
            </a:pPr>
            <a:endParaRPr sz="1800">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Copyright ©2024 Texas Education Agency. This work based on or adapted from materials contained in Great Minds' Eureka Math® K-5 PDF files. </a:t>
            </a:r>
            <a:endParaRPr/>
          </a:p>
          <a:p>
            <a:pPr marL="0" marR="0" lvl="0" indent="0" algn="l" rtl="0">
              <a:spcBef>
                <a:spcPts val="0"/>
              </a:spcBef>
              <a:spcAft>
                <a:spcPts val="0"/>
              </a:spcAft>
              <a:buNone/>
            </a:pPr>
            <a:endParaRPr sz="1800">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These materials are made available by the Texas Education Agency under an open license. For information about the license and your rights to use the materials, visit: </a:t>
            </a:r>
            <a:r>
              <a:rPr lang="en-US" sz="1800" u="sng">
                <a:solidFill>
                  <a:srgbClr val="3A3838"/>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https://tea.texas.gov/K-5Math</a:t>
            </a:r>
            <a:r>
              <a:rPr lang="en-US" sz="1800">
                <a:solidFill>
                  <a:srgbClr val="3A3838"/>
                </a:solidFill>
                <a:latin typeface="Calibri"/>
                <a:ea typeface="Calibri"/>
                <a:cs typeface="Calibri"/>
                <a:sym typeface="Calibri"/>
              </a:rPr>
              <a:t>. </a:t>
            </a:r>
            <a:endParaRPr/>
          </a:p>
        </p:txBody>
      </p:sp>
      <p:pic>
        <p:nvPicPr>
          <p:cNvPr id="249" name="Google Shape;249;p87" descr="A blue and black logo&#10;&#10;AI-generated content may be incorrect."/>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84963" y="101527"/>
            <a:ext cx="2080268" cy="682524"/>
          </a:xfrm>
          <a:prstGeom prst="rect">
            <a:avLst/>
          </a:prstGeom>
          <a:noFill/>
          <a:ln>
            <a:noFill/>
          </a:ln>
        </p:spPr>
      </p:pic>
      <p:sp>
        <p:nvSpPr>
          <p:cNvPr id="250" name="Google Shape;250;p87"/>
          <p:cNvSpPr txBox="1"/>
          <p:nvPr/>
        </p:nvSpPr>
        <p:spPr>
          <a:xfrm>
            <a:off x="862304" y="69238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a:solidFill>
                  <a:srgbClr val="000000"/>
                </a:solidFill>
                <a:latin typeface="Calibri"/>
                <a:ea typeface="Calibri"/>
                <a:cs typeface="Calibri"/>
                <a:sym typeface="Calibri"/>
              </a:rPr>
              <a:t>Secondary Mathematics</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Alg I_Activity">
  <p:cSld name="Alg I_Activity">
    <p:bg>
      <p:bgPr>
        <a:solidFill>
          <a:schemeClr val="lt1"/>
        </a:solidFill>
        <a:effectLst/>
      </p:bgPr>
    </p:bg>
    <p:spTree>
      <p:nvGrpSpPr>
        <p:cNvPr id="1" name="Shape 251"/>
        <p:cNvGrpSpPr/>
        <p:nvPr/>
      </p:nvGrpSpPr>
      <p:grpSpPr>
        <a:xfrm>
          <a:off x="0" y="0"/>
          <a:ext cx="0" cy="0"/>
          <a:chOff x="0" y="0"/>
          <a:chExt cx="0" cy="0"/>
        </a:xfrm>
      </p:grpSpPr>
      <p:pic>
        <p:nvPicPr>
          <p:cNvPr id="252" name="Google Shape;252;p88"/>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3" y="2316529"/>
            <a:ext cx="12190409" cy="2682141"/>
          </a:xfrm>
          <a:prstGeom prst="rect">
            <a:avLst/>
          </a:prstGeom>
          <a:noFill/>
          <a:ln>
            <a:noFill/>
          </a:ln>
        </p:spPr>
      </p:pic>
      <p:sp>
        <p:nvSpPr>
          <p:cNvPr id="253" name="Google Shape;253;p88"/>
          <p:cNvSpPr txBox="1"/>
          <p:nvPr/>
        </p:nvSpPr>
        <p:spPr>
          <a:xfrm>
            <a:off x="3352800" y="2984501"/>
            <a:ext cx="5499100" cy="1143000"/>
          </a:xfrm>
          <a:prstGeom prst="rect">
            <a:avLst/>
          </a:prstGeom>
          <a:solidFill>
            <a:srgbClr val="61449B"/>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endParaRPr sz="7500" b="1">
              <a:solidFill>
                <a:schemeClr val="lt1"/>
              </a:solidFill>
              <a:latin typeface="Calibri"/>
              <a:ea typeface="Calibri"/>
              <a:cs typeface="Calibri"/>
              <a:sym typeface="Calibri"/>
            </a:endParaRPr>
          </a:p>
        </p:txBody>
      </p:sp>
      <p:sp>
        <p:nvSpPr>
          <p:cNvPr id="254" name="Google Shape;254;p88"/>
          <p:cNvSpPr txBox="1"/>
          <p:nvPr/>
        </p:nvSpPr>
        <p:spPr>
          <a:xfrm>
            <a:off x="3340100" y="3136900"/>
            <a:ext cx="3302000" cy="946413"/>
          </a:xfrm>
          <a:prstGeom prst="rect">
            <a:avLst/>
          </a:prstGeom>
          <a:noFill/>
          <a:ln>
            <a:noFill/>
          </a:ln>
        </p:spPr>
        <p:txBody>
          <a:bodyPr spcFirstLastPara="1" wrap="square" lIns="0" tIns="0" rIns="0" bIns="0" anchor="t" anchorCtr="0">
            <a:spAutoFit/>
          </a:bodyPr>
          <a:lstStyle/>
          <a:p>
            <a:pPr marL="0" marR="0" lvl="0" indent="0" algn="r" rtl="0">
              <a:lnSpc>
                <a:spcPct val="80000"/>
              </a:lnSpc>
              <a:spcBef>
                <a:spcPts val="0"/>
              </a:spcBef>
              <a:spcAft>
                <a:spcPts val="0"/>
              </a:spcAft>
              <a:buNone/>
            </a:pPr>
            <a:r>
              <a:rPr lang="en-US" sz="7500" b="1">
                <a:solidFill>
                  <a:schemeClr val="lt1"/>
                </a:solidFill>
                <a:latin typeface="Calibri"/>
                <a:ea typeface="Calibri"/>
                <a:cs typeface="Calibri"/>
                <a:sym typeface="Calibri"/>
              </a:rPr>
              <a:t>Activity </a:t>
            </a:r>
            <a:endParaRPr sz="7500" b="1">
              <a:solidFill>
                <a:schemeClr val="lt1"/>
              </a:solidFill>
              <a:latin typeface="Calibri"/>
              <a:ea typeface="Calibri"/>
              <a:cs typeface="Calibri"/>
              <a:sym typeface="Calibri"/>
            </a:endParaRPr>
          </a:p>
        </p:txBody>
      </p:sp>
      <p:sp>
        <p:nvSpPr>
          <p:cNvPr id="255" name="Google Shape;255;p88"/>
          <p:cNvSpPr txBox="1">
            <a:spLocks noGrp="1"/>
          </p:cNvSpPr>
          <p:nvPr>
            <p:ph type="body" idx="1"/>
          </p:nvPr>
        </p:nvSpPr>
        <p:spPr>
          <a:xfrm>
            <a:off x="6769100" y="2957776"/>
            <a:ext cx="2025986" cy="11255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7500"/>
              <a:buFont typeface="Arial"/>
              <a:buNone/>
              <a:defRPr sz="7500" b="1"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256" name="Google Shape;256;p88"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257" name="Google Shape;257;p88"/>
          <p:cNvSpPr txBox="1">
            <a:spLocks noGrp="1"/>
          </p:cNvSpPr>
          <p:nvPr>
            <p:ph type="body" idx="2"/>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Alg I_Talk the Talk">
  <p:cSld name="Alg I_Talk the Talk">
    <p:bg>
      <p:bgPr>
        <a:solidFill>
          <a:schemeClr val="lt1"/>
        </a:solidFill>
        <a:effectLst/>
      </p:bgPr>
    </p:bg>
    <p:spTree>
      <p:nvGrpSpPr>
        <p:cNvPr id="1" name="Shape 258"/>
        <p:cNvGrpSpPr/>
        <p:nvPr/>
      </p:nvGrpSpPr>
      <p:grpSpPr>
        <a:xfrm>
          <a:off x="0" y="0"/>
          <a:ext cx="0" cy="0"/>
          <a:chOff x="0" y="0"/>
          <a:chExt cx="0" cy="0"/>
        </a:xfrm>
      </p:grpSpPr>
      <p:pic>
        <p:nvPicPr>
          <p:cNvPr id="259" name="Google Shape;259;p89"/>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3" y="2316529"/>
            <a:ext cx="12190409" cy="2682141"/>
          </a:xfrm>
          <a:prstGeom prst="rect">
            <a:avLst/>
          </a:prstGeom>
          <a:noFill/>
          <a:ln>
            <a:noFill/>
          </a:ln>
        </p:spPr>
      </p:pic>
      <p:sp>
        <p:nvSpPr>
          <p:cNvPr id="260" name="Google Shape;260;p89"/>
          <p:cNvSpPr txBox="1"/>
          <p:nvPr/>
        </p:nvSpPr>
        <p:spPr>
          <a:xfrm>
            <a:off x="3352800" y="2984501"/>
            <a:ext cx="5499100" cy="1143000"/>
          </a:xfrm>
          <a:prstGeom prst="rect">
            <a:avLst/>
          </a:prstGeom>
          <a:solidFill>
            <a:srgbClr val="61449B"/>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Talk the Talk</a:t>
            </a:r>
            <a:endParaRPr sz="7500" b="1">
              <a:solidFill>
                <a:schemeClr val="lt1"/>
              </a:solidFill>
              <a:latin typeface="Calibri"/>
              <a:ea typeface="Calibri"/>
              <a:cs typeface="Calibri"/>
              <a:sym typeface="Calibri"/>
            </a:endParaRPr>
          </a:p>
        </p:txBody>
      </p:sp>
      <p:pic>
        <p:nvPicPr>
          <p:cNvPr id="261" name="Google Shape;261;p89"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262" name="Google Shape;262;p89"/>
          <p:cNvSpPr txBox="1">
            <a:spLocks noGrp="1"/>
          </p:cNvSpPr>
          <p:nvPr>
            <p:ph type="body" idx="1"/>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Alg I_Getting Started">
  <p:cSld name="Alg I_Getting Started">
    <p:bg>
      <p:bgPr>
        <a:solidFill>
          <a:schemeClr val="lt1"/>
        </a:solidFill>
        <a:effectLst/>
      </p:bgPr>
    </p:bg>
    <p:spTree>
      <p:nvGrpSpPr>
        <p:cNvPr id="1" name="Shape 263"/>
        <p:cNvGrpSpPr/>
        <p:nvPr/>
      </p:nvGrpSpPr>
      <p:grpSpPr>
        <a:xfrm>
          <a:off x="0" y="0"/>
          <a:ext cx="0" cy="0"/>
          <a:chOff x="0" y="0"/>
          <a:chExt cx="0" cy="0"/>
        </a:xfrm>
      </p:grpSpPr>
      <p:pic>
        <p:nvPicPr>
          <p:cNvPr id="264" name="Google Shape;264;p90"/>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3" y="2316529"/>
            <a:ext cx="12190409" cy="2682141"/>
          </a:xfrm>
          <a:prstGeom prst="rect">
            <a:avLst/>
          </a:prstGeom>
          <a:noFill/>
          <a:ln>
            <a:noFill/>
          </a:ln>
        </p:spPr>
      </p:pic>
      <p:sp>
        <p:nvSpPr>
          <p:cNvPr id="265" name="Google Shape;265;p90" descr="A green and black pattern&#10;&#10;AI-generated content may be incorrect."/>
          <p:cNvSpPr txBox="1"/>
          <p:nvPr/>
        </p:nvSpPr>
        <p:spPr>
          <a:xfrm>
            <a:off x="2767915" y="2984501"/>
            <a:ext cx="6660292" cy="1143000"/>
          </a:xfrm>
          <a:prstGeom prst="rect">
            <a:avLst/>
          </a:prstGeom>
          <a:solidFill>
            <a:srgbClr val="61449B"/>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Getting Started</a:t>
            </a:r>
            <a:endParaRPr sz="7500" b="1">
              <a:solidFill>
                <a:schemeClr val="lt1"/>
              </a:solidFill>
              <a:latin typeface="Calibri"/>
              <a:ea typeface="Calibri"/>
              <a:cs typeface="Calibri"/>
              <a:sym typeface="Calibri"/>
            </a:endParaRPr>
          </a:p>
        </p:txBody>
      </p:sp>
      <p:pic>
        <p:nvPicPr>
          <p:cNvPr id="266" name="Google Shape;266;p90"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267" name="Google Shape;267;p90"/>
          <p:cNvSpPr txBox="1">
            <a:spLocks noGrp="1"/>
          </p:cNvSpPr>
          <p:nvPr>
            <p:ph type="body" idx="1"/>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1_Alg I_Getting Started">
  <p:cSld name="1_Alg I_Getting Started">
    <p:bg>
      <p:bgPr>
        <a:solidFill>
          <a:schemeClr val="lt1"/>
        </a:solidFill>
        <a:effectLst/>
      </p:bgPr>
    </p:bg>
    <p:spTree>
      <p:nvGrpSpPr>
        <p:cNvPr id="1" name="Shape 268"/>
        <p:cNvGrpSpPr/>
        <p:nvPr/>
      </p:nvGrpSpPr>
      <p:grpSpPr>
        <a:xfrm>
          <a:off x="0" y="0"/>
          <a:ext cx="0" cy="0"/>
          <a:chOff x="0" y="0"/>
          <a:chExt cx="0" cy="0"/>
        </a:xfrm>
      </p:grpSpPr>
      <p:pic>
        <p:nvPicPr>
          <p:cNvPr id="269" name="Google Shape;269;p91"/>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3" y="2316529"/>
            <a:ext cx="12190409" cy="2682141"/>
          </a:xfrm>
          <a:prstGeom prst="rect">
            <a:avLst/>
          </a:prstGeom>
          <a:noFill/>
          <a:ln>
            <a:noFill/>
          </a:ln>
        </p:spPr>
      </p:pic>
      <p:sp>
        <p:nvSpPr>
          <p:cNvPr id="270" name="Google Shape;270;p91" descr="A green and black pattern&#10;&#10;AI-generated content may be incorrect."/>
          <p:cNvSpPr txBox="1"/>
          <p:nvPr/>
        </p:nvSpPr>
        <p:spPr>
          <a:xfrm>
            <a:off x="3866323" y="2984501"/>
            <a:ext cx="4432852" cy="1143000"/>
          </a:xfrm>
          <a:prstGeom prst="rect">
            <a:avLst/>
          </a:prstGeom>
          <a:solidFill>
            <a:srgbClr val="61449B"/>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Prepare</a:t>
            </a:r>
            <a:endParaRPr sz="7500" b="1">
              <a:solidFill>
                <a:schemeClr val="lt1"/>
              </a:solidFill>
              <a:latin typeface="Calibri"/>
              <a:ea typeface="Calibri"/>
              <a:cs typeface="Calibri"/>
              <a:sym typeface="Calibri"/>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Alg I_Session Divider">
  <p:cSld name="Alg I_Session Divider">
    <p:bg>
      <p:bgPr>
        <a:solidFill>
          <a:schemeClr val="lt1"/>
        </a:solidFill>
        <a:effectLst/>
      </p:bgPr>
    </p:bg>
    <p:spTree>
      <p:nvGrpSpPr>
        <p:cNvPr id="1" name="Shape 271"/>
        <p:cNvGrpSpPr/>
        <p:nvPr/>
      </p:nvGrpSpPr>
      <p:grpSpPr>
        <a:xfrm>
          <a:off x="0" y="0"/>
          <a:ext cx="0" cy="0"/>
          <a:chOff x="0" y="0"/>
          <a:chExt cx="0" cy="0"/>
        </a:xfrm>
      </p:grpSpPr>
      <p:sp>
        <p:nvSpPr>
          <p:cNvPr id="272" name="Google Shape;272;p92"/>
          <p:cNvSpPr txBox="1"/>
          <p:nvPr/>
        </p:nvSpPr>
        <p:spPr>
          <a:xfrm>
            <a:off x="4918157" y="2955793"/>
            <a:ext cx="1512037" cy="946413"/>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7500" b="1">
                <a:solidFill>
                  <a:srgbClr val="171616"/>
                </a:solidFill>
                <a:latin typeface="Calibri"/>
                <a:ea typeface="Calibri"/>
                <a:cs typeface="Calibri"/>
                <a:sym typeface="Calibri"/>
              </a:rPr>
              <a:t>Day</a:t>
            </a:r>
            <a:endParaRPr sz="7500" b="1">
              <a:solidFill>
                <a:srgbClr val="171616"/>
              </a:solidFill>
              <a:latin typeface="Calibri"/>
              <a:ea typeface="Calibri"/>
              <a:cs typeface="Calibri"/>
              <a:sym typeface="Calibri"/>
            </a:endParaRPr>
          </a:p>
        </p:txBody>
      </p:sp>
      <p:sp>
        <p:nvSpPr>
          <p:cNvPr id="273" name="Google Shape;273;p92"/>
          <p:cNvSpPr txBox="1">
            <a:spLocks noGrp="1"/>
          </p:cNvSpPr>
          <p:nvPr>
            <p:ph type="body" idx="1"/>
          </p:nvPr>
        </p:nvSpPr>
        <p:spPr>
          <a:xfrm>
            <a:off x="5578106" y="2843523"/>
            <a:ext cx="1061883" cy="1071562"/>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000000"/>
              </a:buClr>
              <a:buSzPts val="7500"/>
              <a:buFont typeface="Arial"/>
              <a:buNone/>
              <a:defRPr sz="7500" b="1" i="0" u="none" strike="noStrike" cap="none">
                <a:solidFill>
                  <a:srgbClr val="000000"/>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274" name="Google Shape;274;p92"/>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2" y="4663225"/>
            <a:ext cx="12190407" cy="2194775"/>
          </a:xfrm>
          <a:prstGeom prst="rect">
            <a:avLst/>
          </a:prstGeom>
          <a:noFill/>
          <a:ln>
            <a:noFill/>
          </a:ln>
        </p:spPr>
      </p:pic>
      <p:pic>
        <p:nvPicPr>
          <p:cNvPr id="275" name="Google Shape;275;p92"/>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rot="10800000">
            <a:off x="6" y="0"/>
            <a:ext cx="12190407" cy="2194775"/>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Alg I_Cutouts Divider">
  <p:cSld name="Alg I_Cutouts Divider">
    <p:bg>
      <p:bgPr>
        <a:solidFill>
          <a:schemeClr val="lt1"/>
        </a:solidFill>
        <a:effectLst/>
      </p:bgPr>
    </p:bg>
    <p:spTree>
      <p:nvGrpSpPr>
        <p:cNvPr id="1" name="Shape 276"/>
        <p:cNvGrpSpPr/>
        <p:nvPr/>
      </p:nvGrpSpPr>
      <p:grpSpPr>
        <a:xfrm>
          <a:off x="0" y="0"/>
          <a:ext cx="0" cy="0"/>
          <a:chOff x="0" y="0"/>
          <a:chExt cx="0" cy="0"/>
        </a:xfrm>
      </p:grpSpPr>
      <p:sp>
        <p:nvSpPr>
          <p:cNvPr id="277" name="Google Shape;277;p93"/>
          <p:cNvSpPr txBox="1">
            <a:spLocks noGrp="1"/>
          </p:cNvSpPr>
          <p:nvPr>
            <p:ph type="body" idx="1"/>
          </p:nvPr>
        </p:nvSpPr>
        <p:spPr>
          <a:xfrm>
            <a:off x="5171005" y="2395538"/>
            <a:ext cx="1848402" cy="1033462"/>
          </a:xfrm>
          <a:prstGeom prst="rect">
            <a:avLst/>
          </a:prstGeom>
          <a:noFill/>
          <a:ln>
            <a:noFill/>
          </a:ln>
        </p:spPr>
        <p:txBody>
          <a:bodyPr spcFirstLastPara="1" wrap="square" lIns="91425" tIns="45700" rIns="91425" bIns="45700" anchor="t" anchorCtr="0">
            <a:noAutofit/>
          </a:bodyPr>
          <a:lstStyle>
            <a:lvl1pPr marL="457200" marR="0" lvl="0" indent="-704850" algn="l" rtl="0">
              <a:lnSpc>
                <a:spcPct val="90000"/>
              </a:lnSpc>
              <a:spcBef>
                <a:spcPts val="10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1pPr>
            <a:lvl2pPr marL="914400" marR="0" lvl="1"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2pPr>
            <a:lvl3pPr marL="1371600" marR="0" lvl="2"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3pPr>
            <a:lvl4pPr marL="1828800" marR="0" lvl="3"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4pPr>
            <a:lvl5pPr marL="2286000" marR="0" lvl="4"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278" name="Google Shape;278;p93"/>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2" y="4663225"/>
            <a:ext cx="12190407" cy="2194775"/>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Alg I_Back Cover">
  <p:cSld name="Alg I_Back Cover">
    <p:bg>
      <p:bgPr>
        <a:solidFill>
          <a:schemeClr val="lt1"/>
        </a:solidFill>
        <a:effectLst/>
      </p:bgPr>
    </p:bg>
    <p:spTree>
      <p:nvGrpSpPr>
        <p:cNvPr id="1" name="Shape 279"/>
        <p:cNvGrpSpPr/>
        <p:nvPr/>
      </p:nvGrpSpPr>
      <p:grpSpPr>
        <a:xfrm>
          <a:off x="0" y="0"/>
          <a:ext cx="0" cy="0"/>
          <a:chOff x="0" y="0"/>
          <a:chExt cx="0" cy="0"/>
        </a:xfrm>
      </p:grpSpPr>
      <p:pic>
        <p:nvPicPr>
          <p:cNvPr id="280" name="Google Shape;280;p94"/>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2" y="4663225"/>
            <a:ext cx="12190407" cy="2194775"/>
          </a:xfrm>
          <a:prstGeom prst="rect">
            <a:avLst/>
          </a:prstGeom>
          <a:noFill/>
          <a:ln>
            <a:noFill/>
          </a:ln>
        </p:spPr>
      </p:pic>
      <p:sp>
        <p:nvSpPr>
          <p:cNvPr id="281" name="Google Shape;281;p94"/>
          <p:cNvSpPr txBox="1">
            <a:spLocks noGrp="1"/>
          </p:cNvSpPr>
          <p:nvPr>
            <p:ph type="body" idx="1"/>
          </p:nvPr>
        </p:nvSpPr>
        <p:spPr>
          <a:xfrm>
            <a:off x="8155889" y="4975063"/>
            <a:ext cx="3431356" cy="414778"/>
          </a:xfrm>
          <a:prstGeom prst="rect">
            <a:avLst/>
          </a:prstGeom>
          <a:solidFill>
            <a:srgbClr val="61449B"/>
          </a:solidFill>
          <a:ln>
            <a:noFill/>
          </a:ln>
        </p:spPr>
        <p:txBody>
          <a:bodyPr spcFirstLastPara="1" wrap="square" lIns="0" tIns="45700" rIns="0" bIns="45700" anchor="ctr" anchorCtr="0">
            <a:noAutofit/>
          </a:bodyPr>
          <a:lstStyle>
            <a:lvl1pPr marL="457200" marR="0" lvl="0" indent="-228600" algn="ctr"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282" name="Google Shape;282;p94"/>
          <p:cNvGrpSpPr/>
          <p:nvPr/>
        </p:nvGrpSpPr>
        <p:grpSpPr>
          <a:xfrm>
            <a:off x="9053008" y="227306"/>
            <a:ext cx="2910578" cy="1472169"/>
            <a:chOff x="8940726" y="132485"/>
            <a:chExt cx="2910578" cy="1472169"/>
          </a:xfrm>
        </p:grpSpPr>
        <p:pic>
          <p:nvPicPr>
            <p:cNvPr id="283" name="Google Shape;283;p94" descr="A blue and black logo&#10;&#10;AI-generated content may be incorrect."/>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8940726" y="132485"/>
              <a:ext cx="2910578" cy="954944"/>
            </a:xfrm>
            <a:prstGeom prst="rect">
              <a:avLst/>
            </a:prstGeom>
            <a:noFill/>
            <a:ln>
              <a:noFill/>
            </a:ln>
          </p:spPr>
        </p:pic>
        <p:sp>
          <p:nvSpPr>
            <p:cNvPr id="284" name="Google Shape;284;p94"/>
            <p:cNvSpPr txBox="1"/>
            <p:nvPr/>
          </p:nvSpPr>
          <p:spPr>
            <a:xfrm>
              <a:off x="10111407" y="100769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a:solidFill>
                    <a:srgbClr val="000000"/>
                  </a:solidFill>
                  <a:latin typeface="Calibri"/>
                  <a:ea typeface="Calibri"/>
                  <a:cs typeface="Calibri"/>
                  <a:sym typeface="Calibri"/>
                </a:rPr>
                <a:t>Secondary Mathematics</a:t>
              </a:r>
              <a:endParaRPr/>
            </a:p>
          </p:txBody>
        </p:sp>
        <p:sp>
          <p:nvSpPr>
            <p:cNvPr id="285" name="Google Shape;285;p94"/>
            <p:cNvSpPr/>
            <p:nvPr/>
          </p:nvSpPr>
          <p:spPr>
            <a:xfrm>
              <a:off x="10236991" y="1306046"/>
              <a:ext cx="907774" cy="298608"/>
            </a:xfrm>
            <a:prstGeom prst="roundRect">
              <a:avLst>
                <a:gd name="adj" fmla="val 16667"/>
              </a:avLst>
            </a:prstGeom>
            <a:solidFill>
              <a:srgbClr val="D0CE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6" name="Google Shape;286;p94"/>
            <p:cNvSpPr txBox="1"/>
            <p:nvPr/>
          </p:nvSpPr>
          <p:spPr>
            <a:xfrm>
              <a:off x="10252484" y="1335768"/>
              <a:ext cx="868018" cy="2378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0">
                  <a:solidFill>
                    <a:srgbClr val="757070"/>
                  </a:solidFill>
                  <a:latin typeface="Calibri"/>
                  <a:ea typeface="Calibri"/>
                  <a:cs typeface="Calibri"/>
                  <a:sym typeface="Calibri"/>
                </a:rPr>
                <a:t>EDITION 1</a:t>
              </a:r>
              <a:endParaRPr/>
            </a:p>
          </p:txBody>
        </p:sp>
      </p:grpSp>
      <p:sp>
        <p:nvSpPr>
          <p:cNvPr id="287" name="Google Shape;287;p94"/>
          <p:cNvSpPr/>
          <p:nvPr/>
        </p:nvSpPr>
        <p:spPr>
          <a:xfrm rot="10800000" flipH="1">
            <a:off x="0" y="0"/>
            <a:ext cx="2467555" cy="954942"/>
          </a:xfrm>
          <a:prstGeom prst="round1Rect">
            <a:avLst>
              <a:gd name="adj" fmla="val 16667"/>
            </a:avLst>
          </a:prstGeom>
          <a:solidFill>
            <a:srgbClr val="61449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8" name="Google Shape;288;p94"/>
          <p:cNvSpPr txBox="1"/>
          <p:nvPr/>
        </p:nvSpPr>
        <p:spPr>
          <a:xfrm>
            <a:off x="0" y="280732"/>
            <a:ext cx="246755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ENGLISH</a:t>
            </a: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Objective">
  <p:cSld name="Objective">
    <p:spTree>
      <p:nvGrpSpPr>
        <p:cNvPr id="1" name="Shape 289"/>
        <p:cNvGrpSpPr/>
        <p:nvPr/>
      </p:nvGrpSpPr>
      <p:grpSpPr>
        <a:xfrm>
          <a:off x="0" y="0"/>
          <a:ext cx="0" cy="0"/>
          <a:chOff x="0" y="0"/>
          <a:chExt cx="0" cy="0"/>
        </a:xfrm>
      </p:grpSpPr>
      <p:sp>
        <p:nvSpPr>
          <p:cNvPr id="290" name="Google Shape;290;p95"/>
          <p:cNvSpPr/>
          <p:nvPr/>
        </p:nvSpPr>
        <p:spPr>
          <a:xfrm>
            <a:off x="-1586" y="1392600"/>
            <a:ext cx="12192000" cy="549097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1" name="Google Shape;291;p95"/>
          <p:cNvSpPr txBox="1">
            <a:spLocks noGrp="1"/>
          </p:cNvSpPr>
          <p:nvPr>
            <p:ph type="body" idx="1"/>
          </p:nvPr>
        </p:nvSpPr>
        <p:spPr>
          <a:xfrm>
            <a:off x="836614" y="2159879"/>
            <a:ext cx="10515599" cy="395641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3A3838"/>
              </a:buClr>
              <a:buSzPts val="4400"/>
              <a:buFont typeface="Arial"/>
              <a:buNone/>
              <a:defRPr sz="4400" b="0" i="0" u="none" strike="noStrike" cap="none">
                <a:solidFill>
                  <a:srgbClr val="3A3838"/>
                </a:solidFill>
                <a:latin typeface="Calibri"/>
                <a:ea typeface="Calibri"/>
                <a:cs typeface="Calibri"/>
                <a:sym typeface="Calibri"/>
              </a:defRPr>
            </a:lvl1pPr>
            <a:lvl2pPr marL="914400" marR="0" lvl="1"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2pPr>
            <a:lvl3pPr marL="1371600" marR="0" lvl="2"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3pPr>
            <a:lvl4pPr marL="1828800" marR="0" lvl="3"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4pPr>
            <a:lvl5pPr marL="2286000" marR="0" lvl="4"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92" name="Google Shape;292;p95"/>
          <p:cNvSpPr/>
          <p:nvPr/>
        </p:nvSpPr>
        <p:spPr>
          <a:xfrm>
            <a:off x="0" y="0"/>
            <a:ext cx="7575442" cy="927652"/>
          </a:xfrm>
          <a:prstGeom prst="rect">
            <a:avLst/>
          </a:prstGeom>
          <a:solidFill>
            <a:srgbClr val="61449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93" name="Google Shape;293;p95"/>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7575442" y="0"/>
            <a:ext cx="4614969" cy="931320"/>
          </a:xfrm>
          <a:prstGeom prst="rect">
            <a:avLst/>
          </a:prstGeom>
          <a:noFill/>
          <a:ln>
            <a:noFill/>
          </a:ln>
        </p:spPr>
      </p:pic>
      <p:sp>
        <p:nvSpPr>
          <p:cNvPr id="294" name="Google Shape;294;p95"/>
          <p:cNvSpPr txBox="1">
            <a:spLocks noGrp="1"/>
          </p:cNvSpPr>
          <p:nvPr>
            <p:ph type="title"/>
          </p:nvPr>
        </p:nvSpPr>
        <p:spPr>
          <a:xfrm>
            <a:off x="0" y="0"/>
            <a:ext cx="6094413" cy="926757"/>
          </a:xfrm>
          <a:prstGeom prst="rect">
            <a:avLst/>
          </a:prstGeom>
          <a:noFill/>
          <a:ln>
            <a:noFill/>
          </a:ln>
        </p:spPr>
        <p:txBody>
          <a:bodyPr spcFirstLastPara="1" wrap="square" lIns="457200" tIns="45700" rIns="91425" bIns="45700" anchor="ctr" anchorCtr="0">
            <a:noAutofit/>
          </a:bodyPr>
          <a:lstStyle>
            <a:lvl1pPr marR="0" lvl="0" algn="l" rtl="0">
              <a:lnSpc>
                <a:spcPct val="90000"/>
              </a:lnSpc>
              <a:spcBef>
                <a:spcPts val="0"/>
              </a:spcBef>
              <a:spcAft>
                <a:spcPts val="0"/>
              </a:spcAft>
              <a:buClr>
                <a:schemeClr val="lt1"/>
              </a:buClr>
              <a:buSzPts val="4000"/>
              <a:buFont typeface="Calibri"/>
              <a:buNone/>
              <a:defRPr sz="4000" b="1"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erminology">
  <p:cSld name="Terminology">
    <p:bg>
      <p:bgPr>
        <a:solidFill>
          <a:schemeClr val="lt1"/>
        </a:solidFill>
        <a:effectLst/>
      </p:bgPr>
    </p:bg>
    <p:spTree>
      <p:nvGrpSpPr>
        <p:cNvPr id="1" name="Shape 295"/>
        <p:cNvGrpSpPr/>
        <p:nvPr/>
      </p:nvGrpSpPr>
      <p:grpSpPr>
        <a:xfrm>
          <a:off x="0" y="0"/>
          <a:ext cx="0" cy="0"/>
          <a:chOff x="0" y="0"/>
          <a:chExt cx="0" cy="0"/>
        </a:xfrm>
      </p:grpSpPr>
      <p:sp>
        <p:nvSpPr>
          <p:cNvPr id="296" name="Google Shape;296;p96"/>
          <p:cNvSpPr txBox="1">
            <a:spLocks noGrp="1"/>
          </p:cNvSpPr>
          <p:nvPr>
            <p:ph type="body" idx="1"/>
          </p:nvPr>
        </p:nvSpPr>
        <p:spPr>
          <a:xfrm>
            <a:off x="852488" y="1652588"/>
            <a:ext cx="10515600" cy="116974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A3838"/>
              </a:buClr>
              <a:buSzPts val="2800"/>
              <a:buFont typeface="Arial"/>
              <a:buNone/>
              <a:defRPr sz="2800" b="0" i="0" u="none" strike="noStrike" cap="none">
                <a:solidFill>
                  <a:srgbClr val="3A383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97" name="Google Shape;297;p96"/>
          <p:cNvSpPr>
            <a:spLocks noGrp="1"/>
          </p:cNvSpPr>
          <p:nvPr>
            <p:ph type="pic" idx="2"/>
          </p:nvPr>
        </p:nvSpPr>
        <p:spPr>
          <a:xfrm>
            <a:off x="3427412" y="3217943"/>
            <a:ext cx="5335588" cy="2505075"/>
          </a:xfrm>
          <a:prstGeom prst="rect">
            <a:avLst/>
          </a:prstGeom>
          <a:noFill/>
          <a:ln>
            <a:noFill/>
          </a:ln>
        </p:spPr>
      </p:sp>
      <p:sp>
        <p:nvSpPr>
          <p:cNvPr id="298" name="Google Shape;298;p96"/>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2B8147"/>
              </a:buClr>
              <a:buSzPts val="4000"/>
              <a:buFont typeface="Calibri"/>
              <a:buNone/>
              <a:defRPr sz="4000" b="0" i="0" u="none" strike="noStrike" cap="none">
                <a:solidFill>
                  <a:srgbClr val="2B8147"/>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299" name="Google Shape;299;p96"/>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8"/>
            <a:ext cx="322982" cy="6857984"/>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Application Problem Text">
  <p:cSld name="Application Problem Text">
    <p:spTree>
      <p:nvGrpSpPr>
        <p:cNvPr id="1" name="Shape 300"/>
        <p:cNvGrpSpPr/>
        <p:nvPr/>
      </p:nvGrpSpPr>
      <p:grpSpPr>
        <a:xfrm>
          <a:off x="0" y="0"/>
          <a:ext cx="0" cy="0"/>
          <a:chOff x="0" y="0"/>
          <a:chExt cx="0" cy="0"/>
        </a:xfrm>
      </p:grpSpPr>
      <p:pic>
        <p:nvPicPr>
          <p:cNvPr id="301" name="Google Shape;301;p97"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302" name="Google Shape;302;p97"/>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3" name="Google Shape;303;p97"/>
          <p:cNvSpPr txBox="1">
            <a:spLocks noGrp="1"/>
          </p:cNvSpPr>
          <p:nvPr>
            <p:ph type="body" idx="2"/>
          </p:nvPr>
        </p:nvSpPr>
        <p:spPr>
          <a:xfrm>
            <a:off x="11127476" y="6036181"/>
            <a:ext cx="654216"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4" name="Google Shape;304;p97"/>
          <p:cNvSpPr txBox="1">
            <a:spLocks noGrp="1"/>
          </p:cNvSpPr>
          <p:nvPr>
            <p:ph type="title"/>
          </p:nvPr>
        </p:nvSpPr>
        <p:spPr>
          <a:xfrm>
            <a:off x="777240" y="0"/>
            <a:ext cx="11389135" cy="1253765"/>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305" name="Google Shape;305;p97"/>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8"/>
            <a:ext cx="322982" cy="6857984"/>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1_RDW_Horizontal">
  <p:cSld name="1_RDW_Horizontal">
    <p:spTree>
      <p:nvGrpSpPr>
        <p:cNvPr id="1" name="Shape 306"/>
        <p:cNvGrpSpPr/>
        <p:nvPr/>
      </p:nvGrpSpPr>
      <p:grpSpPr>
        <a:xfrm>
          <a:off x="0" y="0"/>
          <a:ext cx="0" cy="0"/>
          <a:chOff x="0" y="0"/>
          <a:chExt cx="0" cy="0"/>
        </a:xfrm>
      </p:grpSpPr>
      <p:graphicFrame>
        <p:nvGraphicFramePr>
          <p:cNvPr id="307" name="Google Shape;307;p98"/>
          <p:cNvGraphicFramePr/>
          <p:nvPr/>
        </p:nvGraphicFramePr>
        <p:xfrm>
          <a:off x="775252" y="3783769"/>
          <a:ext cx="3000000" cy="3000000"/>
        </p:xfrm>
        <a:graphic>
          <a:graphicData uri="http://schemas.openxmlformats.org/drawingml/2006/table">
            <a:tbl>
              <a:tblPr>
                <a:noFill/>
                <a:tableStyleId>{F7D8C473-989F-46CF-8A33-2A7C700182BB}</a:tableStyleId>
              </a:tblPr>
              <a:tblGrid>
                <a:gridCol w="3694050">
                  <a:extLst>
                    <a:ext uri="{9D8B030D-6E8A-4147-A177-3AD203B41FA5}">
                      <a16:colId xmlns:a16="http://schemas.microsoft.com/office/drawing/2014/main" val="20000"/>
                    </a:ext>
                  </a:extLst>
                </a:gridCol>
                <a:gridCol w="3694050">
                  <a:extLst>
                    <a:ext uri="{9D8B030D-6E8A-4147-A177-3AD203B41FA5}">
                      <a16:colId xmlns:a16="http://schemas.microsoft.com/office/drawing/2014/main" val="20001"/>
                    </a:ext>
                  </a:extLst>
                </a:gridCol>
                <a:gridCol w="3694050">
                  <a:extLst>
                    <a:ext uri="{9D8B030D-6E8A-4147-A177-3AD203B41FA5}">
                      <a16:colId xmlns:a16="http://schemas.microsoft.com/office/drawing/2014/main" val="20002"/>
                    </a:ext>
                  </a:extLst>
                </a:gridCol>
              </a:tblGrid>
              <a:tr h="244000">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Read</a:t>
                      </a:r>
                      <a:endParaRPr sz="1800" b="1" u="none" strike="noStrike" cap="none">
                        <a:solidFill>
                          <a:srgbClr val="3A3838"/>
                        </a:solidFill>
                      </a:endParaRPr>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Draw</a:t>
                      </a:r>
                      <a:endParaRPr sz="1800" b="1" u="none" strike="noStrike" cap="none">
                        <a:solidFill>
                          <a:srgbClr val="3A3838"/>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Write</a:t>
                      </a:r>
                      <a:endParaRPr sz="1800" b="1" u="none" strike="noStrike" cap="none">
                        <a:solidFill>
                          <a:srgbClr val="3A3838"/>
                        </a:solidFill>
                      </a:endParaRPr>
                    </a:p>
                  </a:txBody>
                  <a:tcPr marL="91450" marR="91450" marT="45725" marB="45725">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3090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308" name="Google Shape;308;p98"/>
          <p:cNvSpPr txBox="1">
            <a:spLocks noGrp="1"/>
          </p:cNvSpPr>
          <p:nvPr>
            <p:ph type="body" idx="1"/>
          </p:nvPr>
        </p:nvSpPr>
        <p:spPr>
          <a:xfrm>
            <a:off x="765313" y="1479938"/>
            <a:ext cx="11060341" cy="207215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A3838"/>
              </a:buClr>
              <a:buSzPts val="2200"/>
              <a:buFont typeface="Arial"/>
              <a:buNone/>
              <a:defRPr sz="2200" b="0" i="0" u="none" strike="noStrike" cap="none">
                <a:solidFill>
                  <a:srgbClr val="3A383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9" name="Google Shape;309;p98"/>
          <p:cNvSpPr txBox="1">
            <a:spLocks noGrp="1"/>
          </p:cNvSpPr>
          <p:nvPr>
            <p:ph type="title"/>
          </p:nvPr>
        </p:nvSpPr>
        <p:spPr>
          <a:xfrm>
            <a:off x="772211" y="0"/>
            <a:ext cx="1141820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310" name="Google Shape;310;p98"/>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8"/>
            <a:ext cx="322982" cy="6857984"/>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Fluency w/Timer">
  <p:cSld name="Fluency w/Timer">
    <p:spTree>
      <p:nvGrpSpPr>
        <p:cNvPr id="1" name="Shape 311"/>
        <p:cNvGrpSpPr/>
        <p:nvPr/>
      </p:nvGrpSpPr>
      <p:grpSpPr>
        <a:xfrm>
          <a:off x="0" y="0"/>
          <a:ext cx="0" cy="0"/>
          <a:chOff x="0" y="0"/>
          <a:chExt cx="0" cy="0"/>
        </a:xfrm>
      </p:grpSpPr>
      <p:pic>
        <p:nvPicPr>
          <p:cNvPr id="312" name="Google Shape;312;p99"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313" name="Google Shape;313;p99"/>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14" name="Google Shape;314;p99"/>
          <p:cNvSpPr txBox="1">
            <a:spLocks noGrp="1"/>
          </p:cNvSpPr>
          <p:nvPr>
            <p:ph type="body" idx="2"/>
          </p:nvPr>
        </p:nvSpPr>
        <p:spPr>
          <a:xfrm>
            <a:off x="11127476" y="6036181"/>
            <a:ext cx="654216"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15" name="Google Shape;315;p99"/>
          <p:cNvSpPr txBox="1">
            <a:spLocks noGrp="1"/>
          </p:cNvSpPr>
          <p:nvPr>
            <p:ph type="title"/>
          </p:nvPr>
        </p:nvSpPr>
        <p:spPr>
          <a:xfrm>
            <a:off x="777240" y="7968"/>
            <a:ext cx="11413173" cy="12694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3A3838"/>
              </a:buClr>
              <a:buSzPts val="4400"/>
              <a:buFont typeface="Calibri"/>
              <a:buNone/>
              <a:defRPr sz="4400" b="1" i="0" u="none" strike="noStrike" cap="none">
                <a:solidFill>
                  <a:srgbClr val="3A3838"/>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316" name="Google Shape;316;p99"/>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8"/>
            <a:ext cx="322982" cy="6857984"/>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Concept Development">
  <p:cSld name="Concept Development">
    <p:spTree>
      <p:nvGrpSpPr>
        <p:cNvPr id="1" name="Shape 317"/>
        <p:cNvGrpSpPr/>
        <p:nvPr/>
      </p:nvGrpSpPr>
      <p:grpSpPr>
        <a:xfrm>
          <a:off x="0" y="0"/>
          <a:ext cx="0" cy="0"/>
          <a:chOff x="0" y="0"/>
          <a:chExt cx="0" cy="0"/>
        </a:xfrm>
      </p:grpSpPr>
      <p:sp>
        <p:nvSpPr>
          <p:cNvPr id="318" name="Google Shape;318;p10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19" name="Google Shape;319;p100"/>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320" name="Google Shape;320;p100"/>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8"/>
            <a:ext cx="322982" cy="6857984"/>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Concept Development with Timer">
  <p:cSld name="Concept Development with Timer">
    <p:spTree>
      <p:nvGrpSpPr>
        <p:cNvPr id="1" name="Shape 321"/>
        <p:cNvGrpSpPr/>
        <p:nvPr/>
      </p:nvGrpSpPr>
      <p:grpSpPr>
        <a:xfrm>
          <a:off x="0" y="0"/>
          <a:ext cx="0" cy="0"/>
          <a:chOff x="0" y="0"/>
          <a:chExt cx="0" cy="0"/>
        </a:xfrm>
      </p:grpSpPr>
      <p:pic>
        <p:nvPicPr>
          <p:cNvPr id="322" name="Google Shape;322;p101"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323" name="Google Shape;323;p101"/>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24" name="Google Shape;324;p101"/>
          <p:cNvSpPr txBox="1">
            <a:spLocks noGrp="1"/>
          </p:cNvSpPr>
          <p:nvPr>
            <p:ph type="body" idx="2"/>
          </p:nvPr>
        </p:nvSpPr>
        <p:spPr>
          <a:xfrm>
            <a:off x="11127570" y="6036181"/>
            <a:ext cx="654121"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25" name="Google Shape;325;p101"/>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326" name="Google Shape;326;p101"/>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8"/>
            <a:ext cx="322982" cy="6857984"/>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Problem Set with Text">
  <p:cSld name="Problem Set with Text">
    <p:spTree>
      <p:nvGrpSpPr>
        <p:cNvPr id="1" name="Shape 327"/>
        <p:cNvGrpSpPr/>
        <p:nvPr/>
      </p:nvGrpSpPr>
      <p:grpSpPr>
        <a:xfrm>
          <a:off x="0" y="0"/>
          <a:ext cx="0" cy="0"/>
          <a:chOff x="0" y="0"/>
          <a:chExt cx="0" cy="0"/>
        </a:xfrm>
      </p:grpSpPr>
      <p:pic>
        <p:nvPicPr>
          <p:cNvPr id="328" name="Google Shape;328;p102"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329" name="Google Shape;329;p102"/>
          <p:cNvSpPr txBox="1">
            <a:spLocks noGrp="1"/>
          </p:cNvSpPr>
          <p:nvPr>
            <p:ph type="body" idx="1"/>
          </p:nvPr>
        </p:nvSpPr>
        <p:spPr>
          <a:xfrm>
            <a:off x="11140001" y="6036181"/>
            <a:ext cx="622969"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30" name="Google Shape;330;p102"/>
          <p:cNvSpPr txBox="1">
            <a:spLocks noGrp="1"/>
          </p:cNvSpPr>
          <p:nvPr>
            <p:ph type="title"/>
          </p:nvPr>
        </p:nvSpPr>
        <p:spPr>
          <a:xfrm>
            <a:off x="777240" y="1"/>
            <a:ext cx="11407898"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31" name="Google Shape;331;p102"/>
          <p:cNvSpPr txBox="1">
            <a:spLocks noGrp="1"/>
          </p:cNvSpPr>
          <p:nvPr>
            <p:ph type="body" idx="2"/>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332" name="Google Shape;332;p102"/>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8"/>
            <a:ext cx="322982" cy="6857984"/>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Student Debrief">
  <p:cSld name="Student Debrief">
    <p:spTree>
      <p:nvGrpSpPr>
        <p:cNvPr id="1" name="Shape 333"/>
        <p:cNvGrpSpPr/>
        <p:nvPr/>
      </p:nvGrpSpPr>
      <p:grpSpPr>
        <a:xfrm>
          <a:off x="0" y="0"/>
          <a:ext cx="0" cy="0"/>
          <a:chOff x="0" y="0"/>
          <a:chExt cx="0" cy="0"/>
        </a:xfrm>
      </p:grpSpPr>
      <p:pic>
        <p:nvPicPr>
          <p:cNvPr id="334" name="Google Shape;334;p103"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335" name="Google Shape;335;p103"/>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chemeClr val="dk1"/>
              </a:buClr>
              <a:buSzPts val="2800"/>
              <a:buFont typeface="Arial"/>
              <a:buChar char="•"/>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10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10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1000"/>
              </a:spcBef>
              <a:spcAft>
                <a:spcPts val="100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36" name="Google Shape;336;p103"/>
          <p:cNvSpPr txBox="1">
            <a:spLocks noGrp="1"/>
          </p:cNvSpPr>
          <p:nvPr>
            <p:ph type="body" idx="2"/>
          </p:nvPr>
        </p:nvSpPr>
        <p:spPr>
          <a:xfrm>
            <a:off x="11127570" y="6036181"/>
            <a:ext cx="645330"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37" name="Google Shape;337;p103"/>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338" name="Google Shape;338;p103"/>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8"/>
            <a:ext cx="322982" cy="6857984"/>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Exit Ticket">
  <p:cSld name="Exit Ticket">
    <p:spTree>
      <p:nvGrpSpPr>
        <p:cNvPr id="1" name="Shape 339"/>
        <p:cNvGrpSpPr/>
        <p:nvPr/>
      </p:nvGrpSpPr>
      <p:grpSpPr>
        <a:xfrm>
          <a:off x="0" y="0"/>
          <a:ext cx="0" cy="0"/>
          <a:chOff x="0" y="0"/>
          <a:chExt cx="0" cy="0"/>
        </a:xfrm>
      </p:grpSpPr>
      <p:pic>
        <p:nvPicPr>
          <p:cNvPr id="340" name="Google Shape;340;p104"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341" name="Google Shape;341;p104"/>
          <p:cNvSpPr txBox="1">
            <a:spLocks noGrp="1"/>
          </p:cNvSpPr>
          <p:nvPr>
            <p:ph type="body" idx="1"/>
          </p:nvPr>
        </p:nvSpPr>
        <p:spPr>
          <a:xfrm>
            <a:off x="11127571" y="6036181"/>
            <a:ext cx="635400"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42" name="Google Shape;342;p104"/>
          <p:cNvSpPr txBox="1">
            <a:spLocks noGrp="1"/>
          </p:cNvSpPr>
          <p:nvPr>
            <p:ph type="body" idx="2"/>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1000"/>
              </a:spcBef>
              <a:spcAft>
                <a:spcPts val="0"/>
              </a:spcAft>
              <a:buClr>
                <a:schemeClr val="dk1"/>
              </a:buClr>
              <a:buSzPts val="2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10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10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1000"/>
              </a:spcBef>
              <a:spcAft>
                <a:spcPts val="100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43" name="Google Shape;343;p104"/>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344" name="Google Shape;344;p104"/>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8"/>
            <a:ext cx="322982" cy="6857984"/>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2_Alg I_Title Slide">
  <p:cSld name="2_Alg I_Title Slide">
    <p:bg>
      <p:bgPr>
        <a:solidFill>
          <a:schemeClr val="lt1"/>
        </a:solidFill>
        <a:effectLst/>
      </p:bgPr>
    </p:bg>
    <p:spTree>
      <p:nvGrpSpPr>
        <p:cNvPr id="1" name="Shape 346"/>
        <p:cNvGrpSpPr/>
        <p:nvPr/>
      </p:nvGrpSpPr>
      <p:grpSpPr>
        <a:xfrm>
          <a:off x="0" y="0"/>
          <a:ext cx="0" cy="0"/>
          <a:chOff x="0" y="0"/>
          <a:chExt cx="0" cy="0"/>
        </a:xfrm>
      </p:grpSpPr>
      <p:sp>
        <p:nvSpPr>
          <p:cNvPr id="347" name="Google Shape;347;p106"/>
          <p:cNvSpPr txBox="1">
            <a:spLocks noGrp="1"/>
          </p:cNvSpPr>
          <p:nvPr>
            <p:ph type="body" idx="1"/>
          </p:nvPr>
        </p:nvSpPr>
        <p:spPr>
          <a:xfrm>
            <a:off x="-1590" y="1622759"/>
            <a:ext cx="12192003" cy="181913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0084AC"/>
              </a:buClr>
              <a:buSzPts val="6000"/>
              <a:buFont typeface="Arial"/>
              <a:buNone/>
              <a:defRPr sz="6000" b="1" i="0" u="none" strike="noStrike" cap="none">
                <a:solidFill>
                  <a:srgbClr val="0084AC"/>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48" name="Google Shape;348;p106"/>
          <p:cNvSpPr txBox="1">
            <a:spLocks noGrp="1"/>
          </p:cNvSpPr>
          <p:nvPr>
            <p:ph type="body" idx="2"/>
          </p:nvPr>
        </p:nvSpPr>
        <p:spPr>
          <a:xfrm>
            <a:off x="-1590" y="3641189"/>
            <a:ext cx="12190413" cy="822457"/>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43965"/>
              </a:buClr>
              <a:buSzPts val="4400"/>
              <a:buFont typeface="Arial"/>
              <a:buNone/>
              <a:defRPr sz="4400" b="0" i="0" u="none" strike="noStrike" cap="none">
                <a:solidFill>
                  <a:srgbClr val="143965"/>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49" name="Google Shape;349;p106"/>
          <p:cNvSpPr/>
          <p:nvPr/>
        </p:nvSpPr>
        <p:spPr>
          <a:xfrm rot="10800000" flipH="1">
            <a:off x="0" y="0"/>
            <a:ext cx="2467555" cy="954942"/>
          </a:xfrm>
          <a:prstGeom prst="round1Rect">
            <a:avLst>
              <a:gd name="adj" fmla="val 16667"/>
            </a:avLst>
          </a:prstGeom>
          <a:solidFill>
            <a:srgbClr val="0084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0" name="Google Shape;350;p106"/>
          <p:cNvSpPr txBox="1"/>
          <p:nvPr/>
        </p:nvSpPr>
        <p:spPr>
          <a:xfrm>
            <a:off x="0" y="280732"/>
            <a:ext cx="246755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ENGLISH</a:t>
            </a:r>
            <a:endParaRPr/>
          </a:p>
        </p:txBody>
      </p:sp>
      <p:pic>
        <p:nvPicPr>
          <p:cNvPr id="351" name="Google Shape;351;p106" descr="A blue and black logo&#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8940726" y="132485"/>
            <a:ext cx="2910578" cy="954944"/>
          </a:xfrm>
          <a:prstGeom prst="rect">
            <a:avLst/>
          </a:prstGeom>
          <a:noFill/>
          <a:ln>
            <a:noFill/>
          </a:ln>
        </p:spPr>
      </p:pic>
      <p:sp>
        <p:nvSpPr>
          <p:cNvPr id="352" name="Google Shape;352;p106"/>
          <p:cNvSpPr txBox="1"/>
          <p:nvPr/>
        </p:nvSpPr>
        <p:spPr>
          <a:xfrm>
            <a:off x="10111407" y="100769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a:solidFill>
                  <a:srgbClr val="000000"/>
                </a:solidFill>
                <a:latin typeface="Calibri"/>
                <a:ea typeface="Calibri"/>
                <a:cs typeface="Calibri"/>
                <a:sym typeface="Calibri"/>
              </a:rPr>
              <a:t>Secondary Mathematics</a:t>
            </a:r>
            <a:endParaRPr/>
          </a:p>
        </p:txBody>
      </p:sp>
      <p:sp>
        <p:nvSpPr>
          <p:cNvPr id="353" name="Google Shape;353;p106"/>
          <p:cNvSpPr/>
          <p:nvPr/>
        </p:nvSpPr>
        <p:spPr>
          <a:xfrm>
            <a:off x="10236991" y="1306046"/>
            <a:ext cx="907774" cy="298608"/>
          </a:xfrm>
          <a:prstGeom prst="roundRect">
            <a:avLst>
              <a:gd name="adj" fmla="val 16667"/>
            </a:avLst>
          </a:prstGeom>
          <a:solidFill>
            <a:srgbClr val="D0CE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4" name="Google Shape;354;p106"/>
          <p:cNvSpPr txBox="1"/>
          <p:nvPr/>
        </p:nvSpPr>
        <p:spPr>
          <a:xfrm>
            <a:off x="10252484" y="1335768"/>
            <a:ext cx="868018" cy="2378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0">
                <a:solidFill>
                  <a:srgbClr val="757070"/>
                </a:solidFill>
                <a:latin typeface="Calibri"/>
                <a:ea typeface="Calibri"/>
                <a:cs typeface="Calibri"/>
                <a:sym typeface="Calibri"/>
              </a:rPr>
              <a:t>EDITION 1</a:t>
            </a:r>
            <a:endParaRPr/>
          </a:p>
        </p:txBody>
      </p:sp>
      <p:pic>
        <p:nvPicPr>
          <p:cNvPr id="355" name="Google Shape;355;p106"/>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2" y="4663225"/>
            <a:ext cx="12190407" cy="2194774"/>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9_G2 Copyright">
  <p:cSld name="9_G2 Copyright">
    <p:bg>
      <p:bgPr>
        <a:solidFill>
          <a:schemeClr val="lt1"/>
        </a:solidFill>
        <a:effectLst/>
      </p:bgPr>
    </p:bg>
    <p:spTree>
      <p:nvGrpSpPr>
        <p:cNvPr id="1" name="Shape 356"/>
        <p:cNvGrpSpPr/>
        <p:nvPr/>
      </p:nvGrpSpPr>
      <p:grpSpPr>
        <a:xfrm>
          <a:off x="0" y="0"/>
          <a:ext cx="0" cy="0"/>
          <a:chOff x="0" y="0"/>
          <a:chExt cx="0" cy="0"/>
        </a:xfrm>
      </p:grpSpPr>
      <p:pic>
        <p:nvPicPr>
          <p:cNvPr id="357" name="Google Shape;357;p107"/>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932192"/>
            <a:ext cx="12190410" cy="5925807"/>
          </a:xfrm>
          <a:prstGeom prst="rect">
            <a:avLst/>
          </a:prstGeom>
          <a:noFill/>
          <a:ln>
            <a:noFill/>
          </a:ln>
        </p:spPr>
      </p:pic>
      <p:sp>
        <p:nvSpPr>
          <p:cNvPr id="358" name="Google Shape;358;p107"/>
          <p:cNvSpPr/>
          <p:nvPr/>
        </p:nvSpPr>
        <p:spPr>
          <a:xfrm>
            <a:off x="1668545" y="2356700"/>
            <a:ext cx="1715678" cy="2648931"/>
          </a:xfrm>
          <a:prstGeom prst="ellipse">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9" name="Google Shape;359;p107"/>
          <p:cNvSpPr/>
          <p:nvPr/>
        </p:nvSpPr>
        <p:spPr>
          <a:xfrm>
            <a:off x="1310326" y="4873659"/>
            <a:ext cx="2073897" cy="679000"/>
          </a:xfrm>
          <a:prstGeom prst="rect">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0" name="Google Shape;360;p107"/>
          <p:cNvSpPr txBox="1"/>
          <p:nvPr/>
        </p:nvSpPr>
        <p:spPr>
          <a:xfrm>
            <a:off x="1023907" y="1792363"/>
            <a:ext cx="10141011" cy="4247317"/>
          </a:xfrm>
          <a:prstGeom prst="rect">
            <a:avLst/>
          </a:prstGeom>
          <a:solidFill>
            <a:schemeClr val="lt1"/>
          </a:solidFill>
          <a:ln w="38100"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3A3838"/>
                </a:solidFill>
                <a:latin typeface="Calibri"/>
                <a:ea typeface="Calibri"/>
                <a:cs typeface="Calibri"/>
                <a:sym typeface="Calibri"/>
              </a:rPr>
              <a:t>Acknowledgment</a:t>
            </a:r>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Thank you to all the Texas educators and stakeholders who supported the review process and provided feedback. These materials are the result of the work of numerous individuals, and we are deeply grateful for their contributions.</a:t>
            </a:r>
            <a:endParaRPr sz="1800">
              <a:solidFill>
                <a:srgbClr val="3A3838"/>
              </a:solidFill>
              <a:latin typeface="Calibri"/>
              <a:ea typeface="Calibri"/>
              <a:cs typeface="Calibri"/>
              <a:sym typeface="Calibri"/>
            </a:endParaRPr>
          </a:p>
          <a:p>
            <a:pPr marL="0" marR="0" lvl="0" indent="0" algn="l" rtl="0">
              <a:spcBef>
                <a:spcPts val="0"/>
              </a:spcBef>
              <a:spcAft>
                <a:spcPts val="0"/>
              </a:spcAft>
              <a:buNone/>
            </a:pPr>
            <a:endParaRPr sz="1800">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b="1">
                <a:solidFill>
                  <a:srgbClr val="3A3838"/>
                </a:solidFill>
                <a:latin typeface="Calibri"/>
                <a:ea typeface="Calibri"/>
                <a:cs typeface="Calibri"/>
                <a:sym typeface="Calibri"/>
              </a:rPr>
              <a:t>Notice</a:t>
            </a:r>
            <a:endParaRPr sz="1800" b="1">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These learning resources have been built for Texas students, aligned to the Texas Essential Knowledge and Skills, and are made available pursuant to Chapter 31, Subchapter B-1 of the Texas Education Code.</a:t>
            </a:r>
            <a:endParaRPr sz="1800">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If you have further questions or to report an error, please email </a:t>
            </a:r>
            <a:r>
              <a:rPr lang="en-US" sz="1800" u="sng">
                <a:solidFill>
                  <a:srgbClr val="3A3838"/>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openeducationresources@tea.texas.gov</a:t>
            </a:r>
            <a:r>
              <a:rPr lang="en-US" sz="1800">
                <a:solidFill>
                  <a:srgbClr val="3A3838"/>
                </a:solidFill>
                <a:latin typeface="Calibri"/>
                <a:ea typeface="Calibri"/>
                <a:cs typeface="Calibri"/>
                <a:sym typeface="Calibri"/>
              </a:rPr>
              <a:t>.</a:t>
            </a:r>
            <a:endParaRPr/>
          </a:p>
          <a:p>
            <a:pPr marL="0" marR="0" lvl="0" indent="0" algn="l" rtl="0">
              <a:spcBef>
                <a:spcPts val="0"/>
              </a:spcBef>
              <a:spcAft>
                <a:spcPts val="0"/>
              </a:spcAft>
              <a:buNone/>
            </a:pPr>
            <a:endParaRPr sz="1800">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Copyright ©2024 Texas Education Agency. This work based on or adapted from materials contained in Great Minds' Eureka Math® K-5 PDF files. </a:t>
            </a:r>
            <a:endParaRPr/>
          </a:p>
          <a:p>
            <a:pPr marL="0" marR="0" lvl="0" indent="0" algn="l" rtl="0">
              <a:spcBef>
                <a:spcPts val="0"/>
              </a:spcBef>
              <a:spcAft>
                <a:spcPts val="0"/>
              </a:spcAft>
              <a:buNone/>
            </a:pPr>
            <a:endParaRPr sz="1800">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These materials are made available by the Texas Education Agency under an open license. For information about the license and your rights to use the materials, visit: </a:t>
            </a:r>
            <a:r>
              <a:rPr lang="en-US" sz="1800" u="sng">
                <a:solidFill>
                  <a:srgbClr val="3A3838"/>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https://tea.texas.gov/K-5Math</a:t>
            </a:r>
            <a:r>
              <a:rPr lang="en-US" sz="1800">
                <a:solidFill>
                  <a:srgbClr val="3A3838"/>
                </a:solidFill>
                <a:latin typeface="Calibri"/>
                <a:ea typeface="Calibri"/>
                <a:cs typeface="Calibri"/>
                <a:sym typeface="Calibri"/>
              </a:rPr>
              <a:t>. </a:t>
            </a:r>
            <a:endParaRPr/>
          </a:p>
        </p:txBody>
      </p:sp>
      <p:pic>
        <p:nvPicPr>
          <p:cNvPr id="361" name="Google Shape;361;p107" descr="A blue and black logo&#10;&#10;AI-generated content may be incorrect."/>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84963" y="101527"/>
            <a:ext cx="2080268" cy="682524"/>
          </a:xfrm>
          <a:prstGeom prst="rect">
            <a:avLst/>
          </a:prstGeom>
          <a:noFill/>
          <a:ln>
            <a:noFill/>
          </a:ln>
        </p:spPr>
      </p:pic>
      <p:sp>
        <p:nvSpPr>
          <p:cNvPr id="362" name="Google Shape;362;p107"/>
          <p:cNvSpPr txBox="1"/>
          <p:nvPr/>
        </p:nvSpPr>
        <p:spPr>
          <a:xfrm>
            <a:off x="862304" y="69238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a:solidFill>
                  <a:srgbClr val="000000"/>
                </a:solidFill>
                <a:latin typeface="Calibri"/>
                <a:ea typeface="Calibri"/>
                <a:cs typeface="Calibri"/>
                <a:sym typeface="Calibri"/>
              </a:rPr>
              <a:t>Secondary Mathematics</a:t>
            </a: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Alg I_Activity">
  <p:cSld name="Alg I_Activity">
    <p:bg>
      <p:bgPr>
        <a:solidFill>
          <a:schemeClr val="lt1"/>
        </a:solidFill>
        <a:effectLst/>
      </p:bgPr>
    </p:bg>
    <p:spTree>
      <p:nvGrpSpPr>
        <p:cNvPr id="1" name="Shape 363"/>
        <p:cNvGrpSpPr/>
        <p:nvPr/>
      </p:nvGrpSpPr>
      <p:grpSpPr>
        <a:xfrm>
          <a:off x="0" y="0"/>
          <a:ext cx="0" cy="0"/>
          <a:chOff x="0" y="0"/>
          <a:chExt cx="0" cy="0"/>
        </a:xfrm>
      </p:grpSpPr>
      <p:pic>
        <p:nvPicPr>
          <p:cNvPr id="364" name="Google Shape;364;p108"/>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3" y="2316529"/>
            <a:ext cx="12190409" cy="2682140"/>
          </a:xfrm>
          <a:prstGeom prst="rect">
            <a:avLst/>
          </a:prstGeom>
          <a:noFill/>
          <a:ln>
            <a:noFill/>
          </a:ln>
        </p:spPr>
      </p:pic>
      <p:sp>
        <p:nvSpPr>
          <p:cNvPr id="365" name="Google Shape;365;p108"/>
          <p:cNvSpPr txBox="1"/>
          <p:nvPr/>
        </p:nvSpPr>
        <p:spPr>
          <a:xfrm>
            <a:off x="3352800" y="2984501"/>
            <a:ext cx="5499100" cy="1143000"/>
          </a:xfrm>
          <a:prstGeom prst="rect">
            <a:avLst/>
          </a:prstGeom>
          <a:solidFill>
            <a:srgbClr val="0084AC"/>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endParaRPr sz="7500" b="1">
              <a:solidFill>
                <a:schemeClr val="lt1"/>
              </a:solidFill>
              <a:latin typeface="Calibri"/>
              <a:ea typeface="Calibri"/>
              <a:cs typeface="Calibri"/>
              <a:sym typeface="Calibri"/>
            </a:endParaRPr>
          </a:p>
        </p:txBody>
      </p:sp>
      <p:sp>
        <p:nvSpPr>
          <p:cNvPr id="366" name="Google Shape;366;p108"/>
          <p:cNvSpPr txBox="1"/>
          <p:nvPr/>
        </p:nvSpPr>
        <p:spPr>
          <a:xfrm>
            <a:off x="3340100" y="3136900"/>
            <a:ext cx="3302000" cy="946413"/>
          </a:xfrm>
          <a:prstGeom prst="rect">
            <a:avLst/>
          </a:prstGeom>
          <a:noFill/>
          <a:ln>
            <a:noFill/>
          </a:ln>
        </p:spPr>
        <p:txBody>
          <a:bodyPr spcFirstLastPara="1" wrap="square" lIns="0" tIns="0" rIns="0" bIns="0" anchor="t" anchorCtr="0">
            <a:spAutoFit/>
          </a:bodyPr>
          <a:lstStyle/>
          <a:p>
            <a:pPr marL="0" marR="0" lvl="0" indent="0" algn="r" rtl="0">
              <a:lnSpc>
                <a:spcPct val="80000"/>
              </a:lnSpc>
              <a:spcBef>
                <a:spcPts val="0"/>
              </a:spcBef>
              <a:spcAft>
                <a:spcPts val="0"/>
              </a:spcAft>
              <a:buNone/>
            </a:pPr>
            <a:r>
              <a:rPr lang="en-US" sz="7500" b="1">
                <a:solidFill>
                  <a:schemeClr val="lt1"/>
                </a:solidFill>
                <a:latin typeface="Calibri"/>
                <a:ea typeface="Calibri"/>
                <a:cs typeface="Calibri"/>
                <a:sym typeface="Calibri"/>
              </a:rPr>
              <a:t>Activity </a:t>
            </a:r>
            <a:endParaRPr sz="7500" b="1">
              <a:solidFill>
                <a:schemeClr val="lt1"/>
              </a:solidFill>
              <a:latin typeface="Calibri"/>
              <a:ea typeface="Calibri"/>
              <a:cs typeface="Calibri"/>
              <a:sym typeface="Calibri"/>
            </a:endParaRPr>
          </a:p>
        </p:txBody>
      </p:sp>
      <p:sp>
        <p:nvSpPr>
          <p:cNvPr id="367" name="Google Shape;367;p108"/>
          <p:cNvSpPr txBox="1">
            <a:spLocks noGrp="1"/>
          </p:cNvSpPr>
          <p:nvPr>
            <p:ph type="body" idx="1"/>
          </p:nvPr>
        </p:nvSpPr>
        <p:spPr>
          <a:xfrm>
            <a:off x="6769100" y="2957776"/>
            <a:ext cx="2025986" cy="11255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7500"/>
              <a:buFont typeface="Arial"/>
              <a:buNone/>
              <a:defRPr sz="7500" b="1"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368" name="Google Shape;368;p108"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369" name="Google Shape;369;p108"/>
          <p:cNvSpPr txBox="1">
            <a:spLocks noGrp="1"/>
          </p:cNvSpPr>
          <p:nvPr>
            <p:ph type="body" idx="2"/>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Alg I_Talk the Talk">
  <p:cSld name="Alg I_Talk the Talk">
    <p:bg>
      <p:bgPr>
        <a:solidFill>
          <a:schemeClr val="lt1"/>
        </a:solidFill>
        <a:effectLst/>
      </p:bgPr>
    </p:bg>
    <p:spTree>
      <p:nvGrpSpPr>
        <p:cNvPr id="1" name="Shape 370"/>
        <p:cNvGrpSpPr/>
        <p:nvPr/>
      </p:nvGrpSpPr>
      <p:grpSpPr>
        <a:xfrm>
          <a:off x="0" y="0"/>
          <a:ext cx="0" cy="0"/>
          <a:chOff x="0" y="0"/>
          <a:chExt cx="0" cy="0"/>
        </a:xfrm>
      </p:grpSpPr>
      <p:pic>
        <p:nvPicPr>
          <p:cNvPr id="371" name="Google Shape;371;p109"/>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3" y="2316529"/>
            <a:ext cx="12190409" cy="2682140"/>
          </a:xfrm>
          <a:prstGeom prst="rect">
            <a:avLst/>
          </a:prstGeom>
          <a:noFill/>
          <a:ln>
            <a:noFill/>
          </a:ln>
        </p:spPr>
      </p:pic>
      <p:sp>
        <p:nvSpPr>
          <p:cNvPr id="372" name="Google Shape;372;p109"/>
          <p:cNvSpPr txBox="1"/>
          <p:nvPr/>
        </p:nvSpPr>
        <p:spPr>
          <a:xfrm>
            <a:off x="3352800" y="2984501"/>
            <a:ext cx="5499100" cy="1143000"/>
          </a:xfrm>
          <a:prstGeom prst="rect">
            <a:avLst/>
          </a:prstGeom>
          <a:solidFill>
            <a:srgbClr val="0084AC"/>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Talk the Talk</a:t>
            </a:r>
            <a:endParaRPr sz="7500" b="1">
              <a:solidFill>
                <a:schemeClr val="lt1"/>
              </a:solidFill>
              <a:latin typeface="Calibri"/>
              <a:ea typeface="Calibri"/>
              <a:cs typeface="Calibri"/>
              <a:sym typeface="Calibri"/>
            </a:endParaRPr>
          </a:p>
        </p:txBody>
      </p:sp>
      <p:pic>
        <p:nvPicPr>
          <p:cNvPr id="373" name="Google Shape;373;p109"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374" name="Google Shape;374;p109"/>
          <p:cNvSpPr txBox="1">
            <a:spLocks noGrp="1"/>
          </p:cNvSpPr>
          <p:nvPr>
            <p:ph type="body" idx="1"/>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Alg I_Getting Started">
  <p:cSld name="Alg I_Getting Started">
    <p:bg>
      <p:bgPr>
        <a:solidFill>
          <a:schemeClr val="lt1"/>
        </a:solidFill>
        <a:effectLst/>
      </p:bgPr>
    </p:bg>
    <p:spTree>
      <p:nvGrpSpPr>
        <p:cNvPr id="1" name="Shape 375"/>
        <p:cNvGrpSpPr/>
        <p:nvPr/>
      </p:nvGrpSpPr>
      <p:grpSpPr>
        <a:xfrm>
          <a:off x="0" y="0"/>
          <a:ext cx="0" cy="0"/>
          <a:chOff x="0" y="0"/>
          <a:chExt cx="0" cy="0"/>
        </a:xfrm>
      </p:grpSpPr>
      <p:pic>
        <p:nvPicPr>
          <p:cNvPr id="376" name="Google Shape;376;p110"/>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3" y="2316529"/>
            <a:ext cx="12190409" cy="2682140"/>
          </a:xfrm>
          <a:prstGeom prst="rect">
            <a:avLst/>
          </a:prstGeom>
          <a:noFill/>
          <a:ln>
            <a:noFill/>
          </a:ln>
        </p:spPr>
      </p:pic>
      <p:sp>
        <p:nvSpPr>
          <p:cNvPr id="377" name="Google Shape;377;p110" descr="A green and black pattern&#10;&#10;AI-generated content may be incorrect."/>
          <p:cNvSpPr txBox="1"/>
          <p:nvPr/>
        </p:nvSpPr>
        <p:spPr>
          <a:xfrm>
            <a:off x="2767915" y="2984501"/>
            <a:ext cx="6660292" cy="1143000"/>
          </a:xfrm>
          <a:prstGeom prst="rect">
            <a:avLst/>
          </a:prstGeom>
          <a:solidFill>
            <a:srgbClr val="0084AC"/>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Getting Started</a:t>
            </a:r>
            <a:endParaRPr sz="7500" b="1">
              <a:solidFill>
                <a:schemeClr val="lt1"/>
              </a:solidFill>
              <a:latin typeface="Calibri"/>
              <a:ea typeface="Calibri"/>
              <a:cs typeface="Calibri"/>
              <a:sym typeface="Calibri"/>
            </a:endParaRPr>
          </a:p>
        </p:txBody>
      </p:sp>
      <p:pic>
        <p:nvPicPr>
          <p:cNvPr id="378" name="Google Shape;378;p110"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379" name="Google Shape;379;p110"/>
          <p:cNvSpPr txBox="1">
            <a:spLocks noGrp="1"/>
          </p:cNvSpPr>
          <p:nvPr>
            <p:ph type="body" idx="1"/>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1_Alg I_Getting Started">
  <p:cSld name="1_Alg I_Getting Started">
    <p:bg>
      <p:bgPr>
        <a:solidFill>
          <a:schemeClr val="lt1"/>
        </a:solidFill>
        <a:effectLst/>
      </p:bgPr>
    </p:bg>
    <p:spTree>
      <p:nvGrpSpPr>
        <p:cNvPr id="1" name="Shape 380"/>
        <p:cNvGrpSpPr/>
        <p:nvPr/>
      </p:nvGrpSpPr>
      <p:grpSpPr>
        <a:xfrm>
          <a:off x="0" y="0"/>
          <a:ext cx="0" cy="0"/>
          <a:chOff x="0" y="0"/>
          <a:chExt cx="0" cy="0"/>
        </a:xfrm>
      </p:grpSpPr>
      <p:pic>
        <p:nvPicPr>
          <p:cNvPr id="381" name="Google Shape;381;p111"/>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3" y="2316529"/>
            <a:ext cx="12190409" cy="2682140"/>
          </a:xfrm>
          <a:prstGeom prst="rect">
            <a:avLst/>
          </a:prstGeom>
          <a:noFill/>
          <a:ln>
            <a:noFill/>
          </a:ln>
        </p:spPr>
      </p:pic>
      <p:sp>
        <p:nvSpPr>
          <p:cNvPr id="382" name="Google Shape;382;p111" descr="A green and black pattern&#10;&#10;AI-generated content may be incorrect."/>
          <p:cNvSpPr txBox="1"/>
          <p:nvPr/>
        </p:nvSpPr>
        <p:spPr>
          <a:xfrm>
            <a:off x="3866323" y="2984501"/>
            <a:ext cx="4432852" cy="1143000"/>
          </a:xfrm>
          <a:prstGeom prst="rect">
            <a:avLst/>
          </a:prstGeom>
          <a:solidFill>
            <a:srgbClr val="0084AC"/>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Prepare</a:t>
            </a:r>
            <a:endParaRPr sz="7500" b="1">
              <a:solidFill>
                <a:schemeClr val="lt1"/>
              </a:solidFill>
              <a:latin typeface="Calibri"/>
              <a:ea typeface="Calibri"/>
              <a:cs typeface="Calibri"/>
              <a:sym typeface="Calibri"/>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Alg I_Session Divider">
  <p:cSld name="Alg I_Session Divider">
    <p:bg>
      <p:bgPr>
        <a:solidFill>
          <a:schemeClr val="lt1"/>
        </a:solidFill>
        <a:effectLst/>
      </p:bgPr>
    </p:bg>
    <p:spTree>
      <p:nvGrpSpPr>
        <p:cNvPr id="1" name="Shape 383"/>
        <p:cNvGrpSpPr/>
        <p:nvPr/>
      </p:nvGrpSpPr>
      <p:grpSpPr>
        <a:xfrm>
          <a:off x="0" y="0"/>
          <a:ext cx="0" cy="0"/>
          <a:chOff x="0" y="0"/>
          <a:chExt cx="0" cy="0"/>
        </a:xfrm>
      </p:grpSpPr>
      <p:sp>
        <p:nvSpPr>
          <p:cNvPr id="384" name="Google Shape;384;p112"/>
          <p:cNvSpPr txBox="1"/>
          <p:nvPr/>
        </p:nvSpPr>
        <p:spPr>
          <a:xfrm>
            <a:off x="4918157" y="2955793"/>
            <a:ext cx="1512037" cy="946413"/>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7500" b="1">
                <a:solidFill>
                  <a:srgbClr val="171616"/>
                </a:solidFill>
                <a:latin typeface="Calibri"/>
                <a:ea typeface="Calibri"/>
                <a:cs typeface="Calibri"/>
                <a:sym typeface="Calibri"/>
              </a:rPr>
              <a:t>Day</a:t>
            </a:r>
            <a:endParaRPr sz="7500" b="1">
              <a:solidFill>
                <a:srgbClr val="171616"/>
              </a:solidFill>
              <a:latin typeface="Calibri"/>
              <a:ea typeface="Calibri"/>
              <a:cs typeface="Calibri"/>
              <a:sym typeface="Calibri"/>
            </a:endParaRPr>
          </a:p>
        </p:txBody>
      </p:sp>
      <p:sp>
        <p:nvSpPr>
          <p:cNvPr id="385" name="Google Shape;385;p112"/>
          <p:cNvSpPr txBox="1">
            <a:spLocks noGrp="1"/>
          </p:cNvSpPr>
          <p:nvPr>
            <p:ph type="body" idx="1"/>
          </p:nvPr>
        </p:nvSpPr>
        <p:spPr>
          <a:xfrm>
            <a:off x="5578106" y="2843523"/>
            <a:ext cx="1061883" cy="1071562"/>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000000"/>
              </a:buClr>
              <a:buSzPts val="7500"/>
              <a:buFont typeface="Arial"/>
              <a:buNone/>
              <a:defRPr sz="7500" b="1" i="0" u="none" strike="noStrike" cap="none">
                <a:solidFill>
                  <a:srgbClr val="000000"/>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386" name="Google Shape;386;p112"/>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2" y="4663225"/>
            <a:ext cx="12190407" cy="2194774"/>
          </a:xfrm>
          <a:prstGeom prst="rect">
            <a:avLst/>
          </a:prstGeom>
          <a:noFill/>
          <a:ln>
            <a:noFill/>
          </a:ln>
        </p:spPr>
      </p:pic>
      <p:pic>
        <p:nvPicPr>
          <p:cNvPr id="387" name="Google Shape;387;p112"/>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rot="10800000">
            <a:off x="-791" y="0"/>
            <a:ext cx="12190407" cy="2194774"/>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Alg I_Cutouts Divider">
  <p:cSld name="Alg I_Cutouts Divider">
    <p:bg>
      <p:bgPr>
        <a:solidFill>
          <a:schemeClr val="lt1"/>
        </a:solidFill>
        <a:effectLst/>
      </p:bgPr>
    </p:bg>
    <p:spTree>
      <p:nvGrpSpPr>
        <p:cNvPr id="1" name="Shape 388"/>
        <p:cNvGrpSpPr/>
        <p:nvPr/>
      </p:nvGrpSpPr>
      <p:grpSpPr>
        <a:xfrm>
          <a:off x="0" y="0"/>
          <a:ext cx="0" cy="0"/>
          <a:chOff x="0" y="0"/>
          <a:chExt cx="0" cy="0"/>
        </a:xfrm>
      </p:grpSpPr>
      <p:sp>
        <p:nvSpPr>
          <p:cNvPr id="389" name="Google Shape;389;p113"/>
          <p:cNvSpPr txBox="1">
            <a:spLocks noGrp="1"/>
          </p:cNvSpPr>
          <p:nvPr>
            <p:ph type="body" idx="1"/>
          </p:nvPr>
        </p:nvSpPr>
        <p:spPr>
          <a:xfrm>
            <a:off x="5171005" y="2395538"/>
            <a:ext cx="1848402" cy="1033462"/>
          </a:xfrm>
          <a:prstGeom prst="rect">
            <a:avLst/>
          </a:prstGeom>
          <a:noFill/>
          <a:ln>
            <a:noFill/>
          </a:ln>
        </p:spPr>
        <p:txBody>
          <a:bodyPr spcFirstLastPara="1" wrap="square" lIns="91425" tIns="45700" rIns="91425" bIns="45700" anchor="t" anchorCtr="0">
            <a:noAutofit/>
          </a:bodyPr>
          <a:lstStyle>
            <a:lvl1pPr marL="457200" marR="0" lvl="0" indent="-704850" algn="l" rtl="0">
              <a:lnSpc>
                <a:spcPct val="90000"/>
              </a:lnSpc>
              <a:spcBef>
                <a:spcPts val="10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1pPr>
            <a:lvl2pPr marL="914400" marR="0" lvl="1"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2pPr>
            <a:lvl3pPr marL="1371600" marR="0" lvl="2"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3pPr>
            <a:lvl4pPr marL="1828800" marR="0" lvl="3"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4pPr>
            <a:lvl5pPr marL="2286000" marR="0" lvl="4"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390" name="Google Shape;390;p113"/>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2" y="4663225"/>
            <a:ext cx="12190407" cy="2194774"/>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Alg I_Back Cover">
  <p:cSld name="Alg I_Back Cover">
    <p:bg>
      <p:bgPr>
        <a:solidFill>
          <a:schemeClr val="lt1"/>
        </a:solidFill>
        <a:effectLst/>
      </p:bgPr>
    </p:bg>
    <p:spTree>
      <p:nvGrpSpPr>
        <p:cNvPr id="1" name="Shape 391"/>
        <p:cNvGrpSpPr/>
        <p:nvPr/>
      </p:nvGrpSpPr>
      <p:grpSpPr>
        <a:xfrm>
          <a:off x="0" y="0"/>
          <a:ext cx="0" cy="0"/>
          <a:chOff x="0" y="0"/>
          <a:chExt cx="0" cy="0"/>
        </a:xfrm>
      </p:grpSpPr>
      <p:sp>
        <p:nvSpPr>
          <p:cNvPr id="392" name="Google Shape;392;p114"/>
          <p:cNvSpPr txBox="1">
            <a:spLocks noGrp="1"/>
          </p:cNvSpPr>
          <p:nvPr>
            <p:ph type="body" idx="1"/>
          </p:nvPr>
        </p:nvSpPr>
        <p:spPr>
          <a:xfrm>
            <a:off x="8155889" y="4975063"/>
            <a:ext cx="3431356" cy="414778"/>
          </a:xfrm>
          <a:prstGeom prst="rect">
            <a:avLst/>
          </a:prstGeom>
          <a:solidFill>
            <a:srgbClr val="61449B"/>
          </a:solidFill>
          <a:ln>
            <a:noFill/>
          </a:ln>
        </p:spPr>
        <p:txBody>
          <a:bodyPr spcFirstLastPara="1" wrap="square" lIns="0" tIns="45700" rIns="0" bIns="45700" anchor="ctr" anchorCtr="0">
            <a:noAutofit/>
          </a:bodyPr>
          <a:lstStyle>
            <a:lvl1pPr marL="457200" marR="0" lvl="0" indent="-228600" algn="ctr"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393" name="Google Shape;393;p114"/>
          <p:cNvGrpSpPr/>
          <p:nvPr/>
        </p:nvGrpSpPr>
        <p:grpSpPr>
          <a:xfrm>
            <a:off x="9053008" y="227306"/>
            <a:ext cx="2910578" cy="1472169"/>
            <a:chOff x="8940726" y="132485"/>
            <a:chExt cx="2910578" cy="1472169"/>
          </a:xfrm>
        </p:grpSpPr>
        <p:pic>
          <p:nvPicPr>
            <p:cNvPr id="394" name="Google Shape;394;p114" descr="A blue and black logo&#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8940726" y="132485"/>
              <a:ext cx="2910578" cy="954944"/>
            </a:xfrm>
            <a:prstGeom prst="rect">
              <a:avLst/>
            </a:prstGeom>
            <a:noFill/>
            <a:ln>
              <a:noFill/>
            </a:ln>
          </p:spPr>
        </p:pic>
        <p:sp>
          <p:nvSpPr>
            <p:cNvPr id="395" name="Google Shape;395;p114"/>
            <p:cNvSpPr txBox="1"/>
            <p:nvPr/>
          </p:nvSpPr>
          <p:spPr>
            <a:xfrm>
              <a:off x="10111407" y="100769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a:solidFill>
                    <a:srgbClr val="000000"/>
                  </a:solidFill>
                  <a:latin typeface="Calibri"/>
                  <a:ea typeface="Calibri"/>
                  <a:cs typeface="Calibri"/>
                  <a:sym typeface="Calibri"/>
                </a:rPr>
                <a:t>Secondary Mathematics</a:t>
              </a:r>
              <a:endParaRPr/>
            </a:p>
          </p:txBody>
        </p:sp>
        <p:sp>
          <p:nvSpPr>
            <p:cNvPr id="396" name="Google Shape;396;p114"/>
            <p:cNvSpPr/>
            <p:nvPr/>
          </p:nvSpPr>
          <p:spPr>
            <a:xfrm>
              <a:off x="10236991" y="1306046"/>
              <a:ext cx="907774" cy="298608"/>
            </a:xfrm>
            <a:prstGeom prst="roundRect">
              <a:avLst>
                <a:gd name="adj" fmla="val 16667"/>
              </a:avLst>
            </a:prstGeom>
            <a:solidFill>
              <a:srgbClr val="D0CE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7" name="Google Shape;397;p114"/>
            <p:cNvSpPr txBox="1"/>
            <p:nvPr/>
          </p:nvSpPr>
          <p:spPr>
            <a:xfrm>
              <a:off x="10252484" y="1335768"/>
              <a:ext cx="868018" cy="2378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0">
                  <a:solidFill>
                    <a:srgbClr val="757070"/>
                  </a:solidFill>
                  <a:latin typeface="Calibri"/>
                  <a:ea typeface="Calibri"/>
                  <a:cs typeface="Calibri"/>
                  <a:sym typeface="Calibri"/>
                </a:rPr>
                <a:t>EDITION 1</a:t>
              </a:r>
              <a:endParaRPr/>
            </a:p>
          </p:txBody>
        </p:sp>
      </p:grpSp>
      <p:sp>
        <p:nvSpPr>
          <p:cNvPr id="398" name="Google Shape;398;p114"/>
          <p:cNvSpPr/>
          <p:nvPr/>
        </p:nvSpPr>
        <p:spPr>
          <a:xfrm rot="10800000" flipH="1">
            <a:off x="0" y="0"/>
            <a:ext cx="2467555" cy="954942"/>
          </a:xfrm>
          <a:prstGeom prst="round1Rect">
            <a:avLst>
              <a:gd name="adj" fmla="val 16667"/>
            </a:avLst>
          </a:prstGeom>
          <a:solidFill>
            <a:srgbClr val="0084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9" name="Google Shape;399;p114"/>
          <p:cNvSpPr txBox="1"/>
          <p:nvPr/>
        </p:nvSpPr>
        <p:spPr>
          <a:xfrm>
            <a:off x="0" y="280732"/>
            <a:ext cx="246755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ENGLISH</a:t>
            </a:r>
            <a:endParaRPr/>
          </a:p>
        </p:txBody>
      </p:sp>
      <p:pic>
        <p:nvPicPr>
          <p:cNvPr id="400" name="Google Shape;400;p114"/>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2" y="4663225"/>
            <a:ext cx="12190407" cy="2194774"/>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Objective">
  <p:cSld name="Objective">
    <p:spTree>
      <p:nvGrpSpPr>
        <p:cNvPr id="1" name="Shape 401"/>
        <p:cNvGrpSpPr/>
        <p:nvPr/>
      </p:nvGrpSpPr>
      <p:grpSpPr>
        <a:xfrm>
          <a:off x="0" y="0"/>
          <a:ext cx="0" cy="0"/>
          <a:chOff x="0" y="0"/>
          <a:chExt cx="0" cy="0"/>
        </a:xfrm>
      </p:grpSpPr>
      <p:sp>
        <p:nvSpPr>
          <p:cNvPr id="402" name="Google Shape;402;p115"/>
          <p:cNvSpPr/>
          <p:nvPr/>
        </p:nvSpPr>
        <p:spPr>
          <a:xfrm>
            <a:off x="-1586" y="1392600"/>
            <a:ext cx="12192000" cy="549097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3" name="Google Shape;403;p115"/>
          <p:cNvSpPr txBox="1">
            <a:spLocks noGrp="1"/>
          </p:cNvSpPr>
          <p:nvPr>
            <p:ph type="body" idx="1"/>
          </p:nvPr>
        </p:nvSpPr>
        <p:spPr>
          <a:xfrm>
            <a:off x="836614" y="2159879"/>
            <a:ext cx="10515599" cy="395641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3A3838"/>
              </a:buClr>
              <a:buSzPts val="4400"/>
              <a:buFont typeface="Arial"/>
              <a:buNone/>
              <a:defRPr sz="4400" b="0" i="0" u="none" strike="noStrike" cap="none">
                <a:solidFill>
                  <a:srgbClr val="3A3838"/>
                </a:solidFill>
                <a:latin typeface="Calibri"/>
                <a:ea typeface="Calibri"/>
                <a:cs typeface="Calibri"/>
                <a:sym typeface="Calibri"/>
              </a:defRPr>
            </a:lvl1pPr>
            <a:lvl2pPr marL="914400" marR="0" lvl="1"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2pPr>
            <a:lvl3pPr marL="1371600" marR="0" lvl="2"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3pPr>
            <a:lvl4pPr marL="1828800" marR="0" lvl="3"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4pPr>
            <a:lvl5pPr marL="2286000" marR="0" lvl="4"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04" name="Google Shape;404;p115"/>
          <p:cNvSpPr/>
          <p:nvPr/>
        </p:nvSpPr>
        <p:spPr>
          <a:xfrm>
            <a:off x="0" y="0"/>
            <a:ext cx="7575442" cy="927652"/>
          </a:xfrm>
          <a:prstGeom prst="rect">
            <a:avLst/>
          </a:prstGeom>
          <a:solidFill>
            <a:srgbClr val="0084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05" name="Google Shape;405;p115"/>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7575444" y="0"/>
            <a:ext cx="4614964" cy="931320"/>
          </a:xfrm>
          <a:prstGeom prst="rect">
            <a:avLst/>
          </a:prstGeom>
          <a:noFill/>
          <a:ln>
            <a:noFill/>
          </a:ln>
        </p:spPr>
      </p:pic>
      <p:sp>
        <p:nvSpPr>
          <p:cNvPr id="406" name="Google Shape;406;p115"/>
          <p:cNvSpPr txBox="1">
            <a:spLocks noGrp="1"/>
          </p:cNvSpPr>
          <p:nvPr>
            <p:ph type="title"/>
          </p:nvPr>
        </p:nvSpPr>
        <p:spPr>
          <a:xfrm>
            <a:off x="0" y="0"/>
            <a:ext cx="6094413" cy="926757"/>
          </a:xfrm>
          <a:prstGeom prst="rect">
            <a:avLst/>
          </a:prstGeom>
          <a:noFill/>
          <a:ln>
            <a:noFill/>
          </a:ln>
        </p:spPr>
        <p:txBody>
          <a:bodyPr spcFirstLastPara="1" wrap="square" lIns="457200" tIns="45700" rIns="91425" bIns="45700" anchor="ctr" anchorCtr="0">
            <a:noAutofit/>
          </a:bodyPr>
          <a:lstStyle>
            <a:lvl1pPr marR="0" lvl="0" algn="l" rtl="0">
              <a:lnSpc>
                <a:spcPct val="90000"/>
              </a:lnSpc>
              <a:spcBef>
                <a:spcPts val="0"/>
              </a:spcBef>
              <a:spcAft>
                <a:spcPts val="0"/>
              </a:spcAft>
              <a:buClr>
                <a:schemeClr val="lt1"/>
              </a:buClr>
              <a:buSzPts val="4000"/>
              <a:buFont typeface="Calibri"/>
              <a:buNone/>
              <a:defRPr sz="4000" b="1"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erminology">
  <p:cSld name="Terminology">
    <p:bg>
      <p:bgPr>
        <a:solidFill>
          <a:schemeClr val="lt1"/>
        </a:solidFill>
        <a:effectLst/>
      </p:bgPr>
    </p:bg>
    <p:spTree>
      <p:nvGrpSpPr>
        <p:cNvPr id="1" name="Shape 407"/>
        <p:cNvGrpSpPr/>
        <p:nvPr/>
      </p:nvGrpSpPr>
      <p:grpSpPr>
        <a:xfrm>
          <a:off x="0" y="0"/>
          <a:ext cx="0" cy="0"/>
          <a:chOff x="0" y="0"/>
          <a:chExt cx="0" cy="0"/>
        </a:xfrm>
      </p:grpSpPr>
      <p:sp>
        <p:nvSpPr>
          <p:cNvPr id="408" name="Google Shape;408;p116"/>
          <p:cNvSpPr txBox="1">
            <a:spLocks noGrp="1"/>
          </p:cNvSpPr>
          <p:nvPr>
            <p:ph type="body" idx="1"/>
          </p:nvPr>
        </p:nvSpPr>
        <p:spPr>
          <a:xfrm>
            <a:off x="852488" y="1652588"/>
            <a:ext cx="10515600" cy="116974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A3838"/>
              </a:buClr>
              <a:buSzPts val="2800"/>
              <a:buFont typeface="Arial"/>
              <a:buNone/>
              <a:defRPr sz="2800" b="0" i="0" u="none" strike="noStrike" cap="none">
                <a:solidFill>
                  <a:srgbClr val="3A383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09" name="Google Shape;409;p116"/>
          <p:cNvSpPr>
            <a:spLocks noGrp="1"/>
          </p:cNvSpPr>
          <p:nvPr>
            <p:ph type="pic" idx="2"/>
          </p:nvPr>
        </p:nvSpPr>
        <p:spPr>
          <a:xfrm>
            <a:off x="3427412" y="3217943"/>
            <a:ext cx="5335588" cy="2505075"/>
          </a:xfrm>
          <a:prstGeom prst="rect">
            <a:avLst/>
          </a:prstGeom>
          <a:noFill/>
          <a:ln>
            <a:noFill/>
          </a:ln>
        </p:spPr>
      </p:sp>
      <p:sp>
        <p:nvSpPr>
          <p:cNvPr id="410" name="Google Shape;410;p116"/>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2B8147"/>
              </a:buClr>
              <a:buSzPts val="4000"/>
              <a:buFont typeface="Calibri"/>
              <a:buNone/>
              <a:defRPr sz="4000" b="0" i="0" u="none" strike="noStrike" cap="none">
                <a:solidFill>
                  <a:srgbClr val="2B8147"/>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411" name="Google Shape;411;p116"/>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8"/>
            <a:ext cx="322981" cy="6857984"/>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Application Problem Text">
  <p:cSld name="Application Problem Text">
    <p:spTree>
      <p:nvGrpSpPr>
        <p:cNvPr id="1" name="Shape 412"/>
        <p:cNvGrpSpPr/>
        <p:nvPr/>
      </p:nvGrpSpPr>
      <p:grpSpPr>
        <a:xfrm>
          <a:off x="0" y="0"/>
          <a:ext cx="0" cy="0"/>
          <a:chOff x="0" y="0"/>
          <a:chExt cx="0" cy="0"/>
        </a:xfrm>
      </p:grpSpPr>
      <p:pic>
        <p:nvPicPr>
          <p:cNvPr id="413" name="Google Shape;413;p117"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414" name="Google Shape;414;p117"/>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15" name="Google Shape;415;p117"/>
          <p:cNvSpPr txBox="1">
            <a:spLocks noGrp="1"/>
          </p:cNvSpPr>
          <p:nvPr>
            <p:ph type="body" idx="2"/>
          </p:nvPr>
        </p:nvSpPr>
        <p:spPr>
          <a:xfrm>
            <a:off x="11127476" y="6036181"/>
            <a:ext cx="654216"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16" name="Google Shape;416;p117"/>
          <p:cNvSpPr txBox="1">
            <a:spLocks noGrp="1"/>
          </p:cNvSpPr>
          <p:nvPr>
            <p:ph type="title"/>
          </p:nvPr>
        </p:nvSpPr>
        <p:spPr>
          <a:xfrm>
            <a:off x="777240" y="0"/>
            <a:ext cx="11389135" cy="1253765"/>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417" name="Google Shape;417;p117"/>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8"/>
            <a:ext cx="322981" cy="6857984"/>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1_RDW_Horizontal">
  <p:cSld name="1_RDW_Horizontal">
    <p:spTree>
      <p:nvGrpSpPr>
        <p:cNvPr id="1" name="Shape 418"/>
        <p:cNvGrpSpPr/>
        <p:nvPr/>
      </p:nvGrpSpPr>
      <p:grpSpPr>
        <a:xfrm>
          <a:off x="0" y="0"/>
          <a:ext cx="0" cy="0"/>
          <a:chOff x="0" y="0"/>
          <a:chExt cx="0" cy="0"/>
        </a:xfrm>
      </p:grpSpPr>
      <p:graphicFrame>
        <p:nvGraphicFramePr>
          <p:cNvPr id="419" name="Google Shape;419;p118"/>
          <p:cNvGraphicFramePr/>
          <p:nvPr/>
        </p:nvGraphicFramePr>
        <p:xfrm>
          <a:off x="775252" y="3783769"/>
          <a:ext cx="3000000" cy="3000000"/>
        </p:xfrm>
        <a:graphic>
          <a:graphicData uri="http://schemas.openxmlformats.org/drawingml/2006/table">
            <a:tbl>
              <a:tblPr>
                <a:noFill/>
                <a:tableStyleId>{F7D8C473-989F-46CF-8A33-2A7C700182BB}</a:tableStyleId>
              </a:tblPr>
              <a:tblGrid>
                <a:gridCol w="3694050">
                  <a:extLst>
                    <a:ext uri="{9D8B030D-6E8A-4147-A177-3AD203B41FA5}">
                      <a16:colId xmlns:a16="http://schemas.microsoft.com/office/drawing/2014/main" val="20000"/>
                    </a:ext>
                  </a:extLst>
                </a:gridCol>
                <a:gridCol w="3694050">
                  <a:extLst>
                    <a:ext uri="{9D8B030D-6E8A-4147-A177-3AD203B41FA5}">
                      <a16:colId xmlns:a16="http://schemas.microsoft.com/office/drawing/2014/main" val="20001"/>
                    </a:ext>
                  </a:extLst>
                </a:gridCol>
                <a:gridCol w="3694050">
                  <a:extLst>
                    <a:ext uri="{9D8B030D-6E8A-4147-A177-3AD203B41FA5}">
                      <a16:colId xmlns:a16="http://schemas.microsoft.com/office/drawing/2014/main" val="20002"/>
                    </a:ext>
                  </a:extLst>
                </a:gridCol>
              </a:tblGrid>
              <a:tr h="244000">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Read</a:t>
                      </a:r>
                      <a:endParaRPr sz="1800" b="1" u="none" strike="noStrike" cap="none">
                        <a:solidFill>
                          <a:srgbClr val="3A3838"/>
                        </a:solidFill>
                      </a:endParaRPr>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Draw</a:t>
                      </a:r>
                      <a:endParaRPr sz="1800" b="1" u="none" strike="noStrike" cap="none">
                        <a:solidFill>
                          <a:srgbClr val="3A3838"/>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Write</a:t>
                      </a:r>
                      <a:endParaRPr sz="1800" b="1" u="none" strike="noStrike" cap="none">
                        <a:solidFill>
                          <a:srgbClr val="3A3838"/>
                        </a:solidFill>
                      </a:endParaRPr>
                    </a:p>
                  </a:txBody>
                  <a:tcPr marL="91450" marR="91450" marT="45725" marB="45725">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3090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420" name="Google Shape;420;p118"/>
          <p:cNvSpPr txBox="1">
            <a:spLocks noGrp="1"/>
          </p:cNvSpPr>
          <p:nvPr>
            <p:ph type="body" idx="1"/>
          </p:nvPr>
        </p:nvSpPr>
        <p:spPr>
          <a:xfrm>
            <a:off x="765313" y="1479938"/>
            <a:ext cx="11060341" cy="207215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A3838"/>
              </a:buClr>
              <a:buSzPts val="2200"/>
              <a:buFont typeface="Arial"/>
              <a:buNone/>
              <a:defRPr sz="2200" b="0" i="0" u="none" strike="noStrike" cap="none">
                <a:solidFill>
                  <a:srgbClr val="3A383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21" name="Google Shape;421;p118"/>
          <p:cNvSpPr txBox="1">
            <a:spLocks noGrp="1"/>
          </p:cNvSpPr>
          <p:nvPr>
            <p:ph type="title"/>
          </p:nvPr>
        </p:nvSpPr>
        <p:spPr>
          <a:xfrm>
            <a:off x="772211" y="0"/>
            <a:ext cx="1141820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422" name="Google Shape;422;p118"/>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8"/>
            <a:ext cx="322981" cy="6857984"/>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Fluency w/Timer">
  <p:cSld name="Fluency w/Timer">
    <p:spTree>
      <p:nvGrpSpPr>
        <p:cNvPr id="1" name="Shape 423"/>
        <p:cNvGrpSpPr/>
        <p:nvPr/>
      </p:nvGrpSpPr>
      <p:grpSpPr>
        <a:xfrm>
          <a:off x="0" y="0"/>
          <a:ext cx="0" cy="0"/>
          <a:chOff x="0" y="0"/>
          <a:chExt cx="0" cy="0"/>
        </a:xfrm>
      </p:grpSpPr>
      <p:pic>
        <p:nvPicPr>
          <p:cNvPr id="424" name="Google Shape;424;p119"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425" name="Google Shape;425;p119"/>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26" name="Google Shape;426;p119"/>
          <p:cNvSpPr txBox="1">
            <a:spLocks noGrp="1"/>
          </p:cNvSpPr>
          <p:nvPr>
            <p:ph type="body" idx="2"/>
          </p:nvPr>
        </p:nvSpPr>
        <p:spPr>
          <a:xfrm>
            <a:off x="11127476" y="6036181"/>
            <a:ext cx="654216"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27" name="Google Shape;427;p119"/>
          <p:cNvSpPr txBox="1">
            <a:spLocks noGrp="1"/>
          </p:cNvSpPr>
          <p:nvPr>
            <p:ph type="title"/>
          </p:nvPr>
        </p:nvSpPr>
        <p:spPr>
          <a:xfrm>
            <a:off x="777240" y="7968"/>
            <a:ext cx="11413173" cy="12694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3A3838"/>
              </a:buClr>
              <a:buSzPts val="4400"/>
              <a:buFont typeface="Calibri"/>
              <a:buNone/>
              <a:defRPr sz="4400" b="1" i="0" u="none" strike="noStrike" cap="none">
                <a:solidFill>
                  <a:srgbClr val="3A3838"/>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428" name="Google Shape;428;p119"/>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8"/>
            <a:ext cx="322981" cy="6857984"/>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Concept Development">
  <p:cSld name="Concept Development">
    <p:spTree>
      <p:nvGrpSpPr>
        <p:cNvPr id="1" name="Shape 429"/>
        <p:cNvGrpSpPr/>
        <p:nvPr/>
      </p:nvGrpSpPr>
      <p:grpSpPr>
        <a:xfrm>
          <a:off x="0" y="0"/>
          <a:ext cx="0" cy="0"/>
          <a:chOff x="0" y="0"/>
          <a:chExt cx="0" cy="0"/>
        </a:xfrm>
      </p:grpSpPr>
      <p:sp>
        <p:nvSpPr>
          <p:cNvPr id="430" name="Google Shape;430;p12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31" name="Google Shape;431;p120"/>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432" name="Google Shape;432;p120"/>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8"/>
            <a:ext cx="322981" cy="6857984"/>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Concept Development with Timer">
  <p:cSld name="Concept Development with Timer">
    <p:spTree>
      <p:nvGrpSpPr>
        <p:cNvPr id="1" name="Shape 433"/>
        <p:cNvGrpSpPr/>
        <p:nvPr/>
      </p:nvGrpSpPr>
      <p:grpSpPr>
        <a:xfrm>
          <a:off x="0" y="0"/>
          <a:ext cx="0" cy="0"/>
          <a:chOff x="0" y="0"/>
          <a:chExt cx="0" cy="0"/>
        </a:xfrm>
      </p:grpSpPr>
      <p:pic>
        <p:nvPicPr>
          <p:cNvPr id="434" name="Google Shape;434;p121"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435" name="Google Shape;435;p121"/>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36" name="Google Shape;436;p121"/>
          <p:cNvSpPr txBox="1">
            <a:spLocks noGrp="1"/>
          </p:cNvSpPr>
          <p:nvPr>
            <p:ph type="body" idx="2"/>
          </p:nvPr>
        </p:nvSpPr>
        <p:spPr>
          <a:xfrm>
            <a:off x="11127570" y="6036181"/>
            <a:ext cx="654121"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37" name="Google Shape;437;p121"/>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438" name="Google Shape;438;p121"/>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8"/>
            <a:ext cx="322981" cy="6857984"/>
          </a:xfrm>
          <a:prstGeom prst="rect">
            <a:avLst/>
          </a:prstGeom>
          <a:noFill/>
          <a:ln>
            <a:noFill/>
          </a:ln>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Problem Set with Text">
  <p:cSld name="Problem Set with Text">
    <p:spTree>
      <p:nvGrpSpPr>
        <p:cNvPr id="1" name="Shape 439"/>
        <p:cNvGrpSpPr/>
        <p:nvPr/>
      </p:nvGrpSpPr>
      <p:grpSpPr>
        <a:xfrm>
          <a:off x="0" y="0"/>
          <a:ext cx="0" cy="0"/>
          <a:chOff x="0" y="0"/>
          <a:chExt cx="0" cy="0"/>
        </a:xfrm>
      </p:grpSpPr>
      <p:pic>
        <p:nvPicPr>
          <p:cNvPr id="440" name="Google Shape;440;p122"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441" name="Google Shape;441;p122"/>
          <p:cNvSpPr txBox="1">
            <a:spLocks noGrp="1"/>
          </p:cNvSpPr>
          <p:nvPr>
            <p:ph type="body" idx="1"/>
          </p:nvPr>
        </p:nvSpPr>
        <p:spPr>
          <a:xfrm>
            <a:off x="11140001" y="6036181"/>
            <a:ext cx="622969"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2" name="Google Shape;442;p122"/>
          <p:cNvSpPr txBox="1">
            <a:spLocks noGrp="1"/>
          </p:cNvSpPr>
          <p:nvPr>
            <p:ph type="title"/>
          </p:nvPr>
        </p:nvSpPr>
        <p:spPr>
          <a:xfrm>
            <a:off x="777240" y="1"/>
            <a:ext cx="11407898"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43" name="Google Shape;443;p122"/>
          <p:cNvSpPr txBox="1">
            <a:spLocks noGrp="1"/>
          </p:cNvSpPr>
          <p:nvPr>
            <p:ph type="body" idx="2"/>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444" name="Google Shape;444;p122"/>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8"/>
            <a:ext cx="322981" cy="6857984"/>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Student Debrief">
  <p:cSld name="Student Debrief">
    <p:spTree>
      <p:nvGrpSpPr>
        <p:cNvPr id="1" name="Shape 445"/>
        <p:cNvGrpSpPr/>
        <p:nvPr/>
      </p:nvGrpSpPr>
      <p:grpSpPr>
        <a:xfrm>
          <a:off x="0" y="0"/>
          <a:ext cx="0" cy="0"/>
          <a:chOff x="0" y="0"/>
          <a:chExt cx="0" cy="0"/>
        </a:xfrm>
      </p:grpSpPr>
      <p:pic>
        <p:nvPicPr>
          <p:cNvPr id="446" name="Google Shape;446;p123"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447" name="Google Shape;447;p123"/>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chemeClr val="dk1"/>
              </a:buClr>
              <a:buSzPts val="2800"/>
              <a:buFont typeface="Arial"/>
              <a:buChar char="•"/>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10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10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1000"/>
              </a:spcBef>
              <a:spcAft>
                <a:spcPts val="100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8" name="Google Shape;448;p123"/>
          <p:cNvSpPr txBox="1">
            <a:spLocks noGrp="1"/>
          </p:cNvSpPr>
          <p:nvPr>
            <p:ph type="body" idx="2"/>
          </p:nvPr>
        </p:nvSpPr>
        <p:spPr>
          <a:xfrm>
            <a:off x="11127570" y="6036181"/>
            <a:ext cx="645330"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9" name="Google Shape;449;p123"/>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450" name="Google Shape;450;p123"/>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8"/>
            <a:ext cx="322981" cy="6857984"/>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Exit Ticket">
  <p:cSld name="Exit Ticket">
    <p:spTree>
      <p:nvGrpSpPr>
        <p:cNvPr id="1" name="Shape 451"/>
        <p:cNvGrpSpPr/>
        <p:nvPr/>
      </p:nvGrpSpPr>
      <p:grpSpPr>
        <a:xfrm>
          <a:off x="0" y="0"/>
          <a:ext cx="0" cy="0"/>
          <a:chOff x="0" y="0"/>
          <a:chExt cx="0" cy="0"/>
        </a:xfrm>
      </p:grpSpPr>
      <p:pic>
        <p:nvPicPr>
          <p:cNvPr id="452" name="Google Shape;452;p124"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453" name="Google Shape;453;p124"/>
          <p:cNvSpPr txBox="1">
            <a:spLocks noGrp="1"/>
          </p:cNvSpPr>
          <p:nvPr>
            <p:ph type="body" idx="1"/>
          </p:nvPr>
        </p:nvSpPr>
        <p:spPr>
          <a:xfrm>
            <a:off x="11127571" y="6036181"/>
            <a:ext cx="635400"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54" name="Google Shape;454;p124"/>
          <p:cNvSpPr txBox="1">
            <a:spLocks noGrp="1"/>
          </p:cNvSpPr>
          <p:nvPr>
            <p:ph type="body" idx="2"/>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1000"/>
              </a:spcBef>
              <a:spcAft>
                <a:spcPts val="0"/>
              </a:spcAft>
              <a:buClr>
                <a:schemeClr val="dk1"/>
              </a:buClr>
              <a:buSzPts val="2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10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10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1000"/>
              </a:spcBef>
              <a:spcAft>
                <a:spcPts val="100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55" name="Google Shape;455;p124"/>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456" name="Google Shape;456;p124"/>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8"/>
            <a:ext cx="322981" cy="685798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theme" Target="../theme/theme3.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theme" Target="../theme/theme4.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1"/>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3"/>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 id="2147483707"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0.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32.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37.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40.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1"/>
          <p:cNvSpPr txBox="1">
            <a:spLocks noGrp="1"/>
          </p:cNvSpPr>
          <p:nvPr>
            <p:ph type="title" idx="4294967295"/>
          </p:nvPr>
        </p:nvSpPr>
        <p:spPr>
          <a:xfrm>
            <a:off x="1405213" y="1609800"/>
            <a:ext cx="9376800" cy="1819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236739"/>
              </a:buClr>
              <a:buSzPts val="6000"/>
              <a:buFont typeface="Arial"/>
              <a:buNone/>
            </a:pPr>
            <a:r>
              <a:rPr lang="en-US" sz="6000" b="1" dirty="0">
                <a:solidFill>
                  <a:srgbClr val="236739"/>
                </a:solidFill>
                <a:latin typeface="Calibri"/>
                <a:ea typeface="Calibri"/>
                <a:cs typeface="Calibri"/>
                <a:sym typeface="Calibri"/>
              </a:rPr>
              <a:t>Determining Slopes of Perpendicular Lines</a:t>
            </a:r>
            <a:endParaRPr sz="6000" dirty="0"/>
          </a:p>
        </p:txBody>
      </p:sp>
      <p:sp>
        <p:nvSpPr>
          <p:cNvPr id="463" name="Google Shape;463;p1"/>
          <p:cNvSpPr txBox="1">
            <a:spLocks noGrp="1"/>
          </p:cNvSpPr>
          <p:nvPr>
            <p:ph type="body" idx="2"/>
          </p:nvPr>
        </p:nvSpPr>
        <p:spPr>
          <a:xfrm>
            <a:off x="-1590" y="3641189"/>
            <a:ext cx="12190413" cy="822457"/>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36739"/>
              </a:buClr>
              <a:buSzPts val="4400"/>
              <a:buNone/>
            </a:pPr>
            <a:r>
              <a:rPr lang="en-US"/>
              <a:t>Algebra I | Module 2 | Topic 2 | Lesson 3</a:t>
            </a:r>
            <a:endParaRPr/>
          </a:p>
        </p:txBody>
      </p:sp>
      <p:sp>
        <p:nvSpPr>
          <p:cNvPr id="1463" name="Slide Number 146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a:t>
            </a:fld>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
          <p:cNvSpPr txBox="1">
            <a:spLocks noGrp="1"/>
          </p:cNvSpPr>
          <p:nvPr>
            <p:ph type="title"/>
          </p:nvPr>
        </p:nvSpPr>
        <p:spPr>
          <a:xfrm>
            <a:off x="1587" y="13855"/>
            <a:ext cx="6094413" cy="926757"/>
          </a:xfrm>
          <a:prstGeom prst="rect">
            <a:avLst/>
          </a:prstGeom>
          <a:noFill/>
          <a:ln>
            <a:noFill/>
          </a:ln>
        </p:spPr>
        <p:txBody>
          <a:bodyPr spcFirstLastPara="1" wrap="square" lIns="457200" tIns="45700" rIns="91425" bIns="45700" anchor="ctr" anchorCtr="0">
            <a:noAutofit/>
          </a:bodyPr>
          <a:lstStyle/>
          <a:p>
            <a:pPr marL="0" lvl="0" indent="0" algn="l" rtl="0">
              <a:lnSpc>
                <a:spcPct val="90000"/>
              </a:lnSpc>
              <a:spcBef>
                <a:spcPts val="0"/>
              </a:spcBef>
              <a:spcAft>
                <a:spcPts val="0"/>
              </a:spcAft>
              <a:buClr>
                <a:schemeClr val="lt1"/>
              </a:buClr>
              <a:buSzPts val="4000"/>
              <a:buFont typeface="Calibri"/>
              <a:buNone/>
            </a:pPr>
            <a:r>
              <a:rPr lang="en-US" sz="4000"/>
              <a:t>Objectives</a:t>
            </a:r>
            <a:endParaRPr/>
          </a:p>
        </p:txBody>
      </p:sp>
      <p:sp>
        <p:nvSpPr>
          <p:cNvPr id="470" name="Google Shape;470;p2"/>
          <p:cNvSpPr txBox="1">
            <a:spLocks noGrp="1"/>
          </p:cNvSpPr>
          <p:nvPr>
            <p:ph type="body" idx="1"/>
          </p:nvPr>
        </p:nvSpPr>
        <p:spPr>
          <a:xfrm>
            <a:off x="788565" y="1797205"/>
            <a:ext cx="9882231" cy="3956418"/>
          </a:xfrm>
          <a:prstGeom prst="rect">
            <a:avLst/>
          </a:prstGeom>
          <a:noFill/>
          <a:ln>
            <a:noFill/>
          </a:ln>
        </p:spPr>
        <p:txBody>
          <a:bodyPr spcFirstLastPara="1" wrap="square" lIns="91425" tIns="45700" rIns="91425" bIns="45700" anchor="t" anchorCtr="0">
            <a:noAutofit/>
          </a:bodyPr>
          <a:lstStyle/>
          <a:p>
            <a:pPr marL="511175" lvl="0" indent="-511175" algn="l" rtl="0">
              <a:lnSpc>
                <a:spcPct val="90000"/>
              </a:lnSpc>
              <a:spcBef>
                <a:spcPts val="0"/>
              </a:spcBef>
              <a:spcAft>
                <a:spcPts val="0"/>
              </a:spcAft>
              <a:buClr>
                <a:srgbClr val="3A3838"/>
              </a:buClr>
              <a:buSzPts val="2800"/>
              <a:buFont typeface="Arial"/>
              <a:buChar char="•"/>
            </a:pPr>
            <a:r>
              <a:rPr lang="en-US" sz="2800" dirty="0">
                <a:latin typeface="Calibri" panose="020F0502020204030204" pitchFamily="34" charset="0"/>
                <a:ea typeface="Calibri" panose="020F0502020204030204" pitchFamily="34" charset="0"/>
                <a:cs typeface="Calibri" panose="020F0502020204030204" pitchFamily="34" charset="0"/>
              </a:rPr>
              <a:t>Identify and write the equations of lines perpendicular to</a:t>
            </a:r>
            <a:br>
              <a:rPr lang="en-US" sz="2800" dirty="0">
                <a:latin typeface="Calibri" panose="020F0502020204030204" pitchFamily="34" charset="0"/>
                <a:ea typeface="Calibri" panose="020F0502020204030204" pitchFamily="34" charset="0"/>
                <a:cs typeface="Calibri" panose="020F0502020204030204" pitchFamily="34" charset="0"/>
              </a:rPr>
            </a:br>
            <a:r>
              <a:rPr lang="en-US" sz="2800" dirty="0">
                <a:latin typeface="Calibri" panose="020F0502020204030204" pitchFamily="34" charset="0"/>
                <a:ea typeface="Calibri" panose="020F0502020204030204" pitchFamily="34" charset="0"/>
                <a:cs typeface="Calibri" panose="020F0502020204030204" pitchFamily="34" charset="0"/>
              </a:rPr>
              <a:t>given lines.</a:t>
            </a:r>
            <a:endParaRPr sz="2800" dirty="0">
              <a:latin typeface="Calibri" panose="020F0502020204030204" pitchFamily="34" charset="0"/>
              <a:ea typeface="Calibri" panose="020F0502020204030204" pitchFamily="34" charset="0"/>
              <a:cs typeface="Calibri" panose="020F0502020204030204" pitchFamily="34" charset="0"/>
            </a:endParaRPr>
          </a:p>
          <a:p>
            <a:pPr marL="511175" lvl="0" indent="-511175" algn="l" rtl="0">
              <a:lnSpc>
                <a:spcPct val="90000"/>
              </a:lnSpc>
              <a:spcBef>
                <a:spcPts val="1000"/>
              </a:spcBef>
              <a:spcAft>
                <a:spcPts val="0"/>
              </a:spcAft>
              <a:buClr>
                <a:srgbClr val="3A3838"/>
              </a:buClr>
              <a:buSzPts val="2800"/>
              <a:buFont typeface="Arial"/>
              <a:buChar char="•"/>
            </a:pPr>
            <a:r>
              <a:rPr lang="en-US" sz="2800" dirty="0">
                <a:latin typeface="Calibri" panose="020F0502020204030204" pitchFamily="34" charset="0"/>
                <a:ea typeface="Calibri" panose="020F0502020204030204" pitchFamily="34" charset="0"/>
                <a:cs typeface="Calibri" panose="020F0502020204030204" pitchFamily="34" charset="0"/>
              </a:rPr>
              <a:t>Identify and write the equations of horizontal and vertical lines.</a:t>
            </a:r>
            <a:endParaRPr sz="2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1470" name="Slide Number 1470"/>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a:t>
            </a:fld>
          </a:p>
        </p:txBody>
      </p:sp>
      <p:sp>
        <p:nvSpPr>
          <p:cNvPr id="1471" name="Answer 1471"/>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305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3"/>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Essential Question </a:t>
            </a:r>
            <a:r>
              <a:rPr lang="en-US" sz="2000" b="1" dirty="0">
                <a:solidFill>
                  <a:schemeClr val="bg1"/>
                </a:solidFill>
              </a:rPr>
              <a:t>(1 of 2)</a:t>
            </a:r>
            <a:endParaRPr dirty="0">
              <a:solidFill>
                <a:schemeClr val="bg1"/>
              </a:solidFill>
            </a:endParaRPr>
          </a:p>
        </p:txBody>
      </p:sp>
      <p:sp>
        <p:nvSpPr>
          <p:cNvPr id="477" name="Google Shape;477;p3"/>
          <p:cNvSpPr txBox="1"/>
          <p:nvPr/>
        </p:nvSpPr>
        <p:spPr>
          <a:xfrm>
            <a:off x="777240" y="1584575"/>
            <a:ext cx="9884842" cy="435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cap="none" dirty="0">
                <a:solidFill>
                  <a:srgbClr val="000000"/>
                </a:solidFill>
                <a:latin typeface="Calibri"/>
                <a:ea typeface="Calibri"/>
                <a:cs typeface="Calibri"/>
                <a:sym typeface="Calibri"/>
              </a:rPr>
              <a:t>You have translated the graphs of linear equations to determine the slopes of parallel lines. </a:t>
            </a:r>
            <a:endParaRPr dirty="0"/>
          </a:p>
          <a:p>
            <a:pPr marL="0" marR="0" lvl="0" indent="0" algn="l" rtl="0">
              <a:spcBef>
                <a:spcPts val="24"/>
              </a:spcBef>
              <a:spcAft>
                <a:spcPts val="0"/>
              </a:spcAft>
              <a:buClr>
                <a:schemeClr val="dk1"/>
              </a:buClr>
              <a:buSzPts val="2800"/>
              <a:buFont typeface="Arial"/>
              <a:buNone/>
            </a:pPr>
            <a:endParaRPr lang="en-US" sz="2800" b="0" i="0" u="none" strike="noStrike" cap="none" dirty="0">
              <a:solidFill>
                <a:srgbClr val="000000"/>
              </a:solidFill>
              <a:latin typeface="Calibri"/>
              <a:ea typeface="Calibri"/>
              <a:cs typeface="Calibri"/>
              <a:sym typeface="Calibri"/>
            </a:endParaRPr>
          </a:p>
          <a:p>
            <a:pPr marL="0" marR="0" lvl="0" indent="0" algn="l" rtl="0">
              <a:spcBef>
                <a:spcPts val="24"/>
              </a:spcBef>
              <a:spcAft>
                <a:spcPts val="0"/>
              </a:spcAft>
              <a:buClr>
                <a:srgbClr val="000000"/>
              </a:buClr>
              <a:buSzPts val="2800"/>
              <a:buFont typeface="Arial"/>
              <a:buNone/>
            </a:pPr>
            <a:endParaRPr lang="en-US" sz="2800" dirty="0">
              <a:latin typeface="Calibri"/>
              <a:ea typeface="Calibri"/>
              <a:cs typeface="Calibri"/>
              <a:sym typeface="Calibri"/>
            </a:endParaRPr>
          </a:p>
          <a:p>
            <a:pPr marL="0" marR="0" lvl="0" indent="0" algn="l" rtl="0">
              <a:spcBef>
                <a:spcPts val="24"/>
              </a:spcBef>
              <a:spcAft>
                <a:spcPts val="0"/>
              </a:spcAft>
              <a:buClr>
                <a:srgbClr val="000000"/>
              </a:buClr>
              <a:buSzPts val="2800"/>
              <a:buFont typeface="Arial"/>
              <a:buNone/>
            </a:pPr>
            <a:endParaRPr lang="en-US" sz="2800" b="0" i="0" u="none" strike="noStrike" cap="none" dirty="0">
              <a:solidFill>
                <a:srgbClr val="000000"/>
              </a:solidFill>
              <a:latin typeface="Calibri"/>
              <a:ea typeface="Calibri"/>
              <a:cs typeface="Calibri"/>
              <a:sym typeface="Calibri"/>
            </a:endParaRPr>
          </a:p>
          <a:p>
            <a:pPr marL="0" marR="0" lvl="0" indent="0" algn="l" rtl="0">
              <a:spcBef>
                <a:spcPts val="24"/>
              </a:spcBef>
              <a:spcAft>
                <a:spcPts val="0"/>
              </a:spcAft>
              <a:buClr>
                <a:srgbClr val="000000"/>
              </a:buClr>
              <a:buSzPts val="2800"/>
              <a:buFont typeface="Arial"/>
              <a:buNone/>
            </a:pPr>
            <a:r>
              <a:rPr lang="en-US" sz="2800" b="0" i="0" u="none" strike="noStrike" cap="none" dirty="0">
                <a:solidFill>
                  <a:srgbClr val="000000"/>
                </a:solidFill>
                <a:latin typeface="Calibri"/>
                <a:ea typeface="Calibri"/>
                <a:cs typeface="Calibri"/>
                <a:sym typeface="Calibri"/>
              </a:rPr>
              <a:t>How can you rotate the graphs of linear equations to determine the slopes of perpendicular lines?</a:t>
            </a:r>
            <a:endParaRPr dirty="0"/>
          </a:p>
        </p:txBody>
      </p:sp>
      <p:sp>
        <p:nvSpPr>
          <p:cNvPr id="1477" name="Slide Number 1477"/>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a:t>
            </a:fld>
          </a:p>
        </p:txBody>
      </p:sp>
      <p:sp>
        <p:nvSpPr>
          <p:cNvPr id="1478" name="Answer 1478"/>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305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
          <p:cNvSpPr txBox="1">
            <a:spLocks noGrp="1"/>
          </p:cNvSpPr>
          <p:nvPr>
            <p:ph type="title" idx="4294967295"/>
          </p:nvPr>
        </p:nvSpPr>
        <p:spPr>
          <a:xfrm>
            <a:off x="838200" y="-310393"/>
            <a:ext cx="10514013" cy="31039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4400"/>
              <a:buFont typeface="Calibri"/>
              <a:buNone/>
            </a:pPr>
            <a:r>
              <a:rPr lang="en-US" sz="2000" b="0" i="0" u="none" strike="noStrike" cap="none" dirty="0">
                <a:solidFill>
                  <a:schemeClr val="lt2"/>
                </a:solidFill>
                <a:latin typeface="Calibri"/>
                <a:ea typeface="Calibri"/>
                <a:cs typeface="Calibri"/>
                <a:sym typeface="Calibri"/>
              </a:rPr>
              <a:t>Day 1</a:t>
            </a:r>
            <a:endParaRPr sz="2000" dirty="0"/>
          </a:p>
        </p:txBody>
      </p:sp>
      <p:sp>
        <p:nvSpPr>
          <p:cNvPr id="484" name="Google Shape;484;p4"/>
          <p:cNvSpPr txBox="1">
            <a:spLocks noGrp="1"/>
          </p:cNvSpPr>
          <p:nvPr>
            <p:ph type="body" idx="1"/>
          </p:nvPr>
        </p:nvSpPr>
        <p:spPr>
          <a:xfrm>
            <a:off x="6451133" y="2824538"/>
            <a:ext cx="1152279" cy="107156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7500"/>
              <a:buNone/>
            </a:pPr>
            <a:r>
              <a:rPr lang="en-US" sz="7500" b="1" dirty="0">
                <a:solidFill>
                  <a:srgbClr val="000000"/>
                </a:solidFill>
                <a:latin typeface="Calibri"/>
                <a:ea typeface="Calibri"/>
                <a:cs typeface="Calibri"/>
                <a:sym typeface="Calibri"/>
              </a:rPr>
              <a:t>1</a:t>
            </a:r>
            <a:endParaRPr dirty="0"/>
          </a:p>
        </p:txBody>
      </p:sp>
      <p:sp>
        <p:nvSpPr>
          <p:cNvPr id="1484" name="Slide Number 148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a:t>
            </a:fld>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5"/>
          <p:cNvSpPr txBox="1">
            <a:spLocks noGrp="1"/>
          </p:cNvSpPr>
          <p:nvPr>
            <p:ph type="title" idx="4294967295"/>
          </p:nvPr>
        </p:nvSpPr>
        <p:spPr>
          <a:xfrm>
            <a:off x="838200" y="-343949"/>
            <a:ext cx="10514013" cy="343949"/>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4400"/>
              <a:buFont typeface="Calibri"/>
              <a:buNone/>
            </a:pPr>
            <a:r>
              <a:rPr lang="en-US" sz="2000" dirty="0">
                <a:solidFill>
                  <a:schemeClr val="lt2"/>
                </a:solidFill>
                <a:latin typeface="Calibri"/>
                <a:ea typeface="Calibri"/>
                <a:cs typeface="Calibri"/>
                <a:sym typeface="Calibri"/>
              </a:rPr>
              <a:t>Getting Started</a:t>
            </a:r>
            <a:endParaRPr sz="2000" dirty="0"/>
          </a:p>
        </p:txBody>
      </p:sp>
      <p:sp>
        <p:nvSpPr>
          <p:cNvPr id="491" name="Google Shape;491;p5" descr="15 to 20 minutes"/>
          <p:cNvSpPr txBox="1">
            <a:spLocks noGrp="1"/>
          </p:cNvSpPr>
          <p:nvPr>
            <p:ph type="body" idx="1"/>
          </p:nvPr>
        </p:nvSpPr>
        <p:spPr>
          <a:xfrm>
            <a:off x="10614990" y="5780973"/>
            <a:ext cx="863947" cy="79533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71616"/>
              </a:buClr>
              <a:buSzPts val="2000"/>
              <a:buNone/>
            </a:pPr>
            <a:r>
              <a:rPr lang="en-US" b="1" dirty="0"/>
              <a:t>15–20</a:t>
            </a:r>
            <a:endParaRPr dirty="0"/>
          </a:p>
        </p:txBody>
      </p:sp>
      <p:sp>
        <p:nvSpPr>
          <p:cNvPr id="1491" name="Slide Number 1491"/>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a:t>
            </a:fld>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6"/>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Coordinate Rotation </a:t>
            </a:r>
            <a:r>
              <a:rPr lang="en-US" sz="2000" b="1" dirty="0">
                <a:solidFill>
                  <a:schemeClr val="bg1"/>
                </a:solidFill>
              </a:rPr>
              <a:t>(1 of 5)</a:t>
            </a:r>
            <a:endParaRPr dirty="0">
              <a:solidFill>
                <a:schemeClr val="bg1"/>
              </a:solidFill>
            </a:endParaRPr>
          </a:p>
        </p:txBody>
      </p:sp>
      <p:pic>
        <p:nvPicPr>
          <p:cNvPr id="499" name="Google Shape;499;p6" descr="A graph of line segment A B on the coordinate plane. Endpoint A is at (0, 0). Endpoint B is at (8, 5)."/>
          <p:cNvPicPr>
            <a:picLocks noChangeAspect="1"/>
          </p:cNvPicPr>
          <p:nvPr/>
        </p:nvPicPr>
        <p:blipFill rotWithShape="1">
          <a:blip r:embed="rId3" cstate="email">
            <a:alphaModFix/>
            <a:extLst>
              <a:ext uri="{28A0092B-C50C-407E-A947-70E740481C1C}">
                <a14:useLocalDpi xmlns:a14="http://schemas.microsoft.com/office/drawing/2010/main"/>
              </a:ext>
            </a:extLst>
          </a:blip>
          <a:srcRect/>
          <a:stretch/>
        </p:blipFill>
        <p:spPr>
          <a:xfrm>
            <a:off x="777240" y="1387126"/>
            <a:ext cx="3389486" cy="3286294"/>
          </a:xfrm>
          <a:prstGeom prst="rect">
            <a:avLst/>
          </a:prstGeom>
          <a:noFill/>
          <a:ln>
            <a:noFill/>
          </a:ln>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3D84506-D588-7F0E-6C79-D9ACB718E811}"/>
                  </a:ext>
                </a:extLst>
              </p:cNvPr>
              <p:cNvSpPr txBox="1"/>
              <p:nvPr/>
            </p:nvSpPr>
            <p:spPr>
              <a:xfrm>
                <a:off x="4387442" y="1602297"/>
                <a:ext cx="7362598" cy="2401555"/>
              </a:xfrm>
              <a:prstGeom prst="rect">
                <a:avLst/>
              </a:prstGeom>
              <a:noFill/>
            </p:spPr>
            <p:txBody>
              <a:bodyPr wrap="square" rtlCol="0">
                <a:spAutoFit/>
              </a:bodyPr>
              <a:lstStyle/>
              <a:p>
                <a:pPr>
                  <a:spcAft>
                    <a:spcPts val="1200"/>
                  </a:spcAft>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rPr>
                  <a:t>Consider </a:t>
                </a:r>
                <a14:m>
                  <m:oMath xmlns:m="http://schemas.openxmlformats.org/officeDocument/2006/math">
                    <m:acc>
                      <m:accPr>
                        <m:chr m:val="̅"/>
                        <m:ctrlPr>
                          <a:rPr lang="en-US" sz="2800" i="1" smtClean="0">
                            <a:solidFill>
                              <a:srgbClr val="000000"/>
                            </a:solidFill>
                            <a:latin typeface="Cambria Math" panose="02040503050406030204" pitchFamily="18" charset="0"/>
                          </a:rPr>
                        </m:ctrlPr>
                      </m:accPr>
                      <m:e>
                        <m:r>
                          <a:rPr lang="en-US" sz="2800" b="0" i="1" smtClean="0">
                            <a:solidFill>
                              <a:srgbClr val="000000"/>
                            </a:solidFill>
                            <a:latin typeface="Cambria Math" panose="02040503050406030204" pitchFamily="18" charset="0"/>
                          </a:rPr>
                          <m:t>𝐴𝐵</m:t>
                        </m:r>
                      </m:e>
                    </m:acc>
                  </m:oMath>
                </a14:m>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rPr>
                  <a:t> with coordinates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rPr>
                  <a:t>(0, 0) and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rPr>
                  <a:t>(8, 5).</a:t>
                </a:r>
              </a:p>
              <a:p>
                <a:pPr marL="514350" indent="-514350">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Suppose the line segment is rotated through an angle with the origin as the center of rotation. Complete the table with the coordinates of the rotated figure.</a:t>
                </a:r>
                <a:endPar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 name="TextBox 1">
                <a:extLst>
                  <a:ext uri="{FF2B5EF4-FFF2-40B4-BE49-F238E27FC236}">
                    <a16:creationId xmlns:a16="http://schemas.microsoft.com/office/drawing/2014/main" id="{13D84506-D588-7F0E-6C79-D9ACB718E811}"/>
                  </a:ext>
                </a:extLst>
              </p:cNvPr>
              <p:cNvSpPr txBox="1">
                <a:spLocks noRot="1" noChangeAspect="1" noMove="1" noResize="1" noEditPoints="1" noAdjustHandles="1" noChangeArrowheads="1" noChangeShapeType="1" noTextEdit="1"/>
              </p:cNvSpPr>
              <p:nvPr/>
            </p:nvSpPr>
            <p:spPr>
              <a:xfrm>
                <a:off x="4387442" y="1602297"/>
                <a:ext cx="7362598" cy="2401555"/>
              </a:xfrm>
              <a:prstGeom prst="rect">
                <a:avLst/>
              </a:prstGeom>
              <a:blipFill>
                <a:blip r:embed="rId4"/>
                <a:stretch>
                  <a:fillRect l="-1738" t="-2538" r="-662" b="-63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00" name="Google Shape;500;p6"/>
              <p:cNvGraphicFramePr/>
              <p:nvPr>
                <p:extLst>
                  <p:ext uri="{D42A27DB-BD31-4B8C-83A1-F6EECF244321}">
                    <p14:modId xmlns:p14="http://schemas.microsoft.com/office/powerpoint/2010/main" val="50346370"/>
                  </p:ext>
                </p:extLst>
              </p:nvPr>
            </p:nvGraphicFramePr>
            <p:xfrm>
              <a:off x="777240" y="4797354"/>
              <a:ext cx="10972800" cy="1608940"/>
            </p:xfrm>
            <a:graphic>
              <a:graphicData uri="http://schemas.openxmlformats.org/drawingml/2006/table">
                <a:tbl>
                  <a:tblPr firstRow="1" bandRow="1">
                    <a:noFill/>
                    <a:tableStyleId>{ABB7C7B1-2BA2-4552-A184-85BA7BCE1169}</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370850">
                    <a:tc>
                      <a:txBody>
                        <a:bodyPr/>
                        <a:lstStyle/>
                        <a:p>
                          <a:pPr marL="0" marR="0" lvl="0" indent="0" algn="ctr" rtl="0">
                            <a:spcBef>
                              <a:spcPts val="0"/>
                            </a:spcBef>
                            <a:spcAft>
                              <a:spcPts val="0"/>
                            </a:spcAft>
                            <a:buNone/>
                          </a:pPr>
                          <a:r>
                            <a:rPr lang="en-US" sz="2000" u="none" strike="noStrike" cap="none" dirty="0"/>
                            <a:t>Original Line Segment</a:t>
                          </a:r>
                          <a:endParaRPr sz="2000" dirty="0"/>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lumMod val="75000"/>
                          </a:schemeClr>
                        </a:solidFill>
                      </a:tcPr>
                    </a:tc>
                    <a:tc>
                      <a:txBody>
                        <a:bodyPr/>
                        <a:lstStyle/>
                        <a:p>
                          <a:pPr marL="0" marR="0" lvl="0" indent="0" algn="ctr" rtl="0">
                            <a:spcBef>
                              <a:spcPts val="0"/>
                            </a:spcBef>
                            <a:spcAft>
                              <a:spcPts val="0"/>
                            </a:spcAft>
                            <a:buNone/>
                          </a:pPr>
                          <a:r>
                            <a:rPr lang="en-US" sz="2000" dirty="0"/>
                            <a:t>90° Counterclockwise</a:t>
                          </a:r>
                          <a:endParaRPr sz="2000" dirty="0"/>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lumMod val="75000"/>
                          </a:schemeClr>
                        </a:solidFill>
                      </a:tcPr>
                    </a:tc>
                    <a:tc>
                      <a:txBody>
                        <a:bodyPr/>
                        <a:lstStyle/>
                        <a:p>
                          <a:pPr marL="0" marR="0" lvl="0" indent="0" algn="ctr" rtl="0">
                            <a:spcBef>
                              <a:spcPts val="0"/>
                            </a:spcBef>
                            <a:spcAft>
                              <a:spcPts val="0"/>
                            </a:spcAft>
                            <a:buNone/>
                          </a:pPr>
                          <a:r>
                            <a:rPr lang="en-US" sz="2000" dirty="0"/>
                            <a:t>180°</a:t>
                          </a:r>
                          <a:endParaRPr sz="2000" dirty="0"/>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lumMod val="75000"/>
                          </a:schemeClr>
                        </a:solidFill>
                      </a:tcPr>
                    </a:tc>
                    <a:tc>
                      <a:txBody>
                        <a:bodyPr/>
                        <a:lstStyle/>
                        <a:p>
                          <a:pPr marL="0" marR="0" lvl="0" indent="0" algn="ctr" rtl="0">
                            <a:spcBef>
                              <a:spcPts val="0"/>
                            </a:spcBef>
                            <a:spcAft>
                              <a:spcPts val="0"/>
                            </a:spcAft>
                            <a:buNone/>
                          </a:pPr>
                          <a:r>
                            <a:rPr lang="en-US" sz="2000" dirty="0"/>
                            <a:t>270° Counterclockwise</a:t>
                          </a:r>
                          <a:endParaRPr sz="2000" dirty="0"/>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lumMod val="75000"/>
                          </a:schemeClr>
                        </a:solidFill>
                      </a:tcPr>
                    </a:tc>
                    <a:extLst>
                      <a:ext uri="{0D108BD9-81ED-4DB2-BD59-A6C34878D82A}">
                        <a16:rowId xmlns:a16="http://schemas.microsoft.com/office/drawing/2014/main" val="10000"/>
                      </a:ext>
                    </a:extLst>
                  </a:tr>
                  <a:tr h="387150">
                    <a:tc>
                      <a:txBody>
                        <a:bodyPr/>
                        <a:lstStyle/>
                        <a:p>
                          <a:pPr marL="0" marR="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acc>
                                  <m:accPr>
                                    <m:chr m:val="̅"/>
                                    <m:ctrlPr>
                                      <a:rPr lang="ar-AE" sz="2000" i="1" smtClean="0">
                                        <a:solidFill>
                                          <a:srgbClr val="000000"/>
                                        </a:solidFill>
                                        <a:latin typeface="Cambria Math" panose="02040503050406030204" pitchFamily="18" charset="0"/>
                                      </a:rPr>
                                    </m:ctrlPr>
                                  </m:accPr>
                                  <m:e>
                                    <m:r>
                                      <a:rPr lang="ar-AE" sz="2000" b="0" i="1" smtClean="0">
                                        <a:solidFill>
                                          <a:srgbClr val="000000"/>
                                        </a:solidFill>
                                        <a:latin typeface="Cambria Math" panose="02040503050406030204" pitchFamily="18" charset="0"/>
                                      </a:rPr>
                                      <m:t>𝐴𝐵</m:t>
                                    </m:r>
                                  </m:e>
                                </m:acc>
                              </m:oMath>
                            </m:oMathPara>
                          </a14:m>
                          <a:endParaRPr lang="ar-AE"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lumMod val="20000"/>
                            <a:lumOff val="80000"/>
                          </a:schemeClr>
                        </a:solidFill>
                      </a:tcPr>
                    </a:tc>
                    <a:tc>
                      <a:txBody>
                        <a:bodyPr/>
                        <a:lstStyle/>
                        <a:p>
                          <a:pPr marL="0" marR="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acc>
                                  <m:accPr>
                                    <m:chr m:val="̅"/>
                                    <m:ctrlPr>
                                      <a:rPr lang="ar-AE" sz="2000" i="1" smtClean="0">
                                        <a:solidFill>
                                          <a:srgbClr val="000000"/>
                                        </a:solidFill>
                                        <a:latin typeface="Cambria Math" panose="02040503050406030204" pitchFamily="18" charset="0"/>
                                      </a:rPr>
                                    </m:ctrlPr>
                                  </m:accPr>
                                  <m:e>
                                    <m:r>
                                      <a:rPr lang="ar-AE" sz="2000" b="0" i="1" smtClean="0">
                                        <a:solidFill>
                                          <a:srgbClr val="000000"/>
                                        </a:solidFill>
                                        <a:latin typeface="Cambria Math" panose="02040503050406030204" pitchFamily="18" charset="0"/>
                                      </a:rPr>
                                      <m:t>𝐴</m:t>
                                    </m:r>
                                    <m:r>
                                      <a:rPr lang="en-US" sz="2000" b="0" i="1" smtClean="0">
                                        <a:solidFill>
                                          <a:srgbClr val="000000"/>
                                        </a:solidFill>
                                        <a:latin typeface="Cambria Math" panose="02040503050406030204" pitchFamily="18" charset="0"/>
                                      </a:rPr>
                                      <m:t>′</m:t>
                                    </m:r>
                                    <m:r>
                                      <a:rPr lang="ar-AE" sz="2000" b="0" i="1" smtClean="0">
                                        <a:solidFill>
                                          <a:srgbClr val="000000"/>
                                        </a:solidFill>
                                        <a:latin typeface="Cambria Math" panose="02040503050406030204" pitchFamily="18" charset="0"/>
                                      </a:rPr>
                                      <m:t>𝐵</m:t>
                                    </m:r>
                                    <m:r>
                                      <a:rPr lang="en-US" sz="2000" b="0" i="1" smtClean="0">
                                        <a:solidFill>
                                          <a:srgbClr val="000000"/>
                                        </a:solidFill>
                                        <a:latin typeface="Cambria Math" panose="02040503050406030204" pitchFamily="18" charset="0"/>
                                      </a:rPr>
                                      <m:t>′</m:t>
                                    </m:r>
                                  </m:e>
                                </m:acc>
                              </m:oMath>
                            </m:oMathPara>
                          </a14:m>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lumMod val="20000"/>
                            <a:lumOff val="80000"/>
                          </a:schemeClr>
                        </a:solidFill>
                      </a:tcPr>
                    </a:tc>
                    <a:tc>
                      <a:txBody>
                        <a:bodyPr/>
                        <a:lstStyle/>
                        <a:p>
                          <a:pPr marL="0" marR="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acc>
                                  <m:accPr>
                                    <m:chr m:val="̅"/>
                                    <m:ctrlPr>
                                      <a:rPr lang="ar-AE" sz="2000" i="1" smtClean="0">
                                        <a:solidFill>
                                          <a:srgbClr val="000000"/>
                                        </a:solidFill>
                                        <a:latin typeface="Cambria Math" panose="02040503050406030204" pitchFamily="18" charset="0"/>
                                      </a:rPr>
                                    </m:ctrlPr>
                                  </m:accPr>
                                  <m:e>
                                    <m:r>
                                      <a:rPr lang="ar-AE" sz="2000" b="0" i="1" smtClean="0">
                                        <a:solidFill>
                                          <a:srgbClr val="000000"/>
                                        </a:solidFill>
                                        <a:latin typeface="Cambria Math" panose="02040503050406030204" pitchFamily="18" charset="0"/>
                                      </a:rPr>
                                      <m:t>𝐴</m:t>
                                    </m:r>
                                    <m:r>
                                      <a:rPr lang="en-US" sz="2000" b="0" i="1" smtClean="0">
                                        <a:solidFill>
                                          <a:srgbClr val="000000"/>
                                        </a:solidFill>
                                        <a:latin typeface="Cambria Math" panose="02040503050406030204" pitchFamily="18" charset="0"/>
                                      </a:rPr>
                                      <m:t>′′</m:t>
                                    </m:r>
                                    <m:r>
                                      <a:rPr lang="ar-AE" sz="2000" b="0" i="1" smtClean="0">
                                        <a:solidFill>
                                          <a:srgbClr val="000000"/>
                                        </a:solidFill>
                                        <a:latin typeface="Cambria Math" panose="02040503050406030204" pitchFamily="18" charset="0"/>
                                      </a:rPr>
                                      <m:t>𝐵</m:t>
                                    </m:r>
                                    <m:r>
                                      <a:rPr lang="en-US" sz="2000" b="0" i="1" smtClean="0">
                                        <a:solidFill>
                                          <a:srgbClr val="000000"/>
                                        </a:solidFill>
                                        <a:latin typeface="Cambria Math" panose="02040503050406030204" pitchFamily="18" charset="0"/>
                                      </a:rPr>
                                      <m:t>′′</m:t>
                                    </m:r>
                                  </m:e>
                                </m:acc>
                              </m:oMath>
                            </m:oMathPara>
                          </a14:m>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lumMod val="20000"/>
                            <a:lumOff val="80000"/>
                          </a:schemeClr>
                        </a:solidFill>
                      </a:tcPr>
                    </a:tc>
                    <a:tc>
                      <a:txBody>
                        <a:bodyPr/>
                        <a:lstStyle/>
                        <a:p>
                          <a:pPr marL="0" marR="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acc>
                                  <m:accPr>
                                    <m:chr m:val="̅"/>
                                    <m:ctrlPr>
                                      <a:rPr lang="ar-AE" sz="2000" i="1" smtClean="0">
                                        <a:solidFill>
                                          <a:srgbClr val="000000"/>
                                        </a:solidFill>
                                        <a:latin typeface="Cambria Math" panose="02040503050406030204" pitchFamily="18" charset="0"/>
                                      </a:rPr>
                                    </m:ctrlPr>
                                  </m:accPr>
                                  <m:e>
                                    <m:r>
                                      <a:rPr lang="ar-AE" sz="2000" b="0" i="1" smtClean="0">
                                        <a:solidFill>
                                          <a:srgbClr val="000000"/>
                                        </a:solidFill>
                                        <a:latin typeface="Cambria Math" panose="02040503050406030204" pitchFamily="18" charset="0"/>
                                      </a:rPr>
                                      <m:t>𝐴</m:t>
                                    </m:r>
                                    <m:r>
                                      <a:rPr lang="en-US" sz="2000" b="0" i="1" smtClean="0">
                                        <a:solidFill>
                                          <a:srgbClr val="000000"/>
                                        </a:solidFill>
                                        <a:latin typeface="Cambria Math" panose="02040503050406030204" pitchFamily="18" charset="0"/>
                                      </a:rPr>
                                      <m:t>′′′</m:t>
                                    </m:r>
                                    <m:r>
                                      <a:rPr lang="ar-AE" sz="2000" b="0" i="1" smtClean="0">
                                        <a:solidFill>
                                          <a:srgbClr val="000000"/>
                                        </a:solidFill>
                                        <a:latin typeface="Cambria Math" panose="02040503050406030204" pitchFamily="18" charset="0"/>
                                      </a:rPr>
                                      <m:t>𝐵</m:t>
                                    </m:r>
                                    <m:r>
                                      <a:rPr lang="en-US" sz="2000" b="0" i="1" smtClean="0">
                                        <a:solidFill>
                                          <a:srgbClr val="000000"/>
                                        </a:solidFill>
                                        <a:latin typeface="Cambria Math" panose="02040503050406030204" pitchFamily="18" charset="0"/>
                                      </a:rPr>
                                      <m:t>′′′</m:t>
                                    </m:r>
                                  </m:e>
                                </m:acc>
                              </m:oMath>
                            </m:oMathPara>
                          </a14:m>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6F1DB"/>
                        </a:solidFill>
                      </a:tcPr>
                    </a:tc>
                    <a:extLst>
                      <a:ext uri="{0D108BD9-81ED-4DB2-BD59-A6C34878D82A}">
                        <a16:rowId xmlns:a16="http://schemas.microsoft.com/office/drawing/2014/main" val="10001"/>
                      </a:ext>
                    </a:extLst>
                  </a:tr>
                  <a:tr h="370850">
                    <a:tc>
                      <a:txBody>
                        <a:bodyPr/>
                        <a:lstStyle/>
                        <a:p>
                          <a:pPr marL="0" marR="0" lvl="0" indent="0" algn="ctr" rtl="0">
                            <a:spcBef>
                              <a:spcPts val="0"/>
                            </a:spcBef>
                            <a:spcAft>
                              <a:spcPts val="0"/>
                            </a:spcAft>
                            <a:buNone/>
                          </a:pPr>
                          <a:r>
                            <a:rPr lang="en-US" sz="2000" i="1" dirty="0">
                              <a:solidFill>
                                <a:srgbClr val="000000"/>
                              </a:solidFill>
                            </a:rPr>
                            <a:t>A</a:t>
                          </a:r>
                          <a:r>
                            <a:rPr lang="en-US" sz="2000" dirty="0">
                              <a:solidFill>
                                <a:srgbClr val="000000"/>
                              </a:solidFill>
                            </a:rPr>
                            <a:t>(0, 0)</a:t>
                          </a: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None/>
                          </a:pPr>
                          <a:r>
                            <a:rPr lang="en-US" sz="2000" i="1" dirty="0">
                              <a:solidFill>
                                <a:srgbClr val="000000"/>
                              </a:solidFill>
                            </a:rPr>
                            <a:t>B</a:t>
                          </a:r>
                          <a:r>
                            <a:rPr lang="en-US" sz="2000" dirty="0">
                              <a:solidFill>
                                <a:srgbClr val="000000"/>
                              </a:solidFill>
                            </a:rPr>
                            <a:t>(8, 5)</a:t>
                          </a: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bl>
              </a:graphicData>
            </a:graphic>
          </p:graphicFrame>
        </mc:Choice>
        <mc:Fallback xmlns="">
          <p:graphicFrame>
            <p:nvGraphicFramePr>
              <p:cNvPr id="500" name="Google Shape;500;p6"/>
              <p:cNvGraphicFramePr/>
              <p:nvPr>
                <p:extLst>
                  <p:ext uri="{D42A27DB-BD31-4B8C-83A1-F6EECF244321}">
                    <p14:modId xmlns:p14="http://schemas.microsoft.com/office/powerpoint/2010/main" val="50346370"/>
                  </p:ext>
                </p:extLst>
              </p:nvPr>
            </p:nvGraphicFramePr>
            <p:xfrm>
              <a:off x="777240" y="4797354"/>
              <a:ext cx="10972800" cy="1608940"/>
            </p:xfrm>
            <a:graphic>
              <a:graphicData uri="http://schemas.openxmlformats.org/drawingml/2006/table">
                <a:tbl>
                  <a:tblPr firstRow="1" bandRow="1">
                    <a:noFill/>
                    <a:tableStyleId>{ABB7C7B1-2BA2-4552-A184-85BA7BCE1169}</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396250">
                    <a:tc>
                      <a:txBody>
                        <a:bodyPr/>
                        <a:lstStyle/>
                        <a:p>
                          <a:pPr marL="0" marR="0" lvl="0" indent="0" algn="ctr" rtl="0">
                            <a:spcBef>
                              <a:spcPts val="0"/>
                            </a:spcBef>
                            <a:spcAft>
                              <a:spcPts val="0"/>
                            </a:spcAft>
                            <a:buNone/>
                          </a:pPr>
                          <a:r>
                            <a:rPr lang="en-US" sz="2000" u="none" strike="noStrike" cap="none" dirty="0"/>
                            <a:t>Original Line Segment</a:t>
                          </a:r>
                          <a:endParaRPr sz="2000" dirty="0"/>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lumMod val="75000"/>
                          </a:schemeClr>
                        </a:solidFill>
                      </a:tcPr>
                    </a:tc>
                    <a:tc>
                      <a:txBody>
                        <a:bodyPr/>
                        <a:lstStyle/>
                        <a:p>
                          <a:pPr marL="0" marR="0" lvl="0" indent="0" algn="ctr" rtl="0">
                            <a:spcBef>
                              <a:spcPts val="0"/>
                            </a:spcBef>
                            <a:spcAft>
                              <a:spcPts val="0"/>
                            </a:spcAft>
                            <a:buNone/>
                          </a:pPr>
                          <a:r>
                            <a:rPr lang="en-US" sz="2000" dirty="0"/>
                            <a:t>90° Counterclockwise</a:t>
                          </a:r>
                          <a:endParaRPr sz="2000" dirty="0"/>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lumMod val="75000"/>
                          </a:schemeClr>
                        </a:solidFill>
                      </a:tcPr>
                    </a:tc>
                    <a:tc>
                      <a:txBody>
                        <a:bodyPr/>
                        <a:lstStyle/>
                        <a:p>
                          <a:pPr marL="0" marR="0" lvl="0" indent="0" algn="ctr" rtl="0">
                            <a:spcBef>
                              <a:spcPts val="0"/>
                            </a:spcBef>
                            <a:spcAft>
                              <a:spcPts val="0"/>
                            </a:spcAft>
                            <a:buNone/>
                          </a:pPr>
                          <a:r>
                            <a:rPr lang="en-US" sz="2000" dirty="0"/>
                            <a:t>180°</a:t>
                          </a:r>
                          <a:endParaRPr sz="2000" dirty="0"/>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lumMod val="75000"/>
                          </a:schemeClr>
                        </a:solidFill>
                      </a:tcPr>
                    </a:tc>
                    <a:tc>
                      <a:txBody>
                        <a:bodyPr/>
                        <a:lstStyle/>
                        <a:p>
                          <a:pPr marL="0" marR="0" lvl="0" indent="0" algn="ctr" rtl="0">
                            <a:spcBef>
                              <a:spcPts val="0"/>
                            </a:spcBef>
                            <a:spcAft>
                              <a:spcPts val="0"/>
                            </a:spcAft>
                            <a:buNone/>
                          </a:pPr>
                          <a:r>
                            <a:rPr lang="en-US" sz="2000" dirty="0"/>
                            <a:t>270° Counterclockwise</a:t>
                          </a:r>
                          <a:endParaRPr sz="2000" dirty="0"/>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lumMod val="75000"/>
                          </a:schemeClr>
                        </a:solidFill>
                      </a:tcPr>
                    </a:tc>
                    <a:extLst>
                      <a:ext uri="{0D108BD9-81ED-4DB2-BD59-A6C34878D82A}">
                        <a16:rowId xmlns:a16="http://schemas.microsoft.com/office/drawing/2014/main" val="10000"/>
                      </a:ext>
                    </a:extLst>
                  </a:tr>
                  <a:tr h="420190">
                    <a:tc>
                      <a:txBody>
                        <a:bodyPr/>
                        <a:lstStyle/>
                        <a:p>
                          <a:endParaRPr lang="en-US"/>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blipFill>
                          <a:blip r:embed="rId5"/>
                          <a:stretch>
                            <a:fillRect l="-222" t="-101449" r="-300667" b="-215942"/>
                          </a:stretch>
                        </a:blipFill>
                      </a:tcPr>
                    </a:tc>
                    <a:tc>
                      <a:txBody>
                        <a:bodyPr/>
                        <a:lstStyle/>
                        <a:p>
                          <a:endParaRPr lang="en-US"/>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blipFill>
                          <a:blip r:embed="rId5"/>
                          <a:stretch>
                            <a:fillRect l="-100000" t="-101449" r="-200000" b="-215942"/>
                          </a:stretch>
                        </a:blipFill>
                      </a:tcPr>
                    </a:tc>
                    <a:tc>
                      <a:txBody>
                        <a:bodyPr/>
                        <a:lstStyle/>
                        <a:p>
                          <a:endParaRPr lang="en-US"/>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blipFill>
                          <a:blip r:embed="rId5"/>
                          <a:stretch>
                            <a:fillRect l="-200444" t="-101449" r="-100444" b="-215942"/>
                          </a:stretch>
                        </a:blipFill>
                      </a:tcPr>
                    </a:tc>
                    <a:tc>
                      <a:txBody>
                        <a:bodyPr/>
                        <a:lstStyle/>
                        <a:p>
                          <a:endParaRPr lang="en-US"/>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blipFill>
                          <a:blip r:embed="rId5"/>
                          <a:stretch>
                            <a:fillRect l="-300444" t="-101449" r="-444" b="-215942"/>
                          </a:stretch>
                        </a:blipFill>
                      </a:tcPr>
                    </a:tc>
                    <a:extLst>
                      <a:ext uri="{0D108BD9-81ED-4DB2-BD59-A6C34878D82A}">
                        <a16:rowId xmlns:a16="http://schemas.microsoft.com/office/drawing/2014/main" val="10001"/>
                      </a:ext>
                    </a:extLst>
                  </a:tr>
                  <a:tr h="396250">
                    <a:tc>
                      <a:txBody>
                        <a:bodyPr/>
                        <a:lstStyle/>
                        <a:p>
                          <a:pPr marL="0" marR="0" lvl="0" indent="0" algn="ctr" rtl="0">
                            <a:spcBef>
                              <a:spcPts val="0"/>
                            </a:spcBef>
                            <a:spcAft>
                              <a:spcPts val="0"/>
                            </a:spcAft>
                            <a:buNone/>
                          </a:pPr>
                          <a:r>
                            <a:rPr lang="en-US" sz="2000" i="1" dirty="0">
                              <a:solidFill>
                                <a:srgbClr val="000000"/>
                              </a:solidFill>
                            </a:rPr>
                            <a:t>A</a:t>
                          </a:r>
                          <a:r>
                            <a:rPr lang="en-US" sz="2000" dirty="0">
                              <a:solidFill>
                                <a:srgbClr val="000000"/>
                              </a:solidFill>
                            </a:rPr>
                            <a:t>(0, 0)</a:t>
                          </a: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396250">
                    <a:tc>
                      <a:txBody>
                        <a:bodyPr/>
                        <a:lstStyle/>
                        <a:p>
                          <a:pPr marL="0" marR="0" lvl="0" indent="0" algn="ctr" rtl="0">
                            <a:spcBef>
                              <a:spcPts val="0"/>
                            </a:spcBef>
                            <a:spcAft>
                              <a:spcPts val="0"/>
                            </a:spcAft>
                            <a:buNone/>
                          </a:pPr>
                          <a:r>
                            <a:rPr lang="en-US" sz="2000" i="1" dirty="0">
                              <a:solidFill>
                                <a:srgbClr val="000000"/>
                              </a:solidFill>
                            </a:rPr>
                            <a:t>B</a:t>
                          </a:r>
                          <a:r>
                            <a:rPr lang="en-US" sz="2000" dirty="0">
                              <a:solidFill>
                                <a:srgbClr val="000000"/>
                              </a:solidFill>
                            </a:rPr>
                            <a:t>(8, 5)</a:t>
                          </a: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bl>
              </a:graphicData>
            </a:graphic>
          </p:graphicFrame>
        </mc:Fallback>
      </mc:AlternateContent>
      <p:sp>
        <p:nvSpPr>
          <p:cNvPr id="1500" name="Slide Number 1500"/>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a:t>
            </a:fld>
          </a:p>
        </p:txBody>
      </p:sp>
      <p:sp>
        <p:nvSpPr>
          <p:cNvPr id="1501" name="Answer 1501"/>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306</a:t>
            </a:r>
          </a:p>
        </p:txBody>
      </p:sp>
      <p:sp>
        <p:nvSpPr>
          <p:cNvPr id="1502" name="Answer 1502"/>
          <p:cNvSpPr txBox="1"/>
          <p:nvPr/>
        </p:nvSpPr>
        <p:spPr>
          <a:xfrm>
            <a:off x="3517900" y="5607050"/>
            <a:ext cx="2743200" cy="3937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A′(0, 0)</a:t>
            </a:r>
          </a:p>
        </p:txBody>
      </p:sp>
      <p:sp>
        <p:nvSpPr>
          <p:cNvPr id="1503" name="Answer 1503"/>
          <p:cNvSpPr txBox="1"/>
          <p:nvPr/>
        </p:nvSpPr>
        <p:spPr>
          <a:xfrm>
            <a:off x="3517900" y="6000750"/>
            <a:ext cx="2743200" cy="3937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B′(−5, 8)</a:t>
            </a:r>
          </a:p>
        </p:txBody>
      </p:sp>
      <p:sp>
        <p:nvSpPr>
          <p:cNvPr id="1504" name="Answer 1504"/>
          <p:cNvSpPr txBox="1"/>
          <p:nvPr/>
        </p:nvSpPr>
        <p:spPr>
          <a:xfrm>
            <a:off x="6261100" y="5607050"/>
            <a:ext cx="2743200" cy="3937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A″(0, 0)</a:t>
            </a:r>
          </a:p>
        </p:txBody>
      </p:sp>
      <p:sp>
        <p:nvSpPr>
          <p:cNvPr id="1505" name="Answer 1505"/>
          <p:cNvSpPr txBox="1"/>
          <p:nvPr/>
        </p:nvSpPr>
        <p:spPr>
          <a:xfrm>
            <a:off x="6261100" y="6000750"/>
            <a:ext cx="2743200" cy="3937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B″(−8, −5)</a:t>
            </a:r>
          </a:p>
        </p:txBody>
      </p:sp>
      <p:sp>
        <p:nvSpPr>
          <p:cNvPr id="1506" name="Answer 1506"/>
          <p:cNvSpPr txBox="1"/>
          <p:nvPr/>
        </p:nvSpPr>
        <p:spPr>
          <a:xfrm>
            <a:off x="9004300" y="5607050"/>
            <a:ext cx="2743200" cy="3937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A‴(0, 0)</a:t>
            </a:r>
          </a:p>
        </p:txBody>
      </p:sp>
      <p:sp>
        <p:nvSpPr>
          <p:cNvPr id="1507" name="Answer 1507"/>
          <p:cNvSpPr txBox="1"/>
          <p:nvPr/>
        </p:nvSpPr>
        <p:spPr>
          <a:xfrm>
            <a:off x="9004300" y="6000750"/>
            <a:ext cx="2743200" cy="3937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B‴(5, −8)</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502"/>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150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0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0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0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05">
          <a:extLst>
            <a:ext uri="{FF2B5EF4-FFF2-40B4-BE49-F238E27FC236}">
              <a16:creationId xmlns:a16="http://schemas.microsoft.com/office/drawing/2014/main" id="{D8B8BC1E-A8BD-8DC9-7647-E2ECE7AE1CEA}"/>
            </a:ext>
          </a:extLst>
        </p:cNvPr>
        <p:cNvGrpSpPr/>
        <p:nvPr/>
      </p:nvGrpSpPr>
      <p:grpSpPr>
        <a:xfrm>
          <a:off x="0" y="0"/>
          <a:ext cx="0" cy="0"/>
          <a:chOff x="0" y="0"/>
          <a:chExt cx="0" cy="0"/>
        </a:xfrm>
      </p:grpSpPr>
      <p:sp>
        <p:nvSpPr>
          <p:cNvPr id="506" name="Google Shape;506;p7">
            <a:extLst>
              <a:ext uri="{FF2B5EF4-FFF2-40B4-BE49-F238E27FC236}">
                <a16:creationId xmlns:a16="http://schemas.microsoft.com/office/drawing/2014/main" id="{45F64F3B-4787-3EA5-093C-EB787A90E22C}"/>
              </a:ext>
            </a:extLst>
          </p:cNvPr>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Coordinate Rotation </a:t>
            </a:r>
            <a:r>
              <a:rPr lang="en-US" sz="2000" b="1" dirty="0">
                <a:solidFill>
                  <a:schemeClr val="bg1"/>
                </a:solidFill>
              </a:rPr>
              <a:t>(2 of 5)</a:t>
            </a:r>
            <a:endParaRPr dirty="0">
              <a:solidFill>
                <a:schemeClr val="bg1"/>
              </a:solidFill>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ACA8BD3-FE42-396F-214E-7137DD6655F5}"/>
                  </a:ext>
                </a:extLst>
              </p:cNvPr>
              <p:cNvSpPr txBox="1"/>
              <p:nvPr/>
            </p:nvSpPr>
            <p:spPr>
              <a:xfrm>
                <a:off x="777240" y="1602297"/>
                <a:ext cx="10824734" cy="4468659"/>
              </a:xfrm>
              <a:prstGeom prst="rect">
                <a:avLst/>
              </a:prstGeom>
              <a:noFill/>
            </p:spPr>
            <p:txBody>
              <a:bodyPr wrap="square" rtlCol="0">
                <a:spAutoFit/>
              </a:bodyPr>
              <a:lstStyle/>
              <a:p>
                <a:pPr marL="511175" indent="-511175">
                  <a:buFont typeface="+mj-lt"/>
                  <a:buAutoNum type="arabicPeriod" startAt="2"/>
                </a:pPr>
                <a:r>
                  <a:rPr lang="en-US" sz="2800" dirty="0">
                    <a:latin typeface="Calibri" panose="020F0502020204030204" pitchFamily="34" charset="0"/>
                    <a:ea typeface="Calibri" panose="020F0502020204030204" pitchFamily="34" charset="0"/>
                    <a:cs typeface="Calibri" panose="020F0502020204030204" pitchFamily="34" charset="0"/>
                  </a:rPr>
                  <a:t>What do you notice about the coordinates of the endpoints of each rotated figure?</a:t>
                </a: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endParaRPr lang="en-US" sz="2800" dirty="0">
                  <a:latin typeface="Calibri" panose="020F0502020204030204" pitchFamily="34" charset="0"/>
                  <a:ea typeface="Calibri" panose="020F0502020204030204" pitchFamily="34" charset="0"/>
                  <a:cs typeface="Calibri" panose="020F0502020204030204" pitchFamily="34" charset="0"/>
                </a:endParaRPr>
              </a:p>
              <a:p>
                <a:pPr marL="511175" indent="-511175">
                  <a:buFont typeface="+mj-lt"/>
                  <a:buAutoNum type="arabicPeriod" startAt="2"/>
                </a:pPr>
                <a:r>
                  <a:rPr lang="en-US" sz="2800" dirty="0">
                    <a:latin typeface="Calibri" panose="020F0502020204030204" pitchFamily="34" charset="0"/>
                    <a:ea typeface="Calibri" panose="020F0502020204030204" pitchFamily="34" charset="0"/>
                    <a:cs typeface="Calibri" panose="020F0502020204030204" pitchFamily="34" charset="0"/>
                  </a:rPr>
                  <a:t>Determine the slope of each line segment.</a:t>
                </a: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r>
                  <a:rPr lang="en-US" sz="2800" dirty="0">
                    <a:latin typeface="Calibri" panose="020F0502020204030204" pitchFamily="34" charset="0"/>
                    <a:ea typeface="Calibri" panose="020F0502020204030204" pitchFamily="34" charset="0"/>
                    <a:cs typeface="Calibri" panose="020F0502020204030204" pitchFamily="34" charset="0"/>
                  </a:rPr>
                  <a:t> a.  </a:t>
                </a:r>
                <a14:m>
                  <m:oMath xmlns:m="http://schemas.openxmlformats.org/officeDocument/2006/math">
                    <m:acc>
                      <m:accPr>
                        <m:chr m:val="̅"/>
                        <m:ctrlPr>
                          <a:rPr lang="en-US" sz="2800" i="1" smtClean="0">
                            <a:latin typeface="Cambria Math" panose="02040503050406030204" pitchFamily="18" charset="0"/>
                          </a:rPr>
                        </m:ctrlPr>
                      </m:accPr>
                      <m:e>
                        <m:r>
                          <a:rPr lang="en-US" sz="2800" b="0" i="1" smtClean="0">
                            <a:latin typeface="Cambria Math" panose="02040503050406030204" pitchFamily="18" charset="0"/>
                          </a:rPr>
                          <m:t>𝐴𝐵</m:t>
                        </m:r>
                      </m:e>
                    </m:acc>
                  </m:oMath>
                </a14:m>
                <a:r>
                  <a:rPr lang="en-US" sz="2800" dirty="0">
                    <a:latin typeface="Calibri" panose="020F0502020204030204" pitchFamily="34" charset="0"/>
                    <a:ea typeface="Calibri" panose="020F0502020204030204" pitchFamily="34" charset="0"/>
                    <a:cs typeface="Calibri" panose="020F0502020204030204" pitchFamily="34" charset="0"/>
                  </a:rPr>
                  <a:t>				b.  </a:t>
                </a:r>
                <a14:m>
                  <m:oMath xmlns:m="http://schemas.openxmlformats.org/officeDocument/2006/math">
                    <m:acc>
                      <m:accPr>
                        <m:chr m:val="̅"/>
                        <m:ctrlPr>
                          <a:rPr lang="en-US" sz="2800" i="1" smtClean="0">
                            <a:latin typeface="Cambria Math" panose="02040503050406030204" pitchFamily="18" charset="0"/>
                          </a:rPr>
                        </m:ctrlPr>
                      </m:accPr>
                      <m:e>
                        <m:r>
                          <a:rPr lang="en-US" sz="2800" b="0" i="1" smtClean="0">
                            <a:latin typeface="Cambria Math" panose="02040503050406030204" pitchFamily="18" charset="0"/>
                          </a:rPr>
                          <m:t>𝐴</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e>
                    </m:acc>
                  </m:oMath>
                </a14:m>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r>
                  <a:rPr lang="en-US" sz="2800" dirty="0">
                    <a:latin typeface="Calibri" panose="020F0502020204030204" pitchFamily="34" charset="0"/>
                    <a:ea typeface="Calibri" panose="020F0502020204030204" pitchFamily="34" charset="0"/>
                    <a:cs typeface="Calibri" panose="020F0502020204030204" pitchFamily="34" charset="0"/>
                  </a:rPr>
                  <a:t> c.  </a:t>
                </a:r>
                <a14:m>
                  <m:oMath xmlns:m="http://schemas.openxmlformats.org/officeDocument/2006/math">
                    <m:acc>
                      <m:accPr>
                        <m:chr m:val="̅"/>
                        <m:ctrlPr>
                          <a:rPr lang="en-US" sz="2800" i="1">
                            <a:latin typeface="Cambria Math" panose="02040503050406030204" pitchFamily="18" charset="0"/>
                          </a:rPr>
                        </m:ctrlPr>
                      </m:accPr>
                      <m:e>
                        <m:r>
                          <a:rPr lang="en-US" sz="2800" b="0" i="1" smtClean="0">
                            <a:latin typeface="Cambria Math" panose="02040503050406030204" pitchFamily="18" charset="0"/>
                          </a:rPr>
                          <m:t>𝐴</m:t>
                        </m:r>
                        <m:r>
                          <a:rPr lang="en-US" sz="2800" b="0" i="1" smtClean="0">
                            <a:latin typeface="Cambria Math" panose="02040503050406030204" pitchFamily="18" charset="0"/>
                          </a:rPr>
                          <m:t>′′</m:t>
                        </m:r>
                        <m:r>
                          <a:rPr lang="en-US" sz="2800" i="1">
                            <a:latin typeface="Cambria Math" panose="02040503050406030204" pitchFamily="18" charset="0"/>
                          </a:rPr>
                          <m:t>𝐵</m:t>
                        </m:r>
                        <m:r>
                          <a:rPr lang="en-US" sz="2800" b="0" i="1" smtClean="0">
                            <a:latin typeface="Cambria Math" panose="02040503050406030204" pitchFamily="18" charset="0"/>
                          </a:rPr>
                          <m:t>′</m:t>
                        </m:r>
                        <m:r>
                          <a:rPr lang="en-US" sz="2800" i="1">
                            <a:latin typeface="Cambria Math" panose="02040503050406030204" pitchFamily="18" charset="0"/>
                          </a:rPr>
                          <m:t>′</m:t>
                        </m:r>
                      </m:e>
                    </m:acc>
                  </m:oMath>
                </a14:m>
                <a:r>
                  <a:rPr lang="en-US" sz="2800" dirty="0">
                    <a:latin typeface="Calibri" panose="020F0502020204030204" pitchFamily="34" charset="0"/>
                    <a:ea typeface="Calibri" panose="020F0502020204030204" pitchFamily="34" charset="0"/>
                    <a:cs typeface="Calibri" panose="020F0502020204030204" pitchFamily="34" charset="0"/>
                  </a:rPr>
                  <a:t>				d.  </a:t>
                </a:r>
                <a14:m>
                  <m:oMath xmlns:m="http://schemas.openxmlformats.org/officeDocument/2006/math">
                    <m:acc>
                      <m:accPr>
                        <m:chr m:val="̅"/>
                        <m:ctrlPr>
                          <a:rPr lang="en-US" sz="2800" i="1">
                            <a:latin typeface="Cambria Math" panose="02040503050406030204" pitchFamily="18" charset="0"/>
                          </a:rPr>
                        </m:ctrlPr>
                      </m:accPr>
                      <m:e>
                        <m:r>
                          <a:rPr lang="en-US" sz="2800" i="1">
                            <a:latin typeface="Cambria Math" panose="02040503050406030204" pitchFamily="18" charset="0"/>
                          </a:rPr>
                          <m:t>𝐴</m:t>
                        </m:r>
                        <m:r>
                          <a:rPr lang="en-US" sz="2800" i="1">
                            <a:latin typeface="Cambria Math" panose="02040503050406030204" pitchFamily="18" charset="0"/>
                          </a:rPr>
                          <m:t>′′′</m:t>
                        </m:r>
                        <m:r>
                          <a:rPr lang="en-US" sz="2800" i="1">
                            <a:latin typeface="Cambria Math" panose="02040503050406030204" pitchFamily="18" charset="0"/>
                          </a:rPr>
                          <m:t>𝐵</m:t>
                        </m:r>
                        <m:r>
                          <a:rPr lang="en-US" sz="2800" i="1">
                            <a:latin typeface="Cambria Math" panose="02040503050406030204" pitchFamily="18" charset="0"/>
                          </a:rPr>
                          <m:t>′′′</m:t>
                        </m:r>
                      </m:e>
                    </m:acc>
                  </m:oMath>
                </a14:m>
                <a:endParaRPr lang="en-US" sz="2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TextBox 2">
                <a:extLst>
                  <a:ext uri="{FF2B5EF4-FFF2-40B4-BE49-F238E27FC236}">
                    <a16:creationId xmlns:a16="http://schemas.microsoft.com/office/drawing/2014/main" id="{3ACA8BD3-FE42-396F-214E-7137DD6655F5}"/>
                  </a:ext>
                </a:extLst>
              </p:cNvPr>
              <p:cNvSpPr txBox="1">
                <a:spLocks noRot="1" noChangeAspect="1" noMove="1" noResize="1" noEditPoints="1" noAdjustHandles="1" noChangeArrowheads="1" noChangeShapeType="1" noTextEdit="1"/>
              </p:cNvSpPr>
              <p:nvPr/>
            </p:nvSpPr>
            <p:spPr>
              <a:xfrm>
                <a:off x="777240" y="1602297"/>
                <a:ext cx="10824734" cy="4468659"/>
              </a:xfrm>
              <a:prstGeom prst="rect">
                <a:avLst/>
              </a:prstGeom>
              <a:blipFill>
                <a:blip r:embed="rId3"/>
                <a:stretch>
                  <a:fillRect l="-1183" t="-1501" b="-3001"/>
                </a:stretch>
              </a:blipFill>
            </p:spPr>
            <p:txBody>
              <a:bodyPr/>
              <a:lstStyle/>
              <a:p>
                <a:r>
                  <a:rPr lang="en-US">
                    <a:noFill/>
                  </a:rPr>
                  <a:t> </a:t>
                </a:r>
              </a:p>
            </p:txBody>
          </p:sp>
        </mc:Fallback>
      </mc:AlternateContent>
      <p:sp>
        <p:nvSpPr>
          <p:cNvPr id="1506" name="Slide Number 1506"/>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7</a:t>
            </a:fld>
          </a:p>
        </p:txBody>
      </p:sp>
      <p:sp>
        <p:nvSpPr>
          <p:cNvPr id="1507" name="Answer 1507"/>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306</a:t>
            </a:r>
          </a:p>
        </p:txBody>
      </p:sp>
      <p:sp>
        <p:nvSpPr>
          <p:cNvPr id="1508" name="Answer 1508"/>
          <p:cNvSpPr txBox="1"/>
          <p:nvPr/>
        </p:nvSpPr>
        <p:spPr>
          <a:xfrm>
            <a:off x="889000" y="2413000"/>
            <a:ext cx="10795000" cy="127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Each 90° counterclockwise rotation changes (x, y) to (−y, x): B(8, 5) → B′(−5, 8) → B″(−8, −5) → B‴(5, −8). Endpoint A is the center of rotation, so it does not change.</a:t>
            </a:r>
          </a:p>
        </p:txBody>
      </p:sp>
      <p:sp>
        <p:nvSpPr>
          <p:cNvPr id="1509" name="Answer 1509"/>
          <p:cNvSpPr txBox="1"/>
          <p:nvPr/>
        </p:nvSpPr>
        <p:spPr>
          <a:xfrm>
            <a:off x="2984500" y="4699000"/>
            <a:ext cx="1905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m = 5/8</a:t>
            </a:r>
          </a:p>
        </p:txBody>
      </p:sp>
      <p:sp>
        <p:nvSpPr>
          <p:cNvPr id="1510" name="Answer 1510"/>
          <p:cNvSpPr txBox="1"/>
          <p:nvPr/>
        </p:nvSpPr>
        <p:spPr>
          <a:xfrm>
            <a:off x="7112000" y="4699000"/>
            <a:ext cx="2540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m = −8/5</a:t>
            </a:r>
          </a:p>
        </p:txBody>
      </p:sp>
      <p:sp>
        <p:nvSpPr>
          <p:cNvPr id="1511" name="Answer 1511"/>
          <p:cNvSpPr txBox="1"/>
          <p:nvPr/>
        </p:nvSpPr>
        <p:spPr>
          <a:xfrm>
            <a:off x="2984500" y="5588000"/>
            <a:ext cx="1905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m = 5/8</a:t>
            </a:r>
          </a:p>
        </p:txBody>
      </p:sp>
      <p:sp>
        <p:nvSpPr>
          <p:cNvPr id="1512" name="Answer 1512"/>
          <p:cNvSpPr txBox="1"/>
          <p:nvPr/>
        </p:nvSpPr>
        <p:spPr>
          <a:xfrm>
            <a:off x="7112000" y="5588000"/>
            <a:ext cx="2540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m = −8/5</a:t>
            </a:r>
          </a:p>
        </p:txBody>
      </p:sp>
    </p:spTree>
    <p:extLst>
      <p:ext uri="{BB962C8B-B14F-4D97-AF65-F5344CB8AC3E}">
        <p14:creationId xmlns:p14="http://schemas.microsoft.com/office/powerpoint/2010/main" val="2944072826"/>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50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50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7"/>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Coordinate Rotation </a:t>
            </a:r>
            <a:r>
              <a:rPr lang="en-US" sz="2000" b="1" dirty="0">
                <a:solidFill>
                  <a:schemeClr val="bg1"/>
                </a:solidFill>
              </a:rPr>
              <a:t>(3 of 5)</a:t>
            </a:r>
            <a:endParaRPr dirty="0">
              <a:solidFill>
                <a:schemeClr val="bg1"/>
              </a:solidFill>
            </a:endParaRPr>
          </a:p>
        </p:txBody>
      </p:sp>
      <p:sp>
        <p:nvSpPr>
          <p:cNvPr id="507" name="Google Shape;507;p7"/>
          <p:cNvSpPr txBox="1"/>
          <p:nvPr/>
        </p:nvSpPr>
        <p:spPr>
          <a:xfrm>
            <a:off x="777240" y="1598704"/>
            <a:ext cx="2462795" cy="1015663"/>
          </a:xfrm>
          <a:prstGeom prst="rect">
            <a:avLst/>
          </a:prstGeom>
          <a:noFill/>
          <a:ln w="38100" cap="flat" cmpd="sng">
            <a:solidFill>
              <a:srgbClr val="008F4C"/>
            </a:solidFill>
            <a:prstDash val="sysDot"/>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Review the definition of </a:t>
            </a:r>
            <a:r>
              <a:rPr lang="en-US" sz="2000" b="1">
                <a:solidFill>
                  <a:srgbClr val="000000"/>
                </a:solidFill>
                <a:latin typeface="Calibri"/>
                <a:ea typeface="Calibri"/>
                <a:cs typeface="Calibri"/>
                <a:sym typeface="Calibri"/>
              </a:rPr>
              <a:t>describe</a:t>
            </a:r>
            <a:r>
              <a:rPr lang="en-US" sz="2000">
                <a:solidFill>
                  <a:srgbClr val="000000"/>
                </a:solidFill>
                <a:latin typeface="Calibri"/>
                <a:ea typeface="Calibri"/>
                <a:cs typeface="Calibri"/>
                <a:sym typeface="Calibri"/>
              </a:rPr>
              <a:t> in the Academic Glossary.</a:t>
            </a:r>
            <a:endParaRPr/>
          </a:p>
        </p:txBody>
      </p:sp>
      <p:sp>
        <p:nvSpPr>
          <p:cNvPr id="3" name="TextBox 2">
            <a:extLst>
              <a:ext uri="{FF2B5EF4-FFF2-40B4-BE49-F238E27FC236}">
                <a16:creationId xmlns:a16="http://schemas.microsoft.com/office/drawing/2014/main" id="{A1DA5E90-59FB-FF30-2BDD-07F9060D885E}"/>
              </a:ext>
            </a:extLst>
          </p:cNvPr>
          <p:cNvSpPr txBox="1"/>
          <p:nvPr/>
        </p:nvSpPr>
        <p:spPr>
          <a:xfrm>
            <a:off x="3842158" y="1602297"/>
            <a:ext cx="7743038" cy="954107"/>
          </a:xfrm>
          <a:prstGeom prst="rect">
            <a:avLst/>
          </a:prstGeom>
          <a:noFill/>
        </p:spPr>
        <p:txBody>
          <a:bodyPr wrap="square" rtlCol="0">
            <a:spAutoFit/>
          </a:bodyPr>
          <a:lstStyle/>
          <a:p>
            <a:pPr marL="461963" indent="-461963"/>
            <a:r>
              <a:rPr lang="en-US" sz="2800" dirty="0">
                <a:latin typeface="Calibri" panose="020F0502020204030204" pitchFamily="34" charset="0"/>
                <a:ea typeface="Calibri" panose="020F0502020204030204" pitchFamily="34" charset="0"/>
                <a:cs typeface="Calibri" panose="020F0502020204030204" pitchFamily="34" charset="0"/>
              </a:rPr>
              <a:t>4.  </a:t>
            </a:r>
            <a:r>
              <a:rPr lang="en-US" sz="2800" b="1" dirty="0">
                <a:latin typeface="Calibri" panose="020F0502020204030204" pitchFamily="34" charset="0"/>
                <a:ea typeface="Calibri" panose="020F0502020204030204" pitchFamily="34" charset="0"/>
                <a:cs typeface="Calibri" panose="020F0502020204030204" pitchFamily="34" charset="0"/>
              </a:rPr>
              <a:t>Describe</a:t>
            </a:r>
            <a:r>
              <a:rPr lang="en-US" sz="2800" dirty="0">
                <a:latin typeface="Calibri" panose="020F0502020204030204" pitchFamily="34" charset="0"/>
                <a:ea typeface="Calibri" panose="020F0502020204030204" pitchFamily="34" charset="0"/>
                <a:cs typeface="Calibri" panose="020F0502020204030204" pitchFamily="34" charset="0"/>
              </a:rPr>
              <a:t> any patterns you notice in the slopes of    the figures.</a:t>
            </a:r>
          </a:p>
        </p:txBody>
      </p:sp>
      <p:sp>
        <p:nvSpPr>
          <p:cNvPr id="1507" name="Slide Number 1507"/>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8</a:t>
            </a:fld>
          </a:p>
        </p:txBody>
      </p:sp>
      <p:sp>
        <p:nvSpPr>
          <p:cNvPr id="1508" name="Answer 1508"/>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306</a:t>
            </a:r>
          </a:p>
        </p:txBody>
      </p:sp>
      <p:sp>
        <p:nvSpPr>
          <p:cNvPr id="1509" name="Answer 1509"/>
          <p:cNvSpPr txBox="1"/>
          <p:nvPr/>
        </p:nvSpPr>
        <p:spPr>
          <a:xfrm>
            <a:off x="3911600" y="2667000"/>
            <a:ext cx="8001000" cy="190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AB and A″B″ (0° and 180°) have equal slopes, 5/8. A′B′ and A‴B‴ (90° and 270°) have equal slopes, −8/5. The two slopes are reciprocals with opposite signs: (5/8)(−8/5) = −1.</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5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8"/>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Coordinate Rotation </a:t>
            </a:r>
            <a:r>
              <a:rPr lang="en-US" sz="2000" b="1" dirty="0">
                <a:solidFill>
                  <a:schemeClr val="bg1"/>
                </a:solidFill>
              </a:rPr>
              <a:t>(4 of 5)</a:t>
            </a:r>
            <a:endParaRPr dirty="0">
              <a:solidFill>
                <a:schemeClr val="bg1"/>
              </a:solidFill>
            </a:endParaRPr>
          </a:p>
        </p:txBody>
      </p:sp>
      <p:sp>
        <p:nvSpPr>
          <p:cNvPr id="519" name="Google Shape;519;p8"/>
          <p:cNvSpPr txBox="1"/>
          <p:nvPr/>
        </p:nvSpPr>
        <p:spPr>
          <a:xfrm>
            <a:off x="777240" y="1616140"/>
            <a:ext cx="9902597"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a:solidFill>
                  <a:srgbClr val="000000"/>
                </a:solidFill>
                <a:latin typeface="Calibri"/>
                <a:ea typeface="Calibri"/>
                <a:cs typeface="Calibri"/>
                <a:sym typeface="Calibri"/>
              </a:rPr>
              <a:t>Let’s summarize our learning from the Getting Started!</a:t>
            </a:r>
            <a:endParaRPr/>
          </a:p>
        </p:txBody>
      </p:sp>
      <p:pic>
        <p:nvPicPr>
          <p:cNvPr id="520" name="Google Shape;520;p8">
            <a:extLst>
              <a:ext uri="{C183D7F6-B498-43B3-948B-1728B52AA6E4}">
                <adec:decorative xmlns:adec="http://schemas.microsoft.com/office/drawing/2017/decorative" val="1"/>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174023" y="372494"/>
            <a:ext cx="1501270" cy="518205"/>
          </a:xfrm>
          <a:prstGeom prst="rect">
            <a:avLst/>
          </a:prstGeom>
          <a:noFill/>
          <a:ln>
            <a:noFill/>
          </a:ln>
        </p:spPr>
      </p:pic>
      <p:sp>
        <p:nvSpPr>
          <p:cNvPr id="1520" name="Slide Number 1520"/>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9</a:t>
            </a:fld>
          </a:p>
        </p:txBody>
      </p:sp>
      <p:sp>
        <p:nvSpPr>
          <p:cNvPr id="1521" name="Answer 1521"/>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306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9"/>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Coordinate Rotation </a:t>
            </a:r>
            <a:r>
              <a:rPr lang="en-US" sz="2000" b="1" dirty="0">
                <a:solidFill>
                  <a:schemeClr val="bg1"/>
                </a:solidFill>
              </a:rPr>
              <a:t>(5 of 5)</a:t>
            </a:r>
            <a:endParaRPr dirty="0">
              <a:solidFill>
                <a:schemeClr val="bg1"/>
              </a:solidFill>
            </a:endParaRPr>
          </a:p>
        </p:txBody>
      </p:sp>
      <p:sp>
        <p:nvSpPr>
          <p:cNvPr id="527" name="Google Shape;527;p9">
            <a:extLst>
              <a:ext uri="{C183D7F6-B498-43B3-948B-1728B52AA6E4}">
                <adec:decorative xmlns:adec="http://schemas.microsoft.com/office/drawing/2017/decorative" val="1"/>
              </a:ext>
            </a:extLst>
          </p:cNvPr>
          <p:cNvSpPr txBox="1"/>
          <p:nvPr/>
        </p:nvSpPr>
        <p:spPr>
          <a:xfrm>
            <a:off x="777240" y="1616140"/>
            <a:ext cx="9900285"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800"/>
              <a:buFont typeface="Arial"/>
              <a:buNone/>
            </a:pPr>
            <a:endParaRPr sz="2800" b="0" i="0" u="none" strike="noStrike">
              <a:solidFill>
                <a:srgbClr val="3A3838"/>
              </a:solidFill>
              <a:latin typeface="Calibri"/>
              <a:ea typeface="Calibri"/>
              <a:cs typeface="Calibri"/>
              <a:sym typeface="Calibri"/>
            </a:endParaRPr>
          </a:p>
          <a:p>
            <a:pPr marL="0" marR="0" lvl="0" indent="0" algn="ctr" rtl="0">
              <a:spcBef>
                <a:spcPts val="560"/>
              </a:spcBef>
              <a:spcAft>
                <a:spcPts val="0"/>
              </a:spcAft>
              <a:buClr>
                <a:schemeClr val="dk1"/>
              </a:buClr>
              <a:buSzPts val="2800"/>
              <a:buFont typeface="Arial"/>
              <a:buNone/>
            </a:pPr>
            <a:endParaRPr sz="2800">
              <a:solidFill>
                <a:srgbClr val="3A3838"/>
              </a:solidFill>
              <a:latin typeface="Calibri"/>
              <a:ea typeface="Calibri"/>
              <a:cs typeface="Calibri"/>
              <a:sym typeface="Calibri"/>
            </a:endParaRPr>
          </a:p>
        </p:txBody>
      </p:sp>
      <p:sp>
        <p:nvSpPr>
          <p:cNvPr id="1527" name="Slide Number 1527"/>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10</a:t>
            </a:fld>
          </a:p>
        </p:txBody>
      </p:sp>
      <p:sp>
        <p:nvSpPr>
          <p:cNvPr id="1528" name="Answer 1528"/>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306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10"/>
          <p:cNvSpPr txBox="1">
            <a:spLocks noGrp="1"/>
          </p:cNvSpPr>
          <p:nvPr>
            <p:ph type="title" idx="4294967295"/>
          </p:nvPr>
        </p:nvSpPr>
        <p:spPr>
          <a:xfrm>
            <a:off x="838200" y="-335560"/>
            <a:ext cx="10514013" cy="33556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4400"/>
              <a:buFont typeface="Calibri"/>
              <a:buNone/>
            </a:pPr>
            <a:r>
              <a:rPr lang="en-US" sz="2000" dirty="0">
                <a:solidFill>
                  <a:schemeClr val="tx2"/>
                </a:solidFill>
                <a:latin typeface="Calibri"/>
                <a:ea typeface="Calibri"/>
                <a:cs typeface="Calibri"/>
                <a:sym typeface="Calibri"/>
              </a:rPr>
              <a:t>Activity 3.1</a:t>
            </a:r>
            <a:endParaRPr sz="2000" dirty="0">
              <a:solidFill>
                <a:schemeClr val="tx2"/>
              </a:solidFill>
            </a:endParaRPr>
          </a:p>
        </p:txBody>
      </p:sp>
      <p:sp>
        <p:nvSpPr>
          <p:cNvPr id="534" name="Google Shape;534;p10" descr="20 to 25 minutes"/>
          <p:cNvSpPr txBox="1">
            <a:spLocks noGrp="1"/>
          </p:cNvSpPr>
          <p:nvPr>
            <p:ph type="body" idx="2"/>
          </p:nvPr>
        </p:nvSpPr>
        <p:spPr>
          <a:xfrm>
            <a:off x="10614990" y="5780973"/>
            <a:ext cx="863947" cy="79533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71616"/>
              </a:buClr>
              <a:buSzPts val="2000"/>
              <a:buNone/>
            </a:pPr>
            <a:r>
              <a:rPr lang="en-US" b="1" dirty="0"/>
              <a:t>20–25</a:t>
            </a:r>
            <a:endParaRPr dirty="0"/>
          </a:p>
        </p:txBody>
      </p:sp>
      <p:sp>
        <p:nvSpPr>
          <p:cNvPr id="535" name="Google Shape;535;p10">
            <a:extLst>
              <a:ext uri="{C183D7F6-B498-43B3-948B-1728B52AA6E4}">
                <adec:decorative xmlns:adec="http://schemas.microsoft.com/office/drawing/2017/decorative" val="1"/>
              </a:ext>
            </a:extLst>
          </p:cNvPr>
          <p:cNvSpPr txBox="1">
            <a:spLocks noGrp="1"/>
          </p:cNvSpPr>
          <p:nvPr>
            <p:ph type="body" idx="1"/>
          </p:nvPr>
        </p:nvSpPr>
        <p:spPr>
          <a:xfrm>
            <a:off x="6769100" y="2957776"/>
            <a:ext cx="2025986" cy="112553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7500"/>
              <a:buNone/>
            </a:pPr>
            <a:r>
              <a:rPr lang="en-US"/>
              <a:t>3.1</a:t>
            </a:r>
            <a:endParaRPr/>
          </a:p>
        </p:txBody>
      </p:sp>
      <p:sp>
        <p:nvSpPr>
          <p:cNvPr id="1535" name="Slide Number 153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11</a:t>
            </a:fld>
          </a:p>
        </p:txBody>
      </p:sp>
      <p:sp>
        <p:nvSpPr>
          <p:cNvPr id="1537" name="Answer 1537"/>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400" b="1" dirty="0">
                <a:solidFill>
                  <a:srgbClr val="2E7D3C"/>
                </a:solidFill>
              </a:rPr>
              <a:t>★ Essential activity: do not skip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11"/>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Perpendicular Lines </a:t>
            </a:r>
            <a:r>
              <a:rPr lang="en-US" sz="2000" b="1" dirty="0">
                <a:solidFill>
                  <a:schemeClr val="bg1"/>
                </a:solidFill>
              </a:rPr>
              <a:t>(1 of 9)</a:t>
            </a:r>
            <a:endParaRPr dirty="0">
              <a:solidFill>
                <a:schemeClr val="bg1"/>
              </a:solidFill>
            </a:endParaRPr>
          </a:p>
        </p:txBody>
      </p:sp>
      <p:sp>
        <p:nvSpPr>
          <p:cNvPr id="542" name="Google Shape;542;p11"/>
          <p:cNvSpPr txBox="1"/>
          <p:nvPr/>
        </p:nvSpPr>
        <p:spPr>
          <a:xfrm>
            <a:off x="777240" y="1602297"/>
            <a:ext cx="9893555" cy="198819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1200"/>
              </a:spcAft>
              <a:buClr>
                <a:srgbClr val="000000"/>
              </a:buClr>
              <a:buSzPts val="2400"/>
              <a:buFont typeface="Arial"/>
              <a:buNone/>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Recall that perpendicular lines or line segments form a right angle at the point of intersection.</a:t>
            </a:r>
          </a:p>
          <a:p>
            <a:pPr marL="0" marR="0" lvl="0" indent="0" algn="l" rtl="0">
              <a:spcBef>
                <a:spcPts val="0"/>
              </a:spcBef>
              <a:spcAft>
                <a:spcPts val="0"/>
              </a:spcAft>
              <a:buClr>
                <a:srgbClr val="000000"/>
              </a:buClr>
              <a:buSzPts val="2400"/>
              <a:buFont typeface="Arial"/>
              <a:buNone/>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Consider the three graphs shown. Each shows a line and its rotation 90° about a point, which is also the point of intersection.</a:t>
            </a:r>
            <a:endParaRPr sz="2800"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descr="A graph of 2 lines on the coordinate plane. Line A rises from left to right through the points (0, 0) and (2, 2). Line A prime falls from left to right through the points (0, 0) and (2, negative 2). The two lines intersect at the point (0, 0).">
            <a:extLst>
              <a:ext uri="{FF2B5EF4-FFF2-40B4-BE49-F238E27FC236}">
                <a16:creationId xmlns:a16="http://schemas.microsoft.com/office/drawing/2014/main" id="{FE5CB250-2888-5214-2EB8-EFB6DCE7F00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77240" y="3765862"/>
            <a:ext cx="2728196" cy="2712955"/>
          </a:xfrm>
          <a:prstGeom prst="rect">
            <a:avLst/>
          </a:prstGeom>
        </p:spPr>
      </p:pic>
      <p:pic>
        <p:nvPicPr>
          <p:cNvPr id="5" name="Picture 4" descr="A graph of 2 lines on the coordinate plane. Line B rises from left to right through the points (0, 5) and (3, 6). Line B prime falls from left to right through the points (0, 5) and (1, 2). The two lines intersect at the point (0, 5).">
            <a:extLst>
              <a:ext uri="{FF2B5EF4-FFF2-40B4-BE49-F238E27FC236}">
                <a16:creationId xmlns:a16="http://schemas.microsoft.com/office/drawing/2014/main" id="{C0D23B6C-05C3-8472-5A7D-D77A244A458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344677" y="3765862"/>
            <a:ext cx="2758679" cy="2712955"/>
          </a:xfrm>
          <a:prstGeom prst="rect">
            <a:avLst/>
          </a:prstGeom>
        </p:spPr>
      </p:pic>
      <p:pic>
        <p:nvPicPr>
          <p:cNvPr id="7" name="Picture 6" descr="A graph of 2 lines on the coordinate plane. Line C rises from left to right through the points (0, negative 4) and (6, 5). Line C prime falls from left to right through the points (0, 9) and (6, 5). The two lines intersect at the point (6, 5).">
            <a:extLst>
              <a:ext uri="{FF2B5EF4-FFF2-40B4-BE49-F238E27FC236}">
                <a16:creationId xmlns:a16="http://schemas.microsoft.com/office/drawing/2014/main" id="{6C8268D6-971E-C481-5710-9CF55083C60C}"/>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942597" y="3758241"/>
            <a:ext cx="2781541" cy="2728196"/>
          </a:xfrm>
          <a:prstGeom prst="rect">
            <a:avLst/>
          </a:prstGeom>
        </p:spPr>
      </p:pic>
      <p:sp>
        <p:nvSpPr>
          <p:cNvPr id="1542" name="Slide Number 1542"/>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12</a:t>
            </a:fld>
          </a:p>
        </p:txBody>
      </p:sp>
      <p:sp>
        <p:nvSpPr>
          <p:cNvPr id="1543" name="Answer 1543"/>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307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12"/>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Perpendicular Lines </a:t>
            </a:r>
            <a:r>
              <a:rPr lang="en-US" sz="2000" b="1" dirty="0">
                <a:solidFill>
                  <a:schemeClr val="bg1"/>
                </a:solidFill>
              </a:rPr>
              <a:t>(2 of 9)</a:t>
            </a:r>
            <a:endParaRPr dirty="0">
              <a:solidFill>
                <a:schemeClr val="bg1"/>
              </a:solidFill>
            </a:endParaRPr>
          </a:p>
        </p:txBody>
      </p:sp>
      <p:sp>
        <p:nvSpPr>
          <p:cNvPr id="2" name="Google Shape;559;p13">
            <a:extLst>
              <a:ext uri="{FF2B5EF4-FFF2-40B4-BE49-F238E27FC236}">
                <a16:creationId xmlns:a16="http://schemas.microsoft.com/office/drawing/2014/main" id="{E7579E60-15A9-40B4-3249-5ABF2A8814E8}"/>
              </a:ext>
            </a:extLst>
          </p:cNvPr>
          <p:cNvSpPr txBox="1"/>
          <p:nvPr/>
        </p:nvSpPr>
        <p:spPr>
          <a:xfrm>
            <a:off x="777241" y="1602297"/>
            <a:ext cx="7150356" cy="3808602"/>
          </a:xfrm>
          <a:prstGeom prst="rect">
            <a:avLst/>
          </a:prstGeom>
          <a:noFill/>
          <a:ln>
            <a:noFill/>
          </a:ln>
        </p:spPr>
        <p:txBody>
          <a:bodyPr spcFirstLastPara="1" wrap="square" lIns="91425" tIns="45700" rIns="91425" bIns="45700" anchor="t" anchorCtr="0">
            <a:noAutofit/>
          </a:bodyPr>
          <a:lstStyle/>
          <a:p>
            <a:pPr marL="514350" marR="0" lvl="0" indent="-514350" algn="l" rtl="0">
              <a:spcBef>
                <a:spcPts val="0"/>
              </a:spcBef>
              <a:spcAft>
                <a:spcPts val="5190"/>
              </a:spcAft>
              <a:buClr>
                <a:srgbClr val="000000"/>
              </a:buClr>
              <a:buSzPts val="2800"/>
              <a:buFont typeface="Calibri"/>
              <a:buAutoNum type="arabicPeriod"/>
            </a:pPr>
            <a:r>
              <a:rPr lang="en-US" sz="2800" dirty="0">
                <a:solidFill>
                  <a:srgbClr val="000000"/>
                </a:solidFill>
                <a:latin typeface="Calibri"/>
                <a:ea typeface="Calibri"/>
                <a:cs typeface="Calibri"/>
                <a:sym typeface="Calibri"/>
              </a:rPr>
              <a:t>Are the lines in each graph perpendicular? Explain your reasoning. </a:t>
            </a:r>
            <a:br>
              <a:rPr lang="en-US" sz="2800" dirty="0">
                <a:solidFill>
                  <a:srgbClr val="000000"/>
                </a:solidFill>
                <a:latin typeface="Calibri"/>
                <a:ea typeface="Calibri"/>
                <a:cs typeface="Calibri"/>
                <a:sym typeface="Calibri"/>
              </a:rPr>
            </a:br>
            <a:br>
              <a:rPr lang="en-US" sz="2800" dirty="0">
                <a:solidFill>
                  <a:srgbClr val="000000"/>
                </a:solidFill>
                <a:latin typeface="Calibri"/>
                <a:ea typeface="Calibri"/>
                <a:cs typeface="Calibri"/>
                <a:sym typeface="Calibri"/>
              </a:rPr>
            </a:br>
            <a:br>
              <a:rPr lang="en-US" sz="2800" dirty="0">
                <a:solidFill>
                  <a:srgbClr val="000000"/>
                </a:solidFill>
                <a:latin typeface="Calibri"/>
                <a:ea typeface="Calibri"/>
                <a:cs typeface="Calibri"/>
                <a:sym typeface="Calibri"/>
              </a:rPr>
            </a:br>
            <a:endParaRPr sz="2800" dirty="0">
              <a:solidFill>
                <a:srgbClr val="000000"/>
              </a:solidFill>
              <a:latin typeface="Calibri"/>
              <a:ea typeface="Calibri"/>
              <a:cs typeface="Calibri"/>
              <a:sym typeface="Calibri"/>
            </a:endParaRPr>
          </a:p>
          <a:p>
            <a:pPr marL="514350" marR="0" lvl="0" indent="-514350" algn="l" rtl="0">
              <a:spcBef>
                <a:spcPts val="560"/>
              </a:spcBef>
              <a:spcAft>
                <a:spcPts val="11460"/>
              </a:spcAft>
              <a:buClr>
                <a:srgbClr val="000000"/>
              </a:buClr>
              <a:buSzPts val="2800"/>
              <a:buFont typeface="Calibri"/>
              <a:buAutoNum type="arabicPeriod"/>
            </a:pPr>
            <a:r>
              <a:rPr lang="en-US" sz="2800" dirty="0">
                <a:solidFill>
                  <a:srgbClr val="000000"/>
                </a:solidFill>
                <a:latin typeface="Calibri"/>
                <a:ea typeface="Calibri"/>
                <a:cs typeface="Calibri"/>
                <a:sym typeface="Calibri"/>
              </a:rPr>
              <a:t>Write the equation for each line and its transformation. What do you notice?</a:t>
            </a:r>
            <a:endParaRPr dirty="0"/>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881EDF44-CC55-218D-5A4F-1D03649A537A}"/>
                  </a:ext>
                </a:extLst>
              </p:cNvPr>
              <p:cNvSpPr/>
              <p:nvPr/>
            </p:nvSpPr>
            <p:spPr>
              <a:xfrm>
                <a:off x="9068499" y="1719743"/>
                <a:ext cx="2344673" cy="4555222"/>
              </a:xfrm>
              <a:prstGeom prst="rect">
                <a:avLst/>
              </a:prstGeom>
              <a:noFill/>
              <a:ln w="38100">
                <a:solidFill>
                  <a:schemeClr val="accent3">
                    <a:lumMod val="75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rgbClr val="2B8147"/>
                    </a:solidFill>
                    <a:latin typeface="Calibri" panose="020F0502020204030204" pitchFamily="34" charset="0"/>
                    <a:ea typeface="Calibri" panose="020F0502020204030204" pitchFamily="34" charset="0"/>
                    <a:cs typeface="Calibri" panose="020F0502020204030204" pitchFamily="34" charset="0"/>
                  </a:rPr>
                  <a:t>Remember…</a:t>
                </a:r>
              </a:p>
              <a:p>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The reciprocal of</a:t>
                </a:r>
                <a:b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a number </a:t>
                </a:r>
                <a14:m>
                  <m:oMath xmlns:m="http://schemas.openxmlformats.org/officeDocument/2006/math">
                    <m:f>
                      <m:fPr>
                        <m:ctrlPr>
                          <a:rPr lang="en-US" sz="200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ctrlPr>
                      </m:fPr>
                      <m:num>
                        <m:r>
                          <a:rPr lang="en-US" sz="20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𝑎</m:t>
                        </m:r>
                      </m:num>
                      <m:den>
                        <m:r>
                          <a:rPr lang="en-US" sz="20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𝑏</m:t>
                        </m:r>
                      </m:den>
                    </m:f>
                  </m:oMath>
                </a14:m>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is the number </a:t>
                </a:r>
                <a14:m>
                  <m:oMath xmlns:m="http://schemas.openxmlformats.org/officeDocument/2006/math">
                    <m:f>
                      <m:fPr>
                        <m:ctrlPr>
                          <a:rPr lang="en-US" sz="200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ctrlPr>
                      </m:fPr>
                      <m:num>
                        <m:r>
                          <a:rPr lang="en-US" sz="20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𝑏</m:t>
                        </m:r>
                      </m:num>
                      <m:den>
                        <m:r>
                          <a:rPr lang="en-US" sz="20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𝑎</m:t>
                        </m:r>
                      </m:den>
                    </m:f>
                  </m:oMath>
                </a14:m>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where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are nonzero numbers. Because the product of a number and its reciprocal is one, reciprocal numbers are also known as multiplicative inverses.</a:t>
                </a:r>
              </a:p>
            </p:txBody>
          </p:sp>
        </mc:Choice>
        <mc:Fallback xmlns="">
          <p:sp>
            <p:nvSpPr>
              <p:cNvPr id="3" name="Rectangle 2">
                <a:extLst>
                  <a:ext uri="{FF2B5EF4-FFF2-40B4-BE49-F238E27FC236}">
                    <a16:creationId xmlns:a16="http://schemas.microsoft.com/office/drawing/2014/main" id="{881EDF44-CC55-218D-5A4F-1D03649A537A}"/>
                  </a:ext>
                </a:extLst>
              </p:cNvPr>
              <p:cNvSpPr>
                <a:spLocks noRot="1" noChangeAspect="1" noMove="1" noResize="1" noEditPoints="1" noAdjustHandles="1" noChangeArrowheads="1" noChangeShapeType="1" noTextEdit="1"/>
              </p:cNvSpPr>
              <p:nvPr/>
            </p:nvSpPr>
            <p:spPr>
              <a:xfrm>
                <a:off x="9068499" y="1719743"/>
                <a:ext cx="2344673" cy="4555222"/>
              </a:xfrm>
              <a:prstGeom prst="rect">
                <a:avLst/>
              </a:prstGeom>
              <a:blipFill>
                <a:blip r:embed="rId3"/>
                <a:stretch>
                  <a:fillRect l="-2051"/>
                </a:stretch>
              </a:blipFill>
              <a:ln w="38100">
                <a:solidFill>
                  <a:schemeClr val="accent3">
                    <a:lumMod val="75000"/>
                  </a:schemeClr>
                </a:solidFill>
                <a:prstDash val="sysDot"/>
              </a:ln>
            </p:spPr>
            <p:txBody>
              <a:bodyPr/>
              <a:lstStyle/>
              <a:p>
                <a:r>
                  <a:rPr lang="en-US">
                    <a:noFill/>
                  </a:rPr>
                  <a:t> </a:t>
                </a:r>
              </a:p>
            </p:txBody>
          </p:sp>
        </mc:Fallback>
      </mc:AlternateContent>
      <p:sp>
        <p:nvSpPr>
          <p:cNvPr id="1549" name="Slide Number 154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13</a:t>
            </a:fld>
          </a:p>
        </p:txBody>
      </p:sp>
      <p:sp>
        <p:nvSpPr>
          <p:cNvPr id="1550" name="Answer 155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307</a:t>
            </a:r>
          </a:p>
        </p:txBody>
      </p:sp>
      <p:sp>
        <p:nvSpPr>
          <p:cNvPr id="1551" name="Answer 1551"/>
          <p:cNvSpPr txBox="1"/>
          <p:nvPr/>
        </p:nvSpPr>
        <p:spPr>
          <a:xfrm>
            <a:off x="1339850" y="2527300"/>
            <a:ext cx="6496050" cy="6096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Yes. Each line is rotated 90°, so the lines meet at a 90° angle, a right angle. Lines that form right angles are perpendicular.</a:t>
            </a:r>
          </a:p>
        </p:txBody>
      </p:sp>
      <p:sp>
        <p:nvSpPr>
          <p:cNvPr id="1552" name="Answer 1552"/>
          <p:cNvSpPr txBox="1"/>
          <p:nvPr/>
        </p:nvSpPr>
        <p:spPr>
          <a:xfrm>
            <a:off x="1339850" y="4127500"/>
            <a:ext cx="6496050" cy="14033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A: y = x;   A′: y = −x</a:t>
            </a:r>
          </a:p>
          <a:p>
            <a:pPr marL="0" indent="0" algn="l">
              <a:spcBef>
                <a:spcPts val="0"/>
              </a:spcBef>
              <a:spcAft>
                <a:spcPts val="300"/>
              </a:spcAft>
              <a:buNone/>
            </a:pPr>
            <a:r>
              <a:rPr lang="en-US" sz="2000" dirty="0">
                <a:solidFill>
                  <a:srgbClr val="FF0000"/>
                </a:solidFill>
              </a:rPr>
              <a:t>B: y = (1/3)x + 5;   B′: y = −3x + 5</a:t>
            </a:r>
          </a:p>
          <a:p>
            <a:pPr marL="0" indent="0" algn="l">
              <a:spcBef>
                <a:spcPts val="0"/>
              </a:spcBef>
              <a:spcAft>
                <a:spcPts val="300"/>
              </a:spcAft>
              <a:buNone/>
            </a:pPr>
            <a:r>
              <a:rPr lang="en-US" sz="2000" dirty="0">
                <a:solidFill>
                  <a:srgbClr val="FF0000"/>
                </a:solidFill>
              </a:rPr>
              <a:t>C: y = −(2/3)x + 9;   C′: y = (3/2)x − 4</a:t>
            </a:r>
          </a:p>
          <a:p>
            <a:pPr marL="0" indent="0" algn="l">
              <a:spcBef>
                <a:spcPts val="0"/>
              </a:spcBef>
              <a:spcAft>
                <a:spcPts val="300"/>
              </a:spcAft>
              <a:buNone/>
            </a:pPr>
            <a:r>
              <a:rPr lang="en-US" sz="2000" dirty="0">
                <a:solidFill>
                  <a:srgbClr val="FF0000"/>
                </a:solidFill>
              </a:rPr>
              <a:t>The slopes of each pair are reciprocals with opposite signs.</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55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5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9" name="Google Shape;569;p14">
            <a:extLst>
              <a:ext uri="{C183D7F6-B498-43B3-948B-1728B52AA6E4}">
                <adec:decorative xmlns:adec="http://schemas.microsoft.com/office/drawing/2017/decorative" val="1"/>
              </a:ext>
            </a:extLst>
          </p:cNvPr>
          <p:cNvSpPr/>
          <p:nvPr/>
        </p:nvSpPr>
        <p:spPr>
          <a:xfrm>
            <a:off x="3288483" y="2233987"/>
            <a:ext cx="8707774" cy="4305300"/>
          </a:xfrm>
          <a:prstGeom prst="roundRect">
            <a:avLst>
              <a:gd name="adj" fmla="val 16667"/>
            </a:avLst>
          </a:prstGeom>
          <a:noFill/>
          <a:ln w="50800" cap="flat" cmpd="dbl">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6" name="Google Shape;566;p14"/>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Perpendicular Lines </a:t>
            </a:r>
            <a:r>
              <a:rPr lang="en-US" sz="2000" b="1" dirty="0">
                <a:solidFill>
                  <a:schemeClr val="bg1"/>
                </a:solidFill>
              </a:rPr>
              <a:t>(3 of 9)</a:t>
            </a:r>
            <a:endParaRPr dirty="0">
              <a:solidFill>
                <a:schemeClr val="bg1"/>
              </a:solidFill>
            </a:endParaRPr>
          </a:p>
        </p:txBody>
      </p:sp>
      <p:sp>
        <p:nvSpPr>
          <p:cNvPr id="567" name="Google Shape;567;p14"/>
          <p:cNvSpPr txBox="1"/>
          <p:nvPr/>
        </p:nvSpPr>
        <p:spPr>
          <a:xfrm>
            <a:off x="777240" y="1352379"/>
            <a:ext cx="5749556" cy="55456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dirty="0">
                <a:solidFill>
                  <a:srgbClr val="000000"/>
                </a:solidFill>
                <a:latin typeface="Calibri"/>
                <a:ea typeface="Calibri"/>
                <a:cs typeface="Calibri"/>
                <a:sym typeface="Calibri"/>
              </a:rPr>
              <a:t>Consider the theorem.</a:t>
            </a:r>
            <a:endParaRPr sz="2800" dirty="0">
              <a:solidFill>
                <a:srgbClr val="000000"/>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B3805B3E-FF8A-AC75-CECA-8CC432671309}"/>
                  </a:ext>
                </a:extLst>
              </p:cNvPr>
              <p:cNvSpPr/>
              <p:nvPr/>
            </p:nvSpPr>
            <p:spPr>
              <a:xfrm>
                <a:off x="777240" y="2726351"/>
                <a:ext cx="2343464" cy="1541548"/>
              </a:xfrm>
              <a:prstGeom prst="rect">
                <a:avLst/>
              </a:prstGeom>
              <a:noFill/>
              <a:ln w="38100">
                <a:solidFill>
                  <a:schemeClr val="accent3">
                    <a:lumMod val="75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rgbClr val="2B8147"/>
                    </a:solidFill>
                    <a:latin typeface="Calibri" panose="020F0502020204030204" pitchFamily="34" charset="0"/>
                    <a:ea typeface="Calibri" panose="020F0502020204030204" pitchFamily="34" charset="0"/>
                    <a:cs typeface="Calibri" panose="020F0502020204030204" pitchFamily="34" charset="0"/>
                  </a:rPr>
                  <a:t>Remember…</a:t>
                </a:r>
              </a:p>
              <a:p>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The symbol </a:t>
                </a:r>
                <a14:m>
                  <m:oMath xmlns:m="http://schemas.openxmlformats.org/officeDocument/2006/math">
                    <m:r>
                      <a:rPr lang="en-US" sz="200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rPr>
                      <m:t>⊥</m:t>
                    </m:r>
                  </m:oMath>
                </a14:m>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means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is perpendicular</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to.</a:t>
                </a:r>
              </a:p>
            </p:txBody>
          </p:sp>
        </mc:Choice>
        <mc:Fallback xmlns="">
          <p:sp>
            <p:nvSpPr>
              <p:cNvPr id="2" name="Rectangle 1">
                <a:extLst>
                  <a:ext uri="{FF2B5EF4-FFF2-40B4-BE49-F238E27FC236}">
                    <a16:creationId xmlns:a16="http://schemas.microsoft.com/office/drawing/2014/main" id="{B3805B3E-FF8A-AC75-CECA-8CC432671309}"/>
                  </a:ext>
                </a:extLst>
              </p:cNvPr>
              <p:cNvSpPr>
                <a:spLocks noRot="1" noChangeAspect="1" noMove="1" noResize="1" noEditPoints="1" noAdjustHandles="1" noChangeArrowheads="1" noChangeShapeType="1" noTextEdit="1"/>
              </p:cNvSpPr>
              <p:nvPr/>
            </p:nvSpPr>
            <p:spPr>
              <a:xfrm>
                <a:off x="777240" y="2726351"/>
                <a:ext cx="2343464" cy="1541548"/>
              </a:xfrm>
              <a:prstGeom prst="rect">
                <a:avLst/>
              </a:prstGeom>
              <a:blipFill>
                <a:blip r:embed="rId3"/>
                <a:stretch>
                  <a:fillRect l="-2051" r="-3846"/>
                </a:stretch>
              </a:blipFill>
              <a:ln w="38100">
                <a:solidFill>
                  <a:schemeClr val="accent3">
                    <a:lumMod val="75000"/>
                  </a:schemeClr>
                </a:solidFill>
                <a:prstDash val="sysDot"/>
              </a:ln>
            </p:spPr>
            <p:txBody>
              <a:bodyPr/>
              <a:lstStyle/>
              <a:p>
                <a:r>
                  <a:rPr lang="en-US">
                    <a:noFill/>
                  </a:rPr>
                  <a:t> </a:t>
                </a:r>
              </a:p>
            </p:txBody>
          </p:sp>
        </mc:Fallback>
      </mc:AlternateContent>
      <p:sp>
        <p:nvSpPr>
          <p:cNvPr id="3" name="Rectangle 2">
            <a:extLst>
              <a:ext uri="{FF2B5EF4-FFF2-40B4-BE49-F238E27FC236}">
                <a16:creationId xmlns:a16="http://schemas.microsoft.com/office/drawing/2014/main" id="{B8AF56E1-86F9-1026-BA65-B1ADE08440D5}"/>
              </a:ext>
            </a:extLst>
          </p:cNvPr>
          <p:cNvSpPr/>
          <p:nvPr/>
        </p:nvSpPr>
        <p:spPr>
          <a:xfrm>
            <a:off x="730376" y="4658848"/>
            <a:ext cx="2343464" cy="1541548"/>
          </a:xfrm>
          <a:prstGeom prst="rect">
            <a:avLst/>
          </a:prstGeom>
          <a:noFill/>
          <a:ln w="38100">
            <a:solidFill>
              <a:schemeClr val="accent3">
                <a:lumMod val="75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The product of</a:t>
            </a:r>
            <a:b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the slopes of perpendicular lines is −1.</a:t>
            </a:r>
          </a:p>
        </p:txBody>
      </p:sp>
      <p:pic>
        <p:nvPicPr>
          <p:cNvPr id="570" name="Google Shape;570;p14" descr="Worked Example"/>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3905281" y="2020608"/>
            <a:ext cx="2758679" cy="426757"/>
          </a:xfrm>
          <a:prstGeom prst="rect">
            <a:avLst/>
          </a:prstGeom>
          <a:noFill/>
          <a:ln>
            <a:noFill/>
          </a:ln>
        </p:spPr>
      </p:pic>
      <mc:AlternateContent xmlns:mc="http://schemas.openxmlformats.org/markup-compatibility/2006" xmlns:a14="http://schemas.microsoft.com/office/drawing/2010/main">
        <mc:Choice Requires="a14">
          <p:sp>
            <p:nvSpPr>
              <p:cNvPr id="571" name="Google Shape;571;p14"/>
              <p:cNvSpPr txBox="1"/>
              <p:nvPr/>
            </p:nvSpPr>
            <p:spPr>
              <a:xfrm>
                <a:off x="3598499" y="2507437"/>
                <a:ext cx="5159608" cy="400195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1200"/>
                  </a:spcAft>
                  <a:buNone/>
                </a:pPr>
                <a:r>
                  <a:rPr lang="en-US" sz="2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Theorem: </a:t>
                </a: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If two lines are perpendicular, their slopes are negative reciprocals.</a:t>
                </a:r>
              </a:p>
              <a:p>
                <a:pPr marL="0" marR="0" lvl="0" indent="0" algn="l" rtl="0">
                  <a:spcBef>
                    <a:spcPts val="0"/>
                  </a:spcBef>
                  <a:spcAft>
                    <a:spcPts val="1200"/>
                  </a:spcAft>
                  <a:buNone/>
                </a:pPr>
                <a:r>
                  <a:rPr lang="en-US" sz="2200" dirty="0">
                    <a:latin typeface="Calibri" panose="020F0502020204030204" pitchFamily="34" charset="0"/>
                    <a:ea typeface="Calibri" panose="020F0502020204030204" pitchFamily="34" charset="0"/>
                    <a:cs typeface="Calibri" panose="020F0502020204030204" pitchFamily="34" charset="0"/>
                    <a:sym typeface="Calibri"/>
                  </a:rPr>
                  <a:t>Use the graph and the proof shown to analyze the validity of the theorem.</a:t>
                </a:r>
              </a:p>
              <a:p>
                <a:pPr marL="0" marR="0" lvl="0" indent="0" algn="l" rtl="0">
                  <a:spcBef>
                    <a:spcPts val="0"/>
                  </a:spcBef>
                  <a:spcAft>
                    <a:spcPts val="600"/>
                  </a:spcAft>
                  <a:buNone/>
                </a:pPr>
                <a:r>
                  <a:rPr lang="en-US" sz="2200" b="1" dirty="0">
                    <a:latin typeface="Calibri" panose="020F0502020204030204" pitchFamily="34" charset="0"/>
                    <a:ea typeface="Calibri" panose="020F0502020204030204" pitchFamily="34" charset="0"/>
                    <a:cs typeface="Calibri" panose="020F0502020204030204" pitchFamily="34" charset="0"/>
                    <a:sym typeface="Calibri"/>
                  </a:rPr>
                  <a:t>Given:</a:t>
                </a:r>
                <a:r>
                  <a:rPr lang="en-US" sz="2200" dirty="0">
                    <a:latin typeface="Calibri" panose="020F0502020204030204" pitchFamily="34" charset="0"/>
                    <a:ea typeface="Calibri" panose="020F0502020204030204" pitchFamily="34" charset="0"/>
                    <a:cs typeface="Calibri" panose="020F0502020204030204" pitchFamily="34" charset="0"/>
                    <a:sym typeface="Calibri"/>
                  </a:rPr>
                  <a:t> </a:t>
                </a:r>
                <a14:m>
                  <m:oMath xmlns:m="http://schemas.openxmlformats.org/officeDocument/2006/math">
                    <m:r>
                      <a:rPr lang="en-US" sz="2200" b="0" i="1" smtClean="0">
                        <a:latin typeface="Cambria Math" panose="02040503050406030204" pitchFamily="18" charset="0"/>
                        <a:ea typeface="Calibri"/>
                        <a:cs typeface="Calibri"/>
                        <a:sym typeface="Calibri"/>
                      </a:rPr>
                      <m:t>𝑝</m:t>
                    </m:r>
                    <m:r>
                      <a:rPr lang="en-US" sz="2200" b="0" i="1" smtClean="0">
                        <a:latin typeface="Cambria Math" panose="02040503050406030204" pitchFamily="18" charset="0"/>
                        <a:ea typeface="Cambria Math" panose="02040503050406030204" pitchFamily="18" charset="0"/>
                        <a:cs typeface="Calibri"/>
                        <a:sym typeface="Calibri"/>
                      </a:rPr>
                      <m:t>⊥</m:t>
                    </m:r>
                    <m:r>
                      <a:rPr lang="en-US" sz="2200" b="0" i="1" smtClean="0">
                        <a:latin typeface="Cambria Math" panose="02040503050406030204" pitchFamily="18" charset="0"/>
                        <a:ea typeface="Cambria Math" panose="02040503050406030204" pitchFamily="18" charset="0"/>
                        <a:cs typeface="Calibri"/>
                        <a:sym typeface="Calibri"/>
                      </a:rPr>
                      <m:t>𝑞</m:t>
                    </m:r>
                  </m:oMath>
                </a14:m>
                <a:endParaRPr lang="en-US" sz="2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spcBef>
                    <a:spcPts val="0"/>
                  </a:spcBef>
                  <a:spcAft>
                    <a:spcPts val="1200"/>
                  </a:spcAft>
                  <a:buNone/>
                </a:pPr>
                <a:r>
                  <a:rPr lang="en-US" sz="2200" dirty="0">
                    <a:latin typeface="Calibri" panose="020F0502020204030204" pitchFamily="34" charset="0"/>
                    <a:ea typeface="Calibri" panose="020F0502020204030204" pitchFamily="34" charset="0"/>
                    <a:cs typeface="Calibri" panose="020F0502020204030204" pitchFamily="34" charset="0"/>
                  </a:rPr>
                  <a:t>Let </a:t>
                </a:r>
                <a:r>
                  <a:rPr lang="en-US" sz="2200" i="1" dirty="0">
                    <a:latin typeface="Calibri" panose="020F0502020204030204" pitchFamily="34" charset="0"/>
                    <a:ea typeface="Calibri" panose="020F0502020204030204" pitchFamily="34" charset="0"/>
                    <a:cs typeface="Calibri" panose="020F0502020204030204" pitchFamily="34" charset="0"/>
                  </a:rPr>
                  <a:t>m</a:t>
                </a:r>
                <a:r>
                  <a:rPr lang="en-US" sz="2200" baseline="-25000" dirty="0">
                    <a:latin typeface="Calibri" panose="020F0502020204030204" pitchFamily="34" charset="0"/>
                    <a:ea typeface="Calibri" panose="020F0502020204030204" pitchFamily="34" charset="0"/>
                    <a:cs typeface="Calibri" panose="020F0502020204030204" pitchFamily="34" charset="0"/>
                  </a:rPr>
                  <a:t>1</a:t>
                </a:r>
                <a:r>
                  <a:rPr lang="en-US" sz="2200" dirty="0">
                    <a:latin typeface="Calibri" panose="020F0502020204030204" pitchFamily="34" charset="0"/>
                    <a:ea typeface="Calibri" panose="020F0502020204030204" pitchFamily="34" charset="0"/>
                    <a:cs typeface="Calibri" panose="020F0502020204030204" pitchFamily="34" charset="0"/>
                  </a:rPr>
                  <a:t> = slope of line </a:t>
                </a:r>
                <a:r>
                  <a:rPr lang="en-US" sz="2200" i="1" dirty="0">
                    <a:latin typeface="Calibri" panose="020F0502020204030204" pitchFamily="34" charset="0"/>
                    <a:ea typeface="Calibri" panose="020F0502020204030204" pitchFamily="34" charset="0"/>
                    <a:cs typeface="Calibri" panose="020F0502020204030204" pitchFamily="34" charset="0"/>
                  </a:rPr>
                  <a:t>p</a:t>
                </a:r>
                <a:r>
                  <a:rPr lang="en-US" sz="2200" dirty="0">
                    <a:latin typeface="Calibri" panose="020F0502020204030204" pitchFamily="34" charset="0"/>
                    <a:ea typeface="Calibri" panose="020F0502020204030204" pitchFamily="34" charset="0"/>
                    <a:cs typeface="Calibri" panose="020F0502020204030204" pitchFamily="34" charset="0"/>
                  </a:rPr>
                  <a:t> and</a:t>
                </a:r>
                <a:br>
                  <a:rPr lang="en-US" sz="2200" dirty="0">
                    <a:latin typeface="Calibri" panose="020F0502020204030204" pitchFamily="34" charset="0"/>
                    <a:ea typeface="Calibri" panose="020F0502020204030204" pitchFamily="34" charset="0"/>
                    <a:cs typeface="Calibri" panose="020F0502020204030204" pitchFamily="34" charset="0"/>
                  </a:rPr>
                </a:br>
                <a:r>
                  <a:rPr lang="en-US" sz="2200" dirty="0">
                    <a:latin typeface="Calibri" panose="020F0502020204030204" pitchFamily="34" charset="0"/>
                    <a:ea typeface="Calibri" panose="020F0502020204030204" pitchFamily="34" charset="0"/>
                    <a:cs typeface="Calibri" panose="020F0502020204030204" pitchFamily="34" charset="0"/>
                  </a:rPr>
                  <a:t>let </a:t>
                </a:r>
                <a:r>
                  <a:rPr lang="en-US" sz="2200" i="1" dirty="0">
                    <a:latin typeface="Calibri" panose="020F0502020204030204" pitchFamily="34" charset="0"/>
                    <a:ea typeface="Calibri" panose="020F0502020204030204" pitchFamily="34" charset="0"/>
                    <a:cs typeface="Calibri" panose="020F0502020204030204" pitchFamily="34" charset="0"/>
                  </a:rPr>
                  <a:t>m</a:t>
                </a:r>
                <a:r>
                  <a:rPr lang="en-US" sz="2200" baseline="-25000" dirty="0">
                    <a:latin typeface="Calibri" panose="020F0502020204030204" pitchFamily="34" charset="0"/>
                    <a:ea typeface="Calibri" panose="020F0502020204030204" pitchFamily="34" charset="0"/>
                    <a:cs typeface="Calibri" panose="020F0502020204030204" pitchFamily="34" charset="0"/>
                  </a:rPr>
                  <a:t>2</a:t>
                </a:r>
                <a:r>
                  <a:rPr lang="en-US" sz="2200" dirty="0">
                    <a:latin typeface="Calibri" panose="020F0502020204030204" pitchFamily="34" charset="0"/>
                    <a:ea typeface="Calibri" panose="020F0502020204030204" pitchFamily="34" charset="0"/>
                    <a:cs typeface="Calibri" panose="020F0502020204030204" pitchFamily="34" charset="0"/>
                  </a:rPr>
                  <a:t> = slope of line </a:t>
                </a:r>
                <a:r>
                  <a:rPr lang="en-US" sz="2200" i="1" dirty="0">
                    <a:latin typeface="Calibri" panose="020F0502020204030204" pitchFamily="34" charset="0"/>
                    <a:ea typeface="Calibri" panose="020F0502020204030204" pitchFamily="34" charset="0"/>
                    <a:cs typeface="Calibri" panose="020F0502020204030204" pitchFamily="34" charset="0"/>
                  </a:rPr>
                  <a:t>q</a:t>
                </a:r>
                <a:r>
                  <a:rPr lang="en-US" sz="2200" dirty="0">
                    <a:latin typeface="Calibri" panose="020F0502020204030204" pitchFamily="34" charset="0"/>
                    <a:ea typeface="Calibri" panose="020F0502020204030204" pitchFamily="34" charset="0"/>
                    <a:cs typeface="Calibri" panose="020F0502020204030204" pitchFamily="34" charset="0"/>
                  </a:rPr>
                  <a:t>.</a:t>
                </a:r>
              </a:p>
              <a:p>
                <a:pPr marL="0" marR="0" lvl="0" indent="0" algn="l" rtl="0">
                  <a:spcBef>
                    <a:spcPts val="0"/>
                  </a:spcBef>
                  <a:spcAft>
                    <a:spcPts val="1200"/>
                  </a:spcAft>
                  <a:buNone/>
                </a:pPr>
                <a:r>
                  <a:rPr lang="en-US" sz="2200" dirty="0">
                    <a:latin typeface="Calibri" panose="020F0502020204030204" pitchFamily="34" charset="0"/>
                    <a:ea typeface="Calibri" panose="020F0502020204030204" pitchFamily="34" charset="0"/>
                    <a:cs typeface="Calibri" panose="020F0502020204030204" pitchFamily="34" charset="0"/>
                  </a:rPr>
                  <a:t>Point </a:t>
                </a:r>
                <a:r>
                  <a:rPr lang="en-US" sz="2200" i="1" dirty="0">
                    <a:latin typeface="Calibri" panose="020F0502020204030204" pitchFamily="34" charset="0"/>
                    <a:ea typeface="Calibri" panose="020F0502020204030204" pitchFamily="34" charset="0"/>
                    <a:cs typeface="Calibri" panose="020F0502020204030204" pitchFamily="34" charset="0"/>
                  </a:rPr>
                  <a:t>R</a:t>
                </a:r>
                <a:r>
                  <a:rPr lang="en-US" sz="2200" dirty="0">
                    <a:latin typeface="Calibri" panose="020F0502020204030204" pitchFamily="34" charset="0"/>
                    <a:ea typeface="Calibri" panose="020F0502020204030204" pitchFamily="34" charset="0"/>
                    <a:cs typeface="Calibri" panose="020F0502020204030204" pitchFamily="34" charset="0"/>
                  </a:rPr>
                  <a:t> lies on line </a:t>
                </a:r>
                <a:r>
                  <a:rPr lang="en-US" sz="2200" i="1" dirty="0">
                    <a:latin typeface="Calibri" panose="020F0502020204030204" pitchFamily="34" charset="0"/>
                    <a:ea typeface="Calibri" panose="020F0502020204030204" pitchFamily="34" charset="0"/>
                    <a:cs typeface="Calibri" panose="020F0502020204030204" pitchFamily="34" charset="0"/>
                  </a:rPr>
                  <a:t>p</a:t>
                </a:r>
                <a:r>
                  <a:rPr lang="en-US" sz="2200" dirty="0">
                    <a:latin typeface="Calibri" panose="020F0502020204030204" pitchFamily="34" charset="0"/>
                    <a:ea typeface="Calibri" panose="020F0502020204030204" pitchFamily="34" charset="0"/>
                    <a:cs typeface="Calibri" panose="020F0502020204030204" pitchFamily="34" charset="0"/>
                  </a:rPr>
                  <a:t>.</a:t>
                </a:r>
              </a:p>
              <a:p>
                <a:pPr marL="0" marR="0" lvl="0" indent="0" algn="l" rtl="0">
                  <a:spcBef>
                    <a:spcPts val="0"/>
                  </a:spcBef>
                  <a:spcAft>
                    <a:spcPts val="0"/>
                  </a:spcAft>
                  <a:buNone/>
                </a:pPr>
                <a:r>
                  <a:rPr lang="en-US" sz="2200" b="1" dirty="0">
                    <a:latin typeface="Calibri" panose="020F0502020204030204" pitchFamily="34" charset="0"/>
                    <a:ea typeface="Calibri" panose="020F0502020204030204" pitchFamily="34" charset="0"/>
                    <a:cs typeface="Calibri" panose="020F0502020204030204" pitchFamily="34" charset="0"/>
                  </a:rPr>
                  <a:t>Prove:</a:t>
                </a:r>
                <a:r>
                  <a:rPr lang="en-US" sz="22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b>
                      <m:sSubPr>
                        <m:ctrlPr>
                          <a:rPr lang="en-US" sz="2200" i="1" smtClean="0">
                            <a:latin typeface="Cambria Math" panose="02040503050406030204" pitchFamily="18" charset="0"/>
                            <a:ea typeface="Calibri" panose="020F0502020204030204" pitchFamily="34" charset="0"/>
                            <a:cs typeface="Calibri" panose="020F0502020204030204" pitchFamily="34" charset="0"/>
                          </a:rPr>
                        </m:ctrlPr>
                      </m:sSubPr>
                      <m:e>
                        <m:r>
                          <a:rPr lang="en-US" sz="2200" b="0" i="1" smtClean="0">
                            <a:latin typeface="Cambria Math" panose="02040503050406030204" pitchFamily="18" charset="0"/>
                            <a:ea typeface="Calibri" panose="020F0502020204030204" pitchFamily="34" charset="0"/>
                            <a:cs typeface="Calibri" panose="020F0502020204030204" pitchFamily="34" charset="0"/>
                          </a:rPr>
                          <m:t>𝑚</m:t>
                        </m:r>
                      </m:e>
                      <m:sub>
                        <m:r>
                          <a:rPr lang="en-US" sz="2200" b="0" i="1" smtClean="0">
                            <a:latin typeface="Cambria Math" panose="02040503050406030204" pitchFamily="18" charset="0"/>
                            <a:ea typeface="Calibri" panose="020F0502020204030204" pitchFamily="34" charset="0"/>
                            <a:cs typeface="Calibri" panose="020F0502020204030204" pitchFamily="34" charset="0"/>
                          </a:rPr>
                          <m:t>1</m:t>
                        </m:r>
                      </m:sub>
                    </m:sSub>
                    <m:r>
                      <a:rPr lang="en-US" sz="2200" b="0" i="1" smtClean="0">
                        <a:latin typeface="Cambria Math" panose="02040503050406030204" pitchFamily="18" charset="0"/>
                        <a:ea typeface="Calibri" panose="020F0502020204030204" pitchFamily="34" charset="0"/>
                        <a:cs typeface="Calibri" panose="020F0502020204030204" pitchFamily="34" charset="0"/>
                      </a:rPr>
                      <m:t>=−</m:t>
                    </m:r>
                    <m:f>
                      <m:fPr>
                        <m:ctrlPr>
                          <a:rPr lang="en-US" sz="2200" b="0" i="1" smtClean="0">
                            <a:latin typeface="Cambria Math" panose="02040503050406030204" pitchFamily="18" charset="0"/>
                            <a:ea typeface="Calibri" panose="020F0502020204030204" pitchFamily="34" charset="0"/>
                            <a:cs typeface="Calibri" panose="020F0502020204030204" pitchFamily="34" charset="0"/>
                          </a:rPr>
                        </m:ctrlPr>
                      </m:fPr>
                      <m:num>
                        <m:r>
                          <a:rPr lang="en-US" sz="2200" b="0" i="1" smtClean="0">
                            <a:latin typeface="Cambria Math" panose="02040503050406030204" pitchFamily="18" charset="0"/>
                            <a:ea typeface="Calibri" panose="020F0502020204030204" pitchFamily="34" charset="0"/>
                            <a:cs typeface="Calibri" panose="020F0502020204030204" pitchFamily="34" charset="0"/>
                          </a:rPr>
                          <m:t>1</m:t>
                        </m:r>
                      </m:num>
                      <m:den>
                        <m:sSub>
                          <m:sSubPr>
                            <m:ctrlPr>
                              <a:rPr lang="en-US" sz="22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200" b="0" i="1" smtClean="0">
                                <a:latin typeface="Cambria Math" panose="02040503050406030204" pitchFamily="18" charset="0"/>
                                <a:ea typeface="Calibri" panose="020F0502020204030204" pitchFamily="34" charset="0"/>
                                <a:cs typeface="Calibri" panose="020F0502020204030204" pitchFamily="34" charset="0"/>
                              </a:rPr>
                              <m:t>𝑚</m:t>
                            </m:r>
                          </m:e>
                          <m:sub>
                            <m:r>
                              <a:rPr lang="en-US" sz="2200" b="0" i="1" smtClean="0">
                                <a:latin typeface="Cambria Math" panose="02040503050406030204" pitchFamily="18" charset="0"/>
                                <a:ea typeface="Calibri" panose="020F0502020204030204" pitchFamily="34" charset="0"/>
                                <a:cs typeface="Calibri" panose="020F0502020204030204" pitchFamily="34" charset="0"/>
                              </a:rPr>
                              <m:t>2</m:t>
                            </m:r>
                          </m:sub>
                        </m:sSub>
                      </m:den>
                    </m:f>
                  </m:oMath>
                </a14:m>
                <a:endParaRPr lang="en-US" sz="22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71" name="Google Shape;571;p14"/>
              <p:cNvSpPr txBox="1">
                <a:spLocks noRot="1" noChangeAspect="1" noMove="1" noResize="1" noEditPoints="1" noAdjustHandles="1" noChangeArrowheads="1" noChangeShapeType="1" noTextEdit="1"/>
              </p:cNvSpPr>
              <p:nvPr/>
            </p:nvSpPr>
            <p:spPr>
              <a:xfrm>
                <a:off x="3598499" y="2507437"/>
                <a:ext cx="5159608" cy="4001953"/>
              </a:xfrm>
              <a:prstGeom prst="rect">
                <a:avLst/>
              </a:prstGeom>
              <a:blipFill>
                <a:blip r:embed="rId5"/>
                <a:stretch>
                  <a:fillRect l="-1535" t="-913"/>
                </a:stretch>
              </a:blipFill>
              <a:ln>
                <a:noFill/>
              </a:ln>
            </p:spPr>
            <p:txBody>
              <a:bodyPr/>
              <a:lstStyle/>
              <a:p>
                <a:r>
                  <a:rPr lang="en-US">
                    <a:noFill/>
                  </a:rPr>
                  <a:t> </a:t>
                </a:r>
              </a:p>
            </p:txBody>
          </p:sp>
        </mc:Fallback>
      </mc:AlternateContent>
      <p:pic>
        <p:nvPicPr>
          <p:cNvPr id="565" name="Google Shape;565;p14" descr="A graph of 2 lines on the coordinate plane. Line p rises from left to right through the origin and point R at (a, b). Line q falls from left to right through the origin and point D at (negative b, a). A right angle is marked between the 2 lines at their intersection at the origin."/>
          <p:cNvPicPr>
            <a:picLocks noChangeAspect="1"/>
          </p:cNvPicPr>
          <p:nvPr/>
        </p:nvPicPr>
        <p:blipFill rotWithShape="1">
          <a:blip r:embed="rId6" cstate="email">
            <a:alphaModFix/>
            <a:extLst>
              <a:ext uri="{28A0092B-C50C-407E-A947-70E740481C1C}">
                <a14:useLocalDpi xmlns:a14="http://schemas.microsoft.com/office/drawing/2010/main"/>
              </a:ext>
            </a:extLst>
          </a:blip>
          <a:srcRect/>
          <a:stretch/>
        </p:blipFill>
        <p:spPr>
          <a:xfrm>
            <a:off x="8404389" y="2686826"/>
            <a:ext cx="3008784" cy="3162145"/>
          </a:xfrm>
          <a:prstGeom prst="rect">
            <a:avLst/>
          </a:prstGeom>
          <a:noFill/>
          <a:ln>
            <a:noFill/>
          </a:ln>
        </p:spPr>
      </p:pic>
      <p:sp>
        <p:nvSpPr>
          <p:cNvPr id="1571" name="Slide Number 1571"/>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14</a:t>
            </a:fld>
          </a:p>
        </p:txBody>
      </p:sp>
      <p:sp>
        <p:nvSpPr>
          <p:cNvPr id="1572" name="Answer 1572"/>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308</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64">
          <a:extLst>
            <a:ext uri="{FF2B5EF4-FFF2-40B4-BE49-F238E27FC236}">
              <a16:creationId xmlns:a16="http://schemas.microsoft.com/office/drawing/2014/main" id="{20B0E827-1402-6CC3-F885-716D2670F7F6}"/>
            </a:ext>
          </a:extLst>
        </p:cNvPr>
        <p:cNvGrpSpPr/>
        <p:nvPr/>
      </p:nvGrpSpPr>
      <p:grpSpPr>
        <a:xfrm>
          <a:off x="0" y="0"/>
          <a:ext cx="0" cy="0"/>
          <a:chOff x="0" y="0"/>
          <a:chExt cx="0" cy="0"/>
        </a:xfrm>
      </p:grpSpPr>
      <p:sp>
        <p:nvSpPr>
          <p:cNvPr id="566" name="Google Shape;566;p14">
            <a:extLst>
              <a:ext uri="{FF2B5EF4-FFF2-40B4-BE49-F238E27FC236}">
                <a16:creationId xmlns:a16="http://schemas.microsoft.com/office/drawing/2014/main" id="{C8924D3C-D5A5-987A-A6DF-29534CDD733A}"/>
              </a:ext>
            </a:extLst>
          </p:cNvPr>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Perpendicular Lines </a:t>
            </a:r>
            <a:r>
              <a:rPr lang="en-US" sz="2000" b="1" dirty="0">
                <a:solidFill>
                  <a:schemeClr val="bg1"/>
                </a:solidFill>
              </a:rPr>
              <a:t>(4 of 9)</a:t>
            </a:r>
            <a:endParaRPr dirty="0">
              <a:solidFill>
                <a:schemeClr val="bg1"/>
              </a:solidFill>
            </a:endParaRPr>
          </a:p>
        </p:txBody>
      </p:sp>
      <p:sp>
        <p:nvSpPr>
          <p:cNvPr id="569" name="Google Shape;569;p14">
            <a:extLst>
              <a:ext uri="{FF2B5EF4-FFF2-40B4-BE49-F238E27FC236}">
                <a16:creationId xmlns:a16="http://schemas.microsoft.com/office/drawing/2014/main" id="{4E60DD7F-1345-3DBF-1C98-6BB3F5762C40}"/>
              </a:ext>
              <a:ext uri="{C183D7F6-B498-43B3-948B-1728B52AA6E4}">
                <adec:decorative xmlns:adec="http://schemas.microsoft.com/office/drawing/2017/decorative" val="1"/>
              </a:ext>
            </a:extLst>
          </p:cNvPr>
          <p:cNvSpPr/>
          <p:nvPr/>
        </p:nvSpPr>
        <p:spPr>
          <a:xfrm>
            <a:off x="3288483" y="1400961"/>
            <a:ext cx="8707774" cy="5301842"/>
          </a:xfrm>
          <a:prstGeom prst="roundRect">
            <a:avLst>
              <a:gd name="adj" fmla="val 16667"/>
            </a:avLst>
          </a:prstGeom>
          <a:noFill/>
          <a:ln w="50800" cap="flat" cmpd="dbl">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 name="Rectangle 1">
            <a:extLst>
              <a:ext uri="{FF2B5EF4-FFF2-40B4-BE49-F238E27FC236}">
                <a16:creationId xmlns:a16="http://schemas.microsoft.com/office/drawing/2014/main" id="{59ABC63C-24B7-02DE-8CC6-DC8E539E56CE}"/>
              </a:ext>
            </a:extLst>
          </p:cNvPr>
          <p:cNvSpPr/>
          <p:nvPr/>
        </p:nvSpPr>
        <p:spPr>
          <a:xfrm>
            <a:off x="777240" y="2382402"/>
            <a:ext cx="2343464" cy="2919440"/>
          </a:xfrm>
          <a:prstGeom prst="rect">
            <a:avLst/>
          </a:prstGeom>
          <a:noFill/>
          <a:ln w="38100">
            <a:solidFill>
              <a:schemeClr val="accent3">
                <a:lumMod val="75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The proof shown is</a:t>
            </a:r>
            <a:b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a paragraph proof. You will learn different formats</a:t>
            </a:r>
            <a:b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of proof as you investigate more</a:t>
            </a:r>
          </a:p>
          <a:p>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properties of lines and figures.</a:t>
            </a:r>
          </a:p>
        </p:txBody>
      </p:sp>
      <p:pic>
        <p:nvPicPr>
          <p:cNvPr id="570" name="Google Shape;570;p14" descr="Worked Example">
            <a:extLst>
              <a:ext uri="{FF2B5EF4-FFF2-40B4-BE49-F238E27FC236}">
                <a16:creationId xmlns:a16="http://schemas.microsoft.com/office/drawing/2014/main" id="{D360FA40-1F09-9B7B-A67E-A935EB4072AB}"/>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4165339" y="1182662"/>
            <a:ext cx="2758679" cy="426757"/>
          </a:xfrm>
          <a:prstGeom prst="rect">
            <a:avLst/>
          </a:prstGeom>
          <a:noFill/>
          <a:ln>
            <a:noFill/>
          </a:ln>
        </p:spPr>
      </p:pic>
      <mc:AlternateContent xmlns:mc="http://schemas.openxmlformats.org/markup-compatibility/2006" xmlns:a14="http://schemas.microsoft.com/office/drawing/2010/main">
        <mc:Choice Requires="a14">
          <p:sp>
            <p:nvSpPr>
              <p:cNvPr id="571" name="Google Shape;571;p14">
                <a:extLst>
                  <a:ext uri="{FF2B5EF4-FFF2-40B4-BE49-F238E27FC236}">
                    <a16:creationId xmlns:a16="http://schemas.microsoft.com/office/drawing/2014/main" id="{CE84560F-B97D-C1EA-C4CE-F9442E61558A}"/>
                  </a:ext>
                </a:extLst>
              </p:cNvPr>
              <p:cNvSpPr txBox="1"/>
              <p:nvPr/>
            </p:nvSpPr>
            <p:spPr>
              <a:xfrm>
                <a:off x="3539775" y="1654599"/>
                <a:ext cx="5330155" cy="49879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1200"/>
                  </a:spcAft>
                  <a:buNone/>
                </a:pP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Rotate point </a:t>
                </a:r>
                <a:r>
                  <a:rPr lang="en-US" sz="22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R</a:t>
                </a: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90° counterclockwise using point </a:t>
                </a:r>
                <a:r>
                  <a:rPr lang="en-US" sz="22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O</a:t>
                </a: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as the center of rotation. Since </a:t>
                </a:r>
                <a:r>
                  <a:rPr lang="en-US" sz="22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p</a:t>
                </a: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and </a:t>
                </a:r>
                <a:r>
                  <a:rPr lang="en-US" sz="22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a:t>
                </a: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are perpendicular, the image (point </a:t>
                </a:r>
                <a:r>
                  <a:rPr lang="en-US" sz="22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D</a:t>
                </a: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will lie on line </a:t>
                </a:r>
                <a:r>
                  <a:rPr lang="en-US" sz="22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a:t>
                </a: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under this 90° rotation.</a:t>
                </a:r>
              </a:p>
              <a:p>
                <a:pPr marL="0" marR="0" lvl="0" indent="0" algn="l" rtl="0">
                  <a:spcBef>
                    <a:spcPts val="0"/>
                  </a:spcBef>
                  <a:spcAft>
                    <a:spcPts val="600"/>
                  </a:spcAft>
                  <a:buNone/>
                </a:pPr>
                <a:r>
                  <a:rPr lang="en-US" sz="2200" dirty="0">
                    <a:latin typeface="Calibri" panose="020F0502020204030204" pitchFamily="34" charset="0"/>
                    <a:ea typeface="Calibri" panose="020F0502020204030204" pitchFamily="34" charset="0"/>
                    <a:cs typeface="Calibri" panose="020F0502020204030204" pitchFamily="34" charset="0"/>
                    <a:sym typeface="Calibri"/>
                  </a:rPr>
                  <a:t>Since this rotation maps the positive </a:t>
                </a:r>
                <a:r>
                  <a:rPr lang="en-US" sz="22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200" dirty="0">
                    <a:latin typeface="Calibri" panose="020F0502020204030204" pitchFamily="34" charset="0"/>
                    <a:ea typeface="Calibri" panose="020F0502020204030204" pitchFamily="34" charset="0"/>
                    <a:cs typeface="Calibri" panose="020F0502020204030204" pitchFamily="34" charset="0"/>
                    <a:sym typeface="Calibri"/>
                  </a:rPr>
                  <a:t>-axis to the positive </a:t>
                </a:r>
                <a:r>
                  <a:rPr lang="en-US" sz="2200" i="1" dirty="0">
                    <a:latin typeface="Calibri" panose="020F0502020204030204" pitchFamily="34" charset="0"/>
                    <a:ea typeface="Calibri" panose="020F0502020204030204" pitchFamily="34" charset="0"/>
                    <a:cs typeface="Calibri" panose="020F0502020204030204" pitchFamily="34" charset="0"/>
                    <a:sym typeface="Calibri"/>
                  </a:rPr>
                  <a:t>y</a:t>
                </a:r>
                <a:r>
                  <a:rPr lang="en-US" sz="2200" dirty="0">
                    <a:latin typeface="Calibri" panose="020F0502020204030204" pitchFamily="34" charset="0"/>
                    <a:ea typeface="Calibri" panose="020F0502020204030204" pitchFamily="34" charset="0"/>
                    <a:cs typeface="Calibri" panose="020F0502020204030204" pitchFamily="34" charset="0"/>
                    <a:sym typeface="Calibri"/>
                  </a:rPr>
                  <a:t>-axis and the positive </a:t>
                </a:r>
                <a:r>
                  <a:rPr lang="en-US" sz="2200" i="1" dirty="0">
                    <a:latin typeface="Calibri" panose="020F0502020204030204" pitchFamily="34" charset="0"/>
                    <a:ea typeface="Calibri" panose="020F0502020204030204" pitchFamily="34" charset="0"/>
                    <a:cs typeface="Calibri" panose="020F0502020204030204" pitchFamily="34" charset="0"/>
                    <a:sym typeface="Calibri"/>
                  </a:rPr>
                  <a:t>y</a:t>
                </a:r>
                <a:r>
                  <a:rPr lang="en-US" sz="2200" dirty="0">
                    <a:latin typeface="Calibri" panose="020F0502020204030204" pitchFamily="34" charset="0"/>
                    <a:ea typeface="Calibri" panose="020F0502020204030204" pitchFamily="34" charset="0"/>
                    <a:cs typeface="Calibri" panose="020F0502020204030204" pitchFamily="34" charset="0"/>
                    <a:sym typeface="Calibri"/>
                  </a:rPr>
                  <a:t>-axis to the negative </a:t>
                </a:r>
                <a:r>
                  <a:rPr lang="en-US" sz="22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200" dirty="0">
                    <a:latin typeface="Calibri" panose="020F0502020204030204" pitchFamily="34" charset="0"/>
                    <a:ea typeface="Calibri" panose="020F0502020204030204" pitchFamily="34" charset="0"/>
                    <a:cs typeface="Calibri" panose="020F0502020204030204" pitchFamily="34" charset="0"/>
                    <a:sym typeface="Calibri"/>
                  </a:rPr>
                  <a:t>-axis, then the coordinates of </a:t>
                </a:r>
                <a:r>
                  <a:rPr lang="en-US" sz="2200" i="1" dirty="0">
                    <a:latin typeface="Calibri" panose="020F0502020204030204" pitchFamily="34" charset="0"/>
                    <a:ea typeface="Calibri" panose="020F0502020204030204" pitchFamily="34" charset="0"/>
                    <a:cs typeface="Calibri" panose="020F0502020204030204" pitchFamily="34" charset="0"/>
                    <a:sym typeface="Calibri"/>
                  </a:rPr>
                  <a:t>R</a:t>
                </a:r>
                <a:r>
                  <a:rPr lang="en-US" sz="2200" dirty="0">
                    <a:latin typeface="Calibri" panose="020F0502020204030204" pitchFamily="34" charset="0"/>
                    <a:ea typeface="Calibri" panose="020F0502020204030204" pitchFamily="34" charset="0"/>
                    <a:cs typeface="Calibri" panose="020F0502020204030204" pitchFamily="34" charset="0"/>
                    <a:sym typeface="Calibri"/>
                  </a:rPr>
                  <a:t>(</a:t>
                </a:r>
                <a:r>
                  <a:rPr lang="en-US" sz="2200" i="1" dirty="0">
                    <a:latin typeface="Calibri" panose="020F0502020204030204" pitchFamily="34" charset="0"/>
                    <a:ea typeface="Calibri" panose="020F0502020204030204" pitchFamily="34" charset="0"/>
                    <a:cs typeface="Calibri" panose="020F0502020204030204" pitchFamily="34" charset="0"/>
                    <a:sym typeface="Calibri"/>
                  </a:rPr>
                  <a:t>a</a:t>
                </a:r>
                <a:r>
                  <a:rPr lang="en-US" sz="2200" dirty="0">
                    <a:latin typeface="Calibri" panose="020F0502020204030204" pitchFamily="34" charset="0"/>
                    <a:ea typeface="Calibri" panose="020F0502020204030204" pitchFamily="34" charset="0"/>
                    <a:cs typeface="Calibri" panose="020F0502020204030204" pitchFamily="34" charset="0"/>
                    <a:sym typeface="Calibri"/>
                  </a:rPr>
                  <a:t>, </a:t>
                </a:r>
                <a:r>
                  <a:rPr lang="en-US" sz="2200" i="1" dirty="0">
                    <a:latin typeface="Calibri" panose="020F0502020204030204" pitchFamily="34" charset="0"/>
                    <a:ea typeface="Calibri" panose="020F0502020204030204" pitchFamily="34" charset="0"/>
                    <a:cs typeface="Calibri" panose="020F0502020204030204" pitchFamily="34" charset="0"/>
                    <a:sym typeface="Calibri"/>
                  </a:rPr>
                  <a:t>b</a:t>
                </a:r>
                <a:r>
                  <a:rPr lang="en-US" sz="2200" dirty="0">
                    <a:latin typeface="Calibri" panose="020F0502020204030204" pitchFamily="34" charset="0"/>
                    <a:ea typeface="Calibri" panose="020F0502020204030204" pitchFamily="34" charset="0"/>
                    <a:cs typeface="Calibri" panose="020F0502020204030204" pitchFamily="34" charset="0"/>
                    <a:sym typeface="Calibri"/>
                  </a:rPr>
                  <a:t>) are transformed into the coordinates of </a:t>
                </a:r>
                <a:r>
                  <a:rPr lang="en-US" sz="2200" i="1" dirty="0">
                    <a:latin typeface="Calibri" panose="020F0502020204030204" pitchFamily="34" charset="0"/>
                    <a:ea typeface="Calibri" panose="020F0502020204030204" pitchFamily="34" charset="0"/>
                    <a:cs typeface="Calibri" panose="020F0502020204030204" pitchFamily="34" charset="0"/>
                    <a:sym typeface="Calibri"/>
                  </a:rPr>
                  <a:t>D</a:t>
                </a:r>
                <a:r>
                  <a:rPr lang="en-US" sz="2200" dirty="0">
                    <a:latin typeface="Calibri" panose="020F0502020204030204" pitchFamily="34" charset="0"/>
                    <a:ea typeface="Calibri" panose="020F0502020204030204" pitchFamily="34" charset="0"/>
                    <a:cs typeface="Calibri" panose="020F0502020204030204" pitchFamily="34" charset="0"/>
                    <a:sym typeface="Calibri"/>
                  </a:rPr>
                  <a:t>(−</a:t>
                </a:r>
                <a:r>
                  <a:rPr lang="en-US" sz="2200" i="1" dirty="0">
                    <a:latin typeface="Calibri" panose="020F0502020204030204" pitchFamily="34" charset="0"/>
                    <a:ea typeface="Calibri" panose="020F0502020204030204" pitchFamily="34" charset="0"/>
                    <a:cs typeface="Calibri" panose="020F0502020204030204" pitchFamily="34" charset="0"/>
                    <a:sym typeface="Calibri"/>
                  </a:rPr>
                  <a:t>b</a:t>
                </a:r>
                <a:r>
                  <a:rPr lang="en-US" sz="2200" dirty="0">
                    <a:latin typeface="Calibri" panose="020F0502020204030204" pitchFamily="34" charset="0"/>
                    <a:ea typeface="Calibri" panose="020F0502020204030204" pitchFamily="34" charset="0"/>
                    <a:cs typeface="Calibri" panose="020F0502020204030204" pitchFamily="34" charset="0"/>
                    <a:sym typeface="Calibri"/>
                  </a:rPr>
                  <a:t>, </a:t>
                </a:r>
                <a:r>
                  <a:rPr lang="en-US" sz="2200" i="1" dirty="0">
                    <a:latin typeface="Calibri" panose="020F0502020204030204" pitchFamily="34" charset="0"/>
                    <a:ea typeface="Calibri" panose="020F0502020204030204" pitchFamily="34" charset="0"/>
                    <a:cs typeface="Calibri" panose="020F0502020204030204" pitchFamily="34" charset="0"/>
                    <a:sym typeface="Calibri"/>
                  </a:rPr>
                  <a:t>a</a:t>
                </a:r>
                <a:r>
                  <a:rPr lang="en-US" sz="2200" dirty="0">
                    <a:latin typeface="Calibri" panose="020F0502020204030204" pitchFamily="34" charset="0"/>
                    <a:ea typeface="Calibri" panose="020F0502020204030204" pitchFamily="34" charset="0"/>
                    <a:cs typeface="Calibri" panose="020F0502020204030204" pitchFamily="34" charset="0"/>
                    <a:sym typeface="Calibri"/>
                  </a:rPr>
                  <a:t>). Graphically, you can see the movement of lengths </a:t>
                </a:r>
                <a:r>
                  <a:rPr lang="en-US" sz="2200" i="1" dirty="0">
                    <a:latin typeface="Calibri" panose="020F0502020204030204" pitchFamily="34" charset="0"/>
                    <a:ea typeface="Calibri" panose="020F0502020204030204" pitchFamily="34" charset="0"/>
                    <a:cs typeface="Calibri" panose="020F0502020204030204" pitchFamily="34" charset="0"/>
                    <a:sym typeface="Calibri"/>
                  </a:rPr>
                  <a:t>a</a:t>
                </a:r>
                <a:r>
                  <a:rPr lang="en-US" sz="2200" dirty="0">
                    <a:latin typeface="Calibri" panose="020F0502020204030204" pitchFamily="34" charset="0"/>
                    <a:ea typeface="Calibri" panose="020F0502020204030204" pitchFamily="34" charset="0"/>
                    <a:cs typeface="Calibri" panose="020F0502020204030204" pitchFamily="34" charset="0"/>
                    <a:sym typeface="Calibri"/>
                  </a:rPr>
                  <a:t> and </a:t>
                </a:r>
                <a:r>
                  <a:rPr lang="en-US" sz="2200" i="1" dirty="0">
                    <a:latin typeface="Calibri" panose="020F0502020204030204" pitchFamily="34" charset="0"/>
                    <a:ea typeface="Calibri" panose="020F0502020204030204" pitchFamily="34" charset="0"/>
                    <a:cs typeface="Calibri" panose="020F0502020204030204" pitchFamily="34" charset="0"/>
                    <a:sym typeface="Calibri"/>
                  </a:rPr>
                  <a:t>b</a:t>
                </a:r>
                <a:r>
                  <a:rPr lang="en-US" sz="2200" dirty="0">
                    <a:latin typeface="Calibri" panose="020F0502020204030204" pitchFamily="34" charset="0"/>
                    <a:ea typeface="Calibri" panose="020F0502020204030204" pitchFamily="34" charset="0"/>
                    <a:cs typeface="Calibri" panose="020F0502020204030204" pitchFamily="34" charset="0"/>
                    <a:sym typeface="Calibri"/>
                  </a:rPr>
                  <a:t> under the rotation.</a:t>
                </a:r>
              </a:p>
              <a:p>
                <a:r>
                  <a:rPr lang="en-US" sz="2200" dirty="0">
                    <a:latin typeface="Calibri" panose="020F0502020204030204" pitchFamily="34" charset="0"/>
                    <a:ea typeface="Calibri" panose="020F0502020204030204" pitchFamily="34" charset="0"/>
                    <a:cs typeface="Calibri" panose="020F0502020204030204" pitchFamily="34" charset="0"/>
                  </a:rPr>
                  <a:t>The graph shows the slope of line </a:t>
                </a:r>
                <a:r>
                  <a:rPr lang="en-US" sz="2200" i="1" dirty="0">
                    <a:latin typeface="Calibri" panose="020F0502020204030204" pitchFamily="34" charset="0"/>
                    <a:ea typeface="Calibri" panose="020F0502020204030204" pitchFamily="34" charset="0"/>
                    <a:cs typeface="Calibri" panose="020F0502020204030204" pitchFamily="34" charset="0"/>
                  </a:rPr>
                  <a:t>p</a:t>
                </a:r>
                <a:r>
                  <a:rPr lang="en-US" sz="22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b>
                      <m:sSubPr>
                        <m:ctrlPr>
                          <a:rPr lang="en-US" sz="2200" i="1" smtClean="0">
                            <a:latin typeface="Cambria Math" panose="02040503050406030204" pitchFamily="18" charset="0"/>
                            <a:ea typeface="Calibri" panose="020F0502020204030204" pitchFamily="34" charset="0"/>
                            <a:cs typeface="Calibri" panose="020F0502020204030204" pitchFamily="34" charset="0"/>
                          </a:rPr>
                        </m:ctrlPr>
                      </m:sSubPr>
                      <m:e>
                        <m:r>
                          <a:rPr lang="en-US" sz="2200" b="0" i="1" smtClean="0">
                            <a:latin typeface="Cambria Math" panose="02040503050406030204" pitchFamily="18" charset="0"/>
                            <a:ea typeface="Calibri" panose="020F0502020204030204" pitchFamily="34" charset="0"/>
                            <a:cs typeface="Calibri" panose="020F0502020204030204" pitchFamily="34" charset="0"/>
                          </a:rPr>
                          <m:t>𝑚</m:t>
                        </m:r>
                      </m:e>
                      <m:sub>
                        <m:r>
                          <a:rPr lang="en-US" sz="2200" b="0" i="1" smtClean="0">
                            <a:latin typeface="Cambria Math" panose="02040503050406030204" pitchFamily="18" charset="0"/>
                            <a:ea typeface="Calibri" panose="020F0502020204030204" pitchFamily="34" charset="0"/>
                            <a:cs typeface="Calibri" panose="020F0502020204030204" pitchFamily="34" charset="0"/>
                          </a:rPr>
                          <m:t>1</m:t>
                        </m:r>
                      </m:sub>
                    </m:sSub>
                    <m:r>
                      <a:rPr lang="en-US" sz="2200" b="0" i="1" smtClean="0">
                        <a:latin typeface="Cambria Math" panose="02040503050406030204" pitchFamily="18" charset="0"/>
                        <a:ea typeface="Calibri" panose="020F0502020204030204" pitchFamily="34" charset="0"/>
                        <a:cs typeface="Calibri" panose="020F0502020204030204" pitchFamily="34" charset="0"/>
                      </a:rPr>
                      <m:t>=</m:t>
                    </m:r>
                    <m:f>
                      <m:fPr>
                        <m:ctrlPr>
                          <a:rPr lang="en-US" sz="2200" b="0" i="1" smtClean="0">
                            <a:latin typeface="Cambria Math" panose="02040503050406030204" pitchFamily="18" charset="0"/>
                            <a:ea typeface="Calibri" panose="020F0502020204030204" pitchFamily="34" charset="0"/>
                            <a:cs typeface="Calibri" panose="020F0502020204030204" pitchFamily="34" charset="0"/>
                          </a:rPr>
                        </m:ctrlPr>
                      </m:fPr>
                      <m:num>
                        <m:r>
                          <a:rPr lang="en-US" sz="2200" b="0" i="1" smtClean="0">
                            <a:latin typeface="Cambria Math" panose="02040503050406030204" pitchFamily="18" charset="0"/>
                            <a:ea typeface="Calibri" panose="020F0502020204030204" pitchFamily="34" charset="0"/>
                            <a:cs typeface="Calibri" panose="020F0502020204030204" pitchFamily="34" charset="0"/>
                          </a:rPr>
                          <m:t>𝑏</m:t>
                        </m:r>
                      </m:num>
                      <m:den>
                        <m:r>
                          <a:rPr lang="en-US" sz="2200" b="0" i="1" smtClean="0">
                            <a:latin typeface="Cambria Math" panose="02040503050406030204" pitchFamily="18" charset="0"/>
                            <a:ea typeface="Calibri" panose="020F0502020204030204" pitchFamily="34" charset="0"/>
                            <a:cs typeface="Calibri" panose="020F0502020204030204" pitchFamily="34" charset="0"/>
                          </a:rPr>
                          <m:t>𝑎</m:t>
                        </m:r>
                      </m:den>
                    </m:f>
                  </m:oMath>
                </a14:m>
                <a:r>
                  <a:rPr lang="en-US" sz="2200" dirty="0">
                    <a:latin typeface="Calibri" panose="020F0502020204030204" pitchFamily="34" charset="0"/>
                    <a:ea typeface="Calibri" panose="020F0502020204030204" pitchFamily="34" charset="0"/>
                    <a:cs typeface="Calibri" panose="020F0502020204030204" pitchFamily="34" charset="0"/>
                  </a:rPr>
                  <a:t>, and the slope of line </a:t>
                </a:r>
                <a:r>
                  <a:rPr lang="en-US" sz="2200" i="1" dirty="0">
                    <a:latin typeface="Calibri" panose="020F0502020204030204" pitchFamily="34" charset="0"/>
                    <a:ea typeface="Calibri" panose="020F0502020204030204" pitchFamily="34" charset="0"/>
                    <a:cs typeface="Calibri" panose="020F0502020204030204" pitchFamily="34" charset="0"/>
                  </a:rPr>
                  <a:t>q</a:t>
                </a:r>
                <a:r>
                  <a:rPr lang="en-US" sz="22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b>
                      <m:sSubPr>
                        <m:ctrlPr>
                          <a:rPr lang="en-US" sz="2200" i="1">
                            <a:latin typeface="Cambria Math" panose="02040503050406030204" pitchFamily="18" charset="0"/>
                            <a:ea typeface="Calibri" panose="020F0502020204030204" pitchFamily="34" charset="0"/>
                            <a:cs typeface="Calibri" panose="020F0502020204030204" pitchFamily="34" charset="0"/>
                          </a:rPr>
                        </m:ctrlPr>
                      </m:sSubPr>
                      <m:e>
                        <m:r>
                          <a:rPr lang="en-US" sz="2200" i="1">
                            <a:latin typeface="Cambria Math" panose="02040503050406030204" pitchFamily="18" charset="0"/>
                            <a:ea typeface="Calibri" panose="020F0502020204030204" pitchFamily="34" charset="0"/>
                            <a:cs typeface="Calibri" panose="020F0502020204030204" pitchFamily="34" charset="0"/>
                          </a:rPr>
                          <m:t>𝑚</m:t>
                        </m:r>
                      </m:e>
                      <m:sub>
                        <m:r>
                          <a:rPr lang="en-US" sz="2200" b="0" i="1" smtClean="0">
                            <a:latin typeface="Cambria Math" panose="02040503050406030204" pitchFamily="18" charset="0"/>
                            <a:ea typeface="Calibri" panose="020F0502020204030204" pitchFamily="34" charset="0"/>
                            <a:cs typeface="Calibri" panose="020F0502020204030204" pitchFamily="34" charset="0"/>
                          </a:rPr>
                          <m:t>2</m:t>
                        </m:r>
                      </m:sub>
                    </m:sSub>
                    <m:r>
                      <a:rPr lang="en-US" sz="2200" i="1">
                        <a:latin typeface="Cambria Math" panose="02040503050406030204" pitchFamily="18" charset="0"/>
                        <a:ea typeface="Calibri" panose="020F0502020204030204" pitchFamily="34" charset="0"/>
                        <a:cs typeface="Calibri" panose="020F0502020204030204" pitchFamily="34" charset="0"/>
                      </a:rPr>
                      <m:t>=</m:t>
                    </m:r>
                    <m:f>
                      <m:fPr>
                        <m:ctrlPr>
                          <a:rPr lang="en-US" sz="2200" i="1">
                            <a:latin typeface="Cambria Math" panose="02040503050406030204" pitchFamily="18" charset="0"/>
                            <a:ea typeface="Calibri" panose="020F0502020204030204" pitchFamily="34" charset="0"/>
                            <a:cs typeface="Calibri" panose="020F0502020204030204" pitchFamily="34" charset="0"/>
                          </a:rPr>
                        </m:ctrlPr>
                      </m:fPr>
                      <m:num>
                        <m:r>
                          <a:rPr lang="en-US" sz="2200" b="0" i="1" smtClean="0">
                            <a:latin typeface="Cambria Math" panose="02040503050406030204" pitchFamily="18" charset="0"/>
                            <a:ea typeface="Calibri" panose="020F0502020204030204" pitchFamily="34" charset="0"/>
                            <a:cs typeface="Calibri" panose="020F0502020204030204" pitchFamily="34" charset="0"/>
                          </a:rPr>
                          <m:t>𝑎</m:t>
                        </m:r>
                      </m:num>
                      <m:den>
                        <m:r>
                          <a:rPr lang="en-US" sz="2200" b="0" i="1" smtClean="0">
                            <a:latin typeface="Cambria Math" panose="02040503050406030204" pitchFamily="18" charset="0"/>
                            <a:ea typeface="Calibri" panose="020F0502020204030204" pitchFamily="34" charset="0"/>
                            <a:cs typeface="Calibri" panose="020F0502020204030204" pitchFamily="34" charset="0"/>
                          </a:rPr>
                          <m:t>−</m:t>
                        </m:r>
                        <m:r>
                          <a:rPr lang="en-US" sz="2200" b="0" i="1" smtClean="0">
                            <a:latin typeface="Cambria Math" panose="02040503050406030204" pitchFamily="18" charset="0"/>
                            <a:ea typeface="Calibri" panose="020F0502020204030204" pitchFamily="34" charset="0"/>
                            <a:cs typeface="Calibri" panose="020F0502020204030204" pitchFamily="34" charset="0"/>
                          </a:rPr>
                          <m:t>𝑏</m:t>
                        </m:r>
                      </m:den>
                    </m:f>
                  </m:oMath>
                </a14:m>
                <a:r>
                  <a:rPr lang="en-US" sz="2200" dirty="0">
                    <a:latin typeface="Calibri" panose="020F0502020204030204" pitchFamily="34" charset="0"/>
                    <a:ea typeface="Calibri" panose="020F0502020204030204" pitchFamily="34" charset="0"/>
                    <a:cs typeface="Calibri" panose="020F0502020204030204" pitchFamily="34" charset="0"/>
                  </a:rPr>
                  <a:t>.</a:t>
                </a:r>
              </a:p>
            </p:txBody>
          </p:sp>
        </mc:Choice>
        <mc:Fallback xmlns="">
          <p:sp>
            <p:nvSpPr>
              <p:cNvPr id="571" name="Google Shape;571;p14">
                <a:extLst>
                  <a:ext uri="{FF2B5EF4-FFF2-40B4-BE49-F238E27FC236}">
                    <a16:creationId xmlns:a16="http://schemas.microsoft.com/office/drawing/2014/main" id="{CE84560F-B97D-C1EA-C4CE-F9442E61558A}"/>
                  </a:ext>
                </a:extLst>
              </p:cNvPr>
              <p:cNvSpPr txBox="1">
                <a:spLocks noRot="1" noChangeAspect="1" noMove="1" noResize="1" noEditPoints="1" noAdjustHandles="1" noChangeArrowheads="1" noChangeShapeType="1" noTextEdit="1"/>
              </p:cNvSpPr>
              <p:nvPr/>
            </p:nvSpPr>
            <p:spPr>
              <a:xfrm>
                <a:off x="3539775" y="1654599"/>
                <a:ext cx="5330155" cy="4987928"/>
              </a:xfrm>
              <a:prstGeom prst="rect">
                <a:avLst/>
              </a:prstGeom>
              <a:blipFill>
                <a:blip r:embed="rId4"/>
                <a:stretch>
                  <a:fillRect l="-1487" t="-733" r="-2403" b="-122"/>
                </a:stretch>
              </a:blipFill>
              <a:ln>
                <a:noFill/>
              </a:ln>
            </p:spPr>
            <p:txBody>
              <a:bodyPr/>
              <a:lstStyle/>
              <a:p>
                <a:r>
                  <a:rPr lang="en-US">
                    <a:noFill/>
                  </a:rPr>
                  <a:t> </a:t>
                </a:r>
              </a:p>
            </p:txBody>
          </p:sp>
        </mc:Fallback>
      </mc:AlternateContent>
      <p:pic>
        <p:nvPicPr>
          <p:cNvPr id="4" name="Google Shape;565;p14" descr="A graph of 2 lines on the coordinate plane. Line p rises from left to right through the origin and point R at (a, b). Line q falls from left to right through the origin and point D at (negative b, a). A right angle is marked between the 2 lines at their intersection at the origin.">
            <a:extLst>
              <a:ext uri="{FF2B5EF4-FFF2-40B4-BE49-F238E27FC236}">
                <a16:creationId xmlns:a16="http://schemas.microsoft.com/office/drawing/2014/main" id="{139513E9-CF45-2C84-3CFC-302E936E6641}"/>
              </a:ext>
            </a:extLst>
          </p:cNvPr>
          <p:cNvPicPr>
            <a:picLocks noChangeAspect="1"/>
          </p:cNvPicPr>
          <p:nvPr/>
        </p:nvPicPr>
        <p:blipFill rotWithShape="1">
          <a:blip r:embed="rId5" cstate="email">
            <a:alphaModFix/>
            <a:extLst>
              <a:ext uri="{28A0092B-C50C-407E-A947-70E740481C1C}">
                <a14:useLocalDpi xmlns:a14="http://schemas.microsoft.com/office/drawing/2010/main"/>
              </a:ext>
            </a:extLst>
          </a:blip>
          <a:srcRect/>
          <a:stretch/>
        </p:blipFill>
        <p:spPr>
          <a:xfrm>
            <a:off x="8928701" y="2470809"/>
            <a:ext cx="3008784" cy="3162145"/>
          </a:xfrm>
          <a:prstGeom prst="rect">
            <a:avLst/>
          </a:prstGeom>
          <a:noFill/>
          <a:ln>
            <a:noFill/>
          </a:ln>
        </p:spPr>
      </p:pic>
      <p:sp>
        <p:nvSpPr>
          <p:cNvPr id="1571" name="Slide Number 1571"/>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15</a:t>
            </a:fld>
          </a:p>
        </p:txBody>
      </p:sp>
      <p:sp>
        <p:nvSpPr>
          <p:cNvPr id="1572" name="Answer 1572"/>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308</a:t>
            </a:r>
          </a:p>
        </p:txBody>
      </p:sp>
    </p:spTree>
    <p:extLst>
      <p:ext uri="{BB962C8B-B14F-4D97-AF65-F5344CB8AC3E}">
        <p14:creationId xmlns:p14="http://schemas.microsoft.com/office/powerpoint/2010/main" val="3398154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15"/>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Perpendicular Lines </a:t>
            </a:r>
            <a:r>
              <a:rPr lang="en-US" sz="2000" b="1" dirty="0">
                <a:solidFill>
                  <a:schemeClr val="bg1"/>
                </a:solidFill>
              </a:rPr>
              <a:t>(5 of 9)</a:t>
            </a:r>
            <a:endParaRPr dirty="0">
              <a:solidFill>
                <a:schemeClr val="bg1"/>
              </a:solidFill>
            </a:endParaRPr>
          </a:p>
        </p:txBody>
      </p:sp>
      <p:sp>
        <p:nvSpPr>
          <p:cNvPr id="584" name="Google Shape;584;p15">
            <a:extLst>
              <a:ext uri="{C183D7F6-B498-43B3-948B-1728B52AA6E4}">
                <adec:decorative xmlns:adec="http://schemas.microsoft.com/office/drawing/2017/decorative" val="1"/>
              </a:ext>
            </a:extLst>
          </p:cNvPr>
          <p:cNvSpPr/>
          <p:nvPr/>
        </p:nvSpPr>
        <p:spPr>
          <a:xfrm>
            <a:off x="1760514" y="1990705"/>
            <a:ext cx="8669384" cy="4490630"/>
          </a:xfrm>
          <a:prstGeom prst="roundRect">
            <a:avLst>
              <a:gd name="adj" fmla="val 16667"/>
            </a:avLst>
          </a:prstGeom>
          <a:noFill/>
          <a:ln w="50800" cap="flat" cmpd="dbl">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85" name="Google Shape;585;p15" descr="Worked Example"/>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2499409" y="1777326"/>
            <a:ext cx="2758679" cy="426757"/>
          </a:xfrm>
          <a:prstGeom prst="rect">
            <a:avLst/>
          </a:prstGeom>
          <a:noFill/>
          <a:ln>
            <a:noFill/>
          </a:ln>
        </p:spPr>
      </p:pic>
      <mc:AlternateContent xmlns:mc="http://schemas.openxmlformats.org/markup-compatibility/2006" xmlns:a14="http://schemas.microsoft.com/office/drawing/2010/main">
        <mc:Choice Requires="a14">
          <p:sp>
            <p:nvSpPr>
              <p:cNvPr id="3" name="Google Shape;571;p14">
                <a:extLst>
                  <a:ext uri="{FF2B5EF4-FFF2-40B4-BE49-F238E27FC236}">
                    <a16:creationId xmlns:a16="http://schemas.microsoft.com/office/drawing/2014/main" id="{C2BE9EF4-D191-007D-A56B-D8BB30DFA2BF}"/>
                  </a:ext>
                </a:extLst>
              </p:cNvPr>
              <p:cNvSpPr txBox="1"/>
              <p:nvPr/>
            </p:nvSpPr>
            <p:spPr>
              <a:xfrm>
                <a:off x="2214693" y="2244318"/>
                <a:ext cx="5159229" cy="423701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1200"/>
                  </a:spcAft>
                  <a:buNone/>
                </a:pPr>
                <a:r>
                  <a:rPr lang="en-US" sz="2200" dirty="0">
                    <a:latin typeface="Calibri" panose="020F0502020204030204" pitchFamily="34" charset="0"/>
                    <a:ea typeface="Calibri" panose="020F0502020204030204" pitchFamily="34" charset="0"/>
                    <a:cs typeface="Calibri" panose="020F0502020204030204" pitchFamily="34" charset="0"/>
                  </a:rPr>
                  <a:t>Using these slopes, you can demonstrate that </a:t>
                </a:r>
                <a14:m>
                  <m:oMath xmlns:m="http://schemas.openxmlformats.org/officeDocument/2006/math">
                    <m:sSub>
                      <m:sSubPr>
                        <m:ctrlPr>
                          <a:rPr lang="en-US" sz="2200" i="1" smtClean="0">
                            <a:latin typeface="Cambria Math" panose="02040503050406030204" pitchFamily="18" charset="0"/>
                            <a:ea typeface="Calibri" panose="020F0502020204030204" pitchFamily="34" charset="0"/>
                            <a:cs typeface="Calibri" panose="020F0502020204030204" pitchFamily="34" charset="0"/>
                          </a:rPr>
                        </m:ctrlPr>
                      </m:sSubPr>
                      <m:e>
                        <m:r>
                          <a:rPr lang="en-US" sz="2200" b="0" i="1" smtClean="0">
                            <a:latin typeface="Cambria Math" panose="02040503050406030204" pitchFamily="18" charset="0"/>
                            <a:ea typeface="Calibri" panose="020F0502020204030204" pitchFamily="34" charset="0"/>
                            <a:cs typeface="Calibri" panose="020F0502020204030204" pitchFamily="34" charset="0"/>
                          </a:rPr>
                          <m:t>𝑚</m:t>
                        </m:r>
                      </m:e>
                      <m:sub>
                        <m:r>
                          <a:rPr lang="en-US" sz="2200" b="0" i="1" smtClean="0">
                            <a:latin typeface="Cambria Math" panose="02040503050406030204" pitchFamily="18" charset="0"/>
                            <a:ea typeface="Calibri" panose="020F0502020204030204" pitchFamily="34" charset="0"/>
                            <a:cs typeface="Calibri" panose="020F0502020204030204" pitchFamily="34" charset="0"/>
                          </a:rPr>
                          <m:t>1</m:t>
                        </m:r>
                      </m:sub>
                    </m:sSub>
                    <m:r>
                      <a:rPr lang="en-US" sz="2200" b="0" i="1" smtClean="0">
                        <a:latin typeface="Cambria Math" panose="02040503050406030204" pitchFamily="18" charset="0"/>
                        <a:ea typeface="Calibri" panose="020F0502020204030204" pitchFamily="34" charset="0"/>
                        <a:cs typeface="Calibri" panose="020F0502020204030204" pitchFamily="34" charset="0"/>
                      </a:rPr>
                      <m:t>=−</m:t>
                    </m:r>
                    <m:f>
                      <m:fPr>
                        <m:ctrlPr>
                          <a:rPr lang="en-US" sz="2200" b="0" i="1" smtClean="0">
                            <a:latin typeface="Cambria Math" panose="02040503050406030204" pitchFamily="18" charset="0"/>
                            <a:ea typeface="Calibri" panose="020F0502020204030204" pitchFamily="34" charset="0"/>
                            <a:cs typeface="Calibri" panose="020F0502020204030204" pitchFamily="34" charset="0"/>
                          </a:rPr>
                        </m:ctrlPr>
                      </m:fPr>
                      <m:num>
                        <m:r>
                          <a:rPr lang="en-US" sz="2200" b="0" i="1" smtClean="0">
                            <a:latin typeface="Cambria Math" panose="02040503050406030204" pitchFamily="18" charset="0"/>
                            <a:ea typeface="Calibri" panose="020F0502020204030204" pitchFamily="34" charset="0"/>
                            <a:cs typeface="Calibri" panose="020F0502020204030204" pitchFamily="34" charset="0"/>
                          </a:rPr>
                          <m:t>1</m:t>
                        </m:r>
                      </m:num>
                      <m:den>
                        <m:sSub>
                          <m:sSubPr>
                            <m:ctrlPr>
                              <a:rPr lang="en-US" sz="22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200" b="0" i="1" smtClean="0">
                                <a:latin typeface="Cambria Math" panose="02040503050406030204" pitchFamily="18" charset="0"/>
                                <a:ea typeface="Calibri" panose="020F0502020204030204" pitchFamily="34" charset="0"/>
                                <a:cs typeface="Calibri" panose="020F0502020204030204" pitchFamily="34" charset="0"/>
                              </a:rPr>
                              <m:t>𝑚</m:t>
                            </m:r>
                          </m:e>
                          <m:sub>
                            <m:r>
                              <a:rPr lang="en-US" sz="2200" b="0" i="1" smtClean="0">
                                <a:latin typeface="Cambria Math" panose="02040503050406030204" pitchFamily="18" charset="0"/>
                                <a:ea typeface="Calibri" panose="020F0502020204030204" pitchFamily="34" charset="0"/>
                                <a:cs typeface="Calibri" panose="020F0502020204030204" pitchFamily="34" charset="0"/>
                              </a:rPr>
                              <m:t>2</m:t>
                            </m:r>
                          </m:sub>
                        </m:sSub>
                      </m:den>
                    </m:f>
                  </m:oMath>
                </a14:m>
                <a:r>
                  <a:rPr lang="en-US" sz="2200" dirty="0">
                    <a:latin typeface="Calibri" panose="020F0502020204030204" pitchFamily="34" charset="0"/>
                    <a:ea typeface="Calibri" panose="020F0502020204030204" pitchFamily="34" charset="0"/>
                    <a:cs typeface="Calibri" panose="020F0502020204030204" pitchFamily="34" charset="0"/>
                  </a:rPr>
                  <a:t>.</a:t>
                </a:r>
              </a:p>
              <a:p>
                <a:pPr marL="0" marR="0" lvl="0" indent="0" algn="l" rtl="0">
                  <a:spcBef>
                    <a:spcPts val="24"/>
                  </a:spcBef>
                  <a:spcAft>
                    <a:spcPts val="1200"/>
                  </a:spcAft>
                  <a:buNone/>
                </a:pPr>
                <a14:m>
                  <m:oMathPara xmlns:m="http://schemas.openxmlformats.org/officeDocument/2006/math">
                    <m:oMathParaPr>
                      <m:jc m:val="centerGroup"/>
                    </m:oMathParaPr>
                    <m:oMath xmlns:m="http://schemas.openxmlformats.org/officeDocument/2006/math">
                      <m:f>
                        <m:fPr>
                          <m:ctrlPr>
                            <a:rPr lang="en-US" sz="2200" i="1" smtClean="0">
                              <a:latin typeface="Cambria Math" panose="02040503050406030204" pitchFamily="18" charset="0"/>
                              <a:ea typeface="Calibri" panose="020F0502020204030204" pitchFamily="34" charset="0"/>
                              <a:cs typeface="Calibri" panose="020F0502020204030204" pitchFamily="34" charset="0"/>
                            </a:rPr>
                          </m:ctrlPr>
                        </m:fPr>
                        <m:num>
                          <m:r>
                            <a:rPr lang="en-US" sz="2200" b="0" i="1" smtClean="0">
                              <a:latin typeface="Cambria Math" panose="02040503050406030204" pitchFamily="18" charset="0"/>
                              <a:ea typeface="Calibri" panose="020F0502020204030204" pitchFamily="34" charset="0"/>
                              <a:cs typeface="Calibri" panose="020F0502020204030204" pitchFamily="34" charset="0"/>
                            </a:rPr>
                            <m:t>𝑏</m:t>
                          </m:r>
                        </m:num>
                        <m:den>
                          <m:r>
                            <a:rPr lang="en-US" sz="2200" b="0" i="1" smtClean="0">
                              <a:latin typeface="Cambria Math" panose="02040503050406030204" pitchFamily="18" charset="0"/>
                              <a:ea typeface="Calibri" panose="020F0502020204030204" pitchFamily="34" charset="0"/>
                              <a:cs typeface="Calibri" panose="020F0502020204030204" pitchFamily="34" charset="0"/>
                            </a:rPr>
                            <m:t>𝑎</m:t>
                          </m:r>
                        </m:den>
                      </m:f>
                      <m:r>
                        <m:rPr>
                          <m:aln/>
                        </m:rPr>
                        <a:rPr lang="en-US" sz="2200" b="0" i="1" smtClean="0">
                          <a:latin typeface="Cambria Math" panose="02040503050406030204" pitchFamily="18" charset="0"/>
                          <a:ea typeface="Calibri" panose="020F0502020204030204" pitchFamily="34" charset="0"/>
                          <a:cs typeface="Calibri" panose="020F0502020204030204" pitchFamily="34" charset="0"/>
                        </a:rPr>
                        <m:t>=</m:t>
                      </m:r>
                      <m:r>
                        <a:rPr lang="en-US" sz="2200" b="0" i="1" smtClean="0">
                          <a:latin typeface="Cambria Math" panose="02040503050406030204" pitchFamily="18" charset="0"/>
                          <a:ea typeface="Calibri" panose="020F0502020204030204" pitchFamily="34" charset="0"/>
                          <a:cs typeface="Calibri" panose="020F0502020204030204" pitchFamily="34" charset="0"/>
                        </a:rPr>
                        <m:t>−</m:t>
                      </m:r>
                      <m:f>
                        <m:fPr>
                          <m:ctrlPr>
                            <a:rPr lang="en-US" sz="2200" b="0" i="1" smtClean="0">
                              <a:latin typeface="Cambria Math" panose="02040503050406030204" pitchFamily="18" charset="0"/>
                              <a:ea typeface="Calibri" panose="020F0502020204030204" pitchFamily="34" charset="0"/>
                              <a:cs typeface="Calibri" panose="020F0502020204030204" pitchFamily="34" charset="0"/>
                            </a:rPr>
                          </m:ctrlPr>
                        </m:fPr>
                        <m:num>
                          <m:r>
                            <a:rPr lang="en-US" sz="2200" b="0" i="1" smtClean="0">
                              <a:latin typeface="Cambria Math" panose="02040503050406030204" pitchFamily="18" charset="0"/>
                              <a:ea typeface="Calibri" panose="020F0502020204030204" pitchFamily="34" charset="0"/>
                              <a:cs typeface="Calibri" panose="020F0502020204030204" pitchFamily="34" charset="0"/>
                            </a:rPr>
                            <m:t>1</m:t>
                          </m:r>
                        </m:num>
                        <m:den>
                          <m:f>
                            <m:fPr>
                              <m:ctrlPr>
                                <a:rPr lang="en-US" sz="2200" b="0" i="1" smtClean="0">
                                  <a:latin typeface="Cambria Math" panose="02040503050406030204" pitchFamily="18" charset="0"/>
                                  <a:ea typeface="Calibri" panose="020F0502020204030204" pitchFamily="34" charset="0"/>
                                  <a:cs typeface="Calibri" panose="020F0502020204030204" pitchFamily="34" charset="0"/>
                                </a:rPr>
                              </m:ctrlPr>
                            </m:fPr>
                            <m:num>
                              <m:r>
                                <a:rPr lang="en-US" sz="2200" b="0" i="1" smtClean="0">
                                  <a:latin typeface="Cambria Math" panose="02040503050406030204" pitchFamily="18" charset="0"/>
                                  <a:ea typeface="Calibri" panose="020F0502020204030204" pitchFamily="34" charset="0"/>
                                  <a:cs typeface="Calibri" panose="020F0502020204030204" pitchFamily="34" charset="0"/>
                                </a:rPr>
                                <m:t>𝑎</m:t>
                              </m:r>
                            </m:num>
                            <m:den>
                              <m:r>
                                <a:rPr lang="en-US" sz="2200" b="0" i="1" smtClean="0">
                                  <a:latin typeface="Cambria Math" panose="02040503050406030204" pitchFamily="18" charset="0"/>
                                  <a:ea typeface="Calibri" panose="020F0502020204030204" pitchFamily="34" charset="0"/>
                                  <a:cs typeface="Calibri" panose="020F0502020204030204" pitchFamily="34" charset="0"/>
                                </a:rPr>
                                <m:t>−</m:t>
                              </m:r>
                              <m:r>
                                <a:rPr lang="en-US" sz="2200" b="0" i="1" smtClean="0">
                                  <a:latin typeface="Cambria Math" panose="02040503050406030204" pitchFamily="18" charset="0"/>
                                  <a:ea typeface="Calibri" panose="020F0502020204030204" pitchFamily="34" charset="0"/>
                                  <a:cs typeface="Calibri" panose="020F0502020204030204" pitchFamily="34" charset="0"/>
                                </a:rPr>
                                <m:t>𝑏</m:t>
                              </m:r>
                            </m:den>
                          </m:f>
                        </m:den>
                      </m:f>
                    </m:oMath>
                    <m:oMath xmlns:m="http://schemas.openxmlformats.org/officeDocument/2006/math">
                      <m:r>
                        <m:rPr>
                          <m:aln/>
                        </m:rPr>
                        <a:rPr lang="en-US" sz="2200" b="0" i="1" smtClean="0">
                          <a:latin typeface="Cambria Math" panose="02040503050406030204" pitchFamily="18" charset="0"/>
                          <a:ea typeface="Calibri" panose="020F0502020204030204" pitchFamily="34" charset="0"/>
                          <a:cs typeface="Calibri" panose="020F0502020204030204" pitchFamily="34" charset="0"/>
                        </a:rPr>
                        <m:t>=</m:t>
                      </m:r>
                      <m:r>
                        <a:rPr lang="en-US" sz="2200" b="0" i="1" smtClean="0">
                          <a:latin typeface="Cambria Math" panose="02040503050406030204" pitchFamily="18" charset="0"/>
                          <a:ea typeface="Calibri" panose="020F0502020204030204" pitchFamily="34" charset="0"/>
                          <a:cs typeface="Calibri" panose="020F0502020204030204" pitchFamily="34" charset="0"/>
                        </a:rPr>
                        <m:t>−</m:t>
                      </m:r>
                      <m:r>
                        <a:rPr lang="en-US" sz="2200" b="0" i="1" smtClean="0">
                          <a:latin typeface="Cambria Math" panose="02040503050406030204" pitchFamily="18" charset="0"/>
                          <a:ea typeface="Calibri" panose="020F0502020204030204" pitchFamily="34" charset="0"/>
                          <a:cs typeface="Calibri" panose="020F0502020204030204" pitchFamily="34" charset="0"/>
                        </a:rPr>
                        <m:t>1</m:t>
                      </m:r>
                      <m:r>
                        <a:rPr lang="en-US" sz="2200" b="0" i="1" smtClean="0">
                          <a:latin typeface="Cambria Math" panose="02040503050406030204" pitchFamily="18" charset="0"/>
                          <a:ea typeface="Cambria Math" panose="02040503050406030204" pitchFamily="18" charset="0"/>
                          <a:cs typeface="Calibri" panose="020F0502020204030204" pitchFamily="34" charset="0"/>
                        </a:rPr>
                        <m:t>∙</m:t>
                      </m:r>
                      <m:f>
                        <m:fPr>
                          <m:ctrlPr>
                            <a:rPr lang="en-US" sz="2200" b="0" i="1" smtClean="0">
                              <a:latin typeface="Cambria Math" panose="02040503050406030204" pitchFamily="18" charset="0"/>
                              <a:ea typeface="Cambria Math" panose="02040503050406030204" pitchFamily="18" charset="0"/>
                              <a:cs typeface="Calibri" panose="020F0502020204030204" pitchFamily="34" charset="0"/>
                            </a:rPr>
                          </m:ctrlPr>
                        </m:fPr>
                        <m:num>
                          <m:r>
                            <a:rPr lang="en-US" sz="2200" b="0" i="1" smtClean="0">
                              <a:latin typeface="Cambria Math" panose="02040503050406030204" pitchFamily="18" charset="0"/>
                              <a:ea typeface="Cambria Math" panose="02040503050406030204" pitchFamily="18" charset="0"/>
                              <a:cs typeface="Calibri" panose="020F0502020204030204" pitchFamily="34" charset="0"/>
                            </a:rPr>
                            <m:t>−</m:t>
                          </m:r>
                          <m:r>
                            <a:rPr lang="en-US" sz="2200" b="0" i="1" smtClean="0">
                              <a:latin typeface="Cambria Math" panose="02040503050406030204" pitchFamily="18" charset="0"/>
                              <a:ea typeface="Cambria Math" panose="02040503050406030204" pitchFamily="18" charset="0"/>
                              <a:cs typeface="Calibri" panose="020F0502020204030204" pitchFamily="34" charset="0"/>
                            </a:rPr>
                            <m:t>𝑏</m:t>
                          </m:r>
                        </m:num>
                        <m:den>
                          <m:r>
                            <a:rPr lang="en-US" sz="2200" b="0" i="1" smtClean="0">
                              <a:latin typeface="Cambria Math" panose="02040503050406030204" pitchFamily="18" charset="0"/>
                              <a:ea typeface="Cambria Math" panose="02040503050406030204" pitchFamily="18" charset="0"/>
                              <a:cs typeface="Calibri" panose="020F0502020204030204" pitchFamily="34" charset="0"/>
                            </a:rPr>
                            <m:t>𝑎</m:t>
                          </m:r>
                        </m:den>
                      </m:f>
                    </m:oMath>
                    <m:oMath xmlns:m="http://schemas.openxmlformats.org/officeDocument/2006/math">
                      <m:r>
                        <m:rPr>
                          <m:aln/>
                        </m:rPr>
                        <a:rPr lang="en-US" sz="2200" b="0" i="1" smtClean="0">
                          <a:latin typeface="Cambria Math" panose="02040503050406030204" pitchFamily="18" charset="0"/>
                          <a:ea typeface="Cambria Math" panose="02040503050406030204" pitchFamily="18" charset="0"/>
                          <a:cs typeface="Calibri" panose="020F0502020204030204" pitchFamily="34" charset="0"/>
                        </a:rPr>
                        <m:t>=</m:t>
                      </m:r>
                      <m:f>
                        <m:fPr>
                          <m:ctrlPr>
                            <a:rPr lang="en-US" sz="2200" b="0" i="1" smtClean="0">
                              <a:latin typeface="Cambria Math" panose="02040503050406030204" pitchFamily="18" charset="0"/>
                              <a:ea typeface="Cambria Math" panose="02040503050406030204" pitchFamily="18" charset="0"/>
                              <a:cs typeface="Calibri" panose="020F0502020204030204" pitchFamily="34" charset="0"/>
                            </a:rPr>
                          </m:ctrlPr>
                        </m:fPr>
                        <m:num>
                          <m:r>
                            <a:rPr lang="en-US" sz="2200" b="0" i="1" smtClean="0">
                              <a:latin typeface="Cambria Math" panose="02040503050406030204" pitchFamily="18" charset="0"/>
                              <a:ea typeface="Cambria Math" panose="02040503050406030204" pitchFamily="18" charset="0"/>
                              <a:cs typeface="Calibri" panose="020F0502020204030204" pitchFamily="34" charset="0"/>
                            </a:rPr>
                            <m:t>𝑏</m:t>
                          </m:r>
                        </m:num>
                        <m:den>
                          <m:r>
                            <a:rPr lang="en-US" sz="2200" b="0" i="1" smtClean="0">
                              <a:latin typeface="Cambria Math" panose="02040503050406030204" pitchFamily="18" charset="0"/>
                              <a:ea typeface="Cambria Math" panose="02040503050406030204" pitchFamily="18" charset="0"/>
                              <a:cs typeface="Calibri" panose="020F0502020204030204" pitchFamily="34" charset="0"/>
                            </a:rPr>
                            <m:t>𝑎</m:t>
                          </m:r>
                        </m:den>
                      </m:f>
                    </m:oMath>
                  </m:oMathPara>
                </a14:m>
                <a:endParaRPr lang="en-US" sz="2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spcBef>
                    <a:spcPts val="24"/>
                  </a:spcBef>
                  <a:spcAft>
                    <a:spcPts val="1200"/>
                  </a:spcAft>
                  <a:buNone/>
                </a:pPr>
                <a:r>
                  <a:rPr lang="en-US" sz="2200" dirty="0">
                    <a:latin typeface="Calibri" panose="020F0502020204030204" pitchFamily="34" charset="0"/>
                    <a:ea typeface="Calibri" panose="020F0502020204030204" pitchFamily="34" charset="0"/>
                    <a:cs typeface="Calibri" panose="020F0502020204030204" pitchFamily="34" charset="0"/>
                  </a:rPr>
                  <a:t>The slope of line </a:t>
                </a:r>
                <a:r>
                  <a:rPr lang="en-US" sz="2200" i="1" dirty="0">
                    <a:latin typeface="Calibri" panose="020F0502020204030204" pitchFamily="34" charset="0"/>
                    <a:ea typeface="Calibri" panose="020F0502020204030204" pitchFamily="34" charset="0"/>
                    <a:cs typeface="Calibri" panose="020F0502020204030204" pitchFamily="34" charset="0"/>
                  </a:rPr>
                  <a:t>q</a:t>
                </a:r>
                <a:r>
                  <a:rPr lang="en-US" sz="2200" dirty="0">
                    <a:latin typeface="Calibri" panose="020F0502020204030204" pitchFamily="34" charset="0"/>
                    <a:ea typeface="Calibri" panose="020F0502020204030204" pitchFamily="34" charset="0"/>
                    <a:cs typeface="Calibri" panose="020F0502020204030204" pitchFamily="34" charset="0"/>
                  </a:rPr>
                  <a:t> is the negative reciprocal of the slope of line </a:t>
                </a:r>
                <a:r>
                  <a:rPr lang="en-US" sz="2200" i="1" dirty="0">
                    <a:latin typeface="Calibri" panose="020F0502020204030204" pitchFamily="34" charset="0"/>
                    <a:ea typeface="Calibri" panose="020F0502020204030204" pitchFamily="34" charset="0"/>
                    <a:cs typeface="Calibri" panose="020F0502020204030204" pitchFamily="34" charset="0"/>
                  </a:rPr>
                  <a:t>p</a:t>
                </a:r>
                <a:r>
                  <a:rPr lang="en-US" sz="2200" dirty="0">
                    <a:latin typeface="Calibri" panose="020F0502020204030204" pitchFamily="34" charset="0"/>
                    <a:ea typeface="Calibri" panose="020F0502020204030204" pitchFamily="34" charset="0"/>
                    <a:cs typeface="Calibri" panose="020F0502020204030204" pitchFamily="34" charset="0"/>
                  </a:rPr>
                  <a:t>.</a:t>
                </a:r>
              </a:p>
            </p:txBody>
          </p:sp>
        </mc:Choice>
        <mc:Fallback xmlns="">
          <p:sp>
            <p:nvSpPr>
              <p:cNvPr id="3" name="Google Shape;571;p14">
                <a:extLst>
                  <a:ext uri="{FF2B5EF4-FFF2-40B4-BE49-F238E27FC236}">
                    <a16:creationId xmlns:a16="http://schemas.microsoft.com/office/drawing/2014/main" id="{C2BE9EF4-D191-007D-A56B-D8BB30DFA2BF}"/>
                  </a:ext>
                </a:extLst>
              </p:cNvPr>
              <p:cNvSpPr txBox="1">
                <a:spLocks noRot="1" noChangeAspect="1" noMove="1" noResize="1" noEditPoints="1" noAdjustHandles="1" noChangeArrowheads="1" noChangeShapeType="1" noTextEdit="1"/>
              </p:cNvSpPr>
              <p:nvPr/>
            </p:nvSpPr>
            <p:spPr>
              <a:xfrm>
                <a:off x="2214693" y="2244318"/>
                <a:ext cx="5159229" cy="4237017"/>
              </a:xfrm>
              <a:prstGeom prst="rect">
                <a:avLst/>
              </a:prstGeom>
              <a:blipFill>
                <a:blip r:embed="rId4"/>
                <a:stretch>
                  <a:fillRect l="-1535" t="-1007" r="-2479"/>
                </a:stretch>
              </a:blipFill>
              <a:ln>
                <a:noFill/>
              </a:ln>
            </p:spPr>
            <p:txBody>
              <a:bodyPr/>
              <a:lstStyle/>
              <a:p>
                <a:r>
                  <a:rPr lang="en-US">
                    <a:noFill/>
                  </a:rPr>
                  <a:t> </a:t>
                </a:r>
              </a:p>
            </p:txBody>
          </p:sp>
        </mc:Fallback>
      </mc:AlternateContent>
      <p:pic>
        <p:nvPicPr>
          <p:cNvPr id="2" name="Google Shape;565;p14" descr="A graph of 2 lines on the coordinate plane. Line p rises from left to right through the origin and point R at (a, b). Line q falls from left to right through the origin and point D at (negative b, a). A right angle is marked between the 2 lines at their intersection at the origin.">
            <a:extLst>
              <a:ext uri="{FF2B5EF4-FFF2-40B4-BE49-F238E27FC236}">
                <a16:creationId xmlns:a16="http://schemas.microsoft.com/office/drawing/2014/main" id="{0EFF3649-1EF5-939B-1248-E573A810C06E}"/>
              </a:ext>
            </a:extLst>
          </p:cNvPr>
          <p:cNvPicPr>
            <a:picLocks noChangeAspect="1"/>
          </p:cNvPicPr>
          <p:nvPr/>
        </p:nvPicPr>
        <p:blipFill rotWithShape="1">
          <a:blip r:embed="rId5" cstate="email">
            <a:alphaModFix/>
            <a:extLst>
              <a:ext uri="{28A0092B-C50C-407E-A947-70E740481C1C}">
                <a14:useLocalDpi xmlns:a14="http://schemas.microsoft.com/office/drawing/2010/main"/>
              </a:ext>
            </a:extLst>
          </a:blip>
          <a:srcRect/>
          <a:stretch/>
        </p:blipFill>
        <p:spPr>
          <a:xfrm>
            <a:off x="7485603" y="2715852"/>
            <a:ext cx="2832614" cy="3040336"/>
          </a:xfrm>
          <a:prstGeom prst="rect">
            <a:avLst/>
          </a:prstGeom>
          <a:noFill/>
          <a:ln>
            <a:noFill/>
          </a:ln>
        </p:spPr>
      </p:pic>
      <p:sp>
        <p:nvSpPr>
          <p:cNvPr id="1585" name="Slide Number 158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16</a:t>
            </a:fld>
          </a:p>
        </p:txBody>
      </p:sp>
      <p:sp>
        <p:nvSpPr>
          <p:cNvPr id="1586" name="Answer 1586"/>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308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3" name="Google Shape;603;p17"/>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Perpendicular Lines </a:t>
            </a:r>
            <a:r>
              <a:rPr lang="en-US" sz="2000" b="1" dirty="0">
                <a:solidFill>
                  <a:schemeClr val="bg1"/>
                </a:solidFill>
              </a:rPr>
              <a:t>(6 of 9)</a:t>
            </a:r>
            <a:endParaRPr dirty="0">
              <a:solidFill>
                <a:schemeClr val="bg1"/>
              </a:solidFill>
            </a:endParaRPr>
          </a:p>
        </p:txBody>
      </p:sp>
      <p:sp>
        <p:nvSpPr>
          <p:cNvPr id="2" name="TextBox 1">
            <a:extLst>
              <a:ext uri="{FF2B5EF4-FFF2-40B4-BE49-F238E27FC236}">
                <a16:creationId xmlns:a16="http://schemas.microsoft.com/office/drawing/2014/main" id="{399B7F68-0123-793A-C302-6E185690AD75}"/>
              </a:ext>
            </a:extLst>
          </p:cNvPr>
          <p:cNvSpPr txBox="1"/>
          <p:nvPr/>
        </p:nvSpPr>
        <p:spPr>
          <a:xfrm>
            <a:off x="777240" y="1615188"/>
            <a:ext cx="7267802" cy="2400657"/>
          </a:xfrm>
          <a:prstGeom prst="rect">
            <a:avLst/>
          </a:prstGeom>
          <a:noFill/>
        </p:spPr>
        <p:txBody>
          <a:bodyPr wrap="square" rtlCol="0">
            <a:spAutoFit/>
          </a:bodyPr>
          <a:lstStyle/>
          <a:p>
            <a:pPr algn="l">
              <a:spcAft>
                <a:spcPts val="1200"/>
              </a:spcAft>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There is often more than one way to prove a theorem. Suppose that point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R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is rotated 90° clockwise using point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O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as the center of rotation.</a:t>
            </a:r>
          </a:p>
          <a:p>
            <a:pPr marL="511175" indent="-511175" algn="l">
              <a:buFont typeface="+mj-lt"/>
              <a:buAutoNum type="arabicPeriod" startAt="3"/>
            </a:pPr>
            <a:r>
              <a:rPr lang="en-US" sz="2800" dirty="0">
                <a:latin typeface="Calibri" panose="020F0502020204030204" pitchFamily="34" charset="0"/>
                <a:ea typeface="Calibri" panose="020F0502020204030204" pitchFamily="34" charset="0"/>
                <a:cs typeface="Calibri" panose="020F0502020204030204" pitchFamily="34" charset="0"/>
              </a:rPr>
              <a:t>Rewrite the proof using the clockwise rotation of point </a:t>
            </a:r>
            <a:r>
              <a:rPr lang="en-US" sz="2800" i="1" dirty="0">
                <a:latin typeface="Calibri" panose="020F0502020204030204" pitchFamily="34" charset="0"/>
                <a:ea typeface="Calibri" panose="020F0502020204030204" pitchFamily="34" charset="0"/>
                <a:cs typeface="Calibri" panose="020F0502020204030204" pitchFamily="34" charset="0"/>
              </a:rPr>
              <a:t>R</a:t>
            </a:r>
            <a:r>
              <a:rPr lang="en-US" sz="2800" dirty="0">
                <a:latin typeface="Calibri" panose="020F0502020204030204" pitchFamily="34" charset="0"/>
                <a:ea typeface="Calibri" panose="020F0502020204030204" pitchFamily="34" charset="0"/>
                <a:cs typeface="Calibri" panose="020F0502020204030204" pitchFamily="34" charset="0"/>
              </a:rPr>
              <a:t>.</a:t>
            </a:r>
          </a:p>
        </p:txBody>
      </p:sp>
      <p:pic>
        <p:nvPicPr>
          <p:cNvPr id="602" name="Google Shape;602;p17" descr="A graph of 2 lines on the coordinate plane. Line p rises from left to right through the origin and point R at in quadrant 1. Line q falls from left to right through the origin and point D in quadrant 4. A right angle is marked between the 2 lines at their intersection at the origin."/>
          <p:cNvPicPr>
            <a:picLocks noChangeAspect="1"/>
          </p:cNvPicPr>
          <p:nvPr/>
        </p:nvPicPr>
        <p:blipFill rotWithShape="1">
          <a:blip r:embed="rId3" cstate="email">
            <a:alphaModFix/>
            <a:extLst>
              <a:ext uri="{28A0092B-C50C-407E-A947-70E740481C1C}">
                <a14:useLocalDpi xmlns:a14="http://schemas.microsoft.com/office/drawing/2010/main"/>
              </a:ext>
            </a:extLst>
          </a:blip>
          <a:srcRect/>
          <a:stretch/>
        </p:blipFill>
        <p:spPr>
          <a:xfrm>
            <a:off x="8465485" y="1615188"/>
            <a:ext cx="3000529" cy="3627624"/>
          </a:xfrm>
          <a:prstGeom prst="rect">
            <a:avLst/>
          </a:prstGeom>
          <a:noFill/>
          <a:ln>
            <a:noFill/>
          </a:ln>
        </p:spPr>
      </p:pic>
      <p:sp>
        <p:nvSpPr>
          <p:cNvPr id="1603" name="Slide Number 160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17</a:t>
            </a:fld>
          </a:p>
        </p:txBody>
      </p:sp>
      <p:sp>
        <p:nvSpPr>
          <p:cNvPr id="1604" name="Answer 1604"/>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309</a:t>
            </a:r>
          </a:p>
        </p:txBody>
      </p:sp>
      <p:sp>
        <p:nvSpPr>
          <p:cNvPr id="1605" name="Answer 1605"/>
          <p:cNvSpPr txBox="1"/>
          <p:nvPr/>
        </p:nvSpPr>
        <p:spPr>
          <a:xfrm>
            <a:off x="774700" y="4381500"/>
            <a:ext cx="7493000" cy="12954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Rotating R(a, b) 90° clockwise about O maps it onto line q at D(b, −a).</a:t>
            </a:r>
          </a:p>
          <a:p>
            <a:pPr marL="0" indent="0" algn="l">
              <a:spcBef>
                <a:spcPts val="0"/>
              </a:spcBef>
              <a:spcAft>
                <a:spcPts val="300"/>
              </a:spcAft>
              <a:buNone/>
            </a:pPr>
            <a:r>
              <a:rPr lang="en-US" sz="1800" dirty="0">
                <a:solidFill>
                  <a:srgbClr val="FF0000"/>
                </a:solidFill>
              </a:rPr>
              <a:t>Slope of p: m1 = b/a.   Slope of q: m2 = −a/b.</a:t>
            </a:r>
          </a:p>
          <a:p>
            <a:pPr marL="0" indent="0" algn="l">
              <a:spcBef>
                <a:spcPts val="0"/>
              </a:spcBef>
              <a:spcAft>
                <a:spcPts val="300"/>
              </a:spcAft>
              <a:buNone/>
            </a:pPr>
            <a:r>
              <a:rPr lang="en-US" sz="1800" dirty="0">
                <a:solidFill>
                  <a:srgbClr val="FF0000"/>
                </a:solidFill>
              </a:rPr>
              <a:t>−1/m2 = −1 ÷ (−a/b) = −1 · (b/−a) = b/a = m1, so m1 = −1/m2.</a:t>
            </a:r>
          </a:p>
          <a:p>
            <a:pPr marL="0" indent="0" algn="l">
              <a:spcBef>
                <a:spcPts val="0"/>
              </a:spcBef>
              <a:spcAft>
                <a:spcPts val="300"/>
              </a:spcAft>
              <a:buNone/>
            </a:pPr>
            <a:r>
              <a:rPr lang="en-US" sz="1800" dirty="0">
                <a:solidFill>
                  <a:srgbClr val="FF0000"/>
                </a:solidFill>
              </a:rPr>
              <a:t>The slopes are negative reciprocals.</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6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1">
          <a:extLst>
            <a:ext uri="{FF2B5EF4-FFF2-40B4-BE49-F238E27FC236}">
              <a16:creationId xmlns:a16="http://schemas.microsoft.com/office/drawing/2014/main" id="{A3CEF403-885A-E16E-92D4-DFFF31065AA5}"/>
            </a:ext>
          </a:extLst>
        </p:cNvPr>
        <p:cNvGrpSpPr/>
        <p:nvPr/>
      </p:nvGrpSpPr>
      <p:grpSpPr>
        <a:xfrm>
          <a:off x="0" y="0"/>
          <a:ext cx="0" cy="0"/>
          <a:chOff x="0" y="0"/>
          <a:chExt cx="0" cy="0"/>
        </a:xfrm>
      </p:grpSpPr>
      <p:sp>
        <p:nvSpPr>
          <p:cNvPr id="603" name="Google Shape;603;p17">
            <a:extLst>
              <a:ext uri="{FF2B5EF4-FFF2-40B4-BE49-F238E27FC236}">
                <a16:creationId xmlns:a16="http://schemas.microsoft.com/office/drawing/2014/main" id="{B3D43CDF-8938-7970-0E77-849ACE3D5A9C}"/>
              </a:ext>
            </a:extLst>
          </p:cNvPr>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Perpendicular Lines </a:t>
            </a:r>
            <a:r>
              <a:rPr lang="en-US" sz="2000" b="1" dirty="0">
                <a:solidFill>
                  <a:schemeClr val="bg1"/>
                </a:solidFill>
              </a:rPr>
              <a:t>(7 of 9)</a:t>
            </a:r>
            <a:endParaRPr dirty="0">
              <a:solidFill>
                <a:schemeClr val="bg1"/>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7FBF85B-F52A-3B8A-10FA-D9F384C38ED1}"/>
                  </a:ext>
                </a:extLst>
              </p:cNvPr>
              <p:cNvSpPr txBox="1"/>
              <p:nvPr/>
            </p:nvSpPr>
            <p:spPr>
              <a:xfrm>
                <a:off x="777240" y="1615188"/>
                <a:ext cx="9893556" cy="4407104"/>
              </a:xfrm>
              <a:prstGeom prst="rect">
                <a:avLst/>
              </a:prstGeom>
              <a:noFill/>
            </p:spPr>
            <p:txBody>
              <a:bodyPr wrap="square" rtlCol="0">
                <a:spAutoFit/>
              </a:bodyPr>
              <a:lstStyle/>
              <a:p>
                <a:pPr marL="514350" indent="-514350" algn="l">
                  <a:spcAft>
                    <a:spcPts val="600"/>
                  </a:spcAft>
                  <a:buFont typeface="+mj-lt"/>
                  <a:buAutoNum type="arabicPeriod" startAt="4"/>
                </a:pPr>
                <a:r>
                  <a:rPr lang="en-US" sz="2800" dirty="0">
                    <a:latin typeface="Calibri" panose="020F0502020204030204" pitchFamily="34" charset="0"/>
                    <a:ea typeface="Calibri" panose="020F0502020204030204" pitchFamily="34" charset="0"/>
                    <a:cs typeface="Calibri" panose="020F0502020204030204" pitchFamily="34" charset="0"/>
                  </a:rPr>
                  <a:t>Line </a:t>
                </a:r>
                <a:r>
                  <a:rPr lang="en-US" sz="2800" i="1" dirty="0">
                    <a:latin typeface="Calibri" panose="020F0502020204030204" pitchFamily="34" charset="0"/>
                    <a:ea typeface="Calibri" panose="020F0502020204030204" pitchFamily="34" charset="0"/>
                    <a:cs typeface="Calibri" panose="020F0502020204030204" pitchFamily="34" charset="0"/>
                  </a:rPr>
                  <a:t>j</a:t>
                </a:r>
                <a:r>
                  <a:rPr lang="en-US" sz="2800" dirty="0">
                    <a:latin typeface="Calibri" panose="020F0502020204030204" pitchFamily="34" charset="0"/>
                    <a:ea typeface="Calibri" panose="020F0502020204030204" pitchFamily="34" charset="0"/>
                    <a:cs typeface="Calibri" panose="020F0502020204030204" pitchFamily="34" charset="0"/>
                  </a:rPr>
                  <a:t> and line </a:t>
                </a:r>
                <a:r>
                  <a:rPr lang="en-US" sz="2800" i="1" dirty="0">
                    <a:latin typeface="Calibri" panose="020F0502020204030204" pitchFamily="34" charset="0"/>
                    <a:ea typeface="Calibri" panose="020F0502020204030204" pitchFamily="34" charset="0"/>
                    <a:cs typeface="Calibri" panose="020F0502020204030204" pitchFamily="34" charset="0"/>
                  </a:rPr>
                  <a:t>k</a:t>
                </a:r>
                <a:r>
                  <a:rPr lang="en-US" sz="2800" dirty="0">
                    <a:latin typeface="Calibri" panose="020F0502020204030204" pitchFamily="34" charset="0"/>
                    <a:ea typeface="Calibri" panose="020F0502020204030204" pitchFamily="34" charset="0"/>
                    <a:cs typeface="Calibri" panose="020F0502020204030204" pitchFamily="34" charset="0"/>
                  </a:rPr>
                  <a:t> are perpendicular. Given each slope of line </a:t>
                </a:r>
                <a:r>
                  <a:rPr lang="en-US" sz="2800" i="1" dirty="0">
                    <a:latin typeface="Calibri" panose="020F0502020204030204" pitchFamily="34" charset="0"/>
                    <a:ea typeface="Calibri" panose="020F0502020204030204" pitchFamily="34" charset="0"/>
                    <a:cs typeface="Calibri" panose="020F0502020204030204" pitchFamily="34" charset="0"/>
                  </a:rPr>
                  <a:t>j</a:t>
                </a:r>
                <a:r>
                  <a:rPr lang="en-US" sz="2800" dirty="0">
                    <a:latin typeface="Calibri" panose="020F0502020204030204" pitchFamily="34" charset="0"/>
                    <a:ea typeface="Calibri" panose="020F0502020204030204" pitchFamily="34" charset="0"/>
                    <a:cs typeface="Calibri" panose="020F0502020204030204" pitchFamily="34" charset="0"/>
                  </a:rPr>
                  <a:t>, determine the slope of line </a:t>
                </a:r>
                <a:r>
                  <a:rPr lang="en-US" sz="2800" i="1" dirty="0">
                    <a:latin typeface="Calibri" panose="020F0502020204030204" pitchFamily="34" charset="0"/>
                    <a:ea typeface="Calibri" panose="020F0502020204030204" pitchFamily="34" charset="0"/>
                    <a:cs typeface="Calibri" panose="020F0502020204030204" pitchFamily="34" charset="0"/>
                  </a:rPr>
                  <a:t>k</a:t>
                </a:r>
                <a:r>
                  <a:rPr lang="en-US" sz="2800" dirty="0">
                    <a:latin typeface="Calibri" panose="020F0502020204030204" pitchFamily="34" charset="0"/>
                    <a:ea typeface="Calibri" panose="020F0502020204030204" pitchFamily="34" charset="0"/>
                    <a:cs typeface="Calibri" panose="020F0502020204030204" pitchFamily="34" charset="0"/>
                  </a:rPr>
                  <a:t>.</a:t>
                </a:r>
              </a:p>
              <a:p>
                <a:pPr marL="1031875" lvl="1" indent="-514350">
                  <a:buFont typeface="+mj-lt"/>
                  <a:buAutoNum type="alphaLcPeriod"/>
                </a:pPr>
                <a:r>
                  <a:rPr lang="en-US" sz="2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US" sz="2800" b="0" i="1" smtClean="0">
                        <a:latin typeface="Cambria Math" panose="02040503050406030204" pitchFamily="18" charset="0"/>
                        <a:ea typeface="Calibri" panose="020F0502020204030204" pitchFamily="34" charset="0"/>
                        <a:cs typeface="Calibri" panose="020F0502020204030204" pitchFamily="34" charset="0"/>
                      </a:rPr>
                      <m:t>𝑚</m:t>
                    </m:r>
                    <m:r>
                      <a:rPr lang="en-US" sz="2800" b="0" i="1" smtClean="0">
                        <a:latin typeface="Cambria Math" panose="02040503050406030204" pitchFamily="18" charset="0"/>
                        <a:ea typeface="Calibri" panose="020F0502020204030204" pitchFamily="34" charset="0"/>
                        <a:cs typeface="Calibri" panose="020F0502020204030204" pitchFamily="34" charset="0"/>
                      </a:rPr>
                      <m:t>=</m:t>
                    </m:r>
                    <m:f>
                      <m:fPr>
                        <m:ctrlPr>
                          <a:rPr lang="en-US" sz="2800" b="0" i="1" smtClean="0">
                            <a:latin typeface="Cambria Math" panose="02040503050406030204" pitchFamily="18" charset="0"/>
                            <a:ea typeface="Calibri" panose="020F0502020204030204" pitchFamily="34" charset="0"/>
                            <a:cs typeface="Calibri" panose="020F0502020204030204" pitchFamily="34" charset="0"/>
                          </a:rPr>
                        </m:ctrlPr>
                      </m:fPr>
                      <m:num>
                        <m:r>
                          <a:rPr lang="en-US" sz="2800" b="0" i="1" smtClean="0">
                            <a:latin typeface="Cambria Math" panose="02040503050406030204" pitchFamily="18" charset="0"/>
                            <a:ea typeface="Calibri" panose="020F0502020204030204" pitchFamily="34" charset="0"/>
                            <a:cs typeface="Calibri" panose="020F0502020204030204" pitchFamily="34" charset="0"/>
                          </a:rPr>
                          <m:t>2</m:t>
                        </m:r>
                      </m:num>
                      <m:den>
                        <m:r>
                          <a:rPr lang="en-US" sz="2800" b="0" i="1" smtClean="0">
                            <a:latin typeface="Cambria Math" panose="02040503050406030204" pitchFamily="18" charset="0"/>
                            <a:ea typeface="Calibri" panose="020F0502020204030204" pitchFamily="34" charset="0"/>
                            <a:cs typeface="Calibri" panose="020F0502020204030204" pitchFamily="34" charset="0"/>
                          </a:rPr>
                          <m:t>3</m:t>
                        </m:r>
                      </m:den>
                    </m:f>
                  </m:oMath>
                </a14:m>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endParaRPr lang="en-US" sz="2800" dirty="0">
                  <a:latin typeface="Calibri" panose="020F0502020204030204" pitchFamily="34" charset="0"/>
                  <a:ea typeface="Calibri" panose="020F0502020204030204" pitchFamily="34" charset="0"/>
                  <a:cs typeface="Calibri" panose="020F0502020204030204" pitchFamily="34" charset="0"/>
                </a:endParaRPr>
              </a:p>
              <a:p>
                <a:pPr marL="1031875" lvl="1" indent="-514350">
                  <a:buFont typeface="+mj-lt"/>
                  <a:buAutoNum type="alphaLcPeriod"/>
                </a:pPr>
                <a:r>
                  <a:rPr lang="en-US" sz="2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US" sz="2800" b="0" i="1" smtClean="0">
                        <a:latin typeface="Cambria Math" panose="02040503050406030204" pitchFamily="18" charset="0"/>
                        <a:ea typeface="Calibri" panose="020F0502020204030204" pitchFamily="34" charset="0"/>
                        <a:cs typeface="Calibri" panose="020F0502020204030204" pitchFamily="34" charset="0"/>
                      </a:rPr>
                      <m:t>𝑚</m:t>
                    </m:r>
                    <m:r>
                      <a:rPr lang="en-US" sz="2800" b="0" i="1" smtClean="0">
                        <a:latin typeface="Cambria Math" panose="02040503050406030204" pitchFamily="18" charset="0"/>
                        <a:ea typeface="Calibri" panose="020F0502020204030204" pitchFamily="34" charset="0"/>
                        <a:cs typeface="Calibri" panose="020F0502020204030204" pitchFamily="34" charset="0"/>
                      </a:rPr>
                      <m:t>=−</m:t>
                    </m:r>
                    <m:f>
                      <m:fPr>
                        <m:ctrlPr>
                          <a:rPr lang="en-US" sz="2800" b="0" i="1" smtClean="0">
                            <a:latin typeface="Cambria Math" panose="02040503050406030204" pitchFamily="18" charset="0"/>
                            <a:ea typeface="Calibri" panose="020F0502020204030204" pitchFamily="34" charset="0"/>
                            <a:cs typeface="Calibri" panose="020F0502020204030204" pitchFamily="34" charset="0"/>
                          </a:rPr>
                        </m:ctrlPr>
                      </m:fPr>
                      <m:num>
                        <m:r>
                          <a:rPr lang="en-US" sz="2800" b="0" i="1" smtClean="0">
                            <a:latin typeface="Cambria Math" panose="02040503050406030204" pitchFamily="18" charset="0"/>
                            <a:ea typeface="Calibri" panose="020F0502020204030204" pitchFamily="34" charset="0"/>
                            <a:cs typeface="Calibri" panose="020F0502020204030204" pitchFamily="34" charset="0"/>
                          </a:rPr>
                          <m:t>4</m:t>
                        </m:r>
                      </m:num>
                      <m:den>
                        <m:r>
                          <a:rPr lang="en-US" sz="2800" b="0" i="1" smtClean="0">
                            <a:latin typeface="Cambria Math" panose="02040503050406030204" pitchFamily="18" charset="0"/>
                            <a:ea typeface="Calibri" panose="020F0502020204030204" pitchFamily="34" charset="0"/>
                            <a:cs typeface="Calibri" panose="020F0502020204030204" pitchFamily="34" charset="0"/>
                          </a:rPr>
                          <m:t>5</m:t>
                        </m:r>
                      </m:den>
                    </m:f>
                  </m:oMath>
                </a14:m>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endParaRPr lang="en-US" sz="2800" dirty="0">
                  <a:latin typeface="Calibri" panose="020F0502020204030204" pitchFamily="34" charset="0"/>
                  <a:ea typeface="Calibri" panose="020F0502020204030204" pitchFamily="34" charset="0"/>
                  <a:cs typeface="Calibri" panose="020F0502020204030204" pitchFamily="34" charset="0"/>
                </a:endParaRPr>
              </a:p>
              <a:p>
                <a:pPr marL="1031875" lvl="1" indent="-514350">
                  <a:buFont typeface="+mj-lt"/>
                  <a:buAutoNum type="alphaLcPeriod"/>
                </a:pPr>
                <a:r>
                  <a:rPr lang="en-US" sz="2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US" sz="2800" b="0" i="1" smtClean="0">
                        <a:latin typeface="Cambria Math" panose="02040503050406030204" pitchFamily="18" charset="0"/>
                        <a:ea typeface="Calibri" panose="020F0502020204030204" pitchFamily="34" charset="0"/>
                        <a:cs typeface="Calibri" panose="020F0502020204030204" pitchFamily="34" charset="0"/>
                      </a:rPr>
                      <m:t>𝑚</m:t>
                    </m:r>
                    <m:r>
                      <a:rPr lang="en-US" sz="2800" b="0" i="1" smtClean="0">
                        <a:latin typeface="Cambria Math" panose="02040503050406030204" pitchFamily="18" charset="0"/>
                        <a:ea typeface="Calibri" panose="020F0502020204030204" pitchFamily="34" charset="0"/>
                        <a:cs typeface="Calibri" panose="020F0502020204030204" pitchFamily="34" charset="0"/>
                      </a:rPr>
                      <m:t>=−3</m:t>
                    </m:r>
                  </m:oMath>
                </a14:m>
                <a:endParaRPr lang="en-US" sz="2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 name="TextBox 1">
                <a:extLst>
                  <a:ext uri="{FF2B5EF4-FFF2-40B4-BE49-F238E27FC236}">
                    <a16:creationId xmlns:a16="http://schemas.microsoft.com/office/drawing/2014/main" id="{07FBF85B-F52A-3B8A-10FA-D9F384C38ED1}"/>
                  </a:ext>
                </a:extLst>
              </p:cNvPr>
              <p:cNvSpPr txBox="1">
                <a:spLocks noRot="1" noChangeAspect="1" noMove="1" noResize="1" noEditPoints="1" noAdjustHandles="1" noChangeArrowheads="1" noChangeShapeType="1" noTextEdit="1"/>
              </p:cNvSpPr>
              <p:nvPr/>
            </p:nvSpPr>
            <p:spPr>
              <a:xfrm>
                <a:off x="777240" y="1615188"/>
                <a:ext cx="9893556" cy="4407104"/>
              </a:xfrm>
              <a:prstGeom prst="rect">
                <a:avLst/>
              </a:prstGeom>
              <a:blipFill>
                <a:blip r:embed="rId3"/>
                <a:stretch>
                  <a:fillRect l="-1295" t="-1521" b="-3043"/>
                </a:stretch>
              </a:blipFill>
            </p:spPr>
            <p:txBody>
              <a:bodyPr/>
              <a:lstStyle/>
              <a:p>
                <a:r>
                  <a:rPr lang="en-US">
                    <a:noFill/>
                  </a:rPr>
                  <a:t> </a:t>
                </a:r>
              </a:p>
            </p:txBody>
          </p:sp>
        </mc:Fallback>
      </mc:AlternateContent>
      <p:sp>
        <p:nvSpPr>
          <p:cNvPr id="1603" name="Slide Number 160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18</a:t>
            </a:fld>
          </a:p>
        </p:txBody>
      </p:sp>
      <p:sp>
        <p:nvSpPr>
          <p:cNvPr id="1604" name="Answer 1604"/>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309</a:t>
            </a:r>
          </a:p>
        </p:txBody>
      </p:sp>
      <p:sp>
        <p:nvSpPr>
          <p:cNvPr id="1605" name="Answer 1605"/>
          <p:cNvSpPr txBox="1"/>
          <p:nvPr/>
        </p:nvSpPr>
        <p:spPr>
          <a:xfrm>
            <a:off x="3937000" y="2730500"/>
            <a:ext cx="3810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m = −3/2</a:t>
            </a:r>
          </a:p>
        </p:txBody>
      </p:sp>
      <p:sp>
        <p:nvSpPr>
          <p:cNvPr id="1606" name="Answer 1606"/>
          <p:cNvSpPr txBox="1"/>
          <p:nvPr/>
        </p:nvSpPr>
        <p:spPr>
          <a:xfrm>
            <a:off x="3937000" y="4165600"/>
            <a:ext cx="3810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m = 5/4</a:t>
            </a:r>
          </a:p>
        </p:txBody>
      </p:sp>
      <p:sp>
        <p:nvSpPr>
          <p:cNvPr id="1607" name="Answer 1607"/>
          <p:cNvSpPr txBox="1"/>
          <p:nvPr/>
        </p:nvSpPr>
        <p:spPr>
          <a:xfrm>
            <a:off x="3937000" y="5537200"/>
            <a:ext cx="3810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m = 1/3</a:t>
            </a:r>
          </a:p>
        </p:txBody>
      </p:sp>
    </p:spTree>
    <p:extLst>
      <p:ext uri="{BB962C8B-B14F-4D97-AF65-F5344CB8AC3E}">
        <p14:creationId xmlns:p14="http://schemas.microsoft.com/office/powerpoint/2010/main" val="85589185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60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60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18"/>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Perpendicular Lines </a:t>
            </a:r>
            <a:r>
              <a:rPr lang="en-US" sz="2000" b="1" dirty="0">
                <a:solidFill>
                  <a:schemeClr val="bg1"/>
                </a:solidFill>
              </a:rPr>
              <a:t>(8 of 9)</a:t>
            </a:r>
            <a:endParaRPr dirty="0">
              <a:solidFill>
                <a:schemeClr val="bg1"/>
              </a:solidFill>
            </a:endParaRPr>
          </a:p>
        </p:txBody>
      </p:sp>
      <p:sp>
        <p:nvSpPr>
          <p:cNvPr id="614" name="Google Shape;614;p18"/>
          <p:cNvSpPr txBox="1"/>
          <p:nvPr/>
        </p:nvSpPr>
        <p:spPr>
          <a:xfrm>
            <a:off x="777240" y="1616140"/>
            <a:ext cx="989371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dirty="0">
                <a:solidFill>
                  <a:srgbClr val="000000"/>
                </a:solidFill>
                <a:latin typeface="Calibri"/>
                <a:ea typeface="Calibri"/>
                <a:cs typeface="Calibri"/>
                <a:sym typeface="Calibri"/>
              </a:rPr>
              <a:t>Let’s revisit the Essential Question and summarize our learning from Activity 3.1!</a:t>
            </a:r>
            <a:endParaRPr dirty="0"/>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a:p>
            <a:pPr marL="0" marR="0" lvl="0" indent="0" algn="l" rtl="0">
              <a:spcBef>
                <a:spcPts val="560"/>
              </a:spcBef>
              <a:spcAft>
                <a:spcPts val="0"/>
              </a:spcAft>
              <a:buClr>
                <a:srgbClr val="000000"/>
              </a:buClr>
              <a:buSzPts val="2800"/>
              <a:buFont typeface="Arial"/>
              <a:buNone/>
            </a:pPr>
            <a:r>
              <a:rPr lang="en-US" sz="2800" b="1" dirty="0">
                <a:solidFill>
                  <a:srgbClr val="000000"/>
                </a:solidFill>
                <a:latin typeface="Calibri"/>
                <a:ea typeface="Calibri"/>
                <a:cs typeface="Calibri"/>
                <a:sym typeface="Calibri"/>
              </a:rPr>
              <a:t>Essential Question: </a:t>
            </a:r>
            <a:r>
              <a:rPr lang="en-US" sz="2800" b="0" i="0" u="none" strike="noStrike" cap="none" dirty="0">
                <a:solidFill>
                  <a:srgbClr val="000000"/>
                </a:solidFill>
                <a:latin typeface="Calibri"/>
                <a:ea typeface="Calibri"/>
                <a:cs typeface="Calibri"/>
                <a:sym typeface="Calibri"/>
              </a:rPr>
              <a:t>How can you rotate the graphs of linear equations to determine the slopes of perpendicular lines</a:t>
            </a:r>
            <a:r>
              <a:rPr lang="en-US" sz="2800" dirty="0">
                <a:solidFill>
                  <a:srgbClr val="000000"/>
                </a:solidFill>
                <a:latin typeface="Calibri"/>
                <a:ea typeface="Calibri"/>
                <a:cs typeface="Calibri"/>
                <a:sym typeface="Calibri"/>
              </a:rPr>
              <a:t>?</a:t>
            </a:r>
            <a:endParaRPr dirty="0"/>
          </a:p>
        </p:txBody>
      </p:sp>
      <p:pic>
        <p:nvPicPr>
          <p:cNvPr id="615" name="Google Shape;615;p18">
            <a:extLst>
              <a:ext uri="{C183D7F6-B498-43B3-948B-1728B52AA6E4}">
                <adec:decorative xmlns:adec="http://schemas.microsoft.com/office/drawing/2017/decorative" val="1"/>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174023" y="372494"/>
            <a:ext cx="1501270" cy="518205"/>
          </a:xfrm>
          <a:prstGeom prst="rect">
            <a:avLst/>
          </a:prstGeom>
          <a:noFill/>
          <a:ln>
            <a:noFill/>
          </a:ln>
        </p:spPr>
      </p:pic>
      <p:sp>
        <p:nvSpPr>
          <p:cNvPr id="1615" name="Slide Number 161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19</a:t>
            </a:fld>
          </a:p>
        </p:txBody>
      </p:sp>
      <p:sp>
        <p:nvSpPr>
          <p:cNvPr id="1616" name="Answer 1616"/>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309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19"/>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Perpendicular Lines </a:t>
            </a:r>
            <a:r>
              <a:rPr lang="en-US" sz="2000" b="1" dirty="0">
                <a:solidFill>
                  <a:schemeClr val="bg1"/>
                </a:solidFill>
              </a:rPr>
              <a:t>(9 of 9)</a:t>
            </a:r>
            <a:endParaRPr dirty="0">
              <a:solidFill>
                <a:schemeClr val="bg1"/>
              </a:solidFill>
            </a:endParaRPr>
          </a:p>
        </p:txBody>
      </p:sp>
      <p:sp>
        <p:nvSpPr>
          <p:cNvPr id="622" name="Google Shape;622;p19">
            <a:extLst>
              <a:ext uri="{C183D7F6-B498-43B3-948B-1728B52AA6E4}">
                <adec:decorative xmlns:adec="http://schemas.microsoft.com/office/drawing/2017/decorative" val="1"/>
              </a:ext>
            </a:extLst>
          </p:cNvPr>
          <p:cNvSpPr txBox="1"/>
          <p:nvPr/>
        </p:nvSpPr>
        <p:spPr>
          <a:xfrm>
            <a:off x="777240" y="1616140"/>
            <a:ext cx="1047175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800"/>
              <a:buFont typeface="Arial"/>
              <a:buNone/>
            </a:pPr>
            <a:endParaRPr sz="2800">
              <a:solidFill>
                <a:srgbClr val="3A3838"/>
              </a:solidFill>
              <a:latin typeface="Calibri"/>
              <a:ea typeface="Calibri"/>
              <a:cs typeface="Calibri"/>
              <a:sym typeface="Calibri"/>
            </a:endParaRPr>
          </a:p>
        </p:txBody>
      </p:sp>
      <p:sp>
        <p:nvSpPr>
          <p:cNvPr id="1622" name="Slide Number 1622"/>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20</a:t>
            </a:fld>
          </a:p>
        </p:txBody>
      </p:sp>
      <p:sp>
        <p:nvSpPr>
          <p:cNvPr id="1623" name="Answer 1623"/>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309</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20"/>
          <p:cNvSpPr txBox="1">
            <a:spLocks noGrp="1"/>
          </p:cNvSpPr>
          <p:nvPr>
            <p:ph type="title" idx="4294967295"/>
          </p:nvPr>
        </p:nvSpPr>
        <p:spPr>
          <a:xfrm>
            <a:off x="838200" y="-310393"/>
            <a:ext cx="10514013" cy="31039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4400"/>
              <a:buFont typeface="Calibri"/>
              <a:buNone/>
            </a:pPr>
            <a:r>
              <a:rPr lang="en-US" sz="2000" dirty="0">
                <a:solidFill>
                  <a:schemeClr val="lt2"/>
                </a:solidFill>
                <a:latin typeface="Calibri"/>
                <a:ea typeface="Calibri"/>
                <a:cs typeface="Calibri"/>
                <a:sym typeface="Calibri"/>
              </a:rPr>
              <a:t>Day 2</a:t>
            </a:r>
            <a:endParaRPr sz="2000" dirty="0"/>
          </a:p>
        </p:txBody>
      </p:sp>
      <p:sp>
        <p:nvSpPr>
          <p:cNvPr id="629" name="Google Shape;629;p20"/>
          <p:cNvSpPr txBox="1">
            <a:spLocks noGrp="1"/>
          </p:cNvSpPr>
          <p:nvPr>
            <p:ph type="body" idx="1"/>
          </p:nvPr>
        </p:nvSpPr>
        <p:spPr>
          <a:xfrm>
            <a:off x="6451135" y="2832927"/>
            <a:ext cx="1269724" cy="107156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7500"/>
              <a:buNone/>
            </a:pPr>
            <a:r>
              <a:rPr lang="en-US" sz="7500" b="1" dirty="0">
                <a:solidFill>
                  <a:srgbClr val="000000"/>
                </a:solidFill>
                <a:latin typeface="Calibri"/>
                <a:ea typeface="Calibri"/>
                <a:cs typeface="Calibri"/>
                <a:sym typeface="Calibri"/>
              </a:rPr>
              <a:t>2</a:t>
            </a:r>
            <a:endParaRPr dirty="0"/>
          </a:p>
        </p:txBody>
      </p:sp>
      <p:sp>
        <p:nvSpPr>
          <p:cNvPr id="1629" name="Slide Number 162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21</a:t>
            </a:fld>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21"/>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Essential Question </a:t>
            </a:r>
            <a:r>
              <a:rPr lang="en-US" sz="2000" b="1" dirty="0">
                <a:solidFill>
                  <a:schemeClr val="bg1"/>
                </a:solidFill>
              </a:rPr>
              <a:t>(2 of 2)</a:t>
            </a:r>
            <a:endParaRPr dirty="0">
              <a:solidFill>
                <a:schemeClr val="bg1"/>
              </a:solidFill>
            </a:endParaRPr>
          </a:p>
        </p:txBody>
      </p:sp>
      <p:sp>
        <p:nvSpPr>
          <p:cNvPr id="636" name="Google Shape;636;p21"/>
          <p:cNvSpPr txBox="1"/>
          <p:nvPr/>
        </p:nvSpPr>
        <p:spPr>
          <a:xfrm>
            <a:off x="777240" y="1616140"/>
            <a:ext cx="10515600" cy="435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cap="none" dirty="0">
                <a:solidFill>
                  <a:srgbClr val="000000"/>
                </a:solidFill>
                <a:latin typeface="Calibri"/>
                <a:ea typeface="Calibri"/>
                <a:cs typeface="Calibri"/>
                <a:sym typeface="Calibri"/>
              </a:rPr>
              <a:t>How can you rotate the graphs of linear equations to determine the slopes of perpendicular lines</a:t>
            </a:r>
            <a:r>
              <a:rPr lang="en-US" sz="2800" dirty="0">
                <a:solidFill>
                  <a:srgbClr val="000000"/>
                </a:solidFill>
                <a:latin typeface="Calibri"/>
                <a:ea typeface="Calibri"/>
                <a:cs typeface="Calibri"/>
                <a:sym typeface="Calibri"/>
              </a:rPr>
              <a:t>?</a:t>
            </a:r>
            <a:endParaRPr dirty="0"/>
          </a:p>
        </p:txBody>
      </p:sp>
      <p:sp>
        <p:nvSpPr>
          <p:cNvPr id="1636" name="Slide Number 1636"/>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22</a:t>
            </a:fld>
          </a:p>
        </p:txBody>
      </p:sp>
      <p:sp>
        <p:nvSpPr>
          <p:cNvPr id="1637" name="Answer 1637"/>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305</a:t>
            </a:r>
          </a:p>
        </p:txBody>
      </p:sp>
      <p:sp>
        <p:nvSpPr>
          <p:cNvPr id="1638" name="Answer 1638"/>
          <p:cNvSpPr txBox="1"/>
          <p:nvPr/>
        </p:nvSpPr>
        <p:spPr>
          <a:xfrm>
            <a:off x="774700" y="2667000"/>
            <a:ext cx="10731500" cy="165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Rotating a line 90° about a point maps (x, y) to (−y, x), so a slope b/a becomes −a/b. The slopes of perpendicular lines are negative reciprocals (their product is −1). Any vertical line is perpendicular to any horizontal line.</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6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642" name="Google Shape;642;p22"/>
          <p:cNvSpPr txBox="1">
            <a:spLocks noGrp="1"/>
          </p:cNvSpPr>
          <p:nvPr>
            <p:ph type="title" idx="4294967295"/>
          </p:nvPr>
        </p:nvSpPr>
        <p:spPr>
          <a:xfrm>
            <a:off x="838200" y="-293615"/>
            <a:ext cx="10514013" cy="293615"/>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4400"/>
              <a:buFont typeface="Calibri"/>
              <a:buNone/>
            </a:pPr>
            <a:r>
              <a:rPr lang="en-US" sz="2000" dirty="0">
                <a:solidFill>
                  <a:schemeClr val="tx2"/>
                </a:solidFill>
                <a:latin typeface="Calibri"/>
                <a:ea typeface="Calibri"/>
                <a:cs typeface="Calibri"/>
                <a:sym typeface="Calibri"/>
              </a:rPr>
              <a:t>Activity 3.2</a:t>
            </a:r>
            <a:endParaRPr sz="2000" dirty="0">
              <a:solidFill>
                <a:schemeClr val="tx2"/>
              </a:solidFill>
            </a:endParaRPr>
          </a:p>
        </p:txBody>
      </p:sp>
      <p:sp>
        <p:nvSpPr>
          <p:cNvPr id="643" name="Google Shape;643;p22" descr="15 to 20 minutes"/>
          <p:cNvSpPr txBox="1">
            <a:spLocks noGrp="1"/>
          </p:cNvSpPr>
          <p:nvPr>
            <p:ph type="body" idx="2"/>
          </p:nvPr>
        </p:nvSpPr>
        <p:spPr>
          <a:xfrm>
            <a:off x="10614990" y="5780973"/>
            <a:ext cx="863947" cy="79533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71616"/>
              </a:buClr>
              <a:buSzPts val="2000"/>
              <a:buNone/>
            </a:pPr>
            <a:r>
              <a:rPr lang="en-US" b="1" dirty="0"/>
              <a:t>15–20</a:t>
            </a:r>
            <a:endParaRPr dirty="0"/>
          </a:p>
        </p:txBody>
      </p:sp>
      <p:sp>
        <p:nvSpPr>
          <p:cNvPr id="644" name="Google Shape;644;p22">
            <a:extLst>
              <a:ext uri="{C183D7F6-B498-43B3-948B-1728B52AA6E4}">
                <adec:decorative xmlns:adec="http://schemas.microsoft.com/office/drawing/2017/decorative" val="1"/>
              </a:ext>
            </a:extLst>
          </p:cNvPr>
          <p:cNvSpPr txBox="1">
            <a:spLocks noGrp="1"/>
          </p:cNvSpPr>
          <p:nvPr>
            <p:ph type="body" idx="1"/>
          </p:nvPr>
        </p:nvSpPr>
        <p:spPr>
          <a:xfrm>
            <a:off x="6769100" y="2957776"/>
            <a:ext cx="2025986" cy="112553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7500"/>
              <a:buNone/>
            </a:pPr>
            <a:r>
              <a:rPr lang="en-US"/>
              <a:t>3.2</a:t>
            </a:r>
            <a:endParaRPr/>
          </a:p>
        </p:txBody>
      </p:sp>
      <p:sp>
        <p:nvSpPr>
          <p:cNvPr id="1644" name="Slide Number 164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23</a:t>
            </a:fld>
          </a:p>
        </p:txBody>
      </p:sp>
      <p:sp>
        <p:nvSpPr>
          <p:cNvPr id="1646" name="Answer 1646"/>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400" b="1" dirty="0">
                <a:solidFill>
                  <a:srgbClr val="2E7D3C"/>
                </a:solidFill>
              </a:rPr>
              <a:t>★ Essential activity: do not skip</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23"/>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Horizontal and Vertical Lines </a:t>
            </a:r>
            <a:r>
              <a:rPr lang="en-US" sz="2000" b="1" dirty="0">
                <a:solidFill>
                  <a:schemeClr val="bg1"/>
                </a:solidFill>
              </a:rPr>
              <a:t>(1 of 7)</a:t>
            </a:r>
            <a:endParaRPr dirty="0">
              <a:solidFill>
                <a:schemeClr val="bg1"/>
              </a:solidFill>
            </a:endParaRPr>
          </a:p>
        </p:txBody>
      </p:sp>
      <p:pic>
        <p:nvPicPr>
          <p:cNvPr id="652" name="Google Shape;652;p23" descr="A graph of a line and 3 points on the coordinate plane. The line extends vertical through the points K (4, 12) and F (4, 8) and G (4, 4). The 3 other points are aligned vertically, at L (13, 12) and J (13, 8) and H (13, 4)."/>
          <p:cNvPicPr preferRelativeResize="0"/>
          <p:nvPr/>
        </p:nvPicPr>
        <p:blipFill rotWithShape="1">
          <a:blip r:embed="rId3">
            <a:alphaModFix/>
          </a:blip>
          <a:srcRect/>
          <a:stretch/>
        </p:blipFill>
        <p:spPr>
          <a:xfrm>
            <a:off x="777240" y="3470338"/>
            <a:ext cx="4519264" cy="3150835"/>
          </a:xfrm>
          <a:prstGeom prst="rect">
            <a:avLst/>
          </a:prstGeom>
          <a:noFill/>
          <a:ln>
            <a:noFill/>
          </a:ln>
        </p:spPr>
      </p:pic>
      <mc:AlternateContent xmlns:mc="http://schemas.openxmlformats.org/markup-compatibility/2006" xmlns:a14="http://schemas.microsoft.com/office/drawing/2010/main">
        <mc:Choice Requires="a14">
          <p:sp>
            <p:nvSpPr>
              <p:cNvPr id="653" name="Google Shape;653;p23"/>
              <p:cNvSpPr txBox="1"/>
              <p:nvPr/>
            </p:nvSpPr>
            <p:spPr>
              <a:xfrm>
                <a:off x="777240" y="1499711"/>
                <a:ext cx="9893556" cy="197062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1200"/>
                  </a:spcAft>
                  <a:buNone/>
                </a:pPr>
                <a:r>
                  <a:rPr lang="en-US" sz="2800" dirty="0">
                    <a:solidFill>
                      <a:srgbClr val="000000"/>
                    </a:solidFill>
                    <a:latin typeface="Calibri"/>
                    <a:ea typeface="Calibri"/>
                    <a:cs typeface="Calibri"/>
                    <a:sym typeface="Calibri"/>
                  </a:rPr>
                  <a:t>Consider the graph shown.</a:t>
                </a:r>
              </a:p>
              <a:p>
                <a:pPr marL="514350" marR="0" lvl="0" indent="-514350" algn="l" rtl="0">
                  <a:spcBef>
                    <a:spcPts val="0"/>
                  </a:spcBef>
                  <a:spcAft>
                    <a:spcPts val="0"/>
                  </a:spcAft>
                  <a:buFont typeface="+mj-lt"/>
                  <a:buAutoNum type="arabicPeriod"/>
                </a:pPr>
                <a:r>
                  <a:rPr lang="en-US" sz="2800" dirty="0">
                    <a:solidFill>
                      <a:srgbClr val="000000"/>
                    </a:solidFill>
                    <a:latin typeface="Calibri"/>
                    <a:ea typeface="Calibri"/>
                    <a:cs typeface="Calibri"/>
                    <a:sym typeface="Calibri"/>
                  </a:rPr>
                  <a:t>Use a straightedge to extend </a:t>
                </a:r>
                <a14:m>
                  <m:oMath xmlns:m="http://schemas.openxmlformats.org/officeDocument/2006/math">
                    <m:acc>
                      <m:accPr>
                        <m:chr m:val="̅"/>
                        <m:ctrlPr>
                          <a:rPr lang="ar-AE" sz="2800" i="1" smtClean="0">
                            <a:solidFill>
                              <a:srgbClr val="000000"/>
                            </a:solidFill>
                            <a:latin typeface="Cambria Math" panose="02040503050406030204" pitchFamily="18" charset="0"/>
                            <a:ea typeface="Calibri"/>
                            <a:cs typeface="Calibri"/>
                            <a:sym typeface="Calibri"/>
                          </a:rPr>
                        </m:ctrlPr>
                      </m:accPr>
                      <m:e>
                        <m:r>
                          <a:rPr lang="ar-AE" sz="2800" b="0" i="1" smtClean="0">
                            <a:solidFill>
                              <a:srgbClr val="000000"/>
                            </a:solidFill>
                            <a:latin typeface="Cambria Math" panose="02040503050406030204" pitchFamily="18" charset="0"/>
                            <a:ea typeface="Calibri"/>
                            <a:cs typeface="Calibri"/>
                            <a:sym typeface="Calibri"/>
                          </a:rPr>
                          <m:t>𝐺𝐾</m:t>
                        </m:r>
                      </m:e>
                    </m:acc>
                  </m:oMath>
                </a14:m>
                <a:r>
                  <a:rPr lang="ar-AE" sz="2800" dirty="0">
                    <a:solidFill>
                      <a:srgbClr val="000000"/>
                    </a:solidFill>
                    <a:latin typeface="Calibri"/>
                    <a:ea typeface="Calibri"/>
                    <a:cs typeface="Calibri"/>
                    <a:sym typeface="Calibri"/>
                  </a:rPr>
                  <a:t> </a:t>
                </a:r>
                <a:r>
                  <a:rPr lang="en-US" sz="2800" dirty="0">
                    <a:solidFill>
                      <a:srgbClr val="000000"/>
                    </a:solidFill>
                    <a:latin typeface="Calibri"/>
                    <a:ea typeface="Calibri"/>
                    <a:cs typeface="Calibri"/>
                    <a:sym typeface="Calibri"/>
                  </a:rPr>
                  <a:t>to create line </a:t>
                </a:r>
                <a:r>
                  <a:rPr lang="en-US" sz="2800" i="1" dirty="0">
                    <a:solidFill>
                      <a:srgbClr val="000000"/>
                    </a:solidFill>
                    <a:latin typeface="Calibri"/>
                    <a:ea typeface="Calibri"/>
                    <a:cs typeface="Calibri"/>
                    <a:sym typeface="Calibri"/>
                  </a:rPr>
                  <a:t>p</a:t>
                </a:r>
                <a:r>
                  <a:rPr lang="en-US" sz="2800" dirty="0">
                    <a:solidFill>
                      <a:srgbClr val="000000"/>
                    </a:solidFill>
                    <a:latin typeface="Calibri"/>
                    <a:ea typeface="Calibri"/>
                    <a:cs typeface="Calibri"/>
                    <a:sym typeface="Calibri"/>
                  </a:rPr>
                  <a:t>, extend </a:t>
                </a:r>
                <a14:m>
                  <m:oMath xmlns:m="http://schemas.openxmlformats.org/officeDocument/2006/math">
                    <m:acc>
                      <m:accPr>
                        <m:chr m:val="̅"/>
                        <m:ctrlPr>
                          <a:rPr lang="en-US" sz="2800" i="1" smtClean="0">
                            <a:solidFill>
                              <a:srgbClr val="000000"/>
                            </a:solidFill>
                            <a:latin typeface="Cambria Math" panose="02040503050406030204" pitchFamily="18" charset="0"/>
                            <a:ea typeface="Calibri"/>
                            <a:cs typeface="Calibri"/>
                            <a:sym typeface="Calibri"/>
                          </a:rPr>
                        </m:ctrlPr>
                      </m:accPr>
                      <m:e>
                        <m:r>
                          <a:rPr lang="en-US" sz="2800" b="0" i="1" smtClean="0">
                            <a:solidFill>
                              <a:srgbClr val="000000"/>
                            </a:solidFill>
                            <a:latin typeface="Cambria Math" panose="02040503050406030204" pitchFamily="18" charset="0"/>
                            <a:ea typeface="Calibri"/>
                            <a:cs typeface="Calibri"/>
                            <a:sym typeface="Calibri"/>
                          </a:rPr>
                          <m:t>𝐺𝐻</m:t>
                        </m:r>
                      </m:e>
                    </m:acc>
                  </m:oMath>
                </a14:m>
                <a:r>
                  <a:rPr lang="en-US" sz="2800" dirty="0">
                    <a:solidFill>
                      <a:srgbClr val="000000"/>
                    </a:solidFill>
                    <a:latin typeface="Calibri"/>
                    <a:ea typeface="Calibri"/>
                    <a:cs typeface="Calibri"/>
                    <a:sym typeface="Calibri"/>
                  </a:rPr>
                  <a:t> to create line </a:t>
                </a:r>
                <a:r>
                  <a:rPr lang="en-US" sz="2800" i="1" dirty="0">
                    <a:solidFill>
                      <a:srgbClr val="000000"/>
                    </a:solidFill>
                    <a:latin typeface="Calibri"/>
                    <a:ea typeface="Calibri"/>
                    <a:cs typeface="Calibri"/>
                    <a:sym typeface="Calibri"/>
                  </a:rPr>
                  <a:t>q</a:t>
                </a:r>
                <a:r>
                  <a:rPr lang="en-US" sz="2800" dirty="0">
                    <a:solidFill>
                      <a:srgbClr val="000000"/>
                    </a:solidFill>
                    <a:latin typeface="Calibri"/>
                    <a:ea typeface="Calibri"/>
                    <a:cs typeface="Calibri"/>
                    <a:sym typeface="Calibri"/>
                  </a:rPr>
                  <a:t>, extend </a:t>
                </a:r>
                <a14:m>
                  <m:oMath xmlns:m="http://schemas.openxmlformats.org/officeDocument/2006/math">
                    <m:acc>
                      <m:accPr>
                        <m:chr m:val="̅"/>
                        <m:ctrlPr>
                          <a:rPr lang="en-US" sz="2800" i="1" smtClean="0">
                            <a:solidFill>
                              <a:srgbClr val="000000"/>
                            </a:solidFill>
                            <a:latin typeface="Cambria Math" panose="02040503050406030204" pitchFamily="18" charset="0"/>
                            <a:ea typeface="Calibri"/>
                            <a:cs typeface="Calibri"/>
                            <a:sym typeface="Calibri"/>
                          </a:rPr>
                        </m:ctrlPr>
                      </m:accPr>
                      <m:e>
                        <m:r>
                          <a:rPr lang="en-US" sz="2800" b="0" i="1" smtClean="0">
                            <a:solidFill>
                              <a:srgbClr val="000000"/>
                            </a:solidFill>
                            <a:latin typeface="Cambria Math" panose="02040503050406030204" pitchFamily="18" charset="0"/>
                            <a:ea typeface="Calibri"/>
                            <a:cs typeface="Calibri"/>
                            <a:sym typeface="Calibri"/>
                          </a:rPr>
                          <m:t>𝐹𝐽</m:t>
                        </m:r>
                      </m:e>
                    </m:acc>
                  </m:oMath>
                </a14:m>
                <a:r>
                  <a:rPr lang="en-US" sz="2800" dirty="0">
                    <a:solidFill>
                      <a:srgbClr val="000000"/>
                    </a:solidFill>
                    <a:latin typeface="Calibri"/>
                    <a:ea typeface="Calibri"/>
                    <a:cs typeface="Calibri"/>
                    <a:sym typeface="Calibri"/>
                  </a:rPr>
                  <a:t> to create line </a:t>
                </a:r>
                <a:r>
                  <a:rPr lang="en-US" sz="2800" i="1" dirty="0">
                    <a:solidFill>
                      <a:srgbClr val="000000"/>
                    </a:solidFill>
                    <a:latin typeface="Calibri"/>
                    <a:ea typeface="Calibri"/>
                    <a:cs typeface="Calibri"/>
                    <a:sym typeface="Calibri"/>
                  </a:rPr>
                  <a:t>r</a:t>
                </a:r>
                <a:r>
                  <a:rPr lang="en-US" sz="2800" dirty="0">
                    <a:solidFill>
                      <a:srgbClr val="000000"/>
                    </a:solidFill>
                    <a:latin typeface="Calibri"/>
                    <a:ea typeface="Calibri"/>
                    <a:cs typeface="Calibri"/>
                    <a:sym typeface="Calibri"/>
                  </a:rPr>
                  <a:t>, and extend </a:t>
                </a:r>
                <a14:m>
                  <m:oMath xmlns:m="http://schemas.openxmlformats.org/officeDocument/2006/math">
                    <m:acc>
                      <m:accPr>
                        <m:chr m:val="̅"/>
                        <m:ctrlPr>
                          <a:rPr lang="en-US" sz="2800" i="1" smtClean="0">
                            <a:solidFill>
                              <a:srgbClr val="000000"/>
                            </a:solidFill>
                            <a:latin typeface="Cambria Math" panose="02040503050406030204" pitchFamily="18" charset="0"/>
                            <a:ea typeface="Calibri"/>
                            <a:cs typeface="Calibri"/>
                            <a:sym typeface="Calibri"/>
                          </a:rPr>
                        </m:ctrlPr>
                      </m:accPr>
                      <m:e>
                        <m:r>
                          <a:rPr lang="en-US" sz="2800" b="0" i="1" smtClean="0">
                            <a:solidFill>
                              <a:srgbClr val="000000"/>
                            </a:solidFill>
                            <a:latin typeface="Cambria Math" panose="02040503050406030204" pitchFamily="18" charset="0"/>
                            <a:ea typeface="Calibri"/>
                            <a:cs typeface="Calibri"/>
                            <a:sym typeface="Calibri"/>
                          </a:rPr>
                          <m:t>𝐾𝐿</m:t>
                        </m:r>
                      </m:e>
                    </m:acc>
                  </m:oMath>
                </a14:m>
                <a:r>
                  <a:rPr lang="en-US" sz="2800" dirty="0">
                    <a:solidFill>
                      <a:srgbClr val="000000"/>
                    </a:solidFill>
                    <a:latin typeface="Calibri"/>
                    <a:ea typeface="Calibri"/>
                    <a:cs typeface="Calibri"/>
                    <a:sym typeface="Calibri"/>
                  </a:rPr>
                  <a:t> to create line </a:t>
                </a:r>
                <a:r>
                  <a:rPr lang="en-US" sz="2800" i="1" dirty="0">
                    <a:solidFill>
                      <a:srgbClr val="000000"/>
                    </a:solidFill>
                    <a:latin typeface="Calibri"/>
                    <a:ea typeface="Calibri"/>
                    <a:cs typeface="Calibri"/>
                    <a:sym typeface="Calibri"/>
                  </a:rPr>
                  <a:t>s</a:t>
                </a:r>
                <a:r>
                  <a:rPr lang="en-US" sz="2800" dirty="0">
                    <a:solidFill>
                      <a:srgbClr val="000000"/>
                    </a:solidFill>
                    <a:latin typeface="Calibri"/>
                    <a:ea typeface="Calibri"/>
                    <a:cs typeface="Calibri"/>
                    <a:sym typeface="Calibri"/>
                  </a:rPr>
                  <a:t>.</a:t>
                </a:r>
              </a:p>
            </p:txBody>
          </p:sp>
        </mc:Choice>
        <mc:Fallback xmlns="">
          <p:sp>
            <p:nvSpPr>
              <p:cNvPr id="653" name="Google Shape;653;p23"/>
              <p:cNvSpPr txBox="1">
                <a:spLocks noRot="1" noChangeAspect="1" noMove="1" noResize="1" noEditPoints="1" noAdjustHandles="1" noChangeArrowheads="1" noChangeShapeType="1" noTextEdit="1"/>
              </p:cNvSpPr>
              <p:nvPr/>
            </p:nvSpPr>
            <p:spPr>
              <a:xfrm>
                <a:off x="777240" y="1499711"/>
                <a:ext cx="9893556" cy="1970627"/>
              </a:xfrm>
              <a:prstGeom prst="rect">
                <a:avLst/>
              </a:prstGeom>
              <a:blipFill>
                <a:blip r:embed="rId4"/>
                <a:stretch>
                  <a:fillRect l="-1356" t="-2786" r="-1171" b="-8050"/>
                </a:stretch>
              </a:blipFill>
              <a:ln>
                <a:noFill/>
              </a:ln>
            </p:spPr>
            <p:txBody>
              <a:bodyPr/>
              <a:lstStyle/>
              <a:p>
                <a:r>
                  <a:rPr lang="en-US">
                    <a:noFill/>
                  </a:rPr>
                  <a:t> </a:t>
                </a:r>
              </a:p>
            </p:txBody>
          </p:sp>
        </mc:Fallback>
      </mc:AlternateContent>
      <p:sp>
        <p:nvSpPr>
          <p:cNvPr id="1653" name="Slide Number 165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24</a:t>
            </a:fld>
          </a:p>
        </p:txBody>
      </p:sp>
      <p:sp>
        <p:nvSpPr>
          <p:cNvPr id="1654" name="Answer 1654"/>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310</a:t>
            </a:r>
          </a:p>
        </p:txBody>
      </p:sp>
      <p:sp>
        <p:nvSpPr>
          <p:cNvPr id="1655" name="Answer 1655"/>
          <p:cNvSpPr txBox="1"/>
          <p:nvPr/>
        </p:nvSpPr>
        <p:spPr>
          <a:xfrm>
            <a:off x="5588000" y="3810000"/>
            <a:ext cx="6350000" cy="190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Line p is the vertical line x = 4.</a:t>
            </a:r>
          </a:p>
          <a:p>
            <a:pPr marL="0" indent="0" algn="l">
              <a:spcBef>
                <a:spcPts val="0"/>
              </a:spcBef>
              <a:spcAft>
                <a:spcPts val="300"/>
              </a:spcAft>
              <a:buNone/>
            </a:pPr>
            <a:r>
              <a:rPr lang="en-US" sz="2200" dirty="0">
                <a:solidFill>
                  <a:srgbClr val="FF0000"/>
                </a:solidFill>
              </a:rPr>
              <a:t>Lines q, r and s are the horizontal lines y = 4, y = 8 and y = 12.</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6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24"/>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Horizontal and Vertical Lines </a:t>
            </a:r>
            <a:r>
              <a:rPr lang="en-US" sz="2000" b="1" dirty="0">
                <a:solidFill>
                  <a:schemeClr val="bg1"/>
                </a:solidFill>
              </a:rPr>
              <a:t>(2 of 7)</a:t>
            </a:r>
            <a:endParaRPr dirty="0">
              <a:solidFill>
                <a:schemeClr val="bg1"/>
              </a:solidFill>
            </a:endParaRPr>
          </a:p>
        </p:txBody>
      </p:sp>
      <p:sp>
        <p:nvSpPr>
          <p:cNvPr id="2" name="Google Shape;653;p23">
            <a:extLst>
              <a:ext uri="{FF2B5EF4-FFF2-40B4-BE49-F238E27FC236}">
                <a16:creationId xmlns:a16="http://schemas.microsoft.com/office/drawing/2014/main" id="{6DE2DED4-3C19-3539-2900-E12994A38867}"/>
              </a:ext>
            </a:extLst>
          </p:cNvPr>
          <p:cNvSpPr txBox="1"/>
          <p:nvPr/>
        </p:nvSpPr>
        <p:spPr>
          <a:xfrm>
            <a:off x="777239" y="1591990"/>
            <a:ext cx="10036169" cy="3108503"/>
          </a:xfrm>
          <a:prstGeom prst="rect">
            <a:avLst/>
          </a:prstGeom>
          <a:noFill/>
          <a:ln>
            <a:noFill/>
          </a:ln>
        </p:spPr>
        <p:txBody>
          <a:bodyPr spcFirstLastPara="1" wrap="square" lIns="91425" tIns="45700" rIns="91425" bIns="45700" anchor="t" anchorCtr="0">
            <a:spAutoFit/>
          </a:bodyPr>
          <a:lstStyle/>
          <a:p>
            <a:pPr marL="514350" marR="0" lvl="0" indent="-514350" algn="l" rtl="0">
              <a:spcBef>
                <a:spcPts val="0"/>
              </a:spcBef>
              <a:spcAft>
                <a:spcPts val="3480"/>
              </a:spcAft>
              <a:buFont typeface="+mj-lt"/>
              <a:buAutoNum type="arabicPeriod" startAt="2"/>
            </a:pPr>
            <a:r>
              <a:rPr lang="en-US" sz="2800" dirty="0">
                <a:solidFill>
                  <a:srgbClr val="000000"/>
                </a:solidFill>
                <a:latin typeface="Calibri"/>
                <a:ea typeface="Calibri"/>
                <a:cs typeface="Calibri"/>
                <a:sym typeface="Calibri"/>
              </a:rPr>
              <a:t>Consider the three horizontal lines you drew for Question 1. For any horizontal line, if </a:t>
            </a:r>
            <a:r>
              <a:rPr lang="en-US" sz="2800" i="1" dirty="0">
                <a:solidFill>
                  <a:srgbClr val="000000"/>
                </a:solidFill>
                <a:latin typeface="Calibri"/>
                <a:ea typeface="Calibri"/>
                <a:cs typeface="Calibri"/>
                <a:sym typeface="Calibri"/>
              </a:rPr>
              <a:t>x</a:t>
            </a:r>
            <a:r>
              <a:rPr lang="en-US" sz="2800" dirty="0">
                <a:solidFill>
                  <a:srgbClr val="000000"/>
                </a:solidFill>
                <a:latin typeface="Calibri"/>
                <a:ea typeface="Calibri"/>
                <a:cs typeface="Calibri"/>
                <a:sym typeface="Calibri"/>
              </a:rPr>
              <a:t> increases by one unit, by how many units does </a:t>
            </a:r>
            <a:r>
              <a:rPr lang="en-US" sz="2800" i="1" dirty="0">
                <a:solidFill>
                  <a:srgbClr val="000000"/>
                </a:solidFill>
                <a:latin typeface="Calibri"/>
                <a:ea typeface="Calibri"/>
                <a:cs typeface="Calibri"/>
                <a:sym typeface="Calibri"/>
              </a:rPr>
              <a:t>y</a:t>
            </a:r>
            <a:r>
              <a:rPr lang="en-US" sz="2800" dirty="0">
                <a:solidFill>
                  <a:srgbClr val="000000"/>
                </a:solidFill>
                <a:latin typeface="Calibri"/>
                <a:ea typeface="Calibri"/>
                <a:cs typeface="Calibri"/>
                <a:sym typeface="Calibri"/>
              </a:rPr>
              <a:t> change?</a:t>
            </a:r>
            <a:br>
              <a:rPr lang="en-US" sz="2800" dirty="0">
                <a:solidFill>
                  <a:srgbClr val="000000"/>
                </a:solidFill>
                <a:latin typeface="Calibri"/>
                <a:ea typeface="Calibri"/>
                <a:cs typeface="Calibri"/>
                <a:sym typeface="Calibri"/>
              </a:rPr>
            </a:br>
            <a:br>
              <a:rPr lang="en-US" sz="2800" dirty="0">
                <a:solidFill>
                  <a:srgbClr val="000000"/>
                </a:solidFill>
                <a:latin typeface="Calibri"/>
                <a:ea typeface="Calibri"/>
                <a:cs typeface="Calibri"/>
                <a:sym typeface="Calibri"/>
              </a:rPr>
            </a:br>
            <a:br>
              <a:rPr lang="en-US" sz="2800" dirty="0">
                <a:solidFill>
                  <a:srgbClr val="000000"/>
                </a:solidFill>
                <a:latin typeface="Calibri"/>
                <a:ea typeface="Calibri"/>
                <a:cs typeface="Calibri"/>
                <a:sym typeface="Calibri"/>
              </a:rPr>
            </a:br>
            <a:endParaRPr lang="en-US" sz="2800" dirty="0">
              <a:solidFill>
                <a:srgbClr val="000000"/>
              </a:solidFill>
              <a:latin typeface="Calibri"/>
              <a:ea typeface="Calibri"/>
              <a:cs typeface="Calibri"/>
              <a:sym typeface="Calibri"/>
            </a:endParaRPr>
          </a:p>
          <a:p>
            <a:pPr marL="514350" marR="0" lvl="0" indent="-514350" algn="l" rtl="0">
              <a:spcBef>
                <a:spcPts val="0"/>
              </a:spcBef>
              <a:spcAft>
                <a:spcPts val="5680"/>
              </a:spcAft>
              <a:buFont typeface="+mj-lt"/>
              <a:buAutoNum type="arabicPeriod" startAt="2"/>
            </a:pPr>
            <a:r>
              <a:rPr lang="en-US" sz="2800" dirty="0">
                <a:latin typeface="Calibri"/>
                <a:ea typeface="Calibri"/>
                <a:cs typeface="Calibri"/>
                <a:sym typeface="Calibri"/>
              </a:rPr>
              <a:t>Describe the slope of any horizontal line. Explain your reasoning.</a:t>
            </a:r>
            <a:endParaRPr lang="en-US" sz="2800" dirty="0">
              <a:solidFill>
                <a:srgbClr val="000000"/>
              </a:solidFill>
              <a:latin typeface="Calibri"/>
              <a:ea typeface="Calibri"/>
              <a:cs typeface="Calibri"/>
              <a:sym typeface="Calibri"/>
            </a:endParaRPr>
          </a:p>
        </p:txBody>
      </p:sp>
      <p:sp>
        <p:nvSpPr>
          <p:cNvPr id="1659" name="Slide Number 165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25</a:t>
            </a:fld>
          </a:p>
        </p:txBody>
      </p:sp>
      <p:sp>
        <p:nvSpPr>
          <p:cNvPr id="1660" name="Answer 166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310</a:t>
            </a:r>
          </a:p>
        </p:txBody>
      </p:sp>
      <p:sp>
        <p:nvSpPr>
          <p:cNvPr id="1661" name="Answer 1661"/>
          <p:cNvSpPr txBox="1"/>
          <p:nvPr/>
        </p:nvSpPr>
        <p:spPr>
          <a:xfrm>
            <a:off x="1339850" y="2952750"/>
            <a:ext cx="9385300" cy="3937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The value of y does not change: it changes by 0 units.</a:t>
            </a:r>
          </a:p>
        </p:txBody>
      </p:sp>
      <p:sp>
        <p:nvSpPr>
          <p:cNvPr id="1662" name="Answer 1662"/>
          <p:cNvSpPr txBox="1"/>
          <p:nvPr/>
        </p:nvSpPr>
        <p:spPr>
          <a:xfrm>
            <a:off x="1339850" y="4260850"/>
            <a:ext cx="9385300" cy="6731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The slope of any horizontal line is 0. The value of y stays the same, so m = (y2 − y1)/(x2 − x1) = 0/(x2 − x1) = 0.</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66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6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25"/>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Horizontal and Vertical Lines </a:t>
            </a:r>
            <a:r>
              <a:rPr lang="en-US" sz="2000" b="1" dirty="0">
                <a:solidFill>
                  <a:schemeClr val="bg1"/>
                </a:solidFill>
              </a:rPr>
              <a:t>(3 of 7)</a:t>
            </a:r>
            <a:endParaRPr dirty="0">
              <a:solidFill>
                <a:schemeClr val="bg1"/>
              </a:solidFill>
            </a:endParaRPr>
          </a:p>
        </p:txBody>
      </p:sp>
      <p:sp>
        <p:nvSpPr>
          <p:cNvPr id="2" name="Google Shape;653;p23">
            <a:extLst>
              <a:ext uri="{FF2B5EF4-FFF2-40B4-BE49-F238E27FC236}">
                <a16:creationId xmlns:a16="http://schemas.microsoft.com/office/drawing/2014/main" id="{0D555F19-AE41-A5F5-5E92-496F59924DD6}"/>
              </a:ext>
            </a:extLst>
          </p:cNvPr>
          <p:cNvSpPr txBox="1"/>
          <p:nvPr/>
        </p:nvSpPr>
        <p:spPr>
          <a:xfrm>
            <a:off x="777239" y="1591990"/>
            <a:ext cx="10036169" cy="2677616"/>
          </a:xfrm>
          <a:prstGeom prst="rect">
            <a:avLst/>
          </a:prstGeom>
          <a:noFill/>
          <a:ln>
            <a:noFill/>
          </a:ln>
        </p:spPr>
        <p:txBody>
          <a:bodyPr spcFirstLastPara="1" wrap="square" lIns="91425" tIns="45700" rIns="91425" bIns="45700" anchor="t" anchorCtr="0">
            <a:spAutoFit/>
          </a:bodyPr>
          <a:lstStyle/>
          <a:p>
            <a:pPr marL="514350" marR="0" lvl="0" indent="-514350" algn="l" rtl="0">
              <a:spcBef>
                <a:spcPts val="0"/>
              </a:spcBef>
              <a:spcAft>
                <a:spcPts val="3480"/>
              </a:spcAft>
              <a:buFont typeface="+mj-lt"/>
              <a:buAutoNum type="arabicPeriod" startAt="4"/>
            </a:pPr>
            <a:r>
              <a:rPr lang="en-US" sz="2800" dirty="0">
                <a:solidFill>
                  <a:srgbClr val="000000"/>
                </a:solidFill>
                <a:latin typeface="Calibri"/>
                <a:ea typeface="Calibri"/>
                <a:cs typeface="Calibri"/>
                <a:sym typeface="Calibri"/>
              </a:rPr>
              <a:t>Consider the vertical line you drew in Question 1. Suppose that </a:t>
            </a:r>
            <a:r>
              <a:rPr lang="en-US" sz="2800" i="1" dirty="0">
                <a:solidFill>
                  <a:srgbClr val="000000"/>
                </a:solidFill>
                <a:latin typeface="Calibri"/>
                <a:ea typeface="Calibri"/>
                <a:cs typeface="Calibri"/>
                <a:sym typeface="Calibri"/>
              </a:rPr>
              <a:t>y</a:t>
            </a:r>
            <a:r>
              <a:rPr lang="en-US" sz="2800" dirty="0">
                <a:solidFill>
                  <a:srgbClr val="000000"/>
                </a:solidFill>
                <a:latin typeface="Calibri"/>
                <a:ea typeface="Calibri"/>
                <a:cs typeface="Calibri"/>
                <a:sym typeface="Calibri"/>
              </a:rPr>
              <a:t> increases by one unit. By how many units does </a:t>
            </a:r>
            <a:r>
              <a:rPr lang="en-US" sz="2800" i="1" dirty="0">
                <a:solidFill>
                  <a:srgbClr val="000000"/>
                </a:solidFill>
                <a:latin typeface="Calibri"/>
                <a:ea typeface="Calibri"/>
                <a:cs typeface="Calibri"/>
                <a:sym typeface="Calibri"/>
              </a:rPr>
              <a:t>x</a:t>
            </a:r>
            <a:r>
              <a:rPr lang="en-US" sz="2800" dirty="0">
                <a:solidFill>
                  <a:srgbClr val="000000"/>
                </a:solidFill>
                <a:latin typeface="Calibri"/>
                <a:ea typeface="Calibri"/>
                <a:cs typeface="Calibri"/>
                <a:sym typeface="Calibri"/>
              </a:rPr>
              <a:t> change?</a:t>
            </a:r>
            <a:br>
              <a:rPr lang="en-US" sz="2800" dirty="0">
                <a:solidFill>
                  <a:srgbClr val="000000"/>
                </a:solidFill>
                <a:latin typeface="Calibri"/>
                <a:ea typeface="Calibri"/>
                <a:cs typeface="Calibri"/>
                <a:sym typeface="Calibri"/>
              </a:rPr>
            </a:br>
            <a:br>
              <a:rPr lang="en-US" sz="2800" dirty="0">
                <a:solidFill>
                  <a:srgbClr val="000000"/>
                </a:solidFill>
                <a:latin typeface="Calibri"/>
                <a:ea typeface="Calibri"/>
                <a:cs typeface="Calibri"/>
                <a:sym typeface="Calibri"/>
              </a:rPr>
            </a:br>
            <a:br>
              <a:rPr lang="en-US" sz="2800" dirty="0">
                <a:solidFill>
                  <a:srgbClr val="000000"/>
                </a:solidFill>
                <a:latin typeface="Calibri"/>
                <a:ea typeface="Calibri"/>
                <a:cs typeface="Calibri"/>
                <a:sym typeface="Calibri"/>
              </a:rPr>
            </a:br>
            <a:endParaRPr lang="en-US" sz="2800" dirty="0">
              <a:solidFill>
                <a:srgbClr val="000000"/>
              </a:solidFill>
              <a:latin typeface="Calibri"/>
              <a:ea typeface="Calibri"/>
              <a:cs typeface="Calibri"/>
              <a:sym typeface="Calibri"/>
            </a:endParaRPr>
          </a:p>
          <a:p>
            <a:pPr marL="514350" marR="0" lvl="0" indent="-514350" algn="l" rtl="0">
              <a:spcBef>
                <a:spcPts val="0"/>
              </a:spcBef>
              <a:spcAft>
                <a:spcPts val="5680"/>
              </a:spcAft>
              <a:buFont typeface="+mj-lt"/>
              <a:buAutoNum type="arabicPeriod" startAt="4"/>
            </a:pPr>
            <a:r>
              <a:rPr lang="en-US" sz="2800" dirty="0">
                <a:latin typeface="Calibri"/>
                <a:ea typeface="Calibri"/>
                <a:cs typeface="Calibri"/>
                <a:sym typeface="Calibri"/>
              </a:rPr>
              <a:t>Describe the slope of any vertical line. Explain your reasoning.</a:t>
            </a:r>
            <a:endParaRPr lang="en-US" sz="2800" dirty="0">
              <a:solidFill>
                <a:srgbClr val="000000"/>
              </a:solidFill>
              <a:latin typeface="Calibri"/>
              <a:ea typeface="Calibri"/>
              <a:cs typeface="Calibri"/>
              <a:sym typeface="Calibri"/>
            </a:endParaRPr>
          </a:p>
        </p:txBody>
      </p:sp>
      <p:sp>
        <p:nvSpPr>
          <p:cNvPr id="1666" name="Slide Number 1666"/>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26</a:t>
            </a:fld>
          </a:p>
        </p:txBody>
      </p:sp>
      <p:sp>
        <p:nvSpPr>
          <p:cNvPr id="1667" name="Answer 1667"/>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310</a:t>
            </a:r>
          </a:p>
        </p:txBody>
      </p:sp>
      <p:sp>
        <p:nvSpPr>
          <p:cNvPr id="1668" name="Answer 1668"/>
          <p:cNvSpPr txBox="1"/>
          <p:nvPr/>
        </p:nvSpPr>
        <p:spPr>
          <a:xfrm>
            <a:off x="1339850" y="2520950"/>
            <a:ext cx="9385300" cy="3937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The value of x does not change: it changes by 0 units.</a:t>
            </a:r>
          </a:p>
        </p:txBody>
      </p:sp>
      <p:sp>
        <p:nvSpPr>
          <p:cNvPr id="1669" name="Answer 1669"/>
          <p:cNvSpPr txBox="1"/>
          <p:nvPr/>
        </p:nvSpPr>
        <p:spPr>
          <a:xfrm>
            <a:off x="1339850" y="3390900"/>
            <a:ext cx="9385300" cy="6731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The slope of any vertical line is undefined. The value of x stays the same, so m = (y2 − y1)/(x2 − x1) = (y2 − y1)/0, which is undefined.</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66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6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26"/>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Horizontal and Vertical Lines </a:t>
            </a:r>
            <a:r>
              <a:rPr lang="en-US" sz="2000" b="1" dirty="0">
                <a:solidFill>
                  <a:schemeClr val="bg1"/>
                </a:solidFill>
              </a:rPr>
              <a:t>(4 of 7)</a:t>
            </a:r>
            <a:endParaRPr dirty="0">
              <a:solidFill>
                <a:schemeClr val="bg1"/>
              </a:solidFill>
            </a:endParaRPr>
          </a:p>
        </p:txBody>
      </p:sp>
      <p:sp>
        <p:nvSpPr>
          <p:cNvPr id="674" name="Google Shape;674;p26"/>
          <p:cNvSpPr txBox="1"/>
          <p:nvPr/>
        </p:nvSpPr>
        <p:spPr>
          <a:xfrm>
            <a:off x="777240" y="1610686"/>
            <a:ext cx="9893718" cy="4630723"/>
          </a:xfrm>
          <a:prstGeom prst="rect">
            <a:avLst/>
          </a:prstGeom>
          <a:noFill/>
          <a:ln>
            <a:noFill/>
          </a:ln>
        </p:spPr>
        <p:txBody>
          <a:bodyPr spcFirstLastPara="1" wrap="square" lIns="91425" tIns="45700" rIns="91425" bIns="45700" anchor="t" anchorCtr="0">
            <a:noAutofit/>
          </a:bodyPr>
          <a:lstStyle/>
          <a:p>
            <a:pPr marL="511175" marR="0" lvl="0" indent="-511175" algn="l" rtl="0">
              <a:spcBef>
                <a:spcPts val="0"/>
              </a:spcBef>
              <a:spcAft>
                <a:spcPts val="600"/>
              </a:spcAft>
              <a:buClr>
                <a:srgbClr val="000000"/>
              </a:buClr>
              <a:buSzPct val="100000"/>
              <a:buFont typeface="Calibri"/>
              <a:buAutoNum type="arabicPeriod" startAt="6"/>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Determine whether each of the given statements is always, sometimes, or never true. Explain your reasoning.</a:t>
            </a:r>
          </a:p>
          <a:p>
            <a:pPr marL="1035050" lvl="1" indent="-514350">
              <a:buSzPct val="100000"/>
              <a:buFont typeface="+mj-lt"/>
              <a:buAutoNum type="alphaLcPeriod"/>
            </a:pPr>
            <a:r>
              <a:rPr lang="en-US" sz="2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All vertical lines are parallel.</a:t>
            </a:r>
            <a:br>
              <a:rPr lang="en-US" sz="2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br>
            <a:br>
              <a:rPr lang="en-US" sz="2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br>
            <a:endParaRPr lang="en-US" sz="2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1035050" lvl="1" indent="-514350">
              <a:buSzPct val="100000"/>
              <a:buFont typeface="+mj-lt"/>
              <a:buAutoNum type="alphaLcPeriod"/>
            </a:pPr>
            <a:r>
              <a:rPr lang="en-US" sz="2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All horizontal lines are parallel. </a:t>
            </a:r>
            <a:endParaRPr sz="2800" dirty="0">
              <a:latin typeface="Calibri" panose="020F0502020204030204" pitchFamily="34" charset="0"/>
              <a:ea typeface="Calibri" panose="020F0502020204030204" pitchFamily="34" charset="0"/>
              <a:cs typeface="Calibri" panose="020F0502020204030204" pitchFamily="34" charset="0"/>
            </a:endParaRPr>
          </a:p>
          <a:p>
            <a:pPr marL="457200" marR="0" lvl="0" indent="-304800" algn="l" rtl="0">
              <a:spcBef>
                <a:spcPts val="480"/>
              </a:spcBef>
              <a:spcAft>
                <a:spcPts val="0"/>
              </a:spcAft>
              <a:buClr>
                <a:schemeClr val="dk1"/>
              </a:buClr>
              <a:buSzPts val="2400"/>
              <a:buFont typeface="Arial"/>
              <a:buNone/>
            </a:pPr>
            <a:endParaRPr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spcBef>
                <a:spcPts val="480"/>
              </a:spcBef>
              <a:spcAft>
                <a:spcPts val="0"/>
              </a:spcAft>
              <a:buClr>
                <a:srgbClr val="000000"/>
              </a:buClr>
              <a:buSzPts val="2400"/>
              <a:buFont typeface="Arial"/>
              <a:buNone/>
            </a:pPr>
            <a:endParaRPr lang="en-US" sz="2800" dirty="0">
              <a:latin typeface="Calibri" panose="020F0502020204030204" pitchFamily="34" charset="0"/>
              <a:ea typeface="Calibri" panose="020F0502020204030204" pitchFamily="34" charset="0"/>
              <a:cs typeface="Calibri" panose="020F0502020204030204" pitchFamily="34" charset="0"/>
              <a:sym typeface="Calibri"/>
            </a:endParaRPr>
          </a:p>
          <a:p>
            <a:pPr marL="514350" marR="0" lvl="0" indent="-514350" algn="l" rtl="0">
              <a:spcBef>
                <a:spcPts val="480"/>
              </a:spcBef>
              <a:spcAft>
                <a:spcPts val="0"/>
              </a:spcAft>
              <a:buClr>
                <a:srgbClr val="000000"/>
              </a:buClr>
              <a:buSzPct val="100000"/>
              <a:buFont typeface="+mj-lt"/>
              <a:buAutoNum type="arabicPeriod" startAt="7"/>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Describe the relationship between any vertical line and any horizontal line.</a:t>
            </a:r>
            <a:endParaRPr sz="2800" dirty="0">
              <a:latin typeface="Calibri" panose="020F0502020204030204" pitchFamily="34" charset="0"/>
              <a:ea typeface="Calibri" panose="020F0502020204030204" pitchFamily="34" charset="0"/>
              <a:cs typeface="Calibri" panose="020F0502020204030204" pitchFamily="34" charset="0"/>
            </a:endParaRPr>
          </a:p>
        </p:txBody>
      </p:sp>
      <p:sp>
        <p:nvSpPr>
          <p:cNvPr id="1674" name="Slide Number 167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27</a:t>
            </a:fld>
          </a:p>
        </p:txBody>
      </p:sp>
      <p:sp>
        <p:nvSpPr>
          <p:cNvPr id="1675" name="Answer 167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311</a:t>
            </a:r>
          </a:p>
        </p:txBody>
      </p:sp>
      <p:sp>
        <p:nvSpPr>
          <p:cNvPr id="1676" name="Answer 1676"/>
          <p:cNvSpPr txBox="1"/>
          <p:nvPr/>
        </p:nvSpPr>
        <p:spPr>
          <a:xfrm>
            <a:off x="6565900" y="2603500"/>
            <a:ext cx="5435600" cy="6223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Always. All vertical lines have an undefined slope, so they are parallel.</a:t>
            </a:r>
          </a:p>
        </p:txBody>
      </p:sp>
      <p:sp>
        <p:nvSpPr>
          <p:cNvPr id="1677" name="Answer 1677"/>
          <p:cNvSpPr txBox="1"/>
          <p:nvPr/>
        </p:nvSpPr>
        <p:spPr>
          <a:xfrm>
            <a:off x="6565900" y="3378200"/>
            <a:ext cx="5435600" cy="6223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Always. All horizontal lines have slope 0, so they are parallel.</a:t>
            </a:r>
          </a:p>
        </p:txBody>
      </p:sp>
      <p:sp>
        <p:nvSpPr>
          <p:cNvPr id="1678" name="Answer 1678"/>
          <p:cNvSpPr txBox="1"/>
          <p:nvPr/>
        </p:nvSpPr>
        <p:spPr>
          <a:xfrm>
            <a:off x="774700" y="5372100"/>
            <a:ext cx="10795000" cy="4064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Any vertical line and any horizontal line are always perpendicular.</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67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67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27"/>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Horizontal and Vertical Lines </a:t>
            </a:r>
            <a:r>
              <a:rPr lang="en-US" sz="2000" b="1" dirty="0">
                <a:solidFill>
                  <a:schemeClr val="bg1"/>
                </a:solidFill>
              </a:rPr>
              <a:t>(5 of 7)</a:t>
            </a:r>
            <a:endParaRPr dirty="0">
              <a:solidFill>
                <a:schemeClr val="bg1"/>
              </a:solidFill>
            </a:endParaRPr>
          </a:p>
        </p:txBody>
      </p:sp>
      <p:sp>
        <p:nvSpPr>
          <p:cNvPr id="2" name="Google Shape;674;p26">
            <a:extLst>
              <a:ext uri="{FF2B5EF4-FFF2-40B4-BE49-F238E27FC236}">
                <a16:creationId xmlns:a16="http://schemas.microsoft.com/office/drawing/2014/main" id="{E9F5ADBA-90EE-8982-3AFE-26FE699D67DF}"/>
              </a:ext>
            </a:extLst>
          </p:cNvPr>
          <p:cNvSpPr txBox="1"/>
          <p:nvPr/>
        </p:nvSpPr>
        <p:spPr>
          <a:xfrm>
            <a:off x="777240" y="1610686"/>
            <a:ext cx="9893718" cy="4630723"/>
          </a:xfrm>
          <a:prstGeom prst="rect">
            <a:avLst/>
          </a:prstGeom>
          <a:noFill/>
          <a:ln>
            <a:noFill/>
          </a:ln>
        </p:spPr>
        <p:txBody>
          <a:bodyPr spcFirstLastPara="1" wrap="square" lIns="91425" tIns="45700" rIns="91425" bIns="45700" anchor="t" anchorCtr="0">
            <a:noAutofit/>
          </a:bodyPr>
          <a:lstStyle/>
          <a:p>
            <a:pPr marL="514350" marR="0" lvl="0" indent="-514350" algn="l" rtl="0">
              <a:spcBef>
                <a:spcPts val="0"/>
              </a:spcBef>
              <a:spcAft>
                <a:spcPts val="3480"/>
              </a:spcAft>
              <a:buClr>
                <a:srgbClr val="000000"/>
              </a:buClr>
              <a:buSzPct val="100000"/>
              <a:buFont typeface="+mj-lt"/>
              <a:buAutoNum type="arabicPeriod" startAt="8"/>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Write an equation for a horizontal line and an equation for a vertical line that pass through the point (2, −</a:t>
            </a:r>
            <a:r>
              <a:rPr lang="en-US" sz="2800" dirty="0">
                <a:latin typeface="Calibri" panose="020F0502020204030204" pitchFamily="34" charset="0"/>
                <a:ea typeface="Calibri" panose="020F0502020204030204" pitchFamily="34" charset="0"/>
                <a:cs typeface="Calibri" panose="020F0502020204030204" pitchFamily="34" charset="0"/>
                <a:sym typeface="Calibri"/>
              </a:rPr>
              <a:t>1).</a:t>
            </a:r>
            <a:br>
              <a:rPr lang="en-US" sz="2800" dirty="0">
                <a:latin typeface="Calibri" panose="020F0502020204030204" pitchFamily="34" charset="0"/>
                <a:ea typeface="Calibri" panose="020F0502020204030204" pitchFamily="34" charset="0"/>
                <a:cs typeface="Calibri" panose="020F0502020204030204" pitchFamily="34" charset="0"/>
                <a:sym typeface="Calibri"/>
              </a:rPr>
            </a:br>
            <a:br>
              <a:rPr lang="en-US" sz="2800" dirty="0">
                <a:latin typeface="Calibri" panose="020F0502020204030204" pitchFamily="34" charset="0"/>
                <a:ea typeface="Calibri" panose="020F0502020204030204" pitchFamily="34" charset="0"/>
                <a:cs typeface="Calibri" panose="020F0502020204030204" pitchFamily="34" charset="0"/>
                <a:sym typeface="Calibri"/>
              </a:rPr>
            </a:br>
            <a:endParaRPr lang="en-US" sz="2800" dirty="0">
              <a:latin typeface="Calibri" panose="020F0502020204030204" pitchFamily="34" charset="0"/>
              <a:ea typeface="Calibri" panose="020F0502020204030204" pitchFamily="34" charset="0"/>
              <a:cs typeface="Calibri" panose="020F0502020204030204" pitchFamily="34" charset="0"/>
              <a:sym typeface="Calibri"/>
            </a:endParaRPr>
          </a:p>
          <a:p>
            <a:pPr marL="514350" marR="0" lvl="0" indent="-514350" algn="l" rtl="0">
              <a:spcBef>
                <a:spcPts val="0"/>
              </a:spcBef>
              <a:spcAft>
                <a:spcPts val="3480"/>
              </a:spcAft>
              <a:buClr>
                <a:srgbClr val="000000"/>
              </a:buClr>
              <a:buSzPct val="100000"/>
              <a:buFont typeface="+mj-lt"/>
              <a:buAutoNum type="arabicPeriod" startAt="8"/>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Write an equation for a line that is perpendicular to the line given by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 5 and passes through the point (1, 0).</a:t>
            </a:r>
            <a:b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br>
            <a:b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br>
            <a:endPar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514350" marR="0" lvl="0" indent="-514350" algn="l" rtl="0">
              <a:spcBef>
                <a:spcPts val="0"/>
              </a:spcBef>
              <a:spcAft>
                <a:spcPts val="3480"/>
              </a:spcAft>
              <a:buClr>
                <a:srgbClr val="000000"/>
              </a:buClr>
              <a:buSzPct val="100000"/>
              <a:buFont typeface="+mj-lt"/>
              <a:buAutoNum type="arabicPeriod" startAt="8"/>
            </a:pPr>
            <a:r>
              <a:rPr lang="en-US" sz="2800" dirty="0">
                <a:latin typeface="Calibri" panose="020F0502020204030204" pitchFamily="34" charset="0"/>
                <a:ea typeface="Calibri" panose="020F0502020204030204" pitchFamily="34" charset="0"/>
                <a:cs typeface="Calibri" panose="020F0502020204030204" pitchFamily="34" charset="0"/>
                <a:sym typeface="Calibri"/>
              </a:rPr>
              <a:t>Write an equation for a line that is perpendicular to the line given by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y</a:t>
            </a:r>
            <a:r>
              <a:rPr lang="en-US" sz="2800" dirty="0">
                <a:latin typeface="Calibri" panose="020F0502020204030204" pitchFamily="34" charset="0"/>
                <a:ea typeface="Calibri" panose="020F0502020204030204" pitchFamily="34" charset="0"/>
                <a:cs typeface="Calibri" panose="020F0502020204030204" pitchFamily="34" charset="0"/>
                <a:sym typeface="Calibri"/>
              </a:rPr>
              <a:t> = −2 and passes through the point (5, 6).</a:t>
            </a:r>
            <a:endParaRPr sz="2800" dirty="0">
              <a:latin typeface="Calibri" panose="020F0502020204030204" pitchFamily="34" charset="0"/>
              <a:ea typeface="Calibri" panose="020F0502020204030204" pitchFamily="34" charset="0"/>
              <a:cs typeface="Calibri" panose="020F0502020204030204" pitchFamily="34" charset="0"/>
            </a:endParaRPr>
          </a:p>
        </p:txBody>
      </p:sp>
      <p:sp>
        <p:nvSpPr>
          <p:cNvPr id="1680" name="Slide Number 1680"/>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28</a:t>
            </a:fld>
          </a:p>
        </p:txBody>
      </p:sp>
      <p:sp>
        <p:nvSpPr>
          <p:cNvPr id="1681" name="Answer 1681"/>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311</a:t>
            </a:r>
          </a:p>
        </p:txBody>
      </p:sp>
      <p:sp>
        <p:nvSpPr>
          <p:cNvPr id="1682" name="Answer 1682"/>
          <p:cNvSpPr txBox="1"/>
          <p:nvPr/>
        </p:nvSpPr>
        <p:spPr>
          <a:xfrm>
            <a:off x="1339850" y="2533650"/>
            <a:ext cx="9239250" cy="3937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Horizontal line: y = −1;   vertical line: x = 2</a:t>
            </a:r>
          </a:p>
        </p:txBody>
      </p:sp>
      <p:sp>
        <p:nvSpPr>
          <p:cNvPr id="1683" name="Answer 1683"/>
          <p:cNvSpPr txBox="1"/>
          <p:nvPr/>
        </p:nvSpPr>
        <p:spPr>
          <a:xfrm>
            <a:off x="1339850" y="3848100"/>
            <a:ext cx="9239250" cy="3937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y = 0  (a horizontal line through (1, 0))</a:t>
            </a:r>
          </a:p>
        </p:txBody>
      </p:sp>
      <p:sp>
        <p:nvSpPr>
          <p:cNvPr id="1684" name="Answer 1684"/>
          <p:cNvSpPr txBox="1"/>
          <p:nvPr/>
        </p:nvSpPr>
        <p:spPr>
          <a:xfrm>
            <a:off x="1339850" y="5156200"/>
            <a:ext cx="9239250" cy="3937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x = 5  (a vertical line through (5, 6))</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68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68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28"/>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Horizontal and Vertical Lines </a:t>
            </a:r>
            <a:r>
              <a:rPr lang="en-US" sz="2000" b="1" dirty="0">
                <a:solidFill>
                  <a:schemeClr val="bg1"/>
                </a:solidFill>
              </a:rPr>
              <a:t>(6 of 7)</a:t>
            </a:r>
            <a:endParaRPr dirty="0">
              <a:solidFill>
                <a:schemeClr val="bg1"/>
              </a:solidFill>
            </a:endParaRPr>
          </a:p>
        </p:txBody>
      </p:sp>
      <p:sp>
        <p:nvSpPr>
          <p:cNvPr id="688" name="Google Shape;688;p28"/>
          <p:cNvSpPr txBox="1"/>
          <p:nvPr/>
        </p:nvSpPr>
        <p:spPr>
          <a:xfrm>
            <a:off x="777240" y="1616140"/>
            <a:ext cx="989371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a:solidFill>
                  <a:srgbClr val="000000"/>
                </a:solidFill>
                <a:latin typeface="Calibri"/>
                <a:ea typeface="Calibri"/>
                <a:cs typeface="Calibri"/>
                <a:sym typeface="Calibri"/>
              </a:rPr>
              <a:t>Let’s summarize our learning from Activity 3.2!</a:t>
            </a:r>
            <a:endParaRPr/>
          </a:p>
        </p:txBody>
      </p:sp>
      <p:pic>
        <p:nvPicPr>
          <p:cNvPr id="689" name="Google Shape;689;p28">
            <a:extLst>
              <a:ext uri="{C183D7F6-B498-43B3-948B-1728B52AA6E4}">
                <adec:decorative xmlns:adec="http://schemas.microsoft.com/office/drawing/2017/decorative" val="1"/>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174023" y="372494"/>
            <a:ext cx="1501270" cy="518205"/>
          </a:xfrm>
          <a:prstGeom prst="rect">
            <a:avLst/>
          </a:prstGeom>
          <a:noFill/>
          <a:ln>
            <a:noFill/>
          </a:ln>
        </p:spPr>
      </p:pic>
      <p:sp>
        <p:nvSpPr>
          <p:cNvPr id="1689" name="Slide Number 168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29</a:t>
            </a:fld>
          </a:p>
        </p:txBody>
      </p:sp>
      <p:sp>
        <p:nvSpPr>
          <p:cNvPr id="1690" name="Answer 169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311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29"/>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Horizontal and Vertical Lines </a:t>
            </a:r>
            <a:r>
              <a:rPr lang="en-US" sz="2000" b="1" dirty="0">
                <a:solidFill>
                  <a:schemeClr val="bg1"/>
                </a:solidFill>
              </a:rPr>
              <a:t>(7 of 7)</a:t>
            </a:r>
            <a:endParaRPr dirty="0">
              <a:solidFill>
                <a:schemeClr val="bg1"/>
              </a:solidFill>
            </a:endParaRPr>
          </a:p>
        </p:txBody>
      </p:sp>
      <p:sp>
        <p:nvSpPr>
          <p:cNvPr id="696" name="Google Shape;696;p29">
            <a:extLst>
              <a:ext uri="{C183D7F6-B498-43B3-948B-1728B52AA6E4}">
                <adec:decorative xmlns:adec="http://schemas.microsoft.com/office/drawing/2017/decorative" val="1"/>
              </a:ext>
            </a:extLst>
          </p:cNvPr>
          <p:cNvSpPr txBox="1"/>
          <p:nvPr/>
        </p:nvSpPr>
        <p:spPr>
          <a:xfrm>
            <a:off x="777240" y="1616140"/>
            <a:ext cx="1047175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800"/>
              <a:buFont typeface="Arial"/>
              <a:buNone/>
            </a:pPr>
            <a:endParaRPr sz="2800">
              <a:solidFill>
                <a:srgbClr val="3A3838"/>
              </a:solidFill>
              <a:latin typeface="Calibri"/>
              <a:ea typeface="Calibri"/>
              <a:cs typeface="Calibri"/>
              <a:sym typeface="Calibri"/>
            </a:endParaRPr>
          </a:p>
        </p:txBody>
      </p:sp>
      <p:sp>
        <p:nvSpPr>
          <p:cNvPr id="1696" name="Slide Number 1696"/>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30</a:t>
            </a:fld>
          </a:p>
        </p:txBody>
      </p:sp>
      <p:sp>
        <p:nvSpPr>
          <p:cNvPr id="1697" name="Answer 1697"/>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311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30"/>
          <p:cNvSpPr txBox="1">
            <a:spLocks noGrp="1"/>
          </p:cNvSpPr>
          <p:nvPr>
            <p:ph type="title" idx="4294967295"/>
          </p:nvPr>
        </p:nvSpPr>
        <p:spPr>
          <a:xfrm>
            <a:off x="838200" y="-343949"/>
            <a:ext cx="10514013" cy="343949"/>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4400"/>
              <a:buFont typeface="Calibri"/>
              <a:buNone/>
            </a:pPr>
            <a:r>
              <a:rPr lang="en-US" sz="2000" dirty="0">
                <a:solidFill>
                  <a:schemeClr val="lt2"/>
                </a:solidFill>
                <a:latin typeface="Calibri"/>
                <a:ea typeface="Calibri"/>
                <a:cs typeface="Calibri"/>
                <a:sym typeface="Calibri"/>
              </a:rPr>
              <a:t>Activity 3.3</a:t>
            </a:r>
            <a:endParaRPr sz="2000" dirty="0"/>
          </a:p>
        </p:txBody>
      </p:sp>
      <p:sp>
        <p:nvSpPr>
          <p:cNvPr id="703" name="Google Shape;703;p30" descr="15 to 20 minutes"/>
          <p:cNvSpPr txBox="1">
            <a:spLocks noGrp="1"/>
          </p:cNvSpPr>
          <p:nvPr>
            <p:ph type="body" idx="2"/>
          </p:nvPr>
        </p:nvSpPr>
        <p:spPr>
          <a:xfrm>
            <a:off x="10614990" y="5780973"/>
            <a:ext cx="863947" cy="79533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71616"/>
              </a:buClr>
              <a:buSzPts val="2000"/>
              <a:buNone/>
            </a:pPr>
            <a:r>
              <a:rPr lang="en-US" b="1" dirty="0"/>
              <a:t>15–20</a:t>
            </a:r>
            <a:endParaRPr dirty="0"/>
          </a:p>
        </p:txBody>
      </p:sp>
      <p:sp>
        <p:nvSpPr>
          <p:cNvPr id="704" name="Google Shape;704;p30">
            <a:extLst>
              <a:ext uri="{C183D7F6-B498-43B3-948B-1728B52AA6E4}">
                <adec:decorative xmlns:adec="http://schemas.microsoft.com/office/drawing/2017/decorative" val="1"/>
              </a:ext>
            </a:extLst>
          </p:cNvPr>
          <p:cNvSpPr txBox="1">
            <a:spLocks noGrp="1"/>
          </p:cNvSpPr>
          <p:nvPr>
            <p:ph type="body" idx="1"/>
          </p:nvPr>
        </p:nvSpPr>
        <p:spPr>
          <a:xfrm>
            <a:off x="6769100" y="2957776"/>
            <a:ext cx="2025986" cy="112553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7500"/>
              <a:buNone/>
            </a:pPr>
            <a:r>
              <a:rPr lang="en-US"/>
              <a:t>3.3</a:t>
            </a:r>
            <a:endParaRPr/>
          </a:p>
        </p:txBody>
      </p:sp>
      <p:sp>
        <p:nvSpPr>
          <p:cNvPr id="1704" name="Slide Number 17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31</a:t>
            </a:fld>
          </a:p>
        </p:txBody>
      </p:sp>
      <p:sp>
        <p:nvSpPr>
          <p:cNvPr id="1706" name="Answer 1706"/>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400" b="1" dirty="0">
                <a:solidFill>
                  <a:srgbClr val="2E7D3C"/>
                </a:solidFill>
              </a:rPr>
              <a:t>★ Essential activity: do not skip</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31"/>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Writing Equations of Perpendicular Lines </a:t>
            </a:r>
            <a:r>
              <a:rPr lang="en-US" sz="2000" b="1" dirty="0">
                <a:solidFill>
                  <a:schemeClr val="bg1"/>
                </a:solidFill>
              </a:rPr>
              <a:t>(1 of 5)</a:t>
            </a:r>
            <a:endParaRPr dirty="0">
              <a:solidFill>
                <a:schemeClr val="bg1"/>
              </a:solidFill>
            </a:endParaRPr>
          </a:p>
        </p:txBody>
      </p:sp>
      <p:sp>
        <p:nvSpPr>
          <p:cNvPr id="711" name="Google Shape;711;p31"/>
          <p:cNvSpPr txBox="1"/>
          <p:nvPr/>
        </p:nvSpPr>
        <p:spPr>
          <a:xfrm>
            <a:off x="777240" y="1610687"/>
            <a:ext cx="2066628" cy="3238150"/>
          </a:xfrm>
          <a:prstGeom prst="rect">
            <a:avLst/>
          </a:prstGeom>
          <a:noFill/>
          <a:ln w="38100" cap="flat" cmpd="sng">
            <a:solidFill>
              <a:srgbClr val="2B8147"/>
            </a:solidFill>
            <a:prstDash val="sysDot"/>
            <a:round/>
            <a:headEnd type="none" w="sm" len="sm"/>
            <a:tailEnd type="none" w="sm" len="sm"/>
          </a:ln>
        </p:spPr>
        <p:txBody>
          <a:bodyPr spcFirstLastPara="1" wrap="square" lIns="182875" tIns="45700" rIns="91425" bIns="45700" anchor="ctr" anchorCtr="0">
            <a:noAutofit/>
          </a:bodyPr>
          <a:lstStyle/>
          <a:p>
            <a:pPr marL="0" marR="0" lvl="0" indent="0" algn="l" rtl="0">
              <a:spcBef>
                <a:spcPts val="0"/>
              </a:spcBef>
              <a:spcAft>
                <a:spcPts val="0"/>
              </a:spcAft>
              <a:buNone/>
            </a:pPr>
            <a:r>
              <a:rPr lang="en-US" sz="2000" b="1" dirty="0">
                <a:solidFill>
                  <a:srgbClr val="2B8147"/>
                </a:solidFill>
                <a:latin typeface="Calibri"/>
                <a:ea typeface="Calibri"/>
                <a:cs typeface="Calibri"/>
                <a:sym typeface="Calibri"/>
              </a:rPr>
              <a:t>Remember…</a:t>
            </a:r>
            <a:br>
              <a:rPr lang="en-US" sz="2000" b="1" dirty="0">
                <a:solidFill>
                  <a:srgbClr val="2B8147"/>
                </a:solidFill>
                <a:latin typeface="Calibri"/>
                <a:ea typeface="Calibri"/>
                <a:cs typeface="Calibri"/>
                <a:sym typeface="Calibri"/>
              </a:rPr>
            </a:br>
            <a:r>
              <a:rPr lang="en-US" sz="2000" dirty="0">
                <a:solidFill>
                  <a:srgbClr val="000000"/>
                </a:solidFill>
                <a:latin typeface="Calibri"/>
                <a:ea typeface="Calibri"/>
                <a:cs typeface="Calibri"/>
                <a:sym typeface="Calibri"/>
              </a:rPr>
              <a:t>You can use point-slope form to write an equation for any line when you know its slope and one point on that line.</a:t>
            </a:r>
            <a:endParaRPr dirty="0"/>
          </a:p>
        </p:txBody>
      </p:sp>
      <p:sp>
        <p:nvSpPr>
          <p:cNvPr id="2" name="TextBox 1">
            <a:extLst>
              <a:ext uri="{FF2B5EF4-FFF2-40B4-BE49-F238E27FC236}">
                <a16:creationId xmlns:a16="http://schemas.microsoft.com/office/drawing/2014/main" id="{861E244E-935E-04EA-774F-6E0250DB771D}"/>
              </a:ext>
            </a:extLst>
          </p:cNvPr>
          <p:cNvSpPr txBox="1"/>
          <p:nvPr/>
        </p:nvSpPr>
        <p:spPr>
          <a:xfrm>
            <a:off x="3355596" y="1610687"/>
            <a:ext cx="7784984" cy="3416320"/>
          </a:xfrm>
          <a:prstGeom prst="rect">
            <a:avLst/>
          </a:prstGeom>
          <a:noFill/>
        </p:spPr>
        <p:txBody>
          <a:bodyPr wrap="square" rtlCol="0">
            <a:spAutoFit/>
          </a:bodyPr>
          <a:lstStyle/>
          <a:p>
            <a:pPr algn="l">
              <a:spcAft>
                <a:spcPts val="2400"/>
              </a:spcAft>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In a previous lesson, you wrote the equation of a line parallel to a given line that passes through a given point. You can write the equation of a perpendicular line using what you know about the slope of that line and any point on that line.</a:t>
            </a:r>
          </a:p>
          <a:p>
            <a:pPr marL="514350" indent="-514350" algn="l">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Write the equation of the line perpendicular to</a:t>
            </a:r>
            <a:br>
              <a:rPr lang="en-US" sz="2800" dirty="0">
                <a:latin typeface="Calibri" panose="020F0502020204030204" pitchFamily="34" charset="0"/>
                <a:ea typeface="Calibri" panose="020F0502020204030204" pitchFamily="34" charset="0"/>
                <a:cs typeface="Calibri" panose="020F0502020204030204" pitchFamily="34" charset="0"/>
              </a:rPr>
            </a:br>
            <a:r>
              <a:rPr lang="en-US" sz="2800" i="1" dirty="0">
                <a:latin typeface="Calibri" panose="020F0502020204030204" pitchFamily="34" charset="0"/>
                <a:ea typeface="Calibri" panose="020F0502020204030204" pitchFamily="34" charset="0"/>
                <a:cs typeface="Calibri" panose="020F0502020204030204" pitchFamily="34" charset="0"/>
              </a:rPr>
              <a:t>y</a:t>
            </a:r>
            <a:r>
              <a:rPr lang="en-US" sz="2800" dirty="0">
                <a:latin typeface="Calibri" panose="020F0502020204030204" pitchFamily="34" charset="0"/>
                <a:ea typeface="Calibri" panose="020F0502020204030204" pitchFamily="34" charset="0"/>
                <a:cs typeface="Calibri" panose="020F0502020204030204" pitchFamily="34" charset="0"/>
              </a:rPr>
              <a:t> = 2</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+ 1 that passes through the point (6, 2).</a:t>
            </a:r>
          </a:p>
        </p:txBody>
      </p:sp>
      <p:sp>
        <p:nvSpPr>
          <p:cNvPr id="1711" name="Slide Number 1711"/>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32</a:t>
            </a:fld>
          </a:p>
        </p:txBody>
      </p:sp>
      <p:sp>
        <p:nvSpPr>
          <p:cNvPr id="1712" name="Answer 1712"/>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312</a:t>
            </a:r>
          </a:p>
        </p:txBody>
      </p:sp>
      <p:sp>
        <p:nvSpPr>
          <p:cNvPr id="1713" name="Answer 1713"/>
          <p:cNvSpPr txBox="1"/>
          <p:nvPr/>
        </p:nvSpPr>
        <p:spPr>
          <a:xfrm>
            <a:off x="3429000" y="4978400"/>
            <a:ext cx="8255000" cy="14160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The perpendicular slope is −1/2.</a:t>
            </a:r>
          </a:p>
          <a:p>
            <a:pPr marL="0" indent="0" algn="l">
              <a:spcBef>
                <a:spcPts val="0"/>
              </a:spcBef>
              <a:spcAft>
                <a:spcPts val="300"/>
              </a:spcAft>
              <a:buNone/>
            </a:pPr>
            <a:r>
              <a:rPr lang="en-US" sz="2000" dirty="0">
                <a:solidFill>
                  <a:srgbClr val="FF0000"/>
                </a:solidFill>
              </a:rPr>
              <a:t>y − 2 = −(1/2)(x − 6)</a:t>
            </a:r>
          </a:p>
          <a:p>
            <a:pPr marL="0" indent="0" algn="l">
              <a:spcBef>
                <a:spcPts val="0"/>
              </a:spcBef>
              <a:spcAft>
                <a:spcPts val="300"/>
              </a:spcAft>
              <a:buNone/>
            </a:pPr>
            <a:r>
              <a:rPr lang="en-US" sz="2000" dirty="0">
                <a:solidFill>
                  <a:srgbClr val="FF0000"/>
                </a:solidFill>
              </a:rPr>
              <a:t>y − 2 = −(1/2)x + 3</a:t>
            </a:r>
          </a:p>
          <a:p>
            <a:pPr marL="0" indent="0" algn="l">
              <a:spcBef>
                <a:spcPts val="0"/>
              </a:spcBef>
              <a:spcAft>
                <a:spcPts val="300"/>
              </a:spcAft>
              <a:buNone/>
            </a:pPr>
            <a:r>
              <a:rPr lang="en-US" sz="2000" dirty="0">
                <a:solidFill>
                  <a:srgbClr val="FF0000"/>
                </a:solidFill>
              </a:rPr>
              <a:t>y = −(1/2)x + 5</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7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p32"/>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Writing Equations of Perpendicular Lines </a:t>
            </a:r>
            <a:r>
              <a:rPr lang="en-US" sz="2000" b="1" dirty="0">
                <a:solidFill>
                  <a:schemeClr val="bg1"/>
                </a:solidFill>
              </a:rPr>
              <a:t>(2 of 5)</a:t>
            </a:r>
            <a:endParaRPr dirty="0">
              <a:solidFill>
                <a:schemeClr val="bg1"/>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5272E0E-17F8-AAC0-34F8-8CF8A361F09D}"/>
                  </a:ext>
                </a:extLst>
              </p:cNvPr>
              <p:cNvSpPr txBox="1"/>
              <p:nvPr/>
            </p:nvSpPr>
            <p:spPr>
              <a:xfrm>
                <a:off x="777240" y="1610687"/>
                <a:ext cx="9893556" cy="3717813"/>
              </a:xfrm>
              <a:prstGeom prst="rect">
                <a:avLst/>
              </a:prstGeom>
              <a:noFill/>
            </p:spPr>
            <p:txBody>
              <a:bodyPr wrap="square" rtlCol="0">
                <a:spAutoFit/>
              </a:bodyPr>
              <a:lstStyle/>
              <a:p>
                <a:pPr marL="514350" indent="-514350" algn="l">
                  <a:buFont typeface="+mj-lt"/>
                  <a:buAutoNum type="arabicPeriod" startAt="2"/>
                </a:pPr>
                <a:r>
                  <a:rPr lang="en-US" sz="2800" dirty="0">
                    <a:latin typeface="Calibri" panose="020F0502020204030204" pitchFamily="34" charset="0"/>
                    <a:ea typeface="Calibri" panose="020F0502020204030204" pitchFamily="34" charset="0"/>
                    <a:cs typeface="Calibri" panose="020F0502020204030204" pitchFamily="34" charset="0"/>
                  </a:rPr>
                  <a:t>Write the equation of the line perpendicular to </a:t>
                </a:r>
                <a:r>
                  <a:rPr lang="en-US" sz="2800" i="1" dirty="0">
                    <a:latin typeface="Calibri" panose="020F0502020204030204" pitchFamily="34" charset="0"/>
                    <a:ea typeface="Calibri" panose="020F0502020204030204" pitchFamily="34" charset="0"/>
                    <a:cs typeface="Calibri" panose="020F0502020204030204" pitchFamily="34" charset="0"/>
                  </a:rPr>
                  <a:t>y</a:t>
                </a:r>
                <a:r>
                  <a:rPr lang="en-US" sz="2800" dirty="0">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r>
                      <a:rPr lang="en-US" sz="2800" b="0" i="0" dirty="0" smtClean="0">
                        <a:latin typeface="Cambria Math" panose="02040503050406030204" pitchFamily="18" charset="0"/>
                        <a:ea typeface="Calibri" panose="020F0502020204030204" pitchFamily="34" charset="0"/>
                        <a:cs typeface="Calibri" panose="020F0502020204030204" pitchFamily="34" charset="0"/>
                      </a:rPr>
                      <m:t>−</m:t>
                    </m:r>
                    <m:f>
                      <m:fPr>
                        <m:ctrlPr>
                          <a:rPr lang="en-US" sz="2800" i="1" dirty="0" smtClean="0">
                            <a:latin typeface="Cambria Math" panose="02040503050406030204" pitchFamily="18" charset="0"/>
                            <a:ea typeface="Calibri" panose="020F0502020204030204" pitchFamily="34" charset="0"/>
                            <a:cs typeface="Calibri" panose="020F0502020204030204" pitchFamily="34" charset="0"/>
                          </a:rPr>
                        </m:ctrlPr>
                      </m:fPr>
                      <m:num>
                        <m:r>
                          <a:rPr lang="en-US" sz="2800" b="0" i="1" dirty="0" smtClean="0">
                            <a:latin typeface="Cambria Math" panose="02040503050406030204" pitchFamily="18" charset="0"/>
                            <a:ea typeface="Calibri" panose="020F0502020204030204" pitchFamily="34" charset="0"/>
                            <a:cs typeface="Calibri" panose="020F0502020204030204" pitchFamily="34" charset="0"/>
                          </a:rPr>
                          <m:t>3</m:t>
                        </m:r>
                      </m:num>
                      <m:den>
                        <m:r>
                          <a:rPr lang="en-US" sz="2800" b="0" i="1" dirty="0" smtClean="0">
                            <a:latin typeface="Cambria Math" panose="02040503050406030204" pitchFamily="18" charset="0"/>
                            <a:ea typeface="Calibri" panose="020F0502020204030204" pitchFamily="34" charset="0"/>
                            <a:cs typeface="Calibri" panose="020F0502020204030204" pitchFamily="34" charset="0"/>
                          </a:rPr>
                          <m:t>4</m:t>
                        </m:r>
                      </m:den>
                    </m:f>
                  </m:oMath>
                </a14:m>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that passes through the point (3, −8).</a:t>
                </a: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endParaRPr lang="en-US" sz="2800" dirty="0">
                  <a:latin typeface="Calibri" panose="020F0502020204030204" pitchFamily="34" charset="0"/>
                  <a:ea typeface="Calibri" panose="020F0502020204030204" pitchFamily="34" charset="0"/>
                  <a:cs typeface="Calibri" panose="020F0502020204030204" pitchFamily="34" charset="0"/>
                </a:endParaRPr>
              </a:p>
              <a:p>
                <a:pPr marL="514350" indent="-514350" algn="l">
                  <a:buFont typeface="+mj-lt"/>
                  <a:buAutoNum type="arabicPeriod" startAt="2"/>
                </a:pPr>
                <a:r>
                  <a:rPr lang="en-US" sz="2800" dirty="0">
                    <a:latin typeface="Calibri" panose="020F0502020204030204" pitchFamily="34" charset="0"/>
                    <a:ea typeface="Calibri" panose="020F0502020204030204" pitchFamily="34" charset="0"/>
                    <a:cs typeface="Calibri" panose="020F0502020204030204" pitchFamily="34" charset="0"/>
                  </a:rPr>
                  <a:t>Write the equation of the line that passes through the point</a:t>
                </a:r>
                <a:br>
                  <a:rPr lang="en-US" sz="2800" dirty="0">
                    <a:latin typeface="Calibri" panose="020F0502020204030204" pitchFamily="34" charset="0"/>
                    <a:ea typeface="Calibri" panose="020F0502020204030204" pitchFamily="34" charset="0"/>
                    <a:cs typeface="Calibri" panose="020F0502020204030204" pitchFamily="34" charset="0"/>
                  </a:rPr>
                </a:br>
                <a:r>
                  <a:rPr lang="en-US" sz="2800" dirty="0">
                    <a:latin typeface="Calibri" panose="020F0502020204030204" pitchFamily="34" charset="0"/>
                    <a:ea typeface="Calibri" panose="020F0502020204030204" pitchFamily="34" charset="0"/>
                    <a:cs typeface="Calibri" panose="020F0502020204030204" pitchFamily="34" charset="0"/>
                  </a:rPr>
                  <a:t>(6, 2) and is perpendicular to a line that passes through the points (−5, 3) and (−1, −9).</a:t>
                </a:r>
              </a:p>
            </p:txBody>
          </p:sp>
        </mc:Choice>
        <mc:Fallback xmlns="">
          <p:sp>
            <p:nvSpPr>
              <p:cNvPr id="2" name="TextBox 1">
                <a:extLst>
                  <a:ext uri="{FF2B5EF4-FFF2-40B4-BE49-F238E27FC236}">
                    <a16:creationId xmlns:a16="http://schemas.microsoft.com/office/drawing/2014/main" id="{F5272E0E-17F8-AAC0-34F8-8CF8A361F09D}"/>
                  </a:ext>
                </a:extLst>
              </p:cNvPr>
              <p:cNvSpPr txBox="1">
                <a:spLocks noRot="1" noChangeAspect="1" noMove="1" noResize="1" noEditPoints="1" noAdjustHandles="1" noChangeArrowheads="1" noChangeShapeType="1" noTextEdit="1"/>
              </p:cNvSpPr>
              <p:nvPr/>
            </p:nvSpPr>
            <p:spPr>
              <a:xfrm>
                <a:off x="777240" y="1610687"/>
                <a:ext cx="9893556" cy="3717813"/>
              </a:xfrm>
              <a:prstGeom prst="rect">
                <a:avLst/>
              </a:prstGeom>
              <a:blipFill>
                <a:blip r:embed="rId3"/>
                <a:stretch>
                  <a:fillRect l="-1295" b="-3770"/>
                </a:stretch>
              </a:blipFill>
            </p:spPr>
            <p:txBody>
              <a:bodyPr/>
              <a:lstStyle/>
              <a:p>
                <a:r>
                  <a:rPr lang="en-US">
                    <a:noFill/>
                  </a:rPr>
                  <a:t> </a:t>
                </a:r>
              </a:p>
            </p:txBody>
          </p:sp>
        </mc:Fallback>
      </mc:AlternateContent>
      <p:sp>
        <p:nvSpPr>
          <p:cNvPr id="1718" name="Slide Number 1718"/>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33</a:t>
            </a:fld>
          </a:p>
        </p:txBody>
      </p:sp>
      <p:sp>
        <p:nvSpPr>
          <p:cNvPr id="1719" name="Answer 1719"/>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312</a:t>
            </a:r>
          </a:p>
        </p:txBody>
      </p:sp>
      <p:sp>
        <p:nvSpPr>
          <p:cNvPr id="1720" name="Answer 1720"/>
          <p:cNvSpPr txBox="1"/>
          <p:nvPr/>
        </p:nvSpPr>
        <p:spPr>
          <a:xfrm>
            <a:off x="889000" y="2667000"/>
            <a:ext cx="10795000" cy="127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The perpendicular slope is 4/3.</a:t>
            </a:r>
          </a:p>
          <a:p>
            <a:pPr marL="0" indent="0" algn="l">
              <a:spcBef>
                <a:spcPts val="0"/>
              </a:spcBef>
              <a:spcAft>
                <a:spcPts val="300"/>
              </a:spcAft>
              <a:buNone/>
            </a:pPr>
            <a:r>
              <a:rPr lang="en-US" sz="2000" dirty="0">
                <a:solidFill>
                  <a:srgbClr val="FF0000"/>
                </a:solidFill>
              </a:rPr>
              <a:t>y − (−8) = (4/3)(x − 3);   y + 8 = (4/3)x − 4;   y = (4/3)x − 12</a:t>
            </a:r>
          </a:p>
        </p:txBody>
      </p:sp>
      <p:sp>
        <p:nvSpPr>
          <p:cNvPr id="1721" name="Answer 1721"/>
          <p:cNvSpPr txBox="1"/>
          <p:nvPr/>
        </p:nvSpPr>
        <p:spPr>
          <a:xfrm>
            <a:off x="889000" y="5207000"/>
            <a:ext cx="10795000" cy="1524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m = (−9 − 3)/(−1 − (−5)) = −12/4 = −3, so the perpendicular slope is 1/3.</a:t>
            </a:r>
          </a:p>
          <a:p>
            <a:pPr marL="0" indent="0" algn="l">
              <a:spcBef>
                <a:spcPts val="0"/>
              </a:spcBef>
              <a:spcAft>
                <a:spcPts val="300"/>
              </a:spcAft>
              <a:buNone/>
            </a:pPr>
            <a:r>
              <a:rPr lang="en-US" sz="2000" dirty="0">
                <a:solidFill>
                  <a:srgbClr val="FF0000"/>
                </a:solidFill>
              </a:rPr>
              <a:t>y − 2 = (1/3)(x − 6);   y − 2 = (1/3)x − 2;   y = (1/3)x</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7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7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p33"/>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Writing Equations of Perpendicular Lines </a:t>
            </a:r>
            <a:r>
              <a:rPr lang="en-US" sz="2000" b="1" dirty="0">
                <a:solidFill>
                  <a:schemeClr val="bg1"/>
                </a:solidFill>
              </a:rPr>
              <a:t>(3 of 5)</a:t>
            </a:r>
            <a:endParaRPr dirty="0">
              <a:solidFill>
                <a:schemeClr val="bg1"/>
              </a:solidFill>
            </a:endParaRPr>
          </a:p>
        </p:txBody>
      </p:sp>
      <p:sp>
        <p:nvSpPr>
          <p:cNvPr id="2" name="TextBox 1">
            <a:extLst>
              <a:ext uri="{FF2B5EF4-FFF2-40B4-BE49-F238E27FC236}">
                <a16:creationId xmlns:a16="http://schemas.microsoft.com/office/drawing/2014/main" id="{3C76E7D4-8B87-DDE5-9FD9-1F40778747F6}"/>
              </a:ext>
            </a:extLst>
          </p:cNvPr>
          <p:cNvSpPr txBox="1"/>
          <p:nvPr/>
        </p:nvSpPr>
        <p:spPr>
          <a:xfrm>
            <a:off x="777240" y="1610687"/>
            <a:ext cx="9893556" cy="3970318"/>
          </a:xfrm>
          <a:prstGeom prst="rect">
            <a:avLst/>
          </a:prstGeom>
          <a:noFill/>
        </p:spPr>
        <p:txBody>
          <a:bodyPr wrap="square" rtlCol="0">
            <a:spAutoFit/>
          </a:bodyPr>
          <a:lstStyle/>
          <a:p>
            <a:pPr marL="514350" indent="-514350" algn="l">
              <a:spcAft>
                <a:spcPts val="5980"/>
              </a:spcAft>
              <a:buFont typeface="+mj-lt"/>
              <a:buAutoNum type="arabicPeriod" startAt="4"/>
            </a:pPr>
            <a:r>
              <a:rPr lang="en-US" sz="2800" dirty="0">
                <a:latin typeface="Calibri" panose="020F0502020204030204" pitchFamily="34" charset="0"/>
                <a:ea typeface="Calibri" panose="020F0502020204030204" pitchFamily="34" charset="0"/>
                <a:cs typeface="Calibri" panose="020F0502020204030204" pitchFamily="34" charset="0"/>
              </a:rPr>
              <a:t>Write the equation of a line that passes through the point</a:t>
            </a:r>
            <a:br>
              <a:rPr lang="en-US" sz="2800" dirty="0">
                <a:latin typeface="Calibri" panose="020F0502020204030204" pitchFamily="34" charset="0"/>
                <a:ea typeface="Calibri" panose="020F0502020204030204" pitchFamily="34" charset="0"/>
                <a:cs typeface="Calibri" panose="020F0502020204030204" pitchFamily="34" charset="0"/>
              </a:rPr>
            </a:br>
            <a:r>
              <a:rPr lang="en-US" sz="2800" dirty="0">
                <a:latin typeface="Calibri" panose="020F0502020204030204" pitchFamily="34" charset="0"/>
                <a:ea typeface="Calibri" panose="020F0502020204030204" pitchFamily="34" charset="0"/>
                <a:cs typeface="Calibri" panose="020F0502020204030204" pitchFamily="34" charset="0"/>
              </a:rPr>
              <a:t>(−2, 7) and is perpendicular to a line that passes through the points (−6, 1) and (0, 4).</a:t>
            </a: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endParaRPr lang="en-US" sz="2800" dirty="0">
              <a:latin typeface="Calibri" panose="020F0502020204030204" pitchFamily="34" charset="0"/>
              <a:ea typeface="Calibri" panose="020F0502020204030204" pitchFamily="34" charset="0"/>
              <a:cs typeface="Calibri" panose="020F0502020204030204" pitchFamily="34" charset="0"/>
            </a:endParaRPr>
          </a:p>
          <a:p>
            <a:pPr marL="514350" indent="-514350" algn="l">
              <a:spcAft>
                <a:spcPts val="5980"/>
              </a:spcAft>
              <a:buFont typeface="+mj-lt"/>
              <a:buAutoNum type="arabicPeriod" startAt="4"/>
            </a:pPr>
            <a:r>
              <a:rPr lang="en-US" sz="2800" dirty="0">
                <a:latin typeface="Calibri" panose="020F0502020204030204" pitchFamily="34" charset="0"/>
                <a:ea typeface="Calibri" panose="020F0502020204030204" pitchFamily="34" charset="0"/>
                <a:cs typeface="Calibri" panose="020F0502020204030204" pitchFamily="34" charset="0"/>
              </a:rPr>
              <a:t>A pair of perpendicular lines intersect at the point (5, 9). Write the equation of the line that is perpendicular to the line that also passes through point (−4, 4).</a:t>
            </a:r>
          </a:p>
        </p:txBody>
      </p:sp>
      <p:sp>
        <p:nvSpPr>
          <p:cNvPr id="1725" name="Slide Number 172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34</a:t>
            </a:fld>
          </a:p>
        </p:txBody>
      </p:sp>
      <p:sp>
        <p:nvSpPr>
          <p:cNvPr id="1726" name="Answer 1726"/>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313</a:t>
            </a:r>
          </a:p>
        </p:txBody>
      </p:sp>
      <p:sp>
        <p:nvSpPr>
          <p:cNvPr id="1727" name="Answer 1727"/>
          <p:cNvSpPr txBox="1"/>
          <p:nvPr/>
        </p:nvSpPr>
        <p:spPr>
          <a:xfrm>
            <a:off x="1339850" y="2971800"/>
            <a:ext cx="9239250" cy="7112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m = (4 − 1)/(0 − (−6)) = 3/6 = 1/2, so the perpendicular slope is −2.</a:t>
            </a:r>
          </a:p>
          <a:p>
            <a:pPr marL="0" indent="0" algn="l">
              <a:spcBef>
                <a:spcPts val="0"/>
              </a:spcBef>
              <a:spcAft>
                <a:spcPts val="300"/>
              </a:spcAft>
              <a:buNone/>
            </a:pPr>
            <a:r>
              <a:rPr lang="en-US" sz="2000" dirty="0">
                <a:solidFill>
                  <a:srgbClr val="FF0000"/>
                </a:solidFill>
              </a:rPr>
              <a:t>y − 7 = −2(x − (−2));   y − 7 = −2x − 4;   y = −2x + 3</a:t>
            </a:r>
          </a:p>
        </p:txBody>
      </p:sp>
      <p:sp>
        <p:nvSpPr>
          <p:cNvPr id="1728" name="Answer 1728"/>
          <p:cNvSpPr txBox="1"/>
          <p:nvPr/>
        </p:nvSpPr>
        <p:spPr>
          <a:xfrm>
            <a:off x="1339850" y="5029200"/>
            <a:ext cx="9239250" cy="7112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m = (4 − 9)/(−4 − 5) = −5/−9 = 5/9, so the perpendicular slope is −9/5.</a:t>
            </a:r>
          </a:p>
          <a:p>
            <a:pPr marL="0" indent="0" algn="l">
              <a:spcBef>
                <a:spcPts val="0"/>
              </a:spcBef>
              <a:spcAft>
                <a:spcPts val="300"/>
              </a:spcAft>
              <a:buNone/>
            </a:pPr>
            <a:r>
              <a:rPr lang="en-US" sz="2000" dirty="0">
                <a:solidFill>
                  <a:srgbClr val="FF0000"/>
                </a:solidFill>
              </a:rPr>
              <a:t>y − 9 = −(9/5)(x − 5);   y − 9 = −(9/5)x + 9;   y = −(9/5)x + 18</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7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7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p34"/>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Writing Equations of Perpendicular Lines </a:t>
            </a:r>
            <a:r>
              <a:rPr lang="en-US" sz="2000" b="1" dirty="0">
                <a:solidFill>
                  <a:schemeClr val="bg1"/>
                </a:solidFill>
              </a:rPr>
              <a:t>(4 of 5)</a:t>
            </a:r>
            <a:endParaRPr dirty="0">
              <a:solidFill>
                <a:schemeClr val="bg1"/>
              </a:solidFill>
            </a:endParaRPr>
          </a:p>
        </p:txBody>
      </p:sp>
      <p:sp>
        <p:nvSpPr>
          <p:cNvPr id="733" name="Google Shape;733;p34"/>
          <p:cNvSpPr txBox="1"/>
          <p:nvPr/>
        </p:nvSpPr>
        <p:spPr>
          <a:xfrm>
            <a:off x="777240" y="1616140"/>
            <a:ext cx="989371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a:solidFill>
                  <a:srgbClr val="000000"/>
                </a:solidFill>
                <a:latin typeface="Calibri"/>
                <a:ea typeface="Calibri"/>
                <a:cs typeface="Calibri"/>
                <a:sym typeface="Calibri"/>
              </a:rPr>
              <a:t>Let’s summarize our learning from Activity 3.3!</a:t>
            </a:r>
            <a:endParaRPr/>
          </a:p>
        </p:txBody>
      </p:sp>
      <p:pic>
        <p:nvPicPr>
          <p:cNvPr id="734" name="Google Shape;734;p34">
            <a:extLst>
              <a:ext uri="{C183D7F6-B498-43B3-948B-1728B52AA6E4}">
                <adec:decorative xmlns:adec="http://schemas.microsoft.com/office/drawing/2017/decorative" val="1"/>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299857" y="372494"/>
            <a:ext cx="1501270" cy="518205"/>
          </a:xfrm>
          <a:prstGeom prst="rect">
            <a:avLst/>
          </a:prstGeom>
          <a:noFill/>
          <a:ln>
            <a:noFill/>
          </a:ln>
        </p:spPr>
      </p:pic>
      <p:sp>
        <p:nvSpPr>
          <p:cNvPr id="1734" name="Slide Number 173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35</a:t>
            </a:fld>
          </a:p>
        </p:txBody>
      </p:sp>
      <p:sp>
        <p:nvSpPr>
          <p:cNvPr id="1735" name="Answer 173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313</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39"/>
        <p:cNvGrpSpPr/>
        <p:nvPr/>
      </p:nvGrpSpPr>
      <p:grpSpPr>
        <a:xfrm>
          <a:off x="0" y="0"/>
          <a:ext cx="0" cy="0"/>
          <a:chOff x="0" y="0"/>
          <a:chExt cx="0" cy="0"/>
        </a:xfrm>
      </p:grpSpPr>
      <p:sp>
        <p:nvSpPr>
          <p:cNvPr id="740" name="Google Shape;740;p35"/>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Writing Equations of Perpendicular Lines </a:t>
            </a:r>
            <a:r>
              <a:rPr lang="en-US" sz="2000" b="1" dirty="0">
                <a:solidFill>
                  <a:schemeClr val="bg1"/>
                </a:solidFill>
              </a:rPr>
              <a:t>(5 of 5)</a:t>
            </a:r>
            <a:endParaRPr dirty="0">
              <a:solidFill>
                <a:schemeClr val="bg1"/>
              </a:solidFill>
            </a:endParaRPr>
          </a:p>
        </p:txBody>
      </p:sp>
      <p:sp>
        <p:nvSpPr>
          <p:cNvPr id="741" name="Google Shape;741;p35">
            <a:extLst>
              <a:ext uri="{C183D7F6-B498-43B3-948B-1728B52AA6E4}">
                <adec:decorative xmlns:adec="http://schemas.microsoft.com/office/drawing/2017/decorative" val="1"/>
              </a:ext>
            </a:extLst>
          </p:cNvPr>
          <p:cNvSpPr txBox="1"/>
          <p:nvPr/>
        </p:nvSpPr>
        <p:spPr>
          <a:xfrm>
            <a:off x="777240" y="1616140"/>
            <a:ext cx="1047175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800"/>
              <a:buFont typeface="Arial"/>
              <a:buNone/>
            </a:pPr>
            <a:endParaRPr sz="2800">
              <a:solidFill>
                <a:srgbClr val="3A3838"/>
              </a:solidFill>
              <a:latin typeface="Calibri"/>
              <a:ea typeface="Calibri"/>
              <a:cs typeface="Calibri"/>
              <a:sym typeface="Calibri"/>
            </a:endParaRPr>
          </a:p>
        </p:txBody>
      </p:sp>
      <p:sp>
        <p:nvSpPr>
          <p:cNvPr id="1741" name="Slide Number 1741"/>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36</a:t>
            </a:fld>
          </a:p>
        </p:txBody>
      </p:sp>
      <p:sp>
        <p:nvSpPr>
          <p:cNvPr id="1742" name="Answer 1742"/>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313</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p36"/>
          <p:cNvSpPr txBox="1">
            <a:spLocks noGrp="1"/>
          </p:cNvSpPr>
          <p:nvPr>
            <p:ph type="title" idx="4294967295"/>
          </p:nvPr>
        </p:nvSpPr>
        <p:spPr>
          <a:xfrm>
            <a:off x="838200" y="-343949"/>
            <a:ext cx="10514013" cy="343949"/>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4400"/>
              <a:buFont typeface="Calibri"/>
              <a:buNone/>
            </a:pPr>
            <a:r>
              <a:rPr lang="en-US" sz="2000" dirty="0">
                <a:solidFill>
                  <a:schemeClr val="lt2"/>
                </a:solidFill>
                <a:latin typeface="Calibri"/>
                <a:ea typeface="Calibri"/>
                <a:cs typeface="Calibri"/>
                <a:sym typeface="Calibri"/>
              </a:rPr>
              <a:t>Talk the Talk</a:t>
            </a:r>
            <a:endParaRPr sz="2000" dirty="0"/>
          </a:p>
        </p:txBody>
      </p:sp>
      <p:sp>
        <p:nvSpPr>
          <p:cNvPr id="748" name="Google Shape;748;p36" descr="5 minutes"/>
          <p:cNvSpPr txBox="1">
            <a:spLocks noGrp="1"/>
          </p:cNvSpPr>
          <p:nvPr>
            <p:ph type="body" idx="1"/>
          </p:nvPr>
        </p:nvSpPr>
        <p:spPr>
          <a:xfrm>
            <a:off x="10614990" y="5780973"/>
            <a:ext cx="863947" cy="79533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71616"/>
              </a:buClr>
              <a:buSzPts val="2000"/>
              <a:buNone/>
            </a:pPr>
            <a:r>
              <a:rPr lang="en-US" b="1" dirty="0"/>
              <a:t>5</a:t>
            </a:r>
            <a:endParaRPr dirty="0"/>
          </a:p>
        </p:txBody>
      </p:sp>
      <p:sp>
        <p:nvSpPr>
          <p:cNvPr id="1748" name="Slide Number 1748"/>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37</a:t>
            </a:fld>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37"/>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Things Aren’t Always What They Seem </a:t>
            </a:r>
            <a:r>
              <a:rPr lang="en-US" sz="2000" b="1" dirty="0">
                <a:solidFill>
                  <a:schemeClr val="bg1"/>
                </a:solidFill>
              </a:rPr>
              <a:t>(1 of 4) </a:t>
            </a:r>
            <a:endParaRPr dirty="0">
              <a:solidFill>
                <a:schemeClr val="bg1"/>
              </a:solidFill>
            </a:endParaRPr>
          </a:p>
        </p:txBody>
      </p:sp>
      <p:sp>
        <p:nvSpPr>
          <p:cNvPr id="755" name="Google Shape;755;p37"/>
          <p:cNvSpPr txBox="1"/>
          <p:nvPr/>
        </p:nvSpPr>
        <p:spPr>
          <a:xfrm>
            <a:off x="777240" y="1616150"/>
            <a:ext cx="9887216" cy="758986"/>
          </a:xfrm>
          <a:prstGeom prst="rect">
            <a:avLst/>
          </a:prstGeom>
          <a:noFill/>
          <a:ln>
            <a:noFill/>
          </a:ln>
        </p:spPr>
        <p:txBody>
          <a:bodyPr spcFirstLastPara="1" wrap="square" lIns="91425" tIns="45700" rIns="91425" bIns="45700" anchor="t" anchorCtr="0">
            <a:noAutofit/>
          </a:bodyPr>
          <a:lstStyle/>
          <a:p>
            <a:pPr marR="0" lvl="0" algn="l" rtl="0">
              <a:spcBef>
                <a:spcPts val="0"/>
              </a:spcBef>
              <a:spcAft>
                <a:spcPts val="0"/>
              </a:spcAft>
              <a:buClr>
                <a:srgbClr val="000000"/>
              </a:buClr>
              <a:buSzPts val="2800"/>
            </a:pPr>
            <a:r>
              <a:rPr lang="en-US" sz="2800" dirty="0">
                <a:solidFill>
                  <a:srgbClr val="000000"/>
                </a:solidFill>
                <a:latin typeface="Calibri"/>
                <a:ea typeface="Calibri"/>
                <a:cs typeface="Calibri"/>
                <a:sym typeface="Calibri"/>
              </a:rPr>
              <a:t>Consider the graphs of six linear equations shown.</a:t>
            </a:r>
            <a:endParaRPr sz="2800" b="0" i="0" u="none" strike="noStrike" dirty="0">
              <a:solidFill>
                <a:srgbClr val="000000"/>
              </a:solidFill>
              <a:latin typeface="Calibri"/>
              <a:ea typeface="Calibri"/>
              <a:cs typeface="Calibri"/>
              <a:sym typeface="Calibri"/>
            </a:endParaRPr>
          </a:p>
          <a:p>
            <a:pPr marL="0" marR="0" lvl="0" indent="0" algn="l" rtl="0">
              <a:spcBef>
                <a:spcPts val="560"/>
              </a:spcBef>
              <a:spcAft>
                <a:spcPts val="0"/>
              </a:spcAft>
              <a:buClr>
                <a:schemeClr val="dk1"/>
              </a:buClr>
              <a:buSzPts val="2800"/>
              <a:buFont typeface="Arial"/>
              <a:buNone/>
            </a:pPr>
            <a:endParaRPr sz="2800" b="0" i="0" u="none" strike="noStrike" dirty="0">
              <a:solidFill>
                <a:srgbClr val="3A3838"/>
              </a:solidFill>
              <a:latin typeface="Calibri"/>
              <a:ea typeface="Calibri"/>
              <a:cs typeface="Calibri"/>
              <a:sym typeface="Calibri"/>
            </a:endParaRPr>
          </a:p>
          <a:p>
            <a:pPr marL="0" marR="0" lvl="0" indent="0" algn="ctr" rtl="0">
              <a:spcBef>
                <a:spcPts val="560"/>
              </a:spcBef>
              <a:spcAft>
                <a:spcPts val="0"/>
              </a:spcAft>
              <a:buClr>
                <a:schemeClr val="dk1"/>
              </a:buClr>
              <a:buSzPts val="2800"/>
              <a:buFont typeface="Arial"/>
              <a:buNone/>
            </a:pPr>
            <a:endParaRPr sz="2800" dirty="0">
              <a:solidFill>
                <a:srgbClr val="3A3838"/>
              </a:solidFill>
              <a:latin typeface="Calibri"/>
              <a:ea typeface="Calibri"/>
              <a:cs typeface="Calibri"/>
              <a:sym typeface="Calibri"/>
            </a:endParaRPr>
          </a:p>
        </p:txBody>
      </p:sp>
      <p:pic>
        <p:nvPicPr>
          <p:cNvPr id="756" name="Google Shape;756;p37" descr="A graph of 6 lines on the coordinate plane. Lines a, b, and c rise from left to right. Line a rises through points (0, 4) and (1, 5). Line b rises through points (0, 0) and (1, 1). Line c rises through points (0, negative 4) and (1, negative 3). Lines d, e, and f fall from left to right. Line d falls through the points (0, negative 2) and (4, negative 3). Line e falls through the points (0, 0) and (4, negative 1). Line f falls through the points (0, 2) and (4, 1)."/>
          <p:cNvPicPr>
            <a:picLocks noChangeAspect="1"/>
          </p:cNvPicPr>
          <p:nvPr/>
        </p:nvPicPr>
        <p:blipFill rotWithShape="1">
          <a:blip r:embed="rId3">
            <a:alphaModFix/>
          </a:blip>
          <a:srcRect/>
          <a:stretch/>
        </p:blipFill>
        <p:spPr>
          <a:xfrm>
            <a:off x="2515364" y="2375136"/>
            <a:ext cx="4295996" cy="4153113"/>
          </a:xfrm>
          <a:prstGeom prst="rect">
            <a:avLst/>
          </a:prstGeom>
          <a:noFill/>
          <a:ln>
            <a:noFill/>
          </a:ln>
        </p:spPr>
      </p:pic>
      <p:pic>
        <p:nvPicPr>
          <p:cNvPr id="3" name="Picture 2" descr="Problem solving has 5 steps. Notice, organize, analyze, interpret, and report. Interpreting may also lead back to organizing.">
            <a:extLst>
              <a:ext uri="{FF2B5EF4-FFF2-40B4-BE49-F238E27FC236}">
                <a16:creationId xmlns:a16="http://schemas.microsoft.com/office/drawing/2014/main" id="{C2321507-D021-AF1D-AAB2-A2DC1BE8E5E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885413" y="1699437"/>
            <a:ext cx="1779043" cy="2646655"/>
          </a:xfrm>
          <a:prstGeom prst="rect">
            <a:avLst/>
          </a:prstGeom>
        </p:spPr>
      </p:pic>
      <p:sp>
        <p:nvSpPr>
          <p:cNvPr id="1756" name="Slide Number 1756"/>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38</a:t>
            </a:fld>
          </a:p>
        </p:txBody>
      </p:sp>
      <p:sp>
        <p:nvSpPr>
          <p:cNvPr id="1757" name="Answer 1757"/>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314</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p38"/>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Things Aren’t Always What They Seem </a:t>
            </a:r>
            <a:r>
              <a:rPr lang="en-US" sz="2000" b="1" dirty="0">
                <a:solidFill>
                  <a:schemeClr val="bg1"/>
                </a:solidFill>
              </a:rPr>
              <a:t>(2 of 4) </a:t>
            </a:r>
            <a:endParaRPr dirty="0">
              <a:solidFill>
                <a:schemeClr val="bg1"/>
              </a:solidFill>
            </a:endParaRPr>
          </a:p>
        </p:txBody>
      </p:sp>
      <p:pic>
        <p:nvPicPr>
          <p:cNvPr id="765" name="Google Shape;765;p38">
            <a:extLst>
              <a:ext uri="{C183D7F6-B498-43B3-948B-1728B52AA6E4}">
                <adec:decorative xmlns:adec="http://schemas.microsoft.com/office/drawing/2017/decorative" val="1"/>
              </a:ext>
            </a:extLst>
          </p:cNvPr>
          <p:cNvPicPr>
            <a:picLocks noChangeAspect="1"/>
          </p:cNvPicPr>
          <p:nvPr/>
        </p:nvPicPr>
        <p:blipFill rotWithShape="1">
          <a:blip r:embed="rId3">
            <a:alphaModFix/>
          </a:blip>
          <a:srcRect/>
          <a:stretch/>
        </p:blipFill>
        <p:spPr>
          <a:xfrm>
            <a:off x="1896824" y="1430124"/>
            <a:ext cx="8396764" cy="5207794"/>
          </a:xfrm>
          <a:prstGeom prst="rect">
            <a:avLst/>
          </a:prstGeom>
          <a:noFill/>
          <a:ln>
            <a:noFill/>
          </a:ln>
        </p:spPr>
      </p:pic>
      <p:sp>
        <p:nvSpPr>
          <p:cNvPr id="2" name="Google Shape;755;p37">
            <a:extLst>
              <a:ext uri="{FF2B5EF4-FFF2-40B4-BE49-F238E27FC236}">
                <a16:creationId xmlns:a16="http://schemas.microsoft.com/office/drawing/2014/main" id="{1A64683F-2A01-144C-C564-B319873FECE9}"/>
              </a:ext>
            </a:extLst>
          </p:cNvPr>
          <p:cNvSpPr txBox="1"/>
          <p:nvPr/>
        </p:nvSpPr>
        <p:spPr>
          <a:xfrm>
            <a:off x="3221373" y="1934932"/>
            <a:ext cx="6484690" cy="4012862"/>
          </a:xfrm>
          <a:prstGeom prst="rect">
            <a:avLst/>
          </a:prstGeom>
          <a:noFill/>
          <a:ln>
            <a:noFill/>
          </a:ln>
        </p:spPr>
        <p:txBody>
          <a:bodyPr spcFirstLastPara="1" wrap="square" lIns="91425" tIns="45700" rIns="91425" bIns="45700" anchor="t" anchorCtr="0">
            <a:noAutofit/>
          </a:bodyPr>
          <a:lstStyle/>
          <a:p>
            <a:pPr marL="514350" marR="0" lvl="0" indent="-514350" algn="l" rtl="0">
              <a:spcBef>
                <a:spcPts val="0"/>
              </a:spcBef>
              <a:spcAft>
                <a:spcPts val="0"/>
              </a:spcAft>
              <a:buClr>
                <a:srgbClr val="000000"/>
              </a:buClr>
              <a:buSzPts val="2800"/>
              <a:buFont typeface="+mj-lt"/>
              <a:buAutoNum type="arabicPeriod"/>
            </a:pPr>
            <a:r>
              <a:rPr lang="en-US" sz="2800" dirty="0">
                <a:solidFill>
                  <a:srgbClr val="000000"/>
                </a:solidFill>
                <a:latin typeface="Calibri"/>
                <a:ea typeface="Calibri"/>
                <a:cs typeface="Calibri"/>
                <a:sym typeface="Calibri"/>
              </a:rPr>
              <a:t>Linh says lines </a:t>
            </a:r>
            <a:r>
              <a:rPr lang="en-US" sz="2800" i="1" dirty="0">
                <a:solidFill>
                  <a:srgbClr val="000000"/>
                </a:solidFill>
                <a:latin typeface="Calibri"/>
                <a:ea typeface="Calibri"/>
                <a:cs typeface="Calibri"/>
                <a:sym typeface="Calibri"/>
              </a:rPr>
              <a:t>a</a:t>
            </a:r>
            <a:r>
              <a:rPr lang="en-US" sz="2800" dirty="0">
                <a:solidFill>
                  <a:srgbClr val="000000"/>
                </a:solidFill>
                <a:latin typeface="Calibri"/>
                <a:ea typeface="Calibri"/>
                <a:cs typeface="Calibri"/>
                <a:sym typeface="Calibri"/>
              </a:rPr>
              <a:t>, </a:t>
            </a:r>
            <a:r>
              <a:rPr lang="en-US" sz="2800" i="1" dirty="0">
                <a:solidFill>
                  <a:srgbClr val="000000"/>
                </a:solidFill>
                <a:latin typeface="Calibri"/>
                <a:ea typeface="Calibri"/>
                <a:cs typeface="Calibri"/>
                <a:sym typeface="Calibri"/>
              </a:rPr>
              <a:t>b</a:t>
            </a:r>
            <a:r>
              <a:rPr lang="en-US" sz="2800" dirty="0">
                <a:solidFill>
                  <a:srgbClr val="000000"/>
                </a:solidFill>
                <a:latin typeface="Calibri"/>
                <a:ea typeface="Calibri"/>
                <a:cs typeface="Calibri"/>
                <a:sym typeface="Calibri"/>
              </a:rPr>
              <a:t>, and </a:t>
            </a:r>
            <a:r>
              <a:rPr lang="en-US" sz="2800" i="1" dirty="0">
                <a:solidFill>
                  <a:srgbClr val="000000"/>
                </a:solidFill>
                <a:latin typeface="Calibri"/>
                <a:ea typeface="Calibri"/>
                <a:cs typeface="Calibri"/>
                <a:sym typeface="Calibri"/>
              </a:rPr>
              <a:t>c</a:t>
            </a:r>
            <a:r>
              <a:rPr lang="en-US" sz="2800" dirty="0">
                <a:solidFill>
                  <a:srgbClr val="000000"/>
                </a:solidFill>
                <a:latin typeface="Calibri"/>
                <a:ea typeface="Calibri"/>
                <a:cs typeface="Calibri"/>
                <a:sym typeface="Calibri"/>
              </a:rPr>
              <a:t> are parallel</a:t>
            </a:r>
            <a:br>
              <a:rPr lang="en-US" sz="2800" dirty="0">
                <a:solidFill>
                  <a:srgbClr val="000000"/>
                </a:solidFill>
                <a:latin typeface="Calibri"/>
                <a:ea typeface="Calibri"/>
                <a:cs typeface="Calibri"/>
                <a:sym typeface="Calibri"/>
              </a:rPr>
            </a:br>
            <a:r>
              <a:rPr lang="en-US" sz="2800" dirty="0">
                <a:solidFill>
                  <a:srgbClr val="000000"/>
                </a:solidFill>
                <a:latin typeface="Calibri"/>
                <a:ea typeface="Calibri"/>
                <a:cs typeface="Calibri"/>
                <a:sym typeface="Calibri"/>
              </a:rPr>
              <a:t>to each other and perpendicular</a:t>
            </a:r>
            <a:br>
              <a:rPr lang="en-US" sz="2800" dirty="0">
                <a:solidFill>
                  <a:srgbClr val="000000"/>
                </a:solidFill>
                <a:latin typeface="Calibri"/>
                <a:ea typeface="Calibri"/>
                <a:cs typeface="Calibri"/>
                <a:sym typeface="Calibri"/>
              </a:rPr>
            </a:br>
            <a:r>
              <a:rPr lang="en-US" sz="2800" dirty="0">
                <a:solidFill>
                  <a:srgbClr val="000000"/>
                </a:solidFill>
                <a:latin typeface="Calibri"/>
                <a:ea typeface="Calibri"/>
                <a:cs typeface="Calibri"/>
                <a:sym typeface="Calibri"/>
              </a:rPr>
              <a:t>to lines </a:t>
            </a:r>
            <a:r>
              <a:rPr lang="en-US" sz="2800" i="1" dirty="0">
                <a:solidFill>
                  <a:srgbClr val="000000"/>
                </a:solidFill>
                <a:latin typeface="Calibri"/>
                <a:ea typeface="Calibri"/>
                <a:cs typeface="Calibri"/>
                <a:sym typeface="Calibri"/>
              </a:rPr>
              <a:t>d</a:t>
            </a:r>
            <a:r>
              <a:rPr lang="en-US" sz="2800" dirty="0">
                <a:solidFill>
                  <a:srgbClr val="000000"/>
                </a:solidFill>
                <a:latin typeface="Calibri"/>
                <a:ea typeface="Calibri"/>
                <a:cs typeface="Calibri"/>
                <a:sym typeface="Calibri"/>
              </a:rPr>
              <a:t>, </a:t>
            </a:r>
            <a:r>
              <a:rPr lang="en-US" sz="2800" i="1" dirty="0">
                <a:solidFill>
                  <a:srgbClr val="000000"/>
                </a:solidFill>
                <a:latin typeface="Calibri"/>
                <a:ea typeface="Calibri"/>
                <a:cs typeface="Calibri"/>
                <a:sym typeface="Calibri"/>
              </a:rPr>
              <a:t>e</a:t>
            </a:r>
            <a:r>
              <a:rPr lang="en-US" sz="2800" dirty="0">
                <a:solidFill>
                  <a:srgbClr val="000000"/>
                </a:solidFill>
                <a:latin typeface="Calibri"/>
                <a:ea typeface="Calibri"/>
                <a:cs typeface="Calibri"/>
                <a:sym typeface="Calibri"/>
              </a:rPr>
              <a:t>, and </a:t>
            </a:r>
            <a:r>
              <a:rPr lang="en-US" sz="2800" i="1" dirty="0">
                <a:solidFill>
                  <a:srgbClr val="000000"/>
                </a:solidFill>
                <a:latin typeface="Calibri"/>
                <a:ea typeface="Calibri"/>
                <a:cs typeface="Calibri"/>
                <a:sym typeface="Calibri"/>
              </a:rPr>
              <a:t>f</a:t>
            </a:r>
            <a:r>
              <a:rPr lang="en-US" sz="2800" dirty="0">
                <a:solidFill>
                  <a:srgbClr val="000000"/>
                </a:solidFill>
                <a:latin typeface="Calibri"/>
                <a:ea typeface="Calibri"/>
                <a:cs typeface="Calibri"/>
                <a:sym typeface="Calibri"/>
              </a:rPr>
              <a:t>. Jackson agrees</a:t>
            </a:r>
            <a:br>
              <a:rPr lang="en-US" sz="2800" dirty="0">
                <a:solidFill>
                  <a:srgbClr val="000000"/>
                </a:solidFill>
                <a:latin typeface="Calibri"/>
                <a:ea typeface="Calibri"/>
                <a:cs typeface="Calibri"/>
                <a:sym typeface="Calibri"/>
              </a:rPr>
            </a:br>
            <a:r>
              <a:rPr lang="en-US" sz="2800" dirty="0">
                <a:solidFill>
                  <a:srgbClr val="000000"/>
                </a:solidFill>
                <a:latin typeface="Calibri"/>
                <a:ea typeface="Calibri"/>
                <a:cs typeface="Calibri"/>
                <a:sym typeface="Calibri"/>
              </a:rPr>
              <a:t>that lines </a:t>
            </a:r>
            <a:r>
              <a:rPr lang="en-US" sz="2800" i="1" dirty="0">
                <a:solidFill>
                  <a:srgbClr val="000000"/>
                </a:solidFill>
                <a:latin typeface="Calibri"/>
                <a:ea typeface="Calibri"/>
                <a:cs typeface="Calibri"/>
                <a:sym typeface="Calibri"/>
              </a:rPr>
              <a:t>a</a:t>
            </a:r>
            <a:r>
              <a:rPr lang="en-US" sz="2800" dirty="0">
                <a:solidFill>
                  <a:srgbClr val="000000"/>
                </a:solidFill>
                <a:latin typeface="Calibri"/>
                <a:ea typeface="Calibri"/>
                <a:cs typeface="Calibri"/>
                <a:sym typeface="Calibri"/>
              </a:rPr>
              <a:t>, </a:t>
            </a:r>
            <a:r>
              <a:rPr lang="en-US" sz="2800" i="1" dirty="0">
                <a:solidFill>
                  <a:srgbClr val="000000"/>
                </a:solidFill>
                <a:latin typeface="Calibri"/>
                <a:ea typeface="Calibri"/>
                <a:cs typeface="Calibri"/>
                <a:sym typeface="Calibri"/>
              </a:rPr>
              <a:t>b</a:t>
            </a:r>
            <a:r>
              <a:rPr lang="en-US" sz="2800" dirty="0">
                <a:solidFill>
                  <a:srgbClr val="000000"/>
                </a:solidFill>
                <a:latin typeface="Calibri"/>
                <a:ea typeface="Calibri"/>
                <a:cs typeface="Calibri"/>
                <a:sym typeface="Calibri"/>
              </a:rPr>
              <a:t>, and </a:t>
            </a:r>
            <a:r>
              <a:rPr lang="en-US" sz="2800" i="1" dirty="0">
                <a:solidFill>
                  <a:srgbClr val="000000"/>
                </a:solidFill>
                <a:latin typeface="Calibri"/>
                <a:ea typeface="Calibri"/>
                <a:cs typeface="Calibri"/>
                <a:sym typeface="Calibri"/>
              </a:rPr>
              <a:t>c</a:t>
            </a:r>
            <a:r>
              <a:rPr lang="en-US" sz="2800" dirty="0">
                <a:solidFill>
                  <a:srgbClr val="000000"/>
                </a:solidFill>
                <a:latin typeface="Calibri"/>
                <a:ea typeface="Calibri"/>
                <a:cs typeface="Calibri"/>
                <a:sym typeface="Calibri"/>
              </a:rPr>
              <a:t> are parallel to</a:t>
            </a:r>
            <a:br>
              <a:rPr lang="en-US" sz="2800" dirty="0">
                <a:solidFill>
                  <a:srgbClr val="000000"/>
                </a:solidFill>
                <a:latin typeface="Calibri"/>
                <a:ea typeface="Calibri"/>
                <a:cs typeface="Calibri"/>
                <a:sym typeface="Calibri"/>
              </a:rPr>
            </a:br>
            <a:r>
              <a:rPr lang="en-US" sz="2800" dirty="0">
                <a:solidFill>
                  <a:srgbClr val="000000"/>
                </a:solidFill>
                <a:latin typeface="Calibri"/>
                <a:ea typeface="Calibri"/>
                <a:cs typeface="Calibri"/>
                <a:sym typeface="Calibri"/>
              </a:rPr>
              <a:t>each other but says they are not perpendicular to lines </a:t>
            </a:r>
            <a:r>
              <a:rPr lang="en-US" sz="2800" i="1" dirty="0">
                <a:solidFill>
                  <a:srgbClr val="000000"/>
                </a:solidFill>
                <a:latin typeface="Calibri"/>
                <a:ea typeface="Calibri"/>
                <a:cs typeface="Calibri"/>
                <a:sym typeface="Calibri"/>
              </a:rPr>
              <a:t>d</a:t>
            </a:r>
            <a:r>
              <a:rPr lang="en-US" sz="2800" dirty="0">
                <a:solidFill>
                  <a:srgbClr val="000000"/>
                </a:solidFill>
                <a:latin typeface="Calibri"/>
                <a:ea typeface="Calibri"/>
                <a:cs typeface="Calibri"/>
                <a:sym typeface="Calibri"/>
              </a:rPr>
              <a:t>, </a:t>
            </a:r>
            <a:r>
              <a:rPr lang="en-US" sz="2800" i="1" dirty="0">
                <a:solidFill>
                  <a:srgbClr val="000000"/>
                </a:solidFill>
                <a:latin typeface="Calibri"/>
                <a:ea typeface="Calibri"/>
                <a:cs typeface="Calibri"/>
                <a:sym typeface="Calibri"/>
              </a:rPr>
              <a:t>e</a:t>
            </a:r>
            <a:r>
              <a:rPr lang="en-US" sz="2800" dirty="0">
                <a:solidFill>
                  <a:srgbClr val="000000"/>
                </a:solidFill>
                <a:latin typeface="Calibri"/>
                <a:ea typeface="Calibri"/>
                <a:cs typeface="Calibri"/>
                <a:sym typeface="Calibri"/>
              </a:rPr>
              <a:t>, and </a:t>
            </a:r>
            <a:r>
              <a:rPr lang="en-US" sz="2800" i="1" dirty="0">
                <a:solidFill>
                  <a:srgbClr val="000000"/>
                </a:solidFill>
                <a:latin typeface="Calibri"/>
                <a:ea typeface="Calibri"/>
                <a:cs typeface="Calibri"/>
                <a:sym typeface="Calibri"/>
              </a:rPr>
              <a:t>f</a:t>
            </a:r>
            <a:r>
              <a:rPr lang="en-US" sz="2800" dirty="0">
                <a:solidFill>
                  <a:srgbClr val="000000"/>
                </a:solidFill>
                <a:latin typeface="Calibri"/>
                <a:ea typeface="Calibri"/>
                <a:cs typeface="Calibri"/>
                <a:sym typeface="Calibri"/>
              </a:rPr>
              <a:t>. Who is correct? Justify your reasoning.</a:t>
            </a:r>
            <a:endParaRPr sz="2800" b="0" i="0" u="none" strike="noStrike" dirty="0">
              <a:solidFill>
                <a:srgbClr val="000000"/>
              </a:solidFill>
              <a:latin typeface="Calibri"/>
              <a:ea typeface="Calibri"/>
              <a:cs typeface="Calibri"/>
              <a:sym typeface="Calibri"/>
            </a:endParaRPr>
          </a:p>
          <a:p>
            <a:pPr marL="0" marR="0" lvl="0" indent="0" algn="l" rtl="0">
              <a:spcBef>
                <a:spcPts val="560"/>
              </a:spcBef>
              <a:spcAft>
                <a:spcPts val="0"/>
              </a:spcAft>
              <a:buClr>
                <a:schemeClr val="dk1"/>
              </a:buClr>
              <a:buSzPts val="2800"/>
              <a:buFont typeface="Arial"/>
              <a:buNone/>
            </a:pPr>
            <a:endParaRPr sz="2800" b="0" i="0" u="none" strike="noStrike" dirty="0">
              <a:solidFill>
                <a:srgbClr val="3A3838"/>
              </a:solidFill>
              <a:latin typeface="Calibri"/>
              <a:ea typeface="Calibri"/>
              <a:cs typeface="Calibri"/>
              <a:sym typeface="Calibri"/>
            </a:endParaRPr>
          </a:p>
          <a:p>
            <a:pPr marL="0" marR="0" lvl="0" indent="0" algn="ctr" rtl="0">
              <a:spcBef>
                <a:spcPts val="560"/>
              </a:spcBef>
              <a:spcAft>
                <a:spcPts val="0"/>
              </a:spcAft>
              <a:buClr>
                <a:schemeClr val="dk1"/>
              </a:buClr>
              <a:buSzPts val="2800"/>
              <a:buFont typeface="Arial"/>
              <a:buNone/>
            </a:pPr>
            <a:endParaRPr sz="2800" dirty="0">
              <a:solidFill>
                <a:srgbClr val="3A3838"/>
              </a:solidFill>
              <a:latin typeface="Calibri"/>
              <a:ea typeface="Calibri"/>
              <a:cs typeface="Calibri"/>
              <a:sym typeface="Calibri"/>
            </a:endParaRPr>
          </a:p>
        </p:txBody>
      </p:sp>
      <p:sp>
        <p:nvSpPr>
          <p:cNvPr id="1765" name="Slide Number 176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39</a:t>
            </a:fld>
          </a:p>
        </p:txBody>
      </p:sp>
      <p:sp>
        <p:nvSpPr>
          <p:cNvPr id="1766" name="Answer 1766"/>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314</a:t>
            </a:r>
          </a:p>
        </p:txBody>
      </p:sp>
      <p:sp>
        <p:nvSpPr>
          <p:cNvPr id="1767" name="Answer 1767"/>
          <p:cNvSpPr txBox="1"/>
          <p:nvPr/>
        </p:nvSpPr>
        <p:spPr>
          <a:xfrm>
            <a:off x="3302000" y="5080000"/>
            <a:ext cx="6731000" cy="14287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Jackson is correct. The axes have different scales. Lines a, b and c all have slope 1, so they are parallel. Lines d, e and f all have slope −1/4. Since 1 · (−1/4) ≠ −1, the slopes are not negative reciprocals, so the lines are not perpendicular.</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7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39"/>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Things Aren’t Always What They Seem </a:t>
            </a:r>
            <a:r>
              <a:rPr lang="en-US" sz="2000" b="1" dirty="0">
                <a:solidFill>
                  <a:schemeClr val="bg1"/>
                </a:solidFill>
              </a:rPr>
              <a:t>(3 of 4) </a:t>
            </a:r>
            <a:endParaRPr dirty="0">
              <a:solidFill>
                <a:schemeClr val="bg1"/>
              </a:solidFill>
            </a:endParaRPr>
          </a:p>
        </p:txBody>
      </p:sp>
      <p:sp>
        <p:nvSpPr>
          <p:cNvPr id="773" name="Google Shape;773;p39"/>
          <p:cNvSpPr txBox="1"/>
          <p:nvPr/>
        </p:nvSpPr>
        <p:spPr>
          <a:xfrm>
            <a:off x="777240" y="1616140"/>
            <a:ext cx="989371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dirty="0">
                <a:solidFill>
                  <a:srgbClr val="000000"/>
                </a:solidFill>
                <a:latin typeface="Calibri"/>
                <a:ea typeface="Calibri"/>
                <a:cs typeface="Calibri"/>
                <a:sym typeface="Calibri"/>
              </a:rPr>
              <a:t>Let’s answer the Essential Question and summarize our learning from the Talk the Talk!</a:t>
            </a:r>
            <a:endParaRPr dirty="0"/>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a:p>
            <a:pPr marL="0" marR="0" lvl="0" indent="0" algn="l" rtl="0">
              <a:spcBef>
                <a:spcPts val="560"/>
              </a:spcBef>
              <a:spcAft>
                <a:spcPts val="0"/>
              </a:spcAft>
              <a:buClr>
                <a:srgbClr val="000000"/>
              </a:buClr>
              <a:buSzPts val="2800"/>
              <a:buFont typeface="Arial"/>
              <a:buNone/>
            </a:pPr>
            <a:r>
              <a:rPr lang="en-US" sz="2800" b="1" dirty="0">
                <a:solidFill>
                  <a:srgbClr val="000000"/>
                </a:solidFill>
                <a:latin typeface="Calibri"/>
                <a:ea typeface="Calibri"/>
                <a:cs typeface="Calibri"/>
                <a:sym typeface="Calibri"/>
              </a:rPr>
              <a:t>Essential Question: </a:t>
            </a:r>
            <a:r>
              <a:rPr lang="en-US" sz="2800" b="0" i="0" u="none" strike="noStrike" cap="none" dirty="0">
                <a:solidFill>
                  <a:srgbClr val="000000"/>
                </a:solidFill>
                <a:latin typeface="Calibri"/>
                <a:ea typeface="Calibri"/>
                <a:cs typeface="Calibri"/>
                <a:sym typeface="Calibri"/>
              </a:rPr>
              <a:t>How can you rotate the graphs of linear equations to determine the slopes of perpendicular lines</a:t>
            </a:r>
            <a:r>
              <a:rPr lang="en-US" sz="2800" dirty="0">
                <a:solidFill>
                  <a:srgbClr val="000000"/>
                </a:solidFill>
                <a:latin typeface="Calibri"/>
                <a:ea typeface="Calibri"/>
                <a:cs typeface="Calibri"/>
                <a:sym typeface="Calibri"/>
              </a:rPr>
              <a:t>?</a:t>
            </a:r>
            <a:endParaRPr dirty="0"/>
          </a:p>
          <a:p>
            <a:pPr marL="0" marR="0" lvl="0" indent="0" algn="l" rtl="0">
              <a:spcBef>
                <a:spcPts val="560"/>
              </a:spcBef>
              <a:spcAft>
                <a:spcPts val="0"/>
              </a:spcAft>
              <a:buClr>
                <a:schemeClr val="dk1"/>
              </a:buClr>
              <a:buSzPts val="2800"/>
              <a:buFont typeface="Arial"/>
              <a:buNone/>
            </a:pPr>
            <a:endParaRPr sz="2800" b="0" i="0" u="none" strike="noStrike" dirty="0">
              <a:solidFill>
                <a:srgbClr val="000000"/>
              </a:solidFill>
              <a:latin typeface="Calibri"/>
              <a:ea typeface="Calibri"/>
              <a:cs typeface="Calibri"/>
              <a:sym typeface="Calibri"/>
            </a:endParaRPr>
          </a:p>
        </p:txBody>
      </p:sp>
      <p:pic>
        <p:nvPicPr>
          <p:cNvPr id="774" name="Google Shape;774;p39">
            <a:extLst>
              <a:ext uri="{C183D7F6-B498-43B3-948B-1728B52AA6E4}">
                <adec:decorative xmlns:adec="http://schemas.microsoft.com/office/drawing/2017/decorative" val="1"/>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341803" y="372494"/>
            <a:ext cx="1501270" cy="518205"/>
          </a:xfrm>
          <a:prstGeom prst="rect">
            <a:avLst/>
          </a:prstGeom>
          <a:noFill/>
          <a:ln>
            <a:noFill/>
          </a:ln>
        </p:spPr>
      </p:pic>
      <p:sp>
        <p:nvSpPr>
          <p:cNvPr id="1774" name="Slide Number 177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40</a:t>
            </a:fld>
          </a:p>
        </p:txBody>
      </p:sp>
      <p:sp>
        <p:nvSpPr>
          <p:cNvPr id="1775" name="Answer 177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314</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p40"/>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Things Aren’t Always What They Seem </a:t>
            </a:r>
            <a:r>
              <a:rPr lang="en-US" sz="2000" b="1" dirty="0">
                <a:solidFill>
                  <a:schemeClr val="bg1"/>
                </a:solidFill>
              </a:rPr>
              <a:t>(4 of 4) </a:t>
            </a:r>
            <a:endParaRPr dirty="0">
              <a:solidFill>
                <a:schemeClr val="bg1"/>
              </a:solidFill>
            </a:endParaRPr>
          </a:p>
        </p:txBody>
      </p:sp>
      <p:sp>
        <p:nvSpPr>
          <p:cNvPr id="781" name="Google Shape;781;p40">
            <a:extLst>
              <a:ext uri="{C183D7F6-B498-43B3-948B-1728B52AA6E4}">
                <adec:decorative xmlns:adec="http://schemas.microsoft.com/office/drawing/2017/decorative" val="1"/>
              </a:ext>
            </a:extLst>
          </p:cNvPr>
          <p:cNvSpPr txBox="1"/>
          <p:nvPr/>
        </p:nvSpPr>
        <p:spPr>
          <a:xfrm>
            <a:off x="777240" y="1616140"/>
            <a:ext cx="1047175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800"/>
              <a:buFont typeface="Arial"/>
              <a:buNone/>
            </a:pPr>
            <a:endParaRPr sz="2800" b="0" i="0" u="none" strike="noStrike">
              <a:solidFill>
                <a:srgbClr val="3A3838"/>
              </a:solidFill>
              <a:latin typeface="Calibri"/>
              <a:ea typeface="Calibri"/>
              <a:cs typeface="Calibri"/>
              <a:sym typeface="Calibri"/>
            </a:endParaRPr>
          </a:p>
        </p:txBody>
      </p:sp>
      <p:sp>
        <p:nvSpPr>
          <p:cNvPr id="1781" name="Slide Number 1781"/>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41</a:t>
            </a:fld>
          </a:p>
        </p:txBody>
      </p:sp>
      <p:sp>
        <p:nvSpPr>
          <p:cNvPr id="1782" name="Answer 1782"/>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314</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86"/>
        <p:cNvGrpSpPr/>
        <p:nvPr/>
      </p:nvGrpSpPr>
      <p:grpSpPr>
        <a:xfrm>
          <a:off x="0" y="0"/>
          <a:ext cx="0" cy="0"/>
          <a:chOff x="0" y="0"/>
          <a:chExt cx="0" cy="0"/>
        </a:xfrm>
      </p:grpSpPr>
      <p:sp>
        <p:nvSpPr>
          <p:cNvPr id="787" name="Google Shape;787;p41"/>
          <p:cNvSpPr txBox="1">
            <a:spLocks noGrp="1"/>
          </p:cNvSpPr>
          <p:nvPr>
            <p:ph type="title" idx="4294967295"/>
          </p:nvPr>
        </p:nvSpPr>
        <p:spPr>
          <a:xfrm>
            <a:off x="838200" y="-310393"/>
            <a:ext cx="10514013" cy="31039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4400"/>
              <a:buFont typeface="Calibri"/>
              <a:buNone/>
            </a:pPr>
            <a:r>
              <a:rPr lang="en-US" sz="2000" dirty="0">
                <a:solidFill>
                  <a:schemeClr val="lt2"/>
                </a:solidFill>
                <a:latin typeface="Calibri"/>
                <a:ea typeface="Calibri"/>
                <a:cs typeface="Calibri"/>
                <a:sym typeface="Calibri"/>
              </a:rPr>
              <a:t>Prepare</a:t>
            </a:r>
            <a:endParaRPr sz="2000" dirty="0"/>
          </a:p>
        </p:txBody>
      </p:sp>
      <p:sp>
        <p:nvSpPr>
          <p:cNvPr id="1787" name="Slide Number 1787"/>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43</a:t>
            </a:fld>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p42"/>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a:t>Prepare for Module 2 Topic 2 Lesson 4</a:t>
            </a:r>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6D39A36-54CA-641F-401E-0EAC4D5715F2}"/>
                  </a:ext>
                </a:extLst>
              </p:cNvPr>
              <p:cNvSpPr txBox="1"/>
              <p:nvPr/>
            </p:nvSpPr>
            <p:spPr>
              <a:xfrm>
                <a:off x="777239" y="1610686"/>
                <a:ext cx="10019391" cy="4124206"/>
              </a:xfrm>
              <a:prstGeom prst="rect">
                <a:avLst/>
              </a:prstGeom>
              <a:noFill/>
            </p:spPr>
            <p:txBody>
              <a:bodyPr wrap="square" rtlCol="0">
                <a:spAutoFit/>
              </a:bodyPr>
              <a:lstStyle/>
              <a:p>
                <a:r>
                  <a:rPr lang="en-US" sz="2800" dirty="0">
                    <a:latin typeface="Calibri" panose="020F0502020204030204" pitchFamily="34" charset="0"/>
                    <a:ea typeface="Calibri" panose="020F0502020204030204" pitchFamily="34" charset="0"/>
                    <a:cs typeface="Calibri" panose="020F0502020204030204" pitchFamily="34" charset="0"/>
                  </a:rPr>
                  <a:t>Determine whether each set of ordered pairs represents a function.</a:t>
                </a:r>
              </a:p>
              <a:p>
                <a:pPr>
                  <a:spcAft>
                    <a:spcPts val="1200"/>
                  </a:spcAft>
                </a:pPr>
                <a:r>
                  <a:rPr lang="en-US" sz="2800" dirty="0">
                    <a:latin typeface="Calibri" panose="020F0502020204030204" pitchFamily="34" charset="0"/>
                    <a:ea typeface="Calibri" panose="020F0502020204030204" pitchFamily="34" charset="0"/>
                    <a:cs typeface="Calibri" panose="020F0502020204030204" pitchFamily="34" charset="0"/>
                  </a:rPr>
                  <a:t>Explain your reasoning.</a:t>
                </a:r>
              </a:p>
              <a:p>
                <a:pPr marL="342900" indent="-342900">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d>
                      <m:dPr>
                        <m:begChr m:val="{"/>
                        <m:endChr m:val="}"/>
                        <m:ctrlPr>
                          <a:rPr lang="en-US" sz="2800" i="1" smtClean="0">
                            <a:latin typeface="Cambria Math" panose="02040503050406030204" pitchFamily="18" charset="0"/>
                          </a:rPr>
                        </m:ctrlPr>
                      </m:dPr>
                      <m:e>
                        <m:d>
                          <m:dPr>
                            <m:ctrlPr>
                              <a:rPr lang="en-US" sz="2800" b="0" i="1" smtClean="0">
                                <a:latin typeface="Cambria Math" panose="02040503050406030204" pitchFamily="18" charset="0"/>
                              </a:rPr>
                            </m:ctrlPr>
                          </m:dPr>
                          <m:e>
                            <m:r>
                              <a:rPr lang="en-US" sz="2800" b="0" i="1" smtClean="0">
                                <a:latin typeface="Cambria Math" panose="02040503050406030204" pitchFamily="18" charset="0"/>
                              </a:rPr>
                              <m:t>−</m:t>
                            </m:r>
                            <m:r>
                              <a:rPr lang="en-US" sz="2800" b="0" i="1" smtClean="0">
                                <a:latin typeface="Cambria Math" panose="02040503050406030204" pitchFamily="18" charset="0"/>
                              </a:rPr>
                              <m:t>1</m:t>
                            </m:r>
                            <m:r>
                              <a:rPr lang="en-US" sz="2800" b="0" i="1" smtClean="0">
                                <a:latin typeface="Cambria Math" panose="02040503050406030204" pitchFamily="18" charset="0"/>
                              </a:rPr>
                              <m:t>, −</m:t>
                            </m:r>
                            <m:r>
                              <a:rPr lang="en-US" sz="2800" b="0" i="1" smtClean="0">
                                <a:latin typeface="Cambria Math" panose="02040503050406030204" pitchFamily="18" charset="0"/>
                              </a:rPr>
                              <m:t>1</m:t>
                            </m:r>
                          </m:e>
                        </m:d>
                        <m:r>
                          <a:rPr lang="en-US" sz="2800" b="0" i="1" smtClean="0">
                            <a:latin typeface="Cambria Math" panose="02040503050406030204" pitchFamily="18" charset="0"/>
                          </a:rPr>
                          <m:t>, </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0</m:t>
                            </m:r>
                            <m:r>
                              <a:rPr lang="en-US" sz="2800" b="0" i="1" smtClean="0">
                                <a:latin typeface="Cambria Math" panose="02040503050406030204" pitchFamily="18" charset="0"/>
                              </a:rPr>
                              <m:t>, </m:t>
                            </m:r>
                            <m:r>
                              <a:rPr lang="en-US" sz="2800" b="0" i="1" smtClean="0">
                                <a:latin typeface="Cambria Math" panose="02040503050406030204" pitchFamily="18" charset="0"/>
                              </a:rPr>
                              <m:t>0</m:t>
                            </m:r>
                          </m:e>
                        </m:d>
                        <m:r>
                          <a:rPr lang="en-US" sz="2800" b="0" i="1" smtClean="0">
                            <a:latin typeface="Cambria Math" panose="02040503050406030204" pitchFamily="18" charset="0"/>
                          </a:rPr>
                          <m:t>, </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1</m:t>
                            </m:r>
                            <m:r>
                              <a:rPr lang="en-US" sz="2800" b="0" i="1" smtClean="0">
                                <a:latin typeface="Cambria Math" panose="02040503050406030204" pitchFamily="18" charset="0"/>
                              </a:rPr>
                              <m:t>, </m:t>
                            </m:r>
                            <m:r>
                              <a:rPr lang="en-US" sz="2800" b="0" i="1" smtClean="0">
                                <a:latin typeface="Cambria Math" panose="02040503050406030204" pitchFamily="18" charset="0"/>
                              </a:rPr>
                              <m:t>1</m:t>
                            </m:r>
                          </m:e>
                        </m:d>
                        <m:r>
                          <a:rPr lang="en-US" sz="2800" b="0" i="1" smtClean="0">
                            <a:latin typeface="Cambria Math" panose="02040503050406030204" pitchFamily="18" charset="0"/>
                          </a:rPr>
                          <m:t>, (</m:t>
                        </m:r>
                        <m:r>
                          <a:rPr lang="en-US" sz="2800" b="0" i="1" smtClean="0">
                            <a:latin typeface="Cambria Math" panose="02040503050406030204" pitchFamily="18" charset="0"/>
                          </a:rPr>
                          <m:t>2</m:t>
                        </m:r>
                        <m:r>
                          <a:rPr lang="en-US" sz="2800" b="0" i="1" smtClean="0">
                            <a:latin typeface="Cambria Math" panose="02040503050406030204" pitchFamily="18" charset="0"/>
                          </a:rPr>
                          <m:t>, </m:t>
                        </m:r>
                        <m:r>
                          <a:rPr lang="en-US" sz="2800" b="0" i="1" smtClean="0">
                            <a:latin typeface="Cambria Math" panose="02040503050406030204" pitchFamily="18" charset="0"/>
                          </a:rPr>
                          <m:t>2</m:t>
                        </m:r>
                        <m:r>
                          <a:rPr lang="en-US" sz="2800" b="0" i="1" smtClean="0">
                            <a:latin typeface="Cambria Math" panose="02040503050406030204" pitchFamily="18" charset="0"/>
                          </a:rPr>
                          <m:t>)</m:t>
                        </m:r>
                      </m:e>
                    </m:d>
                  </m:oMath>
                </a14:m>
                <a:br>
                  <a:rPr lang="en-US" sz="2800" dirty="0">
                    <a:latin typeface="Calibri" panose="020F0502020204030204" pitchFamily="34" charset="0"/>
                    <a:ea typeface="Calibri" panose="020F0502020204030204" pitchFamily="34" charset="0"/>
                    <a:cs typeface="Calibri" panose="020F0502020204030204" pitchFamily="34" charset="0"/>
                  </a:rPr>
                </a:br>
                <a:endParaRPr lang="en-US" sz="28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d>
                      <m:dPr>
                        <m:begChr m:val="{"/>
                        <m:endChr m:val="}"/>
                        <m:ctrlPr>
                          <a:rPr lang="en-US" sz="2800" i="1" smtClean="0">
                            <a:latin typeface="Cambria Math" panose="02040503050406030204" pitchFamily="18" charset="0"/>
                          </a:rPr>
                        </m:ctrlPr>
                      </m:dPr>
                      <m:e>
                        <m:d>
                          <m:dPr>
                            <m:ctrlPr>
                              <a:rPr lang="en-US" sz="2800" b="0" i="1" smtClean="0">
                                <a:latin typeface="Cambria Math" panose="02040503050406030204" pitchFamily="18" charset="0"/>
                              </a:rPr>
                            </m:ctrlPr>
                          </m:dPr>
                          <m:e>
                            <m:r>
                              <a:rPr lang="en-US" sz="2800" b="0" i="1" smtClean="0">
                                <a:latin typeface="Cambria Math" panose="02040503050406030204" pitchFamily="18" charset="0"/>
                              </a:rPr>
                              <m:t>−</m:t>
                            </m:r>
                            <m:r>
                              <a:rPr lang="en-US" sz="2800" b="0" i="1" smtClean="0">
                                <a:latin typeface="Cambria Math" panose="02040503050406030204" pitchFamily="18" charset="0"/>
                              </a:rPr>
                              <m:t>1</m:t>
                            </m:r>
                            <m:r>
                              <a:rPr lang="en-US" sz="2800" b="0" i="1" smtClean="0">
                                <a:latin typeface="Cambria Math" panose="02040503050406030204" pitchFamily="18" charset="0"/>
                              </a:rPr>
                              <m:t>, −</m:t>
                            </m:r>
                            <m:r>
                              <a:rPr lang="en-US" sz="2800" b="0" i="1" smtClean="0">
                                <a:latin typeface="Cambria Math" panose="02040503050406030204" pitchFamily="18" charset="0"/>
                              </a:rPr>
                              <m:t>2</m:t>
                            </m:r>
                          </m:e>
                        </m:d>
                        <m:r>
                          <a:rPr lang="en-US" sz="2800" b="0" i="1" smtClean="0">
                            <a:latin typeface="Cambria Math" panose="02040503050406030204" pitchFamily="18" charset="0"/>
                          </a:rPr>
                          <m:t>, </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0</m:t>
                            </m:r>
                            <m:r>
                              <a:rPr lang="en-US" sz="2800" b="0" i="1" smtClean="0">
                                <a:latin typeface="Cambria Math" panose="02040503050406030204" pitchFamily="18" charset="0"/>
                              </a:rPr>
                              <m:t>, </m:t>
                            </m:r>
                            <m:r>
                              <a:rPr lang="en-US" sz="2800" b="0" i="1" smtClean="0">
                                <a:latin typeface="Cambria Math" panose="02040503050406030204" pitchFamily="18" charset="0"/>
                              </a:rPr>
                              <m:t>0</m:t>
                            </m:r>
                          </m:e>
                        </m:d>
                        <m:r>
                          <a:rPr lang="en-US" sz="2800" b="0" i="1" smtClean="0">
                            <a:latin typeface="Cambria Math" panose="02040503050406030204" pitchFamily="18" charset="0"/>
                          </a:rPr>
                          <m:t>, </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1</m:t>
                            </m:r>
                            <m:r>
                              <a:rPr lang="en-US" sz="2800" b="0" i="1" smtClean="0">
                                <a:latin typeface="Cambria Math" panose="02040503050406030204" pitchFamily="18" charset="0"/>
                              </a:rPr>
                              <m:t>, </m:t>
                            </m:r>
                            <m:r>
                              <a:rPr lang="en-US" sz="2800" b="0" i="1" smtClean="0">
                                <a:latin typeface="Cambria Math" panose="02040503050406030204" pitchFamily="18" charset="0"/>
                              </a:rPr>
                              <m:t>2</m:t>
                            </m:r>
                          </m:e>
                        </m:d>
                        <m:r>
                          <a:rPr lang="en-US" sz="2800" b="0" i="1" smtClean="0">
                            <a:latin typeface="Cambria Math" panose="02040503050406030204" pitchFamily="18" charset="0"/>
                          </a:rPr>
                          <m:t>, (</m:t>
                        </m:r>
                        <m:r>
                          <a:rPr lang="en-US" sz="2800" b="0" i="1" smtClean="0">
                            <a:latin typeface="Cambria Math" panose="02040503050406030204" pitchFamily="18" charset="0"/>
                          </a:rPr>
                          <m:t>2</m:t>
                        </m:r>
                        <m:r>
                          <a:rPr lang="en-US" sz="2800" b="0" i="1" smtClean="0">
                            <a:latin typeface="Cambria Math" panose="02040503050406030204" pitchFamily="18" charset="0"/>
                          </a:rPr>
                          <m:t>, </m:t>
                        </m:r>
                        <m:r>
                          <a:rPr lang="en-US" sz="2800" b="0" i="1" smtClean="0">
                            <a:latin typeface="Cambria Math" panose="02040503050406030204" pitchFamily="18" charset="0"/>
                          </a:rPr>
                          <m:t>4</m:t>
                        </m:r>
                        <m:r>
                          <a:rPr lang="en-US" sz="2800" b="0" i="1" smtClean="0">
                            <a:latin typeface="Cambria Math" panose="02040503050406030204" pitchFamily="18" charset="0"/>
                          </a:rPr>
                          <m:t>)</m:t>
                        </m:r>
                      </m:e>
                    </m:d>
                  </m:oMath>
                </a14:m>
                <a:br>
                  <a:rPr lang="en-US" sz="2800" dirty="0">
                    <a:latin typeface="Calibri" panose="020F0502020204030204" pitchFamily="34" charset="0"/>
                    <a:ea typeface="Calibri" panose="020F0502020204030204" pitchFamily="34" charset="0"/>
                    <a:cs typeface="Calibri" panose="020F0502020204030204" pitchFamily="34" charset="0"/>
                  </a:rPr>
                </a:br>
                <a:endParaRPr lang="en-US" sz="28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d>
                      <m:dPr>
                        <m:begChr m:val="{"/>
                        <m:endChr m:val="}"/>
                        <m:ctrlPr>
                          <a:rPr lang="en-US" sz="2800" i="1" smtClean="0">
                            <a:latin typeface="Cambria Math" panose="02040503050406030204" pitchFamily="18" charset="0"/>
                          </a:rPr>
                        </m:ctrlPr>
                      </m:dPr>
                      <m:e>
                        <m:d>
                          <m:dPr>
                            <m:ctrlPr>
                              <a:rPr lang="en-US" sz="2800" b="0" i="1" smtClean="0">
                                <a:latin typeface="Cambria Math" panose="02040503050406030204" pitchFamily="18" charset="0"/>
                              </a:rPr>
                            </m:ctrlPr>
                          </m:dPr>
                          <m:e>
                            <m:r>
                              <a:rPr lang="en-US" sz="2800" b="0" i="1" smtClean="0">
                                <a:latin typeface="Cambria Math" panose="02040503050406030204" pitchFamily="18" charset="0"/>
                              </a:rPr>
                              <m:t>−</m:t>
                            </m:r>
                            <m:r>
                              <a:rPr lang="en-US" sz="2800" b="0" i="1" smtClean="0">
                                <a:latin typeface="Cambria Math" panose="02040503050406030204" pitchFamily="18" charset="0"/>
                              </a:rPr>
                              <m:t>1</m:t>
                            </m:r>
                            <m:r>
                              <a:rPr lang="en-US" sz="2800" b="0" i="1" smtClean="0">
                                <a:latin typeface="Cambria Math" panose="02040503050406030204" pitchFamily="18" charset="0"/>
                              </a:rPr>
                              <m:t>, −</m:t>
                            </m:r>
                            <m:r>
                              <a:rPr lang="en-US" sz="2800" b="0" i="1" smtClean="0">
                                <a:latin typeface="Cambria Math" panose="02040503050406030204" pitchFamily="18" charset="0"/>
                              </a:rPr>
                              <m:t>1</m:t>
                            </m:r>
                          </m:e>
                        </m:d>
                        <m:r>
                          <a:rPr lang="en-US" sz="2800" b="0" i="1" smtClean="0">
                            <a:latin typeface="Cambria Math" panose="02040503050406030204" pitchFamily="18" charset="0"/>
                          </a:rPr>
                          <m:t>, </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0</m:t>
                            </m:r>
                            <m:r>
                              <a:rPr lang="en-US" sz="2800" b="0" i="1" smtClean="0">
                                <a:latin typeface="Cambria Math" panose="02040503050406030204" pitchFamily="18" charset="0"/>
                              </a:rPr>
                              <m:t>, −</m:t>
                            </m:r>
                            <m:r>
                              <a:rPr lang="en-US" sz="2800" b="0" i="1" smtClean="0">
                                <a:latin typeface="Cambria Math" panose="02040503050406030204" pitchFamily="18" charset="0"/>
                              </a:rPr>
                              <m:t>1</m:t>
                            </m:r>
                          </m:e>
                        </m:d>
                        <m:r>
                          <a:rPr lang="en-US" sz="2800" b="0" i="1" smtClean="0">
                            <a:latin typeface="Cambria Math" panose="02040503050406030204" pitchFamily="18" charset="0"/>
                          </a:rPr>
                          <m:t>, </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1</m:t>
                            </m:r>
                            <m:r>
                              <a:rPr lang="en-US" sz="2800" b="0" i="1" smtClean="0">
                                <a:latin typeface="Cambria Math" panose="02040503050406030204" pitchFamily="18" charset="0"/>
                              </a:rPr>
                              <m:t>, −</m:t>
                            </m:r>
                            <m:r>
                              <a:rPr lang="en-US" sz="2800" b="0" i="1" smtClean="0">
                                <a:latin typeface="Cambria Math" panose="02040503050406030204" pitchFamily="18" charset="0"/>
                              </a:rPr>
                              <m:t>1</m:t>
                            </m:r>
                          </m:e>
                        </m:d>
                        <m:r>
                          <a:rPr lang="en-US" sz="2800" b="0" i="1" smtClean="0">
                            <a:latin typeface="Cambria Math" panose="02040503050406030204" pitchFamily="18" charset="0"/>
                          </a:rPr>
                          <m:t>, (</m:t>
                        </m:r>
                        <m:r>
                          <a:rPr lang="en-US" sz="2800" b="0" i="1" smtClean="0">
                            <a:latin typeface="Cambria Math" panose="02040503050406030204" pitchFamily="18" charset="0"/>
                          </a:rPr>
                          <m:t>2</m:t>
                        </m:r>
                        <m:r>
                          <a:rPr lang="en-US" sz="2800" b="0" i="1" smtClean="0">
                            <a:latin typeface="Cambria Math" panose="02040503050406030204" pitchFamily="18" charset="0"/>
                          </a:rPr>
                          <m:t>, −</m:t>
                        </m:r>
                        <m:r>
                          <a:rPr lang="en-US" sz="2800" b="0" i="1" smtClean="0">
                            <a:latin typeface="Cambria Math" panose="02040503050406030204" pitchFamily="18" charset="0"/>
                          </a:rPr>
                          <m:t>1</m:t>
                        </m:r>
                        <m:r>
                          <a:rPr lang="en-US" sz="2800" b="0" i="1" smtClean="0">
                            <a:latin typeface="Cambria Math" panose="02040503050406030204" pitchFamily="18" charset="0"/>
                          </a:rPr>
                          <m:t>)</m:t>
                        </m:r>
                      </m:e>
                    </m:d>
                  </m:oMath>
                </a14:m>
                <a:br>
                  <a:rPr lang="en-US" sz="2800" dirty="0">
                    <a:latin typeface="Calibri" panose="020F0502020204030204" pitchFamily="34" charset="0"/>
                    <a:ea typeface="Calibri" panose="020F0502020204030204" pitchFamily="34" charset="0"/>
                    <a:cs typeface="Calibri" panose="020F0502020204030204" pitchFamily="34" charset="0"/>
                  </a:rPr>
                </a:br>
                <a:endParaRPr lang="en-US" sz="28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d>
                      <m:dPr>
                        <m:begChr m:val="{"/>
                        <m:endChr m:val="}"/>
                        <m:ctrlPr>
                          <a:rPr lang="en-US" sz="2800" i="1" smtClean="0">
                            <a:latin typeface="Cambria Math" panose="02040503050406030204" pitchFamily="18" charset="0"/>
                          </a:rPr>
                        </m:ctrlPr>
                      </m:dPr>
                      <m:e>
                        <m:d>
                          <m:dPr>
                            <m:ctrlPr>
                              <a:rPr lang="en-US" sz="2800" b="0" i="1" smtClean="0">
                                <a:latin typeface="Cambria Math" panose="02040503050406030204" pitchFamily="18" charset="0"/>
                              </a:rPr>
                            </m:ctrlPr>
                          </m:dPr>
                          <m:e>
                            <m:r>
                              <a:rPr lang="en-US" sz="2800" b="0" i="1" smtClean="0">
                                <a:latin typeface="Cambria Math" panose="02040503050406030204" pitchFamily="18" charset="0"/>
                              </a:rPr>
                              <m:t>−</m:t>
                            </m:r>
                            <m:r>
                              <a:rPr lang="en-US" sz="2800" b="0" i="1" smtClean="0">
                                <a:latin typeface="Cambria Math" panose="02040503050406030204" pitchFamily="18" charset="0"/>
                              </a:rPr>
                              <m:t>1</m:t>
                            </m:r>
                            <m:r>
                              <a:rPr lang="en-US" sz="2800" b="0" i="1" smtClean="0">
                                <a:latin typeface="Cambria Math" panose="02040503050406030204" pitchFamily="18" charset="0"/>
                              </a:rPr>
                              <m:t>, −</m:t>
                            </m:r>
                            <m:r>
                              <a:rPr lang="en-US" sz="2800" b="0" i="1" smtClean="0">
                                <a:latin typeface="Cambria Math" panose="02040503050406030204" pitchFamily="18" charset="0"/>
                              </a:rPr>
                              <m:t>1</m:t>
                            </m:r>
                          </m:e>
                        </m:d>
                        <m:r>
                          <a:rPr lang="en-US" sz="2800" b="0" i="1" smtClean="0">
                            <a:latin typeface="Cambria Math" panose="02040503050406030204" pitchFamily="18" charset="0"/>
                          </a:rPr>
                          <m:t>, </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m:t>
                            </m:r>
                            <m:r>
                              <a:rPr lang="en-US" sz="2800" b="0" i="1" smtClean="0">
                                <a:latin typeface="Cambria Math" panose="02040503050406030204" pitchFamily="18" charset="0"/>
                              </a:rPr>
                              <m:t>1</m:t>
                            </m:r>
                            <m:r>
                              <a:rPr lang="en-US" sz="2800" b="0" i="1" smtClean="0">
                                <a:latin typeface="Cambria Math" panose="02040503050406030204" pitchFamily="18" charset="0"/>
                              </a:rPr>
                              <m:t>, </m:t>
                            </m:r>
                            <m:r>
                              <a:rPr lang="en-US" sz="2800" b="0" i="1" smtClean="0">
                                <a:latin typeface="Cambria Math" panose="02040503050406030204" pitchFamily="18" charset="0"/>
                              </a:rPr>
                              <m:t>0</m:t>
                            </m:r>
                          </m:e>
                        </m:d>
                        <m:r>
                          <a:rPr lang="en-US" sz="2800" b="0" i="1" smtClean="0">
                            <a:latin typeface="Cambria Math" panose="02040503050406030204" pitchFamily="18" charset="0"/>
                          </a:rPr>
                          <m:t>, </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m:t>
                            </m:r>
                            <m:r>
                              <a:rPr lang="en-US" sz="2800" b="0" i="1" smtClean="0">
                                <a:latin typeface="Cambria Math" panose="02040503050406030204" pitchFamily="18" charset="0"/>
                              </a:rPr>
                              <m:t>1</m:t>
                            </m:r>
                            <m:r>
                              <a:rPr lang="en-US" sz="2800" b="0" i="1" smtClean="0">
                                <a:latin typeface="Cambria Math" panose="02040503050406030204" pitchFamily="18" charset="0"/>
                              </a:rPr>
                              <m:t>, </m:t>
                            </m:r>
                            <m:r>
                              <a:rPr lang="en-US" sz="2800" b="0" i="1" smtClean="0">
                                <a:latin typeface="Cambria Math" panose="02040503050406030204" pitchFamily="18" charset="0"/>
                              </a:rPr>
                              <m:t>1</m:t>
                            </m:r>
                          </m:e>
                        </m:d>
                        <m:r>
                          <a:rPr lang="en-US" sz="2800" b="0" i="1" smtClean="0">
                            <a:latin typeface="Cambria Math" panose="02040503050406030204" pitchFamily="18" charset="0"/>
                          </a:rPr>
                          <m:t>, (−</m:t>
                        </m:r>
                        <m:r>
                          <a:rPr lang="en-US" sz="2800" b="0" i="1" smtClean="0">
                            <a:latin typeface="Cambria Math" panose="02040503050406030204" pitchFamily="18" charset="0"/>
                          </a:rPr>
                          <m:t>1</m:t>
                        </m:r>
                        <m:r>
                          <a:rPr lang="en-US" sz="2800" b="0" i="1" smtClean="0">
                            <a:latin typeface="Cambria Math" panose="02040503050406030204" pitchFamily="18" charset="0"/>
                          </a:rPr>
                          <m:t>, </m:t>
                        </m:r>
                        <m:r>
                          <a:rPr lang="en-US" sz="2800" b="0" i="1" smtClean="0">
                            <a:latin typeface="Cambria Math" panose="02040503050406030204" pitchFamily="18" charset="0"/>
                          </a:rPr>
                          <m:t>2</m:t>
                        </m:r>
                        <m:r>
                          <a:rPr lang="en-US" sz="2800" b="0" i="1" smtClean="0">
                            <a:latin typeface="Cambria Math" panose="02040503050406030204" pitchFamily="18" charset="0"/>
                          </a:rPr>
                          <m:t>)</m:t>
                        </m:r>
                      </m:e>
                    </m:d>
                  </m:oMath>
                </a14:m>
                <a:endParaRPr lang="en-US" sz="2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 name="TextBox 1">
                <a:extLst>
                  <a:ext uri="{FF2B5EF4-FFF2-40B4-BE49-F238E27FC236}">
                    <a16:creationId xmlns:a16="http://schemas.microsoft.com/office/drawing/2014/main" id="{96D39A36-54CA-641F-401E-0EAC4D5715F2}"/>
                  </a:ext>
                </a:extLst>
              </p:cNvPr>
              <p:cNvSpPr txBox="1">
                <a:spLocks noRot="1" noChangeAspect="1" noMove="1" noResize="1" noEditPoints="1" noAdjustHandles="1" noChangeArrowheads="1" noChangeShapeType="1" noTextEdit="1"/>
              </p:cNvSpPr>
              <p:nvPr/>
            </p:nvSpPr>
            <p:spPr>
              <a:xfrm>
                <a:off x="777239" y="1610686"/>
                <a:ext cx="10019391" cy="4124206"/>
              </a:xfrm>
              <a:prstGeom prst="rect">
                <a:avLst/>
              </a:prstGeom>
              <a:blipFill>
                <a:blip r:embed="rId3"/>
                <a:stretch>
                  <a:fillRect l="-1217" t="-1329" r="-669" b="-3397"/>
                </a:stretch>
              </a:blipFill>
            </p:spPr>
            <p:txBody>
              <a:bodyPr/>
              <a:lstStyle/>
              <a:p>
                <a:r>
                  <a:rPr lang="en-US">
                    <a:noFill/>
                  </a:rPr>
                  <a:t> </a:t>
                </a:r>
              </a:p>
            </p:txBody>
          </p:sp>
        </mc:Fallback>
      </mc:AlternateContent>
      <p:sp>
        <p:nvSpPr>
          <p:cNvPr id="1793" name="Slide Number 179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44</a:t>
            </a:fld>
          </a:p>
        </p:txBody>
      </p:sp>
      <p:sp>
        <p:nvSpPr>
          <p:cNvPr id="1794" name="Answer 1794"/>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317</a:t>
            </a:r>
          </a:p>
        </p:txBody>
      </p:sp>
      <p:sp>
        <p:nvSpPr>
          <p:cNvPr id="1795" name="Answer 1795"/>
          <p:cNvSpPr txBox="1"/>
          <p:nvPr/>
        </p:nvSpPr>
        <p:spPr>
          <a:xfrm>
            <a:off x="6858000" y="2698750"/>
            <a:ext cx="5080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Function: each input has exactly one output.</a:t>
            </a:r>
          </a:p>
        </p:txBody>
      </p:sp>
      <p:sp>
        <p:nvSpPr>
          <p:cNvPr id="1796" name="Answer 1796"/>
          <p:cNvSpPr txBox="1"/>
          <p:nvPr/>
        </p:nvSpPr>
        <p:spPr>
          <a:xfrm>
            <a:off x="6858000" y="3549650"/>
            <a:ext cx="5080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Function: each input has exactly one output.</a:t>
            </a:r>
          </a:p>
        </p:txBody>
      </p:sp>
      <p:sp>
        <p:nvSpPr>
          <p:cNvPr id="1797" name="Answer 1797"/>
          <p:cNvSpPr txBox="1"/>
          <p:nvPr/>
        </p:nvSpPr>
        <p:spPr>
          <a:xfrm>
            <a:off x="6858000" y="4400550"/>
            <a:ext cx="5080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Function: each input has exactly one output.</a:t>
            </a:r>
          </a:p>
        </p:txBody>
      </p:sp>
      <p:sp>
        <p:nvSpPr>
          <p:cNvPr id="1798" name="Answer 1798"/>
          <p:cNvSpPr txBox="1"/>
          <p:nvPr/>
        </p:nvSpPr>
        <p:spPr>
          <a:xfrm>
            <a:off x="6858000" y="5251450"/>
            <a:ext cx="5080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Not a function: the input −1 has 4 different outputs.</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79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79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9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p43"/>
          <p:cNvSpPr txBox="1">
            <a:spLocks noGrp="1"/>
          </p:cNvSpPr>
          <p:nvPr>
            <p:ph type="title" idx="4294967295"/>
          </p:nvPr>
        </p:nvSpPr>
        <p:spPr>
          <a:xfrm>
            <a:off x="838200" y="-343949"/>
            <a:ext cx="10514013" cy="343949"/>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4400"/>
              <a:buFont typeface="Calibri"/>
              <a:buNone/>
            </a:pPr>
            <a:r>
              <a:rPr lang="en-US" sz="2000" dirty="0">
                <a:solidFill>
                  <a:schemeClr val="lt2"/>
                </a:solidFill>
                <a:latin typeface="Calibri"/>
                <a:ea typeface="Calibri"/>
                <a:cs typeface="Calibri"/>
                <a:sym typeface="Calibri"/>
              </a:rPr>
              <a:t>Acknowledgment and Notice</a:t>
            </a:r>
            <a:endParaRPr sz="2000" dirty="0"/>
          </a:p>
        </p:txBody>
      </p:sp>
      <p:sp>
        <p:nvSpPr>
          <p:cNvPr id="1800" name="Slide Number 1800"/>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45</a:t>
            </a:fld>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p44"/>
          <p:cNvSpPr txBox="1">
            <a:spLocks noGrp="1"/>
          </p:cNvSpPr>
          <p:nvPr>
            <p:ph type="title" idx="4294967295"/>
          </p:nvPr>
        </p:nvSpPr>
        <p:spPr>
          <a:xfrm>
            <a:off x="8155889" y="4975063"/>
            <a:ext cx="3431356" cy="414778"/>
          </a:xfrm>
          <a:prstGeom prst="rect">
            <a:avLst/>
          </a:prstGeom>
          <a:solidFill>
            <a:srgbClr val="2B8147"/>
          </a:solidFill>
          <a:ln>
            <a:noFill/>
            <a:prstDash/>
          </a:ln>
          <a:effectLst/>
        </p:spPr>
        <p:txBody>
          <a:bodyPr rot="0" spcFirstLastPara="1" vertOverflow="overflow" horzOverflow="overflow" vert="horz" wrap="square" lIns="0" tIns="45700" rIns="0" bIns="457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
                <a:schemeClr val="lt1"/>
              </a:buClr>
              <a:buSzPts val="1800"/>
              <a:buFont typeface="Arial"/>
              <a:buNone/>
              <a:tabLst/>
              <a:defRPr/>
            </a:pPr>
            <a:r>
              <a:rPr kumimoji="0" lang="de-DE" sz="1800" b="0" i="0" u="none" strike="noStrike" kern="0" cap="none" spc="0" normalizeH="0" baseline="0" noProof="0" dirty="0">
                <a:ln>
                  <a:noFill/>
                </a:ln>
                <a:solidFill>
                  <a:schemeClr val="lt1"/>
                </a:solidFill>
                <a:effectLst/>
                <a:uLnTx/>
                <a:uFillTx/>
                <a:latin typeface="Calibri"/>
                <a:ea typeface="Calibri"/>
                <a:cs typeface="Calibri"/>
                <a:sym typeface="Calibri"/>
              </a:rPr>
              <a:t>BLMATH_AlgI_M2_T2_L3_DCS_ENG</a:t>
            </a:r>
          </a:p>
        </p:txBody>
      </p:sp>
      <p:sp>
        <p:nvSpPr>
          <p:cNvPr id="1806" name="Slide Number 1806"/>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46</a:t>
            </a:fld>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nswer 2"/>
          <p:cNvSpPr txBox="1"/>
          <p:nvPr/>
        </p:nvSpPr>
        <p:spPr>
          <a:xfrm>
            <a:off x="869950" y="571500"/>
            <a:ext cx="10795000" cy="15557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3400" b="1" dirty="0">
                <a:solidFill>
                  <a:srgbClr val="2E7D4F"/>
                </a:solidFill>
              </a:rPr>
              <a:t>Teacher Edition notes for this deck</a:t>
            </a:r>
          </a:p>
        </p:txBody>
      </p:sp>
      <p:sp>
        <p:nvSpPr>
          <p:cNvPr id="3" name="Answer 3"/>
          <p:cNvSpPr txBox="1"/>
          <p:nvPr/>
        </p:nvSpPr>
        <p:spPr>
          <a:xfrm>
            <a:off x="869950" y="2127250"/>
            <a:ext cx="10795000" cy="15557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Activity 3.3 Q2: the TE says the given line has slope 3/4; y = −(3/4)x has slope −3/4. Its answer, y = (4/3)x − 12, is correct.</a:t>
            </a:r>
          </a:p>
        </p:txBody>
      </p:sp>
      <p:sp>
        <p:nvSpPr>
          <p:cNvPr id="4" name="Answer 4"/>
          <p:cNvSpPr txBox="1"/>
          <p:nvPr/>
        </p:nvSpPr>
        <p:spPr>
          <a:xfrm>
            <a:off x="869950" y="3683000"/>
            <a:ext cx="10795000" cy="15557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Activity 3.3 Q3 to Q5: the TE prints the slope formula as (y2 − y1)/(y2 − y1); the denominator is x2 − x1. The computed slopes are correct.</a:t>
            </a:r>
          </a:p>
        </p:txBody>
      </p:sp>
      <p:sp>
        <p:nvSpPr>
          <p:cNvPr id="5" name="Answer 5"/>
          <p:cNvSpPr txBox="1"/>
          <p:nvPr/>
        </p:nvSpPr>
        <p:spPr>
          <a:xfrm>
            <a:off x="869950" y="5238750"/>
            <a:ext cx="10795000" cy="15557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16171D"/>
                </a:solidFill>
              </a:rPr>
              <a:t>• Every TE answer was re-solved and is correct, including the Assignment (pp. 315-317) and Prepare.</a:t>
            </a:r>
          </a:p>
        </p:txBody>
      </p:sp>
      <p:sp>
        <p:nvSpPr>
          <p:cNvPr id="999" name="Slide Number 99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42</a:t>
            </a:fld>
          </a:p>
        </p:txBody>
      </p:sp>
    </p:spTree>
  </p:cSld>
  <p:clrMapOvr>
    <a:masterClrMapping/>
  </p:clrMapOvr>
</p:sld>
</file>

<file path=ppt/theme/theme1.xml><?xml version="1.0" encoding="utf-8"?>
<a:theme xmlns:a="http://schemas.openxmlformats.org/drawingml/2006/main" name="A1_green">
  <a:themeElements>
    <a:clrScheme name="TEA K-5">
      <a:dk1>
        <a:srgbClr val="002060"/>
      </a:dk1>
      <a:lt1>
        <a:srgbClr val="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G7_navy">
  <a:themeElements>
    <a:clrScheme name="TEA K-5">
      <a:dk1>
        <a:srgbClr val="002060"/>
      </a:dk1>
      <a:lt1>
        <a:srgbClr val="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G8_purple">
  <a:themeElements>
    <a:clrScheme name="TEA K-5">
      <a:dk1>
        <a:srgbClr val="002060"/>
      </a:dk1>
      <a:lt1>
        <a:srgbClr val="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G6_teal">
  <a:themeElements>
    <a:clrScheme name="TEA K-5">
      <a:dk1>
        <a:srgbClr val="002060"/>
      </a:dk1>
      <a:lt1>
        <a:srgbClr val="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Uploaded xmlns="33e0dbe9-2ee3-4e40-8d2a-c14405aa398e">true</Uploaded>
    <lcf76f155ced4ddcb4097134ff3c332f xmlns="33e0dbe9-2ee3-4e40-8d2a-c14405aa398e">
      <Terms xmlns="http://schemas.microsoft.com/office/infopath/2007/PartnerControls"/>
    </lcf76f155ced4ddcb4097134ff3c332f>
    <TaxCatchAll xmlns="5aa991ed-cfdb-45f0-90fe-74f6c83d7f1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AE0C664B4FDA64F8529B02C06F03698" ma:contentTypeVersion="15" ma:contentTypeDescription="Create a new document." ma:contentTypeScope="" ma:versionID="4bf8706da78cd0fcda70025af99f6a26">
  <xsd:schema xmlns:xsd="http://www.w3.org/2001/XMLSchema" xmlns:xs="http://www.w3.org/2001/XMLSchema" xmlns:p="http://schemas.microsoft.com/office/2006/metadata/properties" xmlns:ns2="33e0dbe9-2ee3-4e40-8d2a-c14405aa398e" xmlns:ns3="5aa991ed-cfdb-45f0-90fe-74f6c83d7f1e" targetNamespace="http://schemas.microsoft.com/office/2006/metadata/properties" ma:root="true" ma:fieldsID="aff2f77c8a19f3557e1e9d39b143470b" ns2:_="" ns3:_="">
    <xsd:import namespace="33e0dbe9-2ee3-4e40-8d2a-c14405aa398e"/>
    <xsd:import namespace="5aa991ed-cfdb-45f0-90fe-74f6c83d7f1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Upload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e0dbe9-2ee3-4e40-8d2a-c14405aa39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b7a77b5-e59d-49f3-97a2-3dde868dbe2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Uploaded" ma:index="22" nillable="true" ma:displayName="Uploaded" ma:default="1" ma:description="Check for uploaded into Sharefile" ma:format="Dropdown" ma:internalName="Uploade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5aa991ed-cfdb-45f0-90fe-74f6c83d7f1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57405ce4-92a5-4ced-b4fb-968b1592fafc}" ma:internalName="TaxCatchAll" ma:showField="CatchAllData" ma:web="5aa991ed-cfdb-45f0-90fe-74f6c83d7f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564D1AC-7416-4C76-85E2-1371F5E4C736}">
  <ds:schemaRefs>
    <ds:schemaRef ds:uri="http://schemas.microsoft.com/office/2006/metadata/properties"/>
    <ds:schemaRef ds:uri="http://purl.org/dc/terms/"/>
    <ds:schemaRef ds:uri="5aa991ed-cfdb-45f0-90fe-74f6c83d7f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33e0dbe9-2ee3-4e40-8d2a-c14405aa398e"/>
    <ds:schemaRef ds:uri="http://www.w3.org/XML/1998/namespace"/>
    <ds:schemaRef ds:uri="http://purl.org/dc/dcmitype/"/>
  </ds:schemaRefs>
</ds:datastoreItem>
</file>

<file path=customXml/itemProps2.xml><?xml version="1.0" encoding="utf-8"?>
<ds:datastoreItem xmlns:ds="http://schemas.openxmlformats.org/officeDocument/2006/customXml" ds:itemID="{05B7EE12-50E8-445E-A04A-70FDE2FD7AD6}">
  <ds:schemaRefs>
    <ds:schemaRef ds:uri="http://schemas.microsoft.com/sharepoint/v3/contenttype/forms"/>
  </ds:schemaRefs>
</ds:datastoreItem>
</file>

<file path=customXml/itemProps3.xml><?xml version="1.0" encoding="utf-8"?>
<ds:datastoreItem xmlns:ds="http://schemas.openxmlformats.org/officeDocument/2006/customXml" ds:itemID="{99320EC2-6D75-4D34-A70A-0C8458639C9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3e0dbe9-2ee3-4e40-8d2a-c14405aa398e"/>
    <ds:schemaRef ds:uri="5aa991ed-cfdb-45f0-90fe-74f6c83d7f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1211</TotalTime>
  <Words>4495</Words>
  <Application>Microsoft Office PowerPoint</Application>
  <PresentationFormat>Custom</PresentationFormat>
  <Paragraphs>451</Paragraphs>
  <Slides>45</Slides>
  <Notes>45</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45</vt:i4>
      </vt:variant>
    </vt:vector>
  </HeadingPairs>
  <TitlesOfParts>
    <vt:vector size="53" baseType="lpstr">
      <vt:lpstr>Cambria Math</vt:lpstr>
      <vt:lpstr>Noto Sans Symbols</vt:lpstr>
      <vt:lpstr>Calibri</vt:lpstr>
      <vt:lpstr>Arial</vt:lpstr>
      <vt:lpstr>A1_green</vt:lpstr>
      <vt:lpstr>G7_navy</vt:lpstr>
      <vt:lpstr>G8_purple</vt:lpstr>
      <vt:lpstr>G6_teal</vt:lpstr>
      <vt:lpstr>Determining Slopes of Perpendicular Lines</vt:lpstr>
      <vt:lpstr>Objectives</vt:lpstr>
      <vt:lpstr>Essential Question (1 of 2)</vt:lpstr>
      <vt:lpstr>Day 1</vt:lpstr>
      <vt:lpstr>Getting Started</vt:lpstr>
      <vt:lpstr>Coordinate Rotation (1 of 5)</vt:lpstr>
      <vt:lpstr>Coordinate Rotation (2 of 5)</vt:lpstr>
      <vt:lpstr>Coordinate Rotation (3 of 5)</vt:lpstr>
      <vt:lpstr>Coordinate Rotation (4 of 5)</vt:lpstr>
      <vt:lpstr>Coordinate Rotation (5 of 5)</vt:lpstr>
      <vt:lpstr>Activity 3.1</vt:lpstr>
      <vt:lpstr>Slopes of Perpendicular Lines (1 of 9)</vt:lpstr>
      <vt:lpstr>Slopes of Perpendicular Lines (2 of 9)</vt:lpstr>
      <vt:lpstr>Slopes of Perpendicular Lines (3 of 9)</vt:lpstr>
      <vt:lpstr>Slopes of Perpendicular Lines (4 of 9)</vt:lpstr>
      <vt:lpstr>Slopes of Perpendicular Lines (5 of 9)</vt:lpstr>
      <vt:lpstr>Slopes of Perpendicular Lines (6 of 9)</vt:lpstr>
      <vt:lpstr>Slopes of Perpendicular Lines (7 of 9)</vt:lpstr>
      <vt:lpstr>Slopes of Perpendicular Lines (8 of 9)</vt:lpstr>
      <vt:lpstr>Slopes of Perpendicular Lines (9 of 9)</vt:lpstr>
      <vt:lpstr>Day 2</vt:lpstr>
      <vt:lpstr>Essential Question (2 of 2)</vt:lpstr>
      <vt:lpstr>Activity 3.2</vt:lpstr>
      <vt:lpstr>Horizontal and Vertical Lines (1 of 7)</vt:lpstr>
      <vt:lpstr>Horizontal and Vertical Lines (2 of 7)</vt:lpstr>
      <vt:lpstr>Horizontal and Vertical Lines (3 of 7)</vt:lpstr>
      <vt:lpstr>Horizontal and Vertical Lines (4 of 7)</vt:lpstr>
      <vt:lpstr>Horizontal and Vertical Lines (5 of 7)</vt:lpstr>
      <vt:lpstr>Horizontal and Vertical Lines (6 of 7)</vt:lpstr>
      <vt:lpstr>Horizontal and Vertical Lines (7 of 7)</vt:lpstr>
      <vt:lpstr>Activity 3.3</vt:lpstr>
      <vt:lpstr>Writing Equations of Perpendicular Lines (1 of 5)</vt:lpstr>
      <vt:lpstr>Writing Equations of Perpendicular Lines (2 of 5)</vt:lpstr>
      <vt:lpstr>Writing Equations of Perpendicular Lines (3 of 5)</vt:lpstr>
      <vt:lpstr>Writing Equations of Perpendicular Lines (4 of 5)</vt:lpstr>
      <vt:lpstr>Writing Equations of Perpendicular Lines (5 of 5)</vt:lpstr>
      <vt:lpstr>Talk the Talk</vt:lpstr>
      <vt:lpstr>Things Aren’t Always What They Seem (1 of 4) </vt:lpstr>
      <vt:lpstr>Things Aren’t Always What They Seem (2 of 4) </vt:lpstr>
      <vt:lpstr>Things Aren’t Always What They Seem (3 of 4) </vt:lpstr>
      <vt:lpstr>Things Aren’t Always What They Seem (4 of 4) </vt:lpstr>
      <vt:lpstr>Prepare</vt:lpstr>
      <vt:lpstr>Prepare for Module 2 Topic 2 Lesson 4</vt:lpstr>
      <vt:lpstr>Acknowledgment and Notice</vt:lpstr>
      <vt:lpstr>BLMATH_AlgI_M2_T2_L3_DCS_ENG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Determining Slopes of Perpendicular Lines</dc:title>
  <dc:creator>Singh Amandeep</dc:creator>
  <cp:lastModifiedBy>Gann, Nickole</cp:lastModifiedBy>
  <cp:revision>38</cp:revision>
  <dcterms:created xsi:type="dcterms:W3CDTF">2024-02-22T09:58:00Z</dcterms:created>
  <dcterms:modified xsi:type="dcterms:W3CDTF">2025-05-28T18:59:50Z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A7190AC9080C4877A6E26CA982D6CC88_12</vt:lpwstr>
  </property>
  <property fmtid="{D5CDD505-2E9C-101B-9397-08002B2CF9AE}" pid="3" name="KSOProductBuildVer">
    <vt:lpwstr>1033-12.2.0.16731</vt:lpwstr>
  </property>
  <property fmtid="{D5CDD505-2E9C-101B-9397-08002B2CF9AE}" pid="4" name="ContentTypeId">
    <vt:lpwstr>0x0101009AE0C664B4FDA64F8529B02C06F03698</vt:lpwstr>
  </property>
  <property fmtid="{D5CDD505-2E9C-101B-9397-08002B2CF9AE}" pid="5" name="MediaServiceImageTags">
    <vt:lpwstr/>
  </property>
  <property fmtid="{D5CDD505-2E9C-101B-9397-08002B2CF9AE}" pid="6" name="Order">
    <vt:r8>3629600</vt:r8>
  </property>
  <property fmtid="{D5CDD505-2E9C-101B-9397-08002B2CF9AE}" pid="7" name="xd_Signature">
    <vt:bool>false</vt:bool>
  </property>
  <property fmtid="{D5CDD505-2E9C-101B-9397-08002B2CF9AE}" pid="8" name="xd_ProgID">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