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70" name="Slide Number 147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1" name="Answer 147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
        <p:nvSpPr>
          <p:cNvPr id="1477" name="Slide Number 147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78" name="Answer 147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1" name="Slide Number 149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1500" name="Slide Number 15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2" name="Answer 1502"/>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3" name="Answer 1503"/>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1504" name="Answer 1504"/>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5" name="Answer 1505"/>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1506" name="Answer 1506"/>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7" name="Answer 1507"/>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0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Each 90° counterclockwise rotation changes (x, y) to (−y, x): B(8, 5) → B′(−5, 8) → B″(−8, −5) → B‴(5, −8). Endpoint A is the center of rotation, so it does not change.</a:t>
                </a: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200" dirty="0">
                    <a:solidFill>
                      <a:srgbClr val="FF0000"/>
                    </a:solidFill>
                  </a:rPr>
                  <a:t>a. m = 5/8     b. m = −8/5     c. m = 5/8     d. m = −8/5</a:t>
                </a: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1506" name="Slide Number 15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7" name="Answer 15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a:p>
            <a:pPr marL="461963" lvl="1" indent="0">
              <a:lnSpc>
                <a:spcPct val="100000"/>
              </a:lnSpc>
              <a:spcBef>
                <a:spcPts val="200"/>
              </a:spcBef>
              <a:spcAft>
                <a:spcPts val="600"/>
              </a:spcAft>
              <a:buNone/>
            </a:pPr>
            <a:r>
              <a:rPr lang="en-US" sz="2000" dirty="0">
                <a:solidFill>
                  <a:srgbClr val="FF0000"/>
                </a:solidFill>
              </a:rPr>
              <a:t>AB and A″B″ (0° and 180°) have equal slopes, 5/8. A′B′ and A‴B‴ (90° and 270°) have equal slopes, −8/5. The two slopes are reciprocals with opposite signs: (5/8)(−8/5) = −1.</a:t>
            </a:r>
          </a:p>
        </p:txBody>
      </p:sp>
      <p:sp>
        <p:nvSpPr>
          <p:cNvPr id="1507" name="Slide Number 15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08" name="Answer 150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520" name="Slide Number 152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1" name="Answer 152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27" name="Slide Number 152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8" name="Answer 152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
        <p:nvSpPr>
          <p:cNvPr id="1535" name="Slide Number 15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7" name="Answer 153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
        <p:nvSpPr>
          <p:cNvPr id="1542" name="Slide Number 15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3" name="Answer 154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Yes. Each line is rotated 90°, so the lines meet at a 90° angle, a right angle. Lines that form right angles are perpendicular.</a:t>
            </a: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a:p>
            <a:pPr marL="514350" lvl="1" indent="0">
              <a:lnSpc>
                <a:spcPct val="100000"/>
              </a:lnSpc>
              <a:spcBef>
                <a:spcPts val="200"/>
              </a:spcBef>
              <a:spcAft>
                <a:spcPts val="600"/>
              </a:spcAft>
              <a:buNone/>
            </a:pPr>
            <a:r>
              <a:rPr lang="en-US" sz="2000" dirty="0">
                <a:solidFill>
                  <a:srgbClr val="FF0000"/>
                </a:solidFill>
              </a:rPr>
              <a:t>A: y = x;   A′: y = −x</a:t>
            </a:r>
            <a:br/>
            <a:r>
              <a:rPr lang="en-US" sz="2000" dirty="0">
                <a:solidFill>
                  <a:srgbClr val="FF0000"/>
                </a:solidFill>
              </a:rPr>
              <a:t>B: y = (1/3)x + 5;   B′: y = −3x + 5</a:t>
            </a:r>
            <a:br/>
            <a:r>
              <a:rPr lang="en-US" sz="2000" dirty="0">
                <a:solidFill>
                  <a:srgbClr val="FF0000"/>
                </a:solidFill>
              </a:rPr>
              <a:t>C: y = −(2/3)x + 9;   C′: y = (3/2)x − 4</a:t>
            </a:r>
            <a:br/>
            <a:r>
              <a:rPr lang="en-US" sz="2000" dirty="0">
                <a:solidFill>
                  <a:srgbClr val="FF0000"/>
                </a:solidFill>
              </a:rPr>
              <a:t>The slopes of each pair are reciprocals with opposite signs.</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1549" name="Slide Number 15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0" name="Answer 15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
        <p:nvSpPr>
          <p:cNvPr id="1585" name="Slide Number 158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86" name="Answer 158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a:p>
            <a:pPr marL="511175" lvl="1" indent="0">
              <a:lnSpc>
                <a:spcPct val="100000"/>
              </a:lnSpc>
              <a:spcBef>
                <a:spcPts val="200"/>
              </a:spcBef>
              <a:spcAft>
                <a:spcPts val="600"/>
              </a:spcAft>
              <a:buNone/>
            </a:pPr>
            <a:r>
              <a:rPr lang="en-US" sz="1800" dirty="0">
                <a:solidFill>
                  <a:srgbClr val="FF0000"/>
                </a:solidFill>
              </a:rPr>
              <a:t>Rotating R(a, b) 90° clockwise about O maps it onto line q at D(b, −a).</a:t>
            </a:r>
            <a:br/>
            <a:r>
              <a:rPr lang="en-US" sz="1800" dirty="0">
                <a:solidFill>
                  <a:srgbClr val="FF0000"/>
                </a:solidFill>
              </a:rPr>
              <a:t>Slope of p: m1 = b/a.   Slope of q: m2 = −a/b.</a:t>
            </a:r>
            <a:br/>
            <a:r>
              <a:rPr lang="en-US" sz="1800" dirty="0">
                <a:solidFill>
                  <a:srgbClr val="FF0000"/>
                </a:solidFill>
              </a:rPr>
              <a:t>−1/m2 = −1 ÷ (−a/b) = −1 · (b/−a) = b/a = m1, so m1 = −1/m2.</a:t>
            </a:r>
            <a:br/>
            <a:r>
              <a:rPr lang="en-US" sz="1800" dirty="0">
                <a:solidFill>
                  <a:srgbClr val="FF0000"/>
                </a:solidFill>
              </a:rPr>
              <a:t>The slopes are negative reciprocals.</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1606" name="Answer 1606"/>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1607" name="Answer 1607"/>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15" name="Slide Number 16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616" name="Answer 16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
        <p:nvSpPr>
          <p:cNvPr id="1629" name="Slide Number 162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lvl="1" indent="0">
              <a:lnSpc>
                <a:spcPct val="100000"/>
              </a:lnSpc>
              <a:spcBef>
                <a:spcPts val="200"/>
              </a:spcBef>
              <a:spcAft>
                <a:spcPts val="6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
        <p:nvSpPr>
          <p:cNvPr id="1636" name="Slide Number 163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37" name="Answer 163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3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6"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
        <p:nvSpPr>
          <p:cNvPr id="1644" name="Slide Number 164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46" name="Answer 164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1653" name="Slide Number 16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54" name="Answer 16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55" name="Answer 1655"/>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y does not change: it changes by 0 units.</a:t>
            </a: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horizontal line is 0. The value of y stays the same, so m = (y2 − y1)/(x2 − x1) = 0/(x2 − x1) = 0.</a:t>
            </a:r>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x does not change: it changes by 0 units.</a:t>
            </a: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vertical line is undefined. The value of x stays the same, so m = (y2 − y1)/(x2 − x1) = (y2 − y1)/0, which is undefined.</a:t>
            </a:r>
          </a:p>
        </p:txBody>
      </p:sp>
      <p:sp>
        <p:nvSpPr>
          <p:cNvPr id="1666" name="Slide Number 166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667" name="Answer 166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2" indent="0">
              <a:lnSpc>
                <a:spcPct val="100000"/>
              </a:lnSpc>
              <a:spcBef>
                <a:spcPts val="200"/>
              </a:spcBef>
              <a:spcAft>
                <a:spcPts val="600"/>
              </a:spcAft>
              <a:buNone/>
            </a:pPr>
            <a:r>
              <a:rPr lang="en-US" sz="1800" dirty="0">
                <a:solidFill>
                  <a:srgbClr val="FF0000"/>
                </a:solidFill>
              </a:rPr>
              <a:t>Always. All vertical lines have an undefined slope, so they are parallel.</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1035050" lvl="2" indent="0">
              <a:lnSpc>
                <a:spcPct val="100000"/>
              </a:lnSpc>
              <a:spcBef>
                <a:spcPts val="200"/>
              </a:spcBef>
              <a:spcAft>
                <a:spcPts val="600"/>
              </a:spcAft>
              <a:buNone/>
            </a:pPr>
            <a:r>
              <a:rPr lang="en-US" sz="1800" dirty="0">
                <a:solidFill>
                  <a:srgbClr val="FF0000"/>
                </a:solidFill>
              </a:rPr>
              <a:t>Always. All horizontal lines have slope 0, so they are parallel.</a:t>
            </a: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Any vertical line and any horizontal line are always perpendicular.</a:t>
            </a:r>
          </a:p>
        </p:txBody>
      </p:sp>
      <p:sp>
        <p:nvSpPr>
          <p:cNvPr id="1674" name="Slide Number 16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75" name="Answer 16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7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67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7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4"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Horizontal line: y = −1;   vertical line: x = 2</a:t>
            </a: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y = 0  (a horizontal line through (1, 0))</a:t>
            </a: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x = 5  (a vertical line through (5, 6))</a:t>
            </a:r>
          </a:p>
        </p:txBody>
      </p:sp>
      <p:sp>
        <p:nvSpPr>
          <p:cNvPr id="1680" name="Slide Number 16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81" name="Answer 16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89" name="Slide Number 168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90" name="Answer 169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96" name="Slide Number 169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97" name="Answer 169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
        <p:nvSpPr>
          <p:cNvPr id="1704" name="Slide Number 17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706" name="Answer 17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a:p>
            <a:pPr marL="514350" lvl="1" indent="0">
              <a:lnSpc>
                <a:spcPct val="100000"/>
              </a:lnSpc>
              <a:spcBef>
                <a:spcPts val="200"/>
              </a:spcBef>
              <a:spcAft>
                <a:spcPts val="600"/>
              </a:spcAft>
              <a:buNone/>
            </a:pPr>
            <a:r>
              <a:rPr lang="en-US" sz="2000" dirty="0">
                <a:solidFill>
                  <a:srgbClr val="FF0000"/>
                </a:solidFill>
              </a:rPr>
              <a:t>The perpendicular slope is −1/2.</a:t>
            </a:r>
            <a:br/>
            <a:r>
              <a:rPr lang="en-US" sz="2000" dirty="0">
                <a:solidFill>
                  <a:srgbClr val="FF0000"/>
                </a:solidFill>
              </a:rPr>
              <a:t>y − 2 = −(1/2)(x − 6)</a:t>
            </a:r>
            <a:br/>
            <a:r>
              <a:rPr lang="en-US" sz="2000" dirty="0">
                <a:solidFill>
                  <a:srgbClr val="FF0000"/>
                </a:solidFill>
              </a:rPr>
              <a:t>y − 2 = −(1/2)x + 3</a:t>
            </a:r>
            <a:br/>
            <a:r>
              <a:rPr lang="en-US" sz="2000" dirty="0">
                <a:solidFill>
                  <a:srgbClr val="FF0000"/>
                </a:solidFill>
              </a:rPr>
              <a:t>y = −(1/2)x + 5</a:t>
            </a:r>
          </a:p>
        </p:txBody>
      </p:sp>
      <p:sp>
        <p:nvSpPr>
          <p:cNvPr id="1711" name="Slide Number 17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712" name="Answer 17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The perpendicular slope is 4/3.</a:t>
                </a:r>
                <a:br/>
                <a:r>
                  <a:rPr lang="en-US" sz="2000" dirty="0">
                    <a:solidFill>
                      <a:srgbClr val="FF0000"/>
                    </a:solidFill>
                  </a:rPr>
                  <a:t>y − (−8) = (4/3)(x − 3);   y + 8 = (4/3)x − 4;   y = (4/3)x − 12</a:t>
                </a: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a:p>
                <a:pPr marL="514350" lvl="1" indent="0">
                  <a:lnSpc>
                    <a:spcPct val="100000"/>
                  </a:lnSpc>
                  <a:spcBef>
                    <a:spcPts val="200"/>
                  </a:spcBef>
                  <a:spcAft>
                    <a:spcPts val="600"/>
                  </a:spcAft>
                  <a:buNone/>
                </a:pPr>
                <a:r>
                  <a:rPr lang="en-US" sz="2000" dirty="0">
                    <a:solidFill>
                      <a:srgbClr val="FF0000"/>
                    </a:solidFill>
                  </a:rPr>
                  <a:t>m = (−9 − 3)/(−1 − (−5)) = −12/4 = −3, so the perpendicular slope is 1/3.</a:t>
                </a:r>
                <a:br/>
                <a:r>
                  <a:rPr lang="en-US" sz="2000" dirty="0">
                    <a:solidFill>
                      <a:srgbClr val="FF0000"/>
                    </a:solidFill>
                  </a:rPr>
                  <a:t>y − 2 = (1/3)(x − 6);   y − 2 = (1/3)x − 2;   y = (1/3)x</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1718" name="Slide Number 17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19" name="Answer 17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m = (4 − 1)/(0 − (−6)) = 3/6 = 1/2, so the perpendicular slope is −2.</a:t>
            </a:r>
            <a:br/>
            <a:r>
              <a:rPr lang="en-US" sz="2000" dirty="0">
                <a:solidFill>
                  <a:srgbClr val="FF0000"/>
                </a:solidFill>
              </a:rPr>
              <a:t>y − 7 = −2(x − (−2));   y − 7 = −2x − 4;   y = −2x + 3</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a:p>
            <a:pPr marL="514350" lvl="1" indent="0">
              <a:lnSpc>
                <a:spcPct val="100000"/>
              </a:lnSpc>
              <a:spcBef>
                <a:spcPts val="200"/>
              </a:spcBef>
              <a:spcAft>
                <a:spcPts val="600"/>
              </a:spcAft>
              <a:buNone/>
            </a:pPr>
            <a:r>
              <a:rPr lang="en-US" sz="2000" dirty="0">
                <a:solidFill>
                  <a:srgbClr val="FF0000"/>
                </a:solidFill>
              </a:rPr>
              <a:t>m = (4 − 9)/(−4 − 5) = −5/−9 = 5/9, so the perpendicular slope is −9/5.</a:t>
            </a:r>
            <a:br/>
            <a:r>
              <a:rPr lang="en-US" sz="2000" dirty="0">
                <a:solidFill>
                  <a:srgbClr val="FF0000"/>
                </a:solidFill>
              </a:rPr>
              <a:t>y − 9 = −(9/5)(x − 5);   y − 9 = −(9/5)x + 9;   y = −(9/5)x + 18</a:t>
            </a:r>
          </a:p>
        </p:txBody>
      </p:sp>
      <p:sp>
        <p:nvSpPr>
          <p:cNvPr id="1725" name="Slide Number 17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6" name="Answer 17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
        <p:nvSpPr>
          <p:cNvPr id="1734" name="Slide Number 17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35" name="Answer 17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41" name="Slide Number 174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42" name="Answer 174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748" name="Slide Number 174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
        <p:nvSpPr>
          <p:cNvPr id="1756" name="Slide Number 175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7" name="Answer 175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765" name="Slide Number 17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6" name="Answer 176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
        <p:nvSpPr>
          <p:cNvPr id="1774" name="Slide Number 17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75" name="Answer 17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781" name="Slide Number 17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82" name="Answer 17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
        <p:nvSpPr>
          <p:cNvPr id="1787" name="Slide Number 178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317</a:t>
            </a:r>
          </a:p>
        </p:txBody>
      </p:sp>
      <p:sp>
        <p:nvSpPr>
          <p:cNvPr id="1795" name="Answer 1795"/>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6" name="Answer 1796"/>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7" name="Answer 1797"/>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8" name="Answer 1798"/>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
        <p:nvSpPr>
          <p:cNvPr id="1806" name="Slide Number 18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