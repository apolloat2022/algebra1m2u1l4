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1" name="Answer 147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78" name="Answer 147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2" name="Answer 1502"/>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3" name="Answer 1503"/>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4" name="Answer 1504"/>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5" name="Answer 1505"/>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6" name="Answer 1506"/>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7" name="Answer 1507"/>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8" name="Answer 1508"/>
          <p:cNvSpPr txBox="1"/>
          <p:nvPr/>
        </p:nvSpPr>
        <p:spPr>
          <a:xfrm>
            <a:off x="889000" y="2413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90° counterclockwise rotation changes (x, y) to (−y, x): B(8, 5) → B′(−5, 8) → B″(−8, −5) → B‴(5, −8). Endpoint A is the center of rotation, so it does not change.</a:t>
            </a:r>
          </a:p>
        </p:txBody>
      </p:sp>
      <p:sp>
        <p:nvSpPr>
          <p:cNvPr id="1509" name="Answer 1509"/>
          <p:cNvSpPr txBox="1"/>
          <p:nvPr/>
        </p:nvSpPr>
        <p:spPr>
          <a:xfrm>
            <a:off x="2984500" y="4699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10" name="Answer 1510"/>
          <p:cNvSpPr txBox="1"/>
          <p:nvPr/>
        </p:nvSpPr>
        <p:spPr>
          <a:xfrm>
            <a:off x="7112000" y="4699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
        <p:nvSpPr>
          <p:cNvPr id="1511" name="Answer 1511"/>
          <p:cNvSpPr txBox="1"/>
          <p:nvPr/>
        </p:nvSpPr>
        <p:spPr>
          <a:xfrm>
            <a:off x="2984500" y="5588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12" name="Answer 1512"/>
          <p:cNvSpPr txBox="1"/>
          <p:nvPr/>
        </p:nvSpPr>
        <p:spPr>
          <a:xfrm>
            <a:off x="7112000" y="5588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5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9" name="Answer 1509"/>
          <p:cNvSpPr txBox="1"/>
          <p:nvPr/>
        </p:nvSpPr>
        <p:spPr>
          <a:xfrm>
            <a:off x="3911600" y="2667000"/>
            <a:ext cx="8001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AB and A″B″ (0° and 180°) have equal slopes, 5/8. A′B′ and A‴B‴ (90° and 270°) have equal slopes, −8/5. The two slopes are reciprocals with opposite signs: (5/8)(−8/5) = −1.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1" name="Answer 152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8" name="Answer 152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7" name="Answer 153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3" name="Answer 154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Yes. Each line is rotated 90°, so the lines meet at a 90° angle, a right angle. Lines that form right angles are perpendicular.</a:t>
            </a: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a:p>
            <a:pPr marL="514350" lvl="1" indent="0">
              <a:lnSpc>
                <a:spcPct val="100000"/>
              </a:lnSpc>
              <a:spcBef>
                <a:spcPts val="200"/>
              </a:spcBef>
              <a:spcAft>
                <a:spcPts val="600"/>
              </a:spcAft>
              <a:buNone/>
            </a:pPr>
            <a:r>
              <a:rPr lang="en-US" sz="2000" dirty="0">
                <a:solidFill>
                  <a:srgbClr val="FF0000"/>
                </a:solidFill>
              </a:rPr>
              <a:t>A: y = x;   A′: y = −x</a:t>
            </a:r>
            <a:br/>
            <a:r>
              <a:rPr lang="en-US" sz="2000" dirty="0">
                <a:solidFill>
                  <a:srgbClr val="FF0000"/>
                </a:solidFill>
              </a:rPr>
              <a:t>B: y = (1/3)x + 5;   B′: y = −3x + 5</a:t>
            </a:r>
            <a:br/>
            <a:r>
              <a:rPr lang="en-US" sz="2000" dirty="0">
                <a:solidFill>
                  <a:srgbClr val="FF0000"/>
                </a:solidFill>
              </a:rPr>
              <a:t>C: y = −(2/3)x + 9;   C′: y = (3/2)x − 4</a:t>
            </a:r>
            <a:br/>
            <a:r>
              <a:rPr lang="en-US" sz="2000" dirty="0">
                <a:solidFill>
                  <a:srgbClr val="FF0000"/>
                </a:solidFill>
              </a:rPr>
              <a:t>The slopes of each pair are reciprocals with opposite signs.</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86" name="Answer 158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774700" y="4381500"/>
            <a:ext cx="7493000" cy="12954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Rotating R(a, b) 90° clockwise about O maps it onto line q at D(b, −a).</a:t>
            </a:r>
          </a:p>
          <a:p>
            <a:pPr marL="0" indent="0" algn="l">
              <a:spcBef>
                <a:spcPts val="0"/>
              </a:spcBef>
              <a:spcAft>
                <a:spcPts val="300"/>
              </a:spcAft>
              <a:buNone/>
            </a:pPr>
            <a:r>
              <a:rPr lang="en-US" sz="1800" dirty="0">
                <a:solidFill>
                  <a:srgbClr val="FF0000"/>
                </a:solidFill>
              </a:rPr>
              <a:t>Slope of p: m1 = b/a.   Slope of q: m2 = −a/b.</a:t>
            </a:r>
          </a:p>
          <a:p>
            <a:pPr marL="0" indent="0" algn="l">
              <a:spcBef>
                <a:spcPts val="0"/>
              </a:spcBef>
              <a:spcAft>
                <a:spcPts val="300"/>
              </a:spcAft>
              <a:buNone/>
            </a:pPr>
            <a:r>
              <a:rPr lang="en-US" sz="1800" dirty="0">
                <a:solidFill>
                  <a:srgbClr val="FF0000"/>
                </a:solidFill>
              </a:rPr>
              <a:t>−1/m2 = −1 ÷ (−a/b) = −1 · (b/−a) = b/a = m1, so m1 = −1/m2.</a:t>
            </a:r>
          </a:p>
          <a:p>
            <a:pPr marL="0" indent="0" algn="l">
              <a:spcBef>
                <a:spcPts val="0"/>
              </a:spcBef>
              <a:spcAft>
                <a:spcPts val="300"/>
              </a:spcAft>
              <a:buNone/>
            </a:pPr>
            <a:r>
              <a:rPr lang="en-US" sz="1800" dirty="0">
                <a:solidFill>
                  <a:srgbClr val="FF0000"/>
                </a:solidFill>
              </a:rPr>
              <a:t>The slopes are negative reciprocals.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6" name="Answer 1606"/>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7" name="Answer 1607"/>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616" name="Answer 16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
        <p:nvSpPr>
          <p:cNvPr id="1638" name="Answer 1638"/>
          <p:cNvSpPr txBox="1"/>
          <p:nvPr/>
        </p:nvSpPr>
        <p:spPr>
          <a:xfrm>
            <a:off x="774700" y="2667000"/>
            <a:ext cx="107315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46" name="Answer 164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55" name="Answer 1655"/>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y does not change: it changes by 0 units.</a:t>
            </a: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horizontal line is 0. The value of y stays the same, so m = (y2 − y1)/(x2 − x1) = 0/(x2 − x1) = 0.</a:t>
            </a: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x does not change: it changes by 0 units.</a:t>
            </a: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vertical line is undefined. The value of x stays the same, so m = (y2 − y1)/(x2 − x1) = (y2 − y1)/0, which is undefined.</a:t>
            </a: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
        <p:nvSpPr>
          <p:cNvPr id="1676" name="Answer 1676"/>
          <p:cNvSpPr txBox="1"/>
          <p:nvPr/>
        </p:nvSpPr>
        <p:spPr>
          <a:xfrm>
            <a:off x="6565900" y="2603500"/>
            <a:ext cx="54356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vertical lines have an undefined slope, so they are parallel.</a:t>
            </a:r>
          </a:p>
        </p:txBody>
      </p:sp>
      <p:sp>
        <p:nvSpPr>
          <p:cNvPr id="1677" name="Answer 1677"/>
          <p:cNvSpPr txBox="1"/>
          <p:nvPr/>
        </p:nvSpPr>
        <p:spPr>
          <a:xfrm>
            <a:off x="6565900" y="3378200"/>
            <a:ext cx="54356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horizontal lines have slope 0, so they are parallel.</a:t>
            </a:r>
          </a:p>
        </p:txBody>
      </p:sp>
      <p:sp>
        <p:nvSpPr>
          <p:cNvPr id="1678" name="Answer 1678"/>
          <p:cNvSpPr txBox="1"/>
          <p:nvPr/>
        </p:nvSpPr>
        <p:spPr>
          <a:xfrm>
            <a:off x="774700" y="5372100"/>
            <a:ext cx="10795000" cy="4064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Any vertical line and any horizontal line are always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Horizontal line: y = −1;   vertical line: x = 2</a:t>
            </a: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y = 0  (a horizontal line through (1, 0))</a:t>
            </a: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x = 5  (a vertical line through (5, 6))</a:t>
            </a: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90" name="Answer 169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97" name="Answer 169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706" name="Answer 17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
        <p:nvSpPr>
          <p:cNvPr id="1713" name="Answer 1713"/>
          <p:cNvSpPr txBox="1"/>
          <p:nvPr/>
        </p:nvSpPr>
        <p:spPr>
          <a:xfrm>
            <a:off x="3429000" y="4978400"/>
            <a:ext cx="8255000" cy="1416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−1/2.</a:t>
            </a:r>
          </a:p>
          <a:p>
            <a:pPr marL="0" indent="0" algn="l">
              <a:spcBef>
                <a:spcPts val="0"/>
              </a:spcBef>
              <a:spcAft>
                <a:spcPts val="300"/>
              </a:spcAft>
              <a:buNone/>
            </a:pPr>
            <a:r>
              <a:rPr lang="en-US" sz="2000" dirty="0">
                <a:solidFill>
                  <a:srgbClr val="FF0000"/>
                </a:solidFill>
              </a:rPr>
              <a:t>y − 2 = −(1/2)(x − 6)</a:t>
            </a:r>
          </a:p>
          <a:p>
            <a:pPr marL="0" indent="0" algn="l">
              <a:spcBef>
                <a:spcPts val="0"/>
              </a:spcBef>
              <a:spcAft>
                <a:spcPts val="300"/>
              </a:spcAft>
              <a:buNone/>
            </a:pPr>
            <a:r>
              <a:rPr lang="en-US" sz="2000" dirty="0">
                <a:solidFill>
                  <a:srgbClr val="FF0000"/>
                </a:solidFill>
              </a:rPr>
              <a:t>y − 2 = −(1/2)x + 3</a:t>
            </a:r>
          </a:p>
          <a:p>
            <a:pPr marL="0" indent="0" algn="l">
              <a:spcBef>
                <a:spcPts val="0"/>
              </a:spcBef>
              <a:spcAft>
                <a:spcPts val="300"/>
              </a:spcAft>
              <a:buNone/>
            </a:pPr>
            <a:r>
              <a:rPr lang="en-US" sz="2000" dirty="0">
                <a:solidFill>
                  <a:srgbClr val="FF0000"/>
                </a:solidFill>
              </a:rPr>
              <a:t>y = −(1/2)x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
        <p:nvSpPr>
          <p:cNvPr id="1720" name="Answer 1720"/>
          <p:cNvSpPr txBox="1"/>
          <p:nvPr/>
        </p:nvSpPr>
        <p:spPr>
          <a:xfrm>
            <a:off x="889000" y="2667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4/3.</a:t>
            </a:r>
          </a:p>
          <a:p>
            <a:pPr marL="0" indent="0" algn="l">
              <a:spcBef>
                <a:spcPts val="0"/>
              </a:spcBef>
              <a:spcAft>
                <a:spcPts val="300"/>
              </a:spcAft>
              <a:buNone/>
            </a:pPr>
            <a:r>
              <a:rPr lang="en-US" sz="2000" dirty="0">
                <a:solidFill>
                  <a:srgbClr val="FF0000"/>
                </a:solidFill>
              </a:rPr>
              <a:t>y − (−8) = (4/3)(x − 3);   y + 8 = (4/3)x − 4;   y = (4/3)x − 12</a:t>
            </a:r>
          </a:p>
        </p:txBody>
      </p:sp>
      <p:sp>
        <p:nvSpPr>
          <p:cNvPr id="1721" name="Answer 1721"/>
          <p:cNvSpPr txBox="1"/>
          <p:nvPr/>
        </p:nvSpPr>
        <p:spPr>
          <a:xfrm>
            <a:off x="889000" y="5207000"/>
            <a:ext cx="10795000" cy="152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(−9 − 3)/(−1 − (−5)) = −12/4 = −3, so the perpendicular slope is 1/3.</a:t>
            </a:r>
          </a:p>
          <a:p>
            <a:pPr marL="0" indent="0" algn="l">
              <a:spcBef>
                <a:spcPts val="0"/>
              </a:spcBef>
              <a:spcAft>
                <a:spcPts val="300"/>
              </a:spcAft>
              <a:buNone/>
            </a:pPr>
            <a:r>
              <a:rPr lang="en-US" sz="2000" dirty="0">
                <a:solidFill>
                  <a:srgbClr val="FF0000"/>
                </a:solidFill>
              </a:rPr>
              <a:t>y − 2 = (1/3)(x − 6);   y − 2 = (1/3)x − 2;   y = (1/3)x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m = (4 − 1)/(0 − (−6)) = 3/6 = 1/2, so the perpendicular slope is −2.</a:t>
            </a:r>
            <a:br/>
            <a:r>
              <a:rPr lang="en-US" sz="2000" dirty="0">
                <a:solidFill>
                  <a:srgbClr val="FF0000"/>
                </a:solidFill>
              </a:rPr>
              <a:t>y − 7 = −2(x − (−2));   y − 7 = −2x − 4;   y = −2x + 3</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a:p>
            <a:pPr marL="514350" lvl="1" indent="0">
              <a:lnSpc>
                <a:spcPct val="100000"/>
              </a:lnSpc>
              <a:spcBef>
                <a:spcPts val="200"/>
              </a:spcBef>
              <a:spcAft>
                <a:spcPts val="600"/>
              </a:spcAft>
              <a:buNone/>
            </a:pPr>
            <a:r>
              <a:rPr lang="en-US" sz="2000" dirty="0">
                <a:solidFill>
                  <a:srgbClr val="FF0000"/>
                </a:solidFill>
              </a:rPr>
              <a:t>m = (4 − 9)/(−4 − 5) = −5/−9 = 5/9, so the perpendicular slope is −9/5.</a:t>
            </a:r>
            <a:br/>
            <a:r>
              <a:rPr lang="en-US" sz="2000" dirty="0">
                <a:solidFill>
                  <a:srgbClr val="FF0000"/>
                </a:solidFill>
              </a:rPr>
              <a:t>y − 9 = −(9/5)(x − 5);   y − 9 = −(9/5)x + 9;   y = −(9/5)x + 18</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35" name="Answer 17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42" name="Answer 174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7" name="Answer 175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
        <p:nvSpPr>
          <p:cNvPr id="1767" name="Answer 1767"/>
          <p:cNvSpPr txBox="1"/>
          <p:nvPr/>
        </p:nvSpPr>
        <p:spPr>
          <a:xfrm>
            <a:off x="3302000" y="5080000"/>
            <a:ext cx="6731000" cy="1428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75" name="Answer 17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82" name="Answer 17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317</a:t>
            </a:r>
          </a:p>
        </p:txBody>
      </p:sp>
      <p:sp>
        <p:nvSpPr>
          <p:cNvPr id="1795" name="Answer 1795"/>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8" name="Answer 1798"/>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