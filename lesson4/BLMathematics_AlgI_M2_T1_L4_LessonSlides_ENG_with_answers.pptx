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 correction: the TE sample answer names the slopes of horizontal and vertical lines but not their equations; y = c and x = c added.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Added: the same line written through the other point, (35, 102).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 correction: part b asks why the slope makes sense; the TE answer only describes the graph. Reason added: y never changes, so the rise is 0.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 correction (part e): the TE says the line 'does not slope toward the y-axis'. The accurate reason: x = −2 is parallel to the y-axis and never reaches x = 0.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a sample table for part c (TE: answers will vary).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 correction (part b): the TE never states the y-intercepts. Added (0, 320) and (0, 2).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the b-values for Tables D and E: y = −(3/4)x + 33/2 and y = 8x + 120.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 correction: the TE calls the reader in Context B 'Michele'; the cutout card (b) names Juliana.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 correction: the question asks for point-slope AND slope-intercept form; the TE gives only point-slope. Added y = 4x + 48.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matches (from slide 37): a. y − 200 = −5(x − 24); b. y = (1/2)x + 40; c. y − x = 2; d. y = −(3/4)x + 33/2; e. y = 8x + 120; f. y = 1.2x + 9.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from the Lesson 4 Assignment Prepare section, TE p. 216 (checked).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every change from the Teacher Edition answers.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lide1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slide2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slide3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slide4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slide5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slide6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slide7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slide8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slide9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slide10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slide11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slide12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slide13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slide14.jp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slide15.jp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slide16.jp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slide17.jp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slide18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slide19.jp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slide20.jp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slide21.jp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slide22.jp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slide23.jp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slide24.jp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slide25.jp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slide26.jp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slide27.jp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slide28.jp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slide29.jp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slide30.jp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slide31.jp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slide32.jp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slide33.jp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slide34.jp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slide35.jp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slide36.jp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slide37.jp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slide38.jp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slide39.jp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slide40.jp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slide41.jp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slide42.jp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slide43.jp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slide44.jp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slide45.jp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slide46.jp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slide47.jp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slide48.jp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slide49.jp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slide50.jp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slide51.jp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slide52.jp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slide53.jp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slide54.jpg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slide56.jpg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slide5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869950" y="4953000"/>
            <a:ext cx="10795000" cy="1651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Yes. Point-slope form: y − y1 = m(x − x1), where m is the slope and (x1, y1) is a point on the line. A horizontal line is y = c (slope 0). A vertical line is x = c (slope undefined).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4038600" y="5270500"/>
            <a:ext cx="7620000" cy="444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= −3x + 14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4013200" y="2857500"/>
            <a:ext cx="7620000" cy="444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= −2x + 16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4013200" y="5429250"/>
            <a:ext cx="7937500" cy="698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m = (12 − 15)/(4 − 2) = −3/2</a:t>
            </a:r>
          </a:p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y = −(3/2)x + 18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384300" y="2667000"/>
            <a:ext cx="10160000" cy="1651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Sample answer: The slope and y-intercept were given for Pool A. The slope was given for Pool B, but I had to calculate the y-intercept. I had to calculate the slope and y-intercept for Pool 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869950" y="2540000"/>
            <a:ext cx="10477500" cy="1270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Summary: Real-world situations modeling linear relationships can be expressed as an equation in slope-intercept form, y = mx + b, where m is the slope and b is the y-intercept.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327150" y="4540250"/>
            <a:ext cx="10477500" cy="2159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−(1/2)(x − 2) = y − 6  →  −(1/2)x + 1 = y − 6  →  y = −(1/2)x + 7</a:t>
            </a:r>
          </a:p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Both forms show the slope. Point-slope form shows a point on the line (which may not be the y-intercept); slope-intercept form shows the y-intercept.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308100" y="2794000"/>
            <a:ext cx="9525000" cy="444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− 12 = −8(x − 3)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1308100" y="4445000"/>
            <a:ext cx="9525000" cy="444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− 5 = (2/3)(x + 4)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327150" y="2667000"/>
            <a:ext cx="9525000" cy="444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− 14 = 1.1(x − 10)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1327150" y="4508500"/>
            <a:ext cx="9525000" cy="444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− 7 = −(3/8)(x − 50)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6223000" y="2032000"/>
            <a:ext cx="5588000" cy="203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m = (20 − 102)/(42 − 35) = −82/7</a:t>
            </a:r>
          </a:p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− 20 = −(82/7)(x − 42)</a:t>
            </a:r>
          </a:p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or  y − 102 = −(82/7)(x − 35)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3556000" y="2095500"/>
            <a:ext cx="8255000" cy="76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Sample answer:</a:t>
            </a:r>
          </a:p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+ 6 = 0(x − 1)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1384300" y="5175250"/>
            <a:ext cx="10477500" cy="1524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y + 6 = 0(x − 1)  →  y + 6 = 0  →  y = −6</a:t>
            </a:r>
          </a:p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There is no x-term: y is −6 for every x. It is a constant function (a horizontal line).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905000" y="3460750"/>
            <a:ext cx="9842500" cy="381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Slope-intercept form: m and b go straight into y = mx + b.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1905000" y="4318000"/>
            <a:ext cx="9842500" cy="381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Calculate the slope first, then use point-slope form with either point.</a:t>
            </a:r>
          </a:p>
        </p:txBody>
      </p:sp>
      <p:sp>
        <p:nvSpPr>
          <p:cNvPr id="12" name="Answer 12"/>
          <p:cNvSpPr txBox="1"/>
          <p:nvPr/>
        </p:nvSpPr>
        <p:spPr>
          <a:xfrm>
            <a:off x="1905000" y="5175250"/>
            <a:ext cx="9842500" cy="381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Point-slope form: use m and the point (x1, y1) directly.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869950" y="2540000"/>
            <a:ext cx="10477500" cy="1270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Summary: The point-slope form of a linear equation is y − y1 = m(x − x1), where m is the slope of the line and (x1, y1) is any point on the line.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905000" y="4984750"/>
            <a:ext cx="9842500" cy="101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The equation has no x-term: y stays the same for every x. The slope is 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3390900" y="2921000"/>
            <a:ext cx="6223000" cy="1206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FF0000"/>
                </a:solidFill>
                <a:latin typeface="Arial"/>
                <a:cs typeface="Arial"/>
              </a:rPr>
              <a:t>A horizontal line through (0, −6). The slope is 0 because y never changes: the rise is 0, so rise ÷ run = 0.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3390900" y="5080000"/>
            <a:ext cx="8382000" cy="1270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The equation says y is always −6. Every y-value in the table is −6, and every point on the graph has a y-value of −6.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4318000" y="2984500"/>
            <a:ext cx="7302500" cy="1460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y = 11</a:t>
            </a:r>
          </a:p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Horizontal line; slope 0; y-intercept (0, 11)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1879600" y="5397500"/>
            <a:ext cx="9842500" cy="889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y = −3.75</a:t>
            </a:r>
          </a:p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Horizontal line; slope 0; y-intercept (0, −3.75)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905000" y="3460750"/>
            <a:ext cx="7620000" cy="889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All the x-values are the same (−2) instead of all the y-values; this time the y-values change.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1905000" y="5207000"/>
            <a:ext cx="7620000" cy="444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x = −2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384300" y="2095500"/>
            <a:ext cx="10160000" cy="444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A vertical line through (−2, 0).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1384300" y="3746500"/>
            <a:ext cx="10160000" cy="825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m = (14 − 5)/(−2 − (−2)) = 9/0. You cannot divide by 0, so the slope is undefined.</a:t>
            </a:r>
          </a:p>
        </p:txBody>
      </p:sp>
      <p:sp>
        <p:nvSpPr>
          <p:cNvPr id="12" name="Answer 12"/>
          <p:cNvSpPr txBox="1"/>
          <p:nvPr/>
        </p:nvSpPr>
        <p:spPr>
          <a:xfrm>
            <a:off x="1384300" y="5492750"/>
            <a:ext cx="10477500" cy="1270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There is no y-intercept. The line x = −2 is parallel to the y-axis and never crosses it (x is never 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4445000" y="3048000"/>
            <a:ext cx="7302500" cy="1587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x = 17/2  (x = 8.5)</a:t>
            </a:r>
          </a:p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Vertical line through (17/2, 0); slope undefined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384300" y="2444750"/>
            <a:ext cx="10160000" cy="76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x = −7</a:t>
            </a:r>
          </a:p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Vertical line through (−7, 0); slope undefined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1384300" y="4953000"/>
            <a:ext cx="10477500" cy="1397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Sample: x-values 3, 3, 3 with y-values −1, 0, 5 give x = 3. Any table whose x-values are all the same number c gives the vertical line x = 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869950" y="2540000"/>
            <a:ext cx="10795000" cy="1270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Summary: A horizontal line is y = a constant (no change in y, so the slope is 0). A vertical line is x = a constant (no change in x, so the slope is undefined).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869950" y="5270500"/>
            <a:ext cx="10795000" cy="1270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Yes, point-slope form: y − y1 = m(x − x1). Horizontal line: y = c. Vertical line: x = 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3860800" y="3873500"/>
            <a:ext cx="7937500" cy="2794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Explanations will vary.</a:t>
            </a:r>
          </a:p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A: y − 200 = −5(x − 24)     B: y = (1/2)x + 40</a:t>
            </a:r>
          </a:p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C: y − x = 2     D: y = −(3/4)x + 33/2</a:t>
            </a:r>
          </a:p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E: y = 8x + 120     F: y = 1.2x + 9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955800" y="3048000"/>
            <a:ext cx="9207500" cy="825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FF0000"/>
                </a:solidFill>
                <a:latin typeface="Arial"/>
                <a:cs typeface="Arial"/>
              </a:rPr>
              <a:t>Graph A falls from left to right (negative slope, −5); Graph C rises (positive slope, 1). The sign of m in y = mx + b shows this.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1955800" y="5175250"/>
            <a:ext cx="9842500" cy="1397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FF0000"/>
                </a:solidFill>
                <a:latin typeface="Arial"/>
                <a:cs typeface="Arial"/>
              </a:rPr>
              <a:t>Graph A: (0, 320). Graph C: (0, 2). In y = mx + b the y-intercept is (0, b), the number that is added: A is y = −5x + 320 and C is y = x + 2.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435100" y="2667000"/>
            <a:ext cx="10160000" cy="1270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Graph A: slope −5. Graph C: slope 1.</a:t>
            </a:r>
          </a:p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The slope is the coefficient of x when the equation is written in slope-intercept form.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955800" y="3016250"/>
            <a:ext cx="6731000" cy="76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Table D: m = (9 − 15)/(10 − 2) = −6/8 = −3/4</a:t>
            </a:r>
          </a:p>
          <a:p>
            <a:pPr>
              <a:spcAft>
                <a:spcPts val="300"/>
              </a:spcAft>
            </a:pP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Table E: m = (264 − 216)/(18 − 12) = 48/6 = 8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1955800" y="5080000"/>
            <a:ext cx="9842500" cy="1651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FF0000"/>
                </a:solidFill>
                <a:latin typeface="Arial"/>
                <a:cs typeface="Arial"/>
              </a:rPr>
              <a:t>It is the y-value when x = 0. If (0, y) is not in the table, find the slope, then substitute a point to solve for b.  Table D: b = 33/2.  Table E: b = 120.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435100" y="2667000"/>
            <a:ext cx="10287000" cy="3937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Context B: The term (1/2)x means Juliana reads one page every two minutes, or 1/2 page per minute; x is the number of minutes. The term 40 is the number of pages she had already read.</a:t>
            </a:r>
          </a:p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Context F: The term 1.2x means each additional topping costs $1.20; x is the number of additional toppings. The term 9 is the cost of a large pizza.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869950" y="2540000"/>
            <a:ext cx="10477500" cy="76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Summary: Linear relationships can be modeled using graphs, tables, contexts, and equations.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447800" y="5175250"/>
            <a:ext cx="4699000" cy="952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Slope 3/5; y-intercept (0, −4)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6191250" y="5175250"/>
            <a:ext cx="5588000" cy="952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Slope 2; point (−1, 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869950" y="2444750"/>
            <a:ext cx="5080000" cy="952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Slope 2; point (0, −4), which is also the y-intercept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6191250" y="2444750"/>
            <a:ext cx="5588000" cy="952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Slope −2/7; y-intercept (0, 0)</a:t>
            </a:r>
          </a:p>
        </p:txBody>
      </p:sp>
      <p:sp>
        <p:nvSpPr>
          <p:cNvPr id="12" name="Answer 12"/>
          <p:cNvSpPr txBox="1"/>
          <p:nvPr/>
        </p:nvSpPr>
        <p:spPr>
          <a:xfrm>
            <a:off x="869950" y="4762500"/>
            <a:ext cx="5080000" cy="952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Slope −1; point (4, −5)</a:t>
            </a:r>
          </a:p>
        </p:txBody>
      </p:sp>
      <p:sp>
        <p:nvSpPr>
          <p:cNvPr id="13" name="Answer 13"/>
          <p:cNvSpPr txBox="1"/>
          <p:nvPr/>
        </p:nvSpPr>
        <p:spPr>
          <a:xfrm>
            <a:off x="6191250" y="4762500"/>
            <a:ext cx="5588000" cy="1270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Slope 0; y-intercept (0, 19); a horizontal 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384300" y="3175000"/>
            <a:ext cx="10160000" cy="2857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Sample answer: Omar earns 4 credits for each game he plays. After playing 2 games today, he has 56 credits.</a:t>
            </a:r>
          </a:p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Point-slope form: y − 56 = 4(x − 2)</a:t>
            </a:r>
          </a:p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Slope-intercept form: y = 4x + 48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869950" y="2540000"/>
            <a:ext cx="10795000" cy="825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Summary: Characteristics of linear relationships can be identified when their equations are written in slope-intercept form and point-slope form.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869950" y="5016500"/>
            <a:ext cx="10795000" cy="1270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Yes, point-slope form: y − y1 = m(x − x1). Horizontal line: y = c. Vertical line: x = 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Answer 10"/>
          <p:cNvSpPr txBox="1"/>
          <p:nvPr/>
        </p:nvSpPr>
        <p:spPr>
          <a:xfrm>
            <a:off x="1460500" y="2984500"/>
            <a:ext cx="4826000" cy="508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= (1/2)x − 7/2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6858000" y="2984500"/>
            <a:ext cx="4826000" cy="508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= (4/3)x − 8</a:t>
            </a:r>
          </a:p>
        </p:txBody>
      </p:sp>
      <p:sp>
        <p:nvSpPr>
          <p:cNvPr id="12" name="Answer 12"/>
          <p:cNvSpPr txBox="1"/>
          <p:nvPr/>
        </p:nvSpPr>
        <p:spPr>
          <a:xfrm>
            <a:off x="1460500" y="5207000"/>
            <a:ext cx="4826000" cy="508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= −(2/3)x + 2</a:t>
            </a:r>
          </a:p>
        </p:txBody>
      </p:sp>
      <p:sp>
        <p:nvSpPr>
          <p:cNvPr id="13" name="Answer 13"/>
          <p:cNvSpPr txBox="1"/>
          <p:nvPr/>
        </p:nvSpPr>
        <p:spPr>
          <a:xfrm>
            <a:off x="6858000" y="5207000"/>
            <a:ext cx="4826000" cy="508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y = (1/8)x − 2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swer 10"/>
          <p:cNvSpPr txBox="1"/>
          <p:nvPr/>
        </p:nvSpPr>
        <p:spPr>
          <a:xfrm>
            <a:off x="869950" y="571500"/>
            <a:ext cx="10795000" cy="6985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3400" b="1" dirty="0">
                <a:solidFill>
                  <a:srgbClr val="2E7D4F"/>
                </a:solidFill>
                <a:latin typeface="Arial"/>
                <a:cs typeface="Arial"/>
              </a:rPr>
              <a:t>Teacher Edition corrections in this deck</a:t>
            </a:r>
          </a:p>
        </p:txBody>
      </p:sp>
      <p:sp>
        <p:nvSpPr>
          <p:cNvPr id="11" name="Answer 11"/>
          <p:cNvSpPr txBox="1"/>
          <p:nvPr/>
        </p:nvSpPr>
        <p:spPr>
          <a:xfrm>
            <a:off x="869950" y="1270000"/>
            <a:ext cx="10795000" cy="6667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FF0000"/>
                </a:solidFill>
                <a:latin typeface="Arial"/>
                <a:cs typeface="Arial"/>
              </a:rPr>
              <a:t>• Activity 4.2 Q1b: the TE does not explain why a slope of 0 makes sense. Added: y never changes, so the rise is 0.</a:t>
            </a:r>
          </a:p>
        </p:txBody>
      </p:sp>
      <p:sp>
        <p:nvSpPr>
          <p:cNvPr id="12" name="Answer 12"/>
          <p:cNvSpPr txBox="1"/>
          <p:nvPr/>
        </p:nvSpPr>
        <p:spPr>
          <a:xfrm>
            <a:off x="869950" y="1936750"/>
            <a:ext cx="10795000" cy="6667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FF0000"/>
                </a:solidFill>
                <a:latin typeface="Arial"/>
                <a:cs typeface="Arial"/>
              </a:rPr>
              <a:t>• Activity 4.2 Q3e: the TE says the line 'does not slope toward the y-axis'. Corrected: x = −2 is parallel to the y-axis and never crosses it.</a:t>
            </a:r>
          </a:p>
        </p:txBody>
      </p:sp>
      <p:sp>
        <p:nvSpPr>
          <p:cNvPr id="13" name="Answer 13"/>
          <p:cNvSpPr txBox="1"/>
          <p:nvPr/>
        </p:nvSpPr>
        <p:spPr>
          <a:xfrm>
            <a:off x="869950" y="2603500"/>
            <a:ext cx="10795000" cy="6667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FF0000"/>
                </a:solidFill>
                <a:latin typeface="Arial"/>
                <a:cs typeface="Arial"/>
              </a:rPr>
              <a:t>• Activity 4.3 Q2b: the TE never identifies the y-intercepts. Added (0, 320) and (0, 2).</a:t>
            </a:r>
          </a:p>
        </p:txBody>
      </p:sp>
      <p:sp>
        <p:nvSpPr>
          <p:cNvPr id="14" name="Answer 14"/>
          <p:cNvSpPr txBox="1"/>
          <p:nvPr/>
        </p:nvSpPr>
        <p:spPr>
          <a:xfrm>
            <a:off x="869950" y="3270250"/>
            <a:ext cx="10795000" cy="6667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FF0000"/>
                </a:solidFill>
                <a:latin typeface="Arial"/>
                <a:cs typeface="Arial"/>
              </a:rPr>
              <a:t>• Activity 4.3 Q4: the TE names the reader 'Michele'; the cutout card says Juliana. Corrected.</a:t>
            </a:r>
          </a:p>
        </p:txBody>
      </p:sp>
      <p:sp>
        <p:nvSpPr>
          <p:cNvPr id="15" name="Answer 15"/>
          <p:cNvSpPr txBox="1"/>
          <p:nvPr/>
        </p:nvSpPr>
        <p:spPr>
          <a:xfrm>
            <a:off x="869950" y="3937000"/>
            <a:ext cx="10795000" cy="6667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FF0000"/>
                </a:solidFill>
                <a:latin typeface="Arial"/>
                <a:cs typeface="Arial"/>
              </a:rPr>
              <a:t>• Talk the Talk Q2: the TE omits the slope-intercept form. Added y = 4x + 48.</a:t>
            </a:r>
          </a:p>
        </p:txBody>
      </p:sp>
      <p:sp>
        <p:nvSpPr>
          <p:cNvPr id="16" name="Answer 16"/>
          <p:cNvSpPr txBox="1"/>
          <p:nvPr/>
        </p:nvSpPr>
        <p:spPr>
          <a:xfrm>
            <a:off x="869950" y="4603750"/>
            <a:ext cx="10795000" cy="6667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FF0000"/>
                </a:solidFill>
                <a:latin typeface="Arial"/>
                <a:cs typeface="Arial"/>
              </a:rPr>
              <a:t>• Essential Question: added the equations y = c (horizontal) and x = c (vertical).</a:t>
            </a:r>
          </a:p>
        </p:txBody>
      </p:sp>
      <p:sp>
        <p:nvSpPr>
          <p:cNvPr id="17" name="Answer 17"/>
          <p:cNvSpPr txBox="1"/>
          <p:nvPr/>
        </p:nvSpPr>
        <p:spPr>
          <a:xfrm>
            <a:off x="869950" y="5270500"/>
            <a:ext cx="10795000" cy="6667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2100" dirty="0">
                <a:solidFill>
                  <a:srgbClr val="16171D"/>
                </a:solidFill>
                <a:latin typeface="Arial"/>
                <a:cs typeface="Arial"/>
              </a:rPr>
              <a:t>• Every other TE answer was re-solved and is correct, including the Lesson 4 Assignment (pp. 215-216).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oint-Slope Form of a Line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