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days on the 150-day calendar (Mon Nov 9 and Tue Nov 10). Every activity is starred: Day 1 Getting Started and Activity 2.1; Day 2 Activities 2.2, 2.3 and Talk the Talk. End of Topic questions 7, 8 and 10 come from this lesson.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2x + 6 = x − 4, so x = −10. 2. Same x-term, different constants: 1 ≠ −5, never true. 3. In y = mx + b, m = −2 and b = 7. 4. Set y = 0: 0 = 2x − 6, x = 3.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preview the key terms before the lesson. Leave this slide up or print it as a reference card.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15 minutes. Remember: the perimeter of a rectangle is P = 2ℓ + 2w. Same formula, solved for the variable each person needs.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1–3, pairs. Q3: rewrite in slope-intercept form (y = 3/2x − 4) or use intercepts.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instruction (Questions 4–6). For graphing technology, slope-intercept form is the most efficient (Q7). Skills Practice Sets A–C.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9a, multiply by 2 to clear the decimal: 2y + 14 = x − 1, so x − 2y = 15.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Standard form: subtract the x-term, then divide every term. Point-slope: distribute, then move the constant.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copy: EXIT TICKET/T1-Exit-Ticket-Mon-11-09.pdf (written like the End of Topic 1 test). Give about 8 minutes. Work: 1. 3y = −6x + 12 → y = −2x + 4. 2. y − 4 = 3x + 6 → y = 3x + 10. 3. y = 0: 2x = 10, x = 5. x = 0: −5y = 10, y = −2.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ask two or three students to summarize Day 1: Which form of a line shows the slope and y-intercept fastest?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Subtract 4x: 2y = −4x + 10. Divide by 2: y = −2x + 5. 2. Add 7: 3x = 18. Divide by 3: x = 6. 3. 30 = 2ℓ + 10, so 2ℓ = 20 and ℓ = 10. 4. 50 − 32 = 18, and 5/9 · 18 = 10.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2.2, 15–20 minutes. Either convert 30°C to °F (86) or 77°F to °C (25).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Isabella is correct: distribute, multiply by 9, add 160, divide by 5. The Worked Example multiplies by the denominator to clear the fraction.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1–3, 15–20 minutes. Skills Practice Set D.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b is a challenge: collect the D terms on one side and factor out 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the Talk, 10 minutes. Q4: 51.81 − 14.13 = 37.68, and 37.68 ÷ 9.42 = 4.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Undo the operations on the variable you want, in reverse order.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copy: EXIT TICKET/T1-Exit-Ticket-Tue-11-10.pdf (written like the End of Topic 1 test). Give about 8 minutes. Work: 1. Divide both sides by ℓ. 2. Divide both sides by πr². 3. Divide both sides by t. 4. h = S/(2πr) = 37.68 ÷ 9.42 = 4.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1: a 3x − 4y = 32, b y = −3x + 15, c y = 5/2x + 9, d x − 2y = 22. Prepare: x = 5, x &gt; 7, x ≤ −3, x &lt; −4.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Section 504/m3t1-lesson2-bellwork-day1-504.html" TargetMode="External"/><Relationship Id="rId4" Type="http://schemas.openxmlformats.org/officeDocument/2006/relationships/hyperlink" Target="https://algebra1m2u1l4.vercel.app/Section 504/m3t1-lesson2-bellwork-day2-504.html" TargetMode="External"/><Relationship Id="rId5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3 · Topic 1 · Lesson 2 · Student Edition pp. 357–370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Literal Equations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6613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₁ =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₁) ·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0680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Section 504 Version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64586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66522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+ 3)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−10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How many solutions does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have?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No solution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are the slope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slope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(0, 7)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What is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− 6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372922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(3, 0)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Getting Started: the park's perimeter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2.1: slope and intercepts from three forms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Exit ticket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2 · SE p. 357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Rewrite linear equations in different forms.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Analyze the structure of different forms of linear equations.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511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Recognize and use literal equations.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9984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Rearrange literal equations to highlight quantities of interest.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52196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New key term: literal equation</a:t>
            </a:r>
            <a:endParaRPr lang="en-US" sz="157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2 · Key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Key vocabulary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 = mx + b. Shows the slope m and y-intercept (0, b).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y = 2x + 3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form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 − y₁ = m(x − x₁). Shows the slope and a point.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y − 4 = 3(x + 2)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Standard form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Ax + By = C, with integers A, B, C.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6x + 3y = 12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642360"/>
            <a:ext cx="3492398" cy="20924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x-intercept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2839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Where the line crosses the x-axis. Put 0 in for y.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491413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(5, 0)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642360"/>
            <a:ext cx="3492398" cy="20924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y-intercept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2839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Where the line crosses the y-axis. Put 0 in for x.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491413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−2)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642360"/>
            <a:ext cx="3492398" cy="20924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Literal equation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283964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formula with letters for measures. You can solve it for any letter.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515416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V = Bh → h = V/B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357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632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have used different properties to solve linear equations to determine which value makes the equation true.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05104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How can you use those same properties to solve for one specific variable in an equation that has multiple variables?</a:t>
            </a:r>
            <a:endParaRPr lang="en-US" sz="27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Perimeter Perspectives · SE p. 358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Two backyards share sides with a park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The city gives Juan and Mia the perimeter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park. Juan needs the width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; Mia needs the length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ℓ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6014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Juan: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/2 − ℓ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5028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Mia: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ℓ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/2 −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1618488"/>
            <a:ext cx="521954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Show they are equivalent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each by 2: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− 2ℓ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2ℓ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2650236"/>
            <a:ext cx="48004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2ℓ + 2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endParaRPr lang="en-US" sz="2325" dirty="0"/>
          </a:p>
        </p:txBody>
      </p:sp>
      <p:sp>
        <p:nvSpPr>
          <p:cNvPr id="11" name="Slide Number 1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Equations in Different Forms · SE pp. 359–360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Find the slope and both intercepts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79698" cy="23004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−⅔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605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l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−⅔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7426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4) · (6, 0)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55998" y="1618488"/>
            <a:ext cx="3479698" cy="23004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65548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4(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− 2)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65548" y="2260092"/>
            <a:ext cx="30605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l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4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565548" y="287426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−8) · (2, 0)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26197" y="1618488"/>
            <a:ext cx="3479698" cy="2654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35747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35747" y="2260092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l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3/2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8235747" y="322859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−4) · (8/3, 0)</a:t>
            </a:r>
            <a:endParaRPr lang="en-US" sz="232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444474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y-intercept: put 0 in for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x-intercept: put 0 in for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7" name="Slide Number 1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Three Forms · SE p. 360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Which form shows what?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233172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Form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3017520" y="1618488"/>
            <a:ext cx="2688336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Equation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5705856" y="1618488"/>
            <a:ext cx="5541264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Shows quickly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03911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slope-intercept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3017520" y="2039112"/>
            <a:ext cx="26883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5705856" y="2039112"/>
            <a:ext cx="55412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705856" y="2039112"/>
            <a:ext cx="5541264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slope, y-intercept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45973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point-slope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3017520" y="2459736"/>
            <a:ext cx="26883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₁ =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705856" y="2459736"/>
            <a:ext cx="55412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5705856" y="2459736"/>
            <a:ext cx="5541264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slope, a point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2880360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standard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3017520" y="2880360"/>
            <a:ext cx="26883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5705856" y="2880360"/>
            <a:ext cx="55412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8" name="Shape 18"/>
          <p:cNvSpPr txBox="1"/>
          <p:nvPr/>
        </p:nvSpPr>
        <p:spPr>
          <a:xfrm>
            <a:off x="5705856" y="2880360"/>
            <a:ext cx="5541264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l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-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, 0),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-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(0,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80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47243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 standard form A, B, and C are integers, and A and B are not both 0.</a:t>
            </a:r>
            <a:endParaRPr lang="en-US" sz="157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2.1 · Questions 8–9 · SE p. 361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Rewrite each equation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8. Slope-intercept form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 = 5(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− 7)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7022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− 33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439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8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88842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− 6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9. Standard form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206578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 = 0.5(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257022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286348" y="318439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3688842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endParaRPr lang="en-US" sz="232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Test Practice · Like End of Topic Questions 7 and 10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Rewrite in slope-intercept form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1. 2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+ 8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1307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 = −3(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1229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 = −3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+ 6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51307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Rewrite the equation in slope-intercept form.</a:t>
            </a:r>
            <a:b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1062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1523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Rewrite the equation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− 4 = 3(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in slope-intercept form.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6252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07670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are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-intercepts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523994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(5, 0)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and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−2)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1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908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Standard → slope-intercept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58013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Subtract the x-term.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Divide every term by the number with y.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908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→ slope-intercept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58013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Distribute.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Add or subtract to get y alone.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908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Intercepts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x-intercept: y = 0.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y-intercept: x = 0.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69798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How can you use those same properties to solve for one specific variable in an equation that has multiple variables?</a:t>
            </a:r>
            <a:endParaRPr lang="en-US" sz="24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Which equation is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written in slope-intercept form?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− 7 = 11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2ℓ + 2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ℓ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when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5/9(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− 32)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when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50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026408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2.2: Celsius and Fahrenheit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2.3: solve formulas for a letter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Talk the Talk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Exit ticket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35958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2.2 · Rewriting Literal Equations · SE p. 362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Celsius and Fahrenheit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literal equation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an equation in which the variables represent specific measures, like a formula.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6014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5/9(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− 32)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6458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Multiply by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9/5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9/5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− 32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554730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9/5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+ 32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286348" y="1618488"/>
            <a:ext cx="521954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Who is warmer?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226009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Jayden: 77°F. Mateo: 30°C.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495898" y="2650236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9/5(30) + 32 = 86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495898" y="3040380"/>
            <a:ext cx="48004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Mateo: 86°F &gt; 77°F</a:t>
            </a:r>
            <a:endParaRPr lang="en-US" sz="232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2.2 · Question 3 and Worked Example · SE pp. 363–364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Find the error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796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Ethan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605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5/9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764536"/>
            <a:ext cx="30605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Error: he did not distribute 5/9 to the 32.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4355998" y="1618488"/>
            <a:ext cx="34796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65548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Minh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65548" y="2260092"/>
            <a:ext cx="30605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9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− 1440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565548" y="2764536"/>
            <a:ext cx="30605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Error: he multiplied 9 · 5/9 F wrong (it is 5F, not 45F).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8026197" y="1618488"/>
            <a:ext cx="3479698" cy="2190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35747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 No fractions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35747" y="2260092"/>
            <a:ext cx="30605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9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− 32)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8235747" y="2764536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9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−160</a:t>
            </a:r>
            <a:endParaRPr lang="en-US" sz="23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2.3 · Solving Literal Equations for Specific Variables · SE pp. 365–366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for the height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3492398" cy="22265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Box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764536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378708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V = 450, B = 75: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6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4349648" y="1618488"/>
            <a:ext cx="3492398" cy="28209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Cone</a:t>
            </a:r>
            <a:endParaRPr lang="en-US" sz="2100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²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559198" y="27645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²)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4559198" y="3733038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cubic ÷ square units = linear units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013497" y="1618488"/>
            <a:ext cx="3492398" cy="28209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 Trapezoid</a:t>
            </a:r>
            <a:endParaRPr lang="en-US" sz="2100" dirty="0"/>
          </a:p>
        </p:txBody>
      </p:sp>
      <p:sp>
        <p:nvSpPr>
          <p:cNvPr id="15" name="Shape 15"/>
          <p:cNvSpPr txBox="1"/>
          <p:nvPr/>
        </p:nvSpPr>
        <p:spPr>
          <a:xfrm>
            <a:off x="8223047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₂)</a:t>
            </a:r>
            <a:endParaRPr lang="en-US" sz="2325" dirty="0"/>
          </a:p>
        </p:txBody>
      </p:sp>
      <p:sp>
        <p:nvSpPr>
          <p:cNvPr id="16" name="Shape 16"/>
          <p:cNvSpPr txBox="1"/>
          <p:nvPr/>
        </p:nvSpPr>
        <p:spPr>
          <a:xfrm>
            <a:off x="8223047" y="27645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₂)</a:t>
            </a:r>
            <a:endParaRPr lang="en-US" sz="2325" dirty="0"/>
          </a:p>
        </p:txBody>
      </p:sp>
      <p:sp>
        <p:nvSpPr>
          <p:cNvPr id="17" name="Shape 17"/>
          <p:cNvSpPr txBox="1"/>
          <p:nvPr/>
        </p:nvSpPr>
        <p:spPr>
          <a:xfrm>
            <a:off x="8223047" y="3733038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= 24, bases 9 and 7: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cm</a:t>
            </a:r>
            <a:endParaRPr lang="en-US" sz="1575" dirty="0"/>
          </a:p>
        </p:txBody>
      </p:sp>
      <p:sp>
        <p:nvSpPr>
          <p:cNvPr id="19" name="Slide Number 1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2.3 · Question 4 · SE p. 366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Z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for each variable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9574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 Solve for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by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Z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Z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210148" y="1618488"/>
            <a:ext cx="529574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 Solve for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(challenge)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6419698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by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Z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Factor out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Z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3040380"/>
            <a:ext cx="440045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Z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Talk the Talk · Rearrange It · SE p. 367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Cans of soup (use 3.14 for π)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Lateral area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2π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Solve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/(2π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79954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37.68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1.5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7248"/>
            <a:ext cx="340550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Surface area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2π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² + 2π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Solve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362962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²)/(2π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2977134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51.81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1.5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3424428"/>
            <a:ext cx="340550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Test Practice · Like End of Topic Question 8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each formula for the given variable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by 2: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13076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1229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Divide by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513076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do you solve for one variable in a formula?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same properties of equality: undo each operation on that variable, doing the same to both sides.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1536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Every other letter is treated like a number.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57906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Pick the form that shows what you need: slope-intercept for the slope and y-intercept, point-slope for a point.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The formula for the area of a rectangle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ℓ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Solve the equation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/ℓ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180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The formula for the volume of a cylinder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π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²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Solve the equation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6534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/(π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²)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7952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equation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solved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26814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484098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2π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37.68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1.5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Find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5288280"/>
            <a:ext cx="340550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in.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2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Literal equation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Circle the letter you want. Undo everything around it.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Undo in reverse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Undo + and − first, then × and ÷.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Then plug in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Put the numbers in after you solve for the letter.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25</a:t>
            </a:fld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Homework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2 Assignment · SE pp. 369–370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95748" cy="11079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Practice 1a–d: rewrite in the given form.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10148" y="1618488"/>
            <a:ext cx="52957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19698" y="2260092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Practice 2–3: formulas, plus Prepare (inequalities).</a:t>
            </a:r>
            <a:endParaRPr lang="en-US" sz="157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iteral Equation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26</Slides>
  <Notes>26</Notes>
</Properties>
</file>

<file path=docProps/core.xml><?xml version="1.0" encoding="utf-8"?>
<cp:coreProperties xmlns:cp="http://schemas.openxmlformats.org/package/2006/metadata/core-properties" xmlns:dc="http://purl.org/dc/elements/1.1/">
  <dc:title>Literal Equations</dc:title>
  <dc:subject>Bluebonnet Algebra I</dc:subject>
</cp:coreProperties>
</file>