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Thursday, October 29.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In y = mx + b, m = −3.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6.2, 20–25 minutes. To begin Day 2, have a student read the Essential Question aloud. Have pairs complete Questions 1–5, then share. Axes: x = Number of T-Shirts, y = Potential Earnings (dollars). The Ask Yourself: What do the slope, intercepts, domain, and range mean in this situation? Teacher-guide look-for: students give the domain and range of the function (all real numbers) rather than of the scenario (whole numbers of shirts, multiples of $15). Ask: Did you use one or two points to calculate the earnings per T-shirt?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Does E(t) represent a direct variation? (Yes: it passes through the origin and has the form y = kx.) Teacher-guide support: relate function notation back to x and y: (t, E(t)) is the same as (x, f(x)), which is the same as (x, y). Ask: Why doesn't the equation have a constant term? (She starts with $0.) E(2.75) is a point on the line, but it isn't a solution in the context.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Worked Examples and complete Questions 6 and 7 as a class. The Worked Example is explicit instruction: have students restate each step in their own words. Ask: How do you know whether to substitute the given value for t or for E(t)? (It's dollars, so it's the output.) How did you decide 7 instead of 6? How much does she earn with 6 shirts? 7? ($90 and $105.)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box: the graph of an equation represents the set of all its solutions. Ask: Why does it make sense to rely on technology when using a graph? (Reading 6.67 by eye is hard.) How could you solve this using a table on a calculator? Stamp the learning, from the teacher guide: "An equation or a graph can be used to determine the value of an independent variable. Sometimes a graph can only give an approximate answer; however, using an equation always results in an exact answer." For more practice, assign Skills Practice Set 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Thursday, October 29.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Monday, November 2.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Negative reciprocals multiply to −1.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6.3, 20–25 minutes. Have pairs complete Questions 1–4, then share. The last two clicks label the points on the graph. Ask Yourself: Does G(t) vary directly with t? (No: it doesn't pass through the origin.) Ask: How do the parallel lines relate to the context? (Same price per shirt.) Does this notation represent the x-intercept or the y-intercept? (G(0) is the y-intercept; G(t) = 0 gives the x-intercept.) Look for the statements students use to interpret y = G(0) and G(t) = 0.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property did you apply to show the equations are equivalent? (The Distributive Property.) Explain how Brianna's and Hailey's perspectives are different: Brianna thinks in shirts (3 fewer to sell), Hailey thinks in dollars ($45 lost). Compare Question 3 with the Worked Example in Activity 6.2: on the graph, the line G(t) crosses y = 100 at about (9.67, 100), and in context she needs 10 shirts.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fill in their own table first: the unit, then the contextual meaning, then the mathematical meaning. Reveal the teacher-guide answers one row at a time. Teacher-guide support: provide a word bank for the mathematical meanings (input, output, rate of change, y-intercept, constant). Ask: How does the unit of each expression guide your thinking? (Dollars per T-shirt must be a rate; plain dollars is an amount.)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Monday, November 2.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lgebra1m2u1l4.vercel.app/Section 504/lesson6-homework-504.html" TargetMode="External"/><Relationship Id="rId4" Type="http://schemas.openxmlformats.org/officeDocument/2006/relationships/hyperlink" Target="https://algebra1m2u1l4.vercel.app/Section 504/lesson6-quiz-504.html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lgebra1m2u1l4.vercel.app/Section 504/lesson6-homework-504.html" TargetMode="External"/><Relationship Id="rId4" Type="http://schemas.openxmlformats.org/officeDocument/2006/relationships/hyperlink" Target="https://algebra1m2u1l4.vercel.app/Section 504/lesson6-quiz-504.html" TargetMode="Externa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30018"/>
            <a:ext cx="1082009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Adds a 15-minute Topic 1 Catch-Up (Lessons 5–6) each day · Day 1: Thu, Oct 29 · Day 2: Mon, Nov 2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075432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1609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73880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87451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1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(Write, evaluate and solve a function in context) → Lesson 3, Day 1.</a:t>
            </a:r>
            <a:endParaRPr lang="en-US" sz="21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 · Thu, Oct 29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72922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Thu, Oct 29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Write, evaluate and solve a function in context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Lesson 3 evaluates slopes and points; this practices using function notation in a story.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Interpreting Graphs of Linear Functions · SE p. 243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Gracie's T-shirt sales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her mom at festivals and returns what she earns. The graph shows her potential earnings.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List as many facts as you can.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690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 passes through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shirts, no money.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8610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15 for every 1 shirt: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$15 per T-shirt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Selling 4 shirts earns $60.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3532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Domain of the situation: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of shirts, 0 or more. Range: 0, 15, 30, 45, …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9292199" y="25073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0" name="Shape 70"/>
          <p:cNvSpPr txBox="1"/>
          <p:nvPr/>
        </p:nvSpPr>
        <p:spPr>
          <a:xfrm>
            <a:off x="9430311" y="231208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(4, 60)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Questions 2–5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and evaluate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 and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selling 0 shirts earns $0.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Write a function for her earnings.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98958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point on the line: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shirts sold and the dollars earned for them.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40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Evaluate and interpret.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(2) = 30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(2, 30): 2 shirts earn $30.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4349648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4559198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(5) = 75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4559198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(5, 75): 5 shirts earn $75.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8013497" y="3755136"/>
            <a:ext cx="3492398" cy="13822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8223047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(2.75) = 41.25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223047" y="4431030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Doesn't make sense: she can't sell 2.75 shirts.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equation.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84832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17520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6.67 ≈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1848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6a.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03882"/>
            <a:ext cx="51433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6.67 shirts earns exactly $100. She can't sell part of a shirt: 6 shirts earn only $90, so she must sell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T-shirts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012186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6b.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Why can you substitute 100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97580"/>
            <a:ext cx="51433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dollars earned. $100 is the dollars she wants to earn.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graph.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Graph each side of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as its own function: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solution is where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Intersection: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(6.67, 100)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On the graph, 6.67 shirts; in context,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1693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Limitations of each method?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answer may not make sense in context, so you must round up or down.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975354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it can be hard to read an exact answer.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69" name="Shape 69"/>
          <p:cNvSpPr txBox="1"/>
          <p:nvPr/>
        </p:nvSpPr>
        <p:spPr>
          <a:xfrm>
            <a:off x="8899855" y="1917227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100</a:t>
            </a:r>
            <a:endParaRPr lang="en-US" sz="1275" dirty="0"/>
          </a:p>
        </p:txBody>
      </p:sp>
      <p:cxnSp>
        <p:nvCxnSpPr>
          <p:cNvPr id="70" name="Line 70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1" name="Shape 71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15x</a:t>
            </a:r>
            <a:endParaRPr lang="en-US" sz="1275" dirty="0"/>
          </a:p>
        </p:txBody>
      </p:sp>
      <p:sp>
        <p:nvSpPr>
          <p:cNvPr id="72" name="Shape 72"/>
          <p:cNvSpPr/>
          <p:nvPr/>
        </p:nvSpPr>
        <p:spPr>
          <a:xfrm>
            <a:off x="9747658" y="184578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885771" y="165052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(6.67, 100)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rotate a segment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3.1: slopes of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3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that meet at a right angle (90°).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⊥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Reciprocal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fraction. A number times its reciprocal is 1.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Rotation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Turning a figure about a point.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90°: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line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0.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line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undefined.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90° rotation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reciprocals. Their product is −1.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(−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slopes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Equal.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Monday, November 2. Start at the next slide, “Start: Monday, November 2.”</a:t>
            </a:r>
            <a:endParaRPr lang="en-US" sz="22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2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Monday, November 2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1858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(Changing the situation changes the function) → Lesson 3, Day 2.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84982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 · Mon, Nov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product of the slopes of two perpendicular lines (neither vertical)?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Mon, Nov 2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Changing the situation changes the function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Giving away 3 T-shirts shifts the function: the same idea as a Topic 2 translation.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Interpreting Changes to the Graph · SE p. 246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 in a raffle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$15 per shirt. The new relationship is 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1a.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do the graphs show the price is the same?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lines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same slope,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1b.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0286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−45)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with 0 shirts sold, earnings are −$45. That doesn't make sense in this situation.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7139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1c.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0850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(3, 0)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after the 3 free shirts, she has $0 to return.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0" name="Shape 60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8" name="Shape 68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70" name="Shape 70"/>
          <p:cNvSpPr/>
          <p:nvPr/>
        </p:nvSpPr>
        <p:spPr>
          <a:xfrm>
            <a:off x="8609862" y="424392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747975" y="404866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9121615" y="3499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259727" y="3304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  <p:cxnSp>
        <p:nvCxnSpPr>
          <p:cNvPr id="74" name="Line 74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5" name="Shape 75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E(t) = 15t</a:t>
            </a:r>
            <a:endParaRPr lang="en-US" sz="1275" dirty="0"/>
          </a:p>
        </p:txBody>
      </p:sp>
      <p:cxnSp>
        <p:nvCxnSpPr>
          <p:cNvPr id="76" name="Line 76"/>
          <p:cNvCxnSpPr/>
          <p:nvPr/>
        </p:nvCxnSpPr>
        <p:spPr>
          <a:xfrm flipV="1">
            <a:off x="7923052" y="1732788"/>
            <a:ext cx="2501900" cy="3638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77" name="Shape 77"/>
          <p:cNvSpPr txBox="1"/>
          <p:nvPr/>
        </p:nvSpPr>
        <p:spPr>
          <a:xfrm>
            <a:off x="7933212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G(t)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Questions 2–3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equations for 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76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Brianna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57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T-shirts, so she has 3 fewer shirts to sell.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29198" y="1618488"/>
            <a:ext cx="52766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38748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Hailey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38748" y="2260092"/>
            <a:ext cx="4857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cost of giving away three shirts is $45.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38748" y="265023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Verify they are equivalent.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15(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✓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1087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many shirts to earn $100?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575048"/>
            <a:ext cx="521954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 → 145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9.67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45750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 T-shirts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 4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each part mean?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164019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Expression (unit)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849819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Contextual meaning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7177857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Mathematical meaning</a:t>
            </a:r>
            <a:endParaRPr lang="en-US" sz="1950" dirty="0"/>
          </a:p>
        </p:txBody>
      </p:sp>
      <p:cxnSp>
        <p:nvCxnSpPr>
          <p:cNvPr id="7" name="Line 7"/>
          <p:cNvCxnSpPr/>
          <p:nvPr/>
        </p:nvCxnSpPr>
        <p:spPr>
          <a:xfrm>
            <a:off x="685800" y="24140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8" name="Shape 8"/>
          <p:cNvSpPr txBox="1"/>
          <p:nvPr/>
        </p:nvSpPr>
        <p:spPr>
          <a:xfrm>
            <a:off x="685800" y="241401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2849819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Number of T-shirts sold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177857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88950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889504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849819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Potential earnings for selling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177857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685800" y="363931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6" name="Shape 16"/>
          <p:cNvSpPr txBox="1"/>
          <p:nvPr/>
        </p:nvSpPr>
        <p:spPr>
          <a:xfrm>
            <a:off x="685800" y="363931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 per T-shirt)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2849819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price of a T-shirt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177857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Average rate of change (slope)</a:t>
            </a:r>
            <a:endParaRPr lang="en-US" sz="1800" dirty="0"/>
          </a:p>
        </p:txBody>
      </p:sp>
      <p:cxnSp>
        <p:nvCxnSpPr>
          <p:cNvPr id="19" name="Line 19"/>
          <p:cNvCxnSpPr/>
          <p:nvPr/>
        </p:nvCxnSpPr>
        <p:spPr>
          <a:xfrm>
            <a:off x="685800" y="438912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685800" y="438912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849819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Shirts that earn money, not counting the 3 free ones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177857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minus a constant</a:t>
            </a:r>
            <a:endParaRPr lang="en-US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685800" y="513892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4" name="Shape 24"/>
          <p:cNvSpPr txBox="1"/>
          <p:nvPr/>
        </p:nvSpPr>
        <p:spPr>
          <a:xfrm>
            <a:off x="685800" y="513892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2849819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Earnings for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7177857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times the input</a:t>
            </a:r>
            <a:endParaRPr lang="en-US" sz="1800" dirty="0"/>
          </a:p>
        </p:txBody>
      </p:sp>
      <p:cxnSp>
        <p:nvCxnSpPr>
          <p:cNvPr id="27" name="Line 27"/>
          <p:cNvCxnSpPr/>
          <p:nvPr/>
        </p:nvCxnSpPr>
        <p:spPr>
          <a:xfrm>
            <a:off x="685800" y="56144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685800" y="561441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Cambria"/>
                <a:cs typeface="Cambria"/>
              </a:rPr>
              <a:t xml:space="preserve">−45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2849819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not earned because 3 shirts were given away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7177857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cxnSp>
        <p:nvCxnSpPr>
          <p:cNvPr id="31" name="Line 31"/>
          <p:cNvCxnSpPr/>
          <p:nvPr/>
        </p:nvCxnSpPr>
        <p:spPr>
          <a:xfrm>
            <a:off x="685800" y="636422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3.2: horizontal and vertical lines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3.3: write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0.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undefined.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They are always perpendicular.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 perpendicular line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Find the given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Take the negative reciprocal.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Use the point: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the 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can look perpendicular on a stretched grid. Check the slopes.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41780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Monday, November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Tuesday, November 3. Open the Lesson 4 deck.</a:t>
            </a:r>
            <a:endParaRPr lang="en-US" sz="2250" dirty="0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38</Slides>
  <Notes>38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