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rotate a segment 90° at a time, prove that perpendicular lines have negative reciprocal slopes, work with horizontal and vertical lines, and write equations of perpendicular lines. Two days on the 150-day calendar: Day 1 Getting Started and Activity 3.1; Day 2 Activities 3.2, 3.3 and Talk the Talk. Materials: patty paper, straightedges.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starts here on Thursday, October 29.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Flip the fraction: ⅔ · 3/2 = 1. 2. A 90° counterclockwise rotation maps (x, y) to (−y, x). 3. Slope = (5 − 0) ÷ (8 − 0) = 5/8. 4. Slope = (−2 − 4) ÷ (2 − (−1)) = −6 ÷ 3 = −2.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Catch-up from Topic 1 Lesson 6 so the class is ready for the End of Topic 1 Assessment (Lessons 1–6). Keep it to about 15 minutes, then go back to the Topic 2 lesson.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6.2, 20–25 minutes. To begin Day 2, have a student read the Essential Question aloud. Have pairs complete Questions 1–5, then share. Axes: x = Number of T-Shirts, y = Potential Earnings (dollars). The Ask Yourself: What do the slope, intercepts, domain, and range mean in this situation? Teacher-guide look-for: students give the domain and range of the function (all real numbers) rather than of the scenario (whole numbers of shirts, multiples of $15). Ask: Did you use one or two points to calculate the earnings per T-shirt?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Yourself: Does E(t) represent a direct variation? (Yes: it passes through the origin and has the form y = kx.) Teacher-guide support: relate function notation back to x and y: (t, E(t)) is the same as (x, f(x)), which is the same as (x, y). Ask: Why doesn't the equation have a constant term? (She starts with $0.) E(2.75) is a point on the line, but it isn't a solution in the context.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Worked Examples and complete Questions 6 and 7 as a class. The Worked Example is explicit instruction: have students restate each step in their own words. Ask: How do you know whether to substitute the given value for t or for E(t)? (It's dollars, so it's the output.) How did you decide 7 instead of 6? How much does she earn with 6 shirts? 7? ($90 and $105.)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box: the graph of an equation represents the set of all its solutions. Ask: Why does it make sense to rely on technology when using a graph? (Reading 6.67 by eye is hard.) How could you solve this using a table on a calculator? Stamp the learning, from the teacher guide: "An equation or a graph can be used to determine the value of an independent variable. Sometimes a graph can only give an approximate answer; however, using an equation always results in an exact answer." For more practice, assign Skills Practice Set B.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the Topic 1 Catch-Up. Continue with the Topic 2 lesson.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chunked directions. Check off each part as the class finishes it.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aloud as it appears.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preview the key terms before the lesson. Leave this slide up or print it as a reference card.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 Essential Question at the top of their notes. Don't answer it yet; we come back to it at the end of the lesson.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Started, 15–20 minutes. Patty paper helps: trace the segment and the axes, then turn the paper a quarter turn.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3.1, 20–25 minutes. Students read the three graphs in their book (SE p. 307) and write the equations.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restate each step. Question 3 asks for the same proof with a clockwise rotation: R(a, b) maps to D(b, −a), so m₂ = −a/b and again m₁ = −1/m₂.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Stamp the learning: perpendicular lines have slopes that are negative reciprocals. End of Day 1.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a copy of the day's notes. Hand out a printed copy if the student's plan lists copies of notes.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ends here on Thursday, October 29.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starts here on Monday, November 2.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2 bell work. Reveal the answers one at a time. Answer key: 1. Perpendicular slopes are negative reciprocals: ⅔ · (−3/2) = −1. 2. On a horizontal line y never changes, so the rise is 0. 3. Every point on a vertical line has the same x-value, here 2. 4. Perpendicular slope: −½. Put in the point: 1 = −½(4) + b = −2 + b, so b = 3.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Catch-up from Topic 1 Lesson 6 so the class is ready for the End of Topic 1 Assessment (Lessons 1–6). Keep it to about 15 minutes, then go back to the Topic 2 lesson.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6.3, 20–25 minutes. Have pairs complete Questions 1–4, then share. The last two clicks label the points on the graph. Ask Yourself: Does G(t) vary directly with t? (No: it doesn't pass through the origin.) Ask: How do the parallel lines relate to the context? (Same price per shirt.) Does this notation represent the x-intercept or the y-intercept? (G(0) is the y-intercept; G(t) = 0 gives the x-intercept.) Look for the statements students use to interpret y = G(0) and G(t) = 0.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property did you apply to show the equations are equivalent? (The Distributive Property.) Explain how Brianna's and Hailey's perspectives are different: Brianna thinks in shirts (3 fewer to sell), Hailey thinks in dollars ($45 lost). Compare Question 3 with the Worked Example in Activity 6.2: on the graph, the line G(t) crosses y = 100 at about (9.67, 100), and in context she needs 10 shirts.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fill in their own table first: the unit, then the contextual meaning, then the mathematical meaning. Reveal the teacher-guide answers one row at a time. Teacher-guide support: provide a word bank for the mathematical meanings (input, output, rate of change, y-intercept, constant). Ask: How does the unit of each expression guide your thinking? (Dollars per T-shirt must be a rate; plain dollars is an amount.)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the Topic 1 Catch-Up. Continue with the Topic 2 lesson.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chunked directions. Check off each part as the class finishes it.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3.2, 15–20 minutes. Memory trick from Topic 1: HOY VUX.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8–10 assess the lesson. For more practice, assign Skills Practice Set A.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3.3, 15–20 minutes. TE wording slip: for Question 2 the teacher guide says the given slope is 3/4; it is −3/4.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teacher guide prints the slope formula with y₂ − y₁ in the denominator; it is x₂ − x₁. Its numbers are correct. For more practice, assign Skills Practice Set B.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graph in the book (SE p. 314). The x-axis counts 1 per square and the y-axis 1 per 2 squares, so the lines look perpendicular but aren't.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a copy of the day's notes. Hand out a printed copy if the student's plan lists copies of notes.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answer the Essential Question on the lesson opener page.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Give 3–4 minutes, collect the answers, and use them to decide who needs Skills Practice. Work: 1. Flip and change the sign. 2. Slope −1/3: 1 = −1/3(3) + b, so b = 2. 3. A vertical line keeps x the same.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ends here on Monday, November 2.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Lesson 3 Assignment. In a function each input has exactly one output; in set 4 the input −1 has four outputs.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Click a title to open it in a new tab. Put the day's bell work link up as students walk in. The 150-day pacing calendar (topic2-pacing-150.html) gives the day for each homework and quiz.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Section 504/t2-lesson3-bellwork-day1-504.html" TargetMode="External"/><Relationship Id="rId4" Type="http://schemas.openxmlformats.org/officeDocument/2006/relationships/hyperlink" Target="https://algebra1m2u1l4.vercel.app/Section 504/t2-lesson3-bellwork-day2-504.html" TargetMode="External"/><Relationship Id="rId5" Type="http://schemas.openxmlformats.org/officeDocument/2006/relationships/hyperlink" Target="https://algebra1m2u1l4.vercel.app/Section 504/t2-lesson3-homework-504.html" TargetMode="External"/><Relationship Id="rId6" Type="http://schemas.openxmlformats.org/officeDocument/2006/relationships/hyperlink" Target="https://algebra1m2u1l4.vercel.app/Section 504/t2-lesson3-quiz-504.html" TargetMode="External"/><Relationship Id="rId7" Type="http://schemas.openxmlformats.org/officeDocument/2006/relationships/hyperlink" Target="https://creativecommons.org/licenses/by-nc/4.0/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lgebra1m2u1l4.vercel.app/Section 504/lesson6-homework-504.html" TargetMode="External"/><Relationship Id="rId4" Type="http://schemas.openxmlformats.org/officeDocument/2006/relationships/hyperlink" Target="https://algebra1m2u1l4.vercel.app/Section 504/lesson6-quiz-504.html" TargetMode="Externa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algebra1m2u1l4.vercel.app/Section 504/lesson6-homework-504.html" TargetMode="External"/><Relationship Id="rId4" Type="http://schemas.openxmlformats.org/officeDocument/2006/relationships/hyperlink" Target="https://algebra1m2u1l4.vercel.app/Section 504/lesson6-quiz-504.html" TargetMode="Externa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algebra1m2u1l4.vercel.app/Section 504/t2-lesson3-bellwork-day1-504.html" TargetMode="External"/><Relationship Id="rId4" Type="http://schemas.openxmlformats.org/officeDocument/2006/relationships/hyperlink" Target="https://algebra1m2u1l4.vercel.app/Section 504/t2-lesson3-bellwork-day2-504.html" TargetMode="External"/><Relationship Id="rId5" Type="http://schemas.openxmlformats.org/officeDocument/2006/relationships/hyperlink" Target="https://algebra1m2u1l4.vercel.app/Section 504/t2-lesson3-homework-504.html" TargetMode="External"/><Relationship Id="rId6" Type="http://schemas.openxmlformats.org/officeDocument/2006/relationships/hyperlink" Target="https://algebra1m2u1l4.vercel.app/Section 504/t2-lesson3-quiz-504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2 · Topic 2 · Lesson 3 · Student Edition pp. 305–318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23544"/>
            <a:ext cx="10820095" cy="13350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2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Determining Slopes of Perpendicular Lines</a:t>
            </a:r>
            <a:endParaRPr lang="en-US" sz="42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430018"/>
            <a:ext cx="1082009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Adds a 15-minute Topic 1 Catch-Up (Lessons 5–6) each day · Day 1: Thu, Oct 29 · Day 2: Mon, Nov 2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3075432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2550" dirty="0" b="1" baseline="-25000">
                <a:solidFill>
                  <a:srgbClr val="C9561F"/>
                </a:solidFill>
                <a:latin typeface="Cambria"/>
                <a:cs typeface="Cambria"/>
              </a:rPr>
              <a:t xml:space="preserve">1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00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2550" dirty="0" b="1" baseline="-25000">
                <a:solidFill>
                  <a:srgbClr val="C9561F"/>
                </a:solidFill>
                <a:latin typeface="Cambria"/>
                <a:cs typeface="Cambria"/>
              </a:rPr>
              <a:t xml:space="preserve">2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= −1</a:t>
            </a:r>
            <a:endParaRPr lang="en-US" sz="30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816096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Section 504 Version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373880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| Practice: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874514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Click, or press → / Space, to reveal each step. ← goes back. F = full screen.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5500116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 · a companion to Bluebonnet Learning Secondary Mathematics, Algebra I, Edition 1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This work is based on original works of the Texas Education Agency and Carnegie Learning, Inc. This work is made available under a Creative Commons Attribution-Non-Commercial-4.0 International License. This does not in any way imply endorsement by those authors of this work.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©2024–2025 Texas Education Agency, portions ©2021 Carnegie Learning, Inc.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Licensed </a:t>
            </a:r>
            <a:r>
              <a:rPr lang="en-US" sz="1125" dirty="0">
                <a:solidFill>
                  <a:srgbClr val="3050B8"/>
                </a:solidFill>
                <a:latin typeface="Segoe UI"/>
                <a:cs typeface="Segoe UI"/>
                <a:hlinkClick r:id="rId7"/>
              </a:rPr>
              <a:t xml:space="preserve">CC BY-NC 4.0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This is a private site for Algebra I teachers and is not publicly available.</a:t>
            </a:r>
            <a:endParaRPr lang="en-US" sz="11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2 · Lesson 3 · Day 1 of 2 · Start here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25694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Start: Thursday, October 29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5253228"/>
            <a:ext cx="10820095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>
                <a:solidFill>
                  <a:srgbClr val="16171D"/>
                </a:solidFill>
                <a:latin typeface="Segoe UI"/>
                <a:cs typeface="Segoe UI"/>
              </a:rPr>
              <a:t xml:space="preserve">Today: bell work → Topic 1 catch-up (Write, evaluate and solve a function in context) → Lesson 3, Day 1.</a:t>
            </a:r>
            <a:endParaRPr lang="en-US" sz="21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 · Thu, Oct 29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is the reciprocal of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⅔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6103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3/2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4665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Rotate the point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(8, 5)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90° counterclockwise about the origin. Where does it go?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306)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(−5, 8)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What is the slope of the segment from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(8, 5)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306)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5/8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A line passes through the points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(−1, 4)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(2, −2)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the slope of the line?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323588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9144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Thu, Oct 29 · about 15 minutes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323594"/>
            <a:ext cx="10820095" cy="2660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1 Lesson 6: Write, evaluate and solve a function in context</a:t>
            </a:r>
            <a:endParaRPr lang="en-US" sz="57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415594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Lesson 3 evaluates slopes and points; this practices using function notation in a story.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506806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Topic 1 Lesson 6 practice: </a:t>
            </a:r>
            <a:r>
              <a:rPr lang="en-US" sz="1800" dirty="0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Quiz →</a:t>
            </a:r>
            <a:endParaRPr lang="en-US" sz="180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Lesson 6 · Activity 6.2 · Interpreting Graphs of Linear Functions · SE p. 243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Gracie's T-shirt sales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6248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Gracie sells T-shirts for her mom at festivals and returns what she earns. The graph shows her potential earnings.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67712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List as many facts as you can.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76906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line passes through </a:t>
            </a: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(0, 0)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no shirts, no money.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086100"/>
            <a:ext cx="6248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Up 15 for every 1 shirt: </a:t>
            </a:r>
            <a:r>
              <a:rPr lang="en-US" sz="1575" dirty="0" b="1">
                <a:solidFill>
                  <a:srgbClr val="C9561F"/>
                </a:solidFill>
                <a:latin typeface="Segoe UI"/>
                <a:cs typeface="Segoe UI"/>
              </a:rPr>
              <a:t xml:space="preserve">$15 per T-shirt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Selling 4 shirts earns $60.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35324"/>
            <a:ext cx="6248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Domain of the situation: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whole numbers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of shirts, 0 or more. Range: 0, 15, 30, 45, …</a:t>
            </a:r>
            <a:endParaRPr lang="en-US" sz="1575" dirty="0"/>
          </a:p>
        </p:txBody>
      </p:sp>
      <p:sp>
        <p:nvSpPr>
          <p:cNvPr id="9" name="Shape 9"/>
          <p:cNvSpPr/>
          <p:nvPr/>
        </p:nvSpPr>
        <p:spPr>
          <a:xfrm>
            <a:off x="7314895" y="1618488"/>
            <a:ext cx="4191000" cy="400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0" name="Line 10"/>
          <p:cNvCxnSpPr/>
          <p:nvPr/>
        </p:nvCxnSpPr>
        <p:spPr>
          <a:xfrm>
            <a:off x="763874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7809329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979913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815049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832108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491666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662250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832834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9003418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917400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9344586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9515170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9685754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9856338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2692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19750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368091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53867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709259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879843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105042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1221011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139159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7638745" y="537133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7638745" y="520594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7638745" y="504056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7638745" y="487517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7638745" y="470978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7638745" y="454439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7638745" y="437900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7638745" y="421361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7638745" y="40482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7638745" y="388284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7638745" y="371745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7638745" y="355206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7638745" y="338667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7638745" y="322128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7638745" y="305589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7638745" y="289050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7638745" y="272512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7638745" y="255973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7638745" y="239434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7638745" y="22289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7638745" y="206356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7638745" y="189817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7638745" y="173278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8662250" y="1732788"/>
            <a:ext cx="0" cy="3638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7638745" y="3552063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58" name="Shape 58"/>
          <p:cNvSpPr txBox="1"/>
          <p:nvPr/>
        </p:nvSpPr>
        <p:spPr>
          <a:xfrm>
            <a:off x="7535009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</a:t>
            </a:r>
            <a:endParaRPr lang="en-US" sz="975" dirty="0"/>
          </a:p>
        </p:txBody>
      </p:sp>
      <p:sp>
        <p:nvSpPr>
          <p:cNvPr id="59" name="Shape 59"/>
          <p:cNvSpPr txBox="1"/>
          <p:nvPr/>
        </p:nvSpPr>
        <p:spPr>
          <a:xfrm>
            <a:off x="8387930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60" name="Shape 60"/>
          <p:cNvSpPr txBox="1"/>
          <p:nvPr/>
        </p:nvSpPr>
        <p:spPr>
          <a:xfrm>
            <a:off x="9240850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61" name="Shape 61"/>
          <p:cNvSpPr txBox="1"/>
          <p:nvPr/>
        </p:nvSpPr>
        <p:spPr>
          <a:xfrm>
            <a:off x="10093771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62" name="Shape 62"/>
          <p:cNvSpPr txBox="1"/>
          <p:nvPr/>
        </p:nvSpPr>
        <p:spPr>
          <a:xfrm>
            <a:off x="10946691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15</a:t>
            </a:r>
            <a:endParaRPr lang="en-US" sz="975" dirty="0"/>
          </a:p>
        </p:txBody>
      </p:sp>
      <p:sp>
        <p:nvSpPr>
          <p:cNvPr id="63" name="Shape 63"/>
          <p:cNvSpPr txBox="1"/>
          <p:nvPr/>
        </p:nvSpPr>
        <p:spPr>
          <a:xfrm>
            <a:off x="7071817" y="511450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−100</a:t>
            </a:r>
            <a:endParaRPr lang="en-US" sz="975" dirty="0"/>
          </a:p>
        </p:txBody>
      </p:sp>
      <p:sp>
        <p:nvSpPr>
          <p:cNvPr id="64" name="Shape 64"/>
          <p:cNvSpPr txBox="1"/>
          <p:nvPr/>
        </p:nvSpPr>
        <p:spPr>
          <a:xfrm>
            <a:off x="7071817" y="428756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−50</a:t>
            </a:r>
            <a:endParaRPr lang="en-US" sz="975" dirty="0"/>
          </a:p>
        </p:txBody>
      </p:sp>
      <p:sp>
        <p:nvSpPr>
          <p:cNvPr id="65" name="Shape 65"/>
          <p:cNvSpPr txBox="1"/>
          <p:nvPr/>
        </p:nvSpPr>
        <p:spPr>
          <a:xfrm>
            <a:off x="7071817" y="34606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66" name="Shape 66"/>
          <p:cNvSpPr txBox="1"/>
          <p:nvPr/>
        </p:nvSpPr>
        <p:spPr>
          <a:xfrm>
            <a:off x="7071817" y="263368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50</a:t>
            </a:r>
            <a:endParaRPr lang="en-US" sz="975" dirty="0"/>
          </a:p>
        </p:txBody>
      </p:sp>
      <p:sp>
        <p:nvSpPr>
          <p:cNvPr id="67" name="Shape 67"/>
          <p:cNvSpPr txBox="1"/>
          <p:nvPr/>
        </p:nvSpPr>
        <p:spPr>
          <a:xfrm>
            <a:off x="7071817" y="180673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100</a:t>
            </a:r>
            <a:endParaRPr lang="en-US" sz="975" dirty="0"/>
          </a:p>
        </p:txBody>
      </p:sp>
      <p:cxnSp>
        <p:nvCxnSpPr>
          <p:cNvPr id="68" name="Line 68"/>
          <p:cNvCxnSpPr/>
          <p:nvPr/>
        </p:nvCxnSpPr>
        <p:spPr>
          <a:xfrm flipV="1">
            <a:off x="7638745" y="1732788"/>
            <a:ext cx="2274455" cy="3307773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69" name="Shape 69"/>
          <p:cNvSpPr/>
          <p:nvPr/>
        </p:nvSpPr>
        <p:spPr>
          <a:xfrm>
            <a:off x="9292199" y="250734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0" name="Shape 70"/>
          <p:cNvSpPr txBox="1"/>
          <p:nvPr/>
        </p:nvSpPr>
        <p:spPr>
          <a:xfrm>
            <a:off x="9430311" y="2312081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(4, 60)</a:t>
            </a:r>
            <a:endParaRPr lang="en-US" sz="1125" dirty="0"/>
          </a:p>
        </p:txBody>
      </p:sp>
      <p:sp>
        <p:nvSpPr>
          <p:cNvPr id="71" name="Slide Number 7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Lesson 6 · Activity 6.2 · Questions 2–5 · SE p. 244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Write and evaluate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Interpret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 and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-intercepts.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98958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Both are </a:t>
            </a:r>
            <a:r>
              <a:rPr lang="en-US" sz="1575" dirty="0" b="1">
                <a:solidFill>
                  <a:srgbClr val="3050B8"/>
                </a:solidFill>
                <a:latin typeface="Cambria"/>
                <a:cs typeface="Cambria"/>
              </a:rPr>
              <a:t xml:space="preserve">(0, 0)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selling 0 shirts earns $0.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36067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Write a function for her earnings.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731770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b="1">
                <a:solidFill>
                  <a:srgbClr val="C9561F"/>
                </a:solidFill>
                <a:latin typeface="Cambria"/>
                <a:cs typeface="Cambria"/>
              </a:rPr>
              <a:t xml:space="preserve">15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What does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represent?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989582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Each point on the line: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shirts sold and the dollars earned for them.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38404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5.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Evaluate and interpret.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755136"/>
            <a:ext cx="3492398" cy="11422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95350" y="392658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(2) = 30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895350" y="4431030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(2, 30): 2 shirts earn $30.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4349648" y="3755136"/>
            <a:ext cx="3492398" cy="11422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4" name="Shape 14"/>
          <p:cNvSpPr txBox="1"/>
          <p:nvPr/>
        </p:nvSpPr>
        <p:spPr>
          <a:xfrm>
            <a:off x="4559198" y="392658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(5) = 75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4559198" y="4431030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(5, 75): 5 shirts earn $75.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8013497" y="3755136"/>
            <a:ext cx="3492398" cy="13822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7" name="Shape 17"/>
          <p:cNvSpPr txBox="1"/>
          <p:nvPr/>
        </p:nvSpPr>
        <p:spPr>
          <a:xfrm>
            <a:off x="8223047" y="392658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(2.75) = 41.25</a:t>
            </a:r>
            <a:endParaRPr lang="en-US" sz="2325" dirty="0"/>
          </a:p>
        </p:txBody>
      </p:sp>
      <p:sp>
        <p:nvSpPr>
          <p:cNvPr id="18" name="Shape 18"/>
          <p:cNvSpPr txBox="1"/>
          <p:nvPr/>
        </p:nvSpPr>
        <p:spPr>
          <a:xfrm>
            <a:off x="8223047" y="4431030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Doesn't make sense: she can't sell 2.75 shirts.</a:t>
            </a:r>
            <a:endParaRPr lang="en-US" sz="157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Lesson 6 · Activity 6.2 · Worked Example · SE p. 244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many shirts to earn $100? Use the equation.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1433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15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84832"/>
            <a:ext cx="51433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b="1">
                <a:solidFill>
                  <a:srgbClr val="3050B8"/>
                </a:solidFill>
                <a:latin typeface="Cambria"/>
                <a:cs typeface="Cambria"/>
              </a:rPr>
              <a:t xml:space="preserve">100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51176"/>
            <a:ext cx="51433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100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15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017520"/>
            <a:ext cx="51433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6.67 ≈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18488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6a.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What does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≈ 6.67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mean?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103882"/>
            <a:ext cx="514334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6.67 shirts earns exactly $100. She can't sell part of a shirt: 6 shirts earn only $90, so she must sell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7 T-shirts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012186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6b.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Why can you substitute 100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3497580"/>
            <a:ext cx="51433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dollars earned. $100 is the dollars she wants to earn.</a:t>
            </a:r>
            <a:endParaRPr lang="en-US" sz="157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Lesson 6 · Activity 6.2 · Worked Example · SE p. 245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many shirts to earn $100? Use the graph.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6248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Graph each side of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100 = 15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as its own function: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100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The solution is where they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intersect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67712"/>
            <a:ext cx="6248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Intersection: </a:t>
            </a:r>
            <a:r>
              <a:rPr lang="en-US" sz="1575" dirty="0" b="1">
                <a:solidFill>
                  <a:srgbClr val="3050B8"/>
                </a:solidFill>
                <a:latin typeface="Cambria"/>
                <a:cs typeface="Cambria"/>
              </a:rPr>
              <a:t xml:space="preserve">(6.67, 100)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On the graph, 6.67 shirts; in context,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7 shirts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16936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7.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Limitations of each method?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326130"/>
            <a:ext cx="6248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Equation: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answer may not make sense in context, so you must round up or down.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975354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Graph: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it can be hard to read an exact answer.</a:t>
            </a:r>
            <a:endParaRPr lang="en-US" sz="1575" dirty="0"/>
          </a:p>
        </p:txBody>
      </p:sp>
      <p:sp>
        <p:nvSpPr>
          <p:cNvPr id="9" name="Shape 9"/>
          <p:cNvSpPr/>
          <p:nvPr/>
        </p:nvSpPr>
        <p:spPr>
          <a:xfrm>
            <a:off x="7314895" y="1618488"/>
            <a:ext cx="4191000" cy="400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0" name="Line 10"/>
          <p:cNvCxnSpPr/>
          <p:nvPr/>
        </p:nvCxnSpPr>
        <p:spPr>
          <a:xfrm>
            <a:off x="763874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7809329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979913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815049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832108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491666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662250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832834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9003418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917400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9344586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9515170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9685754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9856338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2692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19750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368091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53867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709259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879843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105042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1221011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139159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7638745" y="537133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7638745" y="520594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7638745" y="504056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7638745" y="487517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7638745" y="470978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7638745" y="454439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7638745" y="437900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7638745" y="421361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7638745" y="40482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7638745" y="388284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7638745" y="371745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7638745" y="355206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7638745" y="338667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7638745" y="322128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7638745" y="305589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7638745" y="289050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7638745" y="272512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7638745" y="255973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7638745" y="239434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7638745" y="22289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7638745" y="206356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7638745" y="189817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7638745" y="173278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8662250" y="1732788"/>
            <a:ext cx="0" cy="3638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7638745" y="3552063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58" name="Shape 58"/>
          <p:cNvSpPr txBox="1"/>
          <p:nvPr/>
        </p:nvSpPr>
        <p:spPr>
          <a:xfrm>
            <a:off x="7535009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</a:t>
            </a:r>
            <a:endParaRPr lang="en-US" sz="975" dirty="0"/>
          </a:p>
        </p:txBody>
      </p:sp>
      <p:sp>
        <p:nvSpPr>
          <p:cNvPr id="59" name="Shape 59"/>
          <p:cNvSpPr txBox="1"/>
          <p:nvPr/>
        </p:nvSpPr>
        <p:spPr>
          <a:xfrm>
            <a:off x="8387930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60" name="Shape 60"/>
          <p:cNvSpPr txBox="1"/>
          <p:nvPr/>
        </p:nvSpPr>
        <p:spPr>
          <a:xfrm>
            <a:off x="9240850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61" name="Shape 61"/>
          <p:cNvSpPr txBox="1"/>
          <p:nvPr/>
        </p:nvSpPr>
        <p:spPr>
          <a:xfrm>
            <a:off x="10093771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62" name="Shape 62"/>
          <p:cNvSpPr txBox="1"/>
          <p:nvPr/>
        </p:nvSpPr>
        <p:spPr>
          <a:xfrm>
            <a:off x="10946691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15</a:t>
            </a:r>
            <a:endParaRPr lang="en-US" sz="975" dirty="0"/>
          </a:p>
        </p:txBody>
      </p:sp>
      <p:sp>
        <p:nvSpPr>
          <p:cNvPr id="63" name="Shape 63"/>
          <p:cNvSpPr txBox="1"/>
          <p:nvPr/>
        </p:nvSpPr>
        <p:spPr>
          <a:xfrm>
            <a:off x="7071817" y="511450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−100</a:t>
            </a:r>
            <a:endParaRPr lang="en-US" sz="975" dirty="0"/>
          </a:p>
        </p:txBody>
      </p:sp>
      <p:sp>
        <p:nvSpPr>
          <p:cNvPr id="64" name="Shape 64"/>
          <p:cNvSpPr txBox="1"/>
          <p:nvPr/>
        </p:nvSpPr>
        <p:spPr>
          <a:xfrm>
            <a:off x="7071817" y="428756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−50</a:t>
            </a:r>
            <a:endParaRPr lang="en-US" sz="975" dirty="0"/>
          </a:p>
        </p:txBody>
      </p:sp>
      <p:sp>
        <p:nvSpPr>
          <p:cNvPr id="65" name="Shape 65"/>
          <p:cNvSpPr txBox="1"/>
          <p:nvPr/>
        </p:nvSpPr>
        <p:spPr>
          <a:xfrm>
            <a:off x="7071817" y="34606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66" name="Shape 66"/>
          <p:cNvSpPr txBox="1"/>
          <p:nvPr/>
        </p:nvSpPr>
        <p:spPr>
          <a:xfrm>
            <a:off x="7071817" y="263368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50</a:t>
            </a:r>
            <a:endParaRPr lang="en-US" sz="975" dirty="0"/>
          </a:p>
        </p:txBody>
      </p:sp>
      <p:sp>
        <p:nvSpPr>
          <p:cNvPr id="67" name="Shape 67"/>
          <p:cNvSpPr txBox="1"/>
          <p:nvPr/>
        </p:nvSpPr>
        <p:spPr>
          <a:xfrm>
            <a:off x="7071817" y="180673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100</a:t>
            </a:r>
            <a:endParaRPr lang="en-US" sz="975" dirty="0"/>
          </a:p>
        </p:txBody>
      </p:sp>
      <p:cxnSp>
        <p:nvCxnSpPr>
          <p:cNvPr id="68" name="Line 68"/>
          <p:cNvCxnSpPr/>
          <p:nvPr/>
        </p:nvCxnSpPr>
        <p:spPr>
          <a:xfrm>
            <a:off x="7638745" y="1898177"/>
            <a:ext cx="3752850" cy="0"/>
          </a:xfrm>
          <a:prstGeom prst="line">
            <a:avLst/>
          </a:prstGeom>
          <a:ln w="38100" cap="rnd">
            <a:solidFill>
              <a:srgbClr val="16171D"/>
            </a:solidFill>
            <a:prstDash val="dash"/>
          </a:ln>
        </p:spPr>
      </p:cxnSp>
      <p:sp>
        <p:nvSpPr>
          <p:cNvPr id="69" name="Shape 69"/>
          <p:cNvSpPr txBox="1"/>
          <p:nvPr/>
        </p:nvSpPr>
        <p:spPr>
          <a:xfrm>
            <a:off x="8899855" y="1917227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y = 100</a:t>
            </a:r>
            <a:endParaRPr lang="en-US" sz="1275" dirty="0"/>
          </a:p>
        </p:txBody>
      </p:sp>
      <p:cxnSp>
        <p:nvCxnSpPr>
          <p:cNvPr id="70" name="Line 70"/>
          <p:cNvCxnSpPr/>
          <p:nvPr/>
        </p:nvCxnSpPr>
        <p:spPr>
          <a:xfrm flipV="1">
            <a:off x="7638745" y="1732788"/>
            <a:ext cx="2274455" cy="3307773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71" name="Shape 71"/>
          <p:cNvSpPr txBox="1"/>
          <p:nvPr/>
        </p:nvSpPr>
        <p:spPr>
          <a:xfrm>
            <a:off x="7421460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y = 15x</a:t>
            </a:r>
            <a:endParaRPr lang="en-US" sz="1275" dirty="0"/>
          </a:p>
        </p:txBody>
      </p:sp>
      <p:sp>
        <p:nvSpPr>
          <p:cNvPr id="72" name="Shape 72"/>
          <p:cNvSpPr/>
          <p:nvPr/>
        </p:nvSpPr>
        <p:spPr>
          <a:xfrm>
            <a:off x="9747658" y="1845789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3" name="Shape 73"/>
          <p:cNvSpPr txBox="1"/>
          <p:nvPr/>
        </p:nvSpPr>
        <p:spPr>
          <a:xfrm>
            <a:off x="9885771" y="1650527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(6.67, 100)</a:t>
            </a:r>
            <a:endParaRPr lang="en-US" sz="1125" dirty="0"/>
          </a:p>
        </p:txBody>
      </p:sp>
      <p:sp>
        <p:nvSpPr>
          <p:cNvPr id="74" name="Slide Number 7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2 · Lesson 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Back to Topic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Catch-up done. Now today's Topic 2 lesson.</a:t>
            </a:r>
            <a:endParaRPr lang="en-US" sz="225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Today's Plan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Today's plan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Bell work (5 min)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Getting Started: rotate a segment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3.1: slopes of perpendicular lines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762872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One part at a time. Ask for help or a break whenever you need it.</a:t>
            </a:r>
            <a:endParaRPr lang="en-US" sz="1650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3 · SE p. 305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 you will…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Identify and write the equations of lines perpendicular to given lines.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Identify and write the equations of horizontal and vertical lines.</a:t>
            </a:r>
            <a:endParaRPr lang="en-US" sz="19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2 Lesson 3 · Key Vocabulary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Key vocabulary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Lines that meet at a right angle (90°).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⊥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Reciprocal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Flip the fraction. A number times its reciprocal is 1.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→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Negative reciprocal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Flip the fraction and change the sign.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→ −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232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642360"/>
            <a:ext cx="3492398" cy="220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Rotation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28396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Turning a figure about a point.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4914138"/>
            <a:ext cx="3073298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90°: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→ (−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4349648" y="3642360"/>
            <a:ext cx="3492398" cy="220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line</a:t>
            </a:r>
            <a:endParaRPr lang="en-US" sz="2100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283964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a number. Slope 0.</a:t>
            </a:r>
            <a:endParaRPr lang="en-US" sz="1575" dirty="0"/>
          </a:p>
        </p:txBody>
      </p:sp>
      <p:sp>
        <p:nvSpPr>
          <p:cNvPr id="22" name="Shape 22"/>
          <p:cNvSpPr txBox="1"/>
          <p:nvPr/>
        </p:nvSpPr>
        <p:spPr>
          <a:xfrm>
            <a:off x="4559198" y="467410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−1</a:t>
            </a:r>
            <a:endParaRPr lang="en-US" sz="2325" dirty="0"/>
          </a:p>
        </p:txBody>
      </p:sp>
      <p:sp>
        <p:nvSpPr>
          <p:cNvPr id="27" name="Shape 27"/>
          <p:cNvSpPr txBox="1"/>
          <p:nvPr/>
        </p:nvSpPr>
        <p:spPr>
          <a:xfrm>
            <a:off x="8013497" y="3642360"/>
            <a:ext cx="3492398" cy="220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line</a:t>
            </a:r>
            <a:endParaRPr lang="en-US" sz="2100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283964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a number. Slope undefined.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8223047" y="467410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2325" dirty="0"/>
          </a:p>
        </p:txBody>
      </p:sp>
      <p:sp>
        <p:nvSpPr>
          <p:cNvPr id="28" name="Slide Number 2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SE p. 305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have translated graphs of linear equations to find the slopes of parallel lines.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25268"/>
            <a:ext cx="10820095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700" dirty="0">
                <a:solidFill>
                  <a:srgbClr val="16171D"/>
                </a:solidFill>
                <a:latin typeface="Segoe UI"/>
                <a:cs typeface="Segoe UI"/>
              </a:rPr>
              <a:t xml:space="preserve">How can you rotate the graphs of linear equations to determine the slopes of perpendicular lines?</a:t>
            </a:r>
            <a:endParaRPr lang="en-US" sz="27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Getting Started · Coordinate Rotation · SE p. 306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Rotate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(8, 5)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, about the origin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1828800" y="1618488"/>
            <a:ext cx="1420368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Original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3249168" y="1618488"/>
            <a:ext cx="1311402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90°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4560570" y="1618488"/>
            <a:ext cx="1420368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180°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5980938" y="1618488"/>
            <a:ext cx="1311402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270°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016252"/>
            <a:ext cx="142036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3249168" y="2016252"/>
            <a:ext cx="131140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3249168" y="2016252"/>
            <a:ext cx="1311402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4560570" y="2016252"/>
            <a:ext cx="142036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4560570" y="2016252"/>
            <a:ext cx="1420368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5980938" y="2016252"/>
            <a:ext cx="131140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5980938" y="2016252"/>
            <a:ext cx="1311402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685800" y="241401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1828800" y="2414016"/>
            <a:ext cx="142036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(8, 5)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3249168" y="2414016"/>
            <a:ext cx="131140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3249168" y="2414016"/>
            <a:ext cx="1311402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(−5, 8)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4560570" y="2414016"/>
            <a:ext cx="142036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4560570" y="2414016"/>
            <a:ext cx="1420368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(−8, −5)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5980938" y="2414016"/>
            <a:ext cx="131140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5980938" y="2414016"/>
            <a:ext cx="1311402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(5, −8)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685800" y="2907030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Each 90° counterclockwise turn maps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A is the center, so it stays.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685800" y="353720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Slopes: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″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″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5/8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′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′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‴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‴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−8/5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27" name="Shape 27"/>
          <p:cNvSpPr txBox="1"/>
          <p:nvPr/>
        </p:nvSpPr>
        <p:spPr>
          <a:xfrm>
            <a:off x="685800" y="3927348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two slopes are reciprocals with opposite signs: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(5/8)(−8/5) = −1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28" name="Shape 28"/>
          <p:cNvSpPr/>
          <p:nvPr/>
        </p:nvSpPr>
        <p:spPr>
          <a:xfrm>
            <a:off x="6286348" y="1618488"/>
            <a:ext cx="314325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29" name="Line 29"/>
          <p:cNvCxnSpPr/>
          <p:nvPr/>
        </p:nvCxnSpPr>
        <p:spPr>
          <a:xfrm>
            <a:off x="66101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76048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91076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70610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721133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736161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75118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766218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781246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811303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826331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84135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856388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871416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88644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901473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916501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93152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6610198" y="45140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6610198" y="435957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6610198" y="420505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6610198" y="40505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6610198" y="389602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6610198" y="374150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6610198" y="35869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6610198" y="343247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6610198" y="327795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6610198" y="296892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6610198" y="281440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6610198" y="26598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6610198" y="250537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2" name="Line 62"/>
          <p:cNvCxnSpPr/>
          <p:nvPr/>
        </p:nvCxnSpPr>
        <p:spPr>
          <a:xfrm>
            <a:off x="6610198" y="235085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6610198" y="21963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6610198" y="204182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6610198" y="188730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6610198" y="17327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68" name="Line 68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69" name="Shape 69"/>
          <p:cNvSpPr txBox="1"/>
          <p:nvPr/>
        </p:nvSpPr>
        <p:spPr>
          <a:xfrm>
            <a:off x="63358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−9</a:t>
            </a:r>
            <a:endParaRPr lang="en-US" sz="975" dirty="0"/>
          </a:p>
        </p:txBody>
      </p:sp>
      <p:sp>
        <p:nvSpPr>
          <p:cNvPr id="70" name="Shape 70"/>
          <p:cNvSpPr txBox="1"/>
          <p:nvPr/>
        </p:nvSpPr>
        <p:spPr>
          <a:xfrm>
            <a:off x="67867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71" name="Shape 71"/>
          <p:cNvSpPr txBox="1"/>
          <p:nvPr/>
        </p:nvSpPr>
        <p:spPr>
          <a:xfrm>
            <a:off x="72375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72" name="Shape 72"/>
          <p:cNvSpPr txBox="1"/>
          <p:nvPr/>
        </p:nvSpPr>
        <p:spPr>
          <a:xfrm>
            <a:off x="76884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73" name="Shape 73"/>
          <p:cNvSpPr txBox="1"/>
          <p:nvPr/>
        </p:nvSpPr>
        <p:spPr>
          <a:xfrm>
            <a:off x="81392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74" name="Shape 74"/>
          <p:cNvSpPr txBox="1"/>
          <p:nvPr/>
        </p:nvSpPr>
        <p:spPr>
          <a:xfrm>
            <a:off x="85901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75" name="Shape 75"/>
          <p:cNvSpPr txBox="1"/>
          <p:nvPr/>
        </p:nvSpPr>
        <p:spPr>
          <a:xfrm>
            <a:off x="90409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9</a:t>
            </a:r>
            <a:endParaRPr lang="en-US" sz="975" dirty="0"/>
          </a:p>
        </p:txBody>
      </p:sp>
      <p:sp>
        <p:nvSpPr>
          <p:cNvPr id="76" name="Shape 76"/>
          <p:cNvSpPr txBox="1"/>
          <p:nvPr/>
        </p:nvSpPr>
        <p:spPr>
          <a:xfrm>
            <a:off x="6043270" y="4422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−9</a:t>
            </a:r>
            <a:endParaRPr lang="en-US" sz="975" dirty="0"/>
          </a:p>
        </p:txBody>
      </p:sp>
      <p:sp>
        <p:nvSpPr>
          <p:cNvPr id="77" name="Shape 77"/>
          <p:cNvSpPr txBox="1"/>
          <p:nvPr/>
        </p:nvSpPr>
        <p:spPr>
          <a:xfrm>
            <a:off x="6043270" y="39590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78" name="Shape 78"/>
          <p:cNvSpPr txBox="1"/>
          <p:nvPr/>
        </p:nvSpPr>
        <p:spPr>
          <a:xfrm>
            <a:off x="6043270" y="34955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79" name="Shape 79"/>
          <p:cNvSpPr txBox="1"/>
          <p:nvPr/>
        </p:nvSpPr>
        <p:spPr>
          <a:xfrm>
            <a:off x="6043270" y="30319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80" name="Shape 80"/>
          <p:cNvSpPr txBox="1"/>
          <p:nvPr/>
        </p:nvSpPr>
        <p:spPr>
          <a:xfrm>
            <a:off x="6043270" y="25684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81" name="Shape 81"/>
          <p:cNvSpPr txBox="1"/>
          <p:nvPr/>
        </p:nvSpPr>
        <p:spPr>
          <a:xfrm>
            <a:off x="6043270" y="2104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82" name="Shape 82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9</a:t>
            </a:r>
            <a:endParaRPr lang="en-US" sz="975" dirty="0"/>
          </a:p>
        </p:txBody>
      </p:sp>
      <p:cxnSp>
        <p:nvCxnSpPr>
          <p:cNvPr id="83" name="Line 83"/>
          <p:cNvCxnSpPr/>
          <p:nvPr/>
        </p:nvCxnSpPr>
        <p:spPr>
          <a:xfrm flipV="1">
            <a:off x="7962748" y="2350855"/>
            <a:ext cx="1202267" cy="772583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cxnSp>
        <p:nvCxnSpPr>
          <p:cNvPr id="84" name="Line 84"/>
          <p:cNvCxnSpPr/>
          <p:nvPr/>
        </p:nvCxnSpPr>
        <p:spPr>
          <a:xfrm>
            <a:off x="7211331" y="1887305"/>
            <a:ext cx="751417" cy="1236133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cxnSp>
        <p:nvCxnSpPr>
          <p:cNvPr id="85" name="Line 85"/>
          <p:cNvCxnSpPr/>
          <p:nvPr/>
        </p:nvCxnSpPr>
        <p:spPr>
          <a:xfrm flipV="1">
            <a:off x="6760481" y="3123438"/>
            <a:ext cx="1202267" cy="772583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cxnSp>
        <p:nvCxnSpPr>
          <p:cNvPr id="86" name="Line 86"/>
          <p:cNvCxnSpPr/>
          <p:nvPr/>
        </p:nvCxnSpPr>
        <p:spPr>
          <a:xfrm>
            <a:off x="7962748" y="3123438"/>
            <a:ext cx="751417" cy="1236133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87" name="Shape 87"/>
          <p:cNvSpPr/>
          <p:nvPr/>
        </p:nvSpPr>
        <p:spPr>
          <a:xfrm>
            <a:off x="9112627" y="2298467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8" name="Shape 88"/>
          <p:cNvSpPr txBox="1"/>
          <p:nvPr/>
        </p:nvSpPr>
        <p:spPr>
          <a:xfrm>
            <a:off x="9250739" y="2103205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B</a:t>
            </a:r>
            <a:endParaRPr lang="en-US" sz="1125" dirty="0"/>
          </a:p>
        </p:txBody>
      </p:sp>
      <p:sp>
        <p:nvSpPr>
          <p:cNvPr id="89" name="Shape 89"/>
          <p:cNvSpPr/>
          <p:nvPr/>
        </p:nvSpPr>
        <p:spPr>
          <a:xfrm>
            <a:off x="7158943" y="1834917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0" name="Shape 90"/>
          <p:cNvSpPr txBox="1"/>
          <p:nvPr/>
        </p:nvSpPr>
        <p:spPr>
          <a:xfrm>
            <a:off x="7297056" y="1639655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B′</a:t>
            </a:r>
            <a:endParaRPr lang="en-US" sz="1125" dirty="0"/>
          </a:p>
        </p:txBody>
      </p:sp>
      <p:sp>
        <p:nvSpPr>
          <p:cNvPr id="91" name="Shape 91"/>
          <p:cNvSpPr/>
          <p:nvPr/>
        </p:nvSpPr>
        <p:spPr>
          <a:xfrm>
            <a:off x="6708093" y="384363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2" name="Shape 92"/>
          <p:cNvSpPr txBox="1"/>
          <p:nvPr/>
        </p:nvSpPr>
        <p:spPr>
          <a:xfrm>
            <a:off x="6846206" y="3648371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B″</a:t>
            </a:r>
            <a:endParaRPr lang="en-US" sz="1125" dirty="0"/>
          </a:p>
        </p:txBody>
      </p:sp>
      <p:sp>
        <p:nvSpPr>
          <p:cNvPr id="93" name="Shape 93"/>
          <p:cNvSpPr/>
          <p:nvPr/>
        </p:nvSpPr>
        <p:spPr>
          <a:xfrm>
            <a:off x="8661777" y="430718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4" name="Shape 94"/>
          <p:cNvSpPr txBox="1"/>
          <p:nvPr/>
        </p:nvSpPr>
        <p:spPr>
          <a:xfrm>
            <a:off x="8799889" y="4111921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B‴</a:t>
            </a:r>
            <a:endParaRPr lang="en-US" sz="1125" dirty="0"/>
          </a:p>
        </p:txBody>
      </p:sp>
      <p:sp>
        <p:nvSpPr>
          <p:cNvPr id="95" name="Slide Number 9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3.1 · Slopes of Perpendicular Lines · SE p. 307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 line and its 90° rotation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79698" cy="19461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Pair 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74264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55998" y="1618488"/>
            <a:ext cx="3479698" cy="2654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65548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Pair B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65548" y="2260092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4565548" y="3228594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26197" y="1618488"/>
            <a:ext cx="3479698" cy="2654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35747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Pair C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35747" y="2260092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−⅔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+ 9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8235747" y="3228594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3/2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endParaRPr lang="en-US" sz="232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444474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Each line is rotated 90°, so the lines meet at a right angle: they are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685800" y="491109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slopes of each pair are reciprocals with opposite signs.</a:t>
            </a:r>
            <a:endParaRPr lang="en-US" sz="1575" dirty="0"/>
          </a:p>
        </p:txBody>
      </p:sp>
      <p:sp>
        <p:nvSpPr>
          <p:cNvPr id="18" name="Slide Number 1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3.1 · Worked Example · SE p. 308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Proof: perpendicular slopes are negative reciprocals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14426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Given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⊥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Point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on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10612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Rotate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90° counterclockwise about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it lands on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5983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₁ = 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/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Slope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₂ = 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/(−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669030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−1/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= −1 · (−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19252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 = −1/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 ·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 = −1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9" name="Shape 9"/>
          <p:cNvSpPr/>
          <p:nvPr/>
        </p:nvSpPr>
        <p:spPr>
          <a:xfrm>
            <a:off x="6286348" y="2144268"/>
            <a:ext cx="32385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0" name="Line 10"/>
          <p:cNvCxnSpPr/>
          <p:nvPr/>
        </p:nvCxnSpPr>
        <p:spPr>
          <a:xfrm>
            <a:off x="661019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689023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17026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45030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773033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01037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29040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57044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885047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913051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941054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610198" y="475411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4442174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4130230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3818287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350634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3194399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2882455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2570512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225856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7730338" y="2258568"/>
            <a:ext cx="0" cy="2495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3506343"/>
            <a:ext cx="2800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2" name="Shape 32"/>
          <p:cNvSpPr txBox="1"/>
          <p:nvPr/>
        </p:nvSpPr>
        <p:spPr>
          <a:xfrm>
            <a:off x="633587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661591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689594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717598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745601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773605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801608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829612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857615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885619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913622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6043270" y="46626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6043270" y="435073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6043270" y="40387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6043270" y="372684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043270" y="341490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6043270" y="310295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043270" y="2791015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043270" y="247907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6043270" y="216712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cxnSp>
        <p:nvCxnSpPr>
          <p:cNvPr id="52" name="Line 52"/>
          <p:cNvCxnSpPr/>
          <p:nvPr/>
        </p:nvCxnSpPr>
        <p:spPr>
          <a:xfrm flipV="1">
            <a:off x="6610198" y="2570512"/>
            <a:ext cx="2800350" cy="1559719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3" name="Shape 53"/>
          <p:cNvSpPr txBox="1"/>
          <p:nvPr/>
        </p:nvSpPr>
        <p:spPr>
          <a:xfrm>
            <a:off x="6918808" y="258956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endParaRPr lang="en-US" sz="1275" dirty="0"/>
          </a:p>
        </p:txBody>
      </p:sp>
      <p:cxnSp>
        <p:nvCxnSpPr>
          <p:cNvPr id="54" name="Line 54"/>
          <p:cNvCxnSpPr/>
          <p:nvPr/>
        </p:nvCxnSpPr>
        <p:spPr>
          <a:xfrm>
            <a:off x="7170268" y="2258568"/>
            <a:ext cx="1120140" cy="249555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55" name="Shape 55"/>
          <p:cNvSpPr txBox="1"/>
          <p:nvPr/>
        </p:nvSpPr>
        <p:spPr>
          <a:xfrm>
            <a:off x="7246468" y="227761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endParaRPr lang="en-US" sz="1275" dirty="0"/>
          </a:p>
        </p:txBody>
      </p:sp>
      <p:sp>
        <p:nvSpPr>
          <p:cNvPr id="56" name="Shape 56"/>
          <p:cNvSpPr/>
          <p:nvPr/>
        </p:nvSpPr>
        <p:spPr>
          <a:xfrm>
            <a:off x="8238020" y="3142012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7" name="Shape 57"/>
          <p:cNvSpPr txBox="1"/>
          <p:nvPr/>
        </p:nvSpPr>
        <p:spPr>
          <a:xfrm>
            <a:off x="8376133" y="2946749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R(a, b)</a:t>
            </a:r>
            <a:endParaRPr lang="en-US" sz="1125" dirty="0"/>
          </a:p>
        </p:txBody>
      </p:sp>
      <p:sp>
        <p:nvSpPr>
          <p:cNvPr id="58" name="Shape 58"/>
          <p:cNvSpPr/>
          <p:nvPr/>
        </p:nvSpPr>
        <p:spPr>
          <a:xfrm>
            <a:off x="7397915" y="2830068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9" name="Shape 59"/>
          <p:cNvSpPr txBox="1"/>
          <p:nvPr/>
        </p:nvSpPr>
        <p:spPr>
          <a:xfrm>
            <a:off x="7536028" y="2634805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D(−b, a)</a:t>
            </a:r>
            <a:endParaRPr lang="en-US" sz="1125" dirty="0"/>
          </a:p>
        </p:txBody>
      </p:sp>
      <p:sp>
        <p:nvSpPr>
          <p:cNvPr id="60" name="Slide Number 6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3.1 · Question 4 · SE p. 309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Line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⊥ line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. Find the slope of line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3526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⅔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22932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−3/2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4419498" y="1618488"/>
            <a:ext cx="33526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−⅘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4419498" y="2122932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5/4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8153197" y="1618488"/>
            <a:ext cx="33526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8153197" y="212293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⅓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2813304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Flip the fraction and change the sign. Check: the product is −1.</a:t>
            </a:r>
            <a:endParaRPr lang="en-US" sz="1575" dirty="0"/>
          </a:p>
        </p:txBody>
      </p:sp>
      <p:sp>
        <p:nvSpPr>
          <p:cNvPr id="11" name="Slide Number 1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1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90° rotation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→ (−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4349648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 slopes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Negative reciprocals. Their product is −1.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 · (−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−1</a:t>
            </a:r>
            <a:endParaRPr lang="en-US" sz="2325" dirty="0"/>
          </a:p>
        </p:txBody>
      </p:sp>
      <p:sp>
        <p:nvSpPr>
          <p:cNvPr id="13" name="Shape 13"/>
          <p:cNvSpPr txBox="1"/>
          <p:nvPr/>
        </p:nvSpPr>
        <p:spPr>
          <a:xfrm>
            <a:off x="8013497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 slopes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Equal.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364236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18</a:t>
            </a:fld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2 · Lesson 3 · End of Day 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25694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Stop here: Thursday, October 29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525322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Next class: Monday, November 2. Start at the next slide, “Start: Monday, November 2.”</a:t>
            </a:r>
            <a:endParaRPr lang="en-US" sz="225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19</a:t>
            </a:fld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9144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2 · Lesson 3 · Day 2 of 2 · Start here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323594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Start: Monday, November 2</a:t>
            </a:r>
            <a:endParaRPr lang="en-US" sz="57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418588"/>
            <a:ext cx="10820095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>
                <a:solidFill>
                  <a:srgbClr val="16171D"/>
                </a:solidFill>
                <a:latin typeface="Segoe UI"/>
                <a:cs typeface="Segoe UI"/>
              </a:rPr>
              <a:t xml:space="preserve">Today: bell work → Topic 1 catch-up (Changing the situation changes the function) → Lesson 3, Day 2.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3284982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How can you rotate the graphs of linear equations to determine the slopes of perpendicular lines?</a:t>
            </a:r>
            <a:endParaRPr lang="en-US" sz="240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Bell Work · Review of Day 1 · Mon, Nov 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Line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has slope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⅔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Line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perpendicular to it. What is the slope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309)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55392"/>
            <a:ext cx="257636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−3/2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54101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is the slope of any horizontal line?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310)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32358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Which is the equation of the vertical line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(2, −1)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311)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Which equation represents a line perpendicular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that passes through the point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(4, 1)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312)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323588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9144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Mon, Nov 2 · about 15 minutes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323594"/>
            <a:ext cx="10820095" cy="2660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1 Lesson 6: Changing the situation changes the function</a:t>
            </a:r>
            <a:endParaRPr lang="en-US" sz="57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415594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Giving away 3 T-shirts shifts the function: the same idea as a Topic 2 translation.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506806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Topic 1 Lesson 6 practice: </a:t>
            </a:r>
            <a:r>
              <a:rPr lang="en-US" sz="1800" dirty="0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Quiz →</a:t>
            </a:r>
            <a:endParaRPr lang="en-US" sz="180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22</a:t>
            </a:fld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Lesson 6 · Activity 6.3 · Interpreting Changes to the Graph · SE p. 246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Gracie gives away 3 T-shirts in a raffle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Still $15 per shirt. The new relationship is </a:t>
            </a:r>
            <a:r>
              <a:rPr lang="en-US" sz="1575" dirty="0" b="1" i="1">
                <a:solidFill>
                  <a:srgbClr val="7A4FC4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 b="1">
                <a:solidFill>
                  <a:srgbClr val="7A4FC4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b="1" i="1">
                <a:solidFill>
                  <a:srgbClr val="7A4FC4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 b="1">
                <a:solidFill>
                  <a:srgbClr val="7A4FC4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989582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1a.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How do the graphs show the price is the same?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360676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lines are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same slope, </a:t>
            </a:r>
            <a:r>
              <a:rPr lang="en-US" sz="1575" dirty="0" b="1">
                <a:solidFill>
                  <a:srgbClr val="C9561F"/>
                </a:solidFill>
                <a:latin typeface="Segoe UI"/>
                <a:cs typeface="Segoe UI"/>
              </a:rPr>
              <a:t xml:space="preserve">15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731770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1b.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Interpret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102864"/>
            <a:ext cx="6248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3050B8"/>
                </a:solidFill>
                <a:latin typeface="Cambria"/>
                <a:cs typeface="Cambria"/>
              </a:rPr>
              <a:t xml:space="preserve">(0, −45)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with 0 shirts sold, earnings are −$45. That doesn't make sense in this situation.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3713988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1c.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Interpret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4085082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3050B8"/>
                </a:solidFill>
                <a:latin typeface="Cambria"/>
                <a:cs typeface="Cambria"/>
              </a:rPr>
              <a:t xml:space="preserve">(3, 0)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after the 3 free shirts, she has $0 to return.</a:t>
            </a:r>
            <a:endParaRPr lang="en-US" sz="1575" dirty="0"/>
          </a:p>
        </p:txBody>
      </p:sp>
      <p:sp>
        <p:nvSpPr>
          <p:cNvPr id="11" name="Shape 11"/>
          <p:cNvSpPr/>
          <p:nvPr/>
        </p:nvSpPr>
        <p:spPr>
          <a:xfrm>
            <a:off x="7314895" y="1618488"/>
            <a:ext cx="4191000" cy="400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2" name="Line 12"/>
          <p:cNvCxnSpPr/>
          <p:nvPr/>
        </p:nvCxnSpPr>
        <p:spPr>
          <a:xfrm>
            <a:off x="763874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809329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7979913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15049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32108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491666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8662250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8832834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9003418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917400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9344586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9515170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9685754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9856338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2692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19750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368091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53867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0709259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879843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105042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11221011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1139159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7638745" y="537133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7638745" y="520594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7638745" y="504056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7638745" y="487517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7638745" y="470978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7638745" y="454439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7638745" y="437900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7638745" y="421361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7638745" y="40482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7638745" y="388284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7638745" y="371745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7638745" y="355206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7638745" y="338667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7638745" y="322128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7638745" y="305589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7638745" y="289050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7638745" y="272512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7638745" y="255973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7638745" y="239434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7638745" y="22289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7638745" y="206356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7638745" y="189817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7638745" y="173278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8662250" y="1732788"/>
            <a:ext cx="0" cy="3638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7638745" y="3552063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60" name="Shape 60"/>
          <p:cNvSpPr txBox="1"/>
          <p:nvPr/>
        </p:nvSpPr>
        <p:spPr>
          <a:xfrm>
            <a:off x="7535009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</a:t>
            </a:r>
            <a:endParaRPr lang="en-US" sz="975" dirty="0"/>
          </a:p>
        </p:txBody>
      </p:sp>
      <p:sp>
        <p:nvSpPr>
          <p:cNvPr id="61" name="Shape 61"/>
          <p:cNvSpPr txBox="1"/>
          <p:nvPr/>
        </p:nvSpPr>
        <p:spPr>
          <a:xfrm>
            <a:off x="8387930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62" name="Shape 62"/>
          <p:cNvSpPr txBox="1"/>
          <p:nvPr/>
        </p:nvSpPr>
        <p:spPr>
          <a:xfrm>
            <a:off x="9240850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63" name="Shape 63"/>
          <p:cNvSpPr txBox="1"/>
          <p:nvPr/>
        </p:nvSpPr>
        <p:spPr>
          <a:xfrm>
            <a:off x="10093771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64" name="Shape 64"/>
          <p:cNvSpPr txBox="1"/>
          <p:nvPr/>
        </p:nvSpPr>
        <p:spPr>
          <a:xfrm>
            <a:off x="10946691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15</a:t>
            </a:r>
            <a:endParaRPr lang="en-US" sz="975" dirty="0"/>
          </a:p>
        </p:txBody>
      </p:sp>
      <p:sp>
        <p:nvSpPr>
          <p:cNvPr id="65" name="Shape 65"/>
          <p:cNvSpPr txBox="1"/>
          <p:nvPr/>
        </p:nvSpPr>
        <p:spPr>
          <a:xfrm>
            <a:off x="7071817" y="511450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−100</a:t>
            </a:r>
            <a:endParaRPr lang="en-US" sz="975" dirty="0"/>
          </a:p>
        </p:txBody>
      </p:sp>
      <p:sp>
        <p:nvSpPr>
          <p:cNvPr id="66" name="Shape 66"/>
          <p:cNvSpPr txBox="1"/>
          <p:nvPr/>
        </p:nvSpPr>
        <p:spPr>
          <a:xfrm>
            <a:off x="7071817" y="428756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−50</a:t>
            </a:r>
            <a:endParaRPr lang="en-US" sz="975" dirty="0"/>
          </a:p>
        </p:txBody>
      </p:sp>
      <p:sp>
        <p:nvSpPr>
          <p:cNvPr id="67" name="Shape 67"/>
          <p:cNvSpPr txBox="1"/>
          <p:nvPr/>
        </p:nvSpPr>
        <p:spPr>
          <a:xfrm>
            <a:off x="7071817" y="34606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68" name="Shape 68"/>
          <p:cNvSpPr txBox="1"/>
          <p:nvPr/>
        </p:nvSpPr>
        <p:spPr>
          <a:xfrm>
            <a:off x="7071817" y="263368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50</a:t>
            </a:r>
            <a:endParaRPr lang="en-US" sz="975" dirty="0"/>
          </a:p>
        </p:txBody>
      </p:sp>
      <p:sp>
        <p:nvSpPr>
          <p:cNvPr id="69" name="Shape 69"/>
          <p:cNvSpPr txBox="1"/>
          <p:nvPr/>
        </p:nvSpPr>
        <p:spPr>
          <a:xfrm>
            <a:off x="7071817" y="180673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100</a:t>
            </a:r>
            <a:endParaRPr lang="en-US" sz="975" dirty="0"/>
          </a:p>
        </p:txBody>
      </p:sp>
      <p:sp>
        <p:nvSpPr>
          <p:cNvPr id="70" name="Shape 70"/>
          <p:cNvSpPr/>
          <p:nvPr/>
        </p:nvSpPr>
        <p:spPr>
          <a:xfrm>
            <a:off x="8609862" y="424392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1" name="Shape 71"/>
          <p:cNvSpPr txBox="1"/>
          <p:nvPr/>
        </p:nvSpPr>
        <p:spPr>
          <a:xfrm>
            <a:off x="8747975" y="404866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(0, −45)</a:t>
            </a:r>
            <a:endParaRPr lang="en-US" sz="1125" dirty="0"/>
          </a:p>
        </p:txBody>
      </p:sp>
      <p:sp>
        <p:nvSpPr>
          <p:cNvPr id="72" name="Shape 72"/>
          <p:cNvSpPr/>
          <p:nvPr/>
        </p:nvSpPr>
        <p:spPr>
          <a:xfrm>
            <a:off x="9121615" y="349967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3" name="Shape 73"/>
          <p:cNvSpPr txBox="1"/>
          <p:nvPr/>
        </p:nvSpPr>
        <p:spPr>
          <a:xfrm>
            <a:off x="9259727" y="330441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(3, 0)</a:t>
            </a:r>
            <a:endParaRPr lang="en-US" sz="1125" dirty="0"/>
          </a:p>
        </p:txBody>
      </p:sp>
      <p:cxnSp>
        <p:nvCxnSpPr>
          <p:cNvPr id="74" name="Line 74"/>
          <p:cNvCxnSpPr/>
          <p:nvPr/>
        </p:nvCxnSpPr>
        <p:spPr>
          <a:xfrm flipV="1">
            <a:off x="7638745" y="1732788"/>
            <a:ext cx="2274455" cy="3307773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75" name="Shape 75"/>
          <p:cNvSpPr txBox="1"/>
          <p:nvPr/>
        </p:nvSpPr>
        <p:spPr>
          <a:xfrm>
            <a:off x="7421460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E(t) = 15t</a:t>
            </a:r>
            <a:endParaRPr lang="en-US" sz="1275" dirty="0"/>
          </a:p>
        </p:txBody>
      </p:sp>
      <p:cxnSp>
        <p:nvCxnSpPr>
          <p:cNvPr id="76" name="Line 76"/>
          <p:cNvCxnSpPr/>
          <p:nvPr/>
        </p:nvCxnSpPr>
        <p:spPr>
          <a:xfrm flipV="1">
            <a:off x="7923052" y="1732788"/>
            <a:ext cx="2501900" cy="363855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77" name="Shape 77"/>
          <p:cNvSpPr txBox="1"/>
          <p:nvPr/>
        </p:nvSpPr>
        <p:spPr>
          <a:xfrm>
            <a:off x="7933212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G(t)</a:t>
            </a:r>
            <a:endParaRPr lang="en-US" sz="1275" dirty="0"/>
          </a:p>
        </p:txBody>
      </p:sp>
      <p:sp>
        <p:nvSpPr>
          <p:cNvPr id="78" name="Slide Number 7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Lesson 6 · Activity 6.3 · Questions 2–3 · SE p. 247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Two equations for </a:t>
            </a:r>
            <a:r>
              <a:rPr lang="en-US" sz="3450" dirty="0" b="1" i="1">
                <a:solidFill>
                  <a:srgbClr val="7A4FC4"/>
                </a:solidFill>
                <a:latin typeface="Cambria"/>
                <a:cs typeface="Cambria"/>
              </a:rPr>
              <a:t xml:space="preserve">G</a:t>
            </a:r>
            <a:r>
              <a:rPr lang="en-US" sz="3450" dirty="0" b="1">
                <a:solidFill>
                  <a:srgbClr val="7A4FC4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7A4FC4"/>
                </a:solidFill>
                <a:latin typeface="Cambria"/>
                <a:cs typeface="Cambria"/>
              </a:rPr>
              <a:t xml:space="preserve">t</a:t>
            </a:r>
            <a:r>
              <a:rPr lang="en-US" sz="3450" dirty="0" b="1">
                <a:solidFill>
                  <a:srgbClr val="7A4FC4"/>
                </a:solidFill>
                <a:latin typeface="Cambria"/>
                <a:cs typeface="Cambria"/>
              </a:rPr>
              <a:t xml:space="preserve">)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52766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57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Brianna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575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Gracie gives away 3 T-shirts, so she has 3 fewer shirts to sell.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48575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15(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− 3)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29198" y="1618488"/>
            <a:ext cx="5276698" cy="1612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438748" y="1789938"/>
            <a:ext cx="4857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Hailey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6438748" y="2260092"/>
            <a:ext cx="48575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cost of giving away three shirts is $45.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438748" y="2650236"/>
            <a:ext cx="48575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15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− 45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364236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Verify they are equivalent.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286348" y="364236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15(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− 3) = 15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− 45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✓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4108704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How many shirts to earn $100?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4575048"/>
            <a:ext cx="5219548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100 = 15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− 45 → 145 = 15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≈ 9.67</a:t>
            </a:r>
            <a:endParaRPr lang="en-US" sz="2325" dirty="0"/>
          </a:p>
        </p:txBody>
      </p:sp>
      <p:sp>
        <p:nvSpPr>
          <p:cNvPr id="16" name="Shape 16"/>
          <p:cNvSpPr txBox="1"/>
          <p:nvPr/>
        </p:nvSpPr>
        <p:spPr>
          <a:xfrm>
            <a:off x="6286348" y="4575048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10 T-shirts</a:t>
            </a:r>
            <a:endParaRPr lang="en-US" sz="2325" dirty="0"/>
          </a:p>
        </p:txBody>
      </p:sp>
      <p:sp>
        <p:nvSpPr>
          <p:cNvPr id="17" name="Slide Number 1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Lesson 6 · Activity 6.3 · Question 4 · SE p. 247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What does each part mean?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2164019" cy="7955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Expression (unit)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2849819" y="1618488"/>
            <a:ext cx="4328038" cy="7955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Contextual meaning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7177857" y="1618488"/>
            <a:ext cx="4328038" cy="7955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Mathematical meaning</a:t>
            </a:r>
            <a:endParaRPr lang="en-US" sz="1950" dirty="0"/>
          </a:p>
        </p:txBody>
      </p:sp>
      <p:cxnSp>
        <p:nvCxnSpPr>
          <p:cNvPr id="7" name="Line 7"/>
          <p:cNvCxnSpPr/>
          <p:nvPr/>
        </p:nvCxnSpPr>
        <p:spPr>
          <a:xfrm>
            <a:off x="685800" y="241401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8" name="Shape 8"/>
          <p:cNvSpPr txBox="1"/>
          <p:nvPr/>
        </p:nvSpPr>
        <p:spPr>
          <a:xfrm>
            <a:off x="685800" y="2414016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(T-shirts)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2849819" y="2414016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Number of T-shirts sold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7177857" y="2414016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Input</a:t>
            </a:r>
            <a:endParaRPr lang="en-US" sz="1800" dirty="0"/>
          </a:p>
        </p:txBody>
      </p:sp>
      <p:cxnSp>
        <p:nvCxnSpPr>
          <p:cNvPr id="11" name="Line 11"/>
          <p:cNvCxnSpPr/>
          <p:nvPr/>
        </p:nvCxnSpPr>
        <p:spPr>
          <a:xfrm>
            <a:off x="685800" y="288950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685800" y="2889504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(dollars)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2849819" y="2889504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Potential earnings for selling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T-shirts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7177857" y="2889504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Output</a:t>
            </a:r>
            <a:endParaRPr lang="en-US" sz="1800" dirty="0"/>
          </a:p>
        </p:txBody>
      </p:sp>
      <p:cxnSp>
        <p:nvCxnSpPr>
          <p:cNvPr id="15" name="Line 15"/>
          <p:cNvCxnSpPr/>
          <p:nvPr/>
        </p:nvCxnSpPr>
        <p:spPr>
          <a:xfrm>
            <a:off x="685800" y="363931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6" name="Shape 16"/>
          <p:cNvSpPr txBox="1"/>
          <p:nvPr/>
        </p:nvSpPr>
        <p:spPr>
          <a:xfrm>
            <a:off x="685800" y="363931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C9561F"/>
                </a:solidFill>
                <a:latin typeface="Cambria"/>
                <a:cs typeface="Cambria"/>
              </a:rPr>
              <a:t xml:space="preserve">15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(dollars per T-shirt)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2849819" y="363931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Selling price of a T-shirt</a:t>
            </a:r>
            <a:endParaRPr lang="en-US" sz="1800" dirty="0"/>
          </a:p>
        </p:txBody>
      </p:sp>
      <p:sp>
        <p:nvSpPr>
          <p:cNvPr id="18" name="Shape 18"/>
          <p:cNvSpPr txBox="1"/>
          <p:nvPr/>
        </p:nvSpPr>
        <p:spPr>
          <a:xfrm>
            <a:off x="7177857" y="363931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Average rate of change (slope)</a:t>
            </a:r>
            <a:endParaRPr lang="en-US" sz="1800" dirty="0"/>
          </a:p>
        </p:txBody>
      </p:sp>
      <p:cxnSp>
        <p:nvCxnSpPr>
          <p:cNvPr id="19" name="Line 19"/>
          <p:cNvCxnSpPr/>
          <p:nvPr/>
        </p:nvCxnSpPr>
        <p:spPr>
          <a:xfrm>
            <a:off x="685800" y="438912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0" name="Shape 20"/>
          <p:cNvSpPr txBox="1"/>
          <p:nvPr/>
        </p:nvSpPr>
        <p:spPr>
          <a:xfrm>
            <a:off x="685800" y="438912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− 3)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(T-shirts)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2849819" y="438912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Shirts that earn money, not counting the 3 free ones</a:t>
            </a:r>
            <a:endParaRPr lang="en-US" sz="1800" dirty="0"/>
          </a:p>
        </p:txBody>
      </p:sp>
      <p:sp>
        <p:nvSpPr>
          <p:cNvPr id="22" name="Shape 22"/>
          <p:cNvSpPr txBox="1"/>
          <p:nvPr/>
        </p:nvSpPr>
        <p:spPr>
          <a:xfrm>
            <a:off x="7177857" y="438912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input minus a constant</a:t>
            </a:r>
            <a:endParaRPr lang="en-US" sz="1800" dirty="0"/>
          </a:p>
        </p:txBody>
      </p:sp>
      <p:cxnSp>
        <p:nvCxnSpPr>
          <p:cNvPr id="23" name="Line 23"/>
          <p:cNvCxnSpPr/>
          <p:nvPr/>
        </p:nvCxnSpPr>
        <p:spPr>
          <a:xfrm>
            <a:off x="685800" y="513892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4" name="Shape 24"/>
          <p:cNvSpPr txBox="1"/>
          <p:nvPr/>
        </p:nvSpPr>
        <p:spPr>
          <a:xfrm>
            <a:off x="685800" y="5138928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15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(dollars)</a:t>
            </a:r>
            <a:endParaRPr lang="en-US" sz="1800" dirty="0"/>
          </a:p>
        </p:txBody>
      </p:sp>
      <p:sp>
        <p:nvSpPr>
          <p:cNvPr id="25" name="Shape 25"/>
          <p:cNvSpPr txBox="1"/>
          <p:nvPr/>
        </p:nvSpPr>
        <p:spPr>
          <a:xfrm>
            <a:off x="2849819" y="5138928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Earnings for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T-shirts</a:t>
            </a:r>
            <a:endParaRPr lang="en-US" sz="1800" dirty="0"/>
          </a:p>
        </p:txBody>
      </p:sp>
      <p:sp>
        <p:nvSpPr>
          <p:cNvPr id="26" name="Shape 26"/>
          <p:cNvSpPr txBox="1"/>
          <p:nvPr/>
        </p:nvSpPr>
        <p:spPr>
          <a:xfrm>
            <a:off x="7177857" y="5138928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rate times the input</a:t>
            </a:r>
            <a:endParaRPr lang="en-US" sz="1800" dirty="0"/>
          </a:p>
        </p:txBody>
      </p:sp>
      <p:cxnSp>
        <p:nvCxnSpPr>
          <p:cNvPr id="27" name="Line 27"/>
          <p:cNvCxnSpPr/>
          <p:nvPr/>
        </p:nvCxnSpPr>
        <p:spPr>
          <a:xfrm>
            <a:off x="685800" y="561441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8" name="Shape 28"/>
          <p:cNvSpPr txBox="1"/>
          <p:nvPr/>
        </p:nvSpPr>
        <p:spPr>
          <a:xfrm>
            <a:off x="685800" y="5614416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3050B8"/>
                </a:solidFill>
                <a:latin typeface="Cambria"/>
                <a:cs typeface="Cambria"/>
              </a:rPr>
              <a:t xml:space="preserve">−45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(dollars)</a:t>
            </a:r>
            <a:endParaRPr lang="en-US" sz="1800" dirty="0"/>
          </a:p>
        </p:txBody>
      </p:sp>
      <p:sp>
        <p:nvSpPr>
          <p:cNvPr id="29" name="Shape 29"/>
          <p:cNvSpPr txBox="1"/>
          <p:nvPr/>
        </p:nvSpPr>
        <p:spPr>
          <a:xfrm>
            <a:off x="2849819" y="561441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Money not earned because 3 shirts were given away</a:t>
            </a:r>
            <a:endParaRPr lang="en-US" sz="1800" dirty="0"/>
          </a:p>
        </p:txBody>
      </p:sp>
      <p:sp>
        <p:nvSpPr>
          <p:cNvPr id="30" name="Shape 30"/>
          <p:cNvSpPr txBox="1"/>
          <p:nvPr/>
        </p:nvSpPr>
        <p:spPr>
          <a:xfrm>
            <a:off x="7177857" y="561441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1800" dirty="0"/>
          </a:p>
        </p:txBody>
      </p:sp>
      <p:cxnSp>
        <p:nvCxnSpPr>
          <p:cNvPr id="31" name="Line 31"/>
          <p:cNvCxnSpPr/>
          <p:nvPr/>
        </p:nvCxnSpPr>
        <p:spPr>
          <a:xfrm>
            <a:off x="685800" y="636422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32" name="Slide Number 3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2 · Lesson 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Back to Topic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Catch-up done. Now today's Topic 2 lesson.</a:t>
            </a:r>
            <a:endParaRPr lang="en-US" sz="225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26</a:t>
            </a:fld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Today's Plan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Today's plan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Bell work (5 min)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3.2: horizontal and vertical lines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3.3: write perpendicular lines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Talk the Talk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Exit ticket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35958"/>
            <a:ext cx="762872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One part at a time. Ask for help or a break whenever you need it.</a:t>
            </a:r>
            <a:endParaRPr lang="en-US" sz="1650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27</a:t>
            </a:fld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3.2 · Horizontal and Vertical Lines · SE pp. 310–311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Extend the segments into lines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Line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is vertical: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Lines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are horizontal: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248662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420112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</a:t>
            </a:r>
            <a:endParaRPr lang="en-US" sz="2100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When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goes up 1,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doesn't change. Slope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= 0/(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₁) =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691890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3863340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4333494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When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goes up 1,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doesn't change. Slope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= 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₁)/0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undefined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1" name="Shape 11"/>
          <p:cNvSpPr/>
          <p:nvPr/>
        </p:nvSpPr>
        <p:spPr>
          <a:xfrm>
            <a:off x="6286348" y="1618488"/>
            <a:ext cx="3048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2" name="Line 12"/>
          <p:cNvCxnSpPr/>
          <p:nvPr/>
        </p:nvCxnSpPr>
        <p:spPr>
          <a:xfrm>
            <a:off x="661019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675518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6900181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7045173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719016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7335156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748014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762513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7770131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7915123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806011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8205106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835009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849508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8640081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8785073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893006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9075056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922004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44188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42696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41203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39711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610198" y="38219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36727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6610198" y="35234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6610198" y="33742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6610198" y="32250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6610198" y="30758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6610198" y="29265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6610198" y="27773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6610198" y="26281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6610198" y="24789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6610198" y="23296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6610198" y="21804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6610198" y="20312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6610198" y="18820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6610198" y="17327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6755189" y="1732788"/>
            <a:ext cx="0" cy="2686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6610198" y="4269613"/>
            <a:ext cx="2609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52" name="Shape 52"/>
          <p:cNvSpPr txBox="1"/>
          <p:nvPr/>
        </p:nvSpPr>
        <p:spPr>
          <a:xfrm>
            <a:off x="6480869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7060836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7640803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8220769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8800736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16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6043270" y="41781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8" name="Shape 58"/>
          <p:cNvSpPr txBox="1"/>
          <p:nvPr/>
        </p:nvSpPr>
        <p:spPr>
          <a:xfrm>
            <a:off x="6043270" y="35812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9" name="Shape 59"/>
          <p:cNvSpPr txBox="1"/>
          <p:nvPr/>
        </p:nvSpPr>
        <p:spPr>
          <a:xfrm>
            <a:off x="6043270" y="29843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60" name="Shape 60"/>
          <p:cNvSpPr txBox="1"/>
          <p:nvPr/>
        </p:nvSpPr>
        <p:spPr>
          <a:xfrm>
            <a:off x="6043270" y="23874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</a:t>
            </a:r>
            <a:endParaRPr lang="en-US" sz="975" dirty="0"/>
          </a:p>
        </p:txBody>
      </p:sp>
      <p:sp>
        <p:nvSpPr>
          <p:cNvPr id="61" name="Shape 61"/>
          <p:cNvSpPr txBox="1"/>
          <p:nvPr/>
        </p:nvSpPr>
        <p:spPr>
          <a:xfrm>
            <a:off x="6043270" y="17905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16</a:t>
            </a:r>
            <a:endParaRPr lang="en-US" sz="975" dirty="0"/>
          </a:p>
        </p:txBody>
      </p:sp>
      <p:cxnSp>
        <p:nvCxnSpPr>
          <p:cNvPr id="62" name="Line 62"/>
          <p:cNvCxnSpPr/>
          <p:nvPr/>
        </p:nvCxnSpPr>
        <p:spPr>
          <a:xfrm flipV="1">
            <a:off x="7335156" y="1732788"/>
            <a:ext cx="0" cy="26860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63" name="Shape 63"/>
          <p:cNvSpPr txBox="1"/>
          <p:nvPr/>
        </p:nvSpPr>
        <p:spPr>
          <a:xfrm>
            <a:off x="7411356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endParaRPr lang="en-US" sz="1275" dirty="0"/>
          </a:p>
        </p:txBody>
      </p:sp>
      <p:cxnSp>
        <p:nvCxnSpPr>
          <p:cNvPr id="64" name="Line 64"/>
          <p:cNvCxnSpPr/>
          <p:nvPr/>
        </p:nvCxnSpPr>
        <p:spPr>
          <a:xfrm>
            <a:off x="6610198" y="3672713"/>
            <a:ext cx="2609850" cy="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65" name="Shape 65"/>
          <p:cNvSpPr txBox="1"/>
          <p:nvPr/>
        </p:nvSpPr>
        <p:spPr>
          <a:xfrm>
            <a:off x="6728308" y="3691763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endParaRPr lang="en-US" sz="1275" dirty="0"/>
          </a:p>
        </p:txBody>
      </p:sp>
      <p:cxnSp>
        <p:nvCxnSpPr>
          <p:cNvPr id="66" name="Line 66"/>
          <p:cNvCxnSpPr/>
          <p:nvPr/>
        </p:nvCxnSpPr>
        <p:spPr>
          <a:xfrm>
            <a:off x="6610198" y="3075813"/>
            <a:ext cx="2609850" cy="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67" name="Shape 67"/>
          <p:cNvSpPr txBox="1"/>
          <p:nvPr/>
        </p:nvSpPr>
        <p:spPr>
          <a:xfrm>
            <a:off x="6728308" y="3094863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endParaRPr lang="en-US" sz="1275" dirty="0"/>
          </a:p>
        </p:txBody>
      </p:sp>
      <p:cxnSp>
        <p:nvCxnSpPr>
          <p:cNvPr id="68" name="Line 68"/>
          <p:cNvCxnSpPr/>
          <p:nvPr/>
        </p:nvCxnSpPr>
        <p:spPr>
          <a:xfrm>
            <a:off x="6610198" y="2478913"/>
            <a:ext cx="2609850" cy="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69" name="Shape 69"/>
          <p:cNvSpPr txBox="1"/>
          <p:nvPr/>
        </p:nvSpPr>
        <p:spPr>
          <a:xfrm>
            <a:off x="6728308" y="2497963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endParaRPr lang="en-US" sz="1275" dirty="0"/>
          </a:p>
        </p:txBody>
      </p:sp>
      <p:sp>
        <p:nvSpPr>
          <p:cNvPr id="70" name="Shape 70"/>
          <p:cNvSpPr/>
          <p:nvPr/>
        </p:nvSpPr>
        <p:spPr>
          <a:xfrm>
            <a:off x="7282768" y="24265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1" name="Shape 71"/>
          <p:cNvSpPr txBox="1"/>
          <p:nvPr/>
        </p:nvSpPr>
        <p:spPr>
          <a:xfrm>
            <a:off x="7420881" y="22312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K</a:t>
            </a:r>
            <a:endParaRPr lang="en-US" sz="1125" dirty="0"/>
          </a:p>
        </p:txBody>
      </p:sp>
      <p:sp>
        <p:nvSpPr>
          <p:cNvPr id="72" name="Shape 72"/>
          <p:cNvSpPr/>
          <p:nvPr/>
        </p:nvSpPr>
        <p:spPr>
          <a:xfrm>
            <a:off x="7282768" y="30234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3" name="Shape 73"/>
          <p:cNvSpPr txBox="1"/>
          <p:nvPr/>
        </p:nvSpPr>
        <p:spPr>
          <a:xfrm>
            <a:off x="7420881" y="28281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F</a:t>
            </a:r>
            <a:endParaRPr lang="en-US" sz="1125" dirty="0"/>
          </a:p>
        </p:txBody>
      </p:sp>
      <p:sp>
        <p:nvSpPr>
          <p:cNvPr id="74" name="Shape 74"/>
          <p:cNvSpPr/>
          <p:nvPr/>
        </p:nvSpPr>
        <p:spPr>
          <a:xfrm>
            <a:off x="7282768" y="36203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5" name="Shape 75"/>
          <p:cNvSpPr txBox="1"/>
          <p:nvPr/>
        </p:nvSpPr>
        <p:spPr>
          <a:xfrm>
            <a:off x="7420881" y="34250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G</a:t>
            </a:r>
            <a:endParaRPr lang="en-US" sz="1125" dirty="0"/>
          </a:p>
        </p:txBody>
      </p:sp>
      <p:sp>
        <p:nvSpPr>
          <p:cNvPr id="76" name="Shape 76"/>
          <p:cNvSpPr/>
          <p:nvPr/>
        </p:nvSpPr>
        <p:spPr>
          <a:xfrm>
            <a:off x="8732685" y="24265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7" name="Shape 77"/>
          <p:cNvSpPr txBox="1"/>
          <p:nvPr/>
        </p:nvSpPr>
        <p:spPr>
          <a:xfrm>
            <a:off x="8870798" y="22312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L</a:t>
            </a:r>
            <a:endParaRPr lang="en-US" sz="1125" dirty="0"/>
          </a:p>
        </p:txBody>
      </p:sp>
      <p:sp>
        <p:nvSpPr>
          <p:cNvPr id="78" name="Shape 78"/>
          <p:cNvSpPr/>
          <p:nvPr/>
        </p:nvSpPr>
        <p:spPr>
          <a:xfrm>
            <a:off x="8732685" y="30234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9" name="Shape 79"/>
          <p:cNvSpPr txBox="1"/>
          <p:nvPr/>
        </p:nvSpPr>
        <p:spPr>
          <a:xfrm>
            <a:off x="8870798" y="28281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J</a:t>
            </a:r>
            <a:endParaRPr lang="en-US" sz="1125" dirty="0"/>
          </a:p>
        </p:txBody>
      </p:sp>
      <p:sp>
        <p:nvSpPr>
          <p:cNvPr id="80" name="Shape 80"/>
          <p:cNvSpPr/>
          <p:nvPr/>
        </p:nvSpPr>
        <p:spPr>
          <a:xfrm>
            <a:off x="8732685" y="36203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1" name="Shape 81"/>
          <p:cNvSpPr txBox="1"/>
          <p:nvPr/>
        </p:nvSpPr>
        <p:spPr>
          <a:xfrm>
            <a:off x="8870798" y="34250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H</a:t>
            </a:r>
            <a:endParaRPr lang="en-US" sz="1125" dirty="0"/>
          </a:p>
        </p:txBody>
      </p:sp>
      <p:sp>
        <p:nvSpPr>
          <p:cNvPr id="82" name="Slide Number 8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3.2 · Questions 6–10 · SE p. 311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Always, sometimes, or never?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All vertical lines are parallel.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Their slopes are all undefined.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39877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All horizontal lines are parallel.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78892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Their slopes are all 0.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17906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 vertical line and a horizontal line?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356920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 perpendicular.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(2, −1)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2008632"/>
            <a:ext cx="456628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−1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286348" y="262280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⊥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(1, 0)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286348" y="3012948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0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6286348" y="362712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⊥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(5, 6)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6286348" y="4017264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</a:t>
            </a:r>
            <a:endParaRPr lang="en-US" sz="23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3.3 · Writing Equations of Perpendicular Lines · SE p. 312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Use the negative reciprocal slope and point-slope form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14426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⊥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(6, 2)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3441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−½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− 2 = −½(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− 6)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24556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214426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⊥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−¾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(3, −8)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253441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4/3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+ 8 = 4/3(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− 3)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924556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4/3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− 12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3.3 · Questions 3–5 · SE pp. 312–313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First find the slope of the given line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4288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(6, 2)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⊥ to the line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(−5, 3)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(−1, −9)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48662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−12/4 = −3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use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⅓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3880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4381398" y="1618488"/>
            <a:ext cx="34288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4.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(−2, 7)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⊥ to the line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(−6, 1)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(0, 4)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4381398" y="2248662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3/6 = ½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use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−2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81398" y="2638806"/>
            <a:ext cx="34288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8076997" y="1618488"/>
            <a:ext cx="34288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5. Lines meet at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(5, 9)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; one passes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(−4, 4)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8076997" y="2248662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5/9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use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−9/5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76997" y="2638806"/>
            <a:ext cx="34288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−9/5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+ 18</a:t>
            </a:r>
            <a:endParaRPr lang="en-US" sz="2325" dirty="0"/>
          </a:p>
        </p:txBody>
      </p:sp>
      <p:sp>
        <p:nvSpPr>
          <p:cNvPr id="13" name="Slide Number 1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Talk the Talk · Things Aren't Always What They Seem · SE p. 314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Linh or Jackson?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Linh says lines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are parallel to each other and perpendicular to lines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e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Jackson says they are parallel but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perpendicular to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e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3916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Jackson is correct.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axes use different scales.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0550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Lines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have slope 1, so they are parallel. Lines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have slope −¼.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37185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 · (−¼) ≠ −1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the slopes are not negative reciprocals, so the lines are not perpendicular.</a:t>
            </a:r>
            <a:endParaRPr lang="en-US" sz="157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2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23881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and vertical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580132"/>
            <a:ext cx="3073298" cy="12550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a number, slope 0.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a number, slope undefined.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They are always perpendicular.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23881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Write a perpendicular line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580132"/>
            <a:ext cx="3073298" cy="12550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Find the given slope.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Take the negative reciprocal.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 Use the point: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339" dirty="0" baseline="-2500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339" dirty="0" baseline="-2500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23881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Check the scale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Lines can look perpendicular on a stretched grid. Check the slopes.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417804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33</a:t>
            </a:fld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Answered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does rotation give perpendicular slopes?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 90° rotation maps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so a slope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becomes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181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Perpendicular lines have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negative reciprocal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slopes: their product is −1.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6072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Any vertical line is perpendicular to any horizontal line.</a:t>
            </a:r>
            <a:endParaRPr lang="en-US" sz="19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slope is perpendicular to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−5/2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2/5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7520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Write the line ⊥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(3, 1)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747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Write the vertical line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(−4, 7)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341114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−4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2 · Lesson 3 · End of Day 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25694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Stop here: Monday, November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525322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Next class: Tuesday, November 3. Open the Lesson 4 deck.</a:t>
            </a:r>
            <a:endParaRPr lang="en-US" sz="225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36</a:t>
            </a:fld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Prepare · SE p. 317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Does each set of ordered pairs represent a function?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144268"/>
            <a:ext cx="5267173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1. {(−1, −1), (0, 0), (1, 1), (2, 2)}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238723" y="2144268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Function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03042"/>
            <a:ext cx="5267173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2. {(−1, −2), (0, 0), (1, 2), (2, 4)}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38723" y="3003042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Function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61816"/>
            <a:ext cx="5267173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3. {(−1, −1), (0, −1), (1, −1), (2, −1)}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238723" y="3861816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Function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4720590"/>
            <a:ext cx="5267173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4. {(−1, −1), (−1, 0), (−1, 1), (−1, 2)}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38723" y="4720590"/>
            <a:ext cx="423463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Not a function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Practice Online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Work, Homework and Quiz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08988"/>
            <a:ext cx="3378098" cy="1978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450592"/>
            <a:ext cx="29589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40736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 questions each, the same as the bell work slides. Scored when students submit.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406798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616348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616348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practice questions. Each answer is checked right away, with an explanation.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8127797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337347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337347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scored when students submit. Correct answers are shown after submitting.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401574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All are multiple choice. The homework follows the Lesson 3 Assignment (SE pp. 315–317).</a:t>
            </a:r>
            <a:endParaRPr lang="en-US" sz="1575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38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termining Slopes of Perpendicular Lin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38</Slides>
  <Notes>38</Notes>
</Properties>
</file>

<file path=docProps/core.xml><?xml version="1.0" encoding="utf-8"?>
<cp:coreProperties xmlns:cp="http://schemas.openxmlformats.org/package/2006/metadata/core-properties" xmlns:dc="http://purl.org/dc/elements/1.1/">
  <dc:title>Determining Slopes of Perpendicular Lines</dc:title>
  <dc:subject>Bluebonnet Algebra I</dc:subject>
</cp:coreProperties>
</file>