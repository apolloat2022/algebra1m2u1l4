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on the 150-day calendar (Wed Nov 11, Thu Nov 12, Mon Nov 16). Every activity is starred: Day 1 Getting Started and 3.1; Day 2 3.2 and 3.3; Day 3 3.4 and Talk the Talk. End of Topic questions 1, 3, 6 and 9 come from this lesson.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Start $25 (b), $3.75 per box (m). Like test Q1. 2. At least 5 means 5 or more: ≥. 3. No more than 5 means 5 or less: ≤. 4. Subtract 25: 3.75b = 375. Divide: b = 100.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10–15 minutes. Ask yourself: how will you represent the $25 credit in your function?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3.1, 25–30 minutes. Only whole numbers of boxes make sense in context. Skills Practice Sets A and 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3.75(240) + 25 = 925; 3.75(540) + 25 = 2050; 3.75(180) + 25 = 700.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The rate goes with x; the starting or fixed amount is b.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TICKET/T1-Exit-Ticket-Wed-11-11.pdf (written like the End of Topic 1 test). Give about 8 minutes. Work: 1. Start $40, rate $12 per hour. 2. Notebooks: 4 · 1.75 = 7; pens: 0.90x. 3. 3.75b + 25 ≤ 1150 → 3.75b ≤ 1125 → b ≤ 300.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ask two or three students to summarize Day 1: What do open and closed circles mean?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Subtract 5: 2x = 12. Divide: x = 6. 2. ≥ includes 2 (closed); greater means right. 3. −(−5) = 5, and 5 &gt; 4 is true. 4. Muffins: 2 · 1.50 = 3 (start). Juices: $2.25 each (rate). Like test Q6.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solve an inequality the same way you solve an equation. Think about how accurate the answer needs to be.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"At least" rounds up; "at most" rounds down.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3.3, 20–25 minutes. Ask: what are the independent and dependent quantities and their units?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 the learning: when you multiply or divide both sides by a negative number, the inequality sign reverses. Skills Practice Set C.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TICKET/T1-Exit-Ticket-Thu-11-12.pdf (written like the End of Topic 1 test). Give about 8 minutes. Work: 1. −3x ≥ 15 → divide by −3, flip → x ≤ −5. 2. −2x &lt; 6 → x &gt; −3 (flip). 3. 26 − 0.1t ≥ 22 → −0.1t ≥ −4 → t ≤ 40.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ask two or three students to summarize Day 2: When does the inequality sign flip?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3 bell work. Reveal the answers one at a time. Answer key: 1. Divide by −4 and flip: x &lt; −3. 2. Subtract x: x + 3 ≤ −1. Subtract 3: x ≤ −4. 3. Read it from x's side: x is greater than or equal to −6. 4. 3x − 6 = 9, 3x = 15, x = 5.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1–2. Keeping x on the side with the larger coefficient avoids dividing by a negative.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Practice Set D.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 Q1, 10 minutes.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Multiplying by a negative C flips the sign; multiplying by −1 always flips it.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The test gives answer choices with all four signs: check the flip.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TICKET/T1-Exit-Ticket-Mon-11-16.pdf (written like the End of Topic 1 test). Give about 8 minutes. Work: 1. 12 − 3x &gt; −2x + 10 → −x &gt; −2 → x &lt; 2. 2. 1.5m + 4 ≥ −2m + 18 → 3.5m ≥ 14 → m ≥ 4. 3. −2x − 2 ≥ 8 → −2x ≥ 10 → x ≤ −5.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3: a x &gt; −1, b x &lt; 7, c d ≤ 11, d k ≤ −24.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m3t1-lesson3-bellwork-day1-504.html" TargetMode="External"/><Relationship Id="rId4" Type="http://schemas.openxmlformats.org/officeDocument/2006/relationships/hyperlink" Target="https://algebra1m2u1l4.vercel.app/Section 504/m3t1-lesson3-bellwork-day2-504.html" TargetMode="External"/><Relationship Id="rId5" Type="http://schemas.openxmlformats.org/officeDocument/2006/relationships/hyperlink" Target="https://algebra1m2u1l4.vercel.app/Section 504/m3t1-lesson3-bellwork-day3-504.html" TargetMode="External"/><Relationship Id="rId6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3 · Student Edition pp. 371–386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Modeling Linear Inequalities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≤ &gt; ≥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522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12435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Elijah starts with a $25 credit and earns $3.75 for each box he sells. Which equation gives his total sales,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after selling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boxes?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052572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3.75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3819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Which symbol means "at least"?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≥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symbol means "no more than"?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≤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+ 25 = 400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Elijah's popcorn function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3.1: read inequalities from a graph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SE p. 371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Write and solve inequalities.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Analyze a graph on a coordinate plane to solve problems involving inequalities.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Interpret how a negative rate affects how to solve an inequality.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07467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New key term: linear inequality</a:t>
            </a:r>
            <a:endParaRPr lang="en-US" sz="157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193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Linear inequality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comparison with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≤, &gt;, or ≥ instead of =.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3.75b + 25 ≥ 1100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193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At least / no less than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58013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This much or more: ≥.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97027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least 5 → x ≥ 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193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At most / no more than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This much or less: ≤.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65023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most 5 → x ≤ 5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72237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389382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Open circle ○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36397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number is NOT included: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or &gt;.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499414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&gt; 2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372237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389382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Closed circle ●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36397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number IS included: ≤ or ≥.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499414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≥ 2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372237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389382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Flip the sign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36397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or divide by a negative → reverse the sign.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499414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−2x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6 → x &gt; −3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371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632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used horizontal lines on a graph and properties of equality to solve problems modeled with linear equations.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05104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Can you use these same methods to solve problems involving linear inequalities?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Fundraising Function · SE p. 372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Elijah sells popcorn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camper starts with a $25 credit. Each box sells for $3.75.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+ 25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1282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Analyze</a:t>
            </a:r>
            <a:endParaRPr lang="en-US" sz="210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Independent: boxes sold. Dependent: total sales ($).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890266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3.75: dollars per box.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3280410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y-intercept 25: the starting credit.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Modeling Linear Inequalities · SE pp. 373–374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Read the graph at $1600</a:t>
            </a:r>
            <a:endParaRPr lang="en-US" sz="3450" dirty="0"/>
          </a:p>
        </p:txBody>
      </p:sp>
      <p:sp>
        <p:nvSpPr>
          <p:cNvPr id="4" name="Shape 4"/>
          <p:cNvSpPr/>
          <p:nvPr/>
        </p:nvSpPr>
        <p:spPr>
          <a:xfrm>
            <a:off x="685800" y="1618488"/>
            <a:ext cx="3619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32778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64592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96405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8219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60032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91846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23659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55473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87286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19100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28231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0505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81876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5869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35521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34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9166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6598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42811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21963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96456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7327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1" name="Shape 31"/>
          <p:cNvSpPr txBox="1"/>
          <p:nvPr/>
        </p:nvSpPr>
        <p:spPr>
          <a:xfrm>
            <a:off x="73533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137160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120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200787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240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264414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360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328041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480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91668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600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400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800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1200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1600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2000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2400</a:t>
            </a:r>
            <a:endParaRPr lang="en-US" sz="975" dirty="0"/>
          </a:p>
        </p:txBody>
      </p:sp>
      <p:cxnSp>
        <p:nvCxnSpPr>
          <p:cNvPr id="44" name="Line 44"/>
          <p:cNvCxnSpPr/>
          <p:nvPr/>
        </p:nvCxnSpPr>
        <p:spPr>
          <a:xfrm flipV="1">
            <a:off x="1009650" y="1877647"/>
            <a:ext cx="3181350" cy="2607469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45" name="Shape 45"/>
          <p:cNvSpPr txBox="1"/>
          <p:nvPr/>
        </p:nvSpPr>
        <p:spPr>
          <a:xfrm>
            <a:off x="1699260" y="189669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f(b)</a:t>
            </a:r>
            <a:endParaRPr lang="en-US" sz="1275" dirty="0"/>
          </a:p>
        </p:txBody>
      </p:sp>
      <p:cxnSp>
        <p:nvCxnSpPr>
          <p:cNvPr id="46" name="Line 46"/>
          <p:cNvCxnSpPr/>
          <p:nvPr/>
        </p:nvCxnSpPr>
        <p:spPr>
          <a:xfrm>
            <a:off x="1009650" y="2659888"/>
            <a:ext cx="3181350" cy="0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47" name="Shape 47"/>
          <p:cNvSpPr/>
          <p:nvPr/>
        </p:nvSpPr>
        <p:spPr>
          <a:xfrm>
            <a:off x="3184207" y="260750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8" name="Shape 48"/>
          <p:cNvSpPr txBox="1"/>
          <p:nvPr/>
        </p:nvSpPr>
        <p:spPr>
          <a:xfrm>
            <a:off x="3322320" y="241223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(420, 1600)</a:t>
            </a:r>
            <a:endParaRPr lang="en-US" sz="1125" dirty="0"/>
          </a:p>
        </p:txBody>
      </p:sp>
      <p:sp>
        <p:nvSpPr>
          <p:cNvPr id="49" name="Shape 49"/>
          <p:cNvSpPr txBox="1"/>
          <p:nvPr/>
        </p:nvSpPr>
        <p:spPr>
          <a:xfrm>
            <a:off x="6286348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Draw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1600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the line, then straight down: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420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boxes.</a:t>
            </a:r>
            <a:endParaRPr lang="en-US" sz="1575" dirty="0"/>
          </a:p>
        </p:txBody>
      </p:sp>
      <p:sp>
        <p:nvSpPr>
          <p:cNvPr id="50" name="Shape 50"/>
          <p:cNvSpPr txBox="1"/>
          <p:nvPr/>
        </p:nvSpPr>
        <p:spPr>
          <a:xfrm>
            <a:off x="6286348" y="2248662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linear inequality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a non-equal comparison of two linear expressions.</a:t>
            </a: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6286348" y="299313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Below the line (and on it):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≤ 1600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≤ 420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● closed circle, shade left.</a:t>
            </a:r>
            <a:endParaRPr lang="en-US" sz="1575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36233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Above the line: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420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○ open circle, shade right.</a:t>
            </a:r>
            <a:endParaRPr lang="en-US" sz="1575" dirty="0"/>
          </a:p>
        </p:txBody>
      </p:sp>
      <p:sp>
        <p:nvSpPr>
          <p:cNvPr id="53" name="Slide Number 5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Questions 4–5 · SE p. 375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Open or closed? Use the graph.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14980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Circles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○ open: the point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included (&lt;, &gt;).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● closed: the point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included (≤, ≥).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3730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 How many boxes?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a. at least $925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650236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240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326440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b. less than $2050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65455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540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4268724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c. exactly $700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465886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180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1 and 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Ana has $60 and saves $15 per week. Equation for the amount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after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weeks?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+ 60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286348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Ben buys 3 tickets at $8.50 each and some snacks at $3.25 each. Total cost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snacks?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66014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Fixed: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 · 8.50 = 25.50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3050286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3.25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+ 25.50</a:t>
            </a:r>
            <a:endParaRPr lang="en-US" sz="23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Maya has $40 and earns $12 per hour. Which equation gives the total,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she has after working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hours?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1523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4 notebooks at $1.75, pens at $0.90.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pens?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6252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0.90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7670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Sales of at most $1150: inequality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523994"/>
            <a:ext cx="887777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300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closed circle at 300, shaded left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Words → symbols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at least ≥ · at most ≤ · more than &gt; · fewer than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Circles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○ for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&gt;.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● for ≤ and ≥.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Shade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 &gt; or x ≥: shade right.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or x ≤: shade left.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Can you use these same methods to solve problems involving linear inequalities?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 = 17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Which describes the graph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≥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on a number line?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51433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closed circle at 2, shaded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 solution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&gt; 4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Yes, because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 &gt; 4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Chloe buys 2 muffins for $1.50 each and some juices for $2.25 each. Which equation gives the total cost,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juices?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2.25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3.2: solve two-step inequalities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3.3: when the sign flips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Solving Two-Step Linear Inequalities · SE p. 376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First deposit: at least $1100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To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an inequality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means to determine the values of the variable that make it true.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+ 25 ≥ 1100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1075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5473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286.6…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1618488"/>
            <a:ext cx="521954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How many boxes?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260092"/>
            <a:ext cx="48004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least 287 boxes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87426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He can't sell part of a box, and 286 boxes is not enough.</a:t>
            </a:r>
            <a:endParaRPr lang="en-US" sz="157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Questions 2–3 · SE p. 377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and solve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a. Most boxes and still under $600?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+ 25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600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153.3…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455926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most 153 boxes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b. At least how many boxes for $1500?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+ 25 ≥ 1500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393.3…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455926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least 394 boxes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46298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The method does not change for other forms: use the properties of equality.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Reversing Inequality Signs · SE p. 378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Hiking down from 4800 feet at 20 feet per minute</a:t>
            </a:r>
            <a:endParaRPr lang="en-US" sz="3450" dirty="0"/>
          </a:p>
        </p:txBody>
      </p:sp>
      <p:sp>
        <p:nvSpPr>
          <p:cNvPr id="4" name="Shape 4"/>
          <p:cNvSpPr/>
          <p:nvPr/>
        </p:nvSpPr>
        <p:spPr>
          <a:xfrm>
            <a:off x="685800" y="1618488"/>
            <a:ext cx="3619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25436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49908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74380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98852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23324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47796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272268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96740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2121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45684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370156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39462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19100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423595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95782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67969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340156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31234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84530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256717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228904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201091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7327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46948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2203645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120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937803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180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671961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240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38663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1000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3310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2000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27538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3000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219760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4000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5000</a:t>
            </a:r>
            <a:endParaRPr lang="en-US" sz="975" dirty="0"/>
          </a:p>
        </p:txBody>
      </p:sp>
      <p:cxnSp>
        <p:nvCxnSpPr>
          <p:cNvPr id="43" name="Line 43"/>
          <p:cNvCxnSpPr/>
          <p:nvPr/>
        </p:nvCxnSpPr>
        <p:spPr>
          <a:xfrm>
            <a:off x="1009650" y="1844040"/>
            <a:ext cx="2936631" cy="2670048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1085850" y="186309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h(m)</a:t>
            </a:r>
            <a:endParaRPr lang="en-US" sz="1275" dirty="0"/>
          </a:p>
        </p:txBody>
      </p:sp>
      <p:cxnSp>
        <p:nvCxnSpPr>
          <p:cNvPr id="45" name="Line 45"/>
          <p:cNvCxnSpPr/>
          <p:nvPr/>
        </p:nvCxnSpPr>
        <p:spPr>
          <a:xfrm>
            <a:off x="1009650" y="2734056"/>
            <a:ext cx="3181350" cy="0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46" name="Shape 46"/>
          <p:cNvSpPr/>
          <p:nvPr/>
        </p:nvSpPr>
        <p:spPr>
          <a:xfrm>
            <a:off x="1936139" y="268166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7" name="Shape 47"/>
          <p:cNvSpPr txBox="1"/>
          <p:nvPr/>
        </p:nvSpPr>
        <p:spPr>
          <a:xfrm>
            <a:off x="2074252" y="248640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(80, 3200)</a:t>
            </a:r>
            <a:endParaRPr lang="en-US" sz="1125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−20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+ 4800</a:t>
            </a:r>
            <a:endParaRPr lang="en-US" sz="1575" dirty="0"/>
          </a:p>
        </p:txBody>
      </p:sp>
      <p:sp>
        <p:nvSpPr>
          <p:cNvPr id="49" name="Shape 49"/>
          <p:cNvSpPr txBox="1"/>
          <p:nvPr/>
        </p:nvSpPr>
        <p:spPr>
          <a:xfrm>
            <a:off x="6286348" y="200863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−20: down 20 ft each minute. y-int 4800: the start.</a:t>
            </a:r>
            <a:endParaRPr lang="en-US" sz="1575" dirty="0"/>
          </a:p>
        </p:txBody>
      </p:sp>
      <p:sp>
        <p:nvSpPr>
          <p:cNvPr id="50" name="Shape 50"/>
          <p:cNvSpPr txBox="1"/>
          <p:nvPr/>
        </p:nvSpPr>
        <p:spPr>
          <a:xfrm>
            <a:off x="6286348" y="263880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x-int 240: sea level after 240 min. Domain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0 ≤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≤ 240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1" name="Slide Number 5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Questions 3–6 · SE p. 379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Below 3200 feet: why does the sign flip?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Graph: below 3200 ft after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80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−20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+ 4800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3200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−20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−1600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03220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m &gt; 80 (÷ −20 flips the sign)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1747266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8033614" y="1618488"/>
            <a:ext cx="1202436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016252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&gt; 3200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8033614" y="2016252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8033614" y="2016252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80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2414016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≥ 3200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8033614" y="2414016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8033614" y="2414016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≤ 80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2811780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= 3200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8033614" y="2811780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8033614" y="2811780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= 80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286348" y="3209544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3200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8033614" y="3209544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8033614" y="3209544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&gt; 80</a:t>
            </a: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6286348" y="3607308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≤ 3200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8033614" y="3607308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8033614" y="3607308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≥ 80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6286348" y="410032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or divide by a negative →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reverse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sign.</a:t>
            </a:r>
            <a:endParaRPr lang="en-US" sz="1575" dirty="0"/>
          </a:p>
        </p:txBody>
      </p:sp>
      <p:sp>
        <p:nvSpPr>
          <p:cNvPr id="26" name="Slide Number 2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 ≥ 19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 and graph: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5 − 2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11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838029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&gt; −3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open circle at −3, shaded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Tire: 26 psi, −0.1 psi/min, stay ≥ 22. Solve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40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minutes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2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like an equation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Undo + and −, then × and ÷.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Flip!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or divide by a negative → reverse the sign.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Round in context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At least → round up. At most → round down.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379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Can you use these same methods to solve problems involving linear inequalities?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&gt; 12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6103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4665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solution set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 ≤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2922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inequality means the same as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9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3.4: variables on both sides, distributing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Talk the Talk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24</a:t>
            </a:fld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3.4 · Solving Other Linear Inequalities · SE p. 380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+ 2 ≥ 3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− 10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Victoria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x-terms left: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 ≥ −10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−12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4038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10148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Kai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x-terms right: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 ≥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− 10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12 ≥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÷ −2 flips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04038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90220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answer: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means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It works like an equation, but watch the sign.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3.4 · Questions 3–4 · SE p. 381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−4(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− 6) 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22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Aaliyah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+ 24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22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÷ −4 flips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40380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&gt; ½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10148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Ava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÷ −4 first, flip: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 &gt; −5½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6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040380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&gt; ½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90220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Distributing works the same for inequalities and equations.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Talk the Talk · It's About Solutions, More or Less · SE p. 382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and graph each inequality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7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≤ −21/2 ●, shade left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9143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32 &gt; 23 −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95878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&gt; −9 ○, shade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15 − 4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122932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≥ 3 ●, shade right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2(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+ 6)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14 + 4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3241548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&gt; −1 ○, shade right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Talk the Talk · Question 2 · SE p. 382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when is each statement true?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796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4355998" y="1618488"/>
            <a:ext cx="3479698" cy="1686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&gt;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8026197" y="1618488"/>
            <a:ext cx="34796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35747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3 and 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Solve; graph the second one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2(5 −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&gt; 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10 − 2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 → 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−6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455926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6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 ≥ −(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− 8)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− 1 ≥ 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→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9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455926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m ≥ 3 ●, shade right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 the same methods work for inequalities?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Yes: graphs (horizontal lines) and properties of equality both work.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1818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Exception: multiplying or dividing both sides by a negative number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reverses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the inequality sign.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79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Graph: ○ for &lt; and &gt;, ● for ≤ and ≥.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3(4 −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&gt; −2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 and graph: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1.5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 ≥ −2(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− 9)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838029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4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closed circle at 4, shaded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 ≥ 8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−5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3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Both sides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Move x to the side with the bigger number in front: no flip needed.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Distribute first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−2(x + 1) = −2x − 2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Read it from x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−6 ≤ x is the same as x ≥ −6.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3779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32</a:t>
            </a:fld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Homework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3 Assignment · SE pp. 383–386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54298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351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1a–d (Noah's trip).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68698" y="1618488"/>
            <a:ext cx="3454298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78248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78248" y="2260092"/>
            <a:ext cx="30351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1e–g, 2a–b.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51597" y="1618488"/>
            <a:ext cx="34542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61147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61147" y="2260092"/>
            <a:ext cx="30351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3a–d + Topic 1 Self-Reflection.</a:t>
            </a:r>
            <a:endParaRPr lang="en-US" sz="157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33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Modeling Linear Inequaliti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33</Slides>
  <Notes>33</Notes>
</Properties>
</file>

<file path=docProps/core.xml><?xml version="1.0" encoding="utf-8"?>
<cp:coreProperties xmlns:cp="http://schemas.openxmlformats.org/package/2006/metadata/core-properties" xmlns:dc="http://purl.org/dc/elements/1.1/">
  <dc:title>Modeling Linear Inequalities</dc:title>
  <dc:subject>Bluebonnet Algebra I</dc:subject>
</cp:coreProperties>
</file>