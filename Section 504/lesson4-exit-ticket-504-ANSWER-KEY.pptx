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"/>
  </p:notesMasterIdLst>
  <p:sldIdLst>
    <p:sldId id="256" r:id="rId11"/>
    <p:sldId id="257" r:id="rId12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theme" Target="theme/theme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ableStyles" Target="tableStyles.xml"/><Relationship Id="rId11" Type="http://schemas.openxmlformats.org/officeDocument/2006/relationships/slide" Target="slides/slide1.xml"/><Relationship Id="rId12" Type="http://schemas.openxmlformats.org/officeDocument/2006/relationships/slide" Target="slides/slide2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Notes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1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lgGrid">
          <a:fgClr>
            <a:srgbClr val="E6E8F2"/>
          </a:fgClr>
          <a:bgClr>
            <a:srgbClr val="F7F7FB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Brand 101"/>
          <p:cNvSpPr/>
          <p:nvPr userDrawn="1"/>
        </p:nvSpPr>
        <p:spPr>
          <a:xfrm>
            <a:off x="9631375" y="128016"/>
            <a:ext cx="274320" cy="274320"/>
          </a:xfrm>
          <a:prstGeom prst="roundRect">
            <a:avLst>
              <a:gd name="adj" fmla="val 25000"/>
            </a:avLst>
          </a:prstGeom>
          <a:solidFill>
            <a:srgbClr val="3050B8"/>
          </a:solidFill>
          <a:ln>
            <a:noFill/>
          </a:ln>
        </p:spPr>
      </p:sp>
      <p:sp>
        <p:nvSpPr>
          <p:cNvPr id="102" name="Brand 102"/>
          <p:cNvSpPr/>
          <p:nvPr userDrawn="1"/>
        </p:nvSpPr>
        <p:spPr>
          <a:xfrm>
            <a:off x="9748818" y="172593"/>
            <a:ext cx="39434" cy="3943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03" name="Brand 103"/>
          <p:cNvSpPr/>
          <p:nvPr userDrawn="1"/>
        </p:nvSpPr>
        <p:spPr>
          <a:xfrm>
            <a:off x="9719672" y="207740"/>
            <a:ext cx="42862" cy="42862"/>
          </a:xfrm>
          <a:prstGeom prst="ellipse">
            <a:avLst/>
          </a:prstGeom>
          <a:solidFill>
            <a:srgbClr val="FFFFFF">
              <a:alpha val="92000"/>
            </a:srgbClr>
          </a:solidFill>
          <a:ln>
            <a:noFill/>
          </a:ln>
        </p:spPr>
      </p:sp>
      <p:sp>
        <p:nvSpPr>
          <p:cNvPr id="104" name="Brand 104"/>
          <p:cNvSpPr/>
          <p:nvPr userDrawn="1"/>
        </p:nvSpPr>
        <p:spPr>
          <a:xfrm>
            <a:off x="9774536" y="207740"/>
            <a:ext cx="42862" cy="42862"/>
          </a:xfrm>
          <a:prstGeom prst="ellipse">
            <a:avLst/>
          </a:prstGeom>
          <a:solidFill>
            <a:srgbClr val="FFFFFF">
              <a:alpha val="92000"/>
            </a:srgbClr>
          </a:solidFill>
          <a:ln>
            <a:noFill/>
          </a:ln>
        </p:spPr>
      </p:sp>
      <p:sp>
        <p:nvSpPr>
          <p:cNvPr id="105" name="Brand 105"/>
          <p:cNvSpPr/>
          <p:nvPr userDrawn="1"/>
        </p:nvSpPr>
        <p:spPr>
          <a:xfrm>
            <a:off x="9746247" y="230886"/>
            <a:ext cx="44577" cy="4457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06" name="Brand 106"/>
          <p:cNvSpPr/>
          <p:nvPr userDrawn="1"/>
        </p:nvSpPr>
        <p:spPr>
          <a:xfrm>
            <a:off x="9709385" y="255746"/>
            <a:ext cx="46292" cy="46292"/>
          </a:xfrm>
          <a:prstGeom prst="ellipse">
            <a:avLst/>
          </a:prstGeom>
          <a:solidFill>
            <a:srgbClr val="FFFFFF">
              <a:alpha val="82000"/>
            </a:srgbClr>
          </a:solidFill>
          <a:ln>
            <a:noFill/>
          </a:ln>
        </p:spPr>
      </p:sp>
      <p:sp>
        <p:nvSpPr>
          <p:cNvPr id="107" name="Brand 107"/>
          <p:cNvSpPr/>
          <p:nvPr userDrawn="1"/>
        </p:nvSpPr>
        <p:spPr>
          <a:xfrm>
            <a:off x="9781394" y="255746"/>
            <a:ext cx="46292" cy="46292"/>
          </a:xfrm>
          <a:prstGeom prst="ellipse">
            <a:avLst/>
          </a:prstGeom>
          <a:solidFill>
            <a:srgbClr val="FFFFFF">
              <a:alpha val="82000"/>
            </a:srgbClr>
          </a:solidFill>
          <a:ln>
            <a:noFill/>
          </a:ln>
        </p:spPr>
      </p:sp>
      <p:sp>
        <p:nvSpPr>
          <p:cNvPr id="108" name="Brand 108"/>
          <p:cNvSpPr/>
          <p:nvPr userDrawn="1"/>
        </p:nvSpPr>
        <p:spPr>
          <a:xfrm>
            <a:off x="9761677" y="303752"/>
            <a:ext cx="13716" cy="55721"/>
          </a:xfrm>
          <a:prstGeom prst="roundRect">
            <a:avLst>
              <a:gd name="adj" fmla="val 50000"/>
            </a:avLst>
          </a:prstGeom>
          <a:solidFill>
            <a:srgbClr val="9FD18B"/>
          </a:solidFill>
          <a:ln>
            <a:noFill/>
          </a:ln>
        </p:spPr>
      </p:sp>
      <p:sp>
        <p:nvSpPr>
          <p:cNvPr id="109" name="Shape 109"/>
          <p:cNvSpPr txBox="1"/>
          <p:nvPr/>
        </p:nvSpPr>
        <p:spPr>
          <a:xfrm>
            <a:off x="9960559" y="109728"/>
            <a:ext cx="1737360" cy="310896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16171D"/>
                </a:solidFill>
                <a:latin typeface="Segoe UI"/>
                <a:cs typeface="Segoe UI"/>
              </a:rPr>
              <a:t xml:space="preserve">Bluebonnet </a:t>
            </a:r>
            <a:r>
              <a:rPr lang="en-US" sz="1125" dirty="0" b="1">
                <a:solidFill>
                  <a:srgbClr val="3050B8"/>
                </a:solidFill>
                <a:latin typeface="Segoe UI"/>
                <a:cs typeface="Segoe UI"/>
              </a:rPr>
              <a:t xml:space="preserve">Algebra I</a:t>
            </a:r>
            <a:endParaRPr lang="en-US" sz="11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9235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57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Answer Key</a:t>
            </a:r>
            <a:endParaRPr lang="en-US" sz="57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552194"/>
            <a:ext cx="10820095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Lesson 4 Exit Ticket · Section 504 Version</a:t>
            </a:r>
            <a:endParaRPr lang="en-US" sz="210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2098548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3 questions, the same ones on the exit ticket slide of the Section 504 deck.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622042"/>
            <a:ext cx="4967272" cy="397764"/>
          </a:xfrm>
          <a:prstGeom prst="roundRect">
            <a:avLst>
              <a:gd name="adj" fmla="val 8000"/>
            </a:avLst>
          </a:prstGeom>
          <a:solidFill>
            <a:srgbClr val="FDF3E7"/>
          </a:solidFill>
          <a:ln>
            <a:noFill/>
          </a:ln>
        </p:spPr>
        <p:txBody>
          <a:bodyPr wrap="square" lIns="164592" tIns="73152" rIns="164592" bIns="73152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Segoe UI"/>
                <a:cs typeface="Segoe UI"/>
              </a:rPr>
              <a:t xml:space="preserve">Teacher copy. Do not share with students.</a:t>
            </a:r>
            <a:endParaRPr lang="en-US" sz="1650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Lesson 4 Exit Ticket · Section 504 Version · Answer Key (teacher copy)</a:t>
            </a:r>
            <a:endParaRPr lang="en-US" sz="1125" dirty="0"/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Exit ticket answers</a:t>
            </a:r>
            <a:endParaRPr lang="en-US" sz="345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209294"/>
            <a:ext cx="4869043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</a:t>
            </a:r>
            <a:endParaRPr lang="en-US" sz="1950" dirty="0"/>
          </a:p>
        </p:txBody>
      </p:sp>
      <p:sp>
        <p:nvSpPr>
          <p:cNvPr id="4" name="Shape 4"/>
          <p:cNvSpPr txBox="1"/>
          <p:nvPr/>
        </p:nvSpPr>
        <p:spPr>
          <a:xfrm>
            <a:off x="5554843" y="1209294"/>
            <a:ext cx="5951052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Answer</a:t>
            </a:r>
            <a:endParaRPr lang="en-US" sz="1950" dirty="0"/>
          </a:p>
        </p:txBody>
      </p:sp>
      <p:cxnSp>
        <p:nvCxnSpPr>
          <p:cNvPr id="5" name="Line 5"/>
          <p:cNvCxnSpPr/>
          <p:nvPr/>
        </p:nvCxnSpPr>
        <p:spPr>
          <a:xfrm>
            <a:off x="685800" y="1707642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6" name="Shape 6"/>
          <p:cNvSpPr txBox="1"/>
          <p:nvPr/>
        </p:nvSpPr>
        <p:spPr>
          <a:xfrm>
            <a:off x="685800" y="1707642"/>
            <a:ext cx="4869043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1. Write the equation in point-slope form: slope 5, through (−2, 3). </a:t>
            </a:r>
            <a:r>
              <a:rPr lang="en-US" sz="1575" dirty="0">
                <a:solidFill>
                  <a:srgbClr val="5F6272"/>
                </a:solidFill>
                <a:latin typeface="Segoe UI"/>
                <a:cs typeface="Segoe UI"/>
              </a:rPr>
              <a:t xml:space="preserve">(SE p. 204)</a:t>
            </a:r>
            <a:endParaRPr lang="en-US" sz="1800" dirty="0"/>
          </a:p>
        </p:txBody>
      </p:sp>
      <p:sp>
        <p:nvSpPr>
          <p:cNvPr id="7" name="Shape 7"/>
          <p:cNvSpPr txBox="1"/>
          <p:nvPr/>
        </p:nvSpPr>
        <p:spPr>
          <a:xfrm>
            <a:off x="5554843" y="1707642"/>
            <a:ext cx="5951052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 i="1">
                <a:solidFill>
                  <a:srgbClr val="16171D"/>
                </a:solidFill>
                <a:latin typeface="Segoe UI"/>
                <a:cs typeface="Segoe UI"/>
              </a:rPr>
              <a:t xml:space="preserve">y</a:t>
            </a: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 − 3 = 5(</a:t>
            </a:r>
            <a:r>
              <a:rPr lang="en-US" sz="1800" dirty="0" b="1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 + 2)</a:t>
            </a:r>
            <a:endParaRPr lang="en-US" sz="1800" dirty="0"/>
          </a:p>
        </p:txBody>
      </p:sp>
      <p:cxnSp>
        <p:nvCxnSpPr>
          <p:cNvPr id="8" name="Line 8"/>
          <p:cNvCxnSpPr/>
          <p:nvPr/>
        </p:nvCxnSpPr>
        <p:spPr>
          <a:xfrm>
            <a:off x="685800" y="2457450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9" name="Shape 9"/>
          <p:cNvSpPr txBox="1"/>
          <p:nvPr/>
        </p:nvSpPr>
        <p:spPr>
          <a:xfrm>
            <a:off x="685800" y="2457450"/>
            <a:ext cx="4869043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2. Rewrite your answer to #1 in slope-intercept form. </a:t>
            </a:r>
            <a:r>
              <a:rPr lang="en-US" sz="1575" dirty="0">
                <a:solidFill>
                  <a:srgbClr val="5F6272"/>
                </a:solidFill>
                <a:latin typeface="Segoe UI"/>
                <a:cs typeface="Segoe UI"/>
              </a:rPr>
              <a:t xml:space="preserve">(SE p. 203)</a:t>
            </a:r>
            <a:endParaRPr lang="en-US" sz="1800" dirty="0"/>
          </a:p>
        </p:txBody>
      </p:sp>
      <p:sp>
        <p:nvSpPr>
          <p:cNvPr id="10" name="Shape 10"/>
          <p:cNvSpPr txBox="1"/>
          <p:nvPr/>
        </p:nvSpPr>
        <p:spPr>
          <a:xfrm>
            <a:off x="5554843" y="2457450"/>
            <a:ext cx="5951052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 i="1">
                <a:solidFill>
                  <a:srgbClr val="16171D"/>
                </a:solidFill>
                <a:latin typeface="Segoe UI"/>
                <a:cs typeface="Segoe UI"/>
              </a:rPr>
              <a:t xml:space="preserve">y</a:t>
            </a: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 = 5</a:t>
            </a:r>
            <a:r>
              <a:rPr lang="en-US" sz="1800" dirty="0" b="1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 + 13</a:t>
            </a:r>
            <a:endParaRPr lang="en-US" sz="1800" dirty="0"/>
          </a:p>
        </p:txBody>
      </p:sp>
      <p:cxnSp>
        <p:nvCxnSpPr>
          <p:cNvPr id="11" name="Line 11"/>
          <p:cNvCxnSpPr/>
          <p:nvPr/>
        </p:nvCxnSpPr>
        <p:spPr>
          <a:xfrm>
            <a:off x="685800" y="3207258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2" name="Shape 12"/>
          <p:cNvSpPr txBox="1"/>
          <p:nvPr/>
        </p:nvSpPr>
        <p:spPr>
          <a:xfrm>
            <a:off x="685800" y="3207258"/>
            <a:ext cx="4869043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3. Write the equation of the line through (4, 1) and (4, −7). Is it horizontal or vertical? </a:t>
            </a:r>
            <a:r>
              <a:rPr lang="en-US" sz="1575" dirty="0">
                <a:solidFill>
                  <a:srgbClr val="5F6272"/>
                </a:solidFill>
                <a:latin typeface="Segoe UI"/>
                <a:cs typeface="Segoe UI"/>
              </a:rPr>
              <a:t xml:space="preserve">(SE p. 207)</a:t>
            </a:r>
            <a:endParaRPr lang="en-US" sz="1800" dirty="0"/>
          </a:p>
        </p:txBody>
      </p:sp>
      <p:sp>
        <p:nvSpPr>
          <p:cNvPr id="13" name="Shape 13"/>
          <p:cNvSpPr txBox="1"/>
          <p:nvPr/>
        </p:nvSpPr>
        <p:spPr>
          <a:xfrm>
            <a:off x="5554843" y="3207258"/>
            <a:ext cx="5951052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 = 4 </a:t>
            </a:r>
            <a:r>
              <a:rPr lang="en-US" sz="16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· vertical, slope undefined</a:t>
            </a:r>
            <a:endParaRPr lang="en-US" sz="1800" dirty="0"/>
          </a:p>
        </p:txBody>
      </p:sp>
      <p:cxnSp>
        <p:nvCxnSpPr>
          <p:cNvPr id="14" name="Line 14"/>
          <p:cNvCxnSpPr/>
          <p:nvPr/>
        </p:nvCxnSpPr>
        <p:spPr>
          <a:xfrm>
            <a:off x="685800" y="4231386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5" name="Shape 15"/>
          <p:cNvSpPr txBox="1"/>
          <p:nvPr/>
        </p:nvSpPr>
        <p:spPr>
          <a:xfrm>
            <a:off x="685800" y="4402836"/>
            <a:ext cx="10820095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 b="1">
                <a:solidFill>
                  <a:srgbClr val="16171D"/>
                </a:solidFill>
                <a:latin typeface="Segoe UI"/>
                <a:cs typeface="Segoe UI"/>
              </a:rPr>
              <a:t xml:space="preserve">Work: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For #3, both points have the same x-value, so the line is vertical.</a:t>
            </a:r>
            <a:endParaRPr lang="en-US" sz="1575" dirty="0"/>
          </a:p>
        </p:txBody>
      </p:sp>
      <p:sp>
        <p:nvSpPr>
          <p:cNvPr id="16" name="Shape 16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Lesson 4 Exit Ticket · Section 504 Version · Answer Key (teacher copy)</a:t>
            </a:r>
            <a:endParaRPr lang="en-US" sz="1125" dirty="0"/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Lesson 4 Exit Ticket Answer Key">
  <a:themeElements>
    <a:clrScheme name="Lesson">
      <a:dk1>
        <a:srgbClr val="16171D"/>
      </a:dk1>
      <a:lt1>
        <a:srgbClr val="FFFFFF"/>
      </a:lt1>
      <a:dk2>
        <a:srgbClr val="233D94"/>
      </a:dk2>
      <a:lt2>
        <a:srgbClr val="F7F7FB"/>
      </a:lt2>
      <a:accent1>
        <a:srgbClr val="C9561F"/>
      </a:accent1>
      <a:accent2>
        <a:srgbClr val="3050B8"/>
      </a:accent2>
      <a:accent3>
        <a:srgbClr val="4F8A3C"/>
      </a:accent3>
      <a:accent4>
        <a:srgbClr val="7A5AC8"/>
      </a:accent4>
      <a:accent5>
        <a:srgbClr val="C23B6B"/>
      </a:accent5>
      <a:accent6>
        <a:srgbClr val="4F8A3C"/>
      </a:accent6>
      <a:hlink>
        <a:srgbClr val="3050B8"/>
      </a:hlink>
      <a:folHlink>
        <a:srgbClr val="7A5AC8"/>
      </a:folHlink>
    </a:clrScheme>
    <a:fontScheme name="Lesson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Lesson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Notes">
  <a:themeElements>
    <a:clrScheme name="Lesson">
      <a:dk1>
        <a:srgbClr val="16171D"/>
      </a:dk1>
      <a:lt1>
        <a:srgbClr val="FFFFFF"/>
      </a:lt1>
      <a:dk2>
        <a:srgbClr val="233D94"/>
      </a:dk2>
      <a:lt2>
        <a:srgbClr val="F7F7FB"/>
      </a:lt2>
      <a:accent1>
        <a:srgbClr val="C9561F"/>
      </a:accent1>
      <a:accent2>
        <a:srgbClr val="3050B8"/>
      </a:accent2>
      <a:accent3>
        <a:srgbClr val="4F8A3C"/>
      </a:accent3>
      <a:accent4>
        <a:srgbClr val="7A5AC8"/>
      </a:accent4>
      <a:accent5>
        <a:srgbClr val="C23B6B"/>
      </a:accent5>
      <a:accent6>
        <a:srgbClr val="4F8A3C"/>
      </a:accent6>
      <a:hlink>
        <a:srgbClr val="3050B8"/>
      </a:hlink>
      <a:folHlink>
        <a:srgbClr val="7A5AC8"/>
      </a:folHlink>
    </a:clrScheme>
    <a:fontScheme name="Lesson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Lesson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Microsoft Office PowerPoint</Application>
  <Slides>2</Slides>
  <Notes>2</Notes>
</Properties>
</file>

<file path=docProps/core.xml><?xml version="1.0" encoding="utf-8"?>
<cp:coreProperties xmlns:cp="http://schemas.openxmlformats.org/package/2006/metadata/core-properties" xmlns:dc="http://purl.org/dc/elements/1.1/">
  <dc:title>Lesson 4 Exit Ticket Answer Key</dc:title>
  <dc:subject>Bluebonnet Algebra I</dc:subject>
</cp:coreProperties>
</file>