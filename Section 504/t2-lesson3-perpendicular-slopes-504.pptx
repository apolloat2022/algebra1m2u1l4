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rotate a segment 90° at a time, prove that perpendicular lines have negative reciprocal slopes, work with horizontal and vertical lines, and write equations of perpendicular lines. Two days on the 150-day calendar: Day 1 Getting Started and Activity 3.1; Day 2 Activities 3.2, 3.3 and Talk the Talk. Materials: patty paper, straightedges.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Flip the fraction: ⅔ · 3/2 = 1. 2. A 90° counterclockwise rotation maps (x, y) to (−y, x). 3. Slope = (5 − 0) ÷ (8 − 0) = 5/8. 4. Slope = (−2 − 4) ÷ (2 − (−1)) = −6 ÷ 3 = −2.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preview the key terms before the lesson. Leave this slide up or print it as a reference card.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15–20 minutes. Patty paper helps: trace the segment and the axes, then turn the paper a quarter turn.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3.1, 20–25 minutes. Students read the three graphs in their book (SE p. 307) and write the equations.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restate each step. Question 3 asks for the same proof with a clockwise rotation: R(a, b) maps to D(b, −a), so m₂ = −a/b and again m₁ = −1/m₂.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Stamp the learning: perpendicular lines have slopes that are negative reciprocals. End of Day 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1: How do you find the slope of a perpendicular line?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Perpendicular slopes are negative reciprocals: ⅔ · (−3/2) = −1. 2. On a horizontal line y never changes, so the rise is 0. 3. Every point on a vertical line has the same x-value, here 2. 4. Perpendicular slope: −½. Put in the point: 1 = −½(4) + b = −2 + b, so b = 3.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3.2, 15–20 minutes. Memory trick from Topic 1: HOY VUX.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8–10 assess the lesson. For more practice, assign Skills Practice Set A.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3.3, 15–20 minutes. TE wording slip: for Question 2 the teacher guide says the given slope is 3/4; it is −3/4.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teacher guide prints the slope formula with y₂ − y₁ in the denominator; it is x₂ − x₁. Its numbers are correct. For more practice, assign Skills Practice Set B.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graph in the book (SE p. 314). The x-axis counts 1 per square and the y-axis 1 per 2 squares, so the lines look perpendicular but aren't.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Flip and change the sign. 2. Slope −1/3: 1 = −1/3(3) + b, so b = 2. 3. A vertical line keeps x the same.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3 Assignment. In a function each input has exactly one output; in set 4 the input −1 has four outputs.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Section 504/t2-lesson3-bellwork-day1-504.html" TargetMode="External"/><Relationship Id="rId4" Type="http://schemas.openxmlformats.org/officeDocument/2006/relationships/hyperlink" Target="https://algebra1m2u1l4.vercel.app/Section 504/t2-lesson3-bellwork-day2-504.html" TargetMode="External"/><Relationship Id="rId5" Type="http://schemas.openxmlformats.org/officeDocument/2006/relationships/hyperlink" Target="https://algebra1m2u1l4.vercel.app/Section 504/t2-lesson3-homework-504.html" TargetMode="External"/><Relationship Id="rId6" Type="http://schemas.openxmlformats.org/officeDocument/2006/relationships/hyperlink" Target="https://algebra1m2u1l4.vercel.app/Section 504/t2-lesson3-quiz-504.html" TargetMode="External"/><Relationship Id="rId7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algebra1m2u1l4.vercel.app/Section 504/t2-lesson3-bellwork-day1-504.html" TargetMode="External"/><Relationship Id="rId4" Type="http://schemas.openxmlformats.org/officeDocument/2006/relationships/hyperlink" Target="https://algebra1m2u1l4.vercel.app/Section 504/t2-lesson3-bellwork-day2-504.html" TargetMode="External"/><Relationship Id="rId5" Type="http://schemas.openxmlformats.org/officeDocument/2006/relationships/hyperlink" Target="https://algebra1m2u1l4.vercel.app/Section 504/t2-lesson3-homework-504.html" TargetMode="External"/><Relationship Id="rId6" Type="http://schemas.openxmlformats.org/officeDocument/2006/relationships/hyperlink" Target="https://algebra1m2u1l4.vercel.app/Section 504/t2-lesson3-quiz-504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3 · Student Edition pp. 305–318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13350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Determining Slopes of Perpendicular Lines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0621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550" dirty="0" b="1" baseline="-25000">
                <a:solidFill>
                  <a:srgbClr val="C9561F"/>
                </a:solidFill>
                <a:latin typeface="Cambria"/>
                <a:cs typeface="Cambria"/>
              </a:rPr>
              <a:t xml:space="preserve">1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550" dirty="0" b="1" baseline="-25000">
                <a:solidFill>
                  <a:srgbClr val="C9561F"/>
                </a:solidFill>
                <a:latin typeface="Cambria"/>
                <a:cs typeface="Cambria"/>
              </a:rPr>
              <a:t xml:space="preserve">2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24688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Section 504 Version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0466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0530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reciprocal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⅔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6103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4665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Rotate the point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90° counterclockwise about the origin. Where does it go?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306)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(−5, 8)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is the slope of the segment from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306)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5/8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A line passes through the points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(−1, 4)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−2)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slope of the line?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Getting Started: rotate a segment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3.1: slopes of perpendicular lines ★ Essential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SE p. 305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Identify and write the equations of lines perpendicular to given lines.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Identify and write the equations of horizontal and vertical lines.</a:t>
            </a:r>
            <a:endParaRPr lang="en-US" sz="19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Lesson 3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that meet at a right angle (90°).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⊥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Reciprocal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fraction. A number times its reciprocal is 1.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→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 and change the sign.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→ −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Rotation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Turning a figure about a point.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914138"/>
            <a:ext cx="307329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90°: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→ (−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line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2839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number. Slope 0.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67410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line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2839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number. Slope undefined.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467410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305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translated graphs of linear equations to find the slopes of parallel lines.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rotate the graphs of linear equations to determine the slopes of perpendicular lines?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Coordinate Rotation · SE p. 306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Rotate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about the origin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1828800" y="1618488"/>
            <a:ext cx="142036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Original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3249168" y="1618488"/>
            <a:ext cx="131140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90°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4560570" y="1618488"/>
            <a:ext cx="142036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180°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5980938" y="1618488"/>
            <a:ext cx="131140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270°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016252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3249168" y="2016252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3249168" y="2016252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4560570" y="2016252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4560570" y="2016252"/>
            <a:ext cx="1420368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5980938" y="2016252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5980938" y="2016252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2414016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3249168" y="2414016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3249168" y="2414016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(−5, 8)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4560570" y="2414016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4560570" y="2414016"/>
            <a:ext cx="1420368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(−8, −5)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5980938" y="2414016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5980938" y="2414016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(5, −8)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685800" y="290703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90° counterclockwise turn maps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A is the center, so it stays.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685800" y="35372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Slopes: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″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″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5/8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‴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‴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−8/5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392734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two slopes are reciprocals with opposite signs: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(5/8)(−8/5) =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8" name="Shape 28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29" name="Line 29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7604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9107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70610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2113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3616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5118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621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8124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81130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82633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84135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85638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87141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88644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90147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91650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43595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610198" y="42050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0505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6610198" y="38960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6610198" y="37415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6610198" y="35869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6610198" y="34324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6610198" y="32779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6610198" y="29689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6610198" y="28144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6610198" y="26598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6610198" y="25053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6610198" y="23508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6610198" y="2196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6610198" y="20418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6610198" y="18873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69" name="Shape 69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70" name="Shape 70"/>
          <p:cNvSpPr txBox="1"/>
          <p:nvPr/>
        </p:nvSpPr>
        <p:spPr>
          <a:xfrm>
            <a:off x="67867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71" name="Shape 71"/>
          <p:cNvSpPr txBox="1"/>
          <p:nvPr/>
        </p:nvSpPr>
        <p:spPr>
          <a:xfrm>
            <a:off x="72375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2" name="Shape 72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3" name="Shape 73"/>
          <p:cNvSpPr txBox="1"/>
          <p:nvPr/>
        </p:nvSpPr>
        <p:spPr>
          <a:xfrm>
            <a:off x="81392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5901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6043270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6043270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6043270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6043270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cxnSp>
        <p:nvCxnSpPr>
          <p:cNvPr id="83" name="Line 83"/>
          <p:cNvCxnSpPr/>
          <p:nvPr/>
        </p:nvCxnSpPr>
        <p:spPr>
          <a:xfrm flipV="1">
            <a:off x="7962748" y="2350855"/>
            <a:ext cx="1202267" cy="77258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7211331" y="1887305"/>
            <a:ext cx="751417" cy="12361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cxnSp>
        <p:nvCxnSpPr>
          <p:cNvPr id="85" name="Line 85"/>
          <p:cNvCxnSpPr/>
          <p:nvPr/>
        </p:nvCxnSpPr>
        <p:spPr>
          <a:xfrm flipV="1">
            <a:off x="6760481" y="3123438"/>
            <a:ext cx="1202267" cy="772583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cxnSp>
        <p:nvCxnSpPr>
          <p:cNvPr id="86" name="Line 86"/>
          <p:cNvCxnSpPr/>
          <p:nvPr/>
        </p:nvCxnSpPr>
        <p:spPr>
          <a:xfrm>
            <a:off x="7962748" y="3123438"/>
            <a:ext cx="751417" cy="12361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87" name="Shape 87"/>
          <p:cNvSpPr/>
          <p:nvPr/>
        </p:nvSpPr>
        <p:spPr>
          <a:xfrm>
            <a:off x="9112627" y="229846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8" name="Shape 88"/>
          <p:cNvSpPr txBox="1"/>
          <p:nvPr/>
        </p:nvSpPr>
        <p:spPr>
          <a:xfrm>
            <a:off x="9250739" y="21032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</a:t>
            </a:r>
            <a:endParaRPr lang="en-US" sz="1125" dirty="0"/>
          </a:p>
        </p:txBody>
      </p:sp>
      <p:sp>
        <p:nvSpPr>
          <p:cNvPr id="89" name="Shape 89"/>
          <p:cNvSpPr/>
          <p:nvPr/>
        </p:nvSpPr>
        <p:spPr>
          <a:xfrm>
            <a:off x="7158943" y="183491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0" name="Shape 90"/>
          <p:cNvSpPr txBox="1"/>
          <p:nvPr/>
        </p:nvSpPr>
        <p:spPr>
          <a:xfrm>
            <a:off x="7297056" y="163965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B′</a:t>
            </a:r>
            <a:endParaRPr lang="en-US" sz="1125" dirty="0"/>
          </a:p>
        </p:txBody>
      </p:sp>
      <p:sp>
        <p:nvSpPr>
          <p:cNvPr id="91" name="Shape 91"/>
          <p:cNvSpPr/>
          <p:nvPr/>
        </p:nvSpPr>
        <p:spPr>
          <a:xfrm>
            <a:off x="6708093" y="384363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2" name="Shape 92"/>
          <p:cNvSpPr txBox="1"/>
          <p:nvPr/>
        </p:nvSpPr>
        <p:spPr>
          <a:xfrm>
            <a:off x="6846206" y="364837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B″</a:t>
            </a:r>
            <a:endParaRPr lang="en-US" sz="1125" dirty="0"/>
          </a:p>
        </p:txBody>
      </p:sp>
      <p:sp>
        <p:nvSpPr>
          <p:cNvPr id="93" name="Shape 93"/>
          <p:cNvSpPr/>
          <p:nvPr/>
        </p:nvSpPr>
        <p:spPr>
          <a:xfrm>
            <a:off x="8661777" y="430718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4" name="Shape 94"/>
          <p:cNvSpPr txBox="1"/>
          <p:nvPr/>
        </p:nvSpPr>
        <p:spPr>
          <a:xfrm>
            <a:off x="8799889" y="411192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B‴</a:t>
            </a:r>
            <a:endParaRPr lang="en-US" sz="1125" dirty="0"/>
          </a:p>
        </p:txBody>
      </p:sp>
      <p:sp>
        <p:nvSpPr>
          <p:cNvPr id="95" name="Slide Number 9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Slopes of Perpendicular Lines · SE p. 307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line and its 90° rotation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79698" cy="19461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7426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55998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B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65548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65548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26197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C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35747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+ 9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35747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3/2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4447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line is rotated 90°, so the lines meet at a right angle: they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491109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slopes of each pair are reciprocals with opposite signs.</a:t>
            </a:r>
            <a:endParaRPr lang="en-US" sz="1575" dirty="0"/>
          </a:p>
        </p:txBody>
      </p:sp>
      <p:sp>
        <p:nvSpPr>
          <p:cNvPr id="18" name="Slide Number 1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Worked Example · SE p. 308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Proof: perpendicular slopes are negative reciprocals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Given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⊥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Point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1061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Rotate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90° counterclockwise about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it lands on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5983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₁ =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/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₂ =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/(−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69030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= −1 · (−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19252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= −1/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=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6286348" y="2144268"/>
            <a:ext cx="3238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661019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89023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17026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45030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73033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01037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29040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57044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85047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13051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41054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75411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442174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13023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818287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50634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194399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882455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570512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25856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7730338" y="2258568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506343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633587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661591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689594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17598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45601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773605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01608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829612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857615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885619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913622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46626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35073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40387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72684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4149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310295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79101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247907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21671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52" name="Line 52"/>
          <p:cNvCxnSpPr/>
          <p:nvPr/>
        </p:nvCxnSpPr>
        <p:spPr>
          <a:xfrm flipV="1">
            <a:off x="6610198" y="2570512"/>
            <a:ext cx="2800350" cy="1559719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3" name="Shape 53"/>
          <p:cNvSpPr txBox="1"/>
          <p:nvPr/>
        </p:nvSpPr>
        <p:spPr>
          <a:xfrm>
            <a:off x="6918808" y="258956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1275" dirty="0"/>
          </a:p>
        </p:txBody>
      </p:sp>
      <p:cxnSp>
        <p:nvCxnSpPr>
          <p:cNvPr id="54" name="Line 54"/>
          <p:cNvCxnSpPr/>
          <p:nvPr/>
        </p:nvCxnSpPr>
        <p:spPr>
          <a:xfrm>
            <a:off x="7170268" y="2258568"/>
            <a:ext cx="1120140" cy="2495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5" name="Shape 55"/>
          <p:cNvSpPr txBox="1"/>
          <p:nvPr/>
        </p:nvSpPr>
        <p:spPr>
          <a:xfrm>
            <a:off x="7246468" y="227761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endParaRPr lang="en-US" sz="1275" dirty="0"/>
          </a:p>
        </p:txBody>
      </p:sp>
      <p:sp>
        <p:nvSpPr>
          <p:cNvPr id="56" name="Shape 56"/>
          <p:cNvSpPr/>
          <p:nvPr/>
        </p:nvSpPr>
        <p:spPr>
          <a:xfrm>
            <a:off x="8238020" y="314201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7" name="Shape 57"/>
          <p:cNvSpPr txBox="1"/>
          <p:nvPr/>
        </p:nvSpPr>
        <p:spPr>
          <a:xfrm>
            <a:off x="8376133" y="2946749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R(a, b)</a:t>
            </a:r>
            <a:endParaRPr lang="en-US" sz="1125" dirty="0"/>
          </a:p>
        </p:txBody>
      </p:sp>
      <p:sp>
        <p:nvSpPr>
          <p:cNvPr id="58" name="Shape 58"/>
          <p:cNvSpPr/>
          <p:nvPr/>
        </p:nvSpPr>
        <p:spPr>
          <a:xfrm>
            <a:off x="7397915" y="283006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9" name="Shape 59"/>
          <p:cNvSpPr txBox="1"/>
          <p:nvPr/>
        </p:nvSpPr>
        <p:spPr>
          <a:xfrm>
            <a:off x="7536028" y="26348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D(−b, a)</a:t>
            </a:r>
            <a:endParaRPr lang="en-US" sz="1125" dirty="0"/>
          </a:p>
        </p:txBody>
      </p:sp>
      <p:sp>
        <p:nvSpPr>
          <p:cNvPr id="60" name="Slide Number 6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Question 4 · SE p. 309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⊥ 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. Find the slope of 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⅔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4419498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−⅘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4419498" y="212293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5/4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8153197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8153197" y="212293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281330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 and change the sign. Check: the product is −1.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90° rotation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→ (−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slopes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reciprocals. Their product is −1.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 · (−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−1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slopes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Equal.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64236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rotate the graphs of linear equations to determine the slopes of perpendicular lines?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Line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has slope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⅔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Line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perpendicular to it.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309)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any horizontal line?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310)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is the equation of the vertical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−1)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311)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Which equation represents a line perpendicular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that passes through the point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(4, 1)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312)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3.2: horizontal and vertical lines ★ Essential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3.3: write perpendicular lines ★ Essential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Talk the Talk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Horizontal and Vertical Lines · SE pp. 310–311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Extend the segments into lines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vertical: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Lines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are horizontal: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248662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20112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</a:t>
            </a:r>
            <a:endParaRPr lang="en-US" sz="210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goes up 1,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doesn't change. Slope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= 0/(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 =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691890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863340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333494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goes up 1,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doesn't change. Slope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= 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₁)/0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undefined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6286348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66101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5518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690018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04517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719016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733515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4801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62513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77013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791512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06011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20510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3500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49508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864008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878507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893006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907505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92200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2696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41203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9711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8219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6727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523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33742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32250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29265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6610198" y="27773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26281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610198" y="24789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610198" y="23296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6610198" y="21804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6610198" y="20312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18820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755189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2696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48086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706083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7640803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822076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880073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41781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35812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6043270" y="23874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6043270" y="17905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7335156" y="1732788"/>
            <a:ext cx="0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3" name="Shape 63"/>
          <p:cNvSpPr txBox="1"/>
          <p:nvPr/>
        </p:nvSpPr>
        <p:spPr>
          <a:xfrm>
            <a:off x="7411356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1275" dirty="0"/>
          </a:p>
        </p:txBody>
      </p:sp>
      <p:cxnSp>
        <p:nvCxnSpPr>
          <p:cNvPr id="64" name="Line 64"/>
          <p:cNvCxnSpPr/>
          <p:nvPr/>
        </p:nvCxnSpPr>
        <p:spPr>
          <a:xfrm>
            <a:off x="6610198" y="36727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5" name="Shape 65"/>
          <p:cNvSpPr txBox="1"/>
          <p:nvPr/>
        </p:nvSpPr>
        <p:spPr>
          <a:xfrm>
            <a:off x="6728308" y="36917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endParaRPr lang="en-US" sz="1275" dirty="0"/>
          </a:p>
        </p:txBody>
      </p:sp>
      <p:cxnSp>
        <p:nvCxnSpPr>
          <p:cNvPr id="66" name="Line 66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7" name="Shape 67"/>
          <p:cNvSpPr txBox="1"/>
          <p:nvPr/>
        </p:nvSpPr>
        <p:spPr>
          <a:xfrm>
            <a:off x="6728308" y="30948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endParaRPr lang="en-US" sz="1275" dirty="0"/>
          </a:p>
        </p:txBody>
      </p:sp>
      <p:cxnSp>
        <p:nvCxnSpPr>
          <p:cNvPr id="68" name="Line 68"/>
          <p:cNvCxnSpPr/>
          <p:nvPr/>
        </p:nvCxnSpPr>
        <p:spPr>
          <a:xfrm>
            <a:off x="6610198" y="24789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9" name="Shape 69"/>
          <p:cNvSpPr txBox="1"/>
          <p:nvPr/>
        </p:nvSpPr>
        <p:spPr>
          <a:xfrm>
            <a:off x="6728308" y="24979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endParaRPr lang="en-US" sz="1275" dirty="0"/>
          </a:p>
        </p:txBody>
      </p:sp>
      <p:sp>
        <p:nvSpPr>
          <p:cNvPr id="70" name="Shape 70"/>
          <p:cNvSpPr/>
          <p:nvPr/>
        </p:nvSpPr>
        <p:spPr>
          <a:xfrm>
            <a:off x="7282768" y="24265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1" name="Shape 71"/>
          <p:cNvSpPr txBox="1"/>
          <p:nvPr/>
        </p:nvSpPr>
        <p:spPr>
          <a:xfrm>
            <a:off x="7420881" y="22312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K</a:t>
            </a:r>
            <a:endParaRPr lang="en-US" sz="1125" dirty="0"/>
          </a:p>
        </p:txBody>
      </p:sp>
      <p:sp>
        <p:nvSpPr>
          <p:cNvPr id="72" name="Shape 72"/>
          <p:cNvSpPr/>
          <p:nvPr/>
        </p:nvSpPr>
        <p:spPr>
          <a:xfrm>
            <a:off x="7282768" y="30234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7420881" y="28281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F</a:t>
            </a:r>
            <a:endParaRPr lang="en-US" sz="1125" dirty="0"/>
          </a:p>
        </p:txBody>
      </p:sp>
      <p:sp>
        <p:nvSpPr>
          <p:cNvPr id="74" name="Shape 74"/>
          <p:cNvSpPr/>
          <p:nvPr/>
        </p:nvSpPr>
        <p:spPr>
          <a:xfrm>
            <a:off x="7282768" y="3620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5" name="Shape 75"/>
          <p:cNvSpPr txBox="1"/>
          <p:nvPr/>
        </p:nvSpPr>
        <p:spPr>
          <a:xfrm>
            <a:off x="7420881" y="3425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G</a:t>
            </a:r>
            <a:endParaRPr lang="en-US" sz="1125" dirty="0"/>
          </a:p>
        </p:txBody>
      </p:sp>
      <p:sp>
        <p:nvSpPr>
          <p:cNvPr id="76" name="Shape 76"/>
          <p:cNvSpPr/>
          <p:nvPr/>
        </p:nvSpPr>
        <p:spPr>
          <a:xfrm>
            <a:off x="8732685" y="24265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7" name="Shape 77"/>
          <p:cNvSpPr txBox="1"/>
          <p:nvPr/>
        </p:nvSpPr>
        <p:spPr>
          <a:xfrm>
            <a:off x="8870798" y="22312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L</a:t>
            </a:r>
            <a:endParaRPr lang="en-US" sz="1125" dirty="0"/>
          </a:p>
        </p:txBody>
      </p:sp>
      <p:sp>
        <p:nvSpPr>
          <p:cNvPr id="78" name="Shape 78"/>
          <p:cNvSpPr/>
          <p:nvPr/>
        </p:nvSpPr>
        <p:spPr>
          <a:xfrm>
            <a:off x="8732685" y="30234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9" name="Shape 79"/>
          <p:cNvSpPr txBox="1"/>
          <p:nvPr/>
        </p:nvSpPr>
        <p:spPr>
          <a:xfrm>
            <a:off x="8870798" y="28281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J</a:t>
            </a:r>
            <a:endParaRPr lang="en-US" sz="1125" dirty="0"/>
          </a:p>
        </p:txBody>
      </p:sp>
      <p:sp>
        <p:nvSpPr>
          <p:cNvPr id="80" name="Shape 80"/>
          <p:cNvSpPr/>
          <p:nvPr/>
        </p:nvSpPr>
        <p:spPr>
          <a:xfrm>
            <a:off x="8732685" y="3620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1" name="Shape 81"/>
          <p:cNvSpPr txBox="1"/>
          <p:nvPr/>
        </p:nvSpPr>
        <p:spPr>
          <a:xfrm>
            <a:off x="8870798" y="3425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H</a:t>
            </a:r>
            <a:endParaRPr lang="en-US" sz="1125" dirty="0"/>
          </a:p>
        </p:txBody>
      </p:sp>
      <p:sp>
        <p:nvSpPr>
          <p:cNvPr id="82" name="Slide Number 8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Questions 6–10 · SE p. 311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Always, sometimes, or never?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vertical lines are parallel.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Their slopes are all undefined.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3987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horizontal lines are parallel.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7889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Their slopes are all 0.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17906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line and a horizontal line?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356920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 perpendicular.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(2, −1)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008632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26228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012948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286348" y="36271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286348" y="4017264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Writing Equations of Perpendicular Lines · SE p. 312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Use the negative reciprocal slope and point-slope form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(6, 2)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3441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−½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 = −½(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− 6)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2455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214426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−¾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(3, −8)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53441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4/3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 = 4/3(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924556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4/3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− 12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Questions 3–5 · SE pp. 312–313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First find the slope of the given line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(6, 2)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⊥ to the line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3)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(−1, −9)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−12/4 = −3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⅓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3880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4381398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4.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(−2, 7)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⊥ to the line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(−6, 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(0, 4)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4381398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3/6 = ½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−2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81398" y="2638806"/>
            <a:ext cx="34288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8076997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5. Lines meet at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(5, 9)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; one passes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(−4, 4)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8076997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5/9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−9/5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76997" y="2638806"/>
            <a:ext cx="34288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−9/5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+ 18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Things Aren't Always What They Seem · SE p. 314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Linh or Jackson?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Linh says lines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are parallel to each other and perpendicular to lines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Jackson says they are parallel but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perpendicular to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Jackson is correct.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axes use different scales.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0550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 slope 1, so they are parallel. Lines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 slope −¼.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7185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 · (−¼) ≠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the slopes are not negative reciprocals, so the lines are not perpendicular.</a:t>
            </a:r>
            <a:endParaRPr lang="en-US" sz="157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23881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and vertical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580132"/>
            <a:ext cx="30732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number, slope 0.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number, slope undefined.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They are always perpendicular.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23881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a perpendicular line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580132"/>
            <a:ext cx="30732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Find the given slope.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Take the negative reciprocal.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Use the point: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339" dirty="0" baseline="-2500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339" dirty="0" baseline="-2500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23881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Check the scale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can look perpendicular on a stretched grid. Check the slopes.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41780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does rotation give perpendicular slopes?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90° rotation maps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so a slope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becomes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181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lines have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slopes: their product is −1.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072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Any vertical line is perpendicular to any horizontal line.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slope is perpendicular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−5/2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2/5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7520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line ⊥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(3, 1)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47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Write the vertical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(−4, 7)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4111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317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Does each set of ordered pairs represent a function?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{(−1, −1), (0, 0), (1, 1), (2, 2)}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238723" y="2144268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03042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{(−1, −2), (0, 0), (1, 2), (2, 4)}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38723" y="300304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61816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 {(−1, −1), (0, −1), (1, −1), (2, −1)}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38723" y="3861816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720590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4. {(−1, −1), (−1, 0), (−1, 1), (−1, 2)}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38723" y="4720590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Not a function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3 Assignment (SE pp. 315–317).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termining Slopes of Perpendicular Lin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24</Slides>
  <Notes>24</Notes>
</Properties>
</file>

<file path=docProps/core.xml><?xml version="1.0" encoding="utf-8"?>
<cp:coreProperties xmlns:cp="http://schemas.openxmlformats.org/package/2006/metadata/core-properties" xmlns:dc="http://purl.org/dc/elements/1.1/">
  <dc:title>Determining Slopes of Perpendicular Lines</dc:title>
  <dc:subject>Bluebonnet Algebra I</dc:subject>
</cp:coreProperties>
</file>