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compare horizontal transformations f(x − c) and f(bx) with the vertical ones from Lesson 1. For f(x) = x, a horizontal translation right n matches a vertical translation down n, and a vertical dilation by n matches a horizontal dilation by 1/n, but these pairs do not match for other linear functions. Two days on the 150-day calendar: Day 1 Getting Started and Activity 2.1; Day 2 Activities 2.2, 2.3 and Talk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Monday, October 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1 bell work. Reveal the answers one at a time. Answer key: 1. Subtracting from the output is a vertical translation down 3. 2. In y = mx + b, m is the slope. 3. Set g(x) = 0: 3x − 8 = 0, so x = 8/3. 4. The slope −⅔ is negative, so the line falls from left to right.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5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5.4, 20–25 minutes. To begin Day 3, have a student read the Essential Question aloud. Have pairs work Questions 1–10, then share. Write the y-intercepts as ordered pairs. For #5 the trap is reading (3, −9) as the y-intercept; that's just a point. Distribute: y + 9 = 6x − 18, so y = 6x − 27. For #2, ask: How did you find the slope? What's another way? (−A/B = −4/6, or solve for y.) Look for students who drop the sign of B when using −A/B.</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20–25 minutes. Have pairs complete Questions 1–3, then share. For each context students write an equation, name the form and why, graph it, and explain the graphing method. Ask: Does 2x + 3y = 36 or 3x + 2y = 36 represent this? Which axis is which? Reasoning will vary; using the intercepts is natural because the equation is in standard form. Only whole-number points make sense (Joey can't get half a question right), such as (3, 10) and (9, 6). Note: the student book also lists a bullet about matching transformed graphs to f(x); it doesn't apply to these questions, so skip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their own answers first, then reveal the sample answers from the teacher guide one row at a time. Accept other reasonable answers. Teacher-guide tip for emergent bilingual students: have pairs make a table comparing the three forms, with one example line written in each form, such as y − 5 = 2(x − 4), y = 2x − 3, and 2x − y = 3, and describe the advantages of each.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preview the key terms before the lesson. Leave this slide up or print it as a reference card.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come back to it at the end of the lesson.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5–10 minutes. To find the x-intercept, set the function equal to 0: 3x − 8 = 0 gives x = 8/3; −(2/3)x + 5 = 0 gives x = 7.5.</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2.1, 30–35 minutes. A horizontal translation left 3 subtracts 3 from each input value; the outputs stay the same.Ask: Which values were affected? (Left 3 changed the inputs; up 3 changed the outputs.)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sign: f(x − 3) moves right 3, f(x + 3) moves left 3.</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Teacher-guide misconception: students expect left 4 to equal up 4 for every line. It works only for slope 1. Slide typos in the student slides: some items labeled 'a.' are b, c and 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Monday, October 26.</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October 27.</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2 bell work. Reveal the answers one at a time. Answer key: 1. A horizontal translation right 5 subtracts 5 from the input: f(x − 5). 2. f(x − 5) = x − 5 = f(x) − 5, a vertical translation down 5. 3. 2(x + 4) − 1 = 2x + 8 − 1 = 2x + 7. 4. f(2x) = 2x and 2f(x) = 2x. For the parent function they match.</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10–15 minutes. Have pairs complete Question 1 before you reveal anything, then share as a class. Teacher-guide misconception: students may think that because they know a formula for a relationship, like Scenario C, the relationship must be linear. Have them use the formula to make a table (side 1, 2, 3 → area 1, 4, 9; the differences are 3 and 5, not constant). Ask: What is another way to describe "decreases by 50% each hour"? (Multiplied by one-half each hour.) Which feature identifies whether an equation is a linear function? (The variable's exponent is 1 and it isn't in an exponent.)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6.1, 25–30 minutes. Read the introduction together, then have pairs complete Questions 1–4 and share. Teacher-guide misconception: students try first differences even though the inputs aren't consecutive. In part (b) the y-values go up by 8 every time, which looks linear, but the last x-step is 4, not 2, so the rate drops to 2. Ask: Why can't you use first differences here? How did you find the y-intercept in part (a)? (Go back 1 from x = 1: y goes up 0.25 to 5.) The teacher guide writes the answer as f(x) = −0.25x + 5.</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Stamp the learning, from the teacher guide: "If a table represents a linear function, the slope, or average rate of change, is constant between all given points." To close Day 1, have students reread the Essential Question and read the activity summaries to the class. End of Day 1.</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2.2, 15–20 minutes. Changing the inputs by a factor of 1/2 is a horizontal compression: each point moves halfway to the y-axis.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are the tables different if the graphs are the same? (They list different points of the same line.)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Counterexamples will vary; any linear function other than f(x) = x works.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2.3, 15–20 minutes. Graph each g(x) on the grids in the book: plot the y-intercept and use the slope. Slide typo in the student slides: items 2, 3, 5 and 6 are numbered '1.'</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5 minutes. For f(x) = x, f(x) + 8 is also f(x + 8), and f(⅓x) is also ⅓f(x).</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Work: 1. Adding to the input moves left. 2. 3(x − 2) + 1 = 3x − 5. 3. f(5x) = 5x = 5f(x).</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October 27.</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2 Assignment. TE correction: the teacher guide gives the reciprocal of −10 as 1/10; it is −1/10, since (−10)(−1/10) = 1.</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The 150-day pacing calendar (topic2-pacing-150.html) gives the day for each homework and quiz.</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Section 504/t2-lesson2-bellwork-day1-504.html" TargetMode="External"/><Relationship Id="rId4" Type="http://schemas.openxmlformats.org/officeDocument/2006/relationships/hyperlink" Target="https://algebra1m2u1l4.vercel.app/Section 504/t2-lesson2-bellwork-day2-504.html" TargetMode="External"/><Relationship Id="rId5" Type="http://schemas.openxmlformats.org/officeDocument/2006/relationships/hyperlink" Target="https://algebra1m2u1l4.vercel.app/Section 504/t2-lesson2-homework-504.html" TargetMode="External"/><Relationship Id="rId6" Type="http://schemas.openxmlformats.org/officeDocument/2006/relationships/hyperlink" Target="https://algebra1m2u1l4.vercel.app/Section 504/t2-lesson2-quiz-504.html" TargetMode="External"/><Relationship Id="rId7"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Section 504/lesson5-homework-504.html" TargetMode="External"/><Relationship Id="rId4" Type="http://schemas.openxmlformats.org/officeDocument/2006/relationships/hyperlink" Target="https://algebra1m2u1l4.vercel.app/Section 504/lesson5-quiz-504.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algebra1m2u1l4.vercel.app/Section 504/lesson6-homework-504.html" TargetMode="External"/><Relationship Id="rId4" Type="http://schemas.openxmlformats.org/officeDocument/2006/relationships/hyperlink" Target="https://algebra1m2u1l4.vercel.app/Section 504/lesson6-quiz-504.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https://algebra1m2u1l4.vercel.app/Section 504/t2-lesson2-bellwork-day1-504.html" TargetMode="External"/><Relationship Id="rId4" Type="http://schemas.openxmlformats.org/officeDocument/2006/relationships/hyperlink" Target="https://algebra1m2u1l4.vercel.app/Section 504/t2-lesson2-bellwork-day2-504.html" TargetMode="External"/><Relationship Id="rId5" Type="http://schemas.openxmlformats.org/officeDocument/2006/relationships/hyperlink" Target="https://algebra1m2u1l4.vercel.app/Section 504/t2-lesson2-homework-504.html" TargetMode="External"/><Relationship Id="rId6" Type="http://schemas.openxmlformats.org/officeDocument/2006/relationships/hyperlink" Target="https://algebra1m2u1l4.vercel.app/Section 504/t2-lesson2-quiz-504.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2 · Student Edition pp. 287–304</a:t>
            </a:r>
            <a:endParaRPr lang="en-US" sz="1200" dirty="0"/>
          </a:p>
        </p:txBody>
      </p:sp>
      <p:sp>
        <p:nvSpPr>
          <p:cNvPr id="3" name="Shape 3"/>
          <p:cNvSpPr txBox="1"/>
          <p:nvPr/>
        </p:nvSpPr>
        <p:spPr>
          <a:xfrm>
            <a:off x="685800" y="923544"/>
            <a:ext cx="10820095" cy="1335024"/>
          </a:xfrm>
          <a:prstGeom prst="rect">
            <a:avLst/>
          </a:prstGeom>
          <a:noFill/>
          <a:ln>
            <a:noFill/>
          </a:ln>
        </p:spPr>
        <p:txBody>
          <a:bodyPr wrap="square" lIns="36576" tIns="27432" rIns="36576" bIns="27432" anchor="t">
            <a:noAutofit/>
          </a:bodyPr>
          <a:lstStyle/>
          <a:p>
            <a:pPr algn="l">
              <a:lnSpc>
                <a:spcPct val="100000"/>
              </a:lnSpc>
            </a:pPr>
            <a:r>
              <a:rPr lang="en-US" sz="4200" dirty="0" b="1">
                <a:solidFill>
                  <a:srgbClr val="16171D"/>
                </a:solidFill>
                <a:latin typeface="Segoe UI"/>
                <a:cs typeface="Segoe UI"/>
              </a:rPr>
              <a:t xml:space="preserve">Vertical and Horizontal Transformations of Linear Functions</a:t>
            </a:r>
            <a:endParaRPr lang="en-US" sz="4200" dirty="0"/>
          </a:p>
        </p:txBody>
      </p:sp>
      <p:sp>
        <p:nvSpPr>
          <p:cNvPr id="4" name="Shape 4"/>
          <p:cNvSpPr txBox="1"/>
          <p:nvPr/>
        </p:nvSpPr>
        <p:spPr>
          <a:xfrm>
            <a:off x="685800" y="2430018"/>
            <a:ext cx="108200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Mon, Oct 26 · Day 2: Tue, Oct 27</a:t>
            </a:r>
            <a:endParaRPr lang="en-US" sz="1650" dirty="0"/>
          </a:p>
        </p:txBody>
      </p:sp>
      <p:sp>
        <p:nvSpPr>
          <p:cNvPr id="5" name="Shape 5"/>
          <p:cNvSpPr txBox="1"/>
          <p:nvPr/>
        </p:nvSpPr>
        <p:spPr>
          <a:xfrm>
            <a:off x="685800" y="3075432"/>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i="1">
                <a:solidFill>
                  <a:srgbClr val="16171D"/>
                </a:solidFill>
                <a:latin typeface="Cambria"/>
                <a:cs typeface="Cambria"/>
              </a:rPr>
              <a:t xml:space="preserve">y</a:t>
            </a:r>
            <a:r>
              <a:rPr lang="en-US" sz="3000" dirty="0">
                <a:solidFill>
                  <a:srgbClr val="16171D"/>
                </a:solidFill>
                <a:latin typeface="Cambria"/>
                <a:cs typeface="Cambria"/>
              </a:rPr>
              <a:t xml:space="preserve"> = </a:t>
            </a:r>
            <a:r>
              <a:rPr lang="en-US" sz="3000" dirty="0" b="1" i="1">
                <a:solidFill>
                  <a:srgbClr val="C9561F"/>
                </a:solidFill>
                <a:latin typeface="Cambria"/>
                <a:cs typeface="Cambria"/>
              </a:rPr>
              <a:t xml:space="preserve">a</a:t>
            </a:r>
            <a:r>
              <a:rPr lang="en-US" sz="3000" dirty="0">
                <a:solidFill>
                  <a:srgbClr val="16171D"/>
                </a:solidFill>
                <a:latin typeface="Cambria"/>
                <a:cs typeface="Cambria"/>
              </a:rPr>
              <a:t xml:space="preserve"> · </a:t>
            </a:r>
            <a:r>
              <a:rPr lang="en-US" sz="3000" dirty="0" i="1">
                <a:solidFill>
                  <a:srgbClr val="16171D"/>
                </a:solidFill>
                <a:latin typeface="Cambria"/>
                <a:cs typeface="Cambria"/>
              </a:rPr>
              <a:t xml:space="preserve">f</a:t>
            </a:r>
            <a:r>
              <a:rPr lang="en-US" sz="3000" dirty="0">
                <a:solidFill>
                  <a:srgbClr val="16171D"/>
                </a:solidFill>
                <a:latin typeface="Cambria"/>
                <a:cs typeface="Cambria"/>
              </a:rPr>
              <a:t xml:space="preserve">(</a:t>
            </a:r>
            <a:r>
              <a:rPr lang="en-US" sz="3000" dirty="0" b="1" i="1">
                <a:solidFill>
                  <a:srgbClr val="C9561F"/>
                </a:solidFill>
                <a:latin typeface="Cambria"/>
                <a:cs typeface="Cambria"/>
              </a:rPr>
              <a:t xml:space="preserve">b</a:t>
            </a:r>
            <a:r>
              <a:rPr lang="en-US" sz="3000" dirty="0">
                <a:solidFill>
                  <a:srgbClr val="16171D"/>
                </a:solidFill>
                <a:latin typeface="Cambria"/>
                <a:cs typeface="Cambria"/>
              </a:rPr>
              <a:t xml:space="preserve">(</a:t>
            </a:r>
            <a:r>
              <a:rPr lang="en-US" sz="3000" dirty="0" i="1">
                <a:solidFill>
                  <a:srgbClr val="16171D"/>
                </a:solidFill>
                <a:latin typeface="Cambria"/>
                <a:cs typeface="Cambria"/>
              </a:rPr>
              <a:t xml:space="preserve">x</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c</a:t>
            </a:r>
            <a:r>
              <a:rPr lang="en-US" sz="3000" dirty="0">
                <a:solidFill>
                  <a:srgbClr val="16171D"/>
                </a:solidFill>
                <a:latin typeface="Cambria"/>
                <a:cs typeface="Cambria"/>
              </a:rPr>
              <a:t xml:space="preserve">)) + </a:t>
            </a:r>
            <a:r>
              <a:rPr lang="en-US" sz="3000" dirty="0" b="1" i="1">
                <a:solidFill>
                  <a:srgbClr val="3050B8"/>
                </a:solidFill>
                <a:latin typeface="Cambria"/>
                <a:cs typeface="Cambria"/>
              </a:rPr>
              <a:t xml:space="preserve">d</a:t>
            </a:r>
            <a:endParaRPr lang="en-US" sz="3000" dirty="0"/>
          </a:p>
        </p:txBody>
      </p:sp>
      <p:sp>
        <p:nvSpPr>
          <p:cNvPr id="6" name="Shape 6"/>
          <p:cNvSpPr txBox="1"/>
          <p:nvPr/>
        </p:nvSpPr>
        <p:spPr>
          <a:xfrm>
            <a:off x="685800" y="381609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b="1">
                <a:solidFill>
                  <a:srgbClr val="16171D"/>
                </a:solidFill>
                <a:latin typeface="Segoe UI"/>
                <a:cs typeface="Segoe UI"/>
              </a:rPr>
              <a:t xml:space="preserve">Section 504 Version</a:t>
            </a:r>
            <a:endParaRPr lang="en-US" sz="1800" dirty="0"/>
          </a:p>
        </p:txBody>
      </p:sp>
      <p:sp>
        <p:nvSpPr>
          <p:cNvPr id="7" name="Shape 7"/>
          <p:cNvSpPr txBox="1"/>
          <p:nvPr/>
        </p:nvSpPr>
        <p:spPr>
          <a:xfrm>
            <a:off x="685800" y="4373880"/>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8" name="Shape 8"/>
          <p:cNvSpPr txBox="1"/>
          <p:nvPr/>
        </p:nvSpPr>
        <p:spPr>
          <a:xfrm>
            <a:off x="685800" y="487451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9" name="Shape 9"/>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7"/>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Day 1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Monday, October 26</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(Slope and y-intercept from any form) → Lesson 2, Day 1.</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Mon, Oct 26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How does the graph move?</a:t>
            </a:r>
            <a:endParaRPr lang="en-US" sz="1950" dirty="0"/>
          </a:p>
        </p:txBody>
      </p:sp>
      <p:sp>
        <p:nvSpPr>
          <p:cNvPr id="5" name="Shape 5"/>
          <p:cNvSpPr txBox="1"/>
          <p:nvPr/>
        </p:nvSpPr>
        <p:spPr>
          <a:xfrm>
            <a:off x="685800" y="2458212"/>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Down 3 units</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slope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− 8</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288)</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What is the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-intercept of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− 8</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288)</a:t>
            </a:r>
            <a:endParaRPr lang="en-US" sz="1950" dirty="0"/>
          </a:p>
        </p:txBody>
      </p:sp>
      <p:sp>
        <p:nvSpPr>
          <p:cNvPr id="9" name="Shape 9"/>
          <p:cNvSpPr txBox="1"/>
          <p:nvPr/>
        </p:nvSpPr>
        <p:spPr>
          <a:xfrm>
            <a:off x="6362548" y="2458212"/>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(8/3, 0)</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Is </a:t>
            </a:r>
            <a:r>
              <a:rPr lang="en-US" sz="1950" dirty="0" i="1">
                <a:solidFill>
                  <a:srgbClr val="16171D"/>
                </a:solidFill>
                <a:latin typeface="Cambria"/>
                <a:cs typeface="Cambria"/>
              </a:rPr>
              <a:t xml:space="preserve">h</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−⅔</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increasing or decreasing? </a:t>
            </a:r>
            <a:r>
              <a:rPr lang="en-US" sz="1575" dirty="0">
                <a:solidFill>
                  <a:srgbClr val="5F6272"/>
                </a:solidFill>
                <a:latin typeface="Segoe UI"/>
                <a:cs typeface="Segoe UI"/>
              </a:rPr>
              <a:t xml:space="preserve">(SE p. 288)</a:t>
            </a:r>
            <a:endParaRPr lang="en-US" sz="1950" dirty="0"/>
          </a:p>
        </p:txBody>
      </p:sp>
      <p:sp>
        <p:nvSpPr>
          <p:cNvPr id="11" name="Shape 11"/>
          <p:cNvSpPr txBox="1"/>
          <p:nvPr/>
        </p:nvSpPr>
        <p:spPr>
          <a:xfrm>
            <a:off x="6362548" y="4026408"/>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Decreasing</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Mon, Oct 26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5: Slope and y-intercept from any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2 rewrites f(x − c) in slope-intercept form, so you must read the slope and intercept from any form.</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5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Activity 5.4 · Identifying Slope and y-Intercept · SE p. 231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-intercept: 1–5</a:t>
            </a:r>
            <a:endParaRPr lang="en-US" sz="3450" dirty="0"/>
          </a:p>
        </p:txBody>
      </p:sp>
      <p:sp>
        <p:nvSpPr>
          <p:cNvPr id="6" name="Shape 6"/>
          <p:cNvSpPr txBox="1"/>
          <p:nvPr/>
        </p:nvSpPr>
        <p:spPr>
          <a:xfrm>
            <a:off x="685800"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11</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5" name="Shape 5"/>
          <p:cNvSpPr txBox="1"/>
          <p:nvPr/>
        </p:nvSpPr>
        <p:spPr>
          <a:xfrm>
            <a:off x="895350"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11</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−9)</a:t>
            </a:r>
            <a:endParaRPr lang="en-US" sz="1575" dirty="0"/>
          </a:p>
        </p:txBody>
      </p:sp>
      <p:sp>
        <p:nvSpPr>
          <p:cNvPr id="9" name="Shape 9"/>
          <p:cNvSpPr txBox="1"/>
          <p:nvPr/>
        </p:nvSpPr>
        <p:spPr>
          <a:xfrm>
            <a:off x="4349648"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270</a:t>
            </a:r>
            <a:endParaRPr lang="en-US" sz="2325" dirty="0"/>
          </a:p>
        </p:txBody>
      </p:sp>
      <p:sp>
        <p:nvSpPr>
          <p:cNvPr id="8" name="Shape 8"/>
          <p:cNvSpPr txBox="1"/>
          <p:nvPr/>
        </p:nvSpPr>
        <p:spPr>
          <a:xfrm>
            <a:off x="4559198" y="229438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2</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2" name="Shape 12"/>
          <p:cNvSpPr txBox="1"/>
          <p:nvPr/>
        </p:nvSpPr>
        <p:spPr>
          <a:xfrm>
            <a:off x="8013497" y="1618488"/>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5(2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a:t>
            </a:r>
            <a:endParaRPr lang="en-US" sz="2325" dirty="0"/>
          </a:p>
        </p:txBody>
      </p:sp>
      <p:sp>
        <p:nvSpPr>
          <p:cNvPr id="11" name="Shape 11"/>
          <p:cNvSpPr txBox="1"/>
          <p:nvPr/>
        </p:nvSpPr>
        <p:spPr>
          <a:xfrm>
            <a:off x="8223047" y="229438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10</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10</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−45)</a:t>
            </a:r>
            <a:endParaRPr lang="en-US" sz="1575" dirty="0"/>
          </a:p>
        </p:txBody>
      </p:sp>
      <p:sp>
        <p:nvSpPr>
          <p:cNvPr id="15" name="Shape 15"/>
          <p:cNvSpPr txBox="1"/>
          <p:nvPr/>
        </p:nvSpPr>
        <p:spPr>
          <a:xfrm>
            <a:off x="685800"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4. 8</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14" name="Shape 14"/>
          <p:cNvSpPr txBox="1"/>
          <p:nvPr/>
        </p:nvSpPr>
        <p:spPr>
          <a:xfrm>
            <a:off x="895350" y="3790950"/>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3</a:t>
            </a:r>
            <a:r>
              <a:rPr lang="en-US" sz="1575" dirty="0" b="1">
                <a:solidFill>
                  <a:srgbClr val="C9561F"/>
                </a:solidFill>
                <a:latin typeface="Segoe UI"/>
                <a:cs typeface="Segoe UI"/>
              </a:rPr>
              <a:t xml:space="preserve">/</a:t>
            </a:r>
            <a:r>
              <a:rPr lang="en-US" sz="1575" dirty="0" b="1">
                <a:solidFill>
                  <a:srgbClr val="C9561F"/>
                </a:solidFill>
                <a:latin typeface="Segoe UI"/>
                <a:cs typeface="Segoe UI"/>
              </a:rPr>
              <a:t xml:space="preserve">4</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(0, 3)</a:t>
            </a:r>
            <a:endParaRPr lang="en-US" sz="1575" dirty="0"/>
          </a:p>
        </p:txBody>
      </p:sp>
      <p:sp>
        <p:nvSpPr>
          <p:cNvPr id="18" name="Shape 18"/>
          <p:cNvSpPr txBox="1"/>
          <p:nvPr/>
        </p:nvSpPr>
        <p:spPr>
          <a:xfrm>
            <a:off x="4349648" y="3115056"/>
            <a:ext cx="3492398" cy="13822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4559198" y="328650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+ 9 = 6(</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7" name="Shape 17"/>
          <p:cNvSpPr txBox="1"/>
          <p:nvPr/>
        </p:nvSpPr>
        <p:spPr>
          <a:xfrm>
            <a:off x="4559198" y="3790950"/>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6</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− 27</a:t>
            </a:r>
            <a:r>
              <a:rPr lang="en-US" sz="1575" dirty="0">
                <a:solidFill>
                  <a:srgbClr val="16171D"/>
                </a:solidFill>
                <a:latin typeface="Segoe UI"/>
                <a:cs typeface="Segoe UI"/>
              </a:rPr>
              <a:t xml:space="preserve">: slope </a:t>
            </a:r>
            <a:r>
              <a:rPr lang="en-US" sz="1575" dirty="0" b="1">
                <a:solidFill>
                  <a:srgbClr val="C9561F"/>
                </a:solidFill>
                <a:latin typeface="Segoe UI"/>
                <a:cs typeface="Segoe UI"/>
              </a:rPr>
              <a:t xml:space="preserve">6</a:t>
            </a:r>
            <a:r>
              <a:rPr lang="en-US" sz="1575" dirty="0">
                <a:solidFill>
                  <a:srgbClr val="16171D"/>
                </a:solidFill>
                <a:latin typeface="Segoe UI"/>
                <a:cs typeface="Segoe UI"/>
              </a:rPr>
              <a:t xml:space="preserve">, </a:t>
            </a:r>
            <a:r>
              <a:rPr lang="en-US" sz="1575" dirty="0" b="1">
                <a:solidFill>
                  <a:srgbClr val="3050B8"/>
                </a:solidFill>
                <a:latin typeface="Segoe UI"/>
                <a:cs typeface="Segoe UI"/>
              </a:rPr>
              <a:t xml:space="preserve">(0, −27)</a:t>
            </a:r>
            <a:endParaRPr lang="en-US" sz="1575" dirty="0"/>
          </a:p>
        </p:txBody>
      </p:sp>
      <p:sp>
        <p:nvSpPr>
          <p:cNvPr id="19" name="Shape 19"/>
          <p:cNvSpPr txBox="1"/>
          <p:nvPr/>
        </p:nvSpPr>
        <p:spPr>
          <a:xfrm>
            <a:off x="685800" y="4668774"/>
            <a:ext cx="1051196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In standard form, the slope is </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A</a:t>
            </a:r>
            <a:r>
              <a:rPr lang="en-US" sz="1650" dirty="0">
                <a:solidFill>
                  <a:srgbClr val="16171D"/>
                </a:solidFill>
                <a:latin typeface="Cambria"/>
                <a:cs typeface="Cambria"/>
              </a:rPr>
              <a:t xml:space="preserve">/</a:t>
            </a:r>
            <a:r>
              <a:rPr lang="en-US" sz="1650" dirty="0" i="1">
                <a:solidFill>
                  <a:srgbClr val="16171D"/>
                </a:solidFill>
                <a:latin typeface="Cambria"/>
                <a:cs typeface="Cambria"/>
              </a:rPr>
              <a:t xml:space="preserve">B</a:t>
            </a:r>
            <a:r>
              <a:rPr lang="en-US" sz="1650" dirty="0">
                <a:solidFill>
                  <a:srgbClr val="16171D"/>
                </a:solidFill>
                <a:latin typeface="Segoe UI"/>
                <a:cs typeface="Segoe UI"/>
              </a:rPr>
              <a:t xml:space="preserve">. To find the </a:t>
            </a:r>
            <a:r>
              <a:rPr lang="en-US" sz="1650" dirty="0" i="1">
                <a:solidFill>
                  <a:srgbClr val="16171D"/>
                </a:solidFill>
                <a:latin typeface="Segoe UI"/>
                <a:cs typeface="Segoe UI"/>
              </a:rPr>
              <a:t xml:space="preserve">y</a:t>
            </a:r>
            <a:r>
              <a:rPr lang="en-US" sz="1650" dirty="0">
                <a:solidFill>
                  <a:srgbClr val="16171D"/>
                </a:solidFill>
                <a:latin typeface="Segoe UI"/>
                <a:cs typeface="Segoe UI"/>
              </a:rPr>
              <a:t xml:space="preserve">-intercept in any form, substitute </a:t>
            </a:r>
            <a:r>
              <a:rPr lang="en-US" sz="1650" dirty="0" i="1">
                <a:solidFill>
                  <a:srgbClr val="16171D"/>
                </a:solidFill>
                <a:latin typeface="Cambria"/>
                <a:cs typeface="Cambria"/>
              </a:rPr>
              <a:t xml:space="preserve">x</a:t>
            </a:r>
            <a:r>
              <a:rPr lang="en-US" sz="1650" dirty="0">
                <a:solidFill>
                  <a:srgbClr val="16171D"/>
                </a:solidFill>
                <a:latin typeface="Cambria"/>
                <a:cs typeface="Cambria"/>
              </a:rPr>
              <a:t xml:space="preserve"> = 0</a:t>
            </a:r>
            <a:r>
              <a:rPr lang="en-US" sz="1650" dirty="0">
                <a:solidFill>
                  <a:srgbClr val="16171D"/>
                </a:solidFill>
                <a:latin typeface="Segoe UI"/>
                <a:cs typeface="Segoe UI"/>
              </a:rPr>
              <a:t xml:space="preserve">.</a:t>
            </a:r>
            <a:endParaRPr lang="en-US" sz="1650"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ppt_x</p:attrName>
                                        </p:attrNameLst>
                                      </p:cBhvr>
                                      <p:tavLst>
                                        <p:tav tm="0">
                                          <p:val>
                                            <p:strVal val="#ppt_x"/>
                                          </p:val>
                                        </p:tav>
                                        <p:tav tm="100000">
                                          <p:val>
                                            <p:strVal val="#ppt_x"/>
                                          </p:val>
                                        </p:tav>
                                      </p:tavLst>
                                    </p:anim>
                                    <p:anim calcmode="lin" valueType="num">
                                      <p:cBhvr>
                                        <p:cTn id="20"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anim calcmode="lin" valueType="num">
                                      <p:cBhvr>
                                        <p:cTn id="33" dur="500" fill="hold"/>
                                        <p:tgtEl>
                                          <p:spTgt spid="17"/>
                                        </p:tgtEl>
                                        <p:attrNameLst>
                                          <p:attrName>ppt_x</p:attrName>
                                        </p:attrNameLst>
                                      </p:cBhvr>
                                      <p:tavLst>
                                        <p:tav tm="0">
                                          <p:val>
                                            <p:strVal val="#ppt_x"/>
                                          </p:val>
                                        </p:tav>
                                        <p:tav tm="100000">
                                          <p:val>
                                            <p:strVal val="#ppt_x"/>
                                          </p:val>
                                        </p:tav>
                                      </p:tavLst>
                                    </p:anim>
                                    <p:anim calcmode="lin" valueType="num">
                                      <p:cBhvr>
                                        <p:cTn id="34"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p:cTn id="40" dur="500" fill="hold"/>
                                        <p:tgtEl>
                                          <p:spTgt spid="19"/>
                                        </p:tgtEl>
                                        <p:attrNameLst>
                                          <p:attrName>ppt_x</p:attrName>
                                        </p:attrNameLst>
                                      </p:cBhvr>
                                      <p:tavLst>
                                        <p:tav tm="0">
                                          <p:val>
                                            <p:strVal val="#ppt_x"/>
                                          </p:val>
                                        </p:tav>
                                        <p:tav tm="100000">
                                          <p:val>
                                            <p:strVal val="#ppt_x"/>
                                          </p:val>
                                        </p:tav>
                                      </p:tavLst>
                                    </p:anim>
                                    <p:anim calcmode="lin" valueType="num">
                                      <p:cBhvr>
                                        <p:cTn id="41"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Talk the Talk · Choose Your Medium · SE p. 232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Joey's math quiz</a:t>
            </a:r>
            <a:endParaRPr lang="en-US" sz="3450" dirty="0"/>
          </a:p>
        </p:txBody>
      </p:sp>
      <p:sp>
        <p:nvSpPr>
          <p:cNvPr id="4" name="Shape 4"/>
          <p:cNvSpPr txBox="1"/>
          <p:nvPr/>
        </p:nvSpPr>
        <p:spPr>
          <a:xfrm>
            <a:off x="685800" y="1618488"/>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points for each correct multiple-choice question, 3 points for each correct short answer. Joey earned </a:t>
            </a:r>
            <a:r>
              <a:rPr lang="en-US" sz="1575" dirty="0" b="1">
                <a:solidFill>
                  <a:srgbClr val="16171D"/>
                </a:solidFill>
                <a:latin typeface="Segoe UI"/>
                <a:cs typeface="Segoe UI"/>
              </a:rPr>
              <a:t xml:space="preserve">36 points</a:t>
            </a:r>
            <a:r>
              <a:rPr lang="en-US" sz="1575" dirty="0">
                <a:solidFill>
                  <a:srgbClr val="16171D"/>
                </a:solidFill>
                <a:latin typeface="Segoe UI"/>
                <a:cs typeface="Segoe UI"/>
              </a:rPr>
              <a:t xml:space="preserve">. Let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 multiple-choice correct and </a:t>
            </a:r>
            <a:r>
              <a:rPr lang="en-US" sz="1575" dirty="0" i="1">
                <a:solidFill>
                  <a:srgbClr val="16171D"/>
                </a:solidFill>
                <a:latin typeface="Cambria"/>
                <a:cs typeface="Cambria"/>
              </a:rPr>
              <a:t xml:space="preserve">y</a:t>
            </a:r>
            <a:r>
              <a:rPr lang="en-US" sz="1575" dirty="0">
                <a:solidFill>
                  <a:srgbClr val="16171D"/>
                </a:solidFill>
                <a:latin typeface="Segoe UI"/>
                <a:cs typeface="Segoe UI"/>
              </a:rPr>
              <a:t xml:space="preserve"> = short answer correct.</a:t>
            </a:r>
            <a:endParaRPr lang="en-US" sz="1575" dirty="0"/>
          </a:p>
        </p:txBody>
      </p:sp>
      <p:sp>
        <p:nvSpPr>
          <p:cNvPr id="5" name="Shape 5"/>
          <p:cNvSpPr txBox="1"/>
          <p:nvPr/>
        </p:nvSpPr>
        <p:spPr>
          <a:xfrm>
            <a:off x="685800" y="2324862"/>
            <a:ext cx="4689318" cy="59893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850" dirty="0">
                <a:solidFill>
                  <a:srgbClr val="16171D"/>
                </a:solidFill>
                <a:latin typeface="Cambria"/>
                <a:cs typeface="Cambria"/>
              </a:rPr>
              <a:t xml:space="preserve">2</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+ 3</a:t>
            </a:r>
            <a:r>
              <a:rPr lang="en-US" sz="2850" dirty="0" i="1">
                <a:solidFill>
                  <a:srgbClr val="16171D"/>
                </a:solidFill>
                <a:latin typeface="Cambria"/>
                <a:cs typeface="Cambria"/>
              </a:rPr>
              <a:t xml:space="preserve">y</a:t>
            </a:r>
            <a:r>
              <a:rPr lang="en-US" sz="2850" dirty="0">
                <a:solidFill>
                  <a:srgbClr val="16171D"/>
                </a:solidFill>
                <a:latin typeface="Cambria"/>
                <a:cs typeface="Cambria"/>
              </a:rPr>
              <a:t xml:space="preserve"> = 36</a:t>
            </a:r>
            <a:endParaRPr lang="en-US" sz="2850" dirty="0"/>
          </a:p>
        </p:txBody>
      </p:sp>
      <p:sp>
        <p:nvSpPr>
          <p:cNvPr id="6" name="Shape 6"/>
          <p:cNvSpPr txBox="1"/>
          <p:nvPr/>
        </p:nvSpPr>
        <p:spPr>
          <a:xfrm>
            <a:off x="685800" y="3019044"/>
            <a:ext cx="6819595"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a:t>
            </a:r>
            <a:r>
              <a:rPr lang="en-US" sz="1575" dirty="0">
                <a:solidFill>
                  <a:srgbClr val="16171D"/>
                </a:solidFill>
                <a:latin typeface="Segoe UI"/>
                <a:cs typeface="Segoe UI"/>
              </a:rPr>
              <a:t xml:space="preserve"> standard form, because the equation comes straight from the context: two kinds of points add up to one total.</a:t>
            </a:r>
            <a:endParaRPr lang="en-US" sz="1575" dirty="0"/>
          </a:p>
        </p:txBody>
      </p:sp>
      <p:sp>
        <p:nvSpPr>
          <p:cNvPr id="7" name="Shape 7"/>
          <p:cNvSpPr txBox="1"/>
          <p:nvPr/>
        </p:nvSpPr>
        <p:spPr>
          <a:xfrm>
            <a:off x="685800" y="3649218"/>
            <a:ext cx="68195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Graph:</a:t>
            </a:r>
            <a:r>
              <a:rPr lang="en-US" sz="1575" dirty="0">
                <a:solidFill>
                  <a:srgbClr val="16171D"/>
                </a:solidFill>
                <a:latin typeface="Segoe UI"/>
                <a:cs typeface="Segoe UI"/>
              </a:rPr>
              <a:t xml:space="preserve"> use the intercepts.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(18, 0)</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gives </a:t>
            </a:r>
            <a:r>
              <a:rPr lang="en-US" sz="1575" dirty="0" b="1">
                <a:solidFill>
                  <a:srgbClr val="3050B8"/>
                </a:solidFill>
                <a:latin typeface="Segoe UI"/>
                <a:cs typeface="Segoe UI"/>
              </a:rPr>
              <a:t xml:space="preserve">(0, 12)</a:t>
            </a:r>
            <a:r>
              <a:rPr lang="en-US" sz="1575" dirty="0">
                <a:solidFill>
                  <a:srgbClr val="16171D"/>
                </a:solidFill>
                <a:latin typeface="Segoe UI"/>
                <a:cs typeface="Segoe UI"/>
              </a:rPr>
              <a:t xml:space="preserve">.</a:t>
            </a:r>
            <a:endParaRPr lang="en-US" sz="1575" dirty="0"/>
          </a:p>
        </p:txBody>
      </p:sp>
      <p:sp>
        <p:nvSpPr>
          <p:cNvPr id="8" name="Shape 8"/>
          <p:cNvSpPr/>
          <p:nvPr/>
        </p:nvSpPr>
        <p:spPr>
          <a:xfrm>
            <a:off x="7886395" y="2324862"/>
            <a:ext cx="36195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8210245" y="2439162"/>
            <a:ext cx="0" cy="2876550"/>
          </a:xfrm>
          <a:prstGeom prst="line">
            <a:avLst/>
          </a:prstGeom>
          <a:ln w="9525" cap="flat">
            <a:solidFill>
              <a:srgbClr val="E6E8F2"/>
            </a:solidFill>
          </a:ln>
        </p:spPr>
      </p:cxnSp>
      <p:cxnSp>
        <p:nvCxnSpPr>
          <p:cNvPr id="10" name="Line 10"/>
          <p:cNvCxnSpPr/>
          <p:nvPr/>
        </p:nvCxnSpPr>
        <p:spPr>
          <a:xfrm>
            <a:off x="8369313" y="2439162"/>
            <a:ext cx="0" cy="2876550"/>
          </a:xfrm>
          <a:prstGeom prst="line">
            <a:avLst/>
          </a:prstGeom>
          <a:ln w="9525" cap="flat">
            <a:solidFill>
              <a:srgbClr val="E6E8F2"/>
            </a:solidFill>
          </a:ln>
        </p:spPr>
      </p:cxnSp>
      <p:cxnSp>
        <p:nvCxnSpPr>
          <p:cNvPr id="11" name="Line 11"/>
          <p:cNvCxnSpPr/>
          <p:nvPr/>
        </p:nvCxnSpPr>
        <p:spPr>
          <a:xfrm>
            <a:off x="8528380" y="2439162"/>
            <a:ext cx="0" cy="2876550"/>
          </a:xfrm>
          <a:prstGeom prst="line">
            <a:avLst/>
          </a:prstGeom>
          <a:ln w="9525" cap="flat">
            <a:solidFill>
              <a:srgbClr val="E6E8F2"/>
            </a:solidFill>
          </a:ln>
        </p:spPr>
      </p:cxnSp>
      <p:cxnSp>
        <p:nvCxnSpPr>
          <p:cNvPr id="12" name="Line 12"/>
          <p:cNvCxnSpPr/>
          <p:nvPr/>
        </p:nvCxnSpPr>
        <p:spPr>
          <a:xfrm>
            <a:off x="8687448" y="2439162"/>
            <a:ext cx="0" cy="2876550"/>
          </a:xfrm>
          <a:prstGeom prst="line">
            <a:avLst/>
          </a:prstGeom>
          <a:ln w="9525" cap="flat">
            <a:solidFill>
              <a:srgbClr val="E6E8F2"/>
            </a:solidFill>
          </a:ln>
        </p:spPr>
      </p:cxnSp>
      <p:cxnSp>
        <p:nvCxnSpPr>
          <p:cNvPr id="13" name="Line 13"/>
          <p:cNvCxnSpPr/>
          <p:nvPr/>
        </p:nvCxnSpPr>
        <p:spPr>
          <a:xfrm>
            <a:off x="8846515" y="2439162"/>
            <a:ext cx="0" cy="2876550"/>
          </a:xfrm>
          <a:prstGeom prst="line">
            <a:avLst/>
          </a:prstGeom>
          <a:ln w="9525" cap="flat">
            <a:solidFill>
              <a:srgbClr val="E6E8F2"/>
            </a:solidFill>
          </a:ln>
        </p:spPr>
      </p:cxnSp>
      <p:cxnSp>
        <p:nvCxnSpPr>
          <p:cNvPr id="14" name="Line 14"/>
          <p:cNvCxnSpPr/>
          <p:nvPr/>
        </p:nvCxnSpPr>
        <p:spPr>
          <a:xfrm>
            <a:off x="9005583" y="2439162"/>
            <a:ext cx="0" cy="2876550"/>
          </a:xfrm>
          <a:prstGeom prst="line">
            <a:avLst/>
          </a:prstGeom>
          <a:ln w="9525" cap="flat">
            <a:solidFill>
              <a:srgbClr val="E6E8F2"/>
            </a:solidFill>
          </a:ln>
        </p:spPr>
      </p:cxnSp>
      <p:cxnSp>
        <p:nvCxnSpPr>
          <p:cNvPr id="15" name="Line 15"/>
          <p:cNvCxnSpPr/>
          <p:nvPr/>
        </p:nvCxnSpPr>
        <p:spPr>
          <a:xfrm>
            <a:off x="9164650" y="2439162"/>
            <a:ext cx="0" cy="2876550"/>
          </a:xfrm>
          <a:prstGeom prst="line">
            <a:avLst/>
          </a:prstGeom>
          <a:ln w="9525" cap="flat">
            <a:solidFill>
              <a:srgbClr val="E6E8F2"/>
            </a:solidFill>
          </a:ln>
        </p:spPr>
      </p:cxnSp>
      <p:cxnSp>
        <p:nvCxnSpPr>
          <p:cNvPr id="16" name="Line 16"/>
          <p:cNvCxnSpPr/>
          <p:nvPr/>
        </p:nvCxnSpPr>
        <p:spPr>
          <a:xfrm>
            <a:off x="9323718" y="2439162"/>
            <a:ext cx="0" cy="2876550"/>
          </a:xfrm>
          <a:prstGeom prst="line">
            <a:avLst/>
          </a:prstGeom>
          <a:ln w="9525" cap="flat">
            <a:solidFill>
              <a:srgbClr val="E6E8F2"/>
            </a:solidFill>
          </a:ln>
        </p:spPr>
      </p:cxnSp>
      <p:cxnSp>
        <p:nvCxnSpPr>
          <p:cNvPr id="17" name="Line 17"/>
          <p:cNvCxnSpPr/>
          <p:nvPr/>
        </p:nvCxnSpPr>
        <p:spPr>
          <a:xfrm>
            <a:off x="9482785" y="2439162"/>
            <a:ext cx="0" cy="2876550"/>
          </a:xfrm>
          <a:prstGeom prst="line">
            <a:avLst/>
          </a:prstGeom>
          <a:ln w="9525" cap="flat">
            <a:solidFill>
              <a:srgbClr val="E6E8F2"/>
            </a:solidFill>
          </a:ln>
        </p:spPr>
      </p:cxnSp>
      <p:cxnSp>
        <p:nvCxnSpPr>
          <p:cNvPr id="18" name="Line 18"/>
          <p:cNvCxnSpPr/>
          <p:nvPr/>
        </p:nvCxnSpPr>
        <p:spPr>
          <a:xfrm>
            <a:off x="9641853" y="2439162"/>
            <a:ext cx="0" cy="2876550"/>
          </a:xfrm>
          <a:prstGeom prst="line">
            <a:avLst/>
          </a:prstGeom>
          <a:ln w="9525" cap="flat">
            <a:solidFill>
              <a:srgbClr val="E6E8F2"/>
            </a:solidFill>
          </a:ln>
        </p:spPr>
      </p:cxnSp>
      <p:cxnSp>
        <p:nvCxnSpPr>
          <p:cNvPr id="19" name="Line 19"/>
          <p:cNvCxnSpPr/>
          <p:nvPr/>
        </p:nvCxnSpPr>
        <p:spPr>
          <a:xfrm>
            <a:off x="9800920" y="2439162"/>
            <a:ext cx="0" cy="2876550"/>
          </a:xfrm>
          <a:prstGeom prst="line">
            <a:avLst/>
          </a:prstGeom>
          <a:ln w="9525" cap="flat">
            <a:solidFill>
              <a:srgbClr val="E6E8F2"/>
            </a:solidFill>
          </a:ln>
        </p:spPr>
      </p:cxnSp>
      <p:cxnSp>
        <p:nvCxnSpPr>
          <p:cNvPr id="20" name="Line 20"/>
          <p:cNvCxnSpPr/>
          <p:nvPr/>
        </p:nvCxnSpPr>
        <p:spPr>
          <a:xfrm>
            <a:off x="9959988" y="2439162"/>
            <a:ext cx="0" cy="2876550"/>
          </a:xfrm>
          <a:prstGeom prst="line">
            <a:avLst/>
          </a:prstGeom>
          <a:ln w="9525" cap="flat">
            <a:solidFill>
              <a:srgbClr val="E6E8F2"/>
            </a:solidFill>
          </a:ln>
        </p:spPr>
      </p:cxnSp>
      <p:cxnSp>
        <p:nvCxnSpPr>
          <p:cNvPr id="21" name="Line 21"/>
          <p:cNvCxnSpPr/>
          <p:nvPr/>
        </p:nvCxnSpPr>
        <p:spPr>
          <a:xfrm>
            <a:off x="10119055" y="2439162"/>
            <a:ext cx="0" cy="2876550"/>
          </a:xfrm>
          <a:prstGeom prst="line">
            <a:avLst/>
          </a:prstGeom>
          <a:ln w="9525" cap="flat">
            <a:solidFill>
              <a:srgbClr val="E6E8F2"/>
            </a:solidFill>
          </a:ln>
        </p:spPr>
      </p:cxnSp>
      <p:cxnSp>
        <p:nvCxnSpPr>
          <p:cNvPr id="22" name="Line 22"/>
          <p:cNvCxnSpPr/>
          <p:nvPr/>
        </p:nvCxnSpPr>
        <p:spPr>
          <a:xfrm>
            <a:off x="10278123" y="2439162"/>
            <a:ext cx="0" cy="2876550"/>
          </a:xfrm>
          <a:prstGeom prst="line">
            <a:avLst/>
          </a:prstGeom>
          <a:ln w="9525" cap="flat">
            <a:solidFill>
              <a:srgbClr val="E6E8F2"/>
            </a:solidFill>
          </a:ln>
        </p:spPr>
      </p:cxnSp>
      <p:cxnSp>
        <p:nvCxnSpPr>
          <p:cNvPr id="23" name="Line 23"/>
          <p:cNvCxnSpPr/>
          <p:nvPr/>
        </p:nvCxnSpPr>
        <p:spPr>
          <a:xfrm>
            <a:off x="10437190" y="2439162"/>
            <a:ext cx="0" cy="2876550"/>
          </a:xfrm>
          <a:prstGeom prst="line">
            <a:avLst/>
          </a:prstGeom>
          <a:ln w="9525" cap="flat">
            <a:solidFill>
              <a:srgbClr val="E6E8F2"/>
            </a:solidFill>
          </a:ln>
        </p:spPr>
      </p:cxnSp>
      <p:cxnSp>
        <p:nvCxnSpPr>
          <p:cNvPr id="24" name="Line 24"/>
          <p:cNvCxnSpPr/>
          <p:nvPr/>
        </p:nvCxnSpPr>
        <p:spPr>
          <a:xfrm>
            <a:off x="10596258" y="2439162"/>
            <a:ext cx="0" cy="2876550"/>
          </a:xfrm>
          <a:prstGeom prst="line">
            <a:avLst/>
          </a:prstGeom>
          <a:ln w="9525" cap="flat">
            <a:solidFill>
              <a:srgbClr val="E6E8F2"/>
            </a:solidFill>
          </a:ln>
        </p:spPr>
      </p:cxnSp>
      <p:cxnSp>
        <p:nvCxnSpPr>
          <p:cNvPr id="25" name="Line 25"/>
          <p:cNvCxnSpPr/>
          <p:nvPr/>
        </p:nvCxnSpPr>
        <p:spPr>
          <a:xfrm>
            <a:off x="10755325" y="2439162"/>
            <a:ext cx="0" cy="2876550"/>
          </a:xfrm>
          <a:prstGeom prst="line">
            <a:avLst/>
          </a:prstGeom>
          <a:ln w="9525" cap="flat">
            <a:solidFill>
              <a:srgbClr val="E6E8F2"/>
            </a:solidFill>
          </a:ln>
        </p:spPr>
      </p:cxnSp>
      <p:cxnSp>
        <p:nvCxnSpPr>
          <p:cNvPr id="26" name="Line 26"/>
          <p:cNvCxnSpPr/>
          <p:nvPr/>
        </p:nvCxnSpPr>
        <p:spPr>
          <a:xfrm>
            <a:off x="10914393" y="2439162"/>
            <a:ext cx="0" cy="2876550"/>
          </a:xfrm>
          <a:prstGeom prst="line">
            <a:avLst/>
          </a:prstGeom>
          <a:ln w="9525" cap="flat">
            <a:solidFill>
              <a:srgbClr val="E6E8F2"/>
            </a:solidFill>
          </a:ln>
        </p:spPr>
      </p:cxnSp>
      <p:cxnSp>
        <p:nvCxnSpPr>
          <p:cNvPr id="27" name="Line 27"/>
          <p:cNvCxnSpPr/>
          <p:nvPr/>
        </p:nvCxnSpPr>
        <p:spPr>
          <a:xfrm>
            <a:off x="11073460" y="2439162"/>
            <a:ext cx="0" cy="2876550"/>
          </a:xfrm>
          <a:prstGeom prst="line">
            <a:avLst/>
          </a:prstGeom>
          <a:ln w="9525" cap="flat">
            <a:solidFill>
              <a:srgbClr val="E6E8F2"/>
            </a:solidFill>
          </a:ln>
        </p:spPr>
      </p:cxnSp>
      <p:cxnSp>
        <p:nvCxnSpPr>
          <p:cNvPr id="28" name="Line 28"/>
          <p:cNvCxnSpPr/>
          <p:nvPr/>
        </p:nvCxnSpPr>
        <p:spPr>
          <a:xfrm>
            <a:off x="11232528" y="2439162"/>
            <a:ext cx="0" cy="2876550"/>
          </a:xfrm>
          <a:prstGeom prst="line">
            <a:avLst/>
          </a:prstGeom>
          <a:ln w="9525" cap="flat">
            <a:solidFill>
              <a:srgbClr val="E6E8F2"/>
            </a:solidFill>
          </a:ln>
        </p:spPr>
      </p:cxnSp>
      <p:cxnSp>
        <p:nvCxnSpPr>
          <p:cNvPr id="29" name="Line 29"/>
          <p:cNvCxnSpPr/>
          <p:nvPr/>
        </p:nvCxnSpPr>
        <p:spPr>
          <a:xfrm>
            <a:off x="11391595" y="2439162"/>
            <a:ext cx="0" cy="2876550"/>
          </a:xfrm>
          <a:prstGeom prst="line">
            <a:avLst/>
          </a:prstGeom>
          <a:ln w="9525" cap="flat">
            <a:solidFill>
              <a:srgbClr val="E6E8F2"/>
            </a:solidFill>
          </a:ln>
        </p:spPr>
      </p:cxnSp>
      <p:cxnSp>
        <p:nvCxnSpPr>
          <p:cNvPr id="30" name="Line 30"/>
          <p:cNvCxnSpPr/>
          <p:nvPr/>
        </p:nvCxnSpPr>
        <p:spPr>
          <a:xfrm>
            <a:off x="8210245" y="5315712"/>
            <a:ext cx="3181350" cy="0"/>
          </a:xfrm>
          <a:prstGeom prst="line">
            <a:avLst/>
          </a:prstGeom>
          <a:ln w="9525" cap="flat">
            <a:solidFill>
              <a:srgbClr val="E6E8F2"/>
            </a:solidFill>
          </a:ln>
        </p:spPr>
      </p:cxnSp>
      <p:cxnSp>
        <p:nvCxnSpPr>
          <p:cNvPr id="31" name="Line 31"/>
          <p:cNvCxnSpPr/>
          <p:nvPr/>
        </p:nvCxnSpPr>
        <p:spPr>
          <a:xfrm>
            <a:off x="8210245" y="5135928"/>
            <a:ext cx="3181350" cy="0"/>
          </a:xfrm>
          <a:prstGeom prst="line">
            <a:avLst/>
          </a:prstGeom>
          <a:ln w="9525" cap="flat">
            <a:solidFill>
              <a:srgbClr val="E6E8F2"/>
            </a:solidFill>
          </a:ln>
        </p:spPr>
      </p:cxnSp>
      <p:cxnSp>
        <p:nvCxnSpPr>
          <p:cNvPr id="32" name="Line 32"/>
          <p:cNvCxnSpPr/>
          <p:nvPr/>
        </p:nvCxnSpPr>
        <p:spPr>
          <a:xfrm>
            <a:off x="8210245" y="4956143"/>
            <a:ext cx="3181350" cy="0"/>
          </a:xfrm>
          <a:prstGeom prst="line">
            <a:avLst/>
          </a:prstGeom>
          <a:ln w="9525" cap="flat">
            <a:solidFill>
              <a:srgbClr val="E6E8F2"/>
            </a:solidFill>
          </a:ln>
        </p:spPr>
      </p:cxnSp>
      <p:cxnSp>
        <p:nvCxnSpPr>
          <p:cNvPr id="33" name="Line 33"/>
          <p:cNvCxnSpPr/>
          <p:nvPr/>
        </p:nvCxnSpPr>
        <p:spPr>
          <a:xfrm>
            <a:off x="8210245" y="4776359"/>
            <a:ext cx="3181350" cy="0"/>
          </a:xfrm>
          <a:prstGeom prst="line">
            <a:avLst/>
          </a:prstGeom>
          <a:ln w="9525" cap="flat">
            <a:solidFill>
              <a:srgbClr val="E6E8F2"/>
            </a:solidFill>
          </a:ln>
        </p:spPr>
      </p:cxnSp>
      <p:cxnSp>
        <p:nvCxnSpPr>
          <p:cNvPr id="34" name="Line 34"/>
          <p:cNvCxnSpPr/>
          <p:nvPr/>
        </p:nvCxnSpPr>
        <p:spPr>
          <a:xfrm>
            <a:off x="8210245" y="4596574"/>
            <a:ext cx="3181350" cy="0"/>
          </a:xfrm>
          <a:prstGeom prst="line">
            <a:avLst/>
          </a:prstGeom>
          <a:ln w="9525" cap="flat">
            <a:solidFill>
              <a:srgbClr val="E6E8F2"/>
            </a:solidFill>
          </a:ln>
        </p:spPr>
      </p:cxnSp>
      <p:cxnSp>
        <p:nvCxnSpPr>
          <p:cNvPr id="35" name="Line 35"/>
          <p:cNvCxnSpPr/>
          <p:nvPr/>
        </p:nvCxnSpPr>
        <p:spPr>
          <a:xfrm>
            <a:off x="8210245" y="4416790"/>
            <a:ext cx="3181350" cy="0"/>
          </a:xfrm>
          <a:prstGeom prst="line">
            <a:avLst/>
          </a:prstGeom>
          <a:ln w="9525" cap="flat">
            <a:solidFill>
              <a:srgbClr val="E6E8F2"/>
            </a:solidFill>
          </a:ln>
        </p:spPr>
      </p:cxnSp>
      <p:cxnSp>
        <p:nvCxnSpPr>
          <p:cNvPr id="36" name="Line 36"/>
          <p:cNvCxnSpPr/>
          <p:nvPr/>
        </p:nvCxnSpPr>
        <p:spPr>
          <a:xfrm>
            <a:off x="8210245" y="4237006"/>
            <a:ext cx="3181350" cy="0"/>
          </a:xfrm>
          <a:prstGeom prst="line">
            <a:avLst/>
          </a:prstGeom>
          <a:ln w="9525" cap="flat">
            <a:solidFill>
              <a:srgbClr val="E6E8F2"/>
            </a:solidFill>
          </a:ln>
        </p:spPr>
      </p:cxnSp>
      <p:cxnSp>
        <p:nvCxnSpPr>
          <p:cNvPr id="37" name="Line 37"/>
          <p:cNvCxnSpPr/>
          <p:nvPr/>
        </p:nvCxnSpPr>
        <p:spPr>
          <a:xfrm>
            <a:off x="8210245" y="4057221"/>
            <a:ext cx="3181350" cy="0"/>
          </a:xfrm>
          <a:prstGeom prst="line">
            <a:avLst/>
          </a:prstGeom>
          <a:ln w="9525" cap="flat">
            <a:solidFill>
              <a:srgbClr val="E6E8F2"/>
            </a:solidFill>
          </a:ln>
        </p:spPr>
      </p:cxnSp>
      <p:cxnSp>
        <p:nvCxnSpPr>
          <p:cNvPr id="38" name="Line 38"/>
          <p:cNvCxnSpPr/>
          <p:nvPr/>
        </p:nvCxnSpPr>
        <p:spPr>
          <a:xfrm>
            <a:off x="8210245" y="3877437"/>
            <a:ext cx="3181350" cy="0"/>
          </a:xfrm>
          <a:prstGeom prst="line">
            <a:avLst/>
          </a:prstGeom>
          <a:ln w="9525" cap="flat">
            <a:solidFill>
              <a:srgbClr val="E6E8F2"/>
            </a:solidFill>
          </a:ln>
        </p:spPr>
      </p:cxnSp>
      <p:cxnSp>
        <p:nvCxnSpPr>
          <p:cNvPr id="39" name="Line 39"/>
          <p:cNvCxnSpPr/>
          <p:nvPr/>
        </p:nvCxnSpPr>
        <p:spPr>
          <a:xfrm>
            <a:off x="8210245" y="3697653"/>
            <a:ext cx="3181350" cy="0"/>
          </a:xfrm>
          <a:prstGeom prst="line">
            <a:avLst/>
          </a:prstGeom>
          <a:ln w="9525" cap="flat">
            <a:solidFill>
              <a:srgbClr val="E6E8F2"/>
            </a:solidFill>
          </a:ln>
        </p:spPr>
      </p:cxnSp>
      <p:cxnSp>
        <p:nvCxnSpPr>
          <p:cNvPr id="40" name="Line 40"/>
          <p:cNvCxnSpPr/>
          <p:nvPr/>
        </p:nvCxnSpPr>
        <p:spPr>
          <a:xfrm>
            <a:off x="8210245" y="3517868"/>
            <a:ext cx="3181350" cy="0"/>
          </a:xfrm>
          <a:prstGeom prst="line">
            <a:avLst/>
          </a:prstGeom>
          <a:ln w="9525" cap="flat">
            <a:solidFill>
              <a:srgbClr val="E6E8F2"/>
            </a:solidFill>
          </a:ln>
        </p:spPr>
      </p:cxnSp>
      <p:cxnSp>
        <p:nvCxnSpPr>
          <p:cNvPr id="41" name="Line 41"/>
          <p:cNvCxnSpPr/>
          <p:nvPr/>
        </p:nvCxnSpPr>
        <p:spPr>
          <a:xfrm>
            <a:off x="8210245" y="3338084"/>
            <a:ext cx="3181350" cy="0"/>
          </a:xfrm>
          <a:prstGeom prst="line">
            <a:avLst/>
          </a:prstGeom>
          <a:ln w="9525" cap="flat">
            <a:solidFill>
              <a:srgbClr val="E6E8F2"/>
            </a:solidFill>
          </a:ln>
        </p:spPr>
      </p:cxnSp>
      <p:cxnSp>
        <p:nvCxnSpPr>
          <p:cNvPr id="42" name="Line 42"/>
          <p:cNvCxnSpPr/>
          <p:nvPr/>
        </p:nvCxnSpPr>
        <p:spPr>
          <a:xfrm>
            <a:off x="8210245" y="3158300"/>
            <a:ext cx="3181350" cy="0"/>
          </a:xfrm>
          <a:prstGeom prst="line">
            <a:avLst/>
          </a:prstGeom>
          <a:ln w="9525" cap="flat">
            <a:solidFill>
              <a:srgbClr val="E6E8F2"/>
            </a:solidFill>
          </a:ln>
        </p:spPr>
      </p:cxnSp>
      <p:cxnSp>
        <p:nvCxnSpPr>
          <p:cNvPr id="43" name="Line 43"/>
          <p:cNvCxnSpPr/>
          <p:nvPr/>
        </p:nvCxnSpPr>
        <p:spPr>
          <a:xfrm>
            <a:off x="8210245" y="2978515"/>
            <a:ext cx="3181350" cy="0"/>
          </a:xfrm>
          <a:prstGeom prst="line">
            <a:avLst/>
          </a:prstGeom>
          <a:ln w="9525" cap="flat">
            <a:solidFill>
              <a:srgbClr val="E6E8F2"/>
            </a:solidFill>
          </a:ln>
        </p:spPr>
      </p:cxnSp>
      <p:cxnSp>
        <p:nvCxnSpPr>
          <p:cNvPr id="44" name="Line 44"/>
          <p:cNvCxnSpPr/>
          <p:nvPr/>
        </p:nvCxnSpPr>
        <p:spPr>
          <a:xfrm>
            <a:off x="8210245" y="2798731"/>
            <a:ext cx="3181350" cy="0"/>
          </a:xfrm>
          <a:prstGeom prst="line">
            <a:avLst/>
          </a:prstGeom>
          <a:ln w="9525" cap="flat">
            <a:solidFill>
              <a:srgbClr val="E6E8F2"/>
            </a:solidFill>
          </a:ln>
        </p:spPr>
      </p:cxnSp>
      <p:cxnSp>
        <p:nvCxnSpPr>
          <p:cNvPr id="45" name="Line 45"/>
          <p:cNvCxnSpPr/>
          <p:nvPr/>
        </p:nvCxnSpPr>
        <p:spPr>
          <a:xfrm>
            <a:off x="8210245" y="2618946"/>
            <a:ext cx="3181350" cy="0"/>
          </a:xfrm>
          <a:prstGeom prst="line">
            <a:avLst/>
          </a:prstGeom>
          <a:ln w="9525" cap="flat">
            <a:solidFill>
              <a:srgbClr val="E6E8F2"/>
            </a:solidFill>
          </a:ln>
        </p:spPr>
      </p:cxnSp>
      <p:cxnSp>
        <p:nvCxnSpPr>
          <p:cNvPr id="46" name="Line 46"/>
          <p:cNvCxnSpPr/>
          <p:nvPr/>
        </p:nvCxnSpPr>
        <p:spPr>
          <a:xfrm>
            <a:off x="8210245" y="2439162"/>
            <a:ext cx="3181350" cy="0"/>
          </a:xfrm>
          <a:prstGeom prst="line">
            <a:avLst/>
          </a:prstGeom>
          <a:ln w="9525" cap="flat">
            <a:solidFill>
              <a:srgbClr val="E6E8F2"/>
            </a:solidFill>
          </a:ln>
        </p:spPr>
      </p:cxnSp>
      <p:cxnSp>
        <p:nvCxnSpPr>
          <p:cNvPr id="47" name="Line 47"/>
          <p:cNvCxnSpPr/>
          <p:nvPr/>
        </p:nvCxnSpPr>
        <p:spPr>
          <a:xfrm>
            <a:off x="8210245" y="2439162"/>
            <a:ext cx="0" cy="2876550"/>
          </a:xfrm>
          <a:prstGeom prst="line">
            <a:avLst/>
          </a:prstGeom>
          <a:ln w="19050" cap="flat">
            <a:solidFill>
              <a:srgbClr val="5F6272"/>
            </a:solidFill>
          </a:ln>
        </p:spPr>
      </p:cxnSp>
      <p:cxnSp>
        <p:nvCxnSpPr>
          <p:cNvPr id="48" name="Line 48"/>
          <p:cNvCxnSpPr/>
          <p:nvPr/>
        </p:nvCxnSpPr>
        <p:spPr>
          <a:xfrm>
            <a:off x="8210245" y="5315712"/>
            <a:ext cx="3181350" cy="0"/>
          </a:xfrm>
          <a:prstGeom prst="line">
            <a:avLst/>
          </a:prstGeom>
          <a:ln w="19050" cap="flat">
            <a:solidFill>
              <a:srgbClr val="5F6272"/>
            </a:solidFill>
          </a:ln>
        </p:spPr>
      </p:cxnSp>
      <p:sp>
        <p:nvSpPr>
          <p:cNvPr id="49" name="Shape 49"/>
          <p:cNvSpPr txBox="1"/>
          <p:nvPr/>
        </p:nvSpPr>
        <p:spPr>
          <a:xfrm>
            <a:off x="793592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825406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1" name="Shape 51"/>
          <p:cNvSpPr txBox="1"/>
          <p:nvPr/>
        </p:nvSpPr>
        <p:spPr>
          <a:xfrm>
            <a:off x="857219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889033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3" name="Shape 53"/>
          <p:cNvSpPr txBox="1"/>
          <p:nvPr/>
        </p:nvSpPr>
        <p:spPr>
          <a:xfrm>
            <a:off x="920846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4" name="Shape 54"/>
          <p:cNvSpPr txBox="1"/>
          <p:nvPr/>
        </p:nvSpPr>
        <p:spPr>
          <a:xfrm>
            <a:off x="952660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55" name="Shape 55"/>
          <p:cNvSpPr txBox="1"/>
          <p:nvPr/>
        </p:nvSpPr>
        <p:spPr>
          <a:xfrm>
            <a:off x="984473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12</a:t>
            </a:r>
            <a:endParaRPr lang="en-US" sz="975" dirty="0"/>
          </a:p>
        </p:txBody>
      </p:sp>
      <p:sp>
        <p:nvSpPr>
          <p:cNvPr id="56" name="Shape 56"/>
          <p:cNvSpPr txBox="1"/>
          <p:nvPr/>
        </p:nvSpPr>
        <p:spPr>
          <a:xfrm>
            <a:off x="1016287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14</a:t>
            </a:r>
            <a:endParaRPr lang="en-US" sz="975" dirty="0"/>
          </a:p>
        </p:txBody>
      </p:sp>
      <p:sp>
        <p:nvSpPr>
          <p:cNvPr id="57" name="Shape 57"/>
          <p:cNvSpPr txBox="1"/>
          <p:nvPr/>
        </p:nvSpPr>
        <p:spPr>
          <a:xfrm>
            <a:off x="1048100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16</a:t>
            </a:r>
            <a:endParaRPr lang="en-US" sz="975" dirty="0"/>
          </a:p>
        </p:txBody>
      </p:sp>
      <p:sp>
        <p:nvSpPr>
          <p:cNvPr id="58" name="Shape 58"/>
          <p:cNvSpPr txBox="1"/>
          <p:nvPr/>
        </p:nvSpPr>
        <p:spPr>
          <a:xfrm>
            <a:off x="10799140"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18</a:t>
            </a:r>
            <a:endParaRPr lang="en-US" sz="975" dirty="0"/>
          </a:p>
        </p:txBody>
      </p:sp>
      <p:sp>
        <p:nvSpPr>
          <p:cNvPr id="59" name="Shape 59"/>
          <p:cNvSpPr txBox="1"/>
          <p:nvPr/>
        </p:nvSpPr>
        <p:spPr>
          <a:xfrm>
            <a:off x="11117275" y="533476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20</a:t>
            </a:r>
            <a:endParaRPr lang="en-US" sz="975" dirty="0"/>
          </a:p>
        </p:txBody>
      </p:sp>
      <p:sp>
        <p:nvSpPr>
          <p:cNvPr id="60" name="Shape 60"/>
          <p:cNvSpPr txBox="1"/>
          <p:nvPr/>
        </p:nvSpPr>
        <p:spPr>
          <a:xfrm>
            <a:off x="7643317" y="52242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7643317" y="48647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2" name="Shape 62"/>
          <p:cNvSpPr txBox="1"/>
          <p:nvPr/>
        </p:nvSpPr>
        <p:spPr>
          <a:xfrm>
            <a:off x="7643317" y="45051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3" name="Shape 63"/>
          <p:cNvSpPr txBox="1"/>
          <p:nvPr/>
        </p:nvSpPr>
        <p:spPr>
          <a:xfrm>
            <a:off x="7643317" y="4145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4" name="Shape 64"/>
          <p:cNvSpPr txBox="1"/>
          <p:nvPr/>
        </p:nvSpPr>
        <p:spPr>
          <a:xfrm>
            <a:off x="7643317" y="378599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65" name="Shape 65"/>
          <p:cNvSpPr txBox="1"/>
          <p:nvPr/>
        </p:nvSpPr>
        <p:spPr>
          <a:xfrm>
            <a:off x="7643317" y="34264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7643317" y="30668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12</a:t>
            </a:r>
            <a:endParaRPr lang="en-US" sz="975" dirty="0"/>
          </a:p>
        </p:txBody>
      </p:sp>
      <p:sp>
        <p:nvSpPr>
          <p:cNvPr id="67" name="Shape 67"/>
          <p:cNvSpPr txBox="1"/>
          <p:nvPr/>
        </p:nvSpPr>
        <p:spPr>
          <a:xfrm>
            <a:off x="7643317" y="270729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14</a:t>
            </a:r>
            <a:endParaRPr lang="en-US" sz="975" dirty="0"/>
          </a:p>
        </p:txBody>
      </p:sp>
      <p:sp>
        <p:nvSpPr>
          <p:cNvPr id="68" name="Shape 68"/>
          <p:cNvSpPr txBox="1"/>
          <p:nvPr/>
        </p:nvSpPr>
        <p:spPr>
          <a:xfrm>
            <a:off x="7643317" y="23477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16</a:t>
            </a:r>
            <a:endParaRPr lang="en-US" sz="975" dirty="0"/>
          </a:p>
        </p:txBody>
      </p:sp>
      <p:sp>
        <p:nvSpPr>
          <p:cNvPr id="69" name="Shape 69"/>
          <p:cNvSpPr/>
          <p:nvPr/>
        </p:nvSpPr>
        <p:spPr>
          <a:xfrm>
            <a:off x="11021073" y="52633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11159185" y="50680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(18, 0)</a:t>
            </a:r>
            <a:endParaRPr lang="en-US" sz="1125" dirty="0"/>
          </a:p>
        </p:txBody>
      </p:sp>
      <p:sp>
        <p:nvSpPr>
          <p:cNvPr id="71" name="Shape 71"/>
          <p:cNvSpPr/>
          <p:nvPr/>
        </p:nvSpPr>
        <p:spPr>
          <a:xfrm>
            <a:off x="8157858" y="3105912"/>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2" name="Shape 72"/>
          <p:cNvSpPr txBox="1"/>
          <p:nvPr/>
        </p:nvSpPr>
        <p:spPr>
          <a:xfrm>
            <a:off x="8295970" y="291065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(0, 12)</a:t>
            </a:r>
            <a:endParaRPr lang="en-US" sz="1125" dirty="0"/>
          </a:p>
        </p:txBody>
      </p:sp>
      <p:cxnSp>
        <p:nvCxnSpPr>
          <p:cNvPr id="73" name="Line 73"/>
          <p:cNvCxnSpPr/>
          <p:nvPr/>
        </p:nvCxnSpPr>
        <p:spPr>
          <a:xfrm>
            <a:off x="8210245" y="3158300"/>
            <a:ext cx="2863215" cy="2157412"/>
          </a:xfrm>
          <a:prstGeom prst="line">
            <a:avLst/>
          </a:prstGeom>
          <a:ln w="38100" cap="rnd">
            <a:solidFill>
              <a:srgbClr val="16171D"/>
            </a:solidFill>
          </a:ln>
        </p:spPr>
      </p:cxnSp>
      <p:sp>
        <p:nvSpPr>
          <p:cNvPr id="74" name="Slide Number 7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500"/>
                                        <p:tgtEl>
                                          <p:spTgt spid="69"/>
                                        </p:tgtEl>
                                      </p:cBhvr>
                                    </p:animEffect>
                                    <p:anim calcmode="lin" valueType="num">
                                      <p:cBhvr>
                                        <p:cTn id="26" dur="500" fill="hold"/>
                                        <p:tgtEl>
                                          <p:spTgt spid="69"/>
                                        </p:tgtEl>
                                        <p:attrNameLst>
                                          <p:attrName>ppt_w</p:attrName>
                                        </p:attrNameLst>
                                      </p:cBhvr>
                                      <p:tavLst>
                                        <p:tav tm="0">
                                          <p:val>
                                            <p:fltVal val="0"/>
                                          </p:val>
                                        </p:tav>
                                        <p:tav tm="100000">
                                          <p:val>
                                            <p:strVal val="#ppt_w"/>
                                          </p:val>
                                        </p:tav>
                                      </p:tavLst>
                                    </p:anim>
                                    <p:anim calcmode="lin" valueType="num">
                                      <p:cBhvr>
                                        <p:cTn id="27" dur="500" fill="hold"/>
                                        <p:tgtEl>
                                          <p:spTgt spid="69"/>
                                        </p:tgtEl>
                                        <p:attrNameLst>
                                          <p:attrName>ppt_h</p:attrName>
                                        </p:attrNameLst>
                                      </p:cBhvr>
                                      <p:tavLst>
                                        <p:tav tm="0">
                                          <p:val>
                                            <p:fltVal val="0"/>
                                          </p:val>
                                        </p:tav>
                                        <p:tav tm="100000">
                                          <p:val>
                                            <p:strVal val="#ppt_h"/>
                                          </p:val>
                                        </p:tav>
                                      </p:tavLst>
                                    </p:anim>
                                  </p:childTnLst>
                                </p:cTn>
                              </p:par>
                              <p:par>
                                <p:cTn id="33" presetID="53" presetClass="entr" presetSubtype="16" fill="hold" nodeType="withEffect">
                                  <p:stCondLst>
                                    <p:cond delay="0"/>
                                  </p:stCondLst>
                                  <p:childTnLst>
                                    <p:set>
                                      <p:cBhvr>
                                        <p:cTn id="29" dur="1" fill="hold">
                                          <p:stCondLst>
                                            <p:cond delay="0"/>
                                          </p:stCondLst>
                                        </p:cTn>
                                        <p:tgtEl>
                                          <p:spTgt spid="70"/>
                                        </p:tgtEl>
                                        <p:attrNameLst>
                                          <p:attrName>style.visibility</p:attrName>
                                        </p:attrNameLst>
                                      </p:cBhvr>
                                      <p:to>
                                        <p:strVal val="visible"/>
                                      </p:to>
                                    </p:set>
                                    <p:animEffect transition="in" filter="fade">
                                      <p:cBhvr>
                                        <p:cTn id="30" dur="500"/>
                                        <p:tgtEl>
                                          <p:spTgt spid="70"/>
                                        </p:tgtEl>
                                      </p:cBhvr>
                                    </p:animEffect>
                                    <p:anim calcmode="lin" valueType="num">
                                      <p:cBhvr>
                                        <p:cTn id="31" dur="500" fill="hold"/>
                                        <p:tgtEl>
                                          <p:spTgt spid="70"/>
                                        </p:tgtEl>
                                        <p:attrNameLst>
                                          <p:attrName>ppt_w</p:attrName>
                                        </p:attrNameLst>
                                      </p:cBhvr>
                                      <p:tavLst>
                                        <p:tav tm="0">
                                          <p:val>
                                            <p:fltVal val="0"/>
                                          </p:val>
                                        </p:tav>
                                        <p:tav tm="100000">
                                          <p:val>
                                            <p:strVal val="#ppt_w"/>
                                          </p:val>
                                        </p:tav>
                                      </p:tavLst>
                                    </p:anim>
                                    <p:anim calcmode="lin" valueType="num">
                                      <p:cBhvr>
                                        <p:cTn id="32" dur="500" fill="hold"/>
                                        <p:tgtEl>
                                          <p:spTgt spid="70"/>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0" presetID="53" presetClass="entr" presetSubtype="16" fill="hold" nodeType="click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par>
                                <p:cTn id="45" presetID="53" presetClass="entr" presetSubtype="16" fill="hold"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fade">
                                      <p:cBhvr>
                                        <p:cTn id="42" dur="500"/>
                                        <p:tgtEl>
                                          <p:spTgt spid="72"/>
                                        </p:tgtEl>
                                      </p:cBhvr>
                                    </p:animEffect>
                                    <p:anim calcmode="lin" valueType="num">
                                      <p:cBhvr>
                                        <p:cTn id="43" dur="500" fill="hold"/>
                                        <p:tgtEl>
                                          <p:spTgt spid="72"/>
                                        </p:tgtEl>
                                        <p:attrNameLst>
                                          <p:attrName>ppt_w</p:attrName>
                                        </p:attrNameLst>
                                      </p:cBhvr>
                                      <p:tavLst>
                                        <p:tav tm="0">
                                          <p:val>
                                            <p:fltVal val="0"/>
                                          </p:val>
                                        </p:tav>
                                        <p:tav tm="100000">
                                          <p:val>
                                            <p:strVal val="#ppt_w"/>
                                          </p:val>
                                        </p:tav>
                                      </p:tavLst>
                                    </p:anim>
                                    <p:anim calcmode="lin" valueType="num">
                                      <p:cBhvr>
                                        <p:cTn id="44" dur="500" fill="hold"/>
                                        <p:tgtEl>
                                          <p:spTgt spid="72"/>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0" presetID="22" presetClass="entr" presetSubtype="8"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7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5 · Talk the Talk · Question 3 · SE pp. 233–234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Advantages and disadvantages of each form</a:t>
            </a:r>
            <a:endParaRPr lang="en-US" sz="3450" dirty="0"/>
          </a:p>
        </p:txBody>
      </p:sp>
      <p:sp>
        <p:nvSpPr>
          <p:cNvPr id="4" name="Shape 4"/>
          <p:cNvSpPr txBox="1"/>
          <p:nvPr/>
        </p:nvSpPr>
        <p:spPr>
          <a:xfrm>
            <a:off x="685800" y="1618488"/>
            <a:ext cx="2164019"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Form</a:t>
            </a:r>
            <a:endParaRPr lang="en-US" sz="1950" dirty="0"/>
          </a:p>
        </p:txBody>
      </p:sp>
      <p:sp>
        <p:nvSpPr>
          <p:cNvPr id="5" name="Shape 5"/>
          <p:cNvSpPr txBox="1"/>
          <p:nvPr/>
        </p:nvSpPr>
        <p:spPr>
          <a:xfrm>
            <a:off x="2849819"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Advantages</a:t>
            </a:r>
            <a:endParaRPr lang="en-US" sz="1950" dirty="0"/>
          </a:p>
        </p:txBody>
      </p:sp>
      <p:sp>
        <p:nvSpPr>
          <p:cNvPr id="6" name="Shape 6"/>
          <p:cNvSpPr txBox="1"/>
          <p:nvPr/>
        </p:nvSpPr>
        <p:spPr>
          <a:xfrm>
            <a:off x="7177857" y="1618488"/>
            <a:ext cx="4328038" cy="498348"/>
          </a:xfrm>
          <a:prstGeom prst="rect">
            <a:avLst/>
          </a:prstGeom>
          <a:noFill/>
          <a:ln>
            <a:noFill/>
          </a:ln>
        </p:spPr>
        <p:txBody>
          <a:bodyPr wrap="square" lIns="109728" tIns="45720" rIns="109728" bIns="45720" anchor="ctr">
            <a:noAutofit/>
          </a:bodyPr>
          <a:lstStyle/>
          <a:p>
            <a:pPr algn="l">
              <a:lnSpc>
                <a:spcPct val="100000"/>
              </a:lnSpc>
            </a:pPr>
            <a:r>
              <a:rPr lang="en-US" sz="1950" dirty="0" b="1">
                <a:solidFill>
                  <a:srgbClr val="16171D"/>
                </a:solidFill>
                <a:latin typeface="Segoe UI"/>
                <a:cs typeface="Segoe UI"/>
              </a:rPr>
              <a:t xml:space="preserve">Disadvantages</a:t>
            </a:r>
            <a:endParaRPr lang="en-US" sz="1950" dirty="0"/>
          </a:p>
        </p:txBody>
      </p:sp>
      <p:cxnSp>
        <p:nvCxnSpPr>
          <p:cNvPr id="7" name="Line 7"/>
          <p:cNvCxnSpPr/>
          <p:nvPr/>
        </p:nvCxnSpPr>
        <p:spPr>
          <a:xfrm>
            <a:off x="685800" y="2116836"/>
            <a:ext cx="10820095" cy="0"/>
          </a:xfrm>
          <a:prstGeom prst="line">
            <a:avLst/>
          </a:prstGeom>
          <a:ln w="9525" cap="flat">
            <a:solidFill>
              <a:srgbClr val="E3E4EC"/>
            </a:solidFill>
          </a:ln>
        </p:spPr>
      </p:cxnSp>
      <p:sp>
        <p:nvSpPr>
          <p:cNvPr id="8" name="Shape 8"/>
          <p:cNvSpPr txBox="1"/>
          <p:nvPr/>
        </p:nvSpPr>
        <p:spPr>
          <a:xfrm>
            <a:off x="685800" y="2116836"/>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Slope-intercept</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a:t>
            </a:r>
            <a:endParaRPr lang="en-US" sz="1800" dirty="0"/>
          </a:p>
        </p:txBody>
      </p:sp>
      <p:sp>
        <p:nvSpPr>
          <p:cNvPr id="9" name="Shape 9"/>
          <p:cNvSpPr txBox="1"/>
          <p:nvPr/>
        </p:nvSpPr>
        <p:spPr>
          <a:xfrm>
            <a:off x="2849819"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Easy to write from a starting value and a rate. Graph from the intercept and slope.</a:t>
            </a:r>
            <a:endParaRPr lang="en-US" sz="1800" dirty="0"/>
          </a:p>
        </p:txBody>
      </p:sp>
      <p:sp>
        <p:nvSpPr>
          <p:cNvPr id="10" name="Shape 10"/>
          <p:cNvSpPr txBox="1"/>
          <p:nvPr/>
        </p:nvSpPr>
        <p:spPr>
          <a:xfrm>
            <a:off x="7177857" y="2116836"/>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Less helpful if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 doesn't make sense or is off the part of the graph you need.</a:t>
            </a:r>
            <a:endParaRPr lang="en-US" sz="1800" dirty="0"/>
          </a:p>
        </p:txBody>
      </p:sp>
      <p:cxnSp>
        <p:nvCxnSpPr>
          <p:cNvPr id="11" name="Line 11"/>
          <p:cNvCxnSpPr/>
          <p:nvPr/>
        </p:nvCxnSpPr>
        <p:spPr>
          <a:xfrm>
            <a:off x="685800" y="3415284"/>
            <a:ext cx="10820095" cy="0"/>
          </a:xfrm>
          <a:prstGeom prst="line">
            <a:avLst/>
          </a:prstGeom>
          <a:ln w="9525" cap="flat">
            <a:solidFill>
              <a:srgbClr val="E3E4EC"/>
            </a:solidFill>
          </a:ln>
        </p:spPr>
      </p:cxnSp>
      <p:sp>
        <p:nvSpPr>
          <p:cNvPr id="12" name="Shape 12"/>
          <p:cNvSpPr txBox="1"/>
          <p:nvPr/>
        </p:nvSpPr>
        <p:spPr>
          <a:xfrm>
            <a:off x="685800" y="3415284"/>
            <a:ext cx="2164019" cy="129844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Point-slope</a:t>
            </a:r>
            <a:br>
              <a:rPr lang="en-US" sz="1800" dirty="0">
                <a:solidFill>
                  <a:srgbClr val="16171D"/>
                </a:solidFill>
                <a:latin typeface="Segoe UI"/>
                <a:cs typeface="Segoe UI"/>
              </a:rPr>
            </a:br>
            <a:r>
              <a:rPr lang="en-US" sz="1800" dirty="0" i="1">
                <a:solidFill>
                  <a:srgbClr val="16171D"/>
                </a:solidFill>
                <a:latin typeface="Cambria"/>
                <a:cs typeface="Cambria"/>
              </a:rPr>
              <a:t xml:space="preserve">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y</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m</a:t>
            </a:r>
            <a:r>
              <a:rPr lang="en-US" sz="1800" dirty="0">
                <a:solidFill>
                  <a:srgbClr val="16171D"/>
                </a:solidFill>
                <a:latin typeface="Cambria"/>
                <a:cs typeface="Cambria"/>
              </a:rPr>
              <a:t xml:space="preserve">(</a:t>
            </a:r>
            <a:r>
              <a:rPr lang="en-US" sz="1800" dirty="0" i="1">
                <a:solidFill>
                  <a:srgbClr val="16171D"/>
                </a:solidFill>
                <a:latin typeface="Cambria"/>
                <a:cs typeface="Cambria"/>
              </a:rPr>
              <a:t xml:space="preserve">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x</a:t>
            </a:r>
            <a:r>
              <a:rPr lang="en-US" sz="1530" dirty="0" baseline="-25000">
                <a:solidFill>
                  <a:srgbClr val="16171D"/>
                </a:solidFill>
                <a:latin typeface="Cambria"/>
                <a:cs typeface="Cambria"/>
              </a:rPr>
              <a:t xml:space="preserve">1</a:t>
            </a:r>
            <a:r>
              <a:rPr lang="en-US" sz="1800" dirty="0">
                <a:solidFill>
                  <a:srgbClr val="16171D"/>
                </a:solidFill>
                <a:latin typeface="Cambria"/>
                <a:cs typeface="Cambria"/>
              </a:rPr>
              <a:t xml:space="preserve">)</a:t>
            </a:r>
            <a:endParaRPr lang="en-US" sz="1800" dirty="0"/>
          </a:p>
        </p:txBody>
      </p:sp>
      <p:sp>
        <p:nvSpPr>
          <p:cNvPr id="13" name="Shape 13"/>
          <p:cNvSpPr txBox="1"/>
          <p:nvPr/>
        </p:nvSpPr>
        <p:spPr>
          <a:xfrm>
            <a:off x="2849819"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Shows the slope and a point. Easy to write from two points or a point and a rate. Graph from the point and slope.</a:t>
            </a:r>
            <a:endParaRPr lang="en-US" sz="1800" dirty="0"/>
          </a:p>
        </p:txBody>
      </p:sp>
      <p:sp>
        <p:nvSpPr>
          <p:cNvPr id="14" name="Shape 14"/>
          <p:cNvSpPr txBox="1"/>
          <p:nvPr/>
        </p:nvSpPr>
        <p:spPr>
          <a:xfrm>
            <a:off x="7177857" y="3415284"/>
            <a:ext cx="4328038" cy="129844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Doesn't show the </a:t>
            </a: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cxnSp>
        <p:nvCxnSpPr>
          <p:cNvPr id="15" name="Line 15"/>
          <p:cNvCxnSpPr/>
          <p:nvPr/>
        </p:nvCxnSpPr>
        <p:spPr>
          <a:xfrm>
            <a:off x="685800" y="4713732"/>
            <a:ext cx="10820095" cy="0"/>
          </a:xfrm>
          <a:prstGeom prst="line">
            <a:avLst/>
          </a:prstGeom>
          <a:ln w="9525" cap="flat">
            <a:solidFill>
              <a:srgbClr val="E3E4EC"/>
            </a:solidFill>
          </a:ln>
        </p:spPr>
      </p:cxnSp>
      <p:sp>
        <p:nvSpPr>
          <p:cNvPr id="16" name="Shape 16"/>
          <p:cNvSpPr txBox="1"/>
          <p:nvPr/>
        </p:nvSpPr>
        <p:spPr>
          <a:xfrm>
            <a:off x="685800" y="4713732"/>
            <a:ext cx="2164019" cy="1024128"/>
          </a:xfrm>
          <a:prstGeom prst="rect">
            <a:avLst/>
          </a:prstGeom>
          <a:noFill/>
          <a:ln>
            <a:noFill/>
          </a:ln>
        </p:spPr>
        <p:txBody>
          <a:bodyPr wrap="square" lIns="109728" tIns="45720" rIns="109728" bIns="45720" anchor="ctr">
            <a:noAutofit/>
          </a:bodyPr>
          <a:lstStyle/>
          <a:p>
            <a:pPr algn="l">
              <a:lnSpc>
                <a:spcPct val="100000"/>
              </a:lnSpc>
            </a:pPr>
            <a:r>
              <a:rPr lang="en-US" sz="1800" dirty="0" b="1">
                <a:solidFill>
                  <a:srgbClr val="16171D"/>
                </a:solidFill>
                <a:latin typeface="Segoe UI"/>
                <a:cs typeface="Segoe UI"/>
              </a:rPr>
              <a:t xml:space="preserve">Standard</a:t>
            </a:r>
            <a:br>
              <a:rPr lang="en-US" sz="1800" dirty="0">
                <a:solidFill>
                  <a:srgbClr val="16171D"/>
                </a:solidFill>
                <a:latin typeface="Segoe UI"/>
                <a:cs typeface="Segoe UI"/>
              </a:rPr>
            </a:br>
            <a:r>
              <a:rPr lang="en-US" sz="1800" dirty="0" i="1">
                <a:solidFill>
                  <a:srgbClr val="16171D"/>
                </a:solidFill>
                <a:latin typeface="Cambria"/>
                <a:cs typeface="Cambria"/>
              </a:rPr>
              <a:t xml:space="preserve">Ax</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By</a:t>
            </a:r>
            <a:r>
              <a:rPr lang="en-US" sz="1800" dirty="0">
                <a:solidFill>
                  <a:srgbClr val="16171D"/>
                </a:solidFill>
                <a:latin typeface="Cambria"/>
                <a:cs typeface="Cambria"/>
              </a:rPr>
              <a:t xml:space="preserve"> = </a:t>
            </a:r>
            <a:r>
              <a:rPr lang="en-US" sz="1800" dirty="0" i="1">
                <a:solidFill>
                  <a:srgbClr val="16171D"/>
                </a:solidFill>
                <a:latin typeface="Cambria"/>
                <a:cs typeface="Cambria"/>
              </a:rPr>
              <a:t xml:space="preserve">C</a:t>
            </a:r>
            <a:endParaRPr lang="en-US" sz="1800" dirty="0"/>
          </a:p>
        </p:txBody>
      </p:sp>
      <p:sp>
        <p:nvSpPr>
          <p:cNvPr id="17" name="Shape 17"/>
          <p:cNvSpPr txBox="1"/>
          <p:nvPr/>
        </p:nvSpPr>
        <p:spPr>
          <a:xfrm>
            <a:off x="2849819"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Fits contexts where two amounts add to a total. Both intercepts are easy to find and graph.</a:t>
            </a:r>
            <a:endParaRPr lang="en-US" sz="1800" dirty="0"/>
          </a:p>
        </p:txBody>
      </p:sp>
      <p:sp>
        <p:nvSpPr>
          <p:cNvPr id="18" name="Shape 18"/>
          <p:cNvSpPr txBox="1"/>
          <p:nvPr/>
        </p:nvSpPr>
        <p:spPr>
          <a:xfrm>
            <a:off x="7177857" y="4713732"/>
            <a:ext cx="4328038" cy="102412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You have to calculate the slope.</a:t>
            </a:r>
            <a:endParaRPr lang="en-US" sz="1800" dirty="0"/>
          </a:p>
        </p:txBody>
      </p:sp>
      <p:cxnSp>
        <p:nvCxnSpPr>
          <p:cNvPr id="19" name="Line 19"/>
          <p:cNvCxnSpPr/>
          <p:nvPr/>
        </p:nvCxnSpPr>
        <p:spPr>
          <a:xfrm>
            <a:off x="685800" y="5737860"/>
            <a:ext cx="10820095" cy="0"/>
          </a:xfrm>
          <a:prstGeom prst="line">
            <a:avLst/>
          </a:prstGeom>
          <a:ln w="9525" cap="flat">
            <a:solidFill>
              <a:srgbClr val="E3E4EC"/>
            </a:solidFill>
          </a:ln>
        </p:spPr>
      </p:cxn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anim calcmode="lin" valueType="num">
                                      <p:cBhvr>
                                        <p:cTn id="10" dur="500" fill="hold"/>
                                        <p:tgtEl>
                                          <p:spTgt spid="9"/>
                                        </p:tgtEl>
                                        <p:attrNameLst>
                                          <p:attrName>ppt_x</p:attrName>
                                        </p:attrNameLst>
                                      </p:cBhvr>
                                      <p:tavLst>
                                        <p:tav tm="0">
                                          <p:val>
                                            <p:strVal val="#ppt_x"/>
                                          </p:val>
                                        </p:tav>
                                        <p:tav tm="100000">
                                          <p:val>
                                            <p:strVal val="#ppt_x"/>
                                          </p:val>
                                        </p:tav>
                                      </p:tavLst>
                                    </p:anim>
                                    <p:anim calcmode="lin" valueType="num">
                                      <p:cBhvr>
                                        <p:cTn id="11" dur="5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anim calcmode="lin" valueType="num">
                                      <p:cBhvr>
                                        <p:cTn id="20" dur="500" fill="hold"/>
                                        <p:tgtEl>
                                          <p:spTgt spid="11"/>
                                        </p:tgtEl>
                                        <p:attrNameLst>
                                          <p:attrName>ppt_x</p:attrName>
                                        </p:attrNameLst>
                                      </p:cBhvr>
                                      <p:tavLst>
                                        <p:tav tm="0">
                                          <p:val>
                                            <p:strVal val="#ppt_x"/>
                                          </p:val>
                                        </p:tav>
                                        <p:tav tm="100000">
                                          <p:val>
                                            <p:strVal val="#ppt_x"/>
                                          </p:val>
                                        </p:tav>
                                      </p:tavLst>
                                    </p:anim>
                                    <p:anim calcmode="lin" valueType="num">
                                      <p:cBhvr>
                                        <p:cTn id="21"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anim calcmode="lin" valueType="num">
                                      <p:cBhvr>
                                        <p:cTn id="32" dur="500" fill="hold"/>
                                        <p:tgtEl>
                                          <p:spTgt spid="13"/>
                                        </p:tgtEl>
                                        <p:attrNameLst>
                                          <p:attrName>ppt_x</p:attrName>
                                        </p:attrNameLst>
                                      </p:cBhvr>
                                      <p:tavLst>
                                        <p:tav tm="0">
                                          <p:val>
                                            <p:strVal val="#ppt_x"/>
                                          </p:val>
                                        </p:tav>
                                        <p:tav tm="100000">
                                          <p:val>
                                            <p:strVal val="#ppt_x"/>
                                          </p:val>
                                        </p:tav>
                                      </p:tavLst>
                                    </p:anim>
                                    <p:anim calcmode="lin" valueType="num">
                                      <p:cBhvr>
                                        <p:cTn id="33" dur="500" fill="hold"/>
                                        <p:tgtEl>
                                          <p:spTgt spid="1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anim calcmode="lin" valueType="num">
                                      <p:cBhvr>
                                        <p:cTn id="49" dur="500" fill="hold"/>
                                        <p:tgtEl>
                                          <p:spTgt spid="16"/>
                                        </p:tgtEl>
                                        <p:attrNameLst>
                                          <p:attrName>ppt_x</p:attrName>
                                        </p:attrNameLst>
                                      </p:cBhvr>
                                      <p:tavLst>
                                        <p:tav tm="0">
                                          <p:val>
                                            <p:strVal val="#ppt_x"/>
                                          </p:val>
                                        </p:tav>
                                        <p:tav tm="100000">
                                          <p:val>
                                            <p:strVal val="#ppt_x"/>
                                          </p:val>
                                        </p:tav>
                                      </p:tavLst>
                                    </p:anim>
                                    <p:anim calcmode="lin" valueType="num">
                                      <p:cBhvr>
                                        <p:cTn id="50" dur="500" fill="hold"/>
                                        <p:tgtEl>
                                          <p:spTgt spid="16"/>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anim calcmode="lin" valueType="num">
                                      <p:cBhvr>
                                        <p:cTn id="54" dur="500" fill="hold"/>
                                        <p:tgtEl>
                                          <p:spTgt spid="17"/>
                                        </p:tgtEl>
                                        <p:attrNameLst>
                                          <p:attrName>ppt_x</p:attrName>
                                        </p:attrNameLst>
                                      </p:cBhvr>
                                      <p:tavLst>
                                        <p:tav tm="0">
                                          <p:val>
                                            <p:strVal val="#ppt_x"/>
                                          </p:val>
                                        </p:tav>
                                        <p:tav tm="100000">
                                          <p:val>
                                            <p:strVal val="#ppt_x"/>
                                          </p:val>
                                        </p:tav>
                                      </p:tavLst>
                                    </p:anim>
                                    <p:anim calcmode="lin" valueType="num">
                                      <p:cBhvr>
                                        <p:cTn id="55" dur="500" fill="hold"/>
                                        <p:tgtEl>
                                          <p:spTgt spid="17"/>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anim calcmode="lin" valueType="num">
                                      <p:cBhvr>
                                        <p:cTn id="59" dur="500" fill="hold"/>
                                        <p:tgtEl>
                                          <p:spTgt spid="18"/>
                                        </p:tgtEl>
                                        <p:attrNameLst>
                                          <p:attrName>ppt_x</p:attrName>
                                        </p:attrNameLst>
                                      </p:cBhvr>
                                      <p:tavLst>
                                        <p:tav tm="0">
                                          <p:val>
                                            <p:strVal val="#ppt_x"/>
                                          </p:val>
                                        </p:tav>
                                        <p:tav tm="100000">
                                          <p:val>
                                            <p:strVal val="#ppt_x"/>
                                          </p:val>
                                        </p:tav>
                                      </p:tavLst>
                                    </p:anim>
                                    <p:anim calcmode="lin" valueType="num">
                                      <p:cBhvr>
                                        <p:cTn id="60" dur="500" fill="hold"/>
                                        <p:tgtEl>
                                          <p:spTgt spid="18"/>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p:cTn id="64" dur="500" fill="hold"/>
                                        <p:tgtEl>
                                          <p:spTgt spid="19"/>
                                        </p:tgtEl>
                                        <p:attrNameLst>
                                          <p:attrName>ppt_x</p:attrName>
                                        </p:attrNameLst>
                                      </p:cBhvr>
                                      <p:tavLst>
                                        <p:tav tm="0">
                                          <p:val>
                                            <p:strVal val="#ppt_x"/>
                                          </p:val>
                                        </p:tav>
                                        <p:tav tm="100000">
                                          <p:val>
                                            <p:strVal val="#ppt_x"/>
                                          </p:val>
                                        </p:tav>
                                      </p:tavLst>
                                    </p:anim>
                                    <p:anim calcmode="lin" valueType="num">
                                      <p:cBhvr>
                                        <p:cTn id="65"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Getting Started: key characteristics</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2.1: horizontal vs. vertical translations</a:t>
            </a:r>
            <a:endParaRPr lang="en-US" sz="1950" dirty="0"/>
          </a:p>
        </p:txBody>
      </p:sp>
      <p:sp>
        <p:nvSpPr>
          <p:cNvPr id="7" name="Shape 7"/>
          <p:cNvSpPr txBox="1"/>
          <p:nvPr/>
        </p:nvSpPr>
        <p:spPr>
          <a:xfrm>
            <a:off x="685800" y="3188970"/>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2 · SE p. 287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Identify key characteristics of linear functions.</a:t>
            </a:r>
            <a:endParaRPr lang="en-US" sz="1950" dirty="0"/>
          </a:p>
        </p:txBody>
      </p:sp>
      <p:sp>
        <p:nvSpPr>
          <p:cNvPr id="5" name="Shape 5"/>
          <p:cNvSpPr txBox="1"/>
          <p:nvPr/>
        </p:nvSpPr>
        <p:spPr>
          <a:xfrm>
            <a:off x="685800" y="210388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Determine the effects on the graph of a linear function when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is replaced by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d</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c</a:t>
            </a:r>
            <a:r>
              <a:rPr lang="en-US" sz="1950" dirty="0">
                <a:solidFill>
                  <a:srgbClr val="16171D"/>
                </a:solidFill>
                <a:latin typeface="Segoe UI"/>
                <a:cs typeface="Segoe UI"/>
              </a:rPr>
              <a:t xml:space="preserve">), </a:t>
            </a:r>
            <a:r>
              <a:rPr lang="en-US" sz="1950" dirty="0" i="1">
                <a:solidFill>
                  <a:srgbClr val="16171D"/>
                </a:solidFill>
                <a:latin typeface="Segoe UI"/>
                <a:cs typeface="Segoe UI"/>
              </a:rPr>
              <a:t xml:space="preserve">a</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and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b</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endParaRPr lang="en-US" sz="195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2 · Key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Key vocabulary</a:t>
            </a:r>
            <a:endParaRPr lang="en-US" sz="3450" dirty="0"/>
          </a:p>
        </p:txBody>
      </p:sp>
      <p:sp>
        <p:nvSpPr>
          <p:cNvPr id="6" name="Shape 6"/>
          <p:cNvSpPr txBox="1"/>
          <p:nvPr/>
        </p:nvSpPr>
        <p:spPr>
          <a:xfrm>
            <a:off x="685800" y="1618488"/>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Input</a:t>
            </a:r>
            <a:endParaRPr lang="en-US" sz="2100" dirty="0"/>
          </a:p>
        </p:txBody>
      </p:sp>
      <p:sp>
        <p:nvSpPr>
          <p:cNvPr id="5" name="Shape 5"/>
          <p:cNvSpPr txBox="1"/>
          <p:nvPr/>
        </p:nvSpPr>
        <p:spPr>
          <a:xfrm>
            <a:off x="895350"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-value you put in.</a:t>
            </a:r>
            <a:endParaRPr lang="en-US" sz="1575" dirty="0"/>
          </a:p>
        </p:txBody>
      </p:sp>
      <p:sp>
        <p:nvSpPr>
          <p:cNvPr id="9" name="Shape 9"/>
          <p:cNvSpPr txBox="1"/>
          <p:nvPr/>
        </p:nvSpPr>
        <p:spPr>
          <a:xfrm>
            <a:off x="4349648" y="1618488"/>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Output</a:t>
            </a:r>
            <a:endParaRPr lang="en-US" sz="2100" dirty="0"/>
          </a:p>
        </p:txBody>
      </p:sp>
      <p:sp>
        <p:nvSpPr>
          <p:cNvPr id="8" name="Shape 8"/>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value that comes out,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or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8013497" y="1618488"/>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Horizontal translation</a:t>
            </a:r>
            <a:endParaRPr lang="en-US" sz="2100" dirty="0"/>
          </a:p>
        </p:txBody>
      </p:sp>
      <p:sp>
        <p:nvSpPr>
          <p:cNvPr id="11" name="Shape 11"/>
          <p:cNvSpPr txBox="1"/>
          <p:nvPr/>
        </p:nvSpPr>
        <p:spPr>
          <a:xfrm>
            <a:off x="8223047"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Moves the graph left or right.</a:t>
            </a:r>
            <a:endParaRPr lang="en-US" sz="1575" dirty="0"/>
          </a:p>
        </p:txBody>
      </p:sp>
      <p:sp>
        <p:nvSpPr>
          <p:cNvPr id="12" name="Shape 12"/>
          <p:cNvSpPr txBox="1"/>
          <p:nvPr/>
        </p:nvSpPr>
        <p:spPr>
          <a:xfrm>
            <a:off x="8223047"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− 3</a:t>
            </a:r>
            <a:r>
              <a:rPr lang="en-US" sz="2325" dirty="0">
                <a:solidFill>
                  <a:srgbClr val="16171D"/>
                </a:solidFill>
                <a:latin typeface="Cambria"/>
                <a:cs typeface="Cambria"/>
              </a:rPr>
              <a:t xml:space="preserve">): right 3</a:t>
            </a:r>
            <a:endParaRPr lang="en-US" sz="2325" dirty="0"/>
          </a:p>
        </p:txBody>
      </p:sp>
      <p:sp>
        <p:nvSpPr>
          <p:cNvPr id="17" name="Shape 17"/>
          <p:cNvSpPr txBox="1"/>
          <p:nvPr/>
        </p:nvSpPr>
        <p:spPr>
          <a:xfrm>
            <a:off x="685800" y="340233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4" name="Shape 14"/>
          <p:cNvSpPr txBox="1"/>
          <p:nvPr/>
        </p:nvSpPr>
        <p:spPr>
          <a:xfrm>
            <a:off x="895350" y="357378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Horizontal dilation</a:t>
            </a:r>
            <a:endParaRPr lang="en-US" sz="2100" dirty="0"/>
          </a:p>
        </p:txBody>
      </p:sp>
      <p:sp>
        <p:nvSpPr>
          <p:cNvPr id="15" name="Shape 15"/>
          <p:cNvSpPr txBox="1"/>
          <p:nvPr/>
        </p:nvSpPr>
        <p:spPr>
          <a:xfrm>
            <a:off x="895350" y="404393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Stretches or compresses the graph toward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a:t>
            </a:r>
            <a:endParaRPr lang="en-US" sz="1575" dirty="0"/>
          </a:p>
        </p:txBody>
      </p:sp>
      <p:sp>
        <p:nvSpPr>
          <p:cNvPr id="16" name="Shape 16"/>
          <p:cNvSpPr txBox="1"/>
          <p:nvPr/>
        </p:nvSpPr>
        <p:spPr>
          <a:xfrm>
            <a:off x="895350" y="467410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20" name="Shape 20"/>
          <p:cNvSpPr txBox="1"/>
          <p:nvPr/>
        </p:nvSpPr>
        <p:spPr>
          <a:xfrm>
            <a:off x="4349648" y="340233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8" name="Shape 18"/>
          <p:cNvSpPr txBox="1"/>
          <p:nvPr/>
        </p:nvSpPr>
        <p:spPr>
          <a:xfrm>
            <a:off x="4559198" y="357378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Inside vs. outside</a:t>
            </a:r>
            <a:endParaRPr lang="en-US" sz="2100" dirty="0"/>
          </a:p>
        </p:txBody>
      </p:sp>
      <p:sp>
        <p:nvSpPr>
          <p:cNvPr id="19" name="Shape 19"/>
          <p:cNvSpPr txBox="1"/>
          <p:nvPr/>
        </p:nvSpPr>
        <p:spPr>
          <a:xfrm>
            <a:off x="4559198" y="404393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Inside the parentheses: input. Outside: output.</a:t>
            </a:r>
            <a:endParaRPr lang="en-US" sz="1575" dirty="0"/>
          </a:p>
        </p:txBody>
      </p:sp>
      <p:sp>
        <p:nvSpPr>
          <p:cNvPr id="23" name="Shape 23"/>
          <p:cNvSpPr txBox="1"/>
          <p:nvPr/>
        </p:nvSpPr>
        <p:spPr>
          <a:xfrm>
            <a:off x="8013497" y="340233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1" name="Shape 21"/>
          <p:cNvSpPr txBox="1"/>
          <p:nvPr/>
        </p:nvSpPr>
        <p:spPr>
          <a:xfrm>
            <a:off x="8223047" y="357378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Counterexample</a:t>
            </a:r>
            <a:endParaRPr lang="en-US" sz="2100" dirty="0"/>
          </a:p>
        </p:txBody>
      </p:sp>
      <p:sp>
        <p:nvSpPr>
          <p:cNvPr id="22" name="Shape 22"/>
          <p:cNvSpPr txBox="1"/>
          <p:nvPr/>
        </p:nvSpPr>
        <p:spPr>
          <a:xfrm>
            <a:off x="8223047" y="404393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One example that shows a rule is not always true.</a:t>
            </a:r>
            <a:endParaRPr lang="en-US" sz="1575" dirty="0"/>
          </a:p>
        </p:txBody>
      </p:sp>
      <p:sp>
        <p:nvSpPr>
          <p:cNvPr id="24" name="Slide Number 2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287</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have learned the effects of vertical transformations on linear functions.</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What effect do horizontal transformations have on linear functions? How do they compare to vertical transformations?</a:t>
            </a:r>
            <a:endParaRPr lang="en-US" sz="27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Hey, I Remember This! · SE p. 288</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Graph each function and describe its key characteristics</a:t>
            </a:r>
            <a:endParaRPr lang="en-US" sz="3450" dirty="0"/>
          </a:p>
        </p:txBody>
      </p:sp>
      <p:sp>
        <p:nvSpPr>
          <p:cNvPr id="4" name="Shape 4"/>
          <p:cNvSpPr txBox="1"/>
          <p:nvPr/>
        </p:nvSpPr>
        <p:spPr>
          <a:xfrm>
            <a:off x="685800" y="2144268"/>
            <a:ext cx="33526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5" name="Shape 5"/>
          <p:cNvSpPr txBox="1"/>
          <p:nvPr/>
        </p:nvSpPr>
        <p:spPr>
          <a:xfrm>
            <a:off x="685800" y="2648712"/>
            <a:ext cx="1508714"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Domain, range</a:t>
            </a:r>
            <a:endParaRPr lang="en-US" sz="1800" dirty="0"/>
          </a:p>
        </p:txBody>
      </p:sp>
      <p:sp>
        <p:nvSpPr>
          <p:cNvPr id="6" name="Shape 6"/>
          <p:cNvSpPr txBox="1"/>
          <p:nvPr/>
        </p:nvSpPr>
        <p:spPr>
          <a:xfrm>
            <a:off x="2194514" y="2648712"/>
            <a:ext cx="1843984" cy="74980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7" name="Shape 7"/>
          <p:cNvSpPr txBox="1"/>
          <p:nvPr/>
        </p:nvSpPr>
        <p:spPr>
          <a:xfrm>
            <a:off x="2194514" y="2648712"/>
            <a:ext cx="1843984"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All real numbers</a:t>
            </a:r>
            <a:endParaRPr lang="en-US" sz="1800" dirty="0"/>
          </a:p>
        </p:txBody>
      </p:sp>
      <p:cxnSp>
        <p:nvCxnSpPr>
          <p:cNvPr id="8" name="Line 8"/>
          <p:cNvCxnSpPr/>
          <p:nvPr/>
        </p:nvCxnSpPr>
        <p:spPr>
          <a:xfrm>
            <a:off x="685800" y="3398520"/>
            <a:ext cx="3352698" cy="0"/>
          </a:xfrm>
          <a:prstGeom prst="line">
            <a:avLst/>
          </a:prstGeom>
          <a:ln w="9525" cap="flat">
            <a:solidFill>
              <a:srgbClr val="E3E4EC"/>
            </a:solidFill>
          </a:ln>
        </p:spPr>
      </p:cxnSp>
      <p:sp>
        <p:nvSpPr>
          <p:cNvPr id="9" name="Shape 9"/>
          <p:cNvSpPr txBox="1"/>
          <p:nvPr/>
        </p:nvSpPr>
        <p:spPr>
          <a:xfrm>
            <a:off x="685800" y="3398520"/>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-intercept</a:t>
            </a:r>
            <a:endParaRPr lang="en-US" sz="1800" dirty="0"/>
          </a:p>
        </p:txBody>
      </p:sp>
      <p:sp>
        <p:nvSpPr>
          <p:cNvPr id="10" name="Shape 10"/>
          <p:cNvSpPr txBox="1"/>
          <p:nvPr/>
        </p:nvSpPr>
        <p:spPr>
          <a:xfrm>
            <a:off x="2194514" y="3398520"/>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1" name="Shape 11"/>
          <p:cNvSpPr txBox="1"/>
          <p:nvPr/>
        </p:nvSpPr>
        <p:spPr>
          <a:xfrm>
            <a:off x="2194514" y="3398520"/>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(8/3, 0)</a:t>
            </a:r>
            <a:endParaRPr lang="en-US" sz="1800" dirty="0"/>
          </a:p>
        </p:txBody>
      </p:sp>
      <p:cxnSp>
        <p:nvCxnSpPr>
          <p:cNvPr id="12" name="Line 12"/>
          <p:cNvCxnSpPr/>
          <p:nvPr/>
        </p:nvCxnSpPr>
        <p:spPr>
          <a:xfrm>
            <a:off x="685800" y="3874008"/>
            <a:ext cx="3352698" cy="0"/>
          </a:xfrm>
          <a:prstGeom prst="line">
            <a:avLst/>
          </a:prstGeom>
          <a:ln w="9525" cap="flat">
            <a:solidFill>
              <a:srgbClr val="E3E4EC"/>
            </a:solidFill>
          </a:ln>
        </p:spPr>
      </p:cxnSp>
      <p:sp>
        <p:nvSpPr>
          <p:cNvPr id="13" name="Shape 13"/>
          <p:cNvSpPr txBox="1"/>
          <p:nvPr/>
        </p:nvSpPr>
        <p:spPr>
          <a:xfrm>
            <a:off x="685800" y="3874008"/>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14" name="Shape 14"/>
          <p:cNvSpPr txBox="1"/>
          <p:nvPr/>
        </p:nvSpPr>
        <p:spPr>
          <a:xfrm>
            <a:off x="2194514" y="3874008"/>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5" name="Shape 15"/>
          <p:cNvSpPr txBox="1"/>
          <p:nvPr/>
        </p:nvSpPr>
        <p:spPr>
          <a:xfrm>
            <a:off x="2194514" y="3874008"/>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(0, −8)</a:t>
            </a:r>
            <a:endParaRPr lang="en-US" sz="1800" dirty="0"/>
          </a:p>
        </p:txBody>
      </p:sp>
      <p:cxnSp>
        <p:nvCxnSpPr>
          <p:cNvPr id="16" name="Line 16"/>
          <p:cNvCxnSpPr/>
          <p:nvPr/>
        </p:nvCxnSpPr>
        <p:spPr>
          <a:xfrm>
            <a:off x="685800" y="4349496"/>
            <a:ext cx="3352698" cy="0"/>
          </a:xfrm>
          <a:prstGeom prst="line">
            <a:avLst/>
          </a:prstGeom>
          <a:ln w="9525" cap="flat">
            <a:solidFill>
              <a:srgbClr val="E3E4EC"/>
            </a:solidFill>
          </a:ln>
        </p:spPr>
      </p:cxnSp>
      <p:sp>
        <p:nvSpPr>
          <p:cNvPr id="17" name="Shape 17"/>
          <p:cNvSpPr txBox="1"/>
          <p:nvPr/>
        </p:nvSpPr>
        <p:spPr>
          <a:xfrm>
            <a:off x="685800" y="4349496"/>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Slope</a:t>
            </a:r>
            <a:endParaRPr lang="en-US" sz="1800" dirty="0"/>
          </a:p>
        </p:txBody>
      </p:sp>
      <p:sp>
        <p:nvSpPr>
          <p:cNvPr id="18" name="Shape 18"/>
          <p:cNvSpPr txBox="1"/>
          <p:nvPr/>
        </p:nvSpPr>
        <p:spPr>
          <a:xfrm>
            <a:off x="2194514" y="4349496"/>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2194514" y="4349496"/>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3, increasing</a:t>
            </a:r>
            <a:endParaRPr lang="en-US" sz="1800" dirty="0"/>
          </a:p>
        </p:txBody>
      </p:sp>
      <p:cxnSp>
        <p:nvCxnSpPr>
          <p:cNvPr id="20" name="Line 20"/>
          <p:cNvCxnSpPr/>
          <p:nvPr/>
        </p:nvCxnSpPr>
        <p:spPr>
          <a:xfrm>
            <a:off x="685800" y="4824984"/>
            <a:ext cx="3352698" cy="0"/>
          </a:xfrm>
          <a:prstGeom prst="line">
            <a:avLst/>
          </a:prstGeom>
          <a:ln w="9525" cap="flat">
            <a:solidFill>
              <a:srgbClr val="E3E4EC"/>
            </a:solidFill>
          </a:ln>
        </p:spPr>
      </p:cxnSp>
      <p:sp>
        <p:nvSpPr>
          <p:cNvPr id="21" name="Shape 21"/>
          <p:cNvSpPr txBox="1"/>
          <p:nvPr/>
        </p:nvSpPr>
        <p:spPr>
          <a:xfrm>
            <a:off x="4419498" y="2144268"/>
            <a:ext cx="33526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h</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−⅔</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22" name="Shape 22"/>
          <p:cNvSpPr txBox="1"/>
          <p:nvPr/>
        </p:nvSpPr>
        <p:spPr>
          <a:xfrm>
            <a:off x="4419498" y="2648712"/>
            <a:ext cx="1508714"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Domain, range</a:t>
            </a:r>
            <a:endParaRPr lang="en-US" sz="1800" dirty="0"/>
          </a:p>
        </p:txBody>
      </p:sp>
      <p:sp>
        <p:nvSpPr>
          <p:cNvPr id="23" name="Shape 23"/>
          <p:cNvSpPr txBox="1"/>
          <p:nvPr/>
        </p:nvSpPr>
        <p:spPr>
          <a:xfrm>
            <a:off x="5928213" y="2648712"/>
            <a:ext cx="1843984" cy="74980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4" name="Shape 24"/>
          <p:cNvSpPr txBox="1"/>
          <p:nvPr/>
        </p:nvSpPr>
        <p:spPr>
          <a:xfrm>
            <a:off x="5928213" y="2648712"/>
            <a:ext cx="1843984" cy="74980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All real numbers</a:t>
            </a:r>
            <a:endParaRPr lang="en-US" sz="1800" dirty="0"/>
          </a:p>
        </p:txBody>
      </p:sp>
      <p:cxnSp>
        <p:nvCxnSpPr>
          <p:cNvPr id="25" name="Line 25"/>
          <p:cNvCxnSpPr/>
          <p:nvPr/>
        </p:nvCxnSpPr>
        <p:spPr>
          <a:xfrm>
            <a:off x="4419498" y="3398520"/>
            <a:ext cx="3352698" cy="0"/>
          </a:xfrm>
          <a:prstGeom prst="line">
            <a:avLst/>
          </a:prstGeom>
          <a:ln w="9525" cap="flat">
            <a:solidFill>
              <a:srgbClr val="E3E4EC"/>
            </a:solidFill>
          </a:ln>
        </p:spPr>
      </p:cxnSp>
      <p:sp>
        <p:nvSpPr>
          <p:cNvPr id="26" name="Shape 26"/>
          <p:cNvSpPr txBox="1"/>
          <p:nvPr/>
        </p:nvSpPr>
        <p:spPr>
          <a:xfrm>
            <a:off x="4419498" y="3398520"/>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x</a:t>
            </a:r>
            <a:r>
              <a:rPr lang="en-US" sz="1800" dirty="0">
                <a:solidFill>
                  <a:srgbClr val="16171D"/>
                </a:solidFill>
                <a:latin typeface="Segoe UI"/>
                <a:cs typeface="Segoe UI"/>
              </a:rPr>
              <a:t xml:space="preserve">-intercept</a:t>
            </a:r>
            <a:endParaRPr lang="en-US" sz="1800" dirty="0"/>
          </a:p>
        </p:txBody>
      </p:sp>
      <p:sp>
        <p:nvSpPr>
          <p:cNvPr id="27" name="Shape 27"/>
          <p:cNvSpPr txBox="1"/>
          <p:nvPr/>
        </p:nvSpPr>
        <p:spPr>
          <a:xfrm>
            <a:off x="5928213" y="3398520"/>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28" name="Shape 28"/>
          <p:cNvSpPr txBox="1"/>
          <p:nvPr/>
        </p:nvSpPr>
        <p:spPr>
          <a:xfrm>
            <a:off x="5928213" y="3398520"/>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(7.5, 0)</a:t>
            </a:r>
            <a:endParaRPr lang="en-US" sz="1800" dirty="0"/>
          </a:p>
        </p:txBody>
      </p:sp>
      <p:cxnSp>
        <p:nvCxnSpPr>
          <p:cNvPr id="29" name="Line 29"/>
          <p:cNvCxnSpPr/>
          <p:nvPr/>
        </p:nvCxnSpPr>
        <p:spPr>
          <a:xfrm>
            <a:off x="4419498" y="3874008"/>
            <a:ext cx="3352698" cy="0"/>
          </a:xfrm>
          <a:prstGeom prst="line">
            <a:avLst/>
          </a:prstGeom>
          <a:ln w="9525" cap="flat">
            <a:solidFill>
              <a:srgbClr val="E3E4EC"/>
            </a:solidFill>
          </a:ln>
        </p:spPr>
      </p:cxnSp>
      <p:sp>
        <p:nvSpPr>
          <p:cNvPr id="30" name="Shape 30"/>
          <p:cNvSpPr txBox="1"/>
          <p:nvPr/>
        </p:nvSpPr>
        <p:spPr>
          <a:xfrm>
            <a:off x="4419498" y="3874008"/>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i="1">
                <a:solidFill>
                  <a:srgbClr val="16171D"/>
                </a:solidFill>
                <a:latin typeface="Segoe UI"/>
                <a:cs typeface="Segoe UI"/>
              </a:rPr>
              <a:t xml:space="preserve">y</a:t>
            </a:r>
            <a:r>
              <a:rPr lang="en-US" sz="1800" dirty="0">
                <a:solidFill>
                  <a:srgbClr val="16171D"/>
                </a:solidFill>
                <a:latin typeface="Segoe UI"/>
                <a:cs typeface="Segoe UI"/>
              </a:rPr>
              <a:t xml:space="preserve">-intercept</a:t>
            </a:r>
            <a:endParaRPr lang="en-US" sz="1800" dirty="0"/>
          </a:p>
        </p:txBody>
      </p:sp>
      <p:sp>
        <p:nvSpPr>
          <p:cNvPr id="31" name="Shape 31"/>
          <p:cNvSpPr txBox="1"/>
          <p:nvPr/>
        </p:nvSpPr>
        <p:spPr>
          <a:xfrm>
            <a:off x="5928213" y="3874008"/>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32" name="Shape 32"/>
          <p:cNvSpPr txBox="1"/>
          <p:nvPr/>
        </p:nvSpPr>
        <p:spPr>
          <a:xfrm>
            <a:off x="5928213" y="3874008"/>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(0, 5)</a:t>
            </a:r>
            <a:endParaRPr lang="en-US" sz="1800" dirty="0"/>
          </a:p>
        </p:txBody>
      </p:sp>
      <p:cxnSp>
        <p:nvCxnSpPr>
          <p:cNvPr id="33" name="Line 33"/>
          <p:cNvCxnSpPr/>
          <p:nvPr/>
        </p:nvCxnSpPr>
        <p:spPr>
          <a:xfrm>
            <a:off x="4419498" y="4349496"/>
            <a:ext cx="3352698" cy="0"/>
          </a:xfrm>
          <a:prstGeom prst="line">
            <a:avLst/>
          </a:prstGeom>
          <a:ln w="9525" cap="flat">
            <a:solidFill>
              <a:srgbClr val="E3E4EC"/>
            </a:solidFill>
          </a:ln>
        </p:spPr>
      </p:cxnSp>
      <p:sp>
        <p:nvSpPr>
          <p:cNvPr id="34" name="Shape 34"/>
          <p:cNvSpPr txBox="1"/>
          <p:nvPr/>
        </p:nvSpPr>
        <p:spPr>
          <a:xfrm>
            <a:off x="4419498" y="4349496"/>
            <a:ext cx="150871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Slope</a:t>
            </a:r>
            <a:endParaRPr lang="en-US" sz="1800" dirty="0"/>
          </a:p>
        </p:txBody>
      </p:sp>
      <p:sp>
        <p:nvSpPr>
          <p:cNvPr id="35" name="Shape 35"/>
          <p:cNvSpPr txBox="1"/>
          <p:nvPr/>
        </p:nvSpPr>
        <p:spPr>
          <a:xfrm>
            <a:off x="5928213" y="4349496"/>
            <a:ext cx="1843984" cy="475488"/>
          </a:xfrm>
          <a:prstGeom prst="rect">
            <a:avLst/>
          </a:prstGeom>
          <a:noFill/>
          <a:ln>
            <a:noFill/>
          </a:ln>
        </p:spPr>
        <p:txBody>
          <a:bodyPr wrap="square" lIns="36576" tIns="27432" rIns="36576" bIns="27432" anchor="t">
            <a:noAutofit/>
          </a:bodyPr>
          <a:lstStyle/>
          <a:p>
            <a:pPr algn="ctr">
              <a:lnSpc>
                <a:spcPct val="100000"/>
              </a:lnSpc>
            </a:pPr>
            <a:endParaRPr lang="en-US" sz="1800" dirty="0"/>
          </a:p>
        </p:txBody>
      </p:sp>
      <p:sp>
        <p:nvSpPr>
          <p:cNvPr id="36" name="Shape 36"/>
          <p:cNvSpPr txBox="1"/>
          <p:nvPr/>
        </p:nvSpPr>
        <p:spPr>
          <a:xfrm>
            <a:off x="5928213" y="4349496"/>
            <a:ext cx="1843984" cy="475488"/>
          </a:xfrm>
          <a:prstGeom prst="rect">
            <a:avLst/>
          </a:prstGeom>
          <a:noFill/>
          <a:ln>
            <a:noFill/>
          </a:ln>
        </p:spPr>
        <p:txBody>
          <a:bodyPr wrap="square" lIns="109728" tIns="45720" rIns="109728" bIns="45720" anchor="ctr">
            <a:noAutofit/>
          </a:bodyPr>
          <a:lstStyle/>
          <a:p>
            <a:pPr algn="l">
              <a:lnSpc>
                <a:spcPct val="100000"/>
              </a:lnSpc>
            </a:pPr>
            <a:r>
              <a:rPr lang="en-US" sz="1800" dirty="0">
                <a:solidFill>
                  <a:srgbClr val="16171D"/>
                </a:solidFill>
                <a:latin typeface="Segoe UI"/>
                <a:cs typeface="Segoe UI"/>
              </a:rPr>
              <a:t xml:space="preserve">−⅔, decreasing</a:t>
            </a:r>
            <a:endParaRPr lang="en-US" sz="1800" dirty="0"/>
          </a:p>
        </p:txBody>
      </p:sp>
      <p:cxnSp>
        <p:nvCxnSpPr>
          <p:cNvPr id="37" name="Line 37"/>
          <p:cNvCxnSpPr/>
          <p:nvPr/>
        </p:nvCxnSpPr>
        <p:spPr>
          <a:xfrm>
            <a:off x="4419498" y="4824984"/>
            <a:ext cx="3352698" cy="0"/>
          </a:xfrm>
          <a:prstGeom prst="line">
            <a:avLst/>
          </a:prstGeom>
          <a:ln w="9525" cap="flat">
            <a:solidFill>
              <a:srgbClr val="E3E4EC"/>
            </a:solidFill>
          </a:ln>
        </p:spPr>
      </p:cxnSp>
      <p:sp>
        <p:nvSpPr>
          <p:cNvPr id="38" name="Shape 38"/>
          <p:cNvSpPr/>
          <p:nvPr/>
        </p:nvSpPr>
        <p:spPr>
          <a:xfrm>
            <a:off x="8153197" y="2144268"/>
            <a:ext cx="30480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39" name="Line 39"/>
          <p:cNvCxnSpPr/>
          <p:nvPr/>
        </p:nvCxnSpPr>
        <p:spPr>
          <a:xfrm>
            <a:off x="8477047" y="2258568"/>
            <a:ext cx="0" cy="2686050"/>
          </a:xfrm>
          <a:prstGeom prst="line">
            <a:avLst/>
          </a:prstGeom>
          <a:ln w="9525" cap="flat">
            <a:solidFill>
              <a:srgbClr val="E6E8F2"/>
            </a:solidFill>
          </a:ln>
        </p:spPr>
      </p:cxnSp>
      <p:cxnSp>
        <p:nvCxnSpPr>
          <p:cNvPr id="40" name="Line 40"/>
          <p:cNvCxnSpPr/>
          <p:nvPr/>
        </p:nvCxnSpPr>
        <p:spPr>
          <a:xfrm>
            <a:off x="8622038" y="2258568"/>
            <a:ext cx="0" cy="2686050"/>
          </a:xfrm>
          <a:prstGeom prst="line">
            <a:avLst/>
          </a:prstGeom>
          <a:ln w="9525" cap="flat">
            <a:solidFill>
              <a:srgbClr val="E6E8F2"/>
            </a:solidFill>
          </a:ln>
        </p:spPr>
      </p:cxnSp>
      <p:cxnSp>
        <p:nvCxnSpPr>
          <p:cNvPr id="41" name="Line 41"/>
          <p:cNvCxnSpPr/>
          <p:nvPr/>
        </p:nvCxnSpPr>
        <p:spPr>
          <a:xfrm>
            <a:off x="8767030" y="2258568"/>
            <a:ext cx="0" cy="2686050"/>
          </a:xfrm>
          <a:prstGeom prst="line">
            <a:avLst/>
          </a:prstGeom>
          <a:ln w="9525" cap="flat">
            <a:solidFill>
              <a:srgbClr val="E6E8F2"/>
            </a:solidFill>
          </a:ln>
        </p:spPr>
      </p:cxnSp>
      <p:cxnSp>
        <p:nvCxnSpPr>
          <p:cNvPr id="42" name="Line 42"/>
          <p:cNvCxnSpPr/>
          <p:nvPr/>
        </p:nvCxnSpPr>
        <p:spPr>
          <a:xfrm>
            <a:off x="8912022" y="2258568"/>
            <a:ext cx="0" cy="2686050"/>
          </a:xfrm>
          <a:prstGeom prst="line">
            <a:avLst/>
          </a:prstGeom>
          <a:ln w="9525" cap="flat">
            <a:solidFill>
              <a:srgbClr val="E6E8F2"/>
            </a:solidFill>
          </a:ln>
        </p:spPr>
      </p:cxnSp>
      <p:cxnSp>
        <p:nvCxnSpPr>
          <p:cNvPr id="43" name="Line 43"/>
          <p:cNvCxnSpPr/>
          <p:nvPr/>
        </p:nvCxnSpPr>
        <p:spPr>
          <a:xfrm>
            <a:off x="9057013" y="2258568"/>
            <a:ext cx="0" cy="2686050"/>
          </a:xfrm>
          <a:prstGeom prst="line">
            <a:avLst/>
          </a:prstGeom>
          <a:ln w="9525" cap="flat">
            <a:solidFill>
              <a:srgbClr val="E6E8F2"/>
            </a:solidFill>
          </a:ln>
        </p:spPr>
      </p:cxnSp>
      <p:cxnSp>
        <p:nvCxnSpPr>
          <p:cNvPr id="44" name="Line 44"/>
          <p:cNvCxnSpPr/>
          <p:nvPr/>
        </p:nvCxnSpPr>
        <p:spPr>
          <a:xfrm>
            <a:off x="9202005" y="2258568"/>
            <a:ext cx="0" cy="2686050"/>
          </a:xfrm>
          <a:prstGeom prst="line">
            <a:avLst/>
          </a:prstGeom>
          <a:ln w="9525" cap="flat">
            <a:solidFill>
              <a:srgbClr val="E6E8F2"/>
            </a:solidFill>
          </a:ln>
        </p:spPr>
      </p:cxnSp>
      <p:cxnSp>
        <p:nvCxnSpPr>
          <p:cNvPr id="45" name="Line 45"/>
          <p:cNvCxnSpPr/>
          <p:nvPr/>
        </p:nvCxnSpPr>
        <p:spPr>
          <a:xfrm>
            <a:off x="9346997" y="2258568"/>
            <a:ext cx="0" cy="2686050"/>
          </a:xfrm>
          <a:prstGeom prst="line">
            <a:avLst/>
          </a:prstGeom>
          <a:ln w="9525" cap="flat">
            <a:solidFill>
              <a:srgbClr val="E6E8F2"/>
            </a:solidFill>
          </a:ln>
        </p:spPr>
      </p:cxnSp>
      <p:cxnSp>
        <p:nvCxnSpPr>
          <p:cNvPr id="46" name="Line 46"/>
          <p:cNvCxnSpPr/>
          <p:nvPr/>
        </p:nvCxnSpPr>
        <p:spPr>
          <a:xfrm>
            <a:off x="9491988" y="2258568"/>
            <a:ext cx="0" cy="2686050"/>
          </a:xfrm>
          <a:prstGeom prst="line">
            <a:avLst/>
          </a:prstGeom>
          <a:ln w="9525" cap="flat">
            <a:solidFill>
              <a:srgbClr val="E6E8F2"/>
            </a:solidFill>
          </a:ln>
        </p:spPr>
      </p:cxnSp>
      <p:cxnSp>
        <p:nvCxnSpPr>
          <p:cNvPr id="47" name="Line 47"/>
          <p:cNvCxnSpPr/>
          <p:nvPr/>
        </p:nvCxnSpPr>
        <p:spPr>
          <a:xfrm>
            <a:off x="9636980" y="2258568"/>
            <a:ext cx="0" cy="2686050"/>
          </a:xfrm>
          <a:prstGeom prst="line">
            <a:avLst/>
          </a:prstGeom>
          <a:ln w="9525" cap="flat">
            <a:solidFill>
              <a:srgbClr val="E6E8F2"/>
            </a:solidFill>
          </a:ln>
        </p:spPr>
      </p:cxnSp>
      <p:cxnSp>
        <p:nvCxnSpPr>
          <p:cNvPr id="48" name="Line 48"/>
          <p:cNvCxnSpPr/>
          <p:nvPr/>
        </p:nvCxnSpPr>
        <p:spPr>
          <a:xfrm>
            <a:off x="9781972" y="2258568"/>
            <a:ext cx="0" cy="2686050"/>
          </a:xfrm>
          <a:prstGeom prst="line">
            <a:avLst/>
          </a:prstGeom>
          <a:ln w="9525" cap="flat">
            <a:solidFill>
              <a:srgbClr val="E6E8F2"/>
            </a:solidFill>
          </a:ln>
        </p:spPr>
      </p:cxnSp>
      <p:cxnSp>
        <p:nvCxnSpPr>
          <p:cNvPr id="49" name="Line 49"/>
          <p:cNvCxnSpPr/>
          <p:nvPr/>
        </p:nvCxnSpPr>
        <p:spPr>
          <a:xfrm>
            <a:off x="9926963" y="2258568"/>
            <a:ext cx="0" cy="2686050"/>
          </a:xfrm>
          <a:prstGeom prst="line">
            <a:avLst/>
          </a:prstGeom>
          <a:ln w="9525" cap="flat">
            <a:solidFill>
              <a:srgbClr val="E6E8F2"/>
            </a:solidFill>
          </a:ln>
        </p:spPr>
      </p:cxnSp>
      <p:cxnSp>
        <p:nvCxnSpPr>
          <p:cNvPr id="50" name="Line 50"/>
          <p:cNvCxnSpPr/>
          <p:nvPr/>
        </p:nvCxnSpPr>
        <p:spPr>
          <a:xfrm>
            <a:off x="10071955" y="2258568"/>
            <a:ext cx="0" cy="2686050"/>
          </a:xfrm>
          <a:prstGeom prst="line">
            <a:avLst/>
          </a:prstGeom>
          <a:ln w="9525" cap="flat">
            <a:solidFill>
              <a:srgbClr val="E6E8F2"/>
            </a:solidFill>
          </a:ln>
        </p:spPr>
      </p:cxnSp>
      <p:cxnSp>
        <p:nvCxnSpPr>
          <p:cNvPr id="51" name="Line 51"/>
          <p:cNvCxnSpPr/>
          <p:nvPr/>
        </p:nvCxnSpPr>
        <p:spPr>
          <a:xfrm>
            <a:off x="10216947" y="2258568"/>
            <a:ext cx="0" cy="2686050"/>
          </a:xfrm>
          <a:prstGeom prst="line">
            <a:avLst/>
          </a:prstGeom>
          <a:ln w="9525" cap="flat">
            <a:solidFill>
              <a:srgbClr val="E6E8F2"/>
            </a:solidFill>
          </a:ln>
        </p:spPr>
      </p:cxnSp>
      <p:cxnSp>
        <p:nvCxnSpPr>
          <p:cNvPr id="52" name="Line 52"/>
          <p:cNvCxnSpPr/>
          <p:nvPr/>
        </p:nvCxnSpPr>
        <p:spPr>
          <a:xfrm>
            <a:off x="10361938" y="2258568"/>
            <a:ext cx="0" cy="2686050"/>
          </a:xfrm>
          <a:prstGeom prst="line">
            <a:avLst/>
          </a:prstGeom>
          <a:ln w="9525" cap="flat">
            <a:solidFill>
              <a:srgbClr val="E6E8F2"/>
            </a:solidFill>
          </a:ln>
        </p:spPr>
      </p:cxnSp>
      <p:cxnSp>
        <p:nvCxnSpPr>
          <p:cNvPr id="53" name="Line 53"/>
          <p:cNvCxnSpPr/>
          <p:nvPr/>
        </p:nvCxnSpPr>
        <p:spPr>
          <a:xfrm>
            <a:off x="10506930" y="2258568"/>
            <a:ext cx="0" cy="2686050"/>
          </a:xfrm>
          <a:prstGeom prst="line">
            <a:avLst/>
          </a:prstGeom>
          <a:ln w="9525" cap="flat">
            <a:solidFill>
              <a:srgbClr val="E6E8F2"/>
            </a:solidFill>
          </a:ln>
        </p:spPr>
      </p:cxnSp>
      <p:cxnSp>
        <p:nvCxnSpPr>
          <p:cNvPr id="54" name="Line 54"/>
          <p:cNvCxnSpPr/>
          <p:nvPr/>
        </p:nvCxnSpPr>
        <p:spPr>
          <a:xfrm>
            <a:off x="10651922" y="2258568"/>
            <a:ext cx="0" cy="2686050"/>
          </a:xfrm>
          <a:prstGeom prst="line">
            <a:avLst/>
          </a:prstGeom>
          <a:ln w="9525" cap="flat">
            <a:solidFill>
              <a:srgbClr val="E6E8F2"/>
            </a:solidFill>
          </a:ln>
        </p:spPr>
      </p:cxnSp>
      <p:cxnSp>
        <p:nvCxnSpPr>
          <p:cNvPr id="55" name="Line 55"/>
          <p:cNvCxnSpPr/>
          <p:nvPr/>
        </p:nvCxnSpPr>
        <p:spPr>
          <a:xfrm>
            <a:off x="10796913" y="2258568"/>
            <a:ext cx="0" cy="2686050"/>
          </a:xfrm>
          <a:prstGeom prst="line">
            <a:avLst/>
          </a:prstGeom>
          <a:ln w="9525" cap="flat">
            <a:solidFill>
              <a:srgbClr val="E6E8F2"/>
            </a:solidFill>
          </a:ln>
        </p:spPr>
      </p:cxnSp>
      <p:cxnSp>
        <p:nvCxnSpPr>
          <p:cNvPr id="56" name="Line 56"/>
          <p:cNvCxnSpPr/>
          <p:nvPr/>
        </p:nvCxnSpPr>
        <p:spPr>
          <a:xfrm>
            <a:off x="10941905" y="2258568"/>
            <a:ext cx="0" cy="2686050"/>
          </a:xfrm>
          <a:prstGeom prst="line">
            <a:avLst/>
          </a:prstGeom>
          <a:ln w="9525" cap="flat">
            <a:solidFill>
              <a:srgbClr val="E6E8F2"/>
            </a:solidFill>
          </a:ln>
        </p:spPr>
      </p:cxnSp>
      <p:cxnSp>
        <p:nvCxnSpPr>
          <p:cNvPr id="57" name="Line 57"/>
          <p:cNvCxnSpPr/>
          <p:nvPr/>
        </p:nvCxnSpPr>
        <p:spPr>
          <a:xfrm>
            <a:off x="11086897" y="2258568"/>
            <a:ext cx="0" cy="2686050"/>
          </a:xfrm>
          <a:prstGeom prst="line">
            <a:avLst/>
          </a:prstGeom>
          <a:ln w="9525" cap="flat">
            <a:solidFill>
              <a:srgbClr val="E6E8F2"/>
            </a:solidFill>
          </a:ln>
        </p:spPr>
      </p:cxnSp>
      <p:cxnSp>
        <p:nvCxnSpPr>
          <p:cNvPr id="58" name="Line 58"/>
          <p:cNvCxnSpPr/>
          <p:nvPr/>
        </p:nvCxnSpPr>
        <p:spPr>
          <a:xfrm>
            <a:off x="8477047" y="4944618"/>
            <a:ext cx="2609850" cy="0"/>
          </a:xfrm>
          <a:prstGeom prst="line">
            <a:avLst/>
          </a:prstGeom>
          <a:ln w="9525" cap="flat">
            <a:solidFill>
              <a:srgbClr val="E6E8F2"/>
            </a:solidFill>
          </a:ln>
        </p:spPr>
      </p:cxnSp>
      <p:cxnSp>
        <p:nvCxnSpPr>
          <p:cNvPr id="59" name="Line 59"/>
          <p:cNvCxnSpPr/>
          <p:nvPr/>
        </p:nvCxnSpPr>
        <p:spPr>
          <a:xfrm>
            <a:off x="8477047" y="4795393"/>
            <a:ext cx="2609850" cy="0"/>
          </a:xfrm>
          <a:prstGeom prst="line">
            <a:avLst/>
          </a:prstGeom>
          <a:ln w="9525" cap="flat">
            <a:solidFill>
              <a:srgbClr val="E6E8F2"/>
            </a:solidFill>
          </a:ln>
        </p:spPr>
      </p:cxnSp>
      <p:cxnSp>
        <p:nvCxnSpPr>
          <p:cNvPr id="60" name="Line 60"/>
          <p:cNvCxnSpPr/>
          <p:nvPr/>
        </p:nvCxnSpPr>
        <p:spPr>
          <a:xfrm>
            <a:off x="8477047" y="4646168"/>
            <a:ext cx="2609850" cy="0"/>
          </a:xfrm>
          <a:prstGeom prst="line">
            <a:avLst/>
          </a:prstGeom>
          <a:ln w="9525" cap="flat">
            <a:solidFill>
              <a:srgbClr val="E6E8F2"/>
            </a:solidFill>
          </a:ln>
        </p:spPr>
      </p:cxnSp>
      <p:cxnSp>
        <p:nvCxnSpPr>
          <p:cNvPr id="61" name="Line 61"/>
          <p:cNvCxnSpPr/>
          <p:nvPr/>
        </p:nvCxnSpPr>
        <p:spPr>
          <a:xfrm>
            <a:off x="8477047" y="4496943"/>
            <a:ext cx="2609850" cy="0"/>
          </a:xfrm>
          <a:prstGeom prst="line">
            <a:avLst/>
          </a:prstGeom>
          <a:ln w="9525" cap="flat">
            <a:solidFill>
              <a:srgbClr val="E6E8F2"/>
            </a:solidFill>
          </a:ln>
        </p:spPr>
      </p:cxnSp>
      <p:cxnSp>
        <p:nvCxnSpPr>
          <p:cNvPr id="62" name="Line 62"/>
          <p:cNvCxnSpPr/>
          <p:nvPr/>
        </p:nvCxnSpPr>
        <p:spPr>
          <a:xfrm>
            <a:off x="8477047" y="4347718"/>
            <a:ext cx="2609850" cy="0"/>
          </a:xfrm>
          <a:prstGeom prst="line">
            <a:avLst/>
          </a:prstGeom>
          <a:ln w="9525" cap="flat">
            <a:solidFill>
              <a:srgbClr val="E6E8F2"/>
            </a:solidFill>
          </a:ln>
        </p:spPr>
      </p:cxnSp>
      <p:cxnSp>
        <p:nvCxnSpPr>
          <p:cNvPr id="63" name="Line 63"/>
          <p:cNvCxnSpPr/>
          <p:nvPr/>
        </p:nvCxnSpPr>
        <p:spPr>
          <a:xfrm>
            <a:off x="8477047" y="4198493"/>
            <a:ext cx="2609850" cy="0"/>
          </a:xfrm>
          <a:prstGeom prst="line">
            <a:avLst/>
          </a:prstGeom>
          <a:ln w="9525" cap="flat">
            <a:solidFill>
              <a:srgbClr val="E6E8F2"/>
            </a:solidFill>
          </a:ln>
        </p:spPr>
      </p:cxnSp>
      <p:cxnSp>
        <p:nvCxnSpPr>
          <p:cNvPr id="64" name="Line 64"/>
          <p:cNvCxnSpPr/>
          <p:nvPr/>
        </p:nvCxnSpPr>
        <p:spPr>
          <a:xfrm>
            <a:off x="8477047" y="4049268"/>
            <a:ext cx="2609850" cy="0"/>
          </a:xfrm>
          <a:prstGeom prst="line">
            <a:avLst/>
          </a:prstGeom>
          <a:ln w="9525" cap="flat">
            <a:solidFill>
              <a:srgbClr val="E6E8F2"/>
            </a:solidFill>
          </a:ln>
        </p:spPr>
      </p:cxnSp>
      <p:cxnSp>
        <p:nvCxnSpPr>
          <p:cNvPr id="65" name="Line 65"/>
          <p:cNvCxnSpPr/>
          <p:nvPr/>
        </p:nvCxnSpPr>
        <p:spPr>
          <a:xfrm>
            <a:off x="8477047" y="3900043"/>
            <a:ext cx="2609850" cy="0"/>
          </a:xfrm>
          <a:prstGeom prst="line">
            <a:avLst/>
          </a:prstGeom>
          <a:ln w="9525" cap="flat">
            <a:solidFill>
              <a:srgbClr val="E6E8F2"/>
            </a:solidFill>
          </a:ln>
        </p:spPr>
      </p:cxnSp>
      <p:cxnSp>
        <p:nvCxnSpPr>
          <p:cNvPr id="66" name="Line 66"/>
          <p:cNvCxnSpPr/>
          <p:nvPr/>
        </p:nvCxnSpPr>
        <p:spPr>
          <a:xfrm>
            <a:off x="8477047" y="3750818"/>
            <a:ext cx="2609850" cy="0"/>
          </a:xfrm>
          <a:prstGeom prst="line">
            <a:avLst/>
          </a:prstGeom>
          <a:ln w="9525" cap="flat">
            <a:solidFill>
              <a:srgbClr val="E6E8F2"/>
            </a:solidFill>
          </a:ln>
        </p:spPr>
      </p:cxnSp>
      <p:cxnSp>
        <p:nvCxnSpPr>
          <p:cNvPr id="67" name="Line 67"/>
          <p:cNvCxnSpPr/>
          <p:nvPr/>
        </p:nvCxnSpPr>
        <p:spPr>
          <a:xfrm>
            <a:off x="8477047" y="3601593"/>
            <a:ext cx="2609850" cy="0"/>
          </a:xfrm>
          <a:prstGeom prst="line">
            <a:avLst/>
          </a:prstGeom>
          <a:ln w="9525" cap="flat">
            <a:solidFill>
              <a:srgbClr val="E6E8F2"/>
            </a:solidFill>
          </a:ln>
        </p:spPr>
      </p:cxnSp>
      <p:cxnSp>
        <p:nvCxnSpPr>
          <p:cNvPr id="68" name="Line 68"/>
          <p:cNvCxnSpPr/>
          <p:nvPr/>
        </p:nvCxnSpPr>
        <p:spPr>
          <a:xfrm>
            <a:off x="8477047" y="3452368"/>
            <a:ext cx="2609850" cy="0"/>
          </a:xfrm>
          <a:prstGeom prst="line">
            <a:avLst/>
          </a:prstGeom>
          <a:ln w="9525" cap="flat">
            <a:solidFill>
              <a:srgbClr val="E6E8F2"/>
            </a:solidFill>
          </a:ln>
        </p:spPr>
      </p:cxnSp>
      <p:cxnSp>
        <p:nvCxnSpPr>
          <p:cNvPr id="69" name="Line 69"/>
          <p:cNvCxnSpPr/>
          <p:nvPr/>
        </p:nvCxnSpPr>
        <p:spPr>
          <a:xfrm>
            <a:off x="8477047" y="3303143"/>
            <a:ext cx="2609850" cy="0"/>
          </a:xfrm>
          <a:prstGeom prst="line">
            <a:avLst/>
          </a:prstGeom>
          <a:ln w="9525" cap="flat">
            <a:solidFill>
              <a:srgbClr val="E6E8F2"/>
            </a:solidFill>
          </a:ln>
        </p:spPr>
      </p:cxnSp>
      <p:cxnSp>
        <p:nvCxnSpPr>
          <p:cNvPr id="70" name="Line 70"/>
          <p:cNvCxnSpPr/>
          <p:nvPr/>
        </p:nvCxnSpPr>
        <p:spPr>
          <a:xfrm>
            <a:off x="8477047" y="3153918"/>
            <a:ext cx="2609850" cy="0"/>
          </a:xfrm>
          <a:prstGeom prst="line">
            <a:avLst/>
          </a:prstGeom>
          <a:ln w="9525" cap="flat">
            <a:solidFill>
              <a:srgbClr val="E6E8F2"/>
            </a:solidFill>
          </a:ln>
        </p:spPr>
      </p:cxnSp>
      <p:cxnSp>
        <p:nvCxnSpPr>
          <p:cNvPr id="71" name="Line 71"/>
          <p:cNvCxnSpPr/>
          <p:nvPr/>
        </p:nvCxnSpPr>
        <p:spPr>
          <a:xfrm>
            <a:off x="8477047" y="3004693"/>
            <a:ext cx="2609850" cy="0"/>
          </a:xfrm>
          <a:prstGeom prst="line">
            <a:avLst/>
          </a:prstGeom>
          <a:ln w="9525" cap="flat">
            <a:solidFill>
              <a:srgbClr val="E6E8F2"/>
            </a:solidFill>
          </a:ln>
        </p:spPr>
      </p:cxnSp>
      <p:cxnSp>
        <p:nvCxnSpPr>
          <p:cNvPr id="72" name="Line 72"/>
          <p:cNvCxnSpPr/>
          <p:nvPr/>
        </p:nvCxnSpPr>
        <p:spPr>
          <a:xfrm>
            <a:off x="8477047" y="2855468"/>
            <a:ext cx="2609850" cy="0"/>
          </a:xfrm>
          <a:prstGeom prst="line">
            <a:avLst/>
          </a:prstGeom>
          <a:ln w="9525" cap="flat">
            <a:solidFill>
              <a:srgbClr val="E6E8F2"/>
            </a:solidFill>
          </a:ln>
        </p:spPr>
      </p:cxnSp>
      <p:cxnSp>
        <p:nvCxnSpPr>
          <p:cNvPr id="73" name="Line 73"/>
          <p:cNvCxnSpPr/>
          <p:nvPr/>
        </p:nvCxnSpPr>
        <p:spPr>
          <a:xfrm>
            <a:off x="8477047" y="2706243"/>
            <a:ext cx="2609850" cy="0"/>
          </a:xfrm>
          <a:prstGeom prst="line">
            <a:avLst/>
          </a:prstGeom>
          <a:ln w="9525" cap="flat">
            <a:solidFill>
              <a:srgbClr val="E6E8F2"/>
            </a:solidFill>
          </a:ln>
        </p:spPr>
      </p:cxnSp>
      <p:cxnSp>
        <p:nvCxnSpPr>
          <p:cNvPr id="74" name="Line 74"/>
          <p:cNvCxnSpPr/>
          <p:nvPr/>
        </p:nvCxnSpPr>
        <p:spPr>
          <a:xfrm>
            <a:off x="8477047" y="2557018"/>
            <a:ext cx="2609850" cy="0"/>
          </a:xfrm>
          <a:prstGeom prst="line">
            <a:avLst/>
          </a:prstGeom>
          <a:ln w="9525" cap="flat">
            <a:solidFill>
              <a:srgbClr val="E6E8F2"/>
            </a:solidFill>
          </a:ln>
        </p:spPr>
      </p:cxnSp>
      <p:cxnSp>
        <p:nvCxnSpPr>
          <p:cNvPr id="75" name="Line 75"/>
          <p:cNvCxnSpPr/>
          <p:nvPr/>
        </p:nvCxnSpPr>
        <p:spPr>
          <a:xfrm>
            <a:off x="8477047" y="2407793"/>
            <a:ext cx="2609850" cy="0"/>
          </a:xfrm>
          <a:prstGeom prst="line">
            <a:avLst/>
          </a:prstGeom>
          <a:ln w="9525" cap="flat">
            <a:solidFill>
              <a:srgbClr val="E6E8F2"/>
            </a:solidFill>
          </a:ln>
        </p:spPr>
      </p:cxnSp>
      <p:cxnSp>
        <p:nvCxnSpPr>
          <p:cNvPr id="76" name="Line 76"/>
          <p:cNvCxnSpPr/>
          <p:nvPr/>
        </p:nvCxnSpPr>
        <p:spPr>
          <a:xfrm>
            <a:off x="8477047" y="2258568"/>
            <a:ext cx="2609850" cy="0"/>
          </a:xfrm>
          <a:prstGeom prst="line">
            <a:avLst/>
          </a:prstGeom>
          <a:ln w="9525" cap="flat">
            <a:solidFill>
              <a:srgbClr val="E6E8F2"/>
            </a:solidFill>
          </a:ln>
        </p:spPr>
      </p:cxnSp>
      <p:cxnSp>
        <p:nvCxnSpPr>
          <p:cNvPr id="77" name="Line 77"/>
          <p:cNvCxnSpPr/>
          <p:nvPr/>
        </p:nvCxnSpPr>
        <p:spPr>
          <a:xfrm>
            <a:off x="9636980" y="2258568"/>
            <a:ext cx="0" cy="2686050"/>
          </a:xfrm>
          <a:prstGeom prst="line">
            <a:avLst/>
          </a:prstGeom>
          <a:ln w="19050" cap="flat">
            <a:solidFill>
              <a:srgbClr val="5F6272"/>
            </a:solidFill>
          </a:ln>
        </p:spPr>
      </p:cxnSp>
      <p:cxnSp>
        <p:nvCxnSpPr>
          <p:cNvPr id="78" name="Line 78"/>
          <p:cNvCxnSpPr/>
          <p:nvPr/>
        </p:nvCxnSpPr>
        <p:spPr>
          <a:xfrm>
            <a:off x="8477047" y="3452368"/>
            <a:ext cx="2609850" cy="0"/>
          </a:xfrm>
          <a:prstGeom prst="line">
            <a:avLst/>
          </a:prstGeom>
          <a:ln w="19050" cap="flat">
            <a:solidFill>
              <a:srgbClr val="5F6272"/>
            </a:solidFill>
          </a:ln>
        </p:spPr>
      </p:cxnSp>
      <p:sp>
        <p:nvSpPr>
          <p:cNvPr id="79" name="Shape 79"/>
          <p:cNvSpPr txBox="1"/>
          <p:nvPr/>
        </p:nvSpPr>
        <p:spPr>
          <a:xfrm>
            <a:off x="8202727"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80" name="Shape 80"/>
          <p:cNvSpPr txBox="1"/>
          <p:nvPr/>
        </p:nvSpPr>
        <p:spPr>
          <a:xfrm>
            <a:off x="8492710"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81" name="Shape 81"/>
          <p:cNvSpPr txBox="1"/>
          <p:nvPr/>
        </p:nvSpPr>
        <p:spPr>
          <a:xfrm>
            <a:off x="8782693"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9072677"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3" name="Shape 83"/>
          <p:cNvSpPr txBox="1"/>
          <p:nvPr/>
        </p:nvSpPr>
        <p:spPr>
          <a:xfrm>
            <a:off x="9362660"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4" name="Shape 84"/>
          <p:cNvSpPr txBox="1"/>
          <p:nvPr/>
        </p:nvSpPr>
        <p:spPr>
          <a:xfrm>
            <a:off x="9652643"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5" name="Shape 85"/>
          <p:cNvSpPr txBox="1"/>
          <p:nvPr/>
        </p:nvSpPr>
        <p:spPr>
          <a:xfrm>
            <a:off x="9942627"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6" name="Shape 86"/>
          <p:cNvSpPr txBox="1"/>
          <p:nvPr/>
        </p:nvSpPr>
        <p:spPr>
          <a:xfrm>
            <a:off x="10232610"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87" name="Shape 87"/>
          <p:cNvSpPr txBox="1"/>
          <p:nvPr/>
        </p:nvSpPr>
        <p:spPr>
          <a:xfrm>
            <a:off x="10522593"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88" name="Shape 88"/>
          <p:cNvSpPr txBox="1"/>
          <p:nvPr/>
        </p:nvSpPr>
        <p:spPr>
          <a:xfrm>
            <a:off x="10812577" y="496366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89" name="Shape 89"/>
          <p:cNvSpPr txBox="1"/>
          <p:nvPr/>
        </p:nvSpPr>
        <p:spPr>
          <a:xfrm>
            <a:off x="7910119" y="48531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90" name="Shape 90"/>
          <p:cNvSpPr txBox="1"/>
          <p:nvPr/>
        </p:nvSpPr>
        <p:spPr>
          <a:xfrm>
            <a:off x="7910119" y="45547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91" name="Shape 91"/>
          <p:cNvSpPr txBox="1"/>
          <p:nvPr/>
        </p:nvSpPr>
        <p:spPr>
          <a:xfrm>
            <a:off x="7910119" y="42562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92" name="Shape 92"/>
          <p:cNvSpPr txBox="1"/>
          <p:nvPr/>
        </p:nvSpPr>
        <p:spPr>
          <a:xfrm>
            <a:off x="7910119" y="39578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3" name="Shape 93"/>
          <p:cNvSpPr txBox="1"/>
          <p:nvPr/>
        </p:nvSpPr>
        <p:spPr>
          <a:xfrm>
            <a:off x="7910119" y="36593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4" name="Shape 94"/>
          <p:cNvSpPr txBox="1"/>
          <p:nvPr/>
        </p:nvSpPr>
        <p:spPr>
          <a:xfrm>
            <a:off x="7910119" y="33609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5" name="Shape 95"/>
          <p:cNvSpPr txBox="1"/>
          <p:nvPr/>
        </p:nvSpPr>
        <p:spPr>
          <a:xfrm>
            <a:off x="7910119" y="30624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6" name="Shape 96"/>
          <p:cNvSpPr txBox="1"/>
          <p:nvPr/>
        </p:nvSpPr>
        <p:spPr>
          <a:xfrm>
            <a:off x="7910119" y="27640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7" name="Shape 97"/>
          <p:cNvSpPr txBox="1"/>
          <p:nvPr/>
        </p:nvSpPr>
        <p:spPr>
          <a:xfrm>
            <a:off x="7910119" y="24655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98" name="Shape 98"/>
          <p:cNvSpPr txBox="1"/>
          <p:nvPr/>
        </p:nvSpPr>
        <p:spPr>
          <a:xfrm>
            <a:off x="7910119" y="216712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99" name="Line 99"/>
          <p:cNvCxnSpPr/>
          <p:nvPr/>
        </p:nvCxnSpPr>
        <p:spPr>
          <a:xfrm flipV="1">
            <a:off x="9540319" y="2258568"/>
            <a:ext cx="869950" cy="2686050"/>
          </a:xfrm>
          <a:prstGeom prst="line">
            <a:avLst/>
          </a:prstGeom>
          <a:ln w="38100" cap="rnd">
            <a:solidFill>
              <a:srgbClr val="4F8A3C"/>
            </a:solidFill>
          </a:ln>
        </p:spPr>
      </p:cxnSp>
      <p:sp>
        <p:nvSpPr>
          <p:cNvPr id="100" name="Shape 100"/>
          <p:cNvSpPr txBox="1"/>
          <p:nvPr/>
        </p:nvSpPr>
        <p:spPr>
          <a:xfrm>
            <a:off x="7918529" y="227761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g(x)</a:t>
            </a:r>
            <a:endParaRPr lang="en-US" sz="1275" dirty="0"/>
          </a:p>
        </p:txBody>
      </p:sp>
      <p:cxnSp>
        <p:nvCxnSpPr>
          <p:cNvPr id="101" name="Line 101"/>
          <p:cNvCxnSpPr/>
          <p:nvPr/>
        </p:nvCxnSpPr>
        <p:spPr>
          <a:xfrm>
            <a:off x="8984518" y="2258568"/>
            <a:ext cx="2102379" cy="1442508"/>
          </a:xfrm>
          <a:prstGeom prst="line">
            <a:avLst/>
          </a:prstGeom>
          <a:ln w="38100" cap="rnd">
            <a:solidFill>
              <a:srgbClr val="7A4FC4"/>
            </a:solidFill>
          </a:ln>
        </p:spPr>
      </p:cxnSp>
      <p:sp>
        <p:nvSpPr>
          <p:cNvPr id="102" name="Shape 102"/>
          <p:cNvSpPr txBox="1"/>
          <p:nvPr/>
        </p:nvSpPr>
        <p:spPr>
          <a:xfrm>
            <a:off x="9060718" y="2277618"/>
            <a:ext cx="2377440" cy="228600"/>
          </a:xfrm>
          <a:prstGeom prst="rect">
            <a:avLst/>
          </a:prstGeom>
          <a:noFill/>
          <a:ln>
            <a:noFill/>
          </a:ln>
        </p:spPr>
        <p:txBody>
          <a:bodyPr wrap="square" lIns="0" tIns="0" rIns="0" bIns="0" anchor="t">
            <a:noAutofit/>
          </a:bodyPr>
          <a:lstStyle/>
          <a:p>
            <a:pPr algn="l">
              <a:lnSpc>
                <a:spcPct val="100000"/>
              </a:lnSpc>
            </a:pPr>
            <a:r>
              <a:rPr lang="en-US" sz="1275" dirty="0" i="1">
                <a:solidFill>
                  <a:srgbClr val="16171D"/>
                </a:solidFill>
                <a:latin typeface="Cambria"/>
                <a:cs typeface="Cambria"/>
              </a:rPr>
              <a:t xml:space="preserve">h(x)</a:t>
            </a:r>
            <a:endParaRPr lang="en-US" sz="1275" dirty="0"/>
          </a:p>
        </p:txBody>
      </p:sp>
      <p:sp>
        <p:nvSpPr>
          <p:cNvPr id="103" name="Slide Number 10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anim calcmode="lin" valueType="num">
                                      <p:cBhvr>
                                        <p:cTn id="12" dur="500" fill="hold"/>
                                        <p:tgtEl>
                                          <p:spTgt spid="11"/>
                                        </p:tgtEl>
                                        <p:attrNameLst>
                                          <p:attrName>ppt_x</p:attrName>
                                        </p:attrNameLst>
                                      </p:cBhvr>
                                      <p:tavLst>
                                        <p:tav tm="0">
                                          <p:val>
                                            <p:strVal val="#ppt_x"/>
                                          </p:val>
                                        </p:tav>
                                        <p:tav tm="100000">
                                          <p:val>
                                            <p:strVal val="#ppt_x"/>
                                          </p:val>
                                        </p:tav>
                                      </p:tavLst>
                                    </p:anim>
                                    <p:anim calcmode="lin" valueType="num">
                                      <p:cBhvr>
                                        <p:cTn id="13"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anim calcmode="lin" valueType="num">
                                      <p:cBhvr>
                                        <p:cTn id="19" dur="500" fill="hold"/>
                                        <p:tgtEl>
                                          <p:spTgt spid="15"/>
                                        </p:tgtEl>
                                        <p:attrNameLst>
                                          <p:attrName>ppt_x</p:attrName>
                                        </p:attrNameLst>
                                      </p:cBhvr>
                                      <p:tavLst>
                                        <p:tav tm="0">
                                          <p:val>
                                            <p:strVal val="#ppt_x"/>
                                          </p:val>
                                        </p:tav>
                                        <p:tav tm="100000">
                                          <p:val>
                                            <p:strVal val="#ppt_x"/>
                                          </p:val>
                                        </p:tav>
                                      </p:tavLst>
                                    </p:anim>
                                    <p:anim calcmode="lin" valueType="num">
                                      <p:cBhvr>
                                        <p:cTn id="2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anim calcmode="lin" valueType="num">
                                      <p:cBhvr>
                                        <p:cTn id="26" dur="500" fill="hold"/>
                                        <p:tgtEl>
                                          <p:spTgt spid="19"/>
                                        </p:tgtEl>
                                        <p:attrNameLst>
                                          <p:attrName>ppt_x</p:attrName>
                                        </p:attrNameLst>
                                      </p:cBhvr>
                                      <p:tavLst>
                                        <p:tav tm="0">
                                          <p:val>
                                            <p:strVal val="#ppt_x"/>
                                          </p:val>
                                        </p:tav>
                                        <p:tav tm="100000">
                                          <p:val>
                                            <p:strVal val="#ppt_x"/>
                                          </p:val>
                                        </p:tav>
                                      </p:tavLst>
                                    </p:anim>
                                    <p:anim calcmode="lin" valueType="num">
                                      <p:cBhvr>
                                        <p:cTn id="27"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anim calcmode="lin" valueType="num">
                                      <p:cBhvr>
                                        <p:cTn id="33" dur="500" fill="hold"/>
                                        <p:tgtEl>
                                          <p:spTgt spid="24"/>
                                        </p:tgtEl>
                                        <p:attrNameLst>
                                          <p:attrName>ppt_x</p:attrName>
                                        </p:attrNameLst>
                                      </p:cBhvr>
                                      <p:tavLst>
                                        <p:tav tm="0">
                                          <p:val>
                                            <p:strVal val="#ppt_x"/>
                                          </p:val>
                                        </p:tav>
                                        <p:tav tm="100000">
                                          <p:val>
                                            <p:strVal val="#ppt_x"/>
                                          </p:val>
                                        </p:tav>
                                      </p:tavLst>
                                    </p:anim>
                                    <p:anim calcmode="lin" valueType="num">
                                      <p:cBhvr>
                                        <p:cTn id="34"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anim calcmode="lin" valueType="num">
                                      <p:cBhvr>
                                        <p:cTn id="40" dur="500" fill="hold"/>
                                        <p:tgtEl>
                                          <p:spTgt spid="28"/>
                                        </p:tgtEl>
                                        <p:attrNameLst>
                                          <p:attrName>ppt_x</p:attrName>
                                        </p:attrNameLst>
                                      </p:cBhvr>
                                      <p:tavLst>
                                        <p:tav tm="0">
                                          <p:val>
                                            <p:strVal val="#ppt_x"/>
                                          </p:val>
                                        </p:tav>
                                        <p:tav tm="100000">
                                          <p:val>
                                            <p:strVal val="#ppt_x"/>
                                          </p:val>
                                        </p:tav>
                                      </p:tavLst>
                                    </p:anim>
                                    <p:anim calcmode="lin" valueType="num">
                                      <p:cBhvr>
                                        <p:cTn id="41" dur="5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anim calcmode="lin" valueType="num">
                                      <p:cBhvr>
                                        <p:cTn id="47" dur="500" fill="hold"/>
                                        <p:tgtEl>
                                          <p:spTgt spid="32"/>
                                        </p:tgtEl>
                                        <p:attrNameLst>
                                          <p:attrName>ppt_x</p:attrName>
                                        </p:attrNameLst>
                                      </p:cBhvr>
                                      <p:tavLst>
                                        <p:tav tm="0">
                                          <p:val>
                                            <p:strVal val="#ppt_x"/>
                                          </p:val>
                                        </p:tav>
                                        <p:tav tm="100000">
                                          <p:val>
                                            <p:strVal val="#ppt_x"/>
                                          </p:val>
                                        </p:tav>
                                      </p:tavLst>
                                    </p:anim>
                                    <p:anim calcmode="lin" valueType="num">
                                      <p:cBhvr>
                                        <p:cTn id="48"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fade">
                                      <p:cBhvr>
                                        <p:cTn id="53" dur="500"/>
                                        <p:tgtEl>
                                          <p:spTgt spid="36"/>
                                        </p:tgtEl>
                                      </p:cBhvr>
                                    </p:animEffect>
                                    <p:anim calcmode="lin" valueType="num">
                                      <p:cBhvr>
                                        <p:cTn id="54" dur="500" fill="hold"/>
                                        <p:tgtEl>
                                          <p:spTgt spid="36"/>
                                        </p:tgtEl>
                                        <p:attrNameLst>
                                          <p:attrName>ppt_x</p:attrName>
                                        </p:attrNameLst>
                                      </p:cBhvr>
                                      <p:tavLst>
                                        <p:tav tm="0">
                                          <p:val>
                                            <p:strVal val="#ppt_x"/>
                                          </p:val>
                                        </p:tav>
                                        <p:tav tm="100000">
                                          <p:val>
                                            <p:strVal val="#ppt_x"/>
                                          </p:val>
                                        </p:tav>
                                      </p:tavLst>
                                    </p:anim>
                                    <p:anim calcmode="lin" valueType="num">
                                      <p:cBhvr>
                                        <p:cTn id="55"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1" presetID="22" presetClass="entr" presetSubtype="8" fill="hold" nodeType="clickEffect">
                                  <p:stCondLst>
                                    <p:cond delay="0"/>
                                  </p:stCondLst>
                                  <p:childTnLst>
                                    <p:set>
                                      <p:cBhvr>
                                        <p:cTn id="59" dur="1" fill="hold">
                                          <p:stCondLst>
                                            <p:cond delay="0"/>
                                          </p:stCondLst>
                                        </p:cTn>
                                        <p:tgtEl>
                                          <p:spTgt spid="99"/>
                                        </p:tgtEl>
                                        <p:attrNameLst>
                                          <p:attrName>style.visibility</p:attrName>
                                        </p:attrNameLst>
                                      </p:cBhvr>
                                      <p:to>
                                        <p:strVal val="visible"/>
                                      </p:to>
                                    </p:set>
                                    <p:animEffect transition="in" filter="wipe(left)">
                                      <p:cBhvr>
                                        <p:cTn id="60" dur="700"/>
                                        <p:tgtEl>
                                          <p:spTgt spid="99"/>
                                        </p:tgtEl>
                                      </p:cBhvr>
                                    </p:animEffect>
                                  </p:childTnLst>
                                </p:cTn>
                              </p:par>
                              <p:par>
                                <p:cTn id="64" presetID="22" presetClass="entr" presetSubtype="8" fill="hold" nodeType="withEffect">
                                  <p:stCondLst>
                                    <p:cond delay="0"/>
                                  </p:stCondLst>
                                  <p:childTnLst>
                                    <p:set>
                                      <p:cBhvr>
                                        <p:cTn id="62" dur="1" fill="hold">
                                          <p:stCondLst>
                                            <p:cond delay="0"/>
                                          </p:stCondLst>
                                        </p:cTn>
                                        <p:tgtEl>
                                          <p:spTgt spid="100"/>
                                        </p:tgtEl>
                                        <p:attrNameLst>
                                          <p:attrName>style.visibility</p:attrName>
                                        </p:attrNameLst>
                                      </p:cBhvr>
                                      <p:to>
                                        <p:strVal val="visible"/>
                                      </p:to>
                                    </p:set>
                                    <p:animEffect transition="in" filter="wipe(left)">
                                      <p:cBhvr>
                                        <p:cTn id="63" dur="700"/>
                                        <p:tgtEl>
                                          <p:spTgt spid="100"/>
                                        </p:tgtEl>
                                      </p:cBhvr>
                                    </p:animEffect>
                                  </p:childTnLst>
                                </p:cTn>
                              </p:par>
                            </p:childTnLst>
                          </p:cTn>
                        </p:par>
                      </p:childTnLst>
                    </p:cTn>
                  </p:par>
                  <p:par>
                    <p:cTn id="73" fill="hold">
                      <p:stCondLst>
                        <p:cond delay="indefinite"/>
                      </p:stCondLst>
                      <p:childTnLst>
                        <p:par>
                          <p:cTn id="74" fill="hold">
                            <p:stCondLst>
                              <p:cond delay="0"/>
                            </p:stCondLst>
                            <p:childTnLst>
                              <p:par>
                                <p:cTn id="69" presetID="22" presetClass="entr" presetSubtype="8" fill="hold" nodeType="clickEffect">
                                  <p:stCondLst>
                                    <p:cond delay="0"/>
                                  </p:stCondLst>
                                  <p:childTnLst>
                                    <p:set>
                                      <p:cBhvr>
                                        <p:cTn id="67" dur="1" fill="hold">
                                          <p:stCondLst>
                                            <p:cond delay="0"/>
                                          </p:stCondLst>
                                        </p:cTn>
                                        <p:tgtEl>
                                          <p:spTgt spid="101"/>
                                        </p:tgtEl>
                                        <p:attrNameLst>
                                          <p:attrName>style.visibility</p:attrName>
                                        </p:attrNameLst>
                                      </p:cBhvr>
                                      <p:to>
                                        <p:strVal val="visible"/>
                                      </p:to>
                                    </p:set>
                                    <p:animEffect transition="in" filter="wipe(left)">
                                      <p:cBhvr>
                                        <p:cTn id="68" dur="700"/>
                                        <p:tgtEl>
                                          <p:spTgt spid="101"/>
                                        </p:tgtEl>
                                      </p:cBhvr>
                                    </p:animEffect>
                                  </p:childTnLst>
                                </p:cTn>
                              </p:par>
                              <p:par>
                                <p:cTn id="72" presetID="22" presetClass="entr" presetSubtype="8" fill="hold" nodeType="withEffect">
                                  <p:stCondLst>
                                    <p:cond delay="0"/>
                                  </p:stCondLst>
                                  <p:childTnLst>
                                    <p:set>
                                      <p:cBhvr>
                                        <p:cTn id="70" dur="1" fill="hold">
                                          <p:stCondLst>
                                            <p:cond delay="0"/>
                                          </p:stCondLst>
                                        </p:cTn>
                                        <p:tgtEl>
                                          <p:spTgt spid="102"/>
                                        </p:tgtEl>
                                        <p:attrNameLst>
                                          <p:attrName>style.visibility</p:attrName>
                                        </p:attrNameLst>
                                      </p:cBhvr>
                                      <p:to>
                                        <p:strVal val="visible"/>
                                      </p:to>
                                    </p:set>
                                    <p:animEffect transition="in" filter="wipe(left)">
                                      <p:cBhvr>
                                        <p:cTn id="71" dur="7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2.1 · Comparing Vertical and Horizontal Translations · SE pp. 289–290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Translate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r>
              <a:rPr lang="en-US" sz="3450" dirty="0" b="1">
                <a:solidFill>
                  <a:srgbClr val="16171D"/>
                </a:solidFill>
                <a:latin typeface="Segoe UI"/>
                <a:cs typeface="Segoe UI"/>
              </a:rPr>
              <a:t xml:space="preserve"> left 3, then up 3</a:t>
            </a:r>
            <a:endParaRPr lang="en-US" sz="3450" dirty="0"/>
          </a:p>
        </p:txBody>
      </p:sp>
      <p:sp>
        <p:nvSpPr>
          <p:cNvPr id="4" name="Shape 4"/>
          <p:cNvSpPr txBox="1"/>
          <p:nvPr/>
        </p:nvSpPr>
        <p:spPr>
          <a:xfrm>
            <a:off x="685800" y="1618488"/>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Left 3: </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t(x)</a:t>
            </a:r>
            <a:endParaRPr lang="en-US" sz="1650" dirty="0"/>
          </a:p>
        </p:txBody>
      </p:sp>
      <p:sp>
        <p:nvSpPr>
          <p:cNvPr id="7" name="Shape 7"/>
          <p:cNvSpPr txBox="1"/>
          <p:nvPr/>
        </p:nvSpPr>
        <p:spPr>
          <a:xfrm>
            <a:off x="685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8" name="Shape 8"/>
          <p:cNvSpPr txBox="1"/>
          <p:nvPr/>
        </p:nvSpPr>
        <p:spPr>
          <a:xfrm>
            <a:off x="685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9" name="Shape 9"/>
          <p:cNvSpPr txBox="1"/>
          <p:nvPr/>
        </p:nvSpPr>
        <p:spPr>
          <a:xfrm>
            <a:off x="1828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0" name="Shape 10"/>
          <p:cNvSpPr txBox="1"/>
          <p:nvPr/>
        </p:nvSpPr>
        <p:spPr>
          <a:xfrm>
            <a:off x="1828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11" name="Shape 11"/>
          <p:cNvSpPr txBox="1"/>
          <p:nvPr/>
        </p:nvSpPr>
        <p:spPr>
          <a:xfrm>
            <a:off x="685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2" name="Shape 12"/>
          <p:cNvSpPr txBox="1"/>
          <p:nvPr/>
        </p:nvSpPr>
        <p:spPr>
          <a:xfrm>
            <a:off x="685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13" name="Shape 13"/>
          <p:cNvSpPr txBox="1"/>
          <p:nvPr/>
        </p:nvSpPr>
        <p:spPr>
          <a:xfrm>
            <a:off x="1828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4" name="Shape 14"/>
          <p:cNvSpPr txBox="1"/>
          <p:nvPr/>
        </p:nvSpPr>
        <p:spPr>
          <a:xfrm>
            <a:off x="1828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5" name="Shape 15"/>
          <p:cNvSpPr txBox="1"/>
          <p:nvPr/>
        </p:nvSpPr>
        <p:spPr>
          <a:xfrm>
            <a:off x="685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6" name="Shape 16"/>
          <p:cNvSpPr txBox="1"/>
          <p:nvPr/>
        </p:nvSpPr>
        <p:spPr>
          <a:xfrm>
            <a:off x="685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17" name="Shape 17"/>
          <p:cNvSpPr txBox="1"/>
          <p:nvPr/>
        </p:nvSpPr>
        <p:spPr>
          <a:xfrm>
            <a:off x="1828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8" name="Shape 18"/>
          <p:cNvSpPr txBox="1"/>
          <p:nvPr/>
        </p:nvSpPr>
        <p:spPr>
          <a:xfrm>
            <a:off x="1828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9" name="Shape 19"/>
          <p:cNvSpPr txBox="1"/>
          <p:nvPr/>
        </p:nvSpPr>
        <p:spPr>
          <a:xfrm>
            <a:off x="685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0" name="Shape 20"/>
          <p:cNvSpPr txBox="1"/>
          <p:nvPr/>
        </p:nvSpPr>
        <p:spPr>
          <a:xfrm>
            <a:off x="685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1" name="Shape 21"/>
          <p:cNvSpPr txBox="1"/>
          <p:nvPr/>
        </p:nvSpPr>
        <p:spPr>
          <a:xfrm>
            <a:off x="1828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2" name="Shape 22"/>
          <p:cNvSpPr txBox="1"/>
          <p:nvPr/>
        </p:nvSpPr>
        <p:spPr>
          <a:xfrm>
            <a:off x="1828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3" name="Shape 23"/>
          <p:cNvSpPr txBox="1"/>
          <p:nvPr/>
        </p:nvSpPr>
        <p:spPr>
          <a:xfrm>
            <a:off x="685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4" name="Shape 24"/>
          <p:cNvSpPr txBox="1"/>
          <p:nvPr/>
        </p:nvSpPr>
        <p:spPr>
          <a:xfrm>
            <a:off x="685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5" name="Shape 25"/>
          <p:cNvSpPr txBox="1"/>
          <p:nvPr/>
        </p:nvSpPr>
        <p:spPr>
          <a:xfrm>
            <a:off x="1828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6" name="Shape 26"/>
          <p:cNvSpPr txBox="1"/>
          <p:nvPr/>
        </p:nvSpPr>
        <p:spPr>
          <a:xfrm>
            <a:off x="1828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7" name="Shape 27"/>
          <p:cNvSpPr txBox="1"/>
          <p:nvPr/>
        </p:nvSpPr>
        <p:spPr>
          <a:xfrm>
            <a:off x="685800" y="4490466"/>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inputs</a:t>
            </a:r>
            <a:r>
              <a:rPr lang="en-US" sz="1575" dirty="0">
                <a:solidFill>
                  <a:srgbClr val="16171D"/>
                </a:solidFill>
                <a:latin typeface="Segoe UI"/>
                <a:cs typeface="Segoe UI"/>
              </a:rPr>
              <a:t xml:space="preserve"> change.</a:t>
            </a:r>
            <a:endParaRPr lang="en-US" sz="1575" dirty="0"/>
          </a:p>
        </p:txBody>
      </p:sp>
      <p:sp>
        <p:nvSpPr>
          <p:cNvPr id="28" name="Shape 28"/>
          <p:cNvSpPr txBox="1"/>
          <p:nvPr/>
        </p:nvSpPr>
        <p:spPr>
          <a:xfrm>
            <a:off x="4419498" y="1618488"/>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3: </a:t>
            </a: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endParaRPr lang="en-US" sz="1575" dirty="0"/>
          </a:p>
        </p:txBody>
      </p:sp>
      <p:sp>
        <p:nvSpPr>
          <p:cNvPr id="29" name="Shape 29"/>
          <p:cNvSpPr txBox="1"/>
          <p:nvPr/>
        </p:nvSpPr>
        <p:spPr>
          <a:xfrm>
            <a:off x="44194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30" name="Shape 30"/>
          <p:cNvSpPr txBox="1"/>
          <p:nvPr/>
        </p:nvSpPr>
        <p:spPr>
          <a:xfrm>
            <a:off x="55624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w(x)</a:t>
            </a:r>
            <a:endParaRPr lang="en-US" sz="1650" dirty="0"/>
          </a:p>
        </p:txBody>
      </p:sp>
      <p:sp>
        <p:nvSpPr>
          <p:cNvPr id="31" name="Shape 31"/>
          <p:cNvSpPr txBox="1"/>
          <p:nvPr/>
        </p:nvSpPr>
        <p:spPr>
          <a:xfrm>
            <a:off x="44194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2" name="Shape 32"/>
          <p:cNvSpPr txBox="1"/>
          <p:nvPr/>
        </p:nvSpPr>
        <p:spPr>
          <a:xfrm>
            <a:off x="44194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3" name="Shape 33"/>
          <p:cNvSpPr txBox="1"/>
          <p:nvPr/>
        </p:nvSpPr>
        <p:spPr>
          <a:xfrm>
            <a:off x="55624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4" name="Shape 34"/>
          <p:cNvSpPr txBox="1"/>
          <p:nvPr/>
        </p:nvSpPr>
        <p:spPr>
          <a:xfrm>
            <a:off x="55624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5" name="Shape 35"/>
          <p:cNvSpPr txBox="1"/>
          <p:nvPr/>
        </p:nvSpPr>
        <p:spPr>
          <a:xfrm>
            <a:off x="44194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6" name="Shape 36"/>
          <p:cNvSpPr txBox="1"/>
          <p:nvPr/>
        </p:nvSpPr>
        <p:spPr>
          <a:xfrm>
            <a:off x="44194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7" name="Shape 37"/>
          <p:cNvSpPr txBox="1"/>
          <p:nvPr/>
        </p:nvSpPr>
        <p:spPr>
          <a:xfrm>
            <a:off x="55624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8" name="Shape 38"/>
          <p:cNvSpPr txBox="1"/>
          <p:nvPr/>
        </p:nvSpPr>
        <p:spPr>
          <a:xfrm>
            <a:off x="55624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9" name="Shape 39"/>
          <p:cNvSpPr txBox="1"/>
          <p:nvPr/>
        </p:nvSpPr>
        <p:spPr>
          <a:xfrm>
            <a:off x="44194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0" name="Shape 40"/>
          <p:cNvSpPr txBox="1"/>
          <p:nvPr/>
        </p:nvSpPr>
        <p:spPr>
          <a:xfrm>
            <a:off x="44194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1" name="Shape 41"/>
          <p:cNvSpPr txBox="1"/>
          <p:nvPr/>
        </p:nvSpPr>
        <p:spPr>
          <a:xfrm>
            <a:off x="55624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2" name="Shape 42"/>
          <p:cNvSpPr txBox="1"/>
          <p:nvPr/>
        </p:nvSpPr>
        <p:spPr>
          <a:xfrm>
            <a:off x="55624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43" name="Shape 43"/>
          <p:cNvSpPr txBox="1"/>
          <p:nvPr/>
        </p:nvSpPr>
        <p:spPr>
          <a:xfrm>
            <a:off x="44194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4" name="Shape 44"/>
          <p:cNvSpPr txBox="1"/>
          <p:nvPr/>
        </p:nvSpPr>
        <p:spPr>
          <a:xfrm>
            <a:off x="44194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5" name="Shape 45"/>
          <p:cNvSpPr txBox="1"/>
          <p:nvPr/>
        </p:nvSpPr>
        <p:spPr>
          <a:xfrm>
            <a:off x="55624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6" name="Shape 46"/>
          <p:cNvSpPr txBox="1"/>
          <p:nvPr/>
        </p:nvSpPr>
        <p:spPr>
          <a:xfrm>
            <a:off x="55624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47" name="Shape 47"/>
          <p:cNvSpPr txBox="1"/>
          <p:nvPr/>
        </p:nvSpPr>
        <p:spPr>
          <a:xfrm>
            <a:off x="44194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8" name="Shape 48"/>
          <p:cNvSpPr txBox="1"/>
          <p:nvPr/>
        </p:nvSpPr>
        <p:spPr>
          <a:xfrm>
            <a:off x="44194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49" name="Shape 49"/>
          <p:cNvSpPr txBox="1"/>
          <p:nvPr/>
        </p:nvSpPr>
        <p:spPr>
          <a:xfrm>
            <a:off x="55624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50" name="Shape 50"/>
          <p:cNvSpPr txBox="1"/>
          <p:nvPr/>
        </p:nvSpPr>
        <p:spPr>
          <a:xfrm>
            <a:off x="55624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51" name="Shape 51"/>
          <p:cNvSpPr txBox="1"/>
          <p:nvPr/>
        </p:nvSpPr>
        <p:spPr>
          <a:xfrm>
            <a:off x="4419498" y="4490466"/>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outputs</a:t>
            </a:r>
            <a:r>
              <a:rPr lang="en-US" sz="1575" dirty="0">
                <a:solidFill>
                  <a:srgbClr val="16171D"/>
                </a:solidFill>
                <a:latin typeface="Segoe UI"/>
                <a:cs typeface="Segoe UI"/>
              </a:rPr>
              <a:t xml:space="preserve"> change.</a:t>
            </a:r>
            <a:endParaRPr lang="en-US" sz="1575" dirty="0"/>
          </a:p>
        </p:txBody>
      </p:sp>
      <p:sp>
        <p:nvSpPr>
          <p:cNvPr id="52" name="Shape 52"/>
          <p:cNvSpPr/>
          <p:nvPr/>
        </p:nvSpPr>
        <p:spPr>
          <a:xfrm>
            <a:off x="8153197" y="1618488"/>
            <a:ext cx="3048000" cy="3048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3" name="Line 53"/>
          <p:cNvCxnSpPr/>
          <p:nvPr/>
        </p:nvCxnSpPr>
        <p:spPr>
          <a:xfrm>
            <a:off x="8477047" y="1732788"/>
            <a:ext cx="0" cy="2686050"/>
          </a:xfrm>
          <a:prstGeom prst="line">
            <a:avLst/>
          </a:prstGeom>
          <a:ln w="9525" cap="flat">
            <a:solidFill>
              <a:srgbClr val="E6E8F2"/>
            </a:solidFill>
          </a:ln>
        </p:spPr>
      </p:cxnSp>
      <p:cxnSp>
        <p:nvCxnSpPr>
          <p:cNvPr id="54" name="Line 54"/>
          <p:cNvCxnSpPr/>
          <p:nvPr/>
        </p:nvCxnSpPr>
        <p:spPr>
          <a:xfrm>
            <a:off x="8694534" y="1732788"/>
            <a:ext cx="0" cy="2686050"/>
          </a:xfrm>
          <a:prstGeom prst="line">
            <a:avLst/>
          </a:prstGeom>
          <a:ln w="9525" cap="flat">
            <a:solidFill>
              <a:srgbClr val="E6E8F2"/>
            </a:solidFill>
          </a:ln>
        </p:spPr>
      </p:cxnSp>
      <p:cxnSp>
        <p:nvCxnSpPr>
          <p:cNvPr id="55" name="Line 55"/>
          <p:cNvCxnSpPr/>
          <p:nvPr/>
        </p:nvCxnSpPr>
        <p:spPr>
          <a:xfrm>
            <a:off x="8912022" y="1732788"/>
            <a:ext cx="0" cy="2686050"/>
          </a:xfrm>
          <a:prstGeom prst="line">
            <a:avLst/>
          </a:prstGeom>
          <a:ln w="9525" cap="flat">
            <a:solidFill>
              <a:srgbClr val="E6E8F2"/>
            </a:solidFill>
          </a:ln>
        </p:spPr>
      </p:cxnSp>
      <p:cxnSp>
        <p:nvCxnSpPr>
          <p:cNvPr id="56" name="Line 56"/>
          <p:cNvCxnSpPr/>
          <p:nvPr/>
        </p:nvCxnSpPr>
        <p:spPr>
          <a:xfrm>
            <a:off x="9129509" y="1732788"/>
            <a:ext cx="0" cy="2686050"/>
          </a:xfrm>
          <a:prstGeom prst="line">
            <a:avLst/>
          </a:prstGeom>
          <a:ln w="9525" cap="flat">
            <a:solidFill>
              <a:srgbClr val="E6E8F2"/>
            </a:solidFill>
          </a:ln>
        </p:spPr>
      </p:cxnSp>
      <p:cxnSp>
        <p:nvCxnSpPr>
          <p:cNvPr id="57" name="Line 57"/>
          <p:cNvCxnSpPr/>
          <p:nvPr/>
        </p:nvCxnSpPr>
        <p:spPr>
          <a:xfrm>
            <a:off x="9346997" y="1732788"/>
            <a:ext cx="0" cy="2686050"/>
          </a:xfrm>
          <a:prstGeom prst="line">
            <a:avLst/>
          </a:prstGeom>
          <a:ln w="9525" cap="flat">
            <a:solidFill>
              <a:srgbClr val="E6E8F2"/>
            </a:solidFill>
          </a:ln>
        </p:spPr>
      </p:cxnSp>
      <p:cxnSp>
        <p:nvCxnSpPr>
          <p:cNvPr id="58" name="Line 58"/>
          <p:cNvCxnSpPr/>
          <p:nvPr/>
        </p:nvCxnSpPr>
        <p:spPr>
          <a:xfrm>
            <a:off x="9564484" y="1732788"/>
            <a:ext cx="0" cy="2686050"/>
          </a:xfrm>
          <a:prstGeom prst="line">
            <a:avLst/>
          </a:prstGeom>
          <a:ln w="9525" cap="flat">
            <a:solidFill>
              <a:srgbClr val="E6E8F2"/>
            </a:solidFill>
          </a:ln>
        </p:spPr>
      </p:cxnSp>
      <p:cxnSp>
        <p:nvCxnSpPr>
          <p:cNvPr id="59" name="Line 59"/>
          <p:cNvCxnSpPr/>
          <p:nvPr/>
        </p:nvCxnSpPr>
        <p:spPr>
          <a:xfrm>
            <a:off x="9781972" y="1732788"/>
            <a:ext cx="0" cy="2686050"/>
          </a:xfrm>
          <a:prstGeom prst="line">
            <a:avLst/>
          </a:prstGeom>
          <a:ln w="9525" cap="flat">
            <a:solidFill>
              <a:srgbClr val="E6E8F2"/>
            </a:solidFill>
          </a:ln>
        </p:spPr>
      </p:cxnSp>
      <p:cxnSp>
        <p:nvCxnSpPr>
          <p:cNvPr id="60" name="Line 60"/>
          <p:cNvCxnSpPr/>
          <p:nvPr/>
        </p:nvCxnSpPr>
        <p:spPr>
          <a:xfrm>
            <a:off x="9999459" y="1732788"/>
            <a:ext cx="0" cy="2686050"/>
          </a:xfrm>
          <a:prstGeom prst="line">
            <a:avLst/>
          </a:prstGeom>
          <a:ln w="9525" cap="flat">
            <a:solidFill>
              <a:srgbClr val="E6E8F2"/>
            </a:solidFill>
          </a:ln>
        </p:spPr>
      </p:cxnSp>
      <p:cxnSp>
        <p:nvCxnSpPr>
          <p:cNvPr id="61" name="Line 61"/>
          <p:cNvCxnSpPr/>
          <p:nvPr/>
        </p:nvCxnSpPr>
        <p:spPr>
          <a:xfrm>
            <a:off x="10216947" y="1732788"/>
            <a:ext cx="0" cy="2686050"/>
          </a:xfrm>
          <a:prstGeom prst="line">
            <a:avLst/>
          </a:prstGeom>
          <a:ln w="9525" cap="flat">
            <a:solidFill>
              <a:srgbClr val="E6E8F2"/>
            </a:solidFill>
          </a:ln>
        </p:spPr>
      </p:cxnSp>
      <p:cxnSp>
        <p:nvCxnSpPr>
          <p:cNvPr id="62" name="Line 62"/>
          <p:cNvCxnSpPr/>
          <p:nvPr/>
        </p:nvCxnSpPr>
        <p:spPr>
          <a:xfrm>
            <a:off x="10434434" y="1732788"/>
            <a:ext cx="0" cy="2686050"/>
          </a:xfrm>
          <a:prstGeom prst="line">
            <a:avLst/>
          </a:prstGeom>
          <a:ln w="9525" cap="flat">
            <a:solidFill>
              <a:srgbClr val="E6E8F2"/>
            </a:solidFill>
          </a:ln>
        </p:spPr>
      </p:cxnSp>
      <p:cxnSp>
        <p:nvCxnSpPr>
          <p:cNvPr id="63" name="Line 63"/>
          <p:cNvCxnSpPr/>
          <p:nvPr/>
        </p:nvCxnSpPr>
        <p:spPr>
          <a:xfrm>
            <a:off x="10651922" y="1732788"/>
            <a:ext cx="0" cy="2686050"/>
          </a:xfrm>
          <a:prstGeom prst="line">
            <a:avLst/>
          </a:prstGeom>
          <a:ln w="9525" cap="flat">
            <a:solidFill>
              <a:srgbClr val="E6E8F2"/>
            </a:solidFill>
          </a:ln>
        </p:spPr>
      </p:cxnSp>
      <p:cxnSp>
        <p:nvCxnSpPr>
          <p:cNvPr id="64" name="Line 64"/>
          <p:cNvCxnSpPr/>
          <p:nvPr/>
        </p:nvCxnSpPr>
        <p:spPr>
          <a:xfrm>
            <a:off x="10869409" y="1732788"/>
            <a:ext cx="0" cy="2686050"/>
          </a:xfrm>
          <a:prstGeom prst="line">
            <a:avLst/>
          </a:prstGeom>
          <a:ln w="9525" cap="flat">
            <a:solidFill>
              <a:srgbClr val="E6E8F2"/>
            </a:solidFill>
          </a:ln>
        </p:spPr>
      </p:cxnSp>
      <p:cxnSp>
        <p:nvCxnSpPr>
          <p:cNvPr id="65" name="Line 65"/>
          <p:cNvCxnSpPr/>
          <p:nvPr/>
        </p:nvCxnSpPr>
        <p:spPr>
          <a:xfrm>
            <a:off x="11086897" y="1732788"/>
            <a:ext cx="0" cy="2686050"/>
          </a:xfrm>
          <a:prstGeom prst="line">
            <a:avLst/>
          </a:prstGeom>
          <a:ln w="9525" cap="flat">
            <a:solidFill>
              <a:srgbClr val="E6E8F2"/>
            </a:solidFill>
          </a:ln>
        </p:spPr>
      </p:cxnSp>
      <p:cxnSp>
        <p:nvCxnSpPr>
          <p:cNvPr id="66" name="Line 66"/>
          <p:cNvCxnSpPr/>
          <p:nvPr/>
        </p:nvCxnSpPr>
        <p:spPr>
          <a:xfrm>
            <a:off x="8477047" y="4418838"/>
            <a:ext cx="2609850" cy="0"/>
          </a:xfrm>
          <a:prstGeom prst="line">
            <a:avLst/>
          </a:prstGeom>
          <a:ln w="9525" cap="flat">
            <a:solidFill>
              <a:srgbClr val="E6E8F2"/>
            </a:solidFill>
          </a:ln>
        </p:spPr>
      </p:cxnSp>
      <p:cxnSp>
        <p:nvCxnSpPr>
          <p:cNvPr id="67" name="Line 67"/>
          <p:cNvCxnSpPr/>
          <p:nvPr/>
        </p:nvCxnSpPr>
        <p:spPr>
          <a:xfrm>
            <a:off x="8477047" y="4195000"/>
            <a:ext cx="2609850" cy="0"/>
          </a:xfrm>
          <a:prstGeom prst="line">
            <a:avLst/>
          </a:prstGeom>
          <a:ln w="9525" cap="flat">
            <a:solidFill>
              <a:srgbClr val="E6E8F2"/>
            </a:solidFill>
          </a:ln>
        </p:spPr>
      </p:cxnSp>
      <p:cxnSp>
        <p:nvCxnSpPr>
          <p:cNvPr id="68" name="Line 68"/>
          <p:cNvCxnSpPr/>
          <p:nvPr/>
        </p:nvCxnSpPr>
        <p:spPr>
          <a:xfrm>
            <a:off x="8477047" y="3971163"/>
            <a:ext cx="2609850" cy="0"/>
          </a:xfrm>
          <a:prstGeom prst="line">
            <a:avLst/>
          </a:prstGeom>
          <a:ln w="9525" cap="flat">
            <a:solidFill>
              <a:srgbClr val="E6E8F2"/>
            </a:solidFill>
          </a:ln>
        </p:spPr>
      </p:cxnSp>
      <p:cxnSp>
        <p:nvCxnSpPr>
          <p:cNvPr id="69" name="Line 69"/>
          <p:cNvCxnSpPr/>
          <p:nvPr/>
        </p:nvCxnSpPr>
        <p:spPr>
          <a:xfrm>
            <a:off x="8477047" y="3747325"/>
            <a:ext cx="2609850" cy="0"/>
          </a:xfrm>
          <a:prstGeom prst="line">
            <a:avLst/>
          </a:prstGeom>
          <a:ln w="9525" cap="flat">
            <a:solidFill>
              <a:srgbClr val="E6E8F2"/>
            </a:solidFill>
          </a:ln>
        </p:spPr>
      </p:cxnSp>
      <p:cxnSp>
        <p:nvCxnSpPr>
          <p:cNvPr id="70" name="Line 70"/>
          <p:cNvCxnSpPr/>
          <p:nvPr/>
        </p:nvCxnSpPr>
        <p:spPr>
          <a:xfrm>
            <a:off x="8477047" y="3523488"/>
            <a:ext cx="2609850" cy="0"/>
          </a:xfrm>
          <a:prstGeom prst="line">
            <a:avLst/>
          </a:prstGeom>
          <a:ln w="9525" cap="flat">
            <a:solidFill>
              <a:srgbClr val="E6E8F2"/>
            </a:solidFill>
          </a:ln>
        </p:spPr>
      </p:cxnSp>
      <p:cxnSp>
        <p:nvCxnSpPr>
          <p:cNvPr id="71" name="Line 71"/>
          <p:cNvCxnSpPr/>
          <p:nvPr/>
        </p:nvCxnSpPr>
        <p:spPr>
          <a:xfrm>
            <a:off x="8477047" y="3299650"/>
            <a:ext cx="2609850" cy="0"/>
          </a:xfrm>
          <a:prstGeom prst="line">
            <a:avLst/>
          </a:prstGeom>
          <a:ln w="9525" cap="flat">
            <a:solidFill>
              <a:srgbClr val="E6E8F2"/>
            </a:solidFill>
          </a:ln>
        </p:spPr>
      </p:cxnSp>
      <p:cxnSp>
        <p:nvCxnSpPr>
          <p:cNvPr id="72" name="Line 72"/>
          <p:cNvCxnSpPr/>
          <p:nvPr/>
        </p:nvCxnSpPr>
        <p:spPr>
          <a:xfrm>
            <a:off x="8477047" y="3075813"/>
            <a:ext cx="2609850" cy="0"/>
          </a:xfrm>
          <a:prstGeom prst="line">
            <a:avLst/>
          </a:prstGeom>
          <a:ln w="9525" cap="flat">
            <a:solidFill>
              <a:srgbClr val="E6E8F2"/>
            </a:solidFill>
          </a:ln>
        </p:spPr>
      </p:cxnSp>
      <p:cxnSp>
        <p:nvCxnSpPr>
          <p:cNvPr id="73" name="Line 73"/>
          <p:cNvCxnSpPr/>
          <p:nvPr/>
        </p:nvCxnSpPr>
        <p:spPr>
          <a:xfrm>
            <a:off x="8477047" y="2851976"/>
            <a:ext cx="2609850" cy="0"/>
          </a:xfrm>
          <a:prstGeom prst="line">
            <a:avLst/>
          </a:prstGeom>
          <a:ln w="9525" cap="flat">
            <a:solidFill>
              <a:srgbClr val="E6E8F2"/>
            </a:solidFill>
          </a:ln>
        </p:spPr>
      </p:cxnSp>
      <p:cxnSp>
        <p:nvCxnSpPr>
          <p:cNvPr id="74" name="Line 74"/>
          <p:cNvCxnSpPr/>
          <p:nvPr/>
        </p:nvCxnSpPr>
        <p:spPr>
          <a:xfrm>
            <a:off x="8477047" y="2628138"/>
            <a:ext cx="2609850" cy="0"/>
          </a:xfrm>
          <a:prstGeom prst="line">
            <a:avLst/>
          </a:prstGeom>
          <a:ln w="9525" cap="flat">
            <a:solidFill>
              <a:srgbClr val="E6E8F2"/>
            </a:solidFill>
          </a:ln>
        </p:spPr>
      </p:cxnSp>
      <p:cxnSp>
        <p:nvCxnSpPr>
          <p:cNvPr id="75" name="Line 75"/>
          <p:cNvCxnSpPr/>
          <p:nvPr/>
        </p:nvCxnSpPr>
        <p:spPr>
          <a:xfrm>
            <a:off x="8477047" y="2404300"/>
            <a:ext cx="2609850" cy="0"/>
          </a:xfrm>
          <a:prstGeom prst="line">
            <a:avLst/>
          </a:prstGeom>
          <a:ln w="9525" cap="flat">
            <a:solidFill>
              <a:srgbClr val="E6E8F2"/>
            </a:solidFill>
          </a:ln>
        </p:spPr>
      </p:cxnSp>
      <p:cxnSp>
        <p:nvCxnSpPr>
          <p:cNvPr id="76" name="Line 76"/>
          <p:cNvCxnSpPr/>
          <p:nvPr/>
        </p:nvCxnSpPr>
        <p:spPr>
          <a:xfrm>
            <a:off x="8477047" y="2180463"/>
            <a:ext cx="2609850" cy="0"/>
          </a:xfrm>
          <a:prstGeom prst="line">
            <a:avLst/>
          </a:prstGeom>
          <a:ln w="9525" cap="flat">
            <a:solidFill>
              <a:srgbClr val="E6E8F2"/>
            </a:solidFill>
          </a:ln>
        </p:spPr>
      </p:cxnSp>
      <p:cxnSp>
        <p:nvCxnSpPr>
          <p:cNvPr id="77" name="Line 77"/>
          <p:cNvCxnSpPr/>
          <p:nvPr/>
        </p:nvCxnSpPr>
        <p:spPr>
          <a:xfrm>
            <a:off x="8477047" y="1956625"/>
            <a:ext cx="2609850" cy="0"/>
          </a:xfrm>
          <a:prstGeom prst="line">
            <a:avLst/>
          </a:prstGeom>
          <a:ln w="9525" cap="flat">
            <a:solidFill>
              <a:srgbClr val="E6E8F2"/>
            </a:solidFill>
          </a:ln>
        </p:spPr>
      </p:cxnSp>
      <p:cxnSp>
        <p:nvCxnSpPr>
          <p:cNvPr id="78" name="Line 78"/>
          <p:cNvCxnSpPr/>
          <p:nvPr/>
        </p:nvCxnSpPr>
        <p:spPr>
          <a:xfrm>
            <a:off x="8477047" y="1732788"/>
            <a:ext cx="2609850" cy="0"/>
          </a:xfrm>
          <a:prstGeom prst="line">
            <a:avLst/>
          </a:prstGeom>
          <a:ln w="9525" cap="flat">
            <a:solidFill>
              <a:srgbClr val="E6E8F2"/>
            </a:solidFill>
          </a:ln>
        </p:spPr>
      </p:cxnSp>
      <p:cxnSp>
        <p:nvCxnSpPr>
          <p:cNvPr id="79" name="Line 79"/>
          <p:cNvCxnSpPr/>
          <p:nvPr/>
        </p:nvCxnSpPr>
        <p:spPr>
          <a:xfrm>
            <a:off x="9781972" y="1732788"/>
            <a:ext cx="0" cy="2686050"/>
          </a:xfrm>
          <a:prstGeom prst="line">
            <a:avLst/>
          </a:prstGeom>
          <a:ln w="19050" cap="flat">
            <a:solidFill>
              <a:srgbClr val="5F6272"/>
            </a:solidFill>
          </a:ln>
        </p:spPr>
      </p:cxnSp>
      <p:cxnSp>
        <p:nvCxnSpPr>
          <p:cNvPr id="80" name="Line 80"/>
          <p:cNvCxnSpPr/>
          <p:nvPr/>
        </p:nvCxnSpPr>
        <p:spPr>
          <a:xfrm>
            <a:off x="8477047" y="3075813"/>
            <a:ext cx="2609850" cy="0"/>
          </a:xfrm>
          <a:prstGeom prst="line">
            <a:avLst/>
          </a:prstGeom>
          <a:ln w="19050" cap="flat">
            <a:solidFill>
              <a:srgbClr val="5F6272"/>
            </a:solidFill>
          </a:ln>
        </p:spPr>
      </p:cxnSp>
      <p:sp>
        <p:nvSpPr>
          <p:cNvPr id="81" name="Shape 81"/>
          <p:cNvSpPr txBox="1"/>
          <p:nvPr/>
        </p:nvSpPr>
        <p:spPr>
          <a:xfrm>
            <a:off x="8202727"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82" name="Shape 82"/>
          <p:cNvSpPr txBox="1"/>
          <p:nvPr/>
        </p:nvSpPr>
        <p:spPr>
          <a:xfrm>
            <a:off x="8637702"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3" name="Shape 83"/>
          <p:cNvSpPr txBox="1"/>
          <p:nvPr/>
        </p:nvSpPr>
        <p:spPr>
          <a:xfrm>
            <a:off x="9072677"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4" name="Shape 84"/>
          <p:cNvSpPr txBox="1"/>
          <p:nvPr/>
        </p:nvSpPr>
        <p:spPr>
          <a:xfrm>
            <a:off x="9507652"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85" name="Shape 85"/>
          <p:cNvSpPr txBox="1"/>
          <p:nvPr/>
        </p:nvSpPr>
        <p:spPr>
          <a:xfrm>
            <a:off x="9942627"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6" name="Shape 86"/>
          <p:cNvSpPr txBox="1"/>
          <p:nvPr/>
        </p:nvSpPr>
        <p:spPr>
          <a:xfrm>
            <a:off x="10377602"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7" name="Shape 87"/>
          <p:cNvSpPr txBox="1"/>
          <p:nvPr/>
        </p:nvSpPr>
        <p:spPr>
          <a:xfrm>
            <a:off x="10812577" y="4437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88" name="Shape 88"/>
          <p:cNvSpPr txBox="1"/>
          <p:nvPr/>
        </p:nvSpPr>
        <p:spPr>
          <a:xfrm>
            <a:off x="7910119" y="4327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9" name="Shape 89"/>
          <p:cNvSpPr txBox="1"/>
          <p:nvPr/>
        </p:nvSpPr>
        <p:spPr>
          <a:xfrm>
            <a:off x="7910119" y="38797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0" name="Shape 90"/>
          <p:cNvSpPr txBox="1"/>
          <p:nvPr/>
        </p:nvSpPr>
        <p:spPr>
          <a:xfrm>
            <a:off x="7910119" y="3432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1" name="Shape 91"/>
          <p:cNvSpPr txBox="1"/>
          <p:nvPr/>
        </p:nvSpPr>
        <p:spPr>
          <a:xfrm>
            <a:off x="7910119" y="29843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92" name="Shape 92"/>
          <p:cNvSpPr txBox="1"/>
          <p:nvPr/>
        </p:nvSpPr>
        <p:spPr>
          <a:xfrm>
            <a:off x="7910119" y="25366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3" name="Shape 93"/>
          <p:cNvSpPr txBox="1"/>
          <p:nvPr/>
        </p:nvSpPr>
        <p:spPr>
          <a:xfrm>
            <a:off x="7910119" y="20890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4" name="Shape 94"/>
          <p:cNvSpPr txBox="1"/>
          <p:nvPr/>
        </p:nvSpPr>
        <p:spPr>
          <a:xfrm>
            <a:off x="7910119"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95" name="Line 95"/>
          <p:cNvCxnSpPr/>
          <p:nvPr/>
        </p:nvCxnSpPr>
        <p:spPr>
          <a:xfrm flipV="1">
            <a:off x="8477047" y="1732788"/>
            <a:ext cx="2609850" cy="2686050"/>
          </a:xfrm>
          <a:prstGeom prst="line">
            <a:avLst/>
          </a:prstGeom>
          <a:ln w="38100" cap="rnd">
            <a:solidFill>
              <a:srgbClr val="16171D"/>
            </a:solidFill>
          </a:ln>
        </p:spPr>
      </p:cxnSp>
      <p:sp>
        <p:nvSpPr>
          <p:cNvPr id="96" name="Shape 96"/>
          <p:cNvSpPr txBox="1"/>
          <p:nvPr/>
        </p:nvSpPr>
        <p:spPr>
          <a:xfrm>
            <a:off x="8595157"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97" name="Line 97"/>
          <p:cNvCxnSpPr/>
          <p:nvPr/>
        </p:nvCxnSpPr>
        <p:spPr>
          <a:xfrm flipV="1">
            <a:off x="8477047" y="1732788"/>
            <a:ext cx="1957388" cy="2014537"/>
          </a:xfrm>
          <a:prstGeom prst="line">
            <a:avLst/>
          </a:prstGeom>
          <a:ln w="38100" cap="rnd">
            <a:solidFill>
              <a:srgbClr val="7A4FC4"/>
            </a:solidFill>
          </a:ln>
        </p:spPr>
      </p:cxnSp>
      <p:sp>
        <p:nvSpPr>
          <p:cNvPr id="98" name="Shape 98"/>
          <p:cNvSpPr txBox="1"/>
          <p:nvPr/>
        </p:nvSpPr>
        <p:spPr>
          <a:xfrm>
            <a:off x="7942694"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t(x) = w(x)</a:t>
            </a:r>
            <a:endParaRPr lang="en-US" sz="1275" dirty="0"/>
          </a:p>
        </p:txBody>
      </p:sp>
      <p:sp>
        <p:nvSpPr>
          <p:cNvPr id="99" name="Shape 99"/>
          <p:cNvSpPr txBox="1"/>
          <p:nvPr/>
        </p:nvSpPr>
        <p:spPr>
          <a:xfrm>
            <a:off x="8153197" y="476173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Same line,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but different tables.</a:t>
            </a:r>
            <a:endParaRPr lang="en-US" sz="1575" dirty="0"/>
          </a:p>
        </p:txBody>
      </p:sp>
      <p:sp>
        <p:nvSpPr>
          <p:cNvPr id="100" name="Slide Number 10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anim calcmode="lin" valueType="num">
                                      <p:cBhvr>
                                        <p:cTn id="40" dur="500" fill="hold"/>
                                        <p:tgtEl>
                                          <p:spTgt spid="18"/>
                                        </p:tgtEl>
                                        <p:attrNameLst>
                                          <p:attrName>ppt_x</p:attrName>
                                        </p:attrNameLst>
                                      </p:cBhvr>
                                      <p:tavLst>
                                        <p:tav tm="0">
                                          <p:val>
                                            <p:strVal val="#ppt_x"/>
                                          </p:val>
                                        </p:tav>
                                        <p:tav tm="100000">
                                          <p:val>
                                            <p:strVal val="#ppt_x"/>
                                          </p:val>
                                        </p:tav>
                                      </p:tavLst>
                                    </p:anim>
                                    <p:anim calcmode="lin" valueType="num">
                                      <p:cBhvr>
                                        <p:cTn id="4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anim calcmode="lin" valueType="num">
                                      <p:cBhvr>
                                        <p:cTn id="54" dur="500" fill="hold"/>
                                        <p:tgtEl>
                                          <p:spTgt spid="22"/>
                                        </p:tgtEl>
                                        <p:attrNameLst>
                                          <p:attrName>ppt_x</p:attrName>
                                        </p:attrNameLst>
                                      </p:cBhvr>
                                      <p:tavLst>
                                        <p:tav tm="0">
                                          <p:val>
                                            <p:strVal val="#ppt_x"/>
                                          </p:val>
                                        </p:tav>
                                        <p:tav tm="100000">
                                          <p:val>
                                            <p:strVal val="#ppt_x"/>
                                          </p:val>
                                        </p:tav>
                                      </p:tavLst>
                                    </p:anim>
                                    <p:anim calcmode="lin" valueType="num">
                                      <p:cBhvr>
                                        <p:cTn id="55"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p:tgtEl>
                                          <p:spTgt spid="24"/>
                                        </p:tgtEl>
                                        <p:attrNameLst>
                                          <p:attrName>ppt_x</p:attrName>
                                        </p:attrNameLst>
                                      </p:cBhvr>
                                      <p:tavLst>
                                        <p:tav tm="0">
                                          <p:val>
                                            <p:strVal val="#ppt_x"/>
                                          </p:val>
                                        </p:tav>
                                        <p:tav tm="100000">
                                          <p:val>
                                            <p:strVal val="#ppt_x"/>
                                          </p:val>
                                        </p:tav>
                                      </p:tavLst>
                                    </p:anim>
                                    <p:anim calcmode="lin" valueType="num">
                                      <p:cBhvr>
                                        <p:cTn id="62"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anim calcmode="lin" valueType="num">
                                      <p:cBhvr>
                                        <p:cTn id="68" dur="500" fill="hold"/>
                                        <p:tgtEl>
                                          <p:spTgt spid="26"/>
                                        </p:tgtEl>
                                        <p:attrNameLst>
                                          <p:attrName>ppt_x</p:attrName>
                                        </p:attrNameLst>
                                      </p:cBhvr>
                                      <p:tavLst>
                                        <p:tav tm="0">
                                          <p:val>
                                            <p:strVal val="#ppt_x"/>
                                          </p:val>
                                        </p:tav>
                                        <p:tav tm="100000">
                                          <p:val>
                                            <p:strVal val="#ppt_x"/>
                                          </p:val>
                                        </p:tav>
                                      </p:tavLst>
                                    </p:anim>
                                    <p:anim calcmode="lin" valueType="num">
                                      <p:cBhvr>
                                        <p:cTn id="6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anim calcmode="lin" valueType="num">
                                      <p:cBhvr>
                                        <p:cTn id="75" dur="500" fill="hold"/>
                                        <p:tgtEl>
                                          <p:spTgt spid="27"/>
                                        </p:tgtEl>
                                        <p:attrNameLst>
                                          <p:attrName>ppt_x</p:attrName>
                                        </p:attrNameLst>
                                      </p:cBhvr>
                                      <p:tavLst>
                                        <p:tav tm="0">
                                          <p:val>
                                            <p:strVal val="#ppt_x"/>
                                          </p:val>
                                        </p:tav>
                                        <p:tav tm="100000">
                                          <p:val>
                                            <p:strVal val="#ppt_x"/>
                                          </p:val>
                                        </p:tav>
                                      </p:tavLst>
                                    </p:anim>
                                    <p:anim calcmode="lin" valueType="num">
                                      <p:cBhvr>
                                        <p:cTn id="76"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42" presetClass="entr" presetSubtype="0" fill="hold" nodeType="click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anim calcmode="lin" valueType="num">
                                      <p:cBhvr>
                                        <p:cTn id="82" dur="500" fill="hold"/>
                                        <p:tgtEl>
                                          <p:spTgt spid="32"/>
                                        </p:tgtEl>
                                        <p:attrNameLst>
                                          <p:attrName>ppt_x</p:attrName>
                                        </p:attrNameLst>
                                      </p:cBhvr>
                                      <p:tavLst>
                                        <p:tav tm="0">
                                          <p:val>
                                            <p:strVal val="#ppt_x"/>
                                          </p:val>
                                        </p:tav>
                                        <p:tav tm="100000">
                                          <p:val>
                                            <p:strVal val="#ppt_x"/>
                                          </p:val>
                                        </p:tav>
                                      </p:tavLst>
                                    </p:anim>
                                    <p:anim calcmode="lin" valueType="num">
                                      <p:cBhvr>
                                        <p:cTn id="83"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1" presetID="42" presetClass="entr" presetSubtype="0" fill="hold" nodeType="click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500"/>
                                        <p:tgtEl>
                                          <p:spTgt spid="34"/>
                                        </p:tgtEl>
                                      </p:cBhvr>
                                    </p:animEffect>
                                    <p:anim calcmode="lin" valueType="num">
                                      <p:cBhvr>
                                        <p:cTn id="89" dur="500" fill="hold"/>
                                        <p:tgtEl>
                                          <p:spTgt spid="34"/>
                                        </p:tgtEl>
                                        <p:attrNameLst>
                                          <p:attrName>ppt_x</p:attrName>
                                        </p:attrNameLst>
                                      </p:cBhvr>
                                      <p:tavLst>
                                        <p:tav tm="0">
                                          <p:val>
                                            <p:strVal val="#ppt_x"/>
                                          </p:val>
                                        </p:tav>
                                        <p:tav tm="100000">
                                          <p:val>
                                            <p:strVal val="#ppt_x"/>
                                          </p:val>
                                        </p:tav>
                                      </p:tavLst>
                                    </p:anim>
                                    <p:anim calcmode="lin" valueType="num">
                                      <p:cBhvr>
                                        <p:cTn id="90" dur="5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98" presetID="42" presetClass="entr" presetSubtype="0" fill="hold" nodeType="click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anim calcmode="lin" valueType="num">
                                      <p:cBhvr>
                                        <p:cTn id="96" dur="500" fill="hold"/>
                                        <p:tgtEl>
                                          <p:spTgt spid="36"/>
                                        </p:tgtEl>
                                        <p:attrNameLst>
                                          <p:attrName>ppt_x</p:attrName>
                                        </p:attrNameLst>
                                      </p:cBhvr>
                                      <p:tavLst>
                                        <p:tav tm="0">
                                          <p:val>
                                            <p:strVal val="#ppt_x"/>
                                          </p:val>
                                        </p:tav>
                                        <p:tav tm="100000">
                                          <p:val>
                                            <p:strVal val="#ppt_x"/>
                                          </p:val>
                                        </p:tav>
                                      </p:tavLst>
                                    </p:anim>
                                    <p:anim calcmode="lin" valueType="num">
                                      <p:cBhvr>
                                        <p:cTn id="97" dur="5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5" presetID="42" presetClass="entr" presetSubtype="0" fill="hold" nodeType="click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fade">
                                      <p:cBhvr>
                                        <p:cTn id="102" dur="500"/>
                                        <p:tgtEl>
                                          <p:spTgt spid="38"/>
                                        </p:tgtEl>
                                      </p:cBhvr>
                                    </p:animEffect>
                                    <p:anim calcmode="lin" valueType="num">
                                      <p:cBhvr>
                                        <p:cTn id="103" dur="500" fill="hold"/>
                                        <p:tgtEl>
                                          <p:spTgt spid="38"/>
                                        </p:tgtEl>
                                        <p:attrNameLst>
                                          <p:attrName>ppt_x</p:attrName>
                                        </p:attrNameLst>
                                      </p:cBhvr>
                                      <p:tavLst>
                                        <p:tav tm="0">
                                          <p:val>
                                            <p:strVal val="#ppt_x"/>
                                          </p:val>
                                        </p:tav>
                                        <p:tav tm="100000">
                                          <p:val>
                                            <p:strVal val="#ppt_x"/>
                                          </p:val>
                                        </p:tav>
                                      </p:tavLst>
                                    </p:anim>
                                    <p:anim calcmode="lin" valueType="num">
                                      <p:cBhvr>
                                        <p:cTn id="104"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2" presetID="42" presetClass="entr" presetSubtype="0" fill="hold" nodeType="click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anim calcmode="lin" valueType="num">
                                      <p:cBhvr>
                                        <p:cTn id="110" dur="500" fill="hold"/>
                                        <p:tgtEl>
                                          <p:spTgt spid="40"/>
                                        </p:tgtEl>
                                        <p:attrNameLst>
                                          <p:attrName>ppt_x</p:attrName>
                                        </p:attrNameLst>
                                      </p:cBhvr>
                                      <p:tavLst>
                                        <p:tav tm="0">
                                          <p:val>
                                            <p:strVal val="#ppt_x"/>
                                          </p:val>
                                        </p:tav>
                                        <p:tav tm="100000">
                                          <p:val>
                                            <p:strVal val="#ppt_x"/>
                                          </p:val>
                                        </p:tav>
                                      </p:tavLst>
                                    </p:anim>
                                    <p:anim calcmode="lin" valueType="num">
                                      <p:cBhvr>
                                        <p:cTn id="111"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9" presetID="42" presetClass="entr" presetSubtype="0" fill="hold" nodeType="click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500"/>
                                        <p:tgtEl>
                                          <p:spTgt spid="42"/>
                                        </p:tgtEl>
                                      </p:cBhvr>
                                    </p:animEffect>
                                    <p:anim calcmode="lin" valueType="num">
                                      <p:cBhvr>
                                        <p:cTn id="117" dur="500" fill="hold"/>
                                        <p:tgtEl>
                                          <p:spTgt spid="42"/>
                                        </p:tgtEl>
                                        <p:attrNameLst>
                                          <p:attrName>ppt_x</p:attrName>
                                        </p:attrNameLst>
                                      </p:cBhvr>
                                      <p:tavLst>
                                        <p:tav tm="0">
                                          <p:val>
                                            <p:strVal val="#ppt_x"/>
                                          </p:val>
                                        </p:tav>
                                        <p:tav tm="100000">
                                          <p:val>
                                            <p:strVal val="#ppt_x"/>
                                          </p:val>
                                        </p:tav>
                                      </p:tavLst>
                                    </p:anim>
                                    <p:anim calcmode="lin" valueType="num">
                                      <p:cBhvr>
                                        <p:cTn id="118" dur="5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6" presetID="42" presetClass="entr" presetSubtype="0" fill="hold" nodeType="click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500"/>
                                        <p:tgtEl>
                                          <p:spTgt spid="44"/>
                                        </p:tgtEl>
                                      </p:cBhvr>
                                    </p:animEffect>
                                    <p:anim calcmode="lin" valueType="num">
                                      <p:cBhvr>
                                        <p:cTn id="124" dur="500" fill="hold"/>
                                        <p:tgtEl>
                                          <p:spTgt spid="44"/>
                                        </p:tgtEl>
                                        <p:attrNameLst>
                                          <p:attrName>ppt_x</p:attrName>
                                        </p:attrNameLst>
                                      </p:cBhvr>
                                      <p:tavLst>
                                        <p:tav tm="0">
                                          <p:val>
                                            <p:strVal val="#ppt_x"/>
                                          </p:val>
                                        </p:tav>
                                        <p:tav tm="100000">
                                          <p:val>
                                            <p:strVal val="#ppt_x"/>
                                          </p:val>
                                        </p:tav>
                                      </p:tavLst>
                                    </p:anim>
                                    <p:anim calcmode="lin" valueType="num">
                                      <p:cBhvr>
                                        <p:cTn id="125"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3" presetID="42" presetClass="entr" presetSubtype="0" fill="hold" nodeType="click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anim calcmode="lin" valueType="num">
                                      <p:cBhvr>
                                        <p:cTn id="131" dur="500" fill="hold"/>
                                        <p:tgtEl>
                                          <p:spTgt spid="46"/>
                                        </p:tgtEl>
                                        <p:attrNameLst>
                                          <p:attrName>ppt_x</p:attrName>
                                        </p:attrNameLst>
                                      </p:cBhvr>
                                      <p:tavLst>
                                        <p:tav tm="0">
                                          <p:val>
                                            <p:strVal val="#ppt_x"/>
                                          </p:val>
                                        </p:tav>
                                        <p:tav tm="100000">
                                          <p:val>
                                            <p:strVal val="#ppt_x"/>
                                          </p:val>
                                        </p:tav>
                                      </p:tavLst>
                                    </p:anim>
                                    <p:anim calcmode="lin" valueType="num">
                                      <p:cBhvr>
                                        <p:cTn id="132"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0" presetID="42" presetClass="entr" presetSubtype="0" fill="hold" nodeType="clickEffect">
                                  <p:stCondLst>
                                    <p:cond delay="0"/>
                                  </p:stCondLst>
                                  <p:childTnLst>
                                    <p:set>
                                      <p:cBhvr>
                                        <p:cTn id="136" dur="1" fill="hold">
                                          <p:stCondLst>
                                            <p:cond delay="0"/>
                                          </p:stCondLst>
                                        </p:cTn>
                                        <p:tgtEl>
                                          <p:spTgt spid="48"/>
                                        </p:tgtEl>
                                        <p:attrNameLst>
                                          <p:attrName>style.visibility</p:attrName>
                                        </p:attrNameLst>
                                      </p:cBhvr>
                                      <p:to>
                                        <p:strVal val="visible"/>
                                      </p:to>
                                    </p:set>
                                    <p:animEffect transition="in" filter="fade">
                                      <p:cBhvr>
                                        <p:cTn id="137" dur="500"/>
                                        <p:tgtEl>
                                          <p:spTgt spid="48"/>
                                        </p:tgtEl>
                                      </p:cBhvr>
                                    </p:animEffect>
                                    <p:anim calcmode="lin" valueType="num">
                                      <p:cBhvr>
                                        <p:cTn id="138" dur="500" fill="hold"/>
                                        <p:tgtEl>
                                          <p:spTgt spid="48"/>
                                        </p:tgtEl>
                                        <p:attrNameLst>
                                          <p:attrName>ppt_x</p:attrName>
                                        </p:attrNameLst>
                                      </p:cBhvr>
                                      <p:tavLst>
                                        <p:tav tm="0">
                                          <p:val>
                                            <p:strVal val="#ppt_x"/>
                                          </p:val>
                                        </p:tav>
                                        <p:tav tm="100000">
                                          <p:val>
                                            <p:strVal val="#ppt_x"/>
                                          </p:val>
                                        </p:tav>
                                      </p:tavLst>
                                    </p:anim>
                                    <p:anim calcmode="lin" valueType="num">
                                      <p:cBhvr>
                                        <p:cTn id="139" dur="5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47" presetID="42" presetClass="entr" presetSubtype="0" fill="hold" nodeType="click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500"/>
                                        <p:tgtEl>
                                          <p:spTgt spid="50"/>
                                        </p:tgtEl>
                                      </p:cBhvr>
                                    </p:animEffect>
                                    <p:anim calcmode="lin" valueType="num">
                                      <p:cBhvr>
                                        <p:cTn id="145" dur="500" fill="hold"/>
                                        <p:tgtEl>
                                          <p:spTgt spid="50"/>
                                        </p:tgtEl>
                                        <p:attrNameLst>
                                          <p:attrName>ppt_x</p:attrName>
                                        </p:attrNameLst>
                                      </p:cBhvr>
                                      <p:tavLst>
                                        <p:tav tm="0">
                                          <p:val>
                                            <p:strVal val="#ppt_x"/>
                                          </p:val>
                                        </p:tav>
                                        <p:tav tm="100000">
                                          <p:val>
                                            <p:strVal val="#ppt_x"/>
                                          </p:val>
                                        </p:tav>
                                      </p:tavLst>
                                    </p:anim>
                                    <p:anim calcmode="lin" valueType="num">
                                      <p:cBhvr>
                                        <p:cTn id="146" dur="5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4" presetID="42" presetClass="entr" presetSubtype="0" fill="hold" nodeType="clickEffect">
                                  <p:stCondLst>
                                    <p:cond delay="0"/>
                                  </p:stCondLst>
                                  <p:childTnLst>
                                    <p:set>
                                      <p:cBhvr>
                                        <p:cTn id="150" dur="1" fill="hold">
                                          <p:stCondLst>
                                            <p:cond delay="0"/>
                                          </p:stCondLst>
                                        </p:cTn>
                                        <p:tgtEl>
                                          <p:spTgt spid="51"/>
                                        </p:tgtEl>
                                        <p:attrNameLst>
                                          <p:attrName>style.visibility</p:attrName>
                                        </p:attrNameLst>
                                      </p:cBhvr>
                                      <p:to>
                                        <p:strVal val="visible"/>
                                      </p:to>
                                    </p:set>
                                    <p:animEffect transition="in" filter="fade">
                                      <p:cBhvr>
                                        <p:cTn id="151" dur="500"/>
                                        <p:tgtEl>
                                          <p:spTgt spid="51"/>
                                        </p:tgtEl>
                                      </p:cBhvr>
                                    </p:animEffect>
                                    <p:anim calcmode="lin" valueType="num">
                                      <p:cBhvr>
                                        <p:cTn id="152" dur="500" fill="hold"/>
                                        <p:tgtEl>
                                          <p:spTgt spid="51"/>
                                        </p:tgtEl>
                                        <p:attrNameLst>
                                          <p:attrName>ppt_x</p:attrName>
                                        </p:attrNameLst>
                                      </p:cBhvr>
                                      <p:tavLst>
                                        <p:tav tm="0">
                                          <p:val>
                                            <p:strVal val="#ppt_x"/>
                                          </p:val>
                                        </p:tav>
                                        <p:tav tm="100000">
                                          <p:val>
                                            <p:strVal val="#ppt_x"/>
                                          </p:val>
                                        </p:tav>
                                      </p:tavLst>
                                    </p:anim>
                                    <p:anim calcmode="lin" valueType="num">
                                      <p:cBhvr>
                                        <p:cTn id="153" dur="5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59" presetID="22" presetClass="entr" presetSubtype="8" fill="hold" nodeType="clickEffect">
                                  <p:stCondLst>
                                    <p:cond delay="0"/>
                                  </p:stCondLst>
                                  <p:childTnLst>
                                    <p:set>
                                      <p:cBhvr>
                                        <p:cTn id="157" dur="1" fill="hold">
                                          <p:stCondLst>
                                            <p:cond delay="0"/>
                                          </p:stCondLst>
                                        </p:cTn>
                                        <p:tgtEl>
                                          <p:spTgt spid="97"/>
                                        </p:tgtEl>
                                        <p:attrNameLst>
                                          <p:attrName>style.visibility</p:attrName>
                                        </p:attrNameLst>
                                      </p:cBhvr>
                                      <p:to>
                                        <p:strVal val="visible"/>
                                      </p:to>
                                    </p:set>
                                    <p:animEffect transition="in" filter="wipe(left)">
                                      <p:cBhvr>
                                        <p:cTn id="158" dur="700"/>
                                        <p:tgtEl>
                                          <p:spTgt spid="97"/>
                                        </p:tgtEl>
                                      </p:cBhvr>
                                    </p:animEffect>
                                  </p:childTnLst>
                                </p:cTn>
                              </p:par>
                              <p:par>
                                <p:cTn id="162" presetID="22" presetClass="entr" presetSubtype="8" fill="hold" nodeType="withEffect">
                                  <p:stCondLst>
                                    <p:cond delay="0"/>
                                  </p:stCondLst>
                                  <p:childTnLst>
                                    <p:set>
                                      <p:cBhvr>
                                        <p:cTn id="160" dur="1" fill="hold">
                                          <p:stCondLst>
                                            <p:cond delay="0"/>
                                          </p:stCondLst>
                                        </p:cTn>
                                        <p:tgtEl>
                                          <p:spTgt spid="98"/>
                                        </p:tgtEl>
                                        <p:attrNameLst>
                                          <p:attrName>style.visibility</p:attrName>
                                        </p:attrNameLst>
                                      </p:cBhvr>
                                      <p:to>
                                        <p:strVal val="visible"/>
                                      </p:to>
                                    </p:set>
                                    <p:animEffect transition="in" filter="wipe(left)">
                                      <p:cBhvr>
                                        <p:cTn id="161" dur="700"/>
                                        <p:tgtEl>
                                          <p:spTgt spid="98"/>
                                        </p:tgtEl>
                                      </p:cBhvr>
                                    </p:animEffect>
                                  </p:childTnLst>
                                </p:cTn>
                              </p:par>
                            </p:childTnLst>
                          </p:cTn>
                        </p:par>
                      </p:childTnLst>
                    </p:cTn>
                  </p:par>
                  <p:par>
                    <p:cTn id="170" fill="hold">
                      <p:stCondLst>
                        <p:cond delay="indefinite"/>
                      </p:stCondLst>
                      <p:childTnLst>
                        <p:par>
                          <p:cTn id="171" fill="hold">
                            <p:stCondLst>
                              <p:cond delay="0"/>
                            </p:stCondLst>
                            <p:childTnLst>
                              <p:par>
                                <p:cTn id="169" presetID="42" presetClass="entr" presetSubtype="0" fill="hold" nodeType="clickEffect">
                                  <p:stCondLst>
                                    <p:cond delay="0"/>
                                  </p:stCondLst>
                                  <p:childTnLst>
                                    <p:set>
                                      <p:cBhvr>
                                        <p:cTn id="165" dur="1" fill="hold">
                                          <p:stCondLst>
                                            <p:cond delay="0"/>
                                          </p:stCondLst>
                                        </p:cTn>
                                        <p:tgtEl>
                                          <p:spTgt spid="99"/>
                                        </p:tgtEl>
                                        <p:attrNameLst>
                                          <p:attrName>style.visibility</p:attrName>
                                        </p:attrNameLst>
                                      </p:cBhvr>
                                      <p:to>
                                        <p:strVal val="visible"/>
                                      </p:to>
                                    </p:set>
                                    <p:animEffect transition="in" filter="fade">
                                      <p:cBhvr>
                                        <p:cTn id="166" dur="500"/>
                                        <p:tgtEl>
                                          <p:spTgt spid="99"/>
                                        </p:tgtEl>
                                      </p:cBhvr>
                                    </p:animEffect>
                                    <p:anim calcmode="lin" valueType="num">
                                      <p:cBhvr>
                                        <p:cTn id="167" dur="500" fill="hold"/>
                                        <p:tgtEl>
                                          <p:spTgt spid="99"/>
                                        </p:tgtEl>
                                        <p:attrNameLst>
                                          <p:attrName>ppt_x</p:attrName>
                                        </p:attrNameLst>
                                      </p:cBhvr>
                                      <p:tavLst>
                                        <p:tav tm="0">
                                          <p:val>
                                            <p:strVal val="#ppt_x"/>
                                          </p:val>
                                        </p:tav>
                                        <p:tav tm="100000">
                                          <p:val>
                                            <p:strVal val="#ppt_x"/>
                                          </p:val>
                                        </p:tav>
                                      </p:tavLst>
                                    </p:anim>
                                    <p:anim calcmode="lin" valueType="num">
                                      <p:cBhvr>
                                        <p:cTn id="168" dur="500" fill="hold"/>
                                        <p:tgtEl>
                                          <p:spTgt spid="9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2.1 · Definitions · SE p. 291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Horizontal vs. vertical translations</a:t>
            </a:r>
            <a:endParaRPr lang="en-US" sz="3450" dirty="0"/>
          </a:p>
        </p:txBody>
      </p:sp>
      <p:sp>
        <p:nvSpPr>
          <p:cNvPr id="6" name="Shape 6"/>
          <p:cNvSpPr txBox="1"/>
          <p:nvPr/>
        </p:nvSpPr>
        <p:spPr>
          <a:xfrm>
            <a:off x="685800"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y</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c</a:t>
            </a:r>
            <a:r>
              <a:rPr lang="en-US" sz="2100" dirty="0" b="1">
                <a:solidFill>
                  <a:srgbClr val="16171D"/>
                </a:solidFill>
                <a:latin typeface="Cambria"/>
                <a:cs typeface="Cambria"/>
              </a:rPr>
              <a:t xml:space="preserve">)</a:t>
            </a:r>
            <a:endParaRPr lang="en-US" sz="2100" dirty="0"/>
          </a:p>
        </p:txBody>
      </p:sp>
      <p:sp>
        <p:nvSpPr>
          <p:cNvPr id="5" name="Shape 5"/>
          <p:cNvSpPr txBox="1"/>
          <p:nvPr/>
        </p:nvSpPr>
        <p:spPr>
          <a:xfrm>
            <a:off x="895350"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a:t>
            </a:r>
            <a:r>
              <a:rPr lang="en-US" sz="1575" dirty="0" b="1">
                <a:solidFill>
                  <a:srgbClr val="16171D"/>
                </a:solidFill>
                <a:latin typeface="Segoe UI"/>
                <a:cs typeface="Segoe UI"/>
              </a:rPr>
              <a:t xml:space="preserve">inputs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&gt; 0</a:t>
            </a:r>
            <a:r>
              <a:rPr lang="en-US" sz="1575" dirty="0">
                <a:solidFill>
                  <a:srgbClr val="16171D"/>
                </a:solidFill>
                <a:latin typeface="Segoe UI"/>
                <a:cs typeface="Segoe UI"/>
              </a:rPr>
              <a:t xml:space="preserve">: shift </a:t>
            </a:r>
            <a:r>
              <a:rPr lang="en-US" sz="1575" dirty="0" b="1">
                <a:solidFill>
                  <a:srgbClr val="16171D"/>
                </a:solidFill>
                <a:latin typeface="Segoe UI"/>
                <a:cs typeface="Segoe UI"/>
              </a:rPr>
              <a:t xml:space="preserve">right</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shift </a:t>
            </a:r>
            <a:r>
              <a:rPr lang="en-US" sz="1575" dirty="0" b="1">
                <a:solidFill>
                  <a:srgbClr val="16171D"/>
                </a:solidFill>
                <a:latin typeface="Segoe UI"/>
                <a:cs typeface="Segoe UI"/>
              </a:rPr>
              <a:t xml:space="preserve">left</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286348" y="1618488"/>
            <a:ext cx="5219548" cy="134797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y</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d</a:t>
            </a:r>
            <a:endParaRPr lang="en-US" sz="2100" dirty="0"/>
          </a:p>
        </p:txBody>
      </p:sp>
      <p:sp>
        <p:nvSpPr>
          <p:cNvPr id="8" name="Shape 8"/>
          <p:cNvSpPr txBox="1"/>
          <p:nvPr/>
        </p:nvSpPr>
        <p:spPr>
          <a:xfrm>
            <a:off x="6495898" y="2260092"/>
            <a:ext cx="48004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Changes the </a:t>
            </a:r>
            <a:r>
              <a:rPr lang="en-US" sz="1575" dirty="0" b="1">
                <a:solidFill>
                  <a:srgbClr val="16171D"/>
                </a:solidFill>
                <a:latin typeface="Segoe UI"/>
                <a:cs typeface="Segoe UI"/>
              </a:rPr>
              <a:t xml:space="preserve">outputs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&gt; 0</a:t>
            </a:r>
            <a:r>
              <a:rPr lang="en-US" sz="1575" dirty="0">
                <a:solidFill>
                  <a:srgbClr val="16171D"/>
                </a:solidFill>
                <a:latin typeface="Segoe UI"/>
                <a:cs typeface="Segoe UI"/>
              </a:rPr>
              <a:t xml:space="preserve">: shift </a:t>
            </a:r>
            <a:r>
              <a:rPr lang="en-US" sz="1575" dirty="0" b="1">
                <a:solidFill>
                  <a:srgbClr val="16171D"/>
                </a:solidFill>
                <a:latin typeface="Segoe UI"/>
                <a:cs typeface="Segoe UI"/>
              </a:rPr>
              <a:t xml:space="preserve">up</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d</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shift </a:t>
            </a:r>
            <a:r>
              <a:rPr lang="en-US" sz="1575" dirty="0" b="1">
                <a:solidFill>
                  <a:srgbClr val="16171D"/>
                </a:solidFill>
                <a:latin typeface="Segoe UI"/>
                <a:cs typeface="Segoe UI"/>
              </a:rPr>
              <a:t xml:space="preserve">down</a:t>
            </a:r>
            <a:r>
              <a:rPr lang="en-US" sz="1575" dirty="0">
                <a:solidFill>
                  <a:srgbClr val="16171D"/>
                </a:solidFill>
                <a:latin typeface="Segoe UI"/>
                <a:cs typeface="Segoe UI"/>
              </a:rPr>
              <a:t xml:space="preserve">.</a:t>
            </a:r>
            <a:endParaRPr lang="en-US" sz="1575" dirty="0"/>
          </a:p>
        </p:txBody>
      </p:sp>
      <p:sp>
        <p:nvSpPr>
          <p:cNvPr id="10" name="Shape 10"/>
          <p:cNvSpPr txBox="1"/>
          <p:nvPr/>
        </p:nvSpPr>
        <p:spPr>
          <a:xfrm>
            <a:off x="685800" y="313791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right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 down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and left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 up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a:t>
            </a:r>
            <a:endParaRPr lang="en-US" sz="1575" dirty="0"/>
          </a:p>
        </p:txBody>
      </p:sp>
      <p:sp>
        <p:nvSpPr>
          <p:cNvPr id="11" name="Shape 11"/>
          <p:cNvSpPr txBox="1"/>
          <p:nvPr/>
        </p:nvSpPr>
        <p:spPr>
          <a:xfrm>
            <a:off x="685800" y="3604260"/>
            <a:ext cx="4967272"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Does that work for </a:t>
            </a:r>
            <a:r>
              <a:rPr lang="en-US" sz="1650" dirty="0" b="1">
                <a:solidFill>
                  <a:srgbClr val="16171D"/>
                </a:solidFill>
                <a:latin typeface="Segoe UI"/>
                <a:cs typeface="Segoe UI"/>
              </a:rPr>
              <a:t xml:space="preserve">every</a:t>
            </a:r>
            <a:r>
              <a:rPr lang="en-US" sz="1650" dirty="0">
                <a:solidFill>
                  <a:srgbClr val="16171D"/>
                </a:solidFill>
                <a:latin typeface="Segoe UI"/>
                <a:cs typeface="Segoe UI"/>
              </a:rPr>
              <a:t xml:space="preserve"> linear function?</a:t>
            </a:r>
            <a:endParaRPr lang="en-US" sz="1650"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500"/>
                                        <p:tgtEl>
                                          <p:spTgt spid="10"/>
                                        </p:tgtEl>
                                      </p:cBhvr>
                                    </p:animEffect>
                                    <p:anim calcmode="lin" valueType="num">
                                      <p:cBhvr>
                                        <p:cTn id="5" dur="500" fill="hold"/>
                                        <p:tgtEl>
                                          <p:spTgt spid="10"/>
                                        </p:tgtEl>
                                        <p:attrNameLst>
                                          <p:attrName>ppt_x</p:attrName>
                                        </p:attrNameLst>
                                      </p:cBhvr>
                                      <p:tavLst>
                                        <p:tav tm="0">
                                          <p:val>
                                            <p:strVal val="#ppt_x"/>
                                          </p:val>
                                        </p:tav>
                                        <p:tav tm="100000">
                                          <p:val>
                                            <p:strVal val="#ppt_x"/>
                                          </p:val>
                                        </p:tav>
                                      </p:tavLst>
                                    </p:anim>
                                    <p:anim calcmode="lin" valueType="num">
                                      <p:cBhvr>
                                        <p:cTn id="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anim calcmode="lin" valueType="num">
                                      <p:cBhvr>
                                        <p:cTn id="12" dur="500" fill="hold"/>
                                        <p:tgtEl>
                                          <p:spTgt spid="11"/>
                                        </p:tgtEl>
                                        <p:attrNameLst>
                                          <p:attrName>ppt_x</p:attrName>
                                        </p:attrNameLst>
                                      </p:cBhvr>
                                      <p:tavLst>
                                        <p:tav tm="0">
                                          <p:val>
                                            <p:strVal val="#ppt_x"/>
                                          </p:val>
                                        </p:tav>
                                        <p:tav tm="100000">
                                          <p:val>
                                            <p:strVal val="#ppt_x"/>
                                          </p:val>
                                        </p:tav>
                                      </p:tavLst>
                                    </p:anim>
                                    <p:anim calcmode="lin" valueType="num">
                                      <p:cBhvr>
                                        <p:cTn id="13"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2.1 · Questions 6–9 · SE pp. 292–294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Try it with </a:t>
            </a:r>
            <a:r>
              <a:rPr lang="en-US" sz="3450" dirty="0" b="1" i="1">
                <a:solidFill>
                  <a:srgbClr val="16171D"/>
                </a:solidFill>
                <a:latin typeface="Cambria"/>
                <a:cs typeface="Cambria"/>
              </a:rPr>
              <a:t xml:space="preserve">j</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− 1</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4 and left 4:</a:t>
            </a:r>
            <a:endParaRPr lang="en-US" sz="1575" dirty="0"/>
          </a:p>
        </p:txBody>
      </p:sp>
      <p:sp>
        <p:nvSpPr>
          <p:cNvPr id="5" name="Shape 5"/>
          <p:cNvSpPr txBox="1"/>
          <p:nvPr/>
        </p:nvSpPr>
        <p:spPr>
          <a:xfrm>
            <a:off x="685800" y="2008632"/>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q</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2977134"/>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− 1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7" name="Shape 7"/>
          <p:cNvSpPr txBox="1"/>
          <p:nvPr/>
        </p:nvSpPr>
        <p:spPr>
          <a:xfrm>
            <a:off x="685800" y="394563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Right 2 and down 2:</a:t>
            </a:r>
            <a:endParaRPr lang="en-US" sz="1575" dirty="0"/>
          </a:p>
        </p:txBody>
      </p:sp>
      <p:sp>
        <p:nvSpPr>
          <p:cNvPr id="8" name="Shape 8"/>
          <p:cNvSpPr txBox="1"/>
          <p:nvPr/>
        </p:nvSpPr>
        <p:spPr>
          <a:xfrm>
            <a:off x="685800" y="4335780"/>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9" name="Shape 9"/>
          <p:cNvSpPr txBox="1"/>
          <p:nvPr/>
        </p:nvSpPr>
        <p:spPr>
          <a:xfrm>
            <a:off x="685800" y="5304282"/>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v</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0" name="Shape 10"/>
          <p:cNvSpPr txBox="1"/>
          <p:nvPr/>
        </p:nvSpPr>
        <p:spPr>
          <a:xfrm>
            <a:off x="685800" y="6272784"/>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Not the same.</a:t>
            </a:r>
            <a:r>
              <a:rPr lang="en-US" sz="1575" dirty="0">
                <a:solidFill>
                  <a:srgbClr val="16171D"/>
                </a:solidFill>
                <a:latin typeface="Segoe UI"/>
                <a:cs typeface="Segoe UI"/>
              </a:rPr>
              <a:t xml:space="preserve"> The lines are parallel with different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a:t>
            </a:r>
            <a:endParaRPr lang="en-US" sz="1575" dirty="0"/>
          </a:p>
        </p:txBody>
      </p:sp>
      <p:sp>
        <p:nvSpPr>
          <p:cNvPr id="11" name="Shape 11"/>
          <p:cNvSpPr/>
          <p:nvPr/>
        </p:nvSpPr>
        <p:spPr>
          <a:xfrm>
            <a:off x="6286348" y="1618488"/>
            <a:ext cx="3143250" cy="3429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6610198" y="1732788"/>
            <a:ext cx="0" cy="3067050"/>
          </a:xfrm>
          <a:prstGeom prst="line">
            <a:avLst/>
          </a:prstGeom>
          <a:ln w="9525" cap="flat">
            <a:solidFill>
              <a:srgbClr val="E6E8F2"/>
            </a:solidFill>
          </a:ln>
        </p:spPr>
      </p:cxnSp>
      <p:cxnSp>
        <p:nvCxnSpPr>
          <p:cNvPr id="13" name="Line 13"/>
          <p:cNvCxnSpPr/>
          <p:nvPr/>
        </p:nvCxnSpPr>
        <p:spPr>
          <a:xfrm>
            <a:off x="6835623" y="1732788"/>
            <a:ext cx="0" cy="3067050"/>
          </a:xfrm>
          <a:prstGeom prst="line">
            <a:avLst/>
          </a:prstGeom>
          <a:ln w="9525" cap="flat">
            <a:solidFill>
              <a:srgbClr val="E6E8F2"/>
            </a:solidFill>
          </a:ln>
        </p:spPr>
      </p:cxnSp>
      <p:cxnSp>
        <p:nvCxnSpPr>
          <p:cNvPr id="14" name="Line 14"/>
          <p:cNvCxnSpPr/>
          <p:nvPr/>
        </p:nvCxnSpPr>
        <p:spPr>
          <a:xfrm>
            <a:off x="7061048" y="1732788"/>
            <a:ext cx="0" cy="3067050"/>
          </a:xfrm>
          <a:prstGeom prst="line">
            <a:avLst/>
          </a:prstGeom>
          <a:ln w="9525" cap="flat">
            <a:solidFill>
              <a:srgbClr val="E6E8F2"/>
            </a:solidFill>
          </a:ln>
        </p:spPr>
      </p:cxnSp>
      <p:cxnSp>
        <p:nvCxnSpPr>
          <p:cNvPr id="15" name="Line 15"/>
          <p:cNvCxnSpPr/>
          <p:nvPr/>
        </p:nvCxnSpPr>
        <p:spPr>
          <a:xfrm>
            <a:off x="7286473" y="1732788"/>
            <a:ext cx="0" cy="3067050"/>
          </a:xfrm>
          <a:prstGeom prst="line">
            <a:avLst/>
          </a:prstGeom>
          <a:ln w="9525" cap="flat">
            <a:solidFill>
              <a:srgbClr val="E6E8F2"/>
            </a:solidFill>
          </a:ln>
        </p:spPr>
      </p:cxnSp>
      <p:cxnSp>
        <p:nvCxnSpPr>
          <p:cNvPr id="16" name="Line 16"/>
          <p:cNvCxnSpPr/>
          <p:nvPr/>
        </p:nvCxnSpPr>
        <p:spPr>
          <a:xfrm>
            <a:off x="7511898" y="1732788"/>
            <a:ext cx="0" cy="3067050"/>
          </a:xfrm>
          <a:prstGeom prst="line">
            <a:avLst/>
          </a:prstGeom>
          <a:ln w="9525" cap="flat">
            <a:solidFill>
              <a:srgbClr val="E6E8F2"/>
            </a:solidFill>
          </a:ln>
        </p:spPr>
      </p:cxnSp>
      <p:cxnSp>
        <p:nvCxnSpPr>
          <p:cNvPr id="17" name="Line 17"/>
          <p:cNvCxnSpPr/>
          <p:nvPr/>
        </p:nvCxnSpPr>
        <p:spPr>
          <a:xfrm>
            <a:off x="7737323" y="1732788"/>
            <a:ext cx="0" cy="3067050"/>
          </a:xfrm>
          <a:prstGeom prst="line">
            <a:avLst/>
          </a:prstGeom>
          <a:ln w="9525" cap="flat">
            <a:solidFill>
              <a:srgbClr val="E6E8F2"/>
            </a:solidFill>
          </a:ln>
        </p:spPr>
      </p:cxnSp>
      <p:cxnSp>
        <p:nvCxnSpPr>
          <p:cNvPr id="18" name="Line 18"/>
          <p:cNvCxnSpPr/>
          <p:nvPr/>
        </p:nvCxnSpPr>
        <p:spPr>
          <a:xfrm>
            <a:off x="7962748" y="1732788"/>
            <a:ext cx="0" cy="3067050"/>
          </a:xfrm>
          <a:prstGeom prst="line">
            <a:avLst/>
          </a:prstGeom>
          <a:ln w="9525" cap="flat">
            <a:solidFill>
              <a:srgbClr val="E6E8F2"/>
            </a:solidFill>
          </a:ln>
        </p:spPr>
      </p:cxnSp>
      <p:cxnSp>
        <p:nvCxnSpPr>
          <p:cNvPr id="19" name="Line 19"/>
          <p:cNvCxnSpPr/>
          <p:nvPr/>
        </p:nvCxnSpPr>
        <p:spPr>
          <a:xfrm>
            <a:off x="8188173" y="1732788"/>
            <a:ext cx="0" cy="3067050"/>
          </a:xfrm>
          <a:prstGeom prst="line">
            <a:avLst/>
          </a:prstGeom>
          <a:ln w="9525" cap="flat">
            <a:solidFill>
              <a:srgbClr val="E6E8F2"/>
            </a:solidFill>
          </a:ln>
        </p:spPr>
      </p:cxnSp>
      <p:cxnSp>
        <p:nvCxnSpPr>
          <p:cNvPr id="20" name="Line 20"/>
          <p:cNvCxnSpPr/>
          <p:nvPr/>
        </p:nvCxnSpPr>
        <p:spPr>
          <a:xfrm>
            <a:off x="8413598" y="1732788"/>
            <a:ext cx="0" cy="3067050"/>
          </a:xfrm>
          <a:prstGeom prst="line">
            <a:avLst/>
          </a:prstGeom>
          <a:ln w="9525" cap="flat">
            <a:solidFill>
              <a:srgbClr val="E6E8F2"/>
            </a:solidFill>
          </a:ln>
        </p:spPr>
      </p:cxnSp>
      <p:cxnSp>
        <p:nvCxnSpPr>
          <p:cNvPr id="21" name="Line 21"/>
          <p:cNvCxnSpPr/>
          <p:nvPr/>
        </p:nvCxnSpPr>
        <p:spPr>
          <a:xfrm>
            <a:off x="8639023" y="1732788"/>
            <a:ext cx="0" cy="3067050"/>
          </a:xfrm>
          <a:prstGeom prst="line">
            <a:avLst/>
          </a:prstGeom>
          <a:ln w="9525" cap="flat">
            <a:solidFill>
              <a:srgbClr val="E6E8F2"/>
            </a:solidFill>
          </a:ln>
        </p:spPr>
      </p:cxnSp>
      <p:cxnSp>
        <p:nvCxnSpPr>
          <p:cNvPr id="22" name="Line 22"/>
          <p:cNvCxnSpPr/>
          <p:nvPr/>
        </p:nvCxnSpPr>
        <p:spPr>
          <a:xfrm>
            <a:off x="8864448" y="1732788"/>
            <a:ext cx="0" cy="3067050"/>
          </a:xfrm>
          <a:prstGeom prst="line">
            <a:avLst/>
          </a:prstGeom>
          <a:ln w="9525" cap="flat">
            <a:solidFill>
              <a:srgbClr val="E6E8F2"/>
            </a:solidFill>
          </a:ln>
        </p:spPr>
      </p:cxnSp>
      <p:cxnSp>
        <p:nvCxnSpPr>
          <p:cNvPr id="23" name="Line 23"/>
          <p:cNvCxnSpPr/>
          <p:nvPr/>
        </p:nvCxnSpPr>
        <p:spPr>
          <a:xfrm>
            <a:off x="9089873" y="1732788"/>
            <a:ext cx="0" cy="3067050"/>
          </a:xfrm>
          <a:prstGeom prst="line">
            <a:avLst/>
          </a:prstGeom>
          <a:ln w="9525" cap="flat">
            <a:solidFill>
              <a:srgbClr val="E6E8F2"/>
            </a:solidFill>
          </a:ln>
        </p:spPr>
      </p:cxnSp>
      <p:cxnSp>
        <p:nvCxnSpPr>
          <p:cNvPr id="24" name="Line 24"/>
          <p:cNvCxnSpPr/>
          <p:nvPr/>
        </p:nvCxnSpPr>
        <p:spPr>
          <a:xfrm>
            <a:off x="9315298" y="1732788"/>
            <a:ext cx="0" cy="3067050"/>
          </a:xfrm>
          <a:prstGeom prst="line">
            <a:avLst/>
          </a:prstGeom>
          <a:ln w="9525" cap="flat">
            <a:solidFill>
              <a:srgbClr val="E6E8F2"/>
            </a:solidFill>
          </a:ln>
        </p:spPr>
      </p:cxnSp>
      <p:cxnSp>
        <p:nvCxnSpPr>
          <p:cNvPr id="25" name="Line 25"/>
          <p:cNvCxnSpPr/>
          <p:nvPr/>
        </p:nvCxnSpPr>
        <p:spPr>
          <a:xfrm>
            <a:off x="6610198" y="4799838"/>
            <a:ext cx="2705100" cy="0"/>
          </a:xfrm>
          <a:prstGeom prst="line">
            <a:avLst/>
          </a:prstGeom>
          <a:ln w="9525" cap="flat">
            <a:solidFill>
              <a:srgbClr val="E6E8F2"/>
            </a:solidFill>
          </a:ln>
        </p:spPr>
      </p:cxnSp>
      <p:cxnSp>
        <p:nvCxnSpPr>
          <p:cNvPr id="26" name="Line 26"/>
          <p:cNvCxnSpPr/>
          <p:nvPr/>
        </p:nvCxnSpPr>
        <p:spPr>
          <a:xfrm>
            <a:off x="6610198" y="4608147"/>
            <a:ext cx="2705100" cy="0"/>
          </a:xfrm>
          <a:prstGeom prst="line">
            <a:avLst/>
          </a:prstGeom>
          <a:ln w="9525" cap="flat">
            <a:solidFill>
              <a:srgbClr val="E6E8F2"/>
            </a:solidFill>
          </a:ln>
        </p:spPr>
      </p:cxnSp>
      <p:cxnSp>
        <p:nvCxnSpPr>
          <p:cNvPr id="27" name="Line 27"/>
          <p:cNvCxnSpPr/>
          <p:nvPr/>
        </p:nvCxnSpPr>
        <p:spPr>
          <a:xfrm>
            <a:off x="6610198" y="4416457"/>
            <a:ext cx="2705100" cy="0"/>
          </a:xfrm>
          <a:prstGeom prst="line">
            <a:avLst/>
          </a:prstGeom>
          <a:ln w="9525" cap="flat">
            <a:solidFill>
              <a:srgbClr val="E6E8F2"/>
            </a:solidFill>
          </a:ln>
        </p:spPr>
      </p:cxnSp>
      <p:cxnSp>
        <p:nvCxnSpPr>
          <p:cNvPr id="28" name="Line 28"/>
          <p:cNvCxnSpPr/>
          <p:nvPr/>
        </p:nvCxnSpPr>
        <p:spPr>
          <a:xfrm>
            <a:off x="6610198" y="4224766"/>
            <a:ext cx="2705100" cy="0"/>
          </a:xfrm>
          <a:prstGeom prst="line">
            <a:avLst/>
          </a:prstGeom>
          <a:ln w="9525" cap="flat">
            <a:solidFill>
              <a:srgbClr val="E6E8F2"/>
            </a:solidFill>
          </a:ln>
        </p:spPr>
      </p:cxnSp>
      <p:cxnSp>
        <p:nvCxnSpPr>
          <p:cNvPr id="29" name="Line 29"/>
          <p:cNvCxnSpPr/>
          <p:nvPr/>
        </p:nvCxnSpPr>
        <p:spPr>
          <a:xfrm>
            <a:off x="6610198" y="4033075"/>
            <a:ext cx="2705100" cy="0"/>
          </a:xfrm>
          <a:prstGeom prst="line">
            <a:avLst/>
          </a:prstGeom>
          <a:ln w="9525" cap="flat">
            <a:solidFill>
              <a:srgbClr val="E6E8F2"/>
            </a:solidFill>
          </a:ln>
        </p:spPr>
      </p:cxnSp>
      <p:cxnSp>
        <p:nvCxnSpPr>
          <p:cNvPr id="30" name="Line 30"/>
          <p:cNvCxnSpPr/>
          <p:nvPr/>
        </p:nvCxnSpPr>
        <p:spPr>
          <a:xfrm>
            <a:off x="6610198" y="3841385"/>
            <a:ext cx="2705100" cy="0"/>
          </a:xfrm>
          <a:prstGeom prst="line">
            <a:avLst/>
          </a:prstGeom>
          <a:ln w="9525" cap="flat">
            <a:solidFill>
              <a:srgbClr val="E6E8F2"/>
            </a:solidFill>
          </a:ln>
        </p:spPr>
      </p:cxnSp>
      <p:cxnSp>
        <p:nvCxnSpPr>
          <p:cNvPr id="31" name="Line 31"/>
          <p:cNvCxnSpPr/>
          <p:nvPr/>
        </p:nvCxnSpPr>
        <p:spPr>
          <a:xfrm>
            <a:off x="6610198" y="3649694"/>
            <a:ext cx="2705100" cy="0"/>
          </a:xfrm>
          <a:prstGeom prst="line">
            <a:avLst/>
          </a:prstGeom>
          <a:ln w="9525" cap="flat">
            <a:solidFill>
              <a:srgbClr val="E6E8F2"/>
            </a:solidFill>
          </a:ln>
        </p:spPr>
      </p:cxnSp>
      <p:cxnSp>
        <p:nvCxnSpPr>
          <p:cNvPr id="32" name="Line 32"/>
          <p:cNvCxnSpPr/>
          <p:nvPr/>
        </p:nvCxnSpPr>
        <p:spPr>
          <a:xfrm>
            <a:off x="6610198" y="3458004"/>
            <a:ext cx="2705100" cy="0"/>
          </a:xfrm>
          <a:prstGeom prst="line">
            <a:avLst/>
          </a:prstGeom>
          <a:ln w="9525" cap="flat">
            <a:solidFill>
              <a:srgbClr val="E6E8F2"/>
            </a:solidFill>
          </a:ln>
        </p:spPr>
      </p:cxnSp>
      <p:cxnSp>
        <p:nvCxnSpPr>
          <p:cNvPr id="33" name="Line 33"/>
          <p:cNvCxnSpPr/>
          <p:nvPr/>
        </p:nvCxnSpPr>
        <p:spPr>
          <a:xfrm>
            <a:off x="6610198" y="3266313"/>
            <a:ext cx="2705100" cy="0"/>
          </a:xfrm>
          <a:prstGeom prst="line">
            <a:avLst/>
          </a:prstGeom>
          <a:ln w="9525" cap="flat">
            <a:solidFill>
              <a:srgbClr val="E6E8F2"/>
            </a:solidFill>
          </a:ln>
        </p:spPr>
      </p:cxnSp>
      <p:cxnSp>
        <p:nvCxnSpPr>
          <p:cNvPr id="34" name="Line 34"/>
          <p:cNvCxnSpPr/>
          <p:nvPr/>
        </p:nvCxnSpPr>
        <p:spPr>
          <a:xfrm>
            <a:off x="6610198" y="3074622"/>
            <a:ext cx="2705100" cy="0"/>
          </a:xfrm>
          <a:prstGeom prst="line">
            <a:avLst/>
          </a:prstGeom>
          <a:ln w="9525" cap="flat">
            <a:solidFill>
              <a:srgbClr val="E6E8F2"/>
            </a:solidFill>
          </a:ln>
        </p:spPr>
      </p:cxnSp>
      <p:cxnSp>
        <p:nvCxnSpPr>
          <p:cNvPr id="35" name="Line 35"/>
          <p:cNvCxnSpPr/>
          <p:nvPr/>
        </p:nvCxnSpPr>
        <p:spPr>
          <a:xfrm>
            <a:off x="6610198" y="2882932"/>
            <a:ext cx="2705100" cy="0"/>
          </a:xfrm>
          <a:prstGeom prst="line">
            <a:avLst/>
          </a:prstGeom>
          <a:ln w="9525" cap="flat">
            <a:solidFill>
              <a:srgbClr val="E6E8F2"/>
            </a:solidFill>
          </a:ln>
        </p:spPr>
      </p:cxnSp>
      <p:cxnSp>
        <p:nvCxnSpPr>
          <p:cNvPr id="36" name="Line 36"/>
          <p:cNvCxnSpPr/>
          <p:nvPr/>
        </p:nvCxnSpPr>
        <p:spPr>
          <a:xfrm>
            <a:off x="6610198" y="2691241"/>
            <a:ext cx="2705100" cy="0"/>
          </a:xfrm>
          <a:prstGeom prst="line">
            <a:avLst/>
          </a:prstGeom>
          <a:ln w="9525" cap="flat">
            <a:solidFill>
              <a:srgbClr val="E6E8F2"/>
            </a:solidFill>
          </a:ln>
        </p:spPr>
      </p:cxnSp>
      <p:cxnSp>
        <p:nvCxnSpPr>
          <p:cNvPr id="37" name="Line 37"/>
          <p:cNvCxnSpPr/>
          <p:nvPr/>
        </p:nvCxnSpPr>
        <p:spPr>
          <a:xfrm>
            <a:off x="6610198" y="2499550"/>
            <a:ext cx="2705100" cy="0"/>
          </a:xfrm>
          <a:prstGeom prst="line">
            <a:avLst/>
          </a:prstGeom>
          <a:ln w="9525" cap="flat">
            <a:solidFill>
              <a:srgbClr val="E6E8F2"/>
            </a:solidFill>
          </a:ln>
        </p:spPr>
      </p:cxnSp>
      <p:cxnSp>
        <p:nvCxnSpPr>
          <p:cNvPr id="38" name="Line 38"/>
          <p:cNvCxnSpPr/>
          <p:nvPr/>
        </p:nvCxnSpPr>
        <p:spPr>
          <a:xfrm>
            <a:off x="6610198" y="2307860"/>
            <a:ext cx="2705100" cy="0"/>
          </a:xfrm>
          <a:prstGeom prst="line">
            <a:avLst/>
          </a:prstGeom>
          <a:ln w="9525" cap="flat">
            <a:solidFill>
              <a:srgbClr val="E6E8F2"/>
            </a:solidFill>
          </a:ln>
        </p:spPr>
      </p:cxnSp>
      <p:cxnSp>
        <p:nvCxnSpPr>
          <p:cNvPr id="39" name="Line 39"/>
          <p:cNvCxnSpPr/>
          <p:nvPr/>
        </p:nvCxnSpPr>
        <p:spPr>
          <a:xfrm>
            <a:off x="6610198" y="2116169"/>
            <a:ext cx="2705100" cy="0"/>
          </a:xfrm>
          <a:prstGeom prst="line">
            <a:avLst/>
          </a:prstGeom>
          <a:ln w="9525" cap="flat">
            <a:solidFill>
              <a:srgbClr val="E6E8F2"/>
            </a:solidFill>
          </a:ln>
        </p:spPr>
      </p:cxnSp>
      <p:cxnSp>
        <p:nvCxnSpPr>
          <p:cNvPr id="40" name="Line 40"/>
          <p:cNvCxnSpPr/>
          <p:nvPr/>
        </p:nvCxnSpPr>
        <p:spPr>
          <a:xfrm>
            <a:off x="6610198" y="1924479"/>
            <a:ext cx="2705100" cy="0"/>
          </a:xfrm>
          <a:prstGeom prst="line">
            <a:avLst/>
          </a:prstGeom>
          <a:ln w="9525" cap="flat">
            <a:solidFill>
              <a:srgbClr val="E6E8F2"/>
            </a:solidFill>
          </a:ln>
        </p:spPr>
      </p:cxnSp>
      <p:cxnSp>
        <p:nvCxnSpPr>
          <p:cNvPr id="41" name="Line 41"/>
          <p:cNvCxnSpPr/>
          <p:nvPr/>
        </p:nvCxnSpPr>
        <p:spPr>
          <a:xfrm>
            <a:off x="6610198" y="1732788"/>
            <a:ext cx="2705100" cy="0"/>
          </a:xfrm>
          <a:prstGeom prst="line">
            <a:avLst/>
          </a:prstGeom>
          <a:ln w="9525" cap="flat">
            <a:solidFill>
              <a:srgbClr val="E6E8F2"/>
            </a:solidFill>
          </a:ln>
        </p:spPr>
      </p:cxnSp>
      <p:cxnSp>
        <p:nvCxnSpPr>
          <p:cNvPr id="42" name="Line 42"/>
          <p:cNvCxnSpPr/>
          <p:nvPr/>
        </p:nvCxnSpPr>
        <p:spPr>
          <a:xfrm>
            <a:off x="7962748" y="1732788"/>
            <a:ext cx="0" cy="3067050"/>
          </a:xfrm>
          <a:prstGeom prst="line">
            <a:avLst/>
          </a:prstGeom>
          <a:ln w="19050" cap="flat">
            <a:solidFill>
              <a:srgbClr val="5F6272"/>
            </a:solidFill>
          </a:ln>
        </p:spPr>
      </p:cxnSp>
      <p:cxnSp>
        <p:nvCxnSpPr>
          <p:cNvPr id="43" name="Line 43"/>
          <p:cNvCxnSpPr/>
          <p:nvPr/>
        </p:nvCxnSpPr>
        <p:spPr>
          <a:xfrm>
            <a:off x="6610198" y="3266313"/>
            <a:ext cx="2705100" cy="0"/>
          </a:xfrm>
          <a:prstGeom prst="line">
            <a:avLst/>
          </a:prstGeom>
          <a:ln w="19050" cap="flat">
            <a:solidFill>
              <a:srgbClr val="5F6272"/>
            </a:solidFill>
          </a:ln>
        </p:spPr>
      </p:cxnSp>
      <p:sp>
        <p:nvSpPr>
          <p:cNvPr id="44" name="Shape 44"/>
          <p:cNvSpPr txBox="1"/>
          <p:nvPr/>
        </p:nvSpPr>
        <p:spPr>
          <a:xfrm>
            <a:off x="63358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5" name="Shape 45"/>
          <p:cNvSpPr txBox="1"/>
          <p:nvPr/>
        </p:nvSpPr>
        <p:spPr>
          <a:xfrm>
            <a:off x="678672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72375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768842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81392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9" name="Shape 49"/>
          <p:cNvSpPr txBox="1"/>
          <p:nvPr/>
        </p:nvSpPr>
        <p:spPr>
          <a:xfrm>
            <a:off x="859012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0" name="Shape 50"/>
          <p:cNvSpPr txBox="1"/>
          <p:nvPr/>
        </p:nvSpPr>
        <p:spPr>
          <a:xfrm>
            <a:off x="9040978" y="48188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51" name="Shape 51"/>
          <p:cNvSpPr txBox="1"/>
          <p:nvPr/>
        </p:nvSpPr>
        <p:spPr>
          <a:xfrm>
            <a:off x="6043270" y="47083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52" name="Shape 52"/>
          <p:cNvSpPr txBox="1"/>
          <p:nvPr/>
        </p:nvSpPr>
        <p:spPr>
          <a:xfrm>
            <a:off x="6043270" y="432501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3" name="Shape 53"/>
          <p:cNvSpPr txBox="1"/>
          <p:nvPr/>
        </p:nvSpPr>
        <p:spPr>
          <a:xfrm>
            <a:off x="6043270" y="394163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4" name="Shape 54"/>
          <p:cNvSpPr txBox="1"/>
          <p:nvPr/>
        </p:nvSpPr>
        <p:spPr>
          <a:xfrm>
            <a:off x="6043270" y="3558254"/>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5" name="Shape 55"/>
          <p:cNvSpPr txBox="1"/>
          <p:nvPr/>
        </p:nvSpPr>
        <p:spPr>
          <a:xfrm>
            <a:off x="6043270" y="31748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6" name="Shape 56"/>
          <p:cNvSpPr txBox="1"/>
          <p:nvPr/>
        </p:nvSpPr>
        <p:spPr>
          <a:xfrm>
            <a:off x="6043270" y="2791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7" name="Shape 57"/>
          <p:cNvSpPr txBox="1"/>
          <p:nvPr/>
        </p:nvSpPr>
        <p:spPr>
          <a:xfrm>
            <a:off x="6043270" y="240811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8" name="Shape 58"/>
          <p:cNvSpPr txBox="1"/>
          <p:nvPr/>
        </p:nvSpPr>
        <p:spPr>
          <a:xfrm>
            <a:off x="6043270" y="202472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59" name="Shape 59"/>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60" name="Line 60"/>
          <p:cNvCxnSpPr/>
          <p:nvPr/>
        </p:nvCxnSpPr>
        <p:spPr>
          <a:xfrm flipV="1">
            <a:off x="7173760" y="1732788"/>
            <a:ext cx="1803400" cy="3067050"/>
          </a:xfrm>
          <a:prstGeom prst="line">
            <a:avLst/>
          </a:prstGeom>
          <a:ln w="38100" cap="rnd">
            <a:solidFill>
              <a:srgbClr val="16171D"/>
            </a:solidFill>
          </a:ln>
        </p:spPr>
      </p:cxnSp>
      <p:sp>
        <p:nvSpPr>
          <p:cNvPr id="61" name="Shape 61"/>
          <p:cNvSpPr txBox="1"/>
          <p:nvPr/>
        </p:nvSpPr>
        <p:spPr>
          <a:xfrm>
            <a:off x="648542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j(x)</a:t>
            </a:r>
            <a:endParaRPr lang="en-US" sz="1275" dirty="0"/>
          </a:p>
        </p:txBody>
      </p:sp>
      <p:cxnSp>
        <p:nvCxnSpPr>
          <p:cNvPr id="62" name="Line 62"/>
          <p:cNvCxnSpPr/>
          <p:nvPr/>
        </p:nvCxnSpPr>
        <p:spPr>
          <a:xfrm flipV="1">
            <a:off x="6722910" y="1732788"/>
            <a:ext cx="1803400" cy="3067050"/>
          </a:xfrm>
          <a:prstGeom prst="line">
            <a:avLst/>
          </a:prstGeom>
          <a:ln w="38100" cap="rnd">
            <a:solidFill>
              <a:srgbClr val="4F8A3C"/>
            </a:solidFill>
          </a:ln>
        </p:spPr>
      </p:cxnSp>
      <p:sp>
        <p:nvSpPr>
          <p:cNvPr id="63" name="Shape 63"/>
          <p:cNvSpPr txBox="1"/>
          <p:nvPr/>
        </p:nvSpPr>
        <p:spPr>
          <a:xfrm>
            <a:off x="603457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q(x)</a:t>
            </a:r>
            <a:endParaRPr lang="en-US" sz="1275" dirty="0"/>
          </a:p>
        </p:txBody>
      </p:sp>
      <p:cxnSp>
        <p:nvCxnSpPr>
          <p:cNvPr id="64" name="Line 64"/>
          <p:cNvCxnSpPr/>
          <p:nvPr/>
        </p:nvCxnSpPr>
        <p:spPr>
          <a:xfrm flipV="1">
            <a:off x="6610198" y="1732788"/>
            <a:ext cx="1465262" cy="2491978"/>
          </a:xfrm>
          <a:prstGeom prst="line">
            <a:avLst/>
          </a:prstGeom>
          <a:ln w="38100" cap="rnd">
            <a:solidFill>
              <a:srgbClr val="7A4FC4"/>
            </a:solidFill>
          </a:ln>
        </p:spPr>
      </p:cxnSp>
      <p:sp>
        <p:nvSpPr>
          <p:cNvPr id="65" name="Shape 65"/>
          <p:cNvSpPr txBox="1"/>
          <p:nvPr/>
        </p:nvSpPr>
        <p:spPr>
          <a:xfrm>
            <a:off x="5583720"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r(x)</a:t>
            </a:r>
            <a:endParaRPr lang="en-US" sz="1275" dirty="0"/>
          </a:p>
        </p:txBody>
      </p:sp>
      <p:sp>
        <p:nvSpPr>
          <p:cNvPr id="66" name="Slide Number 6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anim calcmode="lin" valueType="num">
                                      <p:cBhvr>
                                        <p:cTn id="33" dur="500" fill="hold"/>
                                        <p:tgtEl>
                                          <p:spTgt spid="10"/>
                                        </p:tgtEl>
                                        <p:attrNameLst>
                                          <p:attrName>ppt_x</p:attrName>
                                        </p:attrNameLst>
                                      </p:cBhvr>
                                      <p:tavLst>
                                        <p:tav tm="0">
                                          <p:val>
                                            <p:strVal val="#ppt_x"/>
                                          </p:val>
                                        </p:tav>
                                        <p:tav tm="100000">
                                          <p:val>
                                            <p:strVal val="#ppt_x"/>
                                          </p:val>
                                        </p:tav>
                                      </p:tavLst>
                                    </p:anim>
                                    <p:anim calcmode="lin" valueType="num">
                                      <p:cBhvr>
                                        <p:cTn id="34"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0" presetID="22" presetClass="entr" presetSubtype="8" fill="hold" nodeType="click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700"/>
                                        <p:tgtEl>
                                          <p:spTgt spid="62"/>
                                        </p:tgtEl>
                                      </p:cBhvr>
                                    </p:animEffect>
                                  </p:childTnLst>
                                </p:cTn>
                              </p:par>
                              <p:par>
                                <p:cTn id="43" presetID="22" presetClass="entr" presetSubtype="8" fill="hold" nodeType="with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wipe(left)">
                                      <p:cBhvr>
                                        <p:cTn id="42" dur="700"/>
                                        <p:tgtEl>
                                          <p:spTgt spid="63"/>
                                        </p:tgtEl>
                                      </p:cBhvr>
                                    </p:animEffect>
                                  </p:childTnLst>
                                </p:cTn>
                              </p:par>
                            </p:childTnLst>
                          </p:cTn>
                        </p:par>
                      </p:childTnLst>
                    </p:cTn>
                  </p:par>
                  <p:par>
                    <p:cTn id="52" fill="hold">
                      <p:stCondLst>
                        <p:cond delay="indefinite"/>
                      </p:stCondLst>
                      <p:childTnLst>
                        <p:par>
                          <p:cTn id="53" fill="hold">
                            <p:stCondLst>
                              <p:cond delay="0"/>
                            </p:stCondLst>
                            <p:childTnLst>
                              <p:par>
                                <p:cTn id="48" presetID="22" presetClass="entr" presetSubtype="8" fill="hold" nodeType="click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wipe(left)">
                                      <p:cBhvr>
                                        <p:cTn id="47" dur="700"/>
                                        <p:tgtEl>
                                          <p:spTgt spid="64"/>
                                        </p:tgtEl>
                                      </p:cBhvr>
                                    </p:animEffect>
                                  </p:childTnLst>
                                </p:cTn>
                              </p:par>
                              <p:par>
                                <p:cTn id="51" presetID="22" presetClass="entr" presetSubtype="8" fill="hold" nodeType="with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wipe(left)">
                                      <p:cBhvr>
                                        <p:cTn id="50" dur="7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2.1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Translations of linear functions</a:t>
            </a:r>
            <a:endParaRPr lang="en-US" sz="3450" dirty="0"/>
          </a:p>
        </p:txBody>
      </p:sp>
      <p:sp>
        <p:nvSpPr>
          <p:cNvPr id="4" name="Shape 4"/>
          <p:cNvSpPr txBox="1"/>
          <p:nvPr/>
        </p:nvSpPr>
        <p:spPr>
          <a:xfrm>
            <a:off x="685800" y="17137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Inside the parentheses changes the </a:t>
            </a:r>
            <a:r>
              <a:rPr lang="en-US" sz="1950" dirty="0" b="1">
                <a:solidFill>
                  <a:srgbClr val="16171D"/>
                </a:solidFill>
                <a:latin typeface="Segoe UI"/>
                <a:cs typeface="Segoe UI"/>
              </a:rPr>
              <a:t xml:space="preserve">input</a:t>
            </a:r>
            <a:r>
              <a:rPr lang="en-US" sz="1950" dirty="0">
                <a:solidFill>
                  <a:srgbClr val="16171D"/>
                </a:solidFill>
                <a:latin typeface="Segoe UI"/>
                <a:cs typeface="Segoe UI"/>
              </a:rPr>
              <a:t xml:space="preserve"> (horizontal); outside changes the </a:t>
            </a:r>
            <a:r>
              <a:rPr lang="en-US" sz="1950" dirty="0" b="1">
                <a:solidFill>
                  <a:srgbClr val="16171D"/>
                </a:solidFill>
                <a:latin typeface="Segoe UI"/>
                <a:cs typeface="Segoe UI"/>
              </a:rPr>
              <a:t xml:space="preserve">output</a:t>
            </a:r>
            <a:r>
              <a:rPr lang="en-US" sz="1950" dirty="0">
                <a:solidFill>
                  <a:srgbClr val="16171D"/>
                </a:solidFill>
                <a:latin typeface="Segoe UI"/>
                <a:cs typeface="Segoe UI"/>
              </a:rPr>
              <a:t xml:space="preserve"> (vertical).</a:t>
            </a:r>
            <a:endParaRPr lang="en-US" sz="1950" dirty="0"/>
          </a:p>
        </p:txBody>
      </p:sp>
      <p:sp>
        <p:nvSpPr>
          <p:cNvPr id="5" name="Shape 5"/>
          <p:cNvSpPr txBox="1"/>
          <p:nvPr/>
        </p:nvSpPr>
        <p:spPr>
          <a:xfrm>
            <a:off x="685800" y="257251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moves right </a:t>
            </a:r>
            <a:r>
              <a:rPr lang="en-US" sz="1950" dirty="0" i="1">
                <a:solidFill>
                  <a:srgbClr val="16171D"/>
                </a:solidFill>
                <a:latin typeface="Cambria"/>
                <a:cs typeface="Cambria"/>
              </a:rPr>
              <a:t xml:space="preserve">c</a:t>
            </a:r>
            <a:r>
              <a:rPr lang="en-US" sz="1950" dirty="0">
                <a:solidFill>
                  <a:srgbClr val="16171D"/>
                </a:solidFill>
                <a:latin typeface="Segoe UI"/>
                <a:cs typeface="Segoe UI"/>
              </a:rPr>
              <a:t xml:space="preserve">; the sign flips.</a:t>
            </a:r>
            <a:endParaRPr lang="en-US" sz="1950" dirty="0"/>
          </a:p>
        </p:txBody>
      </p:sp>
      <p:sp>
        <p:nvSpPr>
          <p:cNvPr id="6" name="Shape 6"/>
          <p:cNvSpPr txBox="1"/>
          <p:nvPr/>
        </p:nvSpPr>
        <p:spPr>
          <a:xfrm>
            <a:off x="685800" y="313410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Only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does right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 match down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a:t>
            </a:r>
            <a:endParaRPr lang="en-US" sz="1950" dirty="0"/>
          </a:p>
        </p:txBody>
      </p:sp>
      <p:sp>
        <p:nvSpPr>
          <p:cNvPr id="7" name="Slide Number 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1</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Horizontal</a:t>
            </a:r>
            <a:endParaRPr lang="en-US" sz="2100" dirty="0"/>
          </a:p>
        </p:txBody>
      </p:sp>
      <p:sp>
        <p:nvSpPr>
          <p:cNvPr id="5" name="Shape 5"/>
          <p:cNvSpPr txBox="1"/>
          <p:nvPr/>
        </p:nvSpPr>
        <p:spPr>
          <a:xfrm>
            <a:off x="895350"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c</a:t>
            </a:r>
            <a:r>
              <a:rPr lang="en-US" sz="2325" dirty="0">
                <a:solidFill>
                  <a:srgbClr val="16171D"/>
                </a:solidFill>
                <a:latin typeface="Cambria"/>
                <a:cs typeface="Cambria"/>
              </a:rPr>
              <a:t xml:space="preserve">)</a:t>
            </a:r>
            <a:endParaRPr lang="en-US" sz="2325" dirty="0"/>
          </a:p>
        </p:txBody>
      </p:sp>
      <p:sp>
        <p:nvSpPr>
          <p:cNvPr id="6" name="Shape 6"/>
          <p:cNvSpPr txBox="1"/>
          <p:nvPr/>
        </p:nvSpPr>
        <p:spPr>
          <a:xfrm>
            <a:off x="895350" y="276453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Right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The sign flips: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 is left 3.</a:t>
            </a:r>
            <a:endParaRPr lang="en-US" sz="157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Vertical</a:t>
            </a:r>
            <a:endParaRPr lang="en-US" sz="2100" dirty="0"/>
          </a:p>
        </p:txBody>
      </p:sp>
      <p:sp>
        <p:nvSpPr>
          <p:cNvPr id="9" name="Shape 9"/>
          <p:cNvSpPr txBox="1"/>
          <p:nvPr/>
        </p:nvSpPr>
        <p:spPr>
          <a:xfrm>
            <a:off x="4559198"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d</a:t>
            </a:r>
            <a:endParaRPr lang="en-US" sz="2325" dirty="0"/>
          </a:p>
        </p:txBody>
      </p:sp>
      <p:sp>
        <p:nvSpPr>
          <p:cNvPr id="10" name="Shape 10"/>
          <p:cNvSpPr txBox="1"/>
          <p:nvPr/>
        </p:nvSpPr>
        <p:spPr>
          <a:xfrm>
            <a:off x="4559198" y="276453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a:t>
            </a:r>
            <a:r>
              <a:rPr lang="en-US" sz="1575" dirty="0" i="1">
                <a:solidFill>
                  <a:srgbClr val="16171D"/>
                </a:solidFill>
                <a:latin typeface="Segoe UI"/>
                <a:cs typeface="Segoe UI"/>
              </a:rPr>
              <a:t xml:space="preserve">d</a:t>
            </a:r>
            <a:r>
              <a:rPr lang="en-US" sz="1575" dirty="0">
                <a:solidFill>
                  <a:srgbClr val="16171D"/>
                </a:solidFill>
                <a:latin typeface="Segoe UI"/>
                <a:cs typeface="Segoe UI"/>
              </a:rPr>
              <a:t xml:space="preserve">. No sign flip.</a:t>
            </a:r>
            <a:endParaRPr lang="en-US" sz="1575" dirty="0"/>
          </a:p>
        </p:txBody>
      </p:sp>
      <p:sp>
        <p:nvSpPr>
          <p:cNvPr id="14" name="Shape 14"/>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Only for </a:t>
            </a:r>
            <a:r>
              <a:rPr lang="en-US" sz="2100" dirty="0" b="1" i="1">
                <a:solidFill>
                  <a:srgbClr val="16171D"/>
                </a:solidFill>
                <a:latin typeface="Segoe UI"/>
                <a:cs typeface="Segoe UI"/>
              </a:rPr>
              <a:t xml:space="preserve">f</a:t>
            </a:r>
            <a:r>
              <a:rPr lang="en-US" sz="2100" dirty="0" b="1">
                <a:solidFill>
                  <a:srgbClr val="16171D"/>
                </a:solidFill>
                <a:latin typeface="Segoe UI"/>
                <a:cs typeface="Segoe UI"/>
              </a:rPr>
              <a:t xml:space="preserve">(</a:t>
            </a:r>
            <a:r>
              <a:rPr lang="en-US" sz="2100" dirty="0" b="1" i="1">
                <a:solidFill>
                  <a:srgbClr val="16171D"/>
                </a:solidFill>
                <a:latin typeface="Segoe UI"/>
                <a:cs typeface="Segoe UI"/>
              </a:rPr>
              <a:t xml:space="preserve">x</a:t>
            </a:r>
            <a:r>
              <a:rPr lang="en-US" sz="2100" dirty="0" b="1">
                <a:solidFill>
                  <a:srgbClr val="16171D"/>
                </a:solidFill>
                <a:latin typeface="Segoe UI"/>
                <a:cs typeface="Segoe UI"/>
              </a:rPr>
              <a:t xml:space="preserve">) = </a:t>
            </a:r>
            <a:r>
              <a:rPr lang="en-US" sz="2100" dirty="0" b="1" i="1">
                <a:solidFill>
                  <a:srgbClr val="16171D"/>
                </a:solidFill>
                <a:latin typeface="Segoe UI"/>
                <a:cs typeface="Segoe UI"/>
              </a:rPr>
              <a:t xml:space="preserve">x</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Right </a:t>
            </a:r>
            <a:r>
              <a:rPr lang="en-US" sz="1575" dirty="0" i="1">
                <a:solidFill>
                  <a:srgbClr val="16171D"/>
                </a:solidFill>
                <a:latin typeface="Segoe UI"/>
                <a:cs typeface="Segoe UI"/>
              </a:rPr>
              <a:t xml:space="preserve">n</a:t>
            </a:r>
            <a:r>
              <a:rPr lang="en-US" sz="1575" dirty="0">
                <a:solidFill>
                  <a:srgbClr val="16171D"/>
                </a:solidFill>
                <a:latin typeface="Segoe UI"/>
                <a:cs typeface="Segoe UI"/>
              </a:rPr>
              <a:t xml:space="preserve"> is the same as down </a:t>
            </a:r>
            <a:r>
              <a:rPr lang="en-US" sz="1575" dirty="0" i="1">
                <a:solidFill>
                  <a:srgbClr val="16171D"/>
                </a:solidFill>
                <a:latin typeface="Segoe UI"/>
                <a:cs typeface="Segoe UI"/>
              </a:rPr>
              <a:t xml:space="preserve">n</a:t>
            </a:r>
            <a:r>
              <a:rPr lang="en-US" sz="1575" dirty="0">
                <a:solidFill>
                  <a:srgbClr val="16171D"/>
                </a:solidFill>
                <a:latin typeface="Segoe UI"/>
                <a:cs typeface="Segoe UI"/>
              </a:rPr>
              <a:t xml:space="preserve">. Not for other lines.</a:t>
            </a:r>
            <a:endParaRPr lang="en-US" sz="1575" dirty="0"/>
          </a:p>
        </p:txBody>
      </p:sp>
      <p:sp>
        <p:nvSpPr>
          <p:cNvPr id="15" name="Shape 15"/>
          <p:cNvSpPr txBox="1"/>
          <p:nvPr/>
        </p:nvSpPr>
        <p:spPr>
          <a:xfrm>
            <a:off x="685800" y="364236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Monday, October 26</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Tuesday, October 27. Start at the next slide, “Start: Tuesday, October 27.”</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Day 2 of 2 · Start here</a:t>
            </a:r>
            <a:endParaRPr lang="en-US" sz="1200" dirty="0"/>
          </a:p>
        </p:txBody>
      </p:sp>
      <p:sp>
        <p:nvSpPr>
          <p:cNvPr id="3" name="Shape 3"/>
          <p:cNvSpPr txBox="1"/>
          <p:nvPr/>
        </p:nvSpPr>
        <p:spPr>
          <a:xfrm>
            <a:off x="685800" y="1323594"/>
            <a:ext cx="10820095" cy="92354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Start: Tuesday, October 27</a:t>
            </a:r>
            <a:endParaRPr lang="en-US" sz="5700" dirty="0"/>
          </a:p>
        </p:txBody>
      </p:sp>
      <p:sp>
        <p:nvSpPr>
          <p:cNvPr id="4" name="Shape 4"/>
          <p:cNvSpPr txBox="1"/>
          <p:nvPr/>
        </p:nvSpPr>
        <p:spPr>
          <a:xfrm>
            <a:off x="685800" y="2418588"/>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(Linear or nonlinear?) → Lesson 2, Day 2.</a:t>
            </a:r>
            <a:endParaRPr lang="en-US" sz="2100" dirty="0"/>
          </a:p>
        </p:txBody>
      </p:sp>
      <p:sp>
        <p:nvSpPr>
          <p:cNvPr id="5" name="Shape 5"/>
          <p:cNvSpPr txBox="1"/>
          <p:nvPr/>
        </p:nvSpPr>
        <p:spPr>
          <a:xfrm>
            <a:off x="685800" y="2964942"/>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What effect do horizontal transformations have on linear functions? How do they compare to vertical transformations?</a:t>
            </a:r>
            <a:endParaRPr lang="en-US" sz="24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 · Tue, Oct 27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translated right 5 units. Which equation is the new function? </a:t>
            </a:r>
            <a:r>
              <a:rPr lang="en-US" sz="1575" dirty="0">
                <a:solidFill>
                  <a:srgbClr val="5F6272"/>
                </a:solidFill>
                <a:latin typeface="Segoe UI"/>
                <a:cs typeface="Segoe UI"/>
              </a:rPr>
              <a:t xml:space="preserve">(SE p. 289)</a:t>
            </a:r>
            <a:endParaRPr lang="en-US" sz="1950" dirty="0"/>
          </a:p>
        </p:txBody>
      </p:sp>
      <p:sp>
        <p:nvSpPr>
          <p:cNvPr id="5" name="Shape 5"/>
          <p:cNvSpPr txBox="1"/>
          <p:nvPr/>
        </p:nvSpPr>
        <p:spPr>
          <a:xfrm>
            <a:off x="685800" y="275539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6" name="Shape 6"/>
          <p:cNvSpPr txBox="1"/>
          <p:nvPr/>
        </p:nvSpPr>
        <p:spPr>
          <a:xfrm>
            <a:off x="685800" y="389534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 translation right 5 gives the same graph as which other translation? </a:t>
            </a:r>
            <a:r>
              <a:rPr lang="en-US" sz="1575" dirty="0">
                <a:solidFill>
                  <a:srgbClr val="5F6272"/>
                </a:solidFill>
                <a:latin typeface="Segoe UI"/>
                <a:cs typeface="Segoe UI"/>
              </a:rPr>
              <a:t xml:space="preserve">(SE p. 291)</a:t>
            </a:r>
            <a:endParaRPr lang="en-US" sz="1950" dirty="0"/>
          </a:p>
        </p:txBody>
      </p:sp>
      <p:sp>
        <p:nvSpPr>
          <p:cNvPr id="7" name="Shape 7"/>
          <p:cNvSpPr txBox="1"/>
          <p:nvPr/>
        </p:nvSpPr>
        <p:spPr>
          <a:xfrm>
            <a:off x="685800" y="4975098"/>
            <a:ext cx="390297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Down 5 units</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r</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a:solidFill>
                  <a:srgbClr val="16171D"/>
                </a:solidFill>
                <a:latin typeface="Segoe UI"/>
                <a:cs typeface="Segoe UI"/>
              </a:rPr>
              <a:t xml:space="preserve">. Simplify </a:t>
            </a:r>
            <a:r>
              <a:rPr lang="en-US" sz="1950" dirty="0" i="1">
                <a:solidFill>
                  <a:srgbClr val="16171D"/>
                </a:solidFill>
                <a:latin typeface="Cambria"/>
                <a:cs typeface="Cambria"/>
              </a:rPr>
              <a:t xml:space="preserve">r</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292)</a:t>
            </a:r>
            <a:endParaRPr lang="en-US" sz="1950" dirty="0"/>
          </a:p>
        </p:txBody>
      </p:sp>
      <p:sp>
        <p:nvSpPr>
          <p:cNvPr id="9" name="Shape 9"/>
          <p:cNvSpPr txBox="1"/>
          <p:nvPr/>
        </p:nvSpPr>
        <p:spPr>
          <a:xfrm>
            <a:off x="6362548" y="245821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r</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0" name="Shape 10"/>
          <p:cNvSpPr txBox="1"/>
          <p:nvPr/>
        </p:nvSpPr>
        <p:spPr>
          <a:xfrm>
            <a:off x="6362548"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is the graph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the same as the graph of </a:t>
            </a:r>
            <a:r>
              <a:rPr lang="en-US" sz="1950" dirty="0">
                <a:solidFill>
                  <a:srgbClr val="16171D"/>
                </a:solidFill>
                <a:latin typeface="Cambria"/>
                <a:cs typeface="Cambria"/>
              </a:rPr>
              <a:t xml:space="preserve">2</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295)</a:t>
            </a:r>
            <a:endParaRPr lang="en-US" sz="1950" dirty="0"/>
          </a:p>
        </p:txBody>
      </p:sp>
      <p:sp>
        <p:nvSpPr>
          <p:cNvPr id="11" name="Shape 11"/>
          <p:cNvSpPr txBox="1"/>
          <p:nvPr/>
        </p:nvSpPr>
        <p:spPr>
          <a:xfrm>
            <a:off x="6362548" y="4026408"/>
            <a:ext cx="514334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both are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Oct 27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Linear or nonlinear?</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A transformation of a linear function is still linear: the rate of change stays constant.</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Getting Started · Well, Are Ya or Aren't Ya? · SE p. 240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Linear or nonlinear? Explain your reasoning.</a:t>
            </a:r>
            <a:endParaRPr lang="en-US" sz="3450" dirty="0"/>
          </a:p>
        </p:txBody>
      </p:sp>
      <p:sp>
        <p:nvSpPr>
          <p:cNvPr id="7" name="Shape 7"/>
          <p:cNvSpPr txBox="1"/>
          <p:nvPr/>
        </p:nvSpPr>
        <p:spPr>
          <a:xfrm>
            <a:off x="685800"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A</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tree grows 3.5 inches each year.</a:t>
            </a:r>
            <a:endParaRPr lang="en-US" sz="1575" dirty="0"/>
          </a:p>
        </p:txBody>
      </p:sp>
      <p:sp>
        <p:nvSpPr>
          <p:cNvPr id="6" name="Shape 6"/>
          <p:cNvSpPr txBox="1"/>
          <p:nvPr/>
        </p:nvSpPr>
        <p:spPr>
          <a:xfrm>
            <a:off x="895350" y="289026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Same change, 3.5 in, every year.</a:t>
            </a:r>
            <a:endParaRPr lang="en-US" sz="1575" dirty="0"/>
          </a:p>
        </p:txBody>
      </p:sp>
      <p:sp>
        <p:nvSpPr>
          <p:cNvPr id="11" name="Shape 11"/>
          <p:cNvSpPr txBox="1"/>
          <p:nvPr/>
        </p:nvSpPr>
        <p:spPr>
          <a:xfrm>
            <a:off x="4349648"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B</a:t>
            </a:r>
            <a:endParaRPr lang="en-US" sz="2100" dirty="0"/>
          </a:p>
        </p:txBody>
      </p:sp>
      <p:sp>
        <p:nvSpPr>
          <p:cNvPr id="9" name="Shape 9"/>
          <p:cNvSpPr txBox="1"/>
          <p:nvPr/>
        </p:nvSpPr>
        <p:spPr>
          <a:xfrm>
            <a:off x="4559198"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strength of a medication decreases by 50% each hour it is in the patient's system.</a:t>
            </a:r>
            <a:endParaRPr lang="en-US" sz="1575" dirty="0"/>
          </a:p>
        </p:txBody>
      </p:sp>
      <p:sp>
        <p:nvSpPr>
          <p:cNvPr id="10" name="Shape 10"/>
          <p:cNvSpPr txBox="1"/>
          <p:nvPr/>
        </p:nvSpPr>
        <p:spPr>
          <a:xfrm>
            <a:off x="4559198" y="3130296"/>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Half of a smaller amount each hour, so the drop shrinks.</a:t>
            </a:r>
            <a:endParaRPr lang="en-US" sz="1575" dirty="0"/>
          </a:p>
        </p:txBody>
      </p:sp>
      <p:sp>
        <p:nvSpPr>
          <p:cNvPr id="15" name="Shape 15"/>
          <p:cNvSpPr txBox="1"/>
          <p:nvPr/>
        </p:nvSpPr>
        <p:spPr>
          <a:xfrm>
            <a:off x="8013497" y="1618488"/>
            <a:ext cx="3492398" cy="245821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Scenario C</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area of a square depends on its side length.</a:t>
            </a:r>
            <a:endParaRPr lang="en-US" sz="1575" dirty="0"/>
          </a:p>
        </p:txBody>
      </p:sp>
      <p:sp>
        <p:nvSpPr>
          <p:cNvPr id="14" name="Shape 14"/>
          <p:cNvSpPr txBox="1"/>
          <p:nvPr/>
        </p:nvSpPr>
        <p:spPr>
          <a:xfrm>
            <a:off x="8223047" y="289026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s</a:t>
            </a:r>
            <a:r>
              <a:rPr lang="en-US" sz="1575" dirty="0">
                <a:solidFill>
                  <a:srgbClr val="16171D"/>
                </a:solidFill>
                <a:latin typeface="Cambria"/>
                <a:cs typeface="Cambria"/>
              </a:rPr>
              <a:t xml:space="preserve">2</a:t>
            </a:r>
            <a:r>
              <a:rPr lang="en-US" sz="1575" dirty="0">
                <a:solidFill>
                  <a:srgbClr val="16171D"/>
                </a:solidFill>
                <a:latin typeface="Segoe UI"/>
                <a:cs typeface="Segoe UI"/>
              </a:rPr>
              <a:t xml:space="preserve">: side 1, 2, 3 gives area 1, 4, 9.</a:t>
            </a:r>
            <a:endParaRPr lang="en-US" sz="1575" dirty="0"/>
          </a:p>
        </p:txBody>
      </p:sp>
      <p:sp>
        <p:nvSpPr>
          <p:cNvPr id="19" name="Shape 19"/>
          <p:cNvSpPr txBox="1"/>
          <p:nvPr/>
        </p:nvSpPr>
        <p:spPr>
          <a:xfrm>
            <a:off x="685800"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A</a:t>
            </a:r>
            <a:endParaRPr lang="en-US" sz="2100" dirty="0"/>
          </a:p>
        </p:txBody>
      </p:sp>
      <p:sp>
        <p:nvSpPr>
          <p:cNvPr id="17" name="Shape 17"/>
          <p:cNvSpPr txBox="1"/>
          <p:nvPr/>
        </p:nvSpPr>
        <p:spPr>
          <a:xfrm>
            <a:off x="895350"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14 − 9</a:t>
            </a:r>
            <a:r>
              <a:rPr lang="en-US" sz="2325" dirty="0" i="1">
                <a:solidFill>
                  <a:srgbClr val="16171D"/>
                </a:solidFill>
                <a:latin typeface="Cambria"/>
                <a:cs typeface="Cambria"/>
              </a:rPr>
              <a:t xml:space="preserve">x</a:t>
            </a:r>
            <a:endParaRPr lang="en-US" sz="2325" dirty="0"/>
          </a:p>
        </p:txBody>
      </p:sp>
      <p:sp>
        <p:nvSpPr>
          <p:cNvPr id="18" name="Shape 18"/>
          <p:cNvSpPr txBox="1"/>
          <p:nvPr/>
        </p:nvSpPr>
        <p:spPr>
          <a:xfrm>
            <a:off x="895350"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has exponent 1; slope −9.</a:t>
            </a:r>
            <a:endParaRPr lang="en-US" sz="1575" dirty="0"/>
          </a:p>
        </p:txBody>
      </p:sp>
      <p:sp>
        <p:nvSpPr>
          <p:cNvPr id="23" name="Shape 23"/>
          <p:cNvSpPr txBox="1"/>
          <p:nvPr/>
        </p:nvSpPr>
        <p:spPr>
          <a:xfrm>
            <a:off x="4349648"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B</a:t>
            </a:r>
            <a:endParaRPr lang="en-US" sz="2100" dirty="0"/>
          </a:p>
        </p:txBody>
      </p:sp>
      <p:sp>
        <p:nvSpPr>
          <p:cNvPr id="21" name="Shape 21"/>
          <p:cNvSpPr txBox="1"/>
          <p:nvPr/>
        </p:nvSpPr>
        <p:spPr>
          <a:xfrm>
            <a:off x="4559198"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22" name="Shape 22"/>
          <p:cNvSpPr txBox="1"/>
          <p:nvPr/>
        </p:nvSpPr>
        <p:spPr>
          <a:xfrm>
            <a:off x="4559198"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7A4FC4"/>
                </a:solidFill>
                <a:latin typeface="Segoe UI"/>
                <a:cs typeface="Segoe UI"/>
              </a:rPr>
              <a:t xml:space="preserve">Nonlinear.</a:t>
            </a:r>
            <a:r>
              <a:rPr lang="en-US" sz="1575" dirty="0">
                <a:solidFill>
                  <a:srgbClr val="16171D"/>
                </a:solidFill>
                <a:latin typeface="Segoe UI"/>
                <a:cs typeface="Segoe UI"/>
              </a:rPr>
              <a:t xml:space="preserve"> The variable is in the exponent.</a:t>
            </a:r>
            <a:endParaRPr lang="en-US" sz="1575" dirty="0"/>
          </a:p>
        </p:txBody>
      </p:sp>
      <p:sp>
        <p:nvSpPr>
          <p:cNvPr id="27" name="Shape 27"/>
          <p:cNvSpPr txBox="1"/>
          <p:nvPr/>
        </p:nvSpPr>
        <p:spPr>
          <a:xfrm>
            <a:off x="8013497" y="421005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438150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Equation C</a:t>
            </a:r>
            <a:endParaRPr lang="en-US" sz="2100" dirty="0"/>
          </a:p>
        </p:txBody>
      </p:sp>
      <p:sp>
        <p:nvSpPr>
          <p:cNvPr id="25" name="Shape 25"/>
          <p:cNvSpPr txBox="1"/>
          <p:nvPr/>
        </p:nvSpPr>
        <p:spPr>
          <a:xfrm>
            <a:off x="8223047" y="4851654"/>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 − 1</a:t>
            </a:r>
            <a:endParaRPr lang="en-US" sz="2325" dirty="0"/>
          </a:p>
        </p:txBody>
      </p:sp>
      <p:sp>
        <p:nvSpPr>
          <p:cNvPr id="26" name="Shape 26"/>
          <p:cNvSpPr txBox="1"/>
          <p:nvPr/>
        </p:nvSpPr>
        <p:spPr>
          <a:xfrm>
            <a:off x="8223047" y="5356098"/>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4F8A3C"/>
                </a:solidFill>
                <a:latin typeface="Segoe UI"/>
                <a:cs typeface="Segoe UI"/>
              </a:rPr>
              <a:t xml:space="preserve">Linear.</a:t>
            </a:r>
            <a:r>
              <a:rPr lang="en-US" sz="1575" dirty="0">
                <a:solidFill>
                  <a:srgbClr val="16171D"/>
                </a:solidFill>
                <a:latin typeface="Segoe UI"/>
                <a:cs typeface="Segoe UI"/>
              </a:rPr>
              <a:t xml:space="preserve"> Point-slope structure; slope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28" name="Slide Number 2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ppt_x</p:attrName>
                                        </p:attrNameLst>
                                      </p:cBhvr>
                                      <p:tavLst>
                                        <p:tav tm="0">
                                          <p:val>
                                            <p:strVal val="#ppt_x"/>
                                          </p:val>
                                        </p:tav>
                                        <p:tav tm="100000">
                                          <p:val>
                                            <p:strVal val="#ppt_x"/>
                                          </p:val>
                                        </p:tav>
                                      </p:tavLst>
                                    </p:anim>
                                    <p:anim calcmode="lin" valueType="num">
                                      <p:cBhvr>
                                        <p:cTn id="27"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anim calcmode="lin" valueType="num">
                                      <p:cBhvr>
                                        <p:cTn id="33" dur="500" fill="hold"/>
                                        <p:tgtEl>
                                          <p:spTgt spid="22"/>
                                        </p:tgtEl>
                                        <p:attrNameLst>
                                          <p:attrName>ppt_x</p:attrName>
                                        </p:attrNameLst>
                                      </p:cBhvr>
                                      <p:tavLst>
                                        <p:tav tm="0">
                                          <p:val>
                                            <p:strVal val="#ppt_x"/>
                                          </p:val>
                                        </p:tav>
                                        <p:tav tm="100000">
                                          <p:val>
                                            <p:strVal val="#ppt_x"/>
                                          </p:val>
                                        </p:tav>
                                      </p:tavLst>
                                    </p:anim>
                                    <p:anim calcmode="lin" valueType="num">
                                      <p:cBhvr>
                                        <p:cTn id="34"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anim calcmode="lin" valueType="num">
                                      <p:cBhvr>
                                        <p:cTn id="40" dur="500" fill="hold"/>
                                        <p:tgtEl>
                                          <p:spTgt spid="26"/>
                                        </p:tgtEl>
                                        <p:attrNameLst>
                                          <p:attrName>ppt_x</p:attrName>
                                        </p:attrNameLst>
                                      </p:cBhvr>
                                      <p:tavLst>
                                        <p:tav tm="0">
                                          <p:val>
                                            <p:strVal val="#ppt_x"/>
                                          </p:val>
                                        </p:tav>
                                        <p:tav tm="100000">
                                          <p:val>
                                            <p:strVal val="#ppt_x"/>
                                          </p:val>
                                        </p:tav>
                                      </p:tavLst>
                                    </p:anim>
                                    <p:anim calcmode="lin" valueType="num">
                                      <p:cBhvr>
                                        <p:cTn id="41" dur="5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6.1 · Interpreting Linear Functions · SE p. 241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Inputs not consecutive? Check the slope between every pair.</a:t>
            </a:r>
            <a:endParaRPr lang="en-US" sz="3450" dirty="0"/>
          </a:p>
        </p:txBody>
      </p:sp>
      <p:sp>
        <p:nvSpPr>
          <p:cNvPr id="4" name="Shape 4"/>
          <p:cNvSpPr txBox="1"/>
          <p:nvPr/>
        </p:nvSpPr>
        <p:spPr>
          <a:xfrm>
            <a:off x="685800"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a.</a:t>
            </a:r>
            <a:endParaRPr lang="en-US" sz="1950" dirty="0"/>
          </a:p>
        </p:txBody>
      </p:sp>
      <p:sp>
        <p:nvSpPr>
          <p:cNvPr id="5" name="Shape 5"/>
          <p:cNvSpPr txBox="1"/>
          <p:nvPr/>
        </p:nvSpPr>
        <p:spPr>
          <a:xfrm>
            <a:off x="3600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6" name="Shape 6"/>
          <p:cNvSpPr txBox="1"/>
          <p:nvPr/>
        </p:nvSpPr>
        <p:spPr>
          <a:xfrm>
            <a:off x="4743298"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7" name="Shape 7"/>
          <p:cNvSpPr txBox="1"/>
          <p:nvPr/>
        </p:nvSpPr>
        <p:spPr>
          <a:xfrm>
            <a:off x="3600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8" name="Shape 8"/>
          <p:cNvSpPr txBox="1"/>
          <p:nvPr/>
        </p:nvSpPr>
        <p:spPr>
          <a:xfrm>
            <a:off x="4743298"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5.5</a:t>
            </a:r>
            <a:endParaRPr lang="en-US" sz="1800" dirty="0"/>
          </a:p>
        </p:txBody>
      </p:sp>
      <p:sp>
        <p:nvSpPr>
          <p:cNvPr id="9" name="Shape 9"/>
          <p:cNvSpPr txBox="1"/>
          <p:nvPr/>
        </p:nvSpPr>
        <p:spPr>
          <a:xfrm>
            <a:off x="3600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a:t>
            </a:r>
            <a:endParaRPr lang="en-US" sz="1800" dirty="0"/>
          </a:p>
        </p:txBody>
      </p:sp>
      <p:sp>
        <p:nvSpPr>
          <p:cNvPr id="10" name="Shape 10"/>
          <p:cNvSpPr txBox="1"/>
          <p:nvPr/>
        </p:nvSpPr>
        <p:spPr>
          <a:xfrm>
            <a:off x="4743298"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4.75</a:t>
            </a:r>
            <a:endParaRPr lang="en-US" sz="1800" dirty="0"/>
          </a:p>
        </p:txBody>
      </p:sp>
      <p:sp>
        <p:nvSpPr>
          <p:cNvPr id="11" name="Shape 11"/>
          <p:cNvSpPr txBox="1"/>
          <p:nvPr/>
        </p:nvSpPr>
        <p:spPr>
          <a:xfrm>
            <a:off x="3600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2" name="Shape 12"/>
          <p:cNvSpPr txBox="1"/>
          <p:nvPr/>
        </p:nvSpPr>
        <p:spPr>
          <a:xfrm>
            <a:off x="4743298"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13" name="Shape 13"/>
          <p:cNvSpPr txBox="1"/>
          <p:nvPr/>
        </p:nvSpPr>
        <p:spPr>
          <a:xfrm>
            <a:off x="3600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7</a:t>
            </a:r>
            <a:endParaRPr lang="en-US" sz="1800" dirty="0"/>
          </a:p>
        </p:txBody>
      </p:sp>
      <p:sp>
        <p:nvSpPr>
          <p:cNvPr id="14" name="Shape 14"/>
          <p:cNvSpPr txBox="1"/>
          <p:nvPr/>
        </p:nvSpPr>
        <p:spPr>
          <a:xfrm>
            <a:off x="4743298"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3.25</a:t>
            </a:r>
            <a:endParaRPr lang="en-US" sz="1800" dirty="0"/>
          </a:p>
        </p:txBody>
      </p:sp>
      <p:sp>
        <p:nvSpPr>
          <p:cNvPr id="15" name="Shape 15"/>
          <p:cNvSpPr txBox="1"/>
          <p:nvPr/>
        </p:nvSpPr>
        <p:spPr>
          <a:xfrm>
            <a:off x="685800"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Each step: </a:t>
            </a:r>
            <a:r>
              <a:rPr lang="en-US" sz="1575" dirty="0">
                <a:solidFill>
                  <a:srgbClr val="16171D"/>
                </a:solidFill>
                <a:latin typeface="Cambria"/>
                <a:cs typeface="Cambria"/>
              </a:rPr>
              <a:t xml:space="preserve">−0.75</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 </a:t>
            </a:r>
            <a:r>
              <a:rPr lang="en-US" sz="1575" dirty="0" b="1">
                <a:solidFill>
                  <a:srgbClr val="C9561F"/>
                </a:solidFill>
                <a:latin typeface="Cambria"/>
                <a:cs typeface="Cambria"/>
              </a:rPr>
              <a:t xml:space="preserve">−0.25</a:t>
            </a:r>
            <a:r>
              <a:rPr lang="en-US" sz="1575" dirty="0">
                <a:solidFill>
                  <a:srgbClr val="16171D"/>
                </a:solidFill>
                <a:latin typeface="Segoe UI"/>
                <a:cs typeface="Segoe UI"/>
              </a:rPr>
              <a:t xml:space="preserve">. Constant, so </a:t>
            </a:r>
            <a:r>
              <a:rPr lang="en-US" sz="1575" dirty="0" b="1">
                <a:solidFill>
                  <a:srgbClr val="16171D"/>
                </a:solidFill>
                <a:latin typeface="Segoe UI"/>
                <a:cs typeface="Segoe UI"/>
              </a:rPr>
              <a:t xml:space="preserve">linear</a:t>
            </a:r>
            <a:r>
              <a:rPr lang="en-US" sz="1575" dirty="0">
                <a:solidFill>
                  <a:srgbClr val="16171D"/>
                </a:solidFill>
                <a:latin typeface="Segoe UI"/>
                <a:cs typeface="Segoe UI"/>
              </a:rPr>
              <a:t xml:space="preserve">.</a:t>
            </a:r>
            <a:endParaRPr lang="en-US" sz="1575" dirty="0"/>
          </a:p>
        </p:txBody>
      </p:sp>
      <p:sp>
        <p:nvSpPr>
          <p:cNvPr id="16" name="Shape 16"/>
          <p:cNvSpPr txBox="1"/>
          <p:nvPr/>
        </p:nvSpPr>
        <p:spPr>
          <a:xfrm>
            <a:off x="685800" y="4732782"/>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Back up from (1, 4.75) to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a:t>
            </a:r>
            <a:r>
              <a:rPr lang="en-US" sz="1575" dirty="0" b="1">
                <a:solidFill>
                  <a:srgbClr val="3050B8"/>
                </a:solidFill>
                <a:latin typeface="Cambria"/>
                <a:cs typeface="Cambria"/>
              </a:rPr>
              <a:t xml:space="preserve">(0, 5)</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85800" y="5122926"/>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−0.25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5</a:t>
            </a:r>
            <a:endParaRPr lang="en-US" sz="2325" dirty="0"/>
          </a:p>
        </p:txBody>
      </p:sp>
      <p:sp>
        <p:nvSpPr>
          <p:cNvPr id="18" name="Shape 18"/>
          <p:cNvSpPr txBox="1"/>
          <p:nvPr/>
        </p:nvSpPr>
        <p:spPr>
          <a:xfrm>
            <a:off x="6305398" y="2144268"/>
            <a:ext cx="2723998"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b.</a:t>
            </a:r>
            <a:endParaRPr lang="en-US" sz="1950" dirty="0"/>
          </a:p>
        </p:txBody>
      </p:sp>
      <p:sp>
        <p:nvSpPr>
          <p:cNvPr id="19" name="Shape 19"/>
          <p:cNvSpPr txBox="1"/>
          <p:nvPr/>
        </p:nvSpPr>
        <p:spPr>
          <a:xfrm>
            <a:off x="9219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20" name="Shape 20"/>
          <p:cNvSpPr txBox="1"/>
          <p:nvPr/>
        </p:nvSpPr>
        <p:spPr>
          <a:xfrm>
            <a:off x="10362895" y="2144268"/>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21" name="Shape 21"/>
          <p:cNvSpPr txBox="1"/>
          <p:nvPr/>
        </p:nvSpPr>
        <p:spPr>
          <a:xfrm>
            <a:off x="9219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2" name="Shape 22"/>
          <p:cNvSpPr txBox="1"/>
          <p:nvPr/>
        </p:nvSpPr>
        <p:spPr>
          <a:xfrm>
            <a:off x="10362895" y="2564892"/>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5</a:t>
            </a:r>
            <a:endParaRPr lang="en-US" sz="1800" dirty="0"/>
          </a:p>
        </p:txBody>
      </p:sp>
      <p:sp>
        <p:nvSpPr>
          <p:cNvPr id="23" name="Shape 23"/>
          <p:cNvSpPr txBox="1"/>
          <p:nvPr/>
        </p:nvSpPr>
        <p:spPr>
          <a:xfrm>
            <a:off x="9219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4" name="Shape 24"/>
          <p:cNvSpPr txBox="1"/>
          <p:nvPr/>
        </p:nvSpPr>
        <p:spPr>
          <a:xfrm>
            <a:off x="10362895" y="2985516"/>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13</a:t>
            </a:r>
            <a:endParaRPr lang="en-US" sz="1800" dirty="0"/>
          </a:p>
        </p:txBody>
      </p:sp>
      <p:sp>
        <p:nvSpPr>
          <p:cNvPr id="25" name="Shape 25"/>
          <p:cNvSpPr txBox="1"/>
          <p:nvPr/>
        </p:nvSpPr>
        <p:spPr>
          <a:xfrm>
            <a:off x="9219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10362895" y="3406140"/>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21</a:t>
            </a:r>
            <a:endParaRPr lang="en-US" sz="1800" dirty="0"/>
          </a:p>
        </p:txBody>
      </p:sp>
      <p:sp>
        <p:nvSpPr>
          <p:cNvPr id="27" name="Shape 27"/>
          <p:cNvSpPr txBox="1"/>
          <p:nvPr/>
        </p:nvSpPr>
        <p:spPr>
          <a:xfrm>
            <a:off x="9219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8" name="Shape 28"/>
          <p:cNvSpPr txBox="1"/>
          <p:nvPr/>
        </p:nvSpPr>
        <p:spPr>
          <a:xfrm>
            <a:off x="10362895" y="3826764"/>
            <a:ext cx="1143000" cy="42062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29</a:t>
            </a:r>
            <a:endParaRPr lang="en-US" sz="1800" dirty="0"/>
          </a:p>
        </p:txBody>
      </p:sp>
      <p:sp>
        <p:nvSpPr>
          <p:cNvPr id="29" name="Shape 29"/>
          <p:cNvSpPr txBox="1"/>
          <p:nvPr/>
        </p:nvSpPr>
        <p:spPr>
          <a:xfrm>
            <a:off x="6305398" y="4342638"/>
            <a:ext cx="52004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0 → 2: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2 → 4: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2</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4 → 8: </a:t>
            </a:r>
            <a:r>
              <a:rPr lang="en-US" sz="1575" dirty="0">
                <a:solidFill>
                  <a:srgbClr val="16171D"/>
                </a:solidFill>
                <a:latin typeface="Cambria"/>
                <a:cs typeface="Cambria"/>
              </a:rPr>
              <a:t xml:space="preserve">8</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4</a:t>
            </a:r>
            <a:r>
              <a:rPr lang="en-US" sz="1575" dirty="0">
                <a:solidFill>
                  <a:srgbClr val="16171D"/>
                </a:solidFill>
                <a:latin typeface="Cambria"/>
                <a:cs typeface="Cambria"/>
              </a:rPr>
              <a:t xml:space="preserve"> = 2</a:t>
            </a:r>
            <a:r>
              <a:rPr lang="en-US" sz="1575" dirty="0">
                <a:solidFill>
                  <a:srgbClr val="16171D"/>
                </a:solidFill>
                <a:latin typeface="Segoe UI"/>
                <a:cs typeface="Segoe UI"/>
              </a:rPr>
              <a:t xml:space="preserve">.</a:t>
            </a:r>
            <a:endParaRPr lang="en-US" sz="1575" dirty="0"/>
          </a:p>
        </p:txBody>
      </p:sp>
      <p:sp>
        <p:nvSpPr>
          <p:cNvPr id="30" name="Shape 30"/>
          <p:cNvSpPr txBox="1"/>
          <p:nvPr/>
        </p:nvSpPr>
        <p:spPr>
          <a:xfrm>
            <a:off x="6305398" y="4732782"/>
            <a:ext cx="357132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Not linear</a:t>
            </a:r>
            <a:endParaRPr lang="en-US" sz="2325" dirty="0"/>
          </a:p>
        </p:txBody>
      </p:sp>
      <p:sp>
        <p:nvSpPr>
          <p:cNvPr id="31" name="Shape 31"/>
          <p:cNvSpPr txBox="1"/>
          <p:nvPr/>
        </p:nvSpPr>
        <p:spPr>
          <a:xfrm>
            <a:off x="6305398" y="5346954"/>
            <a:ext cx="5200498" cy="6263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-values go up by 8 each time, but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-steps aren't equal.</a:t>
            </a:r>
            <a:endParaRPr lang="en-US" sz="1575" dirty="0"/>
          </a:p>
        </p:txBody>
      </p:sp>
      <p:sp>
        <p:nvSpPr>
          <p:cNvPr id="32" name="Slide Number 3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anim calcmode="lin" valueType="num">
                                      <p:cBhvr>
                                        <p:cTn id="12" dur="500" fill="hold"/>
                                        <p:tgtEl>
                                          <p:spTgt spid="16"/>
                                        </p:tgtEl>
                                        <p:attrNameLst>
                                          <p:attrName>ppt_x</p:attrName>
                                        </p:attrNameLst>
                                      </p:cBhvr>
                                      <p:tavLst>
                                        <p:tav tm="0">
                                          <p:val>
                                            <p:strVal val="#ppt_x"/>
                                          </p:val>
                                        </p:tav>
                                        <p:tav tm="100000">
                                          <p:val>
                                            <p:strVal val="#ppt_x"/>
                                          </p:val>
                                        </p:tav>
                                      </p:tavLst>
                                    </p:anim>
                                    <p:anim calcmode="lin" valueType="num">
                                      <p:cBhvr>
                                        <p:cTn id="13"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anim calcmode="lin" valueType="num">
                                      <p:cBhvr>
                                        <p:cTn id="26" dur="500" fill="hold"/>
                                        <p:tgtEl>
                                          <p:spTgt spid="29"/>
                                        </p:tgtEl>
                                        <p:attrNameLst>
                                          <p:attrName>ppt_x</p:attrName>
                                        </p:attrNameLst>
                                      </p:cBhvr>
                                      <p:tavLst>
                                        <p:tav tm="0">
                                          <p:val>
                                            <p:strVal val="#ppt_x"/>
                                          </p:val>
                                        </p:tav>
                                        <p:tav tm="100000">
                                          <p:val>
                                            <p:strVal val="#ppt_x"/>
                                          </p:val>
                                        </p:tav>
                                      </p:tavLst>
                                    </p:anim>
                                    <p:anim calcmode="lin" valueType="num">
                                      <p:cBhvr>
                                        <p:cTn id="27"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anim calcmode="lin" valueType="num">
                                      <p:cBhvr>
                                        <p:cTn id="33" dur="500" fill="hold"/>
                                        <p:tgtEl>
                                          <p:spTgt spid="30"/>
                                        </p:tgtEl>
                                        <p:attrNameLst>
                                          <p:attrName>ppt_w</p:attrName>
                                        </p:attrNameLst>
                                      </p:cBhvr>
                                      <p:tavLst>
                                        <p:tav tm="0">
                                          <p:val>
                                            <p:fltVal val="0"/>
                                          </p:val>
                                        </p:tav>
                                        <p:tav tm="100000">
                                          <p:val>
                                            <p:strVal val="#ppt_w"/>
                                          </p:val>
                                        </p:tav>
                                      </p:tavLst>
                                    </p:anim>
                                    <p:anim calcmode="lin" valueType="num">
                                      <p:cBhvr>
                                        <p:cTn id="34" dur="500" fill="hold"/>
                                        <p:tgtEl>
                                          <p:spTgt spid="30"/>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anim calcmode="lin" valueType="num">
                                      <p:cBhvr>
                                        <p:cTn id="40" dur="500" fill="hold"/>
                                        <p:tgtEl>
                                          <p:spTgt spid="31"/>
                                        </p:tgtEl>
                                        <p:attrNameLst>
                                          <p:attrName>ppt_x</p:attrName>
                                        </p:attrNameLst>
                                      </p:cBhvr>
                                      <p:tavLst>
                                        <p:tav tm="0">
                                          <p:val>
                                            <p:strVal val="#ppt_x"/>
                                          </p:val>
                                        </p:tav>
                                        <p:tav tm="100000">
                                          <p:val>
                                            <p:strVal val="#ppt_x"/>
                                          </p:val>
                                        </p:tav>
                                      </p:tavLst>
                                    </p:anim>
                                    <p:anim calcmode="lin" valueType="num">
                                      <p:cBhvr>
                                        <p:cTn id="41"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6.1 · Summary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the table linear?</a:t>
            </a:r>
            <a:endParaRPr lang="en-US" sz="3450" dirty="0"/>
          </a:p>
        </p:txBody>
      </p:sp>
      <p:sp>
        <p:nvSpPr>
          <p:cNvPr id="4" name="Shape 4"/>
          <p:cNvSpPr txBox="1"/>
          <p:nvPr/>
        </p:nvSpPr>
        <p:spPr>
          <a:xfrm>
            <a:off x="685800" y="17137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Check the inputs. If they're </a:t>
            </a:r>
            <a:r>
              <a:rPr lang="en-US" sz="1950" dirty="0" b="1">
                <a:solidFill>
                  <a:srgbClr val="16171D"/>
                </a:solidFill>
                <a:latin typeface="Segoe UI"/>
                <a:cs typeface="Segoe UI"/>
              </a:rPr>
              <a:t xml:space="preserve">not consecutive</a:t>
            </a:r>
            <a:r>
              <a:rPr lang="en-US" sz="1950" dirty="0">
                <a:solidFill>
                  <a:srgbClr val="16171D"/>
                </a:solidFill>
                <a:latin typeface="Segoe UI"/>
                <a:cs typeface="Segoe UI"/>
              </a:rPr>
              <a:t xml:space="preserve"> (or not in order), first differences won't work.</a:t>
            </a:r>
            <a:endParaRPr lang="en-US" sz="1950" dirty="0"/>
          </a:p>
        </p:txBody>
      </p:sp>
      <p:sp>
        <p:nvSpPr>
          <p:cNvPr id="5" name="Shape 5"/>
          <p:cNvSpPr txBox="1"/>
          <p:nvPr/>
        </p:nvSpPr>
        <p:spPr>
          <a:xfrm>
            <a:off x="685800" y="257251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Calculate the slope, </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a:t>
            </a:r>
            <a:r>
              <a:rPr lang="en-US" sz="1950" dirty="0">
                <a:solidFill>
                  <a:srgbClr val="16171D"/>
                </a:solidFill>
                <a:latin typeface="Cambria"/>
                <a:cs typeface="Cambria"/>
              </a:rPr>
              <a:t xml:space="preserve">change in </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 between </a:t>
            </a:r>
            <a:r>
              <a:rPr lang="en-US" sz="1950" dirty="0" b="1">
                <a:solidFill>
                  <a:srgbClr val="16171D"/>
                </a:solidFill>
                <a:latin typeface="Segoe UI"/>
                <a:cs typeface="Segoe UI"/>
              </a:rPr>
              <a:t xml:space="preserve">every pair</a:t>
            </a:r>
            <a:r>
              <a:rPr lang="en-US" sz="1950" dirty="0">
                <a:solidFill>
                  <a:srgbClr val="16171D"/>
                </a:solidFill>
                <a:latin typeface="Segoe UI"/>
                <a:cs typeface="Segoe UI"/>
              </a:rPr>
              <a:t xml:space="preserve"> of points.</a:t>
            </a:r>
            <a:endParaRPr lang="en-US" sz="1950" dirty="0"/>
          </a:p>
        </p:txBody>
      </p:sp>
      <p:sp>
        <p:nvSpPr>
          <p:cNvPr id="6" name="Shape 6"/>
          <p:cNvSpPr txBox="1"/>
          <p:nvPr/>
        </p:nvSpPr>
        <p:spPr>
          <a:xfrm>
            <a:off x="685800" y="3134106"/>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If the slope is always the same, the table is linear. Use the slope and a point to find </a:t>
            </a:r>
            <a:r>
              <a:rPr lang="en-US" sz="1950" dirty="0" b="1" i="1">
                <a:solidFill>
                  <a:srgbClr val="3050B8"/>
                </a:solidFill>
                <a:latin typeface="Cambria"/>
                <a:cs typeface="Cambria"/>
              </a:rPr>
              <a:t xml:space="preserve">b</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99288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It's a </a:t>
            </a:r>
            <a:r>
              <a:rPr lang="en-US" sz="1950" dirty="0" b="1">
                <a:solidFill>
                  <a:srgbClr val="16171D"/>
                </a:solidFill>
                <a:latin typeface="Segoe UI"/>
                <a:cs typeface="Segoe UI"/>
              </a:rPr>
              <a:t xml:space="preserve">direct variation</a:t>
            </a:r>
            <a:r>
              <a:rPr lang="en-US" sz="1950" dirty="0">
                <a:solidFill>
                  <a:srgbClr val="16171D"/>
                </a:solidFill>
                <a:latin typeface="Segoe UI"/>
                <a:cs typeface="Segoe UI"/>
              </a:rPr>
              <a:t xml:space="preserve"> only if it passes through </a:t>
            </a:r>
            <a:r>
              <a:rPr lang="en-US" sz="1950" dirty="0" b="1">
                <a:solidFill>
                  <a:srgbClr val="3050B8"/>
                </a:solidFill>
                <a:latin typeface="Cambria"/>
                <a:cs typeface="Cambria"/>
              </a:rPr>
              <a:t xml:space="preserve">(0, 0)</a:t>
            </a:r>
            <a:r>
              <a:rPr lang="en-US" sz="1950" dirty="0">
                <a:solidFill>
                  <a:srgbClr val="16171D"/>
                </a:solidFill>
                <a:latin typeface="Segoe UI"/>
                <a:cs typeface="Segoe UI"/>
              </a:rPr>
              <a:t xml:space="preserve">: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kx</a:t>
            </a:r>
            <a:r>
              <a:rPr lang="en-US" sz="1950" dirty="0">
                <a:solidFill>
                  <a:srgbClr val="16171D"/>
                </a:solidFill>
                <a:latin typeface="Segoe UI"/>
                <a:cs typeface="Segoe UI"/>
              </a:rPr>
              <a:t xml:space="preserv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2.2: horizontal vs. vertical dilations</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2.3: describe and graph</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Talk the Talk</a:t>
            </a:r>
            <a:endParaRPr lang="en-US" sz="1950" dirty="0"/>
          </a:p>
        </p:txBody>
      </p:sp>
      <p:sp>
        <p:nvSpPr>
          <p:cNvPr id="8" name="Shape 8"/>
          <p:cNvSpPr txBox="1"/>
          <p:nvPr/>
        </p:nvSpPr>
        <p:spPr>
          <a:xfrm>
            <a:off x="685800" y="371246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Exit ticket</a:t>
            </a:r>
            <a:endParaRPr lang="en-US" sz="1950" dirty="0"/>
          </a:p>
        </p:txBody>
      </p:sp>
      <p:sp>
        <p:nvSpPr>
          <p:cNvPr id="9" name="Shape 9"/>
          <p:cNvSpPr txBox="1"/>
          <p:nvPr/>
        </p:nvSpPr>
        <p:spPr>
          <a:xfrm>
            <a:off x="685800" y="4235958"/>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2.2 · Comparing Vertical and Horizontal Dilations · SE pp. 295–296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Change the outputs or the inputs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endParaRPr lang="en-US" sz="3450" dirty="0"/>
          </a:p>
        </p:txBody>
      </p:sp>
      <p:sp>
        <p:nvSpPr>
          <p:cNvPr id="4" name="Shape 4"/>
          <p:cNvSpPr txBox="1"/>
          <p:nvPr/>
        </p:nvSpPr>
        <p:spPr>
          <a:xfrm>
            <a:off x="685800" y="1618488"/>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Outputs × 2: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a(x)</a:t>
            </a:r>
            <a:endParaRPr lang="en-US" sz="1650" dirty="0"/>
          </a:p>
        </p:txBody>
      </p:sp>
      <p:sp>
        <p:nvSpPr>
          <p:cNvPr id="7" name="Shape 7"/>
          <p:cNvSpPr txBox="1"/>
          <p:nvPr/>
        </p:nvSpPr>
        <p:spPr>
          <a:xfrm>
            <a:off x="685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8" name="Shape 8"/>
          <p:cNvSpPr txBox="1"/>
          <p:nvPr/>
        </p:nvSpPr>
        <p:spPr>
          <a:xfrm>
            <a:off x="685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9" name="Shape 9"/>
          <p:cNvSpPr txBox="1"/>
          <p:nvPr/>
        </p:nvSpPr>
        <p:spPr>
          <a:xfrm>
            <a:off x="1828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0" name="Shape 10"/>
          <p:cNvSpPr txBox="1"/>
          <p:nvPr/>
        </p:nvSpPr>
        <p:spPr>
          <a:xfrm>
            <a:off x="1828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11" name="Shape 11"/>
          <p:cNvSpPr txBox="1"/>
          <p:nvPr/>
        </p:nvSpPr>
        <p:spPr>
          <a:xfrm>
            <a:off x="685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2" name="Shape 12"/>
          <p:cNvSpPr txBox="1"/>
          <p:nvPr/>
        </p:nvSpPr>
        <p:spPr>
          <a:xfrm>
            <a:off x="685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3" name="Shape 13"/>
          <p:cNvSpPr txBox="1"/>
          <p:nvPr/>
        </p:nvSpPr>
        <p:spPr>
          <a:xfrm>
            <a:off x="1828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4" name="Shape 14"/>
          <p:cNvSpPr txBox="1"/>
          <p:nvPr/>
        </p:nvSpPr>
        <p:spPr>
          <a:xfrm>
            <a:off x="1828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15" name="Shape 15"/>
          <p:cNvSpPr txBox="1"/>
          <p:nvPr/>
        </p:nvSpPr>
        <p:spPr>
          <a:xfrm>
            <a:off x="685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6" name="Shape 16"/>
          <p:cNvSpPr txBox="1"/>
          <p:nvPr/>
        </p:nvSpPr>
        <p:spPr>
          <a:xfrm>
            <a:off x="685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7" name="Shape 17"/>
          <p:cNvSpPr txBox="1"/>
          <p:nvPr/>
        </p:nvSpPr>
        <p:spPr>
          <a:xfrm>
            <a:off x="1828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8" name="Shape 18"/>
          <p:cNvSpPr txBox="1"/>
          <p:nvPr/>
        </p:nvSpPr>
        <p:spPr>
          <a:xfrm>
            <a:off x="1828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9" name="Shape 19"/>
          <p:cNvSpPr txBox="1"/>
          <p:nvPr/>
        </p:nvSpPr>
        <p:spPr>
          <a:xfrm>
            <a:off x="685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0" name="Shape 20"/>
          <p:cNvSpPr txBox="1"/>
          <p:nvPr/>
        </p:nvSpPr>
        <p:spPr>
          <a:xfrm>
            <a:off x="685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1" name="Shape 21"/>
          <p:cNvSpPr txBox="1"/>
          <p:nvPr/>
        </p:nvSpPr>
        <p:spPr>
          <a:xfrm>
            <a:off x="1828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2" name="Shape 22"/>
          <p:cNvSpPr txBox="1"/>
          <p:nvPr/>
        </p:nvSpPr>
        <p:spPr>
          <a:xfrm>
            <a:off x="1828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3" name="Shape 23"/>
          <p:cNvSpPr txBox="1"/>
          <p:nvPr/>
        </p:nvSpPr>
        <p:spPr>
          <a:xfrm>
            <a:off x="685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4" name="Shape 24"/>
          <p:cNvSpPr txBox="1"/>
          <p:nvPr/>
        </p:nvSpPr>
        <p:spPr>
          <a:xfrm>
            <a:off x="685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5" name="Shape 25"/>
          <p:cNvSpPr txBox="1"/>
          <p:nvPr/>
        </p:nvSpPr>
        <p:spPr>
          <a:xfrm>
            <a:off x="1828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6" name="Shape 26"/>
          <p:cNvSpPr txBox="1"/>
          <p:nvPr/>
        </p:nvSpPr>
        <p:spPr>
          <a:xfrm>
            <a:off x="1828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27" name="Shape 27"/>
          <p:cNvSpPr txBox="1"/>
          <p:nvPr/>
        </p:nvSpPr>
        <p:spPr>
          <a:xfrm>
            <a:off x="4419498" y="1618488"/>
            <a:ext cx="33526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Inputs × ½: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28" name="Shape 28"/>
          <p:cNvSpPr txBox="1"/>
          <p:nvPr/>
        </p:nvSpPr>
        <p:spPr>
          <a:xfrm>
            <a:off x="44194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29" name="Shape 29"/>
          <p:cNvSpPr txBox="1"/>
          <p:nvPr/>
        </p:nvSpPr>
        <p:spPr>
          <a:xfrm>
            <a:off x="55624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b(x)</a:t>
            </a:r>
            <a:endParaRPr lang="en-US" sz="1650" dirty="0"/>
          </a:p>
        </p:txBody>
      </p:sp>
      <p:sp>
        <p:nvSpPr>
          <p:cNvPr id="30" name="Shape 30"/>
          <p:cNvSpPr txBox="1"/>
          <p:nvPr/>
        </p:nvSpPr>
        <p:spPr>
          <a:xfrm>
            <a:off x="44194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1" name="Shape 31"/>
          <p:cNvSpPr txBox="1"/>
          <p:nvPr/>
        </p:nvSpPr>
        <p:spPr>
          <a:xfrm>
            <a:off x="44194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2" name="Shape 32"/>
          <p:cNvSpPr txBox="1"/>
          <p:nvPr/>
        </p:nvSpPr>
        <p:spPr>
          <a:xfrm>
            <a:off x="55624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3" name="Shape 33"/>
          <p:cNvSpPr txBox="1"/>
          <p:nvPr/>
        </p:nvSpPr>
        <p:spPr>
          <a:xfrm>
            <a:off x="55624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4" name="Shape 34"/>
          <p:cNvSpPr txBox="1"/>
          <p:nvPr/>
        </p:nvSpPr>
        <p:spPr>
          <a:xfrm>
            <a:off x="44194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5" name="Shape 35"/>
          <p:cNvSpPr txBox="1"/>
          <p:nvPr/>
        </p:nvSpPr>
        <p:spPr>
          <a:xfrm>
            <a:off x="44194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−½</a:t>
            </a:r>
            <a:endParaRPr lang="en-US" sz="1650" dirty="0"/>
          </a:p>
        </p:txBody>
      </p:sp>
      <p:sp>
        <p:nvSpPr>
          <p:cNvPr id="36" name="Shape 36"/>
          <p:cNvSpPr txBox="1"/>
          <p:nvPr/>
        </p:nvSpPr>
        <p:spPr>
          <a:xfrm>
            <a:off x="55624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7" name="Shape 37"/>
          <p:cNvSpPr txBox="1"/>
          <p:nvPr/>
        </p:nvSpPr>
        <p:spPr>
          <a:xfrm>
            <a:off x="55624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8" name="Shape 38"/>
          <p:cNvSpPr txBox="1"/>
          <p:nvPr/>
        </p:nvSpPr>
        <p:spPr>
          <a:xfrm>
            <a:off x="44194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9" name="Shape 39"/>
          <p:cNvSpPr txBox="1"/>
          <p:nvPr/>
        </p:nvSpPr>
        <p:spPr>
          <a:xfrm>
            <a:off x="44194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0" name="Shape 40"/>
          <p:cNvSpPr txBox="1"/>
          <p:nvPr/>
        </p:nvSpPr>
        <p:spPr>
          <a:xfrm>
            <a:off x="55624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1" name="Shape 41"/>
          <p:cNvSpPr txBox="1"/>
          <p:nvPr/>
        </p:nvSpPr>
        <p:spPr>
          <a:xfrm>
            <a:off x="55624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2" name="Shape 42"/>
          <p:cNvSpPr txBox="1"/>
          <p:nvPr/>
        </p:nvSpPr>
        <p:spPr>
          <a:xfrm>
            <a:off x="44194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3" name="Shape 43"/>
          <p:cNvSpPr txBox="1"/>
          <p:nvPr/>
        </p:nvSpPr>
        <p:spPr>
          <a:xfrm>
            <a:off x="44194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½</a:t>
            </a:r>
            <a:endParaRPr lang="en-US" sz="1650" dirty="0"/>
          </a:p>
        </p:txBody>
      </p:sp>
      <p:sp>
        <p:nvSpPr>
          <p:cNvPr id="44" name="Shape 44"/>
          <p:cNvSpPr txBox="1"/>
          <p:nvPr/>
        </p:nvSpPr>
        <p:spPr>
          <a:xfrm>
            <a:off x="55624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5" name="Shape 45"/>
          <p:cNvSpPr txBox="1"/>
          <p:nvPr/>
        </p:nvSpPr>
        <p:spPr>
          <a:xfrm>
            <a:off x="55624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6" name="Shape 46"/>
          <p:cNvSpPr txBox="1"/>
          <p:nvPr/>
        </p:nvSpPr>
        <p:spPr>
          <a:xfrm>
            <a:off x="44194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7" name="Shape 47"/>
          <p:cNvSpPr txBox="1"/>
          <p:nvPr/>
        </p:nvSpPr>
        <p:spPr>
          <a:xfrm>
            <a:off x="44194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8" name="Shape 48"/>
          <p:cNvSpPr txBox="1"/>
          <p:nvPr/>
        </p:nvSpPr>
        <p:spPr>
          <a:xfrm>
            <a:off x="55624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9" name="Shape 49"/>
          <p:cNvSpPr txBox="1"/>
          <p:nvPr/>
        </p:nvSpPr>
        <p:spPr>
          <a:xfrm>
            <a:off x="55624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0" name="Shape 50"/>
          <p:cNvSpPr/>
          <p:nvPr/>
        </p:nvSpPr>
        <p:spPr>
          <a:xfrm>
            <a:off x="8153197" y="1618488"/>
            <a:ext cx="28575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51" name="Line 51"/>
          <p:cNvCxnSpPr/>
          <p:nvPr/>
        </p:nvCxnSpPr>
        <p:spPr>
          <a:xfrm>
            <a:off x="8477047" y="1732788"/>
            <a:ext cx="0" cy="2495550"/>
          </a:xfrm>
          <a:prstGeom prst="line">
            <a:avLst/>
          </a:prstGeom>
          <a:ln w="9525" cap="flat">
            <a:solidFill>
              <a:srgbClr val="E6E8F2"/>
            </a:solidFill>
          </a:ln>
        </p:spPr>
      </p:cxnSp>
      <p:cxnSp>
        <p:nvCxnSpPr>
          <p:cNvPr id="52" name="Line 52"/>
          <p:cNvCxnSpPr/>
          <p:nvPr/>
        </p:nvCxnSpPr>
        <p:spPr>
          <a:xfrm>
            <a:off x="8779466" y="1732788"/>
            <a:ext cx="0" cy="2495550"/>
          </a:xfrm>
          <a:prstGeom prst="line">
            <a:avLst/>
          </a:prstGeom>
          <a:ln w="9525" cap="flat">
            <a:solidFill>
              <a:srgbClr val="E6E8F2"/>
            </a:solidFill>
          </a:ln>
        </p:spPr>
      </p:cxnSp>
      <p:cxnSp>
        <p:nvCxnSpPr>
          <p:cNvPr id="53" name="Line 53"/>
          <p:cNvCxnSpPr/>
          <p:nvPr/>
        </p:nvCxnSpPr>
        <p:spPr>
          <a:xfrm>
            <a:off x="9081884" y="1732788"/>
            <a:ext cx="0" cy="2495550"/>
          </a:xfrm>
          <a:prstGeom prst="line">
            <a:avLst/>
          </a:prstGeom>
          <a:ln w="9525" cap="flat">
            <a:solidFill>
              <a:srgbClr val="E6E8F2"/>
            </a:solidFill>
          </a:ln>
        </p:spPr>
      </p:cxnSp>
      <p:cxnSp>
        <p:nvCxnSpPr>
          <p:cNvPr id="54" name="Line 54"/>
          <p:cNvCxnSpPr/>
          <p:nvPr/>
        </p:nvCxnSpPr>
        <p:spPr>
          <a:xfrm>
            <a:off x="9384303" y="1732788"/>
            <a:ext cx="0" cy="2495550"/>
          </a:xfrm>
          <a:prstGeom prst="line">
            <a:avLst/>
          </a:prstGeom>
          <a:ln w="9525" cap="flat">
            <a:solidFill>
              <a:srgbClr val="E6E8F2"/>
            </a:solidFill>
          </a:ln>
        </p:spPr>
      </p:cxnSp>
      <p:cxnSp>
        <p:nvCxnSpPr>
          <p:cNvPr id="55" name="Line 55"/>
          <p:cNvCxnSpPr/>
          <p:nvPr/>
        </p:nvCxnSpPr>
        <p:spPr>
          <a:xfrm>
            <a:off x="9686722" y="1732788"/>
            <a:ext cx="0" cy="2495550"/>
          </a:xfrm>
          <a:prstGeom prst="line">
            <a:avLst/>
          </a:prstGeom>
          <a:ln w="9525" cap="flat">
            <a:solidFill>
              <a:srgbClr val="E6E8F2"/>
            </a:solidFill>
          </a:ln>
        </p:spPr>
      </p:cxnSp>
      <p:cxnSp>
        <p:nvCxnSpPr>
          <p:cNvPr id="56" name="Line 56"/>
          <p:cNvCxnSpPr/>
          <p:nvPr/>
        </p:nvCxnSpPr>
        <p:spPr>
          <a:xfrm>
            <a:off x="9989141" y="1732788"/>
            <a:ext cx="0" cy="2495550"/>
          </a:xfrm>
          <a:prstGeom prst="line">
            <a:avLst/>
          </a:prstGeom>
          <a:ln w="9525" cap="flat">
            <a:solidFill>
              <a:srgbClr val="E6E8F2"/>
            </a:solidFill>
          </a:ln>
        </p:spPr>
      </p:cxnSp>
      <p:cxnSp>
        <p:nvCxnSpPr>
          <p:cNvPr id="57" name="Line 57"/>
          <p:cNvCxnSpPr/>
          <p:nvPr/>
        </p:nvCxnSpPr>
        <p:spPr>
          <a:xfrm>
            <a:off x="10291559" y="1732788"/>
            <a:ext cx="0" cy="2495550"/>
          </a:xfrm>
          <a:prstGeom prst="line">
            <a:avLst/>
          </a:prstGeom>
          <a:ln w="9525" cap="flat">
            <a:solidFill>
              <a:srgbClr val="E6E8F2"/>
            </a:solidFill>
          </a:ln>
        </p:spPr>
      </p:cxnSp>
      <p:cxnSp>
        <p:nvCxnSpPr>
          <p:cNvPr id="58" name="Line 58"/>
          <p:cNvCxnSpPr/>
          <p:nvPr/>
        </p:nvCxnSpPr>
        <p:spPr>
          <a:xfrm>
            <a:off x="10593978" y="1732788"/>
            <a:ext cx="0" cy="2495550"/>
          </a:xfrm>
          <a:prstGeom prst="line">
            <a:avLst/>
          </a:prstGeom>
          <a:ln w="9525" cap="flat">
            <a:solidFill>
              <a:srgbClr val="E6E8F2"/>
            </a:solidFill>
          </a:ln>
        </p:spPr>
      </p:cxnSp>
      <p:cxnSp>
        <p:nvCxnSpPr>
          <p:cNvPr id="59" name="Line 59"/>
          <p:cNvCxnSpPr/>
          <p:nvPr/>
        </p:nvCxnSpPr>
        <p:spPr>
          <a:xfrm>
            <a:off x="10896397" y="1732788"/>
            <a:ext cx="0" cy="2495550"/>
          </a:xfrm>
          <a:prstGeom prst="line">
            <a:avLst/>
          </a:prstGeom>
          <a:ln w="9525" cap="flat">
            <a:solidFill>
              <a:srgbClr val="E6E8F2"/>
            </a:solidFill>
          </a:ln>
        </p:spPr>
      </p:cxnSp>
      <p:cxnSp>
        <p:nvCxnSpPr>
          <p:cNvPr id="60" name="Line 60"/>
          <p:cNvCxnSpPr/>
          <p:nvPr/>
        </p:nvCxnSpPr>
        <p:spPr>
          <a:xfrm>
            <a:off x="8477047" y="4228338"/>
            <a:ext cx="2419350" cy="0"/>
          </a:xfrm>
          <a:prstGeom prst="line">
            <a:avLst/>
          </a:prstGeom>
          <a:ln w="9525" cap="flat">
            <a:solidFill>
              <a:srgbClr val="E6E8F2"/>
            </a:solidFill>
          </a:ln>
        </p:spPr>
      </p:cxnSp>
      <p:cxnSp>
        <p:nvCxnSpPr>
          <p:cNvPr id="61" name="Line 61"/>
          <p:cNvCxnSpPr/>
          <p:nvPr/>
        </p:nvCxnSpPr>
        <p:spPr>
          <a:xfrm>
            <a:off x="8477047" y="3978783"/>
            <a:ext cx="2419350" cy="0"/>
          </a:xfrm>
          <a:prstGeom prst="line">
            <a:avLst/>
          </a:prstGeom>
          <a:ln w="9525" cap="flat">
            <a:solidFill>
              <a:srgbClr val="E6E8F2"/>
            </a:solidFill>
          </a:ln>
        </p:spPr>
      </p:cxnSp>
      <p:cxnSp>
        <p:nvCxnSpPr>
          <p:cNvPr id="62" name="Line 62"/>
          <p:cNvCxnSpPr/>
          <p:nvPr/>
        </p:nvCxnSpPr>
        <p:spPr>
          <a:xfrm>
            <a:off x="8477047" y="3729228"/>
            <a:ext cx="2419350" cy="0"/>
          </a:xfrm>
          <a:prstGeom prst="line">
            <a:avLst/>
          </a:prstGeom>
          <a:ln w="9525" cap="flat">
            <a:solidFill>
              <a:srgbClr val="E6E8F2"/>
            </a:solidFill>
          </a:ln>
        </p:spPr>
      </p:cxnSp>
      <p:cxnSp>
        <p:nvCxnSpPr>
          <p:cNvPr id="63" name="Line 63"/>
          <p:cNvCxnSpPr/>
          <p:nvPr/>
        </p:nvCxnSpPr>
        <p:spPr>
          <a:xfrm>
            <a:off x="8477047" y="3479673"/>
            <a:ext cx="2419350" cy="0"/>
          </a:xfrm>
          <a:prstGeom prst="line">
            <a:avLst/>
          </a:prstGeom>
          <a:ln w="9525" cap="flat">
            <a:solidFill>
              <a:srgbClr val="E6E8F2"/>
            </a:solidFill>
          </a:ln>
        </p:spPr>
      </p:cxnSp>
      <p:cxnSp>
        <p:nvCxnSpPr>
          <p:cNvPr id="64" name="Line 64"/>
          <p:cNvCxnSpPr/>
          <p:nvPr/>
        </p:nvCxnSpPr>
        <p:spPr>
          <a:xfrm>
            <a:off x="8477047" y="3230118"/>
            <a:ext cx="2419350" cy="0"/>
          </a:xfrm>
          <a:prstGeom prst="line">
            <a:avLst/>
          </a:prstGeom>
          <a:ln w="9525" cap="flat">
            <a:solidFill>
              <a:srgbClr val="E6E8F2"/>
            </a:solidFill>
          </a:ln>
        </p:spPr>
      </p:cxnSp>
      <p:cxnSp>
        <p:nvCxnSpPr>
          <p:cNvPr id="65" name="Line 65"/>
          <p:cNvCxnSpPr/>
          <p:nvPr/>
        </p:nvCxnSpPr>
        <p:spPr>
          <a:xfrm>
            <a:off x="8477047" y="2980563"/>
            <a:ext cx="2419350" cy="0"/>
          </a:xfrm>
          <a:prstGeom prst="line">
            <a:avLst/>
          </a:prstGeom>
          <a:ln w="9525" cap="flat">
            <a:solidFill>
              <a:srgbClr val="E6E8F2"/>
            </a:solidFill>
          </a:ln>
        </p:spPr>
      </p:cxnSp>
      <p:cxnSp>
        <p:nvCxnSpPr>
          <p:cNvPr id="66" name="Line 66"/>
          <p:cNvCxnSpPr/>
          <p:nvPr/>
        </p:nvCxnSpPr>
        <p:spPr>
          <a:xfrm>
            <a:off x="8477047" y="2731008"/>
            <a:ext cx="2419350" cy="0"/>
          </a:xfrm>
          <a:prstGeom prst="line">
            <a:avLst/>
          </a:prstGeom>
          <a:ln w="9525" cap="flat">
            <a:solidFill>
              <a:srgbClr val="E6E8F2"/>
            </a:solidFill>
          </a:ln>
        </p:spPr>
      </p:cxnSp>
      <p:cxnSp>
        <p:nvCxnSpPr>
          <p:cNvPr id="67" name="Line 67"/>
          <p:cNvCxnSpPr/>
          <p:nvPr/>
        </p:nvCxnSpPr>
        <p:spPr>
          <a:xfrm>
            <a:off x="8477047" y="2481453"/>
            <a:ext cx="2419350" cy="0"/>
          </a:xfrm>
          <a:prstGeom prst="line">
            <a:avLst/>
          </a:prstGeom>
          <a:ln w="9525" cap="flat">
            <a:solidFill>
              <a:srgbClr val="E6E8F2"/>
            </a:solidFill>
          </a:ln>
        </p:spPr>
      </p:cxnSp>
      <p:cxnSp>
        <p:nvCxnSpPr>
          <p:cNvPr id="68" name="Line 68"/>
          <p:cNvCxnSpPr/>
          <p:nvPr/>
        </p:nvCxnSpPr>
        <p:spPr>
          <a:xfrm>
            <a:off x="8477047" y="2231898"/>
            <a:ext cx="2419350" cy="0"/>
          </a:xfrm>
          <a:prstGeom prst="line">
            <a:avLst/>
          </a:prstGeom>
          <a:ln w="9525" cap="flat">
            <a:solidFill>
              <a:srgbClr val="E6E8F2"/>
            </a:solidFill>
          </a:ln>
        </p:spPr>
      </p:cxnSp>
      <p:cxnSp>
        <p:nvCxnSpPr>
          <p:cNvPr id="69" name="Line 69"/>
          <p:cNvCxnSpPr/>
          <p:nvPr/>
        </p:nvCxnSpPr>
        <p:spPr>
          <a:xfrm>
            <a:off x="8477047" y="1982343"/>
            <a:ext cx="2419350" cy="0"/>
          </a:xfrm>
          <a:prstGeom prst="line">
            <a:avLst/>
          </a:prstGeom>
          <a:ln w="9525" cap="flat">
            <a:solidFill>
              <a:srgbClr val="E6E8F2"/>
            </a:solidFill>
          </a:ln>
        </p:spPr>
      </p:cxnSp>
      <p:cxnSp>
        <p:nvCxnSpPr>
          <p:cNvPr id="70" name="Line 70"/>
          <p:cNvCxnSpPr/>
          <p:nvPr/>
        </p:nvCxnSpPr>
        <p:spPr>
          <a:xfrm>
            <a:off x="8477047" y="1732788"/>
            <a:ext cx="2419350" cy="0"/>
          </a:xfrm>
          <a:prstGeom prst="line">
            <a:avLst/>
          </a:prstGeom>
          <a:ln w="9525" cap="flat">
            <a:solidFill>
              <a:srgbClr val="E6E8F2"/>
            </a:solidFill>
          </a:ln>
        </p:spPr>
      </p:cxnSp>
      <p:cxnSp>
        <p:nvCxnSpPr>
          <p:cNvPr id="71" name="Line 71"/>
          <p:cNvCxnSpPr/>
          <p:nvPr/>
        </p:nvCxnSpPr>
        <p:spPr>
          <a:xfrm>
            <a:off x="9686722" y="1732788"/>
            <a:ext cx="0" cy="2495550"/>
          </a:xfrm>
          <a:prstGeom prst="line">
            <a:avLst/>
          </a:prstGeom>
          <a:ln w="19050" cap="flat">
            <a:solidFill>
              <a:srgbClr val="5F6272"/>
            </a:solidFill>
          </a:ln>
        </p:spPr>
      </p:cxnSp>
      <p:cxnSp>
        <p:nvCxnSpPr>
          <p:cNvPr id="72" name="Line 72"/>
          <p:cNvCxnSpPr/>
          <p:nvPr/>
        </p:nvCxnSpPr>
        <p:spPr>
          <a:xfrm>
            <a:off x="8477047" y="2980563"/>
            <a:ext cx="2419350" cy="0"/>
          </a:xfrm>
          <a:prstGeom prst="line">
            <a:avLst/>
          </a:prstGeom>
          <a:ln w="19050" cap="flat">
            <a:solidFill>
              <a:srgbClr val="5F6272"/>
            </a:solidFill>
          </a:ln>
        </p:spPr>
      </p:cxnSp>
      <p:sp>
        <p:nvSpPr>
          <p:cNvPr id="73" name="Shape 73"/>
          <p:cNvSpPr txBox="1"/>
          <p:nvPr/>
        </p:nvSpPr>
        <p:spPr>
          <a:xfrm>
            <a:off x="8202727"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4" name="Shape 74"/>
          <p:cNvSpPr txBox="1"/>
          <p:nvPr/>
        </p:nvSpPr>
        <p:spPr>
          <a:xfrm>
            <a:off x="8505146"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75" name="Shape 75"/>
          <p:cNvSpPr txBox="1"/>
          <p:nvPr/>
        </p:nvSpPr>
        <p:spPr>
          <a:xfrm>
            <a:off x="8807564"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6" name="Shape 76"/>
          <p:cNvSpPr txBox="1"/>
          <p:nvPr/>
        </p:nvSpPr>
        <p:spPr>
          <a:xfrm>
            <a:off x="9109983"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77" name="Shape 77"/>
          <p:cNvSpPr txBox="1"/>
          <p:nvPr/>
        </p:nvSpPr>
        <p:spPr>
          <a:xfrm>
            <a:off x="9412402"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8" name="Shape 78"/>
          <p:cNvSpPr txBox="1"/>
          <p:nvPr/>
        </p:nvSpPr>
        <p:spPr>
          <a:xfrm>
            <a:off x="9714821"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79" name="Shape 79"/>
          <p:cNvSpPr txBox="1"/>
          <p:nvPr/>
        </p:nvSpPr>
        <p:spPr>
          <a:xfrm>
            <a:off x="10017239"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80" name="Shape 80"/>
          <p:cNvSpPr txBox="1"/>
          <p:nvPr/>
        </p:nvSpPr>
        <p:spPr>
          <a:xfrm>
            <a:off x="1031965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81" name="Shape 81"/>
          <p:cNvSpPr txBox="1"/>
          <p:nvPr/>
        </p:nvSpPr>
        <p:spPr>
          <a:xfrm>
            <a:off x="10622077"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7910119" y="4136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83" name="Shape 83"/>
          <p:cNvSpPr txBox="1"/>
          <p:nvPr/>
        </p:nvSpPr>
        <p:spPr>
          <a:xfrm>
            <a:off x="7910119" y="388734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4" name="Shape 84"/>
          <p:cNvSpPr txBox="1"/>
          <p:nvPr/>
        </p:nvSpPr>
        <p:spPr>
          <a:xfrm>
            <a:off x="7910119" y="363778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85" name="Shape 85"/>
          <p:cNvSpPr txBox="1"/>
          <p:nvPr/>
        </p:nvSpPr>
        <p:spPr>
          <a:xfrm>
            <a:off x="7910119" y="338823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6" name="Shape 86"/>
          <p:cNvSpPr txBox="1"/>
          <p:nvPr/>
        </p:nvSpPr>
        <p:spPr>
          <a:xfrm>
            <a:off x="7910119" y="313867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87" name="Shape 87"/>
          <p:cNvSpPr txBox="1"/>
          <p:nvPr/>
        </p:nvSpPr>
        <p:spPr>
          <a:xfrm>
            <a:off x="7910119" y="28891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88" name="Shape 88"/>
          <p:cNvSpPr txBox="1"/>
          <p:nvPr/>
        </p:nvSpPr>
        <p:spPr>
          <a:xfrm>
            <a:off x="7910119" y="263956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89" name="Shape 89"/>
          <p:cNvSpPr txBox="1"/>
          <p:nvPr/>
        </p:nvSpPr>
        <p:spPr>
          <a:xfrm>
            <a:off x="7910119" y="239001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90" name="Shape 90"/>
          <p:cNvSpPr txBox="1"/>
          <p:nvPr/>
        </p:nvSpPr>
        <p:spPr>
          <a:xfrm>
            <a:off x="7910119" y="214045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91" name="Shape 91"/>
          <p:cNvSpPr txBox="1"/>
          <p:nvPr/>
        </p:nvSpPr>
        <p:spPr>
          <a:xfrm>
            <a:off x="7910119" y="189090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92" name="Shape 92"/>
          <p:cNvSpPr txBox="1"/>
          <p:nvPr/>
        </p:nvSpPr>
        <p:spPr>
          <a:xfrm>
            <a:off x="7910119"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cxnSp>
        <p:nvCxnSpPr>
          <p:cNvPr id="93" name="Line 93"/>
          <p:cNvCxnSpPr/>
          <p:nvPr/>
        </p:nvCxnSpPr>
        <p:spPr>
          <a:xfrm flipV="1">
            <a:off x="8477047" y="1982343"/>
            <a:ext cx="2419350" cy="1996440"/>
          </a:xfrm>
          <a:prstGeom prst="line">
            <a:avLst/>
          </a:prstGeom>
          <a:ln w="38100" cap="rnd">
            <a:solidFill>
              <a:srgbClr val="16171D"/>
            </a:solidFill>
          </a:ln>
        </p:spPr>
      </p:cxnSp>
      <p:sp>
        <p:nvSpPr>
          <p:cNvPr id="94" name="Shape 94"/>
          <p:cNvSpPr txBox="1"/>
          <p:nvPr/>
        </p:nvSpPr>
        <p:spPr>
          <a:xfrm>
            <a:off x="8404657" y="2001393"/>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f(x)</a:t>
            </a:r>
            <a:endParaRPr lang="en-US" sz="1275" dirty="0"/>
          </a:p>
        </p:txBody>
      </p:sp>
      <p:cxnSp>
        <p:nvCxnSpPr>
          <p:cNvPr id="95" name="Line 95"/>
          <p:cNvCxnSpPr/>
          <p:nvPr/>
        </p:nvCxnSpPr>
        <p:spPr>
          <a:xfrm flipV="1">
            <a:off x="8930675" y="1732788"/>
            <a:ext cx="1512094" cy="2495550"/>
          </a:xfrm>
          <a:prstGeom prst="line">
            <a:avLst/>
          </a:prstGeom>
          <a:ln w="38100" cap="rnd">
            <a:solidFill>
              <a:srgbClr val="4F8A3C"/>
            </a:solidFill>
          </a:ln>
        </p:spPr>
      </p:cxnSp>
      <p:sp>
        <p:nvSpPr>
          <p:cNvPr id="96" name="Shape 96"/>
          <p:cNvSpPr txBox="1"/>
          <p:nvPr/>
        </p:nvSpPr>
        <p:spPr>
          <a:xfrm>
            <a:off x="7951029"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2x</a:t>
            </a:r>
            <a:endParaRPr lang="en-US" sz="1275" dirty="0"/>
          </a:p>
        </p:txBody>
      </p:sp>
      <p:sp>
        <p:nvSpPr>
          <p:cNvPr id="97" name="Shape 97"/>
          <p:cNvSpPr txBox="1"/>
          <p:nvPr/>
        </p:nvSpPr>
        <p:spPr>
          <a:xfrm>
            <a:off x="8153197" y="4571238"/>
            <a:ext cx="33526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are the line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with different tables.</a:t>
            </a:r>
            <a:endParaRPr lang="en-US" sz="1575" dirty="0"/>
          </a:p>
        </p:txBody>
      </p:sp>
      <p:sp>
        <p:nvSpPr>
          <p:cNvPr id="98" name="Slide Number 9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anim calcmode="lin" valueType="num">
                                      <p:cBhvr>
                                        <p:cTn id="40" dur="500" fill="hold"/>
                                        <p:tgtEl>
                                          <p:spTgt spid="18"/>
                                        </p:tgtEl>
                                        <p:attrNameLst>
                                          <p:attrName>ppt_x</p:attrName>
                                        </p:attrNameLst>
                                      </p:cBhvr>
                                      <p:tavLst>
                                        <p:tav tm="0">
                                          <p:val>
                                            <p:strVal val="#ppt_x"/>
                                          </p:val>
                                        </p:tav>
                                        <p:tav tm="100000">
                                          <p:val>
                                            <p:strVal val="#ppt_x"/>
                                          </p:val>
                                        </p:tav>
                                      </p:tavLst>
                                    </p:anim>
                                    <p:anim calcmode="lin" valueType="num">
                                      <p:cBhvr>
                                        <p:cTn id="4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anim calcmode="lin" valueType="num">
                                      <p:cBhvr>
                                        <p:cTn id="54" dur="500" fill="hold"/>
                                        <p:tgtEl>
                                          <p:spTgt spid="22"/>
                                        </p:tgtEl>
                                        <p:attrNameLst>
                                          <p:attrName>ppt_x</p:attrName>
                                        </p:attrNameLst>
                                      </p:cBhvr>
                                      <p:tavLst>
                                        <p:tav tm="0">
                                          <p:val>
                                            <p:strVal val="#ppt_x"/>
                                          </p:val>
                                        </p:tav>
                                        <p:tav tm="100000">
                                          <p:val>
                                            <p:strVal val="#ppt_x"/>
                                          </p:val>
                                        </p:tav>
                                      </p:tavLst>
                                    </p:anim>
                                    <p:anim calcmode="lin" valueType="num">
                                      <p:cBhvr>
                                        <p:cTn id="55"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p:tgtEl>
                                          <p:spTgt spid="24"/>
                                        </p:tgtEl>
                                        <p:attrNameLst>
                                          <p:attrName>ppt_x</p:attrName>
                                        </p:attrNameLst>
                                      </p:cBhvr>
                                      <p:tavLst>
                                        <p:tav tm="0">
                                          <p:val>
                                            <p:strVal val="#ppt_x"/>
                                          </p:val>
                                        </p:tav>
                                        <p:tav tm="100000">
                                          <p:val>
                                            <p:strVal val="#ppt_x"/>
                                          </p:val>
                                        </p:tav>
                                      </p:tavLst>
                                    </p:anim>
                                    <p:anim calcmode="lin" valueType="num">
                                      <p:cBhvr>
                                        <p:cTn id="62"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anim calcmode="lin" valueType="num">
                                      <p:cBhvr>
                                        <p:cTn id="68" dur="500" fill="hold"/>
                                        <p:tgtEl>
                                          <p:spTgt spid="26"/>
                                        </p:tgtEl>
                                        <p:attrNameLst>
                                          <p:attrName>ppt_x</p:attrName>
                                        </p:attrNameLst>
                                      </p:cBhvr>
                                      <p:tavLst>
                                        <p:tav tm="0">
                                          <p:val>
                                            <p:strVal val="#ppt_x"/>
                                          </p:val>
                                        </p:tav>
                                        <p:tav tm="100000">
                                          <p:val>
                                            <p:strVal val="#ppt_x"/>
                                          </p:val>
                                        </p:tav>
                                      </p:tavLst>
                                    </p:anim>
                                    <p:anim calcmode="lin" valueType="num">
                                      <p:cBhvr>
                                        <p:cTn id="6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anim calcmode="lin" valueType="num">
                                      <p:cBhvr>
                                        <p:cTn id="75" dur="500" fill="hold"/>
                                        <p:tgtEl>
                                          <p:spTgt spid="31"/>
                                        </p:tgtEl>
                                        <p:attrNameLst>
                                          <p:attrName>ppt_x</p:attrName>
                                        </p:attrNameLst>
                                      </p:cBhvr>
                                      <p:tavLst>
                                        <p:tav tm="0">
                                          <p:val>
                                            <p:strVal val="#ppt_x"/>
                                          </p:val>
                                        </p:tav>
                                        <p:tav tm="100000">
                                          <p:val>
                                            <p:strVal val="#ppt_x"/>
                                          </p:val>
                                        </p:tav>
                                      </p:tavLst>
                                    </p:anim>
                                    <p:anim calcmode="lin" valueType="num">
                                      <p:cBhvr>
                                        <p:cTn id="7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42" presetClass="entr" presetSubtype="0" fill="hold"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anim calcmode="lin" valueType="num">
                                      <p:cBhvr>
                                        <p:cTn id="82" dur="500" fill="hold"/>
                                        <p:tgtEl>
                                          <p:spTgt spid="33"/>
                                        </p:tgtEl>
                                        <p:attrNameLst>
                                          <p:attrName>ppt_x</p:attrName>
                                        </p:attrNameLst>
                                      </p:cBhvr>
                                      <p:tavLst>
                                        <p:tav tm="0">
                                          <p:val>
                                            <p:strVal val="#ppt_x"/>
                                          </p:val>
                                        </p:tav>
                                        <p:tav tm="100000">
                                          <p:val>
                                            <p:strVal val="#ppt_x"/>
                                          </p:val>
                                        </p:tav>
                                      </p:tavLst>
                                    </p:anim>
                                    <p:anim calcmode="lin" valueType="num">
                                      <p:cBhvr>
                                        <p:cTn id="83"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1" presetID="42" presetClass="entr" presetSubtype="0" fill="hold" nodeType="click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anim calcmode="lin" valueType="num">
                                      <p:cBhvr>
                                        <p:cTn id="89" dur="500" fill="hold"/>
                                        <p:tgtEl>
                                          <p:spTgt spid="35"/>
                                        </p:tgtEl>
                                        <p:attrNameLst>
                                          <p:attrName>ppt_x</p:attrName>
                                        </p:attrNameLst>
                                      </p:cBhvr>
                                      <p:tavLst>
                                        <p:tav tm="0">
                                          <p:val>
                                            <p:strVal val="#ppt_x"/>
                                          </p:val>
                                        </p:tav>
                                        <p:tav tm="100000">
                                          <p:val>
                                            <p:strVal val="#ppt_x"/>
                                          </p:val>
                                        </p:tav>
                                      </p:tavLst>
                                    </p:anim>
                                    <p:anim calcmode="lin" valueType="num">
                                      <p:cBhvr>
                                        <p:cTn id="90"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98" presetID="42" presetClass="entr" presetSubtype="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anim calcmode="lin" valueType="num">
                                      <p:cBhvr>
                                        <p:cTn id="96" dur="500" fill="hold"/>
                                        <p:tgtEl>
                                          <p:spTgt spid="37"/>
                                        </p:tgtEl>
                                        <p:attrNameLst>
                                          <p:attrName>ppt_x</p:attrName>
                                        </p:attrNameLst>
                                      </p:cBhvr>
                                      <p:tavLst>
                                        <p:tav tm="0">
                                          <p:val>
                                            <p:strVal val="#ppt_x"/>
                                          </p:val>
                                        </p:tav>
                                        <p:tav tm="100000">
                                          <p:val>
                                            <p:strVal val="#ppt_x"/>
                                          </p:val>
                                        </p:tav>
                                      </p:tavLst>
                                    </p:anim>
                                    <p:anim calcmode="lin" valueType="num">
                                      <p:cBhvr>
                                        <p:cTn id="97"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5" presetID="42"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500"/>
                                        <p:tgtEl>
                                          <p:spTgt spid="39"/>
                                        </p:tgtEl>
                                      </p:cBhvr>
                                    </p:animEffect>
                                    <p:anim calcmode="lin" valueType="num">
                                      <p:cBhvr>
                                        <p:cTn id="103" dur="500" fill="hold"/>
                                        <p:tgtEl>
                                          <p:spTgt spid="39"/>
                                        </p:tgtEl>
                                        <p:attrNameLst>
                                          <p:attrName>ppt_x</p:attrName>
                                        </p:attrNameLst>
                                      </p:cBhvr>
                                      <p:tavLst>
                                        <p:tav tm="0">
                                          <p:val>
                                            <p:strVal val="#ppt_x"/>
                                          </p:val>
                                        </p:tav>
                                        <p:tav tm="100000">
                                          <p:val>
                                            <p:strVal val="#ppt_x"/>
                                          </p:val>
                                        </p:tav>
                                      </p:tavLst>
                                    </p:anim>
                                    <p:anim calcmode="lin" valueType="num">
                                      <p:cBhvr>
                                        <p:cTn id="104"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2" presetID="42" presetClass="entr" presetSubtype="0" fill="hold" nodeType="click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500"/>
                                        <p:tgtEl>
                                          <p:spTgt spid="41"/>
                                        </p:tgtEl>
                                      </p:cBhvr>
                                    </p:animEffect>
                                    <p:anim calcmode="lin" valueType="num">
                                      <p:cBhvr>
                                        <p:cTn id="110" dur="500" fill="hold"/>
                                        <p:tgtEl>
                                          <p:spTgt spid="41"/>
                                        </p:tgtEl>
                                        <p:attrNameLst>
                                          <p:attrName>ppt_x</p:attrName>
                                        </p:attrNameLst>
                                      </p:cBhvr>
                                      <p:tavLst>
                                        <p:tav tm="0">
                                          <p:val>
                                            <p:strVal val="#ppt_x"/>
                                          </p:val>
                                        </p:tav>
                                        <p:tav tm="100000">
                                          <p:val>
                                            <p:strVal val="#ppt_x"/>
                                          </p:val>
                                        </p:tav>
                                      </p:tavLst>
                                    </p:anim>
                                    <p:anim calcmode="lin" valueType="num">
                                      <p:cBhvr>
                                        <p:cTn id="111" dur="5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9" presetID="42"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500"/>
                                        <p:tgtEl>
                                          <p:spTgt spid="43"/>
                                        </p:tgtEl>
                                      </p:cBhvr>
                                    </p:animEffect>
                                    <p:anim calcmode="lin" valueType="num">
                                      <p:cBhvr>
                                        <p:cTn id="117" dur="500" fill="hold"/>
                                        <p:tgtEl>
                                          <p:spTgt spid="43"/>
                                        </p:tgtEl>
                                        <p:attrNameLst>
                                          <p:attrName>ppt_x</p:attrName>
                                        </p:attrNameLst>
                                      </p:cBhvr>
                                      <p:tavLst>
                                        <p:tav tm="0">
                                          <p:val>
                                            <p:strVal val="#ppt_x"/>
                                          </p:val>
                                        </p:tav>
                                        <p:tav tm="100000">
                                          <p:val>
                                            <p:strVal val="#ppt_x"/>
                                          </p:val>
                                        </p:tav>
                                      </p:tavLst>
                                    </p:anim>
                                    <p:anim calcmode="lin" valueType="num">
                                      <p:cBhvr>
                                        <p:cTn id="118"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6" presetID="42" presetClass="entr" presetSubtype="0" fill="hold" nodeType="click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anim calcmode="lin" valueType="num">
                                      <p:cBhvr>
                                        <p:cTn id="124" dur="500" fill="hold"/>
                                        <p:tgtEl>
                                          <p:spTgt spid="45"/>
                                        </p:tgtEl>
                                        <p:attrNameLst>
                                          <p:attrName>ppt_x</p:attrName>
                                        </p:attrNameLst>
                                      </p:cBhvr>
                                      <p:tavLst>
                                        <p:tav tm="0">
                                          <p:val>
                                            <p:strVal val="#ppt_x"/>
                                          </p:val>
                                        </p:tav>
                                        <p:tav tm="100000">
                                          <p:val>
                                            <p:strVal val="#ppt_x"/>
                                          </p:val>
                                        </p:tav>
                                      </p:tavLst>
                                    </p:anim>
                                    <p:anim calcmode="lin" valueType="num">
                                      <p:cBhvr>
                                        <p:cTn id="125"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3" presetID="42"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500"/>
                                        <p:tgtEl>
                                          <p:spTgt spid="47"/>
                                        </p:tgtEl>
                                      </p:cBhvr>
                                    </p:animEffect>
                                    <p:anim calcmode="lin" valueType="num">
                                      <p:cBhvr>
                                        <p:cTn id="131" dur="500" fill="hold"/>
                                        <p:tgtEl>
                                          <p:spTgt spid="47"/>
                                        </p:tgtEl>
                                        <p:attrNameLst>
                                          <p:attrName>ppt_x</p:attrName>
                                        </p:attrNameLst>
                                      </p:cBhvr>
                                      <p:tavLst>
                                        <p:tav tm="0">
                                          <p:val>
                                            <p:strVal val="#ppt_x"/>
                                          </p:val>
                                        </p:tav>
                                        <p:tav tm="100000">
                                          <p:val>
                                            <p:strVal val="#ppt_x"/>
                                          </p:val>
                                        </p:tav>
                                      </p:tavLst>
                                    </p:anim>
                                    <p:anim calcmode="lin" valueType="num">
                                      <p:cBhvr>
                                        <p:cTn id="132" dur="5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0" presetID="42" presetClass="entr" presetSubtype="0" fill="hold" nodeType="click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500"/>
                                        <p:tgtEl>
                                          <p:spTgt spid="49"/>
                                        </p:tgtEl>
                                      </p:cBhvr>
                                    </p:animEffect>
                                    <p:anim calcmode="lin" valueType="num">
                                      <p:cBhvr>
                                        <p:cTn id="138" dur="500" fill="hold"/>
                                        <p:tgtEl>
                                          <p:spTgt spid="49"/>
                                        </p:tgtEl>
                                        <p:attrNameLst>
                                          <p:attrName>ppt_x</p:attrName>
                                        </p:attrNameLst>
                                      </p:cBhvr>
                                      <p:tavLst>
                                        <p:tav tm="0">
                                          <p:val>
                                            <p:strVal val="#ppt_x"/>
                                          </p:val>
                                        </p:tav>
                                        <p:tav tm="100000">
                                          <p:val>
                                            <p:strVal val="#ppt_x"/>
                                          </p:val>
                                        </p:tav>
                                      </p:tavLst>
                                    </p:anim>
                                    <p:anim calcmode="lin" valueType="num">
                                      <p:cBhvr>
                                        <p:cTn id="139" dur="5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45" presetID="22" presetClass="entr" presetSubtype="8" fill="hold" nodeType="clickEffect">
                                  <p:stCondLst>
                                    <p:cond delay="0"/>
                                  </p:stCondLst>
                                  <p:childTnLst>
                                    <p:set>
                                      <p:cBhvr>
                                        <p:cTn id="143" dur="1" fill="hold">
                                          <p:stCondLst>
                                            <p:cond delay="0"/>
                                          </p:stCondLst>
                                        </p:cTn>
                                        <p:tgtEl>
                                          <p:spTgt spid="95"/>
                                        </p:tgtEl>
                                        <p:attrNameLst>
                                          <p:attrName>style.visibility</p:attrName>
                                        </p:attrNameLst>
                                      </p:cBhvr>
                                      <p:to>
                                        <p:strVal val="visible"/>
                                      </p:to>
                                    </p:set>
                                    <p:animEffect transition="in" filter="wipe(left)">
                                      <p:cBhvr>
                                        <p:cTn id="144" dur="700"/>
                                        <p:tgtEl>
                                          <p:spTgt spid="95"/>
                                        </p:tgtEl>
                                      </p:cBhvr>
                                    </p:animEffect>
                                  </p:childTnLst>
                                </p:cTn>
                              </p:par>
                              <p:par>
                                <p:cTn id="148" presetID="22" presetClass="entr" presetSubtype="8" fill="hold" nodeType="withEffect">
                                  <p:stCondLst>
                                    <p:cond delay="0"/>
                                  </p:stCondLst>
                                  <p:childTnLst>
                                    <p:set>
                                      <p:cBhvr>
                                        <p:cTn id="146" dur="1" fill="hold">
                                          <p:stCondLst>
                                            <p:cond delay="0"/>
                                          </p:stCondLst>
                                        </p:cTn>
                                        <p:tgtEl>
                                          <p:spTgt spid="96"/>
                                        </p:tgtEl>
                                        <p:attrNameLst>
                                          <p:attrName>style.visibility</p:attrName>
                                        </p:attrNameLst>
                                      </p:cBhvr>
                                      <p:to>
                                        <p:strVal val="visible"/>
                                      </p:to>
                                    </p:set>
                                    <p:animEffect transition="in" filter="wipe(left)">
                                      <p:cBhvr>
                                        <p:cTn id="147" dur="700"/>
                                        <p:tgtEl>
                                          <p:spTgt spid="96"/>
                                        </p:tgtEl>
                                      </p:cBhvr>
                                    </p:animEffect>
                                  </p:childTnLst>
                                </p:cTn>
                              </p:par>
                            </p:childTnLst>
                          </p:cTn>
                        </p:par>
                      </p:childTnLst>
                    </p:cTn>
                  </p:par>
                  <p:par>
                    <p:cTn id="156" fill="hold">
                      <p:stCondLst>
                        <p:cond delay="indefinite"/>
                      </p:stCondLst>
                      <p:childTnLst>
                        <p:par>
                          <p:cTn id="157" fill="hold">
                            <p:stCondLst>
                              <p:cond delay="0"/>
                            </p:stCondLst>
                            <p:childTnLst>
                              <p:par>
                                <p:cTn id="155" presetID="42" presetClass="entr" presetSubtype="0" fill="hold" nodeType="clickEffect">
                                  <p:stCondLst>
                                    <p:cond delay="0"/>
                                  </p:stCondLst>
                                  <p:childTnLst>
                                    <p:set>
                                      <p:cBhvr>
                                        <p:cTn id="151" dur="1" fill="hold">
                                          <p:stCondLst>
                                            <p:cond delay="0"/>
                                          </p:stCondLst>
                                        </p:cTn>
                                        <p:tgtEl>
                                          <p:spTgt spid="97"/>
                                        </p:tgtEl>
                                        <p:attrNameLst>
                                          <p:attrName>style.visibility</p:attrName>
                                        </p:attrNameLst>
                                      </p:cBhvr>
                                      <p:to>
                                        <p:strVal val="visible"/>
                                      </p:to>
                                    </p:set>
                                    <p:animEffect transition="in" filter="fade">
                                      <p:cBhvr>
                                        <p:cTn id="152" dur="500"/>
                                        <p:tgtEl>
                                          <p:spTgt spid="97"/>
                                        </p:tgtEl>
                                      </p:cBhvr>
                                    </p:animEffect>
                                    <p:anim calcmode="lin" valueType="num">
                                      <p:cBhvr>
                                        <p:cTn id="153" dur="500" fill="hold"/>
                                        <p:tgtEl>
                                          <p:spTgt spid="97"/>
                                        </p:tgtEl>
                                        <p:attrNameLst>
                                          <p:attrName>ppt_x</p:attrName>
                                        </p:attrNameLst>
                                      </p:cBhvr>
                                      <p:tavLst>
                                        <p:tav tm="0">
                                          <p:val>
                                            <p:strVal val="#ppt_x"/>
                                          </p:val>
                                        </p:tav>
                                        <p:tav tm="100000">
                                          <p:val>
                                            <p:strVal val="#ppt_x"/>
                                          </p:val>
                                        </p:tav>
                                      </p:tavLst>
                                    </p:anim>
                                    <p:anim calcmode="lin" valueType="num">
                                      <p:cBhvr>
                                        <p:cTn id="154" dur="500" fill="hold"/>
                                        <p:tgtEl>
                                          <p:spTgt spid="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2.2 · Questions 2–3 · SE p. 296</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Factors of ⅘ and 5/4</a:t>
            </a:r>
            <a:endParaRPr lang="en-US" sz="3450" dirty="0"/>
          </a:p>
        </p:txBody>
      </p:sp>
      <p:sp>
        <p:nvSpPr>
          <p:cNvPr id="4" name="Shape 4"/>
          <p:cNvSpPr txBox="1"/>
          <p:nvPr/>
        </p:nvSpPr>
        <p:spPr>
          <a:xfrm>
            <a:off x="685800"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Outputs × ⅘: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⅘</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c(x)</a:t>
            </a:r>
            <a:endParaRPr lang="en-US" sz="1650" dirty="0"/>
          </a:p>
        </p:txBody>
      </p:sp>
      <p:sp>
        <p:nvSpPr>
          <p:cNvPr id="7" name="Shape 7"/>
          <p:cNvSpPr txBox="1"/>
          <p:nvPr/>
        </p:nvSpPr>
        <p:spPr>
          <a:xfrm>
            <a:off x="685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8" name="Shape 8"/>
          <p:cNvSpPr txBox="1"/>
          <p:nvPr/>
        </p:nvSpPr>
        <p:spPr>
          <a:xfrm>
            <a:off x="685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9" name="Shape 9"/>
          <p:cNvSpPr txBox="1"/>
          <p:nvPr/>
        </p:nvSpPr>
        <p:spPr>
          <a:xfrm>
            <a:off x="1828800"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0" name="Shape 10"/>
          <p:cNvSpPr txBox="1"/>
          <p:nvPr/>
        </p:nvSpPr>
        <p:spPr>
          <a:xfrm>
            <a:off x="1828800"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−8/5</a:t>
            </a:r>
            <a:endParaRPr lang="en-US" sz="1650" dirty="0"/>
          </a:p>
        </p:txBody>
      </p:sp>
      <p:sp>
        <p:nvSpPr>
          <p:cNvPr id="11" name="Shape 11"/>
          <p:cNvSpPr txBox="1"/>
          <p:nvPr/>
        </p:nvSpPr>
        <p:spPr>
          <a:xfrm>
            <a:off x="685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2" name="Shape 12"/>
          <p:cNvSpPr txBox="1"/>
          <p:nvPr/>
        </p:nvSpPr>
        <p:spPr>
          <a:xfrm>
            <a:off x="685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3" name="Shape 13"/>
          <p:cNvSpPr txBox="1"/>
          <p:nvPr/>
        </p:nvSpPr>
        <p:spPr>
          <a:xfrm>
            <a:off x="1828800"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4" name="Shape 14"/>
          <p:cNvSpPr txBox="1"/>
          <p:nvPr/>
        </p:nvSpPr>
        <p:spPr>
          <a:xfrm>
            <a:off x="1828800"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−4/5</a:t>
            </a:r>
            <a:endParaRPr lang="en-US" sz="1650" dirty="0"/>
          </a:p>
        </p:txBody>
      </p:sp>
      <p:sp>
        <p:nvSpPr>
          <p:cNvPr id="15" name="Shape 15"/>
          <p:cNvSpPr txBox="1"/>
          <p:nvPr/>
        </p:nvSpPr>
        <p:spPr>
          <a:xfrm>
            <a:off x="685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6" name="Shape 16"/>
          <p:cNvSpPr txBox="1"/>
          <p:nvPr/>
        </p:nvSpPr>
        <p:spPr>
          <a:xfrm>
            <a:off x="685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7" name="Shape 17"/>
          <p:cNvSpPr txBox="1"/>
          <p:nvPr/>
        </p:nvSpPr>
        <p:spPr>
          <a:xfrm>
            <a:off x="1828800"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18" name="Shape 18"/>
          <p:cNvSpPr txBox="1"/>
          <p:nvPr/>
        </p:nvSpPr>
        <p:spPr>
          <a:xfrm>
            <a:off x="1828800"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9" name="Shape 19"/>
          <p:cNvSpPr txBox="1"/>
          <p:nvPr/>
        </p:nvSpPr>
        <p:spPr>
          <a:xfrm>
            <a:off x="685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0" name="Shape 20"/>
          <p:cNvSpPr txBox="1"/>
          <p:nvPr/>
        </p:nvSpPr>
        <p:spPr>
          <a:xfrm>
            <a:off x="685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21" name="Shape 21"/>
          <p:cNvSpPr txBox="1"/>
          <p:nvPr/>
        </p:nvSpPr>
        <p:spPr>
          <a:xfrm>
            <a:off x="1828800"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2" name="Shape 22"/>
          <p:cNvSpPr txBox="1"/>
          <p:nvPr/>
        </p:nvSpPr>
        <p:spPr>
          <a:xfrm>
            <a:off x="1828800"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4/5</a:t>
            </a:r>
            <a:endParaRPr lang="en-US" sz="1650" dirty="0"/>
          </a:p>
        </p:txBody>
      </p:sp>
      <p:sp>
        <p:nvSpPr>
          <p:cNvPr id="23" name="Shape 23"/>
          <p:cNvSpPr txBox="1"/>
          <p:nvPr/>
        </p:nvSpPr>
        <p:spPr>
          <a:xfrm>
            <a:off x="685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4" name="Shape 24"/>
          <p:cNvSpPr txBox="1"/>
          <p:nvPr/>
        </p:nvSpPr>
        <p:spPr>
          <a:xfrm>
            <a:off x="685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25" name="Shape 25"/>
          <p:cNvSpPr txBox="1"/>
          <p:nvPr/>
        </p:nvSpPr>
        <p:spPr>
          <a:xfrm>
            <a:off x="1828800"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26" name="Shape 26"/>
          <p:cNvSpPr txBox="1"/>
          <p:nvPr/>
        </p:nvSpPr>
        <p:spPr>
          <a:xfrm>
            <a:off x="1828800"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8/5</a:t>
            </a:r>
            <a:endParaRPr lang="en-US" sz="1650" dirty="0"/>
          </a:p>
        </p:txBody>
      </p:sp>
      <p:sp>
        <p:nvSpPr>
          <p:cNvPr id="27" name="Shape 27"/>
          <p:cNvSpPr txBox="1"/>
          <p:nvPr/>
        </p:nvSpPr>
        <p:spPr>
          <a:xfrm>
            <a:off x="4381398"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Inputs × 5/4: </a:t>
            </a:r>
            <a:r>
              <a:rPr lang="en-US" sz="1575" dirty="0" i="1">
                <a:solidFill>
                  <a:srgbClr val="16171D"/>
                </a:solidFill>
                <a:latin typeface="Cambria"/>
                <a:cs typeface="Cambria"/>
              </a:rPr>
              <a:t xml:space="preserve">d</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(⅘</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28" name="Shape 28"/>
          <p:cNvSpPr txBox="1"/>
          <p:nvPr/>
        </p:nvSpPr>
        <p:spPr>
          <a:xfrm>
            <a:off x="4381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29" name="Shape 29"/>
          <p:cNvSpPr txBox="1"/>
          <p:nvPr/>
        </p:nvSpPr>
        <p:spPr>
          <a:xfrm>
            <a:off x="5524398"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d(x)</a:t>
            </a:r>
            <a:endParaRPr lang="en-US" sz="1650" dirty="0"/>
          </a:p>
        </p:txBody>
      </p:sp>
      <p:sp>
        <p:nvSpPr>
          <p:cNvPr id="30" name="Shape 30"/>
          <p:cNvSpPr txBox="1"/>
          <p:nvPr/>
        </p:nvSpPr>
        <p:spPr>
          <a:xfrm>
            <a:off x="43813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1" name="Shape 31"/>
          <p:cNvSpPr txBox="1"/>
          <p:nvPr/>
        </p:nvSpPr>
        <p:spPr>
          <a:xfrm>
            <a:off x="43813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−5/2</a:t>
            </a:r>
            <a:endParaRPr lang="en-US" sz="1650" dirty="0"/>
          </a:p>
        </p:txBody>
      </p:sp>
      <p:sp>
        <p:nvSpPr>
          <p:cNvPr id="32" name="Shape 32"/>
          <p:cNvSpPr txBox="1"/>
          <p:nvPr/>
        </p:nvSpPr>
        <p:spPr>
          <a:xfrm>
            <a:off x="5524398" y="2406396"/>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3" name="Shape 33"/>
          <p:cNvSpPr txBox="1"/>
          <p:nvPr/>
        </p:nvSpPr>
        <p:spPr>
          <a:xfrm>
            <a:off x="5524398" y="2406396"/>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34" name="Shape 34"/>
          <p:cNvSpPr txBox="1"/>
          <p:nvPr/>
        </p:nvSpPr>
        <p:spPr>
          <a:xfrm>
            <a:off x="43813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5" name="Shape 35"/>
          <p:cNvSpPr txBox="1"/>
          <p:nvPr/>
        </p:nvSpPr>
        <p:spPr>
          <a:xfrm>
            <a:off x="43813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−5/4</a:t>
            </a:r>
            <a:endParaRPr lang="en-US" sz="1650" dirty="0"/>
          </a:p>
        </p:txBody>
      </p:sp>
      <p:sp>
        <p:nvSpPr>
          <p:cNvPr id="36" name="Shape 36"/>
          <p:cNvSpPr txBox="1"/>
          <p:nvPr/>
        </p:nvSpPr>
        <p:spPr>
          <a:xfrm>
            <a:off x="5524398" y="2804160"/>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7" name="Shape 37"/>
          <p:cNvSpPr txBox="1"/>
          <p:nvPr/>
        </p:nvSpPr>
        <p:spPr>
          <a:xfrm>
            <a:off x="5524398" y="2804160"/>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38" name="Shape 38"/>
          <p:cNvSpPr txBox="1"/>
          <p:nvPr/>
        </p:nvSpPr>
        <p:spPr>
          <a:xfrm>
            <a:off x="43813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39" name="Shape 39"/>
          <p:cNvSpPr txBox="1"/>
          <p:nvPr/>
        </p:nvSpPr>
        <p:spPr>
          <a:xfrm>
            <a:off x="43813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0" name="Shape 40"/>
          <p:cNvSpPr txBox="1"/>
          <p:nvPr/>
        </p:nvSpPr>
        <p:spPr>
          <a:xfrm>
            <a:off x="5524398" y="3201924"/>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1" name="Shape 41"/>
          <p:cNvSpPr txBox="1"/>
          <p:nvPr/>
        </p:nvSpPr>
        <p:spPr>
          <a:xfrm>
            <a:off x="5524398" y="3201924"/>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42" name="Shape 42"/>
          <p:cNvSpPr txBox="1"/>
          <p:nvPr/>
        </p:nvSpPr>
        <p:spPr>
          <a:xfrm>
            <a:off x="43813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3" name="Shape 43"/>
          <p:cNvSpPr txBox="1"/>
          <p:nvPr/>
        </p:nvSpPr>
        <p:spPr>
          <a:xfrm>
            <a:off x="43813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5/4</a:t>
            </a:r>
            <a:endParaRPr lang="en-US" sz="1650" dirty="0"/>
          </a:p>
        </p:txBody>
      </p:sp>
      <p:sp>
        <p:nvSpPr>
          <p:cNvPr id="44" name="Shape 44"/>
          <p:cNvSpPr txBox="1"/>
          <p:nvPr/>
        </p:nvSpPr>
        <p:spPr>
          <a:xfrm>
            <a:off x="5524398" y="3599688"/>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5" name="Shape 45"/>
          <p:cNvSpPr txBox="1"/>
          <p:nvPr/>
        </p:nvSpPr>
        <p:spPr>
          <a:xfrm>
            <a:off x="5524398" y="3599688"/>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46" name="Shape 46"/>
          <p:cNvSpPr txBox="1"/>
          <p:nvPr/>
        </p:nvSpPr>
        <p:spPr>
          <a:xfrm>
            <a:off x="43813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7" name="Shape 47"/>
          <p:cNvSpPr txBox="1"/>
          <p:nvPr/>
        </p:nvSpPr>
        <p:spPr>
          <a:xfrm>
            <a:off x="43813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5/2</a:t>
            </a:r>
            <a:endParaRPr lang="en-US" sz="1650" dirty="0"/>
          </a:p>
        </p:txBody>
      </p:sp>
      <p:sp>
        <p:nvSpPr>
          <p:cNvPr id="48" name="Shape 48"/>
          <p:cNvSpPr txBox="1"/>
          <p:nvPr/>
        </p:nvSpPr>
        <p:spPr>
          <a:xfrm>
            <a:off x="5524398" y="3997452"/>
            <a:ext cx="1143000" cy="39776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650" dirty="0"/>
          </a:p>
        </p:txBody>
      </p:sp>
      <p:sp>
        <p:nvSpPr>
          <p:cNvPr id="49" name="Shape 49"/>
          <p:cNvSpPr txBox="1"/>
          <p:nvPr/>
        </p:nvSpPr>
        <p:spPr>
          <a:xfrm>
            <a:off x="5524398" y="3997452"/>
            <a:ext cx="1143000" cy="397764"/>
          </a:xfrm>
          <a:prstGeom prst="rect">
            <a:avLst/>
          </a:prstGeom>
          <a:noFill/>
          <a:ln>
            <a:no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50" name="Shape 50"/>
          <p:cNvSpPr txBox="1"/>
          <p:nvPr/>
        </p:nvSpPr>
        <p:spPr>
          <a:xfrm>
            <a:off x="8076997" y="1618488"/>
            <a:ext cx="34288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Same line,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⅘</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a:t>
            </a:r>
            <a:endParaRPr lang="en-US" sz="1575" dirty="0"/>
          </a:p>
        </p:txBody>
      </p:sp>
      <p:sp>
        <p:nvSpPr>
          <p:cNvPr id="51" name="Shape 51"/>
          <p:cNvSpPr txBox="1"/>
          <p:nvPr/>
        </p:nvSpPr>
        <p:spPr>
          <a:xfrm>
            <a:off x="8076997" y="2008632"/>
            <a:ext cx="34288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For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a vertical dilation by </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 = a horizontal dilation by </a:t>
            </a:r>
            <a:r>
              <a:rPr lang="en-US" sz="1575" dirty="0">
                <a:solidFill>
                  <a:srgbClr val="16171D"/>
                </a:solidFill>
                <a:latin typeface="Cambria"/>
                <a:cs typeface="Cambria"/>
              </a:rPr>
              <a:t xml:space="preserve">1/</a:t>
            </a:r>
            <a:r>
              <a:rPr lang="en-US" sz="1575" dirty="0" i="1">
                <a:solidFill>
                  <a:srgbClr val="16171D"/>
                </a:solidFill>
                <a:latin typeface="Cambria"/>
                <a:cs typeface="Cambria"/>
              </a:rPr>
              <a:t xml:space="preserve">n</a:t>
            </a:r>
            <a:r>
              <a:rPr lang="en-US" sz="1575" dirty="0">
                <a:solidFill>
                  <a:srgbClr val="16171D"/>
                </a:solidFill>
                <a:latin typeface="Segoe UI"/>
                <a:cs typeface="Segoe UI"/>
              </a:rPr>
              <a:t xml:space="preserve">.</a:t>
            </a:r>
            <a:endParaRPr lang="en-US" sz="1575" dirty="0"/>
          </a:p>
        </p:txBody>
      </p:sp>
      <p:sp>
        <p:nvSpPr>
          <p:cNvPr id="54" name="Shape 54"/>
          <p:cNvSpPr txBox="1"/>
          <p:nvPr/>
        </p:nvSpPr>
        <p:spPr>
          <a:xfrm>
            <a:off x="8076997" y="2878836"/>
            <a:ext cx="3428898" cy="230809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2" name="Shape 52"/>
          <p:cNvSpPr txBox="1"/>
          <p:nvPr/>
        </p:nvSpPr>
        <p:spPr>
          <a:xfrm>
            <a:off x="8286547" y="3050286"/>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Definitions</a:t>
            </a:r>
            <a:endParaRPr lang="en-US" sz="2100" dirty="0"/>
          </a:p>
        </p:txBody>
      </p:sp>
      <p:sp>
        <p:nvSpPr>
          <p:cNvPr id="53" name="Shape 53"/>
          <p:cNvSpPr txBox="1"/>
          <p:nvPr/>
        </p:nvSpPr>
        <p:spPr>
          <a:xfrm>
            <a:off x="8286547" y="3520440"/>
            <a:ext cx="3009798" cy="149504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vertical, changes outputs.</a:t>
            </a:r>
            <a:br>
              <a:rPr lang="en-US" sz="1575" dirty="0">
                <a:solidFill>
                  <a:srgbClr val="16171D"/>
                </a:solidFill>
                <a:latin typeface="Segoe UI"/>
                <a:cs typeface="Segoe UI"/>
              </a:rPr>
            </a:b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b</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horizontal, changes inputs;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&gt; 1</a:t>
            </a:r>
            <a:r>
              <a:rPr lang="en-US" sz="1575" dirty="0">
                <a:solidFill>
                  <a:srgbClr val="16171D"/>
                </a:solidFill>
                <a:latin typeface="Segoe UI"/>
                <a:cs typeface="Segoe UI"/>
              </a:rPr>
              <a:t xml:space="preserve"> compresses, </a:t>
            </a:r>
            <a:r>
              <a:rPr lang="en-US" sz="1575" dirty="0">
                <a:solidFill>
                  <a:srgbClr val="16171D"/>
                </a:solidFill>
                <a:latin typeface="Cambria"/>
                <a:cs typeface="Cambria"/>
              </a:rPr>
              <a:t xml:space="preserve">0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1</a:t>
            </a:r>
            <a:r>
              <a:rPr lang="en-US" sz="1575" dirty="0">
                <a:solidFill>
                  <a:srgbClr val="16171D"/>
                </a:solidFill>
                <a:latin typeface="Segoe UI"/>
                <a:cs typeface="Segoe UI"/>
              </a:rPr>
              <a:t xml:space="preserve"> stretches, </a:t>
            </a:r>
            <a:r>
              <a:rPr lang="en-US" sz="1575" dirty="0" i="1">
                <a:solidFill>
                  <a:srgbClr val="16171D"/>
                </a:solidFill>
                <a:latin typeface="Cambria"/>
                <a:cs typeface="Cambria"/>
              </a:rPr>
              <a:t xml:space="preserve">b</a:t>
            </a:r>
            <a:r>
              <a:rPr lang="en-US" sz="1575" dirty="0">
                <a:solidFill>
                  <a:srgbClr val="16171D"/>
                </a:solidFill>
                <a:latin typeface="Cambria"/>
                <a:cs typeface="Cambria"/>
              </a:rPr>
              <a:t xml:space="preserve">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 reflects across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a:t>
            </a:r>
            <a:endParaRPr lang="en-US" sz="1575" dirty="0"/>
          </a:p>
        </p:txBody>
      </p:sp>
      <p:sp>
        <p:nvSpPr>
          <p:cNvPr id="55" name="Slide Number 5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500"/>
                                        <p:tgtEl>
                                          <p:spTgt spid="8"/>
                                        </p:tgtEl>
                                      </p:cBhvr>
                                    </p:animEffect>
                                    <p:anim calcmode="lin" valueType="num">
                                      <p:cBhvr>
                                        <p:cTn id="5" dur="500" fill="hold"/>
                                        <p:tgtEl>
                                          <p:spTgt spid="8"/>
                                        </p:tgtEl>
                                        <p:attrNameLst>
                                          <p:attrName>ppt_x</p:attrName>
                                        </p:attrNameLst>
                                      </p:cBhvr>
                                      <p:tavLst>
                                        <p:tav tm="0">
                                          <p:val>
                                            <p:strVal val="#ppt_x"/>
                                          </p:val>
                                        </p:tav>
                                        <p:tav tm="100000">
                                          <p:val>
                                            <p:strVal val="#ppt_x"/>
                                          </p:val>
                                        </p:tav>
                                      </p:tavLst>
                                    </p:anim>
                                    <p:anim calcmode="lin" valueType="num">
                                      <p:cBhvr>
                                        <p:cTn id="6"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ppt_x</p:attrName>
                                        </p:attrNameLst>
                                      </p:cBhvr>
                                      <p:tavLst>
                                        <p:tav tm="0">
                                          <p:val>
                                            <p:strVal val="#ppt_x"/>
                                          </p:val>
                                        </p:tav>
                                        <p:tav tm="100000">
                                          <p:val>
                                            <p:strVal val="#ppt_x"/>
                                          </p:val>
                                        </p:tav>
                                      </p:tavLst>
                                    </p:anim>
                                    <p:anim calcmode="lin" valueType="num">
                                      <p:cBhvr>
                                        <p:cTn id="1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ppt_x</p:attrName>
                                        </p:attrNameLst>
                                      </p:cBhvr>
                                      <p:tavLst>
                                        <p:tav tm="0">
                                          <p:val>
                                            <p:strVal val="#ppt_x"/>
                                          </p:val>
                                        </p:tav>
                                        <p:tav tm="100000">
                                          <p:val>
                                            <p:strVal val="#ppt_x"/>
                                          </p:val>
                                        </p:tav>
                                      </p:tavLst>
                                    </p:anim>
                                    <p:anim calcmode="lin" valueType="num">
                                      <p:cBhvr>
                                        <p:cTn id="2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ppt_x</p:attrName>
                                        </p:attrNameLst>
                                      </p:cBhvr>
                                      <p:tavLst>
                                        <p:tav tm="0">
                                          <p:val>
                                            <p:strVal val="#ppt_x"/>
                                          </p:val>
                                        </p:tav>
                                        <p:tav tm="100000">
                                          <p:val>
                                            <p:strVal val="#ppt_x"/>
                                          </p:val>
                                        </p:tav>
                                      </p:tavLst>
                                    </p:anim>
                                    <p:anim calcmode="lin" valueType="num">
                                      <p:cBhvr>
                                        <p:cTn id="27"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anim calcmode="lin" valueType="num">
                                      <p:cBhvr>
                                        <p:cTn id="33" dur="500" fill="hold"/>
                                        <p:tgtEl>
                                          <p:spTgt spid="16"/>
                                        </p:tgtEl>
                                        <p:attrNameLst>
                                          <p:attrName>ppt_x</p:attrName>
                                        </p:attrNameLst>
                                      </p:cBhvr>
                                      <p:tavLst>
                                        <p:tav tm="0">
                                          <p:val>
                                            <p:strVal val="#ppt_x"/>
                                          </p:val>
                                        </p:tav>
                                        <p:tav tm="100000">
                                          <p:val>
                                            <p:strVal val="#ppt_x"/>
                                          </p:val>
                                        </p:tav>
                                      </p:tavLst>
                                    </p:anim>
                                    <p:anim calcmode="lin" valueType="num">
                                      <p:cBhvr>
                                        <p:cTn id="34"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anim calcmode="lin" valueType="num">
                                      <p:cBhvr>
                                        <p:cTn id="40" dur="500" fill="hold"/>
                                        <p:tgtEl>
                                          <p:spTgt spid="18"/>
                                        </p:tgtEl>
                                        <p:attrNameLst>
                                          <p:attrName>ppt_x</p:attrName>
                                        </p:attrNameLst>
                                      </p:cBhvr>
                                      <p:tavLst>
                                        <p:tav tm="0">
                                          <p:val>
                                            <p:strVal val="#ppt_x"/>
                                          </p:val>
                                        </p:tav>
                                        <p:tav tm="100000">
                                          <p:val>
                                            <p:strVal val="#ppt_x"/>
                                          </p:val>
                                        </p:tav>
                                      </p:tavLst>
                                    </p:anim>
                                    <p:anim calcmode="lin" valueType="num">
                                      <p:cBhvr>
                                        <p:cTn id="4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anim calcmode="lin" valueType="num">
                                      <p:cBhvr>
                                        <p:cTn id="47" dur="500" fill="hold"/>
                                        <p:tgtEl>
                                          <p:spTgt spid="20"/>
                                        </p:tgtEl>
                                        <p:attrNameLst>
                                          <p:attrName>ppt_x</p:attrName>
                                        </p:attrNameLst>
                                      </p:cBhvr>
                                      <p:tavLst>
                                        <p:tav tm="0">
                                          <p:val>
                                            <p:strVal val="#ppt_x"/>
                                          </p:val>
                                        </p:tav>
                                        <p:tav tm="100000">
                                          <p:val>
                                            <p:strVal val="#ppt_x"/>
                                          </p:val>
                                        </p:tav>
                                      </p:tavLst>
                                    </p:anim>
                                    <p:anim calcmode="lin" valueType="num">
                                      <p:cBhvr>
                                        <p:cTn id="48"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anim calcmode="lin" valueType="num">
                                      <p:cBhvr>
                                        <p:cTn id="54" dur="500" fill="hold"/>
                                        <p:tgtEl>
                                          <p:spTgt spid="22"/>
                                        </p:tgtEl>
                                        <p:attrNameLst>
                                          <p:attrName>ppt_x</p:attrName>
                                        </p:attrNameLst>
                                      </p:cBhvr>
                                      <p:tavLst>
                                        <p:tav tm="0">
                                          <p:val>
                                            <p:strVal val="#ppt_x"/>
                                          </p:val>
                                        </p:tav>
                                        <p:tav tm="100000">
                                          <p:val>
                                            <p:strVal val="#ppt_x"/>
                                          </p:val>
                                        </p:tav>
                                      </p:tavLst>
                                    </p:anim>
                                    <p:anim calcmode="lin" valueType="num">
                                      <p:cBhvr>
                                        <p:cTn id="55"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p:tgtEl>
                                          <p:spTgt spid="24"/>
                                        </p:tgtEl>
                                        <p:attrNameLst>
                                          <p:attrName>ppt_x</p:attrName>
                                        </p:attrNameLst>
                                      </p:cBhvr>
                                      <p:tavLst>
                                        <p:tav tm="0">
                                          <p:val>
                                            <p:strVal val="#ppt_x"/>
                                          </p:val>
                                        </p:tav>
                                        <p:tav tm="100000">
                                          <p:val>
                                            <p:strVal val="#ppt_x"/>
                                          </p:val>
                                        </p:tav>
                                      </p:tavLst>
                                    </p:anim>
                                    <p:anim calcmode="lin" valueType="num">
                                      <p:cBhvr>
                                        <p:cTn id="62" dur="5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anim calcmode="lin" valueType="num">
                                      <p:cBhvr>
                                        <p:cTn id="68" dur="500" fill="hold"/>
                                        <p:tgtEl>
                                          <p:spTgt spid="26"/>
                                        </p:tgtEl>
                                        <p:attrNameLst>
                                          <p:attrName>ppt_x</p:attrName>
                                        </p:attrNameLst>
                                      </p:cBhvr>
                                      <p:tavLst>
                                        <p:tav tm="0">
                                          <p:val>
                                            <p:strVal val="#ppt_x"/>
                                          </p:val>
                                        </p:tav>
                                        <p:tav tm="100000">
                                          <p:val>
                                            <p:strVal val="#ppt_x"/>
                                          </p:val>
                                        </p:tav>
                                      </p:tavLst>
                                    </p:anim>
                                    <p:anim calcmode="lin" valueType="num">
                                      <p:cBhvr>
                                        <p:cTn id="69" dur="5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anim calcmode="lin" valueType="num">
                                      <p:cBhvr>
                                        <p:cTn id="75" dur="500" fill="hold"/>
                                        <p:tgtEl>
                                          <p:spTgt spid="31"/>
                                        </p:tgtEl>
                                        <p:attrNameLst>
                                          <p:attrName>ppt_x</p:attrName>
                                        </p:attrNameLst>
                                      </p:cBhvr>
                                      <p:tavLst>
                                        <p:tav tm="0">
                                          <p:val>
                                            <p:strVal val="#ppt_x"/>
                                          </p:val>
                                        </p:tav>
                                        <p:tav tm="100000">
                                          <p:val>
                                            <p:strVal val="#ppt_x"/>
                                          </p:val>
                                        </p:tav>
                                      </p:tavLst>
                                    </p:anim>
                                    <p:anim calcmode="lin" valueType="num">
                                      <p:cBhvr>
                                        <p:cTn id="7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42" presetClass="entr" presetSubtype="0" fill="hold"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anim calcmode="lin" valueType="num">
                                      <p:cBhvr>
                                        <p:cTn id="82" dur="500" fill="hold"/>
                                        <p:tgtEl>
                                          <p:spTgt spid="33"/>
                                        </p:tgtEl>
                                        <p:attrNameLst>
                                          <p:attrName>ppt_x</p:attrName>
                                        </p:attrNameLst>
                                      </p:cBhvr>
                                      <p:tavLst>
                                        <p:tav tm="0">
                                          <p:val>
                                            <p:strVal val="#ppt_x"/>
                                          </p:val>
                                        </p:tav>
                                        <p:tav tm="100000">
                                          <p:val>
                                            <p:strVal val="#ppt_x"/>
                                          </p:val>
                                        </p:tav>
                                      </p:tavLst>
                                    </p:anim>
                                    <p:anim calcmode="lin" valueType="num">
                                      <p:cBhvr>
                                        <p:cTn id="83"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1" presetID="42" presetClass="entr" presetSubtype="0" fill="hold" nodeType="click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500"/>
                                        <p:tgtEl>
                                          <p:spTgt spid="35"/>
                                        </p:tgtEl>
                                      </p:cBhvr>
                                    </p:animEffect>
                                    <p:anim calcmode="lin" valueType="num">
                                      <p:cBhvr>
                                        <p:cTn id="89" dur="500" fill="hold"/>
                                        <p:tgtEl>
                                          <p:spTgt spid="35"/>
                                        </p:tgtEl>
                                        <p:attrNameLst>
                                          <p:attrName>ppt_x</p:attrName>
                                        </p:attrNameLst>
                                      </p:cBhvr>
                                      <p:tavLst>
                                        <p:tav tm="0">
                                          <p:val>
                                            <p:strVal val="#ppt_x"/>
                                          </p:val>
                                        </p:tav>
                                        <p:tav tm="100000">
                                          <p:val>
                                            <p:strVal val="#ppt_x"/>
                                          </p:val>
                                        </p:tav>
                                      </p:tavLst>
                                    </p:anim>
                                    <p:anim calcmode="lin" valueType="num">
                                      <p:cBhvr>
                                        <p:cTn id="90"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98" presetID="42" presetClass="entr" presetSubtype="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anim calcmode="lin" valueType="num">
                                      <p:cBhvr>
                                        <p:cTn id="96" dur="500" fill="hold"/>
                                        <p:tgtEl>
                                          <p:spTgt spid="37"/>
                                        </p:tgtEl>
                                        <p:attrNameLst>
                                          <p:attrName>ppt_x</p:attrName>
                                        </p:attrNameLst>
                                      </p:cBhvr>
                                      <p:tavLst>
                                        <p:tav tm="0">
                                          <p:val>
                                            <p:strVal val="#ppt_x"/>
                                          </p:val>
                                        </p:tav>
                                        <p:tav tm="100000">
                                          <p:val>
                                            <p:strVal val="#ppt_x"/>
                                          </p:val>
                                        </p:tav>
                                      </p:tavLst>
                                    </p:anim>
                                    <p:anim calcmode="lin" valueType="num">
                                      <p:cBhvr>
                                        <p:cTn id="97" dur="5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5" presetID="42"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500"/>
                                        <p:tgtEl>
                                          <p:spTgt spid="39"/>
                                        </p:tgtEl>
                                      </p:cBhvr>
                                    </p:animEffect>
                                    <p:anim calcmode="lin" valueType="num">
                                      <p:cBhvr>
                                        <p:cTn id="103" dur="500" fill="hold"/>
                                        <p:tgtEl>
                                          <p:spTgt spid="39"/>
                                        </p:tgtEl>
                                        <p:attrNameLst>
                                          <p:attrName>ppt_x</p:attrName>
                                        </p:attrNameLst>
                                      </p:cBhvr>
                                      <p:tavLst>
                                        <p:tav tm="0">
                                          <p:val>
                                            <p:strVal val="#ppt_x"/>
                                          </p:val>
                                        </p:tav>
                                        <p:tav tm="100000">
                                          <p:val>
                                            <p:strVal val="#ppt_x"/>
                                          </p:val>
                                        </p:tav>
                                      </p:tavLst>
                                    </p:anim>
                                    <p:anim calcmode="lin" valueType="num">
                                      <p:cBhvr>
                                        <p:cTn id="104"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2" presetID="42" presetClass="entr" presetSubtype="0" fill="hold" nodeType="click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500"/>
                                        <p:tgtEl>
                                          <p:spTgt spid="41"/>
                                        </p:tgtEl>
                                      </p:cBhvr>
                                    </p:animEffect>
                                    <p:anim calcmode="lin" valueType="num">
                                      <p:cBhvr>
                                        <p:cTn id="110" dur="500" fill="hold"/>
                                        <p:tgtEl>
                                          <p:spTgt spid="41"/>
                                        </p:tgtEl>
                                        <p:attrNameLst>
                                          <p:attrName>ppt_x</p:attrName>
                                        </p:attrNameLst>
                                      </p:cBhvr>
                                      <p:tavLst>
                                        <p:tav tm="0">
                                          <p:val>
                                            <p:strVal val="#ppt_x"/>
                                          </p:val>
                                        </p:tav>
                                        <p:tav tm="100000">
                                          <p:val>
                                            <p:strVal val="#ppt_x"/>
                                          </p:val>
                                        </p:tav>
                                      </p:tavLst>
                                    </p:anim>
                                    <p:anim calcmode="lin" valueType="num">
                                      <p:cBhvr>
                                        <p:cTn id="111" dur="5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9" presetID="42" presetClass="entr" presetSubtype="0" fill="hold" nodeType="click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500"/>
                                        <p:tgtEl>
                                          <p:spTgt spid="43"/>
                                        </p:tgtEl>
                                      </p:cBhvr>
                                    </p:animEffect>
                                    <p:anim calcmode="lin" valueType="num">
                                      <p:cBhvr>
                                        <p:cTn id="117" dur="500" fill="hold"/>
                                        <p:tgtEl>
                                          <p:spTgt spid="43"/>
                                        </p:tgtEl>
                                        <p:attrNameLst>
                                          <p:attrName>ppt_x</p:attrName>
                                        </p:attrNameLst>
                                      </p:cBhvr>
                                      <p:tavLst>
                                        <p:tav tm="0">
                                          <p:val>
                                            <p:strVal val="#ppt_x"/>
                                          </p:val>
                                        </p:tav>
                                        <p:tav tm="100000">
                                          <p:val>
                                            <p:strVal val="#ppt_x"/>
                                          </p:val>
                                        </p:tav>
                                      </p:tavLst>
                                    </p:anim>
                                    <p:anim calcmode="lin" valueType="num">
                                      <p:cBhvr>
                                        <p:cTn id="118"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6" presetID="42" presetClass="entr" presetSubtype="0" fill="hold" nodeType="click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anim calcmode="lin" valueType="num">
                                      <p:cBhvr>
                                        <p:cTn id="124" dur="500" fill="hold"/>
                                        <p:tgtEl>
                                          <p:spTgt spid="45"/>
                                        </p:tgtEl>
                                        <p:attrNameLst>
                                          <p:attrName>ppt_x</p:attrName>
                                        </p:attrNameLst>
                                      </p:cBhvr>
                                      <p:tavLst>
                                        <p:tav tm="0">
                                          <p:val>
                                            <p:strVal val="#ppt_x"/>
                                          </p:val>
                                        </p:tav>
                                        <p:tav tm="100000">
                                          <p:val>
                                            <p:strVal val="#ppt_x"/>
                                          </p:val>
                                        </p:tav>
                                      </p:tavLst>
                                    </p:anim>
                                    <p:anim calcmode="lin" valueType="num">
                                      <p:cBhvr>
                                        <p:cTn id="125"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3" presetID="42" presetClass="entr" presetSubtype="0" fill="hold"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500"/>
                                        <p:tgtEl>
                                          <p:spTgt spid="47"/>
                                        </p:tgtEl>
                                      </p:cBhvr>
                                    </p:animEffect>
                                    <p:anim calcmode="lin" valueType="num">
                                      <p:cBhvr>
                                        <p:cTn id="131" dur="500" fill="hold"/>
                                        <p:tgtEl>
                                          <p:spTgt spid="47"/>
                                        </p:tgtEl>
                                        <p:attrNameLst>
                                          <p:attrName>ppt_x</p:attrName>
                                        </p:attrNameLst>
                                      </p:cBhvr>
                                      <p:tavLst>
                                        <p:tav tm="0">
                                          <p:val>
                                            <p:strVal val="#ppt_x"/>
                                          </p:val>
                                        </p:tav>
                                        <p:tav tm="100000">
                                          <p:val>
                                            <p:strVal val="#ppt_x"/>
                                          </p:val>
                                        </p:tav>
                                      </p:tavLst>
                                    </p:anim>
                                    <p:anim calcmode="lin" valueType="num">
                                      <p:cBhvr>
                                        <p:cTn id="132" dur="5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0" presetID="42" presetClass="entr" presetSubtype="0" fill="hold" nodeType="click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500"/>
                                        <p:tgtEl>
                                          <p:spTgt spid="49"/>
                                        </p:tgtEl>
                                      </p:cBhvr>
                                    </p:animEffect>
                                    <p:anim calcmode="lin" valueType="num">
                                      <p:cBhvr>
                                        <p:cTn id="138" dur="500" fill="hold"/>
                                        <p:tgtEl>
                                          <p:spTgt spid="49"/>
                                        </p:tgtEl>
                                        <p:attrNameLst>
                                          <p:attrName>ppt_x</p:attrName>
                                        </p:attrNameLst>
                                      </p:cBhvr>
                                      <p:tavLst>
                                        <p:tav tm="0">
                                          <p:val>
                                            <p:strVal val="#ppt_x"/>
                                          </p:val>
                                        </p:tav>
                                        <p:tav tm="100000">
                                          <p:val>
                                            <p:strVal val="#ppt_x"/>
                                          </p:val>
                                        </p:tav>
                                      </p:tavLst>
                                    </p:anim>
                                    <p:anim calcmode="lin" valueType="num">
                                      <p:cBhvr>
                                        <p:cTn id="139" dur="5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47" presetID="42" presetClass="entr" presetSubtype="0" fill="hold" nodeType="click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500"/>
                                        <p:tgtEl>
                                          <p:spTgt spid="50"/>
                                        </p:tgtEl>
                                      </p:cBhvr>
                                    </p:animEffect>
                                    <p:anim calcmode="lin" valueType="num">
                                      <p:cBhvr>
                                        <p:cTn id="145" dur="500" fill="hold"/>
                                        <p:tgtEl>
                                          <p:spTgt spid="50"/>
                                        </p:tgtEl>
                                        <p:attrNameLst>
                                          <p:attrName>ppt_x</p:attrName>
                                        </p:attrNameLst>
                                      </p:cBhvr>
                                      <p:tavLst>
                                        <p:tav tm="0">
                                          <p:val>
                                            <p:strVal val="#ppt_x"/>
                                          </p:val>
                                        </p:tav>
                                        <p:tav tm="100000">
                                          <p:val>
                                            <p:strVal val="#ppt_x"/>
                                          </p:val>
                                        </p:tav>
                                      </p:tavLst>
                                    </p:anim>
                                    <p:anim calcmode="lin" valueType="num">
                                      <p:cBhvr>
                                        <p:cTn id="146" dur="5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4" presetID="42" presetClass="entr" presetSubtype="0" fill="hold" nodeType="clickEffect">
                                  <p:stCondLst>
                                    <p:cond delay="0"/>
                                  </p:stCondLst>
                                  <p:childTnLst>
                                    <p:set>
                                      <p:cBhvr>
                                        <p:cTn id="150" dur="1" fill="hold">
                                          <p:stCondLst>
                                            <p:cond delay="0"/>
                                          </p:stCondLst>
                                        </p:cTn>
                                        <p:tgtEl>
                                          <p:spTgt spid="51"/>
                                        </p:tgtEl>
                                        <p:attrNameLst>
                                          <p:attrName>style.visibility</p:attrName>
                                        </p:attrNameLst>
                                      </p:cBhvr>
                                      <p:to>
                                        <p:strVal val="visible"/>
                                      </p:to>
                                    </p:set>
                                    <p:animEffect transition="in" filter="fade">
                                      <p:cBhvr>
                                        <p:cTn id="151" dur="500"/>
                                        <p:tgtEl>
                                          <p:spTgt spid="51"/>
                                        </p:tgtEl>
                                      </p:cBhvr>
                                    </p:animEffect>
                                    <p:anim calcmode="lin" valueType="num">
                                      <p:cBhvr>
                                        <p:cTn id="152" dur="500" fill="hold"/>
                                        <p:tgtEl>
                                          <p:spTgt spid="51"/>
                                        </p:tgtEl>
                                        <p:attrNameLst>
                                          <p:attrName>ppt_x</p:attrName>
                                        </p:attrNameLst>
                                      </p:cBhvr>
                                      <p:tavLst>
                                        <p:tav tm="0">
                                          <p:val>
                                            <p:strVal val="#ppt_x"/>
                                          </p:val>
                                        </p:tav>
                                        <p:tav tm="100000">
                                          <p:val>
                                            <p:strVal val="#ppt_x"/>
                                          </p:val>
                                        </p:tav>
                                      </p:tavLst>
                                    </p:anim>
                                    <p:anim calcmode="lin" valueType="num">
                                      <p:cBhvr>
                                        <p:cTn id="153" dur="5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2.2 · Question 4 · SE p. 297</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Does this hold for any linear function?</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Counterexample: </a:t>
            </a:r>
            <a:r>
              <a:rPr lang="en-US" sz="1950" dirty="0" i="1">
                <a:solidFill>
                  <a:srgbClr val="16171D"/>
                </a:solidFill>
                <a:latin typeface="Cambria"/>
                <a:cs typeface="Cambria"/>
              </a:rPr>
              <a:t xml:space="preserve">m</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endParaRPr lang="en-US" sz="1950" dirty="0"/>
          </a:p>
        </p:txBody>
      </p:sp>
      <p:sp>
        <p:nvSpPr>
          <p:cNvPr id="5" name="Shape 5"/>
          <p:cNvSpPr txBox="1"/>
          <p:nvPr/>
        </p:nvSpPr>
        <p:spPr>
          <a:xfrm>
            <a:off x="685800" y="2065782"/>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b="1">
                <a:solidFill>
                  <a:srgbClr val="4F8A3C"/>
                </a:solidFill>
                <a:latin typeface="Cambria"/>
                <a:cs typeface="Cambria"/>
              </a:rPr>
              <a:t xml:space="preserve">3 · </a:t>
            </a:r>
            <a:r>
              <a:rPr lang="en-US" sz="2325" dirty="0" b="1" i="1">
                <a:solidFill>
                  <a:srgbClr val="4F8A3C"/>
                </a:solidFill>
                <a:latin typeface="Cambria"/>
                <a:cs typeface="Cambria"/>
              </a:rPr>
              <a:t xml:space="preserve">m</a:t>
            </a:r>
            <a:r>
              <a:rPr lang="en-US" sz="2325" dirty="0" b="1">
                <a:solidFill>
                  <a:srgbClr val="4F8A3C"/>
                </a:solidFill>
                <a:latin typeface="Cambria"/>
                <a:cs typeface="Cambria"/>
              </a:rPr>
              <a:t xml:space="preserve">(</a:t>
            </a:r>
            <a:r>
              <a:rPr lang="en-US" sz="2325" dirty="0" b="1" i="1">
                <a:solidFill>
                  <a:srgbClr val="4F8A3C"/>
                </a:solidFill>
                <a:latin typeface="Cambria"/>
                <a:cs typeface="Cambria"/>
              </a:rPr>
              <a:t xml:space="preserve">x</a:t>
            </a:r>
            <a:r>
              <a:rPr lang="en-US" sz="2325" dirty="0" b="1">
                <a:solidFill>
                  <a:srgbClr val="4F8A3C"/>
                </a:solidFill>
                <a:latin typeface="Cambria"/>
                <a:cs typeface="Cambria"/>
              </a:rPr>
              <a:t xml:space="preserve">) = 6</a:t>
            </a:r>
            <a:r>
              <a:rPr lang="en-US" sz="2325" dirty="0" b="1" i="1">
                <a:solidFill>
                  <a:srgbClr val="4F8A3C"/>
                </a:solidFill>
                <a:latin typeface="Cambria"/>
                <a:cs typeface="Cambria"/>
              </a:rPr>
              <a:t xml:space="preserve">x</a:t>
            </a:r>
            <a:r>
              <a:rPr lang="en-US" sz="2325" dirty="0" b="1">
                <a:solidFill>
                  <a:srgbClr val="4F8A3C"/>
                </a:solidFill>
                <a:latin typeface="Cambria"/>
                <a:cs typeface="Cambria"/>
              </a:rPr>
              <a:t xml:space="preserve"> − 3</a:t>
            </a:r>
            <a:endParaRPr lang="en-US" sz="2325" dirty="0"/>
          </a:p>
        </p:txBody>
      </p:sp>
      <p:sp>
        <p:nvSpPr>
          <p:cNvPr id="6" name="Shape 6"/>
          <p:cNvSpPr txBox="1"/>
          <p:nvPr/>
        </p:nvSpPr>
        <p:spPr>
          <a:xfrm>
            <a:off x="685800" y="2679954"/>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b="1" i="1">
                <a:solidFill>
                  <a:srgbClr val="7A4FC4"/>
                </a:solidFill>
                <a:latin typeface="Cambria"/>
                <a:cs typeface="Cambria"/>
              </a:rPr>
              <a:t xml:space="preserve">m</a:t>
            </a:r>
            <a:r>
              <a:rPr lang="en-US" sz="2325" dirty="0" b="1">
                <a:solidFill>
                  <a:srgbClr val="7A4FC4"/>
                </a:solidFill>
                <a:latin typeface="Cambria"/>
                <a:cs typeface="Cambria"/>
              </a:rPr>
              <a:t xml:space="preserve">(3</a:t>
            </a:r>
            <a:r>
              <a:rPr lang="en-US" sz="2325" dirty="0" b="1" i="1">
                <a:solidFill>
                  <a:srgbClr val="7A4FC4"/>
                </a:solidFill>
                <a:latin typeface="Cambria"/>
                <a:cs typeface="Cambria"/>
              </a:rPr>
              <a:t xml:space="preserve">x</a:t>
            </a:r>
            <a:r>
              <a:rPr lang="en-US" sz="2325" dirty="0" b="1">
                <a:solidFill>
                  <a:srgbClr val="7A4FC4"/>
                </a:solidFill>
                <a:latin typeface="Cambria"/>
                <a:cs typeface="Cambria"/>
              </a:rPr>
              <a:t xml:space="preserve">) = 6</a:t>
            </a:r>
            <a:r>
              <a:rPr lang="en-US" sz="2325" dirty="0" b="1" i="1">
                <a:solidFill>
                  <a:srgbClr val="7A4FC4"/>
                </a:solidFill>
                <a:latin typeface="Cambria"/>
                <a:cs typeface="Cambria"/>
              </a:rPr>
              <a:t xml:space="preserve">x</a:t>
            </a:r>
            <a:r>
              <a:rPr lang="en-US" sz="2325" dirty="0" b="1">
                <a:solidFill>
                  <a:srgbClr val="7A4FC4"/>
                </a:solidFill>
                <a:latin typeface="Cambria"/>
                <a:cs typeface="Cambria"/>
              </a:rPr>
              <a:t xml:space="preserve"> − 1</a:t>
            </a:r>
            <a:endParaRPr lang="en-US" sz="2325" dirty="0"/>
          </a:p>
        </p:txBody>
      </p:sp>
      <p:sp>
        <p:nvSpPr>
          <p:cNvPr id="7" name="Shape 7"/>
          <p:cNvSpPr txBox="1"/>
          <p:nvPr/>
        </p:nvSpPr>
        <p:spPr>
          <a:xfrm>
            <a:off x="685800" y="329412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No.</a:t>
            </a:r>
            <a:r>
              <a:rPr lang="en-US" sz="1575" dirty="0">
                <a:solidFill>
                  <a:srgbClr val="16171D"/>
                </a:solidFill>
                <a:latin typeface="Segoe UI"/>
                <a:cs typeface="Segoe UI"/>
              </a:rPr>
              <a:t xml:space="preserve"> The graphs are parallel, not the same. It works only for the parent function.</a:t>
            </a:r>
            <a:endParaRPr lang="en-US" sz="1575" dirty="0"/>
          </a:p>
        </p:txBody>
      </p:sp>
      <p:sp>
        <p:nvSpPr>
          <p:cNvPr id="8" name="Shape 8"/>
          <p:cNvSpPr/>
          <p:nvPr/>
        </p:nvSpPr>
        <p:spPr>
          <a:xfrm>
            <a:off x="6286348" y="1618488"/>
            <a:ext cx="314325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9" name="Line 9"/>
          <p:cNvCxnSpPr/>
          <p:nvPr/>
        </p:nvCxnSpPr>
        <p:spPr>
          <a:xfrm>
            <a:off x="6610198" y="1732788"/>
            <a:ext cx="0" cy="2876550"/>
          </a:xfrm>
          <a:prstGeom prst="line">
            <a:avLst/>
          </a:prstGeom>
          <a:ln w="9525" cap="flat">
            <a:solidFill>
              <a:srgbClr val="E6E8F2"/>
            </a:solidFill>
          </a:ln>
        </p:spPr>
      </p:cxnSp>
      <p:cxnSp>
        <p:nvCxnSpPr>
          <p:cNvPr id="10" name="Line 10"/>
          <p:cNvCxnSpPr/>
          <p:nvPr/>
        </p:nvCxnSpPr>
        <p:spPr>
          <a:xfrm>
            <a:off x="6948335" y="1732788"/>
            <a:ext cx="0" cy="2876550"/>
          </a:xfrm>
          <a:prstGeom prst="line">
            <a:avLst/>
          </a:prstGeom>
          <a:ln w="9525" cap="flat">
            <a:solidFill>
              <a:srgbClr val="E6E8F2"/>
            </a:solidFill>
          </a:ln>
        </p:spPr>
      </p:cxnSp>
      <p:cxnSp>
        <p:nvCxnSpPr>
          <p:cNvPr id="11" name="Line 11"/>
          <p:cNvCxnSpPr/>
          <p:nvPr/>
        </p:nvCxnSpPr>
        <p:spPr>
          <a:xfrm>
            <a:off x="7286473" y="1732788"/>
            <a:ext cx="0" cy="2876550"/>
          </a:xfrm>
          <a:prstGeom prst="line">
            <a:avLst/>
          </a:prstGeom>
          <a:ln w="9525" cap="flat">
            <a:solidFill>
              <a:srgbClr val="E6E8F2"/>
            </a:solidFill>
          </a:ln>
        </p:spPr>
      </p:cxnSp>
      <p:cxnSp>
        <p:nvCxnSpPr>
          <p:cNvPr id="12" name="Line 12"/>
          <p:cNvCxnSpPr/>
          <p:nvPr/>
        </p:nvCxnSpPr>
        <p:spPr>
          <a:xfrm>
            <a:off x="7624610" y="1732788"/>
            <a:ext cx="0" cy="2876550"/>
          </a:xfrm>
          <a:prstGeom prst="line">
            <a:avLst/>
          </a:prstGeom>
          <a:ln w="9525" cap="flat">
            <a:solidFill>
              <a:srgbClr val="E6E8F2"/>
            </a:solidFill>
          </a:ln>
        </p:spPr>
      </p:cxnSp>
      <p:cxnSp>
        <p:nvCxnSpPr>
          <p:cNvPr id="13" name="Line 13"/>
          <p:cNvCxnSpPr/>
          <p:nvPr/>
        </p:nvCxnSpPr>
        <p:spPr>
          <a:xfrm>
            <a:off x="7962748" y="1732788"/>
            <a:ext cx="0" cy="2876550"/>
          </a:xfrm>
          <a:prstGeom prst="line">
            <a:avLst/>
          </a:prstGeom>
          <a:ln w="9525" cap="flat">
            <a:solidFill>
              <a:srgbClr val="E6E8F2"/>
            </a:solidFill>
          </a:ln>
        </p:spPr>
      </p:cxnSp>
      <p:cxnSp>
        <p:nvCxnSpPr>
          <p:cNvPr id="14" name="Line 14"/>
          <p:cNvCxnSpPr/>
          <p:nvPr/>
        </p:nvCxnSpPr>
        <p:spPr>
          <a:xfrm>
            <a:off x="8300885" y="1732788"/>
            <a:ext cx="0" cy="2876550"/>
          </a:xfrm>
          <a:prstGeom prst="line">
            <a:avLst/>
          </a:prstGeom>
          <a:ln w="9525" cap="flat">
            <a:solidFill>
              <a:srgbClr val="E6E8F2"/>
            </a:solidFill>
          </a:ln>
        </p:spPr>
      </p:cxnSp>
      <p:cxnSp>
        <p:nvCxnSpPr>
          <p:cNvPr id="15" name="Line 15"/>
          <p:cNvCxnSpPr/>
          <p:nvPr/>
        </p:nvCxnSpPr>
        <p:spPr>
          <a:xfrm>
            <a:off x="8639023" y="1732788"/>
            <a:ext cx="0" cy="2876550"/>
          </a:xfrm>
          <a:prstGeom prst="line">
            <a:avLst/>
          </a:prstGeom>
          <a:ln w="9525" cap="flat">
            <a:solidFill>
              <a:srgbClr val="E6E8F2"/>
            </a:solidFill>
          </a:ln>
        </p:spPr>
      </p:cxnSp>
      <p:cxnSp>
        <p:nvCxnSpPr>
          <p:cNvPr id="16" name="Line 16"/>
          <p:cNvCxnSpPr/>
          <p:nvPr/>
        </p:nvCxnSpPr>
        <p:spPr>
          <a:xfrm>
            <a:off x="8977160" y="1732788"/>
            <a:ext cx="0" cy="2876550"/>
          </a:xfrm>
          <a:prstGeom prst="line">
            <a:avLst/>
          </a:prstGeom>
          <a:ln w="9525" cap="flat">
            <a:solidFill>
              <a:srgbClr val="E6E8F2"/>
            </a:solidFill>
          </a:ln>
        </p:spPr>
      </p:cxnSp>
      <p:cxnSp>
        <p:nvCxnSpPr>
          <p:cNvPr id="17" name="Line 17"/>
          <p:cNvCxnSpPr/>
          <p:nvPr/>
        </p:nvCxnSpPr>
        <p:spPr>
          <a:xfrm>
            <a:off x="9315298" y="1732788"/>
            <a:ext cx="0" cy="2876550"/>
          </a:xfrm>
          <a:prstGeom prst="line">
            <a:avLst/>
          </a:prstGeom>
          <a:ln w="9525" cap="flat">
            <a:solidFill>
              <a:srgbClr val="E6E8F2"/>
            </a:solidFill>
          </a:ln>
        </p:spPr>
      </p:cxnSp>
      <p:cxnSp>
        <p:nvCxnSpPr>
          <p:cNvPr id="18" name="Line 18"/>
          <p:cNvCxnSpPr/>
          <p:nvPr/>
        </p:nvCxnSpPr>
        <p:spPr>
          <a:xfrm>
            <a:off x="6610198" y="4609338"/>
            <a:ext cx="2705100" cy="0"/>
          </a:xfrm>
          <a:prstGeom prst="line">
            <a:avLst/>
          </a:prstGeom>
          <a:ln w="9525" cap="flat">
            <a:solidFill>
              <a:srgbClr val="E6E8F2"/>
            </a:solidFill>
          </a:ln>
        </p:spPr>
      </p:cxnSp>
      <p:cxnSp>
        <p:nvCxnSpPr>
          <p:cNvPr id="19" name="Line 19"/>
          <p:cNvCxnSpPr/>
          <p:nvPr/>
        </p:nvCxnSpPr>
        <p:spPr>
          <a:xfrm>
            <a:off x="6610198" y="4369625"/>
            <a:ext cx="2705100" cy="0"/>
          </a:xfrm>
          <a:prstGeom prst="line">
            <a:avLst/>
          </a:prstGeom>
          <a:ln w="9525" cap="flat">
            <a:solidFill>
              <a:srgbClr val="E6E8F2"/>
            </a:solidFill>
          </a:ln>
        </p:spPr>
      </p:cxnSp>
      <p:cxnSp>
        <p:nvCxnSpPr>
          <p:cNvPr id="20" name="Line 20"/>
          <p:cNvCxnSpPr/>
          <p:nvPr/>
        </p:nvCxnSpPr>
        <p:spPr>
          <a:xfrm>
            <a:off x="6610198" y="4129913"/>
            <a:ext cx="2705100" cy="0"/>
          </a:xfrm>
          <a:prstGeom prst="line">
            <a:avLst/>
          </a:prstGeom>
          <a:ln w="9525" cap="flat">
            <a:solidFill>
              <a:srgbClr val="E6E8F2"/>
            </a:solidFill>
          </a:ln>
        </p:spPr>
      </p:cxnSp>
      <p:cxnSp>
        <p:nvCxnSpPr>
          <p:cNvPr id="21" name="Line 21"/>
          <p:cNvCxnSpPr/>
          <p:nvPr/>
        </p:nvCxnSpPr>
        <p:spPr>
          <a:xfrm>
            <a:off x="6610198" y="3890200"/>
            <a:ext cx="2705100" cy="0"/>
          </a:xfrm>
          <a:prstGeom prst="line">
            <a:avLst/>
          </a:prstGeom>
          <a:ln w="9525" cap="flat">
            <a:solidFill>
              <a:srgbClr val="E6E8F2"/>
            </a:solidFill>
          </a:ln>
        </p:spPr>
      </p:cxnSp>
      <p:cxnSp>
        <p:nvCxnSpPr>
          <p:cNvPr id="22" name="Line 22"/>
          <p:cNvCxnSpPr/>
          <p:nvPr/>
        </p:nvCxnSpPr>
        <p:spPr>
          <a:xfrm>
            <a:off x="6610198" y="3650488"/>
            <a:ext cx="2705100" cy="0"/>
          </a:xfrm>
          <a:prstGeom prst="line">
            <a:avLst/>
          </a:prstGeom>
          <a:ln w="9525" cap="flat">
            <a:solidFill>
              <a:srgbClr val="E6E8F2"/>
            </a:solidFill>
          </a:ln>
        </p:spPr>
      </p:cxnSp>
      <p:cxnSp>
        <p:nvCxnSpPr>
          <p:cNvPr id="23" name="Line 23"/>
          <p:cNvCxnSpPr/>
          <p:nvPr/>
        </p:nvCxnSpPr>
        <p:spPr>
          <a:xfrm>
            <a:off x="6610198" y="3410776"/>
            <a:ext cx="2705100" cy="0"/>
          </a:xfrm>
          <a:prstGeom prst="line">
            <a:avLst/>
          </a:prstGeom>
          <a:ln w="9525" cap="flat">
            <a:solidFill>
              <a:srgbClr val="E6E8F2"/>
            </a:solidFill>
          </a:ln>
        </p:spPr>
      </p:cxnSp>
      <p:cxnSp>
        <p:nvCxnSpPr>
          <p:cNvPr id="24" name="Line 24"/>
          <p:cNvCxnSpPr/>
          <p:nvPr/>
        </p:nvCxnSpPr>
        <p:spPr>
          <a:xfrm>
            <a:off x="6610198" y="3171063"/>
            <a:ext cx="2705100" cy="0"/>
          </a:xfrm>
          <a:prstGeom prst="line">
            <a:avLst/>
          </a:prstGeom>
          <a:ln w="9525" cap="flat">
            <a:solidFill>
              <a:srgbClr val="E6E8F2"/>
            </a:solidFill>
          </a:ln>
        </p:spPr>
      </p:cxnSp>
      <p:cxnSp>
        <p:nvCxnSpPr>
          <p:cNvPr id="25" name="Line 25"/>
          <p:cNvCxnSpPr/>
          <p:nvPr/>
        </p:nvCxnSpPr>
        <p:spPr>
          <a:xfrm>
            <a:off x="6610198" y="2931350"/>
            <a:ext cx="2705100" cy="0"/>
          </a:xfrm>
          <a:prstGeom prst="line">
            <a:avLst/>
          </a:prstGeom>
          <a:ln w="9525" cap="flat">
            <a:solidFill>
              <a:srgbClr val="E6E8F2"/>
            </a:solidFill>
          </a:ln>
        </p:spPr>
      </p:cxnSp>
      <p:cxnSp>
        <p:nvCxnSpPr>
          <p:cNvPr id="26" name="Line 26"/>
          <p:cNvCxnSpPr/>
          <p:nvPr/>
        </p:nvCxnSpPr>
        <p:spPr>
          <a:xfrm>
            <a:off x="6610198" y="2691638"/>
            <a:ext cx="2705100" cy="0"/>
          </a:xfrm>
          <a:prstGeom prst="line">
            <a:avLst/>
          </a:prstGeom>
          <a:ln w="9525" cap="flat">
            <a:solidFill>
              <a:srgbClr val="E6E8F2"/>
            </a:solidFill>
          </a:ln>
        </p:spPr>
      </p:cxnSp>
      <p:cxnSp>
        <p:nvCxnSpPr>
          <p:cNvPr id="27" name="Line 27"/>
          <p:cNvCxnSpPr/>
          <p:nvPr/>
        </p:nvCxnSpPr>
        <p:spPr>
          <a:xfrm>
            <a:off x="6610198" y="2451926"/>
            <a:ext cx="2705100" cy="0"/>
          </a:xfrm>
          <a:prstGeom prst="line">
            <a:avLst/>
          </a:prstGeom>
          <a:ln w="9525" cap="flat">
            <a:solidFill>
              <a:srgbClr val="E6E8F2"/>
            </a:solidFill>
          </a:ln>
        </p:spPr>
      </p:cxnSp>
      <p:cxnSp>
        <p:nvCxnSpPr>
          <p:cNvPr id="28" name="Line 28"/>
          <p:cNvCxnSpPr/>
          <p:nvPr/>
        </p:nvCxnSpPr>
        <p:spPr>
          <a:xfrm>
            <a:off x="6610198" y="2212213"/>
            <a:ext cx="2705100" cy="0"/>
          </a:xfrm>
          <a:prstGeom prst="line">
            <a:avLst/>
          </a:prstGeom>
          <a:ln w="9525" cap="flat">
            <a:solidFill>
              <a:srgbClr val="E6E8F2"/>
            </a:solidFill>
          </a:ln>
        </p:spPr>
      </p:cxnSp>
      <p:cxnSp>
        <p:nvCxnSpPr>
          <p:cNvPr id="29" name="Line 29"/>
          <p:cNvCxnSpPr/>
          <p:nvPr/>
        </p:nvCxnSpPr>
        <p:spPr>
          <a:xfrm>
            <a:off x="6610198" y="1972500"/>
            <a:ext cx="2705100" cy="0"/>
          </a:xfrm>
          <a:prstGeom prst="line">
            <a:avLst/>
          </a:prstGeom>
          <a:ln w="9525" cap="flat">
            <a:solidFill>
              <a:srgbClr val="E6E8F2"/>
            </a:solidFill>
          </a:ln>
        </p:spPr>
      </p:cxnSp>
      <p:cxnSp>
        <p:nvCxnSpPr>
          <p:cNvPr id="30" name="Line 30"/>
          <p:cNvCxnSpPr/>
          <p:nvPr/>
        </p:nvCxnSpPr>
        <p:spPr>
          <a:xfrm>
            <a:off x="6610198" y="1732788"/>
            <a:ext cx="2705100" cy="0"/>
          </a:xfrm>
          <a:prstGeom prst="line">
            <a:avLst/>
          </a:prstGeom>
          <a:ln w="9525" cap="flat">
            <a:solidFill>
              <a:srgbClr val="E6E8F2"/>
            </a:solidFill>
          </a:ln>
        </p:spPr>
      </p:cxnSp>
      <p:cxnSp>
        <p:nvCxnSpPr>
          <p:cNvPr id="31" name="Line 31"/>
          <p:cNvCxnSpPr/>
          <p:nvPr/>
        </p:nvCxnSpPr>
        <p:spPr>
          <a:xfrm>
            <a:off x="7962748" y="1732788"/>
            <a:ext cx="0" cy="2876550"/>
          </a:xfrm>
          <a:prstGeom prst="line">
            <a:avLst/>
          </a:prstGeom>
          <a:ln w="19050" cap="flat">
            <a:solidFill>
              <a:srgbClr val="5F6272"/>
            </a:solidFill>
          </a:ln>
        </p:spPr>
      </p:cxnSp>
      <p:cxnSp>
        <p:nvCxnSpPr>
          <p:cNvPr id="32" name="Line 32"/>
          <p:cNvCxnSpPr/>
          <p:nvPr/>
        </p:nvCxnSpPr>
        <p:spPr>
          <a:xfrm>
            <a:off x="6610198" y="3171063"/>
            <a:ext cx="2705100" cy="0"/>
          </a:xfrm>
          <a:prstGeom prst="line">
            <a:avLst/>
          </a:prstGeom>
          <a:ln w="19050" cap="flat">
            <a:solidFill>
              <a:srgbClr val="5F6272"/>
            </a:solidFill>
          </a:ln>
        </p:spPr>
      </p:cxnSp>
      <p:sp>
        <p:nvSpPr>
          <p:cNvPr id="33" name="Shape 33"/>
          <p:cNvSpPr txBox="1"/>
          <p:nvPr/>
        </p:nvSpPr>
        <p:spPr>
          <a:xfrm>
            <a:off x="63358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4" name="Shape 34"/>
          <p:cNvSpPr txBox="1"/>
          <p:nvPr/>
        </p:nvSpPr>
        <p:spPr>
          <a:xfrm>
            <a:off x="667401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5" name="Shape 35"/>
          <p:cNvSpPr txBox="1"/>
          <p:nvPr/>
        </p:nvSpPr>
        <p:spPr>
          <a:xfrm>
            <a:off x="701215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6" name="Shape 36"/>
          <p:cNvSpPr txBox="1"/>
          <p:nvPr/>
        </p:nvSpPr>
        <p:spPr>
          <a:xfrm>
            <a:off x="735029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7" name="Shape 37"/>
          <p:cNvSpPr txBox="1"/>
          <p:nvPr/>
        </p:nvSpPr>
        <p:spPr>
          <a:xfrm>
            <a:off x="768842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8" name="Shape 38"/>
          <p:cNvSpPr txBox="1"/>
          <p:nvPr/>
        </p:nvSpPr>
        <p:spPr>
          <a:xfrm>
            <a:off x="8026565"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9" name="Shape 39"/>
          <p:cNvSpPr txBox="1"/>
          <p:nvPr/>
        </p:nvSpPr>
        <p:spPr>
          <a:xfrm>
            <a:off x="8364703"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0" name="Shape 40"/>
          <p:cNvSpPr txBox="1"/>
          <p:nvPr/>
        </p:nvSpPr>
        <p:spPr>
          <a:xfrm>
            <a:off x="8702840"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1" name="Shape 41"/>
          <p:cNvSpPr txBox="1"/>
          <p:nvPr/>
        </p:nvSpPr>
        <p:spPr>
          <a:xfrm>
            <a:off x="9040978" y="4628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2" name="Shape 42"/>
          <p:cNvSpPr txBox="1"/>
          <p:nvPr/>
        </p:nvSpPr>
        <p:spPr>
          <a:xfrm>
            <a:off x="6043270" y="4517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43" name="Shape 43"/>
          <p:cNvSpPr txBox="1"/>
          <p:nvPr/>
        </p:nvSpPr>
        <p:spPr>
          <a:xfrm>
            <a:off x="6043270" y="40384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6043270" y="3559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5" name="Shape 45"/>
          <p:cNvSpPr txBox="1"/>
          <p:nvPr/>
        </p:nvSpPr>
        <p:spPr>
          <a:xfrm>
            <a:off x="6043270" y="3079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6" name="Shape 46"/>
          <p:cNvSpPr txBox="1"/>
          <p:nvPr/>
        </p:nvSpPr>
        <p:spPr>
          <a:xfrm>
            <a:off x="6043270" y="2600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7" name="Shape 47"/>
          <p:cNvSpPr txBox="1"/>
          <p:nvPr/>
        </p:nvSpPr>
        <p:spPr>
          <a:xfrm>
            <a:off x="6043270" y="21207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8" name="Shape 48"/>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cxnSp>
        <p:nvCxnSpPr>
          <p:cNvPr id="49" name="Line 49"/>
          <p:cNvCxnSpPr/>
          <p:nvPr/>
        </p:nvCxnSpPr>
        <p:spPr>
          <a:xfrm flipV="1">
            <a:off x="7117404" y="1732788"/>
            <a:ext cx="2028825" cy="2876550"/>
          </a:xfrm>
          <a:prstGeom prst="line">
            <a:avLst/>
          </a:prstGeom>
          <a:ln w="38100" cap="rnd">
            <a:solidFill>
              <a:srgbClr val="16171D"/>
            </a:solidFill>
          </a:ln>
        </p:spPr>
      </p:cxnSp>
      <p:sp>
        <p:nvSpPr>
          <p:cNvPr id="50" name="Shape 50"/>
          <p:cNvSpPr txBox="1"/>
          <p:nvPr/>
        </p:nvSpPr>
        <p:spPr>
          <a:xfrm>
            <a:off x="6654489"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m(x)</a:t>
            </a:r>
            <a:endParaRPr lang="en-US" sz="1275" dirty="0"/>
          </a:p>
        </p:txBody>
      </p:sp>
      <p:cxnSp>
        <p:nvCxnSpPr>
          <p:cNvPr id="51" name="Line 51"/>
          <p:cNvCxnSpPr/>
          <p:nvPr/>
        </p:nvCxnSpPr>
        <p:spPr>
          <a:xfrm flipV="1">
            <a:off x="7793679" y="1732788"/>
            <a:ext cx="676275" cy="2876550"/>
          </a:xfrm>
          <a:prstGeom prst="line">
            <a:avLst/>
          </a:prstGeom>
          <a:ln w="38100" cap="rnd">
            <a:solidFill>
              <a:srgbClr val="4F8A3C"/>
            </a:solidFill>
          </a:ln>
        </p:spPr>
      </p:cxnSp>
      <p:cxnSp>
        <p:nvCxnSpPr>
          <p:cNvPr id="52" name="Line 52"/>
          <p:cNvCxnSpPr/>
          <p:nvPr/>
        </p:nvCxnSpPr>
        <p:spPr>
          <a:xfrm flipV="1">
            <a:off x="7680966" y="1732788"/>
            <a:ext cx="676275" cy="2876550"/>
          </a:xfrm>
          <a:prstGeom prst="line">
            <a:avLst/>
          </a:prstGeom>
          <a:ln w="38100" cap="rnd">
            <a:solidFill>
              <a:srgbClr val="7A4FC4"/>
            </a:solidFill>
          </a:ln>
        </p:spPr>
      </p:cxnSp>
      <p:sp>
        <p:nvSpPr>
          <p:cNvPr id="53" name="Slide Number 5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left)">
                                      <p:cBhvr>
                                        <p:cTn id="25" dur="700"/>
                                        <p:tgtEl>
                                          <p:spTgt spid="51"/>
                                        </p:tgtEl>
                                      </p:cBhvr>
                                    </p:animEffect>
                                  </p:childTnLst>
                                </p:cTn>
                              </p:par>
                            </p:childTnLst>
                          </p:cTn>
                        </p:par>
                      </p:childTnLst>
                    </p:cTn>
                  </p:par>
                  <p:par>
                    <p:cTn id="32" fill="hold">
                      <p:stCondLst>
                        <p:cond delay="indefinite"/>
                      </p:stCondLst>
                      <p:childTnLst>
                        <p:par>
                          <p:cTn id="33"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wipe(left)">
                                      <p:cBhvr>
                                        <p:cTn id="30" dur="7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2.3 · Graphing Linear Transformations · SE pp. 298–300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Describe each transformation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16171D"/>
                </a:solidFill>
                <a:latin typeface="Cambria"/>
                <a:cs typeface="Cambria"/>
              </a:rPr>
              <a:t xml:space="preserve">x</a:t>
            </a:r>
            <a:endParaRPr lang="en-US" sz="3450" dirty="0"/>
          </a:p>
        </p:txBody>
      </p:sp>
      <p:sp>
        <p:nvSpPr>
          <p:cNvPr id="7" name="Shape 7"/>
          <p:cNvSpPr txBox="1"/>
          <p:nvPr/>
        </p:nvSpPr>
        <p:spPr>
          <a:xfrm>
            <a:off x="685800" y="16184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− 7)</a:t>
            </a:r>
            <a:endParaRPr lang="en-US" sz="2100" dirty="0"/>
          </a:p>
        </p:txBody>
      </p:sp>
      <p:sp>
        <p:nvSpPr>
          <p:cNvPr id="5" name="Shape 5"/>
          <p:cNvSpPr txBox="1"/>
          <p:nvPr/>
        </p:nvSpPr>
        <p:spPr>
          <a:xfrm>
            <a:off x="895350"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Right 7</a:t>
            </a:r>
            <a:endParaRPr lang="en-US" sz="1575" dirty="0"/>
          </a:p>
        </p:txBody>
      </p:sp>
      <p:sp>
        <p:nvSpPr>
          <p:cNvPr id="6" name="Shape 6"/>
          <p:cNvSpPr txBox="1"/>
          <p:nvPr/>
        </p:nvSpPr>
        <p:spPr>
          <a:xfrm>
            <a:off x="895350" y="26502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1" name="Shape 11"/>
          <p:cNvSpPr txBox="1"/>
          <p:nvPr/>
        </p:nvSpPr>
        <p:spPr>
          <a:xfrm>
            <a:off x="4349648" y="16184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3</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9" name="Shape 9"/>
          <p:cNvSpPr txBox="1"/>
          <p:nvPr/>
        </p:nvSpPr>
        <p:spPr>
          <a:xfrm>
            <a:off x="4559198"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Vertical stretch by 3</a:t>
            </a:r>
            <a:endParaRPr lang="en-US" sz="1575" dirty="0"/>
          </a:p>
        </p:txBody>
      </p:sp>
      <p:sp>
        <p:nvSpPr>
          <p:cNvPr id="10" name="Shape 10"/>
          <p:cNvSpPr txBox="1"/>
          <p:nvPr/>
        </p:nvSpPr>
        <p:spPr>
          <a:xfrm>
            <a:off x="4559198" y="26502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endParaRPr lang="en-US" sz="2325" dirty="0"/>
          </a:p>
        </p:txBody>
      </p:sp>
      <p:sp>
        <p:nvSpPr>
          <p:cNvPr id="15" name="Shape 15"/>
          <p:cNvSpPr txBox="1"/>
          <p:nvPr/>
        </p:nvSpPr>
        <p:spPr>
          <a:xfrm>
            <a:off x="8013497" y="16184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+ 2</a:t>
            </a:r>
            <a:endParaRPr lang="en-US" sz="2100" dirty="0"/>
          </a:p>
        </p:txBody>
      </p:sp>
      <p:sp>
        <p:nvSpPr>
          <p:cNvPr id="13" name="Shape 13"/>
          <p:cNvSpPr txBox="1"/>
          <p:nvPr/>
        </p:nvSpPr>
        <p:spPr>
          <a:xfrm>
            <a:off x="8223047"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Up 2</a:t>
            </a:r>
            <a:endParaRPr lang="en-US" sz="1575" dirty="0"/>
          </a:p>
        </p:txBody>
      </p:sp>
      <p:sp>
        <p:nvSpPr>
          <p:cNvPr id="14" name="Shape 14"/>
          <p:cNvSpPr txBox="1"/>
          <p:nvPr/>
        </p:nvSpPr>
        <p:spPr>
          <a:xfrm>
            <a:off x="8223047" y="26502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9" name="Shape 19"/>
          <p:cNvSpPr txBox="1"/>
          <p:nvPr/>
        </p:nvSpPr>
        <p:spPr>
          <a:xfrm>
            <a:off x="685800" y="38282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895350" y="39997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4.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(½</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7" name="Shape 17"/>
          <p:cNvSpPr txBox="1"/>
          <p:nvPr/>
        </p:nvSpPr>
        <p:spPr>
          <a:xfrm>
            <a:off x="895350" y="44698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Horizontal stretch by 2</a:t>
            </a:r>
            <a:endParaRPr lang="en-US" sz="1575" dirty="0"/>
          </a:p>
        </p:txBody>
      </p:sp>
      <p:sp>
        <p:nvSpPr>
          <p:cNvPr id="18" name="Shape 18"/>
          <p:cNvSpPr txBox="1"/>
          <p:nvPr/>
        </p:nvSpPr>
        <p:spPr>
          <a:xfrm>
            <a:off x="895350" y="48600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½</a:t>
            </a:r>
            <a:r>
              <a:rPr lang="en-US" sz="2325" dirty="0" i="1">
                <a:solidFill>
                  <a:srgbClr val="16171D"/>
                </a:solidFill>
                <a:latin typeface="Cambria"/>
                <a:cs typeface="Cambria"/>
              </a:rPr>
              <a:t xml:space="preserve">x</a:t>
            </a:r>
            <a:endParaRPr lang="en-US" sz="2325" dirty="0"/>
          </a:p>
        </p:txBody>
      </p:sp>
      <p:sp>
        <p:nvSpPr>
          <p:cNvPr id="23" name="Shape 23"/>
          <p:cNvSpPr txBox="1"/>
          <p:nvPr/>
        </p:nvSpPr>
        <p:spPr>
          <a:xfrm>
            <a:off x="4349648" y="38282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0" name="Shape 20"/>
          <p:cNvSpPr txBox="1"/>
          <p:nvPr/>
        </p:nvSpPr>
        <p:spPr>
          <a:xfrm>
            <a:off x="4559198" y="39997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5.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− 4</a:t>
            </a:r>
            <a:endParaRPr lang="en-US" sz="2100" dirty="0"/>
          </a:p>
        </p:txBody>
      </p:sp>
      <p:sp>
        <p:nvSpPr>
          <p:cNvPr id="21" name="Shape 21"/>
          <p:cNvSpPr txBox="1"/>
          <p:nvPr/>
        </p:nvSpPr>
        <p:spPr>
          <a:xfrm>
            <a:off x="4559198" y="44698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Down 4</a:t>
            </a:r>
            <a:endParaRPr lang="en-US" sz="1575" dirty="0"/>
          </a:p>
        </p:txBody>
      </p:sp>
      <p:sp>
        <p:nvSpPr>
          <p:cNvPr id="22" name="Shape 22"/>
          <p:cNvSpPr txBox="1"/>
          <p:nvPr/>
        </p:nvSpPr>
        <p:spPr>
          <a:xfrm>
            <a:off x="4559198" y="48600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27" name="Shape 27"/>
          <p:cNvSpPr txBox="1"/>
          <p:nvPr/>
        </p:nvSpPr>
        <p:spPr>
          <a:xfrm>
            <a:off x="8013497" y="3828288"/>
            <a:ext cx="3492398" cy="207645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4" name="Shape 24"/>
          <p:cNvSpPr txBox="1"/>
          <p:nvPr/>
        </p:nvSpPr>
        <p:spPr>
          <a:xfrm>
            <a:off x="8223047" y="39997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6. </a:t>
            </a: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a:t>
            </a:r>
            <a:r>
              <a:rPr lang="en-US" sz="2100" dirty="0" b="1" i="1">
                <a:solidFill>
                  <a:srgbClr val="16171D"/>
                </a:solidFill>
                <a:latin typeface="Cambria"/>
                <a:cs typeface="Cambria"/>
              </a:rPr>
              <a:t xml:space="preserve">f</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 + 5)</a:t>
            </a:r>
            <a:endParaRPr lang="en-US" sz="2100" dirty="0"/>
          </a:p>
        </p:txBody>
      </p:sp>
      <p:sp>
        <p:nvSpPr>
          <p:cNvPr id="25" name="Shape 25"/>
          <p:cNvSpPr txBox="1"/>
          <p:nvPr/>
        </p:nvSpPr>
        <p:spPr>
          <a:xfrm>
            <a:off x="8223047" y="44698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Left 5</a:t>
            </a:r>
            <a:endParaRPr lang="en-US" sz="1575" dirty="0"/>
          </a:p>
        </p:txBody>
      </p:sp>
      <p:sp>
        <p:nvSpPr>
          <p:cNvPr id="26" name="Shape 26"/>
          <p:cNvSpPr txBox="1"/>
          <p:nvPr/>
        </p:nvSpPr>
        <p:spPr>
          <a:xfrm>
            <a:off x="8223047" y="4860036"/>
            <a:ext cx="30732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28" name="Slide Number 2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ppt_x</p:attrName>
                                        </p:attrNameLst>
                                      </p:cBhvr>
                                      <p:tavLst>
                                        <p:tav tm="0">
                                          <p:val>
                                            <p:strVal val="#ppt_x"/>
                                          </p:val>
                                        </p:tav>
                                        <p:tav tm="100000">
                                          <p:val>
                                            <p:strVal val="#ppt_x"/>
                                          </p:val>
                                        </p:tav>
                                      </p:tavLst>
                                    </p:anim>
                                    <p:anim calcmode="lin" valueType="num">
                                      <p:cBhvr>
                                        <p:cTn id="3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anim calcmode="lin" valueType="num">
                                      <p:cBhvr>
                                        <p:cTn id="40" dur="500" fill="hold"/>
                                        <p:tgtEl>
                                          <p:spTgt spid="14"/>
                                        </p:tgtEl>
                                        <p:attrNameLst>
                                          <p:attrName>ppt_w</p:attrName>
                                        </p:attrNameLst>
                                      </p:cBhvr>
                                      <p:tavLst>
                                        <p:tav tm="0">
                                          <p:val>
                                            <p:fltVal val="0"/>
                                          </p:val>
                                        </p:tav>
                                        <p:tav tm="100000">
                                          <p:val>
                                            <p:strVal val="#ppt_w"/>
                                          </p:val>
                                        </p:tav>
                                      </p:tavLst>
                                    </p:anim>
                                    <p:anim calcmode="lin" valueType="num">
                                      <p:cBhvr>
                                        <p:cTn id="41"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anim calcmode="lin" valueType="num">
                                      <p:cBhvr>
                                        <p:cTn id="47" dur="500" fill="hold"/>
                                        <p:tgtEl>
                                          <p:spTgt spid="17"/>
                                        </p:tgtEl>
                                        <p:attrNameLst>
                                          <p:attrName>ppt_x</p:attrName>
                                        </p:attrNameLst>
                                      </p:cBhvr>
                                      <p:tavLst>
                                        <p:tav tm="0">
                                          <p:val>
                                            <p:strVal val="#ppt_x"/>
                                          </p:val>
                                        </p:tav>
                                        <p:tav tm="100000">
                                          <p:val>
                                            <p:strVal val="#ppt_x"/>
                                          </p:val>
                                        </p:tav>
                                      </p:tavLst>
                                    </p:anim>
                                    <p:anim calcmode="lin" valueType="num">
                                      <p:cBhvr>
                                        <p:cTn id="48"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anim calcmode="lin" valueType="num">
                                      <p:cBhvr>
                                        <p:cTn id="54" dur="500" fill="hold"/>
                                        <p:tgtEl>
                                          <p:spTgt spid="18"/>
                                        </p:tgtEl>
                                        <p:attrNameLst>
                                          <p:attrName>ppt_w</p:attrName>
                                        </p:attrNameLst>
                                      </p:cBhvr>
                                      <p:tavLst>
                                        <p:tav tm="0">
                                          <p:val>
                                            <p:fltVal val="0"/>
                                          </p:val>
                                        </p:tav>
                                        <p:tav tm="100000">
                                          <p:val>
                                            <p:strVal val="#ppt_w"/>
                                          </p:val>
                                        </p:tav>
                                      </p:tavLst>
                                    </p:anim>
                                    <p:anim calcmode="lin" valueType="num">
                                      <p:cBhvr>
                                        <p:cTn id="55"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anim calcmode="lin" valueType="num">
                                      <p:cBhvr>
                                        <p:cTn id="61" dur="500" fill="hold"/>
                                        <p:tgtEl>
                                          <p:spTgt spid="21"/>
                                        </p:tgtEl>
                                        <p:attrNameLst>
                                          <p:attrName>ppt_x</p:attrName>
                                        </p:attrNameLst>
                                      </p:cBhvr>
                                      <p:tavLst>
                                        <p:tav tm="0">
                                          <p:val>
                                            <p:strVal val="#ppt_x"/>
                                          </p:val>
                                        </p:tav>
                                        <p:tav tm="100000">
                                          <p:val>
                                            <p:strVal val="#ppt_x"/>
                                          </p:val>
                                        </p:tav>
                                      </p:tavLst>
                                    </p:anim>
                                    <p:anim calcmode="lin" valueType="num">
                                      <p:cBhvr>
                                        <p:cTn id="62"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53" presetClass="entr" presetSubtype="16"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anim calcmode="lin" valueType="num">
                                      <p:cBhvr>
                                        <p:cTn id="68" dur="500" fill="hold"/>
                                        <p:tgtEl>
                                          <p:spTgt spid="22"/>
                                        </p:tgtEl>
                                        <p:attrNameLst>
                                          <p:attrName>ppt_w</p:attrName>
                                        </p:attrNameLst>
                                      </p:cBhvr>
                                      <p:tavLst>
                                        <p:tav tm="0">
                                          <p:val>
                                            <p:fltVal val="0"/>
                                          </p:val>
                                        </p:tav>
                                        <p:tav tm="100000">
                                          <p:val>
                                            <p:strVal val="#ppt_w"/>
                                          </p:val>
                                        </p:tav>
                                      </p:tavLst>
                                    </p:anim>
                                    <p:anim calcmode="lin" valueType="num">
                                      <p:cBhvr>
                                        <p:cTn id="69"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500"/>
                                        <p:tgtEl>
                                          <p:spTgt spid="25"/>
                                        </p:tgtEl>
                                      </p:cBhvr>
                                    </p:animEffect>
                                    <p:anim calcmode="lin" valueType="num">
                                      <p:cBhvr>
                                        <p:cTn id="75" dur="500" fill="hold"/>
                                        <p:tgtEl>
                                          <p:spTgt spid="25"/>
                                        </p:tgtEl>
                                        <p:attrNameLst>
                                          <p:attrName>ppt_x</p:attrName>
                                        </p:attrNameLst>
                                      </p:cBhvr>
                                      <p:tavLst>
                                        <p:tav tm="0">
                                          <p:val>
                                            <p:strVal val="#ppt_x"/>
                                          </p:val>
                                        </p:tav>
                                        <p:tav tm="100000">
                                          <p:val>
                                            <p:strVal val="#ppt_x"/>
                                          </p:val>
                                        </p:tav>
                                      </p:tavLst>
                                    </p:anim>
                                    <p:anim calcmode="lin" valueType="num">
                                      <p:cBhvr>
                                        <p:cTn id="7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53" presetClass="entr" presetSubtype="16"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anim calcmode="lin" valueType="num">
                                      <p:cBhvr>
                                        <p:cTn id="82" dur="500" fill="hold"/>
                                        <p:tgtEl>
                                          <p:spTgt spid="26"/>
                                        </p:tgtEl>
                                        <p:attrNameLst>
                                          <p:attrName>ppt_w</p:attrName>
                                        </p:attrNameLst>
                                      </p:cBhvr>
                                      <p:tavLst>
                                        <p:tav tm="0">
                                          <p:val>
                                            <p:fltVal val="0"/>
                                          </p:val>
                                        </p:tav>
                                        <p:tav tm="100000">
                                          <p:val>
                                            <p:strVal val="#ppt_w"/>
                                          </p:val>
                                        </p:tav>
                                      </p:tavLst>
                                    </p:anim>
                                    <p:anim calcmode="lin" valueType="num">
                                      <p:cBhvr>
                                        <p:cTn id="83" dur="5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Show Me What You've Got · SE p. 301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Match each graph to an equation in terms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a:t>
            </a:r>
            <a:endParaRPr lang="en-US" sz="3450" dirty="0"/>
          </a:p>
        </p:txBody>
      </p:sp>
      <p:sp>
        <p:nvSpPr>
          <p:cNvPr id="6" name="Shape 6"/>
          <p:cNvSpPr txBox="1"/>
          <p:nvPr/>
        </p:nvSpPr>
        <p:spPr>
          <a:xfrm>
            <a:off x="685800" y="1618488"/>
            <a:ext cx="3492398" cy="13319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k</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5" name="Shape 5"/>
          <p:cNvSpPr txBox="1"/>
          <p:nvPr/>
        </p:nvSpPr>
        <p:spPr>
          <a:xfrm>
            <a:off x="895350" y="2260092"/>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9" name="Shape 9"/>
          <p:cNvSpPr txBox="1"/>
          <p:nvPr/>
        </p:nvSpPr>
        <p:spPr>
          <a:xfrm>
            <a:off x="4349648" y="1618488"/>
            <a:ext cx="3492398" cy="13319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h</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8" name="Shape 8"/>
          <p:cNvSpPr txBox="1"/>
          <p:nvPr/>
        </p:nvSpPr>
        <p:spPr>
          <a:xfrm>
            <a:off x="4559198" y="226009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2" name="Shape 12"/>
          <p:cNvSpPr txBox="1"/>
          <p:nvPr/>
        </p:nvSpPr>
        <p:spPr>
          <a:xfrm>
            <a:off x="8013497" y="1618488"/>
            <a:ext cx="3492398" cy="13319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g</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1" name="Shape 11"/>
          <p:cNvSpPr txBox="1"/>
          <p:nvPr/>
        </p:nvSpPr>
        <p:spPr>
          <a:xfrm>
            <a:off x="8223047" y="226009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(⅓</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5" name="Shape 15"/>
          <p:cNvSpPr txBox="1"/>
          <p:nvPr/>
        </p:nvSpPr>
        <p:spPr>
          <a:xfrm>
            <a:off x="685800" y="3083814"/>
            <a:ext cx="3492398" cy="13319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3" name="Shape 13"/>
          <p:cNvSpPr txBox="1"/>
          <p:nvPr/>
        </p:nvSpPr>
        <p:spPr>
          <a:xfrm>
            <a:off x="895350" y="3255264"/>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Cambria"/>
                <a:cs typeface="Cambria"/>
              </a:rPr>
              <a:t xml:space="preserve">j</a:t>
            </a:r>
            <a:r>
              <a:rPr lang="en-US" sz="2100" dirty="0" b="1">
                <a:solidFill>
                  <a:srgbClr val="16171D"/>
                </a:solidFill>
                <a:latin typeface="Cambria"/>
                <a:cs typeface="Cambria"/>
              </a:rPr>
              <a:t xml:space="preserve">(</a:t>
            </a:r>
            <a:r>
              <a:rPr lang="en-US" sz="2100" dirty="0" b="1" i="1">
                <a:solidFill>
                  <a:srgbClr val="16171D"/>
                </a:solidFill>
                <a:latin typeface="Cambria"/>
                <a:cs typeface="Cambria"/>
              </a:rPr>
              <a:t xml:space="preserve">x</a:t>
            </a:r>
            <a:r>
              <a:rPr lang="en-US" sz="2100" dirty="0" b="1">
                <a:solidFill>
                  <a:srgbClr val="16171D"/>
                </a:solidFill>
                <a:latin typeface="Cambria"/>
                <a:cs typeface="Cambria"/>
              </a:rPr>
              <a:t xml:space="preserve">)</a:t>
            </a:r>
            <a:endParaRPr lang="en-US" sz="2100" dirty="0"/>
          </a:p>
        </p:txBody>
      </p:sp>
      <p:sp>
        <p:nvSpPr>
          <p:cNvPr id="14" name="Shape 14"/>
          <p:cNvSpPr txBox="1"/>
          <p:nvPr/>
        </p:nvSpPr>
        <p:spPr>
          <a:xfrm>
            <a:off x="895350" y="3725418"/>
            <a:ext cx="307329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anim calcmode="lin" valueType="num">
                                      <p:cBhvr>
                                        <p:cTn id="26" dur="500" fill="hold"/>
                                        <p:tgtEl>
                                          <p:spTgt spid="14"/>
                                        </p:tgtEl>
                                        <p:attrNameLst>
                                          <p:attrName>ppt_w</p:attrName>
                                        </p:attrNameLst>
                                      </p:cBhvr>
                                      <p:tavLst>
                                        <p:tav tm="0">
                                          <p:val>
                                            <p:fltVal val="0"/>
                                          </p:val>
                                        </p:tav>
                                        <p:tav tm="100000">
                                          <p:val>
                                            <p:strVal val="#ppt_w"/>
                                          </p:val>
                                        </p:tav>
                                      </p:tavLst>
                                    </p:anim>
                                    <p:anim calcmode="lin" valueType="num">
                                      <p:cBhvr>
                                        <p:cTn id="27"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2</a:t>
            </a:r>
            <a:endParaRPr lang="en-US" sz="3450" dirty="0"/>
          </a:p>
        </p:txBody>
      </p:sp>
      <p:sp>
        <p:nvSpPr>
          <p:cNvPr id="7" name="Shape 7"/>
          <p:cNvSpPr txBox="1"/>
          <p:nvPr/>
        </p:nvSpPr>
        <p:spPr>
          <a:xfrm>
            <a:off x="685800" y="1618488"/>
            <a:ext cx="3492398" cy="19667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Horizontal dilation</a:t>
            </a:r>
            <a:endParaRPr lang="en-US" sz="2100" dirty="0"/>
          </a:p>
        </p:txBody>
      </p:sp>
      <p:sp>
        <p:nvSpPr>
          <p:cNvPr id="5" name="Shape 5"/>
          <p:cNvSpPr txBox="1"/>
          <p:nvPr/>
        </p:nvSpPr>
        <p:spPr>
          <a:xfrm>
            <a:off x="895350" y="2260092"/>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b="1" i="1">
                <a:solidFill>
                  <a:srgbClr val="C9561F"/>
                </a:solidFill>
                <a:latin typeface="Cambria"/>
                <a:cs typeface="Cambria"/>
              </a:rPr>
              <a:t xml:space="preserve">b</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6" name="Shape 6"/>
          <p:cNvSpPr txBox="1"/>
          <p:nvPr/>
        </p:nvSpPr>
        <p:spPr>
          <a:xfrm>
            <a:off x="895350" y="2764536"/>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&gt; 1 compresses. 0 &lt;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&lt; 1 stretches.</a:t>
            </a:r>
            <a:endParaRPr lang="en-US" sz="1575" dirty="0"/>
          </a:p>
        </p:txBody>
      </p:sp>
      <p:sp>
        <p:nvSpPr>
          <p:cNvPr id="10" name="Shape 10"/>
          <p:cNvSpPr txBox="1"/>
          <p:nvPr/>
        </p:nvSpPr>
        <p:spPr>
          <a:xfrm>
            <a:off x="4349648" y="1618488"/>
            <a:ext cx="3492398" cy="19667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Matching dilations</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For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vertical by </a:t>
            </a:r>
            <a:r>
              <a:rPr lang="en-US" sz="1575" dirty="0" i="1">
                <a:solidFill>
                  <a:srgbClr val="16171D"/>
                </a:solidFill>
                <a:latin typeface="Segoe UI"/>
                <a:cs typeface="Segoe UI"/>
              </a:rPr>
              <a:t xml:space="preserve">n</a:t>
            </a:r>
            <a:r>
              <a:rPr lang="en-US" sz="1575" dirty="0">
                <a:solidFill>
                  <a:srgbClr val="16171D"/>
                </a:solidFill>
                <a:latin typeface="Segoe UI"/>
                <a:cs typeface="Segoe UI"/>
              </a:rPr>
              <a:t xml:space="preserve"> = horizontal by 1/</a:t>
            </a:r>
            <a:r>
              <a:rPr lang="en-US" sz="1575" dirty="0" i="1">
                <a:solidFill>
                  <a:srgbClr val="16171D"/>
                </a:solidFill>
                <a:latin typeface="Segoe UI"/>
                <a:cs typeface="Segoe UI"/>
              </a:rPr>
              <a:t xml:space="preserve">n</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8013497" y="1618488"/>
            <a:ext cx="3492398" cy="19667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Simplify first</a:t>
            </a:r>
            <a:endParaRPr lang="en-US" sz="2100" dirty="0"/>
          </a:p>
        </p:txBody>
      </p:sp>
      <p:sp>
        <p:nvSpPr>
          <p:cNvPr id="12" name="Shape 12"/>
          <p:cNvSpPr txBox="1"/>
          <p:nvPr/>
        </p:nvSpPr>
        <p:spPr>
          <a:xfrm>
            <a:off x="8223047" y="2260092"/>
            <a:ext cx="3073298" cy="76352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 − 1</a:t>
            </a:r>
            <a:endParaRPr lang="en-US" sz="2325" dirty="0"/>
          </a:p>
        </p:txBody>
      </p:sp>
      <p:sp>
        <p:nvSpPr>
          <p:cNvPr id="13" name="Shape 13"/>
          <p:cNvSpPr txBox="1"/>
          <p:nvPr/>
        </p:nvSpPr>
        <p:spPr>
          <a:xfrm>
            <a:off x="8223047" y="3118866"/>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Distribute, then combine.</a:t>
            </a:r>
            <a:endParaRPr lang="en-US" sz="1575" dirty="0"/>
          </a:p>
        </p:txBody>
      </p:sp>
      <p:sp>
        <p:nvSpPr>
          <p:cNvPr id="15" name="Shape 15"/>
          <p:cNvSpPr txBox="1"/>
          <p:nvPr/>
        </p:nvSpPr>
        <p:spPr>
          <a:xfrm>
            <a:off x="685800" y="375666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What do horizontal transformations do?</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In </a:t>
            </a:r>
            <a:r>
              <a:rPr lang="en-US" sz="1950" dirty="0" i="1">
                <a:solidFill>
                  <a:srgbClr val="16171D"/>
                </a:solidFill>
                <a:latin typeface="Cambria"/>
                <a:cs typeface="Cambria"/>
              </a:rPr>
              <a:t xml:space="preserve">a</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b</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c</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d</a:t>
            </a:r>
            <a:r>
              <a:rPr lang="en-US" sz="1950" dirty="0">
                <a:solidFill>
                  <a:srgbClr val="16171D"/>
                </a:solidFill>
                <a:latin typeface="Segoe UI"/>
                <a:cs typeface="Segoe UI"/>
              </a:rPr>
              <a:t xml:space="preserve">, </a:t>
            </a:r>
            <a:r>
              <a:rPr lang="en-US" sz="1950" dirty="0" b="1" i="1">
                <a:solidFill>
                  <a:srgbClr val="C9561F"/>
                </a:solidFill>
                <a:latin typeface="Cambria"/>
                <a:cs typeface="Cambria"/>
              </a:rPr>
              <a:t xml:space="preserve">b</a:t>
            </a:r>
            <a:r>
              <a:rPr lang="en-US" sz="1950" dirty="0">
                <a:solidFill>
                  <a:srgbClr val="16171D"/>
                </a:solidFill>
                <a:latin typeface="Segoe UI"/>
                <a:cs typeface="Segoe UI"/>
              </a:rPr>
              <a:t xml:space="preserve"> and </a:t>
            </a:r>
            <a:r>
              <a:rPr lang="en-US" sz="1950" dirty="0" b="1" i="1">
                <a:solidFill>
                  <a:srgbClr val="3050B8"/>
                </a:solidFill>
                <a:latin typeface="Cambria"/>
                <a:cs typeface="Cambria"/>
              </a:rPr>
              <a:t xml:space="preserve">c</a:t>
            </a:r>
            <a:r>
              <a:rPr lang="en-US" sz="1950" dirty="0">
                <a:solidFill>
                  <a:srgbClr val="16171D"/>
                </a:solidFill>
                <a:latin typeface="Segoe UI"/>
                <a:cs typeface="Segoe UI"/>
              </a:rPr>
              <a:t xml:space="preserve"> change the </a:t>
            </a:r>
            <a:r>
              <a:rPr lang="en-US" sz="1950" dirty="0" b="1">
                <a:solidFill>
                  <a:srgbClr val="16171D"/>
                </a:solidFill>
                <a:latin typeface="Segoe UI"/>
                <a:cs typeface="Segoe UI"/>
              </a:rPr>
              <a:t xml:space="preserve">inputs</a:t>
            </a:r>
            <a:r>
              <a:rPr lang="en-US" sz="1950" dirty="0">
                <a:solidFill>
                  <a:srgbClr val="16171D"/>
                </a:solidFill>
                <a:latin typeface="Segoe UI"/>
                <a:cs typeface="Segoe UI"/>
              </a:rPr>
              <a:t xml:space="preserve"> (horizontal); </a:t>
            </a:r>
            <a:r>
              <a:rPr lang="en-US" sz="1950" dirty="0" b="1" i="1">
                <a:solidFill>
                  <a:srgbClr val="C9561F"/>
                </a:solidFill>
                <a:latin typeface="Cambria"/>
                <a:cs typeface="Cambria"/>
              </a:rPr>
              <a:t xml:space="preserve">a</a:t>
            </a:r>
            <a:r>
              <a:rPr lang="en-US" sz="1950" dirty="0">
                <a:solidFill>
                  <a:srgbClr val="16171D"/>
                </a:solidFill>
                <a:latin typeface="Segoe UI"/>
                <a:cs typeface="Segoe UI"/>
              </a:rPr>
              <a:t xml:space="preserve"> and </a:t>
            </a:r>
            <a:r>
              <a:rPr lang="en-US" sz="1950" dirty="0" b="1" i="1">
                <a:solidFill>
                  <a:srgbClr val="3050B8"/>
                </a:solidFill>
                <a:latin typeface="Cambria"/>
                <a:cs typeface="Cambria"/>
              </a:rPr>
              <a:t xml:space="preserve">d</a:t>
            </a:r>
            <a:r>
              <a:rPr lang="en-US" sz="1950" dirty="0">
                <a:solidFill>
                  <a:srgbClr val="16171D"/>
                </a:solidFill>
                <a:latin typeface="Segoe UI"/>
                <a:cs typeface="Segoe UI"/>
              </a:rPr>
              <a:t xml:space="preserve"> change the </a:t>
            </a:r>
            <a:r>
              <a:rPr lang="en-US" sz="1950" dirty="0" b="1">
                <a:solidFill>
                  <a:srgbClr val="16171D"/>
                </a:solidFill>
                <a:latin typeface="Segoe UI"/>
                <a:cs typeface="Segoe UI"/>
              </a:rPr>
              <a:t xml:space="preserve">outputs</a:t>
            </a:r>
            <a:r>
              <a:rPr lang="en-US" sz="1950" dirty="0">
                <a:solidFill>
                  <a:srgbClr val="16171D"/>
                </a:solidFill>
                <a:latin typeface="Segoe UI"/>
                <a:cs typeface="Segoe UI"/>
              </a:rPr>
              <a:t xml:space="preserve"> (vertical).</a:t>
            </a:r>
            <a:endParaRPr lang="en-US" sz="1950" dirty="0"/>
          </a:p>
        </p:txBody>
      </p:sp>
      <p:sp>
        <p:nvSpPr>
          <p:cNvPr id="5" name="Shape 5"/>
          <p:cNvSpPr txBox="1"/>
          <p:nvPr/>
        </p:nvSpPr>
        <p:spPr>
          <a:xfrm>
            <a:off x="685800" y="251536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right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 = down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 and a vertical dilation by </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 = a horizontal dilation by </a:t>
            </a:r>
            <a:r>
              <a:rPr lang="en-US" sz="1950" dirty="0">
                <a:solidFill>
                  <a:srgbClr val="16171D"/>
                </a:solidFill>
                <a:latin typeface="Cambria"/>
                <a:cs typeface="Cambria"/>
              </a:rPr>
              <a:t xml:space="preserve">1/</a:t>
            </a:r>
            <a:r>
              <a:rPr lang="en-US" sz="1950" dirty="0" i="1">
                <a:solidFill>
                  <a:srgbClr val="16171D"/>
                </a:solidFill>
                <a:latin typeface="Cambria"/>
                <a:cs typeface="Cambria"/>
              </a:rPr>
              <a:t xml:space="preserve">n</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335508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For other linear functions these pairs are </a:t>
            </a:r>
            <a:r>
              <a:rPr lang="en-US" sz="1950" dirty="0" b="1">
                <a:solidFill>
                  <a:srgbClr val="16171D"/>
                </a:solidFill>
                <a:latin typeface="Segoe UI"/>
                <a:cs typeface="Segoe UI"/>
              </a:rPr>
              <a:t xml:space="preserve">not</a:t>
            </a:r>
            <a:r>
              <a:rPr lang="en-US" sz="1950" dirty="0">
                <a:solidFill>
                  <a:srgbClr val="16171D"/>
                </a:solidFill>
                <a:latin typeface="Segoe UI"/>
                <a:cs typeface="Segoe UI"/>
              </a:rPr>
              <a:t xml:space="preserve"> the same.</a:t>
            </a:r>
            <a:endParaRPr lang="en-US" sz="1950" dirty="0"/>
          </a:p>
        </p:txBody>
      </p:sp>
      <p:sp>
        <p:nvSpPr>
          <p:cNvPr id="7" name="Slide Number 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and </a:t>
            </a:r>
            <a:r>
              <a:rPr lang="en-US" sz="1950" dirty="0" i="1">
                <a:solidFill>
                  <a:srgbClr val="16171D"/>
                </a:solidFill>
                <a:latin typeface="Cambria"/>
                <a:cs typeface="Cambria"/>
              </a:rPr>
              <a:t xml:space="preserve">g</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a:t>
            </a:r>
            <a:r>
              <a:rPr lang="en-US" sz="1950" dirty="0">
                <a:solidFill>
                  <a:srgbClr val="16171D"/>
                </a:solidFill>
                <a:latin typeface="Segoe UI"/>
                <a:cs typeface="Segoe UI"/>
              </a:rPr>
              <a:t xml:space="preserve">. Describe the transformation.</a:t>
            </a:r>
            <a:endParaRPr lang="en-US" sz="1950" dirty="0"/>
          </a:p>
        </p:txBody>
      </p:sp>
      <p:sp>
        <p:nvSpPr>
          <p:cNvPr id="5" name="Shape 5"/>
          <p:cNvSpPr txBox="1"/>
          <p:nvPr/>
        </p:nvSpPr>
        <p:spPr>
          <a:xfrm>
            <a:off x="685800" y="214198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Left 6</a:t>
            </a:r>
            <a:endParaRPr lang="en-US" sz="2325" dirty="0"/>
          </a:p>
        </p:txBody>
      </p:sp>
      <p:sp>
        <p:nvSpPr>
          <p:cNvPr id="6" name="Shape 6"/>
          <p:cNvSpPr txBox="1"/>
          <p:nvPr/>
        </p:nvSpPr>
        <p:spPr>
          <a:xfrm>
            <a:off x="685800" y="277520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Simplify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24154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8" name="Shape 8"/>
          <p:cNvSpPr txBox="1"/>
          <p:nvPr/>
        </p:nvSpPr>
        <p:spPr>
          <a:xfrm>
            <a:off x="685800" y="38747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For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which vertical dilation gives the same graph as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85800" y="4341114"/>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2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October 27</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October 28. Skills Practice day: Lesson 2 quiz and Topic 1 Lesson 5 quiz. Then Lesson 3 starts Thursday, October 29.</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304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Determine the reciprocal of each value</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1. 3</a:t>
            </a:r>
            <a:endParaRPr lang="en-US" sz="2325" dirty="0"/>
          </a:p>
        </p:txBody>
      </p:sp>
      <p:sp>
        <p:nvSpPr>
          <p:cNvPr id="5" name="Shape 5"/>
          <p:cNvSpPr txBox="1"/>
          <p:nvPr/>
        </p:nvSpPr>
        <p:spPr>
          <a:xfrm>
            <a:off x="685800" y="212293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1/3</a:t>
            </a:r>
            <a:endParaRPr lang="en-US" sz="2325" dirty="0"/>
          </a:p>
        </p:txBody>
      </p:sp>
      <p:sp>
        <p:nvSpPr>
          <p:cNvPr id="6" name="Shape 6"/>
          <p:cNvSpPr txBox="1"/>
          <p:nvPr/>
        </p:nvSpPr>
        <p:spPr>
          <a:xfrm>
            <a:off x="685800" y="273710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1/5</a:t>
            </a:r>
            <a:endParaRPr lang="en-US" sz="2325" dirty="0"/>
          </a:p>
        </p:txBody>
      </p:sp>
      <p:sp>
        <p:nvSpPr>
          <p:cNvPr id="7" name="Shape 7"/>
          <p:cNvSpPr txBox="1"/>
          <p:nvPr/>
        </p:nvSpPr>
        <p:spPr>
          <a:xfrm>
            <a:off x="685800" y="324154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8" name="Shape 8"/>
          <p:cNvSpPr txBox="1"/>
          <p:nvPr/>
        </p:nvSpPr>
        <p:spPr>
          <a:xfrm>
            <a:off x="685800" y="3855720"/>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5. −</a:t>
            </a:r>
            <a:r>
              <a:rPr lang="en-US" sz="2325" dirty="0" i="1">
                <a:solidFill>
                  <a:srgbClr val="16171D"/>
                </a:solidFill>
                <a:latin typeface="Cambria"/>
                <a:cs typeface="Cambria"/>
              </a:rPr>
              <a:t xml:space="preserve">c</a:t>
            </a:r>
            <a:endParaRPr lang="en-US" sz="2325" dirty="0"/>
          </a:p>
        </p:txBody>
      </p:sp>
      <p:sp>
        <p:nvSpPr>
          <p:cNvPr id="9" name="Shape 9"/>
          <p:cNvSpPr txBox="1"/>
          <p:nvPr/>
        </p:nvSpPr>
        <p:spPr>
          <a:xfrm>
            <a:off x="685800" y="4360164"/>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a:t>
            </a:r>
            <a:r>
              <a:rPr lang="en-US" sz="2325" dirty="0" i="1">
                <a:solidFill>
                  <a:srgbClr val="16171D"/>
                </a:solidFill>
                <a:latin typeface="Cambria"/>
                <a:cs typeface="Cambria"/>
              </a:rPr>
              <a:t xml:space="preserve">c</a:t>
            </a:r>
            <a:endParaRPr lang="en-US" sz="2325" dirty="0"/>
          </a:p>
        </p:txBody>
      </p:sp>
      <p:sp>
        <p:nvSpPr>
          <p:cNvPr id="10" name="Shape 10"/>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−10</a:t>
            </a:r>
            <a:endParaRPr lang="en-US" sz="2325" dirty="0"/>
          </a:p>
        </p:txBody>
      </p:sp>
      <p:sp>
        <p:nvSpPr>
          <p:cNvPr id="11" name="Shape 11"/>
          <p:cNvSpPr txBox="1"/>
          <p:nvPr/>
        </p:nvSpPr>
        <p:spPr>
          <a:xfrm>
            <a:off x="6286348" y="21229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−1/10</a:t>
            </a:r>
            <a:endParaRPr lang="en-US" sz="2325" dirty="0"/>
          </a:p>
        </p:txBody>
      </p:sp>
      <p:sp>
        <p:nvSpPr>
          <p:cNvPr id="12" name="Shape 12"/>
          <p:cNvSpPr txBox="1"/>
          <p:nvPr/>
        </p:nvSpPr>
        <p:spPr>
          <a:xfrm>
            <a:off x="6286348" y="273710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−5/4</a:t>
            </a:r>
            <a:endParaRPr lang="en-US" sz="2325" dirty="0"/>
          </a:p>
        </p:txBody>
      </p:sp>
      <p:sp>
        <p:nvSpPr>
          <p:cNvPr id="13" name="Shape 13"/>
          <p:cNvSpPr txBox="1"/>
          <p:nvPr/>
        </p:nvSpPr>
        <p:spPr>
          <a:xfrm>
            <a:off x="6286348" y="3241548"/>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−4/5</a:t>
            </a:r>
            <a:endParaRPr lang="en-US" sz="2325" dirty="0"/>
          </a:p>
        </p:txBody>
      </p:sp>
      <p:sp>
        <p:nvSpPr>
          <p:cNvPr id="14" name="Shape 14"/>
          <p:cNvSpPr txBox="1"/>
          <p:nvPr/>
        </p:nvSpPr>
        <p:spPr>
          <a:xfrm>
            <a:off x="6286348" y="3855720"/>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6. </a:t>
            </a:r>
            <a:r>
              <a:rPr lang="en-US" sz="2325" dirty="0" i="1">
                <a:solidFill>
                  <a:srgbClr val="16171D"/>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b</a:t>
            </a:r>
            <a:endParaRPr lang="en-US" sz="2325" dirty="0"/>
          </a:p>
        </p:txBody>
      </p:sp>
      <p:sp>
        <p:nvSpPr>
          <p:cNvPr id="15" name="Shape 15"/>
          <p:cNvSpPr txBox="1"/>
          <p:nvPr/>
        </p:nvSpPr>
        <p:spPr>
          <a:xfrm>
            <a:off x="6286348" y="4360164"/>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b</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a</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anim calcmode="lin" valueType="num">
                                      <p:cBhvr>
                                        <p:cTn id="40" dur="500" fill="hold"/>
                                        <p:tgtEl>
                                          <p:spTgt spid="15"/>
                                        </p:tgtEl>
                                        <p:attrNameLst>
                                          <p:attrName>ppt_w</p:attrName>
                                        </p:attrNameLst>
                                      </p:cBhvr>
                                      <p:tavLst>
                                        <p:tav tm="0">
                                          <p:val>
                                            <p:fltVal val="0"/>
                                          </p:val>
                                        </p:tav>
                                        <p:tav tm="100000">
                                          <p:val>
                                            <p:strVal val="#ppt_w"/>
                                          </p:val>
                                        </p:tav>
                                      </p:tavLst>
                                    </p:anim>
                                    <p:anim calcmode="lin" valueType="num">
                                      <p:cBhvr>
                                        <p:cTn id="41" dur="500" fill="hold"/>
                                        <p:tgtEl>
                                          <p:spTgt spid="1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5"/>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2 Assignment (SE pp. 303–304).</a:t>
            </a:r>
            <a:endParaRPr lang="en-US" sz="1575" dirty="0"/>
          </a:p>
        </p:txBody>
      </p:sp>
      <p:sp>
        <p:nvSpPr>
          <p:cNvPr id="15" name="Slide Number 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Tree>
  </p:cSld>
  <p:clrMapOvr>
    <a:masterClrMapping/>
  </p:clrMapOvr>
  <p:transition spd="med">
    <p:fade/>
  </p:transition>
</p:sld>
</file>

<file path=ppt/theme/theme1.xml><?xml version="1.0" encoding="utf-8"?>
<a:theme xmlns:a="http://schemas.openxmlformats.org/drawingml/2006/main" name="Vertical and Horizontal Transformations of Linear Function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38</Slides>
  <Notes>38</Notes>
</Properties>
</file>

<file path=docProps/core.xml><?xml version="1.0" encoding="utf-8"?>
<cp:coreProperties xmlns:cp="http://schemas.openxmlformats.org/package/2006/metadata/core-properties" xmlns:dc="http://purl.org/dc/elements/1.1/">
  <dc:title>Vertical and Horizontal Transformations of Linear Functions</dc:title>
  <dc:subject>Bluebonnet Algebra I</dc:subject>
</cp:coreProperties>
</file>